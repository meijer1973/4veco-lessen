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a10669f88ce4ea2" /><Relationship Type="http://schemas.openxmlformats.org/officeDocument/2006/relationships/extended-properties" Target="/docProps/app.xml" Id="R41197c1bc2e34f1b" /><Relationship Type="http://schemas.openxmlformats.org/officeDocument/2006/relationships/officeDocument" Target="/ppt/presentation.xml" Id="Rf106ba6b45da4e64" /></Relationships>
</file>

<file path=ppt/presentation.xml><?xml version="1.0" encoding="utf-8"?>
<p:presentation xmlns:p="http://schemas.openxmlformats.org/presentationml/2006/main">
  <p:sldMasterIdLst>
    <p:sldMasterId xmlns:r="http://schemas.openxmlformats.org/officeDocument/2006/relationships" id="2147483648" r:id="R9504eb9e531f43eb"/>
  </p:sldMasterIdLst>
  <p:notesMasterIdLst>
    <p:notesMasterId xmlns:r="http://schemas.openxmlformats.org/officeDocument/2006/relationships" r:id="R720c4875d2ca4a05"/>
  </p:notesMasterIdLst>
  <p:sldIdLst>
    <p:sldId xmlns:r="http://schemas.openxmlformats.org/officeDocument/2006/relationships" id="256" r:id="R11d6c003bf5346f9"/>
    <p:sldId xmlns:r="http://schemas.openxmlformats.org/officeDocument/2006/relationships" id="257" r:id="R4ea4eba5a8e644d7"/>
    <p:sldId xmlns:r="http://schemas.openxmlformats.org/officeDocument/2006/relationships" id="258" r:id="Ra29b5d69272742ab"/>
    <p:sldId xmlns:r="http://schemas.openxmlformats.org/officeDocument/2006/relationships" id="259" r:id="Rc6fc9588c92d4dfb"/>
    <p:sldId xmlns:r="http://schemas.openxmlformats.org/officeDocument/2006/relationships" id="260" r:id="R45b6b45c5cc440df"/>
    <p:sldId xmlns:r="http://schemas.openxmlformats.org/officeDocument/2006/relationships" id="261" r:id="R5a8280c1cf424525"/>
    <p:sldId xmlns:r="http://schemas.openxmlformats.org/officeDocument/2006/relationships" id="262" r:id="Rbfc0cd3372234896"/>
    <p:sldId xmlns:r="http://schemas.openxmlformats.org/officeDocument/2006/relationships" id="263" r:id="R947a611851594feb"/>
    <p:sldId xmlns:r="http://schemas.openxmlformats.org/officeDocument/2006/relationships" id="264" r:id="Rafb70fd563ce4226"/>
    <p:sldId xmlns:r="http://schemas.openxmlformats.org/officeDocument/2006/relationships" id="265" r:id="R48224c87e75c4560"/>
    <p:sldId xmlns:r="http://schemas.openxmlformats.org/officeDocument/2006/relationships" id="266" r:id="R9fd127ced42846a1"/>
    <p:sldId xmlns:r="http://schemas.openxmlformats.org/officeDocument/2006/relationships" id="267" r:id="Re90928594e5c4ad0"/>
    <p:sldId xmlns:r="http://schemas.openxmlformats.org/officeDocument/2006/relationships" id="268" r:id="R8161674269c441b4"/>
    <p:sldId xmlns:r="http://schemas.openxmlformats.org/officeDocument/2006/relationships" id="269" r:id="R2c99eab05e3b4f50"/>
    <p:sldId xmlns:r="http://schemas.openxmlformats.org/officeDocument/2006/relationships" id="270" r:id="Rd59d3ea702584a13"/>
    <p:sldId xmlns:r="http://schemas.openxmlformats.org/officeDocument/2006/relationships" id="271" r:id="R498f1cf1921540e0"/>
    <p:sldId xmlns:r="http://schemas.openxmlformats.org/officeDocument/2006/relationships" id="272" r:id="Re67ab311a17e4d25"/>
    <p:sldId xmlns:r="http://schemas.openxmlformats.org/officeDocument/2006/relationships" id="273" r:id="R87aa36ef1ad04db1"/>
    <p:sldId xmlns:r="http://schemas.openxmlformats.org/officeDocument/2006/relationships" id="274" r:id="R6e51975f99dc4c48"/>
    <p:sldId xmlns:r="http://schemas.openxmlformats.org/officeDocument/2006/relationships" id="275" r:id="Ra83f3f36997d4704"/>
    <p:sldId xmlns:r="http://schemas.openxmlformats.org/officeDocument/2006/relationships" id="276" r:id="R50dbe558cad74e36"/>
    <p:sldId xmlns:r="http://schemas.openxmlformats.org/officeDocument/2006/relationships" id="277" r:id="R9a727ec70bc64575"/>
    <p:sldId xmlns:r="http://schemas.openxmlformats.org/officeDocument/2006/relationships" id="278" r:id="R85126a01e33d40d7"/>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03d84a1e2454671" /><Relationship Type="http://schemas.openxmlformats.org/officeDocument/2006/relationships/slideMaster" Target="/ppt/slideMasters/slideMaster1.xml" Id="R9504eb9e531f43eb" /><Relationship Type="http://schemas.openxmlformats.org/officeDocument/2006/relationships/notesMaster" Target="/ppt/notesMasters/notesMaster1.xml" Id="R720c4875d2ca4a05" /><Relationship Type="http://schemas.openxmlformats.org/officeDocument/2006/relationships/presProps" Target="/ppt/presProps.xml" Id="Rd6fb487ada0b4406" /><Relationship Type="http://schemas.openxmlformats.org/officeDocument/2006/relationships/tableStyles" Target="/ppt/tableStyles.xml" Id="Rfce852c5a8ef48ac" /><Relationship Type="http://schemas.openxmlformats.org/officeDocument/2006/relationships/slide" Target="/ppt/slides/slide1.xml" Id="R11d6c003bf5346f9" /><Relationship Type="http://schemas.openxmlformats.org/officeDocument/2006/relationships/slide" Target="/ppt/slides/slide2.xml" Id="R4ea4eba5a8e644d7" /><Relationship Type="http://schemas.openxmlformats.org/officeDocument/2006/relationships/slide" Target="/ppt/slides/slide3.xml" Id="Ra29b5d69272742ab" /><Relationship Type="http://schemas.openxmlformats.org/officeDocument/2006/relationships/slide" Target="/ppt/slides/slide4.xml" Id="Rc6fc9588c92d4dfb" /><Relationship Type="http://schemas.openxmlformats.org/officeDocument/2006/relationships/slide" Target="/ppt/slides/slide5.xml" Id="R45b6b45c5cc440df" /><Relationship Type="http://schemas.openxmlformats.org/officeDocument/2006/relationships/slide" Target="/ppt/slides/slide6.xml" Id="R5a8280c1cf424525" /><Relationship Type="http://schemas.openxmlformats.org/officeDocument/2006/relationships/slide" Target="/ppt/slides/slide7.xml" Id="Rbfc0cd3372234896" /><Relationship Type="http://schemas.openxmlformats.org/officeDocument/2006/relationships/slide" Target="/ppt/slides/slide8.xml" Id="R947a611851594feb" /><Relationship Type="http://schemas.openxmlformats.org/officeDocument/2006/relationships/slide" Target="/ppt/slides/slide9.xml" Id="Rafb70fd563ce4226" /><Relationship Type="http://schemas.openxmlformats.org/officeDocument/2006/relationships/slide" Target="/ppt/slides/slide10.xml" Id="R48224c87e75c4560" /><Relationship Type="http://schemas.openxmlformats.org/officeDocument/2006/relationships/slide" Target="/ppt/slides/slide11.xml" Id="R9fd127ced42846a1" /><Relationship Type="http://schemas.openxmlformats.org/officeDocument/2006/relationships/slide" Target="/ppt/slides/slide12.xml" Id="Re90928594e5c4ad0" /><Relationship Type="http://schemas.openxmlformats.org/officeDocument/2006/relationships/slide" Target="/ppt/slides/slide13.xml" Id="R8161674269c441b4" /><Relationship Type="http://schemas.openxmlformats.org/officeDocument/2006/relationships/slide" Target="/ppt/slides/slide14.xml" Id="R2c99eab05e3b4f50" /><Relationship Type="http://schemas.openxmlformats.org/officeDocument/2006/relationships/slide" Target="/ppt/slides/slide15.xml" Id="Rd59d3ea702584a13" /><Relationship Type="http://schemas.openxmlformats.org/officeDocument/2006/relationships/slide" Target="/ppt/slides/slide16.xml" Id="R498f1cf1921540e0" /><Relationship Type="http://schemas.openxmlformats.org/officeDocument/2006/relationships/slide" Target="/ppt/slides/slide17.xml" Id="Re67ab311a17e4d25" /><Relationship Type="http://schemas.openxmlformats.org/officeDocument/2006/relationships/slide" Target="/ppt/slides/slide18.xml" Id="R87aa36ef1ad04db1" /><Relationship Type="http://schemas.openxmlformats.org/officeDocument/2006/relationships/slide" Target="/ppt/slides/slide19.xml" Id="R6e51975f99dc4c48" /><Relationship Type="http://schemas.openxmlformats.org/officeDocument/2006/relationships/slide" Target="/ppt/slides/slide20.xml" Id="Ra83f3f36997d4704" /><Relationship Type="http://schemas.openxmlformats.org/officeDocument/2006/relationships/slide" Target="/ppt/slides/slide21.xml" Id="R50dbe558cad74e36" /><Relationship Type="http://schemas.openxmlformats.org/officeDocument/2006/relationships/slide" Target="/ppt/slides/slide22.xml" Id="R9a727ec70bc64575" /><Relationship Type="http://schemas.openxmlformats.org/officeDocument/2006/relationships/slide" Target="/ppt/slides/slide23.xml" Id="R85126a01e33d40d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99cc6cc1a4940c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4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2c286e03eda4cf1" /><Relationship Type="http://schemas.openxmlformats.org/officeDocument/2006/relationships/notesMaster" Target="/ppt/notesMasters/notesMaster1.xml" Id="R3bd85c5801f24d61" /></Relationships>
</file>

<file path=ppt/notesSlides/_rels/notesSlide2.xml.rels>&#65279;<?xml version="1.0" encoding="utf-8"?><Relationships xmlns="http://schemas.openxmlformats.org/package/2006/relationships"><Relationship Type="http://schemas.openxmlformats.org/officeDocument/2006/relationships/slide" Target="/ppt/slides/slide2.xml" Id="Ree6fdbe2c88c4eeb" /><Relationship Type="http://schemas.openxmlformats.org/officeDocument/2006/relationships/notesMaster" Target="/ppt/notesMasters/notesMaster1.xml" Id="R371c62248044489b" /></Relationships>
</file>

<file path=ppt/notesSlides/_rels/notesSlide3.xml.rels>&#65279;<?xml version="1.0" encoding="utf-8"?><Relationships xmlns="http://schemas.openxmlformats.org/package/2006/relationships"><Relationship Type="http://schemas.openxmlformats.org/officeDocument/2006/relationships/slide" Target="/ppt/slides/slide3.xml" Id="R5f459c46df1441b9" /><Relationship Type="http://schemas.openxmlformats.org/officeDocument/2006/relationships/notesMaster" Target="/ppt/notesMasters/notesMaster1.xml" Id="R75dc6f7da7d34d38" /></Relationships>
</file>

<file path=ppt/notesSlides/_rels/notesSlide4.xml.rels>&#65279;<?xml version="1.0" encoding="utf-8"?><Relationships xmlns="http://schemas.openxmlformats.org/package/2006/relationships"><Relationship Type="http://schemas.openxmlformats.org/officeDocument/2006/relationships/slide" Target="/ppt/slides/slide4.xml" Id="R299d1cb2bfeb4a69" /><Relationship Type="http://schemas.openxmlformats.org/officeDocument/2006/relationships/notesMaster" Target="/ppt/notesMasters/notesMaster1.xml" Id="Ra6617cae676f4c10" /></Relationships>
</file>

<file path=ppt/notesSlides/_rels/notesSlide5.xml.rels>&#65279;<?xml version="1.0" encoding="utf-8"?><Relationships xmlns="http://schemas.openxmlformats.org/package/2006/relationships"><Relationship Type="http://schemas.openxmlformats.org/officeDocument/2006/relationships/slide" Target="/ppt/slides/slide5.xml" Id="Rf777427812524777" /><Relationship Type="http://schemas.openxmlformats.org/officeDocument/2006/relationships/notesMaster" Target="/ppt/notesMasters/notesMaster1.xml" Id="R6c7b7ee20978474b" /></Relationships>
</file>

<file path=ppt/notesSlides/_rels/notesSlide6.xml.rels>&#65279;<?xml version="1.0" encoding="utf-8"?><Relationships xmlns="http://schemas.openxmlformats.org/package/2006/relationships"><Relationship Type="http://schemas.openxmlformats.org/officeDocument/2006/relationships/slide" Target="/ppt/slides/slide6.xml" Id="R2ffa08852f2c43cd" /><Relationship Type="http://schemas.openxmlformats.org/officeDocument/2006/relationships/notesMaster" Target="/ppt/notesMasters/notesMaster1.xml" Id="R64d39f27aa7043b3" /></Relationships>
</file>

<file path=ppt/notesSlides/_rels/notesSlide7.xml.rels>&#65279;<?xml version="1.0" encoding="utf-8"?><Relationships xmlns="http://schemas.openxmlformats.org/package/2006/relationships"><Relationship Type="http://schemas.openxmlformats.org/officeDocument/2006/relationships/slide" Target="/ppt/slides/slide7.xml" Id="Re362964f1d4d4e6e" /><Relationship Type="http://schemas.openxmlformats.org/officeDocument/2006/relationships/notesMaster" Target="/ppt/notesMasters/notesMaster1.xml" Id="Ra96818caa6f147c7" /></Relationships>
</file>

<file path=ppt/notesSlides/_rels/notesSlide8.xml.rels>&#65279;<?xml version="1.0" encoding="utf-8"?><Relationships xmlns="http://schemas.openxmlformats.org/package/2006/relationships"><Relationship Type="http://schemas.openxmlformats.org/officeDocument/2006/relationships/slide" Target="/ppt/slides/slide8.xml" Id="R7f89b3f1e2264c03" /><Relationship Type="http://schemas.openxmlformats.org/officeDocument/2006/relationships/notesMaster" Target="/ppt/notesMasters/notesMaster1.xml" Id="R377f1607de434685" /></Relationships>
</file>

<file path=ppt/notesSlides/_rels/notesSlide9.xml.rels>&#65279;<?xml version="1.0" encoding="utf-8"?><Relationships xmlns="http://schemas.openxmlformats.org/package/2006/relationships"><Relationship Type="http://schemas.openxmlformats.org/officeDocument/2006/relationships/slide" Target="/ppt/slides/slide9.xml" Id="Rdccf4d87234e41f0" /><Relationship Type="http://schemas.openxmlformats.org/officeDocument/2006/relationships/notesMaster" Target="/ppt/notesMasters/notesMaster1.xml" Id="R3d7b6064ac324e1a"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d3f1672389f54ce2" /><Relationship Type="http://schemas.openxmlformats.org/officeDocument/2006/relationships/notesMaster" Target="/ppt/notesMasters/notesMaster1.xml" Id="Rb2c61fb17a654955"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40ee5619efd5497a" /><Relationship Type="http://schemas.openxmlformats.org/officeDocument/2006/relationships/notesMaster" Target="/ppt/notesMasters/notesMaster1.xml" Id="R0e4d279934bf4d0b"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742066ec54794cc1" /><Relationship Type="http://schemas.openxmlformats.org/officeDocument/2006/relationships/notesMaster" Target="/ppt/notesMasters/notesMaster1.xml" Id="R8d82f019bde949c9"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54c43105282e482b" /><Relationship Type="http://schemas.openxmlformats.org/officeDocument/2006/relationships/notesMaster" Target="/ppt/notesMasters/notesMaster1.xml" Id="Rda41c23085574bbd"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b82026ef5cf447a5" /><Relationship Type="http://schemas.openxmlformats.org/officeDocument/2006/relationships/notesMaster" Target="/ppt/notesMasters/notesMaster1.xml" Id="Ra149819cd47c462d"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13da58c7f0e54c33" /><Relationship Type="http://schemas.openxmlformats.org/officeDocument/2006/relationships/notesMaster" Target="/ppt/notesMasters/notesMaster1.xml" Id="Rf344e2672b7e49a7"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1174f8df3aba40dd" /><Relationship Type="http://schemas.openxmlformats.org/officeDocument/2006/relationships/notesMaster" Target="/ppt/notesMasters/notesMaster1.xml" Id="Rf58e451cb331411f"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42511688756449c6" /><Relationship Type="http://schemas.openxmlformats.org/officeDocument/2006/relationships/notesMaster" Target="/ppt/notesMasters/notesMaster1.xml" Id="R653814278ea0445a"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5a7a6b0195304a4f" /><Relationship Type="http://schemas.openxmlformats.org/officeDocument/2006/relationships/notesMaster" Target="/ppt/notesMasters/notesMaster1.xml" Id="R8280d108680f435a"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c5b375c6db5146c6" /><Relationship Type="http://schemas.openxmlformats.org/officeDocument/2006/relationships/notesMaster" Target="/ppt/notesMasters/notesMaster1.xml" Id="R7313c5a4c16149fe"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c792f5682cdf44f2" /><Relationship Type="http://schemas.openxmlformats.org/officeDocument/2006/relationships/notesMaster" Target="/ppt/notesMasters/notesMaster1.xml" Id="Rb71e84449f87413a"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90dcf0aa6f2f4c6a" /><Relationship Type="http://schemas.openxmlformats.org/officeDocument/2006/relationships/notesMaster" Target="/ppt/notesMasters/notesMaster1.xml" Id="R3e9eb3be6a474b09"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41e58936c6654ae9" /><Relationship Type="http://schemas.openxmlformats.org/officeDocument/2006/relationships/notesMaster" Target="/ppt/notesMasters/notesMaster1.xml" Id="R0424fb8a0b11473e"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e6656e9adb4e4d14" /><Relationship Type="http://schemas.openxmlformats.org/officeDocument/2006/relationships/notesMaster" Target="/ppt/notesMasters/notesMaster1.xml" Id="Re90152d64f0244c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verandering bepaalt de noemer?</a:t>
            </a:r>
          </a:p>
          <a:p xmlns:a="http://schemas.openxmlformats.org/drawingml/2006/main">
            <a:r>
              <a:rPr sz="1400"/>
              <a:t/>
            </a:r>
          </a:p>
          <a:p xmlns:a="http://schemas.openxmlformats.org/drawingml/2006/main">
            <a:r>
              <a:rPr sz="1400"/>
              <a:t>Uitleg: Laat deze dia staan tijdens startopdracht. Start: opgave 1, gedrukte pagina 64. Er is geen afzonderlijke basis- of begeleide sectie. Werk met gemengde opgaven 1–4 naar doel 5 (StreamPlus, p. 66–67). Die echte doelopgave is gekozen omdat zij bronselectie, Ev, Ei, Ek, maandomzet, een één-factor-scenario en een begrensd advies combineert. Huiswerk: alle opgaven 1–7 maken en nakijken; behoud de labels bonus/denkertje bij 6 en hoofdstukcheck bij 7. De algemene docentenroute noemt 6 en 7 aanvullend; de classroom-afspraak voor gemengde paragrafen wijst alle opgaven toe. Plan zo nodig verdere werktijd; de volledige route is niet als één les getimed.</a:t>
            </a:r>
          </a:p>
          <a:p xmlns:a="http://schemas.openxmlformats.org/drawingml/2006/main">
            <a:r>
              <a:rPr sz="1400"/>
              <a:t/>
            </a:r>
          </a:p>
          <a:p xmlns:a="http://schemas.openxmlformats.org/drawingml/2006/main">
            <a:r>
              <a:rPr sz="1400"/>
              <a:t>Misvatting: Een bron met andere gegevens is een afzonderlijk onderzoek. Voeg die gegevens niet zomaar samen.</a:t>
            </a:r>
          </a:p>
          <a:p xmlns:a="http://schemas.openxmlformats.org/drawingml/2006/main">
            <a:r>
              <a:rPr sz="1400"/>
              <a:t/>
            </a:r>
          </a:p>
          <a:p xmlns:a="http://schemas.openxmlformats.org/drawingml/2006/main">
            <a:r>
              <a:rPr sz="1400"/>
              <a:t>Overgang: Ga door als de klas toe is aan de volgende lesfase.</a:t>
            </a:r>
          </a:p>
          <a:p xmlns:a="http://schemas.openxmlformats.org/drawingml/2006/main">
            <a:r>
              <a:rPr sz="1400"/>
              <a:t/>
            </a:r>
          </a:p>
          <a:p xmlns:a="http://schemas.openxmlformats.org/drawingml/2006/main">
            <a:r>
              <a:rPr sz="1400"/>
              <a:t>Bron: Leerlingenboek Boek 2, chat-2026, gedrukte pagina 64–69. https://github.com/meijer1973/4veco-lessen/blob/f2660032cf7e4e3bbab96cf32863d06a38bd74bc/Boek%202%20-%20Kosten,%20opbrengsten,%20elasticiteit%20en%20surplus/edities/chat-2026/boek/Boek_2_Compleet.pdf</a:t>
            </a:r>
          </a:p>
          <a:p xmlns:a="http://schemas.openxmlformats.org/drawingml/2006/main">
            <a:r>
              <a:rPr sz="1400"/>
              <a:t>Antwoordmodel: https://github.com/meijer1973/4veco-lessen/blob/f2660032cf7e4e3bbab96cf32863d06a38bd74bc/Boek%202%20-%20Kosten,%20opbrengsten,%20elasticiteit%20en%20surplus/edities/chat-2026/bronnen/H2/2.2%20Elasticiteit%20%E2%80%93%20antwoorden.md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Waarom delen we de afname van 40 dagkaarten door 400?</a:t>
            </a:r>
          </a:p>
          <a:p xmlns:a="http://schemas.openxmlformats.org/drawingml/2006/main">
            <a:r>
              <a:rPr sz="1400"/>
              <a:t/>
            </a:r>
          </a:p>
          <a:p xmlns:a="http://schemas.openxmlformats.org/drawingml/2006/main">
            <a:r>
              <a:rPr sz="1400"/>
              <a:t>Uitleg: Dit aparte, zelfgemaakte voorbeeld haalt bekende bewerkingen op. Dagkaarten worden volledig verkocht. Selecteer P en Q uit dezelfde situatie; bereken procentveranderingen met de oude waarde als noemer. Het negatieve teken geeft tegengestelde richtingen aan. −1 &lt; −0,5 &lt; 0: Q reageert relatief zwak. Vergelijk TO rechtstreeks: de gemeten omzet stijgt 800 euro per maand. Beperk dit tot deze waarneming; leid de omzetrichting bij eindige stappen niet uitsluitend af uit het elasticiteitslabel.</a:t>
            </a:r>
          </a:p>
          <a:p xmlns:a="http://schemas.openxmlformats.org/drawingml/2006/main">
            <a:r>
              <a:rPr sz="1400"/>
              <a:t/>
            </a:r>
          </a:p>
          <a:p xmlns:a="http://schemas.openxmlformats.org/drawingml/2006/main">
            <a:r>
              <a:rPr sz="1400"/>
              <a:t>Misvatting: Elasticiteit heeft geen euro-eenheid. Omzet is geen winst; bij eindige veranderingen blijft een directe omzetvergelijking nodig.</a:t>
            </a:r>
          </a:p>
          <a:p xmlns:a="http://schemas.openxmlformats.org/drawingml/2006/main">
            <a:r>
              <a:rPr sz="1400"/>
              <a:t/>
            </a:r>
          </a:p>
          <a:p xmlns:a="http://schemas.openxmlformats.org/drawingml/2006/main">
            <a:r>
              <a:rPr sz="1400"/>
              <a:t>Overgang: Gebruik bij inkomen en andere prijzen dezelfde teller, met een andere noemer.</a:t>
            </a:r>
          </a:p>
          <a:p xmlns:a="http://schemas.openxmlformats.org/drawingml/2006/main">
            <a:r>
              <a:rPr sz="1400"/>
              <a:t/>
            </a:r>
          </a:p>
          <a:p xmlns:a="http://schemas.openxmlformats.org/drawingml/2006/main">
            <a:r>
              <a:rPr sz="1400"/>
              <a:t>Bron: Zelfgemaakt uitlegvoorbeeld Klimwand; context, gegevens en uitkomsten zijn niet uit het boek. Methoden: leerlingenboek Boek 2, chat-2026, gedrukte pagina's 36–63. https://github.com/meijer1973/4veco-lessen/blob/f2660032cf7e4e3bbab96cf32863d06a38bd74bc/Boek%202%20-%20Kosten,%20opbrengsten,%20elasticiteit%20en%20surplus/edities/chat-2026/boek/Boek_2_Compleet.pdf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 goed staat bij Ek in de teller, en welk in de noemer?</a:t>
            </a:r>
          </a:p>
          <a:p xmlns:a="http://schemas.openxmlformats.org/drawingml/2006/main">
            <a:r>
              <a:rPr sz="1400"/>
              <a:t/>
            </a:r>
          </a:p>
          <a:p xmlns:a="http://schemas.openxmlformats.org/drawingml/2006/main">
            <a:r>
              <a:rPr sz="1400"/>
              <a:t>Uitleg: Zelfgemaakte gegevens, afzonderlijke onderzoeken. B: bij 6% meer inkomen groeit de vraag naar Plus 9% en daalt de vraag naar Basis 3%. C: alleen de prijs van een concurrerende klimhal stijgt 12%; de vraag naar Klimwand groeit 3%. Benoem bij Ek de vraag naar Klimwand in de teller en de prijs van de concurrerende klimhal in de noemer. Een positieve Ek past bij substituten; een negatieve bij complementen. Ei-indeling volgens dit boek: onder nul inferieur, tussen nul en één normaal, boven één luxe. Grenzen nul en één krijgen hier geen categorie. De categorie geldt voor de onderzochte situatie.</a:t>
            </a:r>
          </a:p>
          <a:p xmlns:a="http://schemas.openxmlformats.org/drawingml/2006/main">
            <a:r>
              <a:rPr sz="1400"/>
              <a:t/>
            </a:r>
          </a:p>
          <a:p xmlns:a="http://schemas.openxmlformats.org/drawingml/2006/main">
            <a:r>
              <a:rPr sz="1400"/>
              <a:t>Misvatting: De prijs van Klimwand is niet de noemer van deze kruislingse elasticiteit. Tel de gemeten effecten uit afzonderlijke bronnen niet op.</a:t>
            </a:r>
          </a:p>
          <a:p xmlns:a="http://schemas.openxmlformats.org/drawingml/2006/main">
            <a:r>
              <a:rPr sz="1400"/>
              <a:t/>
            </a:r>
          </a:p>
          <a:p xmlns:a="http://schemas.openxmlformats.org/drawingml/2006/main">
            <a:r>
              <a:rPr sz="1400"/>
              <a:t>Overgang: Een regionaal model heeft eveneens zijn eigen gegevens.</a:t>
            </a:r>
          </a:p>
          <a:p xmlns:a="http://schemas.openxmlformats.org/drawingml/2006/main">
            <a:r>
              <a:rPr sz="1400"/>
              <a:t/>
            </a:r>
          </a:p>
          <a:p xmlns:a="http://schemas.openxmlformats.org/drawingml/2006/main">
            <a:r>
              <a:rPr sz="1400"/>
              <a:t>Bron: Zelfgemaakt uitlegvoorbeeld Klimwand; context, gegevens en uitkomsten zijn niet uit het boek. Methoden: leerlingenboek Boek 2, chat-2026, gedrukte pagina's 36–63. https://github.com/meijer1973/4veco-lessen/blob/f2660032cf7e4e3bbab96cf32863d06a38bd74bc/Boek%202%20-%20Kosten,%20opbrengsten,%20elasticiteit%20en%20surplus/edities/chat-2026/boek/Boek_2_Compleet.pdf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term verandert als alleen Y stijgt?</a:t>
            </a:r>
          </a:p>
          <a:p xmlns:a="http://schemas.openxmlformats.org/drawingml/2006/main">
            <a:r>
              <a:rPr sz="1400"/>
              <a:t/>
            </a:r>
          </a:p>
          <a:p xmlns:a="http://schemas.openxmlformats.org/drawingml/2006/main">
            <a:r>
              <a:rPr sz="1400"/>
              <a:t>Uitleg: Het zelfgemaakte regionale model is apart van meting A. Begin met volledig invullen: 200 − 50 + 300 + 60 = 510. Alleen Y verandert: 200 − 50 + 306 + 60 = 516. De inkomensterm stijgt zes; de andere termen blijven gelijk. Dit is de gevraagde hoeveelheid binnen het model, geen bewezen extra omzet uit meting A. Het jaarinkomen wordt niet door twaalf gedeeld.</a:t>
            </a:r>
          </a:p>
          <a:p xmlns:a="http://schemas.openxmlformats.org/drawingml/2006/main">
            <a:r>
              <a:rPr sz="1400"/>
              <a:t/>
            </a:r>
          </a:p>
          <a:p xmlns:a="http://schemas.openxmlformats.org/drawingml/2006/main">
            <a:r>
              <a:rPr sz="1400"/>
              <a:t>Misvatting: De 400 verkochte dagkaarten uit A horen niet in dit regionale model; de coëfficiënt 0,01 is geen elasticiteit.</a:t>
            </a:r>
          </a:p>
          <a:p xmlns:a="http://schemas.openxmlformats.org/drawingml/2006/main">
            <a:r>
              <a:rPr sz="1400"/>
              <a:t/>
            </a:r>
          </a:p>
          <a:p xmlns:a="http://schemas.openxmlformats.org/drawingml/2006/main">
            <a:r>
              <a:rPr sz="1400"/>
              <a:t>Overgang: Gebruik berekeningen als bewijs en geef ook de grens aan.</a:t>
            </a:r>
          </a:p>
          <a:p xmlns:a="http://schemas.openxmlformats.org/drawingml/2006/main">
            <a:r>
              <a:rPr sz="1400"/>
              <a:t/>
            </a:r>
          </a:p>
          <a:p xmlns:a="http://schemas.openxmlformats.org/drawingml/2006/main">
            <a:r>
              <a:rPr sz="1400"/>
              <a:t>Bron: Zelfgemaakt uitlegvoorbeeld Klimwand; context, gegevens en uitkomsten zijn niet uit het boek. Methoden: leerlingenboek Boek 2, chat-2026, gedrukte pagina's 36–63. https://github.com/meijer1973/4veco-lessen/blob/f2660032cf7e4e3bbab96cf32863d06a38bd74bc/Boek%202%20-%20Kosten,%20opbrengsten,%20elasticiteit%20en%20surplus/edities/chat-2026/boek/Boek_2_Compleet.pdf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zin is een bewezen waarneming en welke een advies?</a:t>
            </a:r>
          </a:p>
          <a:p xmlns:a="http://schemas.openxmlformats.org/drawingml/2006/main">
            <a:r>
              <a:rPr sz="1400"/>
              <a:t/>
            </a:r>
          </a:p>
          <a:p xmlns:a="http://schemas.openxmlformats.org/drawingml/2006/main">
            <a:r>
              <a:rPr sz="1400"/>
              <a:t>Uitleg: Dit advies gaat uitsluitend over het zelfgemaakte Klimwand-voorbeeld. Verbind de berekende omzetstijging uit A met het kruisverband uit C. C geeft reden om concurrentprijzen mee te nemen bij een volgende stap, maar voorspelt niet automatisch de reactie op een eigen prijsverhoging. Noem één ondersteunde conclusie en precies twee niet-bewezen conclusies. De brongegevens ondersteunen de uitspraak over omzet; winst vraagt ook kosten. Leerlingen moeten deze antwoordvorm straks zelf op boekbronnen toepassen.</a:t>
            </a:r>
          </a:p>
          <a:p xmlns:a="http://schemas.openxmlformats.org/drawingml/2006/main">
            <a:r>
              <a:rPr sz="1400"/>
              <a:t/>
            </a:r>
          </a:p>
          <a:p xmlns:a="http://schemas.openxmlformats.org/drawingml/2006/main">
            <a:r>
              <a:rPr sz="1400"/>
              <a:t>Misvatting: Een voorstel om te onderzoeken is geen garantie dat de omzet of winst zal stijgen.</a:t>
            </a:r>
          </a:p>
          <a:p xmlns:a="http://schemas.openxmlformats.org/drawingml/2006/main">
            <a:r>
              <a:rPr sz="1400"/>
              <a:t/>
            </a:r>
          </a:p>
          <a:p xmlns:a="http://schemas.openxmlformats.org/drawingml/2006/main">
            <a:r>
              <a:rPr sz="1400"/>
              <a:t>Overgang: Laat het overzicht staan terwijl leerlingen de gemengde opgaven maken.</a:t>
            </a:r>
          </a:p>
          <a:p xmlns:a="http://schemas.openxmlformats.org/drawingml/2006/main">
            <a:r>
              <a:rPr sz="1400"/>
              <a:t/>
            </a:r>
          </a:p>
          <a:p xmlns:a="http://schemas.openxmlformats.org/drawingml/2006/main">
            <a:r>
              <a:rPr sz="1400"/>
              <a:t>Bron: Zelfgemaakt uitlegvoorbeeld Klimwand; context, gegevens en uitkomsten zijn niet uit het boek. Methoden: leerlingenboek Boek 2, chat-2026, gedrukte pagina's 36–63. https://github.com/meijer1973/4veco-lessen/blob/f2660032cf7e4e3bbab96cf32863d06a38bd74bc/Boek%202%20-%20Kosten,%20opbrengsten,%20elasticiteit%20en%20surplus/edities/chat-2026/boek/Boek_2_Compleet.pdf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berekening of redenering wil je verbeteren?</a:t>
            </a:r>
          </a:p>
          <a:p xmlns:a="http://schemas.openxmlformats.org/drawingml/2006/main">
            <a:r>
              <a:rPr sz="1400"/>
              <a:t/>
            </a:r>
          </a:p>
          <a:p xmlns:a="http://schemas.openxmlformats.org/drawingml/2006/main">
            <a:r>
              <a:rPr sz="1400"/>
              <a:t>Uitleg: Laat deze dia staan tijdens zelfstandig werken. Start: opgave 1, gedrukte pagina 64. Er is geen afzonderlijke basis- of begeleide sectie. Werk met gemengde opgaven 1–4 naar doel 5 (StreamPlus, p. 66–67). Die echte doelopgave is gekozen omdat zij bronselectie, Ev, Ei, Ek, maandomzet, een één-factor-scenario en een begrensd advies combineert. Huiswerk: alle opgaven 1–7 maken en nakijken; behoud de labels bonus/denkertje bij 6 en hoofdstukcheck bij 7. De algemene docentenroute noemt 6 en 7 aanvullend; de classroom-afspraak voor gemengde paragrafen wijst alle opgaven toe. Plan zo nodig verdere werktijd; de volledige route is niet als één les getimed.</a:t>
            </a:r>
          </a:p>
          <a:p xmlns:a="http://schemas.openxmlformats.org/drawingml/2006/main">
            <a:r>
              <a:rPr sz="1400"/>
              <a:t/>
            </a:r>
          </a:p>
          <a:p xmlns:a="http://schemas.openxmlformats.org/drawingml/2006/main">
            <a:r>
              <a:rPr sz="1400"/>
              <a:t>Misvatting: Een bron met andere gegevens is een afzonderlijk onderzoek. Voeg die gegevens niet zomaar samen.</a:t>
            </a:r>
          </a:p>
          <a:p xmlns:a="http://schemas.openxmlformats.org/drawingml/2006/main">
            <a:r>
              <a:rPr sz="1400"/>
              <a:t/>
            </a:r>
          </a:p>
          <a:p xmlns:a="http://schemas.openxmlformats.org/drawingml/2006/main">
            <a:r>
              <a:rPr sz="1400"/>
              <a:t>Overgang: Ga door als de klas toe is aan de volgende lesfase.</a:t>
            </a:r>
          </a:p>
          <a:p xmlns:a="http://schemas.openxmlformats.org/drawingml/2006/main">
            <a:r>
              <a:rPr sz="1400"/>
              <a:t/>
            </a:r>
          </a:p>
          <a:p xmlns:a="http://schemas.openxmlformats.org/drawingml/2006/main">
            <a:r>
              <a:rPr sz="1400"/>
              <a:t>Bron: Leerlingenboek Boek 2, chat-2026, gedrukte pagina 64–69. https://github.com/meijer1973/4veco-lessen/blob/f2660032cf7e4e3bbab96cf32863d06a38bd74bc/Boek%202%20-%20Kosten,%20opbrengsten,%20elasticiteit%20en%20surplus/edities/chat-2026/boek/Boek_2_Compleet.pdf</a:t>
            </a:r>
          </a:p>
          <a:p xmlns:a="http://schemas.openxmlformats.org/drawingml/2006/main">
            <a:r>
              <a:rPr sz="1400"/>
              <a:t>Antwoordmodel: https://github.com/meijer1973/4veco-lessen/blob/f2660032cf7e4e3bbab96cf32863d06a38bd74bc/Boek%202%20-%20Kosten,%20opbrengsten,%20elasticiteit%20en%20surplus/edities/chat-2026/bronnen/H2/2.2%20Elasticiteit%20%E2%80%93%20antwoorden.md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Over welke periode gaat de omzet?</a:t>
            </a:r>
          </a:p>
          <a:p xmlns:a="http://schemas.openxmlformats.org/drawingml/2006/main">
            <a:r>
              <a:rPr sz="1400"/>
              <a:t/>
            </a:r>
          </a:p>
          <a:p xmlns:a="http://schemas.openxmlformats.org/drawingml/2006/main">
            <a:r>
              <a:rPr sz="1400"/>
              <a:t>Uitleg: Toon eerst de volledige context, alle vier bronnen en alle zes vragen zonder oplossingen. De gemeten Ev in bron A is gegeven; deze opgave combineert eerder onderwezen handelingen en introduceert geen nieuwe formule. De prijzen zijn maandprijzen per abonnement. De appscore blijft als oorspronkelijk brongegeven staan; geef nog niet weg of die nodig is.</a:t>
            </a:r>
          </a:p>
          <a:p xmlns:a="http://schemas.openxmlformats.org/drawingml/2006/main">
            <a:r>
              <a:rPr sz="1400"/>
              <a:t/>
            </a:r>
          </a:p>
          <a:p xmlns:a="http://schemas.openxmlformats.org/drawingml/2006/main">
            <a:r>
              <a:rPr sz="1400"/>
              <a:t>Misvatting: Een gegeven Ev op de brondia is nog geen antwoord op de gevraagde classificatie en uitleg.</a:t>
            </a:r>
          </a:p>
          <a:p xmlns:a="http://schemas.openxmlformats.org/drawingml/2006/main">
            <a:r>
              <a:rPr sz="1400"/>
              <a:t/>
            </a:r>
          </a:p>
          <a:p xmlns:a="http://schemas.openxmlformats.org/drawingml/2006/main">
            <a:r>
              <a:rPr sz="1400"/>
              <a:t>Overgang: Toon bronnen B en C.</a:t>
            </a:r>
          </a:p>
          <a:p xmlns:a="http://schemas.openxmlformats.org/drawingml/2006/main">
            <a:r>
              <a:rPr sz="1400"/>
              <a:t/>
            </a:r>
          </a:p>
          <a:p xmlns:a="http://schemas.openxmlformats.org/drawingml/2006/main">
            <a:r>
              <a:rPr sz="1400"/>
              <a:t>Bron: Leerlingenboek Boek 2, chat-2026, gedrukte pagina 66. https://github.com/meijer1973/4veco-lessen/blob/f2660032cf7e4e3bbab96cf32863d06a38bd74bc/Boek%202%20-%20Kosten,%20opbrengsten,%20elasticiteit%20en%20surplus/edities/chat-2026/boek/Boek_2_Compleet.pdf</a:t>
            </a:r>
          </a:p>
          <a:p xmlns:a="http://schemas.openxmlformats.org/drawingml/2006/main">
            <a:r>
              <a:rPr sz="1400"/>
              <a:t>Antwoordmodel: https://github.com/meijer1973/4veco-lessen/blob/f2660032cf7e4e3bbab96cf32863d06a38bd74bc/Boek%202%20-%20Kosten,%20opbrengsten,%20elasticiteit%20en%20surplus/edities/chat-2026/bronnen/H2/2.2%20Elasticiteit%20%E2%80%93%20antwoorden.md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grootheden en diensten worden in elke bron gemeten?</a:t>
            </a:r>
          </a:p>
          <a:p xmlns:a="http://schemas.openxmlformats.org/drawingml/2006/main">
            <a:r>
              <a:rPr sz="1400"/>
              <a:t/>
            </a:r>
          </a:p>
          <a:p xmlns:a="http://schemas.openxmlformats.org/drawingml/2006/main">
            <a:r>
              <a:rPr sz="1400"/>
              <a:t>Uitleg: Dit zijn de volledige tabellen B en C uit de bron. Premium en Budget hebben dezelfde inkomensverandering. C noemt de prijs van de concurrerende dienst en de vraag naar StreamPlus. Geef nog geen berekening of indeling. Laat leerlingen beide bronnen op boekpagina 66 terugvinden.</a:t>
            </a:r>
          </a:p>
          <a:p xmlns:a="http://schemas.openxmlformats.org/drawingml/2006/main">
            <a:r>
              <a:rPr sz="1400"/>
              <a:t/>
            </a:r>
          </a:p>
          <a:p xmlns:a="http://schemas.openxmlformats.org/drawingml/2006/main">
            <a:r>
              <a:rPr sz="1400"/>
              <a:t>Misvatting: Bron C geeft niet een nieuwe prijs van StreamPlus.</a:t>
            </a:r>
          </a:p>
          <a:p xmlns:a="http://schemas.openxmlformats.org/drawingml/2006/main">
            <a:r>
              <a:rPr sz="1400"/>
              <a:t/>
            </a:r>
          </a:p>
          <a:p xmlns:a="http://schemas.openxmlformats.org/drawingml/2006/main">
            <a:r>
              <a:rPr sz="1400"/>
              <a:t>Overgang: Toon het regionale model D.</a:t>
            </a:r>
          </a:p>
          <a:p xmlns:a="http://schemas.openxmlformats.org/drawingml/2006/main">
            <a:r>
              <a:rPr sz="1400"/>
              <a:t/>
            </a:r>
          </a:p>
          <a:p xmlns:a="http://schemas.openxmlformats.org/drawingml/2006/main">
            <a:r>
              <a:rPr sz="1400"/>
              <a:t>Bron: Leerlingenboek Boek 2, chat-2026, gedrukte pagina 66. https://github.com/meijer1973/4veco-lessen/blob/f2660032cf7e4e3bbab96cf32863d06a38bd74bc/Boek%202%20-%20Kosten,%20opbrengsten,%20elasticiteit%20en%20surplus/edities/chat-2026/boek/Boek_2_Compleet.pdf</a:t>
            </a:r>
          </a:p>
          <a:p xmlns:a="http://schemas.openxmlformats.org/drawingml/2006/main">
            <a:r>
              <a:rPr sz="1400"/>
              <a:t>Antwoordmodel: https://github.com/meijer1973/4veco-lessen/blob/f2660032cf7e4e3bbab96cf32863d06a38bd74bc/Boek%202%20-%20Kosten,%20opbrengsten,%20elasticiteit%20en%20surplus/edities/chat-2026/bronnen/H2/2.2%20Elasticiteit%20%E2%80%93%20antwoorden.md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variabelen zijn in de beginsituatie gegeven?</a:t>
            </a:r>
          </a:p>
          <a:p xmlns:a="http://schemas.openxmlformats.org/drawingml/2006/main">
            <a:r>
              <a:rPr sz="1400"/>
              <a:t/>
            </a:r>
          </a:p>
          <a:p xmlns:a="http://schemas.openxmlformats.org/drawingml/2006/main">
            <a:r>
              <a:rPr sz="1400"/>
              <a:t>Uitleg: De formule, alle definities en de beginsituatie komen uit bron D. Dit regionale model heeft een eigen vraaghoeveelheid. Het streepje bij Q geeft alleen aan dat de beginsituatie berekend moet worden; het is geen gegeven nul. De boekbron waarschuwt uitdrukkelijk dat het aantal uit A hier niet gebruikt mag worden.</a:t>
            </a:r>
          </a:p>
          <a:p xmlns:a="http://schemas.openxmlformats.org/drawingml/2006/main">
            <a:r>
              <a:rPr sz="1400"/>
              <a:t/>
            </a:r>
          </a:p>
          <a:p xmlns:a="http://schemas.openxmlformats.org/drawingml/2006/main">
            <a:r>
              <a:rPr sz="1400"/>
              <a:t>Misvatting: Y is gemiddeld jaarinkomen, ook al wordt Q per maand gemeten.</a:t>
            </a:r>
          </a:p>
          <a:p xmlns:a="http://schemas.openxmlformats.org/drawingml/2006/main">
            <a:r>
              <a:rPr sz="1400"/>
              <a:t/>
            </a:r>
          </a:p>
          <a:p xmlns:a="http://schemas.openxmlformats.org/drawingml/2006/main">
            <a:r>
              <a:rPr sz="1400"/>
              <a:t>Overgang: Toon nu alle zes vragen, nog zonder antwoorden.</a:t>
            </a:r>
          </a:p>
          <a:p xmlns:a="http://schemas.openxmlformats.org/drawingml/2006/main">
            <a:r>
              <a:rPr sz="1400"/>
              <a:t/>
            </a:r>
          </a:p>
          <a:p xmlns:a="http://schemas.openxmlformats.org/drawingml/2006/main">
            <a:r>
              <a:rPr sz="1400"/>
              <a:t>Bron: Leerlingenboek Boek 2, chat-2026, gedrukte pagina 66. https://github.com/meijer1973/4veco-lessen/blob/f2660032cf7e4e3bbab96cf32863d06a38bd74bc/Boek%202%20-%20Kosten,%20opbrengsten,%20elasticiteit%20en%20surplus/edities/chat-2026/boek/Boek_2_Compleet.pdf</a:t>
            </a:r>
          </a:p>
          <a:p xmlns:a="http://schemas.openxmlformats.org/drawingml/2006/main">
            <a:r>
              <a:rPr sz="1400"/>
              <a:t>Antwoordmodel: https://github.com/meijer1973/4veco-lessen/blob/f2660032cf7e4e3bbab96cf32863d06a38bd74bc/Boek%202%20-%20Kosten,%20opbrengsten,%20elasticiteit%20en%20surplus/edities/chat-2026/bronnen/H2/2.2%20Elasticiteit%20%E2%80%93%20antwoorden.md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bron of bronnen vraagt de opdracht?</a:t>
            </a:r>
          </a:p>
          <a:p xmlns:a="http://schemas.openxmlformats.org/drawingml/2006/main">
            <a:r>
              <a:rPr sz="1400"/>
              <a:t/>
            </a:r>
          </a:p>
          <a:p xmlns:a="http://schemas.openxmlformats.org/drawingml/2006/main">
            <a:r>
              <a:rPr sz="1400"/>
              <a:t>Uitleg: Volledige oorspronkelijke vragen 1–3, inclusief puntwaarden. Gebruik de bronnen op pagina 66; in het boek staan ze op de tegenoverliggende pagina. Lees de opdracht zonder al een oplossingsstap te geven. De punten laten de omvang van het antwoord zien.</a:t>
            </a:r>
          </a:p>
          <a:p xmlns:a="http://schemas.openxmlformats.org/drawingml/2006/main">
            <a:r>
              <a:rPr sz="1400"/>
              <a:t/>
            </a:r>
          </a:p>
          <a:p xmlns:a="http://schemas.openxmlformats.org/drawingml/2006/main">
            <a:r>
              <a:rPr sz="1400"/>
              <a:t>Misvatting: Een juist eindgetal is niet voldoende als de vraag ook een indeling of verklaring vraagt.</a:t>
            </a:r>
          </a:p>
          <a:p xmlns:a="http://schemas.openxmlformats.org/drawingml/2006/main">
            <a:r>
              <a:rPr sz="1400"/>
              <a:t/>
            </a:r>
          </a:p>
          <a:p xmlns:a="http://schemas.openxmlformats.org/drawingml/2006/main">
            <a:r>
              <a:rPr sz="1400"/>
              <a:t>Overgang: Toon de resterende vragen voordat de antwoorden worden besproken.</a:t>
            </a:r>
          </a:p>
          <a:p xmlns:a="http://schemas.openxmlformats.org/drawingml/2006/main">
            <a:r>
              <a:rPr sz="1400"/>
              <a:t/>
            </a:r>
          </a:p>
          <a:p xmlns:a="http://schemas.openxmlformats.org/drawingml/2006/main">
            <a:r>
              <a:rPr sz="1400"/>
              <a:t>Bron: Leerlingenboek Boek 2, chat-2026, gedrukte pagina 67. https://github.com/meijer1973/4veco-lessen/blob/f2660032cf7e4e3bbab96cf32863d06a38bd74bc/Boek%202%20-%20Kosten,%20opbrengsten,%20elasticiteit%20en%20surplus/edities/chat-2026/boek/Boek_2_Compleet.pdf</a:t>
            </a:r>
          </a:p>
          <a:p xmlns:a="http://schemas.openxmlformats.org/drawingml/2006/main">
            <a:r>
              <a:rPr sz="1400"/>
              <a:t>Antwoordmodel: https://github.com/meijer1973/4veco-lessen/blob/f2660032cf7e4e3bbab96cf32863d06a38bd74bc/Boek%202%20-%20Kosten,%20opbrengsten,%20elasticiteit%20en%20surplus/edities/chat-2026/bronnen/H2/2.2%20Elasticiteit%20%E2%80%93%20antwoorden.md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bron of bronnen vraagt de opdracht?</a:t>
            </a:r>
          </a:p>
          <a:p xmlns:a="http://schemas.openxmlformats.org/drawingml/2006/main">
            <a:r>
              <a:rPr sz="1400"/>
              <a:t/>
            </a:r>
          </a:p>
          <a:p xmlns:a="http://schemas.openxmlformats.org/drawingml/2006/main">
            <a:r>
              <a:rPr sz="1400"/>
              <a:t>Uitleg: Volledige oorspronkelijke vragen 4–5, inclusief puntwaarden. Gebruik de bronnen op pagina 66; in het boek staan ze op de tegenoverliggende pagina. Lees de opdracht zonder al een oplossingsstap te geven. De punten laten de omvang van het antwoord zien.</a:t>
            </a:r>
          </a:p>
          <a:p xmlns:a="http://schemas.openxmlformats.org/drawingml/2006/main">
            <a:r>
              <a:rPr sz="1400"/>
              <a:t/>
            </a:r>
          </a:p>
          <a:p xmlns:a="http://schemas.openxmlformats.org/drawingml/2006/main">
            <a:r>
              <a:rPr sz="1400"/>
              <a:t>Misvatting: Een juist eindgetal is niet voldoende als de vraag ook een indeling of verklaring vraagt.</a:t>
            </a:r>
          </a:p>
          <a:p xmlns:a="http://schemas.openxmlformats.org/drawingml/2006/main">
            <a:r>
              <a:rPr sz="1400"/>
              <a:t/>
            </a:r>
          </a:p>
          <a:p xmlns:a="http://schemas.openxmlformats.org/drawingml/2006/main">
            <a:r>
              <a:rPr sz="1400"/>
              <a:t>Overgang: Toon de resterende vragen voordat de antwoorden worden besproken.</a:t>
            </a:r>
          </a:p>
          <a:p xmlns:a="http://schemas.openxmlformats.org/drawingml/2006/main">
            <a:r>
              <a:rPr sz="1400"/>
              <a:t/>
            </a:r>
          </a:p>
          <a:p xmlns:a="http://schemas.openxmlformats.org/drawingml/2006/main">
            <a:r>
              <a:rPr sz="1400"/>
              <a:t>Bron: Leerlingenboek Boek 2, chat-2026, gedrukte pagina 67. https://github.com/meijer1973/4veco-lessen/blob/f2660032cf7e4e3bbab96cf32863d06a38bd74bc/Boek%202%20-%20Kosten,%20opbrengsten,%20elasticiteit%20en%20surplus/edities/chat-2026/boek/Boek_2_Compleet.pdf</a:t>
            </a:r>
          </a:p>
          <a:p xmlns:a="http://schemas.openxmlformats.org/drawingml/2006/main">
            <a:r>
              <a:rPr sz="1400"/>
              <a:t>Antwoordmodel: https://github.com/meijer1973/4veco-lessen/blob/f2660032cf7e4e3bbab96cf32863d06a38bd74bc/Boek%202%20-%20Kosten,%20opbrengsten,%20elasticiteit%20en%20surplus/edities/chat-2026/bronnen/H2/2.2%20Elasticiteit%20%E2%80%93%20antwoorden.md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bron of bronnen vraagt de opdracht?</a:t>
            </a:r>
          </a:p>
          <a:p xmlns:a="http://schemas.openxmlformats.org/drawingml/2006/main">
            <a:r>
              <a:rPr sz="1400"/>
              <a:t/>
            </a:r>
          </a:p>
          <a:p xmlns:a="http://schemas.openxmlformats.org/drawingml/2006/main">
            <a:r>
              <a:rPr sz="1400"/>
              <a:t>Uitleg: Volledige oorspronkelijke vraag 6, inclusief puntwaarden. Gebruik de bronnen op pagina 66; in het boek staan ze op de tegenoverliggende pagina. Lees de opdracht zonder al een oplossingsstap te geven. De punten laten de omvang van het antwoord zien.</a:t>
            </a:r>
          </a:p>
          <a:p xmlns:a="http://schemas.openxmlformats.org/drawingml/2006/main">
            <a:r>
              <a:rPr sz="1400"/>
              <a:t/>
            </a:r>
          </a:p>
          <a:p xmlns:a="http://schemas.openxmlformats.org/drawingml/2006/main">
            <a:r>
              <a:rPr sz="1400"/>
              <a:t>Misvatting: Een juist eindgetal is niet voldoende als de vraag ook een indeling of verklaring vraagt.</a:t>
            </a:r>
          </a:p>
          <a:p xmlns:a="http://schemas.openxmlformats.org/drawingml/2006/main">
            <a:r>
              <a:rPr sz="1400"/>
              <a:t/>
            </a:r>
          </a:p>
          <a:p xmlns:a="http://schemas.openxmlformats.org/drawingml/2006/main">
            <a:r>
              <a:rPr sz="1400"/>
              <a:t>Overgang: Alle context, bronnen en zes vragen zijn nu getoond. Begin pas nu met de antwoorden.</a:t>
            </a:r>
          </a:p>
          <a:p xmlns:a="http://schemas.openxmlformats.org/drawingml/2006/main">
            <a:r>
              <a:rPr sz="1400"/>
              <a:t/>
            </a:r>
          </a:p>
          <a:p xmlns:a="http://schemas.openxmlformats.org/drawingml/2006/main">
            <a:r>
              <a:rPr sz="1400"/>
              <a:t>Bron: Leerlingenboek Boek 2, chat-2026, gedrukte pagina 67. https://github.com/meijer1973/4veco-lessen/blob/f2660032cf7e4e3bbab96cf32863d06a38bd74bc/Boek%202%20-%20Kosten,%20opbrengsten,%20elasticiteit%20en%20surplus/edities/chat-2026/boek/Boek_2_Compleet.pdf</a:t>
            </a:r>
          </a:p>
          <a:p xmlns:a="http://schemas.openxmlformats.org/drawingml/2006/main">
            <a:r>
              <a:rPr sz="1400"/>
              <a:t>Antwoordmodel: https://github.com/meijer1973/4veco-lessen/blob/f2660032cf7e4e3bbab96cf32863d06a38bd74bc/Boek%202%20-%20Kosten,%20opbrengsten,%20elasticiteit%20en%20surplus/edities/chat-2026/bronnen/H2/2.2%20Elasticiteit%20%E2%80%93%20antwoorden.md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Waarom heb je van P én Q twee waarden nodig?</a:t>
            </a:r>
          </a:p>
          <a:p xmlns:a="http://schemas.openxmlformats.org/drawingml/2006/main">
            <a:r>
              <a:rPr sz="1400"/>
              <a:t/>
            </a:r>
          </a:p>
          <a:p xmlns:a="http://schemas.openxmlformats.org/drawingml/2006/main">
            <a:r>
              <a:rPr sz="1400"/>
              <a:t>Uitleg: Antwoord 1: P oud 10, P nieuw 12, Q oud 50.000 en Q nieuw 43.000. De appscore 4,6/5 is niet nodig voor de controleberekening. Selectie wordt onderbouwd door de formule: beide procentuele veranderingen hebben hun oude en nieuwe waarde nodig. Een waarderingscijfer beschrijft geen prijs- of hoeveelheidsverandering.</a:t>
            </a:r>
          </a:p>
          <a:p xmlns:a="http://schemas.openxmlformats.org/drawingml/2006/main">
            <a:r>
              <a:rPr sz="1400"/>
              <a:t/>
            </a:r>
          </a:p>
          <a:p xmlns:a="http://schemas.openxmlformats.org/drawingml/2006/main">
            <a:r>
              <a:rPr sz="1400"/>
              <a:t>Misvatting: Appwaardering is niet hetzelfde als prijsgevoeligheid.</a:t>
            </a:r>
          </a:p>
          <a:p xmlns:a="http://schemas.openxmlformats.org/drawingml/2006/main">
            <a:r>
              <a:rPr sz="1400"/>
              <a:t/>
            </a:r>
          </a:p>
          <a:p xmlns:a="http://schemas.openxmlformats.org/drawingml/2006/main">
            <a:r>
              <a:rPr sz="1400"/>
              <a:t>Overgang: Controleer de gegeven Ev en leg de relatieve reactie uit.</a:t>
            </a:r>
          </a:p>
          <a:p xmlns:a="http://schemas.openxmlformats.org/drawingml/2006/main">
            <a:r>
              <a:rPr sz="1400"/>
              <a:t/>
            </a:r>
          </a:p>
          <a:p xmlns:a="http://schemas.openxmlformats.org/drawingml/2006/main">
            <a:r>
              <a:rPr sz="1400"/>
              <a:t>Bron: Leerlingenboek Boek 2, chat-2026, gedrukte pagina 66–67. https://github.com/meijer1973/4veco-lessen/blob/f2660032cf7e4e3bbab96cf32863d06a38bd74bc/Boek%202%20-%20Kosten,%20opbrengsten,%20elasticiteit%20en%20surplus/edities/chat-2026/boek/Boek_2_Compleet.pdf</a:t>
            </a:r>
          </a:p>
          <a:p xmlns:a="http://schemas.openxmlformats.org/drawingml/2006/main">
            <a:r>
              <a:rPr sz="1400"/>
              <a:t>Antwoordmodel: https://github.com/meijer1973/4veco-lessen/blob/f2660032cf7e4e3bbab96cf32863d06a38bd74bc/Boek%202%20-%20Kosten,%20opbrengsten,%20elasticiteit%20en%20surplus/edities/chat-2026/bronnen/H2/2.2%20Elasticiteit%20%E2%80%93%20antwoorden.md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Wat vertelt het minteken, en wat vertelt de grootte 0,7?</a:t>
            </a:r>
          </a:p>
          <a:p xmlns:a="http://schemas.openxmlformats.org/drawingml/2006/main">
            <a:r>
              <a:rPr sz="1400"/>
              <a:t/>
            </a:r>
          </a:p>
          <a:p xmlns:a="http://schemas.openxmlformats.org/drawingml/2006/main">
            <a:r>
              <a:rPr sz="1400"/>
              <a:t>Uitleg: Antwoord 2: vergelijk de gegeven −0,7 met −1 en 0. De vraag is prijsinelastisch. Q daalt 14% terwijl P 20% stijgt. In deze waarneming is de procentuele hoeveelheidsreactie 0,7 maal de prijsverandering, in tegengestelde richting. De controle is aanvullende ondersteuning bij de gegeven Ev; er is geen nieuwe formule.</a:t>
            </a:r>
          </a:p>
          <a:p xmlns:a="http://schemas.openxmlformats.org/drawingml/2006/main">
            <a:r>
              <a:rPr sz="1400"/>
              <a:t/>
            </a:r>
          </a:p>
          <a:p xmlns:a="http://schemas.openxmlformats.org/drawingml/2006/main">
            <a:r>
              <a:rPr sz="1400"/>
              <a:t>Misvatting: Q daalt niet met 0,7 abonnement en ook niet met 70%. De uitkomst voorspelt niet elke volgende stap.</a:t>
            </a:r>
          </a:p>
          <a:p xmlns:a="http://schemas.openxmlformats.org/drawingml/2006/main">
            <a:r>
              <a:rPr sz="1400"/>
              <a:t/>
            </a:r>
          </a:p>
          <a:p xmlns:a="http://schemas.openxmlformats.org/drawingml/2006/main">
            <a:r>
              <a:rPr sz="1400"/>
              <a:t>Overgang: Vergelijk de twee maandelijkse omzetten rechtstreeks.</a:t>
            </a:r>
          </a:p>
          <a:p xmlns:a="http://schemas.openxmlformats.org/drawingml/2006/main">
            <a:r>
              <a:rPr sz="1400"/>
              <a:t/>
            </a:r>
          </a:p>
          <a:p xmlns:a="http://schemas.openxmlformats.org/drawingml/2006/main">
            <a:r>
              <a:rPr sz="1400"/>
              <a:t>Bron: Leerlingenboek Boek 2, chat-2026, gedrukte pagina 66–67. https://github.com/meijer1973/4veco-lessen/blob/f2660032cf7e4e3bbab96cf32863d06a38bd74bc/Boek%202%20-%20Kosten,%20opbrengsten,%20elasticiteit%20en%20surplus/edities/chat-2026/boek/Boek_2_Compleet.pdf</a:t>
            </a:r>
          </a:p>
          <a:p xmlns:a="http://schemas.openxmlformats.org/drawingml/2006/main">
            <a:r>
              <a:rPr sz="1400"/>
              <a:t>Antwoordmodel: https://github.com/meijer1973/4veco-lessen/blob/f2660032cf7e4e3bbab96cf32863d06a38bd74bc/Boek%202%20-%20Kosten,%20opbrengsten,%20elasticiteit%20en%20surplus/edities/chat-2026/bronnen/H2/2.2%20Elasticiteit%20%E2%80%93%20antwoorden.md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Waarom hoort 43.000 bij de prijs van twaalf euro?</a:t>
            </a:r>
          </a:p>
          <a:p xmlns:a="http://schemas.openxmlformats.org/drawingml/2006/main">
            <a:r>
              <a:rPr sz="1400"/>
              <a:t/>
            </a:r>
          </a:p>
          <a:p xmlns:a="http://schemas.openxmlformats.org/drawingml/2006/main">
            <a:r>
              <a:rPr sz="1400"/>
              <a:t>Uitleg: Antwoord 3: vermenigvuldig de oude prijs met het oude aantal, en de nieuwe prijs met het nieuwe aantal. TO stijgt met 16.000 euro per maand. De eenheid volgt uit een maandprijs per abonnement maal het aantal abonnees. De directe vergelijking bevestigt de stijging in deze gegevens; het elasticiteitslabel alleen is geen universele omzetgarantie voor eindige stappen.</a:t>
            </a:r>
          </a:p>
          <a:p xmlns:a="http://schemas.openxmlformats.org/drawingml/2006/main">
            <a:r>
              <a:rPr sz="1400"/>
              <a:t/>
            </a:r>
          </a:p>
          <a:p xmlns:a="http://schemas.openxmlformats.org/drawingml/2006/main">
            <a:r>
              <a:rPr sz="1400"/>
              <a:t>Misvatting: € 16.000 is extra omzet; zonder kosten is dit geen extra winst.</a:t>
            </a:r>
          </a:p>
          <a:p xmlns:a="http://schemas.openxmlformats.org/drawingml/2006/main">
            <a:r>
              <a:rPr sz="1400"/>
              <a:t/>
            </a:r>
          </a:p>
          <a:p xmlns:a="http://schemas.openxmlformats.org/drawingml/2006/main">
            <a:r>
              <a:rPr sz="1400"/>
              <a:t>Overgang: Wissel naar bron B: nu verandert het inkomen.</a:t>
            </a:r>
          </a:p>
          <a:p xmlns:a="http://schemas.openxmlformats.org/drawingml/2006/main">
            <a:r>
              <a:rPr sz="1400"/>
              <a:t/>
            </a:r>
          </a:p>
          <a:p xmlns:a="http://schemas.openxmlformats.org/drawingml/2006/main">
            <a:r>
              <a:rPr sz="1400"/>
              <a:t>Bron: Leerlingenboek Boek 2, chat-2026, gedrukte pagina 66–67. https://github.com/meijer1973/4veco-lessen/blob/f2660032cf7e4e3bbab96cf32863d06a38bd74bc/Boek%202%20-%20Kosten,%20opbrengsten,%20elasticiteit%20en%20surplus/edities/chat-2026/boek/Boek_2_Compleet.pdf</a:t>
            </a:r>
          </a:p>
          <a:p xmlns:a="http://schemas.openxmlformats.org/drawingml/2006/main">
            <a:r>
              <a:rPr sz="1400"/>
              <a:t>Antwoordmodel: https://github.com/meijer1973/4veco-lessen/blob/f2660032cf7e4e3bbab96cf32863d06a38bd74bc/Boek%202%20-%20Kosten,%20opbrengsten,%20elasticiteit%20en%20surplus/edities/chat-2026/bronnen/H2/2.2%20Elasticiteit%20%E2%80%93%20antwoorden.md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Waarom is de noemer voor beide abonnementen gelijk?</a:t>
            </a:r>
          </a:p>
          <a:p xmlns:a="http://schemas.openxmlformats.org/drawingml/2006/main">
            <a:r>
              <a:rPr sz="1400"/>
              <a:t/>
            </a:r>
          </a:p>
          <a:p xmlns:a="http://schemas.openxmlformats.org/drawingml/2006/main">
            <a:r>
              <a:rPr sz="1400"/>
              <a:t>Uitleg: Antwoord 4, bron B. Premium: 15 gedeeld door 8 = 1,875, eventueel afgerond 1,88, luxegoed. Budget: −4 gedeeld door 8 = −0,5, inferieur goed. Bewaar ongeronde tussenuitkomsten. Dit zijn de labels van de methode voor de onderzochte groep/situatie; inferieur is een vraagreactie, geen oordeel over productkwaliteit.</a:t>
            </a:r>
          </a:p>
          <a:p xmlns:a="http://schemas.openxmlformats.org/drawingml/2006/main">
            <a:r>
              <a:rPr sz="1400"/>
              <a:t/>
            </a:r>
          </a:p>
          <a:p xmlns:a="http://schemas.openxmlformats.org/drawingml/2006/main">
            <a:r>
              <a:rPr sz="1400"/>
              <a:t>Misvatting: Ei is dimensieloos en gebruikt geen prijsverandering in de noemer.</a:t>
            </a:r>
          </a:p>
          <a:p xmlns:a="http://schemas.openxmlformats.org/drawingml/2006/main">
            <a:r>
              <a:rPr sz="1400"/>
              <a:t/>
            </a:r>
          </a:p>
          <a:p xmlns:a="http://schemas.openxmlformats.org/drawingml/2006/main">
            <a:r>
              <a:rPr sz="1400"/>
              <a:t>Overgang: Bereken met C het verband tussen twee diensten.</a:t>
            </a:r>
          </a:p>
          <a:p xmlns:a="http://schemas.openxmlformats.org/drawingml/2006/main">
            <a:r>
              <a:rPr sz="1400"/>
              <a:t/>
            </a:r>
          </a:p>
          <a:p xmlns:a="http://schemas.openxmlformats.org/drawingml/2006/main">
            <a:r>
              <a:rPr sz="1400"/>
              <a:t>Bron: Leerlingenboek Boek 2, chat-2026, gedrukte pagina 66–67. https://github.com/meijer1973/4veco-lessen/blob/f2660032cf7e4e3bbab96cf32863d06a38bd74bc/Boek%202%20-%20Kosten,%20opbrengsten,%20elasticiteit%20en%20surplus/edities/chat-2026/boek/Boek_2_Compleet.pdf</a:t>
            </a:r>
          </a:p>
          <a:p xmlns:a="http://schemas.openxmlformats.org/drawingml/2006/main">
            <a:r>
              <a:rPr sz="1400"/>
              <a:t>Antwoordmodel: https://github.com/meijer1973/4veco-lessen/blob/f2660032cf7e4e3bbab96cf32863d06a38bd74bc/Boek%202%20-%20Kosten,%20opbrengsten,%20elasticiteit%20en%20surplus/edities/chat-2026/bronnen/H2/2.2%20Elasticiteit%20%E2%80%93%20antwoorden.md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Waarom delen we niet door de euro prijsstijging van één?</a:t>
            </a:r>
          </a:p>
          <a:p xmlns:a="http://schemas.openxmlformats.org/drawingml/2006/main">
            <a:r>
              <a:rPr sz="1400"/>
              <a:t/>
            </a:r>
          </a:p>
          <a:p xmlns:a="http://schemas.openxmlformats.org/drawingml/2006/main">
            <a:r>
              <a:rPr sz="1400"/>
              <a:t>Uitleg: Antwoord 4, bron C. Bereken eerst de procentuele stijging van de concurrentprijs met acht als oude waarde: 12,5%. Deel de stijging van de vraag naar StreamPlus van 5% door 12,5%: +0,4. Noem beide diensten. Het positieve teken past bij substituten: als de concurrent duurder wordt, neemt de vraag naar StreamPlus toe.</a:t>
            </a:r>
          </a:p>
          <a:p xmlns:a="http://schemas.openxmlformats.org/drawingml/2006/main">
            <a:r>
              <a:rPr sz="1400"/>
              <a:t/>
            </a:r>
          </a:p>
          <a:p xmlns:a="http://schemas.openxmlformats.org/drawingml/2006/main">
            <a:r>
              <a:rPr sz="1400"/>
              <a:t>Misvatting: De noemer moet procentueel zijn en over de concurrent gaan. +0,4 is geen eurobedrag.</a:t>
            </a:r>
          </a:p>
          <a:p xmlns:a="http://schemas.openxmlformats.org/drawingml/2006/main">
            <a:r>
              <a:rPr sz="1400"/>
              <a:t/>
            </a:r>
          </a:p>
          <a:p xmlns:a="http://schemas.openxmlformats.org/drawingml/2006/main">
            <a:r>
              <a:rPr sz="1400"/>
              <a:t>Overgang: Houd de gegevens van het regionale model D apart.</a:t>
            </a:r>
          </a:p>
          <a:p xmlns:a="http://schemas.openxmlformats.org/drawingml/2006/main">
            <a:r>
              <a:rPr sz="1400"/>
              <a:t/>
            </a:r>
          </a:p>
          <a:p xmlns:a="http://schemas.openxmlformats.org/drawingml/2006/main">
            <a:r>
              <a:rPr sz="1400"/>
              <a:t>Bron: Leerlingenboek Boek 2, chat-2026, gedrukte pagina 66–67. https://github.com/meijer1973/4veco-lessen/blob/f2660032cf7e4e3bbab96cf32863d06a38bd74bc/Boek%202%20-%20Kosten,%20opbrengsten,%20elasticiteit%20en%20surplus/edities/chat-2026/boek/Boek_2_Compleet.pdf</a:t>
            </a:r>
          </a:p>
          <a:p xmlns:a="http://schemas.openxmlformats.org/drawingml/2006/main">
            <a:r>
              <a:rPr sz="1400"/>
              <a:t>Antwoordmodel: https://github.com/meijer1973/4veco-lessen/blob/f2660032cf7e4e3bbab96cf32863d06a38bd74bc/Boek%202%20-%20Kosten,%20opbrengsten,%20elasticiteit%20en%20surplus/edities/chat-2026/bronnen/H2/2.2%20Elasticiteit%20%E2%80%93%20antwoorden.md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Waarom is de uitgangshoeveelheid niet 50.000?</a:t>
            </a:r>
          </a:p>
          <a:p xmlns:a="http://schemas.openxmlformats.org/drawingml/2006/main">
            <a:r>
              <a:rPr sz="1400"/>
              <a:t/>
            </a:r>
          </a:p>
          <a:p xmlns:a="http://schemas.openxmlformats.org/drawingml/2006/main">
            <a:r>
              <a:rPr sz="1400"/>
              <a:t>Uitleg: Antwoord 5, eerste stap. Vul elke variabele met de waarde uit D in. Reken de drie producten uit voordat je optelt: −4800, +4000, +3000. Resultaat: 14.200 gevraagde abonnementen per maand. Controleer de dimensies en houd het jaarinkomen als jaarinkomen.</a:t>
            </a:r>
          </a:p>
          <a:p xmlns:a="http://schemas.openxmlformats.org/drawingml/2006/main">
            <a:r>
              <a:rPr sz="1400"/>
              <a:t/>
            </a:r>
          </a:p>
          <a:p xmlns:a="http://schemas.openxmlformats.org/drawingml/2006/main">
            <a:r>
              <a:rPr sz="1400"/>
              <a:t>Misvatting: Bron A en het regionale model D beschrijven niet dezelfde meetbasis.</a:t>
            </a:r>
          </a:p>
          <a:p xmlns:a="http://schemas.openxmlformats.org/drawingml/2006/main">
            <a:r>
              <a:rPr sz="1400"/>
              <a:t/>
            </a:r>
          </a:p>
          <a:p xmlns:a="http://schemas.openxmlformats.org/drawingml/2006/main">
            <a:r>
              <a:rPr sz="1400"/>
              <a:t>Overgang: Verander uitsluitend Y naar 42.000.</a:t>
            </a:r>
          </a:p>
          <a:p xmlns:a="http://schemas.openxmlformats.org/drawingml/2006/main">
            <a:r>
              <a:rPr sz="1400"/>
              <a:t/>
            </a:r>
          </a:p>
          <a:p xmlns:a="http://schemas.openxmlformats.org/drawingml/2006/main">
            <a:r>
              <a:rPr sz="1400"/>
              <a:t>Bron: Leerlingenboek Boek 2, chat-2026, gedrukte pagina 66–67. https://github.com/meijer1973/4veco-lessen/blob/f2660032cf7e4e3bbab96cf32863d06a38bd74bc/Boek%202%20-%20Kosten,%20opbrengsten,%20elasticiteit%20en%20surplus/edities/chat-2026/boek/Boek_2_Compleet.pdf</a:t>
            </a:r>
          </a:p>
          <a:p xmlns:a="http://schemas.openxmlformats.org/drawingml/2006/main">
            <a:r>
              <a:rPr sz="1400"/>
              <a:t>Antwoordmodel: https://github.com/meijer1973/4veco-lessen/blob/f2660032cf7e4e3bbab96cf32863d06a38bd74bc/Boek%202%20-%20Kosten,%20opbrengsten,%20elasticiteit%20en%20surplus/edities/chat-2026/bronnen/H2/2.2%20Elasticiteit%20%E2%80%93%20antwoorden.md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van de vier termen verschilt van de vorige dia?</a:t>
            </a:r>
          </a:p>
          <a:p xmlns:a="http://schemas.openxmlformats.org/drawingml/2006/main">
            <a:r>
              <a:rPr sz="1400"/>
              <a:t/>
            </a:r>
          </a:p>
          <a:p xmlns:a="http://schemas.openxmlformats.org/drawingml/2006/main">
            <a:r>
              <a:rPr sz="1400"/>
              <a:t>Uitleg: Antwoord 5, tweede stap. Alleen de inkomensterm wordt 4200 in plaats van 4000. De vraag stijgt van 14.200 naar 14.400, dus met 200 abonnementen per maand. Controle via 0,1 maal de inkomensverandering geeft dezelfde 200. Prijzen P=12 en Pc=10 blijven gelijk. Dit is een modeluitkomst onder deze voorwaarden.</a:t>
            </a:r>
          </a:p>
          <a:p xmlns:a="http://schemas.openxmlformats.org/drawingml/2006/main">
            <a:r>
              <a:rPr sz="1400"/>
              <a:t/>
            </a:r>
          </a:p>
          <a:p xmlns:a="http://schemas.openxmlformats.org/drawingml/2006/main">
            <a:r>
              <a:rPr sz="1400"/>
              <a:t>Misvatting: Een hoger jaarinkomen wordt niet gedeeld door twaalf; de modelcoëfficiënt is op deze eenheden afgestemd.</a:t>
            </a:r>
          </a:p>
          <a:p xmlns:a="http://schemas.openxmlformats.org/drawingml/2006/main">
            <a:r>
              <a:rPr sz="1400"/>
              <a:t/>
            </a:r>
          </a:p>
          <a:p xmlns:a="http://schemas.openxmlformats.org/drawingml/2006/main">
            <a:r>
              <a:rPr sz="1400"/>
              <a:t>Overgang: Combineer nu twee bronnen tot een voorzichtig advies.</a:t>
            </a:r>
          </a:p>
          <a:p xmlns:a="http://schemas.openxmlformats.org/drawingml/2006/main">
            <a:r>
              <a:rPr sz="1400"/>
              <a:t/>
            </a:r>
          </a:p>
          <a:p xmlns:a="http://schemas.openxmlformats.org/drawingml/2006/main">
            <a:r>
              <a:rPr sz="1400"/>
              <a:t>Bron: Leerlingenboek Boek 2, chat-2026, gedrukte pagina 66–67. https://github.com/meijer1973/4veco-lessen/blob/f2660032cf7e4e3bbab96cf32863d06a38bd74bc/Boek%202%20-%20Kosten,%20opbrengsten,%20elasticiteit%20en%20surplus/edities/chat-2026/boek/Boek_2_Compleet.pdf</a:t>
            </a:r>
          </a:p>
          <a:p xmlns:a="http://schemas.openxmlformats.org/drawingml/2006/main">
            <a:r>
              <a:rPr sz="1400"/>
              <a:t>Antwoordmodel: https://github.com/meijer1973/4veco-lessen/blob/f2660032cf7e4e3bbab96cf32863d06a38bd74bc/Boek%202%20-%20Kosten,%20opbrengsten,%20elasticiteit%20en%20surplus/edities/chat-2026/bronnen/H2/2.2%20Elasticiteit%20%E2%80%93%20antwoorden.md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bron bewijst de omzetstijging, en welke bron begrenst de vervolgstap?</a:t>
            </a:r>
          </a:p>
          <a:p xmlns:a="http://schemas.openxmlformats.org/drawingml/2006/main">
            <a:r>
              <a:rPr sz="1400"/>
              <a:t/>
            </a:r>
          </a:p>
          <a:p xmlns:a="http://schemas.openxmlformats.org/drawingml/2006/main">
            <a:r>
              <a:rPr sz="1400"/>
              <a:t>Uitleg: Antwoord 6, eerste deel. Er is één hoofdconclusie over de waargenomen omzet, ondersteund door A. C levert een tweede relevante bron: de diensten zijn substituten en concurrentprijzen doen ertoe. Dat onderbouwt voorzichtig onderzoek naar een volgende prijsstap. B of D mag ook in een ander goed advies worden gebruikt, mits de relatie en grenzen kloppen. De volgende dia maakt het antwoord af met precies twee niet-bewezen conclusies.</a:t>
            </a:r>
          </a:p>
          <a:p xmlns:a="http://schemas.openxmlformats.org/drawingml/2006/main">
            <a:r>
              <a:rPr sz="1400"/>
              <a:t/>
            </a:r>
          </a:p>
          <a:p xmlns:a="http://schemas.openxmlformats.org/drawingml/2006/main">
            <a:r>
              <a:rPr sz="1400"/>
              <a:t>Misvatting: Een substitutierelatie voorspelt niet op zichzelf de precieze reactie op een volgende eigen prijsverandering.</a:t>
            </a:r>
          </a:p>
          <a:p xmlns:a="http://schemas.openxmlformats.org/drawingml/2006/main">
            <a:r>
              <a:rPr sz="1400"/>
              <a:t/>
            </a:r>
          </a:p>
          <a:p xmlns:a="http://schemas.openxmlformats.org/drawingml/2006/main">
            <a:r>
              <a:rPr sz="1400"/>
              <a:t>Overgang: Voeg precies twee niet-bewezen conclusies toe.</a:t>
            </a:r>
          </a:p>
          <a:p xmlns:a="http://schemas.openxmlformats.org/drawingml/2006/main">
            <a:r>
              <a:rPr sz="1400"/>
              <a:t/>
            </a:r>
          </a:p>
          <a:p xmlns:a="http://schemas.openxmlformats.org/drawingml/2006/main">
            <a:r>
              <a:rPr sz="1400"/>
              <a:t>Bron: Leerlingenboek Boek 2, chat-2026, gedrukte pagina 66–67. https://github.com/meijer1973/4veco-lessen/blob/f2660032cf7e4e3bbab96cf32863d06a38bd74bc/Boek%202%20-%20Kosten,%20opbrengsten,%20elasticiteit%20en%20surplus/edities/chat-2026/boek/Boek_2_Compleet.pdf</a:t>
            </a:r>
          </a:p>
          <a:p xmlns:a="http://schemas.openxmlformats.org/drawingml/2006/main">
            <a:r>
              <a:rPr sz="1400"/>
              <a:t>Antwoordmodel: https://github.com/meijer1973/4veco-lessen/blob/f2660032cf7e4e3bbab96cf32863d06a38bd74bc/Boek%202%20-%20Kosten,%20opbrengsten,%20elasticiteit%20en%20surplus/edities/chat-2026/bronnen/H2/2.2%20Elasticiteit%20%E2%80%93%20antwoorden.md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extra gegevens zouden nodig zijn om over winst te spreken?</a:t>
            </a:r>
          </a:p>
          <a:p xmlns:a="http://schemas.openxmlformats.org/drawingml/2006/main">
            <a:r>
              <a:rPr sz="1400"/>
              <a:t/>
            </a:r>
          </a:p>
          <a:p xmlns:a="http://schemas.openxmlformats.org/drawingml/2006/main">
            <a:r>
              <a:rPr sz="1400"/>
              <a:t>Uitleg: Volledig mogelijk antwoord: De onderzochte prijsverhoging verhoogde volgens A de maandomzet met 16.000 euro. C laat zien dat StreamPlus en het concurrerende abonnement substituten zijn; klanten reageren op de concurrentprijs. Onderzoek daarom een eventuele volgende prijswijziging zorgvuldig. Niet bewezen zijn dezelfde reactie bij een volgende prijsverhoging en een hogere winst, omdat kostengegevens ontbreken. Dit bevat één onderbouwde omzetconclusie, een tweede bron en precies twee grenzen.</a:t>
            </a:r>
          </a:p>
          <a:p xmlns:a="http://schemas.openxmlformats.org/drawingml/2006/main">
            <a:r>
              <a:rPr sz="1400"/>
              <a:t/>
            </a:r>
          </a:p>
          <a:p xmlns:a="http://schemas.openxmlformats.org/drawingml/2006/main">
            <a:r>
              <a:rPr sz="1400"/>
              <a:t>Misvatting: Noem geen derde niet-bewezen conclusie als er precies twee worden gevraagd. Een ontbrekend bewijs is niet hetzelfde als bewijs dat iets onjuist is.</a:t>
            </a:r>
          </a:p>
          <a:p xmlns:a="http://schemas.openxmlformats.org/drawingml/2006/main">
            <a:r>
              <a:rPr sz="1400"/>
              <a:t/>
            </a:r>
          </a:p>
          <a:p xmlns:a="http://schemas.openxmlformats.org/drawingml/2006/main">
            <a:r>
              <a:rPr sz="1400"/>
              <a:t>Overgang: Laat leerlingen hun eigen antwoord verbeteren.</a:t>
            </a:r>
          </a:p>
          <a:p xmlns:a="http://schemas.openxmlformats.org/drawingml/2006/main">
            <a:r>
              <a:rPr sz="1400"/>
              <a:t/>
            </a:r>
          </a:p>
          <a:p xmlns:a="http://schemas.openxmlformats.org/drawingml/2006/main">
            <a:r>
              <a:rPr sz="1400"/>
              <a:t>Bron: Leerlingenboek Boek 2, chat-2026, gedrukte pagina 66–67. https://github.com/meijer1973/4veco-lessen/blob/f2660032cf7e4e3bbab96cf32863d06a38bd74bc/Boek%202%20-%20Kosten,%20opbrengsten,%20elasticiteit%20en%20surplus/edities/chat-2026/boek/Boek_2_Compleet.pdf</a:t>
            </a:r>
          </a:p>
          <a:p xmlns:a="http://schemas.openxmlformats.org/drawingml/2006/main">
            <a:r>
              <a:rPr sz="1400"/>
              <a:t>Antwoordmodel: https://github.com/meijer1973/4veco-lessen/blob/f2660032cf7e4e3bbab96cf32863d06a38bd74bc/Boek%202%20-%20Kosten,%20opbrengsten,%20elasticiteit%20en%20surplus/edities/chat-2026/bronnen/H2/2.2%20Elasticiteit%20%E2%80%93%20antwoorden.md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fout kun je nu zelf herstellen?</a:t>
            </a:r>
          </a:p>
          <a:p xmlns:a="http://schemas.openxmlformats.org/drawingml/2006/main">
            <a:r>
              <a:rPr sz="1400"/>
              <a:t/>
            </a:r>
          </a:p>
          <a:p xmlns:a="http://schemas.openxmlformats.org/drawingml/2006/main">
            <a:r>
              <a:rPr sz="1400"/>
              <a:t>Uitleg: Laat leerlingen hun werk vergelijken met het antwoordmodel en één concrete verbetering uitvoeren. Controleer bij de eigen antwoorden ook de toelichtingen, niet alleen eindgetallen. Vraag bij Ek twee diensten, bij TO euro per maand en bij bron D abonnementen per maand plus gelijkblijvende prijzen. Beoordeel het advies op brongebruik én precies twee niet-bewezen conclusies. Dit is oefenfeedback, geen bewijs van blijvende beheersing.</a:t>
            </a:r>
          </a:p>
          <a:p xmlns:a="http://schemas.openxmlformats.org/drawingml/2006/main">
            <a:r>
              <a:rPr sz="1400"/>
              <a:t/>
            </a:r>
          </a:p>
          <a:p xmlns:a="http://schemas.openxmlformats.org/drawingml/2006/main">
            <a:r>
              <a:rPr sz="1400"/>
              <a:t>Misvatting: Een antwoord overschrijven is nog niet hetzelfde als begrijpen welke stap fout ging.</a:t>
            </a:r>
          </a:p>
          <a:p xmlns:a="http://schemas.openxmlformats.org/drawingml/2006/main">
            <a:r>
              <a:rPr sz="1400"/>
              <a:t/>
            </a:r>
          </a:p>
          <a:p xmlns:a="http://schemas.openxmlformats.org/drawingml/2006/main">
            <a:r>
              <a:rPr sz="1400"/>
              <a:t>Overgang: Keer terug naar het overzicht en noteer het huiswerk.</a:t>
            </a:r>
          </a:p>
          <a:p xmlns:a="http://schemas.openxmlformats.org/drawingml/2006/main">
            <a:r>
              <a:rPr sz="1400"/>
              <a:t/>
            </a:r>
          </a:p>
          <a:p xmlns:a="http://schemas.openxmlformats.org/drawingml/2006/main">
            <a:r>
              <a:rPr sz="1400"/>
              <a:t>Bron: Leerlingenboek Boek 2, chat-2026, gedrukte pagina 67–69. https://github.com/meijer1973/4veco-lessen/blob/f2660032cf7e4e3bbab96cf32863d06a38bd74bc/Boek%202%20-%20Kosten,%20opbrengsten,%20elasticiteit%20en%20surplus/edities/chat-2026/boek/Boek_2_Compleet.pdf</a:t>
            </a:r>
          </a:p>
          <a:p xmlns:a="http://schemas.openxmlformats.org/drawingml/2006/main">
            <a:r>
              <a:rPr sz="1400"/>
              <a:t>Antwoordmodel: https://github.com/meijer1973/4veco-lessen/blob/f2660032cf7e4e3bbab96cf32863d06a38bd74bc/Boek%202%20-%20Kosten,%20opbrengsten,%20elasticiteit%20en%20surplus/edities/chat-2026/bronnen/H2/2.2%20Elasticiteit%20%E2%80%93%20antwoorden.md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berekening of redenering wil je verbeteren?</a:t>
            </a:r>
          </a:p>
          <a:p xmlns:a="http://schemas.openxmlformats.org/drawingml/2006/main">
            <a:r>
              <a:rPr sz="1400"/>
              <a:t/>
            </a:r>
          </a:p>
          <a:p xmlns:a="http://schemas.openxmlformats.org/drawingml/2006/main">
            <a:r>
              <a:rPr sz="1400"/>
              <a:t>Uitleg: Laat deze dia staan tijdens afsluiting / huiswerk. Start: opgave 1, gedrukte pagina 64. Er is geen afzonderlijke basis- of begeleide sectie. Werk met gemengde opgaven 1–4 naar doel 5 (StreamPlus, p. 66–67). Die echte doelopgave is gekozen omdat zij bronselectie, Ev, Ei, Ek, maandomzet, een één-factor-scenario en een begrensd advies combineert. Huiswerk: alle opgaven 1–7 maken en nakijken; behoud de labels bonus/denkertje bij 6 en hoofdstukcheck bij 7. De algemene docentenroute noemt 6 en 7 aanvullend; de classroom-afspraak voor gemengde paragrafen wijst alle opgaven toe. Plan zo nodig verdere werktijd; de volledige route is niet als één les getimed.</a:t>
            </a:r>
          </a:p>
          <a:p xmlns:a="http://schemas.openxmlformats.org/drawingml/2006/main">
            <a:r>
              <a:rPr sz="1400"/>
              <a:t/>
            </a:r>
          </a:p>
          <a:p xmlns:a="http://schemas.openxmlformats.org/drawingml/2006/main">
            <a:r>
              <a:rPr sz="1400"/>
              <a:t>Misvatting: Een bron met andere gegevens is een afzonderlijk onderzoek. Voeg die gegevens niet zomaar samen.</a:t>
            </a:r>
          </a:p>
          <a:p xmlns:a="http://schemas.openxmlformats.org/drawingml/2006/main">
            <a:r>
              <a:rPr sz="1400"/>
              <a:t/>
            </a:r>
          </a:p>
          <a:p xmlns:a="http://schemas.openxmlformats.org/drawingml/2006/main">
            <a:r>
              <a:rPr sz="1400"/>
              <a:t>Overgang: Laat leerlingen het huiswerk in hun agenda zetten.</a:t>
            </a:r>
          </a:p>
          <a:p xmlns:a="http://schemas.openxmlformats.org/drawingml/2006/main">
            <a:r>
              <a:rPr sz="1400"/>
              <a:t/>
            </a:r>
          </a:p>
          <a:p xmlns:a="http://schemas.openxmlformats.org/drawingml/2006/main">
            <a:r>
              <a:rPr sz="1400"/>
              <a:t>Bron: Leerlingenboek Boek 2, chat-2026, gedrukte pagina 64–69. https://github.com/meijer1973/4veco-lessen/blob/f2660032cf7e4e3bbab96cf32863d06a38bd74bc/Boek%202%20-%20Kosten,%20opbrengsten,%20elasticiteit%20en%20surplus/edities/chat-2026/boek/Boek_2_Compleet.pdf</a:t>
            </a:r>
          </a:p>
          <a:p xmlns:a="http://schemas.openxmlformats.org/drawingml/2006/main">
            <a:r>
              <a:rPr sz="1400"/>
              <a:t>Antwoordmodel: https://github.com/meijer1973/4veco-lessen/blob/f2660032cf7e4e3bbab96cf32863d06a38bd74bc/Boek%202%20-%20Kosten,%20opbrengsten,%20elasticiteit%20en%20surplus/edities/chat-2026/bronnen/H2/2.2%20Elasticiteit%20%E2%80%93%20antwoorden.md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96fe6fc268547f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61fa830c0ad41cd" /><Relationship Type="http://schemas.openxmlformats.org/officeDocument/2006/relationships/slideLayout" Target="/ppt/slideLayouts/slideLayout1.xml" Id="R63d9188efca1400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3d9188efca1400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2aba52b7fb6c4c55" /><Relationship Type="http://schemas.openxmlformats.org/officeDocument/2006/relationships/notesSlide" Target="/ppt/notesSlides/notesSlide1.xml" Id="Rd5f3020eb8ac4c6b"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8bafd86703234d8d" /><Relationship Type="http://schemas.openxmlformats.org/officeDocument/2006/relationships/notesSlide" Target="/ppt/notesSlides/notesSlide2.xml" Id="Rb11da666d8c347eb"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3646c33e5f1847ee" /><Relationship Type="http://schemas.openxmlformats.org/officeDocument/2006/relationships/notesSlide" Target="/ppt/notesSlides/notesSlide3.xml" Id="Rf56ea71801f74b41"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54ceb3c87b89453b" /><Relationship Type="http://schemas.openxmlformats.org/officeDocument/2006/relationships/notesSlide" Target="/ppt/notesSlides/notesSlide4.xml" Id="R2b096948a69e4f9c"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86bc6c5af6c44a94" /><Relationship Type="http://schemas.openxmlformats.org/officeDocument/2006/relationships/notesSlide" Target="/ppt/notesSlides/notesSlide5.xml" Id="R8082ddf74ab5497c"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c79c10853321426c" /><Relationship Type="http://schemas.openxmlformats.org/officeDocument/2006/relationships/notesSlide" Target="/ppt/notesSlides/notesSlide6.xml" Id="Ra129995661094572"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0080d17b1fb54ee6" /><Relationship Type="http://schemas.openxmlformats.org/officeDocument/2006/relationships/notesSlide" Target="/ppt/notesSlides/notesSlide7.xml" Id="Rbf6f5388d8ec4de7"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31a1e2c3bf3c406e" /><Relationship Type="http://schemas.openxmlformats.org/officeDocument/2006/relationships/notesSlide" Target="/ppt/notesSlides/notesSlide8.xml" Id="Re36cb99611fd4ebd"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627f1b6c09274daa" /><Relationship Type="http://schemas.openxmlformats.org/officeDocument/2006/relationships/notesSlide" Target="/ppt/notesSlides/notesSlide9.xml" Id="R8d154034c7114b51"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5c7a57da369343bb" /><Relationship Type="http://schemas.openxmlformats.org/officeDocument/2006/relationships/notesSlide" Target="/ppt/notesSlides/notesSlide10.xml" Id="R5fd0ab0d602846a6"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729a664943c842fd" /><Relationship Type="http://schemas.openxmlformats.org/officeDocument/2006/relationships/notesSlide" Target="/ppt/notesSlides/notesSlide11.xml" Id="R6a523b8f242b41a9"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668806f318e24496" /><Relationship Type="http://schemas.openxmlformats.org/officeDocument/2006/relationships/notesSlide" Target="/ppt/notesSlides/notesSlide12.xml" Id="R3ffad6829a2a4e0f"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57120793de864fcb" /><Relationship Type="http://schemas.openxmlformats.org/officeDocument/2006/relationships/notesSlide" Target="/ppt/notesSlides/notesSlide13.xml" Id="R4d0b5682bf104ecd"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fec81bbb31634756" /><Relationship Type="http://schemas.openxmlformats.org/officeDocument/2006/relationships/notesSlide" Target="/ppt/notesSlides/notesSlide14.xml" Id="Rf65bb88e63514b16"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e4a8ead7486d4572" /><Relationship Type="http://schemas.openxmlformats.org/officeDocument/2006/relationships/notesSlide" Target="/ppt/notesSlides/notesSlide15.xml" Id="R6644edb8eb5c445d"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c2e7f185d2d74cc3" /><Relationship Type="http://schemas.openxmlformats.org/officeDocument/2006/relationships/notesSlide" Target="/ppt/notesSlides/notesSlide16.xml" Id="R8afcc181e0ec4e23"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56655643d5aa47e3" /><Relationship Type="http://schemas.openxmlformats.org/officeDocument/2006/relationships/notesSlide" Target="/ppt/notesSlides/notesSlide17.xml" Id="R1db554b6e1d04c4c"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26429a36dc184c72" /><Relationship Type="http://schemas.openxmlformats.org/officeDocument/2006/relationships/notesSlide" Target="/ppt/notesSlides/notesSlide18.xml" Id="Reb6cba2d313e443a"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0b0e5d477f8a4784" /><Relationship Type="http://schemas.openxmlformats.org/officeDocument/2006/relationships/notesSlide" Target="/ppt/notesSlides/notesSlide19.xml" Id="R782806d33f1d4198"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da330ca9e1a84ba2" /><Relationship Type="http://schemas.openxmlformats.org/officeDocument/2006/relationships/notesSlide" Target="/ppt/notesSlides/notesSlide20.xml" Id="Rcf37ef01ca6f403f"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134f085aa65a4d8d" /><Relationship Type="http://schemas.openxmlformats.org/officeDocument/2006/relationships/notesSlide" Target="/ppt/notesSlides/notesSlide21.xml" Id="Rb4f5ab1626f6493c"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b59f7c95d1f74793" /><Relationship Type="http://schemas.openxmlformats.org/officeDocument/2006/relationships/notesSlide" Target="/ppt/notesSlides/notesSlide22.xml" Id="R03a6c517b2464ad9"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5b30113d9fa74096" /><Relationship Type="http://schemas.openxmlformats.org/officeDocument/2006/relationships/notesSlide" Target="/ppt/notesSlides/notesSlide23.xml" Id="R5b429e80e42a4a19"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Deze les: §2.2.4 Gemengde opgaven">
            <a:extLst xmlns:a="http://schemas.openxmlformats.org/drawingml/2006/main">
              <a:ext uri="{FF2B5EF4-FFF2-40B4-BE49-F238E27FC236}">
                <a16:creationId xmlns:a16="http://schemas.microsoft.com/office/drawing/2014/main" id="{5F94DB43-BF71-4AF3-BF0F-1A5521E278D6}"/>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Deze les: §2.2.4 Gemengde opgaven</a:t>
            </a:r>
          </a:p>
        </p:txBody>
      </p:sp>
      <p:sp>
        <p:nvSpPr>
          <p:cNvPr id="2" name="">
            <a:extLst xmlns:a="http://schemas.openxmlformats.org/drawingml/2006/main">
              <a:ext uri="{FF2B5EF4-FFF2-40B4-BE49-F238E27FC236}">
                <a16:creationId xmlns:a16="http://schemas.microsoft.com/office/drawing/2014/main" id="{557CCCB4-AE14-4B8E-967F-A764206055CA}"/>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footer">
            <a:extLst xmlns:a="http://schemas.openxmlformats.org/drawingml/2006/main">
              <a:ext uri="{FF2B5EF4-FFF2-40B4-BE49-F238E27FC236}">
                <a16:creationId xmlns:a16="http://schemas.microsoft.com/office/drawing/2014/main" id="{4E53FA40-4393-4E06-9529-FFF57EB18C31}"/>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§2.2.4 Gemengde opgaven</a:t>
            </a:r>
          </a:p>
        </p:txBody>
      </p:sp>
      <p:sp>
        <p:nvSpPr>
          <p:cNvPr id="4" name="slide-number">
            <a:extLst xmlns:a="http://schemas.openxmlformats.org/drawingml/2006/main">
              <a:ext uri="{FF2B5EF4-FFF2-40B4-BE49-F238E27FC236}">
                <a16:creationId xmlns:a16="http://schemas.microsoft.com/office/drawing/2014/main" id="{97B42B36-5AEB-4105-B7B5-572AB6B760A4}"/>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a:t>
            </a:r>
          </a:p>
        </p:txBody>
      </p:sp>
      <p:sp>
        <p:nvSpPr>
          <p:cNvPr id="5" name="phase">
            <a:extLst xmlns:a="http://schemas.openxmlformats.org/drawingml/2006/main">
              <a:ext uri="{FF2B5EF4-FFF2-40B4-BE49-F238E27FC236}">
                <a16:creationId xmlns:a16="http://schemas.microsoft.com/office/drawing/2014/main" id="{995F7F0E-835E-4EF3-A03F-30821BCA06B9}"/>
              </a:ext>
            </a:extLst>
          </p:cNvPr>
          <p:cNvSpPr>
            <a:spLocks xmlns:a="http://schemas.openxmlformats.org/drawingml/2006/main" noGrp="1"/>
          </p:cNvSpPr>
          <p:nvPr/>
        </p:nvSpPr>
        <p:spPr>
          <a:xfrm xmlns:a="http://schemas.openxmlformats.org/drawingml/2006/main">
            <a:off x="571500" y="1066800"/>
            <a:ext cx="13811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Nu: Startopdracht</a:t>
            </a:r>
          </a:p>
        </p:txBody>
      </p:sp>
      <p:sp>
        <p:nvSpPr>
          <p:cNvPr id="6" name="Lesroute">
            <a:extLst xmlns:a="http://schemas.openxmlformats.org/drawingml/2006/main">
              <a:ext uri="{FF2B5EF4-FFF2-40B4-BE49-F238E27FC236}">
                <a16:creationId xmlns:a16="http://schemas.microsoft.com/office/drawing/2014/main" id="{F7F8E706-C844-45D5-B38D-3C69696CED8F}"/>
              </a:ext>
            </a:extLst>
          </p:cNvPr>
          <p:cNvSpPr>
            <a:spLocks xmlns:a="http://schemas.openxmlformats.org/drawingml/2006/main" noGrp="1"/>
          </p:cNvSpPr>
          <p:nvPr/>
        </p:nvSpPr>
        <p:spPr>
          <a:xfrm xmlns:a="http://schemas.openxmlformats.org/drawingml/2006/main">
            <a:off x="571500" y="1762125"/>
            <a:ext cx="7953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Lesroute</a:t>
            </a:r>
          </a:p>
        </p:txBody>
      </p:sp>
      <p:sp>
        <p:nvSpPr>
          <p:cNvPr id="7" name="route-number-1">
            <a:extLst xmlns:a="http://schemas.openxmlformats.org/drawingml/2006/main">
              <a:ext uri="{FF2B5EF4-FFF2-40B4-BE49-F238E27FC236}">
                <a16:creationId xmlns:a16="http://schemas.microsoft.com/office/drawing/2014/main" id="{5F499CDB-C3DA-4F69-AE41-C053A9008A1B}"/>
              </a:ext>
            </a:extLst>
          </p:cNvPr>
          <p:cNvSpPr>
            <a:spLocks xmlns:a="http://schemas.openxmlformats.org/drawingml/2006/main" noGrp="1"/>
          </p:cNvSpPr>
          <p:nvPr/>
        </p:nvSpPr>
        <p:spPr>
          <a:xfrm xmlns:a="http://schemas.openxmlformats.org/drawingml/2006/main">
            <a:off x="571500" y="2324100"/>
            <a:ext cx="4572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1.</a:t>
            </a:r>
          </a:p>
        </p:txBody>
      </p:sp>
      <p:sp>
        <p:nvSpPr>
          <p:cNvPr id="8" name="route-1">
            <a:extLst xmlns:a="http://schemas.openxmlformats.org/drawingml/2006/main">
              <a:ext uri="{FF2B5EF4-FFF2-40B4-BE49-F238E27FC236}">
                <a16:creationId xmlns:a16="http://schemas.microsoft.com/office/drawing/2014/main" id="{4E0C0075-4305-4180-B2AB-83FE32429905}"/>
              </a:ext>
            </a:extLst>
          </p:cNvPr>
          <p:cNvSpPr>
            <a:spLocks xmlns:a="http://schemas.openxmlformats.org/drawingml/2006/main" noGrp="1"/>
          </p:cNvSpPr>
          <p:nvPr/>
        </p:nvSpPr>
        <p:spPr>
          <a:xfrm xmlns:a="http://schemas.openxmlformats.org/drawingml/2006/main">
            <a:off x="1104900" y="2324100"/>
            <a:ext cx="74199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Jas in de kluis of aan de kapstok. Pak agenda, schrift, pen en rekenmachine.</a:t>
            </a:r>
          </a:p>
        </p:txBody>
      </p:sp>
      <p:sp>
        <p:nvSpPr>
          <p:cNvPr id="9" name="route-number-2">
            <a:extLst xmlns:a="http://schemas.openxmlformats.org/drawingml/2006/main">
              <a:ext uri="{FF2B5EF4-FFF2-40B4-BE49-F238E27FC236}">
                <a16:creationId xmlns:a16="http://schemas.microsoft.com/office/drawing/2014/main" id="{B4B58738-2350-47F0-9057-D9900641FC41}"/>
              </a:ext>
            </a:extLst>
          </p:cNvPr>
          <p:cNvSpPr>
            <a:spLocks xmlns:a="http://schemas.openxmlformats.org/drawingml/2006/main" noGrp="1"/>
          </p:cNvSpPr>
          <p:nvPr/>
        </p:nvSpPr>
        <p:spPr>
          <a:xfrm xmlns:a="http://schemas.openxmlformats.org/drawingml/2006/main">
            <a:off x="571500" y="3200400"/>
            <a:ext cx="457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2.</a:t>
            </a:r>
          </a:p>
        </p:txBody>
      </p:sp>
      <p:sp>
        <p:nvSpPr>
          <p:cNvPr id="10" name="route-2">
            <a:extLst xmlns:a="http://schemas.openxmlformats.org/drawingml/2006/main">
              <a:ext uri="{FF2B5EF4-FFF2-40B4-BE49-F238E27FC236}">
                <a16:creationId xmlns:a16="http://schemas.microsoft.com/office/drawing/2014/main" id="{C9F76DA9-C4BD-43A5-9086-03396D95E398}"/>
              </a:ext>
            </a:extLst>
          </p:cNvPr>
          <p:cNvSpPr>
            <a:spLocks xmlns:a="http://schemas.openxmlformats.org/drawingml/2006/main" noGrp="1"/>
          </p:cNvSpPr>
          <p:nvPr/>
        </p:nvSpPr>
        <p:spPr>
          <a:xfrm xmlns:a="http://schemas.openxmlformats.org/drawingml/2006/main">
            <a:off x="1104900" y="3200400"/>
            <a:ext cx="74199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Maak de startopdracht.</a:t>
            </a:r>
          </a:p>
        </p:txBody>
      </p:sp>
      <p:sp>
        <p:nvSpPr>
          <p:cNvPr id="11" name="route-number-3">
            <a:extLst xmlns:a="http://schemas.openxmlformats.org/drawingml/2006/main">
              <a:ext uri="{FF2B5EF4-FFF2-40B4-BE49-F238E27FC236}">
                <a16:creationId xmlns:a16="http://schemas.microsoft.com/office/drawing/2014/main" id="{31D0662E-F8E5-4FC1-A590-9A58C2FC90C8}"/>
              </a:ext>
            </a:extLst>
          </p:cNvPr>
          <p:cNvSpPr>
            <a:spLocks xmlns:a="http://schemas.openxmlformats.org/drawingml/2006/main" noGrp="1"/>
          </p:cNvSpPr>
          <p:nvPr/>
        </p:nvSpPr>
        <p:spPr>
          <a:xfrm xmlns:a="http://schemas.openxmlformats.org/drawingml/2006/main">
            <a:off x="571500" y="3714750"/>
            <a:ext cx="457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3.</a:t>
            </a:r>
          </a:p>
        </p:txBody>
      </p:sp>
      <p:sp>
        <p:nvSpPr>
          <p:cNvPr id="12" name="route-3">
            <a:extLst xmlns:a="http://schemas.openxmlformats.org/drawingml/2006/main">
              <a:ext uri="{FF2B5EF4-FFF2-40B4-BE49-F238E27FC236}">
                <a16:creationId xmlns:a16="http://schemas.microsoft.com/office/drawing/2014/main" id="{FB29C31C-5B9F-40DE-8A6F-F81949EA8827}"/>
              </a:ext>
            </a:extLst>
          </p:cNvPr>
          <p:cNvSpPr>
            <a:spLocks xmlns:a="http://schemas.openxmlformats.org/drawingml/2006/main" noGrp="1"/>
          </p:cNvSpPr>
          <p:nvPr/>
        </p:nvSpPr>
        <p:spPr>
          <a:xfrm xmlns:a="http://schemas.openxmlformats.org/drawingml/2006/main">
            <a:off x="1104900" y="3714750"/>
            <a:ext cx="74199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Korte herhaling en aanpak.</a:t>
            </a:r>
          </a:p>
        </p:txBody>
      </p:sp>
      <p:sp>
        <p:nvSpPr>
          <p:cNvPr id="13" name="route-number-4">
            <a:extLst xmlns:a="http://schemas.openxmlformats.org/drawingml/2006/main">
              <a:ext uri="{FF2B5EF4-FFF2-40B4-BE49-F238E27FC236}">
                <a16:creationId xmlns:a16="http://schemas.microsoft.com/office/drawing/2014/main" id="{3717FB08-2720-4F4F-AF81-8197C1E1EB59}"/>
              </a:ext>
            </a:extLst>
          </p:cNvPr>
          <p:cNvSpPr>
            <a:spLocks xmlns:a="http://schemas.openxmlformats.org/drawingml/2006/main" noGrp="1"/>
          </p:cNvSpPr>
          <p:nvPr/>
        </p:nvSpPr>
        <p:spPr>
          <a:xfrm xmlns:a="http://schemas.openxmlformats.org/drawingml/2006/main">
            <a:off x="571500" y="4248150"/>
            <a:ext cx="4572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4.</a:t>
            </a:r>
          </a:p>
        </p:txBody>
      </p:sp>
      <p:sp>
        <p:nvSpPr>
          <p:cNvPr id="14" name="route-4">
            <a:extLst xmlns:a="http://schemas.openxmlformats.org/drawingml/2006/main">
              <a:ext uri="{FF2B5EF4-FFF2-40B4-BE49-F238E27FC236}">
                <a16:creationId xmlns:a16="http://schemas.microsoft.com/office/drawing/2014/main" id="{23A46A8B-909A-4BB3-B85F-11C139002A41}"/>
              </a:ext>
            </a:extLst>
          </p:cNvPr>
          <p:cNvSpPr>
            <a:spLocks xmlns:a="http://schemas.openxmlformats.org/drawingml/2006/main" noGrp="1"/>
          </p:cNvSpPr>
          <p:nvPr/>
        </p:nvSpPr>
        <p:spPr>
          <a:xfrm xmlns:a="http://schemas.openxmlformats.org/drawingml/2006/main">
            <a:off x="1104900" y="4248150"/>
            <a:ext cx="741997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Werk verder aan de gemengde opgaven, stel vragen en kijk je antwoorden na.</a:t>
            </a:r>
          </a:p>
        </p:txBody>
      </p:sp>
      <p:sp>
        <p:nvSpPr>
          <p:cNvPr id="15" name="route-number-5">
            <a:extLst xmlns:a="http://schemas.openxmlformats.org/drawingml/2006/main">
              <a:ext uri="{FF2B5EF4-FFF2-40B4-BE49-F238E27FC236}">
                <a16:creationId xmlns:a16="http://schemas.microsoft.com/office/drawing/2014/main" id="{BFD7A1B1-6472-4F7F-AB64-C80279E6E75C}"/>
              </a:ext>
            </a:extLst>
          </p:cNvPr>
          <p:cNvSpPr>
            <a:spLocks xmlns:a="http://schemas.openxmlformats.org/drawingml/2006/main" noGrp="1"/>
          </p:cNvSpPr>
          <p:nvPr/>
        </p:nvSpPr>
        <p:spPr>
          <a:xfrm xmlns:a="http://schemas.openxmlformats.org/drawingml/2006/main">
            <a:off x="571500" y="5772150"/>
            <a:ext cx="4572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5.</a:t>
            </a:r>
          </a:p>
        </p:txBody>
      </p:sp>
      <p:sp>
        <p:nvSpPr>
          <p:cNvPr id="16" name="route-5">
            <a:extLst xmlns:a="http://schemas.openxmlformats.org/drawingml/2006/main">
              <a:ext uri="{FF2B5EF4-FFF2-40B4-BE49-F238E27FC236}">
                <a16:creationId xmlns:a16="http://schemas.microsoft.com/office/drawing/2014/main" id="{7172FAC4-0D6E-4D64-8ED0-94EF6050BE12}"/>
              </a:ext>
            </a:extLst>
          </p:cNvPr>
          <p:cNvSpPr>
            <a:spLocks xmlns:a="http://schemas.openxmlformats.org/drawingml/2006/main" noGrp="1"/>
          </p:cNvSpPr>
          <p:nvPr/>
        </p:nvSpPr>
        <p:spPr>
          <a:xfrm xmlns:a="http://schemas.openxmlformats.org/drawingml/2006/main">
            <a:off x="1104900" y="5772150"/>
            <a:ext cx="741997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Klaar? Werk aan een ander vak. Geen devices.</a:t>
            </a:r>
          </a:p>
        </p:txBody>
      </p:sp>
      <p:sp>
        <p:nvSpPr>
          <p:cNvPr id="17" name="route-number-6">
            <a:extLst xmlns:a="http://schemas.openxmlformats.org/drawingml/2006/main">
              <a:ext uri="{FF2B5EF4-FFF2-40B4-BE49-F238E27FC236}">
                <a16:creationId xmlns:a16="http://schemas.microsoft.com/office/drawing/2014/main" id="{E2BC5440-F85E-4A02-8301-A49F3027E404}"/>
              </a:ext>
            </a:extLst>
          </p:cNvPr>
          <p:cNvSpPr>
            <a:spLocks xmlns:a="http://schemas.openxmlformats.org/drawingml/2006/main" noGrp="1"/>
          </p:cNvSpPr>
          <p:nvPr/>
        </p:nvSpPr>
        <p:spPr>
          <a:xfrm xmlns:a="http://schemas.openxmlformats.org/drawingml/2006/main">
            <a:off x="571500" y="6667500"/>
            <a:ext cx="457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6.</a:t>
            </a:r>
          </a:p>
        </p:txBody>
      </p:sp>
      <p:sp>
        <p:nvSpPr>
          <p:cNvPr id="18" name="route-6">
            <a:extLst xmlns:a="http://schemas.openxmlformats.org/drawingml/2006/main">
              <a:ext uri="{FF2B5EF4-FFF2-40B4-BE49-F238E27FC236}">
                <a16:creationId xmlns:a16="http://schemas.microsoft.com/office/drawing/2014/main" id="{732320DE-76E6-4098-8917-740B519FC499}"/>
              </a:ext>
            </a:extLst>
          </p:cNvPr>
          <p:cNvSpPr>
            <a:spLocks xmlns:a="http://schemas.openxmlformats.org/drawingml/2006/main" noGrp="1"/>
          </p:cNvSpPr>
          <p:nvPr/>
        </p:nvSpPr>
        <p:spPr>
          <a:xfrm xmlns:a="http://schemas.openxmlformats.org/drawingml/2006/main">
            <a:off x="1104900" y="6667500"/>
            <a:ext cx="74199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Bespreken van de doelopgave: opgave 5.</a:t>
            </a:r>
          </a:p>
        </p:txBody>
      </p:sp>
      <p:sp>
        <p:nvSpPr>
          <p:cNvPr id="19" name="route-number-7">
            <a:extLst xmlns:a="http://schemas.openxmlformats.org/drawingml/2006/main">
              <a:ext uri="{FF2B5EF4-FFF2-40B4-BE49-F238E27FC236}">
                <a16:creationId xmlns:a16="http://schemas.microsoft.com/office/drawing/2014/main" id="{D1FFE864-C779-48DB-8EE0-513F2BA02A28}"/>
              </a:ext>
            </a:extLst>
          </p:cNvPr>
          <p:cNvSpPr>
            <a:spLocks xmlns:a="http://schemas.openxmlformats.org/drawingml/2006/main" noGrp="1"/>
          </p:cNvSpPr>
          <p:nvPr/>
        </p:nvSpPr>
        <p:spPr>
          <a:xfrm xmlns:a="http://schemas.openxmlformats.org/drawingml/2006/main">
            <a:off x="571500" y="7372350"/>
            <a:ext cx="457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7.</a:t>
            </a:r>
          </a:p>
        </p:txBody>
      </p:sp>
      <p:sp>
        <p:nvSpPr>
          <p:cNvPr id="20" name="route-7">
            <a:extLst xmlns:a="http://schemas.openxmlformats.org/drawingml/2006/main">
              <a:ext uri="{FF2B5EF4-FFF2-40B4-BE49-F238E27FC236}">
                <a16:creationId xmlns:a16="http://schemas.microsoft.com/office/drawing/2014/main" id="{61A870C3-039F-4E5E-B1EC-7BA1B7AAB308}"/>
              </a:ext>
            </a:extLst>
          </p:cNvPr>
          <p:cNvSpPr>
            <a:spLocks xmlns:a="http://schemas.openxmlformats.org/drawingml/2006/main" noGrp="1"/>
          </p:cNvSpPr>
          <p:nvPr/>
        </p:nvSpPr>
        <p:spPr>
          <a:xfrm xmlns:a="http://schemas.openxmlformats.org/drawingml/2006/main">
            <a:off x="1104900" y="7372350"/>
            <a:ext cx="74199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Zet je huiswerk in je agenda.</a:t>
            </a:r>
          </a:p>
        </p:txBody>
      </p:sp>
      <p:sp>
        <p:nvSpPr>
          <p:cNvPr id="21" name="Lesdoelen">
            <a:extLst xmlns:a="http://schemas.openxmlformats.org/drawingml/2006/main">
              <a:ext uri="{FF2B5EF4-FFF2-40B4-BE49-F238E27FC236}">
                <a16:creationId xmlns:a16="http://schemas.microsoft.com/office/drawing/2014/main" id="{0D116C16-7254-4FD7-A54E-FE8DF8788778}"/>
              </a:ext>
            </a:extLst>
          </p:cNvPr>
          <p:cNvSpPr>
            <a:spLocks xmlns:a="http://schemas.openxmlformats.org/drawingml/2006/main" noGrp="1"/>
          </p:cNvSpPr>
          <p:nvPr/>
        </p:nvSpPr>
        <p:spPr>
          <a:xfrm xmlns:a="http://schemas.openxmlformats.org/drawingml/2006/main">
            <a:off x="9258300" y="1762125"/>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Lesdoelen</a:t>
            </a:r>
          </a:p>
        </p:txBody>
      </p:sp>
      <p:sp>
        <p:nvSpPr>
          <p:cNvPr id="22" name="overview-goals">
            <a:extLst xmlns:a="http://schemas.openxmlformats.org/drawingml/2006/main">
              <a:ext uri="{FF2B5EF4-FFF2-40B4-BE49-F238E27FC236}">
                <a16:creationId xmlns:a16="http://schemas.microsoft.com/office/drawing/2014/main" id="{00DEE2D3-A583-410C-B49A-3D8FF5966FE3}"/>
              </a:ext>
            </a:extLst>
          </p:cNvPr>
          <p:cNvSpPr>
            <a:spLocks xmlns:a="http://schemas.openxmlformats.org/drawingml/2006/main" noGrp="1"/>
          </p:cNvSpPr>
          <p:nvPr/>
        </p:nvSpPr>
        <p:spPr>
          <a:xfrm xmlns:a="http://schemas.openxmlformats.org/drawingml/2006/main">
            <a:off x="9258300" y="2324100"/>
            <a:ext cx="5381625"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183247"/>
                </a:solidFill>
                <a:latin typeface="Arial"/>
                <a:ea typeface="Arial"/>
                <a:cs typeface="Arial"/>
              </a:defRPr>
            </a:pPr>
            <a:r>
              <a:rPr sz="2325" b="0">
                <a:solidFill>
                  <a:srgbClr val="183247"/>
                </a:solidFill>
                <a:latin typeface="Arial"/>
                <a:ea typeface="Arial"/>
                <a:cs typeface="Arial"/>
              </a:rPr>
              <a:t>Bronnen kiezen; Ev, Ei en Ek.</a:t>
            </a:r>
          </a:p>
          <a:p xmlns:a="http://schemas.openxmlformats.org/drawingml/2006/main">
            <a:pPr algn="l">
              <a:defRPr sz="2325" b="0">
                <a:solidFill>
                  <a:srgbClr val="183247"/>
                </a:solidFill>
                <a:latin typeface="Arial"/>
                <a:ea typeface="Arial"/>
                <a:cs typeface="Arial"/>
              </a:defRPr>
            </a:pPr>
            <a:r>
              <a:rPr sz="2325" b="0">
                <a:solidFill>
                  <a:srgbClr val="183247"/>
                </a:solidFill>
                <a:latin typeface="Arial"/>
                <a:ea typeface="Arial"/>
                <a:cs typeface="Arial"/>
              </a:rPr>
              <a:t>Omzet en vraag berekenen.</a:t>
            </a:r>
          </a:p>
          <a:p xmlns:a="http://schemas.openxmlformats.org/drawingml/2006/main">
            <a:pPr algn="l">
              <a:defRPr sz="2325" b="0">
                <a:solidFill>
                  <a:srgbClr val="183247"/>
                </a:solidFill>
                <a:latin typeface="Arial"/>
                <a:ea typeface="Arial"/>
                <a:cs typeface="Arial"/>
              </a:defRPr>
            </a:pPr>
            <a:r>
              <a:rPr sz="2325" b="0">
                <a:solidFill>
                  <a:srgbClr val="183247"/>
                </a:solidFill>
                <a:latin typeface="Arial"/>
                <a:ea typeface="Arial"/>
                <a:cs typeface="Arial"/>
              </a:rPr>
              <a:t>Een advies onderbouwen.</a:t>
            </a:r>
          </a:p>
        </p:txBody>
      </p:sp>
      <p:sp>
        <p:nvSpPr>
          <p:cNvPr id="23" name="">
            <a:extLst xmlns:a="http://schemas.openxmlformats.org/drawingml/2006/main">
              <a:ext uri="{FF2B5EF4-FFF2-40B4-BE49-F238E27FC236}">
                <a16:creationId xmlns:a16="http://schemas.microsoft.com/office/drawing/2014/main" id="{8520AD00-CF9D-4863-9843-FB5A8CA39888}"/>
              </a:ext>
            </a:extLst>
          </p:cNvPr>
          <p:cNvSpPr>
            <a:spLocks xmlns:a="http://schemas.openxmlformats.org/drawingml/2006/main" noGrp="1"/>
          </p:cNvSpPr>
          <p:nvPr/>
        </p:nvSpPr>
        <p:spPr>
          <a:xfrm xmlns:a="http://schemas.openxmlformats.org/drawingml/2006/main">
            <a:off x="9258300" y="3562350"/>
            <a:ext cx="5410200" cy="0"/>
          </a:xfrm>
          <a:prstGeom xmlns:a="http://schemas.openxmlformats.org/drawingml/2006/main" prst="line">
            <a:avLst/>
          </a:prstGeom>
          <a:ln xmlns:a="http://schemas.openxmlformats.org/drawingml/2006/main" w="19050">
            <a:solidFill>
              <a:srgbClr val="C6D2DB"/>
            </a:solidFill>
          </a:ln>
        </p:spPr>
      </p:sp>
      <p:sp>
        <p:nvSpPr>
          <p:cNvPr id="24" name="Startopdracht">
            <a:extLst xmlns:a="http://schemas.openxmlformats.org/drawingml/2006/main">
              <a:ext uri="{FF2B5EF4-FFF2-40B4-BE49-F238E27FC236}">
                <a16:creationId xmlns:a16="http://schemas.microsoft.com/office/drawing/2014/main" id="{C3E805E4-5E90-4A0D-9F6E-D4A6CC171DC8}"/>
              </a:ext>
            </a:extLst>
          </p:cNvPr>
          <p:cNvSpPr>
            <a:spLocks xmlns:a="http://schemas.openxmlformats.org/drawingml/2006/main" noGrp="1"/>
          </p:cNvSpPr>
          <p:nvPr/>
        </p:nvSpPr>
        <p:spPr>
          <a:xfrm xmlns:a="http://schemas.openxmlformats.org/drawingml/2006/main">
            <a:off x="9258300" y="3838575"/>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7658A"/>
                </a:solidFill>
                <a:latin typeface="Arial"/>
                <a:ea typeface="Arial"/>
                <a:cs typeface="Arial"/>
              </a:defRPr>
            </a:pPr>
            <a:r>
              <a:rPr sz="2625" b="1">
                <a:solidFill>
                  <a:srgbClr val="17658A"/>
                </a:solidFill>
                <a:latin typeface="Arial"/>
                <a:ea typeface="Arial"/>
                <a:cs typeface="Arial"/>
              </a:rPr>
              <a:t>Startopdracht</a:t>
            </a:r>
          </a:p>
        </p:txBody>
      </p:sp>
      <p:sp>
        <p:nvSpPr>
          <p:cNvPr id="25" name="overview-start">
            <a:extLst xmlns:a="http://schemas.openxmlformats.org/drawingml/2006/main">
              <a:ext uri="{FF2B5EF4-FFF2-40B4-BE49-F238E27FC236}">
                <a16:creationId xmlns:a16="http://schemas.microsoft.com/office/drawing/2014/main" id="{1E43B507-3410-4F1A-9CDE-BDA83B99C0B3}"/>
              </a:ext>
            </a:extLst>
          </p:cNvPr>
          <p:cNvSpPr>
            <a:spLocks xmlns:a="http://schemas.openxmlformats.org/drawingml/2006/main" noGrp="1"/>
          </p:cNvSpPr>
          <p:nvPr/>
        </p:nvSpPr>
        <p:spPr>
          <a:xfrm xmlns:a="http://schemas.openxmlformats.org/drawingml/2006/main">
            <a:off x="9258300" y="4371975"/>
            <a:ext cx="53816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1">
                <a:solidFill>
                  <a:srgbClr val="183247"/>
                </a:solidFill>
                <a:latin typeface="Arial"/>
                <a:ea typeface="Arial"/>
                <a:cs typeface="Arial"/>
              </a:defRPr>
            </a:pPr>
            <a:r>
              <a:rPr sz="2475" b="1">
                <a:solidFill>
                  <a:srgbClr val="183247"/>
                </a:solidFill>
                <a:latin typeface="Arial"/>
                <a:ea typeface="Arial"/>
                <a:cs typeface="Arial"/>
              </a:rPr>
              <a:t>Pagina 64</a:t>
            </a:r>
          </a:p>
          <a:p xmlns:a="http://schemas.openxmlformats.org/drawingml/2006/main">
            <a:pPr algn="l">
              <a:defRPr sz="2475" b="1">
                <a:solidFill>
                  <a:srgbClr val="183247"/>
                </a:solidFill>
                <a:latin typeface="Arial"/>
                <a:ea typeface="Arial"/>
                <a:cs typeface="Arial"/>
              </a:defRPr>
            </a:pPr>
            <a:r>
              <a:rPr sz="2475" b="1">
                <a:solidFill>
                  <a:srgbClr val="183247"/>
                </a:solidFill>
                <a:latin typeface="Arial"/>
                <a:ea typeface="Arial"/>
                <a:cs typeface="Arial"/>
              </a:rPr>
              <a:t>Opgave 1</a:t>
            </a:r>
          </a:p>
        </p:txBody>
      </p:sp>
      <p:sp>
        <p:nvSpPr>
          <p:cNvPr id="26" name="">
            <a:extLst xmlns:a="http://schemas.openxmlformats.org/drawingml/2006/main">
              <a:ext uri="{FF2B5EF4-FFF2-40B4-BE49-F238E27FC236}">
                <a16:creationId xmlns:a16="http://schemas.microsoft.com/office/drawing/2014/main" id="{E3A05759-7F56-4744-88C9-1669F0E84C91}"/>
              </a:ext>
            </a:extLst>
          </p:cNvPr>
          <p:cNvSpPr>
            <a:spLocks xmlns:a="http://schemas.openxmlformats.org/drawingml/2006/main" noGrp="1"/>
          </p:cNvSpPr>
          <p:nvPr/>
        </p:nvSpPr>
        <p:spPr>
          <a:xfrm xmlns:a="http://schemas.openxmlformats.org/drawingml/2006/main">
            <a:off x="9258300" y="5429250"/>
            <a:ext cx="5410200" cy="0"/>
          </a:xfrm>
          <a:prstGeom xmlns:a="http://schemas.openxmlformats.org/drawingml/2006/main" prst="line">
            <a:avLst/>
          </a:prstGeom>
          <a:ln xmlns:a="http://schemas.openxmlformats.org/drawingml/2006/main" w="19050">
            <a:solidFill>
              <a:srgbClr val="C6D2DB"/>
            </a:solidFill>
          </a:ln>
        </p:spPr>
      </p:sp>
      <p:sp>
        <p:nvSpPr>
          <p:cNvPr id="27" name="Huiswerk">
            <a:extLst xmlns:a="http://schemas.openxmlformats.org/drawingml/2006/main">
              <a:ext uri="{FF2B5EF4-FFF2-40B4-BE49-F238E27FC236}">
                <a16:creationId xmlns:a16="http://schemas.microsoft.com/office/drawing/2014/main" id="{3B878537-BD42-49CD-BA36-1AFF19518126}"/>
              </a:ext>
            </a:extLst>
          </p:cNvPr>
          <p:cNvSpPr>
            <a:spLocks xmlns:a="http://schemas.openxmlformats.org/drawingml/2006/main" noGrp="1"/>
          </p:cNvSpPr>
          <p:nvPr/>
        </p:nvSpPr>
        <p:spPr>
          <a:xfrm xmlns:a="http://schemas.openxmlformats.org/drawingml/2006/main">
            <a:off x="9258300" y="5629275"/>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Huiswerk</a:t>
            </a:r>
          </a:p>
        </p:txBody>
      </p:sp>
      <p:sp>
        <p:nvSpPr>
          <p:cNvPr id="28" name="overview-homework">
            <a:extLst xmlns:a="http://schemas.openxmlformats.org/drawingml/2006/main">
              <a:ext uri="{FF2B5EF4-FFF2-40B4-BE49-F238E27FC236}">
                <a16:creationId xmlns:a16="http://schemas.microsoft.com/office/drawing/2014/main" id="{DA27C82A-51B0-4613-ADA9-393B8CC1950D}"/>
              </a:ext>
            </a:extLst>
          </p:cNvPr>
          <p:cNvSpPr>
            <a:spLocks xmlns:a="http://schemas.openxmlformats.org/drawingml/2006/main" noGrp="1"/>
          </p:cNvSpPr>
          <p:nvPr/>
        </p:nvSpPr>
        <p:spPr>
          <a:xfrm xmlns:a="http://schemas.openxmlformats.org/drawingml/2006/main">
            <a:off x="9258300" y="6191250"/>
            <a:ext cx="5381625" cy="1752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§2.2.4 · Opgaven 1–7</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Gemengd: 1–4 · Doel: 5</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Bonus / denkertje: 6</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Hoofdstukcheck: 7</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Maken en nakijken</a:t>
            </a:r>
          </a:p>
        </p:txBody>
      </p:sp>
    </p:spTree>
    <p:extLst>
      <p:ext uri="{BB962C8B-B14F-4D97-AF65-F5344CB8AC3E}">
        <p14:creationId xmlns:p14="http://schemas.microsoft.com/office/powerpoint/2010/main" val="761755024"/>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Klimwand · Prijsreactie en omzet">
            <a:extLst xmlns:a="http://schemas.openxmlformats.org/drawingml/2006/main">
              <a:ext uri="{FF2B5EF4-FFF2-40B4-BE49-F238E27FC236}">
                <a16:creationId xmlns:a16="http://schemas.microsoft.com/office/drawing/2014/main" id="{E1F93A13-218A-47E5-A251-B482CC26EBC4}"/>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Klimwand · Prijsreactie en omzet</a:t>
            </a:r>
          </a:p>
        </p:txBody>
      </p:sp>
      <p:sp>
        <p:nvSpPr>
          <p:cNvPr id="2" name="">
            <a:extLst xmlns:a="http://schemas.openxmlformats.org/drawingml/2006/main">
              <a:ext uri="{FF2B5EF4-FFF2-40B4-BE49-F238E27FC236}">
                <a16:creationId xmlns:a16="http://schemas.microsoft.com/office/drawing/2014/main" id="{382DA163-4C8A-4E82-B13B-E9E4B5B8980E}"/>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footer">
            <a:extLst xmlns:a="http://schemas.openxmlformats.org/drawingml/2006/main">
              <a:ext uri="{FF2B5EF4-FFF2-40B4-BE49-F238E27FC236}">
                <a16:creationId xmlns:a16="http://schemas.microsoft.com/office/drawing/2014/main" id="{B2DB455A-98CC-4B40-BA49-F58CE635D0A1}"/>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§2.2.4 Gemengde opgaven · Uitlegvoorbeeld — niet uit het boek</a:t>
            </a:r>
          </a:p>
        </p:txBody>
      </p:sp>
      <p:sp>
        <p:nvSpPr>
          <p:cNvPr id="4" name="slide-number">
            <a:extLst xmlns:a="http://schemas.openxmlformats.org/drawingml/2006/main">
              <a:ext uri="{FF2B5EF4-FFF2-40B4-BE49-F238E27FC236}">
                <a16:creationId xmlns:a16="http://schemas.microsoft.com/office/drawing/2014/main" id="{CEDB8AB9-5EED-40CD-98E2-852CD830FCE8}"/>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a:t>
            </a:r>
          </a:p>
        </p:txBody>
      </p:sp>
      <p:sp>
        <p:nvSpPr>
          <p:cNvPr id="5" name="A · Dagkaarten, per maand · Andere vraagfactoren blijven gel">
            <a:extLst xmlns:a="http://schemas.openxmlformats.org/drawingml/2006/main">
              <a:ext uri="{FF2B5EF4-FFF2-40B4-BE49-F238E27FC236}">
                <a16:creationId xmlns:a16="http://schemas.microsoft.com/office/drawing/2014/main" id="{46B51341-18F4-4732-8AC3-83CBC140D3E6}"/>
              </a:ext>
            </a:extLst>
          </p:cNvPr>
          <p:cNvSpPr>
            <a:spLocks xmlns:a="http://schemas.openxmlformats.org/drawingml/2006/main" noGrp="1"/>
          </p:cNvSpPr>
          <p:nvPr/>
        </p:nvSpPr>
        <p:spPr>
          <a:xfrm xmlns:a="http://schemas.openxmlformats.org/drawingml/2006/main">
            <a:off x="571500" y="1781175"/>
            <a:ext cx="14097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1">
                <a:solidFill>
                  <a:srgbClr val="17658A"/>
                </a:solidFill>
                <a:latin typeface="Arial"/>
                <a:ea typeface="Arial"/>
                <a:cs typeface="Arial"/>
              </a:defRPr>
            </a:pPr>
            <a:r>
              <a:rPr sz="2475" b="1">
                <a:solidFill>
                  <a:srgbClr val="17658A"/>
                </a:solidFill>
                <a:latin typeface="Arial"/>
                <a:ea typeface="Arial"/>
                <a:cs typeface="Arial"/>
              </a:rPr>
              <a:t>A · Dagkaarten, per maand · Andere vraagfactoren blijven gelijk</a:t>
            </a:r>
          </a:p>
        </p:txBody>
      </p:sp>
      <p:graphicFrame>
        <p:nvGraphicFramePr>
          <p:cNvPr id="16" name=""/>
          <p:cNvGraphicFramePr/>
          <p:nvPr/>
        </p:nvGraphicFramePr>
        <p:xfrm>
          <a:off xmlns:a="http://schemas.openxmlformats.org/drawingml/2006/main" x="571500" y="2476500"/>
          <a:ext xmlns:a="http://schemas.openxmlformats.org/drawingml/2006/main" cx="14097000" cy="2286000"/>
        </p:xfrm>
        <a:graphic xmlns:a="http://schemas.openxmlformats.org/drawingml/2006/main">
          <a:graphicData uri="http://schemas.openxmlformats.org/drawingml/2006/table">
            <a:tbl>
              <a:tblPr/>
              <a:tblGrid>
                <a:gridCol w="7429500"/>
                <a:gridCol w="3333750"/>
                <a:gridCol w="3333750"/>
              </a:tblGrid>
              <a:tr h="762000">
                <a:tc>
                  <a:txBody>
                    <a:bodyPr lIns="171450" tIns="95250" rIns="152400" bIns="95250"/>
                    <a:lstStyle/>
                    <a:p>
                      <a:r>
                        <a:rPr sz="2475" b="1">
                          <a:solidFill>
                            <a:srgbClr val="FFFFFF"/>
                          </a:solidFill>
                          <a:latin typeface="Arial"/>
                          <a:ea typeface="Arial"/>
                          <a:cs typeface="Arial"/>
                        </a:rPr>
                        <a:t>Gegeven</a:t>
                      </a:r>
                    </a:p>
                  </a:txBody>
                  <a:tcPr marL="91440" marR="91440" marT="45720" marB="45720" anchor="ctr">
                    <a:solidFill>
                      <a:srgbClr val="183247"/>
                    </a:solidFill>
                  </a:tcPr>
                </a:tc>
                <a:tc>
                  <a:txBody>
                    <a:bodyPr lIns="171450" tIns="95250" rIns="152400" bIns="95250"/>
                    <a:lstStyle/>
                    <a:p>
                      <a:r>
                        <a:rPr sz="2475" b="1">
                          <a:solidFill>
                            <a:srgbClr val="FFFFFF"/>
                          </a:solidFill>
                          <a:latin typeface="Arial"/>
                          <a:ea typeface="Arial"/>
                          <a:cs typeface="Arial"/>
                        </a:rPr>
                        <a:t>Oud</a:t>
                      </a:r>
                    </a:p>
                  </a:txBody>
                  <a:tcPr marL="91440" marR="91440" marT="45720" marB="45720" anchor="ctr">
                    <a:solidFill>
                      <a:srgbClr val="183247"/>
                    </a:solidFill>
                  </a:tcPr>
                </a:tc>
                <a:tc>
                  <a:txBody>
                    <a:bodyPr lIns="171450" tIns="95250" rIns="152400" bIns="95250"/>
                    <a:lstStyle/>
                    <a:p>
                      <a:r>
                        <a:rPr sz="2475" b="1">
                          <a:solidFill>
                            <a:srgbClr val="FFFFFF"/>
                          </a:solidFill>
                          <a:latin typeface="Arial"/>
                          <a:ea typeface="Arial"/>
                          <a:cs typeface="Arial"/>
                        </a:rPr>
                        <a:t>Nieuw</a:t>
                      </a:r>
                    </a:p>
                  </a:txBody>
                  <a:tcPr marL="91440" marR="91440" marT="45720" marB="45720" anchor="ctr">
                    <a:solidFill>
                      <a:srgbClr val="183247"/>
                    </a:solidFill>
                  </a:tcPr>
                </a:tc>
              </a:tr>
              <a:tr h="762000">
                <a:tc>
                  <a:txBody>
                    <a:bodyPr lIns="171450" tIns="95250" rIns="152400" bIns="95250"/>
                    <a:lstStyle/>
                    <a:p>
                      <a:r>
                        <a:rPr sz="2475" b="0">
                          <a:solidFill>
                            <a:srgbClr val="183247"/>
                          </a:solidFill>
                          <a:latin typeface="Arial"/>
                          <a:ea typeface="Arial"/>
                          <a:cs typeface="Arial"/>
                        </a:rPr>
                        <a:t>Prijs per dagkaart</a:t>
                      </a:r>
                    </a:p>
                  </a:txBody>
                  <a:tcPr marL="91440" marR="91440" marT="45720" marB="45720" anchor="ctr">
                    <a:solidFill>
                      <a:srgbClr val="FFFFFF"/>
                    </a:solidFill>
                  </a:tcPr>
                </a:tc>
                <a:tc>
                  <a:txBody>
                    <a:bodyPr lIns="171450" tIns="95250" rIns="152400" bIns="95250"/>
                    <a:lstStyle/>
                    <a:p>
                      <a:r>
                        <a:rPr sz="2475" b="0">
                          <a:solidFill>
                            <a:srgbClr val="183247"/>
                          </a:solidFill>
                          <a:latin typeface="Arial"/>
                          <a:ea typeface="Arial"/>
                          <a:cs typeface="Arial"/>
                        </a:rPr>
                        <a:t>€ 25</a:t>
                      </a:r>
                    </a:p>
                  </a:txBody>
                  <a:tcPr marL="91440" marR="91440" marT="45720" marB="45720" anchor="ctr">
                    <a:solidFill>
                      <a:srgbClr val="FFFFFF"/>
                    </a:solidFill>
                  </a:tcPr>
                </a:tc>
                <a:tc>
                  <a:txBody>
                    <a:bodyPr lIns="171450" tIns="95250" rIns="152400" bIns="95250"/>
                    <a:lstStyle/>
                    <a:p>
                      <a:r>
                        <a:rPr sz="2475" b="0">
                          <a:solidFill>
                            <a:srgbClr val="183247"/>
                          </a:solidFill>
                          <a:latin typeface="Arial"/>
                          <a:ea typeface="Arial"/>
                          <a:cs typeface="Arial"/>
                        </a:rPr>
                        <a:t>€ 30</a:t>
                      </a:r>
                    </a:p>
                  </a:txBody>
                  <a:tcPr marL="91440" marR="91440" marT="45720" marB="45720" anchor="ctr">
                    <a:solidFill>
                      <a:srgbClr val="FFFFFF"/>
                    </a:solidFill>
                  </a:tcPr>
                </a:tc>
              </a:tr>
              <a:tr h="762000">
                <a:tc>
                  <a:txBody>
                    <a:bodyPr lIns="171450" tIns="95250" rIns="152400" bIns="95250"/>
                    <a:lstStyle/>
                    <a:p>
                      <a:r>
                        <a:rPr sz="2475" b="0">
                          <a:solidFill>
                            <a:srgbClr val="183247"/>
                          </a:solidFill>
                          <a:latin typeface="Arial"/>
                          <a:ea typeface="Arial"/>
                          <a:cs typeface="Arial"/>
                        </a:rPr>
                        <a:t>Verkochte dagkaarten</a:t>
                      </a:r>
                    </a:p>
                  </a:txBody>
                  <a:tcPr marL="91440" marR="91440" marT="45720" marB="45720" anchor="ctr">
                    <a:solidFill>
                      <a:srgbClr val="EFF4F7"/>
                    </a:solidFill>
                  </a:tcPr>
                </a:tc>
                <a:tc>
                  <a:txBody>
                    <a:bodyPr lIns="171450" tIns="95250" rIns="152400" bIns="95250"/>
                    <a:lstStyle/>
                    <a:p>
                      <a:r>
                        <a:rPr sz="2475" b="0">
                          <a:solidFill>
                            <a:srgbClr val="183247"/>
                          </a:solidFill>
                          <a:latin typeface="Arial"/>
                          <a:ea typeface="Arial"/>
                          <a:cs typeface="Arial"/>
                        </a:rPr>
                        <a:t>400</a:t>
                      </a:r>
                    </a:p>
                  </a:txBody>
                  <a:tcPr marL="91440" marR="91440" marT="45720" marB="45720" anchor="ctr">
                    <a:solidFill>
                      <a:srgbClr val="EFF4F7"/>
                    </a:solidFill>
                  </a:tcPr>
                </a:tc>
                <a:tc>
                  <a:txBody>
                    <a:bodyPr lIns="171450" tIns="95250" rIns="152400" bIns="95250"/>
                    <a:lstStyle/>
                    <a:p>
                      <a:r>
                        <a:rPr sz="2475" b="0">
                          <a:solidFill>
                            <a:srgbClr val="183247"/>
                          </a:solidFill>
                          <a:latin typeface="Arial"/>
                          <a:ea typeface="Arial"/>
                          <a:cs typeface="Arial"/>
                        </a:rPr>
                        <a:t>360</a:t>
                      </a:r>
                    </a:p>
                  </a:txBody>
                  <a:tcPr marL="91440" marR="91440" marT="45720" marB="45720" anchor="ctr">
                    <a:solidFill>
                      <a:srgbClr val="EFF4F7"/>
                    </a:solidFill>
                  </a:tcPr>
                </a:tc>
              </a:tr>
            </a:tbl>
          </a:graphicData>
        </a:graphic>
      </p:graphicFrame>
      <p:sp>
        <p:nvSpPr>
          <p:cNvPr id="7" name="%ΔP = (30 − 25) / 25 × 100% = +20%">
            <a:extLst xmlns:a="http://schemas.openxmlformats.org/drawingml/2006/main">
              <a:ext uri="{FF2B5EF4-FFF2-40B4-BE49-F238E27FC236}">
                <a16:creationId xmlns:a16="http://schemas.microsoft.com/office/drawing/2014/main" id="{27319CB7-3910-4BA6-83DC-613608C9F8E2}"/>
              </a:ext>
            </a:extLst>
          </p:cNvPr>
          <p:cNvSpPr>
            <a:spLocks xmlns:a="http://schemas.openxmlformats.org/drawingml/2006/main" noGrp="1"/>
          </p:cNvSpPr>
          <p:nvPr/>
        </p:nvSpPr>
        <p:spPr>
          <a:xfrm xmlns:a="http://schemas.openxmlformats.org/drawingml/2006/main">
            <a:off x="571500" y="5172075"/>
            <a:ext cx="14097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0">
                <a:solidFill>
                  <a:srgbClr val="183247"/>
                </a:solidFill>
                <a:latin typeface="Arial"/>
                <a:ea typeface="Arial"/>
                <a:cs typeface="Arial"/>
              </a:defRPr>
            </a:pPr>
            <a:r>
              <a:rPr sz="2700" b="0">
                <a:solidFill>
                  <a:srgbClr val="183247"/>
                </a:solidFill>
                <a:latin typeface="Arial"/>
                <a:ea typeface="Arial"/>
                <a:cs typeface="Arial"/>
              </a:rPr>
              <a:t>%ΔP = (30 − 25) / 25 × 100% = +20%</a:t>
            </a:r>
          </a:p>
        </p:txBody>
      </p:sp>
      <p:sp>
        <p:nvSpPr>
          <p:cNvPr id="8" name="%ΔQ = (360 − 400) / 400 × 100% = −10%">
            <a:extLst xmlns:a="http://schemas.openxmlformats.org/drawingml/2006/main">
              <a:ext uri="{FF2B5EF4-FFF2-40B4-BE49-F238E27FC236}">
                <a16:creationId xmlns:a16="http://schemas.microsoft.com/office/drawing/2014/main" id="{E246A357-B054-4B0D-9B9E-BEDBAE9F9A09}"/>
              </a:ext>
            </a:extLst>
          </p:cNvPr>
          <p:cNvSpPr>
            <a:spLocks xmlns:a="http://schemas.openxmlformats.org/drawingml/2006/main" noGrp="1"/>
          </p:cNvSpPr>
          <p:nvPr/>
        </p:nvSpPr>
        <p:spPr>
          <a:xfrm xmlns:a="http://schemas.openxmlformats.org/drawingml/2006/main">
            <a:off x="571500" y="5838825"/>
            <a:ext cx="14097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0">
                <a:solidFill>
                  <a:srgbClr val="183247"/>
                </a:solidFill>
                <a:latin typeface="Arial"/>
                <a:ea typeface="Arial"/>
                <a:cs typeface="Arial"/>
              </a:defRPr>
            </a:pPr>
            <a:r>
              <a:rPr sz="2700" b="0">
                <a:solidFill>
                  <a:srgbClr val="183247"/>
                </a:solidFill>
                <a:latin typeface="Arial"/>
                <a:ea typeface="Arial"/>
                <a:cs typeface="Arial"/>
              </a:rPr>
              <a:t>%ΔQ = (360 − 400) / 400 × 100% = −10%</a:t>
            </a:r>
          </a:p>
        </p:txBody>
      </p:sp>
      <p:sp>
        <p:nvSpPr>
          <p:cNvPr id="9" name="Ev = −10% / +20% = −0,5 → prijsinelastisch">
            <a:extLst xmlns:a="http://schemas.openxmlformats.org/drawingml/2006/main">
              <a:ext uri="{FF2B5EF4-FFF2-40B4-BE49-F238E27FC236}">
                <a16:creationId xmlns:a16="http://schemas.microsoft.com/office/drawing/2014/main" id="{7ECD60DE-A554-43F0-B3AB-0043DE738247}"/>
              </a:ext>
            </a:extLst>
          </p:cNvPr>
          <p:cNvSpPr>
            <a:spLocks xmlns:a="http://schemas.openxmlformats.org/drawingml/2006/main" noGrp="1"/>
          </p:cNvSpPr>
          <p:nvPr/>
        </p:nvSpPr>
        <p:spPr>
          <a:xfrm xmlns:a="http://schemas.openxmlformats.org/drawingml/2006/main">
            <a:off x="571500" y="6505575"/>
            <a:ext cx="14097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1">
                <a:solidFill>
                  <a:srgbClr val="17658A"/>
                </a:solidFill>
                <a:latin typeface="Arial"/>
                <a:ea typeface="Arial"/>
                <a:cs typeface="Arial"/>
              </a:defRPr>
            </a:pPr>
            <a:r>
              <a:rPr sz="2775" b="1">
                <a:solidFill>
                  <a:srgbClr val="17658A"/>
                </a:solidFill>
                <a:latin typeface="Arial"/>
                <a:ea typeface="Arial"/>
                <a:cs typeface="Arial"/>
              </a:rPr>
              <a:t>Ev = −10% / +20% = −0,5 → prijsinelastisch</a:t>
            </a:r>
          </a:p>
        </p:txBody>
      </p:sp>
      <p:sp>
        <p:nvSpPr>
          <p:cNvPr id="10" name="TO: 25 × 400 = € 10.000 → 30 × 360 = € 10.800 per maand">
            <a:extLst xmlns:a="http://schemas.openxmlformats.org/drawingml/2006/main">
              <a:ext uri="{FF2B5EF4-FFF2-40B4-BE49-F238E27FC236}">
                <a16:creationId xmlns:a16="http://schemas.microsoft.com/office/drawing/2014/main" id="{5F18944D-9FC6-4B6C-9DF7-383332334F26}"/>
              </a:ext>
            </a:extLst>
          </p:cNvPr>
          <p:cNvSpPr>
            <a:spLocks xmlns:a="http://schemas.openxmlformats.org/drawingml/2006/main" noGrp="1"/>
          </p:cNvSpPr>
          <p:nvPr/>
        </p:nvSpPr>
        <p:spPr>
          <a:xfrm xmlns:a="http://schemas.openxmlformats.org/drawingml/2006/main">
            <a:off x="571500" y="7315200"/>
            <a:ext cx="1409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20665B"/>
                </a:solidFill>
                <a:latin typeface="Arial"/>
                <a:ea typeface="Arial"/>
                <a:cs typeface="Arial"/>
              </a:defRPr>
            </a:pPr>
            <a:r>
              <a:rPr sz="2625" b="1">
                <a:solidFill>
                  <a:srgbClr val="20665B"/>
                </a:solidFill>
                <a:latin typeface="Arial"/>
                <a:ea typeface="Arial"/>
                <a:cs typeface="Arial"/>
              </a:rPr>
              <a:t>TO: 25 × 400 = € 10.000 → 30 × 360 = € 10.800 per maand</a:t>
            </a:r>
          </a:p>
        </p:txBody>
      </p:sp>
    </p:spTree>
    <p:extLst>
      <p:ext uri="{BB962C8B-B14F-4D97-AF65-F5344CB8AC3E}">
        <p14:creationId xmlns:p14="http://schemas.microsoft.com/office/powerpoint/2010/main" val="610836603"/>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Klimwand · Inkomen en een concurrent">
            <a:extLst xmlns:a="http://schemas.openxmlformats.org/drawingml/2006/main">
              <a:ext uri="{FF2B5EF4-FFF2-40B4-BE49-F238E27FC236}">
                <a16:creationId xmlns:a16="http://schemas.microsoft.com/office/drawing/2014/main" id="{A64D02F8-98BA-4251-8851-A0ECDC631B75}"/>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Klimwand · Inkomen en een concurrent</a:t>
            </a:r>
          </a:p>
        </p:txBody>
      </p:sp>
      <p:sp>
        <p:nvSpPr>
          <p:cNvPr id="2" name="">
            <a:extLst xmlns:a="http://schemas.openxmlformats.org/drawingml/2006/main">
              <a:ext uri="{FF2B5EF4-FFF2-40B4-BE49-F238E27FC236}">
                <a16:creationId xmlns:a16="http://schemas.microsoft.com/office/drawing/2014/main" id="{67EB9FF9-7A5A-487D-A481-3D03409D19B2}"/>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footer">
            <a:extLst xmlns:a="http://schemas.openxmlformats.org/drawingml/2006/main">
              <a:ext uri="{FF2B5EF4-FFF2-40B4-BE49-F238E27FC236}">
                <a16:creationId xmlns:a16="http://schemas.microsoft.com/office/drawing/2014/main" id="{75E682C3-93EB-4245-8FBD-7AEB35EA331E}"/>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§2.2.4 Gemengde opgaven · Uitlegvoorbeeld — niet uit het boek</a:t>
            </a:r>
          </a:p>
        </p:txBody>
      </p:sp>
      <p:sp>
        <p:nvSpPr>
          <p:cNvPr id="4" name="slide-number">
            <a:extLst xmlns:a="http://schemas.openxmlformats.org/drawingml/2006/main">
              <a:ext uri="{FF2B5EF4-FFF2-40B4-BE49-F238E27FC236}">
                <a16:creationId xmlns:a16="http://schemas.microsoft.com/office/drawing/2014/main" id="{8F7E9C4C-F2E4-405D-B800-6C5004B0E566}"/>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3</a:t>
            </a:r>
          </a:p>
        </p:txBody>
      </p:sp>
      <p:sp>
        <p:nvSpPr>
          <p:cNvPr id="5" name="B en C · Afzonderlijke metingen; andere vraagfactoren blijve">
            <a:extLst xmlns:a="http://schemas.openxmlformats.org/drawingml/2006/main">
              <a:ext uri="{FF2B5EF4-FFF2-40B4-BE49-F238E27FC236}">
                <a16:creationId xmlns:a16="http://schemas.microsoft.com/office/drawing/2014/main" id="{121316D3-8E87-4BAE-871A-611F4290F90E}"/>
              </a:ext>
            </a:extLst>
          </p:cNvPr>
          <p:cNvSpPr>
            <a:spLocks xmlns:a="http://schemas.openxmlformats.org/drawingml/2006/main" noGrp="1"/>
          </p:cNvSpPr>
          <p:nvPr/>
        </p:nvSpPr>
        <p:spPr>
          <a:xfrm xmlns:a="http://schemas.openxmlformats.org/drawingml/2006/main">
            <a:off x="571500" y="1771650"/>
            <a:ext cx="14097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17658A"/>
                </a:solidFill>
                <a:latin typeface="Arial"/>
                <a:ea typeface="Arial"/>
                <a:cs typeface="Arial"/>
              </a:defRPr>
            </a:pPr>
            <a:r>
              <a:rPr sz="2400" b="1">
                <a:solidFill>
                  <a:srgbClr val="17658A"/>
                </a:solidFill>
                <a:latin typeface="Arial"/>
                <a:ea typeface="Arial"/>
                <a:cs typeface="Arial"/>
              </a:rPr>
              <a:t>B en C · Afzonderlijke metingen; andere vraagfactoren blijven gelijk</a:t>
            </a:r>
          </a:p>
        </p:txBody>
      </p:sp>
      <p:graphicFrame>
        <p:nvGraphicFramePr>
          <p:cNvPr id="14" name=""/>
          <p:cNvGraphicFramePr/>
          <p:nvPr/>
        </p:nvGraphicFramePr>
        <p:xfrm>
          <a:off xmlns:a="http://schemas.openxmlformats.org/drawingml/2006/main" x="571500" y="2657475"/>
          <a:ext xmlns:a="http://schemas.openxmlformats.org/drawingml/2006/main" cx="14097000" cy="3810000"/>
        </p:xfrm>
        <a:graphic xmlns:a="http://schemas.openxmlformats.org/drawingml/2006/main">
          <a:graphicData uri="http://schemas.openxmlformats.org/drawingml/2006/table">
            <a:tbl>
              <a:tblPr/>
              <a:tblGrid>
                <a:gridCol w="3857625"/>
                <a:gridCol w="4524375"/>
                <a:gridCol w="5715000"/>
              </a:tblGrid>
              <a:tr h="952500">
                <a:tc>
                  <a:txBody>
                    <a:bodyPr lIns="171450" tIns="95250" rIns="152400" bIns="95250"/>
                    <a:lstStyle/>
                    <a:p>
                      <a:r>
                        <a:rPr sz="2325" b="1">
                          <a:solidFill>
                            <a:srgbClr val="FFFFFF"/>
                          </a:solidFill>
                          <a:latin typeface="Arial"/>
                          <a:ea typeface="Arial"/>
                          <a:cs typeface="Arial"/>
                        </a:rPr>
                        <a:t>Onderzoek</a:t>
                      </a:r>
                    </a:p>
                  </a:txBody>
                  <a:tcPr marL="91440" marR="91440" marT="45720" marB="45720" anchor="ctr">
                    <a:solidFill>
                      <a:srgbClr val="183247"/>
                    </a:solidFill>
                  </a:tcPr>
                </a:tc>
                <a:tc>
                  <a:txBody>
                    <a:bodyPr lIns="171450" tIns="95250" rIns="152400" bIns="95250"/>
                    <a:lstStyle/>
                    <a:p>
                      <a:r>
                        <a:rPr sz="2325" b="1">
                          <a:solidFill>
                            <a:srgbClr val="FFFFFF"/>
                          </a:solidFill>
                          <a:latin typeface="Arial"/>
                          <a:ea typeface="Arial"/>
                          <a:cs typeface="Arial"/>
                        </a:rPr>
                        <a:t>Veranderingen</a:t>
                      </a:r>
                    </a:p>
                  </a:txBody>
                  <a:tcPr marL="91440" marR="91440" marT="45720" marB="45720" anchor="ctr">
                    <a:solidFill>
                      <a:srgbClr val="183247"/>
                    </a:solidFill>
                  </a:tcPr>
                </a:tc>
                <a:tc>
                  <a:txBody>
                    <a:bodyPr lIns="171450" tIns="95250" rIns="152400" bIns="95250"/>
                    <a:lstStyle/>
                    <a:p>
                      <a:r>
                        <a:rPr sz="2325" b="1">
                          <a:solidFill>
                            <a:srgbClr val="FFFFFF"/>
                          </a:solidFill>
                          <a:latin typeface="Arial"/>
                          <a:ea typeface="Arial"/>
                          <a:cs typeface="Arial"/>
                        </a:rPr>
                        <a:t>Berekening en indeling</a:t>
                      </a:r>
                    </a:p>
                  </a:txBody>
                  <a:tcPr marL="91440" marR="91440" marT="45720" marB="45720" anchor="ctr">
                    <a:solidFill>
                      <a:srgbClr val="183247"/>
                    </a:solidFill>
                  </a:tcPr>
                </a:tc>
              </a:tr>
              <a:tr h="952500">
                <a:tc>
                  <a:txBody>
                    <a:bodyPr lIns="171450" tIns="95250" rIns="152400" bIns="95250"/>
                    <a:lstStyle/>
                    <a:p>
                      <a:r>
                        <a:rPr sz="2325" b="0">
                          <a:solidFill>
                            <a:srgbClr val="183247"/>
                          </a:solidFill>
                          <a:latin typeface="Arial"/>
                          <a:ea typeface="Arial"/>
                          <a:cs typeface="Arial"/>
                        </a:rPr>
                        <a:t>B · Pluskaart</a:t>
                      </a:r>
                    </a:p>
                  </a:txBody>
                  <a:tcPr marL="91440" marR="91440" marT="45720" marB="45720" anchor="ctr">
                    <a:solidFill>
                      <a:srgbClr val="FFFFFF"/>
                    </a:solidFill>
                  </a:tcPr>
                </a:tc>
                <a:tc>
                  <a:txBody>
                    <a:bodyPr lIns="171450" tIns="95250" rIns="152400" bIns="95250"/>
                    <a:lstStyle/>
                    <a:p>
                      <a:r>
                        <a:rPr sz="2325" b="0">
                          <a:solidFill>
                            <a:srgbClr val="183247"/>
                          </a:solidFill>
                          <a:latin typeface="Arial"/>
                          <a:ea typeface="Arial"/>
                          <a:cs typeface="Arial"/>
                        </a:rPr>
                        <a:t>Y: +6% · Q: +9%</a:t>
                      </a:r>
                    </a:p>
                  </a:txBody>
                  <a:tcPr marL="91440" marR="91440" marT="45720" marB="45720" anchor="ctr">
                    <a:solidFill>
                      <a:srgbClr val="FFFFFF"/>
                    </a:solidFill>
                  </a:tcPr>
                </a:tc>
                <a:tc>
                  <a:txBody>
                    <a:bodyPr lIns="171450" tIns="95250" rIns="152400" bIns="95250"/>
                    <a:lstStyle/>
                    <a:p>
                      <a:r>
                        <a:rPr sz="2325" b="0">
                          <a:solidFill>
                            <a:srgbClr val="183247"/>
                          </a:solidFill>
                          <a:latin typeface="Arial"/>
                          <a:ea typeface="Arial"/>
                          <a:cs typeface="Arial"/>
                        </a:rPr>
                        <a:t>Ei = +9% / +6% = +1,5</a:t>
                      </a:r>
                    </a:p>
                    <a:p>
                      <a:r>
                        <a:rPr sz="2325" b="0">
                          <a:solidFill>
                            <a:srgbClr val="183247"/>
                          </a:solidFill>
                          <a:latin typeface="Arial"/>
                          <a:ea typeface="Arial"/>
                          <a:cs typeface="Arial"/>
                        </a:rPr>
                        <a:t>Luxegoed</a:t>
                      </a:r>
                    </a:p>
                  </a:txBody>
                  <a:tcPr marL="91440" marR="91440" marT="45720" marB="45720" anchor="ctr">
                    <a:solidFill>
                      <a:srgbClr val="FFFFFF"/>
                    </a:solidFill>
                  </a:tcPr>
                </a:tc>
              </a:tr>
              <a:tr h="952500">
                <a:tc>
                  <a:txBody>
                    <a:bodyPr lIns="171450" tIns="95250" rIns="152400" bIns="95250"/>
                    <a:lstStyle/>
                    <a:p>
                      <a:r>
                        <a:rPr sz="2325" b="0">
                          <a:solidFill>
                            <a:srgbClr val="183247"/>
                          </a:solidFill>
                          <a:latin typeface="Arial"/>
                          <a:ea typeface="Arial"/>
                          <a:cs typeface="Arial"/>
                        </a:rPr>
                        <a:t>B · Basiskaart</a:t>
                      </a:r>
                    </a:p>
                  </a:txBody>
                  <a:tcPr marL="91440" marR="91440" marT="45720" marB="45720" anchor="ctr">
                    <a:solidFill>
                      <a:srgbClr val="EFF4F7"/>
                    </a:solidFill>
                  </a:tcPr>
                </a:tc>
                <a:tc>
                  <a:txBody>
                    <a:bodyPr lIns="171450" tIns="95250" rIns="152400" bIns="95250"/>
                    <a:lstStyle/>
                    <a:p>
                      <a:r>
                        <a:rPr sz="2325" b="0">
                          <a:solidFill>
                            <a:srgbClr val="183247"/>
                          </a:solidFill>
                          <a:latin typeface="Arial"/>
                          <a:ea typeface="Arial"/>
                          <a:cs typeface="Arial"/>
                        </a:rPr>
                        <a:t>Y: +6% · Q: −3%</a:t>
                      </a:r>
                    </a:p>
                  </a:txBody>
                  <a:tcPr marL="91440" marR="91440" marT="45720" marB="45720" anchor="ctr">
                    <a:solidFill>
                      <a:srgbClr val="EFF4F7"/>
                    </a:solidFill>
                  </a:tcPr>
                </a:tc>
                <a:tc>
                  <a:txBody>
                    <a:bodyPr lIns="171450" tIns="95250" rIns="152400" bIns="95250"/>
                    <a:lstStyle/>
                    <a:p>
                      <a:r>
                        <a:rPr sz="2325" b="0">
                          <a:solidFill>
                            <a:srgbClr val="183247"/>
                          </a:solidFill>
                          <a:latin typeface="Arial"/>
                          <a:ea typeface="Arial"/>
                          <a:cs typeface="Arial"/>
                        </a:rPr>
                        <a:t>Ei = −3% / +6% = −0,5</a:t>
                      </a:r>
                    </a:p>
                    <a:p>
                      <a:r>
                        <a:rPr sz="2325" b="0">
                          <a:solidFill>
                            <a:srgbClr val="183247"/>
                          </a:solidFill>
                          <a:latin typeface="Arial"/>
                          <a:ea typeface="Arial"/>
                          <a:cs typeface="Arial"/>
                        </a:rPr>
                        <a:t>Inferieur goed</a:t>
                      </a:r>
                    </a:p>
                  </a:txBody>
                  <a:tcPr marL="91440" marR="91440" marT="45720" marB="45720" anchor="ctr">
                    <a:solidFill>
                      <a:srgbClr val="EFF4F7"/>
                    </a:solidFill>
                  </a:tcPr>
                </a:tc>
              </a:tr>
              <a:tr h="952500">
                <a:tc>
                  <a:txBody>
                    <a:bodyPr lIns="171450" tIns="95250" rIns="152400" bIns="95250"/>
                    <a:lstStyle/>
                    <a:p>
                      <a:r>
                        <a:rPr sz="2325" b="0">
                          <a:solidFill>
                            <a:srgbClr val="183247"/>
                          </a:solidFill>
                          <a:latin typeface="Arial"/>
                          <a:ea typeface="Arial"/>
                          <a:cs typeface="Arial"/>
                        </a:rPr>
                        <a:t>C · Dagkaart Klimwand</a:t>
                      </a:r>
                    </a:p>
                  </a:txBody>
                  <a:tcPr marL="91440" marR="91440" marT="45720" marB="45720" anchor="ctr">
                    <a:solidFill>
                      <a:srgbClr val="FFFFFF"/>
                    </a:solidFill>
                  </a:tcPr>
                </a:tc>
                <a:tc>
                  <a:txBody>
                    <a:bodyPr lIns="171450" tIns="95250" rIns="152400" bIns="95250"/>
                    <a:lstStyle/>
                    <a:p>
                      <a:r>
                        <a:rPr sz="2325" b="0">
                          <a:solidFill>
                            <a:srgbClr val="183247"/>
                          </a:solidFill>
                          <a:latin typeface="Arial"/>
                          <a:ea typeface="Arial"/>
                          <a:cs typeface="Arial"/>
                        </a:rPr>
                        <a:t>Prijs concurrent: +12%</a:t>
                      </a:r>
                    </a:p>
                    <a:p>
                      <a:r>
                        <a:rPr sz="2325" b="0">
                          <a:solidFill>
                            <a:srgbClr val="183247"/>
                          </a:solidFill>
                          <a:latin typeface="Arial"/>
                          <a:ea typeface="Arial"/>
                          <a:cs typeface="Arial"/>
                        </a:rPr>
                        <a:t>Vraag Klimwand: +3%</a:t>
                      </a:r>
                    </a:p>
                  </a:txBody>
                  <a:tcPr marL="91440" marR="91440" marT="45720" marB="45720" anchor="ctr">
                    <a:solidFill>
                      <a:srgbClr val="FFFFFF"/>
                    </a:solidFill>
                  </a:tcPr>
                </a:tc>
                <a:tc>
                  <a:txBody>
                    <a:bodyPr lIns="171450" tIns="95250" rIns="152400" bIns="95250"/>
                    <a:lstStyle/>
                    <a:p>
                      <a:r>
                        <a:rPr sz="2325" b="0">
                          <a:solidFill>
                            <a:srgbClr val="183247"/>
                          </a:solidFill>
                          <a:latin typeface="Arial"/>
                          <a:ea typeface="Arial"/>
                          <a:cs typeface="Arial"/>
                        </a:rPr>
                        <a:t>Ek = +3% / +12% = +0,25</a:t>
                      </a:r>
                    </a:p>
                    <a:p>
                      <a:r>
                        <a:rPr sz="2325" b="0">
                          <a:solidFill>
                            <a:srgbClr val="183247"/>
                          </a:solidFill>
                          <a:latin typeface="Arial"/>
                          <a:ea typeface="Arial"/>
                          <a:cs typeface="Arial"/>
                        </a:rPr>
                        <a:t>Substituten</a:t>
                      </a:r>
                    </a:p>
                  </a:txBody>
                  <a:tcPr marL="91440" marR="91440" marT="45720" marB="45720" anchor="ctr">
                    <a:solidFill>
                      <a:srgbClr val="FFFFFF"/>
                    </a:solidFill>
                  </a:tcPr>
                </a:tc>
              </a:tr>
            </a:tbl>
          </a:graphicData>
        </a:graphic>
      </p:graphicFrame>
      <p:sp>
        <p:nvSpPr>
          <p:cNvPr id="7" name="Ei: inkomen in de noemer">
            <a:extLst xmlns:a="http://schemas.openxmlformats.org/drawingml/2006/main">
              <a:ext uri="{FF2B5EF4-FFF2-40B4-BE49-F238E27FC236}">
                <a16:creationId xmlns:a16="http://schemas.microsoft.com/office/drawing/2014/main" id="{5A517EA3-96DA-46DD-BEA6-82DAE09669F8}"/>
              </a:ext>
            </a:extLst>
          </p:cNvPr>
          <p:cNvSpPr>
            <a:spLocks xmlns:a="http://schemas.openxmlformats.org/drawingml/2006/main" noGrp="1"/>
          </p:cNvSpPr>
          <p:nvPr/>
        </p:nvSpPr>
        <p:spPr>
          <a:xfrm xmlns:a="http://schemas.openxmlformats.org/drawingml/2006/main">
            <a:off x="571500" y="6943725"/>
            <a:ext cx="66675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7658A"/>
                </a:solidFill>
                <a:latin typeface="Arial"/>
                <a:ea typeface="Arial"/>
                <a:cs typeface="Arial"/>
              </a:defRPr>
            </a:pPr>
            <a:r>
              <a:rPr sz="2625" b="1">
                <a:solidFill>
                  <a:srgbClr val="17658A"/>
                </a:solidFill>
                <a:latin typeface="Arial"/>
                <a:ea typeface="Arial"/>
                <a:cs typeface="Arial"/>
              </a:rPr>
              <a:t>Ei: inkomen in de noemer</a:t>
            </a:r>
          </a:p>
        </p:txBody>
      </p:sp>
      <p:sp>
        <p:nvSpPr>
          <p:cNvPr id="8" name="Ek: prijs van de ándere dienst">
            <a:extLst xmlns:a="http://schemas.openxmlformats.org/drawingml/2006/main">
              <a:ext uri="{FF2B5EF4-FFF2-40B4-BE49-F238E27FC236}">
                <a16:creationId xmlns:a16="http://schemas.microsoft.com/office/drawing/2014/main" id="{D67DA0B9-B5D6-4B2B-9111-C51392488347}"/>
              </a:ext>
            </a:extLst>
          </p:cNvPr>
          <p:cNvSpPr>
            <a:spLocks xmlns:a="http://schemas.openxmlformats.org/drawingml/2006/main" noGrp="1"/>
          </p:cNvSpPr>
          <p:nvPr/>
        </p:nvSpPr>
        <p:spPr>
          <a:xfrm xmlns:a="http://schemas.openxmlformats.org/drawingml/2006/main">
            <a:off x="7715250" y="6943725"/>
            <a:ext cx="69532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20665B"/>
                </a:solidFill>
                <a:latin typeface="Arial"/>
                <a:ea typeface="Arial"/>
                <a:cs typeface="Arial"/>
              </a:defRPr>
            </a:pPr>
            <a:r>
              <a:rPr sz="2625" b="1">
                <a:solidFill>
                  <a:srgbClr val="20665B"/>
                </a:solidFill>
                <a:latin typeface="Arial"/>
                <a:ea typeface="Arial"/>
                <a:cs typeface="Arial"/>
              </a:rPr>
              <a:t>Ek: prijs van de ándere dienst</a:t>
            </a:r>
          </a:p>
        </p:txBody>
      </p:sp>
    </p:spTree>
    <p:extLst>
      <p:ext uri="{BB962C8B-B14F-4D97-AF65-F5344CB8AC3E}">
        <p14:creationId xmlns:p14="http://schemas.microsoft.com/office/powerpoint/2010/main" val="384954687"/>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Klimwand · Alleen het inkomen verandert">
            <a:extLst xmlns:a="http://schemas.openxmlformats.org/drawingml/2006/main">
              <a:ext uri="{FF2B5EF4-FFF2-40B4-BE49-F238E27FC236}">
                <a16:creationId xmlns:a16="http://schemas.microsoft.com/office/drawing/2014/main" id="{F9A6509C-079F-4AFE-8A12-087E073FC14D}"/>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Klimwand · Alleen het inkomen verandert</a:t>
            </a:r>
          </a:p>
        </p:txBody>
      </p:sp>
      <p:sp>
        <p:nvSpPr>
          <p:cNvPr id="2" name="">
            <a:extLst xmlns:a="http://schemas.openxmlformats.org/drawingml/2006/main">
              <a:ext uri="{FF2B5EF4-FFF2-40B4-BE49-F238E27FC236}">
                <a16:creationId xmlns:a16="http://schemas.microsoft.com/office/drawing/2014/main" id="{5A6205DD-0FBA-4B7E-9DFC-75B63AA864D1}"/>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footer">
            <a:extLst xmlns:a="http://schemas.openxmlformats.org/drawingml/2006/main">
              <a:ext uri="{FF2B5EF4-FFF2-40B4-BE49-F238E27FC236}">
                <a16:creationId xmlns:a16="http://schemas.microsoft.com/office/drawing/2014/main" id="{1CDDF461-EF6A-4918-8095-D92BEE9C8BCB}"/>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§2.2.4 Gemengde opgaven · Uitlegvoorbeeld — niet uit het boek</a:t>
            </a:r>
          </a:p>
        </p:txBody>
      </p:sp>
      <p:sp>
        <p:nvSpPr>
          <p:cNvPr id="4" name="slide-number">
            <a:extLst xmlns:a="http://schemas.openxmlformats.org/drawingml/2006/main">
              <a:ext uri="{FF2B5EF4-FFF2-40B4-BE49-F238E27FC236}">
                <a16:creationId xmlns:a16="http://schemas.microsoft.com/office/drawing/2014/main" id="{E8858770-F8D4-4D71-B44A-15E815728130}"/>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4</a:t>
            </a:r>
          </a:p>
        </p:txBody>
      </p:sp>
      <p:sp>
        <p:nvSpPr>
          <p:cNvPr id="5" name="D · Regionaal model: Q = 200 − 2P + 0,01Y + 3Pc">
            <a:extLst xmlns:a="http://schemas.openxmlformats.org/drawingml/2006/main">
              <a:ext uri="{FF2B5EF4-FFF2-40B4-BE49-F238E27FC236}">
                <a16:creationId xmlns:a16="http://schemas.microsoft.com/office/drawing/2014/main" id="{6EEB8697-4504-4D82-8284-C0A4EC7E3CE8}"/>
              </a:ext>
            </a:extLst>
          </p:cNvPr>
          <p:cNvSpPr>
            <a:spLocks xmlns:a="http://schemas.openxmlformats.org/drawingml/2006/main" noGrp="1"/>
          </p:cNvSpPr>
          <p:nvPr/>
        </p:nvSpPr>
        <p:spPr>
          <a:xfrm xmlns:a="http://schemas.openxmlformats.org/drawingml/2006/main">
            <a:off x="571500" y="1866900"/>
            <a:ext cx="140970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17658A"/>
                </a:solidFill>
                <a:latin typeface="Arial"/>
                <a:ea typeface="Arial"/>
                <a:cs typeface="Arial"/>
              </a:defRPr>
            </a:pPr>
            <a:r>
              <a:rPr sz="3150" b="1">
                <a:solidFill>
                  <a:srgbClr val="17658A"/>
                </a:solidFill>
                <a:latin typeface="Arial"/>
                <a:ea typeface="Arial"/>
                <a:cs typeface="Arial"/>
              </a:rPr>
              <a:t>D · Regionaal model: Q = 200 − 2P + 0,01Y + 3Pc</a:t>
            </a:r>
          </a:p>
        </p:txBody>
      </p:sp>
      <p:sp>
        <p:nvSpPr>
          <p:cNvPr id="6" name="Q: dagkaarten per maand · P en Pc: € per dagkaart · Y: € per">
            <a:extLst xmlns:a="http://schemas.openxmlformats.org/drawingml/2006/main">
              <a:ext uri="{FF2B5EF4-FFF2-40B4-BE49-F238E27FC236}">
                <a16:creationId xmlns:a16="http://schemas.microsoft.com/office/drawing/2014/main" id="{1CEB98A6-5743-43BE-88B0-4A42DB076383}"/>
              </a:ext>
            </a:extLst>
          </p:cNvPr>
          <p:cNvSpPr>
            <a:spLocks xmlns:a="http://schemas.openxmlformats.org/drawingml/2006/main" noGrp="1"/>
          </p:cNvSpPr>
          <p:nvPr/>
        </p:nvSpPr>
        <p:spPr>
          <a:xfrm xmlns:a="http://schemas.openxmlformats.org/drawingml/2006/main">
            <a:off x="571500" y="2705100"/>
            <a:ext cx="14097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183247"/>
                </a:solidFill>
                <a:latin typeface="Arial"/>
                <a:ea typeface="Arial"/>
                <a:cs typeface="Arial"/>
              </a:defRPr>
            </a:pPr>
            <a:r>
              <a:rPr sz="2325" b="0">
                <a:solidFill>
                  <a:srgbClr val="183247"/>
                </a:solidFill>
                <a:latin typeface="Arial"/>
                <a:ea typeface="Arial"/>
                <a:cs typeface="Arial"/>
              </a:rPr>
              <a:t>Q: dagkaarten per maand · P en Pc: € per dagkaart · Y: € per jaar</a:t>
            </a:r>
          </a:p>
        </p:txBody>
      </p:sp>
      <p:graphicFrame>
        <p:nvGraphicFramePr>
          <p:cNvPr id="17" name=""/>
          <p:cNvGraphicFramePr/>
          <p:nvPr/>
        </p:nvGraphicFramePr>
        <p:xfrm>
          <a:off xmlns:a="http://schemas.openxmlformats.org/drawingml/2006/main" x="571500" y="3590925"/>
          <a:ext xmlns:a="http://schemas.openxmlformats.org/drawingml/2006/main" cx="14097000" cy="2124075"/>
        </p:xfrm>
        <a:graphic xmlns:a="http://schemas.openxmlformats.org/drawingml/2006/main">
          <a:graphicData uri="http://schemas.openxmlformats.org/drawingml/2006/table">
            <a:tbl>
              <a:tblPr/>
              <a:tblGrid>
                <a:gridCol w="6191250"/>
                <a:gridCol w="2095500"/>
                <a:gridCol w="2095500"/>
                <a:gridCol w="3714750"/>
              </a:tblGrid>
              <a:tr h="708025">
                <a:tc>
                  <a:txBody>
                    <a:bodyPr lIns="171450" tIns="95250" rIns="152400" bIns="95250"/>
                    <a:lstStyle/>
                    <a:p>
                      <a:r>
                        <a:rPr sz="2400" b="1">
                          <a:solidFill>
                            <a:srgbClr val="FFFFFF"/>
                          </a:solidFill>
                          <a:latin typeface="Arial"/>
                          <a:ea typeface="Arial"/>
                          <a:cs typeface="Arial"/>
                        </a:rPr>
                        <a:t>Scenario</a:t>
                      </a:r>
                    </a:p>
                  </a:txBody>
                  <a:tcPr marL="91440" marR="91440" marT="45720" marB="45720" anchor="ctr">
                    <a:solidFill>
                      <a:srgbClr val="183247"/>
                    </a:solidFill>
                  </a:tcPr>
                </a:tc>
                <a:tc>
                  <a:txBody>
                    <a:bodyPr lIns="171450" tIns="95250" rIns="152400" bIns="95250"/>
                    <a:lstStyle/>
                    <a:p>
                      <a:r>
                        <a:rPr sz="2400" b="1">
                          <a:solidFill>
                            <a:srgbClr val="FFFFFF"/>
                          </a:solidFill>
                          <a:latin typeface="Arial"/>
                          <a:ea typeface="Arial"/>
                          <a:cs typeface="Arial"/>
                        </a:rPr>
                        <a:t>P</a:t>
                      </a:r>
                    </a:p>
                  </a:txBody>
                  <a:tcPr marL="91440" marR="91440" marT="45720" marB="45720" anchor="ctr">
                    <a:solidFill>
                      <a:srgbClr val="183247"/>
                    </a:solidFill>
                  </a:tcPr>
                </a:tc>
                <a:tc>
                  <a:txBody>
                    <a:bodyPr lIns="171450" tIns="95250" rIns="152400" bIns="95250"/>
                    <a:lstStyle/>
                    <a:p>
                      <a:r>
                        <a:rPr sz="2400" b="1">
                          <a:solidFill>
                            <a:srgbClr val="FFFFFF"/>
                          </a:solidFill>
                          <a:latin typeface="Arial"/>
                          <a:ea typeface="Arial"/>
                          <a:cs typeface="Arial"/>
                        </a:rPr>
                        <a:t>Pc</a:t>
                      </a:r>
                    </a:p>
                  </a:txBody>
                  <a:tcPr marL="91440" marR="91440" marT="45720" marB="45720" anchor="ctr">
                    <a:solidFill>
                      <a:srgbClr val="183247"/>
                    </a:solidFill>
                  </a:tcPr>
                </a:tc>
                <a:tc>
                  <a:txBody>
                    <a:bodyPr lIns="171450" tIns="95250" rIns="152400" bIns="95250"/>
                    <a:lstStyle/>
                    <a:p>
                      <a:r>
                        <a:rPr sz="2400" b="1">
                          <a:solidFill>
                            <a:srgbClr val="FFFFFF"/>
                          </a:solidFill>
                          <a:latin typeface="Arial"/>
                          <a:ea typeface="Arial"/>
                          <a:cs typeface="Arial"/>
                        </a:rPr>
                        <a:t>Y</a:t>
                      </a:r>
                    </a:p>
                  </a:txBody>
                  <a:tcPr marL="91440" marR="91440" marT="45720" marB="45720" anchor="ctr">
                    <a:solidFill>
                      <a:srgbClr val="183247"/>
                    </a:solidFill>
                  </a:tcPr>
                </a:tc>
              </a:tr>
              <a:tr h="708025">
                <a:tc>
                  <a:txBody>
                    <a:bodyPr lIns="171450" tIns="95250" rIns="152400" bIns="95250"/>
                    <a:lstStyle/>
                    <a:p>
                      <a:r>
                        <a:rPr sz="2400" b="0">
                          <a:solidFill>
                            <a:srgbClr val="183247"/>
                          </a:solidFill>
                          <a:latin typeface="Arial"/>
                          <a:ea typeface="Arial"/>
                          <a:cs typeface="Arial"/>
                        </a:rPr>
                        <a:t>Begin</a:t>
                      </a:r>
                    </a:p>
                  </a:txBody>
                  <a:tcPr marL="91440" marR="91440" marT="45720" marB="45720" anchor="ctr">
                    <a:solidFill>
                      <a:srgbClr val="FFFFFF"/>
                    </a:solidFill>
                  </a:tcPr>
                </a:tc>
                <a:tc>
                  <a:txBody>
                    <a:bodyPr lIns="171450" tIns="95250" rIns="152400" bIns="95250"/>
                    <a:lstStyle/>
                    <a:p>
                      <a:r>
                        <a:rPr sz="2400" b="0">
                          <a:solidFill>
                            <a:srgbClr val="183247"/>
                          </a:solidFill>
                          <a:latin typeface="Arial"/>
                          <a:ea typeface="Arial"/>
                          <a:cs typeface="Arial"/>
                        </a:rPr>
                        <a:t>25</a:t>
                      </a:r>
                    </a:p>
                  </a:txBody>
                  <a:tcPr marL="91440" marR="91440" marT="45720" marB="45720" anchor="ctr">
                    <a:solidFill>
                      <a:srgbClr val="FFFFFF"/>
                    </a:solidFill>
                  </a:tcPr>
                </a:tc>
                <a:tc>
                  <a:txBody>
                    <a:bodyPr lIns="171450" tIns="95250" rIns="152400" bIns="95250"/>
                    <a:lstStyle/>
                    <a:p>
                      <a:r>
                        <a:rPr sz="2400" b="0">
                          <a:solidFill>
                            <a:srgbClr val="183247"/>
                          </a:solidFill>
                          <a:latin typeface="Arial"/>
                          <a:ea typeface="Arial"/>
                          <a:cs typeface="Arial"/>
                        </a:rPr>
                        <a:t>20</a:t>
                      </a:r>
                    </a:p>
                  </a:txBody>
                  <a:tcPr marL="91440" marR="91440" marT="45720" marB="45720" anchor="ctr">
                    <a:solidFill>
                      <a:srgbClr val="FFFFFF"/>
                    </a:solidFill>
                  </a:tcPr>
                </a:tc>
                <a:tc>
                  <a:txBody>
                    <a:bodyPr lIns="171450" tIns="95250" rIns="152400" bIns="95250"/>
                    <a:lstStyle/>
                    <a:p>
                      <a:r>
                        <a:rPr sz="2400" b="0">
                          <a:solidFill>
                            <a:srgbClr val="183247"/>
                          </a:solidFill>
                          <a:latin typeface="Arial"/>
                          <a:ea typeface="Arial"/>
                          <a:cs typeface="Arial"/>
                        </a:rPr>
                        <a:t>30.000</a:t>
                      </a:r>
                    </a:p>
                  </a:txBody>
                  <a:tcPr marL="91440" marR="91440" marT="45720" marB="45720" anchor="ctr">
                    <a:solidFill>
                      <a:srgbClr val="FFFFFF"/>
                    </a:solidFill>
                  </a:tcPr>
                </a:tc>
              </a:tr>
              <a:tr h="708025">
                <a:tc>
                  <a:txBody>
                    <a:bodyPr lIns="171450" tIns="95250" rIns="152400" bIns="95250"/>
                    <a:lstStyle/>
                    <a:p>
                      <a:r>
                        <a:rPr sz="2400" b="0">
                          <a:solidFill>
                            <a:srgbClr val="183247"/>
                          </a:solidFill>
                          <a:latin typeface="Arial"/>
                          <a:ea typeface="Arial"/>
                          <a:cs typeface="Arial"/>
                        </a:rPr>
                        <a:t>Alleen hoger inkomen</a:t>
                      </a:r>
                    </a:p>
                  </a:txBody>
                  <a:tcPr marL="91440" marR="91440" marT="45720" marB="45720" anchor="ctr">
                    <a:solidFill>
                      <a:srgbClr val="EFF4F7"/>
                    </a:solidFill>
                  </a:tcPr>
                </a:tc>
                <a:tc>
                  <a:txBody>
                    <a:bodyPr lIns="171450" tIns="95250" rIns="152400" bIns="95250"/>
                    <a:lstStyle/>
                    <a:p>
                      <a:r>
                        <a:rPr sz="2400" b="0">
                          <a:solidFill>
                            <a:srgbClr val="183247"/>
                          </a:solidFill>
                          <a:latin typeface="Arial"/>
                          <a:ea typeface="Arial"/>
                          <a:cs typeface="Arial"/>
                        </a:rPr>
                        <a:t>25</a:t>
                      </a:r>
                    </a:p>
                  </a:txBody>
                  <a:tcPr marL="91440" marR="91440" marT="45720" marB="45720" anchor="ctr">
                    <a:solidFill>
                      <a:srgbClr val="EFF4F7"/>
                    </a:solidFill>
                  </a:tcPr>
                </a:tc>
                <a:tc>
                  <a:txBody>
                    <a:bodyPr lIns="171450" tIns="95250" rIns="152400" bIns="95250"/>
                    <a:lstStyle/>
                    <a:p>
                      <a:r>
                        <a:rPr sz="2400" b="0">
                          <a:solidFill>
                            <a:srgbClr val="183247"/>
                          </a:solidFill>
                          <a:latin typeface="Arial"/>
                          <a:ea typeface="Arial"/>
                          <a:cs typeface="Arial"/>
                        </a:rPr>
                        <a:t>20</a:t>
                      </a:r>
                    </a:p>
                  </a:txBody>
                  <a:tcPr marL="91440" marR="91440" marT="45720" marB="45720" anchor="ctr">
                    <a:solidFill>
                      <a:srgbClr val="EFF4F7"/>
                    </a:solidFill>
                  </a:tcPr>
                </a:tc>
                <a:tc>
                  <a:txBody>
                    <a:bodyPr lIns="171450" tIns="95250" rIns="152400" bIns="95250"/>
                    <a:lstStyle/>
                    <a:p>
                      <a:r>
                        <a:rPr sz="2400" b="0">
                          <a:solidFill>
                            <a:srgbClr val="183247"/>
                          </a:solidFill>
                          <a:latin typeface="Arial"/>
                          <a:ea typeface="Arial"/>
                          <a:cs typeface="Arial"/>
                        </a:rPr>
                        <a:t>30.600</a:t>
                      </a:r>
                    </a:p>
                  </a:txBody>
                  <a:tcPr marL="91440" marR="91440" marT="45720" marB="45720" anchor="ctr">
                    <a:solidFill>
                      <a:srgbClr val="EFF4F7"/>
                    </a:solidFill>
                  </a:tcPr>
                </a:tc>
              </a:tr>
            </a:tbl>
          </a:graphicData>
        </a:graphic>
      </p:graphicFrame>
      <p:sp>
        <p:nvSpPr>
          <p:cNvPr id="8" name="Q oud = 200 − 2 × 25 + 0,01 × 30.000 + 3 × 20 = 510">
            <a:extLst xmlns:a="http://schemas.openxmlformats.org/drawingml/2006/main">
              <a:ext uri="{FF2B5EF4-FFF2-40B4-BE49-F238E27FC236}">
                <a16:creationId xmlns:a16="http://schemas.microsoft.com/office/drawing/2014/main" id="{BD5110BD-182C-4D4B-AE37-F2B73E7FF17C}"/>
              </a:ext>
            </a:extLst>
          </p:cNvPr>
          <p:cNvSpPr>
            <a:spLocks xmlns:a="http://schemas.openxmlformats.org/drawingml/2006/main" noGrp="1"/>
          </p:cNvSpPr>
          <p:nvPr/>
        </p:nvSpPr>
        <p:spPr>
          <a:xfrm xmlns:a="http://schemas.openxmlformats.org/drawingml/2006/main">
            <a:off x="571500" y="6143625"/>
            <a:ext cx="1409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0">
                <a:solidFill>
                  <a:srgbClr val="183247"/>
                </a:solidFill>
                <a:latin typeface="Arial"/>
                <a:ea typeface="Arial"/>
                <a:cs typeface="Arial"/>
              </a:defRPr>
            </a:pPr>
            <a:r>
              <a:rPr sz="2700" b="0">
                <a:solidFill>
                  <a:srgbClr val="183247"/>
                </a:solidFill>
                <a:latin typeface="Arial"/>
                <a:ea typeface="Arial"/>
                <a:cs typeface="Arial"/>
              </a:rPr>
              <a:t>Q oud = 200 − 2 × 25 + 0,01 × 30.000 + 3 × 20 = 510</a:t>
            </a:r>
          </a:p>
        </p:txBody>
      </p:sp>
      <p:sp>
        <p:nvSpPr>
          <p:cNvPr id="9" name="Q nieuw = 200 − 2 × 25 + 0,01 × 30.600 + 3 × 20 = 516">
            <a:extLst xmlns:a="http://schemas.openxmlformats.org/drawingml/2006/main">
              <a:ext uri="{FF2B5EF4-FFF2-40B4-BE49-F238E27FC236}">
                <a16:creationId xmlns:a16="http://schemas.microsoft.com/office/drawing/2014/main" id="{2347C6DB-B84B-412E-961B-675AAEC59D1C}"/>
              </a:ext>
            </a:extLst>
          </p:cNvPr>
          <p:cNvSpPr>
            <a:spLocks xmlns:a="http://schemas.openxmlformats.org/drawingml/2006/main" noGrp="1"/>
          </p:cNvSpPr>
          <p:nvPr/>
        </p:nvSpPr>
        <p:spPr>
          <a:xfrm xmlns:a="http://schemas.openxmlformats.org/drawingml/2006/main">
            <a:off x="571500" y="6838950"/>
            <a:ext cx="1409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20665B"/>
                </a:solidFill>
                <a:latin typeface="Arial"/>
                <a:ea typeface="Arial"/>
                <a:cs typeface="Arial"/>
              </a:defRPr>
            </a:pPr>
            <a:r>
              <a:rPr sz="2700" b="1">
                <a:solidFill>
                  <a:srgbClr val="20665B"/>
                </a:solidFill>
                <a:latin typeface="Arial"/>
                <a:ea typeface="Arial"/>
                <a:cs typeface="Arial"/>
              </a:rPr>
              <a:t>Q nieuw = 200 − 2 × 25 + 0,01 × 30.600 + 3 × 20 = 516</a:t>
            </a:r>
          </a:p>
        </p:txBody>
      </p:sp>
      <p:sp>
        <p:nvSpPr>
          <p:cNvPr id="10" name="ΔQ = +6 dagkaarten per maand · P en Pc blijven gelijk">
            <a:extLst xmlns:a="http://schemas.openxmlformats.org/drawingml/2006/main">
              <a:ext uri="{FF2B5EF4-FFF2-40B4-BE49-F238E27FC236}">
                <a16:creationId xmlns:a16="http://schemas.microsoft.com/office/drawing/2014/main" id="{7F87B1B0-FDF9-414D-854F-D3F979373FEB}"/>
              </a:ext>
            </a:extLst>
          </p:cNvPr>
          <p:cNvSpPr>
            <a:spLocks xmlns:a="http://schemas.openxmlformats.org/drawingml/2006/main" noGrp="1"/>
          </p:cNvSpPr>
          <p:nvPr/>
        </p:nvSpPr>
        <p:spPr>
          <a:xfrm xmlns:a="http://schemas.openxmlformats.org/drawingml/2006/main">
            <a:off x="571500" y="7543800"/>
            <a:ext cx="14097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ΔQ = +6 dagkaarten per maand · P en Pc blijven gelijk</a:t>
            </a:r>
          </a:p>
        </p:txBody>
      </p:sp>
    </p:spTree>
    <p:extLst>
      <p:ext uri="{BB962C8B-B14F-4D97-AF65-F5344CB8AC3E}">
        <p14:creationId xmlns:p14="http://schemas.microsoft.com/office/powerpoint/2010/main" val="1793500592"/>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Klimwand · Een onderbouwd advies">
            <a:extLst xmlns:a="http://schemas.openxmlformats.org/drawingml/2006/main">
              <a:ext uri="{FF2B5EF4-FFF2-40B4-BE49-F238E27FC236}">
                <a16:creationId xmlns:a16="http://schemas.microsoft.com/office/drawing/2014/main" id="{88357047-80D3-4C92-AA83-9FA0E43BF922}"/>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Klimwand · Een onderbouwd advies</a:t>
            </a:r>
          </a:p>
        </p:txBody>
      </p:sp>
      <p:sp>
        <p:nvSpPr>
          <p:cNvPr id="2" name="">
            <a:extLst xmlns:a="http://schemas.openxmlformats.org/drawingml/2006/main">
              <a:ext uri="{FF2B5EF4-FFF2-40B4-BE49-F238E27FC236}">
                <a16:creationId xmlns:a16="http://schemas.microsoft.com/office/drawing/2014/main" id="{3DBFC011-7CD2-444F-BC23-46BC175D99FB}"/>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footer">
            <a:extLst xmlns:a="http://schemas.openxmlformats.org/drawingml/2006/main">
              <a:ext uri="{FF2B5EF4-FFF2-40B4-BE49-F238E27FC236}">
                <a16:creationId xmlns:a16="http://schemas.microsoft.com/office/drawing/2014/main" id="{66228CAB-C4F0-422B-B06B-E0DA2C894F18}"/>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§2.2.4 Gemengde opgaven · Uitlegvoorbeeld — niet uit het boek</a:t>
            </a:r>
          </a:p>
        </p:txBody>
      </p:sp>
      <p:sp>
        <p:nvSpPr>
          <p:cNvPr id="4" name="slide-number">
            <a:extLst xmlns:a="http://schemas.openxmlformats.org/drawingml/2006/main">
              <a:ext uri="{FF2B5EF4-FFF2-40B4-BE49-F238E27FC236}">
                <a16:creationId xmlns:a16="http://schemas.microsoft.com/office/drawing/2014/main" id="{1F01DDCE-DA10-423A-85EF-34335D55012A}"/>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5</a:t>
            </a:r>
          </a:p>
        </p:txBody>
      </p:sp>
      <p:sp>
        <p:nvSpPr>
          <p:cNvPr id="5" name="Ondersteund · A">
            <a:extLst xmlns:a="http://schemas.openxmlformats.org/drawingml/2006/main">
              <a:ext uri="{FF2B5EF4-FFF2-40B4-BE49-F238E27FC236}">
                <a16:creationId xmlns:a16="http://schemas.microsoft.com/office/drawing/2014/main" id="{D24A23A3-28C7-40CA-BBB4-9CE5B36434C2}"/>
              </a:ext>
            </a:extLst>
          </p:cNvPr>
          <p:cNvSpPr>
            <a:spLocks xmlns:a="http://schemas.openxmlformats.org/drawingml/2006/main" noGrp="1"/>
          </p:cNvSpPr>
          <p:nvPr/>
        </p:nvSpPr>
        <p:spPr>
          <a:xfrm xmlns:a="http://schemas.openxmlformats.org/drawingml/2006/main">
            <a:off x="571500" y="1952625"/>
            <a:ext cx="4953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7658A"/>
                </a:solidFill>
                <a:latin typeface="Arial"/>
                <a:ea typeface="Arial"/>
                <a:cs typeface="Arial"/>
              </a:defRPr>
            </a:pPr>
            <a:r>
              <a:rPr sz="2625" b="1">
                <a:solidFill>
                  <a:srgbClr val="17658A"/>
                </a:solidFill>
                <a:latin typeface="Arial"/>
                <a:ea typeface="Arial"/>
                <a:cs typeface="Arial"/>
              </a:rPr>
              <a:t>Ondersteund · A</a:t>
            </a:r>
          </a:p>
        </p:txBody>
      </p:sp>
      <p:sp>
        <p:nvSpPr>
          <p:cNvPr id="6" name="De onderzochte prijsstap verhoogde de maandomzet met € 800.">
            <a:extLst xmlns:a="http://schemas.openxmlformats.org/drawingml/2006/main">
              <a:ext uri="{FF2B5EF4-FFF2-40B4-BE49-F238E27FC236}">
                <a16:creationId xmlns:a16="http://schemas.microsoft.com/office/drawing/2014/main" id="{C5A72B22-DAC9-421E-A354-A815DD2B4F71}"/>
              </a:ext>
            </a:extLst>
          </p:cNvPr>
          <p:cNvSpPr>
            <a:spLocks xmlns:a="http://schemas.openxmlformats.org/drawingml/2006/main" noGrp="1"/>
          </p:cNvSpPr>
          <p:nvPr/>
        </p:nvSpPr>
        <p:spPr>
          <a:xfrm xmlns:a="http://schemas.openxmlformats.org/drawingml/2006/main">
            <a:off x="5953125" y="1952625"/>
            <a:ext cx="8715375"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0">
                <a:solidFill>
                  <a:srgbClr val="183247"/>
                </a:solidFill>
                <a:latin typeface="Arial"/>
                <a:ea typeface="Arial"/>
                <a:cs typeface="Arial"/>
              </a:defRPr>
            </a:pPr>
            <a:r>
              <a:rPr sz="2625" b="0">
                <a:solidFill>
                  <a:srgbClr val="183247"/>
                </a:solidFill>
                <a:latin typeface="Arial"/>
                <a:ea typeface="Arial"/>
                <a:cs typeface="Arial"/>
              </a:rPr>
              <a:t>De onderzochte prijsstap verhoogde de maandomzet met € 800.</a:t>
            </a:r>
          </a:p>
        </p:txBody>
      </p:sp>
      <p:sp>
        <p:nvSpPr>
          <p:cNvPr id="7" name="">
            <a:extLst xmlns:a="http://schemas.openxmlformats.org/drawingml/2006/main">
              <a:ext uri="{FF2B5EF4-FFF2-40B4-BE49-F238E27FC236}">
                <a16:creationId xmlns:a16="http://schemas.microsoft.com/office/drawing/2014/main" id="{A29EE42B-9584-4FF8-88AC-213DCCE2485A}"/>
              </a:ext>
            </a:extLst>
          </p:cNvPr>
          <p:cNvSpPr>
            <a:spLocks xmlns:a="http://schemas.openxmlformats.org/drawingml/2006/main" noGrp="1"/>
          </p:cNvSpPr>
          <p:nvPr/>
        </p:nvSpPr>
        <p:spPr>
          <a:xfrm xmlns:a="http://schemas.openxmlformats.org/drawingml/2006/main">
            <a:off x="571500" y="3143250"/>
            <a:ext cx="14097000" cy="0"/>
          </a:xfrm>
          <a:prstGeom xmlns:a="http://schemas.openxmlformats.org/drawingml/2006/main" prst="line">
            <a:avLst/>
          </a:prstGeom>
          <a:ln xmlns:a="http://schemas.openxmlformats.org/drawingml/2006/main" w="19050">
            <a:solidFill>
              <a:srgbClr val="C6D2DB"/>
            </a:solidFill>
          </a:ln>
        </p:spPr>
      </p:sp>
      <p:sp>
        <p:nvSpPr>
          <p:cNvPr id="8" name="Tweede bron · C">
            <a:extLst xmlns:a="http://schemas.openxmlformats.org/drawingml/2006/main">
              <a:ext uri="{FF2B5EF4-FFF2-40B4-BE49-F238E27FC236}">
                <a16:creationId xmlns:a16="http://schemas.microsoft.com/office/drawing/2014/main" id="{CB3AD2EB-BAD4-4AD1-B840-FDFF7491FD2F}"/>
              </a:ext>
            </a:extLst>
          </p:cNvPr>
          <p:cNvSpPr>
            <a:spLocks xmlns:a="http://schemas.openxmlformats.org/drawingml/2006/main" noGrp="1"/>
          </p:cNvSpPr>
          <p:nvPr/>
        </p:nvSpPr>
        <p:spPr>
          <a:xfrm xmlns:a="http://schemas.openxmlformats.org/drawingml/2006/main">
            <a:off x="571500" y="3371850"/>
            <a:ext cx="4953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7658A"/>
                </a:solidFill>
                <a:latin typeface="Arial"/>
                <a:ea typeface="Arial"/>
                <a:cs typeface="Arial"/>
              </a:defRPr>
            </a:pPr>
            <a:r>
              <a:rPr sz="2625" b="1">
                <a:solidFill>
                  <a:srgbClr val="17658A"/>
                </a:solidFill>
                <a:latin typeface="Arial"/>
                <a:ea typeface="Arial"/>
                <a:cs typeface="Arial"/>
              </a:rPr>
              <a:t>Tweede bron · C</a:t>
            </a:r>
          </a:p>
        </p:txBody>
      </p:sp>
      <p:sp>
        <p:nvSpPr>
          <p:cNvPr id="9" name="De diensten zijn substituten: klanten reageren op de concurr">
            <a:extLst xmlns:a="http://schemas.openxmlformats.org/drawingml/2006/main">
              <a:ext uri="{FF2B5EF4-FFF2-40B4-BE49-F238E27FC236}">
                <a16:creationId xmlns:a16="http://schemas.microsoft.com/office/drawing/2014/main" id="{C216CE1E-7ABC-4FAF-BEA7-DEE791DDB96C}"/>
              </a:ext>
            </a:extLst>
          </p:cNvPr>
          <p:cNvSpPr>
            <a:spLocks xmlns:a="http://schemas.openxmlformats.org/drawingml/2006/main" noGrp="1"/>
          </p:cNvSpPr>
          <p:nvPr/>
        </p:nvSpPr>
        <p:spPr>
          <a:xfrm xmlns:a="http://schemas.openxmlformats.org/drawingml/2006/main">
            <a:off x="5953125" y="3371850"/>
            <a:ext cx="8715375"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0">
                <a:solidFill>
                  <a:srgbClr val="183247"/>
                </a:solidFill>
                <a:latin typeface="Arial"/>
                <a:ea typeface="Arial"/>
                <a:cs typeface="Arial"/>
              </a:defRPr>
            </a:pPr>
            <a:r>
              <a:rPr sz="2625" b="0">
                <a:solidFill>
                  <a:srgbClr val="183247"/>
                </a:solidFill>
                <a:latin typeface="Arial"/>
                <a:ea typeface="Arial"/>
                <a:cs typeface="Arial"/>
              </a:rPr>
              <a:t>De diensten zijn substituten: klanten reageren op de concurrentprijs.</a:t>
            </a:r>
          </a:p>
        </p:txBody>
      </p:sp>
      <p:sp>
        <p:nvSpPr>
          <p:cNvPr id="10" name="">
            <a:extLst xmlns:a="http://schemas.openxmlformats.org/drawingml/2006/main">
              <a:ext uri="{FF2B5EF4-FFF2-40B4-BE49-F238E27FC236}">
                <a16:creationId xmlns:a16="http://schemas.microsoft.com/office/drawing/2014/main" id="{ABE3B2B4-C842-4782-90F6-8BDEFCEFB696}"/>
              </a:ext>
            </a:extLst>
          </p:cNvPr>
          <p:cNvSpPr>
            <a:spLocks xmlns:a="http://schemas.openxmlformats.org/drawingml/2006/main" noGrp="1"/>
          </p:cNvSpPr>
          <p:nvPr/>
        </p:nvSpPr>
        <p:spPr>
          <a:xfrm xmlns:a="http://schemas.openxmlformats.org/drawingml/2006/main">
            <a:off x="571500" y="4562475"/>
            <a:ext cx="14097000" cy="0"/>
          </a:xfrm>
          <a:prstGeom xmlns:a="http://schemas.openxmlformats.org/drawingml/2006/main" prst="line">
            <a:avLst/>
          </a:prstGeom>
          <a:ln xmlns:a="http://schemas.openxmlformats.org/drawingml/2006/main" w="19050">
            <a:solidFill>
              <a:srgbClr val="C6D2DB"/>
            </a:solidFill>
          </a:ln>
        </p:spPr>
      </p:sp>
      <p:sp>
        <p:nvSpPr>
          <p:cNvPr id="11" name="Advies">
            <a:extLst xmlns:a="http://schemas.openxmlformats.org/drawingml/2006/main">
              <a:ext uri="{FF2B5EF4-FFF2-40B4-BE49-F238E27FC236}">
                <a16:creationId xmlns:a16="http://schemas.microsoft.com/office/drawing/2014/main" id="{1E981D1C-6D90-43FF-BE65-A6DE582ECD4F}"/>
              </a:ext>
            </a:extLst>
          </p:cNvPr>
          <p:cNvSpPr>
            <a:spLocks xmlns:a="http://schemas.openxmlformats.org/drawingml/2006/main" noGrp="1"/>
          </p:cNvSpPr>
          <p:nvPr/>
        </p:nvSpPr>
        <p:spPr>
          <a:xfrm xmlns:a="http://schemas.openxmlformats.org/drawingml/2006/main">
            <a:off x="571500" y="4791075"/>
            <a:ext cx="4953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7658A"/>
                </a:solidFill>
                <a:latin typeface="Arial"/>
                <a:ea typeface="Arial"/>
                <a:cs typeface="Arial"/>
              </a:defRPr>
            </a:pPr>
            <a:r>
              <a:rPr sz="2625" b="1">
                <a:solidFill>
                  <a:srgbClr val="17658A"/>
                </a:solidFill>
                <a:latin typeface="Arial"/>
                <a:ea typeface="Arial"/>
                <a:cs typeface="Arial"/>
              </a:rPr>
              <a:t>Advies</a:t>
            </a:r>
          </a:p>
        </p:txBody>
      </p:sp>
      <p:sp>
        <p:nvSpPr>
          <p:cNvPr id="12" name="Onderzoek een kleine volgende prijsstap en vergelijk opnieuw">
            <a:extLst xmlns:a="http://schemas.openxmlformats.org/drawingml/2006/main">
              <a:ext uri="{FF2B5EF4-FFF2-40B4-BE49-F238E27FC236}">
                <a16:creationId xmlns:a16="http://schemas.microsoft.com/office/drawing/2014/main" id="{26F0D733-AE79-4669-97F0-A44CF6CE09C4}"/>
              </a:ext>
            </a:extLst>
          </p:cNvPr>
          <p:cNvSpPr>
            <a:spLocks xmlns:a="http://schemas.openxmlformats.org/drawingml/2006/main" noGrp="1"/>
          </p:cNvSpPr>
          <p:nvPr/>
        </p:nvSpPr>
        <p:spPr>
          <a:xfrm xmlns:a="http://schemas.openxmlformats.org/drawingml/2006/main">
            <a:off x="5953125" y="4791075"/>
            <a:ext cx="8715375"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0">
                <a:solidFill>
                  <a:srgbClr val="183247"/>
                </a:solidFill>
                <a:latin typeface="Arial"/>
                <a:ea typeface="Arial"/>
                <a:cs typeface="Arial"/>
              </a:defRPr>
            </a:pPr>
            <a:r>
              <a:rPr sz="2625" b="0">
                <a:solidFill>
                  <a:srgbClr val="183247"/>
                </a:solidFill>
                <a:latin typeface="Arial"/>
                <a:ea typeface="Arial"/>
                <a:cs typeface="Arial"/>
              </a:rPr>
              <a:t>Onderzoek een kleine volgende prijsstap en vergelijk opnieuw de omzet.</a:t>
            </a:r>
          </a:p>
        </p:txBody>
      </p:sp>
      <p:sp>
        <p:nvSpPr>
          <p:cNvPr id="13" name="">
            <a:extLst xmlns:a="http://schemas.openxmlformats.org/drawingml/2006/main">
              <a:ext uri="{FF2B5EF4-FFF2-40B4-BE49-F238E27FC236}">
                <a16:creationId xmlns:a16="http://schemas.microsoft.com/office/drawing/2014/main" id="{F66140A3-16A4-4C05-B74B-F69348CF30D5}"/>
              </a:ext>
            </a:extLst>
          </p:cNvPr>
          <p:cNvSpPr>
            <a:spLocks xmlns:a="http://schemas.openxmlformats.org/drawingml/2006/main" noGrp="1"/>
          </p:cNvSpPr>
          <p:nvPr/>
        </p:nvSpPr>
        <p:spPr>
          <a:xfrm xmlns:a="http://schemas.openxmlformats.org/drawingml/2006/main">
            <a:off x="571500" y="5981700"/>
            <a:ext cx="14097000" cy="0"/>
          </a:xfrm>
          <a:prstGeom xmlns:a="http://schemas.openxmlformats.org/drawingml/2006/main" prst="line">
            <a:avLst/>
          </a:prstGeom>
          <a:ln xmlns:a="http://schemas.openxmlformats.org/drawingml/2006/main" w="19050">
            <a:solidFill>
              <a:srgbClr val="C6D2DB"/>
            </a:solidFill>
          </a:ln>
        </p:spPr>
      </p:sp>
      <p:sp>
        <p:nvSpPr>
          <p:cNvPr id="14" name="Niet bewezen · precies twee">
            <a:extLst xmlns:a="http://schemas.openxmlformats.org/drawingml/2006/main">
              <a:ext uri="{FF2B5EF4-FFF2-40B4-BE49-F238E27FC236}">
                <a16:creationId xmlns:a16="http://schemas.microsoft.com/office/drawing/2014/main" id="{9D7AE126-9777-4053-AE8F-6FB958DA56F2}"/>
              </a:ext>
            </a:extLst>
          </p:cNvPr>
          <p:cNvSpPr>
            <a:spLocks xmlns:a="http://schemas.openxmlformats.org/drawingml/2006/main" noGrp="1"/>
          </p:cNvSpPr>
          <p:nvPr/>
        </p:nvSpPr>
        <p:spPr>
          <a:xfrm xmlns:a="http://schemas.openxmlformats.org/drawingml/2006/main">
            <a:off x="571500" y="6210300"/>
            <a:ext cx="4953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A94D16"/>
                </a:solidFill>
                <a:latin typeface="Arial"/>
                <a:ea typeface="Arial"/>
                <a:cs typeface="Arial"/>
              </a:defRPr>
            </a:pPr>
            <a:r>
              <a:rPr sz="2625" b="1">
                <a:solidFill>
                  <a:srgbClr val="A94D16"/>
                </a:solidFill>
                <a:latin typeface="Arial"/>
                <a:ea typeface="Arial"/>
                <a:cs typeface="Arial"/>
              </a:rPr>
              <a:t>Niet bewezen · precies twee</a:t>
            </a:r>
          </a:p>
        </p:txBody>
      </p:sp>
      <p:sp>
        <p:nvSpPr>
          <p:cNvPr id="15" name="Dezelfde reactie bij een volgende prijsstap.&#10;Hogere winst: k">
            <a:extLst xmlns:a="http://schemas.openxmlformats.org/drawingml/2006/main">
              <a:ext uri="{FF2B5EF4-FFF2-40B4-BE49-F238E27FC236}">
                <a16:creationId xmlns:a16="http://schemas.microsoft.com/office/drawing/2014/main" id="{28A43480-609C-499A-836F-5839ADE9853A}"/>
              </a:ext>
            </a:extLst>
          </p:cNvPr>
          <p:cNvSpPr>
            <a:spLocks xmlns:a="http://schemas.openxmlformats.org/drawingml/2006/main" noGrp="1"/>
          </p:cNvSpPr>
          <p:nvPr/>
        </p:nvSpPr>
        <p:spPr>
          <a:xfrm xmlns:a="http://schemas.openxmlformats.org/drawingml/2006/main">
            <a:off x="5953125" y="6210300"/>
            <a:ext cx="8715375"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0">
                <a:solidFill>
                  <a:srgbClr val="183247"/>
                </a:solidFill>
                <a:latin typeface="Arial"/>
                <a:ea typeface="Arial"/>
                <a:cs typeface="Arial"/>
              </a:defRPr>
            </a:pPr>
            <a:r>
              <a:rPr sz="2625" b="0">
                <a:solidFill>
                  <a:srgbClr val="183247"/>
                </a:solidFill>
                <a:latin typeface="Arial"/>
                <a:ea typeface="Arial"/>
                <a:cs typeface="Arial"/>
              </a:rPr>
              <a:t>Dezelfde reactie bij een volgende prijsstap.</a:t>
            </a:r>
          </a:p>
          <a:p xmlns:a="http://schemas.openxmlformats.org/drawingml/2006/main">
            <a:pPr algn="l">
              <a:defRPr sz="2625" b="0">
                <a:solidFill>
                  <a:srgbClr val="183247"/>
                </a:solidFill>
                <a:latin typeface="Arial"/>
                <a:ea typeface="Arial"/>
                <a:cs typeface="Arial"/>
              </a:defRPr>
            </a:pPr>
            <a:r>
              <a:rPr sz="2625" b="0">
                <a:solidFill>
                  <a:srgbClr val="183247"/>
                </a:solidFill>
                <a:latin typeface="Arial"/>
                <a:ea typeface="Arial"/>
                <a:cs typeface="Arial"/>
              </a:rPr>
              <a:t>Hogere winst: kostengegevens ontbreken.</a:t>
            </a:r>
          </a:p>
        </p:txBody>
      </p:sp>
    </p:spTree>
    <p:extLst>
      <p:ext uri="{BB962C8B-B14F-4D97-AF65-F5344CB8AC3E}">
        <p14:creationId xmlns:p14="http://schemas.microsoft.com/office/powerpoint/2010/main" val="1510511691"/>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Deze les: §2.2.4 Gemengde opgaven">
            <a:extLst xmlns:a="http://schemas.openxmlformats.org/drawingml/2006/main">
              <a:ext uri="{FF2B5EF4-FFF2-40B4-BE49-F238E27FC236}">
                <a16:creationId xmlns:a16="http://schemas.microsoft.com/office/drawing/2014/main" id="{EE6F6DE1-4608-43C2-9889-4813A4F043A4}"/>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Deze les: §2.2.4 Gemengde opgaven</a:t>
            </a:r>
          </a:p>
        </p:txBody>
      </p:sp>
      <p:sp>
        <p:nvSpPr>
          <p:cNvPr id="2" name="">
            <a:extLst xmlns:a="http://schemas.openxmlformats.org/drawingml/2006/main">
              <a:ext uri="{FF2B5EF4-FFF2-40B4-BE49-F238E27FC236}">
                <a16:creationId xmlns:a16="http://schemas.microsoft.com/office/drawing/2014/main" id="{1A99BF93-8A2E-4418-B34C-DF09600E67F4}"/>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footer">
            <a:extLst xmlns:a="http://schemas.openxmlformats.org/drawingml/2006/main">
              <a:ext uri="{FF2B5EF4-FFF2-40B4-BE49-F238E27FC236}">
                <a16:creationId xmlns:a16="http://schemas.microsoft.com/office/drawing/2014/main" id="{1D07F656-98FC-409C-8352-F3DD6B84487A}"/>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§2.2.4 Gemengde opgaven</a:t>
            </a:r>
          </a:p>
        </p:txBody>
      </p:sp>
      <p:sp>
        <p:nvSpPr>
          <p:cNvPr id="4" name="slide-number">
            <a:extLst xmlns:a="http://schemas.openxmlformats.org/drawingml/2006/main">
              <a:ext uri="{FF2B5EF4-FFF2-40B4-BE49-F238E27FC236}">
                <a16:creationId xmlns:a16="http://schemas.microsoft.com/office/drawing/2014/main" id="{5B648A9C-F026-437C-89A4-3A4519E086E0}"/>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6</a:t>
            </a:r>
          </a:p>
        </p:txBody>
      </p:sp>
      <p:sp>
        <p:nvSpPr>
          <p:cNvPr id="5" name="phase">
            <a:extLst xmlns:a="http://schemas.openxmlformats.org/drawingml/2006/main">
              <a:ext uri="{FF2B5EF4-FFF2-40B4-BE49-F238E27FC236}">
                <a16:creationId xmlns:a16="http://schemas.microsoft.com/office/drawing/2014/main" id="{BB9C207A-F395-4CFB-AFF8-88138F9C8A7A}"/>
              </a:ext>
            </a:extLst>
          </p:cNvPr>
          <p:cNvSpPr>
            <a:spLocks xmlns:a="http://schemas.openxmlformats.org/drawingml/2006/main" noGrp="1"/>
          </p:cNvSpPr>
          <p:nvPr/>
        </p:nvSpPr>
        <p:spPr>
          <a:xfrm xmlns:a="http://schemas.openxmlformats.org/drawingml/2006/main">
            <a:off x="571500" y="1066800"/>
            <a:ext cx="13811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Nu: Zelfstandig werken</a:t>
            </a:r>
          </a:p>
        </p:txBody>
      </p:sp>
      <p:sp>
        <p:nvSpPr>
          <p:cNvPr id="6" name="Lesroute">
            <a:extLst xmlns:a="http://schemas.openxmlformats.org/drawingml/2006/main">
              <a:ext uri="{FF2B5EF4-FFF2-40B4-BE49-F238E27FC236}">
                <a16:creationId xmlns:a16="http://schemas.microsoft.com/office/drawing/2014/main" id="{FE8C3F94-C217-4AA8-AB7C-81A9037F7227}"/>
              </a:ext>
            </a:extLst>
          </p:cNvPr>
          <p:cNvSpPr>
            <a:spLocks xmlns:a="http://schemas.openxmlformats.org/drawingml/2006/main" noGrp="1"/>
          </p:cNvSpPr>
          <p:nvPr/>
        </p:nvSpPr>
        <p:spPr>
          <a:xfrm xmlns:a="http://schemas.openxmlformats.org/drawingml/2006/main">
            <a:off x="571500" y="1762125"/>
            <a:ext cx="7953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Lesroute</a:t>
            </a:r>
          </a:p>
        </p:txBody>
      </p:sp>
      <p:sp>
        <p:nvSpPr>
          <p:cNvPr id="7" name="route-number-1">
            <a:extLst xmlns:a="http://schemas.openxmlformats.org/drawingml/2006/main">
              <a:ext uri="{FF2B5EF4-FFF2-40B4-BE49-F238E27FC236}">
                <a16:creationId xmlns:a16="http://schemas.microsoft.com/office/drawing/2014/main" id="{4DE64086-EC1C-46DD-8372-98FBF6B1ABA5}"/>
              </a:ext>
            </a:extLst>
          </p:cNvPr>
          <p:cNvSpPr>
            <a:spLocks xmlns:a="http://schemas.openxmlformats.org/drawingml/2006/main" noGrp="1"/>
          </p:cNvSpPr>
          <p:nvPr/>
        </p:nvSpPr>
        <p:spPr>
          <a:xfrm xmlns:a="http://schemas.openxmlformats.org/drawingml/2006/main">
            <a:off x="571500" y="2324100"/>
            <a:ext cx="4572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1.</a:t>
            </a:r>
          </a:p>
        </p:txBody>
      </p:sp>
      <p:sp>
        <p:nvSpPr>
          <p:cNvPr id="8" name="route-1">
            <a:extLst xmlns:a="http://schemas.openxmlformats.org/drawingml/2006/main">
              <a:ext uri="{FF2B5EF4-FFF2-40B4-BE49-F238E27FC236}">
                <a16:creationId xmlns:a16="http://schemas.microsoft.com/office/drawing/2014/main" id="{4916F2B8-70C7-4303-852A-D864DB3F880C}"/>
              </a:ext>
            </a:extLst>
          </p:cNvPr>
          <p:cNvSpPr>
            <a:spLocks xmlns:a="http://schemas.openxmlformats.org/drawingml/2006/main" noGrp="1"/>
          </p:cNvSpPr>
          <p:nvPr/>
        </p:nvSpPr>
        <p:spPr>
          <a:xfrm xmlns:a="http://schemas.openxmlformats.org/drawingml/2006/main">
            <a:off x="1104900" y="2324100"/>
            <a:ext cx="74199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Jas in de kluis of aan de kapstok. Pak agenda, schrift, pen en rekenmachine.</a:t>
            </a:r>
          </a:p>
        </p:txBody>
      </p:sp>
      <p:sp>
        <p:nvSpPr>
          <p:cNvPr id="9" name="route-number-2">
            <a:extLst xmlns:a="http://schemas.openxmlformats.org/drawingml/2006/main">
              <a:ext uri="{FF2B5EF4-FFF2-40B4-BE49-F238E27FC236}">
                <a16:creationId xmlns:a16="http://schemas.microsoft.com/office/drawing/2014/main" id="{D92FB595-65CA-486C-9C47-AEBB4B281646}"/>
              </a:ext>
            </a:extLst>
          </p:cNvPr>
          <p:cNvSpPr>
            <a:spLocks xmlns:a="http://schemas.openxmlformats.org/drawingml/2006/main" noGrp="1"/>
          </p:cNvSpPr>
          <p:nvPr/>
        </p:nvSpPr>
        <p:spPr>
          <a:xfrm xmlns:a="http://schemas.openxmlformats.org/drawingml/2006/main">
            <a:off x="571500" y="3200400"/>
            <a:ext cx="457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2.</a:t>
            </a:r>
          </a:p>
        </p:txBody>
      </p:sp>
      <p:sp>
        <p:nvSpPr>
          <p:cNvPr id="10" name="route-2">
            <a:extLst xmlns:a="http://schemas.openxmlformats.org/drawingml/2006/main">
              <a:ext uri="{FF2B5EF4-FFF2-40B4-BE49-F238E27FC236}">
                <a16:creationId xmlns:a16="http://schemas.microsoft.com/office/drawing/2014/main" id="{D86F8AE9-A77E-4AA9-9B3D-2F8C78E90AC3}"/>
              </a:ext>
            </a:extLst>
          </p:cNvPr>
          <p:cNvSpPr>
            <a:spLocks xmlns:a="http://schemas.openxmlformats.org/drawingml/2006/main" noGrp="1"/>
          </p:cNvSpPr>
          <p:nvPr/>
        </p:nvSpPr>
        <p:spPr>
          <a:xfrm xmlns:a="http://schemas.openxmlformats.org/drawingml/2006/main">
            <a:off x="1104900" y="3200400"/>
            <a:ext cx="74199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Maak de startopdracht.</a:t>
            </a:r>
          </a:p>
        </p:txBody>
      </p:sp>
      <p:sp>
        <p:nvSpPr>
          <p:cNvPr id="11" name="route-number-3">
            <a:extLst xmlns:a="http://schemas.openxmlformats.org/drawingml/2006/main">
              <a:ext uri="{FF2B5EF4-FFF2-40B4-BE49-F238E27FC236}">
                <a16:creationId xmlns:a16="http://schemas.microsoft.com/office/drawing/2014/main" id="{F0B6DEF7-0357-4DDC-83CD-0866A95A5C2E}"/>
              </a:ext>
            </a:extLst>
          </p:cNvPr>
          <p:cNvSpPr>
            <a:spLocks xmlns:a="http://schemas.openxmlformats.org/drawingml/2006/main" noGrp="1"/>
          </p:cNvSpPr>
          <p:nvPr/>
        </p:nvSpPr>
        <p:spPr>
          <a:xfrm xmlns:a="http://schemas.openxmlformats.org/drawingml/2006/main">
            <a:off x="571500" y="3714750"/>
            <a:ext cx="457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3.</a:t>
            </a:r>
          </a:p>
        </p:txBody>
      </p:sp>
      <p:sp>
        <p:nvSpPr>
          <p:cNvPr id="12" name="route-3">
            <a:extLst xmlns:a="http://schemas.openxmlformats.org/drawingml/2006/main">
              <a:ext uri="{FF2B5EF4-FFF2-40B4-BE49-F238E27FC236}">
                <a16:creationId xmlns:a16="http://schemas.microsoft.com/office/drawing/2014/main" id="{443EA0DC-7A78-4FE4-9B1A-182D9048C259}"/>
              </a:ext>
            </a:extLst>
          </p:cNvPr>
          <p:cNvSpPr>
            <a:spLocks xmlns:a="http://schemas.openxmlformats.org/drawingml/2006/main" noGrp="1"/>
          </p:cNvSpPr>
          <p:nvPr/>
        </p:nvSpPr>
        <p:spPr>
          <a:xfrm xmlns:a="http://schemas.openxmlformats.org/drawingml/2006/main">
            <a:off x="1104900" y="3714750"/>
            <a:ext cx="74199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Korte herhaling en aanpak.</a:t>
            </a:r>
          </a:p>
        </p:txBody>
      </p:sp>
      <p:sp>
        <p:nvSpPr>
          <p:cNvPr id="13" name="route-number-4">
            <a:extLst xmlns:a="http://schemas.openxmlformats.org/drawingml/2006/main">
              <a:ext uri="{FF2B5EF4-FFF2-40B4-BE49-F238E27FC236}">
                <a16:creationId xmlns:a16="http://schemas.microsoft.com/office/drawing/2014/main" id="{3933D361-78A7-48FA-A80B-42ACAD3F2ECB}"/>
              </a:ext>
            </a:extLst>
          </p:cNvPr>
          <p:cNvSpPr>
            <a:spLocks xmlns:a="http://schemas.openxmlformats.org/drawingml/2006/main" noGrp="1"/>
          </p:cNvSpPr>
          <p:nvPr/>
        </p:nvSpPr>
        <p:spPr>
          <a:xfrm xmlns:a="http://schemas.openxmlformats.org/drawingml/2006/main">
            <a:off x="571500" y="4248150"/>
            <a:ext cx="4572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4.</a:t>
            </a:r>
          </a:p>
        </p:txBody>
      </p:sp>
      <p:sp>
        <p:nvSpPr>
          <p:cNvPr id="14" name="route-4">
            <a:extLst xmlns:a="http://schemas.openxmlformats.org/drawingml/2006/main">
              <a:ext uri="{FF2B5EF4-FFF2-40B4-BE49-F238E27FC236}">
                <a16:creationId xmlns:a16="http://schemas.microsoft.com/office/drawing/2014/main" id="{324F9FEE-1C77-4B99-9531-464D04DDB1D5}"/>
              </a:ext>
            </a:extLst>
          </p:cNvPr>
          <p:cNvSpPr>
            <a:spLocks xmlns:a="http://schemas.openxmlformats.org/drawingml/2006/main" noGrp="1"/>
          </p:cNvSpPr>
          <p:nvPr/>
        </p:nvSpPr>
        <p:spPr>
          <a:xfrm xmlns:a="http://schemas.openxmlformats.org/drawingml/2006/main">
            <a:off x="1104900" y="4248150"/>
            <a:ext cx="741997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Werk verder aan de gemengde opgaven, stel vragen en kijk je antwoorden na.</a:t>
            </a:r>
          </a:p>
        </p:txBody>
      </p:sp>
      <p:sp>
        <p:nvSpPr>
          <p:cNvPr id="15" name="route-number-5">
            <a:extLst xmlns:a="http://schemas.openxmlformats.org/drawingml/2006/main">
              <a:ext uri="{FF2B5EF4-FFF2-40B4-BE49-F238E27FC236}">
                <a16:creationId xmlns:a16="http://schemas.microsoft.com/office/drawing/2014/main" id="{27C0C2F0-D544-47B4-8BEA-270565A9B4F2}"/>
              </a:ext>
            </a:extLst>
          </p:cNvPr>
          <p:cNvSpPr>
            <a:spLocks xmlns:a="http://schemas.openxmlformats.org/drawingml/2006/main" noGrp="1"/>
          </p:cNvSpPr>
          <p:nvPr/>
        </p:nvSpPr>
        <p:spPr>
          <a:xfrm xmlns:a="http://schemas.openxmlformats.org/drawingml/2006/main">
            <a:off x="571500" y="5772150"/>
            <a:ext cx="4572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5.</a:t>
            </a:r>
          </a:p>
        </p:txBody>
      </p:sp>
      <p:sp>
        <p:nvSpPr>
          <p:cNvPr id="16" name="route-5">
            <a:extLst xmlns:a="http://schemas.openxmlformats.org/drawingml/2006/main">
              <a:ext uri="{FF2B5EF4-FFF2-40B4-BE49-F238E27FC236}">
                <a16:creationId xmlns:a16="http://schemas.microsoft.com/office/drawing/2014/main" id="{11D3CB0D-1BCB-4BD4-BFC9-EB3EA48944A6}"/>
              </a:ext>
            </a:extLst>
          </p:cNvPr>
          <p:cNvSpPr>
            <a:spLocks xmlns:a="http://schemas.openxmlformats.org/drawingml/2006/main" noGrp="1"/>
          </p:cNvSpPr>
          <p:nvPr/>
        </p:nvSpPr>
        <p:spPr>
          <a:xfrm xmlns:a="http://schemas.openxmlformats.org/drawingml/2006/main">
            <a:off x="1104900" y="5772150"/>
            <a:ext cx="741997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Klaar? Werk aan een ander vak. Geen devices.</a:t>
            </a:r>
          </a:p>
        </p:txBody>
      </p:sp>
      <p:sp>
        <p:nvSpPr>
          <p:cNvPr id="17" name="route-number-6">
            <a:extLst xmlns:a="http://schemas.openxmlformats.org/drawingml/2006/main">
              <a:ext uri="{FF2B5EF4-FFF2-40B4-BE49-F238E27FC236}">
                <a16:creationId xmlns:a16="http://schemas.microsoft.com/office/drawing/2014/main" id="{B7269991-1783-48C3-B9C6-65DF030E49BB}"/>
              </a:ext>
            </a:extLst>
          </p:cNvPr>
          <p:cNvSpPr>
            <a:spLocks xmlns:a="http://schemas.openxmlformats.org/drawingml/2006/main" noGrp="1"/>
          </p:cNvSpPr>
          <p:nvPr/>
        </p:nvSpPr>
        <p:spPr>
          <a:xfrm xmlns:a="http://schemas.openxmlformats.org/drawingml/2006/main">
            <a:off x="571500" y="6667500"/>
            <a:ext cx="457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6.</a:t>
            </a:r>
          </a:p>
        </p:txBody>
      </p:sp>
      <p:sp>
        <p:nvSpPr>
          <p:cNvPr id="18" name="route-6">
            <a:extLst xmlns:a="http://schemas.openxmlformats.org/drawingml/2006/main">
              <a:ext uri="{FF2B5EF4-FFF2-40B4-BE49-F238E27FC236}">
                <a16:creationId xmlns:a16="http://schemas.microsoft.com/office/drawing/2014/main" id="{F2232122-128C-4D90-8928-8CBEBC5772AE}"/>
              </a:ext>
            </a:extLst>
          </p:cNvPr>
          <p:cNvSpPr>
            <a:spLocks xmlns:a="http://schemas.openxmlformats.org/drawingml/2006/main" noGrp="1"/>
          </p:cNvSpPr>
          <p:nvPr/>
        </p:nvSpPr>
        <p:spPr>
          <a:xfrm xmlns:a="http://schemas.openxmlformats.org/drawingml/2006/main">
            <a:off x="1104900" y="6667500"/>
            <a:ext cx="74199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Bespreken van de doelopgave: opgave 5.</a:t>
            </a:r>
          </a:p>
        </p:txBody>
      </p:sp>
      <p:sp>
        <p:nvSpPr>
          <p:cNvPr id="19" name="route-number-7">
            <a:extLst xmlns:a="http://schemas.openxmlformats.org/drawingml/2006/main">
              <a:ext uri="{FF2B5EF4-FFF2-40B4-BE49-F238E27FC236}">
                <a16:creationId xmlns:a16="http://schemas.microsoft.com/office/drawing/2014/main" id="{AD0FC54D-A0D5-4F33-9973-F3A6B96BA7EE}"/>
              </a:ext>
            </a:extLst>
          </p:cNvPr>
          <p:cNvSpPr>
            <a:spLocks xmlns:a="http://schemas.openxmlformats.org/drawingml/2006/main" noGrp="1"/>
          </p:cNvSpPr>
          <p:nvPr/>
        </p:nvSpPr>
        <p:spPr>
          <a:xfrm xmlns:a="http://schemas.openxmlformats.org/drawingml/2006/main">
            <a:off x="571500" y="7372350"/>
            <a:ext cx="457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7.</a:t>
            </a:r>
          </a:p>
        </p:txBody>
      </p:sp>
      <p:sp>
        <p:nvSpPr>
          <p:cNvPr id="20" name="route-7">
            <a:extLst xmlns:a="http://schemas.openxmlformats.org/drawingml/2006/main">
              <a:ext uri="{FF2B5EF4-FFF2-40B4-BE49-F238E27FC236}">
                <a16:creationId xmlns:a16="http://schemas.microsoft.com/office/drawing/2014/main" id="{DC63B0AE-F1F6-4994-B6FE-05CFCBFFFC84}"/>
              </a:ext>
            </a:extLst>
          </p:cNvPr>
          <p:cNvSpPr>
            <a:spLocks xmlns:a="http://schemas.openxmlformats.org/drawingml/2006/main" noGrp="1"/>
          </p:cNvSpPr>
          <p:nvPr/>
        </p:nvSpPr>
        <p:spPr>
          <a:xfrm xmlns:a="http://schemas.openxmlformats.org/drawingml/2006/main">
            <a:off x="1104900" y="7372350"/>
            <a:ext cx="74199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Zet je huiswerk in je agenda.</a:t>
            </a:r>
          </a:p>
        </p:txBody>
      </p:sp>
      <p:sp>
        <p:nvSpPr>
          <p:cNvPr id="21" name="Lesdoelen">
            <a:extLst xmlns:a="http://schemas.openxmlformats.org/drawingml/2006/main">
              <a:ext uri="{FF2B5EF4-FFF2-40B4-BE49-F238E27FC236}">
                <a16:creationId xmlns:a16="http://schemas.microsoft.com/office/drawing/2014/main" id="{E2B0D23E-AD68-40D3-B177-32E7FF781392}"/>
              </a:ext>
            </a:extLst>
          </p:cNvPr>
          <p:cNvSpPr>
            <a:spLocks xmlns:a="http://schemas.openxmlformats.org/drawingml/2006/main" noGrp="1"/>
          </p:cNvSpPr>
          <p:nvPr/>
        </p:nvSpPr>
        <p:spPr>
          <a:xfrm xmlns:a="http://schemas.openxmlformats.org/drawingml/2006/main">
            <a:off x="9258300" y="1762125"/>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Lesdoelen</a:t>
            </a:r>
          </a:p>
        </p:txBody>
      </p:sp>
      <p:sp>
        <p:nvSpPr>
          <p:cNvPr id="22" name="overview-goals">
            <a:extLst xmlns:a="http://schemas.openxmlformats.org/drawingml/2006/main">
              <a:ext uri="{FF2B5EF4-FFF2-40B4-BE49-F238E27FC236}">
                <a16:creationId xmlns:a16="http://schemas.microsoft.com/office/drawing/2014/main" id="{F4121752-C742-411E-A46E-582FDC3AA523}"/>
              </a:ext>
            </a:extLst>
          </p:cNvPr>
          <p:cNvSpPr>
            <a:spLocks xmlns:a="http://schemas.openxmlformats.org/drawingml/2006/main" noGrp="1"/>
          </p:cNvSpPr>
          <p:nvPr/>
        </p:nvSpPr>
        <p:spPr>
          <a:xfrm xmlns:a="http://schemas.openxmlformats.org/drawingml/2006/main">
            <a:off x="9258300" y="2324100"/>
            <a:ext cx="5381625"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183247"/>
                </a:solidFill>
                <a:latin typeface="Arial"/>
                <a:ea typeface="Arial"/>
                <a:cs typeface="Arial"/>
              </a:defRPr>
            </a:pPr>
            <a:r>
              <a:rPr sz="2325" b="0">
                <a:solidFill>
                  <a:srgbClr val="183247"/>
                </a:solidFill>
                <a:latin typeface="Arial"/>
                <a:ea typeface="Arial"/>
                <a:cs typeface="Arial"/>
              </a:rPr>
              <a:t>Bronnen kiezen; Ev, Ei en Ek.</a:t>
            </a:r>
          </a:p>
          <a:p xmlns:a="http://schemas.openxmlformats.org/drawingml/2006/main">
            <a:pPr algn="l">
              <a:defRPr sz="2325" b="0">
                <a:solidFill>
                  <a:srgbClr val="183247"/>
                </a:solidFill>
                <a:latin typeface="Arial"/>
                <a:ea typeface="Arial"/>
                <a:cs typeface="Arial"/>
              </a:defRPr>
            </a:pPr>
            <a:r>
              <a:rPr sz="2325" b="0">
                <a:solidFill>
                  <a:srgbClr val="183247"/>
                </a:solidFill>
                <a:latin typeface="Arial"/>
                <a:ea typeface="Arial"/>
                <a:cs typeface="Arial"/>
              </a:rPr>
              <a:t>Omzet en vraag berekenen.</a:t>
            </a:r>
          </a:p>
          <a:p xmlns:a="http://schemas.openxmlformats.org/drawingml/2006/main">
            <a:pPr algn="l">
              <a:defRPr sz="2325" b="0">
                <a:solidFill>
                  <a:srgbClr val="183247"/>
                </a:solidFill>
                <a:latin typeface="Arial"/>
                <a:ea typeface="Arial"/>
                <a:cs typeface="Arial"/>
              </a:defRPr>
            </a:pPr>
            <a:r>
              <a:rPr sz="2325" b="0">
                <a:solidFill>
                  <a:srgbClr val="183247"/>
                </a:solidFill>
                <a:latin typeface="Arial"/>
                <a:ea typeface="Arial"/>
                <a:cs typeface="Arial"/>
              </a:rPr>
              <a:t>Een advies onderbouwen.</a:t>
            </a:r>
          </a:p>
        </p:txBody>
      </p:sp>
      <p:sp>
        <p:nvSpPr>
          <p:cNvPr id="23" name="">
            <a:extLst xmlns:a="http://schemas.openxmlformats.org/drawingml/2006/main">
              <a:ext uri="{FF2B5EF4-FFF2-40B4-BE49-F238E27FC236}">
                <a16:creationId xmlns:a16="http://schemas.microsoft.com/office/drawing/2014/main" id="{A6FA0F11-54D6-498E-A680-520B8D25A58D}"/>
              </a:ext>
            </a:extLst>
          </p:cNvPr>
          <p:cNvSpPr>
            <a:spLocks xmlns:a="http://schemas.openxmlformats.org/drawingml/2006/main" noGrp="1"/>
          </p:cNvSpPr>
          <p:nvPr/>
        </p:nvSpPr>
        <p:spPr>
          <a:xfrm xmlns:a="http://schemas.openxmlformats.org/drawingml/2006/main">
            <a:off x="9258300" y="3562350"/>
            <a:ext cx="5410200" cy="0"/>
          </a:xfrm>
          <a:prstGeom xmlns:a="http://schemas.openxmlformats.org/drawingml/2006/main" prst="line">
            <a:avLst/>
          </a:prstGeom>
          <a:ln xmlns:a="http://schemas.openxmlformats.org/drawingml/2006/main" w="19050">
            <a:solidFill>
              <a:srgbClr val="C6D2DB"/>
            </a:solidFill>
          </a:ln>
        </p:spPr>
      </p:sp>
      <p:sp>
        <p:nvSpPr>
          <p:cNvPr id="24" name="Startopdracht">
            <a:extLst xmlns:a="http://schemas.openxmlformats.org/drawingml/2006/main">
              <a:ext uri="{FF2B5EF4-FFF2-40B4-BE49-F238E27FC236}">
                <a16:creationId xmlns:a16="http://schemas.microsoft.com/office/drawing/2014/main" id="{B480F47B-94B4-423F-9082-D86585FF0945}"/>
              </a:ext>
            </a:extLst>
          </p:cNvPr>
          <p:cNvSpPr>
            <a:spLocks xmlns:a="http://schemas.openxmlformats.org/drawingml/2006/main" noGrp="1"/>
          </p:cNvSpPr>
          <p:nvPr/>
        </p:nvSpPr>
        <p:spPr>
          <a:xfrm xmlns:a="http://schemas.openxmlformats.org/drawingml/2006/main">
            <a:off x="9258300" y="3838575"/>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Startopdracht</a:t>
            </a:r>
          </a:p>
        </p:txBody>
      </p:sp>
      <p:sp>
        <p:nvSpPr>
          <p:cNvPr id="25" name="overview-start">
            <a:extLst xmlns:a="http://schemas.openxmlformats.org/drawingml/2006/main">
              <a:ext uri="{FF2B5EF4-FFF2-40B4-BE49-F238E27FC236}">
                <a16:creationId xmlns:a16="http://schemas.microsoft.com/office/drawing/2014/main" id="{0D55D81F-FA4F-489D-9B8E-87053ADB0B20}"/>
              </a:ext>
            </a:extLst>
          </p:cNvPr>
          <p:cNvSpPr>
            <a:spLocks xmlns:a="http://schemas.openxmlformats.org/drawingml/2006/main" noGrp="1"/>
          </p:cNvSpPr>
          <p:nvPr/>
        </p:nvSpPr>
        <p:spPr>
          <a:xfrm xmlns:a="http://schemas.openxmlformats.org/drawingml/2006/main">
            <a:off x="9258300" y="4371975"/>
            <a:ext cx="53816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0">
                <a:solidFill>
                  <a:srgbClr val="183247"/>
                </a:solidFill>
                <a:latin typeface="Arial"/>
                <a:ea typeface="Arial"/>
                <a:cs typeface="Arial"/>
              </a:defRPr>
            </a:pPr>
            <a:r>
              <a:rPr sz="2475" b="0">
                <a:solidFill>
                  <a:srgbClr val="183247"/>
                </a:solidFill>
                <a:latin typeface="Arial"/>
                <a:ea typeface="Arial"/>
                <a:cs typeface="Arial"/>
              </a:rPr>
              <a:t>Pagina 64</a:t>
            </a:r>
          </a:p>
          <a:p xmlns:a="http://schemas.openxmlformats.org/drawingml/2006/main">
            <a:pPr algn="l">
              <a:defRPr sz="2475" b="0">
                <a:solidFill>
                  <a:srgbClr val="183247"/>
                </a:solidFill>
                <a:latin typeface="Arial"/>
                <a:ea typeface="Arial"/>
                <a:cs typeface="Arial"/>
              </a:defRPr>
            </a:pPr>
            <a:r>
              <a:rPr sz="2475" b="0">
                <a:solidFill>
                  <a:srgbClr val="183247"/>
                </a:solidFill>
                <a:latin typeface="Arial"/>
                <a:ea typeface="Arial"/>
                <a:cs typeface="Arial"/>
              </a:rPr>
              <a:t>Opgave 1</a:t>
            </a:r>
          </a:p>
        </p:txBody>
      </p:sp>
      <p:sp>
        <p:nvSpPr>
          <p:cNvPr id="26" name="">
            <a:extLst xmlns:a="http://schemas.openxmlformats.org/drawingml/2006/main">
              <a:ext uri="{FF2B5EF4-FFF2-40B4-BE49-F238E27FC236}">
                <a16:creationId xmlns:a16="http://schemas.microsoft.com/office/drawing/2014/main" id="{8BC6824A-C511-475C-9BD3-56F273824712}"/>
              </a:ext>
            </a:extLst>
          </p:cNvPr>
          <p:cNvSpPr>
            <a:spLocks xmlns:a="http://schemas.openxmlformats.org/drawingml/2006/main" noGrp="1"/>
          </p:cNvSpPr>
          <p:nvPr/>
        </p:nvSpPr>
        <p:spPr>
          <a:xfrm xmlns:a="http://schemas.openxmlformats.org/drawingml/2006/main">
            <a:off x="9258300" y="5429250"/>
            <a:ext cx="5410200" cy="0"/>
          </a:xfrm>
          <a:prstGeom xmlns:a="http://schemas.openxmlformats.org/drawingml/2006/main" prst="line">
            <a:avLst/>
          </a:prstGeom>
          <a:ln xmlns:a="http://schemas.openxmlformats.org/drawingml/2006/main" w="19050">
            <a:solidFill>
              <a:srgbClr val="C6D2DB"/>
            </a:solidFill>
          </a:ln>
        </p:spPr>
      </p:sp>
      <p:sp>
        <p:nvSpPr>
          <p:cNvPr id="27" name="Huiswerk">
            <a:extLst xmlns:a="http://schemas.openxmlformats.org/drawingml/2006/main">
              <a:ext uri="{FF2B5EF4-FFF2-40B4-BE49-F238E27FC236}">
                <a16:creationId xmlns:a16="http://schemas.microsoft.com/office/drawing/2014/main" id="{1FD61913-28D6-471E-A385-754D7542CD9A}"/>
              </a:ext>
            </a:extLst>
          </p:cNvPr>
          <p:cNvSpPr>
            <a:spLocks xmlns:a="http://schemas.openxmlformats.org/drawingml/2006/main" noGrp="1"/>
          </p:cNvSpPr>
          <p:nvPr/>
        </p:nvSpPr>
        <p:spPr>
          <a:xfrm xmlns:a="http://schemas.openxmlformats.org/drawingml/2006/main">
            <a:off x="9258300" y="5629275"/>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Huiswerk</a:t>
            </a:r>
          </a:p>
        </p:txBody>
      </p:sp>
      <p:sp>
        <p:nvSpPr>
          <p:cNvPr id="28" name="overview-homework">
            <a:extLst xmlns:a="http://schemas.openxmlformats.org/drawingml/2006/main">
              <a:ext uri="{FF2B5EF4-FFF2-40B4-BE49-F238E27FC236}">
                <a16:creationId xmlns:a16="http://schemas.microsoft.com/office/drawing/2014/main" id="{AE0FB3CC-EB1E-44BA-904B-C800F4151700}"/>
              </a:ext>
            </a:extLst>
          </p:cNvPr>
          <p:cNvSpPr>
            <a:spLocks xmlns:a="http://schemas.openxmlformats.org/drawingml/2006/main" noGrp="1"/>
          </p:cNvSpPr>
          <p:nvPr/>
        </p:nvSpPr>
        <p:spPr>
          <a:xfrm xmlns:a="http://schemas.openxmlformats.org/drawingml/2006/main">
            <a:off x="9258300" y="6191250"/>
            <a:ext cx="5381625" cy="1752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§2.2.4 · Opgaven 1–7</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Gemengd: 1–4 · Doel: 5</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Bonus / denkertje: 6</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Hoofdstukcheck: 7</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Maken en nakijken</a:t>
            </a:r>
          </a:p>
        </p:txBody>
      </p:sp>
    </p:spTree>
    <p:extLst>
      <p:ext uri="{BB962C8B-B14F-4D97-AF65-F5344CB8AC3E}">
        <p14:creationId xmlns:p14="http://schemas.microsoft.com/office/powerpoint/2010/main" val="608448297"/>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Opgave 5 · StreamPlus">
            <a:extLst xmlns:a="http://schemas.openxmlformats.org/drawingml/2006/main">
              <a:ext uri="{FF2B5EF4-FFF2-40B4-BE49-F238E27FC236}">
                <a16:creationId xmlns:a16="http://schemas.microsoft.com/office/drawing/2014/main" id="{447EA41D-6C06-488B-85C4-073A301A0F06}"/>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Opgave 5 · StreamPlus</a:t>
            </a:r>
          </a:p>
        </p:txBody>
      </p:sp>
      <p:sp>
        <p:nvSpPr>
          <p:cNvPr id="2" name="">
            <a:extLst xmlns:a="http://schemas.openxmlformats.org/drawingml/2006/main">
              <a:ext uri="{FF2B5EF4-FFF2-40B4-BE49-F238E27FC236}">
                <a16:creationId xmlns:a16="http://schemas.microsoft.com/office/drawing/2014/main" id="{BC6E7220-66DE-4C72-8029-646820675F19}"/>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footer">
            <a:extLst xmlns:a="http://schemas.openxmlformats.org/drawingml/2006/main">
              <a:ext uri="{FF2B5EF4-FFF2-40B4-BE49-F238E27FC236}">
                <a16:creationId xmlns:a16="http://schemas.microsoft.com/office/drawing/2014/main" id="{4429DBCE-6E91-46F1-9B60-7689B928BDBC}"/>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§2.2.4 Gemengde opgaven · Opgave 5 · Boekpagina 66–67</a:t>
            </a:r>
          </a:p>
        </p:txBody>
      </p:sp>
      <p:sp>
        <p:nvSpPr>
          <p:cNvPr id="4" name="slide-number">
            <a:extLst xmlns:a="http://schemas.openxmlformats.org/drawingml/2006/main">
              <a:ext uri="{FF2B5EF4-FFF2-40B4-BE49-F238E27FC236}">
                <a16:creationId xmlns:a16="http://schemas.microsoft.com/office/drawing/2014/main" id="{90F8E601-B033-4A1F-A1E1-B5C3C3E29BAA}"/>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7</a:t>
            </a:r>
          </a:p>
        </p:txBody>
      </p:sp>
      <p:sp>
        <p:nvSpPr>
          <p:cNvPr id="5" name="StreamPlus onderzoekt één recente prijsverhoging en mogelijk">
            <a:extLst xmlns:a="http://schemas.openxmlformats.org/drawingml/2006/main">
              <a:ext uri="{FF2B5EF4-FFF2-40B4-BE49-F238E27FC236}">
                <a16:creationId xmlns:a16="http://schemas.microsoft.com/office/drawing/2014/main" id="{B715F3E5-4810-4BDC-9440-EB6DD3686301}"/>
              </a:ext>
            </a:extLst>
          </p:cNvPr>
          <p:cNvSpPr>
            <a:spLocks xmlns:a="http://schemas.openxmlformats.org/drawingml/2006/main" noGrp="1"/>
          </p:cNvSpPr>
          <p:nvPr/>
        </p:nvSpPr>
        <p:spPr>
          <a:xfrm xmlns:a="http://schemas.openxmlformats.org/drawingml/2006/main">
            <a:off x="571500" y="1733550"/>
            <a:ext cx="140970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1">
                <a:solidFill>
                  <a:srgbClr val="183247"/>
                </a:solidFill>
                <a:latin typeface="Arial"/>
                <a:ea typeface="Arial"/>
                <a:cs typeface="Arial"/>
              </a:defRPr>
            </a:pPr>
            <a:r>
              <a:rPr sz="2850" b="1">
                <a:solidFill>
                  <a:srgbClr val="183247"/>
                </a:solidFill>
                <a:latin typeface="Arial"/>
                <a:ea typeface="Arial"/>
                <a:cs typeface="Arial"/>
              </a:rPr>
              <a:t>StreamPlus onderzoekt één recente prijsverhoging en mogelijke vervolgstappen.</a:t>
            </a:r>
          </a:p>
        </p:txBody>
      </p:sp>
      <p:sp>
        <p:nvSpPr>
          <p:cNvPr id="6" name="Vragen 1–5: gebruik telkens alleen de aangegeven bron.&#10;Vraag">
            <a:extLst xmlns:a="http://schemas.openxmlformats.org/drawingml/2006/main">
              <a:ext uri="{FF2B5EF4-FFF2-40B4-BE49-F238E27FC236}">
                <a16:creationId xmlns:a16="http://schemas.microsoft.com/office/drawing/2014/main" id="{C2ADC363-0B8D-4F1E-BE6E-87037D700FA5}"/>
              </a:ext>
            </a:extLst>
          </p:cNvPr>
          <p:cNvSpPr>
            <a:spLocks xmlns:a="http://schemas.openxmlformats.org/drawingml/2006/main" noGrp="1"/>
          </p:cNvSpPr>
          <p:nvPr/>
        </p:nvSpPr>
        <p:spPr>
          <a:xfrm xmlns:a="http://schemas.openxmlformats.org/drawingml/2006/main">
            <a:off x="571500" y="2857500"/>
            <a:ext cx="140970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0">
                <a:solidFill>
                  <a:srgbClr val="17658A"/>
                </a:solidFill>
                <a:latin typeface="Arial"/>
                <a:ea typeface="Arial"/>
                <a:cs typeface="Arial"/>
              </a:defRPr>
            </a:pPr>
            <a:r>
              <a:rPr sz="2625" b="0">
                <a:solidFill>
                  <a:srgbClr val="17658A"/>
                </a:solidFill>
                <a:latin typeface="Arial"/>
                <a:ea typeface="Arial"/>
                <a:cs typeface="Arial"/>
              </a:rPr>
              <a:t>Vragen 1–5: gebruik telkens alleen de aangegeven bron.</a:t>
            </a:r>
          </a:p>
          <a:p xmlns:a="http://schemas.openxmlformats.org/drawingml/2006/main">
            <a:pPr algn="l">
              <a:defRPr sz="2625" b="0">
                <a:solidFill>
                  <a:srgbClr val="17658A"/>
                </a:solidFill>
                <a:latin typeface="Arial"/>
                <a:ea typeface="Arial"/>
                <a:cs typeface="Arial"/>
              </a:defRPr>
            </a:pPr>
            <a:r>
              <a:rPr sz="2625" b="0">
                <a:solidFill>
                  <a:srgbClr val="17658A"/>
                </a:solidFill>
                <a:latin typeface="Arial"/>
                <a:ea typeface="Arial"/>
                <a:cs typeface="Arial"/>
              </a:rPr>
              <a:t>Vraag 6: combineer minstens twee bronnen.</a:t>
            </a:r>
          </a:p>
        </p:txBody>
      </p:sp>
      <p:sp>
        <p:nvSpPr>
          <p:cNvPr id="7" name="Bron A · Standaardabonnement">
            <a:extLst xmlns:a="http://schemas.openxmlformats.org/drawingml/2006/main">
              <a:ext uri="{FF2B5EF4-FFF2-40B4-BE49-F238E27FC236}">
                <a16:creationId xmlns:a16="http://schemas.microsoft.com/office/drawing/2014/main" id="{13F2CCD7-615A-40B1-BA53-24887512D56A}"/>
              </a:ext>
            </a:extLst>
          </p:cNvPr>
          <p:cNvSpPr>
            <a:spLocks xmlns:a="http://schemas.openxmlformats.org/drawingml/2006/main" noGrp="1"/>
          </p:cNvSpPr>
          <p:nvPr/>
        </p:nvSpPr>
        <p:spPr>
          <a:xfrm xmlns:a="http://schemas.openxmlformats.org/drawingml/2006/main">
            <a:off x="571500" y="4124325"/>
            <a:ext cx="14097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1">
                <a:solidFill>
                  <a:srgbClr val="183247"/>
                </a:solidFill>
                <a:latin typeface="Arial"/>
                <a:ea typeface="Arial"/>
                <a:cs typeface="Arial"/>
              </a:defRPr>
            </a:pPr>
            <a:r>
              <a:rPr sz="2850" b="1">
                <a:solidFill>
                  <a:srgbClr val="183247"/>
                </a:solidFill>
                <a:latin typeface="Arial"/>
                <a:ea typeface="Arial"/>
                <a:cs typeface="Arial"/>
              </a:rPr>
              <a:t>Bron A · Standaardabonnement</a:t>
            </a:r>
          </a:p>
        </p:txBody>
      </p:sp>
      <p:graphicFrame>
        <p:nvGraphicFramePr>
          <p:cNvPr id="17" name=""/>
          <p:cNvGraphicFramePr/>
          <p:nvPr/>
        </p:nvGraphicFramePr>
        <p:xfrm>
          <a:off xmlns:a="http://schemas.openxmlformats.org/drawingml/2006/main" x="571500" y="4867275"/>
          <a:ext xmlns:a="http://schemas.openxmlformats.org/drawingml/2006/main" cx="14097000" cy="2333625"/>
        </p:xfrm>
        <a:graphic xmlns:a="http://schemas.openxmlformats.org/drawingml/2006/main">
          <a:graphicData uri="http://schemas.openxmlformats.org/drawingml/2006/table">
            <a:tbl>
              <a:tblPr/>
              <a:tblGrid>
                <a:gridCol w="7429500"/>
                <a:gridCol w="3333750"/>
                <a:gridCol w="3333750"/>
              </a:tblGrid>
              <a:tr h="583406">
                <a:tc>
                  <a:txBody>
                    <a:bodyPr lIns="171450" tIns="95250" rIns="152400" bIns="95250"/>
                    <a:lstStyle/>
                    <a:p>
                      <a:r>
                        <a:rPr sz="2400" b="1">
                          <a:solidFill>
                            <a:srgbClr val="FFFFFF"/>
                          </a:solidFill>
                          <a:latin typeface="Arial"/>
                          <a:ea typeface="Arial"/>
                          <a:cs typeface="Arial"/>
                        </a:rPr>
                        <a:t>Gegeven</a:t>
                      </a:r>
                    </a:p>
                  </a:txBody>
                  <a:tcPr marL="91440" marR="91440" marT="45720" marB="45720" anchor="ctr">
                    <a:solidFill>
                      <a:srgbClr val="183247"/>
                    </a:solidFill>
                  </a:tcPr>
                </a:tc>
                <a:tc>
                  <a:txBody>
                    <a:bodyPr lIns="171450" tIns="95250" rIns="152400" bIns="95250"/>
                    <a:lstStyle/>
                    <a:p>
                      <a:r>
                        <a:rPr sz="2400" b="1">
                          <a:solidFill>
                            <a:srgbClr val="FFFFFF"/>
                          </a:solidFill>
                          <a:latin typeface="Arial"/>
                          <a:ea typeface="Arial"/>
                          <a:cs typeface="Arial"/>
                        </a:rPr>
                        <a:t>Oud</a:t>
                      </a:r>
                    </a:p>
                  </a:txBody>
                  <a:tcPr marL="91440" marR="91440" marT="45720" marB="45720" anchor="ctr">
                    <a:solidFill>
                      <a:srgbClr val="183247"/>
                    </a:solidFill>
                  </a:tcPr>
                </a:tc>
                <a:tc>
                  <a:txBody>
                    <a:bodyPr lIns="171450" tIns="95250" rIns="152400" bIns="95250"/>
                    <a:lstStyle/>
                    <a:p>
                      <a:r>
                        <a:rPr sz="2400" b="1">
                          <a:solidFill>
                            <a:srgbClr val="FFFFFF"/>
                          </a:solidFill>
                          <a:latin typeface="Arial"/>
                          <a:ea typeface="Arial"/>
                          <a:cs typeface="Arial"/>
                        </a:rPr>
                        <a:t>Nieuw</a:t>
                      </a:r>
                    </a:p>
                  </a:txBody>
                  <a:tcPr marL="91440" marR="91440" marT="45720" marB="45720" anchor="ctr">
                    <a:solidFill>
                      <a:srgbClr val="183247"/>
                    </a:solidFill>
                  </a:tcPr>
                </a:tc>
              </a:tr>
              <a:tr h="583406">
                <a:tc>
                  <a:txBody>
                    <a:bodyPr lIns="171450" tIns="95250" rIns="152400" bIns="95250"/>
                    <a:lstStyle/>
                    <a:p>
                      <a:r>
                        <a:rPr sz="2400" b="0">
                          <a:solidFill>
                            <a:srgbClr val="183247"/>
                          </a:solidFill>
                          <a:latin typeface="Arial"/>
                          <a:ea typeface="Arial"/>
                          <a:cs typeface="Arial"/>
                        </a:rPr>
                        <a:t>Prijs Standaard</a:t>
                      </a:r>
                    </a:p>
                  </a:txBody>
                  <a:tcPr marL="91440" marR="91440" marT="45720" marB="45720" anchor="ctr">
                    <a:solidFill>
                      <a:srgbClr val="FFFFFF"/>
                    </a:solidFill>
                  </a:tcPr>
                </a:tc>
                <a:tc>
                  <a:txBody>
                    <a:bodyPr lIns="171450" tIns="95250" rIns="152400" bIns="95250"/>
                    <a:lstStyle/>
                    <a:p>
                      <a:r>
                        <a:rPr sz="2400" b="0">
                          <a:solidFill>
                            <a:srgbClr val="183247"/>
                          </a:solidFill>
                          <a:latin typeface="Arial"/>
                          <a:ea typeface="Arial"/>
                          <a:cs typeface="Arial"/>
                        </a:rPr>
                        <a:t>€ 10</a:t>
                      </a:r>
                    </a:p>
                  </a:txBody>
                  <a:tcPr marL="91440" marR="91440" marT="45720" marB="45720" anchor="ctr">
                    <a:solidFill>
                      <a:srgbClr val="FFFFFF"/>
                    </a:solidFill>
                  </a:tcPr>
                </a:tc>
                <a:tc>
                  <a:txBody>
                    <a:bodyPr lIns="171450" tIns="95250" rIns="152400" bIns="95250"/>
                    <a:lstStyle/>
                    <a:p>
                      <a:r>
                        <a:rPr sz="2400" b="0">
                          <a:solidFill>
                            <a:srgbClr val="183247"/>
                          </a:solidFill>
                          <a:latin typeface="Arial"/>
                          <a:ea typeface="Arial"/>
                          <a:cs typeface="Arial"/>
                        </a:rPr>
                        <a:t>€ 12</a:t>
                      </a:r>
                    </a:p>
                  </a:txBody>
                  <a:tcPr marL="91440" marR="91440" marT="45720" marB="45720" anchor="ctr">
                    <a:solidFill>
                      <a:srgbClr val="FFFFFF"/>
                    </a:solidFill>
                  </a:tcPr>
                </a:tc>
              </a:tr>
              <a:tr h="583406">
                <a:tc>
                  <a:txBody>
                    <a:bodyPr lIns="171450" tIns="95250" rIns="152400" bIns="95250"/>
                    <a:lstStyle/>
                    <a:p>
                      <a:r>
                        <a:rPr sz="2400" b="0">
                          <a:solidFill>
                            <a:srgbClr val="183247"/>
                          </a:solidFill>
                          <a:latin typeface="Arial"/>
                          <a:ea typeface="Arial"/>
                          <a:cs typeface="Arial"/>
                        </a:rPr>
                        <a:t>Abonnees</a:t>
                      </a:r>
                    </a:p>
                  </a:txBody>
                  <a:tcPr marL="91440" marR="91440" marT="45720" marB="45720" anchor="ctr">
                    <a:solidFill>
                      <a:srgbClr val="EFF4F7"/>
                    </a:solidFill>
                  </a:tcPr>
                </a:tc>
                <a:tc>
                  <a:txBody>
                    <a:bodyPr lIns="171450" tIns="95250" rIns="152400" bIns="95250"/>
                    <a:lstStyle/>
                    <a:p>
                      <a:r>
                        <a:rPr sz="2400" b="0">
                          <a:solidFill>
                            <a:srgbClr val="183247"/>
                          </a:solidFill>
                          <a:latin typeface="Arial"/>
                          <a:ea typeface="Arial"/>
                          <a:cs typeface="Arial"/>
                        </a:rPr>
                        <a:t>50.000</a:t>
                      </a:r>
                    </a:p>
                  </a:txBody>
                  <a:tcPr marL="91440" marR="91440" marT="45720" marB="45720" anchor="ctr">
                    <a:solidFill>
                      <a:srgbClr val="EFF4F7"/>
                    </a:solidFill>
                  </a:tcPr>
                </a:tc>
                <a:tc>
                  <a:txBody>
                    <a:bodyPr lIns="171450" tIns="95250" rIns="152400" bIns="95250"/>
                    <a:lstStyle/>
                    <a:p>
                      <a:r>
                        <a:rPr sz="2400" b="0">
                          <a:solidFill>
                            <a:srgbClr val="183247"/>
                          </a:solidFill>
                          <a:latin typeface="Arial"/>
                          <a:ea typeface="Arial"/>
                          <a:cs typeface="Arial"/>
                        </a:rPr>
                        <a:t>43.000</a:t>
                      </a:r>
                    </a:p>
                  </a:txBody>
                  <a:tcPr marL="91440" marR="91440" marT="45720" marB="45720" anchor="ctr">
                    <a:solidFill>
                      <a:srgbClr val="EFF4F7"/>
                    </a:solidFill>
                  </a:tcPr>
                </a:tc>
              </a:tr>
              <a:tr h="583406">
                <a:tc>
                  <a:txBody>
                    <a:bodyPr lIns="171450" tIns="95250" rIns="152400" bIns="95250"/>
                    <a:lstStyle/>
                    <a:p>
                      <a:r>
                        <a:rPr sz="2400" b="0">
                          <a:solidFill>
                            <a:srgbClr val="183247"/>
                          </a:solidFill>
                          <a:latin typeface="Arial"/>
                          <a:ea typeface="Arial"/>
                          <a:cs typeface="Arial"/>
                        </a:rPr>
                        <a:t>Appscore</a:t>
                      </a:r>
                    </a:p>
                  </a:txBody>
                  <a:tcPr marL="91440" marR="91440" marT="45720" marB="45720" anchor="ctr">
                    <a:solidFill>
                      <a:srgbClr val="FFFFFF"/>
                    </a:solidFill>
                  </a:tcPr>
                </a:tc>
                <a:tc>
                  <a:txBody>
                    <a:bodyPr lIns="171450" tIns="95250" rIns="152400" bIns="95250"/>
                    <a:lstStyle/>
                    <a:p>
                      <a:r>
                        <a:rPr sz="2400" b="0">
                          <a:solidFill>
                            <a:srgbClr val="183247"/>
                          </a:solidFill>
                          <a:latin typeface="Arial"/>
                          <a:ea typeface="Arial"/>
                          <a:cs typeface="Arial"/>
                        </a:rPr>
                        <a:t>4,6/5</a:t>
                      </a:r>
                    </a:p>
                  </a:txBody>
                  <a:tcPr marL="91440" marR="91440" marT="45720" marB="45720" anchor="ctr">
                    <a:solidFill>
                      <a:srgbClr val="FFFFFF"/>
                    </a:solidFill>
                  </a:tcPr>
                </a:tc>
                <a:tc>
                  <a:txBody>
                    <a:bodyPr lIns="171450" tIns="95250" rIns="152400" bIns="95250"/>
                    <a:lstStyle/>
                    <a:p>
                      <a:r>
                        <a:rPr sz="2400" b="0">
                          <a:solidFill>
                            <a:srgbClr val="183247"/>
                          </a:solidFill>
                          <a:latin typeface="Arial"/>
                          <a:ea typeface="Arial"/>
                          <a:cs typeface="Arial"/>
                        </a:rPr>
                        <a:t>4,6/5</a:t>
                      </a:r>
                    </a:p>
                  </a:txBody>
                  <a:tcPr marL="91440" marR="91440" marT="45720" marB="45720" anchor="ctr">
                    <a:solidFill>
                      <a:srgbClr val="FFFFFF"/>
                    </a:solidFill>
                  </a:tcPr>
                </a:tc>
              </a:tr>
            </a:tbl>
          </a:graphicData>
        </a:graphic>
      </p:graphicFrame>
      <p:sp>
        <p:nvSpPr>
          <p:cNvPr id="9" name="Gegeven: Ev = −0,7 · Prijzen per maand per abonnement · TO p">
            <a:extLst xmlns:a="http://schemas.openxmlformats.org/drawingml/2006/main">
              <a:ext uri="{FF2B5EF4-FFF2-40B4-BE49-F238E27FC236}">
                <a16:creationId xmlns:a16="http://schemas.microsoft.com/office/drawing/2014/main" id="{D417A1CC-0132-4CFC-983C-1AA6B775A067}"/>
              </a:ext>
            </a:extLst>
          </p:cNvPr>
          <p:cNvSpPr>
            <a:spLocks xmlns:a="http://schemas.openxmlformats.org/drawingml/2006/main" noGrp="1"/>
          </p:cNvSpPr>
          <p:nvPr/>
        </p:nvSpPr>
        <p:spPr>
          <a:xfrm xmlns:a="http://schemas.openxmlformats.org/drawingml/2006/main">
            <a:off x="571500" y="7486650"/>
            <a:ext cx="14097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17658A"/>
                </a:solidFill>
                <a:latin typeface="Arial"/>
                <a:ea typeface="Arial"/>
                <a:cs typeface="Arial"/>
              </a:defRPr>
            </a:pPr>
            <a:r>
              <a:rPr sz="2325" b="1">
                <a:solidFill>
                  <a:srgbClr val="17658A"/>
                </a:solidFill>
                <a:latin typeface="Arial"/>
                <a:ea typeface="Arial"/>
                <a:cs typeface="Arial"/>
              </a:rPr>
              <a:t>Gegeven: Ev = −0,7 · Prijzen per maand per abonnement · TO per maand</a:t>
            </a:r>
          </a:p>
        </p:txBody>
      </p:sp>
    </p:spTree>
    <p:extLst>
      <p:ext uri="{BB962C8B-B14F-4D97-AF65-F5344CB8AC3E}">
        <p14:creationId xmlns:p14="http://schemas.microsoft.com/office/powerpoint/2010/main" val="1573342022"/>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Opgave 5 · Bronnen B en C">
            <a:extLst xmlns:a="http://schemas.openxmlformats.org/drawingml/2006/main">
              <a:ext uri="{FF2B5EF4-FFF2-40B4-BE49-F238E27FC236}">
                <a16:creationId xmlns:a16="http://schemas.microsoft.com/office/drawing/2014/main" id="{D3337EC4-6DFF-4D9A-A344-D8189C138C5C}"/>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Opgave 5 · Bronnen B en C</a:t>
            </a:r>
          </a:p>
        </p:txBody>
      </p:sp>
      <p:sp>
        <p:nvSpPr>
          <p:cNvPr id="2" name="">
            <a:extLst xmlns:a="http://schemas.openxmlformats.org/drawingml/2006/main">
              <a:ext uri="{FF2B5EF4-FFF2-40B4-BE49-F238E27FC236}">
                <a16:creationId xmlns:a16="http://schemas.microsoft.com/office/drawing/2014/main" id="{6AAD6DEE-505B-4E63-9566-20427E3EAF6A}"/>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footer">
            <a:extLst xmlns:a="http://schemas.openxmlformats.org/drawingml/2006/main">
              <a:ext uri="{FF2B5EF4-FFF2-40B4-BE49-F238E27FC236}">
                <a16:creationId xmlns:a16="http://schemas.microsoft.com/office/drawing/2014/main" id="{1C224847-AF17-4B3D-ADB6-205B0AB3D703}"/>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§2.2.4 Gemengde opgaven · Opgave 5 · Boekpagina 66–67</a:t>
            </a:r>
          </a:p>
        </p:txBody>
      </p:sp>
      <p:sp>
        <p:nvSpPr>
          <p:cNvPr id="4" name="slide-number">
            <a:extLst xmlns:a="http://schemas.openxmlformats.org/drawingml/2006/main">
              <a:ext uri="{FF2B5EF4-FFF2-40B4-BE49-F238E27FC236}">
                <a16:creationId xmlns:a16="http://schemas.microsoft.com/office/drawing/2014/main" id="{F7771011-46F5-4776-8CCD-F73CD2BEF221}"/>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8</a:t>
            </a:r>
          </a:p>
        </p:txBody>
      </p:sp>
      <p:sp>
        <p:nvSpPr>
          <p:cNvPr id="5" name="Bron B · Inkomen en gevraagde hoeveelheid">
            <a:extLst xmlns:a="http://schemas.openxmlformats.org/drawingml/2006/main">
              <a:ext uri="{FF2B5EF4-FFF2-40B4-BE49-F238E27FC236}">
                <a16:creationId xmlns:a16="http://schemas.microsoft.com/office/drawing/2014/main" id="{FF2447D5-443C-4AD3-8576-EE4FDFC71693}"/>
              </a:ext>
            </a:extLst>
          </p:cNvPr>
          <p:cNvSpPr>
            <a:spLocks xmlns:a="http://schemas.openxmlformats.org/drawingml/2006/main" noGrp="1"/>
          </p:cNvSpPr>
          <p:nvPr/>
        </p:nvSpPr>
        <p:spPr>
          <a:xfrm xmlns:a="http://schemas.openxmlformats.org/drawingml/2006/main">
            <a:off x="571500" y="1752600"/>
            <a:ext cx="14097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1">
                <a:solidFill>
                  <a:srgbClr val="17658A"/>
                </a:solidFill>
                <a:latin typeface="Arial"/>
                <a:ea typeface="Arial"/>
                <a:cs typeface="Arial"/>
              </a:defRPr>
            </a:pPr>
            <a:r>
              <a:rPr sz="2850" b="1">
                <a:solidFill>
                  <a:srgbClr val="17658A"/>
                </a:solidFill>
                <a:latin typeface="Arial"/>
                <a:ea typeface="Arial"/>
                <a:cs typeface="Arial"/>
              </a:rPr>
              <a:t>Bron B · Inkomen en gevraagde hoeveelheid</a:t>
            </a:r>
          </a:p>
        </p:txBody>
      </p:sp>
      <p:graphicFrame>
        <p:nvGraphicFramePr>
          <p:cNvPr id="14" name=""/>
          <p:cNvGraphicFramePr/>
          <p:nvPr/>
        </p:nvGraphicFramePr>
        <p:xfrm>
          <a:off xmlns:a="http://schemas.openxmlformats.org/drawingml/2006/main" x="571500" y="2524125"/>
          <a:ext xmlns:a="http://schemas.openxmlformats.org/drawingml/2006/main" cx="14097000" cy="2000250"/>
        </p:xfrm>
        <a:graphic xmlns:a="http://schemas.openxmlformats.org/drawingml/2006/main">
          <a:graphicData uri="http://schemas.openxmlformats.org/drawingml/2006/table">
            <a:tbl>
              <a:tblPr/>
              <a:tblGrid>
                <a:gridCol w="7429500"/>
                <a:gridCol w="3333750"/>
                <a:gridCol w="3333750"/>
              </a:tblGrid>
              <a:tr h="666750">
                <a:tc>
                  <a:txBody>
                    <a:bodyPr lIns="171450" tIns="95250" rIns="152400" bIns="95250"/>
                    <a:lstStyle/>
                    <a:p>
                      <a:r>
                        <a:rPr sz="2475" b="1">
                          <a:solidFill>
                            <a:srgbClr val="FFFFFF"/>
                          </a:solidFill>
                          <a:latin typeface="Arial"/>
                          <a:ea typeface="Arial"/>
                          <a:cs typeface="Arial"/>
                        </a:rPr>
                        <a:t>Verandering</a:t>
                      </a:r>
                    </a:p>
                  </a:txBody>
                  <a:tcPr marL="91440" marR="91440" marT="45720" marB="45720" anchor="ctr">
                    <a:solidFill>
                      <a:srgbClr val="183247"/>
                    </a:solidFill>
                  </a:tcPr>
                </a:tc>
                <a:tc>
                  <a:txBody>
                    <a:bodyPr lIns="171450" tIns="95250" rIns="152400" bIns="95250"/>
                    <a:lstStyle/>
                    <a:p>
                      <a:r>
                        <a:rPr sz="2475" b="1">
                          <a:solidFill>
                            <a:srgbClr val="FFFFFF"/>
                          </a:solidFill>
                          <a:latin typeface="Arial"/>
                          <a:ea typeface="Arial"/>
                          <a:cs typeface="Arial"/>
                        </a:rPr>
                        <a:t>Premium</a:t>
                      </a:r>
                    </a:p>
                  </a:txBody>
                  <a:tcPr marL="91440" marR="91440" marT="45720" marB="45720" anchor="ctr">
                    <a:solidFill>
                      <a:srgbClr val="183247"/>
                    </a:solidFill>
                  </a:tcPr>
                </a:tc>
                <a:tc>
                  <a:txBody>
                    <a:bodyPr lIns="171450" tIns="95250" rIns="152400" bIns="95250"/>
                    <a:lstStyle/>
                    <a:p>
                      <a:r>
                        <a:rPr sz="2475" b="1">
                          <a:solidFill>
                            <a:srgbClr val="FFFFFF"/>
                          </a:solidFill>
                          <a:latin typeface="Arial"/>
                          <a:ea typeface="Arial"/>
                          <a:cs typeface="Arial"/>
                        </a:rPr>
                        <a:t>Budget</a:t>
                      </a:r>
                    </a:p>
                  </a:txBody>
                  <a:tcPr marL="91440" marR="91440" marT="45720" marB="45720" anchor="ctr">
                    <a:solidFill>
                      <a:srgbClr val="183247"/>
                    </a:solidFill>
                  </a:tcPr>
                </a:tc>
              </a:tr>
              <a:tr h="666750">
                <a:tc>
                  <a:txBody>
                    <a:bodyPr lIns="171450" tIns="95250" rIns="152400" bIns="95250"/>
                    <a:lstStyle/>
                    <a:p>
                      <a:r>
                        <a:rPr sz="2475" b="0">
                          <a:solidFill>
                            <a:srgbClr val="183247"/>
                          </a:solidFill>
                          <a:latin typeface="Arial"/>
                          <a:ea typeface="Arial"/>
                          <a:cs typeface="Arial"/>
                        </a:rPr>
                        <a:t>Inkomen</a:t>
                      </a:r>
                    </a:p>
                  </a:txBody>
                  <a:tcPr marL="91440" marR="91440" marT="45720" marB="45720" anchor="ctr">
                    <a:solidFill>
                      <a:srgbClr val="FFFFFF"/>
                    </a:solidFill>
                  </a:tcPr>
                </a:tc>
                <a:tc>
                  <a:txBody>
                    <a:bodyPr lIns="171450" tIns="95250" rIns="152400" bIns="95250"/>
                    <a:lstStyle/>
                    <a:p>
                      <a:r>
                        <a:rPr sz="2475" b="0">
                          <a:solidFill>
                            <a:srgbClr val="183247"/>
                          </a:solidFill>
                          <a:latin typeface="Arial"/>
                          <a:ea typeface="Arial"/>
                          <a:cs typeface="Arial"/>
                        </a:rPr>
                        <a:t>+8%</a:t>
                      </a:r>
                    </a:p>
                  </a:txBody>
                  <a:tcPr marL="91440" marR="91440" marT="45720" marB="45720" anchor="ctr">
                    <a:solidFill>
                      <a:srgbClr val="FFFFFF"/>
                    </a:solidFill>
                  </a:tcPr>
                </a:tc>
                <a:tc>
                  <a:txBody>
                    <a:bodyPr lIns="171450" tIns="95250" rIns="152400" bIns="95250"/>
                    <a:lstStyle/>
                    <a:p>
                      <a:r>
                        <a:rPr sz="2475" b="0">
                          <a:solidFill>
                            <a:srgbClr val="183247"/>
                          </a:solidFill>
                          <a:latin typeface="Arial"/>
                          <a:ea typeface="Arial"/>
                          <a:cs typeface="Arial"/>
                        </a:rPr>
                        <a:t>+8%</a:t>
                      </a:r>
                    </a:p>
                  </a:txBody>
                  <a:tcPr marL="91440" marR="91440" marT="45720" marB="45720" anchor="ctr">
                    <a:solidFill>
                      <a:srgbClr val="FFFFFF"/>
                    </a:solidFill>
                  </a:tcPr>
                </a:tc>
              </a:tr>
              <a:tr h="666750">
                <a:tc>
                  <a:txBody>
                    <a:bodyPr lIns="171450" tIns="95250" rIns="152400" bIns="95250"/>
                    <a:lstStyle/>
                    <a:p>
                      <a:r>
                        <a:rPr sz="2475" b="0">
                          <a:solidFill>
                            <a:srgbClr val="183247"/>
                          </a:solidFill>
                          <a:latin typeface="Arial"/>
                          <a:ea typeface="Arial"/>
                          <a:cs typeface="Arial"/>
                        </a:rPr>
                        <a:t>Gevraagde hoeveelheid</a:t>
                      </a:r>
                    </a:p>
                  </a:txBody>
                  <a:tcPr marL="91440" marR="91440" marT="45720" marB="45720" anchor="ctr">
                    <a:solidFill>
                      <a:srgbClr val="EFF4F7"/>
                    </a:solidFill>
                  </a:tcPr>
                </a:tc>
                <a:tc>
                  <a:txBody>
                    <a:bodyPr lIns="171450" tIns="95250" rIns="152400" bIns="95250"/>
                    <a:lstStyle/>
                    <a:p>
                      <a:r>
                        <a:rPr sz="2475" b="0">
                          <a:solidFill>
                            <a:srgbClr val="183247"/>
                          </a:solidFill>
                          <a:latin typeface="Arial"/>
                          <a:ea typeface="Arial"/>
                          <a:cs typeface="Arial"/>
                        </a:rPr>
                        <a:t>+15%</a:t>
                      </a:r>
                    </a:p>
                  </a:txBody>
                  <a:tcPr marL="91440" marR="91440" marT="45720" marB="45720" anchor="ctr">
                    <a:solidFill>
                      <a:srgbClr val="EFF4F7"/>
                    </a:solidFill>
                  </a:tcPr>
                </a:tc>
                <a:tc>
                  <a:txBody>
                    <a:bodyPr lIns="171450" tIns="95250" rIns="152400" bIns="95250"/>
                    <a:lstStyle/>
                    <a:p>
                      <a:r>
                        <a:rPr sz="2475" b="0">
                          <a:solidFill>
                            <a:srgbClr val="183247"/>
                          </a:solidFill>
                          <a:latin typeface="Arial"/>
                          <a:ea typeface="Arial"/>
                          <a:cs typeface="Arial"/>
                        </a:rPr>
                        <a:t>−4%</a:t>
                      </a:r>
                    </a:p>
                  </a:txBody>
                  <a:tcPr marL="91440" marR="91440" marT="45720" marB="45720" anchor="ctr">
                    <a:solidFill>
                      <a:srgbClr val="EFF4F7"/>
                    </a:solidFill>
                  </a:tcPr>
                </a:tc>
              </a:tr>
            </a:tbl>
          </a:graphicData>
        </a:graphic>
      </p:graphicFrame>
      <p:sp>
        <p:nvSpPr>
          <p:cNvPr id="7" name="Bron C · Prijs van een concurrerend abonnement">
            <a:extLst xmlns:a="http://schemas.openxmlformats.org/drawingml/2006/main">
              <a:ext uri="{FF2B5EF4-FFF2-40B4-BE49-F238E27FC236}">
                <a16:creationId xmlns:a16="http://schemas.microsoft.com/office/drawing/2014/main" id="{8D2FFB8C-F1C1-4848-B81B-5D7D0CAEB31C}"/>
              </a:ext>
            </a:extLst>
          </p:cNvPr>
          <p:cNvSpPr>
            <a:spLocks xmlns:a="http://schemas.openxmlformats.org/drawingml/2006/main" noGrp="1"/>
          </p:cNvSpPr>
          <p:nvPr/>
        </p:nvSpPr>
        <p:spPr>
          <a:xfrm xmlns:a="http://schemas.openxmlformats.org/drawingml/2006/main">
            <a:off x="571500" y="5086350"/>
            <a:ext cx="14097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1">
                <a:solidFill>
                  <a:srgbClr val="17658A"/>
                </a:solidFill>
                <a:latin typeface="Arial"/>
                <a:ea typeface="Arial"/>
                <a:cs typeface="Arial"/>
              </a:defRPr>
            </a:pPr>
            <a:r>
              <a:rPr sz="2850" b="1">
                <a:solidFill>
                  <a:srgbClr val="17658A"/>
                </a:solidFill>
                <a:latin typeface="Arial"/>
                <a:ea typeface="Arial"/>
                <a:cs typeface="Arial"/>
              </a:rPr>
              <a:t>Bron C · Prijs van een concurrerend abonnement</a:t>
            </a:r>
          </a:p>
        </p:txBody>
      </p:sp>
      <p:graphicFrame>
        <p:nvGraphicFramePr>
          <p:cNvPr id="16" name=""/>
          <p:cNvGraphicFramePr/>
          <p:nvPr/>
        </p:nvGraphicFramePr>
        <p:xfrm>
          <a:off xmlns:a="http://schemas.openxmlformats.org/drawingml/2006/main" x="571500" y="5838825"/>
          <a:ext xmlns:a="http://schemas.openxmlformats.org/drawingml/2006/main" cx="14097000" cy="2000250"/>
        </p:xfrm>
        <a:graphic xmlns:a="http://schemas.openxmlformats.org/drawingml/2006/main">
          <a:graphicData uri="http://schemas.openxmlformats.org/drawingml/2006/table">
            <a:tbl>
              <a:tblPr/>
              <a:tblGrid>
                <a:gridCol w="7429500"/>
                <a:gridCol w="3333750"/>
                <a:gridCol w="3333750"/>
              </a:tblGrid>
              <a:tr h="666750">
                <a:tc>
                  <a:txBody>
                    <a:bodyPr lIns="171450" tIns="95250" rIns="152400" bIns="95250"/>
                    <a:lstStyle/>
                    <a:p>
                      <a:r>
                        <a:rPr sz="2475" b="1">
                          <a:solidFill>
                            <a:srgbClr val="FFFFFF"/>
                          </a:solidFill>
                          <a:latin typeface="Arial"/>
                          <a:ea typeface="Arial"/>
                          <a:cs typeface="Arial"/>
                        </a:rPr>
                        <a:t>Gegeven</a:t>
                      </a:r>
                    </a:p>
                  </a:txBody>
                  <a:tcPr marL="91440" marR="91440" marT="45720" marB="45720" anchor="ctr">
                    <a:solidFill>
                      <a:srgbClr val="183247"/>
                    </a:solidFill>
                  </a:tcPr>
                </a:tc>
                <a:tc>
                  <a:txBody>
                    <a:bodyPr lIns="171450" tIns="95250" rIns="152400" bIns="95250"/>
                    <a:lstStyle/>
                    <a:p>
                      <a:r>
                        <a:rPr sz="2475" b="1">
                          <a:solidFill>
                            <a:srgbClr val="FFFFFF"/>
                          </a:solidFill>
                          <a:latin typeface="Arial"/>
                          <a:ea typeface="Arial"/>
                          <a:cs typeface="Arial"/>
                        </a:rPr>
                        <a:t>Oud</a:t>
                      </a:r>
                    </a:p>
                  </a:txBody>
                  <a:tcPr marL="91440" marR="91440" marT="45720" marB="45720" anchor="ctr">
                    <a:solidFill>
                      <a:srgbClr val="183247"/>
                    </a:solidFill>
                  </a:tcPr>
                </a:tc>
                <a:tc>
                  <a:txBody>
                    <a:bodyPr lIns="171450" tIns="95250" rIns="152400" bIns="95250"/>
                    <a:lstStyle/>
                    <a:p>
                      <a:r>
                        <a:rPr sz="2475" b="1">
                          <a:solidFill>
                            <a:srgbClr val="FFFFFF"/>
                          </a:solidFill>
                          <a:latin typeface="Arial"/>
                          <a:ea typeface="Arial"/>
                          <a:cs typeface="Arial"/>
                        </a:rPr>
                        <a:t>Nieuw</a:t>
                      </a:r>
                    </a:p>
                  </a:txBody>
                  <a:tcPr marL="91440" marR="91440" marT="45720" marB="45720" anchor="ctr">
                    <a:solidFill>
                      <a:srgbClr val="183247"/>
                    </a:solidFill>
                  </a:tcPr>
                </a:tc>
              </a:tr>
              <a:tr h="666750">
                <a:tc>
                  <a:txBody>
                    <a:bodyPr lIns="171450" tIns="95250" rIns="152400" bIns="95250"/>
                    <a:lstStyle/>
                    <a:p>
                      <a:r>
                        <a:rPr sz="2475" b="0">
                          <a:solidFill>
                            <a:srgbClr val="183247"/>
                          </a:solidFill>
                          <a:latin typeface="Arial"/>
                          <a:ea typeface="Arial"/>
                          <a:cs typeface="Arial"/>
                        </a:rPr>
                        <a:t>Prijs concurrerend abonnement</a:t>
                      </a:r>
                    </a:p>
                  </a:txBody>
                  <a:tcPr marL="91440" marR="91440" marT="45720" marB="45720" anchor="ctr">
                    <a:solidFill>
                      <a:srgbClr val="FFFFFF"/>
                    </a:solidFill>
                  </a:tcPr>
                </a:tc>
                <a:tc>
                  <a:txBody>
                    <a:bodyPr lIns="171450" tIns="95250" rIns="152400" bIns="95250"/>
                    <a:lstStyle/>
                    <a:p>
                      <a:r>
                        <a:rPr sz="2475" b="0">
                          <a:solidFill>
                            <a:srgbClr val="183247"/>
                          </a:solidFill>
                          <a:latin typeface="Arial"/>
                          <a:ea typeface="Arial"/>
                          <a:cs typeface="Arial"/>
                        </a:rPr>
                        <a:t>€ 8</a:t>
                      </a:r>
                    </a:p>
                  </a:txBody>
                  <a:tcPr marL="91440" marR="91440" marT="45720" marB="45720" anchor="ctr">
                    <a:solidFill>
                      <a:srgbClr val="FFFFFF"/>
                    </a:solidFill>
                  </a:tcPr>
                </a:tc>
                <a:tc>
                  <a:txBody>
                    <a:bodyPr lIns="171450" tIns="95250" rIns="152400" bIns="95250"/>
                    <a:lstStyle/>
                    <a:p>
                      <a:r>
                        <a:rPr sz="2475" b="0">
                          <a:solidFill>
                            <a:srgbClr val="183247"/>
                          </a:solidFill>
                          <a:latin typeface="Arial"/>
                          <a:ea typeface="Arial"/>
                          <a:cs typeface="Arial"/>
                        </a:rPr>
                        <a:t>€ 9</a:t>
                      </a:r>
                    </a:p>
                  </a:txBody>
                  <a:tcPr marL="91440" marR="91440" marT="45720" marB="45720" anchor="ctr">
                    <a:solidFill>
                      <a:srgbClr val="FFFFFF"/>
                    </a:solidFill>
                  </a:tcPr>
                </a:tc>
              </a:tr>
              <a:tr h="666750">
                <a:tc>
                  <a:txBody>
                    <a:bodyPr lIns="171450" tIns="95250" rIns="152400" bIns="95250"/>
                    <a:lstStyle/>
                    <a:p>
                      <a:r>
                        <a:rPr sz="2475" b="0">
                          <a:solidFill>
                            <a:srgbClr val="183247"/>
                          </a:solidFill>
                          <a:latin typeface="Arial"/>
                          <a:ea typeface="Arial"/>
                          <a:cs typeface="Arial"/>
                        </a:rPr>
                        <a:t>Vraag StreamPlus</a:t>
                      </a:r>
                    </a:p>
                  </a:txBody>
                  <a:tcPr marL="91440" marR="91440" marT="45720" marB="45720" anchor="ctr">
                    <a:solidFill>
                      <a:srgbClr val="EFF4F7"/>
                    </a:solidFill>
                  </a:tcPr>
                </a:tc>
                <a:tc>
                  <a:txBody>
                    <a:bodyPr lIns="171450" tIns="95250" rIns="152400" bIns="95250"/>
                    <a:lstStyle/>
                    <a:p>
                      <a:r>
                        <a:rPr sz="2475" b="0">
                          <a:solidFill>
                            <a:srgbClr val="183247"/>
                          </a:solidFill>
                          <a:latin typeface="Arial"/>
                          <a:ea typeface="Arial"/>
                          <a:cs typeface="Arial"/>
                        </a:rPr>
                        <a:t>Basis</a:t>
                      </a:r>
                    </a:p>
                  </a:txBody>
                  <a:tcPr marL="91440" marR="91440" marT="45720" marB="45720" anchor="ctr">
                    <a:solidFill>
                      <a:srgbClr val="EFF4F7"/>
                    </a:solidFill>
                  </a:tcPr>
                </a:tc>
                <a:tc>
                  <a:txBody>
                    <a:bodyPr lIns="171450" tIns="95250" rIns="152400" bIns="95250"/>
                    <a:lstStyle/>
                    <a:p>
                      <a:r>
                        <a:rPr sz="2475" b="0">
                          <a:solidFill>
                            <a:srgbClr val="183247"/>
                          </a:solidFill>
                          <a:latin typeface="Arial"/>
                          <a:ea typeface="Arial"/>
                          <a:cs typeface="Arial"/>
                        </a:rPr>
                        <a:t>+5%</a:t>
                      </a:r>
                    </a:p>
                  </a:txBody>
                  <a:tcPr marL="91440" marR="91440" marT="45720" marB="45720" anchor="ctr">
                    <a:solidFill>
                      <a:srgbClr val="EFF4F7"/>
                    </a:solidFill>
                  </a:tcPr>
                </a:tc>
              </a:tr>
            </a:tbl>
          </a:graphicData>
        </a:graphic>
      </p:graphicFrame>
    </p:spTree>
    <p:extLst>
      <p:ext uri="{BB962C8B-B14F-4D97-AF65-F5344CB8AC3E}">
        <p14:creationId xmlns:p14="http://schemas.microsoft.com/office/powerpoint/2010/main" val="1592284750"/>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Opgave 5 · Bron D">
            <a:extLst xmlns:a="http://schemas.openxmlformats.org/drawingml/2006/main">
              <a:ext uri="{FF2B5EF4-FFF2-40B4-BE49-F238E27FC236}">
                <a16:creationId xmlns:a16="http://schemas.microsoft.com/office/drawing/2014/main" id="{EB2C81A3-B485-45B7-AE1B-67C9A9BF6DAE}"/>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Opgave 5 · Bron D</a:t>
            </a:r>
          </a:p>
        </p:txBody>
      </p:sp>
      <p:sp>
        <p:nvSpPr>
          <p:cNvPr id="2" name="">
            <a:extLst xmlns:a="http://schemas.openxmlformats.org/drawingml/2006/main">
              <a:ext uri="{FF2B5EF4-FFF2-40B4-BE49-F238E27FC236}">
                <a16:creationId xmlns:a16="http://schemas.microsoft.com/office/drawing/2014/main" id="{0AC92FCE-AFC9-4950-B53C-20A8031EEF5E}"/>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footer">
            <a:extLst xmlns:a="http://schemas.openxmlformats.org/drawingml/2006/main">
              <a:ext uri="{FF2B5EF4-FFF2-40B4-BE49-F238E27FC236}">
                <a16:creationId xmlns:a16="http://schemas.microsoft.com/office/drawing/2014/main" id="{17BF750A-C4F6-4EF0-BB97-7010B1776E92}"/>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§2.2.4 Gemengde opgaven · Opgave 5 · Boekpagina 66–67</a:t>
            </a:r>
          </a:p>
        </p:txBody>
      </p:sp>
      <p:sp>
        <p:nvSpPr>
          <p:cNvPr id="4" name="slide-number">
            <a:extLst xmlns:a="http://schemas.openxmlformats.org/drawingml/2006/main">
              <a:ext uri="{FF2B5EF4-FFF2-40B4-BE49-F238E27FC236}">
                <a16:creationId xmlns:a16="http://schemas.microsoft.com/office/drawing/2014/main" id="{3C7386A2-8396-49B0-AEB7-98D31F5AB477}"/>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9</a:t>
            </a:r>
          </a:p>
        </p:txBody>
      </p:sp>
      <p:sp>
        <p:nvSpPr>
          <p:cNvPr id="5" name="Regionale vraagfunctie">
            <a:extLst xmlns:a="http://schemas.openxmlformats.org/drawingml/2006/main">
              <a:ext uri="{FF2B5EF4-FFF2-40B4-BE49-F238E27FC236}">
                <a16:creationId xmlns:a16="http://schemas.microsoft.com/office/drawing/2014/main" id="{FF81D052-1B84-4E14-B426-3C4C83C037E5}"/>
              </a:ext>
            </a:extLst>
          </p:cNvPr>
          <p:cNvSpPr>
            <a:spLocks xmlns:a="http://schemas.openxmlformats.org/drawingml/2006/main" noGrp="1"/>
          </p:cNvSpPr>
          <p:nvPr/>
        </p:nvSpPr>
        <p:spPr>
          <a:xfrm xmlns:a="http://schemas.openxmlformats.org/drawingml/2006/main">
            <a:off x="571500" y="1809750"/>
            <a:ext cx="1409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17658A"/>
                </a:solidFill>
                <a:latin typeface="Arial"/>
                <a:ea typeface="Arial"/>
                <a:cs typeface="Arial"/>
              </a:defRPr>
            </a:pPr>
            <a:r>
              <a:rPr sz="3000" b="1">
                <a:solidFill>
                  <a:srgbClr val="17658A"/>
                </a:solidFill>
                <a:latin typeface="Arial"/>
                <a:ea typeface="Arial"/>
                <a:cs typeface="Arial"/>
              </a:rPr>
              <a:t>Regionale vraagfunctie</a:t>
            </a:r>
          </a:p>
        </p:txBody>
      </p:sp>
      <p:sp>
        <p:nvSpPr>
          <p:cNvPr id="6" name="Q = 12.000 − 400P + 0,1Y + 300Pc">
            <a:extLst xmlns:a="http://schemas.openxmlformats.org/drawingml/2006/main">
              <a:ext uri="{FF2B5EF4-FFF2-40B4-BE49-F238E27FC236}">
                <a16:creationId xmlns:a16="http://schemas.microsoft.com/office/drawing/2014/main" id="{79DF5878-68B4-4CDE-AE64-84954278A86E}"/>
              </a:ext>
            </a:extLst>
          </p:cNvPr>
          <p:cNvSpPr>
            <a:spLocks xmlns:a="http://schemas.openxmlformats.org/drawingml/2006/main" noGrp="1"/>
          </p:cNvSpPr>
          <p:nvPr/>
        </p:nvSpPr>
        <p:spPr>
          <a:xfrm xmlns:a="http://schemas.openxmlformats.org/drawingml/2006/main">
            <a:off x="571500" y="2714625"/>
            <a:ext cx="14097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Q = 12.000 − 400P + 0,1Y + 300Pc</a:t>
            </a:r>
          </a:p>
        </p:txBody>
      </p:sp>
      <p:graphicFrame>
        <p:nvGraphicFramePr>
          <p:cNvPr id="15" name=""/>
          <p:cNvGraphicFramePr/>
          <p:nvPr/>
        </p:nvGraphicFramePr>
        <p:xfrm>
          <a:off xmlns:a="http://schemas.openxmlformats.org/drawingml/2006/main" x="571500" y="3829050"/>
          <a:ext xmlns:a="http://schemas.openxmlformats.org/drawingml/2006/main" cx="14097000" cy="3209925"/>
        </p:xfrm>
        <a:graphic xmlns:a="http://schemas.openxmlformats.org/drawingml/2006/main">
          <a:graphicData uri="http://schemas.openxmlformats.org/drawingml/2006/table">
            <a:tbl>
              <a:tblPr/>
              <a:tblGrid>
                <a:gridCol w="2381250"/>
                <a:gridCol w="8191500"/>
                <a:gridCol w="3524250"/>
              </a:tblGrid>
              <a:tr h="641985">
                <a:tc>
                  <a:txBody>
                    <a:bodyPr lIns="171450" tIns="95250" rIns="152400" bIns="95250"/>
                    <a:lstStyle/>
                    <a:p>
                      <a:r>
                        <a:rPr sz="2400" b="1">
                          <a:solidFill>
                            <a:srgbClr val="FFFFFF"/>
                          </a:solidFill>
                          <a:latin typeface="Arial"/>
                          <a:ea typeface="Arial"/>
                          <a:cs typeface="Arial"/>
                        </a:rPr>
                        <a:t>Variabele</a:t>
                      </a:r>
                    </a:p>
                  </a:txBody>
                  <a:tcPr marL="91440" marR="91440" marT="45720" marB="45720" anchor="ctr">
                    <a:solidFill>
                      <a:srgbClr val="183247"/>
                    </a:solidFill>
                  </a:tcPr>
                </a:tc>
                <a:tc>
                  <a:txBody>
                    <a:bodyPr lIns="171450" tIns="95250" rIns="152400" bIns="95250"/>
                    <a:lstStyle/>
                    <a:p>
                      <a:r>
                        <a:rPr sz="2400" b="1">
                          <a:solidFill>
                            <a:srgbClr val="FFFFFF"/>
                          </a:solidFill>
                          <a:latin typeface="Arial"/>
                          <a:ea typeface="Arial"/>
                          <a:cs typeface="Arial"/>
                        </a:rPr>
                        <a:t>Betekenis</a:t>
                      </a:r>
                    </a:p>
                  </a:txBody>
                  <a:tcPr marL="91440" marR="91440" marT="45720" marB="45720" anchor="ctr">
                    <a:solidFill>
                      <a:srgbClr val="183247"/>
                    </a:solidFill>
                  </a:tcPr>
                </a:tc>
                <a:tc>
                  <a:txBody>
                    <a:bodyPr lIns="171450" tIns="95250" rIns="152400" bIns="95250"/>
                    <a:lstStyle/>
                    <a:p>
                      <a:r>
                        <a:rPr sz="2400" b="1">
                          <a:solidFill>
                            <a:srgbClr val="FFFFFF"/>
                          </a:solidFill>
                          <a:latin typeface="Arial"/>
                          <a:ea typeface="Arial"/>
                          <a:cs typeface="Arial"/>
                        </a:rPr>
                        <a:t>Beginsituatie</a:t>
                      </a:r>
                    </a:p>
                  </a:txBody>
                  <a:tcPr marL="91440" marR="91440" marT="45720" marB="45720" anchor="ctr">
                    <a:solidFill>
                      <a:srgbClr val="183247"/>
                    </a:solidFill>
                  </a:tcPr>
                </a:tc>
              </a:tr>
              <a:tr h="641985">
                <a:tc>
                  <a:txBody>
                    <a:bodyPr lIns="171450" tIns="95250" rIns="152400" bIns="95250"/>
                    <a:lstStyle/>
                    <a:p>
                      <a:r>
                        <a:rPr sz="2400" b="0">
                          <a:solidFill>
                            <a:srgbClr val="183247"/>
                          </a:solidFill>
                          <a:latin typeface="Arial"/>
                          <a:ea typeface="Arial"/>
                          <a:cs typeface="Arial"/>
                        </a:rPr>
                        <a:t>Q</a:t>
                      </a:r>
                    </a:p>
                  </a:txBody>
                  <a:tcPr marL="91440" marR="91440" marT="45720" marB="45720" anchor="ctr">
                    <a:solidFill>
                      <a:srgbClr val="FFFFFF"/>
                    </a:solidFill>
                  </a:tcPr>
                </a:tc>
                <a:tc>
                  <a:txBody>
                    <a:bodyPr lIns="171450" tIns="95250" rIns="152400" bIns="95250"/>
                    <a:lstStyle/>
                    <a:p>
                      <a:r>
                        <a:rPr sz="2400" b="0">
                          <a:solidFill>
                            <a:srgbClr val="183247"/>
                          </a:solidFill>
                          <a:latin typeface="Arial"/>
                          <a:ea typeface="Arial"/>
                          <a:cs typeface="Arial"/>
                        </a:rPr>
                        <a:t>Gevraagde abonnementen per maand</a:t>
                      </a:r>
                    </a:p>
                  </a:txBody>
                  <a:tcPr marL="91440" marR="91440" marT="45720" marB="45720" anchor="ctr">
                    <a:solidFill>
                      <a:srgbClr val="FFFFFF"/>
                    </a:solidFill>
                  </a:tcPr>
                </a:tc>
                <a:tc>
                  <a:txBody>
                    <a:bodyPr lIns="171450" tIns="95250" rIns="152400" bIns="95250"/>
                    <a:lstStyle/>
                    <a:p>
                      <a:r>
                        <a:rPr sz="2400" b="0">
                          <a:solidFill>
                            <a:srgbClr val="183247"/>
                          </a:solidFill>
                          <a:latin typeface="Arial"/>
                          <a:ea typeface="Arial"/>
                          <a:cs typeface="Arial"/>
                        </a:rPr>
                        <a:t>—</a:t>
                      </a:r>
                    </a:p>
                  </a:txBody>
                  <a:tcPr marL="91440" marR="91440" marT="45720" marB="45720" anchor="ctr">
                    <a:solidFill>
                      <a:srgbClr val="FFFFFF"/>
                    </a:solidFill>
                  </a:tcPr>
                </a:tc>
              </a:tr>
              <a:tr h="641985">
                <a:tc>
                  <a:txBody>
                    <a:bodyPr lIns="171450" tIns="95250" rIns="152400" bIns="95250"/>
                    <a:lstStyle/>
                    <a:p>
                      <a:r>
                        <a:rPr sz="2400" b="0">
                          <a:solidFill>
                            <a:srgbClr val="183247"/>
                          </a:solidFill>
                          <a:latin typeface="Arial"/>
                          <a:ea typeface="Arial"/>
                          <a:cs typeface="Arial"/>
                        </a:rPr>
                        <a:t>P</a:t>
                      </a:r>
                    </a:p>
                  </a:txBody>
                  <a:tcPr marL="91440" marR="91440" marT="45720" marB="45720" anchor="ctr">
                    <a:solidFill>
                      <a:srgbClr val="EFF4F7"/>
                    </a:solidFill>
                  </a:tcPr>
                </a:tc>
                <a:tc>
                  <a:txBody>
                    <a:bodyPr lIns="171450" tIns="95250" rIns="152400" bIns="95250"/>
                    <a:lstStyle/>
                    <a:p>
                      <a:r>
                        <a:rPr sz="2400" b="0">
                          <a:solidFill>
                            <a:srgbClr val="183247"/>
                          </a:solidFill>
                          <a:latin typeface="Arial"/>
                          <a:ea typeface="Arial"/>
                          <a:cs typeface="Arial"/>
                        </a:rPr>
                        <a:t>Maandprijs StreamPlus (€)</a:t>
                      </a:r>
                    </a:p>
                  </a:txBody>
                  <a:tcPr marL="91440" marR="91440" marT="45720" marB="45720" anchor="ctr">
                    <a:solidFill>
                      <a:srgbClr val="EFF4F7"/>
                    </a:solidFill>
                  </a:tcPr>
                </a:tc>
                <a:tc>
                  <a:txBody>
                    <a:bodyPr lIns="171450" tIns="95250" rIns="152400" bIns="95250"/>
                    <a:lstStyle/>
                    <a:p>
                      <a:r>
                        <a:rPr sz="2400" b="0">
                          <a:solidFill>
                            <a:srgbClr val="183247"/>
                          </a:solidFill>
                          <a:latin typeface="Arial"/>
                          <a:ea typeface="Arial"/>
                          <a:cs typeface="Arial"/>
                        </a:rPr>
                        <a:t>12</a:t>
                      </a:r>
                    </a:p>
                  </a:txBody>
                  <a:tcPr marL="91440" marR="91440" marT="45720" marB="45720" anchor="ctr">
                    <a:solidFill>
                      <a:srgbClr val="EFF4F7"/>
                    </a:solidFill>
                  </a:tcPr>
                </a:tc>
              </a:tr>
              <a:tr h="641985">
                <a:tc>
                  <a:txBody>
                    <a:bodyPr lIns="171450" tIns="95250" rIns="152400" bIns="95250"/>
                    <a:lstStyle/>
                    <a:p>
                      <a:r>
                        <a:rPr sz="2400" b="0">
                          <a:solidFill>
                            <a:srgbClr val="183247"/>
                          </a:solidFill>
                          <a:latin typeface="Arial"/>
                          <a:ea typeface="Arial"/>
                          <a:cs typeface="Arial"/>
                        </a:rPr>
                        <a:t>Pc</a:t>
                      </a:r>
                    </a:p>
                  </a:txBody>
                  <a:tcPr marL="91440" marR="91440" marT="45720" marB="45720" anchor="ctr">
                    <a:solidFill>
                      <a:srgbClr val="FFFFFF"/>
                    </a:solidFill>
                  </a:tcPr>
                </a:tc>
                <a:tc>
                  <a:txBody>
                    <a:bodyPr lIns="171450" tIns="95250" rIns="152400" bIns="95250"/>
                    <a:lstStyle/>
                    <a:p>
                      <a:r>
                        <a:rPr sz="2400" b="0">
                          <a:solidFill>
                            <a:srgbClr val="183247"/>
                          </a:solidFill>
                          <a:latin typeface="Arial"/>
                          <a:ea typeface="Arial"/>
                          <a:cs typeface="Arial"/>
                        </a:rPr>
                        <a:t>Maandprijs concurrent (€)</a:t>
                      </a:r>
                    </a:p>
                  </a:txBody>
                  <a:tcPr marL="91440" marR="91440" marT="45720" marB="45720" anchor="ctr">
                    <a:solidFill>
                      <a:srgbClr val="FFFFFF"/>
                    </a:solidFill>
                  </a:tcPr>
                </a:tc>
                <a:tc>
                  <a:txBody>
                    <a:bodyPr lIns="171450" tIns="95250" rIns="152400" bIns="95250"/>
                    <a:lstStyle/>
                    <a:p>
                      <a:r>
                        <a:rPr sz="2400" b="0">
                          <a:solidFill>
                            <a:srgbClr val="183247"/>
                          </a:solidFill>
                          <a:latin typeface="Arial"/>
                          <a:ea typeface="Arial"/>
                          <a:cs typeface="Arial"/>
                        </a:rPr>
                        <a:t>10</a:t>
                      </a:r>
                    </a:p>
                  </a:txBody>
                  <a:tcPr marL="91440" marR="91440" marT="45720" marB="45720" anchor="ctr">
                    <a:solidFill>
                      <a:srgbClr val="FFFFFF"/>
                    </a:solidFill>
                  </a:tcPr>
                </a:tc>
              </a:tr>
              <a:tr h="641985">
                <a:tc>
                  <a:txBody>
                    <a:bodyPr lIns="171450" tIns="95250" rIns="152400" bIns="95250"/>
                    <a:lstStyle/>
                    <a:p>
                      <a:r>
                        <a:rPr sz="2400" b="0">
                          <a:solidFill>
                            <a:srgbClr val="183247"/>
                          </a:solidFill>
                          <a:latin typeface="Arial"/>
                          <a:ea typeface="Arial"/>
                          <a:cs typeface="Arial"/>
                        </a:rPr>
                        <a:t>Y</a:t>
                      </a:r>
                    </a:p>
                  </a:txBody>
                  <a:tcPr marL="91440" marR="91440" marT="45720" marB="45720" anchor="ctr">
                    <a:solidFill>
                      <a:srgbClr val="EFF4F7"/>
                    </a:solidFill>
                  </a:tcPr>
                </a:tc>
                <a:tc>
                  <a:txBody>
                    <a:bodyPr lIns="171450" tIns="95250" rIns="152400" bIns="95250"/>
                    <a:lstStyle/>
                    <a:p>
                      <a:r>
                        <a:rPr sz="2400" b="0">
                          <a:solidFill>
                            <a:srgbClr val="183247"/>
                          </a:solidFill>
                          <a:latin typeface="Arial"/>
                          <a:ea typeface="Arial"/>
                          <a:cs typeface="Arial"/>
                        </a:rPr>
                        <a:t>Gemiddeld jaarinkomen (€)</a:t>
                      </a:r>
                    </a:p>
                  </a:txBody>
                  <a:tcPr marL="91440" marR="91440" marT="45720" marB="45720" anchor="ctr">
                    <a:solidFill>
                      <a:srgbClr val="EFF4F7"/>
                    </a:solidFill>
                  </a:tcPr>
                </a:tc>
                <a:tc>
                  <a:txBody>
                    <a:bodyPr lIns="171450" tIns="95250" rIns="152400" bIns="95250"/>
                    <a:lstStyle/>
                    <a:p>
                      <a:r>
                        <a:rPr sz="2400" b="0">
                          <a:solidFill>
                            <a:srgbClr val="183247"/>
                          </a:solidFill>
                          <a:latin typeface="Arial"/>
                          <a:ea typeface="Arial"/>
                          <a:cs typeface="Arial"/>
                        </a:rPr>
                        <a:t>40.000</a:t>
                      </a:r>
                    </a:p>
                  </a:txBody>
                  <a:tcPr marL="91440" marR="91440" marT="45720" marB="45720" anchor="ctr">
                    <a:solidFill>
                      <a:srgbClr val="EFF4F7"/>
                    </a:solidFill>
                  </a:tcPr>
                </a:tc>
              </a:tr>
            </a:tbl>
          </a:graphicData>
        </a:graphic>
      </p:graphicFrame>
      <p:sp>
        <p:nvSpPr>
          <p:cNvPr id="8" name="Gebruik de gegevens uit D, niet het aantal uit A.">
            <a:extLst xmlns:a="http://schemas.openxmlformats.org/drawingml/2006/main">
              <a:ext uri="{FF2B5EF4-FFF2-40B4-BE49-F238E27FC236}">
                <a16:creationId xmlns:a16="http://schemas.microsoft.com/office/drawing/2014/main" id="{4E09E45C-AB5C-433A-AC2B-C9DFE7B07753}"/>
              </a:ext>
            </a:extLst>
          </p:cNvPr>
          <p:cNvSpPr>
            <a:spLocks xmlns:a="http://schemas.openxmlformats.org/drawingml/2006/main" noGrp="1"/>
          </p:cNvSpPr>
          <p:nvPr/>
        </p:nvSpPr>
        <p:spPr>
          <a:xfrm xmlns:a="http://schemas.openxmlformats.org/drawingml/2006/main">
            <a:off x="571500" y="7419975"/>
            <a:ext cx="14097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A94D16"/>
                </a:solidFill>
                <a:latin typeface="Arial"/>
                <a:ea typeface="Arial"/>
                <a:cs typeface="Arial"/>
              </a:defRPr>
            </a:pPr>
            <a:r>
              <a:rPr sz="2625" b="1">
                <a:solidFill>
                  <a:srgbClr val="A94D16"/>
                </a:solidFill>
                <a:latin typeface="Arial"/>
                <a:ea typeface="Arial"/>
                <a:cs typeface="Arial"/>
              </a:rPr>
              <a:t>Gebruik de gegevens uit D, niet het aantal uit A.</a:t>
            </a:r>
          </a:p>
        </p:txBody>
      </p:sp>
    </p:spTree>
    <p:extLst>
      <p:ext uri="{BB962C8B-B14F-4D97-AF65-F5344CB8AC3E}">
        <p14:creationId xmlns:p14="http://schemas.microsoft.com/office/powerpoint/2010/main" val="1613854149"/>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Opgave 5 · Vragen 1–3">
            <a:extLst xmlns:a="http://schemas.openxmlformats.org/drawingml/2006/main">
              <a:ext uri="{FF2B5EF4-FFF2-40B4-BE49-F238E27FC236}">
                <a16:creationId xmlns:a16="http://schemas.microsoft.com/office/drawing/2014/main" id="{DEDEF9E0-A09C-4C58-B991-611B4734A626}"/>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Opgave 5 · Vragen 1–3</a:t>
            </a:r>
          </a:p>
        </p:txBody>
      </p:sp>
      <p:sp>
        <p:nvSpPr>
          <p:cNvPr id="2" name="">
            <a:extLst xmlns:a="http://schemas.openxmlformats.org/drawingml/2006/main">
              <a:ext uri="{FF2B5EF4-FFF2-40B4-BE49-F238E27FC236}">
                <a16:creationId xmlns:a16="http://schemas.microsoft.com/office/drawing/2014/main" id="{4A3FF2E7-9063-4788-B231-75379AAF47F8}"/>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footer">
            <a:extLst xmlns:a="http://schemas.openxmlformats.org/drawingml/2006/main">
              <a:ext uri="{FF2B5EF4-FFF2-40B4-BE49-F238E27FC236}">
                <a16:creationId xmlns:a16="http://schemas.microsoft.com/office/drawing/2014/main" id="{C162815E-0D04-4F1C-B66A-00746BDD0FBE}"/>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§2.2.4 Gemengde opgaven · Opgave 5 · Boekpagina 66–67</a:t>
            </a:r>
          </a:p>
        </p:txBody>
      </p:sp>
      <p:sp>
        <p:nvSpPr>
          <p:cNvPr id="4" name="slide-number">
            <a:extLst xmlns:a="http://schemas.openxmlformats.org/drawingml/2006/main">
              <a:ext uri="{FF2B5EF4-FFF2-40B4-BE49-F238E27FC236}">
                <a16:creationId xmlns:a16="http://schemas.microsoft.com/office/drawing/2014/main" id="{C61007DA-3283-46C8-884E-C64F1DD3D1C5}"/>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10</a:t>
            </a:r>
          </a:p>
        </p:txBody>
      </p:sp>
      <p:sp>
        <p:nvSpPr>
          <p:cNvPr id="5" name="Gebruik de bronnen op boekpagina 66.">
            <a:extLst xmlns:a="http://schemas.openxmlformats.org/drawingml/2006/main">
              <a:ext uri="{FF2B5EF4-FFF2-40B4-BE49-F238E27FC236}">
                <a16:creationId xmlns:a16="http://schemas.microsoft.com/office/drawing/2014/main" id="{A55DFAD2-DDE9-4E5B-A827-4AA90B83633B}"/>
              </a:ext>
            </a:extLst>
          </p:cNvPr>
          <p:cNvSpPr>
            <a:spLocks xmlns:a="http://schemas.openxmlformats.org/drawingml/2006/main" noGrp="1"/>
          </p:cNvSpPr>
          <p:nvPr/>
        </p:nvSpPr>
        <p:spPr>
          <a:xfrm xmlns:a="http://schemas.openxmlformats.org/drawingml/2006/main">
            <a:off x="571500" y="1752600"/>
            <a:ext cx="14097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17658A"/>
                </a:solidFill>
                <a:latin typeface="Arial"/>
                <a:ea typeface="Arial"/>
                <a:cs typeface="Arial"/>
              </a:defRPr>
            </a:pPr>
            <a:r>
              <a:rPr sz="2550" b="1">
                <a:solidFill>
                  <a:srgbClr val="17658A"/>
                </a:solidFill>
                <a:latin typeface="Arial"/>
                <a:ea typeface="Arial"/>
                <a:cs typeface="Arial"/>
              </a:rPr>
              <a:t>Gebruik de bronnen op boekpagina 66.</a:t>
            </a:r>
          </a:p>
        </p:txBody>
      </p:sp>
      <p:sp>
        <p:nvSpPr>
          <p:cNvPr id="6" name="1.">
            <a:extLst xmlns:a="http://schemas.openxmlformats.org/drawingml/2006/main">
              <a:ext uri="{FF2B5EF4-FFF2-40B4-BE49-F238E27FC236}">
                <a16:creationId xmlns:a16="http://schemas.microsoft.com/office/drawing/2014/main" id="{9B1B0D63-E633-406C-BF01-5C34621B737F}"/>
              </a:ext>
            </a:extLst>
          </p:cNvPr>
          <p:cNvSpPr>
            <a:spLocks xmlns:a="http://schemas.openxmlformats.org/drawingml/2006/main" noGrp="1"/>
          </p:cNvSpPr>
          <p:nvPr/>
        </p:nvSpPr>
        <p:spPr>
          <a:xfrm xmlns:a="http://schemas.openxmlformats.org/drawingml/2006/main">
            <a:off x="571500" y="2714625"/>
            <a:ext cx="714375"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1">
                <a:solidFill>
                  <a:srgbClr val="17658A"/>
                </a:solidFill>
                <a:latin typeface="Arial"/>
                <a:ea typeface="Arial"/>
                <a:cs typeface="Arial"/>
              </a:defRPr>
            </a:pPr>
            <a:r>
              <a:rPr sz="2925" b="1">
                <a:solidFill>
                  <a:srgbClr val="17658A"/>
                </a:solidFill>
                <a:latin typeface="Arial"/>
                <a:ea typeface="Arial"/>
                <a:cs typeface="Arial"/>
              </a:rPr>
              <a:t>1.</a:t>
            </a:r>
          </a:p>
        </p:txBody>
      </p:sp>
      <p:sp>
        <p:nvSpPr>
          <p:cNvPr id="7" name="Selecteer uit bron A de gegevens voor een controleberekening">
            <a:extLst xmlns:a="http://schemas.openxmlformats.org/drawingml/2006/main">
              <a:ext uri="{FF2B5EF4-FFF2-40B4-BE49-F238E27FC236}">
                <a16:creationId xmlns:a16="http://schemas.microsoft.com/office/drawing/2014/main" id="{CE739EBA-89F6-474A-AD39-829CEAC2DBD2}"/>
              </a:ext>
            </a:extLst>
          </p:cNvPr>
          <p:cNvSpPr>
            <a:spLocks xmlns:a="http://schemas.openxmlformats.org/drawingml/2006/main" noGrp="1"/>
          </p:cNvSpPr>
          <p:nvPr/>
        </p:nvSpPr>
        <p:spPr>
          <a:xfrm xmlns:a="http://schemas.openxmlformats.org/drawingml/2006/main">
            <a:off x="1495425" y="2714625"/>
            <a:ext cx="13173075"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0">
                <a:solidFill>
                  <a:srgbClr val="183247"/>
                </a:solidFill>
                <a:latin typeface="Arial"/>
                <a:ea typeface="Arial"/>
                <a:cs typeface="Arial"/>
              </a:defRPr>
            </a:pPr>
            <a:r>
              <a:rPr sz="2700" b="0">
                <a:solidFill>
                  <a:srgbClr val="183247"/>
                </a:solidFill>
                <a:latin typeface="Arial"/>
                <a:ea typeface="Arial"/>
                <a:cs typeface="Arial"/>
              </a:rPr>
              <a:t>Selecteer uit bron A de gegevens voor een controleberekening van Ev en noem het gegeven dat daarvoor niet nodig is. (2 punten)</a:t>
            </a:r>
          </a:p>
        </p:txBody>
      </p:sp>
      <p:sp>
        <p:nvSpPr>
          <p:cNvPr id="8" name="2.">
            <a:extLst xmlns:a="http://schemas.openxmlformats.org/drawingml/2006/main">
              <a:ext uri="{FF2B5EF4-FFF2-40B4-BE49-F238E27FC236}">
                <a16:creationId xmlns:a16="http://schemas.microsoft.com/office/drawing/2014/main" id="{1DC3E642-0C6E-48E6-AD8B-9FEB7CD4E1B8}"/>
              </a:ext>
            </a:extLst>
          </p:cNvPr>
          <p:cNvSpPr>
            <a:spLocks xmlns:a="http://schemas.openxmlformats.org/drawingml/2006/main" noGrp="1"/>
          </p:cNvSpPr>
          <p:nvPr/>
        </p:nvSpPr>
        <p:spPr>
          <a:xfrm xmlns:a="http://schemas.openxmlformats.org/drawingml/2006/main">
            <a:off x="571500" y="4362450"/>
            <a:ext cx="714375"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1">
                <a:solidFill>
                  <a:srgbClr val="17658A"/>
                </a:solidFill>
                <a:latin typeface="Arial"/>
                <a:ea typeface="Arial"/>
                <a:cs typeface="Arial"/>
              </a:defRPr>
            </a:pPr>
            <a:r>
              <a:rPr sz="2925" b="1">
                <a:solidFill>
                  <a:srgbClr val="17658A"/>
                </a:solidFill>
                <a:latin typeface="Arial"/>
                <a:ea typeface="Arial"/>
                <a:cs typeface="Arial"/>
              </a:rPr>
              <a:t>2.</a:t>
            </a:r>
          </a:p>
        </p:txBody>
      </p:sp>
      <p:sp>
        <p:nvSpPr>
          <p:cNvPr id="9" name="Classificeer met de gegeven Ev=−0,7 de vraag en leg in gewon">
            <a:extLst xmlns:a="http://schemas.openxmlformats.org/drawingml/2006/main">
              <a:ext uri="{FF2B5EF4-FFF2-40B4-BE49-F238E27FC236}">
                <a16:creationId xmlns:a16="http://schemas.microsoft.com/office/drawing/2014/main" id="{8110052F-CAF9-4B15-98AB-F1EEF7DDFE96}"/>
              </a:ext>
            </a:extLst>
          </p:cNvPr>
          <p:cNvSpPr>
            <a:spLocks xmlns:a="http://schemas.openxmlformats.org/drawingml/2006/main" noGrp="1"/>
          </p:cNvSpPr>
          <p:nvPr/>
        </p:nvSpPr>
        <p:spPr>
          <a:xfrm xmlns:a="http://schemas.openxmlformats.org/drawingml/2006/main">
            <a:off x="1495425" y="4362450"/>
            <a:ext cx="13173075"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0">
                <a:solidFill>
                  <a:srgbClr val="183247"/>
                </a:solidFill>
                <a:latin typeface="Arial"/>
                <a:ea typeface="Arial"/>
                <a:cs typeface="Arial"/>
              </a:defRPr>
            </a:pPr>
            <a:r>
              <a:rPr sz="2700" b="0">
                <a:solidFill>
                  <a:srgbClr val="183247"/>
                </a:solidFill>
                <a:latin typeface="Arial"/>
                <a:ea typeface="Arial"/>
                <a:cs typeface="Arial"/>
              </a:rPr>
              <a:t>Classificeer met de gegeven Ev=−0,7 de vraag en leg in gewone taal uit hoe sterk Q procentueel reageert op een prijsverandering. (2 punten)</a:t>
            </a:r>
          </a:p>
        </p:txBody>
      </p:sp>
      <p:sp>
        <p:nvSpPr>
          <p:cNvPr id="10" name="3.">
            <a:extLst xmlns:a="http://schemas.openxmlformats.org/drawingml/2006/main">
              <a:ext uri="{FF2B5EF4-FFF2-40B4-BE49-F238E27FC236}">
                <a16:creationId xmlns:a16="http://schemas.microsoft.com/office/drawing/2014/main" id="{831F9843-5A75-40BD-A225-05537E98E036}"/>
              </a:ext>
            </a:extLst>
          </p:cNvPr>
          <p:cNvSpPr>
            <a:spLocks xmlns:a="http://schemas.openxmlformats.org/drawingml/2006/main" noGrp="1"/>
          </p:cNvSpPr>
          <p:nvPr/>
        </p:nvSpPr>
        <p:spPr>
          <a:xfrm xmlns:a="http://schemas.openxmlformats.org/drawingml/2006/main">
            <a:off x="571500" y="6010275"/>
            <a:ext cx="714375"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1">
                <a:solidFill>
                  <a:srgbClr val="17658A"/>
                </a:solidFill>
                <a:latin typeface="Arial"/>
                <a:ea typeface="Arial"/>
                <a:cs typeface="Arial"/>
              </a:defRPr>
            </a:pPr>
            <a:r>
              <a:rPr sz="2925" b="1">
                <a:solidFill>
                  <a:srgbClr val="17658A"/>
                </a:solidFill>
                <a:latin typeface="Arial"/>
                <a:ea typeface="Arial"/>
                <a:cs typeface="Arial"/>
              </a:rPr>
              <a:t>3.</a:t>
            </a:r>
          </a:p>
        </p:txBody>
      </p:sp>
      <p:sp>
        <p:nvSpPr>
          <p:cNvPr id="11" name="Bereken met bron A TO vóór en na de prijsverhoging. (2 punte">
            <a:extLst xmlns:a="http://schemas.openxmlformats.org/drawingml/2006/main">
              <a:ext uri="{FF2B5EF4-FFF2-40B4-BE49-F238E27FC236}">
                <a16:creationId xmlns:a16="http://schemas.microsoft.com/office/drawing/2014/main" id="{561F9D47-77B2-4406-89F8-314EF9214DD1}"/>
              </a:ext>
            </a:extLst>
          </p:cNvPr>
          <p:cNvSpPr>
            <a:spLocks xmlns:a="http://schemas.openxmlformats.org/drawingml/2006/main" noGrp="1"/>
          </p:cNvSpPr>
          <p:nvPr/>
        </p:nvSpPr>
        <p:spPr>
          <a:xfrm xmlns:a="http://schemas.openxmlformats.org/drawingml/2006/main">
            <a:off x="1495425" y="6010275"/>
            <a:ext cx="13173075"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0">
                <a:solidFill>
                  <a:srgbClr val="183247"/>
                </a:solidFill>
                <a:latin typeface="Arial"/>
                <a:ea typeface="Arial"/>
                <a:cs typeface="Arial"/>
              </a:defRPr>
            </a:pPr>
            <a:r>
              <a:rPr sz="2700" b="0">
                <a:solidFill>
                  <a:srgbClr val="183247"/>
                </a:solidFill>
                <a:latin typeface="Arial"/>
                <a:ea typeface="Arial"/>
                <a:cs typeface="Arial"/>
              </a:rPr>
              <a:t>Bereken met bron A TO vóór en na de prijsverhoging. (2 punten)</a:t>
            </a:r>
          </a:p>
        </p:txBody>
      </p:sp>
    </p:spTree>
    <p:extLst>
      <p:ext uri="{BB962C8B-B14F-4D97-AF65-F5344CB8AC3E}">
        <p14:creationId xmlns:p14="http://schemas.microsoft.com/office/powerpoint/2010/main" val="1331399394"/>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Opgave 5 · Vragen 4–5">
            <a:extLst xmlns:a="http://schemas.openxmlformats.org/drawingml/2006/main">
              <a:ext uri="{FF2B5EF4-FFF2-40B4-BE49-F238E27FC236}">
                <a16:creationId xmlns:a16="http://schemas.microsoft.com/office/drawing/2014/main" id="{0240C249-D570-4B95-8A21-FEF5B25A7E16}"/>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Opgave 5 · Vragen 4–5</a:t>
            </a:r>
          </a:p>
        </p:txBody>
      </p:sp>
      <p:sp>
        <p:nvSpPr>
          <p:cNvPr id="2" name="">
            <a:extLst xmlns:a="http://schemas.openxmlformats.org/drawingml/2006/main">
              <a:ext uri="{FF2B5EF4-FFF2-40B4-BE49-F238E27FC236}">
                <a16:creationId xmlns:a16="http://schemas.microsoft.com/office/drawing/2014/main" id="{F55D0CE6-0672-4092-A563-EAD2CE8F1ADA}"/>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footer">
            <a:extLst xmlns:a="http://schemas.openxmlformats.org/drawingml/2006/main">
              <a:ext uri="{FF2B5EF4-FFF2-40B4-BE49-F238E27FC236}">
                <a16:creationId xmlns:a16="http://schemas.microsoft.com/office/drawing/2014/main" id="{EE4861D0-3814-49A7-B0CA-047BFA0376C5}"/>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§2.2.4 Gemengde opgaven · Opgave 5 · Boekpagina 66–67</a:t>
            </a:r>
          </a:p>
        </p:txBody>
      </p:sp>
      <p:sp>
        <p:nvSpPr>
          <p:cNvPr id="4" name="slide-number">
            <a:extLst xmlns:a="http://schemas.openxmlformats.org/drawingml/2006/main">
              <a:ext uri="{FF2B5EF4-FFF2-40B4-BE49-F238E27FC236}">
                <a16:creationId xmlns:a16="http://schemas.microsoft.com/office/drawing/2014/main" id="{10B4863C-9DC3-470D-83EC-69609B2A4198}"/>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11</a:t>
            </a:r>
          </a:p>
        </p:txBody>
      </p:sp>
      <p:sp>
        <p:nvSpPr>
          <p:cNvPr id="5" name="Gebruik de bronnen op boekpagina 66.">
            <a:extLst xmlns:a="http://schemas.openxmlformats.org/drawingml/2006/main">
              <a:ext uri="{FF2B5EF4-FFF2-40B4-BE49-F238E27FC236}">
                <a16:creationId xmlns:a16="http://schemas.microsoft.com/office/drawing/2014/main" id="{093BB8DA-DA2E-4AAE-AF47-4F9B8399DCBE}"/>
              </a:ext>
            </a:extLst>
          </p:cNvPr>
          <p:cNvSpPr>
            <a:spLocks xmlns:a="http://schemas.openxmlformats.org/drawingml/2006/main" noGrp="1"/>
          </p:cNvSpPr>
          <p:nvPr/>
        </p:nvSpPr>
        <p:spPr>
          <a:xfrm xmlns:a="http://schemas.openxmlformats.org/drawingml/2006/main">
            <a:off x="571500" y="1752600"/>
            <a:ext cx="14097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17658A"/>
                </a:solidFill>
                <a:latin typeface="Arial"/>
                <a:ea typeface="Arial"/>
                <a:cs typeface="Arial"/>
              </a:defRPr>
            </a:pPr>
            <a:r>
              <a:rPr sz="2550" b="1">
                <a:solidFill>
                  <a:srgbClr val="17658A"/>
                </a:solidFill>
                <a:latin typeface="Arial"/>
                <a:ea typeface="Arial"/>
                <a:cs typeface="Arial"/>
              </a:rPr>
              <a:t>Gebruik de bronnen op boekpagina 66.</a:t>
            </a:r>
          </a:p>
        </p:txBody>
      </p:sp>
      <p:sp>
        <p:nvSpPr>
          <p:cNvPr id="6" name="4.">
            <a:extLst xmlns:a="http://schemas.openxmlformats.org/drawingml/2006/main">
              <a:ext uri="{FF2B5EF4-FFF2-40B4-BE49-F238E27FC236}">
                <a16:creationId xmlns:a16="http://schemas.microsoft.com/office/drawing/2014/main" id="{5264B9E0-DF68-42A7-9223-13944108D07C}"/>
              </a:ext>
            </a:extLst>
          </p:cNvPr>
          <p:cNvSpPr>
            <a:spLocks xmlns:a="http://schemas.openxmlformats.org/drawingml/2006/main" noGrp="1"/>
          </p:cNvSpPr>
          <p:nvPr/>
        </p:nvSpPr>
        <p:spPr>
          <a:xfrm xmlns:a="http://schemas.openxmlformats.org/drawingml/2006/main">
            <a:off x="571500" y="2781300"/>
            <a:ext cx="714375" cy="2428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1">
                <a:solidFill>
                  <a:srgbClr val="17658A"/>
                </a:solidFill>
                <a:latin typeface="Arial"/>
                <a:ea typeface="Arial"/>
                <a:cs typeface="Arial"/>
              </a:defRPr>
            </a:pPr>
            <a:r>
              <a:rPr sz="2925" b="1">
                <a:solidFill>
                  <a:srgbClr val="17658A"/>
                </a:solidFill>
                <a:latin typeface="Arial"/>
                <a:ea typeface="Arial"/>
                <a:cs typeface="Arial"/>
              </a:rPr>
              <a:t>4.</a:t>
            </a:r>
          </a:p>
        </p:txBody>
      </p:sp>
      <p:sp>
        <p:nvSpPr>
          <p:cNvPr id="7" name="Bereken en classificeer met bron B Ei voor Premium en Budget">
            <a:extLst xmlns:a="http://schemas.openxmlformats.org/drawingml/2006/main">
              <a:ext uri="{FF2B5EF4-FFF2-40B4-BE49-F238E27FC236}">
                <a16:creationId xmlns:a16="http://schemas.microsoft.com/office/drawing/2014/main" id="{48A40DE9-D345-42C6-AED6-E70DAFF34F4B}"/>
              </a:ext>
            </a:extLst>
          </p:cNvPr>
          <p:cNvSpPr>
            <a:spLocks xmlns:a="http://schemas.openxmlformats.org/drawingml/2006/main" noGrp="1"/>
          </p:cNvSpPr>
          <p:nvPr/>
        </p:nvSpPr>
        <p:spPr>
          <a:xfrm xmlns:a="http://schemas.openxmlformats.org/drawingml/2006/main">
            <a:off x="1495425" y="2781300"/>
            <a:ext cx="13173075" cy="2428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0">
                <a:solidFill>
                  <a:srgbClr val="183247"/>
                </a:solidFill>
                <a:latin typeface="Arial"/>
                <a:ea typeface="Arial"/>
                <a:cs typeface="Arial"/>
              </a:defRPr>
            </a:pPr>
            <a:r>
              <a:rPr sz="2700" b="0">
                <a:solidFill>
                  <a:srgbClr val="183247"/>
                </a:solidFill>
                <a:latin typeface="Arial"/>
                <a:ea typeface="Arial"/>
                <a:cs typeface="Arial"/>
              </a:rPr>
              <a:t>Bereken en classificeer met bron B Ei voor Premium en Budget en met bron C Ek van de vraag naar StreamPlus ten opzichte van de prijs van het concurrerende abonnement. Noem bij Ek beide diensten. (4 punten)</a:t>
            </a:r>
          </a:p>
        </p:txBody>
      </p:sp>
      <p:sp>
        <p:nvSpPr>
          <p:cNvPr id="8" name="5.">
            <a:extLst xmlns:a="http://schemas.openxmlformats.org/drawingml/2006/main">
              <a:ext uri="{FF2B5EF4-FFF2-40B4-BE49-F238E27FC236}">
                <a16:creationId xmlns:a16="http://schemas.microsoft.com/office/drawing/2014/main" id="{8079FCE3-8F0B-4E16-9695-ED102C5B0BB7}"/>
              </a:ext>
            </a:extLst>
          </p:cNvPr>
          <p:cNvSpPr>
            <a:spLocks xmlns:a="http://schemas.openxmlformats.org/drawingml/2006/main" noGrp="1"/>
          </p:cNvSpPr>
          <p:nvPr/>
        </p:nvSpPr>
        <p:spPr>
          <a:xfrm xmlns:a="http://schemas.openxmlformats.org/drawingml/2006/main">
            <a:off x="571500" y="5629275"/>
            <a:ext cx="714375" cy="2428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1">
                <a:solidFill>
                  <a:srgbClr val="17658A"/>
                </a:solidFill>
                <a:latin typeface="Arial"/>
                <a:ea typeface="Arial"/>
                <a:cs typeface="Arial"/>
              </a:defRPr>
            </a:pPr>
            <a:r>
              <a:rPr sz="2925" b="1">
                <a:solidFill>
                  <a:srgbClr val="17658A"/>
                </a:solidFill>
                <a:latin typeface="Arial"/>
                <a:ea typeface="Arial"/>
                <a:cs typeface="Arial"/>
              </a:rPr>
              <a:t>5.</a:t>
            </a:r>
          </a:p>
        </p:txBody>
      </p:sp>
      <p:sp>
        <p:nvSpPr>
          <p:cNvPr id="9" name="Bereken met bron D Q in de beginsituatie en nadat alleen Y s">
            <a:extLst xmlns:a="http://schemas.openxmlformats.org/drawingml/2006/main">
              <a:ext uri="{FF2B5EF4-FFF2-40B4-BE49-F238E27FC236}">
                <a16:creationId xmlns:a16="http://schemas.microsoft.com/office/drawing/2014/main" id="{A9658877-F189-42BB-9855-30AE8F88AA9C}"/>
              </a:ext>
            </a:extLst>
          </p:cNvPr>
          <p:cNvSpPr>
            <a:spLocks xmlns:a="http://schemas.openxmlformats.org/drawingml/2006/main" noGrp="1"/>
          </p:cNvSpPr>
          <p:nvPr/>
        </p:nvSpPr>
        <p:spPr>
          <a:xfrm xmlns:a="http://schemas.openxmlformats.org/drawingml/2006/main">
            <a:off x="1495425" y="5629275"/>
            <a:ext cx="13173075" cy="2428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0">
                <a:solidFill>
                  <a:srgbClr val="183247"/>
                </a:solidFill>
                <a:latin typeface="Arial"/>
                <a:ea typeface="Arial"/>
                <a:cs typeface="Arial"/>
              </a:defRPr>
            </a:pPr>
            <a:r>
              <a:rPr sz="2700" b="0">
                <a:solidFill>
                  <a:srgbClr val="183247"/>
                </a:solidFill>
                <a:latin typeface="Arial"/>
                <a:ea typeface="Arial"/>
                <a:cs typeface="Arial"/>
              </a:rPr>
              <a:t>Bereken met bron D Q in de beginsituatie en nadat alleen Y stijgt naar €42.000 per jaar. Noem welke variabelen gelijk blijven. (2 punten)</a:t>
            </a:r>
          </a:p>
        </p:txBody>
      </p:sp>
    </p:spTree>
    <p:extLst>
      <p:ext uri="{BB962C8B-B14F-4D97-AF65-F5344CB8AC3E}">
        <p14:creationId xmlns:p14="http://schemas.microsoft.com/office/powerpoint/2010/main" val="464438889"/>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Opgave 5 · Vraag 6">
            <a:extLst xmlns:a="http://schemas.openxmlformats.org/drawingml/2006/main">
              <a:ext uri="{FF2B5EF4-FFF2-40B4-BE49-F238E27FC236}">
                <a16:creationId xmlns:a16="http://schemas.microsoft.com/office/drawing/2014/main" id="{935C0E74-E247-45C8-BCC9-8A8149A1690F}"/>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Opgave 5 · Vraag 6</a:t>
            </a:r>
          </a:p>
        </p:txBody>
      </p:sp>
      <p:sp>
        <p:nvSpPr>
          <p:cNvPr id="2" name="">
            <a:extLst xmlns:a="http://schemas.openxmlformats.org/drawingml/2006/main">
              <a:ext uri="{FF2B5EF4-FFF2-40B4-BE49-F238E27FC236}">
                <a16:creationId xmlns:a16="http://schemas.microsoft.com/office/drawing/2014/main" id="{DA384805-D0E2-4FAC-A5FA-636AE25BD11A}"/>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footer">
            <a:extLst xmlns:a="http://schemas.openxmlformats.org/drawingml/2006/main">
              <a:ext uri="{FF2B5EF4-FFF2-40B4-BE49-F238E27FC236}">
                <a16:creationId xmlns:a16="http://schemas.microsoft.com/office/drawing/2014/main" id="{CBB04DF2-D5FC-4D46-B43E-0D101E5E186A}"/>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§2.2.4 Gemengde opgaven · Opgave 5 · Boekpagina 66–67</a:t>
            </a:r>
          </a:p>
        </p:txBody>
      </p:sp>
      <p:sp>
        <p:nvSpPr>
          <p:cNvPr id="4" name="slide-number">
            <a:extLst xmlns:a="http://schemas.openxmlformats.org/drawingml/2006/main">
              <a:ext uri="{FF2B5EF4-FFF2-40B4-BE49-F238E27FC236}">
                <a16:creationId xmlns:a16="http://schemas.microsoft.com/office/drawing/2014/main" id="{F7697B34-5503-4212-972C-EB8592DD5DDD}"/>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12</a:t>
            </a:r>
          </a:p>
        </p:txBody>
      </p:sp>
      <p:sp>
        <p:nvSpPr>
          <p:cNvPr id="5" name="Gebruik de bronnen op boekpagina 66.">
            <a:extLst xmlns:a="http://schemas.openxmlformats.org/drawingml/2006/main">
              <a:ext uri="{FF2B5EF4-FFF2-40B4-BE49-F238E27FC236}">
                <a16:creationId xmlns:a16="http://schemas.microsoft.com/office/drawing/2014/main" id="{DB674834-59D2-48E8-84FC-1986F01CEABE}"/>
              </a:ext>
            </a:extLst>
          </p:cNvPr>
          <p:cNvSpPr>
            <a:spLocks xmlns:a="http://schemas.openxmlformats.org/drawingml/2006/main" noGrp="1"/>
          </p:cNvSpPr>
          <p:nvPr/>
        </p:nvSpPr>
        <p:spPr>
          <a:xfrm xmlns:a="http://schemas.openxmlformats.org/drawingml/2006/main">
            <a:off x="571500" y="1752600"/>
            <a:ext cx="14097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17658A"/>
                </a:solidFill>
                <a:latin typeface="Arial"/>
                <a:ea typeface="Arial"/>
                <a:cs typeface="Arial"/>
              </a:defRPr>
            </a:pPr>
            <a:r>
              <a:rPr sz="2550" b="1">
                <a:solidFill>
                  <a:srgbClr val="17658A"/>
                </a:solidFill>
                <a:latin typeface="Arial"/>
                <a:ea typeface="Arial"/>
                <a:cs typeface="Arial"/>
              </a:rPr>
              <a:t>Gebruik de bronnen op boekpagina 66.</a:t>
            </a:r>
          </a:p>
        </p:txBody>
      </p:sp>
      <p:sp>
        <p:nvSpPr>
          <p:cNvPr id="6" name="6.">
            <a:extLst xmlns:a="http://schemas.openxmlformats.org/drawingml/2006/main">
              <a:ext uri="{FF2B5EF4-FFF2-40B4-BE49-F238E27FC236}">
                <a16:creationId xmlns:a16="http://schemas.microsoft.com/office/drawing/2014/main" id="{51F636F5-F9A9-4D0F-899D-51854EAF4D49}"/>
              </a:ext>
            </a:extLst>
          </p:cNvPr>
          <p:cNvSpPr>
            <a:spLocks xmlns:a="http://schemas.openxmlformats.org/drawingml/2006/main" noGrp="1"/>
          </p:cNvSpPr>
          <p:nvPr/>
        </p:nvSpPr>
        <p:spPr>
          <a:xfrm xmlns:a="http://schemas.openxmlformats.org/drawingml/2006/main">
            <a:off x="571500" y="3048000"/>
            <a:ext cx="714375" cy="2428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1">
                <a:solidFill>
                  <a:srgbClr val="17658A"/>
                </a:solidFill>
                <a:latin typeface="Arial"/>
                <a:ea typeface="Arial"/>
                <a:cs typeface="Arial"/>
              </a:defRPr>
            </a:pPr>
            <a:r>
              <a:rPr sz="2925" b="1">
                <a:solidFill>
                  <a:srgbClr val="17658A"/>
                </a:solidFill>
                <a:latin typeface="Arial"/>
                <a:ea typeface="Arial"/>
                <a:cs typeface="Arial"/>
              </a:rPr>
              <a:t>6.</a:t>
            </a:r>
          </a:p>
        </p:txBody>
      </p:sp>
      <p:sp>
        <p:nvSpPr>
          <p:cNvPr id="7" name="Geef op basis van minstens twee bronnen een voorzichtig omze">
            <a:extLst xmlns:a="http://schemas.openxmlformats.org/drawingml/2006/main">
              <a:ext uri="{FF2B5EF4-FFF2-40B4-BE49-F238E27FC236}">
                <a16:creationId xmlns:a16="http://schemas.microsoft.com/office/drawing/2014/main" id="{714423CA-D37C-4657-85F9-10F688C513B6}"/>
              </a:ext>
            </a:extLst>
          </p:cNvPr>
          <p:cNvSpPr>
            <a:spLocks xmlns:a="http://schemas.openxmlformats.org/drawingml/2006/main" noGrp="1"/>
          </p:cNvSpPr>
          <p:nvPr/>
        </p:nvSpPr>
        <p:spPr>
          <a:xfrm xmlns:a="http://schemas.openxmlformats.org/drawingml/2006/main">
            <a:off x="1495425" y="3048000"/>
            <a:ext cx="13173075" cy="2428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0">
                <a:solidFill>
                  <a:srgbClr val="183247"/>
                </a:solidFill>
                <a:latin typeface="Arial"/>
                <a:ea typeface="Arial"/>
                <a:cs typeface="Arial"/>
              </a:defRPr>
            </a:pPr>
            <a:r>
              <a:rPr sz="2700" b="0">
                <a:solidFill>
                  <a:srgbClr val="183247"/>
                </a:solidFill>
                <a:latin typeface="Arial"/>
                <a:ea typeface="Arial"/>
                <a:cs typeface="Arial"/>
              </a:rPr>
              <a:t>Geef op basis van minstens twee bronnen een voorzichtig omzetadvies. Noem één conclusie die de bronnen ondersteunen en precies twee conclusies die zij niet bewijzen. (2 punten)</a:t>
            </a:r>
          </a:p>
        </p:txBody>
      </p:sp>
      <p:sp>
        <p:nvSpPr>
          <p:cNvPr id="8" name="Na afloop: vergelijk berekeningen, eenheden en redenering&#10;me">
            <a:extLst xmlns:a="http://schemas.openxmlformats.org/drawingml/2006/main">
              <a:ext uri="{FF2B5EF4-FFF2-40B4-BE49-F238E27FC236}">
                <a16:creationId xmlns:a16="http://schemas.microsoft.com/office/drawing/2014/main" id="{E3EA44F5-A1E8-458C-84C7-41571414C62F}"/>
              </a:ext>
            </a:extLst>
          </p:cNvPr>
          <p:cNvSpPr>
            <a:spLocks xmlns:a="http://schemas.openxmlformats.org/drawingml/2006/main" noGrp="1"/>
          </p:cNvSpPr>
          <p:nvPr/>
        </p:nvSpPr>
        <p:spPr>
          <a:xfrm xmlns:a="http://schemas.openxmlformats.org/drawingml/2006/main">
            <a:off x="1495425" y="6400800"/>
            <a:ext cx="13173075"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0">
                <a:solidFill>
                  <a:srgbClr val="445B6B"/>
                </a:solidFill>
                <a:latin typeface="Arial"/>
                <a:ea typeface="Arial"/>
                <a:cs typeface="Arial"/>
              </a:defRPr>
            </a:pPr>
            <a:r>
              <a:rPr sz="2550" b="0">
                <a:solidFill>
                  <a:srgbClr val="445B6B"/>
                </a:solidFill>
                <a:latin typeface="Arial"/>
                <a:ea typeface="Arial"/>
                <a:cs typeface="Arial"/>
              </a:rPr>
              <a:t>Na afloop: vergelijk berekeningen, eenheden en redenering</a:t>
            </a:r>
          </a:p>
          <a:p xmlns:a="http://schemas.openxmlformats.org/drawingml/2006/main">
            <a:pPr algn="l">
              <a:defRPr sz="2550" b="0">
                <a:solidFill>
                  <a:srgbClr val="445B6B"/>
                </a:solidFill>
                <a:latin typeface="Arial"/>
                <a:ea typeface="Arial"/>
                <a:cs typeface="Arial"/>
              </a:defRPr>
            </a:pPr>
            <a:r>
              <a:rPr sz="2550" b="0">
                <a:solidFill>
                  <a:srgbClr val="445B6B"/>
                </a:solidFill>
                <a:latin typeface="Arial"/>
                <a:ea typeface="Arial"/>
                <a:cs typeface="Arial"/>
              </a:rPr>
              <a:t>met het antwoordenboek.</a:t>
            </a:r>
          </a:p>
        </p:txBody>
      </p:sp>
    </p:spTree>
    <p:extLst>
      <p:ext uri="{BB962C8B-B14F-4D97-AF65-F5344CB8AC3E}">
        <p14:creationId xmlns:p14="http://schemas.microsoft.com/office/powerpoint/2010/main" val="1762597755"/>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Opgave 5.1 · Relevante gegevens">
            <a:extLst xmlns:a="http://schemas.openxmlformats.org/drawingml/2006/main">
              <a:ext uri="{FF2B5EF4-FFF2-40B4-BE49-F238E27FC236}">
                <a16:creationId xmlns:a16="http://schemas.microsoft.com/office/drawing/2014/main" id="{F30E134D-FD25-45F7-86A1-366A3111DC4D}"/>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Opgave 5.1 · Relevante gegevens</a:t>
            </a:r>
          </a:p>
        </p:txBody>
      </p:sp>
      <p:sp>
        <p:nvSpPr>
          <p:cNvPr id="2" name="">
            <a:extLst xmlns:a="http://schemas.openxmlformats.org/drawingml/2006/main">
              <a:ext uri="{FF2B5EF4-FFF2-40B4-BE49-F238E27FC236}">
                <a16:creationId xmlns:a16="http://schemas.microsoft.com/office/drawing/2014/main" id="{E0ED8BEE-2D0A-4714-BE11-65E4681B2EBF}"/>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footer">
            <a:extLst xmlns:a="http://schemas.openxmlformats.org/drawingml/2006/main">
              <a:ext uri="{FF2B5EF4-FFF2-40B4-BE49-F238E27FC236}">
                <a16:creationId xmlns:a16="http://schemas.microsoft.com/office/drawing/2014/main" id="{49CEA5D8-05F6-4E79-85B8-0105253AD697}"/>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§2.2.4 Gemengde opgaven · Opgave 5 · Boekpagina 66–67</a:t>
            </a:r>
          </a:p>
        </p:txBody>
      </p:sp>
      <p:sp>
        <p:nvSpPr>
          <p:cNvPr id="4" name="slide-number">
            <a:extLst xmlns:a="http://schemas.openxmlformats.org/drawingml/2006/main">
              <a:ext uri="{FF2B5EF4-FFF2-40B4-BE49-F238E27FC236}">
                <a16:creationId xmlns:a16="http://schemas.microsoft.com/office/drawing/2014/main" id="{FCEFDC8C-7A23-47BC-A85B-8B6A8FB291D2}"/>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13</a:t>
            </a:r>
          </a:p>
        </p:txBody>
      </p:sp>
      <p:graphicFrame>
        <p:nvGraphicFramePr>
          <p:cNvPr id="12" name=""/>
          <p:cNvGraphicFramePr/>
          <p:nvPr/>
        </p:nvGraphicFramePr>
        <p:xfrm>
          <a:off xmlns:a="http://schemas.openxmlformats.org/drawingml/2006/main" x="571500" y="2143125"/>
          <a:ext xmlns:a="http://schemas.openxmlformats.org/drawingml/2006/main" cx="14097000" cy="2457450"/>
        </p:xfrm>
        <a:graphic xmlns:a="http://schemas.openxmlformats.org/drawingml/2006/main">
          <a:graphicData uri="http://schemas.openxmlformats.org/drawingml/2006/table">
            <a:tbl>
              <a:tblPr/>
              <a:tblGrid>
                <a:gridCol w="7429500"/>
                <a:gridCol w="3333750"/>
                <a:gridCol w="3333750"/>
              </a:tblGrid>
              <a:tr h="819150">
                <a:tc>
                  <a:txBody>
                    <a:bodyPr lIns="171450" tIns="95250" rIns="152400" bIns="95250"/>
                    <a:lstStyle/>
                    <a:p>
                      <a:r>
                        <a:rPr sz="2625" b="1">
                          <a:solidFill>
                            <a:srgbClr val="FFFFFF"/>
                          </a:solidFill>
                          <a:latin typeface="Arial"/>
                          <a:ea typeface="Arial"/>
                          <a:cs typeface="Arial"/>
                        </a:rPr>
                        <a:t>Nodig voor Ev</a:t>
                      </a:r>
                    </a:p>
                  </a:txBody>
                  <a:tcPr marL="91440" marR="91440" marT="45720" marB="45720" anchor="ctr">
                    <a:solidFill>
                      <a:srgbClr val="183247"/>
                    </a:solidFill>
                  </a:tcPr>
                </a:tc>
                <a:tc>
                  <a:txBody>
                    <a:bodyPr lIns="171450" tIns="95250" rIns="152400" bIns="95250"/>
                    <a:lstStyle/>
                    <a:p>
                      <a:r>
                        <a:rPr sz="2625" b="1">
                          <a:solidFill>
                            <a:srgbClr val="FFFFFF"/>
                          </a:solidFill>
                          <a:latin typeface="Arial"/>
                          <a:ea typeface="Arial"/>
                          <a:cs typeface="Arial"/>
                        </a:rPr>
                        <a:t>Oud</a:t>
                      </a:r>
                    </a:p>
                  </a:txBody>
                  <a:tcPr marL="91440" marR="91440" marT="45720" marB="45720" anchor="ctr">
                    <a:solidFill>
                      <a:srgbClr val="183247"/>
                    </a:solidFill>
                  </a:tcPr>
                </a:tc>
                <a:tc>
                  <a:txBody>
                    <a:bodyPr lIns="171450" tIns="95250" rIns="152400" bIns="95250"/>
                    <a:lstStyle/>
                    <a:p>
                      <a:r>
                        <a:rPr sz="2625" b="1">
                          <a:solidFill>
                            <a:srgbClr val="FFFFFF"/>
                          </a:solidFill>
                          <a:latin typeface="Arial"/>
                          <a:ea typeface="Arial"/>
                          <a:cs typeface="Arial"/>
                        </a:rPr>
                        <a:t>Nieuw</a:t>
                      </a:r>
                    </a:p>
                  </a:txBody>
                  <a:tcPr marL="91440" marR="91440" marT="45720" marB="45720" anchor="ctr">
                    <a:solidFill>
                      <a:srgbClr val="183247"/>
                    </a:solidFill>
                  </a:tcPr>
                </a:tc>
              </a:tr>
              <a:tr h="819150">
                <a:tc>
                  <a:txBody>
                    <a:bodyPr lIns="171450" tIns="95250" rIns="152400" bIns="95250"/>
                    <a:lstStyle/>
                    <a:p>
                      <a:r>
                        <a:rPr sz="2625" b="0">
                          <a:solidFill>
                            <a:srgbClr val="183247"/>
                          </a:solidFill>
                          <a:latin typeface="Arial"/>
                          <a:ea typeface="Arial"/>
                          <a:cs typeface="Arial"/>
                        </a:rPr>
                        <a:t>P (€ per maand)</a:t>
                      </a:r>
                    </a:p>
                  </a:txBody>
                  <a:tcPr marL="91440" marR="91440" marT="45720" marB="45720" anchor="ctr">
                    <a:solidFill>
                      <a:srgbClr val="FFFFFF"/>
                    </a:solidFill>
                  </a:tcPr>
                </a:tc>
                <a:tc>
                  <a:txBody>
                    <a:bodyPr lIns="171450" tIns="95250" rIns="152400" bIns="95250"/>
                    <a:lstStyle/>
                    <a:p>
                      <a:r>
                        <a:rPr sz="2625" b="0">
                          <a:solidFill>
                            <a:srgbClr val="183247"/>
                          </a:solidFill>
                          <a:latin typeface="Arial"/>
                          <a:ea typeface="Arial"/>
                          <a:cs typeface="Arial"/>
                        </a:rPr>
                        <a:t>10</a:t>
                      </a:r>
                    </a:p>
                  </a:txBody>
                  <a:tcPr marL="91440" marR="91440" marT="45720" marB="45720" anchor="ctr">
                    <a:solidFill>
                      <a:srgbClr val="FFFFFF"/>
                    </a:solidFill>
                  </a:tcPr>
                </a:tc>
                <a:tc>
                  <a:txBody>
                    <a:bodyPr lIns="171450" tIns="95250" rIns="152400" bIns="95250"/>
                    <a:lstStyle/>
                    <a:p>
                      <a:r>
                        <a:rPr sz="2625" b="0">
                          <a:solidFill>
                            <a:srgbClr val="183247"/>
                          </a:solidFill>
                          <a:latin typeface="Arial"/>
                          <a:ea typeface="Arial"/>
                          <a:cs typeface="Arial"/>
                        </a:rPr>
                        <a:t>12</a:t>
                      </a:r>
                    </a:p>
                  </a:txBody>
                  <a:tcPr marL="91440" marR="91440" marT="45720" marB="45720" anchor="ctr">
                    <a:solidFill>
                      <a:srgbClr val="FFFFFF"/>
                    </a:solidFill>
                  </a:tcPr>
                </a:tc>
              </a:tr>
              <a:tr h="819150">
                <a:tc>
                  <a:txBody>
                    <a:bodyPr lIns="171450" tIns="95250" rIns="152400" bIns="95250"/>
                    <a:lstStyle/>
                    <a:p>
                      <a:r>
                        <a:rPr sz="2625" b="0">
                          <a:solidFill>
                            <a:srgbClr val="183247"/>
                          </a:solidFill>
                          <a:latin typeface="Arial"/>
                          <a:ea typeface="Arial"/>
                          <a:cs typeface="Arial"/>
                        </a:rPr>
                        <a:t>Q (abonnees)</a:t>
                      </a:r>
                    </a:p>
                  </a:txBody>
                  <a:tcPr marL="91440" marR="91440" marT="45720" marB="45720" anchor="ctr">
                    <a:solidFill>
                      <a:srgbClr val="EFF4F7"/>
                    </a:solidFill>
                  </a:tcPr>
                </a:tc>
                <a:tc>
                  <a:txBody>
                    <a:bodyPr lIns="171450" tIns="95250" rIns="152400" bIns="95250"/>
                    <a:lstStyle/>
                    <a:p>
                      <a:r>
                        <a:rPr sz="2625" b="0">
                          <a:solidFill>
                            <a:srgbClr val="183247"/>
                          </a:solidFill>
                          <a:latin typeface="Arial"/>
                          <a:ea typeface="Arial"/>
                          <a:cs typeface="Arial"/>
                        </a:rPr>
                        <a:t>50.000</a:t>
                      </a:r>
                    </a:p>
                  </a:txBody>
                  <a:tcPr marL="91440" marR="91440" marT="45720" marB="45720" anchor="ctr">
                    <a:solidFill>
                      <a:srgbClr val="EFF4F7"/>
                    </a:solidFill>
                  </a:tcPr>
                </a:tc>
                <a:tc>
                  <a:txBody>
                    <a:bodyPr lIns="171450" tIns="95250" rIns="152400" bIns="95250"/>
                    <a:lstStyle/>
                    <a:p>
                      <a:r>
                        <a:rPr sz="2625" b="0">
                          <a:solidFill>
                            <a:srgbClr val="183247"/>
                          </a:solidFill>
                          <a:latin typeface="Arial"/>
                          <a:ea typeface="Arial"/>
                          <a:cs typeface="Arial"/>
                        </a:rPr>
                        <a:t>43.000</a:t>
                      </a:r>
                    </a:p>
                  </a:txBody>
                  <a:tcPr marL="91440" marR="91440" marT="45720" marB="45720" anchor="ctr">
                    <a:solidFill>
                      <a:srgbClr val="EFF4F7"/>
                    </a:solidFill>
                  </a:tcPr>
                </a:tc>
              </a:tr>
            </a:tbl>
          </a:graphicData>
        </a:graphic>
      </p:graphicFrame>
      <p:sp>
        <p:nvSpPr>
          <p:cNvPr id="6" name="Ev = %ΔQ / %ΔP">
            <a:extLst xmlns:a="http://schemas.openxmlformats.org/drawingml/2006/main">
              <a:ext uri="{FF2B5EF4-FFF2-40B4-BE49-F238E27FC236}">
                <a16:creationId xmlns:a16="http://schemas.microsoft.com/office/drawing/2014/main" id="{2CBC66EE-BFE5-424E-A095-9B84B1DFB999}"/>
              </a:ext>
            </a:extLst>
          </p:cNvPr>
          <p:cNvSpPr>
            <a:spLocks xmlns:a="http://schemas.openxmlformats.org/drawingml/2006/main" noGrp="1"/>
          </p:cNvSpPr>
          <p:nvPr/>
        </p:nvSpPr>
        <p:spPr>
          <a:xfrm xmlns:a="http://schemas.openxmlformats.org/drawingml/2006/main">
            <a:off x="571500" y="5191125"/>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7658A"/>
                </a:solidFill>
                <a:latin typeface="Arial"/>
                <a:ea typeface="Arial"/>
                <a:cs typeface="Arial"/>
              </a:defRPr>
            </a:pPr>
            <a:r>
              <a:rPr sz="3900" b="1">
                <a:solidFill>
                  <a:srgbClr val="17658A"/>
                </a:solidFill>
                <a:latin typeface="Arial"/>
                <a:ea typeface="Arial"/>
                <a:cs typeface="Arial"/>
              </a:rPr>
              <a:t>Ev = %ΔQ / %ΔP</a:t>
            </a:r>
          </a:p>
        </p:txBody>
      </p:sp>
      <p:sp>
        <p:nvSpPr>
          <p:cNvPr id="7" name="De appscore 4,6/5 staat in geen van beide breuken.">
            <a:extLst xmlns:a="http://schemas.openxmlformats.org/drawingml/2006/main">
              <a:ext uri="{FF2B5EF4-FFF2-40B4-BE49-F238E27FC236}">
                <a16:creationId xmlns:a16="http://schemas.microsoft.com/office/drawing/2014/main" id="{EC3FF0DE-642D-4C4D-AE38-11CC87FA88A8}"/>
              </a:ext>
            </a:extLst>
          </p:cNvPr>
          <p:cNvSpPr>
            <a:spLocks xmlns:a="http://schemas.openxmlformats.org/drawingml/2006/main" noGrp="1"/>
          </p:cNvSpPr>
          <p:nvPr/>
        </p:nvSpPr>
        <p:spPr>
          <a:xfrm xmlns:a="http://schemas.openxmlformats.org/drawingml/2006/main">
            <a:off x="571500" y="6534150"/>
            <a:ext cx="14097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A94D16"/>
                </a:solidFill>
                <a:latin typeface="Arial"/>
                <a:ea typeface="Arial"/>
                <a:cs typeface="Arial"/>
              </a:defRPr>
            </a:pPr>
            <a:r>
              <a:rPr sz="3000" b="1">
                <a:solidFill>
                  <a:srgbClr val="A94D16"/>
                </a:solidFill>
                <a:latin typeface="Arial"/>
                <a:ea typeface="Arial"/>
                <a:cs typeface="Arial"/>
              </a:rPr>
              <a:t>De appscore 4,6/5 staat in geen van beide breuken.</a:t>
            </a:r>
          </a:p>
        </p:txBody>
      </p:sp>
    </p:spTree>
    <p:extLst>
      <p:ext uri="{BB962C8B-B14F-4D97-AF65-F5344CB8AC3E}">
        <p14:creationId xmlns:p14="http://schemas.microsoft.com/office/powerpoint/2010/main" val="1128833635"/>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Opgave 5.2 · Prijsinelastische vraag">
            <a:extLst xmlns:a="http://schemas.openxmlformats.org/drawingml/2006/main">
              <a:ext uri="{FF2B5EF4-FFF2-40B4-BE49-F238E27FC236}">
                <a16:creationId xmlns:a16="http://schemas.microsoft.com/office/drawing/2014/main" id="{C833D45C-FCC8-48E1-BA0C-FB6499E92382}"/>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Opgave 5.2 · Prijsinelastische vraag</a:t>
            </a:r>
          </a:p>
        </p:txBody>
      </p:sp>
      <p:sp>
        <p:nvSpPr>
          <p:cNvPr id="2" name="">
            <a:extLst xmlns:a="http://schemas.openxmlformats.org/drawingml/2006/main">
              <a:ext uri="{FF2B5EF4-FFF2-40B4-BE49-F238E27FC236}">
                <a16:creationId xmlns:a16="http://schemas.microsoft.com/office/drawing/2014/main" id="{FF30084D-A203-4453-AE80-3EEE39B436F4}"/>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footer">
            <a:extLst xmlns:a="http://schemas.openxmlformats.org/drawingml/2006/main">
              <a:ext uri="{FF2B5EF4-FFF2-40B4-BE49-F238E27FC236}">
                <a16:creationId xmlns:a16="http://schemas.microsoft.com/office/drawing/2014/main" id="{09C5E8DA-1868-41F7-ACC2-8C96E0A1C0F8}"/>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§2.2.4 Gemengde opgaven · Opgave 5 · Boekpagina 66–67</a:t>
            </a:r>
          </a:p>
        </p:txBody>
      </p:sp>
      <p:sp>
        <p:nvSpPr>
          <p:cNvPr id="4" name="slide-number">
            <a:extLst xmlns:a="http://schemas.openxmlformats.org/drawingml/2006/main">
              <a:ext uri="{FF2B5EF4-FFF2-40B4-BE49-F238E27FC236}">
                <a16:creationId xmlns:a16="http://schemas.microsoft.com/office/drawing/2014/main" id="{C5DA58BB-502E-4E67-ABDC-D61B484B2991}"/>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14</a:t>
            </a:r>
          </a:p>
        </p:txBody>
      </p:sp>
      <p:sp>
        <p:nvSpPr>
          <p:cNvPr id="5" name="%ΔP = (12 − 10) / 10 × 100% = +20%">
            <a:extLst xmlns:a="http://schemas.openxmlformats.org/drawingml/2006/main">
              <a:ext uri="{FF2B5EF4-FFF2-40B4-BE49-F238E27FC236}">
                <a16:creationId xmlns:a16="http://schemas.microsoft.com/office/drawing/2014/main" id="{649C21C9-5DF4-47A1-8B18-77BA3A0FEAE9}"/>
              </a:ext>
            </a:extLst>
          </p:cNvPr>
          <p:cNvSpPr>
            <a:spLocks xmlns:a="http://schemas.openxmlformats.org/drawingml/2006/main" noGrp="1"/>
          </p:cNvSpPr>
          <p:nvPr/>
        </p:nvSpPr>
        <p:spPr>
          <a:xfrm xmlns:a="http://schemas.openxmlformats.org/drawingml/2006/main">
            <a:off x="571500" y="2009775"/>
            <a:ext cx="14097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0">
                <a:solidFill>
                  <a:srgbClr val="183247"/>
                </a:solidFill>
                <a:latin typeface="Arial"/>
                <a:ea typeface="Arial"/>
                <a:cs typeface="Arial"/>
              </a:defRPr>
            </a:pPr>
            <a:r>
              <a:rPr sz="3225" b="0">
                <a:solidFill>
                  <a:srgbClr val="183247"/>
                </a:solidFill>
                <a:latin typeface="Arial"/>
                <a:ea typeface="Arial"/>
                <a:cs typeface="Arial"/>
              </a:rPr>
              <a:t>%ΔP = (12 − 10) / 10 × 100% = +20%</a:t>
            </a:r>
          </a:p>
        </p:txBody>
      </p:sp>
      <p:sp>
        <p:nvSpPr>
          <p:cNvPr id="6" name="%ΔQ = (43.000 − 50.000) / 50.000 × 100% = −14%">
            <a:extLst xmlns:a="http://schemas.openxmlformats.org/drawingml/2006/main">
              <a:ext uri="{FF2B5EF4-FFF2-40B4-BE49-F238E27FC236}">
                <a16:creationId xmlns:a16="http://schemas.microsoft.com/office/drawing/2014/main" id="{D810DABD-0720-4CB3-BE54-98C4644557D8}"/>
              </a:ext>
            </a:extLst>
          </p:cNvPr>
          <p:cNvSpPr>
            <a:spLocks xmlns:a="http://schemas.openxmlformats.org/drawingml/2006/main" noGrp="1"/>
          </p:cNvSpPr>
          <p:nvPr/>
        </p:nvSpPr>
        <p:spPr>
          <a:xfrm xmlns:a="http://schemas.openxmlformats.org/drawingml/2006/main">
            <a:off x="571500" y="3019425"/>
            <a:ext cx="14097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0">
                <a:solidFill>
                  <a:srgbClr val="183247"/>
                </a:solidFill>
                <a:latin typeface="Arial"/>
                <a:ea typeface="Arial"/>
                <a:cs typeface="Arial"/>
              </a:defRPr>
            </a:pPr>
            <a:r>
              <a:rPr sz="3000" b="0">
                <a:solidFill>
                  <a:srgbClr val="183247"/>
                </a:solidFill>
                <a:latin typeface="Arial"/>
                <a:ea typeface="Arial"/>
                <a:cs typeface="Arial"/>
              </a:rPr>
              <a:t>%ΔQ = (43.000 − 50.000) / 50.000 × 100% = −14%</a:t>
            </a:r>
          </a:p>
        </p:txBody>
      </p:sp>
      <p:sp>
        <p:nvSpPr>
          <p:cNvPr id="7" name="Controle: Ev = −14% / +20% = −0,7">
            <a:extLst xmlns:a="http://schemas.openxmlformats.org/drawingml/2006/main">
              <a:ext uri="{FF2B5EF4-FFF2-40B4-BE49-F238E27FC236}">
                <a16:creationId xmlns:a16="http://schemas.microsoft.com/office/drawing/2014/main" id="{D42A89A3-C1B5-4D04-B2C0-CDFA12797583}"/>
              </a:ext>
            </a:extLst>
          </p:cNvPr>
          <p:cNvSpPr>
            <a:spLocks xmlns:a="http://schemas.openxmlformats.org/drawingml/2006/main" noGrp="1"/>
          </p:cNvSpPr>
          <p:nvPr/>
        </p:nvSpPr>
        <p:spPr>
          <a:xfrm xmlns:a="http://schemas.openxmlformats.org/drawingml/2006/main">
            <a:off x="571500" y="4048125"/>
            <a:ext cx="14097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7658A"/>
                </a:solidFill>
                <a:latin typeface="Arial"/>
                <a:ea typeface="Arial"/>
                <a:cs typeface="Arial"/>
              </a:defRPr>
            </a:pPr>
            <a:r>
              <a:rPr sz="3225" b="1">
                <a:solidFill>
                  <a:srgbClr val="17658A"/>
                </a:solidFill>
                <a:latin typeface="Arial"/>
                <a:ea typeface="Arial"/>
                <a:cs typeface="Arial"/>
              </a:rPr>
              <a:t>Controle: Ev = −14% / +20% = −0,7</a:t>
            </a:r>
          </a:p>
        </p:txBody>
      </p:sp>
      <p:sp>
        <p:nvSpPr>
          <p:cNvPr id="8" name="">
            <a:extLst xmlns:a="http://schemas.openxmlformats.org/drawingml/2006/main">
              <a:ext uri="{FF2B5EF4-FFF2-40B4-BE49-F238E27FC236}">
                <a16:creationId xmlns:a16="http://schemas.microsoft.com/office/drawing/2014/main" id="{62558299-1F3B-49CA-BB11-3A9689432674}"/>
              </a:ext>
            </a:extLst>
          </p:cNvPr>
          <p:cNvSpPr>
            <a:spLocks xmlns:a="http://schemas.openxmlformats.org/drawingml/2006/main" noGrp="1"/>
          </p:cNvSpPr>
          <p:nvPr/>
        </p:nvSpPr>
        <p:spPr>
          <a:xfrm xmlns:a="http://schemas.openxmlformats.org/drawingml/2006/main">
            <a:off x="571500" y="5095875"/>
            <a:ext cx="14097000" cy="0"/>
          </a:xfrm>
          <a:prstGeom xmlns:a="http://schemas.openxmlformats.org/drawingml/2006/main" prst="line">
            <a:avLst/>
          </a:prstGeom>
          <a:ln xmlns:a="http://schemas.openxmlformats.org/drawingml/2006/main" w="19050">
            <a:solidFill>
              <a:srgbClr val="C6D2DB"/>
            </a:solidFill>
          </a:ln>
        </p:spPr>
      </p:sp>
      <p:sp>
        <p:nvSpPr>
          <p:cNvPr id="9" name="−1 &lt; −0,7 &lt; 0 → prijsinelastische vraag">
            <a:extLst xmlns:a="http://schemas.openxmlformats.org/drawingml/2006/main">
              <a:ext uri="{FF2B5EF4-FFF2-40B4-BE49-F238E27FC236}">
                <a16:creationId xmlns:a16="http://schemas.microsoft.com/office/drawing/2014/main" id="{33EE3DE4-A18F-45E6-B20F-31D98C803984}"/>
              </a:ext>
            </a:extLst>
          </p:cNvPr>
          <p:cNvSpPr>
            <a:spLocks xmlns:a="http://schemas.openxmlformats.org/drawingml/2006/main" noGrp="1"/>
          </p:cNvSpPr>
          <p:nvPr/>
        </p:nvSpPr>
        <p:spPr>
          <a:xfrm xmlns:a="http://schemas.openxmlformats.org/drawingml/2006/main">
            <a:off x="571500" y="5514975"/>
            <a:ext cx="140970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83247"/>
                </a:solidFill>
                <a:latin typeface="Arial"/>
                <a:ea typeface="Arial"/>
                <a:cs typeface="Arial"/>
              </a:defRPr>
            </a:pPr>
            <a:r>
              <a:rPr sz="3225" b="1">
                <a:solidFill>
                  <a:srgbClr val="183247"/>
                </a:solidFill>
                <a:latin typeface="Arial"/>
                <a:ea typeface="Arial"/>
                <a:cs typeface="Arial"/>
              </a:rPr>
              <a:t>−1 &lt; −0,7 &lt; 0 → prijsinelastische vraag</a:t>
            </a:r>
          </a:p>
        </p:txBody>
      </p:sp>
      <p:sp>
        <p:nvSpPr>
          <p:cNvPr id="10" name="Q reageert 0,7 maal zo sterk, in tegengestelde richting.">
            <a:extLst xmlns:a="http://schemas.openxmlformats.org/drawingml/2006/main">
              <a:ext uri="{FF2B5EF4-FFF2-40B4-BE49-F238E27FC236}">
                <a16:creationId xmlns:a16="http://schemas.microsoft.com/office/drawing/2014/main" id="{7AD8237C-F0BF-41B0-B894-B1591C40B093}"/>
              </a:ext>
            </a:extLst>
          </p:cNvPr>
          <p:cNvSpPr>
            <a:spLocks xmlns:a="http://schemas.openxmlformats.org/drawingml/2006/main" noGrp="1"/>
          </p:cNvSpPr>
          <p:nvPr/>
        </p:nvSpPr>
        <p:spPr>
          <a:xfrm xmlns:a="http://schemas.openxmlformats.org/drawingml/2006/main">
            <a:off x="571500" y="6753225"/>
            <a:ext cx="140970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20665B"/>
                </a:solidFill>
                <a:latin typeface="Arial"/>
                <a:ea typeface="Arial"/>
                <a:cs typeface="Arial"/>
              </a:defRPr>
            </a:pPr>
            <a:r>
              <a:rPr sz="3000" b="1">
                <a:solidFill>
                  <a:srgbClr val="20665B"/>
                </a:solidFill>
                <a:latin typeface="Arial"/>
                <a:ea typeface="Arial"/>
                <a:cs typeface="Arial"/>
              </a:rPr>
              <a:t>Q reageert 0,7 maal zo sterk, in tegengestelde richting.</a:t>
            </a:r>
          </a:p>
        </p:txBody>
      </p:sp>
    </p:spTree>
    <p:extLst>
      <p:ext uri="{BB962C8B-B14F-4D97-AF65-F5344CB8AC3E}">
        <p14:creationId xmlns:p14="http://schemas.microsoft.com/office/powerpoint/2010/main" val="649955609"/>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Opgave 5.3 · Maandomzet">
            <a:extLst xmlns:a="http://schemas.openxmlformats.org/drawingml/2006/main">
              <a:ext uri="{FF2B5EF4-FFF2-40B4-BE49-F238E27FC236}">
                <a16:creationId xmlns:a16="http://schemas.microsoft.com/office/drawing/2014/main" id="{5EDFA63B-8F98-42FF-981D-C8741291AAB0}"/>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Opgave 5.3 · Maandomzet</a:t>
            </a:r>
          </a:p>
        </p:txBody>
      </p:sp>
      <p:sp>
        <p:nvSpPr>
          <p:cNvPr id="2" name="">
            <a:extLst xmlns:a="http://schemas.openxmlformats.org/drawingml/2006/main">
              <a:ext uri="{FF2B5EF4-FFF2-40B4-BE49-F238E27FC236}">
                <a16:creationId xmlns:a16="http://schemas.microsoft.com/office/drawing/2014/main" id="{FAA86657-DE0E-4D82-A487-AB6F7722F712}"/>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footer">
            <a:extLst xmlns:a="http://schemas.openxmlformats.org/drawingml/2006/main">
              <a:ext uri="{FF2B5EF4-FFF2-40B4-BE49-F238E27FC236}">
                <a16:creationId xmlns:a16="http://schemas.microsoft.com/office/drawing/2014/main" id="{97CF609C-6BF9-4979-81E5-0CF394CD8926}"/>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§2.2.4 Gemengde opgaven · Opgave 5 · Boekpagina 66–67</a:t>
            </a:r>
          </a:p>
        </p:txBody>
      </p:sp>
      <p:sp>
        <p:nvSpPr>
          <p:cNvPr id="4" name="slide-number">
            <a:extLst xmlns:a="http://schemas.openxmlformats.org/drawingml/2006/main">
              <a:ext uri="{FF2B5EF4-FFF2-40B4-BE49-F238E27FC236}">
                <a16:creationId xmlns:a16="http://schemas.microsoft.com/office/drawing/2014/main" id="{33C9DE7E-870C-4753-95F9-D040B26DDFEF}"/>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15</a:t>
            </a:r>
          </a:p>
        </p:txBody>
      </p:sp>
      <p:sp>
        <p:nvSpPr>
          <p:cNvPr id="5" name="TO = P × Q">
            <a:extLst xmlns:a="http://schemas.openxmlformats.org/drawingml/2006/main">
              <a:ext uri="{FF2B5EF4-FFF2-40B4-BE49-F238E27FC236}">
                <a16:creationId xmlns:a16="http://schemas.microsoft.com/office/drawing/2014/main" id="{0F37993D-A7EE-4DCB-BF70-708154BD3C5D}"/>
              </a:ext>
            </a:extLst>
          </p:cNvPr>
          <p:cNvSpPr>
            <a:spLocks xmlns:a="http://schemas.openxmlformats.org/drawingml/2006/main" noGrp="1"/>
          </p:cNvSpPr>
          <p:nvPr/>
        </p:nvSpPr>
        <p:spPr>
          <a:xfrm xmlns:a="http://schemas.openxmlformats.org/drawingml/2006/main">
            <a:off x="571500" y="1857375"/>
            <a:ext cx="140970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17658A"/>
                </a:solidFill>
                <a:latin typeface="Arial"/>
                <a:ea typeface="Arial"/>
                <a:cs typeface="Arial"/>
              </a:defRPr>
            </a:pPr>
            <a:r>
              <a:rPr sz="3600" b="1">
                <a:solidFill>
                  <a:srgbClr val="17658A"/>
                </a:solidFill>
                <a:latin typeface="Arial"/>
                <a:ea typeface="Arial"/>
                <a:cs typeface="Arial"/>
              </a:rPr>
              <a:t>TO = P × Q</a:t>
            </a:r>
          </a:p>
        </p:txBody>
      </p:sp>
      <p:graphicFrame>
        <p:nvGraphicFramePr>
          <p:cNvPr id="14" name=""/>
          <p:cNvGraphicFramePr/>
          <p:nvPr/>
        </p:nvGraphicFramePr>
        <p:xfrm>
          <a:off xmlns:a="http://schemas.openxmlformats.org/drawingml/2006/main" x="571500" y="3114675"/>
          <a:ext xmlns:a="http://schemas.openxmlformats.org/drawingml/2006/main" cx="14097000" cy="2638425"/>
        </p:xfrm>
        <a:graphic xmlns:a="http://schemas.openxmlformats.org/drawingml/2006/main">
          <a:graphicData uri="http://schemas.openxmlformats.org/drawingml/2006/table">
            <a:tbl>
              <a:tblPr/>
              <a:tblGrid>
                <a:gridCol w="3524250"/>
                <a:gridCol w="5524500"/>
                <a:gridCol w="5048250"/>
              </a:tblGrid>
              <a:tr h="879475">
                <a:tc>
                  <a:txBody>
                    <a:bodyPr lIns="171450" tIns="95250" rIns="152400" bIns="95250"/>
                    <a:lstStyle/>
                    <a:p>
                      <a:r>
                        <a:rPr sz="2700" b="1">
                          <a:solidFill>
                            <a:srgbClr val="FFFFFF"/>
                          </a:solidFill>
                          <a:latin typeface="Arial"/>
                          <a:ea typeface="Arial"/>
                          <a:cs typeface="Arial"/>
                        </a:rPr>
                        <a:t>Situatie</a:t>
                      </a:r>
                    </a:p>
                  </a:txBody>
                  <a:tcPr marL="91440" marR="91440" marT="45720" marB="45720" anchor="ctr">
                    <a:solidFill>
                      <a:srgbClr val="183247"/>
                    </a:solidFill>
                  </a:tcPr>
                </a:tc>
                <a:tc>
                  <a:txBody>
                    <a:bodyPr lIns="171450" tIns="95250" rIns="152400" bIns="95250"/>
                    <a:lstStyle/>
                    <a:p>
                      <a:r>
                        <a:rPr sz="2700" b="1">
                          <a:solidFill>
                            <a:srgbClr val="FFFFFF"/>
                          </a:solidFill>
                          <a:latin typeface="Arial"/>
                          <a:ea typeface="Arial"/>
                          <a:cs typeface="Arial"/>
                        </a:rPr>
                        <a:t>Berekening</a:t>
                      </a:r>
                    </a:p>
                  </a:txBody>
                  <a:tcPr marL="91440" marR="91440" marT="45720" marB="45720" anchor="ctr">
                    <a:solidFill>
                      <a:srgbClr val="183247"/>
                    </a:solidFill>
                  </a:tcPr>
                </a:tc>
                <a:tc>
                  <a:txBody>
                    <a:bodyPr lIns="171450" tIns="95250" rIns="152400" bIns="95250"/>
                    <a:lstStyle/>
                    <a:p>
                      <a:r>
                        <a:rPr sz="2700" b="1">
                          <a:solidFill>
                            <a:srgbClr val="FFFFFF"/>
                          </a:solidFill>
                          <a:latin typeface="Arial"/>
                          <a:ea typeface="Arial"/>
                          <a:cs typeface="Arial"/>
                        </a:rPr>
                        <a:t>TO per maand</a:t>
                      </a:r>
                    </a:p>
                  </a:txBody>
                  <a:tcPr marL="91440" marR="91440" marT="45720" marB="45720" anchor="ctr">
                    <a:solidFill>
                      <a:srgbClr val="183247"/>
                    </a:solidFill>
                  </a:tcPr>
                </a:tc>
              </a:tr>
              <a:tr h="879475">
                <a:tc>
                  <a:txBody>
                    <a:bodyPr lIns="171450" tIns="95250" rIns="152400" bIns="95250"/>
                    <a:lstStyle/>
                    <a:p>
                      <a:r>
                        <a:rPr sz="2700" b="0">
                          <a:solidFill>
                            <a:srgbClr val="183247"/>
                          </a:solidFill>
                          <a:latin typeface="Arial"/>
                          <a:ea typeface="Arial"/>
                          <a:cs typeface="Arial"/>
                        </a:rPr>
                        <a:t>Oud</a:t>
                      </a:r>
                    </a:p>
                  </a:txBody>
                  <a:tcPr marL="91440" marR="91440" marT="45720" marB="45720" anchor="ctr">
                    <a:solidFill>
                      <a:srgbClr val="FFFFFF"/>
                    </a:solidFill>
                  </a:tcPr>
                </a:tc>
                <a:tc>
                  <a:txBody>
                    <a:bodyPr lIns="171450" tIns="95250" rIns="152400" bIns="95250"/>
                    <a:lstStyle/>
                    <a:p>
                      <a:r>
                        <a:rPr sz="2700" b="0">
                          <a:solidFill>
                            <a:srgbClr val="183247"/>
                          </a:solidFill>
                          <a:latin typeface="Arial"/>
                          <a:ea typeface="Arial"/>
                          <a:cs typeface="Arial"/>
                        </a:rPr>
                        <a:t>10 × 50.000</a:t>
                      </a:r>
                    </a:p>
                  </a:txBody>
                  <a:tcPr marL="91440" marR="91440" marT="45720" marB="45720" anchor="ctr">
                    <a:solidFill>
                      <a:srgbClr val="FFFFFF"/>
                    </a:solidFill>
                  </a:tcPr>
                </a:tc>
                <a:tc>
                  <a:txBody>
                    <a:bodyPr lIns="171450" tIns="95250" rIns="152400" bIns="95250"/>
                    <a:lstStyle/>
                    <a:p>
                      <a:r>
                        <a:rPr sz="2700" b="0">
                          <a:solidFill>
                            <a:srgbClr val="183247"/>
                          </a:solidFill>
                          <a:latin typeface="Arial"/>
                          <a:ea typeface="Arial"/>
                          <a:cs typeface="Arial"/>
                        </a:rPr>
                        <a:t>€ 500.000</a:t>
                      </a:r>
                    </a:p>
                  </a:txBody>
                  <a:tcPr marL="91440" marR="91440" marT="45720" marB="45720" anchor="ctr">
                    <a:solidFill>
                      <a:srgbClr val="FFFFFF"/>
                    </a:solidFill>
                  </a:tcPr>
                </a:tc>
              </a:tr>
              <a:tr h="879475">
                <a:tc>
                  <a:txBody>
                    <a:bodyPr lIns="171450" tIns="95250" rIns="152400" bIns="95250"/>
                    <a:lstStyle/>
                    <a:p>
                      <a:r>
                        <a:rPr sz="2700" b="0">
                          <a:solidFill>
                            <a:srgbClr val="183247"/>
                          </a:solidFill>
                          <a:latin typeface="Arial"/>
                          <a:ea typeface="Arial"/>
                          <a:cs typeface="Arial"/>
                        </a:rPr>
                        <a:t>Nieuw</a:t>
                      </a:r>
                    </a:p>
                  </a:txBody>
                  <a:tcPr marL="91440" marR="91440" marT="45720" marB="45720" anchor="ctr">
                    <a:solidFill>
                      <a:srgbClr val="EFF4F7"/>
                    </a:solidFill>
                  </a:tcPr>
                </a:tc>
                <a:tc>
                  <a:txBody>
                    <a:bodyPr lIns="171450" tIns="95250" rIns="152400" bIns="95250"/>
                    <a:lstStyle/>
                    <a:p>
                      <a:r>
                        <a:rPr sz="2700" b="0">
                          <a:solidFill>
                            <a:srgbClr val="183247"/>
                          </a:solidFill>
                          <a:latin typeface="Arial"/>
                          <a:ea typeface="Arial"/>
                          <a:cs typeface="Arial"/>
                        </a:rPr>
                        <a:t>12 × 43.000</a:t>
                      </a:r>
                    </a:p>
                  </a:txBody>
                  <a:tcPr marL="91440" marR="91440" marT="45720" marB="45720" anchor="ctr">
                    <a:solidFill>
                      <a:srgbClr val="EFF4F7"/>
                    </a:solidFill>
                  </a:tcPr>
                </a:tc>
                <a:tc>
                  <a:txBody>
                    <a:bodyPr lIns="171450" tIns="95250" rIns="152400" bIns="95250"/>
                    <a:lstStyle/>
                    <a:p>
                      <a:r>
                        <a:rPr sz="2700" b="0">
                          <a:solidFill>
                            <a:srgbClr val="183247"/>
                          </a:solidFill>
                          <a:latin typeface="Arial"/>
                          <a:ea typeface="Arial"/>
                          <a:cs typeface="Arial"/>
                        </a:rPr>
                        <a:t>€ 516.000</a:t>
                      </a:r>
                    </a:p>
                  </a:txBody>
                  <a:tcPr marL="91440" marR="91440" marT="45720" marB="45720" anchor="ctr">
                    <a:solidFill>
                      <a:srgbClr val="EFF4F7"/>
                    </a:solidFill>
                  </a:tcPr>
                </a:tc>
              </a:tr>
            </a:tbl>
          </a:graphicData>
        </a:graphic>
      </p:graphicFrame>
      <p:sp>
        <p:nvSpPr>
          <p:cNvPr id="7" name="ΔTO = 516.000 − 500.000 = +€ 16.000 per maand">
            <a:extLst xmlns:a="http://schemas.openxmlformats.org/drawingml/2006/main">
              <a:ext uri="{FF2B5EF4-FFF2-40B4-BE49-F238E27FC236}">
                <a16:creationId xmlns:a16="http://schemas.microsoft.com/office/drawing/2014/main" id="{90B4781E-0E23-41DB-AD11-0BD86C3F85DF}"/>
              </a:ext>
            </a:extLst>
          </p:cNvPr>
          <p:cNvSpPr>
            <a:spLocks xmlns:a="http://schemas.openxmlformats.org/drawingml/2006/main" noGrp="1"/>
          </p:cNvSpPr>
          <p:nvPr/>
        </p:nvSpPr>
        <p:spPr>
          <a:xfrm xmlns:a="http://schemas.openxmlformats.org/drawingml/2006/main">
            <a:off x="571500" y="6305550"/>
            <a:ext cx="140970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75" b="1">
                <a:solidFill>
                  <a:srgbClr val="20665B"/>
                </a:solidFill>
                <a:latin typeface="Arial"/>
                <a:ea typeface="Arial"/>
                <a:cs typeface="Arial"/>
              </a:defRPr>
            </a:pPr>
            <a:r>
              <a:rPr sz="3075" b="1">
                <a:solidFill>
                  <a:srgbClr val="20665B"/>
                </a:solidFill>
                <a:latin typeface="Arial"/>
                <a:ea typeface="Arial"/>
                <a:cs typeface="Arial"/>
              </a:rPr>
              <a:t>ΔTO = 516.000 − 500.000 = +€ 16.000 per maand</a:t>
            </a:r>
          </a:p>
        </p:txBody>
      </p:sp>
      <p:sp>
        <p:nvSpPr>
          <p:cNvPr id="8" name="De hogere prijs compenseert hier het verlies aan abonnees.">
            <a:extLst xmlns:a="http://schemas.openxmlformats.org/drawingml/2006/main">
              <a:ext uri="{FF2B5EF4-FFF2-40B4-BE49-F238E27FC236}">
                <a16:creationId xmlns:a16="http://schemas.microsoft.com/office/drawing/2014/main" id="{0CF0B751-E305-4E4D-91AF-1CF86BF179D8}"/>
              </a:ext>
            </a:extLst>
          </p:cNvPr>
          <p:cNvSpPr>
            <a:spLocks xmlns:a="http://schemas.openxmlformats.org/drawingml/2006/main" noGrp="1"/>
          </p:cNvSpPr>
          <p:nvPr/>
        </p:nvSpPr>
        <p:spPr>
          <a:xfrm xmlns:a="http://schemas.openxmlformats.org/drawingml/2006/main">
            <a:off x="571500" y="7334250"/>
            <a:ext cx="14097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De hogere prijs compenseert hier het verlies aan abonnees.</a:t>
            </a:r>
          </a:p>
        </p:txBody>
      </p:sp>
    </p:spTree>
    <p:extLst>
      <p:ext uri="{BB962C8B-B14F-4D97-AF65-F5344CB8AC3E}">
        <p14:creationId xmlns:p14="http://schemas.microsoft.com/office/powerpoint/2010/main" val="346032610"/>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Opgave 5.4 · Inkomenselasticiteit">
            <a:extLst xmlns:a="http://schemas.openxmlformats.org/drawingml/2006/main">
              <a:ext uri="{FF2B5EF4-FFF2-40B4-BE49-F238E27FC236}">
                <a16:creationId xmlns:a16="http://schemas.microsoft.com/office/drawing/2014/main" id="{28F5103E-F707-4BB7-BC44-460026EA002C}"/>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Opgave 5.4 · Inkomenselasticiteit</a:t>
            </a:r>
          </a:p>
        </p:txBody>
      </p:sp>
      <p:sp>
        <p:nvSpPr>
          <p:cNvPr id="2" name="">
            <a:extLst xmlns:a="http://schemas.openxmlformats.org/drawingml/2006/main">
              <a:ext uri="{FF2B5EF4-FFF2-40B4-BE49-F238E27FC236}">
                <a16:creationId xmlns:a16="http://schemas.microsoft.com/office/drawing/2014/main" id="{2B2E3CD9-7E98-448D-BF32-B1AE4BB52870}"/>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footer">
            <a:extLst xmlns:a="http://schemas.openxmlformats.org/drawingml/2006/main">
              <a:ext uri="{FF2B5EF4-FFF2-40B4-BE49-F238E27FC236}">
                <a16:creationId xmlns:a16="http://schemas.microsoft.com/office/drawing/2014/main" id="{D0C7D122-7B52-4F23-9735-139F3E008789}"/>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§2.2.4 Gemengde opgaven · Opgave 5 · Boekpagina 66–67</a:t>
            </a:r>
          </a:p>
        </p:txBody>
      </p:sp>
      <p:sp>
        <p:nvSpPr>
          <p:cNvPr id="4" name="slide-number">
            <a:extLst xmlns:a="http://schemas.openxmlformats.org/drawingml/2006/main">
              <a:ext uri="{FF2B5EF4-FFF2-40B4-BE49-F238E27FC236}">
                <a16:creationId xmlns:a16="http://schemas.microsoft.com/office/drawing/2014/main" id="{FA727063-9B51-4788-A5FD-D64586B67001}"/>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16</a:t>
            </a:r>
          </a:p>
        </p:txBody>
      </p:sp>
      <p:sp>
        <p:nvSpPr>
          <p:cNvPr id="5" name="Ei = %ΔQ / %ΔY">
            <a:extLst xmlns:a="http://schemas.openxmlformats.org/drawingml/2006/main">
              <a:ext uri="{FF2B5EF4-FFF2-40B4-BE49-F238E27FC236}">
                <a16:creationId xmlns:a16="http://schemas.microsoft.com/office/drawing/2014/main" id="{3A4999D7-6170-4B25-AA79-43D0275BE9A8}"/>
              </a:ext>
            </a:extLst>
          </p:cNvPr>
          <p:cNvSpPr>
            <a:spLocks xmlns:a="http://schemas.openxmlformats.org/drawingml/2006/main" noGrp="1"/>
          </p:cNvSpPr>
          <p:nvPr/>
        </p:nvSpPr>
        <p:spPr>
          <a:xfrm xmlns:a="http://schemas.openxmlformats.org/drawingml/2006/main">
            <a:off x="571500" y="1866900"/>
            <a:ext cx="14097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17658A"/>
                </a:solidFill>
                <a:latin typeface="Arial"/>
                <a:ea typeface="Arial"/>
                <a:cs typeface="Arial"/>
              </a:defRPr>
            </a:pPr>
            <a:r>
              <a:rPr sz="3600" b="1">
                <a:solidFill>
                  <a:srgbClr val="17658A"/>
                </a:solidFill>
                <a:latin typeface="Arial"/>
                <a:ea typeface="Arial"/>
                <a:cs typeface="Arial"/>
              </a:rPr>
              <a:t>Ei = %ΔQ / %ΔY</a:t>
            </a:r>
          </a:p>
        </p:txBody>
      </p:sp>
      <p:graphicFrame>
        <p:nvGraphicFramePr>
          <p:cNvPr id="13" name=""/>
          <p:cNvGraphicFramePr/>
          <p:nvPr/>
        </p:nvGraphicFramePr>
        <p:xfrm>
          <a:off xmlns:a="http://schemas.openxmlformats.org/drawingml/2006/main" x="571500" y="3114675"/>
          <a:ext xmlns:a="http://schemas.openxmlformats.org/drawingml/2006/main" cx="14097000" cy="2971800"/>
        </p:xfrm>
        <a:graphic xmlns:a="http://schemas.openxmlformats.org/drawingml/2006/main">
          <a:graphicData uri="http://schemas.openxmlformats.org/drawingml/2006/table">
            <a:tbl>
              <a:tblPr/>
              <a:tblGrid>
                <a:gridCol w="3238500"/>
                <a:gridCol w="5619750"/>
                <a:gridCol w="5238750"/>
              </a:tblGrid>
              <a:tr h="990600">
                <a:tc>
                  <a:txBody>
                    <a:bodyPr lIns="171450" tIns="95250" rIns="152400" bIns="95250"/>
                    <a:lstStyle/>
                    <a:p>
                      <a:r>
                        <a:rPr sz="2550" b="1">
                          <a:solidFill>
                            <a:srgbClr val="FFFFFF"/>
                          </a:solidFill>
                          <a:latin typeface="Arial"/>
                          <a:ea typeface="Arial"/>
                          <a:cs typeface="Arial"/>
                        </a:rPr>
                        <a:t>Abonnement</a:t>
                      </a:r>
                    </a:p>
                  </a:txBody>
                  <a:tcPr marL="91440" marR="91440" marT="45720" marB="45720" anchor="ctr">
                    <a:solidFill>
                      <a:srgbClr val="183247"/>
                    </a:solidFill>
                  </a:tcPr>
                </a:tc>
                <a:tc>
                  <a:txBody>
                    <a:bodyPr lIns="171450" tIns="95250" rIns="152400" bIns="95250"/>
                    <a:lstStyle/>
                    <a:p>
                      <a:r>
                        <a:rPr sz="2550" b="1">
                          <a:solidFill>
                            <a:srgbClr val="FFFFFF"/>
                          </a:solidFill>
                          <a:latin typeface="Arial"/>
                          <a:ea typeface="Arial"/>
                          <a:cs typeface="Arial"/>
                        </a:rPr>
                        <a:t>Berekening</a:t>
                      </a:r>
                    </a:p>
                  </a:txBody>
                  <a:tcPr marL="91440" marR="91440" marT="45720" marB="45720" anchor="ctr">
                    <a:solidFill>
                      <a:srgbClr val="183247"/>
                    </a:solidFill>
                  </a:tcPr>
                </a:tc>
                <a:tc>
                  <a:txBody>
                    <a:bodyPr lIns="171450" tIns="95250" rIns="152400" bIns="95250"/>
                    <a:lstStyle/>
                    <a:p>
                      <a:r>
                        <a:rPr sz="2550" b="1">
                          <a:solidFill>
                            <a:srgbClr val="FFFFFF"/>
                          </a:solidFill>
                          <a:latin typeface="Arial"/>
                          <a:ea typeface="Arial"/>
                          <a:cs typeface="Arial"/>
                        </a:rPr>
                        <a:t>Indeling in deze situatie</a:t>
                      </a:r>
                    </a:p>
                  </a:txBody>
                  <a:tcPr marL="91440" marR="91440" marT="45720" marB="45720" anchor="ctr">
                    <a:solidFill>
                      <a:srgbClr val="183247"/>
                    </a:solidFill>
                  </a:tcPr>
                </a:tc>
              </a:tr>
              <a:tr h="990600">
                <a:tc>
                  <a:txBody>
                    <a:bodyPr lIns="171450" tIns="95250" rIns="152400" bIns="95250"/>
                    <a:lstStyle/>
                    <a:p>
                      <a:r>
                        <a:rPr sz="2550" b="0">
                          <a:solidFill>
                            <a:srgbClr val="183247"/>
                          </a:solidFill>
                          <a:latin typeface="Arial"/>
                          <a:ea typeface="Arial"/>
                          <a:cs typeface="Arial"/>
                        </a:rPr>
                        <a:t>Premium</a:t>
                      </a:r>
                    </a:p>
                  </a:txBody>
                  <a:tcPr marL="91440" marR="91440" marT="45720" marB="45720" anchor="ctr">
                    <a:solidFill>
                      <a:srgbClr val="FFFFFF"/>
                    </a:solidFill>
                  </a:tcPr>
                </a:tc>
                <a:tc>
                  <a:txBody>
                    <a:bodyPr lIns="171450" tIns="95250" rIns="152400" bIns="95250"/>
                    <a:lstStyle/>
                    <a:p>
                      <a:r>
                        <a:rPr sz="2550" b="0">
                          <a:solidFill>
                            <a:srgbClr val="183247"/>
                          </a:solidFill>
                          <a:latin typeface="Arial"/>
                          <a:ea typeface="Arial"/>
                          <a:cs typeface="Arial"/>
                        </a:rPr>
                        <a:t>+15% / +8% = +1,875</a:t>
                      </a:r>
                    </a:p>
                    <a:p>
                      <a:r>
                        <a:rPr sz="2550" b="0">
                          <a:solidFill>
                            <a:srgbClr val="183247"/>
                          </a:solidFill>
                          <a:latin typeface="Arial"/>
                          <a:ea typeface="Arial"/>
                          <a:cs typeface="Arial"/>
                        </a:rPr>
                        <a:t>≈ +1,88</a:t>
                      </a:r>
                    </a:p>
                  </a:txBody>
                  <a:tcPr marL="91440" marR="91440" marT="45720" marB="45720" anchor="ctr">
                    <a:solidFill>
                      <a:srgbClr val="FFFFFF"/>
                    </a:solidFill>
                  </a:tcPr>
                </a:tc>
                <a:tc>
                  <a:txBody>
                    <a:bodyPr lIns="171450" tIns="95250" rIns="152400" bIns="95250"/>
                    <a:lstStyle/>
                    <a:p>
                      <a:r>
                        <a:rPr sz="2550" b="0">
                          <a:solidFill>
                            <a:srgbClr val="183247"/>
                          </a:solidFill>
                          <a:latin typeface="Arial"/>
                          <a:ea typeface="Arial"/>
                          <a:cs typeface="Arial"/>
                        </a:rPr>
                        <a:t>Ei &gt; 1: luxegoed</a:t>
                      </a:r>
                    </a:p>
                  </a:txBody>
                  <a:tcPr marL="91440" marR="91440" marT="45720" marB="45720" anchor="ctr">
                    <a:solidFill>
                      <a:srgbClr val="FFFFFF"/>
                    </a:solidFill>
                  </a:tcPr>
                </a:tc>
              </a:tr>
              <a:tr h="990600">
                <a:tc>
                  <a:txBody>
                    <a:bodyPr lIns="171450" tIns="95250" rIns="152400" bIns="95250"/>
                    <a:lstStyle/>
                    <a:p>
                      <a:r>
                        <a:rPr sz="2550" b="0">
                          <a:solidFill>
                            <a:srgbClr val="183247"/>
                          </a:solidFill>
                          <a:latin typeface="Arial"/>
                          <a:ea typeface="Arial"/>
                          <a:cs typeface="Arial"/>
                        </a:rPr>
                        <a:t>Budget</a:t>
                      </a:r>
                    </a:p>
                  </a:txBody>
                  <a:tcPr marL="91440" marR="91440" marT="45720" marB="45720" anchor="ctr">
                    <a:solidFill>
                      <a:srgbClr val="EFF4F7"/>
                    </a:solidFill>
                  </a:tcPr>
                </a:tc>
                <a:tc>
                  <a:txBody>
                    <a:bodyPr lIns="171450" tIns="95250" rIns="152400" bIns="95250"/>
                    <a:lstStyle/>
                    <a:p>
                      <a:r>
                        <a:rPr sz="2550" b="0">
                          <a:solidFill>
                            <a:srgbClr val="183247"/>
                          </a:solidFill>
                          <a:latin typeface="Arial"/>
                          <a:ea typeface="Arial"/>
                          <a:cs typeface="Arial"/>
                        </a:rPr>
                        <a:t>−4% / +8% = −0,5</a:t>
                      </a:r>
                    </a:p>
                  </a:txBody>
                  <a:tcPr marL="91440" marR="91440" marT="45720" marB="45720" anchor="ctr">
                    <a:solidFill>
                      <a:srgbClr val="EFF4F7"/>
                    </a:solidFill>
                  </a:tcPr>
                </a:tc>
                <a:tc>
                  <a:txBody>
                    <a:bodyPr lIns="171450" tIns="95250" rIns="152400" bIns="95250"/>
                    <a:lstStyle/>
                    <a:p>
                      <a:r>
                        <a:rPr sz="2550" b="0">
                          <a:solidFill>
                            <a:srgbClr val="183247"/>
                          </a:solidFill>
                          <a:latin typeface="Arial"/>
                          <a:ea typeface="Arial"/>
                          <a:cs typeface="Arial"/>
                        </a:rPr>
                        <a:t>Ei &lt; 0: inferieur goed</a:t>
                      </a:r>
                    </a:p>
                  </a:txBody>
                  <a:tcPr marL="91440" marR="91440" marT="45720" marB="45720" anchor="ctr">
                    <a:solidFill>
                      <a:srgbClr val="EFF4F7"/>
                    </a:solidFill>
                  </a:tcPr>
                </a:tc>
              </a:tr>
            </a:tbl>
          </a:graphicData>
        </a:graphic>
      </p:graphicFrame>
      <p:sp>
        <p:nvSpPr>
          <p:cNvPr id="7" name="Premium: Q groeit relatief sterker dan Y.&#10;Budget: meer inkom">
            <a:extLst xmlns:a="http://schemas.openxmlformats.org/drawingml/2006/main">
              <a:ext uri="{FF2B5EF4-FFF2-40B4-BE49-F238E27FC236}">
                <a16:creationId xmlns:a16="http://schemas.microsoft.com/office/drawing/2014/main" id="{F9AB422B-AEB5-4655-96AA-533DD2ACC0CA}"/>
              </a:ext>
            </a:extLst>
          </p:cNvPr>
          <p:cNvSpPr>
            <a:spLocks xmlns:a="http://schemas.openxmlformats.org/drawingml/2006/main" noGrp="1"/>
          </p:cNvSpPr>
          <p:nvPr/>
        </p:nvSpPr>
        <p:spPr>
          <a:xfrm xmlns:a="http://schemas.openxmlformats.org/drawingml/2006/main">
            <a:off x="571500" y="6753225"/>
            <a:ext cx="1409700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1">
                <a:solidFill>
                  <a:srgbClr val="20665B"/>
                </a:solidFill>
                <a:latin typeface="Arial"/>
                <a:ea typeface="Arial"/>
                <a:cs typeface="Arial"/>
              </a:defRPr>
            </a:pPr>
            <a:r>
              <a:rPr sz="2775" b="1">
                <a:solidFill>
                  <a:srgbClr val="20665B"/>
                </a:solidFill>
                <a:latin typeface="Arial"/>
                <a:ea typeface="Arial"/>
                <a:cs typeface="Arial"/>
              </a:rPr>
              <a:t>Premium: Q groeit relatief sterker dan Y.</a:t>
            </a:r>
          </a:p>
          <a:p xmlns:a="http://schemas.openxmlformats.org/drawingml/2006/main">
            <a:pPr algn="l">
              <a:defRPr sz="2775" b="1">
                <a:solidFill>
                  <a:srgbClr val="20665B"/>
                </a:solidFill>
                <a:latin typeface="Arial"/>
                <a:ea typeface="Arial"/>
                <a:cs typeface="Arial"/>
              </a:defRPr>
            </a:pPr>
            <a:r>
              <a:rPr sz="2775" b="1">
                <a:solidFill>
                  <a:srgbClr val="20665B"/>
                </a:solidFill>
                <a:latin typeface="Arial"/>
                <a:ea typeface="Arial"/>
                <a:cs typeface="Arial"/>
              </a:rPr>
              <a:t>Budget: meer inkomen gaat samen met minder vraag.</a:t>
            </a:r>
          </a:p>
        </p:txBody>
      </p:sp>
    </p:spTree>
    <p:extLst>
      <p:ext uri="{BB962C8B-B14F-4D97-AF65-F5344CB8AC3E}">
        <p14:creationId xmlns:p14="http://schemas.microsoft.com/office/powerpoint/2010/main" val="2003934590"/>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Opgave 5.4 · Kruislingse elasticiteit">
            <a:extLst xmlns:a="http://schemas.openxmlformats.org/drawingml/2006/main">
              <a:ext uri="{FF2B5EF4-FFF2-40B4-BE49-F238E27FC236}">
                <a16:creationId xmlns:a16="http://schemas.microsoft.com/office/drawing/2014/main" id="{90CD95DC-AF66-4592-B40D-00EA39FE99A1}"/>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Opgave 5.4 · Kruislingse elasticiteit</a:t>
            </a:r>
          </a:p>
        </p:txBody>
      </p:sp>
      <p:sp>
        <p:nvSpPr>
          <p:cNvPr id="2" name="">
            <a:extLst xmlns:a="http://schemas.openxmlformats.org/drawingml/2006/main">
              <a:ext uri="{FF2B5EF4-FFF2-40B4-BE49-F238E27FC236}">
                <a16:creationId xmlns:a16="http://schemas.microsoft.com/office/drawing/2014/main" id="{AA5A4510-43CA-401B-8B93-2CC59ADFAD37}"/>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footer">
            <a:extLst xmlns:a="http://schemas.openxmlformats.org/drawingml/2006/main">
              <a:ext uri="{FF2B5EF4-FFF2-40B4-BE49-F238E27FC236}">
                <a16:creationId xmlns:a16="http://schemas.microsoft.com/office/drawing/2014/main" id="{81A6E81A-859E-448C-A85B-BFDF4A8684BC}"/>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§2.2.4 Gemengde opgaven · Opgave 5 · Boekpagina 66–67</a:t>
            </a:r>
          </a:p>
        </p:txBody>
      </p:sp>
      <p:sp>
        <p:nvSpPr>
          <p:cNvPr id="4" name="slide-number">
            <a:extLst xmlns:a="http://schemas.openxmlformats.org/drawingml/2006/main">
              <a:ext uri="{FF2B5EF4-FFF2-40B4-BE49-F238E27FC236}">
                <a16:creationId xmlns:a16="http://schemas.microsoft.com/office/drawing/2014/main" id="{CC251DAA-6556-45C6-959D-2CF9F4983FCE}"/>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17</a:t>
            </a:r>
          </a:p>
        </p:txBody>
      </p:sp>
      <p:sp>
        <p:nvSpPr>
          <p:cNvPr id="5" name="Teller: vraag StreamPlus · Noemer: prijs concurrent">
            <a:extLst xmlns:a="http://schemas.openxmlformats.org/drawingml/2006/main">
              <a:ext uri="{FF2B5EF4-FFF2-40B4-BE49-F238E27FC236}">
                <a16:creationId xmlns:a16="http://schemas.microsoft.com/office/drawing/2014/main" id="{E51D3553-97D6-4F9A-A942-4A3B601D1E95}"/>
              </a:ext>
            </a:extLst>
          </p:cNvPr>
          <p:cNvSpPr>
            <a:spLocks xmlns:a="http://schemas.openxmlformats.org/drawingml/2006/main" noGrp="1"/>
          </p:cNvSpPr>
          <p:nvPr/>
        </p:nvSpPr>
        <p:spPr>
          <a:xfrm xmlns:a="http://schemas.openxmlformats.org/drawingml/2006/main">
            <a:off x="571500" y="1828800"/>
            <a:ext cx="140970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1">
                <a:solidFill>
                  <a:srgbClr val="17658A"/>
                </a:solidFill>
                <a:latin typeface="Arial"/>
                <a:ea typeface="Arial"/>
                <a:cs typeface="Arial"/>
              </a:defRPr>
            </a:pPr>
            <a:r>
              <a:rPr sz="2850" b="1">
                <a:solidFill>
                  <a:srgbClr val="17658A"/>
                </a:solidFill>
                <a:latin typeface="Arial"/>
                <a:ea typeface="Arial"/>
                <a:cs typeface="Arial"/>
              </a:rPr>
              <a:t>Teller: vraag StreamPlus · Noemer: prijs concurrent</a:t>
            </a:r>
          </a:p>
        </p:txBody>
      </p:sp>
      <p:sp>
        <p:nvSpPr>
          <p:cNvPr id="6" name="%ΔPc = (9 − 8) / 8 × 100% = +12,5%">
            <a:extLst xmlns:a="http://schemas.openxmlformats.org/drawingml/2006/main">
              <a:ext uri="{FF2B5EF4-FFF2-40B4-BE49-F238E27FC236}">
                <a16:creationId xmlns:a16="http://schemas.microsoft.com/office/drawing/2014/main" id="{878B4C12-9FFC-46A7-BB48-2FAAFBE79381}"/>
              </a:ext>
            </a:extLst>
          </p:cNvPr>
          <p:cNvSpPr>
            <a:spLocks xmlns:a="http://schemas.openxmlformats.org/drawingml/2006/main" noGrp="1"/>
          </p:cNvSpPr>
          <p:nvPr/>
        </p:nvSpPr>
        <p:spPr>
          <a:xfrm xmlns:a="http://schemas.openxmlformats.org/drawingml/2006/main">
            <a:off x="571500" y="2952750"/>
            <a:ext cx="140970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0">
                <a:solidFill>
                  <a:srgbClr val="183247"/>
                </a:solidFill>
                <a:latin typeface="Arial"/>
                <a:ea typeface="Arial"/>
                <a:cs typeface="Arial"/>
              </a:defRPr>
            </a:pPr>
            <a:r>
              <a:rPr sz="3225" b="0">
                <a:solidFill>
                  <a:srgbClr val="183247"/>
                </a:solidFill>
                <a:latin typeface="Arial"/>
                <a:ea typeface="Arial"/>
                <a:cs typeface="Arial"/>
              </a:rPr>
              <a:t>%ΔPc = (9 − 8) / 8 × 100% = +12,5%</a:t>
            </a:r>
          </a:p>
        </p:txBody>
      </p:sp>
      <p:sp>
        <p:nvSpPr>
          <p:cNvPr id="7" name="Ek = %ΔQ StreamPlus / %ΔPc">
            <a:extLst xmlns:a="http://schemas.openxmlformats.org/drawingml/2006/main">
              <a:ext uri="{FF2B5EF4-FFF2-40B4-BE49-F238E27FC236}">
                <a16:creationId xmlns:a16="http://schemas.microsoft.com/office/drawing/2014/main" id="{91DA3ED9-C582-4D3F-9C23-9A7F566A44A2}"/>
              </a:ext>
            </a:extLst>
          </p:cNvPr>
          <p:cNvSpPr>
            <a:spLocks xmlns:a="http://schemas.openxmlformats.org/drawingml/2006/main" noGrp="1"/>
          </p:cNvSpPr>
          <p:nvPr/>
        </p:nvSpPr>
        <p:spPr>
          <a:xfrm xmlns:a="http://schemas.openxmlformats.org/drawingml/2006/main">
            <a:off x="571500" y="3981450"/>
            <a:ext cx="14097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0">
                <a:solidFill>
                  <a:srgbClr val="183247"/>
                </a:solidFill>
                <a:latin typeface="Arial"/>
                <a:ea typeface="Arial"/>
                <a:cs typeface="Arial"/>
              </a:defRPr>
            </a:pPr>
            <a:r>
              <a:rPr sz="3150" b="0">
                <a:solidFill>
                  <a:srgbClr val="183247"/>
                </a:solidFill>
                <a:latin typeface="Arial"/>
                <a:ea typeface="Arial"/>
                <a:cs typeface="Arial"/>
              </a:rPr>
              <a:t>Ek = %ΔQ StreamPlus / %ΔPc</a:t>
            </a:r>
          </a:p>
        </p:txBody>
      </p:sp>
      <p:sp>
        <p:nvSpPr>
          <p:cNvPr id="8" name="Ek = +5% / +12,5% = +0,4">
            <a:extLst xmlns:a="http://schemas.openxmlformats.org/drawingml/2006/main">
              <a:ext uri="{FF2B5EF4-FFF2-40B4-BE49-F238E27FC236}">
                <a16:creationId xmlns:a16="http://schemas.microsoft.com/office/drawing/2014/main" id="{D1F2B2D1-B79D-46E6-8F2A-D90247D0DF0F}"/>
              </a:ext>
            </a:extLst>
          </p:cNvPr>
          <p:cNvSpPr>
            <a:spLocks xmlns:a="http://schemas.openxmlformats.org/drawingml/2006/main" noGrp="1"/>
          </p:cNvSpPr>
          <p:nvPr/>
        </p:nvSpPr>
        <p:spPr>
          <a:xfrm xmlns:a="http://schemas.openxmlformats.org/drawingml/2006/main">
            <a:off x="571500" y="5010150"/>
            <a:ext cx="140970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183247"/>
                </a:solidFill>
                <a:latin typeface="Arial"/>
                <a:ea typeface="Arial"/>
                <a:cs typeface="Arial"/>
              </a:defRPr>
            </a:pPr>
            <a:r>
              <a:rPr sz="3600" b="1">
                <a:solidFill>
                  <a:srgbClr val="183247"/>
                </a:solidFill>
                <a:latin typeface="Arial"/>
                <a:ea typeface="Arial"/>
                <a:cs typeface="Arial"/>
              </a:rPr>
              <a:t>Ek = +5% / +12,5% = +0,4</a:t>
            </a:r>
          </a:p>
        </p:txBody>
      </p:sp>
      <p:sp>
        <p:nvSpPr>
          <p:cNvPr id="9" name="StreamPlus en het concurrerende abonnement zijn substituten.">
            <a:extLst xmlns:a="http://schemas.openxmlformats.org/drawingml/2006/main">
              <a:ext uri="{FF2B5EF4-FFF2-40B4-BE49-F238E27FC236}">
                <a16:creationId xmlns:a16="http://schemas.microsoft.com/office/drawing/2014/main" id="{30F608FE-337B-43A3-ACCE-8A63A1324C02}"/>
              </a:ext>
            </a:extLst>
          </p:cNvPr>
          <p:cNvSpPr>
            <a:spLocks xmlns:a="http://schemas.openxmlformats.org/drawingml/2006/main" noGrp="1"/>
          </p:cNvSpPr>
          <p:nvPr/>
        </p:nvSpPr>
        <p:spPr>
          <a:xfrm xmlns:a="http://schemas.openxmlformats.org/drawingml/2006/main">
            <a:off x="571500" y="6324600"/>
            <a:ext cx="1409700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20665B"/>
                </a:solidFill>
                <a:latin typeface="Arial"/>
                <a:ea typeface="Arial"/>
                <a:cs typeface="Arial"/>
              </a:defRPr>
            </a:pPr>
            <a:r>
              <a:rPr sz="3000" b="1">
                <a:solidFill>
                  <a:srgbClr val="20665B"/>
                </a:solidFill>
                <a:latin typeface="Arial"/>
                <a:ea typeface="Arial"/>
                <a:cs typeface="Arial"/>
              </a:rPr>
              <a:t>StreamPlus en het concurrerende abonnement zijn substituten.</a:t>
            </a:r>
          </a:p>
        </p:txBody>
      </p:sp>
    </p:spTree>
    <p:extLst>
      <p:ext uri="{BB962C8B-B14F-4D97-AF65-F5344CB8AC3E}">
        <p14:creationId xmlns:p14="http://schemas.microsoft.com/office/powerpoint/2010/main" val="1411289857"/>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Opgave 5.5 · De beginsituatie">
            <a:extLst xmlns:a="http://schemas.openxmlformats.org/drawingml/2006/main">
              <a:ext uri="{FF2B5EF4-FFF2-40B4-BE49-F238E27FC236}">
                <a16:creationId xmlns:a16="http://schemas.microsoft.com/office/drawing/2014/main" id="{C1FC1BD3-6A05-4CEB-9D01-41AC0C96F5CC}"/>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Opgave 5.5 · De beginsituatie</a:t>
            </a:r>
          </a:p>
        </p:txBody>
      </p:sp>
      <p:sp>
        <p:nvSpPr>
          <p:cNvPr id="2" name="">
            <a:extLst xmlns:a="http://schemas.openxmlformats.org/drawingml/2006/main">
              <a:ext uri="{FF2B5EF4-FFF2-40B4-BE49-F238E27FC236}">
                <a16:creationId xmlns:a16="http://schemas.microsoft.com/office/drawing/2014/main" id="{FC1ED945-448B-47DB-A1C2-55EB1BAB1C9E}"/>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footer">
            <a:extLst xmlns:a="http://schemas.openxmlformats.org/drawingml/2006/main">
              <a:ext uri="{FF2B5EF4-FFF2-40B4-BE49-F238E27FC236}">
                <a16:creationId xmlns:a16="http://schemas.microsoft.com/office/drawing/2014/main" id="{1DB1D5E3-EB19-4A67-8058-EB82D71C4569}"/>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§2.2.4 Gemengde opgaven · Opgave 5 · Boekpagina 66–67</a:t>
            </a:r>
          </a:p>
        </p:txBody>
      </p:sp>
      <p:sp>
        <p:nvSpPr>
          <p:cNvPr id="4" name="slide-number">
            <a:extLst xmlns:a="http://schemas.openxmlformats.org/drawingml/2006/main">
              <a:ext uri="{FF2B5EF4-FFF2-40B4-BE49-F238E27FC236}">
                <a16:creationId xmlns:a16="http://schemas.microsoft.com/office/drawing/2014/main" id="{68E4BD28-2A12-4D7F-A1F4-38CF65BE742A}"/>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18</a:t>
            </a:r>
          </a:p>
        </p:txBody>
      </p:sp>
      <p:sp>
        <p:nvSpPr>
          <p:cNvPr id="5" name="Q = 12.000 − 400P + 0,1Y + 300Pc">
            <a:extLst xmlns:a="http://schemas.openxmlformats.org/drawingml/2006/main">
              <a:ext uri="{FF2B5EF4-FFF2-40B4-BE49-F238E27FC236}">
                <a16:creationId xmlns:a16="http://schemas.microsoft.com/office/drawing/2014/main" id="{D1AD27BF-90A0-449B-ACF0-ED84F1F284A2}"/>
              </a:ext>
            </a:extLst>
          </p:cNvPr>
          <p:cNvSpPr>
            <a:spLocks xmlns:a="http://schemas.openxmlformats.org/drawingml/2006/main" noGrp="1"/>
          </p:cNvSpPr>
          <p:nvPr/>
        </p:nvSpPr>
        <p:spPr>
          <a:xfrm xmlns:a="http://schemas.openxmlformats.org/drawingml/2006/main">
            <a:off x="571500" y="1943100"/>
            <a:ext cx="14097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525" b="1">
                <a:solidFill>
                  <a:srgbClr val="17658A"/>
                </a:solidFill>
                <a:latin typeface="Arial"/>
                <a:ea typeface="Arial"/>
                <a:cs typeface="Arial"/>
              </a:defRPr>
            </a:pPr>
            <a:r>
              <a:rPr sz="3525" b="1">
                <a:solidFill>
                  <a:srgbClr val="17658A"/>
                </a:solidFill>
                <a:latin typeface="Arial"/>
                <a:ea typeface="Arial"/>
                <a:cs typeface="Arial"/>
              </a:rPr>
              <a:t>Q = 12.000 − 400P + 0,1Y + 300Pc</a:t>
            </a:r>
          </a:p>
        </p:txBody>
      </p:sp>
      <p:sp>
        <p:nvSpPr>
          <p:cNvPr id="6" name="P = 12 · Pc = 10 · Y = 40.000">
            <a:extLst xmlns:a="http://schemas.openxmlformats.org/drawingml/2006/main">
              <a:ext uri="{FF2B5EF4-FFF2-40B4-BE49-F238E27FC236}">
                <a16:creationId xmlns:a16="http://schemas.microsoft.com/office/drawing/2014/main" id="{5E20C2EB-774E-4CE0-83D7-EB43DDC03058}"/>
              </a:ext>
            </a:extLst>
          </p:cNvPr>
          <p:cNvSpPr>
            <a:spLocks xmlns:a="http://schemas.openxmlformats.org/drawingml/2006/main" noGrp="1"/>
          </p:cNvSpPr>
          <p:nvPr/>
        </p:nvSpPr>
        <p:spPr>
          <a:xfrm xmlns:a="http://schemas.openxmlformats.org/drawingml/2006/main">
            <a:off x="571500" y="2971800"/>
            <a:ext cx="14097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0">
                <a:solidFill>
                  <a:srgbClr val="183247"/>
                </a:solidFill>
                <a:latin typeface="Arial"/>
                <a:ea typeface="Arial"/>
                <a:cs typeface="Arial"/>
              </a:defRPr>
            </a:pPr>
            <a:r>
              <a:rPr sz="3000" b="0">
                <a:solidFill>
                  <a:srgbClr val="183247"/>
                </a:solidFill>
                <a:latin typeface="Arial"/>
                <a:ea typeface="Arial"/>
                <a:cs typeface="Arial"/>
              </a:rPr>
              <a:t>P = 12 · Pc = 10 · Y = 40.000</a:t>
            </a:r>
          </a:p>
        </p:txBody>
      </p:sp>
      <p:sp>
        <p:nvSpPr>
          <p:cNvPr id="7" name="Q = 12.000 − 400 × 12 + 0,1 × 40.000 + 300 × 10">
            <a:extLst xmlns:a="http://schemas.openxmlformats.org/drawingml/2006/main">
              <a:ext uri="{FF2B5EF4-FFF2-40B4-BE49-F238E27FC236}">
                <a16:creationId xmlns:a16="http://schemas.microsoft.com/office/drawing/2014/main" id="{4B9F4A6E-CED5-4ECF-9B17-7B8D48829719}"/>
              </a:ext>
            </a:extLst>
          </p:cNvPr>
          <p:cNvSpPr>
            <a:spLocks xmlns:a="http://schemas.openxmlformats.org/drawingml/2006/main" noGrp="1"/>
          </p:cNvSpPr>
          <p:nvPr/>
        </p:nvSpPr>
        <p:spPr>
          <a:xfrm xmlns:a="http://schemas.openxmlformats.org/drawingml/2006/main">
            <a:off x="571500" y="4057650"/>
            <a:ext cx="140970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0">
                <a:solidFill>
                  <a:srgbClr val="183247"/>
                </a:solidFill>
                <a:latin typeface="Arial"/>
                <a:ea typeface="Arial"/>
                <a:cs typeface="Arial"/>
              </a:defRPr>
            </a:pPr>
            <a:r>
              <a:rPr sz="2925" b="0">
                <a:solidFill>
                  <a:srgbClr val="183247"/>
                </a:solidFill>
                <a:latin typeface="Arial"/>
                <a:ea typeface="Arial"/>
                <a:cs typeface="Arial"/>
              </a:rPr>
              <a:t>Q = 12.000 − 400 × 12 + 0,1 × 40.000 + 300 × 10</a:t>
            </a:r>
          </a:p>
        </p:txBody>
      </p:sp>
      <p:sp>
        <p:nvSpPr>
          <p:cNvPr id="8" name="Q = 12.000 − 4.800 + 4.000 + 3.000">
            <a:extLst xmlns:a="http://schemas.openxmlformats.org/drawingml/2006/main">
              <a:ext uri="{FF2B5EF4-FFF2-40B4-BE49-F238E27FC236}">
                <a16:creationId xmlns:a16="http://schemas.microsoft.com/office/drawing/2014/main" id="{41B38328-0369-4819-9663-C4B5A01A0006}"/>
              </a:ext>
            </a:extLst>
          </p:cNvPr>
          <p:cNvSpPr>
            <a:spLocks xmlns:a="http://schemas.openxmlformats.org/drawingml/2006/main" noGrp="1"/>
          </p:cNvSpPr>
          <p:nvPr/>
        </p:nvSpPr>
        <p:spPr>
          <a:xfrm xmlns:a="http://schemas.openxmlformats.org/drawingml/2006/main">
            <a:off x="571500" y="5143500"/>
            <a:ext cx="140970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0">
                <a:solidFill>
                  <a:srgbClr val="183247"/>
                </a:solidFill>
                <a:latin typeface="Arial"/>
                <a:ea typeface="Arial"/>
                <a:cs typeface="Arial"/>
              </a:defRPr>
            </a:pPr>
            <a:r>
              <a:rPr sz="3225" b="0">
                <a:solidFill>
                  <a:srgbClr val="183247"/>
                </a:solidFill>
                <a:latin typeface="Arial"/>
                <a:ea typeface="Arial"/>
                <a:cs typeface="Arial"/>
              </a:rPr>
              <a:t>Q = 12.000 − 4.800 + 4.000 + 3.000</a:t>
            </a:r>
          </a:p>
        </p:txBody>
      </p:sp>
      <p:sp>
        <p:nvSpPr>
          <p:cNvPr id="9" name="Q = 14.200 abonnementen per maand">
            <a:extLst xmlns:a="http://schemas.openxmlformats.org/drawingml/2006/main">
              <a:ext uri="{FF2B5EF4-FFF2-40B4-BE49-F238E27FC236}">
                <a16:creationId xmlns:a16="http://schemas.microsoft.com/office/drawing/2014/main" id="{A7EAF306-30A5-4A7E-8435-1E86C58EFF2D}"/>
              </a:ext>
            </a:extLst>
          </p:cNvPr>
          <p:cNvSpPr>
            <a:spLocks xmlns:a="http://schemas.openxmlformats.org/drawingml/2006/main" noGrp="1"/>
          </p:cNvSpPr>
          <p:nvPr/>
        </p:nvSpPr>
        <p:spPr>
          <a:xfrm xmlns:a="http://schemas.openxmlformats.org/drawingml/2006/main">
            <a:off x="571500" y="6543675"/>
            <a:ext cx="14097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20665B"/>
                </a:solidFill>
                <a:latin typeface="Arial"/>
                <a:ea typeface="Arial"/>
                <a:cs typeface="Arial"/>
              </a:defRPr>
            </a:pPr>
            <a:r>
              <a:rPr sz="3600" b="1">
                <a:solidFill>
                  <a:srgbClr val="20665B"/>
                </a:solidFill>
                <a:latin typeface="Arial"/>
                <a:ea typeface="Arial"/>
                <a:cs typeface="Arial"/>
              </a:rPr>
              <a:t>Q = 14.200 abonnementen per maand</a:t>
            </a:r>
          </a:p>
        </p:txBody>
      </p:sp>
    </p:spTree>
    <p:extLst>
      <p:ext uri="{BB962C8B-B14F-4D97-AF65-F5344CB8AC3E}">
        <p14:creationId xmlns:p14="http://schemas.microsoft.com/office/powerpoint/2010/main" val="236312922"/>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Opgave 5.5 · Alleen Y wordt € 42.000">
            <a:extLst xmlns:a="http://schemas.openxmlformats.org/drawingml/2006/main">
              <a:ext uri="{FF2B5EF4-FFF2-40B4-BE49-F238E27FC236}">
                <a16:creationId xmlns:a16="http://schemas.microsoft.com/office/drawing/2014/main" id="{B77E241B-04DA-4269-A12B-7C2AB2A4BD0A}"/>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Opgave 5.5 · Alleen Y wordt € 42.000</a:t>
            </a:r>
          </a:p>
        </p:txBody>
      </p:sp>
      <p:sp>
        <p:nvSpPr>
          <p:cNvPr id="2" name="">
            <a:extLst xmlns:a="http://schemas.openxmlformats.org/drawingml/2006/main">
              <a:ext uri="{FF2B5EF4-FFF2-40B4-BE49-F238E27FC236}">
                <a16:creationId xmlns:a16="http://schemas.microsoft.com/office/drawing/2014/main" id="{204FB71B-99F3-4091-BF31-00517397B189}"/>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footer">
            <a:extLst xmlns:a="http://schemas.openxmlformats.org/drawingml/2006/main">
              <a:ext uri="{FF2B5EF4-FFF2-40B4-BE49-F238E27FC236}">
                <a16:creationId xmlns:a16="http://schemas.microsoft.com/office/drawing/2014/main" id="{7E2449D8-6046-4D50-B77E-4D045634C87A}"/>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§2.2.4 Gemengde opgaven · Opgave 5 · Boekpagina 66–67</a:t>
            </a:r>
          </a:p>
        </p:txBody>
      </p:sp>
      <p:sp>
        <p:nvSpPr>
          <p:cNvPr id="4" name="slide-number">
            <a:extLst xmlns:a="http://schemas.openxmlformats.org/drawingml/2006/main">
              <a:ext uri="{FF2B5EF4-FFF2-40B4-BE49-F238E27FC236}">
                <a16:creationId xmlns:a16="http://schemas.microsoft.com/office/drawing/2014/main" id="{C9F2139B-D36C-41D6-BAEB-52A9FFA2D11E}"/>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19</a:t>
            </a:r>
          </a:p>
        </p:txBody>
      </p:sp>
      <p:sp>
        <p:nvSpPr>
          <p:cNvPr id="5" name="P = 12 en Pc = 10 blijven gelijk">
            <a:extLst xmlns:a="http://schemas.openxmlformats.org/drawingml/2006/main">
              <a:ext uri="{FF2B5EF4-FFF2-40B4-BE49-F238E27FC236}">
                <a16:creationId xmlns:a16="http://schemas.microsoft.com/office/drawing/2014/main" id="{34DB37FD-2422-4C5E-AE15-5045A6E03646}"/>
              </a:ext>
            </a:extLst>
          </p:cNvPr>
          <p:cNvSpPr>
            <a:spLocks xmlns:a="http://schemas.openxmlformats.org/drawingml/2006/main" noGrp="1"/>
          </p:cNvSpPr>
          <p:nvPr/>
        </p:nvSpPr>
        <p:spPr>
          <a:xfrm xmlns:a="http://schemas.openxmlformats.org/drawingml/2006/main">
            <a:off x="571500" y="1885950"/>
            <a:ext cx="140970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7658A"/>
                </a:solidFill>
                <a:latin typeface="Arial"/>
                <a:ea typeface="Arial"/>
                <a:cs typeface="Arial"/>
              </a:defRPr>
            </a:pPr>
            <a:r>
              <a:rPr sz="3225" b="1">
                <a:solidFill>
                  <a:srgbClr val="17658A"/>
                </a:solidFill>
                <a:latin typeface="Arial"/>
                <a:ea typeface="Arial"/>
                <a:cs typeface="Arial"/>
              </a:rPr>
              <a:t>P = 12 en Pc = 10 blijven gelijk</a:t>
            </a:r>
          </a:p>
        </p:txBody>
      </p:sp>
      <p:sp>
        <p:nvSpPr>
          <p:cNvPr id="6" name="Q = 12.000 − 400 × 12 + 0,1 × 42.000 + 300 × 10">
            <a:extLst xmlns:a="http://schemas.openxmlformats.org/drawingml/2006/main">
              <a:ext uri="{FF2B5EF4-FFF2-40B4-BE49-F238E27FC236}">
                <a16:creationId xmlns:a16="http://schemas.microsoft.com/office/drawing/2014/main" id="{19F8B876-AC8B-4391-A15B-F7731A4F6106}"/>
              </a:ext>
            </a:extLst>
          </p:cNvPr>
          <p:cNvSpPr>
            <a:spLocks xmlns:a="http://schemas.openxmlformats.org/drawingml/2006/main" noGrp="1"/>
          </p:cNvSpPr>
          <p:nvPr/>
        </p:nvSpPr>
        <p:spPr>
          <a:xfrm xmlns:a="http://schemas.openxmlformats.org/drawingml/2006/main">
            <a:off x="571500" y="3019425"/>
            <a:ext cx="140970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0">
                <a:solidFill>
                  <a:srgbClr val="183247"/>
                </a:solidFill>
                <a:latin typeface="Arial"/>
                <a:ea typeface="Arial"/>
                <a:cs typeface="Arial"/>
              </a:defRPr>
            </a:pPr>
            <a:r>
              <a:rPr sz="2925" b="0">
                <a:solidFill>
                  <a:srgbClr val="183247"/>
                </a:solidFill>
                <a:latin typeface="Arial"/>
                <a:ea typeface="Arial"/>
                <a:cs typeface="Arial"/>
              </a:rPr>
              <a:t>Q = 12.000 − 400 × 12 + 0,1 × 42.000 + 300 × 10</a:t>
            </a:r>
          </a:p>
        </p:txBody>
      </p:sp>
      <p:sp>
        <p:nvSpPr>
          <p:cNvPr id="7" name="Q = 12.000 − 4.800 + 4.200 + 3.000">
            <a:extLst xmlns:a="http://schemas.openxmlformats.org/drawingml/2006/main">
              <a:ext uri="{FF2B5EF4-FFF2-40B4-BE49-F238E27FC236}">
                <a16:creationId xmlns:a16="http://schemas.microsoft.com/office/drawing/2014/main" id="{142F4764-ACA0-4BB2-92D3-CFE658450AA4}"/>
              </a:ext>
            </a:extLst>
          </p:cNvPr>
          <p:cNvSpPr>
            <a:spLocks xmlns:a="http://schemas.openxmlformats.org/drawingml/2006/main" noGrp="1"/>
          </p:cNvSpPr>
          <p:nvPr/>
        </p:nvSpPr>
        <p:spPr>
          <a:xfrm xmlns:a="http://schemas.openxmlformats.org/drawingml/2006/main">
            <a:off x="571500" y="4048125"/>
            <a:ext cx="140970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0">
                <a:solidFill>
                  <a:srgbClr val="183247"/>
                </a:solidFill>
                <a:latin typeface="Arial"/>
                <a:ea typeface="Arial"/>
                <a:cs typeface="Arial"/>
              </a:defRPr>
            </a:pPr>
            <a:r>
              <a:rPr sz="3225" b="0">
                <a:solidFill>
                  <a:srgbClr val="183247"/>
                </a:solidFill>
                <a:latin typeface="Arial"/>
                <a:ea typeface="Arial"/>
                <a:cs typeface="Arial"/>
              </a:rPr>
              <a:t>Q = 12.000 − 4.800 + 4.200 + 3.000</a:t>
            </a:r>
          </a:p>
        </p:txBody>
      </p:sp>
      <p:sp>
        <p:nvSpPr>
          <p:cNvPr id="8" name="Q = 14.400 abonnementen per maand">
            <a:extLst xmlns:a="http://schemas.openxmlformats.org/drawingml/2006/main">
              <a:ext uri="{FF2B5EF4-FFF2-40B4-BE49-F238E27FC236}">
                <a16:creationId xmlns:a16="http://schemas.microsoft.com/office/drawing/2014/main" id="{ECF04DFA-0AB4-405C-A8F0-45231470731B}"/>
              </a:ext>
            </a:extLst>
          </p:cNvPr>
          <p:cNvSpPr>
            <a:spLocks xmlns:a="http://schemas.openxmlformats.org/drawingml/2006/main" noGrp="1"/>
          </p:cNvSpPr>
          <p:nvPr/>
        </p:nvSpPr>
        <p:spPr>
          <a:xfrm xmlns:a="http://schemas.openxmlformats.org/drawingml/2006/main">
            <a:off x="571500" y="5229225"/>
            <a:ext cx="140970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20665B"/>
                </a:solidFill>
                <a:latin typeface="Arial"/>
                <a:ea typeface="Arial"/>
                <a:cs typeface="Arial"/>
              </a:defRPr>
            </a:pPr>
            <a:r>
              <a:rPr sz="3600" b="1">
                <a:solidFill>
                  <a:srgbClr val="20665B"/>
                </a:solidFill>
                <a:latin typeface="Arial"/>
                <a:ea typeface="Arial"/>
                <a:cs typeface="Arial"/>
              </a:rPr>
              <a:t>Q = 14.400 abonnementen per maand</a:t>
            </a:r>
          </a:p>
        </p:txBody>
      </p:sp>
      <p:sp>
        <p:nvSpPr>
          <p:cNvPr id="9" name="">
            <a:extLst xmlns:a="http://schemas.openxmlformats.org/drawingml/2006/main">
              <a:ext uri="{FF2B5EF4-FFF2-40B4-BE49-F238E27FC236}">
                <a16:creationId xmlns:a16="http://schemas.microsoft.com/office/drawing/2014/main" id="{769A6B5B-3CAB-4518-9F76-8B1327A2A6CE}"/>
              </a:ext>
            </a:extLst>
          </p:cNvPr>
          <p:cNvSpPr>
            <a:spLocks xmlns:a="http://schemas.openxmlformats.org/drawingml/2006/main" noGrp="1"/>
          </p:cNvSpPr>
          <p:nvPr/>
        </p:nvSpPr>
        <p:spPr>
          <a:xfrm xmlns:a="http://schemas.openxmlformats.org/drawingml/2006/main">
            <a:off x="571500" y="6324600"/>
            <a:ext cx="14097000" cy="0"/>
          </a:xfrm>
          <a:prstGeom xmlns:a="http://schemas.openxmlformats.org/drawingml/2006/main" prst="line">
            <a:avLst/>
          </a:prstGeom>
          <a:ln xmlns:a="http://schemas.openxmlformats.org/drawingml/2006/main" w="19050">
            <a:solidFill>
              <a:srgbClr val="C6D2DB"/>
            </a:solidFill>
          </a:ln>
        </p:spPr>
      </p:sp>
      <p:sp>
        <p:nvSpPr>
          <p:cNvPr id="10" name="Controle: ΔQ = 0,1 × (42.000 − 40.000) = +200">
            <a:extLst xmlns:a="http://schemas.openxmlformats.org/drawingml/2006/main">
              <a:ext uri="{FF2B5EF4-FFF2-40B4-BE49-F238E27FC236}">
                <a16:creationId xmlns:a16="http://schemas.microsoft.com/office/drawing/2014/main" id="{91FA2264-A876-4BC1-9098-82ADC8796EAE}"/>
              </a:ext>
            </a:extLst>
          </p:cNvPr>
          <p:cNvSpPr>
            <a:spLocks xmlns:a="http://schemas.openxmlformats.org/drawingml/2006/main" noGrp="1"/>
          </p:cNvSpPr>
          <p:nvPr/>
        </p:nvSpPr>
        <p:spPr>
          <a:xfrm xmlns:a="http://schemas.openxmlformats.org/drawingml/2006/main">
            <a:off x="571500" y="6753225"/>
            <a:ext cx="14097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1">
                <a:solidFill>
                  <a:srgbClr val="183247"/>
                </a:solidFill>
                <a:latin typeface="Arial"/>
                <a:ea typeface="Arial"/>
                <a:cs typeface="Arial"/>
              </a:defRPr>
            </a:pPr>
            <a:r>
              <a:rPr sz="2925" b="1">
                <a:solidFill>
                  <a:srgbClr val="183247"/>
                </a:solidFill>
                <a:latin typeface="Arial"/>
                <a:ea typeface="Arial"/>
                <a:cs typeface="Arial"/>
              </a:rPr>
              <a:t>Controle: ΔQ = 0,1 × (42.000 − 40.000) = +200</a:t>
            </a:r>
          </a:p>
        </p:txBody>
      </p:sp>
    </p:spTree>
    <p:extLst>
      <p:ext uri="{BB962C8B-B14F-4D97-AF65-F5344CB8AC3E}">
        <p14:creationId xmlns:p14="http://schemas.microsoft.com/office/powerpoint/2010/main" val="647747320"/>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Opgave 5.6 · Onderbouwing van het advies">
            <a:extLst xmlns:a="http://schemas.openxmlformats.org/drawingml/2006/main">
              <a:ext uri="{FF2B5EF4-FFF2-40B4-BE49-F238E27FC236}">
                <a16:creationId xmlns:a16="http://schemas.microsoft.com/office/drawing/2014/main" id="{BD4137A1-8FD5-492E-8829-192D05C4F0CC}"/>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Opgave 5.6 · Onderbouwing van het advies</a:t>
            </a:r>
          </a:p>
        </p:txBody>
      </p:sp>
      <p:sp>
        <p:nvSpPr>
          <p:cNvPr id="2" name="">
            <a:extLst xmlns:a="http://schemas.openxmlformats.org/drawingml/2006/main">
              <a:ext uri="{FF2B5EF4-FFF2-40B4-BE49-F238E27FC236}">
                <a16:creationId xmlns:a16="http://schemas.microsoft.com/office/drawing/2014/main" id="{1D2076BB-1E34-4FF5-B245-66E785E8C78F}"/>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footer">
            <a:extLst xmlns:a="http://schemas.openxmlformats.org/drawingml/2006/main">
              <a:ext uri="{FF2B5EF4-FFF2-40B4-BE49-F238E27FC236}">
                <a16:creationId xmlns:a16="http://schemas.microsoft.com/office/drawing/2014/main" id="{1A621D47-61B0-4B49-91DE-A54179D7B834}"/>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§2.2.4 Gemengde opgaven · Opgave 5 · Boekpagina 66–67</a:t>
            </a:r>
          </a:p>
        </p:txBody>
      </p:sp>
      <p:sp>
        <p:nvSpPr>
          <p:cNvPr id="4" name="slide-number">
            <a:extLst xmlns:a="http://schemas.openxmlformats.org/drawingml/2006/main">
              <a:ext uri="{FF2B5EF4-FFF2-40B4-BE49-F238E27FC236}">
                <a16:creationId xmlns:a16="http://schemas.microsoft.com/office/drawing/2014/main" id="{E8BD0BED-BEDE-4AFD-8830-DC1C1BC60214}"/>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20</a:t>
            </a:r>
          </a:p>
        </p:txBody>
      </p:sp>
      <p:graphicFrame>
        <p:nvGraphicFramePr>
          <p:cNvPr id="12" name=""/>
          <p:cNvGraphicFramePr/>
          <p:nvPr/>
        </p:nvGraphicFramePr>
        <p:xfrm>
          <a:off xmlns:a="http://schemas.openxmlformats.org/drawingml/2006/main" x="571500" y="2209800"/>
          <a:ext xmlns:a="http://schemas.openxmlformats.org/drawingml/2006/main" cx="14097000" cy="3067050"/>
        </p:xfrm>
        <a:graphic xmlns:a="http://schemas.openxmlformats.org/drawingml/2006/main">
          <a:graphicData uri="http://schemas.openxmlformats.org/drawingml/2006/table">
            <a:tbl>
              <a:tblPr/>
              <a:tblGrid>
                <a:gridCol w="4000500"/>
                <a:gridCol w="1619250"/>
                <a:gridCol w="8477250"/>
              </a:tblGrid>
              <a:tr h="1022350">
                <a:tc>
                  <a:txBody>
                    <a:bodyPr lIns="171450" tIns="95250" rIns="152400" bIns="95250"/>
                    <a:lstStyle/>
                    <a:p>
                      <a:r>
                        <a:rPr sz="2475" b="1">
                          <a:solidFill>
                            <a:srgbClr val="FFFFFF"/>
                          </a:solidFill>
                          <a:latin typeface="Arial"/>
                          <a:ea typeface="Arial"/>
                          <a:cs typeface="Arial"/>
                        </a:rPr>
                        <a:t>Rol in het advies</a:t>
                      </a:r>
                    </a:p>
                  </a:txBody>
                  <a:tcPr marL="91440" marR="91440" marT="45720" marB="45720" anchor="ctr">
                    <a:solidFill>
                      <a:srgbClr val="183247"/>
                    </a:solidFill>
                  </a:tcPr>
                </a:tc>
                <a:tc>
                  <a:txBody>
                    <a:bodyPr lIns="171450" tIns="95250" rIns="152400" bIns="95250"/>
                    <a:lstStyle/>
                    <a:p>
                      <a:r>
                        <a:rPr sz="2475" b="1">
                          <a:solidFill>
                            <a:srgbClr val="FFFFFF"/>
                          </a:solidFill>
                          <a:latin typeface="Arial"/>
                          <a:ea typeface="Arial"/>
                          <a:cs typeface="Arial"/>
                        </a:rPr>
                        <a:t>Bron</a:t>
                      </a:r>
                    </a:p>
                  </a:txBody>
                  <a:tcPr marL="91440" marR="91440" marT="45720" marB="45720" anchor="ctr">
                    <a:solidFill>
                      <a:srgbClr val="183247"/>
                    </a:solidFill>
                  </a:tcPr>
                </a:tc>
                <a:tc>
                  <a:txBody>
                    <a:bodyPr lIns="171450" tIns="95250" rIns="152400" bIns="95250"/>
                    <a:lstStyle/>
                    <a:p>
                      <a:r>
                        <a:rPr sz="2475" b="1">
                          <a:solidFill>
                            <a:srgbClr val="FFFFFF"/>
                          </a:solidFill>
                          <a:latin typeface="Arial"/>
                          <a:ea typeface="Arial"/>
                          <a:cs typeface="Arial"/>
                        </a:rPr>
                        <a:t>Onderbouwing</a:t>
                      </a:r>
                    </a:p>
                  </a:txBody>
                  <a:tcPr marL="91440" marR="91440" marT="45720" marB="45720" anchor="ctr">
                    <a:solidFill>
                      <a:srgbClr val="183247"/>
                    </a:solidFill>
                  </a:tcPr>
                </a:tc>
              </a:tr>
              <a:tr h="1022350">
                <a:tc>
                  <a:txBody>
                    <a:bodyPr lIns="171450" tIns="95250" rIns="152400" bIns="95250"/>
                    <a:lstStyle/>
                    <a:p>
                      <a:r>
                        <a:rPr sz="2475" b="0">
                          <a:solidFill>
                            <a:srgbClr val="183247"/>
                          </a:solidFill>
                          <a:latin typeface="Arial"/>
                          <a:ea typeface="Arial"/>
                          <a:cs typeface="Arial"/>
                        </a:rPr>
                        <a:t>Ondersteunde conclusie</a:t>
                      </a:r>
                    </a:p>
                  </a:txBody>
                  <a:tcPr marL="91440" marR="91440" marT="45720" marB="45720" anchor="ctr">
                    <a:solidFill>
                      <a:srgbClr val="FFFFFF"/>
                    </a:solidFill>
                  </a:tcPr>
                </a:tc>
                <a:tc>
                  <a:txBody>
                    <a:bodyPr lIns="171450" tIns="95250" rIns="152400" bIns="95250"/>
                    <a:lstStyle/>
                    <a:p>
                      <a:r>
                        <a:rPr sz="2475" b="0">
                          <a:solidFill>
                            <a:srgbClr val="183247"/>
                          </a:solidFill>
                          <a:latin typeface="Arial"/>
                          <a:ea typeface="Arial"/>
                          <a:cs typeface="Arial"/>
                        </a:rPr>
                        <a:t>A</a:t>
                      </a:r>
                    </a:p>
                  </a:txBody>
                  <a:tcPr marL="91440" marR="91440" marT="45720" marB="45720" anchor="ctr">
                    <a:solidFill>
                      <a:srgbClr val="FFFFFF"/>
                    </a:solidFill>
                  </a:tcPr>
                </a:tc>
                <a:tc>
                  <a:txBody>
                    <a:bodyPr lIns="171450" tIns="95250" rIns="152400" bIns="95250"/>
                    <a:lstStyle/>
                    <a:p>
                      <a:r>
                        <a:rPr sz="2475" b="0">
                          <a:solidFill>
                            <a:srgbClr val="183247"/>
                          </a:solidFill>
                          <a:latin typeface="Arial"/>
                          <a:ea typeface="Arial"/>
                          <a:cs typeface="Arial"/>
                        </a:rPr>
                        <a:t>De onderzochte prijsverhoging verhoogde</a:t>
                      </a:r>
                    </a:p>
                    <a:p>
                      <a:r>
                        <a:rPr sz="2475" b="0">
                          <a:solidFill>
                            <a:srgbClr val="183247"/>
                          </a:solidFill>
                          <a:latin typeface="Arial"/>
                          <a:ea typeface="Arial"/>
                          <a:cs typeface="Arial"/>
                        </a:rPr>
                        <a:t>de maandomzet met € 16.000.</a:t>
                      </a:r>
                    </a:p>
                  </a:txBody>
                  <a:tcPr marL="91440" marR="91440" marT="45720" marB="45720" anchor="ctr">
                    <a:solidFill>
                      <a:srgbClr val="FFFFFF"/>
                    </a:solidFill>
                  </a:tcPr>
                </a:tc>
              </a:tr>
              <a:tr h="1022350">
                <a:tc>
                  <a:txBody>
                    <a:bodyPr lIns="171450" tIns="95250" rIns="152400" bIns="95250"/>
                    <a:lstStyle/>
                    <a:p>
                      <a:r>
                        <a:rPr sz="2475" b="0">
                          <a:solidFill>
                            <a:srgbClr val="183247"/>
                          </a:solidFill>
                          <a:latin typeface="Arial"/>
                          <a:ea typeface="Arial"/>
                          <a:cs typeface="Arial"/>
                        </a:rPr>
                        <a:t>Tweede bron</a:t>
                      </a:r>
                    </a:p>
                  </a:txBody>
                  <a:tcPr marL="91440" marR="91440" marT="45720" marB="45720" anchor="ctr">
                    <a:solidFill>
                      <a:srgbClr val="EFF4F7"/>
                    </a:solidFill>
                  </a:tcPr>
                </a:tc>
                <a:tc>
                  <a:txBody>
                    <a:bodyPr lIns="171450" tIns="95250" rIns="152400" bIns="95250"/>
                    <a:lstStyle/>
                    <a:p>
                      <a:r>
                        <a:rPr sz="2475" b="0">
                          <a:solidFill>
                            <a:srgbClr val="183247"/>
                          </a:solidFill>
                          <a:latin typeface="Arial"/>
                          <a:ea typeface="Arial"/>
                          <a:cs typeface="Arial"/>
                        </a:rPr>
                        <a:t>C</a:t>
                      </a:r>
                    </a:p>
                  </a:txBody>
                  <a:tcPr marL="91440" marR="91440" marT="45720" marB="45720" anchor="ctr">
                    <a:solidFill>
                      <a:srgbClr val="EFF4F7"/>
                    </a:solidFill>
                  </a:tcPr>
                </a:tc>
                <a:tc>
                  <a:txBody>
                    <a:bodyPr lIns="171450" tIns="95250" rIns="152400" bIns="95250"/>
                    <a:lstStyle/>
                    <a:p>
                      <a:r>
                        <a:rPr sz="2475" b="0">
                          <a:solidFill>
                            <a:srgbClr val="183247"/>
                          </a:solidFill>
                          <a:latin typeface="Arial"/>
                          <a:ea typeface="Arial"/>
                          <a:cs typeface="Arial"/>
                        </a:rPr>
                        <a:t>StreamPlus en de concurrent zijn substituten.</a:t>
                      </a:r>
                    </a:p>
                    <a:p>
                      <a:r>
                        <a:rPr sz="2475" b="0">
                          <a:solidFill>
                            <a:srgbClr val="183247"/>
                          </a:solidFill>
                          <a:latin typeface="Arial"/>
                          <a:ea typeface="Arial"/>
                          <a:cs typeface="Arial"/>
                        </a:rPr>
                        <a:t>Klanten reageren op de concurrentprijs.</a:t>
                      </a:r>
                    </a:p>
                  </a:txBody>
                  <a:tcPr marL="91440" marR="91440" marT="45720" marB="45720" anchor="ctr">
                    <a:solidFill>
                      <a:srgbClr val="EFF4F7"/>
                    </a:solidFill>
                  </a:tcPr>
                </a:tc>
              </a:tr>
            </a:tbl>
          </a:graphicData>
        </a:graphic>
      </p:graphicFrame>
      <p:sp>
        <p:nvSpPr>
          <p:cNvPr id="6" name="Advies: onderzoek een eventuele volgende prijswijziging zorg">
            <a:extLst xmlns:a="http://schemas.openxmlformats.org/drawingml/2006/main">
              <a:ext uri="{FF2B5EF4-FFF2-40B4-BE49-F238E27FC236}">
                <a16:creationId xmlns:a16="http://schemas.microsoft.com/office/drawing/2014/main" id="{7BD5F104-AFFE-46AD-8617-2D7CDC7D2749}"/>
              </a:ext>
            </a:extLst>
          </p:cNvPr>
          <p:cNvSpPr>
            <a:spLocks xmlns:a="http://schemas.openxmlformats.org/drawingml/2006/main" noGrp="1"/>
          </p:cNvSpPr>
          <p:nvPr/>
        </p:nvSpPr>
        <p:spPr>
          <a:xfrm xmlns:a="http://schemas.openxmlformats.org/drawingml/2006/main">
            <a:off x="571500" y="5886450"/>
            <a:ext cx="14097000"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17658A"/>
                </a:solidFill>
                <a:latin typeface="Arial"/>
                <a:ea typeface="Arial"/>
                <a:cs typeface="Arial"/>
              </a:defRPr>
            </a:pPr>
            <a:r>
              <a:rPr sz="3150" b="1">
                <a:solidFill>
                  <a:srgbClr val="17658A"/>
                </a:solidFill>
                <a:latin typeface="Arial"/>
                <a:ea typeface="Arial"/>
                <a:cs typeface="Arial"/>
              </a:rPr>
              <a:t>Advies: onderzoek een eventuele volgende prijswijziging zorgvuldig.</a:t>
            </a:r>
          </a:p>
        </p:txBody>
      </p:sp>
      <p:sp>
        <p:nvSpPr>
          <p:cNvPr id="7" name="Koppel je aanbeveling aan deze twee bronnen.">
            <a:extLst xmlns:a="http://schemas.openxmlformats.org/drawingml/2006/main">
              <a:ext uri="{FF2B5EF4-FFF2-40B4-BE49-F238E27FC236}">
                <a16:creationId xmlns:a16="http://schemas.microsoft.com/office/drawing/2014/main" id="{D13BF9F5-3BA5-43AF-85C9-CDEBF5CB2C38}"/>
              </a:ext>
            </a:extLst>
          </p:cNvPr>
          <p:cNvSpPr>
            <a:spLocks xmlns:a="http://schemas.openxmlformats.org/drawingml/2006/main" noGrp="1"/>
          </p:cNvSpPr>
          <p:nvPr/>
        </p:nvSpPr>
        <p:spPr>
          <a:xfrm xmlns:a="http://schemas.openxmlformats.org/drawingml/2006/main">
            <a:off x="571500" y="7334250"/>
            <a:ext cx="14097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Koppel je aanbeveling aan deze twee bronnen.</a:t>
            </a:r>
          </a:p>
        </p:txBody>
      </p:sp>
    </p:spTree>
    <p:extLst>
      <p:ext uri="{BB962C8B-B14F-4D97-AF65-F5344CB8AC3E}">
        <p14:creationId xmlns:p14="http://schemas.microsoft.com/office/powerpoint/2010/main" val="267021646"/>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Opgave 5.6 · Precies twee grenzen">
            <a:extLst xmlns:a="http://schemas.openxmlformats.org/drawingml/2006/main">
              <a:ext uri="{FF2B5EF4-FFF2-40B4-BE49-F238E27FC236}">
                <a16:creationId xmlns:a16="http://schemas.microsoft.com/office/drawing/2014/main" id="{3A6D3822-E96E-459E-9203-086D43E94E14}"/>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Opgave 5.6 · Precies twee grenzen</a:t>
            </a:r>
          </a:p>
        </p:txBody>
      </p:sp>
      <p:sp>
        <p:nvSpPr>
          <p:cNvPr id="2" name="">
            <a:extLst xmlns:a="http://schemas.openxmlformats.org/drawingml/2006/main">
              <a:ext uri="{FF2B5EF4-FFF2-40B4-BE49-F238E27FC236}">
                <a16:creationId xmlns:a16="http://schemas.microsoft.com/office/drawing/2014/main" id="{6DCD864F-4F18-49A7-9E51-24CD5C49B9AF}"/>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footer">
            <a:extLst xmlns:a="http://schemas.openxmlformats.org/drawingml/2006/main">
              <a:ext uri="{FF2B5EF4-FFF2-40B4-BE49-F238E27FC236}">
                <a16:creationId xmlns:a16="http://schemas.microsoft.com/office/drawing/2014/main" id="{08988498-5B55-4791-83AC-B6D322CFFC2D}"/>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§2.2.4 Gemengde opgaven · Opgave 5 · Boekpagina 66–67</a:t>
            </a:r>
          </a:p>
        </p:txBody>
      </p:sp>
      <p:sp>
        <p:nvSpPr>
          <p:cNvPr id="4" name="slide-number">
            <a:extLst xmlns:a="http://schemas.openxmlformats.org/drawingml/2006/main">
              <a:ext uri="{FF2B5EF4-FFF2-40B4-BE49-F238E27FC236}">
                <a16:creationId xmlns:a16="http://schemas.microsoft.com/office/drawing/2014/main" id="{26942CA5-82A1-4D67-AAE6-4DBDBAFB24F9}"/>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21</a:t>
            </a:r>
          </a:p>
        </p:txBody>
      </p:sp>
      <p:sp>
        <p:nvSpPr>
          <p:cNvPr id="5" name="Niet bewezen">
            <a:extLst xmlns:a="http://schemas.openxmlformats.org/drawingml/2006/main">
              <a:ext uri="{FF2B5EF4-FFF2-40B4-BE49-F238E27FC236}">
                <a16:creationId xmlns:a16="http://schemas.microsoft.com/office/drawing/2014/main" id="{1ABBEB12-4436-4427-8083-BC676C670FAD}"/>
              </a:ext>
            </a:extLst>
          </p:cNvPr>
          <p:cNvSpPr>
            <a:spLocks xmlns:a="http://schemas.openxmlformats.org/drawingml/2006/main" noGrp="1"/>
          </p:cNvSpPr>
          <p:nvPr/>
        </p:nvSpPr>
        <p:spPr>
          <a:xfrm xmlns:a="http://schemas.openxmlformats.org/drawingml/2006/main">
            <a:off x="571500" y="1828800"/>
            <a:ext cx="140970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A94D16"/>
                </a:solidFill>
                <a:latin typeface="Arial"/>
                <a:ea typeface="Arial"/>
                <a:cs typeface="Arial"/>
              </a:defRPr>
            </a:pPr>
            <a:r>
              <a:rPr sz="3300" b="1">
                <a:solidFill>
                  <a:srgbClr val="A94D16"/>
                </a:solidFill>
                <a:latin typeface="Arial"/>
                <a:ea typeface="Arial"/>
                <a:cs typeface="Arial"/>
              </a:rPr>
              <a:t>Niet bewezen</a:t>
            </a:r>
          </a:p>
        </p:txBody>
      </p:sp>
      <p:sp>
        <p:nvSpPr>
          <p:cNvPr id="6" name="1">
            <a:extLst xmlns:a="http://schemas.openxmlformats.org/drawingml/2006/main">
              <a:ext uri="{FF2B5EF4-FFF2-40B4-BE49-F238E27FC236}">
                <a16:creationId xmlns:a16="http://schemas.microsoft.com/office/drawing/2014/main" id="{AC915D82-352F-45D9-8D15-E6A657B1E9C1}"/>
              </a:ext>
            </a:extLst>
          </p:cNvPr>
          <p:cNvSpPr>
            <a:spLocks xmlns:a="http://schemas.openxmlformats.org/drawingml/2006/main" noGrp="1"/>
          </p:cNvSpPr>
          <p:nvPr/>
        </p:nvSpPr>
        <p:spPr>
          <a:xfrm xmlns:a="http://schemas.openxmlformats.org/drawingml/2006/main">
            <a:off x="571500" y="3038475"/>
            <a:ext cx="952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500" b="1">
                <a:solidFill>
                  <a:srgbClr val="A94D16"/>
                </a:solidFill>
                <a:latin typeface="Arial"/>
                <a:ea typeface="Arial"/>
                <a:cs typeface="Arial"/>
              </a:defRPr>
            </a:pPr>
            <a:r>
              <a:rPr sz="4500" b="1">
                <a:solidFill>
                  <a:srgbClr val="A94D16"/>
                </a:solidFill>
                <a:latin typeface="Arial"/>
                <a:ea typeface="Arial"/>
                <a:cs typeface="Arial"/>
              </a:rPr>
              <a:t>1</a:t>
            </a:r>
          </a:p>
        </p:txBody>
      </p:sp>
      <p:sp>
        <p:nvSpPr>
          <p:cNvPr id="7" name="Dezelfde reactie bij een volgende prijsverhoging">
            <a:extLst xmlns:a="http://schemas.openxmlformats.org/drawingml/2006/main">
              <a:ext uri="{FF2B5EF4-FFF2-40B4-BE49-F238E27FC236}">
                <a16:creationId xmlns:a16="http://schemas.microsoft.com/office/drawing/2014/main" id="{951A893C-F698-470D-9DD0-E0ADBC2872D8}"/>
              </a:ext>
            </a:extLst>
          </p:cNvPr>
          <p:cNvSpPr>
            <a:spLocks xmlns:a="http://schemas.openxmlformats.org/drawingml/2006/main" noGrp="1"/>
          </p:cNvSpPr>
          <p:nvPr/>
        </p:nvSpPr>
        <p:spPr>
          <a:xfrm xmlns:a="http://schemas.openxmlformats.org/drawingml/2006/main">
            <a:off x="2076450" y="3048000"/>
            <a:ext cx="1259205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83247"/>
                </a:solidFill>
                <a:latin typeface="Arial"/>
                <a:ea typeface="Arial"/>
                <a:cs typeface="Arial"/>
              </a:defRPr>
            </a:pPr>
            <a:r>
              <a:rPr sz="3300" b="1">
                <a:solidFill>
                  <a:srgbClr val="183247"/>
                </a:solidFill>
                <a:latin typeface="Arial"/>
                <a:ea typeface="Arial"/>
                <a:cs typeface="Arial"/>
              </a:rPr>
              <a:t>Dezelfde reactie bij een volgende prijsverhoging</a:t>
            </a:r>
          </a:p>
        </p:txBody>
      </p:sp>
      <p:sp>
        <p:nvSpPr>
          <p:cNvPr id="8" name="De meting gaat over de onderzochte prijsstap.">
            <a:extLst xmlns:a="http://schemas.openxmlformats.org/drawingml/2006/main">
              <a:ext uri="{FF2B5EF4-FFF2-40B4-BE49-F238E27FC236}">
                <a16:creationId xmlns:a16="http://schemas.microsoft.com/office/drawing/2014/main" id="{B605EFF8-B9B7-4E44-9236-C69E16A4E249}"/>
              </a:ext>
            </a:extLst>
          </p:cNvPr>
          <p:cNvSpPr>
            <a:spLocks xmlns:a="http://schemas.openxmlformats.org/drawingml/2006/main" noGrp="1"/>
          </p:cNvSpPr>
          <p:nvPr/>
        </p:nvSpPr>
        <p:spPr>
          <a:xfrm xmlns:a="http://schemas.openxmlformats.org/drawingml/2006/main">
            <a:off x="2076450" y="4181475"/>
            <a:ext cx="1259205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0">
                <a:solidFill>
                  <a:srgbClr val="183247"/>
                </a:solidFill>
                <a:latin typeface="Arial"/>
                <a:ea typeface="Arial"/>
                <a:cs typeface="Arial"/>
              </a:defRPr>
            </a:pPr>
            <a:r>
              <a:rPr sz="2775" b="0">
                <a:solidFill>
                  <a:srgbClr val="183247"/>
                </a:solidFill>
                <a:latin typeface="Arial"/>
                <a:ea typeface="Arial"/>
                <a:cs typeface="Arial"/>
              </a:rPr>
              <a:t>De meting gaat over de onderzochte prijsstap.</a:t>
            </a:r>
          </a:p>
        </p:txBody>
      </p:sp>
      <p:sp>
        <p:nvSpPr>
          <p:cNvPr id="9" name="">
            <a:extLst xmlns:a="http://schemas.openxmlformats.org/drawingml/2006/main">
              <a:ext uri="{FF2B5EF4-FFF2-40B4-BE49-F238E27FC236}">
                <a16:creationId xmlns:a16="http://schemas.microsoft.com/office/drawing/2014/main" id="{541A4ED1-B3C6-4C23-9E27-257CE970B1EB}"/>
              </a:ext>
            </a:extLst>
          </p:cNvPr>
          <p:cNvSpPr>
            <a:spLocks xmlns:a="http://schemas.openxmlformats.org/drawingml/2006/main" noGrp="1"/>
          </p:cNvSpPr>
          <p:nvPr/>
        </p:nvSpPr>
        <p:spPr>
          <a:xfrm xmlns:a="http://schemas.openxmlformats.org/drawingml/2006/main">
            <a:off x="571500" y="5324475"/>
            <a:ext cx="14097000" cy="0"/>
          </a:xfrm>
          <a:prstGeom xmlns:a="http://schemas.openxmlformats.org/drawingml/2006/main" prst="line">
            <a:avLst/>
          </a:prstGeom>
          <a:ln xmlns:a="http://schemas.openxmlformats.org/drawingml/2006/main" w="19050">
            <a:solidFill>
              <a:srgbClr val="C6D2DB"/>
            </a:solidFill>
          </a:ln>
        </p:spPr>
      </p:sp>
      <p:sp>
        <p:nvSpPr>
          <p:cNvPr id="10" name="2">
            <a:extLst xmlns:a="http://schemas.openxmlformats.org/drawingml/2006/main">
              <a:ext uri="{FF2B5EF4-FFF2-40B4-BE49-F238E27FC236}">
                <a16:creationId xmlns:a16="http://schemas.microsoft.com/office/drawing/2014/main" id="{D14728C7-9693-4DC7-BB85-3B7AACF271E3}"/>
              </a:ext>
            </a:extLst>
          </p:cNvPr>
          <p:cNvSpPr>
            <a:spLocks xmlns:a="http://schemas.openxmlformats.org/drawingml/2006/main" noGrp="1"/>
          </p:cNvSpPr>
          <p:nvPr/>
        </p:nvSpPr>
        <p:spPr>
          <a:xfrm xmlns:a="http://schemas.openxmlformats.org/drawingml/2006/main">
            <a:off x="571500" y="5886450"/>
            <a:ext cx="952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500" b="1">
                <a:solidFill>
                  <a:srgbClr val="A94D16"/>
                </a:solidFill>
                <a:latin typeface="Arial"/>
                <a:ea typeface="Arial"/>
                <a:cs typeface="Arial"/>
              </a:defRPr>
            </a:pPr>
            <a:r>
              <a:rPr sz="4500" b="1">
                <a:solidFill>
                  <a:srgbClr val="A94D16"/>
                </a:solidFill>
                <a:latin typeface="Arial"/>
                <a:ea typeface="Arial"/>
                <a:cs typeface="Arial"/>
              </a:rPr>
              <a:t>2</a:t>
            </a:r>
          </a:p>
        </p:txBody>
      </p:sp>
      <p:sp>
        <p:nvSpPr>
          <p:cNvPr id="11" name="Een hogere winst">
            <a:extLst xmlns:a="http://schemas.openxmlformats.org/drawingml/2006/main">
              <a:ext uri="{FF2B5EF4-FFF2-40B4-BE49-F238E27FC236}">
                <a16:creationId xmlns:a16="http://schemas.microsoft.com/office/drawing/2014/main" id="{3099F0C0-A1E5-4C07-BF94-BABBB200BDF5}"/>
              </a:ext>
            </a:extLst>
          </p:cNvPr>
          <p:cNvSpPr>
            <a:spLocks xmlns:a="http://schemas.openxmlformats.org/drawingml/2006/main" noGrp="1"/>
          </p:cNvSpPr>
          <p:nvPr/>
        </p:nvSpPr>
        <p:spPr>
          <a:xfrm xmlns:a="http://schemas.openxmlformats.org/drawingml/2006/main">
            <a:off x="2076450" y="5895975"/>
            <a:ext cx="125920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83247"/>
                </a:solidFill>
                <a:latin typeface="Arial"/>
                <a:ea typeface="Arial"/>
                <a:cs typeface="Arial"/>
              </a:defRPr>
            </a:pPr>
            <a:r>
              <a:rPr sz="3300" b="1">
                <a:solidFill>
                  <a:srgbClr val="183247"/>
                </a:solidFill>
                <a:latin typeface="Arial"/>
                <a:ea typeface="Arial"/>
                <a:cs typeface="Arial"/>
              </a:rPr>
              <a:t>Een hogere winst</a:t>
            </a:r>
          </a:p>
        </p:txBody>
      </p:sp>
      <p:sp>
        <p:nvSpPr>
          <p:cNvPr id="12" name="De kosten ontbreken: omzet alleen bewijst geen winststijging">
            <a:extLst xmlns:a="http://schemas.openxmlformats.org/drawingml/2006/main">
              <a:ext uri="{FF2B5EF4-FFF2-40B4-BE49-F238E27FC236}">
                <a16:creationId xmlns:a16="http://schemas.microsoft.com/office/drawing/2014/main" id="{ED8365EA-FBD8-4682-9A3B-6FED64936CE7}"/>
              </a:ext>
            </a:extLst>
          </p:cNvPr>
          <p:cNvSpPr>
            <a:spLocks xmlns:a="http://schemas.openxmlformats.org/drawingml/2006/main" noGrp="1"/>
          </p:cNvSpPr>
          <p:nvPr/>
        </p:nvSpPr>
        <p:spPr>
          <a:xfrm xmlns:a="http://schemas.openxmlformats.org/drawingml/2006/main">
            <a:off x="2076450" y="6934200"/>
            <a:ext cx="1259205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0">
                <a:solidFill>
                  <a:srgbClr val="183247"/>
                </a:solidFill>
                <a:latin typeface="Arial"/>
                <a:ea typeface="Arial"/>
                <a:cs typeface="Arial"/>
              </a:defRPr>
            </a:pPr>
            <a:r>
              <a:rPr sz="2775" b="0">
                <a:solidFill>
                  <a:srgbClr val="183247"/>
                </a:solidFill>
                <a:latin typeface="Arial"/>
                <a:ea typeface="Arial"/>
                <a:cs typeface="Arial"/>
              </a:rPr>
              <a:t>De kosten ontbreken: omzet alleen bewijst geen winststijging.</a:t>
            </a:r>
          </a:p>
        </p:txBody>
      </p:sp>
    </p:spTree>
    <p:extLst>
      <p:ext uri="{BB962C8B-B14F-4D97-AF65-F5344CB8AC3E}">
        <p14:creationId xmlns:p14="http://schemas.microsoft.com/office/powerpoint/2010/main" val="1620739731"/>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Controleer en verbeter je antwoord">
            <a:extLst xmlns:a="http://schemas.openxmlformats.org/drawingml/2006/main">
              <a:ext uri="{FF2B5EF4-FFF2-40B4-BE49-F238E27FC236}">
                <a16:creationId xmlns:a16="http://schemas.microsoft.com/office/drawing/2014/main" id="{D670C710-51AE-45B3-8CC6-1110DB68F9C5}"/>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Controleer en verbeter je antwoord</a:t>
            </a:r>
          </a:p>
        </p:txBody>
      </p:sp>
      <p:sp>
        <p:nvSpPr>
          <p:cNvPr id="2" name="">
            <a:extLst xmlns:a="http://schemas.openxmlformats.org/drawingml/2006/main">
              <a:ext uri="{FF2B5EF4-FFF2-40B4-BE49-F238E27FC236}">
                <a16:creationId xmlns:a16="http://schemas.microsoft.com/office/drawing/2014/main" id="{0A8107AB-9F82-4D62-B842-6D04308CE938}"/>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footer">
            <a:extLst xmlns:a="http://schemas.openxmlformats.org/drawingml/2006/main">
              <a:ext uri="{FF2B5EF4-FFF2-40B4-BE49-F238E27FC236}">
                <a16:creationId xmlns:a16="http://schemas.microsoft.com/office/drawing/2014/main" id="{5DE3ED93-14C4-4733-8135-54AB33DDC263}"/>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§2.2.4 Gemengde opgaven</a:t>
            </a:r>
          </a:p>
        </p:txBody>
      </p:sp>
      <p:sp>
        <p:nvSpPr>
          <p:cNvPr id="4" name="slide-number">
            <a:extLst xmlns:a="http://schemas.openxmlformats.org/drawingml/2006/main">
              <a:ext uri="{FF2B5EF4-FFF2-40B4-BE49-F238E27FC236}">
                <a16:creationId xmlns:a16="http://schemas.microsoft.com/office/drawing/2014/main" id="{E592FCF5-2348-4A26-8D21-DF35248BE56F}"/>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22</a:t>
            </a:r>
          </a:p>
        </p:txBody>
      </p:sp>
      <p:sp>
        <p:nvSpPr>
          <p:cNvPr id="5" name="Bronkeuze">
            <a:extLst xmlns:a="http://schemas.openxmlformats.org/drawingml/2006/main">
              <a:ext uri="{FF2B5EF4-FFF2-40B4-BE49-F238E27FC236}">
                <a16:creationId xmlns:a16="http://schemas.microsoft.com/office/drawing/2014/main" id="{83C53F41-60AE-4D74-BF94-B60D36ED4FFB}"/>
              </a:ext>
            </a:extLst>
          </p:cNvPr>
          <p:cNvSpPr>
            <a:spLocks xmlns:a="http://schemas.openxmlformats.org/drawingml/2006/main" noGrp="1"/>
          </p:cNvSpPr>
          <p:nvPr/>
        </p:nvSpPr>
        <p:spPr>
          <a:xfrm xmlns:a="http://schemas.openxmlformats.org/drawingml/2006/main">
            <a:off x="571500" y="2000250"/>
            <a:ext cx="4381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1">
                <a:solidFill>
                  <a:srgbClr val="17658A"/>
                </a:solidFill>
                <a:latin typeface="Arial"/>
                <a:ea typeface="Arial"/>
                <a:cs typeface="Arial"/>
              </a:defRPr>
            </a:pPr>
            <a:r>
              <a:rPr sz="2925" b="1">
                <a:solidFill>
                  <a:srgbClr val="17658A"/>
                </a:solidFill>
                <a:latin typeface="Arial"/>
                <a:ea typeface="Arial"/>
                <a:cs typeface="Arial"/>
              </a:rPr>
              <a:t>Bronkeuze</a:t>
            </a:r>
          </a:p>
        </p:txBody>
      </p:sp>
      <p:sp>
        <p:nvSpPr>
          <p:cNvPr id="6" name="A, B, C en D blijven bij hun eigen onderzoek.">
            <a:extLst xmlns:a="http://schemas.openxmlformats.org/drawingml/2006/main">
              <a:ext uri="{FF2B5EF4-FFF2-40B4-BE49-F238E27FC236}">
                <a16:creationId xmlns:a16="http://schemas.microsoft.com/office/drawing/2014/main" id="{221A4298-C56D-46FD-86C9-4976FC314492}"/>
              </a:ext>
            </a:extLst>
          </p:cNvPr>
          <p:cNvSpPr>
            <a:spLocks xmlns:a="http://schemas.openxmlformats.org/drawingml/2006/main" noGrp="1"/>
          </p:cNvSpPr>
          <p:nvPr/>
        </p:nvSpPr>
        <p:spPr>
          <a:xfrm xmlns:a="http://schemas.openxmlformats.org/drawingml/2006/main">
            <a:off x="5429250" y="2000250"/>
            <a:ext cx="923925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0">
                <a:solidFill>
                  <a:srgbClr val="183247"/>
                </a:solidFill>
                <a:latin typeface="Arial"/>
                <a:ea typeface="Arial"/>
                <a:cs typeface="Arial"/>
              </a:defRPr>
            </a:pPr>
            <a:r>
              <a:rPr sz="2700" b="0">
                <a:solidFill>
                  <a:srgbClr val="183247"/>
                </a:solidFill>
                <a:latin typeface="Arial"/>
                <a:ea typeface="Arial"/>
                <a:cs typeface="Arial"/>
              </a:rPr>
              <a:t>A, B, C en D blijven bij hun eigen onderzoek.</a:t>
            </a:r>
          </a:p>
        </p:txBody>
      </p:sp>
      <p:sp>
        <p:nvSpPr>
          <p:cNvPr id="7" name="Berekeningen">
            <a:extLst xmlns:a="http://schemas.openxmlformats.org/drawingml/2006/main">
              <a:ext uri="{FF2B5EF4-FFF2-40B4-BE49-F238E27FC236}">
                <a16:creationId xmlns:a16="http://schemas.microsoft.com/office/drawing/2014/main" id="{646C5B09-2D10-491A-B5E9-E2AB37444BEF}"/>
              </a:ext>
            </a:extLst>
          </p:cNvPr>
          <p:cNvSpPr>
            <a:spLocks xmlns:a="http://schemas.openxmlformats.org/drawingml/2006/main" noGrp="1"/>
          </p:cNvSpPr>
          <p:nvPr/>
        </p:nvSpPr>
        <p:spPr>
          <a:xfrm xmlns:a="http://schemas.openxmlformats.org/drawingml/2006/main">
            <a:off x="571500" y="3333750"/>
            <a:ext cx="4381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1">
                <a:solidFill>
                  <a:srgbClr val="17658A"/>
                </a:solidFill>
                <a:latin typeface="Arial"/>
                <a:ea typeface="Arial"/>
                <a:cs typeface="Arial"/>
              </a:defRPr>
            </a:pPr>
            <a:r>
              <a:rPr sz="2925" b="1">
                <a:solidFill>
                  <a:srgbClr val="17658A"/>
                </a:solidFill>
                <a:latin typeface="Arial"/>
                <a:ea typeface="Arial"/>
                <a:cs typeface="Arial"/>
              </a:rPr>
              <a:t>Berekeningen</a:t>
            </a:r>
          </a:p>
        </p:txBody>
      </p:sp>
      <p:sp>
        <p:nvSpPr>
          <p:cNvPr id="8" name="Oude waarde als basis; tussenstappen en eenheden.">
            <a:extLst xmlns:a="http://schemas.openxmlformats.org/drawingml/2006/main">
              <a:ext uri="{FF2B5EF4-FFF2-40B4-BE49-F238E27FC236}">
                <a16:creationId xmlns:a16="http://schemas.microsoft.com/office/drawing/2014/main" id="{DE78671B-C16F-46E8-AFAB-781F921F3A4C}"/>
              </a:ext>
            </a:extLst>
          </p:cNvPr>
          <p:cNvSpPr>
            <a:spLocks xmlns:a="http://schemas.openxmlformats.org/drawingml/2006/main" noGrp="1"/>
          </p:cNvSpPr>
          <p:nvPr/>
        </p:nvSpPr>
        <p:spPr>
          <a:xfrm xmlns:a="http://schemas.openxmlformats.org/drawingml/2006/main">
            <a:off x="5429250" y="3333750"/>
            <a:ext cx="923925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0">
                <a:solidFill>
                  <a:srgbClr val="183247"/>
                </a:solidFill>
                <a:latin typeface="Arial"/>
                <a:ea typeface="Arial"/>
                <a:cs typeface="Arial"/>
              </a:defRPr>
            </a:pPr>
            <a:r>
              <a:rPr sz="2700" b="0">
                <a:solidFill>
                  <a:srgbClr val="183247"/>
                </a:solidFill>
                <a:latin typeface="Arial"/>
                <a:ea typeface="Arial"/>
                <a:cs typeface="Arial"/>
              </a:rPr>
              <a:t>Oude waarde als basis; tussenstappen en eenheden.</a:t>
            </a:r>
          </a:p>
        </p:txBody>
      </p:sp>
      <p:sp>
        <p:nvSpPr>
          <p:cNvPr id="9" name="Betekenis">
            <a:extLst xmlns:a="http://schemas.openxmlformats.org/drawingml/2006/main">
              <a:ext uri="{FF2B5EF4-FFF2-40B4-BE49-F238E27FC236}">
                <a16:creationId xmlns:a16="http://schemas.microsoft.com/office/drawing/2014/main" id="{14ECC788-DE04-45C0-BA87-9F2DCB4A10F0}"/>
              </a:ext>
            </a:extLst>
          </p:cNvPr>
          <p:cNvSpPr>
            <a:spLocks xmlns:a="http://schemas.openxmlformats.org/drawingml/2006/main" noGrp="1"/>
          </p:cNvSpPr>
          <p:nvPr/>
        </p:nvSpPr>
        <p:spPr>
          <a:xfrm xmlns:a="http://schemas.openxmlformats.org/drawingml/2006/main">
            <a:off x="571500" y="4667250"/>
            <a:ext cx="4381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1">
                <a:solidFill>
                  <a:srgbClr val="17658A"/>
                </a:solidFill>
                <a:latin typeface="Arial"/>
                <a:ea typeface="Arial"/>
                <a:cs typeface="Arial"/>
              </a:defRPr>
            </a:pPr>
            <a:r>
              <a:rPr sz="2925" b="1">
                <a:solidFill>
                  <a:srgbClr val="17658A"/>
                </a:solidFill>
                <a:latin typeface="Arial"/>
                <a:ea typeface="Arial"/>
                <a:cs typeface="Arial"/>
              </a:rPr>
              <a:t>Betekenis</a:t>
            </a:r>
          </a:p>
        </p:txBody>
      </p:sp>
      <p:sp>
        <p:nvSpPr>
          <p:cNvPr id="10" name="Ev: sterkte en richting · Ei: categorie · Ek: twee diensten.">
            <a:extLst xmlns:a="http://schemas.openxmlformats.org/drawingml/2006/main">
              <a:ext uri="{FF2B5EF4-FFF2-40B4-BE49-F238E27FC236}">
                <a16:creationId xmlns:a16="http://schemas.microsoft.com/office/drawing/2014/main" id="{0ECAF7C2-80E7-4B21-874B-A955D4B8D2D9}"/>
              </a:ext>
            </a:extLst>
          </p:cNvPr>
          <p:cNvSpPr>
            <a:spLocks xmlns:a="http://schemas.openxmlformats.org/drawingml/2006/main" noGrp="1"/>
          </p:cNvSpPr>
          <p:nvPr/>
        </p:nvSpPr>
        <p:spPr>
          <a:xfrm xmlns:a="http://schemas.openxmlformats.org/drawingml/2006/main">
            <a:off x="5429250" y="4667250"/>
            <a:ext cx="923925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0">
                <a:solidFill>
                  <a:srgbClr val="183247"/>
                </a:solidFill>
                <a:latin typeface="Arial"/>
                <a:ea typeface="Arial"/>
                <a:cs typeface="Arial"/>
              </a:defRPr>
            </a:pPr>
            <a:r>
              <a:rPr sz="2700" b="0">
                <a:solidFill>
                  <a:srgbClr val="183247"/>
                </a:solidFill>
                <a:latin typeface="Arial"/>
                <a:ea typeface="Arial"/>
                <a:cs typeface="Arial"/>
              </a:rPr>
              <a:t>Ev: sterkte en richting · Ei: categorie · Ek: twee diensten.</a:t>
            </a:r>
          </a:p>
        </p:txBody>
      </p:sp>
      <p:sp>
        <p:nvSpPr>
          <p:cNvPr id="11" name="Advies">
            <a:extLst xmlns:a="http://schemas.openxmlformats.org/drawingml/2006/main">
              <a:ext uri="{FF2B5EF4-FFF2-40B4-BE49-F238E27FC236}">
                <a16:creationId xmlns:a16="http://schemas.microsoft.com/office/drawing/2014/main" id="{F92175CB-C049-4780-9F4B-B9BA5C6C3B55}"/>
              </a:ext>
            </a:extLst>
          </p:cNvPr>
          <p:cNvSpPr>
            <a:spLocks xmlns:a="http://schemas.openxmlformats.org/drawingml/2006/main" noGrp="1"/>
          </p:cNvSpPr>
          <p:nvPr/>
        </p:nvSpPr>
        <p:spPr>
          <a:xfrm xmlns:a="http://schemas.openxmlformats.org/drawingml/2006/main">
            <a:off x="571500" y="6000750"/>
            <a:ext cx="4381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1">
                <a:solidFill>
                  <a:srgbClr val="17658A"/>
                </a:solidFill>
                <a:latin typeface="Arial"/>
                <a:ea typeface="Arial"/>
                <a:cs typeface="Arial"/>
              </a:defRPr>
            </a:pPr>
            <a:r>
              <a:rPr sz="2925" b="1">
                <a:solidFill>
                  <a:srgbClr val="17658A"/>
                </a:solidFill>
                <a:latin typeface="Arial"/>
                <a:ea typeface="Arial"/>
                <a:cs typeface="Arial"/>
              </a:rPr>
              <a:t>Advies</a:t>
            </a:r>
          </a:p>
        </p:txBody>
      </p:sp>
      <p:sp>
        <p:nvSpPr>
          <p:cNvPr id="12" name="Minstens twee bronnen en precies twee niet-bewezen conclusie">
            <a:extLst xmlns:a="http://schemas.openxmlformats.org/drawingml/2006/main">
              <a:ext uri="{FF2B5EF4-FFF2-40B4-BE49-F238E27FC236}">
                <a16:creationId xmlns:a16="http://schemas.microsoft.com/office/drawing/2014/main" id="{6FCD1883-E4FA-4263-916B-BAB28030F3D5}"/>
              </a:ext>
            </a:extLst>
          </p:cNvPr>
          <p:cNvSpPr>
            <a:spLocks xmlns:a="http://schemas.openxmlformats.org/drawingml/2006/main" noGrp="1"/>
          </p:cNvSpPr>
          <p:nvPr/>
        </p:nvSpPr>
        <p:spPr>
          <a:xfrm xmlns:a="http://schemas.openxmlformats.org/drawingml/2006/main">
            <a:off x="5429250" y="6000750"/>
            <a:ext cx="923925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0">
                <a:solidFill>
                  <a:srgbClr val="183247"/>
                </a:solidFill>
                <a:latin typeface="Arial"/>
                <a:ea typeface="Arial"/>
                <a:cs typeface="Arial"/>
              </a:defRPr>
            </a:pPr>
            <a:r>
              <a:rPr sz="2700" b="0">
                <a:solidFill>
                  <a:srgbClr val="183247"/>
                </a:solidFill>
                <a:latin typeface="Arial"/>
                <a:ea typeface="Arial"/>
                <a:cs typeface="Arial"/>
              </a:rPr>
              <a:t>Minstens twee bronnen en precies twee niet-bewezen conclusies.</a:t>
            </a:r>
          </a:p>
        </p:txBody>
      </p:sp>
      <p:sp>
        <p:nvSpPr>
          <p:cNvPr id="13" name="Verbeter één volledige berekening of redenering.">
            <a:extLst xmlns:a="http://schemas.openxmlformats.org/drawingml/2006/main">
              <a:ext uri="{FF2B5EF4-FFF2-40B4-BE49-F238E27FC236}">
                <a16:creationId xmlns:a16="http://schemas.microsoft.com/office/drawing/2014/main" id="{8E42490B-0999-409B-B2C9-97140C38FCDE}"/>
              </a:ext>
            </a:extLst>
          </p:cNvPr>
          <p:cNvSpPr>
            <a:spLocks xmlns:a="http://schemas.openxmlformats.org/drawingml/2006/main" noGrp="1"/>
          </p:cNvSpPr>
          <p:nvPr/>
        </p:nvSpPr>
        <p:spPr>
          <a:xfrm xmlns:a="http://schemas.openxmlformats.org/drawingml/2006/main">
            <a:off x="571500" y="7496175"/>
            <a:ext cx="14097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183247"/>
                </a:solidFill>
                <a:latin typeface="Arial"/>
                <a:ea typeface="Arial"/>
                <a:cs typeface="Arial"/>
              </a:defRPr>
            </a:pPr>
            <a:r>
              <a:rPr sz="2550" b="1">
                <a:solidFill>
                  <a:srgbClr val="183247"/>
                </a:solidFill>
                <a:latin typeface="Arial"/>
                <a:ea typeface="Arial"/>
                <a:cs typeface="Arial"/>
              </a:rPr>
              <a:t>Verbeter één volledige berekening of redenering.</a:t>
            </a:r>
          </a:p>
        </p:txBody>
      </p:sp>
    </p:spTree>
    <p:extLst>
      <p:ext uri="{BB962C8B-B14F-4D97-AF65-F5344CB8AC3E}">
        <p14:creationId xmlns:p14="http://schemas.microsoft.com/office/powerpoint/2010/main" val="208694469"/>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Deze les: §2.2.4 Gemengde opgaven">
            <a:extLst xmlns:a="http://schemas.openxmlformats.org/drawingml/2006/main">
              <a:ext uri="{FF2B5EF4-FFF2-40B4-BE49-F238E27FC236}">
                <a16:creationId xmlns:a16="http://schemas.microsoft.com/office/drawing/2014/main" id="{F79919DB-BE73-43AD-98BD-0CD9F0FEF06C}"/>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Deze les: §2.2.4 Gemengde opgaven</a:t>
            </a:r>
          </a:p>
        </p:txBody>
      </p:sp>
      <p:sp>
        <p:nvSpPr>
          <p:cNvPr id="2" name="">
            <a:extLst xmlns:a="http://schemas.openxmlformats.org/drawingml/2006/main">
              <a:ext uri="{FF2B5EF4-FFF2-40B4-BE49-F238E27FC236}">
                <a16:creationId xmlns:a16="http://schemas.microsoft.com/office/drawing/2014/main" id="{F8FAFB33-DA54-4BD1-A580-3174861D03FF}"/>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footer">
            <a:extLst xmlns:a="http://schemas.openxmlformats.org/drawingml/2006/main">
              <a:ext uri="{FF2B5EF4-FFF2-40B4-BE49-F238E27FC236}">
                <a16:creationId xmlns:a16="http://schemas.microsoft.com/office/drawing/2014/main" id="{4F8303B2-8B0F-49DD-B23B-4F09244D661A}"/>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§2.2.4 Gemengde opgaven</a:t>
            </a:r>
          </a:p>
        </p:txBody>
      </p:sp>
      <p:sp>
        <p:nvSpPr>
          <p:cNvPr id="4" name="slide-number">
            <a:extLst xmlns:a="http://schemas.openxmlformats.org/drawingml/2006/main">
              <a:ext uri="{FF2B5EF4-FFF2-40B4-BE49-F238E27FC236}">
                <a16:creationId xmlns:a16="http://schemas.microsoft.com/office/drawing/2014/main" id="{C9BA7A0C-EC45-4D72-A504-6A1F78A1F821}"/>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23</a:t>
            </a:r>
          </a:p>
        </p:txBody>
      </p:sp>
      <p:sp>
        <p:nvSpPr>
          <p:cNvPr id="5" name="phase">
            <a:extLst xmlns:a="http://schemas.openxmlformats.org/drawingml/2006/main">
              <a:ext uri="{FF2B5EF4-FFF2-40B4-BE49-F238E27FC236}">
                <a16:creationId xmlns:a16="http://schemas.microsoft.com/office/drawing/2014/main" id="{201034B7-C654-439B-A793-1E4DBF6A2B7A}"/>
              </a:ext>
            </a:extLst>
          </p:cNvPr>
          <p:cNvSpPr>
            <a:spLocks xmlns:a="http://schemas.openxmlformats.org/drawingml/2006/main" noGrp="1"/>
          </p:cNvSpPr>
          <p:nvPr/>
        </p:nvSpPr>
        <p:spPr>
          <a:xfrm xmlns:a="http://schemas.openxmlformats.org/drawingml/2006/main">
            <a:off x="571500" y="1066800"/>
            <a:ext cx="13811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Nu: Afsluiting / huiswerk</a:t>
            </a:r>
          </a:p>
        </p:txBody>
      </p:sp>
      <p:sp>
        <p:nvSpPr>
          <p:cNvPr id="6" name="Lesroute">
            <a:extLst xmlns:a="http://schemas.openxmlformats.org/drawingml/2006/main">
              <a:ext uri="{FF2B5EF4-FFF2-40B4-BE49-F238E27FC236}">
                <a16:creationId xmlns:a16="http://schemas.microsoft.com/office/drawing/2014/main" id="{CF4B394D-541B-4279-BF20-1D0F1FC3EA61}"/>
              </a:ext>
            </a:extLst>
          </p:cNvPr>
          <p:cNvSpPr>
            <a:spLocks xmlns:a="http://schemas.openxmlformats.org/drawingml/2006/main" noGrp="1"/>
          </p:cNvSpPr>
          <p:nvPr/>
        </p:nvSpPr>
        <p:spPr>
          <a:xfrm xmlns:a="http://schemas.openxmlformats.org/drawingml/2006/main">
            <a:off x="571500" y="1762125"/>
            <a:ext cx="7953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Lesroute</a:t>
            </a:r>
          </a:p>
        </p:txBody>
      </p:sp>
      <p:sp>
        <p:nvSpPr>
          <p:cNvPr id="7" name="route-number-1">
            <a:extLst xmlns:a="http://schemas.openxmlformats.org/drawingml/2006/main">
              <a:ext uri="{FF2B5EF4-FFF2-40B4-BE49-F238E27FC236}">
                <a16:creationId xmlns:a16="http://schemas.microsoft.com/office/drawing/2014/main" id="{BCEC2E67-FC18-4E44-9BEF-91278DF3910F}"/>
              </a:ext>
            </a:extLst>
          </p:cNvPr>
          <p:cNvSpPr>
            <a:spLocks xmlns:a="http://schemas.openxmlformats.org/drawingml/2006/main" noGrp="1"/>
          </p:cNvSpPr>
          <p:nvPr/>
        </p:nvSpPr>
        <p:spPr>
          <a:xfrm xmlns:a="http://schemas.openxmlformats.org/drawingml/2006/main">
            <a:off x="571500" y="2324100"/>
            <a:ext cx="4572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1.</a:t>
            </a:r>
          </a:p>
        </p:txBody>
      </p:sp>
      <p:sp>
        <p:nvSpPr>
          <p:cNvPr id="8" name="route-1">
            <a:extLst xmlns:a="http://schemas.openxmlformats.org/drawingml/2006/main">
              <a:ext uri="{FF2B5EF4-FFF2-40B4-BE49-F238E27FC236}">
                <a16:creationId xmlns:a16="http://schemas.microsoft.com/office/drawing/2014/main" id="{07BD27CD-CF7D-4D90-BDC0-1CE117FF6B3D}"/>
              </a:ext>
            </a:extLst>
          </p:cNvPr>
          <p:cNvSpPr>
            <a:spLocks xmlns:a="http://schemas.openxmlformats.org/drawingml/2006/main" noGrp="1"/>
          </p:cNvSpPr>
          <p:nvPr/>
        </p:nvSpPr>
        <p:spPr>
          <a:xfrm xmlns:a="http://schemas.openxmlformats.org/drawingml/2006/main">
            <a:off x="1104900" y="2324100"/>
            <a:ext cx="74199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Jas in de kluis of aan de kapstok. Pak agenda, schrift, pen en rekenmachine.</a:t>
            </a:r>
          </a:p>
        </p:txBody>
      </p:sp>
      <p:sp>
        <p:nvSpPr>
          <p:cNvPr id="9" name="route-number-2">
            <a:extLst xmlns:a="http://schemas.openxmlformats.org/drawingml/2006/main">
              <a:ext uri="{FF2B5EF4-FFF2-40B4-BE49-F238E27FC236}">
                <a16:creationId xmlns:a16="http://schemas.microsoft.com/office/drawing/2014/main" id="{C48F26D0-594A-45E3-85EC-073550E7FEE8}"/>
              </a:ext>
            </a:extLst>
          </p:cNvPr>
          <p:cNvSpPr>
            <a:spLocks xmlns:a="http://schemas.openxmlformats.org/drawingml/2006/main" noGrp="1"/>
          </p:cNvSpPr>
          <p:nvPr/>
        </p:nvSpPr>
        <p:spPr>
          <a:xfrm xmlns:a="http://schemas.openxmlformats.org/drawingml/2006/main">
            <a:off x="571500" y="3200400"/>
            <a:ext cx="457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2.</a:t>
            </a:r>
          </a:p>
        </p:txBody>
      </p:sp>
      <p:sp>
        <p:nvSpPr>
          <p:cNvPr id="10" name="route-2">
            <a:extLst xmlns:a="http://schemas.openxmlformats.org/drawingml/2006/main">
              <a:ext uri="{FF2B5EF4-FFF2-40B4-BE49-F238E27FC236}">
                <a16:creationId xmlns:a16="http://schemas.microsoft.com/office/drawing/2014/main" id="{98B95729-8572-45EA-81EC-7A95CF2F3F6A}"/>
              </a:ext>
            </a:extLst>
          </p:cNvPr>
          <p:cNvSpPr>
            <a:spLocks xmlns:a="http://schemas.openxmlformats.org/drawingml/2006/main" noGrp="1"/>
          </p:cNvSpPr>
          <p:nvPr/>
        </p:nvSpPr>
        <p:spPr>
          <a:xfrm xmlns:a="http://schemas.openxmlformats.org/drawingml/2006/main">
            <a:off x="1104900" y="3200400"/>
            <a:ext cx="74199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Maak de startopdracht.</a:t>
            </a:r>
          </a:p>
        </p:txBody>
      </p:sp>
      <p:sp>
        <p:nvSpPr>
          <p:cNvPr id="11" name="route-number-3">
            <a:extLst xmlns:a="http://schemas.openxmlformats.org/drawingml/2006/main">
              <a:ext uri="{FF2B5EF4-FFF2-40B4-BE49-F238E27FC236}">
                <a16:creationId xmlns:a16="http://schemas.microsoft.com/office/drawing/2014/main" id="{495CC0A8-12C7-4577-94E6-9103DBAFF747}"/>
              </a:ext>
            </a:extLst>
          </p:cNvPr>
          <p:cNvSpPr>
            <a:spLocks xmlns:a="http://schemas.openxmlformats.org/drawingml/2006/main" noGrp="1"/>
          </p:cNvSpPr>
          <p:nvPr/>
        </p:nvSpPr>
        <p:spPr>
          <a:xfrm xmlns:a="http://schemas.openxmlformats.org/drawingml/2006/main">
            <a:off x="571500" y="3714750"/>
            <a:ext cx="457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3.</a:t>
            </a:r>
          </a:p>
        </p:txBody>
      </p:sp>
      <p:sp>
        <p:nvSpPr>
          <p:cNvPr id="12" name="route-3">
            <a:extLst xmlns:a="http://schemas.openxmlformats.org/drawingml/2006/main">
              <a:ext uri="{FF2B5EF4-FFF2-40B4-BE49-F238E27FC236}">
                <a16:creationId xmlns:a16="http://schemas.microsoft.com/office/drawing/2014/main" id="{D1E929E4-1705-42E0-B847-BFF678F06511}"/>
              </a:ext>
            </a:extLst>
          </p:cNvPr>
          <p:cNvSpPr>
            <a:spLocks xmlns:a="http://schemas.openxmlformats.org/drawingml/2006/main" noGrp="1"/>
          </p:cNvSpPr>
          <p:nvPr/>
        </p:nvSpPr>
        <p:spPr>
          <a:xfrm xmlns:a="http://schemas.openxmlformats.org/drawingml/2006/main">
            <a:off x="1104900" y="3714750"/>
            <a:ext cx="74199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Korte herhaling en aanpak.</a:t>
            </a:r>
          </a:p>
        </p:txBody>
      </p:sp>
      <p:sp>
        <p:nvSpPr>
          <p:cNvPr id="13" name="route-number-4">
            <a:extLst xmlns:a="http://schemas.openxmlformats.org/drawingml/2006/main">
              <a:ext uri="{FF2B5EF4-FFF2-40B4-BE49-F238E27FC236}">
                <a16:creationId xmlns:a16="http://schemas.microsoft.com/office/drawing/2014/main" id="{EA9D3C56-BC3C-4FCA-8C77-5D1E9AEF1FFA}"/>
              </a:ext>
            </a:extLst>
          </p:cNvPr>
          <p:cNvSpPr>
            <a:spLocks xmlns:a="http://schemas.openxmlformats.org/drawingml/2006/main" noGrp="1"/>
          </p:cNvSpPr>
          <p:nvPr/>
        </p:nvSpPr>
        <p:spPr>
          <a:xfrm xmlns:a="http://schemas.openxmlformats.org/drawingml/2006/main">
            <a:off x="571500" y="4248150"/>
            <a:ext cx="4572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4.</a:t>
            </a:r>
          </a:p>
        </p:txBody>
      </p:sp>
      <p:sp>
        <p:nvSpPr>
          <p:cNvPr id="14" name="route-4">
            <a:extLst xmlns:a="http://schemas.openxmlformats.org/drawingml/2006/main">
              <a:ext uri="{FF2B5EF4-FFF2-40B4-BE49-F238E27FC236}">
                <a16:creationId xmlns:a16="http://schemas.microsoft.com/office/drawing/2014/main" id="{14D4C2E0-30C3-4E67-940C-29BF5B5A28B1}"/>
              </a:ext>
            </a:extLst>
          </p:cNvPr>
          <p:cNvSpPr>
            <a:spLocks xmlns:a="http://schemas.openxmlformats.org/drawingml/2006/main" noGrp="1"/>
          </p:cNvSpPr>
          <p:nvPr/>
        </p:nvSpPr>
        <p:spPr>
          <a:xfrm xmlns:a="http://schemas.openxmlformats.org/drawingml/2006/main">
            <a:off x="1104900" y="4248150"/>
            <a:ext cx="741997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Werk verder aan de gemengde opgaven, stel vragen en kijk je antwoorden na.</a:t>
            </a:r>
          </a:p>
        </p:txBody>
      </p:sp>
      <p:sp>
        <p:nvSpPr>
          <p:cNvPr id="15" name="route-number-5">
            <a:extLst xmlns:a="http://schemas.openxmlformats.org/drawingml/2006/main">
              <a:ext uri="{FF2B5EF4-FFF2-40B4-BE49-F238E27FC236}">
                <a16:creationId xmlns:a16="http://schemas.microsoft.com/office/drawing/2014/main" id="{09ACE23B-9DE4-4FEC-893C-87AA76BA9257}"/>
              </a:ext>
            </a:extLst>
          </p:cNvPr>
          <p:cNvSpPr>
            <a:spLocks xmlns:a="http://schemas.openxmlformats.org/drawingml/2006/main" noGrp="1"/>
          </p:cNvSpPr>
          <p:nvPr/>
        </p:nvSpPr>
        <p:spPr>
          <a:xfrm xmlns:a="http://schemas.openxmlformats.org/drawingml/2006/main">
            <a:off x="571500" y="5772150"/>
            <a:ext cx="4572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5.</a:t>
            </a:r>
          </a:p>
        </p:txBody>
      </p:sp>
      <p:sp>
        <p:nvSpPr>
          <p:cNvPr id="16" name="route-5">
            <a:extLst xmlns:a="http://schemas.openxmlformats.org/drawingml/2006/main">
              <a:ext uri="{FF2B5EF4-FFF2-40B4-BE49-F238E27FC236}">
                <a16:creationId xmlns:a16="http://schemas.microsoft.com/office/drawing/2014/main" id="{70FE25EF-026F-4582-AE10-EF8613A2373B}"/>
              </a:ext>
            </a:extLst>
          </p:cNvPr>
          <p:cNvSpPr>
            <a:spLocks xmlns:a="http://schemas.openxmlformats.org/drawingml/2006/main" noGrp="1"/>
          </p:cNvSpPr>
          <p:nvPr/>
        </p:nvSpPr>
        <p:spPr>
          <a:xfrm xmlns:a="http://schemas.openxmlformats.org/drawingml/2006/main">
            <a:off x="1104900" y="5772150"/>
            <a:ext cx="741997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Klaar? Werk aan een ander vak. Geen devices.</a:t>
            </a:r>
          </a:p>
        </p:txBody>
      </p:sp>
      <p:sp>
        <p:nvSpPr>
          <p:cNvPr id="17" name="route-number-6">
            <a:extLst xmlns:a="http://schemas.openxmlformats.org/drawingml/2006/main">
              <a:ext uri="{FF2B5EF4-FFF2-40B4-BE49-F238E27FC236}">
                <a16:creationId xmlns:a16="http://schemas.microsoft.com/office/drawing/2014/main" id="{5CB541D0-DFB2-4CEE-901E-AA46EB02281A}"/>
              </a:ext>
            </a:extLst>
          </p:cNvPr>
          <p:cNvSpPr>
            <a:spLocks xmlns:a="http://schemas.openxmlformats.org/drawingml/2006/main" noGrp="1"/>
          </p:cNvSpPr>
          <p:nvPr/>
        </p:nvSpPr>
        <p:spPr>
          <a:xfrm xmlns:a="http://schemas.openxmlformats.org/drawingml/2006/main">
            <a:off x="571500" y="6667500"/>
            <a:ext cx="457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6.</a:t>
            </a:r>
          </a:p>
        </p:txBody>
      </p:sp>
      <p:sp>
        <p:nvSpPr>
          <p:cNvPr id="18" name="route-6">
            <a:extLst xmlns:a="http://schemas.openxmlformats.org/drawingml/2006/main">
              <a:ext uri="{FF2B5EF4-FFF2-40B4-BE49-F238E27FC236}">
                <a16:creationId xmlns:a16="http://schemas.microsoft.com/office/drawing/2014/main" id="{D02F54F3-5DF3-463C-8341-9B7BBDCE4BB1}"/>
              </a:ext>
            </a:extLst>
          </p:cNvPr>
          <p:cNvSpPr>
            <a:spLocks xmlns:a="http://schemas.openxmlformats.org/drawingml/2006/main" noGrp="1"/>
          </p:cNvSpPr>
          <p:nvPr/>
        </p:nvSpPr>
        <p:spPr>
          <a:xfrm xmlns:a="http://schemas.openxmlformats.org/drawingml/2006/main">
            <a:off x="1104900" y="6667500"/>
            <a:ext cx="74199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Bespreken van de doelopgave: opgave 5.</a:t>
            </a:r>
          </a:p>
        </p:txBody>
      </p:sp>
      <p:sp>
        <p:nvSpPr>
          <p:cNvPr id="19" name="route-number-7">
            <a:extLst xmlns:a="http://schemas.openxmlformats.org/drawingml/2006/main">
              <a:ext uri="{FF2B5EF4-FFF2-40B4-BE49-F238E27FC236}">
                <a16:creationId xmlns:a16="http://schemas.microsoft.com/office/drawing/2014/main" id="{E4D68B8E-E095-4CC0-945B-BAE93C023FE8}"/>
              </a:ext>
            </a:extLst>
          </p:cNvPr>
          <p:cNvSpPr>
            <a:spLocks xmlns:a="http://schemas.openxmlformats.org/drawingml/2006/main" noGrp="1"/>
          </p:cNvSpPr>
          <p:nvPr/>
        </p:nvSpPr>
        <p:spPr>
          <a:xfrm xmlns:a="http://schemas.openxmlformats.org/drawingml/2006/main">
            <a:off x="571500" y="7372350"/>
            <a:ext cx="457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7.</a:t>
            </a:r>
          </a:p>
        </p:txBody>
      </p:sp>
      <p:sp>
        <p:nvSpPr>
          <p:cNvPr id="20" name="route-7">
            <a:extLst xmlns:a="http://schemas.openxmlformats.org/drawingml/2006/main">
              <a:ext uri="{FF2B5EF4-FFF2-40B4-BE49-F238E27FC236}">
                <a16:creationId xmlns:a16="http://schemas.microsoft.com/office/drawing/2014/main" id="{3472CB9E-4992-44F3-9DE8-E3C694C433D5}"/>
              </a:ext>
            </a:extLst>
          </p:cNvPr>
          <p:cNvSpPr>
            <a:spLocks xmlns:a="http://schemas.openxmlformats.org/drawingml/2006/main" noGrp="1"/>
          </p:cNvSpPr>
          <p:nvPr/>
        </p:nvSpPr>
        <p:spPr>
          <a:xfrm xmlns:a="http://schemas.openxmlformats.org/drawingml/2006/main">
            <a:off x="1104900" y="7372350"/>
            <a:ext cx="74199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Zet je huiswerk in je agenda.</a:t>
            </a:r>
          </a:p>
        </p:txBody>
      </p:sp>
      <p:sp>
        <p:nvSpPr>
          <p:cNvPr id="21" name="Lesdoelen">
            <a:extLst xmlns:a="http://schemas.openxmlformats.org/drawingml/2006/main">
              <a:ext uri="{FF2B5EF4-FFF2-40B4-BE49-F238E27FC236}">
                <a16:creationId xmlns:a16="http://schemas.microsoft.com/office/drawing/2014/main" id="{FDF4AD5E-99B3-4F92-98EF-1F19209C4D1D}"/>
              </a:ext>
            </a:extLst>
          </p:cNvPr>
          <p:cNvSpPr>
            <a:spLocks xmlns:a="http://schemas.openxmlformats.org/drawingml/2006/main" noGrp="1"/>
          </p:cNvSpPr>
          <p:nvPr/>
        </p:nvSpPr>
        <p:spPr>
          <a:xfrm xmlns:a="http://schemas.openxmlformats.org/drawingml/2006/main">
            <a:off x="9258300" y="1762125"/>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Lesdoelen</a:t>
            </a:r>
          </a:p>
        </p:txBody>
      </p:sp>
      <p:sp>
        <p:nvSpPr>
          <p:cNvPr id="22" name="overview-goals">
            <a:extLst xmlns:a="http://schemas.openxmlformats.org/drawingml/2006/main">
              <a:ext uri="{FF2B5EF4-FFF2-40B4-BE49-F238E27FC236}">
                <a16:creationId xmlns:a16="http://schemas.microsoft.com/office/drawing/2014/main" id="{CFA82EC9-324E-41A7-B711-E7073116DFD5}"/>
              </a:ext>
            </a:extLst>
          </p:cNvPr>
          <p:cNvSpPr>
            <a:spLocks xmlns:a="http://schemas.openxmlformats.org/drawingml/2006/main" noGrp="1"/>
          </p:cNvSpPr>
          <p:nvPr/>
        </p:nvSpPr>
        <p:spPr>
          <a:xfrm xmlns:a="http://schemas.openxmlformats.org/drawingml/2006/main">
            <a:off x="9258300" y="2324100"/>
            <a:ext cx="5381625"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183247"/>
                </a:solidFill>
                <a:latin typeface="Arial"/>
                <a:ea typeface="Arial"/>
                <a:cs typeface="Arial"/>
              </a:defRPr>
            </a:pPr>
            <a:r>
              <a:rPr sz="2325" b="0">
                <a:solidFill>
                  <a:srgbClr val="183247"/>
                </a:solidFill>
                <a:latin typeface="Arial"/>
                <a:ea typeface="Arial"/>
                <a:cs typeface="Arial"/>
              </a:rPr>
              <a:t>Bronnen kiezen; Ev, Ei en Ek.</a:t>
            </a:r>
          </a:p>
          <a:p xmlns:a="http://schemas.openxmlformats.org/drawingml/2006/main">
            <a:pPr algn="l">
              <a:defRPr sz="2325" b="0">
                <a:solidFill>
                  <a:srgbClr val="183247"/>
                </a:solidFill>
                <a:latin typeface="Arial"/>
                <a:ea typeface="Arial"/>
                <a:cs typeface="Arial"/>
              </a:defRPr>
            </a:pPr>
            <a:r>
              <a:rPr sz="2325" b="0">
                <a:solidFill>
                  <a:srgbClr val="183247"/>
                </a:solidFill>
                <a:latin typeface="Arial"/>
                <a:ea typeface="Arial"/>
                <a:cs typeface="Arial"/>
              </a:rPr>
              <a:t>Omzet en vraag berekenen.</a:t>
            </a:r>
          </a:p>
          <a:p xmlns:a="http://schemas.openxmlformats.org/drawingml/2006/main">
            <a:pPr algn="l">
              <a:defRPr sz="2325" b="0">
                <a:solidFill>
                  <a:srgbClr val="183247"/>
                </a:solidFill>
                <a:latin typeface="Arial"/>
                <a:ea typeface="Arial"/>
                <a:cs typeface="Arial"/>
              </a:defRPr>
            </a:pPr>
            <a:r>
              <a:rPr sz="2325" b="0">
                <a:solidFill>
                  <a:srgbClr val="183247"/>
                </a:solidFill>
                <a:latin typeface="Arial"/>
                <a:ea typeface="Arial"/>
                <a:cs typeface="Arial"/>
              </a:rPr>
              <a:t>Een advies onderbouwen.</a:t>
            </a:r>
          </a:p>
        </p:txBody>
      </p:sp>
      <p:sp>
        <p:nvSpPr>
          <p:cNvPr id="23" name="">
            <a:extLst xmlns:a="http://schemas.openxmlformats.org/drawingml/2006/main">
              <a:ext uri="{FF2B5EF4-FFF2-40B4-BE49-F238E27FC236}">
                <a16:creationId xmlns:a16="http://schemas.microsoft.com/office/drawing/2014/main" id="{EA4364F6-02A4-44D9-8E05-1174EF24FC1A}"/>
              </a:ext>
            </a:extLst>
          </p:cNvPr>
          <p:cNvSpPr>
            <a:spLocks xmlns:a="http://schemas.openxmlformats.org/drawingml/2006/main" noGrp="1"/>
          </p:cNvSpPr>
          <p:nvPr/>
        </p:nvSpPr>
        <p:spPr>
          <a:xfrm xmlns:a="http://schemas.openxmlformats.org/drawingml/2006/main">
            <a:off x="9258300" y="3562350"/>
            <a:ext cx="5410200" cy="0"/>
          </a:xfrm>
          <a:prstGeom xmlns:a="http://schemas.openxmlformats.org/drawingml/2006/main" prst="line">
            <a:avLst/>
          </a:prstGeom>
          <a:ln xmlns:a="http://schemas.openxmlformats.org/drawingml/2006/main" w="19050">
            <a:solidFill>
              <a:srgbClr val="C6D2DB"/>
            </a:solidFill>
          </a:ln>
        </p:spPr>
      </p:sp>
      <p:sp>
        <p:nvSpPr>
          <p:cNvPr id="24" name="Startopdracht">
            <a:extLst xmlns:a="http://schemas.openxmlformats.org/drawingml/2006/main">
              <a:ext uri="{FF2B5EF4-FFF2-40B4-BE49-F238E27FC236}">
                <a16:creationId xmlns:a16="http://schemas.microsoft.com/office/drawing/2014/main" id="{172E0D55-A60B-44EA-B30F-D6C0D4FDBF94}"/>
              </a:ext>
            </a:extLst>
          </p:cNvPr>
          <p:cNvSpPr>
            <a:spLocks xmlns:a="http://schemas.openxmlformats.org/drawingml/2006/main" noGrp="1"/>
          </p:cNvSpPr>
          <p:nvPr/>
        </p:nvSpPr>
        <p:spPr>
          <a:xfrm xmlns:a="http://schemas.openxmlformats.org/drawingml/2006/main">
            <a:off x="9258300" y="3838575"/>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Startopdracht</a:t>
            </a:r>
          </a:p>
        </p:txBody>
      </p:sp>
      <p:sp>
        <p:nvSpPr>
          <p:cNvPr id="25" name="overview-start">
            <a:extLst xmlns:a="http://schemas.openxmlformats.org/drawingml/2006/main">
              <a:ext uri="{FF2B5EF4-FFF2-40B4-BE49-F238E27FC236}">
                <a16:creationId xmlns:a16="http://schemas.microsoft.com/office/drawing/2014/main" id="{A770C1C5-3CF9-4CAA-B8A0-3072F96F5BF1}"/>
              </a:ext>
            </a:extLst>
          </p:cNvPr>
          <p:cNvSpPr>
            <a:spLocks xmlns:a="http://schemas.openxmlformats.org/drawingml/2006/main" noGrp="1"/>
          </p:cNvSpPr>
          <p:nvPr/>
        </p:nvSpPr>
        <p:spPr>
          <a:xfrm xmlns:a="http://schemas.openxmlformats.org/drawingml/2006/main">
            <a:off x="9258300" y="4371975"/>
            <a:ext cx="53816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0">
                <a:solidFill>
                  <a:srgbClr val="183247"/>
                </a:solidFill>
                <a:latin typeface="Arial"/>
                <a:ea typeface="Arial"/>
                <a:cs typeface="Arial"/>
              </a:defRPr>
            </a:pPr>
            <a:r>
              <a:rPr sz="2475" b="0">
                <a:solidFill>
                  <a:srgbClr val="183247"/>
                </a:solidFill>
                <a:latin typeface="Arial"/>
                <a:ea typeface="Arial"/>
                <a:cs typeface="Arial"/>
              </a:rPr>
              <a:t>Pagina 64</a:t>
            </a:r>
          </a:p>
          <a:p xmlns:a="http://schemas.openxmlformats.org/drawingml/2006/main">
            <a:pPr algn="l">
              <a:defRPr sz="2475" b="0">
                <a:solidFill>
                  <a:srgbClr val="183247"/>
                </a:solidFill>
                <a:latin typeface="Arial"/>
                <a:ea typeface="Arial"/>
                <a:cs typeface="Arial"/>
              </a:defRPr>
            </a:pPr>
            <a:r>
              <a:rPr sz="2475" b="0">
                <a:solidFill>
                  <a:srgbClr val="183247"/>
                </a:solidFill>
                <a:latin typeface="Arial"/>
                <a:ea typeface="Arial"/>
                <a:cs typeface="Arial"/>
              </a:rPr>
              <a:t>Opgave 1</a:t>
            </a:r>
          </a:p>
        </p:txBody>
      </p:sp>
      <p:sp>
        <p:nvSpPr>
          <p:cNvPr id="26" name="">
            <a:extLst xmlns:a="http://schemas.openxmlformats.org/drawingml/2006/main">
              <a:ext uri="{FF2B5EF4-FFF2-40B4-BE49-F238E27FC236}">
                <a16:creationId xmlns:a16="http://schemas.microsoft.com/office/drawing/2014/main" id="{740755F7-4AC1-4E32-B91D-6B4C936E5B8B}"/>
              </a:ext>
            </a:extLst>
          </p:cNvPr>
          <p:cNvSpPr>
            <a:spLocks xmlns:a="http://schemas.openxmlformats.org/drawingml/2006/main" noGrp="1"/>
          </p:cNvSpPr>
          <p:nvPr/>
        </p:nvSpPr>
        <p:spPr>
          <a:xfrm xmlns:a="http://schemas.openxmlformats.org/drawingml/2006/main">
            <a:off x="9258300" y="5429250"/>
            <a:ext cx="5410200" cy="0"/>
          </a:xfrm>
          <a:prstGeom xmlns:a="http://schemas.openxmlformats.org/drawingml/2006/main" prst="line">
            <a:avLst/>
          </a:prstGeom>
          <a:ln xmlns:a="http://schemas.openxmlformats.org/drawingml/2006/main" w="19050">
            <a:solidFill>
              <a:srgbClr val="C6D2DB"/>
            </a:solidFill>
          </a:ln>
        </p:spPr>
      </p:sp>
      <p:sp>
        <p:nvSpPr>
          <p:cNvPr id="27" name="Huiswerk">
            <a:extLst xmlns:a="http://schemas.openxmlformats.org/drawingml/2006/main">
              <a:ext uri="{FF2B5EF4-FFF2-40B4-BE49-F238E27FC236}">
                <a16:creationId xmlns:a16="http://schemas.microsoft.com/office/drawing/2014/main" id="{56EEC4D7-2188-4B10-90D5-101A7A472EEA}"/>
              </a:ext>
            </a:extLst>
          </p:cNvPr>
          <p:cNvSpPr>
            <a:spLocks xmlns:a="http://schemas.openxmlformats.org/drawingml/2006/main" noGrp="1"/>
          </p:cNvSpPr>
          <p:nvPr/>
        </p:nvSpPr>
        <p:spPr>
          <a:xfrm xmlns:a="http://schemas.openxmlformats.org/drawingml/2006/main">
            <a:off x="9258300" y="5629275"/>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7658A"/>
                </a:solidFill>
                <a:latin typeface="Arial"/>
                <a:ea typeface="Arial"/>
                <a:cs typeface="Arial"/>
              </a:defRPr>
            </a:pPr>
            <a:r>
              <a:rPr sz="2625" b="1">
                <a:solidFill>
                  <a:srgbClr val="17658A"/>
                </a:solidFill>
                <a:latin typeface="Arial"/>
                <a:ea typeface="Arial"/>
                <a:cs typeface="Arial"/>
              </a:rPr>
              <a:t>Huiswerk</a:t>
            </a:r>
          </a:p>
        </p:txBody>
      </p:sp>
      <p:sp>
        <p:nvSpPr>
          <p:cNvPr id="28" name="overview-homework">
            <a:extLst xmlns:a="http://schemas.openxmlformats.org/drawingml/2006/main">
              <a:ext uri="{FF2B5EF4-FFF2-40B4-BE49-F238E27FC236}">
                <a16:creationId xmlns:a16="http://schemas.microsoft.com/office/drawing/2014/main" id="{7ED30095-F5C2-4CF4-9181-7D35C241961B}"/>
              </a:ext>
            </a:extLst>
          </p:cNvPr>
          <p:cNvSpPr>
            <a:spLocks xmlns:a="http://schemas.openxmlformats.org/drawingml/2006/main" noGrp="1"/>
          </p:cNvSpPr>
          <p:nvPr/>
        </p:nvSpPr>
        <p:spPr>
          <a:xfrm xmlns:a="http://schemas.openxmlformats.org/drawingml/2006/main">
            <a:off x="9258300" y="6191250"/>
            <a:ext cx="5381625" cy="1752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§2.2.4 · Opgaven 1–7</a:t>
            </a:r>
          </a:p>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Gemengd: 1–4 · Doel: 5</a:t>
            </a:r>
          </a:p>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Bonus / denkertje: 6</a:t>
            </a:r>
          </a:p>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Hoofdstukcheck: 7</a:t>
            </a:r>
          </a:p>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Maken en nakijken</a:t>
            </a:r>
          </a:p>
        </p:txBody>
      </p:sp>
    </p:spTree>
    <p:extLst>
      <p:ext uri="{BB962C8B-B14F-4D97-AF65-F5344CB8AC3E}">
        <p14:creationId xmlns:p14="http://schemas.microsoft.com/office/powerpoint/2010/main" val="147413413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2026-09-29T11:01:35.4600000Z</dcterms:created>
  <dcterms:modified xsi:type="dcterms:W3CDTF">2026-09-29T11:01:35.4600000Z</dcterms:modified>
</coreProperties>
</file>