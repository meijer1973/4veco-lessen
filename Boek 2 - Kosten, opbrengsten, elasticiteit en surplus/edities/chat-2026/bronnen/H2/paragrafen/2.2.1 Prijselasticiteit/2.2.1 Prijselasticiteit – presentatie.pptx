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85d2a9905434dd2" /><Relationship Type="http://schemas.openxmlformats.org/officeDocument/2006/relationships/extended-properties" Target="/docProps/app.xml" Id="R91be29bd4f374961" /><Relationship Type="http://schemas.openxmlformats.org/officeDocument/2006/relationships/officeDocument" Target="/ppt/presentation.xml" Id="R5c73bce5ba534f01" /></Relationships>
</file>

<file path=ppt/presentation.xml><?xml version="1.0" encoding="utf-8"?>
<p:presentation xmlns:p="http://schemas.openxmlformats.org/presentationml/2006/main">
  <p:sldMasterIdLst>
    <p:sldMasterId xmlns:r="http://schemas.openxmlformats.org/officeDocument/2006/relationships" id="2147483648" r:id="Rdace5b59e83c4872"/>
  </p:sldMasterIdLst>
  <p:notesMasterIdLst>
    <p:notesMasterId xmlns:r="http://schemas.openxmlformats.org/officeDocument/2006/relationships" r:id="R4b142b6249044fd1"/>
  </p:notesMasterIdLst>
  <p:sldIdLst>
    <p:sldId xmlns:r="http://schemas.openxmlformats.org/officeDocument/2006/relationships" id="256" r:id="R174985762a474270"/>
    <p:sldId xmlns:r="http://schemas.openxmlformats.org/officeDocument/2006/relationships" id="257" r:id="R1a59adf142bc41e2"/>
    <p:sldId xmlns:r="http://schemas.openxmlformats.org/officeDocument/2006/relationships" id="258" r:id="R57845a1c7f42423f"/>
    <p:sldId xmlns:r="http://schemas.openxmlformats.org/officeDocument/2006/relationships" id="259" r:id="R110fc18546f442cb"/>
    <p:sldId xmlns:r="http://schemas.openxmlformats.org/officeDocument/2006/relationships" id="260" r:id="R7caf358d3c304a88"/>
    <p:sldId xmlns:r="http://schemas.openxmlformats.org/officeDocument/2006/relationships" id="261" r:id="R58594a2d8f3f4180"/>
    <p:sldId xmlns:r="http://schemas.openxmlformats.org/officeDocument/2006/relationships" id="262" r:id="Re8fe8733af194a2c"/>
    <p:sldId xmlns:r="http://schemas.openxmlformats.org/officeDocument/2006/relationships" id="263" r:id="R25c6e909e62a4b14"/>
    <p:sldId xmlns:r="http://schemas.openxmlformats.org/officeDocument/2006/relationships" id="264" r:id="R741700fc408f40bb"/>
    <p:sldId xmlns:r="http://schemas.openxmlformats.org/officeDocument/2006/relationships" id="265" r:id="R983e0ae5d7ec4e2a"/>
    <p:sldId xmlns:r="http://schemas.openxmlformats.org/officeDocument/2006/relationships" id="266" r:id="R46ac061351b94021"/>
    <p:sldId xmlns:r="http://schemas.openxmlformats.org/officeDocument/2006/relationships" id="267" r:id="Re1e51d943de2454a"/>
    <p:sldId xmlns:r="http://schemas.openxmlformats.org/officeDocument/2006/relationships" id="268" r:id="R44fff3c2576d4435"/>
    <p:sldId xmlns:r="http://schemas.openxmlformats.org/officeDocument/2006/relationships" id="269" r:id="Rf8877a3ee2e94987"/>
    <p:sldId xmlns:r="http://schemas.openxmlformats.org/officeDocument/2006/relationships" id="270" r:id="Rd73562ab6fea4ece"/>
    <p:sldId xmlns:r="http://schemas.openxmlformats.org/officeDocument/2006/relationships" id="271" r:id="Rdd05574fc5e2472a"/>
    <p:sldId xmlns:r="http://schemas.openxmlformats.org/officeDocument/2006/relationships" id="272" r:id="Rcf7aff47afe74875"/>
    <p:sldId xmlns:r="http://schemas.openxmlformats.org/officeDocument/2006/relationships" id="273" r:id="Rbd5bd264c8f34724"/>
    <p:sldId xmlns:r="http://schemas.openxmlformats.org/officeDocument/2006/relationships" id="274" r:id="R9ac0bc764e794054"/>
    <p:sldId xmlns:r="http://schemas.openxmlformats.org/officeDocument/2006/relationships" id="275" r:id="R984d19f3a2ca4203"/>
    <p:sldId xmlns:r="http://schemas.openxmlformats.org/officeDocument/2006/relationships" id="276" r:id="R857f5fd01def429d"/>
    <p:sldId xmlns:r="http://schemas.openxmlformats.org/officeDocument/2006/relationships" id="277" r:id="R765433738c3c4242"/>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0b6244c86e64763" /><Relationship Type="http://schemas.openxmlformats.org/officeDocument/2006/relationships/slideMaster" Target="/ppt/slideMasters/slideMaster1.xml" Id="Rdace5b59e83c4872" /><Relationship Type="http://schemas.openxmlformats.org/officeDocument/2006/relationships/notesMaster" Target="/ppt/notesMasters/notesMaster1.xml" Id="R4b142b6249044fd1" /><Relationship Type="http://schemas.openxmlformats.org/officeDocument/2006/relationships/presProps" Target="/ppt/presProps.xml" Id="Rbaf6eb9327d74f6a" /><Relationship Type="http://schemas.openxmlformats.org/officeDocument/2006/relationships/tableStyles" Target="/ppt/tableStyles.xml" Id="R423247c87c8b4a96" /><Relationship Type="http://schemas.openxmlformats.org/officeDocument/2006/relationships/slide" Target="/ppt/slides/slide1.xml" Id="R174985762a474270" /><Relationship Type="http://schemas.openxmlformats.org/officeDocument/2006/relationships/slide" Target="/ppt/slides/slide2.xml" Id="R1a59adf142bc41e2" /><Relationship Type="http://schemas.openxmlformats.org/officeDocument/2006/relationships/slide" Target="/ppt/slides/slide3.xml" Id="R57845a1c7f42423f" /><Relationship Type="http://schemas.openxmlformats.org/officeDocument/2006/relationships/slide" Target="/ppt/slides/slide4.xml" Id="R110fc18546f442cb" /><Relationship Type="http://schemas.openxmlformats.org/officeDocument/2006/relationships/slide" Target="/ppt/slides/slide5.xml" Id="R7caf358d3c304a88" /><Relationship Type="http://schemas.openxmlformats.org/officeDocument/2006/relationships/slide" Target="/ppt/slides/slide6.xml" Id="R58594a2d8f3f4180" /><Relationship Type="http://schemas.openxmlformats.org/officeDocument/2006/relationships/slide" Target="/ppt/slides/slide7.xml" Id="Re8fe8733af194a2c" /><Relationship Type="http://schemas.openxmlformats.org/officeDocument/2006/relationships/slide" Target="/ppt/slides/slide8.xml" Id="R25c6e909e62a4b14" /><Relationship Type="http://schemas.openxmlformats.org/officeDocument/2006/relationships/slide" Target="/ppt/slides/slide9.xml" Id="R741700fc408f40bb" /><Relationship Type="http://schemas.openxmlformats.org/officeDocument/2006/relationships/slide" Target="/ppt/slides/slide10.xml" Id="R983e0ae5d7ec4e2a" /><Relationship Type="http://schemas.openxmlformats.org/officeDocument/2006/relationships/slide" Target="/ppt/slides/slide11.xml" Id="R46ac061351b94021" /><Relationship Type="http://schemas.openxmlformats.org/officeDocument/2006/relationships/slide" Target="/ppt/slides/slide12.xml" Id="Re1e51d943de2454a" /><Relationship Type="http://schemas.openxmlformats.org/officeDocument/2006/relationships/slide" Target="/ppt/slides/slide13.xml" Id="R44fff3c2576d4435" /><Relationship Type="http://schemas.openxmlformats.org/officeDocument/2006/relationships/slide" Target="/ppt/slides/slide14.xml" Id="Rf8877a3ee2e94987" /><Relationship Type="http://schemas.openxmlformats.org/officeDocument/2006/relationships/slide" Target="/ppt/slides/slide15.xml" Id="Rd73562ab6fea4ece" /><Relationship Type="http://schemas.openxmlformats.org/officeDocument/2006/relationships/slide" Target="/ppt/slides/slide16.xml" Id="Rdd05574fc5e2472a" /><Relationship Type="http://schemas.openxmlformats.org/officeDocument/2006/relationships/slide" Target="/ppt/slides/slide17.xml" Id="Rcf7aff47afe74875" /><Relationship Type="http://schemas.openxmlformats.org/officeDocument/2006/relationships/slide" Target="/ppt/slides/slide18.xml" Id="Rbd5bd264c8f34724" /><Relationship Type="http://schemas.openxmlformats.org/officeDocument/2006/relationships/slide" Target="/ppt/slides/slide19.xml" Id="R9ac0bc764e794054" /><Relationship Type="http://schemas.openxmlformats.org/officeDocument/2006/relationships/slide" Target="/ppt/slides/slide20.xml" Id="R984d19f3a2ca4203" /><Relationship Type="http://schemas.openxmlformats.org/officeDocument/2006/relationships/slide" Target="/ppt/slides/slide21.xml" Id="R857f5fd01def429d" /><Relationship Type="http://schemas.openxmlformats.org/officeDocument/2006/relationships/slide" Target="/ppt/slides/slide22.xml" Id="R765433738c3c424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83dd1ff5edc493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4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29b5b36b92d4d1c" /><Relationship Type="http://schemas.openxmlformats.org/officeDocument/2006/relationships/notesMaster" Target="/ppt/notesMasters/notesMaster1.xml" Id="R2640a7da69674d00" /></Relationships>
</file>

<file path=ppt/notesSlides/_rels/notesSlide2.xml.rels>&#65279;<?xml version="1.0" encoding="utf-8"?><Relationships xmlns="http://schemas.openxmlformats.org/package/2006/relationships"><Relationship Type="http://schemas.openxmlformats.org/officeDocument/2006/relationships/slide" Target="/ppt/slides/slide2.xml" Id="Raa9bd5c7513b47bb" /><Relationship Type="http://schemas.openxmlformats.org/officeDocument/2006/relationships/notesMaster" Target="/ppt/notesMasters/notesMaster1.xml" Id="Rfec3b07df4174a09" /></Relationships>
</file>

<file path=ppt/notesSlides/_rels/notesSlide3.xml.rels>&#65279;<?xml version="1.0" encoding="utf-8"?><Relationships xmlns="http://schemas.openxmlformats.org/package/2006/relationships"><Relationship Type="http://schemas.openxmlformats.org/officeDocument/2006/relationships/slide" Target="/ppt/slides/slide3.xml" Id="Re5570cccbee54cd4" /><Relationship Type="http://schemas.openxmlformats.org/officeDocument/2006/relationships/notesMaster" Target="/ppt/notesMasters/notesMaster1.xml" Id="R152ccb7994b54f1e" /></Relationships>
</file>

<file path=ppt/notesSlides/_rels/notesSlide4.xml.rels>&#65279;<?xml version="1.0" encoding="utf-8"?><Relationships xmlns="http://schemas.openxmlformats.org/package/2006/relationships"><Relationship Type="http://schemas.openxmlformats.org/officeDocument/2006/relationships/slide" Target="/ppt/slides/slide4.xml" Id="R94acc5637f474973" /><Relationship Type="http://schemas.openxmlformats.org/officeDocument/2006/relationships/notesMaster" Target="/ppt/notesMasters/notesMaster1.xml" Id="Ra9ce5e9b5f7b4171" /></Relationships>
</file>

<file path=ppt/notesSlides/_rels/notesSlide5.xml.rels>&#65279;<?xml version="1.0" encoding="utf-8"?><Relationships xmlns="http://schemas.openxmlformats.org/package/2006/relationships"><Relationship Type="http://schemas.openxmlformats.org/officeDocument/2006/relationships/slide" Target="/ppt/slides/slide5.xml" Id="Rf25a1f82fca0447f" /><Relationship Type="http://schemas.openxmlformats.org/officeDocument/2006/relationships/notesMaster" Target="/ppt/notesMasters/notesMaster1.xml" Id="Rd798bd02013c46d0" /></Relationships>
</file>

<file path=ppt/notesSlides/_rels/notesSlide6.xml.rels>&#65279;<?xml version="1.0" encoding="utf-8"?><Relationships xmlns="http://schemas.openxmlformats.org/package/2006/relationships"><Relationship Type="http://schemas.openxmlformats.org/officeDocument/2006/relationships/slide" Target="/ppt/slides/slide6.xml" Id="R837692345deb4b1c" /><Relationship Type="http://schemas.openxmlformats.org/officeDocument/2006/relationships/notesMaster" Target="/ppt/notesMasters/notesMaster1.xml" Id="R4b13d280202b4fb8" /></Relationships>
</file>

<file path=ppt/notesSlides/_rels/notesSlide7.xml.rels>&#65279;<?xml version="1.0" encoding="utf-8"?><Relationships xmlns="http://schemas.openxmlformats.org/package/2006/relationships"><Relationship Type="http://schemas.openxmlformats.org/officeDocument/2006/relationships/slide" Target="/ppt/slides/slide7.xml" Id="Rf5b89057c73a4777" /><Relationship Type="http://schemas.openxmlformats.org/officeDocument/2006/relationships/notesMaster" Target="/ppt/notesMasters/notesMaster1.xml" Id="Rfc3fa26c3da54f5a" /></Relationships>
</file>

<file path=ppt/notesSlides/_rels/notesSlide8.xml.rels>&#65279;<?xml version="1.0" encoding="utf-8"?><Relationships xmlns="http://schemas.openxmlformats.org/package/2006/relationships"><Relationship Type="http://schemas.openxmlformats.org/officeDocument/2006/relationships/slide" Target="/ppt/slides/slide8.xml" Id="Rbaf3e48d86b446e3" /><Relationship Type="http://schemas.openxmlformats.org/officeDocument/2006/relationships/notesMaster" Target="/ppt/notesMasters/notesMaster1.xml" Id="Re649fc5b29534508" /></Relationships>
</file>

<file path=ppt/notesSlides/_rels/notesSlide9.xml.rels>&#65279;<?xml version="1.0" encoding="utf-8"?><Relationships xmlns="http://schemas.openxmlformats.org/package/2006/relationships"><Relationship Type="http://schemas.openxmlformats.org/officeDocument/2006/relationships/slide" Target="/ppt/slides/slide9.xml" Id="Rec379bc8ed03401c" /><Relationship Type="http://schemas.openxmlformats.org/officeDocument/2006/relationships/notesMaster" Target="/ppt/notesMasters/notesMaster1.xml" Id="R183179a8c19a42f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730e7bee012465b" /><Relationship Type="http://schemas.openxmlformats.org/officeDocument/2006/relationships/notesMaster" Target="/ppt/notesMasters/notesMaster1.xml" Id="R4769c97a178b478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674cb3b3a00147bf" /><Relationship Type="http://schemas.openxmlformats.org/officeDocument/2006/relationships/notesMaster" Target="/ppt/notesMasters/notesMaster1.xml" Id="Re773ca6209834713"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0e3dffb9bf954fc4" /><Relationship Type="http://schemas.openxmlformats.org/officeDocument/2006/relationships/notesMaster" Target="/ppt/notesMasters/notesMaster1.xml" Id="R8ab4d10dae354368"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597a711f2ea14745" /><Relationship Type="http://schemas.openxmlformats.org/officeDocument/2006/relationships/notesMaster" Target="/ppt/notesMasters/notesMaster1.xml" Id="R0effdefc4a1a4678"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8b7872b1224147fb" /><Relationship Type="http://schemas.openxmlformats.org/officeDocument/2006/relationships/notesMaster" Target="/ppt/notesMasters/notesMaster1.xml" Id="Rd7c519ebfcee4212"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c17ea3a653bf4202" /><Relationship Type="http://schemas.openxmlformats.org/officeDocument/2006/relationships/notesMaster" Target="/ppt/notesMasters/notesMaster1.xml" Id="Rf86d18df10404f6d"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f161d0d300bb4041" /><Relationship Type="http://schemas.openxmlformats.org/officeDocument/2006/relationships/notesMaster" Target="/ppt/notesMasters/notesMaster1.xml" Id="Rfe0ccddd617242fc"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09160b77eaea4417" /><Relationship Type="http://schemas.openxmlformats.org/officeDocument/2006/relationships/notesMaster" Target="/ppt/notesMasters/notesMaster1.xml" Id="R3ba5dbeb4f614123"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6a8e3949d9344ea4" /><Relationship Type="http://schemas.openxmlformats.org/officeDocument/2006/relationships/notesMaster" Target="/ppt/notesMasters/notesMaster1.xml" Id="Ra625b4c03fce4bf9"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d917ef10c04e4631" /><Relationship Type="http://schemas.openxmlformats.org/officeDocument/2006/relationships/notesMaster" Target="/ppt/notesMasters/notesMaster1.xml" Id="R0a13be2a715e4495"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9dcd49630dba4c2e" /><Relationship Type="http://schemas.openxmlformats.org/officeDocument/2006/relationships/notesMaster" Target="/ppt/notesMasters/notesMaster1.xml" Id="R1be7b92d938b4ec9"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8eccb4a45e214fc7" /><Relationship Type="http://schemas.openxmlformats.org/officeDocument/2006/relationships/notesMaster" Target="/ppt/notesMasters/notesMaster1.xml" Id="Rabd81a995cf44539"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e0ef21ce554b44bb" /><Relationship Type="http://schemas.openxmlformats.org/officeDocument/2006/relationships/notesMaster" Target="/ppt/notesMasters/notesMaster1.xml" Id="Rbe496156cdc5445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oude waarde heb je nodig bij de startopdracht?</a:t>
            </a:r>
          </a:p>
          <a:p xmlns:a="http://schemas.openxmlformats.org/drawingml/2006/main">
            <a:r>
              <a:rPr sz="1400"/>
              <a:t/>
            </a:r>
          </a:p>
          <a:p xmlns:a="http://schemas.openxmlformats.org/drawingml/2006/main">
            <a:r>
              <a:rPr sz="1400"/>
              <a:t>Uitleg: Laat dit overzicht staan tijdens startopdracht. Start: 1 en 2 op pagina 40. Basis: 3 op pagina 40 en 4 op pagina 41. Zelfstandig: 5 en 6 op pagina 41. Doel: 7 op pagina 42. Huiswerk: 3, 4, 5, 6 en 7 maken en nakijken. Bonus 8 en herhaling 9–10 zijn extra. Plan aanvullende werktijd als de hele route niet binnen deze les past.</a:t>
            </a:r>
          </a:p>
          <a:p xmlns:a="http://schemas.openxmlformats.org/drawingml/2006/main">
            <a:r>
              <a:rPr sz="1400"/>
              <a:t/>
            </a:r>
          </a:p>
          <a:p xmlns:a="http://schemas.openxmlformats.org/drawingml/2006/main">
            <a:r>
              <a:rPr sz="1400"/>
              <a:t>Misvatting: Een negatieve elasticiteit is niet automatisch een zwakke reactie.</a:t>
            </a:r>
          </a:p>
          <a:p xmlns:a="http://schemas.openxmlformats.org/drawingml/2006/main">
            <a:r>
              <a:rPr sz="1400"/>
              <a:t/>
            </a:r>
          </a:p>
          <a:p xmlns:a="http://schemas.openxmlformats.org/drawingml/2006/main">
            <a:r>
              <a:rPr sz="1400"/>
              <a:t>Overgang: Ga verder als de klas aan de volgende fase toe is.</a:t>
            </a:r>
          </a:p>
          <a:p xmlns:a="http://schemas.openxmlformats.org/drawingml/2006/main">
            <a:r>
              <a:rPr sz="1400"/>
              <a:t/>
            </a:r>
          </a:p>
          <a:p xmlns:a="http://schemas.openxmlformats.org/drawingml/2006/main">
            <a:r>
              <a:rPr sz="1400"/>
              <a:t>Bron: leerlingenboek Boek 2, chatuitgave 2026, revisie 21 september 2026, gedrukte pagina 40–42.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https://github.com/meijer1973/4veco-lessen/blob/f2660032cf7e4e3bbab96cf32863d06a38bd74bc/Boek%202%20-%20Kosten%2C%20opbrengsten%2C%20elasticiteit%20en%20surplus/edities/chat-2026/bronnen/H2/2.2%20Elasticiteit%20%E2%80%93%20antwoorden.md</a:t>
            </a:r>
          </a:p>
          <a:p xmlns:a="http://schemas.openxmlformats.org/drawingml/2006/main">
            <a:r>
              <a:rPr sz="1400"/>
              <a:t>Startantwoorden alleen voor de docent: 1a (10−8)/8×100%=+25%; 1b (108−120)/120×100%=−10%. 2a −1&lt;−0,4&lt;0, prijsinelastisch. 2b Bij −2 is de procentuele reactie sterker dan bij −0,4. Gedrukte pagina 40 is fysieke PDF-pagina 42.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Wat maakt een prijsverandering groot of klein?</a:t>
            </a:r>
          </a:p>
          <a:p xmlns:a="http://schemas.openxmlformats.org/drawingml/2006/main">
            <a:r>
              <a:rPr sz="1400"/>
              <a:t/>
            </a:r>
          </a:p>
          <a:p xmlns:a="http://schemas.openxmlformats.org/drawingml/2006/main">
            <a:r>
              <a:rPr sz="1400"/>
              <a:t>Uitleg: De vier doelen komen terug in doelopgave 7. Herhaal dat P de eigen prijs is en Qv de gevraagde hoeveelheid. Elasticiteit vergelijkt relatieve veranderingen en geen losse eurobedragen of aantallen.</a:t>
            </a:r>
          </a:p>
          <a:p xmlns:a="http://schemas.openxmlformats.org/drawingml/2006/main">
            <a:r>
              <a:rPr sz="1400"/>
              <a:t/>
            </a:r>
          </a:p>
          <a:p xmlns:a="http://schemas.openxmlformats.org/drawingml/2006/main">
            <a:r>
              <a:rPr sz="1400"/>
              <a:t>Misvatting: Een daling met tien klanten betekent zonder beginhoeveelheid nog geen sterke reactie.</a:t>
            </a:r>
          </a:p>
          <a:p xmlns:a="http://schemas.openxmlformats.org/drawingml/2006/main">
            <a:r>
              <a:rPr sz="1400"/>
              <a:t/>
            </a:r>
          </a:p>
          <a:p xmlns:a="http://schemas.openxmlformats.org/drawingml/2006/main">
            <a:r>
              <a:rPr sz="1400"/>
              <a:t>Overgang: Maak de methode zichtbaar met een eigen voorbeeld.</a:t>
            </a:r>
          </a:p>
          <a:p xmlns:a="http://schemas.openxmlformats.org/drawingml/2006/main">
            <a:r>
              <a:rPr sz="1400"/>
              <a:t/>
            </a:r>
          </a:p>
          <a:p xmlns:a="http://schemas.openxmlformats.org/drawingml/2006/main">
            <a:r>
              <a:rPr sz="1400"/>
              <a:t>Bron: leerlingenboek Boek 2, chatuitgave 2026, revisie 21 september 2026, gedrukte pagina 36–39.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https://github.com/meijer1973/4veco-lessen/blob/f2660032cf7e4e3bbab96cf32863d06a38bd74bc/Boek%202%20-%20Kosten%2C%20opbrengsten%2C%20elasticiteit%20en%20surplus/edities/chat-2026/bronnen/H2/2.2%20Elasticiteit%20%E2%80%93%20antwoorden.md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kun je € 4 stijging niet direct vergelijken met 18 bezoeken minder?</a:t>
            </a:r>
          </a:p>
          <a:p xmlns:a="http://schemas.openxmlformats.org/drawingml/2006/main">
            <a:r>
              <a:rPr sz="1400"/>
              <a:t/>
            </a:r>
          </a:p>
          <a:p xmlns:a="http://schemas.openxmlformats.org/drawingml/2006/main">
            <a:r>
              <a:rPr sz="1400"/>
              <a:t>Uitleg: KleiKamer verhoogt de prijs. We nemen in dit bedachte voorbeeld aan dat inkomen, voorkeuren en andere vraagfactoren gelijk blijven. De eigen prijs verandert, dus we onderzoeken een beweging langs dezelfde vraaglijn. Vergelijk niet 4 euro met 18 bezoeken: zet beide veranderingen om in procenten.</a:t>
            </a:r>
          </a:p>
          <a:p xmlns:a="http://schemas.openxmlformats.org/drawingml/2006/main">
            <a:r>
              <a:rPr sz="1400"/>
              <a:t/>
            </a:r>
          </a:p>
          <a:p xmlns:a="http://schemas.openxmlformats.org/drawingml/2006/main">
            <a:r>
              <a:rPr sz="1400"/>
              <a:t>Misvatting: Verschillende grootheden en eenheden zijn pas als relatieve veranderingen vergelijkbaar.</a:t>
            </a:r>
          </a:p>
          <a:p xmlns:a="http://schemas.openxmlformats.org/drawingml/2006/main">
            <a:r>
              <a:rPr sz="1400"/>
              <a:t/>
            </a:r>
          </a:p>
          <a:p xmlns:a="http://schemas.openxmlformats.org/drawingml/2006/main">
            <a:r>
              <a:rPr sz="1400"/>
              <a:t>Overgang: Bereken eerst de procentuele prijsverandering.</a:t>
            </a:r>
          </a:p>
          <a:p xmlns:a="http://schemas.openxmlformats.org/drawingml/2006/main">
            <a:r>
              <a:rPr sz="1400"/>
              <a:t/>
            </a:r>
          </a:p>
          <a:p xmlns:a="http://schemas.openxmlformats.org/drawingml/2006/main">
            <a:r>
              <a:rPr sz="1400"/>
              <a:t>Bron: leerlingenboek Boek 2, chatuitgave 2026, revisie 21 september 2026, gedrukte pagina 36–37. https://github.com/meijer1973/4veco-lessen/blob/f2660032cf7e4e3bbab96cf32863d06a38bd74bc/Boek%202%20-%20Kosten%2C%20opbrengsten%2C%20elasticiteit%20en%20surplus/edities/chat-2026/boek/Boek_2_Compleet.pdf</a:t>
            </a:r>
          </a:p>
          <a:p xmlns:a="http://schemas.openxmlformats.org/drawingml/2006/main">
            <a:r>
              <a:rPr sz="1400"/>
              <a:t>Uitlegvoorbeeld — niet uit het boek. KleiKamer, FotoFlex en alle voorbeeldgegevens zijn voor deze presentatie bedacht. De boekpagina’s zijn uitsluitend de bron voor de methode.</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 bedrag is hier de vergelijkingsbasis?</a:t>
            </a:r>
          </a:p>
          <a:p xmlns:a="http://schemas.openxmlformats.org/drawingml/2006/main">
            <a:r>
              <a:rPr sz="1400"/>
              <a:t/>
            </a:r>
          </a:p>
          <a:p xmlns:a="http://schemas.openxmlformats.org/drawingml/2006/main">
            <a:r>
              <a:rPr sz="1400"/>
              <a:t>Uitleg: De verandering is 44−40=4 euro per bezoek. Deel door de oude prijs 40, niet door 44. Vermenigvuldig 0,10 met 100% om +10% te krijgen. Het plusteken benoemt de stijging. Bewaar eventuele tussenuitkomsten ongerond.</a:t>
            </a:r>
          </a:p>
          <a:p xmlns:a="http://schemas.openxmlformats.org/drawingml/2006/main">
            <a:r>
              <a:rPr sz="1400"/>
              <a:t/>
            </a:r>
          </a:p>
          <a:p xmlns:a="http://schemas.openxmlformats.org/drawingml/2006/main">
            <a:r>
              <a:rPr sz="1400"/>
              <a:t>Misvatting: Delen door 44 gebruikt de nieuwe waarde en geeft een andere meting.</a:t>
            </a:r>
          </a:p>
          <a:p xmlns:a="http://schemas.openxmlformats.org/drawingml/2006/main">
            <a:r>
              <a:rPr sz="1400"/>
              <a:t/>
            </a:r>
          </a:p>
          <a:p xmlns:a="http://schemas.openxmlformats.org/drawingml/2006/main">
            <a:r>
              <a:rPr sz="1400"/>
              <a:t>Overgang: Gebruik precies dezelfde formule voor Qv.</a:t>
            </a:r>
          </a:p>
          <a:p xmlns:a="http://schemas.openxmlformats.org/drawingml/2006/main">
            <a:r>
              <a:rPr sz="1400"/>
              <a:t/>
            </a:r>
          </a:p>
          <a:p xmlns:a="http://schemas.openxmlformats.org/drawingml/2006/main">
            <a:r>
              <a:rPr sz="1400"/>
              <a:t>Bron: leerlingenboek Boek 2, chatuitgave 2026, revisie 21 september 2026, gedrukte pagina 37. https://github.com/meijer1973/4veco-lessen/blob/f2660032cf7e4e3bbab96cf32863d06a38bd74bc/Boek%202%20-%20Kosten%2C%20opbrengsten%2C%20elasticiteit%20en%20surplus/edities/chat-2026/boek/Boek_2_Compleet.pdf</a:t>
            </a:r>
          </a:p>
          <a:p xmlns:a="http://schemas.openxmlformats.org/drawingml/2006/main">
            <a:r>
              <a:rPr sz="1400"/>
              <a:t>Uitlegvoorbeeld — niet uit het boek. KleiKamer, FotoFlex en alle voorbeeldgegevens zijn voor deze presentatie bedacht. De boekpagina’s zijn uitsluitend de bron voor de methode.</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 komt het minteken vandaan?</a:t>
            </a:r>
          </a:p>
          <a:p xmlns:a="http://schemas.openxmlformats.org/drawingml/2006/main">
            <a:r>
              <a:rPr sz="1400"/>
              <a:t/>
            </a:r>
          </a:p>
          <a:p xmlns:a="http://schemas.openxmlformats.org/drawingml/2006/main">
            <a:r>
              <a:rPr sz="1400"/>
              <a:t>Uitleg: Nieuw min oud is 282−300=−18 bezoeken per maand. Deel door 300 en vermenigvuldig met 100%: −6%. Dezelfde oude-waardemethode geldt voor beide percentages. Controle: 6% van 300 is 18, en 300−18=282.</a:t>
            </a:r>
          </a:p>
          <a:p xmlns:a="http://schemas.openxmlformats.org/drawingml/2006/main">
            <a:r>
              <a:rPr sz="1400"/>
              <a:t/>
            </a:r>
          </a:p>
          <a:p xmlns:a="http://schemas.openxmlformats.org/drawingml/2006/main">
            <a:r>
              <a:rPr sz="1400"/>
              <a:t>Misvatting: Draai nieuw en oud niet om om van de daling een positief getal te maken.</a:t>
            </a:r>
          </a:p>
          <a:p xmlns:a="http://schemas.openxmlformats.org/drawingml/2006/main">
            <a:r>
              <a:rPr sz="1400"/>
              <a:t/>
            </a:r>
          </a:p>
          <a:p xmlns:a="http://schemas.openxmlformats.org/drawingml/2006/main">
            <a:r>
              <a:rPr sz="1400"/>
              <a:t>Overgang: Deel nu de reactie van de hoeveelheid door de prijsverandering.</a:t>
            </a:r>
          </a:p>
          <a:p xmlns:a="http://schemas.openxmlformats.org/drawingml/2006/main">
            <a:r>
              <a:rPr sz="1400"/>
              <a:t/>
            </a:r>
          </a:p>
          <a:p xmlns:a="http://schemas.openxmlformats.org/drawingml/2006/main">
            <a:r>
              <a:rPr sz="1400"/>
              <a:t>Bron: leerlingenboek Boek 2, chatuitgave 2026, revisie 21 september 2026, gedrukte pagina 37. https://github.com/meijer1973/4veco-lessen/blob/f2660032cf7e4e3bbab96cf32863d06a38bd74bc/Boek%202%20-%20Kosten%2C%20opbrengsten%2C%20elasticiteit%20en%20surplus/edities/chat-2026/boek/Boek_2_Compleet.pdf</a:t>
            </a:r>
          </a:p>
          <a:p xmlns:a="http://schemas.openxmlformats.org/drawingml/2006/main">
            <a:r>
              <a:rPr sz="1400"/>
              <a:t>Uitlegvoorbeeld — niet uit het boek. KleiKamer, FotoFlex en alle voorbeeldgegevens zijn voor deze presentatie bedacht. De boekpagina’s zijn uitsluitend de bron voor de methode.</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krijgt Ev geen procentteken?</a:t>
            </a:r>
          </a:p>
          <a:p xmlns:a="http://schemas.openxmlformats.org/drawingml/2006/main">
            <a:r>
              <a:rPr sz="1400"/>
              <a:t/>
            </a:r>
          </a:p>
          <a:p xmlns:a="http://schemas.openxmlformats.org/drawingml/2006/main">
            <a:r>
              <a:rPr sz="1400"/>
              <a:t>Uitleg: De reactie staat boven de breuk en de eigen prijsverandering eronder. Deel −6 door +10: −0,6. Negatief betekent dat P en Qv tegengesteld veranderen. In deze meting hoort bij 1% prijsstijging gemiddeld 0,6% hoeveelheidsdaling. Dit is geen gegarandeerde voorspelling voor een volgende prijswijziging. Gebruik positieve oude P en Qv; bij %ΔP=0 is deze verhouding niet te berekenen.</a:t>
            </a:r>
          </a:p>
          <a:p xmlns:a="http://schemas.openxmlformats.org/drawingml/2006/main">
            <a:r>
              <a:rPr sz="1400"/>
              <a:t/>
            </a:r>
          </a:p>
          <a:p xmlns:a="http://schemas.openxmlformats.org/drawingml/2006/main">
            <a:r>
              <a:rPr sz="1400"/>
              <a:t>Misvatting: −0,6 betekent niet een daling van 0,6 bezoek of een daling van 0,6% in totaal. De gemeten totale daling is 6%.</a:t>
            </a:r>
          </a:p>
          <a:p xmlns:a="http://schemas.openxmlformats.org/drawingml/2006/main">
            <a:r>
              <a:rPr sz="1400"/>
              <a:t/>
            </a:r>
          </a:p>
          <a:p xmlns:a="http://schemas.openxmlformats.org/drawingml/2006/main">
            <a:r>
              <a:rPr sz="1400"/>
              <a:t>Overgang: Vergelijk de uitkomst met −1 en 0.</a:t>
            </a:r>
          </a:p>
          <a:p xmlns:a="http://schemas.openxmlformats.org/drawingml/2006/main">
            <a:r>
              <a:rPr sz="1400"/>
              <a:t/>
            </a:r>
          </a:p>
          <a:p xmlns:a="http://schemas.openxmlformats.org/drawingml/2006/main">
            <a:r>
              <a:rPr sz="1400"/>
              <a:t>Bron: leerlingenboek Boek 2, chatuitgave 2026, revisie 21 september 2026, gedrukte pagina 36–37. https://github.com/meijer1973/4veco-lessen/blob/f2660032cf7e4e3bbab96cf32863d06a38bd74bc/Boek%202%20-%20Kosten%2C%20opbrengsten%2C%20elasticiteit%20en%20surplus/edities/chat-2026/boek/Boek_2_Compleet.pdf</a:t>
            </a:r>
          </a:p>
          <a:p xmlns:a="http://schemas.openxmlformats.org/drawingml/2006/main">
            <a:r>
              <a:rPr sz="1400"/>
              <a:t>Uitlegvoorbeeld — niet uit het boek. KleiKamer, FotoFlex en alle voorbeeldgegevens zijn voor deze presentatie bedacht. De boekpagina’s zijn uitsluitend de bron voor de methode.</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In welke rij past −0,6 en waarom?</a:t>
            </a:r>
          </a:p>
          <a:p xmlns:a="http://schemas.openxmlformats.org/drawingml/2006/main">
            <a:r>
              <a:rPr sz="1400"/>
              <a:t/>
            </a:r>
          </a:p>
          <a:p xmlns:a="http://schemas.openxmlformats.org/drawingml/2006/main">
            <a:r>
              <a:rPr sz="1400"/>
              <a:t>Uitleg: Lees de grenzen inclusief het minteken. In de gewone gevallen in deze paragraaf is Ev negatief. −0,6 ligt tussen −1 en 0. Bij −1 zijn beide procentuele veranderingen even groot, met tegengestelde richting. Bij 0 verandert Qv niet ondanks een prijsverandering. De laatste twee regels zijn een grensgeval en een classificatie, geen losse boekopgaven.</a:t>
            </a:r>
          </a:p>
          <a:p xmlns:a="http://schemas.openxmlformats.org/drawingml/2006/main">
            <a:r>
              <a:rPr sz="1400"/>
              <a:t/>
            </a:r>
          </a:p>
          <a:p xmlns:a="http://schemas.openxmlformats.org/drawingml/2006/main">
            <a:r>
              <a:rPr sz="1400"/>
              <a:t>Misvatting: Negatief is niet hetzelfde als prijsinelastisch. Prijsinelastisch betekent meestal wel een reactie.</a:t>
            </a:r>
          </a:p>
          <a:p xmlns:a="http://schemas.openxmlformats.org/drawingml/2006/main">
            <a:r>
              <a:rPr sz="1400"/>
              <a:t/>
            </a:r>
          </a:p>
          <a:p xmlns:a="http://schemas.openxmlformats.org/drawingml/2006/main">
            <a:r>
              <a:rPr sz="1400"/>
              <a:t>Overgang: Vergelijk KleiKamer met een andere aanbieder.</a:t>
            </a:r>
          </a:p>
          <a:p xmlns:a="http://schemas.openxmlformats.org/drawingml/2006/main">
            <a:r>
              <a:rPr sz="1400"/>
              <a:t/>
            </a:r>
          </a:p>
          <a:p xmlns:a="http://schemas.openxmlformats.org/drawingml/2006/main">
            <a:r>
              <a:rPr sz="1400"/>
              <a:t>Bron: leerlingenboek Boek 2, chatuitgave 2026, revisie 21 september 2026, gedrukte pagina 38. https://github.com/meijer1973/4veco-lessen/blob/f2660032cf7e4e3bbab96cf32863d06a38bd74bc/Boek%202%20-%20Kosten%2C%20opbrengsten%2C%20elasticiteit%20en%20surplus/edities/chat-2026/boek/Boek_2_Compleet.pdf</a:t>
            </a:r>
          </a:p>
          <a:p xmlns:a="http://schemas.openxmlformats.org/drawingml/2006/main">
            <a:r>
              <a:rPr sz="1400"/>
              <a:t>Uitlegvoorbeeld — niet uit het boek. KleiKamer, FotoFlex en alle voorbeeldgegevens zijn voor deze presentatie bedacht. De boekpagina’s zijn uitsluitend de bron voor de methode.</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is −1,4 een sterkere reactie dan −0,6?</a:t>
            </a:r>
          </a:p>
          <a:p xmlns:a="http://schemas.openxmlformats.org/drawingml/2006/main">
            <a:r>
              <a:rPr sz="1400"/>
              <a:t/>
            </a:r>
          </a:p>
          <a:p xmlns:a="http://schemas.openxmlformats.org/drawingml/2006/main">
            <a:r>
              <a:rPr sz="1400"/>
              <a:t>Uitleg: Bij FotoFlex is in een afzonderlijke fictieve prijsverhoging Ev=−1,4 gemeten. Qv reageert er per procent prijsverandering sterker dan bij −0,6. Gebruik het woord procentueel. De beginhoeveelheid en prijsstap bij FotoFlex ontbreken, dus je kunt niet concluderen dat FotoFlex meer klanten in absolute aantallen verliest.</a:t>
            </a:r>
          </a:p>
          <a:p xmlns:a="http://schemas.openxmlformats.org/drawingml/2006/main">
            <a:r>
              <a:rPr sz="1400"/>
              <a:t/>
            </a:r>
          </a:p>
          <a:p xmlns:a="http://schemas.openxmlformats.org/drawingml/2006/main">
            <a:r>
              <a:rPr sz="1400"/>
              <a:t>Misvatting: Het kleinere negatieve getal kan juist een sterkere relatieve reactie aangeven.</a:t>
            </a:r>
          </a:p>
          <a:p xmlns:a="http://schemas.openxmlformats.org/drawingml/2006/main">
            <a:r>
              <a:rPr sz="1400"/>
              <a:t/>
            </a:r>
          </a:p>
          <a:p xmlns:a="http://schemas.openxmlformats.org/drawingml/2006/main">
            <a:r>
              <a:rPr sz="1400"/>
              <a:t>Overgang: Zoek een mogelijke economische verklaring, zonder een oorzaak als feit te presenteren.</a:t>
            </a:r>
          </a:p>
          <a:p xmlns:a="http://schemas.openxmlformats.org/drawingml/2006/main">
            <a:r>
              <a:rPr sz="1400"/>
              <a:t/>
            </a:r>
          </a:p>
          <a:p xmlns:a="http://schemas.openxmlformats.org/drawingml/2006/main">
            <a:r>
              <a:rPr sz="1400"/>
              <a:t>Bron: leerlingenboek Boek 2, chatuitgave 2026, revisie 21 september 2026, gedrukte pagina 38–39. https://github.com/meijer1973/4veco-lessen/blob/f2660032cf7e4e3bbab96cf32863d06a38bd74bc/Boek%202%20-%20Kosten%2C%20opbrengsten%2C%20elasticiteit%20en%20surplus/edities/chat-2026/boek/Boek_2_Compleet.pdf</a:t>
            </a:r>
          </a:p>
          <a:p xmlns:a="http://schemas.openxmlformats.org/drawingml/2006/main">
            <a:r>
              <a:rPr sz="1400"/>
              <a:t>Uitlegvoorbeeld — niet uit het boek. KleiKamer, FotoFlex en alle voorbeeldgegevens zijn voor deze presentatie bedacht. De boekpagina’s zijn uitsluitend de bron voor de methode.</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 deel van deze uitleg is gemeten, en welk deel is een mogelijkheid?</a:t>
            </a:r>
          </a:p>
          <a:p xmlns:a="http://schemas.openxmlformats.org/drawingml/2006/main">
            <a:r>
              <a:rPr sz="1400"/>
              <a:t/>
            </a:r>
          </a:p>
          <a:p xmlns:a="http://schemas.openxmlformats.org/drawingml/2006/main">
            <a:r>
              <a:rPr sz="1400"/>
              <a:t>Uitleg: Geef de causale redenering: meer geschikte alternatieven maakt overstappen bij een prijsstijging makkelijker, zodat Qv sterker kan dalen. We weten hier niet hoeveel alternatieven er werkelijk zijn. Ook uitstelbaarheid of een groter budgetaandeel kan een mogelijke verklaring zijn. Houd inkomen als vraagfactor gelijk: er wordt geen inkomenselasticiteit berekend.</a:t>
            </a:r>
          </a:p>
          <a:p xmlns:a="http://schemas.openxmlformats.org/drawingml/2006/main">
            <a:r>
              <a:rPr sz="1400"/>
              <a:t/>
            </a:r>
          </a:p>
          <a:p xmlns:a="http://schemas.openxmlformats.org/drawingml/2006/main">
            <a:r>
              <a:rPr sz="1400"/>
              <a:t>Misvatting: Bedenk geen bewezen klantmotieven op basis van alleen twee elasticiteiten.</a:t>
            </a:r>
          </a:p>
          <a:p xmlns:a="http://schemas.openxmlformats.org/drawingml/2006/main">
            <a:r>
              <a:rPr sz="1400"/>
              <a:t/>
            </a:r>
          </a:p>
          <a:p xmlns:a="http://schemas.openxmlformats.org/drawingml/2006/main">
            <a:r>
              <a:rPr sz="1400"/>
              <a:t>Overgang: Controleer of het teken ook bij een prijsdaling duidelijk is.</a:t>
            </a:r>
          </a:p>
          <a:p xmlns:a="http://schemas.openxmlformats.org/drawingml/2006/main">
            <a:r>
              <a:rPr sz="1400"/>
              <a:t/>
            </a:r>
          </a:p>
          <a:p xmlns:a="http://schemas.openxmlformats.org/drawingml/2006/main">
            <a:r>
              <a:rPr sz="1400"/>
              <a:t>Bron: leerlingenboek Boek 2, chatuitgave 2026, revisie 21 september 2026, gedrukte pagina 38–39. https://github.com/meijer1973/4veco-lessen/blob/f2660032cf7e4e3bbab96cf32863d06a38bd74bc/Boek%202%20-%20Kosten%2C%20opbrengsten%2C%20elasticiteit%20en%20surplus/edities/chat-2026/boek/Boek_2_Compleet.pdf</a:t>
            </a:r>
          </a:p>
          <a:p xmlns:a="http://schemas.openxmlformats.org/drawingml/2006/main">
            <a:r>
              <a:rPr sz="1400"/>
              <a:t>Uitlegvoorbeeld — niet uit het boek. KleiKamer, FotoFlex en alle voorbeeldgegevens zijn voor deze presentatie bedacht. De boekpagina’s zijn uitsluitend de bron voor de methode.</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 teken krijgt de noemer bij een prijsdaling?</a:t>
            </a:r>
          </a:p>
          <a:p xmlns:a="http://schemas.openxmlformats.org/drawingml/2006/main">
            <a:r>
              <a:rPr sz="1400"/>
              <a:t/>
            </a:r>
          </a:p>
          <a:p xmlns:a="http://schemas.openxmlformats.org/drawingml/2006/main">
            <a:r>
              <a:rPr sz="1400"/>
              <a:t>Uitleg: Laat leerlingen kort rekenen. Dit is een nieuw, afzonderlijk scenario vanuit de oude 40 euro en 300 bezoeken. Het is niet het terugdraaien van de eerste wijziging. Andere vraagfactoren blijven gelijk. De volgende dia geeft de oplossing; deze controle voegt geen huiswerk toe.</a:t>
            </a:r>
          </a:p>
          <a:p xmlns:a="http://schemas.openxmlformats.org/drawingml/2006/main">
            <a:r>
              <a:rPr sz="1400"/>
              <a:t/>
            </a:r>
          </a:p>
          <a:p xmlns:a="http://schemas.openxmlformats.org/drawingml/2006/main">
            <a:r>
              <a:rPr sz="1400"/>
              <a:t>Misvatting: Kijk bij het teken naar teller én noemer, niet alleen naar Qv.</a:t>
            </a:r>
          </a:p>
          <a:p xmlns:a="http://schemas.openxmlformats.org/drawingml/2006/main">
            <a:r>
              <a:rPr sz="1400"/>
              <a:t/>
            </a:r>
          </a:p>
          <a:p xmlns:a="http://schemas.openxmlformats.org/drawingml/2006/main">
            <a:r>
              <a:rPr sz="1400"/>
              <a:t>Overgang: Bespreek de berekening nadat leerlingen hebben gereageerd.</a:t>
            </a:r>
          </a:p>
          <a:p xmlns:a="http://schemas.openxmlformats.org/drawingml/2006/main">
            <a:r>
              <a:rPr sz="1400"/>
              <a:t/>
            </a:r>
          </a:p>
          <a:p xmlns:a="http://schemas.openxmlformats.org/drawingml/2006/main">
            <a:r>
              <a:rPr sz="1400"/>
              <a:t>Bron: leerlingenboek Boek 2, chatuitgave 2026, revisie 21 september 2026, gedrukte pagina 37–38. https://github.com/meijer1973/4veco-lessen/blob/f2660032cf7e4e3bbab96cf32863d06a38bd74bc/Boek%202%20-%20Kosten%2C%20opbrengsten%2C%20elasticiteit%20en%20surplus/edities/chat-2026/boek/Boek_2_Compleet.pdf</a:t>
            </a:r>
          </a:p>
          <a:p xmlns:a="http://schemas.openxmlformats.org/drawingml/2006/main">
            <a:r>
              <a:rPr sz="1400"/>
              <a:t>Uitlegvoorbeeld — niet uit het boek. KleiKamer, FotoFlex en alle voorbeeldgegevens zijn voor deze presentatie bedacht. De boekpagina’s zijn uitsluitend de bron voor de methode.</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betekent een negatieve Ev niet dat Qv altijd daalt?</a:t>
            </a:r>
          </a:p>
          <a:p xmlns:a="http://schemas.openxmlformats.org/drawingml/2006/main">
            <a:r>
              <a:rPr sz="1400"/>
              <a:t/>
            </a:r>
          </a:p>
          <a:p xmlns:a="http://schemas.openxmlformats.org/drawingml/2006/main">
            <a:r>
              <a:rPr sz="1400"/>
              <a:t>Uitleg: Positief gedeeld door negatief is negatief. Het aantal bezoeken stijgt met 15%, de prijs daalt met 10%. Qv reageert procentueel anderhalf maal zo sterk als P. Controle: 10% van 40 is 4 en 15% van 300 is 45. Dit andere scenario heeft een andere elasticiteit; veronderstel geen constante elasticiteit bij elke prijs.</a:t>
            </a:r>
          </a:p>
          <a:p xmlns:a="http://schemas.openxmlformats.org/drawingml/2006/main">
            <a:r>
              <a:rPr sz="1400"/>
              <a:t/>
            </a:r>
          </a:p>
          <a:p xmlns:a="http://schemas.openxmlformats.org/drawingml/2006/main">
            <a:r>
              <a:rPr sz="1400"/>
              <a:t>Misvatting: Gebruik niet −15% voor een hoeveelheidsstijging om een verwacht minteken te forceren.</a:t>
            </a:r>
          </a:p>
          <a:p xmlns:a="http://schemas.openxmlformats.org/drawingml/2006/main">
            <a:r>
              <a:rPr sz="1400"/>
              <a:t/>
            </a:r>
          </a:p>
          <a:p xmlns:a="http://schemas.openxmlformats.org/drawingml/2006/main">
            <a:r>
              <a:rPr sz="1400"/>
              <a:t>Overgang: Laat het overzicht staan tijdens de oefenroute.</a:t>
            </a:r>
          </a:p>
          <a:p xmlns:a="http://schemas.openxmlformats.org/drawingml/2006/main">
            <a:r>
              <a:rPr sz="1400"/>
              <a:t/>
            </a:r>
          </a:p>
          <a:p xmlns:a="http://schemas.openxmlformats.org/drawingml/2006/main">
            <a:r>
              <a:rPr sz="1400"/>
              <a:t>Bron: leerlingenboek Boek 2, chatuitgave 2026, revisie 21 september 2026, gedrukte pagina 37–38. https://github.com/meijer1973/4veco-lessen/blob/f2660032cf7e4e3bbab96cf32863d06a38bd74bc/Boek%202%20-%20Kosten%2C%20opbrengsten%2C%20elasticiteit%20en%20surplus/edities/chat-2026/boek/Boek_2_Compleet.pdf</a:t>
            </a:r>
          </a:p>
          <a:p xmlns:a="http://schemas.openxmlformats.org/drawingml/2006/main">
            <a:r>
              <a:rPr sz="1400"/>
              <a:t>Uitlegvoorbeeld — niet uit het boek. KleiKamer, FotoFlex en alle voorbeeldgegevens zijn voor deze presentatie bedacht. De boekpagina’s zijn uitsluitend de bron voor de methode.</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Bij welke opgave wil je hulp?</a:t>
            </a:r>
          </a:p>
          <a:p xmlns:a="http://schemas.openxmlformats.org/drawingml/2006/main">
            <a:r>
              <a:rPr sz="1400"/>
              <a:t/>
            </a:r>
          </a:p>
          <a:p xmlns:a="http://schemas.openxmlformats.org/drawingml/2006/main">
            <a:r>
              <a:rPr sz="1400"/>
              <a:t>Uitleg: Laat dit overzicht staan tijdens zelfstandig werken. Start: 1 en 2 op pagina 40. Basis: 3 op pagina 40 en 4 op pagina 41. Zelfstandig: 5 en 6 op pagina 41. Doel: 7 op pagina 42. Huiswerk: 3, 4, 5, 6 en 7 maken en nakijken. Bonus 8 en herhaling 9–10 zijn extra. Plan aanvullende werktijd als de hele route niet binnen deze les past.</a:t>
            </a:r>
          </a:p>
          <a:p xmlns:a="http://schemas.openxmlformats.org/drawingml/2006/main">
            <a:r>
              <a:rPr sz="1400"/>
              <a:t/>
            </a:r>
          </a:p>
          <a:p xmlns:a="http://schemas.openxmlformats.org/drawingml/2006/main">
            <a:r>
              <a:rPr sz="1400"/>
              <a:t>Misvatting: Een negatieve elasticiteit is niet automatisch een zwakke reactie.</a:t>
            </a:r>
          </a:p>
          <a:p xmlns:a="http://schemas.openxmlformats.org/drawingml/2006/main">
            <a:r>
              <a:rPr sz="1400"/>
              <a:t/>
            </a:r>
          </a:p>
          <a:p xmlns:a="http://schemas.openxmlformats.org/drawingml/2006/main">
            <a:r>
              <a:rPr sz="1400"/>
              <a:t>Overgang: Ga verder als de klas aan de volgende fase toe is.</a:t>
            </a:r>
          </a:p>
          <a:p xmlns:a="http://schemas.openxmlformats.org/drawingml/2006/main">
            <a:r>
              <a:rPr sz="1400"/>
              <a:t/>
            </a:r>
          </a:p>
          <a:p xmlns:a="http://schemas.openxmlformats.org/drawingml/2006/main">
            <a:r>
              <a:rPr sz="1400"/>
              <a:t>Bron: leerlingenboek Boek 2, chatuitgave 2026, revisie 21 september 2026, gedrukte pagina 40–42.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https://github.com/meijer1973/4veco-lessen/blob/f2660032cf7e4e3bbab96cf32863d06a38bd74bc/Boek%202%20-%20Kosten%2C%20opbrengsten%2C%20elasticiteit%20en%20surplus/edities/chat-2026/bronnen/H2/2.2%20Elasticiteit%20%E2%80%93%20antwoorden.md</a:t>
            </a:r>
          </a:p>
          <a:p xmlns:a="http://schemas.openxmlformats.org/drawingml/2006/main">
            <a:r>
              <a:rPr sz="1400"/>
              <a:t>Startantwoorden alleen voor de docent: 1a (10−8)/8×100%=+25%; 1b (108−120)/120×100%=−10%. 2a −1&lt;−0,4&lt;0, prijsinelastisch. 2b Bij −2 is de procentuele reactie sterker dan bij −0,4. Gedrukte pagina 40 is fysieke PDF-pagina 42.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gegevens horen bij Nova en welke bij StreamNow?</a:t>
            </a:r>
          </a:p>
          <a:p xmlns:a="http://schemas.openxmlformats.org/drawingml/2006/main">
            <a:r>
              <a:rPr sz="1400"/>
              <a:t/>
            </a:r>
          </a:p>
          <a:p xmlns:a="http://schemas.openxmlformats.org/drawingml/2006/main">
            <a:r>
              <a:rPr sz="1400"/>
              <a:t>Uitleg: Dit zijn alle gegevens uit de werkelijke doelopgave 7. De stijging van 10 naar 12 euro en daling van 500 naar 420 tickets per week staan in de tabel. StreamNow heeft een andere prijsverhoging, met alleen Ev=−2 gegeven. Toon eerst ook alle deelvragen, daarna pas de antwoordstappen.</a:t>
            </a:r>
          </a:p>
          <a:p xmlns:a="http://schemas.openxmlformats.org/drawingml/2006/main">
            <a:r>
              <a:rPr sz="1400"/>
              <a:t/>
            </a:r>
          </a:p>
          <a:p xmlns:a="http://schemas.openxmlformats.org/drawingml/2006/main">
            <a:r>
              <a:rPr sz="1400"/>
              <a:t>Misvatting: Neem de prijsstap van Nova niet zomaar over voor StreamNow.</a:t>
            </a:r>
          </a:p>
          <a:p xmlns:a="http://schemas.openxmlformats.org/drawingml/2006/main">
            <a:r>
              <a:rPr sz="1400"/>
              <a:t/>
            </a:r>
          </a:p>
          <a:p xmlns:a="http://schemas.openxmlformats.org/drawingml/2006/main">
            <a:r>
              <a:rPr sz="1400"/>
              <a:t>Overgang: Toon vragen a en b en daarna c en d.</a:t>
            </a:r>
          </a:p>
          <a:p xmlns:a="http://schemas.openxmlformats.org/drawingml/2006/main">
            <a:r>
              <a:rPr sz="1400"/>
              <a:t/>
            </a:r>
          </a:p>
          <a:p xmlns:a="http://schemas.openxmlformats.org/drawingml/2006/main">
            <a:r>
              <a:rPr sz="1400"/>
              <a:t>Bron: leerlingenboek Boek 2, chatuitgave 2026, revisie 21 september 2026, gedrukte pagina 42.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https://github.com/meijer1973/4veco-lessen/blob/f2660032cf7e4e3bbab96cf32863d06a38bd74bc/Boek%202%20-%20Kosten%2C%20opbrengsten%2C%20elasticiteit%20en%20surplus/edities/chat-2026/bronnen/H2/2.2%20Elasticiteit%20%E2%80%93%20antwoorden.md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drie berekeningen vraagt deel a?</a:t>
            </a:r>
          </a:p>
          <a:p xmlns:a="http://schemas.openxmlformats.org/drawingml/2006/main">
            <a:r>
              <a:rPr sz="1400"/>
              <a:t/>
            </a:r>
          </a:p>
          <a:p xmlns:a="http://schemas.openxmlformats.org/drawingml/2006/main">
            <a:r>
              <a:rPr sz="1400"/>
              <a:t>Uitleg: Laat leerlingen hun eigen poging erbij houden. De −0,8 staat al in de oorspronkelijke deelvraag b en blijft daarom zichtbaar. Dat is een gegeven in de vraag, niet een voortijdige antwoordberekening. De volledige oplossing volgt pas nadat ook c en d getoond zijn.</a:t>
            </a:r>
          </a:p>
          <a:p xmlns:a="http://schemas.openxmlformats.org/drawingml/2006/main">
            <a:r>
              <a:rPr sz="1400"/>
              <a:t/>
            </a:r>
          </a:p>
          <a:p xmlns:a="http://schemas.openxmlformats.org/drawingml/2006/main">
            <a:r>
              <a:rPr sz="1400"/>
              <a:t>Misvatting: Alleen het getal uit vraag b overschrijven is geen berekening voor a.</a:t>
            </a:r>
          </a:p>
          <a:p xmlns:a="http://schemas.openxmlformats.org/drawingml/2006/main">
            <a:r>
              <a:rPr sz="1400"/>
              <a:t/>
            </a:r>
          </a:p>
          <a:p xmlns:a="http://schemas.openxmlformats.org/drawingml/2006/main">
            <a:r>
              <a:rPr sz="1400"/>
              <a:t>Overgang: Maak alle overige deelvragen beschikbaar.</a:t>
            </a:r>
          </a:p>
          <a:p xmlns:a="http://schemas.openxmlformats.org/drawingml/2006/main">
            <a:r>
              <a:rPr sz="1400"/>
              <a:t/>
            </a:r>
          </a:p>
          <a:p xmlns:a="http://schemas.openxmlformats.org/drawingml/2006/main">
            <a:r>
              <a:rPr sz="1400"/>
              <a:t>Bron: leerlingenboek Boek 2, chatuitgave 2026, revisie 21 september 2026, gedrukte pagina 42.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https://github.com/meijer1973/4veco-lessen/blob/f2660032cf7e4e3bbab96cf32863d06a38bd74bc/Boek%202%20-%20Kosten%2C%20opbrengsten%2C%20elasticiteit%20en%20surplus/edities/chat-2026/bronnen/H2/2.2%20Elasticiteit%20%E2%80%93%20antwoorden.md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woorden helpen je om bij d een mogelijkheid te formuleren?</a:t>
            </a:r>
          </a:p>
          <a:p xmlns:a="http://schemas.openxmlformats.org/drawingml/2006/main">
            <a:r>
              <a:rPr sz="1400"/>
              <a:t/>
            </a:r>
          </a:p>
          <a:p xmlns:a="http://schemas.openxmlformats.org/drawingml/2006/main">
            <a:r>
              <a:rPr sz="1400"/>
              <a:t>Uitleg: Alle deelvragen a–d zijn nu volledig getoond, inclusief punten. De doelvraag vraagt geen inkomenselasticiteit en geen omzetadvies. Deel c vraagt zowel de indeling als een relatieve vergelijking.</a:t>
            </a:r>
          </a:p>
          <a:p xmlns:a="http://schemas.openxmlformats.org/drawingml/2006/main">
            <a:r>
              <a:rPr sz="1400"/>
              <a:t/>
            </a:r>
          </a:p>
          <a:p xmlns:a="http://schemas.openxmlformats.org/drawingml/2006/main">
            <a:r>
              <a:rPr sz="1400"/>
              <a:t>Misvatting: Een contextverhaal moet verklaren waarom de reactie op de eigen prijs kan verschillen.</a:t>
            </a:r>
          </a:p>
          <a:p xmlns:a="http://schemas.openxmlformats.org/drawingml/2006/main">
            <a:r>
              <a:rPr sz="1400"/>
              <a:t/>
            </a:r>
          </a:p>
          <a:p xmlns:a="http://schemas.openxmlformats.org/drawingml/2006/main">
            <a:r>
              <a:rPr sz="1400"/>
              <a:t>Overgang: Begin de uitwerking met de twee percentages voor Nova.</a:t>
            </a:r>
          </a:p>
          <a:p xmlns:a="http://schemas.openxmlformats.org/drawingml/2006/main">
            <a:r>
              <a:rPr sz="1400"/>
              <a:t/>
            </a:r>
          </a:p>
          <a:p xmlns:a="http://schemas.openxmlformats.org/drawingml/2006/main">
            <a:r>
              <a:rPr sz="1400"/>
              <a:t>Bron: leerlingenboek Boek 2, chatuitgave 2026, revisie 21 september 2026, gedrukte pagina 42.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https://github.com/meijer1973/4veco-lessen/blob/f2660032cf7e4e3bbab96cf32863d06a38bd74bc/Boek%202%20-%20Kosten%2C%20opbrengsten%2C%20elasticiteit%20en%20surplus/edities/chat-2026/bronnen/H2/2.2%20Elasticiteit%20%E2%80%93%20antwoorden.md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oude waarden staan onder de twee breuken?</a:t>
            </a:r>
          </a:p>
          <a:p xmlns:a="http://schemas.openxmlformats.org/drawingml/2006/main">
            <a:r>
              <a:rPr sz="1400"/>
              <a:t/>
            </a:r>
          </a:p>
          <a:p xmlns:a="http://schemas.openxmlformats.org/drawingml/2006/main">
            <a:r>
              <a:rPr sz="1400"/>
              <a:t>Uitleg: Gebruik in beide gevallen (nieuw−oud)/oud×100%. De prijsverandering is 2/10=0,20; de hoeveelheidsverandering is −80/500=−0,16. Dat levert +20% en −16%. Benoem de oorspronkelijke eenheden en de weekperiode. Controleer de richtingen en reken terug naar de verschillen.</a:t>
            </a:r>
          </a:p>
          <a:p xmlns:a="http://schemas.openxmlformats.org/drawingml/2006/main">
            <a:r>
              <a:rPr sz="1400"/>
              <a:t/>
            </a:r>
          </a:p>
          <a:p xmlns:a="http://schemas.openxmlformats.org/drawingml/2006/main">
            <a:r>
              <a:rPr sz="1400"/>
              <a:t>Misvatting: Niet delen door 12 of 420 en het minteken bij de hoeveelheidsdaling niet vergeten.</a:t>
            </a:r>
          </a:p>
          <a:p xmlns:a="http://schemas.openxmlformats.org/drawingml/2006/main">
            <a:r>
              <a:rPr sz="1400"/>
              <a:t/>
            </a:r>
          </a:p>
          <a:p xmlns:a="http://schemas.openxmlformats.org/drawingml/2006/main">
            <a:r>
              <a:rPr sz="1400"/>
              <a:t>Overgang: Deel de procentuele hoeveelheidsreactie door de procentuele prijsverandering.</a:t>
            </a:r>
          </a:p>
          <a:p xmlns:a="http://schemas.openxmlformats.org/drawingml/2006/main">
            <a:r>
              <a:rPr sz="1400"/>
              <a:t/>
            </a:r>
          </a:p>
          <a:p xmlns:a="http://schemas.openxmlformats.org/drawingml/2006/main">
            <a:r>
              <a:rPr sz="1400"/>
              <a:t>Bron: leerlingenboek Boek 2, chatuitgave 2026, revisie 21 september 2026, gedrukte pagina 42.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https://github.com/meijer1973/4veco-lessen/blob/f2660032cf7e4e3bbab96cf32863d06a38bd74bc/Boek%202%20-%20Kosten%2C%20opbrengsten%2C%20elasticiteit%20en%20surplus/edities/chat-2026/bronnen/H2/2.2%20Elasticiteit%20%E2%80%93%20antwoorden.md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Wat zou er fout gaan als je de twee percentages verwisselt?</a:t>
            </a:r>
          </a:p>
          <a:p xmlns:a="http://schemas.openxmlformats.org/drawingml/2006/main">
            <a:r>
              <a:rPr sz="1400"/>
              <a:t/>
            </a:r>
          </a:p>
          <a:p xmlns:a="http://schemas.openxmlformats.org/drawingml/2006/main">
            <a:r>
              <a:rPr sz="1400"/>
              <a:t>Uitleg: Deel reactie door prijswijziging: −16/20=−0,8. De procenttekens vallen in de verhouding weg. De controle vermenigvuldigt de uitkomst met de prijsverandering en levert de hoeveelheidsverandering terug.</a:t>
            </a:r>
          </a:p>
          <a:p xmlns:a="http://schemas.openxmlformats.org/drawingml/2006/main">
            <a:r>
              <a:rPr sz="1400"/>
              <a:t/>
            </a:r>
          </a:p>
          <a:p xmlns:a="http://schemas.openxmlformats.org/drawingml/2006/main">
            <a:r>
              <a:rPr sz="1400"/>
              <a:t>Misvatting: +20/−16 geeft −1,25 en meet de omgekeerde verhouding.</a:t>
            </a:r>
          </a:p>
          <a:p xmlns:a="http://schemas.openxmlformats.org/drawingml/2006/main">
            <a:r>
              <a:rPr sz="1400"/>
              <a:t/>
            </a:r>
          </a:p>
          <a:p xmlns:a="http://schemas.openxmlformats.org/drawingml/2006/main">
            <a:r>
              <a:rPr sz="1400"/>
              <a:t>Overgang: Vertaal het getal naar indeling en economische betekenis.</a:t>
            </a:r>
          </a:p>
          <a:p xmlns:a="http://schemas.openxmlformats.org/drawingml/2006/main">
            <a:r>
              <a:rPr sz="1400"/>
              <a:t/>
            </a:r>
          </a:p>
          <a:p xmlns:a="http://schemas.openxmlformats.org/drawingml/2006/main">
            <a:r>
              <a:rPr sz="1400"/>
              <a:t>Bron: leerlingenboek Boek 2, chatuitgave 2026, revisie 21 september 2026, gedrukte pagina 42.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https://github.com/meijer1973/4veco-lessen/blob/f2660032cf7e4e3bbab96cf32863d06a38bd74bc/Boek%202%20-%20Kosten%2C%20opbrengsten%2C%20elasticiteit%20en%20surplus/edities/chat-2026/bronnen/H2/2.2%20Elasticiteit%20%E2%80%93%20antwoorden.md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betekent prijsinelastisch hier niet dat de bezoekers niet reageren?</a:t>
            </a:r>
          </a:p>
          <a:p xmlns:a="http://schemas.openxmlformats.org/drawingml/2006/main">
            <a:r>
              <a:rPr sz="1400"/>
              <a:t/>
            </a:r>
          </a:p>
          <a:p xmlns:a="http://schemas.openxmlformats.org/drawingml/2006/main">
            <a:r>
              <a:rPr sz="1400"/>
              <a:t>Uitleg: De vraag is prijsinelastisch: Qv daalt procentueel minder sterk dan P stijgt. In de meting is de daling 16% bij een prijsstijging van 20%. Ook goed: gemiddeld 0,8% hoeveelheidsdaling per 1% prijsstijging in deze meting. Het is geen zekere voorspelling voor elke volgende prijs.</a:t>
            </a:r>
          </a:p>
          <a:p xmlns:a="http://schemas.openxmlformats.org/drawingml/2006/main">
            <a:r>
              <a:rPr sz="1400"/>
              <a:t/>
            </a:r>
          </a:p>
          <a:p xmlns:a="http://schemas.openxmlformats.org/drawingml/2006/main">
            <a:r>
              <a:rPr sz="1400"/>
              <a:t>Misvatting: De hoeveelheid daalt met 80 tickets per week en dus wel degelijk. −0,8 is niet −0,8 ticket.</a:t>
            </a:r>
          </a:p>
          <a:p xmlns:a="http://schemas.openxmlformats.org/drawingml/2006/main">
            <a:r>
              <a:rPr sz="1400"/>
              <a:t/>
            </a:r>
          </a:p>
          <a:p xmlns:a="http://schemas.openxmlformats.org/drawingml/2006/main">
            <a:r>
              <a:rPr sz="1400"/>
              <a:t>Overgang: Vergelijk de relatieve reactie met StreamNow.</a:t>
            </a:r>
          </a:p>
          <a:p xmlns:a="http://schemas.openxmlformats.org/drawingml/2006/main">
            <a:r>
              <a:rPr sz="1400"/>
              <a:t/>
            </a:r>
          </a:p>
          <a:p xmlns:a="http://schemas.openxmlformats.org/drawingml/2006/main">
            <a:r>
              <a:rPr sz="1400"/>
              <a:t>Bron: leerlingenboek Boek 2, chatuitgave 2026, revisie 21 september 2026, gedrukte pagina 42.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https://github.com/meijer1973/4veco-lessen/blob/f2660032cf7e4e3bbab96cf32863d06a38bd74bc/Boek%202%20-%20Kosten%2C%20opbrengsten%2C%20elasticiteit%20en%20surplus/edities/chat-2026/bronnen/H2/2.2%20Elasticiteit%20%E2%80%93%20antwoorden.md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kun je niet zeggen welke aanbieder de meeste klanten verliest?</a:t>
            </a:r>
          </a:p>
          <a:p xmlns:a="http://schemas.openxmlformats.org/drawingml/2006/main">
            <a:r>
              <a:rPr sz="1400"/>
              <a:t/>
            </a:r>
          </a:p>
          <a:p xmlns:a="http://schemas.openxmlformats.org/drawingml/2006/main">
            <a:r>
              <a:rPr sz="1400"/>
              <a:t>Uitleg: −2 ligt onder −1, dus StreamNow heeft prijselastische vraag. Per procent prijsverandering is de procentuele reactie bij StreamNow sterker dan bij Nova: factor 2 tegenover 0,8. Dat is een vergelijking van relatieve reacties op de eigen prijs. De hoeveelheid en prijsstap van StreamNow zijn niet gegeven.</a:t>
            </a:r>
          </a:p>
          <a:p xmlns:a="http://schemas.openxmlformats.org/drawingml/2006/main">
            <a:r>
              <a:rPr sz="1400"/>
              <a:t/>
            </a:r>
          </a:p>
          <a:p xmlns:a="http://schemas.openxmlformats.org/drawingml/2006/main">
            <a:r>
              <a:rPr sz="1400"/>
              <a:t>Misvatting: Verwar een sterkere procentuele reactie niet met een groter absoluut aantal.</a:t>
            </a:r>
          </a:p>
          <a:p xmlns:a="http://schemas.openxmlformats.org/drawingml/2006/main">
            <a:r>
              <a:rPr sz="1400"/>
              <a:t/>
            </a:r>
          </a:p>
          <a:p xmlns:a="http://schemas.openxmlformats.org/drawingml/2006/main">
            <a:r>
              <a:rPr sz="1400"/>
              <a:t>Overgang: Geef één mogelijke verklaring die bij deze context past.</a:t>
            </a:r>
          </a:p>
          <a:p xmlns:a="http://schemas.openxmlformats.org/drawingml/2006/main">
            <a:r>
              <a:rPr sz="1400"/>
              <a:t/>
            </a:r>
          </a:p>
          <a:p xmlns:a="http://schemas.openxmlformats.org/drawingml/2006/main">
            <a:r>
              <a:rPr sz="1400"/>
              <a:t>Bron: leerlingenboek Boek 2, chatuitgave 2026, revisie 21 september 2026, gedrukte pagina 42.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https://github.com/meijer1973/4veco-lessen/blob/f2660032cf7e4e3bbab96cf32863d06a38bd74bc/Boek%202%20-%20Kosten%2C%20opbrengsten%2C%20elasticiteit%20en%20surplus/edities/chat-2026/bronnen/H2/2.2%20Elasticiteit%20%E2%80%93%20antwoorden.md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schakel verbindt de alternatieven met een sterkere reactie op de eigen prijs?</a:t>
            </a:r>
          </a:p>
          <a:p xmlns:a="http://schemas.openxmlformats.org/drawingml/2006/main">
            <a:r>
              <a:rPr sz="1400"/>
              <a:t/>
            </a:r>
          </a:p>
          <a:p xmlns:a="http://schemas.openxmlformats.org/drawingml/2006/main">
            <a:r>
              <a:rPr sz="1400"/>
              <a:t>Uitleg: Dit is één modelantwoord, geen bewezen beschrijving van alle klanten. Leg de verbinding uit: geschikte alternatieven of makkelijk opzeggen maken uitwijken na een prijsstijging makkelijker; daardoor kan de gevraagde hoeveelheid sterker dalen. Ook andere plausibele contextverklaringen zijn goed. Gebruik woorden als mogelijk of kan. Het gaat om prijsgevoeligheid, niet om een veranderend inkomen of een berekening van kruislingse elasticiteit.</a:t>
            </a:r>
          </a:p>
          <a:p xmlns:a="http://schemas.openxmlformats.org/drawingml/2006/main">
            <a:r>
              <a:rPr sz="1400"/>
              <a:t/>
            </a:r>
          </a:p>
          <a:p xmlns:a="http://schemas.openxmlformats.org/drawingml/2006/main">
            <a:r>
              <a:rPr sz="1400"/>
              <a:t>Misvatting: Beweer niet dat de cijfers aantonen dat alle klanten overstappen.</a:t>
            </a:r>
          </a:p>
          <a:p xmlns:a="http://schemas.openxmlformats.org/drawingml/2006/main">
            <a:r>
              <a:rPr sz="1400"/>
              <a:t/>
            </a:r>
          </a:p>
          <a:p xmlns:a="http://schemas.openxmlformats.org/drawingml/2006/main">
            <a:r>
              <a:rPr sz="1400"/>
              <a:t>Overgang: Laat leerlingen hun eigen antwoord op alle onderdelen controleren.</a:t>
            </a:r>
          </a:p>
          <a:p xmlns:a="http://schemas.openxmlformats.org/drawingml/2006/main">
            <a:r>
              <a:rPr sz="1400"/>
              <a:t/>
            </a:r>
          </a:p>
          <a:p xmlns:a="http://schemas.openxmlformats.org/drawingml/2006/main">
            <a:r>
              <a:rPr sz="1400"/>
              <a:t>Bron: leerlingenboek Boek 2, chatuitgave 2026, revisie 21 september 2026, gedrukte pagina 42.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https://github.com/meijer1973/4veco-lessen/blob/f2660032cf7e4e3bbab96cf32863d06a38bd74bc/Boek%202%20-%20Kosten%2C%20opbrengsten%2C%20elasticiteit%20en%20surplus/edities/chat-2026/bronnen/H2/2.2%20Elasticiteit%20%E2%80%93%20antwoorden.md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 onderdeel van je eigen antwoord kun je preciezer maken?</a:t>
            </a:r>
          </a:p>
          <a:p xmlns:a="http://schemas.openxmlformats.org/drawingml/2006/main">
            <a:r>
              <a:rPr sz="1400"/>
              <a:t/>
            </a:r>
          </a:p>
          <a:p xmlns:a="http://schemas.openxmlformats.org/drawingml/2006/main">
            <a:r>
              <a:rPr sz="1400"/>
              <a:t>Uitleg: Loop alle vier onderdelen na. Alleen een eindgetal is onvoldoende waar een berekening of uitleg gevraagd wordt. Vraag leerlingen een concrete verbetering te schrijven. De check uit het boek noemt oude noemers, minteken, cijfermatige vergelijking en mogelijke versus bewezen verklaring.</a:t>
            </a:r>
          </a:p>
          <a:p xmlns:a="http://schemas.openxmlformats.org/drawingml/2006/main">
            <a:r>
              <a:rPr sz="1400"/>
              <a:t/>
            </a:r>
          </a:p>
          <a:p xmlns:a="http://schemas.openxmlformats.org/drawingml/2006/main">
            <a:r>
              <a:rPr sz="1400"/>
              <a:t>Misvatting: Een plausibele oorzaak is niet automatisch door deze cijfers bewezen.</a:t>
            </a:r>
          </a:p>
          <a:p xmlns:a="http://schemas.openxmlformats.org/drawingml/2006/main">
            <a:r>
              <a:rPr sz="1400"/>
              <a:t/>
            </a:r>
          </a:p>
          <a:p xmlns:a="http://schemas.openxmlformats.org/drawingml/2006/main">
            <a:r>
              <a:rPr sz="1400"/>
              <a:t>Overgang: Rond af met het gedeelde overzicht en het huiswerk.</a:t>
            </a:r>
          </a:p>
          <a:p xmlns:a="http://schemas.openxmlformats.org/drawingml/2006/main">
            <a:r>
              <a:rPr sz="1400"/>
              <a:t/>
            </a:r>
          </a:p>
          <a:p xmlns:a="http://schemas.openxmlformats.org/drawingml/2006/main">
            <a:r>
              <a:rPr sz="1400"/>
              <a:t>Bron: leerlingenboek Boek 2, chatuitgave 2026, revisie 21 september 2026, gedrukte pagina 42.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https://github.com/meijer1973/4veco-lessen/blob/f2660032cf7e4e3bbab96cf32863d06a38bd74bc/Boek%202%20-%20Kosten%2C%20opbrengsten%2C%20elasticiteit%20en%20surplus/edities/chat-2026/bronnen/H2/2.2%20Elasticiteit%20%E2%80%93%20antwoorden.md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Bij welke opgave wil je hulp?</a:t>
            </a:r>
          </a:p>
          <a:p xmlns:a="http://schemas.openxmlformats.org/drawingml/2006/main">
            <a:r>
              <a:rPr sz="1400"/>
              <a:t/>
            </a:r>
          </a:p>
          <a:p xmlns:a="http://schemas.openxmlformats.org/drawingml/2006/main">
            <a:r>
              <a:rPr sz="1400"/>
              <a:t>Uitleg: Laat dit overzicht staan tijdens afsluiting / huiswerk. Start: 1 en 2 op pagina 40. Basis: 3 op pagina 40 en 4 op pagina 41. Zelfstandig: 5 en 6 op pagina 41. Doel: 7 op pagina 42. Huiswerk: 3, 4, 5, 6 en 7 maken en nakijken. Bonus 8 en herhaling 9–10 zijn extra. Plan aanvullende werktijd als de hele route niet binnen deze les past.</a:t>
            </a:r>
          </a:p>
          <a:p xmlns:a="http://schemas.openxmlformats.org/drawingml/2006/main">
            <a:r>
              <a:rPr sz="1400"/>
              <a:t/>
            </a:r>
          </a:p>
          <a:p xmlns:a="http://schemas.openxmlformats.org/drawingml/2006/main">
            <a:r>
              <a:rPr sz="1400"/>
              <a:t>Misvatting: Een negatieve elasticiteit is niet automatisch een zwakke reactie.</a:t>
            </a:r>
          </a:p>
          <a:p xmlns:a="http://schemas.openxmlformats.org/drawingml/2006/main">
            <a:r>
              <a:rPr sz="1400"/>
              <a:t/>
            </a:r>
          </a:p>
          <a:p xmlns:a="http://schemas.openxmlformats.org/drawingml/2006/main">
            <a:r>
              <a:rPr sz="1400"/>
              <a:t>Overgang: Laat leerlingen hun huiswerk in de agenda noteren.</a:t>
            </a:r>
          </a:p>
          <a:p xmlns:a="http://schemas.openxmlformats.org/drawingml/2006/main">
            <a:r>
              <a:rPr sz="1400"/>
              <a:t/>
            </a:r>
          </a:p>
          <a:p xmlns:a="http://schemas.openxmlformats.org/drawingml/2006/main">
            <a:r>
              <a:rPr sz="1400"/>
              <a:t>Bron: leerlingenboek Boek 2, chatuitgave 2026, revisie 21 september 2026, gedrukte pagina 40–42.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https://github.com/meijer1973/4veco-lessen/blob/f2660032cf7e4e3bbab96cf32863d06a38bd74bc/Boek%202%20-%20Kosten%2C%20opbrengsten%2C%20elasticiteit%20en%20surplus/edities/chat-2026/bronnen/H2/2.2%20Elasticiteit%20%E2%80%93%20antwoorden.md</a:t>
            </a:r>
          </a:p>
          <a:p xmlns:a="http://schemas.openxmlformats.org/drawingml/2006/main">
            <a:r>
              <a:rPr sz="1400"/>
              <a:t>Startantwoorden alleen voor de docent: 1a (10−8)/8×100%=+25%; 1b (108−120)/120×100%=−10%. 2a −1&lt;−0,4&lt;0, prijsinelastisch. 2b Bij −2 is de procentuele reactie sterker dan bij −0,4. Gedrukte pagina 40 is fysieke PDF-pagina 42.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9db7e42f1dd448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9a6f6ec567e4f9b" /><Relationship Type="http://schemas.openxmlformats.org/officeDocument/2006/relationships/slideLayout" Target="/ppt/slideLayouts/slideLayout1.xml" Id="R3d3f137d6a864c5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d3f137d6a864c5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1e86e0dc1c864274" /><Relationship Type="http://schemas.openxmlformats.org/officeDocument/2006/relationships/notesSlide" Target="/ppt/notesSlides/notesSlide1.xml" Id="Re81294954cbf45da"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06fcad092b9b4333" /><Relationship Type="http://schemas.openxmlformats.org/officeDocument/2006/relationships/notesSlide" Target="/ppt/notesSlides/notesSlide2.xml" Id="R7bb512d1450e4d77"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04722b1994c24fe3" /><Relationship Type="http://schemas.openxmlformats.org/officeDocument/2006/relationships/notesSlide" Target="/ppt/notesSlides/notesSlide3.xml" Id="R0c2894c00baf4725"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a2b2553c30024aea" /><Relationship Type="http://schemas.openxmlformats.org/officeDocument/2006/relationships/notesSlide" Target="/ppt/notesSlides/notesSlide4.xml" Id="R83fccbf9da154b76"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0927387f5bde4ef8" /><Relationship Type="http://schemas.openxmlformats.org/officeDocument/2006/relationships/notesSlide" Target="/ppt/notesSlides/notesSlide5.xml" Id="R6c69bdb2c56a4b37"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2917b54db1bc4977" /><Relationship Type="http://schemas.openxmlformats.org/officeDocument/2006/relationships/notesSlide" Target="/ppt/notesSlides/notesSlide6.xml" Id="Re8fb93bdcc3f42d3"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8cdbc7316a514f66" /><Relationship Type="http://schemas.openxmlformats.org/officeDocument/2006/relationships/notesSlide" Target="/ppt/notesSlides/notesSlide7.xml" Id="R30afd42940434e9b"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ef0b9a1f672e4358" /><Relationship Type="http://schemas.openxmlformats.org/officeDocument/2006/relationships/notesSlide" Target="/ppt/notesSlides/notesSlide8.xml" Id="R6f0378f407db4561"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66a76636a4464998" /><Relationship Type="http://schemas.openxmlformats.org/officeDocument/2006/relationships/notesSlide" Target="/ppt/notesSlides/notesSlide9.xml" Id="R7e3a818a4fdb40d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e7ea3b50000c4a3d" /><Relationship Type="http://schemas.openxmlformats.org/officeDocument/2006/relationships/notesSlide" Target="/ppt/notesSlides/notesSlide10.xml" Id="R9a1e3a88da9e4f1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ac983684858c4852" /><Relationship Type="http://schemas.openxmlformats.org/officeDocument/2006/relationships/notesSlide" Target="/ppt/notesSlides/notesSlide11.xml" Id="R1ee35a001a424bf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52d154926ad842d0" /><Relationship Type="http://schemas.openxmlformats.org/officeDocument/2006/relationships/notesSlide" Target="/ppt/notesSlides/notesSlide12.xml" Id="Rbe38966ace364ee1"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221ab39e6a3048d5" /><Relationship Type="http://schemas.openxmlformats.org/officeDocument/2006/relationships/notesSlide" Target="/ppt/notesSlides/notesSlide13.xml" Id="R67a7a57a7cdb48a7"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2d9c8503ff874140" /><Relationship Type="http://schemas.openxmlformats.org/officeDocument/2006/relationships/notesSlide" Target="/ppt/notesSlides/notesSlide14.xml" Id="R7c165013cde84fc1"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86d0663f5bfe4676" /><Relationship Type="http://schemas.openxmlformats.org/officeDocument/2006/relationships/notesSlide" Target="/ppt/notesSlides/notesSlide15.xml" Id="R3843e4f854104e41"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babfe770273c4d2d" /><Relationship Type="http://schemas.openxmlformats.org/officeDocument/2006/relationships/notesSlide" Target="/ppt/notesSlides/notesSlide16.xml" Id="R75bd3b7daa5e451c"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b09838b01c5c45a1" /><Relationship Type="http://schemas.openxmlformats.org/officeDocument/2006/relationships/notesSlide" Target="/ppt/notesSlides/notesSlide17.xml" Id="R6b94377bc31e4e9d"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61e28353508d4e5c" /><Relationship Type="http://schemas.openxmlformats.org/officeDocument/2006/relationships/notesSlide" Target="/ppt/notesSlides/notesSlide18.xml" Id="R9eaa1870fd234bca"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28a73226609e4d31" /><Relationship Type="http://schemas.openxmlformats.org/officeDocument/2006/relationships/notesSlide" Target="/ppt/notesSlides/notesSlide19.xml" Id="R479ab8c7a2bd4f13"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6337be5bf30849bd" /><Relationship Type="http://schemas.openxmlformats.org/officeDocument/2006/relationships/notesSlide" Target="/ppt/notesSlides/notesSlide20.xml" Id="R40f5694928b443ac"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f9b916aeece647cd" /><Relationship Type="http://schemas.openxmlformats.org/officeDocument/2006/relationships/notesSlide" Target="/ppt/notesSlides/notesSlide21.xml" Id="R869f2a11aea549b2"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b9c9b79b8dbd4ef8" /><Relationship Type="http://schemas.openxmlformats.org/officeDocument/2006/relationships/notesSlide" Target="/ppt/notesSlides/notesSlide22.xml" Id="R69712f2e3be94e34"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Deze les: §2.2.1 Prijselasticiteit">
            <a:extLst xmlns:a="http://schemas.openxmlformats.org/drawingml/2006/main">
              <a:ext uri="{FF2B5EF4-FFF2-40B4-BE49-F238E27FC236}">
                <a16:creationId xmlns:a16="http://schemas.microsoft.com/office/drawing/2014/main" id="{7C9C393F-3C2A-474D-AE4E-E82D7B7E5984}"/>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83247"/>
                </a:solidFill>
                <a:latin typeface="Arial"/>
                <a:ea typeface="Arial"/>
                <a:cs typeface="Arial"/>
              </a:defRPr>
            </a:pPr>
            <a:r>
              <a:rPr sz="3600" b="1">
                <a:solidFill>
                  <a:srgbClr val="183247"/>
                </a:solidFill>
                <a:latin typeface="Arial"/>
                <a:ea typeface="Arial"/>
                <a:cs typeface="Arial"/>
              </a:rPr>
              <a:t>Deze les: §2.2.1 Prijselasticiteit</a:t>
            </a:r>
          </a:p>
        </p:txBody>
      </p:sp>
      <p:sp>
        <p:nvSpPr>
          <p:cNvPr id="2" name="">
            <a:extLst xmlns:a="http://schemas.openxmlformats.org/drawingml/2006/main">
              <a:ext uri="{FF2B5EF4-FFF2-40B4-BE49-F238E27FC236}">
                <a16:creationId xmlns:a16="http://schemas.microsoft.com/office/drawing/2014/main" id="{F133DEFE-B51A-4CD5-9020-BAB4F782FE0A}"/>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1 Prijselasticiteit">
            <a:extLst xmlns:a="http://schemas.openxmlformats.org/drawingml/2006/main">
              <a:ext uri="{FF2B5EF4-FFF2-40B4-BE49-F238E27FC236}">
                <a16:creationId xmlns:a16="http://schemas.microsoft.com/office/drawing/2014/main" id="{4683B9EE-4A72-4F52-8655-5E419F1AB548}"/>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§2.2.1 Prijselasticiteit</a:t>
            </a:r>
          </a:p>
        </p:txBody>
      </p:sp>
      <p:sp>
        <p:nvSpPr>
          <p:cNvPr id="4" name="1">
            <a:extLst xmlns:a="http://schemas.openxmlformats.org/drawingml/2006/main">
              <a:ext uri="{FF2B5EF4-FFF2-40B4-BE49-F238E27FC236}">
                <a16:creationId xmlns:a16="http://schemas.microsoft.com/office/drawing/2014/main" id="{28069C6E-CA81-49EE-B849-C688C5935419}"/>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a:t>
            </a:r>
          </a:p>
        </p:txBody>
      </p:sp>
      <p:sp>
        <p:nvSpPr>
          <p:cNvPr id="5" name="phase">
            <a:extLst xmlns:a="http://schemas.openxmlformats.org/drawingml/2006/main">
              <a:ext uri="{FF2B5EF4-FFF2-40B4-BE49-F238E27FC236}">
                <a16:creationId xmlns:a16="http://schemas.microsoft.com/office/drawing/2014/main" id="{DDA659A6-9607-48ED-B6E9-4973A682501C}"/>
              </a:ext>
            </a:extLst>
          </p:cNvPr>
          <p:cNvSpPr>
            <a:spLocks xmlns:a="http://schemas.openxmlformats.org/drawingml/2006/main" noGrp="1"/>
          </p:cNvSpPr>
          <p:nvPr/>
        </p:nvSpPr>
        <p:spPr>
          <a:xfrm xmlns:a="http://schemas.openxmlformats.org/drawingml/2006/main">
            <a:off x="571500" y="1066800"/>
            <a:ext cx="13811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Nu: Startopdracht</a:t>
            </a:r>
          </a:p>
        </p:txBody>
      </p:sp>
      <p:sp>
        <p:nvSpPr>
          <p:cNvPr id="6" name="Lesroute">
            <a:extLst xmlns:a="http://schemas.openxmlformats.org/drawingml/2006/main">
              <a:ext uri="{FF2B5EF4-FFF2-40B4-BE49-F238E27FC236}">
                <a16:creationId xmlns:a16="http://schemas.microsoft.com/office/drawing/2014/main" id="{E29F2DEB-B6DF-4468-94D8-051D010CB212}"/>
              </a:ext>
            </a:extLst>
          </p:cNvPr>
          <p:cNvSpPr>
            <a:spLocks xmlns:a="http://schemas.openxmlformats.org/drawingml/2006/main" noGrp="1"/>
          </p:cNvSpPr>
          <p:nvPr/>
        </p:nvSpPr>
        <p:spPr>
          <a:xfrm xmlns:a="http://schemas.openxmlformats.org/drawingml/2006/main">
            <a:off x="571500" y="1762125"/>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1">
            <a:extLst xmlns:a="http://schemas.openxmlformats.org/drawingml/2006/main">
              <a:ext uri="{FF2B5EF4-FFF2-40B4-BE49-F238E27FC236}">
                <a16:creationId xmlns:a16="http://schemas.microsoft.com/office/drawing/2014/main" id="{365B6F6F-2DA3-4AA5-BACD-4C65EA13F4F8}"/>
              </a:ext>
            </a:extLst>
          </p:cNvPr>
          <p:cNvSpPr>
            <a:spLocks xmlns:a="http://schemas.openxmlformats.org/drawingml/2006/main" noGrp="1"/>
          </p:cNvSpPr>
          <p:nvPr/>
        </p:nvSpPr>
        <p:spPr>
          <a:xfrm xmlns:a="http://schemas.openxmlformats.org/drawingml/2006/main">
            <a:off x="571500" y="2324100"/>
            <a:ext cx="457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1">
            <a:extLst xmlns:a="http://schemas.openxmlformats.org/drawingml/2006/main">
              <a:ext uri="{FF2B5EF4-FFF2-40B4-BE49-F238E27FC236}">
                <a16:creationId xmlns:a16="http://schemas.microsoft.com/office/drawing/2014/main" id="{DAD41E55-EF13-4FE6-A4D3-20CE43D819DE}"/>
              </a:ext>
            </a:extLst>
          </p:cNvPr>
          <p:cNvSpPr>
            <a:spLocks xmlns:a="http://schemas.openxmlformats.org/drawingml/2006/main" noGrp="1"/>
          </p:cNvSpPr>
          <p:nvPr/>
        </p:nvSpPr>
        <p:spPr>
          <a:xfrm xmlns:a="http://schemas.openxmlformats.org/drawingml/2006/main">
            <a:off x="1104900" y="2324100"/>
            <a:ext cx="74199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9" name="route-number-2">
            <a:extLst xmlns:a="http://schemas.openxmlformats.org/drawingml/2006/main">
              <a:ext uri="{FF2B5EF4-FFF2-40B4-BE49-F238E27FC236}">
                <a16:creationId xmlns:a16="http://schemas.microsoft.com/office/drawing/2014/main" id="{6366028F-7EED-407E-9FEF-127264B5AA3D}"/>
              </a:ext>
            </a:extLst>
          </p:cNvPr>
          <p:cNvSpPr>
            <a:spLocks xmlns:a="http://schemas.openxmlformats.org/drawingml/2006/main" noGrp="1"/>
          </p:cNvSpPr>
          <p:nvPr/>
        </p:nvSpPr>
        <p:spPr>
          <a:xfrm xmlns:a="http://schemas.openxmlformats.org/drawingml/2006/main">
            <a:off x="571500" y="320040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2.</a:t>
            </a:r>
          </a:p>
        </p:txBody>
      </p:sp>
      <p:sp>
        <p:nvSpPr>
          <p:cNvPr id="10" name="route-2">
            <a:extLst xmlns:a="http://schemas.openxmlformats.org/drawingml/2006/main">
              <a:ext uri="{FF2B5EF4-FFF2-40B4-BE49-F238E27FC236}">
                <a16:creationId xmlns:a16="http://schemas.microsoft.com/office/drawing/2014/main" id="{88A2C252-FDA0-42E8-910C-635B911DED8B}"/>
              </a:ext>
            </a:extLst>
          </p:cNvPr>
          <p:cNvSpPr>
            <a:spLocks xmlns:a="http://schemas.openxmlformats.org/drawingml/2006/main" noGrp="1"/>
          </p:cNvSpPr>
          <p:nvPr/>
        </p:nvSpPr>
        <p:spPr>
          <a:xfrm xmlns:a="http://schemas.openxmlformats.org/drawingml/2006/main">
            <a:off x="1104900" y="320040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Maak de startopdracht.</a:t>
            </a:r>
          </a:p>
        </p:txBody>
      </p:sp>
      <p:sp>
        <p:nvSpPr>
          <p:cNvPr id="11" name="route-number-3">
            <a:extLst xmlns:a="http://schemas.openxmlformats.org/drawingml/2006/main">
              <a:ext uri="{FF2B5EF4-FFF2-40B4-BE49-F238E27FC236}">
                <a16:creationId xmlns:a16="http://schemas.microsoft.com/office/drawing/2014/main" id="{977A4F63-A3B9-4B29-B0EF-AD7CE002D492}"/>
              </a:ext>
            </a:extLst>
          </p:cNvPr>
          <p:cNvSpPr>
            <a:spLocks xmlns:a="http://schemas.openxmlformats.org/drawingml/2006/main" noGrp="1"/>
          </p:cNvSpPr>
          <p:nvPr/>
        </p:nvSpPr>
        <p:spPr>
          <a:xfrm xmlns:a="http://schemas.openxmlformats.org/drawingml/2006/main">
            <a:off x="571500" y="371475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3">
            <a:extLst xmlns:a="http://schemas.openxmlformats.org/drawingml/2006/main">
              <a:ext uri="{FF2B5EF4-FFF2-40B4-BE49-F238E27FC236}">
                <a16:creationId xmlns:a16="http://schemas.microsoft.com/office/drawing/2014/main" id="{91D3B985-2C36-4811-B37C-47BD32FA31E8}"/>
              </a:ext>
            </a:extLst>
          </p:cNvPr>
          <p:cNvSpPr>
            <a:spLocks xmlns:a="http://schemas.openxmlformats.org/drawingml/2006/main" noGrp="1"/>
          </p:cNvSpPr>
          <p:nvPr/>
        </p:nvSpPr>
        <p:spPr>
          <a:xfrm xmlns:a="http://schemas.openxmlformats.org/drawingml/2006/main">
            <a:off x="1104900" y="371475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Uitleg bij de lesdoelen.</a:t>
            </a:r>
          </a:p>
        </p:txBody>
      </p:sp>
      <p:sp>
        <p:nvSpPr>
          <p:cNvPr id="13" name="route-number-4">
            <a:extLst xmlns:a="http://schemas.openxmlformats.org/drawingml/2006/main">
              <a:ext uri="{FF2B5EF4-FFF2-40B4-BE49-F238E27FC236}">
                <a16:creationId xmlns:a16="http://schemas.microsoft.com/office/drawing/2014/main" id="{5A33CE0D-E485-440B-BAD2-5D3498EF29C8}"/>
              </a:ext>
            </a:extLst>
          </p:cNvPr>
          <p:cNvSpPr>
            <a:spLocks xmlns:a="http://schemas.openxmlformats.org/drawingml/2006/main" noGrp="1"/>
          </p:cNvSpPr>
          <p:nvPr/>
        </p:nvSpPr>
        <p:spPr>
          <a:xfrm xmlns:a="http://schemas.openxmlformats.org/drawingml/2006/main">
            <a:off x="571500" y="4248150"/>
            <a:ext cx="4572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4.</a:t>
            </a:r>
          </a:p>
        </p:txBody>
      </p:sp>
      <p:sp>
        <p:nvSpPr>
          <p:cNvPr id="14" name="route-4">
            <a:extLst xmlns:a="http://schemas.openxmlformats.org/drawingml/2006/main">
              <a:ext uri="{FF2B5EF4-FFF2-40B4-BE49-F238E27FC236}">
                <a16:creationId xmlns:a16="http://schemas.microsoft.com/office/drawing/2014/main" id="{9A55C4DB-CC34-469B-8141-53C6AF19B272}"/>
              </a:ext>
            </a:extLst>
          </p:cNvPr>
          <p:cNvSpPr>
            <a:spLocks xmlns:a="http://schemas.openxmlformats.org/drawingml/2006/main" noGrp="1"/>
          </p:cNvSpPr>
          <p:nvPr/>
        </p:nvSpPr>
        <p:spPr>
          <a:xfrm xmlns:a="http://schemas.openxmlformats.org/drawingml/2006/main">
            <a:off x="1104900" y="4248150"/>
            <a:ext cx="7419975"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Begin bij de basisopgaven en stel vragen. Lukt dat goed, ga dan naar de zelfstandige oefening. Maak daarna de doelopgave en kijk vervolgens je antwoorden na.</a:t>
            </a:r>
          </a:p>
        </p:txBody>
      </p:sp>
      <p:sp>
        <p:nvSpPr>
          <p:cNvPr id="15" name="route-number-5">
            <a:extLst xmlns:a="http://schemas.openxmlformats.org/drawingml/2006/main">
              <a:ext uri="{FF2B5EF4-FFF2-40B4-BE49-F238E27FC236}">
                <a16:creationId xmlns:a16="http://schemas.microsoft.com/office/drawing/2014/main" id="{19DDA11A-FF2E-4ADE-9876-CFF74EF68F7B}"/>
              </a:ext>
            </a:extLst>
          </p:cNvPr>
          <p:cNvSpPr>
            <a:spLocks xmlns:a="http://schemas.openxmlformats.org/drawingml/2006/main" noGrp="1"/>
          </p:cNvSpPr>
          <p:nvPr/>
        </p:nvSpPr>
        <p:spPr>
          <a:xfrm xmlns:a="http://schemas.openxmlformats.org/drawingml/2006/main">
            <a:off x="571500" y="6057900"/>
            <a:ext cx="457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5">
            <a:extLst xmlns:a="http://schemas.openxmlformats.org/drawingml/2006/main">
              <a:ext uri="{FF2B5EF4-FFF2-40B4-BE49-F238E27FC236}">
                <a16:creationId xmlns:a16="http://schemas.microsoft.com/office/drawing/2014/main" id="{029314C2-6157-41C4-8D94-4C773A93D2A9}"/>
              </a:ext>
            </a:extLst>
          </p:cNvPr>
          <p:cNvSpPr>
            <a:spLocks xmlns:a="http://schemas.openxmlformats.org/drawingml/2006/main" noGrp="1"/>
          </p:cNvSpPr>
          <p:nvPr/>
        </p:nvSpPr>
        <p:spPr>
          <a:xfrm xmlns:a="http://schemas.openxmlformats.org/drawingml/2006/main">
            <a:off x="1104900" y="6057900"/>
            <a:ext cx="74199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6">
            <a:extLst xmlns:a="http://schemas.openxmlformats.org/drawingml/2006/main">
              <a:ext uri="{FF2B5EF4-FFF2-40B4-BE49-F238E27FC236}">
                <a16:creationId xmlns:a16="http://schemas.microsoft.com/office/drawing/2014/main" id="{DEF1F052-7935-43E8-9316-D5721FBB634E}"/>
              </a:ext>
            </a:extLst>
          </p:cNvPr>
          <p:cNvSpPr>
            <a:spLocks xmlns:a="http://schemas.openxmlformats.org/drawingml/2006/main" noGrp="1"/>
          </p:cNvSpPr>
          <p:nvPr/>
        </p:nvSpPr>
        <p:spPr>
          <a:xfrm xmlns:a="http://schemas.openxmlformats.org/drawingml/2006/main">
            <a:off x="571500" y="6819900"/>
            <a:ext cx="457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6">
            <a:extLst xmlns:a="http://schemas.openxmlformats.org/drawingml/2006/main">
              <a:ext uri="{FF2B5EF4-FFF2-40B4-BE49-F238E27FC236}">
                <a16:creationId xmlns:a16="http://schemas.microsoft.com/office/drawing/2014/main" id="{39F068CB-1E48-4DD2-BA4F-E2831052A9D5}"/>
              </a:ext>
            </a:extLst>
          </p:cNvPr>
          <p:cNvSpPr>
            <a:spLocks xmlns:a="http://schemas.openxmlformats.org/drawingml/2006/main" noGrp="1"/>
          </p:cNvSpPr>
          <p:nvPr/>
        </p:nvSpPr>
        <p:spPr>
          <a:xfrm xmlns:a="http://schemas.openxmlformats.org/drawingml/2006/main">
            <a:off x="1104900" y="6819900"/>
            <a:ext cx="74199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7.</a:t>
            </a:r>
          </a:p>
        </p:txBody>
      </p:sp>
      <p:sp>
        <p:nvSpPr>
          <p:cNvPr id="19" name="route-number-7">
            <a:extLst xmlns:a="http://schemas.openxmlformats.org/drawingml/2006/main">
              <a:ext uri="{FF2B5EF4-FFF2-40B4-BE49-F238E27FC236}">
                <a16:creationId xmlns:a16="http://schemas.microsoft.com/office/drawing/2014/main" id="{55812ED6-170E-4E9E-AA37-7A66C1055D85}"/>
              </a:ext>
            </a:extLst>
          </p:cNvPr>
          <p:cNvSpPr>
            <a:spLocks xmlns:a="http://schemas.openxmlformats.org/drawingml/2006/main" noGrp="1"/>
          </p:cNvSpPr>
          <p:nvPr/>
        </p:nvSpPr>
        <p:spPr>
          <a:xfrm xmlns:a="http://schemas.openxmlformats.org/drawingml/2006/main">
            <a:off x="571500" y="7372350"/>
            <a:ext cx="45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7.</a:t>
            </a:r>
          </a:p>
        </p:txBody>
      </p:sp>
      <p:sp>
        <p:nvSpPr>
          <p:cNvPr id="20" name="route-7">
            <a:extLst xmlns:a="http://schemas.openxmlformats.org/drawingml/2006/main">
              <a:ext uri="{FF2B5EF4-FFF2-40B4-BE49-F238E27FC236}">
                <a16:creationId xmlns:a16="http://schemas.microsoft.com/office/drawing/2014/main" id="{E50EF0F5-5599-411A-8A0A-270F6C798DBA}"/>
              </a:ext>
            </a:extLst>
          </p:cNvPr>
          <p:cNvSpPr>
            <a:spLocks xmlns:a="http://schemas.openxmlformats.org/drawingml/2006/main" noGrp="1"/>
          </p:cNvSpPr>
          <p:nvPr/>
        </p:nvSpPr>
        <p:spPr>
          <a:xfrm xmlns:a="http://schemas.openxmlformats.org/drawingml/2006/main">
            <a:off x="1104900" y="7372350"/>
            <a:ext cx="74199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892A0B43-029D-4F82-BEF2-6318281EED3B}"/>
              </a:ext>
            </a:extLst>
          </p:cNvPr>
          <p:cNvSpPr>
            <a:spLocks xmlns:a="http://schemas.openxmlformats.org/drawingml/2006/main" noGrp="1"/>
          </p:cNvSpPr>
          <p:nvPr/>
        </p:nvSpPr>
        <p:spPr>
          <a:xfrm xmlns:a="http://schemas.openxmlformats.org/drawingml/2006/main">
            <a:off x="9258300" y="176212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6323D10E-6139-44EF-9003-E8D2FCC972B8}"/>
              </a:ext>
            </a:extLst>
          </p:cNvPr>
          <p:cNvSpPr>
            <a:spLocks xmlns:a="http://schemas.openxmlformats.org/drawingml/2006/main" noGrp="1"/>
          </p:cNvSpPr>
          <p:nvPr/>
        </p:nvSpPr>
        <p:spPr>
          <a:xfrm xmlns:a="http://schemas.openxmlformats.org/drawingml/2006/main">
            <a:off x="9258300" y="2324100"/>
            <a:ext cx="5381625"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Procenten en Ev berekenen.</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Vraag indelen en vergelijken.</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Een mogelijke reden uitleggen.</a:t>
            </a:r>
          </a:p>
        </p:txBody>
      </p:sp>
      <p:sp>
        <p:nvSpPr>
          <p:cNvPr id="23" name="">
            <a:extLst xmlns:a="http://schemas.openxmlformats.org/drawingml/2006/main">
              <a:ext uri="{FF2B5EF4-FFF2-40B4-BE49-F238E27FC236}">
                <a16:creationId xmlns:a16="http://schemas.microsoft.com/office/drawing/2014/main" id="{BA817807-A4A3-4528-BFDC-22BDE2BE7E06}"/>
              </a:ext>
            </a:extLst>
          </p:cNvPr>
          <p:cNvSpPr>
            <a:spLocks xmlns:a="http://schemas.openxmlformats.org/drawingml/2006/main" noGrp="1"/>
          </p:cNvSpPr>
          <p:nvPr/>
        </p:nvSpPr>
        <p:spPr>
          <a:xfrm xmlns:a="http://schemas.openxmlformats.org/drawingml/2006/main">
            <a:off x="9258300" y="3562350"/>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CAE68825-E36B-439C-A4CD-3507FBC47827}"/>
              </a:ext>
            </a:extLst>
          </p:cNvPr>
          <p:cNvSpPr>
            <a:spLocks xmlns:a="http://schemas.openxmlformats.org/drawingml/2006/main" noGrp="1"/>
          </p:cNvSpPr>
          <p:nvPr/>
        </p:nvSpPr>
        <p:spPr>
          <a:xfrm xmlns:a="http://schemas.openxmlformats.org/drawingml/2006/main">
            <a:off x="9258300" y="383857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880A53EA-6E89-40F2-92A7-9255C1B4B073}"/>
              </a:ext>
            </a:extLst>
          </p:cNvPr>
          <p:cNvSpPr>
            <a:spLocks xmlns:a="http://schemas.openxmlformats.org/drawingml/2006/main" noGrp="1"/>
          </p:cNvSpPr>
          <p:nvPr/>
        </p:nvSpPr>
        <p:spPr>
          <a:xfrm xmlns:a="http://schemas.openxmlformats.org/drawingml/2006/main">
            <a:off x="9258300" y="4371975"/>
            <a:ext cx="5381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1">
                <a:solidFill>
                  <a:srgbClr val="183247"/>
                </a:solidFill>
                <a:latin typeface="Arial"/>
                <a:ea typeface="Arial"/>
                <a:cs typeface="Arial"/>
              </a:defRPr>
            </a:pPr>
            <a:r>
              <a:rPr sz="2475" b="1">
                <a:solidFill>
                  <a:srgbClr val="183247"/>
                </a:solidFill>
                <a:latin typeface="Arial"/>
                <a:ea typeface="Arial"/>
                <a:cs typeface="Arial"/>
              </a:rPr>
              <a:t>Pagina 40</a:t>
            </a:r>
          </a:p>
          <a:p xmlns:a="http://schemas.openxmlformats.org/drawingml/2006/main">
            <a:pPr algn="l">
              <a:defRPr sz="2475" b="1">
                <a:solidFill>
                  <a:srgbClr val="183247"/>
                </a:solidFill>
                <a:latin typeface="Arial"/>
                <a:ea typeface="Arial"/>
                <a:cs typeface="Arial"/>
              </a:defRPr>
            </a:pPr>
            <a:r>
              <a:rPr sz="2475" b="1">
                <a:solidFill>
                  <a:srgbClr val="183247"/>
                </a:solidFill>
                <a:latin typeface="Arial"/>
                <a:ea typeface="Arial"/>
                <a:cs typeface="Arial"/>
              </a:rPr>
              <a:t>Opgaven 1 en 2</a:t>
            </a:r>
          </a:p>
        </p:txBody>
      </p:sp>
      <p:sp>
        <p:nvSpPr>
          <p:cNvPr id="26" name="">
            <a:extLst xmlns:a="http://schemas.openxmlformats.org/drawingml/2006/main">
              <a:ext uri="{FF2B5EF4-FFF2-40B4-BE49-F238E27FC236}">
                <a16:creationId xmlns:a16="http://schemas.microsoft.com/office/drawing/2014/main" id="{8A799711-1AD1-4157-BB3A-E380553E1424}"/>
              </a:ext>
            </a:extLst>
          </p:cNvPr>
          <p:cNvSpPr>
            <a:spLocks xmlns:a="http://schemas.openxmlformats.org/drawingml/2006/main" noGrp="1"/>
          </p:cNvSpPr>
          <p:nvPr/>
        </p:nvSpPr>
        <p:spPr>
          <a:xfrm xmlns:a="http://schemas.openxmlformats.org/drawingml/2006/main">
            <a:off x="9258300" y="5429250"/>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8E658FAF-9583-4477-B582-0AB8E52C2133}"/>
              </a:ext>
            </a:extLst>
          </p:cNvPr>
          <p:cNvSpPr>
            <a:spLocks xmlns:a="http://schemas.openxmlformats.org/drawingml/2006/main" noGrp="1"/>
          </p:cNvSpPr>
          <p:nvPr/>
        </p:nvSpPr>
        <p:spPr>
          <a:xfrm xmlns:a="http://schemas.openxmlformats.org/drawingml/2006/main">
            <a:off x="9258300" y="5695950"/>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ABFFC0E8-92D0-4E60-A906-99C6C9F354B5}"/>
              </a:ext>
            </a:extLst>
          </p:cNvPr>
          <p:cNvSpPr>
            <a:spLocks xmlns:a="http://schemas.openxmlformats.org/drawingml/2006/main" noGrp="1"/>
          </p:cNvSpPr>
          <p:nvPr/>
        </p:nvSpPr>
        <p:spPr>
          <a:xfrm xmlns:a="http://schemas.openxmlformats.org/drawingml/2006/main">
            <a:off x="9258300" y="6229350"/>
            <a:ext cx="5381625"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§2.2.1 Prijselasticiteit</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Basis: 3 en 4</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Zelfstandig: 5 en 6</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Doelopgave: 7</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Maken en nakijken</a:t>
            </a:r>
          </a:p>
        </p:txBody>
      </p:sp>
    </p:spTree>
    <p:extLst>
      <p:ext uri="{BB962C8B-B14F-4D97-AF65-F5344CB8AC3E}">
        <p14:creationId xmlns:p14="http://schemas.microsoft.com/office/powerpoint/2010/main" val="1439997405"/>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Wat kun je na deze les?">
            <a:extLst xmlns:a="http://schemas.openxmlformats.org/drawingml/2006/main">
              <a:ext uri="{FF2B5EF4-FFF2-40B4-BE49-F238E27FC236}">
                <a16:creationId xmlns:a16="http://schemas.microsoft.com/office/drawing/2014/main" id="{3208870E-2F6C-4472-B865-3B6C3EFF601C}"/>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Wat kun je na deze les?</a:t>
            </a:r>
          </a:p>
        </p:txBody>
      </p:sp>
      <p:sp>
        <p:nvSpPr>
          <p:cNvPr id="2" name="">
            <a:extLst xmlns:a="http://schemas.openxmlformats.org/drawingml/2006/main">
              <a:ext uri="{FF2B5EF4-FFF2-40B4-BE49-F238E27FC236}">
                <a16:creationId xmlns:a16="http://schemas.microsoft.com/office/drawing/2014/main" id="{344752B2-297B-4BAE-9F43-67DC107C803A}"/>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1 Prijselasticiteit">
            <a:extLst xmlns:a="http://schemas.openxmlformats.org/drawingml/2006/main">
              <a:ext uri="{FF2B5EF4-FFF2-40B4-BE49-F238E27FC236}">
                <a16:creationId xmlns:a16="http://schemas.microsoft.com/office/drawing/2014/main" id="{C6B1F28D-1024-4D22-8BE2-779CE3799DF0}"/>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§2.2.1 Prijselasticiteit</a:t>
            </a:r>
          </a:p>
        </p:txBody>
      </p:sp>
      <p:sp>
        <p:nvSpPr>
          <p:cNvPr id="4" name="2">
            <a:extLst xmlns:a="http://schemas.openxmlformats.org/drawingml/2006/main">
              <a:ext uri="{FF2B5EF4-FFF2-40B4-BE49-F238E27FC236}">
                <a16:creationId xmlns:a16="http://schemas.microsoft.com/office/drawing/2014/main" id="{3A14F6B5-A545-450B-AEBA-77DB4FB842AF}"/>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a:t>
            </a:r>
          </a:p>
        </p:txBody>
      </p:sp>
      <p:sp>
        <p:nvSpPr>
          <p:cNvPr id="5" name="Berekenen">
            <a:extLst xmlns:a="http://schemas.openxmlformats.org/drawingml/2006/main">
              <a:ext uri="{FF2B5EF4-FFF2-40B4-BE49-F238E27FC236}">
                <a16:creationId xmlns:a16="http://schemas.microsoft.com/office/drawing/2014/main" id="{C572BEE4-555C-41BD-B391-D40085CDEA14}"/>
              </a:ext>
            </a:extLst>
          </p:cNvPr>
          <p:cNvSpPr>
            <a:spLocks xmlns:a="http://schemas.openxmlformats.org/drawingml/2006/main" noGrp="1"/>
          </p:cNvSpPr>
          <p:nvPr/>
        </p:nvSpPr>
        <p:spPr>
          <a:xfrm xmlns:a="http://schemas.openxmlformats.org/drawingml/2006/main">
            <a:off x="571500" y="1952625"/>
            <a:ext cx="5715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17658A"/>
                </a:solidFill>
                <a:latin typeface="Arial"/>
                <a:ea typeface="Arial"/>
                <a:cs typeface="Arial"/>
              </a:defRPr>
            </a:pPr>
            <a:r>
              <a:rPr sz="2775" b="1">
                <a:solidFill>
                  <a:srgbClr val="17658A"/>
                </a:solidFill>
                <a:latin typeface="Arial"/>
                <a:ea typeface="Arial"/>
                <a:cs typeface="Arial"/>
              </a:rPr>
              <a:t>Berekenen</a:t>
            </a:r>
          </a:p>
        </p:txBody>
      </p:sp>
      <p:sp>
        <p:nvSpPr>
          <p:cNvPr id="6" name="Je gebruikt oude waarden voor %ΔP en %ΔQv.&#10;Daarna bereken je">
            <a:extLst xmlns:a="http://schemas.openxmlformats.org/drawingml/2006/main">
              <a:ext uri="{FF2B5EF4-FFF2-40B4-BE49-F238E27FC236}">
                <a16:creationId xmlns:a16="http://schemas.microsoft.com/office/drawing/2014/main" id="{CE9853A5-2AB8-4634-896E-AB212EECC878}"/>
              </a:ext>
            </a:extLst>
          </p:cNvPr>
          <p:cNvSpPr>
            <a:spLocks xmlns:a="http://schemas.openxmlformats.org/drawingml/2006/main" noGrp="1"/>
          </p:cNvSpPr>
          <p:nvPr/>
        </p:nvSpPr>
        <p:spPr>
          <a:xfrm xmlns:a="http://schemas.openxmlformats.org/drawingml/2006/main">
            <a:off x="6619875" y="1952625"/>
            <a:ext cx="8001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Je gebruikt oude waarden voor %ΔP en %ΔQv.</a:t>
            </a:r>
          </a:p>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Daarna bereken je Ev.</a:t>
            </a:r>
          </a:p>
        </p:txBody>
      </p:sp>
      <p:sp>
        <p:nvSpPr>
          <p:cNvPr id="7" name="">
            <a:extLst xmlns:a="http://schemas.openxmlformats.org/drawingml/2006/main">
              <a:ext uri="{FF2B5EF4-FFF2-40B4-BE49-F238E27FC236}">
                <a16:creationId xmlns:a16="http://schemas.microsoft.com/office/drawing/2014/main" id="{9796B867-5BDB-4F16-992B-DD387524D392}"/>
              </a:ext>
            </a:extLst>
          </p:cNvPr>
          <p:cNvSpPr>
            <a:spLocks xmlns:a="http://schemas.openxmlformats.org/drawingml/2006/main" noGrp="1"/>
          </p:cNvSpPr>
          <p:nvPr/>
        </p:nvSpPr>
        <p:spPr>
          <a:xfrm xmlns:a="http://schemas.openxmlformats.org/drawingml/2006/main">
            <a:off x="571500" y="3152775"/>
            <a:ext cx="14097000" cy="0"/>
          </a:xfrm>
          <a:prstGeom xmlns:a="http://schemas.openxmlformats.org/drawingml/2006/main" prst="line">
            <a:avLst/>
          </a:prstGeom>
          <a:ln xmlns:a="http://schemas.openxmlformats.org/drawingml/2006/main" w="19050">
            <a:solidFill>
              <a:srgbClr val="C6D2DB"/>
            </a:solidFill>
          </a:ln>
        </p:spPr>
      </p:sp>
      <p:sp>
        <p:nvSpPr>
          <p:cNvPr id="8" name="Indelen en uitleggen">
            <a:extLst xmlns:a="http://schemas.openxmlformats.org/drawingml/2006/main">
              <a:ext uri="{FF2B5EF4-FFF2-40B4-BE49-F238E27FC236}">
                <a16:creationId xmlns:a16="http://schemas.microsoft.com/office/drawing/2014/main" id="{D6722420-81BB-49BA-9009-A061B76C36D0}"/>
              </a:ext>
            </a:extLst>
          </p:cNvPr>
          <p:cNvSpPr>
            <a:spLocks xmlns:a="http://schemas.openxmlformats.org/drawingml/2006/main" noGrp="1"/>
          </p:cNvSpPr>
          <p:nvPr/>
        </p:nvSpPr>
        <p:spPr>
          <a:xfrm xmlns:a="http://schemas.openxmlformats.org/drawingml/2006/main">
            <a:off x="571500" y="3390900"/>
            <a:ext cx="5715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17658A"/>
                </a:solidFill>
                <a:latin typeface="Arial"/>
                <a:ea typeface="Arial"/>
                <a:cs typeface="Arial"/>
              </a:defRPr>
            </a:pPr>
            <a:r>
              <a:rPr sz="2775" b="1">
                <a:solidFill>
                  <a:srgbClr val="17658A"/>
                </a:solidFill>
                <a:latin typeface="Arial"/>
                <a:ea typeface="Arial"/>
                <a:cs typeface="Arial"/>
              </a:rPr>
              <a:t>Indelen en uitleggen</a:t>
            </a:r>
          </a:p>
        </p:txBody>
      </p:sp>
      <p:sp>
        <p:nvSpPr>
          <p:cNvPr id="9" name="Je vergelijkt Ev mét teken met −1 en 0.">
            <a:extLst xmlns:a="http://schemas.openxmlformats.org/drawingml/2006/main">
              <a:ext uri="{FF2B5EF4-FFF2-40B4-BE49-F238E27FC236}">
                <a16:creationId xmlns:a16="http://schemas.microsoft.com/office/drawing/2014/main" id="{361A225E-729E-4FED-B735-1509AD911DA2}"/>
              </a:ext>
            </a:extLst>
          </p:cNvPr>
          <p:cNvSpPr>
            <a:spLocks xmlns:a="http://schemas.openxmlformats.org/drawingml/2006/main" noGrp="1"/>
          </p:cNvSpPr>
          <p:nvPr/>
        </p:nvSpPr>
        <p:spPr>
          <a:xfrm xmlns:a="http://schemas.openxmlformats.org/drawingml/2006/main">
            <a:off x="6619875" y="3390900"/>
            <a:ext cx="8001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Je vergelijkt Ev mét teken met −1 en 0.</a:t>
            </a:r>
          </a:p>
        </p:txBody>
      </p:sp>
      <p:sp>
        <p:nvSpPr>
          <p:cNvPr id="10" name="">
            <a:extLst xmlns:a="http://schemas.openxmlformats.org/drawingml/2006/main">
              <a:ext uri="{FF2B5EF4-FFF2-40B4-BE49-F238E27FC236}">
                <a16:creationId xmlns:a16="http://schemas.microsoft.com/office/drawing/2014/main" id="{18AC4992-B283-4955-B860-97AE429B7813}"/>
              </a:ext>
            </a:extLst>
          </p:cNvPr>
          <p:cNvSpPr>
            <a:spLocks xmlns:a="http://schemas.openxmlformats.org/drawingml/2006/main" noGrp="1"/>
          </p:cNvSpPr>
          <p:nvPr/>
        </p:nvSpPr>
        <p:spPr>
          <a:xfrm xmlns:a="http://schemas.openxmlformats.org/drawingml/2006/main">
            <a:off x="571500" y="4591050"/>
            <a:ext cx="14097000" cy="0"/>
          </a:xfrm>
          <a:prstGeom xmlns:a="http://schemas.openxmlformats.org/drawingml/2006/main" prst="line">
            <a:avLst/>
          </a:prstGeom>
          <a:ln xmlns:a="http://schemas.openxmlformats.org/drawingml/2006/main" w="19050">
            <a:solidFill>
              <a:srgbClr val="C6D2DB"/>
            </a:solidFill>
          </a:ln>
        </p:spPr>
      </p:sp>
      <p:sp>
        <p:nvSpPr>
          <p:cNvPr id="11" name="Prijsgevoeligheid vergelijken">
            <a:extLst xmlns:a="http://schemas.openxmlformats.org/drawingml/2006/main">
              <a:ext uri="{FF2B5EF4-FFF2-40B4-BE49-F238E27FC236}">
                <a16:creationId xmlns:a16="http://schemas.microsoft.com/office/drawing/2014/main" id="{4FFD2CBC-3D90-4D07-80B3-D416C47B1F73}"/>
              </a:ext>
            </a:extLst>
          </p:cNvPr>
          <p:cNvSpPr>
            <a:spLocks xmlns:a="http://schemas.openxmlformats.org/drawingml/2006/main" noGrp="1"/>
          </p:cNvSpPr>
          <p:nvPr/>
        </p:nvSpPr>
        <p:spPr>
          <a:xfrm xmlns:a="http://schemas.openxmlformats.org/drawingml/2006/main">
            <a:off x="571500" y="4829175"/>
            <a:ext cx="5715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17658A"/>
                </a:solidFill>
                <a:latin typeface="Arial"/>
                <a:ea typeface="Arial"/>
                <a:cs typeface="Arial"/>
              </a:defRPr>
            </a:pPr>
            <a:r>
              <a:rPr sz="2775" b="1">
                <a:solidFill>
                  <a:srgbClr val="17658A"/>
                </a:solidFill>
                <a:latin typeface="Arial"/>
                <a:ea typeface="Arial"/>
                <a:cs typeface="Arial"/>
              </a:rPr>
              <a:t>Prijsgevoeligheid vergelijken</a:t>
            </a:r>
          </a:p>
        </p:txBody>
      </p:sp>
      <p:sp>
        <p:nvSpPr>
          <p:cNvPr id="12" name="Je legt uit waar Qv procentueel sterker reageert.">
            <a:extLst xmlns:a="http://schemas.openxmlformats.org/drawingml/2006/main">
              <a:ext uri="{FF2B5EF4-FFF2-40B4-BE49-F238E27FC236}">
                <a16:creationId xmlns:a16="http://schemas.microsoft.com/office/drawing/2014/main" id="{AEFE923C-E57B-42F5-8C0D-B0BAA6C5A15F}"/>
              </a:ext>
            </a:extLst>
          </p:cNvPr>
          <p:cNvSpPr>
            <a:spLocks xmlns:a="http://schemas.openxmlformats.org/drawingml/2006/main" noGrp="1"/>
          </p:cNvSpPr>
          <p:nvPr/>
        </p:nvSpPr>
        <p:spPr>
          <a:xfrm xmlns:a="http://schemas.openxmlformats.org/drawingml/2006/main">
            <a:off x="6619875" y="4829175"/>
            <a:ext cx="8001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Je legt uit waar Qv procentueel sterker reageert.</a:t>
            </a:r>
          </a:p>
        </p:txBody>
      </p:sp>
      <p:sp>
        <p:nvSpPr>
          <p:cNvPr id="13" name="">
            <a:extLst xmlns:a="http://schemas.openxmlformats.org/drawingml/2006/main">
              <a:ext uri="{FF2B5EF4-FFF2-40B4-BE49-F238E27FC236}">
                <a16:creationId xmlns:a16="http://schemas.microsoft.com/office/drawing/2014/main" id="{B96C096A-9D1D-404E-9609-624FE863BB99}"/>
              </a:ext>
            </a:extLst>
          </p:cNvPr>
          <p:cNvSpPr>
            <a:spLocks xmlns:a="http://schemas.openxmlformats.org/drawingml/2006/main" noGrp="1"/>
          </p:cNvSpPr>
          <p:nvPr/>
        </p:nvSpPr>
        <p:spPr>
          <a:xfrm xmlns:a="http://schemas.openxmlformats.org/drawingml/2006/main">
            <a:off x="571500" y="6029325"/>
            <a:ext cx="14097000" cy="0"/>
          </a:xfrm>
          <a:prstGeom xmlns:a="http://schemas.openxmlformats.org/drawingml/2006/main" prst="line">
            <a:avLst/>
          </a:prstGeom>
          <a:ln xmlns:a="http://schemas.openxmlformats.org/drawingml/2006/main" w="19050">
            <a:solidFill>
              <a:srgbClr val="C6D2DB"/>
            </a:solidFill>
          </a:ln>
        </p:spPr>
      </p:sp>
      <p:sp>
        <p:nvSpPr>
          <p:cNvPr id="14" name="Een verklaring beoordelen">
            <a:extLst xmlns:a="http://schemas.openxmlformats.org/drawingml/2006/main">
              <a:ext uri="{FF2B5EF4-FFF2-40B4-BE49-F238E27FC236}">
                <a16:creationId xmlns:a16="http://schemas.microsoft.com/office/drawing/2014/main" id="{9B5D4B8B-57C8-4639-B5F3-3E1A8AB0EBCD}"/>
              </a:ext>
            </a:extLst>
          </p:cNvPr>
          <p:cNvSpPr>
            <a:spLocks xmlns:a="http://schemas.openxmlformats.org/drawingml/2006/main" noGrp="1"/>
          </p:cNvSpPr>
          <p:nvPr/>
        </p:nvSpPr>
        <p:spPr>
          <a:xfrm xmlns:a="http://schemas.openxmlformats.org/drawingml/2006/main">
            <a:off x="571500" y="6267450"/>
            <a:ext cx="5715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17658A"/>
                </a:solidFill>
                <a:latin typeface="Arial"/>
                <a:ea typeface="Arial"/>
                <a:cs typeface="Arial"/>
              </a:defRPr>
            </a:pPr>
            <a:r>
              <a:rPr sz="2775" b="1">
                <a:solidFill>
                  <a:srgbClr val="17658A"/>
                </a:solidFill>
                <a:latin typeface="Arial"/>
                <a:ea typeface="Arial"/>
                <a:cs typeface="Arial"/>
              </a:rPr>
              <a:t>Een verklaring beoordelen</a:t>
            </a:r>
          </a:p>
        </p:txBody>
      </p:sp>
      <p:sp>
        <p:nvSpPr>
          <p:cNvPr id="15" name="Je onderscheidt een mogelijke reden van een bewezen oorzaak.">
            <a:extLst xmlns:a="http://schemas.openxmlformats.org/drawingml/2006/main">
              <a:ext uri="{FF2B5EF4-FFF2-40B4-BE49-F238E27FC236}">
                <a16:creationId xmlns:a16="http://schemas.microsoft.com/office/drawing/2014/main" id="{1B751717-B961-48E8-94A1-054E412FF15C}"/>
              </a:ext>
            </a:extLst>
          </p:cNvPr>
          <p:cNvSpPr>
            <a:spLocks xmlns:a="http://schemas.openxmlformats.org/drawingml/2006/main" noGrp="1"/>
          </p:cNvSpPr>
          <p:nvPr/>
        </p:nvSpPr>
        <p:spPr>
          <a:xfrm xmlns:a="http://schemas.openxmlformats.org/drawingml/2006/main">
            <a:off x="6619875" y="6267450"/>
            <a:ext cx="8001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Je onderscheidt een mogelijke reden van een bewezen oorzaak.</a:t>
            </a:r>
          </a:p>
        </p:txBody>
      </p:sp>
    </p:spTree>
    <p:extLst>
      <p:ext uri="{BB962C8B-B14F-4D97-AF65-F5344CB8AC3E}">
        <p14:creationId xmlns:p14="http://schemas.microsoft.com/office/powerpoint/2010/main" val="71880418"/>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Een prijswijziging bij KleiKamer">
            <a:extLst xmlns:a="http://schemas.openxmlformats.org/drawingml/2006/main">
              <a:ext uri="{FF2B5EF4-FFF2-40B4-BE49-F238E27FC236}">
                <a16:creationId xmlns:a16="http://schemas.microsoft.com/office/drawing/2014/main" id="{2191ED2E-FAB1-4518-9FA1-A372349893B9}"/>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Een prijswijziging bij KleiKamer</a:t>
            </a:r>
          </a:p>
        </p:txBody>
      </p:sp>
      <p:sp>
        <p:nvSpPr>
          <p:cNvPr id="2" name="">
            <a:extLst xmlns:a="http://schemas.openxmlformats.org/drawingml/2006/main">
              <a:ext uri="{FF2B5EF4-FFF2-40B4-BE49-F238E27FC236}">
                <a16:creationId xmlns:a16="http://schemas.microsoft.com/office/drawing/2014/main" id="{5D0B9B95-7004-41A6-B312-2DBC898BE716}"/>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1 Prijselasticiteit">
            <a:extLst xmlns:a="http://schemas.openxmlformats.org/drawingml/2006/main">
              <a:ext uri="{FF2B5EF4-FFF2-40B4-BE49-F238E27FC236}">
                <a16:creationId xmlns:a16="http://schemas.microsoft.com/office/drawing/2014/main" id="{E8F822C2-057B-4BB1-B0BF-36BDCF0A3CD5}"/>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§2.2.1 Prijselasticiteit</a:t>
            </a:r>
          </a:p>
        </p:txBody>
      </p:sp>
      <p:sp>
        <p:nvSpPr>
          <p:cNvPr id="4" name="3">
            <a:extLst xmlns:a="http://schemas.openxmlformats.org/drawingml/2006/main">
              <a:ext uri="{FF2B5EF4-FFF2-40B4-BE49-F238E27FC236}">
                <a16:creationId xmlns:a16="http://schemas.microsoft.com/office/drawing/2014/main" id="{50BE465D-BE22-4E1E-8D1A-7A9A754F37E0}"/>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3</a:t>
            </a:r>
          </a:p>
        </p:txBody>
      </p:sp>
      <p:sp>
        <p:nvSpPr>
          <p:cNvPr id="5" name="Uitlegvoorbeeld — niet uit het boek">
            <a:extLst xmlns:a="http://schemas.openxmlformats.org/drawingml/2006/main">
              <a:ext uri="{FF2B5EF4-FFF2-40B4-BE49-F238E27FC236}">
                <a16:creationId xmlns:a16="http://schemas.microsoft.com/office/drawing/2014/main" id="{EFE06CF7-CC40-4C4D-909E-39C24F25A7C2}"/>
              </a:ext>
            </a:extLst>
          </p:cNvPr>
          <p:cNvSpPr>
            <a:spLocks xmlns:a="http://schemas.openxmlformats.org/drawingml/2006/main" noGrp="1"/>
          </p:cNvSpPr>
          <p:nvPr/>
        </p:nvSpPr>
        <p:spPr>
          <a:xfrm xmlns:a="http://schemas.openxmlformats.org/drawingml/2006/main">
            <a:off x="571500" y="1704975"/>
            <a:ext cx="14097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445B6B"/>
                </a:solidFill>
                <a:latin typeface="Arial"/>
                <a:ea typeface="Arial"/>
                <a:cs typeface="Arial"/>
              </a:defRPr>
            </a:pPr>
            <a:r>
              <a:rPr sz="2100" b="0">
                <a:solidFill>
                  <a:srgbClr val="445B6B"/>
                </a:solidFill>
                <a:latin typeface="Arial"/>
                <a:ea typeface="Arial"/>
                <a:cs typeface="Arial"/>
              </a:rPr>
              <a:t>Uitlegvoorbeeld — niet uit het boek</a:t>
            </a:r>
          </a:p>
        </p:txBody>
      </p:sp>
      <p:sp>
        <p:nvSpPr>
          <p:cNvPr id="6" name="Bezoeken aan een keramiekatelier">
            <a:extLst xmlns:a="http://schemas.openxmlformats.org/drawingml/2006/main">
              <a:ext uri="{FF2B5EF4-FFF2-40B4-BE49-F238E27FC236}">
                <a16:creationId xmlns:a16="http://schemas.microsoft.com/office/drawing/2014/main" id="{63225C59-982D-4D1B-A806-B23F0C7C2D22}"/>
              </a:ext>
            </a:extLst>
          </p:cNvPr>
          <p:cNvSpPr>
            <a:spLocks xmlns:a="http://schemas.openxmlformats.org/drawingml/2006/main" noGrp="1"/>
          </p:cNvSpPr>
          <p:nvPr/>
        </p:nvSpPr>
        <p:spPr>
          <a:xfrm xmlns:a="http://schemas.openxmlformats.org/drawingml/2006/main">
            <a:off x="571500" y="2438400"/>
            <a:ext cx="14097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Bezoeken aan een keramiekatelier</a:t>
            </a:r>
          </a:p>
        </p:txBody>
      </p:sp>
      <p:graphicFrame>
        <p:nvGraphicFramePr>
          <p:cNvPr id="15" name=""/>
          <p:cNvGraphicFramePr/>
          <p:nvPr/>
        </p:nvGraphicFramePr>
        <p:xfrm>
          <a:off xmlns:a="http://schemas.openxmlformats.org/drawingml/2006/main" x="571500" y="3381375"/>
          <a:ext xmlns:a="http://schemas.openxmlformats.org/drawingml/2006/main" cx="14097000" cy="2819400"/>
        </p:xfrm>
        <a:graphic xmlns:a="http://schemas.openxmlformats.org/drawingml/2006/main">
          <a:graphicData uri="http://schemas.openxmlformats.org/drawingml/2006/table">
            <a:tbl>
              <a:tblPr/>
              <a:tblGrid>
                <a:gridCol w="7048500"/>
                <a:gridCol w="3524250"/>
                <a:gridCol w="3524250"/>
              </a:tblGrid>
              <a:tr h="939800">
                <a:tc>
                  <a:txBody>
                    <a:bodyPr lIns="171450" tIns="95250" rIns="152400" bIns="95250"/>
                    <a:lstStyle/>
                    <a:p>
                      <a:r>
                        <a:rPr sz="2700" b="1">
                          <a:solidFill>
                            <a:srgbClr val="FFFFFF"/>
                          </a:solidFill>
                          <a:latin typeface="Arial"/>
                          <a:ea typeface="Arial"/>
                          <a:cs typeface="Arial"/>
                        </a:rPr>
                        <a:t>Grootheid</a:t>
                      </a:r>
                    </a:p>
                  </a:txBody>
                  <a:tcPr marL="91440" marR="91440" marT="45720" marB="45720" anchor="ctr">
                    <a:solidFill>
                      <a:srgbClr val="183247"/>
                    </a:solidFill>
                  </a:tcPr>
                </a:tc>
                <a:tc>
                  <a:txBody>
                    <a:bodyPr lIns="171450" tIns="95250" rIns="152400" bIns="95250"/>
                    <a:lstStyle/>
                    <a:p>
                      <a:r>
                        <a:rPr sz="2700" b="1">
                          <a:solidFill>
                            <a:srgbClr val="FFFFFF"/>
                          </a:solidFill>
                          <a:latin typeface="Arial"/>
                          <a:ea typeface="Arial"/>
                          <a:cs typeface="Arial"/>
                        </a:rPr>
                        <a:t>Oud</a:t>
                      </a:r>
                    </a:p>
                  </a:txBody>
                  <a:tcPr marL="91440" marR="91440" marT="45720" marB="45720" anchor="ctr">
                    <a:solidFill>
                      <a:srgbClr val="183247"/>
                    </a:solidFill>
                  </a:tcPr>
                </a:tc>
                <a:tc>
                  <a:txBody>
                    <a:bodyPr lIns="171450" tIns="95250" rIns="152400" bIns="95250"/>
                    <a:lstStyle/>
                    <a:p>
                      <a:r>
                        <a:rPr sz="2700" b="1">
                          <a:solidFill>
                            <a:srgbClr val="FFFFFF"/>
                          </a:solidFill>
                          <a:latin typeface="Arial"/>
                          <a:ea typeface="Arial"/>
                          <a:cs typeface="Arial"/>
                        </a:rPr>
                        <a:t>Nieuw</a:t>
                      </a:r>
                    </a:p>
                  </a:txBody>
                  <a:tcPr marL="91440" marR="91440" marT="45720" marB="45720" anchor="ctr">
                    <a:solidFill>
                      <a:srgbClr val="183247"/>
                    </a:solidFill>
                  </a:tcPr>
                </a:tc>
              </a:tr>
              <a:tr h="939800">
                <a:tc>
                  <a:txBody>
                    <a:bodyPr lIns="171450" tIns="95250" rIns="152400" bIns="95250"/>
                    <a:lstStyle/>
                    <a:p>
                      <a:r>
                        <a:rPr sz="2700" b="0">
                          <a:solidFill>
                            <a:srgbClr val="183247"/>
                          </a:solidFill>
                          <a:latin typeface="Arial"/>
                          <a:ea typeface="Arial"/>
                          <a:cs typeface="Arial"/>
                        </a:rPr>
                        <a:t>P (€ per bezoek)</a:t>
                      </a:r>
                    </a:p>
                  </a:txBody>
                  <a:tcPr marL="91440" marR="91440" marT="45720" marB="45720" anchor="ctr">
                    <a:solidFill>
                      <a:srgbClr val="FFFFFF"/>
                    </a:solidFill>
                  </a:tcPr>
                </a:tc>
                <a:tc>
                  <a:txBody>
                    <a:bodyPr lIns="171450" tIns="95250" rIns="152400" bIns="95250"/>
                    <a:lstStyle/>
                    <a:p>
                      <a:r>
                        <a:rPr sz="2700" b="0">
                          <a:solidFill>
                            <a:srgbClr val="183247"/>
                          </a:solidFill>
                          <a:latin typeface="Arial"/>
                          <a:ea typeface="Arial"/>
                          <a:cs typeface="Arial"/>
                        </a:rPr>
                        <a:t>40</a:t>
                      </a:r>
                    </a:p>
                  </a:txBody>
                  <a:tcPr marL="91440" marR="91440" marT="45720" marB="45720" anchor="ctr">
                    <a:solidFill>
                      <a:srgbClr val="FFFFFF"/>
                    </a:solidFill>
                  </a:tcPr>
                </a:tc>
                <a:tc>
                  <a:txBody>
                    <a:bodyPr lIns="171450" tIns="95250" rIns="152400" bIns="95250"/>
                    <a:lstStyle/>
                    <a:p>
                      <a:r>
                        <a:rPr sz="2700" b="0">
                          <a:solidFill>
                            <a:srgbClr val="183247"/>
                          </a:solidFill>
                          <a:latin typeface="Arial"/>
                          <a:ea typeface="Arial"/>
                          <a:cs typeface="Arial"/>
                        </a:rPr>
                        <a:t>44</a:t>
                      </a:r>
                    </a:p>
                  </a:txBody>
                  <a:tcPr marL="91440" marR="91440" marT="45720" marB="45720" anchor="ctr">
                    <a:solidFill>
                      <a:srgbClr val="FFFFFF"/>
                    </a:solidFill>
                  </a:tcPr>
                </a:tc>
              </a:tr>
              <a:tr h="939800">
                <a:tc>
                  <a:txBody>
                    <a:bodyPr lIns="171450" tIns="95250" rIns="152400" bIns="95250"/>
                    <a:lstStyle/>
                    <a:p>
                      <a:r>
                        <a:rPr sz="2700" b="0">
                          <a:solidFill>
                            <a:srgbClr val="183247"/>
                          </a:solidFill>
                          <a:latin typeface="Arial"/>
                          <a:ea typeface="Arial"/>
                          <a:cs typeface="Arial"/>
                        </a:rPr>
                        <a:t>Qv (bezoeken per maand)</a:t>
                      </a:r>
                    </a:p>
                  </a:txBody>
                  <a:tcPr marL="91440" marR="91440" marT="45720" marB="45720" anchor="ctr">
                    <a:solidFill>
                      <a:srgbClr val="EFF4F7"/>
                    </a:solidFill>
                  </a:tcPr>
                </a:tc>
                <a:tc>
                  <a:txBody>
                    <a:bodyPr lIns="171450" tIns="95250" rIns="152400" bIns="95250"/>
                    <a:lstStyle/>
                    <a:p>
                      <a:r>
                        <a:rPr sz="2700" b="0">
                          <a:solidFill>
                            <a:srgbClr val="183247"/>
                          </a:solidFill>
                          <a:latin typeface="Arial"/>
                          <a:ea typeface="Arial"/>
                          <a:cs typeface="Arial"/>
                        </a:rPr>
                        <a:t>300</a:t>
                      </a:r>
                    </a:p>
                  </a:txBody>
                  <a:tcPr marL="91440" marR="91440" marT="45720" marB="45720" anchor="ctr">
                    <a:solidFill>
                      <a:srgbClr val="EFF4F7"/>
                    </a:solidFill>
                  </a:tcPr>
                </a:tc>
                <a:tc>
                  <a:txBody>
                    <a:bodyPr lIns="171450" tIns="95250" rIns="152400" bIns="95250"/>
                    <a:lstStyle/>
                    <a:p>
                      <a:r>
                        <a:rPr sz="2700" b="0">
                          <a:solidFill>
                            <a:srgbClr val="183247"/>
                          </a:solidFill>
                          <a:latin typeface="Arial"/>
                          <a:ea typeface="Arial"/>
                          <a:cs typeface="Arial"/>
                        </a:rPr>
                        <a:t>282</a:t>
                      </a:r>
                    </a:p>
                  </a:txBody>
                  <a:tcPr marL="91440" marR="91440" marT="45720" marB="45720" anchor="ctr">
                    <a:solidFill>
                      <a:srgbClr val="EFF4F7"/>
                    </a:solidFill>
                  </a:tcPr>
                </a:tc>
              </a:tr>
            </a:tbl>
          </a:graphicData>
        </a:graphic>
      </p:graphicFrame>
      <p:sp>
        <p:nvSpPr>
          <p:cNvPr id="8" name="Andere vraagfactoren blijven gelijk: ceteris paribus.">
            <a:extLst xmlns:a="http://schemas.openxmlformats.org/drawingml/2006/main">
              <a:ext uri="{FF2B5EF4-FFF2-40B4-BE49-F238E27FC236}">
                <a16:creationId xmlns:a16="http://schemas.microsoft.com/office/drawing/2014/main" id="{A6F47CEF-8E6F-4C67-8301-3BB8E2E8C483}"/>
              </a:ext>
            </a:extLst>
          </p:cNvPr>
          <p:cNvSpPr>
            <a:spLocks xmlns:a="http://schemas.openxmlformats.org/drawingml/2006/main" noGrp="1"/>
          </p:cNvSpPr>
          <p:nvPr/>
        </p:nvSpPr>
        <p:spPr>
          <a:xfrm xmlns:a="http://schemas.openxmlformats.org/drawingml/2006/main">
            <a:off x="571500" y="6838950"/>
            <a:ext cx="14097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83247"/>
                </a:solidFill>
                <a:latin typeface="Arial"/>
                <a:ea typeface="Arial"/>
                <a:cs typeface="Arial"/>
              </a:defRPr>
            </a:pPr>
            <a:r>
              <a:rPr sz="2925" b="1">
                <a:solidFill>
                  <a:srgbClr val="183247"/>
                </a:solidFill>
                <a:latin typeface="Arial"/>
                <a:ea typeface="Arial"/>
                <a:cs typeface="Arial"/>
              </a:rPr>
              <a:t>Andere vraagfactoren blijven gelijk: ceteris paribus.</a:t>
            </a:r>
          </a:p>
        </p:txBody>
      </p:sp>
    </p:spTree>
    <p:extLst>
      <p:ext uri="{BB962C8B-B14F-4D97-AF65-F5344CB8AC3E}">
        <p14:creationId xmlns:p14="http://schemas.microsoft.com/office/powerpoint/2010/main" val="1724497517"/>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De procentuele prijsverandering">
            <a:extLst xmlns:a="http://schemas.openxmlformats.org/drawingml/2006/main">
              <a:ext uri="{FF2B5EF4-FFF2-40B4-BE49-F238E27FC236}">
                <a16:creationId xmlns:a16="http://schemas.microsoft.com/office/drawing/2014/main" id="{E0403445-B84A-487F-9194-D7FF255E6429}"/>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De procentuele prijsverandering</a:t>
            </a:r>
          </a:p>
        </p:txBody>
      </p:sp>
      <p:sp>
        <p:nvSpPr>
          <p:cNvPr id="2" name="">
            <a:extLst xmlns:a="http://schemas.openxmlformats.org/drawingml/2006/main">
              <a:ext uri="{FF2B5EF4-FFF2-40B4-BE49-F238E27FC236}">
                <a16:creationId xmlns:a16="http://schemas.microsoft.com/office/drawing/2014/main" id="{7D10C4DE-9A7E-449D-A147-A5A50339DD79}"/>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1 Prijselasticiteit">
            <a:extLst xmlns:a="http://schemas.openxmlformats.org/drawingml/2006/main">
              <a:ext uri="{FF2B5EF4-FFF2-40B4-BE49-F238E27FC236}">
                <a16:creationId xmlns:a16="http://schemas.microsoft.com/office/drawing/2014/main" id="{F1456E32-9F36-4EEE-8E3C-74F4BDB9B393}"/>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§2.2.1 Prijselasticiteit</a:t>
            </a:r>
          </a:p>
        </p:txBody>
      </p:sp>
      <p:sp>
        <p:nvSpPr>
          <p:cNvPr id="4" name="4">
            <a:extLst xmlns:a="http://schemas.openxmlformats.org/drawingml/2006/main">
              <a:ext uri="{FF2B5EF4-FFF2-40B4-BE49-F238E27FC236}">
                <a16:creationId xmlns:a16="http://schemas.microsoft.com/office/drawing/2014/main" id="{819C1936-48D4-451D-A74A-4B1045F3BFCF}"/>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4</a:t>
            </a:r>
          </a:p>
        </p:txBody>
      </p:sp>
      <p:sp>
        <p:nvSpPr>
          <p:cNvPr id="5" name="Uitlegvoorbeeld — niet uit het boek">
            <a:extLst xmlns:a="http://schemas.openxmlformats.org/drawingml/2006/main">
              <a:ext uri="{FF2B5EF4-FFF2-40B4-BE49-F238E27FC236}">
                <a16:creationId xmlns:a16="http://schemas.microsoft.com/office/drawing/2014/main" id="{B9D11776-AF64-4088-805B-C1B673FBB492}"/>
              </a:ext>
            </a:extLst>
          </p:cNvPr>
          <p:cNvSpPr>
            <a:spLocks xmlns:a="http://schemas.openxmlformats.org/drawingml/2006/main" noGrp="1"/>
          </p:cNvSpPr>
          <p:nvPr/>
        </p:nvSpPr>
        <p:spPr>
          <a:xfrm xmlns:a="http://schemas.openxmlformats.org/drawingml/2006/main">
            <a:off x="571500" y="1704975"/>
            <a:ext cx="14097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445B6B"/>
                </a:solidFill>
                <a:latin typeface="Arial"/>
                <a:ea typeface="Arial"/>
                <a:cs typeface="Arial"/>
              </a:defRPr>
            </a:pPr>
            <a:r>
              <a:rPr sz="2100" b="0">
                <a:solidFill>
                  <a:srgbClr val="445B6B"/>
                </a:solidFill>
                <a:latin typeface="Arial"/>
                <a:ea typeface="Arial"/>
                <a:cs typeface="Arial"/>
              </a:rPr>
              <a:t>Uitlegvoorbeeld — niet uit het boek</a:t>
            </a:r>
          </a:p>
        </p:txBody>
      </p:sp>
      <p:sp>
        <p:nvSpPr>
          <p:cNvPr id="6" name="P: € 40 wordt € 44 per bezoek">
            <a:extLst xmlns:a="http://schemas.openxmlformats.org/drawingml/2006/main">
              <a:ext uri="{FF2B5EF4-FFF2-40B4-BE49-F238E27FC236}">
                <a16:creationId xmlns:a16="http://schemas.microsoft.com/office/drawing/2014/main" id="{08FDC0DA-412F-45D3-8D92-95781ACC4105}"/>
              </a:ext>
            </a:extLst>
          </p:cNvPr>
          <p:cNvSpPr>
            <a:spLocks xmlns:a="http://schemas.openxmlformats.org/drawingml/2006/main" noGrp="1"/>
          </p:cNvSpPr>
          <p:nvPr/>
        </p:nvSpPr>
        <p:spPr>
          <a:xfrm xmlns:a="http://schemas.openxmlformats.org/drawingml/2006/main">
            <a:off x="571500" y="2476500"/>
            <a:ext cx="14097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7658A"/>
                </a:solidFill>
                <a:latin typeface="Arial"/>
                <a:ea typeface="Arial"/>
                <a:cs typeface="Arial"/>
              </a:defRPr>
            </a:pPr>
            <a:r>
              <a:rPr sz="3300" b="1">
                <a:solidFill>
                  <a:srgbClr val="17658A"/>
                </a:solidFill>
                <a:latin typeface="Arial"/>
                <a:ea typeface="Arial"/>
                <a:cs typeface="Arial"/>
              </a:rPr>
              <a:t>P: € 40 wordt € 44 per bezoek</a:t>
            </a:r>
          </a:p>
        </p:txBody>
      </p:sp>
      <p:sp>
        <p:nvSpPr>
          <p:cNvPr id="7" name="%ΔP = (nieuw − oud) / oud × 100%">
            <a:extLst xmlns:a="http://schemas.openxmlformats.org/drawingml/2006/main">
              <a:ext uri="{FF2B5EF4-FFF2-40B4-BE49-F238E27FC236}">
                <a16:creationId xmlns:a16="http://schemas.microsoft.com/office/drawing/2014/main" id="{249C09B5-B27D-41E5-AF94-9D862009DA70}"/>
              </a:ext>
            </a:extLst>
          </p:cNvPr>
          <p:cNvSpPr>
            <a:spLocks xmlns:a="http://schemas.openxmlformats.org/drawingml/2006/main" noGrp="1"/>
          </p:cNvSpPr>
          <p:nvPr/>
        </p:nvSpPr>
        <p:spPr>
          <a:xfrm xmlns:a="http://schemas.openxmlformats.org/drawingml/2006/main">
            <a:off x="571500" y="3686175"/>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0">
                <a:solidFill>
                  <a:srgbClr val="183247"/>
                </a:solidFill>
                <a:latin typeface="Arial"/>
                <a:ea typeface="Arial"/>
                <a:cs typeface="Arial"/>
              </a:defRPr>
            </a:pPr>
            <a:r>
              <a:rPr sz="3375" b="0">
                <a:solidFill>
                  <a:srgbClr val="183247"/>
                </a:solidFill>
                <a:latin typeface="Arial"/>
                <a:ea typeface="Arial"/>
                <a:cs typeface="Arial"/>
              </a:rPr>
              <a:t>%ΔP = (nieuw − oud) / oud × 100%</a:t>
            </a:r>
          </a:p>
        </p:txBody>
      </p:sp>
      <p:sp>
        <p:nvSpPr>
          <p:cNvPr id="8" name="= (44 − 40) / 40 × 100%">
            <a:extLst xmlns:a="http://schemas.openxmlformats.org/drawingml/2006/main">
              <a:ext uri="{FF2B5EF4-FFF2-40B4-BE49-F238E27FC236}">
                <a16:creationId xmlns:a16="http://schemas.microsoft.com/office/drawing/2014/main" id="{B02F6C2E-C36C-48BC-A509-32637FB2FC49}"/>
              </a:ext>
            </a:extLst>
          </p:cNvPr>
          <p:cNvSpPr>
            <a:spLocks xmlns:a="http://schemas.openxmlformats.org/drawingml/2006/main" noGrp="1"/>
          </p:cNvSpPr>
          <p:nvPr/>
        </p:nvSpPr>
        <p:spPr>
          <a:xfrm xmlns:a="http://schemas.openxmlformats.org/drawingml/2006/main">
            <a:off x="571500" y="4686300"/>
            <a:ext cx="14097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0">
                <a:solidFill>
                  <a:srgbClr val="183247"/>
                </a:solidFill>
                <a:latin typeface="Arial"/>
                <a:ea typeface="Arial"/>
                <a:cs typeface="Arial"/>
              </a:defRPr>
            </a:pPr>
            <a:r>
              <a:rPr sz="3600" b="0">
                <a:solidFill>
                  <a:srgbClr val="183247"/>
                </a:solidFill>
                <a:latin typeface="Arial"/>
                <a:ea typeface="Arial"/>
                <a:cs typeface="Arial"/>
              </a:rPr>
              <a:t>= (44 − 40) / 40 × 100%</a:t>
            </a:r>
          </a:p>
        </p:txBody>
      </p:sp>
      <p:sp>
        <p:nvSpPr>
          <p:cNvPr id="9" name="= +10%">
            <a:extLst xmlns:a="http://schemas.openxmlformats.org/drawingml/2006/main">
              <a:ext uri="{FF2B5EF4-FFF2-40B4-BE49-F238E27FC236}">
                <a16:creationId xmlns:a16="http://schemas.microsoft.com/office/drawing/2014/main" id="{6EAB35EB-0A2A-479A-92C3-F7B4EC02C957}"/>
              </a:ext>
            </a:extLst>
          </p:cNvPr>
          <p:cNvSpPr>
            <a:spLocks xmlns:a="http://schemas.openxmlformats.org/drawingml/2006/main" noGrp="1"/>
          </p:cNvSpPr>
          <p:nvPr/>
        </p:nvSpPr>
        <p:spPr>
          <a:xfrm xmlns:a="http://schemas.openxmlformats.org/drawingml/2006/main">
            <a:off x="571500" y="5857875"/>
            <a:ext cx="14097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650" b="1">
                <a:solidFill>
                  <a:srgbClr val="17658A"/>
                </a:solidFill>
                <a:latin typeface="Arial"/>
                <a:ea typeface="Arial"/>
                <a:cs typeface="Arial"/>
              </a:defRPr>
            </a:pPr>
            <a:r>
              <a:rPr sz="4650" b="1">
                <a:solidFill>
                  <a:srgbClr val="17658A"/>
                </a:solidFill>
                <a:latin typeface="Arial"/>
                <a:ea typeface="Arial"/>
                <a:cs typeface="Arial"/>
              </a:rPr>
              <a:t>= +10%</a:t>
            </a:r>
          </a:p>
        </p:txBody>
      </p:sp>
      <p:sp>
        <p:nvSpPr>
          <p:cNvPr id="10" name="De € 4 stijging is 10% van de oude prijs.">
            <a:extLst xmlns:a="http://schemas.openxmlformats.org/drawingml/2006/main">
              <a:ext uri="{FF2B5EF4-FFF2-40B4-BE49-F238E27FC236}">
                <a16:creationId xmlns:a16="http://schemas.microsoft.com/office/drawing/2014/main" id="{2BAB08FB-6D40-4D54-BA41-0DB594A4528A}"/>
              </a:ext>
            </a:extLst>
          </p:cNvPr>
          <p:cNvSpPr>
            <a:spLocks xmlns:a="http://schemas.openxmlformats.org/drawingml/2006/main" noGrp="1"/>
          </p:cNvSpPr>
          <p:nvPr/>
        </p:nvSpPr>
        <p:spPr>
          <a:xfrm xmlns:a="http://schemas.openxmlformats.org/drawingml/2006/main">
            <a:off x="571500" y="7267575"/>
            <a:ext cx="14097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De € 4 stijging is 10% van de oude prijs.</a:t>
            </a:r>
          </a:p>
        </p:txBody>
      </p:sp>
    </p:spTree>
    <p:extLst>
      <p:ext uri="{BB962C8B-B14F-4D97-AF65-F5344CB8AC3E}">
        <p14:creationId xmlns:p14="http://schemas.microsoft.com/office/powerpoint/2010/main" val="186425218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De procentuele hoeveelheidsverandering">
            <a:extLst xmlns:a="http://schemas.openxmlformats.org/drawingml/2006/main">
              <a:ext uri="{FF2B5EF4-FFF2-40B4-BE49-F238E27FC236}">
                <a16:creationId xmlns:a16="http://schemas.microsoft.com/office/drawing/2014/main" id="{1C25E4C6-3D97-4EB7-9662-A4B2D45C41FD}"/>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De procentuele hoeveelheidsverandering</a:t>
            </a:r>
          </a:p>
        </p:txBody>
      </p:sp>
      <p:sp>
        <p:nvSpPr>
          <p:cNvPr id="2" name="">
            <a:extLst xmlns:a="http://schemas.openxmlformats.org/drawingml/2006/main">
              <a:ext uri="{FF2B5EF4-FFF2-40B4-BE49-F238E27FC236}">
                <a16:creationId xmlns:a16="http://schemas.microsoft.com/office/drawing/2014/main" id="{52BBAEEE-84B4-4954-AE8E-E90BBF2D38AB}"/>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1 Prijselasticiteit">
            <a:extLst xmlns:a="http://schemas.openxmlformats.org/drawingml/2006/main">
              <a:ext uri="{FF2B5EF4-FFF2-40B4-BE49-F238E27FC236}">
                <a16:creationId xmlns:a16="http://schemas.microsoft.com/office/drawing/2014/main" id="{5B691643-0289-4172-ADEE-70C35D19ADEC}"/>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§2.2.1 Prijselasticiteit</a:t>
            </a:r>
          </a:p>
        </p:txBody>
      </p:sp>
      <p:sp>
        <p:nvSpPr>
          <p:cNvPr id="4" name="5">
            <a:extLst xmlns:a="http://schemas.openxmlformats.org/drawingml/2006/main">
              <a:ext uri="{FF2B5EF4-FFF2-40B4-BE49-F238E27FC236}">
                <a16:creationId xmlns:a16="http://schemas.microsoft.com/office/drawing/2014/main" id="{320DE463-898C-473E-A904-6B9F8D443490}"/>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5</a:t>
            </a:r>
          </a:p>
        </p:txBody>
      </p:sp>
      <p:sp>
        <p:nvSpPr>
          <p:cNvPr id="5" name="Uitlegvoorbeeld — niet uit het boek">
            <a:extLst xmlns:a="http://schemas.openxmlformats.org/drawingml/2006/main">
              <a:ext uri="{FF2B5EF4-FFF2-40B4-BE49-F238E27FC236}">
                <a16:creationId xmlns:a16="http://schemas.microsoft.com/office/drawing/2014/main" id="{77F0D6CE-69E9-4E63-81DF-BF96D91A0163}"/>
              </a:ext>
            </a:extLst>
          </p:cNvPr>
          <p:cNvSpPr>
            <a:spLocks xmlns:a="http://schemas.openxmlformats.org/drawingml/2006/main" noGrp="1"/>
          </p:cNvSpPr>
          <p:nvPr/>
        </p:nvSpPr>
        <p:spPr>
          <a:xfrm xmlns:a="http://schemas.openxmlformats.org/drawingml/2006/main">
            <a:off x="571500" y="1704975"/>
            <a:ext cx="14097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445B6B"/>
                </a:solidFill>
                <a:latin typeface="Arial"/>
                <a:ea typeface="Arial"/>
                <a:cs typeface="Arial"/>
              </a:defRPr>
            </a:pPr>
            <a:r>
              <a:rPr sz="2100" b="0">
                <a:solidFill>
                  <a:srgbClr val="445B6B"/>
                </a:solidFill>
                <a:latin typeface="Arial"/>
                <a:ea typeface="Arial"/>
                <a:cs typeface="Arial"/>
              </a:rPr>
              <a:t>Uitlegvoorbeeld — niet uit het boek</a:t>
            </a:r>
          </a:p>
        </p:txBody>
      </p:sp>
      <p:sp>
        <p:nvSpPr>
          <p:cNvPr id="6" name="Qv: 300 wordt 282 bezoeken per maand">
            <a:extLst xmlns:a="http://schemas.openxmlformats.org/drawingml/2006/main">
              <a:ext uri="{FF2B5EF4-FFF2-40B4-BE49-F238E27FC236}">
                <a16:creationId xmlns:a16="http://schemas.microsoft.com/office/drawing/2014/main" id="{89344D25-7233-419A-A9CF-8F3739B5D1FC}"/>
              </a:ext>
            </a:extLst>
          </p:cNvPr>
          <p:cNvSpPr>
            <a:spLocks xmlns:a="http://schemas.openxmlformats.org/drawingml/2006/main" noGrp="1"/>
          </p:cNvSpPr>
          <p:nvPr/>
        </p:nvSpPr>
        <p:spPr>
          <a:xfrm xmlns:a="http://schemas.openxmlformats.org/drawingml/2006/main">
            <a:off x="571500" y="2476500"/>
            <a:ext cx="14097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20665B"/>
                </a:solidFill>
                <a:latin typeface="Arial"/>
                <a:ea typeface="Arial"/>
                <a:cs typeface="Arial"/>
              </a:defRPr>
            </a:pPr>
            <a:r>
              <a:rPr sz="3300" b="1">
                <a:solidFill>
                  <a:srgbClr val="20665B"/>
                </a:solidFill>
                <a:latin typeface="Arial"/>
                <a:ea typeface="Arial"/>
                <a:cs typeface="Arial"/>
              </a:rPr>
              <a:t>Qv: 300 wordt 282 bezoeken per maand</a:t>
            </a:r>
          </a:p>
        </p:txBody>
      </p:sp>
      <p:sp>
        <p:nvSpPr>
          <p:cNvPr id="7" name="%ΔQv = (nieuw − oud) / oud × 100%">
            <a:extLst xmlns:a="http://schemas.openxmlformats.org/drawingml/2006/main">
              <a:ext uri="{FF2B5EF4-FFF2-40B4-BE49-F238E27FC236}">
                <a16:creationId xmlns:a16="http://schemas.microsoft.com/office/drawing/2014/main" id="{46834528-BCDA-4D4E-AF5A-73AB460FC88C}"/>
              </a:ext>
            </a:extLst>
          </p:cNvPr>
          <p:cNvSpPr>
            <a:spLocks xmlns:a="http://schemas.openxmlformats.org/drawingml/2006/main" noGrp="1"/>
          </p:cNvSpPr>
          <p:nvPr/>
        </p:nvSpPr>
        <p:spPr>
          <a:xfrm xmlns:a="http://schemas.openxmlformats.org/drawingml/2006/main">
            <a:off x="571500" y="3686175"/>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0">
                <a:solidFill>
                  <a:srgbClr val="183247"/>
                </a:solidFill>
                <a:latin typeface="Arial"/>
                <a:ea typeface="Arial"/>
                <a:cs typeface="Arial"/>
              </a:defRPr>
            </a:pPr>
            <a:r>
              <a:rPr sz="3375" b="0">
                <a:solidFill>
                  <a:srgbClr val="183247"/>
                </a:solidFill>
                <a:latin typeface="Arial"/>
                <a:ea typeface="Arial"/>
                <a:cs typeface="Arial"/>
              </a:rPr>
              <a:t>%ΔQv = (nieuw − oud) / oud × 100%</a:t>
            </a:r>
          </a:p>
        </p:txBody>
      </p:sp>
      <p:sp>
        <p:nvSpPr>
          <p:cNvPr id="8" name="= (282 − 300) / 300 × 100%">
            <a:extLst xmlns:a="http://schemas.openxmlformats.org/drawingml/2006/main">
              <a:ext uri="{FF2B5EF4-FFF2-40B4-BE49-F238E27FC236}">
                <a16:creationId xmlns:a16="http://schemas.microsoft.com/office/drawing/2014/main" id="{67A017A2-553E-4B96-B728-CFC44817EF13}"/>
              </a:ext>
            </a:extLst>
          </p:cNvPr>
          <p:cNvSpPr>
            <a:spLocks xmlns:a="http://schemas.openxmlformats.org/drawingml/2006/main" noGrp="1"/>
          </p:cNvSpPr>
          <p:nvPr/>
        </p:nvSpPr>
        <p:spPr>
          <a:xfrm xmlns:a="http://schemas.openxmlformats.org/drawingml/2006/main">
            <a:off x="571500" y="4686300"/>
            <a:ext cx="14097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0">
                <a:solidFill>
                  <a:srgbClr val="183247"/>
                </a:solidFill>
                <a:latin typeface="Arial"/>
                <a:ea typeface="Arial"/>
                <a:cs typeface="Arial"/>
              </a:defRPr>
            </a:pPr>
            <a:r>
              <a:rPr sz="3600" b="0">
                <a:solidFill>
                  <a:srgbClr val="183247"/>
                </a:solidFill>
                <a:latin typeface="Arial"/>
                <a:ea typeface="Arial"/>
                <a:cs typeface="Arial"/>
              </a:rPr>
              <a:t>= (282 − 300) / 300 × 100%</a:t>
            </a:r>
          </a:p>
        </p:txBody>
      </p:sp>
      <p:sp>
        <p:nvSpPr>
          <p:cNvPr id="9" name="= −6%">
            <a:extLst xmlns:a="http://schemas.openxmlformats.org/drawingml/2006/main">
              <a:ext uri="{FF2B5EF4-FFF2-40B4-BE49-F238E27FC236}">
                <a16:creationId xmlns:a16="http://schemas.microsoft.com/office/drawing/2014/main" id="{DCC95652-77BE-4C57-AAC8-C8FE259A76DF}"/>
              </a:ext>
            </a:extLst>
          </p:cNvPr>
          <p:cNvSpPr>
            <a:spLocks xmlns:a="http://schemas.openxmlformats.org/drawingml/2006/main" noGrp="1"/>
          </p:cNvSpPr>
          <p:nvPr/>
        </p:nvSpPr>
        <p:spPr>
          <a:xfrm xmlns:a="http://schemas.openxmlformats.org/drawingml/2006/main">
            <a:off x="571500" y="5857875"/>
            <a:ext cx="14097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650" b="1">
                <a:solidFill>
                  <a:srgbClr val="20665B"/>
                </a:solidFill>
                <a:latin typeface="Arial"/>
                <a:ea typeface="Arial"/>
                <a:cs typeface="Arial"/>
              </a:defRPr>
            </a:pPr>
            <a:r>
              <a:rPr sz="4650" b="1">
                <a:solidFill>
                  <a:srgbClr val="20665B"/>
                </a:solidFill>
                <a:latin typeface="Arial"/>
                <a:ea typeface="Arial"/>
                <a:cs typeface="Arial"/>
              </a:rPr>
              <a:t>= −6%</a:t>
            </a:r>
          </a:p>
        </p:txBody>
      </p:sp>
      <p:sp>
        <p:nvSpPr>
          <p:cNvPr id="10" name="De 18 bezoeken minder zijn 6% van de oude hoeveelheid.">
            <a:extLst xmlns:a="http://schemas.openxmlformats.org/drawingml/2006/main">
              <a:ext uri="{FF2B5EF4-FFF2-40B4-BE49-F238E27FC236}">
                <a16:creationId xmlns:a16="http://schemas.microsoft.com/office/drawing/2014/main" id="{7356BDA8-A4E5-458F-BD61-6F3E7F12D764}"/>
              </a:ext>
            </a:extLst>
          </p:cNvPr>
          <p:cNvSpPr>
            <a:spLocks xmlns:a="http://schemas.openxmlformats.org/drawingml/2006/main" noGrp="1"/>
          </p:cNvSpPr>
          <p:nvPr/>
        </p:nvSpPr>
        <p:spPr>
          <a:xfrm xmlns:a="http://schemas.openxmlformats.org/drawingml/2006/main">
            <a:off x="571500" y="7267575"/>
            <a:ext cx="14097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De 18 bezoeken minder zijn 6% van de oude hoeveelheid.</a:t>
            </a:r>
          </a:p>
        </p:txBody>
      </p:sp>
    </p:spTree>
    <p:extLst>
      <p:ext uri="{BB962C8B-B14F-4D97-AF65-F5344CB8AC3E}">
        <p14:creationId xmlns:p14="http://schemas.microsoft.com/office/powerpoint/2010/main" val="1633974480"/>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Prijselasticiteit van de vraag">
            <a:extLst xmlns:a="http://schemas.openxmlformats.org/drawingml/2006/main">
              <a:ext uri="{FF2B5EF4-FFF2-40B4-BE49-F238E27FC236}">
                <a16:creationId xmlns:a16="http://schemas.microsoft.com/office/drawing/2014/main" id="{51EC5F20-4602-487B-93DF-C8F9847CF16B}"/>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Prijselasticiteit van de vraag</a:t>
            </a:r>
          </a:p>
        </p:txBody>
      </p:sp>
      <p:sp>
        <p:nvSpPr>
          <p:cNvPr id="2" name="">
            <a:extLst xmlns:a="http://schemas.openxmlformats.org/drawingml/2006/main">
              <a:ext uri="{FF2B5EF4-FFF2-40B4-BE49-F238E27FC236}">
                <a16:creationId xmlns:a16="http://schemas.microsoft.com/office/drawing/2014/main" id="{9537F625-4EA1-4306-8D64-C0223A0A89CE}"/>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1 Prijselasticiteit">
            <a:extLst xmlns:a="http://schemas.openxmlformats.org/drawingml/2006/main">
              <a:ext uri="{FF2B5EF4-FFF2-40B4-BE49-F238E27FC236}">
                <a16:creationId xmlns:a16="http://schemas.microsoft.com/office/drawing/2014/main" id="{2F817628-FFDD-4526-BB15-1D22423CC398}"/>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§2.2.1 Prijselasticiteit</a:t>
            </a:r>
          </a:p>
        </p:txBody>
      </p:sp>
      <p:sp>
        <p:nvSpPr>
          <p:cNvPr id="4" name="6">
            <a:extLst xmlns:a="http://schemas.openxmlformats.org/drawingml/2006/main">
              <a:ext uri="{FF2B5EF4-FFF2-40B4-BE49-F238E27FC236}">
                <a16:creationId xmlns:a16="http://schemas.microsoft.com/office/drawing/2014/main" id="{66CA6C99-E3AA-446A-9F46-465A4CBD343F}"/>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6</a:t>
            </a:r>
          </a:p>
        </p:txBody>
      </p:sp>
      <p:sp>
        <p:nvSpPr>
          <p:cNvPr id="5" name="Uitlegvoorbeeld — niet uit het boek">
            <a:extLst xmlns:a="http://schemas.openxmlformats.org/drawingml/2006/main">
              <a:ext uri="{FF2B5EF4-FFF2-40B4-BE49-F238E27FC236}">
                <a16:creationId xmlns:a16="http://schemas.microsoft.com/office/drawing/2014/main" id="{3707A0CB-837D-4DA4-8D5A-0EE6DFE7C387}"/>
              </a:ext>
            </a:extLst>
          </p:cNvPr>
          <p:cNvSpPr>
            <a:spLocks xmlns:a="http://schemas.openxmlformats.org/drawingml/2006/main" noGrp="1"/>
          </p:cNvSpPr>
          <p:nvPr/>
        </p:nvSpPr>
        <p:spPr>
          <a:xfrm xmlns:a="http://schemas.openxmlformats.org/drawingml/2006/main">
            <a:off x="571500" y="1704975"/>
            <a:ext cx="14097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445B6B"/>
                </a:solidFill>
                <a:latin typeface="Arial"/>
                <a:ea typeface="Arial"/>
                <a:cs typeface="Arial"/>
              </a:defRPr>
            </a:pPr>
            <a:r>
              <a:rPr sz="2100" b="0">
                <a:solidFill>
                  <a:srgbClr val="445B6B"/>
                </a:solidFill>
                <a:latin typeface="Arial"/>
                <a:ea typeface="Arial"/>
                <a:cs typeface="Arial"/>
              </a:rPr>
              <a:t>Uitlegvoorbeeld — niet uit het boek</a:t>
            </a:r>
          </a:p>
        </p:txBody>
      </p:sp>
      <p:sp>
        <p:nvSpPr>
          <p:cNvPr id="6" name="Ev = %ΔQv / %ΔP">
            <a:extLst xmlns:a="http://schemas.openxmlformats.org/drawingml/2006/main">
              <a:ext uri="{FF2B5EF4-FFF2-40B4-BE49-F238E27FC236}">
                <a16:creationId xmlns:a16="http://schemas.microsoft.com/office/drawing/2014/main" id="{9EBE5F3D-D28B-4E90-A6B5-2D5118E26805}"/>
              </a:ext>
            </a:extLst>
          </p:cNvPr>
          <p:cNvSpPr>
            <a:spLocks xmlns:a="http://schemas.openxmlformats.org/drawingml/2006/main" noGrp="1"/>
          </p:cNvSpPr>
          <p:nvPr/>
        </p:nvSpPr>
        <p:spPr>
          <a:xfrm xmlns:a="http://schemas.openxmlformats.org/drawingml/2006/main">
            <a:off x="571500" y="2571750"/>
            <a:ext cx="14097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350" b="1">
                <a:solidFill>
                  <a:srgbClr val="17658A"/>
                </a:solidFill>
                <a:latin typeface="Arial"/>
                <a:ea typeface="Arial"/>
                <a:cs typeface="Arial"/>
              </a:defRPr>
            </a:pPr>
            <a:r>
              <a:rPr sz="4350" b="1">
                <a:solidFill>
                  <a:srgbClr val="17658A"/>
                </a:solidFill>
                <a:latin typeface="Arial"/>
                <a:ea typeface="Arial"/>
                <a:cs typeface="Arial"/>
              </a:rPr>
              <a:t>Ev = %ΔQv / %ΔP</a:t>
            </a:r>
          </a:p>
        </p:txBody>
      </p:sp>
      <p:sp>
        <p:nvSpPr>
          <p:cNvPr id="7" name="Ev = −6% / +10% = −0,6">
            <a:extLst xmlns:a="http://schemas.openxmlformats.org/drawingml/2006/main">
              <a:ext uri="{FF2B5EF4-FFF2-40B4-BE49-F238E27FC236}">
                <a16:creationId xmlns:a16="http://schemas.microsoft.com/office/drawing/2014/main" id="{16552906-ACDB-4743-983C-ACEB82968BC9}"/>
              </a:ext>
            </a:extLst>
          </p:cNvPr>
          <p:cNvSpPr>
            <a:spLocks xmlns:a="http://schemas.openxmlformats.org/drawingml/2006/main" noGrp="1"/>
          </p:cNvSpPr>
          <p:nvPr/>
        </p:nvSpPr>
        <p:spPr>
          <a:xfrm xmlns:a="http://schemas.openxmlformats.org/drawingml/2006/main">
            <a:off x="571500" y="3848100"/>
            <a:ext cx="14097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275" b="1">
                <a:solidFill>
                  <a:srgbClr val="183247"/>
                </a:solidFill>
                <a:latin typeface="Arial"/>
                <a:ea typeface="Arial"/>
                <a:cs typeface="Arial"/>
              </a:defRPr>
            </a:pPr>
            <a:r>
              <a:rPr sz="4275" b="1">
                <a:solidFill>
                  <a:srgbClr val="183247"/>
                </a:solidFill>
                <a:latin typeface="Arial"/>
                <a:ea typeface="Arial"/>
                <a:cs typeface="Arial"/>
              </a:rPr>
              <a:t>Ev = −6% / +10% = −0,6</a:t>
            </a:r>
          </a:p>
        </p:txBody>
      </p:sp>
      <p:sp>
        <p:nvSpPr>
          <p:cNvPr id="8" name="">
            <a:extLst xmlns:a="http://schemas.openxmlformats.org/drawingml/2006/main">
              <a:ext uri="{FF2B5EF4-FFF2-40B4-BE49-F238E27FC236}">
                <a16:creationId xmlns:a16="http://schemas.microsoft.com/office/drawing/2014/main" id="{8A050920-B984-4C62-9C1D-B11C8C5B827F}"/>
              </a:ext>
            </a:extLst>
          </p:cNvPr>
          <p:cNvSpPr>
            <a:spLocks xmlns:a="http://schemas.openxmlformats.org/drawingml/2006/main" noGrp="1"/>
          </p:cNvSpPr>
          <p:nvPr/>
        </p:nvSpPr>
        <p:spPr>
          <a:xfrm xmlns:a="http://schemas.openxmlformats.org/drawingml/2006/main">
            <a:off x="571500" y="5210175"/>
            <a:ext cx="14097000" cy="0"/>
          </a:xfrm>
          <a:prstGeom xmlns:a="http://schemas.openxmlformats.org/drawingml/2006/main" prst="line">
            <a:avLst/>
          </a:prstGeom>
          <a:ln xmlns:a="http://schemas.openxmlformats.org/drawingml/2006/main" w="19050">
            <a:solidFill>
              <a:srgbClr val="C6D2DB"/>
            </a:solidFill>
          </a:ln>
        </p:spPr>
      </p:sp>
      <p:sp>
        <p:nvSpPr>
          <p:cNvPr id="9" name="De hoeveelheid daalt procentueel 0,6 maal zo sterk&#10;als de pr">
            <a:extLst xmlns:a="http://schemas.openxmlformats.org/drawingml/2006/main">
              <a:ext uri="{FF2B5EF4-FFF2-40B4-BE49-F238E27FC236}">
                <a16:creationId xmlns:a16="http://schemas.microsoft.com/office/drawing/2014/main" id="{CA7920D5-1DE7-44DD-B0C5-6287B31D06EF}"/>
              </a:ext>
            </a:extLst>
          </p:cNvPr>
          <p:cNvSpPr>
            <a:spLocks xmlns:a="http://schemas.openxmlformats.org/drawingml/2006/main" noGrp="1"/>
          </p:cNvSpPr>
          <p:nvPr/>
        </p:nvSpPr>
        <p:spPr>
          <a:xfrm xmlns:a="http://schemas.openxmlformats.org/drawingml/2006/main">
            <a:off x="571500" y="5695950"/>
            <a:ext cx="14097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20665B"/>
                </a:solidFill>
                <a:latin typeface="Arial"/>
                <a:ea typeface="Arial"/>
                <a:cs typeface="Arial"/>
              </a:defRPr>
            </a:pPr>
            <a:r>
              <a:rPr sz="3150" b="1">
                <a:solidFill>
                  <a:srgbClr val="20665B"/>
                </a:solidFill>
                <a:latin typeface="Arial"/>
                <a:ea typeface="Arial"/>
                <a:cs typeface="Arial"/>
              </a:rPr>
              <a:t>De hoeveelheid daalt procentueel 0,6 maal zo sterk</a:t>
            </a:r>
          </a:p>
          <a:p xmlns:a="http://schemas.openxmlformats.org/drawingml/2006/main">
            <a:pPr algn="l">
              <a:defRPr sz="3150" b="1">
                <a:solidFill>
                  <a:srgbClr val="20665B"/>
                </a:solidFill>
                <a:latin typeface="Arial"/>
                <a:ea typeface="Arial"/>
                <a:cs typeface="Arial"/>
              </a:defRPr>
            </a:pPr>
            <a:r>
              <a:rPr sz="3150" b="1">
                <a:solidFill>
                  <a:srgbClr val="20665B"/>
                </a:solidFill>
                <a:latin typeface="Arial"/>
                <a:ea typeface="Arial"/>
                <a:cs typeface="Arial"/>
              </a:rPr>
              <a:t>als de prijs stijgt.</a:t>
            </a:r>
          </a:p>
        </p:txBody>
      </p:sp>
      <p:sp>
        <p:nvSpPr>
          <p:cNvPr id="10" name="Ev heeft geen eenheid en geen procentteken.">
            <a:extLst xmlns:a="http://schemas.openxmlformats.org/drawingml/2006/main">
              <a:ext uri="{FF2B5EF4-FFF2-40B4-BE49-F238E27FC236}">
                <a16:creationId xmlns:a16="http://schemas.microsoft.com/office/drawing/2014/main" id="{55F46DB5-61DF-4A9C-9B9B-F6D97BD6F639}"/>
              </a:ext>
            </a:extLst>
          </p:cNvPr>
          <p:cNvSpPr>
            <a:spLocks xmlns:a="http://schemas.openxmlformats.org/drawingml/2006/main" noGrp="1"/>
          </p:cNvSpPr>
          <p:nvPr/>
        </p:nvSpPr>
        <p:spPr>
          <a:xfrm xmlns:a="http://schemas.openxmlformats.org/drawingml/2006/main">
            <a:off x="571500" y="7467600"/>
            <a:ext cx="1409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Ev heeft geen eenheid en geen procentteken.</a:t>
            </a:r>
          </a:p>
        </p:txBody>
      </p:sp>
    </p:spTree>
    <p:extLst>
      <p:ext uri="{BB962C8B-B14F-4D97-AF65-F5344CB8AC3E}">
        <p14:creationId xmlns:p14="http://schemas.microsoft.com/office/powerpoint/2010/main" val="157430263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De vraag indelen">
            <a:extLst xmlns:a="http://schemas.openxmlformats.org/drawingml/2006/main">
              <a:ext uri="{FF2B5EF4-FFF2-40B4-BE49-F238E27FC236}">
                <a16:creationId xmlns:a16="http://schemas.microsoft.com/office/drawing/2014/main" id="{191BEE8B-46C2-4BD7-A116-BFB5E5A8E32A}"/>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De vraag indelen</a:t>
            </a:r>
          </a:p>
        </p:txBody>
      </p:sp>
      <p:sp>
        <p:nvSpPr>
          <p:cNvPr id="2" name="">
            <a:extLst xmlns:a="http://schemas.openxmlformats.org/drawingml/2006/main">
              <a:ext uri="{FF2B5EF4-FFF2-40B4-BE49-F238E27FC236}">
                <a16:creationId xmlns:a16="http://schemas.microsoft.com/office/drawing/2014/main" id="{56D69A65-D204-4700-9EE6-586BD909A2D3}"/>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1 Prijselasticiteit">
            <a:extLst xmlns:a="http://schemas.openxmlformats.org/drawingml/2006/main">
              <a:ext uri="{FF2B5EF4-FFF2-40B4-BE49-F238E27FC236}">
                <a16:creationId xmlns:a16="http://schemas.microsoft.com/office/drawing/2014/main" id="{C6E5EDE2-9B0E-470C-94E6-596B9443C4A7}"/>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§2.2.1 Prijselasticiteit</a:t>
            </a:r>
          </a:p>
        </p:txBody>
      </p:sp>
      <p:sp>
        <p:nvSpPr>
          <p:cNvPr id="4" name="7">
            <a:extLst xmlns:a="http://schemas.openxmlformats.org/drawingml/2006/main">
              <a:ext uri="{FF2B5EF4-FFF2-40B4-BE49-F238E27FC236}">
                <a16:creationId xmlns:a16="http://schemas.microsoft.com/office/drawing/2014/main" id="{EF069419-726C-45D1-A7B7-6F4CA8FA4062}"/>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7</a:t>
            </a:r>
          </a:p>
        </p:txBody>
      </p:sp>
      <p:graphicFrame>
        <p:nvGraphicFramePr>
          <p:cNvPr id="12" name=""/>
          <p:cNvGraphicFramePr/>
          <p:nvPr/>
        </p:nvGraphicFramePr>
        <p:xfrm>
          <a:off xmlns:a="http://schemas.openxmlformats.org/drawingml/2006/main" x="571500" y="2009775"/>
          <a:ext xmlns:a="http://schemas.openxmlformats.org/drawingml/2006/main" cx="14097000" cy="4219575"/>
        </p:xfrm>
        <a:graphic xmlns:a="http://schemas.openxmlformats.org/drawingml/2006/main">
          <a:graphicData uri="http://schemas.openxmlformats.org/drawingml/2006/table">
            <a:tbl>
              <a:tblPr/>
              <a:tblGrid>
                <a:gridCol w="3524250"/>
                <a:gridCol w="4953000"/>
                <a:gridCol w="5619750"/>
              </a:tblGrid>
              <a:tr h="843915">
                <a:tc>
                  <a:txBody>
                    <a:bodyPr lIns="171450" tIns="95250" rIns="152400" bIns="95250"/>
                    <a:lstStyle/>
                    <a:p>
                      <a:r>
                        <a:rPr sz="2400" b="1">
                          <a:solidFill>
                            <a:srgbClr val="FFFFFF"/>
                          </a:solidFill>
                          <a:latin typeface="Arial"/>
                          <a:ea typeface="Arial"/>
                          <a:cs typeface="Arial"/>
                        </a:rPr>
                        <a:t>Ev</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Indeling</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Qv reageert procentueel…</a:t>
                      </a:r>
                    </a:p>
                  </a:txBody>
                  <a:tcPr marL="91440" marR="91440" marT="45720" marB="45720" anchor="ctr">
                    <a:solidFill>
                      <a:srgbClr val="183247"/>
                    </a:solidFill>
                  </a:tcPr>
                </a:tc>
              </a:tr>
              <a:tr h="843915">
                <a:tc>
                  <a:txBody>
                    <a:bodyPr lIns="171450" tIns="95250" rIns="152400" bIns="95250"/>
                    <a:lstStyle/>
                    <a:p>
                      <a:r>
                        <a:rPr sz="2400" b="0">
                          <a:solidFill>
                            <a:srgbClr val="183247"/>
                          </a:solidFill>
                          <a:latin typeface="Arial"/>
                          <a:ea typeface="Arial"/>
                          <a:cs typeface="Arial"/>
                        </a:rPr>
                        <a:t>−1 &lt; Ev &lt; 0</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Prijsinelastisch</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minder sterk dan P</a:t>
                      </a:r>
                    </a:p>
                  </a:txBody>
                  <a:tcPr marL="91440" marR="91440" marT="45720" marB="45720" anchor="ctr">
                    <a:solidFill>
                      <a:srgbClr val="FFFFFF"/>
                    </a:solidFill>
                  </a:tcPr>
                </a:tc>
              </a:tr>
              <a:tr h="843915">
                <a:tc>
                  <a:txBody>
                    <a:bodyPr lIns="171450" tIns="95250" rIns="152400" bIns="95250"/>
                    <a:lstStyle/>
                    <a:p>
                      <a:r>
                        <a:rPr sz="2400" b="0">
                          <a:solidFill>
                            <a:srgbClr val="183247"/>
                          </a:solidFill>
                          <a:latin typeface="Arial"/>
                          <a:ea typeface="Arial"/>
                          <a:cs typeface="Arial"/>
                        </a:rPr>
                        <a:t>Ev = −1</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Unitair elastisch</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even sterk als P</a:t>
                      </a:r>
                    </a:p>
                  </a:txBody>
                  <a:tcPr marL="91440" marR="91440" marT="45720" marB="45720" anchor="ctr">
                    <a:solidFill>
                      <a:srgbClr val="EFF4F7"/>
                    </a:solidFill>
                  </a:tcPr>
                </a:tc>
              </a:tr>
              <a:tr h="843915">
                <a:tc>
                  <a:txBody>
                    <a:bodyPr lIns="171450" tIns="95250" rIns="152400" bIns="95250"/>
                    <a:lstStyle/>
                    <a:p>
                      <a:r>
                        <a:rPr sz="2400" b="0">
                          <a:solidFill>
                            <a:srgbClr val="183247"/>
                          </a:solidFill>
                          <a:latin typeface="Arial"/>
                          <a:ea typeface="Arial"/>
                          <a:cs typeface="Arial"/>
                        </a:rPr>
                        <a:t>Ev &lt; −1</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Prijselastisch</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sterker dan P</a:t>
                      </a:r>
                    </a:p>
                  </a:txBody>
                  <a:tcPr marL="91440" marR="91440" marT="45720" marB="45720" anchor="ctr">
                    <a:solidFill>
                      <a:srgbClr val="FFFFFF"/>
                    </a:solidFill>
                  </a:tcPr>
                </a:tc>
              </a:tr>
              <a:tr h="843915">
                <a:tc>
                  <a:txBody>
                    <a:bodyPr lIns="171450" tIns="95250" rIns="152400" bIns="95250"/>
                    <a:lstStyle/>
                    <a:p>
                      <a:r>
                        <a:rPr sz="2400" b="0">
                          <a:solidFill>
                            <a:srgbClr val="183247"/>
                          </a:solidFill>
                          <a:latin typeface="Arial"/>
                          <a:ea typeface="Arial"/>
                          <a:cs typeface="Arial"/>
                        </a:rPr>
                        <a:t>Ev = 0</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Volkomen prijsinelastisch</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niet: Qv blijft gelijk</a:t>
                      </a:r>
                    </a:p>
                  </a:txBody>
                  <a:tcPr marL="91440" marR="91440" marT="45720" marB="45720" anchor="ctr">
                    <a:solidFill>
                      <a:srgbClr val="EFF4F7"/>
                    </a:solidFill>
                  </a:tcPr>
                </a:tc>
              </a:tr>
            </a:tbl>
          </a:graphicData>
        </a:graphic>
      </p:graphicFrame>
      <p:sp>
        <p:nvSpPr>
          <p:cNvPr id="6" name="KleiKamer: −1 &lt; −0,6 &lt; 0">
            <a:extLst xmlns:a="http://schemas.openxmlformats.org/drawingml/2006/main">
              <a:ext uri="{FF2B5EF4-FFF2-40B4-BE49-F238E27FC236}">
                <a16:creationId xmlns:a16="http://schemas.microsoft.com/office/drawing/2014/main" id="{6FB22B3F-2DFC-4D04-A65A-6FF2BA1BEAC7}"/>
              </a:ext>
            </a:extLst>
          </p:cNvPr>
          <p:cNvSpPr>
            <a:spLocks xmlns:a="http://schemas.openxmlformats.org/drawingml/2006/main" noGrp="1"/>
          </p:cNvSpPr>
          <p:nvPr/>
        </p:nvSpPr>
        <p:spPr>
          <a:xfrm xmlns:a="http://schemas.openxmlformats.org/drawingml/2006/main">
            <a:off x="571500" y="6734175"/>
            <a:ext cx="140970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7658A"/>
                </a:solidFill>
                <a:latin typeface="Arial"/>
                <a:ea typeface="Arial"/>
                <a:cs typeface="Arial"/>
              </a:defRPr>
            </a:pPr>
            <a:r>
              <a:rPr sz="3375" b="1">
                <a:solidFill>
                  <a:srgbClr val="17658A"/>
                </a:solidFill>
                <a:latin typeface="Arial"/>
                <a:ea typeface="Arial"/>
                <a:cs typeface="Arial"/>
              </a:rPr>
              <a:t>KleiKamer: −1 &lt; −0,6 &lt; 0</a:t>
            </a:r>
          </a:p>
        </p:txBody>
      </p:sp>
      <p:sp>
        <p:nvSpPr>
          <p:cNvPr id="7" name="Prijsinelastisch: Qv reageert, maar procentueel minder sterk">
            <a:extLst xmlns:a="http://schemas.openxmlformats.org/drawingml/2006/main">
              <a:ext uri="{FF2B5EF4-FFF2-40B4-BE49-F238E27FC236}">
                <a16:creationId xmlns:a16="http://schemas.microsoft.com/office/drawing/2014/main" id="{52E8C700-E8F9-4DB0-AFA7-FC8647FFF131}"/>
              </a:ext>
            </a:extLst>
          </p:cNvPr>
          <p:cNvSpPr>
            <a:spLocks xmlns:a="http://schemas.openxmlformats.org/drawingml/2006/main" noGrp="1"/>
          </p:cNvSpPr>
          <p:nvPr/>
        </p:nvSpPr>
        <p:spPr>
          <a:xfrm xmlns:a="http://schemas.openxmlformats.org/drawingml/2006/main">
            <a:off x="571500" y="7477125"/>
            <a:ext cx="14097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Prijsinelastisch: Qv reageert, maar procentueel minder sterk.</a:t>
            </a:r>
          </a:p>
        </p:txBody>
      </p:sp>
    </p:spTree>
    <p:extLst>
      <p:ext uri="{BB962C8B-B14F-4D97-AF65-F5344CB8AC3E}">
        <p14:creationId xmlns:p14="http://schemas.microsoft.com/office/powerpoint/2010/main" val="615263023"/>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Prijsgevoeligheid vergelijken">
            <a:extLst xmlns:a="http://schemas.openxmlformats.org/drawingml/2006/main">
              <a:ext uri="{FF2B5EF4-FFF2-40B4-BE49-F238E27FC236}">
                <a16:creationId xmlns:a16="http://schemas.microsoft.com/office/drawing/2014/main" id="{2C034CC0-31A8-4A1F-9C91-7B1699A97EF7}"/>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Prijsgevoeligheid vergelijken</a:t>
            </a:r>
          </a:p>
        </p:txBody>
      </p:sp>
      <p:sp>
        <p:nvSpPr>
          <p:cNvPr id="2" name="">
            <a:extLst xmlns:a="http://schemas.openxmlformats.org/drawingml/2006/main">
              <a:ext uri="{FF2B5EF4-FFF2-40B4-BE49-F238E27FC236}">
                <a16:creationId xmlns:a16="http://schemas.microsoft.com/office/drawing/2014/main" id="{685DC192-E771-4EBC-A21E-BD057B47C58E}"/>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1 Prijselasticiteit">
            <a:extLst xmlns:a="http://schemas.openxmlformats.org/drawingml/2006/main">
              <a:ext uri="{FF2B5EF4-FFF2-40B4-BE49-F238E27FC236}">
                <a16:creationId xmlns:a16="http://schemas.microsoft.com/office/drawing/2014/main" id="{A334BD2F-ADE6-493B-A44C-8359E3713826}"/>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§2.2.1 Prijselasticiteit</a:t>
            </a:r>
          </a:p>
        </p:txBody>
      </p:sp>
      <p:sp>
        <p:nvSpPr>
          <p:cNvPr id="4" name="8">
            <a:extLst xmlns:a="http://schemas.openxmlformats.org/drawingml/2006/main">
              <a:ext uri="{FF2B5EF4-FFF2-40B4-BE49-F238E27FC236}">
                <a16:creationId xmlns:a16="http://schemas.microsoft.com/office/drawing/2014/main" id="{7A9931F7-0A76-4400-9C91-B38E740C6C28}"/>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8</a:t>
            </a:r>
          </a:p>
        </p:txBody>
      </p:sp>
      <p:sp>
        <p:nvSpPr>
          <p:cNvPr id="5" name="Uitlegvoorbeeld — niet uit het boek">
            <a:extLst xmlns:a="http://schemas.openxmlformats.org/drawingml/2006/main">
              <a:ext uri="{FF2B5EF4-FFF2-40B4-BE49-F238E27FC236}">
                <a16:creationId xmlns:a16="http://schemas.microsoft.com/office/drawing/2014/main" id="{534FE0B3-3ACB-46D9-82E2-81CB96899E0C}"/>
              </a:ext>
            </a:extLst>
          </p:cNvPr>
          <p:cNvSpPr>
            <a:spLocks xmlns:a="http://schemas.openxmlformats.org/drawingml/2006/main" noGrp="1"/>
          </p:cNvSpPr>
          <p:nvPr/>
        </p:nvSpPr>
        <p:spPr>
          <a:xfrm xmlns:a="http://schemas.openxmlformats.org/drawingml/2006/main">
            <a:off x="571500" y="1704975"/>
            <a:ext cx="14097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445B6B"/>
                </a:solidFill>
                <a:latin typeface="Arial"/>
                <a:ea typeface="Arial"/>
                <a:cs typeface="Arial"/>
              </a:defRPr>
            </a:pPr>
            <a:r>
              <a:rPr sz="2100" b="0">
                <a:solidFill>
                  <a:srgbClr val="445B6B"/>
                </a:solidFill>
                <a:latin typeface="Arial"/>
                <a:ea typeface="Arial"/>
                <a:cs typeface="Arial"/>
              </a:rPr>
              <a:t>Uitlegvoorbeeld — niet uit het boek</a:t>
            </a:r>
          </a:p>
        </p:txBody>
      </p:sp>
      <p:graphicFrame>
        <p:nvGraphicFramePr>
          <p:cNvPr id="14" name=""/>
          <p:cNvGraphicFramePr/>
          <p:nvPr/>
        </p:nvGraphicFramePr>
        <p:xfrm>
          <a:off xmlns:a="http://schemas.openxmlformats.org/drawingml/2006/main" x="571500" y="2628900"/>
          <a:ext xmlns:a="http://schemas.openxmlformats.org/drawingml/2006/main" cx="14097000" cy="2886075"/>
        </p:xfrm>
        <a:graphic xmlns:a="http://schemas.openxmlformats.org/drawingml/2006/main">
          <a:graphicData uri="http://schemas.openxmlformats.org/drawingml/2006/table">
            <a:tbl>
              <a:tblPr/>
              <a:tblGrid>
                <a:gridCol w="4095750"/>
                <a:gridCol w="2190750"/>
                <a:gridCol w="4191000"/>
                <a:gridCol w="3619500"/>
              </a:tblGrid>
              <a:tr h="962025">
                <a:tc>
                  <a:txBody>
                    <a:bodyPr lIns="171450" tIns="95250" rIns="152400" bIns="95250"/>
                    <a:lstStyle/>
                    <a:p>
                      <a:r>
                        <a:rPr sz="2475" b="1">
                          <a:solidFill>
                            <a:srgbClr val="FFFFFF"/>
                          </a:solidFill>
                          <a:latin typeface="Arial"/>
                          <a:ea typeface="Arial"/>
                          <a:cs typeface="Arial"/>
                        </a:rPr>
                        <a:t>Aanbieder</a:t>
                      </a:r>
                    </a:p>
                  </a:txBody>
                  <a:tcPr marL="91440" marR="91440" marT="45720" marB="45720" anchor="ctr">
                    <a:solidFill>
                      <a:srgbClr val="183247"/>
                    </a:solidFill>
                  </a:tcPr>
                </a:tc>
                <a:tc>
                  <a:txBody>
                    <a:bodyPr lIns="171450" tIns="95250" rIns="152400" bIns="95250"/>
                    <a:lstStyle/>
                    <a:p>
                      <a:r>
                        <a:rPr sz="2475" b="1">
                          <a:solidFill>
                            <a:srgbClr val="FFFFFF"/>
                          </a:solidFill>
                          <a:latin typeface="Arial"/>
                          <a:ea typeface="Arial"/>
                          <a:cs typeface="Arial"/>
                        </a:rPr>
                        <a:t>Ev</a:t>
                      </a:r>
                    </a:p>
                  </a:txBody>
                  <a:tcPr marL="91440" marR="91440" marT="45720" marB="45720" anchor="ctr">
                    <a:solidFill>
                      <a:srgbClr val="183247"/>
                    </a:solidFill>
                  </a:tcPr>
                </a:tc>
                <a:tc>
                  <a:txBody>
                    <a:bodyPr lIns="171450" tIns="95250" rIns="152400" bIns="95250"/>
                    <a:lstStyle/>
                    <a:p>
                      <a:r>
                        <a:rPr sz="2475" b="1">
                          <a:solidFill>
                            <a:srgbClr val="FFFFFF"/>
                          </a:solidFill>
                          <a:latin typeface="Arial"/>
                          <a:ea typeface="Arial"/>
                          <a:cs typeface="Arial"/>
                        </a:rPr>
                        <a:t>Vergelijking</a:t>
                      </a:r>
                    </a:p>
                  </a:txBody>
                  <a:tcPr marL="91440" marR="91440" marT="45720" marB="45720" anchor="ctr">
                    <a:solidFill>
                      <a:srgbClr val="183247"/>
                    </a:solidFill>
                  </a:tcPr>
                </a:tc>
                <a:tc>
                  <a:txBody>
                    <a:bodyPr lIns="171450" tIns="95250" rIns="152400" bIns="95250"/>
                    <a:lstStyle/>
                    <a:p>
                      <a:r>
                        <a:rPr sz="2475" b="1">
                          <a:solidFill>
                            <a:srgbClr val="FFFFFF"/>
                          </a:solidFill>
                          <a:latin typeface="Arial"/>
                          <a:ea typeface="Arial"/>
                          <a:cs typeface="Arial"/>
                        </a:rPr>
                        <a:t>Indeling</a:t>
                      </a:r>
                    </a:p>
                  </a:txBody>
                  <a:tcPr marL="91440" marR="91440" marT="45720" marB="45720" anchor="ctr">
                    <a:solidFill>
                      <a:srgbClr val="183247"/>
                    </a:solidFill>
                  </a:tcPr>
                </a:tc>
              </a:tr>
              <a:tr h="962025">
                <a:tc>
                  <a:txBody>
                    <a:bodyPr lIns="171450" tIns="95250" rIns="152400" bIns="95250"/>
                    <a:lstStyle/>
                    <a:p>
                      <a:r>
                        <a:rPr sz="2475" b="0">
                          <a:solidFill>
                            <a:srgbClr val="183247"/>
                          </a:solidFill>
                          <a:latin typeface="Arial"/>
                          <a:ea typeface="Arial"/>
                          <a:cs typeface="Arial"/>
                        </a:rPr>
                        <a:t>KleiKamer</a:t>
                      </a:r>
                    </a:p>
                  </a:txBody>
                  <a:tcPr marL="91440" marR="91440" marT="45720" marB="45720" anchor="ctr">
                    <a:solidFill>
                      <a:srgbClr val="FFFFFF"/>
                    </a:solidFill>
                  </a:tcPr>
                </a:tc>
                <a:tc>
                  <a:txBody>
                    <a:bodyPr lIns="171450" tIns="95250" rIns="152400" bIns="95250"/>
                    <a:lstStyle/>
                    <a:p>
                      <a:r>
                        <a:rPr sz="2475" b="0">
                          <a:solidFill>
                            <a:srgbClr val="183247"/>
                          </a:solidFill>
                          <a:latin typeface="Arial"/>
                          <a:ea typeface="Arial"/>
                          <a:cs typeface="Arial"/>
                        </a:rPr>
                        <a:t>−0,6</a:t>
                      </a:r>
                    </a:p>
                  </a:txBody>
                  <a:tcPr marL="91440" marR="91440" marT="45720" marB="45720" anchor="ctr">
                    <a:solidFill>
                      <a:srgbClr val="FFFFFF"/>
                    </a:solidFill>
                  </a:tcPr>
                </a:tc>
                <a:tc>
                  <a:txBody>
                    <a:bodyPr lIns="171450" tIns="95250" rIns="152400" bIns="95250"/>
                    <a:lstStyle/>
                    <a:p>
                      <a:r>
                        <a:rPr sz="2475" b="0">
                          <a:solidFill>
                            <a:srgbClr val="183247"/>
                          </a:solidFill>
                          <a:latin typeface="Arial"/>
                          <a:ea typeface="Arial"/>
                          <a:cs typeface="Arial"/>
                        </a:rPr>
                        <a:t>−1 &lt; −0,6 &lt; 0</a:t>
                      </a:r>
                    </a:p>
                  </a:txBody>
                  <a:tcPr marL="91440" marR="91440" marT="45720" marB="45720" anchor="ctr">
                    <a:solidFill>
                      <a:srgbClr val="FFFFFF"/>
                    </a:solidFill>
                  </a:tcPr>
                </a:tc>
                <a:tc>
                  <a:txBody>
                    <a:bodyPr lIns="171450" tIns="95250" rIns="152400" bIns="95250"/>
                    <a:lstStyle/>
                    <a:p>
                      <a:r>
                        <a:rPr sz="2475" b="0">
                          <a:solidFill>
                            <a:srgbClr val="183247"/>
                          </a:solidFill>
                          <a:latin typeface="Arial"/>
                          <a:ea typeface="Arial"/>
                          <a:cs typeface="Arial"/>
                        </a:rPr>
                        <a:t>Prijsinelastisch</a:t>
                      </a:r>
                    </a:p>
                  </a:txBody>
                  <a:tcPr marL="91440" marR="91440" marT="45720" marB="45720" anchor="ctr">
                    <a:solidFill>
                      <a:srgbClr val="FFFFFF"/>
                    </a:solidFill>
                  </a:tcPr>
                </a:tc>
              </a:tr>
              <a:tr h="962025">
                <a:tc>
                  <a:txBody>
                    <a:bodyPr lIns="171450" tIns="95250" rIns="152400" bIns="95250"/>
                    <a:lstStyle/>
                    <a:p>
                      <a:r>
                        <a:rPr sz="2475" b="0">
                          <a:solidFill>
                            <a:srgbClr val="183247"/>
                          </a:solidFill>
                          <a:latin typeface="Arial"/>
                          <a:ea typeface="Arial"/>
                          <a:cs typeface="Arial"/>
                        </a:rPr>
                        <a:t>FotoFlex</a:t>
                      </a:r>
                    </a:p>
                  </a:txBody>
                  <a:tcPr marL="91440" marR="91440" marT="45720" marB="45720" anchor="ctr">
                    <a:solidFill>
                      <a:srgbClr val="EFF4F7"/>
                    </a:solidFill>
                  </a:tcPr>
                </a:tc>
                <a:tc>
                  <a:txBody>
                    <a:bodyPr lIns="171450" tIns="95250" rIns="152400" bIns="95250"/>
                    <a:lstStyle/>
                    <a:p>
                      <a:r>
                        <a:rPr sz="2475" b="0">
                          <a:solidFill>
                            <a:srgbClr val="183247"/>
                          </a:solidFill>
                          <a:latin typeface="Arial"/>
                          <a:ea typeface="Arial"/>
                          <a:cs typeface="Arial"/>
                        </a:rPr>
                        <a:t>−1,4</a:t>
                      </a:r>
                    </a:p>
                  </a:txBody>
                  <a:tcPr marL="91440" marR="91440" marT="45720" marB="45720" anchor="ctr">
                    <a:solidFill>
                      <a:srgbClr val="EFF4F7"/>
                    </a:solidFill>
                  </a:tcPr>
                </a:tc>
                <a:tc>
                  <a:txBody>
                    <a:bodyPr lIns="171450" tIns="95250" rIns="152400" bIns="95250"/>
                    <a:lstStyle/>
                    <a:p>
                      <a:r>
                        <a:rPr sz="2475" b="0">
                          <a:solidFill>
                            <a:srgbClr val="183247"/>
                          </a:solidFill>
                          <a:latin typeface="Arial"/>
                          <a:ea typeface="Arial"/>
                          <a:cs typeface="Arial"/>
                        </a:rPr>
                        <a:t>−1,4 &lt; −1</a:t>
                      </a:r>
                    </a:p>
                  </a:txBody>
                  <a:tcPr marL="91440" marR="91440" marT="45720" marB="45720" anchor="ctr">
                    <a:solidFill>
                      <a:srgbClr val="EFF4F7"/>
                    </a:solidFill>
                  </a:tcPr>
                </a:tc>
                <a:tc>
                  <a:txBody>
                    <a:bodyPr lIns="171450" tIns="95250" rIns="152400" bIns="95250"/>
                    <a:lstStyle/>
                    <a:p>
                      <a:r>
                        <a:rPr sz="2475" b="0">
                          <a:solidFill>
                            <a:srgbClr val="183247"/>
                          </a:solidFill>
                          <a:latin typeface="Arial"/>
                          <a:ea typeface="Arial"/>
                          <a:cs typeface="Arial"/>
                        </a:rPr>
                        <a:t>Prijselastisch</a:t>
                      </a:r>
                    </a:p>
                  </a:txBody>
                  <a:tcPr marL="91440" marR="91440" marT="45720" marB="45720" anchor="ctr">
                    <a:solidFill>
                      <a:srgbClr val="EFF4F7"/>
                    </a:solidFill>
                  </a:tcPr>
                </a:tc>
              </a:tr>
            </a:tbl>
          </a:graphicData>
        </a:graphic>
      </p:graphicFrame>
      <p:sp>
        <p:nvSpPr>
          <p:cNvPr id="7" name="FotoFlex reageert procentueel sterker op de eigen prijs.">
            <a:extLst xmlns:a="http://schemas.openxmlformats.org/drawingml/2006/main">
              <a:ext uri="{FF2B5EF4-FFF2-40B4-BE49-F238E27FC236}">
                <a16:creationId xmlns:a16="http://schemas.microsoft.com/office/drawing/2014/main" id="{6CEA2FFE-5179-4665-AA61-704305F58CEE}"/>
              </a:ext>
            </a:extLst>
          </p:cNvPr>
          <p:cNvSpPr>
            <a:spLocks xmlns:a="http://schemas.openxmlformats.org/drawingml/2006/main" noGrp="1"/>
          </p:cNvSpPr>
          <p:nvPr/>
        </p:nvSpPr>
        <p:spPr>
          <a:xfrm xmlns:a="http://schemas.openxmlformats.org/drawingml/2006/main">
            <a:off x="571500" y="6057900"/>
            <a:ext cx="14097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7658A"/>
                </a:solidFill>
                <a:latin typeface="Arial"/>
                <a:ea typeface="Arial"/>
                <a:cs typeface="Arial"/>
              </a:defRPr>
            </a:pPr>
            <a:r>
              <a:rPr sz="3300" b="1">
                <a:solidFill>
                  <a:srgbClr val="17658A"/>
                </a:solidFill>
                <a:latin typeface="Arial"/>
                <a:ea typeface="Arial"/>
                <a:cs typeface="Arial"/>
              </a:rPr>
              <a:t>FotoFlex reageert procentueel sterker op de eigen prijs.</a:t>
            </a:r>
          </a:p>
        </p:txBody>
      </p:sp>
      <p:sp>
        <p:nvSpPr>
          <p:cNvPr id="8" name="Absolute aantallen verloren klanten kun je niet vergelijken.">
            <a:extLst xmlns:a="http://schemas.openxmlformats.org/drawingml/2006/main">
              <a:ext uri="{FF2B5EF4-FFF2-40B4-BE49-F238E27FC236}">
                <a16:creationId xmlns:a16="http://schemas.microsoft.com/office/drawing/2014/main" id="{542B6C7D-3DE3-4699-BB91-2ECBECCED5E8}"/>
              </a:ext>
            </a:extLst>
          </p:cNvPr>
          <p:cNvSpPr>
            <a:spLocks xmlns:a="http://schemas.openxmlformats.org/drawingml/2006/main" noGrp="1"/>
          </p:cNvSpPr>
          <p:nvPr/>
        </p:nvSpPr>
        <p:spPr>
          <a:xfrm xmlns:a="http://schemas.openxmlformats.org/drawingml/2006/main">
            <a:off x="571500" y="7486650"/>
            <a:ext cx="1409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Absolute aantallen verloren klanten kun je niet vergelijken.</a:t>
            </a:r>
          </a:p>
        </p:txBody>
      </p:sp>
    </p:spTree>
    <p:extLst>
      <p:ext uri="{BB962C8B-B14F-4D97-AF65-F5344CB8AC3E}">
        <p14:creationId xmlns:p14="http://schemas.microsoft.com/office/powerpoint/2010/main" val="744841385"/>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Een mogelijke verklaring">
            <a:extLst xmlns:a="http://schemas.openxmlformats.org/drawingml/2006/main">
              <a:ext uri="{FF2B5EF4-FFF2-40B4-BE49-F238E27FC236}">
                <a16:creationId xmlns:a16="http://schemas.microsoft.com/office/drawing/2014/main" id="{2CD00BBA-7B76-4B0F-AB5B-3334E0C19BA1}"/>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Een mogelijke verklaring</a:t>
            </a:r>
          </a:p>
        </p:txBody>
      </p:sp>
      <p:sp>
        <p:nvSpPr>
          <p:cNvPr id="2" name="">
            <a:extLst xmlns:a="http://schemas.openxmlformats.org/drawingml/2006/main">
              <a:ext uri="{FF2B5EF4-FFF2-40B4-BE49-F238E27FC236}">
                <a16:creationId xmlns:a16="http://schemas.microsoft.com/office/drawing/2014/main" id="{8C75C7F2-09F3-4207-9C57-9287E3B3F7EC}"/>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1 Prijselasticiteit">
            <a:extLst xmlns:a="http://schemas.openxmlformats.org/drawingml/2006/main">
              <a:ext uri="{FF2B5EF4-FFF2-40B4-BE49-F238E27FC236}">
                <a16:creationId xmlns:a16="http://schemas.microsoft.com/office/drawing/2014/main" id="{B2B0EBB1-5D48-4323-99EC-EA696FA50BDA}"/>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§2.2.1 Prijselasticiteit</a:t>
            </a:r>
          </a:p>
        </p:txBody>
      </p:sp>
      <p:sp>
        <p:nvSpPr>
          <p:cNvPr id="4" name="9">
            <a:extLst xmlns:a="http://schemas.openxmlformats.org/drawingml/2006/main">
              <a:ext uri="{FF2B5EF4-FFF2-40B4-BE49-F238E27FC236}">
                <a16:creationId xmlns:a16="http://schemas.microsoft.com/office/drawing/2014/main" id="{C14439FB-78EA-434C-975D-1509E009BCC7}"/>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9</a:t>
            </a:r>
          </a:p>
        </p:txBody>
      </p:sp>
      <p:sp>
        <p:nvSpPr>
          <p:cNvPr id="5" name="Uitlegvoorbeeld — niet uit het boek">
            <a:extLst xmlns:a="http://schemas.openxmlformats.org/drawingml/2006/main">
              <a:ext uri="{FF2B5EF4-FFF2-40B4-BE49-F238E27FC236}">
                <a16:creationId xmlns:a16="http://schemas.microsoft.com/office/drawing/2014/main" id="{87BAAE72-30D2-4ED0-AD18-673651EB6B46}"/>
              </a:ext>
            </a:extLst>
          </p:cNvPr>
          <p:cNvSpPr>
            <a:spLocks xmlns:a="http://schemas.openxmlformats.org/drawingml/2006/main" noGrp="1"/>
          </p:cNvSpPr>
          <p:nvPr/>
        </p:nvSpPr>
        <p:spPr>
          <a:xfrm xmlns:a="http://schemas.openxmlformats.org/drawingml/2006/main">
            <a:off x="571500" y="1704975"/>
            <a:ext cx="14097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445B6B"/>
                </a:solidFill>
                <a:latin typeface="Arial"/>
                <a:ea typeface="Arial"/>
                <a:cs typeface="Arial"/>
              </a:defRPr>
            </a:pPr>
            <a:r>
              <a:rPr sz="2100" b="0">
                <a:solidFill>
                  <a:srgbClr val="445B6B"/>
                </a:solidFill>
                <a:latin typeface="Arial"/>
                <a:ea typeface="Arial"/>
                <a:cs typeface="Arial"/>
              </a:rPr>
              <a:t>Uitlegvoorbeeld — niet uit het boek</a:t>
            </a:r>
          </a:p>
        </p:txBody>
      </p:sp>
      <p:sp>
        <p:nvSpPr>
          <p:cNvPr id="6" name="FotoFlex: misschien zijn vergelijkbare fotoworkshops&#10;makkeli">
            <a:extLst xmlns:a="http://schemas.openxmlformats.org/drawingml/2006/main">
              <a:ext uri="{FF2B5EF4-FFF2-40B4-BE49-F238E27FC236}">
                <a16:creationId xmlns:a16="http://schemas.microsoft.com/office/drawing/2014/main" id="{49B81A91-874B-44CC-9987-376F694BFAB4}"/>
              </a:ext>
            </a:extLst>
          </p:cNvPr>
          <p:cNvSpPr>
            <a:spLocks xmlns:a="http://schemas.openxmlformats.org/drawingml/2006/main" noGrp="1"/>
          </p:cNvSpPr>
          <p:nvPr/>
        </p:nvSpPr>
        <p:spPr>
          <a:xfrm xmlns:a="http://schemas.openxmlformats.org/drawingml/2006/main">
            <a:off x="571500" y="2705100"/>
            <a:ext cx="1409700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7658A"/>
                </a:solidFill>
                <a:latin typeface="Arial"/>
                <a:ea typeface="Arial"/>
                <a:cs typeface="Arial"/>
              </a:defRPr>
            </a:pPr>
            <a:r>
              <a:rPr sz="3300" b="1">
                <a:solidFill>
                  <a:srgbClr val="17658A"/>
                </a:solidFill>
                <a:latin typeface="Arial"/>
                <a:ea typeface="Arial"/>
                <a:cs typeface="Arial"/>
              </a:rPr>
              <a:t>FotoFlex: misschien zijn vergelijkbare fotoworkshops</a:t>
            </a:r>
          </a:p>
          <a:p xmlns:a="http://schemas.openxmlformats.org/drawingml/2006/main">
            <a:pPr algn="l">
              <a:defRPr sz="3300" b="1">
                <a:solidFill>
                  <a:srgbClr val="17658A"/>
                </a:solidFill>
                <a:latin typeface="Arial"/>
                <a:ea typeface="Arial"/>
                <a:cs typeface="Arial"/>
              </a:defRPr>
            </a:pPr>
            <a:r>
              <a:rPr sz="3300" b="1">
                <a:solidFill>
                  <a:srgbClr val="17658A"/>
                </a:solidFill>
                <a:latin typeface="Arial"/>
                <a:ea typeface="Arial"/>
                <a:cs typeface="Arial"/>
              </a:rPr>
              <a:t>makkelijk beschikbaar.</a:t>
            </a:r>
          </a:p>
        </p:txBody>
      </p:sp>
      <p:sp>
        <p:nvSpPr>
          <p:cNvPr id="7" name="Overstappen wordt dan makkelijker. Dat kan passen&#10;bij de ste">
            <a:extLst xmlns:a="http://schemas.openxmlformats.org/drawingml/2006/main">
              <a:ext uri="{FF2B5EF4-FFF2-40B4-BE49-F238E27FC236}">
                <a16:creationId xmlns:a16="http://schemas.microsoft.com/office/drawing/2014/main" id="{F6A5BBF5-10A2-4171-A50B-F78352147006}"/>
              </a:ext>
            </a:extLst>
          </p:cNvPr>
          <p:cNvSpPr>
            <a:spLocks xmlns:a="http://schemas.openxmlformats.org/drawingml/2006/main" noGrp="1"/>
          </p:cNvSpPr>
          <p:nvPr/>
        </p:nvSpPr>
        <p:spPr>
          <a:xfrm xmlns:a="http://schemas.openxmlformats.org/drawingml/2006/main">
            <a:off x="571500" y="4400550"/>
            <a:ext cx="14097000" cy="1323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0">
                <a:solidFill>
                  <a:srgbClr val="183247"/>
                </a:solidFill>
                <a:latin typeface="Arial"/>
                <a:ea typeface="Arial"/>
                <a:cs typeface="Arial"/>
              </a:defRPr>
            </a:pPr>
            <a:r>
              <a:rPr sz="3150" b="0">
                <a:solidFill>
                  <a:srgbClr val="183247"/>
                </a:solidFill>
                <a:latin typeface="Arial"/>
                <a:ea typeface="Arial"/>
                <a:cs typeface="Arial"/>
              </a:rPr>
              <a:t>Overstappen wordt dan makkelijker. Dat kan passen</a:t>
            </a:r>
          </a:p>
          <a:p xmlns:a="http://schemas.openxmlformats.org/drawingml/2006/main">
            <a:pPr algn="l">
              <a:defRPr sz="3150" b="0">
                <a:solidFill>
                  <a:srgbClr val="183247"/>
                </a:solidFill>
                <a:latin typeface="Arial"/>
                <a:ea typeface="Arial"/>
                <a:cs typeface="Arial"/>
              </a:defRPr>
            </a:pPr>
            <a:r>
              <a:rPr sz="3150" b="0">
                <a:solidFill>
                  <a:srgbClr val="183247"/>
                </a:solidFill>
                <a:latin typeface="Arial"/>
                <a:ea typeface="Arial"/>
                <a:cs typeface="Arial"/>
              </a:rPr>
              <a:t>bij de sterkere prijsreactie.</a:t>
            </a:r>
          </a:p>
        </p:txBody>
      </p:sp>
      <p:sp>
        <p:nvSpPr>
          <p:cNvPr id="8" name="">
            <a:extLst xmlns:a="http://schemas.openxmlformats.org/drawingml/2006/main">
              <a:ext uri="{FF2B5EF4-FFF2-40B4-BE49-F238E27FC236}">
                <a16:creationId xmlns:a16="http://schemas.microsoft.com/office/drawing/2014/main" id="{9DB63E05-BADA-4043-B751-F35A7509BC59}"/>
              </a:ext>
            </a:extLst>
          </p:cNvPr>
          <p:cNvSpPr>
            <a:spLocks xmlns:a="http://schemas.openxmlformats.org/drawingml/2006/main" noGrp="1"/>
          </p:cNvSpPr>
          <p:nvPr/>
        </p:nvSpPr>
        <p:spPr>
          <a:xfrm xmlns:a="http://schemas.openxmlformats.org/drawingml/2006/main">
            <a:off x="571500" y="6162675"/>
            <a:ext cx="14097000" cy="0"/>
          </a:xfrm>
          <a:prstGeom xmlns:a="http://schemas.openxmlformats.org/drawingml/2006/main" prst="line">
            <a:avLst/>
          </a:prstGeom>
          <a:ln xmlns:a="http://schemas.openxmlformats.org/drawingml/2006/main" w="19050">
            <a:solidFill>
              <a:srgbClr val="C6D2DB"/>
            </a:solidFill>
          </a:ln>
        </p:spPr>
      </p:sp>
      <p:sp>
        <p:nvSpPr>
          <p:cNvPr id="9" name="De cijfers meten de reactie. Ze bewijzen deze oorzaak niet.">
            <a:extLst xmlns:a="http://schemas.openxmlformats.org/drawingml/2006/main">
              <a:ext uri="{FF2B5EF4-FFF2-40B4-BE49-F238E27FC236}">
                <a16:creationId xmlns:a16="http://schemas.microsoft.com/office/drawing/2014/main" id="{3B7963B8-6054-40D6-8CB4-5592B4330048}"/>
              </a:ext>
            </a:extLst>
          </p:cNvPr>
          <p:cNvSpPr>
            <a:spLocks xmlns:a="http://schemas.openxmlformats.org/drawingml/2006/main" noGrp="1"/>
          </p:cNvSpPr>
          <p:nvPr/>
        </p:nvSpPr>
        <p:spPr>
          <a:xfrm xmlns:a="http://schemas.openxmlformats.org/drawingml/2006/main">
            <a:off x="571500" y="6715125"/>
            <a:ext cx="14097000"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1">
                <a:solidFill>
                  <a:srgbClr val="A94D16"/>
                </a:solidFill>
                <a:latin typeface="Arial"/>
                <a:ea typeface="Arial"/>
                <a:cs typeface="Arial"/>
              </a:defRPr>
            </a:pPr>
            <a:r>
              <a:rPr sz="3075" b="1">
                <a:solidFill>
                  <a:srgbClr val="A94D16"/>
                </a:solidFill>
                <a:latin typeface="Arial"/>
                <a:ea typeface="Arial"/>
                <a:cs typeface="Arial"/>
              </a:rPr>
              <a:t>De cijfers meten de reactie. Ze bewijzen deze oorzaak niet.</a:t>
            </a:r>
          </a:p>
        </p:txBody>
      </p:sp>
    </p:spTree>
    <p:extLst>
      <p:ext uri="{BB962C8B-B14F-4D97-AF65-F5344CB8AC3E}">
        <p14:creationId xmlns:p14="http://schemas.microsoft.com/office/powerpoint/2010/main" val="263341070"/>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Korte controle: een prijsdaling">
            <a:extLst xmlns:a="http://schemas.openxmlformats.org/drawingml/2006/main">
              <a:ext uri="{FF2B5EF4-FFF2-40B4-BE49-F238E27FC236}">
                <a16:creationId xmlns:a16="http://schemas.microsoft.com/office/drawing/2014/main" id="{804D9F48-2471-42A3-B0EA-2E8AC41E8EDD}"/>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Korte controle: een prijsdaling</a:t>
            </a:r>
          </a:p>
        </p:txBody>
      </p:sp>
      <p:sp>
        <p:nvSpPr>
          <p:cNvPr id="2" name="">
            <a:extLst xmlns:a="http://schemas.openxmlformats.org/drawingml/2006/main">
              <a:ext uri="{FF2B5EF4-FFF2-40B4-BE49-F238E27FC236}">
                <a16:creationId xmlns:a16="http://schemas.microsoft.com/office/drawing/2014/main" id="{F122ED07-47F2-48FB-A28F-01073664F57F}"/>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1 Prijselasticiteit">
            <a:extLst xmlns:a="http://schemas.openxmlformats.org/drawingml/2006/main">
              <a:ext uri="{FF2B5EF4-FFF2-40B4-BE49-F238E27FC236}">
                <a16:creationId xmlns:a16="http://schemas.microsoft.com/office/drawing/2014/main" id="{36E4F7CA-E8C9-48DC-8700-ABCF9EE73BEA}"/>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§2.2.1 Prijselasticiteit</a:t>
            </a:r>
          </a:p>
        </p:txBody>
      </p:sp>
      <p:sp>
        <p:nvSpPr>
          <p:cNvPr id="4" name="10">
            <a:extLst xmlns:a="http://schemas.openxmlformats.org/drawingml/2006/main">
              <a:ext uri="{FF2B5EF4-FFF2-40B4-BE49-F238E27FC236}">
                <a16:creationId xmlns:a16="http://schemas.microsoft.com/office/drawing/2014/main" id="{621D5B2B-DB18-4664-8F1A-3767400D81F7}"/>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10</a:t>
            </a:r>
          </a:p>
        </p:txBody>
      </p:sp>
      <p:sp>
        <p:nvSpPr>
          <p:cNvPr id="5" name="Uitlegvoorbeeld — niet uit het boek">
            <a:extLst xmlns:a="http://schemas.openxmlformats.org/drawingml/2006/main">
              <a:ext uri="{FF2B5EF4-FFF2-40B4-BE49-F238E27FC236}">
                <a16:creationId xmlns:a16="http://schemas.microsoft.com/office/drawing/2014/main" id="{AD168569-C8A8-4983-83DA-BF9914194726}"/>
              </a:ext>
            </a:extLst>
          </p:cNvPr>
          <p:cNvSpPr>
            <a:spLocks xmlns:a="http://schemas.openxmlformats.org/drawingml/2006/main" noGrp="1"/>
          </p:cNvSpPr>
          <p:nvPr/>
        </p:nvSpPr>
        <p:spPr>
          <a:xfrm xmlns:a="http://schemas.openxmlformats.org/drawingml/2006/main">
            <a:off x="571500" y="1704975"/>
            <a:ext cx="14097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445B6B"/>
                </a:solidFill>
                <a:latin typeface="Arial"/>
                <a:ea typeface="Arial"/>
                <a:cs typeface="Arial"/>
              </a:defRPr>
            </a:pPr>
            <a:r>
              <a:rPr sz="2100" b="0">
                <a:solidFill>
                  <a:srgbClr val="445B6B"/>
                </a:solidFill>
                <a:latin typeface="Arial"/>
                <a:ea typeface="Arial"/>
                <a:cs typeface="Arial"/>
              </a:rPr>
              <a:t>Uitlegvoorbeeld — niet uit het boek</a:t>
            </a:r>
          </a:p>
        </p:txBody>
      </p:sp>
      <p:sp>
        <p:nvSpPr>
          <p:cNvPr id="6" name="Een apart scenario bij KleiKamer">
            <a:extLst xmlns:a="http://schemas.openxmlformats.org/drawingml/2006/main">
              <a:ext uri="{FF2B5EF4-FFF2-40B4-BE49-F238E27FC236}">
                <a16:creationId xmlns:a16="http://schemas.microsoft.com/office/drawing/2014/main" id="{6AE26E0F-BAA4-40C9-8501-0543B66F2DF7}"/>
              </a:ext>
            </a:extLst>
          </p:cNvPr>
          <p:cNvSpPr>
            <a:spLocks xmlns:a="http://schemas.openxmlformats.org/drawingml/2006/main" noGrp="1"/>
          </p:cNvSpPr>
          <p:nvPr/>
        </p:nvSpPr>
        <p:spPr>
          <a:xfrm xmlns:a="http://schemas.openxmlformats.org/drawingml/2006/main">
            <a:off x="571500" y="2362200"/>
            <a:ext cx="14097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7658A"/>
                </a:solidFill>
                <a:latin typeface="Arial"/>
                <a:ea typeface="Arial"/>
                <a:cs typeface="Arial"/>
              </a:defRPr>
            </a:pPr>
            <a:r>
              <a:rPr sz="3000" b="1">
                <a:solidFill>
                  <a:srgbClr val="17658A"/>
                </a:solidFill>
                <a:latin typeface="Arial"/>
                <a:ea typeface="Arial"/>
                <a:cs typeface="Arial"/>
              </a:rPr>
              <a:t>Een apart scenario bij KleiKamer</a:t>
            </a:r>
          </a:p>
        </p:txBody>
      </p:sp>
      <p:graphicFrame>
        <p:nvGraphicFramePr>
          <p:cNvPr id="16" name=""/>
          <p:cNvGraphicFramePr/>
          <p:nvPr/>
        </p:nvGraphicFramePr>
        <p:xfrm>
          <a:off xmlns:a="http://schemas.openxmlformats.org/drawingml/2006/main" x="571500" y="3305175"/>
          <a:ext xmlns:a="http://schemas.openxmlformats.org/drawingml/2006/main" cx="14097000" cy="2524125"/>
        </p:xfrm>
        <a:graphic xmlns:a="http://schemas.openxmlformats.org/drawingml/2006/main">
          <a:graphicData uri="http://schemas.openxmlformats.org/drawingml/2006/table">
            <a:tbl>
              <a:tblPr/>
              <a:tblGrid>
                <a:gridCol w="7048500"/>
                <a:gridCol w="3524250"/>
                <a:gridCol w="3524250"/>
              </a:tblGrid>
              <a:tr h="841375">
                <a:tc>
                  <a:txBody>
                    <a:bodyPr lIns="171450" tIns="95250" rIns="152400" bIns="95250"/>
                    <a:lstStyle/>
                    <a:p>
                      <a:r>
                        <a:rPr sz="2550" b="1">
                          <a:solidFill>
                            <a:srgbClr val="FFFFFF"/>
                          </a:solidFill>
                          <a:latin typeface="Arial"/>
                          <a:ea typeface="Arial"/>
                          <a:cs typeface="Arial"/>
                        </a:rPr>
                        <a:t>Grootheid</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Oud</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Nieuw</a:t>
                      </a:r>
                    </a:p>
                  </a:txBody>
                  <a:tcPr marL="91440" marR="91440" marT="45720" marB="45720" anchor="ctr">
                    <a:solidFill>
                      <a:srgbClr val="183247"/>
                    </a:solidFill>
                  </a:tcPr>
                </a:tc>
              </a:tr>
              <a:tr h="841375">
                <a:tc>
                  <a:txBody>
                    <a:bodyPr lIns="171450" tIns="95250" rIns="152400" bIns="95250"/>
                    <a:lstStyle/>
                    <a:p>
                      <a:r>
                        <a:rPr sz="2550" b="0">
                          <a:solidFill>
                            <a:srgbClr val="183247"/>
                          </a:solidFill>
                          <a:latin typeface="Arial"/>
                          <a:ea typeface="Arial"/>
                          <a:cs typeface="Arial"/>
                        </a:rPr>
                        <a:t>P (€ per bezoek)</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40</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36</a:t>
                      </a:r>
                    </a:p>
                  </a:txBody>
                  <a:tcPr marL="91440" marR="91440" marT="45720" marB="45720" anchor="ctr">
                    <a:solidFill>
                      <a:srgbClr val="FFFFFF"/>
                    </a:solidFill>
                  </a:tcPr>
                </a:tc>
              </a:tr>
              <a:tr h="841375">
                <a:tc>
                  <a:txBody>
                    <a:bodyPr lIns="171450" tIns="95250" rIns="152400" bIns="95250"/>
                    <a:lstStyle/>
                    <a:p>
                      <a:r>
                        <a:rPr sz="2550" b="0">
                          <a:solidFill>
                            <a:srgbClr val="183247"/>
                          </a:solidFill>
                          <a:latin typeface="Arial"/>
                          <a:ea typeface="Arial"/>
                          <a:cs typeface="Arial"/>
                        </a:rPr>
                        <a:t>Qv (bezoeken per maand)</a:t>
                      </a:r>
                    </a:p>
                  </a:txBody>
                  <a:tcPr marL="91440" marR="91440" marT="45720" marB="45720" anchor="ctr">
                    <a:solidFill>
                      <a:srgbClr val="EFF4F7"/>
                    </a:solidFill>
                  </a:tcPr>
                </a:tc>
                <a:tc>
                  <a:txBody>
                    <a:bodyPr lIns="171450" tIns="95250" rIns="152400" bIns="95250"/>
                    <a:lstStyle/>
                    <a:p>
                      <a:r>
                        <a:rPr sz="2550" b="0">
                          <a:solidFill>
                            <a:srgbClr val="183247"/>
                          </a:solidFill>
                          <a:latin typeface="Arial"/>
                          <a:ea typeface="Arial"/>
                          <a:cs typeface="Arial"/>
                        </a:rPr>
                        <a:t>300</a:t>
                      </a:r>
                    </a:p>
                  </a:txBody>
                  <a:tcPr marL="91440" marR="91440" marT="45720" marB="45720" anchor="ctr">
                    <a:solidFill>
                      <a:srgbClr val="EFF4F7"/>
                    </a:solidFill>
                  </a:tcPr>
                </a:tc>
                <a:tc>
                  <a:txBody>
                    <a:bodyPr lIns="171450" tIns="95250" rIns="152400" bIns="95250"/>
                    <a:lstStyle/>
                    <a:p>
                      <a:r>
                        <a:rPr sz="2550" b="0">
                          <a:solidFill>
                            <a:srgbClr val="183247"/>
                          </a:solidFill>
                          <a:latin typeface="Arial"/>
                          <a:ea typeface="Arial"/>
                          <a:cs typeface="Arial"/>
                        </a:rPr>
                        <a:t>345</a:t>
                      </a:r>
                    </a:p>
                  </a:txBody>
                  <a:tcPr marL="91440" marR="91440" marT="45720" marB="45720" anchor="ctr">
                    <a:solidFill>
                      <a:srgbClr val="EFF4F7"/>
                    </a:solidFill>
                  </a:tcPr>
                </a:tc>
              </a:tr>
            </a:tbl>
          </a:graphicData>
        </a:graphic>
      </p:graphicFrame>
      <p:sp>
        <p:nvSpPr>
          <p:cNvPr id="8" name="Bereken %ΔP, %ΔQv en Ev. Welke indeling past?">
            <a:extLst xmlns:a="http://schemas.openxmlformats.org/drawingml/2006/main">
              <a:ext uri="{FF2B5EF4-FFF2-40B4-BE49-F238E27FC236}">
                <a16:creationId xmlns:a16="http://schemas.microsoft.com/office/drawing/2014/main" id="{CA2B25EE-9EBA-44A4-855B-F6F8A311918B}"/>
              </a:ext>
            </a:extLst>
          </p:cNvPr>
          <p:cNvSpPr>
            <a:spLocks xmlns:a="http://schemas.openxmlformats.org/drawingml/2006/main" noGrp="1"/>
          </p:cNvSpPr>
          <p:nvPr/>
        </p:nvSpPr>
        <p:spPr>
          <a:xfrm xmlns:a="http://schemas.openxmlformats.org/drawingml/2006/main">
            <a:off x="571500" y="6486525"/>
            <a:ext cx="140970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83247"/>
                </a:solidFill>
                <a:latin typeface="Arial"/>
                <a:ea typeface="Arial"/>
                <a:cs typeface="Arial"/>
              </a:defRPr>
            </a:pPr>
            <a:r>
              <a:rPr sz="3000" b="1">
                <a:solidFill>
                  <a:srgbClr val="183247"/>
                </a:solidFill>
                <a:latin typeface="Arial"/>
                <a:ea typeface="Arial"/>
                <a:cs typeface="Arial"/>
              </a:rPr>
              <a:t>Bereken %ΔP, %ΔQv en Ev. Welke indeling past?</a:t>
            </a:r>
          </a:p>
        </p:txBody>
      </p:sp>
      <p:sp>
        <p:nvSpPr>
          <p:cNvPr id="9" name="Kan Ev negatief zijn terwijl Qv stijgt?">
            <a:extLst xmlns:a="http://schemas.openxmlformats.org/drawingml/2006/main">
              <a:ext uri="{FF2B5EF4-FFF2-40B4-BE49-F238E27FC236}">
                <a16:creationId xmlns:a16="http://schemas.microsoft.com/office/drawing/2014/main" id="{E5E4686A-AB1F-41BF-A1F9-2E562B26A27A}"/>
              </a:ext>
            </a:extLst>
          </p:cNvPr>
          <p:cNvSpPr>
            <a:spLocks xmlns:a="http://schemas.openxmlformats.org/drawingml/2006/main" noGrp="1"/>
          </p:cNvSpPr>
          <p:nvPr/>
        </p:nvSpPr>
        <p:spPr>
          <a:xfrm xmlns:a="http://schemas.openxmlformats.org/drawingml/2006/main">
            <a:off x="571500" y="7467600"/>
            <a:ext cx="14097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Kan Ev negatief zijn terwijl Qv stijgt?</a:t>
            </a:r>
          </a:p>
        </p:txBody>
      </p:sp>
    </p:spTree>
    <p:extLst>
      <p:ext uri="{BB962C8B-B14F-4D97-AF65-F5344CB8AC3E}">
        <p14:creationId xmlns:p14="http://schemas.microsoft.com/office/powerpoint/2010/main" val="1806074256"/>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Prijsdaling: het teken en de sterkte">
            <a:extLst xmlns:a="http://schemas.openxmlformats.org/drawingml/2006/main">
              <a:ext uri="{FF2B5EF4-FFF2-40B4-BE49-F238E27FC236}">
                <a16:creationId xmlns:a16="http://schemas.microsoft.com/office/drawing/2014/main" id="{576DA7D8-D0AE-4D4C-AB69-62E6C6CBEA38}"/>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Prijsdaling: het teken en de sterkte</a:t>
            </a:r>
          </a:p>
        </p:txBody>
      </p:sp>
      <p:sp>
        <p:nvSpPr>
          <p:cNvPr id="2" name="">
            <a:extLst xmlns:a="http://schemas.openxmlformats.org/drawingml/2006/main">
              <a:ext uri="{FF2B5EF4-FFF2-40B4-BE49-F238E27FC236}">
                <a16:creationId xmlns:a16="http://schemas.microsoft.com/office/drawing/2014/main" id="{A6C6187C-7204-4AA9-88C6-5540866055E0}"/>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1 Prijselasticiteit">
            <a:extLst xmlns:a="http://schemas.openxmlformats.org/drawingml/2006/main">
              <a:ext uri="{FF2B5EF4-FFF2-40B4-BE49-F238E27FC236}">
                <a16:creationId xmlns:a16="http://schemas.microsoft.com/office/drawing/2014/main" id="{3EAA423A-4354-40B9-B5A8-3DBC08CA8238}"/>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§2.2.1 Prijselasticiteit</a:t>
            </a:r>
          </a:p>
        </p:txBody>
      </p:sp>
      <p:sp>
        <p:nvSpPr>
          <p:cNvPr id="4" name="11">
            <a:extLst xmlns:a="http://schemas.openxmlformats.org/drawingml/2006/main">
              <a:ext uri="{FF2B5EF4-FFF2-40B4-BE49-F238E27FC236}">
                <a16:creationId xmlns:a16="http://schemas.microsoft.com/office/drawing/2014/main" id="{5E92C139-4F9C-4CA7-96E3-8879F1B2EE24}"/>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11</a:t>
            </a:r>
          </a:p>
        </p:txBody>
      </p:sp>
      <p:sp>
        <p:nvSpPr>
          <p:cNvPr id="5" name="Uitlegvoorbeeld — niet uit het boek">
            <a:extLst xmlns:a="http://schemas.openxmlformats.org/drawingml/2006/main">
              <a:ext uri="{FF2B5EF4-FFF2-40B4-BE49-F238E27FC236}">
                <a16:creationId xmlns:a16="http://schemas.microsoft.com/office/drawing/2014/main" id="{DABFAB4F-A77E-4319-AC80-C4DE3B5FDADA}"/>
              </a:ext>
            </a:extLst>
          </p:cNvPr>
          <p:cNvSpPr>
            <a:spLocks xmlns:a="http://schemas.openxmlformats.org/drawingml/2006/main" noGrp="1"/>
          </p:cNvSpPr>
          <p:nvPr/>
        </p:nvSpPr>
        <p:spPr>
          <a:xfrm xmlns:a="http://schemas.openxmlformats.org/drawingml/2006/main">
            <a:off x="571500" y="1704975"/>
            <a:ext cx="14097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445B6B"/>
                </a:solidFill>
                <a:latin typeface="Arial"/>
                <a:ea typeface="Arial"/>
                <a:cs typeface="Arial"/>
              </a:defRPr>
            </a:pPr>
            <a:r>
              <a:rPr sz="2100" b="0">
                <a:solidFill>
                  <a:srgbClr val="445B6B"/>
                </a:solidFill>
                <a:latin typeface="Arial"/>
                <a:ea typeface="Arial"/>
                <a:cs typeface="Arial"/>
              </a:rPr>
              <a:t>Uitlegvoorbeeld — niet uit het boek</a:t>
            </a:r>
          </a:p>
        </p:txBody>
      </p:sp>
      <p:sp>
        <p:nvSpPr>
          <p:cNvPr id="6" name="%ΔP = (36 − 40) / 40 × 100% = −10%">
            <a:extLst xmlns:a="http://schemas.openxmlformats.org/drawingml/2006/main">
              <a:ext uri="{FF2B5EF4-FFF2-40B4-BE49-F238E27FC236}">
                <a16:creationId xmlns:a16="http://schemas.microsoft.com/office/drawing/2014/main" id="{FF2A1042-9677-466B-9BFB-D714A7A1D52C}"/>
              </a:ext>
            </a:extLst>
          </p:cNvPr>
          <p:cNvSpPr>
            <a:spLocks xmlns:a="http://schemas.openxmlformats.org/drawingml/2006/main" noGrp="1"/>
          </p:cNvSpPr>
          <p:nvPr/>
        </p:nvSpPr>
        <p:spPr>
          <a:xfrm xmlns:a="http://schemas.openxmlformats.org/drawingml/2006/main">
            <a:off x="571500" y="2581275"/>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0">
                <a:solidFill>
                  <a:srgbClr val="17658A"/>
                </a:solidFill>
                <a:latin typeface="Arial"/>
                <a:ea typeface="Arial"/>
                <a:cs typeface="Arial"/>
              </a:defRPr>
            </a:pPr>
            <a:r>
              <a:rPr sz="3375" b="0">
                <a:solidFill>
                  <a:srgbClr val="17658A"/>
                </a:solidFill>
                <a:latin typeface="Arial"/>
                <a:ea typeface="Arial"/>
                <a:cs typeface="Arial"/>
              </a:rPr>
              <a:t>%ΔP = (36 − 40) / 40 × 100% = −10%</a:t>
            </a:r>
          </a:p>
        </p:txBody>
      </p:sp>
      <p:sp>
        <p:nvSpPr>
          <p:cNvPr id="7" name="%ΔQv = (345 − 300) / 300 × 100% = +15%">
            <a:extLst xmlns:a="http://schemas.openxmlformats.org/drawingml/2006/main">
              <a:ext uri="{FF2B5EF4-FFF2-40B4-BE49-F238E27FC236}">
                <a16:creationId xmlns:a16="http://schemas.microsoft.com/office/drawing/2014/main" id="{67BC78FE-73D1-4D5A-A57B-46BF395024E7}"/>
              </a:ext>
            </a:extLst>
          </p:cNvPr>
          <p:cNvSpPr>
            <a:spLocks xmlns:a="http://schemas.openxmlformats.org/drawingml/2006/main" noGrp="1"/>
          </p:cNvSpPr>
          <p:nvPr/>
        </p:nvSpPr>
        <p:spPr>
          <a:xfrm xmlns:a="http://schemas.openxmlformats.org/drawingml/2006/main">
            <a:off x="571500" y="3781425"/>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0">
                <a:solidFill>
                  <a:srgbClr val="20665B"/>
                </a:solidFill>
                <a:latin typeface="Arial"/>
                <a:ea typeface="Arial"/>
                <a:cs typeface="Arial"/>
              </a:defRPr>
            </a:pPr>
            <a:r>
              <a:rPr sz="3225" b="0">
                <a:solidFill>
                  <a:srgbClr val="20665B"/>
                </a:solidFill>
                <a:latin typeface="Arial"/>
                <a:ea typeface="Arial"/>
                <a:cs typeface="Arial"/>
              </a:rPr>
              <a:t>%ΔQv = (345 − 300) / 300 × 100% = +15%</a:t>
            </a:r>
          </a:p>
        </p:txBody>
      </p:sp>
      <p:sp>
        <p:nvSpPr>
          <p:cNvPr id="8" name="Ev = +15% / −10% = −1,5">
            <a:extLst xmlns:a="http://schemas.openxmlformats.org/drawingml/2006/main">
              <a:ext uri="{FF2B5EF4-FFF2-40B4-BE49-F238E27FC236}">
                <a16:creationId xmlns:a16="http://schemas.microsoft.com/office/drawing/2014/main" id="{DADFA9EB-EF34-4CB3-B588-B8A05C02D272}"/>
              </a:ext>
            </a:extLst>
          </p:cNvPr>
          <p:cNvSpPr>
            <a:spLocks xmlns:a="http://schemas.openxmlformats.org/drawingml/2006/main" noGrp="1"/>
          </p:cNvSpPr>
          <p:nvPr/>
        </p:nvSpPr>
        <p:spPr>
          <a:xfrm xmlns:a="http://schemas.openxmlformats.org/drawingml/2006/main">
            <a:off x="571500" y="5067300"/>
            <a:ext cx="1409700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125" b="1">
                <a:solidFill>
                  <a:srgbClr val="183247"/>
                </a:solidFill>
                <a:latin typeface="Arial"/>
                <a:ea typeface="Arial"/>
                <a:cs typeface="Arial"/>
              </a:defRPr>
            </a:pPr>
            <a:r>
              <a:rPr sz="4125" b="1">
                <a:solidFill>
                  <a:srgbClr val="183247"/>
                </a:solidFill>
                <a:latin typeface="Arial"/>
                <a:ea typeface="Arial"/>
                <a:cs typeface="Arial"/>
              </a:rPr>
              <a:t>Ev = +15% / −10% = −1,5</a:t>
            </a:r>
          </a:p>
        </p:txBody>
      </p:sp>
      <p:sp>
        <p:nvSpPr>
          <p:cNvPr id="9" name="−1,5 &lt; −1: prijselastische vraag">
            <a:extLst xmlns:a="http://schemas.openxmlformats.org/drawingml/2006/main">
              <a:ext uri="{FF2B5EF4-FFF2-40B4-BE49-F238E27FC236}">
                <a16:creationId xmlns:a16="http://schemas.microsoft.com/office/drawing/2014/main" id="{834594B2-442B-4301-AF08-7CA0641A6FF5}"/>
              </a:ext>
            </a:extLst>
          </p:cNvPr>
          <p:cNvSpPr>
            <a:spLocks xmlns:a="http://schemas.openxmlformats.org/drawingml/2006/main" noGrp="1"/>
          </p:cNvSpPr>
          <p:nvPr/>
        </p:nvSpPr>
        <p:spPr>
          <a:xfrm xmlns:a="http://schemas.openxmlformats.org/drawingml/2006/main">
            <a:off x="571500" y="6324600"/>
            <a:ext cx="14097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A94D16"/>
                </a:solidFill>
                <a:latin typeface="Arial"/>
                <a:ea typeface="Arial"/>
                <a:cs typeface="Arial"/>
              </a:defRPr>
            </a:pPr>
            <a:r>
              <a:rPr sz="3225" b="1">
                <a:solidFill>
                  <a:srgbClr val="A94D16"/>
                </a:solidFill>
                <a:latin typeface="Arial"/>
                <a:ea typeface="Arial"/>
                <a:cs typeface="Arial"/>
              </a:rPr>
              <a:t>−1,5 &lt; −1: prijselastische vraag</a:t>
            </a:r>
          </a:p>
        </p:txBody>
      </p:sp>
      <p:sp>
        <p:nvSpPr>
          <p:cNvPr id="10" name="P daalt en Qv stijgt: de richting blijft tegengesteld.">
            <a:extLst xmlns:a="http://schemas.openxmlformats.org/drawingml/2006/main">
              <a:ext uri="{FF2B5EF4-FFF2-40B4-BE49-F238E27FC236}">
                <a16:creationId xmlns:a16="http://schemas.microsoft.com/office/drawing/2014/main" id="{96DAFE27-5F7E-4BDB-9352-E009ECFB2D43}"/>
              </a:ext>
            </a:extLst>
          </p:cNvPr>
          <p:cNvSpPr>
            <a:spLocks xmlns:a="http://schemas.openxmlformats.org/drawingml/2006/main" noGrp="1"/>
          </p:cNvSpPr>
          <p:nvPr/>
        </p:nvSpPr>
        <p:spPr>
          <a:xfrm xmlns:a="http://schemas.openxmlformats.org/drawingml/2006/main">
            <a:off x="571500" y="7448550"/>
            <a:ext cx="14097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P daalt en Qv stijgt: de richting blijft tegengesteld.</a:t>
            </a:r>
          </a:p>
        </p:txBody>
      </p:sp>
    </p:spTree>
    <p:extLst>
      <p:ext uri="{BB962C8B-B14F-4D97-AF65-F5344CB8AC3E}">
        <p14:creationId xmlns:p14="http://schemas.microsoft.com/office/powerpoint/2010/main" val="2033335097"/>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Deze les: §2.2.1 Prijselasticiteit">
            <a:extLst xmlns:a="http://schemas.openxmlformats.org/drawingml/2006/main">
              <a:ext uri="{FF2B5EF4-FFF2-40B4-BE49-F238E27FC236}">
                <a16:creationId xmlns:a16="http://schemas.microsoft.com/office/drawing/2014/main" id="{A581D9A4-61BF-4B9E-A2CE-669438C1CDA0}"/>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83247"/>
                </a:solidFill>
                <a:latin typeface="Arial"/>
                <a:ea typeface="Arial"/>
                <a:cs typeface="Arial"/>
              </a:defRPr>
            </a:pPr>
            <a:r>
              <a:rPr sz="3600" b="1">
                <a:solidFill>
                  <a:srgbClr val="183247"/>
                </a:solidFill>
                <a:latin typeface="Arial"/>
                <a:ea typeface="Arial"/>
                <a:cs typeface="Arial"/>
              </a:rPr>
              <a:t>Deze les: §2.2.1 Prijselasticiteit</a:t>
            </a:r>
          </a:p>
        </p:txBody>
      </p:sp>
      <p:sp>
        <p:nvSpPr>
          <p:cNvPr id="2" name="">
            <a:extLst xmlns:a="http://schemas.openxmlformats.org/drawingml/2006/main">
              <a:ext uri="{FF2B5EF4-FFF2-40B4-BE49-F238E27FC236}">
                <a16:creationId xmlns:a16="http://schemas.microsoft.com/office/drawing/2014/main" id="{68F8C962-5D1D-4AB5-ABD7-D48ED38938EC}"/>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1 Prijselasticiteit">
            <a:extLst xmlns:a="http://schemas.openxmlformats.org/drawingml/2006/main">
              <a:ext uri="{FF2B5EF4-FFF2-40B4-BE49-F238E27FC236}">
                <a16:creationId xmlns:a16="http://schemas.microsoft.com/office/drawing/2014/main" id="{8B56F9DC-C80F-405D-A6CA-258FA121FB26}"/>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§2.2.1 Prijselasticiteit</a:t>
            </a:r>
          </a:p>
        </p:txBody>
      </p:sp>
      <p:sp>
        <p:nvSpPr>
          <p:cNvPr id="4" name="12">
            <a:extLst xmlns:a="http://schemas.openxmlformats.org/drawingml/2006/main">
              <a:ext uri="{FF2B5EF4-FFF2-40B4-BE49-F238E27FC236}">
                <a16:creationId xmlns:a16="http://schemas.microsoft.com/office/drawing/2014/main" id="{5430D262-B43D-4123-95B5-064255ED10B8}"/>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12</a:t>
            </a:r>
          </a:p>
        </p:txBody>
      </p:sp>
      <p:sp>
        <p:nvSpPr>
          <p:cNvPr id="5" name="phase">
            <a:extLst xmlns:a="http://schemas.openxmlformats.org/drawingml/2006/main">
              <a:ext uri="{FF2B5EF4-FFF2-40B4-BE49-F238E27FC236}">
                <a16:creationId xmlns:a16="http://schemas.microsoft.com/office/drawing/2014/main" id="{9FF14039-7FB7-493A-95B0-6FD2FAF1F94D}"/>
              </a:ext>
            </a:extLst>
          </p:cNvPr>
          <p:cNvSpPr>
            <a:spLocks xmlns:a="http://schemas.openxmlformats.org/drawingml/2006/main" noGrp="1"/>
          </p:cNvSpPr>
          <p:nvPr/>
        </p:nvSpPr>
        <p:spPr>
          <a:xfrm xmlns:a="http://schemas.openxmlformats.org/drawingml/2006/main">
            <a:off x="571500" y="1066800"/>
            <a:ext cx="13811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Nu: Zelfstandig werken</a:t>
            </a:r>
          </a:p>
        </p:txBody>
      </p:sp>
      <p:sp>
        <p:nvSpPr>
          <p:cNvPr id="6" name="Lesroute">
            <a:extLst xmlns:a="http://schemas.openxmlformats.org/drawingml/2006/main">
              <a:ext uri="{FF2B5EF4-FFF2-40B4-BE49-F238E27FC236}">
                <a16:creationId xmlns:a16="http://schemas.microsoft.com/office/drawing/2014/main" id="{DBB0CE3A-6756-429A-B141-D704FF73B87D}"/>
              </a:ext>
            </a:extLst>
          </p:cNvPr>
          <p:cNvSpPr>
            <a:spLocks xmlns:a="http://schemas.openxmlformats.org/drawingml/2006/main" noGrp="1"/>
          </p:cNvSpPr>
          <p:nvPr/>
        </p:nvSpPr>
        <p:spPr>
          <a:xfrm xmlns:a="http://schemas.openxmlformats.org/drawingml/2006/main">
            <a:off x="571500" y="1762125"/>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1">
            <a:extLst xmlns:a="http://schemas.openxmlformats.org/drawingml/2006/main">
              <a:ext uri="{FF2B5EF4-FFF2-40B4-BE49-F238E27FC236}">
                <a16:creationId xmlns:a16="http://schemas.microsoft.com/office/drawing/2014/main" id="{55AA8F68-5741-49E3-B0B8-17BB2E0B14B2}"/>
              </a:ext>
            </a:extLst>
          </p:cNvPr>
          <p:cNvSpPr>
            <a:spLocks xmlns:a="http://schemas.openxmlformats.org/drawingml/2006/main" noGrp="1"/>
          </p:cNvSpPr>
          <p:nvPr/>
        </p:nvSpPr>
        <p:spPr>
          <a:xfrm xmlns:a="http://schemas.openxmlformats.org/drawingml/2006/main">
            <a:off x="571500" y="2324100"/>
            <a:ext cx="457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1">
            <a:extLst xmlns:a="http://schemas.openxmlformats.org/drawingml/2006/main">
              <a:ext uri="{FF2B5EF4-FFF2-40B4-BE49-F238E27FC236}">
                <a16:creationId xmlns:a16="http://schemas.microsoft.com/office/drawing/2014/main" id="{B72C5E02-9132-45ED-BE79-82DCC22D743B}"/>
              </a:ext>
            </a:extLst>
          </p:cNvPr>
          <p:cNvSpPr>
            <a:spLocks xmlns:a="http://schemas.openxmlformats.org/drawingml/2006/main" noGrp="1"/>
          </p:cNvSpPr>
          <p:nvPr/>
        </p:nvSpPr>
        <p:spPr>
          <a:xfrm xmlns:a="http://schemas.openxmlformats.org/drawingml/2006/main">
            <a:off x="1104900" y="2324100"/>
            <a:ext cx="74199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9" name="route-number-2">
            <a:extLst xmlns:a="http://schemas.openxmlformats.org/drawingml/2006/main">
              <a:ext uri="{FF2B5EF4-FFF2-40B4-BE49-F238E27FC236}">
                <a16:creationId xmlns:a16="http://schemas.microsoft.com/office/drawing/2014/main" id="{565F5E4E-99B7-42AD-8D22-8882395A0CDC}"/>
              </a:ext>
            </a:extLst>
          </p:cNvPr>
          <p:cNvSpPr>
            <a:spLocks xmlns:a="http://schemas.openxmlformats.org/drawingml/2006/main" noGrp="1"/>
          </p:cNvSpPr>
          <p:nvPr/>
        </p:nvSpPr>
        <p:spPr>
          <a:xfrm xmlns:a="http://schemas.openxmlformats.org/drawingml/2006/main">
            <a:off x="571500" y="320040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a:t>
            </a:r>
          </a:p>
        </p:txBody>
      </p:sp>
      <p:sp>
        <p:nvSpPr>
          <p:cNvPr id="10" name="route-2">
            <a:extLst xmlns:a="http://schemas.openxmlformats.org/drawingml/2006/main">
              <a:ext uri="{FF2B5EF4-FFF2-40B4-BE49-F238E27FC236}">
                <a16:creationId xmlns:a16="http://schemas.microsoft.com/office/drawing/2014/main" id="{ED8B6442-6186-4D44-9C49-2E7AD012E9DD}"/>
              </a:ext>
            </a:extLst>
          </p:cNvPr>
          <p:cNvSpPr>
            <a:spLocks xmlns:a="http://schemas.openxmlformats.org/drawingml/2006/main" noGrp="1"/>
          </p:cNvSpPr>
          <p:nvPr/>
        </p:nvSpPr>
        <p:spPr>
          <a:xfrm xmlns:a="http://schemas.openxmlformats.org/drawingml/2006/main">
            <a:off x="1104900" y="320040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Maak de startopdracht.</a:t>
            </a:r>
          </a:p>
        </p:txBody>
      </p:sp>
      <p:sp>
        <p:nvSpPr>
          <p:cNvPr id="11" name="route-number-3">
            <a:extLst xmlns:a="http://schemas.openxmlformats.org/drawingml/2006/main">
              <a:ext uri="{FF2B5EF4-FFF2-40B4-BE49-F238E27FC236}">
                <a16:creationId xmlns:a16="http://schemas.microsoft.com/office/drawing/2014/main" id="{FA723DFD-62ED-46DE-B585-0948C97FDBE9}"/>
              </a:ext>
            </a:extLst>
          </p:cNvPr>
          <p:cNvSpPr>
            <a:spLocks xmlns:a="http://schemas.openxmlformats.org/drawingml/2006/main" noGrp="1"/>
          </p:cNvSpPr>
          <p:nvPr/>
        </p:nvSpPr>
        <p:spPr>
          <a:xfrm xmlns:a="http://schemas.openxmlformats.org/drawingml/2006/main">
            <a:off x="571500" y="371475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3">
            <a:extLst xmlns:a="http://schemas.openxmlformats.org/drawingml/2006/main">
              <a:ext uri="{FF2B5EF4-FFF2-40B4-BE49-F238E27FC236}">
                <a16:creationId xmlns:a16="http://schemas.microsoft.com/office/drawing/2014/main" id="{77D157AE-6C53-422C-800B-2EAFCFD76C1F}"/>
              </a:ext>
            </a:extLst>
          </p:cNvPr>
          <p:cNvSpPr>
            <a:spLocks xmlns:a="http://schemas.openxmlformats.org/drawingml/2006/main" noGrp="1"/>
          </p:cNvSpPr>
          <p:nvPr/>
        </p:nvSpPr>
        <p:spPr>
          <a:xfrm xmlns:a="http://schemas.openxmlformats.org/drawingml/2006/main">
            <a:off x="1104900" y="371475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Uitleg bij de lesdoelen.</a:t>
            </a:r>
          </a:p>
        </p:txBody>
      </p:sp>
      <p:sp>
        <p:nvSpPr>
          <p:cNvPr id="13" name="route-number-4">
            <a:extLst xmlns:a="http://schemas.openxmlformats.org/drawingml/2006/main">
              <a:ext uri="{FF2B5EF4-FFF2-40B4-BE49-F238E27FC236}">
                <a16:creationId xmlns:a16="http://schemas.microsoft.com/office/drawing/2014/main" id="{18DEA5BE-EDE9-4AF1-90D4-87051BB67FF1}"/>
              </a:ext>
            </a:extLst>
          </p:cNvPr>
          <p:cNvSpPr>
            <a:spLocks xmlns:a="http://schemas.openxmlformats.org/drawingml/2006/main" noGrp="1"/>
          </p:cNvSpPr>
          <p:nvPr/>
        </p:nvSpPr>
        <p:spPr>
          <a:xfrm xmlns:a="http://schemas.openxmlformats.org/drawingml/2006/main">
            <a:off x="571500" y="4248150"/>
            <a:ext cx="4572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4.</a:t>
            </a:r>
          </a:p>
        </p:txBody>
      </p:sp>
      <p:sp>
        <p:nvSpPr>
          <p:cNvPr id="14" name="route-4">
            <a:extLst xmlns:a="http://schemas.openxmlformats.org/drawingml/2006/main">
              <a:ext uri="{FF2B5EF4-FFF2-40B4-BE49-F238E27FC236}">
                <a16:creationId xmlns:a16="http://schemas.microsoft.com/office/drawing/2014/main" id="{E9605FFC-D05D-44E5-957A-E99838C65ED3}"/>
              </a:ext>
            </a:extLst>
          </p:cNvPr>
          <p:cNvSpPr>
            <a:spLocks xmlns:a="http://schemas.openxmlformats.org/drawingml/2006/main" noGrp="1"/>
          </p:cNvSpPr>
          <p:nvPr/>
        </p:nvSpPr>
        <p:spPr>
          <a:xfrm xmlns:a="http://schemas.openxmlformats.org/drawingml/2006/main">
            <a:off x="1104900" y="4248150"/>
            <a:ext cx="7419975"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Begin bij de basisopgaven en stel vragen. Lukt dat goed, ga dan naar de zelfstandige oefening. Maak daarna de doelopgave en kijk vervolgens je antwoorden na.</a:t>
            </a:r>
          </a:p>
        </p:txBody>
      </p:sp>
      <p:sp>
        <p:nvSpPr>
          <p:cNvPr id="15" name="route-number-5">
            <a:extLst xmlns:a="http://schemas.openxmlformats.org/drawingml/2006/main">
              <a:ext uri="{FF2B5EF4-FFF2-40B4-BE49-F238E27FC236}">
                <a16:creationId xmlns:a16="http://schemas.microsoft.com/office/drawing/2014/main" id="{5903F8D0-A004-436D-B8AA-9BD6EE6E73A7}"/>
              </a:ext>
            </a:extLst>
          </p:cNvPr>
          <p:cNvSpPr>
            <a:spLocks xmlns:a="http://schemas.openxmlformats.org/drawingml/2006/main" noGrp="1"/>
          </p:cNvSpPr>
          <p:nvPr/>
        </p:nvSpPr>
        <p:spPr>
          <a:xfrm xmlns:a="http://schemas.openxmlformats.org/drawingml/2006/main">
            <a:off x="571500" y="6057900"/>
            <a:ext cx="457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5">
            <a:extLst xmlns:a="http://schemas.openxmlformats.org/drawingml/2006/main">
              <a:ext uri="{FF2B5EF4-FFF2-40B4-BE49-F238E27FC236}">
                <a16:creationId xmlns:a16="http://schemas.microsoft.com/office/drawing/2014/main" id="{02DE21BE-77B0-4F50-BB35-9AA1F00825FB}"/>
              </a:ext>
            </a:extLst>
          </p:cNvPr>
          <p:cNvSpPr>
            <a:spLocks xmlns:a="http://schemas.openxmlformats.org/drawingml/2006/main" noGrp="1"/>
          </p:cNvSpPr>
          <p:nvPr/>
        </p:nvSpPr>
        <p:spPr>
          <a:xfrm xmlns:a="http://schemas.openxmlformats.org/drawingml/2006/main">
            <a:off x="1104900" y="6057900"/>
            <a:ext cx="74199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6">
            <a:extLst xmlns:a="http://schemas.openxmlformats.org/drawingml/2006/main">
              <a:ext uri="{FF2B5EF4-FFF2-40B4-BE49-F238E27FC236}">
                <a16:creationId xmlns:a16="http://schemas.microsoft.com/office/drawing/2014/main" id="{8F969780-9C0A-4104-A0DC-B5C168B51E33}"/>
              </a:ext>
            </a:extLst>
          </p:cNvPr>
          <p:cNvSpPr>
            <a:spLocks xmlns:a="http://schemas.openxmlformats.org/drawingml/2006/main" noGrp="1"/>
          </p:cNvSpPr>
          <p:nvPr/>
        </p:nvSpPr>
        <p:spPr>
          <a:xfrm xmlns:a="http://schemas.openxmlformats.org/drawingml/2006/main">
            <a:off x="571500" y="6819900"/>
            <a:ext cx="457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6">
            <a:extLst xmlns:a="http://schemas.openxmlformats.org/drawingml/2006/main">
              <a:ext uri="{FF2B5EF4-FFF2-40B4-BE49-F238E27FC236}">
                <a16:creationId xmlns:a16="http://schemas.microsoft.com/office/drawing/2014/main" id="{D76BE02B-1F47-4D28-BFE9-8EA9E10C0BFF}"/>
              </a:ext>
            </a:extLst>
          </p:cNvPr>
          <p:cNvSpPr>
            <a:spLocks xmlns:a="http://schemas.openxmlformats.org/drawingml/2006/main" noGrp="1"/>
          </p:cNvSpPr>
          <p:nvPr/>
        </p:nvSpPr>
        <p:spPr>
          <a:xfrm xmlns:a="http://schemas.openxmlformats.org/drawingml/2006/main">
            <a:off x="1104900" y="6819900"/>
            <a:ext cx="74199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7.</a:t>
            </a:r>
          </a:p>
        </p:txBody>
      </p:sp>
      <p:sp>
        <p:nvSpPr>
          <p:cNvPr id="19" name="route-number-7">
            <a:extLst xmlns:a="http://schemas.openxmlformats.org/drawingml/2006/main">
              <a:ext uri="{FF2B5EF4-FFF2-40B4-BE49-F238E27FC236}">
                <a16:creationId xmlns:a16="http://schemas.microsoft.com/office/drawing/2014/main" id="{ECF7E65C-1CBE-43E8-B44D-2635357B4966}"/>
              </a:ext>
            </a:extLst>
          </p:cNvPr>
          <p:cNvSpPr>
            <a:spLocks xmlns:a="http://schemas.openxmlformats.org/drawingml/2006/main" noGrp="1"/>
          </p:cNvSpPr>
          <p:nvPr/>
        </p:nvSpPr>
        <p:spPr>
          <a:xfrm xmlns:a="http://schemas.openxmlformats.org/drawingml/2006/main">
            <a:off x="571500" y="7372350"/>
            <a:ext cx="45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7.</a:t>
            </a:r>
          </a:p>
        </p:txBody>
      </p:sp>
      <p:sp>
        <p:nvSpPr>
          <p:cNvPr id="20" name="route-7">
            <a:extLst xmlns:a="http://schemas.openxmlformats.org/drawingml/2006/main">
              <a:ext uri="{FF2B5EF4-FFF2-40B4-BE49-F238E27FC236}">
                <a16:creationId xmlns:a16="http://schemas.microsoft.com/office/drawing/2014/main" id="{2E515A69-4DC7-4477-BBD4-D7702E91BD75}"/>
              </a:ext>
            </a:extLst>
          </p:cNvPr>
          <p:cNvSpPr>
            <a:spLocks xmlns:a="http://schemas.openxmlformats.org/drawingml/2006/main" noGrp="1"/>
          </p:cNvSpPr>
          <p:nvPr/>
        </p:nvSpPr>
        <p:spPr>
          <a:xfrm xmlns:a="http://schemas.openxmlformats.org/drawingml/2006/main">
            <a:off x="1104900" y="7372350"/>
            <a:ext cx="74199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43E2C3D7-94E0-45E5-91A5-A4B96A4700A5}"/>
              </a:ext>
            </a:extLst>
          </p:cNvPr>
          <p:cNvSpPr>
            <a:spLocks xmlns:a="http://schemas.openxmlformats.org/drawingml/2006/main" noGrp="1"/>
          </p:cNvSpPr>
          <p:nvPr/>
        </p:nvSpPr>
        <p:spPr>
          <a:xfrm xmlns:a="http://schemas.openxmlformats.org/drawingml/2006/main">
            <a:off x="9258300" y="176212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79807DDB-D997-4C90-8D61-A8B290F9EB2E}"/>
              </a:ext>
            </a:extLst>
          </p:cNvPr>
          <p:cNvSpPr>
            <a:spLocks xmlns:a="http://schemas.openxmlformats.org/drawingml/2006/main" noGrp="1"/>
          </p:cNvSpPr>
          <p:nvPr/>
        </p:nvSpPr>
        <p:spPr>
          <a:xfrm xmlns:a="http://schemas.openxmlformats.org/drawingml/2006/main">
            <a:off x="9258300" y="2324100"/>
            <a:ext cx="5381625"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Procenten en Ev berekenen.</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Vraag indelen en vergelijken.</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Een mogelijke reden uitleggen.</a:t>
            </a:r>
          </a:p>
        </p:txBody>
      </p:sp>
      <p:sp>
        <p:nvSpPr>
          <p:cNvPr id="23" name="">
            <a:extLst xmlns:a="http://schemas.openxmlformats.org/drawingml/2006/main">
              <a:ext uri="{FF2B5EF4-FFF2-40B4-BE49-F238E27FC236}">
                <a16:creationId xmlns:a16="http://schemas.microsoft.com/office/drawing/2014/main" id="{A06A290A-A832-44F7-9169-A4E44585C898}"/>
              </a:ext>
            </a:extLst>
          </p:cNvPr>
          <p:cNvSpPr>
            <a:spLocks xmlns:a="http://schemas.openxmlformats.org/drawingml/2006/main" noGrp="1"/>
          </p:cNvSpPr>
          <p:nvPr/>
        </p:nvSpPr>
        <p:spPr>
          <a:xfrm xmlns:a="http://schemas.openxmlformats.org/drawingml/2006/main">
            <a:off x="9258300" y="3562350"/>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0B3EBC0A-19F0-48C3-A300-6BC0B76A2AE2}"/>
              </a:ext>
            </a:extLst>
          </p:cNvPr>
          <p:cNvSpPr>
            <a:spLocks xmlns:a="http://schemas.openxmlformats.org/drawingml/2006/main" noGrp="1"/>
          </p:cNvSpPr>
          <p:nvPr/>
        </p:nvSpPr>
        <p:spPr>
          <a:xfrm xmlns:a="http://schemas.openxmlformats.org/drawingml/2006/main">
            <a:off x="9258300" y="383857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827F7176-AB29-4C9A-BE82-7A69886A2DC1}"/>
              </a:ext>
            </a:extLst>
          </p:cNvPr>
          <p:cNvSpPr>
            <a:spLocks xmlns:a="http://schemas.openxmlformats.org/drawingml/2006/main" noGrp="1"/>
          </p:cNvSpPr>
          <p:nvPr/>
        </p:nvSpPr>
        <p:spPr>
          <a:xfrm xmlns:a="http://schemas.openxmlformats.org/drawingml/2006/main">
            <a:off x="9258300" y="4371975"/>
            <a:ext cx="5381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Pagina 40</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Opgaven 1 en 2</a:t>
            </a:r>
          </a:p>
        </p:txBody>
      </p:sp>
      <p:sp>
        <p:nvSpPr>
          <p:cNvPr id="26" name="">
            <a:extLst xmlns:a="http://schemas.openxmlformats.org/drawingml/2006/main">
              <a:ext uri="{FF2B5EF4-FFF2-40B4-BE49-F238E27FC236}">
                <a16:creationId xmlns:a16="http://schemas.microsoft.com/office/drawing/2014/main" id="{E03831DF-0002-4147-ABA7-54D93BA534C4}"/>
              </a:ext>
            </a:extLst>
          </p:cNvPr>
          <p:cNvSpPr>
            <a:spLocks xmlns:a="http://schemas.openxmlformats.org/drawingml/2006/main" noGrp="1"/>
          </p:cNvSpPr>
          <p:nvPr/>
        </p:nvSpPr>
        <p:spPr>
          <a:xfrm xmlns:a="http://schemas.openxmlformats.org/drawingml/2006/main">
            <a:off x="9258300" y="5429250"/>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E8A88002-EF37-424D-940D-C005868C4CDC}"/>
              </a:ext>
            </a:extLst>
          </p:cNvPr>
          <p:cNvSpPr>
            <a:spLocks xmlns:a="http://schemas.openxmlformats.org/drawingml/2006/main" noGrp="1"/>
          </p:cNvSpPr>
          <p:nvPr/>
        </p:nvSpPr>
        <p:spPr>
          <a:xfrm xmlns:a="http://schemas.openxmlformats.org/drawingml/2006/main">
            <a:off x="9258300" y="5695950"/>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DEE3203D-4B7C-444B-BA05-0D75D03DADBD}"/>
              </a:ext>
            </a:extLst>
          </p:cNvPr>
          <p:cNvSpPr>
            <a:spLocks xmlns:a="http://schemas.openxmlformats.org/drawingml/2006/main" noGrp="1"/>
          </p:cNvSpPr>
          <p:nvPr/>
        </p:nvSpPr>
        <p:spPr>
          <a:xfrm xmlns:a="http://schemas.openxmlformats.org/drawingml/2006/main">
            <a:off x="9258300" y="6229350"/>
            <a:ext cx="5381625"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§2.2.1 Prijselasticiteit</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Basis: 3 en 4</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Zelfstandig: 5 en 6</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Doelopgave: 7</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Maken en nakijken</a:t>
            </a:r>
          </a:p>
        </p:txBody>
      </p:sp>
    </p:spTree>
    <p:extLst>
      <p:ext uri="{BB962C8B-B14F-4D97-AF65-F5344CB8AC3E}">
        <p14:creationId xmlns:p14="http://schemas.microsoft.com/office/powerpoint/2010/main" val="1029043039"/>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Opgave 7 · Bioscoop Nova en StreamNow">
            <a:extLst xmlns:a="http://schemas.openxmlformats.org/drawingml/2006/main">
              <a:ext uri="{FF2B5EF4-FFF2-40B4-BE49-F238E27FC236}">
                <a16:creationId xmlns:a16="http://schemas.microsoft.com/office/drawing/2014/main" id="{7A03B2F0-B4CC-4A3D-AE9C-C18AAA6722BC}"/>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7 · Bioscoop Nova en StreamNow</a:t>
            </a:r>
          </a:p>
        </p:txBody>
      </p:sp>
      <p:sp>
        <p:nvSpPr>
          <p:cNvPr id="2" name="">
            <a:extLst xmlns:a="http://schemas.openxmlformats.org/drawingml/2006/main">
              <a:ext uri="{FF2B5EF4-FFF2-40B4-BE49-F238E27FC236}">
                <a16:creationId xmlns:a16="http://schemas.microsoft.com/office/drawing/2014/main" id="{09326F3F-B7F0-49ED-A07A-37DBC314F1BA}"/>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1 Prijselasticiteit · Opgave 7 · Boekpagina 42">
            <a:extLst xmlns:a="http://schemas.openxmlformats.org/drawingml/2006/main">
              <a:ext uri="{FF2B5EF4-FFF2-40B4-BE49-F238E27FC236}">
                <a16:creationId xmlns:a16="http://schemas.microsoft.com/office/drawing/2014/main" id="{0F797335-DC06-4AC3-A87B-D74DE067CCC6}"/>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§2.2.1 Prijselasticiteit · Opgave 7 · Boekpagina 42</a:t>
            </a:r>
          </a:p>
        </p:txBody>
      </p:sp>
      <p:sp>
        <p:nvSpPr>
          <p:cNvPr id="4" name="13">
            <a:extLst xmlns:a="http://schemas.openxmlformats.org/drawingml/2006/main">
              <a:ext uri="{FF2B5EF4-FFF2-40B4-BE49-F238E27FC236}">
                <a16:creationId xmlns:a16="http://schemas.microsoft.com/office/drawing/2014/main" id="{0EF1F855-FF20-4959-8880-7C1ED58E5628}"/>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13</a:t>
            </a:r>
          </a:p>
        </p:txBody>
      </p:sp>
      <p:sp>
        <p:nvSpPr>
          <p:cNvPr id="5" name="Bioscoop Nova verhoogt de ticketprijs.">
            <a:extLst xmlns:a="http://schemas.openxmlformats.org/drawingml/2006/main">
              <a:ext uri="{FF2B5EF4-FFF2-40B4-BE49-F238E27FC236}">
                <a16:creationId xmlns:a16="http://schemas.microsoft.com/office/drawing/2014/main" id="{2D569DCC-7E00-48F2-9A47-1ADECD330CDE}"/>
              </a:ext>
            </a:extLst>
          </p:cNvPr>
          <p:cNvSpPr>
            <a:spLocks xmlns:a="http://schemas.openxmlformats.org/drawingml/2006/main" noGrp="1"/>
          </p:cNvSpPr>
          <p:nvPr/>
        </p:nvSpPr>
        <p:spPr>
          <a:xfrm xmlns:a="http://schemas.openxmlformats.org/drawingml/2006/main">
            <a:off x="571500" y="1838325"/>
            <a:ext cx="14097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83247"/>
                </a:solidFill>
                <a:latin typeface="Arial"/>
                <a:ea typeface="Arial"/>
                <a:cs typeface="Arial"/>
              </a:defRPr>
            </a:pPr>
            <a:r>
              <a:rPr sz="3000" b="1">
                <a:solidFill>
                  <a:srgbClr val="183247"/>
                </a:solidFill>
                <a:latin typeface="Arial"/>
                <a:ea typeface="Arial"/>
                <a:cs typeface="Arial"/>
              </a:rPr>
              <a:t>Bioscoop Nova verhoogt de ticketprijs.</a:t>
            </a:r>
          </a:p>
        </p:txBody>
      </p:sp>
      <p:graphicFrame>
        <p:nvGraphicFramePr>
          <p:cNvPr id="14" name=""/>
          <p:cNvGraphicFramePr/>
          <p:nvPr/>
        </p:nvGraphicFramePr>
        <p:xfrm>
          <a:off xmlns:a="http://schemas.openxmlformats.org/drawingml/2006/main" x="571500" y="2886075"/>
          <a:ext xmlns:a="http://schemas.openxmlformats.org/drawingml/2006/main" cx="14097000" cy="2647950"/>
        </p:xfrm>
        <a:graphic xmlns:a="http://schemas.openxmlformats.org/drawingml/2006/main">
          <a:graphicData uri="http://schemas.openxmlformats.org/drawingml/2006/table">
            <a:tbl>
              <a:tblPr/>
              <a:tblGrid>
                <a:gridCol w="7048500"/>
                <a:gridCol w="3524250"/>
                <a:gridCol w="3524250"/>
              </a:tblGrid>
              <a:tr h="882650">
                <a:tc>
                  <a:txBody>
                    <a:bodyPr lIns="171450" tIns="95250" rIns="152400" bIns="95250"/>
                    <a:lstStyle/>
                    <a:p>
                      <a:r>
                        <a:rPr sz="2550" b="1">
                          <a:solidFill>
                            <a:srgbClr val="FFFFFF"/>
                          </a:solidFill>
                          <a:latin typeface="Arial"/>
                          <a:ea typeface="Arial"/>
                          <a:cs typeface="Arial"/>
                        </a:rPr>
                        <a:t>Bioscoop Nova</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Oud</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Nieuw</a:t>
                      </a:r>
                    </a:p>
                  </a:txBody>
                  <a:tcPr marL="91440" marR="91440" marT="45720" marB="45720" anchor="ctr">
                    <a:solidFill>
                      <a:srgbClr val="183247"/>
                    </a:solidFill>
                  </a:tcPr>
                </a:tc>
              </a:tr>
              <a:tr h="882650">
                <a:tc>
                  <a:txBody>
                    <a:bodyPr lIns="171450" tIns="95250" rIns="152400" bIns="95250"/>
                    <a:lstStyle/>
                    <a:p>
                      <a:r>
                        <a:rPr sz="2550" b="0">
                          <a:solidFill>
                            <a:srgbClr val="183247"/>
                          </a:solidFill>
                          <a:latin typeface="Arial"/>
                          <a:ea typeface="Arial"/>
                          <a:cs typeface="Arial"/>
                        </a:rPr>
                        <a:t>Ticketprijs (€ per ticket)</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10</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12</a:t>
                      </a:r>
                    </a:p>
                  </a:txBody>
                  <a:tcPr marL="91440" marR="91440" marT="45720" marB="45720" anchor="ctr">
                    <a:solidFill>
                      <a:srgbClr val="FFFFFF"/>
                    </a:solidFill>
                  </a:tcPr>
                </a:tc>
              </a:tr>
              <a:tr h="882650">
                <a:tc>
                  <a:txBody>
                    <a:bodyPr lIns="171450" tIns="95250" rIns="152400" bIns="95250"/>
                    <a:lstStyle/>
                    <a:p>
                      <a:r>
                        <a:rPr sz="2550" b="0">
                          <a:solidFill>
                            <a:srgbClr val="183247"/>
                          </a:solidFill>
                          <a:latin typeface="Arial"/>
                          <a:ea typeface="Arial"/>
                          <a:cs typeface="Arial"/>
                        </a:rPr>
                        <a:t>Qv (tickets per week)</a:t>
                      </a:r>
                    </a:p>
                  </a:txBody>
                  <a:tcPr marL="91440" marR="91440" marT="45720" marB="45720" anchor="ctr">
                    <a:solidFill>
                      <a:srgbClr val="EFF4F7"/>
                    </a:solidFill>
                  </a:tcPr>
                </a:tc>
                <a:tc>
                  <a:txBody>
                    <a:bodyPr lIns="171450" tIns="95250" rIns="152400" bIns="95250"/>
                    <a:lstStyle/>
                    <a:p>
                      <a:r>
                        <a:rPr sz="2550" b="0">
                          <a:solidFill>
                            <a:srgbClr val="183247"/>
                          </a:solidFill>
                          <a:latin typeface="Arial"/>
                          <a:ea typeface="Arial"/>
                          <a:cs typeface="Arial"/>
                        </a:rPr>
                        <a:t>500</a:t>
                      </a:r>
                    </a:p>
                  </a:txBody>
                  <a:tcPr marL="91440" marR="91440" marT="45720" marB="45720" anchor="ctr">
                    <a:solidFill>
                      <a:srgbClr val="EFF4F7"/>
                    </a:solidFill>
                  </a:tcPr>
                </a:tc>
                <a:tc>
                  <a:txBody>
                    <a:bodyPr lIns="171450" tIns="95250" rIns="152400" bIns="95250"/>
                    <a:lstStyle/>
                    <a:p>
                      <a:r>
                        <a:rPr sz="2550" b="0">
                          <a:solidFill>
                            <a:srgbClr val="183247"/>
                          </a:solidFill>
                          <a:latin typeface="Arial"/>
                          <a:ea typeface="Arial"/>
                          <a:cs typeface="Arial"/>
                        </a:rPr>
                        <a:t>420</a:t>
                      </a:r>
                    </a:p>
                  </a:txBody>
                  <a:tcPr marL="91440" marR="91440" marT="45720" marB="45720" anchor="ctr">
                    <a:solidFill>
                      <a:srgbClr val="EFF4F7"/>
                    </a:solidFill>
                  </a:tcPr>
                </a:tc>
              </a:tr>
            </a:tbl>
          </a:graphicData>
        </a:graphic>
      </p:graphicFrame>
      <p:sp>
        <p:nvSpPr>
          <p:cNvPr id="7" name="Bij StreamNow is voor een andere prijsverhoging&#10;Ev = −2 geme">
            <a:extLst xmlns:a="http://schemas.openxmlformats.org/drawingml/2006/main">
              <a:ext uri="{FF2B5EF4-FFF2-40B4-BE49-F238E27FC236}">
                <a16:creationId xmlns:a16="http://schemas.microsoft.com/office/drawing/2014/main" id="{94B57798-71F8-4222-8BC1-71CBC5F882B6}"/>
              </a:ext>
            </a:extLst>
          </p:cNvPr>
          <p:cNvSpPr>
            <a:spLocks xmlns:a="http://schemas.openxmlformats.org/drawingml/2006/main" noGrp="1"/>
          </p:cNvSpPr>
          <p:nvPr/>
        </p:nvSpPr>
        <p:spPr>
          <a:xfrm xmlns:a="http://schemas.openxmlformats.org/drawingml/2006/main">
            <a:off x="571500" y="6010275"/>
            <a:ext cx="140970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7658A"/>
                </a:solidFill>
                <a:latin typeface="Arial"/>
                <a:ea typeface="Arial"/>
                <a:cs typeface="Arial"/>
              </a:defRPr>
            </a:pPr>
            <a:r>
              <a:rPr sz="2850" b="1">
                <a:solidFill>
                  <a:srgbClr val="17658A"/>
                </a:solidFill>
                <a:latin typeface="Arial"/>
                <a:ea typeface="Arial"/>
                <a:cs typeface="Arial"/>
              </a:rPr>
              <a:t>Bij StreamNow is voor een andere prijsverhoging</a:t>
            </a:r>
          </a:p>
          <a:p xmlns:a="http://schemas.openxmlformats.org/drawingml/2006/main">
            <a:pPr algn="l">
              <a:defRPr sz="2850" b="1">
                <a:solidFill>
                  <a:srgbClr val="17658A"/>
                </a:solidFill>
                <a:latin typeface="Arial"/>
                <a:ea typeface="Arial"/>
                <a:cs typeface="Arial"/>
              </a:defRPr>
            </a:pPr>
            <a:r>
              <a:rPr sz="2850" b="1">
                <a:solidFill>
                  <a:srgbClr val="17658A"/>
                </a:solidFill>
                <a:latin typeface="Arial"/>
                <a:ea typeface="Arial"/>
                <a:cs typeface="Arial"/>
              </a:rPr>
              <a:t>Ev = −2 gemeten.</a:t>
            </a:r>
          </a:p>
        </p:txBody>
      </p:sp>
      <p:sp>
        <p:nvSpPr>
          <p:cNvPr id="8" name="Gebruik voor Nova de oude waarde als noemer&#10;en Ev = %ΔQv / %">
            <a:extLst xmlns:a="http://schemas.openxmlformats.org/drawingml/2006/main">
              <a:ext uri="{FF2B5EF4-FFF2-40B4-BE49-F238E27FC236}">
                <a16:creationId xmlns:a16="http://schemas.microsoft.com/office/drawing/2014/main" id="{0A2A8BFA-1E58-419E-8BD2-41B9B40C4963}"/>
              </a:ext>
            </a:extLst>
          </p:cNvPr>
          <p:cNvSpPr>
            <a:spLocks xmlns:a="http://schemas.openxmlformats.org/drawingml/2006/main" noGrp="1"/>
          </p:cNvSpPr>
          <p:nvPr/>
        </p:nvSpPr>
        <p:spPr>
          <a:xfrm xmlns:a="http://schemas.openxmlformats.org/drawingml/2006/main">
            <a:off x="571500" y="7210425"/>
            <a:ext cx="14097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Gebruik voor Nova de oude waarde als noemer</a:t>
            </a:r>
          </a:p>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en Ev = %ΔQv / %ΔP.</a:t>
            </a:r>
          </a:p>
        </p:txBody>
      </p:sp>
    </p:spTree>
    <p:extLst>
      <p:ext uri="{BB962C8B-B14F-4D97-AF65-F5344CB8AC3E}">
        <p14:creationId xmlns:p14="http://schemas.microsoft.com/office/powerpoint/2010/main" val="2050535035"/>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Opgave 7 · Deelvragen a en b">
            <a:extLst xmlns:a="http://schemas.openxmlformats.org/drawingml/2006/main">
              <a:ext uri="{FF2B5EF4-FFF2-40B4-BE49-F238E27FC236}">
                <a16:creationId xmlns:a16="http://schemas.microsoft.com/office/drawing/2014/main" id="{DF32DB59-3434-44E4-8ACD-945FA3C0306B}"/>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7 · Deelvragen a en b</a:t>
            </a:r>
          </a:p>
        </p:txBody>
      </p:sp>
      <p:sp>
        <p:nvSpPr>
          <p:cNvPr id="2" name="">
            <a:extLst xmlns:a="http://schemas.openxmlformats.org/drawingml/2006/main">
              <a:ext uri="{FF2B5EF4-FFF2-40B4-BE49-F238E27FC236}">
                <a16:creationId xmlns:a16="http://schemas.microsoft.com/office/drawing/2014/main" id="{DF2D13EE-DC2E-4DF6-B93B-670E3B2654B4}"/>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1 Prijselasticiteit · Opgave 7 · Boekpagina 42">
            <a:extLst xmlns:a="http://schemas.openxmlformats.org/drawingml/2006/main">
              <a:ext uri="{FF2B5EF4-FFF2-40B4-BE49-F238E27FC236}">
                <a16:creationId xmlns:a16="http://schemas.microsoft.com/office/drawing/2014/main" id="{072B33E8-03CC-4126-A160-E67784BDC375}"/>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§2.2.1 Prijselasticiteit · Opgave 7 · Boekpagina 42</a:t>
            </a:r>
          </a:p>
        </p:txBody>
      </p:sp>
      <p:sp>
        <p:nvSpPr>
          <p:cNvPr id="4" name="14">
            <a:extLst xmlns:a="http://schemas.openxmlformats.org/drawingml/2006/main">
              <a:ext uri="{FF2B5EF4-FFF2-40B4-BE49-F238E27FC236}">
                <a16:creationId xmlns:a16="http://schemas.microsoft.com/office/drawing/2014/main" id="{721C2971-2CDB-4EFA-8452-311DD98BCB31}"/>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14</a:t>
            </a:r>
          </a:p>
        </p:txBody>
      </p:sp>
      <p:sp>
        <p:nvSpPr>
          <p:cNvPr id="5" name="a) Bereken voor Bioscoop Nova de procentuele prijsveranderin">
            <a:extLst xmlns:a="http://schemas.openxmlformats.org/drawingml/2006/main">
              <a:ext uri="{FF2B5EF4-FFF2-40B4-BE49-F238E27FC236}">
                <a16:creationId xmlns:a16="http://schemas.microsoft.com/office/drawing/2014/main" id="{F47D8170-4C79-4FE0-AF1F-AC76DFC13AEF}"/>
              </a:ext>
            </a:extLst>
          </p:cNvPr>
          <p:cNvSpPr>
            <a:spLocks xmlns:a="http://schemas.openxmlformats.org/drawingml/2006/main" noGrp="1"/>
          </p:cNvSpPr>
          <p:nvPr/>
        </p:nvSpPr>
        <p:spPr>
          <a:xfrm xmlns:a="http://schemas.openxmlformats.org/drawingml/2006/main">
            <a:off x="571500" y="2019300"/>
            <a:ext cx="14097000" cy="2085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0">
                <a:solidFill>
                  <a:srgbClr val="183247"/>
                </a:solidFill>
                <a:latin typeface="Arial"/>
                <a:ea typeface="Arial"/>
                <a:cs typeface="Arial"/>
              </a:defRPr>
            </a:pPr>
            <a:r>
              <a:rPr sz="3075" b="0">
                <a:solidFill>
                  <a:srgbClr val="183247"/>
                </a:solidFill>
                <a:latin typeface="Arial"/>
                <a:ea typeface="Arial"/>
                <a:cs typeface="Arial"/>
              </a:rPr>
              <a:t>a) Bereken voor Bioscoop Nova de procentuele prijsverandering, de procentuele verandering van de gevraagde hoeveelheid en Ev. (3 punten)</a:t>
            </a:r>
          </a:p>
        </p:txBody>
      </p:sp>
      <p:sp>
        <p:nvSpPr>
          <p:cNvPr id="6" name="">
            <a:extLst xmlns:a="http://schemas.openxmlformats.org/drawingml/2006/main">
              <a:ext uri="{FF2B5EF4-FFF2-40B4-BE49-F238E27FC236}">
                <a16:creationId xmlns:a16="http://schemas.microsoft.com/office/drawing/2014/main" id="{C238FABE-2050-4692-BC94-84472829C688}"/>
              </a:ext>
            </a:extLst>
          </p:cNvPr>
          <p:cNvSpPr>
            <a:spLocks xmlns:a="http://schemas.openxmlformats.org/drawingml/2006/main" noGrp="1"/>
          </p:cNvSpPr>
          <p:nvPr/>
        </p:nvSpPr>
        <p:spPr>
          <a:xfrm xmlns:a="http://schemas.openxmlformats.org/drawingml/2006/main">
            <a:off x="571500" y="4524375"/>
            <a:ext cx="14097000" cy="0"/>
          </a:xfrm>
          <a:prstGeom xmlns:a="http://schemas.openxmlformats.org/drawingml/2006/main" prst="line">
            <a:avLst/>
          </a:prstGeom>
          <a:ln xmlns:a="http://schemas.openxmlformats.org/drawingml/2006/main" w="19050">
            <a:solidFill>
              <a:srgbClr val="C6D2DB"/>
            </a:solidFill>
          </a:ln>
        </p:spPr>
      </p:sp>
      <p:sp>
        <p:nvSpPr>
          <p:cNvPr id="7" name="b) Classificeer de vraag naar bioscoopkaartjes en leg in gew">
            <a:extLst xmlns:a="http://schemas.openxmlformats.org/drawingml/2006/main">
              <a:ext uri="{FF2B5EF4-FFF2-40B4-BE49-F238E27FC236}">
                <a16:creationId xmlns:a16="http://schemas.microsoft.com/office/drawing/2014/main" id="{3887C44C-0D0A-42A0-A4D4-506F05912BFF}"/>
              </a:ext>
            </a:extLst>
          </p:cNvPr>
          <p:cNvSpPr>
            <a:spLocks xmlns:a="http://schemas.openxmlformats.org/drawingml/2006/main" noGrp="1"/>
          </p:cNvSpPr>
          <p:nvPr/>
        </p:nvSpPr>
        <p:spPr>
          <a:xfrm xmlns:a="http://schemas.openxmlformats.org/drawingml/2006/main">
            <a:off x="571500" y="5200650"/>
            <a:ext cx="14097000" cy="1914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0">
                <a:solidFill>
                  <a:srgbClr val="183247"/>
                </a:solidFill>
                <a:latin typeface="Arial"/>
                <a:ea typeface="Arial"/>
                <a:cs typeface="Arial"/>
              </a:defRPr>
            </a:pPr>
            <a:r>
              <a:rPr sz="3075" b="0">
                <a:solidFill>
                  <a:srgbClr val="183247"/>
                </a:solidFill>
                <a:latin typeface="Arial"/>
                <a:ea typeface="Arial"/>
                <a:cs typeface="Arial"/>
              </a:rPr>
              <a:t>b) Classificeer de vraag naar bioscoopkaartjes en leg in gewone taal uit wat Ev = −0,8 betekent. (2 punten)</a:t>
            </a:r>
          </a:p>
        </p:txBody>
      </p:sp>
    </p:spTree>
    <p:extLst>
      <p:ext uri="{BB962C8B-B14F-4D97-AF65-F5344CB8AC3E}">
        <p14:creationId xmlns:p14="http://schemas.microsoft.com/office/powerpoint/2010/main" val="1190702338"/>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Opgave 7 · Deelvragen c en d">
            <a:extLst xmlns:a="http://schemas.openxmlformats.org/drawingml/2006/main">
              <a:ext uri="{FF2B5EF4-FFF2-40B4-BE49-F238E27FC236}">
                <a16:creationId xmlns:a16="http://schemas.microsoft.com/office/drawing/2014/main" id="{9F657927-8EEC-4DB5-90FF-F8CBAD0F1785}"/>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7 · Deelvragen c en d</a:t>
            </a:r>
          </a:p>
        </p:txBody>
      </p:sp>
      <p:sp>
        <p:nvSpPr>
          <p:cNvPr id="2" name="">
            <a:extLst xmlns:a="http://schemas.openxmlformats.org/drawingml/2006/main">
              <a:ext uri="{FF2B5EF4-FFF2-40B4-BE49-F238E27FC236}">
                <a16:creationId xmlns:a16="http://schemas.microsoft.com/office/drawing/2014/main" id="{33CEFA2E-6C2C-4A1F-8391-9D458E775444}"/>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1 Prijselasticiteit · Opgave 7 · Boekpagina 42">
            <a:extLst xmlns:a="http://schemas.openxmlformats.org/drawingml/2006/main">
              <a:ext uri="{FF2B5EF4-FFF2-40B4-BE49-F238E27FC236}">
                <a16:creationId xmlns:a16="http://schemas.microsoft.com/office/drawing/2014/main" id="{0C3C33F9-8C1D-4645-BB10-4A40179D227F}"/>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§2.2.1 Prijselasticiteit · Opgave 7 · Boekpagina 42</a:t>
            </a:r>
          </a:p>
        </p:txBody>
      </p:sp>
      <p:sp>
        <p:nvSpPr>
          <p:cNvPr id="4" name="15">
            <a:extLst xmlns:a="http://schemas.openxmlformats.org/drawingml/2006/main">
              <a:ext uri="{FF2B5EF4-FFF2-40B4-BE49-F238E27FC236}">
                <a16:creationId xmlns:a16="http://schemas.microsoft.com/office/drawing/2014/main" id="{1341C794-46ED-4E32-9761-5A39460CBD90}"/>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15</a:t>
            </a:r>
          </a:p>
        </p:txBody>
      </p:sp>
      <p:sp>
        <p:nvSpPr>
          <p:cNvPr id="5" name="c) Classificeer de vraag naar StreamNow met Ev = −2 en verge">
            <a:extLst xmlns:a="http://schemas.openxmlformats.org/drawingml/2006/main">
              <a:ext uri="{FF2B5EF4-FFF2-40B4-BE49-F238E27FC236}">
                <a16:creationId xmlns:a16="http://schemas.microsoft.com/office/drawing/2014/main" id="{031DC7FA-6842-4E42-BD93-645A1BCD32D5}"/>
              </a:ext>
            </a:extLst>
          </p:cNvPr>
          <p:cNvSpPr>
            <a:spLocks xmlns:a="http://schemas.openxmlformats.org/drawingml/2006/main" noGrp="1"/>
          </p:cNvSpPr>
          <p:nvPr/>
        </p:nvSpPr>
        <p:spPr>
          <a:xfrm xmlns:a="http://schemas.openxmlformats.org/drawingml/2006/main">
            <a:off x="571500" y="2009775"/>
            <a:ext cx="14097000" cy="1933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0">
                <a:solidFill>
                  <a:srgbClr val="183247"/>
                </a:solidFill>
                <a:latin typeface="Arial"/>
                <a:ea typeface="Arial"/>
                <a:cs typeface="Arial"/>
              </a:defRPr>
            </a:pPr>
            <a:r>
              <a:rPr sz="3075" b="0">
                <a:solidFill>
                  <a:srgbClr val="183247"/>
                </a:solidFill>
                <a:latin typeface="Arial"/>
                <a:ea typeface="Arial"/>
                <a:cs typeface="Arial"/>
              </a:rPr>
              <a:t>c) Classificeer de vraag naar StreamNow met Ev = −2 en vergelijk de prijsgevoeligheid met die van Bioscoop Nova. (2 punten)</a:t>
            </a:r>
          </a:p>
        </p:txBody>
      </p:sp>
      <p:sp>
        <p:nvSpPr>
          <p:cNvPr id="6" name="">
            <a:extLst xmlns:a="http://schemas.openxmlformats.org/drawingml/2006/main">
              <a:ext uri="{FF2B5EF4-FFF2-40B4-BE49-F238E27FC236}">
                <a16:creationId xmlns:a16="http://schemas.microsoft.com/office/drawing/2014/main" id="{7DA6B1FB-0CDD-45B0-8022-DDCE85420E96}"/>
              </a:ext>
            </a:extLst>
          </p:cNvPr>
          <p:cNvSpPr>
            <a:spLocks xmlns:a="http://schemas.openxmlformats.org/drawingml/2006/main" noGrp="1"/>
          </p:cNvSpPr>
          <p:nvPr/>
        </p:nvSpPr>
        <p:spPr>
          <a:xfrm xmlns:a="http://schemas.openxmlformats.org/drawingml/2006/main">
            <a:off x="571500" y="4371975"/>
            <a:ext cx="14097000" cy="0"/>
          </a:xfrm>
          <a:prstGeom xmlns:a="http://schemas.openxmlformats.org/drawingml/2006/main" prst="line">
            <a:avLst/>
          </a:prstGeom>
          <a:ln xmlns:a="http://schemas.openxmlformats.org/drawingml/2006/main" w="19050">
            <a:solidFill>
              <a:srgbClr val="C6D2DB"/>
            </a:solidFill>
          </a:ln>
        </p:spPr>
      </p:sp>
      <p:sp>
        <p:nvSpPr>
          <p:cNvPr id="7" name="d) Geef één plausibele contextverklaring voor het verschil i">
            <a:extLst xmlns:a="http://schemas.openxmlformats.org/drawingml/2006/main">
              <a:ext uri="{FF2B5EF4-FFF2-40B4-BE49-F238E27FC236}">
                <a16:creationId xmlns:a16="http://schemas.microsoft.com/office/drawing/2014/main" id="{C2DEBB77-106D-41ED-82AE-112B8D1F413E}"/>
              </a:ext>
            </a:extLst>
          </p:cNvPr>
          <p:cNvSpPr>
            <a:spLocks xmlns:a="http://schemas.openxmlformats.org/drawingml/2006/main" noGrp="1"/>
          </p:cNvSpPr>
          <p:nvPr/>
        </p:nvSpPr>
        <p:spPr>
          <a:xfrm xmlns:a="http://schemas.openxmlformats.org/drawingml/2006/main">
            <a:off x="571500" y="5010150"/>
            <a:ext cx="14097000" cy="2066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0">
                <a:solidFill>
                  <a:srgbClr val="183247"/>
                </a:solidFill>
                <a:latin typeface="Arial"/>
                <a:ea typeface="Arial"/>
                <a:cs typeface="Arial"/>
              </a:defRPr>
            </a:pPr>
            <a:r>
              <a:rPr sz="3075" b="0">
                <a:solidFill>
                  <a:srgbClr val="183247"/>
                </a:solidFill>
                <a:latin typeface="Arial"/>
                <a:ea typeface="Arial"/>
                <a:cs typeface="Arial"/>
              </a:rPr>
              <a:t>d) Geef één plausibele contextverklaring voor het verschil in prijsgevoeligheid. Baseer je verklaring niet op een andere elasticiteitssoort. (2 punten)</a:t>
            </a:r>
          </a:p>
        </p:txBody>
      </p:sp>
    </p:spTree>
    <p:extLst>
      <p:ext uri="{BB962C8B-B14F-4D97-AF65-F5344CB8AC3E}">
        <p14:creationId xmlns:p14="http://schemas.microsoft.com/office/powerpoint/2010/main" val="2041289865"/>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Opgave 7a · Beide procentuele veranderingen">
            <a:extLst xmlns:a="http://schemas.openxmlformats.org/drawingml/2006/main">
              <a:ext uri="{FF2B5EF4-FFF2-40B4-BE49-F238E27FC236}">
                <a16:creationId xmlns:a16="http://schemas.microsoft.com/office/drawing/2014/main" id="{8786A010-0E46-498A-BB87-7CCFE76EBC9A}"/>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7a · Beide procentuele veranderingen</a:t>
            </a:r>
          </a:p>
        </p:txBody>
      </p:sp>
      <p:sp>
        <p:nvSpPr>
          <p:cNvPr id="2" name="">
            <a:extLst xmlns:a="http://schemas.openxmlformats.org/drawingml/2006/main">
              <a:ext uri="{FF2B5EF4-FFF2-40B4-BE49-F238E27FC236}">
                <a16:creationId xmlns:a16="http://schemas.microsoft.com/office/drawing/2014/main" id="{109FFDAD-B41E-4362-A61A-2F23E380596E}"/>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1 Prijselasticiteit · Opgave 7 · Boekpagina 42">
            <a:extLst xmlns:a="http://schemas.openxmlformats.org/drawingml/2006/main">
              <a:ext uri="{FF2B5EF4-FFF2-40B4-BE49-F238E27FC236}">
                <a16:creationId xmlns:a16="http://schemas.microsoft.com/office/drawing/2014/main" id="{29DAD3BC-0116-4724-914A-CBDF5BC96ACB}"/>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§2.2.1 Prijselasticiteit · Opgave 7 · Boekpagina 42</a:t>
            </a:r>
          </a:p>
        </p:txBody>
      </p:sp>
      <p:sp>
        <p:nvSpPr>
          <p:cNvPr id="4" name="16">
            <a:extLst xmlns:a="http://schemas.openxmlformats.org/drawingml/2006/main">
              <a:ext uri="{FF2B5EF4-FFF2-40B4-BE49-F238E27FC236}">
                <a16:creationId xmlns:a16="http://schemas.microsoft.com/office/drawing/2014/main" id="{0B903DC9-063F-42E2-AE30-3321BAFFBC57}"/>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16</a:t>
            </a:r>
          </a:p>
        </p:txBody>
      </p:sp>
      <p:sp>
        <p:nvSpPr>
          <p:cNvPr id="5" name="Prijs: € 10 wordt € 12 per ticket">
            <a:extLst xmlns:a="http://schemas.openxmlformats.org/drawingml/2006/main">
              <a:ext uri="{FF2B5EF4-FFF2-40B4-BE49-F238E27FC236}">
                <a16:creationId xmlns:a16="http://schemas.microsoft.com/office/drawing/2014/main" id="{E4E69036-2261-4930-82A7-724B69EDE728}"/>
              </a:ext>
            </a:extLst>
          </p:cNvPr>
          <p:cNvSpPr>
            <a:spLocks xmlns:a="http://schemas.openxmlformats.org/drawingml/2006/main" noGrp="1"/>
          </p:cNvSpPr>
          <p:nvPr/>
        </p:nvSpPr>
        <p:spPr>
          <a:xfrm xmlns:a="http://schemas.openxmlformats.org/drawingml/2006/main">
            <a:off x="571500" y="1905000"/>
            <a:ext cx="14097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Prijs: € 10 wordt € 12 per ticket</a:t>
            </a:r>
          </a:p>
        </p:txBody>
      </p:sp>
      <p:sp>
        <p:nvSpPr>
          <p:cNvPr id="6" name="%ΔP = (12 − 10) / 10 × 100% = +20%">
            <a:extLst xmlns:a="http://schemas.openxmlformats.org/drawingml/2006/main">
              <a:ext uri="{FF2B5EF4-FFF2-40B4-BE49-F238E27FC236}">
                <a16:creationId xmlns:a16="http://schemas.microsoft.com/office/drawing/2014/main" id="{641A5B32-73B6-4121-ACA8-8A154AB9CC76}"/>
              </a:ext>
            </a:extLst>
          </p:cNvPr>
          <p:cNvSpPr>
            <a:spLocks xmlns:a="http://schemas.openxmlformats.org/drawingml/2006/main" noGrp="1"/>
          </p:cNvSpPr>
          <p:nvPr/>
        </p:nvSpPr>
        <p:spPr>
          <a:xfrm xmlns:a="http://schemas.openxmlformats.org/drawingml/2006/main">
            <a:off x="571500" y="2733675"/>
            <a:ext cx="14097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183247"/>
                </a:solidFill>
                <a:latin typeface="Arial"/>
                <a:ea typeface="Arial"/>
                <a:cs typeface="Arial"/>
              </a:defRPr>
            </a:pPr>
            <a:r>
              <a:rPr sz="3450" b="1">
                <a:solidFill>
                  <a:srgbClr val="183247"/>
                </a:solidFill>
                <a:latin typeface="Arial"/>
                <a:ea typeface="Arial"/>
                <a:cs typeface="Arial"/>
              </a:rPr>
              <a:t>%ΔP = (12 − 10) / 10 × 100% = +20%</a:t>
            </a:r>
          </a:p>
        </p:txBody>
      </p:sp>
      <p:sp>
        <p:nvSpPr>
          <p:cNvPr id="7" name="">
            <a:extLst xmlns:a="http://schemas.openxmlformats.org/drawingml/2006/main">
              <a:ext uri="{FF2B5EF4-FFF2-40B4-BE49-F238E27FC236}">
                <a16:creationId xmlns:a16="http://schemas.microsoft.com/office/drawing/2014/main" id="{00BEBA3A-0CE8-4EE3-BD74-4949265722B3}"/>
              </a:ext>
            </a:extLst>
          </p:cNvPr>
          <p:cNvSpPr>
            <a:spLocks xmlns:a="http://schemas.openxmlformats.org/drawingml/2006/main" noGrp="1"/>
          </p:cNvSpPr>
          <p:nvPr/>
        </p:nvSpPr>
        <p:spPr>
          <a:xfrm xmlns:a="http://schemas.openxmlformats.org/drawingml/2006/main">
            <a:off x="571500" y="4057650"/>
            <a:ext cx="14097000" cy="0"/>
          </a:xfrm>
          <a:prstGeom xmlns:a="http://schemas.openxmlformats.org/drawingml/2006/main" prst="line">
            <a:avLst/>
          </a:prstGeom>
          <a:ln xmlns:a="http://schemas.openxmlformats.org/drawingml/2006/main" w="19050">
            <a:solidFill>
              <a:srgbClr val="C6D2DB"/>
            </a:solidFill>
          </a:ln>
        </p:spPr>
      </p:sp>
      <p:sp>
        <p:nvSpPr>
          <p:cNvPr id="8" name="Hoeveelheid: 500 wordt 420 tickets per week">
            <a:extLst xmlns:a="http://schemas.openxmlformats.org/drawingml/2006/main">
              <a:ext uri="{FF2B5EF4-FFF2-40B4-BE49-F238E27FC236}">
                <a16:creationId xmlns:a16="http://schemas.microsoft.com/office/drawing/2014/main" id="{0ADA58D0-18E4-430A-86C7-7B6E72EEF30A}"/>
              </a:ext>
            </a:extLst>
          </p:cNvPr>
          <p:cNvSpPr>
            <a:spLocks xmlns:a="http://schemas.openxmlformats.org/drawingml/2006/main" noGrp="1"/>
          </p:cNvSpPr>
          <p:nvPr/>
        </p:nvSpPr>
        <p:spPr>
          <a:xfrm xmlns:a="http://schemas.openxmlformats.org/drawingml/2006/main">
            <a:off x="571500" y="4562475"/>
            <a:ext cx="14097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20665B"/>
                </a:solidFill>
                <a:latin typeface="Arial"/>
                <a:ea typeface="Arial"/>
                <a:cs typeface="Arial"/>
              </a:defRPr>
            </a:pPr>
            <a:r>
              <a:rPr sz="2700" b="1">
                <a:solidFill>
                  <a:srgbClr val="20665B"/>
                </a:solidFill>
                <a:latin typeface="Arial"/>
                <a:ea typeface="Arial"/>
                <a:cs typeface="Arial"/>
              </a:rPr>
              <a:t>Hoeveelheid: 500 wordt 420 tickets per week</a:t>
            </a:r>
          </a:p>
        </p:txBody>
      </p:sp>
      <p:sp>
        <p:nvSpPr>
          <p:cNvPr id="9" name="%ΔQv = (420 − 500) / 500 × 100% = −16%">
            <a:extLst xmlns:a="http://schemas.openxmlformats.org/drawingml/2006/main">
              <a:ext uri="{FF2B5EF4-FFF2-40B4-BE49-F238E27FC236}">
                <a16:creationId xmlns:a16="http://schemas.microsoft.com/office/drawing/2014/main" id="{9B663550-94CE-4719-8CA3-B157FDC35A6E}"/>
              </a:ext>
            </a:extLst>
          </p:cNvPr>
          <p:cNvSpPr>
            <a:spLocks xmlns:a="http://schemas.openxmlformats.org/drawingml/2006/main" noGrp="1"/>
          </p:cNvSpPr>
          <p:nvPr/>
        </p:nvSpPr>
        <p:spPr>
          <a:xfrm xmlns:a="http://schemas.openxmlformats.org/drawingml/2006/main">
            <a:off x="571500" y="5410200"/>
            <a:ext cx="14097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83247"/>
                </a:solidFill>
                <a:latin typeface="Arial"/>
                <a:ea typeface="Arial"/>
                <a:cs typeface="Arial"/>
              </a:defRPr>
            </a:pPr>
            <a:r>
              <a:rPr sz="3300" b="1">
                <a:solidFill>
                  <a:srgbClr val="183247"/>
                </a:solidFill>
                <a:latin typeface="Arial"/>
                <a:ea typeface="Arial"/>
                <a:cs typeface="Arial"/>
              </a:rPr>
              <a:t>%ΔQv = (420 − 500) / 500 × 100% = −16%</a:t>
            </a:r>
          </a:p>
        </p:txBody>
      </p:sp>
      <p:sp>
        <p:nvSpPr>
          <p:cNvPr id="10" name="Controle: 20% van € 10 = € 2. 16% van 500 = 80 tickets.">
            <a:extLst xmlns:a="http://schemas.openxmlformats.org/drawingml/2006/main">
              <a:ext uri="{FF2B5EF4-FFF2-40B4-BE49-F238E27FC236}">
                <a16:creationId xmlns:a16="http://schemas.microsoft.com/office/drawing/2014/main" id="{8459A283-1176-413A-8899-C51B82CDF576}"/>
              </a:ext>
            </a:extLst>
          </p:cNvPr>
          <p:cNvSpPr>
            <a:spLocks xmlns:a="http://schemas.openxmlformats.org/drawingml/2006/main" noGrp="1"/>
          </p:cNvSpPr>
          <p:nvPr/>
        </p:nvSpPr>
        <p:spPr>
          <a:xfrm xmlns:a="http://schemas.openxmlformats.org/drawingml/2006/main">
            <a:off x="571500" y="7286625"/>
            <a:ext cx="14097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Controle: 20% van € 10 = € 2. 16% van 500 = 80 tickets.</a:t>
            </a:r>
          </a:p>
        </p:txBody>
      </p:sp>
    </p:spTree>
    <p:extLst>
      <p:ext uri="{BB962C8B-B14F-4D97-AF65-F5344CB8AC3E}">
        <p14:creationId xmlns:p14="http://schemas.microsoft.com/office/powerpoint/2010/main" val="1780162382"/>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Opgave 7a · Ev berekenen">
            <a:extLst xmlns:a="http://schemas.openxmlformats.org/drawingml/2006/main">
              <a:ext uri="{FF2B5EF4-FFF2-40B4-BE49-F238E27FC236}">
                <a16:creationId xmlns:a16="http://schemas.microsoft.com/office/drawing/2014/main" id="{4976DB68-4106-46BE-BAC6-84E7BB514891}"/>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7a · Ev berekenen</a:t>
            </a:r>
          </a:p>
        </p:txBody>
      </p:sp>
      <p:sp>
        <p:nvSpPr>
          <p:cNvPr id="2" name="">
            <a:extLst xmlns:a="http://schemas.openxmlformats.org/drawingml/2006/main">
              <a:ext uri="{FF2B5EF4-FFF2-40B4-BE49-F238E27FC236}">
                <a16:creationId xmlns:a16="http://schemas.microsoft.com/office/drawing/2014/main" id="{1A6A3340-B2BE-43D8-9F2E-2B8BA4E26698}"/>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1 Prijselasticiteit · Opgave 7 · Boekpagina 42">
            <a:extLst xmlns:a="http://schemas.openxmlformats.org/drawingml/2006/main">
              <a:ext uri="{FF2B5EF4-FFF2-40B4-BE49-F238E27FC236}">
                <a16:creationId xmlns:a16="http://schemas.microsoft.com/office/drawing/2014/main" id="{A0F53898-7394-4BD4-A870-5DCDF38757BD}"/>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§2.2.1 Prijselasticiteit · Opgave 7 · Boekpagina 42</a:t>
            </a:r>
          </a:p>
        </p:txBody>
      </p:sp>
      <p:sp>
        <p:nvSpPr>
          <p:cNvPr id="4" name="17">
            <a:extLst xmlns:a="http://schemas.openxmlformats.org/drawingml/2006/main">
              <a:ext uri="{FF2B5EF4-FFF2-40B4-BE49-F238E27FC236}">
                <a16:creationId xmlns:a16="http://schemas.microsoft.com/office/drawing/2014/main" id="{2FDF377E-ABD1-46CA-BB99-239C6770683F}"/>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17</a:t>
            </a:r>
          </a:p>
        </p:txBody>
      </p:sp>
      <p:sp>
        <p:nvSpPr>
          <p:cNvPr id="5" name="Ev = %ΔQv / %ΔP">
            <a:extLst xmlns:a="http://schemas.openxmlformats.org/drawingml/2006/main">
              <a:ext uri="{FF2B5EF4-FFF2-40B4-BE49-F238E27FC236}">
                <a16:creationId xmlns:a16="http://schemas.microsoft.com/office/drawing/2014/main" id="{AF473027-FB14-4502-8C1B-74D7555CF71B}"/>
              </a:ext>
            </a:extLst>
          </p:cNvPr>
          <p:cNvSpPr>
            <a:spLocks xmlns:a="http://schemas.openxmlformats.org/drawingml/2006/main" noGrp="1"/>
          </p:cNvSpPr>
          <p:nvPr/>
        </p:nvSpPr>
        <p:spPr>
          <a:xfrm xmlns:a="http://schemas.openxmlformats.org/drawingml/2006/main">
            <a:off x="571500" y="2286000"/>
            <a:ext cx="140970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350" b="1">
                <a:solidFill>
                  <a:srgbClr val="17658A"/>
                </a:solidFill>
                <a:latin typeface="Arial"/>
                <a:ea typeface="Arial"/>
                <a:cs typeface="Arial"/>
              </a:defRPr>
            </a:pPr>
            <a:r>
              <a:rPr sz="4350" b="1">
                <a:solidFill>
                  <a:srgbClr val="17658A"/>
                </a:solidFill>
                <a:latin typeface="Arial"/>
                <a:ea typeface="Arial"/>
                <a:cs typeface="Arial"/>
              </a:rPr>
              <a:t>Ev = %ΔQv / %ΔP</a:t>
            </a:r>
          </a:p>
        </p:txBody>
      </p:sp>
      <p:sp>
        <p:nvSpPr>
          <p:cNvPr id="6" name="Ev = −16% / +20% = −0,8">
            <a:extLst xmlns:a="http://schemas.openxmlformats.org/drawingml/2006/main">
              <a:ext uri="{FF2B5EF4-FFF2-40B4-BE49-F238E27FC236}">
                <a16:creationId xmlns:a16="http://schemas.microsoft.com/office/drawing/2014/main" id="{FDB970A5-C3D6-4E0A-97CA-52D23D05AEA7}"/>
              </a:ext>
            </a:extLst>
          </p:cNvPr>
          <p:cNvSpPr>
            <a:spLocks xmlns:a="http://schemas.openxmlformats.org/drawingml/2006/main" noGrp="1"/>
          </p:cNvSpPr>
          <p:nvPr/>
        </p:nvSpPr>
        <p:spPr>
          <a:xfrm xmlns:a="http://schemas.openxmlformats.org/drawingml/2006/main">
            <a:off x="571500" y="3838575"/>
            <a:ext cx="140970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500" b="1">
                <a:solidFill>
                  <a:srgbClr val="183247"/>
                </a:solidFill>
                <a:latin typeface="Arial"/>
                <a:ea typeface="Arial"/>
                <a:cs typeface="Arial"/>
              </a:defRPr>
            </a:pPr>
            <a:r>
              <a:rPr sz="4500" b="1">
                <a:solidFill>
                  <a:srgbClr val="183247"/>
                </a:solidFill>
                <a:latin typeface="Arial"/>
                <a:ea typeface="Arial"/>
                <a:cs typeface="Arial"/>
              </a:rPr>
              <a:t>Ev = −16% / +20% = −0,8</a:t>
            </a:r>
          </a:p>
        </p:txBody>
      </p:sp>
      <p:sp>
        <p:nvSpPr>
          <p:cNvPr id="7" name="Het minteken: P en Qv bewegen tegengesteld.">
            <a:extLst xmlns:a="http://schemas.openxmlformats.org/drawingml/2006/main">
              <a:ext uri="{FF2B5EF4-FFF2-40B4-BE49-F238E27FC236}">
                <a16:creationId xmlns:a16="http://schemas.microsoft.com/office/drawing/2014/main" id="{639DD8BD-3A91-4820-ABA2-B93FD9D8E080}"/>
              </a:ext>
            </a:extLst>
          </p:cNvPr>
          <p:cNvSpPr>
            <a:spLocks xmlns:a="http://schemas.openxmlformats.org/drawingml/2006/main" noGrp="1"/>
          </p:cNvSpPr>
          <p:nvPr/>
        </p:nvSpPr>
        <p:spPr>
          <a:xfrm xmlns:a="http://schemas.openxmlformats.org/drawingml/2006/main">
            <a:off x="571500" y="5676900"/>
            <a:ext cx="14097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20665B"/>
                </a:solidFill>
                <a:latin typeface="Arial"/>
                <a:ea typeface="Arial"/>
                <a:cs typeface="Arial"/>
              </a:defRPr>
            </a:pPr>
            <a:r>
              <a:rPr sz="3150" b="1">
                <a:solidFill>
                  <a:srgbClr val="20665B"/>
                </a:solidFill>
                <a:latin typeface="Arial"/>
                <a:ea typeface="Arial"/>
                <a:cs typeface="Arial"/>
              </a:rPr>
              <a:t>Het minteken: P en Qv bewegen tegengesteld.</a:t>
            </a:r>
          </a:p>
        </p:txBody>
      </p:sp>
      <p:sp>
        <p:nvSpPr>
          <p:cNvPr id="8" name="Controle: −0,8 × (+20%) = −16%. Ev is geen percentage.">
            <a:extLst xmlns:a="http://schemas.openxmlformats.org/drawingml/2006/main">
              <a:ext uri="{FF2B5EF4-FFF2-40B4-BE49-F238E27FC236}">
                <a16:creationId xmlns:a16="http://schemas.microsoft.com/office/drawing/2014/main" id="{493B61E9-517E-4FAE-AA6F-425CECE75F98}"/>
              </a:ext>
            </a:extLst>
          </p:cNvPr>
          <p:cNvSpPr>
            <a:spLocks xmlns:a="http://schemas.openxmlformats.org/drawingml/2006/main" noGrp="1"/>
          </p:cNvSpPr>
          <p:nvPr/>
        </p:nvSpPr>
        <p:spPr>
          <a:xfrm xmlns:a="http://schemas.openxmlformats.org/drawingml/2006/main">
            <a:off x="571500" y="7400925"/>
            <a:ext cx="14097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Controle: −0,8 × (+20%) = −16%. Ev is geen percentage.</a:t>
            </a:r>
          </a:p>
        </p:txBody>
      </p:sp>
    </p:spTree>
    <p:extLst>
      <p:ext uri="{BB962C8B-B14F-4D97-AF65-F5344CB8AC3E}">
        <p14:creationId xmlns:p14="http://schemas.microsoft.com/office/powerpoint/2010/main" val="346956196"/>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Opgave 7b · Prijsinelastische vraag">
            <a:extLst xmlns:a="http://schemas.openxmlformats.org/drawingml/2006/main">
              <a:ext uri="{FF2B5EF4-FFF2-40B4-BE49-F238E27FC236}">
                <a16:creationId xmlns:a16="http://schemas.microsoft.com/office/drawing/2014/main" id="{25D3D2D3-CE37-44D1-BFB5-6C9F29B5880B}"/>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7b · Prijsinelastische vraag</a:t>
            </a:r>
          </a:p>
        </p:txBody>
      </p:sp>
      <p:sp>
        <p:nvSpPr>
          <p:cNvPr id="2" name="">
            <a:extLst xmlns:a="http://schemas.openxmlformats.org/drawingml/2006/main">
              <a:ext uri="{FF2B5EF4-FFF2-40B4-BE49-F238E27FC236}">
                <a16:creationId xmlns:a16="http://schemas.microsoft.com/office/drawing/2014/main" id="{86FA2936-BAF6-4CC9-B33F-EE997219C5BD}"/>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1 Prijselasticiteit · Opgave 7 · Boekpagina 42">
            <a:extLst xmlns:a="http://schemas.openxmlformats.org/drawingml/2006/main">
              <a:ext uri="{FF2B5EF4-FFF2-40B4-BE49-F238E27FC236}">
                <a16:creationId xmlns:a16="http://schemas.microsoft.com/office/drawing/2014/main" id="{613B0900-487C-4A1D-8A1D-40F7DF9299DE}"/>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§2.2.1 Prijselasticiteit · Opgave 7 · Boekpagina 42</a:t>
            </a:r>
          </a:p>
        </p:txBody>
      </p:sp>
      <p:sp>
        <p:nvSpPr>
          <p:cNvPr id="4" name="18">
            <a:extLst xmlns:a="http://schemas.openxmlformats.org/drawingml/2006/main">
              <a:ext uri="{FF2B5EF4-FFF2-40B4-BE49-F238E27FC236}">
                <a16:creationId xmlns:a16="http://schemas.microsoft.com/office/drawing/2014/main" id="{934878A5-884D-4E86-86FC-F0157DA25E02}"/>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18</a:t>
            </a:r>
          </a:p>
        </p:txBody>
      </p:sp>
      <p:sp>
        <p:nvSpPr>
          <p:cNvPr id="5" name="−1 &lt; −0,8 &lt; 0">
            <a:extLst xmlns:a="http://schemas.openxmlformats.org/drawingml/2006/main">
              <a:ext uri="{FF2B5EF4-FFF2-40B4-BE49-F238E27FC236}">
                <a16:creationId xmlns:a16="http://schemas.microsoft.com/office/drawing/2014/main" id="{574CC954-81D0-4E2C-A8F0-E5126734A4CE}"/>
              </a:ext>
            </a:extLst>
          </p:cNvPr>
          <p:cNvSpPr>
            <a:spLocks xmlns:a="http://schemas.openxmlformats.org/drawingml/2006/main" noGrp="1"/>
          </p:cNvSpPr>
          <p:nvPr/>
        </p:nvSpPr>
        <p:spPr>
          <a:xfrm xmlns:a="http://schemas.openxmlformats.org/drawingml/2006/main">
            <a:off x="571500" y="2085975"/>
            <a:ext cx="1409700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5025" b="1">
                <a:solidFill>
                  <a:srgbClr val="17658A"/>
                </a:solidFill>
                <a:latin typeface="Arial"/>
                <a:ea typeface="Arial"/>
                <a:cs typeface="Arial"/>
              </a:defRPr>
            </a:pPr>
            <a:r>
              <a:rPr sz="5025" b="1">
                <a:solidFill>
                  <a:srgbClr val="17658A"/>
                </a:solidFill>
                <a:latin typeface="Arial"/>
                <a:ea typeface="Arial"/>
                <a:cs typeface="Arial"/>
              </a:rPr>
              <a:t>−1 &lt; −0,8 &lt; 0</a:t>
            </a:r>
          </a:p>
        </p:txBody>
      </p:sp>
      <p:sp>
        <p:nvSpPr>
          <p:cNvPr id="6" name="De procentuele hoeveelheidsdaling is 0,8 maal&#10;de procentuele">
            <a:extLst xmlns:a="http://schemas.openxmlformats.org/drawingml/2006/main">
              <a:ext uri="{FF2B5EF4-FFF2-40B4-BE49-F238E27FC236}">
                <a16:creationId xmlns:a16="http://schemas.microsoft.com/office/drawing/2014/main" id="{91C7D55E-8AE0-483B-B9D7-0DF21D2969EB}"/>
              </a:ext>
            </a:extLst>
          </p:cNvPr>
          <p:cNvSpPr>
            <a:spLocks xmlns:a="http://schemas.openxmlformats.org/drawingml/2006/main" noGrp="1"/>
          </p:cNvSpPr>
          <p:nvPr/>
        </p:nvSpPr>
        <p:spPr>
          <a:xfrm xmlns:a="http://schemas.openxmlformats.org/drawingml/2006/main">
            <a:off x="571500" y="3686175"/>
            <a:ext cx="14097000" cy="1390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183247"/>
                </a:solidFill>
                <a:latin typeface="Arial"/>
                <a:ea typeface="Arial"/>
                <a:cs typeface="Arial"/>
              </a:defRPr>
            </a:pPr>
            <a:r>
              <a:rPr sz="3450" b="1">
                <a:solidFill>
                  <a:srgbClr val="183247"/>
                </a:solidFill>
                <a:latin typeface="Arial"/>
                <a:ea typeface="Arial"/>
                <a:cs typeface="Arial"/>
              </a:rPr>
              <a:t>De procentuele hoeveelheidsdaling is 0,8 maal</a:t>
            </a:r>
          </a:p>
          <a:p xmlns:a="http://schemas.openxmlformats.org/drawingml/2006/main">
            <a:pPr algn="l">
              <a:defRPr sz="3450" b="1">
                <a:solidFill>
                  <a:srgbClr val="183247"/>
                </a:solidFill>
                <a:latin typeface="Arial"/>
                <a:ea typeface="Arial"/>
                <a:cs typeface="Arial"/>
              </a:defRPr>
            </a:pPr>
            <a:r>
              <a:rPr sz="3450" b="1">
                <a:solidFill>
                  <a:srgbClr val="183247"/>
                </a:solidFill>
                <a:latin typeface="Arial"/>
                <a:ea typeface="Arial"/>
                <a:cs typeface="Arial"/>
              </a:rPr>
              <a:t>de procentuele prijsstijging.</a:t>
            </a:r>
          </a:p>
        </p:txBody>
      </p:sp>
      <p:graphicFrame>
        <p:nvGraphicFramePr>
          <p:cNvPr id="15" name=""/>
          <p:cNvGraphicFramePr/>
          <p:nvPr/>
        </p:nvGraphicFramePr>
        <p:xfrm>
          <a:off xmlns:a="http://schemas.openxmlformats.org/drawingml/2006/main" x="571500" y="5524500"/>
          <a:ext xmlns:a="http://schemas.openxmlformats.org/drawingml/2006/main" cx="14097000" cy="1666875"/>
        </p:xfrm>
        <a:graphic xmlns:a="http://schemas.openxmlformats.org/drawingml/2006/main">
          <a:graphicData uri="http://schemas.openxmlformats.org/drawingml/2006/table">
            <a:tbl>
              <a:tblPr/>
              <a:tblGrid>
                <a:gridCol w="7048500"/>
                <a:gridCol w="7048500"/>
              </a:tblGrid>
              <a:tr h="833438">
                <a:tc>
                  <a:txBody>
                    <a:bodyPr lIns="171450" tIns="95250" rIns="152400" bIns="95250"/>
                    <a:lstStyle/>
                    <a:p>
                      <a:r>
                        <a:rPr sz="2775" b="1">
                          <a:solidFill>
                            <a:srgbClr val="FFFFFF"/>
                          </a:solidFill>
                          <a:latin typeface="Arial"/>
                          <a:ea typeface="Arial"/>
                          <a:cs typeface="Arial"/>
                        </a:rPr>
                        <a:t>Prijsstijging</a:t>
                      </a:r>
                    </a:p>
                  </a:txBody>
                  <a:tcPr marL="91440" marR="91440" marT="45720" marB="45720" anchor="ctr">
                    <a:solidFill>
                      <a:srgbClr val="183247"/>
                    </a:solidFill>
                  </a:tcPr>
                </a:tc>
                <a:tc>
                  <a:txBody>
                    <a:bodyPr lIns="171450" tIns="95250" rIns="152400" bIns="95250"/>
                    <a:lstStyle/>
                    <a:p>
                      <a:r>
                        <a:rPr sz="2775" b="1">
                          <a:solidFill>
                            <a:srgbClr val="FFFFFF"/>
                          </a:solidFill>
                          <a:latin typeface="Arial"/>
                          <a:ea typeface="Arial"/>
                          <a:cs typeface="Arial"/>
                        </a:rPr>
                        <a:t>Hoeveelheidsdaling</a:t>
                      </a:r>
                    </a:p>
                  </a:txBody>
                  <a:tcPr marL="91440" marR="91440" marT="45720" marB="45720" anchor="ctr">
                    <a:solidFill>
                      <a:srgbClr val="183247"/>
                    </a:solidFill>
                  </a:tcPr>
                </a:tc>
              </a:tr>
              <a:tr h="833438">
                <a:tc>
                  <a:txBody>
                    <a:bodyPr lIns="171450" tIns="95250" rIns="152400" bIns="95250"/>
                    <a:lstStyle/>
                    <a:p>
                      <a:r>
                        <a:rPr sz="2775" b="0">
                          <a:solidFill>
                            <a:srgbClr val="183247"/>
                          </a:solidFill>
                          <a:latin typeface="Arial"/>
                          <a:ea typeface="Arial"/>
                          <a:cs typeface="Arial"/>
                        </a:rPr>
                        <a:t>20%</a:t>
                      </a:r>
                    </a:p>
                  </a:txBody>
                  <a:tcPr marL="91440" marR="91440" marT="45720" marB="45720" anchor="ctr">
                    <a:solidFill>
                      <a:srgbClr val="FFFFFF"/>
                    </a:solidFill>
                  </a:tcPr>
                </a:tc>
                <a:tc>
                  <a:txBody>
                    <a:bodyPr lIns="171450" tIns="95250" rIns="152400" bIns="95250"/>
                    <a:lstStyle/>
                    <a:p>
                      <a:r>
                        <a:rPr sz="2775" b="0">
                          <a:solidFill>
                            <a:srgbClr val="183247"/>
                          </a:solidFill>
                          <a:latin typeface="Arial"/>
                          <a:ea typeface="Arial"/>
                          <a:cs typeface="Arial"/>
                        </a:rPr>
                        <a:t>16%</a:t>
                      </a:r>
                    </a:p>
                  </a:txBody>
                  <a:tcPr marL="91440" marR="91440" marT="45720" marB="45720" anchor="ctr">
                    <a:solidFill>
                      <a:srgbClr val="FFFFFF"/>
                    </a:solidFill>
                  </a:tcPr>
                </a:tc>
              </a:tr>
            </a:tbl>
          </a:graphicData>
        </a:graphic>
      </p:graphicFrame>
      <p:sp>
        <p:nvSpPr>
          <p:cNvPr id="8" name="Dit beschrijft de onderzochte prijswijziging.">
            <a:extLst xmlns:a="http://schemas.openxmlformats.org/drawingml/2006/main">
              <a:ext uri="{FF2B5EF4-FFF2-40B4-BE49-F238E27FC236}">
                <a16:creationId xmlns:a16="http://schemas.microsoft.com/office/drawing/2014/main" id="{BF761132-99B6-4EED-9E5A-3B9D98D5A804}"/>
              </a:ext>
            </a:extLst>
          </p:cNvPr>
          <p:cNvSpPr>
            <a:spLocks xmlns:a="http://schemas.openxmlformats.org/drawingml/2006/main" noGrp="1"/>
          </p:cNvSpPr>
          <p:nvPr/>
        </p:nvSpPr>
        <p:spPr>
          <a:xfrm xmlns:a="http://schemas.openxmlformats.org/drawingml/2006/main">
            <a:off x="571500" y="7524750"/>
            <a:ext cx="140970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445B6B"/>
                </a:solidFill>
                <a:latin typeface="Arial"/>
                <a:ea typeface="Arial"/>
                <a:cs typeface="Arial"/>
              </a:defRPr>
            </a:pPr>
            <a:r>
              <a:rPr sz="2550" b="0">
                <a:solidFill>
                  <a:srgbClr val="445B6B"/>
                </a:solidFill>
                <a:latin typeface="Arial"/>
                <a:ea typeface="Arial"/>
                <a:cs typeface="Arial"/>
              </a:rPr>
              <a:t>Dit beschrijft de onderzochte prijswijziging.</a:t>
            </a:r>
          </a:p>
        </p:txBody>
      </p:sp>
    </p:spTree>
    <p:extLst>
      <p:ext uri="{BB962C8B-B14F-4D97-AF65-F5344CB8AC3E}">
        <p14:creationId xmlns:p14="http://schemas.microsoft.com/office/powerpoint/2010/main" val="148670188"/>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Opgave 7c · StreamNow vergelijken met Nova">
            <a:extLst xmlns:a="http://schemas.openxmlformats.org/drawingml/2006/main">
              <a:ext uri="{FF2B5EF4-FFF2-40B4-BE49-F238E27FC236}">
                <a16:creationId xmlns:a16="http://schemas.microsoft.com/office/drawing/2014/main" id="{C7087D41-42DB-402E-85B3-5F8D9E0E3F53}"/>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7c · StreamNow vergelijken met Nova</a:t>
            </a:r>
          </a:p>
        </p:txBody>
      </p:sp>
      <p:sp>
        <p:nvSpPr>
          <p:cNvPr id="2" name="">
            <a:extLst xmlns:a="http://schemas.openxmlformats.org/drawingml/2006/main">
              <a:ext uri="{FF2B5EF4-FFF2-40B4-BE49-F238E27FC236}">
                <a16:creationId xmlns:a16="http://schemas.microsoft.com/office/drawing/2014/main" id="{58B88513-3BD5-45BF-BA00-B7AA330DC04F}"/>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1 Prijselasticiteit · Opgave 7 · Boekpagina 42">
            <a:extLst xmlns:a="http://schemas.openxmlformats.org/drawingml/2006/main">
              <a:ext uri="{FF2B5EF4-FFF2-40B4-BE49-F238E27FC236}">
                <a16:creationId xmlns:a16="http://schemas.microsoft.com/office/drawing/2014/main" id="{06E90711-D338-4872-9BFB-930309B9FCF5}"/>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§2.2.1 Prijselasticiteit · Opgave 7 · Boekpagina 42</a:t>
            </a:r>
          </a:p>
        </p:txBody>
      </p:sp>
      <p:sp>
        <p:nvSpPr>
          <p:cNvPr id="4" name="19">
            <a:extLst xmlns:a="http://schemas.openxmlformats.org/drawingml/2006/main">
              <a:ext uri="{FF2B5EF4-FFF2-40B4-BE49-F238E27FC236}">
                <a16:creationId xmlns:a16="http://schemas.microsoft.com/office/drawing/2014/main" id="{B90217C2-1106-4295-AC52-05805EE7D4CC}"/>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19</a:t>
            </a:r>
          </a:p>
        </p:txBody>
      </p:sp>
      <p:graphicFrame>
        <p:nvGraphicFramePr>
          <p:cNvPr id="12" name=""/>
          <p:cNvGraphicFramePr/>
          <p:nvPr/>
        </p:nvGraphicFramePr>
        <p:xfrm>
          <a:off xmlns:a="http://schemas.openxmlformats.org/drawingml/2006/main" x="571500" y="2057400"/>
          <a:ext xmlns:a="http://schemas.openxmlformats.org/drawingml/2006/main" cx="14097000" cy="2905125"/>
        </p:xfrm>
        <a:graphic xmlns:a="http://schemas.openxmlformats.org/drawingml/2006/main">
          <a:graphicData uri="http://schemas.openxmlformats.org/drawingml/2006/table">
            <a:tbl>
              <a:tblPr/>
              <a:tblGrid>
                <a:gridCol w="4095750"/>
                <a:gridCol w="2190750"/>
                <a:gridCol w="4191000"/>
                <a:gridCol w="3619500"/>
              </a:tblGrid>
              <a:tr h="968375">
                <a:tc>
                  <a:txBody>
                    <a:bodyPr lIns="171450" tIns="95250" rIns="152400" bIns="95250"/>
                    <a:lstStyle/>
                    <a:p>
                      <a:r>
                        <a:rPr sz="2475" b="1">
                          <a:solidFill>
                            <a:srgbClr val="FFFFFF"/>
                          </a:solidFill>
                          <a:latin typeface="Arial"/>
                          <a:ea typeface="Arial"/>
                          <a:cs typeface="Arial"/>
                        </a:rPr>
                        <a:t>Aanbieder</a:t>
                      </a:r>
                    </a:p>
                  </a:txBody>
                  <a:tcPr marL="91440" marR="91440" marT="45720" marB="45720" anchor="ctr">
                    <a:solidFill>
                      <a:srgbClr val="183247"/>
                    </a:solidFill>
                  </a:tcPr>
                </a:tc>
                <a:tc>
                  <a:txBody>
                    <a:bodyPr lIns="171450" tIns="95250" rIns="152400" bIns="95250"/>
                    <a:lstStyle/>
                    <a:p>
                      <a:r>
                        <a:rPr sz="2475" b="1">
                          <a:solidFill>
                            <a:srgbClr val="FFFFFF"/>
                          </a:solidFill>
                          <a:latin typeface="Arial"/>
                          <a:ea typeface="Arial"/>
                          <a:cs typeface="Arial"/>
                        </a:rPr>
                        <a:t>Ev</a:t>
                      </a:r>
                    </a:p>
                  </a:txBody>
                  <a:tcPr marL="91440" marR="91440" marT="45720" marB="45720" anchor="ctr">
                    <a:solidFill>
                      <a:srgbClr val="183247"/>
                    </a:solidFill>
                  </a:tcPr>
                </a:tc>
                <a:tc>
                  <a:txBody>
                    <a:bodyPr lIns="171450" tIns="95250" rIns="152400" bIns="95250"/>
                    <a:lstStyle/>
                    <a:p>
                      <a:r>
                        <a:rPr sz="2475" b="1">
                          <a:solidFill>
                            <a:srgbClr val="FFFFFF"/>
                          </a:solidFill>
                          <a:latin typeface="Arial"/>
                          <a:ea typeface="Arial"/>
                          <a:cs typeface="Arial"/>
                        </a:rPr>
                        <a:t>Vergelijking</a:t>
                      </a:r>
                    </a:p>
                  </a:txBody>
                  <a:tcPr marL="91440" marR="91440" marT="45720" marB="45720" anchor="ctr">
                    <a:solidFill>
                      <a:srgbClr val="183247"/>
                    </a:solidFill>
                  </a:tcPr>
                </a:tc>
                <a:tc>
                  <a:txBody>
                    <a:bodyPr lIns="171450" tIns="95250" rIns="152400" bIns="95250"/>
                    <a:lstStyle/>
                    <a:p>
                      <a:r>
                        <a:rPr sz="2475" b="1">
                          <a:solidFill>
                            <a:srgbClr val="FFFFFF"/>
                          </a:solidFill>
                          <a:latin typeface="Arial"/>
                          <a:ea typeface="Arial"/>
                          <a:cs typeface="Arial"/>
                        </a:rPr>
                        <a:t>Indeling</a:t>
                      </a:r>
                    </a:p>
                  </a:txBody>
                  <a:tcPr marL="91440" marR="91440" marT="45720" marB="45720" anchor="ctr">
                    <a:solidFill>
                      <a:srgbClr val="183247"/>
                    </a:solidFill>
                  </a:tcPr>
                </a:tc>
              </a:tr>
              <a:tr h="968375">
                <a:tc>
                  <a:txBody>
                    <a:bodyPr lIns="171450" tIns="95250" rIns="152400" bIns="95250"/>
                    <a:lstStyle/>
                    <a:p>
                      <a:r>
                        <a:rPr sz="2475" b="0">
                          <a:solidFill>
                            <a:srgbClr val="183247"/>
                          </a:solidFill>
                          <a:latin typeface="Arial"/>
                          <a:ea typeface="Arial"/>
                          <a:cs typeface="Arial"/>
                        </a:rPr>
                        <a:t>Bioscoop Nova</a:t>
                      </a:r>
                    </a:p>
                  </a:txBody>
                  <a:tcPr marL="91440" marR="91440" marT="45720" marB="45720" anchor="ctr">
                    <a:solidFill>
                      <a:srgbClr val="FFFFFF"/>
                    </a:solidFill>
                  </a:tcPr>
                </a:tc>
                <a:tc>
                  <a:txBody>
                    <a:bodyPr lIns="171450" tIns="95250" rIns="152400" bIns="95250"/>
                    <a:lstStyle/>
                    <a:p>
                      <a:r>
                        <a:rPr sz="2475" b="0">
                          <a:solidFill>
                            <a:srgbClr val="183247"/>
                          </a:solidFill>
                          <a:latin typeface="Arial"/>
                          <a:ea typeface="Arial"/>
                          <a:cs typeface="Arial"/>
                        </a:rPr>
                        <a:t>−0,8</a:t>
                      </a:r>
                    </a:p>
                  </a:txBody>
                  <a:tcPr marL="91440" marR="91440" marT="45720" marB="45720" anchor="ctr">
                    <a:solidFill>
                      <a:srgbClr val="FFFFFF"/>
                    </a:solidFill>
                  </a:tcPr>
                </a:tc>
                <a:tc>
                  <a:txBody>
                    <a:bodyPr lIns="171450" tIns="95250" rIns="152400" bIns="95250"/>
                    <a:lstStyle/>
                    <a:p>
                      <a:r>
                        <a:rPr sz="2475" b="0">
                          <a:solidFill>
                            <a:srgbClr val="183247"/>
                          </a:solidFill>
                          <a:latin typeface="Arial"/>
                          <a:ea typeface="Arial"/>
                          <a:cs typeface="Arial"/>
                        </a:rPr>
                        <a:t>−1 &lt; −0,8 &lt; 0</a:t>
                      </a:r>
                    </a:p>
                  </a:txBody>
                  <a:tcPr marL="91440" marR="91440" marT="45720" marB="45720" anchor="ctr">
                    <a:solidFill>
                      <a:srgbClr val="FFFFFF"/>
                    </a:solidFill>
                  </a:tcPr>
                </a:tc>
                <a:tc>
                  <a:txBody>
                    <a:bodyPr lIns="171450" tIns="95250" rIns="152400" bIns="95250"/>
                    <a:lstStyle/>
                    <a:p>
                      <a:r>
                        <a:rPr sz="2475" b="0">
                          <a:solidFill>
                            <a:srgbClr val="183247"/>
                          </a:solidFill>
                          <a:latin typeface="Arial"/>
                          <a:ea typeface="Arial"/>
                          <a:cs typeface="Arial"/>
                        </a:rPr>
                        <a:t>Prijsinelastisch</a:t>
                      </a:r>
                    </a:p>
                  </a:txBody>
                  <a:tcPr marL="91440" marR="91440" marT="45720" marB="45720" anchor="ctr">
                    <a:solidFill>
                      <a:srgbClr val="FFFFFF"/>
                    </a:solidFill>
                  </a:tcPr>
                </a:tc>
              </a:tr>
              <a:tr h="968375">
                <a:tc>
                  <a:txBody>
                    <a:bodyPr lIns="171450" tIns="95250" rIns="152400" bIns="95250"/>
                    <a:lstStyle/>
                    <a:p>
                      <a:r>
                        <a:rPr sz="2475" b="0">
                          <a:solidFill>
                            <a:srgbClr val="183247"/>
                          </a:solidFill>
                          <a:latin typeface="Arial"/>
                          <a:ea typeface="Arial"/>
                          <a:cs typeface="Arial"/>
                        </a:rPr>
                        <a:t>StreamNow</a:t>
                      </a:r>
                    </a:p>
                  </a:txBody>
                  <a:tcPr marL="91440" marR="91440" marT="45720" marB="45720" anchor="ctr">
                    <a:solidFill>
                      <a:srgbClr val="EFF4F7"/>
                    </a:solidFill>
                  </a:tcPr>
                </a:tc>
                <a:tc>
                  <a:txBody>
                    <a:bodyPr lIns="171450" tIns="95250" rIns="152400" bIns="95250"/>
                    <a:lstStyle/>
                    <a:p>
                      <a:r>
                        <a:rPr sz="2475" b="0">
                          <a:solidFill>
                            <a:srgbClr val="183247"/>
                          </a:solidFill>
                          <a:latin typeface="Arial"/>
                          <a:ea typeface="Arial"/>
                          <a:cs typeface="Arial"/>
                        </a:rPr>
                        <a:t>−2</a:t>
                      </a:r>
                    </a:p>
                  </a:txBody>
                  <a:tcPr marL="91440" marR="91440" marT="45720" marB="45720" anchor="ctr">
                    <a:solidFill>
                      <a:srgbClr val="EFF4F7"/>
                    </a:solidFill>
                  </a:tcPr>
                </a:tc>
                <a:tc>
                  <a:txBody>
                    <a:bodyPr lIns="171450" tIns="95250" rIns="152400" bIns="95250"/>
                    <a:lstStyle/>
                    <a:p>
                      <a:r>
                        <a:rPr sz="2475" b="0">
                          <a:solidFill>
                            <a:srgbClr val="183247"/>
                          </a:solidFill>
                          <a:latin typeface="Arial"/>
                          <a:ea typeface="Arial"/>
                          <a:cs typeface="Arial"/>
                        </a:rPr>
                        <a:t>−2 &lt; −1</a:t>
                      </a:r>
                    </a:p>
                  </a:txBody>
                  <a:tcPr marL="91440" marR="91440" marT="45720" marB="45720" anchor="ctr">
                    <a:solidFill>
                      <a:srgbClr val="EFF4F7"/>
                    </a:solidFill>
                  </a:tcPr>
                </a:tc>
                <a:tc>
                  <a:txBody>
                    <a:bodyPr lIns="171450" tIns="95250" rIns="152400" bIns="95250"/>
                    <a:lstStyle/>
                    <a:p>
                      <a:r>
                        <a:rPr sz="2475" b="0">
                          <a:solidFill>
                            <a:srgbClr val="183247"/>
                          </a:solidFill>
                          <a:latin typeface="Arial"/>
                          <a:ea typeface="Arial"/>
                          <a:cs typeface="Arial"/>
                        </a:rPr>
                        <a:t>Prijselastisch</a:t>
                      </a:r>
                    </a:p>
                  </a:txBody>
                  <a:tcPr marL="91440" marR="91440" marT="45720" marB="45720" anchor="ctr">
                    <a:solidFill>
                      <a:srgbClr val="EFF4F7"/>
                    </a:solidFill>
                  </a:tcPr>
                </a:tc>
              </a:tr>
            </a:tbl>
          </a:graphicData>
        </a:graphic>
      </p:graphicFrame>
      <p:sp>
        <p:nvSpPr>
          <p:cNvPr id="6" name="StreamNow is hier prijsgevoeliger: Qv reageert&#10;procentueel s">
            <a:extLst xmlns:a="http://schemas.openxmlformats.org/drawingml/2006/main">
              <a:ext uri="{FF2B5EF4-FFF2-40B4-BE49-F238E27FC236}">
                <a16:creationId xmlns:a16="http://schemas.microsoft.com/office/drawing/2014/main" id="{7ECCC794-4BC0-4A1C-B6BC-D537BA80BEB3}"/>
              </a:ext>
            </a:extLst>
          </p:cNvPr>
          <p:cNvSpPr>
            <a:spLocks xmlns:a="http://schemas.openxmlformats.org/drawingml/2006/main" noGrp="1"/>
          </p:cNvSpPr>
          <p:nvPr/>
        </p:nvSpPr>
        <p:spPr>
          <a:xfrm xmlns:a="http://schemas.openxmlformats.org/drawingml/2006/main">
            <a:off x="571500" y="5629275"/>
            <a:ext cx="14097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7658A"/>
                </a:solidFill>
                <a:latin typeface="Arial"/>
                <a:ea typeface="Arial"/>
                <a:cs typeface="Arial"/>
              </a:defRPr>
            </a:pPr>
            <a:r>
              <a:rPr sz="3300" b="1">
                <a:solidFill>
                  <a:srgbClr val="17658A"/>
                </a:solidFill>
                <a:latin typeface="Arial"/>
                <a:ea typeface="Arial"/>
                <a:cs typeface="Arial"/>
              </a:rPr>
              <a:t>StreamNow is hier prijsgevoeliger: Qv reageert</a:t>
            </a:r>
          </a:p>
          <a:p xmlns:a="http://schemas.openxmlformats.org/drawingml/2006/main">
            <a:pPr algn="l">
              <a:defRPr sz="3300" b="1">
                <a:solidFill>
                  <a:srgbClr val="17658A"/>
                </a:solidFill>
                <a:latin typeface="Arial"/>
                <a:ea typeface="Arial"/>
                <a:cs typeface="Arial"/>
              </a:defRPr>
            </a:pPr>
            <a:r>
              <a:rPr sz="3300" b="1">
                <a:solidFill>
                  <a:srgbClr val="17658A"/>
                </a:solidFill>
                <a:latin typeface="Arial"/>
                <a:ea typeface="Arial"/>
                <a:cs typeface="Arial"/>
              </a:rPr>
              <a:t>procentueel sterker op P.</a:t>
            </a:r>
          </a:p>
        </p:txBody>
      </p:sp>
      <p:sp>
        <p:nvSpPr>
          <p:cNvPr id="7" name="Zonder beginhoeveelheid geen vergelijking van verloren klant">
            <a:extLst xmlns:a="http://schemas.openxmlformats.org/drawingml/2006/main">
              <a:ext uri="{FF2B5EF4-FFF2-40B4-BE49-F238E27FC236}">
                <a16:creationId xmlns:a16="http://schemas.microsoft.com/office/drawing/2014/main" id="{FEA8AF6E-8B49-4D9F-877F-977ABA0649DE}"/>
              </a:ext>
            </a:extLst>
          </p:cNvPr>
          <p:cNvSpPr>
            <a:spLocks xmlns:a="http://schemas.openxmlformats.org/drawingml/2006/main" noGrp="1"/>
          </p:cNvSpPr>
          <p:nvPr/>
        </p:nvSpPr>
        <p:spPr>
          <a:xfrm xmlns:a="http://schemas.openxmlformats.org/drawingml/2006/main">
            <a:off x="571500" y="7477125"/>
            <a:ext cx="14097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Zonder beginhoeveelheid geen vergelijking van verloren klanten.</a:t>
            </a:r>
          </a:p>
        </p:txBody>
      </p:sp>
    </p:spTree>
    <p:extLst>
      <p:ext uri="{BB962C8B-B14F-4D97-AF65-F5344CB8AC3E}">
        <p14:creationId xmlns:p14="http://schemas.microsoft.com/office/powerpoint/2010/main" val="1443013780"/>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Opgave 7d · Een plausibele contextverklaring">
            <a:extLst xmlns:a="http://schemas.openxmlformats.org/drawingml/2006/main">
              <a:ext uri="{FF2B5EF4-FFF2-40B4-BE49-F238E27FC236}">
                <a16:creationId xmlns:a16="http://schemas.microsoft.com/office/drawing/2014/main" id="{FAC8C798-EE67-4B47-9930-37CCF4585101}"/>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7d · Een plausibele contextverklaring</a:t>
            </a:r>
          </a:p>
        </p:txBody>
      </p:sp>
      <p:sp>
        <p:nvSpPr>
          <p:cNvPr id="2" name="">
            <a:extLst xmlns:a="http://schemas.openxmlformats.org/drawingml/2006/main">
              <a:ext uri="{FF2B5EF4-FFF2-40B4-BE49-F238E27FC236}">
                <a16:creationId xmlns:a16="http://schemas.microsoft.com/office/drawing/2014/main" id="{18816545-50DE-48E6-BDCF-6BEAEACEE394}"/>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1 Prijselasticiteit · Opgave 7 · Boekpagina 42">
            <a:extLst xmlns:a="http://schemas.openxmlformats.org/drawingml/2006/main">
              <a:ext uri="{FF2B5EF4-FFF2-40B4-BE49-F238E27FC236}">
                <a16:creationId xmlns:a16="http://schemas.microsoft.com/office/drawing/2014/main" id="{327C68B1-CD99-489E-9BD2-192746C708B3}"/>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§2.2.1 Prijselasticiteit · Opgave 7 · Boekpagina 42</a:t>
            </a:r>
          </a:p>
        </p:txBody>
      </p:sp>
      <p:sp>
        <p:nvSpPr>
          <p:cNvPr id="4" name="20">
            <a:extLst xmlns:a="http://schemas.openxmlformats.org/drawingml/2006/main">
              <a:ext uri="{FF2B5EF4-FFF2-40B4-BE49-F238E27FC236}">
                <a16:creationId xmlns:a16="http://schemas.microsoft.com/office/drawing/2014/main" id="{E5195771-8ECC-4C65-9DC5-6A46DCA2908C}"/>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20</a:t>
            </a:r>
          </a:p>
        </p:txBody>
      </p:sp>
      <p:sp>
        <p:nvSpPr>
          <p:cNvPr id="5" name="Een streamingabonnement is mogelijk makkelijker&#10;op te zeggen">
            <a:extLst xmlns:a="http://schemas.openxmlformats.org/drawingml/2006/main">
              <a:ext uri="{FF2B5EF4-FFF2-40B4-BE49-F238E27FC236}">
                <a16:creationId xmlns:a16="http://schemas.microsoft.com/office/drawing/2014/main" id="{F1CD0FFB-FFE1-4D83-98D1-581A544C12E3}"/>
              </a:ext>
            </a:extLst>
          </p:cNvPr>
          <p:cNvSpPr>
            <a:spLocks xmlns:a="http://schemas.openxmlformats.org/drawingml/2006/main" noGrp="1"/>
          </p:cNvSpPr>
          <p:nvPr/>
        </p:nvSpPr>
        <p:spPr>
          <a:xfrm xmlns:a="http://schemas.openxmlformats.org/drawingml/2006/main">
            <a:off x="571500" y="2209800"/>
            <a:ext cx="140970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7658A"/>
                </a:solidFill>
                <a:latin typeface="Arial"/>
                <a:ea typeface="Arial"/>
                <a:cs typeface="Arial"/>
              </a:defRPr>
            </a:pPr>
            <a:r>
              <a:rPr sz="3225" b="1">
                <a:solidFill>
                  <a:srgbClr val="17658A"/>
                </a:solidFill>
                <a:latin typeface="Arial"/>
                <a:ea typeface="Arial"/>
                <a:cs typeface="Arial"/>
              </a:rPr>
              <a:t>Een streamingabonnement is mogelijk makkelijker</a:t>
            </a:r>
          </a:p>
          <a:p xmlns:a="http://schemas.openxmlformats.org/drawingml/2006/main">
            <a:pPr algn="l">
              <a:defRPr sz="3225" b="1">
                <a:solidFill>
                  <a:srgbClr val="17658A"/>
                </a:solidFill>
                <a:latin typeface="Arial"/>
                <a:ea typeface="Arial"/>
                <a:cs typeface="Arial"/>
              </a:defRPr>
            </a:pPr>
            <a:r>
              <a:rPr sz="3225" b="1">
                <a:solidFill>
                  <a:srgbClr val="17658A"/>
                </a:solidFill>
                <a:latin typeface="Arial"/>
                <a:ea typeface="Arial"/>
                <a:cs typeface="Arial"/>
              </a:rPr>
              <a:t>op te zeggen of te vervangen dan een bioscoopbezoek.</a:t>
            </a:r>
          </a:p>
        </p:txBody>
      </p:sp>
      <p:sp>
        <p:nvSpPr>
          <p:cNvPr id="6" name="Dat kan de sterkere prijsreactie bij StreamNow verklaren.">
            <a:extLst xmlns:a="http://schemas.openxmlformats.org/drawingml/2006/main">
              <a:ext uri="{FF2B5EF4-FFF2-40B4-BE49-F238E27FC236}">
                <a16:creationId xmlns:a16="http://schemas.microsoft.com/office/drawing/2014/main" id="{6F3E7811-1A12-416C-9035-25D5DB221C32}"/>
              </a:ext>
            </a:extLst>
          </p:cNvPr>
          <p:cNvSpPr>
            <a:spLocks xmlns:a="http://schemas.openxmlformats.org/drawingml/2006/main" noGrp="1"/>
          </p:cNvSpPr>
          <p:nvPr/>
        </p:nvSpPr>
        <p:spPr>
          <a:xfrm xmlns:a="http://schemas.openxmlformats.org/drawingml/2006/main">
            <a:off x="571500" y="4333875"/>
            <a:ext cx="14097000"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0">
                <a:solidFill>
                  <a:srgbClr val="183247"/>
                </a:solidFill>
                <a:latin typeface="Arial"/>
                <a:ea typeface="Arial"/>
                <a:cs typeface="Arial"/>
              </a:defRPr>
            </a:pPr>
            <a:r>
              <a:rPr sz="3225" b="0">
                <a:solidFill>
                  <a:srgbClr val="183247"/>
                </a:solidFill>
                <a:latin typeface="Arial"/>
                <a:ea typeface="Arial"/>
                <a:cs typeface="Arial"/>
              </a:rPr>
              <a:t>Dat kan de sterkere prijsreactie bij StreamNow verklaren.</a:t>
            </a:r>
          </a:p>
        </p:txBody>
      </p:sp>
      <p:sp>
        <p:nvSpPr>
          <p:cNvPr id="7" name="">
            <a:extLst xmlns:a="http://schemas.openxmlformats.org/drawingml/2006/main">
              <a:ext uri="{FF2B5EF4-FFF2-40B4-BE49-F238E27FC236}">
                <a16:creationId xmlns:a16="http://schemas.microsoft.com/office/drawing/2014/main" id="{05AF8F25-D88D-4EE3-9A36-FB4EFB469DDC}"/>
              </a:ext>
            </a:extLst>
          </p:cNvPr>
          <p:cNvSpPr>
            <a:spLocks xmlns:a="http://schemas.openxmlformats.org/drawingml/2006/main" noGrp="1"/>
          </p:cNvSpPr>
          <p:nvPr/>
        </p:nvSpPr>
        <p:spPr>
          <a:xfrm xmlns:a="http://schemas.openxmlformats.org/drawingml/2006/main">
            <a:off x="571500" y="6000750"/>
            <a:ext cx="14097000" cy="0"/>
          </a:xfrm>
          <a:prstGeom xmlns:a="http://schemas.openxmlformats.org/drawingml/2006/main" prst="line">
            <a:avLst/>
          </a:prstGeom>
          <a:ln xmlns:a="http://schemas.openxmlformats.org/drawingml/2006/main" w="19050">
            <a:solidFill>
              <a:srgbClr val="C6D2DB"/>
            </a:solidFill>
          </a:ln>
        </p:spPr>
      </p:sp>
      <p:sp>
        <p:nvSpPr>
          <p:cNvPr id="8" name="Mogelijke verklaring: de cijfers bewijzen dit klantgedrag ni">
            <a:extLst xmlns:a="http://schemas.openxmlformats.org/drawingml/2006/main">
              <a:ext uri="{FF2B5EF4-FFF2-40B4-BE49-F238E27FC236}">
                <a16:creationId xmlns:a16="http://schemas.microsoft.com/office/drawing/2014/main" id="{E66F75F6-E0D0-4DCF-B61E-6D3BDB23083F}"/>
              </a:ext>
            </a:extLst>
          </p:cNvPr>
          <p:cNvSpPr>
            <a:spLocks xmlns:a="http://schemas.openxmlformats.org/drawingml/2006/main" noGrp="1"/>
          </p:cNvSpPr>
          <p:nvPr/>
        </p:nvSpPr>
        <p:spPr>
          <a:xfrm xmlns:a="http://schemas.openxmlformats.org/drawingml/2006/main">
            <a:off x="571500" y="6686550"/>
            <a:ext cx="140970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A94D16"/>
                </a:solidFill>
                <a:latin typeface="Arial"/>
                <a:ea typeface="Arial"/>
                <a:cs typeface="Arial"/>
              </a:defRPr>
            </a:pPr>
            <a:r>
              <a:rPr sz="3150" b="1">
                <a:solidFill>
                  <a:srgbClr val="A94D16"/>
                </a:solidFill>
                <a:latin typeface="Arial"/>
                <a:ea typeface="Arial"/>
                <a:cs typeface="Arial"/>
              </a:rPr>
              <a:t>Mogelijke verklaring: de cijfers bewijzen dit klantgedrag niet.</a:t>
            </a:r>
          </a:p>
        </p:txBody>
      </p:sp>
    </p:spTree>
    <p:extLst>
      <p:ext uri="{BB962C8B-B14F-4D97-AF65-F5344CB8AC3E}">
        <p14:creationId xmlns:p14="http://schemas.microsoft.com/office/powerpoint/2010/main" val="536671106"/>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Antwoordcontrole bij opgave 7">
            <a:extLst xmlns:a="http://schemas.openxmlformats.org/drawingml/2006/main">
              <a:ext uri="{FF2B5EF4-FFF2-40B4-BE49-F238E27FC236}">
                <a16:creationId xmlns:a16="http://schemas.microsoft.com/office/drawing/2014/main" id="{78C5DDD6-214E-4E79-9135-E76E14F51B77}"/>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Antwoordcontrole bij opgave 7</a:t>
            </a:r>
          </a:p>
        </p:txBody>
      </p:sp>
      <p:sp>
        <p:nvSpPr>
          <p:cNvPr id="2" name="">
            <a:extLst xmlns:a="http://schemas.openxmlformats.org/drawingml/2006/main">
              <a:ext uri="{FF2B5EF4-FFF2-40B4-BE49-F238E27FC236}">
                <a16:creationId xmlns:a16="http://schemas.microsoft.com/office/drawing/2014/main" id="{08D162C8-A112-433F-935D-A5100BDF5E00}"/>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1 Prijselasticiteit · Opgave 7 · Boekpagina 42">
            <a:extLst xmlns:a="http://schemas.openxmlformats.org/drawingml/2006/main">
              <a:ext uri="{FF2B5EF4-FFF2-40B4-BE49-F238E27FC236}">
                <a16:creationId xmlns:a16="http://schemas.microsoft.com/office/drawing/2014/main" id="{5EBB2B96-9793-4CD1-B732-A4E160FB56A3}"/>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§2.2.1 Prijselasticiteit · Opgave 7 · Boekpagina 42</a:t>
            </a:r>
          </a:p>
        </p:txBody>
      </p:sp>
      <p:sp>
        <p:nvSpPr>
          <p:cNvPr id="4" name="21">
            <a:extLst xmlns:a="http://schemas.openxmlformats.org/drawingml/2006/main">
              <a:ext uri="{FF2B5EF4-FFF2-40B4-BE49-F238E27FC236}">
                <a16:creationId xmlns:a16="http://schemas.microsoft.com/office/drawing/2014/main" id="{D36C048D-918E-4982-B6FE-A3F294B51077}"/>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21</a:t>
            </a:r>
          </a:p>
        </p:txBody>
      </p:sp>
      <p:sp>
        <p:nvSpPr>
          <p:cNvPr id="5" name="a · Berekenen">
            <a:extLst xmlns:a="http://schemas.openxmlformats.org/drawingml/2006/main">
              <a:ext uri="{FF2B5EF4-FFF2-40B4-BE49-F238E27FC236}">
                <a16:creationId xmlns:a16="http://schemas.microsoft.com/office/drawing/2014/main" id="{EA5333D0-840A-4F77-81B0-560185DFD636}"/>
              </a:ext>
            </a:extLst>
          </p:cNvPr>
          <p:cNvSpPr>
            <a:spLocks xmlns:a="http://schemas.openxmlformats.org/drawingml/2006/main" noGrp="1"/>
          </p:cNvSpPr>
          <p:nvPr/>
        </p:nvSpPr>
        <p:spPr>
          <a:xfrm xmlns:a="http://schemas.openxmlformats.org/drawingml/2006/main">
            <a:off x="571500" y="1981200"/>
            <a:ext cx="4762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a · Berekenen</a:t>
            </a:r>
          </a:p>
        </p:txBody>
      </p:sp>
      <p:sp>
        <p:nvSpPr>
          <p:cNvPr id="6" name="+20%, −16% en Ev = −0,8, met berekeningen.">
            <a:extLst xmlns:a="http://schemas.openxmlformats.org/drawingml/2006/main">
              <a:ext uri="{FF2B5EF4-FFF2-40B4-BE49-F238E27FC236}">
                <a16:creationId xmlns:a16="http://schemas.microsoft.com/office/drawing/2014/main" id="{87088650-6AA0-41CF-B004-2088CFDCCF74}"/>
              </a:ext>
            </a:extLst>
          </p:cNvPr>
          <p:cNvSpPr>
            <a:spLocks xmlns:a="http://schemas.openxmlformats.org/drawingml/2006/main" noGrp="1"/>
          </p:cNvSpPr>
          <p:nvPr/>
        </p:nvSpPr>
        <p:spPr>
          <a:xfrm xmlns:a="http://schemas.openxmlformats.org/drawingml/2006/main">
            <a:off x="5905500" y="1981200"/>
            <a:ext cx="876300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+20%, −16% en Ev = −0,8, met berekeningen.</a:t>
            </a:r>
          </a:p>
        </p:txBody>
      </p:sp>
      <p:sp>
        <p:nvSpPr>
          <p:cNvPr id="7" name="b · Indelen en uitleggen">
            <a:extLst xmlns:a="http://schemas.openxmlformats.org/drawingml/2006/main">
              <a:ext uri="{FF2B5EF4-FFF2-40B4-BE49-F238E27FC236}">
                <a16:creationId xmlns:a16="http://schemas.microsoft.com/office/drawing/2014/main" id="{28FBEBA1-0384-4374-B0FD-040A3C256F1E}"/>
              </a:ext>
            </a:extLst>
          </p:cNvPr>
          <p:cNvSpPr>
            <a:spLocks xmlns:a="http://schemas.openxmlformats.org/drawingml/2006/main" noGrp="1"/>
          </p:cNvSpPr>
          <p:nvPr/>
        </p:nvSpPr>
        <p:spPr>
          <a:xfrm xmlns:a="http://schemas.openxmlformats.org/drawingml/2006/main">
            <a:off x="571500" y="3333750"/>
            <a:ext cx="4762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b · Indelen en uitleggen</a:t>
            </a:r>
          </a:p>
        </p:txBody>
      </p:sp>
      <p:sp>
        <p:nvSpPr>
          <p:cNvPr id="8" name="Prijsinelastisch. Qv reageert procentueel&#10;0,8 maal zo sterk ">
            <a:extLst xmlns:a="http://schemas.openxmlformats.org/drawingml/2006/main">
              <a:ext uri="{FF2B5EF4-FFF2-40B4-BE49-F238E27FC236}">
                <a16:creationId xmlns:a16="http://schemas.microsoft.com/office/drawing/2014/main" id="{CD0F9DBB-A568-4443-BBD0-41B3DCF7E967}"/>
              </a:ext>
            </a:extLst>
          </p:cNvPr>
          <p:cNvSpPr>
            <a:spLocks xmlns:a="http://schemas.openxmlformats.org/drawingml/2006/main" noGrp="1"/>
          </p:cNvSpPr>
          <p:nvPr/>
        </p:nvSpPr>
        <p:spPr>
          <a:xfrm xmlns:a="http://schemas.openxmlformats.org/drawingml/2006/main">
            <a:off x="5905500" y="3333750"/>
            <a:ext cx="876300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Prijsinelastisch. Qv reageert procentueel</a:t>
            </a:r>
          </a:p>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0,8 maal zo sterk als P.</a:t>
            </a:r>
          </a:p>
        </p:txBody>
      </p:sp>
      <p:sp>
        <p:nvSpPr>
          <p:cNvPr id="9" name="c · Vergelijken">
            <a:extLst xmlns:a="http://schemas.openxmlformats.org/drawingml/2006/main">
              <a:ext uri="{FF2B5EF4-FFF2-40B4-BE49-F238E27FC236}">
                <a16:creationId xmlns:a16="http://schemas.microsoft.com/office/drawing/2014/main" id="{1824C527-8BF1-4B47-9264-3737C8CB0601}"/>
              </a:ext>
            </a:extLst>
          </p:cNvPr>
          <p:cNvSpPr>
            <a:spLocks xmlns:a="http://schemas.openxmlformats.org/drawingml/2006/main" noGrp="1"/>
          </p:cNvSpPr>
          <p:nvPr/>
        </p:nvSpPr>
        <p:spPr>
          <a:xfrm xmlns:a="http://schemas.openxmlformats.org/drawingml/2006/main">
            <a:off x="571500" y="4686300"/>
            <a:ext cx="4762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c · Vergelijken</a:t>
            </a:r>
          </a:p>
        </p:txBody>
      </p:sp>
      <p:sp>
        <p:nvSpPr>
          <p:cNvPr id="10" name="StreamNow: prijselastisch en relatief prijsgevoeliger.">
            <a:extLst xmlns:a="http://schemas.openxmlformats.org/drawingml/2006/main">
              <a:ext uri="{FF2B5EF4-FFF2-40B4-BE49-F238E27FC236}">
                <a16:creationId xmlns:a16="http://schemas.microsoft.com/office/drawing/2014/main" id="{F5ADE4DD-FF8E-4FBD-A2F1-61CEAE25877D}"/>
              </a:ext>
            </a:extLst>
          </p:cNvPr>
          <p:cNvSpPr>
            <a:spLocks xmlns:a="http://schemas.openxmlformats.org/drawingml/2006/main" noGrp="1"/>
          </p:cNvSpPr>
          <p:nvPr/>
        </p:nvSpPr>
        <p:spPr>
          <a:xfrm xmlns:a="http://schemas.openxmlformats.org/drawingml/2006/main">
            <a:off x="5905500" y="4686300"/>
            <a:ext cx="876300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StreamNow: prijselastisch en relatief prijsgevoeliger.</a:t>
            </a:r>
          </a:p>
        </p:txBody>
      </p:sp>
      <p:sp>
        <p:nvSpPr>
          <p:cNvPr id="11" name="d · Verklaren">
            <a:extLst xmlns:a="http://schemas.openxmlformats.org/drawingml/2006/main">
              <a:ext uri="{FF2B5EF4-FFF2-40B4-BE49-F238E27FC236}">
                <a16:creationId xmlns:a16="http://schemas.microsoft.com/office/drawing/2014/main" id="{3494E8B0-525E-4A22-B5D9-DD14D28C455E}"/>
              </a:ext>
            </a:extLst>
          </p:cNvPr>
          <p:cNvSpPr>
            <a:spLocks xmlns:a="http://schemas.openxmlformats.org/drawingml/2006/main" noGrp="1"/>
          </p:cNvSpPr>
          <p:nvPr/>
        </p:nvSpPr>
        <p:spPr>
          <a:xfrm xmlns:a="http://schemas.openxmlformats.org/drawingml/2006/main">
            <a:off x="571500" y="6038850"/>
            <a:ext cx="4762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d · Verklaren</a:t>
            </a:r>
          </a:p>
        </p:txBody>
      </p:sp>
      <p:sp>
        <p:nvSpPr>
          <p:cNvPr id="12" name="Een mogelijke contextreden, gekoppeld aan prijsgevoeligheid.">
            <a:extLst xmlns:a="http://schemas.openxmlformats.org/drawingml/2006/main">
              <a:ext uri="{FF2B5EF4-FFF2-40B4-BE49-F238E27FC236}">
                <a16:creationId xmlns:a16="http://schemas.microsoft.com/office/drawing/2014/main" id="{D723CD77-6DC8-43AF-8326-BB55CA6F05DD}"/>
              </a:ext>
            </a:extLst>
          </p:cNvPr>
          <p:cNvSpPr>
            <a:spLocks xmlns:a="http://schemas.openxmlformats.org/drawingml/2006/main" noGrp="1"/>
          </p:cNvSpPr>
          <p:nvPr/>
        </p:nvSpPr>
        <p:spPr>
          <a:xfrm xmlns:a="http://schemas.openxmlformats.org/drawingml/2006/main">
            <a:off x="5905500" y="6038850"/>
            <a:ext cx="876300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Een mogelijke contextreden, gekoppeld aan prijsgevoeligheid.</a:t>
            </a:r>
          </a:p>
        </p:txBody>
      </p:sp>
      <p:sp>
        <p:nvSpPr>
          <p:cNvPr id="13" name="Verbeter een ontbrekende berekening of redenering in je antw">
            <a:extLst xmlns:a="http://schemas.openxmlformats.org/drawingml/2006/main">
              <a:ext uri="{FF2B5EF4-FFF2-40B4-BE49-F238E27FC236}">
                <a16:creationId xmlns:a16="http://schemas.microsoft.com/office/drawing/2014/main" id="{D25B7E2C-CB59-447A-BAA5-46FD69B1BB2F}"/>
              </a:ext>
            </a:extLst>
          </p:cNvPr>
          <p:cNvSpPr>
            <a:spLocks xmlns:a="http://schemas.openxmlformats.org/drawingml/2006/main" noGrp="1"/>
          </p:cNvSpPr>
          <p:nvPr/>
        </p:nvSpPr>
        <p:spPr>
          <a:xfrm xmlns:a="http://schemas.openxmlformats.org/drawingml/2006/main">
            <a:off x="571500" y="7600950"/>
            <a:ext cx="14097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183247"/>
                </a:solidFill>
                <a:latin typeface="Arial"/>
                <a:ea typeface="Arial"/>
                <a:cs typeface="Arial"/>
              </a:defRPr>
            </a:pPr>
            <a:r>
              <a:rPr sz="2400" b="1">
                <a:solidFill>
                  <a:srgbClr val="183247"/>
                </a:solidFill>
                <a:latin typeface="Arial"/>
                <a:ea typeface="Arial"/>
                <a:cs typeface="Arial"/>
              </a:rPr>
              <a:t>Verbeter een ontbrekende berekening of redenering in je antwoord.</a:t>
            </a:r>
          </a:p>
        </p:txBody>
      </p:sp>
    </p:spTree>
    <p:extLst>
      <p:ext uri="{BB962C8B-B14F-4D97-AF65-F5344CB8AC3E}">
        <p14:creationId xmlns:p14="http://schemas.microsoft.com/office/powerpoint/2010/main" val="2033157472"/>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Deze les: §2.2.1 Prijselasticiteit">
            <a:extLst xmlns:a="http://schemas.openxmlformats.org/drawingml/2006/main">
              <a:ext uri="{FF2B5EF4-FFF2-40B4-BE49-F238E27FC236}">
                <a16:creationId xmlns:a16="http://schemas.microsoft.com/office/drawing/2014/main" id="{9342BEAD-38E5-4189-9BB6-F3ABDEBFD027}"/>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83247"/>
                </a:solidFill>
                <a:latin typeface="Arial"/>
                <a:ea typeface="Arial"/>
                <a:cs typeface="Arial"/>
              </a:defRPr>
            </a:pPr>
            <a:r>
              <a:rPr sz="3600" b="1">
                <a:solidFill>
                  <a:srgbClr val="183247"/>
                </a:solidFill>
                <a:latin typeface="Arial"/>
                <a:ea typeface="Arial"/>
                <a:cs typeface="Arial"/>
              </a:rPr>
              <a:t>Deze les: §2.2.1 Prijselasticiteit</a:t>
            </a:r>
          </a:p>
        </p:txBody>
      </p:sp>
      <p:sp>
        <p:nvSpPr>
          <p:cNvPr id="2" name="">
            <a:extLst xmlns:a="http://schemas.openxmlformats.org/drawingml/2006/main">
              <a:ext uri="{FF2B5EF4-FFF2-40B4-BE49-F238E27FC236}">
                <a16:creationId xmlns:a16="http://schemas.microsoft.com/office/drawing/2014/main" id="{72AB66DB-C869-4D15-B866-FF4D8BE44E6F}"/>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1 Prijselasticiteit">
            <a:extLst xmlns:a="http://schemas.openxmlformats.org/drawingml/2006/main">
              <a:ext uri="{FF2B5EF4-FFF2-40B4-BE49-F238E27FC236}">
                <a16:creationId xmlns:a16="http://schemas.microsoft.com/office/drawing/2014/main" id="{92B66AD6-1D08-4C40-B95B-F7A1AC1D837C}"/>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§2.2.1 Prijselasticiteit</a:t>
            </a:r>
          </a:p>
        </p:txBody>
      </p:sp>
      <p:sp>
        <p:nvSpPr>
          <p:cNvPr id="4" name="22">
            <a:extLst xmlns:a="http://schemas.openxmlformats.org/drawingml/2006/main">
              <a:ext uri="{FF2B5EF4-FFF2-40B4-BE49-F238E27FC236}">
                <a16:creationId xmlns:a16="http://schemas.microsoft.com/office/drawing/2014/main" id="{0ECC433B-4260-4905-B8FB-F4C13F601D06}"/>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22</a:t>
            </a:r>
          </a:p>
        </p:txBody>
      </p:sp>
      <p:sp>
        <p:nvSpPr>
          <p:cNvPr id="5" name="phase">
            <a:extLst xmlns:a="http://schemas.openxmlformats.org/drawingml/2006/main">
              <a:ext uri="{FF2B5EF4-FFF2-40B4-BE49-F238E27FC236}">
                <a16:creationId xmlns:a16="http://schemas.microsoft.com/office/drawing/2014/main" id="{BFA2EF2C-5F4D-4DDE-94E1-803080909DEC}"/>
              </a:ext>
            </a:extLst>
          </p:cNvPr>
          <p:cNvSpPr>
            <a:spLocks xmlns:a="http://schemas.openxmlformats.org/drawingml/2006/main" noGrp="1"/>
          </p:cNvSpPr>
          <p:nvPr/>
        </p:nvSpPr>
        <p:spPr>
          <a:xfrm xmlns:a="http://schemas.openxmlformats.org/drawingml/2006/main">
            <a:off x="571500" y="1066800"/>
            <a:ext cx="13811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Nu: Afsluiting / huiswerk</a:t>
            </a:r>
          </a:p>
        </p:txBody>
      </p:sp>
      <p:sp>
        <p:nvSpPr>
          <p:cNvPr id="6" name="Lesroute">
            <a:extLst xmlns:a="http://schemas.openxmlformats.org/drawingml/2006/main">
              <a:ext uri="{FF2B5EF4-FFF2-40B4-BE49-F238E27FC236}">
                <a16:creationId xmlns:a16="http://schemas.microsoft.com/office/drawing/2014/main" id="{320F17DD-9754-46FE-A35E-E5A62DF0C0AA}"/>
              </a:ext>
            </a:extLst>
          </p:cNvPr>
          <p:cNvSpPr>
            <a:spLocks xmlns:a="http://schemas.openxmlformats.org/drawingml/2006/main" noGrp="1"/>
          </p:cNvSpPr>
          <p:nvPr/>
        </p:nvSpPr>
        <p:spPr>
          <a:xfrm xmlns:a="http://schemas.openxmlformats.org/drawingml/2006/main">
            <a:off x="571500" y="1762125"/>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1">
            <a:extLst xmlns:a="http://schemas.openxmlformats.org/drawingml/2006/main">
              <a:ext uri="{FF2B5EF4-FFF2-40B4-BE49-F238E27FC236}">
                <a16:creationId xmlns:a16="http://schemas.microsoft.com/office/drawing/2014/main" id="{0F93D8C3-1BE2-4DF4-9E87-1EE6AEA71263}"/>
              </a:ext>
            </a:extLst>
          </p:cNvPr>
          <p:cNvSpPr>
            <a:spLocks xmlns:a="http://schemas.openxmlformats.org/drawingml/2006/main" noGrp="1"/>
          </p:cNvSpPr>
          <p:nvPr/>
        </p:nvSpPr>
        <p:spPr>
          <a:xfrm xmlns:a="http://schemas.openxmlformats.org/drawingml/2006/main">
            <a:off x="571500" y="2324100"/>
            <a:ext cx="457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1">
            <a:extLst xmlns:a="http://schemas.openxmlformats.org/drawingml/2006/main">
              <a:ext uri="{FF2B5EF4-FFF2-40B4-BE49-F238E27FC236}">
                <a16:creationId xmlns:a16="http://schemas.microsoft.com/office/drawing/2014/main" id="{4A7E538E-BA90-4D5E-AD62-38643D89C819}"/>
              </a:ext>
            </a:extLst>
          </p:cNvPr>
          <p:cNvSpPr>
            <a:spLocks xmlns:a="http://schemas.openxmlformats.org/drawingml/2006/main" noGrp="1"/>
          </p:cNvSpPr>
          <p:nvPr/>
        </p:nvSpPr>
        <p:spPr>
          <a:xfrm xmlns:a="http://schemas.openxmlformats.org/drawingml/2006/main">
            <a:off x="1104900" y="2324100"/>
            <a:ext cx="74199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9" name="route-number-2">
            <a:extLst xmlns:a="http://schemas.openxmlformats.org/drawingml/2006/main">
              <a:ext uri="{FF2B5EF4-FFF2-40B4-BE49-F238E27FC236}">
                <a16:creationId xmlns:a16="http://schemas.microsoft.com/office/drawing/2014/main" id="{D70724E5-717A-4512-9DC3-3EA1CDF5F564}"/>
              </a:ext>
            </a:extLst>
          </p:cNvPr>
          <p:cNvSpPr>
            <a:spLocks xmlns:a="http://schemas.openxmlformats.org/drawingml/2006/main" noGrp="1"/>
          </p:cNvSpPr>
          <p:nvPr/>
        </p:nvSpPr>
        <p:spPr>
          <a:xfrm xmlns:a="http://schemas.openxmlformats.org/drawingml/2006/main">
            <a:off x="571500" y="320040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a:t>
            </a:r>
          </a:p>
        </p:txBody>
      </p:sp>
      <p:sp>
        <p:nvSpPr>
          <p:cNvPr id="10" name="route-2">
            <a:extLst xmlns:a="http://schemas.openxmlformats.org/drawingml/2006/main">
              <a:ext uri="{FF2B5EF4-FFF2-40B4-BE49-F238E27FC236}">
                <a16:creationId xmlns:a16="http://schemas.microsoft.com/office/drawing/2014/main" id="{50E6EA45-9EB8-4AD4-B1D4-125A2A308E96}"/>
              </a:ext>
            </a:extLst>
          </p:cNvPr>
          <p:cNvSpPr>
            <a:spLocks xmlns:a="http://schemas.openxmlformats.org/drawingml/2006/main" noGrp="1"/>
          </p:cNvSpPr>
          <p:nvPr/>
        </p:nvSpPr>
        <p:spPr>
          <a:xfrm xmlns:a="http://schemas.openxmlformats.org/drawingml/2006/main">
            <a:off x="1104900" y="320040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Maak de startopdracht.</a:t>
            </a:r>
          </a:p>
        </p:txBody>
      </p:sp>
      <p:sp>
        <p:nvSpPr>
          <p:cNvPr id="11" name="route-number-3">
            <a:extLst xmlns:a="http://schemas.openxmlformats.org/drawingml/2006/main">
              <a:ext uri="{FF2B5EF4-FFF2-40B4-BE49-F238E27FC236}">
                <a16:creationId xmlns:a16="http://schemas.microsoft.com/office/drawing/2014/main" id="{6194C1C9-F2B7-4793-B01D-969B74DB170E}"/>
              </a:ext>
            </a:extLst>
          </p:cNvPr>
          <p:cNvSpPr>
            <a:spLocks xmlns:a="http://schemas.openxmlformats.org/drawingml/2006/main" noGrp="1"/>
          </p:cNvSpPr>
          <p:nvPr/>
        </p:nvSpPr>
        <p:spPr>
          <a:xfrm xmlns:a="http://schemas.openxmlformats.org/drawingml/2006/main">
            <a:off x="571500" y="371475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3">
            <a:extLst xmlns:a="http://schemas.openxmlformats.org/drawingml/2006/main">
              <a:ext uri="{FF2B5EF4-FFF2-40B4-BE49-F238E27FC236}">
                <a16:creationId xmlns:a16="http://schemas.microsoft.com/office/drawing/2014/main" id="{C54CDCD9-B89E-4F16-8138-9558C3BAFC61}"/>
              </a:ext>
            </a:extLst>
          </p:cNvPr>
          <p:cNvSpPr>
            <a:spLocks xmlns:a="http://schemas.openxmlformats.org/drawingml/2006/main" noGrp="1"/>
          </p:cNvSpPr>
          <p:nvPr/>
        </p:nvSpPr>
        <p:spPr>
          <a:xfrm xmlns:a="http://schemas.openxmlformats.org/drawingml/2006/main">
            <a:off x="1104900" y="371475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Uitleg bij de lesdoelen.</a:t>
            </a:r>
          </a:p>
        </p:txBody>
      </p:sp>
      <p:sp>
        <p:nvSpPr>
          <p:cNvPr id="13" name="route-number-4">
            <a:extLst xmlns:a="http://schemas.openxmlformats.org/drawingml/2006/main">
              <a:ext uri="{FF2B5EF4-FFF2-40B4-BE49-F238E27FC236}">
                <a16:creationId xmlns:a16="http://schemas.microsoft.com/office/drawing/2014/main" id="{2E93ED73-5CEF-46E0-881C-7A9C77D71D9E}"/>
              </a:ext>
            </a:extLst>
          </p:cNvPr>
          <p:cNvSpPr>
            <a:spLocks xmlns:a="http://schemas.openxmlformats.org/drawingml/2006/main" noGrp="1"/>
          </p:cNvSpPr>
          <p:nvPr/>
        </p:nvSpPr>
        <p:spPr>
          <a:xfrm xmlns:a="http://schemas.openxmlformats.org/drawingml/2006/main">
            <a:off x="571500" y="4248150"/>
            <a:ext cx="4572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4.</a:t>
            </a:r>
          </a:p>
        </p:txBody>
      </p:sp>
      <p:sp>
        <p:nvSpPr>
          <p:cNvPr id="14" name="route-4">
            <a:extLst xmlns:a="http://schemas.openxmlformats.org/drawingml/2006/main">
              <a:ext uri="{FF2B5EF4-FFF2-40B4-BE49-F238E27FC236}">
                <a16:creationId xmlns:a16="http://schemas.microsoft.com/office/drawing/2014/main" id="{DEF00F23-EBEC-4B4E-83B9-2DEA6C65627D}"/>
              </a:ext>
            </a:extLst>
          </p:cNvPr>
          <p:cNvSpPr>
            <a:spLocks xmlns:a="http://schemas.openxmlformats.org/drawingml/2006/main" noGrp="1"/>
          </p:cNvSpPr>
          <p:nvPr/>
        </p:nvSpPr>
        <p:spPr>
          <a:xfrm xmlns:a="http://schemas.openxmlformats.org/drawingml/2006/main">
            <a:off x="1104900" y="4248150"/>
            <a:ext cx="7419975"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Begin bij de basisopgaven en stel vragen. Lukt dat goed, ga dan naar de zelfstandige oefening. Maak daarna de doelopgave en kijk vervolgens je antwoorden na.</a:t>
            </a:r>
          </a:p>
        </p:txBody>
      </p:sp>
      <p:sp>
        <p:nvSpPr>
          <p:cNvPr id="15" name="route-number-5">
            <a:extLst xmlns:a="http://schemas.openxmlformats.org/drawingml/2006/main">
              <a:ext uri="{FF2B5EF4-FFF2-40B4-BE49-F238E27FC236}">
                <a16:creationId xmlns:a16="http://schemas.microsoft.com/office/drawing/2014/main" id="{04AA0368-F30A-4CDB-B5F7-4D37E8F31A5B}"/>
              </a:ext>
            </a:extLst>
          </p:cNvPr>
          <p:cNvSpPr>
            <a:spLocks xmlns:a="http://schemas.openxmlformats.org/drawingml/2006/main" noGrp="1"/>
          </p:cNvSpPr>
          <p:nvPr/>
        </p:nvSpPr>
        <p:spPr>
          <a:xfrm xmlns:a="http://schemas.openxmlformats.org/drawingml/2006/main">
            <a:off x="571500" y="6057900"/>
            <a:ext cx="457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5">
            <a:extLst xmlns:a="http://schemas.openxmlformats.org/drawingml/2006/main">
              <a:ext uri="{FF2B5EF4-FFF2-40B4-BE49-F238E27FC236}">
                <a16:creationId xmlns:a16="http://schemas.microsoft.com/office/drawing/2014/main" id="{8AADB368-182E-4C44-B361-3ABC278E3AE5}"/>
              </a:ext>
            </a:extLst>
          </p:cNvPr>
          <p:cNvSpPr>
            <a:spLocks xmlns:a="http://schemas.openxmlformats.org/drawingml/2006/main" noGrp="1"/>
          </p:cNvSpPr>
          <p:nvPr/>
        </p:nvSpPr>
        <p:spPr>
          <a:xfrm xmlns:a="http://schemas.openxmlformats.org/drawingml/2006/main">
            <a:off x="1104900" y="6057900"/>
            <a:ext cx="74199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6">
            <a:extLst xmlns:a="http://schemas.openxmlformats.org/drawingml/2006/main">
              <a:ext uri="{FF2B5EF4-FFF2-40B4-BE49-F238E27FC236}">
                <a16:creationId xmlns:a16="http://schemas.microsoft.com/office/drawing/2014/main" id="{7F8F2A73-1F69-4416-A51D-A68B5C9E70A1}"/>
              </a:ext>
            </a:extLst>
          </p:cNvPr>
          <p:cNvSpPr>
            <a:spLocks xmlns:a="http://schemas.openxmlformats.org/drawingml/2006/main" noGrp="1"/>
          </p:cNvSpPr>
          <p:nvPr/>
        </p:nvSpPr>
        <p:spPr>
          <a:xfrm xmlns:a="http://schemas.openxmlformats.org/drawingml/2006/main">
            <a:off x="571500" y="6819900"/>
            <a:ext cx="457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6">
            <a:extLst xmlns:a="http://schemas.openxmlformats.org/drawingml/2006/main">
              <a:ext uri="{FF2B5EF4-FFF2-40B4-BE49-F238E27FC236}">
                <a16:creationId xmlns:a16="http://schemas.microsoft.com/office/drawing/2014/main" id="{499F215A-DE3D-4AA7-BF74-43B8D531F309}"/>
              </a:ext>
            </a:extLst>
          </p:cNvPr>
          <p:cNvSpPr>
            <a:spLocks xmlns:a="http://schemas.openxmlformats.org/drawingml/2006/main" noGrp="1"/>
          </p:cNvSpPr>
          <p:nvPr/>
        </p:nvSpPr>
        <p:spPr>
          <a:xfrm xmlns:a="http://schemas.openxmlformats.org/drawingml/2006/main">
            <a:off x="1104900" y="6819900"/>
            <a:ext cx="74199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7.</a:t>
            </a:r>
          </a:p>
        </p:txBody>
      </p:sp>
      <p:sp>
        <p:nvSpPr>
          <p:cNvPr id="19" name="route-number-7">
            <a:extLst xmlns:a="http://schemas.openxmlformats.org/drawingml/2006/main">
              <a:ext uri="{FF2B5EF4-FFF2-40B4-BE49-F238E27FC236}">
                <a16:creationId xmlns:a16="http://schemas.microsoft.com/office/drawing/2014/main" id="{664A01EE-5CA2-405C-B3D7-9A752E2BD1A8}"/>
              </a:ext>
            </a:extLst>
          </p:cNvPr>
          <p:cNvSpPr>
            <a:spLocks xmlns:a="http://schemas.openxmlformats.org/drawingml/2006/main" noGrp="1"/>
          </p:cNvSpPr>
          <p:nvPr/>
        </p:nvSpPr>
        <p:spPr>
          <a:xfrm xmlns:a="http://schemas.openxmlformats.org/drawingml/2006/main">
            <a:off x="571500" y="7372350"/>
            <a:ext cx="45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7.</a:t>
            </a:r>
          </a:p>
        </p:txBody>
      </p:sp>
      <p:sp>
        <p:nvSpPr>
          <p:cNvPr id="20" name="route-7">
            <a:extLst xmlns:a="http://schemas.openxmlformats.org/drawingml/2006/main">
              <a:ext uri="{FF2B5EF4-FFF2-40B4-BE49-F238E27FC236}">
                <a16:creationId xmlns:a16="http://schemas.microsoft.com/office/drawing/2014/main" id="{1E367227-D9A5-4BE0-A51D-094BE322A795}"/>
              </a:ext>
            </a:extLst>
          </p:cNvPr>
          <p:cNvSpPr>
            <a:spLocks xmlns:a="http://schemas.openxmlformats.org/drawingml/2006/main" noGrp="1"/>
          </p:cNvSpPr>
          <p:nvPr/>
        </p:nvSpPr>
        <p:spPr>
          <a:xfrm xmlns:a="http://schemas.openxmlformats.org/drawingml/2006/main">
            <a:off x="1104900" y="7372350"/>
            <a:ext cx="74199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55828BBA-87F6-42B1-92EB-F7B1D024423B}"/>
              </a:ext>
            </a:extLst>
          </p:cNvPr>
          <p:cNvSpPr>
            <a:spLocks xmlns:a="http://schemas.openxmlformats.org/drawingml/2006/main" noGrp="1"/>
          </p:cNvSpPr>
          <p:nvPr/>
        </p:nvSpPr>
        <p:spPr>
          <a:xfrm xmlns:a="http://schemas.openxmlformats.org/drawingml/2006/main">
            <a:off x="9258300" y="176212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DD41CEAB-6317-4E80-8D7A-67E932FDB19E}"/>
              </a:ext>
            </a:extLst>
          </p:cNvPr>
          <p:cNvSpPr>
            <a:spLocks xmlns:a="http://schemas.openxmlformats.org/drawingml/2006/main" noGrp="1"/>
          </p:cNvSpPr>
          <p:nvPr/>
        </p:nvSpPr>
        <p:spPr>
          <a:xfrm xmlns:a="http://schemas.openxmlformats.org/drawingml/2006/main">
            <a:off x="9258300" y="2324100"/>
            <a:ext cx="5381625"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Procenten en Ev berekenen.</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Vraag indelen en vergelijken.</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Een mogelijke reden uitleggen.</a:t>
            </a:r>
          </a:p>
        </p:txBody>
      </p:sp>
      <p:sp>
        <p:nvSpPr>
          <p:cNvPr id="23" name="">
            <a:extLst xmlns:a="http://schemas.openxmlformats.org/drawingml/2006/main">
              <a:ext uri="{FF2B5EF4-FFF2-40B4-BE49-F238E27FC236}">
                <a16:creationId xmlns:a16="http://schemas.microsoft.com/office/drawing/2014/main" id="{84FDBC9A-2E06-4630-BC6F-6D4DD5C240E9}"/>
              </a:ext>
            </a:extLst>
          </p:cNvPr>
          <p:cNvSpPr>
            <a:spLocks xmlns:a="http://schemas.openxmlformats.org/drawingml/2006/main" noGrp="1"/>
          </p:cNvSpPr>
          <p:nvPr/>
        </p:nvSpPr>
        <p:spPr>
          <a:xfrm xmlns:a="http://schemas.openxmlformats.org/drawingml/2006/main">
            <a:off x="9258300" y="3562350"/>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6E4035CB-AE6B-4F91-ADE5-DD0886B269B7}"/>
              </a:ext>
            </a:extLst>
          </p:cNvPr>
          <p:cNvSpPr>
            <a:spLocks xmlns:a="http://schemas.openxmlformats.org/drawingml/2006/main" noGrp="1"/>
          </p:cNvSpPr>
          <p:nvPr/>
        </p:nvSpPr>
        <p:spPr>
          <a:xfrm xmlns:a="http://schemas.openxmlformats.org/drawingml/2006/main">
            <a:off x="9258300" y="383857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4EA59F46-014F-410F-955A-287D8E0984B3}"/>
              </a:ext>
            </a:extLst>
          </p:cNvPr>
          <p:cNvSpPr>
            <a:spLocks xmlns:a="http://schemas.openxmlformats.org/drawingml/2006/main" noGrp="1"/>
          </p:cNvSpPr>
          <p:nvPr/>
        </p:nvSpPr>
        <p:spPr>
          <a:xfrm xmlns:a="http://schemas.openxmlformats.org/drawingml/2006/main">
            <a:off x="9258300" y="4371975"/>
            <a:ext cx="5381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Pagina 40</a:t>
            </a:r>
          </a:p>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Opgaven 1 en 2</a:t>
            </a:r>
          </a:p>
        </p:txBody>
      </p:sp>
      <p:sp>
        <p:nvSpPr>
          <p:cNvPr id="26" name="">
            <a:extLst xmlns:a="http://schemas.openxmlformats.org/drawingml/2006/main">
              <a:ext uri="{FF2B5EF4-FFF2-40B4-BE49-F238E27FC236}">
                <a16:creationId xmlns:a16="http://schemas.microsoft.com/office/drawing/2014/main" id="{85E840BB-AB42-47A0-AE43-543BC29C46BC}"/>
              </a:ext>
            </a:extLst>
          </p:cNvPr>
          <p:cNvSpPr>
            <a:spLocks xmlns:a="http://schemas.openxmlformats.org/drawingml/2006/main" noGrp="1"/>
          </p:cNvSpPr>
          <p:nvPr/>
        </p:nvSpPr>
        <p:spPr>
          <a:xfrm xmlns:a="http://schemas.openxmlformats.org/drawingml/2006/main">
            <a:off x="9258300" y="5429250"/>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60686FC5-6710-4A42-BCE8-D0ACEEBACDD5}"/>
              </a:ext>
            </a:extLst>
          </p:cNvPr>
          <p:cNvSpPr>
            <a:spLocks xmlns:a="http://schemas.openxmlformats.org/drawingml/2006/main" noGrp="1"/>
          </p:cNvSpPr>
          <p:nvPr/>
        </p:nvSpPr>
        <p:spPr>
          <a:xfrm xmlns:a="http://schemas.openxmlformats.org/drawingml/2006/main">
            <a:off x="9258300" y="5695950"/>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189C1B4C-131E-4438-83E3-56BFB78671A7}"/>
              </a:ext>
            </a:extLst>
          </p:cNvPr>
          <p:cNvSpPr>
            <a:spLocks xmlns:a="http://schemas.openxmlformats.org/drawingml/2006/main" noGrp="1"/>
          </p:cNvSpPr>
          <p:nvPr/>
        </p:nvSpPr>
        <p:spPr>
          <a:xfrm xmlns:a="http://schemas.openxmlformats.org/drawingml/2006/main">
            <a:off x="9258300" y="6229350"/>
            <a:ext cx="5381625"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§2.2.1 Prijselasticiteit</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Basis: 3 en 4</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Zelfstandig: 5 en 6</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Doelopgave: 7</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Maken en nakijken</a:t>
            </a:r>
          </a:p>
        </p:txBody>
      </p:sp>
    </p:spTree>
    <p:extLst>
      <p:ext uri="{BB962C8B-B14F-4D97-AF65-F5344CB8AC3E}">
        <p14:creationId xmlns:p14="http://schemas.microsoft.com/office/powerpoint/2010/main" val="209201361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2026-09-29T10:42:20.7540000Z</dcterms:created>
  <dcterms:modified xsi:type="dcterms:W3CDTF">2026-09-29T10:42:20.7540000Z</dcterms:modified>
</coreProperties>
</file>