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6f8e8e358024d41" /><Relationship Type="http://schemas.openxmlformats.org/officeDocument/2006/relationships/extended-properties" Target="/docProps/app.xml" Id="Rb20a93fdf81b41d4" /><Relationship Type="http://schemas.openxmlformats.org/officeDocument/2006/relationships/officeDocument" Target="/ppt/presentation.xml" Id="Rf15c790389f441c6" /></Relationships>
</file>

<file path=ppt/presentation.xml><?xml version="1.0" encoding="utf-8"?>
<p:presentation xmlns:p="http://schemas.openxmlformats.org/presentationml/2006/main">
  <p:sldMasterIdLst>
    <p:sldMasterId xmlns:r="http://schemas.openxmlformats.org/officeDocument/2006/relationships" id="2147483648" r:id="Rded182840a5a4b71"/>
  </p:sldMasterIdLst>
  <p:notesMasterIdLst>
    <p:notesMasterId xmlns:r="http://schemas.openxmlformats.org/officeDocument/2006/relationships" r:id="R0b12d0dbdfc34ad3"/>
  </p:notesMasterIdLst>
  <p:sldIdLst>
    <p:sldId xmlns:r="http://schemas.openxmlformats.org/officeDocument/2006/relationships" id="256" r:id="R6ece014317384b36"/>
    <p:sldId xmlns:r="http://schemas.openxmlformats.org/officeDocument/2006/relationships" id="257" r:id="R86b01eb0f3e44396"/>
    <p:sldId xmlns:r="http://schemas.openxmlformats.org/officeDocument/2006/relationships" id="258" r:id="R28b2c25df62d4716"/>
    <p:sldId xmlns:r="http://schemas.openxmlformats.org/officeDocument/2006/relationships" id="259" r:id="R7fc458039923434c"/>
    <p:sldId xmlns:r="http://schemas.openxmlformats.org/officeDocument/2006/relationships" id="260" r:id="Rcec423f604c140fc"/>
    <p:sldId xmlns:r="http://schemas.openxmlformats.org/officeDocument/2006/relationships" id="261" r:id="R04de28110ef6446b"/>
    <p:sldId xmlns:r="http://schemas.openxmlformats.org/officeDocument/2006/relationships" id="262" r:id="Rbc4b8a5386554054"/>
    <p:sldId xmlns:r="http://schemas.openxmlformats.org/officeDocument/2006/relationships" id="263" r:id="Ra2e85350e87f4e2b"/>
    <p:sldId xmlns:r="http://schemas.openxmlformats.org/officeDocument/2006/relationships" id="264" r:id="R479e0407c90d4d9e"/>
    <p:sldId xmlns:r="http://schemas.openxmlformats.org/officeDocument/2006/relationships" id="265" r:id="Reec23529c41d4827"/>
    <p:sldId xmlns:r="http://schemas.openxmlformats.org/officeDocument/2006/relationships" id="266" r:id="R0bf8edc7e2cf4812"/>
    <p:sldId xmlns:r="http://schemas.openxmlformats.org/officeDocument/2006/relationships" id="267" r:id="R6b48e2d8527f4f53"/>
    <p:sldId xmlns:r="http://schemas.openxmlformats.org/officeDocument/2006/relationships" id="268" r:id="R2b347820179a434c"/>
    <p:sldId xmlns:r="http://schemas.openxmlformats.org/officeDocument/2006/relationships" id="269" r:id="R0f17d693f7ad48bf"/>
    <p:sldId xmlns:r="http://schemas.openxmlformats.org/officeDocument/2006/relationships" id="270" r:id="Re422e50754c3427b"/>
    <p:sldId xmlns:r="http://schemas.openxmlformats.org/officeDocument/2006/relationships" id="271" r:id="R43c91981130d4e88"/>
    <p:sldId xmlns:r="http://schemas.openxmlformats.org/officeDocument/2006/relationships" id="272" r:id="R69f17fa6eee24993"/>
    <p:sldId xmlns:r="http://schemas.openxmlformats.org/officeDocument/2006/relationships" id="273" r:id="Rc0a5283a780d454e"/>
    <p:sldId xmlns:r="http://schemas.openxmlformats.org/officeDocument/2006/relationships" id="274" r:id="R92ef532a21da4e1e"/>
    <p:sldId xmlns:r="http://schemas.openxmlformats.org/officeDocument/2006/relationships" id="275" r:id="R75c330da291541bf"/>
    <p:sldId xmlns:r="http://schemas.openxmlformats.org/officeDocument/2006/relationships" id="276" r:id="Rd80ecb86c39d418f"/>
    <p:sldId xmlns:r="http://schemas.openxmlformats.org/officeDocument/2006/relationships" id="277" r:id="Rabb9647cf76d4c24"/>
    <p:sldId xmlns:r="http://schemas.openxmlformats.org/officeDocument/2006/relationships" id="278" r:id="R94b7233679024c06"/>
    <p:sldId xmlns:r="http://schemas.openxmlformats.org/officeDocument/2006/relationships" id="279" r:id="R3b52cf9ca4a44b8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8e57e96bca4b6f" /><Relationship Type="http://schemas.openxmlformats.org/officeDocument/2006/relationships/slideMaster" Target="/ppt/slideMasters/slideMaster1.xml" Id="Rded182840a5a4b71" /><Relationship Type="http://schemas.openxmlformats.org/officeDocument/2006/relationships/notesMaster" Target="/ppt/notesMasters/notesMaster1.xml" Id="R0b12d0dbdfc34ad3" /><Relationship Type="http://schemas.openxmlformats.org/officeDocument/2006/relationships/presProps" Target="/ppt/presProps.xml" Id="R459d46c72f5242a9" /><Relationship Type="http://schemas.openxmlformats.org/officeDocument/2006/relationships/tableStyles" Target="/ppt/tableStyles.xml" Id="R8727a5436ee44eb3" /><Relationship Type="http://schemas.openxmlformats.org/officeDocument/2006/relationships/slide" Target="/ppt/slides/slide1.xml" Id="R6ece014317384b36" /><Relationship Type="http://schemas.openxmlformats.org/officeDocument/2006/relationships/slide" Target="/ppt/slides/slide2.xml" Id="R86b01eb0f3e44396" /><Relationship Type="http://schemas.openxmlformats.org/officeDocument/2006/relationships/slide" Target="/ppt/slides/slide3.xml" Id="R28b2c25df62d4716" /><Relationship Type="http://schemas.openxmlformats.org/officeDocument/2006/relationships/slide" Target="/ppt/slides/slide4.xml" Id="R7fc458039923434c" /><Relationship Type="http://schemas.openxmlformats.org/officeDocument/2006/relationships/slide" Target="/ppt/slides/slide5.xml" Id="Rcec423f604c140fc" /><Relationship Type="http://schemas.openxmlformats.org/officeDocument/2006/relationships/slide" Target="/ppt/slides/slide6.xml" Id="R04de28110ef6446b" /><Relationship Type="http://schemas.openxmlformats.org/officeDocument/2006/relationships/slide" Target="/ppt/slides/slide7.xml" Id="Rbc4b8a5386554054" /><Relationship Type="http://schemas.openxmlformats.org/officeDocument/2006/relationships/slide" Target="/ppt/slides/slide8.xml" Id="Ra2e85350e87f4e2b" /><Relationship Type="http://schemas.openxmlformats.org/officeDocument/2006/relationships/slide" Target="/ppt/slides/slide9.xml" Id="R479e0407c90d4d9e" /><Relationship Type="http://schemas.openxmlformats.org/officeDocument/2006/relationships/slide" Target="/ppt/slides/slide10.xml" Id="Reec23529c41d4827" /><Relationship Type="http://schemas.openxmlformats.org/officeDocument/2006/relationships/slide" Target="/ppt/slides/slide11.xml" Id="R0bf8edc7e2cf4812" /><Relationship Type="http://schemas.openxmlformats.org/officeDocument/2006/relationships/slide" Target="/ppt/slides/slide12.xml" Id="R6b48e2d8527f4f53" /><Relationship Type="http://schemas.openxmlformats.org/officeDocument/2006/relationships/slide" Target="/ppt/slides/slide13.xml" Id="R2b347820179a434c" /><Relationship Type="http://schemas.openxmlformats.org/officeDocument/2006/relationships/slide" Target="/ppt/slides/slide14.xml" Id="R0f17d693f7ad48bf" /><Relationship Type="http://schemas.openxmlformats.org/officeDocument/2006/relationships/slide" Target="/ppt/slides/slide15.xml" Id="Re422e50754c3427b" /><Relationship Type="http://schemas.openxmlformats.org/officeDocument/2006/relationships/slide" Target="/ppt/slides/slide16.xml" Id="R43c91981130d4e88" /><Relationship Type="http://schemas.openxmlformats.org/officeDocument/2006/relationships/slide" Target="/ppt/slides/slide17.xml" Id="R69f17fa6eee24993" /><Relationship Type="http://schemas.openxmlformats.org/officeDocument/2006/relationships/slide" Target="/ppt/slides/slide18.xml" Id="Rc0a5283a780d454e" /><Relationship Type="http://schemas.openxmlformats.org/officeDocument/2006/relationships/slide" Target="/ppt/slides/slide19.xml" Id="R92ef532a21da4e1e" /><Relationship Type="http://schemas.openxmlformats.org/officeDocument/2006/relationships/slide" Target="/ppt/slides/slide20.xml" Id="R75c330da291541bf" /><Relationship Type="http://schemas.openxmlformats.org/officeDocument/2006/relationships/slide" Target="/ppt/slides/slide21.xml" Id="Rd80ecb86c39d418f" /><Relationship Type="http://schemas.openxmlformats.org/officeDocument/2006/relationships/slide" Target="/ppt/slides/slide22.xml" Id="Rabb9647cf76d4c24" /><Relationship Type="http://schemas.openxmlformats.org/officeDocument/2006/relationships/slide" Target="/ppt/slides/slide23.xml" Id="R94b7233679024c06" /><Relationship Type="http://schemas.openxmlformats.org/officeDocument/2006/relationships/slide" Target="/ppt/slides/slide24.xml" Id="R3b52cf9ca4a44b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a0c3489eba43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c963ce19d44169" /><Relationship Type="http://schemas.openxmlformats.org/officeDocument/2006/relationships/notesMaster" Target="/ppt/notesMasters/notesMaster1.xml" Id="Re5037710c33a42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5ee55f6e514070" /><Relationship Type="http://schemas.openxmlformats.org/officeDocument/2006/relationships/notesMaster" Target="/ppt/notesMasters/notesMaster1.xml" Id="R8163cb50be7945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443542cb884370" /><Relationship Type="http://schemas.openxmlformats.org/officeDocument/2006/relationships/notesMaster" Target="/ppt/notesMasters/notesMaster1.xml" Id="R9abc817e96c540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f765a3270d496a" /><Relationship Type="http://schemas.openxmlformats.org/officeDocument/2006/relationships/notesMaster" Target="/ppt/notesMasters/notesMaster1.xml" Id="Rcd67ef262d2648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c33a30ec1d4cb8" /><Relationship Type="http://schemas.openxmlformats.org/officeDocument/2006/relationships/notesMaster" Target="/ppt/notesMasters/notesMaster1.xml" Id="R95db5f2b265141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b7b2e756a24453" /><Relationship Type="http://schemas.openxmlformats.org/officeDocument/2006/relationships/notesMaster" Target="/ppt/notesMasters/notesMaster1.xml" Id="R694f31ef09a842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5968207b5246a5" /><Relationship Type="http://schemas.openxmlformats.org/officeDocument/2006/relationships/notesMaster" Target="/ppt/notesMasters/notesMaster1.xml" Id="R987413b1d9904b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a483156cda4b21" /><Relationship Type="http://schemas.openxmlformats.org/officeDocument/2006/relationships/notesMaster" Target="/ppt/notesMasters/notesMaster1.xml" Id="Rad1dc75a8e9145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8d69781bb442ba" /><Relationship Type="http://schemas.openxmlformats.org/officeDocument/2006/relationships/notesMaster" Target="/ppt/notesMasters/notesMaster1.xml" Id="Re1e1eeae396b44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983217442c4b27" /><Relationship Type="http://schemas.openxmlformats.org/officeDocument/2006/relationships/notesMaster" Target="/ppt/notesMasters/notesMaster1.xml" Id="Rab3162fa195649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dcf8fbb9e94217" /><Relationship Type="http://schemas.openxmlformats.org/officeDocument/2006/relationships/notesMaster" Target="/ppt/notesMasters/notesMaster1.xml" Id="R017fa1459c0245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04cb6be62848f9" /><Relationship Type="http://schemas.openxmlformats.org/officeDocument/2006/relationships/notesMaster" Target="/ppt/notesMasters/notesMaster1.xml" Id="R082524120f814d9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96c307b87904ed2" /><Relationship Type="http://schemas.openxmlformats.org/officeDocument/2006/relationships/notesMaster" Target="/ppt/notesMasters/notesMaster1.xml" Id="R6eea33aea40647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7073777896e42be" /><Relationship Type="http://schemas.openxmlformats.org/officeDocument/2006/relationships/notesMaster" Target="/ppt/notesMasters/notesMaster1.xml" Id="Ra53ec624d9634e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ad1e4794564b16" /><Relationship Type="http://schemas.openxmlformats.org/officeDocument/2006/relationships/notesMaster" Target="/ppt/notesMasters/notesMaster1.xml" Id="Ra3d9b1728c6a43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e3fdb5ee3a84e20" /><Relationship Type="http://schemas.openxmlformats.org/officeDocument/2006/relationships/notesMaster" Target="/ppt/notesMasters/notesMaster1.xml" Id="R0f543d03a61b45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970521b8b8a4c2d" /><Relationship Type="http://schemas.openxmlformats.org/officeDocument/2006/relationships/notesMaster" Target="/ppt/notesMasters/notesMaster1.xml" Id="R574709709e4f4fa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dc7c1f6b554e69" /><Relationship Type="http://schemas.openxmlformats.org/officeDocument/2006/relationships/notesMaster" Target="/ppt/notesMasters/notesMaster1.xml" Id="R273f17f6977e4da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ac5bfa4b0a1427e" /><Relationship Type="http://schemas.openxmlformats.org/officeDocument/2006/relationships/notesMaster" Target="/ppt/notesMasters/notesMaster1.xml" Id="Ra047de339b48435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13ab2389b6049ff" /><Relationship Type="http://schemas.openxmlformats.org/officeDocument/2006/relationships/notesMaster" Target="/ppt/notesMasters/notesMaster1.xml" Id="R8913d9b956da40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47084609f294a2b" /><Relationship Type="http://schemas.openxmlformats.org/officeDocument/2006/relationships/notesMaster" Target="/ppt/notesMasters/notesMaster1.xml" Id="Rf059833933bc4a0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b938461bb234303" /><Relationship Type="http://schemas.openxmlformats.org/officeDocument/2006/relationships/notesMaster" Target="/ppt/notesMasters/notesMaster1.xml" Id="Re949c734d6b744e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a7f7541d3f944bf" /><Relationship Type="http://schemas.openxmlformats.org/officeDocument/2006/relationships/notesMaster" Target="/ppt/notesMasters/notesMaster1.xml" Id="R531dcaefd107411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237a1b00bb041f1" /><Relationship Type="http://schemas.openxmlformats.org/officeDocument/2006/relationships/notesMaster" Target="/ppt/notesMasters/notesMaster1.xml" Id="Rcfeea8adc2cf49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oude waarde hoort bij jouw procentberekening?</a:t>
            </a:r>
          </a:p>
          <a:p xmlns:a="http://schemas.openxmlformats.org/drawingml/2006/main">
            <a:r>
              <a:rPr sz="1400"/>
              <a:t/>
            </a:r>
          </a:p>
          <a:p xmlns:a="http://schemas.openxmlformats.org/drawingml/2006/main">
            <a:r>
              <a:rPr sz="1400"/>
              <a:t>Uitleg: Laat deze dia staan tijdens startopdracht. Start 1–2 staat op p. 40. Opgave 1 haalt procenten uit Boek 1 §1.1.2 op. Opgave 2 vraagt nieuwe formele kennis: Ev indelen en relatieve sterkte vergelijken. Laat leerlingen hiervoor de tabel en uitleg op p. 38 raadplegen. Dit is ondersteund verkennen, geen toets van al beheerste stof. Keer na de uitleg expliciet terug naar opgave 2 (dia 12) vóór zelfstandig werk. Basis 3 staat op p. 40, basis 4 en zelfstandig 5–6 op p. 41; doel 7 op p. 42. Huiswerk: 3, 4, 5, 6 en 7 maken en nakijken. Bonus 8 en herhaling 9–10 zijn extra. De gehele route is niet als één les van 55 minuten begroot.</a:t>
            </a:r>
          </a:p>
          <a:p xmlns:a="http://schemas.openxmlformats.org/drawingml/2006/main">
            <a:r>
              <a:rPr sz="1400"/>
              <a:t/>
            </a:r>
          </a:p>
          <a:p xmlns:a="http://schemas.openxmlformats.org/drawingml/2006/main">
            <a:r>
              <a:rPr sz="1400"/>
              <a:t>Misvatting: Een vraag bij Startopgaven kan nieuwe kennis vragen. Laat leerlingen hun eerste antwoord op 2 na de uitleg herzien.</a:t>
            </a:r>
          </a:p>
          <a:p xmlns:a="http://schemas.openxmlformats.org/drawingml/2006/main">
            <a:r>
              <a:rPr sz="1400"/>
              <a:t/>
            </a:r>
          </a:p>
          <a:p xmlns:a="http://schemas.openxmlformats.org/drawingml/2006/main">
            <a:r>
              <a:rPr sz="1400"/>
              <a:t>Overgang: Ga verder met de volgende lesfase.</a:t>
            </a:r>
          </a:p>
          <a:p xmlns:a="http://schemas.openxmlformats.org/drawingml/2006/main">
            <a:r>
              <a:rPr sz="1400"/>
              <a:t/>
            </a:r>
          </a:p>
          <a:p xmlns:a="http://schemas.openxmlformats.org/drawingml/2006/main">
            <a:r>
              <a:rPr sz="1400"/>
              <a:t>Bron: Boek 2, chatuitgave 2026, revisie 21 september 2026. Leerlingenboek, gedrukte pagina 38, 40–42.</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Voorkennisbron: Boek 1 §1.1.2, Theorie / Procentuele verandering. Nieuwe begripskennis: Boek 2 p. 38. Ondersteuning en opdrachten zijn in alle drie overzichten gelijk.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heb je aan procenten als bedrijven verschillende aantallen klanten hebben?</a:t>
            </a:r>
          </a:p>
          <a:p xmlns:a="http://schemas.openxmlformats.org/drawingml/2006/main">
            <a:r>
              <a:rPr sz="1400"/>
              <a:t/>
            </a:r>
          </a:p>
          <a:p xmlns:a="http://schemas.openxmlformats.org/drawingml/2006/main">
            <a:r>
              <a:rPr sz="1400"/>
              <a:t>Uitleg: Deze doelen bereiden alle onderdelen van Nova en StreamNow voor. De prijsgevoeligheid gaat om verhoudingen van procenten, niet om het aantal klanten dat verdwijnt. Procenten zijn eerder onderwezen, de verhouding Ev en de indeling zijn nieuw.</a:t>
            </a:r>
          </a:p>
          <a:p xmlns:a="http://schemas.openxmlformats.org/drawingml/2006/main">
            <a:r>
              <a:rPr sz="1400"/>
              <a:t/>
            </a:r>
          </a:p>
          <a:p xmlns:a="http://schemas.openxmlformats.org/drawingml/2006/main">
            <a:r>
              <a:rPr sz="1400"/>
              <a:t>Misvatting: Een percentage en een elasticiteit zijn verschillende soorten getallen.</a:t>
            </a:r>
          </a:p>
          <a:p xmlns:a="http://schemas.openxmlformats.org/drawingml/2006/main">
            <a:r>
              <a:rPr sz="1400"/>
              <a:t/>
            </a:r>
          </a:p>
          <a:p xmlns:a="http://schemas.openxmlformats.org/drawingml/2006/main">
            <a:r>
              <a:rPr sz="1400"/>
              <a:t>Overgang: Introduceer het afzonderlijke uitlegvoorbeeld.</a:t>
            </a:r>
          </a:p>
          <a:p xmlns:a="http://schemas.openxmlformats.org/drawingml/2006/main">
            <a:r>
              <a:rPr sz="1400"/>
              <a:t/>
            </a:r>
          </a:p>
          <a:p xmlns:a="http://schemas.openxmlformats.org/drawingml/2006/main">
            <a:r>
              <a:rPr sz="1400"/>
              <a:t>Bron: Boek 2, chatuitgave 2026, revisie 21 september 2026. Leerlingenboek, gedrukte pagina 36–39.</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kun je 3 euro en 12 bezoeken niet rechtstreeks vergelijken?</a:t>
            </a:r>
          </a:p>
          <a:p xmlns:a="http://schemas.openxmlformats.org/drawingml/2006/main">
            <a:r>
              <a:rPr sz="1400"/>
              <a:t/>
            </a:r>
          </a:p>
          <a:p xmlns:a="http://schemas.openxmlformats.org/drawingml/2006/main">
            <a:r>
              <a:rPr sz="1400"/>
              <a:t>Uitleg: Eigen voorbeeld: een Keramiekcafé verhoogt de prijs van 24 naar 27 euro per bezoek. De gevraagde hoeveelheid daalt van 160 naar 148 bezoeken per week. Benoem P en Qv en lees beide kolommen. Inkomen, voorkeuren en prijzen van alternatieven blijven in deze vergelijking gelijk. Dit is dezelfde aanname als bij een beweging langs de vraaglijn in Boek 1 §1.2.2. De prijs stijgt 3 euro; de hoeveelheid daalt 12 bezoeken. Die losse verschillen zijn nog geen maat voor relatieve gevoeligheid.</a:t>
            </a:r>
          </a:p>
          <a:p xmlns:a="http://schemas.openxmlformats.org/drawingml/2006/main">
            <a:r>
              <a:rPr sz="1400"/>
              <a:t/>
            </a:r>
          </a:p>
          <a:p xmlns:a="http://schemas.openxmlformats.org/drawingml/2006/main">
            <a:r>
              <a:rPr sz="1400"/>
              <a:t>Misvatting: Ceteris paribus is een modelaanname. Als tegelijk andere vraagfactoren veranderen, is niet alle waargenomen verandering aan de eigen prijs toe te schrijven.</a:t>
            </a:r>
          </a:p>
          <a:p xmlns:a="http://schemas.openxmlformats.org/drawingml/2006/main">
            <a:r>
              <a:rPr sz="1400"/>
              <a:t/>
            </a:r>
          </a:p>
          <a:p xmlns:a="http://schemas.openxmlformats.org/drawingml/2006/main">
            <a:r>
              <a:rPr sz="1400"/>
              <a:t>Overgang: Zet beide veranderingen om in percentages.</a:t>
            </a:r>
          </a:p>
          <a:p xmlns:a="http://schemas.openxmlformats.org/drawingml/2006/main">
            <a:r>
              <a:rPr sz="1400"/>
              <a:t/>
            </a:r>
          </a:p>
          <a:p xmlns:a="http://schemas.openxmlformats.org/drawingml/2006/main">
            <a:r>
              <a:rPr sz="1400"/>
              <a:t>Bron: Boek 2, chatuitgave 2026, revisie 21 september 2026. Dit is een afzonderlijk, door de presentatiemaker bedacht uitlegvoorbeeld met eigen context en gegevens. Het komt niet uit een boekopgave. Het boek is alleen de bron voor de methode (p. 36).</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staat bij Qv 160 onder de breuk?</a:t>
            </a:r>
          </a:p>
          <a:p xmlns:a="http://schemas.openxmlformats.org/drawingml/2006/main">
            <a:r>
              <a:rPr sz="1400"/>
              <a:t/>
            </a:r>
          </a:p>
          <a:p xmlns:a="http://schemas.openxmlformats.org/drawingml/2006/main">
            <a:r>
              <a:rPr sz="1400"/>
              <a:t>Uitleg: Haal de vier stappen van Boek 1 §1.1.2 op: oud en nieuw noteren, nieuw min oud, delen door oud en vermenigvuldigen met 100%, teken duiden. Prijs: +3 / 24 = +0,125, dus +12,5%. Hoeveelheid: −12 / 160 = −0,075, dus −7,5%. Bewaar ongeronde tussenuitkomsten. Controle: 24 × 1,125 = 27 en 160 × 0,925 = 148.</a:t>
            </a:r>
          </a:p>
          <a:p xmlns:a="http://schemas.openxmlformats.org/drawingml/2006/main">
            <a:r>
              <a:rPr sz="1400"/>
              <a:t/>
            </a:r>
          </a:p>
          <a:p xmlns:a="http://schemas.openxmlformats.org/drawingml/2006/main">
            <a:r>
              <a:rPr sz="1400"/>
              <a:t>Misvatting: Deel niet door de nieuwe waarde. Het minteken mag bij een daling niet verdwijnen.</a:t>
            </a:r>
          </a:p>
          <a:p xmlns:a="http://schemas.openxmlformats.org/drawingml/2006/main">
            <a:r>
              <a:rPr sz="1400"/>
              <a:t/>
            </a:r>
          </a:p>
          <a:p xmlns:a="http://schemas.openxmlformats.org/drawingml/2006/main">
            <a:r>
              <a:rPr sz="1400"/>
              <a:t>Overgang: Vergelijk de twee procentuele veranderingen visueel.</a:t>
            </a:r>
          </a:p>
          <a:p xmlns:a="http://schemas.openxmlformats.org/drawingml/2006/main">
            <a:r>
              <a:rPr sz="1400"/>
              <a:t/>
            </a:r>
          </a:p>
          <a:p xmlns:a="http://schemas.openxmlformats.org/drawingml/2006/main">
            <a:r>
              <a:rPr sz="1400"/>
              <a:t>Bron: Boek 2, chatuitgave 2026, revisie 21 september 2026. Dit is een afzonderlijk, door de presentatiemaker bedacht uitlegvoorbeeld met eigen context en gegevens. Het komt niet uit een boekopgave. Het boek is alleen de bron voor de methode (p. 37).</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balk is korter als je vanaf nul kijkt?</a:t>
            </a:r>
          </a:p>
          <a:p xmlns:a="http://schemas.openxmlformats.org/drawingml/2006/main">
            <a:r>
              <a:rPr sz="1400"/>
              <a:t/>
            </a:r>
          </a:p>
          <a:p xmlns:a="http://schemas.openxmlformats.org/drawingml/2006/main">
            <a:r>
              <a:rPr sz="1400"/>
              <a:t>Uitleg: Lees eerst nul en de procentschaal. De balken staan op dezelfde schaal. P stijgt met 12,5%, Qv daalt met 7,5%. De tegengestelde richting en de kleinere relatieve hoeveelheidsreactie zijn afzonderlijke observaties. Ev vat de verhouding in één getal samen. Dit is een vergelijking van procentuele veranderingen, geen vraaglijn en geen grafiek van aantallen.</a:t>
            </a:r>
          </a:p>
          <a:p xmlns:a="http://schemas.openxmlformats.org/drawingml/2006/main">
            <a:r>
              <a:rPr sz="1400"/>
              <a:t/>
            </a:r>
          </a:p>
          <a:p xmlns:a="http://schemas.openxmlformats.org/drawingml/2006/main">
            <a:r>
              <a:rPr sz="1400"/>
              <a:t>Misvatting: 12 bezoeken minder is niet hetzelfde als 12% minder. De balklengte geeft het percentage vanaf de eigen oude waarde.</a:t>
            </a:r>
          </a:p>
          <a:p xmlns:a="http://schemas.openxmlformats.org/drawingml/2006/main">
            <a:r>
              <a:rPr sz="1400"/>
              <a:t/>
            </a:r>
          </a:p>
          <a:p xmlns:a="http://schemas.openxmlformats.org/drawingml/2006/main">
            <a:r>
              <a:rPr sz="1400"/>
              <a:t>Overgang: Deel de procentuele hoeveelheidsreactie door de procentuele prijsverandering.</a:t>
            </a:r>
          </a:p>
          <a:p xmlns:a="http://schemas.openxmlformats.org/drawingml/2006/main">
            <a:r>
              <a:rPr sz="1400"/>
              <a:t/>
            </a:r>
          </a:p>
          <a:p xmlns:a="http://schemas.openxmlformats.org/drawingml/2006/main">
            <a:r>
              <a:rPr sz="1400"/>
              <a:t>Bron: Boek 2, chatuitgave 2026, revisie 21 september 2026. Dit is een afzonderlijk, door de presentatiemaker bedacht uitlegvoorbeeld met eigen context en gegevens. Het komt niet uit een boekopgave. Het boek is alleen de bron voor de methode (p. 36–37).</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staat in de teller en waarom?</a:t>
            </a:r>
          </a:p>
          <a:p xmlns:a="http://schemas.openxmlformats.org/drawingml/2006/main">
            <a:r>
              <a:rPr sz="1400"/>
              <a:t/>
            </a:r>
          </a:p>
          <a:p xmlns:a="http://schemas.openxmlformats.org/drawingml/2006/main">
            <a:r>
              <a:rPr sz="1400"/>
              <a:t>Uitleg: Ev meet de procentuele reactie van Qv op een procentuele verandering van de eigen prijs. Zet Qv boven en P onder de breuk. −7,5 gedeeld door +12,5 is −0,6. De procenttekens vallen weg. Het negatieve teken geeft tegengestelde richtingen aan. In deze meting hoort gemiddeld 0,6% hoeveelheidsdaling bij 1% prijsstijging. Dat is een beschrijving van de gemeten stap, geen garantie voor de volgende prijswijziging. Positieve oude waarden zijn vereist; bij %ΔP = 0 is deze verhouding niet berekenbaar.</a:t>
            </a:r>
          </a:p>
          <a:p xmlns:a="http://schemas.openxmlformats.org/drawingml/2006/main">
            <a:r>
              <a:rPr sz="1400"/>
              <a:t/>
            </a:r>
          </a:p>
          <a:p xmlns:a="http://schemas.openxmlformats.org/drawingml/2006/main">
            <a:r>
              <a:rPr sz="1400"/>
              <a:t>Misvatting: Schrijf niet −0,6%. Draai teller en noemer niet om.</a:t>
            </a:r>
          </a:p>
          <a:p xmlns:a="http://schemas.openxmlformats.org/drawingml/2006/main">
            <a:r>
              <a:rPr sz="1400"/>
              <a:t/>
            </a:r>
          </a:p>
          <a:p xmlns:a="http://schemas.openxmlformats.org/drawingml/2006/main">
            <a:r>
              <a:rPr sz="1400"/>
              <a:t>Overgang: Gebruik het getal met zijn minteken om de vraag in te delen.</a:t>
            </a:r>
          </a:p>
          <a:p xmlns:a="http://schemas.openxmlformats.org/drawingml/2006/main">
            <a:r>
              <a:rPr sz="1400"/>
              <a:t/>
            </a:r>
          </a:p>
          <a:p xmlns:a="http://schemas.openxmlformats.org/drawingml/2006/main">
            <a:r>
              <a:rPr sz="1400"/>
              <a:t>Bron: Boek 2, chatuitgave 2026, revisie 21 september 2026. Dit is een afzonderlijk, door de presentatiemaker bedacht uitlegvoorbeeld met eigen context en gegevens. Het komt niet uit een boekopgave. Het boek is alleen de bron voor de methode (p. 37).</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staat −0,6 ten opzichte van −1 en 0?</a:t>
            </a:r>
          </a:p>
          <a:p xmlns:a="http://schemas.openxmlformats.org/drawingml/2006/main">
            <a:r>
              <a:rPr sz="1400"/>
              <a:t/>
            </a:r>
          </a:p>
          <a:p xmlns:a="http://schemas.openxmlformats.org/drawingml/2006/main">
            <a:r>
              <a:rPr sz="1400"/>
              <a:t>Uitleg: Vergelijk de uitkomst rechtstreeks met −1 en 0, mét het minteken. Bij het eigen Keramiekcafé-voorbeeld is −0,6 tussen −1 en 0: de hoeveelheid reageert procentueel minder sterk dan de prijs. Bij −1 zijn de procentuele veranderingen even groot in tegengestelde richting. Ev = 0 is het grensgeval zonder hoeveelheidsreactie. Een positieve Ev past niet in deze tabel voor het hier onderzochte tegengestelde prijs-vraagverband.</a:t>
            </a:r>
          </a:p>
          <a:p xmlns:a="http://schemas.openxmlformats.org/drawingml/2006/main">
            <a:r>
              <a:rPr sz="1400"/>
              <a:t/>
            </a:r>
          </a:p>
          <a:p xmlns:a="http://schemas.openxmlformats.org/drawingml/2006/main">
            <a:r>
              <a:rPr sz="1400"/>
              <a:t>Misvatting: Prijsinelastisch betekent niet dat Qv helemaal niet verandert. Negatief betekent niet automatisch inelastisch.</a:t>
            </a:r>
          </a:p>
          <a:p xmlns:a="http://schemas.openxmlformats.org/drawingml/2006/main">
            <a:r>
              <a:rPr sz="1400"/>
              <a:t/>
            </a:r>
          </a:p>
          <a:p xmlns:a="http://schemas.openxmlformats.org/drawingml/2006/main">
            <a:r>
              <a:rPr sz="1400"/>
              <a:t>Overgang: Vergelijk twee verschillende negatieve elasticiteiten.</a:t>
            </a:r>
          </a:p>
          <a:p xmlns:a="http://schemas.openxmlformats.org/drawingml/2006/main">
            <a:r>
              <a:rPr sz="1400"/>
              <a:t/>
            </a:r>
          </a:p>
          <a:p xmlns:a="http://schemas.openxmlformats.org/drawingml/2006/main">
            <a:r>
              <a:rPr sz="1400"/>
              <a:t>Bron: Boek 2, chatuitgave 2026, revisie 21 september 2026. Leerlingenboek, gedrukte pagina 38.</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De onderaan toegepaste Ev = −0,6 is van het afzonderlijke authored Keramiekcafé-voorbeeld, niet van een boekopgave.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−1,8 hier de sterkere reactie?</a:t>
            </a:r>
          </a:p>
          <a:p xmlns:a="http://schemas.openxmlformats.org/drawingml/2006/main">
            <a:r>
              <a:rPr sz="1400"/>
              <a:t/>
            </a:r>
          </a:p>
          <a:p xmlns:a="http://schemas.openxmlformats.org/drawingml/2006/main">
            <a:r>
              <a:rPr sz="1400"/>
              <a:t>Uitleg: In een aparte prijsverhoging bij een verzonnen Fotoworkshop is Ev = −1,8 gemeten. Oud en nieuw P en Qv van die aanbieder zijn niet gegeven. Vergelijk 1,8 maal en 0,6 maal de procentuele prijsverandering. De eerste verhouding is drie keer zo groot, ondanks het kleinere getal −1,8. Dit is een vergelijking van relatieve reacties in de twee metingen. Je weet niet welke aanbieder absoluut meer bezoeken verliest.</a:t>
            </a:r>
          </a:p>
          <a:p xmlns:a="http://schemas.openxmlformats.org/drawingml/2006/main">
            <a:r>
              <a:rPr sz="1400"/>
              <a:t/>
            </a:r>
          </a:p>
          <a:p xmlns:a="http://schemas.openxmlformats.org/drawingml/2006/main">
            <a:r>
              <a:rPr sz="1400"/>
              <a:t>Misvatting: De beginhoeveelheid van Fotoworkshop ontbreekt. Concludeer dus niet dat daar meer klanten verdwijnen.</a:t>
            </a:r>
          </a:p>
          <a:p xmlns:a="http://schemas.openxmlformats.org/drawingml/2006/main">
            <a:r>
              <a:rPr sz="1400"/>
              <a:t/>
            </a:r>
          </a:p>
          <a:p xmlns:a="http://schemas.openxmlformats.org/drawingml/2006/main">
            <a:r>
              <a:rPr sz="1400"/>
              <a:t>Overgang: Geef een mogelijke reden voor dit verschil.</a:t>
            </a:r>
          </a:p>
          <a:p xmlns:a="http://schemas.openxmlformats.org/drawingml/2006/main">
            <a:r>
              <a:rPr sz="1400"/>
              <a:t/>
            </a:r>
          </a:p>
          <a:p xmlns:a="http://schemas.openxmlformats.org/drawingml/2006/main">
            <a:r>
              <a:rPr sz="1400"/>
              <a:t>Bron: Boek 2, chatuitgave 2026, revisie 21 september 2026. Dit is een afzonderlijk, door de presentatiemaker bedacht uitlegvoorbeeld met eigen context en gegevens. Het komt niet uit een boekopgave. Het boek is alleen de bron voor de methode (p. 38–39).</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extra gegeven zou deze verklaring sterker maken?</a:t>
            </a:r>
          </a:p>
          <a:p xmlns:a="http://schemas.openxmlformats.org/drawingml/2006/main">
            <a:r>
              <a:rPr sz="1400"/>
              <a:t/>
            </a:r>
          </a:p>
          <a:p xmlns:a="http://schemas.openxmlformats.org/drawingml/2006/main">
            <a:r>
              <a:rPr sz="1400"/>
              <a:t>Uitleg: Doe één volledige redenering voor: Fotoworkshop kan makkelijker vervangbaar zijn dan een bezoek aan het Keramiekcafé. Als klanten makkelijker naar een alternatief overstappen, kan een prijsstijging een sterkere daling van Qv uitlokken. De getallen geven alleen de reactie, niet het bewijs voor het motief. Ook uitstelbaarheid of budgetaandeel kan een plausibele hypothese zijn als het verband wordt uitgelegd. Gebruik woorden als mogelijk en kan.</a:t>
            </a:r>
          </a:p>
          <a:p xmlns:a="http://schemas.openxmlformats.org/drawingml/2006/main">
            <a:r>
              <a:rPr sz="1400"/>
              <a:t/>
            </a:r>
          </a:p>
          <a:p xmlns:a="http://schemas.openxmlformats.org/drawingml/2006/main">
            <a:r>
              <a:rPr sz="1400"/>
              <a:t>Misvatting: Een plausibel verhaal is geen gemeten oorzaak. De prijs van het alternatief verandert hier niet; je berekent geen andere elasticiteitssoort.</a:t>
            </a:r>
          </a:p>
          <a:p xmlns:a="http://schemas.openxmlformats.org/drawingml/2006/main">
            <a:r>
              <a:rPr sz="1400"/>
              <a:t/>
            </a:r>
          </a:p>
          <a:p xmlns:a="http://schemas.openxmlformats.org/drawingml/2006/main">
            <a:r>
              <a:rPr sz="1400"/>
              <a:t>Overgang: Onderzoek nu een afzonderlijk geval met een prijsdaling.</a:t>
            </a:r>
          </a:p>
          <a:p xmlns:a="http://schemas.openxmlformats.org/drawingml/2006/main">
            <a:r>
              <a:rPr sz="1400"/>
              <a:t/>
            </a:r>
          </a:p>
          <a:p xmlns:a="http://schemas.openxmlformats.org/drawingml/2006/main">
            <a:r>
              <a:rPr sz="1400"/>
              <a:t>Bron: Boek 2, chatuitgave 2026, revisie 21 september 2026. Dit is een afzonderlijk, door de presentatiemaker bedacht uitlegvoorbeeld met eigen context en gegevens. Het komt niet uit een boekopgave. Het boek is alleen de bron voor de methode (p. 38–39).</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teken krijgt nu de noemer van Ev?</a:t>
            </a:r>
          </a:p>
          <a:p xmlns:a="http://schemas.openxmlformats.org/drawingml/2006/main">
            <a:r>
              <a:rPr sz="1400"/>
              <a:t/>
            </a:r>
          </a:p>
          <a:p xmlns:a="http://schemas.openxmlformats.org/drawingml/2006/main">
            <a:r>
              <a:rPr sz="1400"/>
              <a:t>Uitleg: Dit is een nieuw, afzonderlijk authored scenario met andere gegevens, geen omkering van het vorige voorbeeld. BoekBox verlaagt de maandprijs van 16 naar 14 euro per abonnement. Qv gaat van 80 naar 92 abonnementen per maand. Andere vraagfactoren blijven gelijk. Kies opnieuw de eigen oude waarden: 16 en 80. Controle: 16 × 0,875 = 14; 80 × 1,15 = 92.</a:t>
            </a:r>
          </a:p>
          <a:p xmlns:a="http://schemas.openxmlformats.org/drawingml/2006/main">
            <a:r>
              <a:rPr sz="1400"/>
              <a:t/>
            </a:r>
          </a:p>
          <a:p xmlns:a="http://schemas.openxmlformats.org/drawingml/2006/main">
            <a:r>
              <a:rPr sz="1400"/>
              <a:t>Misvatting: Een stijgende Qv betekent nog niet dat Ev positief is. Je moet ook het teken van de prijsverandering meenemen.</a:t>
            </a:r>
          </a:p>
          <a:p xmlns:a="http://schemas.openxmlformats.org/drawingml/2006/main">
            <a:r>
              <a:rPr sz="1400"/>
              <a:t/>
            </a:r>
          </a:p>
          <a:p xmlns:a="http://schemas.openxmlformats.org/drawingml/2006/main">
            <a:r>
              <a:rPr sz="1400"/>
              <a:t>Overgang: Bereken nu de verhouding en duid het teken.</a:t>
            </a:r>
          </a:p>
          <a:p xmlns:a="http://schemas.openxmlformats.org/drawingml/2006/main">
            <a:r>
              <a:rPr sz="1400"/>
              <a:t/>
            </a:r>
          </a:p>
          <a:p xmlns:a="http://schemas.openxmlformats.org/drawingml/2006/main">
            <a:r>
              <a:rPr sz="1400"/>
              <a:t>Bron: Boek 2, chatuitgave 2026, revisie 21 september 2026. Dit is een afzonderlijk, door de presentatiemaker bedacht uitlegvoorbeeld met eigen context en gegevens. Het komt niet uit een boekopgave. Het boek is alleen de bron voor de methode (p. 37–38).</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blijft Ev negatief terwijl Qv stijgt?</a:t>
            </a:r>
          </a:p>
          <a:p xmlns:a="http://schemas.openxmlformats.org/drawingml/2006/main">
            <a:r>
              <a:rPr sz="1400"/>
              <a:t/>
            </a:r>
          </a:p>
          <a:p xmlns:a="http://schemas.openxmlformats.org/drawingml/2006/main">
            <a:r>
              <a:rPr sz="1400"/>
              <a:t>Uitleg: Positief gedeeld door negatief is negatief. Ev = −1,2 betekent hier dat Qv procentueel 1,2 keer zo sterk toeneemt als P afneemt. De vraag is prijselastisch. Laat leerlingen het minteken mondeling verklaren, voordat zij met hun startantwoord terugkijken.</a:t>
            </a:r>
          </a:p>
          <a:p xmlns:a="http://schemas.openxmlformats.org/drawingml/2006/main">
            <a:r>
              <a:rPr sz="1400"/>
              <a:t/>
            </a:r>
          </a:p>
          <a:p xmlns:a="http://schemas.openxmlformats.org/drawingml/2006/main">
            <a:r>
              <a:rPr sz="1400"/>
              <a:t>Misvatting: Negatief zegt dat de veranderingen tegengesteld zijn. Het zegt niet dat de gevraagde hoeveelheid moet dalen.</a:t>
            </a:r>
          </a:p>
          <a:p xmlns:a="http://schemas.openxmlformats.org/drawingml/2006/main">
            <a:r>
              <a:rPr sz="1400"/>
              <a:t/>
            </a:r>
          </a:p>
          <a:p xmlns:a="http://schemas.openxmlformats.org/drawingml/2006/main">
            <a:r>
              <a:rPr sz="1400"/>
              <a:t>Overgang: Keer nu terug naar de verkende begripscheck.</a:t>
            </a:r>
          </a:p>
          <a:p xmlns:a="http://schemas.openxmlformats.org/drawingml/2006/main">
            <a:r>
              <a:rPr sz="1400"/>
              <a:t/>
            </a:r>
          </a:p>
          <a:p xmlns:a="http://schemas.openxmlformats.org/drawingml/2006/main">
            <a:r>
              <a:rPr sz="1400"/>
              <a:t>Bron: Boek 2, chatuitgave 2026, revisie 21 september 2026. Dit is een afzonderlijk, door de presentatiemaker bedacht uitlegvoorbeeld met eigen context en gegevens. Het komt niet uit een boekopgave. Het boek is alleen de bron voor de methode (p. 37–38).</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kun je nu preciezer zeggen dan bij de start?</a:t>
            </a:r>
          </a:p>
          <a:p xmlns:a="http://schemas.openxmlformats.org/drawingml/2006/main">
            <a:r>
              <a:rPr sz="1400"/>
              <a:t/>
            </a:r>
          </a:p>
          <a:p xmlns:a="http://schemas.openxmlformats.org/drawingml/2006/main">
            <a:r>
              <a:rPr sz="1400"/>
              <a:t>Uitleg: Dit is feedback op de eerder met het boek verkende startopgave, na het afzonderlijke uitlegvoorbeeld. Laat eerst leerlingen antwoorden, eventueel met de indeling op p. 38. 2a: −1 &lt; −0,4 &lt; 0, dus prijsinelastisch. 2b: bij −2 reageert Qv procentueel sterker dan bij −0,4, namelijk 2 maal tegenover 0,4 maal de procentuele prijsverandering. Verbind het teken aan de richting en de verhouding aan de sterkte. Laat iedereen zijn eerste antwoord aanpassen vóór zelfstandig werk.</a:t>
            </a:r>
          </a:p>
          <a:p xmlns:a="http://schemas.openxmlformats.org/drawingml/2006/main">
            <a:r>
              <a:rPr sz="1400"/>
              <a:t/>
            </a:r>
          </a:p>
          <a:p xmlns:a="http://schemas.openxmlformats.org/drawingml/2006/main">
            <a:r>
              <a:rPr sz="1400"/>
              <a:t>Misvatting: Een eerste verkennend antwoord bewijst geen beheersing. Geef zo nodig extra steun bij de begeleide opgaven.</a:t>
            </a:r>
          </a:p>
          <a:p xmlns:a="http://schemas.openxmlformats.org/drawingml/2006/main">
            <a:r>
              <a:rPr sz="1400"/>
              <a:t/>
            </a:r>
          </a:p>
          <a:p xmlns:a="http://schemas.openxmlformats.org/drawingml/2006/main">
            <a:r>
              <a:rPr sz="1400"/>
              <a:t>Overgang: Laat de oefenroute staan. Begin bij basis 3 en 4.</a:t>
            </a:r>
          </a:p>
          <a:p xmlns:a="http://schemas.openxmlformats.org/drawingml/2006/main">
            <a:r>
              <a:rPr sz="1400"/>
              <a:t/>
            </a:r>
          </a:p>
          <a:p xmlns:a="http://schemas.openxmlformats.org/drawingml/2006/main">
            <a:r>
              <a:rPr sz="1400"/>
              <a:t>Bron: Boek 2, chatuitgave 2026, revisie 21 september 2026. Leerlingenboek, gedrukte pagina 38, 40.</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welke opgave heb je nog hulp nodig?</a:t>
            </a:r>
          </a:p>
          <a:p xmlns:a="http://schemas.openxmlformats.org/drawingml/2006/main">
            <a:r>
              <a:rPr sz="1400"/>
              <a:t/>
            </a:r>
          </a:p>
          <a:p xmlns:a="http://schemas.openxmlformats.org/drawingml/2006/main">
            <a:r>
              <a:rPr sz="1400"/>
              <a:t>Uitleg: Laat deze dia staan tijdens oefenen. Start 1–2 staat op p. 40. Opgave 1 haalt procenten uit Boek 1 §1.1.2 op. Opgave 2 vraagt nieuwe formele kennis: Ev indelen en relatieve sterkte vergelijken. Laat leerlingen hiervoor de tabel en uitleg op p. 38 raadplegen. Dit is ondersteund verkennen, geen toets van al beheerste stof. Keer na de uitleg expliciet terug naar opgave 2 (dia 12) vóór zelfstandig werk. Basis 3 staat op p. 40, basis 4 en zelfstandig 5–6 op p. 41; doel 7 op p. 42. Huiswerk: 3, 4, 5, 6 en 7 maken en nakijken. Bonus 8 en herhaling 9–10 zijn extra. De gehele route is niet als één les van 55 minuten begroot.</a:t>
            </a:r>
          </a:p>
          <a:p xmlns:a="http://schemas.openxmlformats.org/drawingml/2006/main">
            <a:r>
              <a:rPr sz="1400"/>
              <a:t/>
            </a:r>
          </a:p>
          <a:p xmlns:a="http://schemas.openxmlformats.org/drawingml/2006/main">
            <a:r>
              <a:rPr sz="1400"/>
              <a:t>Misvatting: Een vraag bij Startopgaven kan nieuwe kennis vragen. Laat leerlingen hun eerste antwoord op 2 na de uitleg herzien.</a:t>
            </a:r>
          </a:p>
          <a:p xmlns:a="http://schemas.openxmlformats.org/drawingml/2006/main">
            <a:r>
              <a:rPr sz="1400"/>
              <a:t/>
            </a:r>
          </a:p>
          <a:p xmlns:a="http://schemas.openxmlformats.org/drawingml/2006/main">
            <a:r>
              <a:rPr sz="1400"/>
              <a:t>Overgang: Ga verder met de volgende lesfase.</a:t>
            </a:r>
          </a:p>
          <a:p xmlns:a="http://schemas.openxmlformats.org/drawingml/2006/main">
            <a:r>
              <a:rPr sz="1400"/>
              <a:t/>
            </a:r>
          </a:p>
          <a:p xmlns:a="http://schemas.openxmlformats.org/drawingml/2006/main">
            <a:r>
              <a:rPr sz="1400"/>
              <a:t>Bron: Boek 2, chatuitgave 2026, revisie 21 september 2026. Leerlingenboek, gedrukte pagina 38, 40–42.</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Voorkennisbron: Boek 1 §1.1.2, Theorie / Procentuele verandering. Nieuwe begripskennis: Boek 2 p. 38. Ondersteuning en opdrachten zijn in alle drie overzichten gelijk.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horen bij Nova en welke bij StreamNow?</a:t>
            </a:r>
          </a:p>
          <a:p xmlns:a="http://schemas.openxmlformats.org/drawingml/2006/main">
            <a:r>
              <a:rPr sz="1400"/>
              <a:t/>
            </a:r>
          </a:p>
          <a:p xmlns:a="http://schemas.openxmlformats.org/drawingml/2006/main">
            <a:r>
              <a:rPr sz="1400"/>
              <a:t>Uitleg: Lees de volledige context van de echte doeloefening. Nova en StreamNow zijn verschillende metingen. Alle data uit de context staan hier, plus dezelfde gegevens in een bewerkbare tabel. StreamNow heeft alleen een gegeven Ev. Toon nu eerst alle vier deelvragen op de volgende twee dia’s; geef nog geen uitwerking.</a:t>
            </a:r>
          </a:p>
          <a:p xmlns:a="http://schemas.openxmlformats.org/drawingml/2006/main">
            <a:r>
              <a:rPr sz="1400"/>
              <a:t/>
            </a:r>
          </a:p>
          <a:p xmlns:a="http://schemas.openxmlformats.org/drawingml/2006/main">
            <a:r>
              <a:rPr sz="1400"/>
              <a:t>Misvatting: Gebruik Ev = −2 van StreamNow niet in de berekening voor Nova.</a:t>
            </a:r>
          </a:p>
          <a:p xmlns:a="http://schemas.openxmlformats.org/drawingml/2006/main">
            <a:r>
              <a:rPr sz="1400"/>
              <a:t/>
            </a:r>
          </a:p>
          <a:p xmlns:a="http://schemas.openxmlformats.org/drawingml/2006/main">
            <a:r>
              <a:rPr sz="1400"/>
              <a:t>Overgang: Toon deelvragen a en b.</a:t>
            </a:r>
          </a:p>
          <a:p xmlns:a="http://schemas.openxmlformats.org/drawingml/2006/main">
            <a:r>
              <a:rPr sz="1400"/>
              <a:t/>
            </a:r>
          </a:p>
          <a:p xmlns:a="http://schemas.openxmlformats.org/drawingml/2006/main">
            <a:r>
              <a:rPr sz="1400"/>
              <a:t>Bron: Boek 2, chatuitgave 2026, revisie 21 september 2026. Leerlingenboek, gedrukte pagina 42.</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berekeningen vraagt a en welke uitleg vraagt b?</a:t>
            </a:r>
          </a:p>
          <a:p xmlns:a="http://schemas.openxmlformats.org/drawingml/2006/main">
            <a:r>
              <a:rPr sz="1400"/>
              <a:t/>
            </a:r>
          </a:p>
          <a:p xmlns:a="http://schemas.openxmlformats.org/drawingml/2006/main">
            <a:r>
              <a:rPr sz="1400"/>
              <a:t>Uitleg: Dit zijn de volledige deelvragen a en b uit het boek, zonder toegevoegde oplossingen. Het getal −0,8 staat al in de originele tekst van b. Laat leerlingen hun eigen uitwerking erbij pakken. Bewaar de beantwoording tot ook c en d getoond zijn.</a:t>
            </a:r>
          </a:p>
          <a:p xmlns:a="http://schemas.openxmlformats.org/drawingml/2006/main">
            <a:r>
              <a:rPr sz="1400"/>
              <a:t/>
            </a:r>
          </a:p>
          <a:p xmlns:a="http://schemas.openxmlformats.org/drawingml/2006/main">
            <a:r>
              <a:rPr sz="1400"/>
              <a:t>Misvatting: De gegeven Ev in b vervangt niet de gevraagde berekening in a.</a:t>
            </a:r>
          </a:p>
          <a:p xmlns:a="http://schemas.openxmlformats.org/drawingml/2006/main">
            <a:r>
              <a:rPr sz="1400"/>
              <a:t/>
            </a:r>
          </a:p>
          <a:p xmlns:a="http://schemas.openxmlformats.org/drawingml/2006/main">
            <a:r>
              <a:rPr sz="1400"/>
              <a:t>Overgang: Toon ook c en d voordat de antwoorden komen.</a:t>
            </a:r>
          </a:p>
          <a:p xmlns:a="http://schemas.openxmlformats.org/drawingml/2006/main">
            <a:r>
              <a:rPr sz="1400"/>
              <a:t/>
            </a:r>
          </a:p>
          <a:p xmlns:a="http://schemas.openxmlformats.org/drawingml/2006/main">
            <a:r>
              <a:rPr sz="1400"/>
              <a:t>Bron: Boek 2, chatuitgave 2026, revisie 21 september 2026. Leerlingenboek, gedrukte pagina 42.</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moet je antwoord bij d meer doen dan alleen de getallen herhalen?</a:t>
            </a:r>
          </a:p>
          <a:p xmlns:a="http://schemas.openxmlformats.org/drawingml/2006/main">
            <a:r>
              <a:rPr sz="1400"/>
              <a:t/>
            </a:r>
          </a:p>
          <a:p xmlns:a="http://schemas.openxmlformats.org/drawingml/2006/main">
            <a:r>
              <a:rPr sz="1400"/>
              <a:t>Uitleg: Dit zijn de volledige deelvragen c en d uit het boek. De context en alle deelvragen zijn nu beschikbaar zonder toegevoegde uitwerking. Vraag om één beredeneerde verklaring, geen opsomming zonder verband.</a:t>
            </a:r>
          </a:p>
          <a:p xmlns:a="http://schemas.openxmlformats.org/drawingml/2006/main">
            <a:r>
              <a:rPr sz="1400"/>
              <a:t/>
            </a:r>
          </a:p>
          <a:p xmlns:a="http://schemas.openxmlformats.org/drawingml/2006/main">
            <a:r>
              <a:rPr sz="1400"/>
              <a:t>Misvatting: Gebruik geen inkomenselasticiteit of kruiselingse elasticiteit om dit verschil te verklaren.</a:t>
            </a:r>
          </a:p>
          <a:p xmlns:a="http://schemas.openxmlformats.org/drawingml/2006/main">
            <a:r>
              <a:rPr sz="1400"/>
              <a:t/>
            </a:r>
          </a:p>
          <a:p xmlns:a="http://schemas.openxmlformats.org/drawingml/2006/main">
            <a:r>
              <a:rPr sz="1400"/>
              <a:t>Overgang: Begin de bespreking bij de procentuele prijsverandering van Nova.</a:t>
            </a:r>
          </a:p>
          <a:p xmlns:a="http://schemas.openxmlformats.org/drawingml/2006/main">
            <a:r>
              <a:rPr sz="1400"/>
              <a:t/>
            </a:r>
          </a:p>
          <a:p xmlns:a="http://schemas.openxmlformats.org/drawingml/2006/main">
            <a:r>
              <a:rPr sz="1400"/>
              <a:t>Bron: Boek 2, chatuitgave 2026, revisie 21 september 2026. Leerlingenboek, gedrukte pagina 42.</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oude waarde staat in jouw noemer?</a:t>
            </a:r>
          </a:p>
          <a:p xmlns:a="http://schemas.openxmlformats.org/drawingml/2006/main">
            <a:r>
              <a:rPr sz="1400"/>
              <a:t/>
            </a:r>
          </a:p>
          <a:p xmlns:a="http://schemas.openxmlformats.org/drawingml/2006/main">
            <a:r>
              <a:rPr sz="1400"/>
              <a:t>Uitleg: De prijs stijgt 2 euro ten opzichte van 10 euro. 2 / 10 × 100% = +20%. Het plusteken beschrijft een stijging. Benoem euro per ticket bij de oorspronkelijke waarden; het resultaat is een percentage.</a:t>
            </a:r>
          </a:p>
          <a:p xmlns:a="http://schemas.openxmlformats.org/drawingml/2006/main">
            <a:r>
              <a:rPr sz="1400"/>
              <a:t/>
            </a:r>
          </a:p>
          <a:p xmlns:a="http://schemas.openxmlformats.org/drawingml/2006/main">
            <a:r>
              <a:rPr sz="1400"/>
              <a:t>Misvatting: Delen door 12 zou de nieuwe waarde als basis nemen.</a:t>
            </a:r>
          </a:p>
          <a:p xmlns:a="http://schemas.openxmlformats.org/drawingml/2006/main">
            <a:r>
              <a:rPr sz="1400"/>
              <a:t/>
            </a:r>
          </a:p>
          <a:p xmlns:a="http://schemas.openxmlformats.org/drawingml/2006/main">
            <a:r>
              <a:rPr sz="1400"/>
              <a:t>Overgang: Bereken vervolgens de procentuele hoeveelheidsverandering.</a:t>
            </a:r>
          </a:p>
          <a:p xmlns:a="http://schemas.openxmlformats.org/drawingml/2006/main">
            <a:r>
              <a:rPr sz="1400"/>
              <a:t/>
            </a:r>
          </a:p>
          <a:p xmlns:a="http://schemas.openxmlformats.org/drawingml/2006/main">
            <a:r>
              <a:rPr sz="1400"/>
              <a:t>Bron: Boek 2, chatuitgave 2026, revisie 21 september 2026. Leerlingenboek, gedrukte pagina 42.</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oude waarde staat in jouw noemer?</a:t>
            </a:r>
          </a:p>
          <a:p xmlns:a="http://schemas.openxmlformats.org/drawingml/2006/main">
            <a:r>
              <a:rPr sz="1400"/>
              <a:t/>
            </a:r>
          </a:p>
          <a:p xmlns:a="http://schemas.openxmlformats.org/drawingml/2006/main">
            <a:r>
              <a:rPr sz="1400"/>
              <a:t>Uitleg: Er worden 80 tickets per week minder gevraagd. −80 / 500 × 100% = −16%. 420 is 84% van het oude aantal, zodat de daling 16% bedraagt.</a:t>
            </a:r>
          </a:p>
          <a:p xmlns:a="http://schemas.openxmlformats.org/drawingml/2006/main">
            <a:r>
              <a:rPr sz="1400"/>
              <a:t/>
            </a:r>
          </a:p>
          <a:p xmlns:a="http://schemas.openxmlformats.org/drawingml/2006/main">
            <a:r>
              <a:rPr sz="1400"/>
              <a:t>Misvatting: De afname van 80 tickets is niet 80%. Houd het minteken vast.</a:t>
            </a:r>
          </a:p>
          <a:p xmlns:a="http://schemas.openxmlformats.org/drawingml/2006/main">
            <a:r>
              <a:rPr sz="1400"/>
              <a:t/>
            </a:r>
          </a:p>
          <a:p xmlns:a="http://schemas.openxmlformats.org/drawingml/2006/main">
            <a:r>
              <a:rPr sz="1400"/>
              <a:t>Overgang: Deel nu de twee percentages in de juiste volgorde.</a:t>
            </a:r>
          </a:p>
          <a:p xmlns:a="http://schemas.openxmlformats.org/drawingml/2006/main">
            <a:r>
              <a:rPr sz="1400"/>
              <a:t/>
            </a:r>
          </a:p>
          <a:p xmlns:a="http://schemas.openxmlformats.org/drawingml/2006/main">
            <a:r>
              <a:rPr sz="1400"/>
              <a:t>Bron: Boek 2, chatuitgave 2026, revisie 21 september 2026. Leerlingenboek, gedrukte pagina 42.</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procentuele verandering hoort boven de breuk?</a:t>
            </a:r>
          </a:p>
          <a:p xmlns:a="http://schemas.openxmlformats.org/drawingml/2006/main">
            <a:r>
              <a:rPr sz="1400"/>
              <a:t/>
            </a:r>
          </a:p>
          <a:p xmlns:a="http://schemas.openxmlformats.org/drawingml/2006/main">
            <a:r>
              <a:rPr sz="1400"/>
              <a:t>Uitleg: Deel de reactie van de gevraagde hoeveelheid door de prijsverandering: −16 / +20 = −0,8. De breuk is negatief doordat P en Qv tegengesteld veranderen. Controleer door Ev met de prijsverandering te vermenigvuldigen. Dit geeft opnieuw −16%.</a:t>
            </a:r>
          </a:p>
          <a:p xmlns:a="http://schemas.openxmlformats.org/drawingml/2006/main">
            <a:r>
              <a:rPr sz="1400"/>
              <a:t/>
            </a:r>
          </a:p>
          <a:p xmlns:a="http://schemas.openxmlformats.org/drawingml/2006/main">
            <a:r>
              <a:rPr sz="1400"/>
              <a:t>Misvatting: Ev = −0,8 is geen daling van 0,8% en geen bedrag in euro.</a:t>
            </a:r>
          </a:p>
          <a:p xmlns:a="http://schemas.openxmlformats.org/drawingml/2006/main">
            <a:r>
              <a:rPr sz="1400"/>
              <a:t/>
            </a:r>
          </a:p>
          <a:p xmlns:a="http://schemas.openxmlformats.org/drawingml/2006/main">
            <a:r>
              <a:rPr sz="1400"/>
              <a:t>Overgang: Beantwoord b met indeling én betekenis.</a:t>
            </a:r>
          </a:p>
          <a:p xmlns:a="http://schemas.openxmlformats.org/drawingml/2006/main">
            <a:r>
              <a:rPr sz="1400"/>
              <a:t/>
            </a:r>
          </a:p>
          <a:p xmlns:a="http://schemas.openxmlformats.org/drawingml/2006/main">
            <a:r>
              <a:rPr sz="1400"/>
              <a:t>Bron: Boek 2, chatuitgave 2026, revisie 21 september 2026. Leerlingenboek, gedrukte pagina 42.</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laten de percentages zien dat de reactie minder sterk is?</a:t>
            </a:r>
          </a:p>
          <a:p xmlns:a="http://schemas.openxmlformats.org/drawingml/2006/main">
            <a:r>
              <a:rPr sz="1400"/>
              <a:t/>
            </a:r>
          </a:p>
          <a:p xmlns:a="http://schemas.openxmlformats.org/drawingml/2006/main">
            <a:r>
              <a:rPr sz="1400"/>
              <a:t>Uitleg: Omdat −0,8 tussen −1 en 0 ligt, is de vraag prijsinelastisch. In gewone taal: in deze verandering daalt de gevraagde hoeveelheid procentueel minder sterk dan de prijs stijgt. Dat is 16% tegenover 20%, dus 0,8 maal. Gemiddeld per 1% prijsstijging hoort in deze meting 0,8% hoeveelheidsdaling.</a:t>
            </a:r>
          </a:p>
          <a:p xmlns:a="http://schemas.openxmlformats.org/drawingml/2006/main">
            <a:r>
              <a:rPr sz="1400"/>
              <a:t/>
            </a:r>
          </a:p>
          <a:p xmlns:a="http://schemas.openxmlformats.org/drawingml/2006/main">
            <a:r>
              <a:rPr sz="1400"/>
              <a:t>Misvatting: Voorspel hiermee niet met zekerheid wat bij elke volgende prijswijziging gebeurt. Prijsinelastisch betekent niet dat niemand afhaakt.</a:t>
            </a:r>
          </a:p>
          <a:p xmlns:a="http://schemas.openxmlformats.org/drawingml/2006/main">
            <a:r>
              <a:rPr sz="1400"/>
              <a:t/>
            </a:r>
          </a:p>
          <a:p xmlns:a="http://schemas.openxmlformats.org/drawingml/2006/main">
            <a:r>
              <a:rPr sz="1400"/>
              <a:t>Overgang: Vergelijk Nova met StreamNow.</a:t>
            </a:r>
          </a:p>
          <a:p xmlns:a="http://schemas.openxmlformats.org/drawingml/2006/main">
            <a:r>
              <a:rPr sz="1400"/>
              <a:t/>
            </a:r>
          </a:p>
          <a:p xmlns:a="http://schemas.openxmlformats.org/drawingml/2006/main">
            <a:r>
              <a:rPr sz="1400"/>
              <a:t>Bron: Boek 2, chatuitgave 2026, revisie 21 september 2026. Leerlingenboek, gedrukte pagina 42.</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vergelijk je procentuele reacties?</a:t>
            </a:r>
          </a:p>
          <a:p xmlns:a="http://schemas.openxmlformats.org/drawingml/2006/main">
            <a:r>
              <a:rPr sz="1400"/>
              <a:t/>
            </a:r>
          </a:p>
          <a:p xmlns:a="http://schemas.openxmlformats.org/drawingml/2006/main">
            <a:r>
              <a:rPr sz="1400"/>
              <a:t>Uitleg: StreamNow heeft Ev = −2 &lt; −1, dus prijselastische vraag. De gevraagde hoeveelheid reageert relatief sterker op een eigen prijsverhoging dan bij Nova met Ev = −0,8. De verhouding van de gevoeligheden is 2 / 0,8 = 2,5, maar dat is niet gevraagd en niet hetzelfde als het aantal verloren klanten. StreamNow heeft geen gegeven beginhoeveelheid.</a:t>
            </a:r>
          </a:p>
          <a:p xmlns:a="http://schemas.openxmlformats.org/drawingml/2006/main">
            <a:r>
              <a:rPr sz="1400"/>
              <a:t/>
            </a:r>
          </a:p>
          <a:p xmlns:a="http://schemas.openxmlformats.org/drawingml/2006/main">
            <a:r>
              <a:rPr sz="1400"/>
              <a:t>Misvatting: Kleiner op de getallenlijn betekent hier een sterkere tegengestelde reactie, niet een zwakkere.</a:t>
            </a:r>
          </a:p>
          <a:p xmlns:a="http://schemas.openxmlformats.org/drawingml/2006/main">
            <a:r>
              <a:rPr sz="1400"/>
              <a:t/>
            </a:r>
          </a:p>
          <a:p xmlns:a="http://schemas.openxmlformats.org/drawingml/2006/main">
            <a:r>
              <a:rPr sz="1400"/>
              <a:t>Overgang: Geef één mogelijke contextverklaring voor dit verschil.</a:t>
            </a:r>
          </a:p>
          <a:p xmlns:a="http://schemas.openxmlformats.org/drawingml/2006/main">
            <a:r>
              <a:rPr sz="1400"/>
              <a:t/>
            </a:r>
          </a:p>
          <a:p xmlns:a="http://schemas.openxmlformats.org/drawingml/2006/main">
            <a:r>
              <a:rPr sz="1400"/>
              <a:t>Bron: Boek 2, chatuitgave 2026, revisie 21 september 2026. Leerlingenboek, gedrukte pagina 42.</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woorden maken duidelijk dat dit een mogelijke verklaring is?</a:t>
            </a:r>
          </a:p>
          <a:p xmlns:a="http://schemas.openxmlformats.org/drawingml/2006/main">
            <a:r>
              <a:rPr sz="1400"/>
              <a:t/>
            </a:r>
          </a:p>
          <a:p xmlns:a="http://schemas.openxmlformats.org/drawingml/2006/main">
            <a:r>
              <a:rPr sz="1400"/>
              <a:t>Uitleg: Dit is één antwoordmogelijkheid uit het antwoordmodel. De verklaring noemt een verschil in uitwijkmogelijkheden en verbindt dat met de eigen prijsgevoeligheid. Formuleer mogelijk of kan: er is geen onderzoek naar overstapgedrag gegeven. Een andere plausibele contextredenering is aanvaardbaar als deze hetzelfde mechanisme uitlegt en niet een andere elasticiteitssoort inzet.</a:t>
            </a:r>
          </a:p>
          <a:p xmlns:a="http://schemas.openxmlformats.org/drawingml/2006/main">
            <a:r>
              <a:rPr sz="1400"/>
              <a:t/>
            </a:r>
          </a:p>
          <a:p xmlns:a="http://schemas.openxmlformats.org/drawingml/2006/main">
            <a:r>
              <a:rPr sz="1400"/>
              <a:t>Misvatting: Zeg niet dat StreamNow-klanten bewezen armer zijn of dat er een inkomensverandering heeft plaatsgevonden.</a:t>
            </a:r>
          </a:p>
          <a:p xmlns:a="http://schemas.openxmlformats.org/drawingml/2006/main">
            <a:r>
              <a:rPr sz="1400"/>
              <a:t/>
            </a:r>
          </a:p>
          <a:p xmlns:a="http://schemas.openxmlformats.org/drawingml/2006/main">
            <a:r>
              <a:rPr sz="1400"/>
              <a:t>Overgang: Laat leerlingen één ontbrekende stap of te stellige verklaring verbeteren.</a:t>
            </a:r>
          </a:p>
          <a:p xmlns:a="http://schemas.openxmlformats.org/drawingml/2006/main">
            <a:r>
              <a:rPr sz="1400"/>
              <a:t/>
            </a:r>
          </a:p>
          <a:p xmlns:a="http://schemas.openxmlformats.org/drawingml/2006/main">
            <a:r>
              <a:rPr sz="1400"/>
              <a:t>Bron: Boek 2, chatuitgave 2026, revisie 21 september 2026. Leerlingenboek, gedrukte pagina 42.</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pas je nu aan in je antwoord?</a:t>
            </a:r>
          </a:p>
          <a:p xmlns:a="http://schemas.openxmlformats.org/drawingml/2006/main">
            <a:r>
              <a:rPr sz="1400"/>
              <a:t/>
            </a:r>
          </a:p>
          <a:p xmlns:a="http://schemas.openxmlformats.org/drawingml/2006/main">
            <a:r>
              <a:rPr sz="1400"/>
              <a:t>Uitleg: Controleer de volledigheid van a tot en met d. Een uitkomst zonder berekening of gevraagde betekenis is nog geen volledig antwoord. Laat leerlingen hun correctie in het schrift markeren. Bespreek eventueel waarom een negatieve Ev bij een prijsdaling ook mogelijk is, maar voeg geen extra huiswerk toe.</a:t>
            </a:r>
          </a:p>
          <a:p xmlns:a="http://schemas.openxmlformats.org/drawingml/2006/main">
            <a:r>
              <a:rPr sz="1400"/>
              <a:t/>
            </a:r>
          </a:p>
          <a:p xmlns:a="http://schemas.openxmlformats.org/drawingml/2006/main">
            <a:r>
              <a:rPr sz="1400"/>
              <a:t>Misvatting: De classificatie alleen is onvoldoende wanneer de vraag om uitleg of vergelijking vraagt.</a:t>
            </a:r>
          </a:p>
          <a:p xmlns:a="http://schemas.openxmlformats.org/drawingml/2006/main">
            <a:r>
              <a:rPr sz="1400"/>
              <a:t/>
            </a:r>
          </a:p>
          <a:p xmlns:a="http://schemas.openxmlformats.org/drawingml/2006/main">
            <a:r>
              <a:rPr sz="1400"/>
              <a:t>Overgang: Zet het huiswerk op het laatste overzicht in de agenda.</a:t>
            </a:r>
          </a:p>
          <a:p xmlns:a="http://schemas.openxmlformats.org/drawingml/2006/main">
            <a:r>
              <a:rPr sz="1400"/>
              <a:t/>
            </a:r>
          </a:p>
          <a:p xmlns:a="http://schemas.openxmlformats.org/drawingml/2006/main">
            <a:r>
              <a:rPr sz="1400"/>
              <a:t>Bron: Boek 2, chatuitgave 2026, revisie 21 september 2026. Leerlingenboek, gedrukte pagina 42.</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welke opgave heb je nog hulp nodig?</a:t>
            </a:r>
          </a:p>
          <a:p xmlns:a="http://schemas.openxmlformats.org/drawingml/2006/main">
            <a:r>
              <a:rPr sz="1400"/>
              <a:t/>
            </a:r>
          </a:p>
          <a:p xmlns:a="http://schemas.openxmlformats.org/drawingml/2006/main">
            <a:r>
              <a:rPr sz="1400"/>
              <a:t>Uitleg: Laat deze dia staan tijdens afsluiting / huiswerk. Start 1–2 staat op p. 40. Opgave 1 haalt procenten uit Boek 1 §1.1.2 op. Opgave 2 vraagt nieuwe formele kennis: Ev indelen en relatieve sterkte vergelijken. Laat leerlingen hiervoor de tabel en uitleg op p. 38 raadplegen. Dit is ondersteund verkennen, geen toets van al beheerste stof. Keer na de uitleg expliciet terug naar opgave 2 (dia 12) vóór zelfstandig werk. Basis 3 staat op p. 40, basis 4 en zelfstandig 5–6 op p. 41; doel 7 op p. 42. Huiswerk: 3, 4, 5, 6 en 7 maken en nakijken. Bonus 8 en herhaling 9–10 zijn extra. De gehele route is niet als één les van 55 minuten begroot.</a:t>
            </a:r>
          </a:p>
          <a:p xmlns:a="http://schemas.openxmlformats.org/drawingml/2006/main">
            <a:r>
              <a:rPr sz="1400"/>
              <a:t/>
            </a:r>
          </a:p>
          <a:p xmlns:a="http://schemas.openxmlformats.org/drawingml/2006/main">
            <a:r>
              <a:rPr sz="1400"/>
              <a:t>Misvatting: Een vraag bij Startopgaven kan nieuwe kennis vragen. Laat leerlingen hun eerste antwoord op 2 na de uitleg herzien.</a:t>
            </a:r>
          </a:p>
          <a:p xmlns:a="http://schemas.openxmlformats.org/drawingml/2006/main">
            <a:r>
              <a:rPr sz="1400"/>
              <a:t/>
            </a:r>
          </a:p>
          <a:p xmlns:a="http://schemas.openxmlformats.org/drawingml/2006/main">
            <a:r>
              <a:rPr sz="1400"/>
              <a:t>Overgang: Noteer het huiswerk in de agenda.</a:t>
            </a:r>
          </a:p>
          <a:p xmlns:a="http://schemas.openxmlformats.org/drawingml/2006/main">
            <a:r>
              <a:rPr sz="1400"/>
              <a:t/>
            </a:r>
          </a:p>
          <a:p xmlns:a="http://schemas.openxmlformats.org/drawingml/2006/main">
            <a:r>
              <a:rPr sz="1400"/>
              <a:t>Bron: Boek 2, chatuitgave 2026, revisie 21 september 2026. Leerlingenboek, gedrukte pagina 38, 40–42.</a:t>
            </a:r>
          </a:p>
          <a:p xmlns:a="http://schemas.openxmlformats.org/drawingml/2006/main">
            <a:r>
              <a:rPr sz="1400"/>
              <a:t>https://github.com/meijer1973/4veco-lessen/blob/f2660032cf7e4e3bbab96cf32863d06a38bd74bc/Boek%202%20-%20Kosten%2C%20opbrengsten%2C%20elasticiteit%20en%20surplus/edities/chat-2026/boek/Boek_2_Compleet.pdf</a:t>
            </a:r>
          </a:p>
          <a:p xmlns:a="http://schemas.openxmlformats.org/drawingml/2006/main">
            <a:r>
              <a:rPr sz="1400"/>
              <a:t>Antwoordmodel: https://github.com/meijer1973/4veco-lessen/blob/f2660032cf7e4e3bbab96cf32863d06a38bd74bc/Boek%202%20-%20Kosten%2C%20opbrengsten%2C%20elasticiteit%20en%20surplus/edities/chat-2026/bronnen/H2/2.2%20Elasticiteit%20%E2%80%93%20antwoorden.md</a:t>
            </a:r>
          </a:p>
          <a:p xmlns:a="http://schemas.openxmlformats.org/drawingml/2006/main">
            <a:r>
              <a:rPr sz="1400"/>
              <a:t>Voorkennisbron: Boek 1 §1.1.2, Theorie / Procentuele verandering. Nieuwe begripskennis: Boek 2 p. 38. Ondersteuning en opdrachten zijn in alle drie overzichten gelijk.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b2e924374645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8c364edfc84a86" /><Relationship Type="http://schemas.openxmlformats.org/officeDocument/2006/relationships/slideLayout" Target="/ppt/slideLayouts/slideLayout1.xml" Id="Rf82b9ba362694e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2b9ba362694e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79c5720b454e5a" /><Relationship Type="http://schemas.openxmlformats.org/officeDocument/2006/relationships/notesSlide" Target="/ppt/notesSlides/notesSlide1.xml" Id="Rdce770aede1649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f19eaa6518848dc" /><Relationship Type="http://schemas.openxmlformats.org/officeDocument/2006/relationships/notesSlide" Target="/ppt/notesSlides/notesSlide2.xml" Id="R45012871b66e47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07701bd1d843ba" /><Relationship Type="http://schemas.openxmlformats.org/officeDocument/2006/relationships/notesSlide" Target="/ppt/notesSlides/notesSlide3.xml" Id="Rc7e038400e4f47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0a0445f50a4743" /><Relationship Type="http://schemas.openxmlformats.org/officeDocument/2006/relationships/notesSlide" Target="/ppt/notesSlides/notesSlide4.xml" Id="R2f09fe880a0642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dd804c873f4480" /><Relationship Type="http://schemas.openxmlformats.org/officeDocument/2006/relationships/chart" Target="/ppt/slides/charts/chart1.xml" Id="R3c2417ad00634b5f" /><Relationship Type="http://schemas.openxmlformats.org/officeDocument/2006/relationships/notesSlide" Target="/ppt/notesSlides/notesSlide5.xml" Id="Raead149d61eb40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30403d5c44748ee" /><Relationship Type="http://schemas.openxmlformats.org/officeDocument/2006/relationships/notesSlide" Target="/ppt/notesSlides/notesSlide6.xml" Id="Rf1832e2f01134f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7cf2a5e32f48ee" /><Relationship Type="http://schemas.openxmlformats.org/officeDocument/2006/relationships/notesSlide" Target="/ppt/notesSlides/notesSlide7.xml" Id="R93bdc1731b204f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b3c235833de4229" /><Relationship Type="http://schemas.openxmlformats.org/officeDocument/2006/relationships/notesSlide" Target="/ppt/notesSlides/notesSlide8.xml" Id="Rcab041d6429f4e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3914abb427d4bc6" /><Relationship Type="http://schemas.openxmlformats.org/officeDocument/2006/relationships/notesSlide" Target="/ppt/notesSlides/notesSlide9.xml" Id="R3659212038bd4f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5233d8f02e14112" /><Relationship Type="http://schemas.openxmlformats.org/officeDocument/2006/relationships/notesSlide" Target="/ppt/notesSlides/notesSlide10.xml" Id="R7bbb14023b684c2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40059877aa74184" /><Relationship Type="http://schemas.openxmlformats.org/officeDocument/2006/relationships/notesSlide" Target="/ppt/notesSlides/notesSlide11.xml" Id="R471dd77e5dae49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897accf2ae04d3c" /><Relationship Type="http://schemas.openxmlformats.org/officeDocument/2006/relationships/notesSlide" Target="/ppt/notesSlides/notesSlide12.xml" Id="R07126c7bedd34b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6959805fd944f92" /><Relationship Type="http://schemas.openxmlformats.org/officeDocument/2006/relationships/notesSlide" Target="/ppt/notesSlides/notesSlide13.xml" Id="R1022381f6b1c46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acd63ceb9e44c03" /><Relationship Type="http://schemas.openxmlformats.org/officeDocument/2006/relationships/notesSlide" Target="/ppt/notesSlides/notesSlide14.xml" Id="Raa45b0d1782541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89c1a489f6044a4" /><Relationship Type="http://schemas.openxmlformats.org/officeDocument/2006/relationships/notesSlide" Target="/ppt/notesSlides/notesSlide15.xml" Id="R3a75ddd0d5054f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d0af82d9fe84eda" /><Relationship Type="http://schemas.openxmlformats.org/officeDocument/2006/relationships/notesSlide" Target="/ppt/notesSlides/notesSlide16.xml" Id="R31b8d3bf6f4f45f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fdb3a888e684a07" /><Relationship Type="http://schemas.openxmlformats.org/officeDocument/2006/relationships/notesSlide" Target="/ppt/notesSlides/notesSlide17.xml" Id="R8887dbffbd904e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46b40c8da7a463d" /><Relationship Type="http://schemas.openxmlformats.org/officeDocument/2006/relationships/notesSlide" Target="/ppt/notesSlides/notesSlide18.xml" Id="Re34c3e37040a4b7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761cca6b1b24f90" /><Relationship Type="http://schemas.openxmlformats.org/officeDocument/2006/relationships/notesSlide" Target="/ppt/notesSlides/notesSlide19.xml" Id="Rb372e4229d03414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96581e7a4d44c55" /><Relationship Type="http://schemas.openxmlformats.org/officeDocument/2006/relationships/notesSlide" Target="/ppt/notesSlides/notesSlide20.xml" Id="R2f2e2a196a7248b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2b6b3fb56b446c7" /><Relationship Type="http://schemas.openxmlformats.org/officeDocument/2006/relationships/notesSlide" Target="/ppt/notesSlides/notesSlide21.xml" Id="R84eba3fd5bb34a5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2962a43348b40e8" /><Relationship Type="http://schemas.openxmlformats.org/officeDocument/2006/relationships/notesSlide" Target="/ppt/notesSlides/notesSlide22.xml" Id="R002c921e8d71432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04cbf094ec44aa5" /><Relationship Type="http://schemas.openxmlformats.org/officeDocument/2006/relationships/notesSlide" Target="/ppt/notesSlides/notesSlide23.xml" Id="Re8103dbd29d9404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c1a8ecd8d324563" /><Relationship Type="http://schemas.openxmlformats.org/officeDocument/2006/relationships/notesSlide" Target="/ppt/notesSlides/notesSlide24.xml" Id="R9b10ec52af41465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Procentuele verandering</c:v>
          </c:tx>
          <c:spPr>
            <a:solidFill xmlns:a="http://schemas.openxmlformats.org/drawingml/2006/main">
              <a:srgbClr val="17658A"/>
            </a:solidFill>
          </c:spPr>
          <c:invertIfNegative val="0"/>
          <c:dLbls>
            <c:dLbl>
              <c:idx val="0"/>
              <c:tx>
                <c:rich>
                  <a:bodyPr xmlns:a="http://schemas.openxmlformats.org/drawingml/2006/main"/>
                  <a:lstStyle xmlns:a="http://schemas.openxmlformats.org/drawingml/2006/main"/>
                  <a:p xmlns:a="http://schemas.openxmlformats.org/drawingml/2006/main">
                    <a:r>
                      <a:rPr sz="2250" b="1">
                        <a:solidFill>
                          <a:srgbClr val="183247"/>
                        </a:solidFill>
                        <a:latin typeface="Arial"/>
                        <a:ea typeface="Arial"/>
                        <a:cs typeface="Arial"/>
                      </a:rPr>
                      <a:t>+12,5%</a:t>
                    </a:r>
                  </a:p>
                </c:rich>
              </c:tx>
              <c:txPr>
                <a:bodyPr xmlns:a="http://schemas.openxmlformats.org/drawingml/2006/main" anchorCtr="1"/>
                <a:lstStyle xmlns:a="http://schemas.openxmlformats.org/drawingml/2006/main"/>
                <a:p xmlns:a="http://schemas.openxmlformats.org/drawingml/2006/main">
                  <a:pPr>
                    <a:defRPr sz="2250" b="1">
                      <a:solidFill>
                        <a:srgbClr val="183247"/>
                      </a:solidFill>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250" b="1">
                        <a:solidFill>
                          <a:srgbClr val="183247"/>
                        </a:solidFill>
                        <a:latin typeface="Arial"/>
                        <a:ea typeface="Arial"/>
                        <a:cs typeface="Arial"/>
                      </a:rPr>
                      <a:t>−7,5%</a:t>
                    </a:r>
                  </a:p>
                </c:rich>
              </c:tx>
              <c:txPr>
                <a:bodyPr xmlns:a="http://schemas.openxmlformats.org/drawingml/2006/main" anchorCtr="1"/>
                <a:lstStyle xmlns:a="http://schemas.openxmlformats.org/drawingml/2006/main"/>
                <a:p xmlns:a="http://schemas.openxmlformats.org/drawingml/2006/main">
                  <a:pPr>
                    <a:defRPr sz="2250" b="1">
                      <a:solidFill>
                        <a:srgbClr val="183247"/>
                      </a:solidFill>
                      <a:latin typeface="Arial"/>
                      <a:ea typeface="Arial"/>
                      <a:cs typeface="Arial"/>
                    </a:defRPr>
                  </a:pPr>
                </a:p>
              </c:txPr>
              <c:dLblPos val="outEnd"/>
              <c:showLegendKey val="0"/>
              <c:showVal val="0"/>
              <c:showCatName val="0"/>
              <c:showSerName val="0"/>
              <c:showPercent val="0"/>
              <c:showBubbleSize val="0"/>
            </c:dLbl>
          </c:dLbls>
          <c:cat>
            <c:strRef>
              <c:f>'Chart Data'!$A$2:$A$3</c:f>
              <c:strCache>
                <c:ptCount val="2"/>
                <c:pt idx="0">
                  <c:v>P</c:v>
                </c:pt>
                <c:pt idx="1">
                  <c:v>Qv</c:v>
                </c:pt>
              </c:strCache>
            </c:strRef>
          </c:cat>
          <c:val>
            <c:numRef>
              <c:f>'Chart Data'!$B$2:$B$3</c:f>
              <c:numCache>
                <c:formatCode>0%</c:formatCode>
                <c:ptCount val="2"/>
                <c:pt idx="0">
                  <c:v>0.125</c:v>
                </c:pt>
                <c:pt idx="1">
                  <c:v>-0.075</c:v>
                </c:pt>
              </c:numCache>
            </c:numRef>
          </c:val>
        </c:ser>
        <c:dLbls>
          <c:txPr>
            <a:bodyPr xmlns:a="http://schemas.openxmlformats.org/drawingml/2006/main" anchorCtr="1"/>
            <a:lstStyle xmlns:a="http://schemas.openxmlformats.org/drawingml/2006/main"/>
            <a:p xmlns:a="http://schemas.openxmlformats.org/drawingml/2006/main">
              <a:pPr>
                <a:defRPr sz="2250" b="1">
                  <a:solidFill>
                    <a:srgbClr val="183247"/>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2400">
                <a:solidFill>
                  <a:srgbClr val="183247"/>
                </a:solidFill>
                <a:latin typeface="Arial"/>
                <a:ea typeface="Arial"/>
                <a:cs typeface="Arial"/>
              </a:defRPr>
            </a:pPr>
          </a:p>
        </c:txPr>
        <c:crossAx val="48672768"/>
      </c:catAx>
      <c:valAx>
        <c:axId val="48672768"/>
        <c:scaling>
          <c:orientation val="minMax"/>
          <c:max val="0.15"/>
          <c:min val="-0.1"/>
        </c:scaling>
        <c:delete val="0"/>
        <c:axPos val="b"/>
        <c:majorGridlines>
          <c:spPr>
            <a:ln xmlns:a="http://schemas.openxmlformats.org/drawingml/2006/main" w="9525">
              <a:solidFill>
                <a:srgbClr val="C6D2DB"/>
              </a:solidFill>
            </a:ln>
          </c:spPr>
        </c:majorGridlines>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crossAx val="48650112"/>
        <c:crossBetween val="between"/>
        <c:majorUnit val="0.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2.1 Prijselasticiteit">
            <a:extLst xmlns:a="http://schemas.openxmlformats.org/drawingml/2006/main">
              <a:ext uri="{FF2B5EF4-FFF2-40B4-BE49-F238E27FC236}">
                <a16:creationId xmlns:a16="http://schemas.microsoft.com/office/drawing/2014/main" id="{7A9327FF-B225-46B2-8808-1634AC09E2A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§2.2.1 Prijselasticiteit</a:t>
            </a:r>
          </a:p>
        </p:txBody>
      </p:sp>
      <p:sp>
        <p:nvSpPr>
          <p:cNvPr id="2" name="">
            <a:extLst xmlns:a="http://schemas.openxmlformats.org/drawingml/2006/main">
              <a:ext uri="{FF2B5EF4-FFF2-40B4-BE49-F238E27FC236}">
                <a16:creationId xmlns:a16="http://schemas.microsoft.com/office/drawing/2014/main" id="{0D8A1C96-7EE3-4343-BB92-E4017503E2B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a:extLst xmlns:a="http://schemas.openxmlformats.org/drawingml/2006/main">
              <a:ext uri="{FF2B5EF4-FFF2-40B4-BE49-F238E27FC236}">
                <a16:creationId xmlns:a16="http://schemas.microsoft.com/office/drawing/2014/main" id="{EF8280EF-F06D-4679-9C54-9FDC8F17617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a:t>
            </a:r>
          </a:p>
        </p:txBody>
      </p:sp>
      <p:sp>
        <p:nvSpPr>
          <p:cNvPr id="4" name="slide-number">
            <a:extLst xmlns:a="http://schemas.openxmlformats.org/drawingml/2006/main">
              <a:ext uri="{FF2B5EF4-FFF2-40B4-BE49-F238E27FC236}">
                <a16:creationId xmlns:a16="http://schemas.microsoft.com/office/drawing/2014/main" id="{1A7D618C-FE37-4A23-A6FC-69EA1549ABD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EC6632CC-2202-4D2D-951E-D4E4F32C2643}"/>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C4AD30B5-9B6A-45B3-A7A7-99F08B9C2CA6}"/>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0DBF210F-B1CC-4E7B-A5F8-96B03681FB25}"/>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8CA53B14-D342-4768-AE90-8D89C5F4B9B3}"/>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77A705DA-281D-438C-8112-9ECAD2A8F225}"/>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3018B910-AC1B-4814-948D-89269CB444CA}"/>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0F31525B-60A7-491E-9E2B-5742095F96F2}"/>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B7811D59-FAF2-4907-9ACB-B5B23F8861C3}"/>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C14C9DD9-9FB7-4859-B49C-E3EBFA32E889}"/>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3699F0A4-EC09-4EBA-A619-652702357EA8}"/>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B162DB6B-D208-4C00-B9EB-9D94CFB98015}"/>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6621E758-B673-4F2F-9903-EE1CB3542466}"/>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B935C6F8-E34A-49D7-9FCE-D315C12DF338}"/>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8C060DA0-EF58-430B-AE31-5AFDD767B5C3}"/>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DBFE8309-72E3-41FF-8C8E-9E4F57F74C84}"/>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2F2A8187-F1F7-4D08-B00E-BF2F5FCC30DD}"/>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D69F612E-5BC3-4195-83C3-792483E840EE}"/>
              </a:ext>
            </a:extLst>
          </p:cNvPr>
          <p:cNvSpPr>
            <a:spLocks xmlns:a="http://schemas.openxmlformats.org/drawingml/2006/main" noGrp="1"/>
          </p:cNvSpPr>
          <p:nvPr/>
        </p:nvSpPr>
        <p:spPr>
          <a:xfrm xmlns:a="http://schemas.openxmlformats.org/drawingml/2006/main">
            <a:off x="9258300" y="17621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77981895-80BB-4B1B-A845-BA2C0C716EC5}"/>
              </a:ext>
            </a:extLst>
          </p:cNvPr>
          <p:cNvSpPr>
            <a:spLocks xmlns:a="http://schemas.openxmlformats.org/drawingml/2006/main" noGrp="1"/>
          </p:cNvSpPr>
          <p:nvPr/>
        </p:nvSpPr>
        <p:spPr>
          <a:xfrm xmlns:a="http://schemas.openxmlformats.org/drawingml/2006/main">
            <a:off x="9258300" y="2324100"/>
            <a:ext cx="5410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Procenten en Ev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prijsgevoeligheid vergelijken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een verklaring beoordelen.</a:t>
            </a:r>
          </a:p>
        </p:txBody>
      </p:sp>
      <p:sp>
        <p:nvSpPr>
          <p:cNvPr id="23" name="">
            <a:extLst xmlns:a="http://schemas.openxmlformats.org/drawingml/2006/main">
              <a:ext uri="{FF2B5EF4-FFF2-40B4-BE49-F238E27FC236}">
                <a16:creationId xmlns:a16="http://schemas.microsoft.com/office/drawing/2014/main" id="{275140AA-F5CF-40FD-ACD2-BB69645454A6}"/>
              </a:ext>
            </a:extLst>
          </p:cNvPr>
          <p:cNvSpPr>
            <a:spLocks xmlns:a="http://schemas.openxmlformats.org/drawingml/2006/main" noGrp="1"/>
          </p:cNvSpPr>
          <p:nvPr/>
        </p:nvSpPr>
        <p:spPr>
          <a:xfrm xmlns:a="http://schemas.openxmlformats.org/drawingml/2006/main">
            <a:off x="9258300" y="35242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3C44C1A8-A76C-4734-BCF2-75DF0CB26C05}"/>
              </a:ext>
            </a:extLst>
          </p:cNvPr>
          <p:cNvSpPr>
            <a:spLocks xmlns:a="http://schemas.openxmlformats.org/drawingml/2006/main" noGrp="1"/>
          </p:cNvSpPr>
          <p:nvPr/>
        </p:nvSpPr>
        <p:spPr>
          <a:xfrm xmlns:a="http://schemas.openxmlformats.org/drawingml/2006/main">
            <a:off x="9258300" y="37623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070132CC-DCFB-4C93-B49E-43345C90155F}"/>
              </a:ext>
            </a:extLst>
          </p:cNvPr>
          <p:cNvSpPr>
            <a:spLocks xmlns:a="http://schemas.openxmlformats.org/drawingml/2006/main" noGrp="1"/>
          </p:cNvSpPr>
          <p:nvPr/>
        </p:nvSpPr>
        <p:spPr>
          <a:xfrm xmlns:a="http://schemas.openxmlformats.org/drawingml/2006/main">
            <a:off x="9258300" y="4305300"/>
            <a:ext cx="54102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40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 voorkennis ophalen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met theorie p. 38</a:t>
            </a:r>
          </a:p>
        </p:txBody>
      </p:sp>
      <p:sp>
        <p:nvSpPr>
          <p:cNvPr id="26" name="">
            <a:extLst xmlns:a="http://schemas.openxmlformats.org/drawingml/2006/main">
              <a:ext uri="{FF2B5EF4-FFF2-40B4-BE49-F238E27FC236}">
                <a16:creationId xmlns:a16="http://schemas.microsoft.com/office/drawing/2014/main" id="{92A84AA7-5F59-4444-BBB0-6065B36EEA7A}"/>
              </a:ext>
            </a:extLst>
          </p:cNvPr>
          <p:cNvSpPr>
            <a:spLocks xmlns:a="http://schemas.openxmlformats.org/drawingml/2006/main" noGrp="1"/>
          </p:cNvSpPr>
          <p:nvPr/>
        </p:nvSpPr>
        <p:spPr>
          <a:xfrm xmlns:a="http://schemas.openxmlformats.org/drawingml/2006/main">
            <a:off x="9258300" y="56959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A19672AF-D2E3-4CE1-82FA-914CF065633F}"/>
              </a:ext>
            </a:extLst>
          </p:cNvPr>
          <p:cNvSpPr>
            <a:spLocks xmlns:a="http://schemas.openxmlformats.org/drawingml/2006/main" noGrp="1"/>
          </p:cNvSpPr>
          <p:nvPr/>
        </p:nvSpPr>
        <p:spPr>
          <a:xfrm xmlns:a="http://schemas.openxmlformats.org/drawingml/2006/main">
            <a:off x="9258300" y="57816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CD769EA5-C196-4D73-9A99-FCC620841470}"/>
              </a:ext>
            </a:extLst>
          </p:cNvPr>
          <p:cNvSpPr>
            <a:spLocks xmlns:a="http://schemas.openxmlformats.org/drawingml/2006/main" noGrp="1"/>
          </p:cNvSpPr>
          <p:nvPr/>
        </p:nvSpPr>
        <p:spPr>
          <a:xfrm xmlns:a="http://schemas.openxmlformats.org/drawingml/2006/main">
            <a:off x="9258300" y="6248400"/>
            <a:ext cx="54102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§2.2.1 Prijselasticiteit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654982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Wat kun je na deze les?">
            <a:extLst xmlns:a="http://schemas.openxmlformats.org/drawingml/2006/main">
              <a:ext uri="{FF2B5EF4-FFF2-40B4-BE49-F238E27FC236}">
                <a16:creationId xmlns:a16="http://schemas.microsoft.com/office/drawing/2014/main" id="{0DC30EDA-8EA8-404B-9E9A-AB4B41B35C2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5C976B19-D97A-40B6-9FD3-AED02F7B079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a:extLst xmlns:a="http://schemas.openxmlformats.org/drawingml/2006/main">
              <a:ext uri="{FF2B5EF4-FFF2-40B4-BE49-F238E27FC236}">
                <a16:creationId xmlns:a16="http://schemas.microsoft.com/office/drawing/2014/main" id="{9CAE0791-5E4B-46C4-8B1B-58561BE3BC2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a:t>
            </a:r>
          </a:p>
        </p:txBody>
      </p:sp>
      <p:sp>
        <p:nvSpPr>
          <p:cNvPr id="4" name="slide-number">
            <a:extLst xmlns:a="http://schemas.openxmlformats.org/drawingml/2006/main">
              <a:ext uri="{FF2B5EF4-FFF2-40B4-BE49-F238E27FC236}">
                <a16:creationId xmlns:a16="http://schemas.microsoft.com/office/drawing/2014/main" id="{7B1AEF7F-81ED-4ABD-80F2-25C97B48961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Berekenen">
            <a:extLst xmlns:a="http://schemas.openxmlformats.org/drawingml/2006/main">
              <a:ext uri="{FF2B5EF4-FFF2-40B4-BE49-F238E27FC236}">
                <a16:creationId xmlns:a16="http://schemas.microsoft.com/office/drawing/2014/main" id="{34775E91-611B-4622-B3CA-A277FE35182A}"/>
              </a:ext>
            </a:extLst>
          </p:cNvPr>
          <p:cNvSpPr>
            <a:spLocks xmlns:a="http://schemas.openxmlformats.org/drawingml/2006/main" noGrp="1"/>
          </p:cNvSpPr>
          <p:nvPr/>
        </p:nvSpPr>
        <p:spPr>
          <a:xfrm xmlns:a="http://schemas.openxmlformats.org/drawingml/2006/main">
            <a:off x="571500" y="2009775"/>
            <a:ext cx="4048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Berekenen</a:t>
            </a:r>
          </a:p>
        </p:txBody>
      </p:sp>
      <p:sp>
        <p:nvSpPr>
          <p:cNvPr id="6" name="Je berekent beide procenten en Ev met het juiste teken.">
            <a:extLst xmlns:a="http://schemas.openxmlformats.org/drawingml/2006/main">
              <a:ext uri="{FF2B5EF4-FFF2-40B4-BE49-F238E27FC236}">
                <a16:creationId xmlns:a16="http://schemas.microsoft.com/office/drawing/2014/main" id="{674278BD-8CE7-4053-A6B8-379EA9E6ADA2}"/>
              </a:ext>
            </a:extLst>
          </p:cNvPr>
          <p:cNvSpPr>
            <a:spLocks xmlns:a="http://schemas.openxmlformats.org/drawingml/2006/main" noGrp="1"/>
          </p:cNvSpPr>
          <p:nvPr/>
        </p:nvSpPr>
        <p:spPr>
          <a:xfrm xmlns:a="http://schemas.openxmlformats.org/drawingml/2006/main">
            <a:off x="5095875" y="2009775"/>
            <a:ext cx="9525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Je berekent beide procenten en Ev met het juiste teken.</a:t>
            </a:r>
          </a:p>
        </p:txBody>
      </p:sp>
      <p:sp>
        <p:nvSpPr>
          <p:cNvPr id="7" name="">
            <a:extLst xmlns:a="http://schemas.openxmlformats.org/drawingml/2006/main">
              <a:ext uri="{FF2B5EF4-FFF2-40B4-BE49-F238E27FC236}">
                <a16:creationId xmlns:a16="http://schemas.microsoft.com/office/drawing/2014/main" id="{A9A00FE7-BD66-445C-88C5-D8503B7CF2C3}"/>
              </a:ext>
            </a:extLst>
          </p:cNvPr>
          <p:cNvSpPr>
            <a:spLocks xmlns:a="http://schemas.openxmlformats.org/drawingml/2006/main" noGrp="1"/>
          </p:cNvSpPr>
          <p:nvPr/>
        </p:nvSpPr>
        <p:spPr>
          <a:xfrm xmlns:a="http://schemas.openxmlformats.org/drawingml/2006/main">
            <a:off x="571500" y="3114675"/>
            <a:ext cx="14097000" cy="0"/>
          </a:xfrm>
          <a:prstGeom xmlns:a="http://schemas.openxmlformats.org/drawingml/2006/main" prst="line">
            <a:avLst/>
          </a:prstGeom>
          <a:ln xmlns:a="http://schemas.openxmlformats.org/drawingml/2006/main" w="19050">
            <a:solidFill>
              <a:srgbClr val="C6D2DB"/>
            </a:solidFill>
          </a:ln>
        </p:spPr>
      </p:sp>
      <p:sp>
        <p:nvSpPr>
          <p:cNvPr id="8" name="Indelen">
            <a:extLst xmlns:a="http://schemas.openxmlformats.org/drawingml/2006/main">
              <a:ext uri="{FF2B5EF4-FFF2-40B4-BE49-F238E27FC236}">
                <a16:creationId xmlns:a16="http://schemas.microsoft.com/office/drawing/2014/main" id="{0ADAE277-8260-434B-8FA8-F92CE70ECA9C}"/>
              </a:ext>
            </a:extLst>
          </p:cNvPr>
          <p:cNvSpPr>
            <a:spLocks xmlns:a="http://schemas.openxmlformats.org/drawingml/2006/main" noGrp="1"/>
          </p:cNvSpPr>
          <p:nvPr/>
        </p:nvSpPr>
        <p:spPr>
          <a:xfrm xmlns:a="http://schemas.openxmlformats.org/drawingml/2006/main">
            <a:off x="571500" y="3371850"/>
            <a:ext cx="4048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Indelen</a:t>
            </a:r>
          </a:p>
        </p:txBody>
      </p:sp>
      <p:sp>
        <p:nvSpPr>
          <p:cNvPr id="9" name="Je vergelijkt Ev met −1 en 0.">
            <a:extLst xmlns:a="http://schemas.openxmlformats.org/drawingml/2006/main">
              <a:ext uri="{FF2B5EF4-FFF2-40B4-BE49-F238E27FC236}">
                <a16:creationId xmlns:a16="http://schemas.microsoft.com/office/drawing/2014/main" id="{922B743B-648E-469B-B5AE-B1E4DCBF48CF}"/>
              </a:ext>
            </a:extLst>
          </p:cNvPr>
          <p:cNvSpPr>
            <a:spLocks xmlns:a="http://schemas.openxmlformats.org/drawingml/2006/main" noGrp="1"/>
          </p:cNvSpPr>
          <p:nvPr/>
        </p:nvSpPr>
        <p:spPr>
          <a:xfrm xmlns:a="http://schemas.openxmlformats.org/drawingml/2006/main">
            <a:off x="5095875" y="3371850"/>
            <a:ext cx="9525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Je vergelijkt Ev met −1 en 0.</a:t>
            </a:r>
          </a:p>
        </p:txBody>
      </p:sp>
      <p:sp>
        <p:nvSpPr>
          <p:cNvPr id="10" name="">
            <a:extLst xmlns:a="http://schemas.openxmlformats.org/drawingml/2006/main">
              <a:ext uri="{FF2B5EF4-FFF2-40B4-BE49-F238E27FC236}">
                <a16:creationId xmlns:a16="http://schemas.microsoft.com/office/drawing/2014/main" id="{4936327C-48DB-42B3-BC7B-758CE52585D7}"/>
              </a:ext>
            </a:extLst>
          </p:cNvPr>
          <p:cNvSpPr>
            <a:spLocks xmlns:a="http://schemas.openxmlformats.org/drawingml/2006/main" noGrp="1"/>
          </p:cNvSpPr>
          <p:nvPr/>
        </p:nvSpPr>
        <p:spPr>
          <a:xfrm xmlns:a="http://schemas.openxmlformats.org/drawingml/2006/main">
            <a:off x="571500" y="4476750"/>
            <a:ext cx="14097000" cy="0"/>
          </a:xfrm>
          <a:prstGeom xmlns:a="http://schemas.openxmlformats.org/drawingml/2006/main" prst="line">
            <a:avLst/>
          </a:prstGeom>
          <a:ln xmlns:a="http://schemas.openxmlformats.org/drawingml/2006/main" w="19050">
            <a:solidFill>
              <a:srgbClr val="C6D2DB"/>
            </a:solidFill>
          </a:ln>
        </p:spPr>
      </p:sp>
      <p:sp>
        <p:nvSpPr>
          <p:cNvPr id="11" name="Vergelijken">
            <a:extLst xmlns:a="http://schemas.openxmlformats.org/drawingml/2006/main">
              <a:ext uri="{FF2B5EF4-FFF2-40B4-BE49-F238E27FC236}">
                <a16:creationId xmlns:a16="http://schemas.microsoft.com/office/drawing/2014/main" id="{C7D8C698-7FFC-4912-A84E-04185C7FCD25}"/>
              </a:ext>
            </a:extLst>
          </p:cNvPr>
          <p:cNvSpPr>
            <a:spLocks xmlns:a="http://schemas.openxmlformats.org/drawingml/2006/main" noGrp="1"/>
          </p:cNvSpPr>
          <p:nvPr/>
        </p:nvSpPr>
        <p:spPr>
          <a:xfrm xmlns:a="http://schemas.openxmlformats.org/drawingml/2006/main">
            <a:off x="571500" y="4733925"/>
            <a:ext cx="4048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Vergelijken</a:t>
            </a:r>
          </a:p>
        </p:txBody>
      </p:sp>
      <p:sp>
        <p:nvSpPr>
          <p:cNvPr id="12" name="Je legt uit waar de relatieve prijsreactie sterker is.">
            <a:extLst xmlns:a="http://schemas.openxmlformats.org/drawingml/2006/main">
              <a:ext uri="{FF2B5EF4-FFF2-40B4-BE49-F238E27FC236}">
                <a16:creationId xmlns:a16="http://schemas.microsoft.com/office/drawing/2014/main" id="{38F73AF4-0EFF-4525-8487-A7883FB79438}"/>
              </a:ext>
            </a:extLst>
          </p:cNvPr>
          <p:cNvSpPr>
            <a:spLocks xmlns:a="http://schemas.openxmlformats.org/drawingml/2006/main" noGrp="1"/>
          </p:cNvSpPr>
          <p:nvPr/>
        </p:nvSpPr>
        <p:spPr>
          <a:xfrm xmlns:a="http://schemas.openxmlformats.org/drawingml/2006/main">
            <a:off x="5095875" y="4733925"/>
            <a:ext cx="9525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Je legt uit waar de relatieve prijsreactie sterker is.</a:t>
            </a:r>
          </a:p>
        </p:txBody>
      </p:sp>
      <p:sp>
        <p:nvSpPr>
          <p:cNvPr id="13" name="">
            <a:extLst xmlns:a="http://schemas.openxmlformats.org/drawingml/2006/main">
              <a:ext uri="{FF2B5EF4-FFF2-40B4-BE49-F238E27FC236}">
                <a16:creationId xmlns:a16="http://schemas.microsoft.com/office/drawing/2014/main" id="{E54FF7E7-71F6-422E-BA8D-3C11D5B12517}"/>
              </a:ext>
            </a:extLst>
          </p:cNvPr>
          <p:cNvSpPr>
            <a:spLocks xmlns:a="http://schemas.openxmlformats.org/drawingml/2006/main" noGrp="1"/>
          </p:cNvSpPr>
          <p:nvPr/>
        </p:nvSpPr>
        <p:spPr>
          <a:xfrm xmlns:a="http://schemas.openxmlformats.org/drawingml/2006/main">
            <a:off x="571500" y="5838825"/>
            <a:ext cx="14097000" cy="0"/>
          </a:xfrm>
          <a:prstGeom xmlns:a="http://schemas.openxmlformats.org/drawingml/2006/main" prst="line">
            <a:avLst/>
          </a:prstGeom>
          <a:ln xmlns:a="http://schemas.openxmlformats.org/drawingml/2006/main" w="19050">
            <a:solidFill>
              <a:srgbClr val="C6D2DB"/>
            </a:solidFill>
          </a:ln>
        </p:spPr>
      </p:sp>
      <p:sp>
        <p:nvSpPr>
          <p:cNvPr id="14" name="Verklaren">
            <a:extLst xmlns:a="http://schemas.openxmlformats.org/drawingml/2006/main">
              <a:ext uri="{FF2B5EF4-FFF2-40B4-BE49-F238E27FC236}">
                <a16:creationId xmlns:a16="http://schemas.microsoft.com/office/drawing/2014/main" id="{F9A45C47-653A-4EFB-AA53-9EB2A4AF8A77}"/>
              </a:ext>
            </a:extLst>
          </p:cNvPr>
          <p:cNvSpPr>
            <a:spLocks xmlns:a="http://schemas.openxmlformats.org/drawingml/2006/main" noGrp="1"/>
          </p:cNvSpPr>
          <p:nvPr/>
        </p:nvSpPr>
        <p:spPr>
          <a:xfrm xmlns:a="http://schemas.openxmlformats.org/drawingml/2006/main">
            <a:off x="571500" y="6096000"/>
            <a:ext cx="4048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Verklaren</a:t>
            </a:r>
          </a:p>
        </p:txBody>
      </p:sp>
      <p:sp>
        <p:nvSpPr>
          <p:cNvPr id="15" name="Je onderscheidt een mogelijke reden van een bewezen oor">
            <a:extLst xmlns:a="http://schemas.openxmlformats.org/drawingml/2006/main">
              <a:ext uri="{FF2B5EF4-FFF2-40B4-BE49-F238E27FC236}">
                <a16:creationId xmlns:a16="http://schemas.microsoft.com/office/drawing/2014/main" id="{C6AE75FF-D28D-49C2-9A98-DDA4AA3216D3}"/>
              </a:ext>
            </a:extLst>
          </p:cNvPr>
          <p:cNvSpPr>
            <a:spLocks xmlns:a="http://schemas.openxmlformats.org/drawingml/2006/main" noGrp="1"/>
          </p:cNvSpPr>
          <p:nvPr/>
        </p:nvSpPr>
        <p:spPr>
          <a:xfrm xmlns:a="http://schemas.openxmlformats.org/drawingml/2006/main">
            <a:off x="5095875" y="6096000"/>
            <a:ext cx="9525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Je onderscheidt een mogelijke reden van een bewezen oorzaak.</a:t>
            </a:r>
          </a:p>
        </p:txBody>
      </p:sp>
    </p:spTree>
    <p:extLst>
      <p:ext uri="{BB962C8B-B14F-4D97-AF65-F5344CB8AC3E}">
        <p14:creationId xmlns:p14="http://schemas.microsoft.com/office/powerpoint/2010/main" val="5809416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hogere prijs bij het Keramiekcafé">
            <a:extLst xmlns:a="http://schemas.openxmlformats.org/drawingml/2006/main">
              <a:ext uri="{FF2B5EF4-FFF2-40B4-BE49-F238E27FC236}">
                <a16:creationId xmlns:a16="http://schemas.microsoft.com/office/drawing/2014/main" id="{154BE8C3-DA2D-4246-B530-41B2784418A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hogere prijs bij het Keramiekcafé</a:t>
            </a:r>
          </a:p>
        </p:txBody>
      </p:sp>
      <p:sp>
        <p:nvSpPr>
          <p:cNvPr id="2" name="">
            <a:extLst xmlns:a="http://schemas.openxmlformats.org/drawingml/2006/main">
              <a:ext uri="{FF2B5EF4-FFF2-40B4-BE49-F238E27FC236}">
                <a16:creationId xmlns:a16="http://schemas.microsoft.com/office/drawing/2014/main" id="{C2E6F18B-528B-4532-A616-7D15B398891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a:extLst xmlns:a="http://schemas.openxmlformats.org/drawingml/2006/main">
              <a:ext uri="{FF2B5EF4-FFF2-40B4-BE49-F238E27FC236}">
                <a16:creationId xmlns:a16="http://schemas.microsoft.com/office/drawing/2014/main" id="{FAA36583-EFC8-47F7-B720-CECE639ABB8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a:t>
            </a:r>
          </a:p>
        </p:txBody>
      </p:sp>
      <p:sp>
        <p:nvSpPr>
          <p:cNvPr id="4" name="slide-number">
            <a:extLst xmlns:a="http://schemas.openxmlformats.org/drawingml/2006/main">
              <a:ext uri="{FF2B5EF4-FFF2-40B4-BE49-F238E27FC236}">
                <a16:creationId xmlns:a16="http://schemas.microsoft.com/office/drawing/2014/main" id="{FC3B9282-8DA5-4EAD-A008-82417FCBE68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21CF1C53-CF98-4F94-B65F-2B5210B3C984}"/>
              </a:ext>
            </a:extLst>
          </p:cNvPr>
          <p:cNvSpPr>
            <a:spLocks xmlns:a="http://schemas.openxmlformats.org/drawingml/2006/main" noGrp="1"/>
          </p:cNvSpPr>
          <p:nvPr/>
        </p:nvSpPr>
        <p:spPr>
          <a:xfrm xmlns:a="http://schemas.openxmlformats.org/drawingml/2006/main">
            <a:off x="571500" y="17049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Keramiekcafé">
            <a:extLst xmlns:a="http://schemas.openxmlformats.org/drawingml/2006/main">
              <a:ext uri="{FF2B5EF4-FFF2-40B4-BE49-F238E27FC236}">
                <a16:creationId xmlns:a16="http://schemas.microsoft.com/office/drawing/2014/main" id="{44682E89-BDE5-4521-AD10-496948C05105}"/>
              </a:ext>
            </a:extLst>
          </p:cNvPr>
          <p:cNvSpPr>
            <a:spLocks xmlns:a="http://schemas.openxmlformats.org/drawingml/2006/main" noGrp="1"/>
          </p:cNvSpPr>
          <p:nvPr/>
        </p:nvSpPr>
        <p:spPr>
          <a:xfrm xmlns:a="http://schemas.openxmlformats.org/drawingml/2006/main">
            <a:off x="571500" y="22669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Keramiekcafé</a:t>
            </a:r>
          </a:p>
        </p:txBody>
      </p:sp>
      <p:graphicFrame>
        <p:nvGraphicFramePr>
          <p:cNvPr id="16" name=""/>
          <p:cNvGraphicFramePr/>
          <p:nvPr/>
        </p:nvGraphicFramePr>
        <p:xfrm>
          <a:off xmlns:a="http://schemas.openxmlformats.org/drawingml/2006/main" x="571500" y="3095625"/>
          <a:ext xmlns:a="http://schemas.openxmlformats.org/drawingml/2006/main" cx="14097000" cy="2762250"/>
        </p:xfrm>
        <a:graphic xmlns:a="http://schemas.openxmlformats.org/drawingml/2006/main">
          <a:graphicData uri="http://schemas.openxmlformats.org/drawingml/2006/table">
            <a:tbl>
              <a:tblPr/>
              <a:tblGrid>
                <a:gridCol w="7429500"/>
                <a:gridCol w="3333750"/>
                <a:gridCol w="3333750"/>
              </a:tblGrid>
              <a:tr h="920750">
                <a:tc>
                  <a:txBody>
                    <a:bodyPr lIns="171450" tIns="95250" rIns="152400" bIns="95250"/>
                    <a:lstStyle/>
                    <a:p>
                      <a:r>
                        <a:rPr sz="255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Oud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Nieuw</a:t>
                      </a:r>
                    </a:p>
                  </a:txBody>
                  <a:tcPr marL="91440" marR="91440" marT="45720" marB="45720" anchor="ctr">
                    <a:solidFill>
                      <a:srgbClr val="183247"/>
                    </a:solidFill>
                  </a:tcPr>
                </a:tc>
              </a:tr>
              <a:tr h="920750">
                <a:tc>
                  <a:txBody>
                    <a:bodyPr lIns="171450" tIns="95250" rIns="152400" bIns="95250"/>
                    <a:lstStyle/>
                    <a:p>
                      <a:r>
                        <a:rPr sz="2550" b="0">
                          <a:solidFill>
                            <a:srgbClr val="183247"/>
                          </a:solidFill>
                          <a:latin typeface="Arial"/>
                          <a:ea typeface="Arial"/>
                          <a:cs typeface="Arial"/>
                        </a:rPr>
                        <a:t>P (€ per bezoek)</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24</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27</a:t>
                      </a:r>
                    </a:p>
                  </a:txBody>
                  <a:tcPr marL="91440" marR="91440" marT="45720" marB="45720" anchor="ctr">
                    <a:solidFill>
                      <a:srgbClr val="FFFFFF"/>
                    </a:solidFill>
                  </a:tcPr>
                </a:tc>
              </a:tr>
              <a:tr h="920750">
                <a:tc>
                  <a:txBody>
                    <a:bodyPr lIns="171450" tIns="95250" rIns="152400" bIns="95250"/>
                    <a:lstStyle/>
                    <a:p>
                      <a:r>
                        <a:rPr sz="2550" b="0">
                          <a:solidFill>
                            <a:srgbClr val="183247"/>
                          </a:solidFill>
                          <a:latin typeface="Arial"/>
                          <a:ea typeface="Arial"/>
                          <a:cs typeface="Arial"/>
                        </a:rPr>
                        <a:t>Qv (bezoeken per week)</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160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148</a:t>
                      </a:r>
                    </a:p>
                  </a:txBody>
                  <a:tcPr marL="91440" marR="91440" marT="45720" marB="45720" anchor="ctr">
                    <a:solidFill>
                      <a:srgbClr val="EFF4F7"/>
                    </a:solidFill>
                  </a:tcPr>
                </a:tc>
              </a:tr>
            </a:tbl>
          </a:graphicData>
        </a:graphic>
      </p:graphicFrame>
      <p:sp>
        <p:nvSpPr>
          <p:cNvPr id="8" name="P is de eigen prijs. Qv is de gevraagde hoeveelheid.">
            <a:extLst xmlns:a="http://schemas.openxmlformats.org/drawingml/2006/main">
              <a:ext uri="{FF2B5EF4-FFF2-40B4-BE49-F238E27FC236}">
                <a16:creationId xmlns:a16="http://schemas.microsoft.com/office/drawing/2014/main" id="{6D5F02C2-8EFC-46E6-AD91-6DA267286DEB}"/>
              </a:ext>
            </a:extLst>
          </p:cNvPr>
          <p:cNvSpPr>
            <a:spLocks xmlns:a="http://schemas.openxmlformats.org/drawingml/2006/main" noGrp="1"/>
          </p:cNvSpPr>
          <p:nvPr/>
        </p:nvSpPr>
        <p:spPr>
          <a:xfrm xmlns:a="http://schemas.openxmlformats.org/drawingml/2006/main">
            <a:off x="571500" y="629602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P is de eigen prijs. Qv is de gevraagde hoeveelheid.</a:t>
            </a:r>
          </a:p>
        </p:txBody>
      </p:sp>
      <p:sp>
        <p:nvSpPr>
          <p:cNvPr id="9" name="Andere vraagfactoren blijven gelijk: ceteris paribus.">
            <a:extLst xmlns:a="http://schemas.openxmlformats.org/drawingml/2006/main">
              <a:ext uri="{FF2B5EF4-FFF2-40B4-BE49-F238E27FC236}">
                <a16:creationId xmlns:a16="http://schemas.microsoft.com/office/drawing/2014/main" id="{9F6DBA5F-F959-4EF5-88CE-3EAF14C4FD29}"/>
              </a:ext>
            </a:extLst>
          </p:cNvPr>
          <p:cNvSpPr>
            <a:spLocks xmlns:a="http://schemas.openxmlformats.org/drawingml/2006/main" noGrp="1"/>
          </p:cNvSpPr>
          <p:nvPr/>
        </p:nvSpPr>
        <p:spPr>
          <a:xfrm xmlns:a="http://schemas.openxmlformats.org/drawingml/2006/main">
            <a:off x="571500" y="719137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7658A"/>
                </a:solidFill>
                <a:latin typeface="Arial"/>
                <a:ea typeface="Arial"/>
                <a:cs typeface="Arial"/>
              </a:defRPr>
            </a:pPr>
            <a:r>
              <a:rPr sz="2700" b="0">
                <a:solidFill>
                  <a:srgbClr val="17658A"/>
                </a:solidFill>
                <a:latin typeface="Arial"/>
                <a:ea typeface="Arial"/>
                <a:cs typeface="Arial"/>
              </a:rPr>
              <a:t>Andere vraagfactoren blijven gelijk: ceteris paribus.</a:t>
            </a:r>
          </a:p>
        </p:txBody>
      </p:sp>
    </p:spTree>
    <p:extLst>
      <p:ext uri="{BB962C8B-B14F-4D97-AF65-F5344CB8AC3E}">
        <p14:creationId xmlns:p14="http://schemas.microsoft.com/office/powerpoint/2010/main" val="21205641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Procenten met de oude waarde als basis">
            <a:extLst xmlns:a="http://schemas.openxmlformats.org/drawingml/2006/main">
              <a:ext uri="{FF2B5EF4-FFF2-40B4-BE49-F238E27FC236}">
                <a16:creationId xmlns:a16="http://schemas.microsoft.com/office/drawing/2014/main" id="{8DFEA80F-ECBD-4A16-A123-CFCAAE6045E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Procenten met de oude waarde als basis</a:t>
            </a:r>
          </a:p>
        </p:txBody>
      </p:sp>
      <p:sp>
        <p:nvSpPr>
          <p:cNvPr id="2" name="">
            <a:extLst xmlns:a="http://schemas.openxmlformats.org/drawingml/2006/main">
              <a:ext uri="{FF2B5EF4-FFF2-40B4-BE49-F238E27FC236}">
                <a16:creationId xmlns:a16="http://schemas.microsoft.com/office/drawing/2014/main" id="{B484FEB5-D4BF-4925-A602-0A66DDCC3E7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a:extLst xmlns:a="http://schemas.openxmlformats.org/drawingml/2006/main">
              <a:ext uri="{FF2B5EF4-FFF2-40B4-BE49-F238E27FC236}">
                <a16:creationId xmlns:a16="http://schemas.microsoft.com/office/drawing/2014/main" id="{EDF3E43D-BEA9-4F9D-B5A6-8EA356BF7FB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a:t>
            </a:r>
          </a:p>
        </p:txBody>
      </p:sp>
      <p:sp>
        <p:nvSpPr>
          <p:cNvPr id="4" name="slide-number">
            <a:extLst xmlns:a="http://schemas.openxmlformats.org/drawingml/2006/main">
              <a:ext uri="{FF2B5EF4-FFF2-40B4-BE49-F238E27FC236}">
                <a16:creationId xmlns:a16="http://schemas.microsoft.com/office/drawing/2014/main" id="{0AD35B75-A018-4162-B9E3-CDFFBDC0C33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3541FD6B-A198-44FA-9B69-C178A16E0553}"/>
              </a:ext>
            </a:extLst>
          </p:cNvPr>
          <p:cNvSpPr>
            <a:spLocks xmlns:a="http://schemas.openxmlformats.org/drawingml/2006/main" noGrp="1"/>
          </p:cNvSpPr>
          <p:nvPr/>
        </p:nvSpPr>
        <p:spPr>
          <a:xfrm xmlns:a="http://schemas.openxmlformats.org/drawingml/2006/main">
            <a:off x="571500" y="17049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Keramiekcafé">
            <a:extLst xmlns:a="http://schemas.openxmlformats.org/drawingml/2006/main">
              <a:ext uri="{FF2B5EF4-FFF2-40B4-BE49-F238E27FC236}">
                <a16:creationId xmlns:a16="http://schemas.microsoft.com/office/drawing/2014/main" id="{9C7BAD35-C679-412C-9841-F692ACBEFCF6}"/>
              </a:ext>
            </a:extLst>
          </p:cNvPr>
          <p:cNvSpPr>
            <a:spLocks xmlns:a="http://schemas.openxmlformats.org/drawingml/2006/main" noGrp="1"/>
          </p:cNvSpPr>
          <p:nvPr/>
        </p:nvSpPr>
        <p:spPr>
          <a:xfrm xmlns:a="http://schemas.openxmlformats.org/drawingml/2006/main">
            <a:off x="571500" y="22669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Keramiekcafé</a:t>
            </a:r>
          </a:p>
        </p:txBody>
      </p:sp>
      <p:sp>
        <p:nvSpPr>
          <p:cNvPr id="7" name="%Δ = (nieuw − oud) / oud × 100%">
            <a:extLst xmlns:a="http://schemas.openxmlformats.org/drawingml/2006/main">
              <a:ext uri="{FF2B5EF4-FFF2-40B4-BE49-F238E27FC236}">
                <a16:creationId xmlns:a16="http://schemas.microsoft.com/office/drawing/2014/main" id="{093CC156-F38B-40B7-A4D7-82BA20C8B244}"/>
              </a:ext>
            </a:extLst>
          </p:cNvPr>
          <p:cNvSpPr>
            <a:spLocks xmlns:a="http://schemas.openxmlformats.org/drawingml/2006/main" noGrp="1"/>
          </p:cNvSpPr>
          <p:nvPr/>
        </p:nvSpPr>
        <p:spPr>
          <a:xfrm xmlns:a="http://schemas.openxmlformats.org/drawingml/2006/main">
            <a:off x="571500" y="308610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%Δ = (nieuw − oud) / oud × 100%</a:t>
            </a:r>
          </a:p>
        </p:txBody>
      </p:sp>
      <p:sp>
        <p:nvSpPr>
          <p:cNvPr id="8" name="">
            <a:extLst xmlns:a="http://schemas.openxmlformats.org/drawingml/2006/main">
              <a:ext uri="{FF2B5EF4-FFF2-40B4-BE49-F238E27FC236}">
                <a16:creationId xmlns:a16="http://schemas.microsoft.com/office/drawing/2014/main" id="{8B847C81-415C-4D3F-B0CA-261B78F8C316}"/>
              </a:ext>
            </a:extLst>
          </p:cNvPr>
          <p:cNvSpPr>
            <a:spLocks xmlns:a="http://schemas.openxmlformats.org/drawingml/2006/main" noGrp="1"/>
          </p:cNvSpPr>
          <p:nvPr/>
        </p:nvSpPr>
        <p:spPr>
          <a:xfrm xmlns:a="http://schemas.openxmlformats.org/drawingml/2006/main">
            <a:off x="571500" y="4019550"/>
            <a:ext cx="14097000" cy="0"/>
          </a:xfrm>
          <a:prstGeom xmlns:a="http://schemas.openxmlformats.org/drawingml/2006/main" prst="line">
            <a:avLst/>
          </a:prstGeom>
          <a:ln xmlns:a="http://schemas.openxmlformats.org/drawingml/2006/main" w="19050">
            <a:solidFill>
              <a:srgbClr val="C6D2DB"/>
            </a:solidFill>
          </a:ln>
        </p:spPr>
      </p:sp>
      <p:sp>
        <p:nvSpPr>
          <p:cNvPr id="9" name="Prijs">
            <a:extLst xmlns:a="http://schemas.openxmlformats.org/drawingml/2006/main">
              <a:ext uri="{FF2B5EF4-FFF2-40B4-BE49-F238E27FC236}">
                <a16:creationId xmlns:a16="http://schemas.microsoft.com/office/drawing/2014/main" id="{B129EA5A-4F45-4CC5-A8E7-4F86107BDAC2}"/>
              </a:ext>
            </a:extLst>
          </p:cNvPr>
          <p:cNvSpPr>
            <a:spLocks xmlns:a="http://schemas.openxmlformats.org/drawingml/2006/main" noGrp="1"/>
          </p:cNvSpPr>
          <p:nvPr/>
        </p:nvSpPr>
        <p:spPr>
          <a:xfrm xmlns:a="http://schemas.openxmlformats.org/drawingml/2006/main">
            <a:off x="571500" y="44196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Prijs</a:t>
            </a:r>
          </a:p>
        </p:txBody>
      </p:sp>
      <p:sp>
        <p:nvSpPr>
          <p:cNvPr id="10" name="(27 − 24) / 24 × 100% = +12,5%">
            <a:extLst xmlns:a="http://schemas.openxmlformats.org/drawingml/2006/main">
              <a:ext uri="{FF2B5EF4-FFF2-40B4-BE49-F238E27FC236}">
                <a16:creationId xmlns:a16="http://schemas.microsoft.com/office/drawing/2014/main" id="{3D2E8623-E451-40F1-A904-59776E9D3255}"/>
              </a:ext>
            </a:extLst>
          </p:cNvPr>
          <p:cNvSpPr>
            <a:spLocks xmlns:a="http://schemas.openxmlformats.org/drawingml/2006/main" noGrp="1"/>
          </p:cNvSpPr>
          <p:nvPr/>
        </p:nvSpPr>
        <p:spPr>
          <a:xfrm xmlns:a="http://schemas.openxmlformats.org/drawingml/2006/main">
            <a:off x="3333750" y="4391025"/>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(27 − 24) / 24 × 100% = +12,5%</a:t>
            </a:r>
          </a:p>
        </p:txBody>
      </p:sp>
      <p:sp>
        <p:nvSpPr>
          <p:cNvPr id="11" name="Hoeveelheid">
            <a:extLst xmlns:a="http://schemas.openxmlformats.org/drawingml/2006/main">
              <a:ext uri="{FF2B5EF4-FFF2-40B4-BE49-F238E27FC236}">
                <a16:creationId xmlns:a16="http://schemas.microsoft.com/office/drawing/2014/main" id="{D79B9F35-9594-4986-9D38-C5475F8FCEBB}"/>
              </a:ext>
            </a:extLst>
          </p:cNvPr>
          <p:cNvSpPr>
            <a:spLocks xmlns:a="http://schemas.openxmlformats.org/drawingml/2006/main" noGrp="1"/>
          </p:cNvSpPr>
          <p:nvPr/>
        </p:nvSpPr>
        <p:spPr>
          <a:xfrm xmlns:a="http://schemas.openxmlformats.org/drawingml/2006/main">
            <a:off x="571500" y="5600700"/>
            <a:ext cx="2714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Hoeveelheid</a:t>
            </a:r>
          </a:p>
        </p:txBody>
      </p:sp>
      <p:sp>
        <p:nvSpPr>
          <p:cNvPr id="12" name="(148 − 160) / 160 × 100% = −7,5%">
            <a:extLst xmlns:a="http://schemas.openxmlformats.org/drawingml/2006/main">
              <a:ext uri="{FF2B5EF4-FFF2-40B4-BE49-F238E27FC236}">
                <a16:creationId xmlns:a16="http://schemas.microsoft.com/office/drawing/2014/main" id="{D57B5D40-31B1-4386-BD76-5AA6E9282DFD}"/>
              </a:ext>
            </a:extLst>
          </p:cNvPr>
          <p:cNvSpPr>
            <a:spLocks xmlns:a="http://schemas.openxmlformats.org/drawingml/2006/main" noGrp="1"/>
          </p:cNvSpPr>
          <p:nvPr/>
        </p:nvSpPr>
        <p:spPr>
          <a:xfrm xmlns:a="http://schemas.openxmlformats.org/drawingml/2006/main">
            <a:off x="3333750" y="5572125"/>
            <a:ext cx="1133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(148 − 160) / 160 × 100% = −7,5%</a:t>
            </a:r>
          </a:p>
        </p:txBody>
      </p:sp>
      <p:sp>
        <p:nvSpPr>
          <p:cNvPr id="13" name="Een stijging is positief. Een daling is negatief.">
            <a:extLst xmlns:a="http://schemas.openxmlformats.org/drawingml/2006/main">
              <a:ext uri="{FF2B5EF4-FFF2-40B4-BE49-F238E27FC236}">
                <a16:creationId xmlns:a16="http://schemas.microsoft.com/office/drawing/2014/main" id="{DCB1091B-91F2-4378-8753-B6B0A9B6EC0F}"/>
              </a:ext>
            </a:extLst>
          </p:cNvPr>
          <p:cNvSpPr>
            <a:spLocks xmlns:a="http://schemas.openxmlformats.org/drawingml/2006/main" noGrp="1"/>
          </p:cNvSpPr>
          <p:nvPr/>
        </p:nvSpPr>
        <p:spPr>
          <a:xfrm xmlns:a="http://schemas.openxmlformats.org/drawingml/2006/main">
            <a:off x="571500" y="70485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Een stijging is positief. Een daling is negatief.</a:t>
            </a:r>
          </a:p>
        </p:txBody>
      </p:sp>
    </p:spTree>
    <p:extLst>
      <p:ext uri="{BB962C8B-B14F-4D97-AF65-F5344CB8AC3E}">
        <p14:creationId xmlns:p14="http://schemas.microsoft.com/office/powerpoint/2010/main" val="9428610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hoeveelheid reageert procentueel minder sterk">
            <a:extLst xmlns:a="http://schemas.openxmlformats.org/drawingml/2006/main">
              <a:ext uri="{FF2B5EF4-FFF2-40B4-BE49-F238E27FC236}">
                <a16:creationId xmlns:a16="http://schemas.microsoft.com/office/drawing/2014/main" id="{C5EB5E2F-F728-4CCC-90F6-3348F8936B3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hoeveelheid reageert procentueel minder sterk</a:t>
            </a:r>
          </a:p>
        </p:txBody>
      </p:sp>
      <p:sp>
        <p:nvSpPr>
          <p:cNvPr id="2" name="">
            <a:extLst xmlns:a="http://schemas.openxmlformats.org/drawingml/2006/main">
              <a:ext uri="{FF2B5EF4-FFF2-40B4-BE49-F238E27FC236}">
                <a16:creationId xmlns:a16="http://schemas.microsoft.com/office/drawing/2014/main" id="{61CCD82C-4986-4AFC-B7EE-036806C04D9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a:extLst xmlns:a="http://schemas.openxmlformats.org/drawingml/2006/main">
              <a:ext uri="{FF2B5EF4-FFF2-40B4-BE49-F238E27FC236}">
                <a16:creationId xmlns:a16="http://schemas.microsoft.com/office/drawing/2014/main" id="{D8540987-D3DA-4BF8-A846-F407D474B07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a:t>
            </a:r>
          </a:p>
        </p:txBody>
      </p:sp>
      <p:sp>
        <p:nvSpPr>
          <p:cNvPr id="4" name="slide-number">
            <a:extLst xmlns:a="http://schemas.openxmlformats.org/drawingml/2006/main">
              <a:ext uri="{FF2B5EF4-FFF2-40B4-BE49-F238E27FC236}">
                <a16:creationId xmlns:a16="http://schemas.microsoft.com/office/drawing/2014/main" id="{86C0604D-9523-4133-AA36-1B89F5A41EA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F60EBC25-7845-44E9-B3B9-8AF72DD86F8B}"/>
              </a:ext>
            </a:extLst>
          </p:cNvPr>
          <p:cNvSpPr>
            <a:spLocks xmlns:a="http://schemas.openxmlformats.org/drawingml/2006/main" noGrp="1"/>
          </p:cNvSpPr>
          <p:nvPr/>
        </p:nvSpPr>
        <p:spPr>
          <a:xfrm xmlns:a="http://schemas.openxmlformats.org/drawingml/2006/main">
            <a:off x="571500" y="17049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Keramiekcafé">
            <a:extLst xmlns:a="http://schemas.openxmlformats.org/drawingml/2006/main">
              <a:ext uri="{FF2B5EF4-FFF2-40B4-BE49-F238E27FC236}">
                <a16:creationId xmlns:a16="http://schemas.microsoft.com/office/drawing/2014/main" id="{1DE656A3-0E01-430B-AB01-2C33E35B8158}"/>
              </a:ext>
            </a:extLst>
          </p:cNvPr>
          <p:cNvSpPr>
            <a:spLocks xmlns:a="http://schemas.openxmlformats.org/drawingml/2006/main" noGrp="1"/>
          </p:cNvSpPr>
          <p:nvPr/>
        </p:nvSpPr>
        <p:spPr>
          <a:xfrm xmlns:a="http://schemas.openxmlformats.org/drawingml/2006/main">
            <a:off x="571500" y="22669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Keramiekcafé</a:t>
            </a:r>
          </a:p>
        </p:txBody>
      </p:sp>
      <p:graphicFrame>
        <p:nvGraphicFramePr>
          <p:cNvPr id="15" name="Chart"/>
          <p:cNvGraphicFramePr/>
          <p:nvPr/>
        </p:nvGraphicFramePr>
        <p:xfrm>
          <a:off xmlns:a="http://schemas.openxmlformats.org/drawingml/2006/main" x="571500" y="3076575"/>
          <a:ext xmlns:a="http://schemas.openxmlformats.org/drawingml/2006/main" cx="14097000" cy="3667125"/>
        </p:xfrm>
        <a:graphic xmlns:a="http://schemas.openxmlformats.org/drawingml/2006/main">
          <a:graphicData uri="http://schemas.openxmlformats.org/drawingml/2006/chart">
            <c:chart xmlns:r="http://schemas.openxmlformats.org/officeDocument/2006/relationships" xmlns:c="http://schemas.openxmlformats.org/drawingml/2006/chart" r:id="R3c2417ad00634b5f"/>
          </a:graphicData>
        </a:graphic>
      </p:graphicFrame>
      <p:sp>
        <p:nvSpPr>
          <p:cNvPr id="8" name="Prijs: +12,5%        Gevraagde hoeveelheid: −7,5%">
            <a:extLst xmlns:a="http://schemas.openxmlformats.org/drawingml/2006/main">
              <a:ext uri="{FF2B5EF4-FFF2-40B4-BE49-F238E27FC236}">
                <a16:creationId xmlns:a16="http://schemas.microsoft.com/office/drawing/2014/main" id="{D1E96066-FA6A-4AB2-93B5-3126D5079B2D}"/>
              </a:ext>
            </a:extLst>
          </p:cNvPr>
          <p:cNvSpPr>
            <a:spLocks xmlns:a="http://schemas.openxmlformats.org/drawingml/2006/main" noGrp="1"/>
          </p:cNvSpPr>
          <p:nvPr/>
        </p:nvSpPr>
        <p:spPr>
          <a:xfrm xmlns:a="http://schemas.openxmlformats.org/drawingml/2006/main">
            <a:off x="571500" y="717232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Prijs: +12,5%        Gevraagde hoeveelheid: −7,5%</a:t>
            </a:r>
          </a:p>
        </p:txBody>
      </p:sp>
    </p:spTree>
    <p:extLst>
      <p:ext uri="{BB962C8B-B14F-4D97-AF65-F5344CB8AC3E}">
        <p14:creationId xmlns:p14="http://schemas.microsoft.com/office/powerpoint/2010/main" val="8843931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v: hoeveelheidsreactie gedeeld door prijsverandering">
            <a:extLst xmlns:a="http://schemas.openxmlformats.org/drawingml/2006/main">
              <a:ext uri="{FF2B5EF4-FFF2-40B4-BE49-F238E27FC236}">
                <a16:creationId xmlns:a16="http://schemas.microsoft.com/office/drawing/2014/main" id="{9F03B412-4733-43C8-ACC2-F75B34E6F03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Ev: hoeveelheidsreactie gedeeld door prijsverandering</a:t>
            </a:r>
          </a:p>
        </p:txBody>
      </p:sp>
      <p:sp>
        <p:nvSpPr>
          <p:cNvPr id="2" name="">
            <a:extLst xmlns:a="http://schemas.openxmlformats.org/drawingml/2006/main">
              <a:ext uri="{FF2B5EF4-FFF2-40B4-BE49-F238E27FC236}">
                <a16:creationId xmlns:a16="http://schemas.microsoft.com/office/drawing/2014/main" id="{28C4DC48-8E84-45D9-984F-B89AAB38A88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a:extLst xmlns:a="http://schemas.openxmlformats.org/drawingml/2006/main">
              <a:ext uri="{FF2B5EF4-FFF2-40B4-BE49-F238E27FC236}">
                <a16:creationId xmlns:a16="http://schemas.microsoft.com/office/drawing/2014/main" id="{26D4CBA0-6A9E-496E-9539-0DC25CC87EA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a:t>
            </a:r>
          </a:p>
        </p:txBody>
      </p:sp>
      <p:sp>
        <p:nvSpPr>
          <p:cNvPr id="4" name="slide-number">
            <a:extLst xmlns:a="http://schemas.openxmlformats.org/drawingml/2006/main">
              <a:ext uri="{FF2B5EF4-FFF2-40B4-BE49-F238E27FC236}">
                <a16:creationId xmlns:a16="http://schemas.microsoft.com/office/drawing/2014/main" id="{7C0A4199-4D12-4CC1-A83A-2C159A948C8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421F499B-DC04-4C4B-AF9D-D121C08DA0D0}"/>
              </a:ext>
            </a:extLst>
          </p:cNvPr>
          <p:cNvSpPr>
            <a:spLocks xmlns:a="http://schemas.openxmlformats.org/drawingml/2006/main" noGrp="1"/>
          </p:cNvSpPr>
          <p:nvPr/>
        </p:nvSpPr>
        <p:spPr>
          <a:xfrm xmlns:a="http://schemas.openxmlformats.org/drawingml/2006/main">
            <a:off x="571500" y="17049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Keramiekcafé">
            <a:extLst xmlns:a="http://schemas.openxmlformats.org/drawingml/2006/main">
              <a:ext uri="{FF2B5EF4-FFF2-40B4-BE49-F238E27FC236}">
                <a16:creationId xmlns:a16="http://schemas.microsoft.com/office/drawing/2014/main" id="{5B080106-56B1-486D-856D-5577B2CCD23C}"/>
              </a:ext>
            </a:extLst>
          </p:cNvPr>
          <p:cNvSpPr>
            <a:spLocks xmlns:a="http://schemas.openxmlformats.org/drawingml/2006/main" noGrp="1"/>
          </p:cNvSpPr>
          <p:nvPr/>
        </p:nvSpPr>
        <p:spPr>
          <a:xfrm xmlns:a="http://schemas.openxmlformats.org/drawingml/2006/main">
            <a:off x="571500" y="22669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Keramiekcafé</a:t>
            </a:r>
          </a:p>
        </p:txBody>
      </p:sp>
      <p:sp>
        <p:nvSpPr>
          <p:cNvPr id="7" name="Ev = %ΔQv / %ΔP">
            <a:extLst xmlns:a="http://schemas.openxmlformats.org/drawingml/2006/main">
              <a:ext uri="{FF2B5EF4-FFF2-40B4-BE49-F238E27FC236}">
                <a16:creationId xmlns:a16="http://schemas.microsoft.com/office/drawing/2014/main" id="{18FE7A5A-5AEA-4A69-BFDD-DBF56A0A850F}"/>
              </a:ext>
            </a:extLst>
          </p:cNvPr>
          <p:cNvSpPr>
            <a:spLocks xmlns:a="http://schemas.openxmlformats.org/drawingml/2006/main" noGrp="1"/>
          </p:cNvSpPr>
          <p:nvPr/>
        </p:nvSpPr>
        <p:spPr>
          <a:xfrm xmlns:a="http://schemas.openxmlformats.org/drawingml/2006/main">
            <a:off x="571500" y="307657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Ev = %ΔQv / %ΔP</a:t>
            </a:r>
          </a:p>
        </p:txBody>
      </p:sp>
      <p:sp>
        <p:nvSpPr>
          <p:cNvPr id="8" name="Ev = −7,5% / +12,5% = −0,6">
            <a:extLst xmlns:a="http://schemas.openxmlformats.org/drawingml/2006/main">
              <a:ext uri="{FF2B5EF4-FFF2-40B4-BE49-F238E27FC236}">
                <a16:creationId xmlns:a16="http://schemas.microsoft.com/office/drawing/2014/main" id="{6EA2D8BA-B84E-43D1-9515-2C921A9EE28E}"/>
              </a:ext>
            </a:extLst>
          </p:cNvPr>
          <p:cNvSpPr>
            <a:spLocks xmlns:a="http://schemas.openxmlformats.org/drawingml/2006/main" noGrp="1"/>
          </p:cNvSpPr>
          <p:nvPr/>
        </p:nvSpPr>
        <p:spPr>
          <a:xfrm xmlns:a="http://schemas.openxmlformats.org/drawingml/2006/main">
            <a:off x="571500" y="423862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183247"/>
                </a:solidFill>
                <a:latin typeface="Arial"/>
                <a:ea typeface="Arial"/>
                <a:cs typeface="Arial"/>
              </a:defRPr>
            </a:pPr>
            <a:r>
              <a:rPr sz="4200" b="1">
                <a:solidFill>
                  <a:srgbClr val="183247"/>
                </a:solidFill>
                <a:latin typeface="Arial"/>
                <a:ea typeface="Arial"/>
                <a:cs typeface="Arial"/>
              </a:rPr>
              <a:t>Ev = −7,5% / +12,5% = −0,6</a:t>
            </a:r>
          </a:p>
        </p:txBody>
      </p:sp>
      <p:sp>
        <p:nvSpPr>
          <p:cNvPr id="9" name="">
            <a:extLst xmlns:a="http://schemas.openxmlformats.org/drawingml/2006/main">
              <a:ext uri="{FF2B5EF4-FFF2-40B4-BE49-F238E27FC236}">
                <a16:creationId xmlns:a16="http://schemas.microsoft.com/office/drawing/2014/main" id="{8721E502-07E6-4B10-9E8F-667C9A03888C}"/>
              </a:ext>
            </a:extLst>
          </p:cNvPr>
          <p:cNvSpPr>
            <a:spLocks xmlns:a="http://schemas.openxmlformats.org/drawingml/2006/main" noGrp="1"/>
          </p:cNvSpPr>
          <p:nvPr/>
        </p:nvSpPr>
        <p:spPr>
          <a:xfrm xmlns:a="http://schemas.openxmlformats.org/drawingml/2006/main">
            <a:off x="571500" y="5429250"/>
            <a:ext cx="14097000" cy="0"/>
          </a:xfrm>
          <a:prstGeom xmlns:a="http://schemas.openxmlformats.org/drawingml/2006/main" prst="line">
            <a:avLst/>
          </a:prstGeom>
          <a:ln xmlns:a="http://schemas.openxmlformats.org/drawingml/2006/main" w="19050">
            <a:solidFill>
              <a:srgbClr val="C6D2DB"/>
            </a:solidFill>
          </a:ln>
        </p:spPr>
      </p:sp>
      <p:sp>
        <p:nvSpPr>
          <p:cNvPr id="10" name="De hoeveelheidsdaling is 0,6 maal de prijsstijging, in ">
            <a:extLst xmlns:a="http://schemas.openxmlformats.org/drawingml/2006/main">
              <a:ext uri="{FF2B5EF4-FFF2-40B4-BE49-F238E27FC236}">
                <a16:creationId xmlns:a16="http://schemas.microsoft.com/office/drawing/2014/main" id="{AC28F3AB-A3D7-442A-8544-9BD8E374BC3A}"/>
              </a:ext>
            </a:extLst>
          </p:cNvPr>
          <p:cNvSpPr>
            <a:spLocks xmlns:a="http://schemas.openxmlformats.org/drawingml/2006/main" noGrp="1"/>
          </p:cNvSpPr>
          <p:nvPr/>
        </p:nvSpPr>
        <p:spPr>
          <a:xfrm xmlns:a="http://schemas.openxmlformats.org/drawingml/2006/main">
            <a:off x="571500" y="5934075"/>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De hoeveelheidsdaling is 0,6 maal de prijsstijging, in procenten.</a:t>
            </a:r>
          </a:p>
        </p:txBody>
      </p:sp>
      <p:sp>
        <p:nvSpPr>
          <p:cNvPr id="11" name="Ev heeft geen eenheid en geen procentteken.">
            <a:extLst xmlns:a="http://schemas.openxmlformats.org/drawingml/2006/main">
              <a:ext uri="{FF2B5EF4-FFF2-40B4-BE49-F238E27FC236}">
                <a16:creationId xmlns:a16="http://schemas.microsoft.com/office/drawing/2014/main" id="{995BB666-1591-4C12-8D8A-4CEC845E2E5D}"/>
              </a:ext>
            </a:extLst>
          </p:cNvPr>
          <p:cNvSpPr>
            <a:spLocks xmlns:a="http://schemas.openxmlformats.org/drawingml/2006/main" noGrp="1"/>
          </p:cNvSpPr>
          <p:nvPr/>
        </p:nvSpPr>
        <p:spPr>
          <a:xfrm xmlns:a="http://schemas.openxmlformats.org/drawingml/2006/main">
            <a:off x="571500" y="736282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Ev heeft geen eenheid en geen procentteken.</a:t>
            </a:r>
          </a:p>
        </p:txBody>
      </p:sp>
    </p:spTree>
    <p:extLst>
      <p:ext uri="{BB962C8B-B14F-4D97-AF65-F5344CB8AC3E}">
        <p14:creationId xmlns:p14="http://schemas.microsoft.com/office/powerpoint/2010/main" val="16327287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e vraag indelen met Ev">
            <a:extLst xmlns:a="http://schemas.openxmlformats.org/drawingml/2006/main">
              <a:ext uri="{FF2B5EF4-FFF2-40B4-BE49-F238E27FC236}">
                <a16:creationId xmlns:a16="http://schemas.microsoft.com/office/drawing/2014/main" id="{A710001A-0869-4D26-862E-870D4DEBD3A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vraag indelen met Ev</a:t>
            </a:r>
          </a:p>
        </p:txBody>
      </p:sp>
      <p:sp>
        <p:nvSpPr>
          <p:cNvPr id="2" name="">
            <a:extLst xmlns:a="http://schemas.openxmlformats.org/drawingml/2006/main">
              <a:ext uri="{FF2B5EF4-FFF2-40B4-BE49-F238E27FC236}">
                <a16:creationId xmlns:a16="http://schemas.microsoft.com/office/drawing/2014/main" id="{D30B3DFE-EA24-407D-99F2-4BD546DBC5C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a:extLst xmlns:a="http://schemas.openxmlformats.org/drawingml/2006/main">
              <a:ext uri="{FF2B5EF4-FFF2-40B4-BE49-F238E27FC236}">
                <a16:creationId xmlns:a16="http://schemas.microsoft.com/office/drawing/2014/main" id="{DDE6A55F-B648-4CAA-BFAA-4BCF5E0E5C4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a:t>
            </a:r>
          </a:p>
        </p:txBody>
      </p:sp>
      <p:sp>
        <p:nvSpPr>
          <p:cNvPr id="4" name="slide-number">
            <a:extLst xmlns:a="http://schemas.openxmlformats.org/drawingml/2006/main">
              <a:ext uri="{FF2B5EF4-FFF2-40B4-BE49-F238E27FC236}">
                <a16:creationId xmlns:a16="http://schemas.microsoft.com/office/drawing/2014/main" id="{8B16BD7F-F6E5-47B9-B7E3-8684C6F1D0C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graphicFrame>
        <p:nvGraphicFramePr>
          <p:cNvPr id="11" name=""/>
          <p:cNvGraphicFramePr/>
          <p:nvPr/>
        </p:nvGraphicFramePr>
        <p:xfrm>
          <a:off xmlns:a="http://schemas.openxmlformats.org/drawingml/2006/main" x="571500" y="2028825"/>
          <a:ext xmlns:a="http://schemas.openxmlformats.org/drawingml/2006/main" cx="14097000" cy="4457700"/>
        </p:xfrm>
        <a:graphic xmlns:a="http://schemas.openxmlformats.org/drawingml/2006/main">
          <a:graphicData uri="http://schemas.openxmlformats.org/drawingml/2006/table">
            <a:tbl>
              <a:tblPr/>
              <a:tblGrid>
                <a:gridCol w="3143250"/>
                <a:gridCol w="4572000"/>
                <a:gridCol w="6381750"/>
              </a:tblGrid>
              <a:tr h="891540">
                <a:tc>
                  <a:txBody>
                    <a:bodyPr lIns="171450" tIns="95250" rIns="152400" bIns="95250"/>
                    <a:lstStyle/>
                    <a:p>
                      <a:r>
                        <a:rPr sz="2400" b="1">
                          <a:solidFill>
                            <a:srgbClr val="FFFFFF"/>
                          </a:solidFill>
                          <a:latin typeface="Arial"/>
                          <a:ea typeface="Arial"/>
                          <a:cs typeface="Arial"/>
                        </a:rPr>
                        <a:t>Waarde van Ev</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Indeling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Reactie Qv ten opzichte van P</a:t>
                      </a:r>
                    </a:p>
                  </a:txBody>
                  <a:tcPr marL="91440" marR="91440" marT="45720" marB="45720" anchor="ctr">
                    <a:solidFill>
                      <a:srgbClr val="183247"/>
                    </a:solidFill>
                  </a:tcPr>
                </a:tc>
              </a:tr>
              <a:tr h="891540">
                <a:tc>
                  <a:txBody>
                    <a:bodyPr lIns="171450" tIns="95250" rIns="152400" bIns="95250"/>
                    <a:lstStyle/>
                    <a:p>
                      <a:r>
                        <a:rPr sz="2400" b="0">
                          <a:solidFill>
                            <a:srgbClr val="183247"/>
                          </a:solidFill>
                          <a:latin typeface="Arial"/>
                          <a:ea typeface="Arial"/>
                          <a:cs typeface="Arial"/>
                        </a:rPr>
                        <a:t>−1 &lt; Ev &lt; 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Prijsinelastisch</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Procentueel minder sterk</a:t>
                      </a:r>
                    </a:p>
                  </a:txBody>
                  <a:tcPr marL="91440" marR="91440" marT="45720" marB="45720" anchor="ctr">
                    <a:solidFill>
                      <a:srgbClr val="FFFFFF"/>
                    </a:solidFill>
                  </a:tcPr>
                </a:tc>
              </a:tr>
              <a:tr h="891540">
                <a:tc>
                  <a:txBody>
                    <a:bodyPr lIns="171450" tIns="95250" rIns="152400" bIns="95250"/>
                    <a:lstStyle/>
                    <a:p>
                      <a:r>
                        <a:rPr sz="2400" b="0">
                          <a:solidFill>
                            <a:srgbClr val="183247"/>
                          </a:solidFill>
                          <a:latin typeface="Arial"/>
                          <a:ea typeface="Arial"/>
                          <a:cs typeface="Arial"/>
                        </a:rPr>
                        <a:t>Ev = −1</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Unitair elastisch</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Procentueel even sterk</a:t>
                      </a:r>
                    </a:p>
                  </a:txBody>
                  <a:tcPr marL="91440" marR="91440" marT="45720" marB="45720" anchor="ctr">
                    <a:solidFill>
                      <a:srgbClr val="EFF4F7"/>
                    </a:solidFill>
                  </a:tcPr>
                </a:tc>
              </a:tr>
              <a:tr h="891540">
                <a:tc>
                  <a:txBody>
                    <a:bodyPr lIns="171450" tIns="95250" rIns="152400" bIns="95250"/>
                    <a:lstStyle/>
                    <a:p>
                      <a:r>
                        <a:rPr sz="2400" b="0">
                          <a:solidFill>
                            <a:srgbClr val="183247"/>
                          </a:solidFill>
                          <a:latin typeface="Arial"/>
                          <a:ea typeface="Arial"/>
                          <a:cs typeface="Arial"/>
                        </a:rPr>
                        <a:t>Ev &lt; −1</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Prijselastisch</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Procentueel sterker</a:t>
                      </a:r>
                    </a:p>
                  </a:txBody>
                  <a:tcPr marL="91440" marR="91440" marT="45720" marB="45720" anchor="ctr">
                    <a:solidFill>
                      <a:srgbClr val="FFFFFF"/>
                    </a:solidFill>
                  </a:tcPr>
                </a:tc>
              </a:tr>
              <a:tr h="891540">
                <a:tc>
                  <a:txBody>
                    <a:bodyPr lIns="171450" tIns="95250" rIns="152400" bIns="95250"/>
                    <a:lstStyle/>
                    <a:p>
                      <a:r>
                        <a:rPr sz="2400" b="0">
                          <a:solidFill>
                            <a:srgbClr val="183247"/>
                          </a:solidFill>
                          <a:latin typeface="Arial"/>
                          <a:ea typeface="Arial"/>
                          <a:cs typeface="Arial"/>
                        </a:rPr>
                        <a:t>Ev = 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Volkomen prijsinelastisch</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Qv verandert niet</a:t>
                      </a:r>
                    </a:p>
                  </a:txBody>
                  <a:tcPr marL="91440" marR="91440" marT="45720" marB="45720" anchor="ctr">
                    <a:solidFill>
                      <a:srgbClr val="EFF4F7"/>
                    </a:solidFill>
                  </a:tcPr>
                </a:tc>
              </a:tr>
            </a:tbl>
          </a:graphicData>
        </a:graphic>
      </p:graphicFrame>
      <p:sp>
        <p:nvSpPr>
          <p:cNvPr id="6" name="−1 &lt; −0,6 &lt; 0: prijsinelastisch">
            <a:extLst xmlns:a="http://schemas.openxmlformats.org/drawingml/2006/main">
              <a:ext uri="{FF2B5EF4-FFF2-40B4-BE49-F238E27FC236}">
                <a16:creationId xmlns:a16="http://schemas.microsoft.com/office/drawing/2014/main" id="{B42B331C-8E85-4AD4-8472-99DAA74B4788}"/>
              </a:ext>
            </a:extLst>
          </p:cNvPr>
          <p:cNvSpPr>
            <a:spLocks xmlns:a="http://schemas.openxmlformats.org/drawingml/2006/main" noGrp="1"/>
          </p:cNvSpPr>
          <p:nvPr/>
        </p:nvSpPr>
        <p:spPr>
          <a:xfrm xmlns:a="http://schemas.openxmlformats.org/drawingml/2006/main">
            <a:off x="571500" y="709612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−1 &lt; −0,6 &lt; 0: prijsinelastisch</a:t>
            </a:r>
          </a:p>
        </p:txBody>
      </p:sp>
    </p:spTree>
    <p:extLst>
      <p:ext uri="{BB962C8B-B14F-4D97-AF65-F5344CB8AC3E}">
        <p14:creationId xmlns:p14="http://schemas.microsoft.com/office/powerpoint/2010/main" val="16286303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rijsgevoeligheid vergelijken">
            <a:extLst xmlns:a="http://schemas.openxmlformats.org/drawingml/2006/main">
              <a:ext uri="{FF2B5EF4-FFF2-40B4-BE49-F238E27FC236}">
                <a16:creationId xmlns:a16="http://schemas.microsoft.com/office/drawing/2014/main" id="{F52D7762-6D75-4947-85E4-33ED0FA9330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Prijsgevoeligheid vergelijken</a:t>
            </a:r>
          </a:p>
        </p:txBody>
      </p:sp>
      <p:sp>
        <p:nvSpPr>
          <p:cNvPr id="2" name="">
            <a:extLst xmlns:a="http://schemas.openxmlformats.org/drawingml/2006/main">
              <a:ext uri="{FF2B5EF4-FFF2-40B4-BE49-F238E27FC236}">
                <a16:creationId xmlns:a16="http://schemas.microsoft.com/office/drawing/2014/main" id="{73BACAF9-DC07-44E3-AFE0-C157D62B55D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a:extLst xmlns:a="http://schemas.openxmlformats.org/drawingml/2006/main">
              <a:ext uri="{FF2B5EF4-FFF2-40B4-BE49-F238E27FC236}">
                <a16:creationId xmlns:a16="http://schemas.microsoft.com/office/drawing/2014/main" id="{5EE3605D-FD54-49A2-981C-3EBE203163B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a:t>
            </a:r>
          </a:p>
        </p:txBody>
      </p:sp>
      <p:sp>
        <p:nvSpPr>
          <p:cNvPr id="4" name="slide-number">
            <a:extLst xmlns:a="http://schemas.openxmlformats.org/drawingml/2006/main">
              <a:ext uri="{FF2B5EF4-FFF2-40B4-BE49-F238E27FC236}">
                <a16:creationId xmlns:a16="http://schemas.microsoft.com/office/drawing/2014/main" id="{04577E84-010F-4A21-92FF-B4965FE4141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E206B103-965E-4BC8-9059-9B87343665F5}"/>
              </a:ext>
            </a:extLst>
          </p:cNvPr>
          <p:cNvSpPr>
            <a:spLocks xmlns:a="http://schemas.openxmlformats.org/drawingml/2006/main" noGrp="1"/>
          </p:cNvSpPr>
          <p:nvPr/>
        </p:nvSpPr>
        <p:spPr>
          <a:xfrm xmlns:a="http://schemas.openxmlformats.org/drawingml/2006/main">
            <a:off x="571500" y="17049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Keramiekcafé en Fotoworkshop">
            <a:extLst xmlns:a="http://schemas.openxmlformats.org/drawingml/2006/main">
              <a:ext uri="{FF2B5EF4-FFF2-40B4-BE49-F238E27FC236}">
                <a16:creationId xmlns:a16="http://schemas.microsoft.com/office/drawing/2014/main" id="{7DE54C43-2489-4562-BFDE-02C4F782BE76}"/>
              </a:ext>
            </a:extLst>
          </p:cNvPr>
          <p:cNvSpPr>
            <a:spLocks xmlns:a="http://schemas.openxmlformats.org/drawingml/2006/main" noGrp="1"/>
          </p:cNvSpPr>
          <p:nvPr/>
        </p:nvSpPr>
        <p:spPr>
          <a:xfrm xmlns:a="http://schemas.openxmlformats.org/drawingml/2006/main">
            <a:off x="571500" y="22669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Keramiekcafé en Fotoworkshop</a:t>
            </a:r>
          </a:p>
        </p:txBody>
      </p:sp>
      <p:graphicFrame>
        <p:nvGraphicFramePr>
          <p:cNvPr id="16" name=""/>
          <p:cNvGraphicFramePr/>
          <p:nvPr/>
        </p:nvGraphicFramePr>
        <p:xfrm>
          <a:off xmlns:a="http://schemas.openxmlformats.org/drawingml/2006/main" x="571500" y="3095625"/>
          <a:ext xmlns:a="http://schemas.openxmlformats.org/drawingml/2006/main" cx="14097000" cy="2676525"/>
        </p:xfrm>
        <a:graphic xmlns:a="http://schemas.openxmlformats.org/drawingml/2006/main">
          <a:graphicData uri="http://schemas.openxmlformats.org/drawingml/2006/table">
            <a:tbl>
              <a:tblPr/>
              <a:tblGrid>
                <a:gridCol w="4381500"/>
                <a:gridCol w="1714500"/>
                <a:gridCol w="3714750"/>
                <a:gridCol w="4286250"/>
              </a:tblGrid>
              <a:tr h="892175">
                <a:tc>
                  <a:txBody>
                    <a:bodyPr lIns="171450" tIns="95250" rIns="152400" bIns="95250"/>
                    <a:lstStyle/>
                    <a:p>
                      <a:r>
                        <a:rPr sz="2400" b="1">
                          <a:solidFill>
                            <a:srgbClr val="FFFFFF"/>
                          </a:solidFill>
                          <a:latin typeface="Arial"/>
                          <a:ea typeface="Arial"/>
                          <a:cs typeface="Arial"/>
                        </a:rPr>
                        <a:t>Aanbieder</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Ev</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Vergelijking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Indeling</a:t>
                      </a:r>
                    </a:p>
                  </a:txBody>
                  <a:tcPr marL="91440" marR="91440" marT="45720" marB="45720" anchor="ctr">
                    <a:solidFill>
                      <a:srgbClr val="183247"/>
                    </a:solidFill>
                  </a:tcPr>
                </a:tc>
              </a:tr>
              <a:tr h="892175">
                <a:tc>
                  <a:txBody>
                    <a:bodyPr lIns="171450" tIns="95250" rIns="152400" bIns="95250"/>
                    <a:lstStyle/>
                    <a:p>
                      <a:r>
                        <a:rPr sz="2400" b="0">
                          <a:solidFill>
                            <a:srgbClr val="183247"/>
                          </a:solidFill>
                          <a:latin typeface="Arial"/>
                          <a:ea typeface="Arial"/>
                          <a:cs typeface="Arial"/>
                        </a:rPr>
                        <a:t>Keramiekcafé</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−0,6</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 &lt; −0,6 &lt; 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Prijsinelastisch</a:t>
                      </a:r>
                    </a:p>
                  </a:txBody>
                  <a:tcPr marL="91440" marR="91440" marT="45720" marB="45720" anchor="ctr">
                    <a:solidFill>
                      <a:srgbClr val="FFFFFF"/>
                    </a:solidFill>
                  </a:tcPr>
                </a:tc>
              </a:tr>
              <a:tr h="892175">
                <a:tc>
                  <a:txBody>
                    <a:bodyPr lIns="171450" tIns="95250" rIns="152400" bIns="95250"/>
                    <a:lstStyle/>
                    <a:p>
                      <a:r>
                        <a:rPr sz="2400" b="0">
                          <a:solidFill>
                            <a:srgbClr val="183247"/>
                          </a:solidFill>
                          <a:latin typeface="Arial"/>
                          <a:ea typeface="Arial"/>
                          <a:cs typeface="Arial"/>
                        </a:rPr>
                        <a:t>Fotoworkshop</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−1,8</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−1,8 &lt; −1</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Prijselastisch</a:t>
                      </a:r>
                    </a:p>
                  </a:txBody>
                  <a:tcPr marL="91440" marR="91440" marT="45720" marB="45720" anchor="ctr">
                    <a:solidFill>
                      <a:srgbClr val="EFF4F7"/>
                    </a:solidFill>
                  </a:tcPr>
                </a:tc>
              </a:tr>
            </a:tbl>
          </a:graphicData>
        </a:graphic>
      </p:graphicFrame>
      <p:sp>
        <p:nvSpPr>
          <p:cNvPr id="8" name="Bij Fotoworkshop reageert Qv procentueel sterker op P.">
            <a:extLst xmlns:a="http://schemas.openxmlformats.org/drawingml/2006/main">
              <a:ext uri="{FF2B5EF4-FFF2-40B4-BE49-F238E27FC236}">
                <a16:creationId xmlns:a16="http://schemas.microsoft.com/office/drawing/2014/main" id="{331E5053-23FE-49CC-B5A6-8B2A6F943873}"/>
              </a:ext>
            </a:extLst>
          </p:cNvPr>
          <p:cNvSpPr>
            <a:spLocks xmlns:a="http://schemas.openxmlformats.org/drawingml/2006/main" noGrp="1"/>
          </p:cNvSpPr>
          <p:nvPr/>
        </p:nvSpPr>
        <p:spPr>
          <a:xfrm xmlns:a="http://schemas.openxmlformats.org/drawingml/2006/main">
            <a:off x="571500" y="62674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20665B"/>
                </a:solidFill>
                <a:latin typeface="Arial"/>
                <a:ea typeface="Arial"/>
                <a:cs typeface="Arial"/>
              </a:defRPr>
            </a:pPr>
            <a:r>
              <a:rPr sz="3075" b="1">
                <a:solidFill>
                  <a:srgbClr val="20665B"/>
                </a:solidFill>
                <a:latin typeface="Arial"/>
                <a:ea typeface="Arial"/>
                <a:cs typeface="Arial"/>
              </a:rPr>
              <a:t>Bij Fotoworkshop reageert Qv procentueel sterker op P.</a:t>
            </a:r>
          </a:p>
        </p:txBody>
      </p:sp>
      <p:sp>
        <p:nvSpPr>
          <p:cNvPr id="9" name="Gemiddeld per 1% prijsstijging: 1,8% tegenover 0,6% dal">
            <a:extLst xmlns:a="http://schemas.openxmlformats.org/drawingml/2006/main">
              <a:ext uri="{FF2B5EF4-FFF2-40B4-BE49-F238E27FC236}">
                <a16:creationId xmlns:a16="http://schemas.microsoft.com/office/drawing/2014/main" id="{EA1A4C95-D007-494D-840E-E0F90B60DB86}"/>
              </a:ext>
            </a:extLst>
          </p:cNvPr>
          <p:cNvSpPr>
            <a:spLocks xmlns:a="http://schemas.openxmlformats.org/drawingml/2006/main" noGrp="1"/>
          </p:cNvSpPr>
          <p:nvPr/>
        </p:nvSpPr>
        <p:spPr>
          <a:xfrm xmlns:a="http://schemas.openxmlformats.org/drawingml/2006/main">
            <a:off x="571500" y="7381875"/>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Gemiddeld per 1% prijsstijging: 1,8% tegenover 0,6% daling.</a:t>
            </a:r>
          </a:p>
        </p:txBody>
      </p:sp>
    </p:spTree>
    <p:extLst>
      <p:ext uri="{BB962C8B-B14F-4D97-AF65-F5344CB8AC3E}">
        <p14:creationId xmlns:p14="http://schemas.microsoft.com/office/powerpoint/2010/main" val="174997908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en mogelijke verklaring voor het verschil">
            <a:extLst xmlns:a="http://schemas.openxmlformats.org/drawingml/2006/main">
              <a:ext uri="{FF2B5EF4-FFF2-40B4-BE49-F238E27FC236}">
                <a16:creationId xmlns:a16="http://schemas.microsoft.com/office/drawing/2014/main" id="{E2EFBD7D-51FC-4DD8-A1C1-81A6DA2A6D6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mogelijke verklaring voor het verschil</a:t>
            </a:r>
          </a:p>
        </p:txBody>
      </p:sp>
      <p:sp>
        <p:nvSpPr>
          <p:cNvPr id="2" name="">
            <a:extLst xmlns:a="http://schemas.openxmlformats.org/drawingml/2006/main">
              <a:ext uri="{FF2B5EF4-FFF2-40B4-BE49-F238E27FC236}">
                <a16:creationId xmlns:a16="http://schemas.microsoft.com/office/drawing/2014/main" id="{F8A63FF3-01AC-429E-AE26-1D9A71E0428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a:extLst xmlns:a="http://schemas.openxmlformats.org/drawingml/2006/main">
              <a:ext uri="{FF2B5EF4-FFF2-40B4-BE49-F238E27FC236}">
                <a16:creationId xmlns:a16="http://schemas.microsoft.com/office/drawing/2014/main" id="{5092FAB1-FE92-45C1-ABF0-F88F65E9D58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a:t>
            </a:r>
          </a:p>
        </p:txBody>
      </p:sp>
      <p:sp>
        <p:nvSpPr>
          <p:cNvPr id="4" name="slide-number">
            <a:extLst xmlns:a="http://schemas.openxmlformats.org/drawingml/2006/main">
              <a:ext uri="{FF2B5EF4-FFF2-40B4-BE49-F238E27FC236}">
                <a16:creationId xmlns:a16="http://schemas.microsoft.com/office/drawing/2014/main" id="{E2425289-F8BB-4285-82EE-34FB7566DE1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0ECAD878-6FA5-49FF-8323-13142F0CFCE1}"/>
              </a:ext>
            </a:extLst>
          </p:cNvPr>
          <p:cNvSpPr>
            <a:spLocks xmlns:a="http://schemas.openxmlformats.org/drawingml/2006/main" noGrp="1"/>
          </p:cNvSpPr>
          <p:nvPr/>
        </p:nvSpPr>
        <p:spPr>
          <a:xfrm xmlns:a="http://schemas.openxmlformats.org/drawingml/2006/main">
            <a:off x="571500" y="17049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Fotoworkshop: Ev = −1,8 · Keramiekcafé: Ev = −0,6">
            <a:extLst xmlns:a="http://schemas.openxmlformats.org/drawingml/2006/main">
              <a:ext uri="{FF2B5EF4-FFF2-40B4-BE49-F238E27FC236}">
                <a16:creationId xmlns:a16="http://schemas.microsoft.com/office/drawing/2014/main" id="{0B0F6EE2-A948-4359-ACB0-2944BD00576F}"/>
              </a:ext>
            </a:extLst>
          </p:cNvPr>
          <p:cNvSpPr>
            <a:spLocks xmlns:a="http://schemas.openxmlformats.org/drawingml/2006/main" noGrp="1"/>
          </p:cNvSpPr>
          <p:nvPr/>
        </p:nvSpPr>
        <p:spPr>
          <a:xfrm xmlns:a="http://schemas.openxmlformats.org/drawingml/2006/main">
            <a:off x="571500" y="22669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Fotoworkshop: Ev = −1,8 · Keramiekcafé: Ev = −0,6</a:t>
            </a:r>
          </a:p>
        </p:txBody>
      </p:sp>
      <p:sp>
        <p:nvSpPr>
          <p:cNvPr id="7" name="Mogelijke reden">
            <a:extLst xmlns:a="http://schemas.openxmlformats.org/drawingml/2006/main">
              <a:ext uri="{FF2B5EF4-FFF2-40B4-BE49-F238E27FC236}">
                <a16:creationId xmlns:a16="http://schemas.microsoft.com/office/drawing/2014/main" id="{80A1BA13-AC0F-4E5E-AF50-C304A42349CD}"/>
              </a:ext>
            </a:extLst>
          </p:cNvPr>
          <p:cNvSpPr>
            <a:spLocks xmlns:a="http://schemas.openxmlformats.org/drawingml/2006/main" noGrp="1"/>
          </p:cNvSpPr>
          <p:nvPr/>
        </p:nvSpPr>
        <p:spPr>
          <a:xfrm xmlns:a="http://schemas.openxmlformats.org/drawingml/2006/main">
            <a:off x="571500" y="3171825"/>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Mogelijke reden</a:t>
            </a:r>
          </a:p>
        </p:txBody>
      </p:sp>
      <p:sp>
        <p:nvSpPr>
          <p:cNvPr id="8" name="Bij Fotoworkshop is een ander uitje&#10;mogelijk makkelijke">
            <a:extLst xmlns:a="http://schemas.openxmlformats.org/drawingml/2006/main">
              <a:ext uri="{FF2B5EF4-FFF2-40B4-BE49-F238E27FC236}">
                <a16:creationId xmlns:a16="http://schemas.microsoft.com/office/drawing/2014/main" id="{ECAAAFE7-2F3B-4A4B-A705-C0E749ED3A7B}"/>
              </a:ext>
            </a:extLst>
          </p:cNvPr>
          <p:cNvSpPr>
            <a:spLocks xmlns:a="http://schemas.openxmlformats.org/drawingml/2006/main" noGrp="1"/>
          </p:cNvSpPr>
          <p:nvPr/>
        </p:nvSpPr>
        <p:spPr>
          <a:xfrm xmlns:a="http://schemas.openxmlformats.org/drawingml/2006/main">
            <a:off x="5095875" y="3171825"/>
            <a:ext cx="9525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Bij Fotoworkshop is een ander uitje</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mogelijk makkelijker te kiezen.</a:t>
            </a:r>
          </a:p>
        </p:txBody>
      </p:sp>
      <p:sp>
        <p:nvSpPr>
          <p:cNvPr id="9" name="">
            <a:extLst xmlns:a="http://schemas.openxmlformats.org/drawingml/2006/main">
              <a:ext uri="{FF2B5EF4-FFF2-40B4-BE49-F238E27FC236}">
                <a16:creationId xmlns:a16="http://schemas.microsoft.com/office/drawing/2014/main" id="{29C3EB08-2EFE-4E83-80A1-CE21CE932343}"/>
              </a:ext>
            </a:extLst>
          </p:cNvPr>
          <p:cNvSpPr>
            <a:spLocks xmlns:a="http://schemas.openxmlformats.org/drawingml/2006/main" noGrp="1"/>
          </p:cNvSpPr>
          <p:nvPr/>
        </p:nvSpPr>
        <p:spPr>
          <a:xfrm xmlns:a="http://schemas.openxmlformats.org/drawingml/2006/main">
            <a:off x="571500" y="4810125"/>
            <a:ext cx="14097000" cy="0"/>
          </a:xfrm>
          <a:prstGeom xmlns:a="http://schemas.openxmlformats.org/drawingml/2006/main" prst="line">
            <a:avLst/>
          </a:prstGeom>
          <a:ln xmlns:a="http://schemas.openxmlformats.org/drawingml/2006/main" w="19050">
            <a:solidFill>
              <a:srgbClr val="C6D2DB"/>
            </a:solidFill>
          </a:ln>
        </p:spPr>
      </p:sp>
      <p:sp>
        <p:nvSpPr>
          <p:cNvPr id="10" name="Economische redenering">
            <a:extLst xmlns:a="http://schemas.openxmlformats.org/drawingml/2006/main">
              <a:ext uri="{FF2B5EF4-FFF2-40B4-BE49-F238E27FC236}">
                <a16:creationId xmlns:a16="http://schemas.microsoft.com/office/drawing/2014/main" id="{7881A0C7-582C-4750-ADEA-0E9C319CA36B}"/>
              </a:ext>
            </a:extLst>
          </p:cNvPr>
          <p:cNvSpPr>
            <a:spLocks xmlns:a="http://schemas.openxmlformats.org/drawingml/2006/main" noGrp="1"/>
          </p:cNvSpPr>
          <p:nvPr/>
        </p:nvSpPr>
        <p:spPr>
          <a:xfrm xmlns:a="http://schemas.openxmlformats.org/drawingml/2006/main">
            <a:off x="571500" y="5286375"/>
            <a:ext cx="4191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Economische redenering</a:t>
            </a:r>
          </a:p>
        </p:txBody>
      </p:sp>
      <p:sp>
        <p:nvSpPr>
          <p:cNvPr id="11" name="Meer uitwijkmogelijkheden kunnen de procentuele&#10;hoeveel">
            <a:extLst xmlns:a="http://schemas.openxmlformats.org/drawingml/2006/main">
              <a:ext uri="{FF2B5EF4-FFF2-40B4-BE49-F238E27FC236}">
                <a16:creationId xmlns:a16="http://schemas.microsoft.com/office/drawing/2014/main" id="{65E156F8-9CC1-49C4-9AD0-3C759E1117F2}"/>
              </a:ext>
            </a:extLst>
          </p:cNvPr>
          <p:cNvSpPr>
            <a:spLocks xmlns:a="http://schemas.openxmlformats.org/drawingml/2006/main" noGrp="1"/>
          </p:cNvSpPr>
          <p:nvPr/>
        </p:nvSpPr>
        <p:spPr>
          <a:xfrm xmlns:a="http://schemas.openxmlformats.org/drawingml/2006/main">
            <a:off x="5095875" y="5286375"/>
            <a:ext cx="95250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Meer uitwijkmogelijkheden kunnen de procentuele</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hoeveelheidsreactie op een hogere prijs versterken.</a:t>
            </a:r>
          </a:p>
        </p:txBody>
      </p:sp>
      <p:sp>
        <p:nvSpPr>
          <p:cNvPr id="12" name="De elasticiteiten alleen bewijzen deze oorzaak niet.">
            <a:extLst xmlns:a="http://schemas.openxmlformats.org/drawingml/2006/main">
              <a:ext uri="{FF2B5EF4-FFF2-40B4-BE49-F238E27FC236}">
                <a16:creationId xmlns:a16="http://schemas.microsoft.com/office/drawing/2014/main" id="{11861506-470A-45B2-9BCD-6F68E5158499}"/>
              </a:ext>
            </a:extLst>
          </p:cNvPr>
          <p:cNvSpPr>
            <a:spLocks xmlns:a="http://schemas.openxmlformats.org/drawingml/2006/main" noGrp="1"/>
          </p:cNvSpPr>
          <p:nvPr/>
        </p:nvSpPr>
        <p:spPr>
          <a:xfrm xmlns:a="http://schemas.openxmlformats.org/drawingml/2006/main">
            <a:off x="571500" y="728662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De elasticiteiten alleen bewijzen deze oorzaak niet.</a:t>
            </a:r>
          </a:p>
        </p:txBody>
      </p:sp>
    </p:spTree>
    <p:extLst>
      <p:ext uri="{BB962C8B-B14F-4D97-AF65-F5344CB8AC3E}">
        <p14:creationId xmlns:p14="http://schemas.microsoft.com/office/powerpoint/2010/main" val="99599702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prijsdaling in een nieuwe situatie">
            <a:extLst xmlns:a="http://schemas.openxmlformats.org/drawingml/2006/main">
              <a:ext uri="{FF2B5EF4-FFF2-40B4-BE49-F238E27FC236}">
                <a16:creationId xmlns:a16="http://schemas.microsoft.com/office/drawing/2014/main" id="{F9C5112A-1A94-4108-BF61-4CEAD579A88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prijsdaling in een nieuwe situatie</a:t>
            </a:r>
          </a:p>
        </p:txBody>
      </p:sp>
      <p:sp>
        <p:nvSpPr>
          <p:cNvPr id="2" name="">
            <a:extLst xmlns:a="http://schemas.openxmlformats.org/drawingml/2006/main">
              <a:ext uri="{FF2B5EF4-FFF2-40B4-BE49-F238E27FC236}">
                <a16:creationId xmlns:a16="http://schemas.microsoft.com/office/drawing/2014/main" id="{C3EC88C6-ABBC-4195-BA06-8C659FD4CEF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a:extLst xmlns:a="http://schemas.openxmlformats.org/drawingml/2006/main">
              <a:ext uri="{FF2B5EF4-FFF2-40B4-BE49-F238E27FC236}">
                <a16:creationId xmlns:a16="http://schemas.microsoft.com/office/drawing/2014/main" id="{9F2A2348-F15B-422E-ADA2-3F4B76E4600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a:t>
            </a:r>
          </a:p>
        </p:txBody>
      </p:sp>
      <p:sp>
        <p:nvSpPr>
          <p:cNvPr id="4" name="slide-number">
            <a:extLst xmlns:a="http://schemas.openxmlformats.org/drawingml/2006/main">
              <a:ext uri="{FF2B5EF4-FFF2-40B4-BE49-F238E27FC236}">
                <a16:creationId xmlns:a16="http://schemas.microsoft.com/office/drawing/2014/main" id="{E60F6F48-413D-4E0A-8711-4ADB7518D0B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29D00944-BE18-4D55-BB48-92916DE19B72}"/>
              </a:ext>
            </a:extLst>
          </p:cNvPr>
          <p:cNvSpPr>
            <a:spLocks xmlns:a="http://schemas.openxmlformats.org/drawingml/2006/main" noGrp="1"/>
          </p:cNvSpPr>
          <p:nvPr/>
        </p:nvSpPr>
        <p:spPr>
          <a:xfrm xmlns:a="http://schemas.openxmlformats.org/drawingml/2006/main">
            <a:off x="571500" y="17049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BoekBox: maandabonnement">
            <a:extLst xmlns:a="http://schemas.openxmlformats.org/drawingml/2006/main">
              <a:ext uri="{FF2B5EF4-FFF2-40B4-BE49-F238E27FC236}">
                <a16:creationId xmlns:a16="http://schemas.microsoft.com/office/drawing/2014/main" id="{B18E0894-1D12-4A4B-A7F5-F7C38C147D4A}"/>
              </a:ext>
            </a:extLst>
          </p:cNvPr>
          <p:cNvSpPr>
            <a:spLocks xmlns:a="http://schemas.openxmlformats.org/drawingml/2006/main" noGrp="1"/>
          </p:cNvSpPr>
          <p:nvPr/>
        </p:nvSpPr>
        <p:spPr>
          <a:xfrm xmlns:a="http://schemas.openxmlformats.org/drawingml/2006/main">
            <a:off x="571500" y="22669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BoekBox: maandabonnement</a:t>
            </a:r>
          </a:p>
        </p:txBody>
      </p:sp>
      <p:graphicFrame>
        <p:nvGraphicFramePr>
          <p:cNvPr id="16" name=""/>
          <p:cNvGraphicFramePr/>
          <p:nvPr/>
        </p:nvGraphicFramePr>
        <p:xfrm>
          <a:off xmlns:a="http://schemas.openxmlformats.org/drawingml/2006/main" x="571500" y="2981325"/>
          <a:ext xmlns:a="http://schemas.openxmlformats.org/drawingml/2006/main" cx="14097000" cy="2562225"/>
        </p:xfrm>
        <a:graphic xmlns:a="http://schemas.openxmlformats.org/drawingml/2006/main">
          <a:graphicData uri="http://schemas.openxmlformats.org/drawingml/2006/table">
            <a:tbl>
              <a:tblPr/>
              <a:tblGrid>
                <a:gridCol w="7429500"/>
                <a:gridCol w="3333750"/>
                <a:gridCol w="3333750"/>
              </a:tblGrid>
              <a:tr h="854075">
                <a:tc>
                  <a:txBody>
                    <a:bodyPr lIns="171450" tIns="95250" rIns="152400" bIns="95250"/>
                    <a:lstStyle/>
                    <a:p>
                      <a:r>
                        <a:rPr sz="240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Oud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Nieuw</a:t>
                      </a:r>
                    </a:p>
                  </a:txBody>
                  <a:tcPr marL="91440" marR="91440" marT="45720" marB="45720" anchor="ctr">
                    <a:solidFill>
                      <a:srgbClr val="183247"/>
                    </a:solidFill>
                  </a:tcPr>
                </a:tc>
              </a:tr>
              <a:tr h="854075">
                <a:tc>
                  <a:txBody>
                    <a:bodyPr lIns="171450" tIns="95250" rIns="152400" bIns="95250"/>
                    <a:lstStyle/>
                    <a:p>
                      <a:r>
                        <a:rPr sz="2400" b="0">
                          <a:solidFill>
                            <a:srgbClr val="183247"/>
                          </a:solidFill>
                          <a:latin typeface="Arial"/>
                          <a:ea typeface="Arial"/>
                          <a:cs typeface="Arial"/>
                        </a:rPr>
                        <a:t>P (€ per abonnement per maand)</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16</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14</a:t>
                      </a:r>
                    </a:p>
                  </a:txBody>
                  <a:tcPr marL="91440" marR="91440" marT="45720" marB="45720" anchor="ctr">
                    <a:solidFill>
                      <a:srgbClr val="FFFFFF"/>
                    </a:solidFill>
                  </a:tcPr>
                </a:tc>
              </a:tr>
              <a:tr h="854075">
                <a:tc>
                  <a:txBody>
                    <a:bodyPr lIns="171450" tIns="95250" rIns="152400" bIns="95250"/>
                    <a:lstStyle/>
                    <a:p>
                      <a:r>
                        <a:rPr sz="2400" b="0">
                          <a:solidFill>
                            <a:srgbClr val="183247"/>
                          </a:solidFill>
                          <a:latin typeface="Arial"/>
                          <a:ea typeface="Arial"/>
                          <a:cs typeface="Arial"/>
                        </a:rPr>
                        <a:t>Qv (abonnementen per maand)</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80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92</a:t>
                      </a:r>
                    </a:p>
                  </a:txBody>
                  <a:tcPr marL="91440" marR="91440" marT="45720" marB="45720" anchor="ctr">
                    <a:solidFill>
                      <a:srgbClr val="EFF4F7"/>
                    </a:solidFill>
                  </a:tcPr>
                </a:tc>
              </a:tr>
            </a:tbl>
          </a:graphicData>
        </a:graphic>
      </p:graphicFrame>
      <p:sp>
        <p:nvSpPr>
          <p:cNvPr id="8" name="%ΔP = (14 − 16) / 16 × 100% = −12,5%">
            <a:extLst xmlns:a="http://schemas.openxmlformats.org/drawingml/2006/main">
              <a:ext uri="{FF2B5EF4-FFF2-40B4-BE49-F238E27FC236}">
                <a16:creationId xmlns:a16="http://schemas.microsoft.com/office/drawing/2014/main" id="{2682B102-48F7-48C5-8540-02E4E6EBD2B0}"/>
              </a:ext>
            </a:extLst>
          </p:cNvPr>
          <p:cNvSpPr>
            <a:spLocks xmlns:a="http://schemas.openxmlformats.org/drawingml/2006/main" noGrp="1"/>
          </p:cNvSpPr>
          <p:nvPr/>
        </p:nvSpPr>
        <p:spPr>
          <a:xfrm xmlns:a="http://schemas.openxmlformats.org/drawingml/2006/main">
            <a:off x="571500" y="59817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%ΔP = (14 − 16) / 16 × 100% = −12,5%</a:t>
            </a:r>
          </a:p>
        </p:txBody>
      </p:sp>
      <p:sp>
        <p:nvSpPr>
          <p:cNvPr id="9" name="%ΔQv = (92 − 80) / 80 × 100% = +15%">
            <a:extLst xmlns:a="http://schemas.openxmlformats.org/drawingml/2006/main">
              <a:ext uri="{FF2B5EF4-FFF2-40B4-BE49-F238E27FC236}">
                <a16:creationId xmlns:a16="http://schemas.microsoft.com/office/drawing/2014/main" id="{A42E6288-76E9-4E56-8605-269CFF064613}"/>
              </a:ext>
            </a:extLst>
          </p:cNvPr>
          <p:cNvSpPr>
            <a:spLocks xmlns:a="http://schemas.openxmlformats.org/drawingml/2006/main" noGrp="1"/>
          </p:cNvSpPr>
          <p:nvPr/>
        </p:nvSpPr>
        <p:spPr>
          <a:xfrm xmlns:a="http://schemas.openxmlformats.org/drawingml/2006/main">
            <a:off x="571500" y="69913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%ΔQv = (92 − 80) / 80 × 100% = +15%</a:t>
            </a:r>
          </a:p>
        </p:txBody>
      </p:sp>
    </p:spTree>
    <p:extLst>
      <p:ext uri="{BB962C8B-B14F-4D97-AF65-F5344CB8AC3E}">
        <p14:creationId xmlns:p14="http://schemas.microsoft.com/office/powerpoint/2010/main" val="18307928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en negatieve Ev bij een stijgende hoeveelheid">
            <a:extLst xmlns:a="http://schemas.openxmlformats.org/drawingml/2006/main">
              <a:ext uri="{FF2B5EF4-FFF2-40B4-BE49-F238E27FC236}">
                <a16:creationId xmlns:a16="http://schemas.microsoft.com/office/drawing/2014/main" id="{396F8C9A-B56D-4433-B91B-026E85F9D7F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negatieve Ev bij een stijgende hoeveelheid</a:t>
            </a:r>
          </a:p>
        </p:txBody>
      </p:sp>
      <p:sp>
        <p:nvSpPr>
          <p:cNvPr id="2" name="">
            <a:extLst xmlns:a="http://schemas.openxmlformats.org/drawingml/2006/main">
              <a:ext uri="{FF2B5EF4-FFF2-40B4-BE49-F238E27FC236}">
                <a16:creationId xmlns:a16="http://schemas.microsoft.com/office/drawing/2014/main" id="{6A0234F4-F407-4EAC-BA06-A8B8AA6A42D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a:extLst xmlns:a="http://schemas.openxmlformats.org/drawingml/2006/main">
              <a:ext uri="{FF2B5EF4-FFF2-40B4-BE49-F238E27FC236}">
                <a16:creationId xmlns:a16="http://schemas.microsoft.com/office/drawing/2014/main" id="{20C5AEDC-DA4A-4976-9744-410A8F05548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a:t>
            </a:r>
          </a:p>
        </p:txBody>
      </p:sp>
      <p:sp>
        <p:nvSpPr>
          <p:cNvPr id="4" name="slide-number">
            <a:extLst xmlns:a="http://schemas.openxmlformats.org/drawingml/2006/main">
              <a:ext uri="{FF2B5EF4-FFF2-40B4-BE49-F238E27FC236}">
                <a16:creationId xmlns:a16="http://schemas.microsoft.com/office/drawing/2014/main" id="{C4E0AABB-26A7-464F-ABCE-6845ED2A79F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948D4E70-90E9-4FF9-8D18-8AF0F73DCC3C}"/>
              </a:ext>
            </a:extLst>
          </p:cNvPr>
          <p:cNvSpPr>
            <a:spLocks xmlns:a="http://schemas.openxmlformats.org/drawingml/2006/main" noGrp="1"/>
          </p:cNvSpPr>
          <p:nvPr/>
        </p:nvSpPr>
        <p:spPr>
          <a:xfrm xmlns:a="http://schemas.openxmlformats.org/drawingml/2006/main">
            <a:off x="571500" y="17049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BoekBox">
            <a:extLst xmlns:a="http://schemas.openxmlformats.org/drawingml/2006/main">
              <a:ext uri="{FF2B5EF4-FFF2-40B4-BE49-F238E27FC236}">
                <a16:creationId xmlns:a16="http://schemas.microsoft.com/office/drawing/2014/main" id="{ABECE3CA-0ED2-43F6-9E50-7F97673920FF}"/>
              </a:ext>
            </a:extLst>
          </p:cNvPr>
          <p:cNvSpPr>
            <a:spLocks xmlns:a="http://schemas.openxmlformats.org/drawingml/2006/main" noGrp="1"/>
          </p:cNvSpPr>
          <p:nvPr/>
        </p:nvSpPr>
        <p:spPr>
          <a:xfrm xmlns:a="http://schemas.openxmlformats.org/drawingml/2006/main">
            <a:off x="571500" y="22669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BoekBox</a:t>
            </a:r>
          </a:p>
        </p:txBody>
      </p:sp>
      <p:sp>
        <p:nvSpPr>
          <p:cNvPr id="7" name="Ev = +15% / −12,5% = −1,2">
            <a:extLst xmlns:a="http://schemas.openxmlformats.org/drawingml/2006/main">
              <a:ext uri="{FF2B5EF4-FFF2-40B4-BE49-F238E27FC236}">
                <a16:creationId xmlns:a16="http://schemas.microsoft.com/office/drawing/2014/main" id="{47CC134F-39E2-48B7-8F34-53BB6A4DA1C9}"/>
              </a:ext>
            </a:extLst>
          </p:cNvPr>
          <p:cNvSpPr>
            <a:spLocks xmlns:a="http://schemas.openxmlformats.org/drawingml/2006/main" noGrp="1"/>
          </p:cNvSpPr>
          <p:nvPr/>
        </p:nvSpPr>
        <p:spPr>
          <a:xfrm xmlns:a="http://schemas.openxmlformats.org/drawingml/2006/main">
            <a:off x="571500" y="3133725"/>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7658A"/>
                </a:solidFill>
                <a:latin typeface="Arial"/>
                <a:ea typeface="Arial"/>
                <a:cs typeface="Arial"/>
              </a:defRPr>
            </a:pPr>
            <a:r>
              <a:rPr sz="4050" b="1">
                <a:solidFill>
                  <a:srgbClr val="17658A"/>
                </a:solidFill>
                <a:latin typeface="Arial"/>
                <a:ea typeface="Arial"/>
                <a:cs typeface="Arial"/>
              </a:rPr>
              <a:t>Ev = +15% / −12,5% = −1,2</a:t>
            </a:r>
          </a:p>
        </p:txBody>
      </p:sp>
      <p:sp>
        <p:nvSpPr>
          <p:cNvPr id="8" name="−1,2 &lt; −1: prijselastische vraag">
            <a:extLst xmlns:a="http://schemas.openxmlformats.org/drawingml/2006/main">
              <a:ext uri="{FF2B5EF4-FFF2-40B4-BE49-F238E27FC236}">
                <a16:creationId xmlns:a16="http://schemas.microsoft.com/office/drawing/2014/main" id="{256457E4-C001-4D19-8130-AFC4ABB89A37}"/>
              </a:ext>
            </a:extLst>
          </p:cNvPr>
          <p:cNvSpPr>
            <a:spLocks xmlns:a="http://schemas.openxmlformats.org/drawingml/2006/main" noGrp="1"/>
          </p:cNvSpPr>
          <p:nvPr/>
        </p:nvSpPr>
        <p:spPr>
          <a:xfrm xmlns:a="http://schemas.openxmlformats.org/drawingml/2006/main">
            <a:off x="571500" y="439102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−1,2 &lt; −1: prijselastische vraag</a:t>
            </a:r>
          </a:p>
        </p:txBody>
      </p:sp>
      <p:sp>
        <p:nvSpPr>
          <p:cNvPr id="9" name="De hoeveelheid stijgt procentueel 1,2 maal zo sterk&#10;als">
            <a:extLst xmlns:a="http://schemas.openxmlformats.org/drawingml/2006/main">
              <a:ext uri="{FF2B5EF4-FFF2-40B4-BE49-F238E27FC236}">
                <a16:creationId xmlns:a16="http://schemas.microsoft.com/office/drawing/2014/main" id="{1BA3092C-3B9B-486A-BA8C-697CBCDE9C10}"/>
              </a:ext>
            </a:extLst>
          </p:cNvPr>
          <p:cNvSpPr>
            <a:spLocks xmlns:a="http://schemas.openxmlformats.org/drawingml/2006/main" noGrp="1"/>
          </p:cNvSpPr>
          <p:nvPr/>
        </p:nvSpPr>
        <p:spPr>
          <a:xfrm xmlns:a="http://schemas.openxmlformats.org/drawingml/2006/main">
            <a:off x="571500" y="5724525"/>
            <a:ext cx="14097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De hoeveelheid stijgt procentueel 1,2 maal zo sterk</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als de prijs daalt.</a:t>
            </a:r>
          </a:p>
        </p:txBody>
      </p:sp>
      <p:sp>
        <p:nvSpPr>
          <p:cNvPr id="10" name="Waarom blijft Ev negatief?">
            <a:extLst xmlns:a="http://schemas.openxmlformats.org/drawingml/2006/main">
              <a:ext uri="{FF2B5EF4-FFF2-40B4-BE49-F238E27FC236}">
                <a16:creationId xmlns:a16="http://schemas.microsoft.com/office/drawing/2014/main" id="{242ED6FF-E8AC-41B6-81F4-47346E96656F}"/>
              </a:ext>
            </a:extLst>
          </p:cNvPr>
          <p:cNvSpPr>
            <a:spLocks xmlns:a="http://schemas.openxmlformats.org/drawingml/2006/main" noGrp="1"/>
          </p:cNvSpPr>
          <p:nvPr/>
        </p:nvSpPr>
        <p:spPr>
          <a:xfrm xmlns:a="http://schemas.openxmlformats.org/drawingml/2006/main">
            <a:off x="571500" y="73723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Waarom blijft Ev negatief?</a:t>
            </a:r>
          </a:p>
        </p:txBody>
      </p:sp>
    </p:spTree>
    <p:extLst>
      <p:ext uri="{BB962C8B-B14F-4D97-AF65-F5344CB8AC3E}">
        <p14:creationId xmlns:p14="http://schemas.microsoft.com/office/powerpoint/2010/main" val="206798933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rug naar startopgave 2">
            <a:extLst xmlns:a="http://schemas.openxmlformats.org/drawingml/2006/main">
              <a:ext uri="{FF2B5EF4-FFF2-40B4-BE49-F238E27FC236}">
                <a16:creationId xmlns:a16="http://schemas.microsoft.com/office/drawing/2014/main" id="{1E472D11-7FDA-45E2-8736-78028FB3D8E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Terug naar startopgave 2</a:t>
            </a:r>
          </a:p>
        </p:txBody>
      </p:sp>
      <p:sp>
        <p:nvSpPr>
          <p:cNvPr id="2" name="">
            <a:extLst xmlns:a="http://schemas.openxmlformats.org/drawingml/2006/main">
              <a:ext uri="{FF2B5EF4-FFF2-40B4-BE49-F238E27FC236}">
                <a16:creationId xmlns:a16="http://schemas.microsoft.com/office/drawing/2014/main" id="{43F2F73B-7C6D-4306-9AD7-B59A819B240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 Startopgave 2 · Boekpagina 4">
            <a:extLst xmlns:a="http://schemas.openxmlformats.org/drawingml/2006/main">
              <a:ext uri="{FF2B5EF4-FFF2-40B4-BE49-F238E27FC236}">
                <a16:creationId xmlns:a16="http://schemas.microsoft.com/office/drawing/2014/main" id="{1FC2C811-7927-4CE7-AF51-E405C3FDB4A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 · Startopgave 2 · Boekpagina 40</a:t>
            </a:r>
          </a:p>
        </p:txBody>
      </p:sp>
      <p:sp>
        <p:nvSpPr>
          <p:cNvPr id="4" name="slide-number">
            <a:extLst xmlns:a="http://schemas.openxmlformats.org/drawingml/2006/main">
              <a:ext uri="{FF2B5EF4-FFF2-40B4-BE49-F238E27FC236}">
                <a16:creationId xmlns:a16="http://schemas.microsoft.com/office/drawing/2014/main" id="{0F4C73DD-8968-41B5-B50D-D5F295D5B0A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2a">
            <a:extLst xmlns:a="http://schemas.openxmlformats.org/drawingml/2006/main">
              <a:ext uri="{FF2B5EF4-FFF2-40B4-BE49-F238E27FC236}">
                <a16:creationId xmlns:a16="http://schemas.microsoft.com/office/drawing/2014/main" id="{51C8D6B0-7206-4F43-800B-5E2B1491146E}"/>
              </a:ext>
            </a:extLst>
          </p:cNvPr>
          <p:cNvSpPr>
            <a:spLocks xmlns:a="http://schemas.openxmlformats.org/drawingml/2006/main" noGrp="1"/>
          </p:cNvSpPr>
          <p:nvPr/>
        </p:nvSpPr>
        <p:spPr>
          <a:xfrm xmlns:a="http://schemas.openxmlformats.org/drawingml/2006/main">
            <a:off x="571500" y="2009775"/>
            <a:ext cx="123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2a</a:t>
            </a:r>
          </a:p>
        </p:txBody>
      </p:sp>
      <p:sp>
        <p:nvSpPr>
          <p:cNvPr id="6" name="Ev = −0,4: welke indeling past?&#10;Leg de relatieve reacti">
            <a:extLst xmlns:a="http://schemas.openxmlformats.org/drawingml/2006/main">
              <a:ext uri="{FF2B5EF4-FFF2-40B4-BE49-F238E27FC236}">
                <a16:creationId xmlns:a16="http://schemas.microsoft.com/office/drawing/2014/main" id="{3CE3275D-C69C-4B0E-B2E3-818897F30D0D}"/>
              </a:ext>
            </a:extLst>
          </p:cNvPr>
          <p:cNvSpPr>
            <a:spLocks xmlns:a="http://schemas.openxmlformats.org/drawingml/2006/main" noGrp="1"/>
          </p:cNvSpPr>
          <p:nvPr/>
        </p:nvSpPr>
        <p:spPr>
          <a:xfrm xmlns:a="http://schemas.openxmlformats.org/drawingml/2006/main">
            <a:off x="2286000" y="2009775"/>
            <a:ext cx="12287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Ev = −0,4: welke indeling past?</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Leg de relatieve reactie uit.</a:t>
            </a:r>
          </a:p>
        </p:txBody>
      </p:sp>
      <p:sp>
        <p:nvSpPr>
          <p:cNvPr id="7" name="">
            <a:extLst xmlns:a="http://schemas.openxmlformats.org/drawingml/2006/main">
              <a:ext uri="{FF2B5EF4-FFF2-40B4-BE49-F238E27FC236}">
                <a16:creationId xmlns:a16="http://schemas.microsoft.com/office/drawing/2014/main" id="{D4660657-7299-43E3-BFEC-B2E56D282DF7}"/>
              </a:ext>
            </a:extLst>
          </p:cNvPr>
          <p:cNvSpPr>
            <a:spLocks xmlns:a="http://schemas.openxmlformats.org/drawingml/2006/main" noGrp="1"/>
          </p:cNvSpPr>
          <p:nvPr/>
        </p:nvSpPr>
        <p:spPr>
          <a:xfrm xmlns:a="http://schemas.openxmlformats.org/drawingml/2006/main">
            <a:off x="571500" y="3695700"/>
            <a:ext cx="14097000" cy="0"/>
          </a:xfrm>
          <a:prstGeom xmlns:a="http://schemas.openxmlformats.org/drawingml/2006/main" prst="line">
            <a:avLst/>
          </a:prstGeom>
          <a:ln xmlns:a="http://schemas.openxmlformats.org/drawingml/2006/main" w="19050">
            <a:solidFill>
              <a:srgbClr val="C6D2DB"/>
            </a:solidFill>
          </a:ln>
        </p:spPr>
      </p:sp>
      <p:sp>
        <p:nvSpPr>
          <p:cNvPr id="8" name="2b">
            <a:extLst xmlns:a="http://schemas.openxmlformats.org/drawingml/2006/main">
              <a:ext uri="{FF2B5EF4-FFF2-40B4-BE49-F238E27FC236}">
                <a16:creationId xmlns:a16="http://schemas.microsoft.com/office/drawing/2014/main" id="{BB1A2EB9-07EB-4F49-8015-92F5A656467C}"/>
              </a:ext>
            </a:extLst>
          </p:cNvPr>
          <p:cNvSpPr>
            <a:spLocks xmlns:a="http://schemas.openxmlformats.org/drawingml/2006/main" noGrp="1"/>
          </p:cNvSpPr>
          <p:nvPr/>
        </p:nvSpPr>
        <p:spPr>
          <a:xfrm xmlns:a="http://schemas.openxmlformats.org/drawingml/2006/main">
            <a:off x="571500" y="4191000"/>
            <a:ext cx="123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2b</a:t>
            </a:r>
          </a:p>
        </p:txBody>
      </p:sp>
      <p:sp>
        <p:nvSpPr>
          <p:cNvPr id="9" name="Een leerling noemt de reactie bij Ev = −2 zwakker&#10;dan b">
            <a:extLst xmlns:a="http://schemas.openxmlformats.org/drawingml/2006/main">
              <a:ext uri="{FF2B5EF4-FFF2-40B4-BE49-F238E27FC236}">
                <a16:creationId xmlns:a16="http://schemas.microsoft.com/office/drawing/2014/main" id="{54A348EA-E30E-4001-ADCA-3E08928888AA}"/>
              </a:ext>
            </a:extLst>
          </p:cNvPr>
          <p:cNvSpPr>
            <a:spLocks xmlns:a="http://schemas.openxmlformats.org/drawingml/2006/main" noGrp="1"/>
          </p:cNvSpPr>
          <p:nvPr/>
        </p:nvSpPr>
        <p:spPr>
          <a:xfrm xmlns:a="http://schemas.openxmlformats.org/drawingml/2006/main">
            <a:off x="2286000" y="4191000"/>
            <a:ext cx="1228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Een leerling noemt de reactie bij Ev = −2 zwakker</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dan bij Ev = −0,4. Hoe verbeter je die uitspraak?</a:t>
            </a:r>
          </a:p>
        </p:txBody>
      </p:sp>
      <p:sp>
        <p:nvSpPr>
          <p:cNvPr id="10" name="Herzie je eerste antwoord met de uitleg van deze les.">
            <a:extLst xmlns:a="http://schemas.openxmlformats.org/drawingml/2006/main">
              <a:ext uri="{FF2B5EF4-FFF2-40B4-BE49-F238E27FC236}">
                <a16:creationId xmlns:a16="http://schemas.microsoft.com/office/drawing/2014/main" id="{013CEA3A-695D-437D-8B77-AA4FEBC39A5A}"/>
              </a:ext>
            </a:extLst>
          </p:cNvPr>
          <p:cNvSpPr>
            <a:spLocks xmlns:a="http://schemas.openxmlformats.org/drawingml/2006/main" noGrp="1"/>
          </p:cNvSpPr>
          <p:nvPr/>
        </p:nvSpPr>
        <p:spPr>
          <a:xfrm xmlns:a="http://schemas.openxmlformats.org/drawingml/2006/main">
            <a:off x="571500" y="70294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Herzie je eerste antwoord met de uitleg van deze les.</a:t>
            </a:r>
          </a:p>
        </p:txBody>
      </p:sp>
    </p:spTree>
    <p:extLst>
      <p:ext uri="{BB962C8B-B14F-4D97-AF65-F5344CB8AC3E}">
        <p14:creationId xmlns:p14="http://schemas.microsoft.com/office/powerpoint/2010/main" val="161314762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2.1 Prijselasticiteit">
            <a:extLst xmlns:a="http://schemas.openxmlformats.org/drawingml/2006/main">
              <a:ext uri="{FF2B5EF4-FFF2-40B4-BE49-F238E27FC236}">
                <a16:creationId xmlns:a16="http://schemas.microsoft.com/office/drawing/2014/main" id="{AF393D9E-68DE-4835-BEE7-7E2E8EB6DB3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§2.2.1 Prijselasticiteit</a:t>
            </a:r>
          </a:p>
        </p:txBody>
      </p:sp>
      <p:sp>
        <p:nvSpPr>
          <p:cNvPr id="2" name="">
            <a:extLst xmlns:a="http://schemas.openxmlformats.org/drawingml/2006/main">
              <a:ext uri="{FF2B5EF4-FFF2-40B4-BE49-F238E27FC236}">
                <a16:creationId xmlns:a16="http://schemas.microsoft.com/office/drawing/2014/main" id="{E5A57BD1-BEC7-4D60-B69F-D45863E53D3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a:extLst xmlns:a="http://schemas.openxmlformats.org/drawingml/2006/main">
              <a:ext uri="{FF2B5EF4-FFF2-40B4-BE49-F238E27FC236}">
                <a16:creationId xmlns:a16="http://schemas.microsoft.com/office/drawing/2014/main" id="{9FDC00CF-7C31-4CE9-97D0-C7621B9E6F4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a:t>
            </a:r>
          </a:p>
        </p:txBody>
      </p:sp>
      <p:sp>
        <p:nvSpPr>
          <p:cNvPr id="4" name="slide-number">
            <a:extLst xmlns:a="http://schemas.openxmlformats.org/drawingml/2006/main">
              <a:ext uri="{FF2B5EF4-FFF2-40B4-BE49-F238E27FC236}">
                <a16:creationId xmlns:a16="http://schemas.microsoft.com/office/drawing/2014/main" id="{F75ACDB6-2B53-4F81-87AC-ADF7D948984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phase">
            <a:extLst xmlns:a="http://schemas.openxmlformats.org/drawingml/2006/main">
              <a:ext uri="{FF2B5EF4-FFF2-40B4-BE49-F238E27FC236}">
                <a16:creationId xmlns:a16="http://schemas.microsoft.com/office/drawing/2014/main" id="{43A83F83-E9D6-4FD5-99D9-EFA0924A2F70}"/>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Oefenen</a:t>
            </a:r>
          </a:p>
        </p:txBody>
      </p:sp>
      <p:sp>
        <p:nvSpPr>
          <p:cNvPr id="6" name="Lesroute">
            <a:extLst xmlns:a="http://schemas.openxmlformats.org/drawingml/2006/main">
              <a:ext uri="{FF2B5EF4-FFF2-40B4-BE49-F238E27FC236}">
                <a16:creationId xmlns:a16="http://schemas.microsoft.com/office/drawing/2014/main" id="{A03DB6E5-FA02-440F-9B12-9E347759754F}"/>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0E82F82D-6AB7-4DE7-8CF4-6502F29F379C}"/>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78EB0BA5-65A2-400A-8427-0372B1F6EBBD}"/>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F21042FF-92C4-4DFC-B54D-C611D03E212C}"/>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0C83FFA0-3468-45F8-ADD0-2514D6ED8BB8}"/>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291ACA7F-8DC9-4EE7-A24C-9F75A2A9B6E2}"/>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29812422-8FD2-49FB-BD99-C08C7F292E0D}"/>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1CB41BA3-AB0E-4775-A918-B3B0272002A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61A19512-EA7B-4207-9EDD-1253A1E7003C}"/>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BB210709-84A2-4081-8207-EB790182B666}"/>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55BA4566-98F4-4961-B881-A406234836D2}"/>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9A10AAC8-6FF9-4E39-B40E-37BED1DCE43C}"/>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24F867A5-5142-4164-BE11-9458C28B908A}"/>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EEDC937B-717D-47DF-9D7C-2B9333A7C29D}"/>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F3A919E2-C458-42B7-9BCA-7437319110D2}"/>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D4F3566D-5477-45F8-A803-5FBF9A13A2B5}"/>
              </a:ext>
            </a:extLst>
          </p:cNvPr>
          <p:cNvSpPr>
            <a:spLocks xmlns:a="http://schemas.openxmlformats.org/drawingml/2006/main" noGrp="1"/>
          </p:cNvSpPr>
          <p:nvPr/>
        </p:nvSpPr>
        <p:spPr>
          <a:xfrm xmlns:a="http://schemas.openxmlformats.org/drawingml/2006/main">
            <a:off x="9258300" y="17621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1F5CD769-B1AF-4D32-9DCA-933B44358529}"/>
              </a:ext>
            </a:extLst>
          </p:cNvPr>
          <p:cNvSpPr>
            <a:spLocks xmlns:a="http://schemas.openxmlformats.org/drawingml/2006/main" noGrp="1"/>
          </p:cNvSpPr>
          <p:nvPr/>
        </p:nvSpPr>
        <p:spPr>
          <a:xfrm xmlns:a="http://schemas.openxmlformats.org/drawingml/2006/main">
            <a:off x="9258300" y="2324100"/>
            <a:ext cx="5410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Procenten en Ev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prijsgevoeligheid vergelijken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een verklaring beoordelen.</a:t>
            </a:r>
          </a:p>
        </p:txBody>
      </p:sp>
      <p:sp>
        <p:nvSpPr>
          <p:cNvPr id="23" name="">
            <a:extLst xmlns:a="http://schemas.openxmlformats.org/drawingml/2006/main">
              <a:ext uri="{FF2B5EF4-FFF2-40B4-BE49-F238E27FC236}">
                <a16:creationId xmlns:a16="http://schemas.microsoft.com/office/drawing/2014/main" id="{801F2282-E1DC-4EB0-86BE-46D558E08AC6}"/>
              </a:ext>
            </a:extLst>
          </p:cNvPr>
          <p:cNvSpPr>
            <a:spLocks xmlns:a="http://schemas.openxmlformats.org/drawingml/2006/main" noGrp="1"/>
          </p:cNvSpPr>
          <p:nvPr/>
        </p:nvSpPr>
        <p:spPr>
          <a:xfrm xmlns:a="http://schemas.openxmlformats.org/drawingml/2006/main">
            <a:off x="9258300" y="35242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892F00F0-6879-4E04-9B96-03FD7EBB2388}"/>
              </a:ext>
            </a:extLst>
          </p:cNvPr>
          <p:cNvSpPr>
            <a:spLocks xmlns:a="http://schemas.openxmlformats.org/drawingml/2006/main" noGrp="1"/>
          </p:cNvSpPr>
          <p:nvPr/>
        </p:nvSpPr>
        <p:spPr>
          <a:xfrm xmlns:a="http://schemas.openxmlformats.org/drawingml/2006/main">
            <a:off x="9258300" y="37623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2E24B0F8-EF21-4666-80C3-812D225F87E4}"/>
              </a:ext>
            </a:extLst>
          </p:cNvPr>
          <p:cNvSpPr>
            <a:spLocks xmlns:a="http://schemas.openxmlformats.org/drawingml/2006/main" noGrp="1"/>
          </p:cNvSpPr>
          <p:nvPr/>
        </p:nvSpPr>
        <p:spPr>
          <a:xfrm xmlns:a="http://schemas.openxmlformats.org/drawingml/2006/main">
            <a:off x="9258300" y="4305300"/>
            <a:ext cx="54102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40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 voorkennis ophalen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met theorie p. 38</a:t>
            </a:r>
          </a:p>
        </p:txBody>
      </p:sp>
      <p:sp>
        <p:nvSpPr>
          <p:cNvPr id="26" name="">
            <a:extLst xmlns:a="http://schemas.openxmlformats.org/drawingml/2006/main">
              <a:ext uri="{FF2B5EF4-FFF2-40B4-BE49-F238E27FC236}">
                <a16:creationId xmlns:a16="http://schemas.microsoft.com/office/drawing/2014/main" id="{1E204265-95EF-4697-96D4-342D447C5390}"/>
              </a:ext>
            </a:extLst>
          </p:cNvPr>
          <p:cNvSpPr>
            <a:spLocks xmlns:a="http://schemas.openxmlformats.org/drawingml/2006/main" noGrp="1"/>
          </p:cNvSpPr>
          <p:nvPr/>
        </p:nvSpPr>
        <p:spPr>
          <a:xfrm xmlns:a="http://schemas.openxmlformats.org/drawingml/2006/main">
            <a:off x="9258300" y="56959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9C7B57E5-805C-466E-82BB-D935FD44D7E4}"/>
              </a:ext>
            </a:extLst>
          </p:cNvPr>
          <p:cNvSpPr>
            <a:spLocks xmlns:a="http://schemas.openxmlformats.org/drawingml/2006/main" noGrp="1"/>
          </p:cNvSpPr>
          <p:nvPr/>
        </p:nvSpPr>
        <p:spPr>
          <a:xfrm xmlns:a="http://schemas.openxmlformats.org/drawingml/2006/main">
            <a:off x="9258300" y="57816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CF58FE32-9344-4361-84E3-A600483557ED}"/>
              </a:ext>
            </a:extLst>
          </p:cNvPr>
          <p:cNvSpPr>
            <a:spLocks xmlns:a="http://schemas.openxmlformats.org/drawingml/2006/main" noGrp="1"/>
          </p:cNvSpPr>
          <p:nvPr/>
        </p:nvSpPr>
        <p:spPr>
          <a:xfrm xmlns:a="http://schemas.openxmlformats.org/drawingml/2006/main">
            <a:off x="9258300" y="6248400"/>
            <a:ext cx="54102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§2.2.1 Prijselasticiteit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2581158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 Bioscoop Nova en StreamNow">
            <a:extLst xmlns:a="http://schemas.openxmlformats.org/drawingml/2006/main">
              <a:ext uri="{FF2B5EF4-FFF2-40B4-BE49-F238E27FC236}">
                <a16:creationId xmlns:a16="http://schemas.microsoft.com/office/drawing/2014/main" id="{E377AC53-401B-4A88-8E44-62AFFA28D32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Bioscoop Nova en StreamNow</a:t>
            </a:r>
          </a:p>
        </p:txBody>
      </p:sp>
      <p:sp>
        <p:nvSpPr>
          <p:cNvPr id="2" name="">
            <a:extLst xmlns:a="http://schemas.openxmlformats.org/drawingml/2006/main">
              <a:ext uri="{FF2B5EF4-FFF2-40B4-BE49-F238E27FC236}">
                <a16:creationId xmlns:a16="http://schemas.microsoft.com/office/drawing/2014/main" id="{98358C30-AE61-489F-9724-316E8244D28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 Doeloefening · Boekpagina 42">
            <a:extLst xmlns:a="http://schemas.openxmlformats.org/drawingml/2006/main">
              <a:ext uri="{FF2B5EF4-FFF2-40B4-BE49-F238E27FC236}">
                <a16:creationId xmlns:a16="http://schemas.microsoft.com/office/drawing/2014/main" id="{AC019F88-8621-4FFF-98B8-AC2791BCB5C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 · Doeloefening · Boekpagina 42</a:t>
            </a:r>
          </a:p>
        </p:txBody>
      </p:sp>
      <p:sp>
        <p:nvSpPr>
          <p:cNvPr id="4" name="slide-number">
            <a:extLst xmlns:a="http://schemas.openxmlformats.org/drawingml/2006/main">
              <a:ext uri="{FF2B5EF4-FFF2-40B4-BE49-F238E27FC236}">
                <a16:creationId xmlns:a16="http://schemas.microsoft.com/office/drawing/2014/main" id="{6B4EC058-D06C-4771-96EC-3B519BE317A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Bioscoop Nova verhoogt de ticketprijs van € 10 naar € 1">
            <a:extLst xmlns:a="http://schemas.openxmlformats.org/drawingml/2006/main">
              <a:ext uri="{FF2B5EF4-FFF2-40B4-BE49-F238E27FC236}">
                <a16:creationId xmlns:a16="http://schemas.microsoft.com/office/drawing/2014/main" id="{7E6A8F6D-348C-4853-85F1-7164CA907A97}"/>
              </a:ext>
            </a:extLst>
          </p:cNvPr>
          <p:cNvSpPr>
            <a:spLocks xmlns:a="http://schemas.openxmlformats.org/drawingml/2006/main" noGrp="1"/>
          </p:cNvSpPr>
          <p:nvPr/>
        </p:nvSpPr>
        <p:spPr>
          <a:xfrm xmlns:a="http://schemas.openxmlformats.org/drawingml/2006/main">
            <a:off x="571500" y="1876425"/>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Bioscoop Nova verhoogt de ticketprijs van € 10 naar € 12.</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De gevraagde hoeveelheid daalt van 500 naar 420 tickets per week.</a:t>
            </a:r>
          </a:p>
        </p:txBody>
      </p:sp>
      <p:graphicFrame>
        <p:nvGraphicFramePr>
          <p:cNvPr id="14" name=""/>
          <p:cNvGraphicFramePr/>
          <p:nvPr/>
        </p:nvGraphicFramePr>
        <p:xfrm>
          <a:off xmlns:a="http://schemas.openxmlformats.org/drawingml/2006/main" x="571500" y="3486150"/>
          <a:ext xmlns:a="http://schemas.openxmlformats.org/drawingml/2006/main" cx="14097000" cy="2495550"/>
        </p:xfrm>
        <a:graphic xmlns:a="http://schemas.openxmlformats.org/drawingml/2006/main">
          <a:graphicData uri="http://schemas.openxmlformats.org/drawingml/2006/table">
            <a:tbl>
              <a:tblPr/>
              <a:tblGrid>
                <a:gridCol w="7429500"/>
                <a:gridCol w="3333750"/>
                <a:gridCol w="3333750"/>
              </a:tblGrid>
              <a:tr h="831850">
                <a:tc>
                  <a:txBody>
                    <a:bodyPr lIns="171450" tIns="95250" rIns="152400" bIns="95250"/>
                    <a:lstStyle/>
                    <a:p>
                      <a:r>
                        <a:rPr sz="2475" b="1">
                          <a:solidFill>
                            <a:srgbClr val="FFFFFF"/>
                          </a:solidFill>
                          <a:latin typeface="Arial"/>
                          <a:ea typeface="Arial"/>
                          <a:cs typeface="Arial"/>
                        </a:rPr>
                        <a:t>Bioscoop Nova</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Oud</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Nieuw</a:t>
                      </a:r>
                    </a:p>
                  </a:txBody>
                  <a:tcPr marL="91440" marR="91440" marT="45720" marB="45720" anchor="ctr">
                    <a:solidFill>
                      <a:srgbClr val="183247"/>
                    </a:solidFill>
                  </a:tcPr>
                </a:tc>
              </a:tr>
              <a:tr h="831850">
                <a:tc>
                  <a:txBody>
                    <a:bodyPr lIns="171450" tIns="95250" rIns="152400" bIns="95250"/>
                    <a:lstStyle/>
                    <a:p>
                      <a:r>
                        <a:rPr sz="2475" b="0">
                          <a:solidFill>
                            <a:srgbClr val="183247"/>
                          </a:solidFill>
                          <a:latin typeface="Arial"/>
                          <a:ea typeface="Arial"/>
                          <a:cs typeface="Arial"/>
                        </a:rPr>
                        <a:t>P (€ per ticket)</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12</a:t>
                      </a:r>
                    </a:p>
                  </a:txBody>
                  <a:tcPr marL="91440" marR="91440" marT="45720" marB="45720" anchor="ctr">
                    <a:solidFill>
                      <a:srgbClr val="FFFFFF"/>
                    </a:solidFill>
                  </a:tcPr>
                </a:tc>
              </a:tr>
              <a:tr h="831850">
                <a:tc>
                  <a:txBody>
                    <a:bodyPr lIns="171450" tIns="95250" rIns="152400" bIns="95250"/>
                    <a:lstStyle/>
                    <a:p>
                      <a:r>
                        <a:rPr sz="2475" b="0">
                          <a:solidFill>
                            <a:srgbClr val="183247"/>
                          </a:solidFill>
                          <a:latin typeface="Arial"/>
                          <a:ea typeface="Arial"/>
                          <a:cs typeface="Arial"/>
                        </a:rPr>
                        <a:t>Qv (tickets per week)</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500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420</a:t>
                      </a:r>
                    </a:p>
                  </a:txBody>
                  <a:tcPr marL="91440" marR="91440" marT="45720" marB="45720" anchor="ctr">
                    <a:solidFill>
                      <a:srgbClr val="EFF4F7"/>
                    </a:solidFill>
                  </a:tcPr>
                </a:tc>
              </a:tr>
            </a:tbl>
          </a:graphicData>
        </a:graphic>
      </p:graphicFrame>
      <p:sp>
        <p:nvSpPr>
          <p:cNvPr id="7" name="Bij StreamNow is voor een andere prijsverhoging Ev = −2">
            <a:extLst xmlns:a="http://schemas.openxmlformats.org/drawingml/2006/main">
              <a:ext uri="{FF2B5EF4-FFF2-40B4-BE49-F238E27FC236}">
                <a16:creationId xmlns:a16="http://schemas.microsoft.com/office/drawing/2014/main" id="{DB3878EC-FB6B-441E-9E38-712918B4D15B}"/>
              </a:ext>
            </a:extLst>
          </p:cNvPr>
          <p:cNvSpPr>
            <a:spLocks xmlns:a="http://schemas.openxmlformats.org/drawingml/2006/main" noGrp="1"/>
          </p:cNvSpPr>
          <p:nvPr/>
        </p:nvSpPr>
        <p:spPr>
          <a:xfrm xmlns:a="http://schemas.openxmlformats.org/drawingml/2006/main">
            <a:off x="571500" y="63436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Bij StreamNow is voor een andere prijsverhoging Ev = −2 gemeten.</a:t>
            </a:r>
          </a:p>
        </p:txBody>
      </p:sp>
      <p:sp>
        <p:nvSpPr>
          <p:cNvPr id="8" name="Gebruik voor Nova de oude waarde als noemer en Ev = %ΔQ">
            <a:extLst xmlns:a="http://schemas.openxmlformats.org/drawingml/2006/main">
              <a:ext uri="{FF2B5EF4-FFF2-40B4-BE49-F238E27FC236}">
                <a16:creationId xmlns:a16="http://schemas.microsoft.com/office/drawing/2014/main" id="{39F3BDD5-915E-492F-814E-046ED37DFADC}"/>
              </a:ext>
            </a:extLst>
          </p:cNvPr>
          <p:cNvSpPr>
            <a:spLocks xmlns:a="http://schemas.openxmlformats.org/drawingml/2006/main" noGrp="1"/>
          </p:cNvSpPr>
          <p:nvPr/>
        </p:nvSpPr>
        <p:spPr>
          <a:xfrm xmlns:a="http://schemas.openxmlformats.org/drawingml/2006/main">
            <a:off x="571500" y="7286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Gebruik voor Nova de oude waarde als noemer en Ev = %ΔQv / %ΔP.</a:t>
            </a:r>
          </a:p>
        </p:txBody>
      </p:sp>
    </p:spTree>
    <p:extLst>
      <p:ext uri="{BB962C8B-B14F-4D97-AF65-F5344CB8AC3E}">
        <p14:creationId xmlns:p14="http://schemas.microsoft.com/office/powerpoint/2010/main" val="22002758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 deelvragen a en b">
            <a:extLst xmlns:a="http://schemas.openxmlformats.org/drawingml/2006/main">
              <a:ext uri="{FF2B5EF4-FFF2-40B4-BE49-F238E27FC236}">
                <a16:creationId xmlns:a16="http://schemas.microsoft.com/office/drawing/2014/main" id="{4DD2C43C-47E8-4DDC-B4B7-BBD2753AFB5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deelvragen a en b</a:t>
            </a:r>
          </a:p>
        </p:txBody>
      </p:sp>
      <p:sp>
        <p:nvSpPr>
          <p:cNvPr id="2" name="">
            <a:extLst xmlns:a="http://schemas.openxmlformats.org/drawingml/2006/main">
              <a:ext uri="{FF2B5EF4-FFF2-40B4-BE49-F238E27FC236}">
                <a16:creationId xmlns:a16="http://schemas.microsoft.com/office/drawing/2014/main" id="{A31FD4BF-5A98-4E04-8006-2754BCAD564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 Doeloefening · Boekpagina 42">
            <a:extLst xmlns:a="http://schemas.openxmlformats.org/drawingml/2006/main">
              <a:ext uri="{FF2B5EF4-FFF2-40B4-BE49-F238E27FC236}">
                <a16:creationId xmlns:a16="http://schemas.microsoft.com/office/drawing/2014/main" id="{D903EDAD-C788-49EA-9040-D3BD6D46799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 · Doeloefening · Boekpagina 42</a:t>
            </a:r>
          </a:p>
        </p:txBody>
      </p:sp>
      <p:sp>
        <p:nvSpPr>
          <p:cNvPr id="4" name="slide-number">
            <a:extLst xmlns:a="http://schemas.openxmlformats.org/drawingml/2006/main">
              <a:ext uri="{FF2B5EF4-FFF2-40B4-BE49-F238E27FC236}">
                <a16:creationId xmlns:a16="http://schemas.microsoft.com/office/drawing/2014/main" id="{80594332-9565-4593-8078-45BC962DC8F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a">
            <a:extLst xmlns:a="http://schemas.openxmlformats.org/drawingml/2006/main">
              <a:ext uri="{FF2B5EF4-FFF2-40B4-BE49-F238E27FC236}">
                <a16:creationId xmlns:a16="http://schemas.microsoft.com/office/drawing/2014/main" id="{1C0553FB-0AF1-4C4F-B089-91026A204020}"/>
              </a:ext>
            </a:extLst>
          </p:cNvPr>
          <p:cNvSpPr>
            <a:spLocks xmlns:a="http://schemas.openxmlformats.org/drawingml/2006/main" noGrp="1"/>
          </p:cNvSpPr>
          <p:nvPr/>
        </p:nvSpPr>
        <p:spPr>
          <a:xfrm xmlns:a="http://schemas.openxmlformats.org/drawingml/2006/main">
            <a:off x="571500" y="1962150"/>
            <a:ext cx="114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a</a:t>
            </a:r>
          </a:p>
        </p:txBody>
      </p:sp>
      <p:sp>
        <p:nvSpPr>
          <p:cNvPr id="6" name="Bereken voor Bioscoop Nova de procentuele prijsverander">
            <a:extLst xmlns:a="http://schemas.openxmlformats.org/drawingml/2006/main">
              <a:ext uri="{FF2B5EF4-FFF2-40B4-BE49-F238E27FC236}">
                <a16:creationId xmlns:a16="http://schemas.microsoft.com/office/drawing/2014/main" id="{EA81EEDA-F205-4010-A571-063103C20130}"/>
              </a:ext>
            </a:extLst>
          </p:cNvPr>
          <p:cNvSpPr>
            <a:spLocks xmlns:a="http://schemas.openxmlformats.org/drawingml/2006/main" noGrp="1"/>
          </p:cNvSpPr>
          <p:nvPr/>
        </p:nvSpPr>
        <p:spPr>
          <a:xfrm xmlns:a="http://schemas.openxmlformats.org/drawingml/2006/main">
            <a:off x="2190750" y="1962150"/>
            <a:ext cx="12382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Bereken voor Bioscoop Nova de procentuele prijsverandering,</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de procentuele verandering van de gevraagde hoeveelheid en Ev.</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(3 punten)</a:t>
            </a:r>
          </a:p>
        </p:txBody>
      </p:sp>
      <p:sp>
        <p:nvSpPr>
          <p:cNvPr id="7" name="">
            <a:extLst xmlns:a="http://schemas.openxmlformats.org/drawingml/2006/main">
              <a:ext uri="{FF2B5EF4-FFF2-40B4-BE49-F238E27FC236}">
                <a16:creationId xmlns:a16="http://schemas.microsoft.com/office/drawing/2014/main" id="{9E3C92F1-39C0-49C8-A7EE-DC9C3A6CE92F}"/>
              </a:ext>
            </a:extLst>
          </p:cNvPr>
          <p:cNvSpPr>
            <a:spLocks xmlns:a="http://schemas.openxmlformats.org/drawingml/2006/main" noGrp="1"/>
          </p:cNvSpPr>
          <p:nvPr/>
        </p:nvSpPr>
        <p:spPr>
          <a:xfrm xmlns:a="http://schemas.openxmlformats.org/drawingml/2006/main">
            <a:off x="571500" y="4448175"/>
            <a:ext cx="14097000" cy="0"/>
          </a:xfrm>
          <a:prstGeom xmlns:a="http://schemas.openxmlformats.org/drawingml/2006/main" prst="line">
            <a:avLst/>
          </a:prstGeom>
          <a:ln xmlns:a="http://schemas.openxmlformats.org/drawingml/2006/main" w="19050">
            <a:solidFill>
              <a:srgbClr val="C6D2DB"/>
            </a:solidFill>
          </a:ln>
        </p:spPr>
      </p:sp>
      <p:sp>
        <p:nvSpPr>
          <p:cNvPr id="8" name="b">
            <a:extLst xmlns:a="http://schemas.openxmlformats.org/drawingml/2006/main">
              <a:ext uri="{FF2B5EF4-FFF2-40B4-BE49-F238E27FC236}">
                <a16:creationId xmlns:a16="http://schemas.microsoft.com/office/drawing/2014/main" id="{31141044-29ED-4FA2-BCA6-7D205CD79E68}"/>
              </a:ext>
            </a:extLst>
          </p:cNvPr>
          <p:cNvSpPr>
            <a:spLocks xmlns:a="http://schemas.openxmlformats.org/drawingml/2006/main" noGrp="1"/>
          </p:cNvSpPr>
          <p:nvPr/>
        </p:nvSpPr>
        <p:spPr>
          <a:xfrm xmlns:a="http://schemas.openxmlformats.org/drawingml/2006/main">
            <a:off x="571500" y="4933950"/>
            <a:ext cx="114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b</a:t>
            </a:r>
          </a:p>
        </p:txBody>
      </p:sp>
      <p:sp>
        <p:nvSpPr>
          <p:cNvPr id="9" name="Classificeer de vraag naar bioscoopkaartjes en leg in g">
            <a:extLst xmlns:a="http://schemas.openxmlformats.org/drawingml/2006/main">
              <a:ext uri="{FF2B5EF4-FFF2-40B4-BE49-F238E27FC236}">
                <a16:creationId xmlns:a16="http://schemas.microsoft.com/office/drawing/2014/main" id="{2E7EC25E-9E4B-44D3-B944-91C155F15CFF}"/>
              </a:ext>
            </a:extLst>
          </p:cNvPr>
          <p:cNvSpPr>
            <a:spLocks xmlns:a="http://schemas.openxmlformats.org/drawingml/2006/main" noGrp="1"/>
          </p:cNvSpPr>
          <p:nvPr/>
        </p:nvSpPr>
        <p:spPr>
          <a:xfrm xmlns:a="http://schemas.openxmlformats.org/drawingml/2006/main">
            <a:off x="2190750" y="4933950"/>
            <a:ext cx="1238250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Classificeer de vraag naar bioscoopkaartjes en leg in gewone taal</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uit wat Ev = −0,8 betekent.</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(2 punten)</a:t>
            </a:r>
          </a:p>
        </p:txBody>
      </p:sp>
    </p:spTree>
    <p:extLst>
      <p:ext uri="{BB962C8B-B14F-4D97-AF65-F5344CB8AC3E}">
        <p14:creationId xmlns:p14="http://schemas.microsoft.com/office/powerpoint/2010/main" val="24735285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 deelvragen c en d">
            <a:extLst xmlns:a="http://schemas.openxmlformats.org/drawingml/2006/main">
              <a:ext uri="{FF2B5EF4-FFF2-40B4-BE49-F238E27FC236}">
                <a16:creationId xmlns:a16="http://schemas.microsoft.com/office/drawing/2014/main" id="{38CF0AC3-9E0F-4778-9E92-D28B21861DD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deelvragen c en d</a:t>
            </a:r>
          </a:p>
        </p:txBody>
      </p:sp>
      <p:sp>
        <p:nvSpPr>
          <p:cNvPr id="2" name="">
            <a:extLst xmlns:a="http://schemas.openxmlformats.org/drawingml/2006/main">
              <a:ext uri="{FF2B5EF4-FFF2-40B4-BE49-F238E27FC236}">
                <a16:creationId xmlns:a16="http://schemas.microsoft.com/office/drawing/2014/main" id="{8B226E29-D0D7-417F-9D72-B7033194A7B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 Doeloefening · Boekpagina 42">
            <a:extLst xmlns:a="http://schemas.openxmlformats.org/drawingml/2006/main">
              <a:ext uri="{FF2B5EF4-FFF2-40B4-BE49-F238E27FC236}">
                <a16:creationId xmlns:a16="http://schemas.microsoft.com/office/drawing/2014/main" id="{288BD9C0-A60A-48AF-9EC7-69062CF10F8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 · Doeloefening · Boekpagina 42</a:t>
            </a:r>
          </a:p>
        </p:txBody>
      </p:sp>
      <p:sp>
        <p:nvSpPr>
          <p:cNvPr id="4" name="slide-number">
            <a:extLst xmlns:a="http://schemas.openxmlformats.org/drawingml/2006/main">
              <a:ext uri="{FF2B5EF4-FFF2-40B4-BE49-F238E27FC236}">
                <a16:creationId xmlns:a16="http://schemas.microsoft.com/office/drawing/2014/main" id="{345ECF63-29DA-4347-93EB-AED0F9E9FBD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c">
            <a:extLst xmlns:a="http://schemas.openxmlformats.org/drawingml/2006/main">
              <a:ext uri="{FF2B5EF4-FFF2-40B4-BE49-F238E27FC236}">
                <a16:creationId xmlns:a16="http://schemas.microsoft.com/office/drawing/2014/main" id="{66BC9142-EEB1-4657-B05F-D2423B67BC66}"/>
              </a:ext>
            </a:extLst>
          </p:cNvPr>
          <p:cNvSpPr>
            <a:spLocks xmlns:a="http://schemas.openxmlformats.org/drawingml/2006/main" noGrp="1"/>
          </p:cNvSpPr>
          <p:nvPr/>
        </p:nvSpPr>
        <p:spPr>
          <a:xfrm xmlns:a="http://schemas.openxmlformats.org/drawingml/2006/main">
            <a:off x="571500" y="1962150"/>
            <a:ext cx="114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c</a:t>
            </a:r>
          </a:p>
        </p:txBody>
      </p:sp>
      <p:sp>
        <p:nvSpPr>
          <p:cNvPr id="6" name="Classificeer de vraag naar StreamNow met Ev = −2 en ver">
            <a:extLst xmlns:a="http://schemas.openxmlformats.org/drawingml/2006/main">
              <a:ext uri="{FF2B5EF4-FFF2-40B4-BE49-F238E27FC236}">
                <a16:creationId xmlns:a16="http://schemas.microsoft.com/office/drawing/2014/main" id="{FCE47E74-4722-43EB-B3A8-D5DBEB15E5BB}"/>
              </a:ext>
            </a:extLst>
          </p:cNvPr>
          <p:cNvSpPr>
            <a:spLocks xmlns:a="http://schemas.openxmlformats.org/drawingml/2006/main" noGrp="1"/>
          </p:cNvSpPr>
          <p:nvPr/>
        </p:nvSpPr>
        <p:spPr>
          <a:xfrm xmlns:a="http://schemas.openxmlformats.org/drawingml/2006/main">
            <a:off x="2190750" y="1962150"/>
            <a:ext cx="1238250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Classificeer de vraag naar StreamNow met Ev = −2 en vergelijk</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de prijsgevoeligheid met die van Bioscoop Nova.</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(2 punten)</a:t>
            </a:r>
          </a:p>
        </p:txBody>
      </p:sp>
      <p:sp>
        <p:nvSpPr>
          <p:cNvPr id="7" name="">
            <a:extLst xmlns:a="http://schemas.openxmlformats.org/drawingml/2006/main">
              <a:ext uri="{FF2B5EF4-FFF2-40B4-BE49-F238E27FC236}">
                <a16:creationId xmlns:a16="http://schemas.microsoft.com/office/drawing/2014/main" id="{12E835D8-2AC5-43CB-9439-E7FE8536894B}"/>
              </a:ext>
            </a:extLst>
          </p:cNvPr>
          <p:cNvSpPr>
            <a:spLocks xmlns:a="http://schemas.openxmlformats.org/drawingml/2006/main" noGrp="1"/>
          </p:cNvSpPr>
          <p:nvPr/>
        </p:nvSpPr>
        <p:spPr>
          <a:xfrm xmlns:a="http://schemas.openxmlformats.org/drawingml/2006/main">
            <a:off x="571500" y="4448175"/>
            <a:ext cx="14097000" cy="0"/>
          </a:xfrm>
          <a:prstGeom xmlns:a="http://schemas.openxmlformats.org/drawingml/2006/main" prst="line">
            <a:avLst/>
          </a:prstGeom>
          <a:ln xmlns:a="http://schemas.openxmlformats.org/drawingml/2006/main" w="19050">
            <a:solidFill>
              <a:srgbClr val="C6D2DB"/>
            </a:solidFill>
          </a:ln>
        </p:spPr>
      </p:sp>
      <p:sp>
        <p:nvSpPr>
          <p:cNvPr id="8" name="d">
            <a:extLst xmlns:a="http://schemas.openxmlformats.org/drawingml/2006/main">
              <a:ext uri="{FF2B5EF4-FFF2-40B4-BE49-F238E27FC236}">
                <a16:creationId xmlns:a16="http://schemas.microsoft.com/office/drawing/2014/main" id="{95937016-B34A-4293-8E4D-0DCE269A0E1D}"/>
              </a:ext>
            </a:extLst>
          </p:cNvPr>
          <p:cNvSpPr>
            <a:spLocks xmlns:a="http://schemas.openxmlformats.org/drawingml/2006/main" noGrp="1"/>
          </p:cNvSpPr>
          <p:nvPr/>
        </p:nvSpPr>
        <p:spPr>
          <a:xfrm xmlns:a="http://schemas.openxmlformats.org/drawingml/2006/main">
            <a:off x="571500" y="4933950"/>
            <a:ext cx="114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d</a:t>
            </a:r>
          </a:p>
        </p:txBody>
      </p:sp>
      <p:sp>
        <p:nvSpPr>
          <p:cNvPr id="9" name="Geef één plausibele contextverklaring voor het verschil">
            <a:extLst xmlns:a="http://schemas.openxmlformats.org/drawingml/2006/main">
              <a:ext uri="{FF2B5EF4-FFF2-40B4-BE49-F238E27FC236}">
                <a16:creationId xmlns:a16="http://schemas.microsoft.com/office/drawing/2014/main" id="{F624D905-24B5-4FBA-ADF6-7BCB460463B1}"/>
              </a:ext>
            </a:extLst>
          </p:cNvPr>
          <p:cNvSpPr>
            <a:spLocks xmlns:a="http://schemas.openxmlformats.org/drawingml/2006/main" noGrp="1"/>
          </p:cNvSpPr>
          <p:nvPr/>
        </p:nvSpPr>
        <p:spPr>
          <a:xfrm xmlns:a="http://schemas.openxmlformats.org/drawingml/2006/main">
            <a:off x="2190750" y="4933950"/>
            <a:ext cx="1238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Geef één plausibele contextverklaring voor het verschil in</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prijsgevoeligheid. Baseer je verklaring niet op een andere</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elasticiteitssoort. (2 punten)</a:t>
            </a:r>
          </a:p>
        </p:txBody>
      </p:sp>
    </p:spTree>
    <p:extLst>
      <p:ext uri="{BB962C8B-B14F-4D97-AF65-F5344CB8AC3E}">
        <p14:creationId xmlns:p14="http://schemas.microsoft.com/office/powerpoint/2010/main" val="200524135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7a: de procentuele prijsverandering">
            <a:extLst xmlns:a="http://schemas.openxmlformats.org/drawingml/2006/main">
              <a:ext uri="{FF2B5EF4-FFF2-40B4-BE49-F238E27FC236}">
                <a16:creationId xmlns:a16="http://schemas.microsoft.com/office/drawing/2014/main" id="{E2F963B5-858C-4B35-A761-3974617FB97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7a: de procentuele prijsverandering</a:t>
            </a:r>
          </a:p>
        </p:txBody>
      </p:sp>
      <p:sp>
        <p:nvSpPr>
          <p:cNvPr id="2" name="">
            <a:extLst xmlns:a="http://schemas.openxmlformats.org/drawingml/2006/main">
              <a:ext uri="{FF2B5EF4-FFF2-40B4-BE49-F238E27FC236}">
                <a16:creationId xmlns:a16="http://schemas.microsoft.com/office/drawing/2014/main" id="{7971ECCB-8717-48D5-958B-00C30994CCC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 Opgave 7 · Boekpagina 42">
            <a:extLst xmlns:a="http://schemas.openxmlformats.org/drawingml/2006/main">
              <a:ext uri="{FF2B5EF4-FFF2-40B4-BE49-F238E27FC236}">
                <a16:creationId xmlns:a16="http://schemas.microsoft.com/office/drawing/2014/main" id="{150979A1-27EC-45BE-9063-826D37CC847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 · Opgave 7 · Boekpagina 42</a:t>
            </a:r>
          </a:p>
        </p:txBody>
      </p:sp>
      <p:sp>
        <p:nvSpPr>
          <p:cNvPr id="4" name="slide-number">
            <a:extLst xmlns:a="http://schemas.openxmlformats.org/drawingml/2006/main">
              <a:ext uri="{FF2B5EF4-FFF2-40B4-BE49-F238E27FC236}">
                <a16:creationId xmlns:a16="http://schemas.microsoft.com/office/drawing/2014/main" id="{410FE475-F5A8-4BB1-B8B8-DA8414B6DDC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Nova: € 10 naar € 12 per ticket">
            <a:extLst xmlns:a="http://schemas.openxmlformats.org/drawingml/2006/main">
              <a:ext uri="{FF2B5EF4-FFF2-40B4-BE49-F238E27FC236}">
                <a16:creationId xmlns:a16="http://schemas.microsoft.com/office/drawing/2014/main" id="{9E3B70A8-3D1A-4CCE-8575-01CC8ED3BDBA}"/>
              </a:ext>
            </a:extLst>
          </p:cNvPr>
          <p:cNvSpPr>
            <a:spLocks xmlns:a="http://schemas.openxmlformats.org/drawingml/2006/main" noGrp="1"/>
          </p:cNvSpPr>
          <p:nvPr/>
        </p:nvSpPr>
        <p:spPr>
          <a:xfrm xmlns:a="http://schemas.openxmlformats.org/drawingml/2006/main">
            <a:off x="571500" y="18192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Nova: € 10 naar € 12 per ticket</a:t>
            </a:r>
          </a:p>
        </p:txBody>
      </p:sp>
      <p:sp>
        <p:nvSpPr>
          <p:cNvPr id="6" name="%ΔP = (nieuwe P − oude P) / oude P × 100%">
            <a:extLst xmlns:a="http://schemas.openxmlformats.org/drawingml/2006/main">
              <a:ext uri="{FF2B5EF4-FFF2-40B4-BE49-F238E27FC236}">
                <a16:creationId xmlns:a16="http://schemas.microsoft.com/office/drawing/2014/main" id="{A5911149-A161-41C7-8A2C-5FBC554609F1}"/>
              </a:ext>
            </a:extLst>
          </p:cNvPr>
          <p:cNvSpPr>
            <a:spLocks xmlns:a="http://schemas.openxmlformats.org/drawingml/2006/main" noGrp="1"/>
          </p:cNvSpPr>
          <p:nvPr/>
        </p:nvSpPr>
        <p:spPr>
          <a:xfrm xmlns:a="http://schemas.openxmlformats.org/drawingml/2006/main">
            <a:off x="571500" y="2714625"/>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%ΔP = (nieuwe P − oude P) / oude P × 100%</a:t>
            </a:r>
          </a:p>
        </p:txBody>
      </p:sp>
      <p:sp>
        <p:nvSpPr>
          <p:cNvPr id="7" name="%ΔP = (12 − 10) / 10 × 100%">
            <a:extLst xmlns:a="http://schemas.openxmlformats.org/drawingml/2006/main">
              <a:ext uri="{FF2B5EF4-FFF2-40B4-BE49-F238E27FC236}">
                <a16:creationId xmlns:a16="http://schemas.microsoft.com/office/drawing/2014/main" id="{05183E0B-EDE8-463F-8E2C-DB4D953F850B}"/>
              </a:ext>
            </a:extLst>
          </p:cNvPr>
          <p:cNvSpPr>
            <a:spLocks xmlns:a="http://schemas.openxmlformats.org/drawingml/2006/main" noGrp="1"/>
          </p:cNvSpPr>
          <p:nvPr/>
        </p:nvSpPr>
        <p:spPr>
          <a:xfrm xmlns:a="http://schemas.openxmlformats.org/drawingml/2006/main">
            <a:off x="571500" y="40290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%ΔP = (12 − 10) / 10 × 100%</a:t>
            </a:r>
          </a:p>
        </p:txBody>
      </p:sp>
      <p:sp>
        <p:nvSpPr>
          <p:cNvPr id="8" name="%ΔP = +20%">
            <a:extLst xmlns:a="http://schemas.openxmlformats.org/drawingml/2006/main">
              <a:ext uri="{FF2B5EF4-FFF2-40B4-BE49-F238E27FC236}">
                <a16:creationId xmlns:a16="http://schemas.microsoft.com/office/drawing/2014/main" id="{3B00ED14-BB12-43E9-A299-4192032FBBB7}"/>
              </a:ext>
            </a:extLst>
          </p:cNvPr>
          <p:cNvSpPr>
            <a:spLocks xmlns:a="http://schemas.openxmlformats.org/drawingml/2006/main" noGrp="1"/>
          </p:cNvSpPr>
          <p:nvPr/>
        </p:nvSpPr>
        <p:spPr>
          <a:xfrm xmlns:a="http://schemas.openxmlformats.org/drawingml/2006/main">
            <a:off x="571500" y="5400675"/>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20665B"/>
                </a:solidFill>
                <a:latin typeface="Arial"/>
                <a:ea typeface="Arial"/>
                <a:cs typeface="Arial"/>
              </a:defRPr>
            </a:pPr>
            <a:r>
              <a:rPr sz="3900" b="1">
                <a:solidFill>
                  <a:srgbClr val="20665B"/>
                </a:solidFill>
                <a:latin typeface="Arial"/>
                <a:ea typeface="Arial"/>
                <a:cs typeface="Arial"/>
              </a:rPr>
              <a:t>%ΔP = +20%</a:t>
            </a:r>
          </a:p>
        </p:txBody>
      </p:sp>
      <p:sp>
        <p:nvSpPr>
          <p:cNvPr id="9" name="">
            <a:extLst xmlns:a="http://schemas.openxmlformats.org/drawingml/2006/main">
              <a:ext uri="{FF2B5EF4-FFF2-40B4-BE49-F238E27FC236}">
                <a16:creationId xmlns:a16="http://schemas.microsoft.com/office/drawing/2014/main" id="{420890C0-9DE9-4729-A8D1-E6EB08CEB491}"/>
              </a:ext>
            </a:extLst>
          </p:cNvPr>
          <p:cNvSpPr>
            <a:spLocks xmlns:a="http://schemas.openxmlformats.org/drawingml/2006/main" noGrp="1"/>
          </p:cNvSpPr>
          <p:nvPr/>
        </p:nvSpPr>
        <p:spPr>
          <a:xfrm xmlns:a="http://schemas.openxmlformats.org/drawingml/2006/main">
            <a:off x="571500" y="6600825"/>
            <a:ext cx="14097000" cy="0"/>
          </a:xfrm>
          <a:prstGeom xmlns:a="http://schemas.openxmlformats.org/drawingml/2006/main" prst="line">
            <a:avLst/>
          </a:prstGeom>
          <a:ln xmlns:a="http://schemas.openxmlformats.org/drawingml/2006/main" w="19050">
            <a:solidFill>
              <a:srgbClr val="C6D2DB"/>
            </a:solidFill>
          </a:ln>
        </p:spPr>
      </p:sp>
      <p:sp>
        <p:nvSpPr>
          <p:cNvPr id="10" name="Controle: € 10 × 1,20 = € 12">
            <a:extLst xmlns:a="http://schemas.openxmlformats.org/drawingml/2006/main">
              <a:ext uri="{FF2B5EF4-FFF2-40B4-BE49-F238E27FC236}">
                <a16:creationId xmlns:a16="http://schemas.microsoft.com/office/drawing/2014/main" id="{24A58FC0-6E52-481C-9F0C-9793898AE2BD}"/>
              </a:ext>
            </a:extLst>
          </p:cNvPr>
          <p:cNvSpPr>
            <a:spLocks xmlns:a="http://schemas.openxmlformats.org/drawingml/2006/main" noGrp="1"/>
          </p:cNvSpPr>
          <p:nvPr/>
        </p:nvSpPr>
        <p:spPr>
          <a:xfrm xmlns:a="http://schemas.openxmlformats.org/drawingml/2006/main">
            <a:off x="571500" y="70675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Controle: € 10 × 1,20 = € 12</a:t>
            </a:r>
          </a:p>
        </p:txBody>
      </p:sp>
    </p:spTree>
    <p:extLst>
      <p:ext uri="{BB962C8B-B14F-4D97-AF65-F5344CB8AC3E}">
        <p14:creationId xmlns:p14="http://schemas.microsoft.com/office/powerpoint/2010/main" val="18288714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7a: de procentuele hoeveelheidsverandering">
            <a:extLst xmlns:a="http://schemas.openxmlformats.org/drawingml/2006/main">
              <a:ext uri="{FF2B5EF4-FFF2-40B4-BE49-F238E27FC236}">
                <a16:creationId xmlns:a16="http://schemas.microsoft.com/office/drawing/2014/main" id="{F14A1708-E6EC-410B-8E7E-A3ECE596077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7a: de procentuele hoeveelheidsverandering</a:t>
            </a:r>
          </a:p>
        </p:txBody>
      </p:sp>
      <p:sp>
        <p:nvSpPr>
          <p:cNvPr id="2" name="">
            <a:extLst xmlns:a="http://schemas.openxmlformats.org/drawingml/2006/main">
              <a:ext uri="{FF2B5EF4-FFF2-40B4-BE49-F238E27FC236}">
                <a16:creationId xmlns:a16="http://schemas.microsoft.com/office/drawing/2014/main" id="{7FDB6990-2D9C-4BBF-8BCE-4ED978DFCBF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 Opgave 7 · Boekpagina 42">
            <a:extLst xmlns:a="http://schemas.openxmlformats.org/drawingml/2006/main">
              <a:ext uri="{FF2B5EF4-FFF2-40B4-BE49-F238E27FC236}">
                <a16:creationId xmlns:a16="http://schemas.microsoft.com/office/drawing/2014/main" id="{3611D998-4AF1-41A8-9AB2-2F8D7FC2C36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 · Opgave 7 · Boekpagina 42</a:t>
            </a:r>
          </a:p>
        </p:txBody>
      </p:sp>
      <p:sp>
        <p:nvSpPr>
          <p:cNvPr id="4" name="slide-number">
            <a:extLst xmlns:a="http://schemas.openxmlformats.org/drawingml/2006/main">
              <a:ext uri="{FF2B5EF4-FFF2-40B4-BE49-F238E27FC236}">
                <a16:creationId xmlns:a16="http://schemas.microsoft.com/office/drawing/2014/main" id="{3DAF15C7-2159-4D80-9E80-37C08121A86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Nova: 500 naar 420 tickets per week">
            <a:extLst xmlns:a="http://schemas.openxmlformats.org/drawingml/2006/main">
              <a:ext uri="{FF2B5EF4-FFF2-40B4-BE49-F238E27FC236}">
                <a16:creationId xmlns:a16="http://schemas.microsoft.com/office/drawing/2014/main" id="{96A4DDDC-707A-4728-8897-42890A7282BB}"/>
              </a:ext>
            </a:extLst>
          </p:cNvPr>
          <p:cNvSpPr>
            <a:spLocks xmlns:a="http://schemas.openxmlformats.org/drawingml/2006/main" noGrp="1"/>
          </p:cNvSpPr>
          <p:nvPr/>
        </p:nvSpPr>
        <p:spPr>
          <a:xfrm xmlns:a="http://schemas.openxmlformats.org/drawingml/2006/main">
            <a:off x="571500" y="18192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Nova: 500 naar 420 tickets per week</a:t>
            </a:r>
          </a:p>
        </p:txBody>
      </p:sp>
      <p:sp>
        <p:nvSpPr>
          <p:cNvPr id="6" name="%ΔQv = (nieuwe Qv − oude Qv) / oude Qv × 100%">
            <a:extLst xmlns:a="http://schemas.openxmlformats.org/drawingml/2006/main">
              <a:ext uri="{FF2B5EF4-FFF2-40B4-BE49-F238E27FC236}">
                <a16:creationId xmlns:a16="http://schemas.microsoft.com/office/drawing/2014/main" id="{EE77F23C-2E47-4117-BD70-B6460AE56B0A}"/>
              </a:ext>
            </a:extLst>
          </p:cNvPr>
          <p:cNvSpPr>
            <a:spLocks xmlns:a="http://schemas.openxmlformats.org/drawingml/2006/main" noGrp="1"/>
          </p:cNvSpPr>
          <p:nvPr/>
        </p:nvSpPr>
        <p:spPr>
          <a:xfrm xmlns:a="http://schemas.openxmlformats.org/drawingml/2006/main">
            <a:off x="571500" y="2714625"/>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%ΔQv = (nieuwe Qv − oude Qv) / oude Qv × 100%</a:t>
            </a:r>
          </a:p>
        </p:txBody>
      </p:sp>
      <p:sp>
        <p:nvSpPr>
          <p:cNvPr id="7" name="%ΔQv = (420 − 500) / 500 × 100%">
            <a:extLst xmlns:a="http://schemas.openxmlformats.org/drawingml/2006/main">
              <a:ext uri="{FF2B5EF4-FFF2-40B4-BE49-F238E27FC236}">
                <a16:creationId xmlns:a16="http://schemas.microsoft.com/office/drawing/2014/main" id="{037025FF-8C61-4101-8355-371BFA3CA6D6}"/>
              </a:ext>
            </a:extLst>
          </p:cNvPr>
          <p:cNvSpPr>
            <a:spLocks xmlns:a="http://schemas.openxmlformats.org/drawingml/2006/main" noGrp="1"/>
          </p:cNvSpPr>
          <p:nvPr/>
        </p:nvSpPr>
        <p:spPr>
          <a:xfrm xmlns:a="http://schemas.openxmlformats.org/drawingml/2006/main">
            <a:off x="571500" y="40290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%ΔQv = (420 − 500) / 500 × 100%</a:t>
            </a:r>
          </a:p>
        </p:txBody>
      </p:sp>
      <p:sp>
        <p:nvSpPr>
          <p:cNvPr id="8" name="%ΔQv = −16%">
            <a:extLst xmlns:a="http://schemas.openxmlformats.org/drawingml/2006/main">
              <a:ext uri="{FF2B5EF4-FFF2-40B4-BE49-F238E27FC236}">
                <a16:creationId xmlns:a16="http://schemas.microsoft.com/office/drawing/2014/main" id="{8825A349-65F3-4FCA-B019-B81937F130C4}"/>
              </a:ext>
            </a:extLst>
          </p:cNvPr>
          <p:cNvSpPr>
            <a:spLocks xmlns:a="http://schemas.openxmlformats.org/drawingml/2006/main" noGrp="1"/>
          </p:cNvSpPr>
          <p:nvPr/>
        </p:nvSpPr>
        <p:spPr>
          <a:xfrm xmlns:a="http://schemas.openxmlformats.org/drawingml/2006/main">
            <a:off x="571500" y="5400675"/>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20665B"/>
                </a:solidFill>
                <a:latin typeface="Arial"/>
                <a:ea typeface="Arial"/>
                <a:cs typeface="Arial"/>
              </a:defRPr>
            </a:pPr>
            <a:r>
              <a:rPr sz="3900" b="1">
                <a:solidFill>
                  <a:srgbClr val="20665B"/>
                </a:solidFill>
                <a:latin typeface="Arial"/>
                <a:ea typeface="Arial"/>
                <a:cs typeface="Arial"/>
              </a:rPr>
              <a:t>%ΔQv = −16%</a:t>
            </a:r>
          </a:p>
        </p:txBody>
      </p:sp>
      <p:sp>
        <p:nvSpPr>
          <p:cNvPr id="9" name="">
            <a:extLst xmlns:a="http://schemas.openxmlformats.org/drawingml/2006/main">
              <a:ext uri="{FF2B5EF4-FFF2-40B4-BE49-F238E27FC236}">
                <a16:creationId xmlns:a16="http://schemas.microsoft.com/office/drawing/2014/main" id="{66C678BA-1A16-4211-A000-AB675F7A3296}"/>
              </a:ext>
            </a:extLst>
          </p:cNvPr>
          <p:cNvSpPr>
            <a:spLocks xmlns:a="http://schemas.openxmlformats.org/drawingml/2006/main" noGrp="1"/>
          </p:cNvSpPr>
          <p:nvPr/>
        </p:nvSpPr>
        <p:spPr>
          <a:xfrm xmlns:a="http://schemas.openxmlformats.org/drawingml/2006/main">
            <a:off x="571500" y="6600825"/>
            <a:ext cx="14097000" cy="0"/>
          </a:xfrm>
          <a:prstGeom xmlns:a="http://schemas.openxmlformats.org/drawingml/2006/main" prst="line">
            <a:avLst/>
          </a:prstGeom>
          <a:ln xmlns:a="http://schemas.openxmlformats.org/drawingml/2006/main" w="19050">
            <a:solidFill>
              <a:srgbClr val="C6D2DB"/>
            </a:solidFill>
          </a:ln>
        </p:spPr>
      </p:sp>
      <p:sp>
        <p:nvSpPr>
          <p:cNvPr id="10" name="Controle: 500 × 0,84 = 420 tickets per week">
            <a:extLst xmlns:a="http://schemas.openxmlformats.org/drawingml/2006/main">
              <a:ext uri="{FF2B5EF4-FFF2-40B4-BE49-F238E27FC236}">
                <a16:creationId xmlns:a16="http://schemas.microsoft.com/office/drawing/2014/main" id="{B3A3421A-3AF6-4B11-8D33-91F12B9E0B84}"/>
              </a:ext>
            </a:extLst>
          </p:cNvPr>
          <p:cNvSpPr>
            <a:spLocks xmlns:a="http://schemas.openxmlformats.org/drawingml/2006/main" noGrp="1"/>
          </p:cNvSpPr>
          <p:nvPr/>
        </p:nvSpPr>
        <p:spPr>
          <a:xfrm xmlns:a="http://schemas.openxmlformats.org/drawingml/2006/main">
            <a:off x="571500" y="70675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Controle: 500 × 0,84 = 420 tickets per week</a:t>
            </a:r>
          </a:p>
        </p:txBody>
      </p:sp>
    </p:spTree>
    <p:extLst>
      <p:ext uri="{BB962C8B-B14F-4D97-AF65-F5344CB8AC3E}">
        <p14:creationId xmlns:p14="http://schemas.microsoft.com/office/powerpoint/2010/main" val="18857509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a: de elasticiteit van Nova">
            <a:extLst xmlns:a="http://schemas.openxmlformats.org/drawingml/2006/main">
              <a:ext uri="{FF2B5EF4-FFF2-40B4-BE49-F238E27FC236}">
                <a16:creationId xmlns:a16="http://schemas.microsoft.com/office/drawing/2014/main" id="{706960EC-561E-45DE-B9DB-2E4ABDBEE50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7a: de elasticiteit van Nova</a:t>
            </a:r>
          </a:p>
        </p:txBody>
      </p:sp>
      <p:sp>
        <p:nvSpPr>
          <p:cNvPr id="2" name="">
            <a:extLst xmlns:a="http://schemas.openxmlformats.org/drawingml/2006/main">
              <a:ext uri="{FF2B5EF4-FFF2-40B4-BE49-F238E27FC236}">
                <a16:creationId xmlns:a16="http://schemas.microsoft.com/office/drawing/2014/main" id="{7AA3FA12-C387-4622-9984-B91D28625E8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 Opgave 7 · Boekpagina 42">
            <a:extLst xmlns:a="http://schemas.openxmlformats.org/drawingml/2006/main">
              <a:ext uri="{FF2B5EF4-FFF2-40B4-BE49-F238E27FC236}">
                <a16:creationId xmlns:a16="http://schemas.microsoft.com/office/drawing/2014/main" id="{302EBE97-DC17-4560-80E5-48DDF5AA718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 · Opgave 7 · Boekpagina 42</a:t>
            </a:r>
          </a:p>
        </p:txBody>
      </p:sp>
      <p:sp>
        <p:nvSpPr>
          <p:cNvPr id="4" name="slide-number">
            <a:extLst xmlns:a="http://schemas.openxmlformats.org/drawingml/2006/main">
              <a:ext uri="{FF2B5EF4-FFF2-40B4-BE49-F238E27FC236}">
                <a16:creationId xmlns:a16="http://schemas.microsoft.com/office/drawing/2014/main" id="{C03B29CD-68DF-49CE-91E9-4EDF8A8676C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Ev = %ΔQv / %ΔP">
            <a:extLst xmlns:a="http://schemas.openxmlformats.org/drawingml/2006/main">
              <a:ext uri="{FF2B5EF4-FFF2-40B4-BE49-F238E27FC236}">
                <a16:creationId xmlns:a16="http://schemas.microsoft.com/office/drawing/2014/main" id="{E93C4FDD-5CE6-4021-9CA7-AD9575D531ED}"/>
              </a:ext>
            </a:extLst>
          </p:cNvPr>
          <p:cNvSpPr>
            <a:spLocks xmlns:a="http://schemas.openxmlformats.org/drawingml/2006/main" noGrp="1"/>
          </p:cNvSpPr>
          <p:nvPr/>
        </p:nvSpPr>
        <p:spPr>
          <a:xfrm xmlns:a="http://schemas.openxmlformats.org/drawingml/2006/main">
            <a:off x="571500" y="206692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7658A"/>
                </a:solidFill>
                <a:latin typeface="Arial"/>
                <a:ea typeface="Arial"/>
                <a:cs typeface="Arial"/>
              </a:defRPr>
            </a:pPr>
            <a:r>
              <a:rPr sz="3675" b="1">
                <a:solidFill>
                  <a:srgbClr val="17658A"/>
                </a:solidFill>
                <a:latin typeface="Arial"/>
                <a:ea typeface="Arial"/>
                <a:cs typeface="Arial"/>
              </a:rPr>
              <a:t>Ev = %ΔQv / %ΔP</a:t>
            </a:r>
          </a:p>
        </p:txBody>
      </p:sp>
      <p:sp>
        <p:nvSpPr>
          <p:cNvPr id="6" name="Ev = −16% / +20% = −0,8">
            <a:extLst xmlns:a="http://schemas.openxmlformats.org/drawingml/2006/main">
              <a:ext uri="{FF2B5EF4-FFF2-40B4-BE49-F238E27FC236}">
                <a16:creationId xmlns:a16="http://schemas.microsoft.com/office/drawing/2014/main" id="{7C8A997A-2CAE-4B32-8599-BF3E6EF9B24A}"/>
              </a:ext>
            </a:extLst>
          </p:cNvPr>
          <p:cNvSpPr>
            <a:spLocks xmlns:a="http://schemas.openxmlformats.org/drawingml/2006/main" noGrp="1"/>
          </p:cNvSpPr>
          <p:nvPr/>
        </p:nvSpPr>
        <p:spPr>
          <a:xfrm xmlns:a="http://schemas.openxmlformats.org/drawingml/2006/main">
            <a:off x="571500" y="3676650"/>
            <a:ext cx="14097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183247"/>
                </a:solidFill>
                <a:latin typeface="Arial"/>
                <a:ea typeface="Arial"/>
                <a:cs typeface="Arial"/>
              </a:defRPr>
            </a:pPr>
            <a:r>
              <a:rPr sz="4350" b="1">
                <a:solidFill>
                  <a:srgbClr val="183247"/>
                </a:solidFill>
                <a:latin typeface="Arial"/>
                <a:ea typeface="Arial"/>
                <a:cs typeface="Arial"/>
              </a:rPr>
              <a:t>Ev = −16% / +20% = −0,8</a:t>
            </a:r>
          </a:p>
        </p:txBody>
      </p:sp>
      <p:sp>
        <p:nvSpPr>
          <p:cNvPr id="7" name="Ev heeft geen eenheid en geen procentteken.">
            <a:extLst xmlns:a="http://schemas.openxmlformats.org/drawingml/2006/main">
              <a:ext uri="{FF2B5EF4-FFF2-40B4-BE49-F238E27FC236}">
                <a16:creationId xmlns:a16="http://schemas.microsoft.com/office/drawing/2014/main" id="{C7137A0F-B520-4D6E-9997-4761D4813927}"/>
              </a:ext>
            </a:extLst>
          </p:cNvPr>
          <p:cNvSpPr>
            <a:spLocks xmlns:a="http://schemas.openxmlformats.org/drawingml/2006/main" noGrp="1"/>
          </p:cNvSpPr>
          <p:nvPr/>
        </p:nvSpPr>
        <p:spPr>
          <a:xfrm xmlns:a="http://schemas.openxmlformats.org/drawingml/2006/main">
            <a:off x="571500" y="54292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Ev heeft geen eenheid en geen procentteken.</a:t>
            </a:r>
          </a:p>
        </p:txBody>
      </p:sp>
      <p:sp>
        <p:nvSpPr>
          <p:cNvPr id="8" name="">
            <a:extLst xmlns:a="http://schemas.openxmlformats.org/drawingml/2006/main">
              <a:ext uri="{FF2B5EF4-FFF2-40B4-BE49-F238E27FC236}">
                <a16:creationId xmlns:a16="http://schemas.microsoft.com/office/drawing/2014/main" id="{89330084-18BC-40DB-920C-62F654C78513}"/>
              </a:ext>
            </a:extLst>
          </p:cNvPr>
          <p:cNvSpPr>
            <a:spLocks xmlns:a="http://schemas.openxmlformats.org/drawingml/2006/main" noGrp="1"/>
          </p:cNvSpPr>
          <p:nvPr/>
        </p:nvSpPr>
        <p:spPr>
          <a:xfrm xmlns:a="http://schemas.openxmlformats.org/drawingml/2006/main">
            <a:off x="571500" y="6610350"/>
            <a:ext cx="14097000" cy="0"/>
          </a:xfrm>
          <a:prstGeom xmlns:a="http://schemas.openxmlformats.org/drawingml/2006/main" prst="line">
            <a:avLst/>
          </a:prstGeom>
          <a:ln xmlns:a="http://schemas.openxmlformats.org/drawingml/2006/main" w="19050">
            <a:solidFill>
              <a:srgbClr val="C6D2DB"/>
            </a:solidFill>
          </a:ln>
        </p:spPr>
      </p:sp>
      <p:sp>
        <p:nvSpPr>
          <p:cNvPr id="9" name="Controle: −0,8 × (+20%) = −16%">
            <a:extLst xmlns:a="http://schemas.openxmlformats.org/drawingml/2006/main">
              <a:ext uri="{FF2B5EF4-FFF2-40B4-BE49-F238E27FC236}">
                <a16:creationId xmlns:a16="http://schemas.microsoft.com/office/drawing/2014/main" id="{CE36F522-B543-4FE5-9B92-FC9FB34315B3}"/>
              </a:ext>
            </a:extLst>
          </p:cNvPr>
          <p:cNvSpPr>
            <a:spLocks xmlns:a="http://schemas.openxmlformats.org/drawingml/2006/main" noGrp="1"/>
          </p:cNvSpPr>
          <p:nvPr/>
        </p:nvSpPr>
        <p:spPr>
          <a:xfrm xmlns:a="http://schemas.openxmlformats.org/drawingml/2006/main">
            <a:off x="571500" y="708660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Controle: −0,8 × (+20%) = −16%</a:t>
            </a:r>
          </a:p>
        </p:txBody>
      </p:sp>
    </p:spTree>
    <p:extLst>
      <p:ext uri="{BB962C8B-B14F-4D97-AF65-F5344CB8AC3E}">
        <p14:creationId xmlns:p14="http://schemas.microsoft.com/office/powerpoint/2010/main" val="49657984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b: prijsinelastische vraag">
            <a:extLst xmlns:a="http://schemas.openxmlformats.org/drawingml/2006/main">
              <a:ext uri="{FF2B5EF4-FFF2-40B4-BE49-F238E27FC236}">
                <a16:creationId xmlns:a16="http://schemas.microsoft.com/office/drawing/2014/main" id="{F423320A-88E6-4878-B20C-EC5E5101AFB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7b: prijsinelastische vraag</a:t>
            </a:r>
          </a:p>
        </p:txBody>
      </p:sp>
      <p:sp>
        <p:nvSpPr>
          <p:cNvPr id="2" name="">
            <a:extLst xmlns:a="http://schemas.openxmlformats.org/drawingml/2006/main">
              <a:ext uri="{FF2B5EF4-FFF2-40B4-BE49-F238E27FC236}">
                <a16:creationId xmlns:a16="http://schemas.microsoft.com/office/drawing/2014/main" id="{990A70E1-B416-4218-B934-A03D017543A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 Opgave 7 · Boekpagina 42">
            <a:extLst xmlns:a="http://schemas.openxmlformats.org/drawingml/2006/main">
              <a:ext uri="{FF2B5EF4-FFF2-40B4-BE49-F238E27FC236}">
                <a16:creationId xmlns:a16="http://schemas.microsoft.com/office/drawing/2014/main" id="{D53B1E2C-313B-4865-9434-971C7D2E674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 · Opgave 7 · Boekpagina 42</a:t>
            </a:r>
          </a:p>
        </p:txBody>
      </p:sp>
      <p:sp>
        <p:nvSpPr>
          <p:cNvPr id="4" name="slide-number">
            <a:extLst xmlns:a="http://schemas.openxmlformats.org/drawingml/2006/main">
              <a:ext uri="{FF2B5EF4-FFF2-40B4-BE49-F238E27FC236}">
                <a16:creationId xmlns:a16="http://schemas.microsoft.com/office/drawing/2014/main" id="{E0376B17-C027-46E4-AE36-10C92547A06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1 &lt; −0,8 &lt; 0">
            <a:extLst xmlns:a="http://schemas.openxmlformats.org/drawingml/2006/main">
              <a:ext uri="{FF2B5EF4-FFF2-40B4-BE49-F238E27FC236}">
                <a16:creationId xmlns:a16="http://schemas.microsoft.com/office/drawing/2014/main" id="{44B4194E-A5C8-48F7-BFDC-9151DC0CCC6E}"/>
              </a:ext>
            </a:extLst>
          </p:cNvPr>
          <p:cNvSpPr>
            <a:spLocks xmlns:a="http://schemas.openxmlformats.org/drawingml/2006/main" noGrp="1"/>
          </p:cNvSpPr>
          <p:nvPr/>
        </p:nvSpPr>
        <p:spPr>
          <a:xfrm xmlns:a="http://schemas.openxmlformats.org/drawingml/2006/main">
            <a:off x="571500" y="20002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17658A"/>
                </a:solidFill>
                <a:latin typeface="Arial"/>
                <a:ea typeface="Arial"/>
                <a:cs typeface="Arial"/>
              </a:defRPr>
            </a:pPr>
            <a:r>
              <a:rPr sz="4350" b="1">
                <a:solidFill>
                  <a:srgbClr val="17658A"/>
                </a:solidFill>
                <a:latin typeface="Arial"/>
                <a:ea typeface="Arial"/>
                <a:cs typeface="Arial"/>
              </a:rPr>
              <a:t>−1 &lt; −0,8 &lt; 0</a:t>
            </a:r>
          </a:p>
        </p:txBody>
      </p:sp>
      <p:graphicFrame>
        <p:nvGraphicFramePr>
          <p:cNvPr id="13" name=""/>
          <p:cNvGraphicFramePr/>
          <p:nvPr/>
        </p:nvGraphicFramePr>
        <p:xfrm>
          <a:off xmlns:a="http://schemas.openxmlformats.org/drawingml/2006/main" x="571500" y="3352800"/>
          <a:ext xmlns:a="http://schemas.openxmlformats.org/drawingml/2006/main" cx="14097000" cy="2457450"/>
        </p:xfrm>
        <a:graphic xmlns:a="http://schemas.openxmlformats.org/drawingml/2006/main">
          <a:graphicData uri="http://schemas.openxmlformats.org/drawingml/2006/table">
            <a:tbl>
              <a:tblPr/>
              <a:tblGrid>
                <a:gridCol w="10001250"/>
                <a:gridCol w="4095750"/>
              </a:tblGrid>
              <a:tr h="819150">
                <a:tc>
                  <a:txBody>
                    <a:bodyPr lIns="171450" tIns="95250" rIns="152400" bIns="95250"/>
                    <a:lstStyle/>
                    <a:p>
                      <a:r>
                        <a:rPr sz="2700" b="1">
                          <a:solidFill>
                            <a:srgbClr val="FFFFFF"/>
                          </a:solidFill>
                          <a:latin typeface="Arial"/>
                          <a:ea typeface="Arial"/>
                          <a:cs typeface="Arial"/>
                        </a:rPr>
                        <a:t>Nova, onderzochte verandering</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Uitkomst</a:t>
                      </a:r>
                    </a:p>
                  </a:txBody>
                  <a:tcPr marL="91440" marR="91440" marT="45720" marB="45720" anchor="ctr">
                    <a:solidFill>
                      <a:srgbClr val="183247"/>
                    </a:solidFill>
                  </a:tcPr>
                </a:tc>
              </a:tr>
              <a:tr h="819150">
                <a:tc>
                  <a:txBody>
                    <a:bodyPr lIns="171450" tIns="95250" rIns="152400" bIns="95250"/>
                    <a:lstStyle/>
                    <a:p>
                      <a:r>
                        <a:rPr sz="2700" b="0">
                          <a:solidFill>
                            <a:srgbClr val="183247"/>
                          </a:solidFill>
                          <a:latin typeface="Arial"/>
                          <a:ea typeface="Arial"/>
                          <a:cs typeface="Arial"/>
                        </a:rPr>
                        <a:t>Procentuele prijsstijging</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20%</a:t>
                      </a:r>
                    </a:p>
                  </a:txBody>
                  <a:tcPr marL="91440" marR="91440" marT="45720" marB="45720" anchor="ctr">
                    <a:solidFill>
                      <a:srgbClr val="FFFFFF"/>
                    </a:solidFill>
                  </a:tcPr>
                </a:tc>
              </a:tr>
              <a:tr h="819150">
                <a:tc>
                  <a:txBody>
                    <a:bodyPr lIns="171450" tIns="95250" rIns="152400" bIns="95250"/>
                    <a:lstStyle/>
                    <a:p>
                      <a:r>
                        <a:rPr sz="2700" b="0">
                          <a:solidFill>
                            <a:srgbClr val="183247"/>
                          </a:solidFill>
                          <a:latin typeface="Arial"/>
                          <a:ea typeface="Arial"/>
                          <a:cs typeface="Arial"/>
                        </a:rPr>
                        <a:t>Procentuele hoeveelheidsdaling</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16%</a:t>
                      </a:r>
                    </a:p>
                  </a:txBody>
                  <a:tcPr marL="91440" marR="91440" marT="45720" marB="45720" anchor="ctr">
                    <a:solidFill>
                      <a:srgbClr val="EFF4F7"/>
                    </a:solidFill>
                  </a:tcPr>
                </a:tc>
              </a:tr>
            </a:tbl>
          </a:graphicData>
        </a:graphic>
      </p:graphicFrame>
      <p:sp>
        <p:nvSpPr>
          <p:cNvPr id="7" name="De hoeveelheidsdaling is 0,8 maal de prijsstijging, in ">
            <a:extLst xmlns:a="http://schemas.openxmlformats.org/drawingml/2006/main">
              <a:ext uri="{FF2B5EF4-FFF2-40B4-BE49-F238E27FC236}">
                <a16:creationId xmlns:a16="http://schemas.microsoft.com/office/drawing/2014/main" id="{39F3E136-6B66-4DA7-94D3-EF1A964A055C}"/>
              </a:ext>
            </a:extLst>
          </p:cNvPr>
          <p:cNvSpPr>
            <a:spLocks xmlns:a="http://schemas.openxmlformats.org/drawingml/2006/main" noGrp="1"/>
          </p:cNvSpPr>
          <p:nvPr/>
        </p:nvSpPr>
        <p:spPr>
          <a:xfrm xmlns:a="http://schemas.openxmlformats.org/drawingml/2006/main">
            <a:off x="571500" y="6391275"/>
            <a:ext cx="14097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De hoeveelheidsdaling is 0,8 maal de prijsstijging, in procenten.</a:t>
            </a:r>
          </a:p>
        </p:txBody>
      </p:sp>
    </p:spTree>
    <p:extLst>
      <p:ext uri="{BB962C8B-B14F-4D97-AF65-F5344CB8AC3E}">
        <p14:creationId xmlns:p14="http://schemas.microsoft.com/office/powerpoint/2010/main" val="125199572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c: StreamNow is prijsgevoeliger">
            <a:extLst xmlns:a="http://schemas.openxmlformats.org/drawingml/2006/main">
              <a:ext uri="{FF2B5EF4-FFF2-40B4-BE49-F238E27FC236}">
                <a16:creationId xmlns:a16="http://schemas.microsoft.com/office/drawing/2014/main" id="{58AD3749-720E-49A1-A052-27C642686E3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7c: StreamNow is prijsgevoeliger</a:t>
            </a:r>
          </a:p>
        </p:txBody>
      </p:sp>
      <p:sp>
        <p:nvSpPr>
          <p:cNvPr id="2" name="">
            <a:extLst xmlns:a="http://schemas.openxmlformats.org/drawingml/2006/main">
              <a:ext uri="{FF2B5EF4-FFF2-40B4-BE49-F238E27FC236}">
                <a16:creationId xmlns:a16="http://schemas.microsoft.com/office/drawing/2014/main" id="{344DC5CB-A5DA-40CB-B07E-DC829F35E9A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 Opgave 7 · Boekpagina 42">
            <a:extLst xmlns:a="http://schemas.openxmlformats.org/drawingml/2006/main">
              <a:ext uri="{FF2B5EF4-FFF2-40B4-BE49-F238E27FC236}">
                <a16:creationId xmlns:a16="http://schemas.microsoft.com/office/drawing/2014/main" id="{7D36CA40-7250-4435-8A9A-DC98B6628E5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 · Opgave 7 · Boekpagina 42</a:t>
            </a:r>
          </a:p>
        </p:txBody>
      </p:sp>
      <p:sp>
        <p:nvSpPr>
          <p:cNvPr id="4" name="slide-number">
            <a:extLst xmlns:a="http://schemas.openxmlformats.org/drawingml/2006/main">
              <a:ext uri="{FF2B5EF4-FFF2-40B4-BE49-F238E27FC236}">
                <a16:creationId xmlns:a16="http://schemas.microsoft.com/office/drawing/2014/main" id="{4E7D4F06-5839-4A5E-A310-40EB22E92CB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3" name=""/>
          <p:cNvGraphicFramePr/>
          <p:nvPr/>
        </p:nvGraphicFramePr>
        <p:xfrm>
          <a:off xmlns:a="http://schemas.openxmlformats.org/drawingml/2006/main" x="571500" y="2076450"/>
          <a:ext xmlns:a="http://schemas.openxmlformats.org/drawingml/2006/main" cx="14097000" cy="2667000"/>
        </p:xfrm>
        <a:graphic xmlns:a="http://schemas.openxmlformats.org/drawingml/2006/main">
          <a:graphicData uri="http://schemas.openxmlformats.org/drawingml/2006/table">
            <a:tbl>
              <a:tblPr/>
              <a:tblGrid>
                <a:gridCol w="5905500"/>
                <a:gridCol w="2095500"/>
                <a:gridCol w="6096000"/>
              </a:tblGrid>
              <a:tr h="889000">
                <a:tc>
                  <a:txBody>
                    <a:bodyPr lIns="171450" tIns="95250" rIns="152400" bIns="95250"/>
                    <a:lstStyle/>
                    <a:p>
                      <a:r>
                        <a:rPr sz="2625" b="1">
                          <a:solidFill>
                            <a:srgbClr val="FFFFFF"/>
                          </a:solidFill>
                          <a:latin typeface="Arial"/>
                          <a:ea typeface="Arial"/>
                          <a:cs typeface="Arial"/>
                        </a:rPr>
                        <a:t>Aanbieder</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Ev</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Indeling</a:t>
                      </a:r>
                    </a:p>
                  </a:txBody>
                  <a:tcPr marL="91440" marR="91440" marT="45720" marB="45720" anchor="ctr">
                    <a:solidFill>
                      <a:srgbClr val="183247"/>
                    </a:solidFill>
                  </a:tcPr>
                </a:tc>
              </a:tr>
              <a:tr h="889000">
                <a:tc>
                  <a:txBody>
                    <a:bodyPr lIns="171450" tIns="95250" rIns="152400" bIns="95250"/>
                    <a:lstStyle/>
                    <a:p>
                      <a:r>
                        <a:rPr sz="2625" b="0">
                          <a:solidFill>
                            <a:srgbClr val="183247"/>
                          </a:solidFill>
                          <a:latin typeface="Arial"/>
                          <a:ea typeface="Arial"/>
                          <a:cs typeface="Arial"/>
                        </a:rPr>
                        <a:t>Bioscoop Nova</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−0,8</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Prijsinelastisch</a:t>
                      </a:r>
                    </a:p>
                  </a:txBody>
                  <a:tcPr marL="91440" marR="91440" marT="45720" marB="45720" anchor="ctr">
                    <a:solidFill>
                      <a:srgbClr val="FFFFFF"/>
                    </a:solidFill>
                  </a:tcPr>
                </a:tc>
              </a:tr>
              <a:tr h="889000">
                <a:tc>
                  <a:txBody>
                    <a:bodyPr lIns="171450" tIns="95250" rIns="152400" bIns="95250"/>
                    <a:lstStyle/>
                    <a:p>
                      <a:r>
                        <a:rPr sz="2625" b="0">
                          <a:solidFill>
                            <a:srgbClr val="183247"/>
                          </a:solidFill>
                          <a:latin typeface="Arial"/>
                          <a:ea typeface="Arial"/>
                          <a:cs typeface="Arial"/>
                        </a:rPr>
                        <a:t>StreamNow</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−2</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Prijselastisch: −2 &lt; −1</a:t>
                      </a:r>
                    </a:p>
                  </a:txBody>
                  <a:tcPr marL="91440" marR="91440" marT="45720" marB="45720" anchor="ctr">
                    <a:solidFill>
                      <a:srgbClr val="EFF4F7"/>
                    </a:solidFill>
                  </a:tcPr>
                </a:tc>
              </a:tr>
            </a:tbl>
          </a:graphicData>
        </a:graphic>
      </p:graphicFrame>
      <p:sp>
        <p:nvSpPr>
          <p:cNvPr id="6" name="Bij StreamNow reageert Qv procentueel sterker op P.">
            <a:extLst xmlns:a="http://schemas.openxmlformats.org/drawingml/2006/main">
              <a:ext uri="{FF2B5EF4-FFF2-40B4-BE49-F238E27FC236}">
                <a16:creationId xmlns:a16="http://schemas.microsoft.com/office/drawing/2014/main" id="{719D707C-90C4-4FE4-9393-7C833FEEA0B2}"/>
              </a:ext>
            </a:extLst>
          </p:cNvPr>
          <p:cNvSpPr>
            <a:spLocks xmlns:a="http://schemas.openxmlformats.org/drawingml/2006/main" noGrp="1"/>
          </p:cNvSpPr>
          <p:nvPr/>
        </p:nvSpPr>
        <p:spPr>
          <a:xfrm xmlns:a="http://schemas.openxmlformats.org/drawingml/2006/main">
            <a:off x="571500" y="5286375"/>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Bij StreamNow reageert Qv procentueel sterker op P.</a:t>
            </a:r>
          </a:p>
        </p:txBody>
      </p:sp>
      <p:sp>
        <p:nvSpPr>
          <p:cNvPr id="7" name="2 maal de prijsverandering tegenover 0,8 maal, in proce">
            <a:extLst xmlns:a="http://schemas.openxmlformats.org/drawingml/2006/main">
              <a:ext uri="{FF2B5EF4-FFF2-40B4-BE49-F238E27FC236}">
                <a16:creationId xmlns:a16="http://schemas.microsoft.com/office/drawing/2014/main" id="{49B2DE2D-0A3A-40C6-AE3B-39D60026055C}"/>
              </a:ext>
            </a:extLst>
          </p:cNvPr>
          <p:cNvSpPr>
            <a:spLocks xmlns:a="http://schemas.openxmlformats.org/drawingml/2006/main" noGrp="1"/>
          </p:cNvSpPr>
          <p:nvPr/>
        </p:nvSpPr>
        <p:spPr>
          <a:xfrm xmlns:a="http://schemas.openxmlformats.org/drawingml/2006/main">
            <a:off x="571500" y="63436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2 maal de prijsverandering tegenover 0,8 maal, in procenten.</a:t>
            </a:r>
          </a:p>
        </p:txBody>
      </p:sp>
      <p:sp>
        <p:nvSpPr>
          <p:cNvPr id="8" name="De absolute aantallen verloren klanten kun je niet verg">
            <a:extLst xmlns:a="http://schemas.openxmlformats.org/drawingml/2006/main">
              <a:ext uri="{FF2B5EF4-FFF2-40B4-BE49-F238E27FC236}">
                <a16:creationId xmlns:a16="http://schemas.microsoft.com/office/drawing/2014/main" id="{9E1D9573-7FAB-4A8E-86CD-D38619E65912}"/>
              </a:ext>
            </a:extLst>
          </p:cNvPr>
          <p:cNvSpPr>
            <a:spLocks xmlns:a="http://schemas.openxmlformats.org/drawingml/2006/main" noGrp="1"/>
          </p:cNvSpPr>
          <p:nvPr/>
        </p:nvSpPr>
        <p:spPr>
          <a:xfrm xmlns:a="http://schemas.openxmlformats.org/drawingml/2006/main">
            <a:off x="571500" y="73342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A94D16"/>
                </a:solidFill>
                <a:latin typeface="Arial"/>
                <a:ea typeface="Arial"/>
                <a:cs typeface="Arial"/>
              </a:defRPr>
            </a:pPr>
            <a:r>
              <a:rPr sz="2475" b="0">
                <a:solidFill>
                  <a:srgbClr val="A94D16"/>
                </a:solidFill>
                <a:latin typeface="Arial"/>
                <a:ea typeface="Arial"/>
                <a:cs typeface="Arial"/>
              </a:rPr>
              <a:t>De absolute aantallen verloren klanten kun je niet vergelijken.</a:t>
            </a:r>
          </a:p>
        </p:txBody>
      </p:sp>
    </p:spTree>
    <p:extLst>
      <p:ext uri="{BB962C8B-B14F-4D97-AF65-F5344CB8AC3E}">
        <p14:creationId xmlns:p14="http://schemas.microsoft.com/office/powerpoint/2010/main" val="209165167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d: een plausibele contextverklaring">
            <a:extLst xmlns:a="http://schemas.openxmlformats.org/drawingml/2006/main">
              <a:ext uri="{FF2B5EF4-FFF2-40B4-BE49-F238E27FC236}">
                <a16:creationId xmlns:a16="http://schemas.microsoft.com/office/drawing/2014/main" id="{662BCAAA-F45D-482D-968D-7E63217B555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7d: een plausibele contextverklaring</a:t>
            </a:r>
          </a:p>
        </p:txBody>
      </p:sp>
      <p:sp>
        <p:nvSpPr>
          <p:cNvPr id="2" name="">
            <a:extLst xmlns:a="http://schemas.openxmlformats.org/drawingml/2006/main">
              <a:ext uri="{FF2B5EF4-FFF2-40B4-BE49-F238E27FC236}">
                <a16:creationId xmlns:a16="http://schemas.microsoft.com/office/drawing/2014/main" id="{C584DDA8-E919-4315-B0A4-6ABC71C9D6A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 Opgave 7 · Boekpagina 42">
            <a:extLst xmlns:a="http://schemas.openxmlformats.org/drawingml/2006/main">
              <a:ext uri="{FF2B5EF4-FFF2-40B4-BE49-F238E27FC236}">
                <a16:creationId xmlns:a16="http://schemas.microsoft.com/office/drawing/2014/main" id="{B3FD2755-290F-4351-98CD-E1D731AB97D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 · Opgave 7 · Boekpagina 42</a:t>
            </a:r>
          </a:p>
        </p:txBody>
      </p:sp>
      <p:sp>
        <p:nvSpPr>
          <p:cNvPr id="4" name="slide-number">
            <a:extLst xmlns:a="http://schemas.openxmlformats.org/drawingml/2006/main">
              <a:ext uri="{FF2B5EF4-FFF2-40B4-BE49-F238E27FC236}">
                <a16:creationId xmlns:a16="http://schemas.microsoft.com/office/drawing/2014/main" id="{EBB3E318-F402-4078-B501-042FDC88071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Mogelijke verklaring">
            <a:extLst xmlns:a="http://schemas.openxmlformats.org/drawingml/2006/main">
              <a:ext uri="{FF2B5EF4-FFF2-40B4-BE49-F238E27FC236}">
                <a16:creationId xmlns:a16="http://schemas.microsoft.com/office/drawing/2014/main" id="{37CFE578-5F02-4462-89C5-03318C8E3E36}"/>
              </a:ext>
            </a:extLst>
          </p:cNvPr>
          <p:cNvSpPr>
            <a:spLocks xmlns:a="http://schemas.openxmlformats.org/drawingml/2006/main" noGrp="1"/>
          </p:cNvSpPr>
          <p:nvPr/>
        </p:nvSpPr>
        <p:spPr>
          <a:xfrm xmlns:a="http://schemas.openxmlformats.org/drawingml/2006/main">
            <a:off x="571500" y="1924050"/>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Mogelijke verklaring</a:t>
            </a:r>
          </a:p>
        </p:txBody>
      </p:sp>
      <p:sp>
        <p:nvSpPr>
          <p:cNvPr id="6" name="Een streamingabonnement is mogelijk makkelijker op te z">
            <a:extLst xmlns:a="http://schemas.openxmlformats.org/drawingml/2006/main">
              <a:ext uri="{FF2B5EF4-FFF2-40B4-BE49-F238E27FC236}">
                <a16:creationId xmlns:a16="http://schemas.microsoft.com/office/drawing/2014/main" id="{E7550BD0-F046-4580-8BCA-CE01D2F18DF9}"/>
              </a:ext>
            </a:extLst>
          </p:cNvPr>
          <p:cNvSpPr>
            <a:spLocks xmlns:a="http://schemas.openxmlformats.org/drawingml/2006/main" noGrp="1"/>
          </p:cNvSpPr>
          <p:nvPr/>
        </p:nvSpPr>
        <p:spPr>
          <a:xfrm xmlns:a="http://schemas.openxmlformats.org/drawingml/2006/main">
            <a:off x="571500" y="2781300"/>
            <a:ext cx="14097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Een streamingabonnement is mogelijk makkelijker op te zeggen</a:t>
            </a:r>
          </a:p>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of te vervangen dan een bioscoopbezoek.</a:t>
            </a:r>
          </a:p>
        </p:txBody>
      </p:sp>
      <p:sp>
        <p:nvSpPr>
          <p:cNvPr id="7" name="">
            <a:extLst xmlns:a="http://schemas.openxmlformats.org/drawingml/2006/main">
              <a:ext uri="{FF2B5EF4-FFF2-40B4-BE49-F238E27FC236}">
                <a16:creationId xmlns:a16="http://schemas.microsoft.com/office/drawing/2014/main" id="{88B3B7AC-6F27-4062-AE4F-44607B4A986D}"/>
              </a:ext>
            </a:extLst>
          </p:cNvPr>
          <p:cNvSpPr>
            <a:spLocks xmlns:a="http://schemas.openxmlformats.org/drawingml/2006/main" noGrp="1"/>
          </p:cNvSpPr>
          <p:nvPr/>
        </p:nvSpPr>
        <p:spPr>
          <a:xfrm xmlns:a="http://schemas.openxmlformats.org/drawingml/2006/main">
            <a:off x="571500" y="4562475"/>
            <a:ext cx="14097000" cy="0"/>
          </a:xfrm>
          <a:prstGeom xmlns:a="http://schemas.openxmlformats.org/drawingml/2006/main" prst="line">
            <a:avLst/>
          </a:prstGeom>
          <a:ln xmlns:a="http://schemas.openxmlformats.org/drawingml/2006/main" w="19050">
            <a:solidFill>
              <a:srgbClr val="C6D2DB"/>
            </a:solidFill>
          </a:ln>
        </p:spPr>
      </p:sp>
      <p:sp>
        <p:nvSpPr>
          <p:cNvPr id="8" name="Dat kan bij StreamNow een sterkere procentuele&#10;hoeveelh">
            <a:extLst xmlns:a="http://schemas.openxmlformats.org/drawingml/2006/main">
              <a:ext uri="{FF2B5EF4-FFF2-40B4-BE49-F238E27FC236}">
                <a16:creationId xmlns:a16="http://schemas.microsoft.com/office/drawing/2014/main" id="{06D751B0-4271-4DEA-B6B9-97034628079D}"/>
              </a:ext>
            </a:extLst>
          </p:cNvPr>
          <p:cNvSpPr>
            <a:spLocks xmlns:a="http://schemas.openxmlformats.org/drawingml/2006/main" noGrp="1"/>
          </p:cNvSpPr>
          <p:nvPr/>
        </p:nvSpPr>
        <p:spPr>
          <a:xfrm xmlns:a="http://schemas.openxmlformats.org/drawingml/2006/main">
            <a:off x="571500" y="5105400"/>
            <a:ext cx="1409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Dat kan bij StreamNow een sterkere procentuele</a:t>
            </a:r>
          </a:p>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hoeveelheidsreactie op een hogere eigen prijs verklaren.</a:t>
            </a:r>
          </a:p>
        </p:txBody>
      </p:sp>
      <p:sp>
        <p:nvSpPr>
          <p:cNvPr id="9" name="De gegeven cijfers bewijzen deze oorzaak niet.">
            <a:extLst xmlns:a="http://schemas.openxmlformats.org/drawingml/2006/main">
              <a:ext uri="{FF2B5EF4-FFF2-40B4-BE49-F238E27FC236}">
                <a16:creationId xmlns:a16="http://schemas.microsoft.com/office/drawing/2014/main" id="{0E925012-ACB3-4847-B383-B7158B1446B1}"/>
              </a:ext>
            </a:extLst>
          </p:cNvPr>
          <p:cNvSpPr>
            <a:spLocks xmlns:a="http://schemas.openxmlformats.org/drawingml/2006/main" noGrp="1"/>
          </p:cNvSpPr>
          <p:nvPr/>
        </p:nvSpPr>
        <p:spPr>
          <a:xfrm xmlns:a="http://schemas.openxmlformats.org/drawingml/2006/main">
            <a:off x="571500" y="720090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De gegeven cijfers bewijzen deze oorzaak niet.</a:t>
            </a:r>
          </a:p>
        </p:txBody>
      </p:sp>
    </p:spTree>
    <p:extLst>
      <p:ext uri="{BB962C8B-B14F-4D97-AF65-F5344CB8AC3E}">
        <p14:creationId xmlns:p14="http://schemas.microsoft.com/office/powerpoint/2010/main" val="2132926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ntwoordcontrole bij opgave 7">
            <a:extLst xmlns:a="http://schemas.openxmlformats.org/drawingml/2006/main">
              <a:ext uri="{FF2B5EF4-FFF2-40B4-BE49-F238E27FC236}">
                <a16:creationId xmlns:a16="http://schemas.microsoft.com/office/drawing/2014/main" id="{C782611D-913A-4CA2-8BC6-2B85085E171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Antwoordcontrole bij opgave 7</a:t>
            </a:r>
          </a:p>
        </p:txBody>
      </p:sp>
      <p:sp>
        <p:nvSpPr>
          <p:cNvPr id="2" name="">
            <a:extLst xmlns:a="http://schemas.openxmlformats.org/drawingml/2006/main">
              <a:ext uri="{FF2B5EF4-FFF2-40B4-BE49-F238E27FC236}">
                <a16:creationId xmlns:a16="http://schemas.microsoft.com/office/drawing/2014/main" id="{F53D2B67-F3A2-483E-9252-34C9A067AE3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a:extLst xmlns:a="http://schemas.openxmlformats.org/drawingml/2006/main">
              <a:ext uri="{FF2B5EF4-FFF2-40B4-BE49-F238E27FC236}">
                <a16:creationId xmlns:a16="http://schemas.microsoft.com/office/drawing/2014/main" id="{BA4E0BF4-0ADE-4269-80D8-3EF48B101F8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a:t>
            </a:r>
          </a:p>
        </p:txBody>
      </p:sp>
      <p:sp>
        <p:nvSpPr>
          <p:cNvPr id="4" name="slide-number">
            <a:extLst xmlns:a="http://schemas.openxmlformats.org/drawingml/2006/main">
              <a:ext uri="{FF2B5EF4-FFF2-40B4-BE49-F238E27FC236}">
                <a16:creationId xmlns:a16="http://schemas.microsoft.com/office/drawing/2014/main" id="{F4269B32-B2FB-43FD-81D4-599DCE7C318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a · Berekening">
            <a:extLst xmlns:a="http://schemas.openxmlformats.org/drawingml/2006/main">
              <a:ext uri="{FF2B5EF4-FFF2-40B4-BE49-F238E27FC236}">
                <a16:creationId xmlns:a16="http://schemas.microsoft.com/office/drawing/2014/main" id="{9C13509D-9531-48E5-9259-3E57A2D08796}"/>
              </a:ext>
            </a:extLst>
          </p:cNvPr>
          <p:cNvSpPr>
            <a:spLocks xmlns:a="http://schemas.openxmlformats.org/drawingml/2006/main" noGrp="1"/>
          </p:cNvSpPr>
          <p:nvPr/>
        </p:nvSpPr>
        <p:spPr>
          <a:xfrm xmlns:a="http://schemas.openxmlformats.org/drawingml/2006/main">
            <a:off x="571500" y="2019300"/>
            <a:ext cx="4476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a · Berekening</a:t>
            </a:r>
          </a:p>
        </p:txBody>
      </p:sp>
      <p:sp>
        <p:nvSpPr>
          <p:cNvPr id="6" name="Oude waarden als noemer, +20%, −16%, Ev = −0,8.">
            <a:extLst xmlns:a="http://schemas.openxmlformats.org/drawingml/2006/main">
              <a:ext uri="{FF2B5EF4-FFF2-40B4-BE49-F238E27FC236}">
                <a16:creationId xmlns:a16="http://schemas.microsoft.com/office/drawing/2014/main" id="{EB24972E-A495-4A62-A1B3-A16CE450268A}"/>
              </a:ext>
            </a:extLst>
          </p:cNvPr>
          <p:cNvSpPr>
            <a:spLocks xmlns:a="http://schemas.openxmlformats.org/drawingml/2006/main" noGrp="1"/>
          </p:cNvSpPr>
          <p:nvPr/>
        </p:nvSpPr>
        <p:spPr>
          <a:xfrm xmlns:a="http://schemas.openxmlformats.org/drawingml/2006/main">
            <a:off x="5505450" y="2019300"/>
            <a:ext cx="9096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Oude waarden als noemer, +20%, −16%, Ev = −0,8.</a:t>
            </a:r>
          </a:p>
        </p:txBody>
      </p:sp>
      <p:sp>
        <p:nvSpPr>
          <p:cNvPr id="7" name="b · Betekenis">
            <a:extLst xmlns:a="http://schemas.openxmlformats.org/drawingml/2006/main">
              <a:ext uri="{FF2B5EF4-FFF2-40B4-BE49-F238E27FC236}">
                <a16:creationId xmlns:a16="http://schemas.microsoft.com/office/drawing/2014/main" id="{454B617B-9E66-46A8-A384-FD87FFCBFAE5}"/>
              </a:ext>
            </a:extLst>
          </p:cNvPr>
          <p:cNvSpPr>
            <a:spLocks xmlns:a="http://schemas.openxmlformats.org/drawingml/2006/main" noGrp="1"/>
          </p:cNvSpPr>
          <p:nvPr/>
        </p:nvSpPr>
        <p:spPr>
          <a:xfrm xmlns:a="http://schemas.openxmlformats.org/drawingml/2006/main">
            <a:off x="571500" y="3314700"/>
            <a:ext cx="4476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 · Betekenis</a:t>
            </a:r>
          </a:p>
        </p:txBody>
      </p:sp>
      <p:sp>
        <p:nvSpPr>
          <p:cNvPr id="8" name="Prijsinelastisch, met 16% tegenover 20% toegelicht.">
            <a:extLst xmlns:a="http://schemas.openxmlformats.org/drawingml/2006/main">
              <a:ext uri="{FF2B5EF4-FFF2-40B4-BE49-F238E27FC236}">
                <a16:creationId xmlns:a16="http://schemas.microsoft.com/office/drawing/2014/main" id="{8AF7DCC2-65E1-4B39-BAD4-50EAA3C69EE5}"/>
              </a:ext>
            </a:extLst>
          </p:cNvPr>
          <p:cNvSpPr>
            <a:spLocks xmlns:a="http://schemas.openxmlformats.org/drawingml/2006/main" noGrp="1"/>
          </p:cNvSpPr>
          <p:nvPr/>
        </p:nvSpPr>
        <p:spPr>
          <a:xfrm xmlns:a="http://schemas.openxmlformats.org/drawingml/2006/main">
            <a:off x="5505450" y="3314700"/>
            <a:ext cx="9096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Prijsinelastisch, met 16% tegenover 20% toegelicht.</a:t>
            </a:r>
          </a:p>
        </p:txBody>
      </p:sp>
      <p:sp>
        <p:nvSpPr>
          <p:cNvPr id="9" name="c · Vergelijking">
            <a:extLst xmlns:a="http://schemas.openxmlformats.org/drawingml/2006/main">
              <a:ext uri="{FF2B5EF4-FFF2-40B4-BE49-F238E27FC236}">
                <a16:creationId xmlns:a16="http://schemas.microsoft.com/office/drawing/2014/main" id="{677FF534-D02A-467B-AEDB-101E08F3A67B}"/>
              </a:ext>
            </a:extLst>
          </p:cNvPr>
          <p:cNvSpPr>
            <a:spLocks xmlns:a="http://schemas.openxmlformats.org/drawingml/2006/main" noGrp="1"/>
          </p:cNvSpPr>
          <p:nvPr/>
        </p:nvSpPr>
        <p:spPr>
          <a:xfrm xmlns:a="http://schemas.openxmlformats.org/drawingml/2006/main">
            <a:off x="571500" y="4610100"/>
            <a:ext cx="4476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c · Vergelijking</a:t>
            </a:r>
          </a:p>
        </p:txBody>
      </p:sp>
      <p:sp>
        <p:nvSpPr>
          <p:cNvPr id="10" name="StreamNow prijselastisch en relatief prijsgevoeliger.">
            <a:extLst xmlns:a="http://schemas.openxmlformats.org/drawingml/2006/main">
              <a:ext uri="{FF2B5EF4-FFF2-40B4-BE49-F238E27FC236}">
                <a16:creationId xmlns:a16="http://schemas.microsoft.com/office/drawing/2014/main" id="{617A6027-DBFA-41FE-8DFE-8D6C6C632DBF}"/>
              </a:ext>
            </a:extLst>
          </p:cNvPr>
          <p:cNvSpPr>
            <a:spLocks xmlns:a="http://schemas.openxmlformats.org/drawingml/2006/main" noGrp="1"/>
          </p:cNvSpPr>
          <p:nvPr/>
        </p:nvSpPr>
        <p:spPr>
          <a:xfrm xmlns:a="http://schemas.openxmlformats.org/drawingml/2006/main">
            <a:off x="5505450" y="4610100"/>
            <a:ext cx="9096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StreamNow prijselastisch en relatief prijsgevoeliger.</a:t>
            </a:r>
          </a:p>
        </p:txBody>
      </p:sp>
      <p:sp>
        <p:nvSpPr>
          <p:cNvPr id="11" name="d · Verklaring">
            <a:extLst xmlns:a="http://schemas.openxmlformats.org/drawingml/2006/main">
              <a:ext uri="{FF2B5EF4-FFF2-40B4-BE49-F238E27FC236}">
                <a16:creationId xmlns:a16="http://schemas.microsoft.com/office/drawing/2014/main" id="{ABE42BA3-DA0E-4037-A952-A38EF8331C97}"/>
              </a:ext>
            </a:extLst>
          </p:cNvPr>
          <p:cNvSpPr>
            <a:spLocks xmlns:a="http://schemas.openxmlformats.org/drawingml/2006/main" noGrp="1"/>
          </p:cNvSpPr>
          <p:nvPr/>
        </p:nvSpPr>
        <p:spPr>
          <a:xfrm xmlns:a="http://schemas.openxmlformats.org/drawingml/2006/main">
            <a:off x="571500" y="5905500"/>
            <a:ext cx="4476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d · Verklaring</a:t>
            </a:r>
          </a:p>
        </p:txBody>
      </p:sp>
      <p:sp>
        <p:nvSpPr>
          <p:cNvPr id="12" name="Een mogelijk mechanisme, met een passende beperking.">
            <a:extLst xmlns:a="http://schemas.openxmlformats.org/drawingml/2006/main">
              <a:ext uri="{FF2B5EF4-FFF2-40B4-BE49-F238E27FC236}">
                <a16:creationId xmlns:a16="http://schemas.microsoft.com/office/drawing/2014/main" id="{D5AB8C2D-D7D6-4BF2-83EC-D7D0954DB261}"/>
              </a:ext>
            </a:extLst>
          </p:cNvPr>
          <p:cNvSpPr>
            <a:spLocks xmlns:a="http://schemas.openxmlformats.org/drawingml/2006/main" noGrp="1"/>
          </p:cNvSpPr>
          <p:nvPr/>
        </p:nvSpPr>
        <p:spPr>
          <a:xfrm xmlns:a="http://schemas.openxmlformats.org/drawingml/2006/main">
            <a:off x="5505450" y="5905500"/>
            <a:ext cx="9096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Een mogelijk mechanisme, met een passende beperking.</a:t>
            </a:r>
          </a:p>
        </p:txBody>
      </p:sp>
      <p:sp>
        <p:nvSpPr>
          <p:cNvPr id="13" name="Verbeter één ontbrekende stap in je eigen antwoord.">
            <a:extLst xmlns:a="http://schemas.openxmlformats.org/drawingml/2006/main">
              <a:ext uri="{FF2B5EF4-FFF2-40B4-BE49-F238E27FC236}">
                <a16:creationId xmlns:a16="http://schemas.microsoft.com/office/drawing/2014/main" id="{10DFC075-4DCF-4732-BE82-07C52CC562F5}"/>
              </a:ext>
            </a:extLst>
          </p:cNvPr>
          <p:cNvSpPr>
            <a:spLocks xmlns:a="http://schemas.openxmlformats.org/drawingml/2006/main" noGrp="1"/>
          </p:cNvSpPr>
          <p:nvPr/>
        </p:nvSpPr>
        <p:spPr>
          <a:xfrm xmlns:a="http://schemas.openxmlformats.org/drawingml/2006/main">
            <a:off x="571500" y="7477125"/>
            <a:ext cx="1409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Verbeter één ontbrekende stap in je eigen antwoord.</a:t>
            </a:r>
          </a:p>
        </p:txBody>
      </p:sp>
    </p:spTree>
    <p:extLst>
      <p:ext uri="{BB962C8B-B14F-4D97-AF65-F5344CB8AC3E}">
        <p14:creationId xmlns:p14="http://schemas.microsoft.com/office/powerpoint/2010/main" val="41984532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2.1 Prijselasticiteit">
            <a:extLst xmlns:a="http://schemas.openxmlformats.org/drawingml/2006/main">
              <a:ext uri="{FF2B5EF4-FFF2-40B4-BE49-F238E27FC236}">
                <a16:creationId xmlns:a16="http://schemas.microsoft.com/office/drawing/2014/main" id="{7BB9A3B7-74AC-430F-B65A-CE1E0FC21D0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§2.2.1 Prijselasticiteit</a:t>
            </a:r>
          </a:p>
        </p:txBody>
      </p:sp>
      <p:sp>
        <p:nvSpPr>
          <p:cNvPr id="2" name="">
            <a:extLst xmlns:a="http://schemas.openxmlformats.org/drawingml/2006/main">
              <a:ext uri="{FF2B5EF4-FFF2-40B4-BE49-F238E27FC236}">
                <a16:creationId xmlns:a16="http://schemas.microsoft.com/office/drawing/2014/main" id="{5947C767-6BD7-49FC-AAE0-F8B3F5D3F58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2.1 Prijselasticiteit">
            <a:extLst xmlns:a="http://schemas.openxmlformats.org/drawingml/2006/main">
              <a:ext uri="{FF2B5EF4-FFF2-40B4-BE49-F238E27FC236}">
                <a16:creationId xmlns:a16="http://schemas.microsoft.com/office/drawing/2014/main" id="{09B95EE5-E799-40F8-B4A2-9401A06CB27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§2.2.1 Prijselasticiteit</a:t>
            </a:r>
          </a:p>
        </p:txBody>
      </p:sp>
      <p:sp>
        <p:nvSpPr>
          <p:cNvPr id="4" name="slide-number">
            <a:extLst xmlns:a="http://schemas.openxmlformats.org/drawingml/2006/main">
              <a:ext uri="{FF2B5EF4-FFF2-40B4-BE49-F238E27FC236}">
                <a16:creationId xmlns:a16="http://schemas.microsoft.com/office/drawing/2014/main" id="{2EB5E7B9-7485-4969-AA6A-4EBCF5DC10F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phase">
            <a:extLst xmlns:a="http://schemas.openxmlformats.org/drawingml/2006/main">
              <a:ext uri="{FF2B5EF4-FFF2-40B4-BE49-F238E27FC236}">
                <a16:creationId xmlns:a16="http://schemas.microsoft.com/office/drawing/2014/main" id="{11070B11-901E-4F60-8E6D-8033E2D4D46B}"/>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2AD0DE76-77DD-4B31-B519-20071DD2CE38}"/>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107CFBB6-4B35-499F-BCFE-AD558A60D731}"/>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53056A0B-C0CA-466C-B51D-CD971B6F4DCA}"/>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566BF406-19A3-442B-B5C3-2431171515EE}"/>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8B65FA85-5AA3-4D1C-B91D-D34542CD75BA}"/>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E33A2504-9E3D-4501-A781-39863A865942}"/>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10B8843F-4F1E-45C1-B5DF-64382E1F25E2}"/>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C8D85A32-AC4E-425E-BE16-F28CF3F16C04}"/>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CA732FA5-E297-470F-BAD9-FA4B85D0C11A}"/>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3040A07B-D19D-4254-B2EE-1FC24245E42D}"/>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735B340B-C8DB-46FC-A11C-DB95CC266582}"/>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A687D41C-95F2-4184-864A-DFCC9A8C93C7}"/>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F35403CB-D8E6-4939-8718-BB27F791E5B3}"/>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E26F563B-E316-424D-BCE5-2387A02B9A57}"/>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F69F4A7D-A305-40CB-8CCD-14F4A500A461}"/>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6A537D5E-D86D-4D6C-B503-C6F54BEE8BAA}"/>
              </a:ext>
            </a:extLst>
          </p:cNvPr>
          <p:cNvSpPr>
            <a:spLocks xmlns:a="http://schemas.openxmlformats.org/drawingml/2006/main" noGrp="1"/>
          </p:cNvSpPr>
          <p:nvPr/>
        </p:nvSpPr>
        <p:spPr>
          <a:xfrm xmlns:a="http://schemas.openxmlformats.org/drawingml/2006/main">
            <a:off x="9258300" y="17621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4EC5DF66-74C4-485B-823B-24983CC48762}"/>
              </a:ext>
            </a:extLst>
          </p:cNvPr>
          <p:cNvSpPr>
            <a:spLocks xmlns:a="http://schemas.openxmlformats.org/drawingml/2006/main" noGrp="1"/>
          </p:cNvSpPr>
          <p:nvPr/>
        </p:nvSpPr>
        <p:spPr>
          <a:xfrm xmlns:a="http://schemas.openxmlformats.org/drawingml/2006/main">
            <a:off x="9258300" y="2324100"/>
            <a:ext cx="5410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Procenten en Ev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prijsgevoeligheid vergelijken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een verklaring beoordelen.</a:t>
            </a:r>
          </a:p>
        </p:txBody>
      </p:sp>
      <p:sp>
        <p:nvSpPr>
          <p:cNvPr id="23" name="">
            <a:extLst xmlns:a="http://schemas.openxmlformats.org/drawingml/2006/main">
              <a:ext uri="{FF2B5EF4-FFF2-40B4-BE49-F238E27FC236}">
                <a16:creationId xmlns:a16="http://schemas.microsoft.com/office/drawing/2014/main" id="{DFD342B8-190C-4CEA-B7F8-87AF8FE5F1A6}"/>
              </a:ext>
            </a:extLst>
          </p:cNvPr>
          <p:cNvSpPr>
            <a:spLocks xmlns:a="http://schemas.openxmlformats.org/drawingml/2006/main" noGrp="1"/>
          </p:cNvSpPr>
          <p:nvPr/>
        </p:nvSpPr>
        <p:spPr>
          <a:xfrm xmlns:a="http://schemas.openxmlformats.org/drawingml/2006/main">
            <a:off x="9258300" y="35242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58F0CB5E-BD75-48B3-B715-AAA43416C426}"/>
              </a:ext>
            </a:extLst>
          </p:cNvPr>
          <p:cNvSpPr>
            <a:spLocks xmlns:a="http://schemas.openxmlformats.org/drawingml/2006/main" noGrp="1"/>
          </p:cNvSpPr>
          <p:nvPr/>
        </p:nvSpPr>
        <p:spPr>
          <a:xfrm xmlns:a="http://schemas.openxmlformats.org/drawingml/2006/main">
            <a:off x="9258300" y="37623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2E6E1FC9-87A8-4CC9-BF2C-5E4A44BE5ECC}"/>
              </a:ext>
            </a:extLst>
          </p:cNvPr>
          <p:cNvSpPr>
            <a:spLocks xmlns:a="http://schemas.openxmlformats.org/drawingml/2006/main" noGrp="1"/>
          </p:cNvSpPr>
          <p:nvPr/>
        </p:nvSpPr>
        <p:spPr>
          <a:xfrm xmlns:a="http://schemas.openxmlformats.org/drawingml/2006/main">
            <a:off x="9258300" y="4305300"/>
            <a:ext cx="54102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40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 voorkennis ophalen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met theorie p. 38</a:t>
            </a:r>
          </a:p>
        </p:txBody>
      </p:sp>
      <p:sp>
        <p:nvSpPr>
          <p:cNvPr id="26" name="">
            <a:extLst xmlns:a="http://schemas.openxmlformats.org/drawingml/2006/main">
              <a:ext uri="{FF2B5EF4-FFF2-40B4-BE49-F238E27FC236}">
                <a16:creationId xmlns:a16="http://schemas.microsoft.com/office/drawing/2014/main" id="{4A248C7A-8236-43B4-8153-E9AFFFAB5B5B}"/>
              </a:ext>
            </a:extLst>
          </p:cNvPr>
          <p:cNvSpPr>
            <a:spLocks xmlns:a="http://schemas.openxmlformats.org/drawingml/2006/main" noGrp="1"/>
          </p:cNvSpPr>
          <p:nvPr/>
        </p:nvSpPr>
        <p:spPr>
          <a:xfrm xmlns:a="http://schemas.openxmlformats.org/drawingml/2006/main">
            <a:off x="9258300" y="56959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5EAD1FC-1FEE-4191-AA92-4BE294943843}"/>
              </a:ext>
            </a:extLst>
          </p:cNvPr>
          <p:cNvSpPr>
            <a:spLocks xmlns:a="http://schemas.openxmlformats.org/drawingml/2006/main" noGrp="1"/>
          </p:cNvSpPr>
          <p:nvPr/>
        </p:nvSpPr>
        <p:spPr>
          <a:xfrm xmlns:a="http://schemas.openxmlformats.org/drawingml/2006/main">
            <a:off x="9258300" y="57816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D4B1529B-2A5A-47EF-AD47-3E1A7822A6A0}"/>
              </a:ext>
            </a:extLst>
          </p:cNvPr>
          <p:cNvSpPr>
            <a:spLocks xmlns:a="http://schemas.openxmlformats.org/drawingml/2006/main" noGrp="1"/>
          </p:cNvSpPr>
          <p:nvPr/>
        </p:nvSpPr>
        <p:spPr>
          <a:xfrm xmlns:a="http://schemas.openxmlformats.org/drawingml/2006/main">
            <a:off x="9258300" y="6248400"/>
            <a:ext cx="54102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§2.2.1 Prijselasticiteit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8512241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2026-09-29T11:17:33.2500000Z</dcterms:created>
  <dcterms:modified xsi:type="dcterms:W3CDTF">2026-09-29T11:17:33.2500000Z</dcterms:modified>
</coreProperties>
</file>