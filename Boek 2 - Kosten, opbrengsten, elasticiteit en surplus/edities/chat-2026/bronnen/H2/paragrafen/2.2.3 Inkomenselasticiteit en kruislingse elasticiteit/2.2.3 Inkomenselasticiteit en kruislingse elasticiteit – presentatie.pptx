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311587890349ef" /><Relationship Type="http://schemas.openxmlformats.org/officeDocument/2006/relationships/extended-properties" Target="/docProps/app.xml" Id="R557f852826534c07" /><Relationship Type="http://schemas.openxmlformats.org/officeDocument/2006/relationships/officeDocument" Target="/ppt/presentation.xml" Id="Ra90f3cd2b6ee4d68" /></Relationships>
</file>

<file path=ppt/presentation.xml><?xml version="1.0" encoding="utf-8"?>
<p:presentation xmlns:p="http://schemas.openxmlformats.org/presentationml/2006/main">
  <p:sldMasterIdLst>
    <p:sldMasterId xmlns:r="http://schemas.openxmlformats.org/officeDocument/2006/relationships" id="2147483648" r:id="R1e77720aa2614b5e"/>
  </p:sldMasterIdLst>
  <p:notesMasterIdLst>
    <p:notesMasterId xmlns:r="http://schemas.openxmlformats.org/officeDocument/2006/relationships" r:id="Re5558bae75e04d69"/>
  </p:notesMasterIdLst>
  <p:sldIdLst>
    <p:sldId xmlns:r="http://schemas.openxmlformats.org/officeDocument/2006/relationships" id="256" r:id="Rb07a198caadb4d50"/>
    <p:sldId xmlns:r="http://schemas.openxmlformats.org/officeDocument/2006/relationships" id="257" r:id="R9edfc907546e493e"/>
    <p:sldId xmlns:r="http://schemas.openxmlformats.org/officeDocument/2006/relationships" id="258" r:id="R8e585a39cdc04cd6"/>
    <p:sldId xmlns:r="http://schemas.openxmlformats.org/officeDocument/2006/relationships" id="259" r:id="Rebb8731630374ceb"/>
    <p:sldId xmlns:r="http://schemas.openxmlformats.org/officeDocument/2006/relationships" id="260" r:id="Rb824d05fc5f34da0"/>
    <p:sldId xmlns:r="http://schemas.openxmlformats.org/officeDocument/2006/relationships" id="261" r:id="R354a104457e040e5"/>
    <p:sldId xmlns:r="http://schemas.openxmlformats.org/officeDocument/2006/relationships" id="262" r:id="R89b7a1d2179d4bbf"/>
    <p:sldId xmlns:r="http://schemas.openxmlformats.org/officeDocument/2006/relationships" id="263" r:id="R129b489eb15747eb"/>
    <p:sldId xmlns:r="http://schemas.openxmlformats.org/officeDocument/2006/relationships" id="264" r:id="Rf7b0828640d14364"/>
    <p:sldId xmlns:r="http://schemas.openxmlformats.org/officeDocument/2006/relationships" id="265" r:id="Rbc7031016a514c82"/>
    <p:sldId xmlns:r="http://schemas.openxmlformats.org/officeDocument/2006/relationships" id="266" r:id="R1cedad4192e54035"/>
    <p:sldId xmlns:r="http://schemas.openxmlformats.org/officeDocument/2006/relationships" id="267" r:id="R5c25f505c5464701"/>
    <p:sldId xmlns:r="http://schemas.openxmlformats.org/officeDocument/2006/relationships" id="268" r:id="R10386c733a644630"/>
    <p:sldId xmlns:r="http://schemas.openxmlformats.org/officeDocument/2006/relationships" id="269" r:id="R7f75c3ba1e5a4c10"/>
    <p:sldId xmlns:r="http://schemas.openxmlformats.org/officeDocument/2006/relationships" id="270" r:id="Raf73b6a9cee84483"/>
    <p:sldId xmlns:r="http://schemas.openxmlformats.org/officeDocument/2006/relationships" id="271" r:id="R10607110ea4444de"/>
    <p:sldId xmlns:r="http://schemas.openxmlformats.org/officeDocument/2006/relationships" id="272" r:id="Re573b5ee2b374d60"/>
    <p:sldId xmlns:r="http://schemas.openxmlformats.org/officeDocument/2006/relationships" id="273" r:id="R6b96bee5cf4043b4"/>
    <p:sldId xmlns:r="http://schemas.openxmlformats.org/officeDocument/2006/relationships" id="274" r:id="Rd05b8fad3ef94fb7"/>
    <p:sldId xmlns:r="http://schemas.openxmlformats.org/officeDocument/2006/relationships" id="275" r:id="R223e89d6636e4a0e"/>
    <p:sldId xmlns:r="http://schemas.openxmlformats.org/officeDocument/2006/relationships" id="276" r:id="R1f476649c23646d2"/>
    <p:sldId xmlns:r="http://schemas.openxmlformats.org/officeDocument/2006/relationships" id="277" r:id="Rd4099bed01544a3c"/>
    <p:sldId xmlns:r="http://schemas.openxmlformats.org/officeDocument/2006/relationships" id="278" r:id="R619e629c707447c6"/>
    <p:sldId xmlns:r="http://schemas.openxmlformats.org/officeDocument/2006/relationships" id="279" r:id="R4a4b90c81e7e4a3c"/>
    <p:sldId xmlns:r="http://schemas.openxmlformats.org/officeDocument/2006/relationships" id="280" r:id="Re75d9825c4fb4db8"/>
    <p:sldId xmlns:r="http://schemas.openxmlformats.org/officeDocument/2006/relationships" id="281" r:id="Rcf45d35237fb46d5"/>
    <p:sldId xmlns:r="http://schemas.openxmlformats.org/officeDocument/2006/relationships" id="282" r:id="R4ac25d3dbde442e6"/>
    <p:sldId xmlns:r="http://schemas.openxmlformats.org/officeDocument/2006/relationships" id="283" r:id="Rf8139b0726314fdb"/>
    <p:sldId xmlns:r="http://schemas.openxmlformats.org/officeDocument/2006/relationships" id="284" r:id="R5ddba6624dd2409b"/>
    <p:sldId xmlns:r="http://schemas.openxmlformats.org/officeDocument/2006/relationships" id="285" r:id="Rf6e7438018eb405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6ea4a031e6444c" /><Relationship Type="http://schemas.openxmlformats.org/officeDocument/2006/relationships/slideMaster" Target="/ppt/slideMasters/slideMaster1.xml" Id="R1e77720aa2614b5e" /><Relationship Type="http://schemas.openxmlformats.org/officeDocument/2006/relationships/notesMaster" Target="/ppt/notesMasters/notesMaster1.xml" Id="Re5558bae75e04d69" /><Relationship Type="http://schemas.openxmlformats.org/officeDocument/2006/relationships/presProps" Target="/ppt/presProps.xml" Id="R9b6913a1782b4c49" /><Relationship Type="http://schemas.openxmlformats.org/officeDocument/2006/relationships/tableStyles" Target="/ppt/tableStyles.xml" Id="Rd26b4df0061a474f" /><Relationship Type="http://schemas.openxmlformats.org/officeDocument/2006/relationships/slide" Target="/ppt/slides/slide1.xml" Id="Rb07a198caadb4d50" /><Relationship Type="http://schemas.openxmlformats.org/officeDocument/2006/relationships/slide" Target="/ppt/slides/slide2.xml" Id="R9edfc907546e493e" /><Relationship Type="http://schemas.openxmlformats.org/officeDocument/2006/relationships/slide" Target="/ppt/slides/slide3.xml" Id="R8e585a39cdc04cd6" /><Relationship Type="http://schemas.openxmlformats.org/officeDocument/2006/relationships/slide" Target="/ppt/slides/slide4.xml" Id="Rebb8731630374ceb" /><Relationship Type="http://schemas.openxmlformats.org/officeDocument/2006/relationships/slide" Target="/ppt/slides/slide5.xml" Id="Rb824d05fc5f34da0" /><Relationship Type="http://schemas.openxmlformats.org/officeDocument/2006/relationships/slide" Target="/ppt/slides/slide6.xml" Id="R354a104457e040e5" /><Relationship Type="http://schemas.openxmlformats.org/officeDocument/2006/relationships/slide" Target="/ppt/slides/slide7.xml" Id="R89b7a1d2179d4bbf" /><Relationship Type="http://schemas.openxmlformats.org/officeDocument/2006/relationships/slide" Target="/ppt/slides/slide8.xml" Id="R129b489eb15747eb" /><Relationship Type="http://schemas.openxmlformats.org/officeDocument/2006/relationships/slide" Target="/ppt/slides/slide9.xml" Id="Rf7b0828640d14364" /><Relationship Type="http://schemas.openxmlformats.org/officeDocument/2006/relationships/slide" Target="/ppt/slides/slide10.xml" Id="Rbc7031016a514c82" /><Relationship Type="http://schemas.openxmlformats.org/officeDocument/2006/relationships/slide" Target="/ppt/slides/slide11.xml" Id="R1cedad4192e54035" /><Relationship Type="http://schemas.openxmlformats.org/officeDocument/2006/relationships/slide" Target="/ppt/slides/slide12.xml" Id="R5c25f505c5464701" /><Relationship Type="http://schemas.openxmlformats.org/officeDocument/2006/relationships/slide" Target="/ppt/slides/slide13.xml" Id="R10386c733a644630" /><Relationship Type="http://schemas.openxmlformats.org/officeDocument/2006/relationships/slide" Target="/ppt/slides/slide14.xml" Id="R7f75c3ba1e5a4c10" /><Relationship Type="http://schemas.openxmlformats.org/officeDocument/2006/relationships/slide" Target="/ppt/slides/slide15.xml" Id="Raf73b6a9cee84483" /><Relationship Type="http://schemas.openxmlformats.org/officeDocument/2006/relationships/slide" Target="/ppt/slides/slide16.xml" Id="R10607110ea4444de" /><Relationship Type="http://schemas.openxmlformats.org/officeDocument/2006/relationships/slide" Target="/ppt/slides/slide17.xml" Id="Re573b5ee2b374d60" /><Relationship Type="http://schemas.openxmlformats.org/officeDocument/2006/relationships/slide" Target="/ppt/slides/slide18.xml" Id="R6b96bee5cf4043b4" /><Relationship Type="http://schemas.openxmlformats.org/officeDocument/2006/relationships/slide" Target="/ppt/slides/slide19.xml" Id="Rd05b8fad3ef94fb7" /><Relationship Type="http://schemas.openxmlformats.org/officeDocument/2006/relationships/slide" Target="/ppt/slides/slide20.xml" Id="R223e89d6636e4a0e" /><Relationship Type="http://schemas.openxmlformats.org/officeDocument/2006/relationships/slide" Target="/ppt/slides/slide21.xml" Id="R1f476649c23646d2" /><Relationship Type="http://schemas.openxmlformats.org/officeDocument/2006/relationships/slide" Target="/ppt/slides/slide22.xml" Id="Rd4099bed01544a3c" /><Relationship Type="http://schemas.openxmlformats.org/officeDocument/2006/relationships/slide" Target="/ppt/slides/slide23.xml" Id="R619e629c707447c6" /><Relationship Type="http://schemas.openxmlformats.org/officeDocument/2006/relationships/slide" Target="/ppt/slides/slide24.xml" Id="R4a4b90c81e7e4a3c" /><Relationship Type="http://schemas.openxmlformats.org/officeDocument/2006/relationships/slide" Target="/ppt/slides/slide25.xml" Id="Re75d9825c4fb4db8" /><Relationship Type="http://schemas.openxmlformats.org/officeDocument/2006/relationships/slide" Target="/ppt/slides/slide26.xml" Id="Rcf45d35237fb46d5" /><Relationship Type="http://schemas.openxmlformats.org/officeDocument/2006/relationships/slide" Target="/ppt/slides/slide27.xml" Id="R4ac25d3dbde442e6" /><Relationship Type="http://schemas.openxmlformats.org/officeDocument/2006/relationships/slide" Target="/ppt/slides/slide28.xml" Id="Rf8139b0726314fdb" /><Relationship Type="http://schemas.openxmlformats.org/officeDocument/2006/relationships/slide" Target="/ppt/slides/slide29.xml" Id="R5ddba6624dd2409b" /><Relationship Type="http://schemas.openxmlformats.org/officeDocument/2006/relationships/slide" Target="/ppt/slides/slide30.xml" Id="Rf6e7438018eb40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402ae6846741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af1770facf4b6d" /><Relationship Type="http://schemas.openxmlformats.org/officeDocument/2006/relationships/notesMaster" Target="/ppt/notesMasters/notesMaster1.xml" Id="R5d4aebd5e2284d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0c3fb55a294a12" /><Relationship Type="http://schemas.openxmlformats.org/officeDocument/2006/relationships/notesMaster" Target="/ppt/notesMasters/notesMaster1.xml" Id="R048a222a040e44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2f459beba2435e" /><Relationship Type="http://schemas.openxmlformats.org/officeDocument/2006/relationships/notesMaster" Target="/ppt/notesMasters/notesMaster1.xml" Id="R27287e24ba6e4b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a69559a65e4118" /><Relationship Type="http://schemas.openxmlformats.org/officeDocument/2006/relationships/notesMaster" Target="/ppt/notesMasters/notesMaster1.xml" Id="Rf152fc06488748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c2c33663ed48c7" /><Relationship Type="http://schemas.openxmlformats.org/officeDocument/2006/relationships/notesMaster" Target="/ppt/notesMasters/notesMaster1.xml" Id="Reeec2980fef84c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115aaac01e4bf5" /><Relationship Type="http://schemas.openxmlformats.org/officeDocument/2006/relationships/notesMaster" Target="/ppt/notesMasters/notesMaster1.xml" Id="R3f820b55c8fb41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5ba365248b4f32" /><Relationship Type="http://schemas.openxmlformats.org/officeDocument/2006/relationships/notesMaster" Target="/ppt/notesMasters/notesMaster1.xml" Id="R5b8d9e207fe441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1b986dda1644f6" /><Relationship Type="http://schemas.openxmlformats.org/officeDocument/2006/relationships/notesMaster" Target="/ppt/notesMasters/notesMaster1.xml" Id="R20b46c79401b4d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aebdcc5b374768" /><Relationship Type="http://schemas.openxmlformats.org/officeDocument/2006/relationships/notesMaster" Target="/ppt/notesMasters/notesMaster1.xml" Id="R154d00a0f6be46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384d18c4f64500" /><Relationship Type="http://schemas.openxmlformats.org/officeDocument/2006/relationships/notesMaster" Target="/ppt/notesMasters/notesMaster1.xml" Id="Rb51bd4b9ef684c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1518e4fbef4f12" /><Relationship Type="http://schemas.openxmlformats.org/officeDocument/2006/relationships/notesMaster" Target="/ppt/notesMasters/notesMaster1.xml" Id="R023d94c28fa642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319e6ec4254603" /><Relationship Type="http://schemas.openxmlformats.org/officeDocument/2006/relationships/notesMaster" Target="/ppt/notesMasters/notesMaster1.xml" Id="R3a5171673a624a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1e04d258244d4a" /><Relationship Type="http://schemas.openxmlformats.org/officeDocument/2006/relationships/notesMaster" Target="/ppt/notesMasters/notesMaster1.xml" Id="Rd7e1944536e545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6d8730ed094624" /><Relationship Type="http://schemas.openxmlformats.org/officeDocument/2006/relationships/notesMaster" Target="/ppt/notesMasters/notesMaster1.xml" Id="Rc5c2745d964e43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2efa49d3cd4a4e" /><Relationship Type="http://schemas.openxmlformats.org/officeDocument/2006/relationships/notesMaster" Target="/ppt/notesMasters/notesMaster1.xml" Id="Rbd700b23a33440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d8dbe7d2624f54" /><Relationship Type="http://schemas.openxmlformats.org/officeDocument/2006/relationships/notesMaster" Target="/ppt/notesMasters/notesMaster1.xml" Id="R4eeab227821149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4aa708a5e84123" /><Relationship Type="http://schemas.openxmlformats.org/officeDocument/2006/relationships/notesMaster" Target="/ppt/notesMasters/notesMaster1.xml" Id="R11dfe61357844b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952bd9718445b9" /><Relationship Type="http://schemas.openxmlformats.org/officeDocument/2006/relationships/notesMaster" Target="/ppt/notesMasters/notesMaster1.xml" Id="R12d64082fa234e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ceed72bf404071" /><Relationship Type="http://schemas.openxmlformats.org/officeDocument/2006/relationships/notesMaster" Target="/ppt/notesMasters/notesMaster1.xml" Id="R37dba0efd543479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dea1c79dad04a6b" /><Relationship Type="http://schemas.openxmlformats.org/officeDocument/2006/relationships/notesMaster" Target="/ppt/notesMasters/notesMaster1.xml" Id="R0367cfdf3ada481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c24391f9c440ce" /><Relationship Type="http://schemas.openxmlformats.org/officeDocument/2006/relationships/notesMaster" Target="/ppt/notesMasters/notesMaster1.xml" Id="R160a27da179f42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3e8c99f519f46f6" /><Relationship Type="http://schemas.openxmlformats.org/officeDocument/2006/relationships/notesMaster" Target="/ppt/notesMasters/notesMaster1.xml" Id="R6c583ac01aa94b4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e4cfff43e8148d1" /><Relationship Type="http://schemas.openxmlformats.org/officeDocument/2006/relationships/notesMaster" Target="/ppt/notesMasters/notesMaster1.xml" Id="R1be323513d85405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ccbbd344eb9482c" /><Relationship Type="http://schemas.openxmlformats.org/officeDocument/2006/relationships/notesMaster" Target="/ppt/notesMasters/notesMaster1.xml" Id="R9a589ea2885644b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386a186b98e4517" /><Relationship Type="http://schemas.openxmlformats.org/officeDocument/2006/relationships/notesMaster" Target="/ppt/notesMasters/notesMaster1.xml" Id="R094b89127d4d48c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9b4c40065a249a4" /><Relationship Type="http://schemas.openxmlformats.org/officeDocument/2006/relationships/notesMaster" Target="/ppt/notesMasters/notesMaster1.xml" Id="Rccf61ccfeb674ef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d026d8bca3f4964" /><Relationship Type="http://schemas.openxmlformats.org/officeDocument/2006/relationships/notesMaster" Target="/ppt/notesMasters/notesMaster1.xml" Id="Rab28ca37987344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9796c25e35c4fc0" /><Relationship Type="http://schemas.openxmlformats.org/officeDocument/2006/relationships/notesMaster" Target="/ppt/notesMasters/notesMaster1.xml" Id="R396eb316ded7483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cb52fb000c844a2" /><Relationship Type="http://schemas.openxmlformats.org/officeDocument/2006/relationships/notesMaster" Target="/ppt/notesMasters/notesMaster1.xml" Id="R218b283ee10a40a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b94b400f2b2421a" /><Relationship Type="http://schemas.openxmlformats.org/officeDocument/2006/relationships/notesMaster" Target="/ppt/notesMasters/notesMaster1.xml" Id="Ref351692daf24d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lukt al, en welke wil je met de uitleg opnieuw bekijken?</a:t>
            </a:r>
          </a:p>
          <a:p xmlns:a="http://schemas.openxmlformats.org/drawingml/2006/main">
            <a:r>
              <a:rPr sz="1400"/>
              <a:t/>
            </a:r>
          </a:p>
          <a:p xmlns:a="http://schemas.openxmlformats.org/drawingml/2006/main">
            <a:r>
              <a:rPr sz="1400"/>
              <a:t>Uitleg: Laat de dia staan tijdens startopdracht. Opgave 1 haalt procenten en eenvoudig invullen op. Bij twijfel geef je het rekenschema (nieuw − oud) / oud × 100%, of laat je eerst P vervangen en daarna vermenigvuldigen. Opgave 2 verkent nieuwe leerstof: 2a gebruikt definities op p. 54–55; bij 2b helpt het één-factor-voorbeeld op p. 56–57. Laat leerlingen die tekst erbij nemen en een voorlopige redenering noteren; verwacht nog geen zelfstandige beheersing. Na de uitleg keren we terug naar opgave 2. Basis 3 staat op p. 60, 4–5 op p. 61; zelfstandig 6–7 op p. 62; doel 8 op p. 63. Huiswerk: 3, 4, 5, 6, 7 en 8 maken en nakijken. Bonus en herhaling zijn extra.</a:t>
            </a:r>
          </a:p>
          <a:p xmlns:a="http://schemas.openxmlformats.org/drawingml/2006/main">
            <a:r>
              <a:rPr sz="1400"/>
              <a:t/>
            </a:r>
          </a:p>
          <a:p xmlns:a="http://schemas.openxmlformats.org/drawingml/2006/main">
            <a:r>
              <a:rPr sz="1400"/>
              <a:t>Misvatting: Een startpoging bij nieuwe Ei-, Ek- en functie-scenario’s is geen toets van eerder verworven kennis.</a:t>
            </a:r>
          </a:p>
          <a:p xmlns:a="http://schemas.openxmlformats.org/drawingml/2006/main">
            <a:r>
              <a:rPr sz="1400"/>
              <a:t/>
            </a:r>
          </a:p>
          <a:p xmlns:a="http://schemas.openxmlformats.org/drawingml/2006/main">
            <a:r>
              <a:rPr sz="1400"/>
              <a:t>Overgang: Ga naar de volgende lesfase; neem tijd voor vragen.</a:t>
            </a:r>
          </a:p>
          <a:p xmlns:a="http://schemas.openxmlformats.org/drawingml/2006/main">
            <a:r>
              <a:rPr sz="1400"/>
              <a:t/>
            </a:r>
          </a:p>
          <a:p xmlns:a="http://schemas.openxmlformats.org/drawingml/2006/main">
            <a:r>
              <a:rPr sz="1400"/>
              <a:t>Bron: Boek 2, editie chat-2026, revisie 1 oktober 2026; gedrukte pagina 54–57 en 60–63.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Docenteninformatie: volledige route kan meer dan één les vragen. Er is geen gemeten tijdsclaim.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factor zou je onder de breuk zetten als alleen het inkomen verandert?</a:t>
            </a:r>
          </a:p>
          <a:p xmlns:a="http://schemas.openxmlformats.org/drawingml/2006/main">
            <a:r>
              <a:rPr sz="1400"/>
              <a:t/>
            </a:r>
          </a:p>
          <a:p xmlns:a="http://schemas.openxmlformats.org/drawingml/2006/main">
            <a:r>
              <a:rPr sz="1400"/>
              <a:t>Uitleg: Verbind met Ev uit §2.2.1: de teller is steeds de procentuele reactie van de vraag. De noemer bepaalt nu of je inkomen of de prijs van een ander goed onderzoekt. Na deze les kunnen leerlingen berekenen, het teken uitleggen, categorieën kiezen en een vraagfunctie met één verandering onderzoeken. Qx is Qv voor goed X.</a:t>
            </a:r>
          </a:p>
          <a:p xmlns:a="http://schemas.openxmlformats.org/drawingml/2006/main">
            <a:r>
              <a:rPr sz="1400"/>
              <a:t/>
            </a:r>
          </a:p>
          <a:p xmlns:a="http://schemas.openxmlformats.org/drawingml/2006/main">
            <a:r>
              <a:rPr sz="1400"/>
              <a:t>Misvatting: Gebruik de negatieve-Ev-indeling niet voor Ei of Ek. Hetzelfde getal beantwoordt een andere economische vraag.</a:t>
            </a:r>
          </a:p>
          <a:p xmlns:a="http://schemas.openxmlformats.org/drawingml/2006/main">
            <a:r>
              <a:rPr sz="1400"/>
              <a:t/>
            </a:r>
          </a:p>
          <a:p xmlns:a="http://schemas.openxmlformats.org/drawingml/2006/main">
            <a:r>
              <a:rPr sz="1400"/>
              <a:t>Overgang: Haal eerst procenten en functie-invulling op.</a:t>
            </a:r>
          </a:p>
          <a:p xmlns:a="http://schemas.openxmlformats.org/drawingml/2006/main">
            <a:r>
              <a:rPr sz="1400"/>
              <a:t/>
            </a:r>
          </a:p>
          <a:p xmlns:a="http://schemas.openxmlformats.org/drawingml/2006/main">
            <a:r>
              <a:rPr sz="1400"/>
              <a:t>Bron: Boek 2, editie chat-2026, revisie 1 oktober 2026; gedrukte pagina 37–39 en 53–57.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hoort in de noemer, en waarom?</a:t>
            </a:r>
          </a:p>
          <a:p xmlns:a="http://schemas.openxmlformats.org/drawingml/2006/main">
            <a:r>
              <a:rPr sz="1400"/>
              <a:t/>
            </a:r>
          </a:p>
          <a:p xmlns:a="http://schemas.openxmlformats.org/drawingml/2006/main">
            <a:r>
              <a:rPr sz="1400"/>
              <a:t>Uitleg: Eigen rekenvoorbeeld ter opfrissing. De toename is 1.200 euro per jaar. Vergelijk die met het oude inkomen van 24.000 euro per jaar. Zo krijg je +5%, niet 1.200%. Bij een daling blijft het negatieve teken staan. Gebruik bij Q precies hetzelfde schema met de oude hoeveelheid als basis.</a:t>
            </a:r>
          </a:p>
          <a:p xmlns:a="http://schemas.openxmlformats.org/drawingml/2006/main">
            <a:r>
              <a:rPr sz="1400"/>
              <a:t/>
            </a:r>
          </a:p>
          <a:p xmlns:a="http://schemas.openxmlformats.org/drawingml/2006/main">
            <a:r>
              <a:rPr sz="1400"/>
              <a:t>Misvatting: Deel niet door de nieuwe waarde. Zet geen euroteken bij het uiteindelijke percentage.</a:t>
            </a:r>
          </a:p>
          <a:p xmlns:a="http://schemas.openxmlformats.org/drawingml/2006/main">
            <a:r>
              <a:rPr sz="1400"/>
              <a:t/>
            </a:r>
          </a:p>
          <a:p xmlns:a="http://schemas.openxmlformats.org/drawingml/2006/main">
            <a:r>
              <a:rPr sz="1400"/>
              <a:t>Overgang: Vervang daarna een letter door een gegeven getal.</a:t>
            </a:r>
          </a:p>
          <a:p xmlns:a="http://schemas.openxmlformats.org/drawingml/2006/main">
            <a:r>
              <a:rPr sz="1400"/>
              <a:t/>
            </a:r>
          </a:p>
          <a:p xmlns:a="http://schemas.openxmlformats.org/drawingml/2006/main">
            <a:r>
              <a:rPr sz="1400"/>
              <a:t>Bron: Boek 2, editie chat-2026, revisie 1 oktober 2026; gedrukte pagina 38.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doe je eerst: 460 − 12 of 12 × 15?</a:t>
            </a:r>
          </a:p>
          <a:p xmlns:a="http://schemas.openxmlformats.org/drawingml/2006/main">
            <a:r>
              <a:rPr sz="1400"/>
              <a:t/>
            </a:r>
          </a:p>
          <a:p xmlns:a="http://schemas.openxmlformats.org/drawingml/2006/main">
            <a:r>
              <a:rPr sz="1400"/>
              <a:t>Uitleg: Eigen eenvoudige functie voor bibliotheekbezoeken. Laat zien dat 12P een vermenigvuldiging is. Vervang P door 15, reken 12 × 15 uit en trek dit af van 460. Dit is de opfrissing voor start 1b; de formele functie met meerdere factoren volgt verderop. De eenheid komt uit de betekenis van Qv.</a:t>
            </a:r>
          </a:p>
          <a:p xmlns:a="http://schemas.openxmlformats.org/drawingml/2006/main">
            <a:r>
              <a:rPr sz="1400"/>
              <a:t/>
            </a:r>
          </a:p>
          <a:p xmlns:a="http://schemas.openxmlformats.org/drawingml/2006/main">
            <a:r>
              <a:rPr sz="1400"/>
              <a:t>Misvatting: Een minteken hoort bij de hele term −12P. Neem dat ook mee wanneer er meer termen volgen.</a:t>
            </a:r>
          </a:p>
          <a:p xmlns:a="http://schemas.openxmlformats.org/drawingml/2006/main">
            <a:r>
              <a:rPr sz="1400"/>
              <a:t/>
            </a:r>
          </a:p>
          <a:p xmlns:a="http://schemas.openxmlformats.org/drawingml/2006/main">
            <a:r>
              <a:rPr sz="1400"/>
              <a:t>Overgang: Onderzoek nu hoe inkomen de vraag verandert.</a:t>
            </a:r>
          </a:p>
          <a:p xmlns:a="http://schemas.openxmlformats.org/drawingml/2006/main">
            <a:r>
              <a:rPr sz="1400"/>
              <a:t/>
            </a:r>
          </a:p>
          <a:p xmlns:a="http://schemas.openxmlformats.org/drawingml/2006/main">
            <a:r>
              <a:rPr sz="1400"/>
              <a:t>Bron: Boek 2, editie chat-2026, revisie 1 oktober 2026; gedrukte pagina 56; voorkennis volgens hoofdstukhandleiding.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reageert tegengesteld aan het inkomen?</a:t>
            </a:r>
          </a:p>
          <a:p xmlns:a="http://schemas.openxmlformats.org/drawingml/2006/main">
            <a:r>
              <a:rPr sz="1400"/>
              <a:t/>
            </a:r>
          </a:p>
          <a:p xmlns:a="http://schemas.openxmlformats.org/drawingml/2006/main">
            <a:r>
              <a:rPr sz="1400"/>
              <a:t>Uitleg: Dit is een verzonnen onderzoek bij een muziekwinkel met drie afzonderlijke vraagreacties op dezelfde inkomensstijging. Houd prijzen en overige vraagfactoren gelijk. Deel de procentuele vraagverandering door +8%. Bewaar het minteken bij budget-cd’s. Ei is een getal zonder procentteken. +1,5 betekent dat de vraag in deze meting procentueel anderhalf keer zo sterk groeit als het inkomen.</a:t>
            </a:r>
          </a:p>
          <a:p xmlns:a="http://schemas.openxmlformats.org/drawingml/2006/main">
            <a:r>
              <a:rPr sz="1400"/>
              <a:t/>
            </a:r>
          </a:p>
          <a:p xmlns:a="http://schemas.openxmlformats.org/drawingml/2006/main">
            <a:r>
              <a:rPr sz="1400"/>
              <a:t>Misvatting: Negatief betekent bij Ei niet prijsinelastisch. Ei beschrijft inkomen, niet een eigen prijs.</a:t>
            </a:r>
          </a:p>
          <a:p xmlns:a="http://schemas.openxmlformats.org/drawingml/2006/main">
            <a:r>
              <a:rPr sz="1400"/>
              <a:t/>
            </a:r>
          </a:p>
          <a:p xmlns:a="http://schemas.openxmlformats.org/drawingml/2006/main">
            <a:r>
              <a:rPr sz="1400"/>
              <a:t>Overgang: Koppel het teken en de grootte aan de categorieën van dit boek.</a:t>
            </a:r>
          </a:p>
          <a:p xmlns:a="http://schemas.openxmlformats.org/drawingml/2006/main">
            <a:r>
              <a:rPr sz="1400"/>
              <a:t/>
            </a:r>
          </a:p>
          <a:p xmlns:a="http://schemas.openxmlformats.org/drawingml/2006/main">
            <a:r>
              <a:rPr sz="1400"/>
              <a:t>Bron: Boek 2, editie chat-2026, revisie 1 oktober 2026; gedrukte pagina 54.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vertelt Ei = −0,5 over de vraag bij een hoger inkomen?</a:t>
            </a:r>
          </a:p>
          <a:p xmlns:a="http://schemas.openxmlformats.org/drawingml/2006/main">
            <a:r>
              <a:rPr sz="1400"/>
              <a:t/>
            </a:r>
          </a:p>
          <a:p xmlns:a="http://schemas.openxmlformats.org/drawingml/2006/main">
            <a:r>
              <a:rPr sz="1400"/>
              <a:t>Uitleg: Pas toe op het muziekwinkelvoorbeeld: concertpakketten zijn hier luxe, bladmuziek normaal en budget-cd’s inferieur. Deze methode gebruikt normaal alleen voor 0 &lt; Ei &lt; 1. Grenswaarden 0 en 1 krijgen hier geen van de drie labels. De indeling geldt voor de onderzochte groep en situatie. Inferieur is geen oordeel over kwaliteit; luxe betekent niet alleen duur.</a:t>
            </a:r>
          </a:p>
          <a:p xmlns:a="http://schemas.openxmlformats.org/drawingml/2006/main">
            <a:r>
              <a:rPr sz="1400"/>
              <a:t/>
            </a:r>
          </a:p>
          <a:p xmlns:a="http://schemas.openxmlformats.org/drawingml/2006/main">
            <a:r>
              <a:rPr sz="1400"/>
              <a:t>Misvatting: Wissel niet stilzwijgend naar een andere definitie van normaal. Het teken blijft onderdeel van de indeling.</a:t>
            </a:r>
          </a:p>
          <a:p xmlns:a="http://schemas.openxmlformats.org/drawingml/2006/main">
            <a:r>
              <a:rPr sz="1400"/>
              <a:t/>
            </a:r>
          </a:p>
          <a:p xmlns:a="http://schemas.openxmlformats.org/drawingml/2006/main">
            <a:r>
              <a:rPr sz="1400"/>
              <a:t>Overgang: Verander nu de prijs van een ander goed.</a:t>
            </a:r>
          </a:p>
          <a:p xmlns:a="http://schemas.openxmlformats.org/drawingml/2006/main">
            <a:r>
              <a:rPr sz="1400"/>
              <a:t/>
            </a:r>
          </a:p>
          <a:p xmlns:a="http://schemas.openxmlformats.org/drawingml/2006/main">
            <a:r>
              <a:rPr sz="1400"/>
              <a:t>Bron: Boek 2, editie chat-2026, revisie 1 oktober 2026; gedrukte pagina 54.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staat boven de breuk voor de hoesjes, en wat staat eronder?</a:t>
            </a:r>
          </a:p>
          <a:p xmlns:a="http://schemas.openxmlformats.org/drawingml/2006/main">
            <a:r>
              <a:rPr sz="1400"/>
              <a:t/>
            </a:r>
          </a:p>
          <a:p xmlns:a="http://schemas.openxmlformats.org/drawingml/2006/main">
            <a:r>
              <a:rPr sz="1400"/>
              <a:t>Uitleg: Eigen voorbeeld: twee afzonderlijke relaties met de e-readerprijs als noemer. Duurdere e-readers gaan samen met meer vraag naar het alternatief papieren romans: substituten. De vraag naar hoesjes die bij de e-readers passen daalt: complementen. Benoem steeds de vraag naar X én de prijs van Z. De eigen prijs van romans of hoesjes en inkomen blijven gelijk. Bij Ek = 0 zie je in deze meting geen vraagreactie.</a:t>
            </a:r>
          </a:p>
          <a:p xmlns:a="http://schemas.openxmlformats.org/drawingml/2006/main">
            <a:r>
              <a:rPr sz="1400"/>
              <a:t/>
            </a:r>
          </a:p>
          <a:p xmlns:a="http://schemas.openxmlformats.org/drawingml/2006/main">
            <a:r>
              <a:rPr sz="1400"/>
              <a:t>Misvatting: Een positieve prijsverandering maakt Ek niet vanzelf positief; het teken van de hoeveelheidsreactie telt ook mee.</a:t>
            </a:r>
          </a:p>
          <a:p xmlns:a="http://schemas.openxmlformats.org/drawingml/2006/main">
            <a:r>
              <a:rPr sz="1400"/>
              <a:t/>
            </a:r>
          </a:p>
          <a:p xmlns:a="http://schemas.openxmlformats.org/drawingml/2006/main">
            <a:r>
              <a:rPr sz="1400"/>
              <a:t>Overgang: Controleer dezelfde begrippen bij een dalende andere prijs.</a:t>
            </a:r>
          </a:p>
          <a:p xmlns:a="http://schemas.openxmlformats.org/drawingml/2006/main">
            <a:r>
              <a:rPr sz="1400"/>
              <a:t/>
            </a:r>
          </a:p>
          <a:p xmlns:a="http://schemas.openxmlformats.org/drawingml/2006/main">
            <a:r>
              <a:rPr sz="1400"/>
              <a:t>Bron: Boek 2, editie chat-2026, revisie 1 oktober 2026; gedrukte pagina 55.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de relatie tussen romans en e-readers nu veranderd omdat beide veranderingen negatief zijn?</a:t>
            </a:r>
          </a:p>
          <a:p xmlns:a="http://schemas.openxmlformats.org/drawingml/2006/main">
            <a:r>
              <a:rPr sz="1400"/>
              <a:t/>
            </a:r>
          </a:p>
          <a:p xmlns:a="http://schemas.openxmlformats.org/drawingml/2006/main">
            <a:r>
              <a:rPr sz="1400"/>
              <a:t>Uitleg: Een tweede, afzonderlijk verzonnen onderzoek levert de getoonde reacties. Deze cijfers zijn gegeven en niet automatisch afgeleid van de vorige prijsstijging. Andere factoren blijven gelijk. Goedkopere e-readers gaan hier samen met minder vraag naar papieren romans en meer vraag naar passende hoesjes. Het teken van de verhouding behoudt dezelfde betekenis.</a:t>
            </a:r>
          </a:p>
          <a:p xmlns:a="http://schemas.openxmlformats.org/drawingml/2006/main">
            <a:r>
              <a:rPr sz="1400"/>
              <a:t/>
            </a:r>
          </a:p>
          <a:p xmlns:a="http://schemas.openxmlformats.org/drawingml/2006/main">
            <a:r>
              <a:rPr sz="1400"/>
              <a:t>Misvatting: Ek kan positief zijn terwijl de vraag daalt. Redeneer met teller én noemer.</a:t>
            </a:r>
          </a:p>
          <a:p xmlns:a="http://schemas.openxmlformats.org/drawingml/2006/main">
            <a:r>
              <a:rPr sz="1400"/>
              <a:t/>
            </a:r>
          </a:p>
          <a:p xmlns:a="http://schemas.openxmlformats.org/drawingml/2006/main">
            <a:r>
              <a:rPr sz="1400"/>
              <a:t>Overgang: Gebruik nu inkomen en de andere prijs in één vraagfunctie.</a:t>
            </a:r>
          </a:p>
          <a:p xmlns:a="http://schemas.openxmlformats.org/drawingml/2006/main">
            <a:r>
              <a:rPr sz="1400"/>
              <a:t/>
            </a:r>
          </a:p>
          <a:p xmlns:a="http://schemas.openxmlformats.org/drawingml/2006/main">
            <a:r>
              <a:rPr sz="1400"/>
              <a:t>Bron: Boek 2, editie chat-2026, revisie 1 oktober 2026; gedrukte pagina 55.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vullen we bij Y 26.000 in en niet 26.000 / 12?</a:t>
            </a:r>
          </a:p>
          <a:p xmlns:a="http://schemas.openxmlformats.org/drawingml/2006/main">
            <a:r>
              <a:rPr sz="1400"/>
              <a:t/>
            </a:r>
          </a:p>
          <a:p xmlns:a="http://schemas.openxmlformats.org/drawingml/2006/main">
            <a:r>
              <a:rPr sz="1400"/>
              <a:t>Uitleg: Eigen uitlegvoorbeeld LeesClub X met een concurrerende leesdienst Z. Lees de betekenissen vóór het rekenen. De beginrij hoort alleen bij dit model. Jaarinkomen blijft jaarinkomen, hoewel Qx abonnementen per maand weergeeft: de coëfficiënten horen bij de opgegeven eenheden. De maandprijs wordt evenmin met twaalf vermenigvuldigd.</a:t>
            </a:r>
          </a:p>
          <a:p xmlns:a="http://schemas.openxmlformats.org/drawingml/2006/main">
            <a:r>
              <a:rPr sz="1400"/>
              <a:t/>
            </a:r>
          </a:p>
          <a:p xmlns:a="http://schemas.openxmlformats.org/drawingml/2006/main">
            <a:r>
              <a:rPr sz="1400"/>
              <a:t>Misvatting: De coëfficiënt 0,01 is geen Ei. Het is een verandering in abonnementen per maand per euro jaarinkomen.</a:t>
            </a:r>
          </a:p>
          <a:p xmlns:a="http://schemas.openxmlformats.org/drawingml/2006/main">
            <a:r>
              <a:rPr sz="1400"/>
              <a:t/>
            </a:r>
          </a:p>
          <a:p xmlns:a="http://schemas.openxmlformats.org/drawingml/2006/main">
            <a:r>
              <a:rPr sz="1400"/>
              <a:t>Overgang: Vul eerst alle drie beginwaarden in.</a:t>
            </a:r>
          </a:p>
          <a:p xmlns:a="http://schemas.openxmlformats.org/drawingml/2006/main">
            <a:r>
              <a:rPr sz="1400"/>
              <a:t/>
            </a:r>
          </a:p>
          <a:p xmlns:a="http://schemas.openxmlformats.org/drawingml/2006/main">
            <a:r>
              <a:rPr sz="1400"/>
              <a:t>Bron: Boek 2, editie chat-2026, revisie 1 oktober 2026; gedrukte pagina 56.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gebruiken we straks als oude waarde?</a:t>
            </a:r>
          </a:p>
          <a:p xmlns:a="http://schemas.openxmlformats.org/drawingml/2006/main">
            <a:r>
              <a:rPr sz="1400"/>
              <a:t/>
            </a:r>
          </a:p>
          <a:p xmlns:a="http://schemas.openxmlformats.org/drawingml/2006/main">
            <a:r>
              <a:rPr sz="1400"/>
              <a:t>Uitleg: Vervang elk symbool door de eigen beginwaarde. Reken de drie vermenigvuldigingen uit, bewaar hun tekens en tel daarna op: 160 − 60 + 40 + 260 = 400. Deze beginhoeveelheid is straks de oude waarde bij percentages. De −4 laat zien dat een euro hogere eigen prijs binnen dit model vier abonnementen minder geeft; het is geen procentuele verhouding.</a:t>
            </a:r>
          </a:p>
          <a:p xmlns:a="http://schemas.openxmlformats.org/drawingml/2006/main">
            <a:r>
              <a:rPr sz="1400"/>
              <a:t/>
            </a:r>
          </a:p>
          <a:p xmlns:a="http://schemas.openxmlformats.org/drawingml/2006/main">
            <a:r>
              <a:rPr sz="1400"/>
              <a:t>Misvatting: Tel niet alleen de veranderde term op: voor de beginhoeveelheid heb je de hele functie nodig.</a:t>
            </a:r>
          </a:p>
          <a:p xmlns:a="http://schemas.openxmlformats.org/drawingml/2006/main">
            <a:r>
              <a:rPr sz="1400"/>
              <a:t/>
            </a:r>
          </a:p>
          <a:p xmlns:a="http://schemas.openxmlformats.org/drawingml/2006/main">
            <a:r>
              <a:rPr sz="1400"/>
              <a:t>Overgang: Verander nu alleen Y.</a:t>
            </a:r>
          </a:p>
          <a:p xmlns:a="http://schemas.openxmlformats.org/drawingml/2006/main">
            <a:r>
              <a:rPr sz="1400"/>
              <a:t/>
            </a:r>
          </a:p>
          <a:p xmlns:a="http://schemas.openxmlformats.org/drawingml/2006/main">
            <a:r>
              <a:rPr sz="1400"/>
              <a:t>Bron: Boek 2, editie chat-2026, revisie 1 oktober 2026; gedrukte pagina 56.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term verandert, en welke twee variabelen houden we gelijk?</a:t>
            </a:r>
          </a:p>
          <a:p xmlns:a="http://schemas.openxmlformats.org/drawingml/2006/main">
            <a:r>
              <a:rPr sz="1400"/>
              <a:t/>
            </a:r>
          </a:p>
          <a:p xmlns:a="http://schemas.openxmlformats.org/drawingml/2006/main">
            <a:r>
              <a:rPr sz="1400"/>
              <a:t>Uitleg: Alleen het jaarinkomen wordt 28.600. De twee prijzen blijven op hun beginwaarde. De inkomensterm stijgt van 260 naar 286; Qx groeit daarom van 400 naar 426 abonnementen per maand. Laat beide vaste prijswaarden in de berekening staan zodat de vergelijking controleerbaar is.</a:t>
            </a:r>
          </a:p>
          <a:p xmlns:a="http://schemas.openxmlformats.org/drawingml/2006/main">
            <a:r>
              <a:rPr sz="1400"/>
              <a:t/>
            </a:r>
          </a:p>
          <a:p xmlns:a="http://schemas.openxmlformats.org/drawingml/2006/main">
            <a:r>
              <a:rPr sz="1400"/>
              <a:t>Misvatting: 26 extra abonnementen is een absolute verandering, nog geen percentage en nog geen Ei.</a:t>
            </a:r>
          </a:p>
          <a:p xmlns:a="http://schemas.openxmlformats.org/drawingml/2006/main">
            <a:r>
              <a:rPr sz="1400"/>
              <a:t/>
            </a:r>
          </a:p>
          <a:p xmlns:a="http://schemas.openxmlformats.org/drawingml/2006/main">
            <a:r>
              <a:rPr sz="1400"/>
              <a:t>Overgang: Zet de hoeveelheids- en inkomensverandering om in procenten.</a:t>
            </a:r>
          </a:p>
          <a:p xmlns:a="http://schemas.openxmlformats.org/drawingml/2006/main">
            <a:r>
              <a:rPr sz="1400"/>
              <a:t/>
            </a:r>
          </a:p>
          <a:p xmlns:a="http://schemas.openxmlformats.org/drawingml/2006/main">
            <a:r>
              <a:rPr sz="1400"/>
              <a:t>Bron: Boek 2, editie chat-2026, revisie 1 oktober 2026; gedrukte pagina 57 en 59.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delen we 26 door 400 en niet door 26.000?</a:t>
            </a:r>
          </a:p>
          <a:p xmlns:a="http://schemas.openxmlformats.org/drawingml/2006/main">
            <a:r>
              <a:rPr sz="1400"/>
              <a:t/>
            </a:r>
          </a:p>
          <a:p xmlns:a="http://schemas.openxmlformats.org/drawingml/2006/main">
            <a:r>
              <a:rPr sz="1400"/>
              <a:t>Uitleg: Het oude Qx is 400 en het oude Y is 26.000. Bereken beide procentuele veranderingen met hun eigen oude basis. De vraag groeit minder sterk dan het inkomen, dus X is volgens de boekindeling normaal. De berekende Ei is +0,65 en niet de functiecoëfficiënt 0,01. Elasticiteit heeft geen euro- of procent-eenheid.</a:t>
            </a:r>
          </a:p>
          <a:p xmlns:a="http://schemas.openxmlformats.org/drawingml/2006/main">
            <a:r>
              <a:rPr sz="1400"/>
              <a:t/>
            </a:r>
          </a:p>
          <a:p xmlns:a="http://schemas.openxmlformats.org/drawingml/2006/main">
            <a:r>
              <a:rPr sz="1400"/>
              <a:t>Misvatting: Houd de grootheden bij elkaar: Q bij Q en Y bij Y. Deel daarna percentages, niet absolute verschillen.</a:t>
            </a:r>
          </a:p>
          <a:p xmlns:a="http://schemas.openxmlformats.org/drawingml/2006/main">
            <a:r>
              <a:rPr sz="1400"/>
              <a:t/>
            </a:r>
          </a:p>
          <a:p xmlns:a="http://schemas.openxmlformats.org/drawingml/2006/main">
            <a:r>
              <a:rPr sz="1400"/>
              <a:t>Overgang: Ga terug naar de oorspronkelijke beginsituatie voor een andere prijs.</a:t>
            </a:r>
          </a:p>
          <a:p xmlns:a="http://schemas.openxmlformats.org/drawingml/2006/main">
            <a:r>
              <a:rPr sz="1400"/>
              <a:t/>
            </a:r>
          </a:p>
          <a:p xmlns:a="http://schemas.openxmlformats.org/drawingml/2006/main">
            <a:r>
              <a:rPr sz="1400"/>
              <a:t>Bron: Boek 2, editie chat-2026, revisie 1 oktober 2026; gedrukte pagina 57 en 59.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vergelijken we 410 met 400 en niet met 426?</a:t>
            </a:r>
          </a:p>
          <a:p xmlns:a="http://schemas.openxmlformats.org/drawingml/2006/main">
            <a:r>
              <a:rPr sz="1400"/>
              <a:t/>
            </a:r>
          </a:p>
          <a:p xmlns:a="http://schemas.openxmlformats.org/drawingml/2006/main">
            <a:r>
              <a:rPr sz="1400"/>
              <a:t>Uitleg: Het prijssegment begint weer bij Qx = 400. Zet het inkomen terug op 26.000, houd Px op 15 en wijzig alleen Pz naar 25. De term 2Pz wordt 50 in plaats van 40, dus Qx stijgt met 10 naar 410. Dit positieve verband past bij substituten. De nieuwe prijs komt niet boven op de eerdere inkomensstijging.</a:t>
            </a:r>
          </a:p>
          <a:p xmlns:a="http://schemas.openxmlformats.org/drawingml/2006/main">
            <a:r>
              <a:rPr sz="1400"/>
              <a:t/>
            </a:r>
          </a:p>
          <a:p xmlns:a="http://schemas.openxmlformats.org/drawingml/2006/main">
            <a:r>
              <a:rPr sz="1400"/>
              <a:t>Misvatting: Y = 28.600 laten staan zou twee veranderingen combineren; dan onderzoek je een ander scenario.</a:t>
            </a:r>
          </a:p>
          <a:p xmlns:a="http://schemas.openxmlformats.org/drawingml/2006/main">
            <a:r>
              <a:rPr sz="1400"/>
              <a:t/>
            </a:r>
          </a:p>
          <a:p xmlns:a="http://schemas.openxmlformats.org/drawingml/2006/main">
            <a:r>
              <a:rPr sz="1400"/>
              <a:t>Overgang: Bekijk wat je wel kunt zeggen als twee factoren tegelijk veranderen.</a:t>
            </a:r>
          </a:p>
          <a:p xmlns:a="http://schemas.openxmlformats.org/drawingml/2006/main">
            <a:r>
              <a:rPr sz="1400"/>
              <a:t/>
            </a:r>
          </a:p>
          <a:p xmlns:a="http://schemas.openxmlformats.org/drawingml/2006/main">
            <a:r>
              <a:rPr sz="1400"/>
              <a:t>Bron: Boek 2, editie chat-2026, revisie 1 oktober 2026; gedrukte pagina 57 en 59.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Kun je uit deze twee metingen zeker afleiden hoeveel de gezamenlijke vraag verandert?</a:t>
            </a:r>
          </a:p>
          <a:p xmlns:a="http://schemas.openxmlformats.org/drawingml/2006/main">
            <a:r>
              <a:rPr sz="1400"/>
              <a:t/>
            </a:r>
          </a:p>
          <a:p xmlns:a="http://schemas.openxmlformats.org/drawingml/2006/main">
            <a:r>
              <a:rPr sz="1400"/>
              <a:t>Uitleg: Eigen verkennend voorbeeld dat voorbereidt op basisopgave 5, zonder Fruitbar uit te werken. In elk afzonderlijk onderzoek blijven de andere vraagfactoren gelijk. Een duurder alternatief werkt richting meer e-readervraag, een duurder samen gebruikt hoesje richting minder. In een nieuwe situatie veranderen beide prijzen. De losse metingen leveren geen bewezen exacte som: +4% − 3% = +1% is zonder passend model geen zekere voorspelling.</a:t>
            </a:r>
          </a:p>
          <a:p xmlns:a="http://schemas.openxmlformats.org/drawingml/2006/main">
            <a:r>
              <a:rPr sz="1400"/>
              <a:t/>
            </a:r>
          </a:p>
          <a:p xmlns:a="http://schemas.openxmlformats.org/drawingml/2006/main">
            <a:r>
              <a:rPr sz="1400"/>
              <a:t>Misvatting: Twee stijgende prijzen bewijzen geen twee positieve Ek’s. De hoeveelheidsreactie staat in de teller.</a:t>
            </a:r>
          </a:p>
          <a:p xmlns:a="http://schemas.openxmlformats.org/drawingml/2006/main">
            <a:r>
              <a:rPr sz="1400"/>
              <a:t/>
            </a:r>
          </a:p>
          <a:p xmlns:a="http://schemas.openxmlformats.org/drawingml/2006/main">
            <a:r>
              <a:rPr sz="1400"/>
              <a:t>Overgang: Keer terug naar de verkenning uit de startopdracht.</a:t>
            </a:r>
          </a:p>
          <a:p xmlns:a="http://schemas.openxmlformats.org/drawingml/2006/main">
            <a:r>
              <a:rPr sz="1400"/>
              <a:t/>
            </a:r>
          </a:p>
          <a:p xmlns:a="http://schemas.openxmlformats.org/drawingml/2006/main">
            <a:r>
              <a:rPr sz="1400"/>
              <a:t>Bron: Boek 2, editie chat-2026, revisie 1 oktober 2026; gedrukte pagina 53, 57 en 61; hoofdstukhandleiding §2.2.3. https://github.com/meijer1973/4veco-lessen/blob/a8940a7a79e22857a3e306a91fe923c48c63e716/Boek%202%20-%20Kosten%2C%20opbrengsten%2C%20elasticiteit%20en%20surplus/edities/chat-2026/boek/Boek_2_Compleet.pdf</a:t>
            </a:r>
          </a:p>
          <a:p xmlns:a="http://schemas.openxmlformats.org/drawingml/2006/main">
            <a:r>
              <a:rPr sz="1400"/>
              <a:t>De context en cijfers op deze dia zijn een eigen uitlegvoorbeeld, niet uit het boek. De paginaverwijzing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Kun je bij Ek beide goederen en bij het Y-scenario beide vaste prijzen benoemen?</a:t>
            </a:r>
          </a:p>
          <a:p xmlns:a="http://schemas.openxmlformats.org/drawingml/2006/main">
            <a:r>
              <a:rPr sz="1400"/>
              <a:t/>
            </a:r>
          </a:p>
          <a:p xmlns:a="http://schemas.openxmlformats.org/drawingml/2006/main">
            <a:r>
              <a:rPr sz="1400"/>
              <a:t>Uitleg: Terugkeer na instructie, vóór zelfstandig oefenen. Laat eerst leerlingen hun voorlopige antwoord herzien. Controleer mondeling: bij Ei procentuele verandering van de gevraagde hoeveelheid gedeeld door procentuele inkomensverandering; bij Ek procentuele vraagverandering van goed X gedeeld door procentuele prijsverandering van ander goed Z. Bij een verandering van Y blijven Px en Pz gelijk. Dit is feedback op een al geprobeerd startitem, geen vervanging van het separate uitlegvoorbeeld.</a:t>
            </a:r>
          </a:p>
          <a:p xmlns:a="http://schemas.openxmlformats.org/drawingml/2006/main">
            <a:r>
              <a:rPr sz="1400"/>
              <a:t/>
            </a:r>
          </a:p>
          <a:p xmlns:a="http://schemas.openxmlformats.org/drawingml/2006/main">
            <a:r>
              <a:rPr sz="1400"/>
              <a:t>Misvatting: Losse letters noemen zonder betekenis laat nog niet zien dat de noemer en het onderzoeksdoel begrepen zijn.</a:t>
            </a:r>
          </a:p>
          <a:p xmlns:a="http://schemas.openxmlformats.org/drawingml/2006/main">
            <a:r>
              <a:rPr sz="1400"/>
              <a:t/>
            </a:r>
          </a:p>
          <a:p xmlns:a="http://schemas.openxmlformats.org/drawingml/2006/main">
            <a:r>
              <a:rPr sz="1400"/>
              <a:t>Overgang: Laat het overzicht staan terwijl leerlingen beginnen bij basis 3–5.</a:t>
            </a:r>
          </a:p>
          <a:p xmlns:a="http://schemas.openxmlformats.org/drawingml/2006/main">
            <a:r>
              <a:rPr sz="1400"/>
              <a:t/>
            </a:r>
          </a:p>
          <a:p xmlns:a="http://schemas.openxmlformats.org/drawingml/2006/main">
            <a:r>
              <a:rPr sz="1400"/>
              <a:t>Bron: Boek 2, editie chat-2026, revisie 1 oktober 2026; gedrukte pagina 54–57 en 60.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lukt al, en welke wil je met de uitleg opnieuw bekijken?</a:t>
            </a:r>
          </a:p>
          <a:p xmlns:a="http://schemas.openxmlformats.org/drawingml/2006/main">
            <a:r>
              <a:rPr sz="1400"/>
              <a:t/>
            </a:r>
          </a:p>
          <a:p xmlns:a="http://schemas.openxmlformats.org/drawingml/2006/main">
            <a:r>
              <a:rPr sz="1400"/>
              <a:t>Uitleg: Laat de dia staan tijdens zelfstandig werken. Opgave 1 haalt procenten en eenvoudig invullen op. Bij twijfel geef je het rekenschema (nieuw − oud) / oud × 100%, of laat je eerst P vervangen en daarna vermenigvuldigen. Opgave 2 verkent nieuwe leerstof: 2a gebruikt definities op p. 54–55; bij 2b helpt het één-factor-voorbeeld op p. 56–57. Laat leerlingen die tekst erbij nemen en een voorlopige redenering noteren; verwacht nog geen zelfstandige beheersing. Na de uitleg keren we terug naar opgave 2. Basis 3 staat op p. 60, 4–5 op p. 61; zelfstandig 6–7 op p. 62; doel 8 op p. 63. Huiswerk: 3, 4, 5, 6, 7 en 8 maken en nakijken. Bonus en herhaling zijn extra.</a:t>
            </a:r>
          </a:p>
          <a:p xmlns:a="http://schemas.openxmlformats.org/drawingml/2006/main">
            <a:r>
              <a:rPr sz="1400"/>
              <a:t/>
            </a:r>
          </a:p>
          <a:p xmlns:a="http://schemas.openxmlformats.org/drawingml/2006/main">
            <a:r>
              <a:rPr sz="1400"/>
              <a:t>Misvatting: Een startpoging bij nieuwe Ei-, Ek- en functie-scenario’s is geen toets van eerder verworven kennis.</a:t>
            </a:r>
          </a:p>
          <a:p xmlns:a="http://schemas.openxmlformats.org/drawingml/2006/main">
            <a:r>
              <a:rPr sz="1400"/>
              <a:t/>
            </a:r>
          </a:p>
          <a:p xmlns:a="http://schemas.openxmlformats.org/drawingml/2006/main">
            <a:r>
              <a:rPr sz="1400"/>
              <a:t>Overgang: Ga naar de volgende lesfase; neem tijd voor vragen.</a:t>
            </a:r>
          </a:p>
          <a:p xmlns:a="http://schemas.openxmlformats.org/drawingml/2006/main">
            <a:r>
              <a:rPr sz="1400"/>
              <a:t/>
            </a:r>
          </a:p>
          <a:p xmlns:a="http://schemas.openxmlformats.org/drawingml/2006/main">
            <a:r>
              <a:rPr sz="1400"/>
              <a:t>Bron: Boek 2, editie chat-2026, revisie 1 oktober 2026; gedrukte pagina 54–57 en 60–63.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Docenteninformatie: volledige route kan meer dan één les vragen. Er is geen gemeten tijdsclaim.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afspraak voorkomt dat we verkeerde procenten vergelijken?</a:t>
            </a:r>
          </a:p>
          <a:p xmlns:a="http://schemas.openxmlformats.org/drawingml/2006/main">
            <a:r>
              <a:rPr sz="1400"/>
              <a:t/>
            </a:r>
          </a:p>
          <a:p xmlns:a="http://schemas.openxmlformats.org/drawingml/2006/main">
            <a:r>
              <a:rPr sz="1400"/>
              <a:t>Uitleg: Start de doelbespreking nadat leerlingen oefening 8 zelf hebben geprobeerd. Dit zijn de volledige rekenafspraken uit de originele context, inclusief de afwijkend begrensde categorie normaal en beide grenswaarden. De volgende vier dia’s geven alle drie bronnen en deelvragen a–e, zonder oplossingen. Laat leerlingen hun boek openhouden op p. 63.</a:t>
            </a:r>
          </a:p>
          <a:p xmlns:a="http://schemas.openxmlformats.org/drawingml/2006/main">
            <a:r>
              <a:rPr sz="1400"/>
              <a:t/>
            </a:r>
          </a:p>
          <a:p xmlns:a="http://schemas.openxmlformats.org/drawingml/2006/main">
            <a:r>
              <a:rPr sz="1400"/>
              <a:t>Misvatting: De aanwijzingen op deze dia horen bij de opdracht; geef nog geen uitkomsten van de doelvragen.</a:t>
            </a:r>
          </a:p>
          <a:p xmlns:a="http://schemas.openxmlformats.org/drawingml/2006/main">
            <a:r>
              <a:rPr sz="1400"/>
              <a:t/>
            </a:r>
          </a:p>
          <a:p xmlns:a="http://schemas.openxmlformats.org/drawingml/2006/main">
            <a:r>
              <a:rPr sz="1400"/>
              <a:t>Overgang: Toon bron inkomen en de eerste twee vragen.</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horen bij a en welke stap vraagt b daarna?</a:t>
            </a:r>
          </a:p>
          <a:p xmlns:a="http://schemas.openxmlformats.org/drawingml/2006/main">
            <a:r>
              <a:rPr sz="1400"/>
              <a:t/>
            </a:r>
          </a:p>
          <a:p xmlns:a="http://schemas.openxmlformats.org/drawingml/2006/main">
            <a:r>
              <a:rPr sz="1400"/>
              <a:t>Uitleg: Toon de originele inkomensbron en beide volledige deelvragen. De hoeveelheid verandert bij twee verschillende goederen. Vraag leerlingen hun berekeningen en classificaties klaar te houden, maar bespreek de uitkomsten pas nadat alle doelvragen zijn getoond.</a:t>
            </a:r>
          </a:p>
          <a:p xmlns:a="http://schemas.openxmlformats.org/drawingml/2006/main">
            <a:r>
              <a:rPr sz="1400"/>
              <a:t/>
            </a:r>
          </a:p>
          <a:p xmlns:a="http://schemas.openxmlformats.org/drawingml/2006/main">
            <a:r>
              <a:rPr sz="1400"/>
              <a:t>Misvatting: Het inkomen stijgt voor beide goederen; de twee hoeveelheidsreacties hebben niet hetzelfde teken.</a:t>
            </a:r>
          </a:p>
          <a:p xmlns:a="http://schemas.openxmlformats.org/drawingml/2006/main">
            <a:r>
              <a:rPr sz="1400"/>
              <a:t/>
            </a:r>
          </a:p>
          <a:p xmlns:a="http://schemas.openxmlformats.org/drawingml/2006/main">
            <a:r>
              <a:rPr sz="1400"/>
              <a:t>Overgang: Toon de koffiebron en vraag c.</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onderdelen moet een volledig antwoord op c bevatten?</a:t>
            </a:r>
          </a:p>
          <a:p xmlns:a="http://schemas.openxmlformats.org/drawingml/2006/main">
            <a:r>
              <a:rPr sz="1400"/>
              <a:t/>
            </a:r>
          </a:p>
          <a:p xmlns:a="http://schemas.openxmlformats.org/drawingml/2006/main">
            <a:r>
              <a:rPr sz="1400"/>
              <a:t>Uitleg: Bewaar de complete bron en alle eisen van c: beide berekeningen, tellergoed, noemergoed en relatie. Er staan hier geen oplossingen. Koffie is in beide verhoudingen het prijsgoed; laat leerlingen dat in hun eigen werk opzoeken.</a:t>
            </a:r>
          </a:p>
          <a:p xmlns:a="http://schemas.openxmlformats.org/drawingml/2006/main">
            <a:r>
              <a:rPr sz="1400"/>
              <a:t/>
            </a:r>
          </a:p>
          <a:p xmlns:a="http://schemas.openxmlformats.org/drawingml/2006/main">
            <a:r>
              <a:rPr sz="1400"/>
              <a:t>Misvatting: Alleen de twee getallen noemen is onvoldoende: de opdracht vraagt goederen en relaties.</a:t>
            </a:r>
          </a:p>
          <a:p xmlns:a="http://schemas.openxmlformats.org/drawingml/2006/main">
            <a:r>
              <a:rPr sz="1400"/>
              <a:t/>
            </a:r>
          </a:p>
          <a:p xmlns:a="http://schemas.openxmlformats.org/drawingml/2006/main">
            <a:r>
              <a:rPr sz="1400"/>
              <a:t>Overgang: Toon nu de bron voor d en e.</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heeft Y, en welke eenheid zal Qx krijgen?</a:t>
            </a:r>
          </a:p>
          <a:p xmlns:a="http://schemas.openxmlformats.org/drawingml/2006/main">
            <a:r>
              <a:rPr sz="1400"/>
              <a:t/>
            </a:r>
          </a:p>
          <a:p xmlns:a="http://schemas.openxmlformats.org/drawingml/2006/main">
            <a:r>
              <a:rPr sz="1400"/>
              <a:t>Uitleg: Deze native tabel herschikt de volledige functietekst uit het boek, met behoud van dienst X, de concurrerende sportdienst Z, alle eenheden en beginwaarden. Het betreft een nieuwe context met een eigen beginhoeveelheid; neem geen 400 uit LeesClub over.</a:t>
            </a:r>
          </a:p>
          <a:p xmlns:a="http://schemas.openxmlformats.org/drawingml/2006/main">
            <a:r>
              <a:rPr sz="1400"/>
              <a:t/>
            </a:r>
          </a:p>
          <a:p xmlns:a="http://schemas.openxmlformats.org/drawingml/2006/main">
            <a:r>
              <a:rPr sz="1400"/>
              <a:t>Misvatting: Maandabonnementen maken Y niet tot maandinkomen. De gegeven coëfficiënt hoort bij jaarinkomen.</a:t>
            </a:r>
          </a:p>
          <a:p xmlns:a="http://schemas.openxmlformats.org/drawingml/2006/main">
            <a:r>
              <a:rPr sz="1400"/>
              <a:t/>
            </a:r>
          </a:p>
          <a:p xmlns:a="http://schemas.openxmlformats.org/drawingml/2006/main">
            <a:r>
              <a:rPr sz="1400"/>
              <a:t>Overgang: Toon beide volledige functievragen voordat je de oplossingen bespreekt.</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regel zorgt dat e een afzonderlijk scenario is?</a:t>
            </a:r>
          </a:p>
          <a:p xmlns:a="http://schemas.openxmlformats.org/drawingml/2006/main">
            <a:r>
              <a:rPr sz="1400"/>
              <a:t/>
            </a:r>
          </a:p>
          <a:p xmlns:a="http://schemas.openxmlformats.org/drawingml/2006/main">
            <a:r>
              <a:rPr sz="1400"/>
              <a:t>Uitleg: Alle subvragen a–e zijn nu beschikbaar geweest, zonder oplossingen. Vraag d omvat beide hoeveelheden, de procentuele reactie, Ei, classificatie, de absolute richting en vaste variabelen. Bij Ei is ook %ΔY nodig als tussenstap. Vraag e begint opnieuw bij Y = 30.000. Blader zo nodig terug naar de brondia of gebruik p. 63.</a:t>
            </a:r>
          </a:p>
          <a:p xmlns:a="http://schemas.openxmlformats.org/drawingml/2006/main">
            <a:r>
              <a:rPr sz="1400"/>
              <a:t/>
            </a:r>
          </a:p>
          <a:p xmlns:a="http://schemas.openxmlformats.org/drawingml/2006/main">
            <a:r>
              <a:rPr sz="1400"/>
              <a:t>Misvatting: De inkomensstijging uit d mag niet blijven staan in e.</a:t>
            </a:r>
          </a:p>
          <a:p xmlns:a="http://schemas.openxmlformats.org/drawingml/2006/main">
            <a:r>
              <a:rPr sz="1400"/>
              <a:t/>
            </a:r>
          </a:p>
          <a:p xmlns:a="http://schemas.openxmlformats.org/drawingml/2006/main">
            <a:r>
              <a:rPr sz="1400"/>
              <a:t>Overgang: Begin pas nu met de uitwerkingen, bij a en b.</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Past elk teken bij de vraagreactie uit de bron?</a:t>
            </a:r>
          </a:p>
          <a:p xmlns:a="http://schemas.openxmlformats.org/drawingml/2006/main">
            <a:r>
              <a:rPr sz="1400"/>
              <a:t/>
            </a:r>
          </a:p>
          <a:p xmlns:a="http://schemas.openxmlformats.org/drawingml/2006/main">
            <a:r>
              <a:rPr sz="1400"/>
              <a:t>Uitleg: Werk eerst beide verhoudingen uit en koppel dan aan de categorie. Maaltijdpakketten: +8 gedeeld door +5 is +1,6; budgetnoedels: −3 gedeeld door +5 is −0,6. Controleer met de richtingen in de bron. Ei is dimensieloos. De indeling geldt in deze meting; inferieur zegt niets over kwaliteit.</a:t>
            </a:r>
          </a:p>
          <a:p xmlns:a="http://schemas.openxmlformats.org/drawingml/2006/main">
            <a:r>
              <a:rPr sz="1400"/>
              <a:t/>
            </a:r>
          </a:p>
          <a:p xmlns:a="http://schemas.openxmlformats.org/drawingml/2006/main">
            <a:r>
              <a:rPr sz="1400"/>
              <a:t>Misvatting: Schrijf −0,6 en niet +0,6. Het minteken bepaalt hier de categorie.</a:t>
            </a:r>
          </a:p>
          <a:p xmlns:a="http://schemas.openxmlformats.org/drawingml/2006/main">
            <a:r>
              <a:rPr sz="1400"/>
              <a:t/>
            </a:r>
          </a:p>
          <a:p xmlns:a="http://schemas.openxmlformats.org/drawingml/2006/main">
            <a:r>
              <a:rPr sz="1400"/>
              <a:t>Overgang: Ga naar vraag c: daar verandert een prijs van een ander goed.</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goed staat in de teller, welk goed in de noemer?</a:t>
            </a:r>
          </a:p>
          <a:p xmlns:a="http://schemas.openxmlformats.org/drawingml/2006/main">
            <a:r>
              <a:rPr sz="1400"/>
              <a:t/>
            </a:r>
          </a:p>
          <a:p xmlns:a="http://schemas.openxmlformats.org/drawingml/2006/main">
            <a:r>
              <a:rPr sz="1400"/>
              <a:t>Uitleg: Noem de gehele verhouding in woorden. Thee is het vraaggoed, koffie het prijsgoed. Beide veranderingen zijn positief, dus Ek is positief. Thee is hier een alternatief voor koffie. Controleer dat de noemer niet de theeprijs is. De conclusie betreft deze situatie.</a:t>
            </a:r>
          </a:p>
          <a:p xmlns:a="http://schemas.openxmlformats.org/drawingml/2006/main">
            <a:r>
              <a:rPr sz="1400"/>
              <a:t/>
            </a:r>
          </a:p>
          <a:p xmlns:a="http://schemas.openxmlformats.org/drawingml/2006/main">
            <a:r>
              <a:rPr sz="1400"/>
              <a:t>Misvatting: Ek gaat niet over de koffiehoeveelheid, want die staat niet in deze teller.</a:t>
            </a:r>
          </a:p>
          <a:p xmlns:a="http://schemas.openxmlformats.org/drawingml/2006/main">
            <a:r>
              <a:rPr sz="1400"/>
              <a:t/>
            </a:r>
          </a:p>
          <a:p xmlns:a="http://schemas.openxmlformats.org/drawingml/2006/main">
            <a:r>
              <a:rPr sz="1400"/>
              <a:t>Overgang: Gebruik dezelfde koffieprijs voor de vraag naar koffiefilters.</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betekent −0,6 hier complementen en bij budgetnoedels inferieur?</a:t>
            </a:r>
          </a:p>
          <a:p xmlns:a="http://schemas.openxmlformats.org/drawingml/2006/main">
            <a:r>
              <a:rPr sz="1400"/>
              <a:t/>
            </a:r>
          </a:p>
          <a:p xmlns:a="http://schemas.openxmlformats.org/drawingml/2006/main">
            <a:r>
              <a:rPr sz="1400"/>
              <a:t>Uitleg: Dezelfde prijsnoemer geeft met een negatieve teller een negatieve Ek. Filters en koffie worden samen gebruikt. Noem koffie expliciet als prijsgoed en koffiefilters als vraaggoed. Dit getal −0,6 is gelijk aan de Ei van budgetnoedels, maar de economische betekenis verschilt doordat de noemer anders is.</a:t>
            </a:r>
          </a:p>
          <a:p xmlns:a="http://schemas.openxmlformats.org/drawingml/2006/main">
            <a:r>
              <a:rPr sz="1400"/>
              <a:t/>
            </a:r>
          </a:p>
          <a:p xmlns:a="http://schemas.openxmlformats.org/drawingml/2006/main">
            <a:r>
              <a:rPr sz="1400"/>
              <a:t>Misvatting: Een gelijk getal bij twee elasticiteitssoorten betekent niet dezelfde economische conclusie.</a:t>
            </a:r>
          </a:p>
          <a:p xmlns:a="http://schemas.openxmlformats.org/drawingml/2006/main">
            <a:r>
              <a:rPr sz="1400"/>
              <a:t/>
            </a:r>
          </a:p>
          <a:p xmlns:a="http://schemas.openxmlformats.org/drawingml/2006/main">
            <a:r>
              <a:rPr sz="1400"/>
              <a:t>Overgang: Begin met de functie uit de fitnessbron.</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begint deze berekening niet bij 400?</a:t>
            </a:r>
          </a:p>
          <a:p xmlns:a="http://schemas.openxmlformats.org/drawingml/2006/main">
            <a:r>
              <a:rPr sz="1400"/>
              <a:t/>
            </a:r>
          </a:p>
          <a:p xmlns:a="http://schemas.openxmlformats.org/drawingml/2006/main">
            <a:r>
              <a:rPr sz="1400"/>
              <a:t>Uitleg: Voer eerst alle vermenigvuldigingen uit en neem de tekens mee. 100 − 20 + 10 + 300 = 390. Dit is de eigen beginhoeveelheid van fitnessdienst X. Controleer de eenheid abonnementen per maand; het ingevulde Y is jaarinkomen in euro.</a:t>
            </a:r>
          </a:p>
          <a:p xmlns:a="http://schemas.openxmlformats.org/drawingml/2006/main">
            <a:r>
              <a:rPr sz="1400"/>
              <a:t/>
            </a:r>
          </a:p>
          <a:p xmlns:a="http://schemas.openxmlformats.org/drawingml/2006/main">
            <a:r>
              <a:rPr sz="1400"/>
              <a:t>Misvatting: De hoeveelheid uit het uitlegvoorbeeld is geen gegeven voor dit nieuwe model.</a:t>
            </a:r>
          </a:p>
          <a:p xmlns:a="http://schemas.openxmlformats.org/drawingml/2006/main">
            <a:r>
              <a:rPr sz="1400"/>
              <a:t/>
            </a:r>
          </a:p>
          <a:p xmlns:a="http://schemas.openxmlformats.org/drawingml/2006/main">
            <a:r>
              <a:rPr sz="1400"/>
              <a:t>Overgang: Verander alleen Y naar 33.000.</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onderdeel van de functie verklaart de 30 extra abonnementen?</a:t>
            </a:r>
          </a:p>
          <a:p xmlns:a="http://schemas.openxmlformats.org/drawingml/2006/main">
            <a:r>
              <a:rPr sz="1400"/>
              <a:t/>
            </a:r>
          </a:p>
          <a:p xmlns:a="http://schemas.openxmlformats.org/drawingml/2006/main">
            <a:r>
              <a:rPr sz="1400"/>
              <a:t>Uitleg: Het inkomen verhoogt alleen de term 0,01Y, van 300 naar 330. Bij vaste prijzen groeit de hoeveelheid daarom met 30 abonnementen per maand tot 420. Benoem dat de absolute verandering door de hogere Y ontstaat binnen dit model en bij gelijkblijvende andere factoren.</a:t>
            </a:r>
          </a:p>
          <a:p xmlns:a="http://schemas.openxmlformats.org/drawingml/2006/main">
            <a:r>
              <a:rPr sz="1400"/>
              <a:t/>
            </a:r>
          </a:p>
          <a:p xmlns:a="http://schemas.openxmlformats.org/drawingml/2006/main">
            <a:r>
              <a:rPr sz="1400"/>
              <a:t>Misvatting: 30 is een aantal abonnementen per maand; het is nog geen 30 procent.</a:t>
            </a:r>
          </a:p>
          <a:p xmlns:a="http://schemas.openxmlformats.org/drawingml/2006/main">
            <a:r>
              <a:rPr sz="1400"/>
              <a:t/>
            </a:r>
          </a:p>
          <a:p xmlns:a="http://schemas.openxmlformats.org/drawingml/2006/main">
            <a:r>
              <a:rPr sz="1400"/>
              <a:t>Overgang: Gebruik 390 en 420 voor de procentuele reactie en Ei.</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+0,77 aannemelijk als de vraag ongeveer 7,69% en het inkomen 10% stijgt?</a:t>
            </a:r>
          </a:p>
          <a:p xmlns:a="http://schemas.openxmlformats.org/drawingml/2006/main">
            <a:r>
              <a:rPr sz="1400"/>
              <a:t/>
            </a:r>
          </a:p>
          <a:p xmlns:a="http://schemas.openxmlformats.org/drawingml/2006/main">
            <a:r>
              <a:rPr sz="1400"/>
              <a:t>Uitleg: Bewaar de tussenuitkomst op de rekenmachine. Exact is de procentuele groei 100/13 procent en Ei 10/13, ongeveer 0,76923077. Rond pas het eindantwoord af op +0,77. De bronprijzen Px = 10 en Pz = 20 blijven gelijk. Controleer: positieve reactie, maar minder dan de inkomensgroei van 10%; dus normaal volgens dit boek.</a:t>
            </a:r>
          </a:p>
          <a:p xmlns:a="http://schemas.openxmlformats.org/drawingml/2006/main">
            <a:r>
              <a:rPr sz="1400"/>
              <a:t/>
            </a:r>
          </a:p>
          <a:p xmlns:a="http://schemas.openxmlformats.org/drawingml/2006/main">
            <a:r>
              <a:rPr sz="1400"/>
              <a:t>Misvatting: De functiecoëfficiënt 0,01 is geen Ei. Deel ook niet 30 abonnementen door 3.000 euro als elasticiteit.</a:t>
            </a:r>
          </a:p>
          <a:p xmlns:a="http://schemas.openxmlformats.org/drawingml/2006/main">
            <a:r>
              <a:rPr sz="1400"/>
              <a:t/>
            </a:r>
          </a:p>
          <a:p xmlns:a="http://schemas.openxmlformats.org/drawingml/2006/main">
            <a:r>
              <a:rPr sz="1400"/>
              <a:t>Overgang: Zet Y terug voordat je vraag e oplost.</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392 bij de vergelijking met 390 en niet met 420?</a:t>
            </a:r>
          </a:p>
          <a:p xmlns:a="http://schemas.openxmlformats.org/drawingml/2006/main">
            <a:r>
              <a:rPr sz="1400"/>
              <a:t/>
            </a:r>
          </a:p>
          <a:p xmlns:a="http://schemas.openxmlformats.org/drawingml/2006/main">
            <a:r>
              <a:rPr sz="1400"/>
              <a:t>Uitleg: Begin opnieuw met Y = 30.000. Alleen Pz wordt 24; Px blijft 10. De prijsbijdrage 0,5Pz neemt toe van 10 naar 12. Daarom groeit Qx van 390 naar 392 abonnementen per maand. Een duurdere concurrerende sportdienst Z gaat in dit model samen met meer vraag naar fitnessdienst X: een positief verband. Controleer dat de extra 30 uit d niet is meegenomen.</a:t>
            </a:r>
          </a:p>
          <a:p xmlns:a="http://schemas.openxmlformats.org/drawingml/2006/main">
            <a:r>
              <a:rPr sz="1400"/>
              <a:t/>
            </a:r>
          </a:p>
          <a:p xmlns:a="http://schemas.openxmlformats.org/drawingml/2006/main">
            <a:r>
              <a:rPr sz="1400"/>
              <a:t>Misvatting: Met Y = 33.000 kom je op 422. Dat is een ander scenario met twee wijzigingen, geen antwoord op e.</a:t>
            </a:r>
          </a:p>
          <a:p xmlns:a="http://schemas.openxmlformats.org/drawingml/2006/main">
            <a:r>
              <a:rPr sz="1400"/>
              <a:t/>
            </a:r>
          </a:p>
          <a:p xmlns:a="http://schemas.openxmlformats.org/drawingml/2006/main">
            <a:r>
              <a:rPr sz="1400"/>
              <a:t>Overgang: Laat leerlingen de ontbrekende stappen in hun werk aanvullen.</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heb je nu toegevoegd of verbeterd?</a:t>
            </a:r>
          </a:p>
          <a:p xmlns:a="http://schemas.openxmlformats.org/drawingml/2006/main">
            <a:r>
              <a:rPr sz="1400"/>
              <a:t/>
            </a:r>
          </a:p>
          <a:p xmlns:a="http://schemas.openxmlformats.org/drawingml/2006/main">
            <a:r>
              <a:rPr sz="1400"/>
              <a:t>Uitleg: Geef ruimte om eigen werk na te kijken. Kerncontrole: 1,6 luxe; −0,6 inferieur; thee/koffie +0,4 substituten; filters/koffie −0,6 complementen; functie 390 naar 420, Ei ongeveer 0,77 normaal; na reset 392. Vraag specifiek naar oude noemers, eenheden en de vaste variabelen. De volledige oefenroute omvat ook basisopgaven 3–5.</a:t>
            </a:r>
          </a:p>
          <a:p xmlns:a="http://schemas.openxmlformats.org/drawingml/2006/main">
            <a:r>
              <a:rPr sz="1400"/>
              <a:t/>
            </a:r>
          </a:p>
          <a:p xmlns:a="http://schemas.openxmlformats.org/drawingml/2006/main">
            <a:r>
              <a:rPr sz="1400"/>
              <a:t>Misvatting: Een juist eindgetal vervangt niet de gevraagde redenering of benoeming van beide goederen.</a:t>
            </a:r>
          </a:p>
          <a:p xmlns:a="http://schemas.openxmlformats.org/drawingml/2006/main">
            <a:r>
              <a:rPr sz="1400"/>
              <a:t/>
            </a:r>
          </a:p>
          <a:p xmlns:a="http://schemas.openxmlformats.org/drawingml/2006/main">
            <a:r>
              <a:rPr sz="1400"/>
              <a:t>Overgang: Keer terug naar het overzicht en noteer het huiswerk.</a:t>
            </a:r>
          </a:p>
          <a:p xmlns:a="http://schemas.openxmlformats.org/drawingml/2006/main">
            <a:r>
              <a:rPr sz="1400"/>
              <a:t/>
            </a:r>
          </a:p>
          <a:p xmlns:a="http://schemas.openxmlformats.org/drawingml/2006/main">
            <a:r>
              <a:rPr sz="1400"/>
              <a:t>Bron: Boek 2, editie chat-2026, revisie 1 oktober 2026; gedrukte pagina 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lukt al, en welke wil je met de uitleg opnieuw bekijken?</a:t>
            </a:r>
          </a:p>
          <a:p xmlns:a="http://schemas.openxmlformats.org/drawingml/2006/main">
            <a:r>
              <a:rPr sz="1400"/>
              <a:t/>
            </a:r>
          </a:p>
          <a:p xmlns:a="http://schemas.openxmlformats.org/drawingml/2006/main">
            <a:r>
              <a:rPr sz="1400"/>
              <a:t>Uitleg: Laat de dia staan tijdens afsluiting / huiswerk. Opgave 1 haalt procenten en eenvoudig invullen op. Bij twijfel geef je het rekenschema (nieuw − oud) / oud × 100%, of laat je eerst P vervangen en daarna vermenigvuldigen. Opgave 2 verkent nieuwe leerstof: 2a gebruikt definities op p. 54–55; bij 2b helpt het één-factor-voorbeeld op p. 56–57. Laat leerlingen die tekst erbij nemen en een voorlopige redenering noteren; verwacht nog geen zelfstandige beheersing. Na de uitleg keren we terug naar opgave 2. Basis 3 staat op p. 60, 4–5 op p. 61; zelfstandig 6–7 op p. 62; doel 8 op p. 63. Huiswerk: 3, 4, 5, 6, 7 en 8 maken en nakijken. Bonus en herhaling zijn extra.</a:t>
            </a:r>
          </a:p>
          <a:p xmlns:a="http://schemas.openxmlformats.org/drawingml/2006/main">
            <a:r>
              <a:rPr sz="1400"/>
              <a:t/>
            </a:r>
          </a:p>
          <a:p xmlns:a="http://schemas.openxmlformats.org/drawingml/2006/main">
            <a:r>
              <a:rPr sz="1400"/>
              <a:t>Misvatting: Een startpoging bij nieuwe Ei-, Ek- en functie-scenario’s is geen toets van eerder verworven kennis.</a:t>
            </a:r>
          </a:p>
          <a:p xmlns:a="http://schemas.openxmlformats.org/drawingml/2006/main">
            <a:r>
              <a:rPr sz="1400"/>
              <a:t/>
            </a:r>
          </a:p>
          <a:p xmlns:a="http://schemas.openxmlformats.org/drawingml/2006/main">
            <a:r>
              <a:rPr sz="1400"/>
              <a:t>Overgang: Laat het huiswerk in de agenda zetten. Rond de oefenroute zo nodig in aanvullende lestijd af.</a:t>
            </a:r>
          </a:p>
          <a:p xmlns:a="http://schemas.openxmlformats.org/drawingml/2006/main">
            <a:r>
              <a:rPr sz="1400"/>
              <a:t/>
            </a:r>
          </a:p>
          <a:p xmlns:a="http://schemas.openxmlformats.org/drawingml/2006/main">
            <a:r>
              <a:rPr sz="1400"/>
              <a:t>Bron: Boek 2, editie chat-2026, revisie 1 oktober 2026; gedrukte pagina 54–57 en 60–63. https://github.com/meijer1973/4veco-lessen/blob/a8940a7a79e22857a3e306a91fe923c48c63e716/Boek%202%20-%20Kosten%2C%20opbrengsten%2C%20elasticiteit%20en%20surplus/edities/chat-2026/boek/Boek_2_Compleet.pdf</a:t>
            </a:r>
          </a:p>
          <a:p xmlns:a="http://schemas.openxmlformats.org/drawingml/2006/main">
            <a:r>
              <a:rPr sz="1400"/>
              <a:t>Antwoordmodel: https://github.com/meijer1973/4veco-lessen/blob/a8940a7a79e22857a3e306a91fe923c48c63e716/Boek%202%20-%20Kosten%2C%20opbrengsten%2C%20elasticiteit%20en%20surplus/edities/chat-2026/boek/Boek_2_Compleet_Antwoorden.pdf</a:t>
            </a:r>
          </a:p>
          <a:p xmlns:a="http://schemas.openxmlformats.org/drawingml/2006/main">
            <a:r>
              <a:rPr sz="1400"/>
              <a:t>Docenteninformatie: volledige route kan meer dan één les vragen. Er is geen gemeten tijdsclaim.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e1e098fee94b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e5f1066a3c468d" /><Relationship Type="http://schemas.openxmlformats.org/officeDocument/2006/relationships/slideLayout" Target="/ppt/slideLayouts/slideLayout1.xml" Id="R46ce843d042a41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ce843d042a41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9a30198fc6425b" /><Relationship Type="http://schemas.openxmlformats.org/officeDocument/2006/relationships/notesSlide" Target="/ppt/notesSlides/notesSlide1.xml" Id="R77b5de7f8ab843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51c11514634605" /><Relationship Type="http://schemas.openxmlformats.org/officeDocument/2006/relationships/notesSlide" Target="/ppt/notesSlides/notesSlide2.xml" Id="R9f4a4d6646ad4b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5e81c5bf6e4070" /><Relationship Type="http://schemas.openxmlformats.org/officeDocument/2006/relationships/notesSlide" Target="/ppt/notesSlides/notesSlide3.xml" Id="R57f0d23fe8ef45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f37c190d7446c2" /><Relationship Type="http://schemas.openxmlformats.org/officeDocument/2006/relationships/notesSlide" Target="/ppt/notesSlides/notesSlide4.xml" Id="R8ec5b073248648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c642c0eb3344c7" /><Relationship Type="http://schemas.openxmlformats.org/officeDocument/2006/relationships/notesSlide" Target="/ppt/notesSlides/notesSlide5.xml" Id="Rbf1b8e5e8f1247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e72494c7384dc2" /><Relationship Type="http://schemas.openxmlformats.org/officeDocument/2006/relationships/notesSlide" Target="/ppt/notesSlides/notesSlide6.xml" Id="Ra69f955e59ee42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b1e20f303f4e53" /><Relationship Type="http://schemas.openxmlformats.org/officeDocument/2006/relationships/notesSlide" Target="/ppt/notesSlides/notesSlide7.xml" Id="R9f197f58742546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450c7b1fff4c47" /><Relationship Type="http://schemas.openxmlformats.org/officeDocument/2006/relationships/notesSlide" Target="/ppt/notesSlides/notesSlide8.xml" Id="R0a3e90b032ec48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232b643b8c4ea9" /><Relationship Type="http://schemas.openxmlformats.org/officeDocument/2006/relationships/notesSlide" Target="/ppt/notesSlides/notesSlide9.xml" Id="R9a5c23341eb641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412ffe713741d0" /><Relationship Type="http://schemas.openxmlformats.org/officeDocument/2006/relationships/notesSlide" Target="/ppt/notesSlides/notesSlide10.xml" Id="Rfd22ad6c91da4e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6a1ebf54b3467b" /><Relationship Type="http://schemas.openxmlformats.org/officeDocument/2006/relationships/notesSlide" Target="/ppt/notesSlides/notesSlide11.xml" Id="Rbbab9497edbd4a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fccc063aaa4c8d" /><Relationship Type="http://schemas.openxmlformats.org/officeDocument/2006/relationships/notesSlide" Target="/ppt/notesSlides/notesSlide12.xml" Id="Rece5bbcfe27d48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be5a64cf694d23" /><Relationship Type="http://schemas.openxmlformats.org/officeDocument/2006/relationships/notesSlide" Target="/ppt/notesSlides/notesSlide13.xml" Id="R8029bf3426744f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c1ff344403c4bc0" /><Relationship Type="http://schemas.openxmlformats.org/officeDocument/2006/relationships/notesSlide" Target="/ppt/notesSlides/notesSlide14.xml" Id="Ra2481fac302943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4bc6b09973c45f9" /><Relationship Type="http://schemas.openxmlformats.org/officeDocument/2006/relationships/notesSlide" Target="/ppt/notesSlides/notesSlide15.xml" Id="Rac768e7b93c84e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805a09adc49448a" /><Relationship Type="http://schemas.openxmlformats.org/officeDocument/2006/relationships/notesSlide" Target="/ppt/notesSlides/notesSlide16.xml" Id="Rbc3fa554ce28432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3908e61c2a844ce" /><Relationship Type="http://schemas.openxmlformats.org/officeDocument/2006/relationships/notesSlide" Target="/ppt/notesSlides/notesSlide17.xml" Id="R103a062209014f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69d387c20e540f7" /><Relationship Type="http://schemas.openxmlformats.org/officeDocument/2006/relationships/notesSlide" Target="/ppt/notesSlides/notesSlide18.xml" Id="R594595c6c48047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bcc9ab2f70140c1" /><Relationship Type="http://schemas.openxmlformats.org/officeDocument/2006/relationships/notesSlide" Target="/ppt/notesSlides/notesSlide19.xml" Id="Reb86bd0e56834b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368e384926f4b26" /><Relationship Type="http://schemas.openxmlformats.org/officeDocument/2006/relationships/notesSlide" Target="/ppt/notesSlides/notesSlide20.xml" Id="R6954206ccba9419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ab11a63d18c413a" /><Relationship Type="http://schemas.openxmlformats.org/officeDocument/2006/relationships/notesSlide" Target="/ppt/notesSlides/notesSlide21.xml" Id="R43d52ec833af4b2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4419c90b7944ff4" /><Relationship Type="http://schemas.openxmlformats.org/officeDocument/2006/relationships/notesSlide" Target="/ppt/notesSlides/notesSlide22.xml" Id="Ra155bbb03ed24b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609dc725c0049d5" /><Relationship Type="http://schemas.openxmlformats.org/officeDocument/2006/relationships/notesSlide" Target="/ppt/notesSlides/notesSlide23.xml" Id="R5cd69f22eefb4ca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afaafe5f2c54934" /><Relationship Type="http://schemas.openxmlformats.org/officeDocument/2006/relationships/notesSlide" Target="/ppt/notesSlides/notesSlide24.xml" Id="R7687c922ea6d4e6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2a1a00969254e1d" /><Relationship Type="http://schemas.openxmlformats.org/officeDocument/2006/relationships/notesSlide" Target="/ppt/notesSlides/notesSlide25.xml" Id="R22cd641c549645c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b3be03a9ac14fba" /><Relationship Type="http://schemas.openxmlformats.org/officeDocument/2006/relationships/notesSlide" Target="/ppt/notesSlides/notesSlide26.xml" Id="R75d0ab7efbb245f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8528cd4384b4c1b" /><Relationship Type="http://schemas.openxmlformats.org/officeDocument/2006/relationships/notesSlide" Target="/ppt/notesSlides/notesSlide27.xml" Id="R880f279d659e454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d3bcb34f19d4668" /><Relationship Type="http://schemas.openxmlformats.org/officeDocument/2006/relationships/notesSlide" Target="/ppt/notesSlides/notesSlide28.xml" Id="Raeb2a01757ec4f9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9a954bf520e48c2" /><Relationship Type="http://schemas.openxmlformats.org/officeDocument/2006/relationships/notesSlide" Target="/ppt/notesSlides/notesSlide29.xml" Id="Ra1f614bf4bea498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6c7bcda9f0e4524" /><Relationship Type="http://schemas.openxmlformats.org/officeDocument/2006/relationships/notesSlide" Target="/ppt/notesSlides/notesSlide30.xml" Id="R966d59f1f8284e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F49DAD47-69DC-4A69-AF71-F624408B8760}"/>
              </a:ext>
            </a:extLst>
          </p:cNvPr>
          <p:cNvSpPr>
            <a:spLocks xmlns:a="http://schemas.openxmlformats.org/drawingml/2006/main" noGrp="1"/>
          </p:cNvSpPr>
          <p:nvPr/>
        </p:nvSpPr>
        <p:spPr>
          <a:xfrm xmlns:a="http://schemas.openxmlformats.org/drawingml/2006/main">
            <a:off x="571500" y="2190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§2.2.3 Inkomenselasticiteit</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en kruislingse elasticiteit</a:t>
            </a:r>
          </a:p>
        </p:txBody>
      </p:sp>
      <p:sp>
        <p:nvSpPr>
          <p:cNvPr id="2" name="phase">
            <a:extLst xmlns:a="http://schemas.openxmlformats.org/drawingml/2006/main">
              <a:ext uri="{FF2B5EF4-FFF2-40B4-BE49-F238E27FC236}">
                <a16:creationId xmlns:a16="http://schemas.microsoft.com/office/drawing/2014/main" id="{8394C4A6-B5CE-4FE6-A0F3-4361DAB62173}"/>
              </a:ext>
            </a:extLst>
          </p:cNvPr>
          <p:cNvSpPr>
            <a:spLocks xmlns:a="http://schemas.openxmlformats.org/drawingml/2006/main" noGrp="1"/>
          </p:cNvSpPr>
          <p:nvPr/>
        </p:nvSpPr>
        <p:spPr>
          <a:xfrm xmlns:a="http://schemas.openxmlformats.org/drawingml/2006/main">
            <a:off x="571500" y="1333500"/>
            <a:ext cx="1409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3" name="">
            <a:extLst xmlns:a="http://schemas.openxmlformats.org/drawingml/2006/main">
              <a:ext uri="{FF2B5EF4-FFF2-40B4-BE49-F238E27FC236}">
                <a16:creationId xmlns:a16="http://schemas.microsoft.com/office/drawing/2014/main" id="{032A5238-DB65-42D1-A174-882059E1BDA1}"/>
              </a:ext>
            </a:extLst>
          </p:cNvPr>
          <p:cNvSpPr>
            <a:spLocks xmlns:a="http://schemas.openxmlformats.org/drawingml/2006/main" noGrp="1"/>
          </p:cNvSpPr>
          <p:nvPr/>
        </p:nvSpPr>
        <p:spPr>
          <a:xfrm xmlns:a="http://schemas.openxmlformats.org/drawingml/2006/main">
            <a:off x="571500" y="175260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C2EBCFCC-8925-43E5-96EE-A426634CCE0D}"/>
              </a:ext>
            </a:extLst>
          </p:cNvPr>
          <p:cNvSpPr>
            <a:spLocks xmlns:a="http://schemas.openxmlformats.org/drawingml/2006/main" noGrp="1"/>
          </p:cNvSpPr>
          <p:nvPr/>
        </p:nvSpPr>
        <p:spPr>
          <a:xfrm xmlns:a="http://schemas.openxmlformats.org/drawingml/2006/main">
            <a:off x="571500" y="200977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E3163395-D1B7-477A-9745-C3E25D8EA80F}"/>
              </a:ext>
            </a:extLst>
          </p:cNvPr>
          <p:cNvSpPr>
            <a:spLocks xmlns:a="http://schemas.openxmlformats.org/drawingml/2006/main" noGrp="1"/>
          </p:cNvSpPr>
          <p:nvPr/>
        </p:nvSpPr>
        <p:spPr>
          <a:xfrm xmlns:a="http://schemas.openxmlformats.org/drawingml/2006/main">
            <a:off x="571500" y="2533650"/>
            <a:ext cx="45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ED05E716-67B7-4241-9717-909A65CB988E}"/>
              </a:ext>
            </a:extLst>
          </p:cNvPr>
          <p:cNvSpPr>
            <a:spLocks xmlns:a="http://schemas.openxmlformats.org/drawingml/2006/main" noGrp="1"/>
          </p:cNvSpPr>
          <p:nvPr/>
        </p:nvSpPr>
        <p:spPr>
          <a:xfrm xmlns:a="http://schemas.openxmlformats.org/drawingml/2006/main">
            <a:off x="1104900" y="2533650"/>
            <a:ext cx="74199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EB893333-A066-49B3-86F9-44955107DE10}"/>
              </a:ext>
            </a:extLst>
          </p:cNvPr>
          <p:cNvSpPr>
            <a:spLocks xmlns:a="http://schemas.openxmlformats.org/drawingml/2006/main" noGrp="1"/>
          </p:cNvSpPr>
          <p:nvPr/>
        </p:nvSpPr>
        <p:spPr>
          <a:xfrm xmlns:a="http://schemas.openxmlformats.org/drawingml/2006/main">
            <a:off x="571500" y="33432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A8EFFD83-E6A9-4B70-869B-C1B58EEAAFD0}"/>
              </a:ext>
            </a:extLst>
          </p:cNvPr>
          <p:cNvSpPr>
            <a:spLocks xmlns:a="http://schemas.openxmlformats.org/drawingml/2006/main" noGrp="1"/>
          </p:cNvSpPr>
          <p:nvPr/>
        </p:nvSpPr>
        <p:spPr>
          <a:xfrm xmlns:a="http://schemas.openxmlformats.org/drawingml/2006/main">
            <a:off x="1104900" y="334327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7F9FC34A-D6B4-4CD8-8DE3-A62C7DDEC74F}"/>
              </a:ext>
            </a:extLst>
          </p:cNvPr>
          <p:cNvSpPr>
            <a:spLocks xmlns:a="http://schemas.openxmlformats.org/drawingml/2006/main" noGrp="1"/>
          </p:cNvSpPr>
          <p:nvPr/>
        </p:nvSpPr>
        <p:spPr>
          <a:xfrm xmlns:a="http://schemas.openxmlformats.org/drawingml/2006/main">
            <a:off x="571500" y="38671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9A8E19AF-59DA-488D-9B7B-7AB0DE5DB7EE}"/>
              </a:ext>
            </a:extLst>
          </p:cNvPr>
          <p:cNvSpPr>
            <a:spLocks xmlns:a="http://schemas.openxmlformats.org/drawingml/2006/main" noGrp="1"/>
          </p:cNvSpPr>
          <p:nvPr/>
        </p:nvSpPr>
        <p:spPr>
          <a:xfrm xmlns:a="http://schemas.openxmlformats.org/drawingml/2006/main">
            <a:off x="1104900" y="38671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1" name="route-number-4">
            <a:extLst xmlns:a="http://schemas.openxmlformats.org/drawingml/2006/main">
              <a:ext uri="{FF2B5EF4-FFF2-40B4-BE49-F238E27FC236}">
                <a16:creationId xmlns:a16="http://schemas.microsoft.com/office/drawing/2014/main" id="{23291408-F472-447C-A12A-5A77D602CB84}"/>
              </a:ext>
            </a:extLst>
          </p:cNvPr>
          <p:cNvSpPr>
            <a:spLocks xmlns:a="http://schemas.openxmlformats.org/drawingml/2006/main" noGrp="1"/>
          </p:cNvSpPr>
          <p:nvPr/>
        </p:nvSpPr>
        <p:spPr>
          <a:xfrm xmlns:a="http://schemas.openxmlformats.org/drawingml/2006/main">
            <a:off x="571500" y="4381500"/>
            <a:ext cx="4572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73B0D8FC-A209-4E07-BD47-75261589182B}"/>
              </a:ext>
            </a:extLst>
          </p:cNvPr>
          <p:cNvSpPr>
            <a:spLocks xmlns:a="http://schemas.openxmlformats.org/drawingml/2006/main" noGrp="1"/>
          </p:cNvSpPr>
          <p:nvPr/>
        </p:nvSpPr>
        <p:spPr>
          <a:xfrm xmlns:a="http://schemas.openxmlformats.org/drawingml/2006/main">
            <a:off x="1104900" y="4381500"/>
            <a:ext cx="74199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3" name="route-number-5">
            <a:extLst xmlns:a="http://schemas.openxmlformats.org/drawingml/2006/main">
              <a:ext uri="{FF2B5EF4-FFF2-40B4-BE49-F238E27FC236}">
                <a16:creationId xmlns:a16="http://schemas.microsoft.com/office/drawing/2014/main" id="{FC1BE97B-AD9B-4A67-BB94-0BA4BA754811}"/>
              </a:ext>
            </a:extLst>
          </p:cNvPr>
          <p:cNvSpPr>
            <a:spLocks xmlns:a="http://schemas.openxmlformats.org/drawingml/2006/main" noGrp="1"/>
          </p:cNvSpPr>
          <p:nvPr/>
        </p:nvSpPr>
        <p:spPr>
          <a:xfrm xmlns:a="http://schemas.openxmlformats.org/drawingml/2006/main">
            <a:off x="571500" y="601980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DFAAECDD-C753-4AC9-978A-8707F38084B4}"/>
              </a:ext>
            </a:extLst>
          </p:cNvPr>
          <p:cNvSpPr>
            <a:spLocks xmlns:a="http://schemas.openxmlformats.org/drawingml/2006/main" noGrp="1"/>
          </p:cNvSpPr>
          <p:nvPr/>
        </p:nvSpPr>
        <p:spPr>
          <a:xfrm xmlns:a="http://schemas.openxmlformats.org/drawingml/2006/main">
            <a:off x="1104900" y="6019800"/>
            <a:ext cx="7419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6C9BF6E9-82EC-4B5A-873E-0B6BBB1266DA}"/>
              </a:ext>
            </a:extLst>
          </p:cNvPr>
          <p:cNvSpPr>
            <a:spLocks xmlns:a="http://schemas.openxmlformats.org/drawingml/2006/main" noGrp="1"/>
          </p:cNvSpPr>
          <p:nvPr/>
        </p:nvSpPr>
        <p:spPr>
          <a:xfrm xmlns:a="http://schemas.openxmlformats.org/drawingml/2006/main">
            <a:off x="571500" y="6696075"/>
            <a:ext cx="45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EE8AED73-CB63-4245-8B89-674601A563BD}"/>
              </a:ext>
            </a:extLst>
          </p:cNvPr>
          <p:cNvSpPr>
            <a:spLocks xmlns:a="http://schemas.openxmlformats.org/drawingml/2006/main" noGrp="1"/>
          </p:cNvSpPr>
          <p:nvPr/>
        </p:nvSpPr>
        <p:spPr>
          <a:xfrm xmlns:a="http://schemas.openxmlformats.org/drawingml/2006/main">
            <a:off x="1104900" y="6696075"/>
            <a:ext cx="7419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7" name="route-number-7">
            <a:extLst xmlns:a="http://schemas.openxmlformats.org/drawingml/2006/main">
              <a:ext uri="{FF2B5EF4-FFF2-40B4-BE49-F238E27FC236}">
                <a16:creationId xmlns:a16="http://schemas.microsoft.com/office/drawing/2014/main" id="{7349837C-F767-4DE9-9899-13A42E8D47DC}"/>
              </a:ext>
            </a:extLst>
          </p:cNvPr>
          <p:cNvSpPr>
            <a:spLocks xmlns:a="http://schemas.openxmlformats.org/drawingml/2006/main" noGrp="1"/>
          </p:cNvSpPr>
          <p:nvPr/>
        </p:nvSpPr>
        <p:spPr>
          <a:xfrm xmlns:a="http://schemas.openxmlformats.org/drawingml/2006/main">
            <a:off x="571500" y="7353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7F775B70-321F-4C33-996E-128BD5461E6F}"/>
              </a:ext>
            </a:extLst>
          </p:cNvPr>
          <p:cNvSpPr>
            <a:spLocks xmlns:a="http://schemas.openxmlformats.org/drawingml/2006/main" noGrp="1"/>
          </p:cNvSpPr>
          <p:nvPr/>
        </p:nvSpPr>
        <p:spPr>
          <a:xfrm xmlns:a="http://schemas.openxmlformats.org/drawingml/2006/main">
            <a:off x="1104900" y="73533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FEBDCA48-3E65-4289-BE28-5DFFF2538A5E}"/>
              </a:ext>
            </a:extLst>
          </p:cNvPr>
          <p:cNvSpPr>
            <a:spLocks xmlns:a="http://schemas.openxmlformats.org/drawingml/2006/main" noGrp="1"/>
          </p:cNvSpPr>
          <p:nvPr/>
        </p:nvSpPr>
        <p:spPr>
          <a:xfrm xmlns:a="http://schemas.openxmlformats.org/drawingml/2006/main">
            <a:off x="9258300" y="20097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AA582FE1-5FD7-4A12-8E80-2882323A15B1}"/>
              </a:ext>
            </a:extLst>
          </p:cNvPr>
          <p:cNvSpPr>
            <a:spLocks xmlns:a="http://schemas.openxmlformats.org/drawingml/2006/main" noGrp="1"/>
          </p:cNvSpPr>
          <p:nvPr/>
        </p:nvSpPr>
        <p:spPr>
          <a:xfrm xmlns:a="http://schemas.openxmlformats.org/drawingml/2006/main">
            <a:off x="9258300" y="2533650"/>
            <a:ext cx="5410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Ei en Ek berekenen en indelen.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Beide goederen benoemen.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Vraagfuncties onderzoeken.</a:t>
            </a:r>
          </a:p>
        </p:txBody>
      </p:sp>
      <p:sp>
        <p:nvSpPr>
          <p:cNvPr id="21" name="">
            <a:extLst xmlns:a="http://schemas.openxmlformats.org/drawingml/2006/main">
              <a:ext uri="{FF2B5EF4-FFF2-40B4-BE49-F238E27FC236}">
                <a16:creationId xmlns:a16="http://schemas.microsoft.com/office/drawing/2014/main" id="{5D9B3CF9-180D-4CE6-B617-6B147AB794C1}"/>
              </a:ext>
            </a:extLst>
          </p:cNvPr>
          <p:cNvSpPr>
            <a:spLocks xmlns:a="http://schemas.openxmlformats.org/drawingml/2006/main" noGrp="1"/>
          </p:cNvSpPr>
          <p:nvPr/>
        </p:nvSpPr>
        <p:spPr>
          <a:xfrm xmlns:a="http://schemas.openxmlformats.org/drawingml/2006/main">
            <a:off x="9258300" y="3609975"/>
            <a:ext cx="5410200" cy="0"/>
          </a:xfrm>
          <a:prstGeom xmlns:a="http://schemas.openxmlformats.org/drawingml/2006/main" prst="line">
            <a:avLst/>
          </a:prstGeom>
          <a:ln xmlns:a="http://schemas.openxmlformats.org/drawingml/2006/main" w="19050">
            <a:solidFill>
              <a:srgbClr val="C6D2DB"/>
            </a:solidFill>
          </a:ln>
        </p:spPr>
      </p:sp>
      <p:sp>
        <p:nvSpPr>
          <p:cNvPr id="22" name="Startopdracht · pagina 60">
            <a:extLst xmlns:a="http://schemas.openxmlformats.org/drawingml/2006/main">
              <a:ext uri="{FF2B5EF4-FFF2-40B4-BE49-F238E27FC236}">
                <a16:creationId xmlns:a16="http://schemas.microsoft.com/office/drawing/2014/main" id="{57DF7698-2469-4411-AAE0-B0828A5F6CC9}"/>
              </a:ext>
            </a:extLst>
          </p:cNvPr>
          <p:cNvSpPr>
            <a:spLocks xmlns:a="http://schemas.openxmlformats.org/drawingml/2006/main" noGrp="1"/>
          </p:cNvSpPr>
          <p:nvPr/>
        </p:nvSpPr>
        <p:spPr>
          <a:xfrm xmlns:a="http://schemas.openxmlformats.org/drawingml/2006/main">
            <a:off x="9258300" y="3781425"/>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Startopdracht · pagina 60</a:t>
            </a:r>
          </a:p>
        </p:txBody>
      </p:sp>
      <p:sp>
        <p:nvSpPr>
          <p:cNvPr id="23" name="overview-start">
            <a:extLst xmlns:a="http://schemas.openxmlformats.org/drawingml/2006/main">
              <a:ext uri="{FF2B5EF4-FFF2-40B4-BE49-F238E27FC236}">
                <a16:creationId xmlns:a16="http://schemas.microsoft.com/office/drawing/2014/main" id="{C1C68613-95B1-4AC9-B5A4-007F6AC9F450}"/>
              </a:ext>
            </a:extLst>
          </p:cNvPr>
          <p:cNvSpPr>
            <a:spLocks xmlns:a="http://schemas.openxmlformats.org/drawingml/2006/main" noGrp="1"/>
          </p:cNvSpPr>
          <p:nvPr/>
        </p:nvSpPr>
        <p:spPr>
          <a:xfrm xmlns:a="http://schemas.openxmlformats.org/drawingml/2006/main">
            <a:off x="9258300" y="4295775"/>
            <a:ext cx="5410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Opgave 1: ophalen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Opgave 2: verkennen met</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de theorie, p. 54–57</a:t>
            </a:r>
          </a:p>
        </p:txBody>
      </p:sp>
      <p:sp>
        <p:nvSpPr>
          <p:cNvPr id="24" name="">
            <a:extLst xmlns:a="http://schemas.openxmlformats.org/drawingml/2006/main">
              <a:ext uri="{FF2B5EF4-FFF2-40B4-BE49-F238E27FC236}">
                <a16:creationId xmlns:a16="http://schemas.microsoft.com/office/drawing/2014/main" id="{76BB9D1E-7F52-4279-9E52-3E07CB53FE59}"/>
              </a:ext>
            </a:extLst>
          </p:cNvPr>
          <p:cNvSpPr>
            <a:spLocks xmlns:a="http://schemas.openxmlformats.org/drawingml/2006/main" noGrp="1"/>
          </p:cNvSpPr>
          <p:nvPr/>
        </p:nvSpPr>
        <p:spPr>
          <a:xfrm xmlns:a="http://schemas.openxmlformats.org/drawingml/2006/main">
            <a:off x="9258300" y="5553075"/>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BA28BD2F-D242-41D4-866C-A4ED53914A67}"/>
              </a:ext>
            </a:extLst>
          </p:cNvPr>
          <p:cNvSpPr>
            <a:spLocks xmlns:a="http://schemas.openxmlformats.org/drawingml/2006/main" noGrp="1"/>
          </p:cNvSpPr>
          <p:nvPr/>
        </p:nvSpPr>
        <p:spPr>
          <a:xfrm xmlns:a="http://schemas.openxmlformats.org/drawingml/2006/main">
            <a:off x="9258300" y="5762625"/>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B90B52FB-F8D2-4C05-9518-93F3FC4DBD3E}"/>
              </a:ext>
            </a:extLst>
          </p:cNvPr>
          <p:cNvSpPr>
            <a:spLocks xmlns:a="http://schemas.openxmlformats.org/drawingml/2006/main" noGrp="1"/>
          </p:cNvSpPr>
          <p:nvPr/>
        </p:nvSpPr>
        <p:spPr>
          <a:xfrm xmlns:a="http://schemas.openxmlformats.org/drawingml/2006/main">
            <a:off x="9258300" y="6343650"/>
            <a:ext cx="54102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§2.2.3 · Opgaven 3 t/m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 · Doel: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
        <p:nvSpPr>
          <p:cNvPr id="27" name="footer">
            <a:extLst xmlns:a="http://schemas.openxmlformats.org/drawingml/2006/main">
              <a:ext uri="{FF2B5EF4-FFF2-40B4-BE49-F238E27FC236}">
                <a16:creationId xmlns:a16="http://schemas.microsoft.com/office/drawing/2014/main" id="{0B73D0B9-6878-4CA5-A7CB-CCED14FDFC1F}"/>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28" name="slide-number">
            <a:extLst xmlns:a="http://schemas.openxmlformats.org/drawingml/2006/main">
              <a:ext uri="{FF2B5EF4-FFF2-40B4-BE49-F238E27FC236}">
                <a16:creationId xmlns:a16="http://schemas.microsoft.com/office/drawing/2014/main" id="{A7266069-04D3-4A65-AFDD-806C76A4F49D}"/>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Tree>
    <p:extLst>
      <p:ext uri="{BB962C8B-B14F-4D97-AF65-F5344CB8AC3E}">
        <p14:creationId xmlns:p14="http://schemas.microsoft.com/office/powerpoint/2010/main" val="18731631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doelen · De veranderde factor bepaalt de noemer">
            <a:extLst xmlns:a="http://schemas.openxmlformats.org/drawingml/2006/main">
              <a:ext uri="{FF2B5EF4-FFF2-40B4-BE49-F238E27FC236}">
                <a16:creationId xmlns:a16="http://schemas.microsoft.com/office/drawing/2014/main" id="{B2383E24-DBA1-4E3D-8390-33D07C19E579}"/>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Lesdoelen · De veranderde factor bepaalt de noemer</a:t>
            </a:r>
          </a:p>
        </p:txBody>
      </p:sp>
      <p:sp>
        <p:nvSpPr>
          <p:cNvPr id="2" name="">
            <a:extLst xmlns:a="http://schemas.openxmlformats.org/drawingml/2006/main">
              <a:ext uri="{FF2B5EF4-FFF2-40B4-BE49-F238E27FC236}">
                <a16:creationId xmlns:a16="http://schemas.microsoft.com/office/drawing/2014/main" id="{5FDB7BBE-CDA5-4207-983B-D16C46106E13}"/>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6EA383D-BCCE-47FA-8E2F-7DE33619E243}"/>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4757C4AE-395F-47B6-823B-7C35CC7A6317}"/>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2238375"/>
          <a:ext xmlns:a="http://schemas.openxmlformats.org/drawingml/2006/main" cx="14097000" cy="3810000"/>
        </p:xfrm>
        <a:graphic xmlns:a="http://schemas.openxmlformats.org/drawingml/2006/main">
          <a:graphicData uri="http://schemas.openxmlformats.org/drawingml/2006/table">
            <a:tbl>
              <a:tblPr/>
              <a:tblGrid>
                <a:gridCol w="4476750"/>
                <a:gridCol w="4572000"/>
                <a:gridCol w="5048250"/>
              </a:tblGrid>
              <a:tr h="952500">
                <a:tc>
                  <a:txBody>
                    <a:bodyPr lIns="171450" tIns="95250" rIns="152400" bIns="95250"/>
                    <a:lstStyle/>
                    <a:p>
                      <a:r>
                        <a:rPr sz="2400" b="1">
                          <a:solidFill>
                            <a:srgbClr val="FFFFFF"/>
                          </a:solidFill>
                          <a:latin typeface="Arial"/>
                          <a:ea typeface="Arial"/>
                          <a:cs typeface="Arial"/>
                        </a:rPr>
                        <a:t>Wat verandert?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Verhouding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Wat kun je uitleggen?</a:t>
                      </a:r>
                    </a:p>
                  </a:txBody>
                  <a:tcPr marL="91440" marR="91440" marT="45720" marB="45720" anchor="ctr">
                    <a:solidFill>
                      <a:srgbClr val="183247"/>
                    </a:solidFill>
                  </a:tcPr>
                </a:tc>
              </a:tr>
              <a:tr h="952500">
                <a:tc>
                  <a:txBody>
                    <a:bodyPr lIns="171450" tIns="95250" rIns="152400" bIns="95250"/>
                    <a:lstStyle/>
                    <a:p>
                      <a:r>
                        <a:rPr sz="2400" b="0">
                          <a:solidFill>
                            <a:srgbClr val="183247"/>
                          </a:solidFill>
                          <a:latin typeface="Arial"/>
                          <a:ea typeface="Arial"/>
                          <a:cs typeface="Arial"/>
                        </a:rPr>
                        <a:t>Eigen prijs P</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Ev = %ΔQv / %ΔP</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Opfrissen: reactie op de eigen prijs</a:t>
                      </a:r>
                    </a:p>
                  </a:txBody>
                  <a:tcPr marL="91440" marR="91440" marT="45720" marB="45720" anchor="ctr">
                    <a:solidFill>
                      <a:srgbClr val="FFFFFF"/>
                    </a:solidFill>
                  </a:tcPr>
                </a:tc>
              </a:tr>
              <a:tr h="952500">
                <a:tc>
                  <a:txBody>
                    <a:bodyPr lIns="171450" tIns="95250" rIns="152400" bIns="95250"/>
                    <a:lstStyle/>
                    <a:p>
                      <a:r>
                        <a:rPr sz="2400" b="0">
                          <a:solidFill>
                            <a:srgbClr val="183247"/>
                          </a:solidFill>
                          <a:latin typeface="Arial"/>
                          <a:ea typeface="Arial"/>
                          <a:cs typeface="Arial"/>
                        </a:rPr>
                        <a:t>Inkomen Y</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Ei = %ΔQv / %ΔY</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Soort goed in deze situatie</a:t>
                      </a:r>
                    </a:p>
                  </a:txBody>
                  <a:tcPr marL="91440" marR="91440" marT="45720" marB="45720" anchor="ctr">
                    <a:solidFill>
                      <a:srgbClr val="EFF4F7"/>
                    </a:solidFill>
                  </a:tcPr>
                </a:tc>
              </a:tr>
              <a:tr h="952500">
                <a:tc>
                  <a:txBody>
                    <a:bodyPr lIns="171450" tIns="95250" rIns="152400" bIns="95250"/>
                    <a:lstStyle/>
                    <a:p>
                      <a:r>
                        <a:rPr sz="2400" b="0">
                          <a:solidFill>
                            <a:srgbClr val="183247"/>
                          </a:solidFill>
                          <a:latin typeface="Arial"/>
                          <a:ea typeface="Arial"/>
                          <a:cs typeface="Arial"/>
                        </a:rPr>
                        <a:t>Prijs van ander goed Z</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Ek = %ΔQx / %ΔPz</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Relatie tussen X en Z</a:t>
                      </a:r>
                    </a:p>
                  </a:txBody>
                  <a:tcPr marL="91440" marR="91440" marT="45720" marB="45720" anchor="ctr">
                    <a:solidFill>
                      <a:srgbClr val="FFFFFF"/>
                    </a:solidFill>
                  </a:tcPr>
                </a:tc>
              </a:tr>
            </a:tbl>
          </a:graphicData>
        </a:graphic>
      </p:graphicFrame>
      <p:sp>
        <p:nvSpPr>
          <p:cNvPr id="6" name="Bij functies: één factor veranderen, de rest gelijk houden.">
            <a:extLst xmlns:a="http://schemas.openxmlformats.org/drawingml/2006/main">
              <a:ext uri="{FF2B5EF4-FFF2-40B4-BE49-F238E27FC236}">
                <a16:creationId xmlns:a16="http://schemas.microsoft.com/office/drawing/2014/main" id="{DAC67F47-3BC8-4970-83C7-01153C9EE57C}"/>
              </a:ext>
            </a:extLst>
          </p:cNvPr>
          <p:cNvSpPr>
            <a:spLocks xmlns:a="http://schemas.openxmlformats.org/drawingml/2006/main" noGrp="1"/>
          </p:cNvSpPr>
          <p:nvPr/>
        </p:nvSpPr>
        <p:spPr>
          <a:xfrm xmlns:a="http://schemas.openxmlformats.org/drawingml/2006/main">
            <a:off x="571500" y="6743700"/>
            <a:ext cx="1409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Bij functies: één factor veranderen, de rest gelijk houden.</a:t>
            </a:r>
          </a:p>
        </p:txBody>
      </p:sp>
    </p:spTree>
    <p:extLst>
      <p:ext uri="{BB962C8B-B14F-4D97-AF65-F5344CB8AC3E}">
        <p14:creationId xmlns:p14="http://schemas.microsoft.com/office/powerpoint/2010/main" val="18628701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centen · De oude waarde is de basis">
            <a:extLst xmlns:a="http://schemas.openxmlformats.org/drawingml/2006/main">
              <a:ext uri="{FF2B5EF4-FFF2-40B4-BE49-F238E27FC236}">
                <a16:creationId xmlns:a16="http://schemas.microsoft.com/office/drawing/2014/main" id="{D410F220-0496-47EA-86E7-19448A6DFBBA}"/>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Procenten · De oude waarde is de basis</a:t>
            </a:r>
          </a:p>
        </p:txBody>
      </p:sp>
      <p:sp>
        <p:nvSpPr>
          <p:cNvPr id="2" name="">
            <a:extLst xmlns:a="http://schemas.openxmlformats.org/drawingml/2006/main">
              <a:ext uri="{FF2B5EF4-FFF2-40B4-BE49-F238E27FC236}">
                <a16:creationId xmlns:a16="http://schemas.microsoft.com/office/drawing/2014/main" id="{BEEA5712-85D5-4F5E-93A5-DE0E5A006346}"/>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CD4671A-C96D-4439-82AB-D7E908E93C85}"/>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B234DDBE-FFA5-4723-ADDE-D8146E722B8E}"/>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A0D3A587-E60B-46CB-9B03-F958315B471C}"/>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Jaarinkomen: € 24.000 → € 25.200">
            <a:extLst xmlns:a="http://schemas.openxmlformats.org/drawingml/2006/main">
              <a:ext uri="{FF2B5EF4-FFF2-40B4-BE49-F238E27FC236}">
                <a16:creationId xmlns:a16="http://schemas.microsoft.com/office/drawing/2014/main" id="{5EC9F57B-6F38-4E3A-A773-A3D359C1FFEE}"/>
              </a:ext>
            </a:extLst>
          </p:cNvPr>
          <p:cNvSpPr>
            <a:spLocks xmlns:a="http://schemas.openxmlformats.org/drawingml/2006/main" noGrp="1"/>
          </p:cNvSpPr>
          <p:nvPr/>
        </p:nvSpPr>
        <p:spPr>
          <a:xfrm xmlns:a="http://schemas.openxmlformats.org/drawingml/2006/main">
            <a:off x="571500" y="26670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Jaarinkomen: € 24.000 → € 25.200</a:t>
            </a:r>
          </a:p>
        </p:txBody>
      </p:sp>
      <p:sp>
        <p:nvSpPr>
          <p:cNvPr id="7" name="%ΔY = (nieuw − oud) / oud × 100%">
            <a:extLst xmlns:a="http://schemas.openxmlformats.org/drawingml/2006/main">
              <a:ext uri="{FF2B5EF4-FFF2-40B4-BE49-F238E27FC236}">
                <a16:creationId xmlns:a16="http://schemas.microsoft.com/office/drawing/2014/main" id="{C7EFAF34-1E70-486B-8A23-28A581640760}"/>
              </a:ext>
            </a:extLst>
          </p:cNvPr>
          <p:cNvSpPr>
            <a:spLocks xmlns:a="http://schemas.openxmlformats.org/drawingml/2006/main" noGrp="1"/>
          </p:cNvSpPr>
          <p:nvPr/>
        </p:nvSpPr>
        <p:spPr>
          <a:xfrm xmlns:a="http://schemas.openxmlformats.org/drawingml/2006/main">
            <a:off x="571500" y="39052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%ΔY = (nieuw − oud) / oud × 100%</a:t>
            </a:r>
          </a:p>
        </p:txBody>
      </p:sp>
      <p:sp>
        <p:nvSpPr>
          <p:cNvPr id="8" name="%ΔY = (25.200 − 24.000) / 24.000 × 100%">
            <a:extLst xmlns:a="http://schemas.openxmlformats.org/drawingml/2006/main">
              <a:ext uri="{FF2B5EF4-FFF2-40B4-BE49-F238E27FC236}">
                <a16:creationId xmlns:a16="http://schemas.microsoft.com/office/drawing/2014/main" id="{99DB0705-4215-46EE-A212-E5AC99350D7C}"/>
              </a:ext>
            </a:extLst>
          </p:cNvPr>
          <p:cNvSpPr>
            <a:spLocks xmlns:a="http://schemas.openxmlformats.org/drawingml/2006/main" noGrp="1"/>
          </p:cNvSpPr>
          <p:nvPr/>
        </p:nvSpPr>
        <p:spPr>
          <a:xfrm xmlns:a="http://schemas.openxmlformats.org/drawingml/2006/main">
            <a:off x="571500" y="49053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%ΔY = (25.200 − 24.000) / 24.000 × 100%</a:t>
            </a:r>
          </a:p>
        </p:txBody>
      </p:sp>
      <p:sp>
        <p:nvSpPr>
          <p:cNvPr id="9" name="= +5%">
            <a:extLst xmlns:a="http://schemas.openxmlformats.org/drawingml/2006/main">
              <a:ext uri="{FF2B5EF4-FFF2-40B4-BE49-F238E27FC236}">
                <a16:creationId xmlns:a16="http://schemas.microsoft.com/office/drawing/2014/main" id="{6CB0CB10-8F17-4AB8-88E7-28CE85208A43}"/>
              </a:ext>
            </a:extLst>
          </p:cNvPr>
          <p:cNvSpPr>
            <a:spLocks xmlns:a="http://schemas.openxmlformats.org/drawingml/2006/main" noGrp="1"/>
          </p:cNvSpPr>
          <p:nvPr/>
        </p:nvSpPr>
        <p:spPr>
          <a:xfrm xmlns:a="http://schemas.openxmlformats.org/drawingml/2006/main">
            <a:off x="571500" y="61436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20665B"/>
                </a:solidFill>
                <a:latin typeface="Arial"/>
                <a:ea typeface="Arial"/>
                <a:cs typeface="Arial"/>
              </a:defRPr>
            </a:pPr>
            <a:r>
              <a:rPr sz="4275" b="1">
                <a:solidFill>
                  <a:srgbClr val="20665B"/>
                </a:solidFill>
                <a:latin typeface="Arial"/>
                <a:ea typeface="Arial"/>
                <a:cs typeface="Arial"/>
              </a:rPr>
              <a:t>= +5%</a:t>
            </a:r>
          </a:p>
        </p:txBody>
      </p:sp>
    </p:spTree>
    <p:extLst>
      <p:ext uri="{BB962C8B-B14F-4D97-AF65-F5344CB8AC3E}">
        <p14:creationId xmlns:p14="http://schemas.microsoft.com/office/powerpoint/2010/main" val="16428479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en functie invullen">
            <a:extLst xmlns:a="http://schemas.openxmlformats.org/drawingml/2006/main">
              <a:ext uri="{FF2B5EF4-FFF2-40B4-BE49-F238E27FC236}">
                <a16:creationId xmlns:a16="http://schemas.microsoft.com/office/drawing/2014/main" id="{56A7CEEB-357E-4B49-8BA3-8ECA31C8CBB3}"/>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functie invullen</a:t>
            </a:r>
          </a:p>
        </p:txBody>
      </p:sp>
      <p:sp>
        <p:nvSpPr>
          <p:cNvPr id="2" name="">
            <a:extLst xmlns:a="http://schemas.openxmlformats.org/drawingml/2006/main">
              <a:ext uri="{FF2B5EF4-FFF2-40B4-BE49-F238E27FC236}">
                <a16:creationId xmlns:a16="http://schemas.microsoft.com/office/drawing/2014/main" id="{744167F2-906E-4AD6-BA56-AAC5D891C26F}"/>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948784E-1B4E-421E-83D0-45E94C9832C2}"/>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6A1381B9-6008-4E85-9194-C1F8C6FA4F2E}"/>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0466A7EB-2FDA-48E6-87FF-6C47A2888AA9}"/>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Qv = 460 − 12P     |     P = 15">
            <a:extLst xmlns:a="http://schemas.openxmlformats.org/drawingml/2006/main">
              <a:ext uri="{FF2B5EF4-FFF2-40B4-BE49-F238E27FC236}">
                <a16:creationId xmlns:a16="http://schemas.microsoft.com/office/drawing/2014/main" id="{E7CADCA6-BBC4-4157-84CE-80779416C8E6}"/>
              </a:ext>
            </a:extLst>
          </p:cNvPr>
          <p:cNvSpPr>
            <a:spLocks xmlns:a="http://schemas.openxmlformats.org/drawingml/2006/main" noGrp="1"/>
          </p:cNvSpPr>
          <p:nvPr/>
        </p:nvSpPr>
        <p:spPr>
          <a:xfrm xmlns:a="http://schemas.openxmlformats.org/drawingml/2006/main">
            <a:off x="571500" y="25717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Qv = 460 − 12P     |     P = 15</a:t>
            </a:r>
          </a:p>
        </p:txBody>
      </p:sp>
      <p:sp>
        <p:nvSpPr>
          <p:cNvPr id="7" name="Qv: bezoeken per week · P: prijs in euro per bezoek">
            <a:extLst xmlns:a="http://schemas.openxmlformats.org/drawingml/2006/main">
              <a:ext uri="{FF2B5EF4-FFF2-40B4-BE49-F238E27FC236}">
                <a16:creationId xmlns:a16="http://schemas.microsoft.com/office/drawing/2014/main" id="{328AFF56-4568-464D-B063-03AB3B278B33}"/>
              </a:ext>
            </a:extLst>
          </p:cNvPr>
          <p:cNvSpPr>
            <a:spLocks xmlns:a="http://schemas.openxmlformats.org/drawingml/2006/main" noGrp="1"/>
          </p:cNvSpPr>
          <p:nvPr/>
        </p:nvSpPr>
        <p:spPr>
          <a:xfrm xmlns:a="http://schemas.openxmlformats.org/drawingml/2006/main">
            <a:off x="571500" y="3400425"/>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Qv: bezoeken per week · P: prijs in euro per bezoek</a:t>
            </a:r>
          </a:p>
        </p:txBody>
      </p:sp>
      <p:sp>
        <p:nvSpPr>
          <p:cNvPr id="8" name="Qv = 460 − 12 × 15">
            <a:extLst xmlns:a="http://schemas.openxmlformats.org/drawingml/2006/main">
              <a:ext uri="{FF2B5EF4-FFF2-40B4-BE49-F238E27FC236}">
                <a16:creationId xmlns:a16="http://schemas.microsoft.com/office/drawing/2014/main" id="{2DA7D062-2F7E-4532-856D-D9D293670329}"/>
              </a:ext>
            </a:extLst>
          </p:cNvPr>
          <p:cNvSpPr>
            <a:spLocks xmlns:a="http://schemas.openxmlformats.org/drawingml/2006/main" noGrp="1"/>
          </p:cNvSpPr>
          <p:nvPr/>
        </p:nvSpPr>
        <p:spPr>
          <a:xfrm xmlns:a="http://schemas.openxmlformats.org/drawingml/2006/main">
            <a:off x="571500" y="43053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Qv = 460 − 12 × 15</a:t>
            </a:r>
          </a:p>
        </p:txBody>
      </p:sp>
      <p:sp>
        <p:nvSpPr>
          <p:cNvPr id="9" name="Qv = 460 − 180 = 280 bezoeken per week">
            <a:extLst xmlns:a="http://schemas.openxmlformats.org/drawingml/2006/main">
              <a:ext uri="{FF2B5EF4-FFF2-40B4-BE49-F238E27FC236}">
                <a16:creationId xmlns:a16="http://schemas.microsoft.com/office/drawing/2014/main" id="{09E9595B-165A-4048-AB4B-6A921D83BB00}"/>
              </a:ext>
            </a:extLst>
          </p:cNvPr>
          <p:cNvSpPr>
            <a:spLocks xmlns:a="http://schemas.openxmlformats.org/drawingml/2006/main" noGrp="1"/>
          </p:cNvSpPr>
          <p:nvPr/>
        </p:nvSpPr>
        <p:spPr>
          <a:xfrm xmlns:a="http://schemas.openxmlformats.org/drawingml/2006/main">
            <a:off x="571500" y="55054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Qv = 460 − 180 = 280 bezoeken per week</a:t>
            </a:r>
          </a:p>
        </p:txBody>
      </p:sp>
      <p:sp>
        <p:nvSpPr>
          <p:cNvPr id="10" name="Eerst vervangen, dan vermenigvuldigen, daarna aftrekken.">
            <a:extLst xmlns:a="http://schemas.openxmlformats.org/drawingml/2006/main">
              <a:ext uri="{FF2B5EF4-FFF2-40B4-BE49-F238E27FC236}">
                <a16:creationId xmlns:a16="http://schemas.microsoft.com/office/drawing/2014/main" id="{7180BC27-7F90-4650-8D85-04A67AE7CBAA}"/>
              </a:ext>
            </a:extLst>
          </p:cNvPr>
          <p:cNvSpPr>
            <a:spLocks xmlns:a="http://schemas.openxmlformats.org/drawingml/2006/main" noGrp="1"/>
          </p:cNvSpPr>
          <p:nvPr/>
        </p:nvSpPr>
        <p:spPr>
          <a:xfrm xmlns:a="http://schemas.openxmlformats.org/drawingml/2006/main">
            <a:off x="571500" y="71247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Eerst vervangen, dan vermenigvuldigen, daarna aftrekken.</a:t>
            </a:r>
          </a:p>
        </p:txBody>
      </p:sp>
    </p:spTree>
    <p:extLst>
      <p:ext uri="{BB962C8B-B14F-4D97-AF65-F5344CB8AC3E}">
        <p14:creationId xmlns:p14="http://schemas.microsoft.com/office/powerpoint/2010/main" val="15437098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komenselasticiteit · Vraagreactie op inkomen">
            <a:extLst xmlns:a="http://schemas.openxmlformats.org/drawingml/2006/main">
              <a:ext uri="{FF2B5EF4-FFF2-40B4-BE49-F238E27FC236}">
                <a16:creationId xmlns:a16="http://schemas.microsoft.com/office/drawing/2014/main" id="{80380F11-5B34-4F9D-A05F-6750FA70379C}"/>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Inkomenselasticiteit · Vraagreactie op inkomen</a:t>
            </a:r>
          </a:p>
        </p:txBody>
      </p:sp>
      <p:sp>
        <p:nvSpPr>
          <p:cNvPr id="2" name="">
            <a:extLst xmlns:a="http://schemas.openxmlformats.org/drawingml/2006/main">
              <a:ext uri="{FF2B5EF4-FFF2-40B4-BE49-F238E27FC236}">
                <a16:creationId xmlns:a16="http://schemas.microsoft.com/office/drawing/2014/main" id="{EB6A9489-E969-476F-B00E-F03CA63D6D2B}"/>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0153928-3E4C-44F0-8C8B-1FE03AD6AD06}"/>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C87742E6-C2C1-45DD-B415-3A7F28345BF5}"/>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D6AE02A6-FCD8-44A1-BF26-98447FB7FF51}"/>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Muziekwinkel: inkomen +8%, prijzen gelijk">
            <a:extLst xmlns:a="http://schemas.openxmlformats.org/drawingml/2006/main">
              <a:ext uri="{FF2B5EF4-FFF2-40B4-BE49-F238E27FC236}">
                <a16:creationId xmlns:a16="http://schemas.microsoft.com/office/drawing/2014/main" id="{5E818C5F-4408-4764-8CFD-0AE5088EBCD6}"/>
              </a:ext>
            </a:extLst>
          </p:cNvPr>
          <p:cNvSpPr>
            <a:spLocks xmlns:a="http://schemas.openxmlformats.org/drawingml/2006/main" noGrp="1"/>
          </p:cNvSpPr>
          <p:nvPr/>
        </p:nvSpPr>
        <p:spPr>
          <a:xfrm xmlns:a="http://schemas.openxmlformats.org/drawingml/2006/main">
            <a:off x="571500" y="24098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Muziekwinkel: inkomen +8%, prijzen gelijk</a:t>
            </a:r>
          </a:p>
        </p:txBody>
      </p:sp>
      <p:graphicFrame>
        <p:nvGraphicFramePr>
          <p:cNvPr id="15" name=""/>
          <p:cNvGraphicFramePr/>
          <p:nvPr/>
        </p:nvGraphicFramePr>
        <p:xfrm>
          <a:off xmlns:a="http://schemas.openxmlformats.org/drawingml/2006/main" x="571500" y="3438525"/>
          <a:ext xmlns:a="http://schemas.openxmlformats.org/drawingml/2006/main" cx="14097000" cy="3381375"/>
        </p:xfrm>
        <a:graphic xmlns:a="http://schemas.openxmlformats.org/drawingml/2006/main">
          <a:graphicData uri="http://schemas.openxmlformats.org/drawingml/2006/table">
            <a:tbl>
              <a:tblPr/>
              <a:tblGrid>
                <a:gridCol w="5715000"/>
                <a:gridCol w="2476500"/>
                <a:gridCol w="5905500"/>
              </a:tblGrid>
              <a:tr h="845344">
                <a:tc>
                  <a:txBody>
                    <a:bodyPr lIns="171450" tIns="95250" rIns="152400" bIns="95250"/>
                    <a:lstStyle/>
                    <a:p>
                      <a:r>
                        <a:rPr sz="2475" b="1">
                          <a:solidFill>
                            <a:srgbClr val="FFFFFF"/>
                          </a:solidFill>
                          <a:latin typeface="Arial"/>
                          <a:ea typeface="Arial"/>
                          <a:cs typeface="Arial"/>
                        </a:rPr>
                        <a:t>Vraag naar…</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%ΔQv</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Ei = %ΔQv / %ΔY</a:t>
                      </a:r>
                    </a:p>
                  </a:txBody>
                  <a:tcPr marL="91440" marR="91440" marT="45720" marB="45720" anchor="ctr">
                    <a:solidFill>
                      <a:srgbClr val="183247"/>
                    </a:solidFill>
                  </a:tcPr>
                </a:tc>
              </a:tr>
              <a:tr h="845344">
                <a:tc>
                  <a:txBody>
                    <a:bodyPr lIns="171450" tIns="95250" rIns="152400" bIns="95250"/>
                    <a:lstStyle/>
                    <a:p>
                      <a:r>
                        <a:rPr sz="2475" b="0">
                          <a:solidFill>
                            <a:srgbClr val="183247"/>
                          </a:solidFill>
                          <a:latin typeface="Arial"/>
                          <a:ea typeface="Arial"/>
                          <a:cs typeface="Arial"/>
                        </a:rPr>
                        <a:t>Concertpakketten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+12%</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+12% / +8% = +1,5</a:t>
                      </a:r>
                    </a:p>
                  </a:txBody>
                  <a:tcPr marL="91440" marR="91440" marT="45720" marB="45720" anchor="ctr">
                    <a:solidFill>
                      <a:srgbClr val="FFFFFF"/>
                    </a:solidFill>
                  </a:tcPr>
                </a:tc>
              </a:tr>
              <a:tr h="845344">
                <a:tc>
                  <a:txBody>
                    <a:bodyPr lIns="171450" tIns="95250" rIns="152400" bIns="95250"/>
                    <a:lstStyle/>
                    <a:p>
                      <a:r>
                        <a:rPr sz="2475" b="0">
                          <a:solidFill>
                            <a:srgbClr val="183247"/>
                          </a:solidFill>
                          <a:latin typeface="Arial"/>
                          <a:ea typeface="Arial"/>
                          <a:cs typeface="Arial"/>
                        </a:rPr>
                        <a:t>Bladmuziek</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 / +8% = +0,5</a:t>
                      </a:r>
                    </a:p>
                  </a:txBody>
                  <a:tcPr marL="91440" marR="91440" marT="45720" marB="45720" anchor="ctr">
                    <a:solidFill>
                      <a:srgbClr val="EFF4F7"/>
                    </a:solidFill>
                  </a:tcPr>
                </a:tc>
              </a:tr>
              <a:tr h="845344">
                <a:tc>
                  <a:txBody>
                    <a:bodyPr lIns="171450" tIns="95250" rIns="152400" bIns="95250"/>
                    <a:lstStyle/>
                    <a:p>
                      <a:r>
                        <a:rPr sz="2475" b="0">
                          <a:solidFill>
                            <a:srgbClr val="183247"/>
                          </a:solidFill>
                          <a:latin typeface="Arial"/>
                          <a:ea typeface="Arial"/>
                          <a:cs typeface="Arial"/>
                        </a:rPr>
                        <a:t>Budget-cd’s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 / +8% = −0,5</a:t>
                      </a:r>
                    </a:p>
                  </a:txBody>
                  <a:tcPr marL="91440" marR="91440" marT="45720" marB="45720" anchor="ctr">
                    <a:solidFill>
                      <a:srgbClr val="FFFFFF"/>
                    </a:solidFill>
                  </a:tcPr>
                </a:tc>
              </a:tr>
            </a:tbl>
          </a:graphicData>
        </a:graphic>
      </p:graphicFrame>
      <p:sp>
        <p:nvSpPr>
          <p:cNvPr id="8" name="Het teken vertelt of Qv met Y mee of tegen Y in beweegt.">
            <a:extLst xmlns:a="http://schemas.openxmlformats.org/drawingml/2006/main">
              <a:ext uri="{FF2B5EF4-FFF2-40B4-BE49-F238E27FC236}">
                <a16:creationId xmlns:a16="http://schemas.microsoft.com/office/drawing/2014/main" id="{624E3FA3-1B66-4823-A050-03806276E6EC}"/>
              </a:ext>
            </a:extLst>
          </p:cNvPr>
          <p:cNvSpPr>
            <a:spLocks xmlns:a="http://schemas.openxmlformats.org/drawingml/2006/main" noGrp="1"/>
          </p:cNvSpPr>
          <p:nvPr/>
        </p:nvSpPr>
        <p:spPr>
          <a:xfrm xmlns:a="http://schemas.openxmlformats.org/drawingml/2006/main">
            <a:off x="571500" y="71818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Het teken vertelt of Qv met Y mee of tegen Y in beweegt.</a:t>
            </a:r>
          </a:p>
        </p:txBody>
      </p:sp>
    </p:spTree>
    <p:extLst>
      <p:ext uri="{BB962C8B-B14F-4D97-AF65-F5344CB8AC3E}">
        <p14:creationId xmlns:p14="http://schemas.microsoft.com/office/powerpoint/2010/main" val="10395118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i · Eerst het teken, dan de grootte">
            <a:extLst xmlns:a="http://schemas.openxmlformats.org/drawingml/2006/main">
              <a:ext uri="{FF2B5EF4-FFF2-40B4-BE49-F238E27FC236}">
                <a16:creationId xmlns:a16="http://schemas.microsoft.com/office/drawing/2014/main" id="{5850D92E-249C-451C-B8B9-8CE459CE6032}"/>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Ei · Eerst het teken, dan de grootte</a:t>
            </a:r>
          </a:p>
        </p:txBody>
      </p:sp>
      <p:sp>
        <p:nvSpPr>
          <p:cNvPr id="2" name="">
            <a:extLst xmlns:a="http://schemas.openxmlformats.org/drawingml/2006/main">
              <a:ext uri="{FF2B5EF4-FFF2-40B4-BE49-F238E27FC236}">
                <a16:creationId xmlns:a16="http://schemas.microsoft.com/office/drawing/2014/main" id="{0E57412E-0096-4923-A0DA-CB9857480474}"/>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3133855-FF3D-4F92-9587-AF23B4021323}"/>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15F1C284-CF82-4F62-BDA9-522035F5F454}"/>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graphicFrame>
        <p:nvGraphicFramePr>
          <p:cNvPr id="12" name=""/>
          <p:cNvGraphicFramePr/>
          <p:nvPr/>
        </p:nvGraphicFramePr>
        <p:xfrm>
          <a:off xmlns:a="http://schemas.openxmlformats.org/drawingml/2006/main" x="571500" y="2047875"/>
          <a:ext xmlns:a="http://schemas.openxmlformats.org/drawingml/2006/main" cx="14097000" cy="3352800"/>
        </p:xfrm>
        <a:graphic xmlns:a="http://schemas.openxmlformats.org/drawingml/2006/main">
          <a:graphicData uri="http://schemas.openxmlformats.org/drawingml/2006/table">
            <a:tbl>
              <a:tblPr/>
              <a:tblGrid>
                <a:gridCol w="3048000"/>
                <a:gridCol w="4381500"/>
                <a:gridCol w="6667500"/>
              </a:tblGrid>
              <a:tr h="838200">
                <a:tc>
                  <a:txBody>
                    <a:bodyPr lIns="171450" tIns="95250" rIns="152400" bIns="95250"/>
                    <a:lstStyle/>
                    <a:p>
                      <a:r>
                        <a:rPr sz="2400" b="1">
                          <a:solidFill>
                            <a:srgbClr val="FFFFFF"/>
                          </a:solidFill>
                          <a:latin typeface="Arial"/>
                          <a:ea typeface="Arial"/>
                          <a:cs typeface="Arial"/>
                        </a:rPr>
                        <a:t>Ei</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Categorie in dit boek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Bij een hoger inkomen</a:t>
                      </a:r>
                    </a:p>
                  </a:txBody>
                  <a:tcPr marL="91440" marR="91440" marT="45720" marB="45720" anchor="ctr">
                    <a:solidFill>
                      <a:srgbClr val="183247"/>
                    </a:solidFill>
                  </a:tcPr>
                </a:tc>
              </a:tr>
              <a:tr h="838200">
                <a:tc>
                  <a:txBody>
                    <a:bodyPr lIns="171450" tIns="95250" rIns="152400" bIns="95250"/>
                    <a:lstStyle/>
                    <a:p>
                      <a:r>
                        <a:rPr sz="2400" b="0">
                          <a:solidFill>
                            <a:srgbClr val="183247"/>
                          </a:solidFill>
                          <a:latin typeface="Arial"/>
                          <a:ea typeface="Arial"/>
                          <a:cs typeface="Arial"/>
                        </a:rPr>
                        <a:t>Ei &lt; 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Inferieur goed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Qv daalt</a:t>
                      </a:r>
                    </a:p>
                  </a:txBody>
                  <a:tcPr marL="91440" marR="91440" marT="45720" marB="45720" anchor="ctr">
                    <a:solidFill>
                      <a:srgbClr val="FFFFFF"/>
                    </a:solidFill>
                  </a:tcPr>
                </a:tc>
              </a:tr>
              <a:tr h="838200">
                <a:tc>
                  <a:txBody>
                    <a:bodyPr lIns="171450" tIns="95250" rIns="152400" bIns="95250"/>
                    <a:lstStyle/>
                    <a:p>
                      <a:r>
                        <a:rPr sz="2400" b="0">
                          <a:solidFill>
                            <a:srgbClr val="183247"/>
                          </a:solidFill>
                          <a:latin typeface="Arial"/>
                          <a:ea typeface="Arial"/>
                          <a:cs typeface="Arial"/>
                        </a:rPr>
                        <a:t>0 &lt; Ei &lt; 1</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Normaal goed</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Qv stijgt procentueel minder sterk</a:t>
                      </a:r>
                    </a:p>
                  </a:txBody>
                  <a:tcPr marL="91440" marR="91440" marT="45720" marB="45720" anchor="ctr">
                    <a:solidFill>
                      <a:srgbClr val="EFF4F7"/>
                    </a:solidFill>
                  </a:tcPr>
                </a:tc>
              </a:tr>
              <a:tr h="838200">
                <a:tc>
                  <a:txBody>
                    <a:bodyPr lIns="171450" tIns="95250" rIns="152400" bIns="95250"/>
                    <a:lstStyle/>
                    <a:p>
                      <a:r>
                        <a:rPr sz="2400" b="0">
                          <a:solidFill>
                            <a:srgbClr val="183247"/>
                          </a:solidFill>
                          <a:latin typeface="Arial"/>
                          <a:ea typeface="Arial"/>
                          <a:cs typeface="Arial"/>
                        </a:rPr>
                        <a:t>Ei &gt; 1</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Luxegoed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Qv stijgt procentueel sterker</a:t>
                      </a:r>
                    </a:p>
                  </a:txBody>
                  <a:tcPr marL="91440" marR="91440" marT="45720" marB="45720" anchor="ctr">
                    <a:solidFill>
                      <a:srgbClr val="FFFFFF"/>
                    </a:solidFill>
                  </a:tcPr>
                </a:tc>
              </a:tr>
            </a:tbl>
          </a:graphicData>
        </a:graphic>
      </p:graphicFrame>
      <p:sp>
        <p:nvSpPr>
          <p:cNvPr id="6" name="Ei = 0: Qv verandert niet.&#10;Ei = 1: Qv verandert procentueel ">
            <a:extLst xmlns:a="http://schemas.openxmlformats.org/drawingml/2006/main">
              <a:ext uri="{FF2B5EF4-FFF2-40B4-BE49-F238E27FC236}">
                <a16:creationId xmlns:a16="http://schemas.microsoft.com/office/drawing/2014/main" id="{30DF16B0-B091-4EAA-989A-6B105686E6B2}"/>
              </a:ext>
            </a:extLst>
          </p:cNvPr>
          <p:cNvSpPr>
            <a:spLocks xmlns:a="http://schemas.openxmlformats.org/drawingml/2006/main" noGrp="1"/>
          </p:cNvSpPr>
          <p:nvPr/>
        </p:nvSpPr>
        <p:spPr>
          <a:xfrm xmlns:a="http://schemas.openxmlformats.org/drawingml/2006/main">
            <a:off x="571500" y="584835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Ei = 0: Qv verandert niet.</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Ei = 1: Qv verandert procentueel even sterk als Y.</a:t>
            </a:r>
          </a:p>
        </p:txBody>
      </p:sp>
      <p:sp>
        <p:nvSpPr>
          <p:cNvPr id="7" name="Grenswaarden krijgen hier geen categorielabel.">
            <a:extLst xmlns:a="http://schemas.openxmlformats.org/drawingml/2006/main">
              <a:ext uri="{FF2B5EF4-FFF2-40B4-BE49-F238E27FC236}">
                <a16:creationId xmlns:a16="http://schemas.microsoft.com/office/drawing/2014/main" id="{28175D30-F9AA-49BE-A7F2-F269D062A416}"/>
              </a:ext>
            </a:extLst>
          </p:cNvPr>
          <p:cNvSpPr>
            <a:spLocks xmlns:a="http://schemas.openxmlformats.org/drawingml/2006/main" noGrp="1"/>
          </p:cNvSpPr>
          <p:nvPr/>
        </p:nvSpPr>
        <p:spPr>
          <a:xfrm xmlns:a="http://schemas.openxmlformats.org/drawingml/2006/main">
            <a:off x="571500" y="71628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Grenswaarden krijgen hier geen categorielabel.</a:t>
            </a:r>
          </a:p>
        </p:txBody>
      </p:sp>
    </p:spTree>
    <p:extLst>
      <p:ext uri="{BB962C8B-B14F-4D97-AF65-F5344CB8AC3E}">
        <p14:creationId xmlns:p14="http://schemas.microsoft.com/office/powerpoint/2010/main" val="3420682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k · Vraag naar X, prijs van Z">
            <a:extLst xmlns:a="http://schemas.openxmlformats.org/drawingml/2006/main">
              <a:ext uri="{FF2B5EF4-FFF2-40B4-BE49-F238E27FC236}">
                <a16:creationId xmlns:a16="http://schemas.microsoft.com/office/drawing/2014/main" id="{1F01333E-BC0F-4320-BD5C-72007225F141}"/>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Ek · Vraag naar X, prijs van Z</a:t>
            </a:r>
          </a:p>
        </p:txBody>
      </p:sp>
      <p:sp>
        <p:nvSpPr>
          <p:cNvPr id="2" name="">
            <a:extLst xmlns:a="http://schemas.openxmlformats.org/drawingml/2006/main">
              <a:ext uri="{FF2B5EF4-FFF2-40B4-BE49-F238E27FC236}">
                <a16:creationId xmlns:a16="http://schemas.microsoft.com/office/drawing/2014/main" id="{B8EEBF07-BDA9-4E0B-B2C9-7B795C966975}"/>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B849A4A5-9A37-41EF-A8E6-F559DE2BB4E2}"/>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6B0B64F5-5DE7-451F-8E4F-48A762B20144}"/>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85B50C73-7B6A-432A-A9F5-D6A8E3948C45}"/>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Prijs van e-readers +20%; overige factoren gelijk">
            <a:extLst xmlns:a="http://schemas.openxmlformats.org/drawingml/2006/main">
              <a:ext uri="{FF2B5EF4-FFF2-40B4-BE49-F238E27FC236}">
                <a16:creationId xmlns:a16="http://schemas.microsoft.com/office/drawing/2014/main" id="{D00FED11-CE88-443A-8BAE-8CB77401D4B3}"/>
              </a:ext>
            </a:extLst>
          </p:cNvPr>
          <p:cNvSpPr>
            <a:spLocks xmlns:a="http://schemas.openxmlformats.org/drawingml/2006/main" noGrp="1"/>
          </p:cNvSpPr>
          <p:nvPr/>
        </p:nvSpPr>
        <p:spPr>
          <a:xfrm xmlns:a="http://schemas.openxmlformats.org/drawingml/2006/main">
            <a:off x="571500" y="24003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Prijs van e-readers +20%; overige factoren gelijk</a:t>
            </a:r>
          </a:p>
        </p:txBody>
      </p:sp>
      <p:graphicFrame>
        <p:nvGraphicFramePr>
          <p:cNvPr id="16" name=""/>
          <p:cNvGraphicFramePr/>
          <p:nvPr/>
        </p:nvGraphicFramePr>
        <p:xfrm>
          <a:off xmlns:a="http://schemas.openxmlformats.org/drawingml/2006/main" x="571500" y="3381375"/>
          <a:ext xmlns:a="http://schemas.openxmlformats.org/drawingml/2006/main" cx="14097000" cy="2762250"/>
        </p:xfrm>
        <a:graphic xmlns:a="http://schemas.openxmlformats.org/drawingml/2006/main">
          <a:graphicData uri="http://schemas.openxmlformats.org/drawingml/2006/table">
            <a:tbl>
              <a:tblPr/>
              <a:tblGrid>
                <a:gridCol w="5619750"/>
                <a:gridCol w="3810000"/>
                <a:gridCol w="4667250"/>
              </a:tblGrid>
              <a:tr h="920750">
                <a:tc>
                  <a:txBody>
                    <a:bodyPr lIns="171450" tIns="95250" rIns="152400" bIns="95250"/>
                    <a:lstStyle/>
                    <a:p>
                      <a:r>
                        <a:rPr sz="2400" b="1">
                          <a:solidFill>
                            <a:srgbClr val="FFFFFF"/>
                          </a:solidFill>
                          <a:latin typeface="Arial"/>
                          <a:ea typeface="Arial"/>
                          <a:cs typeface="Arial"/>
                        </a:rPr>
                        <a:t>Vraaggoed X</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Prijsgoed Z</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Ek = %ΔQx / %ΔPz</a:t>
                      </a:r>
                    </a:p>
                  </a:txBody>
                  <a:tcPr marL="91440" marR="91440" marT="45720" marB="45720" anchor="ctr">
                    <a:solidFill>
                      <a:srgbClr val="183247"/>
                    </a:solidFill>
                  </a:tcPr>
                </a:tc>
              </a:tr>
              <a:tr h="920750">
                <a:tc>
                  <a:txBody>
                    <a:bodyPr lIns="171450" tIns="95250" rIns="152400" bIns="95250"/>
                    <a:lstStyle/>
                    <a:p>
                      <a:r>
                        <a:rPr sz="2400" b="0">
                          <a:solidFill>
                            <a:srgbClr val="183247"/>
                          </a:solidFill>
                          <a:latin typeface="Arial"/>
                          <a:ea typeface="Arial"/>
                          <a:cs typeface="Arial"/>
                        </a:rPr>
                        <a:t>Papieren romans: +6%</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E-readers: +20%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+6% / +20% = +0,3</a:t>
                      </a:r>
                    </a:p>
                  </a:txBody>
                  <a:tcPr marL="91440" marR="91440" marT="45720" marB="45720" anchor="ctr">
                    <a:solidFill>
                      <a:srgbClr val="FFFFFF"/>
                    </a:solidFill>
                  </a:tcPr>
                </a:tc>
              </a:tr>
              <a:tr h="920750">
                <a:tc>
                  <a:txBody>
                    <a:bodyPr lIns="171450" tIns="95250" rIns="152400" bIns="95250"/>
                    <a:lstStyle/>
                    <a:p>
                      <a:r>
                        <a:rPr sz="2400" b="0">
                          <a:solidFill>
                            <a:srgbClr val="183247"/>
                          </a:solidFill>
                          <a:latin typeface="Arial"/>
                          <a:ea typeface="Arial"/>
                          <a:cs typeface="Arial"/>
                        </a:rPr>
                        <a:t>Passende hoesjes: −8%</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E-readers: +20%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−8% / +20% = −0,4</a:t>
                      </a:r>
                    </a:p>
                  </a:txBody>
                  <a:tcPr marL="91440" marR="91440" marT="45720" marB="45720" anchor="ctr">
                    <a:solidFill>
                      <a:srgbClr val="EFF4F7"/>
                    </a:solidFill>
                  </a:tcPr>
                </a:tc>
              </a:tr>
            </a:tbl>
          </a:graphicData>
        </a:graphic>
      </p:graphicFrame>
      <p:sp>
        <p:nvSpPr>
          <p:cNvPr id="8" name="Ek &gt; 0: substituten&#10;Goederen kunnen elkaar vervangen.">
            <a:extLst xmlns:a="http://schemas.openxmlformats.org/drawingml/2006/main">
              <a:ext uri="{FF2B5EF4-FFF2-40B4-BE49-F238E27FC236}">
                <a16:creationId xmlns:a16="http://schemas.microsoft.com/office/drawing/2014/main" id="{03DDB3A3-59A4-45BB-9F7C-FD5D8106FF78}"/>
              </a:ext>
            </a:extLst>
          </p:cNvPr>
          <p:cNvSpPr>
            <a:spLocks xmlns:a="http://schemas.openxmlformats.org/drawingml/2006/main" noGrp="1"/>
          </p:cNvSpPr>
          <p:nvPr/>
        </p:nvSpPr>
        <p:spPr>
          <a:xfrm xmlns:a="http://schemas.openxmlformats.org/drawingml/2006/main">
            <a:off x="571500" y="6600825"/>
            <a:ext cx="6762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Ek &gt; 0: substituten</a:t>
            </a:r>
          </a:p>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Goederen kunnen elkaar vervangen.</a:t>
            </a:r>
          </a:p>
        </p:txBody>
      </p:sp>
      <p:sp>
        <p:nvSpPr>
          <p:cNvPr id="9" name="Ek &lt; 0: complementen&#10;Goederen worden samen gebruikt.">
            <a:extLst xmlns:a="http://schemas.openxmlformats.org/drawingml/2006/main">
              <a:ext uri="{FF2B5EF4-FFF2-40B4-BE49-F238E27FC236}">
                <a16:creationId xmlns:a16="http://schemas.microsoft.com/office/drawing/2014/main" id="{B152565E-CC04-411D-8B6D-4AFA57311B4F}"/>
              </a:ext>
            </a:extLst>
          </p:cNvPr>
          <p:cNvSpPr>
            <a:spLocks xmlns:a="http://schemas.openxmlformats.org/drawingml/2006/main" noGrp="1"/>
          </p:cNvSpPr>
          <p:nvPr/>
        </p:nvSpPr>
        <p:spPr>
          <a:xfrm xmlns:a="http://schemas.openxmlformats.org/drawingml/2006/main">
            <a:off x="7858125" y="6600825"/>
            <a:ext cx="6810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Ek &lt; 0: complementen</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Goederen worden samen gebruikt.</a:t>
            </a:r>
          </a:p>
        </p:txBody>
      </p:sp>
    </p:spTree>
    <p:extLst>
      <p:ext uri="{BB962C8B-B14F-4D97-AF65-F5344CB8AC3E}">
        <p14:creationId xmlns:p14="http://schemas.microsoft.com/office/powerpoint/2010/main" val="9597453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ok bij een prijsdaling blijft het teken betekenisvol">
            <a:extLst xmlns:a="http://schemas.openxmlformats.org/drawingml/2006/main">
              <a:ext uri="{FF2B5EF4-FFF2-40B4-BE49-F238E27FC236}">
                <a16:creationId xmlns:a16="http://schemas.microsoft.com/office/drawing/2014/main" id="{A0CEEF22-5B11-4013-AC93-460745ADF59B}"/>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Ook bij een prijsdaling blijft het teken betekenisvol</a:t>
            </a:r>
          </a:p>
        </p:txBody>
      </p:sp>
      <p:sp>
        <p:nvSpPr>
          <p:cNvPr id="2" name="">
            <a:extLst xmlns:a="http://schemas.openxmlformats.org/drawingml/2006/main">
              <a:ext uri="{FF2B5EF4-FFF2-40B4-BE49-F238E27FC236}">
                <a16:creationId xmlns:a16="http://schemas.microsoft.com/office/drawing/2014/main" id="{14D84F6A-F91C-4F00-A5DB-0C6783906DD1}"/>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005D668-7138-4C46-BCB4-581E88125821}"/>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3E0DD037-514A-4C2A-AB07-13B6C6C3EECD}"/>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EBE896ED-7027-4871-883F-772F3B34BE8F}"/>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Apart onderzoek: prijs van e-readers −20%">
            <a:extLst xmlns:a="http://schemas.openxmlformats.org/drawingml/2006/main">
              <a:ext uri="{FF2B5EF4-FFF2-40B4-BE49-F238E27FC236}">
                <a16:creationId xmlns:a16="http://schemas.microsoft.com/office/drawing/2014/main" id="{52127B7A-0A79-440D-A1D9-005AA8466D7C}"/>
              </a:ext>
            </a:extLst>
          </p:cNvPr>
          <p:cNvSpPr>
            <a:spLocks xmlns:a="http://schemas.openxmlformats.org/drawingml/2006/main" noGrp="1"/>
          </p:cNvSpPr>
          <p:nvPr/>
        </p:nvSpPr>
        <p:spPr>
          <a:xfrm xmlns:a="http://schemas.openxmlformats.org/drawingml/2006/main">
            <a:off x="571500" y="24003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Apart onderzoek: prijs van e-readers −20%</a:t>
            </a:r>
          </a:p>
        </p:txBody>
      </p:sp>
      <p:graphicFrame>
        <p:nvGraphicFramePr>
          <p:cNvPr id="15" name=""/>
          <p:cNvGraphicFramePr/>
          <p:nvPr/>
        </p:nvGraphicFramePr>
        <p:xfrm>
          <a:off xmlns:a="http://schemas.openxmlformats.org/drawingml/2006/main" x="571500" y="3429000"/>
          <a:ext xmlns:a="http://schemas.openxmlformats.org/drawingml/2006/main" cx="14097000" cy="2857500"/>
        </p:xfrm>
        <a:graphic xmlns:a="http://schemas.openxmlformats.org/drawingml/2006/main">
          <a:graphicData uri="http://schemas.openxmlformats.org/drawingml/2006/table">
            <a:tbl>
              <a:tblPr/>
              <a:tblGrid>
                <a:gridCol w="5048250"/>
                <a:gridCol w="5810250"/>
                <a:gridCol w="3238500"/>
              </a:tblGrid>
              <a:tr h="952500">
                <a:tc>
                  <a:txBody>
                    <a:bodyPr lIns="171450" tIns="95250" rIns="152400" bIns="95250"/>
                    <a:lstStyle/>
                    <a:p>
                      <a:r>
                        <a:rPr sz="2400" b="1">
                          <a:solidFill>
                            <a:srgbClr val="FFFFFF"/>
                          </a:solidFill>
                          <a:latin typeface="Arial"/>
                          <a:ea typeface="Arial"/>
                          <a:cs typeface="Arial"/>
                        </a:rPr>
                        <a:t>Vraaggoed X</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Ek ten opzichte van e-readerprijs</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Relatie</a:t>
                      </a:r>
                    </a:p>
                  </a:txBody>
                  <a:tcPr marL="91440" marR="91440" marT="45720" marB="45720" anchor="ctr">
                    <a:solidFill>
                      <a:srgbClr val="183247"/>
                    </a:solidFill>
                  </a:tcPr>
                </a:tc>
              </a:tr>
              <a:tr h="952500">
                <a:tc>
                  <a:txBody>
                    <a:bodyPr lIns="171450" tIns="95250" rIns="152400" bIns="95250"/>
                    <a:lstStyle/>
                    <a:p>
                      <a:r>
                        <a:rPr sz="2400" b="0">
                          <a:solidFill>
                            <a:srgbClr val="183247"/>
                          </a:solidFill>
                          <a:latin typeface="Arial"/>
                          <a:ea typeface="Arial"/>
                          <a:cs typeface="Arial"/>
                        </a:rPr>
                        <a:t>Papieren romans: −6%</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−6% / −20% = +0,3</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Substituten</a:t>
                      </a:r>
                    </a:p>
                  </a:txBody>
                  <a:tcPr marL="91440" marR="91440" marT="45720" marB="45720" anchor="ctr">
                    <a:solidFill>
                      <a:srgbClr val="FFFFFF"/>
                    </a:solidFill>
                  </a:tcPr>
                </a:tc>
              </a:tr>
              <a:tr h="952500">
                <a:tc>
                  <a:txBody>
                    <a:bodyPr lIns="171450" tIns="95250" rIns="152400" bIns="95250"/>
                    <a:lstStyle/>
                    <a:p>
                      <a:r>
                        <a:rPr sz="2400" b="0">
                          <a:solidFill>
                            <a:srgbClr val="183247"/>
                          </a:solidFill>
                          <a:latin typeface="Arial"/>
                          <a:ea typeface="Arial"/>
                          <a:cs typeface="Arial"/>
                        </a:rPr>
                        <a:t>Passende hoesjes: +8%</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+8% / −20% = −0,4</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Complementen</a:t>
                      </a:r>
                    </a:p>
                  </a:txBody>
                  <a:tcPr marL="91440" marR="91440" marT="45720" marB="45720" anchor="ctr">
                    <a:solidFill>
                      <a:srgbClr val="EFF4F7"/>
                    </a:solidFill>
                  </a:tcPr>
                </a:tc>
              </a:tr>
            </a:tbl>
          </a:graphicData>
        </a:graphic>
      </p:graphicFrame>
      <p:sp>
        <p:nvSpPr>
          <p:cNvPr id="8" name="Twee mintekens → positief. Eén minteken → negatief.">
            <a:extLst xmlns:a="http://schemas.openxmlformats.org/drawingml/2006/main">
              <a:ext uri="{FF2B5EF4-FFF2-40B4-BE49-F238E27FC236}">
                <a16:creationId xmlns:a16="http://schemas.microsoft.com/office/drawing/2014/main" id="{39578007-03DD-411B-95FF-E5CA021BD34E}"/>
              </a:ext>
            </a:extLst>
          </p:cNvPr>
          <p:cNvSpPr>
            <a:spLocks xmlns:a="http://schemas.openxmlformats.org/drawingml/2006/main" noGrp="1"/>
          </p:cNvSpPr>
          <p:nvPr/>
        </p:nvSpPr>
        <p:spPr>
          <a:xfrm xmlns:a="http://schemas.openxmlformats.org/drawingml/2006/main">
            <a:off x="571500" y="69913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Twee mintekens → positief. Eén minteken → negatief.</a:t>
            </a:r>
          </a:p>
        </p:txBody>
      </p:sp>
    </p:spTree>
    <p:extLst>
      <p:ext uri="{BB962C8B-B14F-4D97-AF65-F5344CB8AC3E}">
        <p14:creationId xmlns:p14="http://schemas.microsoft.com/office/powerpoint/2010/main" val="16528731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eesClub X · De betekenis van de variabelen">
            <a:extLst xmlns:a="http://schemas.openxmlformats.org/drawingml/2006/main">
              <a:ext uri="{FF2B5EF4-FFF2-40B4-BE49-F238E27FC236}">
                <a16:creationId xmlns:a16="http://schemas.microsoft.com/office/drawing/2014/main" id="{D18AEA50-74F9-422B-8DEA-816E13724AE5}"/>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LeesClub X · De betekenis van de variabelen</a:t>
            </a:r>
          </a:p>
        </p:txBody>
      </p:sp>
      <p:sp>
        <p:nvSpPr>
          <p:cNvPr id="2" name="">
            <a:extLst xmlns:a="http://schemas.openxmlformats.org/drawingml/2006/main">
              <a:ext uri="{FF2B5EF4-FFF2-40B4-BE49-F238E27FC236}">
                <a16:creationId xmlns:a16="http://schemas.microsoft.com/office/drawing/2014/main" id="{C8F32F11-2334-4DAA-AF68-58487B1BEDDC}"/>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EC3A5C0-CBD2-4E0E-89CC-87DE7B836CCE}"/>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BA5A9237-ECBD-4931-B518-2B430A57CCB5}"/>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6A1F6101-D8C2-4708-B3C3-3EFDCE17B1EF}"/>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Qx = 160 − 4Px + 2Pz + 0,01Y">
            <a:extLst xmlns:a="http://schemas.openxmlformats.org/drawingml/2006/main">
              <a:ext uri="{FF2B5EF4-FFF2-40B4-BE49-F238E27FC236}">
                <a16:creationId xmlns:a16="http://schemas.microsoft.com/office/drawing/2014/main" id="{678E981B-C827-497C-9B47-E2D15005A4B9}"/>
              </a:ext>
            </a:extLst>
          </p:cNvPr>
          <p:cNvSpPr>
            <a:spLocks xmlns:a="http://schemas.openxmlformats.org/drawingml/2006/main" noGrp="1"/>
          </p:cNvSpPr>
          <p:nvPr/>
        </p:nvSpPr>
        <p:spPr>
          <a:xfrm xmlns:a="http://schemas.openxmlformats.org/drawingml/2006/main">
            <a:off x="571500" y="24098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Qx = 160 − 4Px + 2Pz + 0,01Y</a:t>
            </a:r>
          </a:p>
        </p:txBody>
      </p:sp>
      <p:graphicFrame>
        <p:nvGraphicFramePr>
          <p:cNvPr id="14" name=""/>
          <p:cNvGraphicFramePr/>
          <p:nvPr/>
        </p:nvGraphicFramePr>
        <p:xfrm>
          <a:off xmlns:a="http://schemas.openxmlformats.org/drawingml/2006/main" x="571500" y="3533775"/>
          <a:ext xmlns:a="http://schemas.openxmlformats.org/drawingml/2006/main" cx="14097000" cy="3714750"/>
        </p:xfrm>
        <a:graphic xmlns:a="http://schemas.openxmlformats.org/drawingml/2006/main">
          <a:graphicData uri="http://schemas.openxmlformats.org/drawingml/2006/table">
            <a:tbl>
              <a:tblPr/>
              <a:tblGrid>
                <a:gridCol w="2190750"/>
                <a:gridCol w="8953500"/>
                <a:gridCol w="2952750"/>
              </a:tblGrid>
              <a:tr h="742950">
                <a:tc>
                  <a:txBody>
                    <a:bodyPr lIns="171450" tIns="95250" rIns="152400" bIns="95250"/>
                    <a:lstStyle/>
                    <a:p>
                      <a:r>
                        <a:rPr sz="2325" b="1">
                          <a:solidFill>
                            <a:srgbClr val="FFFFFF"/>
                          </a:solidFill>
                          <a:latin typeface="Arial"/>
                          <a:ea typeface="Arial"/>
                          <a:cs typeface="Arial"/>
                        </a:rPr>
                        <a:t>Symbool</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Betekenis en eenheid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Begin</a:t>
                      </a:r>
                    </a:p>
                  </a:txBody>
                  <a:tcPr marL="91440" marR="91440" marT="45720" marB="45720" anchor="ctr">
                    <a:solidFill>
                      <a:srgbClr val="183247"/>
                    </a:solidFill>
                  </a:tcPr>
                </a:tc>
              </a:tr>
              <a:tr h="742950">
                <a:tc>
                  <a:txBody>
                    <a:bodyPr lIns="171450" tIns="95250" rIns="152400" bIns="95250"/>
                    <a:lstStyle/>
                    <a:p>
                      <a:r>
                        <a:rPr sz="2325" b="0">
                          <a:solidFill>
                            <a:srgbClr val="183247"/>
                          </a:solidFill>
                          <a:latin typeface="Arial"/>
                          <a:ea typeface="Arial"/>
                          <a:cs typeface="Arial"/>
                        </a:rPr>
                        <a:t>Qx</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Abonnementen op LeesClub X per maand</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Te berekenen</a:t>
                      </a:r>
                    </a:p>
                  </a:txBody>
                  <a:tcPr marL="91440" marR="91440" marT="45720" marB="45720" anchor="ctr">
                    <a:solidFill>
                      <a:srgbClr val="FFFFFF"/>
                    </a:solidFill>
                  </a:tcPr>
                </a:tc>
              </a:tr>
              <a:tr h="742950">
                <a:tc>
                  <a:txBody>
                    <a:bodyPr lIns="171450" tIns="95250" rIns="152400" bIns="95250"/>
                    <a:lstStyle/>
                    <a:p>
                      <a:r>
                        <a:rPr sz="2325" b="0">
                          <a:solidFill>
                            <a:srgbClr val="183247"/>
                          </a:solidFill>
                          <a:latin typeface="Arial"/>
                          <a:ea typeface="Arial"/>
                          <a:cs typeface="Arial"/>
                        </a:rPr>
                        <a:t>Px</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Maandprijs LeesClub X in euro</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15</a:t>
                      </a:r>
                    </a:p>
                  </a:txBody>
                  <a:tcPr marL="91440" marR="91440" marT="45720" marB="45720" anchor="ctr">
                    <a:solidFill>
                      <a:srgbClr val="EFF4F7"/>
                    </a:solidFill>
                  </a:tcPr>
                </a:tc>
              </a:tr>
              <a:tr h="742950">
                <a:tc>
                  <a:txBody>
                    <a:bodyPr lIns="171450" tIns="95250" rIns="152400" bIns="95250"/>
                    <a:lstStyle/>
                    <a:p>
                      <a:r>
                        <a:rPr sz="2325" b="0">
                          <a:solidFill>
                            <a:srgbClr val="183247"/>
                          </a:solidFill>
                          <a:latin typeface="Arial"/>
                          <a:ea typeface="Arial"/>
                          <a:cs typeface="Arial"/>
                        </a:rPr>
                        <a:t>Pz</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Maandprijs andere leesdienst Z in euro</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20</a:t>
                      </a:r>
                    </a:p>
                  </a:txBody>
                  <a:tcPr marL="91440" marR="91440" marT="45720" marB="45720" anchor="ctr">
                    <a:solidFill>
                      <a:srgbClr val="FFFFFF"/>
                    </a:solidFill>
                  </a:tcPr>
                </a:tc>
              </a:tr>
              <a:tr h="742950">
                <a:tc>
                  <a:txBody>
                    <a:bodyPr lIns="171450" tIns="95250" rIns="152400" bIns="95250"/>
                    <a:lstStyle/>
                    <a:p>
                      <a:r>
                        <a:rPr sz="2325" b="0">
                          <a:solidFill>
                            <a:srgbClr val="183247"/>
                          </a:solidFill>
                          <a:latin typeface="Arial"/>
                          <a:ea typeface="Arial"/>
                          <a:cs typeface="Arial"/>
                        </a:rPr>
                        <a:t>Y</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Gemiddeld jaarinkomen in euro</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26.000</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6767060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esClub X · De beginhoeveelheid">
            <a:extLst xmlns:a="http://schemas.openxmlformats.org/drawingml/2006/main">
              <a:ext uri="{FF2B5EF4-FFF2-40B4-BE49-F238E27FC236}">
                <a16:creationId xmlns:a16="http://schemas.microsoft.com/office/drawing/2014/main" id="{ADECAECD-3D77-4860-829B-1C6688B89E59}"/>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LeesClub X · De beginhoeveelheid</a:t>
            </a:r>
          </a:p>
        </p:txBody>
      </p:sp>
      <p:sp>
        <p:nvSpPr>
          <p:cNvPr id="2" name="">
            <a:extLst xmlns:a="http://schemas.openxmlformats.org/drawingml/2006/main">
              <a:ext uri="{FF2B5EF4-FFF2-40B4-BE49-F238E27FC236}">
                <a16:creationId xmlns:a16="http://schemas.microsoft.com/office/drawing/2014/main" id="{C9920A26-0C66-47EF-84D9-EE727BF548FF}"/>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7E8E556-F65C-43E7-9B21-B66878F664C8}"/>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A25487D8-7E92-4EE8-9139-3745505DE498}"/>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21631100-6C9A-4569-BF09-0D5CC0A0DE4B}"/>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Px = 15 · Pz = 20 · Y = 26.000">
            <a:extLst xmlns:a="http://schemas.openxmlformats.org/drawingml/2006/main">
              <a:ext uri="{FF2B5EF4-FFF2-40B4-BE49-F238E27FC236}">
                <a16:creationId xmlns:a16="http://schemas.microsoft.com/office/drawing/2014/main" id="{D3F8DFF5-3C7B-4FCF-9084-B18FA4527FFA}"/>
              </a:ext>
            </a:extLst>
          </p:cNvPr>
          <p:cNvSpPr>
            <a:spLocks xmlns:a="http://schemas.openxmlformats.org/drawingml/2006/main" noGrp="1"/>
          </p:cNvSpPr>
          <p:nvPr/>
        </p:nvSpPr>
        <p:spPr>
          <a:xfrm xmlns:a="http://schemas.openxmlformats.org/drawingml/2006/main">
            <a:off x="571500" y="240982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Px = 15 · Pz = 20 · Y = 26.000</a:t>
            </a:r>
          </a:p>
        </p:txBody>
      </p:sp>
      <p:sp>
        <p:nvSpPr>
          <p:cNvPr id="7" name="Qx = 160 − 4 × 15 + 2 × 20 + 0,01 × 26.000">
            <a:extLst xmlns:a="http://schemas.openxmlformats.org/drawingml/2006/main">
              <a:ext uri="{FF2B5EF4-FFF2-40B4-BE49-F238E27FC236}">
                <a16:creationId xmlns:a16="http://schemas.microsoft.com/office/drawing/2014/main" id="{D0400AF1-48BC-4B5F-BF6D-35593644803A}"/>
              </a:ext>
            </a:extLst>
          </p:cNvPr>
          <p:cNvSpPr>
            <a:spLocks xmlns:a="http://schemas.openxmlformats.org/drawingml/2006/main" noGrp="1"/>
          </p:cNvSpPr>
          <p:nvPr/>
        </p:nvSpPr>
        <p:spPr>
          <a:xfrm xmlns:a="http://schemas.openxmlformats.org/drawingml/2006/main">
            <a:off x="571500" y="35909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Qx = 160 − 4 × 15 + 2 × 20 + 0,01 × 26.000</a:t>
            </a:r>
          </a:p>
        </p:txBody>
      </p:sp>
      <p:sp>
        <p:nvSpPr>
          <p:cNvPr id="8" name="Qx = 160 − 60 + 40 + 260">
            <a:extLst xmlns:a="http://schemas.openxmlformats.org/drawingml/2006/main">
              <a:ext uri="{FF2B5EF4-FFF2-40B4-BE49-F238E27FC236}">
                <a16:creationId xmlns:a16="http://schemas.microsoft.com/office/drawing/2014/main" id="{EC1AEBFE-023E-4EBD-BD4F-67032CCB3009}"/>
              </a:ext>
            </a:extLst>
          </p:cNvPr>
          <p:cNvSpPr>
            <a:spLocks xmlns:a="http://schemas.openxmlformats.org/drawingml/2006/main" noGrp="1"/>
          </p:cNvSpPr>
          <p:nvPr/>
        </p:nvSpPr>
        <p:spPr>
          <a:xfrm xmlns:a="http://schemas.openxmlformats.org/drawingml/2006/main">
            <a:off x="571500" y="48291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Qx = 160 − 60 + 40 + 260</a:t>
            </a:r>
          </a:p>
        </p:txBody>
      </p:sp>
      <p:sp>
        <p:nvSpPr>
          <p:cNvPr id="9" name="Qx = 400 abonnementen per maand">
            <a:extLst xmlns:a="http://schemas.openxmlformats.org/drawingml/2006/main">
              <a:ext uri="{FF2B5EF4-FFF2-40B4-BE49-F238E27FC236}">
                <a16:creationId xmlns:a16="http://schemas.microsoft.com/office/drawing/2014/main" id="{A52977F4-F7A8-4E71-A002-974B0CBD9391}"/>
              </a:ext>
            </a:extLst>
          </p:cNvPr>
          <p:cNvSpPr>
            <a:spLocks xmlns:a="http://schemas.openxmlformats.org/drawingml/2006/main" noGrp="1"/>
          </p:cNvSpPr>
          <p:nvPr/>
        </p:nvSpPr>
        <p:spPr>
          <a:xfrm xmlns:a="http://schemas.openxmlformats.org/drawingml/2006/main">
            <a:off x="571500" y="61531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Qx = 400 abonnementen per maand</a:t>
            </a:r>
          </a:p>
        </p:txBody>
      </p:sp>
    </p:spTree>
    <p:extLst>
      <p:ext uri="{BB962C8B-B14F-4D97-AF65-F5344CB8AC3E}">
        <p14:creationId xmlns:p14="http://schemas.microsoft.com/office/powerpoint/2010/main" val="11819382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esClub X · Alleen het inkomen verandert">
            <a:extLst xmlns:a="http://schemas.openxmlformats.org/drawingml/2006/main">
              <a:ext uri="{FF2B5EF4-FFF2-40B4-BE49-F238E27FC236}">
                <a16:creationId xmlns:a16="http://schemas.microsoft.com/office/drawing/2014/main" id="{F77A57DD-BB5C-4119-9DC4-0C9AFCC54278}"/>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LeesClub X · Alleen het inkomen verandert</a:t>
            </a:r>
          </a:p>
        </p:txBody>
      </p:sp>
      <p:sp>
        <p:nvSpPr>
          <p:cNvPr id="2" name="">
            <a:extLst xmlns:a="http://schemas.openxmlformats.org/drawingml/2006/main">
              <a:ext uri="{FF2B5EF4-FFF2-40B4-BE49-F238E27FC236}">
                <a16:creationId xmlns:a16="http://schemas.microsoft.com/office/drawing/2014/main" id="{CFEB16B7-B117-45A9-BB3B-B0C8BC8A0D72}"/>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3196BC9-127F-47C9-AC87-C9E547A9FD14}"/>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02460407-4724-4D5B-818E-C0E8C804AF23}"/>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113CFE44-B718-4551-8E85-418D12AEF1E6}"/>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524125"/>
          <a:ext xmlns:a="http://schemas.openxmlformats.org/drawingml/2006/main" cx="14097000" cy="2295525"/>
        </p:xfrm>
        <a:graphic xmlns:a="http://schemas.openxmlformats.org/drawingml/2006/main">
          <a:graphicData uri="http://schemas.openxmlformats.org/drawingml/2006/table">
            <a:tbl>
              <a:tblPr/>
              <a:tblGrid>
                <a:gridCol w="6096000"/>
                <a:gridCol w="2000250"/>
                <a:gridCol w="2000250"/>
                <a:gridCol w="4000500"/>
              </a:tblGrid>
              <a:tr h="765175">
                <a:tc>
                  <a:txBody>
                    <a:bodyPr lIns="171450" tIns="95250" rIns="152400" bIns="95250"/>
                    <a:lstStyle/>
                    <a:p>
                      <a:r>
                        <a:rPr sz="2550" b="1">
                          <a:solidFill>
                            <a:srgbClr val="FFFFFF"/>
                          </a:solidFill>
                          <a:latin typeface="Arial"/>
                          <a:ea typeface="Arial"/>
                          <a:cs typeface="Arial"/>
                        </a:rPr>
                        <a:t>Scenario</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Px</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Pz</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Y</a:t>
                      </a:r>
                    </a:p>
                  </a:txBody>
                  <a:tcPr marL="91440" marR="91440" marT="45720" marB="45720" anchor="ctr">
                    <a:solidFill>
                      <a:srgbClr val="183247"/>
                    </a:solidFill>
                  </a:tcPr>
                </a:tc>
              </a:tr>
              <a:tr h="765175">
                <a:tc>
                  <a:txBody>
                    <a:bodyPr lIns="171450" tIns="95250" rIns="152400" bIns="95250"/>
                    <a:lstStyle/>
                    <a:p>
                      <a:r>
                        <a:rPr sz="2550" b="0">
                          <a:solidFill>
                            <a:srgbClr val="183247"/>
                          </a:solidFill>
                          <a:latin typeface="Arial"/>
                          <a:ea typeface="Arial"/>
                          <a:cs typeface="Arial"/>
                        </a:rPr>
                        <a:t>Begin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26.000</a:t>
                      </a:r>
                    </a:p>
                  </a:txBody>
                  <a:tcPr marL="91440" marR="91440" marT="45720" marB="45720" anchor="ctr">
                    <a:solidFill>
                      <a:srgbClr val="FFFFFF"/>
                    </a:solidFill>
                  </a:tcPr>
                </a:tc>
              </a:tr>
              <a:tr h="765175">
                <a:tc>
                  <a:txBody>
                    <a:bodyPr lIns="171450" tIns="95250" rIns="152400" bIns="95250"/>
                    <a:lstStyle/>
                    <a:p>
                      <a:r>
                        <a:rPr sz="2550" b="0">
                          <a:solidFill>
                            <a:srgbClr val="183247"/>
                          </a:solidFill>
                          <a:latin typeface="Arial"/>
                          <a:ea typeface="Arial"/>
                          <a:cs typeface="Arial"/>
                        </a:rPr>
                        <a:t>Alleen hoger Y</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28.600</a:t>
                      </a:r>
                    </a:p>
                  </a:txBody>
                  <a:tcPr marL="91440" marR="91440" marT="45720" marB="45720" anchor="ctr">
                    <a:solidFill>
                      <a:srgbClr val="EFF4F7"/>
                    </a:solidFill>
                  </a:tcPr>
                </a:tc>
              </a:tr>
            </a:tbl>
          </a:graphicData>
        </a:graphic>
      </p:graphicFrame>
      <p:sp>
        <p:nvSpPr>
          <p:cNvPr id="7" name="Qx nieuw = 160 − 4 × 15 + 2 × 20 + 0,01 × 28.600">
            <a:extLst xmlns:a="http://schemas.openxmlformats.org/drawingml/2006/main">
              <a:ext uri="{FF2B5EF4-FFF2-40B4-BE49-F238E27FC236}">
                <a16:creationId xmlns:a16="http://schemas.microsoft.com/office/drawing/2014/main" id="{64B8C938-A848-490C-B904-D04DD8081AB4}"/>
              </a:ext>
            </a:extLst>
          </p:cNvPr>
          <p:cNvSpPr>
            <a:spLocks xmlns:a="http://schemas.openxmlformats.org/drawingml/2006/main" noGrp="1"/>
          </p:cNvSpPr>
          <p:nvPr/>
        </p:nvSpPr>
        <p:spPr>
          <a:xfrm xmlns:a="http://schemas.openxmlformats.org/drawingml/2006/main">
            <a:off x="571500" y="53340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Qx nieuw = 160 − 4 × 15 + 2 × 20 + 0,01 × 28.600</a:t>
            </a:r>
          </a:p>
        </p:txBody>
      </p:sp>
      <p:sp>
        <p:nvSpPr>
          <p:cNvPr id="8" name="= 160 − 60 + 40 + 286 = 426">
            <a:extLst xmlns:a="http://schemas.openxmlformats.org/drawingml/2006/main">
              <a:ext uri="{FF2B5EF4-FFF2-40B4-BE49-F238E27FC236}">
                <a16:creationId xmlns:a16="http://schemas.microsoft.com/office/drawing/2014/main" id="{870A39B0-69AF-46C5-B341-FF720C599BD1}"/>
              </a:ext>
            </a:extLst>
          </p:cNvPr>
          <p:cNvSpPr>
            <a:spLocks xmlns:a="http://schemas.openxmlformats.org/drawingml/2006/main" noGrp="1"/>
          </p:cNvSpPr>
          <p:nvPr/>
        </p:nvSpPr>
        <p:spPr>
          <a:xfrm xmlns:a="http://schemas.openxmlformats.org/drawingml/2006/main">
            <a:off x="571500" y="63912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665B"/>
                </a:solidFill>
                <a:latin typeface="Arial"/>
                <a:ea typeface="Arial"/>
                <a:cs typeface="Arial"/>
              </a:defRPr>
            </a:pPr>
            <a:r>
              <a:rPr sz="3375" b="1">
                <a:solidFill>
                  <a:srgbClr val="20665B"/>
                </a:solidFill>
                <a:latin typeface="Arial"/>
                <a:ea typeface="Arial"/>
                <a:cs typeface="Arial"/>
              </a:rPr>
              <a:t>= 160 − 60 + 40 + 286 = 426</a:t>
            </a:r>
          </a:p>
        </p:txBody>
      </p:sp>
      <p:sp>
        <p:nvSpPr>
          <p:cNvPr id="9" name="426 abonnementen per maand · Px en Pz blijven gelijk">
            <a:extLst xmlns:a="http://schemas.openxmlformats.org/drawingml/2006/main">
              <a:ext uri="{FF2B5EF4-FFF2-40B4-BE49-F238E27FC236}">
                <a16:creationId xmlns:a16="http://schemas.microsoft.com/office/drawing/2014/main" id="{19FD9804-5304-4A20-B920-B31CADC9772C}"/>
              </a:ext>
            </a:extLst>
          </p:cNvPr>
          <p:cNvSpPr>
            <a:spLocks xmlns:a="http://schemas.openxmlformats.org/drawingml/2006/main" noGrp="1"/>
          </p:cNvSpPr>
          <p:nvPr/>
        </p:nvSpPr>
        <p:spPr>
          <a:xfrm xmlns:a="http://schemas.openxmlformats.org/drawingml/2006/main">
            <a:off x="571500" y="73628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426 abonnementen per maand · Px en Pz blijven gelijk</a:t>
            </a:r>
          </a:p>
        </p:txBody>
      </p:sp>
    </p:spTree>
    <p:extLst>
      <p:ext uri="{BB962C8B-B14F-4D97-AF65-F5344CB8AC3E}">
        <p14:creationId xmlns:p14="http://schemas.microsoft.com/office/powerpoint/2010/main" val="17745523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esClub X · Van hoeveelheden naar Ei">
            <a:extLst xmlns:a="http://schemas.openxmlformats.org/drawingml/2006/main">
              <a:ext uri="{FF2B5EF4-FFF2-40B4-BE49-F238E27FC236}">
                <a16:creationId xmlns:a16="http://schemas.microsoft.com/office/drawing/2014/main" id="{2C40221E-4E01-4BF4-89FD-F095FCA1D46C}"/>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LeesClub X · Van hoeveelheden naar Ei</a:t>
            </a:r>
          </a:p>
        </p:txBody>
      </p:sp>
      <p:sp>
        <p:nvSpPr>
          <p:cNvPr id="2" name="">
            <a:extLst xmlns:a="http://schemas.openxmlformats.org/drawingml/2006/main">
              <a:ext uri="{FF2B5EF4-FFF2-40B4-BE49-F238E27FC236}">
                <a16:creationId xmlns:a16="http://schemas.microsoft.com/office/drawing/2014/main" id="{F5DCFA98-D1B9-47D1-A2D1-9ECFA9AB2DB7}"/>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07C5C2D-E361-474B-93B4-A5A1E277213B}"/>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D7357DD6-F145-46B6-BC5B-4A19E7260097}"/>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D892B9AD-93FC-4D35-9061-CD47B58582BC}"/>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ΔQx = (426 − 400) / 400 × 100% = +6,5%">
            <a:extLst xmlns:a="http://schemas.openxmlformats.org/drawingml/2006/main">
              <a:ext uri="{FF2B5EF4-FFF2-40B4-BE49-F238E27FC236}">
                <a16:creationId xmlns:a16="http://schemas.microsoft.com/office/drawing/2014/main" id="{9D2A3117-FA95-42CF-81BF-EDEAAC19114F}"/>
              </a:ext>
            </a:extLst>
          </p:cNvPr>
          <p:cNvSpPr>
            <a:spLocks xmlns:a="http://schemas.openxmlformats.org/drawingml/2006/main" noGrp="1"/>
          </p:cNvSpPr>
          <p:nvPr/>
        </p:nvSpPr>
        <p:spPr>
          <a:xfrm xmlns:a="http://schemas.openxmlformats.org/drawingml/2006/main">
            <a:off x="571500" y="26860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%ΔQx = (426 − 400) / 400 × 100% = +6,5%</a:t>
            </a:r>
          </a:p>
        </p:txBody>
      </p:sp>
      <p:sp>
        <p:nvSpPr>
          <p:cNvPr id="7" name="%ΔY = (28.600 − 26.000) / 26.000 × 100% = +10%">
            <a:extLst xmlns:a="http://schemas.openxmlformats.org/drawingml/2006/main">
              <a:ext uri="{FF2B5EF4-FFF2-40B4-BE49-F238E27FC236}">
                <a16:creationId xmlns:a16="http://schemas.microsoft.com/office/drawing/2014/main" id="{DD300E47-7BF1-4480-A36A-6772EF6ACB93}"/>
              </a:ext>
            </a:extLst>
          </p:cNvPr>
          <p:cNvSpPr>
            <a:spLocks xmlns:a="http://schemas.openxmlformats.org/drawingml/2006/main" noGrp="1"/>
          </p:cNvSpPr>
          <p:nvPr/>
        </p:nvSpPr>
        <p:spPr>
          <a:xfrm xmlns:a="http://schemas.openxmlformats.org/drawingml/2006/main">
            <a:off x="571500" y="38576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%ΔY = (28.600 − 26.000) / 26.000 × 100% = +10%</a:t>
            </a:r>
          </a:p>
        </p:txBody>
      </p:sp>
      <p:sp>
        <p:nvSpPr>
          <p:cNvPr id="8" name="Ei = +6,5% / +10% = +0,65">
            <a:extLst xmlns:a="http://schemas.openxmlformats.org/drawingml/2006/main">
              <a:ext uri="{FF2B5EF4-FFF2-40B4-BE49-F238E27FC236}">
                <a16:creationId xmlns:a16="http://schemas.microsoft.com/office/drawing/2014/main" id="{269BB260-DE71-451B-A56F-006994538DAD}"/>
              </a:ext>
            </a:extLst>
          </p:cNvPr>
          <p:cNvSpPr>
            <a:spLocks xmlns:a="http://schemas.openxmlformats.org/drawingml/2006/main" noGrp="1"/>
          </p:cNvSpPr>
          <p:nvPr/>
        </p:nvSpPr>
        <p:spPr>
          <a:xfrm xmlns:a="http://schemas.openxmlformats.org/drawingml/2006/main">
            <a:off x="571500" y="51816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20665B"/>
                </a:solidFill>
                <a:latin typeface="Arial"/>
                <a:ea typeface="Arial"/>
                <a:cs typeface="Arial"/>
              </a:defRPr>
            </a:pPr>
            <a:r>
              <a:rPr sz="3675" b="1">
                <a:solidFill>
                  <a:srgbClr val="20665B"/>
                </a:solidFill>
                <a:latin typeface="Arial"/>
                <a:ea typeface="Arial"/>
                <a:cs typeface="Arial"/>
              </a:rPr>
              <a:t>Ei = +6,5% / +10% = +0,65</a:t>
            </a:r>
          </a:p>
        </p:txBody>
      </p:sp>
      <p:sp>
        <p:nvSpPr>
          <p:cNvPr id="9" name="0 &lt; Ei &lt; 1 → normaal goed in deze situatie">
            <a:extLst xmlns:a="http://schemas.openxmlformats.org/drawingml/2006/main">
              <a:ext uri="{FF2B5EF4-FFF2-40B4-BE49-F238E27FC236}">
                <a16:creationId xmlns:a16="http://schemas.microsoft.com/office/drawing/2014/main" id="{E6D3B628-E00F-444C-98EA-657A521D6E88}"/>
              </a:ext>
            </a:extLst>
          </p:cNvPr>
          <p:cNvSpPr>
            <a:spLocks xmlns:a="http://schemas.openxmlformats.org/drawingml/2006/main" noGrp="1"/>
          </p:cNvSpPr>
          <p:nvPr/>
        </p:nvSpPr>
        <p:spPr>
          <a:xfrm xmlns:a="http://schemas.openxmlformats.org/drawingml/2006/main">
            <a:off x="571500" y="64865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0 &lt; Ei &lt; 1 → normaal goed in deze situatie</a:t>
            </a:r>
          </a:p>
        </p:txBody>
      </p:sp>
    </p:spTree>
    <p:extLst>
      <p:ext uri="{BB962C8B-B14F-4D97-AF65-F5344CB8AC3E}">
        <p14:creationId xmlns:p14="http://schemas.microsoft.com/office/powerpoint/2010/main" val="820278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eesClub X · Terug naar het begin">
            <a:extLst xmlns:a="http://schemas.openxmlformats.org/drawingml/2006/main">
              <a:ext uri="{FF2B5EF4-FFF2-40B4-BE49-F238E27FC236}">
                <a16:creationId xmlns:a16="http://schemas.microsoft.com/office/drawing/2014/main" id="{DC202D88-DD0B-4B14-8453-F5B6FD8F2000}"/>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LeesClub X · Terug naar het begin</a:t>
            </a:r>
          </a:p>
        </p:txBody>
      </p:sp>
      <p:sp>
        <p:nvSpPr>
          <p:cNvPr id="2" name="">
            <a:extLst xmlns:a="http://schemas.openxmlformats.org/drawingml/2006/main">
              <a:ext uri="{FF2B5EF4-FFF2-40B4-BE49-F238E27FC236}">
                <a16:creationId xmlns:a16="http://schemas.microsoft.com/office/drawing/2014/main" id="{003551A9-084E-4E17-9950-A4A03D0C0D75}"/>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1A431E8-0DCA-4954-A491-58BA75EC86F7}"/>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C69C190B-461E-434B-A5D7-96E1170B474E}"/>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76CB6C2B-9987-4F73-BBCF-B5AF44ED2B20}"/>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495550"/>
          <a:ext xmlns:a="http://schemas.openxmlformats.org/drawingml/2006/main" cx="14097000" cy="3105150"/>
        </p:xfrm>
        <a:graphic xmlns:a="http://schemas.openxmlformats.org/drawingml/2006/main">
          <a:graphicData uri="http://schemas.openxmlformats.org/drawingml/2006/table">
            <a:tbl>
              <a:tblPr/>
              <a:tblGrid>
                <a:gridCol w="5810250"/>
                <a:gridCol w="1428750"/>
                <a:gridCol w="1428750"/>
                <a:gridCol w="2286000"/>
                <a:gridCol w="3143250"/>
              </a:tblGrid>
              <a:tr h="776288">
                <a:tc>
                  <a:txBody>
                    <a:bodyPr lIns="171450" tIns="95250" rIns="152400" bIns="95250"/>
                    <a:lstStyle/>
                    <a:p>
                      <a:r>
                        <a:rPr sz="2250" b="1">
                          <a:solidFill>
                            <a:srgbClr val="FFFFFF"/>
                          </a:solidFill>
                          <a:latin typeface="Arial"/>
                          <a:ea typeface="Arial"/>
                          <a:cs typeface="Arial"/>
                        </a:rPr>
                        <a:t>Afzonderlijk scenario</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Px</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Pz</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Y</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Qx per maand</a:t>
                      </a:r>
                    </a:p>
                  </a:txBody>
                  <a:tcPr marL="91440" marR="91440" marT="45720" marB="45720" anchor="ctr">
                    <a:solidFill>
                      <a:srgbClr val="183247"/>
                    </a:solidFill>
                  </a:tcPr>
                </a:tc>
              </a:tr>
              <a:tr h="776288">
                <a:tc>
                  <a:txBody>
                    <a:bodyPr lIns="171450" tIns="95250" rIns="152400" bIns="95250"/>
                    <a:lstStyle/>
                    <a:p>
                      <a:r>
                        <a:rPr sz="2250" b="0">
                          <a:solidFill>
                            <a:srgbClr val="183247"/>
                          </a:solidFill>
                          <a:latin typeface="Arial"/>
                          <a:ea typeface="Arial"/>
                          <a:cs typeface="Arial"/>
                        </a:rPr>
                        <a:t>Begin</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15</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26.000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400</a:t>
                      </a:r>
                    </a:p>
                  </a:txBody>
                  <a:tcPr marL="91440" marR="91440" marT="45720" marB="45720" anchor="ctr">
                    <a:solidFill>
                      <a:srgbClr val="FFFFFF"/>
                    </a:solidFill>
                  </a:tcPr>
                </a:tc>
              </a:tr>
              <a:tr h="776288">
                <a:tc>
                  <a:txBody>
                    <a:bodyPr lIns="171450" tIns="95250" rIns="152400" bIns="95250"/>
                    <a:lstStyle/>
                    <a:p>
                      <a:r>
                        <a:rPr sz="2250" b="0">
                          <a:solidFill>
                            <a:srgbClr val="183247"/>
                          </a:solidFill>
                          <a:latin typeface="Arial"/>
                          <a:ea typeface="Arial"/>
                          <a:cs typeface="Arial"/>
                        </a:rPr>
                        <a:t>Alleen hoger Y</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15</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28.600</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426</a:t>
                      </a:r>
                    </a:p>
                  </a:txBody>
                  <a:tcPr marL="91440" marR="91440" marT="45720" marB="45720" anchor="ctr">
                    <a:solidFill>
                      <a:srgbClr val="EFF4F7"/>
                    </a:solidFill>
                  </a:tcPr>
                </a:tc>
              </a:tr>
              <a:tr h="776288">
                <a:tc>
                  <a:txBody>
                    <a:bodyPr lIns="171450" tIns="95250" rIns="152400" bIns="95250"/>
                    <a:lstStyle/>
                    <a:p>
                      <a:r>
                        <a:rPr sz="2250" b="0">
                          <a:solidFill>
                            <a:srgbClr val="183247"/>
                          </a:solidFill>
                          <a:latin typeface="Arial"/>
                          <a:ea typeface="Arial"/>
                          <a:cs typeface="Arial"/>
                        </a:rPr>
                        <a:t>Y terug; alleen hoger Pz</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15</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25</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26.000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410</a:t>
                      </a:r>
                    </a:p>
                  </a:txBody>
                  <a:tcPr marL="91440" marR="91440" marT="45720" marB="45720" anchor="ctr">
                    <a:solidFill>
                      <a:srgbClr val="FFFFFF"/>
                    </a:solidFill>
                  </a:tcPr>
                </a:tc>
              </a:tr>
            </a:tbl>
          </a:graphicData>
        </a:graphic>
      </p:graphicFrame>
      <p:sp>
        <p:nvSpPr>
          <p:cNvPr id="7" name="Qx = 160 − 4 × 15 + 2 × 25 + 0,01 × 26.000 = 410">
            <a:extLst xmlns:a="http://schemas.openxmlformats.org/drawingml/2006/main">
              <a:ext uri="{FF2B5EF4-FFF2-40B4-BE49-F238E27FC236}">
                <a16:creationId xmlns:a16="http://schemas.microsoft.com/office/drawing/2014/main" id="{55C0DBF8-DE80-4A72-A4B7-5D0562985B08}"/>
              </a:ext>
            </a:extLst>
          </p:cNvPr>
          <p:cNvSpPr>
            <a:spLocks xmlns:a="http://schemas.openxmlformats.org/drawingml/2006/main" noGrp="1"/>
          </p:cNvSpPr>
          <p:nvPr/>
        </p:nvSpPr>
        <p:spPr>
          <a:xfrm xmlns:a="http://schemas.openxmlformats.org/drawingml/2006/main">
            <a:off x="571500" y="61531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Qx = 160 − 4 × 15 + 2 × 25 + 0,01 × 26.000 = 410</a:t>
            </a:r>
          </a:p>
        </p:txBody>
      </p:sp>
      <p:sp>
        <p:nvSpPr>
          <p:cNvPr id="8" name="Pz stijgt → Qx stijgt. Px en Y blijven op hun beginwaarde.">
            <a:extLst xmlns:a="http://schemas.openxmlformats.org/drawingml/2006/main">
              <a:ext uri="{FF2B5EF4-FFF2-40B4-BE49-F238E27FC236}">
                <a16:creationId xmlns:a16="http://schemas.microsoft.com/office/drawing/2014/main" id="{444CA527-B379-430B-A2EF-5777BCDA8083}"/>
              </a:ext>
            </a:extLst>
          </p:cNvPr>
          <p:cNvSpPr>
            <a:spLocks xmlns:a="http://schemas.openxmlformats.org/drawingml/2006/main" noGrp="1"/>
          </p:cNvSpPr>
          <p:nvPr/>
        </p:nvSpPr>
        <p:spPr>
          <a:xfrm xmlns:a="http://schemas.openxmlformats.org/drawingml/2006/main">
            <a:off x="571500" y="71913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Pz stijgt → Qx stijgt. Px en Y blijven op hun beginwaarde.</a:t>
            </a:r>
          </a:p>
        </p:txBody>
      </p:sp>
    </p:spTree>
    <p:extLst>
      <p:ext uri="{BB962C8B-B14F-4D97-AF65-F5344CB8AC3E}">
        <p14:creationId xmlns:p14="http://schemas.microsoft.com/office/powerpoint/2010/main" val="2577540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wee factoren tegelijk">
            <a:extLst xmlns:a="http://schemas.openxmlformats.org/drawingml/2006/main">
              <a:ext uri="{FF2B5EF4-FFF2-40B4-BE49-F238E27FC236}">
                <a16:creationId xmlns:a16="http://schemas.microsoft.com/office/drawing/2014/main" id="{4440D3E5-D17B-4A86-B6AF-3FB1E57F09B7}"/>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factoren tegelijk</a:t>
            </a:r>
          </a:p>
        </p:txBody>
      </p:sp>
      <p:sp>
        <p:nvSpPr>
          <p:cNvPr id="2" name="">
            <a:extLst xmlns:a="http://schemas.openxmlformats.org/drawingml/2006/main">
              <a:ext uri="{FF2B5EF4-FFF2-40B4-BE49-F238E27FC236}">
                <a16:creationId xmlns:a16="http://schemas.microsoft.com/office/drawing/2014/main" id="{A771DAF5-06C9-4BE4-9EB9-E1BCA973553C}"/>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1B249A1-FC72-471A-BF61-9C3320957F68}"/>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913A4043-A8CF-4C26-A92C-DA392CC580CE}"/>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a:extLst xmlns:a="http://schemas.openxmlformats.org/drawingml/2006/main">
              <a:ext uri="{FF2B5EF4-FFF2-40B4-BE49-F238E27FC236}">
                <a16:creationId xmlns:a16="http://schemas.microsoft.com/office/drawing/2014/main" id="{E7ED9460-2581-4A0F-B501-2D90D9C2CABE}"/>
              </a:ext>
            </a:extLst>
          </p:cNvPr>
          <p:cNvSpPr>
            <a:spLocks xmlns:a="http://schemas.openxmlformats.org/drawingml/2006/main" noGrp="1"/>
          </p:cNvSpPr>
          <p:nvPr/>
        </p:nvSpPr>
        <p:spPr>
          <a:xfrm xmlns:a="http://schemas.openxmlformats.org/drawingml/2006/main">
            <a:off x="571500" y="176212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628900"/>
          <a:ext xmlns:a="http://schemas.openxmlformats.org/drawingml/2006/main" cx="14097000" cy="2628900"/>
        </p:xfrm>
        <a:graphic xmlns:a="http://schemas.openxmlformats.org/drawingml/2006/main">
          <a:graphicData uri="http://schemas.openxmlformats.org/drawingml/2006/table">
            <a:tbl>
              <a:tblPr/>
              <a:tblGrid>
                <a:gridCol w="8477250"/>
                <a:gridCol w="5619750"/>
              </a:tblGrid>
              <a:tr h="876300">
                <a:tc>
                  <a:txBody>
                    <a:bodyPr lIns="171450" tIns="95250" rIns="152400" bIns="95250"/>
                    <a:lstStyle/>
                    <a:p>
                      <a:r>
                        <a:rPr sz="2550" b="1">
                          <a:solidFill>
                            <a:srgbClr val="FFFFFF"/>
                          </a:solidFill>
                          <a:latin typeface="Arial"/>
                          <a:ea typeface="Arial"/>
                          <a:cs typeface="Arial"/>
                        </a:rPr>
                        <a:t>Afzonderlijk onderzoek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Gemeten reactie van e-readervraag</a:t>
                      </a:r>
                    </a:p>
                  </a:txBody>
                  <a:tcPr marL="91440" marR="91440" marT="45720" marB="45720" anchor="ctr">
                    <a:solidFill>
                      <a:srgbClr val="183247"/>
                    </a:solidFill>
                  </a:tcPr>
                </a:tc>
              </a:tr>
              <a:tr h="876300">
                <a:tc>
                  <a:txBody>
                    <a:bodyPr lIns="171450" tIns="95250" rIns="152400" bIns="95250"/>
                    <a:lstStyle/>
                    <a:p>
                      <a:r>
                        <a:rPr sz="2550" b="0">
                          <a:solidFill>
                            <a:srgbClr val="183247"/>
                          </a:solidFill>
                          <a:latin typeface="Arial"/>
                          <a:ea typeface="Arial"/>
                          <a:cs typeface="Arial"/>
                        </a:rPr>
                        <a:t>Papieren boeken worden 10% duurder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+4%</a:t>
                      </a:r>
                    </a:p>
                  </a:txBody>
                  <a:tcPr marL="91440" marR="91440" marT="45720" marB="45720" anchor="ctr">
                    <a:solidFill>
                      <a:srgbClr val="FFFFFF"/>
                    </a:solidFill>
                  </a:tcPr>
                </a:tc>
              </a:tr>
              <a:tr h="876300">
                <a:tc>
                  <a:txBody>
                    <a:bodyPr lIns="171450" tIns="95250" rIns="152400" bIns="95250"/>
                    <a:lstStyle/>
                    <a:p>
                      <a:r>
                        <a:rPr sz="2550" b="0">
                          <a:solidFill>
                            <a:srgbClr val="183247"/>
                          </a:solidFill>
                          <a:latin typeface="Arial"/>
                          <a:ea typeface="Arial"/>
                          <a:cs typeface="Arial"/>
                        </a:rPr>
                        <a:t>Passende hoesjes worden 20% duurder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−3%</a:t>
                      </a:r>
                    </a:p>
                  </a:txBody>
                  <a:tcPr marL="91440" marR="91440" marT="45720" marB="45720" anchor="ctr">
                    <a:solidFill>
                      <a:srgbClr val="EFF4F7"/>
                    </a:solidFill>
                  </a:tcPr>
                </a:tc>
              </a:tr>
            </a:tbl>
          </a:graphicData>
        </a:graphic>
      </p:graphicFrame>
      <p:sp>
        <p:nvSpPr>
          <p:cNvPr id="7" name="Beide prijzen tegelijk omhoog: de richtingen werken elkaar t">
            <a:extLst xmlns:a="http://schemas.openxmlformats.org/drawingml/2006/main">
              <a:ext uri="{FF2B5EF4-FFF2-40B4-BE49-F238E27FC236}">
                <a16:creationId xmlns:a16="http://schemas.microsoft.com/office/drawing/2014/main" id="{9961BD1A-68DC-444F-A440-C924EFA7F318}"/>
              </a:ext>
            </a:extLst>
          </p:cNvPr>
          <p:cNvSpPr>
            <a:spLocks xmlns:a="http://schemas.openxmlformats.org/drawingml/2006/main" noGrp="1"/>
          </p:cNvSpPr>
          <p:nvPr/>
        </p:nvSpPr>
        <p:spPr>
          <a:xfrm xmlns:a="http://schemas.openxmlformats.org/drawingml/2006/main">
            <a:off x="571500" y="5753100"/>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Beide prijzen tegelijk omhoog: de richtingen werken elkaar tegen.</a:t>
            </a:r>
          </a:p>
        </p:txBody>
      </p:sp>
      <p:sp>
        <p:nvSpPr>
          <p:cNvPr id="8" name="Zonder gezamenlijk model is het totale effect niet zeker.">
            <a:extLst xmlns:a="http://schemas.openxmlformats.org/drawingml/2006/main">
              <a:ext uri="{FF2B5EF4-FFF2-40B4-BE49-F238E27FC236}">
                <a16:creationId xmlns:a16="http://schemas.microsoft.com/office/drawing/2014/main" id="{77B53472-15E5-43A9-A9F6-124278CBCE8C}"/>
              </a:ext>
            </a:extLst>
          </p:cNvPr>
          <p:cNvSpPr>
            <a:spLocks xmlns:a="http://schemas.openxmlformats.org/drawingml/2006/main" noGrp="1"/>
          </p:cNvSpPr>
          <p:nvPr/>
        </p:nvSpPr>
        <p:spPr>
          <a:xfrm xmlns:a="http://schemas.openxmlformats.org/drawingml/2006/main">
            <a:off x="571500" y="7162800"/>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Zonder gezamenlijk model is het totale effect niet zeker.</a:t>
            </a:r>
          </a:p>
        </p:txBody>
      </p:sp>
    </p:spTree>
    <p:extLst>
      <p:ext uri="{BB962C8B-B14F-4D97-AF65-F5344CB8AC3E}">
        <p14:creationId xmlns:p14="http://schemas.microsoft.com/office/powerpoint/2010/main" val="2110423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rug naar startopgave 2">
            <a:extLst xmlns:a="http://schemas.openxmlformats.org/drawingml/2006/main">
              <a:ext uri="{FF2B5EF4-FFF2-40B4-BE49-F238E27FC236}">
                <a16:creationId xmlns:a16="http://schemas.microsoft.com/office/drawing/2014/main" id="{12F81FEE-0CE7-4E6C-B610-C115C98A2D9E}"/>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Terug naar startopgave 2</a:t>
            </a:r>
          </a:p>
        </p:txBody>
      </p:sp>
      <p:sp>
        <p:nvSpPr>
          <p:cNvPr id="2" name="">
            <a:extLst xmlns:a="http://schemas.openxmlformats.org/drawingml/2006/main">
              <a:ext uri="{FF2B5EF4-FFF2-40B4-BE49-F238E27FC236}">
                <a16:creationId xmlns:a16="http://schemas.microsoft.com/office/drawing/2014/main" id="{6134BDC4-DC71-4351-AC2F-502EB7BC6BB0}"/>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5284662-0CFC-465A-8043-C03C9F28A376}"/>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Startopgave 2 · Boekpagina 60</a:t>
            </a:r>
          </a:p>
        </p:txBody>
      </p:sp>
      <p:sp>
        <p:nvSpPr>
          <p:cNvPr id="4" name="slide-number">
            <a:extLst xmlns:a="http://schemas.openxmlformats.org/drawingml/2006/main">
              <a:ext uri="{FF2B5EF4-FFF2-40B4-BE49-F238E27FC236}">
                <a16:creationId xmlns:a16="http://schemas.microsoft.com/office/drawing/2014/main" id="{7F75B8AA-E905-4D14-B253-D7E488041DA0}"/>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a) Wat deel je door wat bij Ei? En bij Ek?&#10;Gebruik woorden, ">
            <a:extLst xmlns:a="http://schemas.openxmlformats.org/drawingml/2006/main">
              <a:ext uri="{FF2B5EF4-FFF2-40B4-BE49-F238E27FC236}">
                <a16:creationId xmlns:a16="http://schemas.microsoft.com/office/drawing/2014/main" id="{BE7BD1EF-7037-4737-A940-AF474091B768}"/>
              </a:ext>
            </a:extLst>
          </p:cNvPr>
          <p:cNvSpPr>
            <a:spLocks xmlns:a="http://schemas.openxmlformats.org/drawingml/2006/main" noGrp="1"/>
          </p:cNvSpPr>
          <p:nvPr/>
        </p:nvSpPr>
        <p:spPr>
          <a:xfrm xmlns:a="http://schemas.openxmlformats.org/drawingml/2006/main">
            <a:off x="571500" y="2228850"/>
            <a:ext cx="1409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a) Wat deel je door wat bij Ei? En bij Ek?</a:t>
            </a:r>
          </a:p>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Gebruik woorden, geen losse letters.</a:t>
            </a:r>
          </a:p>
        </p:txBody>
      </p:sp>
      <p:sp>
        <p:nvSpPr>
          <p:cNvPr id="6" name="b) Je verandert Y in een vraagfunctie met Px, Pz en Y.&#10;Welke">
            <a:extLst xmlns:a="http://schemas.openxmlformats.org/drawingml/2006/main">
              <a:ext uri="{FF2B5EF4-FFF2-40B4-BE49-F238E27FC236}">
                <a16:creationId xmlns:a16="http://schemas.microsoft.com/office/drawing/2014/main" id="{D31553EE-A80B-438F-B9D7-70A0FADFD7B6}"/>
              </a:ext>
            </a:extLst>
          </p:cNvPr>
          <p:cNvSpPr>
            <a:spLocks xmlns:a="http://schemas.openxmlformats.org/drawingml/2006/main" noGrp="1"/>
          </p:cNvSpPr>
          <p:nvPr/>
        </p:nvSpPr>
        <p:spPr>
          <a:xfrm xmlns:a="http://schemas.openxmlformats.org/drawingml/2006/main">
            <a:off x="571500" y="4219575"/>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 Je verandert Y in een vraagfunctie met Px, Pz en Y.</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Welke variabelen houd je gelijk?</a:t>
            </a:r>
          </a:p>
        </p:txBody>
      </p:sp>
      <p:sp>
        <p:nvSpPr>
          <p:cNvPr id="7" name="Vergelijk met je eerste poging en verbeter je uitleg.">
            <a:extLst xmlns:a="http://schemas.openxmlformats.org/drawingml/2006/main">
              <a:ext uri="{FF2B5EF4-FFF2-40B4-BE49-F238E27FC236}">
                <a16:creationId xmlns:a16="http://schemas.microsoft.com/office/drawing/2014/main" id="{C382CA54-429C-4BA7-845F-0D421DF8BA91}"/>
              </a:ext>
            </a:extLst>
          </p:cNvPr>
          <p:cNvSpPr>
            <a:spLocks xmlns:a="http://schemas.openxmlformats.org/drawingml/2006/main" noGrp="1"/>
          </p:cNvSpPr>
          <p:nvPr/>
        </p:nvSpPr>
        <p:spPr>
          <a:xfrm xmlns:a="http://schemas.openxmlformats.org/drawingml/2006/main">
            <a:off x="571500" y="667702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Vergelijk met je eerste poging en verbeter je uitleg.</a:t>
            </a:r>
          </a:p>
        </p:txBody>
      </p:sp>
    </p:spTree>
    <p:extLst>
      <p:ext uri="{BB962C8B-B14F-4D97-AF65-F5344CB8AC3E}">
        <p14:creationId xmlns:p14="http://schemas.microsoft.com/office/powerpoint/2010/main" val="38273617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4C6ECEE9-1743-4B85-8BF1-37C8F7F27E8F}"/>
              </a:ext>
            </a:extLst>
          </p:cNvPr>
          <p:cNvSpPr>
            <a:spLocks xmlns:a="http://schemas.openxmlformats.org/drawingml/2006/main" noGrp="1"/>
          </p:cNvSpPr>
          <p:nvPr/>
        </p:nvSpPr>
        <p:spPr>
          <a:xfrm xmlns:a="http://schemas.openxmlformats.org/drawingml/2006/main">
            <a:off x="571500" y="2190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§2.2.3 Inkomenselasticiteit</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en kruislingse elasticiteit</a:t>
            </a:r>
          </a:p>
        </p:txBody>
      </p:sp>
      <p:sp>
        <p:nvSpPr>
          <p:cNvPr id="2" name="phase">
            <a:extLst xmlns:a="http://schemas.openxmlformats.org/drawingml/2006/main">
              <a:ext uri="{FF2B5EF4-FFF2-40B4-BE49-F238E27FC236}">
                <a16:creationId xmlns:a16="http://schemas.microsoft.com/office/drawing/2014/main" id="{799798EA-5919-4917-8344-A8AF545B9D58}"/>
              </a:ext>
            </a:extLst>
          </p:cNvPr>
          <p:cNvSpPr>
            <a:spLocks xmlns:a="http://schemas.openxmlformats.org/drawingml/2006/main" noGrp="1"/>
          </p:cNvSpPr>
          <p:nvPr/>
        </p:nvSpPr>
        <p:spPr>
          <a:xfrm xmlns:a="http://schemas.openxmlformats.org/drawingml/2006/main">
            <a:off x="571500" y="1333500"/>
            <a:ext cx="1409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3" name="">
            <a:extLst xmlns:a="http://schemas.openxmlformats.org/drawingml/2006/main">
              <a:ext uri="{FF2B5EF4-FFF2-40B4-BE49-F238E27FC236}">
                <a16:creationId xmlns:a16="http://schemas.microsoft.com/office/drawing/2014/main" id="{767A4283-049B-4D10-91F9-5209F92FD36E}"/>
              </a:ext>
            </a:extLst>
          </p:cNvPr>
          <p:cNvSpPr>
            <a:spLocks xmlns:a="http://schemas.openxmlformats.org/drawingml/2006/main" noGrp="1"/>
          </p:cNvSpPr>
          <p:nvPr/>
        </p:nvSpPr>
        <p:spPr>
          <a:xfrm xmlns:a="http://schemas.openxmlformats.org/drawingml/2006/main">
            <a:off x="571500" y="175260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EB0A84A4-A73A-4E3F-B407-6CEFF0E823D4}"/>
              </a:ext>
            </a:extLst>
          </p:cNvPr>
          <p:cNvSpPr>
            <a:spLocks xmlns:a="http://schemas.openxmlformats.org/drawingml/2006/main" noGrp="1"/>
          </p:cNvSpPr>
          <p:nvPr/>
        </p:nvSpPr>
        <p:spPr>
          <a:xfrm xmlns:a="http://schemas.openxmlformats.org/drawingml/2006/main">
            <a:off x="571500" y="200977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F72F2AF3-BD49-4450-B041-F71EAC997FA5}"/>
              </a:ext>
            </a:extLst>
          </p:cNvPr>
          <p:cNvSpPr>
            <a:spLocks xmlns:a="http://schemas.openxmlformats.org/drawingml/2006/main" noGrp="1"/>
          </p:cNvSpPr>
          <p:nvPr/>
        </p:nvSpPr>
        <p:spPr>
          <a:xfrm xmlns:a="http://schemas.openxmlformats.org/drawingml/2006/main">
            <a:off x="571500" y="2533650"/>
            <a:ext cx="45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30D744BC-368F-4415-A341-9C58D8A4D6A5}"/>
              </a:ext>
            </a:extLst>
          </p:cNvPr>
          <p:cNvSpPr>
            <a:spLocks xmlns:a="http://schemas.openxmlformats.org/drawingml/2006/main" noGrp="1"/>
          </p:cNvSpPr>
          <p:nvPr/>
        </p:nvSpPr>
        <p:spPr>
          <a:xfrm xmlns:a="http://schemas.openxmlformats.org/drawingml/2006/main">
            <a:off x="1104900" y="2533650"/>
            <a:ext cx="74199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D58ABE4A-2E3B-45D6-B27C-BE46B179EBFB}"/>
              </a:ext>
            </a:extLst>
          </p:cNvPr>
          <p:cNvSpPr>
            <a:spLocks xmlns:a="http://schemas.openxmlformats.org/drawingml/2006/main" noGrp="1"/>
          </p:cNvSpPr>
          <p:nvPr/>
        </p:nvSpPr>
        <p:spPr>
          <a:xfrm xmlns:a="http://schemas.openxmlformats.org/drawingml/2006/main">
            <a:off x="571500" y="33432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FA539116-F0E7-4ECC-843F-14C42967DCDE}"/>
              </a:ext>
            </a:extLst>
          </p:cNvPr>
          <p:cNvSpPr>
            <a:spLocks xmlns:a="http://schemas.openxmlformats.org/drawingml/2006/main" noGrp="1"/>
          </p:cNvSpPr>
          <p:nvPr/>
        </p:nvSpPr>
        <p:spPr>
          <a:xfrm xmlns:a="http://schemas.openxmlformats.org/drawingml/2006/main">
            <a:off x="1104900" y="334327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BBBBB197-667F-4A1A-BC69-7662DCEB1C29}"/>
              </a:ext>
            </a:extLst>
          </p:cNvPr>
          <p:cNvSpPr>
            <a:spLocks xmlns:a="http://schemas.openxmlformats.org/drawingml/2006/main" noGrp="1"/>
          </p:cNvSpPr>
          <p:nvPr/>
        </p:nvSpPr>
        <p:spPr>
          <a:xfrm xmlns:a="http://schemas.openxmlformats.org/drawingml/2006/main">
            <a:off x="571500" y="38671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425D9C48-44F2-4298-8827-BAC98BA27D01}"/>
              </a:ext>
            </a:extLst>
          </p:cNvPr>
          <p:cNvSpPr>
            <a:spLocks xmlns:a="http://schemas.openxmlformats.org/drawingml/2006/main" noGrp="1"/>
          </p:cNvSpPr>
          <p:nvPr/>
        </p:nvSpPr>
        <p:spPr>
          <a:xfrm xmlns:a="http://schemas.openxmlformats.org/drawingml/2006/main">
            <a:off x="1104900" y="38671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1" name="route-number-4">
            <a:extLst xmlns:a="http://schemas.openxmlformats.org/drawingml/2006/main">
              <a:ext uri="{FF2B5EF4-FFF2-40B4-BE49-F238E27FC236}">
                <a16:creationId xmlns:a16="http://schemas.microsoft.com/office/drawing/2014/main" id="{56E38DF8-EB40-4CA7-A128-8F5BDA54EDFF}"/>
              </a:ext>
            </a:extLst>
          </p:cNvPr>
          <p:cNvSpPr>
            <a:spLocks xmlns:a="http://schemas.openxmlformats.org/drawingml/2006/main" noGrp="1"/>
          </p:cNvSpPr>
          <p:nvPr/>
        </p:nvSpPr>
        <p:spPr>
          <a:xfrm xmlns:a="http://schemas.openxmlformats.org/drawingml/2006/main">
            <a:off x="571500" y="4381500"/>
            <a:ext cx="4572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7B963318-BAEB-4DF1-926B-7B115DFFA4B4}"/>
              </a:ext>
            </a:extLst>
          </p:cNvPr>
          <p:cNvSpPr>
            <a:spLocks xmlns:a="http://schemas.openxmlformats.org/drawingml/2006/main" noGrp="1"/>
          </p:cNvSpPr>
          <p:nvPr/>
        </p:nvSpPr>
        <p:spPr>
          <a:xfrm xmlns:a="http://schemas.openxmlformats.org/drawingml/2006/main">
            <a:off x="1104900" y="4381500"/>
            <a:ext cx="74199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3" name="route-number-5">
            <a:extLst xmlns:a="http://schemas.openxmlformats.org/drawingml/2006/main">
              <a:ext uri="{FF2B5EF4-FFF2-40B4-BE49-F238E27FC236}">
                <a16:creationId xmlns:a16="http://schemas.microsoft.com/office/drawing/2014/main" id="{1541C908-4F44-477E-83E3-28464E5BAB82}"/>
              </a:ext>
            </a:extLst>
          </p:cNvPr>
          <p:cNvSpPr>
            <a:spLocks xmlns:a="http://schemas.openxmlformats.org/drawingml/2006/main" noGrp="1"/>
          </p:cNvSpPr>
          <p:nvPr/>
        </p:nvSpPr>
        <p:spPr>
          <a:xfrm xmlns:a="http://schemas.openxmlformats.org/drawingml/2006/main">
            <a:off x="571500" y="601980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A5FC7D50-D167-4365-BC5B-9D6AE85D96B5}"/>
              </a:ext>
            </a:extLst>
          </p:cNvPr>
          <p:cNvSpPr>
            <a:spLocks xmlns:a="http://schemas.openxmlformats.org/drawingml/2006/main" noGrp="1"/>
          </p:cNvSpPr>
          <p:nvPr/>
        </p:nvSpPr>
        <p:spPr>
          <a:xfrm xmlns:a="http://schemas.openxmlformats.org/drawingml/2006/main">
            <a:off x="1104900" y="6019800"/>
            <a:ext cx="7419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C911CBE1-40BD-4847-B5DB-6CBBBC77F66E}"/>
              </a:ext>
            </a:extLst>
          </p:cNvPr>
          <p:cNvSpPr>
            <a:spLocks xmlns:a="http://schemas.openxmlformats.org/drawingml/2006/main" noGrp="1"/>
          </p:cNvSpPr>
          <p:nvPr/>
        </p:nvSpPr>
        <p:spPr>
          <a:xfrm xmlns:a="http://schemas.openxmlformats.org/drawingml/2006/main">
            <a:off x="571500" y="6696075"/>
            <a:ext cx="45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2DCC7729-DF0F-480A-BFEB-9F60926BCBA5}"/>
              </a:ext>
            </a:extLst>
          </p:cNvPr>
          <p:cNvSpPr>
            <a:spLocks xmlns:a="http://schemas.openxmlformats.org/drawingml/2006/main" noGrp="1"/>
          </p:cNvSpPr>
          <p:nvPr/>
        </p:nvSpPr>
        <p:spPr>
          <a:xfrm xmlns:a="http://schemas.openxmlformats.org/drawingml/2006/main">
            <a:off x="1104900" y="6696075"/>
            <a:ext cx="7419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7" name="route-number-7">
            <a:extLst xmlns:a="http://schemas.openxmlformats.org/drawingml/2006/main">
              <a:ext uri="{FF2B5EF4-FFF2-40B4-BE49-F238E27FC236}">
                <a16:creationId xmlns:a16="http://schemas.microsoft.com/office/drawing/2014/main" id="{8955453B-8719-4224-A7A7-C330617EAE25}"/>
              </a:ext>
            </a:extLst>
          </p:cNvPr>
          <p:cNvSpPr>
            <a:spLocks xmlns:a="http://schemas.openxmlformats.org/drawingml/2006/main" noGrp="1"/>
          </p:cNvSpPr>
          <p:nvPr/>
        </p:nvSpPr>
        <p:spPr>
          <a:xfrm xmlns:a="http://schemas.openxmlformats.org/drawingml/2006/main">
            <a:off x="571500" y="7353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8C023F42-3C94-48B7-AA5A-D8B4B8F8D288}"/>
              </a:ext>
            </a:extLst>
          </p:cNvPr>
          <p:cNvSpPr>
            <a:spLocks xmlns:a="http://schemas.openxmlformats.org/drawingml/2006/main" noGrp="1"/>
          </p:cNvSpPr>
          <p:nvPr/>
        </p:nvSpPr>
        <p:spPr>
          <a:xfrm xmlns:a="http://schemas.openxmlformats.org/drawingml/2006/main">
            <a:off x="1104900" y="73533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E8C7A309-4DD4-4570-90F1-807319DBE612}"/>
              </a:ext>
            </a:extLst>
          </p:cNvPr>
          <p:cNvSpPr>
            <a:spLocks xmlns:a="http://schemas.openxmlformats.org/drawingml/2006/main" noGrp="1"/>
          </p:cNvSpPr>
          <p:nvPr/>
        </p:nvSpPr>
        <p:spPr>
          <a:xfrm xmlns:a="http://schemas.openxmlformats.org/drawingml/2006/main">
            <a:off x="9258300" y="20097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6B981904-5215-4C4D-971A-1EFD46A86674}"/>
              </a:ext>
            </a:extLst>
          </p:cNvPr>
          <p:cNvSpPr>
            <a:spLocks xmlns:a="http://schemas.openxmlformats.org/drawingml/2006/main" noGrp="1"/>
          </p:cNvSpPr>
          <p:nvPr/>
        </p:nvSpPr>
        <p:spPr>
          <a:xfrm xmlns:a="http://schemas.openxmlformats.org/drawingml/2006/main">
            <a:off x="9258300" y="2533650"/>
            <a:ext cx="5410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Ei en Ek berekenen en indelen.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Beide goederen benoemen.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Vraagfuncties onderzoeken.</a:t>
            </a:r>
          </a:p>
        </p:txBody>
      </p:sp>
      <p:sp>
        <p:nvSpPr>
          <p:cNvPr id="21" name="">
            <a:extLst xmlns:a="http://schemas.openxmlformats.org/drawingml/2006/main">
              <a:ext uri="{FF2B5EF4-FFF2-40B4-BE49-F238E27FC236}">
                <a16:creationId xmlns:a16="http://schemas.microsoft.com/office/drawing/2014/main" id="{B4160A98-2415-4016-A95F-511242ADE737}"/>
              </a:ext>
            </a:extLst>
          </p:cNvPr>
          <p:cNvSpPr>
            <a:spLocks xmlns:a="http://schemas.openxmlformats.org/drawingml/2006/main" noGrp="1"/>
          </p:cNvSpPr>
          <p:nvPr/>
        </p:nvSpPr>
        <p:spPr>
          <a:xfrm xmlns:a="http://schemas.openxmlformats.org/drawingml/2006/main">
            <a:off x="9258300" y="3609975"/>
            <a:ext cx="5410200" cy="0"/>
          </a:xfrm>
          <a:prstGeom xmlns:a="http://schemas.openxmlformats.org/drawingml/2006/main" prst="line">
            <a:avLst/>
          </a:prstGeom>
          <a:ln xmlns:a="http://schemas.openxmlformats.org/drawingml/2006/main" w="19050">
            <a:solidFill>
              <a:srgbClr val="C6D2DB"/>
            </a:solidFill>
          </a:ln>
        </p:spPr>
      </p:sp>
      <p:sp>
        <p:nvSpPr>
          <p:cNvPr id="22" name="Startopdracht · pagina 60">
            <a:extLst xmlns:a="http://schemas.openxmlformats.org/drawingml/2006/main">
              <a:ext uri="{FF2B5EF4-FFF2-40B4-BE49-F238E27FC236}">
                <a16:creationId xmlns:a16="http://schemas.microsoft.com/office/drawing/2014/main" id="{D846C81E-16EF-4B0B-A45D-DE45F6313BEB}"/>
              </a:ext>
            </a:extLst>
          </p:cNvPr>
          <p:cNvSpPr>
            <a:spLocks xmlns:a="http://schemas.openxmlformats.org/drawingml/2006/main" noGrp="1"/>
          </p:cNvSpPr>
          <p:nvPr/>
        </p:nvSpPr>
        <p:spPr>
          <a:xfrm xmlns:a="http://schemas.openxmlformats.org/drawingml/2006/main">
            <a:off x="9258300" y="3781425"/>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Startopdracht · pagina 60</a:t>
            </a:r>
          </a:p>
        </p:txBody>
      </p:sp>
      <p:sp>
        <p:nvSpPr>
          <p:cNvPr id="23" name="overview-start">
            <a:extLst xmlns:a="http://schemas.openxmlformats.org/drawingml/2006/main">
              <a:ext uri="{FF2B5EF4-FFF2-40B4-BE49-F238E27FC236}">
                <a16:creationId xmlns:a16="http://schemas.microsoft.com/office/drawing/2014/main" id="{786DAD7C-32F8-4F93-859B-830ED44EEA45}"/>
              </a:ext>
            </a:extLst>
          </p:cNvPr>
          <p:cNvSpPr>
            <a:spLocks xmlns:a="http://schemas.openxmlformats.org/drawingml/2006/main" noGrp="1"/>
          </p:cNvSpPr>
          <p:nvPr/>
        </p:nvSpPr>
        <p:spPr>
          <a:xfrm xmlns:a="http://schemas.openxmlformats.org/drawingml/2006/main">
            <a:off x="9258300" y="4295775"/>
            <a:ext cx="5410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Opgave 1: ophalen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Opgave 2: verkennen met</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de theorie, p. 54–57</a:t>
            </a:r>
          </a:p>
        </p:txBody>
      </p:sp>
      <p:sp>
        <p:nvSpPr>
          <p:cNvPr id="24" name="">
            <a:extLst xmlns:a="http://schemas.openxmlformats.org/drawingml/2006/main">
              <a:ext uri="{FF2B5EF4-FFF2-40B4-BE49-F238E27FC236}">
                <a16:creationId xmlns:a16="http://schemas.microsoft.com/office/drawing/2014/main" id="{8469ED1B-9988-4CE4-B763-308F57D3017A}"/>
              </a:ext>
            </a:extLst>
          </p:cNvPr>
          <p:cNvSpPr>
            <a:spLocks xmlns:a="http://schemas.openxmlformats.org/drawingml/2006/main" noGrp="1"/>
          </p:cNvSpPr>
          <p:nvPr/>
        </p:nvSpPr>
        <p:spPr>
          <a:xfrm xmlns:a="http://schemas.openxmlformats.org/drawingml/2006/main">
            <a:off x="9258300" y="5553075"/>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7EB481B9-3432-46DE-AE93-7AB11E9CB0A8}"/>
              </a:ext>
            </a:extLst>
          </p:cNvPr>
          <p:cNvSpPr>
            <a:spLocks xmlns:a="http://schemas.openxmlformats.org/drawingml/2006/main" noGrp="1"/>
          </p:cNvSpPr>
          <p:nvPr/>
        </p:nvSpPr>
        <p:spPr>
          <a:xfrm xmlns:a="http://schemas.openxmlformats.org/drawingml/2006/main">
            <a:off x="9258300" y="5762625"/>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2371F2CB-A088-46E0-AD13-28919DC54E91}"/>
              </a:ext>
            </a:extLst>
          </p:cNvPr>
          <p:cNvSpPr>
            <a:spLocks xmlns:a="http://schemas.openxmlformats.org/drawingml/2006/main" noGrp="1"/>
          </p:cNvSpPr>
          <p:nvPr/>
        </p:nvSpPr>
        <p:spPr>
          <a:xfrm xmlns:a="http://schemas.openxmlformats.org/drawingml/2006/main">
            <a:off x="9258300" y="6343650"/>
            <a:ext cx="54102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§2.2.3 · Opgaven 3 t/m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 · Doel: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
        <p:nvSpPr>
          <p:cNvPr id="27" name="footer">
            <a:extLst xmlns:a="http://schemas.openxmlformats.org/drawingml/2006/main">
              <a:ext uri="{FF2B5EF4-FFF2-40B4-BE49-F238E27FC236}">
                <a16:creationId xmlns:a16="http://schemas.microsoft.com/office/drawing/2014/main" id="{AAB79C4D-FA73-4BB6-8D13-EACB3676C983}"/>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28" name="slide-number">
            <a:extLst xmlns:a="http://schemas.openxmlformats.org/drawingml/2006/main">
              <a:ext uri="{FF2B5EF4-FFF2-40B4-BE49-F238E27FC236}">
                <a16:creationId xmlns:a16="http://schemas.microsoft.com/office/drawing/2014/main" id="{A5069B81-553A-4E87-9209-DB316E17BA15}"/>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Tree>
    <p:extLst>
      <p:ext uri="{BB962C8B-B14F-4D97-AF65-F5344CB8AC3E}">
        <p14:creationId xmlns:p14="http://schemas.microsoft.com/office/powerpoint/2010/main" val="34614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 · Inkomen, koffie en fitness">
            <a:extLst xmlns:a="http://schemas.openxmlformats.org/drawingml/2006/main">
              <a:ext uri="{FF2B5EF4-FFF2-40B4-BE49-F238E27FC236}">
                <a16:creationId xmlns:a16="http://schemas.microsoft.com/office/drawing/2014/main" id="{1C7E070C-EF8E-407E-95E6-2016436533AD}"/>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 · Inkomen, koffie en fitness</a:t>
            </a:r>
          </a:p>
        </p:txBody>
      </p:sp>
      <p:sp>
        <p:nvSpPr>
          <p:cNvPr id="2" name="">
            <a:extLst xmlns:a="http://schemas.openxmlformats.org/drawingml/2006/main">
              <a:ext uri="{FF2B5EF4-FFF2-40B4-BE49-F238E27FC236}">
                <a16:creationId xmlns:a16="http://schemas.microsoft.com/office/drawing/2014/main" id="{F9F2F2D1-D991-49F8-80E7-1D19231A0590}"/>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125B8D9-FAC8-49D3-8962-603E721CFACE}"/>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Doeloefening 8 · Boekpagina 63</a:t>
            </a:r>
          </a:p>
        </p:txBody>
      </p:sp>
      <p:sp>
        <p:nvSpPr>
          <p:cNvPr id="4" name="slide-number">
            <a:extLst xmlns:a="http://schemas.openxmlformats.org/drawingml/2006/main">
              <a:ext uri="{FF2B5EF4-FFF2-40B4-BE49-F238E27FC236}">
                <a16:creationId xmlns:a16="http://schemas.microsoft.com/office/drawing/2014/main" id="{86A5D2A7-9B4E-4C4C-9689-736145E3658C}"/>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Gebruik steeds de oude waarde als noemer.">
            <a:extLst xmlns:a="http://schemas.openxmlformats.org/drawingml/2006/main">
              <a:ext uri="{FF2B5EF4-FFF2-40B4-BE49-F238E27FC236}">
                <a16:creationId xmlns:a16="http://schemas.microsoft.com/office/drawing/2014/main" id="{B6E0911A-9422-4024-AFC8-8D5D39FFB871}"/>
              </a:ext>
            </a:extLst>
          </p:cNvPr>
          <p:cNvSpPr>
            <a:spLocks xmlns:a="http://schemas.openxmlformats.org/drawingml/2006/main" noGrp="1"/>
          </p:cNvSpPr>
          <p:nvPr/>
        </p:nvSpPr>
        <p:spPr>
          <a:xfrm xmlns:a="http://schemas.openxmlformats.org/drawingml/2006/main">
            <a:off x="571500" y="21145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Gebruik steeds de oude waarde als noemer.</a:t>
            </a:r>
          </a:p>
        </p:txBody>
      </p:sp>
      <p:sp>
        <p:nvSpPr>
          <p:cNvPr id="6" name="Ei = %ΔQv / %ΔY">
            <a:extLst xmlns:a="http://schemas.openxmlformats.org/drawingml/2006/main">
              <a:ext uri="{FF2B5EF4-FFF2-40B4-BE49-F238E27FC236}">
                <a16:creationId xmlns:a16="http://schemas.microsoft.com/office/drawing/2014/main" id="{9800E2E1-9B81-4FC0-A274-59BE3FBFAD16}"/>
              </a:ext>
            </a:extLst>
          </p:cNvPr>
          <p:cNvSpPr>
            <a:spLocks xmlns:a="http://schemas.openxmlformats.org/drawingml/2006/main" noGrp="1"/>
          </p:cNvSpPr>
          <p:nvPr/>
        </p:nvSpPr>
        <p:spPr>
          <a:xfrm xmlns:a="http://schemas.openxmlformats.org/drawingml/2006/main">
            <a:off x="571500" y="33147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Ei = %ΔQv / %ΔY</a:t>
            </a:r>
          </a:p>
        </p:txBody>
      </p:sp>
      <p:sp>
        <p:nvSpPr>
          <p:cNvPr id="7" name="Ei &lt; 0: inferieur goed · 0 &lt; Ei &lt; 1: normaal goed&#10;Ei &gt; 1: lu">
            <a:extLst xmlns:a="http://schemas.openxmlformats.org/drawingml/2006/main">
              <a:ext uri="{FF2B5EF4-FFF2-40B4-BE49-F238E27FC236}">
                <a16:creationId xmlns:a16="http://schemas.microsoft.com/office/drawing/2014/main" id="{816CD957-9B03-4D87-B53D-40C5CF1E14D0}"/>
              </a:ext>
            </a:extLst>
          </p:cNvPr>
          <p:cNvSpPr>
            <a:spLocks xmlns:a="http://schemas.openxmlformats.org/drawingml/2006/main" noGrp="1"/>
          </p:cNvSpPr>
          <p:nvPr/>
        </p:nvSpPr>
        <p:spPr>
          <a:xfrm xmlns:a="http://schemas.openxmlformats.org/drawingml/2006/main">
            <a:off x="571500" y="4286250"/>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Ei &lt; 0: inferieur goed · 0 &lt; Ei &lt; 1: normaal goed</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Ei &gt; 1: luxegoed · Ei = 0 en Ei = 1: grenswaarden</a:t>
            </a:r>
          </a:p>
        </p:txBody>
      </p:sp>
      <p:sp>
        <p:nvSpPr>
          <p:cNvPr id="8" name="Ek = %ΔQv van goed X / %ΔP van ander goed Z">
            <a:extLst xmlns:a="http://schemas.openxmlformats.org/drawingml/2006/main">
              <a:ext uri="{FF2B5EF4-FFF2-40B4-BE49-F238E27FC236}">
                <a16:creationId xmlns:a16="http://schemas.microsoft.com/office/drawing/2014/main" id="{74CE2920-C53F-49FD-BCF1-399A7E41597D}"/>
              </a:ext>
            </a:extLst>
          </p:cNvPr>
          <p:cNvSpPr>
            <a:spLocks xmlns:a="http://schemas.openxmlformats.org/drawingml/2006/main" noGrp="1"/>
          </p:cNvSpPr>
          <p:nvPr/>
        </p:nvSpPr>
        <p:spPr>
          <a:xfrm xmlns:a="http://schemas.openxmlformats.org/drawingml/2006/main">
            <a:off x="571500" y="60102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Ek = %ΔQv van goed X / %ΔP van ander goed Z</a:t>
            </a:r>
          </a:p>
        </p:txBody>
      </p:sp>
      <p:sp>
        <p:nvSpPr>
          <p:cNvPr id="9" name="Noem bij Ek altijd beide goederen.">
            <a:extLst xmlns:a="http://schemas.openxmlformats.org/drawingml/2006/main">
              <a:ext uri="{FF2B5EF4-FFF2-40B4-BE49-F238E27FC236}">
                <a16:creationId xmlns:a16="http://schemas.microsoft.com/office/drawing/2014/main" id="{89AAC287-1C10-43FF-9998-8C78814AF7F0}"/>
              </a:ext>
            </a:extLst>
          </p:cNvPr>
          <p:cNvSpPr>
            <a:spLocks xmlns:a="http://schemas.openxmlformats.org/drawingml/2006/main" noGrp="1"/>
          </p:cNvSpPr>
          <p:nvPr/>
        </p:nvSpPr>
        <p:spPr>
          <a:xfrm xmlns:a="http://schemas.openxmlformats.org/drawingml/2006/main">
            <a:off x="571500" y="715327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Noem bij Ek altijd beide goederen.</a:t>
            </a:r>
          </a:p>
        </p:txBody>
      </p:sp>
    </p:spTree>
    <p:extLst>
      <p:ext uri="{BB962C8B-B14F-4D97-AF65-F5344CB8AC3E}">
        <p14:creationId xmlns:p14="http://schemas.microsoft.com/office/powerpoint/2010/main" val="202507320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 · Bron inkomen en vragen a–b">
            <a:extLst xmlns:a="http://schemas.openxmlformats.org/drawingml/2006/main">
              <a:ext uri="{FF2B5EF4-FFF2-40B4-BE49-F238E27FC236}">
                <a16:creationId xmlns:a16="http://schemas.microsoft.com/office/drawing/2014/main" id="{5398C642-4D86-498D-A093-FD19C5BBA92F}"/>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 · Bron inkomen en vragen a–b</a:t>
            </a:r>
          </a:p>
        </p:txBody>
      </p:sp>
      <p:sp>
        <p:nvSpPr>
          <p:cNvPr id="2" name="">
            <a:extLst xmlns:a="http://schemas.openxmlformats.org/drawingml/2006/main">
              <a:ext uri="{FF2B5EF4-FFF2-40B4-BE49-F238E27FC236}">
                <a16:creationId xmlns:a16="http://schemas.microsoft.com/office/drawing/2014/main" id="{5D9D68D3-8A18-42DB-BF6D-9750814CD1F6}"/>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A094311-BACF-4E92-9BEB-4544C8D72F56}"/>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Doeloefening 8 · Boekpagina 63</a:t>
            </a:r>
          </a:p>
        </p:txBody>
      </p:sp>
      <p:sp>
        <p:nvSpPr>
          <p:cNvPr id="4" name="slide-number">
            <a:extLst xmlns:a="http://schemas.openxmlformats.org/drawingml/2006/main">
              <a:ext uri="{FF2B5EF4-FFF2-40B4-BE49-F238E27FC236}">
                <a16:creationId xmlns:a16="http://schemas.microsoft.com/office/drawing/2014/main" id="{D07D001D-1214-4B51-95BA-72A56CB95A7A}"/>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Het gemiddelde inkomen stijgt 5%. De vraag naar maaltijdpakk">
            <a:extLst xmlns:a="http://schemas.openxmlformats.org/drawingml/2006/main">
              <a:ext uri="{FF2B5EF4-FFF2-40B4-BE49-F238E27FC236}">
                <a16:creationId xmlns:a16="http://schemas.microsoft.com/office/drawing/2014/main" id="{FA373764-9C1E-4901-8AE0-7AF53EFC0194}"/>
              </a:ext>
            </a:extLst>
          </p:cNvPr>
          <p:cNvSpPr>
            <a:spLocks xmlns:a="http://schemas.openxmlformats.org/drawingml/2006/main" noGrp="1"/>
          </p:cNvSpPr>
          <p:nvPr/>
        </p:nvSpPr>
        <p:spPr>
          <a:xfrm xmlns:a="http://schemas.openxmlformats.org/drawingml/2006/main">
            <a:off x="571500" y="2047875"/>
            <a:ext cx="140970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Het gemiddelde inkomen stijgt 5%. De vraag naar maaltijdpakketten stijgt 8%; de vraag naar budgetnoedels daalt 3%.</a:t>
            </a:r>
          </a:p>
        </p:txBody>
      </p:sp>
      <p:sp>
        <p:nvSpPr>
          <p:cNvPr id="6" name="">
            <a:extLst xmlns:a="http://schemas.openxmlformats.org/drawingml/2006/main">
              <a:ext uri="{FF2B5EF4-FFF2-40B4-BE49-F238E27FC236}">
                <a16:creationId xmlns:a16="http://schemas.microsoft.com/office/drawing/2014/main" id="{746E59A9-8DED-41C6-AEF1-59E13CACF082}"/>
              </a:ext>
            </a:extLst>
          </p:cNvPr>
          <p:cNvSpPr>
            <a:spLocks xmlns:a="http://schemas.openxmlformats.org/drawingml/2006/main" noGrp="1"/>
          </p:cNvSpPr>
          <p:nvPr/>
        </p:nvSpPr>
        <p:spPr>
          <a:xfrm xmlns:a="http://schemas.openxmlformats.org/drawingml/2006/main">
            <a:off x="571500" y="4029075"/>
            <a:ext cx="14097000" cy="0"/>
          </a:xfrm>
          <a:prstGeom xmlns:a="http://schemas.openxmlformats.org/drawingml/2006/main" prst="line">
            <a:avLst/>
          </a:prstGeom>
          <a:ln xmlns:a="http://schemas.openxmlformats.org/drawingml/2006/main" w="19050">
            <a:solidFill>
              <a:srgbClr val="C6D2DB"/>
            </a:solidFill>
          </a:ln>
        </p:spPr>
      </p:sp>
      <p:sp>
        <p:nvSpPr>
          <p:cNvPr id="7" name="a) Bereken met bron inkomen Ei voor maaltijdpakketten en bud">
            <a:extLst xmlns:a="http://schemas.openxmlformats.org/drawingml/2006/main">
              <a:ext uri="{FF2B5EF4-FFF2-40B4-BE49-F238E27FC236}">
                <a16:creationId xmlns:a16="http://schemas.microsoft.com/office/drawing/2014/main" id="{EDB8DBE7-A9A0-4BAD-BF7F-BCF1177F78BB}"/>
              </a:ext>
            </a:extLst>
          </p:cNvPr>
          <p:cNvSpPr>
            <a:spLocks xmlns:a="http://schemas.openxmlformats.org/drawingml/2006/main" noGrp="1"/>
          </p:cNvSpPr>
          <p:nvPr/>
        </p:nvSpPr>
        <p:spPr>
          <a:xfrm xmlns:a="http://schemas.openxmlformats.org/drawingml/2006/main">
            <a:off x="571500" y="4505325"/>
            <a:ext cx="1409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a) Bereken met bron inkomen Ei voor maaltijdpakketten en budgetnoedels. (3 punten)</a:t>
            </a:r>
          </a:p>
        </p:txBody>
      </p:sp>
      <p:sp>
        <p:nvSpPr>
          <p:cNvPr id="8" name="b) Classificeer beide goederen met de drie categorieën uit d">
            <a:extLst xmlns:a="http://schemas.openxmlformats.org/drawingml/2006/main">
              <a:ext uri="{FF2B5EF4-FFF2-40B4-BE49-F238E27FC236}">
                <a16:creationId xmlns:a16="http://schemas.microsoft.com/office/drawing/2014/main" id="{1FF492F0-5438-4E8A-BF26-CED5986E93F7}"/>
              </a:ext>
            </a:extLst>
          </p:cNvPr>
          <p:cNvSpPr>
            <a:spLocks xmlns:a="http://schemas.openxmlformats.org/drawingml/2006/main" noGrp="1"/>
          </p:cNvSpPr>
          <p:nvPr/>
        </p:nvSpPr>
        <p:spPr>
          <a:xfrm xmlns:a="http://schemas.openxmlformats.org/drawingml/2006/main">
            <a:off x="571500" y="6381750"/>
            <a:ext cx="14097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 Classificeer beide goederen met de drie categorieën uit de context. (2 punten)</a:t>
            </a:r>
          </a:p>
        </p:txBody>
      </p:sp>
    </p:spTree>
    <p:extLst>
      <p:ext uri="{BB962C8B-B14F-4D97-AF65-F5344CB8AC3E}">
        <p14:creationId xmlns:p14="http://schemas.microsoft.com/office/powerpoint/2010/main" val="17995474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 · Bron koffie en vraag c">
            <a:extLst xmlns:a="http://schemas.openxmlformats.org/drawingml/2006/main">
              <a:ext uri="{FF2B5EF4-FFF2-40B4-BE49-F238E27FC236}">
                <a16:creationId xmlns:a16="http://schemas.microsoft.com/office/drawing/2014/main" id="{87684D66-A286-4FDF-9F47-60EEC4FC24AC}"/>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 · Bron koffie en vraag c</a:t>
            </a:r>
          </a:p>
        </p:txBody>
      </p:sp>
      <p:sp>
        <p:nvSpPr>
          <p:cNvPr id="2" name="">
            <a:extLst xmlns:a="http://schemas.openxmlformats.org/drawingml/2006/main">
              <a:ext uri="{FF2B5EF4-FFF2-40B4-BE49-F238E27FC236}">
                <a16:creationId xmlns:a16="http://schemas.microsoft.com/office/drawing/2014/main" id="{9A2A037C-24AA-434A-A158-38DEA8A996A9}"/>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6391D3E-329F-4751-A498-E71C2CAE45B9}"/>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Doeloefening 8 · Boekpagina 63</a:t>
            </a:r>
          </a:p>
        </p:txBody>
      </p:sp>
      <p:sp>
        <p:nvSpPr>
          <p:cNvPr id="4" name="slide-number">
            <a:extLst xmlns:a="http://schemas.openxmlformats.org/drawingml/2006/main">
              <a:ext uri="{FF2B5EF4-FFF2-40B4-BE49-F238E27FC236}">
                <a16:creationId xmlns:a16="http://schemas.microsoft.com/office/drawing/2014/main" id="{DB8C1752-BC11-4D86-B8CD-78F62A947508}"/>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De koffieprijs stijgt 10%. De vraag naar thee stijgt 4%; de ">
            <a:extLst xmlns:a="http://schemas.openxmlformats.org/drawingml/2006/main">
              <a:ext uri="{FF2B5EF4-FFF2-40B4-BE49-F238E27FC236}">
                <a16:creationId xmlns:a16="http://schemas.microsoft.com/office/drawing/2014/main" id="{3BEF8AEA-C9F8-4433-93FD-CC453C8F208C}"/>
              </a:ext>
            </a:extLst>
          </p:cNvPr>
          <p:cNvSpPr>
            <a:spLocks xmlns:a="http://schemas.openxmlformats.org/drawingml/2006/main" noGrp="1"/>
          </p:cNvSpPr>
          <p:nvPr/>
        </p:nvSpPr>
        <p:spPr>
          <a:xfrm xmlns:a="http://schemas.openxmlformats.org/drawingml/2006/main">
            <a:off x="571500" y="2114550"/>
            <a:ext cx="1409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De koffieprijs stijgt 10%. De vraag naar thee stijgt 4%; de vraag naar koffiefilters daalt 6%.</a:t>
            </a:r>
          </a:p>
        </p:txBody>
      </p:sp>
      <p:sp>
        <p:nvSpPr>
          <p:cNvPr id="6" name="">
            <a:extLst xmlns:a="http://schemas.openxmlformats.org/drawingml/2006/main">
              <a:ext uri="{FF2B5EF4-FFF2-40B4-BE49-F238E27FC236}">
                <a16:creationId xmlns:a16="http://schemas.microsoft.com/office/drawing/2014/main" id="{BF784C3D-042E-4CD3-A070-9214462CDAA5}"/>
              </a:ext>
            </a:extLst>
          </p:cNvPr>
          <p:cNvSpPr>
            <a:spLocks xmlns:a="http://schemas.openxmlformats.org/drawingml/2006/main" noGrp="1"/>
          </p:cNvSpPr>
          <p:nvPr/>
        </p:nvSpPr>
        <p:spPr>
          <a:xfrm xmlns:a="http://schemas.openxmlformats.org/drawingml/2006/main">
            <a:off x="571500" y="4019550"/>
            <a:ext cx="14097000" cy="0"/>
          </a:xfrm>
          <a:prstGeom xmlns:a="http://schemas.openxmlformats.org/drawingml/2006/main" prst="line">
            <a:avLst/>
          </a:prstGeom>
          <a:ln xmlns:a="http://schemas.openxmlformats.org/drawingml/2006/main" w="19050">
            <a:solidFill>
              <a:srgbClr val="C6D2DB"/>
            </a:solidFill>
          </a:ln>
        </p:spPr>
      </p:sp>
      <p:sp>
        <p:nvSpPr>
          <p:cNvPr id="7" name="c) Bereken met bron koffie Ek voor de vraag naar thee ten op">
            <a:extLst xmlns:a="http://schemas.openxmlformats.org/drawingml/2006/main">
              <a:ext uri="{FF2B5EF4-FFF2-40B4-BE49-F238E27FC236}">
                <a16:creationId xmlns:a16="http://schemas.microsoft.com/office/drawing/2014/main" id="{24419836-B8B9-4F90-A449-608050CF1294}"/>
              </a:ext>
            </a:extLst>
          </p:cNvPr>
          <p:cNvSpPr>
            <a:spLocks xmlns:a="http://schemas.openxmlformats.org/drawingml/2006/main" noGrp="1"/>
          </p:cNvSpPr>
          <p:nvPr/>
        </p:nvSpPr>
        <p:spPr>
          <a:xfrm xmlns:a="http://schemas.openxmlformats.org/drawingml/2006/main">
            <a:off x="571500" y="4533900"/>
            <a:ext cx="140970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c) Bereken met bron koffie Ek voor de vraag naar thee ten opzichte van de koffieprijs en voor de vraag naar koffiefilters ten opzichte van de koffieprijs.</a:t>
            </a:r>
          </a:p>
        </p:txBody>
      </p:sp>
      <p:sp>
        <p:nvSpPr>
          <p:cNvPr id="8" name="Noem teller- en noemergoed en classificeer de relaties. (4 p">
            <a:extLst xmlns:a="http://schemas.openxmlformats.org/drawingml/2006/main">
              <a:ext uri="{FF2B5EF4-FFF2-40B4-BE49-F238E27FC236}">
                <a16:creationId xmlns:a16="http://schemas.microsoft.com/office/drawing/2014/main" id="{8D3450BF-4FDF-4A89-8BFD-B8645A23C23A}"/>
              </a:ext>
            </a:extLst>
          </p:cNvPr>
          <p:cNvSpPr>
            <a:spLocks xmlns:a="http://schemas.openxmlformats.org/drawingml/2006/main" noGrp="1"/>
          </p:cNvSpPr>
          <p:nvPr/>
        </p:nvSpPr>
        <p:spPr>
          <a:xfrm xmlns:a="http://schemas.openxmlformats.org/drawingml/2006/main">
            <a:off x="571500" y="667702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Noem teller- en noemergoed en classificeer de relaties. (4 punten)</a:t>
            </a:r>
          </a:p>
        </p:txBody>
      </p:sp>
    </p:spTree>
    <p:extLst>
      <p:ext uri="{BB962C8B-B14F-4D97-AF65-F5344CB8AC3E}">
        <p14:creationId xmlns:p14="http://schemas.microsoft.com/office/powerpoint/2010/main" val="21078100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8 · Bron functie">
            <a:extLst xmlns:a="http://schemas.openxmlformats.org/drawingml/2006/main">
              <a:ext uri="{FF2B5EF4-FFF2-40B4-BE49-F238E27FC236}">
                <a16:creationId xmlns:a16="http://schemas.microsoft.com/office/drawing/2014/main" id="{3A9447AA-DFFE-47DD-AE42-A2CBBEDAEE10}"/>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 · Bron functie</a:t>
            </a:r>
          </a:p>
        </p:txBody>
      </p:sp>
      <p:sp>
        <p:nvSpPr>
          <p:cNvPr id="2" name="">
            <a:extLst xmlns:a="http://schemas.openxmlformats.org/drawingml/2006/main">
              <a:ext uri="{FF2B5EF4-FFF2-40B4-BE49-F238E27FC236}">
                <a16:creationId xmlns:a16="http://schemas.microsoft.com/office/drawing/2014/main" id="{53A83A2C-060F-484D-B24B-89C0B174578C}"/>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FDBAC856-F322-4ECB-B2DF-E28C01001002}"/>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Doeloefening 8 · Boekpagina 63</a:t>
            </a:r>
          </a:p>
        </p:txBody>
      </p:sp>
      <p:sp>
        <p:nvSpPr>
          <p:cNvPr id="4" name="slide-number">
            <a:extLst xmlns:a="http://schemas.openxmlformats.org/drawingml/2006/main">
              <a:ext uri="{FF2B5EF4-FFF2-40B4-BE49-F238E27FC236}">
                <a16:creationId xmlns:a16="http://schemas.microsoft.com/office/drawing/2014/main" id="{569970A2-E91A-4374-88D9-890305AFBED2}"/>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Fitnessdienst X: Qx = 100 − 2Px + 0,5Pz + 0,01Y">
            <a:extLst xmlns:a="http://schemas.openxmlformats.org/drawingml/2006/main">
              <a:ext uri="{FF2B5EF4-FFF2-40B4-BE49-F238E27FC236}">
                <a16:creationId xmlns:a16="http://schemas.microsoft.com/office/drawing/2014/main" id="{2F21B548-AD76-4978-A3EB-F26F8DD878C0}"/>
              </a:ext>
            </a:extLst>
          </p:cNvPr>
          <p:cNvSpPr>
            <a:spLocks xmlns:a="http://schemas.openxmlformats.org/drawingml/2006/main" noGrp="1"/>
          </p:cNvSpPr>
          <p:nvPr/>
        </p:nvSpPr>
        <p:spPr>
          <a:xfrm xmlns:a="http://schemas.openxmlformats.org/drawingml/2006/main">
            <a:off x="571500" y="21336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Fitnessdienst X: Qx = 100 − 2Px + 0,5Pz + 0,01Y</a:t>
            </a:r>
          </a:p>
        </p:txBody>
      </p:sp>
      <p:graphicFrame>
        <p:nvGraphicFramePr>
          <p:cNvPr id="12" name=""/>
          <p:cNvGraphicFramePr/>
          <p:nvPr/>
        </p:nvGraphicFramePr>
        <p:xfrm>
          <a:off xmlns:a="http://schemas.openxmlformats.org/drawingml/2006/main" x="571500" y="3371850"/>
          <a:ext xmlns:a="http://schemas.openxmlformats.org/drawingml/2006/main" cx="14097000" cy="3810000"/>
        </p:xfrm>
        <a:graphic xmlns:a="http://schemas.openxmlformats.org/drawingml/2006/main">
          <a:graphicData uri="http://schemas.openxmlformats.org/drawingml/2006/table">
            <a:tbl>
              <a:tblPr/>
              <a:tblGrid>
                <a:gridCol w="2190750"/>
                <a:gridCol w="8953500"/>
                <a:gridCol w="2952750"/>
              </a:tblGrid>
              <a:tr h="762000">
                <a:tc>
                  <a:txBody>
                    <a:bodyPr lIns="171450" tIns="95250" rIns="152400" bIns="95250"/>
                    <a:lstStyle/>
                    <a:p>
                      <a:r>
                        <a:rPr sz="2325"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Betekenis en eenheid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Begin</a:t>
                      </a:r>
                    </a:p>
                  </a:txBody>
                  <a:tcPr marL="91440" marR="91440" marT="45720" marB="45720" anchor="ctr">
                    <a:solidFill>
                      <a:srgbClr val="183247"/>
                    </a:solidFill>
                  </a:tcPr>
                </a:tc>
              </a:tr>
              <a:tr h="762000">
                <a:tc>
                  <a:txBody>
                    <a:bodyPr lIns="171450" tIns="95250" rIns="152400" bIns="95250"/>
                    <a:lstStyle/>
                    <a:p>
                      <a:r>
                        <a:rPr sz="2325" b="0">
                          <a:solidFill>
                            <a:srgbClr val="183247"/>
                          </a:solidFill>
                          <a:latin typeface="Arial"/>
                          <a:ea typeface="Arial"/>
                          <a:cs typeface="Arial"/>
                        </a:rPr>
                        <a:t>Qx</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Gevraagde abonnementen per maand</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Te berekenen</a:t>
                      </a:r>
                    </a:p>
                  </a:txBody>
                  <a:tcPr marL="91440" marR="91440" marT="45720" marB="45720" anchor="ctr">
                    <a:solidFill>
                      <a:srgbClr val="FFFFFF"/>
                    </a:solidFill>
                  </a:tcPr>
                </a:tc>
              </a:tr>
              <a:tr h="762000">
                <a:tc>
                  <a:txBody>
                    <a:bodyPr lIns="171450" tIns="95250" rIns="152400" bIns="95250"/>
                    <a:lstStyle/>
                    <a:p>
                      <a:r>
                        <a:rPr sz="2325" b="0">
                          <a:solidFill>
                            <a:srgbClr val="183247"/>
                          </a:solidFill>
                          <a:latin typeface="Arial"/>
                          <a:ea typeface="Arial"/>
                          <a:cs typeface="Arial"/>
                        </a:rPr>
                        <a:t>Px</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Maandprijs fitnessdienst X in euro</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10</a:t>
                      </a:r>
                    </a:p>
                  </a:txBody>
                  <a:tcPr marL="91440" marR="91440" marT="45720" marB="45720" anchor="ctr">
                    <a:solidFill>
                      <a:srgbClr val="EFF4F7"/>
                    </a:solidFill>
                  </a:tcPr>
                </a:tc>
              </a:tr>
              <a:tr h="762000">
                <a:tc>
                  <a:txBody>
                    <a:bodyPr lIns="171450" tIns="95250" rIns="152400" bIns="95250"/>
                    <a:lstStyle/>
                    <a:p>
                      <a:r>
                        <a:rPr sz="2325" b="0">
                          <a:solidFill>
                            <a:srgbClr val="183247"/>
                          </a:solidFill>
                          <a:latin typeface="Arial"/>
                          <a:ea typeface="Arial"/>
                          <a:cs typeface="Arial"/>
                        </a:rPr>
                        <a:t>Pz</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Maandprijs concurrerende sportdienst Z in euro</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20</a:t>
                      </a:r>
                    </a:p>
                  </a:txBody>
                  <a:tcPr marL="91440" marR="91440" marT="45720" marB="45720" anchor="ctr">
                    <a:solidFill>
                      <a:srgbClr val="FFFFFF"/>
                    </a:solidFill>
                  </a:tcPr>
                </a:tc>
              </a:tr>
              <a:tr h="762000">
                <a:tc>
                  <a:txBody>
                    <a:bodyPr lIns="171450" tIns="95250" rIns="152400" bIns="95250"/>
                    <a:lstStyle/>
                    <a:p>
                      <a:r>
                        <a:rPr sz="2325" b="0">
                          <a:solidFill>
                            <a:srgbClr val="183247"/>
                          </a:solidFill>
                          <a:latin typeface="Arial"/>
                          <a:ea typeface="Arial"/>
                          <a:cs typeface="Arial"/>
                        </a:rPr>
                        <a:t>Y</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Gemiddeld jaarinkomen in euro</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30.000</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9970510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 · Vragen d–e">
            <a:extLst xmlns:a="http://schemas.openxmlformats.org/drawingml/2006/main">
              <a:ext uri="{FF2B5EF4-FFF2-40B4-BE49-F238E27FC236}">
                <a16:creationId xmlns:a16="http://schemas.microsoft.com/office/drawing/2014/main" id="{187461C3-355E-4ECF-A22E-DA42AA113286}"/>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 · Vragen d–e</a:t>
            </a:r>
          </a:p>
        </p:txBody>
      </p:sp>
      <p:sp>
        <p:nvSpPr>
          <p:cNvPr id="2" name="">
            <a:extLst xmlns:a="http://schemas.openxmlformats.org/drawingml/2006/main">
              <a:ext uri="{FF2B5EF4-FFF2-40B4-BE49-F238E27FC236}">
                <a16:creationId xmlns:a16="http://schemas.microsoft.com/office/drawing/2014/main" id="{57A4C677-E47C-4267-B328-53C6D07ECB19}"/>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26FC2AD-CAC6-4720-BC1D-ED80A4014BC5}"/>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Doeloefening 8 · Boekpagina 63</a:t>
            </a:r>
          </a:p>
        </p:txBody>
      </p:sp>
      <p:sp>
        <p:nvSpPr>
          <p:cNvPr id="4" name="slide-number">
            <a:extLst xmlns:a="http://schemas.openxmlformats.org/drawingml/2006/main">
              <a:ext uri="{FF2B5EF4-FFF2-40B4-BE49-F238E27FC236}">
                <a16:creationId xmlns:a16="http://schemas.microsoft.com/office/drawing/2014/main" id="{6451B29B-6EB2-421F-B436-F284895F9728}"/>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d) Bereken Qx in de beginsituatie en nadat alleen Y stijgt n">
            <a:extLst xmlns:a="http://schemas.openxmlformats.org/drawingml/2006/main">
              <a:ext uri="{FF2B5EF4-FFF2-40B4-BE49-F238E27FC236}">
                <a16:creationId xmlns:a16="http://schemas.microsoft.com/office/drawing/2014/main" id="{27DB70E0-25CF-48CF-B906-F236587DDE80}"/>
              </a:ext>
            </a:extLst>
          </p:cNvPr>
          <p:cNvSpPr>
            <a:spLocks xmlns:a="http://schemas.openxmlformats.org/drawingml/2006/main" noGrp="1"/>
          </p:cNvSpPr>
          <p:nvPr/>
        </p:nvSpPr>
        <p:spPr>
          <a:xfrm xmlns:a="http://schemas.openxmlformats.org/drawingml/2006/main">
            <a:off x="571500" y="2095500"/>
            <a:ext cx="140970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d) Bereken Qx in de beginsituatie en nadat alleen Y stijgt naar 33.000. Bereken daarna %ΔQx, Ei en classificeer fitnessdienst X. Leg uit wat met Qx gebeurt en welke variabelen gelijk blijven. (4 punten)</a:t>
            </a:r>
          </a:p>
        </p:txBody>
      </p:sp>
      <p:sp>
        <p:nvSpPr>
          <p:cNvPr id="6" name="">
            <a:extLst xmlns:a="http://schemas.openxmlformats.org/drawingml/2006/main">
              <a:ext uri="{FF2B5EF4-FFF2-40B4-BE49-F238E27FC236}">
                <a16:creationId xmlns:a16="http://schemas.microsoft.com/office/drawing/2014/main" id="{8FC23E2A-240F-4FCD-B992-99DC2C5A4E85}"/>
              </a:ext>
            </a:extLst>
          </p:cNvPr>
          <p:cNvSpPr>
            <a:spLocks xmlns:a="http://schemas.openxmlformats.org/drawingml/2006/main" noGrp="1"/>
          </p:cNvSpPr>
          <p:nvPr/>
        </p:nvSpPr>
        <p:spPr>
          <a:xfrm xmlns:a="http://schemas.openxmlformats.org/drawingml/2006/main">
            <a:off x="571500" y="4886325"/>
            <a:ext cx="14097000" cy="0"/>
          </a:xfrm>
          <a:prstGeom xmlns:a="http://schemas.openxmlformats.org/drawingml/2006/main" prst="line">
            <a:avLst/>
          </a:prstGeom>
          <a:ln xmlns:a="http://schemas.openxmlformats.org/drawingml/2006/main" w="19050">
            <a:solidFill>
              <a:srgbClr val="C6D2DB"/>
            </a:solidFill>
          </a:ln>
        </p:spPr>
      </p:sp>
      <p:sp>
        <p:nvSpPr>
          <p:cNvPr id="7" name="e) Zet Y terug op 30.000. Bereken Qx nadat alleen Pz stijgt ">
            <a:extLst xmlns:a="http://schemas.openxmlformats.org/drawingml/2006/main">
              <a:ext uri="{FF2B5EF4-FFF2-40B4-BE49-F238E27FC236}">
                <a16:creationId xmlns:a16="http://schemas.microsoft.com/office/drawing/2014/main" id="{79A91A5C-0544-4984-9C8B-2F5B8E9681AD}"/>
              </a:ext>
            </a:extLst>
          </p:cNvPr>
          <p:cNvSpPr>
            <a:spLocks xmlns:a="http://schemas.openxmlformats.org/drawingml/2006/main" noGrp="1"/>
          </p:cNvSpPr>
          <p:nvPr/>
        </p:nvSpPr>
        <p:spPr>
          <a:xfrm xmlns:a="http://schemas.openxmlformats.org/drawingml/2006/main">
            <a:off x="571500" y="5438775"/>
            <a:ext cx="1409700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 Zet Y terug op 30.000. Bereken Qx nadat alleen Pz stijgt van 20 naar 24. Leg uit welke richting het verband tussen Pz en Qx heeft en welke variabelen gelijk blijven. (3 punten)</a:t>
            </a:r>
          </a:p>
        </p:txBody>
      </p:sp>
    </p:spTree>
    <p:extLst>
      <p:ext uri="{BB962C8B-B14F-4D97-AF65-F5344CB8AC3E}">
        <p14:creationId xmlns:p14="http://schemas.microsoft.com/office/powerpoint/2010/main" val="5893515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a–b · Ei berekenen en goederen indelen">
            <a:extLst xmlns:a="http://schemas.openxmlformats.org/drawingml/2006/main">
              <a:ext uri="{FF2B5EF4-FFF2-40B4-BE49-F238E27FC236}">
                <a16:creationId xmlns:a16="http://schemas.microsoft.com/office/drawing/2014/main" id="{2E03FD2D-4459-4897-B060-276BDC914D36}"/>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8a–b · Ei berekenen en goederen indelen</a:t>
            </a:r>
          </a:p>
        </p:txBody>
      </p:sp>
      <p:sp>
        <p:nvSpPr>
          <p:cNvPr id="2" name="">
            <a:extLst xmlns:a="http://schemas.openxmlformats.org/drawingml/2006/main">
              <a:ext uri="{FF2B5EF4-FFF2-40B4-BE49-F238E27FC236}">
                <a16:creationId xmlns:a16="http://schemas.microsoft.com/office/drawing/2014/main" id="{5F60F8C2-7700-4E44-B7F0-0AD4B52D6C15}"/>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94E9458-FFDD-4D48-AB5A-71861938AB43}"/>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Opgave 8a–b · Boekpagina 63</a:t>
            </a:r>
          </a:p>
        </p:txBody>
      </p:sp>
      <p:sp>
        <p:nvSpPr>
          <p:cNvPr id="4" name="slide-number">
            <a:extLst xmlns:a="http://schemas.openxmlformats.org/drawingml/2006/main">
              <a:ext uri="{FF2B5EF4-FFF2-40B4-BE49-F238E27FC236}">
                <a16:creationId xmlns:a16="http://schemas.microsoft.com/office/drawing/2014/main" id="{023540D8-4886-41F5-A4B0-E3E79C8B049A}"/>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Ei = %ΔQv / %ΔY">
            <a:extLst xmlns:a="http://schemas.openxmlformats.org/drawingml/2006/main">
              <a:ext uri="{FF2B5EF4-FFF2-40B4-BE49-F238E27FC236}">
                <a16:creationId xmlns:a16="http://schemas.microsoft.com/office/drawing/2014/main" id="{6FA9AEBE-09B7-4026-AC3D-6279930625B5}"/>
              </a:ext>
            </a:extLst>
          </p:cNvPr>
          <p:cNvSpPr>
            <a:spLocks xmlns:a="http://schemas.openxmlformats.org/drawingml/2006/main" noGrp="1"/>
          </p:cNvSpPr>
          <p:nvPr/>
        </p:nvSpPr>
        <p:spPr>
          <a:xfrm xmlns:a="http://schemas.openxmlformats.org/drawingml/2006/main">
            <a:off x="571500" y="19907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Ei = %ΔQv / %ΔY</a:t>
            </a:r>
          </a:p>
        </p:txBody>
      </p:sp>
      <p:graphicFrame>
        <p:nvGraphicFramePr>
          <p:cNvPr id="13" name=""/>
          <p:cNvGraphicFramePr/>
          <p:nvPr/>
        </p:nvGraphicFramePr>
        <p:xfrm>
          <a:off xmlns:a="http://schemas.openxmlformats.org/drawingml/2006/main" x="571500" y="3095625"/>
          <a:ext xmlns:a="http://schemas.openxmlformats.org/drawingml/2006/main" cx="14097000" cy="2886075"/>
        </p:xfrm>
        <a:graphic xmlns:a="http://schemas.openxmlformats.org/drawingml/2006/main">
          <a:graphicData uri="http://schemas.openxmlformats.org/drawingml/2006/table">
            <a:tbl>
              <a:tblPr/>
              <a:tblGrid>
                <a:gridCol w="4476750"/>
                <a:gridCol w="5334000"/>
                <a:gridCol w="4286250"/>
              </a:tblGrid>
              <a:tr h="962025">
                <a:tc>
                  <a:txBody>
                    <a:bodyPr lIns="171450" tIns="95250" rIns="152400" bIns="95250"/>
                    <a:lstStyle/>
                    <a:p>
                      <a:r>
                        <a:rPr sz="2400" b="1">
                          <a:solidFill>
                            <a:srgbClr val="FFFFFF"/>
                          </a:solidFill>
                          <a:latin typeface="Arial"/>
                          <a:ea typeface="Arial"/>
                          <a:cs typeface="Arial"/>
                        </a:rPr>
                        <a:t>Goed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Invullen en uitkomst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Categorie</a:t>
                      </a:r>
                    </a:p>
                  </a:txBody>
                  <a:tcPr marL="91440" marR="91440" marT="45720" marB="45720" anchor="ctr">
                    <a:solidFill>
                      <a:srgbClr val="183247"/>
                    </a:solidFill>
                  </a:tcPr>
                </a:tc>
              </a:tr>
              <a:tr h="962025">
                <a:tc>
                  <a:txBody>
                    <a:bodyPr lIns="171450" tIns="95250" rIns="152400" bIns="95250"/>
                    <a:lstStyle/>
                    <a:p>
                      <a:r>
                        <a:rPr sz="2400" b="0">
                          <a:solidFill>
                            <a:srgbClr val="183247"/>
                          </a:solidFill>
                          <a:latin typeface="Arial"/>
                          <a:ea typeface="Arial"/>
                          <a:cs typeface="Arial"/>
                        </a:rPr>
                        <a:t>Maaltijdpakketten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+8% / +5% = +1,6</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Luxegoed: Ei &gt; 1</a:t>
                      </a:r>
                    </a:p>
                  </a:txBody>
                  <a:tcPr marL="91440" marR="91440" marT="45720" marB="45720" anchor="ctr">
                    <a:solidFill>
                      <a:srgbClr val="FFFFFF"/>
                    </a:solidFill>
                  </a:tcPr>
                </a:tc>
              </a:tr>
              <a:tr h="962025">
                <a:tc>
                  <a:txBody>
                    <a:bodyPr lIns="171450" tIns="95250" rIns="152400" bIns="95250"/>
                    <a:lstStyle/>
                    <a:p>
                      <a:r>
                        <a:rPr sz="2400" b="0">
                          <a:solidFill>
                            <a:srgbClr val="183247"/>
                          </a:solidFill>
                          <a:latin typeface="Arial"/>
                          <a:ea typeface="Arial"/>
                          <a:cs typeface="Arial"/>
                        </a:rPr>
                        <a:t>Budgetnoedels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−3% / +5% = −0,6</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Inferieur goed: Ei &lt; 0</a:t>
                      </a:r>
                    </a:p>
                  </a:txBody>
                  <a:tcPr marL="91440" marR="91440" marT="45720" marB="45720" anchor="ctr">
                    <a:solidFill>
                      <a:srgbClr val="EFF4F7"/>
                    </a:solidFill>
                  </a:tcPr>
                </a:tc>
              </a:tr>
            </a:tbl>
          </a:graphicData>
        </a:graphic>
      </p:graphicFrame>
      <p:sp>
        <p:nvSpPr>
          <p:cNvPr id="7" name="Maaltijdpakketten: Qv groeit procentueel sterker dan Y.&#10;Budg">
            <a:extLst xmlns:a="http://schemas.openxmlformats.org/drawingml/2006/main">
              <a:ext uri="{FF2B5EF4-FFF2-40B4-BE49-F238E27FC236}">
                <a16:creationId xmlns:a16="http://schemas.microsoft.com/office/drawing/2014/main" id="{679E13BF-88E0-4C11-AC8D-E747AE970EAD}"/>
              </a:ext>
            </a:extLst>
          </p:cNvPr>
          <p:cNvSpPr>
            <a:spLocks xmlns:a="http://schemas.openxmlformats.org/drawingml/2006/main" noGrp="1"/>
          </p:cNvSpPr>
          <p:nvPr/>
        </p:nvSpPr>
        <p:spPr>
          <a:xfrm xmlns:a="http://schemas.openxmlformats.org/drawingml/2006/main">
            <a:off x="571500" y="653415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Maaltijdpakketten: Qv groeit procentueel sterker dan Y.</a:t>
            </a:r>
          </a:p>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Budgetnoedels: Qv daalt bij meer inkomen.</a:t>
            </a:r>
          </a:p>
        </p:txBody>
      </p:sp>
    </p:spTree>
    <p:extLst>
      <p:ext uri="{BB962C8B-B14F-4D97-AF65-F5344CB8AC3E}">
        <p14:creationId xmlns:p14="http://schemas.microsoft.com/office/powerpoint/2010/main" val="40727362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c · Thee ten opzichte van koffie">
            <a:extLst xmlns:a="http://schemas.openxmlformats.org/drawingml/2006/main">
              <a:ext uri="{FF2B5EF4-FFF2-40B4-BE49-F238E27FC236}">
                <a16:creationId xmlns:a16="http://schemas.microsoft.com/office/drawing/2014/main" id="{332951ED-E4C5-45D9-8330-79EB130F9A5C}"/>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8c · Thee ten opzichte van koffie</a:t>
            </a:r>
          </a:p>
        </p:txBody>
      </p:sp>
      <p:sp>
        <p:nvSpPr>
          <p:cNvPr id="2" name="">
            <a:extLst xmlns:a="http://schemas.openxmlformats.org/drawingml/2006/main">
              <a:ext uri="{FF2B5EF4-FFF2-40B4-BE49-F238E27FC236}">
                <a16:creationId xmlns:a16="http://schemas.microsoft.com/office/drawing/2014/main" id="{73BBD02F-BCC9-4B67-99AC-FDAD610F5660}"/>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C79B62A-5DD3-4AAA-BC3D-C23536E7BBEA}"/>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Opgave 8c · Boekpagina 63</a:t>
            </a:r>
          </a:p>
        </p:txBody>
      </p:sp>
      <p:sp>
        <p:nvSpPr>
          <p:cNvPr id="4" name="slide-number">
            <a:extLst xmlns:a="http://schemas.openxmlformats.org/drawingml/2006/main">
              <a:ext uri="{FF2B5EF4-FFF2-40B4-BE49-F238E27FC236}">
                <a16:creationId xmlns:a16="http://schemas.microsoft.com/office/drawing/2014/main" id="{37D922D2-A920-4C44-9DC4-D1C244F245E3}"/>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3" name=""/>
          <p:cNvGraphicFramePr/>
          <p:nvPr/>
        </p:nvGraphicFramePr>
        <p:xfrm>
          <a:off xmlns:a="http://schemas.openxmlformats.org/drawingml/2006/main" x="571500" y="2171700"/>
          <a:ext xmlns:a="http://schemas.openxmlformats.org/drawingml/2006/main" cx="14097000" cy="1809750"/>
        </p:xfrm>
        <a:graphic xmlns:a="http://schemas.openxmlformats.org/drawingml/2006/main">
          <a:graphicData uri="http://schemas.openxmlformats.org/drawingml/2006/table">
            <a:tbl>
              <a:tblPr/>
              <a:tblGrid>
                <a:gridCol w="7048500"/>
                <a:gridCol w="7048500"/>
              </a:tblGrid>
              <a:tr h="904875">
                <a:tc>
                  <a:txBody>
                    <a:bodyPr lIns="171450" tIns="95250" rIns="152400" bIns="95250"/>
                    <a:lstStyle/>
                    <a:p>
                      <a:r>
                        <a:rPr sz="2700" b="1">
                          <a:solidFill>
                            <a:srgbClr val="FFFFFF"/>
                          </a:solidFill>
                          <a:latin typeface="Arial"/>
                          <a:ea typeface="Arial"/>
                          <a:cs typeface="Arial"/>
                        </a:rPr>
                        <a:t>Teller: vraaggoed X</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Noemer: prijsgoed Z</a:t>
                      </a:r>
                    </a:p>
                  </a:txBody>
                  <a:tcPr marL="91440" marR="91440" marT="45720" marB="45720" anchor="ctr">
                    <a:solidFill>
                      <a:srgbClr val="183247"/>
                    </a:solidFill>
                  </a:tcPr>
                </a:tc>
              </a:tr>
              <a:tr h="904875">
                <a:tc>
                  <a:txBody>
                    <a:bodyPr lIns="171450" tIns="95250" rIns="152400" bIns="95250"/>
                    <a:lstStyle/>
                    <a:p>
                      <a:r>
                        <a:rPr sz="2700" b="0">
                          <a:solidFill>
                            <a:srgbClr val="183247"/>
                          </a:solidFill>
                          <a:latin typeface="Arial"/>
                          <a:ea typeface="Arial"/>
                          <a:cs typeface="Arial"/>
                        </a:rPr>
                        <a:t>Vraag naar thee: +4%</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Prijs van koffie: +10%</a:t>
                      </a:r>
                    </a:p>
                  </a:txBody>
                  <a:tcPr marL="91440" marR="91440" marT="45720" marB="45720" anchor="ctr">
                    <a:solidFill>
                      <a:srgbClr val="FFFFFF"/>
                    </a:solidFill>
                  </a:tcPr>
                </a:tc>
              </a:tr>
            </a:tbl>
          </a:graphicData>
        </a:graphic>
      </p:graphicFrame>
      <p:sp>
        <p:nvSpPr>
          <p:cNvPr id="6" name="Ek = %ΔQ thee / %ΔP koffie">
            <a:extLst xmlns:a="http://schemas.openxmlformats.org/drawingml/2006/main">
              <a:ext uri="{FF2B5EF4-FFF2-40B4-BE49-F238E27FC236}">
                <a16:creationId xmlns:a16="http://schemas.microsoft.com/office/drawing/2014/main" id="{BF79FE1E-4810-41BB-A049-08F72F383A98}"/>
              </a:ext>
            </a:extLst>
          </p:cNvPr>
          <p:cNvSpPr>
            <a:spLocks xmlns:a="http://schemas.openxmlformats.org/drawingml/2006/main" noGrp="1"/>
          </p:cNvSpPr>
          <p:nvPr/>
        </p:nvSpPr>
        <p:spPr>
          <a:xfrm xmlns:a="http://schemas.openxmlformats.org/drawingml/2006/main">
            <a:off x="571500" y="45434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Ek = %ΔQ thee / %ΔP koffie</a:t>
            </a:r>
          </a:p>
        </p:txBody>
      </p:sp>
      <p:sp>
        <p:nvSpPr>
          <p:cNvPr id="7" name="Ek = +4% / +10% = +0,4">
            <a:extLst xmlns:a="http://schemas.openxmlformats.org/drawingml/2006/main">
              <a:ext uri="{FF2B5EF4-FFF2-40B4-BE49-F238E27FC236}">
                <a16:creationId xmlns:a16="http://schemas.microsoft.com/office/drawing/2014/main" id="{4579D7B7-4AE4-4621-9332-D05E4A2449C0}"/>
              </a:ext>
            </a:extLst>
          </p:cNvPr>
          <p:cNvSpPr>
            <a:spLocks xmlns:a="http://schemas.openxmlformats.org/drawingml/2006/main" noGrp="1"/>
          </p:cNvSpPr>
          <p:nvPr/>
        </p:nvSpPr>
        <p:spPr>
          <a:xfrm xmlns:a="http://schemas.openxmlformats.org/drawingml/2006/main">
            <a:off x="571500" y="55435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20665B"/>
                </a:solidFill>
                <a:latin typeface="Arial"/>
                <a:ea typeface="Arial"/>
                <a:cs typeface="Arial"/>
              </a:defRPr>
            </a:pPr>
            <a:r>
              <a:rPr sz="3675" b="1">
                <a:solidFill>
                  <a:srgbClr val="20665B"/>
                </a:solidFill>
                <a:latin typeface="Arial"/>
                <a:ea typeface="Arial"/>
                <a:cs typeface="Arial"/>
              </a:rPr>
              <a:t>Ek = +4% / +10% = +0,4</a:t>
            </a:r>
          </a:p>
        </p:txBody>
      </p:sp>
      <p:sp>
        <p:nvSpPr>
          <p:cNvPr id="8" name="Substituten: duurdere koffie → meer vraag naar thee.">
            <a:extLst xmlns:a="http://schemas.openxmlformats.org/drawingml/2006/main">
              <a:ext uri="{FF2B5EF4-FFF2-40B4-BE49-F238E27FC236}">
                <a16:creationId xmlns:a16="http://schemas.microsoft.com/office/drawing/2014/main" id="{00921178-4A3B-49AB-9F1D-7B91239C73B9}"/>
              </a:ext>
            </a:extLst>
          </p:cNvPr>
          <p:cNvSpPr>
            <a:spLocks xmlns:a="http://schemas.openxmlformats.org/drawingml/2006/main" noGrp="1"/>
          </p:cNvSpPr>
          <p:nvPr/>
        </p:nvSpPr>
        <p:spPr>
          <a:xfrm xmlns:a="http://schemas.openxmlformats.org/drawingml/2006/main">
            <a:off x="571500" y="69437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Substituten: duurdere koffie → meer vraag naar thee.</a:t>
            </a:r>
          </a:p>
        </p:txBody>
      </p:sp>
    </p:spTree>
    <p:extLst>
      <p:ext uri="{BB962C8B-B14F-4D97-AF65-F5344CB8AC3E}">
        <p14:creationId xmlns:p14="http://schemas.microsoft.com/office/powerpoint/2010/main" val="15432641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c · Koffiefilters ten opzichte van koffie">
            <a:extLst xmlns:a="http://schemas.openxmlformats.org/drawingml/2006/main">
              <a:ext uri="{FF2B5EF4-FFF2-40B4-BE49-F238E27FC236}">
                <a16:creationId xmlns:a16="http://schemas.microsoft.com/office/drawing/2014/main" id="{A669A1A0-FC6A-4F6E-B8D9-090CE67375DE}"/>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8c · Koffiefilters ten opzichte van koffie</a:t>
            </a:r>
          </a:p>
        </p:txBody>
      </p:sp>
      <p:sp>
        <p:nvSpPr>
          <p:cNvPr id="2" name="">
            <a:extLst xmlns:a="http://schemas.openxmlformats.org/drawingml/2006/main">
              <a:ext uri="{FF2B5EF4-FFF2-40B4-BE49-F238E27FC236}">
                <a16:creationId xmlns:a16="http://schemas.microsoft.com/office/drawing/2014/main" id="{28A74491-59A1-4FA2-8ECC-32DCBDCF0FF7}"/>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95C5C9C-5935-4A11-92C7-8864DD55571E}"/>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Opgave 8c · Boekpagina 63</a:t>
            </a:r>
          </a:p>
        </p:txBody>
      </p:sp>
      <p:sp>
        <p:nvSpPr>
          <p:cNvPr id="4" name="slide-number">
            <a:extLst xmlns:a="http://schemas.openxmlformats.org/drawingml/2006/main">
              <a:ext uri="{FF2B5EF4-FFF2-40B4-BE49-F238E27FC236}">
                <a16:creationId xmlns:a16="http://schemas.microsoft.com/office/drawing/2014/main" id="{0CE3A2F3-0A54-48EF-9AC5-CAFA813181FB}"/>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3" name=""/>
          <p:cNvGraphicFramePr/>
          <p:nvPr/>
        </p:nvGraphicFramePr>
        <p:xfrm>
          <a:off xmlns:a="http://schemas.openxmlformats.org/drawingml/2006/main" x="571500" y="2171700"/>
          <a:ext xmlns:a="http://schemas.openxmlformats.org/drawingml/2006/main" cx="14097000" cy="1809750"/>
        </p:xfrm>
        <a:graphic xmlns:a="http://schemas.openxmlformats.org/drawingml/2006/main">
          <a:graphicData uri="http://schemas.openxmlformats.org/drawingml/2006/table">
            <a:tbl>
              <a:tblPr/>
              <a:tblGrid>
                <a:gridCol w="7048500"/>
                <a:gridCol w="7048500"/>
              </a:tblGrid>
              <a:tr h="904875">
                <a:tc>
                  <a:txBody>
                    <a:bodyPr lIns="171450" tIns="95250" rIns="152400" bIns="95250"/>
                    <a:lstStyle/>
                    <a:p>
                      <a:r>
                        <a:rPr sz="2700" b="1">
                          <a:solidFill>
                            <a:srgbClr val="FFFFFF"/>
                          </a:solidFill>
                          <a:latin typeface="Arial"/>
                          <a:ea typeface="Arial"/>
                          <a:cs typeface="Arial"/>
                        </a:rPr>
                        <a:t>Teller: vraaggoed X</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Noemer: prijsgoed Z</a:t>
                      </a:r>
                    </a:p>
                  </a:txBody>
                  <a:tcPr marL="91440" marR="91440" marT="45720" marB="45720" anchor="ctr">
                    <a:solidFill>
                      <a:srgbClr val="183247"/>
                    </a:solidFill>
                  </a:tcPr>
                </a:tc>
              </a:tr>
              <a:tr h="904875">
                <a:tc>
                  <a:txBody>
                    <a:bodyPr lIns="171450" tIns="95250" rIns="152400" bIns="95250"/>
                    <a:lstStyle/>
                    <a:p>
                      <a:r>
                        <a:rPr sz="2700" b="0">
                          <a:solidFill>
                            <a:srgbClr val="183247"/>
                          </a:solidFill>
                          <a:latin typeface="Arial"/>
                          <a:ea typeface="Arial"/>
                          <a:cs typeface="Arial"/>
                        </a:rPr>
                        <a:t>Vraag naar koffiefilters: −6%</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Prijs van koffie: +10%</a:t>
                      </a:r>
                    </a:p>
                  </a:txBody>
                  <a:tcPr marL="91440" marR="91440" marT="45720" marB="45720" anchor="ctr">
                    <a:solidFill>
                      <a:srgbClr val="FFFFFF"/>
                    </a:solidFill>
                  </a:tcPr>
                </a:tc>
              </a:tr>
            </a:tbl>
          </a:graphicData>
        </a:graphic>
      </p:graphicFrame>
      <p:sp>
        <p:nvSpPr>
          <p:cNvPr id="6" name="Ek = %ΔQ koffiefilters / %ΔP koffie">
            <a:extLst xmlns:a="http://schemas.openxmlformats.org/drawingml/2006/main">
              <a:ext uri="{FF2B5EF4-FFF2-40B4-BE49-F238E27FC236}">
                <a16:creationId xmlns:a16="http://schemas.microsoft.com/office/drawing/2014/main" id="{94F91E5B-6792-4E7F-B370-8B82A5F6677A}"/>
              </a:ext>
            </a:extLst>
          </p:cNvPr>
          <p:cNvSpPr>
            <a:spLocks xmlns:a="http://schemas.openxmlformats.org/drawingml/2006/main" noGrp="1"/>
          </p:cNvSpPr>
          <p:nvPr/>
        </p:nvSpPr>
        <p:spPr>
          <a:xfrm xmlns:a="http://schemas.openxmlformats.org/drawingml/2006/main">
            <a:off x="571500" y="45434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Ek = %ΔQ koffiefilters / %ΔP koffie</a:t>
            </a:r>
          </a:p>
        </p:txBody>
      </p:sp>
      <p:sp>
        <p:nvSpPr>
          <p:cNvPr id="7" name="Ek = −6% / +10% = −0,6">
            <a:extLst xmlns:a="http://schemas.openxmlformats.org/drawingml/2006/main">
              <a:ext uri="{FF2B5EF4-FFF2-40B4-BE49-F238E27FC236}">
                <a16:creationId xmlns:a16="http://schemas.microsoft.com/office/drawing/2014/main" id="{5CC7D245-A5BC-4A56-AF89-9FB2BA406547}"/>
              </a:ext>
            </a:extLst>
          </p:cNvPr>
          <p:cNvSpPr>
            <a:spLocks xmlns:a="http://schemas.openxmlformats.org/drawingml/2006/main" noGrp="1"/>
          </p:cNvSpPr>
          <p:nvPr/>
        </p:nvSpPr>
        <p:spPr>
          <a:xfrm xmlns:a="http://schemas.openxmlformats.org/drawingml/2006/main">
            <a:off x="571500" y="55435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A94D16"/>
                </a:solidFill>
                <a:latin typeface="Arial"/>
                <a:ea typeface="Arial"/>
                <a:cs typeface="Arial"/>
              </a:defRPr>
            </a:pPr>
            <a:r>
              <a:rPr sz="3675" b="1">
                <a:solidFill>
                  <a:srgbClr val="A94D16"/>
                </a:solidFill>
                <a:latin typeface="Arial"/>
                <a:ea typeface="Arial"/>
                <a:cs typeface="Arial"/>
              </a:rPr>
              <a:t>Ek = −6% / +10% = −0,6</a:t>
            </a:r>
          </a:p>
        </p:txBody>
      </p:sp>
      <p:sp>
        <p:nvSpPr>
          <p:cNvPr id="8" name="Complementen: duurdere koffie → minder vraag naar filters.">
            <a:extLst xmlns:a="http://schemas.openxmlformats.org/drawingml/2006/main">
              <a:ext uri="{FF2B5EF4-FFF2-40B4-BE49-F238E27FC236}">
                <a16:creationId xmlns:a16="http://schemas.microsoft.com/office/drawing/2014/main" id="{BB141F17-B26C-4E16-9A21-4B202A7C6557}"/>
              </a:ext>
            </a:extLst>
          </p:cNvPr>
          <p:cNvSpPr>
            <a:spLocks xmlns:a="http://schemas.openxmlformats.org/drawingml/2006/main" noGrp="1"/>
          </p:cNvSpPr>
          <p:nvPr/>
        </p:nvSpPr>
        <p:spPr>
          <a:xfrm xmlns:a="http://schemas.openxmlformats.org/drawingml/2006/main">
            <a:off x="571500" y="69437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Complementen: duurdere koffie → minder vraag naar filters.</a:t>
            </a:r>
          </a:p>
        </p:txBody>
      </p:sp>
    </p:spTree>
    <p:extLst>
      <p:ext uri="{BB962C8B-B14F-4D97-AF65-F5344CB8AC3E}">
        <p14:creationId xmlns:p14="http://schemas.microsoft.com/office/powerpoint/2010/main" val="185802248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d · Fitness in de beginsituatie">
            <a:extLst xmlns:a="http://schemas.openxmlformats.org/drawingml/2006/main">
              <a:ext uri="{FF2B5EF4-FFF2-40B4-BE49-F238E27FC236}">
                <a16:creationId xmlns:a16="http://schemas.microsoft.com/office/drawing/2014/main" id="{2072AFCD-0FE2-4350-8C2C-F7A722EF2A7B}"/>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8d · Fitness in de beginsituatie</a:t>
            </a:r>
          </a:p>
        </p:txBody>
      </p:sp>
      <p:sp>
        <p:nvSpPr>
          <p:cNvPr id="2" name="">
            <a:extLst xmlns:a="http://schemas.openxmlformats.org/drawingml/2006/main">
              <a:ext uri="{FF2B5EF4-FFF2-40B4-BE49-F238E27FC236}">
                <a16:creationId xmlns:a16="http://schemas.microsoft.com/office/drawing/2014/main" id="{A8882CC9-C529-4FAC-A1AF-4A358B0A0AFB}"/>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F09E5F00-200E-4634-8342-1CE323B3442A}"/>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Opgave 8d · Boekpagina 63</a:t>
            </a:r>
          </a:p>
        </p:txBody>
      </p:sp>
      <p:sp>
        <p:nvSpPr>
          <p:cNvPr id="4" name="slide-number">
            <a:extLst xmlns:a="http://schemas.openxmlformats.org/drawingml/2006/main">
              <a:ext uri="{FF2B5EF4-FFF2-40B4-BE49-F238E27FC236}">
                <a16:creationId xmlns:a16="http://schemas.microsoft.com/office/drawing/2014/main" id="{03318F5E-643D-4497-9E07-B3EF8EE8DF43}"/>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Qx = 100 − 2Px + 0,5Pz + 0,01Y">
            <a:extLst xmlns:a="http://schemas.openxmlformats.org/drawingml/2006/main">
              <a:ext uri="{FF2B5EF4-FFF2-40B4-BE49-F238E27FC236}">
                <a16:creationId xmlns:a16="http://schemas.microsoft.com/office/drawing/2014/main" id="{F535D284-19AE-4F5D-9CB7-5099F3E7C5E0}"/>
              </a:ext>
            </a:extLst>
          </p:cNvPr>
          <p:cNvSpPr>
            <a:spLocks xmlns:a="http://schemas.openxmlformats.org/drawingml/2006/main" noGrp="1"/>
          </p:cNvSpPr>
          <p:nvPr/>
        </p:nvSpPr>
        <p:spPr>
          <a:xfrm xmlns:a="http://schemas.openxmlformats.org/drawingml/2006/main">
            <a:off x="571500" y="20764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Qx = 100 − 2Px + 0,5Pz + 0,01Y</a:t>
            </a:r>
          </a:p>
        </p:txBody>
      </p:sp>
      <p:sp>
        <p:nvSpPr>
          <p:cNvPr id="6" name="Px = 10 · Pz = 20 · Y = 30.000">
            <a:extLst xmlns:a="http://schemas.openxmlformats.org/drawingml/2006/main">
              <a:ext uri="{FF2B5EF4-FFF2-40B4-BE49-F238E27FC236}">
                <a16:creationId xmlns:a16="http://schemas.microsoft.com/office/drawing/2014/main" id="{DD94078C-8A5F-4A6F-A63A-DBF1A060E371}"/>
              </a:ext>
            </a:extLst>
          </p:cNvPr>
          <p:cNvSpPr>
            <a:spLocks xmlns:a="http://schemas.openxmlformats.org/drawingml/2006/main" noGrp="1"/>
          </p:cNvSpPr>
          <p:nvPr/>
        </p:nvSpPr>
        <p:spPr>
          <a:xfrm xmlns:a="http://schemas.openxmlformats.org/drawingml/2006/main">
            <a:off x="571500" y="32004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Px = 10 · Pz = 20 · Y = 30.000</a:t>
            </a:r>
          </a:p>
        </p:txBody>
      </p:sp>
      <p:sp>
        <p:nvSpPr>
          <p:cNvPr id="7" name="Qx oud = 100 − 2 × 10 + 0,5 × 20 + 0,01 × 30.000">
            <a:extLst xmlns:a="http://schemas.openxmlformats.org/drawingml/2006/main">
              <a:ext uri="{FF2B5EF4-FFF2-40B4-BE49-F238E27FC236}">
                <a16:creationId xmlns:a16="http://schemas.microsoft.com/office/drawing/2014/main" id="{5EF1B421-16F1-4262-AEA0-938490AB0E1C}"/>
              </a:ext>
            </a:extLst>
          </p:cNvPr>
          <p:cNvSpPr>
            <a:spLocks xmlns:a="http://schemas.openxmlformats.org/drawingml/2006/main" noGrp="1"/>
          </p:cNvSpPr>
          <p:nvPr/>
        </p:nvSpPr>
        <p:spPr>
          <a:xfrm xmlns:a="http://schemas.openxmlformats.org/drawingml/2006/main">
            <a:off x="571500" y="43910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Qx oud = 100 − 2 × 10 + 0,5 × 20 + 0,01 × 30.000</a:t>
            </a:r>
          </a:p>
        </p:txBody>
      </p:sp>
      <p:sp>
        <p:nvSpPr>
          <p:cNvPr id="8" name="= 100 − 20 + 10 + 300">
            <a:extLst xmlns:a="http://schemas.openxmlformats.org/drawingml/2006/main">
              <a:ext uri="{FF2B5EF4-FFF2-40B4-BE49-F238E27FC236}">
                <a16:creationId xmlns:a16="http://schemas.microsoft.com/office/drawing/2014/main" id="{81C6ED93-E707-4FAC-A96D-16F88D57919E}"/>
              </a:ext>
            </a:extLst>
          </p:cNvPr>
          <p:cNvSpPr>
            <a:spLocks xmlns:a="http://schemas.openxmlformats.org/drawingml/2006/main" noGrp="1"/>
          </p:cNvSpPr>
          <p:nvPr/>
        </p:nvSpPr>
        <p:spPr>
          <a:xfrm xmlns:a="http://schemas.openxmlformats.org/drawingml/2006/main">
            <a:off x="571500" y="55530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 100 − 20 + 10 + 300</a:t>
            </a:r>
          </a:p>
        </p:txBody>
      </p:sp>
      <p:sp>
        <p:nvSpPr>
          <p:cNvPr id="9" name="= 390 abonnementen per maand">
            <a:extLst xmlns:a="http://schemas.openxmlformats.org/drawingml/2006/main">
              <a:ext uri="{FF2B5EF4-FFF2-40B4-BE49-F238E27FC236}">
                <a16:creationId xmlns:a16="http://schemas.microsoft.com/office/drawing/2014/main" id="{D61EEB09-BF99-48CB-B036-2F8A64AEA07E}"/>
              </a:ext>
            </a:extLst>
          </p:cNvPr>
          <p:cNvSpPr>
            <a:spLocks xmlns:a="http://schemas.openxmlformats.org/drawingml/2006/main" noGrp="1"/>
          </p:cNvSpPr>
          <p:nvPr/>
        </p:nvSpPr>
        <p:spPr>
          <a:xfrm xmlns:a="http://schemas.openxmlformats.org/drawingml/2006/main">
            <a:off x="571500" y="67532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0665B"/>
                </a:solidFill>
                <a:latin typeface="Arial"/>
                <a:ea typeface="Arial"/>
                <a:cs typeface="Arial"/>
              </a:defRPr>
            </a:pPr>
            <a:r>
              <a:rPr sz="3525" b="1">
                <a:solidFill>
                  <a:srgbClr val="20665B"/>
                </a:solidFill>
                <a:latin typeface="Arial"/>
                <a:ea typeface="Arial"/>
                <a:cs typeface="Arial"/>
              </a:rPr>
              <a:t>= 390 abonnementen per maand</a:t>
            </a:r>
          </a:p>
        </p:txBody>
      </p:sp>
    </p:spTree>
    <p:extLst>
      <p:ext uri="{BB962C8B-B14F-4D97-AF65-F5344CB8AC3E}">
        <p14:creationId xmlns:p14="http://schemas.microsoft.com/office/powerpoint/2010/main" val="214318043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8d · Alleen Y stijgt naar 33.000">
            <a:extLst xmlns:a="http://schemas.openxmlformats.org/drawingml/2006/main">
              <a:ext uri="{FF2B5EF4-FFF2-40B4-BE49-F238E27FC236}">
                <a16:creationId xmlns:a16="http://schemas.microsoft.com/office/drawing/2014/main" id="{AD33F8CB-BF22-4D8E-9ED0-CE085BDFBAF8}"/>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8d · Alleen Y stijgt naar 33.000</a:t>
            </a:r>
          </a:p>
        </p:txBody>
      </p:sp>
      <p:sp>
        <p:nvSpPr>
          <p:cNvPr id="2" name="">
            <a:extLst xmlns:a="http://schemas.openxmlformats.org/drawingml/2006/main">
              <a:ext uri="{FF2B5EF4-FFF2-40B4-BE49-F238E27FC236}">
                <a16:creationId xmlns:a16="http://schemas.microsoft.com/office/drawing/2014/main" id="{3D222719-1233-4D4B-A224-7BECF92F2874}"/>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41C6AD5-F5D4-4B95-90F4-0C7B6F8EFF5F}"/>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Opgave 8d · Boekpagina 63</a:t>
            </a:r>
          </a:p>
        </p:txBody>
      </p:sp>
      <p:sp>
        <p:nvSpPr>
          <p:cNvPr id="4" name="slide-number">
            <a:extLst xmlns:a="http://schemas.openxmlformats.org/drawingml/2006/main">
              <a:ext uri="{FF2B5EF4-FFF2-40B4-BE49-F238E27FC236}">
                <a16:creationId xmlns:a16="http://schemas.microsoft.com/office/drawing/2014/main" id="{A08F746D-0B54-4FAD-9DEA-ADDF6E20FCA6}"/>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Px = 10 en Pz = 20 blijven gelijk.">
            <a:extLst xmlns:a="http://schemas.openxmlformats.org/drawingml/2006/main">
              <a:ext uri="{FF2B5EF4-FFF2-40B4-BE49-F238E27FC236}">
                <a16:creationId xmlns:a16="http://schemas.microsoft.com/office/drawing/2014/main" id="{822A2A92-1FCF-4BA5-85E4-175E70802B42}"/>
              </a:ext>
            </a:extLst>
          </p:cNvPr>
          <p:cNvSpPr>
            <a:spLocks xmlns:a="http://schemas.openxmlformats.org/drawingml/2006/main" noGrp="1"/>
          </p:cNvSpPr>
          <p:nvPr/>
        </p:nvSpPr>
        <p:spPr>
          <a:xfrm xmlns:a="http://schemas.openxmlformats.org/drawingml/2006/main">
            <a:off x="571500" y="213360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Px = 10 en Pz = 20 blijven gelijk.</a:t>
            </a:r>
          </a:p>
        </p:txBody>
      </p:sp>
      <p:sp>
        <p:nvSpPr>
          <p:cNvPr id="6" name="Qx nieuw = 100 − 2 × 10 + 0,5 × 20 + 0,01 × 33.000">
            <a:extLst xmlns:a="http://schemas.openxmlformats.org/drawingml/2006/main">
              <a:ext uri="{FF2B5EF4-FFF2-40B4-BE49-F238E27FC236}">
                <a16:creationId xmlns:a16="http://schemas.microsoft.com/office/drawing/2014/main" id="{B6FA87F1-D757-4309-9A92-3208DF7FF55D}"/>
              </a:ext>
            </a:extLst>
          </p:cNvPr>
          <p:cNvSpPr>
            <a:spLocks xmlns:a="http://schemas.openxmlformats.org/drawingml/2006/main" noGrp="1"/>
          </p:cNvSpPr>
          <p:nvPr/>
        </p:nvSpPr>
        <p:spPr>
          <a:xfrm xmlns:a="http://schemas.openxmlformats.org/drawingml/2006/main">
            <a:off x="571500" y="35337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Qx nieuw = 100 − 2 × 10 + 0,5 × 20 + 0,01 × 33.000</a:t>
            </a:r>
          </a:p>
        </p:txBody>
      </p:sp>
      <p:sp>
        <p:nvSpPr>
          <p:cNvPr id="7" name="= 100 − 20 + 10 + 330">
            <a:extLst xmlns:a="http://schemas.openxmlformats.org/drawingml/2006/main">
              <a:ext uri="{FF2B5EF4-FFF2-40B4-BE49-F238E27FC236}">
                <a16:creationId xmlns:a16="http://schemas.microsoft.com/office/drawing/2014/main" id="{FB4EC972-0F2F-41C0-B430-E7E0E463E641}"/>
              </a:ext>
            </a:extLst>
          </p:cNvPr>
          <p:cNvSpPr>
            <a:spLocks xmlns:a="http://schemas.openxmlformats.org/drawingml/2006/main" noGrp="1"/>
          </p:cNvSpPr>
          <p:nvPr/>
        </p:nvSpPr>
        <p:spPr>
          <a:xfrm xmlns:a="http://schemas.openxmlformats.org/drawingml/2006/main">
            <a:off x="571500" y="462915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 100 − 20 + 10 + 330</a:t>
            </a:r>
          </a:p>
        </p:txBody>
      </p:sp>
      <p:sp>
        <p:nvSpPr>
          <p:cNvPr id="8" name="= 420 abonnementen per maand">
            <a:extLst xmlns:a="http://schemas.openxmlformats.org/drawingml/2006/main">
              <a:ext uri="{FF2B5EF4-FFF2-40B4-BE49-F238E27FC236}">
                <a16:creationId xmlns:a16="http://schemas.microsoft.com/office/drawing/2014/main" id="{95025800-4EFF-4EE1-BC1E-C14FAB3D6781}"/>
              </a:ext>
            </a:extLst>
          </p:cNvPr>
          <p:cNvSpPr>
            <a:spLocks xmlns:a="http://schemas.openxmlformats.org/drawingml/2006/main" noGrp="1"/>
          </p:cNvSpPr>
          <p:nvPr/>
        </p:nvSpPr>
        <p:spPr>
          <a:xfrm xmlns:a="http://schemas.openxmlformats.org/drawingml/2006/main">
            <a:off x="571500" y="57435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 420 abonnementen per maand</a:t>
            </a:r>
          </a:p>
        </p:txBody>
      </p:sp>
      <p:sp>
        <p:nvSpPr>
          <p:cNvPr id="9" name="Qx stijgt met 420 − 390 = 30 abonnementen per maand.">
            <a:extLst xmlns:a="http://schemas.openxmlformats.org/drawingml/2006/main">
              <a:ext uri="{FF2B5EF4-FFF2-40B4-BE49-F238E27FC236}">
                <a16:creationId xmlns:a16="http://schemas.microsoft.com/office/drawing/2014/main" id="{64898B90-F1B9-466F-A086-D086C99C2B53}"/>
              </a:ext>
            </a:extLst>
          </p:cNvPr>
          <p:cNvSpPr>
            <a:spLocks xmlns:a="http://schemas.openxmlformats.org/drawingml/2006/main" noGrp="1"/>
          </p:cNvSpPr>
          <p:nvPr/>
        </p:nvSpPr>
        <p:spPr>
          <a:xfrm xmlns:a="http://schemas.openxmlformats.org/drawingml/2006/main">
            <a:off x="571500" y="72009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Qx stijgt met 420 − 390 = 30 abonnementen per maand.</a:t>
            </a:r>
          </a:p>
        </p:txBody>
      </p:sp>
    </p:spTree>
    <p:extLst>
      <p:ext uri="{BB962C8B-B14F-4D97-AF65-F5344CB8AC3E}">
        <p14:creationId xmlns:p14="http://schemas.microsoft.com/office/powerpoint/2010/main" val="205938735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d · Procenten, Ei en betekenis">
            <a:extLst xmlns:a="http://schemas.openxmlformats.org/drawingml/2006/main">
              <a:ext uri="{FF2B5EF4-FFF2-40B4-BE49-F238E27FC236}">
                <a16:creationId xmlns:a16="http://schemas.microsoft.com/office/drawing/2014/main" id="{69BE69DA-BA6A-45B6-B091-A08FBFC293B0}"/>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8d · Procenten, Ei en betekenis</a:t>
            </a:r>
          </a:p>
        </p:txBody>
      </p:sp>
      <p:sp>
        <p:nvSpPr>
          <p:cNvPr id="2" name="">
            <a:extLst xmlns:a="http://schemas.openxmlformats.org/drawingml/2006/main">
              <a:ext uri="{FF2B5EF4-FFF2-40B4-BE49-F238E27FC236}">
                <a16:creationId xmlns:a16="http://schemas.microsoft.com/office/drawing/2014/main" id="{78C9D575-CC62-41D0-8627-C43076A00F73}"/>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018E90D-2099-4A19-BBC3-642CEE8BFBD4}"/>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Opgave 8d · Boekpagina 63</a:t>
            </a:r>
          </a:p>
        </p:txBody>
      </p:sp>
      <p:sp>
        <p:nvSpPr>
          <p:cNvPr id="4" name="slide-number">
            <a:extLst xmlns:a="http://schemas.openxmlformats.org/drawingml/2006/main">
              <a:ext uri="{FF2B5EF4-FFF2-40B4-BE49-F238E27FC236}">
                <a16:creationId xmlns:a16="http://schemas.microsoft.com/office/drawing/2014/main" id="{3A327281-14ED-4943-8902-DD175B68D33B}"/>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ΔQx = (420 − 390) / 390 × 100% = 7,692307…%">
            <a:extLst xmlns:a="http://schemas.openxmlformats.org/drawingml/2006/main">
              <a:ext uri="{FF2B5EF4-FFF2-40B4-BE49-F238E27FC236}">
                <a16:creationId xmlns:a16="http://schemas.microsoft.com/office/drawing/2014/main" id="{4BCE34A0-7E41-45B3-B92C-0EB653E95B42}"/>
              </a:ext>
            </a:extLst>
          </p:cNvPr>
          <p:cNvSpPr>
            <a:spLocks xmlns:a="http://schemas.openxmlformats.org/drawingml/2006/main" noGrp="1"/>
          </p:cNvSpPr>
          <p:nvPr/>
        </p:nvSpPr>
        <p:spPr>
          <a:xfrm xmlns:a="http://schemas.openxmlformats.org/drawingml/2006/main">
            <a:off x="571500" y="21336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%ΔQx = (420 − 390) / 390 × 100% = 7,692307…%</a:t>
            </a:r>
          </a:p>
        </p:txBody>
      </p:sp>
      <p:sp>
        <p:nvSpPr>
          <p:cNvPr id="6" name="%ΔY = (33.000 − 30.000) / 30.000 × 100% = +10%">
            <a:extLst xmlns:a="http://schemas.openxmlformats.org/drawingml/2006/main">
              <a:ext uri="{FF2B5EF4-FFF2-40B4-BE49-F238E27FC236}">
                <a16:creationId xmlns:a16="http://schemas.microsoft.com/office/drawing/2014/main" id="{514C52A6-E711-46DE-9661-8206AB4AAF05}"/>
              </a:ext>
            </a:extLst>
          </p:cNvPr>
          <p:cNvSpPr>
            <a:spLocks xmlns:a="http://schemas.openxmlformats.org/drawingml/2006/main" noGrp="1"/>
          </p:cNvSpPr>
          <p:nvPr/>
        </p:nvSpPr>
        <p:spPr>
          <a:xfrm xmlns:a="http://schemas.openxmlformats.org/drawingml/2006/main">
            <a:off x="571500" y="33623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%ΔY = (33.000 − 30.000) / 30.000 × 100% = +10%</a:t>
            </a:r>
          </a:p>
        </p:txBody>
      </p:sp>
      <p:sp>
        <p:nvSpPr>
          <p:cNvPr id="7" name="Ei = 7,692307…% / 10% ≈ +0,77">
            <a:extLst xmlns:a="http://schemas.openxmlformats.org/drawingml/2006/main">
              <a:ext uri="{FF2B5EF4-FFF2-40B4-BE49-F238E27FC236}">
                <a16:creationId xmlns:a16="http://schemas.microsoft.com/office/drawing/2014/main" id="{CC7EFDEE-7E0D-40B8-B07B-BEAE729ECB9E}"/>
              </a:ext>
            </a:extLst>
          </p:cNvPr>
          <p:cNvSpPr>
            <a:spLocks xmlns:a="http://schemas.openxmlformats.org/drawingml/2006/main" noGrp="1"/>
          </p:cNvSpPr>
          <p:nvPr/>
        </p:nvSpPr>
        <p:spPr>
          <a:xfrm xmlns:a="http://schemas.openxmlformats.org/drawingml/2006/main">
            <a:off x="571500" y="46386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0665B"/>
                </a:solidFill>
                <a:latin typeface="Arial"/>
                <a:ea typeface="Arial"/>
                <a:cs typeface="Arial"/>
              </a:defRPr>
            </a:pPr>
            <a:r>
              <a:rPr sz="3450" b="1">
                <a:solidFill>
                  <a:srgbClr val="20665B"/>
                </a:solidFill>
                <a:latin typeface="Arial"/>
                <a:ea typeface="Arial"/>
                <a:cs typeface="Arial"/>
              </a:rPr>
              <a:t>Ei = 7,692307…% / 10% ≈ +0,77</a:t>
            </a:r>
          </a:p>
        </p:txBody>
      </p:sp>
      <p:sp>
        <p:nvSpPr>
          <p:cNvPr id="8" name="0 &lt; Ei &lt; 1 → normaal goed in deze situatie.&#10;Qx stijgt procen">
            <a:extLst xmlns:a="http://schemas.openxmlformats.org/drawingml/2006/main">
              <a:ext uri="{FF2B5EF4-FFF2-40B4-BE49-F238E27FC236}">
                <a16:creationId xmlns:a16="http://schemas.microsoft.com/office/drawing/2014/main" id="{0212883F-86E1-4A96-A734-FDF896D21BD8}"/>
              </a:ext>
            </a:extLst>
          </p:cNvPr>
          <p:cNvSpPr>
            <a:spLocks xmlns:a="http://schemas.openxmlformats.org/drawingml/2006/main" noGrp="1"/>
          </p:cNvSpPr>
          <p:nvPr/>
        </p:nvSpPr>
        <p:spPr>
          <a:xfrm xmlns:a="http://schemas.openxmlformats.org/drawingml/2006/main">
            <a:off x="571500" y="6162675"/>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0 &lt; Ei &lt; 1 → normaal goed in deze situatie.</a:t>
            </a:r>
          </a:p>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Qx stijgt procentueel minder sterk dan Y.</a:t>
            </a:r>
          </a:p>
        </p:txBody>
      </p:sp>
    </p:spTree>
    <p:extLst>
      <p:ext uri="{BB962C8B-B14F-4D97-AF65-F5344CB8AC3E}">
        <p14:creationId xmlns:p14="http://schemas.microsoft.com/office/powerpoint/2010/main" val="194234750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e · Y terug, alleen Pz omhoog">
            <a:extLst xmlns:a="http://schemas.openxmlformats.org/drawingml/2006/main">
              <a:ext uri="{FF2B5EF4-FFF2-40B4-BE49-F238E27FC236}">
                <a16:creationId xmlns:a16="http://schemas.microsoft.com/office/drawing/2014/main" id="{71D65E6F-3515-4041-B59D-28985D9447F8}"/>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8e · Y terug, alleen Pz omhoog</a:t>
            </a:r>
          </a:p>
        </p:txBody>
      </p:sp>
      <p:sp>
        <p:nvSpPr>
          <p:cNvPr id="2" name="">
            <a:extLst xmlns:a="http://schemas.openxmlformats.org/drawingml/2006/main">
              <a:ext uri="{FF2B5EF4-FFF2-40B4-BE49-F238E27FC236}">
                <a16:creationId xmlns:a16="http://schemas.microsoft.com/office/drawing/2014/main" id="{128BED8E-EB22-44AB-A3DE-34814F4A7279}"/>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BDD3675-9056-4213-90D9-49CC831BE4A2}"/>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Opgave 8e · Boekpagina 63</a:t>
            </a:r>
          </a:p>
        </p:txBody>
      </p:sp>
      <p:sp>
        <p:nvSpPr>
          <p:cNvPr id="4" name="slide-number">
            <a:extLst xmlns:a="http://schemas.openxmlformats.org/drawingml/2006/main">
              <a:ext uri="{FF2B5EF4-FFF2-40B4-BE49-F238E27FC236}">
                <a16:creationId xmlns:a16="http://schemas.microsoft.com/office/drawing/2014/main" id="{328E23E6-CF53-41BE-9683-331F08B80227}"/>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graphicFrame>
        <p:nvGraphicFramePr>
          <p:cNvPr id="13" name=""/>
          <p:cNvGraphicFramePr/>
          <p:nvPr/>
        </p:nvGraphicFramePr>
        <p:xfrm>
          <a:off xmlns:a="http://schemas.openxmlformats.org/drawingml/2006/main" x="571500" y="2000250"/>
          <a:ext xmlns:a="http://schemas.openxmlformats.org/drawingml/2006/main" cx="14097000" cy="2800350"/>
        </p:xfrm>
        <a:graphic xmlns:a="http://schemas.openxmlformats.org/drawingml/2006/main">
          <a:graphicData uri="http://schemas.openxmlformats.org/drawingml/2006/table">
            <a:tbl>
              <a:tblPr/>
              <a:tblGrid>
                <a:gridCol w="5810250"/>
                <a:gridCol w="1428750"/>
                <a:gridCol w="1428750"/>
                <a:gridCol w="2286000"/>
                <a:gridCol w="3143250"/>
              </a:tblGrid>
              <a:tr h="700088">
                <a:tc>
                  <a:txBody>
                    <a:bodyPr lIns="171450" tIns="95250" rIns="152400" bIns="95250"/>
                    <a:lstStyle/>
                    <a:p>
                      <a:r>
                        <a:rPr sz="2250" b="1">
                          <a:solidFill>
                            <a:srgbClr val="FFFFFF"/>
                          </a:solidFill>
                          <a:latin typeface="Arial"/>
                          <a:ea typeface="Arial"/>
                          <a:cs typeface="Arial"/>
                        </a:rPr>
                        <a:t>Scenario</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Px</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Pz</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Y</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Qx per maand</a:t>
                      </a:r>
                    </a:p>
                  </a:txBody>
                  <a:tcPr marL="91440" marR="91440" marT="45720" marB="45720" anchor="ctr">
                    <a:solidFill>
                      <a:srgbClr val="183247"/>
                    </a:solidFill>
                  </a:tcPr>
                </a:tc>
              </a:tr>
              <a:tr h="700088">
                <a:tc>
                  <a:txBody>
                    <a:bodyPr lIns="171450" tIns="95250" rIns="152400" bIns="95250"/>
                    <a:lstStyle/>
                    <a:p>
                      <a:r>
                        <a:rPr sz="2250" b="0">
                          <a:solidFill>
                            <a:srgbClr val="183247"/>
                          </a:solidFill>
                          <a:latin typeface="Arial"/>
                          <a:ea typeface="Arial"/>
                          <a:cs typeface="Arial"/>
                        </a:rPr>
                        <a:t>Begin</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30.000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390</a:t>
                      </a:r>
                    </a:p>
                  </a:txBody>
                  <a:tcPr marL="91440" marR="91440" marT="45720" marB="45720" anchor="ctr">
                    <a:solidFill>
                      <a:srgbClr val="FFFFFF"/>
                    </a:solidFill>
                  </a:tcPr>
                </a:tc>
              </a:tr>
              <a:tr h="700088">
                <a:tc>
                  <a:txBody>
                    <a:bodyPr lIns="171450" tIns="95250" rIns="152400" bIns="95250"/>
                    <a:lstStyle/>
                    <a:p>
                      <a:r>
                        <a:rPr sz="2250" b="0">
                          <a:solidFill>
                            <a:srgbClr val="183247"/>
                          </a:solidFill>
                          <a:latin typeface="Arial"/>
                          <a:ea typeface="Arial"/>
                          <a:cs typeface="Arial"/>
                        </a:rPr>
                        <a:t>Alleen hoger Y (d)</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10</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20</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33.000</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420</a:t>
                      </a:r>
                    </a:p>
                  </a:txBody>
                  <a:tcPr marL="91440" marR="91440" marT="45720" marB="45720" anchor="ctr">
                    <a:solidFill>
                      <a:srgbClr val="EFF4F7"/>
                    </a:solidFill>
                  </a:tcPr>
                </a:tc>
              </a:tr>
              <a:tr h="700088">
                <a:tc>
                  <a:txBody>
                    <a:bodyPr lIns="171450" tIns="95250" rIns="152400" bIns="95250"/>
                    <a:lstStyle/>
                    <a:p>
                      <a:r>
                        <a:rPr sz="2250" b="0">
                          <a:solidFill>
                            <a:srgbClr val="183247"/>
                          </a:solidFill>
                          <a:latin typeface="Arial"/>
                          <a:ea typeface="Arial"/>
                          <a:cs typeface="Arial"/>
                        </a:rPr>
                        <a:t>Y terug; hoger Pz (e)</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30.000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392</a:t>
                      </a:r>
                    </a:p>
                  </a:txBody>
                  <a:tcPr marL="91440" marR="91440" marT="45720" marB="45720" anchor="ctr">
                    <a:solidFill>
                      <a:srgbClr val="FFFFFF"/>
                    </a:solidFill>
                  </a:tcPr>
                </a:tc>
              </a:tr>
            </a:tbl>
          </a:graphicData>
        </a:graphic>
      </p:graphicFrame>
      <p:sp>
        <p:nvSpPr>
          <p:cNvPr id="6" name="Qx = 100 − 2 × 10 + 0,5 × 24 + 0,01 × 30.000">
            <a:extLst xmlns:a="http://schemas.openxmlformats.org/drawingml/2006/main">
              <a:ext uri="{FF2B5EF4-FFF2-40B4-BE49-F238E27FC236}">
                <a16:creationId xmlns:a16="http://schemas.microsoft.com/office/drawing/2014/main" id="{4AAE7DA2-7450-4CE0-B421-AF65AFAD40D6}"/>
              </a:ext>
            </a:extLst>
          </p:cNvPr>
          <p:cNvSpPr>
            <a:spLocks xmlns:a="http://schemas.openxmlformats.org/drawingml/2006/main" noGrp="1"/>
          </p:cNvSpPr>
          <p:nvPr/>
        </p:nvSpPr>
        <p:spPr>
          <a:xfrm xmlns:a="http://schemas.openxmlformats.org/drawingml/2006/main">
            <a:off x="571500" y="52673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Qx = 100 − 2 × 10 + 0,5 × 24 + 0,01 × 30.000</a:t>
            </a:r>
          </a:p>
        </p:txBody>
      </p:sp>
      <p:sp>
        <p:nvSpPr>
          <p:cNvPr id="7" name="= 100 − 20 + 12 + 300 = 392 abonnementen per maand">
            <a:extLst xmlns:a="http://schemas.openxmlformats.org/drawingml/2006/main">
              <a:ext uri="{FF2B5EF4-FFF2-40B4-BE49-F238E27FC236}">
                <a16:creationId xmlns:a16="http://schemas.microsoft.com/office/drawing/2014/main" id="{4EADB80C-AC4A-4D18-B6D3-5D75BB1163D1}"/>
              </a:ext>
            </a:extLst>
          </p:cNvPr>
          <p:cNvSpPr>
            <a:spLocks xmlns:a="http://schemas.openxmlformats.org/drawingml/2006/main" noGrp="1"/>
          </p:cNvSpPr>
          <p:nvPr/>
        </p:nvSpPr>
        <p:spPr>
          <a:xfrm xmlns:a="http://schemas.openxmlformats.org/drawingml/2006/main">
            <a:off x="571500" y="62007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 100 − 20 + 12 + 300 = 392 abonnementen per maand</a:t>
            </a:r>
          </a:p>
        </p:txBody>
      </p:sp>
      <p:sp>
        <p:nvSpPr>
          <p:cNvPr id="8" name="Pz ↑ → Qx ↑ (390 → 392). Px = 10 en Y = 30.000 blijven gelij">
            <a:extLst xmlns:a="http://schemas.openxmlformats.org/drawingml/2006/main">
              <a:ext uri="{FF2B5EF4-FFF2-40B4-BE49-F238E27FC236}">
                <a16:creationId xmlns:a16="http://schemas.microsoft.com/office/drawing/2014/main" id="{3D2985EC-D38D-4F71-88F8-BD3A7715C8EC}"/>
              </a:ext>
            </a:extLst>
          </p:cNvPr>
          <p:cNvSpPr>
            <a:spLocks xmlns:a="http://schemas.openxmlformats.org/drawingml/2006/main" noGrp="1"/>
          </p:cNvSpPr>
          <p:nvPr/>
        </p:nvSpPr>
        <p:spPr>
          <a:xfrm xmlns:a="http://schemas.openxmlformats.org/drawingml/2006/main">
            <a:off x="571500" y="73247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Pz ↑ → Qx ↑ (390 → 392). Px = 10 en Y = 30.000 blijven gelijk.</a:t>
            </a:r>
          </a:p>
        </p:txBody>
      </p:sp>
    </p:spTree>
    <p:extLst>
      <p:ext uri="{BB962C8B-B14F-4D97-AF65-F5344CB8AC3E}">
        <p14:creationId xmlns:p14="http://schemas.microsoft.com/office/powerpoint/2010/main" val="27414481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trole van je antwoord op opgave 8">
            <a:extLst xmlns:a="http://schemas.openxmlformats.org/drawingml/2006/main">
              <a:ext uri="{FF2B5EF4-FFF2-40B4-BE49-F238E27FC236}">
                <a16:creationId xmlns:a16="http://schemas.microsoft.com/office/drawing/2014/main" id="{4CB3D772-A846-4F83-8E1F-4BCDFACAA2ED}"/>
              </a:ext>
            </a:extLst>
          </p:cNvPr>
          <p:cNvSpPr>
            <a:spLocks xmlns:a="http://schemas.openxmlformats.org/drawingml/2006/main" noGrp="1"/>
          </p:cNvSpPr>
          <p:nvPr/>
        </p:nvSpPr>
        <p:spPr>
          <a:xfrm xmlns:a="http://schemas.openxmlformats.org/drawingml/2006/main">
            <a:off x="571500" y="361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Controle van je antwoord op opgave 8</a:t>
            </a:r>
          </a:p>
        </p:txBody>
      </p:sp>
      <p:sp>
        <p:nvSpPr>
          <p:cNvPr id="2" name="">
            <a:extLst xmlns:a="http://schemas.openxmlformats.org/drawingml/2006/main">
              <a:ext uri="{FF2B5EF4-FFF2-40B4-BE49-F238E27FC236}">
                <a16:creationId xmlns:a16="http://schemas.microsoft.com/office/drawing/2014/main" id="{B3957169-A956-43DB-9B6C-1D0BC462CD2F}"/>
              </a:ext>
            </a:extLst>
          </p:cNvPr>
          <p:cNvSpPr>
            <a:spLocks xmlns:a="http://schemas.openxmlformats.org/drawingml/2006/main" noGrp="1"/>
          </p:cNvSpPr>
          <p:nvPr/>
        </p:nvSpPr>
        <p:spPr>
          <a:xfrm xmlns:a="http://schemas.openxmlformats.org/drawingml/2006/main">
            <a:off x="571500" y="1438275"/>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4F7CB7B-DED9-4E23-B8EB-CA8F523AD7FD}"/>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4" name="slide-number">
            <a:extLst xmlns:a="http://schemas.openxmlformats.org/drawingml/2006/main">
              <a:ext uri="{FF2B5EF4-FFF2-40B4-BE49-F238E27FC236}">
                <a16:creationId xmlns:a16="http://schemas.microsoft.com/office/drawing/2014/main" id="{28179314-E4C3-42A7-9D24-206B75E924F6}"/>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29</a:t>
            </a:r>
          </a:p>
        </p:txBody>
      </p:sp>
      <p:sp>
        <p:nvSpPr>
          <p:cNvPr id="5" name="a–b · Inkomen">
            <a:extLst xmlns:a="http://schemas.openxmlformats.org/drawingml/2006/main">
              <a:ext uri="{FF2B5EF4-FFF2-40B4-BE49-F238E27FC236}">
                <a16:creationId xmlns:a16="http://schemas.microsoft.com/office/drawing/2014/main" id="{0C7EF0BB-6405-4999-80EC-C97A1B24BA7A}"/>
              </a:ext>
            </a:extLst>
          </p:cNvPr>
          <p:cNvSpPr>
            <a:spLocks xmlns:a="http://schemas.openxmlformats.org/drawingml/2006/main" noGrp="1"/>
          </p:cNvSpPr>
          <p:nvPr/>
        </p:nvSpPr>
        <p:spPr>
          <a:xfrm xmlns:a="http://schemas.openxmlformats.org/drawingml/2006/main">
            <a:off x="571500" y="2095500"/>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a–b · Inkomen</a:t>
            </a:r>
          </a:p>
        </p:txBody>
      </p:sp>
      <p:sp>
        <p:nvSpPr>
          <p:cNvPr id="6" name="Ei mét teken, categorie en betekenis in deze situatie.">
            <a:extLst xmlns:a="http://schemas.openxmlformats.org/drawingml/2006/main">
              <a:ext uri="{FF2B5EF4-FFF2-40B4-BE49-F238E27FC236}">
                <a16:creationId xmlns:a16="http://schemas.microsoft.com/office/drawing/2014/main" id="{46FC22AC-6931-401A-8E4F-49A17BF52979}"/>
              </a:ext>
            </a:extLst>
          </p:cNvPr>
          <p:cNvSpPr>
            <a:spLocks xmlns:a="http://schemas.openxmlformats.org/drawingml/2006/main" noGrp="1"/>
          </p:cNvSpPr>
          <p:nvPr/>
        </p:nvSpPr>
        <p:spPr>
          <a:xfrm xmlns:a="http://schemas.openxmlformats.org/drawingml/2006/main">
            <a:off x="4857750" y="2095500"/>
            <a:ext cx="981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Ei mét teken, categorie en betekenis in deze situatie.</a:t>
            </a:r>
          </a:p>
        </p:txBody>
      </p:sp>
      <p:sp>
        <p:nvSpPr>
          <p:cNvPr id="7" name="">
            <a:extLst xmlns:a="http://schemas.openxmlformats.org/drawingml/2006/main">
              <a:ext uri="{FF2B5EF4-FFF2-40B4-BE49-F238E27FC236}">
                <a16:creationId xmlns:a16="http://schemas.microsoft.com/office/drawing/2014/main" id="{036AEB07-0074-4CCE-8709-396647C52C6C}"/>
              </a:ext>
            </a:extLst>
          </p:cNvPr>
          <p:cNvSpPr>
            <a:spLocks xmlns:a="http://schemas.openxmlformats.org/drawingml/2006/main" noGrp="1"/>
          </p:cNvSpPr>
          <p:nvPr/>
        </p:nvSpPr>
        <p:spPr>
          <a:xfrm xmlns:a="http://schemas.openxmlformats.org/drawingml/2006/main">
            <a:off x="571500" y="3133725"/>
            <a:ext cx="14097000" cy="0"/>
          </a:xfrm>
          <a:prstGeom xmlns:a="http://schemas.openxmlformats.org/drawingml/2006/main" prst="line">
            <a:avLst/>
          </a:prstGeom>
          <a:ln xmlns:a="http://schemas.openxmlformats.org/drawingml/2006/main" w="19050">
            <a:solidFill>
              <a:srgbClr val="C6D2DB"/>
            </a:solidFill>
          </a:ln>
        </p:spPr>
      </p:sp>
      <p:sp>
        <p:nvSpPr>
          <p:cNvPr id="8" name="c · Andere prijs">
            <a:extLst xmlns:a="http://schemas.openxmlformats.org/drawingml/2006/main">
              <a:ext uri="{FF2B5EF4-FFF2-40B4-BE49-F238E27FC236}">
                <a16:creationId xmlns:a16="http://schemas.microsoft.com/office/drawing/2014/main" id="{EBE381B2-6891-4ECE-B07F-ACFC0A350DA9}"/>
              </a:ext>
            </a:extLst>
          </p:cNvPr>
          <p:cNvSpPr>
            <a:spLocks xmlns:a="http://schemas.openxmlformats.org/drawingml/2006/main" noGrp="1"/>
          </p:cNvSpPr>
          <p:nvPr/>
        </p:nvSpPr>
        <p:spPr>
          <a:xfrm xmlns:a="http://schemas.openxmlformats.org/drawingml/2006/main">
            <a:off x="571500" y="3409950"/>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 · Andere prijs</a:t>
            </a:r>
          </a:p>
        </p:txBody>
      </p:sp>
      <p:sp>
        <p:nvSpPr>
          <p:cNvPr id="9" name="Beide Ek’s, beide goederen en beide relaties.">
            <a:extLst xmlns:a="http://schemas.openxmlformats.org/drawingml/2006/main">
              <a:ext uri="{FF2B5EF4-FFF2-40B4-BE49-F238E27FC236}">
                <a16:creationId xmlns:a16="http://schemas.microsoft.com/office/drawing/2014/main" id="{195D8A54-AF42-4DAA-BDC6-26715BADA8D4}"/>
              </a:ext>
            </a:extLst>
          </p:cNvPr>
          <p:cNvSpPr>
            <a:spLocks xmlns:a="http://schemas.openxmlformats.org/drawingml/2006/main" noGrp="1"/>
          </p:cNvSpPr>
          <p:nvPr/>
        </p:nvSpPr>
        <p:spPr>
          <a:xfrm xmlns:a="http://schemas.openxmlformats.org/drawingml/2006/main">
            <a:off x="4857750" y="3409950"/>
            <a:ext cx="981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Beide Ek’s, beide goederen en beide relaties.</a:t>
            </a:r>
          </a:p>
        </p:txBody>
      </p:sp>
      <p:sp>
        <p:nvSpPr>
          <p:cNvPr id="10" name="">
            <a:extLst xmlns:a="http://schemas.openxmlformats.org/drawingml/2006/main">
              <a:ext uri="{FF2B5EF4-FFF2-40B4-BE49-F238E27FC236}">
                <a16:creationId xmlns:a16="http://schemas.microsoft.com/office/drawing/2014/main" id="{50D6C6FC-36E6-45C3-B908-F456E8276EBF}"/>
              </a:ext>
            </a:extLst>
          </p:cNvPr>
          <p:cNvSpPr>
            <a:spLocks xmlns:a="http://schemas.openxmlformats.org/drawingml/2006/main" noGrp="1"/>
          </p:cNvSpPr>
          <p:nvPr/>
        </p:nvSpPr>
        <p:spPr>
          <a:xfrm xmlns:a="http://schemas.openxmlformats.org/drawingml/2006/main">
            <a:off x="571500" y="4448175"/>
            <a:ext cx="14097000" cy="0"/>
          </a:xfrm>
          <a:prstGeom xmlns:a="http://schemas.openxmlformats.org/drawingml/2006/main" prst="line">
            <a:avLst/>
          </a:prstGeom>
          <a:ln xmlns:a="http://schemas.openxmlformats.org/drawingml/2006/main" w="19050">
            <a:solidFill>
              <a:srgbClr val="C6D2DB"/>
            </a:solidFill>
          </a:ln>
        </p:spPr>
      </p:sp>
      <p:sp>
        <p:nvSpPr>
          <p:cNvPr id="11" name="d · Hoger Y">
            <a:extLst xmlns:a="http://schemas.openxmlformats.org/drawingml/2006/main">
              <a:ext uri="{FF2B5EF4-FFF2-40B4-BE49-F238E27FC236}">
                <a16:creationId xmlns:a16="http://schemas.microsoft.com/office/drawing/2014/main" id="{BBECA915-C011-4B04-915C-FC6C55462365}"/>
              </a:ext>
            </a:extLst>
          </p:cNvPr>
          <p:cNvSpPr>
            <a:spLocks xmlns:a="http://schemas.openxmlformats.org/drawingml/2006/main" noGrp="1"/>
          </p:cNvSpPr>
          <p:nvPr/>
        </p:nvSpPr>
        <p:spPr>
          <a:xfrm xmlns:a="http://schemas.openxmlformats.org/drawingml/2006/main">
            <a:off x="571500" y="4724400"/>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d · Hoger Y</a:t>
            </a:r>
          </a:p>
        </p:txBody>
      </p:sp>
      <p:sp>
        <p:nvSpPr>
          <p:cNvPr id="12" name="Oud/nieuw Qx, procenten, Ei; Px en Pz gelijk.">
            <a:extLst xmlns:a="http://schemas.openxmlformats.org/drawingml/2006/main">
              <a:ext uri="{FF2B5EF4-FFF2-40B4-BE49-F238E27FC236}">
                <a16:creationId xmlns:a16="http://schemas.microsoft.com/office/drawing/2014/main" id="{B9C47B26-8120-4F1A-99D8-C1D69DC6C14C}"/>
              </a:ext>
            </a:extLst>
          </p:cNvPr>
          <p:cNvSpPr>
            <a:spLocks xmlns:a="http://schemas.openxmlformats.org/drawingml/2006/main" noGrp="1"/>
          </p:cNvSpPr>
          <p:nvPr/>
        </p:nvSpPr>
        <p:spPr>
          <a:xfrm xmlns:a="http://schemas.openxmlformats.org/drawingml/2006/main">
            <a:off x="4857750" y="4724400"/>
            <a:ext cx="981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Oud/nieuw Qx, procenten, Ei; Px en Pz gelijk.</a:t>
            </a:r>
          </a:p>
        </p:txBody>
      </p:sp>
      <p:sp>
        <p:nvSpPr>
          <p:cNvPr id="13" name="">
            <a:extLst xmlns:a="http://schemas.openxmlformats.org/drawingml/2006/main">
              <a:ext uri="{FF2B5EF4-FFF2-40B4-BE49-F238E27FC236}">
                <a16:creationId xmlns:a16="http://schemas.microsoft.com/office/drawing/2014/main" id="{9361E9B5-DD10-48FE-8F39-467B71F2B7F7}"/>
              </a:ext>
            </a:extLst>
          </p:cNvPr>
          <p:cNvSpPr>
            <a:spLocks xmlns:a="http://schemas.openxmlformats.org/drawingml/2006/main" noGrp="1"/>
          </p:cNvSpPr>
          <p:nvPr/>
        </p:nvSpPr>
        <p:spPr>
          <a:xfrm xmlns:a="http://schemas.openxmlformats.org/drawingml/2006/main">
            <a:off x="571500" y="5762625"/>
            <a:ext cx="14097000" cy="0"/>
          </a:xfrm>
          <a:prstGeom xmlns:a="http://schemas.openxmlformats.org/drawingml/2006/main" prst="line">
            <a:avLst/>
          </a:prstGeom>
          <a:ln xmlns:a="http://schemas.openxmlformats.org/drawingml/2006/main" w="19050">
            <a:solidFill>
              <a:srgbClr val="C6D2DB"/>
            </a:solidFill>
          </a:ln>
        </p:spPr>
      </p:sp>
      <p:sp>
        <p:nvSpPr>
          <p:cNvPr id="14" name="e · Hoger Pz">
            <a:extLst xmlns:a="http://schemas.openxmlformats.org/drawingml/2006/main">
              <a:ext uri="{FF2B5EF4-FFF2-40B4-BE49-F238E27FC236}">
                <a16:creationId xmlns:a16="http://schemas.microsoft.com/office/drawing/2014/main" id="{88B1F418-6547-4C0A-9EE9-1F860E9EF732}"/>
              </a:ext>
            </a:extLst>
          </p:cNvPr>
          <p:cNvSpPr>
            <a:spLocks xmlns:a="http://schemas.openxmlformats.org/drawingml/2006/main" noGrp="1"/>
          </p:cNvSpPr>
          <p:nvPr/>
        </p:nvSpPr>
        <p:spPr>
          <a:xfrm xmlns:a="http://schemas.openxmlformats.org/drawingml/2006/main">
            <a:off x="571500" y="6038850"/>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 · Hoger Pz</a:t>
            </a:r>
          </a:p>
        </p:txBody>
      </p:sp>
      <p:sp>
        <p:nvSpPr>
          <p:cNvPr id="15" name="Y teruggezet; nieuwe Qx, richting en vaste variabelen.">
            <a:extLst xmlns:a="http://schemas.openxmlformats.org/drawingml/2006/main">
              <a:ext uri="{FF2B5EF4-FFF2-40B4-BE49-F238E27FC236}">
                <a16:creationId xmlns:a16="http://schemas.microsoft.com/office/drawing/2014/main" id="{FBC253DD-3A1E-4A80-80ED-5BF37F661016}"/>
              </a:ext>
            </a:extLst>
          </p:cNvPr>
          <p:cNvSpPr>
            <a:spLocks xmlns:a="http://schemas.openxmlformats.org/drawingml/2006/main" noGrp="1"/>
          </p:cNvSpPr>
          <p:nvPr/>
        </p:nvSpPr>
        <p:spPr>
          <a:xfrm xmlns:a="http://schemas.openxmlformats.org/drawingml/2006/main">
            <a:off x="4857750" y="6038850"/>
            <a:ext cx="981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Y teruggezet; nieuwe Qx, richting en vaste variabelen.</a:t>
            </a:r>
          </a:p>
        </p:txBody>
      </p:sp>
      <p:sp>
        <p:nvSpPr>
          <p:cNvPr id="16" name="Verbeter één ontbrekende berekening of uitleg in je schrift.">
            <a:extLst xmlns:a="http://schemas.openxmlformats.org/drawingml/2006/main">
              <a:ext uri="{FF2B5EF4-FFF2-40B4-BE49-F238E27FC236}">
                <a16:creationId xmlns:a16="http://schemas.microsoft.com/office/drawing/2014/main" id="{3E1E7873-C266-44B4-993D-8597AA20CD4F}"/>
              </a:ext>
            </a:extLst>
          </p:cNvPr>
          <p:cNvSpPr>
            <a:spLocks xmlns:a="http://schemas.openxmlformats.org/drawingml/2006/main" noGrp="1"/>
          </p:cNvSpPr>
          <p:nvPr/>
        </p:nvSpPr>
        <p:spPr>
          <a:xfrm xmlns:a="http://schemas.openxmlformats.org/drawingml/2006/main">
            <a:off x="571500" y="742950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Verbeter één ontbrekende berekening of uitleg in je schrift.</a:t>
            </a:r>
          </a:p>
        </p:txBody>
      </p:sp>
    </p:spTree>
    <p:extLst>
      <p:ext uri="{BB962C8B-B14F-4D97-AF65-F5344CB8AC3E}">
        <p14:creationId xmlns:p14="http://schemas.microsoft.com/office/powerpoint/2010/main" val="30292195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overview-title">
            <a:extLst xmlns:a="http://schemas.openxmlformats.org/drawingml/2006/main">
              <a:ext uri="{FF2B5EF4-FFF2-40B4-BE49-F238E27FC236}">
                <a16:creationId xmlns:a16="http://schemas.microsoft.com/office/drawing/2014/main" id="{3CEEC656-533A-4065-8184-1B24E8951B85}"/>
              </a:ext>
            </a:extLst>
          </p:cNvPr>
          <p:cNvSpPr>
            <a:spLocks xmlns:a="http://schemas.openxmlformats.org/drawingml/2006/main" noGrp="1"/>
          </p:cNvSpPr>
          <p:nvPr/>
        </p:nvSpPr>
        <p:spPr>
          <a:xfrm xmlns:a="http://schemas.openxmlformats.org/drawingml/2006/main">
            <a:off x="571500" y="2190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§2.2.3 Inkomenselasticiteit</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en kruislingse elasticiteit</a:t>
            </a:r>
          </a:p>
        </p:txBody>
      </p:sp>
      <p:sp>
        <p:nvSpPr>
          <p:cNvPr id="2" name="phase">
            <a:extLst xmlns:a="http://schemas.openxmlformats.org/drawingml/2006/main">
              <a:ext uri="{FF2B5EF4-FFF2-40B4-BE49-F238E27FC236}">
                <a16:creationId xmlns:a16="http://schemas.microsoft.com/office/drawing/2014/main" id="{FB5E135C-195D-4F75-B1B9-D70F185A3051}"/>
              </a:ext>
            </a:extLst>
          </p:cNvPr>
          <p:cNvSpPr>
            <a:spLocks xmlns:a="http://schemas.openxmlformats.org/drawingml/2006/main" noGrp="1"/>
          </p:cNvSpPr>
          <p:nvPr/>
        </p:nvSpPr>
        <p:spPr>
          <a:xfrm xmlns:a="http://schemas.openxmlformats.org/drawingml/2006/main">
            <a:off x="571500" y="1333500"/>
            <a:ext cx="1409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3" name="">
            <a:extLst xmlns:a="http://schemas.openxmlformats.org/drawingml/2006/main">
              <a:ext uri="{FF2B5EF4-FFF2-40B4-BE49-F238E27FC236}">
                <a16:creationId xmlns:a16="http://schemas.microsoft.com/office/drawing/2014/main" id="{4B35F294-B6CB-4494-83FF-272BCC916439}"/>
              </a:ext>
            </a:extLst>
          </p:cNvPr>
          <p:cNvSpPr>
            <a:spLocks xmlns:a="http://schemas.openxmlformats.org/drawingml/2006/main" noGrp="1"/>
          </p:cNvSpPr>
          <p:nvPr/>
        </p:nvSpPr>
        <p:spPr>
          <a:xfrm xmlns:a="http://schemas.openxmlformats.org/drawingml/2006/main">
            <a:off x="571500" y="1752600"/>
            <a:ext cx="14097000" cy="0"/>
          </a:xfrm>
          <a:prstGeom xmlns:a="http://schemas.openxmlformats.org/drawingml/2006/main" prst="line">
            <a:avLst/>
          </a:prstGeom>
          <a:ln xmlns:a="http://schemas.openxmlformats.org/drawingml/2006/main" w="19050">
            <a:solidFill>
              <a:srgbClr val="C6D2DB"/>
            </a:solidFill>
          </a:ln>
        </p:spPr>
      </p:sp>
      <p:sp>
        <p:nvSpPr>
          <p:cNvPr id="4" name="Lesroute">
            <a:extLst xmlns:a="http://schemas.openxmlformats.org/drawingml/2006/main">
              <a:ext uri="{FF2B5EF4-FFF2-40B4-BE49-F238E27FC236}">
                <a16:creationId xmlns:a16="http://schemas.microsoft.com/office/drawing/2014/main" id="{E98098BB-4639-4ED2-95F7-6B87D032739F}"/>
              </a:ext>
            </a:extLst>
          </p:cNvPr>
          <p:cNvSpPr>
            <a:spLocks xmlns:a="http://schemas.openxmlformats.org/drawingml/2006/main" noGrp="1"/>
          </p:cNvSpPr>
          <p:nvPr/>
        </p:nvSpPr>
        <p:spPr>
          <a:xfrm xmlns:a="http://schemas.openxmlformats.org/drawingml/2006/main">
            <a:off x="571500" y="200977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5" name="route-number-1">
            <a:extLst xmlns:a="http://schemas.openxmlformats.org/drawingml/2006/main">
              <a:ext uri="{FF2B5EF4-FFF2-40B4-BE49-F238E27FC236}">
                <a16:creationId xmlns:a16="http://schemas.microsoft.com/office/drawing/2014/main" id="{9D918AB1-21A3-4468-BDB0-4CC07389AC12}"/>
              </a:ext>
            </a:extLst>
          </p:cNvPr>
          <p:cNvSpPr>
            <a:spLocks xmlns:a="http://schemas.openxmlformats.org/drawingml/2006/main" noGrp="1"/>
          </p:cNvSpPr>
          <p:nvPr/>
        </p:nvSpPr>
        <p:spPr>
          <a:xfrm xmlns:a="http://schemas.openxmlformats.org/drawingml/2006/main">
            <a:off x="571500" y="2533650"/>
            <a:ext cx="45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6" name="route-1">
            <a:extLst xmlns:a="http://schemas.openxmlformats.org/drawingml/2006/main">
              <a:ext uri="{FF2B5EF4-FFF2-40B4-BE49-F238E27FC236}">
                <a16:creationId xmlns:a16="http://schemas.microsoft.com/office/drawing/2014/main" id="{FFC69A67-9CA9-4E40-936B-CED681935CE2}"/>
              </a:ext>
            </a:extLst>
          </p:cNvPr>
          <p:cNvSpPr>
            <a:spLocks xmlns:a="http://schemas.openxmlformats.org/drawingml/2006/main" noGrp="1"/>
          </p:cNvSpPr>
          <p:nvPr/>
        </p:nvSpPr>
        <p:spPr>
          <a:xfrm xmlns:a="http://schemas.openxmlformats.org/drawingml/2006/main">
            <a:off x="1104900" y="2533650"/>
            <a:ext cx="74199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7" name="route-number-2">
            <a:extLst xmlns:a="http://schemas.openxmlformats.org/drawingml/2006/main">
              <a:ext uri="{FF2B5EF4-FFF2-40B4-BE49-F238E27FC236}">
                <a16:creationId xmlns:a16="http://schemas.microsoft.com/office/drawing/2014/main" id="{B9F933C6-8D6F-4F51-BF9C-3BDD3E12FADF}"/>
              </a:ext>
            </a:extLst>
          </p:cNvPr>
          <p:cNvSpPr>
            <a:spLocks xmlns:a="http://schemas.openxmlformats.org/drawingml/2006/main" noGrp="1"/>
          </p:cNvSpPr>
          <p:nvPr/>
        </p:nvSpPr>
        <p:spPr>
          <a:xfrm xmlns:a="http://schemas.openxmlformats.org/drawingml/2006/main">
            <a:off x="571500" y="33432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8" name="route-2">
            <a:extLst xmlns:a="http://schemas.openxmlformats.org/drawingml/2006/main">
              <a:ext uri="{FF2B5EF4-FFF2-40B4-BE49-F238E27FC236}">
                <a16:creationId xmlns:a16="http://schemas.microsoft.com/office/drawing/2014/main" id="{1A690DEB-BCC9-4725-A270-1D433CC2D4BF}"/>
              </a:ext>
            </a:extLst>
          </p:cNvPr>
          <p:cNvSpPr>
            <a:spLocks xmlns:a="http://schemas.openxmlformats.org/drawingml/2006/main" noGrp="1"/>
          </p:cNvSpPr>
          <p:nvPr/>
        </p:nvSpPr>
        <p:spPr>
          <a:xfrm xmlns:a="http://schemas.openxmlformats.org/drawingml/2006/main">
            <a:off x="1104900" y="334327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9" name="route-number-3">
            <a:extLst xmlns:a="http://schemas.openxmlformats.org/drawingml/2006/main">
              <a:ext uri="{FF2B5EF4-FFF2-40B4-BE49-F238E27FC236}">
                <a16:creationId xmlns:a16="http://schemas.microsoft.com/office/drawing/2014/main" id="{81826374-58B0-4DEE-9323-2DF56DFF1BAE}"/>
              </a:ext>
            </a:extLst>
          </p:cNvPr>
          <p:cNvSpPr>
            <a:spLocks xmlns:a="http://schemas.openxmlformats.org/drawingml/2006/main" noGrp="1"/>
          </p:cNvSpPr>
          <p:nvPr/>
        </p:nvSpPr>
        <p:spPr>
          <a:xfrm xmlns:a="http://schemas.openxmlformats.org/drawingml/2006/main">
            <a:off x="571500" y="38671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0" name="route-3">
            <a:extLst xmlns:a="http://schemas.openxmlformats.org/drawingml/2006/main">
              <a:ext uri="{FF2B5EF4-FFF2-40B4-BE49-F238E27FC236}">
                <a16:creationId xmlns:a16="http://schemas.microsoft.com/office/drawing/2014/main" id="{CF8013C6-4D34-4E1A-AB43-D4ECAC7008A5}"/>
              </a:ext>
            </a:extLst>
          </p:cNvPr>
          <p:cNvSpPr>
            <a:spLocks xmlns:a="http://schemas.openxmlformats.org/drawingml/2006/main" noGrp="1"/>
          </p:cNvSpPr>
          <p:nvPr/>
        </p:nvSpPr>
        <p:spPr>
          <a:xfrm xmlns:a="http://schemas.openxmlformats.org/drawingml/2006/main">
            <a:off x="1104900" y="38671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1" name="route-number-4">
            <a:extLst xmlns:a="http://schemas.openxmlformats.org/drawingml/2006/main">
              <a:ext uri="{FF2B5EF4-FFF2-40B4-BE49-F238E27FC236}">
                <a16:creationId xmlns:a16="http://schemas.microsoft.com/office/drawing/2014/main" id="{0867201D-F957-4396-AD67-AEFF4AD149D5}"/>
              </a:ext>
            </a:extLst>
          </p:cNvPr>
          <p:cNvSpPr>
            <a:spLocks xmlns:a="http://schemas.openxmlformats.org/drawingml/2006/main" noGrp="1"/>
          </p:cNvSpPr>
          <p:nvPr/>
        </p:nvSpPr>
        <p:spPr>
          <a:xfrm xmlns:a="http://schemas.openxmlformats.org/drawingml/2006/main">
            <a:off x="571500" y="4381500"/>
            <a:ext cx="4572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2" name="route-4">
            <a:extLst xmlns:a="http://schemas.openxmlformats.org/drawingml/2006/main">
              <a:ext uri="{FF2B5EF4-FFF2-40B4-BE49-F238E27FC236}">
                <a16:creationId xmlns:a16="http://schemas.microsoft.com/office/drawing/2014/main" id="{9AE7E7BD-7E6D-42C3-9F65-041372D615D9}"/>
              </a:ext>
            </a:extLst>
          </p:cNvPr>
          <p:cNvSpPr>
            <a:spLocks xmlns:a="http://schemas.openxmlformats.org/drawingml/2006/main" noGrp="1"/>
          </p:cNvSpPr>
          <p:nvPr/>
        </p:nvSpPr>
        <p:spPr>
          <a:xfrm xmlns:a="http://schemas.openxmlformats.org/drawingml/2006/main">
            <a:off x="1104900" y="4381500"/>
            <a:ext cx="74199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3" name="route-number-5">
            <a:extLst xmlns:a="http://schemas.openxmlformats.org/drawingml/2006/main">
              <a:ext uri="{FF2B5EF4-FFF2-40B4-BE49-F238E27FC236}">
                <a16:creationId xmlns:a16="http://schemas.microsoft.com/office/drawing/2014/main" id="{C5F72DD9-D63B-47A4-9E7A-51B29602EAE8}"/>
              </a:ext>
            </a:extLst>
          </p:cNvPr>
          <p:cNvSpPr>
            <a:spLocks xmlns:a="http://schemas.openxmlformats.org/drawingml/2006/main" noGrp="1"/>
          </p:cNvSpPr>
          <p:nvPr/>
        </p:nvSpPr>
        <p:spPr>
          <a:xfrm xmlns:a="http://schemas.openxmlformats.org/drawingml/2006/main">
            <a:off x="571500" y="6019800"/>
            <a:ext cx="45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4" name="route-5">
            <a:extLst xmlns:a="http://schemas.openxmlformats.org/drawingml/2006/main">
              <a:ext uri="{FF2B5EF4-FFF2-40B4-BE49-F238E27FC236}">
                <a16:creationId xmlns:a16="http://schemas.microsoft.com/office/drawing/2014/main" id="{817A71DD-DF03-4068-99B2-EA11A27E8D9A}"/>
              </a:ext>
            </a:extLst>
          </p:cNvPr>
          <p:cNvSpPr>
            <a:spLocks xmlns:a="http://schemas.openxmlformats.org/drawingml/2006/main" noGrp="1"/>
          </p:cNvSpPr>
          <p:nvPr/>
        </p:nvSpPr>
        <p:spPr>
          <a:xfrm xmlns:a="http://schemas.openxmlformats.org/drawingml/2006/main">
            <a:off x="1104900" y="6019800"/>
            <a:ext cx="7419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5" name="route-number-6">
            <a:extLst xmlns:a="http://schemas.openxmlformats.org/drawingml/2006/main">
              <a:ext uri="{FF2B5EF4-FFF2-40B4-BE49-F238E27FC236}">
                <a16:creationId xmlns:a16="http://schemas.microsoft.com/office/drawing/2014/main" id="{424B2458-04B6-401A-9221-1D513FF6DC08}"/>
              </a:ext>
            </a:extLst>
          </p:cNvPr>
          <p:cNvSpPr>
            <a:spLocks xmlns:a="http://schemas.openxmlformats.org/drawingml/2006/main" noGrp="1"/>
          </p:cNvSpPr>
          <p:nvPr/>
        </p:nvSpPr>
        <p:spPr>
          <a:xfrm xmlns:a="http://schemas.openxmlformats.org/drawingml/2006/main">
            <a:off x="571500" y="6696075"/>
            <a:ext cx="45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6" name="route-6">
            <a:extLst xmlns:a="http://schemas.openxmlformats.org/drawingml/2006/main">
              <a:ext uri="{FF2B5EF4-FFF2-40B4-BE49-F238E27FC236}">
                <a16:creationId xmlns:a16="http://schemas.microsoft.com/office/drawing/2014/main" id="{F5DBA845-71B1-471D-819E-193B53022355}"/>
              </a:ext>
            </a:extLst>
          </p:cNvPr>
          <p:cNvSpPr>
            <a:spLocks xmlns:a="http://schemas.openxmlformats.org/drawingml/2006/main" noGrp="1"/>
          </p:cNvSpPr>
          <p:nvPr/>
        </p:nvSpPr>
        <p:spPr>
          <a:xfrm xmlns:a="http://schemas.openxmlformats.org/drawingml/2006/main">
            <a:off x="1104900" y="6696075"/>
            <a:ext cx="7419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7" name="route-number-7">
            <a:extLst xmlns:a="http://schemas.openxmlformats.org/drawingml/2006/main">
              <a:ext uri="{FF2B5EF4-FFF2-40B4-BE49-F238E27FC236}">
                <a16:creationId xmlns:a16="http://schemas.microsoft.com/office/drawing/2014/main" id="{5935E10D-A164-4C03-8BF9-70A38E4AC8E1}"/>
              </a:ext>
            </a:extLst>
          </p:cNvPr>
          <p:cNvSpPr>
            <a:spLocks xmlns:a="http://schemas.openxmlformats.org/drawingml/2006/main" noGrp="1"/>
          </p:cNvSpPr>
          <p:nvPr/>
        </p:nvSpPr>
        <p:spPr>
          <a:xfrm xmlns:a="http://schemas.openxmlformats.org/drawingml/2006/main">
            <a:off x="571500" y="7353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18" name="route-7">
            <a:extLst xmlns:a="http://schemas.openxmlformats.org/drawingml/2006/main">
              <a:ext uri="{FF2B5EF4-FFF2-40B4-BE49-F238E27FC236}">
                <a16:creationId xmlns:a16="http://schemas.microsoft.com/office/drawing/2014/main" id="{12683C0C-3EB8-401C-B8CF-F9E3DF2D9D30}"/>
              </a:ext>
            </a:extLst>
          </p:cNvPr>
          <p:cNvSpPr>
            <a:spLocks xmlns:a="http://schemas.openxmlformats.org/drawingml/2006/main" noGrp="1"/>
          </p:cNvSpPr>
          <p:nvPr/>
        </p:nvSpPr>
        <p:spPr>
          <a:xfrm xmlns:a="http://schemas.openxmlformats.org/drawingml/2006/main">
            <a:off x="1104900" y="73533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19" name="Lesdoelen">
            <a:extLst xmlns:a="http://schemas.openxmlformats.org/drawingml/2006/main">
              <a:ext uri="{FF2B5EF4-FFF2-40B4-BE49-F238E27FC236}">
                <a16:creationId xmlns:a16="http://schemas.microsoft.com/office/drawing/2014/main" id="{BCB129F0-1167-4E1A-B28A-314D3DD311DD}"/>
              </a:ext>
            </a:extLst>
          </p:cNvPr>
          <p:cNvSpPr>
            <a:spLocks xmlns:a="http://schemas.openxmlformats.org/drawingml/2006/main" noGrp="1"/>
          </p:cNvSpPr>
          <p:nvPr/>
        </p:nvSpPr>
        <p:spPr>
          <a:xfrm xmlns:a="http://schemas.openxmlformats.org/drawingml/2006/main">
            <a:off x="9258300" y="2009775"/>
            <a:ext cx="5410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0" name="overview-goals">
            <a:extLst xmlns:a="http://schemas.openxmlformats.org/drawingml/2006/main">
              <a:ext uri="{FF2B5EF4-FFF2-40B4-BE49-F238E27FC236}">
                <a16:creationId xmlns:a16="http://schemas.microsoft.com/office/drawing/2014/main" id="{46FF4F83-15EC-4293-8A78-D8DB17D092E3}"/>
              </a:ext>
            </a:extLst>
          </p:cNvPr>
          <p:cNvSpPr>
            <a:spLocks xmlns:a="http://schemas.openxmlformats.org/drawingml/2006/main" noGrp="1"/>
          </p:cNvSpPr>
          <p:nvPr/>
        </p:nvSpPr>
        <p:spPr>
          <a:xfrm xmlns:a="http://schemas.openxmlformats.org/drawingml/2006/main">
            <a:off x="9258300" y="2533650"/>
            <a:ext cx="5410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Ei en Ek berekenen en indelen.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Beide goederen benoemen.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Vraagfuncties onderzoeken.</a:t>
            </a:r>
          </a:p>
        </p:txBody>
      </p:sp>
      <p:sp>
        <p:nvSpPr>
          <p:cNvPr id="21" name="">
            <a:extLst xmlns:a="http://schemas.openxmlformats.org/drawingml/2006/main">
              <a:ext uri="{FF2B5EF4-FFF2-40B4-BE49-F238E27FC236}">
                <a16:creationId xmlns:a16="http://schemas.microsoft.com/office/drawing/2014/main" id="{E8F79E27-0C5E-4232-96A1-97724512987C}"/>
              </a:ext>
            </a:extLst>
          </p:cNvPr>
          <p:cNvSpPr>
            <a:spLocks xmlns:a="http://schemas.openxmlformats.org/drawingml/2006/main" noGrp="1"/>
          </p:cNvSpPr>
          <p:nvPr/>
        </p:nvSpPr>
        <p:spPr>
          <a:xfrm xmlns:a="http://schemas.openxmlformats.org/drawingml/2006/main">
            <a:off x="9258300" y="3609975"/>
            <a:ext cx="5410200" cy="0"/>
          </a:xfrm>
          <a:prstGeom xmlns:a="http://schemas.openxmlformats.org/drawingml/2006/main" prst="line">
            <a:avLst/>
          </a:prstGeom>
          <a:ln xmlns:a="http://schemas.openxmlformats.org/drawingml/2006/main" w="19050">
            <a:solidFill>
              <a:srgbClr val="C6D2DB"/>
            </a:solidFill>
          </a:ln>
        </p:spPr>
      </p:sp>
      <p:sp>
        <p:nvSpPr>
          <p:cNvPr id="22" name="Startopdracht · pagina 60">
            <a:extLst xmlns:a="http://schemas.openxmlformats.org/drawingml/2006/main">
              <a:ext uri="{FF2B5EF4-FFF2-40B4-BE49-F238E27FC236}">
                <a16:creationId xmlns:a16="http://schemas.microsoft.com/office/drawing/2014/main" id="{B914C7DE-26F5-4EB2-971F-00205AFD4847}"/>
              </a:ext>
            </a:extLst>
          </p:cNvPr>
          <p:cNvSpPr>
            <a:spLocks xmlns:a="http://schemas.openxmlformats.org/drawingml/2006/main" noGrp="1"/>
          </p:cNvSpPr>
          <p:nvPr/>
        </p:nvSpPr>
        <p:spPr>
          <a:xfrm xmlns:a="http://schemas.openxmlformats.org/drawingml/2006/main">
            <a:off x="9258300" y="3781425"/>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Startopdracht · pagina 60</a:t>
            </a:r>
          </a:p>
        </p:txBody>
      </p:sp>
      <p:sp>
        <p:nvSpPr>
          <p:cNvPr id="23" name="overview-start">
            <a:extLst xmlns:a="http://schemas.openxmlformats.org/drawingml/2006/main">
              <a:ext uri="{FF2B5EF4-FFF2-40B4-BE49-F238E27FC236}">
                <a16:creationId xmlns:a16="http://schemas.microsoft.com/office/drawing/2014/main" id="{3A1511DA-9153-4064-8E73-977AF606DF8F}"/>
              </a:ext>
            </a:extLst>
          </p:cNvPr>
          <p:cNvSpPr>
            <a:spLocks xmlns:a="http://schemas.openxmlformats.org/drawingml/2006/main" noGrp="1"/>
          </p:cNvSpPr>
          <p:nvPr/>
        </p:nvSpPr>
        <p:spPr>
          <a:xfrm xmlns:a="http://schemas.openxmlformats.org/drawingml/2006/main">
            <a:off x="9258300" y="4295775"/>
            <a:ext cx="5410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Opgave 1: ophalen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Opgave 2: verkennen met</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de theorie, p. 54–57</a:t>
            </a:r>
          </a:p>
        </p:txBody>
      </p:sp>
      <p:sp>
        <p:nvSpPr>
          <p:cNvPr id="24" name="">
            <a:extLst xmlns:a="http://schemas.openxmlformats.org/drawingml/2006/main">
              <a:ext uri="{FF2B5EF4-FFF2-40B4-BE49-F238E27FC236}">
                <a16:creationId xmlns:a16="http://schemas.microsoft.com/office/drawing/2014/main" id="{42034BB1-70E8-49E7-B9DB-BC76DEDE9A70}"/>
              </a:ext>
            </a:extLst>
          </p:cNvPr>
          <p:cNvSpPr>
            <a:spLocks xmlns:a="http://schemas.openxmlformats.org/drawingml/2006/main" noGrp="1"/>
          </p:cNvSpPr>
          <p:nvPr/>
        </p:nvSpPr>
        <p:spPr>
          <a:xfrm xmlns:a="http://schemas.openxmlformats.org/drawingml/2006/main">
            <a:off x="9258300" y="5553075"/>
            <a:ext cx="5410200" cy="0"/>
          </a:xfrm>
          <a:prstGeom xmlns:a="http://schemas.openxmlformats.org/drawingml/2006/main" prst="line">
            <a:avLst/>
          </a:prstGeom>
          <a:ln xmlns:a="http://schemas.openxmlformats.org/drawingml/2006/main" w="19050">
            <a:solidFill>
              <a:srgbClr val="C6D2DB"/>
            </a:solidFill>
          </a:ln>
        </p:spPr>
      </p:sp>
      <p:sp>
        <p:nvSpPr>
          <p:cNvPr id="25" name="Huiswerk">
            <a:extLst xmlns:a="http://schemas.openxmlformats.org/drawingml/2006/main">
              <a:ext uri="{FF2B5EF4-FFF2-40B4-BE49-F238E27FC236}">
                <a16:creationId xmlns:a16="http://schemas.microsoft.com/office/drawing/2014/main" id="{51D3C1D0-4409-4956-A216-674F72DF434C}"/>
              </a:ext>
            </a:extLst>
          </p:cNvPr>
          <p:cNvSpPr>
            <a:spLocks xmlns:a="http://schemas.openxmlformats.org/drawingml/2006/main" noGrp="1"/>
          </p:cNvSpPr>
          <p:nvPr/>
        </p:nvSpPr>
        <p:spPr>
          <a:xfrm xmlns:a="http://schemas.openxmlformats.org/drawingml/2006/main">
            <a:off x="9258300" y="5762625"/>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6" name="overview-homework">
            <a:extLst xmlns:a="http://schemas.openxmlformats.org/drawingml/2006/main">
              <a:ext uri="{FF2B5EF4-FFF2-40B4-BE49-F238E27FC236}">
                <a16:creationId xmlns:a16="http://schemas.microsoft.com/office/drawing/2014/main" id="{2E1B03DF-A61F-4217-9DD2-BBE24660A5CB}"/>
              </a:ext>
            </a:extLst>
          </p:cNvPr>
          <p:cNvSpPr>
            <a:spLocks xmlns:a="http://schemas.openxmlformats.org/drawingml/2006/main" noGrp="1"/>
          </p:cNvSpPr>
          <p:nvPr/>
        </p:nvSpPr>
        <p:spPr>
          <a:xfrm xmlns:a="http://schemas.openxmlformats.org/drawingml/2006/main">
            <a:off x="9258300" y="6343650"/>
            <a:ext cx="54102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§2.2.3 · Opgaven 3 t/m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 · Doel: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
        <p:nvSpPr>
          <p:cNvPr id="27" name="footer">
            <a:extLst xmlns:a="http://schemas.openxmlformats.org/drawingml/2006/main">
              <a:ext uri="{FF2B5EF4-FFF2-40B4-BE49-F238E27FC236}">
                <a16:creationId xmlns:a16="http://schemas.microsoft.com/office/drawing/2014/main" id="{01D4D389-C63E-4C25-9571-EA65EABB07C6}"/>
              </a:ext>
            </a:extLst>
          </p:cNvPr>
          <p:cNvSpPr>
            <a:spLocks xmlns:a="http://schemas.openxmlformats.org/drawingml/2006/main" noGrp="1"/>
          </p:cNvSpPr>
          <p:nvPr/>
        </p:nvSpPr>
        <p:spPr>
          <a:xfrm xmlns:a="http://schemas.openxmlformats.org/drawingml/2006/main">
            <a:off x="571500" y="8105775"/>
            <a:ext cx="1333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§2.2.3 · Inkomenselasticiteit en kruislingse elasticiteit</a:t>
            </a:r>
          </a:p>
        </p:txBody>
      </p:sp>
      <p:sp>
        <p:nvSpPr>
          <p:cNvPr id="28" name="slide-number">
            <a:extLst xmlns:a="http://schemas.openxmlformats.org/drawingml/2006/main">
              <a:ext uri="{FF2B5EF4-FFF2-40B4-BE49-F238E27FC236}">
                <a16:creationId xmlns:a16="http://schemas.microsoft.com/office/drawing/2014/main" id="{D17E816E-D02B-46D0-9EA5-3A1A8AC01A3C}"/>
              </a:ext>
            </a:extLst>
          </p:cNvPr>
          <p:cNvSpPr>
            <a:spLocks xmlns:a="http://schemas.openxmlformats.org/drawingml/2006/main" noGrp="1"/>
          </p:cNvSpPr>
          <p:nvPr/>
        </p:nvSpPr>
        <p:spPr>
          <a:xfrm xmlns:a="http://schemas.openxmlformats.org/drawingml/2006/main">
            <a:off x="14001750" y="8077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30</a:t>
            </a:r>
          </a:p>
        </p:txBody>
      </p:sp>
    </p:spTree>
    <p:extLst>
      <p:ext uri="{BB962C8B-B14F-4D97-AF65-F5344CB8AC3E}">
        <p14:creationId xmlns:p14="http://schemas.microsoft.com/office/powerpoint/2010/main" val="19254852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2026-10-01T11:44:16.1430000Z</dcterms:created>
  <dcterms:modified xsi:type="dcterms:W3CDTF">2026-10-01T11:44:16.1430000Z</dcterms:modified>
</coreProperties>
</file>