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4f1ab5a0454a95" /><Relationship Type="http://schemas.openxmlformats.org/officeDocument/2006/relationships/extended-properties" Target="/docProps/app.xml" Id="Rcbefe45c21014e77" /><Relationship Type="http://schemas.openxmlformats.org/officeDocument/2006/relationships/officeDocument" Target="/ppt/presentation.xml" Id="R6794589e2f3240ee" /></Relationships>
</file>

<file path=ppt/presentation.xml><?xml version="1.0" encoding="utf-8"?>
<p:presentation xmlns:p="http://schemas.openxmlformats.org/presentationml/2006/main">
  <p:sldMasterIdLst>
    <p:sldMasterId xmlns:r="http://schemas.openxmlformats.org/officeDocument/2006/relationships" id="2147483648" r:id="R6a9e1c0998f34e2f"/>
  </p:sldMasterIdLst>
  <p:notesMasterIdLst>
    <p:notesMasterId xmlns:r="http://schemas.openxmlformats.org/officeDocument/2006/relationships" r:id="R3b98d911feed4538"/>
  </p:notesMasterIdLst>
  <p:sldIdLst>
    <p:sldId xmlns:r="http://schemas.openxmlformats.org/officeDocument/2006/relationships" id="256" r:id="R6ddf35fd3015454d"/>
    <p:sldId xmlns:r="http://schemas.openxmlformats.org/officeDocument/2006/relationships" id="257" r:id="R7a2b42d1c7e44b31"/>
    <p:sldId xmlns:r="http://schemas.openxmlformats.org/officeDocument/2006/relationships" id="258" r:id="R246d744052304c64"/>
    <p:sldId xmlns:r="http://schemas.openxmlformats.org/officeDocument/2006/relationships" id="259" r:id="R5d1611b8b3a44806"/>
    <p:sldId xmlns:r="http://schemas.openxmlformats.org/officeDocument/2006/relationships" id="260" r:id="R4cbac28de3824f39"/>
    <p:sldId xmlns:r="http://schemas.openxmlformats.org/officeDocument/2006/relationships" id="261" r:id="R9432951251104962"/>
    <p:sldId xmlns:r="http://schemas.openxmlformats.org/officeDocument/2006/relationships" id="262" r:id="R76c6f53c874a41b4"/>
    <p:sldId xmlns:r="http://schemas.openxmlformats.org/officeDocument/2006/relationships" id="263" r:id="R055478cd7ca840a3"/>
    <p:sldId xmlns:r="http://schemas.openxmlformats.org/officeDocument/2006/relationships" id="264" r:id="Rbb24215d67f5442f"/>
    <p:sldId xmlns:r="http://schemas.openxmlformats.org/officeDocument/2006/relationships" id="265" r:id="R4bf9992eabcb42f4"/>
    <p:sldId xmlns:r="http://schemas.openxmlformats.org/officeDocument/2006/relationships" id="266" r:id="R8181997032354e60"/>
    <p:sldId xmlns:r="http://schemas.openxmlformats.org/officeDocument/2006/relationships" id="267" r:id="Ref38c50d2c444bad"/>
    <p:sldId xmlns:r="http://schemas.openxmlformats.org/officeDocument/2006/relationships" id="268" r:id="R1522ebd52b8b4aba"/>
    <p:sldId xmlns:r="http://schemas.openxmlformats.org/officeDocument/2006/relationships" id="269" r:id="R03d95e60def74b44"/>
    <p:sldId xmlns:r="http://schemas.openxmlformats.org/officeDocument/2006/relationships" id="270" r:id="Ra4cde3beea904f7c"/>
    <p:sldId xmlns:r="http://schemas.openxmlformats.org/officeDocument/2006/relationships" id="271" r:id="Re5f138caee9d41c4"/>
    <p:sldId xmlns:r="http://schemas.openxmlformats.org/officeDocument/2006/relationships" id="272" r:id="R7e6c02589748447c"/>
    <p:sldId xmlns:r="http://schemas.openxmlformats.org/officeDocument/2006/relationships" id="273" r:id="Rbfc4c4cbdbac4282"/>
    <p:sldId xmlns:r="http://schemas.openxmlformats.org/officeDocument/2006/relationships" id="274" r:id="R4f3f679156aa4a5a"/>
    <p:sldId xmlns:r="http://schemas.openxmlformats.org/officeDocument/2006/relationships" id="275" r:id="R36b1e483929d4875"/>
    <p:sldId xmlns:r="http://schemas.openxmlformats.org/officeDocument/2006/relationships" id="276" r:id="R77e4065b8eb4492a"/>
    <p:sldId xmlns:r="http://schemas.openxmlformats.org/officeDocument/2006/relationships" id="277" r:id="R827e311ba0694ce7"/>
    <p:sldId xmlns:r="http://schemas.openxmlformats.org/officeDocument/2006/relationships" id="278" r:id="Ref7566391758459d"/>
    <p:sldId xmlns:r="http://schemas.openxmlformats.org/officeDocument/2006/relationships" id="279" r:id="R7eb11b6cc1be42a8"/>
    <p:sldId xmlns:r="http://schemas.openxmlformats.org/officeDocument/2006/relationships" id="280" r:id="R951ad4b8d6ba4d27"/>
    <p:sldId xmlns:r="http://schemas.openxmlformats.org/officeDocument/2006/relationships" id="281" r:id="R00ed3b12642e4ceb"/>
    <p:sldId xmlns:r="http://schemas.openxmlformats.org/officeDocument/2006/relationships" id="282" r:id="Rd0ef4ed33ac04d67"/>
    <p:sldId xmlns:r="http://schemas.openxmlformats.org/officeDocument/2006/relationships" id="283" r:id="Ra95600e509fa4a3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f778f6ba194af8" /><Relationship Type="http://schemas.openxmlformats.org/officeDocument/2006/relationships/slideMaster" Target="/ppt/slideMasters/slideMaster1.xml" Id="R6a9e1c0998f34e2f" /><Relationship Type="http://schemas.openxmlformats.org/officeDocument/2006/relationships/notesMaster" Target="/ppt/notesMasters/notesMaster1.xml" Id="R3b98d911feed4538" /><Relationship Type="http://schemas.openxmlformats.org/officeDocument/2006/relationships/presProps" Target="/ppt/presProps.xml" Id="R821e5584849142ef" /><Relationship Type="http://schemas.openxmlformats.org/officeDocument/2006/relationships/tableStyles" Target="/ppt/tableStyles.xml" Id="R893d81fbb76d4d28" /><Relationship Type="http://schemas.openxmlformats.org/officeDocument/2006/relationships/slide" Target="/ppt/slides/slide1.xml" Id="R6ddf35fd3015454d" /><Relationship Type="http://schemas.openxmlformats.org/officeDocument/2006/relationships/slide" Target="/ppt/slides/slide2.xml" Id="R7a2b42d1c7e44b31" /><Relationship Type="http://schemas.openxmlformats.org/officeDocument/2006/relationships/slide" Target="/ppt/slides/slide3.xml" Id="R246d744052304c64" /><Relationship Type="http://schemas.openxmlformats.org/officeDocument/2006/relationships/slide" Target="/ppt/slides/slide4.xml" Id="R5d1611b8b3a44806" /><Relationship Type="http://schemas.openxmlformats.org/officeDocument/2006/relationships/slide" Target="/ppt/slides/slide5.xml" Id="R4cbac28de3824f39" /><Relationship Type="http://schemas.openxmlformats.org/officeDocument/2006/relationships/slide" Target="/ppt/slides/slide6.xml" Id="R9432951251104962" /><Relationship Type="http://schemas.openxmlformats.org/officeDocument/2006/relationships/slide" Target="/ppt/slides/slide7.xml" Id="R76c6f53c874a41b4" /><Relationship Type="http://schemas.openxmlformats.org/officeDocument/2006/relationships/slide" Target="/ppt/slides/slide8.xml" Id="R055478cd7ca840a3" /><Relationship Type="http://schemas.openxmlformats.org/officeDocument/2006/relationships/slide" Target="/ppt/slides/slide9.xml" Id="Rbb24215d67f5442f" /><Relationship Type="http://schemas.openxmlformats.org/officeDocument/2006/relationships/slide" Target="/ppt/slides/slide10.xml" Id="R4bf9992eabcb42f4" /><Relationship Type="http://schemas.openxmlformats.org/officeDocument/2006/relationships/slide" Target="/ppt/slides/slide11.xml" Id="R8181997032354e60" /><Relationship Type="http://schemas.openxmlformats.org/officeDocument/2006/relationships/slide" Target="/ppt/slides/slide12.xml" Id="Ref38c50d2c444bad" /><Relationship Type="http://schemas.openxmlformats.org/officeDocument/2006/relationships/slide" Target="/ppt/slides/slide13.xml" Id="R1522ebd52b8b4aba" /><Relationship Type="http://schemas.openxmlformats.org/officeDocument/2006/relationships/slide" Target="/ppt/slides/slide14.xml" Id="R03d95e60def74b44" /><Relationship Type="http://schemas.openxmlformats.org/officeDocument/2006/relationships/slide" Target="/ppt/slides/slide15.xml" Id="Ra4cde3beea904f7c" /><Relationship Type="http://schemas.openxmlformats.org/officeDocument/2006/relationships/slide" Target="/ppt/slides/slide16.xml" Id="Re5f138caee9d41c4" /><Relationship Type="http://schemas.openxmlformats.org/officeDocument/2006/relationships/slide" Target="/ppt/slides/slide17.xml" Id="R7e6c02589748447c" /><Relationship Type="http://schemas.openxmlformats.org/officeDocument/2006/relationships/slide" Target="/ppt/slides/slide18.xml" Id="Rbfc4c4cbdbac4282" /><Relationship Type="http://schemas.openxmlformats.org/officeDocument/2006/relationships/slide" Target="/ppt/slides/slide19.xml" Id="R4f3f679156aa4a5a" /><Relationship Type="http://schemas.openxmlformats.org/officeDocument/2006/relationships/slide" Target="/ppt/slides/slide20.xml" Id="R36b1e483929d4875" /><Relationship Type="http://schemas.openxmlformats.org/officeDocument/2006/relationships/slide" Target="/ppt/slides/slide21.xml" Id="R77e4065b8eb4492a" /><Relationship Type="http://schemas.openxmlformats.org/officeDocument/2006/relationships/slide" Target="/ppt/slides/slide22.xml" Id="R827e311ba0694ce7" /><Relationship Type="http://schemas.openxmlformats.org/officeDocument/2006/relationships/slide" Target="/ppt/slides/slide23.xml" Id="Ref7566391758459d" /><Relationship Type="http://schemas.openxmlformats.org/officeDocument/2006/relationships/slide" Target="/ppt/slides/slide24.xml" Id="R7eb11b6cc1be42a8" /><Relationship Type="http://schemas.openxmlformats.org/officeDocument/2006/relationships/slide" Target="/ppt/slides/slide25.xml" Id="R951ad4b8d6ba4d27" /><Relationship Type="http://schemas.openxmlformats.org/officeDocument/2006/relationships/slide" Target="/ppt/slides/slide26.xml" Id="R00ed3b12642e4ceb" /><Relationship Type="http://schemas.openxmlformats.org/officeDocument/2006/relationships/slide" Target="/ppt/slides/slide27.xml" Id="Rd0ef4ed33ac04d67" /><Relationship Type="http://schemas.openxmlformats.org/officeDocument/2006/relationships/slide" Target="/ppt/slides/slide28.xml" Id="Ra95600e509fa4a3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158f500bdeb45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c18efd027b40ce" /><Relationship Type="http://schemas.openxmlformats.org/officeDocument/2006/relationships/notesMaster" Target="/ppt/notesMasters/notesMaster1.xml" Id="R98eadcfa3bd842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2ff434833b4457" /><Relationship Type="http://schemas.openxmlformats.org/officeDocument/2006/relationships/notesMaster" Target="/ppt/notesMasters/notesMaster1.xml" Id="R8493f12349e945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f98eebf4b94f28" /><Relationship Type="http://schemas.openxmlformats.org/officeDocument/2006/relationships/notesMaster" Target="/ppt/notesMasters/notesMaster1.xml" Id="R31dfd56b4f7547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fe24e8d1904675" /><Relationship Type="http://schemas.openxmlformats.org/officeDocument/2006/relationships/notesMaster" Target="/ppt/notesMasters/notesMaster1.xml" Id="R01b60577dd5c49f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2784372c664881" /><Relationship Type="http://schemas.openxmlformats.org/officeDocument/2006/relationships/notesMaster" Target="/ppt/notesMasters/notesMaster1.xml" Id="R44489004503e4d5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41c78b37ae49f0" /><Relationship Type="http://schemas.openxmlformats.org/officeDocument/2006/relationships/notesMaster" Target="/ppt/notesMasters/notesMaster1.xml" Id="Rb363774279df431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d2cd7f70bd4954" /><Relationship Type="http://schemas.openxmlformats.org/officeDocument/2006/relationships/notesMaster" Target="/ppt/notesMasters/notesMaster1.xml" Id="R601f17bb66ee4f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9ed406d37a497e" /><Relationship Type="http://schemas.openxmlformats.org/officeDocument/2006/relationships/notesMaster" Target="/ppt/notesMasters/notesMaster1.xml" Id="R3512624051c848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ea9d3559384308" /><Relationship Type="http://schemas.openxmlformats.org/officeDocument/2006/relationships/notesMaster" Target="/ppt/notesMasters/notesMaster1.xml" Id="R2ae844f0197443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3f5b21519f48f9" /><Relationship Type="http://schemas.openxmlformats.org/officeDocument/2006/relationships/notesMaster" Target="/ppt/notesMasters/notesMaster1.xml" Id="R6a28f6a4ab6e40b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cad75e997e43e3" /><Relationship Type="http://schemas.openxmlformats.org/officeDocument/2006/relationships/notesMaster" Target="/ppt/notesMasters/notesMaster1.xml" Id="R1d54f162caee4ec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5fabbc48984fe7" /><Relationship Type="http://schemas.openxmlformats.org/officeDocument/2006/relationships/notesMaster" Target="/ppt/notesMasters/notesMaster1.xml" Id="Rf84f56f74b0c4e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ccaf6c103d34e83" /><Relationship Type="http://schemas.openxmlformats.org/officeDocument/2006/relationships/notesMaster" Target="/ppt/notesMasters/notesMaster1.xml" Id="R9acb605b0625497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892bbb910b4aa5" /><Relationship Type="http://schemas.openxmlformats.org/officeDocument/2006/relationships/notesMaster" Target="/ppt/notesMasters/notesMaster1.xml" Id="R4619c0a843ad4a9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5513e896c064d34" /><Relationship Type="http://schemas.openxmlformats.org/officeDocument/2006/relationships/notesMaster" Target="/ppt/notesMasters/notesMaster1.xml" Id="Rfc31e450a078436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a3220321944586" /><Relationship Type="http://schemas.openxmlformats.org/officeDocument/2006/relationships/notesMaster" Target="/ppt/notesMasters/notesMaster1.xml" Id="R97610c29cb2540f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a15e529b6b4b51" /><Relationship Type="http://schemas.openxmlformats.org/officeDocument/2006/relationships/notesMaster" Target="/ppt/notesMasters/notesMaster1.xml" Id="Rbf55b638375744c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620f05bcdd424c" /><Relationship Type="http://schemas.openxmlformats.org/officeDocument/2006/relationships/notesMaster" Target="/ppt/notesMasters/notesMaster1.xml" Id="R0ac26189985a4e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f66ca4bfc484080" /><Relationship Type="http://schemas.openxmlformats.org/officeDocument/2006/relationships/notesMaster" Target="/ppt/notesMasters/notesMaster1.xml" Id="R7e5ac35bf2c0474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d279f94ccce477d" /><Relationship Type="http://schemas.openxmlformats.org/officeDocument/2006/relationships/notesMaster" Target="/ppt/notesMasters/notesMaster1.xml" Id="R2a845ef2456d44f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e8fce063774e71" /><Relationship Type="http://schemas.openxmlformats.org/officeDocument/2006/relationships/notesMaster" Target="/ppt/notesMasters/notesMaster1.xml" Id="R33df56f0dc944f5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147914496794eb1" /><Relationship Type="http://schemas.openxmlformats.org/officeDocument/2006/relationships/notesMaster" Target="/ppt/notesMasters/notesMaster1.xml" Id="Rda329d32b4ca427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b31a659468c45ea" /><Relationship Type="http://schemas.openxmlformats.org/officeDocument/2006/relationships/notesMaster" Target="/ppt/notesMasters/notesMaster1.xml" Id="Rc7702f49e4dc426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03e5a642114c13" /><Relationship Type="http://schemas.openxmlformats.org/officeDocument/2006/relationships/notesMaster" Target="/ppt/notesMasters/notesMaster1.xml" Id="Ra6d6b8c4f4c041a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de0e153d3e44ee0" /><Relationship Type="http://schemas.openxmlformats.org/officeDocument/2006/relationships/notesMaster" Target="/ppt/notesMasters/notesMaster1.xml" Id="Rce6527962c9b426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0c91b7149674776" /><Relationship Type="http://schemas.openxmlformats.org/officeDocument/2006/relationships/notesMaster" Target="/ppt/notesMasters/notesMaster1.xml" Id="R74ae9626bed848e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21a6207cdff44f9" /><Relationship Type="http://schemas.openxmlformats.org/officeDocument/2006/relationships/notesMaster" Target="/ppt/notesMasters/notesMaster1.xml" Id="Re6be194ccf014b1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ce4c7bc075a4d8c" /><Relationship Type="http://schemas.openxmlformats.org/officeDocument/2006/relationships/notesMaster" Target="/ppt/notesMasters/notesMaster1.xml" Id="R376aaf5ba0f544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rekenstap moet je ophalen?</a:t>
            </a:r>
          </a:p>
          <a:p xmlns:a="http://schemas.openxmlformats.org/drawingml/2006/main">
            <a:r>
              <a:rPr sz="1400"/>
              <a:t/>
            </a:r>
          </a:p>
          <a:p xmlns:a="http://schemas.openxmlformats.org/drawingml/2006/main">
            <a:r>
              <a:rPr sz="1400"/>
              <a:t>Uitleg: Laat het overzicht staan tijdens startopdracht. Start 1–2: pagina 59; basis 3: pagina 59 en 4–5: pagina 60; zelfstandig 6–7: pagina 61; doel 8: pagina 62. Huiswerk is 3 t/m 8 maken en nakijken. Bonus 9 en herhaling 10–11 zijn extra. De volledige route kan aanvullende lestijd vragen; dit is geen gemeten planning voor één les. Geef bij opgave 2 zo nodig kort steun: Ei gaat over inkomen en Ek over de prijs van een ander goed. Startantwoorden voor eventuele feedback nadat leerlingen zelf gewerkt hebben: 1a +10%, 1b 300 kaarten per week, 2a procentuele vraagreactie gedeeld door respectievelijk procentuele inkomensreactie of prijsreactie van een ander goed; 2b Px en Pz gelijk.</a:t>
            </a:r>
          </a:p>
          <a:p xmlns:a="http://schemas.openxmlformats.org/drawingml/2006/main">
            <a:r>
              <a:rPr sz="1400"/>
              <a:t/>
            </a:r>
          </a:p>
          <a:p xmlns:a="http://schemas.openxmlformats.org/drawingml/2006/main">
            <a:r>
              <a:rPr sz="1400"/>
              <a:t>Misvatting: Gebruik de gedrukte boekpagina: pagina 59 is fysieke PDF-pagina 61.</a:t>
            </a:r>
          </a:p>
          <a:p xmlns:a="http://schemas.openxmlformats.org/drawingml/2006/main">
            <a:r>
              <a:rPr sz="1400"/>
              <a:t/>
            </a:r>
          </a:p>
          <a:p xmlns:a="http://schemas.openxmlformats.org/drawingml/2006/main">
            <a:r>
              <a:rPr sz="1400"/>
              <a:t>Overgang: Ga door naar de volgende lesfase wanneer de klas daaraan toe is.</a:t>
            </a:r>
          </a:p>
          <a:p xmlns:a="http://schemas.openxmlformats.org/drawingml/2006/main">
            <a:r>
              <a:rPr sz="1400"/>
              <a:t/>
            </a:r>
          </a:p>
          <a:p xmlns:a="http://schemas.openxmlformats.org/drawingml/2006/main">
            <a:r>
              <a:rPr sz="1400"/>
              <a:t>Bron: Boek 2, editie chat-2026, revisie 21 september 2026; gedrukte pagina 59–62.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hoort onder de breuk als je inkomen onderzoekt?</a:t>
            </a:r>
          </a:p>
          <a:p xmlns:a="http://schemas.openxmlformats.org/drawingml/2006/main">
            <a:r>
              <a:rPr sz="1400"/>
              <a:t/>
            </a:r>
          </a:p>
          <a:p xmlns:a="http://schemas.openxmlformats.org/drawingml/2006/main">
            <a:r>
              <a:rPr sz="1400"/>
              <a:t>Uitleg: De doelen bereiden opgave 8 voor. Voorkennis: procentuele veranderingen en invullen in een functie. Ei, Ek en de afzonderlijke functiescenario’s worden hier expliciet uitgelegd.</a:t>
            </a:r>
          </a:p>
          <a:p xmlns:a="http://schemas.openxmlformats.org/drawingml/2006/main">
            <a:r>
              <a:rPr sz="1400"/>
              <a:t/>
            </a:r>
          </a:p>
          <a:p xmlns:a="http://schemas.openxmlformats.org/drawingml/2006/main">
            <a:r>
              <a:rPr sz="1400"/>
              <a:t>Misvatting: Een negatieve elasticiteit heeft niet bij elke noemer dezelfde economische betekenis.</a:t>
            </a:r>
          </a:p>
          <a:p xmlns:a="http://schemas.openxmlformats.org/drawingml/2006/main">
            <a:r>
              <a:rPr sz="1400"/>
              <a:t/>
            </a:r>
          </a:p>
          <a:p xmlns:a="http://schemas.openxmlformats.org/drawingml/2006/main">
            <a:r>
              <a:rPr sz="1400"/>
              <a:t>Overgang: Vergelijk eerst de oorzaken achter de drie elasticiteiten.</a:t>
            </a:r>
          </a:p>
          <a:p xmlns:a="http://schemas.openxmlformats.org/drawingml/2006/main">
            <a:r>
              <a:rPr sz="1400"/>
              <a:t/>
            </a:r>
          </a:p>
          <a:p xmlns:a="http://schemas.openxmlformats.org/drawingml/2006/main">
            <a:r>
              <a:rPr sz="1400"/>
              <a:t>Bron: Boek 2, editie chat-2026, revisie 21 september 2026; gedrukte pagina 52.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Als de prijs van een ander goed verandert, gebruik je dan Ev of Ek?</a:t>
            </a:r>
          </a:p>
          <a:p xmlns:a="http://schemas.openxmlformats.org/drawingml/2006/main">
            <a:r>
              <a:rPr sz="1400"/>
              <a:t/>
            </a:r>
          </a:p>
          <a:p xmlns:a="http://schemas.openxmlformats.org/drawingml/2006/main">
            <a:r>
              <a:rPr sz="1400"/>
              <a:t>Uitleg: Ev haalt voorkennis uit §2.2.1 op. Bij Ei en Ek blijft de eigen prijs gelijk. Andere vraagfactoren blijven steeds gelijk: ceteris paribus. Noem bij Ek het vraaggoed en het prijsgoed.</a:t>
            </a:r>
          </a:p>
          <a:p xmlns:a="http://schemas.openxmlformats.org/drawingml/2006/main">
            <a:r>
              <a:rPr sz="1400"/>
              <a:t/>
            </a:r>
          </a:p>
          <a:p xmlns:a="http://schemas.openxmlformats.org/drawingml/2006/main">
            <a:r>
              <a:rPr sz="1400"/>
              <a:t>Misvatting: De prijs van X en de prijs van Z zijn verschillende grootheden.</a:t>
            </a:r>
          </a:p>
          <a:p xmlns:a="http://schemas.openxmlformats.org/drawingml/2006/main">
            <a:r>
              <a:rPr sz="1400"/>
              <a:t/>
            </a:r>
          </a:p>
          <a:p xmlns:a="http://schemas.openxmlformats.org/drawingml/2006/main">
            <a:r>
              <a:rPr sz="1400"/>
              <a:t>Overgang: Bereken eerst Ei met een afzonderlijke fictieve meting.</a:t>
            </a:r>
          </a:p>
          <a:p xmlns:a="http://schemas.openxmlformats.org/drawingml/2006/main">
            <a:r>
              <a:rPr sz="1400"/>
              <a:t/>
            </a:r>
          </a:p>
          <a:p xmlns:a="http://schemas.openxmlformats.org/drawingml/2006/main">
            <a:r>
              <a:rPr sz="1400"/>
              <a:t>Bron: Boek 2, editie chat-2026, revisie 21 september 2026; gedrukte pagina 52.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getal vertelt dat de vraag daalt bij meer inkomen?</a:t>
            </a:r>
          </a:p>
          <a:p xmlns:a="http://schemas.openxmlformats.org/drawingml/2006/main">
            <a:r>
              <a:rPr sz="1400"/>
              <a:t/>
            </a:r>
          </a:p>
          <a:p xmlns:a="http://schemas.openxmlformats.org/drawingml/2006/main">
            <a:r>
              <a:rPr sz="1400"/>
              <a:t>Uitleg: De drie gegevens zijn verzonnen meetuitkomsten voor dezelfde inkomensstijging. Reken de verhoudingen voor. +1,5 betekent dat de vraag procentueel anderhalf keer zo sterk stijgt als het inkomen. −0,5 betekent hier een dalende vraag bij stijgend inkomen.</a:t>
            </a:r>
          </a:p>
          <a:p xmlns:a="http://schemas.openxmlformats.org/drawingml/2006/main">
            <a:r>
              <a:rPr sz="1400"/>
              <a:t/>
            </a:r>
          </a:p>
          <a:p xmlns:a="http://schemas.openxmlformats.org/drawingml/2006/main">
            <a:r>
              <a:rPr sz="1400"/>
              <a:t>Misvatting: Schrijf bij Ei geen euro of procent achter het eindgetal. Het is een verhouding van procentuele veranderingen.</a:t>
            </a:r>
          </a:p>
          <a:p xmlns:a="http://schemas.openxmlformats.org/drawingml/2006/main">
            <a:r>
              <a:rPr sz="1400"/>
              <a:t/>
            </a:r>
          </a:p>
          <a:p xmlns:a="http://schemas.openxmlformats.org/drawingml/2006/main">
            <a:r>
              <a:rPr sz="1400"/>
              <a:t>Overgang: Deel de drie uitkomsten in volgens de boekindeling.</a:t>
            </a:r>
          </a:p>
          <a:p xmlns:a="http://schemas.openxmlformats.org/drawingml/2006/main">
            <a:r>
              <a:rPr sz="1400"/>
              <a:t/>
            </a:r>
          </a:p>
          <a:p xmlns:a="http://schemas.openxmlformats.org/drawingml/2006/main">
            <a:r>
              <a:rPr sz="1400"/>
              <a:t>Bron: Boek 2, editie chat-2026, revisie 21 september 2026; gedrukte pagina 53.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zegt inferieur niets over de kwaliteit van een product?</a:t>
            </a:r>
          </a:p>
          <a:p xmlns:a="http://schemas.openxmlformats.org/drawingml/2006/main">
            <a:r>
              <a:rPr sz="1400"/>
              <a:t/>
            </a:r>
          </a:p>
          <a:p xmlns:a="http://schemas.openxmlformats.org/drawingml/2006/main">
            <a:r>
              <a:rPr sz="1400"/>
              <a:t>Uitleg: Koppel terug naar de fictieve voorbeelden: theaterkaarten +1,5 luxe; tijdschriften +0,25 normaal; budgetmaaltijden −0,5 inferieur. Bij 0 verandert Qv niet; bij 1 verandert Qv procentueel even sterk als Y. Volg precies de drie categorieën van deze editie.</a:t>
            </a:r>
          </a:p>
          <a:p xmlns:a="http://schemas.openxmlformats.org/drawingml/2006/main">
            <a:r>
              <a:rPr sz="1400"/>
              <a:t/>
            </a:r>
          </a:p>
          <a:p xmlns:a="http://schemas.openxmlformats.org/drawingml/2006/main">
            <a:r>
              <a:rPr sz="1400"/>
              <a:t>Misvatting: In bredere terminologie kan normaal ook alle positieve Ei omvatten. Hier geldt de expliciete boekindeling; luxe is geen uitspraak over het prijskaartje.</a:t>
            </a:r>
          </a:p>
          <a:p xmlns:a="http://schemas.openxmlformats.org/drawingml/2006/main">
            <a:r>
              <a:rPr sz="1400"/>
              <a:t/>
            </a:r>
          </a:p>
          <a:p xmlns:a="http://schemas.openxmlformats.org/drawingml/2006/main">
            <a:r>
              <a:rPr sz="1400"/>
              <a:t>Overgang: Onderzoek nu de prijs van een ander goed.</a:t>
            </a:r>
          </a:p>
          <a:p xmlns:a="http://schemas.openxmlformats.org/drawingml/2006/main">
            <a:r>
              <a:rPr sz="1400"/>
              <a:t/>
            </a:r>
          </a:p>
          <a:p xmlns:a="http://schemas.openxmlformats.org/drawingml/2006/main">
            <a:r>
              <a:rPr sz="1400"/>
              <a:t>Bron: Boek 2, editie chat-2026, revisie 21 september 2026; gedrukte pagina 53.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goederen moet je bij de verhouding noemen?</a:t>
            </a:r>
          </a:p>
          <a:p xmlns:a="http://schemas.openxmlformats.org/drawingml/2006/main">
            <a:r>
              <a:rPr sz="1400"/>
              <a:t/>
            </a:r>
          </a:p>
          <a:p xmlns:a="http://schemas.openxmlformats.org/drawingml/2006/main">
            <a:r>
              <a:rPr sz="1400"/>
              <a:t>Uitleg: Substituten kunnen elkaar vervangen, complementen worden samen gebruikt. Ek meet de vraag naar X ten opzichte van de prijs van Z. Houd de prijs van X, inkomen en overige vraagfactoren gelijk. Bij Ek = 0 is er in deze meting geen vraagreactie.</a:t>
            </a:r>
          </a:p>
          <a:p xmlns:a="http://schemas.openxmlformats.org/drawingml/2006/main">
            <a:r>
              <a:rPr sz="1400"/>
              <a:t/>
            </a:r>
          </a:p>
          <a:p xmlns:a="http://schemas.openxmlformats.org/drawingml/2006/main">
            <a:r>
              <a:rPr sz="1400"/>
              <a:t>Misvatting: Een positieve prijsverandering geeft niet vanzelf een positieve Ek: het teken van de teller telt ook mee.</a:t>
            </a:r>
          </a:p>
          <a:p xmlns:a="http://schemas.openxmlformats.org/drawingml/2006/main">
            <a:r>
              <a:rPr sz="1400"/>
              <a:t/>
            </a:r>
          </a:p>
          <a:p xmlns:a="http://schemas.openxmlformats.org/drawingml/2006/main">
            <a:r>
              <a:rPr sz="1400"/>
              <a:t>Overgang: Bekijk een prijsdaling met twee verschillende vraagreacties.</a:t>
            </a:r>
          </a:p>
          <a:p xmlns:a="http://schemas.openxmlformats.org/drawingml/2006/main">
            <a:r>
              <a:rPr sz="1400"/>
              <a:t/>
            </a:r>
          </a:p>
          <a:p xmlns:a="http://schemas.openxmlformats.org/drawingml/2006/main">
            <a:r>
              <a:rPr sz="1400"/>
              <a:t>Bron: Boek 2, editie chat-2026, revisie 21 september 2026; gedrukte pagina 54.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blijft de relatie taxi–huurauto substitutie als beide veranderingen negatief zijn?</a:t>
            </a:r>
          </a:p>
          <a:p xmlns:a="http://schemas.openxmlformats.org/drawingml/2006/main">
            <a:r>
              <a:rPr sz="1400"/>
              <a:t/>
            </a:r>
          </a:p>
          <a:p xmlns:a="http://schemas.openxmlformats.org/drawingml/2006/main">
            <a:r>
              <a:rPr sz="1400"/>
              <a:t>Uitleg: Dit zijn twee fictieve afzonderlijke onderzoeken bij gelijkblijvende andere vraagfactoren. Taxiritten dalen als huurauto’s goedkoper worden: twee negatieve percentages geven een positieve verhouding. Bijpassende kinderzitjes worden juist meer gevraagd. In beide breuken is huurauto het prijsgoed.</a:t>
            </a:r>
          </a:p>
          <a:p xmlns:a="http://schemas.openxmlformats.org/drawingml/2006/main">
            <a:r>
              <a:rPr sz="1400"/>
              <a:t/>
            </a:r>
          </a:p>
          <a:p xmlns:a="http://schemas.openxmlformats.org/drawingml/2006/main">
            <a:r>
              <a:rPr sz="1400"/>
              <a:t>Misvatting: Verwijder mintekens niet voordat je deelt. Ek beschrijft een relatie tussen goederen, geen inkomenscategorie.</a:t>
            </a:r>
          </a:p>
          <a:p xmlns:a="http://schemas.openxmlformats.org/drawingml/2006/main">
            <a:r>
              <a:rPr sz="1400"/>
              <a:t/>
            </a:r>
          </a:p>
          <a:p xmlns:a="http://schemas.openxmlformats.org/drawingml/2006/main">
            <a:r>
              <a:rPr sz="1400"/>
              <a:t>Overgang: Pas de methode toe op een vraagfunctie met meerdere factoren.</a:t>
            </a:r>
          </a:p>
          <a:p xmlns:a="http://schemas.openxmlformats.org/drawingml/2006/main">
            <a:r>
              <a:rPr sz="1400"/>
              <a:t/>
            </a:r>
          </a:p>
          <a:p xmlns:a="http://schemas.openxmlformats.org/drawingml/2006/main">
            <a:r>
              <a:rPr sz="1400"/>
              <a:t>Bron: Boek 2, editie chat-2026, revisie 21 september 2026; gedrukte pagina 54.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het jaarinkomen niet eerst door twaalf?</a:t>
            </a:r>
          </a:p>
          <a:p xmlns:a="http://schemas.openxmlformats.org/drawingml/2006/main">
            <a:r>
              <a:rPr sz="1400"/>
              <a:t/>
            </a:r>
          </a:p>
          <a:p xmlns:a="http://schemas.openxmlformats.org/drawingml/2006/main">
            <a:r>
              <a:rPr sz="1400"/>
              <a:t>Uitleg: Eigen fictieve context en functie. Lees elke variabele met haar eenheid. De coëfficiënten horen bij deze eenheden: Y is jaarinkomen en Qx is maandelijkse vraag. De coefficient 0,02 is geen Ei.</a:t>
            </a:r>
          </a:p>
          <a:p xmlns:a="http://schemas.openxmlformats.org/drawingml/2006/main">
            <a:r>
              <a:rPr sz="1400"/>
              <a:t/>
            </a:r>
          </a:p>
          <a:p xmlns:a="http://schemas.openxmlformats.org/drawingml/2006/main">
            <a:r>
              <a:rPr sz="1400"/>
              <a:t>Misvatting: Een coëfficiënt is een verandering in aantallen per euro; een elasticiteit is een verhouding van procentuele veranderingen.</a:t>
            </a:r>
          </a:p>
          <a:p xmlns:a="http://schemas.openxmlformats.org/drawingml/2006/main">
            <a:r>
              <a:rPr sz="1400"/>
              <a:t/>
            </a:r>
          </a:p>
          <a:p xmlns:a="http://schemas.openxmlformats.org/drawingml/2006/main">
            <a:r>
              <a:rPr sz="1400"/>
              <a:t>Overgang: Vul eerst alle beginwaarden in.</a:t>
            </a:r>
          </a:p>
          <a:p xmlns:a="http://schemas.openxmlformats.org/drawingml/2006/main">
            <a:r>
              <a:rPr sz="1400"/>
              <a:t/>
            </a:r>
          </a:p>
          <a:p xmlns:a="http://schemas.openxmlformats.org/drawingml/2006/main">
            <a:r>
              <a:rPr sz="1400"/>
              <a:t>Bron: Boek 2, editie chat-2026, revisie 21 september 2026; gedrukte pagina 55.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waarde wordt straks de oude hoeveelheid?</a:t>
            </a:r>
          </a:p>
          <a:p xmlns:a="http://schemas.openxmlformats.org/drawingml/2006/main">
            <a:r>
              <a:rPr sz="1400"/>
              <a:t/>
            </a:r>
          </a:p>
          <a:p xmlns:a="http://schemas.openxmlformats.org/drawingml/2006/main">
            <a:r>
              <a:rPr sz="1400"/>
              <a:t>Uitleg: Laat elke factor in de juiste term invullen. Vermenigvuldig vóór optellen en aftrekken. −60 hoort bij de eigen prijs, +50 bij de prijs van Z en +300 bij het inkomen. De beginhoeveelheid 450 is straks de percentagebasis.</a:t>
            </a:r>
          </a:p>
          <a:p xmlns:a="http://schemas.openxmlformats.org/drawingml/2006/main">
            <a:r>
              <a:rPr sz="1400"/>
              <a:t/>
            </a:r>
          </a:p>
          <a:p xmlns:a="http://schemas.openxmlformats.org/drawingml/2006/main">
            <a:r>
              <a:rPr sz="1400"/>
              <a:t>Misvatting: Verwar de constante 160 niet met Qx in de beginsituatie: alle termen tellen mee.</a:t>
            </a:r>
          </a:p>
          <a:p xmlns:a="http://schemas.openxmlformats.org/drawingml/2006/main">
            <a:r>
              <a:rPr sz="1400"/>
              <a:t/>
            </a:r>
          </a:p>
          <a:p xmlns:a="http://schemas.openxmlformats.org/drawingml/2006/main">
            <a:r>
              <a:rPr sz="1400"/>
              <a:t>Overgang: Verander alleen het inkomen.</a:t>
            </a:r>
          </a:p>
          <a:p xmlns:a="http://schemas.openxmlformats.org/drawingml/2006/main">
            <a:r>
              <a:rPr sz="1400"/>
              <a:t/>
            </a:r>
          </a:p>
          <a:p xmlns:a="http://schemas.openxmlformats.org/drawingml/2006/main">
            <a:r>
              <a:rPr sz="1400"/>
              <a:t>Bron: Boek 2, editie chat-2026, revisie 21 september 2026; gedrukte pagina 55.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onderdeel van de berekening verandert?</a:t>
            </a:r>
          </a:p>
          <a:p xmlns:a="http://schemas.openxmlformats.org/drawingml/2006/main">
            <a:r>
              <a:rPr sz="1400"/>
              <a:t/>
            </a:r>
          </a:p>
          <a:p xmlns:a="http://schemas.openxmlformats.org/drawingml/2006/main">
            <a:r>
              <a:rPr sz="1400"/>
              <a:t>Uitleg: Alleen de inkomensterm verandert van 300 in 360. Daardoor stijgt Qx met 60 abonnementen per maand. Omdat de prijzen gelijk blijven, beschrijft de functie hier uitsluitend het inkomensscenario.</a:t>
            </a:r>
          </a:p>
          <a:p xmlns:a="http://schemas.openxmlformats.org/drawingml/2006/main">
            <a:r>
              <a:rPr sz="1400"/>
              <a:t/>
            </a:r>
          </a:p>
          <a:p xmlns:a="http://schemas.openxmlformats.org/drawingml/2006/main">
            <a:r>
              <a:rPr sz="1400"/>
              <a:t>Misvatting: De absolute stijging van 60 is niet de procentuele stijging.</a:t>
            </a:r>
          </a:p>
          <a:p xmlns:a="http://schemas.openxmlformats.org/drawingml/2006/main">
            <a:r>
              <a:rPr sz="1400"/>
              <a:t/>
            </a:r>
          </a:p>
          <a:p xmlns:a="http://schemas.openxmlformats.org/drawingml/2006/main">
            <a:r>
              <a:rPr sz="1400"/>
              <a:t>Overgang: Bereken met de oude waarden de percentages en Ei.</a:t>
            </a:r>
          </a:p>
          <a:p xmlns:a="http://schemas.openxmlformats.org/drawingml/2006/main">
            <a:r>
              <a:rPr sz="1400"/>
              <a:t/>
            </a:r>
          </a:p>
          <a:p xmlns:a="http://schemas.openxmlformats.org/drawingml/2006/main">
            <a:r>
              <a:rPr sz="1400"/>
              <a:t>Bron: Boek 2, editie chat-2026, revisie 21 september 2026; gedrukte pagina 56, 58.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staat 450 en niet 510 onder de eerste breuk?</a:t>
            </a:r>
          </a:p>
          <a:p xmlns:a="http://schemas.openxmlformats.org/drawingml/2006/main">
            <a:r>
              <a:rPr sz="1400"/>
              <a:t/>
            </a:r>
          </a:p>
          <a:p xmlns:a="http://schemas.openxmlformats.org/drawingml/2006/main">
            <a:r>
              <a:rPr sz="1400"/>
              <a:t>Uitleg: Reken tussendoor ongerond: Ei is exact 2/3. De vraag groeit procentueel minder sterk dan het inkomen. Het oude inkomen is 15.000 en de oude hoeveelheid 450. Prijzen blijven gelijk.</a:t>
            </a:r>
          </a:p>
          <a:p xmlns:a="http://schemas.openxmlformats.org/drawingml/2006/main">
            <a:r>
              <a:rPr sz="1400"/>
              <a:t/>
            </a:r>
          </a:p>
          <a:p xmlns:a="http://schemas.openxmlformats.org/drawingml/2006/main">
            <a:r>
              <a:rPr sz="1400"/>
              <a:t>Misvatting: Ei is niet 60/3.000 en ook niet 0,02. Eerst beide veranderingen procentueel maken.</a:t>
            </a:r>
          </a:p>
          <a:p xmlns:a="http://schemas.openxmlformats.org/drawingml/2006/main">
            <a:r>
              <a:rPr sz="1400"/>
              <a:t/>
            </a:r>
          </a:p>
          <a:p xmlns:a="http://schemas.openxmlformats.org/drawingml/2006/main">
            <a:r>
              <a:rPr sz="1400"/>
              <a:t>Overgang: Ga terug naar de beginsituatie voor een ander onderzoek.</a:t>
            </a:r>
          </a:p>
          <a:p xmlns:a="http://schemas.openxmlformats.org/drawingml/2006/main">
            <a:r>
              <a:rPr sz="1400"/>
              <a:t/>
            </a:r>
          </a:p>
          <a:p xmlns:a="http://schemas.openxmlformats.org/drawingml/2006/main">
            <a:r>
              <a:rPr sz="1400"/>
              <a:t>Bron: Boek 2, editie chat-2026, revisie 21 september 2026; gedrukte pagina 53, 56, 58.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Met welke rij vergelijk je het laatste scenario?</a:t>
            </a:r>
          </a:p>
          <a:p xmlns:a="http://schemas.openxmlformats.org/drawingml/2006/main">
            <a:r>
              <a:rPr sz="1400"/>
              <a:t/>
            </a:r>
          </a:p>
          <a:p xmlns:a="http://schemas.openxmlformats.org/drawingml/2006/main">
            <a:r>
              <a:rPr sz="1400"/>
              <a:t>Uitleg: Zet Y terug op 15.000 en verhoog alleen Pz naar 30. Vergelijk 460 met de beginhoeveelheid 450. De term 2Pz stijgt van 50 naar 60. Hogere prijs van de concurrent gaat samen met meer vraag naar TaalClub X, passend bij substitutie. De prijzen in de tabel zijn maandprijzen.</a:t>
            </a:r>
          </a:p>
          <a:p xmlns:a="http://schemas.openxmlformats.org/drawingml/2006/main">
            <a:r>
              <a:rPr sz="1400"/>
              <a:t/>
            </a:r>
          </a:p>
          <a:p xmlns:a="http://schemas.openxmlformats.org/drawingml/2006/main">
            <a:r>
              <a:rPr sz="1400"/>
              <a:t>Misvatting: Met Y = 18.000 zou je twee veranderingen meenemen. Dan reken je een ander scenario uit.</a:t>
            </a:r>
          </a:p>
          <a:p xmlns:a="http://schemas.openxmlformats.org/drawingml/2006/main">
            <a:r>
              <a:rPr sz="1400"/>
              <a:t/>
            </a:r>
          </a:p>
          <a:p xmlns:a="http://schemas.openxmlformats.org/drawingml/2006/main">
            <a:r>
              <a:rPr sz="1400"/>
              <a:t>Overgang: Bespreek waarom afzonderlijke procentuele metingen geen gecombineerd effect bewijzen.</a:t>
            </a:r>
          </a:p>
          <a:p xmlns:a="http://schemas.openxmlformats.org/drawingml/2006/main">
            <a:r>
              <a:rPr sz="1400"/>
              <a:t/>
            </a:r>
          </a:p>
          <a:p xmlns:a="http://schemas.openxmlformats.org/drawingml/2006/main">
            <a:r>
              <a:rPr sz="1400"/>
              <a:t>Bron: Boek 2, editie chat-2026, revisie 21 september 2026; gedrukte pagina 56, 58.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 je met alleen twee richtingen zeggen hoe groot het totale effect is?</a:t>
            </a:r>
          </a:p>
          <a:p xmlns:a="http://schemas.openxmlformats.org/drawingml/2006/main">
            <a:r>
              <a:rPr sz="1400"/>
              <a:t/>
            </a:r>
          </a:p>
          <a:p xmlns:a="http://schemas.openxmlformats.org/drawingml/2006/main">
            <a:r>
              <a:rPr sz="1400"/>
              <a:t>Uitleg: Dit is algemene aanpaksteun voor twee afzonderlijke onderzoeken. Elke meting houdt de andere factor gelijk. Als beide factoren tegelijk veranderen, mag je afzonderlijk gemeten percentages zonder extra model of aanname niet als bewezen totaal optellen. In een expliciet gegeven lineaire functie kun je wel de beschreven gezamenlijke waarden invullen, maar dat is een ander scenario dan een één-factor-onderzoek.</a:t>
            </a:r>
          </a:p>
          <a:p xmlns:a="http://schemas.openxmlformats.org/drawingml/2006/main">
            <a:r>
              <a:rPr sz="1400"/>
              <a:t/>
            </a:r>
          </a:p>
          <a:p xmlns:a="http://schemas.openxmlformats.org/drawingml/2006/main">
            <a:r>
              <a:rPr sz="1400"/>
              <a:t>Misvatting: Dat twee effecten tegengesteld zijn, bewijst niet dat ze precies even groot zijn.</a:t>
            </a:r>
          </a:p>
          <a:p xmlns:a="http://schemas.openxmlformats.org/drawingml/2006/main">
            <a:r>
              <a:rPr sz="1400"/>
              <a:t/>
            </a:r>
          </a:p>
          <a:p xmlns:a="http://schemas.openxmlformats.org/drawingml/2006/main">
            <a:r>
              <a:rPr sz="1400"/>
              <a:t>Overgang: Controleer het terugzetten met het TaalClub-voorbeeld.</a:t>
            </a:r>
          </a:p>
          <a:p xmlns:a="http://schemas.openxmlformats.org/drawingml/2006/main">
            <a:r>
              <a:rPr sz="1400"/>
              <a:t/>
            </a:r>
          </a:p>
          <a:p xmlns:a="http://schemas.openxmlformats.org/drawingml/2006/main">
            <a:r>
              <a:rPr sz="1400"/>
              <a:t>Bron: Boek 2, editie chat-2026, revisie 21 september 2026; gedrukte pagina 52, 56, 60.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Vanuit welke basis start het onderzoek naar Pz?</a:t>
            </a:r>
          </a:p>
          <a:p xmlns:a="http://schemas.openxmlformats.org/drawingml/2006/main">
            <a:r>
              <a:rPr sz="1400"/>
              <a:t/>
            </a:r>
          </a:p>
          <a:p xmlns:a="http://schemas.openxmlformats.org/drawingml/2006/main">
            <a:r>
              <a:rPr sz="1400"/>
              <a:t>Uitleg: Laat leerlingen kort zelf nadenken. De antwoorddia volgt. Dit is een begripscontrole bij het eigen uitlegvoorbeeld, geen extra huiswerk.</a:t>
            </a:r>
          </a:p>
          <a:p xmlns:a="http://schemas.openxmlformats.org/drawingml/2006/main">
            <a:r>
              <a:rPr sz="1400"/>
              <a:t/>
            </a:r>
          </a:p>
          <a:p xmlns:a="http://schemas.openxmlformats.org/drawingml/2006/main">
            <a:r>
              <a:rPr sz="1400"/>
              <a:t>Misvatting: De laatste berekende situatie wordt niet automatisch de beginsituatie.</a:t>
            </a:r>
          </a:p>
          <a:p xmlns:a="http://schemas.openxmlformats.org/drawingml/2006/main">
            <a:r>
              <a:rPr sz="1400"/>
              <a:t/>
            </a:r>
          </a:p>
          <a:p xmlns:a="http://schemas.openxmlformats.org/drawingml/2006/main">
            <a:r>
              <a:rPr sz="1400"/>
              <a:t>Overgang: Toon het herstel van de aanpak.</a:t>
            </a:r>
          </a:p>
          <a:p xmlns:a="http://schemas.openxmlformats.org/drawingml/2006/main">
            <a:r>
              <a:rPr sz="1400"/>
              <a:t/>
            </a:r>
          </a:p>
          <a:p xmlns:a="http://schemas.openxmlformats.org/drawingml/2006/main">
            <a:r>
              <a:rPr sz="1400"/>
              <a:t>Bron: Boek 2, editie chat-2026, revisie 21 september 2026; gedrukte pagina 56.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Vanuit welke basis start het onderzoek naar Pz?</a:t>
            </a:r>
          </a:p>
          <a:p xmlns:a="http://schemas.openxmlformats.org/drawingml/2006/main">
            <a:r>
              <a:rPr sz="1400"/>
              <a:t/>
            </a:r>
          </a:p>
          <a:p xmlns:a="http://schemas.openxmlformats.org/drawingml/2006/main">
            <a:r>
              <a:rPr sz="1400"/>
              <a:t>Uitleg: De uitspraak is onjuist. 18.000 was een gewijzigd inkomen in een afzonderlijk onderzoek, geen nieuwe basis voor dit onderzoek. Zet Y terug op 15.000 en houd Px op 15.</a:t>
            </a:r>
          </a:p>
          <a:p xmlns:a="http://schemas.openxmlformats.org/drawingml/2006/main">
            <a:r>
              <a:rPr sz="1400"/>
              <a:t/>
            </a:r>
          </a:p>
          <a:p xmlns:a="http://schemas.openxmlformats.org/drawingml/2006/main">
            <a:r>
              <a:rPr sz="1400"/>
              <a:t>Misvatting: De laatste berekende situatie wordt niet automatisch de beginsituatie.</a:t>
            </a:r>
          </a:p>
          <a:p xmlns:a="http://schemas.openxmlformats.org/drawingml/2006/main">
            <a:r>
              <a:rPr sz="1400"/>
              <a:t/>
            </a:r>
          </a:p>
          <a:p xmlns:a="http://schemas.openxmlformats.org/drawingml/2006/main">
            <a:r>
              <a:rPr sz="1400"/>
              <a:t>Overgang: Laat het overzicht staan tijdens de oefenroute.</a:t>
            </a:r>
          </a:p>
          <a:p xmlns:a="http://schemas.openxmlformats.org/drawingml/2006/main">
            <a:r>
              <a:rPr sz="1400"/>
              <a:t/>
            </a:r>
          </a:p>
          <a:p xmlns:a="http://schemas.openxmlformats.org/drawingml/2006/main">
            <a:r>
              <a:rPr sz="1400"/>
              <a:t>Bron: Boek 2, editie chat-2026, revisie 21 september 2026; gedrukte pagina 56.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Uitlegvoorbeeld — niet uit het boek. De context en getallen zijn fictief en speciaal voor deze presentatie geschreven. De genoemde boekpagina onderbouwt de methode, niet deze voorbeeldgegevens.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opgave of stap wil je verbeteren?</a:t>
            </a:r>
          </a:p>
          <a:p xmlns:a="http://schemas.openxmlformats.org/drawingml/2006/main">
            <a:r>
              <a:rPr sz="1400"/>
              <a:t/>
            </a:r>
          </a:p>
          <a:p xmlns:a="http://schemas.openxmlformats.org/drawingml/2006/main">
            <a:r>
              <a:rPr sz="1400"/>
              <a:t>Uitleg: Laat het overzicht staan tijdens zelfstandig werken. Start 1–2: pagina 59; basis 3: pagina 59 en 4–5: pagina 60; zelfstandig 6–7: pagina 61; doel 8: pagina 62. Huiswerk is 3 t/m 8 maken en nakijken. Bonus 9 en herhaling 10–11 zijn extra. De volledige route kan aanvullende lestijd vragen; dit is geen gemeten planning voor één les. Geef bij opgave 2 zo nodig kort steun: Ei gaat over inkomen en Ek over de prijs van een ander goed. Startantwoorden voor eventuele feedback nadat leerlingen zelf gewerkt hebben: 1a +10%, 1b 300 kaarten per week, 2a procentuele vraagreactie gedeeld door respectievelijk procentuele inkomensreactie of prijsreactie van een ander goed; 2b Px en Pz gelijk.</a:t>
            </a:r>
          </a:p>
          <a:p xmlns:a="http://schemas.openxmlformats.org/drawingml/2006/main">
            <a:r>
              <a:rPr sz="1400"/>
              <a:t/>
            </a:r>
          </a:p>
          <a:p xmlns:a="http://schemas.openxmlformats.org/drawingml/2006/main">
            <a:r>
              <a:rPr sz="1400"/>
              <a:t>Misvatting: Gebruik de gedrukte boekpagina: pagina 59 is fysieke PDF-pagina 61.</a:t>
            </a:r>
          </a:p>
          <a:p xmlns:a="http://schemas.openxmlformats.org/drawingml/2006/main">
            <a:r>
              <a:rPr sz="1400"/>
              <a:t/>
            </a:r>
          </a:p>
          <a:p xmlns:a="http://schemas.openxmlformats.org/drawingml/2006/main">
            <a:r>
              <a:rPr sz="1400"/>
              <a:t>Overgang: Ga door naar de volgende lesfase wanneer de klas daaraan toe is.</a:t>
            </a:r>
          </a:p>
          <a:p xmlns:a="http://schemas.openxmlformats.org/drawingml/2006/main">
            <a:r>
              <a:rPr sz="1400"/>
              <a:t/>
            </a:r>
          </a:p>
          <a:p xmlns:a="http://schemas.openxmlformats.org/drawingml/2006/main">
            <a:r>
              <a:rPr sz="1400"/>
              <a:t>Bron: Boek 2, editie chat-2026, revisie 21 september 2026; gedrukte pagina 59–62.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afspraak voorkomt een verkeerde percentagebasis?</a:t>
            </a:r>
          </a:p>
          <a:p xmlns:a="http://schemas.openxmlformats.org/drawingml/2006/main">
            <a:r>
              <a:rPr sz="1400"/>
              <a:t/>
            </a:r>
          </a:p>
          <a:p xmlns:a="http://schemas.openxmlformats.org/drawingml/2006/main">
            <a:r>
              <a:rPr sz="1400"/>
              <a:t>Uitleg: Dit zijn de rekenafspraken en categorieën uit de volledige context van opgave 8. Bespreek de doelopgave pas nadat leerlingen die zelf geprobeerd hebben. Eerst volgen alle bronnen en deelvragen a tot en met e, zonder oplossingen.</a:t>
            </a:r>
          </a:p>
          <a:p xmlns:a="http://schemas.openxmlformats.org/drawingml/2006/main">
            <a:r>
              <a:rPr sz="1400"/>
              <a:t/>
            </a:r>
          </a:p>
          <a:p xmlns:a="http://schemas.openxmlformats.org/drawingml/2006/main">
            <a:r>
              <a:rPr sz="1400"/>
              <a:t>Misvatting: Deze dia herhaalt alleen de gegeven context; er staan nog geen berekende antwoorden.</a:t>
            </a:r>
          </a:p>
          <a:p xmlns:a="http://schemas.openxmlformats.org/drawingml/2006/main">
            <a:r>
              <a:rPr sz="1400"/>
              <a:t/>
            </a:r>
          </a:p>
          <a:p xmlns:a="http://schemas.openxmlformats.org/drawingml/2006/main">
            <a:r>
              <a:rPr sz="1400"/>
              <a:t>Overgang: Toon bron inkomen en deelvragen a en b.</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verhoudingen vraagt a?</a:t>
            </a:r>
          </a:p>
          <a:p xmlns:a="http://schemas.openxmlformats.org/drawingml/2006/main">
            <a:r>
              <a:rPr sz="1400"/>
              <a:t/>
            </a:r>
          </a:p>
          <a:p xmlns:a="http://schemas.openxmlformats.org/drawingml/2006/main">
            <a:r>
              <a:rPr sz="1400"/>
              <a:t>Uitleg: Volledige bron inkomen en beide oorspronkelijke deelvragen. Leerlingen houden hun eigen uitwerking erbij. Geef nog geen oplossingen voordat alle vragen getoond zijn.</a:t>
            </a:r>
          </a:p>
          <a:p xmlns:a="http://schemas.openxmlformats.org/drawingml/2006/main">
            <a:r>
              <a:rPr sz="1400"/>
              <a:t/>
            </a:r>
          </a:p>
          <a:p xmlns:a="http://schemas.openxmlformats.org/drawingml/2006/main">
            <a:r>
              <a:rPr sz="1400"/>
              <a:t>Misvatting: Vraag b vraagt om een categorie bij elk goed, niet alleen een teken.</a:t>
            </a:r>
          </a:p>
          <a:p xmlns:a="http://schemas.openxmlformats.org/drawingml/2006/main">
            <a:r>
              <a:rPr sz="1400"/>
              <a:t/>
            </a:r>
          </a:p>
          <a:p xmlns:a="http://schemas.openxmlformats.org/drawingml/2006/main">
            <a:r>
              <a:rPr sz="1400"/>
              <a:t>Overgang: Toon de koffiebron en vraag c.</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goederen staan in de twee tellers?</a:t>
            </a:r>
          </a:p>
          <a:p xmlns:a="http://schemas.openxmlformats.org/drawingml/2006/main">
            <a:r>
              <a:rPr sz="1400"/>
              <a:t/>
            </a:r>
          </a:p>
          <a:p xmlns:a="http://schemas.openxmlformats.org/drawingml/2006/main">
            <a:r>
              <a:rPr sz="1400"/>
              <a:t>Uitleg: Volledige koffiebron en onverkorte vraag c. Beide vraaggoederen en het prijsgoed zijn gegeven. Laat de rekenuitkomsten nog niet zien.</a:t>
            </a:r>
          </a:p>
          <a:p xmlns:a="http://schemas.openxmlformats.org/drawingml/2006/main">
            <a:r>
              <a:rPr sz="1400"/>
              <a:t/>
            </a:r>
          </a:p>
          <a:p xmlns:a="http://schemas.openxmlformats.org/drawingml/2006/main">
            <a:r>
              <a:rPr sz="1400"/>
              <a:t>Misvatting: De noemer is de koffieprijs, niet de theeprijs of filterprijs.</a:t>
            </a:r>
          </a:p>
          <a:p xmlns:a="http://schemas.openxmlformats.org/drawingml/2006/main">
            <a:r>
              <a:rPr sz="1400"/>
              <a:t/>
            </a:r>
          </a:p>
          <a:p xmlns:a="http://schemas.openxmlformats.org/drawingml/2006/main">
            <a:r>
              <a:rPr sz="1400"/>
              <a:t>Overgang: Toon de functiebron voor d en e.</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drie beginwaarden horen in de functie?</a:t>
            </a:r>
          </a:p>
          <a:p xmlns:a="http://schemas.openxmlformats.org/drawingml/2006/main">
            <a:r>
              <a:rPr sz="1400"/>
              <a:t/>
            </a:r>
          </a:p>
          <a:p xmlns:a="http://schemas.openxmlformats.org/drawingml/2006/main">
            <a:r>
              <a:rPr sz="1400"/>
              <a:t>Uitleg: Alle gegevens, symbolen, eenheden en beginwaarden uit bron functie staan hier. In de opgave is Y jaarinkomen; laat die eenheid intact.</a:t>
            </a:r>
          </a:p>
          <a:p xmlns:a="http://schemas.openxmlformats.org/drawingml/2006/main">
            <a:r>
              <a:rPr sz="1400"/>
              <a:t/>
            </a:r>
          </a:p>
          <a:p xmlns:a="http://schemas.openxmlformats.org/drawingml/2006/main">
            <a:r>
              <a:rPr sz="1400"/>
              <a:t>Misvatting: De maandelijkse vraag maakt het jaarinkomen niet tot een maandinkomen.</a:t>
            </a:r>
          </a:p>
          <a:p xmlns:a="http://schemas.openxmlformats.org/drawingml/2006/main">
            <a:r>
              <a:rPr sz="1400"/>
              <a:t/>
            </a:r>
          </a:p>
          <a:p xmlns:a="http://schemas.openxmlformats.org/drawingml/2006/main">
            <a:r>
              <a:rPr sz="1400"/>
              <a:t>Overgang: Toon eerst beide functievragen voordat de bespreking van antwoorden start.</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staat in de opgave dat je een eerdere verandering moet terugzetten?</a:t>
            </a:r>
          </a:p>
          <a:p xmlns:a="http://schemas.openxmlformats.org/drawingml/2006/main">
            <a:r>
              <a:rPr sz="1400"/>
              <a:t/>
            </a:r>
          </a:p>
          <a:p xmlns:a="http://schemas.openxmlformats.org/drawingml/2006/main">
            <a:r>
              <a:rPr sz="1400"/>
              <a:t>Uitleg: De volledige vragen d en e sluiten het vragenblok af. Alle context en deelvragen zijn nu beschikbaar zonder oplossingen. Voor d is de inkomensverandering als percentage nodig om Ei uit te rekenen; e vertrekt opnieuw van het begin.</a:t>
            </a:r>
          </a:p>
          <a:p xmlns:a="http://schemas.openxmlformats.org/drawingml/2006/main">
            <a:r>
              <a:rPr sz="1400"/>
              <a:t/>
            </a:r>
          </a:p>
          <a:p xmlns:a="http://schemas.openxmlformats.org/drawingml/2006/main">
            <a:r>
              <a:rPr sz="1400"/>
              <a:t>Misvatting: Alleen eindgetallen noemen beantwoordt de gevraagde richting en vaste variabelen niet.</a:t>
            </a:r>
          </a:p>
          <a:p xmlns:a="http://schemas.openxmlformats.org/drawingml/2006/main">
            <a:r>
              <a:rPr sz="1400"/>
              <a:t/>
            </a:r>
          </a:p>
          <a:p xmlns:a="http://schemas.openxmlformats.org/drawingml/2006/main">
            <a:r>
              <a:rPr sz="1400"/>
              <a:t>Overgang: Begin nu de stapsgewijze antwoorden bij a en b.</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grens gebruik je om maaltijdpakketten in te delen?</a:t>
            </a:r>
          </a:p>
          <a:p xmlns:a="http://schemas.openxmlformats.org/drawingml/2006/main">
            <a:r>
              <a:rPr sz="1400"/>
              <a:t/>
            </a:r>
          </a:p>
          <a:p xmlns:a="http://schemas.openxmlformats.org/drawingml/2006/main">
            <a:r>
              <a:rPr sz="1400"/>
              <a:t>Uitleg: a: behoud het minteken bij budgetnoedels. b: verbind de uitkomst aan de categorie en de economische betekenis. Het label geldt in deze meting, niet voor elk huishouden in elke situatie. Controle: 1,6 × 5% = 8% en −0,6 × 5% = −3%.</a:t>
            </a:r>
          </a:p>
          <a:p xmlns:a="http://schemas.openxmlformats.org/drawingml/2006/main">
            <a:r>
              <a:rPr sz="1400"/>
              <a:t/>
            </a:r>
          </a:p>
          <a:p xmlns:a="http://schemas.openxmlformats.org/drawingml/2006/main">
            <a:r>
              <a:rPr sz="1400"/>
              <a:t>Misvatting: Inferieur is geen oordeel over kwaliteit; luxe is geen oordeel over de hoogte van de prijs.</a:t>
            </a:r>
          </a:p>
          <a:p xmlns:a="http://schemas.openxmlformats.org/drawingml/2006/main">
            <a:r>
              <a:rPr sz="1400"/>
              <a:t/>
            </a:r>
          </a:p>
          <a:p xmlns:a="http://schemas.openxmlformats.org/drawingml/2006/main">
            <a:r>
              <a:rPr sz="1400"/>
              <a:t>Overgang: Bereken nu beide kruislingse elasticiteiten.</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koffie in beide berekeningen het noemergoed?</a:t>
            </a:r>
          </a:p>
          <a:p xmlns:a="http://schemas.openxmlformats.org/drawingml/2006/main">
            <a:r>
              <a:rPr sz="1400"/>
              <a:t/>
            </a:r>
          </a:p>
          <a:p xmlns:a="http://schemas.openxmlformats.org/drawingml/2006/main">
            <a:r>
              <a:rPr sz="1400"/>
              <a:t>Uitleg: Spreek beide verhoudingen volledig uit. De noemer betreft in beide gevallen de koffieprijs; de teller gaat eerst over thee, daarna over koffiefilters. De tekens passen bij vervangende en samen gebruikte goederen. Controleer 0,4 × 10% = 4% en −0,6 × 10% = −6%.</a:t>
            </a:r>
          </a:p>
          <a:p xmlns:a="http://schemas.openxmlformats.org/drawingml/2006/main">
            <a:r>
              <a:rPr sz="1400"/>
              <a:t/>
            </a:r>
          </a:p>
          <a:p xmlns:a="http://schemas.openxmlformats.org/drawingml/2006/main">
            <a:r>
              <a:rPr sz="1400"/>
              <a:t>Misvatting: Een negatieve Ek betekent complementen, geen inferieur goed.</a:t>
            </a:r>
          </a:p>
          <a:p xmlns:a="http://schemas.openxmlformats.org/drawingml/2006/main">
            <a:r>
              <a:rPr sz="1400"/>
              <a:t/>
            </a:r>
          </a:p>
          <a:p xmlns:a="http://schemas.openxmlformats.org/drawingml/2006/main">
            <a:r>
              <a:rPr sz="1400"/>
              <a:t>Overgang: Bereken eerst de twee hoeveelheden van d.</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term verklaart de volledige stijging van Qx?</a:t>
            </a:r>
          </a:p>
          <a:p xmlns:a="http://schemas.openxmlformats.org/drawingml/2006/main">
            <a:r>
              <a:rPr sz="1400"/>
              <a:t/>
            </a:r>
          </a:p>
          <a:p xmlns:a="http://schemas.openxmlformats.org/drawingml/2006/main">
            <a:r>
              <a:rPr sz="1400"/>
              <a:t>Uitleg: Vul alle gegevens in vóór het rekenen. De inkomensterm stijgt van 300 naar 330, de andere termen blijven gelijk. De uitkomsten hebben de eenheid abonnementen per maand. Controleer het verschil: 0,01 × 3.000 = 30.</a:t>
            </a:r>
          </a:p>
          <a:p xmlns:a="http://schemas.openxmlformats.org/drawingml/2006/main">
            <a:r>
              <a:rPr sz="1400"/>
              <a:t/>
            </a:r>
          </a:p>
          <a:p xmlns:a="http://schemas.openxmlformats.org/drawingml/2006/main">
            <a:r>
              <a:rPr sz="1400"/>
              <a:t>Misvatting: 30 abonnementen is een absolute verandering, geen percentage.</a:t>
            </a:r>
          </a:p>
          <a:p xmlns:a="http://schemas.openxmlformats.org/drawingml/2006/main">
            <a:r>
              <a:rPr sz="1400"/>
              <a:t/>
            </a:r>
          </a:p>
          <a:p xmlns:a="http://schemas.openxmlformats.org/drawingml/2006/main">
            <a:r>
              <a:rPr sz="1400"/>
              <a:t>Overgang: Bereken percentages en Ei uit deze twee hoeveelheden.</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uitkomst bewijst dat de vraag minder sterk groeit dan het inkomen?</a:t>
            </a:r>
          </a:p>
          <a:p xmlns:a="http://schemas.openxmlformats.org/drawingml/2006/main">
            <a:r>
              <a:rPr sz="1400"/>
              <a:t/>
            </a:r>
          </a:p>
          <a:p xmlns:a="http://schemas.openxmlformats.org/drawingml/2006/main">
            <a:r>
              <a:rPr sz="1400"/>
              <a:t>Uitleg: Gebruik de oude waarden 390 en 30.000. Reken tussendoor ongerond: Ei = 10/13, ongeveer 0,77. De vraag stijgt procentueel minder sterk dan het inkomen. Px = 10 en Pz = 20 blijven gelijk. Ei heeft geen eenheid.</a:t>
            </a:r>
          </a:p>
          <a:p xmlns:a="http://schemas.openxmlformats.org/drawingml/2006/main">
            <a:r>
              <a:rPr sz="1400"/>
              <a:t/>
            </a:r>
          </a:p>
          <a:p xmlns:a="http://schemas.openxmlformats.org/drawingml/2006/main">
            <a:r>
              <a:rPr sz="1400"/>
              <a:t>Misvatting: Delen door 420 geeft een ander percentage en voldoet niet aan de gegeven afspraak.</a:t>
            </a:r>
          </a:p>
          <a:p xmlns:a="http://schemas.openxmlformats.org/drawingml/2006/main">
            <a:r>
              <a:rPr sz="1400"/>
              <a:t/>
            </a:r>
          </a:p>
          <a:p xmlns:a="http://schemas.openxmlformats.org/drawingml/2006/main">
            <a:r>
              <a:rPr sz="1400"/>
              <a:t>Overgang: Zet het inkomen terug voordat je e uitrekent.</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 je 390 als basis voor je vergelijking?</a:t>
            </a:r>
          </a:p>
          <a:p xmlns:a="http://schemas.openxmlformats.org/drawingml/2006/main">
            <a:r>
              <a:rPr sz="1400"/>
              <a:t/>
            </a:r>
          </a:p>
          <a:p xmlns:a="http://schemas.openxmlformats.org/drawingml/2006/main">
            <a:r>
              <a:rPr sz="1400"/>
              <a:t>Uitleg: Je vergelijkt 392 met 390, niet met 420. Alleen de term 0,5Pz verandert: 10 wordt 12. De hogere prijs van sportdienst Z hangt in dit model samen met twee extra abonnementen van X per maand, passend bij substitutie. De gevraagde conclusie is de richting en de vaste variabelen; een Ek-berekening is hier niet gevraagd.</a:t>
            </a:r>
          </a:p>
          <a:p xmlns:a="http://schemas.openxmlformats.org/drawingml/2006/main">
            <a:r>
              <a:rPr sz="1400"/>
              <a:t/>
            </a:r>
          </a:p>
          <a:p xmlns:a="http://schemas.openxmlformats.org/drawingml/2006/main">
            <a:r>
              <a:rPr sz="1400"/>
              <a:t>Misvatting: Wie Y = 33.000 laat staan, krijgt 422 en beantwoordt een ander scenario.</a:t>
            </a:r>
          </a:p>
          <a:p xmlns:a="http://schemas.openxmlformats.org/drawingml/2006/main">
            <a:r>
              <a:rPr sz="1400"/>
              <a:t/>
            </a:r>
          </a:p>
          <a:p xmlns:a="http://schemas.openxmlformats.org/drawingml/2006/main">
            <a:r>
              <a:rPr sz="1400"/>
              <a:t>Overgang: Laat leerlingen hun eigen antwoorden op ontbrekende stappen controleren.</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rekenstap of verklaring ontbrak nog?</a:t>
            </a:r>
          </a:p>
          <a:p xmlns:a="http://schemas.openxmlformats.org/drawingml/2006/main">
            <a:r>
              <a:rPr sz="1400"/>
              <a:t/>
            </a:r>
          </a:p>
          <a:p xmlns:a="http://schemas.openxmlformats.org/drawingml/2006/main">
            <a:r>
              <a:rPr sz="1400"/>
              <a:t>Uitleg: Laat leerlingen hun eigen uitwerking verbeteren. Volledige uitkomsten: a +1,6 en −0,6; b luxe en inferieur; c +0,4 en −0,6 met thee/koffie substituten en filters/koffie complementen; d 390 naar 420, 7,692307…%, inkomen 10%, Ei circa 0,77 normaal; e 392 en positief verband. In d blijven Px 10 en Pz 20 gelijk; in e Px 10 en Y 30.000.</a:t>
            </a:r>
          </a:p>
          <a:p xmlns:a="http://schemas.openxmlformats.org/drawingml/2006/main">
            <a:r>
              <a:rPr sz="1400"/>
              <a:t/>
            </a:r>
          </a:p>
          <a:p xmlns:a="http://schemas.openxmlformats.org/drawingml/2006/main">
            <a:r>
              <a:rPr sz="1400"/>
              <a:t>Misvatting: Een juist getal alleen beantwoordt geen vraag die ook een classificatie, eenheid of verklaring verlangt.</a:t>
            </a:r>
          </a:p>
          <a:p xmlns:a="http://schemas.openxmlformats.org/drawingml/2006/main">
            <a:r>
              <a:rPr sz="1400"/>
              <a:t/>
            </a:r>
          </a:p>
          <a:p xmlns:a="http://schemas.openxmlformats.org/drawingml/2006/main">
            <a:r>
              <a:rPr sz="1400"/>
              <a:t>Overgang: Sluit af met hetzelfde lesoverzicht en het huiswerk.</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opgave of stap wil je verbeteren?</a:t>
            </a:r>
          </a:p>
          <a:p xmlns:a="http://schemas.openxmlformats.org/drawingml/2006/main">
            <a:r>
              <a:rPr sz="1400"/>
              <a:t/>
            </a:r>
          </a:p>
          <a:p xmlns:a="http://schemas.openxmlformats.org/drawingml/2006/main">
            <a:r>
              <a:rPr sz="1400"/>
              <a:t>Uitleg: Laat het overzicht staan tijdens afsluiting / huiswerk. Start 1–2: pagina 59; basis 3: pagina 59 en 4–5: pagina 60; zelfstandig 6–7: pagina 61; doel 8: pagina 62. Huiswerk is 3 t/m 8 maken en nakijken. Bonus 9 en herhaling 10–11 zijn extra. De volledige route kan aanvullende lestijd vragen; dit is geen gemeten planning voor één les. Geef bij opgave 2 zo nodig kort steun: Ei gaat over inkomen en Ek over de prijs van een ander goed. Startantwoorden voor eventuele feedback nadat leerlingen zelf gewerkt hebben: 1a +10%, 1b 300 kaarten per week, 2a procentuele vraagreactie gedeeld door respectievelijk procentuele inkomensreactie of prijsreactie van een ander goed; 2b Px en Pz gelijk.</a:t>
            </a:r>
          </a:p>
          <a:p xmlns:a="http://schemas.openxmlformats.org/drawingml/2006/main">
            <a:r>
              <a:rPr sz="1400"/>
              <a:t/>
            </a:r>
          </a:p>
          <a:p xmlns:a="http://schemas.openxmlformats.org/drawingml/2006/main">
            <a:r>
              <a:rPr sz="1400"/>
              <a:t>Misvatting: Gebruik de gedrukte boekpagina: pagina 59 is fysieke PDF-pagina 61.</a:t>
            </a:r>
          </a:p>
          <a:p xmlns:a="http://schemas.openxmlformats.org/drawingml/2006/main">
            <a:r>
              <a:rPr sz="1400"/>
              <a:t/>
            </a:r>
          </a:p>
          <a:p xmlns:a="http://schemas.openxmlformats.org/drawingml/2006/main">
            <a:r>
              <a:rPr sz="1400"/>
              <a:t>Overgang: Laat leerlingen het huiswerk in hun agenda zetten.</a:t>
            </a:r>
          </a:p>
          <a:p xmlns:a="http://schemas.openxmlformats.org/drawingml/2006/main">
            <a:r>
              <a:rPr sz="1400"/>
              <a:t/>
            </a:r>
          </a:p>
          <a:p xmlns:a="http://schemas.openxmlformats.org/drawingml/2006/main">
            <a:r>
              <a:rPr sz="1400"/>
              <a:t>Bron: Boek 2, editie chat-2026, revisie 21 september 2026; gedrukte pagina 59–62.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071e626545409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3c2f19c90a47d7" /><Relationship Type="http://schemas.openxmlformats.org/officeDocument/2006/relationships/slideLayout" Target="/ppt/slideLayouts/slideLayout1.xml" Id="R80d0f8df77c04b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d0f8df77c04b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646fd17e5047be" /><Relationship Type="http://schemas.openxmlformats.org/officeDocument/2006/relationships/notesSlide" Target="/ppt/notesSlides/notesSlide1.xml" Id="Rce56af2a8c6549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2e8e2c8ed8452f" /><Relationship Type="http://schemas.openxmlformats.org/officeDocument/2006/relationships/notesSlide" Target="/ppt/notesSlides/notesSlide2.xml" Id="Rccff7ebee01c4d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753a71a76040be" /><Relationship Type="http://schemas.openxmlformats.org/officeDocument/2006/relationships/notesSlide" Target="/ppt/notesSlides/notesSlide3.xml" Id="R8ea445f3e59e47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b475a1984174345" /><Relationship Type="http://schemas.openxmlformats.org/officeDocument/2006/relationships/notesSlide" Target="/ppt/notesSlides/notesSlide4.xml" Id="Re999d35bbd0d45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37358219aab41b4" /><Relationship Type="http://schemas.openxmlformats.org/officeDocument/2006/relationships/notesSlide" Target="/ppt/notesSlides/notesSlide5.xml" Id="Rbcfa961700084b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66b6411e334225" /><Relationship Type="http://schemas.openxmlformats.org/officeDocument/2006/relationships/notesSlide" Target="/ppt/notesSlides/notesSlide6.xml" Id="Reb4d08cf33744d0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9c97d42be14c74" /><Relationship Type="http://schemas.openxmlformats.org/officeDocument/2006/relationships/notesSlide" Target="/ppt/notesSlides/notesSlide7.xml" Id="R267ed2945c054d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c9f01f454f6410a" /><Relationship Type="http://schemas.openxmlformats.org/officeDocument/2006/relationships/notesSlide" Target="/ppt/notesSlides/notesSlide8.xml" Id="R205f55127fcf495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c182eaae5ef4f6c" /><Relationship Type="http://schemas.openxmlformats.org/officeDocument/2006/relationships/notesSlide" Target="/ppt/notesSlides/notesSlide9.xml" Id="R59adc1183b8c40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4433a6e95f84e4c" /><Relationship Type="http://schemas.openxmlformats.org/officeDocument/2006/relationships/notesSlide" Target="/ppt/notesSlides/notesSlide10.xml" Id="Rab67541109984b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5b3af0d222f4a0f" /><Relationship Type="http://schemas.openxmlformats.org/officeDocument/2006/relationships/notesSlide" Target="/ppt/notesSlides/notesSlide11.xml" Id="R8344893549224d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ff61c1fc77f43c0" /><Relationship Type="http://schemas.openxmlformats.org/officeDocument/2006/relationships/notesSlide" Target="/ppt/notesSlides/notesSlide12.xml" Id="Ra84d49fc5e264e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17341d66b0345ba" /><Relationship Type="http://schemas.openxmlformats.org/officeDocument/2006/relationships/notesSlide" Target="/ppt/notesSlides/notesSlide13.xml" Id="R09754b96f40a439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1778ac7732f4bf0" /><Relationship Type="http://schemas.openxmlformats.org/officeDocument/2006/relationships/notesSlide" Target="/ppt/notesSlides/notesSlide14.xml" Id="Re74468a46754486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33c86b30ce4f42" /><Relationship Type="http://schemas.openxmlformats.org/officeDocument/2006/relationships/notesSlide" Target="/ppt/notesSlides/notesSlide15.xml" Id="Rec01f31e8421431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c008a19224e4369" /><Relationship Type="http://schemas.openxmlformats.org/officeDocument/2006/relationships/notesSlide" Target="/ppt/notesSlides/notesSlide16.xml" Id="R1b1e5b31fb0b43c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9fb2bfb57044bb6" /><Relationship Type="http://schemas.openxmlformats.org/officeDocument/2006/relationships/notesSlide" Target="/ppt/notesSlides/notesSlide17.xml" Id="Rf99876782ccc4ca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8a96f4502a445bc" /><Relationship Type="http://schemas.openxmlformats.org/officeDocument/2006/relationships/notesSlide" Target="/ppt/notesSlides/notesSlide18.xml" Id="R203df607da18488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1691dc36b6b4f3f" /><Relationship Type="http://schemas.openxmlformats.org/officeDocument/2006/relationships/notesSlide" Target="/ppt/notesSlides/notesSlide19.xml" Id="R5d6829cc0530464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ea5dfaf4c6d49d5" /><Relationship Type="http://schemas.openxmlformats.org/officeDocument/2006/relationships/notesSlide" Target="/ppt/notesSlides/notesSlide20.xml" Id="Re1890487edd64b9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4ed0f8306f847bc" /><Relationship Type="http://schemas.openxmlformats.org/officeDocument/2006/relationships/notesSlide" Target="/ppt/notesSlides/notesSlide21.xml" Id="R678f77957975480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2f40bf3eb3b4f31" /><Relationship Type="http://schemas.openxmlformats.org/officeDocument/2006/relationships/notesSlide" Target="/ppt/notesSlides/notesSlide22.xml" Id="R45b0701a814c4b6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6b83ee35e74400c" /><Relationship Type="http://schemas.openxmlformats.org/officeDocument/2006/relationships/notesSlide" Target="/ppt/notesSlides/notesSlide23.xml" Id="Rd56600390eeb4dc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c3822deaf2248d1" /><Relationship Type="http://schemas.openxmlformats.org/officeDocument/2006/relationships/notesSlide" Target="/ppt/notesSlides/notesSlide24.xml" Id="R8fdb1cfb125d40c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5a22418fcab4f32" /><Relationship Type="http://schemas.openxmlformats.org/officeDocument/2006/relationships/notesSlide" Target="/ppt/notesSlides/notesSlide25.xml" Id="Ree2087feabcb430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1de53a9b2824d9c" /><Relationship Type="http://schemas.openxmlformats.org/officeDocument/2006/relationships/notesSlide" Target="/ppt/notesSlides/notesSlide26.xml" Id="R032729088a06454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4d4995966cf4312" /><Relationship Type="http://schemas.openxmlformats.org/officeDocument/2006/relationships/notesSlide" Target="/ppt/notesSlides/notesSlide27.xml" Id="R7083f697fcb84a6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b8defb777ee4508" /><Relationship Type="http://schemas.openxmlformats.org/officeDocument/2006/relationships/notesSlide" Target="/ppt/notesSlides/notesSlide28.xml" Id="Rdc284ce9979e43c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itle">
            <a:extLst xmlns:a="http://schemas.openxmlformats.org/drawingml/2006/main">
              <a:ext uri="{FF2B5EF4-FFF2-40B4-BE49-F238E27FC236}">
                <a16:creationId xmlns:a16="http://schemas.microsoft.com/office/drawing/2014/main" id="{4B99035F-EEB3-44C9-9B9C-6B2137D1A3D0}"/>
              </a:ext>
            </a:extLst>
          </p:cNvPr>
          <p:cNvSpPr>
            <a:spLocks xmlns:a="http://schemas.openxmlformats.org/drawingml/2006/main" noGrp="1"/>
          </p:cNvSpPr>
          <p:nvPr/>
        </p:nvSpPr>
        <p:spPr>
          <a:xfrm xmlns:a="http://schemas.openxmlformats.org/drawingml/2006/main">
            <a:off x="571500" y="25717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Deze les: §2.2.3</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Inkomenselasticiteit en kruislingse elasticiteit</a:t>
            </a:r>
          </a:p>
        </p:txBody>
      </p:sp>
      <p:sp>
        <p:nvSpPr>
          <p:cNvPr id="2" name="">
            <a:extLst xmlns:a="http://schemas.openxmlformats.org/drawingml/2006/main">
              <a:ext uri="{FF2B5EF4-FFF2-40B4-BE49-F238E27FC236}">
                <a16:creationId xmlns:a16="http://schemas.microsoft.com/office/drawing/2014/main" id="{6DA43FEF-F9CF-46D7-91B7-51E6561993F8}"/>
              </a:ext>
            </a:extLst>
          </p:cNvPr>
          <p:cNvSpPr>
            <a:spLocks xmlns:a="http://schemas.openxmlformats.org/drawingml/2006/main" noGrp="1"/>
          </p:cNvSpPr>
          <p:nvPr/>
        </p:nvSpPr>
        <p:spPr>
          <a:xfrm xmlns:a="http://schemas.openxmlformats.org/drawingml/2006/main">
            <a:off x="571500" y="17335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70F8761-C94B-41BD-9B14-4A47E8DEAEC0}"/>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C951085B-876F-46FD-93AF-B0BFB03922D5}"/>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CC2F2466-E9FA-4101-9BF3-C904B50C6E49}"/>
              </a:ext>
            </a:extLst>
          </p:cNvPr>
          <p:cNvSpPr>
            <a:spLocks xmlns:a="http://schemas.openxmlformats.org/drawingml/2006/main" noGrp="1"/>
          </p:cNvSpPr>
          <p:nvPr/>
        </p:nvSpPr>
        <p:spPr>
          <a:xfrm xmlns:a="http://schemas.openxmlformats.org/drawingml/2006/main">
            <a:off x="571500" y="1323975"/>
            <a:ext cx="1409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FBD9A3DF-F5A4-4C05-9F72-6A4C9EF352D7}"/>
              </a:ext>
            </a:extLst>
          </p:cNvPr>
          <p:cNvSpPr>
            <a:spLocks xmlns:a="http://schemas.openxmlformats.org/drawingml/2006/main" noGrp="1"/>
          </p:cNvSpPr>
          <p:nvPr/>
        </p:nvSpPr>
        <p:spPr>
          <a:xfrm xmlns:a="http://schemas.openxmlformats.org/drawingml/2006/main">
            <a:off x="571500" y="1952625"/>
            <a:ext cx="7953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2A58A445-E2C5-443C-A102-7147FBB9058F}"/>
              </a:ext>
            </a:extLst>
          </p:cNvPr>
          <p:cNvSpPr>
            <a:spLocks xmlns:a="http://schemas.openxmlformats.org/drawingml/2006/main" noGrp="1"/>
          </p:cNvSpPr>
          <p:nvPr/>
        </p:nvSpPr>
        <p:spPr>
          <a:xfrm xmlns:a="http://schemas.openxmlformats.org/drawingml/2006/main">
            <a:off x="571500" y="2505075"/>
            <a:ext cx="457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2B88FF3A-E8BC-41C5-9ECB-C50C6AB42FAB}"/>
              </a:ext>
            </a:extLst>
          </p:cNvPr>
          <p:cNvSpPr>
            <a:spLocks xmlns:a="http://schemas.openxmlformats.org/drawingml/2006/main" noGrp="1"/>
          </p:cNvSpPr>
          <p:nvPr/>
        </p:nvSpPr>
        <p:spPr>
          <a:xfrm xmlns:a="http://schemas.openxmlformats.org/drawingml/2006/main">
            <a:off x="1104900" y="2505075"/>
            <a:ext cx="74199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3745B9E8-F7A5-4D84-9D02-C72CAA3FA63E}"/>
              </a:ext>
            </a:extLst>
          </p:cNvPr>
          <p:cNvSpPr>
            <a:spLocks xmlns:a="http://schemas.openxmlformats.org/drawingml/2006/main" noGrp="1"/>
          </p:cNvSpPr>
          <p:nvPr/>
        </p:nvSpPr>
        <p:spPr>
          <a:xfrm xmlns:a="http://schemas.openxmlformats.org/drawingml/2006/main">
            <a:off x="571500" y="33718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21FC512C-EE26-43C7-A3C8-6648A6685040}"/>
              </a:ext>
            </a:extLst>
          </p:cNvPr>
          <p:cNvSpPr>
            <a:spLocks xmlns:a="http://schemas.openxmlformats.org/drawingml/2006/main" noGrp="1"/>
          </p:cNvSpPr>
          <p:nvPr/>
        </p:nvSpPr>
        <p:spPr>
          <a:xfrm xmlns:a="http://schemas.openxmlformats.org/drawingml/2006/main">
            <a:off x="1104900" y="33718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44F207F4-9762-46C3-846A-8E766D4A82F5}"/>
              </a:ext>
            </a:extLst>
          </p:cNvPr>
          <p:cNvSpPr>
            <a:spLocks xmlns:a="http://schemas.openxmlformats.org/drawingml/2006/main" noGrp="1"/>
          </p:cNvSpPr>
          <p:nvPr/>
        </p:nvSpPr>
        <p:spPr>
          <a:xfrm xmlns:a="http://schemas.openxmlformats.org/drawingml/2006/main">
            <a:off x="571500" y="387667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E7CB41BF-51AC-43C3-82AC-9F7CD0BD42C4}"/>
              </a:ext>
            </a:extLst>
          </p:cNvPr>
          <p:cNvSpPr>
            <a:spLocks xmlns:a="http://schemas.openxmlformats.org/drawingml/2006/main" noGrp="1"/>
          </p:cNvSpPr>
          <p:nvPr/>
        </p:nvSpPr>
        <p:spPr>
          <a:xfrm xmlns:a="http://schemas.openxmlformats.org/drawingml/2006/main">
            <a:off x="1104900" y="387667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96FACAA5-E163-4FF6-B468-16CDB0AD3207}"/>
              </a:ext>
            </a:extLst>
          </p:cNvPr>
          <p:cNvSpPr>
            <a:spLocks xmlns:a="http://schemas.openxmlformats.org/drawingml/2006/main" noGrp="1"/>
          </p:cNvSpPr>
          <p:nvPr/>
        </p:nvSpPr>
        <p:spPr>
          <a:xfrm xmlns:a="http://schemas.openxmlformats.org/drawingml/2006/main">
            <a:off x="571500" y="4400550"/>
            <a:ext cx="4572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38DB9241-4670-454B-B1FD-53F861F459FB}"/>
              </a:ext>
            </a:extLst>
          </p:cNvPr>
          <p:cNvSpPr>
            <a:spLocks xmlns:a="http://schemas.openxmlformats.org/drawingml/2006/main" noGrp="1"/>
          </p:cNvSpPr>
          <p:nvPr/>
        </p:nvSpPr>
        <p:spPr>
          <a:xfrm xmlns:a="http://schemas.openxmlformats.org/drawingml/2006/main">
            <a:off x="1104900" y="4400550"/>
            <a:ext cx="741997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7A271AC-8960-4775-829F-4AB84688AC5B}"/>
              </a:ext>
            </a:extLst>
          </p:cNvPr>
          <p:cNvSpPr>
            <a:spLocks xmlns:a="http://schemas.openxmlformats.org/drawingml/2006/main" noGrp="1"/>
          </p:cNvSpPr>
          <p:nvPr/>
        </p:nvSpPr>
        <p:spPr>
          <a:xfrm xmlns:a="http://schemas.openxmlformats.org/drawingml/2006/main">
            <a:off x="571500" y="6086475"/>
            <a:ext cx="457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1AD3B7A-21D7-4FBF-8EAD-F8238247E3A4}"/>
              </a:ext>
            </a:extLst>
          </p:cNvPr>
          <p:cNvSpPr>
            <a:spLocks xmlns:a="http://schemas.openxmlformats.org/drawingml/2006/main" noGrp="1"/>
          </p:cNvSpPr>
          <p:nvPr/>
        </p:nvSpPr>
        <p:spPr>
          <a:xfrm xmlns:a="http://schemas.openxmlformats.org/drawingml/2006/main">
            <a:off x="1104900" y="6086475"/>
            <a:ext cx="7419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3C9884FB-E303-469D-8B1D-F3183443F762}"/>
              </a:ext>
            </a:extLst>
          </p:cNvPr>
          <p:cNvSpPr>
            <a:spLocks xmlns:a="http://schemas.openxmlformats.org/drawingml/2006/main" noGrp="1"/>
          </p:cNvSpPr>
          <p:nvPr/>
        </p:nvSpPr>
        <p:spPr>
          <a:xfrm xmlns:a="http://schemas.openxmlformats.org/drawingml/2006/main">
            <a:off x="571500" y="6829425"/>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05F6C89A-4C51-4944-90B2-4C00D196B5B9}"/>
              </a:ext>
            </a:extLst>
          </p:cNvPr>
          <p:cNvSpPr>
            <a:spLocks xmlns:a="http://schemas.openxmlformats.org/drawingml/2006/main" noGrp="1"/>
          </p:cNvSpPr>
          <p:nvPr/>
        </p:nvSpPr>
        <p:spPr>
          <a:xfrm xmlns:a="http://schemas.openxmlformats.org/drawingml/2006/main">
            <a:off x="1104900" y="6829425"/>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83FBA920-08D4-4BDE-8C8A-A265E67D1FD2}"/>
              </a:ext>
            </a:extLst>
          </p:cNvPr>
          <p:cNvSpPr>
            <a:spLocks xmlns:a="http://schemas.openxmlformats.org/drawingml/2006/main" noGrp="1"/>
          </p:cNvSpPr>
          <p:nvPr/>
        </p:nvSpPr>
        <p:spPr>
          <a:xfrm xmlns:a="http://schemas.openxmlformats.org/drawingml/2006/main">
            <a:off x="571500" y="742950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FAF27A41-452C-4BFD-9C05-9D1823036585}"/>
              </a:ext>
            </a:extLst>
          </p:cNvPr>
          <p:cNvSpPr>
            <a:spLocks xmlns:a="http://schemas.openxmlformats.org/drawingml/2006/main" noGrp="1"/>
          </p:cNvSpPr>
          <p:nvPr/>
        </p:nvSpPr>
        <p:spPr>
          <a:xfrm xmlns:a="http://schemas.openxmlformats.org/drawingml/2006/main">
            <a:off x="1104900" y="742950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7325A586-FC44-4407-9DE6-4F4442144E1A}"/>
              </a:ext>
            </a:extLst>
          </p:cNvPr>
          <p:cNvSpPr>
            <a:spLocks xmlns:a="http://schemas.openxmlformats.org/drawingml/2006/main" noGrp="1"/>
          </p:cNvSpPr>
          <p:nvPr/>
        </p:nvSpPr>
        <p:spPr>
          <a:xfrm xmlns:a="http://schemas.openxmlformats.org/drawingml/2006/main">
            <a:off x="9258300" y="19526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9534881-651A-4A1F-8F9D-B06F137D602A}"/>
              </a:ext>
            </a:extLst>
          </p:cNvPr>
          <p:cNvSpPr>
            <a:spLocks xmlns:a="http://schemas.openxmlformats.org/drawingml/2006/main" noGrp="1"/>
          </p:cNvSpPr>
          <p:nvPr/>
        </p:nvSpPr>
        <p:spPr>
          <a:xfrm xmlns:a="http://schemas.openxmlformats.org/drawingml/2006/main">
            <a:off x="9258300" y="2505075"/>
            <a:ext cx="54102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Ei en Ek berekenen en duiden.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Goederen en relaties indelen.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Eén factor in een functie wijzigen.</a:t>
            </a:r>
          </a:p>
        </p:txBody>
      </p:sp>
      <p:sp>
        <p:nvSpPr>
          <p:cNvPr id="23" name="">
            <a:extLst xmlns:a="http://schemas.openxmlformats.org/drawingml/2006/main">
              <a:ext uri="{FF2B5EF4-FFF2-40B4-BE49-F238E27FC236}">
                <a16:creationId xmlns:a16="http://schemas.microsoft.com/office/drawing/2014/main" id="{C912E727-A0F5-4129-852D-0B895ED70AFF}"/>
              </a:ext>
            </a:extLst>
          </p:cNvPr>
          <p:cNvSpPr>
            <a:spLocks xmlns:a="http://schemas.openxmlformats.org/drawingml/2006/main" noGrp="1"/>
          </p:cNvSpPr>
          <p:nvPr/>
        </p:nvSpPr>
        <p:spPr>
          <a:xfrm xmlns:a="http://schemas.openxmlformats.org/drawingml/2006/main">
            <a:off x="9258300" y="37528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80717DA-9466-4F38-BB8F-7297E7A6CAE4}"/>
              </a:ext>
            </a:extLst>
          </p:cNvPr>
          <p:cNvSpPr>
            <a:spLocks xmlns:a="http://schemas.openxmlformats.org/drawingml/2006/main" noGrp="1"/>
          </p:cNvSpPr>
          <p:nvPr/>
        </p:nvSpPr>
        <p:spPr>
          <a:xfrm xmlns:a="http://schemas.openxmlformats.org/drawingml/2006/main">
            <a:off x="9258300" y="3981450"/>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D7F35D8-6BD0-43E4-9B53-D0A13EBB525B}"/>
              </a:ext>
            </a:extLst>
          </p:cNvPr>
          <p:cNvSpPr>
            <a:spLocks xmlns:a="http://schemas.openxmlformats.org/drawingml/2006/main" noGrp="1"/>
          </p:cNvSpPr>
          <p:nvPr/>
        </p:nvSpPr>
        <p:spPr>
          <a:xfrm xmlns:a="http://schemas.openxmlformats.org/drawingml/2006/main">
            <a:off x="9258300" y="4476750"/>
            <a:ext cx="5410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59</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3D4A8CCF-AB53-46AF-BC55-DB3CEC141D6B}"/>
              </a:ext>
            </a:extLst>
          </p:cNvPr>
          <p:cNvSpPr>
            <a:spLocks xmlns:a="http://schemas.openxmlformats.org/drawingml/2006/main" noGrp="1"/>
          </p:cNvSpPr>
          <p:nvPr/>
        </p:nvSpPr>
        <p:spPr>
          <a:xfrm xmlns:a="http://schemas.openxmlformats.org/drawingml/2006/main">
            <a:off x="9258300" y="549592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7ED39E9-6F5E-43F0-B403-FA9E2712ED06}"/>
              </a:ext>
            </a:extLst>
          </p:cNvPr>
          <p:cNvSpPr>
            <a:spLocks xmlns:a="http://schemas.openxmlformats.org/drawingml/2006/main" noGrp="1"/>
          </p:cNvSpPr>
          <p:nvPr/>
        </p:nvSpPr>
        <p:spPr>
          <a:xfrm xmlns:a="http://schemas.openxmlformats.org/drawingml/2006/main">
            <a:off x="9258300" y="57245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579A339-08DD-4DA0-ACA0-D651E3FE8E4C}"/>
              </a:ext>
            </a:extLst>
          </p:cNvPr>
          <p:cNvSpPr>
            <a:spLocks xmlns:a="http://schemas.openxmlformats.org/drawingml/2006/main" noGrp="1"/>
          </p:cNvSpPr>
          <p:nvPr/>
        </p:nvSpPr>
        <p:spPr>
          <a:xfrm xmlns:a="http://schemas.openxmlformats.org/drawingml/2006/main">
            <a:off x="9258300" y="6286500"/>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§2.2.3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2931409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1DDD1529-537B-4D60-B102-AAE52F0DF8D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F6276A04-4862-4104-BB91-637CDCC8B0D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F7BBC43-3911-4266-B3A1-4386D27BB5DD}"/>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3BBB492D-7BF3-4B62-846E-AB9736679920}"/>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Inkomen">
            <a:extLst xmlns:a="http://schemas.openxmlformats.org/drawingml/2006/main">
              <a:ext uri="{FF2B5EF4-FFF2-40B4-BE49-F238E27FC236}">
                <a16:creationId xmlns:a16="http://schemas.microsoft.com/office/drawing/2014/main" id="{913C95A0-AC7B-4B9E-BC4A-B8E45D275D49}"/>
              </a:ext>
            </a:extLst>
          </p:cNvPr>
          <p:cNvSpPr>
            <a:spLocks xmlns:a="http://schemas.openxmlformats.org/drawingml/2006/main" noGrp="1"/>
          </p:cNvSpPr>
          <p:nvPr/>
        </p:nvSpPr>
        <p:spPr>
          <a:xfrm xmlns:a="http://schemas.openxmlformats.org/drawingml/2006/main">
            <a:off x="571500" y="22383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Inkomen</a:t>
            </a:r>
          </a:p>
        </p:txBody>
      </p:sp>
      <p:sp>
        <p:nvSpPr>
          <p:cNvPr id="6" name="Ei berekenen en het goed indelen.">
            <a:extLst xmlns:a="http://schemas.openxmlformats.org/drawingml/2006/main">
              <a:ext uri="{FF2B5EF4-FFF2-40B4-BE49-F238E27FC236}">
                <a16:creationId xmlns:a16="http://schemas.microsoft.com/office/drawing/2014/main" id="{BAD17DB0-DED0-46A8-B9C0-6AC302BBBB0F}"/>
              </a:ext>
            </a:extLst>
          </p:cNvPr>
          <p:cNvSpPr>
            <a:spLocks xmlns:a="http://schemas.openxmlformats.org/drawingml/2006/main" noGrp="1"/>
          </p:cNvSpPr>
          <p:nvPr/>
        </p:nvSpPr>
        <p:spPr>
          <a:xfrm xmlns:a="http://schemas.openxmlformats.org/drawingml/2006/main">
            <a:off x="5048250" y="2238375"/>
            <a:ext cx="962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Ei berekenen en het goed indelen.</a:t>
            </a:r>
          </a:p>
        </p:txBody>
      </p:sp>
      <p:sp>
        <p:nvSpPr>
          <p:cNvPr id="7" name="Een andere prijs">
            <a:extLst xmlns:a="http://schemas.openxmlformats.org/drawingml/2006/main">
              <a:ext uri="{FF2B5EF4-FFF2-40B4-BE49-F238E27FC236}">
                <a16:creationId xmlns:a16="http://schemas.microsoft.com/office/drawing/2014/main" id="{2969D2DB-4EBC-4050-A525-CEE1CF761FEA}"/>
              </a:ext>
            </a:extLst>
          </p:cNvPr>
          <p:cNvSpPr>
            <a:spLocks xmlns:a="http://schemas.openxmlformats.org/drawingml/2006/main" noGrp="1"/>
          </p:cNvSpPr>
          <p:nvPr/>
        </p:nvSpPr>
        <p:spPr>
          <a:xfrm xmlns:a="http://schemas.openxmlformats.org/drawingml/2006/main">
            <a:off x="571500" y="39528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Een andere prijs</a:t>
            </a:r>
          </a:p>
        </p:txBody>
      </p:sp>
      <p:sp>
        <p:nvSpPr>
          <p:cNvPr id="8" name="Ek berekenen, beide goederen noemen&#10;en hun relatie uitleggen">
            <a:extLst xmlns:a="http://schemas.openxmlformats.org/drawingml/2006/main">
              <a:ext uri="{FF2B5EF4-FFF2-40B4-BE49-F238E27FC236}">
                <a16:creationId xmlns:a16="http://schemas.microsoft.com/office/drawing/2014/main" id="{6CB23A21-79B6-4B28-9A8C-0571B77170BC}"/>
              </a:ext>
            </a:extLst>
          </p:cNvPr>
          <p:cNvSpPr>
            <a:spLocks xmlns:a="http://schemas.openxmlformats.org/drawingml/2006/main" noGrp="1"/>
          </p:cNvSpPr>
          <p:nvPr/>
        </p:nvSpPr>
        <p:spPr>
          <a:xfrm xmlns:a="http://schemas.openxmlformats.org/drawingml/2006/main">
            <a:off x="5048250" y="3952875"/>
            <a:ext cx="962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Ek berekenen, beide goederen noemen</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en hun relatie uitleggen.</a:t>
            </a:r>
          </a:p>
        </p:txBody>
      </p:sp>
      <p:sp>
        <p:nvSpPr>
          <p:cNvPr id="9" name="Een vraagfunctie">
            <a:extLst xmlns:a="http://schemas.openxmlformats.org/drawingml/2006/main">
              <a:ext uri="{FF2B5EF4-FFF2-40B4-BE49-F238E27FC236}">
                <a16:creationId xmlns:a16="http://schemas.microsoft.com/office/drawing/2014/main" id="{4D079D08-C9F1-4984-8038-253AF0F24E3E}"/>
              </a:ext>
            </a:extLst>
          </p:cNvPr>
          <p:cNvSpPr>
            <a:spLocks xmlns:a="http://schemas.openxmlformats.org/drawingml/2006/main" noGrp="1"/>
          </p:cNvSpPr>
          <p:nvPr/>
        </p:nvSpPr>
        <p:spPr>
          <a:xfrm xmlns:a="http://schemas.openxmlformats.org/drawingml/2006/main">
            <a:off x="571500" y="56673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Een vraagfunctie</a:t>
            </a:r>
          </a:p>
        </p:txBody>
      </p:sp>
      <p:sp>
        <p:nvSpPr>
          <p:cNvPr id="10" name="Steeds één factor veranderen en verklaren&#10;wat met de gevraag">
            <a:extLst xmlns:a="http://schemas.openxmlformats.org/drawingml/2006/main">
              <a:ext uri="{FF2B5EF4-FFF2-40B4-BE49-F238E27FC236}">
                <a16:creationId xmlns:a16="http://schemas.microsoft.com/office/drawing/2014/main" id="{125575EB-6987-4195-AC65-5C4C30CD15EA}"/>
              </a:ext>
            </a:extLst>
          </p:cNvPr>
          <p:cNvSpPr>
            <a:spLocks xmlns:a="http://schemas.openxmlformats.org/drawingml/2006/main" noGrp="1"/>
          </p:cNvSpPr>
          <p:nvPr/>
        </p:nvSpPr>
        <p:spPr>
          <a:xfrm xmlns:a="http://schemas.openxmlformats.org/drawingml/2006/main">
            <a:off x="5048250" y="5667375"/>
            <a:ext cx="962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Steeds één factor veranderen en verklaren</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wat met de gevraagde hoeveelheid gebeurt.</a:t>
            </a:r>
          </a:p>
        </p:txBody>
      </p:sp>
    </p:spTree>
    <p:extLst>
      <p:ext uri="{BB962C8B-B14F-4D97-AF65-F5344CB8AC3E}">
        <p14:creationId xmlns:p14="http://schemas.microsoft.com/office/powerpoint/2010/main" val="19038174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C6994C28-5B68-49A6-8478-74331875E77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noemer bepaalt wat je onderzoekt</a:t>
            </a:r>
          </a:p>
        </p:txBody>
      </p:sp>
      <p:sp>
        <p:nvSpPr>
          <p:cNvPr id="2" name="">
            <a:extLst xmlns:a="http://schemas.openxmlformats.org/drawingml/2006/main">
              <a:ext uri="{FF2B5EF4-FFF2-40B4-BE49-F238E27FC236}">
                <a16:creationId xmlns:a16="http://schemas.microsoft.com/office/drawing/2014/main" id="{EBD5AEE2-A113-466E-9E43-DE8F13D4821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F015065-9BF1-458D-A7B3-C19425AD387D}"/>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C606ACAA-3A29-4290-94DC-DA8454991806}"/>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1" name=""/>
          <p:cNvGraphicFramePr/>
          <p:nvPr/>
        </p:nvGraphicFramePr>
        <p:xfrm>
          <a:off xmlns:a="http://schemas.openxmlformats.org/drawingml/2006/main" x="571500" y="2105025"/>
          <a:ext xmlns:a="http://schemas.openxmlformats.org/drawingml/2006/main" cx="14097000" cy="3971925"/>
        </p:xfrm>
        <a:graphic xmlns:a="http://schemas.openxmlformats.org/drawingml/2006/main">
          <a:graphicData uri="http://schemas.openxmlformats.org/drawingml/2006/table">
            <a:tbl>
              <a:tblPr/>
              <a:tblGrid>
                <a:gridCol w="5905500"/>
                <a:gridCol w="2667000"/>
                <a:gridCol w="5524500"/>
              </a:tblGrid>
              <a:tr h="992981">
                <a:tc>
                  <a:txBody>
                    <a:bodyPr lIns="161925" tIns="95250" rIns="142875" bIns="95250"/>
                    <a:lstStyle/>
                    <a:p>
                      <a:r>
                        <a:rPr sz="2625" b="1">
                          <a:solidFill>
                            <a:srgbClr val="FFFFFF"/>
                          </a:solidFill>
                          <a:latin typeface="Arial"/>
                          <a:ea typeface="Arial"/>
                          <a:cs typeface="Arial"/>
                        </a:rPr>
                        <a:t>Wat verandert?</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Elasticiteit</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Verhouding</a:t>
                      </a:r>
                    </a:p>
                  </a:txBody>
                  <a:tcPr marL="91440" marR="91440" marT="45720" marB="45720" anchor="ctr">
                    <a:solidFill>
                      <a:srgbClr val="183247"/>
                    </a:solidFill>
                  </a:tcPr>
                </a:tc>
              </a:tr>
              <a:tr h="992981">
                <a:tc>
                  <a:txBody>
                    <a:bodyPr lIns="161925" tIns="95250" rIns="142875" bIns="95250"/>
                    <a:lstStyle/>
                    <a:p>
                      <a:r>
                        <a:rPr sz="2625" b="0">
                          <a:solidFill>
                            <a:srgbClr val="183247"/>
                          </a:solidFill>
                          <a:latin typeface="Arial"/>
                          <a:ea typeface="Arial"/>
                          <a:cs typeface="Arial"/>
                        </a:rPr>
                        <a:t>Eigen prijs P</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Ev</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%ΔQv / %ΔP</a:t>
                      </a:r>
                    </a:p>
                  </a:txBody>
                  <a:tcPr marL="91440" marR="91440" marT="45720" marB="45720" anchor="ctr">
                    <a:solidFill>
                      <a:srgbClr val="FFFFFF"/>
                    </a:solidFill>
                  </a:tcPr>
                </a:tc>
              </a:tr>
              <a:tr h="992981">
                <a:tc>
                  <a:txBody>
                    <a:bodyPr lIns="161925" tIns="95250" rIns="142875" bIns="95250"/>
                    <a:lstStyle/>
                    <a:p>
                      <a:r>
                        <a:rPr sz="2625" b="0">
                          <a:solidFill>
                            <a:srgbClr val="183247"/>
                          </a:solidFill>
                          <a:latin typeface="Arial"/>
                          <a:ea typeface="Arial"/>
                          <a:cs typeface="Arial"/>
                        </a:rPr>
                        <a:t>Inkomen Y</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Ei</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%ΔQv / %ΔY</a:t>
                      </a:r>
                    </a:p>
                  </a:txBody>
                  <a:tcPr marL="91440" marR="91440" marT="45720" marB="45720" anchor="ctr">
                    <a:solidFill>
                      <a:srgbClr val="EFF4F7"/>
                    </a:solidFill>
                  </a:tcPr>
                </a:tc>
              </a:tr>
              <a:tr h="992981">
                <a:tc>
                  <a:txBody>
                    <a:bodyPr lIns="161925" tIns="95250" rIns="142875" bIns="95250"/>
                    <a:lstStyle/>
                    <a:p>
                      <a:r>
                        <a:rPr sz="2625" b="0">
                          <a:solidFill>
                            <a:srgbClr val="183247"/>
                          </a:solidFill>
                          <a:latin typeface="Arial"/>
                          <a:ea typeface="Arial"/>
                          <a:cs typeface="Arial"/>
                        </a:rPr>
                        <a:t>Prijs van ander goed Z</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Ek</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%ΔQv van X / %ΔP van Z</a:t>
                      </a:r>
                    </a:p>
                  </a:txBody>
                  <a:tcPr marL="91440" marR="91440" marT="45720" marB="45720" anchor="ctr">
                    <a:solidFill>
                      <a:srgbClr val="FFFFFF"/>
                    </a:solidFill>
                  </a:tcPr>
                </a:tc>
              </a:tr>
            </a:tbl>
          </a:graphicData>
        </a:graphic>
      </p:graphicFrame>
      <p:sp>
        <p:nvSpPr>
          <p:cNvPr id="6" name="Boven: de vraagreactie. Onder: de onderzochte oorzaak.">
            <a:extLst xmlns:a="http://schemas.openxmlformats.org/drawingml/2006/main">
              <a:ext uri="{FF2B5EF4-FFF2-40B4-BE49-F238E27FC236}">
                <a16:creationId xmlns:a16="http://schemas.microsoft.com/office/drawing/2014/main" id="{37734539-B0B8-439C-B87A-1CB355910FF0}"/>
              </a:ext>
            </a:extLst>
          </p:cNvPr>
          <p:cNvSpPr>
            <a:spLocks xmlns:a="http://schemas.openxmlformats.org/drawingml/2006/main" noGrp="1"/>
          </p:cNvSpPr>
          <p:nvPr/>
        </p:nvSpPr>
        <p:spPr>
          <a:xfrm xmlns:a="http://schemas.openxmlformats.org/drawingml/2006/main">
            <a:off x="571500" y="65817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Boven: de vraagreactie. Onder: de onderzochte oorzaak.</a:t>
            </a:r>
          </a:p>
        </p:txBody>
      </p:sp>
    </p:spTree>
    <p:extLst>
      <p:ext uri="{BB962C8B-B14F-4D97-AF65-F5344CB8AC3E}">
        <p14:creationId xmlns:p14="http://schemas.microsoft.com/office/powerpoint/2010/main" val="14616529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FAE3BC7D-4EEC-4933-977B-75BB770717C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Inkomenselasticiteit berekenen</a:t>
            </a:r>
          </a:p>
        </p:txBody>
      </p:sp>
      <p:sp>
        <p:nvSpPr>
          <p:cNvPr id="2" name="">
            <a:extLst xmlns:a="http://schemas.openxmlformats.org/drawingml/2006/main">
              <a:ext uri="{FF2B5EF4-FFF2-40B4-BE49-F238E27FC236}">
                <a16:creationId xmlns:a16="http://schemas.microsoft.com/office/drawing/2014/main" id="{3C408A53-EB36-4006-9CAB-58BA111C651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F97D37C-F6AA-4C39-864B-BEDFB46837F0}"/>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38168762-003F-4928-9BA4-BD1C2E283F26}"/>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Fictieve meting: inkomen +8%; andere vraagfactoren gelijk">
            <a:extLst xmlns:a="http://schemas.openxmlformats.org/drawingml/2006/main">
              <a:ext uri="{FF2B5EF4-FFF2-40B4-BE49-F238E27FC236}">
                <a16:creationId xmlns:a16="http://schemas.microsoft.com/office/drawing/2014/main" id="{BCBCB5F3-53E2-4429-BDCA-89C33FCEE004}"/>
              </a:ext>
            </a:extLst>
          </p:cNvPr>
          <p:cNvSpPr>
            <a:spLocks xmlns:a="http://schemas.openxmlformats.org/drawingml/2006/main" noGrp="1"/>
          </p:cNvSpPr>
          <p:nvPr/>
        </p:nvSpPr>
        <p:spPr>
          <a:xfrm xmlns:a="http://schemas.openxmlformats.org/drawingml/2006/main">
            <a:off x="571500" y="17907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Fictieve meting: inkomen +8%; andere vraagfactoren gelijk</a:t>
            </a:r>
          </a:p>
        </p:txBody>
      </p:sp>
      <p:sp>
        <p:nvSpPr>
          <p:cNvPr id="6" name="Ei = %ΔQv / %ΔY">
            <a:extLst xmlns:a="http://schemas.openxmlformats.org/drawingml/2006/main">
              <a:ext uri="{FF2B5EF4-FFF2-40B4-BE49-F238E27FC236}">
                <a16:creationId xmlns:a16="http://schemas.microsoft.com/office/drawing/2014/main" id="{C62E961C-5878-406C-B1CC-DF00281FD567}"/>
              </a:ext>
            </a:extLst>
          </p:cNvPr>
          <p:cNvSpPr>
            <a:spLocks xmlns:a="http://schemas.openxmlformats.org/drawingml/2006/main" noGrp="1"/>
          </p:cNvSpPr>
          <p:nvPr/>
        </p:nvSpPr>
        <p:spPr>
          <a:xfrm xmlns:a="http://schemas.openxmlformats.org/drawingml/2006/main">
            <a:off x="571500" y="27622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Ei = %ΔQv / %ΔY</a:t>
            </a:r>
          </a:p>
        </p:txBody>
      </p:sp>
      <p:graphicFrame>
        <p:nvGraphicFramePr>
          <p:cNvPr id="15" name=""/>
          <p:cNvGraphicFramePr/>
          <p:nvPr/>
        </p:nvGraphicFramePr>
        <p:xfrm>
          <a:off xmlns:a="http://schemas.openxmlformats.org/drawingml/2006/main" x="571500" y="3886200"/>
          <a:ext xmlns:a="http://schemas.openxmlformats.org/drawingml/2006/main" cx="14097000" cy="3028950"/>
        </p:xfrm>
        <a:graphic xmlns:a="http://schemas.openxmlformats.org/drawingml/2006/main">
          <a:graphicData uri="http://schemas.openxmlformats.org/drawingml/2006/table">
            <a:tbl>
              <a:tblPr/>
              <a:tblGrid>
                <a:gridCol w="6191250"/>
                <a:gridCol w="2571750"/>
                <a:gridCol w="5334000"/>
              </a:tblGrid>
              <a:tr h="757238">
                <a:tc>
                  <a:txBody>
                    <a:bodyPr lIns="161925" tIns="95250" rIns="142875" bIns="95250"/>
                    <a:lstStyle/>
                    <a:p>
                      <a:r>
                        <a:rPr sz="2625" b="1">
                          <a:solidFill>
                            <a:srgbClr val="FFFFFF"/>
                          </a:solidFill>
                          <a:latin typeface="Arial"/>
                          <a:ea typeface="Arial"/>
                          <a:cs typeface="Arial"/>
                        </a:rPr>
                        <a:t>Vraag naar</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%ΔQv</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Berekening Ei</a:t>
                      </a:r>
                    </a:p>
                  </a:txBody>
                  <a:tcPr marL="91440" marR="91440" marT="45720" marB="45720" anchor="ctr">
                    <a:solidFill>
                      <a:srgbClr val="183247"/>
                    </a:solidFill>
                  </a:tcPr>
                </a:tc>
              </a:tr>
              <a:tr h="757238">
                <a:tc>
                  <a:txBody>
                    <a:bodyPr lIns="161925" tIns="95250" rIns="142875" bIns="95250"/>
                    <a:lstStyle/>
                    <a:p>
                      <a:r>
                        <a:rPr sz="2625" b="0">
                          <a:solidFill>
                            <a:srgbClr val="183247"/>
                          </a:solidFill>
                          <a:latin typeface="Arial"/>
                          <a:ea typeface="Arial"/>
                          <a:cs typeface="Arial"/>
                        </a:rPr>
                        <a:t>Theaterkaarten</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+12%</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+12% / +8% = +1,5</a:t>
                      </a:r>
                    </a:p>
                  </a:txBody>
                  <a:tcPr marL="91440" marR="91440" marT="45720" marB="45720" anchor="ctr">
                    <a:solidFill>
                      <a:srgbClr val="FFFFFF"/>
                    </a:solidFill>
                  </a:tcPr>
                </a:tc>
              </a:tr>
              <a:tr h="757238">
                <a:tc>
                  <a:txBody>
                    <a:bodyPr lIns="161925" tIns="95250" rIns="142875" bIns="95250"/>
                    <a:lstStyle/>
                    <a:p>
                      <a:r>
                        <a:rPr sz="2625" b="0">
                          <a:solidFill>
                            <a:srgbClr val="183247"/>
                          </a:solidFill>
                          <a:latin typeface="Arial"/>
                          <a:ea typeface="Arial"/>
                          <a:cs typeface="Arial"/>
                        </a:rPr>
                        <a:t>Tijdschriften</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+2%</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+2% / +8% = +0,25</a:t>
                      </a:r>
                    </a:p>
                  </a:txBody>
                  <a:tcPr marL="91440" marR="91440" marT="45720" marB="45720" anchor="ctr">
                    <a:solidFill>
                      <a:srgbClr val="EFF4F7"/>
                    </a:solidFill>
                  </a:tcPr>
                </a:tc>
              </a:tr>
              <a:tr h="757238">
                <a:tc>
                  <a:txBody>
                    <a:bodyPr lIns="161925" tIns="95250" rIns="142875" bIns="95250"/>
                    <a:lstStyle/>
                    <a:p>
                      <a:r>
                        <a:rPr sz="2625" b="0">
                          <a:solidFill>
                            <a:srgbClr val="183247"/>
                          </a:solidFill>
                          <a:latin typeface="Arial"/>
                          <a:ea typeface="Arial"/>
                          <a:cs typeface="Arial"/>
                        </a:rPr>
                        <a:t>Budgetmaaltijden</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−4%</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−4% / +8% = −0,5</a:t>
                      </a:r>
                    </a:p>
                  </a:txBody>
                  <a:tcPr marL="91440" marR="91440" marT="45720" marB="45720" anchor="ctr">
                    <a:solidFill>
                      <a:srgbClr val="FFFFFF"/>
                    </a:solidFill>
                  </a:tcPr>
                </a:tc>
              </a:tr>
            </a:tbl>
          </a:graphicData>
        </a:graphic>
      </p:graphicFrame>
      <p:sp>
        <p:nvSpPr>
          <p:cNvPr id="8" name="Behoud het teken; een elasticiteit heeft geen eenheid.">
            <a:extLst xmlns:a="http://schemas.openxmlformats.org/drawingml/2006/main">
              <a:ext uri="{FF2B5EF4-FFF2-40B4-BE49-F238E27FC236}">
                <a16:creationId xmlns:a16="http://schemas.microsoft.com/office/drawing/2014/main" id="{397AF761-BF1E-4DAE-B08B-2DAB9E0ED5BE}"/>
              </a:ext>
            </a:extLst>
          </p:cNvPr>
          <p:cNvSpPr>
            <a:spLocks xmlns:a="http://schemas.openxmlformats.org/drawingml/2006/main" noGrp="1"/>
          </p:cNvSpPr>
          <p:nvPr/>
        </p:nvSpPr>
        <p:spPr>
          <a:xfrm xmlns:a="http://schemas.openxmlformats.org/drawingml/2006/main">
            <a:off x="571500" y="7362825"/>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Behoud het teken; een elasticiteit heeft geen eenheid.</a:t>
            </a:r>
          </a:p>
        </p:txBody>
      </p:sp>
    </p:spTree>
    <p:extLst>
      <p:ext uri="{BB962C8B-B14F-4D97-AF65-F5344CB8AC3E}">
        <p14:creationId xmlns:p14="http://schemas.microsoft.com/office/powerpoint/2010/main" val="7025078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B34C7289-45A0-4DC2-A2E2-D6C4144A597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Goederen indelen volgens dit boek</a:t>
            </a:r>
          </a:p>
        </p:txBody>
      </p:sp>
      <p:sp>
        <p:nvSpPr>
          <p:cNvPr id="2" name="">
            <a:extLst xmlns:a="http://schemas.openxmlformats.org/drawingml/2006/main">
              <a:ext uri="{FF2B5EF4-FFF2-40B4-BE49-F238E27FC236}">
                <a16:creationId xmlns:a16="http://schemas.microsoft.com/office/drawing/2014/main" id="{E8C3A4CE-2180-42F8-89BB-B8E35033F4A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3C6CA22-3A55-4FE8-840E-73986AFBA841}"/>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14F4D3CC-064E-4D2F-85B9-0DCAEFA11F42}"/>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graphicFrame>
        <p:nvGraphicFramePr>
          <p:cNvPr id="12" name=""/>
          <p:cNvGraphicFramePr/>
          <p:nvPr/>
        </p:nvGraphicFramePr>
        <p:xfrm>
          <a:off xmlns:a="http://schemas.openxmlformats.org/drawingml/2006/main" x="571500" y="2057400"/>
          <a:ext xmlns:a="http://schemas.openxmlformats.org/drawingml/2006/main" cx="14097000" cy="4057650"/>
        </p:xfrm>
        <a:graphic xmlns:a="http://schemas.openxmlformats.org/drawingml/2006/main">
          <a:graphicData uri="http://schemas.openxmlformats.org/drawingml/2006/table">
            <a:tbl>
              <a:tblPr/>
              <a:tblGrid>
                <a:gridCol w="2667000"/>
                <a:gridCol w="4000500"/>
                <a:gridCol w="7429500"/>
              </a:tblGrid>
              <a:tr h="1014413">
                <a:tc>
                  <a:txBody>
                    <a:bodyPr lIns="161925" tIns="95250" rIns="142875" bIns="95250"/>
                    <a:lstStyle/>
                    <a:p>
                      <a:r>
                        <a:rPr sz="2550" b="1">
                          <a:solidFill>
                            <a:srgbClr val="FFFFFF"/>
                          </a:solidFill>
                          <a:latin typeface="Arial"/>
                          <a:ea typeface="Arial"/>
                          <a:cs typeface="Arial"/>
                        </a:rPr>
                        <a:t>Ei</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Categorie</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Bij een hoger inkomen</a:t>
                      </a:r>
                    </a:p>
                  </a:txBody>
                  <a:tcPr marL="91440" marR="91440" marT="45720" marB="45720" anchor="ctr">
                    <a:solidFill>
                      <a:srgbClr val="183247"/>
                    </a:solidFill>
                  </a:tcPr>
                </a:tc>
              </a:tr>
              <a:tr h="1014413">
                <a:tc>
                  <a:txBody>
                    <a:bodyPr lIns="161925" tIns="95250" rIns="142875" bIns="95250"/>
                    <a:lstStyle/>
                    <a:p>
                      <a:r>
                        <a:rPr sz="2550" b="0">
                          <a:solidFill>
                            <a:srgbClr val="183247"/>
                          </a:solidFill>
                          <a:latin typeface="Arial"/>
                          <a:ea typeface="Arial"/>
                          <a:cs typeface="Arial"/>
                        </a:rPr>
                        <a:t>Ei &lt; 0</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Inferieur goed</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Qv daalt.</a:t>
                      </a:r>
                    </a:p>
                  </a:txBody>
                  <a:tcPr marL="91440" marR="91440" marT="45720" marB="45720" anchor="ctr">
                    <a:solidFill>
                      <a:srgbClr val="FFFFFF"/>
                    </a:solidFill>
                  </a:tcPr>
                </a:tc>
              </a:tr>
              <a:tr h="1014413">
                <a:tc>
                  <a:txBody>
                    <a:bodyPr lIns="161925" tIns="95250" rIns="142875" bIns="95250"/>
                    <a:lstStyle/>
                    <a:p>
                      <a:r>
                        <a:rPr sz="2550" b="0">
                          <a:solidFill>
                            <a:srgbClr val="183247"/>
                          </a:solidFill>
                          <a:latin typeface="Arial"/>
                          <a:ea typeface="Arial"/>
                          <a:cs typeface="Arial"/>
                        </a:rPr>
                        <a:t>0 &lt; Ei &lt; 1</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Normaal goed</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Qv stijgt procentueel minder sterk dan Y.</a:t>
                      </a:r>
                    </a:p>
                  </a:txBody>
                  <a:tcPr marL="91440" marR="91440" marT="45720" marB="45720" anchor="ctr">
                    <a:solidFill>
                      <a:srgbClr val="EFF4F7"/>
                    </a:solidFill>
                  </a:tcPr>
                </a:tc>
              </a:tr>
              <a:tr h="1014413">
                <a:tc>
                  <a:txBody>
                    <a:bodyPr lIns="161925" tIns="95250" rIns="142875" bIns="95250"/>
                    <a:lstStyle/>
                    <a:p>
                      <a:r>
                        <a:rPr sz="2550" b="0">
                          <a:solidFill>
                            <a:srgbClr val="183247"/>
                          </a:solidFill>
                          <a:latin typeface="Arial"/>
                          <a:ea typeface="Arial"/>
                          <a:cs typeface="Arial"/>
                        </a:rPr>
                        <a:t>Ei &gt; 1</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Luxegoed</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Qv stijgt procentueel sterker dan Y.</a:t>
                      </a:r>
                    </a:p>
                  </a:txBody>
                  <a:tcPr marL="91440" marR="91440" marT="45720" marB="45720" anchor="ctr">
                    <a:solidFill>
                      <a:srgbClr val="FFFFFF"/>
                    </a:solidFill>
                  </a:tcPr>
                </a:tc>
              </a:tr>
            </a:tbl>
          </a:graphicData>
        </a:graphic>
      </p:graphicFrame>
      <p:sp>
        <p:nvSpPr>
          <p:cNvPr id="6" name="Ei = 0 en Ei = 1 zijn grenswaarden zonder categorielabel.">
            <a:extLst xmlns:a="http://schemas.openxmlformats.org/drawingml/2006/main">
              <a:ext uri="{FF2B5EF4-FFF2-40B4-BE49-F238E27FC236}">
                <a16:creationId xmlns:a16="http://schemas.microsoft.com/office/drawing/2014/main" id="{07817A16-0579-40C4-9497-E11CB0EB8E37}"/>
              </a:ext>
            </a:extLst>
          </p:cNvPr>
          <p:cNvSpPr>
            <a:spLocks xmlns:a="http://schemas.openxmlformats.org/drawingml/2006/main" noGrp="1"/>
          </p:cNvSpPr>
          <p:nvPr/>
        </p:nvSpPr>
        <p:spPr>
          <a:xfrm xmlns:a="http://schemas.openxmlformats.org/drawingml/2006/main">
            <a:off x="571500" y="66484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Ei = 0 en Ei = 1 zijn grenswaarden zonder categorielabel.</a:t>
            </a:r>
          </a:p>
        </p:txBody>
      </p:sp>
      <p:sp>
        <p:nvSpPr>
          <p:cNvPr id="7" name="De indeling geldt voor de onderzochte groep en situatie.">
            <a:extLst xmlns:a="http://schemas.openxmlformats.org/drawingml/2006/main">
              <a:ext uri="{FF2B5EF4-FFF2-40B4-BE49-F238E27FC236}">
                <a16:creationId xmlns:a16="http://schemas.microsoft.com/office/drawing/2014/main" id="{9E1E7A34-BAA5-48A4-89E7-755D284341FF}"/>
              </a:ext>
            </a:extLst>
          </p:cNvPr>
          <p:cNvSpPr>
            <a:spLocks xmlns:a="http://schemas.openxmlformats.org/drawingml/2006/main" noGrp="1"/>
          </p:cNvSpPr>
          <p:nvPr/>
        </p:nvSpPr>
        <p:spPr>
          <a:xfrm xmlns:a="http://schemas.openxmlformats.org/drawingml/2006/main">
            <a:off x="571500" y="74199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indeling geldt voor de onderzochte groep en situatie.</a:t>
            </a:r>
          </a:p>
        </p:txBody>
      </p:sp>
    </p:spTree>
    <p:extLst>
      <p:ext uri="{BB962C8B-B14F-4D97-AF65-F5344CB8AC3E}">
        <p14:creationId xmlns:p14="http://schemas.microsoft.com/office/powerpoint/2010/main" val="3579888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05098925-59E0-405D-8614-27084B99D5B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Kruislingse elasticiteit: twee goederen</a:t>
            </a:r>
          </a:p>
        </p:txBody>
      </p:sp>
      <p:sp>
        <p:nvSpPr>
          <p:cNvPr id="2" name="">
            <a:extLst xmlns:a="http://schemas.openxmlformats.org/drawingml/2006/main">
              <a:ext uri="{FF2B5EF4-FFF2-40B4-BE49-F238E27FC236}">
                <a16:creationId xmlns:a16="http://schemas.microsoft.com/office/drawing/2014/main" id="{84591F6B-28D5-4112-8266-843886F6EF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1351DAE-5914-4E0C-AB17-017F86E2307E}"/>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42942D56-3D35-4A9B-B8EB-A6B211688847}"/>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Ek = %ΔQv van goed X / %ΔP van goed Z">
            <a:extLst xmlns:a="http://schemas.openxmlformats.org/drawingml/2006/main">
              <a:ext uri="{FF2B5EF4-FFF2-40B4-BE49-F238E27FC236}">
                <a16:creationId xmlns:a16="http://schemas.microsoft.com/office/drawing/2014/main" id="{16396C98-6C82-4B58-9CB9-2382069F37ED}"/>
              </a:ext>
            </a:extLst>
          </p:cNvPr>
          <p:cNvSpPr>
            <a:spLocks xmlns:a="http://schemas.openxmlformats.org/drawingml/2006/main" noGrp="1"/>
          </p:cNvSpPr>
          <p:nvPr/>
        </p:nvSpPr>
        <p:spPr>
          <a:xfrm xmlns:a="http://schemas.openxmlformats.org/drawingml/2006/main">
            <a:off x="571500" y="2028825"/>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Ek = %ΔQv van goed X / %ΔP van goed Z</a:t>
            </a:r>
          </a:p>
        </p:txBody>
      </p:sp>
      <p:graphicFrame>
        <p:nvGraphicFramePr>
          <p:cNvPr id="13" name=""/>
          <p:cNvGraphicFramePr/>
          <p:nvPr/>
        </p:nvGraphicFramePr>
        <p:xfrm>
          <a:off xmlns:a="http://schemas.openxmlformats.org/drawingml/2006/main" x="571500" y="3629025"/>
          <a:ext xmlns:a="http://schemas.openxmlformats.org/drawingml/2006/main" cx="14097000" cy="2771775"/>
        </p:xfrm>
        <a:graphic xmlns:a="http://schemas.openxmlformats.org/drawingml/2006/main">
          <a:graphicData uri="http://schemas.openxmlformats.org/drawingml/2006/table">
            <a:tbl>
              <a:tblPr/>
              <a:tblGrid>
                <a:gridCol w="2857500"/>
                <a:gridCol w="5334000"/>
                <a:gridCol w="5905500"/>
              </a:tblGrid>
              <a:tr h="923925">
                <a:tc>
                  <a:txBody>
                    <a:bodyPr lIns="161925" tIns="95250" rIns="142875" bIns="95250"/>
                    <a:lstStyle/>
                    <a:p>
                      <a:r>
                        <a:rPr sz="2700" b="1">
                          <a:solidFill>
                            <a:srgbClr val="FFFFFF"/>
                          </a:solidFill>
                          <a:latin typeface="Arial"/>
                          <a:ea typeface="Arial"/>
                          <a:cs typeface="Arial"/>
                        </a:rPr>
                        <a:t>Teken</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Relatie</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Prijs Z en vraag X</a:t>
                      </a:r>
                    </a:p>
                  </a:txBody>
                  <a:tcPr marL="91440" marR="91440" marT="45720" marB="45720" anchor="ctr">
                    <a:solidFill>
                      <a:srgbClr val="183247"/>
                    </a:solidFill>
                  </a:tcPr>
                </a:tc>
              </a:tr>
              <a:tr h="923925">
                <a:tc>
                  <a:txBody>
                    <a:bodyPr lIns="161925" tIns="95250" rIns="142875" bIns="95250"/>
                    <a:lstStyle/>
                    <a:p>
                      <a:r>
                        <a:rPr sz="2700" b="0">
                          <a:solidFill>
                            <a:srgbClr val="183247"/>
                          </a:solidFill>
                          <a:latin typeface="Arial"/>
                          <a:ea typeface="Arial"/>
                          <a:cs typeface="Arial"/>
                        </a:rPr>
                        <a:t>Ek &gt; 0</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Substituten</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Dezelfde richting</a:t>
                      </a:r>
                    </a:p>
                  </a:txBody>
                  <a:tcPr marL="91440" marR="91440" marT="45720" marB="45720" anchor="ctr">
                    <a:solidFill>
                      <a:srgbClr val="FFFFFF"/>
                    </a:solidFill>
                  </a:tcPr>
                </a:tc>
              </a:tr>
              <a:tr h="923925">
                <a:tc>
                  <a:txBody>
                    <a:bodyPr lIns="161925" tIns="95250" rIns="142875" bIns="95250"/>
                    <a:lstStyle/>
                    <a:p>
                      <a:r>
                        <a:rPr sz="2700" b="0">
                          <a:solidFill>
                            <a:srgbClr val="183247"/>
                          </a:solidFill>
                          <a:latin typeface="Arial"/>
                          <a:ea typeface="Arial"/>
                          <a:cs typeface="Arial"/>
                        </a:rPr>
                        <a:t>Ek &lt; 0</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Complementen</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Tegengestelde richting</a:t>
                      </a:r>
                    </a:p>
                  </a:txBody>
                  <a:tcPr marL="91440" marR="91440" marT="45720" marB="45720" anchor="ctr">
                    <a:solidFill>
                      <a:srgbClr val="EFF4F7"/>
                    </a:solidFill>
                  </a:tcPr>
                </a:tc>
              </a:tr>
            </a:tbl>
          </a:graphicData>
        </a:graphic>
      </p:graphicFrame>
      <p:sp>
        <p:nvSpPr>
          <p:cNvPr id="7" name="Noem altijd het vraaggoed X én het prijsgoed Z.">
            <a:extLst xmlns:a="http://schemas.openxmlformats.org/drawingml/2006/main">
              <a:ext uri="{FF2B5EF4-FFF2-40B4-BE49-F238E27FC236}">
                <a16:creationId xmlns:a16="http://schemas.microsoft.com/office/drawing/2014/main" id="{2ABEB8FE-8494-468B-AE89-9707224CC324}"/>
              </a:ext>
            </a:extLst>
          </p:cNvPr>
          <p:cNvSpPr>
            <a:spLocks xmlns:a="http://schemas.openxmlformats.org/drawingml/2006/main" noGrp="1"/>
          </p:cNvSpPr>
          <p:nvPr/>
        </p:nvSpPr>
        <p:spPr>
          <a:xfrm xmlns:a="http://schemas.openxmlformats.org/drawingml/2006/main">
            <a:off x="571500" y="70675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Noem altijd het vraaggoed X én het prijsgoed Z.</a:t>
            </a:r>
          </a:p>
        </p:txBody>
      </p:sp>
    </p:spTree>
    <p:extLst>
      <p:ext uri="{BB962C8B-B14F-4D97-AF65-F5344CB8AC3E}">
        <p14:creationId xmlns:p14="http://schemas.microsoft.com/office/powerpoint/2010/main" val="2762852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CB7934E7-1EC8-4A85-9E84-F145F0792C3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prijsdaling: het teken blijft betekenisvol</a:t>
            </a:r>
          </a:p>
        </p:txBody>
      </p:sp>
      <p:sp>
        <p:nvSpPr>
          <p:cNvPr id="2" name="">
            <a:extLst xmlns:a="http://schemas.openxmlformats.org/drawingml/2006/main">
              <a:ext uri="{FF2B5EF4-FFF2-40B4-BE49-F238E27FC236}">
                <a16:creationId xmlns:a16="http://schemas.microsoft.com/office/drawing/2014/main" id="{2B4E10C5-FD78-45AE-B8C6-EA5F0144E35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9B3ACC5-1239-40A2-A861-9DBCC5404028}"/>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08E4567C-DF7F-419B-85AF-57C6F7A2A093}"/>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Twee afzonderlijke metingen: huurautoprijs daalt 8%">
            <a:extLst xmlns:a="http://schemas.openxmlformats.org/drawingml/2006/main">
              <a:ext uri="{FF2B5EF4-FFF2-40B4-BE49-F238E27FC236}">
                <a16:creationId xmlns:a16="http://schemas.microsoft.com/office/drawing/2014/main" id="{FEE4D58E-3661-4C55-9108-76601265F621}"/>
              </a:ext>
            </a:extLst>
          </p:cNvPr>
          <p:cNvSpPr>
            <a:spLocks xmlns:a="http://schemas.openxmlformats.org/drawingml/2006/main" noGrp="1"/>
          </p:cNvSpPr>
          <p:nvPr/>
        </p:nvSpPr>
        <p:spPr>
          <a:xfrm xmlns:a="http://schemas.openxmlformats.org/drawingml/2006/main">
            <a:off x="571500" y="179070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Twee afzonderlijke metingen: huurautoprijs daalt 8%</a:t>
            </a:r>
          </a:p>
        </p:txBody>
      </p:sp>
      <p:graphicFrame>
        <p:nvGraphicFramePr>
          <p:cNvPr id="14" name=""/>
          <p:cNvGraphicFramePr/>
          <p:nvPr/>
        </p:nvGraphicFramePr>
        <p:xfrm>
          <a:off xmlns:a="http://schemas.openxmlformats.org/drawingml/2006/main" x="571500" y="3076575"/>
          <a:ext xmlns:a="http://schemas.openxmlformats.org/drawingml/2006/main" cx="14097000" cy="2828925"/>
        </p:xfrm>
        <a:graphic xmlns:a="http://schemas.openxmlformats.org/drawingml/2006/main">
          <a:graphicData uri="http://schemas.openxmlformats.org/drawingml/2006/table">
            <a:tbl>
              <a:tblPr/>
              <a:tblGrid>
                <a:gridCol w="5905500"/>
                <a:gridCol w="2857500"/>
                <a:gridCol w="5334000"/>
              </a:tblGrid>
              <a:tr h="942975">
                <a:tc>
                  <a:txBody>
                    <a:bodyPr lIns="161925" tIns="95250" rIns="142875" bIns="95250"/>
                    <a:lstStyle/>
                    <a:p>
                      <a:r>
                        <a:rPr sz="2550" b="1">
                          <a:solidFill>
                            <a:srgbClr val="FFFFFF"/>
                          </a:solidFill>
                          <a:latin typeface="Arial"/>
                          <a:ea typeface="Arial"/>
                          <a:cs typeface="Arial"/>
                        </a:rPr>
                        <a:t>Vraaggoed X</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%ΔQv van X</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Ek t.o.v. huurautoprijs</a:t>
                      </a:r>
                    </a:p>
                  </a:txBody>
                  <a:tcPr marL="91440" marR="91440" marT="45720" marB="45720" anchor="ctr">
                    <a:solidFill>
                      <a:srgbClr val="183247"/>
                    </a:solidFill>
                  </a:tcPr>
                </a:tc>
              </a:tr>
              <a:tr h="942975">
                <a:tc>
                  <a:txBody>
                    <a:bodyPr lIns="161925" tIns="95250" rIns="142875" bIns="95250"/>
                    <a:lstStyle/>
                    <a:p>
                      <a:r>
                        <a:rPr sz="2550" b="0">
                          <a:solidFill>
                            <a:srgbClr val="183247"/>
                          </a:solidFill>
                          <a:latin typeface="Arial"/>
                          <a:ea typeface="Arial"/>
                          <a:cs typeface="Arial"/>
                        </a:rPr>
                        <a:t>Taxiritten</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−4%</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−4% / −8% = +0,5</a:t>
                      </a:r>
                    </a:p>
                  </a:txBody>
                  <a:tcPr marL="91440" marR="91440" marT="45720" marB="45720" anchor="ctr">
                    <a:solidFill>
                      <a:srgbClr val="FFFFFF"/>
                    </a:solidFill>
                  </a:tcPr>
                </a:tc>
              </a:tr>
              <a:tr h="942975">
                <a:tc>
                  <a:txBody>
                    <a:bodyPr lIns="161925" tIns="95250" rIns="142875" bIns="95250"/>
                    <a:lstStyle/>
                    <a:p>
                      <a:r>
                        <a:rPr sz="2550" b="0">
                          <a:solidFill>
                            <a:srgbClr val="183247"/>
                          </a:solidFill>
                          <a:latin typeface="Arial"/>
                          <a:ea typeface="Arial"/>
                          <a:cs typeface="Arial"/>
                        </a:rPr>
                        <a:t>Bijpassende kinderzitjes</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+12%</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+12% / −8% = −1,5</a:t>
                      </a:r>
                    </a:p>
                  </a:txBody>
                  <a:tcPr marL="91440" marR="91440" marT="45720" marB="45720" anchor="ctr">
                    <a:solidFill>
                      <a:srgbClr val="EFF4F7"/>
                    </a:solidFill>
                  </a:tcPr>
                </a:tc>
              </a:tr>
            </a:tbl>
          </a:graphicData>
        </a:graphic>
      </p:graphicFrame>
      <p:sp>
        <p:nvSpPr>
          <p:cNvPr id="7" name="Taxi en huurauto: substituten">
            <a:extLst xmlns:a="http://schemas.openxmlformats.org/drawingml/2006/main">
              <a:ext uri="{FF2B5EF4-FFF2-40B4-BE49-F238E27FC236}">
                <a16:creationId xmlns:a16="http://schemas.microsoft.com/office/drawing/2014/main" id="{CAE6D1CF-CD32-439B-AA14-A0A0F703D269}"/>
              </a:ext>
            </a:extLst>
          </p:cNvPr>
          <p:cNvSpPr>
            <a:spLocks xmlns:a="http://schemas.openxmlformats.org/drawingml/2006/main" noGrp="1"/>
          </p:cNvSpPr>
          <p:nvPr/>
        </p:nvSpPr>
        <p:spPr>
          <a:xfrm xmlns:a="http://schemas.openxmlformats.org/drawingml/2006/main">
            <a:off x="571500" y="64674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Taxi en huurauto: substituten</a:t>
            </a:r>
          </a:p>
        </p:txBody>
      </p:sp>
      <p:sp>
        <p:nvSpPr>
          <p:cNvPr id="8" name="Kinderzitje en huurauto: complementen">
            <a:extLst xmlns:a="http://schemas.openxmlformats.org/drawingml/2006/main">
              <a:ext uri="{FF2B5EF4-FFF2-40B4-BE49-F238E27FC236}">
                <a16:creationId xmlns:a16="http://schemas.microsoft.com/office/drawing/2014/main" id="{97A25BB5-0125-4F66-86EF-4D48BA980681}"/>
              </a:ext>
            </a:extLst>
          </p:cNvPr>
          <p:cNvSpPr>
            <a:spLocks xmlns:a="http://schemas.openxmlformats.org/drawingml/2006/main" noGrp="1"/>
          </p:cNvSpPr>
          <p:nvPr/>
        </p:nvSpPr>
        <p:spPr>
          <a:xfrm xmlns:a="http://schemas.openxmlformats.org/drawingml/2006/main">
            <a:off x="571500" y="72866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Kinderzitje en huurauto: complementen</a:t>
            </a:r>
          </a:p>
        </p:txBody>
      </p:sp>
    </p:spTree>
    <p:extLst>
      <p:ext uri="{BB962C8B-B14F-4D97-AF65-F5344CB8AC3E}">
        <p14:creationId xmlns:p14="http://schemas.microsoft.com/office/powerpoint/2010/main" val="18411381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D4FCAB89-753F-4888-8141-899CBA77C5A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vraagfunctie: TaalClub X</a:t>
            </a:r>
          </a:p>
        </p:txBody>
      </p:sp>
      <p:sp>
        <p:nvSpPr>
          <p:cNvPr id="2" name="">
            <a:extLst xmlns:a="http://schemas.openxmlformats.org/drawingml/2006/main">
              <a:ext uri="{FF2B5EF4-FFF2-40B4-BE49-F238E27FC236}">
                <a16:creationId xmlns:a16="http://schemas.microsoft.com/office/drawing/2014/main" id="{D41C9959-F89B-4C44-8956-D574DEFC812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78A29541-D9B5-4BE2-880F-CF79411FF065}"/>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A205AF65-C1A4-4A0F-A353-897CF6C52714}"/>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Qx = 160 − 4Px + 2Pz + 0,02Y">
            <a:extLst xmlns:a="http://schemas.openxmlformats.org/drawingml/2006/main">
              <a:ext uri="{FF2B5EF4-FFF2-40B4-BE49-F238E27FC236}">
                <a16:creationId xmlns:a16="http://schemas.microsoft.com/office/drawing/2014/main" id="{B22985D6-3A49-43A9-B97B-FECBDD113DC3}"/>
              </a:ext>
            </a:extLst>
          </p:cNvPr>
          <p:cNvSpPr>
            <a:spLocks xmlns:a="http://schemas.openxmlformats.org/drawingml/2006/main" noGrp="1"/>
          </p:cNvSpPr>
          <p:nvPr/>
        </p:nvSpPr>
        <p:spPr>
          <a:xfrm xmlns:a="http://schemas.openxmlformats.org/drawingml/2006/main">
            <a:off x="571500" y="18288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Qx = 160 − 4Px + 2Pz + 0,02Y</a:t>
            </a:r>
          </a:p>
        </p:txBody>
      </p:sp>
      <p:graphicFrame>
        <p:nvGraphicFramePr>
          <p:cNvPr id="12" name=""/>
          <p:cNvGraphicFramePr/>
          <p:nvPr/>
        </p:nvGraphicFramePr>
        <p:xfrm>
          <a:off xmlns:a="http://schemas.openxmlformats.org/drawingml/2006/main" x="571500" y="3067050"/>
          <a:ext xmlns:a="http://schemas.openxmlformats.org/drawingml/2006/main" cx="14097000" cy="4171950"/>
        </p:xfrm>
        <a:graphic xmlns:a="http://schemas.openxmlformats.org/drawingml/2006/main">
          <a:graphicData uri="http://schemas.openxmlformats.org/drawingml/2006/table">
            <a:tbl>
              <a:tblPr/>
              <a:tblGrid>
                <a:gridCol w="2095500"/>
                <a:gridCol w="8858250"/>
                <a:gridCol w="3143250"/>
              </a:tblGrid>
              <a:tr h="834390">
                <a:tc>
                  <a:txBody>
                    <a:bodyPr lIns="161925" tIns="95250" rIns="142875" bIns="95250"/>
                    <a:lstStyle/>
                    <a:p>
                      <a:r>
                        <a:rPr sz="2475" b="1">
                          <a:solidFill>
                            <a:srgbClr val="FFFFFF"/>
                          </a:solidFill>
                          <a:latin typeface="Arial"/>
                          <a:ea typeface="Arial"/>
                          <a:cs typeface="Arial"/>
                        </a:rPr>
                        <a:t>Symbool</a:t>
                      </a:r>
                    </a:p>
                  </a:txBody>
                  <a:tcPr marL="91440" marR="91440" marT="45720" marB="45720" anchor="ctr">
                    <a:solidFill>
                      <a:srgbClr val="183247"/>
                    </a:solidFill>
                  </a:tcPr>
                </a:tc>
                <a:tc>
                  <a:txBody>
                    <a:bodyPr lIns="161925" tIns="95250" rIns="142875" bIns="95250"/>
                    <a:lstStyle/>
                    <a:p>
                      <a:r>
                        <a:rPr sz="2475" b="1">
                          <a:solidFill>
                            <a:srgbClr val="FFFFFF"/>
                          </a:solidFill>
                          <a:latin typeface="Arial"/>
                          <a:ea typeface="Arial"/>
                          <a:cs typeface="Arial"/>
                        </a:rPr>
                        <a:t>Betekenis en eenheid</a:t>
                      </a:r>
                    </a:p>
                  </a:txBody>
                  <a:tcPr marL="91440" marR="91440" marT="45720" marB="45720" anchor="ctr">
                    <a:solidFill>
                      <a:srgbClr val="183247"/>
                    </a:solidFill>
                  </a:tcPr>
                </a:tc>
                <a:tc>
                  <a:txBody>
                    <a:bodyPr lIns="161925" tIns="95250" rIns="142875" bIns="95250"/>
                    <a:lstStyle/>
                    <a:p>
                      <a:r>
                        <a:rPr sz="2475" b="1">
                          <a:solidFill>
                            <a:srgbClr val="FFFFFF"/>
                          </a:solidFill>
                          <a:latin typeface="Arial"/>
                          <a:ea typeface="Arial"/>
                          <a:cs typeface="Arial"/>
                        </a:rPr>
                        <a:t>Beginwaarde</a:t>
                      </a:r>
                    </a:p>
                  </a:txBody>
                  <a:tcPr marL="91440" marR="91440" marT="45720" marB="45720" anchor="ctr">
                    <a:solidFill>
                      <a:srgbClr val="183247"/>
                    </a:solidFill>
                  </a:tcPr>
                </a:tc>
              </a:tr>
              <a:tr h="834390">
                <a:tc>
                  <a:txBody>
                    <a:bodyPr lIns="161925" tIns="95250" rIns="142875" bIns="95250"/>
                    <a:lstStyle/>
                    <a:p>
                      <a:r>
                        <a:rPr sz="2475" b="0">
                          <a:solidFill>
                            <a:srgbClr val="183247"/>
                          </a:solidFill>
                          <a:latin typeface="Arial"/>
                          <a:ea typeface="Arial"/>
                          <a:cs typeface="Arial"/>
                        </a:rPr>
                        <a:t>Qx</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Gevraagde abonnementen per maand</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Te berekenen</a:t>
                      </a:r>
                    </a:p>
                  </a:txBody>
                  <a:tcPr marL="91440" marR="91440" marT="45720" marB="45720" anchor="ctr">
                    <a:solidFill>
                      <a:srgbClr val="FFFFFF"/>
                    </a:solidFill>
                  </a:tcPr>
                </a:tc>
              </a:tr>
              <a:tr h="834390">
                <a:tc>
                  <a:txBody>
                    <a:bodyPr lIns="161925" tIns="95250" rIns="142875" bIns="95250"/>
                    <a:lstStyle/>
                    <a:p>
                      <a:r>
                        <a:rPr sz="2475" b="0">
                          <a:solidFill>
                            <a:srgbClr val="183247"/>
                          </a:solidFill>
                          <a:latin typeface="Arial"/>
                          <a:ea typeface="Arial"/>
                          <a:cs typeface="Arial"/>
                        </a:rPr>
                        <a:t>Px</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Maandprijs TaalClub X in euro</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15</a:t>
                      </a:r>
                    </a:p>
                  </a:txBody>
                  <a:tcPr marL="91440" marR="91440" marT="45720" marB="45720" anchor="ctr">
                    <a:solidFill>
                      <a:srgbClr val="EFF4F7"/>
                    </a:solidFill>
                  </a:tcPr>
                </a:tc>
              </a:tr>
              <a:tr h="834390">
                <a:tc>
                  <a:txBody>
                    <a:bodyPr lIns="161925" tIns="95250" rIns="142875" bIns="95250"/>
                    <a:lstStyle/>
                    <a:p>
                      <a:r>
                        <a:rPr sz="2475" b="0">
                          <a:solidFill>
                            <a:srgbClr val="183247"/>
                          </a:solidFill>
                          <a:latin typeface="Arial"/>
                          <a:ea typeface="Arial"/>
                          <a:cs typeface="Arial"/>
                        </a:rPr>
                        <a:t>Pz</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Maandprijs concurrerende taaldienst Z in euro</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25</a:t>
                      </a:r>
                    </a:p>
                  </a:txBody>
                  <a:tcPr marL="91440" marR="91440" marT="45720" marB="45720" anchor="ctr">
                    <a:solidFill>
                      <a:srgbClr val="FFFFFF"/>
                    </a:solidFill>
                  </a:tcPr>
                </a:tc>
              </a:tr>
              <a:tr h="834390">
                <a:tc>
                  <a:txBody>
                    <a:bodyPr lIns="161925" tIns="95250" rIns="142875" bIns="95250"/>
                    <a:lstStyle/>
                    <a:p>
                      <a:r>
                        <a:rPr sz="2475" b="0">
                          <a:solidFill>
                            <a:srgbClr val="183247"/>
                          </a:solidFill>
                          <a:latin typeface="Arial"/>
                          <a:ea typeface="Arial"/>
                          <a:cs typeface="Arial"/>
                        </a:rPr>
                        <a:t>Y</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Gemiddeld jaarinkomen in euro</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15.000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740318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B435B3F1-871F-4AA7-80B6-CDA9E607FD9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beginhoeveelheid berekenen</a:t>
            </a:r>
          </a:p>
        </p:txBody>
      </p:sp>
      <p:sp>
        <p:nvSpPr>
          <p:cNvPr id="2" name="">
            <a:extLst xmlns:a="http://schemas.openxmlformats.org/drawingml/2006/main">
              <a:ext uri="{FF2B5EF4-FFF2-40B4-BE49-F238E27FC236}">
                <a16:creationId xmlns:a16="http://schemas.microsoft.com/office/drawing/2014/main" id="{A0B1B801-7541-4DD4-820C-3EE93D98D62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58F9F52-6519-45B7-97DD-B5C3F790618C}"/>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2502149B-CABE-495D-BAB0-550FD86ECBA8}"/>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TaalClub X · Px = 15; Pz = 25; Y = 15.000">
            <a:extLst xmlns:a="http://schemas.openxmlformats.org/drawingml/2006/main">
              <a:ext uri="{FF2B5EF4-FFF2-40B4-BE49-F238E27FC236}">
                <a16:creationId xmlns:a16="http://schemas.microsoft.com/office/drawing/2014/main" id="{F14A8DB1-3D6E-4443-854C-C546E7C98BC2}"/>
              </a:ext>
            </a:extLst>
          </p:cNvPr>
          <p:cNvSpPr>
            <a:spLocks xmlns:a="http://schemas.openxmlformats.org/drawingml/2006/main" noGrp="1"/>
          </p:cNvSpPr>
          <p:nvPr/>
        </p:nvSpPr>
        <p:spPr>
          <a:xfrm xmlns:a="http://schemas.openxmlformats.org/drawingml/2006/main">
            <a:off x="571500" y="18192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TaalClub X · Px = 15; Pz = 25; Y = 15.000</a:t>
            </a:r>
          </a:p>
        </p:txBody>
      </p:sp>
      <p:sp>
        <p:nvSpPr>
          <p:cNvPr id="6" name="Invullen">
            <a:extLst xmlns:a="http://schemas.openxmlformats.org/drawingml/2006/main">
              <a:ext uri="{FF2B5EF4-FFF2-40B4-BE49-F238E27FC236}">
                <a16:creationId xmlns:a16="http://schemas.microsoft.com/office/drawing/2014/main" id="{B51B39E5-83B0-40EF-9793-2A8F53595746}"/>
              </a:ext>
            </a:extLst>
          </p:cNvPr>
          <p:cNvSpPr>
            <a:spLocks xmlns:a="http://schemas.openxmlformats.org/drawingml/2006/main" noGrp="1"/>
          </p:cNvSpPr>
          <p:nvPr/>
        </p:nvSpPr>
        <p:spPr>
          <a:xfrm xmlns:a="http://schemas.openxmlformats.org/drawingml/2006/main">
            <a:off x="571500" y="307657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Invullen</a:t>
            </a:r>
          </a:p>
        </p:txBody>
      </p:sp>
      <p:sp>
        <p:nvSpPr>
          <p:cNvPr id="7" name="Qx = 160 − 4 × 15 + 2 × 25 + 0,02 × 15.000">
            <a:extLst xmlns:a="http://schemas.openxmlformats.org/drawingml/2006/main">
              <a:ext uri="{FF2B5EF4-FFF2-40B4-BE49-F238E27FC236}">
                <a16:creationId xmlns:a16="http://schemas.microsoft.com/office/drawing/2014/main" id="{91962884-A326-49CF-8500-BA8DEE03E591}"/>
              </a:ext>
            </a:extLst>
          </p:cNvPr>
          <p:cNvSpPr>
            <a:spLocks xmlns:a="http://schemas.openxmlformats.org/drawingml/2006/main" noGrp="1"/>
          </p:cNvSpPr>
          <p:nvPr/>
        </p:nvSpPr>
        <p:spPr>
          <a:xfrm xmlns:a="http://schemas.openxmlformats.org/drawingml/2006/main">
            <a:off x="4857750" y="3076575"/>
            <a:ext cx="9810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Qx = 160 − 4 × 15 + 2 × 25 + 0,02 × 15.000</a:t>
            </a:r>
          </a:p>
        </p:txBody>
      </p:sp>
      <p:sp>
        <p:nvSpPr>
          <p:cNvPr id="8" name="Vermenigvuldigen">
            <a:extLst xmlns:a="http://schemas.openxmlformats.org/drawingml/2006/main">
              <a:ext uri="{FF2B5EF4-FFF2-40B4-BE49-F238E27FC236}">
                <a16:creationId xmlns:a16="http://schemas.microsoft.com/office/drawing/2014/main" id="{CD0D5066-3C90-4A14-9CED-4D2B7251C7EF}"/>
              </a:ext>
            </a:extLst>
          </p:cNvPr>
          <p:cNvSpPr>
            <a:spLocks xmlns:a="http://schemas.openxmlformats.org/drawingml/2006/main" noGrp="1"/>
          </p:cNvSpPr>
          <p:nvPr/>
        </p:nvSpPr>
        <p:spPr>
          <a:xfrm xmlns:a="http://schemas.openxmlformats.org/drawingml/2006/main">
            <a:off x="571500" y="45815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Vermenigvuldigen</a:t>
            </a:r>
          </a:p>
        </p:txBody>
      </p:sp>
      <p:sp>
        <p:nvSpPr>
          <p:cNvPr id="9" name="Qx = 160 − 60 + 50 + 300">
            <a:extLst xmlns:a="http://schemas.openxmlformats.org/drawingml/2006/main">
              <a:ext uri="{FF2B5EF4-FFF2-40B4-BE49-F238E27FC236}">
                <a16:creationId xmlns:a16="http://schemas.microsoft.com/office/drawing/2014/main" id="{3C0828F4-6894-4BC1-A91D-12A6E83E5EF4}"/>
              </a:ext>
            </a:extLst>
          </p:cNvPr>
          <p:cNvSpPr>
            <a:spLocks xmlns:a="http://schemas.openxmlformats.org/drawingml/2006/main" noGrp="1"/>
          </p:cNvSpPr>
          <p:nvPr/>
        </p:nvSpPr>
        <p:spPr>
          <a:xfrm xmlns:a="http://schemas.openxmlformats.org/drawingml/2006/main">
            <a:off x="4857750" y="4581525"/>
            <a:ext cx="9810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Qx = 160 − 60 + 50 + 300</a:t>
            </a:r>
          </a:p>
        </p:txBody>
      </p:sp>
      <p:sp>
        <p:nvSpPr>
          <p:cNvPr id="10" name="Optellen">
            <a:extLst xmlns:a="http://schemas.openxmlformats.org/drawingml/2006/main">
              <a:ext uri="{FF2B5EF4-FFF2-40B4-BE49-F238E27FC236}">
                <a16:creationId xmlns:a16="http://schemas.microsoft.com/office/drawing/2014/main" id="{39D75369-9F2F-4A09-88C0-93DEF026B40C}"/>
              </a:ext>
            </a:extLst>
          </p:cNvPr>
          <p:cNvSpPr>
            <a:spLocks xmlns:a="http://schemas.openxmlformats.org/drawingml/2006/main" noGrp="1"/>
          </p:cNvSpPr>
          <p:nvPr/>
        </p:nvSpPr>
        <p:spPr>
          <a:xfrm xmlns:a="http://schemas.openxmlformats.org/drawingml/2006/main">
            <a:off x="571500" y="608647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Optellen</a:t>
            </a:r>
          </a:p>
        </p:txBody>
      </p:sp>
      <p:sp>
        <p:nvSpPr>
          <p:cNvPr id="11" name="Qx = 450 abonnementen per maand">
            <a:extLst xmlns:a="http://schemas.openxmlformats.org/drawingml/2006/main">
              <a:ext uri="{FF2B5EF4-FFF2-40B4-BE49-F238E27FC236}">
                <a16:creationId xmlns:a16="http://schemas.microsoft.com/office/drawing/2014/main" id="{1BDADDA4-B5A0-44A0-AFBC-D8FAA280BBC3}"/>
              </a:ext>
            </a:extLst>
          </p:cNvPr>
          <p:cNvSpPr>
            <a:spLocks xmlns:a="http://schemas.openxmlformats.org/drawingml/2006/main" noGrp="1"/>
          </p:cNvSpPr>
          <p:nvPr/>
        </p:nvSpPr>
        <p:spPr>
          <a:xfrm xmlns:a="http://schemas.openxmlformats.org/drawingml/2006/main">
            <a:off x="4857750" y="6086475"/>
            <a:ext cx="9810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Qx = 450 abonnementen per maand</a:t>
            </a:r>
          </a:p>
        </p:txBody>
      </p:sp>
    </p:spTree>
    <p:extLst>
      <p:ext uri="{BB962C8B-B14F-4D97-AF65-F5344CB8AC3E}">
        <p14:creationId xmlns:p14="http://schemas.microsoft.com/office/powerpoint/2010/main" val="6775599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866874C9-450A-4413-A7A0-C9EC7112589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Alleen het inkomen verandert</a:t>
            </a:r>
          </a:p>
        </p:txBody>
      </p:sp>
      <p:sp>
        <p:nvSpPr>
          <p:cNvPr id="2" name="">
            <a:extLst xmlns:a="http://schemas.openxmlformats.org/drawingml/2006/main">
              <a:ext uri="{FF2B5EF4-FFF2-40B4-BE49-F238E27FC236}">
                <a16:creationId xmlns:a16="http://schemas.microsoft.com/office/drawing/2014/main" id="{D9B4F04E-3FD3-424D-9497-883D7FCDD30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D2B547F8-90B9-44C7-B63C-2D70B61B4460}"/>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5043C4C9-EFC1-4542-9372-7CF7EB8DAD6B}"/>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Y: € 15.000 → € 18.000 per jaar">
            <a:extLst xmlns:a="http://schemas.openxmlformats.org/drawingml/2006/main">
              <a:ext uri="{FF2B5EF4-FFF2-40B4-BE49-F238E27FC236}">
                <a16:creationId xmlns:a16="http://schemas.microsoft.com/office/drawing/2014/main" id="{17D48381-22D2-44AB-9B5D-E3C49BFDAA42}"/>
              </a:ext>
            </a:extLst>
          </p:cNvPr>
          <p:cNvSpPr>
            <a:spLocks xmlns:a="http://schemas.openxmlformats.org/drawingml/2006/main" noGrp="1"/>
          </p:cNvSpPr>
          <p:nvPr/>
        </p:nvSpPr>
        <p:spPr>
          <a:xfrm xmlns:a="http://schemas.openxmlformats.org/drawingml/2006/main">
            <a:off x="571500" y="18573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Y: € 15.000 → € 18.000 per jaar</a:t>
            </a:r>
          </a:p>
        </p:txBody>
      </p:sp>
      <p:sp>
        <p:nvSpPr>
          <p:cNvPr id="6" name="Px blijft € 15; Pz blijft € 25 per maand.">
            <a:extLst xmlns:a="http://schemas.openxmlformats.org/drawingml/2006/main">
              <a:ext uri="{FF2B5EF4-FFF2-40B4-BE49-F238E27FC236}">
                <a16:creationId xmlns:a16="http://schemas.microsoft.com/office/drawing/2014/main" id="{F059BBE2-53EB-4F54-90B7-DD092614C829}"/>
              </a:ext>
            </a:extLst>
          </p:cNvPr>
          <p:cNvSpPr>
            <a:spLocks xmlns:a="http://schemas.openxmlformats.org/drawingml/2006/main" noGrp="1"/>
          </p:cNvSpPr>
          <p:nvPr/>
        </p:nvSpPr>
        <p:spPr>
          <a:xfrm xmlns:a="http://schemas.openxmlformats.org/drawingml/2006/main">
            <a:off x="571500" y="27622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Px blijft € 15; Pz blijft € 25 per maand.</a:t>
            </a:r>
          </a:p>
        </p:txBody>
      </p:sp>
      <p:sp>
        <p:nvSpPr>
          <p:cNvPr id="7" name="Qx nieuw = 160 − 4 × 15 + 2 × 25 + 0,02 × 18.000">
            <a:extLst xmlns:a="http://schemas.openxmlformats.org/drawingml/2006/main">
              <a:ext uri="{FF2B5EF4-FFF2-40B4-BE49-F238E27FC236}">
                <a16:creationId xmlns:a16="http://schemas.microsoft.com/office/drawing/2014/main" id="{D4AD9E49-899B-4340-8A69-181C36E59E4D}"/>
              </a:ext>
            </a:extLst>
          </p:cNvPr>
          <p:cNvSpPr>
            <a:spLocks xmlns:a="http://schemas.openxmlformats.org/drawingml/2006/main" noGrp="1"/>
          </p:cNvSpPr>
          <p:nvPr/>
        </p:nvSpPr>
        <p:spPr>
          <a:xfrm xmlns:a="http://schemas.openxmlformats.org/drawingml/2006/main">
            <a:off x="571500" y="405765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Qx nieuw = 160 − 4 × 15 + 2 × 25 + 0,02 × 18.000</a:t>
            </a:r>
          </a:p>
        </p:txBody>
      </p:sp>
      <p:sp>
        <p:nvSpPr>
          <p:cNvPr id="8" name="= 160 − 60 + 50 + 360 = 510">
            <a:extLst xmlns:a="http://schemas.openxmlformats.org/drawingml/2006/main">
              <a:ext uri="{FF2B5EF4-FFF2-40B4-BE49-F238E27FC236}">
                <a16:creationId xmlns:a16="http://schemas.microsoft.com/office/drawing/2014/main" id="{957F53D8-015A-49B3-B190-DB5068EF1721}"/>
              </a:ext>
            </a:extLst>
          </p:cNvPr>
          <p:cNvSpPr>
            <a:spLocks xmlns:a="http://schemas.openxmlformats.org/drawingml/2006/main" noGrp="1"/>
          </p:cNvSpPr>
          <p:nvPr/>
        </p:nvSpPr>
        <p:spPr>
          <a:xfrm xmlns:a="http://schemas.openxmlformats.org/drawingml/2006/main">
            <a:off x="571500" y="52482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 160 − 60 + 50 + 360 = 510</a:t>
            </a:r>
          </a:p>
        </p:txBody>
      </p:sp>
      <p:sp>
        <p:nvSpPr>
          <p:cNvPr id="9" name="De vraag stijgt van 450 naar 510 abonnementen per maand.">
            <a:extLst xmlns:a="http://schemas.openxmlformats.org/drawingml/2006/main">
              <a:ext uri="{FF2B5EF4-FFF2-40B4-BE49-F238E27FC236}">
                <a16:creationId xmlns:a16="http://schemas.microsoft.com/office/drawing/2014/main" id="{8BC48E3A-8493-416A-B73A-C17EDC1A2CBB}"/>
              </a:ext>
            </a:extLst>
          </p:cNvPr>
          <p:cNvSpPr>
            <a:spLocks xmlns:a="http://schemas.openxmlformats.org/drawingml/2006/main" noGrp="1"/>
          </p:cNvSpPr>
          <p:nvPr/>
        </p:nvSpPr>
        <p:spPr>
          <a:xfrm xmlns:a="http://schemas.openxmlformats.org/drawingml/2006/main">
            <a:off x="571500" y="6743700"/>
            <a:ext cx="1409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20665B"/>
                </a:solidFill>
                <a:latin typeface="Arial"/>
                <a:ea typeface="Arial"/>
                <a:cs typeface="Arial"/>
              </a:defRPr>
            </a:pPr>
            <a:r>
              <a:rPr sz="3075" b="1">
                <a:solidFill>
                  <a:srgbClr val="20665B"/>
                </a:solidFill>
                <a:latin typeface="Arial"/>
                <a:ea typeface="Arial"/>
                <a:cs typeface="Arial"/>
              </a:rPr>
              <a:t>De vraag stijgt van 450 naar 510 abonnementen per maand.</a:t>
            </a:r>
          </a:p>
        </p:txBody>
      </p:sp>
    </p:spTree>
    <p:extLst>
      <p:ext uri="{BB962C8B-B14F-4D97-AF65-F5344CB8AC3E}">
        <p14:creationId xmlns:p14="http://schemas.microsoft.com/office/powerpoint/2010/main" val="17931677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itle">
            <a:extLst xmlns:a="http://schemas.openxmlformats.org/drawingml/2006/main">
              <a:ext uri="{FF2B5EF4-FFF2-40B4-BE49-F238E27FC236}">
                <a16:creationId xmlns:a16="http://schemas.microsoft.com/office/drawing/2014/main" id="{7931CC27-0157-40BB-86E1-40F5AE9A2EB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Van de nieuwe hoeveelheid naar Ei</a:t>
            </a:r>
          </a:p>
        </p:txBody>
      </p:sp>
      <p:sp>
        <p:nvSpPr>
          <p:cNvPr id="2" name="">
            <a:extLst xmlns:a="http://schemas.openxmlformats.org/drawingml/2006/main">
              <a:ext uri="{FF2B5EF4-FFF2-40B4-BE49-F238E27FC236}">
                <a16:creationId xmlns:a16="http://schemas.microsoft.com/office/drawing/2014/main" id="{4F586CC3-01B6-4CFF-897B-7CE9EA232E1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252102C-B2A2-4C49-8B0A-7B05964EDB4E}"/>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DF47BF7F-DA1A-49C8-9182-B95653189505}"/>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 verandering = (nieuw − oud) / oud × 100%">
            <a:extLst xmlns:a="http://schemas.openxmlformats.org/drawingml/2006/main">
              <a:ext uri="{FF2B5EF4-FFF2-40B4-BE49-F238E27FC236}">
                <a16:creationId xmlns:a16="http://schemas.microsoft.com/office/drawing/2014/main" id="{7F10E026-B069-42CA-9F50-479013B88B24}"/>
              </a:ext>
            </a:extLst>
          </p:cNvPr>
          <p:cNvSpPr>
            <a:spLocks xmlns:a="http://schemas.openxmlformats.org/drawingml/2006/main" noGrp="1"/>
          </p:cNvSpPr>
          <p:nvPr/>
        </p:nvSpPr>
        <p:spPr>
          <a:xfrm xmlns:a="http://schemas.openxmlformats.org/drawingml/2006/main">
            <a:off x="571500" y="18478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 verandering = (nieuw − oud) / oud × 100%</a:t>
            </a:r>
          </a:p>
        </p:txBody>
      </p:sp>
      <p:sp>
        <p:nvSpPr>
          <p:cNvPr id="6" name="Hoeveelheid">
            <a:extLst xmlns:a="http://schemas.openxmlformats.org/drawingml/2006/main">
              <a:ext uri="{FF2B5EF4-FFF2-40B4-BE49-F238E27FC236}">
                <a16:creationId xmlns:a16="http://schemas.microsoft.com/office/drawing/2014/main" id="{9480CC9D-E729-4D6F-9710-034CE8F5E67E}"/>
              </a:ext>
            </a:extLst>
          </p:cNvPr>
          <p:cNvSpPr>
            <a:spLocks xmlns:a="http://schemas.openxmlformats.org/drawingml/2006/main" noGrp="1"/>
          </p:cNvSpPr>
          <p:nvPr/>
        </p:nvSpPr>
        <p:spPr>
          <a:xfrm xmlns:a="http://schemas.openxmlformats.org/drawingml/2006/main">
            <a:off x="571500" y="3057525"/>
            <a:ext cx="3381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Hoeveelheid</a:t>
            </a:r>
          </a:p>
        </p:txBody>
      </p:sp>
      <p:sp>
        <p:nvSpPr>
          <p:cNvPr id="7" name="%ΔQx = (510 − 450) / 450 × 100%&#10;= +13,333333…%">
            <a:extLst xmlns:a="http://schemas.openxmlformats.org/drawingml/2006/main">
              <a:ext uri="{FF2B5EF4-FFF2-40B4-BE49-F238E27FC236}">
                <a16:creationId xmlns:a16="http://schemas.microsoft.com/office/drawing/2014/main" id="{23C3E933-4086-40B9-B91C-DC495D760BBD}"/>
              </a:ext>
            </a:extLst>
          </p:cNvPr>
          <p:cNvSpPr>
            <a:spLocks xmlns:a="http://schemas.openxmlformats.org/drawingml/2006/main" noGrp="1"/>
          </p:cNvSpPr>
          <p:nvPr/>
        </p:nvSpPr>
        <p:spPr>
          <a:xfrm xmlns:a="http://schemas.openxmlformats.org/drawingml/2006/main">
            <a:off x="4333875" y="3057525"/>
            <a:ext cx="10334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%ΔQx = (510 − 450) / 450 × 100%</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+13,333333…%</a:t>
            </a:r>
          </a:p>
        </p:txBody>
      </p:sp>
      <p:sp>
        <p:nvSpPr>
          <p:cNvPr id="8" name="Inkomen">
            <a:extLst xmlns:a="http://schemas.openxmlformats.org/drawingml/2006/main">
              <a:ext uri="{FF2B5EF4-FFF2-40B4-BE49-F238E27FC236}">
                <a16:creationId xmlns:a16="http://schemas.microsoft.com/office/drawing/2014/main" id="{04FB3798-7FD5-45C2-BF6C-F3776CA0F327}"/>
              </a:ext>
            </a:extLst>
          </p:cNvPr>
          <p:cNvSpPr>
            <a:spLocks xmlns:a="http://schemas.openxmlformats.org/drawingml/2006/main" noGrp="1"/>
          </p:cNvSpPr>
          <p:nvPr/>
        </p:nvSpPr>
        <p:spPr>
          <a:xfrm xmlns:a="http://schemas.openxmlformats.org/drawingml/2006/main">
            <a:off x="571500" y="4562475"/>
            <a:ext cx="3381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Inkomen</a:t>
            </a:r>
          </a:p>
        </p:txBody>
      </p:sp>
      <p:sp>
        <p:nvSpPr>
          <p:cNvPr id="9" name="%ΔY = (18.000 − 15.000) / 15.000 × 100%&#10;= +20%">
            <a:extLst xmlns:a="http://schemas.openxmlformats.org/drawingml/2006/main">
              <a:ext uri="{FF2B5EF4-FFF2-40B4-BE49-F238E27FC236}">
                <a16:creationId xmlns:a16="http://schemas.microsoft.com/office/drawing/2014/main" id="{587C87DE-7B8F-41BC-90CB-2E6464868A31}"/>
              </a:ext>
            </a:extLst>
          </p:cNvPr>
          <p:cNvSpPr>
            <a:spLocks xmlns:a="http://schemas.openxmlformats.org/drawingml/2006/main" noGrp="1"/>
          </p:cNvSpPr>
          <p:nvPr/>
        </p:nvSpPr>
        <p:spPr>
          <a:xfrm xmlns:a="http://schemas.openxmlformats.org/drawingml/2006/main">
            <a:off x="4333875" y="4562475"/>
            <a:ext cx="10334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%ΔY = (18.000 − 15.000) / 15.000 × 100%</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+20%</a:t>
            </a:r>
          </a:p>
        </p:txBody>
      </p:sp>
      <p:sp>
        <p:nvSpPr>
          <p:cNvPr id="10" name="Elasticiteit">
            <a:extLst xmlns:a="http://schemas.openxmlformats.org/drawingml/2006/main">
              <a:ext uri="{FF2B5EF4-FFF2-40B4-BE49-F238E27FC236}">
                <a16:creationId xmlns:a16="http://schemas.microsoft.com/office/drawing/2014/main" id="{3D022B6F-73BC-4CD9-BACD-904B3833944C}"/>
              </a:ext>
            </a:extLst>
          </p:cNvPr>
          <p:cNvSpPr>
            <a:spLocks xmlns:a="http://schemas.openxmlformats.org/drawingml/2006/main" noGrp="1"/>
          </p:cNvSpPr>
          <p:nvPr/>
        </p:nvSpPr>
        <p:spPr>
          <a:xfrm xmlns:a="http://schemas.openxmlformats.org/drawingml/2006/main">
            <a:off x="571500" y="6067425"/>
            <a:ext cx="3381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Elasticiteit</a:t>
            </a:r>
          </a:p>
        </p:txBody>
      </p:sp>
      <p:sp>
        <p:nvSpPr>
          <p:cNvPr id="11" name="Ei = 13,333333…% / 20% ≈ +0,67">
            <a:extLst xmlns:a="http://schemas.openxmlformats.org/drawingml/2006/main">
              <a:ext uri="{FF2B5EF4-FFF2-40B4-BE49-F238E27FC236}">
                <a16:creationId xmlns:a16="http://schemas.microsoft.com/office/drawing/2014/main" id="{0A175C90-A555-465A-B4D2-3A198FD3D239}"/>
              </a:ext>
            </a:extLst>
          </p:cNvPr>
          <p:cNvSpPr>
            <a:spLocks xmlns:a="http://schemas.openxmlformats.org/drawingml/2006/main" noGrp="1"/>
          </p:cNvSpPr>
          <p:nvPr/>
        </p:nvSpPr>
        <p:spPr>
          <a:xfrm xmlns:a="http://schemas.openxmlformats.org/drawingml/2006/main">
            <a:off x="4333875" y="6067425"/>
            <a:ext cx="10334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Ei = 13,333333…% / 20% ≈ +0,67</a:t>
            </a:r>
          </a:p>
        </p:txBody>
      </p:sp>
      <p:sp>
        <p:nvSpPr>
          <p:cNvPr id="12" name="0 &lt; Ei &lt; 1: TaalClub X is hier een normaal goed.">
            <a:extLst xmlns:a="http://schemas.openxmlformats.org/drawingml/2006/main">
              <a:ext uri="{FF2B5EF4-FFF2-40B4-BE49-F238E27FC236}">
                <a16:creationId xmlns:a16="http://schemas.microsoft.com/office/drawing/2014/main" id="{C7698582-D86B-4397-A68C-59D904E00FFB}"/>
              </a:ext>
            </a:extLst>
          </p:cNvPr>
          <p:cNvSpPr>
            <a:spLocks xmlns:a="http://schemas.openxmlformats.org/drawingml/2006/main" noGrp="1"/>
          </p:cNvSpPr>
          <p:nvPr/>
        </p:nvSpPr>
        <p:spPr>
          <a:xfrm xmlns:a="http://schemas.openxmlformats.org/drawingml/2006/main">
            <a:off x="571500" y="75438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0 &lt; Ei &lt; 1: TaalClub X is hier een normaal goed.</a:t>
            </a:r>
          </a:p>
        </p:txBody>
      </p:sp>
    </p:spTree>
    <p:extLst>
      <p:ext uri="{BB962C8B-B14F-4D97-AF65-F5344CB8AC3E}">
        <p14:creationId xmlns:p14="http://schemas.microsoft.com/office/powerpoint/2010/main" val="4744856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6A46DFAD-5F7F-4EBB-8007-6B26E128D54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Terug naar het begin; alleen Pz verandert</a:t>
            </a:r>
          </a:p>
        </p:txBody>
      </p:sp>
      <p:sp>
        <p:nvSpPr>
          <p:cNvPr id="2" name="">
            <a:extLst xmlns:a="http://schemas.openxmlformats.org/drawingml/2006/main">
              <a:ext uri="{FF2B5EF4-FFF2-40B4-BE49-F238E27FC236}">
                <a16:creationId xmlns:a16="http://schemas.microsoft.com/office/drawing/2014/main" id="{C44DDBF9-D5C5-4DA4-B421-72164F71354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C5CB831-F4EF-4BA2-B6D5-1A46033A7A7A}"/>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D9C06DF0-106E-434B-841A-0C96AC40D1C8}"/>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graphicFrame>
        <p:nvGraphicFramePr>
          <p:cNvPr id="12" name=""/>
          <p:cNvGraphicFramePr/>
          <p:nvPr/>
        </p:nvGraphicFramePr>
        <p:xfrm>
          <a:off xmlns:a="http://schemas.openxmlformats.org/drawingml/2006/main" x="571500" y="1971675"/>
          <a:ext xmlns:a="http://schemas.openxmlformats.org/drawingml/2006/main" cx="14097000" cy="3495675"/>
        </p:xfrm>
        <a:graphic xmlns:a="http://schemas.openxmlformats.org/drawingml/2006/main">
          <a:graphicData uri="http://schemas.openxmlformats.org/drawingml/2006/table">
            <a:tbl>
              <a:tblPr/>
              <a:tblGrid>
                <a:gridCol w="5381625"/>
                <a:gridCol w="1619250"/>
                <a:gridCol w="1619250"/>
                <a:gridCol w="2809875"/>
                <a:gridCol w="2667000"/>
              </a:tblGrid>
              <a:tr h="873919">
                <a:tc>
                  <a:txBody>
                    <a:bodyPr lIns="161925" tIns="95250" rIns="142875" bIns="95250"/>
                    <a:lstStyle/>
                    <a:p>
                      <a:r>
                        <a:rPr sz="2250" b="1">
                          <a:solidFill>
                            <a:srgbClr val="FFFFFF"/>
                          </a:solidFill>
                          <a:latin typeface="Arial"/>
                          <a:ea typeface="Arial"/>
                          <a:cs typeface="Arial"/>
                        </a:rPr>
                        <a:t>Afzonderlijk scenario</a:t>
                      </a:r>
                    </a:p>
                  </a:txBody>
                  <a:tcPr marL="91440" marR="91440" marT="45720" marB="45720" anchor="ctr">
                    <a:solidFill>
                      <a:srgbClr val="183247"/>
                    </a:solidFill>
                  </a:tcPr>
                </a:tc>
                <a:tc>
                  <a:txBody>
                    <a:bodyPr lIns="161925" tIns="95250" rIns="142875" bIns="95250"/>
                    <a:lstStyle/>
                    <a:p>
                      <a:r>
                        <a:rPr sz="2250" b="1">
                          <a:solidFill>
                            <a:srgbClr val="FFFFFF"/>
                          </a:solidFill>
                          <a:latin typeface="Arial"/>
                          <a:ea typeface="Arial"/>
                          <a:cs typeface="Arial"/>
                        </a:rPr>
                        <a:t>Px (€)</a:t>
                      </a:r>
                    </a:p>
                  </a:txBody>
                  <a:tcPr marL="91440" marR="91440" marT="45720" marB="45720" anchor="ctr">
                    <a:solidFill>
                      <a:srgbClr val="183247"/>
                    </a:solidFill>
                  </a:tcPr>
                </a:tc>
                <a:tc>
                  <a:txBody>
                    <a:bodyPr lIns="161925" tIns="95250" rIns="142875" bIns="95250"/>
                    <a:lstStyle/>
                    <a:p>
                      <a:r>
                        <a:rPr sz="2250" b="1">
                          <a:solidFill>
                            <a:srgbClr val="FFFFFF"/>
                          </a:solidFill>
                          <a:latin typeface="Arial"/>
                          <a:ea typeface="Arial"/>
                          <a:cs typeface="Arial"/>
                        </a:rPr>
                        <a:t>Pz (€)</a:t>
                      </a:r>
                    </a:p>
                  </a:txBody>
                  <a:tcPr marL="91440" marR="91440" marT="45720" marB="45720" anchor="ctr">
                    <a:solidFill>
                      <a:srgbClr val="183247"/>
                    </a:solidFill>
                  </a:tcPr>
                </a:tc>
                <a:tc>
                  <a:txBody>
                    <a:bodyPr lIns="161925" tIns="95250" rIns="142875" bIns="95250"/>
                    <a:lstStyle/>
                    <a:p>
                      <a:r>
                        <a:rPr sz="2250" b="1">
                          <a:solidFill>
                            <a:srgbClr val="FFFFFF"/>
                          </a:solidFill>
                          <a:latin typeface="Arial"/>
                          <a:ea typeface="Arial"/>
                          <a:cs typeface="Arial"/>
                        </a:rPr>
                        <a:t>Y (€ per jaar)</a:t>
                      </a:r>
                    </a:p>
                  </a:txBody>
                  <a:tcPr marL="91440" marR="91440" marT="45720" marB="45720" anchor="ctr">
                    <a:solidFill>
                      <a:srgbClr val="183247"/>
                    </a:solidFill>
                  </a:tcPr>
                </a:tc>
                <a:tc>
                  <a:txBody>
                    <a:bodyPr lIns="161925" tIns="95250" rIns="142875" bIns="95250"/>
                    <a:lstStyle/>
                    <a:p>
                      <a:r>
                        <a:rPr sz="2250" b="1">
                          <a:solidFill>
                            <a:srgbClr val="FFFFFF"/>
                          </a:solidFill>
                          <a:latin typeface="Arial"/>
                          <a:ea typeface="Arial"/>
                          <a:cs typeface="Arial"/>
                        </a:rPr>
                        <a:t>Qx per maand</a:t>
                      </a:r>
                    </a:p>
                  </a:txBody>
                  <a:tcPr marL="91440" marR="91440" marT="45720" marB="45720" anchor="ctr">
                    <a:solidFill>
                      <a:srgbClr val="183247"/>
                    </a:solidFill>
                  </a:tcPr>
                </a:tc>
              </a:tr>
              <a:tr h="873919">
                <a:tc>
                  <a:txBody>
                    <a:bodyPr lIns="161925" tIns="95250" rIns="142875" bIns="95250"/>
                    <a:lstStyle/>
                    <a:p>
                      <a:r>
                        <a:rPr sz="2250" b="0">
                          <a:solidFill>
                            <a:srgbClr val="183247"/>
                          </a:solidFill>
                          <a:latin typeface="Arial"/>
                          <a:ea typeface="Arial"/>
                          <a:cs typeface="Arial"/>
                        </a:rPr>
                        <a:t>Begin</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15</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25</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15.000</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450</a:t>
                      </a:r>
                    </a:p>
                  </a:txBody>
                  <a:tcPr marL="91440" marR="91440" marT="45720" marB="45720" anchor="ctr">
                    <a:solidFill>
                      <a:srgbClr val="FFFFFF"/>
                    </a:solidFill>
                  </a:tcPr>
                </a:tc>
              </a:tr>
              <a:tr h="873919">
                <a:tc>
                  <a:txBody>
                    <a:bodyPr lIns="161925" tIns="95250" rIns="142875" bIns="95250"/>
                    <a:lstStyle/>
                    <a:p>
                      <a:r>
                        <a:rPr sz="2250" b="0">
                          <a:solidFill>
                            <a:srgbClr val="183247"/>
                          </a:solidFill>
                          <a:latin typeface="Arial"/>
                          <a:ea typeface="Arial"/>
                          <a:cs typeface="Arial"/>
                        </a:rPr>
                        <a:t>Alleen hoger Y</a:t>
                      </a:r>
                    </a:p>
                  </a:txBody>
                  <a:tcPr marL="91440" marR="91440" marT="45720" marB="45720" anchor="ctr">
                    <a:solidFill>
                      <a:srgbClr val="EFF4F7"/>
                    </a:solidFill>
                  </a:tcPr>
                </a:tc>
                <a:tc>
                  <a:txBody>
                    <a:bodyPr lIns="161925" tIns="95250" rIns="142875" bIns="95250"/>
                    <a:lstStyle/>
                    <a:p>
                      <a:r>
                        <a:rPr sz="2250" b="0">
                          <a:solidFill>
                            <a:srgbClr val="183247"/>
                          </a:solidFill>
                          <a:latin typeface="Arial"/>
                          <a:ea typeface="Arial"/>
                          <a:cs typeface="Arial"/>
                        </a:rPr>
                        <a:t>15</a:t>
                      </a:r>
                    </a:p>
                  </a:txBody>
                  <a:tcPr marL="91440" marR="91440" marT="45720" marB="45720" anchor="ctr">
                    <a:solidFill>
                      <a:srgbClr val="EFF4F7"/>
                    </a:solidFill>
                  </a:tcPr>
                </a:tc>
                <a:tc>
                  <a:txBody>
                    <a:bodyPr lIns="161925" tIns="95250" rIns="142875" bIns="95250"/>
                    <a:lstStyle/>
                    <a:p>
                      <a:r>
                        <a:rPr sz="2250" b="0">
                          <a:solidFill>
                            <a:srgbClr val="183247"/>
                          </a:solidFill>
                          <a:latin typeface="Arial"/>
                          <a:ea typeface="Arial"/>
                          <a:cs typeface="Arial"/>
                        </a:rPr>
                        <a:t>25</a:t>
                      </a:r>
                    </a:p>
                  </a:txBody>
                  <a:tcPr marL="91440" marR="91440" marT="45720" marB="45720" anchor="ctr">
                    <a:solidFill>
                      <a:srgbClr val="EFF4F7"/>
                    </a:solidFill>
                  </a:tcPr>
                </a:tc>
                <a:tc>
                  <a:txBody>
                    <a:bodyPr lIns="161925" tIns="95250" rIns="142875" bIns="95250"/>
                    <a:lstStyle/>
                    <a:p>
                      <a:r>
                        <a:rPr sz="2250" b="0">
                          <a:solidFill>
                            <a:srgbClr val="183247"/>
                          </a:solidFill>
                          <a:latin typeface="Arial"/>
                          <a:ea typeface="Arial"/>
                          <a:cs typeface="Arial"/>
                        </a:rPr>
                        <a:t>18.000</a:t>
                      </a:r>
                    </a:p>
                  </a:txBody>
                  <a:tcPr marL="91440" marR="91440" marT="45720" marB="45720" anchor="ctr">
                    <a:solidFill>
                      <a:srgbClr val="EFF4F7"/>
                    </a:solidFill>
                  </a:tcPr>
                </a:tc>
                <a:tc>
                  <a:txBody>
                    <a:bodyPr lIns="161925" tIns="95250" rIns="142875" bIns="95250"/>
                    <a:lstStyle/>
                    <a:p>
                      <a:r>
                        <a:rPr sz="2250" b="0">
                          <a:solidFill>
                            <a:srgbClr val="183247"/>
                          </a:solidFill>
                          <a:latin typeface="Arial"/>
                          <a:ea typeface="Arial"/>
                          <a:cs typeface="Arial"/>
                        </a:rPr>
                        <a:t>510</a:t>
                      </a:r>
                    </a:p>
                  </a:txBody>
                  <a:tcPr marL="91440" marR="91440" marT="45720" marB="45720" anchor="ctr">
                    <a:solidFill>
                      <a:srgbClr val="EFF4F7"/>
                    </a:solidFill>
                  </a:tcPr>
                </a:tc>
              </a:tr>
              <a:tr h="873919">
                <a:tc>
                  <a:txBody>
                    <a:bodyPr lIns="161925" tIns="95250" rIns="142875" bIns="95250"/>
                    <a:lstStyle/>
                    <a:p>
                      <a:r>
                        <a:rPr sz="2250" b="0">
                          <a:solidFill>
                            <a:srgbClr val="183247"/>
                          </a:solidFill>
                          <a:latin typeface="Arial"/>
                          <a:ea typeface="Arial"/>
                          <a:cs typeface="Arial"/>
                        </a:rPr>
                        <a:t>Y terug; alleen hogere Pz</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15</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30</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15.000</a:t>
                      </a:r>
                    </a:p>
                  </a:txBody>
                  <a:tcPr marL="91440" marR="91440" marT="45720" marB="45720" anchor="ctr">
                    <a:solidFill>
                      <a:srgbClr val="FFFFFF"/>
                    </a:solidFill>
                  </a:tcPr>
                </a:tc>
                <a:tc>
                  <a:txBody>
                    <a:bodyPr lIns="161925" tIns="95250" rIns="142875" bIns="95250"/>
                    <a:lstStyle/>
                    <a:p>
                      <a:r>
                        <a:rPr sz="2250" b="0">
                          <a:solidFill>
                            <a:srgbClr val="183247"/>
                          </a:solidFill>
                          <a:latin typeface="Arial"/>
                          <a:ea typeface="Arial"/>
                          <a:cs typeface="Arial"/>
                        </a:rPr>
                        <a:t>460</a:t>
                      </a:r>
                    </a:p>
                  </a:txBody>
                  <a:tcPr marL="91440" marR="91440" marT="45720" marB="45720" anchor="ctr">
                    <a:solidFill>
                      <a:srgbClr val="FFFFFF"/>
                    </a:solidFill>
                  </a:tcPr>
                </a:tc>
              </a:tr>
            </a:tbl>
          </a:graphicData>
        </a:graphic>
      </p:graphicFrame>
      <p:sp>
        <p:nvSpPr>
          <p:cNvPr id="6" name="Qx = 160 − 4 × 15 + 2 × 30 + 0,02 × 15.000 = 460">
            <a:extLst xmlns:a="http://schemas.openxmlformats.org/drawingml/2006/main">
              <a:ext uri="{FF2B5EF4-FFF2-40B4-BE49-F238E27FC236}">
                <a16:creationId xmlns:a16="http://schemas.microsoft.com/office/drawing/2014/main" id="{4A57B7FA-A0BD-434D-953F-978C1F8670AD}"/>
              </a:ext>
            </a:extLst>
          </p:cNvPr>
          <p:cNvSpPr>
            <a:spLocks xmlns:a="http://schemas.openxmlformats.org/drawingml/2006/main" noGrp="1"/>
          </p:cNvSpPr>
          <p:nvPr/>
        </p:nvSpPr>
        <p:spPr>
          <a:xfrm xmlns:a="http://schemas.openxmlformats.org/drawingml/2006/main">
            <a:off x="571500" y="60007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Qx = 160 − 4 × 15 + 2 × 30 + 0,02 × 15.000 = 460</a:t>
            </a:r>
          </a:p>
        </p:txBody>
      </p:sp>
      <p:sp>
        <p:nvSpPr>
          <p:cNvPr id="7" name="Pz stijgt → Qx stijgt; Px en Y blijven gelijk.">
            <a:extLst xmlns:a="http://schemas.openxmlformats.org/drawingml/2006/main">
              <a:ext uri="{FF2B5EF4-FFF2-40B4-BE49-F238E27FC236}">
                <a16:creationId xmlns:a16="http://schemas.microsoft.com/office/drawing/2014/main" id="{6B96C45A-D7EE-461B-A433-5E384954C833}"/>
              </a:ext>
            </a:extLst>
          </p:cNvPr>
          <p:cNvSpPr>
            <a:spLocks xmlns:a="http://schemas.openxmlformats.org/drawingml/2006/main" noGrp="1"/>
          </p:cNvSpPr>
          <p:nvPr/>
        </p:nvSpPr>
        <p:spPr>
          <a:xfrm xmlns:a="http://schemas.openxmlformats.org/drawingml/2006/main">
            <a:off x="571500" y="71628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Pz stijgt → Qx stijgt; Px en Y blijven gelijk.</a:t>
            </a:r>
          </a:p>
        </p:txBody>
      </p:sp>
    </p:spTree>
    <p:extLst>
      <p:ext uri="{BB962C8B-B14F-4D97-AF65-F5344CB8AC3E}">
        <p14:creationId xmlns:p14="http://schemas.microsoft.com/office/powerpoint/2010/main" val="37043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2912E54-F763-4640-8DD7-0D047B4B705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Twee veranderingen tegelijk</a:t>
            </a:r>
          </a:p>
        </p:txBody>
      </p:sp>
      <p:sp>
        <p:nvSpPr>
          <p:cNvPr id="2" name="">
            <a:extLst xmlns:a="http://schemas.openxmlformats.org/drawingml/2006/main">
              <a:ext uri="{FF2B5EF4-FFF2-40B4-BE49-F238E27FC236}">
                <a16:creationId xmlns:a16="http://schemas.microsoft.com/office/drawing/2014/main" id="{7090BB5A-A05B-4C4C-AEF0-31FB5386CE8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C71B211-0718-4715-A687-56BD08F64A29}"/>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A8D3EB34-DFA8-4981-A516-F1042B79FE5D}"/>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graphicFrame>
        <p:nvGraphicFramePr>
          <p:cNvPr id="12" name=""/>
          <p:cNvGraphicFramePr/>
          <p:nvPr/>
        </p:nvGraphicFramePr>
        <p:xfrm>
          <a:off xmlns:a="http://schemas.openxmlformats.org/drawingml/2006/main" x="571500" y="2238375"/>
          <a:ext xmlns:a="http://schemas.openxmlformats.org/drawingml/2006/main" cx="14097000" cy="3076575"/>
        </p:xfrm>
        <a:graphic xmlns:a="http://schemas.openxmlformats.org/drawingml/2006/main">
          <a:graphicData uri="http://schemas.openxmlformats.org/drawingml/2006/table">
            <a:tbl>
              <a:tblPr/>
              <a:tblGrid>
                <a:gridCol w="8572500"/>
                <a:gridCol w="5524500"/>
              </a:tblGrid>
              <a:tr h="1025525">
                <a:tc>
                  <a:txBody>
                    <a:bodyPr lIns="161925" tIns="95250" rIns="142875" bIns="95250"/>
                    <a:lstStyle/>
                    <a:p>
                      <a:r>
                        <a:rPr sz="2700" b="1">
                          <a:solidFill>
                            <a:srgbClr val="FFFFFF"/>
                          </a:solidFill>
                          <a:latin typeface="Arial"/>
                          <a:ea typeface="Arial"/>
                          <a:cs typeface="Arial"/>
                        </a:rPr>
                        <a:t>Afzonderlijk onderzoek</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Verwachte vraagreactie X</a:t>
                      </a:r>
                    </a:p>
                  </a:txBody>
                  <a:tcPr marL="91440" marR="91440" marT="45720" marB="45720" anchor="ctr">
                    <a:solidFill>
                      <a:srgbClr val="183247"/>
                    </a:solidFill>
                  </a:tcPr>
                </a:tc>
              </a:tr>
              <a:tr h="1025525">
                <a:tc>
                  <a:txBody>
                    <a:bodyPr lIns="161925" tIns="95250" rIns="142875" bIns="95250"/>
                    <a:lstStyle/>
                    <a:p>
                      <a:r>
                        <a:rPr sz="2700" b="0">
                          <a:solidFill>
                            <a:srgbClr val="183247"/>
                          </a:solidFill>
                          <a:latin typeface="Arial"/>
                          <a:ea typeface="Arial"/>
                          <a:cs typeface="Arial"/>
                        </a:rPr>
                        <a:t>Een substituut Z wordt duurder</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Qx stijgt.</a:t>
                      </a:r>
                    </a:p>
                  </a:txBody>
                  <a:tcPr marL="91440" marR="91440" marT="45720" marB="45720" anchor="ctr">
                    <a:solidFill>
                      <a:srgbClr val="FFFFFF"/>
                    </a:solidFill>
                  </a:tcPr>
                </a:tc>
              </a:tr>
              <a:tr h="1025525">
                <a:tc>
                  <a:txBody>
                    <a:bodyPr lIns="161925" tIns="95250" rIns="142875" bIns="95250"/>
                    <a:lstStyle/>
                    <a:p>
                      <a:r>
                        <a:rPr sz="2700" b="0">
                          <a:solidFill>
                            <a:srgbClr val="183247"/>
                          </a:solidFill>
                          <a:latin typeface="Arial"/>
                          <a:ea typeface="Arial"/>
                          <a:cs typeface="Arial"/>
                        </a:rPr>
                        <a:t>Een complement W wordt duurder</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Qx daalt.</a:t>
                      </a:r>
                    </a:p>
                  </a:txBody>
                  <a:tcPr marL="91440" marR="91440" marT="45720" marB="45720" anchor="ctr">
                    <a:solidFill>
                      <a:srgbClr val="EFF4F7"/>
                    </a:solidFill>
                  </a:tcPr>
                </a:tc>
              </a:tr>
            </a:tbl>
          </a:graphicData>
        </a:graphic>
      </p:graphicFrame>
      <p:sp>
        <p:nvSpPr>
          <p:cNvPr id="6" name="De richtingen werken elkaar tegen.">
            <a:extLst xmlns:a="http://schemas.openxmlformats.org/drawingml/2006/main">
              <a:ext uri="{FF2B5EF4-FFF2-40B4-BE49-F238E27FC236}">
                <a16:creationId xmlns:a16="http://schemas.microsoft.com/office/drawing/2014/main" id="{24A5AF93-5C57-4A22-ADFD-8288020F2549}"/>
              </a:ext>
            </a:extLst>
          </p:cNvPr>
          <p:cNvSpPr>
            <a:spLocks xmlns:a="http://schemas.openxmlformats.org/drawingml/2006/main" noGrp="1"/>
          </p:cNvSpPr>
          <p:nvPr/>
        </p:nvSpPr>
        <p:spPr>
          <a:xfrm xmlns:a="http://schemas.openxmlformats.org/drawingml/2006/main">
            <a:off x="571500" y="59626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De richtingen werken elkaar tegen.</a:t>
            </a:r>
          </a:p>
        </p:txBody>
      </p:sp>
      <p:sp>
        <p:nvSpPr>
          <p:cNvPr id="7" name="Voor het totale effect is een passend gezamenlijk model nodi">
            <a:extLst xmlns:a="http://schemas.openxmlformats.org/drawingml/2006/main">
              <a:ext uri="{FF2B5EF4-FFF2-40B4-BE49-F238E27FC236}">
                <a16:creationId xmlns:a16="http://schemas.microsoft.com/office/drawing/2014/main" id="{0607E948-6A9F-4DC1-BFAA-5582375AED00}"/>
              </a:ext>
            </a:extLst>
          </p:cNvPr>
          <p:cNvSpPr>
            <a:spLocks xmlns:a="http://schemas.openxmlformats.org/drawingml/2006/main" noGrp="1"/>
          </p:cNvSpPr>
          <p:nvPr/>
        </p:nvSpPr>
        <p:spPr>
          <a:xfrm xmlns:a="http://schemas.openxmlformats.org/drawingml/2006/main">
            <a:off x="571500" y="71247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Voor het totale effect is een passend gezamenlijk model nodig.</a:t>
            </a:r>
          </a:p>
        </p:txBody>
      </p:sp>
    </p:spTree>
    <p:extLst>
      <p:ext uri="{BB962C8B-B14F-4D97-AF65-F5344CB8AC3E}">
        <p14:creationId xmlns:p14="http://schemas.microsoft.com/office/powerpoint/2010/main" val="153171239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3CD5963F-9B3C-47C1-9BC1-E81E4964DF6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0D075563-22B3-4041-8321-B933428D7F2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8B4E5C8-1C92-45D5-97A5-AEEB91719CF1}"/>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0A5D9928-E945-4DBC-9465-BA8DD2A59DAB}"/>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Je onderzoekt bij TaalClub alleen Pz: € 25 → € 30.">
            <a:extLst xmlns:a="http://schemas.openxmlformats.org/drawingml/2006/main">
              <a:ext uri="{FF2B5EF4-FFF2-40B4-BE49-F238E27FC236}">
                <a16:creationId xmlns:a16="http://schemas.microsoft.com/office/drawing/2014/main" id="{F6A63991-D2FB-44B3-9C84-7B035F6E5134}"/>
              </a:ext>
            </a:extLst>
          </p:cNvPr>
          <p:cNvSpPr>
            <a:spLocks xmlns:a="http://schemas.openxmlformats.org/drawingml/2006/main" noGrp="1"/>
          </p:cNvSpPr>
          <p:nvPr/>
        </p:nvSpPr>
        <p:spPr>
          <a:xfrm xmlns:a="http://schemas.openxmlformats.org/drawingml/2006/main">
            <a:off x="571500" y="192405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Je onderzoekt bij TaalClub alleen Pz: € 25 → € 30.</a:t>
            </a:r>
          </a:p>
        </p:txBody>
      </p:sp>
      <p:sp>
        <p:nvSpPr>
          <p:cNvPr id="6" name="“Ik gebruik Y = 18.000, want dat was de vorige uitkomst.”">
            <a:extLst xmlns:a="http://schemas.openxmlformats.org/drawingml/2006/main">
              <a:ext uri="{FF2B5EF4-FFF2-40B4-BE49-F238E27FC236}">
                <a16:creationId xmlns:a16="http://schemas.microsoft.com/office/drawing/2014/main" id="{EF08036D-5319-449A-90F3-26155AD8B35E}"/>
              </a:ext>
            </a:extLst>
          </p:cNvPr>
          <p:cNvSpPr>
            <a:spLocks xmlns:a="http://schemas.openxmlformats.org/drawingml/2006/main" noGrp="1"/>
          </p:cNvSpPr>
          <p:nvPr/>
        </p:nvSpPr>
        <p:spPr>
          <a:xfrm xmlns:a="http://schemas.openxmlformats.org/drawingml/2006/main">
            <a:off x="571500" y="3209925"/>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“Ik gebruik Y = 18.000, want dat was de vorige uitkomst.”</a:t>
            </a:r>
          </a:p>
        </p:txBody>
      </p:sp>
      <p:sp>
        <p:nvSpPr>
          <p:cNvPr id="7" name="Klopt deze aanpak?&#10;Welke waarden moeten gelijk blijven?">
            <a:extLst xmlns:a="http://schemas.openxmlformats.org/drawingml/2006/main">
              <a:ext uri="{FF2B5EF4-FFF2-40B4-BE49-F238E27FC236}">
                <a16:creationId xmlns:a16="http://schemas.microsoft.com/office/drawing/2014/main" id="{AD3ABAED-921A-4600-826D-64B36353069A}"/>
              </a:ext>
            </a:extLst>
          </p:cNvPr>
          <p:cNvSpPr>
            <a:spLocks xmlns:a="http://schemas.openxmlformats.org/drawingml/2006/main" noGrp="1"/>
          </p:cNvSpPr>
          <p:nvPr/>
        </p:nvSpPr>
        <p:spPr>
          <a:xfrm xmlns:a="http://schemas.openxmlformats.org/drawingml/2006/main">
            <a:off x="571500" y="5200650"/>
            <a:ext cx="14097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Klopt deze aanpak?</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Welke waarden moeten gelijk blijven?</a:t>
            </a:r>
          </a:p>
        </p:txBody>
      </p:sp>
    </p:spTree>
    <p:extLst>
      <p:ext uri="{BB962C8B-B14F-4D97-AF65-F5344CB8AC3E}">
        <p14:creationId xmlns:p14="http://schemas.microsoft.com/office/powerpoint/2010/main" val="12556772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FECFA42C-7766-43D4-86FB-C744CF5B43F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 · Terugzetten</a:t>
            </a:r>
          </a:p>
        </p:txBody>
      </p:sp>
      <p:sp>
        <p:nvSpPr>
          <p:cNvPr id="2" name="">
            <a:extLst xmlns:a="http://schemas.openxmlformats.org/drawingml/2006/main">
              <a:ext uri="{FF2B5EF4-FFF2-40B4-BE49-F238E27FC236}">
                <a16:creationId xmlns:a16="http://schemas.microsoft.com/office/drawing/2014/main" id="{F2291386-353E-4AEA-92B8-C46B27D02AB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F449DFCF-6036-440B-A50D-7523893439EF}"/>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slide-number">
            <a:extLst xmlns:a="http://schemas.openxmlformats.org/drawingml/2006/main">
              <a:ext uri="{FF2B5EF4-FFF2-40B4-BE49-F238E27FC236}">
                <a16:creationId xmlns:a16="http://schemas.microsoft.com/office/drawing/2014/main" id="{134413FB-38C7-402B-A59B-B102D44A751F}"/>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Je onderzoekt bij TaalClub alleen Pz: € 25 → € 30.">
            <a:extLst xmlns:a="http://schemas.openxmlformats.org/drawingml/2006/main">
              <a:ext uri="{FF2B5EF4-FFF2-40B4-BE49-F238E27FC236}">
                <a16:creationId xmlns:a16="http://schemas.microsoft.com/office/drawing/2014/main" id="{04907D7E-57E6-4B38-986F-13A3B2809A4A}"/>
              </a:ext>
            </a:extLst>
          </p:cNvPr>
          <p:cNvSpPr>
            <a:spLocks xmlns:a="http://schemas.openxmlformats.org/drawingml/2006/main" noGrp="1"/>
          </p:cNvSpPr>
          <p:nvPr/>
        </p:nvSpPr>
        <p:spPr>
          <a:xfrm xmlns:a="http://schemas.openxmlformats.org/drawingml/2006/main">
            <a:off x="571500" y="192405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Je onderzoekt bij TaalClub alleen Pz: € 25 → € 30.</a:t>
            </a:r>
          </a:p>
        </p:txBody>
      </p:sp>
      <p:sp>
        <p:nvSpPr>
          <p:cNvPr id="6" name="“Ik gebruik Y = 18.000, want dat was de vorige uitkomst.”">
            <a:extLst xmlns:a="http://schemas.openxmlformats.org/drawingml/2006/main">
              <a:ext uri="{FF2B5EF4-FFF2-40B4-BE49-F238E27FC236}">
                <a16:creationId xmlns:a16="http://schemas.microsoft.com/office/drawing/2014/main" id="{D97A1AF1-6238-40E3-B421-C59B6E745A6D}"/>
              </a:ext>
            </a:extLst>
          </p:cNvPr>
          <p:cNvSpPr>
            <a:spLocks xmlns:a="http://schemas.openxmlformats.org/drawingml/2006/main" noGrp="1"/>
          </p:cNvSpPr>
          <p:nvPr/>
        </p:nvSpPr>
        <p:spPr>
          <a:xfrm xmlns:a="http://schemas.openxmlformats.org/drawingml/2006/main">
            <a:off x="571500" y="3209925"/>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“Ik gebruik Y = 18.000, want dat was de vorige uitkomst.”</a:t>
            </a:r>
          </a:p>
        </p:txBody>
      </p:sp>
      <p:sp>
        <p:nvSpPr>
          <p:cNvPr id="7" name="Zet Y terug op 15.000.&#10;Vergelijk Qx = 460 met Qx = 450.">
            <a:extLst xmlns:a="http://schemas.openxmlformats.org/drawingml/2006/main">
              <a:ext uri="{FF2B5EF4-FFF2-40B4-BE49-F238E27FC236}">
                <a16:creationId xmlns:a16="http://schemas.microsoft.com/office/drawing/2014/main" id="{4101068F-C45D-42DA-993E-77291AEAB0A6}"/>
              </a:ext>
            </a:extLst>
          </p:cNvPr>
          <p:cNvSpPr>
            <a:spLocks xmlns:a="http://schemas.openxmlformats.org/drawingml/2006/main" noGrp="1"/>
          </p:cNvSpPr>
          <p:nvPr/>
        </p:nvSpPr>
        <p:spPr>
          <a:xfrm xmlns:a="http://schemas.openxmlformats.org/drawingml/2006/main">
            <a:off x="571500" y="5200650"/>
            <a:ext cx="14097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Zet Y terug op 15.000.</a:t>
            </a:r>
          </a:p>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Vergelijk Qx = 460 met Qx = 450.</a:t>
            </a:r>
          </a:p>
        </p:txBody>
      </p:sp>
      <p:sp>
        <p:nvSpPr>
          <p:cNvPr id="8" name="Px blijft 15; Y blijft 15.000.">
            <a:extLst xmlns:a="http://schemas.openxmlformats.org/drawingml/2006/main">
              <a:ext uri="{FF2B5EF4-FFF2-40B4-BE49-F238E27FC236}">
                <a16:creationId xmlns:a16="http://schemas.microsoft.com/office/drawing/2014/main" id="{B6473781-64C2-414D-9038-821C170B4313}"/>
              </a:ext>
            </a:extLst>
          </p:cNvPr>
          <p:cNvSpPr>
            <a:spLocks xmlns:a="http://schemas.openxmlformats.org/drawingml/2006/main" noGrp="1"/>
          </p:cNvSpPr>
          <p:nvPr/>
        </p:nvSpPr>
        <p:spPr>
          <a:xfrm xmlns:a="http://schemas.openxmlformats.org/drawingml/2006/main">
            <a:off x="571500" y="71628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Px blijft 15; Y blijft 15.000.</a:t>
            </a:r>
          </a:p>
        </p:txBody>
      </p:sp>
    </p:spTree>
    <p:extLst>
      <p:ext uri="{BB962C8B-B14F-4D97-AF65-F5344CB8AC3E}">
        <p14:creationId xmlns:p14="http://schemas.microsoft.com/office/powerpoint/2010/main" val="13216045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itle">
            <a:extLst xmlns:a="http://schemas.openxmlformats.org/drawingml/2006/main">
              <a:ext uri="{FF2B5EF4-FFF2-40B4-BE49-F238E27FC236}">
                <a16:creationId xmlns:a16="http://schemas.microsoft.com/office/drawing/2014/main" id="{BC8034F6-7A9E-49E9-9030-B344DFBE0F61}"/>
              </a:ext>
            </a:extLst>
          </p:cNvPr>
          <p:cNvSpPr>
            <a:spLocks xmlns:a="http://schemas.openxmlformats.org/drawingml/2006/main" noGrp="1"/>
          </p:cNvSpPr>
          <p:nvPr/>
        </p:nvSpPr>
        <p:spPr>
          <a:xfrm xmlns:a="http://schemas.openxmlformats.org/drawingml/2006/main">
            <a:off x="571500" y="25717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Deze les: §2.2.3</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Inkomenselasticiteit en kruislingse elasticiteit</a:t>
            </a:r>
          </a:p>
        </p:txBody>
      </p:sp>
      <p:sp>
        <p:nvSpPr>
          <p:cNvPr id="2" name="">
            <a:extLst xmlns:a="http://schemas.openxmlformats.org/drawingml/2006/main">
              <a:ext uri="{FF2B5EF4-FFF2-40B4-BE49-F238E27FC236}">
                <a16:creationId xmlns:a16="http://schemas.microsoft.com/office/drawing/2014/main" id="{0989E727-23FE-4F70-BF88-18BC11B730EB}"/>
              </a:ext>
            </a:extLst>
          </p:cNvPr>
          <p:cNvSpPr>
            <a:spLocks xmlns:a="http://schemas.openxmlformats.org/drawingml/2006/main" noGrp="1"/>
          </p:cNvSpPr>
          <p:nvPr/>
        </p:nvSpPr>
        <p:spPr>
          <a:xfrm xmlns:a="http://schemas.openxmlformats.org/drawingml/2006/main">
            <a:off x="571500" y="17335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9FB23BD-5C1E-4004-8028-8D4C1B153E80}"/>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0A9B9EAC-AC74-45B2-A237-5A7F27BFC448}"/>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phase">
            <a:extLst xmlns:a="http://schemas.openxmlformats.org/drawingml/2006/main">
              <a:ext uri="{FF2B5EF4-FFF2-40B4-BE49-F238E27FC236}">
                <a16:creationId xmlns:a16="http://schemas.microsoft.com/office/drawing/2014/main" id="{90EB7C01-23C5-4266-B520-4F90C9072D07}"/>
              </a:ext>
            </a:extLst>
          </p:cNvPr>
          <p:cNvSpPr>
            <a:spLocks xmlns:a="http://schemas.openxmlformats.org/drawingml/2006/main" noGrp="1"/>
          </p:cNvSpPr>
          <p:nvPr/>
        </p:nvSpPr>
        <p:spPr>
          <a:xfrm xmlns:a="http://schemas.openxmlformats.org/drawingml/2006/main">
            <a:off x="571500" y="1323975"/>
            <a:ext cx="1409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662C54F3-815C-4708-930E-D3FD94C8182C}"/>
              </a:ext>
            </a:extLst>
          </p:cNvPr>
          <p:cNvSpPr>
            <a:spLocks xmlns:a="http://schemas.openxmlformats.org/drawingml/2006/main" noGrp="1"/>
          </p:cNvSpPr>
          <p:nvPr/>
        </p:nvSpPr>
        <p:spPr>
          <a:xfrm xmlns:a="http://schemas.openxmlformats.org/drawingml/2006/main">
            <a:off x="571500" y="1952625"/>
            <a:ext cx="7953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A97A0510-1ADA-49C5-9D4F-1E3D51807362}"/>
              </a:ext>
            </a:extLst>
          </p:cNvPr>
          <p:cNvSpPr>
            <a:spLocks xmlns:a="http://schemas.openxmlformats.org/drawingml/2006/main" noGrp="1"/>
          </p:cNvSpPr>
          <p:nvPr/>
        </p:nvSpPr>
        <p:spPr>
          <a:xfrm xmlns:a="http://schemas.openxmlformats.org/drawingml/2006/main">
            <a:off x="571500" y="2505075"/>
            <a:ext cx="457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9B8C76B-9F5B-4085-99F7-39FB178772B8}"/>
              </a:ext>
            </a:extLst>
          </p:cNvPr>
          <p:cNvSpPr>
            <a:spLocks xmlns:a="http://schemas.openxmlformats.org/drawingml/2006/main" noGrp="1"/>
          </p:cNvSpPr>
          <p:nvPr/>
        </p:nvSpPr>
        <p:spPr>
          <a:xfrm xmlns:a="http://schemas.openxmlformats.org/drawingml/2006/main">
            <a:off x="1104900" y="2505075"/>
            <a:ext cx="74199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9AE4CB5-281C-436B-ADA4-ED1B949FB37F}"/>
              </a:ext>
            </a:extLst>
          </p:cNvPr>
          <p:cNvSpPr>
            <a:spLocks xmlns:a="http://schemas.openxmlformats.org/drawingml/2006/main" noGrp="1"/>
          </p:cNvSpPr>
          <p:nvPr/>
        </p:nvSpPr>
        <p:spPr>
          <a:xfrm xmlns:a="http://schemas.openxmlformats.org/drawingml/2006/main">
            <a:off x="571500" y="33718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D6E6D5B-AFB6-41AF-8F45-65C3DF113755}"/>
              </a:ext>
            </a:extLst>
          </p:cNvPr>
          <p:cNvSpPr>
            <a:spLocks xmlns:a="http://schemas.openxmlformats.org/drawingml/2006/main" noGrp="1"/>
          </p:cNvSpPr>
          <p:nvPr/>
        </p:nvSpPr>
        <p:spPr>
          <a:xfrm xmlns:a="http://schemas.openxmlformats.org/drawingml/2006/main">
            <a:off x="1104900" y="33718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37F92972-3E2B-4019-B3A9-7464C2B31FF2}"/>
              </a:ext>
            </a:extLst>
          </p:cNvPr>
          <p:cNvSpPr>
            <a:spLocks xmlns:a="http://schemas.openxmlformats.org/drawingml/2006/main" noGrp="1"/>
          </p:cNvSpPr>
          <p:nvPr/>
        </p:nvSpPr>
        <p:spPr>
          <a:xfrm xmlns:a="http://schemas.openxmlformats.org/drawingml/2006/main">
            <a:off x="571500" y="387667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793B23F0-73FD-418D-A5E2-452F6163A7D4}"/>
              </a:ext>
            </a:extLst>
          </p:cNvPr>
          <p:cNvSpPr>
            <a:spLocks xmlns:a="http://schemas.openxmlformats.org/drawingml/2006/main" noGrp="1"/>
          </p:cNvSpPr>
          <p:nvPr/>
        </p:nvSpPr>
        <p:spPr>
          <a:xfrm xmlns:a="http://schemas.openxmlformats.org/drawingml/2006/main">
            <a:off x="1104900" y="387667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52FB6B72-B008-4709-A935-5218E0BAAFEA}"/>
              </a:ext>
            </a:extLst>
          </p:cNvPr>
          <p:cNvSpPr>
            <a:spLocks xmlns:a="http://schemas.openxmlformats.org/drawingml/2006/main" noGrp="1"/>
          </p:cNvSpPr>
          <p:nvPr/>
        </p:nvSpPr>
        <p:spPr>
          <a:xfrm xmlns:a="http://schemas.openxmlformats.org/drawingml/2006/main">
            <a:off x="571500" y="4400550"/>
            <a:ext cx="4572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EE870C5E-B8E8-4752-A2B8-6FF224EE52D1}"/>
              </a:ext>
            </a:extLst>
          </p:cNvPr>
          <p:cNvSpPr>
            <a:spLocks xmlns:a="http://schemas.openxmlformats.org/drawingml/2006/main" noGrp="1"/>
          </p:cNvSpPr>
          <p:nvPr/>
        </p:nvSpPr>
        <p:spPr>
          <a:xfrm xmlns:a="http://schemas.openxmlformats.org/drawingml/2006/main">
            <a:off x="1104900" y="4400550"/>
            <a:ext cx="741997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B61C190F-B24F-4A7F-9918-FCC93D140622}"/>
              </a:ext>
            </a:extLst>
          </p:cNvPr>
          <p:cNvSpPr>
            <a:spLocks xmlns:a="http://schemas.openxmlformats.org/drawingml/2006/main" noGrp="1"/>
          </p:cNvSpPr>
          <p:nvPr/>
        </p:nvSpPr>
        <p:spPr>
          <a:xfrm xmlns:a="http://schemas.openxmlformats.org/drawingml/2006/main">
            <a:off x="571500" y="6086475"/>
            <a:ext cx="457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3EA9A6A-416D-4F34-B0A4-0917CCFB7190}"/>
              </a:ext>
            </a:extLst>
          </p:cNvPr>
          <p:cNvSpPr>
            <a:spLocks xmlns:a="http://schemas.openxmlformats.org/drawingml/2006/main" noGrp="1"/>
          </p:cNvSpPr>
          <p:nvPr/>
        </p:nvSpPr>
        <p:spPr>
          <a:xfrm xmlns:a="http://schemas.openxmlformats.org/drawingml/2006/main">
            <a:off x="1104900" y="6086475"/>
            <a:ext cx="7419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779F718-997C-4320-BE36-DECEE3B85BD3}"/>
              </a:ext>
            </a:extLst>
          </p:cNvPr>
          <p:cNvSpPr>
            <a:spLocks xmlns:a="http://schemas.openxmlformats.org/drawingml/2006/main" noGrp="1"/>
          </p:cNvSpPr>
          <p:nvPr/>
        </p:nvSpPr>
        <p:spPr>
          <a:xfrm xmlns:a="http://schemas.openxmlformats.org/drawingml/2006/main">
            <a:off x="571500" y="6829425"/>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A0B7CC7B-F3CD-439D-8BFF-D82B64E4210C}"/>
              </a:ext>
            </a:extLst>
          </p:cNvPr>
          <p:cNvSpPr>
            <a:spLocks xmlns:a="http://schemas.openxmlformats.org/drawingml/2006/main" noGrp="1"/>
          </p:cNvSpPr>
          <p:nvPr/>
        </p:nvSpPr>
        <p:spPr>
          <a:xfrm xmlns:a="http://schemas.openxmlformats.org/drawingml/2006/main">
            <a:off x="1104900" y="6829425"/>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6EE50801-34B8-4DA4-AFE3-A733F39A1517}"/>
              </a:ext>
            </a:extLst>
          </p:cNvPr>
          <p:cNvSpPr>
            <a:spLocks xmlns:a="http://schemas.openxmlformats.org/drawingml/2006/main" noGrp="1"/>
          </p:cNvSpPr>
          <p:nvPr/>
        </p:nvSpPr>
        <p:spPr>
          <a:xfrm xmlns:a="http://schemas.openxmlformats.org/drawingml/2006/main">
            <a:off x="571500" y="742950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CB0638C4-16A4-48DE-A388-E6194D2D9802}"/>
              </a:ext>
            </a:extLst>
          </p:cNvPr>
          <p:cNvSpPr>
            <a:spLocks xmlns:a="http://schemas.openxmlformats.org/drawingml/2006/main" noGrp="1"/>
          </p:cNvSpPr>
          <p:nvPr/>
        </p:nvSpPr>
        <p:spPr>
          <a:xfrm xmlns:a="http://schemas.openxmlformats.org/drawingml/2006/main">
            <a:off x="1104900" y="742950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9AD71EB-9706-4602-A88E-630E7C2C5C39}"/>
              </a:ext>
            </a:extLst>
          </p:cNvPr>
          <p:cNvSpPr>
            <a:spLocks xmlns:a="http://schemas.openxmlformats.org/drawingml/2006/main" noGrp="1"/>
          </p:cNvSpPr>
          <p:nvPr/>
        </p:nvSpPr>
        <p:spPr>
          <a:xfrm xmlns:a="http://schemas.openxmlformats.org/drawingml/2006/main">
            <a:off x="9258300" y="19526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47EC8FC-6BE0-4ADC-8AA4-A351B359946B}"/>
              </a:ext>
            </a:extLst>
          </p:cNvPr>
          <p:cNvSpPr>
            <a:spLocks xmlns:a="http://schemas.openxmlformats.org/drawingml/2006/main" noGrp="1"/>
          </p:cNvSpPr>
          <p:nvPr/>
        </p:nvSpPr>
        <p:spPr>
          <a:xfrm xmlns:a="http://schemas.openxmlformats.org/drawingml/2006/main">
            <a:off x="9258300" y="2505075"/>
            <a:ext cx="54102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Ei en Ek berekenen en duiden.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Goederen en relaties indelen.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Eén factor in een functie wijzigen.</a:t>
            </a:r>
          </a:p>
        </p:txBody>
      </p:sp>
      <p:sp>
        <p:nvSpPr>
          <p:cNvPr id="23" name="">
            <a:extLst xmlns:a="http://schemas.openxmlformats.org/drawingml/2006/main">
              <a:ext uri="{FF2B5EF4-FFF2-40B4-BE49-F238E27FC236}">
                <a16:creationId xmlns:a16="http://schemas.microsoft.com/office/drawing/2014/main" id="{B158E8C4-586F-429B-8442-E32B2D52946B}"/>
              </a:ext>
            </a:extLst>
          </p:cNvPr>
          <p:cNvSpPr>
            <a:spLocks xmlns:a="http://schemas.openxmlformats.org/drawingml/2006/main" noGrp="1"/>
          </p:cNvSpPr>
          <p:nvPr/>
        </p:nvSpPr>
        <p:spPr>
          <a:xfrm xmlns:a="http://schemas.openxmlformats.org/drawingml/2006/main">
            <a:off x="9258300" y="37528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B1F66B5-215B-47B4-A666-54E31ABAC457}"/>
              </a:ext>
            </a:extLst>
          </p:cNvPr>
          <p:cNvSpPr>
            <a:spLocks xmlns:a="http://schemas.openxmlformats.org/drawingml/2006/main" noGrp="1"/>
          </p:cNvSpPr>
          <p:nvPr/>
        </p:nvSpPr>
        <p:spPr>
          <a:xfrm xmlns:a="http://schemas.openxmlformats.org/drawingml/2006/main">
            <a:off x="9258300" y="3981450"/>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47EDACFD-8B0D-46CD-AA02-CE87DF5E8C36}"/>
              </a:ext>
            </a:extLst>
          </p:cNvPr>
          <p:cNvSpPr>
            <a:spLocks xmlns:a="http://schemas.openxmlformats.org/drawingml/2006/main" noGrp="1"/>
          </p:cNvSpPr>
          <p:nvPr/>
        </p:nvSpPr>
        <p:spPr>
          <a:xfrm xmlns:a="http://schemas.openxmlformats.org/drawingml/2006/main">
            <a:off x="9258300" y="4476750"/>
            <a:ext cx="5410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59</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8172D64E-2764-456E-973D-10A7C68355BB}"/>
              </a:ext>
            </a:extLst>
          </p:cNvPr>
          <p:cNvSpPr>
            <a:spLocks xmlns:a="http://schemas.openxmlformats.org/drawingml/2006/main" noGrp="1"/>
          </p:cNvSpPr>
          <p:nvPr/>
        </p:nvSpPr>
        <p:spPr>
          <a:xfrm xmlns:a="http://schemas.openxmlformats.org/drawingml/2006/main">
            <a:off x="9258300" y="549592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A91FC90F-CF2D-4750-BC8F-B0D539D63AA9}"/>
              </a:ext>
            </a:extLst>
          </p:cNvPr>
          <p:cNvSpPr>
            <a:spLocks xmlns:a="http://schemas.openxmlformats.org/drawingml/2006/main" noGrp="1"/>
          </p:cNvSpPr>
          <p:nvPr/>
        </p:nvSpPr>
        <p:spPr>
          <a:xfrm xmlns:a="http://schemas.openxmlformats.org/drawingml/2006/main">
            <a:off x="9258300" y="57245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EA633EA-34D0-4BEB-872B-C30E1E712A00}"/>
              </a:ext>
            </a:extLst>
          </p:cNvPr>
          <p:cNvSpPr>
            <a:spLocks xmlns:a="http://schemas.openxmlformats.org/drawingml/2006/main" noGrp="1"/>
          </p:cNvSpPr>
          <p:nvPr/>
        </p:nvSpPr>
        <p:spPr>
          <a:xfrm xmlns:a="http://schemas.openxmlformats.org/drawingml/2006/main">
            <a:off x="9258300" y="6286500"/>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§2.2.3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9324748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C5C5E18D-41D8-4E8D-BFE7-B230B57EFF7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Inkomen, koffie en fitness</a:t>
            </a:r>
          </a:p>
        </p:txBody>
      </p:sp>
      <p:sp>
        <p:nvSpPr>
          <p:cNvPr id="2" name="">
            <a:extLst xmlns:a="http://schemas.openxmlformats.org/drawingml/2006/main">
              <a:ext uri="{FF2B5EF4-FFF2-40B4-BE49-F238E27FC236}">
                <a16:creationId xmlns:a16="http://schemas.microsoft.com/office/drawing/2014/main" id="{1E5B4480-5243-464A-8310-64BF5B69B6D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D9E39B3-5582-4D26-AEE4-7F4BA30D75DD}"/>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9018E2DD-1B12-47AE-9A98-3D6F46EE4BAD}"/>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Gebruik steeds de oude waarde als noemer.">
            <a:extLst xmlns:a="http://schemas.openxmlformats.org/drawingml/2006/main">
              <a:ext uri="{FF2B5EF4-FFF2-40B4-BE49-F238E27FC236}">
                <a16:creationId xmlns:a16="http://schemas.microsoft.com/office/drawing/2014/main" id="{2AA19FD1-BA5D-4648-922C-3DD11F1780EC}"/>
              </a:ext>
            </a:extLst>
          </p:cNvPr>
          <p:cNvSpPr>
            <a:spLocks xmlns:a="http://schemas.openxmlformats.org/drawingml/2006/main" noGrp="1"/>
          </p:cNvSpPr>
          <p:nvPr/>
        </p:nvSpPr>
        <p:spPr>
          <a:xfrm xmlns:a="http://schemas.openxmlformats.org/drawingml/2006/main">
            <a:off x="571500" y="179070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Gebruik steeds de oude waarde als noemer.</a:t>
            </a:r>
          </a:p>
        </p:txBody>
      </p:sp>
      <p:sp>
        <p:nvSpPr>
          <p:cNvPr id="6" name="Ei = %ΔQv / %ΔY">
            <a:extLst xmlns:a="http://schemas.openxmlformats.org/drawingml/2006/main">
              <a:ext uri="{FF2B5EF4-FFF2-40B4-BE49-F238E27FC236}">
                <a16:creationId xmlns:a16="http://schemas.microsoft.com/office/drawing/2014/main" id="{B6CC6BD8-3F72-43F5-B8B2-776967AF032C}"/>
              </a:ext>
            </a:extLst>
          </p:cNvPr>
          <p:cNvSpPr>
            <a:spLocks xmlns:a="http://schemas.openxmlformats.org/drawingml/2006/main" noGrp="1"/>
          </p:cNvSpPr>
          <p:nvPr/>
        </p:nvSpPr>
        <p:spPr>
          <a:xfrm xmlns:a="http://schemas.openxmlformats.org/drawingml/2006/main">
            <a:off x="571500" y="27717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Ei = %ΔQv / %ΔY</a:t>
            </a:r>
          </a:p>
        </p:txBody>
      </p:sp>
      <p:graphicFrame>
        <p:nvGraphicFramePr>
          <p:cNvPr id="17" name=""/>
          <p:cNvGraphicFramePr/>
          <p:nvPr/>
        </p:nvGraphicFramePr>
        <p:xfrm>
          <a:off xmlns:a="http://schemas.openxmlformats.org/drawingml/2006/main" x="571500" y="3714750"/>
          <a:ext xmlns:a="http://schemas.openxmlformats.org/drawingml/2006/main" cx="14097000" cy="1476375"/>
        </p:xfrm>
        <a:graphic xmlns:a="http://schemas.openxmlformats.org/drawingml/2006/main">
          <a:graphicData uri="http://schemas.openxmlformats.org/drawingml/2006/table">
            <a:tbl>
              <a:tblPr/>
              <a:tblGrid>
                <a:gridCol w="4714875"/>
                <a:gridCol w="4714875"/>
                <a:gridCol w="4667250"/>
              </a:tblGrid>
              <a:tr h="738188">
                <a:tc>
                  <a:txBody>
                    <a:bodyPr lIns="161925" tIns="95250" rIns="142875" bIns="95250"/>
                    <a:lstStyle/>
                    <a:p>
                      <a:r>
                        <a:rPr sz="2625" b="1">
                          <a:solidFill>
                            <a:srgbClr val="FFFFFF"/>
                          </a:solidFill>
                          <a:latin typeface="Arial"/>
                          <a:ea typeface="Arial"/>
                          <a:cs typeface="Arial"/>
                        </a:rPr>
                        <a:t>Ei &lt; 0</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0 &lt; Ei &lt; 1</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Ei &gt; 1</a:t>
                      </a:r>
                    </a:p>
                  </a:txBody>
                  <a:tcPr marL="91440" marR="91440" marT="45720" marB="45720" anchor="ctr">
                    <a:solidFill>
                      <a:srgbClr val="183247"/>
                    </a:solidFill>
                  </a:tcPr>
                </a:tc>
              </a:tr>
              <a:tr h="738188">
                <a:tc>
                  <a:txBody>
                    <a:bodyPr lIns="161925" tIns="95250" rIns="142875" bIns="95250"/>
                    <a:lstStyle/>
                    <a:p>
                      <a:r>
                        <a:rPr sz="2625" b="0">
                          <a:solidFill>
                            <a:srgbClr val="183247"/>
                          </a:solidFill>
                          <a:latin typeface="Arial"/>
                          <a:ea typeface="Arial"/>
                          <a:cs typeface="Arial"/>
                        </a:rPr>
                        <a:t>Inferieur goed</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Normaal goed</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Luxegoed</a:t>
                      </a:r>
                    </a:p>
                  </a:txBody>
                  <a:tcPr marL="91440" marR="91440" marT="45720" marB="45720" anchor="ctr">
                    <a:solidFill>
                      <a:srgbClr val="FFFFFF"/>
                    </a:solidFill>
                  </a:tcPr>
                </a:tc>
              </a:tr>
            </a:tbl>
          </a:graphicData>
        </a:graphic>
      </p:graphicFrame>
      <p:sp>
        <p:nvSpPr>
          <p:cNvPr id="8" name="Ei = 0 en Ei = 1 zijn grenswaarden.">
            <a:extLst xmlns:a="http://schemas.openxmlformats.org/drawingml/2006/main">
              <a:ext uri="{FF2B5EF4-FFF2-40B4-BE49-F238E27FC236}">
                <a16:creationId xmlns:a16="http://schemas.microsoft.com/office/drawing/2014/main" id="{D0996715-3B1D-4068-A95A-81245405DE29}"/>
              </a:ext>
            </a:extLst>
          </p:cNvPr>
          <p:cNvSpPr>
            <a:spLocks xmlns:a="http://schemas.openxmlformats.org/drawingml/2006/main" noGrp="1"/>
          </p:cNvSpPr>
          <p:nvPr/>
        </p:nvSpPr>
        <p:spPr>
          <a:xfrm xmlns:a="http://schemas.openxmlformats.org/drawingml/2006/main">
            <a:off x="571500" y="54959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Ei = 0 en Ei = 1 zijn grenswaarden.</a:t>
            </a:r>
          </a:p>
        </p:txBody>
      </p:sp>
      <p:sp>
        <p:nvSpPr>
          <p:cNvPr id="9" name="Ek = %ΔQv van goed X / %ΔP van een ander goed Z">
            <a:extLst xmlns:a="http://schemas.openxmlformats.org/drawingml/2006/main">
              <a:ext uri="{FF2B5EF4-FFF2-40B4-BE49-F238E27FC236}">
                <a16:creationId xmlns:a16="http://schemas.microsoft.com/office/drawing/2014/main" id="{423101FC-F211-4F57-AF4F-06EEBC1A17F9}"/>
              </a:ext>
            </a:extLst>
          </p:cNvPr>
          <p:cNvSpPr>
            <a:spLocks xmlns:a="http://schemas.openxmlformats.org/drawingml/2006/main" noGrp="1"/>
          </p:cNvSpPr>
          <p:nvPr/>
        </p:nvSpPr>
        <p:spPr>
          <a:xfrm xmlns:a="http://schemas.openxmlformats.org/drawingml/2006/main">
            <a:off x="571500" y="6315075"/>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Ek = %ΔQv van goed X / %ΔP van een ander goed Z</a:t>
            </a:r>
          </a:p>
        </p:txBody>
      </p:sp>
      <p:sp>
        <p:nvSpPr>
          <p:cNvPr id="10" name="Noem bij Ek altijd beide goederen.">
            <a:extLst xmlns:a="http://schemas.openxmlformats.org/drawingml/2006/main">
              <a:ext uri="{FF2B5EF4-FFF2-40B4-BE49-F238E27FC236}">
                <a16:creationId xmlns:a16="http://schemas.microsoft.com/office/drawing/2014/main" id="{5A87EEC0-B4C2-40A9-8472-8A40B6D849B3}"/>
              </a:ext>
            </a:extLst>
          </p:cNvPr>
          <p:cNvSpPr>
            <a:spLocks xmlns:a="http://schemas.openxmlformats.org/drawingml/2006/main" noGrp="1"/>
          </p:cNvSpPr>
          <p:nvPr/>
        </p:nvSpPr>
        <p:spPr>
          <a:xfrm xmlns:a="http://schemas.openxmlformats.org/drawingml/2006/main">
            <a:off x="571500" y="743902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Noem bij Ek altijd beide goederen.</a:t>
            </a:r>
          </a:p>
        </p:txBody>
      </p:sp>
    </p:spTree>
    <p:extLst>
      <p:ext uri="{BB962C8B-B14F-4D97-AF65-F5344CB8AC3E}">
        <p14:creationId xmlns:p14="http://schemas.microsoft.com/office/powerpoint/2010/main" val="151643635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5EDA01B5-CBB5-42B1-ACB4-CC359D36F3E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Bron inkomen en vragen a–b</a:t>
            </a:r>
          </a:p>
        </p:txBody>
      </p:sp>
      <p:sp>
        <p:nvSpPr>
          <p:cNvPr id="2" name="">
            <a:extLst xmlns:a="http://schemas.openxmlformats.org/drawingml/2006/main">
              <a:ext uri="{FF2B5EF4-FFF2-40B4-BE49-F238E27FC236}">
                <a16:creationId xmlns:a16="http://schemas.microsoft.com/office/drawing/2014/main" id="{00BC4D13-1CB7-4610-9A31-68E043AEB06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856ACE3-6B5F-40CB-BA84-D47DF268F440}"/>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9B8B0A32-1D89-4980-A848-1FCFE89C5B26}"/>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Het gemiddelde inkomen stijgt 5%.">
            <a:extLst xmlns:a="http://schemas.openxmlformats.org/drawingml/2006/main">
              <a:ext uri="{FF2B5EF4-FFF2-40B4-BE49-F238E27FC236}">
                <a16:creationId xmlns:a16="http://schemas.microsoft.com/office/drawing/2014/main" id="{97D62262-F248-426C-9762-D526A95A9708}"/>
              </a:ext>
            </a:extLst>
          </p:cNvPr>
          <p:cNvSpPr>
            <a:spLocks xmlns:a="http://schemas.openxmlformats.org/drawingml/2006/main" noGrp="1"/>
          </p:cNvSpPr>
          <p:nvPr/>
        </p:nvSpPr>
        <p:spPr>
          <a:xfrm xmlns:a="http://schemas.openxmlformats.org/drawingml/2006/main">
            <a:off x="571500" y="186690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Het gemiddelde inkomen stijgt 5%.</a:t>
            </a:r>
          </a:p>
        </p:txBody>
      </p:sp>
      <p:graphicFrame>
        <p:nvGraphicFramePr>
          <p:cNvPr id="14" name=""/>
          <p:cNvGraphicFramePr/>
          <p:nvPr/>
        </p:nvGraphicFramePr>
        <p:xfrm>
          <a:off xmlns:a="http://schemas.openxmlformats.org/drawingml/2006/main" x="571500" y="2952750"/>
          <a:ext xmlns:a="http://schemas.openxmlformats.org/drawingml/2006/main" cx="14097000" cy="2324100"/>
        </p:xfrm>
        <a:graphic xmlns:a="http://schemas.openxmlformats.org/drawingml/2006/main">
          <a:graphicData uri="http://schemas.openxmlformats.org/drawingml/2006/table">
            <a:tbl>
              <a:tblPr/>
              <a:tblGrid>
                <a:gridCol w="9048750"/>
                <a:gridCol w="5048250"/>
              </a:tblGrid>
              <a:tr h="774700">
                <a:tc>
                  <a:txBody>
                    <a:bodyPr lIns="161925" tIns="95250" rIns="142875" bIns="95250"/>
                    <a:lstStyle/>
                    <a:p>
                      <a:r>
                        <a:rPr sz="2775" b="1">
                          <a:solidFill>
                            <a:srgbClr val="FFFFFF"/>
                          </a:solidFill>
                          <a:latin typeface="Arial"/>
                          <a:ea typeface="Arial"/>
                          <a:cs typeface="Arial"/>
                        </a:rPr>
                        <a:t>Vraag naar</a:t>
                      </a:r>
                    </a:p>
                  </a:txBody>
                  <a:tcPr marL="91440" marR="91440" marT="45720" marB="45720" anchor="ctr">
                    <a:solidFill>
                      <a:srgbClr val="183247"/>
                    </a:solidFill>
                  </a:tcPr>
                </a:tc>
                <a:tc>
                  <a:txBody>
                    <a:bodyPr lIns="161925" tIns="95250" rIns="142875" bIns="95250"/>
                    <a:lstStyle/>
                    <a:p>
                      <a:r>
                        <a:rPr sz="2775" b="1">
                          <a:solidFill>
                            <a:srgbClr val="FFFFFF"/>
                          </a:solidFill>
                          <a:latin typeface="Arial"/>
                          <a:ea typeface="Arial"/>
                          <a:cs typeface="Arial"/>
                        </a:rPr>
                        <a:t>Verandering</a:t>
                      </a:r>
                    </a:p>
                  </a:txBody>
                  <a:tcPr marL="91440" marR="91440" marT="45720" marB="45720" anchor="ctr">
                    <a:solidFill>
                      <a:srgbClr val="183247"/>
                    </a:solidFill>
                  </a:tcPr>
                </a:tc>
              </a:tr>
              <a:tr h="774700">
                <a:tc>
                  <a:txBody>
                    <a:bodyPr lIns="161925" tIns="95250" rIns="142875" bIns="95250"/>
                    <a:lstStyle/>
                    <a:p>
                      <a:r>
                        <a:rPr sz="2775" b="0">
                          <a:solidFill>
                            <a:srgbClr val="183247"/>
                          </a:solidFill>
                          <a:latin typeface="Arial"/>
                          <a:ea typeface="Arial"/>
                          <a:cs typeface="Arial"/>
                        </a:rPr>
                        <a:t>Maaltijdpakketten</a:t>
                      </a:r>
                    </a:p>
                  </a:txBody>
                  <a:tcPr marL="91440" marR="91440" marT="45720" marB="45720" anchor="ctr">
                    <a:solidFill>
                      <a:srgbClr val="FFFFFF"/>
                    </a:solidFill>
                  </a:tcPr>
                </a:tc>
                <a:tc>
                  <a:txBody>
                    <a:bodyPr lIns="161925" tIns="95250" rIns="142875" bIns="95250"/>
                    <a:lstStyle/>
                    <a:p>
                      <a:r>
                        <a:rPr sz="2775" b="0">
                          <a:solidFill>
                            <a:srgbClr val="183247"/>
                          </a:solidFill>
                          <a:latin typeface="Arial"/>
                          <a:ea typeface="Arial"/>
                          <a:cs typeface="Arial"/>
                        </a:rPr>
                        <a:t>Stijgt 8%</a:t>
                      </a:r>
                    </a:p>
                  </a:txBody>
                  <a:tcPr marL="91440" marR="91440" marT="45720" marB="45720" anchor="ctr">
                    <a:solidFill>
                      <a:srgbClr val="FFFFFF"/>
                    </a:solidFill>
                  </a:tcPr>
                </a:tc>
              </a:tr>
              <a:tr h="774700">
                <a:tc>
                  <a:txBody>
                    <a:bodyPr lIns="161925" tIns="95250" rIns="142875" bIns="95250"/>
                    <a:lstStyle/>
                    <a:p>
                      <a:r>
                        <a:rPr sz="2775" b="0">
                          <a:solidFill>
                            <a:srgbClr val="183247"/>
                          </a:solidFill>
                          <a:latin typeface="Arial"/>
                          <a:ea typeface="Arial"/>
                          <a:cs typeface="Arial"/>
                        </a:rPr>
                        <a:t>Budgetnoedels</a:t>
                      </a:r>
                    </a:p>
                  </a:txBody>
                  <a:tcPr marL="91440" marR="91440" marT="45720" marB="45720" anchor="ctr">
                    <a:solidFill>
                      <a:srgbClr val="EFF4F7"/>
                    </a:solidFill>
                  </a:tcPr>
                </a:tc>
                <a:tc>
                  <a:txBody>
                    <a:bodyPr lIns="161925" tIns="95250" rIns="142875" bIns="95250"/>
                    <a:lstStyle/>
                    <a:p>
                      <a:r>
                        <a:rPr sz="2775" b="0">
                          <a:solidFill>
                            <a:srgbClr val="183247"/>
                          </a:solidFill>
                          <a:latin typeface="Arial"/>
                          <a:ea typeface="Arial"/>
                          <a:cs typeface="Arial"/>
                        </a:rPr>
                        <a:t>Daalt 3%</a:t>
                      </a:r>
                    </a:p>
                  </a:txBody>
                  <a:tcPr marL="91440" marR="91440" marT="45720" marB="45720" anchor="ctr">
                    <a:solidFill>
                      <a:srgbClr val="EFF4F7"/>
                    </a:solidFill>
                  </a:tcPr>
                </a:tc>
              </a:tr>
            </a:tbl>
          </a:graphicData>
        </a:graphic>
      </p:graphicFrame>
      <p:sp>
        <p:nvSpPr>
          <p:cNvPr id="7" name="a) Bereken met bron inkomen Ei voor maaltijdpakketten en bud">
            <a:extLst xmlns:a="http://schemas.openxmlformats.org/drawingml/2006/main">
              <a:ext uri="{FF2B5EF4-FFF2-40B4-BE49-F238E27FC236}">
                <a16:creationId xmlns:a16="http://schemas.microsoft.com/office/drawing/2014/main" id="{5AF5B8E3-DDE8-4016-A234-9C0E4F57563F}"/>
              </a:ext>
            </a:extLst>
          </p:cNvPr>
          <p:cNvSpPr>
            <a:spLocks xmlns:a="http://schemas.openxmlformats.org/drawingml/2006/main" noGrp="1"/>
          </p:cNvSpPr>
          <p:nvPr/>
        </p:nvSpPr>
        <p:spPr>
          <a:xfrm xmlns:a="http://schemas.openxmlformats.org/drawingml/2006/main">
            <a:off x="571500" y="5905500"/>
            <a:ext cx="14097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a) Bereken met bron inkomen Ei voor maaltijdpakketten en budgetnoedels. (3 punten)</a:t>
            </a:r>
          </a:p>
        </p:txBody>
      </p:sp>
      <p:sp>
        <p:nvSpPr>
          <p:cNvPr id="8" name="b) Classificeer beide goederen met de drie categorieën uit d">
            <a:extLst xmlns:a="http://schemas.openxmlformats.org/drawingml/2006/main">
              <a:ext uri="{FF2B5EF4-FFF2-40B4-BE49-F238E27FC236}">
                <a16:creationId xmlns:a16="http://schemas.microsoft.com/office/drawing/2014/main" id="{42F2B986-2A4E-4E11-A961-C1BB2629433C}"/>
              </a:ext>
            </a:extLst>
          </p:cNvPr>
          <p:cNvSpPr>
            <a:spLocks xmlns:a="http://schemas.openxmlformats.org/drawingml/2006/main" noGrp="1"/>
          </p:cNvSpPr>
          <p:nvPr/>
        </p:nvSpPr>
        <p:spPr>
          <a:xfrm xmlns:a="http://schemas.openxmlformats.org/drawingml/2006/main">
            <a:off x="571500" y="71628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 Classificeer beide goederen met de drie categorieën uit de context. (2 punten)</a:t>
            </a:r>
          </a:p>
        </p:txBody>
      </p:sp>
    </p:spTree>
    <p:extLst>
      <p:ext uri="{BB962C8B-B14F-4D97-AF65-F5344CB8AC3E}">
        <p14:creationId xmlns:p14="http://schemas.microsoft.com/office/powerpoint/2010/main" val="161103656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3FF289FA-AEAE-48C8-B177-24EACC07857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Bron koffie en vraag c</a:t>
            </a:r>
          </a:p>
        </p:txBody>
      </p:sp>
      <p:sp>
        <p:nvSpPr>
          <p:cNvPr id="2" name="">
            <a:extLst xmlns:a="http://schemas.openxmlformats.org/drawingml/2006/main">
              <a:ext uri="{FF2B5EF4-FFF2-40B4-BE49-F238E27FC236}">
                <a16:creationId xmlns:a16="http://schemas.microsoft.com/office/drawing/2014/main" id="{7CB44E7F-8283-4A1E-9102-F4D9269C15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9BFB78B-D016-4082-85FA-A459824A92F5}"/>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ED5E4064-561F-46DA-BDBE-706DD02BA7D7}"/>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De koffieprijs stijgt 10%.">
            <a:extLst xmlns:a="http://schemas.openxmlformats.org/drawingml/2006/main">
              <a:ext uri="{FF2B5EF4-FFF2-40B4-BE49-F238E27FC236}">
                <a16:creationId xmlns:a16="http://schemas.microsoft.com/office/drawing/2014/main" id="{DE21398F-4B55-4B09-B6C8-BD23F3DFEF88}"/>
              </a:ext>
            </a:extLst>
          </p:cNvPr>
          <p:cNvSpPr>
            <a:spLocks xmlns:a="http://schemas.openxmlformats.org/drawingml/2006/main" noGrp="1"/>
          </p:cNvSpPr>
          <p:nvPr/>
        </p:nvSpPr>
        <p:spPr>
          <a:xfrm xmlns:a="http://schemas.openxmlformats.org/drawingml/2006/main">
            <a:off x="571500" y="18478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De koffieprijs stijgt 10%.</a:t>
            </a:r>
          </a:p>
        </p:txBody>
      </p:sp>
      <p:graphicFrame>
        <p:nvGraphicFramePr>
          <p:cNvPr id="13" name=""/>
          <p:cNvGraphicFramePr/>
          <p:nvPr/>
        </p:nvGraphicFramePr>
        <p:xfrm>
          <a:off xmlns:a="http://schemas.openxmlformats.org/drawingml/2006/main" x="571500" y="2924175"/>
          <a:ext xmlns:a="http://schemas.openxmlformats.org/drawingml/2006/main" cx="14097000" cy="2352675"/>
        </p:xfrm>
        <a:graphic xmlns:a="http://schemas.openxmlformats.org/drawingml/2006/main">
          <a:graphicData uri="http://schemas.openxmlformats.org/drawingml/2006/table">
            <a:tbl>
              <a:tblPr/>
              <a:tblGrid>
                <a:gridCol w="9048750"/>
                <a:gridCol w="5048250"/>
              </a:tblGrid>
              <a:tr h="784225">
                <a:tc>
                  <a:txBody>
                    <a:bodyPr lIns="161925" tIns="95250" rIns="142875" bIns="95250"/>
                    <a:lstStyle/>
                    <a:p>
                      <a:r>
                        <a:rPr sz="2775" b="1">
                          <a:solidFill>
                            <a:srgbClr val="FFFFFF"/>
                          </a:solidFill>
                          <a:latin typeface="Arial"/>
                          <a:ea typeface="Arial"/>
                          <a:cs typeface="Arial"/>
                        </a:rPr>
                        <a:t>Vraag naar</a:t>
                      </a:r>
                    </a:p>
                  </a:txBody>
                  <a:tcPr marL="91440" marR="91440" marT="45720" marB="45720" anchor="ctr">
                    <a:solidFill>
                      <a:srgbClr val="183247"/>
                    </a:solidFill>
                  </a:tcPr>
                </a:tc>
                <a:tc>
                  <a:txBody>
                    <a:bodyPr lIns="161925" tIns="95250" rIns="142875" bIns="95250"/>
                    <a:lstStyle/>
                    <a:p>
                      <a:r>
                        <a:rPr sz="2775" b="1">
                          <a:solidFill>
                            <a:srgbClr val="FFFFFF"/>
                          </a:solidFill>
                          <a:latin typeface="Arial"/>
                          <a:ea typeface="Arial"/>
                          <a:cs typeface="Arial"/>
                        </a:rPr>
                        <a:t>Verandering</a:t>
                      </a:r>
                    </a:p>
                  </a:txBody>
                  <a:tcPr marL="91440" marR="91440" marT="45720" marB="45720" anchor="ctr">
                    <a:solidFill>
                      <a:srgbClr val="183247"/>
                    </a:solidFill>
                  </a:tcPr>
                </a:tc>
              </a:tr>
              <a:tr h="784225">
                <a:tc>
                  <a:txBody>
                    <a:bodyPr lIns="161925" tIns="95250" rIns="142875" bIns="95250"/>
                    <a:lstStyle/>
                    <a:p>
                      <a:r>
                        <a:rPr sz="2775" b="0">
                          <a:solidFill>
                            <a:srgbClr val="183247"/>
                          </a:solidFill>
                          <a:latin typeface="Arial"/>
                          <a:ea typeface="Arial"/>
                          <a:cs typeface="Arial"/>
                        </a:rPr>
                        <a:t>Thee</a:t>
                      </a:r>
                    </a:p>
                  </a:txBody>
                  <a:tcPr marL="91440" marR="91440" marT="45720" marB="45720" anchor="ctr">
                    <a:solidFill>
                      <a:srgbClr val="FFFFFF"/>
                    </a:solidFill>
                  </a:tcPr>
                </a:tc>
                <a:tc>
                  <a:txBody>
                    <a:bodyPr lIns="161925" tIns="95250" rIns="142875" bIns="95250"/>
                    <a:lstStyle/>
                    <a:p>
                      <a:r>
                        <a:rPr sz="2775" b="0">
                          <a:solidFill>
                            <a:srgbClr val="183247"/>
                          </a:solidFill>
                          <a:latin typeface="Arial"/>
                          <a:ea typeface="Arial"/>
                          <a:cs typeface="Arial"/>
                        </a:rPr>
                        <a:t>Stijgt 4%</a:t>
                      </a:r>
                    </a:p>
                  </a:txBody>
                  <a:tcPr marL="91440" marR="91440" marT="45720" marB="45720" anchor="ctr">
                    <a:solidFill>
                      <a:srgbClr val="FFFFFF"/>
                    </a:solidFill>
                  </a:tcPr>
                </a:tc>
              </a:tr>
              <a:tr h="784225">
                <a:tc>
                  <a:txBody>
                    <a:bodyPr lIns="161925" tIns="95250" rIns="142875" bIns="95250"/>
                    <a:lstStyle/>
                    <a:p>
                      <a:r>
                        <a:rPr sz="2775" b="0">
                          <a:solidFill>
                            <a:srgbClr val="183247"/>
                          </a:solidFill>
                          <a:latin typeface="Arial"/>
                          <a:ea typeface="Arial"/>
                          <a:cs typeface="Arial"/>
                        </a:rPr>
                        <a:t>Koffiefilters</a:t>
                      </a:r>
                    </a:p>
                  </a:txBody>
                  <a:tcPr marL="91440" marR="91440" marT="45720" marB="45720" anchor="ctr">
                    <a:solidFill>
                      <a:srgbClr val="EFF4F7"/>
                    </a:solidFill>
                  </a:tcPr>
                </a:tc>
                <a:tc>
                  <a:txBody>
                    <a:bodyPr lIns="161925" tIns="95250" rIns="142875" bIns="95250"/>
                    <a:lstStyle/>
                    <a:p>
                      <a:r>
                        <a:rPr sz="2775" b="0">
                          <a:solidFill>
                            <a:srgbClr val="183247"/>
                          </a:solidFill>
                          <a:latin typeface="Arial"/>
                          <a:ea typeface="Arial"/>
                          <a:cs typeface="Arial"/>
                        </a:rPr>
                        <a:t>Daalt 6%</a:t>
                      </a:r>
                    </a:p>
                  </a:txBody>
                  <a:tcPr marL="91440" marR="91440" marT="45720" marB="45720" anchor="ctr">
                    <a:solidFill>
                      <a:srgbClr val="EFF4F7"/>
                    </a:solidFill>
                  </a:tcPr>
                </a:tc>
              </a:tr>
            </a:tbl>
          </a:graphicData>
        </a:graphic>
      </p:graphicFrame>
      <p:sp>
        <p:nvSpPr>
          <p:cNvPr id="7" name="c) Bereken met bron koffie Ek voor de vraag naar thee ten op">
            <a:extLst xmlns:a="http://schemas.openxmlformats.org/drawingml/2006/main">
              <a:ext uri="{FF2B5EF4-FFF2-40B4-BE49-F238E27FC236}">
                <a16:creationId xmlns:a16="http://schemas.microsoft.com/office/drawing/2014/main" id="{08464B3D-81BF-4FF6-964A-2008206BAD59}"/>
              </a:ext>
            </a:extLst>
          </p:cNvPr>
          <p:cNvSpPr>
            <a:spLocks xmlns:a="http://schemas.openxmlformats.org/drawingml/2006/main" noGrp="1"/>
          </p:cNvSpPr>
          <p:nvPr/>
        </p:nvSpPr>
        <p:spPr>
          <a:xfrm xmlns:a="http://schemas.openxmlformats.org/drawingml/2006/main">
            <a:off x="571500" y="5905500"/>
            <a:ext cx="1409700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 Bereken met bron koffie Ek voor de vraag naar thee ten opzichte van de koffieprijs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en voor de vraag naar koffiefilters ten opzichte van de koffieprijs.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Noem teller- en noemergoed en classificeer de relaties. (4 punten)</a:t>
            </a:r>
          </a:p>
        </p:txBody>
      </p:sp>
    </p:spTree>
    <p:extLst>
      <p:ext uri="{BB962C8B-B14F-4D97-AF65-F5344CB8AC3E}">
        <p14:creationId xmlns:p14="http://schemas.microsoft.com/office/powerpoint/2010/main" val="5827994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5CB841C8-F37C-48D7-A207-11F17740398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Bron functie</a:t>
            </a:r>
          </a:p>
        </p:txBody>
      </p:sp>
      <p:sp>
        <p:nvSpPr>
          <p:cNvPr id="2" name="">
            <a:extLst xmlns:a="http://schemas.openxmlformats.org/drawingml/2006/main">
              <a:ext uri="{FF2B5EF4-FFF2-40B4-BE49-F238E27FC236}">
                <a16:creationId xmlns:a16="http://schemas.microsoft.com/office/drawing/2014/main" id="{DF24FE21-9821-4958-8888-AD7B7EA9247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3E1AAFB-2577-4002-9074-027253BB97F2}"/>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974ECE69-1A53-476F-8699-2D30FAA4E482}"/>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Fitnessdienst X en concurrerende sportdienst Z">
            <a:extLst xmlns:a="http://schemas.openxmlformats.org/drawingml/2006/main">
              <a:ext uri="{FF2B5EF4-FFF2-40B4-BE49-F238E27FC236}">
                <a16:creationId xmlns:a16="http://schemas.microsoft.com/office/drawing/2014/main" id="{0D07823E-A483-4357-8402-B4AB6519C19F}"/>
              </a:ext>
            </a:extLst>
          </p:cNvPr>
          <p:cNvSpPr>
            <a:spLocks xmlns:a="http://schemas.openxmlformats.org/drawingml/2006/main" noGrp="1"/>
          </p:cNvSpPr>
          <p:nvPr/>
        </p:nvSpPr>
        <p:spPr>
          <a:xfrm xmlns:a="http://schemas.openxmlformats.org/drawingml/2006/main">
            <a:off x="571500" y="1762125"/>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Fitnessdienst X en concurrerende sportdienst Z</a:t>
            </a:r>
          </a:p>
        </p:txBody>
      </p:sp>
      <p:sp>
        <p:nvSpPr>
          <p:cNvPr id="6" name="Qx = 100 − 2Px + 0,5Pz + 0,01Y">
            <a:extLst xmlns:a="http://schemas.openxmlformats.org/drawingml/2006/main">
              <a:ext uri="{FF2B5EF4-FFF2-40B4-BE49-F238E27FC236}">
                <a16:creationId xmlns:a16="http://schemas.microsoft.com/office/drawing/2014/main" id="{DD1F1BCA-4128-4C17-ACE9-D3ACC5CED98C}"/>
              </a:ext>
            </a:extLst>
          </p:cNvPr>
          <p:cNvSpPr>
            <a:spLocks xmlns:a="http://schemas.openxmlformats.org/drawingml/2006/main" noGrp="1"/>
          </p:cNvSpPr>
          <p:nvPr/>
        </p:nvSpPr>
        <p:spPr>
          <a:xfrm xmlns:a="http://schemas.openxmlformats.org/drawingml/2006/main">
            <a:off x="571500" y="276225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Qx = 100 − 2Px + 0,5Pz + 0,01Y</a:t>
            </a:r>
          </a:p>
        </p:txBody>
      </p:sp>
      <p:graphicFrame>
        <p:nvGraphicFramePr>
          <p:cNvPr id="14" name=""/>
          <p:cNvGraphicFramePr/>
          <p:nvPr/>
        </p:nvGraphicFramePr>
        <p:xfrm>
          <a:off xmlns:a="http://schemas.openxmlformats.org/drawingml/2006/main" x="571500" y="3905250"/>
          <a:ext xmlns:a="http://schemas.openxmlformats.org/drawingml/2006/main" cx="14097000" cy="3581400"/>
        </p:xfrm>
        <a:graphic xmlns:a="http://schemas.openxmlformats.org/drawingml/2006/main">
          <a:graphicData uri="http://schemas.openxmlformats.org/drawingml/2006/table">
            <a:tbl>
              <a:tblPr/>
              <a:tblGrid>
                <a:gridCol w="2047875"/>
                <a:gridCol w="9096375"/>
                <a:gridCol w="2952750"/>
              </a:tblGrid>
              <a:tr h="716280">
                <a:tc>
                  <a:txBody>
                    <a:bodyPr lIns="161925" tIns="95250" rIns="142875" bIns="95250"/>
                    <a:lstStyle/>
                    <a:p>
                      <a:r>
                        <a:rPr sz="2325" b="1">
                          <a:solidFill>
                            <a:srgbClr val="FFFFFF"/>
                          </a:solidFill>
                          <a:latin typeface="Arial"/>
                          <a:ea typeface="Arial"/>
                          <a:cs typeface="Arial"/>
                        </a:rPr>
                        <a:t>Symbool</a:t>
                      </a:r>
                    </a:p>
                  </a:txBody>
                  <a:tcPr marL="91440" marR="91440" marT="45720" marB="45720" anchor="ctr">
                    <a:solidFill>
                      <a:srgbClr val="183247"/>
                    </a:solidFill>
                  </a:tcPr>
                </a:tc>
                <a:tc>
                  <a:txBody>
                    <a:bodyPr lIns="161925" tIns="95250" rIns="142875" bIns="95250"/>
                    <a:lstStyle/>
                    <a:p>
                      <a:r>
                        <a:rPr sz="2325" b="1">
                          <a:solidFill>
                            <a:srgbClr val="FFFFFF"/>
                          </a:solidFill>
                          <a:latin typeface="Arial"/>
                          <a:ea typeface="Arial"/>
                          <a:cs typeface="Arial"/>
                        </a:rPr>
                        <a:t>Betekenis en eenheid</a:t>
                      </a:r>
                    </a:p>
                  </a:txBody>
                  <a:tcPr marL="91440" marR="91440" marT="45720" marB="45720" anchor="ctr">
                    <a:solidFill>
                      <a:srgbClr val="183247"/>
                    </a:solidFill>
                  </a:tcPr>
                </a:tc>
                <a:tc>
                  <a:txBody>
                    <a:bodyPr lIns="161925" tIns="95250" rIns="142875" bIns="95250"/>
                    <a:lstStyle/>
                    <a:p>
                      <a:r>
                        <a:rPr sz="2325" b="1">
                          <a:solidFill>
                            <a:srgbClr val="FFFFFF"/>
                          </a:solidFill>
                          <a:latin typeface="Arial"/>
                          <a:ea typeface="Arial"/>
                          <a:cs typeface="Arial"/>
                        </a:rPr>
                        <a:t>Beginsituatie</a:t>
                      </a:r>
                    </a:p>
                  </a:txBody>
                  <a:tcPr marL="91440" marR="91440" marT="45720" marB="45720" anchor="ctr">
                    <a:solidFill>
                      <a:srgbClr val="183247"/>
                    </a:solidFill>
                  </a:tcPr>
                </a:tc>
              </a:tr>
              <a:tr h="716280">
                <a:tc>
                  <a:txBody>
                    <a:bodyPr lIns="161925" tIns="95250" rIns="142875" bIns="95250"/>
                    <a:lstStyle/>
                    <a:p>
                      <a:r>
                        <a:rPr sz="2325" b="0">
                          <a:solidFill>
                            <a:srgbClr val="183247"/>
                          </a:solidFill>
                          <a:latin typeface="Arial"/>
                          <a:ea typeface="Arial"/>
                          <a:cs typeface="Arial"/>
                        </a:rPr>
                        <a:t>Qx</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Gevraagde abonnementen van X per maand</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Te berekenen</a:t>
                      </a:r>
                    </a:p>
                  </a:txBody>
                  <a:tcPr marL="91440" marR="91440" marT="45720" marB="45720" anchor="ctr">
                    <a:solidFill>
                      <a:srgbClr val="FFFFFF"/>
                    </a:solidFill>
                  </a:tcPr>
                </a:tc>
              </a:tr>
              <a:tr h="716280">
                <a:tc>
                  <a:txBody>
                    <a:bodyPr lIns="161925" tIns="95250" rIns="142875" bIns="95250"/>
                    <a:lstStyle/>
                    <a:p>
                      <a:r>
                        <a:rPr sz="2325" b="0">
                          <a:solidFill>
                            <a:srgbClr val="183247"/>
                          </a:solidFill>
                          <a:latin typeface="Arial"/>
                          <a:ea typeface="Arial"/>
                          <a:cs typeface="Arial"/>
                        </a:rPr>
                        <a:t>Px</a:t>
                      </a:r>
                    </a:p>
                  </a:txBody>
                  <a:tcPr marL="91440" marR="91440" marT="45720" marB="45720" anchor="ctr">
                    <a:solidFill>
                      <a:srgbClr val="EFF4F7"/>
                    </a:solidFill>
                  </a:tcPr>
                </a:tc>
                <a:tc>
                  <a:txBody>
                    <a:bodyPr lIns="161925" tIns="95250" rIns="142875" bIns="95250"/>
                    <a:lstStyle/>
                    <a:p>
                      <a:r>
                        <a:rPr sz="2325" b="0">
                          <a:solidFill>
                            <a:srgbClr val="183247"/>
                          </a:solidFill>
                          <a:latin typeface="Arial"/>
                          <a:ea typeface="Arial"/>
                          <a:cs typeface="Arial"/>
                        </a:rPr>
                        <a:t>Maandprijs fitnessdienst X in euro</a:t>
                      </a:r>
                    </a:p>
                  </a:txBody>
                  <a:tcPr marL="91440" marR="91440" marT="45720" marB="45720" anchor="ctr">
                    <a:solidFill>
                      <a:srgbClr val="EFF4F7"/>
                    </a:solidFill>
                  </a:tcPr>
                </a:tc>
                <a:tc>
                  <a:txBody>
                    <a:bodyPr lIns="161925" tIns="95250" rIns="142875" bIns="95250"/>
                    <a:lstStyle/>
                    <a:p>
                      <a:r>
                        <a:rPr sz="2325" b="0">
                          <a:solidFill>
                            <a:srgbClr val="183247"/>
                          </a:solidFill>
                          <a:latin typeface="Arial"/>
                          <a:ea typeface="Arial"/>
                          <a:cs typeface="Arial"/>
                        </a:rPr>
                        <a:t>10</a:t>
                      </a:r>
                    </a:p>
                  </a:txBody>
                  <a:tcPr marL="91440" marR="91440" marT="45720" marB="45720" anchor="ctr">
                    <a:solidFill>
                      <a:srgbClr val="EFF4F7"/>
                    </a:solidFill>
                  </a:tcPr>
                </a:tc>
              </a:tr>
              <a:tr h="716280">
                <a:tc>
                  <a:txBody>
                    <a:bodyPr lIns="161925" tIns="95250" rIns="142875" bIns="95250"/>
                    <a:lstStyle/>
                    <a:p>
                      <a:r>
                        <a:rPr sz="2325" b="0">
                          <a:solidFill>
                            <a:srgbClr val="183247"/>
                          </a:solidFill>
                          <a:latin typeface="Arial"/>
                          <a:ea typeface="Arial"/>
                          <a:cs typeface="Arial"/>
                        </a:rPr>
                        <a:t>Pz</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Maandprijs concurrerende sportdienst Z in euro</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20</a:t>
                      </a:r>
                    </a:p>
                  </a:txBody>
                  <a:tcPr marL="91440" marR="91440" marT="45720" marB="45720" anchor="ctr">
                    <a:solidFill>
                      <a:srgbClr val="FFFFFF"/>
                    </a:solidFill>
                  </a:tcPr>
                </a:tc>
              </a:tr>
              <a:tr h="716280">
                <a:tc>
                  <a:txBody>
                    <a:bodyPr lIns="161925" tIns="95250" rIns="142875" bIns="95250"/>
                    <a:lstStyle/>
                    <a:p>
                      <a:r>
                        <a:rPr sz="2325" b="0">
                          <a:solidFill>
                            <a:srgbClr val="183247"/>
                          </a:solidFill>
                          <a:latin typeface="Arial"/>
                          <a:ea typeface="Arial"/>
                          <a:cs typeface="Arial"/>
                        </a:rPr>
                        <a:t>Y</a:t>
                      </a:r>
                    </a:p>
                  </a:txBody>
                  <a:tcPr marL="91440" marR="91440" marT="45720" marB="45720" anchor="ctr">
                    <a:solidFill>
                      <a:srgbClr val="EFF4F7"/>
                    </a:solidFill>
                  </a:tcPr>
                </a:tc>
                <a:tc>
                  <a:txBody>
                    <a:bodyPr lIns="161925" tIns="95250" rIns="142875" bIns="95250"/>
                    <a:lstStyle/>
                    <a:p>
                      <a:r>
                        <a:rPr sz="2325" b="0">
                          <a:solidFill>
                            <a:srgbClr val="183247"/>
                          </a:solidFill>
                          <a:latin typeface="Arial"/>
                          <a:ea typeface="Arial"/>
                          <a:cs typeface="Arial"/>
                        </a:rPr>
                        <a:t>Gemiddeld jaarinkomen in euro</a:t>
                      </a:r>
                    </a:p>
                  </a:txBody>
                  <a:tcPr marL="91440" marR="91440" marT="45720" marB="45720" anchor="ctr">
                    <a:solidFill>
                      <a:srgbClr val="EFF4F7"/>
                    </a:solidFill>
                  </a:tcPr>
                </a:tc>
                <a:tc>
                  <a:txBody>
                    <a:bodyPr lIns="161925" tIns="95250" rIns="142875" bIns="95250"/>
                    <a:lstStyle/>
                    <a:p>
                      <a:r>
                        <a:rPr sz="2325" b="0">
                          <a:solidFill>
                            <a:srgbClr val="183247"/>
                          </a:solidFill>
                          <a:latin typeface="Arial"/>
                          <a:ea typeface="Arial"/>
                          <a:cs typeface="Arial"/>
                        </a:rPr>
                        <a:t>30.000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51573329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5E6EB005-29DD-4981-B1FC-B8AB19C4E93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Vragen d en e</a:t>
            </a:r>
          </a:p>
        </p:txBody>
      </p:sp>
      <p:sp>
        <p:nvSpPr>
          <p:cNvPr id="2" name="">
            <a:extLst xmlns:a="http://schemas.openxmlformats.org/drawingml/2006/main">
              <a:ext uri="{FF2B5EF4-FFF2-40B4-BE49-F238E27FC236}">
                <a16:creationId xmlns:a16="http://schemas.microsoft.com/office/drawing/2014/main" id="{7B6496E5-B411-4FCD-A07F-6C42E094EB1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F1FB7A9-6B7D-4F1A-96AF-48976D0EF1D8}"/>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54E134EC-BB09-45EB-9B12-DAAAAC51BA9D}"/>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d) Bereken Qx in de beginsituatie en nadat alleen Y stijgt n">
            <a:extLst xmlns:a="http://schemas.openxmlformats.org/drawingml/2006/main">
              <a:ext uri="{FF2B5EF4-FFF2-40B4-BE49-F238E27FC236}">
                <a16:creationId xmlns:a16="http://schemas.microsoft.com/office/drawing/2014/main" id="{9BF7F5F1-F138-4F42-BC0D-7F7DF1CF4EB9}"/>
              </a:ext>
            </a:extLst>
          </p:cNvPr>
          <p:cNvSpPr>
            <a:spLocks xmlns:a="http://schemas.openxmlformats.org/drawingml/2006/main" noGrp="1"/>
          </p:cNvSpPr>
          <p:nvPr/>
        </p:nvSpPr>
        <p:spPr>
          <a:xfrm xmlns:a="http://schemas.openxmlformats.org/drawingml/2006/main">
            <a:off x="571500" y="2038350"/>
            <a:ext cx="14097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 Bereken Qx in de beginsituatie en nadat alleen Y stijgt naar 33.000. Bereken daarna %ΔQx, Ei en classificeer fitnessdienst X. Leg uit wat met Qx gebeurt en welke variabelen gelijk blijven. (4 punten)</a:t>
            </a:r>
          </a:p>
        </p:txBody>
      </p:sp>
      <p:sp>
        <p:nvSpPr>
          <p:cNvPr id="6" name="">
            <a:extLst xmlns:a="http://schemas.openxmlformats.org/drawingml/2006/main">
              <a:ext uri="{FF2B5EF4-FFF2-40B4-BE49-F238E27FC236}">
                <a16:creationId xmlns:a16="http://schemas.microsoft.com/office/drawing/2014/main" id="{AA57ED1F-AC17-4798-8BA5-B2D4114D7F94}"/>
              </a:ext>
            </a:extLst>
          </p:cNvPr>
          <p:cNvSpPr>
            <a:spLocks xmlns:a="http://schemas.openxmlformats.org/drawingml/2006/main" noGrp="1"/>
          </p:cNvSpPr>
          <p:nvPr/>
        </p:nvSpPr>
        <p:spPr>
          <a:xfrm xmlns:a="http://schemas.openxmlformats.org/drawingml/2006/main">
            <a:off x="571500" y="4543425"/>
            <a:ext cx="14097000" cy="0"/>
          </a:xfrm>
          <a:prstGeom xmlns:a="http://schemas.openxmlformats.org/drawingml/2006/main" prst="line">
            <a:avLst/>
          </a:prstGeom>
          <a:ln xmlns:a="http://schemas.openxmlformats.org/drawingml/2006/main" w="19050">
            <a:solidFill>
              <a:srgbClr val="C6D2DB"/>
            </a:solidFill>
          </a:ln>
        </p:spPr>
      </p:sp>
      <p:sp>
        <p:nvSpPr>
          <p:cNvPr id="7" name="e) Zet Y terug op 30.000. Bereken Qx nadat alleen Pz stijgt ">
            <a:extLst xmlns:a="http://schemas.openxmlformats.org/drawingml/2006/main">
              <a:ext uri="{FF2B5EF4-FFF2-40B4-BE49-F238E27FC236}">
                <a16:creationId xmlns:a16="http://schemas.microsoft.com/office/drawing/2014/main" id="{DE95378A-9A2B-4023-8062-DF86B1A682DB}"/>
              </a:ext>
            </a:extLst>
          </p:cNvPr>
          <p:cNvSpPr>
            <a:spLocks xmlns:a="http://schemas.openxmlformats.org/drawingml/2006/main" noGrp="1"/>
          </p:cNvSpPr>
          <p:nvPr/>
        </p:nvSpPr>
        <p:spPr>
          <a:xfrm xmlns:a="http://schemas.openxmlformats.org/drawingml/2006/main">
            <a:off x="571500" y="5153025"/>
            <a:ext cx="14097000" cy="2066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 Zet Y terug op 30.000. Bereken Qx nadat alleen Pz stijgt van 20 naar 24. Leg uit welke richting het verband tussen Pz en Qx heeft en welke variabelen gelijk blijven.</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(3 punten)</a:t>
            </a:r>
          </a:p>
        </p:txBody>
      </p:sp>
    </p:spTree>
    <p:extLst>
      <p:ext uri="{BB962C8B-B14F-4D97-AF65-F5344CB8AC3E}">
        <p14:creationId xmlns:p14="http://schemas.microsoft.com/office/powerpoint/2010/main" val="14756808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A610F8CC-8200-4D9E-A30C-2C9D788D9A4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8a–b · Inkomen en categorie</a:t>
            </a:r>
          </a:p>
        </p:txBody>
      </p:sp>
      <p:sp>
        <p:nvSpPr>
          <p:cNvPr id="2" name="">
            <a:extLst xmlns:a="http://schemas.openxmlformats.org/drawingml/2006/main">
              <a:ext uri="{FF2B5EF4-FFF2-40B4-BE49-F238E27FC236}">
                <a16:creationId xmlns:a16="http://schemas.microsoft.com/office/drawing/2014/main" id="{FC412916-86B0-43DF-9494-0FE537E7503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8E545F7-B1AB-4808-9F10-4C24376091F0}"/>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C2F83485-9C7B-40F5-9E7D-05DDB8307EBB}"/>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Ei = %ΔQv / %ΔY">
            <a:extLst xmlns:a="http://schemas.openxmlformats.org/drawingml/2006/main">
              <a:ext uri="{FF2B5EF4-FFF2-40B4-BE49-F238E27FC236}">
                <a16:creationId xmlns:a16="http://schemas.microsoft.com/office/drawing/2014/main" id="{BB87283D-BC19-469A-ACCF-EE65F7369BD5}"/>
              </a:ext>
            </a:extLst>
          </p:cNvPr>
          <p:cNvSpPr>
            <a:spLocks xmlns:a="http://schemas.openxmlformats.org/drawingml/2006/main" noGrp="1"/>
          </p:cNvSpPr>
          <p:nvPr/>
        </p:nvSpPr>
        <p:spPr>
          <a:xfrm xmlns:a="http://schemas.openxmlformats.org/drawingml/2006/main">
            <a:off x="571500" y="1800225"/>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Ei = %ΔQv / %ΔY</a:t>
            </a:r>
          </a:p>
        </p:txBody>
      </p:sp>
      <p:graphicFrame>
        <p:nvGraphicFramePr>
          <p:cNvPr id="14" name=""/>
          <p:cNvGraphicFramePr/>
          <p:nvPr/>
        </p:nvGraphicFramePr>
        <p:xfrm>
          <a:off xmlns:a="http://schemas.openxmlformats.org/drawingml/2006/main" x="571500" y="3095625"/>
          <a:ext xmlns:a="http://schemas.openxmlformats.org/drawingml/2006/main" cx="14097000" cy="2590800"/>
        </p:xfrm>
        <a:graphic xmlns:a="http://schemas.openxmlformats.org/drawingml/2006/main">
          <a:graphicData uri="http://schemas.openxmlformats.org/drawingml/2006/table">
            <a:tbl>
              <a:tblPr/>
              <a:tblGrid>
                <a:gridCol w="5000625"/>
                <a:gridCol w="4810125"/>
                <a:gridCol w="4286250"/>
              </a:tblGrid>
              <a:tr h="863600">
                <a:tc>
                  <a:txBody>
                    <a:bodyPr lIns="161925" tIns="95250" rIns="142875" bIns="95250"/>
                    <a:lstStyle/>
                    <a:p>
                      <a:r>
                        <a:rPr sz="2550" b="1">
                          <a:solidFill>
                            <a:srgbClr val="FFFFFF"/>
                          </a:solidFill>
                          <a:latin typeface="Arial"/>
                          <a:ea typeface="Arial"/>
                          <a:cs typeface="Arial"/>
                        </a:rPr>
                        <a:t>Goed</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Categorie</a:t>
                      </a:r>
                    </a:p>
                  </a:txBody>
                  <a:tcPr marL="91440" marR="91440" marT="45720" marB="45720" anchor="ctr">
                    <a:solidFill>
                      <a:srgbClr val="183247"/>
                    </a:solidFill>
                  </a:tcPr>
                </a:tc>
              </a:tr>
              <a:tr h="863600">
                <a:tc>
                  <a:txBody>
                    <a:bodyPr lIns="161925" tIns="95250" rIns="142875" bIns="95250"/>
                    <a:lstStyle/>
                    <a:p>
                      <a:r>
                        <a:rPr sz="2550" b="0">
                          <a:solidFill>
                            <a:srgbClr val="183247"/>
                          </a:solidFill>
                          <a:latin typeface="Arial"/>
                          <a:ea typeface="Arial"/>
                          <a:cs typeface="Arial"/>
                        </a:rPr>
                        <a:t>Maaltijdpakketten</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+8% / +5% = +1,6</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Luxegoed: Ei &gt; 1</a:t>
                      </a:r>
                    </a:p>
                  </a:txBody>
                  <a:tcPr marL="91440" marR="91440" marT="45720" marB="45720" anchor="ctr">
                    <a:solidFill>
                      <a:srgbClr val="FFFFFF"/>
                    </a:solidFill>
                  </a:tcPr>
                </a:tc>
              </a:tr>
              <a:tr h="863600">
                <a:tc>
                  <a:txBody>
                    <a:bodyPr lIns="161925" tIns="95250" rIns="142875" bIns="95250"/>
                    <a:lstStyle/>
                    <a:p>
                      <a:r>
                        <a:rPr sz="2550" b="0">
                          <a:solidFill>
                            <a:srgbClr val="183247"/>
                          </a:solidFill>
                          <a:latin typeface="Arial"/>
                          <a:ea typeface="Arial"/>
                          <a:cs typeface="Arial"/>
                        </a:rPr>
                        <a:t>Budgetnoedels</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−3% / +5% = −0,6</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Inferieur goed: Ei &lt; 0</a:t>
                      </a:r>
                    </a:p>
                  </a:txBody>
                  <a:tcPr marL="91440" marR="91440" marT="45720" marB="45720" anchor="ctr">
                    <a:solidFill>
                      <a:srgbClr val="EFF4F7"/>
                    </a:solidFill>
                  </a:tcPr>
                </a:tc>
              </a:tr>
            </a:tbl>
          </a:graphicData>
        </a:graphic>
      </p:graphicFrame>
      <p:sp>
        <p:nvSpPr>
          <p:cNvPr id="7" name="Maaltijdpakketten: Qv groeit procentueel sterker dan Y.">
            <a:extLst xmlns:a="http://schemas.openxmlformats.org/drawingml/2006/main">
              <a:ext uri="{FF2B5EF4-FFF2-40B4-BE49-F238E27FC236}">
                <a16:creationId xmlns:a16="http://schemas.microsoft.com/office/drawing/2014/main" id="{7C0E3B1C-62A2-4813-8843-679C61C19CB6}"/>
              </a:ext>
            </a:extLst>
          </p:cNvPr>
          <p:cNvSpPr>
            <a:spLocks xmlns:a="http://schemas.openxmlformats.org/drawingml/2006/main" noGrp="1"/>
          </p:cNvSpPr>
          <p:nvPr/>
        </p:nvSpPr>
        <p:spPr>
          <a:xfrm xmlns:a="http://schemas.openxmlformats.org/drawingml/2006/main">
            <a:off x="571500" y="634365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Maaltijdpakketten: Qv groeit procentueel sterker dan Y.</a:t>
            </a:r>
          </a:p>
        </p:txBody>
      </p:sp>
      <p:sp>
        <p:nvSpPr>
          <p:cNvPr id="8" name="Budgetnoedels: Qv daalt bij een hoger inkomen.">
            <a:extLst xmlns:a="http://schemas.openxmlformats.org/drawingml/2006/main">
              <a:ext uri="{FF2B5EF4-FFF2-40B4-BE49-F238E27FC236}">
                <a16:creationId xmlns:a16="http://schemas.microsoft.com/office/drawing/2014/main" id="{1CC4E28E-E30F-49AD-8B60-2E1B52C5DDA1}"/>
              </a:ext>
            </a:extLst>
          </p:cNvPr>
          <p:cNvSpPr>
            <a:spLocks xmlns:a="http://schemas.openxmlformats.org/drawingml/2006/main" noGrp="1"/>
          </p:cNvSpPr>
          <p:nvPr/>
        </p:nvSpPr>
        <p:spPr>
          <a:xfrm xmlns:a="http://schemas.openxmlformats.org/drawingml/2006/main">
            <a:off x="571500" y="731520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Budgetnoedels: Qv daalt bij een hoger inkomen.</a:t>
            </a:r>
          </a:p>
        </p:txBody>
      </p:sp>
    </p:spTree>
    <p:extLst>
      <p:ext uri="{BB962C8B-B14F-4D97-AF65-F5344CB8AC3E}">
        <p14:creationId xmlns:p14="http://schemas.microsoft.com/office/powerpoint/2010/main" val="37693163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B47BB648-7DE0-4111-A311-543A6C4F915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8c · Twee relaties met koffie</a:t>
            </a:r>
          </a:p>
        </p:txBody>
      </p:sp>
      <p:sp>
        <p:nvSpPr>
          <p:cNvPr id="2" name="">
            <a:extLst xmlns:a="http://schemas.openxmlformats.org/drawingml/2006/main">
              <a:ext uri="{FF2B5EF4-FFF2-40B4-BE49-F238E27FC236}">
                <a16:creationId xmlns:a16="http://schemas.microsoft.com/office/drawing/2014/main" id="{4C30FA6D-734F-4FEB-B9AA-F15E7E42F40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DC93D3F-4789-431C-AE9A-76257949A14D}"/>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52D06462-8ED1-4739-A84A-6B7DEB4137E4}"/>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2" name=""/>
          <p:cNvGraphicFramePr/>
          <p:nvPr/>
        </p:nvGraphicFramePr>
        <p:xfrm>
          <a:off xmlns:a="http://schemas.openxmlformats.org/drawingml/2006/main" x="571500" y="2076450"/>
          <a:ext xmlns:a="http://schemas.openxmlformats.org/drawingml/2006/main" cx="14097000" cy="2990850"/>
        </p:xfrm>
        <a:graphic xmlns:a="http://schemas.openxmlformats.org/drawingml/2006/main">
          <a:graphicData uri="http://schemas.openxmlformats.org/drawingml/2006/table">
            <a:tbl>
              <a:tblPr/>
              <a:tblGrid>
                <a:gridCol w="3762375"/>
                <a:gridCol w="3619500"/>
                <a:gridCol w="4048125"/>
                <a:gridCol w="2667000"/>
              </a:tblGrid>
              <a:tr h="996950">
                <a:tc>
                  <a:txBody>
                    <a:bodyPr lIns="161925" tIns="95250" rIns="142875" bIns="95250"/>
                    <a:lstStyle/>
                    <a:p>
                      <a:r>
                        <a:rPr sz="2400" b="1">
                          <a:solidFill>
                            <a:srgbClr val="FFFFFF"/>
                          </a:solidFill>
                          <a:latin typeface="Arial"/>
                          <a:ea typeface="Arial"/>
                          <a:cs typeface="Arial"/>
                        </a:rPr>
                        <a:t>Vraaggoed (teller)</a:t>
                      </a:r>
                    </a:p>
                  </a:txBody>
                  <a:tcPr marL="91440" marR="91440" marT="45720" marB="45720" anchor="ctr">
                    <a:solidFill>
                      <a:srgbClr val="183247"/>
                    </a:solidFill>
                  </a:tcPr>
                </a:tc>
                <a:tc>
                  <a:txBody>
                    <a:bodyPr lIns="161925" tIns="95250" rIns="142875" bIns="95250"/>
                    <a:lstStyle/>
                    <a:p>
                      <a:r>
                        <a:rPr sz="2400" b="1">
                          <a:solidFill>
                            <a:srgbClr val="FFFFFF"/>
                          </a:solidFill>
                          <a:latin typeface="Arial"/>
                          <a:ea typeface="Arial"/>
                          <a:cs typeface="Arial"/>
                        </a:rPr>
                        <a:t>Prijsgoed (noemer)</a:t>
                      </a:r>
                    </a:p>
                  </a:txBody>
                  <a:tcPr marL="91440" marR="91440" marT="45720" marB="45720" anchor="ctr">
                    <a:solidFill>
                      <a:srgbClr val="183247"/>
                    </a:solidFill>
                  </a:tcPr>
                </a:tc>
                <a:tc>
                  <a:txBody>
                    <a:bodyPr lIns="161925" tIns="95250" rIns="142875" bIns="95250"/>
                    <a:lstStyle/>
                    <a:p>
                      <a:r>
                        <a:rPr sz="2400" b="1">
                          <a:solidFill>
                            <a:srgbClr val="FFFFFF"/>
                          </a:solidFill>
                          <a:latin typeface="Arial"/>
                          <a:ea typeface="Arial"/>
                          <a:cs typeface="Arial"/>
                        </a:rPr>
                        <a:t>Berekening Ek</a:t>
                      </a:r>
                    </a:p>
                  </a:txBody>
                  <a:tcPr marL="91440" marR="91440" marT="45720" marB="45720" anchor="ctr">
                    <a:solidFill>
                      <a:srgbClr val="183247"/>
                    </a:solidFill>
                  </a:tcPr>
                </a:tc>
                <a:tc>
                  <a:txBody>
                    <a:bodyPr lIns="161925" tIns="95250" rIns="142875" bIns="95250"/>
                    <a:lstStyle/>
                    <a:p>
                      <a:r>
                        <a:rPr sz="2400" b="1">
                          <a:solidFill>
                            <a:srgbClr val="FFFFFF"/>
                          </a:solidFill>
                          <a:latin typeface="Arial"/>
                          <a:ea typeface="Arial"/>
                          <a:cs typeface="Arial"/>
                        </a:rPr>
                        <a:t>Relatie</a:t>
                      </a:r>
                    </a:p>
                  </a:txBody>
                  <a:tcPr marL="91440" marR="91440" marT="45720" marB="45720" anchor="ctr">
                    <a:solidFill>
                      <a:srgbClr val="183247"/>
                    </a:solidFill>
                  </a:tcPr>
                </a:tc>
              </a:tr>
              <a:tr h="996950">
                <a:tc>
                  <a:txBody>
                    <a:bodyPr lIns="161925" tIns="95250" rIns="142875" bIns="95250"/>
                    <a:lstStyle/>
                    <a:p>
                      <a:r>
                        <a:rPr sz="2400" b="0">
                          <a:solidFill>
                            <a:srgbClr val="183247"/>
                          </a:solidFill>
                          <a:latin typeface="Arial"/>
                          <a:ea typeface="Arial"/>
                          <a:cs typeface="Arial"/>
                        </a:rPr>
                        <a:t>Thee</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Koffie</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+4% / +10% = +0,4</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Substituten</a:t>
                      </a:r>
                    </a:p>
                  </a:txBody>
                  <a:tcPr marL="91440" marR="91440" marT="45720" marB="45720" anchor="ctr">
                    <a:solidFill>
                      <a:srgbClr val="FFFFFF"/>
                    </a:solidFill>
                  </a:tcPr>
                </a:tc>
              </a:tr>
              <a:tr h="996950">
                <a:tc>
                  <a:txBody>
                    <a:bodyPr lIns="161925" tIns="95250" rIns="142875" bIns="95250"/>
                    <a:lstStyle/>
                    <a:p>
                      <a:r>
                        <a:rPr sz="2400" b="0">
                          <a:solidFill>
                            <a:srgbClr val="183247"/>
                          </a:solidFill>
                          <a:latin typeface="Arial"/>
                          <a:ea typeface="Arial"/>
                          <a:cs typeface="Arial"/>
                        </a:rPr>
                        <a:t>Koffiefilters</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Koffie</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−6% / +10% = −0,6</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Complementen</a:t>
                      </a:r>
                    </a:p>
                  </a:txBody>
                  <a:tcPr marL="91440" marR="91440" marT="45720" marB="45720" anchor="ctr">
                    <a:solidFill>
                      <a:srgbClr val="EFF4F7"/>
                    </a:solidFill>
                  </a:tcPr>
                </a:tc>
              </a:tr>
            </a:tbl>
          </a:graphicData>
        </a:graphic>
      </p:graphicFrame>
      <p:sp>
        <p:nvSpPr>
          <p:cNvPr id="6" name="Koffie duurder → meer vraag naar het alternatief thee.">
            <a:extLst xmlns:a="http://schemas.openxmlformats.org/drawingml/2006/main">
              <a:ext uri="{FF2B5EF4-FFF2-40B4-BE49-F238E27FC236}">
                <a16:creationId xmlns:a16="http://schemas.microsoft.com/office/drawing/2014/main" id="{B4195929-0A66-4F41-9F78-2480D906847C}"/>
              </a:ext>
            </a:extLst>
          </p:cNvPr>
          <p:cNvSpPr>
            <a:spLocks xmlns:a="http://schemas.openxmlformats.org/drawingml/2006/main" noGrp="1"/>
          </p:cNvSpPr>
          <p:nvPr/>
        </p:nvSpPr>
        <p:spPr>
          <a:xfrm xmlns:a="http://schemas.openxmlformats.org/drawingml/2006/main">
            <a:off x="571500" y="5791200"/>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20665B"/>
                </a:solidFill>
                <a:latin typeface="Arial"/>
                <a:ea typeface="Arial"/>
                <a:cs typeface="Arial"/>
              </a:defRPr>
            </a:pPr>
            <a:r>
              <a:rPr sz="3075" b="1">
                <a:solidFill>
                  <a:srgbClr val="20665B"/>
                </a:solidFill>
                <a:latin typeface="Arial"/>
                <a:ea typeface="Arial"/>
                <a:cs typeface="Arial"/>
              </a:rPr>
              <a:t>Koffie duurder → meer vraag naar het alternatief thee.</a:t>
            </a:r>
          </a:p>
        </p:txBody>
      </p:sp>
      <p:sp>
        <p:nvSpPr>
          <p:cNvPr id="7" name="Koffie duurder → minder vraag naar bijbehorende filters.">
            <a:extLst xmlns:a="http://schemas.openxmlformats.org/drawingml/2006/main">
              <a:ext uri="{FF2B5EF4-FFF2-40B4-BE49-F238E27FC236}">
                <a16:creationId xmlns:a16="http://schemas.microsoft.com/office/drawing/2014/main" id="{4BCC06D7-45F3-4C8C-B02A-7D9AEAE77F6B}"/>
              </a:ext>
            </a:extLst>
          </p:cNvPr>
          <p:cNvSpPr>
            <a:spLocks xmlns:a="http://schemas.openxmlformats.org/drawingml/2006/main" noGrp="1"/>
          </p:cNvSpPr>
          <p:nvPr/>
        </p:nvSpPr>
        <p:spPr>
          <a:xfrm xmlns:a="http://schemas.openxmlformats.org/drawingml/2006/main">
            <a:off x="571500" y="7058025"/>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Koffie duurder → minder vraag naar bijbehorende filters.</a:t>
            </a:r>
          </a:p>
        </p:txBody>
      </p:sp>
    </p:spTree>
    <p:extLst>
      <p:ext uri="{BB962C8B-B14F-4D97-AF65-F5344CB8AC3E}">
        <p14:creationId xmlns:p14="http://schemas.microsoft.com/office/powerpoint/2010/main" val="10405509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C378DB56-BDCF-44CE-BB7A-E336B2862A9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8d · Oude en nieuwe hoeveelheid</a:t>
            </a:r>
          </a:p>
        </p:txBody>
      </p:sp>
      <p:sp>
        <p:nvSpPr>
          <p:cNvPr id="2" name="">
            <a:extLst xmlns:a="http://schemas.openxmlformats.org/drawingml/2006/main">
              <a:ext uri="{FF2B5EF4-FFF2-40B4-BE49-F238E27FC236}">
                <a16:creationId xmlns:a16="http://schemas.microsoft.com/office/drawing/2014/main" id="{AF2BDA56-F397-413E-81E8-1CD207EB768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986E3C2-D8F7-42A0-AA75-CBA0F5FECCDC}"/>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53989BDE-4C3B-46F7-ACEE-D090CE180F2E}"/>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Begin: Px = 10; Pz = 20; Y = 30.000">
            <a:extLst xmlns:a="http://schemas.openxmlformats.org/drawingml/2006/main">
              <a:ext uri="{FF2B5EF4-FFF2-40B4-BE49-F238E27FC236}">
                <a16:creationId xmlns:a16="http://schemas.microsoft.com/office/drawing/2014/main" id="{9A83337A-982C-4017-9CAA-F81EE3AB6D16}"/>
              </a:ext>
            </a:extLst>
          </p:cNvPr>
          <p:cNvSpPr>
            <a:spLocks xmlns:a="http://schemas.openxmlformats.org/drawingml/2006/main" noGrp="1"/>
          </p:cNvSpPr>
          <p:nvPr/>
        </p:nvSpPr>
        <p:spPr>
          <a:xfrm xmlns:a="http://schemas.openxmlformats.org/drawingml/2006/main">
            <a:off x="571500" y="1809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Begin: Px = 10; Pz = 20; Y = 30.000</a:t>
            </a:r>
          </a:p>
        </p:txBody>
      </p:sp>
      <p:sp>
        <p:nvSpPr>
          <p:cNvPr id="6" name="Qx oud = 100 − 2 × 10 + 0,5 × 20 + 0,01 × 30.000&#10;= 100 − 20 ">
            <a:extLst xmlns:a="http://schemas.openxmlformats.org/drawingml/2006/main">
              <a:ext uri="{FF2B5EF4-FFF2-40B4-BE49-F238E27FC236}">
                <a16:creationId xmlns:a16="http://schemas.microsoft.com/office/drawing/2014/main" id="{7ACEF4E4-F3A4-4F79-BCD9-08173DBB69EE}"/>
              </a:ext>
            </a:extLst>
          </p:cNvPr>
          <p:cNvSpPr>
            <a:spLocks xmlns:a="http://schemas.openxmlformats.org/drawingml/2006/main" noGrp="1"/>
          </p:cNvSpPr>
          <p:nvPr/>
        </p:nvSpPr>
        <p:spPr>
          <a:xfrm xmlns:a="http://schemas.openxmlformats.org/drawingml/2006/main">
            <a:off x="571500" y="2762250"/>
            <a:ext cx="1409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Qx oud = 100 − 2 × 10 + 0,5 × 20 + 0,01 × 30.000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100 − 20 + 10 + 300 = 390</a:t>
            </a:r>
          </a:p>
        </p:txBody>
      </p:sp>
      <p:sp>
        <p:nvSpPr>
          <p:cNvPr id="7" name="">
            <a:extLst xmlns:a="http://schemas.openxmlformats.org/drawingml/2006/main">
              <a:ext uri="{FF2B5EF4-FFF2-40B4-BE49-F238E27FC236}">
                <a16:creationId xmlns:a16="http://schemas.microsoft.com/office/drawing/2014/main" id="{0C5FBE96-858E-402C-A455-51E14C4CA63D}"/>
              </a:ext>
            </a:extLst>
          </p:cNvPr>
          <p:cNvSpPr>
            <a:spLocks xmlns:a="http://schemas.openxmlformats.org/drawingml/2006/main" noGrp="1"/>
          </p:cNvSpPr>
          <p:nvPr/>
        </p:nvSpPr>
        <p:spPr>
          <a:xfrm xmlns:a="http://schemas.openxmlformats.org/drawingml/2006/main">
            <a:off x="571500" y="4438650"/>
            <a:ext cx="14097000" cy="0"/>
          </a:xfrm>
          <a:prstGeom xmlns:a="http://schemas.openxmlformats.org/drawingml/2006/main" prst="line">
            <a:avLst/>
          </a:prstGeom>
          <a:ln xmlns:a="http://schemas.openxmlformats.org/drawingml/2006/main" w="19050">
            <a:solidFill>
              <a:srgbClr val="C6D2DB"/>
            </a:solidFill>
          </a:ln>
        </p:spPr>
      </p:sp>
      <p:sp>
        <p:nvSpPr>
          <p:cNvPr id="8" name="Alleen Y wordt 33.000; Px en Pz blijven gelijk.">
            <a:extLst xmlns:a="http://schemas.openxmlformats.org/drawingml/2006/main">
              <a:ext uri="{FF2B5EF4-FFF2-40B4-BE49-F238E27FC236}">
                <a16:creationId xmlns:a16="http://schemas.microsoft.com/office/drawing/2014/main" id="{0308548B-BBA5-4925-829C-EA08FFE5D49B}"/>
              </a:ext>
            </a:extLst>
          </p:cNvPr>
          <p:cNvSpPr>
            <a:spLocks xmlns:a="http://schemas.openxmlformats.org/drawingml/2006/main" noGrp="1"/>
          </p:cNvSpPr>
          <p:nvPr/>
        </p:nvSpPr>
        <p:spPr>
          <a:xfrm xmlns:a="http://schemas.openxmlformats.org/drawingml/2006/main">
            <a:off x="571500" y="479107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Alleen Y wordt 33.000; Px en Pz blijven gelijk.</a:t>
            </a:r>
          </a:p>
        </p:txBody>
      </p:sp>
      <p:sp>
        <p:nvSpPr>
          <p:cNvPr id="9" name="Qx nieuw = 100 − 2 × 10 + 0,5 × 20 + 0,01 × 33.000&#10;= 100 − 2">
            <a:extLst xmlns:a="http://schemas.openxmlformats.org/drawingml/2006/main">
              <a:ext uri="{FF2B5EF4-FFF2-40B4-BE49-F238E27FC236}">
                <a16:creationId xmlns:a16="http://schemas.microsoft.com/office/drawing/2014/main" id="{653BDDB2-0005-4970-A5D6-99221D0E0BBB}"/>
              </a:ext>
            </a:extLst>
          </p:cNvPr>
          <p:cNvSpPr>
            <a:spLocks xmlns:a="http://schemas.openxmlformats.org/drawingml/2006/main" noGrp="1"/>
          </p:cNvSpPr>
          <p:nvPr/>
        </p:nvSpPr>
        <p:spPr>
          <a:xfrm xmlns:a="http://schemas.openxmlformats.org/drawingml/2006/main">
            <a:off x="571500" y="5734050"/>
            <a:ext cx="14097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Qx nieuw = 100 − 2 × 10 + 0,5 × 20 + 0,01 × 33.000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100 − 20 + 10 + 330 = 420</a:t>
            </a:r>
          </a:p>
        </p:txBody>
      </p:sp>
      <p:sp>
        <p:nvSpPr>
          <p:cNvPr id="10" name="Qx stijgt met 30 abonnementen per maand.">
            <a:extLst xmlns:a="http://schemas.openxmlformats.org/drawingml/2006/main">
              <a:ext uri="{FF2B5EF4-FFF2-40B4-BE49-F238E27FC236}">
                <a16:creationId xmlns:a16="http://schemas.microsoft.com/office/drawing/2014/main" id="{7119890F-E1F9-4AFF-8BD6-E2F9582F7DCF}"/>
              </a:ext>
            </a:extLst>
          </p:cNvPr>
          <p:cNvSpPr>
            <a:spLocks xmlns:a="http://schemas.openxmlformats.org/drawingml/2006/main" noGrp="1"/>
          </p:cNvSpPr>
          <p:nvPr/>
        </p:nvSpPr>
        <p:spPr>
          <a:xfrm xmlns:a="http://schemas.openxmlformats.org/drawingml/2006/main">
            <a:off x="571500" y="737235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Qx stijgt met 30 abonnementen per maand.</a:t>
            </a:r>
          </a:p>
        </p:txBody>
      </p:sp>
    </p:spTree>
    <p:extLst>
      <p:ext uri="{BB962C8B-B14F-4D97-AF65-F5344CB8AC3E}">
        <p14:creationId xmlns:p14="http://schemas.microsoft.com/office/powerpoint/2010/main" val="125493062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F080FBBC-8D1A-48F1-950D-5EABF43195F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8d · Percentages en Ei</a:t>
            </a:r>
          </a:p>
        </p:txBody>
      </p:sp>
      <p:sp>
        <p:nvSpPr>
          <p:cNvPr id="2" name="">
            <a:extLst xmlns:a="http://schemas.openxmlformats.org/drawingml/2006/main">
              <a:ext uri="{FF2B5EF4-FFF2-40B4-BE49-F238E27FC236}">
                <a16:creationId xmlns:a16="http://schemas.microsoft.com/office/drawing/2014/main" id="{107AD294-260F-4280-B8CB-25B8E9E8EAF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A6021598-66F8-4F4A-AFEA-5A5A57993841}"/>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C3A1EF6F-EC30-4810-95F6-6F81CB0E3D04}"/>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Hoeveelheid">
            <a:extLst xmlns:a="http://schemas.openxmlformats.org/drawingml/2006/main">
              <a:ext uri="{FF2B5EF4-FFF2-40B4-BE49-F238E27FC236}">
                <a16:creationId xmlns:a16="http://schemas.microsoft.com/office/drawing/2014/main" id="{19BFA2A6-ECE3-499C-8862-1B678816E0CF}"/>
              </a:ext>
            </a:extLst>
          </p:cNvPr>
          <p:cNvSpPr>
            <a:spLocks xmlns:a="http://schemas.openxmlformats.org/drawingml/2006/main" noGrp="1"/>
          </p:cNvSpPr>
          <p:nvPr/>
        </p:nvSpPr>
        <p:spPr>
          <a:xfrm xmlns:a="http://schemas.openxmlformats.org/drawingml/2006/main">
            <a:off x="571500" y="1952625"/>
            <a:ext cx="3381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Hoeveelheid</a:t>
            </a:r>
          </a:p>
        </p:txBody>
      </p:sp>
      <p:sp>
        <p:nvSpPr>
          <p:cNvPr id="6" name="%ΔQx = (420 − 390) / 390 × 100%&#10;= +7,692307…%">
            <a:extLst xmlns:a="http://schemas.openxmlformats.org/drawingml/2006/main">
              <a:ext uri="{FF2B5EF4-FFF2-40B4-BE49-F238E27FC236}">
                <a16:creationId xmlns:a16="http://schemas.microsoft.com/office/drawing/2014/main" id="{304B291C-0364-480A-B7F6-8954C147BF6D}"/>
              </a:ext>
            </a:extLst>
          </p:cNvPr>
          <p:cNvSpPr>
            <a:spLocks xmlns:a="http://schemas.openxmlformats.org/drawingml/2006/main" noGrp="1"/>
          </p:cNvSpPr>
          <p:nvPr/>
        </p:nvSpPr>
        <p:spPr>
          <a:xfrm xmlns:a="http://schemas.openxmlformats.org/drawingml/2006/main">
            <a:off x="4333875" y="1952625"/>
            <a:ext cx="10334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%ΔQx = (420 − 390) / 390 × 100%</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 +7,692307…%</a:t>
            </a:r>
          </a:p>
        </p:txBody>
      </p:sp>
      <p:sp>
        <p:nvSpPr>
          <p:cNvPr id="7" name="Inkomen">
            <a:extLst xmlns:a="http://schemas.openxmlformats.org/drawingml/2006/main">
              <a:ext uri="{FF2B5EF4-FFF2-40B4-BE49-F238E27FC236}">
                <a16:creationId xmlns:a16="http://schemas.microsoft.com/office/drawing/2014/main" id="{2C62406E-8E82-418E-A283-3018D47CAEA8}"/>
              </a:ext>
            </a:extLst>
          </p:cNvPr>
          <p:cNvSpPr>
            <a:spLocks xmlns:a="http://schemas.openxmlformats.org/drawingml/2006/main" noGrp="1"/>
          </p:cNvSpPr>
          <p:nvPr/>
        </p:nvSpPr>
        <p:spPr>
          <a:xfrm xmlns:a="http://schemas.openxmlformats.org/drawingml/2006/main">
            <a:off x="571500" y="3533775"/>
            <a:ext cx="3381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Inkomen</a:t>
            </a:r>
          </a:p>
        </p:txBody>
      </p:sp>
      <p:sp>
        <p:nvSpPr>
          <p:cNvPr id="8" name="%ΔY = (33.000 − 30.000) / 30.000 × 100%&#10;= +10%">
            <a:extLst xmlns:a="http://schemas.openxmlformats.org/drawingml/2006/main">
              <a:ext uri="{FF2B5EF4-FFF2-40B4-BE49-F238E27FC236}">
                <a16:creationId xmlns:a16="http://schemas.microsoft.com/office/drawing/2014/main" id="{9D87271C-D5BD-4982-B280-5115960AB841}"/>
              </a:ext>
            </a:extLst>
          </p:cNvPr>
          <p:cNvSpPr>
            <a:spLocks xmlns:a="http://schemas.openxmlformats.org/drawingml/2006/main" noGrp="1"/>
          </p:cNvSpPr>
          <p:nvPr/>
        </p:nvSpPr>
        <p:spPr>
          <a:xfrm xmlns:a="http://schemas.openxmlformats.org/drawingml/2006/main">
            <a:off x="4333875" y="3533775"/>
            <a:ext cx="10334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%ΔY = (33.000 − 30.000) / 30.000 × 100%</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 +10%</a:t>
            </a:r>
          </a:p>
        </p:txBody>
      </p:sp>
      <p:sp>
        <p:nvSpPr>
          <p:cNvPr id="9" name="Elasticiteit">
            <a:extLst xmlns:a="http://schemas.openxmlformats.org/drawingml/2006/main">
              <a:ext uri="{FF2B5EF4-FFF2-40B4-BE49-F238E27FC236}">
                <a16:creationId xmlns:a16="http://schemas.microsoft.com/office/drawing/2014/main" id="{76AD2A79-1C0E-4C13-A344-21EF92ABCE16}"/>
              </a:ext>
            </a:extLst>
          </p:cNvPr>
          <p:cNvSpPr>
            <a:spLocks xmlns:a="http://schemas.openxmlformats.org/drawingml/2006/main" noGrp="1"/>
          </p:cNvSpPr>
          <p:nvPr/>
        </p:nvSpPr>
        <p:spPr>
          <a:xfrm xmlns:a="http://schemas.openxmlformats.org/drawingml/2006/main">
            <a:off x="571500" y="5114925"/>
            <a:ext cx="3381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Elasticiteit</a:t>
            </a:r>
          </a:p>
        </p:txBody>
      </p:sp>
      <p:sp>
        <p:nvSpPr>
          <p:cNvPr id="10" name="Ei = 7,692307…% / 10% ≈ +0,77">
            <a:extLst xmlns:a="http://schemas.openxmlformats.org/drawingml/2006/main">
              <a:ext uri="{FF2B5EF4-FFF2-40B4-BE49-F238E27FC236}">
                <a16:creationId xmlns:a16="http://schemas.microsoft.com/office/drawing/2014/main" id="{4188D2E7-BAF4-4C17-926A-D2E256BE4532}"/>
              </a:ext>
            </a:extLst>
          </p:cNvPr>
          <p:cNvSpPr>
            <a:spLocks xmlns:a="http://schemas.openxmlformats.org/drawingml/2006/main" noGrp="1"/>
          </p:cNvSpPr>
          <p:nvPr/>
        </p:nvSpPr>
        <p:spPr>
          <a:xfrm xmlns:a="http://schemas.openxmlformats.org/drawingml/2006/main">
            <a:off x="4333875" y="5114925"/>
            <a:ext cx="10334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Ei = 7,692307…% / 10% ≈ +0,77</a:t>
            </a:r>
          </a:p>
        </p:txBody>
      </p:sp>
      <p:sp>
        <p:nvSpPr>
          <p:cNvPr id="11" name="0 &lt; Ei &lt; 1: fitnessdienst X is hier een normaal goed.">
            <a:extLst xmlns:a="http://schemas.openxmlformats.org/drawingml/2006/main">
              <a:ext uri="{FF2B5EF4-FFF2-40B4-BE49-F238E27FC236}">
                <a16:creationId xmlns:a16="http://schemas.microsoft.com/office/drawing/2014/main" id="{8B3FA0C6-D530-4DE0-96A6-E70208D042D5}"/>
              </a:ext>
            </a:extLst>
          </p:cNvPr>
          <p:cNvSpPr>
            <a:spLocks xmlns:a="http://schemas.openxmlformats.org/drawingml/2006/main" noGrp="1"/>
          </p:cNvSpPr>
          <p:nvPr/>
        </p:nvSpPr>
        <p:spPr>
          <a:xfrm xmlns:a="http://schemas.openxmlformats.org/drawingml/2006/main">
            <a:off x="571500" y="70294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0 &lt; Ei &lt; 1: fitnessdienst X is hier een normaal goed.</a:t>
            </a:r>
          </a:p>
        </p:txBody>
      </p:sp>
    </p:spTree>
    <p:extLst>
      <p:ext uri="{BB962C8B-B14F-4D97-AF65-F5344CB8AC3E}">
        <p14:creationId xmlns:p14="http://schemas.microsoft.com/office/powerpoint/2010/main" val="165465988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BBC5779D-1C9C-4C2E-9516-0BC2A9684D5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8e · Inkomen terugzetten</a:t>
            </a:r>
          </a:p>
        </p:txBody>
      </p:sp>
      <p:sp>
        <p:nvSpPr>
          <p:cNvPr id="2" name="">
            <a:extLst xmlns:a="http://schemas.openxmlformats.org/drawingml/2006/main">
              <a:ext uri="{FF2B5EF4-FFF2-40B4-BE49-F238E27FC236}">
                <a16:creationId xmlns:a16="http://schemas.microsoft.com/office/drawing/2014/main" id="{8FFEB7B8-F727-4C4C-8B7E-6DD869439A7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826530A-FD42-42BB-AB35-48D2A2147866}"/>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1137081F-31BC-4518-9445-89DE4801096E}"/>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Y terug naar 30.000; alleen Pz: 20 → 24">
            <a:extLst xmlns:a="http://schemas.openxmlformats.org/drawingml/2006/main">
              <a:ext uri="{FF2B5EF4-FFF2-40B4-BE49-F238E27FC236}">
                <a16:creationId xmlns:a16="http://schemas.microsoft.com/office/drawing/2014/main" id="{4E469494-138B-4E7B-A278-092E12F72FDF}"/>
              </a:ext>
            </a:extLst>
          </p:cNvPr>
          <p:cNvSpPr>
            <a:spLocks xmlns:a="http://schemas.openxmlformats.org/drawingml/2006/main" noGrp="1"/>
          </p:cNvSpPr>
          <p:nvPr/>
        </p:nvSpPr>
        <p:spPr>
          <a:xfrm xmlns:a="http://schemas.openxmlformats.org/drawingml/2006/main">
            <a:off x="571500" y="1790700"/>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Y terug naar 30.000; alleen Pz: 20 → 24</a:t>
            </a:r>
          </a:p>
        </p:txBody>
      </p:sp>
      <p:sp>
        <p:nvSpPr>
          <p:cNvPr id="6" name="Qx = 100 − 2 × 10 + 0,5 × 24 + 0,01 × 30.000&#10;= 100 − 20 + 12">
            <a:extLst xmlns:a="http://schemas.openxmlformats.org/drawingml/2006/main">
              <a:ext uri="{FF2B5EF4-FFF2-40B4-BE49-F238E27FC236}">
                <a16:creationId xmlns:a16="http://schemas.microsoft.com/office/drawing/2014/main" id="{E51FD5CE-8B26-4547-95B6-87F318202674}"/>
              </a:ext>
            </a:extLst>
          </p:cNvPr>
          <p:cNvSpPr>
            <a:spLocks xmlns:a="http://schemas.openxmlformats.org/drawingml/2006/main" noGrp="1"/>
          </p:cNvSpPr>
          <p:nvPr/>
        </p:nvSpPr>
        <p:spPr>
          <a:xfrm xmlns:a="http://schemas.openxmlformats.org/drawingml/2006/main">
            <a:off x="571500" y="3019425"/>
            <a:ext cx="14097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Qx = 100 − 2 × 10 + 0,5 × 24 + 0,01 × 30.000</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 100 − 20 + 12 + 300 = 392</a:t>
            </a:r>
          </a:p>
        </p:txBody>
      </p:sp>
      <p:graphicFrame>
        <p:nvGraphicFramePr>
          <p:cNvPr id="15" name=""/>
          <p:cNvGraphicFramePr/>
          <p:nvPr/>
        </p:nvGraphicFramePr>
        <p:xfrm>
          <a:off xmlns:a="http://schemas.openxmlformats.org/drawingml/2006/main" x="571500" y="4905375"/>
          <a:ext xmlns:a="http://schemas.openxmlformats.org/drawingml/2006/main" cx="14097000" cy="2124075"/>
        </p:xfrm>
        <a:graphic xmlns:a="http://schemas.openxmlformats.org/drawingml/2006/main">
          <a:graphicData uri="http://schemas.openxmlformats.org/drawingml/2006/table">
            <a:tbl>
              <a:tblPr/>
              <a:tblGrid>
                <a:gridCol w="8096250"/>
                <a:gridCol w="6000750"/>
              </a:tblGrid>
              <a:tr h="708025">
                <a:tc>
                  <a:txBody>
                    <a:bodyPr lIns="161925" tIns="95250" rIns="142875" bIns="95250"/>
                    <a:lstStyle/>
                    <a:p>
                      <a:r>
                        <a:rPr sz="2475" b="1">
                          <a:solidFill>
                            <a:srgbClr val="FFFFFF"/>
                          </a:solidFill>
                          <a:latin typeface="Arial"/>
                          <a:ea typeface="Arial"/>
                          <a:cs typeface="Arial"/>
                        </a:rPr>
                        <a:t>Vergelijking</a:t>
                      </a:r>
                    </a:p>
                  </a:txBody>
                  <a:tcPr marL="91440" marR="91440" marT="45720" marB="45720" anchor="ctr">
                    <a:solidFill>
                      <a:srgbClr val="183247"/>
                    </a:solidFill>
                  </a:tcPr>
                </a:tc>
                <a:tc>
                  <a:txBody>
                    <a:bodyPr lIns="161925" tIns="95250" rIns="142875" bIns="95250"/>
                    <a:lstStyle/>
                    <a:p>
                      <a:r>
                        <a:rPr sz="2475" b="1">
                          <a:solidFill>
                            <a:srgbClr val="FFFFFF"/>
                          </a:solidFill>
                          <a:latin typeface="Arial"/>
                          <a:ea typeface="Arial"/>
                          <a:cs typeface="Arial"/>
                        </a:rPr>
                        <a:t>Qx (abonnementen per maand)</a:t>
                      </a:r>
                    </a:p>
                  </a:txBody>
                  <a:tcPr marL="91440" marR="91440" marT="45720" marB="45720" anchor="ctr">
                    <a:solidFill>
                      <a:srgbClr val="183247"/>
                    </a:solidFill>
                  </a:tcPr>
                </a:tc>
              </a:tr>
              <a:tr h="708025">
                <a:tc>
                  <a:txBody>
                    <a:bodyPr lIns="161925" tIns="95250" rIns="142875" bIns="95250"/>
                    <a:lstStyle/>
                    <a:p>
                      <a:r>
                        <a:rPr sz="2475" b="0">
                          <a:solidFill>
                            <a:srgbClr val="183247"/>
                          </a:solidFill>
                          <a:latin typeface="Arial"/>
                          <a:ea typeface="Arial"/>
                          <a:cs typeface="Arial"/>
                        </a:rPr>
                        <a:t>Beginsituatie: Pz = 20</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390</a:t>
                      </a:r>
                    </a:p>
                  </a:txBody>
                  <a:tcPr marL="91440" marR="91440" marT="45720" marB="45720" anchor="ctr">
                    <a:solidFill>
                      <a:srgbClr val="FFFFFF"/>
                    </a:solidFill>
                  </a:tcPr>
                </a:tc>
              </a:tr>
              <a:tr h="708025">
                <a:tc>
                  <a:txBody>
                    <a:bodyPr lIns="161925" tIns="95250" rIns="142875" bIns="95250"/>
                    <a:lstStyle/>
                    <a:p>
                      <a:r>
                        <a:rPr sz="2475" b="0">
                          <a:solidFill>
                            <a:srgbClr val="183247"/>
                          </a:solidFill>
                          <a:latin typeface="Arial"/>
                          <a:ea typeface="Arial"/>
                          <a:cs typeface="Arial"/>
                        </a:rPr>
                        <a:t>Alleen Pz = 24; Y terug op 30.000</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392</a:t>
                      </a:r>
                    </a:p>
                  </a:txBody>
                  <a:tcPr marL="91440" marR="91440" marT="45720" marB="45720" anchor="ctr">
                    <a:solidFill>
                      <a:srgbClr val="EFF4F7"/>
                    </a:solidFill>
                  </a:tcPr>
                </a:tc>
              </a:tr>
            </a:tbl>
          </a:graphicData>
        </a:graphic>
      </p:graphicFrame>
      <p:sp>
        <p:nvSpPr>
          <p:cNvPr id="8" name="Positief verband: Pz ↑, Qx ↑. Px = 10 en Y = 30.000 blijven ">
            <a:extLst xmlns:a="http://schemas.openxmlformats.org/drawingml/2006/main">
              <a:ext uri="{FF2B5EF4-FFF2-40B4-BE49-F238E27FC236}">
                <a16:creationId xmlns:a16="http://schemas.microsoft.com/office/drawing/2014/main" id="{2737E3E9-0E2F-47C5-9EEB-39676E5DDF08}"/>
              </a:ext>
            </a:extLst>
          </p:cNvPr>
          <p:cNvSpPr>
            <a:spLocks xmlns:a="http://schemas.openxmlformats.org/drawingml/2006/main" noGrp="1"/>
          </p:cNvSpPr>
          <p:nvPr/>
        </p:nvSpPr>
        <p:spPr>
          <a:xfrm xmlns:a="http://schemas.openxmlformats.org/drawingml/2006/main">
            <a:off x="571500" y="73342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Positief verband: Pz ↑, Qx ↑. Px = 10 en Y = 30.000 blijven gelijk.</a:t>
            </a:r>
          </a:p>
        </p:txBody>
      </p:sp>
    </p:spTree>
    <p:extLst>
      <p:ext uri="{BB962C8B-B14F-4D97-AF65-F5344CB8AC3E}">
        <p14:creationId xmlns:p14="http://schemas.microsoft.com/office/powerpoint/2010/main" val="106440017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4D126437-7B44-4E85-8B55-F5955AEC384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Antwoordcontrole bij opgave 8</a:t>
            </a:r>
          </a:p>
        </p:txBody>
      </p:sp>
      <p:sp>
        <p:nvSpPr>
          <p:cNvPr id="2" name="">
            <a:extLst xmlns:a="http://schemas.openxmlformats.org/drawingml/2006/main">
              <a:ext uri="{FF2B5EF4-FFF2-40B4-BE49-F238E27FC236}">
                <a16:creationId xmlns:a16="http://schemas.microsoft.com/office/drawing/2014/main" id="{A528108E-B645-4E53-B47C-670F46BCD0C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5702FD3-7503-4383-A3B5-565A2FA4EA9C}"/>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 · Boekpagina 62</a:t>
            </a:r>
          </a:p>
        </p:txBody>
      </p:sp>
      <p:sp>
        <p:nvSpPr>
          <p:cNvPr id="4" name="slide-number">
            <a:extLst xmlns:a="http://schemas.openxmlformats.org/drawingml/2006/main">
              <a:ext uri="{FF2B5EF4-FFF2-40B4-BE49-F238E27FC236}">
                <a16:creationId xmlns:a16="http://schemas.microsoft.com/office/drawing/2014/main" id="{57819190-C9EE-468E-B00F-2779EF0311E2}"/>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a–b">
            <a:extLst xmlns:a="http://schemas.openxmlformats.org/drawingml/2006/main">
              <a:ext uri="{FF2B5EF4-FFF2-40B4-BE49-F238E27FC236}">
                <a16:creationId xmlns:a16="http://schemas.microsoft.com/office/drawing/2014/main" id="{2F512C4C-51ED-41E7-9C44-86AA7E798A03}"/>
              </a:ext>
            </a:extLst>
          </p:cNvPr>
          <p:cNvSpPr>
            <a:spLocks xmlns:a="http://schemas.openxmlformats.org/drawingml/2006/main" noGrp="1"/>
          </p:cNvSpPr>
          <p:nvPr/>
        </p:nvSpPr>
        <p:spPr>
          <a:xfrm xmlns:a="http://schemas.openxmlformats.org/drawingml/2006/main">
            <a:off x="571500" y="1962150"/>
            <a:ext cx="2000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a–b</a:t>
            </a:r>
          </a:p>
        </p:txBody>
      </p:sp>
      <p:sp>
        <p:nvSpPr>
          <p:cNvPr id="6" name="Verhouding met teken én categorie.">
            <a:extLst xmlns:a="http://schemas.openxmlformats.org/drawingml/2006/main">
              <a:ext uri="{FF2B5EF4-FFF2-40B4-BE49-F238E27FC236}">
                <a16:creationId xmlns:a16="http://schemas.microsoft.com/office/drawing/2014/main" id="{B5895169-2B13-4116-A053-10D5E3ECFE35}"/>
              </a:ext>
            </a:extLst>
          </p:cNvPr>
          <p:cNvSpPr>
            <a:spLocks xmlns:a="http://schemas.openxmlformats.org/drawingml/2006/main" noGrp="1"/>
          </p:cNvSpPr>
          <p:nvPr/>
        </p:nvSpPr>
        <p:spPr>
          <a:xfrm xmlns:a="http://schemas.openxmlformats.org/drawingml/2006/main">
            <a:off x="2952750" y="1962150"/>
            <a:ext cx="11715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Verhouding met teken én categorie.</a:t>
            </a:r>
          </a:p>
        </p:txBody>
      </p:sp>
      <p:sp>
        <p:nvSpPr>
          <p:cNvPr id="7" name="c">
            <a:extLst xmlns:a="http://schemas.openxmlformats.org/drawingml/2006/main">
              <a:ext uri="{FF2B5EF4-FFF2-40B4-BE49-F238E27FC236}">
                <a16:creationId xmlns:a16="http://schemas.microsoft.com/office/drawing/2014/main" id="{1DAE6092-798B-465B-8605-85D1C651970A}"/>
              </a:ext>
            </a:extLst>
          </p:cNvPr>
          <p:cNvSpPr>
            <a:spLocks xmlns:a="http://schemas.openxmlformats.org/drawingml/2006/main" noGrp="1"/>
          </p:cNvSpPr>
          <p:nvPr/>
        </p:nvSpPr>
        <p:spPr>
          <a:xfrm xmlns:a="http://schemas.openxmlformats.org/drawingml/2006/main">
            <a:off x="571500" y="3286125"/>
            <a:ext cx="2000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c</a:t>
            </a:r>
          </a:p>
        </p:txBody>
      </p:sp>
      <p:sp>
        <p:nvSpPr>
          <p:cNvPr id="8" name="Vraaggoed en prijsgoed genoemd;&#10;substituten of complementen ">
            <a:extLst xmlns:a="http://schemas.openxmlformats.org/drawingml/2006/main">
              <a:ext uri="{FF2B5EF4-FFF2-40B4-BE49-F238E27FC236}">
                <a16:creationId xmlns:a16="http://schemas.microsoft.com/office/drawing/2014/main" id="{2DF80B5D-5386-4C40-8614-6178E7880C8D}"/>
              </a:ext>
            </a:extLst>
          </p:cNvPr>
          <p:cNvSpPr>
            <a:spLocks xmlns:a="http://schemas.openxmlformats.org/drawingml/2006/main" noGrp="1"/>
          </p:cNvSpPr>
          <p:nvPr/>
        </p:nvSpPr>
        <p:spPr>
          <a:xfrm xmlns:a="http://schemas.openxmlformats.org/drawingml/2006/main">
            <a:off x="2952750" y="3286125"/>
            <a:ext cx="11715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Vraaggoed en prijsgoed genoemd;</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substituten of complementen verklaard.</a:t>
            </a:r>
          </a:p>
        </p:txBody>
      </p:sp>
      <p:sp>
        <p:nvSpPr>
          <p:cNvPr id="9" name="d">
            <a:extLst xmlns:a="http://schemas.openxmlformats.org/drawingml/2006/main">
              <a:ext uri="{FF2B5EF4-FFF2-40B4-BE49-F238E27FC236}">
                <a16:creationId xmlns:a16="http://schemas.microsoft.com/office/drawing/2014/main" id="{40ACD505-D6D2-4FEF-B938-80D39F1B5DB3}"/>
              </a:ext>
            </a:extLst>
          </p:cNvPr>
          <p:cNvSpPr>
            <a:spLocks xmlns:a="http://schemas.openxmlformats.org/drawingml/2006/main" noGrp="1"/>
          </p:cNvSpPr>
          <p:nvPr/>
        </p:nvSpPr>
        <p:spPr>
          <a:xfrm xmlns:a="http://schemas.openxmlformats.org/drawingml/2006/main">
            <a:off x="571500" y="4610100"/>
            <a:ext cx="2000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d</a:t>
            </a:r>
          </a:p>
        </p:txBody>
      </p:sp>
      <p:sp>
        <p:nvSpPr>
          <p:cNvPr id="10" name="Oud en nieuw Qx, beide percentages, Ei,&#10;categorie en gelijkb">
            <a:extLst xmlns:a="http://schemas.openxmlformats.org/drawingml/2006/main">
              <a:ext uri="{FF2B5EF4-FFF2-40B4-BE49-F238E27FC236}">
                <a16:creationId xmlns:a16="http://schemas.microsoft.com/office/drawing/2014/main" id="{F2AD715B-210C-4301-B634-9CD55C0DD1F0}"/>
              </a:ext>
            </a:extLst>
          </p:cNvPr>
          <p:cNvSpPr>
            <a:spLocks xmlns:a="http://schemas.openxmlformats.org/drawingml/2006/main" noGrp="1"/>
          </p:cNvSpPr>
          <p:nvPr/>
        </p:nvSpPr>
        <p:spPr>
          <a:xfrm xmlns:a="http://schemas.openxmlformats.org/drawingml/2006/main">
            <a:off x="2952750" y="4610100"/>
            <a:ext cx="11715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Oud en nieuw Qx, beide percentages, Ei,</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categorie en gelijkblijvende prijzen.</a:t>
            </a:r>
          </a:p>
        </p:txBody>
      </p:sp>
      <p:sp>
        <p:nvSpPr>
          <p:cNvPr id="11" name="e">
            <a:extLst xmlns:a="http://schemas.openxmlformats.org/drawingml/2006/main">
              <a:ext uri="{FF2B5EF4-FFF2-40B4-BE49-F238E27FC236}">
                <a16:creationId xmlns:a16="http://schemas.microsoft.com/office/drawing/2014/main" id="{B2F6C21F-8EB9-4ECE-B863-340A96BEB276}"/>
              </a:ext>
            </a:extLst>
          </p:cNvPr>
          <p:cNvSpPr>
            <a:spLocks xmlns:a="http://schemas.openxmlformats.org/drawingml/2006/main" noGrp="1"/>
          </p:cNvSpPr>
          <p:nvPr/>
        </p:nvSpPr>
        <p:spPr>
          <a:xfrm xmlns:a="http://schemas.openxmlformats.org/drawingml/2006/main">
            <a:off x="571500" y="5934075"/>
            <a:ext cx="2000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a:t>
            </a:r>
          </a:p>
        </p:txBody>
      </p:sp>
      <p:sp>
        <p:nvSpPr>
          <p:cNvPr id="12" name="Y teruggezet; Qx vergeleken met het begin;&#10;richting en vaste">
            <a:extLst xmlns:a="http://schemas.openxmlformats.org/drawingml/2006/main">
              <a:ext uri="{FF2B5EF4-FFF2-40B4-BE49-F238E27FC236}">
                <a16:creationId xmlns:a16="http://schemas.microsoft.com/office/drawing/2014/main" id="{9CB1D501-2A01-47E8-9B17-BCD032445952}"/>
              </a:ext>
            </a:extLst>
          </p:cNvPr>
          <p:cNvSpPr>
            <a:spLocks xmlns:a="http://schemas.openxmlformats.org/drawingml/2006/main" noGrp="1"/>
          </p:cNvSpPr>
          <p:nvPr/>
        </p:nvSpPr>
        <p:spPr>
          <a:xfrm xmlns:a="http://schemas.openxmlformats.org/drawingml/2006/main">
            <a:off x="2952750" y="5934075"/>
            <a:ext cx="11715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Y teruggezet; Qx vergeleken met het begin;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richting en vaste variabelen genoemd.</a:t>
            </a:r>
          </a:p>
        </p:txBody>
      </p:sp>
      <p:sp>
        <p:nvSpPr>
          <p:cNvPr id="13" name="Verbeter één ontbrekende berekening of verklaring.">
            <a:extLst xmlns:a="http://schemas.openxmlformats.org/drawingml/2006/main">
              <a:ext uri="{FF2B5EF4-FFF2-40B4-BE49-F238E27FC236}">
                <a16:creationId xmlns:a16="http://schemas.microsoft.com/office/drawing/2014/main" id="{12C82C44-8BC4-4796-BD66-62818AF9ABDF}"/>
              </a:ext>
            </a:extLst>
          </p:cNvPr>
          <p:cNvSpPr>
            <a:spLocks xmlns:a="http://schemas.openxmlformats.org/drawingml/2006/main" noGrp="1"/>
          </p:cNvSpPr>
          <p:nvPr/>
        </p:nvSpPr>
        <p:spPr>
          <a:xfrm xmlns:a="http://schemas.openxmlformats.org/drawingml/2006/main">
            <a:off x="571500" y="75914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Verbeter één ontbrekende berekening of verklaring.</a:t>
            </a:r>
          </a:p>
        </p:txBody>
      </p:sp>
    </p:spTree>
    <p:extLst>
      <p:ext uri="{BB962C8B-B14F-4D97-AF65-F5344CB8AC3E}">
        <p14:creationId xmlns:p14="http://schemas.microsoft.com/office/powerpoint/2010/main" val="19615940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itle">
            <a:extLst xmlns:a="http://schemas.openxmlformats.org/drawingml/2006/main">
              <a:ext uri="{FF2B5EF4-FFF2-40B4-BE49-F238E27FC236}">
                <a16:creationId xmlns:a16="http://schemas.microsoft.com/office/drawing/2014/main" id="{B0FF882A-B485-44BD-B039-21E4C7DE3BBB}"/>
              </a:ext>
            </a:extLst>
          </p:cNvPr>
          <p:cNvSpPr>
            <a:spLocks xmlns:a="http://schemas.openxmlformats.org/drawingml/2006/main" noGrp="1"/>
          </p:cNvSpPr>
          <p:nvPr/>
        </p:nvSpPr>
        <p:spPr>
          <a:xfrm xmlns:a="http://schemas.openxmlformats.org/drawingml/2006/main">
            <a:off x="571500" y="25717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Deze les: §2.2.3</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Inkomenselasticiteit en kruislingse elasticiteit</a:t>
            </a:r>
          </a:p>
        </p:txBody>
      </p:sp>
      <p:sp>
        <p:nvSpPr>
          <p:cNvPr id="2" name="">
            <a:extLst xmlns:a="http://schemas.openxmlformats.org/drawingml/2006/main">
              <a:ext uri="{FF2B5EF4-FFF2-40B4-BE49-F238E27FC236}">
                <a16:creationId xmlns:a16="http://schemas.microsoft.com/office/drawing/2014/main" id="{47C038FF-506F-469F-84A0-DCA4B7B22A6A}"/>
              </a:ext>
            </a:extLst>
          </p:cNvPr>
          <p:cNvSpPr>
            <a:spLocks xmlns:a="http://schemas.openxmlformats.org/drawingml/2006/main" noGrp="1"/>
          </p:cNvSpPr>
          <p:nvPr/>
        </p:nvSpPr>
        <p:spPr>
          <a:xfrm xmlns:a="http://schemas.openxmlformats.org/drawingml/2006/main">
            <a:off x="571500" y="17335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278C15F-D7E0-4177-B86A-349A5C083F57}"/>
              </a:ext>
            </a:extLst>
          </p:cNvPr>
          <p:cNvSpPr>
            <a:spLocks xmlns:a="http://schemas.openxmlformats.org/drawingml/2006/main" noGrp="1"/>
          </p:cNvSpPr>
          <p:nvPr/>
        </p:nvSpPr>
        <p:spPr>
          <a:xfrm xmlns:a="http://schemas.openxmlformats.org/drawingml/2006/main">
            <a:off x="571500" y="807720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Inkomenselasticiteit en kruislingse elasticiteit</a:t>
            </a:r>
          </a:p>
        </p:txBody>
      </p:sp>
      <p:sp>
        <p:nvSpPr>
          <p:cNvPr id="4" name="slide-number">
            <a:extLst xmlns:a="http://schemas.openxmlformats.org/drawingml/2006/main">
              <a:ext uri="{FF2B5EF4-FFF2-40B4-BE49-F238E27FC236}">
                <a16:creationId xmlns:a16="http://schemas.microsoft.com/office/drawing/2014/main" id="{2140AD76-AF8F-4D31-9AF2-19C8A94FCB5B}"/>
              </a:ext>
            </a:extLst>
          </p:cNvPr>
          <p:cNvSpPr>
            <a:spLocks xmlns:a="http://schemas.openxmlformats.org/drawingml/2006/main" noGrp="1"/>
          </p:cNvSpPr>
          <p:nvPr/>
        </p:nvSpPr>
        <p:spPr>
          <a:xfrm xmlns:a="http://schemas.openxmlformats.org/drawingml/2006/main">
            <a:off x="14097000" y="8058150"/>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sp>
        <p:nvSpPr>
          <p:cNvPr id="5" name="phase">
            <a:extLst xmlns:a="http://schemas.openxmlformats.org/drawingml/2006/main">
              <a:ext uri="{FF2B5EF4-FFF2-40B4-BE49-F238E27FC236}">
                <a16:creationId xmlns:a16="http://schemas.microsoft.com/office/drawing/2014/main" id="{799D6EA5-D313-461F-B468-127BFF375175}"/>
              </a:ext>
            </a:extLst>
          </p:cNvPr>
          <p:cNvSpPr>
            <a:spLocks xmlns:a="http://schemas.openxmlformats.org/drawingml/2006/main" noGrp="1"/>
          </p:cNvSpPr>
          <p:nvPr/>
        </p:nvSpPr>
        <p:spPr>
          <a:xfrm xmlns:a="http://schemas.openxmlformats.org/drawingml/2006/main">
            <a:off x="571500" y="1323975"/>
            <a:ext cx="1409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D481AC39-3D5C-4A84-86CE-340EF72C7EFB}"/>
              </a:ext>
            </a:extLst>
          </p:cNvPr>
          <p:cNvSpPr>
            <a:spLocks xmlns:a="http://schemas.openxmlformats.org/drawingml/2006/main" noGrp="1"/>
          </p:cNvSpPr>
          <p:nvPr/>
        </p:nvSpPr>
        <p:spPr>
          <a:xfrm xmlns:a="http://schemas.openxmlformats.org/drawingml/2006/main">
            <a:off x="571500" y="1952625"/>
            <a:ext cx="7953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4B0B8B0C-19CD-4F9E-A548-0D9B7E88E703}"/>
              </a:ext>
            </a:extLst>
          </p:cNvPr>
          <p:cNvSpPr>
            <a:spLocks xmlns:a="http://schemas.openxmlformats.org/drawingml/2006/main" noGrp="1"/>
          </p:cNvSpPr>
          <p:nvPr/>
        </p:nvSpPr>
        <p:spPr>
          <a:xfrm xmlns:a="http://schemas.openxmlformats.org/drawingml/2006/main">
            <a:off x="571500" y="2505075"/>
            <a:ext cx="457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8025939-8A6F-427F-9F76-AE34A592217D}"/>
              </a:ext>
            </a:extLst>
          </p:cNvPr>
          <p:cNvSpPr>
            <a:spLocks xmlns:a="http://schemas.openxmlformats.org/drawingml/2006/main" noGrp="1"/>
          </p:cNvSpPr>
          <p:nvPr/>
        </p:nvSpPr>
        <p:spPr>
          <a:xfrm xmlns:a="http://schemas.openxmlformats.org/drawingml/2006/main">
            <a:off x="1104900" y="2505075"/>
            <a:ext cx="74199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ED7F3EE-4258-43FA-9535-FE62FE89330B}"/>
              </a:ext>
            </a:extLst>
          </p:cNvPr>
          <p:cNvSpPr>
            <a:spLocks xmlns:a="http://schemas.openxmlformats.org/drawingml/2006/main" noGrp="1"/>
          </p:cNvSpPr>
          <p:nvPr/>
        </p:nvSpPr>
        <p:spPr>
          <a:xfrm xmlns:a="http://schemas.openxmlformats.org/drawingml/2006/main">
            <a:off x="571500" y="33718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68A70546-FA6B-4B19-BD8D-30AC9D1266C4}"/>
              </a:ext>
            </a:extLst>
          </p:cNvPr>
          <p:cNvSpPr>
            <a:spLocks xmlns:a="http://schemas.openxmlformats.org/drawingml/2006/main" noGrp="1"/>
          </p:cNvSpPr>
          <p:nvPr/>
        </p:nvSpPr>
        <p:spPr>
          <a:xfrm xmlns:a="http://schemas.openxmlformats.org/drawingml/2006/main">
            <a:off x="1104900" y="33718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685B003-D56D-4C30-B544-0A77F0FB6045}"/>
              </a:ext>
            </a:extLst>
          </p:cNvPr>
          <p:cNvSpPr>
            <a:spLocks xmlns:a="http://schemas.openxmlformats.org/drawingml/2006/main" noGrp="1"/>
          </p:cNvSpPr>
          <p:nvPr/>
        </p:nvSpPr>
        <p:spPr>
          <a:xfrm xmlns:a="http://schemas.openxmlformats.org/drawingml/2006/main">
            <a:off x="571500" y="387667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2FFC630-55E0-459F-B86B-F6E65148FDFD}"/>
              </a:ext>
            </a:extLst>
          </p:cNvPr>
          <p:cNvSpPr>
            <a:spLocks xmlns:a="http://schemas.openxmlformats.org/drawingml/2006/main" noGrp="1"/>
          </p:cNvSpPr>
          <p:nvPr/>
        </p:nvSpPr>
        <p:spPr>
          <a:xfrm xmlns:a="http://schemas.openxmlformats.org/drawingml/2006/main">
            <a:off x="1104900" y="387667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A518C1D9-CCF6-4863-956F-721F1E26453A}"/>
              </a:ext>
            </a:extLst>
          </p:cNvPr>
          <p:cNvSpPr>
            <a:spLocks xmlns:a="http://schemas.openxmlformats.org/drawingml/2006/main" noGrp="1"/>
          </p:cNvSpPr>
          <p:nvPr/>
        </p:nvSpPr>
        <p:spPr>
          <a:xfrm xmlns:a="http://schemas.openxmlformats.org/drawingml/2006/main">
            <a:off x="571500" y="4400550"/>
            <a:ext cx="4572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6F0B380B-04DD-4BBF-AB65-325C815C1C00}"/>
              </a:ext>
            </a:extLst>
          </p:cNvPr>
          <p:cNvSpPr>
            <a:spLocks xmlns:a="http://schemas.openxmlformats.org/drawingml/2006/main" noGrp="1"/>
          </p:cNvSpPr>
          <p:nvPr/>
        </p:nvSpPr>
        <p:spPr>
          <a:xfrm xmlns:a="http://schemas.openxmlformats.org/drawingml/2006/main">
            <a:off x="1104900" y="4400550"/>
            <a:ext cx="741997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558088D-6FB9-4A70-BC8F-2CBC7796FCFC}"/>
              </a:ext>
            </a:extLst>
          </p:cNvPr>
          <p:cNvSpPr>
            <a:spLocks xmlns:a="http://schemas.openxmlformats.org/drawingml/2006/main" noGrp="1"/>
          </p:cNvSpPr>
          <p:nvPr/>
        </p:nvSpPr>
        <p:spPr>
          <a:xfrm xmlns:a="http://schemas.openxmlformats.org/drawingml/2006/main">
            <a:off x="571500" y="6086475"/>
            <a:ext cx="457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47DFE6E-45FF-4EE3-9C7B-0FE6D33EB62D}"/>
              </a:ext>
            </a:extLst>
          </p:cNvPr>
          <p:cNvSpPr>
            <a:spLocks xmlns:a="http://schemas.openxmlformats.org/drawingml/2006/main" noGrp="1"/>
          </p:cNvSpPr>
          <p:nvPr/>
        </p:nvSpPr>
        <p:spPr>
          <a:xfrm xmlns:a="http://schemas.openxmlformats.org/drawingml/2006/main">
            <a:off x="1104900" y="6086475"/>
            <a:ext cx="74199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62B4C1CD-7BA4-43FE-BE56-925DCCB81343}"/>
              </a:ext>
            </a:extLst>
          </p:cNvPr>
          <p:cNvSpPr>
            <a:spLocks xmlns:a="http://schemas.openxmlformats.org/drawingml/2006/main" noGrp="1"/>
          </p:cNvSpPr>
          <p:nvPr/>
        </p:nvSpPr>
        <p:spPr>
          <a:xfrm xmlns:a="http://schemas.openxmlformats.org/drawingml/2006/main">
            <a:off x="571500" y="6829425"/>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E736486A-CE07-4782-A975-16A2FBC79340}"/>
              </a:ext>
            </a:extLst>
          </p:cNvPr>
          <p:cNvSpPr>
            <a:spLocks xmlns:a="http://schemas.openxmlformats.org/drawingml/2006/main" noGrp="1"/>
          </p:cNvSpPr>
          <p:nvPr/>
        </p:nvSpPr>
        <p:spPr>
          <a:xfrm xmlns:a="http://schemas.openxmlformats.org/drawingml/2006/main">
            <a:off x="1104900" y="6829425"/>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8076DF8A-6EAA-488F-AD5E-A3F760ECCB20}"/>
              </a:ext>
            </a:extLst>
          </p:cNvPr>
          <p:cNvSpPr>
            <a:spLocks xmlns:a="http://schemas.openxmlformats.org/drawingml/2006/main" noGrp="1"/>
          </p:cNvSpPr>
          <p:nvPr/>
        </p:nvSpPr>
        <p:spPr>
          <a:xfrm xmlns:a="http://schemas.openxmlformats.org/drawingml/2006/main">
            <a:off x="571500" y="742950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E28DF96-41ED-4913-AD2F-6E5916976CA1}"/>
              </a:ext>
            </a:extLst>
          </p:cNvPr>
          <p:cNvSpPr>
            <a:spLocks xmlns:a="http://schemas.openxmlformats.org/drawingml/2006/main" noGrp="1"/>
          </p:cNvSpPr>
          <p:nvPr/>
        </p:nvSpPr>
        <p:spPr>
          <a:xfrm xmlns:a="http://schemas.openxmlformats.org/drawingml/2006/main">
            <a:off x="1104900" y="742950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046E5A7B-4B83-4D2E-8980-A368391AAC45}"/>
              </a:ext>
            </a:extLst>
          </p:cNvPr>
          <p:cNvSpPr>
            <a:spLocks xmlns:a="http://schemas.openxmlformats.org/drawingml/2006/main" noGrp="1"/>
          </p:cNvSpPr>
          <p:nvPr/>
        </p:nvSpPr>
        <p:spPr>
          <a:xfrm xmlns:a="http://schemas.openxmlformats.org/drawingml/2006/main">
            <a:off x="9258300" y="19526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7F7C30A-ADD4-43A7-B5AA-B329305535CD}"/>
              </a:ext>
            </a:extLst>
          </p:cNvPr>
          <p:cNvSpPr>
            <a:spLocks xmlns:a="http://schemas.openxmlformats.org/drawingml/2006/main" noGrp="1"/>
          </p:cNvSpPr>
          <p:nvPr/>
        </p:nvSpPr>
        <p:spPr>
          <a:xfrm xmlns:a="http://schemas.openxmlformats.org/drawingml/2006/main">
            <a:off x="9258300" y="2505075"/>
            <a:ext cx="54102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Ei en Ek berekenen en duiden.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Goederen en relaties indelen.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Eén factor in een functie wijzigen.</a:t>
            </a:r>
          </a:p>
        </p:txBody>
      </p:sp>
      <p:sp>
        <p:nvSpPr>
          <p:cNvPr id="23" name="">
            <a:extLst xmlns:a="http://schemas.openxmlformats.org/drawingml/2006/main">
              <a:ext uri="{FF2B5EF4-FFF2-40B4-BE49-F238E27FC236}">
                <a16:creationId xmlns:a16="http://schemas.microsoft.com/office/drawing/2014/main" id="{F31F0F67-F159-4C10-8156-4E999BDA8748}"/>
              </a:ext>
            </a:extLst>
          </p:cNvPr>
          <p:cNvSpPr>
            <a:spLocks xmlns:a="http://schemas.openxmlformats.org/drawingml/2006/main" noGrp="1"/>
          </p:cNvSpPr>
          <p:nvPr/>
        </p:nvSpPr>
        <p:spPr>
          <a:xfrm xmlns:a="http://schemas.openxmlformats.org/drawingml/2006/main">
            <a:off x="9258300" y="37528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7D06A7C-4CC1-432B-B10C-0DF02008DD8B}"/>
              </a:ext>
            </a:extLst>
          </p:cNvPr>
          <p:cNvSpPr>
            <a:spLocks xmlns:a="http://schemas.openxmlformats.org/drawingml/2006/main" noGrp="1"/>
          </p:cNvSpPr>
          <p:nvPr/>
        </p:nvSpPr>
        <p:spPr>
          <a:xfrm xmlns:a="http://schemas.openxmlformats.org/drawingml/2006/main">
            <a:off x="9258300" y="3981450"/>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385917DE-B53E-4A62-AD2A-94050885A82C}"/>
              </a:ext>
            </a:extLst>
          </p:cNvPr>
          <p:cNvSpPr>
            <a:spLocks xmlns:a="http://schemas.openxmlformats.org/drawingml/2006/main" noGrp="1"/>
          </p:cNvSpPr>
          <p:nvPr/>
        </p:nvSpPr>
        <p:spPr>
          <a:xfrm xmlns:a="http://schemas.openxmlformats.org/drawingml/2006/main">
            <a:off x="9258300" y="4476750"/>
            <a:ext cx="5410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59</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9FD70AF3-A61E-4BC7-A330-0089CCA1A39D}"/>
              </a:ext>
            </a:extLst>
          </p:cNvPr>
          <p:cNvSpPr>
            <a:spLocks xmlns:a="http://schemas.openxmlformats.org/drawingml/2006/main" noGrp="1"/>
          </p:cNvSpPr>
          <p:nvPr/>
        </p:nvSpPr>
        <p:spPr>
          <a:xfrm xmlns:a="http://schemas.openxmlformats.org/drawingml/2006/main">
            <a:off x="9258300" y="549592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3E4437E-FE2D-440C-8D00-D93AE3390453}"/>
              </a:ext>
            </a:extLst>
          </p:cNvPr>
          <p:cNvSpPr>
            <a:spLocks xmlns:a="http://schemas.openxmlformats.org/drawingml/2006/main" noGrp="1"/>
          </p:cNvSpPr>
          <p:nvPr/>
        </p:nvSpPr>
        <p:spPr>
          <a:xfrm xmlns:a="http://schemas.openxmlformats.org/drawingml/2006/main">
            <a:off x="9258300" y="57245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31ADBF15-591B-4492-8DB8-17821DBB11CB}"/>
              </a:ext>
            </a:extLst>
          </p:cNvPr>
          <p:cNvSpPr>
            <a:spLocks xmlns:a="http://schemas.openxmlformats.org/drawingml/2006/main" noGrp="1"/>
          </p:cNvSpPr>
          <p:nvPr/>
        </p:nvSpPr>
        <p:spPr>
          <a:xfrm xmlns:a="http://schemas.openxmlformats.org/drawingml/2006/main">
            <a:off x="9258300" y="6286500"/>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§2.2.3 · Opgaven 3 t/m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4 en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6 en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7512902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2026-09-29T11:03:48.3280000Z</dcterms:created>
  <dcterms:modified xsi:type="dcterms:W3CDTF">2026-09-29T11:03:48.3280000Z</dcterms:modified>
</coreProperties>
</file>