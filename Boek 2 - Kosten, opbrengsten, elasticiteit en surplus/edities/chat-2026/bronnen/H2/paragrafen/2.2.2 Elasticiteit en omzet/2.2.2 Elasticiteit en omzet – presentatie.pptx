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5af341f3d4416b" /><Relationship Type="http://schemas.openxmlformats.org/officeDocument/2006/relationships/extended-properties" Target="/docProps/app.xml" Id="Rd596f07ad32c4fd0" /><Relationship Type="http://schemas.openxmlformats.org/officeDocument/2006/relationships/officeDocument" Target="/ppt/presentation.xml" Id="R6575ca8c5bc042d1" /></Relationships>
</file>

<file path=ppt/presentation.xml><?xml version="1.0" encoding="utf-8"?>
<p:presentation xmlns:p="http://schemas.openxmlformats.org/presentationml/2006/main">
  <p:sldMasterIdLst>
    <p:sldMasterId xmlns:r="http://schemas.openxmlformats.org/officeDocument/2006/relationships" id="2147483648" r:id="Rc3b9954930d94cef"/>
  </p:sldMasterIdLst>
  <p:notesMasterIdLst>
    <p:notesMasterId xmlns:r="http://schemas.openxmlformats.org/officeDocument/2006/relationships" r:id="R4f8bebd0adcd4df4"/>
  </p:notesMasterIdLst>
  <p:sldIdLst>
    <p:sldId xmlns:r="http://schemas.openxmlformats.org/officeDocument/2006/relationships" id="256" r:id="R27835cb9c249462f"/>
    <p:sldId xmlns:r="http://schemas.openxmlformats.org/officeDocument/2006/relationships" id="257" r:id="R5efed051fc0a4408"/>
    <p:sldId xmlns:r="http://schemas.openxmlformats.org/officeDocument/2006/relationships" id="258" r:id="R9df24e88fc8d4b70"/>
    <p:sldId xmlns:r="http://schemas.openxmlformats.org/officeDocument/2006/relationships" id="259" r:id="Re011418eae9c4bc7"/>
    <p:sldId xmlns:r="http://schemas.openxmlformats.org/officeDocument/2006/relationships" id="260" r:id="R87073b95366641b7"/>
    <p:sldId xmlns:r="http://schemas.openxmlformats.org/officeDocument/2006/relationships" id="261" r:id="Rd83681f8d76e4719"/>
    <p:sldId xmlns:r="http://schemas.openxmlformats.org/officeDocument/2006/relationships" id="262" r:id="Reba66603b82c45a3"/>
    <p:sldId xmlns:r="http://schemas.openxmlformats.org/officeDocument/2006/relationships" id="263" r:id="Rebcc65d533474a07"/>
    <p:sldId xmlns:r="http://schemas.openxmlformats.org/officeDocument/2006/relationships" id="264" r:id="R001be7961e0944e0"/>
    <p:sldId xmlns:r="http://schemas.openxmlformats.org/officeDocument/2006/relationships" id="265" r:id="R9b40b2d910b14e9b"/>
    <p:sldId xmlns:r="http://schemas.openxmlformats.org/officeDocument/2006/relationships" id="266" r:id="R93a76805c513400e"/>
    <p:sldId xmlns:r="http://schemas.openxmlformats.org/officeDocument/2006/relationships" id="267" r:id="Re9f5274ad9934e1c"/>
    <p:sldId xmlns:r="http://schemas.openxmlformats.org/officeDocument/2006/relationships" id="268" r:id="R680342cdd0c54bb1"/>
    <p:sldId xmlns:r="http://schemas.openxmlformats.org/officeDocument/2006/relationships" id="269" r:id="R920bd6a0baf24321"/>
    <p:sldId xmlns:r="http://schemas.openxmlformats.org/officeDocument/2006/relationships" id="270" r:id="Rd0b04d49ec524794"/>
    <p:sldId xmlns:r="http://schemas.openxmlformats.org/officeDocument/2006/relationships" id="271" r:id="R7de546c46d5143eb"/>
    <p:sldId xmlns:r="http://schemas.openxmlformats.org/officeDocument/2006/relationships" id="272" r:id="Rf4491695f8844b33"/>
    <p:sldId xmlns:r="http://schemas.openxmlformats.org/officeDocument/2006/relationships" id="273" r:id="R61f4991f910b4657"/>
    <p:sldId xmlns:r="http://schemas.openxmlformats.org/officeDocument/2006/relationships" id="274" r:id="R2d935656aa9c441d"/>
    <p:sldId xmlns:r="http://schemas.openxmlformats.org/officeDocument/2006/relationships" id="275" r:id="R78dd05d2924349b1"/>
    <p:sldId xmlns:r="http://schemas.openxmlformats.org/officeDocument/2006/relationships" id="276" r:id="R52d647a98422430c"/>
    <p:sldId xmlns:r="http://schemas.openxmlformats.org/officeDocument/2006/relationships" id="277" r:id="R23500f4cbf0e4ff6"/>
    <p:sldId xmlns:r="http://schemas.openxmlformats.org/officeDocument/2006/relationships" id="278" r:id="R10a0fff33c7b4dd3"/>
    <p:sldId xmlns:r="http://schemas.openxmlformats.org/officeDocument/2006/relationships" id="279" r:id="R0d3c458dda534ee0"/>
    <p:sldId xmlns:r="http://schemas.openxmlformats.org/officeDocument/2006/relationships" id="280" r:id="Rcefae6a696104af3"/>
    <p:sldId xmlns:r="http://schemas.openxmlformats.org/officeDocument/2006/relationships" id="281" r:id="R7205a59963e547a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52e47c44604421" /><Relationship Type="http://schemas.openxmlformats.org/officeDocument/2006/relationships/slideMaster" Target="/ppt/slideMasters/slideMaster1.xml" Id="Rc3b9954930d94cef" /><Relationship Type="http://schemas.openxmlformats.org/officeDocument/2006/relationships/notesMaster" Target="/ppt/notesMasters/notesMaster1.xml" Id="R4f8bebd0adcd4df4" /><Relationship Type="http://schemas.openxmlformats.org/officeDocument/2006/relationships/presProps" Target="/ppt/presProps.xml" Id="Rcf85680c952b49d1" /><Relationship Type="http://schemas.openxmlformats.org/officeDocument/2006/relationships/tableStyles" Target="/ppt/tableStyles.xml" Id="R2f0d6c75d47945f5" /><Relationship Type="http://schemas.openxmlformats.org/officeDocument/2006/relationships/slide" Target="/ppt/slides/slide1.xml" Id="R27835cb9c249462f" /><Relationship Type="http://schemas.openxmlformats.org/officeDocument/2006/relationships/slide" Target="/ppt/slides/slide2.xml" Id="R5efed051fc0a4408" /><Relationship Type="http://schemas.openxmlformats.org/officeDocument/2006/relationships/slide" Target="/ppt/slides/slide3.xml" Id="R9df24e88fc8d4b70" /><Relationship Type="http://schemas.openxmlformats.org/officeDocument/2006/relationships/slide" Target="/ppt/slides/slide4.xml" Id="Re011418eae9c4bc7" /><Relationship Type="http://schemas.openxmlformats.org/officeDocument/2006/relationships/slide" Target="/ppt/slides/slide5.xml" Id="R87073b95366641b7" /><Relationship Type="http://schemas.openxmlformats.org/officeDocument/2006/relationships/slide" Target="/ppt/slides/slide6.xml" Id="Rd83681f8d76e4719" /><Relationship Type="http://schemas.openxmlformats.org/officeDocument/2006/relationships/slide" Target="/ppt/slides/slide7.xml" Id="Reba66603b82c45a3" /><Relationship Type="http://schemas.openxmlformats.org/officeDocument/2006/relationships/slide" Target="/ppt/slides/slide8.xml" Id="Rebcc65d533474a07" /><Relationship Type="http://schemas.openxmlformats.org/officeDocument/2006/relationships/slide" Target="/ppt/slides/slide9.xml" Id="R001be7961e0944e0" /><Relationship Type="http://schemas.openxmlformats.org/officeDocument/2006/relationships/slide" Target="/ppt/slides/slide10.xml" Id="R9b40b2d910b14e9b" /><Relationship Type="http://schemas.openxmlformats.org/officeDocument/2006/relationships/slide" Target="/ppt/slides/slide11.xml" Id="R93a76805c513400e" /><Relationship Type="http://schemas.openxmlformats.org/officeDocument/2006/relationships/slide" Target="/ppt/slides/slide12.xml" Id="Re9f5274ad9934e1c" /><Relationship Type="http://schemas.openxmlformats.org/officeDocument/2006/relationships/slide" Target="/ppt/slides/slide13.xml" Id="R680342cdd0c54bb1" /><Relationship Type="http://schemas.openxmlformats.org/officeDocument/2006/relationships/slide" Target="/ppt/slides/slide14.xml" Id="R920bd6a0baf24321" /><Relationship Type="http://schemas.openxmlformats.org/officeDocument/2006/relationships/slide" Target="/ppt/slides/slide15.xml" Id="Rd0b04d49ec524794" /><Relationship Type="http://schemas.openxmlformats.org/officeDocument/2006/relationships/slide" Target="/ppt/slides/slide16.xml" Id="R7de546c46d5143eb" /><Relationship Type="http://schemas.openxmlformats.org/officeDocument/2006/relationships/slide" Target="/ppt/slides/slide17.xml" Id="Rf4491695f8844b33" /><Relationship Type="http://schemas.openxmlformats.org/officeDocument/2006/relationships/slide" Target="/ppt/slides/slide18.xml" Id="R61f4991f910b4657" /><Relationship Type="http://schemas.openxmlformats.org/officeDocument/2006/relationships/slide" Target="/ppt/slides/slide19.xml" Id="R2d935656aa9c441d" /><Relationship Type="http://schemas.openxmlformats.org/officeDocument/2006/relationships/slide" Target="/ppt/slides/slide20.xml" Id="R78dd05d2924349b1" /><Relationship Type="http://schemas.openxmlformats.org/officeDocument/2006/relationships/slide" Target="/ppt/slides/slide21.xml" Id="R52d647a98422430c" /><Relationship Type="http://schemas.openxmlformats.org/officeDocument/2006/relationships/slide" Target="/ppt/slides/slide22.xml" Id="R23500f4cbf0e4ff6" /><Relationship Type="http://schemas.openxmlformats.org/officeDocument/2006/relationships/slide" Target="/ppt/slides/slide23.xml" Id="R10a0fff33c7b4dd3" /><Relationship Type="http://schemas.openxmlformats.org/officeDocument/2006/relationships/slide" Target="/ppt/slides/slide24.xml" Id="R0d3c458dda534ee0" /><Relationship Type="http://schemas.openxmlformats.org/officeDocument/2006/relationships/slide" Target="/ppt/slides/slide25.xml" Id="Rcefae6a696104af3" /><Relationship Type="http://schemas.openxmlformats.org/officeDocument/2006/relationships/slide" Target="/ppt/slides/slide26.xml" Id="R7205a59963e547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3227f97a7b44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23fab636704e95" /><Relationship Type="http://schemas.openxmlformats.org/officeDocument/2006/relationships/notesMaster" Target="/ppt/notesMasters/notesMaster1.xml" Id="R3a796c00e56642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9a7532e4144c3a" /><Relationship Type="http://schemas.openxmlformats.org/officeDocument/2006/relationships/notesMaster" Target="/ppt/notesMasters/notesMaster1.xml" Id="R5ed999fa48b4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265aea45c43c0" /><Relationship Type="http://schemas.openxmlformats.org/officeDocument/2006/relationships/notesMaster" Target="/ppt/notesMasters/notesMaster1.xml" Id="R110df81419c045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7110f5c638474a" /><Relationship Type="http://schemas.openxmlformats.org/officeDocument/2006/relationships/notesMaster" Target="/ppt/notesMasters/notesMaster1.xml" Id="Rd60483158c6349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6391cea77b4140" /><Relationship Type="http://schemas.openxmlformats.org/officeDocument/2006/relationships/notesMaster" Target="/ppt/notesMasters/notesMaster1.xml" Id="R1ab00ae7007743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28c707b629485f" /><Relationship Type="http://schemas.openxmlformats.org/officeDocument/2006/relationships/notesMaster" Target="/ppt/notesMasters/notesMaster1.xml" Id="R56a7233c3e684c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943a23dc5b4ecc" /><Relationship Type="http://schemas.openxmlformats.org/officeDocument/2006/relationships/notesMaster" Target="/ppt/notesMasters/notesMaster1.xml" Id="R358d2a4271254f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0d3f5eb9514d2b" /><Relationship Type="http://schemas.openxmlformats.org/officeDocument/2006/relationships/notesMaster" Target="/ppt/notesMasters/notesMaster1.xml" Id="Rf656053a398141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b23a803a664f79" /><Relationship Type="http://schemas.openxmlformats.org/officeDocument/2006/relationships/notesMaster" Target="/ppt/notesMasters/notesMaster1.xml" Id="Ra0c7bc7e6f164b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0b16627b684965" /><Relationship Type="http://schemas.openxmlformats.org/officeDocument/2006/relationships/notesMaster" Target="/ppt/notesMasters/notesMaster1.xml" Id="Rbdc58317ec9e46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929eca6b4e43b6" /><Relationship Type="http://schemas.openxmlformats.org/officeDocument/2006/relationships/notesMaster" Target="/ppt/notesMasters/notesMaster1.xml" Id="R809c997b505d4b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ec4014e3ad4839" /><Relationship Type="http://schemas.openxmlformats.org/officeDocument/2006/relationships/notesMaster" Target="/ppt/notesMasters/notesMaster1.xml" Id="R747ff6018c784c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14abcce6e645e3" /><Relationship Type="http://schemas.openxmlformats.org/officeDocument/2006/relationships/notesMaster" Target="/ppt/notesMasters/notesMaster1.xml" Id="R8d405c51b43e48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6260b80a414b01" /><Relationship Type="http://schemas.openxmlformats.org/officeDocument/2006/relationships/notesMaster" Target="/ppt/notesMasters/notesMaster1.xml" Id="Rfc35ceb23b344c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5cbd3b0d584ce6" /><Relationship Type="http://schemas.openxmlformats.org/officeDocument/2006/relationships/notesMaster" Target="/ppt/notesMasters/notesMaster1.xml" Id="Rcc867bc8a3ca4e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196e10ac014660" /><Relationship Type="http://schemas.openxmlformats.org/officeDocument/2006/relationships/notesMaster" Target="/ppt/notesMasters/notesMaster1.xml" Id="R5bd4c4c2baff40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a5f77e4a194008" /><Relationship Type="http://schemas.openxmlformats.org/officeDocument/2006/relationships/notesMaster" Target="/ppt/notesMasters/notesMaster1.xml" Id="Rb552e81a57c847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3f90a75f2e4fdc" /><Relationship Type="http://schemas.openxmlformats.org/officeDocument/2006/relationships/notesMaster" Target="/ppt/notesMasters/notesMaster1.xml" Id="R3142b796f1d843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137938ae004bfb" /><Relationship Type="http://schemas.openxmlformats.org/officeDocument/2006/relationships/notesMaster" Target="/ppt/notesMasters/notesMaster1.xml" Id="R7924834e68fe4c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7f97ea58144ebb" /><Relationship Type="http://schemas.openxmlformats.org/officeDocument/2006/relationships/notesMaster" Target="/ppt/notesMasters/notesMaster1.xml" Id="R03b92e292a0c45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0819ec56334251" /><Relationship Type="http://schemas.openxmlformats.org/officeDocument/2006/relationships/notesMaster" Target="/ppt/notesMasters/notesMaster1.xml" Id="R01fea7b8e21f45e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9b139b2c434022" /><Relationship Type="http://schemas.openxmlformats.org/officeDocument/2006/relationships/notesMaster" Target="/ppt/notesMasters/notesMaster1.xml" Id="R20d5345d271447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e6e4539636e46a0" /><Relationship Type="http://schemas.openxmlformats.org/officeDocument/2006/relationships/notesMaster" Target="/ppt/notesMasters/notesMaster1.xml" Id="Rc7a825784f9841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c0a49b723e4dc2" /><Relationship Type="http://schemas.openxmlformats.org/officeDocument/2006/relationships/notesMaster" Target="/ppt/notesMasters/notesMaster1.xml" Id="R82c65529ac4e442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8288ac607d245e8" /><Relationship Type="http://schemas.openxmlformats.org/officeDocument/2006/relationships/notesMaster" Target="/ppt/notesMasters/notesMaster1.xml" Id="R754ac2cd7c3f48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58e5c6ac9e4aed" /><Relationship Type="http://schemas.openxmlformats.org/officeDocument/2006/relationships/notesMaster" Target="/ppt/notesMasters/notesMaster1.xml" Id="Rd01a056a61354a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heb je nodig voor de omzet?</a:t>
            </a:r>
          </a:p>
          <a:p xmlns:a="http://schemas.openxmlformats.org/drawingml/2006/main">
            <a:r>
              <a:rPr sz="1400"/>
              <a:t/>
            </a:r>
          </a:p>
          <a:p xmlns:a="http://schemas.openxmlformats.org/drawingml/2006/main">
            <a:r>
              <a:rPr sz="1400"/>
              <a:t>Uitleg: Start met opgaven 1 en 2 op pagina 48. De basis bestaat uit allebei de begeleide opgaven 3 en 4, op pagina 48–49. Daarna volgen 5 en 6 op pagina 49 en doelopgave 7 op pagina 50. Huiswerk is 3 tot en met 7 maken en nakijken. Bonus 8 en herhaling 9–10 zijn extra. Laat deze dia staan tijdens het werken. De volledige route heeft geen gemeten lesduur; laat het huiswerk de route zo nodig afmaken.</a:t>
            </a:r>
          </a:p>
          <a:p xmlns:a="http://schemas.openxmlformats.org/drawingml/2006/main">
            <a:r>
              <a:rPr sz="1400"/>
              <a:t/>
            </a:r>
          </a:p>
          <a:p xmlns:a="http://schemas.openxmlformats.org/drawingml/2006/main">
            <a:r>
              <a:rPr sz="1400"/>
              <a:t>Start en terugblik: Opgave 1 gebruikt TO uit §2.1.2, dia 3, en procentuele verandering met de oude waarde als basis, zoals opgehaald in §2.2.1. Opgave 2b gebruikt het onderscheid omzet/winst uit §2.1.2, dia 4. De lokale omzetregel in opgave 2a is nieuw. Zoek de uitleg en voorwaarden op p. 45 op. Opgave 2b kan het eerdere onderscheid tussen omzet en winst ophalen. Laat leerlingen bij deze verkenning aanwijzen welke uitleg zij gebruiken en hun twijfel noteren. Verwacht de nieuwe bewerking nog niet zonder steun. Bij terugkeer naar dit overzicht vóór het basiswerk: laat leerlingen opgave 2a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Omzet en winst zijn verschillende grootheden. Begeleide inoefening hoort bij de normale route.</a:t>
            </a:r>
          </a:p>
          <a:p xmlns:a="http://schemas.openxmlformats.org/drawingml/2006/main">
            <a:r>
              <a:rPr sz="1400"/>
              <a:t/>
            </a:r>
          </a:p>
          <a:p xmlns:a="http://schemas.openxmlformats.org/drawingml/2006/main">
            <a:r>
              <a:rPr sz="1400"/>
              <a:t>Overgang: Haal de eerdere kennis op, begeleid de verkenning van 2a met p. 45 en licht daarna de doelen toe.</a:t>
            </a:r>
          </a:p>
          <a:p xmlns:a="http://schemas.openxmlformats.org/drawingml/2006/main">
            <a:r>
              <a:rPr sz="1400"/>
              <a:t/>
            </a:r>
          </a:p>
          <a:p xmlns:a="http://schemas.openxmlformats.org/drawingml/2006/main">
            <a:r>
              <a:rPr sz="1400"/>
              <a:t>Bron: Leerlingenboek Boek 2, chatuitgave 2026, herziene theorie 21 september 2026, gedrukte pagina 48–50.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een hogere prijs toch minder omzet geven?</a:t>
            </a:r>
          </a:p>
          <a:p xmlns:a="http://schemas.openxmlformats.org/drawingml/2006/main">
            <a:r>
              <a:rPr sz="1400"/>
              <a:t/>
            </a:r>
          </a:p>
          <a:p xmlns:a="http://schemas.openxmlformats.org/drawingml/2006/main">
            <a:r>
              <a:rPr sz="1400"/>
              <a:t>Uitleg: De doelen bereiden voor op 7a–f. Activeren: TO = P × Q, procentuele verandering ten opzichte van oud en Ev = %ΔQv / %ΔP. Alle gevraagde eenheden worden in de voorbeelden verkocht, dus Q = Qv.</a:t>
            </a:r>
          </a:p>
          <a:p xmlns:a="http://schemas.openxmlformats.org/drawingml/2006/main">
            <a:r>
              <a:rPr sz="1400"/>
              <a:t/>
            </a:r>
          </a:p>
          <a:p xmlns:a="http://schemas.openxmlformats.org/drawingml/2006/main">
            <a:r>
              <a:rPr sz="1400"/>
              <a:t>Misvatting: Een hogere prijs alleen bepaalt de omzet niet.</a:t>
            </a:r>
          </a:p>
          <a:p xmlns:a="http://schemas.openxmlformats.org/drawingml/2006/main">
            <a:r>
              <a:rPr sz="1400"/>
              <a:t/>
            </a:r>
          </a:p>
          <a:p xmlns:a="http://schemas.openxmlformats.org/drawingml/2006/main">
            <a:r>
              <a:rPr sz="1400"/>
              <a:t>Overgang: Begin met een eigen workshopvoorbeeld.</a:t>
            </a:r>
          </a:p>
          <a:p xmlns:a="http://schemas.openxmlformats.org/drawingml/2006/main">
            <a:r>
              <a:rPr sz="1400"/>
              <a:t/>
            </a:r>
          </a:p>
          <a:p xmlns:a="http://schemas.openxmlformats.org/drawingml/2006/main">
            <a:r>
              <a:rPr sz="1400"/>
              <a:t>Bron: Leerlingenboek Boek 2, chatuitgave 2026, herziene theorie 21 september 2026, gedrukte pagina 44–47.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hoort bij 152 verkochte plaatsen?</a:t>
            </a:r>
          </a:p>
          <a:p xmlns:a="http://schemas.openxmlformats.org/drawingml/2006/main">
            <a:r>
              <a:rPr sz="1400"/>
              <a:t/>
            </a:r>
          </a:p>
          <a:p xmlns:a="http://schemas.openxmlformats.org/drawingml/2006/main">
            <a:r>
              <a:rPr sz="1400"/>
              <a:t>Uitleg: Dit is een zelfgemaakt voorbeeld. KeramiekStudio verkoopt eerst 160 plaatsen voor 30 euro per plaats. Na de prijsverhoging tot 33 euro zijn dat 152 plaatsen per maand. Gebruik steeds P en Q uit dezelfde situatie. De omzet heeft als eenheid euro per maand.</a:t>
            </a:r>
          </a:p>
          <a:p xmlns:a="http://schemas.openxmlformats.org/drawingml/2006/main">
            <a:r>
              <a:rPr sz="1400"/>
              <a:t/>
            </a:r>
          </a:p>
          <a:p xmlns:a="http://schemas.openxmlformats.org/drawingml/2006/main">
            <a:r>
              <a:rPr sz="1400"/>
              <a:t>Misvatting: Vermenigvuldig niet de nieuwe prijs met de oude afzet.</a:t>
            </a:r>
          </a:p>
          <a:p xmlns:a="http://schemas.openxmlformats.org/drawingml/2006/main">
            <a:r>
              <a:rPr sz="1400"/>
              <a:t/>
            </a:r>
          </a:p>
          <a:p xmlns:a="http://schemas.openxmlformats.org/drawingml/2006/main">
            <a:r>
              <a:rPr sz="1400"/>
              <a:t>Overgang: Maak de oude omzet zichtbaar als een oppervlakte.</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44, 46.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heeft breedte maal hoogte?</a:t>
            </a:r>
          </a:p>
          <a:p xmlns:a="http://schemas.openxmlformats.org/drawingml/2006/main">
            <a:r>
              <a:rPr sz="1400"/>
              <a:t/>
            </a:r>
          </a:p>
          <a:p xmlns:a="http://schemas.openxmlformats.org/drawingml/2006/main">
            <a:r>
              <a:rPr sz="1400"/>
              <a:t>Uitleg: De horizontale as meet plaatsen per maand, de verticale as euro per plaats. Binnen de omtrek ligt een rechthoek van 160 × 30. De oppervlakte is 4800 euro per maand. Dit is een omzetrechthoek, geen winstvlak. Er wordt geen vraagfunctie verondersteld.</a:t>
            </a:r>
          </a:p>
          <a:p xmlns:a="http://schemas.openxmlformats.org/drawingml/2006/main">
            <a:r>
              <a:rPr sz="1400"/>
              <a:t/>
            </a:r>
          </a:p>
          <a:p xmlns:a="http://schemas.openxmlformats.org/drawingml/2006/main">
            <a:r>
              <a:rPr sz="1400"/>
              <a:t>Misvatting: P is een bedrag per plaats. De verticale as geeft geen totale omzet.</a:t>
            </a:r>
          </a:p>
          <a:p xmlns:a="http://schemas.openxmlformats.org/drawingml/2006/main">
            <a:r>
              <a:rPr sz="1400"/>
              <a:t/>
            </a:r>
          </a:p>
          <a:p xmlns:a="http://schemas.openxmlformats.org/drawingml/2006/main">
            <a:r>
              <a:rPr sz="1400"/>
              <a:t>Overgang: Vergelijk nu met de nieuwe prijs en afzet op dezelfde assen.</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44.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alleen naar de hoogte kijken onvoldoende?</a:t>
            </a:r>
          </a:p>
          <a:p xmlns:a="http://schemas.openxmlformats.org/drawingml/2006/main">
            <a:r>
              <a:rPr sz="1400"/>
              <a:t/>
            </a:r>
          </a:p>
          <a:p xmlns:a="http://schemas.openxmlformats.org/drawingml/2006/main">
            <a:r>
              <a:rPr sz="1400"/>
              <a:t>Uitleg: De assen hebben dezelfde schaal. De groene rechthoek is hoger: de prijs is 33 in plaats van 30 euro. Hij is smaller: 152 in plaats van 160 plaatsen. Het product is 5016 euro per maand, 216 euro meer dan eerst. De grafiek toont omzetoppervlakken en geen geschatte vraagcurve.</a:t>
            </a:r>
          </a:p>
          <a:p xmlns:a="http://schemas.openxmlformats.org/drawingml/2006/main">
            <a:r>
              <a:rPr sz="1400"/>
              <a:t/>
            </a:r>
          </a:p>
          <a:p xmlns:a="http://schemas.openxmlformats.org/drawingml/2006/main">
            <a:r>
              <a:rPr sz="1400"/>
              <a:t>Misvatting: P is een bedrag per plaats. De verticale as geeft geen totale omzet.</a:t>
            </a:r>
          </a:p>
          <a:p xmlns:a="http://schemas.openxmlformats.org/drawingml/2006/main">
            <a:r>
              <a:rPr sz="1400"/>
              <a:t/>
            </a:r>
          </a:p>
          <a:p xmlns:a="http://schemas.openxmlformats.org/drawingml/2006/main">
            <a:r>
              <a:rPr sz="1400"/>
              <a:t>Overgang: Bereken daarna hoeveel procent de omzet verandert.</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44.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delen we door 4800?</a:t>
            </a:r>
          </a:p>
          <a:p xmlns:a="http://schemas.openxmlformats.org/drawingml/2006/main">
            <a:r>
              <a:rPr sz="1400"/>
              <a:t/>
            </a:r>
          </a:p>
          <a:p xmlns:a="http://schemas.openxmlformats.org/drawingml/2006/main">
            <a:r>
              <a:rPr sz="1400"/>
              <a:t>Uitleg: Eerst het verschil: 5016 − 4800 = 216 euro per maand. Deel dit door 4800, de oude omzet, en vermenigvuldig met 100%. Dat is 4,5%. Het plusteken duidt een stijging aan.</a:t>
            </a:r>
          </a:p>
          <a:p xmlns:a="http://schemas.openxmlformats.org/drawingml/2006/main">
            <a:r>
              <a:rPr sz="1400"/>
              <a:t/>
            </a:r>
          </a:p>
          <a:p xmlns:a="http://schemas.openxmlformats.org/drawingml/2006/main">
            <a:r>
              <a:rPr sz="1400"/>
              <a:t>Misvatting: De noemer is de oude omzet, niet de nieuwe omzet, de prijs of het aantal.</a:t>
            </a:r>
          </a:p>
          <a:p xmlns:a="http://schemas.openxmlformats.org/drawingml/2006/main">
            <a:r>
              <a:rPr sz="1400"/>
              <a:t/>
            </a:r>
          </a:p>
          <a:p xmlns:a="http://schemas.openxmlformats.org/drawingml/2006/main">
            <a:r>
              <a:rPr sz="1400"/>
              <a:t>Overgang: Verbind deze uitkomst aan de relatieve hoeveelheidsreactie.</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46.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de reactie zwak in aantallen of in procenten?</a:t>
            </a:r>
          </a:p>
          <a:p xmlns:a="http://schemas.openxmlformats.org/drawingml/2006/main">
            <a:r>
              <a:rPr sz="1400"/>
              <a:t/>
            </a:r>
          </a:p>
          <a:p xmlns:a="http://schemas.openxmlformats.org/drawingml/2006/main">
            <a:r>
              <a:rPr sz="1400"/>
              <a:t>Uitleg: De prijs stijgt relatief tweemaal zo sterk als de afzet daalt. Ev = −0,5 is prijsinelastisch. In deze meting weegt het hogere bedrag per plaats zwaarder: de directe berekening heeft de omzetstijging aangetoond. Ev beschrijft hier de gemeten stap en bewijst geen gelijke reactie bij een volgende prijs.</a:t>
            </a:r>
          </a:p>
          <a:p xmlns:a="http://schemas.openxmlformats.org/drawingml/2006/main">
            <a:r>
              <a:rPr sz="1400"/>
              <a:t/>
            </a:r>
          </a:p>
          <a:p xmlns:a="http://schemas.openxmlformats.org/drawingml/2006/main">
            <a:r>
              <a:rPr sz="1400"/>
              <a:t>Misvatting: Vergelijk procenten, geen euro’s met aantallen. Ev is dimensieloos.</a:t>
            </a:r>
          </a:p>
          <a:p xmlns:a="http://schemas.openxmlformats.org/drawingml/2006/main">
            <a:r>
              <a:rPr sz="1400"/>
              <a:t/>
            </a:r>
          </a:p>
          <a:p xmlns:a="http://schemas.openxmlformats.org/drawingml/2006/main">
            <a:r>
              <a:rPr sz="1400"/>
              <a:t>Overgang: Vergelijk nu met een sterke hoeveelheidsreactie.</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45–46.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Hoeveel omzet verdwijnt per week?</a:t>
            </a:r>
          </a:p>
          <a:p xmlns:a="http://schemas.openxmlformats.org/drawingml/2006/main">
            <a:r>
              <a:rPr sz="1400"/>
              <a:t/>
            </a:r>
          </a:p>
          <a:p xmlns:a="http://schemas.openxmlformats.org/drawingml/2006/main">
            <a:r>
              <a:rPr sz="1400"/>
              <a:t>Uitleg: Tweede zelfgemaakte context. Eerst 200 verhuringen voor 25 euro, daarna 140 voor 30 euro, telkens per week. TO oud is 5000 en TO nieuw 4200 euro per week. Gebruik bij ieder product de passende P en Q.</a:t>
            </a:r>
          </a:p>
          <a:p xmlns:a="http://schemas.openxmlformats.org/drawingml/2006/main">
            <a:r>
              <a:rPr sz="1400"/>
              <a:t/>
            </a:r>
          </a:p>
          <a:p xmlns:a="http://schemas.openxmlformats.org/drawingml/2006/main">
            <a:r>
              <a:rPr sz="1400"/>
              <a:t>Misvatting: De prijs is hoger maar de totale omzet kan lager zijn.</a:t>
            </a:r>
          </a:p>
          <a:p xmlns:a="http://schemas.openxmlformats.org/drawingml/2006/main">
            <a:r>
              <a:rPr sz="1400"/>
              <a:t/>
            </a:r>
          </a:p>
          <a:p xmlns:a="http://schemas.openxmlformats.org/drawingml/2006/main">
            <a:r>
              <a:rPr sz="1400"/>
              <a:t>Overgang: Bereken de procentuele verandering en verbind die aan Ev.</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44, 46–47.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procentuele veranderingen vergelijken we voor Ev?</a:t>
            </a:r>
          </a:p>
          <a:p xmlns:a="http://schemas.openxmlformats.org/drawingml/2006/main">
            <a:r>
              <a:rPr sz="1400"/>
              <a:t/>
            </a:r>
          </a:p>
          <a:p xmlns:a="http://schemas.openxmlformats.org/drawingml/2006/main">
            <a:r>
              <a:rPr sz="1400"/>
              <a:t>Uitleg: Het omzetverschil van min 800 delen we door de oude 5000. Dat is min 16%. De prijs stijgt van 25 naar 30: plus 20%. Q daalt van 200 naar 140: min 30%. Ev is min 1,5, dus prijselastisch. De procentuele afzetdaling is sterker dan de procentuele prijsstijging.</a:t>
            </a:r>
          </a:p>
          <a:p xmlns:a="http://schemas.openxmlformats.org/drawingml/2006/main">
            <a:r>
              <a:rPr sz="1400"/>
              <a:t/>
            </a:r>
          </a:p>
          <a:p xmlns:a="http://schemas.openxmlformats.org/drawingml/2006/main">
            <a:r>
              <a:rPr sz="1400"/>
              <a:t>Misvatting: Ev gebruikt de hoeveelheidsverandering in de teller, niet de omzetverandering van min 16%.</a:t>
            </a:r>
          </a:p>
          <a:p xmlns:a="http://schemas.openxmlformats.org/drawingml/2006/main">
            <a:r>
              <a:rPr sz="1400"/>
              <a:t/>
            </a:r>
          </a:p>
          <a:p xmlns:a="http://schemas.openxmlformats.org/drawingml/2006/main">
            <a:r>
              <a:rPr sz="1400"/>
              <a:t>Overgang: Vat de lokale omzetregel samen.</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45–47.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aan de regel als de prijs daalt?</a:t>
            </a:r>
          </a:p>
          <a:p xmlns:a="http://schemas.openxmlformats.org/drawingml/2006/main">
            <a:r>
              <a:rPr sz="1400"/>
              <a:t/>
            </a:r>
          </a:p>
          <a:p xmlns:a="http://schemas.openxmlformats.org/drawingml/2006/main">
            <a:r>
              <a:rPr sz="1400"/>
              <a:t>Uitleg: Bij een kleine prijsstijging werken de hogere prijs en de lagere afzet tegen elkaar in. Bij prijsinelastische vraag is de relatieve hoeveelheidsreactie zwak en stijgt TO. Bij prijselastische vraag is zij sterk en daalt TO. Bij een kleine prijsdaling draaien de richtingen om. Bij Ev = −1 zijn de effecten lokaal ongeveer in evenwicht. De elasticiteit bij een punt is niet automatisch gelijk aan de gemeten verhouding over een grote stap.</a:t>
            </a:r>
          </a:p>
          <a:p xmlns:a="http://schemas.openxmlformats.org/drawingml/2006/main">
            <a:r>
              <a:rPr sz="1400"/>
              <a:t/>
            </a:r>
          </a:p>
          <a:p xmlns:a="http://schemas.openxmlformats.org/drawingml/2006/main">
            <a:r>
              <a:rPr sz="1400"/>
              <a:t>Misvatting: Deze regel is geen garantie voor elke grote eindige prijswijziging.</a:t>
            </a:r>
          </a:p>
          <a:p xmlns:a="http://schemas.openxmlformats.org/drawingml/2006/main">
            <a:r>
              <a:rPr sz="1400"/>
              <a:t/>
            </a:r>
          </a:p>
          <a:p xmlns:a="http://schemas.openxmlformats.org/drawingml/2006/main">
            <a:r>
              <a:rPr sz="1400"/>
              <a:t>Overgang: Laat zien waarom je beide omzetbedragen rechtstreeks berekent.</a:t>
            </a:r>
          </a:p>
          <a:p xmlns:a="http://schemas.openxmlformats.org/drawingml/2006/main">
            <a:r>
              <a:rPr sz="1400"/>
              <a:t/>
            </a:r>
          </a:p>
          <a:p xmlns:a="http://schemas.openxmlformats.org/drawingml/2006/main">
            <a:r>
              <a:rPr sz="1400"/>
              <a:t>Bron: Leerlingenboek Boek 2, chatuitgave 2026, herziene theorie 21 september 2026, gedrukte pagina 45.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vermenigvuldigen we hier groeifactoren?</a:t>
            </a:r>
          </a:p>
          <a:p xmlns:a="http://schemas.openxmlformats.org/drawingml/2006/main">
            <a:r>
              <a:rPr sz="1400"/>
              <a:t/>
            </a:r>
          </a:p>
          <a:p xmlns:a="http://schemas.openxmlformats.org/drawingml/2006/main">
            <a:r>
              <a:rPr sz="1400"/>
              <a:t>Uitleg: Omdat TO = P × Q geldt exact dat de omzetfactor het product is van de prijsfactor en de hoeveelheidsfactor. 1,20 maal 0,70 is 0,84. De procenten simpel optellen laat de interactie van beide veranderingen weg. Een gemeten Ev over een grote stap bepaalt niet de lokale reactie bij elke prijs. Daarom reken je de twee omzetbedragen uit.</a:t>
            </a:r>
          </a:p>
          <a:p xmlns:a="http://schemas.openxmlformats.org/drawingml/2006/main">
            <a:r>
              <a:rPr sz="1400"/>
              <a:t/>
            </a:r>
          </a:p>
          <a:p xmlns:a="http://schemas.openxmlformats.org/drawingml/2006/main">
            <a:r>
              <a:rPr sz="1400"/>
              <a:t>Misvatting: Een stijging en een daling kun je niet zonder meer tegen elkaar wegstrepen.</a:t>
            </a:r>
          </a:p>
          <a:p xmlns:a="http://schemas.openxmlformats.org/drawingml/2006/main">
            <a:r>
              <a:rPr sz="1400"/>
              <a:t/>
            </a:r>
          </a:p>
          <a:p xmlns:a="http://schemas.openxmlformats.org/drawingml/2006/main">
            <a:r>
              <a:rPr sz="1400"/>
              <a:t>Overgang: Bepaal welke gegevens nodig zijn voor een winstconclusie.</a:t>
            </a:r>
          </a:p>
          <a:p xmlns:a="http://schemas.openxmlformats.org/drawingml/2006/main">
            <a:r>
              <a:rPr sz="1400"/>
              <a:t/>
            </a:r>
          </a:p>
          <a:p xmlns:a="http://schemas.openxmlformats.org/drawingml/2006/main">
            <a:r>
              <a:rPr sz="1400"/>
              <a:t>Bron: Zelfgemaakt uitlegvoorbeeld met eigen context en gegevens, niet uit het boek. De boekpagina’s zijn uitsluitend de bron voor de methode. Leerlingenboek Boek 2, chatuitgave 2026, herziene theorie 21 september 2026, gedrukte pagina 45, 47.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extra bedragen zijn nodig?</a:t>
            </a:r>
          </a:p>
          <a:p xmlns:a="http://schemas.openxmlformats.org/drawingml/2006/main">
            <a:r>
              <a:rPr sz="1400"/>
              <a:t/>
            </a:r>
          </a:p>
          <a:p xmlns:a="http://schemas.openxmlformats.org/drawingml/2006/main">
            <a:r>
              <a:rPr sz="1400"/>
              <a:t>Uitleg: Zet voor elke periode opbrengsten en kosten naast elkaar. Je kunt winst pas vergelijken als je beide kostenbedragen kent. Minder verkopen kan de kosten ook veranderen. Een volgende prijsstap kan bovendien een andere vraagreactie geven.</a:t>
            </a:r>
          </a:p>
          <a:p xmlns:a="http://schemas.openxmlformats.org/drawingml/2006/main">
            <a:r>
              <a:rPr sz="1400"/>
              <a:t/>
            </a:r>
          </a:p>
          <a:p xmlns:a="http://schemas.openxmlformats.org/drawingml/2006/main">
            <a:r>
              <a:rPr sz="1400"/>
              <a:t>Misvatting: Vul ontbrekende kosten niet automatisch als nul in.</a:t>
            </a:r>
          </a:p>
          <a:p xmlns:a="http://schemas.openxmlformats.org/drawingml/2006/main">
            <a:r>
              <a:rPr sz="1400"/>
              <a:t/>
            </a:r>
          </a:p>
          <a:p xmlns:a="http://schemas.openxmlformats.org/drawingml/2006/main">
            <a:r>
              <a:rPr sz="1400"/>
              <a:t>Overgang: Laat leerlingen een korte redenering toetsen.</a:t>
            </a:r>
          </a:p>
          <a:p xmlns:a="http://schemas.openxmlformats.org/drawingml/2006/main">
            <a:r>
              <a:rPr sz="1400"/>
              <a:t/>
            </a:r>
          </a:p>
          <a:p xmlns:a="http://schemas.openxmlformats.org/drawingml/2006/main">
            <a:r>
              <a:rPr sz="1400"/>
              <a:t>Bron: Leerlingenboek Boek 2, chatuitgave 2026, herziene theorie 21 september 2026, gedrukte pagina 44–47.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de prijsrichting, en hoe sterk reageert Q relatief?</a:t>
            </a:r>
          </a:p>
          <a:p xmlns:a="http://schemas.openxmlformats.org/drawingml/2006/main">
            <a:r>
              <a:rPr sz="1400"/>
              <a:t/>
            </a:r>
          </a:p>
          <a:p xmlns:a="http://schemas.openxmlformats.org/drawingml/2006/main">
            <a:r>
              <a:rPr sz="1400"/>
              <a:t>Uitleg: Laat leerlingen eerst individueel een richting en een reden bedenken. Dit is een korte begripscontrole zonder extra huiswerkopgave. Gebruik de prijsdaling om te voorkomen dat leerlingen één omzetrichting aan het woord inelastisch koppelen.</a:t>
            </a:r>
          </a:p>
          <a:p xmlns:a="http://schemas.openxmlformats.org/drawingml/2006/main">
            <a:r>
              <a:rPr sz="1400"/>
              <a:t/>
            </a:r>
          </a:p>
          <a:p xmlns:a="http://schemas.openxmlformats.org/drawingml/2006/main">
            <a:r>
              <a:rPr sz="1400"/>
              <a:t>Misvatting: Prijsinelastisch betekent niet dat TO altijd stijgt.</a:t>
            </a:r>
          </a:p>
          <a:p xmlns:a="http://schemas.openxmlformats.org/drawingml/2006/main">
            <a:r>
              <a:rPr sz="1400"/>
              <a:t/>
            </a:r>
          </a:p>
          <a:p xmlns:a="http://schemas.openxmlformats.org/drawingml/2006/main">
            <a:r>
              <a:rPr sz="1400"/>
              <a:t>Overgang: Toon de redenering nadat leerlingen hun antwoord hebben gegeven.</a:t>
            </a:r>
          </a:p>
          <a:p xmlns:a="http://schemas.openxmlformats.org/drawingml/2006/main">
            <a:r>
              <a:rPr sz="1400"/>
              <a:t/>
            </a:r>
          </a:p>
          <a:p xmlns:a="http://schemas.openxmlformats.org/drawingml/2006/main">
            <a:r>
              <a:rPr sz="1400"/>
              <a:t>Bron: Leerlingenboek Boek 2, chatuitgave 2026, herziene theorie 21 september 2026, gedrukte pagina 45.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de prijsrichting, en hoe sterk reageert Q relatief?</a:t>
            </a:r>
          </a:p>
          <a:p xmlns:a="http://schemas.openxmlformats.org/drawingml/2006/main">
            <a:r>
              <a:rPr sz="1400"/>
              <a:t/>
            </a:r>
          </a:p>
          <a:p xmlns:a="http://schemas.openxmlformats.org/drawingml/2006/main">
            <a:r>
              <a:rPr sz="1400"/>
              <a:t>Uitleg: Bij prijsinelastische vraag groeit Q relatief weinig bij een kleine prijsdaling. De lagere opbrengst per eenheid weegt zwaarder en TO daalt lokaal. Voor winst ontbreken de kosten. Bij een werkelijke verandering met P en Q vóór en na controleer je TO rechtstreeks.</a:t>
            </a:r>
          </a:p>
          <a:p xmlns:a="http://schemas.openxmlformats.org/drawingml/2006/main">
            <a:r>
              <a:rPr sz="1400"/>
              <a:t/>
            </a:r>
          </a:p>
          <a:p xmlns:a="http://schemas.openxmlformats.org/drawingml/2006/main">
            <a:r>
              <a:rPr sz="1400"/>
              <a:t>Misvatting: Prijsinelastisch betekent niet dat TO altijd stijgt.</a:t>
            </a:r>
          </a:p>
          <a:p xmlns:a="http://schemas.openxmlformats.org/drawingml/2006/main">
            <a:r>
              <a:rPr sz="1400"/>
              <a:t/>
            </a:r>
          </a:p>
          <a:p xmlns:a="http://schemas.openxmlformats.org/drawingml/2006/main">
            <a:r>
              <a:rPr sz="1400"/>
              <a:t>Overgang: Laat de overzichtsdia staan tijdens het werken.</a:t>
            </a:r>
          </a:p>
          <a:p xmlns:a="http://schemas.openxmlformats.org/drawingml/2006/main">
            <a:r>
              <a:rPr sz="1400"/>
              <a:t/>
            </a:r>
          </a:p>
          <a:p xmlns:a="http://schemas.openxmlformats.org/drawingml/2006/main">
            <a:r>
              <a:rPr sz="1400"/>
              <a:t>Bron: Leerlingenboek Boek 2, chatuitgave 2026, herziene theorie 21 september 2026, gedrukte pagina 45.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heb je nodig voor de omzet?</a:t>
            </a:r>
          </a:p>
          <a:p xmlns:a="http://schemas.openxmlformats.org/drawingml/2006/main">
            <a:r>
              <a:rPr sz="1400"/>
              <a:t/>
            </a:r>
          </a:p>
          <a:p xmlns:a="http://schemas.openxmlformats.org/drawingml/2006/main">
            <a:r>
              <a:rPr sz="1400"/>
              <a:t>Uitleg: Start met opgaven 1 en 2 op pagina 48. De basis bestaat uit allebei de begeleide opgaven 3 en 4, op pagina 48–49. Daarna volgen 5 en 6 op pagina 49 en doelopgave 7 op pagina 50. Huiswerk is 3 tot en met 7 maken en nakijken. Bonus 8 en herhaling 9–10 zijn extra. Laat deze dia staan tijdens het werken. De volledige route heeft geen gemeten lesduur; laat het huiswerk de route zo nodig afmaken.</a:t>
            </a:r>
          </a:p>
          <a:p xmlns:a="http://schemas.openxmlformats.org/drawingml/2006/main">
            <a:r>
              <a:rPr sz="1400"/>
              <a:t/>
            </a:r>
          </a:p>
          <a:p xmlns:a="http://schemas.openxmlformats.org/drawingml/2006/main">
            <a:r>
              <a:rPr sz="1400"/>
              <a:t>Start en terugblik: Opgave 1 gebruikt TO uit §2.1.2, dia 3, en procentuele verandering met de oude waarde als basis, zoals opgehaald in §2.2.1. Opgave 2b gebruikt het onderscheid omzet/winst uit §2.1.2, dia 4. De lokale omzetregel in opgave 2a is nieuw. Zoek de uitleg en voorwaarden op p. 45 op. Opgave 2b kan het eerdere onderscheid tussen omzet en winst ophalen. Laat leerlingen bij deze verkenning aanwijzen welke uitleg zij gebruiken en hun twijfel noteren. Verwacht de nieuwe bewerking nog niet zonder steun. Bij terugkeer naar dit overzicht vóór het basiswerk: laat leerlingen opgave 2a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Omzet en winst zijn verschillende grootheden. Begeleide inoefening hoort bij de normale route.</a:t>
            </a:r>
          </a:p>
          <a:p xmlns:a="http://schemas.openxmlformats.org/drawingml/2006/main">
            <a:r>
              <a:rPr sz="1400"/>
              <a:t/>
            </a:r>
          </a:p>
          <a:p xmlns:a="http://schemas.openxmlformats.org/drawingml/2006/main">
            <a:r>
              <a:rPr sz="1400"/>
              <a:t>Overgang: Bespreek na het werken alle onderdelen van opgave 7.</a:t>
            </a:r>
          </a:p>
          <a:p xmlns:a="http://schemas.openxmlformats.org/drawingml/2006/main">
            <a:r>
              <a:rPr sz="1400"/>
              <a:t/>
            </a:r>
          </a:p>
          <a:p xmlns:a="http://schemas.openxmlformats.org/drawingml/2006/main">
            <a:r>
              <a:rPr sz="1400"/>
              <a:t>Bron: Leerlingenboek Boek 2, chatuitgave 2026, herziene theorie 21 september 2026, gedrukte pagina 48–50.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verschillende perioden staan in de gegevens?</a:t>
            </a:r>
          </a:p>
          <a:p xmlns:a="http://schemas.openxmlformats.org/drawingml/2006/main">
            <a:r>
              <a:rPr sz="1400"/>
              <a:t/>
            </a:r>
          </a:p>
          <a:p xmlns:a="http://schemas.openxmlformats.org/drawingml/2006/main">
            <a:r>
              <a:rPr sz="1400"/>
              <a:t>Uitleg: Begin de bespreking nadat leerlingen de doelopgave hebben geprobeerd. Dit zijn alle oorspronkelijke gegevens van opgave 7. Nova: P van 10 naar 12, Q van 500 naar 420 per week, Ev min 0,8. StreamNow: P van 20 naar 22, Q van 1000 naar 800 per maand, Ev min 2,0. De tekst is als tabel herschikt zonder gegevens toe te voegen. De volgende twee dia’s tonen alle zes vragen zonder uitwerking.</a:t>
            </a:r>
          </a:p>
          <a:p xmlns:a="http://schemas.openxmlformats.org/drawingml/2006/main">
            <a:r>
              <a:rPr sz="1400"/>
              <a:t/>
            </a:r>
          </a:p>
          <a:p xmlns:a="http://schemas.openxmlformats.org/drawingml/2006/main">
            <a:r>
              <a:rPr sz="1400"/>
              <a:t>Misvatting: Vergelijk elk bedrijf met zijn eigen oude situatie. Nova en StreamNow hebben verschillende perioden.</a:t>
            </a:r>
          </a:p>
          <a:p xmlns:a="http://schemas.openxmlformats.org/drawingml/2006/main">
            <a:r>
              <a:rPr sz="1400"/>
              <a:t/>
            </a:r>
          </a:p>
          <a:p xmlns:a="http://schemas.openxmlformats.org/drawingml/2006/main">
            <a:r>
              <a:rPr sz="1400"/>
              <a:t>Overgang: Toon vragen a tot en met d.</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vraagt naast rekenen ook om een verklaring?</a:t>
            </a:r>
          </a:p>
          <a:p xmlns:a="http://schemas.openxmlformats.org/drawingml/2006/main">
            <a:r>
              <a:rPr sz="1400"/>
              <a:t/>
            </a:r>
          </a:p>
          <a:p xmlns:a="http://schemas.openxmlformats.org/drawingml/2006/main">
            <a:r>
              <a:rPr sz="1400"/>
              <a:t>Uitleg: Laat de vier reken- en verklaringsvragen volledig lezen. a en c vragen oude en nieuwe TO. b en d vragen procenten en een verbinding met Ev. Geef op deze dia nog geen oplossingen.</a:t>
            </a:r>
          </a:p>
          <a:p xmlns:a="http://schemas.openxmlformats.org/drawingml/2006/main">
            <a:r>
              <a:rPr sz="1400"/>
              <a:t/>
            </a:r>
          </a:p>
          <a:p xmlns:a="http://schemas.openxmlformats.org/drawingml/2006/main">
            <a:r>
              <a:rPr sz="1400"/>
              <a:t>Misvatting: Een elasticiteitslabel zonder verbinding met de gemeten omzet is onvolledig.</a:t>
            </a:r>
          </a:p>
          <a:p xmlns:a="http://schemas.openxmlformats.org/drawingml/2006/main">
            <a:r>
              <a:rPr sz="1400"/>
              <a:t/>
            </a:r>
          </a:p>
          <a:p xmlns:a="http://schemas.openxmlformats.org/drawingml/2006/main">
            <a:r>
              <a:rPr sz="1400"/>
              <a:t>Overgang: Toon e en f voordat de eerste uitwerking verschijnt.</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Uit hoeveel onderdelen bestaat vraag e?</a:t>
            </a:r>
          </a:p>
          <a:p xmlns:a="http://schemas.openxmlformats.org/drawingml/2006/main">
            <a:r>
              <a:rPr sz="1400"/>
              <a:t/>
            </a:r>
          </a:p>
          <a:p xmlns:a="http://schemas.openxmlformats.org/drawingml/2006/main">
            <a:r>
              <a:rPr sz="1400"/>
              <a:t>Uitleg: Dit zijn de volledige vragen e en f. Nu zijn alle vragen beschikbaar zonder oplossingen. e bevat twee gevraagde onderdelen: de lokale regel en de reden om een eindige verandering direct te berekenen. f vraagt naar de ontbrekende kostengegevens.</a:t>
            </a:r>
          </a:p>
          <a:p xmlns:a="http://schemas.openxmlformats.org/drawingml/2006/main">
            <a:r>
              <a:rPr sz="1400"/>
              <a:t/>
            </a:r>
          </a:p>
          <a:p xmlns:a="http://schemas.openxmlformats.org/drawingml/2006/main">
            <a:r>
              <a:rPr sz="1400"/>
              <a:t>Misvatting: Een losse formule TO = P × Q beantwoordt nog niet waarom de lokale regel begrensd is.</a:t>
            </a:r>
          </a:p>
          <a:p xmlns:a="http://schemas.openxmlformats.org/drawingml/2006/main">
            <a:r>
              <a:rPr sz="1400"/>
              <a:t/>
            </a:r>
          </a:p>
          <a:p xmlns:a="http://schemas.openxmlformats.org/drawingml/2006/main">
            <a:r>
              <a:rPr sz="1400"/>
              <a:t>Overgang: Begin de uitwerking met a: de twee omzetbedragen van Nova.</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 en Q horen bij dezelfde situatie?</a:t>
            </a:r>
          </a:p>
          <a:p xmlns:a="http://schemas.openxmlformats.org/drawingml/2006/main">
            <a:r>
              <a:rPr sz="1400"/>
              <a:t/>
            </a:r>
          </a:p>
          <a:p xmlns:a="http://schemas.openxmlformats.org/drawingml/2006/main">
            <a:r>
              <a:rPr sz="1400"/>
              <a:t>Uitleg: TO oud = 10 × 500 = 5000 euro per week. TO nieuw = 12 × 420 = 5040 euro per week. Verschil: plus 40 euro per week. Gebruik beide keren de bijbehorende P en Q.</a:t>
            </a:r>
          </a:p>
          <a:p xmlns:a="http://schemas.openxmlformats.org/drawingml/2006/main">
            <a:r>
              <a:rPr sz="1400"/>
              <a:t/>
            </a:r>
          </a:p>
          <a:p xmlns:a="http://schemas.openxmlformats.org/drawingml/2006/main">
            <a:r>
              <a:rPr sz="1400"/>
              <a:t>Misvatting: Nova is per week. StreamNow is per maand. Houd de juiste periode in het antwoord.</a:t>
            </a:r>
          </a:p>
          <a:p xmlns:a="http://schemas.openxmlformats.org/drawingml/2006/main">
            <a:r>
              <a:rPr sz="1400"/>
              <a:t/>
            </a:r>
          </a:p>
          <a:p xmlns:a="http://schemas.openxmlformats.org/drawingml/2006/main">
            <a:r>
              <a:rPr sz="1400"/>
              <a:t>Overgang: Zet het omzetverschil af tegen de oude omzet.</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omzetstijging geen 20% − 16% = 4%?</a:t>
            </a:r>
          </a:p>
          <a:p xmlns:a="http://schemas.openxmlformats.org/drawingml/2006/main">
            <a:r>
              <a:rPr sz="1400"/>
              <a:t/>
            </a:r>
          </a:p>
          <a:p xmlns:a="http://schemas.openxmlformats.org/drawingml/2006/main">
            <a:r>
              <a:rPr sz="1400"/>
              <a:t>Uitleg: Verschil 40 gedeeld door 5000 maal 100% = plus 0,8%. P stijgt 20% en Q daalt 16%. Ev = −16 / 20 = −0,8. De directe TO-berekening toont dat de hogere prijs de hoeveelheidsdaling in deze meting meer dan compenseert. De omzet stijgt met slechts 0,8%, niet met 4%.</a:t>
            </a:r>
          </a:p>
          <a:p xmlns:a="http://schemas.openxmlformats.org/drawingml/2006/main">
            <a:r>
              <a:rPr sz="1400"/>
              <a:t/>
            </a:r>
          </a:p>
          <a:p xmlns:a="http://schemas.openxmlformats.org/drawingml/2006/main">
            <a:r>
              <a:rPr sz="1400"/>
              <a:t>Misvatting: Het label prijsinelastisch alleen is geen bewijs voor een omzetstijging bij iedere grote stap.</a:t>
            </a:r>
          </a:p>
          <a:p xmlns:a="http://schemas.openxmlformats.org/drawingml/2006/main">
            <a:r>
              <a:rPr sz="1400"/>
              <a:t/>
            </a:r>
          </a:p>
          <a:p xmlns:a="http://schemas.openxmlformats.org/drawingml/2006/main">
            <a:r>
              <a:rPr sz="1400"/>
              <a:t>Overgang: Bereken vervolgens StreamNow.</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 en Q horen bij dezelfde situatie?</a:t>
            </a:r>
          </a:p>
          <a:p xmlns:a="http://schemas.openxmlformats.org/drawingml/2006/main">
            <a:r>
              <a:rPr sz="1400"/>
              <a:t/>
            </a:r>
          </a:p>
          <a:p xmlns:a="http://schemas.openxmlformats.org/drawingml/2006/main">
            <a:r>
              <a:rPr sz="1400"/>
              <a:t>Uitleg: TO oud = 20 × 1000 = 20000 euro per maand. TO nieuw = 22 × 800 = 17600 euro per maand. Verschil: min 2400 euro per maand.</a:t>
            </a:r>
          </a:p>
          <a:p xmlns:a="http://schemas.openxmlformats.org/drawingml/2006/main">
            <a:r>
              <a:rPr sz="1400"/>
              <a:t/>
            </a:r>
          </a:p>
          <a:p xmlns:a="http://schemas.openxmlformats.org/drawingml/2006/main">
            <a:r>
              <a:rPr sz="1400"/>
              <a:t>Misvatting: Nova is per week. StreamNow is per maand. Houd de juiste periode in het antwoord.</a:t>
            </a:r>
          </a:p>
          <a:p xmlns:a="http://schemas.openxmlformats.org/drawingml/2006/main">
            <a:r>
              <a:rPr sz="1400"/>
              <a:t/>
            </a:r>
          </a:p>
          <a:p xmlns:a="http://schemas.openxmlformats.org/drawingml/2006/main">
            <a:r>
              <a:rPr sz="1400"/>
              <a:t>Overgang: Zet het omzetverschil af tegen de oude omzet.</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het minteken van het antwoord?</a:t>
            </a:r>
          </a:p>
          <a:p xmlns:a="http://schemas.openxmlformats.org/drawingml/2006/main">
            <a:r>
              <a:rPr sz="1400"/>
              <a:t/>
            </a:r>
          </a:p>
          <a:p xmlns:a="http://schemas.openxmlformats.org/drawingml/2006/main">
            <a:r>
              <a:rPr sz="1400"/>
              <a:t>Uitleg: Verschil min 2400 gedeeld door de oude omzet 20000 maal 100% = min 12%. P stijgt 10% en Q daalt 20%. Ev = −20 / 10 = −2. De hoeveelheid reageert procentueel tweemaal zo sterk. Dat past bij de berekende omzetdaling.</a:t>
            </a:r>
          </a:p>
          <a:p xmlns:a="http://schemas.openxmlformats.org/drawingml/2006/main">
            <a:r>
              <a:rPr sz="1400"/>
              <a:t/>
            </a:r>
          </a:p>
          <a:p xmlns:a="http://schemas.openxmlformats.org/drawingml/2006/main">
            <a:r>
              <a:rPr sz="1400"/>
              <a:t>Misvatting: De teller voor %ΔTO is min 2400. Deel door 20000, niet door 17600.</a:t>
            </a:r>
          </a:p>
          <a:p xmlns:a="http://schemas.openxmlformats.org/drawingml/2006/main">
            <a:r>
              <a:rPr sz="1400"/>
              <a:t/>
            </a:r>
          </a:p>
          <a:p xmlns:a="http://schemas.openxmlformats.org/drawingml/2006/main">
            <a:r>
              <a:rPr sz="1400"/>
              <a:t>Overgang: Formuleer de lokale regel en verklaar de grens ervan.</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aan de regel als de prijs daalt?</a:t>
            </a:r>
          </a:p>
          <a:p xmlns:a="http://schemas.openxmlformats.org/drawingml/2006/main">
            <a:r>
              <a:rPr sz="1400"/>
              <a:t/>
            </a:r>
          </a:p>
          <a:p xmlns:a="http://schemas.openxmlformats.org/drawingml/2006/main">
            <a:r>
              <a:rPr sz="1400"/>
              <a:t>Uitleg: Bij een kleine prijsstijging werken de hogere prijs en de lagere afzet tegen elkaar in. Bij prijsinelastische vraag is de relatieve hoeveelheidsreactie zwak en stijgt TO. Bij prijselastische vraag is zij sterk en daalt TO. Bij een kleine prijsdaling draaien de richtingen om. Bij Ev = −1 zijn de effecten lokaal ongeveer in evenwicht. De elasticiteit bij een punt is niet automatisch gelijk aan de gemeten verhouding over een grote stap.</a:t>
            </a:r>
          </a:p>
          <a:p xmlns:a="http://schemas.openxmlformats.org/drawingml/2006/main">
            <a:r>
              <a:rPr sz="1400"/>
              <a:t/>
            </a:r>
          </a:p>
          <a:p xmlns:a="http://schemas.openxmlformats.org/drawingml/2006/main">
            <a:r>
              <a:rPr sz="1400"/>
              <a:t>Misvatting: Deze regel is geen garantie voor elke grote eindige prijswijziging.</a:t>
            </a:r>
          </a:p>
          <a:p xmlns:a="http://schemas.openxmlformats.org/drawingml/2006/main">
            <a:r>
              <a:rPr sz="1400"/>
              <a:t/>
            </a:r>
          </a:p>
          <a:p xmlns:a="http://schemas.openxmlformats.org/drawingml/2006/main">
            <a:r>
              <a:rPr sz="1400"/>
              <a:t>Overgang: Laat zien waarom je beide omzetbedragen rechtstreeks berekent.</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je voor de grote stap niet volstaan met de vuistregel?</a:t>
            </a:r>
          </a:p>
          <a:p xmlns:a="http://schemas.openxmlformats.org/drawingml/2006/main">
            <a:r>
              <a:rPr sz="1400"/>
              <a:t/>
            </a:r>
          </a:p>
          <a:p xmlns:a="http://schemas.openxmlformats.org/drawingml/2006/main">
            <a:r>
              <a:rPr sz="1400"/>
              <a:t>Uitleg: Bij een grote stap vermenigvuldig je de twee veranderfactoren. Het gemeten Ev tussen twee prijzen is niet automatisch de lokale elasticiteit bij elke tussenliggende prijs. Daarom geeft een lokaal label geen universele garantie voor een eindige verandering. Bereken TO oud en TO nieuw rechtstreeks. Controle: Nova 1,008 maal 5000 = 5040, StreamNow 0,88 maal 20000 = 17600.</a:t>
            </a:r>
          </a:p>
          <a:p xmlns:a="http://schemas.openxmlformats.org/drawingml/2006/main">
            <a:r>
              <a:rPr sz="1400"/>
              <a:t/>
            </a:r>
          </a:p>
          <a:p xmlns:a="http://schemas.openxmlformats.org/drawingml/2006/main">
            <a:r>
              <a:rPr sz="1400"/>
              <a:t>Misvatting: Procentuele veranderingen simpel optellen geeft bij Nova plus 4% en bij StreamNow min 10%, beide onjuist.</a:t>
            </a:r>
          </a:p>
          <a:p xmlns:a="http://schemas.openxmlformats.org/drawingml/2006/main">
            <a:r>
              <a:rPr sz="1400"/>
              <a:t/>
            </a:r>
          </a:p>
          <a:p xmlns:a="http://schemas.openxmlformats.org/drawingml/2006/main">
            <a:r>
              <a:rPr sz="1400"/>
              <a:t>Overgang: Bepaal tot slot wat ontbreekt voor winst.</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zou je bij beide aanbieders nog opvragen?</a:t>
            </a:r>
          </a:p>
          <a:p xmlns:a="http://schemas.openxmlformats.org/drawingml/2006/main">
            <a:r>
              <a:rPr sz="1400"/>
              <a:t/>
            </a:r>
          </a:p>
          <a:p xmlns:a="http://schemas.openxmlformats.org/drawingml/2006/main">
            <a:r>
              <a:rPr sz="1400"/>
              <a:t>Uitleg: Bij Nova stijgt de omzet, bij StreamNow daalt zij. Voor beide ontbreekt de verandering van de totale kosten. Zonder TK oud en TK nieuw kun je de winst niet vergelijken. Kosten kunnen tegelijkertijd veranderen. Laat leerlingen ontbrekende eenheden en verklaringen in hun eigen antwoord aanvullen.</a:t>
            </a:r>
          </a:p>
          <a:p xmlns:a="http://schemas.openxmlformats.org/drawingml/2006/main">
            <a:r>
              <a:rPr sz="1400"/>
              <a:t/>
            </a:r>
          </a:p>
          <a:p xmlns:a="http://schemas.openxmlformats.org/drawingml/2006/main">
            <a:r>
              <a:rPr sz="1400"/>
              <a:t>Misvatting: Meer omzet is niet automatisch meer winst. Ook minder omzet bewijst zonder kosten geen dalende winst.</a:t>
            </a:r>
          </a:p>
          <a:p xmlns:a="http://schemas.openxmlformats.org/drawingml/2006/main">
            <a:r>
              <a:rPr sz="1400"/>
              <a:t/>
            </a:r>
          </a:p>
          <a:p xmlns:a="http://schemas.openxmlformats.org/drawingml/2006/main">
            <a:r>
              <a:rPr sz="1400"/>
              <a:t>Overgang: Laat de laatste overzichtsdia staan en laat het huiswerk noteren.</a:t>
            </a:r>
          </a:p>
          <a:p xmlns:a="http://schemas.openxmlformats.org/drawingml/2006/main">
            <a:r>
              <a:rPr sz="1400"/>
              <a:t/>
            </a:r>
          </a:p>
          <a:p xmlns:a="http://schemas.openxmlformats.org/drawingml/2006/main">
            <a:r>
              <a:rPr sz="1400"/>
              <a:t>Bron: Leerlingenboek Boek 2, chatuitgave 2026, herziene theorie 21 september 2026, gedrukte pagina 50. https://github.com/meijer1973/4veco-lessen/blob/f2660032cf7e4e3bbab96cf32863d06a38bd74bc/Boek%202%20-%20Kosten%2C%20opbrengsten%2C%20elasticiteit%20en%20surplus/edities/chat-2026/boek/Boek_2_Compleet.pdf</a:t>
            </a:r>
          </a:p>
          <a:p xmlns:a="http://schemas.openxmlformats.org/drawingml/2006/main">
            <a:r>
              <a:rPr sz="1400"/>
              <a:t>Antwoordmodel opgave 7: https://github.com/meijer1973/4veco-lessen/blob/f2660032cf7e4e3bbab96cf32863d06a38bd74bc/Boek%202%20-%20Kosten%2C%20opbrengsten%2C%20elasticiteit%20en%20surplus/edities/chat-2026/bronnen/H2/paragrafen/2.2.2%20Elasticiteit%20en%20omzet/2.2.2%20Elasticiteit%20en%20omze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heb je nodig voor de omzet?</a:t>
            </a:r>
          </a:p>
          <a:p xmlns:a="http://schemas.openxmlformats.org/drawingml/2006/main">
            <a:r>
              <a:rPr sz="1400"/>
              <a:t/>
            </a:r>
          </a:p>
          <a:p xmlns:a="http://schemas.openxmlformats.org/drawingml/2006/main">
            <a:r>
              <a:rPr sz="1400"/>
              <a:t>Uitleg: Start met opgaven 1 en 2 op pagina 48. De basis bestaat uit allebei de begeleide opgaven 3 en 4, op pagina 48–49. Daarna volgen 5 en 6 op pagina 49 en doelopgave 7 op pagina 50. Huiswerk is 3 tot en met 7 maken en nakijken. Bonus 8 en herhaling 9–10 zijn extra. Laat deze dia staan tijdens het werken. De volledige route heeft geen gemeten lesduur; laat het huiswerk de route zo nodig afmaken.</a:t>
            </a:r>
          </a:p>
          <a:p xmlns:a="http://schemas.openxmlformats.org/drawingml/2006/main">
            <a:r>
              <a:rPr sz="1400"/>
              <a:t/>
            </a:r>
          </a:p>
          <a:p xmlns:a="http://schemas.openxmlformats.org/drawingml/2006/main">
            <a:r>
              <a:rPr sz="1400"/>
              <a:t>Start en terugblik: Opgave 1 gebruikt TO uit §2.1.2, dia 3, en procentuele verandering met de oude waarde als basis, zoals opgehaald in §2.2.1. Opgave 2b gebruikt het onderscheid omzet/winst uit §2.1.2, dia 4. De lokale omzetregel in opgave 2a is nieuw. Zoek de uitleg en voorwaarden op p. 45 op. Opgave 2b kan het eerdere onderscheid tussen omzet en winst ophalen. Laat leerlingen bij deze verkenning aanwijzen welke uitleg zij gebruiken en hun twijfel noteren. Verwacht de nieuwe bewerking nog niet zonder steun. Bij terugkeer naar dit overzicht vóór het basiswerk: laat leerlingen opgave 2a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Omzet en winst zijn verschillende grootheden. Begeleide inoefening hoort bij de normale route.</a:t>
            </a:r>
          </a:p>
          <a:p xmlns:a="http://schemas.openxmlformats.org/drawingml/2006/main">
            <a:r>
              <a:rPr sz="1400"/>
              <a:t/>
            </a:r>
          </a:p>
          <a:p xmlns:a="http://schemas.openxmlformats.org/drawingml/2006/main">
            <a:r>
              <a:rPr sz="1400"/>
              <a:t>Overgang: Laat leerlingen het huiswerk in hun agenda zetten.</a:t>
            </a:r>
          </a:p>
          <a:p xmlns:a="http://schemas.openxmlformats.org/drawingml/2006/main">
            <a:r>
              <a:rPr sz="1400"/>
              <a:t/>
            </a:r>
          </a:p>
          <a:p xmlns:a="http://schemas.openxmlformats.org/drawingml/2006/main">
            <a:r>
              <a:rPr sz="1400"/>
              <a:t>Bron: Leerlingenboek Boek 2, chatuitgave 2026, herziene theorie 21 september 2026, gedrukte pagina 48–50. https://github.com/meijer1973/4veco-lessen/blob/f2660032cf7e4e3bbab96cf32863d06a38bd74bc/Boek%202%20-%20Kosten%2C%20opbrengsten%2C%20elasticiteit%20en%20surplus/edities/chat-2026/boek/Boek_2_Compleet.pdf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2ea461c08941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5a60376b8c47c5" /><Relationship Type="http://schemas.openxmlformats.org/officeDocument/2006/relationships/slideLayout" Target="/ppt/slideLayouts/slideLayout1.xml" Id="R70587c291e254d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587c291e254d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ff0d7dbe9d4d7b" /><Relationship Type="http://schemas.openxmlformats.org/officeDocument/2006/relationships/notesSlide" Target="/ppt/notesSlides/notesSlide1.xml" Id="R2606f321c57144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2bf3572b2246d1" /><Relationship Type="http://schemas.openxmlformats.org/officeDocument/2006/relationships/notesSlide" Target="/ppt/notesSlides/notesSlide2.xml" Id="Rbf5062d8ac894e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3055510dee4eab" /><Relationship Type="http://schemas.openxmlformats.org/officeDocument/2006/relationships/notesSlide" Target="/ppt/notesSlides/notesSlide3.xml" Id="Rf576b86859c34d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157d9af7da40e2" /><Relationship Type="http://schemas.openxmlformats.org/officeDocument/2006/relationships/chart" Target="/ppt/slides/charts/chart1.xml" Id="R3ee3fa3e50a44cf8" /><Relationship Type="http://schemas.openxmlformats.org/officeDocument/2006/relationships/notesSlide" Target="/ppt/notesSlides/notesSlide4.xml" Id="Rbd3871abc6034b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85f42943254c9a" /><Relationship Type="http://schemas.openxmlformats.org/officeDocument/2006/relationships/chart" Target="/ppt/slides/charts/chart2.xml" Id="R0d5c9a88d43d4299" /><Relationship Type="http://schemas.openxmlformats.org/officeDocument/2006/relationships/notesSlide" Target="/ppt/notesSlides/notesSlide5.xml" Id="R4eeafe031f9849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55195273cc489f" /><Relationship Type="http://schemas.openxmlformats.org/officeDocument/2006/relationships/notesSlide" Target="/ppt/notesSlides/notesSlide6.xml" Id="Rd8027f57d56746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d15b1cfd544503" /><Relationship Type="http://schemas.openxmlformats.org/officeDocument/2006/relationships/notesSlide" Target="/ppt/notesSlides/notesSlide7.xml" Id="R1a8ee89155024e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7c7e112fd7455e" /><Relationship Type="http://schemas.openxmlformats.org/officeDocument/2006/relationships/notesSlide" Target="/ppt/notesSlides/notesSlide8.xml" Id="R1f2d803ee65049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6b3635a68244ce" /><Relationship Type="http://schemas.openxmlformats.org/officeDocument/2006/relationships/notesSlide" Target="/ppt/notesSlides/notesSlide9.xml" Id="R2b540c87dc1046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6ea5be54b04508" /><Relationship Type="http://schemas.openxmlformats.org/officeDocument/2006/relationships/notesSlide" Target="/ppt/notesSlides/notesSlide10.xml" Id="R36c240faa7f84e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f7a5c6a35b84ba5" /><Relationship Type="http://schemas.openxmlformats.org/officeDocument/2006/relationships/notesSlide" Target="/ppt/notesSlides/notesSlide11.xml" Id="R1566c203dc8b44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8aef15eac14172" /><Relationship Type="http://schemas.openxmlformats.org/officeDocument/2006/relationships/notesSlide" Target="/ppt/notesSlides/notesSlide12.xml" Id="R5af22678be1e45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42f432057c4213" /><Relationship Type="http://schemas.openxmlformats.org/officeDocument/2006/relationships/notesSlide" Target="/ppt/notesSlides/notesSlide13.xml" Id="Re315bd26a11b4c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5a236fa6e34b9c" /><Relationship Type="http://schemas.openxmlformats.org/officeDocument/2006/relationships/notesSlide" Target="/ppt/notesSlides/notesSlide14.xml" Id="R015916f11e9646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55a8043ca46482c" /><Relationship Type="http://schemas.openxmlformats.org/officeDocument/2006/relationships/notesSlide" Target="/ppt/notesSlides/notesSlide15.xml" Id="R1d79ebc5e10e4d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60cbdb9e464a71" /><Relationship Type="http://schemas.openxmlformats.org/officeDocument/2006/relationships/notesSlide" Target="/ppt/notesSlides/notesSlide16.xml" Id="R7b50ecfe1f1f43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be2061199f94186" /><Relationship Type="http://schemas.openxmlformats.org/officeDocument/2006/relationships/notesSlide" Target="/ppt/notesSlides/notesSlide17.xml" Id="R92ab684f607542c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4557add8404e19" /><Relationship Type="http://schemas.openxmlformats.org/officeDocument/2006/relationships/notesSlide" Target="/ppt/notesSlides/notesSlide18.xml" Id="Rf9bd8af39c694b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fe0c2f1f4874e80" /><Relationship Type="http://schemas.openxmlformats.org/officeDocument/2006/relationships/notesSlide" Target="/ppt/notesSlides/notesSlide19.xml" Id="R0b6112f165df47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fe41cda319540ea" /><Relationship Type="http://schemas.openxmlformats.org/officeDocument/2006/relationships/notesSlide" Target="/ppt/notesSlides/notesSlide20.xml" Id="R44e94af2d0e84a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40715cb342141ef" /><Relationship Type="http://schemas.openxmlformats.org/officeDocument/2006/relationships/notesSlide" Target="/ppt/notesSlides/notesSlide21.xml" Id="Rb8965e239a5349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fc4b31e5d704dc0" /><Relationship Type="http://schemas.openxmlformats.org/officeDocument/2006/relationships/notesSlide" Target="/ppt/notesSlides/notesSlide22.xml" Id="R4f09bed923d74b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b4d0e5a61294bf7" /><Relationship Type="http://schemas.openxmlformats.org/officeDocument/2006/relationships/notesSlide" Target="/ppt/notesSlides/notesSlide23.xml" Id="R20d83464c8da49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b1e6421faae46b5" /><Relationship Type="http://schemas.openxmlformats.org/officeDocument/2006/relationships/notesSlide" Target="/ppt/notesSlides/notesSlide24.xml" Id="Racaa30b9a5b0415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14cace35c8e43be" /><Relationship Type="http://schemas.openxmlformats.org/officeDocument/2006/relationships/notesSlide" Target="/ppt/notesSlides/notesSlide25.xml" Id="R5dc8646e6c7a437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8ba408148b54571" /><Relationship Type="http://schemas.openxmlformats.org/officeDocument/2006/relationships/notesSlide" Target="/ppt/notesSlides/notesSlide26.xml" Id="R51ba0beb8b59467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Oud: P = 30, Q = 160</c:v>
          </c:tx>
          <c:spPr>
            <a:ln xmlns:a="http://schemas.openxmlformats.org/drawingml/2006/main" w="38100">
              <a:solidFill>
                <a:srgbClr val="17658A"/>
              </a:solidFill>
              <a:prstDash val="solid"/>
            </a:ln>
          </c:spPr>
          <c:marker>
            <c:symbol val="none"/>
          </c:marker>
          <c:xVal>
            <c:numRef>
              <c:f>'Chart Data'!$A$2:$A$6</c:f>
              <c:numCache>
                <c:formatCode>General</c:formatCode>
                <c:ptCount val="5"/>
                <c:pt idx="0">
                  <c:v>0</c:v>
                </c:pt>
                <c:pt idx="1">
                  <c:v>160</c:v>
                </c:pt>
                <c:pt idx="2">
                  <c:v>160</c:v>
                </c:pt>
                <c:pt idx="3">
                  <c:v>0</c:v>
                </c:pt>
                <c:pt idx="4">
                  <c:v>0</c:v>
                </c:pt>
              </c:numCache>
            </c:numRef>
          </c:xVal>
          <c:yVal>
            <c:numRef>
              <c:f>'Chart Data'!$B$2:$B$6</c:f>
              <c:numCache>
                <c:formatCode>0</c:formatCode>
                <c:ptCount val="5"/>
                <c:pt idx="0">
                  <c:v>0</c:v>
                </c:pt>
                <c:pt idx="1">
                  <c:v>0</c:v>
                </c:pt>
                <c:pt idx="2">
                  <c:v>30</c:v>
                </c:pt>
                <c:pt idx="3">
                  <c:v>30</c:v>
                </c:pt>
                <c:pt idx="4">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(plaatsen per maand)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Oud: P = 30, Q = 160</c:v>
          </c:tx>
          <c:spPr>
            <a:ln xmlns:a="http://schemas.openxmlformats.org/drawingml/2006/main" w="38100">
              <a:solidFill>
                <a:srgbClr val="445B6B"/>
              </a:solidFill>
              <a:prstDash val="dash"/>
            </a:ln>
          </c:spPr>
          <c:marker>
            <c:symbol val="none"/>
          </c:marker>
          <c:xVal>
            <c:numRef>
              <c:f>'Chart Data'!$A$2:$A$6</c:f>
              <c:numCache>
                <c:formatCode>General</c:formatCode>
                <c:ptCount val="5"/>
                <c:pt idx="0">
                  <c:v>0</c:v>
                </c:pt>
                <c:pt idx="1">
                  <c:v>160</c:v>
                </c:pt>
                <c:pt idx="2">
                  <c:v>160</c:v>
                </c:pt>
                <c:pt idx="3">
                  <c:v>0</c:v>
                </c:pt>
                <c:pt idx="4">
                  <c:v>0</c:v>
                </c:pt>
              </c:numCache>
            </c:numRef>
          </c:xVal>
          <c:yVal>
            <c:numRef>
              <c:f>'Chart Data'!$B$2:$B$6</c:f>
              <c:numCache>
                <c:formatCode>0</c:formatCode>
                <c:ptCount val="5"/>
                <c:pt idx="0">
                  <c:v>0</c:v>
                </c:pt>
                <c:pt idx="1">
                  <c:v>0</c:v>
                </c:pt>
                <c:pt idx="2">
                  <c:v>30</c:v>
                </c:pt>
                <c:pt idx="3">
                  <c:v>30</c:v>
                </c:pt>
                <c:pt idx="4">
                  <c:v>0</c:v>
                </c:pt>
              </c:numCache>
            </c:numRef>
          </c:yVal>
          <c:smooth val="0"/>
        </c:ser>
        <c:ser>
          <c:idx val="1"/>
          <c:order val="1"/>
          <c:tx>
            <c:v>Nieuw: P = 33, Q = 152</c:v>
          </c:tx>
          <c:spPr>
            <a:ln xmlns:a="http://schemas.openxmlformats.org/drawingml/2006/main" w="47625">
              <a:solidFill>
                <a:srgbClr val="20665B"/>
              </a:solidFill>
            </a:ln>
          </c:spPr>
          <c:marker>
            <c:symbol val="none"/>
          </c:marker>
          <c:xVal>
            <c:numRef>
              <c:f>'Chart Data'!$C$2:$C$6</c:f>
              <c:numCache>
                <c:formatCode>General</c:formatCode>
                <c:ptCount val="5"/>
                <c:pt idx="0">
                  <c:v>0</c:v>
                </c:pt>
                <c:pt idx="1">
                  <c:v>152</c:v>
                </c:pt>
                <c:pt idx="2">
                  <c:v>152</c:v>
                </c:pt>
                <c:pt idx="3">
                  <c:v>0</c:v>
                </c:pt>
                <c:pt idx="4">
                  <c:v>0</c:v>
                </c:pt>
              </c:numCache>
            </c:numRef>
          </c:xVal>
          <c:yVal>
            <c:numRef>
              <c:f>'Chart Data'!$D$2:$D$6</c:f>
              <c:numCache>
                <c:formatCode>0</c:formatCode>
                <c:ptCount val="5"/>
                <c:pt idx="0">
                  <c:v>0</c:v>
                </c:pt>
                <c:pt idx="1">
                  <c:v>0</c:v>
                </c:pt>
                <c:pt idx="2">
                  <c:v>33</c:v>
                </c:pt>
                <c:pt idx="3">
                  <c:v>33</c:v>
                </c:pt>
                <c:pt idx="4">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(plaatsen per maand)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2 Elasticiteit en omzet">
            <a:extLst xmlns:a="http://schemas.openxmlformats.org/drawingml/2006/main">
              <a:ext uri="{FF2B5EF4-FFF2-40B4-BE49-F238E27FC236}">
                <a16:creationId xmlns:a16="http://schemas.microsoft.com/office/drawing/2014/main" id="{963CEA79-26B9-41F5-98A1-4BFC2F73AD8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§2.2.2 Elasticiteit en omzet</a:t>
            </a:r>
          </a:p>
        </p:txBody>
      </p:sp>
      <p:sp>
        <p:nvSpPr>
          <p:cNvPr id="2" name="">
            <a:extLst xmlns:a="http://schemas.openxmlformats.org/drawingml/2006/main">
              <a:ext uri="{FF2B5EF4-FFF2-40B4-BE49-F238E27FC236}">
                <a16:creationId xmlns:a16="http://schemas.microsoft.com/office/drawing/2014/main" id="{EEF71EAA-3515-467B-ABC2-DA6E5F938A3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01334B25-9965-4BD1-89C3-29E7CCAD6B5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1">
            <a:extLst xmlns:a="http://schemas.openxmlformats.org/drawingml/2006/main">
              <a:ext uri="{FF2B5EF4-FFF2-40B4-BE49-F238E27FC236}">
                <a16:creationId xmlns:a16="http://schemas.microsoft.com/office/drawing/2014/main" id="{6D3D366A-AA6B-4D54-915C-A634E3115A4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F5267D0C-9B48-45F2-AF76-2FAD0A8DFC07}"/>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A0EC28C5-A1DD-4339-8A47-9C14E4A3CB7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6BDE59F-F6E3-402D-A345-779141BC435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1638BCE-A9BD-48B0-972E-A56AE0BC6AC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B6E9CBE-4704-4915-A0AC-8AFA5C7F3E3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BA47777-F01F-451F-8268-8CACC1A846D9}"/>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CC7234B-D187-4329-BD10-F1A0C8F6C9A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ABDE710-AA79-41A4-A72D-8E741FEA1BE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C8201255-50E2-4843-A97C-9DB62DDF285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E66B20F0-3126-45AA-860B-9C5C118A9B7D}"/>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FC3851AD-C3C5-4226-92A7-9ADFBE40052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F89881C-2F8B-417C-B9A9-8514F7FA415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DA6B610B-30B3-40D7-931F-D9825E7FDA85}"/>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7B25FF4-FC7C-433E-A721-92EDEDA604A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24B71BAB-A651-438C-A92E-C86B72F1A0E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D191B9B-95A8-4091-9C33-E1952C52705D}"/>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5F6BBC2-D3A0-4A39-861E-6EB759AAC14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A7FF8F1-D813-4206-B3EF-A44C46EA7BD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Omzet berekenen en vergelijken,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Ev gebruiken en omzet van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onderscheiden.</a:t>
            </a:r>
          </a:p>
        </p:txBody>
      </p:sp>
      <p:sp>
        <p:nvSpPr>
          <p:cNvPr id="23" name="">
            <a:extLst xmlns:a="http://schemas.openxmlformats.org/drawingml/2006/main">
              <a:ext uri="{FF2B5EF4-FFF2-40B4-BE49-F238E27FC236}">
                <a16:creationId xmlns:a16="http://schemas.microsoft.com/office/drawing/2014/main" id="{6AD81FC1-9BDC-4BB5-86FC-0E453B50A5E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811CCF4-D14D-49EF-B765-C44D5F7225A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29A47FB-69EF-47C1-B2FC-D4AAE2A7C31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48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 verkennen, theorie p. 45</a:t>
            </a:r>
          </a:p>
        </p:txBody>
      </p:sp>
      <p:sp>
        <p:nvSpPr>
          <p:cNvPr id="26" name="">
            <a:extLst xmlns:a="http://schemas.openxmlformats.org/drawingml/2006/main">
              <a:ext uri="{FF2B5EF4-FFF2-40B4-BE49-F238E27FC236}">
                <a16:creationId xmlns:a16="http://schemas.microsoft.com/office/drawing/2014/main" id="{E0F728BA-65CE-46A4-8897-D585FAE9ADB2}"/>
              </a:ext>
            </a:extLst>
          </p:cNvPr>
          <p:cNvSpPr>
            <a:spLocks xmlns:a="http://schemas.openxmlformats.org/drawingml/2006/main" noGrp="1"/>
          </p:cNvSpPr>
          <p:nvPr/>
        </p:nvSpPr>
        <p:spPr>
          <a:xfrm xmlns:a="http://schemas.openxmlformats.org/drawingml/2006/main">
            <a:off x="9258300" y="54102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593F68E-361F-411B-9CC4-7AA382410009}"/>
              </a:ext>
            </a:extLst>
          </p:cNvPr>
          <p:cNvSpPr>
            <a:spLocks xmlns:a="http://schemas.openxmlformats.org/drawingml/2006/main" noGrp="1"/>
          </p:cNvSpPr>
          <p:nvPr/>
        </p:nvSpPr>
        <p:spPr>
          <a:xfrm xmlns:a="http://schemas.openxmlformats.org/drawingml/2006/main">
            <a:off x="9258300" y="56673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5F0A596-C86D-4DA5-9885-95D6DDA8E66F}"/>
              </a:ext>
            </a:extLst>
          </p:cNvPr>
          <p:cNvSpPr>
            <a:spLocks xmlns:a="http://schemas.openxmlformats.org/drawingml/2006/main" noGrp="1"/>
          </p:cNvSpPr>
          <p:nvPr/>
        </p:nvSpPr>
        <p:spPr>
          <a:xfrm xmlns:a="http://schemas.openxmlformats.org/drawingml/2006/main">
            <a:off x="9258300" y="6200775"/>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§2.2.2 Elasticiteit en omzet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336598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doelen">
            <a:extLst xmlns:a="http://schemas.openxmlformats.org/drawingml/2006/main">
              <a:ext uri="{FF2B5EF4-FFF2-40B4-BE49-F238E27FC236}">
                <a16:creationId xmlns:a16="http://schemas.microsoft.com/office/drawing/2014/main" id="{D08D229E-E63B-41D8-84FA-3575F143DE6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Lesdoelen</a:t>
            </a:r>
          </a:p>
        </p:txBody>
      </p:sp>
      <p:sp>
        <p:nvSpPr>
          <p:cNvPr id="2" name="">
            <a:extLst xmlns:a="http://schemas.openxmlformats.org/drawingml/2006/main">
              <a:ext uri="{FF2B5EF4-FFF2-40B4-BE49-F238E27FC236}">
                <a16:creationId xmlns:a16="http://schemas.microsoft.com/office/drawing/2014/main" id="{81072DD3-C0E7-47BF-A11F-4AA099FEC35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A583EA2E-E1DD-4D67-AE85-59E735F6F1A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2">
            <a:extLst xmlns:a="http://schemas.openxmlformats.org/drawingml/2006/main">
              <a:ext uri="{FF2B5EF4-FFF2-40B4-BE49-F238E27FC236}">
                <a16:creationId xmlns:a16="http://schemas.microsoft.com/office/drawing/2014/main" id="{BEBBA3CB-7FDD-4539-8AE4-34EF4B3F0C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Omzet vergelijken">
            <a:extLst xmlns:a="http://schemas.openxmlformats.org/drawingml/2006/main">
              <a:ext uri="{FF2B5EF4-FFF2-40B4-BE49-F238E27FC236}">
                <a16:creationId xmlns:a16="http://schemas.microsoft.com/office/drawing/2014/main" id="{605AB555-19F5-4A6C-AD0E-0A8B3A386ABB}"/>
              </a:ext>
            </a:extLst>
          </p:cNvPr>
          <p:cNvSpPr>
            <a:spLocks xmlns:a="http://schemas.openxmlformats.org/drawingml/2006/main" noGrp="1"/>
          </p:cNvSpPr>
          <p:nvPr/>
        </p:nvSpPr>
        <p:spPr>
          <a:xfrm xmlns:a="http://schemas.openxmlformats.org/drawingml/2006/main">
            <a:off x="571500" y="190500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Omzet vergelijken</a:t>
            </a:r>
          </a:p>
        </p:txBody>
      </p:sp>
      <p:sp>
        <p:nvSpPr>
          <p:cNvPr id="6" name="Je berekent TO vóór en na de prijswijziging.">
            <a:extLst xmlns:a="http://schemas.openxmlformats.org/drawingml/2006/main">
              <a:ext uri="{FF2B5EF4-FFF2-40B4-BE49-F238E27FC236}">
                <a16:creationId xmlns:a16="http://schemas.microsoft.com/office/drawing/2014/main" id="{854D7925-5F4D-48F9-BEB6-25061FC37C44}"/>
              </a:ext>
            </a:extLst>
          </p:cNvPr>
          <p:cNvSpPr>
            <a:spLocks xmlns:a="http://schemas.openxmlformats.org/drawingml/2006/main" noGrp="1"/>
          </p:cNvSpPr>
          <p:nvPr/>
        </p:nvSpPr>
        <p:spPr>
          <a:xfrm xmlns:a="http://schemas.openxmlformats.org/drawingml/2006/main">
            <a:off x="6619875" y="1905000"/>
            <a:ext cx="7810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berekent TO vóór en na de prijswijziging.</a:t>
            </a:r>
          </a:p>
        </p:txBody>
      </p:sp>
      <p:sp>
        <p:nvSpPr>
          <p:cNvPr id="7" name="">
            <a:extLst xmlns:a="http://schemas.openxmlformats.org/drawingml/2006/main">
              <a:ext uri="{FF2B5EF4-FFF2-40B4-BE49-F238E27FC236}">
                <a16:creationId xmlns:a16="http://schemas.microsoft.com/office/drawing/2014/main" id="{D1E95137-7296-4048-990A-4E88F083D231}"/>
              </a:ext>
            </a:extLst>
          </p:cNvPr>
          <p:cNvSpPr>
            <a:spLocks xmlns:a="http://schemas.openxmlformats.org/drawingml/2006/main" noGrp="1"/>
          </p:cNvSpPr>
          <p:nvPr/>
        </p:nvSpPr>
        <p:spPr>
          <a:xfrm xmlns:a="http://schemas.openxmlformats.org/drawingml/2006/main">
            <a:off x="571500" y="3028950"/>
            <a:ext cx="14097000" cy="0"/>
          </a:xfrm>
          <a:prstGeom xmlns:a="http://schemas.openxmlformats.org/drawingml/2006/main" prst="line">
            <a:avLst/>
          </a:prstGeom>
          <a:ln xmlns:a="http://schemas.openxmlformats.org/drawingml/2006/main" w="19050">
            <a:solidFill>
              <a:srgbClr val="C6D2DB"/>
            </a:solidFill>
          </a:ln>
        </p:spPr>
      </p:sp>
      <p:sp>
        <p:nvSpPr>
          <p:cNvPr id="8" name="Een verandering in procenten">
            <a:extLst xmlns:a="http://schemas.openxmlformats.org/drawingml/2006/main">
              <a:ext uri="{FF2B5EF4-FFF2-40B4-BE49-F238E27FC236}">
                <a16:creationId xmlns:a16="http://schemas.microsoft.com/office/drawing/2014/main" id="{C11C02B7-BB0E-47EC-989F-E3F11FBE923D}"/>
              </a:ext>
            </a:extLst>
          </p:cNvPr>
          <p:cNvSpPr>
            <a:spLocks xmlns:a="http://schemas.openxmlformats.org/drawingml/2006/main" noGrp="1"/>
          </p:cNvSpPr>
          <p:nvPr/>
        </p:nvSpPr>
        <p:spPr>
          <a:xfrm xmlns:a="http://schemas.openxmlformats.org/drawingml/2006/main">
            <a:off x="571500" y="329565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Een verandering in procenten</a:t>
            </a:r>
          </a:p>
        </p:txBody>
      </p:sp>
      <p:sp>
        <p:nvSpPr>
          <p:cNvPr id="9" name="Je vergelijkt het verschil met de oude omzet.">
            <a:extLst xmlns:a="http://schemas.openxmlformats.org/drawingml/2006/main">
              <a:ext uri="{FF2B5EF4-FFF2-40B4-BE49-F238E27FC236}">
                <a16:creationId xmlns:a16="http://schemas.microsoft.com/office/drawing/2014/main" id="{AC648390-333F-483B-8891-1EBC207FB0B1}"/>
              </a:ext>
            </a:extLst>
          </p:cNvPr>
          <p:cNvSpPr>
            <a:spLocks xmlns:a="http://schemas.openxmlformats.org/drawingml/2006/main" noGrp="1"/>
          </p:cNvSpPr>
          <p:nvPr/>
        </p:nvSpPr>
        <p:spPr>
          <a:xfrm xmlns:a="http://schemas.openxmlformats.org/drawingml/2006/main">
            <a:off x="6619875" y="3295650"/>
            <a:ext cx="7810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vergelijkt het verschil met de oude omzet.</a:t>
            </a:r>
          </a:p>
        </p:txBody>
      </p:sp>
      <p:sp>
        <p:nvSpPr>
          <p:cNvPr id="10" name="">
            <a:extLst xmlns:a="http://schemas.openxmlformats.org/drawingml/2006/main">
              <a:ext uri="{FF2B5EF4-FFF2-40B4-BE49-F238E27FC236}">
                <a16:creationId xmlns:a16="http://schemas.microsoft.com/office/drawing/2014/main" id="{640BC6F2-02BA-44E8-9861-135907C61320}"/>
              </a:ext>
            </a:extLst>
          </p:cNvPr>
          <p:cNvSpPr>
            <a:spLocks xmlns:a="http://schemas.openxmlformats.org/drawingml/2006/main" noGrp="1"/>
          </p:cNvSpPr>
          <p:nvPr/>
        </p:nvSpPr>
        <p:spPr>
          <a:xfrm xmlns:a="http://schemas.openxmlformats.org/drawingml/2006/main">
            <a:off x="571500" y="4419600"/>
            <a:ext cx="14097000" cy="0"/>
          </a:xfrm>
          <a:prstGeom xmlns:a="http://schemas.openxmlformats.org/drawingml/2006/main" prst="line">
            <a:avLst/>
          </a:prstGeom>
          <a:ln xmlns:a="http://schemas.openxmlformats.org/drawingml/2006/main" w="19050">
            <a:solidFill>
              <a:srgbClr val="C6D2DB"/>
            </a:solidFill>
          </a:ln>
        </p:spPr>
      </p:sp>
      <p:sp>
        <p:nvSpPr>
          <p:cNvPr id="11" name="Elasticiteit gebruiken">
            <a:extLst xmlns:a="http://schemas.openxmlformats.org/drawingml/2006/main">
              <a:ext uri="{FF2B5EF4-FFF2-40B4-BE49-F238E27FC236}">
                <a16:creationId xmlns:a16="http://schemas.microsoft.com/office/drawing/2014/main" id="{71FF02E7-C876-4430-94B1-63A7497F43AF}"/>
              </a:ext>
            </a:extLst>
          </p:cNvPr>
          <p:cNvSpPr>
            <a:spLocks xmlns:a="http://schemas.openxmlformats.org/drawingml/2006/main" noGrp="1"/>
          </p:cNvSpPr>
          <p:nvPr/>
        </p:nvSpPr>
        <p:spPr>
          <a:xfrm xmlns:a="http://schemas.openxmlformats.org/drawingml/2006/main">
            <a:off x="571500" y="468630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Elasticiteit gebruiken</a:t>
            </a:r>
          </a:p>
        </p:txBody>
      </p:sp>
      <p:sp>
        <p:nvSpPr>
          <p:cNvPr id="12" name="Je verklaart de uitkomst en de grens van de lokale">
            <a:extLst xmlns:a="http://schemas.openxmlformats.org/drawingml/2006/main">
              <a:ext uri="{FF2B5EF4-FFF2-40B4-BE49-F238E27FC236}">
                <a16:creationId xmlns:a16="http://schemas.microsoft.com/office/drawing/2014/main" id="{AE7BD8A2-5A7C-45B1-8732-31F15450622A}"/>
              </a:ext>
            </a:extLst>
          </p:cNvPr>
          <p:cNvSpPr>
            <a:spLocks xmlns:a="http://schemas.openxmlformats.org/drawingml/2006/main" noGrp="1"/>
          </p:cNvSpPr>
          <p:nvPr/>
        </p:nvSpPr>
        <p:spPr>
          <a:xfrm xmlns:a="http://schemas.openxmlformats.org/drawingml/2006/main">
            <a:off x="6619875" y="4686300"/>
            <a:ext cx="7810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verklaart de uitkomst en de grens van de lokale regel.</a:t>
            </a:r>
          </a:p>
        </p:txBody>
      </p:sp>
      <p:sp>
        <p:nvSpPr>
          <p:cNvPr id="13" name="">
            <a:extLst xmlns:a="http://schemas.openxmlformats.org/drawingml/2006/main">
              <a:ext uri="{FF2B5EF4-FFF2-40B4-BE49-F238E27FC236}">
                <a16:creationId xmlns:a16="http://schemas.microsoft.com/office/drawing/2014/main" id="{065768E1-9785-4231-996A-73115EE57A2D}"/>
              </a:ext>
            </a:extLst>
          </p:cNvPr>
          <p:cNvSpPr>
            <a:spLocks xmlns:a="http://schemas.openxmlformats.org/drawingml/2006/main" noGrp="1"/>
          </p:cNvSpPr>
          <p:nvPr/>
        </p:nvSpPr>
        <p:spPr>
          <a:xfrm xmlns:a="http://schemas.openxmlformats.org/drawingml/2006/main">
            <a:off x="571500" y="5810250"/>
            <a:ext cx="14097000" cy="0"/>
          </a:xfrm>
          <a:prstGeom xmlns:a="http://schemas.openxmlformats.org/drawingml/2006/main" prst="line">
            <a:avLst/>
          </a:prstGeom>
          <a:ln xmlns:a="http://schemas.openxmlformats.org/drawingml/2006/main" w="19050">
            <a:solidFill>
              <a:srgbClr val="C6D2DB"/>
            </a:solidFill>
          </a:ln>
        </p:spPr>
      </p:sp>
      <p:sp>
        <p:nvSpPr>
          <p:cNvPr id="14" name="Winst onderscheiden">
            <a:extLst xmlns:a="http://schemas.openxmlformats.org/drawingml/2006/main">
              <a:ext uri="{FF2B5EF4-FFF2-40B4-BE49-F238E27FC236}">
                <a16:creationId xmlns:a16="http://schemas.microsoft.com/office/drawing/2014/main" id="{DF389EA6-02CF-46DA-B05D-C56C135A0158}"/>
              </a:ext>
            </a:extLst>
          </p:cNvPr>
          <p:cNvSpPr>
            <a:spLocks xmlns:a="http://schemas.openxmlformats.org/drawingml/2006/main" noGrp="1"/>
          </p:cNvSpPr>
          <p:nvPr/>
        </p:nvSpPr>
        <p:spPr>
          <a:xfrm xmlns:a="http://schemas.openxmlformats.org/drawingml/2006/main">
            <a:off x="571500" y="607695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Winst onderscheiden</a:t>
            </a:r>
          </a:p>
        </p:txBody>
      </p:sp>
      <p:sp>
        <p:nvSpPr>
          <p:cNvPr id="15" name="Je benoemt welke kostengegevens nog ontbreken.">
            <a:extLst xmlns:a="http://schemas.openxmlformats.org/drawingml/2006/main">
              <a:ext uri="{FF2B5EF4-FFF2-40B4-BE49-F238E27FC236}">
                <a16:creationId xmlns:a16="http://schemas.microsoft.com/office/drawing/2014/main" id="{E81F7CD3-3B23-40E1-AFE5-F9C857672ABC}"/>
              </a:ext>
            </a:extLst>
          </p:cNvPr>
          <p:cNvSpPr>
            <a:spLocks xmlns:a="http://schemas.openxmlformats.org/drawingml/2006/main" noGrp="1"/>
          </p:cNvSpPr>
          <p:nvPr/>
        </p:nvSpPr>
        <p:spPr>
          <a:xfrm xmlns:a="http://schemas.openxmlformats.org/drawingml/2006/main">
            <a:off x="6619875" y="6076950"/>
            <a:ext cx="7810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benoemt welke kostengegevens nog ontbreken.</a:t>
            </a:r>
          </a:p>
        </p:txBody>
      </p:sp>
    </p:spTree>
    <p:extLst>
      <p:ext uri="{BB962C8B-B14F-4D97-AF65-F5344CB8AC3E}">
        <p14:creationId xmlns:p14="http://schemas.microsoft.com/office/powerpoint/2010/main" val="13155157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eramiekStudio: prijs en afzet">
            <a:extLst xmlns:a="http://schemas.openxmlformats.org/drawingml/2006/main">
              <a:ext uri="{FF2B5EF4-FFF2-40B4-BE49-F238E27FC236}">
                <a16:creationId xmlns:a16="http://schemas.microsoft.com/office/drawing/2014/main" id="{2BC804DF-9C4E-4788-9857-1D48DBC9D53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KeramiekStudio: prijs en afzet</a:t>
            </a:r>
          </a:p>
        </p:txBody>
      </p:sp>
      <p:sp>
        <p:nvSpPr>
          <p:cNvPr id="2" name="">
            <a:extLst xmlns:a="http://schemas.openxmlformats.org/drawingml/2006/main">
              <a:ext uri="{FF2B5EF4-FFF2-40B4-BE49-F238E27FC236}">
                <a16:creationId xmlns:a16="http://schemas.microsoft.com/office/drawing/2014/main" id="{B047BD96-ED58-4A93-9679-EEB2D6E6E53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B82C71D-8C8E-4D0F-B766-C9F9C94C88F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C3B2C2AC-BA20-41EC-B8AE-F1852206781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Verkochte workshopplaatsen per maand">
            <a:extLst xmlns:a="http://schemas.openxmlformats.org/drawingml/2006/main">
              <a:ext uri="{FF2B5EF4-FFF2-40B4-BE49-F238E27FC236}">
                <a16:creationId xmlns:a16="http://schemas.microsoft.com/office/drawing/2014/main" id="{541E0621-1039-4EA0-BCE9-EB29041E08B6}"/>
              </a:ext>
            </a:extLst>
          </p:cNvPr>
          <p:cNvSpPr>
            <a:spLocks xmlns:a="http://schemas.openxmlformats.org/drawingml/2006/main" noGrp="1"/>
          </p:cNvSpPr>
          <p:nvPr/>
        </p:nvSpPr>
        <p:spPr>
          <a:xfrm xmlns:a="http://schemas.openxmlformats.org/drawingml/2006/main">
            <a:off x="571500" y="17621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Verkochte workshopplaatsen per maand</a:t>
            </a:r>
          </a:p>
        </p:txBody>
      </p:sp>
      <p:graphicFrame>
        <p:nvGraphicFramePr>
          <p:cNvPr id="14" name=""/>
          <p:cNvGraphicFramePr/>
          <p:nvPr/>
        </p:nvGraphicFramePr>
        <p:xfrm>
          <a:off xmlns:a="http://schemas.openxmlformats.org/drawingml/2006/main" x="571500" y="2762250"/>
          <a:ext xmlns:a="http://schemas.openxmlformats.org/drawingml/2006/main" cx="14097000" cy="2762250"/>
        </p:xfrm>
        <a:graphic xmlns:a="http://schemas.openxmlformats.org/drawingml/2006/main">
          <a:graphicData uri="http://schemas.openxmlformats.org/drawingml/2006/table">
            <a:tbl>
              <a:tblPr/>
              <a:tblGrid>
                <a:gridCol w="3619500"/>
                <a:gridCol w="4762500"/>
                <a:gridCol w="5715000"/>
              </a:tblGrid>
              <a:tr h="920750">
                <a:tc>
                  <a:txBody>
                    <a:bodyPr lIns="171450" tIns="95250" rIns="152400" bIns="95250"/>
                    <a:lstStyle/>
                    <a:p>
                      <a:r>
                        <a:rPr sz="270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P (€ per plaats)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Q (plaatsen per maand)</a:t>
                      </a:r>
                    </a:p>
                  </a:txBody>
                  <a:tcPr marL="91440" marR="91440" marT="45720" marB="45720" anchor="ctr">
                    <a:solidFill>
                      <a:srgbClr val="183247"/>
                    </a:solidFill>
                  </a:tcPr>
                </a:tc>
              </a:tr>
              <a:tr h="920750">
                <a:tc>
                  <a:txBody>
                    <a:bodyPr lIns="171450" tIns="95250" rIns="152400" bIns="95250"/>
                    <a:lstStyle/>
                    <a:p>
                      <a:r>
                        <a:rPr sz="2700" b="0">
                          <a:solidFill>
                            <a:srgbClr val="183247"/>
                          </a:solidFill>
                          <a:latin typeface="Arial"/>
                          <a:ea typeface="Arial"/>
                          <a:cs typeface="Arial"/>
                        </a:rPr>
                        <a:t>Oud</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160</a:t>
                      </a:r>
                    </a:p>
                  </a:txBody>
                  <a:tcPr marL="91440" marR="91440" marT="45720" marB="45720" anchor="ctr">
                    <a:solidFill>
                      <a:srgbClr val="FFFFFF"/>
                    </a:solidFill>
                  </a:tcPr>
                </a:tc>
              </a:tr>
              <a:tr h="920750">
                <a:tc>
                  <a:txBody>
                    <a:bodyPr lIns="171450" tIns="95250" rIns="152400" bIns="95250"/>
                    <a:lstStyle/>
                    <a:p>
                      <a:r>
                        <a:rPr sz="2700" b="0">
                          <a:solidFill>
                            <a:srgbClr val="183247"/>
                          </a:solidFill>
                          <a:latin typeface="Arial"/>
                          <a:ea typeface="Arial"/>
                          <a:cs typeface="Arial"/>
                        </a:rPr>
                        <a:t>Nieuw</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33</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152</a:t>
                      </a:r>
                    </a:p>
                  </a:txBody>
                  <a:tcPr marL="91440" marR="91440" marT="45720" marB="45720" anchor="ctr">
                    <a:solidFill>
                      <a:srgbClr val="EFF4F7"/>
                    </a:solidFill>
                  </a:tcPr>
                </a:tc>
              </a:tr>
            </a:tbl>
          </a:graphicData>
        </a:graphic>
      </p:graphicFrame>
      <p:sp>
        <p:nvSpPr>
          <p:cNvPr id="7" name="TO = P × Q">
            <a:extLst xmlns:a="http://schemas.openxmlformats.org/drawingml/2006/main">
              <a:ext uri="{FF2B5EF4-FFF2-40B4-BE49-F238E27FC236}">
                <a16:creationId xmlns:a16="http://schemas.microsoft.com/office/drawing/2014/main" id="{7F605E18-DCF9-4CDA-A359-0496F6C8E2E8}"/>
              </a:ext>
            </a:extLst>
          </p:cNvPr>
          <p:cNvSpPr>
            <a:spLocks xmlns:a="http://schemas.openxmlformats.org/drawingml/2006/main" noGrp="1"/>
          </p:cNvSpPr>
          <p:nvPr/>
        </p:nvSpPr>
        <p:spPr>
          <a:xfrm xmlns:a="http://schemas.openxmlformats.org/drawingml/2006/main">
            <a:off x="571500" y="60483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0665B"/>
                </a:solidFill>
                <a:latin typeface="Arial"/>
                <a:ea typeface="Arial"/>
                <a:cs typeface="Arial"/>
              </a:defRPr>
            </a:pPr>
            <a:r>
              <a:rPr sz="3900" b="1">
                <a:solidFill>
                  <a:srgbClr val="20665B"/>
                </a:solidFill>
                <a:latin typeface="Arial"/>
                <a:ea typeface="Arial"/>
                <a:cs typeface="Arial"/>
              </a:rPr>
              <a:t>TO = P × Q</a:t>
            </a:r>
          </a:p>
        </p:txBody>
      </p:sp>
      <p:sp>
        <p:nvSpPr>
          <p:cNvPr id="8" name="Alle gevraagde plaatsen worden verkocht: Q = Qv.">
            <a:extLst xmlns:a="http://schemas.openxmlformats.org/drawingml/2006/main">
              <a:ext uri="{FF2B5EF4-FFF2-40B4-BE49-F238E27FC236}">
                <a16:creationId xmlns:a16="http://schemas.microsoft.com/office/drawing/2014/main" id="{36CC5232-CD00-4AD2-9379-403F7377703E}"/>
              </a:ext>
            </a:extLst>
          </p:cNvPr>
          <p:cNvSpPr>
            <a:spLocks xmlns:a="http://schemas.openxmlformats.org/drawingml/2006/main" noGrp="1"/>
          </p:cNvSpPr>
          <p:nvPr/>
        </p:nvSpPr>
        <p:spPr>
          <a:xfrm xmlns:a="http://schemas.openxmlformats.org/drawingml/2006/main">
            <a:off x="571500" y="71818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Alle gevraagde plaatsen worden verkocht: Q = Qv.</a:t>
            </a:r>
          </a:p>
        </p:txBody>
      </p:sp>
    </p:spTree>
    <p:extLst>
      <p:ext uri="{BB962C8B-B14F-4D97-AF65-F5344CB8AC3E}">
        <p14:creationId xmlns:p14="http://schemas.microsoft.com/office/powerpoint/2010/main" val="14266299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mzet als oppervlakte">
            <a:extLst xmlns:a="http://schemas.openxmlformats.org/drawingml/2006/main">
              <a:ext uri="{FF2B5EF4-FFF2-40B4-BE49-F238E27FC236}">
                <a16:creationId xmlns:a16="http://schemas.microsoft.com/office/drawing/2014/main" id="{D6F0F6BD-A786-4662-B976-05CCAFEEAE1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Omzet als oppervlakte</a:t>
            </a:r>
          </a:p>
        </p:txBody>
      </p:sp>
      <p:sp>
        <p:nvSpPr>
          <p:cNvPr id="2" name="">
            <a:extLst xmlns:a="http://schemas.openxmlformats.org/drawingml/2006/main">
              <a:ext uri="{FF2B5EF4-FFF2-40B4-BE49-F238E27FC236}">
                <a16:creationId xmlns:a16="http://schemas.microsoft.com/office/drawing/2014/main" id="{2C707924-1F0A-4746-88FA-85E706273C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7590571-E815-480D-AE70-CC6495162C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D1440AF4-0735-413D-B3BA-789F84105EB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KeramiekStudio: oud P = € 30, Q = 160">
            <a:extLst xmlns:a="http://schemas.openxmlformats.org/drawingml/2006/main">
              <a:ext uri="{FF2B5EF4-FFF2-40B4-BE49-F238E27FC236}">
                <a16:creationId xmlns:a16="http://schemas.microsoft.com/office/drawing/2014/main" id="{9BCAB47B-AC87-4B69-9B14-42E51E4FB13F}"/>
              </a:ext>
            </a:extLst>
          </p:cNvPr>
          <p:cNvSpPr>
            <a:spLocks xmlns:a="http://schemas.openxmlformats.org/drawingml/2006/main" noGrp="1"/>
          </p:cNvSpPr>
          <p:nvPr/>
        </p:nvSpPr>
        <p:spPr>
          <a:xfrm xmlns:a="http://schemas.openxmlformats.org/drawingml/2006/main">
            <a:off x="571500" y="17049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KeramiekStudio: oud P = € 30, Q = 160</a:t>
            </a:r>
          </a:p>
        </p:txBody>
      </p:sp>
      <p:graphicFrame>
        <p:nvGraphicFramePr>
          <p:cNvPr id="17" name="Chart"/>
          <p:cNvGraphicFramePr/>
          <p:nvPr/>
        </p:nvGraphicFramePr>
        <p:xfrm>
          <a:off xmlns:a="http://schemas.openxmlformats.org/drawingml/2006/main" x="571500" y="2419350"/>
          <a:ext xmlns:a="http://schemas.openxmlformats.org/drawingml/2006/main" cx="9715500" cy="5305425"/>
        </p:xfrm>
        <a:graphic xmlns:a="http://schemas.openxmlformats.org/drawingml/2006/main">
          <a:graphicData uri="http://schemas.openxmlformats.org/drawingml/2006/chart">
            <c:chart xmlns:r="http://schemas.openxmlformats.org/officeDocument/2006/relationships" xmlns:c="http://schemas.openxmlformats.org/drawingml/2006/chart" r:id="R3ee3fa3e50a44cf8"/>
          </a:graphicData>
        </a:graphic>
      </p:graphicFrame>
      <p:sp>
        <p:nvSpPr>
          <p:cNvPr id="7" name="TO oud">
            <a:extLst xmlns:a="http://schemas.openxmlformats.org/drawingml/2006/main">
              <a:ext uri="{FF2B5EF4-FFF2-40B4-BE49-F238E27FC236}">
                <a16:creationId xmlns:a16="http://schemas.microsoft.com/office/drawing/2014/main" id="{3AFCA4DC-0060-45B8-A600-DEE93B4548A0}"/>
              </a:ext>
            </a:extLst>
          </p:cNvPr>
          <p:cNvSpPr>
            <a:spLocks xmlns:a="http://schemas.openxmlformats.org/drawingml/2006/main" noGrp="1"/>
          </p:cNvSpPr>
          <p:nvPr/>
        </p:nvSpPr>
        <p:spPr>
          <a:xfrm xmlns:a="http://schemas.openxmlformats.org/drawingml/2006/main">
            <a:off x="10858500" y="261937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TO oud</a:t>
            </a:r>
          </a:p>
        </p:txBody>
      </p:sp>
      <p:sp>
        <p:nvSpPr>
          <p:cNvPr id="8" name="30 × 160">
            <a:extLst xmlns:a="http://schemas.openxmlformats.org/drawingml/2006/main">
              <a:ext uri="{FF2B5EF4-FFF2-40B4-BE49-F238E27FC236}">
                <a16:creationId xmlns:a16="http://schemas.microsoft.com/office/drawing/2014/main" id="{20D523E3-1F43-4886-954B-B419F73446DB}"/>
              </a:ext>
            </a:extLst>
          </p:cNvPr>
          <p:cNvSpPr>
            <a:spLocks xmlns:a="http://schemas.openxmlformats.org/drawingml/2006/main" noGrp="1"/>
          </p:cNvSpPr>
          <p:nvPr/>
        </p:nvSpPr>
        <p:spPr>
          <a:xfrm xmlns:a="http://schemas.openxmlformats.org/drawingml/2006/main">
            <a:off x="10858500" y="3590925"/>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30 × 160</a:t>
            </a:r>
          </a:p>
        </p:txBody>
      </p:sp>
      <p:sp>
        <p:nvSpPr>
          <p:cNvPr id="9" name="= € 4.800">
            <a:extLst xmlns:a="http://schemas.openxmlformats.org/drawingml/2006/main">
              <a:ext uri="{FF2B5EF4-FFF2-40B4-BE49-F238E27FC236}">
                <a16:creationId xmlns:a16="http://schemas.microsoft.com/office/drawing/2014/main" id="{771ABDFF-FFE8-4284-9E84-08622933B6BF}"/>
              </a:ext>
            </a:extLst>
          </p:cNvPr>
          <p:cNvSpPr>
            <a:spLocks xmlns:a="http://schemas.openxmlformats.org/drawingml/2006/main" noGrp="1"/>
          </p:cNvSpPr>
          <p:nvPr/>
        </p:nvSpPr>
        <p:spPr>
          <a:xfrm xmlns:a="http://schemas.openxmlformats.org/drawingml/2006/main">
            <a:off x="10858500" y="4457700"/>
            <a:ext cx="381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 € 4.800</a:t>
            </a:r>
          </a:p>
        </p:txBody>
      </p:sp>
      <p:sp>
        <p:nvSpPr>
          <p:cNvPr id="10" name="per maand">
            <a:extLst xmlns:a="http://schemas.openxmlformats.org/drawingml/2006/main">
              <a:ext uri="{FF2B5EF4-FFF2-40B4-BE49-F238E27FC236}">
                <a16:creationId xmlns:a16="http://schemas.microsoft.com/office/drawing/2014/main" id="{CC521BA3-D81E-4C2F-9ED3-6C6C63AB3707}"/>
              </a:ext>
            </a:extLst>
          </p:cNvPr>
          <p:cNvSpPr>
            <a:spLocks xmlns:a="http://schemas.openxmlformats.org/drawingml/2006/main" noGrp="1"/>
          </p:cNvSpPr>
          <p:nvPr/>
        </p:nvSpPr>
        <p:spPr>
          <a:xfrm xmlns:a="http://schemas.openxmlformats.org/drawingml/2006/main">
            <a:off x="10858500" y="52673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maand</a:t>
            </a:r>
          </a:p>
        </p:txBody>
      </p:sp>
      <p:sp>
        <p:nvSpPr>
          <p:cNvPr id="11" name="Breedte × hoogte&#10;geeft de omzet.">
            <a:extLst xmlns:a="http://schemas.openxmlformats.org/drawingml/2006/main">
              <a:ext uri="{FF2B5EF4-FFF2-40B4-BE49-F238E27FC236}">
                <a16:creationId xmlns:a16="http://schemas.microsoft.com/office/drawing/2014/main" id="{E08CAD02-7F0C-43D8-B2F7-F343FCF0434A}"/>
              </a:ext>
            </a:extLst>
          </p:cNvPr>
          <p:cNvSpPr>
            <a:spLocks xmlns:a="http://schemas.openxmlformats.org/drawingml/2006/main" noGrp="1"/>
          </p:cNvSpPr>
          <p:nvPr/>
        </p:nvSpPr>
        <p:spPr>
          <a:xfrm xmlns:a="http://schemas.openxmlformats.org/drawingml/2006/main">
            <a:off x="10858500" y="6362700"/>
            <a:ext cx="3810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Breedte × hoogte</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geeft de omzet.</a:t>
            </a:r>
          </a:p>
        </p:txBody>
      </p:sp>
    </p:spTree>
    <p:extLst>
      <p:ext uri="{BB962C8B-B14F-4D97-AF65-F5344CB8AC3E}">
        <p14:creationId xmlns:p14="http://schemas.microsoft.com/office/powerpoint/2010/main" val="12424782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 nieuwe omzetrechthoek">
            <a:extLst xmlns:a="http://schemas.openxmlformats.org/drawingml/2006/main">
              <a:ext uri="{FF2B5EF4-FFF2-40B4-BE49-F238E27FC236}">
                <a16:creationId xmlns:a16="http://schemas.microsoft.com/office/drawing/2014/main" id="{71BFB8C7-A873-4A9B-A948-00B9BF5DD78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nieuwe omzetrechthoek</a:t>
            </a:r>
          </a:p>
        </p:txBody>
      </p:sp>
      <p:sp>
        <p:nvSpPr>
          <p:cNvPr id="2" name="">
            <a:extLst xmlns:a="http://schemas.openxmlformats.org/drawingml/2006/main">
              <a:ext uri="{FF2B5EF4-FFF2-40B4-BE49-F238E27FC236}">
                <a16:creationId xmlns:a16="http://schemas.microsoft.com/office/drawing/2014/main" id="{212090A3-1379-4718-BF97-983F6A9D76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7CA6CAB-A1FA-44CF-9CE5-06C18B3F201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D5851D74-86A9-4101-BFEA-912D2E10757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KeramiekStudio: oud gestreept, nieuw groen">
            <a:extLst xmlns:a="http://schemas.openxmlformats.org/drawingml/2006/main">
              <a:ext uri="{FF2B5EF4-FFF2-40B4-BE49-F238E27FC236}">
                <a16:creationId xmlns:a16="http://schemas.microsoft.com/office/drawing/2014/main" id="{6D460271-2C5C-407E-8C12-672C22CBA833}"/>
              </a:ext>
            </a:extLst>
          </p:cNvPr>
          <p:cNvSpPr>
            <a:spLocks xmlns:a="http://schemas.openxmlformats.org/drawingml/2006/main" noGrp="1"/>
          </p:cNvSpPr>
          <p:nvPr/>
        </p:nvSpPr>
        <p:spPr>
          <a:xfrm xmlns:a="http://schemas.openxmlformats.org/drawingml/2006/main">
            <a:off x="571500" y="17049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KeramiekStudio: oud gestreept, nieuw groen</a:t>
            </a:r>
          </a:p>
        </p:txBody>
      </p:sp>
      <p:graphicFrame>
        <p:nvGraphicFramePr>
          <p:cNvPr id="17" name="Chart"/>
          <p:cNvGraphicFramePr/>
          <p:nvPr/>
        </p:nvGraphicFramePr>
        <p:xfrm>
          <a:off xmlns:a="http://schemas.openxmlformats.org/drawingml/2006/main" x="571500" y="2419350"/>
          <a:ext xmlns:a="http://schemas.openxmlformats.org/drawingml/2006/main" cx="9715500" cy="5305425"/>
        </p:xfrm>
        <a:graphic xmlns:a="http://schemas.openxmlformats.org/drawingml/2006/main">
          <a:graphicData uri="http://schemas.openxmlformats.org/drawingml/2006/chart">
            <c:chart xmlns:r="http://schemas.openxmlformats.org/officeDocument/2006/relationships" xmlns:c="http://schemas.openxmlformats.org/drawingml/2006/chart" r:id="R0d5c9a88d43d4299"/>
          </a:graphicData>
        </a:graphic>
      </p:graphicFrame>
      <p:sp>
        <p:nvSpPr>
          <p:cNvPr id="7" name="TO nieuw">
            <a:extLst xmlns:a="http://schemas.openxmlformats.org/drawingml/2006/main">
              <a:ext uri="{FF2B5EF4-FFF2-40B4-BE49-F238E27FC236}">
                <a16:creationId xmlns:a16="http://schemas.microsoft.com/office/drawing/2014/main" id="{960AFA3F-211F-4EBA-8C79-FB3AF55B17D0}"/>
              </a:ext>
            </a:extLst>
          </p:cNvPr>
          <p:cNvSpPr>
            <a:spLocks xmlns:a="http://schemas.openxmlformats.org/drawingml/2006/main" noGrp="1"/>
          </p:cNvSpPr>
          <p:nvPr/>
        </p:nvSpPr>
        <p:spPr>
          <a:xfrm xmlns:a="http://schemas.openxmlformats.org/drawingml/2006/main">
            <a:off x="10858500" y="261937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TO nieuw</a:t>
            </a:r>
          </a:p>
        </p:txBody>
      </p:sp>
      <p:sp>
        <p:nvSpPr>
          <p:cNvPr id="8" name="33 × 152">
            <a:extLst xmlns:a="http://schemas.openxmlformats.org/drawingml/2006/main">
              <a:ext uri="{FF2B5EF4-FFF2-40B4-BE49-F238E27FC236}">
                <a16:creationId xmlns:a16="http://schemas.microsoft.com/office/drawing/2014/main" id="{7FC76874-6DAA-4B16-9303-C07FEA2F5115}"/>
              </a:ext>
            </a:extLst>
          </p:cNvPr>
          <p:cNvSpPr>
            <a:spLocks xmlns:a="http://schemas.openxmlformats.org/drawingml/2006/main" noGrp="1"/>
          </p:cNvSpPr>
          <p:nvPr/>
        </p:nvSpPr>
        <p:spPr>
          <a:xfrm xmlns:a="http://schemas.openxmlformats.org/drawingml/2006/main">
            <a:off x="10858500" y="3590925"/>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33 × 152</a:t>
            </a:r>
          </a:p>
        </p:txBody>
      </p:sp>
      <p:sp>
        <p:nvSpPr>
          <p:cNvPr id="9" name="= € 5.016">
            <a:extLst xmlns:a="http://schemas.openxmlformats.org/drawingml/2006/main">
              <a:ext uri="{FF2B5EF4-FFF2-40B4-BE49-F238E27FC236}">
                <a16:creationId xmlns:a16="http://schemas.microsoft.com/office/drawing/2014/main" id="{D5EB734D-5ADC-4495-84B9-45796315EE09}"/>
              </a:ext>
            </a:extLst>
          </p:cNvPr>
          <p:cNvSpPr>
            <a:spLocks xmlns:a="http://schemas.openxmlformats.org/drawingml/2006/main" noGrp="1"/>
          </p:cNvSpPr>
          <p:nvPr/>
        </p:nvSpPr>
        <p:spPr>
          <a:xfrm xmlns:a="http://schemas.openxmlformats.org/drawingml/2006/main">
            <a:off x="10858500" y="4457700"/>
            <a:ext cx="381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 € 5.016</a:t>
            </a:r>
          </a:p>
        </p:txBody>
      </p:sp>
      <p:sp>
        <p:nvSpPr>
          <p:cNvPr id="10" name="per maand">
            <a:extLst xmlns:a="http://schemas.openxmlformats.org/drawingml/2006/main">
              <a:ext uri="{FF2B5EF4-FFF2-40B4-BE49-F238E27FC236}">
                <a16:creationId xmlns:a16="http://schemas.microsoft.com/office/drawing/2014/main" id="{7B11C946-0DA7-4EEA-AEFF-5C9D6B558B17}"/>
              </a:ext>
            </a:extLst>
          </p:cNvPr>
          <p:cNvSpPr>
            <a:spLocks xmlns:a="http://schemas.openxmlformats.org/drawingml/2006/main" noGrp="1"/>
          </p:cNvSpPr>
          <p:nvPr/>
        </p:nvSpPr>
        <p:spPr>
          <a:xfrm xmlns:a="http://schemas.openxmlformats.org/drawingml/2006/main">
            <a:off x="10858500" y="52673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maand</a:t>
            </a:r>
          </a:p>
        </p:txBody>
      </p:sp>
      <p:sp>
        <p:nvSpPr>
          <p:cNvPr id="11" name="Hoger én smaller.&#10;De oppervlakte&#10;wordt groter.">
            <a:extLst xmlns:a="http://schemas.openxmlformats.org/drawingml/2006/main">
              <a:ext uri="{FF2B5EF4-FFF2-40B4-BE49-F238E27FC236}">
                <a16:creationId xmlns:a16="http://schemas.microsoft.com/office/drawing/2014/main" id="{50F70F1F-1EF5-4972-8C10-1E6A2DB554C1}"/>
              </a:ext>
            </a:extLst>
          </p:cNvPr>
          <p:cNvSpPr>
            <a:spLocks xmlns:a="http://schemas.openxmlformats.org/drawingml/2006/main" noGrp="1"/>
          </p:cNvSpPr>
          <p:nvPr/>
        </p:nvSpPr>
        <p:spPr>
          <a:xfrm xmlns:a="http://schemas.openxmlformats.org/drawingml/2006/main">
            <a:off x="10858500" y="6362700"/>
            <a:ext cx="3810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Hoger én smaller.</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De oppervlakte</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wordt groter.</a:t>
            </a:r>
          </a:p>
        </p:txBody>
      </p:sp>
    </p:spTree>
    <p:extLst>
      <p:ext uri="{BB962C8B-B14F-4D97-AF65-F5344CB8AC3E}">
        <p14:creationId xmlns:p14="http://schemas.microsoft.com/office/powerpoint/2010/main" val="1686272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procentuele omzetverandering">
            <a:extLst xmlns:a="http://schemas.openxmlformats.org/drawingml/2006/main">
              <a:ext uri="{FF2B5EF4-FFF2-40B4-BE49-F238E27FC236}">
                <a16:creationId xmlns:a16="http://schemas.microsoft.com/office/drawing/2014/main" id="{036F5682-076D-448A-A5B0-A507DCAE6D2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procentuele omzetverandering</a:t>
            </a:r>
          </a:p>
        </p:txBody>
      </p:sp>
      <p:sp>
        <p:nvSpPr>
          <p:cNvPr id="2" name="">
            <a:extLst xmlns:a="http://schemas.openxmlformats.org/drawingml/2006/main">
              <a:ext uri="{FF2B5EF4-FFF2-40B4-BE49-F238E27FC236}">
                <a16:creationId xmlns:a16="http://schemas.microsoft.com/office/drawing/2014/main" id="{2EB8FF9C-0ACE-48D6-8024-90A1511C3A9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AC1D407-4770-4B0D-B8C9-454266D599A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E0E18A65-2DC4-45BB-B300-8C3DE86A76D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KeramiekStudio: € 4.800 naar € 5.016 per maand">
            <a:extLst xmlns:a="http://schemas.openxmlformats.org/drawingml/2006/main">
              <a:ext uri="{FF2B5EF4-FFF2-40B4-BE49-F238E27FC236}">
                <a16:creationId xmlns:a16="http://schemas.microsoft.com/office/drawing/2014/main" id="{C265B642-62DE-4392-8E46-6DE0137B8106}"/>
              </a:ext>
            </a:extLst>
          </p:cNvPr>
          <p:cNvSpPr>
            <a:spLocks xmlns:a="http://schemas.openxmlformats.org/drawingml/2006/main" noGrp="1"/>
          </p:cNvSpPr>
          <p:nvPr/>
        </p:nvSpPr>
        <p:spPr>
          <a:xfrm xmlns:a="http://schemas.openxmlformats.org/drawingml/2006/main">
            <a:off x="571500" y="17716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KeramiekStudio: € 4.800 naar € 5.016 per maand</a:t>
            </a:r>
          </a:p>
        </p:txBody>
      </p:sp>
      <p:sp>
        <p:nvSpPr>
          <p:cNvPr id="6" name="%ΔTO = (TO nieuw − TO oud) / TO oud × 100%">
            <a:extLst xmlns:a="http://schemas.openxmlformats.org/drawingml/2006/main">
              <a:ext uri="{FF2B5EF4-FFF2-40B4-BE49-F238E27FC236}">
                <a16:creationId xmlns:a16="http://schemas.microsoft.com/office/drawing/2014/main" id="{485E557A-674B-49C4-B61B-800C744F65AC}"/>
              </a:ext>
            </a:extLst>
          </p:cNvPr>
          <p:cNvSpPr>
            <a:spLocks xmlns:a="http://schemas.openxmlformats.org/drawingml/2006/main" noGrp="1"/>
          </p:cNvSpPr>
          <p:nvPr/>
        </p:nvSpPr>
        <p:spPr>
          <a:xfrm xmlns:a="http://schemas.openxmlformats.org/drawingml/2006/main">
            <a:off x="571500" y="31432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%ΔTO = (TO nieuw − TO oud) / TO oud × 100%</a:t>
            </a:r>
          </a:p>
        </p:txBody>
      </p:sp>
      <p:sp>
        <p:nvSpPr>
          <p:cNvPr id="7" name="= (5.016 − 4.800) / 4.800 × 100%">
            <a:extLst xmlns:a="http://schemas.openxmlformats.org/drawingml/2006/main">
              <a:ext uri="{FF2B5EF4-FFF2-40B4-BE49-F238E27FC236}">
                <a16:creationId xmlns:a16="http://schemas.microsoft.com/office/drawing/2014/main" id="{0577E1CC-9DDB-4F9C-AF72-43236CA6CD5A}"/>
              </a:ext>
            </a:extLst>
          </p:cNvPr>
          <p:cNvSpPr>
            <a:spLocks xmlns:a="http://schemas.openxmlformats.org/drawingml/2006/main" noGrp="1"/>
          </p:cNvSpPr>
          <p:nvPr/>
        </p:nvSpPr>
        <p:spPr>
          <a:xfrm xmlns:a="http://schemas.openxmlformats.org/drawingml/2006/main">
            <a:off x="571500" y="43529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 (5.016 − 4.800) / 4.800 × 100%</a:t>
            </a:r>
          </a:p>
        </p:txBody>
      </p:sp>
      <p:sp>
        <p:nvSpPr>
          <p:cNvPr id="8" name="= +4,5%">
            <a:extLst xmlns:a="http://schemas.openxmlformats.org/drawingml/2006/main">
              <a:ext uri="{FF2B5EF4-FFF2-40B4-BE49-F238E27FC236}">
                <a16:creationId xmlns:a16="http://schemas.microsoft.com/office/drawing/2014/main" id="{21733B2E-F6AC-4BE3-9603-223C929A8ABB}"/>
              </a:ext>
            </a:extLst>
          </p:cNvPr>
          <p:cNvSpPr>
            <a:spLocks xmlns:a="http://schemas.openxmlformats.org/drawingml/2006/main" noGrp="1"/>
          </p:cNvSpPr>
          <p:nvPr/>
        </p:nvSpPr>
        <p:spPr>
          <a:xfrm xmlns:a="http://schemas.openxmlformats.org/drawingml/2006/main">
            <a:off x="571500" y="57340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20665B"/>
                </a:solidFill>
                <a:latin typeface="Arial"/>
                <a:ea typeface="Arial"/>
                <a:cs typeface="Arial"/>
              </a:defRPr>
            </a:pPr>
            <a:r>
              <a:rPr sz="4650" b="1">
                <a:solidFill>
                  <a:srgbClr val="20665B"/>
                </a:solidFill>
                <a:latin typeface="Arial"/>
                <a:ea typeface="Arial"/>
                <a:cs typeface="Arial"/>
              </a:rPr>
              <a:t>= +4,5%</a:t>
            </a:r>
          </a:p>
        </p:txBody>
      </p:sp>
      <p:sp>
        <p:nvSpPr>
          <p:cNvPr id="9" name="€ 216 extra omzet, vergeleken met de oude € 4.800.">
            <a:extLst xmlns:a="http://schemas.openxmlformats.org/drawingml/2006/main">
              <a:ext uri="{FF2B5EF4-FFF2-40B4-BE49-F238E27FC236}">
                <a16:creationId xmlns:a16="http://schemas.microsoft.com/office/drawing/2014/main" id="{33AA3CD3-1C58-4120-8EA2-7A7031CD267E}"/>
              </a:ext>
            </a:extLst>
          </p:cNvPr>
          <p:cNvSpPr>
            <a:spLocks xmlns:a="http://schemas.openxmlformats.org/drawingml/2006/main" noGrp="1"/>
          </p:cNvSpPr>
          <p:nvPr/>
        </p:nvSpPr>
        <p:spPr>
          <a:xfrm xmlns:a="http://schemas.openxmlformats.org/drawingml/2006/main">
            <a:off x="571500" y="72390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€ 216 extra omzet, vergeleken met de oude € 4.800.</a:t>
            </a:r>
          </a:p>
        </p:txBody>
      </p:sp>
    </p:spTree>
    <p:extLst>
      <p:ext uri="{BB962C8B-B14F-4D97-AF65-F5344CB8AC3E}">
        <p14:creationId xmlns:p14="http://schemas.microsoft.com/office/powerpoint/2010/main" val="20434110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relatief zwakke hoeveelheidsreactie">
            <a:extLst xmlns:a="http://schemas.openxmlformats.org/drawingml/2006/main">
              <a:ext uri="{FF2B5EF4-FFF2-40B4-BE49-F238E27FC236}">
                <a16:creationId xmlns:a16="http://schemas.microsoft.com/office/drawing/2014/main" id="{93BC43A6-9777-46AD-8775-83A1469C1A1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relatief zwakke hoeveelheidsreactie</a:t>
            </a:r>
          </a:p>
        </p:txBody>
      </p:sp>
      <p:sp>
        <p:nvSpPr>
          <p:cNvPr id="2" name="">
            <a:extLst xmlns:a="http://schemas.openxmlformats.org/drawingml/2006/main">
              <a:ext uri="{FF2B5EF4-FFF2-40B4-BE49-F238E27FC236}">
                <a16:creationId xmlns:a16="http://schemas.microsoft.com/office/drawing/2014/main" id="{047BD704-9CE8-4DAC-9C69-A1426C6C5D4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2A6437C-4C35-4AA7-BF04-1F6C6C22D2B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0EAA8529-5A4F-42D2-95B7-869E708243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3" name=""/>
          <p:cNvGraphicFramePr/>
          <p:nvPr/>
        </p:nvGraphicFramePr>
        <p:xfrm>
          <a:off xmlns:a="http://schemas.openxmlformats.org/drawingml/2006/main" x="571500" y="2000250"/>
          <a:ext xmlns:a="http://schemas.openxmlformats.org/drawingml/2006/main" cx="14097000" cy="2524125"/>
        </p:xfrm>
        <a:graphic xmlns:a="http://schemas.openxmlformats.org/drawingml/2006/main">
          <a:graphicData uri="http://schemas.openxmlformats.org/drawingml/2006/table">
            <a:tbl>
              <a:tblPr/>
              <a:tblGrid>
                <a:gridCol w="10001250"/>
                <a:gridCol w="4095750"/>
              </a:tblGrid>
              <a:tr h="841375">
                <a:tc>
                  <a:txBody>
                    <a:bodyPr lIns="171450" tIns="95250" rIns="152400" bIns="95250"/>
                    <a:lstStyle/>
                    <a:p>
                      <a:r>
                        <a:rPr sz="2625" b="1">
                          <a:solidFill>
                            <a:srgbClr val="FFFFFF"/>
                          </a:solidFill>
                          <a:latin typeface="Arial"/>
                          <a:ea typeface="Arial"/>
                          <a:cs typeface="Arial"/>
                        </a:rPr>
                        <a:t>KeramiekStudio</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Verandering</a:t>
                      </a:r>
                    </a:p>
                  </a:txBody>
                  <a:tcPr marL="91440" marR="91440" marT="45720" marB="45720" anchor="ctr">
                    <a:solidFill>
                      <a:srgbClr val="183247"/>
                    </a:solidFill>
                  </a:tcPr>
                </a:tc>
              </a:tr>
              <a:tr h="841375">
                <a:tc>
                  <a:txBody>
                    <a:bodyPr lIns="171450" tIns="95250" rIns="152400" bIns="95250"/>
                    <a:lstStyle/>
                    <a:p>
                      <a:r>
                        <a:rPr sz="2625" b="0">
                          <a:solidFill>
                            <a:srgbClr val="183247"/>
                          </a:solidFill>
                          <a:latin typeface="Arial"/>
                          <a:ea typeface="Arial"/>
                          <a:cs typeface="Arial"/>
                        </a:rPr>
                        <a:t>P: € 30 naar € 33</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a:t>
                      </a:r>
                    </a:p>
                  </a:txBody>
                  <a:tcPr marL="91440" marR="91440" marT="45720" marB="45720" anchor="ctr">
                    <a:solidFill>
                      <a:srgbClr val="FFFFFF"/>
                    </a:solidFill>
                  </a:tcPr>
                </a:tc>
              </a:tr>
              <a:tr h="841375">
                <a:tc>
                  <a:txBody>
                    <a:bodyPr lIns="171450" tIns="95250" rIns="152400" bIns="95250"/>
                    <a:lstStyle/>
                    <a:p>
                      <a:r>
                        <a:rPr sz="2625" b="0">
                          <a:solidFill>
                            <a:srgbClr val="183247"/>
                          </a:solidFill>
                          <a:latin typeface="Arial"/>
                          <a:ea typeface="Arial"/>
                          <a:cs typeface="Arial"/>
                        </a:rPr>
                        <a:t>Q: 160 naar 152 per maand</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a:t>
                      </a:r>
                    </a:p>
                  </a:txBody>
                  <a:tcPr marL="91440" marR="91440" marT="45720" marB="45720" anchor="ctr">
                    <a:solidFill>
                      <a:srgbClr val="EFF4F7"/>
                    </a:solidFill>
                  </a:tcPr>
                </a:tc>
              </a:tr>
            </a:tbl>
          </a:graphicData>
        </a:graphic>
      </p:graphicFrame>
      <p:sp>
        <p:nvSpPr>
          <p:cNvPr id="6" name="Ev = −5% / +10% = −0,5">
            <a:extLst xmlns:a="http://schemas.openxmlformats.org/drawingml/2006/main">
              <a:ext uri="{FF2B5EF4-FFF2-40B4-BE49-F238E27FC236}">
                <a16:creationId xmlns:a16="http://schemas.microsoft.com/office/drawing/2014/main" id="{17C19073-C953-4040-9BDB-F7B1D3A563D5}"/>
              </a:ext>
            </a:extLst>
          </p:cNvPr>
          <p:cNvSpPr>
            <a:spLocks xmlns:a="http://schemas.openxmlformats.org/drawingml/2006/main" noGrp="1"/>
          </p:cNvSpPr>
          <p:nvPr/>
        </p:nvSpPr>
        <p:spPr>
          <a:xfrm xmlns:a="http://schemas.openxmlformats.org/drawingml/2006/main">
            <a:off x="571500" y="50101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Ev = −5% / +10% = −0,5</a:t>
            </a:r>
          </a:p>
        </p:txBody>
      </p:sp>
      <p:sp>
        <p:nvSpPr>
          <p:cNvPr id="7" name="−1 &lt; −0,5 &lt; 0: prijsinelastische vraag">
            <a:extLst xmlns:a="http://schemas.openxmlformats.org/drawingml/2006/main">
              <a:ext uri="{FF2B5EF4-FFF2-40B4-BE49-F238E27FC236}">
                <a16:creationId xmlns:a16="http://schemas.microsoft.com/office/drawing/2014/main" id="{29E98340-6591-46DC-9BEC-9280592A86D9}"/>
              </a:ext>
            </a:extLst>
          </p:cNvPr>
          <p:cNvSpPr>
            <a:spLocks xmlns:a="http://schemas.openxmlformats.org/drawingml/2006/main" noGrp="1"/>
          </p:cNvSpPr>
          <p:nvPr/>
        </p:nvSpPr>
        <p:spPr>
          <a:xfrm xmlns:a="http://schemas.openxmlformats.org/drawingml/2006/main">
            <a:off x="571500" y="60007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−1 &lt; −0,5 &lt; 0: prijsinelastische vraag</a:t>
            </a:r>
          </a:p>
        </p:txBody>
      </p:sp>
      <p:sp>
        <p:nvSpPr>
          <p:cNvPr id="8" name="In deze meting stijgt TO met 4,5%.">
            <a:extLst xmlns:a="http://schemas.openxmlformats.org/drawingml/2006/main">
              <a:ext uri="{FF2B5EF4-FFF2-40B4-BE49-F238E27FC236}">
                <a16:creationId xmlns:a16="http://schemas.microsoft.com/office/drawing/2014/main" id="{663090D3-3696-4AA8-BD38-CA3B77087A85}"/>
              </a:ext>
            </a:extLst>
          </p:cNvPr>
          <p:cNvSpPr>
            <a:spLocks xmlns:a="http://schemas.openxmlformats.org/drawingml/2006/main" noGrp="1"/>
          </p:cNvSpPr>
          <p:nvPr/>
        </p:nvSpPr>
        <p:spPr>
          <a:xfrm xmlns:a="http://schemas.openxmlformats.org/drawingml/2006/main">
            <a:off x="571500" y="71437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In deze meting stijgt TO met 4,5%.</a:t>
            </a:r>
          </a:p>
        </p:txBody>
      </p:sp>
    </p:spTree>
    <p:extLst>
      <p:ext uri="{BB962C8B-B14F-4D97-AF65-F5344CB8AC3E}">
        <p14:creationId xmlns:p14="http://schemas.microsoft.com/office/powerpoint/2010/main" val="20975475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ajakStek: minder verhuringen">
            <a:extLst xmlns:a="http://schemas.openxmlformats.org/drawingml/2006/main">
              <a:ext uri="{FF2B5EF4-FFF2-40B4-BE49-F238E27FC236}">
                <a16:creationId xmlns:a16="http://schemas.microsoft.com/office/drawing/2014/main" id="{FF731F58-19FE-40A9-810C-5D3F9B1D0F1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KajakStek: minder verhuringen</a:t>
            </a:r>
          </a:p>
        </p:txBody>
      </p:sp>
      <p:sp>
        <p:nvSpPr>
          <p:cNvPr id="2" name="">
            <a:extLst xmlns:a="http://schemas.openxmlformats.org/drawingml/2006/main">
              <a:ext uri="{FF2B5EF4-FFF2-40B4-BE49-F238E27FC236}">
                <a16:creationId xmlns:a16="http://schemas.microsoft.com/office/drawing/2014/main" id="{E443F5C8-51D2-4315-B30F-7E2C8D8596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A5479EA-27B7-4A91-AE36-D6EF02530A9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F0663DDD-35EE-4E6D-85E5-42D784763B7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Alle gevraagde kajaks worden verhuurd.">
            <a:extLst xmlns:a="http://schemas.openxmlformats.org/drawingml/2006/main">
              <a:ext uri="{FF2B5EF4-FFF2-40B4-BE49-F238E27FC236}">
                <a16:creationId xmlns:a16="http://schemas.microsoft.com/office/drawing/2014/main" id="{FF082D65-5233-4059-91A2-FF11588C1587}"/>
              </a:ext>
            </a:extLst>
          </p:cNvPr>
          <p:cNvSpPr>
            <a:spLocks xmlns:a="http://schemas.openxmlformats.org/drawingml/2006/main" noGrp="1"/>
          </p:cNvSpPr>
          <p:nvPr/>
        </p:nvSpPr>
        <p:spPr>
          <a:xfrm xmlns:a="http://schemas.openxmlformats.org/drawingml/2006/main">
            <a:off x="571500" y="17621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7658A"/>
                </a:solidFill>
                <a:latin typeface="Arial"/>
                <a:ea typeface="Arial"/>
                <a:cs typeface="Arial"/>
              </a:defRPr>
            </a:pPr>
            <a:r>
              <a:rPr sz="2550" b="0">
                <a:solidFill>
                  <a:srgbClr val="17658A"/>
                </a:solidFill>
                <a:latin typeface="Arial"/>
                <a:ea typeface="Arial"/>
                <a:cs typeface="Arial"/>
              </a:rPr>
              <a:t>Alle gevraagde kajaks worden verhuurd.</a:t>
            </a:r>
          </a:p>
        </p:txBody>
      </p:sp>
      <p:graphicFrame>
        <p:nvGraphicFramePr>
          <p:cNvPr id="13" name=""/>
          <p:cNvGraphicFramePr/>
          <p:nvPr/>
        </p:nvGraphicFramePr>
        <p:xfrm>
          <a:off xmlns:a="http://schemas.openxmlformats.org/drawingml/2006/main" x="571500" y="2762250"/>
          <a:ext xmlns:a="http://schemas.openxmlformats.org/drawingml/2006/main" cx="14097000" cy="2743200"/>
        </p:xfrm>
        <a:graphic xmlns:a="http://schemas.openxmlformats.org/drawingml/2006/main">
          <a:graphicData uri="http://schemas.openxmlformats.org/drawingml/2006/table">
            <a:tbl>
              <a:tblPr/>
              <a:tblGrid>
                <a:gridCol w="2381250"/>
                <a:gridCol w="3714750"/>
                <a:gridCol w="3143250"/>
                <a:gridCol w="4857750"/>
              </a:tblGrid>
              <a:tr h="914400">
                <a:tc>
                  <a:txBody>
                    <a:bodyPr lIns="171450" tIns="95250" rIns="152400" bIns="95250"/>
                    <a:lstStyle/>
                    <a:p>
                      <a:r>
                        <a:rPr sz="255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 (€ per verhuring)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Q (per week)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TO (€ per week)</a:t>
                      </a:r>
                    </a:p>
                  </a:txBody>
                  <a:tcPr marL="91440" marR="91440" marT="45720" marB="45720" anchor="ctr">
                    <a:solidFill>
                      <a:srgbClr val="183247"/>
                    </a:solidFill>
                  </a:tcPr>
                </a:tc>
              </a:tr>
              <a:tr h="914400">
                <a:tc>
                  <a:txBody>
                    <a:bodyPr lIns="171450" tIns="95250" rIns="152400" bIns="95250"/>
                    <a:lstStyle/>
                    <a:p>
                      <a:r>
                        <a:rPr sz="2550" b="0">
                          <a:solidFill>
                            <a:srgbClr val="183247"/>
                          </a:solidFill>
                          <a:latin typeface="Arial"/>
                          <a:ea typeface="Arial"/>
                          <a:cs typeface="Arial"/>
                        </a:rPr>
                        <a:t>Oud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25 × 200 = 5.000</a:t>
                      </a:r>
                    </a:p>
                  </a:txBody>
                  <a:tcPr marL="91440" marR="91440" marT="45720" marB="45720" anchor="ctr">
                    <a:solidFill>
                      <a:srgbClr val="FFFFFF"/>
                    </a:solidFill>
                  </a:tcPr>
                </a:tc>
              </a:tr>
              <a:tr h="914400">
                <a:tc>
                  <a:txBody>
                    <a:bodyPr lIns="171450" tIns="95250" rIns="152400" bIns="95250"/>
                    <a:lstStyle/>
                    <a:p>
                      <a:r>
                        <a:rPr sz="2550" b="0">
                          <a:solidFill>
                            <a:srgbClr val="183247"/>
                          </a:solidFill>
                          <a:latin typeface="Arial"/>
                          <a:ea typeface="Arial"/>
                          <a:cs typeface="Arial"/>
                        </a:rPr>
                        <a:t>Nieuw</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140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30 × 140 = 4.200</a:t>
                      </a:r>
                    </a:p>
                  </a:txBody>
                  <a:tcPr marL="91440" marR="91440" marT="45720" marB="45720" anchor="ctr">
                    <a:solidFill>
                      <a:srgbClr val="EFF4F7"/>
                    </a:solidFill>
                  </a:tcPr>
                </a:tc>
              </a:tr>
            </a:tbl>
          </a:graphicData>
        </a:graphic>
      </p:graphicFrame>
      <p:sp>
        <p:nvSpPr>
          <p:cNvPr id="7" name="TO daalt met € 800 per week.">
            <a:extLst xmlns:a="http://schemas.openxmlformats.org/drawingml/2006/main">
              <a:ext uri="{FF2B5EF4-FFF2-40B4-BE49-F238E27FC236}">
                <a16:creationId xmlns:a16="http://schemas.microsoft.com/office/drawing/2014/main" id="{95A19E31-8B4E-49FE-BE91-DA4B46F230B0}"/>
              </a:ext>
            </a:extLst>
          </p:cNvPr>
          <p:cNvSpPr>
            <a:spLocks xmlns:a="http://schemas.openxmlformats.org/drawingml/2006/main" noGrp="1"/>
          </p:cNvSpPr>
          <p:nvPr/>
        </p:nvSpPr>
        <p:spPr>
          <a:xfrm xmlns:a="http://schemas.openxmlformats.org/drawingml/2006/main">
            <a:off x="571500" y="61817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TO daalt met € 800 per week.</a:t>
            </a:r>
          </a:p>
        </p:txBody>
      </p:sp>
    </p:spTree>
    <p:extLst>
      <p:ext uri="{BB962C8B-B14F-4D97-AF65-F5344CB8AC3E}">
        <p14:creationId xmlns:p14="http://schemas.microsoft.com/office/powerpoint/2010/main" val="12632114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relatief sterke hoeveelheidsreactie">
            <a:extLst xmlns:a="http://schemas.openxmlformats.org/drawingml/2006/main">
              <a:ext uri="{FF2B5EF4-FFF2-40B4-BE49-F238E27FC236}">
                <a16:creationId xmlns:a16="http://schemas.microsoft.com/office/drawing/2014/main" id="{CB59A69A-81CB-4231-8B02-D1821D001CA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relatief sterke hoeveelheidsreactie</a:t>
            </a:r>
          </a:p>
        </p:txBody>
      </p:sp>
      <p:sp>
        <p:nvSpPr>
          <p:cNvPr id="2" name="">
            <a:extLst xmlns:a="http://schemas.openxmlformats.org/drawingml/2006/main">
              <a:ext uri="{FF2B5EF4-FFF2-40B4-BE49-F238E27FC236}">
                <a16:creationId xmlns:a16="http://schemas.microsoft.com/office/drawing/2014/main" id="{F612CADC-620B-4F84-ACDA-F966518B12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E050C57-F919-4B33-BA47-F21B083AB40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01235F46-45E6-4230-8F72-78BA14448A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KajakStek: € 5.000 naar € 4.200 per week">
            <a:extLst xmlns:a="http://schemas.openxmlformats.org/drawingml/2006/main">
              <a:ext uri="{FF2B5EF4-FFF2-40B4-BE49-F238E27FC236}">
                <a16:creationId xmlns:a16="http://schemas.microsoft.com/office/drawing/2014/main" id="{B3599561-CA05-4101-84A7-2B7F95B9E4FC}"/>
              </a:ext>
            </a:extLst>
          </p:cNvPr>
          <p:cNvSpPr>
            <a:spLocks xmlns:a="http://schemas.openxmlformats.org/drawingml/2006/main" noGrp="1"/>
          </p:cNvSpPr>
          <p:nvPr/>
        </p:nvSpPr>
        <p:spPr>
          <a:xfrm xmlns:a="http://schemas.openxmlformats.org/drawingml/2006/main">
            <a:off x="571500" y="17907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KajakStek: € 5.000 naar € 4.200 per week</a:t>
            </a:r>
          </a:p>
        </p:txBody>
      </p:sp>
      <p:sp>
        <p:nvSpPr>
          <p:cNvPr id="6" name="%ΔTO = (4.200 − 5.000) / 5.000 × 100% = −16%">
            <a:extLst xmlns:a="http://schemas.openxmlformats.org/drawingml/2006/main">
              <a:ext uri="{FF2B5EF4-FFF2-40B4-BE49-F238E27FC236}">
                <a16:creationId xmlns:a16="http://schemas.microsoft.com/office/drawing/2014/main" id="{F8D4ECE5-B88C-41C8-825D-2255497B935C}"/>
              </a:ext>
            </a:extLst>
          </p:cNvPr>
          <p:cNvSpPr>
            <a:spLocks xmlns:a="http://schemas.openxmlformats.org/drawingml/2006/main" noGrp="1"/>
          </p:cNvSpPr>
          <p:nvPr/>
        </p:nvSpPr>
        <p:spPr>
          <a:xfrm xmlns:a="http://schemas.openxmlformats.org/drawingml/2006/main">
            <a:off x="571500" y="29718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%ΔTO = (4.200 − 5.000) / 5.000 × 100% = −16%</a:t>
            </a:r>
          </a:p>
        </p:txBody>
      </p:sp>
      <p:graphicFrame>
        <p:nvGraphicFramePr>
          <p:cNvPr id="15" name=""/>
          <p:cNvGraphicFramePr/>
          <p:nvPr/>
        </p:nvGraphicFramePr>
        <p:xfrm>
          <a:off xmlns:a="http://schemas.openxmlformats.org/drawingml/2006/main" x="571500" y="4305300"/>
          <a:ext xmlns:a="http://schemas.openxmlformats.org/drawingml/2006/main" cx="14097000" cy="1876425"/>
        </p:xfrm>
        <a:graphic xmlns:a="http://schemas.openxmlformats.org/drawingml/2006/main">
          <a:graphicData uri="http://schemas.openxmlformats.org/drawingml/2006/table">
            <a:tbl>
              <a:tblPr/>
              <a:tblGrid>
                <a:gridCol w="3714750"/>
                <a:gridCol w="3714750"/>
                <a:gridCol w="6667500"/>
              </a:tblGrid>
              <a:tr h="938213">
                <a:tc>
                  <a:txBody>
                    <a:bodyPr lIns="171450" tIns="95250" rIns="152400" bIns="95250"/>
                    <a:lstStyle/>
                    <a:p>
                      <a:r>
                        <a:rPr sz="2775" b="1">
                          <a:solidFill>
                            <a:srgbClr val="FFFFFF"/>
                          </a:solidFill>
                          <a:latin typeface="Arial"/>
                          <a:ea typeface="Arial"/>
                          <a:cs typeface="Arial"/>
                        </a:rPr>
                        <a:t>%ΔP</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%ΔQ</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Ev</a:t>
                      </a:r>
                    </a:p>
                  </a:txBody>
                  <a:tcPr marL="91440" marR="91440" marT="45720" marB="45720" anchor="ctr">
                    <a:solidFill>
                      <a:srgbClr val="183247"/>
                    </a:solidFill>
                  </a:tcPr>
                </a:tc>
              </a:tr>
              <a:tr h="938213">
                <a:tc>
                  <a:txBody>
                    <a:bodyPr lIns="171450" tIns="95250" rIns="152400" bIns="95250"/>
                    <a:lstStyle/>
                    <a:p>
                      <a:r>
                        <a:rPr sz="2775"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−30% / +20% = −1,5</a:t>
                      </a:r>
                    </a:p>
                  </a:txBody>
                  <a:tcPr marL="91440" marR="91440" marT="45720" marB="45720" anchor="ctr">
                    <a:solidFill>
                      <a:srgbClr val="FFFFFF"/>
                    </a:solidFill>
                  </a:tcPr>
                </a:tc>
              </a:tr>
            </a:tbl>
          </a:graphicData>
        </a:graphic>
      </p:graphicFrame>
      <p:sp>
        <p:nvSpPr>
          <p:cNvPr id="8" name="Ev &lt; −1: prijselastisch. TO daalt in deze meting.">
            <a:extLst xmlns:a="http://schemas.openxmlformats.org/drawingml/2006/main">
              <a:ext uri="{FF2B5EF4-FFF2-40B4-BE49-F238E27FC236}">
                <a16:creationId xmlns:a16="http://schemas.microsoft.com/office/drawing/2014/main" id="{BD1AE401-AD06-4F3D-850A-8E6D51BD1E4F}"/>
              </a:ext>
            </a:extLst>
          </p:cNvPr>
          <p:cNvSpPr>
            <a:spLocks xmlns:a="http://schemas.openxmlformats.org/drawingml/2006/main" noGrp="1"/>
          </p:cNvSpPr>
          <p:nvPr/>
        </p:nvSpPr>
        <p:spPr>
          <a:xfrm xmlns:a="http://schemas.openxmlformats.org/drawingml/2006/main">
            <a:off x="571500" y="69723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Ev &lt; −1: prijselastisch. TO daalt in deze meting.</a:t>
            </a:r>
          </a:p>
        </p:txBody>
      </p:sp>
    </p:spTree>
    <p:extLst>
      <p:ext uri="{BB962C8B-B14F-4D97-AF65-F5344CB8AC3E}">
        <p14:creationId xmlns:p14="http://schemas.microsoft.com/office/powerpoint/2010/main" val="3987154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lokale omzetregel">
            <a:extLst xmlns:a="http://schemas.openxmlformats.org/drawingml/2006/main">
              <a:ext uri="{FF2B5EF4-FFF2-40B4-BE49-F238E27FC236}">
                <a16:creationId xmlns:a16="http://schemas.microsoft.com/office/drawing/2014/main" id="{F006D42E-7A81-42D4-BDA0-28AA29D99D3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lokale omzetregel</a:t>
            </a:r>
          </a:p>
        </p:txBody>
      </p:sp>
      <p:sp>
        <p:nvSpPr>
          <p:cNvPr id="2" name="">
            <a:extLst xmlns:a="http://schemas.openxmlformats.org/drawingml/2006/main">
              <a:ext uri="{FF2B5EF4-FFF2-40B4-BE49-F238E27FC236}">
                <a16:creationId xmlns:a16="http://schemas.microsoft.com/office/drawing/2014/main" id="{19DF8714-5596-42F4-83CA-C422695992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E389D0F7-441A-47EA-9B7C-6FFFD6F6BF2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10">
            <a:extLst xmlns:a="http://schemas.openxmlformats.org/drawingml/2006/main">
              <a:ext uri="{FF2B5EF4-FFF2-40B4-BE49-F238E27FC236}">
                <a16:creationId xmlns:a16="http://schemas.microsoft.com/office/drawing/2014/main" id="{DC41B385-E903-44D1-B471-CEA96C2B85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Bij een kleine prijsverandering rond de huidige si">
            <a:extLst xmlns:a="http://schemas.openxmlformats.org/drawingml/2006/main">
              <a:ext uri="{FF2B5EF4-FFF2-40B4-BE49-F238E27FC236}">
                <a16:creationId xmlns:a16="http://schemas.microsoft.com/office/drawing/2014/main" id="{BE076DEE-3138-43AD-AE92-BAA488330F40}"/>
              </a:ext>
            </a:extLst>
          </p:cNvPr>
          <p:cNvSpPr>
            <a:spLocks xmlns:a="http://schemas.openxmlformats.org/drawingml/2006/main" noGrp="1"/>
          </p:cNvSpPr>
          <p:nvPr/>
        </p:nvSpPr>
        <p:spPr>
          <a:xfrm xmlns:a="http://schemas.openxmlformats.org/drawingml/2006/main">
            <a:off x="571500" y="17621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Bij een kleine prijsverandering rond de huidige situatie</a:t>
            </a:r>
          </a:p>
        </p:txBody>
      </p:sp>
      <p:graphicFrame>
        <p:nvGraphicFramePr>
          <p:cNvPr id="13" name=""/>
          <p:cNvGraphicFramePr/>
          <p:nvPr/>
        </p:nvGraphicFramePr>
        <p:xfrm>
          <a:off xmlns:a="http://schemas.openxmlformats.org/drawingml/2006/main" x="571500" y="2886075"/>
          <a:ext xmlns:a="http://schemas.openxmlformats.org/drawingml/2006/main" cx="14097000" cy="3695700"/>
        </p:xfrm>
        <a:graphic xmlns:a="http://schemas.openxmlformats.org/drawingml/2006/main">
          <a:graphicData uri="http://schemas.openxmlformats.org/drawingml/2006/table">
            <a:tbl>
              <a:tblPr/>
              <a:tblGrid>
                <a:gridCol w="5048250"/>
                <a:gridCol w="4524375"/>
                <a:gridCol w="4524375"/>
              </a:tblGrid>
              <a:tr h="923925">
                <a:tc>
                  <a:txBody>
                    <a:bodyPr lIns="171450" tIns="95250" rIns="152400" bIns="95250"/>
                    <a:lstStyle/>
                    <a:p>
                      <a:r>
                        <a:rPr sz="2400"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Kleine prijsstijging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Kleine prijsdaling</a:t>
                      </a:r>
                    </a:p>
                  </a:txBody>
                  <a:tcPr marL="91440" marR="91440" marT="45720" marB="45720" anchor="ctr">
                    <a:solidFill>
                      <a:srgbClr val="183247"/>
                    </a:solidFill>
                  </a:tcPr>
                </a:tc>
              </a:tr>
              <a:tr h="923925">
                <a:tc>
                  <a:txBody>
                    <a:bodyPr lIns="171450" tIns="95250" rIns="152400" bIns="95250"/>
                    <a:lstStyle/>
                    <a:p>
                      <a:r>
                        <a:rPr sz="2400" b="0">
                          <a:solidFill>
                            <a:srgbClr val="183247"/>
                          </a:solidFill>
                          <a:latin typeface="Arial"/>
                          <a:ea typeface="Arial"/>
                          <a:cs typeface="Arial"/>
                        </a:rPr>
                        <a:t>Prijsinelastisch</a:t>
                      </a:r>
                    </a:p>
                    <a:p>
                      <a:r>
                        <a:rPr sz="2400" b="0">
                          <a:solidFill>
                            <a:srgbClr val="183247"/>
                          </a:solidFill>
                          <a:latin typeface="Arial"/>
                          <a:ea typeface="Arial"/>
                          <a:cs typeface="Arial"/>
                        </a:rPr>
                        <a:t>−1 &lt; Ev ≤ 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 stijgt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 daalt</a:t>
                      </a:r>
                    </a:p>
                  </a:txBody>
                  <a:tcPr marL="91440" marR="91440" marT="45720" marB="45720" anchor="ctr">
                    <a:solidFill>
                      <a:srgbClr val="FFFFFF"/>
                    </a:solidFill>
                  </a:tcPr>
                </a:tc>
              </a:tr>
              <a:tr h="923925">
                <a:tc>
                  <a:txBody>
                    <a:bodyPr lIns="171450" tIns="95250" rIns="152400" bIns="95250"/>
                    <a:lstStyle/>
                    <a:p>
                      <a:r>
                        <a:rPr sz="2400" b="0">
                          <a:solidFill>
                            <a:srgbClr val="183247"/>
                          </a:solidFill>
                          <a:latin typeface="Arial"/>
                          <a:ea typeface="Arial"/>
                          <a:cs typeface="Arial"/>
                        </a:rPr>
                        <a:t>Prijselastisch</a:t>
                      </a:r>
                    </a:p>
                    <a:p>
                      <a:r>
                        <a:rPr sz="2400" b="0">
                          <a:solidFill>
                            <a:srgbClr val="183247"/>
                          </a:solidFill>
                          <a:latin typeface="Arial"/>
                          <a:ea typeface="Arial"/>
                          <a:cs typeface="Arial"/>
                        </a:rPr>
                        <a:t>Ev &lt; −1</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TO daalt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TO stijgt</a:t>
                      </a:r>
                    </a:p>
                  </a:txBody>
                  <a:tcPr marL="91440" marR="91440" marT="45720" marB="45720" anchor="ctr">
                    <a:solidFill>
                      <a:srgbClr val="EFF4F7"/>
                    </a:solidFill>
                  </a:tcPr>
                </a:tc>
              </a:tr>
              <a:tr h="923925">
                <a:tc>
                  <a:txBody>
                    <a:bodyPr lIns="171450" tIns="95250" rIns="152400" bIns="95250"/>
                    <a:lstStyle/>
                    <a:p>
                      <a:r>
                        <a:rPr sz="2400" b="0">
                          <a:solidFill>
                            <a:srgbClr val="183247"/>
                          </a:solidFill>
                          <a:latin typeface="Arial"/>
                          <a:ea typeface="Arial"/>
                          <a:cs typeface="Arial"/>
                        </a:rPr>
                        <a:t>Unitair elastisch</a:t>
                      </a:r>
                    </a:p>
                    <a:p>
                      <a:r>
                        <a:rPr sz="2400" b="0">
                          <a:solidFill>
                            <a:srgbClr val="183247"/>
                          </a:solidFill>
                          <a:latin typeface="Arial"/>
                          <a:ea typeface="Arial"/>
                          <a:cs typeface="Arial"/>
                        </a:rPr>
                        <a:t>Ev = −1</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Effecten ongeveer</a:t>
                      </a:r>
                    </a:p>
                    <a:p>
                      <a:r>
                        <a:rPr sz="2400" b="0">
                          <a:solidFill>
                            <a:srgbClr val="183247"/>
                          </a:solidFill>
                          <a:latin typeface="Arial"/>
                          <a:ea typeface="Arial"/>
                          <a:cs typeface="Arial"/>
                        </a:rPr>
                        <a:t>in evenwicht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Effecten ongeveer</a:t>
                      </a:r>
                    </a:p>
                    <a:p>
                      <a:r>
                        <a:rPr sz="2400" b="0">
                          <a:solidFill>
                            <a:srgbClr val="183247"/>
                          </a:solidFill>
                          <a:latin typeface="Arial"/>
                          <a:ea typeface="Arial"/>
                          <a:cs typeface="Arial"/>
                        </a:rPr>
                        <a:t>in evenwicht</a:t>
                      </a:r>
                    </a:p>
                  </a:txBody>
                  <a:tcPr marL="91440" marR="91440" marT="45720" marB="45720" anchor="ctr">
                    <a:solidFill>
                      <a:srgbClr val="FFFFFF"/>
                    </a:solidFill>
                  </a:tcPr>
                </a:tc>
              </a:tr>
            </a:tbl>
          </a:graphicData>
        </a:graphic>
      </p:graphicFrame>
      <p:sp>
        <p:nvSpPr>
          <p:cNvPr id="7" name="Bij gegeven oude en nieuwe waarden: TO altijd nare">
            <a:extLst xmlns:a="http://schemas.openxmlformats.org/drawingml/2006/main">
              <a:ext uri="{FF2B5EF4-FFF2-40B4-BE49-F238E27FC236}">
                <a16:creationId xmlns:a16="http://schemas.microsoft.com/office/drawing/2014/main" id="{2FDA0B0D-4E78-47DD-A203-7E8E922FD4B2}"/>
              </a:ext>
            </a:extLst>
          </p:cNvPr>
          <p:cNvSpPr>
            <a:spLocks xmlns:a="http://schemas.openxmlformats.org/drawingml/2006/main" noGrp="1"/>
          </p:cNvSpPr>
          <p:nvPr/>
        </p:nvSpPr>
        <p:spPr>
          <a:xfrm xmlns:a="http://schemas.openxmlformats.org/drawingml/2006/main">
            <a:off x="571500" y="71247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Bij gegeven oude en nieuwe waarden: TO altijd narekenen.</a:t>
            </a:r>
          </a:p>
        </p:txBody>
      </p:sp>
    </p:spTree>
    <p:extLst>
      <p:ext uri="{BB962C8B-B14F-4D97-AF65-F5344CB8AC3E}">
        <p14:creationId xmlns:p14="http://schemas.microsoft.com/office/powerpoint/2010/main" val="9675255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ijs en afzet zijn twee factoren">
            <a:extLst xmlns:a="http://schemas.openxmlformats.org/drawingml/2006/main">
              <a:ext uri="{FF2B5EF4-FFF2-40B4-BE49-F238E27FC236}">
                <a16:creationId xmlns:a16="http://schemas.microsoft.com/office/drawing/2014/main" id="{B856D1DD-5D34-4A7A-AD5A-51136CC440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Prijs en afzet zijn twee factoren</a:t>
            </a:r>
          </a:p>
        </p:txBody>
      </p:sp>
      <p:sp>
        <p:nvSpPr>
          <p:cNvPr id="2" name="">
            <a:extLst xmlns:a="http://schemas.openxmlformats.org/drawingml/2006/main">
              <a:ext uri="{FF2B5EF4-FFF2-40B4-BE49-F238E27FC236}">
                <a16:creationId xmlns:a16="http://schemas.microsoft.com/office/drawing/2014/main" id="{DC983B9D-89F3-4506-BE4F-76B6F35B7A0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19B736DE-DA51-4340-AB40-912E2E0241A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C9A7702D-05C9-4D0F-9310-DFDB1BA1340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KajakStek: P +20%, Q −30%">
            <a:extLst xmlns:a="http://schemas.openxmlformats.org/drawingml/2006/main">
              <a:ext uri="{FF2B5EF4-FFF2-40B4-BE49-F238E27FC236}">
                <a16:creationId xmlns:a16="http://schemas.microsoft.com/office/drawing/2014/main" id="{6F265554-D1BE-4955-AE34-43C43F544145}"/>
              </a:ext>
            </a:extLst>
          </p:cNvPr>
          <p:cNvSpPr>
            <a:spLocks xmlns:a="http://schemas.openxmlformats.org/drawingml/2006/main" noGrp="1"/>
          </p:cNvSpPr>
          <p:nvPr/>
        </p:nvSpPr>
        <p:spPr>
          <a:xfrm xmlns:a="http://schemas.openxmlformats.org/drawingml/2006/main">
            <a:off x="571500" y="18192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KajakStek: P +20%, Q −30%</a:t>
            </a:r>
          </a:p>
        </p:txBody>
      </p:sp>
      <p:sp>
        <p:nvSpPr>
          <p:cNvPr id="6" name="TO nieuw / TO oud = (P nieuw / P oud) × (Q nieuw /">
            <a:extLst xmlns:a="http://schemas.openxmlformats.org/drawingml/2006/main">
              <a:ext uri="{FF2B5EF4-FFF2-40B4-BE49-F238E27FC236}">
                <a16:creationId xmlns:a16="http://schemas.microsoft.com/office/drawing/2014/main" id="{001A645C-0E2F-4919-9E76-C2A132048D4C}"/>
              </a:ext>
            </a:extLst>
          </p:cNvPr>
          <p:cNvSpPr>
            <a:spLocks xmlns:a="http://schemas.openxmlformats.org/drawingml/2006/main" noGrp="1"/>
          </p:cNvSpPr>
          <p:nvPr/>
        </p:nvSpPr>
        <p:spPr>
          <a:xfrm xmlns:a="http://schemas.openxmlformats.org/drawingml/2006/main">
            <a:off x="571500" y="3124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TO nieuw / TO oud = (P nieuw / P oud) × (Q nieuw / Q oud)</a:t>
            </a:r>
          </a:p>
        </p:txBody>
      </p:sp>
      <p:sp>
        <p:nvSpPr>
          <p:cNvPr id="7" name="= 1,20 × 0,70 = 0,84">
            <a:extLst xmlns:a="http://schemas.openxmlformats.org/drawingml/2006/main">
              <a:ext uri="{FF2B5EF4-FFF2-40B4-BE49-F238E27FC236}">
                <a16:creationId xmlns:a16="http://schemas.microsoft.com/office/drawing/2014/main" id="{A97E4398-72FE-4E22-BB02-41082E50513D}"/>
              </a:ext>
            </a:extLst>
          </p:cNvPr>
          <p:cNvSpPr>
            <a:spLocks xmlns:a="http://schemas.openxmlformats.org/drawingml/2006/main" noGrp="1"/>
          </p:cNvSpPr>
          <p:nvPr/>
        </p:nvSpPr>
        <p:spPr>
          <a:xfrm xmlns:a="http://schemas.openxmlformats.org/drawingml/2006/main">
            <a:off x="571500" y="45339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20665B"/>
                </a:solidFill>
                <a:latin typeface="Arial"/>
                <a:ea typeface="Arial"/>
                <a:cs typeface="Arial"/>
              </a:defRPr>
            </a:pPr>
            <a:r>
              <a:rPr sz="4050" b="1">
                <a:solidFill>
                  <a:srgbClr val="20665B"/>
                </a:solidFill>
                <a:latin typeface="Arial"/>
                <a:ea typeface="Arial"/>
                <a:cs typeface="Arial"/>
              </a:rPr>
              <a:t>= 1,20 × 0,70 = 0,84</a:t>
            </a:r>
          </a:p>
        </p:txBody>
      </p:sp>
      <p:sp>
        <p:nvSpPr>
          <p:cNvPr id="8" name="84% van de oude omzet: een daling van 16%.">
            <a:extLst xmlns:a="http://schemas.openxmlformats.org/drawingml/2006/main">
              <a:ext uri="{FF2B5EF4-FFF2-40B4-BE49-F238E27FC236}">
                <a16:creationId xmlns:a16="http://schemas.microsoft.com/office/drawing/2014/main" id="{A0A3CD11-662A-41DC-BEFB-A3BEBB308E57}"/>
              </a:ext>
            </a:extLst>
          </p:cNvPr>
          <p:cNvSpPr>
            <a:spLocks xmlns:a="http://schemas.openxmlformats.org/drawingml/2006/main" noGrp="1"/>
          </p:cNvSpPr>
          <p:nvPr/>
        </p:nvSpPr>
        <p:spPr>
          <a:xfrm xmlns:a="http://schemas.openxmlformats.org/drawingml/2006/main">
            <a:off x="571500" y="58388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84% van de oude omzet: een daling van 16%.</a:t>
            </a:r>
          </a:p>
        </p:txBody>
      </p:sp>
      <p:sp>
        <p:nvSpPr>
          <p:cNvPr id="9" name="Optellen van +20% en −30% zou −10% geven.">
            <a:extLst xmlns:a="http://schemas.openxmlformats.org/drawingml/2006/main">
              <a:ext uri="{FF2B5EF4-FFF2-40B4-BE49-F238E27FC236}">
                <a16:creationId xmlns:a16="http://schemas.microsoft.com/office/drawing/2014/main" id="{55099539-24D3-4F27-A75B-72DE8A88CF74}"/>
              </a:ext>
            </a:extLst>
          </p:cNvPr>
          <p:cNvSpPr>
            <a:spLocks xmlns:a="http://schemas.openxmlformats.org/drawingml/2006/main" noGrp="1"/>
          </p:cNvSpPr>
          <p:nvPr/>
        </p:nvSpPr>
        <p:spPr>
          <a:xfrm xmlns:a="http://schemas.openxmlformats.org/drawingml/2006/main">
            <a:off x="571500" y="70866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A94D16"/>
                </a:solidFill>
                <a:latin typeface="Arial"/>
                <a:ea typeface="Arial"/>
                <a:cs typeface="Arial"/>
              </a:defRPr>
            </a:pPr>
            <a:r>
              <a:rPr sz="2625" b="0">
                <a:solidFill>
                  <a:srgbClr val="A94D16"/>
                </a:solidFill>
                <a:latin typeface="Arial"/>
                <a:ea typeface="Arial"/>
                <a:cs typeface="Arial"/>
              </a:rPr>
              <a:t>Optellen van +20% en −30% zou −10% geven.</a:t>
            </a:r>
          </a:p>
        </p:txBody>
      </p:sp>
    </p:spTree>
    <p:extLst>
      <p:ext uri="{BB962C8B-B14F-4D97-AF65-F5344CB8AC3E}">
        <p14:creationId xmlns:p14="http://schemas.microsoft.com/office/powerpoint/2010/main" val="1322693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mzet en winst">
            <a:extLst xmlns:a="http://schemas.openxmlformats.org/drawingml/2006/main">
              <a:ext uri="{FF2B5EF4-FFF2-40B4-BE49-F238E27FC236}">
                <a16:creationId xmlns:a16="http://schemas.microsoft.com/office/drawing/2014/main" id="{1CBA8493-B8EF-4AE4-99D3-044162B1CD3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Omzet en winst</a:t>
            </a:r>
          </a:p>
        </p:txBody>
      </p:sp>
      <p:sp>
        <p:nvSpPr>
          <p:cNvPr id="2" name="">
            <a:extLst xmlns:a="http://schemas.openxmlformats.org/drawingml/2006/main">
              <a:ext uri="{FF2B5EF4-FFF2-40B4-BE49-F238E27FC236}">
                <a16:creationId xmlns:a16="http://schemas.microsoft.com/office/drawing/2014/main" id="{499B87B6-A506-4E15-98F6-4025FABD9B8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24796468-F673-4371-B4AD-82792503B62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12">
            <a:extLst xmlns:a="http://schemas.openxmlformats.org/drawingml/2006/main">
              <a:ext uri="{FF2B5EF4-FFF2-40B4-BE49-F238E27FC236}">
                <a16:creationId xmlns:a16="http://schemas.microsoft.com/office/drawing/2014/main" id="{8A1F9A56-92EC-44B6-86A0-A8A341CBB0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Winst = TO − TK">
            <a:extLst xmlns:a="http://schemas.openxmlformats.org/drawingml/2006/main">
              <a:ext uri="{FF2B5EF4-FFF2-40B4-BE49-F238E27FC236}">
                <a16:creationId xmlns:a16="http://schemas.microsoft.com/office/drawing/2014/main" id="{420FB235-1FAB-4529-8CF1-5AE940E38E49}"/>
              </a:ext>
            </a:extLst>
          </p:cNvPr>
          <p:cNvSpPr>
            <a:spLocks xmlns:a="http://schemas.openxmlformats.org/drawingml/2006/main" noGrp="1"/>
          </p:cNvSpPr>
          <p:nvPr/>
        </p:nvSpPr>
        <p:spPr>
          <a:xfrm xmlns:a="http://schemas.openxmlformats.org/drawingml/2006/main">
            <a:off x="571500" y="18478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658A"/>
                </a:solidFill>
                <a:latin typeface="Arial"/>
                <a:ea typeface="Arial"/>
                <a:cs typeface="Arial"/>
              </a:defRPr>
            </a:pPr>
            <a:r>
              <a:rPr sz="4500" b="1">
                <a:solidFill>
                  <a:srgbClr val="17658A"/>
                </a:solidFill>
                <a:latin typeface="Arial"/>
                <a:ea typeface="Arial"/>
                <a:cs typeface="Arial"/>
              </a:rPr>
              <a:t>Winst = TO − TK</a:t>
            </a:r>
          </a:p>
        </p:txBody>
      </p:sp>
      <p:graphicFrame>
        <p:nvGraphicFramePr>
          <p:cNvPr id="13" name=""/>
          <p:cNvGraphicFramePr/>
          <p:nvPr/>
        </p:nvGraphicFramePr>
        <p:xfrm>
          <a:off xmlns:a="http://schemas.openxmlformats.org/drawingml/2006/main" x="571500" y="3219450"/>
          <a:ext xmlns:a="http://schemas.openxmlformats.org/drawingml/2006/main" cx="14097000" cy="2828925"/>
        </p:xfrm>
        <a:graphic xmlns:a="http://schemas.openxmlformats.org/drawingml/2006/main">
          <a:graphicData uri="http://schemas.openxmlformats.org/drawingml/2006/table">
            <a:tbl>
              <a:tblPr/>
              <a:tblGrid>
                <a:gridCol w="6667500"/>
                <a:gridCol w="3714750"/>
                <a:gridCol w="3714750"/>
              </a:tblGrid>
              <a:tr h="942975">
                <a:tc>
                  <a:txBody>
                    <a:bodyPr lIns="171450" tIns="95250" rIns="152400" bIns="95250"/>
                    <a:lstStyle/>
                    <a:p>
                      <a:r>
                        <a:rPr sz="2550" b="1">
                          <a:solidFill>
                            <a:srgbClr val="FFFFFF"/>
                          </a:solidFill>
                          <a:latin typeface="Arial"/>
                          <a:ea typeface="Arial"/>
                          <a:cs typeface="Arial"/>
                        </a:rPr>
                        <a:t>Voor een winstvergelijking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Nieuw</a:t>
                      </a:r>
                    </a:p>
                  </a:txBody>
                  <a:tcPr marL="91440" marR="91440" marT="45720" marB="45720" anchor="ctr">
                    <a:solidFill>
                      <a:srgbClr val="183247"/>
                    </a:solidFill>
                  </a:tcPr>
                </a:tc>
              </a:tr>
              <a:tr h="942975">
                <a:tc>
                  <a:txBody>
                    <a:bodyPr lIns="171450" tIns="95250" rIns="152400" bIns="95250"/>
                    <a:lstStyle/>
                    <a:p>
                      <a:r>
                        <a:rPr sz="2550" b="0">
                          <a:solidFill>
                            <a:srgbClr val="183247"/>
                          </a:solidFill>
                          <a:latin typeface="Arial"/>
                          <a:ea typeface="Arial"/>
                          <a:cs typeface="Arial"/>
                        </a:rPr>
                        <a:t>Totale opbrengst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TO oud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TO nieuw</a:t>
                      </a:r>
                    </a:p>
                  </a:txBody>
                  <a:tcPr marL="91440" marR="91440" marT="45720" marB="45720" anchor="ctr">
                    <a:solidFill>
                      <a:srgbClr val="FFFFFF"/>
                    </a:solidFill>
                  </a:tcPr>
                </a:tc>
              </a:tr>
              <a:tr h="942975">
                <a:tc>
                  <a:txBody>
                    <a:bodyPr lIns="171450" tIns="95250" rIns="152400" bIns="95250"/>
                    <a:lstStyle/>
                    <a:p>
                      <a:r>
                        <a:rPr sz="2550" b="0">
                          <a:solidFill>
                            <a:srgbClr val="183247"/>
                          </a:solidFill>
                          <a:latin typeface="Arial"/>
                          <a:ea typeface="Arial"/>
                          <a:cs typeface="Arial"/>
                        </a:rPr>
                        <a:t>Totale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TK oud nodig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TK nieuw nodig</a:t>
                      </a:r>
                    </a:p>
                  </a:txBody>
                  <a:tcPr marL="91440" marR="91440" marT="45720" marB="45720" anchor="ctr">
                    <a:solidFill>
                      <a:srgbClr val="EFF4F7"/>
                    </a:solidFill>
                  </a:tcPr>
                </a:tc>
              </a:tr>
            </a:tbl>
          </a:graphicData>
        </a:graphic>
      </p:graphicFrame>
      <p:sp>
        <p:nvSpPr>
          <p:cNvPr id="7" name="Een omzetverandering geeft nog geen zekere winstri">
            <a:extLst xmlns:a="http://schemas.openxmlformats.org/drawingml/2006/main">
              <a:ext uri="{FF2B5EF4-FFF2-40B4-BE49-F238E27FC236}">
                <a16:creationId xmlns:a16="http://schemas.microsoft.com/office/drawing/2014/main" id="{F1DCCD13-E51F-4E0B-B94E-54100858D81F}"/>
              </a:ext>
            </a:extLst>
          </p:cNvPr>
          <p:cNvSpPr>
            <a:spLocks xmlns:a="http://schemas.openxmlformats.org/drawingml/2006/main" noGrp="1"/>
          </p:cNvSpPr>
          <p:nvPr/>
        </p:nvSpPr>
        <p:spPr>
          <a:xfrm xmlns:a="http://schemas.openxmlformats.org/drawingml/2006/main">
            <a:off x="571500" y="68961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Een omzetverandering geeft nog geen zekere winstrichting.</a:t>
            </a:r>
          </a:p>
        </p:txBody>
      </p:sp>
    </p:spTree>
    <p:extLst>
      <p:ext uri="{BB962C8B-B14F-4D97-AF65-F5344CB8AC3E}">
        <p14:creationId xmlns:p14="http://schemas.microsoft.com/office/powerpoint/2010/main" val="17795867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CB2D7A8E-4818-47F7-9EE4-5238C7592D4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16D513D4-2A41-44C6-8922-61DE36113B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16068297-B078-4556-8B47-3A6352970B0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13">
            <a:extLst xmlns:a="http://schemas.openxmlformats.org/drawingml/2006/main">
              <a:ext uri="{FF2B5EF4-FFF2-40B4-BE49-F238E27FC236}">
                <a16:creationId xmlns:a16="http://schemas.microsoft.com/office/drawing/2014/main" id="{3BD27029-907A-4AAC-8B9C-92B4B76B96C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Een aanbieder verlaagt de prijs een klein beetje.">
            <a:extLst xmlns:a="http://schemas.openxmlformats.org/drawingml/2006/main">
              <a:ext uri="{FF2B5EF4-FFF2-40B4-BE49-F238E27FC236}">
                <a16:creationId xmlns:a16="http://schemas.microsoft.com/office/drawing/2014/main" id="{FB69B124-9390-4F9F-9C6C-626E01A5248D}"/>
              </a:ext>
            </a:extLst>
          </p:cNvPr>
          <p:cNvSpPr>
            <a:spLocks xmlns:a="http://schemas.openxmlformats.org/drawingml/2006/main" noGrp="1"/>
          </p:cNvSpPr>
          <p:nvPr/>
        </p:nvSpPr>
        <p:spPr>
          <a:xfrm xmlns:a="http://schemas.openxmlformats.org/drawingml/2006/main">
            <a:off x="571500" y="1885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Een aanbieder verlaagt de prijs een klein beetje.</a:t>
            </a:r>
          </a:p>
        </p:txBody>
      </p:sp>
      <p:sp>
        <p:nvSpPr>
          <p:cNvPr id="6" name="De lokale Ev is −0,5.">
            <a:extLst xmlns:a="http://schemas.openxmlformats.org/drawingml/2006/main">
              <a:ext uri="{FF2B5EF4-FFF2-40B4-BE49-F238E27FC236}">
                <a16:creationId xmlns:a16="http://schemas.microsoft.com/office/drawing/2014/main" id="{4E63F469-BA98-4581-BF35-84DFB7584C16}"/>
              </a:ext>
            </a:extLst>
          </p:cNvPr>
          <p:cNvSpPr>
            <a:spLocks xmlns:a="http://schemas.openxmlformats.org/drawingml/2006/main" noGrp="1"/>
          </p:cNvSpPr>
          <p:nvPr/>
        </p:nvSpPr>
        <p:spPr>
          <a:xfrm xmlns:a="http://schemas.openxmlformats.org/drawingml/2006/main">
            <a:off x="571500" y="30480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De lokale Ev is −0,5.</a:t>
            </a:r>
          </a:p>
        </p:txBody>
      </p:sp>
      <p:sp>
        <p:nvSpPr>
          <p:cNvPr id="7" name="Wat verwacht je voor TO? Leg uit.">
            <a:extLst xmlns:a="http://schemas.openxmlformats.org/drawingml/2006/main">
              <a:ext uri="{FF2B5EF4-FFF2-40B4-BE49-F238E27FC236}">
                <a16:creationId xmlns:a16="http://schemas.microsoft.com/office/drawing/2014/main" id="{E3264DA9-2300-411C-94C7-20F49365709A}"/>
              </a:ext>
            </a:extLst>
          </p:cNvPr>
          <p:cNvSpPr>
            <a:spLocks xmlns:a="http://schemas.openxmlformats.org/drawingml/2006/main" noGrp="1"/>
          </p:cNvSpPr>
          <p:nvPr/>
        </p:nvSpPr>
        <p:spPr>
          <a:xfrm xmlns:a="http://schemas.openxmlformats.org/drawingml/2006/main">
            <a:off x="571500" y="4743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Wat verwacht je voor TO? Leg uit.</a:t>
            </a:r>
          </a:p>
        </p:txBody>
      </p:sp>
      <p:sp>
        <p:nvSpPr>
          <p:cNvPr id="8" name="Kun je ook de richting van de winst voorspellen?">
            <a:extLst xmlns:a="http://schemas.openxmlformats.org/drawingml/2006/main">
              <a:ext uri="{FF2B5EF4-FFF2-40B4-BE49-F238E27FC236}">
                <a16:creationId xmlns:a16="http://schemas.microsoft.com/office/drawing/2014/main" id="{38BD22D9-6427-40F9-8DAF-FE62F6D0281D}"/>
              </a:ext>
            </a:extLst>
          </p:cNvPr>
          <p:cNvSpPr>
            <a:spLocks xmlns:a="http://schemas.openxmlformats.org/drawingml/2006/main" noGrp="1"/>
          </p:cNvSpPr>
          <p:nvPr/>
        </p:nvSpPr>
        <p:spPr>
          <a:xfrm xmlns:a="http://schemas.openxmlformats.org/drawingml/2006/main">
            <a:off x="571500" y="63627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Kun je ook de richting van de winst voorspellen?</a:t>
            </a:r>
          </a:p>
        </p:txBody>
      </p:sp>
    </p:spTree>
    <p:extLst>
      <p:ext uri="{BB962C8B-B14F-4D97-AF65-F5344CB8AC3E}">
        <p14:creationId xmlns:p14="http://schemas.microsoft.com/office/powerpoint/2010/main" val="14634673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de redenering">
            <a:extLst xmlns:a="http://schemas.openxmlformats.org/drawingml/2006/main">
              <a:ext uri="{FF2B5EF4-FFF2-40B4-BE49-F238E27FC236}">
                <a16:creationId xmlns:a16="http://schemas.microsoft.com/office/drawing/2014/main" id="{62707CD6-447B-43B5-A8C8-AD313F85010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de redenering</a:t>
            </a:r>
          </a:p>
        </p:txBody>
      </p:sp>
      <p:sp>
        <p:nvSpPr>
          <p:cNvPr id="2" name="">
            <a:extLst xmlns:a="http://schemas.openxmlformats.org/drawingml/2006/main">
              <a:ext uri="{FF2B5EF4-FFF2-40B4-BE49-F238E27FC236}">
                <a16:creationId xmlns:a16="http://schemas.microsoft.com/office/drawing/2014/main" id="{1623C33E-E57C-41C6-82C4-E12B75EBC16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A17525BC-8162-4706-9C4A-9DFE4AAB1DB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14">
            <a:extLst xmlns:a="http://schemas.openxmlformats.org/drawingml/2006/main">
              <a:ext uri="{FF2B5EF4-FFF2-40B4-BE49-F238E27FC236}">
                <a16:creationId xmlns:a16="http://schemas.microsoft.com/office/drawing/2014/main" id="{9D2C18DE-4804-491B-A377-8BB2CE33EB8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Een aanbieder verlaagt de prijs een klein beetje.">
            <a:extLst xmlns:a="http://schemas.openxmlformats.org/drawingml/2006/main">
              <a:ext uri="{FF2B5EF4-FFF2-40B4-BE49-F238E27FC236}">
                <a16:creationId xmlns:a16="http://schemas.microsoft.com/office/drawing/2014/main" id="{D141E7DE-1097-4015-AEF7-0AADF2BCBD0F}"/>
              </a:ext>
            </a:extLst>
          </p:cNvPr>
          <p:cNvSpPr>
            <a:spLocks xmlns:a="http://schemas.openxmlformats.org/drawingml/2006/main" noGrp="1"/>
          </p:cNvSpPr>
          <p:nvPr/>
        </p:nvSpPr>
        <p:spPr>
          <a:xfrm xmlns:a="http://schemas.openxmlformats.org/drawingml/2006/main">
            <a:off x="571500" y="1885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Een aanbieder verlaagt de prijs een klein beetje.</a:t>
            </a:r>
          </a:p>
        </p:txBody>
      </p:sp>
      <p:sp>
        <p:nvSpPr>
          <p:cNvPr id="6" name="De lokale Ev is −0,5.">
            <a:extLst xmlns:a="http://schemas.openxmlformats.org/drawingml/2006/main">
              <a:ext uri="{FF2B5EF4-FFF2-40B4-BE49-F238E27FC236}">
                <a16:creationId xmlns:a16="http://schemas.microsoft.com/office/drawing/2014/main" id="{5B2E131A-FC70-4F54-99E2-A37E2744C39A}"/>
              </a:ext>
            </a:extLst>
          </p:cNvPr>
          <p:cNvSpPr>
            <a:spLocks xmlns:a="http://schemas.openxmlformats.org/drawingml/2006/main" noGrp="1"/>
          </p:cNvSpPr>
          <p:nvPr/>
        </p:nvSpPr>
        <p:spPr>
          <a:xfrm xmlns:a="http://schemas.openxmlformats.org/drawingml/2006/main">
            <a:off x="571500" y="30480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De lokale Ev is −0,5.</a:t>
            </a:r>
          </a:p>
        </p:txBody>
      </p:sp>
      <p:sp>
        <p:nvSpPr>
          <p:cNvPr id="7" name="Prijsinelastisch: de omzet daalt volgens de lokale">
            <a:extLst xmlns:a="http://schemas.openxmlformats.org/drawingml/2006/main">
              <a:ext uri="{FF2B5EF4-FFF2-40B4-BE49-F238E27FC236}">
                <a16:creationId xmlns:a16="http://schemas.microsoft.com/office/drawing/2014/main" id="{3370FF60-BF3A-4BD0-A66B-C97C16330BAE}"/>
              </a:ext>
            </a:extLst>
          </p:cNvPr>
          <p:cNvSpPr>
            <a:spLocks xmlns:a="http://schemas.openxmlformats.org/drawingml/2006/main" noGrp="1"/>
          </p:cNvSpPr>
          <p:nvPr/>
        </p:nvSpPr>
        <p:spPr>
          <a:xfrm xmlns:a="http://schemas.openxmlformats.org/drawingml/2006/main">
            <a:off x="571500" y="4743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Prijsinelastisch: de omzet daalt volgens de lokale regel.</a:t>
            </a:r>
          </a:p>
        </p:txBody>
      </p:sp>
      <p:sp>
        <p:nvSpPr>
          <p:cNvPr id="8" name="De winstrichting blijft onbekend zonder de kosten.">
            <a:extLst xmlns:a="http://schemas.openxmlformats.org/drawingml/2006/main">
              <a:ext uri="{FF2B5EF4-FFF2-40B4-BE49-F238E27FC236}">
                <a16:creationId xmlns:a16="http://schemas.microsoft.com/office/drawing/2014/main" id="{856DDED2-E345-4954-BB5F-35525D6EF90C}"/>
              </a:ext>
            </a:extLst>
          </p:cNvPr>
          <p:cNvSpPr>
            <a:spLocks xmlns:a="http://schemas.openxmlformats.org/drawingml/2006/main" noGrp="1"/>
          </p:cNvSpPr>
          <p:nvPr/>
        </p:nvSpPr>
        <p:spPr>
          <a:xfrm xmlns:a="http://schemas.openxmlformats.org/drawingml/2006/main">
            <a:off x="571500" y="63627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winstrichting blijft onbekend zonder de kosten.</a:t>
            </a:r>
          </a:p>
        </p:txBody>
      </p:sp>
    </p:spTree>
    <p:extLst>
      <p:ext uri="{BB962C8B-B14F-4D97-AF65-F5344CB8AC3E}">
        <p14:creationId xmlns:p14="http://schemas.microsoft.com/office/powerpoint/2010/main" val="17925175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2 Elasticiteit en omzet">
            <a:extLst xmlns:a="http://schemas.openxmlformats.org/drawingml/2006/main">
              <a:ext uri="{FF2B5EF4-FFF2-40B4-BE49-F238E27FC236}">
                <a16:creationId xmlns:a16="http://schemas.microsoft.com/office/drawing/2014/main" id="{D67A8439-70B1-442B-AF38-169358EDAFD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§2.2.2 Elasticiteit en omzet</a:t>
            </a:r>
          </a:p>
        </p:txBody>
      </p:sp>
      <p:sp>
        <p:nvSpPr>
          <p:cNvPr id="2" name="">
            <a:extLst xmlns:a="http://schemas.openxmlformats.org/drawingml/2006/main">
              <a:ext uri="{FF2B5EF4-FFF2-40B4-BE49-F238E27FC236}">
                <a16:creationId xmlns:a16="http://schemas.microsoft.com/office/drawing/2014/main" id="{6C114411-DE61-4F28-9B72-2D7F9E70C8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CD05109C-136E-4FEE-B754-70770064D88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15">
            <a:extLst xmlns:a="http://schemas.openxmlformats.org/drawingml/2006/main">
              <a:ext uri="{FF2B5EF4-FFF2-40B4-BE49-F238E27FC236}">
                <a16:creationId xmlns:a16="http://schemas.microsoft.com/office/drawing/2014/main" id="{B306C56B-3F27-4CDA-865B-4574EDE7610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3851D327-AFA4-462B-BB5E-F51EF206AAE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3EC19FE4-9943-4A24-BDAF-A0FF32B6069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328905B-41A8-44D6-BD56-816799614E3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5D484BD-34D5-42F4-8DB9-241D796D57E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49DEA59-4468-4AE7-B462-A89FE5C68B8D}"/>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BA164C2-22F4-49BE-A26A-122280615A0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80A635F3-49C5-47C7-8487-62989E346F9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BC5AF8F-160F-4D23-8234-C7B18EED683A}"/>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7078EB8-3002-4F16-90CC-DD8295F836A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B9CE6CFB-D50F-4B79-A21E-3F32AEBA7B62}"/>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9008DE85-5384-473F-A9DB-49480FA2EB8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FB824D6B-376F-4D54-9C47-53BA1F3D837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04715E32-BE9F-4952-B144-9AF8EBB8A84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1B69D2E-30AA-4835-A687-FBE46B3D0E0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4F6787F5-0FEF-42BA-AB4A-C56AA9CCAD3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AEBE07F-E38E-42F1-ACF0-AE6ABAD1AA29}"/>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A0A4837-AD8E-4030-8923-0D1404558B4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AF6EA2B-225B-4D66-9E50-6A9B8B620D57}"/>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Omzet berekenen en vergelijken,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Ev gebruiken en omzet van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onderscheiden.</a:t>
            </a:r>
          </a:p>
        </p:txBody>
      </p:sp>
      <p:sp>
        <p:nvSpPr>
          <p:cNvPr id="23" name="">
            <a:extLst xmlns:a="http://schemas.openxmlformats.org/drawingml/2006/main">
              <a:ext uri="{FF2B5EF4-FFF2-40B4-BE49-F238E27FC236}">
                <a16:creationId xmlns:a16="http://schemas.microsoft.com/office/drawing/2014/main" id="{1962D68A-E157-427D-A06A-33C0DA9B8A90}"/>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4C4278D-4CF6-4E43-B0D3-07A20DB98A1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E05A524-71FA-4DC5-82CE-3C77399CCF9C}"/>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48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2a: verkennen, theorie p. 45</a:t>
            </a:r>
          </a:p>
        </p:txBody>
      </p:sp>
      <p:sp>
        <p:nvSpPr>
          <p:cNvPr id="26" name="">
            <a:extLst xmlns:a="http://schemas.openxmlformats.org/drawingml/2006/main">
              <a:ext uri="{FF2B5EF4-FFF2-40B4-BE49-F238E27FC236}">
                <a16:creationId xmlns:a16="http://schemas.microsoft.com/office/drawing/2014/main" id="{DDDEEB92-0B2B-4F1D-96B3-A9C7AE94C692}"/>
              </a:ext>
            </a:extLst>
          </p:cNvPr>
          <p:cNvSpPr>
            <a:spLocks xmlns:a="http://schemas.openxmlformats.org/drawingml/2006/main" noGrp="1"/>
          </p:cNvSpPr>
          <p:nvPr/>
        </p:nvSpPr>
        <p:spPr>
          <a:xfrm xmlns:a="http://schemas.openxmlformats.org/drawingml/2006/main">
            <a:off x="9258300" y="54102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0AFA19A-D647-49EF-9FDE-09488C89FB75}"/>
              </a:ext>
            </a:extLst>
          </p:cNvPr>
          <p:cNvSpPr>
            <a:spLocks xmlns:a="http://schemas.openxmlformats.org/drawingml/2006/main" noGrp="1"/>
          </p:cNvSpPr>
          <p:nvPr/>
        </p:nvSpPr>
        <p:spPr>
          <a:xfrm xmlns:a="http://schemas.openxmlformats.org/drawingml/2006/main">
            <a:off x="9258300" y="56673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EE3CD6F-1A40-455B-8738-7D991D843935}"/>
              </a:ext>
            </a:extLst>
          </p:cNvPr>
          <p:cNvSpPr>
            <a:spLocks xmlns:a="http://schemas.openxmlformats.org/drawingml/2006/main" noGrp="1"/>
          </p:cNvSpPr>
          <p:nvPr/>
        </p:nvSpPr>
        <p:spPr>
          <a:xfrm xmlns:a="http://schemas.openxmlformats.org/drawingml/2006/main">
            <a:off x="9258300" y="6200775"/>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§2.2.2 Elasticiteit en omzet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209068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Bioscoop Nova en StreamNow">
            <a:extLst xmlns:a="http://schemas.openxmlformats.org/drawingml/2006/main">
              <a:ext uri="{FF2B5EF4-FFF2-40B4-BE49-F238E27FC236}">
                <a16:creationId xmlns:a16="http://schemas.microsoft.com/office/drawing/2014/main" id="{5E9150F4-FA77-4A91-A42C-5E75C27A320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Bioscoop Nova en StreamNow</a:t>
            </a:r>
          </a:p>
        </p:txBody>
      </p:sp>
      <p:sp>
        <p:nvSpPr>
          <p:cNvPr id="2" name="">
            <a:extLst xmlns:a="http://schemas.openxmlformats.org/drawingml/2006/main">
              <a:ext uri="{FF2B5EF4-FFF2-40B4-BE49-F238E27FC236}">
                <a16:creationId xmlns:a16="http://schemas.microsoft.com/office/drawing/2014/main" id="{8432AEAC-1019-4F1C-8C2A-7A1AA7EDCEA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C88D2674-6E3B-4755-B427-DD1011ADCA2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16">
            <a:extLst xmlns:a="http://schemas.openxmlformats.org/drawingml/2006/main">
              <a:ext uri="{FF2B5EF4-FFF2-40B4-BE49-F238E27FC236}">
                <a16:creationId xmlns:a16="http://schemas.microsoft.com/office/drawing/2014/main" id="{58CDACAE-4D44-4B15-A880-B84BC99688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Gebruik TO = P × Q. Alle gegevens die je nodig heb">
            <a:extLst xmlns:a="http://schemas.openxmlformats.org/drawingml/2006/main">
              <a:ext uri="{FF2B5EF4-FFF2-40B4-BE49-F238E27FC236}">
                <a16:creationId xmlns:a16="http://schemas.microsoft.com/office/drawing/2014/main" id="{B20453F3-A34C-413D-BE87-74652B364E71}"/>
              </a:ext>
            </a:extLst>
          </p:cNvPr>
          <p:cNvSpPr>
            <a:spLocks xmlns:a="http://schemas.openxmlformats.org/drawingml/2006/main" noGrp="1"/>
          </p:cNvSpPr>
          <p:nvPr/>
        </p:nvSpPr>
        <p:spPr>
          <a:xfrm xmlns:a="http://schemas.openxmlformats.org/drawingml/2006/main">
            <a:off x="571500" y="17811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Gebruik TO = P × Q. Alle gegevens die je nodig hebt staan hier.</a:t>
            </a:r>
          </a:p>
        </p:txBody>
      </p:sp>
      <p:graphicFrame>
        <p:nvGraphicFramePr>
          <p:cNvPr id="13" name=""/>
          <p:cNvGraphicFramePr/>
          <p:nvPr/>
        </p:nvGraphicFramePr>
        <p:xfrm>
          <a:off xmlns:a="http://schemas.openxmlformats.org/drawingml/2006/main" x="571500" y="2924175"/>
          <a:ext xmlns:a="http://schemas.openxmlformats.org/drawingml/2006/main" cx="14097000" cy="3076575"/>
        </p:xfrm>
        <a:graphic xmlns:a="http://schemas.openxmlformats.org/drawingml/2006/main">
          <a:graphicData uri="http://schemas.openxmlformats.org/drawingml/2006/table">
            <a:tbl>
              <a:tblPr/>
              <a:tblGrid>
                <a:gridCol w="4191000"/>
                <a:gridCol w="1981200"/>
                <a:gridCol w="1981200"/>
                <a:gridCol w="1981200"/>
                <a:gridCol w="1981200"/>
                <a:gridCol w="1981200"/>
              </a:tblGrid>
              <a:tr h="1025525">
                <a:tc>
                  <a:txBody>
                    <a:bodyPr lIns="171450" tIns="95250" rIns="152400" bIns="95250"/>
                    <a:lstStyle/>
                    <a:p>
                      <a:r>
                        <a:rPr sz="2400" b="1">
                          <a:solidFill>
                            <a:srgbClr val="FFFFFF"/>
                          </a:solidFill>
                          <a:latin typeface="Arial"/>
                          <a:ea typeface="Arial"/>
                          <a:cs typeface="Arial"/>
                        </a:rPr>
                        <a:t>Aanbieder en periode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 oud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 nieuw</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Q oud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Q nieuw</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Ev</a:t>
                      </a:r>
                    </a:p>
                  </a:txBody>
                  <a:tcPr marL="91440" marR="91440" marT="45720" marB="45720" anchor="ctr">
                    <a:solidFill>
                      <a:srgbClr val="183247"/>
                    </a:solidFill>
                  </a:tcPr>
                </a:tc>
              </a:tr>
              <a:tr h="1025525">
                <a:tc>
                  <a:txBody>
                    <a:bodyPr lIns="171450" tIns="95250" rIns="152400" bIns="95250"/>
                    <a:lstStyle/>
                    <a:p>
                      <a:r>
                        <a:rPr sz="2400" b="0">
                          <a:solidFill>
                            <a:srgbClr val="183247"/>
                          </a:solidFill>
                          <a:latin typeface="Arial"/>
                          <a:ea typeface="Arial"/>
                          <a:cs typeface="Arial"/>
                        </a:rPr>
                        <a:t>Bioscoop Nova</a:t>
                      </a:r>
                    </a:p>
                    <a:p>
                      <a:r>
                        <a:rPr sz="2400" b="0">
                          <a:solidFill>
                            <a:srgbClr val="183247"/>
                          </a:solidFill>
                          <a:latin typeface="Arial"/>
                          <a:ea typeface="Arial"/>
                          <a:cs typeface="Arial"/>
                        </a:rPr>
                        <a:t>per week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500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−0,8</a:t>
                      </a:r>
                    </a:p>
                  </a:txBody>
                  <a:tcPr marL="91440" marR="91440" marT="45720" marB="45720" anchor="ctr">
                    <a:solidFill>
                      <a:srgbClr val="FFFFFF"/>
                    </a:solidFill>
                  </a:tcPr>
                </a:tc>
              </a:tr>
              <a:tr h="1025525">
                <a:tc>
                  <a:txBody>
                    <a:bodyPr lIns="171450" tIns="95250" rIns="152400" bIns="95250"/>
                    <a:lstStyle/>
                    <a:p>
                      <a:r>
                        <a:rPr sz="2400" b="0">
                          <a:solidFill>
                            <a:srgbClr val="183247"/>
                          </a:solidFill>
                          <a:latin typeface="Arial"/>
                          <a:ea typeface="Arial"/>
                          <a:cs typeface="Arial"/>
                        </a:rPr>
                        <a:t>StreamNow</a:t>
                      </a:r>
                    </a:p>
                    <a:p>
                      <a:r>
                        <a:rPr sz="2400" b="0">
                          <a:solidFill>
                            <a:srgbClr val="183247"/>
                          </a:solidFill>
                          <a:latin typeface="Arial"/>
                          <a:ea typeface="Arial"/>
                          <a:cs typeface="Arial"/>
                        </a:rPr>
                        <a:t>per maand</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a:t>
                      </a:r>
                    </a:p>
                  </a:txBody>
                  <a:tcPr marL="91440" marR="91440" marT="45720" marB="45720" anchor="ctr">
                    <a:solidFill>
                      <a:srgbClr val="EFF4F7"/>
                    </a:solidFill>
                  </a:tcPr>
                </a:tc>
              </a:tr>
            </a:tbl>
          </a:graphicData>
        </a:graphic>
      </p:graphicFrame>
      <p:sp>
        <p:nvSpPr>
          <p:cNvPr id="7" name="Bij beide aanbieders stijgt P en daalt Q.">
            <a:extLst xmlns:a="http://schemas.openxmlformats.org/drawingml/2006/main">
              <a:ext uri="{FF2B5EF4-FFF2-40B4-BE49-F238E27FC236}">
                <a16:creationId xmlns:a16="http://schemas.microsoft.com/office/drawing/2014/main" id="{B40A155E-3203-4371-AC57-E26927137B65}"/>
              </a:ext>
            </a:extLst>
          </p:cNvPr>
          <p:cNvSpPr>
            <a:spLocks xmlns:a="http://schemas.openxmlformats.org/drawingml/2006/main" noGrp="1"/>
          </p:cNvSpPr>
          <p:nvPr/>
        </p:nvSpPr>
        <p:spPr>
          <a:xfrm xmlns:a="http://schemas.openxmlformats.org/drawingml/2006/main">
            <a:off x="571500" y="69151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Bij beide aanbieders stijgt P en daalt Q.</a:t>
            </a:r>
          </a:p>
        </p:txBody>
      </p:sp>
    </p:spTree>
    <p:extLst>
      <p:ext uri="{BB962C8B-B14F-4D97-AF65-F5344CB8AC3E}">
        <p14:creationId xmlns:p14="http://schemas.microsoft.com/office/powerpoint/2010/main" val="19335179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7: vragen a tot en met d">
            <a:extLst xmlns:a="http://schemas.openxmlformats.org/drawingml/2006/main">
              <a:ext uri="{FF2B5EF4-FFF2-40B4-BE49-F238E27FC236}">
                <a16:creationId xmlns:a16="http://schemas.microsoft.com/office/drawing/2014/main" id="{972C4902-0BAC-4A52-8FCB-25F91143ACE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vragen a tot en met d</a:t>
            </a:r>
          </a:p>
        </p:txBody>
      </p:sp>
      <p:sp>
        <p:nvSpPr>
          <p:cNvPr id="2" name="">
            <a:extLst xmlns:a="http://schemas.openxmlformats.org/drawingml/2006/main">
              <a:ext uri="{FF2B5EF4-FFF2-40B4-BE49-F238E27FC236}">
                <a16:creationId xmlns:a16="http://schemas.microsoft.com/office/drawing/2014/main" id="{1D3C9F45-399A-44B5-A19A-9A09B506FAC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5DF0BCC5-CBB6-4163-A7D6-BC8E54B173F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17">
            <a:extLst xmlns:a="http://schemas.openxmlformats.org/drawingml/2006/main">
              <a:ext uri="{FF2B5EF4-FFF2-40B4-BE49-F238E27FC236}">
                <a16:creationId xmlns:a16="http://schemas.microsoft.com/office/drawing/2014/main" id="{F74F656B-8F47-40FF-94B2-2C945AA1012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a:extLst xmlns:a="http://schemas.openxmlformats.org/drawingml/2006/main">
              <a:ext uri="{FF2B5EF4-FFF2-40B4-BE49-F238E27FC236}">
                <a16:creationId xmlns:a16="http://schemas.microsoft.com/office/drawing/2014/main" id="{6545FFA0-4A4E-4B71-AF83-11CD65DDEB47}"/>
              </a:ext>
            </a:extLst>
          </p:cNvPr>
          <p:cNvSpPr>
            <a:spLocks xmlns:a="http://schemas.openxmlformats.org/drawingml/2006/main" noGrp="1"/>
          </p:cNvSpPr>
          <p:nvPr/>
        </p:nvSpPr>
        <p:spPr>
          <a:xfrm xmlns:a="http://schemas.openxmlformats.org/drawingml/2006/main">
            <a:off x="571500" y="187642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a:t>
            </a:r>
          </a:p>
        </p:txBody>
      </p:sp>
      <p:sp>
        <p:nvSpPr>
          <p:cNvPr id="6" name="Bereken voor Bioscoop Nova TO vóór en na de prijsv">
            <a:extLst xmlns:a="http://schemas.openxmlformats.org/drawingml/2006/main">
              <a:ext uri="{FF2B5EF4-FFF2-40B4-BE49-F238E27FC236}">
                <a16:creationId xmlns:a16="http://schemas.microsoft.com/office/drawing/2014/main" id="{8ADC828A-A67C-4C66-9386-0FD851827CB8}"/>
              </a:ext>
            </a:extLst>
          </p:cNvPr>
          <p:cNvSpPr>
            <a:spLocks xmlns:a="http://schemas.openxmlformats.org/drawingml/2006/main" noGrp="1"/>
          </p:cNvSpPr>
          <p:nvPr/>
        </p:nvSpPr>
        <p:spPr>
          <a:xfrm xmlns:a="http://schemas.openxmlformats.org/drawingml/2006/main">
            <a:off x="1476375" y="1876425"/>
            <a:ext cx="1314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voor Bioscoop Nova TO vóór en na de prijsverhoging. (2 punten)</a:t>
            </a:r>
          </a:p>
        </p:txBody>
      </p:sp>
      <p:sp>
        <p:nvSpPr>
          <p:cNvPr id="7" name="b)">
            <a:extLst xmlns:a="http://schemas.openxmlformats.org/drawingml/2006/main">
              <a:ext uri="{FF2B5EF4-FFF2-40B4-BE49-F238E27FC236}">
                <a16:creationId xmlns:a16="http://schemas.microsoft.com/office/drawing/2014/main" id="{C2FA5194-52B0-4B33-AC2D-455298CC21FC}"/>
              </a:ext>
            </a:extLst>
          </p:cNvPr>
          <p:cNvSpPr>
            <a:spLocks xmlns:a="http://schemas.openxmlformats.org/drawingml/2006/main" noGrp="1"/>
          </p:cNvSpPr>
          <p:nvPr/>
        </p:nvSpPr>
        <p:spPr>
          <a:xfrm xmlns:a="http://schemas.openxmlformats.org/drawingml/2006/main">
            <a:off x="571500" y="33528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a:t>
            </a:r>
          </a:p>
        </p:txBody>
      </p:sp>
      <p:sp>
        <p:nvSpPr>
          <p:cNvPr id="8" name="Bereken de procentuele verandering van TO bij Bios">
            <a:extLst xmlns:a="http://schemas.openxmlformats.org/drawingml/2006/main">
              <a:ext uri="{FF2B5EF4-FFF2-40B4-BE49-F238E27FC236}">
                <a16:creationId xmlns:a16="http://schemas.microsoft.com/office/drawing/2014/main" id="{3F4A78D6-38DB-4E39-BA3A-C5737528A792}"/>
              </a:ext>
            </a:extLst>
          </p:cNvPr>
          <p:cNvSpPr>
            <a:spLocks xmlns:a="http://schemas.openxmlformats.org/drawingml/2006/main" noGrp="1"/>
          </p:cNvSpPr>
          <p:nvPr/>
        </p:nvSpPr>
        <p:spPr>
          <a:xfrm xmlns:a="http://schemas.openxmlformats.org/drawingml/2006/main">
            <a:off x="1476375" y="3352800"/>
            <a:ext cx="1314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de procentuele verandering van TO bij Bioscoop Nova en verbind die uitkomst met Ev = −0,8. (2 punten)</a:t>
            </a:r>
          </a:p>
        </p:txBody>
      </p:sp>
      <p:sp>
        <p:nvSpPr>
          <p:cNvPr id="9" name="c)">
            <a:extLst xmlns:a="http://schemas.openxmlformats.org/drawingml/2006/main">
              <a:ext uri="{FF2B5EF4-FFF2-40B4-BE49-F238E27FC236}">
                <a16:creationId xmlns:a16="http://schemas.microsoft.com/office/drawing/2014/main" id="{2034F4F5-8CD0-4477-B9AA-5AC8E39CA129}"/>
              </a:ext>
            </a:extLst>
          </p:cNvPr>
          <p:cNvSpPr>
            <a:spLocks xmlns:a="http://schemas.openxmlformats.org/drawingml/2006/main" noGrp="1"/>
          </p:cNvSpPr>
          <p:nvPr/>
        </p:nvSpPr>
        <p:spPr>
          <a:xfrm xmlns:a="http://schemas.openxmlformats.org/drawingml/2006/main">
            <a:off x="571500" y="48291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a:t>
            </a:r>
          </a:p>
        </p:txBody>
      </p:sp>
      <p:sp>
        <p:nvSpPr>
          <p:cNvPr id="10" name="Bereken voor StreamNow TO vóór en na de prijsverho">
            <a:extLst xmlns:a="http://schemas.openxmlformats.org/drawingml/2006/main">
              <a:ext uri="{FF2B5EF4-FFF2-40B4-BE49-F238E27FC236}">
                <a16:creationId xmlns:a16="http://schemas.microsoft.com/office/drawing/2014/main" id="{505634F7-BE1C-4D6A-8A46-B50AACE3D5A9}"/>
              </a:ext>
            </a:extLst>
          </p:cNvPr>
          <p:cNvSpPr>
            <a:spLocks xmlns:a="http://schemas.openxmlformats.org/drawingml/2006/main" noGrp="1"/>
          </p:cNvSpPr>
          <p:nvPr/>
        </p:nvSpPr>
        <p:spPr>
          <a:xfrm xmlns:a="http://schemas.openxmlformats.org/drawingml/2006/main">
            <a:off x="1476375" y="4829175"/>
            <a:ext cx="1314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voor StreamNow TO vóór en na de prijsverhoging. (2 punten)</a:t>
            </a:r>
          </a:p>
        </p:txBody>
      </p:sp>
      <p:sp>
        <p:nvSpPr>
          <p:cNvPr id="11" name="d)">
            <a:extLst xmlns:a="http://schemas.openxmlformats.org/drawingml/2006/main">
              <a:ext uri="{FF2B5EF4-FFF2-40B4-BE49-F238E27FC236}">
                <a16:creationId xmlns:a16="http://schemas.microsoft.com/office/drawing/2014/main" id="{C41D9991-8877-4233-9F6B-E280F8A85DDC}"/>
              </a:ext>
            </a:extLst>
          </p:cNvPr>
          <p:cNvSpPr>
            <a:spLocks xmlns:a="http://schemas.openxmlformats.org/drawingml/2006/main" noGrp="1"/>
          </p:cNvSpPr>
          <p:nvPr/>
        </p:nvSpPr>
        <p:spPr>
          <a:xfrm xmlns:a="http://schemas.openxmlformats.org/drawingml/2006/main">
            <a:off x="571500" y="63055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a:t>
            </a:r>
          </a:p>
        </p:txBody>
      </p:sp>
      <p:sp>
        <p:nvSpPr>
          <p:cNvPr id="12" name="Bereken de procentuele verandering van TO bij Stre">
            <a:extLst xmlns:a="http://schemas.openxmlformats.org/drawingml/2006/main">
              <a:ext uri="{FF2B5EF4-FFF2-40B4-BE49-F238E27FC236}">
                <a16:creationId xmlns:a16="http://schemas.microsoft.com/office/drawing/2014/main" id="{6EFF12C4-27C9-4004-BE50-F85F922E26F4}"/>
              </a:ext>
            </a:extLst>
          </p:cNvPr>
          <p:cNvSpPr>
            <a:spLocks xmlns:a="http://schemas.openxmlformats.org/drawingml/2006/main" noGrp="1"/>
          </p:cNvSpPr>
          <p:nvPr/>
        </p:nvSpPr>
        <p:spPr>
          <a:xfrm xmlns:a="http://schemas.openxmlformats.org/drawingml/2006/main">
            <a:off x="1476375" y="6305550"/>
            <a:ext cx="13144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de procentuele verandering van TO bij StreamNow en verbind die uitkomst met Ev = −2. (2 punten)</a:t>
            </a:r>
          </a:p>
        </p:txBody>
      </p:sp>
    </p:spTree>
    <p:extLst>
      <p:ext uri="{BB962C8B-B14F-4D97-AF65-F5344CB8AC3E}">
        <p14:creationId xmlns:p14="http://schemas.microsoft.com/office/powerpoint/2010/main" val="33250098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vragen e en f">
            <a:extLst xmlns:a="http://schemas.openxmlformats.org/drawingml/2006/main">
              <a:ext uri="{FF2B5EF4-FFF2-40B4-BE49-F238E27FC236}">
                <a16:creationId xmlns:a16="http://schemas.microsoft.com/office/drawing/2014/main" id="{4491F400-74F4-4F08-BF5A-736F08B0AB4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vragen e en f</a:t>
            </a:r>
          </a:p>
        </p:txBody>
      </p:sp>
      <p:sp>
        <p:nvSpPr>
          <p:cNvPr id="2" name="">
            <a:extLst xmlns:a="http://schemas.openxmlformats.org/drawingml/2006/main">
              <a:ext uri="{FF2B5EF4-FFF2-40B4-BE49-F238E27FC236}">
                <a16:creationId xmlns:a16="http://schemas.microsoft.com/office/drawing/2014/main" id="{7D27AEEF-53A9-4FA5-A498-B70BA34C979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CB567251-FEAA-46A8-A99A-3B7222C2B6D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18">
            <a:extLst xmlns:a="http://schemas.openxmlformats.org/drawingml/2006/main">
              <a:ext uri="{FF2B5EF4-FFF2-40B4-BE49-F238E27FC236}">
                <a16:creationId xmlns:a16="http://schemas.microsoft.com/office/drawing/2014/main" id="{BFE2C251-CBAD-46B1-ABBA-04FE90799DD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e)">
            <a:extLst xmlns:a="http://schemas.openxmlformats.org/drawingml/2006/main">
              <a:ext uri="{FF2B5EF4-FFF2-40B4-BE49-F238E27FC236}">
                <a16:creationId xmlns:a16="http://schemas.microsoft.com/office/drawing/2014/main" id="{9F50624F-ADC4-47CF-9B58-3A2C82C4CF67}"/>
              </a:ext>
            </a:extLst>
          </p:cNvPr>
          <p:cNvSpPr>
            <a:spLocks xmlns:a="http://schemas.openxmlformats.org/drawingml/2006/main" noGrp="1"/>
          </p:cNvSpPr>
          <p:nvPr/>
        </p:nvSpPr>
        <p:spPr>
          <a:xfrm xmlns:a="http://schemas.openxmlformats.org/drawingml/2006/main">
            <a:off x="571500" y="19621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a:t>
            </a:r>
          </a:p>
        </p:txBody>
      </p:sp>
      <p:sp>
        <p:nvSpPr>
          <p:cNvPr id="6" name="Formuleer de lokale omzetregel voor een kleine pri">
            <a:extLst xmlns:a="http://schemas.openxmlformats.org/drawingml/2006/main">
              <a:ext uri="{FF2B5EF4-FFF2-40B4-BE49-F238E27FC236}">
                <a16:creationId xmlns:a16="http://schemas.microsoft.com/office/drawing/2014/main" id="{310E55A6-1594-4F1C-BE2B-C7BE7EFCCD86}"/>
              </a:ext>
            </a:extLst>
          </p:cNvPr>
          <p:cNvSpPr>
            <a:spLocks xmlns:a="http://schemas.openxmlformats.org/drawingml/2006/main" noGrp="1"/>
          </p:cNvSpPr>
          <p:nvPr/>
        </p:nvSpPr>
        <p:spPr>
          <a:xfrm xmlns:a="http://schemas.openxmlformats.org/drawingml/2006/main">
            <a:off x="1476375" y="1962150"/>
            <a:ext cx="13144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Formuleer de lokale omzetregel voor een kleine prijsstijging bij prijsinelastische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en bij prijselastische vraag. Leg uit waarom je bij een grote, eindige verandering</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altijd TO vóór en na berekent. (2 punten)</a:t>
            </a:r>
          </a:p>
        </p:txBody>
      </p:sp>
      <p:sp>
        <p:nvSpPr>
          <p:cNvPr id="7" name="f)">
            <a:extLst xmlns:a="http://schemas.openxmlformats.org/drawingml/2006/main">
              <a:ext uri="{FF2B5EF4-FFF2-40B4-BE49-F238E27FC236}">
                <a16:creationId xmlns:a16="http://schemas.microsoft.com/office/drawing/2014/main" id="{895CA476-B366-4CB8-8E54-C7BE59701575}"/>
              </a:ext>
            </a:extLst>
          </p:cNvPr>
          <p:cNvSpPr>
            <a:spLocks xmlns:a="http://schemas.openxmlformats.org/drawingml/2006/main" noGrp="1"/>
          </p:cNvSpPr>
          <p:nvPr/>
        </p:nvSpPr>
        <p:spPr>
          <a:xfrm xmlns:a="http://schemas.openxmlformats.org/drawingml/2006/main">
            <a:off x="571500" y="54483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f)</a:t>
            </a:r>
          </a:p>
        </p:txBody>
      </p:sp>
      <p:sp>
        <p:nvSpPr>
          <p:cNvPr id="8" name="Leg uit waarom uit deze omzetgegevens niet volgt d">
            <a:extLst xmlns:a="http://schemas.openxmlformats.org/drawingml/2006/main">
              <a:ext uri="{FF2B5EF4-FFF2-40B4-BE49-F238E27FC236}">
                <a16:creationId xmlns:a16="http://schemas.microsoft.com/office/drawing/2014/main" id="{B5A364DC-B184-4612-B8FD-86EFC1670092}"/>
              </a:ext>
            </a:extLst>
          </p:cNvPr>
          <p:cNvSpPr>
            <a:spLocks xmlns:a="http://schemas.openxmlformats.org/drawingml/2006/main" noGrp="1"/>
          </p:cNvSpPr>
          <p:nvPr/>
        </p:nvSpPr>
        <p:spPr>
          <a:xfrm xmlns:a="http://schemas.openxmlformats.org/drawingml/2006/main">
            <a:off x="1476375" y="5448300"/>
            <a:ext cx="13144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Leg uit waarom uit deze omzetgegevens niet volgt dat de winst stijgt. (1 punt)</a:t>
            </a:r>
          </a:p>
        </p:txBody>
      </p:sp>
    </p:spTree>
    <p:extLst>
      <p:ext uri="{BB962C8B-B14F-4D97-AF65-F5344CB8AC3E}">
        <p14:creationId xmlns:p14="http://schemas.microsoft.com/office/powerpoint/2010/main" val="7270460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a: Nova, omzet vóór en na">
            <a:extLst xmlns:a="http://schemas.openxmlformats.org/drawingml/2006/main">
              <a:ext uri="{FF2B5EF4-FFF2-40B4-BE49-F238E27FC236}">
                <a16:creationId xmlns:a16="http://schemas.microsoft.com/office/drawing/2014/main" id="{DCFAF647-F086-4EA0-8045-7A26ACAB502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Nova, omzet vóór en na</a:t>
            </a:r>
          </a:p>
        </p:txBody>
      </p:sp>
      <p:sp>
        <p:nvSpPr>
          <p:cNvPr id="2" name="">
            <a:extLst xmlns:a="http://schemas.openxmlformats.org/drawingml/2006/main">
              <a:ext uri="{FF2B5EF4-FFF2-40B4-BE49-F238E27FC236}">
                <a16:creationId xmlns:a16="http://schemas.microsoft.com/office/drawing/2014/main" id="{314FD209-1AEF-4EBA-AC99-17332E7CA7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4870B6CD-246B-4A2A-80BC-3142A4FCC6E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19">
            <a:extLst xmlns:a="http://schemas.openxmlformats.org/drawingml/2006/main">
              <a:ext uri="{FF2B5EF4-FFF2-40B4-BE49-F238E27FC236}">
                <a16:creationId xmlns:a16="http://schemas.microsoft.com/office/drawing/2014/main" id="{88A37F4E-BE18-47C6-8CEA-C150D4A22B0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TO = P × Q">
            <a:extLst xmlns:a="http://schemas.openxmlformats.org/drawingml/2006/main">
              <a:ext uri="{FF2B5EF4-FFF2-40B4-BE49-F238E27FC236}">
                <a16:creationId xmlns:a16="http://schemas.microsoft.com/office/drawing/2014/main" id="{14AC059B-0096-423D-8F04-0A2BFC6E8B1D}"/>
              </a:ext>
            </a:extLst>
          </p:cNvPr>
          <p:cNvSpPr>
            <a:spLocks xmlns:a="http://schemas.openxmlformats.org/drawingml/2006/main" noGrp="1"/>
          </p:cNvSpPr>
          <p:nvPr/>
        </p:nvSpPr>
        <p:spPr>
          <a:xfrm xmlns:a="http://schemas.openxmlformats.org/drawingml/2006/main">
            <a:off x="571500" y="18383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TO = P × Q</a:t>
            </a:r>
          </a:p>
        </p:txBody>
      </p:sp>
      <p:graphicFrame>
        <p:nvGraphicFramePr>
          <p:cNvPr id="13" name=""/>
          <p:cNvGraphicFramePr/>
          <p:nvPr/>
        </p:nvGraphicFramePr>
        <p:xfrm>
          <a:off xmlns:a="http://schemas.openxmlformats.org/drawingml/2006/main" x="571500" y="3238500"/>
          <a:ext xmlns:a="http://schemas.openxmlformats.org/drawingml/2006/main" cx="14097000" cy="2952750"/>
        </p:xfrm>
        <a:graphic xmlns:a="http://schemas.openxmlformats.org/drawingml/2006/main">
          <a:graphicData uri="http://schemas.openxmlformats.org/drawingml/2006/table">
            <a:tbl>
              <a:tblPr/>
              <a:tblGrid>
                <a:gridCol w="3333750"/>
                <a:gridCol w="5381625"/>
                <a:gridCol w="5381625"/>
              </a:tblGrid>
              <a:tr h="984250">
                <a:tc>
                  <a:txBody>
                    <a:bodyPr lIns="171450" tIns="95250" rIns="152400" bIns="95250"/>
                    <a:lstStyle/>
                    <a:p>
                      <a:r>
                        <a:rPr sz="315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3150" b="1">
                          <a:solidFill>
                            <a:srgbClr val="FFFFFF"/>
                          </a:solidFill>
                          <a:latin typeface="Arial"/>
                          <a:ea typeface="Arial"/>
                          <a:cs typeface="Arial"/>
                        </a:rPr>
                        <a:t>Invullen</a:t>
                      </a:r>
                    </a:p>
                  </a:txBody>
                  <a:tcPr marL="91440" marR="91440" marT="45720" marB="45720" anchor="ctr">
                    <a:solidFill>
                      <a:srgbClr val="183247"/>
                    </a:solidFill>
                  </a:tcPr>
                </a:tc>
                <a:tc>
                  <a:txBody>
                    <a:bodyPr lIns="171450" tIns="95250" rIns="152400" bIns="95250"/>
                    <a:lstStyle/>
                    <a:p>
                      <a:r>
                        <a:rPr sz="3150" b="1">
                          <a:solidFill>
                            <a:srgbClr val="FFFFFF"/>
                          </a:solidFill>
                          <a:latin typeface="Arial"/>
                          <a:ea typeface="Arial"/>
                          <a:cs typeface="Arial"/>
                        </a:rPr>
                        <a:t>TO (€ per week)</a:t>
                      </a:r>
                    </a:p>
                  </a:txBody>
                  <a:tcPr marL="91440" marR="91440" marT="45720" marB="45720" anchor="ctr">
                    <a:solidFill>
                      <a:srgbClr val="183247"/>
                    </a:solidFill>
                  </a:tcPr>
                </a:tc>
              </a:tr>
              <a:tr h="984250">
                <a:tc>
                  <a:txBody>
                    <a:bodyPr lIns="171450" tIns="95250" rIns="152400" bIns="95250"/>
                    <a:lstStyle/>
                    <a:p>
                      <a:r>
                        <a:rPr sz="3150" b="0">
                          <a:solidFill>
                            <a:srgbClr val="183247"/>
                          </a:solidFill>
                          <a:latin typeface="Arial"/>
                          <a:ea typeface="Arial"/>
                          <a:cs typeface="Arial"/>
                        </a:rPr>
                        <a:t>Oud</a:t>
                      </a:r>
                    </a:p>
                  </a:txBody>
                  <a:tcPr marL="91440" marR="91440" marT="45720" marB="45720" anchor="ctr">
                    <a:solidFill>
                      <a:srgbClr val="FFFFFF"/>
                    </a:solidFill>
                  </a:tcPr>
                </a:tc>
                <a:tc>
                  <a:txBody>
                    <a:bodyPr lIns="171450" tIns="95250" rIns="152400" bIns="95250"/>
                    <a:lstStyle/>
                    <a:p>
                      <a:r>
                        <a:rPr sz="3150" b="0">
                          <a:solidFill>
                            <a:srgbClr val="183247"/>
                          </a:solidFill>
                          <a:latin typeface="Arial"/>
                          <a:ea typeface="Arial"/>
                          <a:cs typeface="Arial"/>
                        </a:rPr>
                        <a:t>10 × 500</a:t>
                      </a:r>
                    </a:p>
                  </a:txBody>
                  <a:tcPr marL="91440" marR="91440" marT="45720" marB="45720" anchor="ctr">
                    <a:solidFill>
                      <a:srgbClr val="FFFFFF"/>
                    </a:solidFill>
                  </a:tcPr>
                </a:tc>
                <a:tc>
                  <a:txBody>
                    <a:bodyPr lIns="171450" tIns="95250" rIns="152400" bIns="95250"/>
                    <a:lstStyle/>
                    <a:p>
                      <a:r>
                        <a:rPr sz="3150" b="0">
                          <a:solidFill>
                            <a:srgbClr val="183247"/>
                          </a:solidFill>
                          <a:latin typeface="Arial"/>
                          <a:ea typeface="Arial"/>
                          <a:cs typeface="Arial"/>
                        </a:rPr>
                        <a:t>5.000</a:t>
                      </a:r>
                    </a:p>
                  </a:txBody>
                  <a:tcPr marL="91440" marR="91440" marT="45720" marB="45720" anchor="ctr">
                    <a:solidFill>
                      <a:srgbClr val="FFFFFF"/>
                    </a:solidFill>
                  </a:tcPr>
                </a:tc>
              </a:tr>
              <a:tr h="984250">
                <a:tc>
                  <a:txBody>
                    <a:bodyPr lIns="171450" tIns="95250" rIns="152400" bIns="95250"/>
                    <a:lstStyle/>
                    <a:p>
                      <a:r>
                        <a:rPr sz="3150" b="0">
                          <a:solidFill>
                            <a:srgbClr val="183247"/>
                          </a:solidFill>
                          <a:latin typeface="Arial"/>
                          <a:ea typeface="Arial"/>
                          <a:cs typeface="Arial"/>
                        </a:rPr>
                        <a:t>Nieuw</a:t>
                      </a:r>
                    </a:p>
                  </a:txBody>
                  <a:tcPr marL="91440" marR="91440" marT="45720" marB="45720" anchor="ctr">
                    <a:solidFill>
                      <a:srgbClr val="EFF4F7"/>
                    </a:solidFill>
                  </a:tcPr>
                </a:tc>
                <a:tc>
                  <a:txBody>
                    <a:bodyPr lIns="171450" tIns="95250" rIns="152400" bIns="95250"/>
                    <a:lstStyle/>
                    <a:p>
                      <a:r>
                        <a:rPr sz="3150" b="0">
                          <a:solidFill>
                            <a:srgbClr val="183247"/>
                          </a:solidFill>
                          <a:latin typeface="Arial"/>
                          <a:ea typeface="Arial"/>
                          <a:cs typeface="Arial"/>
                        </a:rPr>
                        <a:t>12 × 420</a:t>
                      </a:r>
                    </a:p>
                  </a:txBody>
                  <a:tcPr marL="91440" marR="91440" marT="45720" marB="45720" anchor="ctr">
                    <a:solidFill>
                      <a:srgbClr val="EFF4F7"/>
                    </a:solidFill>
                  </a:tcPr>
                </a:tc>
                <a:tc>
                  <a:txBody>
                    <a:bodyPr lIns="171450" tIns="95250" rIns="152400" bIns="95250"/>
                    <a:lstStyle/>
                    <a:p>
                      <a:r>
                        <a:rPr sz="3150" b="0">
                          <a:solidFill>
                            <a:srgbClr val="183247"/>
                          </a:solidFill>
                          <a:latin typeface="Arial"/>
                          <a:ea typeface="Arial"/>
                          <a:cs typeface="Arial"/>
                        </a:rPr>
                        <a:t>5.040</a:t>
                      </a:r>
                    </a:p>
                  </a:txBody>
                  <a:tcPr marL="91440" marR="91440" marT="45720" marB="45720" anchor="ctr">
                    <a:solidFill>
                      <a:srgbClr val="EFF4F7"/>
                    </a:solidFill>
                  </a:tcPr>
                </a:tc>
              </a:tr>
            </a:tbl>
          </a:graphicData>
        </a:graphic>
      </p:graphicFrame>
      <p:sp>
        <p:nvSpPr>
          <p:cNvPr id="7" name="Controle: € 40 meer omzet per week.">
            <a:extLst xmlns:a="http://schemas.openxmlformats.org/drawingml/2006/main">
              <a:ext uri="{FF2B5EF4-FFF2-40B4-BE49-F238E27FC236}">
                <a16:creationId xmlns:a16="http://schemas.microsoft.com/office/drawing/2014/main" id="{066C4918-767F-4384-8D9C-03158ABDFAE7}"/>
              </a:ext>
            </a:extLst>
          </p:cNvPr>
          <p:cNvSpPr>
            <a:spLocks xmlns:a="http://schemas.openxmlformats.org/drawingml/2006/main" noGrp="1"/>
          </p:cNvSpPr>
          <p:nvPr/>
        </p:nvSpPr>
        <p:spPr>
          <a:xfrm xmlns:a="http://schemas.openxmlformats.org/drawingml/2006/main">
            <a:off x="571500" y="7029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Controle: € 40 meer omzet per week.</a:t>
            </a:r>
          </a:p>
        </p:txBody>
      </p:sp>
    </p:spTree>
    <p:extLst>
      <p:ext uri="{BB962C8B-B14F-4D97-AF65-F5344CB8AC3E}">
        <p14:creationId xmlns:p14="http://schemas.microsoft.com/office/powerpoint/2010/main" val="12926502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b: Nova, verandering en Ev">
            <a:extLst xmlns:a="http://schemas.openxmlformats.org/drawingml/2006/main">
              <a:ext uri="{FF2B5EF4-FFF2-40B4-BE49-F238E27FC236}">
                <a16:creationId xmlns:a16="http://schemas.microsoft.com/office/drawing/2014/main" id="{632B916F-6DEA-48DE-AAE5-94EEF9FE7AC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Nova, verandering en Ev</a:t>
            </a:r>
          </a:p>
        </p:txBody>
      </p:sp>
      <p:sp>
        <p:nvSpPr>
          <p:cNvPr id="2" name="">
            <a:extLst xmlns:a="http://schemas.openxmlformats.org/drawingml/2006/main">
              <a:ext uri="{FF2B5EF4-FFF2-40B4-BE49-F238E27FC236}">
                <a16:creationId xmlns:a16="http://schemas.microsoft.com/office/drawing/2014/main" id="{276BE89E-6A52-4371-A3AA-9D416BBBC0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CE9A38E5-35FA-423B-AFBA-C250D15BABB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20">
            <a:extLst xmlns:a="http://schemas.openxmlformats.org/drawingml/2006/main">
              <a:ext uri="{FF2B5EF4-FFF2-40B4-BE49-F238E27FC236}">
                <a16:creationId xmlns:a16="http://schemas.microsoft.com/office/drawing/2014/main" id="{A951797A-1565-4C18-BE39-09EB0A3E3D3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ΔTO = (TO nieuw − TO oud) / TO oud × 100%">
            <a:extLst xmlns:a="http://schemas.openxmlformats.org/drawingml/2006/main">
              <a:ext uri="{FF2B5EF4-FFF2-40B4-BE49-F238E27FC236}">
                <a16:creationId xmlns:a16="http://schemas.microsoft.com/office/drawing/2014/main" id="{E41D2C04-3920-49EB-A5A7-5FBF4F22DD74}"/>
              </a:ext>
            </a:extLst>
          </p:cNvPr>
          <p:cNvSpPr>
            <a:spLocks xmlns:a="http://schemas.openxmlformats.org/drawingml/2006/main" noGrp="1"/>
          </p:cNvSpPr>
          <p:nvPr/>
        </p:nvSpPr>
        <p:spPr>
          <a:xfrm xmlns:a="http://schemas.openxmlformats.org/drawingml/2006/main">
            <a:off x="571500" y="18002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%ΔTO = (TO nieuw − TO oud) / TO oud × 100%</a:t>
            </a:r>
          </a:p>
        </p:txBody>
      </p:sp>
      <p:sp>
        <p:nvSpPr>
          <p:cNvPr id="6" name="= (5.040 − 5.000) / 5.000 × 100% = +0,8%">
            <a:extLst xmlns:a="http://schemas.openxmlformats.org/drawingml/2006/main">
              <a:ext uri="{FF2B5EF4-FFF2-40B4-BE49-F238E27FC236}">
                <a16:creationId xmlns:a16="http://schemas.microsoft.com/office/drawing/2014/main" id="{11734A3A-3E15-4FD6-87E4-B8E02C83C337}"/>
              </a:ext>
            </a:extLst>
          </p:cNvPr>
          <p:cNvSpPr>
            <a:spLocks xmlns:a="http://schemas.openxmlformats.org/drawingml/2006/main" noGrp="1"/>
          </p:cNvSpPr>
          <p:nvPr/>
        </p:nvSpPr>
        <p:spPr>
          <a:xfrm xmlns:a="http://schemas.openxmlformats.org/drawingml/2006/main">
            <a:off x="571500" y="29146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 (5.040 − 5.000) / 5.000 × 100% = +0,8%</a:t>
            </a:r>
          </a:p>
        </p:txBody>
      </p:sp>
      <p:graphicFrame>
        <p:nvGraphicFramePr>
          <p:cNvPr id="16" name=""/>
          <p:cNvGraphicFramePr/>
          <p:nvPr/>
        </p:nvGraphicFramePr>
        <p:xfrm>
          <a:off xmlns:a="http://schemas.openxmlformats.org/drawingml/2006/main" x="571500" y="4438650"/>
          <a:ext xmlns:a="http://schemas.openxmlformats.org/drawingml/2006/main" cx="14097000" cy="1819275"/>
        </p:xfrm>
        <a:graphic xmlns:a="http://schemas.openxmlformats.org/drawingml/2006/main">
          <a:graphicData uri="http://schemas.openxmlformats.org/drawingml/2006/table">
            <a:tbl>
              <a:tblPr/>
              <a:tblGrid>
                <a:gridCol w="4695825"/>
                <a:gridCol w="4695825"/>
                <a:gridCol w="4705350"/>
              </a:tblGrid>
              <a:tr h="909638">
                <a:tc>
                  <a:txBody>
                    <a:bodyPr lIns="171450" tIns="95250" rIns="152400" bIns="95250"/>
                    <a:lstStyle/>
                    <a:p>
                      <a:r>
                        <a:rPr sz="2550" b="1">
                          <a:solidFill>
                            <a:srgbClr val="FFFFFF"/>
                          </a:solidFill>
                          <a:latin typeface="Arial"/>
                          <a:ea typeface="Arial"/>
                          <a:cs typeface="Arial"/>
                        </a:rPr>
                        <a:t>Prijsverandering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Hoeveelheidsverandering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Ev</a:t>
                      </a:r>
                    </a:p>
                  </a:txBody>
                  <a:tcPr marL="91440" marR="91440" marT="45720" marB="45720" anchor="ctr">
                    <a:solidFill>
                      <a:srgbClr val="183247"/>
                    </a:solidFill>
                  </a:tcPr>
                </a:tc>
              </a:tr>
              <a:tr h="909638">
                <a:tc>
                  <a:txBody>
                    <a:bodyPr lIns="171450" tIns="95250" rIns="152400" bIns="95250"/>
                    <a:lstStyle/>
                    <a:p>
                      <a:r>
                        <a:rPr sz="255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−16%</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−0,8</a:t>
                      </a:r>
                    </a:p>
                  </a:txBody>
                  <a:tcPr marL="91440" marR="91440" marT="45720" marB="45720" anchor="ctr">
                    <a:solidFill>
                      <a:srgbClr val="FFFFFF"/>
                    </a:solidFill>
                  </a:tcPr>
                </a:tc>
              </a:tr>
            </a:tbl>
          </a:graphicData>
        </a:graphic>
      </p:graphicFrame>
      <p:sp>
        <p:nvSpPr>
          <p:cNvPr id="8" name="Prijsinelastisch: −1 &lt; −0,8 &lt; 0.">
            <a:extLst xmlns:a="http://schemas.openxmlformats.org/drawingml/2006/main">
              <a:ext uri="{FF2B5EF4-FFF2-40B4-BE49-F238E27FC236}">
                <a16:creationId xmlns:a16="http://schemas.microsoft.com/office/drawing/2014/main" id="{442F1A82-7E20-4D7A-8D42-2330C8F7AB9A}"/>
              </a:ext>
            </a:extLst>
          </p:cNvPr>
          <p:cNvSpPr>
            <a:spLocks xmlns:a="http://schemas.openxmlformats.org/drawingml/2006/main" noGrp="1"/>
          </p:cNvSpPr>
          <p:nvPr/>
        </p:nvSpPr>
        <p:spPr>
          <a:xfrm xmlns:a="http://schemas.openxmlformats.org/drawingml/2006/main">
            <a:off x="571500" y="67151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Prijsinelastisch: −1 &lt; −0,8 &lt; 0.</a:t>
            </a:r>
          </a:p>
        </p:txBody>
      </p:sp>
      <p:sp>
        <p:nvSpPr>
          <p:cNvPr id="9" name="De relatief zwakke afzetdaling past hier bij de om">
            <a:extLst xmlns:a="http://schemas.openxmlformats.org/drawingml/2006/main">
              <a:ext uri="{FF2B5EF4-FFF2-40B4-BE49-F238E27FC236}">
                <a16:creationId xmlns:a16="http://schemas.microsoft.com/office/drawing/2014/main" id="{B09CFECD-3278-4D5F-AE31-D08072C5803D}"/>
              </a:ext>
            </a:extLst>
          </p:cNvPr>
          <p:cNvSpPr>
            <a:spLocks xmlns:a="http://schemas.openxmlformats.org/drawingml/2006/main" noGrp="1"/>
          </p:cNvSpPr>
          <p:nvPr/>
        </p:nvSpPr>
        <p:spPr>
          <a:xfrm xmlns:a="http://schemas.openxmlformats.org/drawingml/2006/main">
            <a:off x="571500" y="7315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relatief zwakke afzetdaling past hier bij de omzetstijging.</a:t>
            </a:r>
          </a:p>
        </p:txBody>
      </p:sp>
    </p:spTree>
    <p:extLst>
      <p:ext uri="{BB962C8B-B14F-4D97-AF65-F5344CB8AC3E}">
        <p14:creationId xmlns:p14="http://schemas.microsoft.com/office/powerpoint/2010/main" val="197915139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c: StreamNow, omzet vóór en na">
            <a:extLst xmlns:a="http://schemas.openxmlformats.org/drawingml/2006/main">
              <a:ext uri="{FF2B5EF4-FFF2-40B4-BE49-F238E27FC236}">
                <a16:creationId xmlns:a16="http://schemas.microsoft.com/office/drawing/2014/main" id="{975E15A7-B6CA-4E25-8BF1-52C72F31F6B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StreamNow, omzet vóór en na</a:t>
            </a:r>
          </a:p>
        </p:txBody>
      </p:sp>
      <p:sp>
        <p:nvSpPr>
          <p:cNvPr id="2" name="">
            <a:extLst xmlns:a="http://schemas.openxmlformats.org/drawingml/2006/main">
              <a:ext uri="{FF2B5EF4-FFF2-40B4-BE49-F238E27FC236}">
                <a16:creationId xmlns:a16="http://schemas.microsoft.com/office/drawing/2014/main" id="{8E82F8CD-0D09-4960-AC9E-3CFD46686C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58ACC6B2-4AAA-46F1-A97C-CF510E0F5FD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21">
            <a:extLst xmlns:a="http://schemas.openxmlformats.org/drawingml/2006/main">
              <a:ext uri="{FF2B5EF4-FFF2-40B4-BE49-F238E27FC236}">
                <a16:creationId xmlns:a16="http://schemas.microsoft.com/office/drawing/2014/main" id="{50CE3644-59DC-46A8-A95D-35CE0CE8CF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TO = P × Q">
            <a:extLst xmlns:a="http://schemas.openxmlformats.org/drawingml/2006/main">
              <a:ext uri="{FF2B5EF4-FFF2-40B4-BE49-F238E27FC236}">
                <a16:creationId xmlns:a16="http://schemas.microsoft.com/office/drawing/2014/main" id="{F8164E0E-DA65-482B-99FF-5DF543FF1B25}"/>
              </a:ext>
            </a:extLst>
          </p:cNvPr>
          <p:cNvSpPr>
            <a:spLocks xmlns:a="http://schemas.openxmlformats.org/drawingml/2006/main" noGrp="1"/>
          </p:cNvSpPr>
          <p:nvPr/>
        </p:nvSpPr>
        <p:spPr>
          <a:xfrm xmlns:a="http://schemas.openxmlformats.org/drawingml/2006/main">
            <a:off x="571500" y="18383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TO = P × Q</a:t>
            </a:r>
          </a:p>
        </p:txBody>
      </p:sp>
      <p:graphicFrame>
        <p:nvGraphicFramePr>
          <p:cNvPr id="13" name=""/>
          <p:cNvGraphicFramePr/>
          <p:nvPr/>
        </p:nvGraphicFramePr>
        <p:xfrm>
          <a:off xmlns:a="http://schemas.openxmlformats.org/drawingml/2006/main" x="571500" y="3238500"/>
          <a:ext xmlns:a="http://schemas.openxmlformats.org/drawingml/2006/main" cx="14097000" cy="2952750"/>
        </p:xfrm>
        <a:graphic xmlns:a="http://schemas.openxmlformats.org/drawingml/2006/main">
          <a:graphicData uri="http://schemas.openxmlformats.org/drawingml/2006/table">
            <a:tbl>
              <a:tblPr/>
              <a:tblGrid>
                <a:gridCol w="3333750"/>
                <a:gridCol w="5381625"/>
                <a:gridCol w="5381625"/>
              </a:tblGrid>
              <a:tr h="984250">
                <a:tc>
                  <a:txBody>
                    <a:bodyPr lIns="171450" tIns="95250" rIns="152400" bIns="95250"/>
                    <a:lstStyle/>
                    <a:p>
                      <a:r>
                        <a:rPr sz="315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3150" b="1">
                          <a:solidFill>
                            <a:srgbClr val="FFFFFF"/>
                          </a:solidFill>
                          <a:latin typeface="Arial"/>
                          <a:ea typeface="Arial"/>
                          <a:cs typeface="Arial"/>
                        </a:rPr>
                        <a:t>Invullen</a:t>
                      </a:r>
                    </a:p>
                  </a:txBody>
                  <a:tcPr marL="91440" marR="91440" marT="45720" marB="45720" anchor="ctr">
                    <a:solidFill>
                      <a:srgbClr val="183247"/>
                    </a:solidFill>
                  </a:tcPr>
                </a:tc>
                <a:tc>
                  <a:txBody>
                    <a:bodyPr lIns="171450" tIns="95250" rIns="152400" bIns="95250"/>
                    <a:lstStyle/>
                    <a:p>
                      <a:r>
                        <a:rPr sz="3150" b="1">
                          <a:solidFill>
                            <a:srgbClr val="FFFFFF"/>
                          </a:solidFill>
                          <a:latin typeface="Arial"/>
                          <a:ea typeface="Arial"/>
                          <a:cs typeface="Arial"/>
                        </a:rPr>
                        <a:t>TO (€ per maand)</a:t>
                      </a:r>
                    </a:p>
                  </a:txBody>
                  <a:tcPr marL="91440" marR="91440" marT="45720" marB="45720" anchor="ctr">
                    <a:solidFill>
                      <a:srgbClr val="183247"/>
                    </a:solidFill>
                  </a:tcPr>
                </a:tc>
              </a:tr>
              <a:tr h="984250">
                <a:tc>
                  <a:txBody>
                    <a:bodyPr lIns="171450" tIns="95250" rIns="152400" bIns="95250"/>
                    <a:lstStyle/>
                    <a:p>
                      <a:r>
                        <a:rPr sz="3150" b="0">
                          <a:solidFill>
                            <a:srgbClr val="183247"/>
                          </a:solidFill>
                          <a:latin typeface="Arial"/>
                          <a:ea typeface="Arial"/>
                          <a:cs typeface="Arial"/>
                        </a:rPr>
                        <a:t>Oud</a:t>
                      </a:r>
                    </a:p>
                  </a:txBody>
                  <a:tcPr marL="91440" marR="91440" marT="45720" marB="45720" anchor="ctr">
                    <a:solidFill>
                      <a:srgbClr val="FFFFFF"/>
                    </a:solidFill>
                  </a:tcPr>
                </a:tc>
                <a:tc>
                  <a:txBody>
                    <a:bodyPr lIns="171450" tIns="95250" rIns="152400" bIns="95250"/>
                    <a:lstStyle/>
                    <a:p>
                      <a:r>
                        <a:rPr sz="3150" b="0">
                          <a:solidFill>
                            <a:srgbClr val="183247"/>
                          </a:solidFill>
                          <a:latin typeface="Arial"/>
                          <a:ea typeface="Arial"/>
                          <a:cs typeface="Arial"/>
                        </a:rPr>
                        <a:t>20 × 1.000</a:t>
                      </a:r>
                    </a:p>
                  </a:txBody>
                  <a:tcPr marL="91440" marR="91440" marT="45720" marB="45720" anchor="ctr">
                    <a:solidFill>
                      <a:srgbClr val="FFFFFF"/>
                    </a:solidFill>
                  </a:tcPr>
                </a:tc>
                <a:tc>
                  <a:txBody>
                    <a:bodyPr lIns="171450" tIns="95250" rIns="152400" bIns="95250"/>
                    <a:lstStyle/>
                    <a:p>
                      <a:r>
                        <a:rPr sz="3150" b="0">
                          <a:solidFill>
                            <a:srgbClr val="183247"/>
                          </a:solidFill>
                          <a:latin typeface="Arial"/>
                          <a:ea typeface="Arial"/>
                          <a:cs typeface="Arial"/>
                        </a:rPr>
                        <a:t>20.000</a:t>
                      </a:r>
                    </a:p>
                  </a:txBody>
                  <a:tcPr marL="91440" marR="91440" marT="45720" marB="45720" anchor="ctr">
                    <a:solidFill>
                      <a:srgbClr val="FFFFFF"/>
                    </a:solidFill>
                  </a:tcPr>
                </a:tc>
              </a:tr>
              <a:tr h="984250">
                <a:tc>
                  <a:txBody>
                    <a:bodyPr lIns="171450" tIns="95250" rIns="152400" bIns="95250"/>
                    <a:lstStyle/>
                    <a:p>
                      <a:r>
                        <a:rPr sz="3150" b="0">
                          <a:solidFill>
                            <a:srgbClr val="183247"/>
                          </a:solidFill>
                          <a:latin typeface="Arial"/>
                          <a:ea typeface="Arial"/>
                          <a:cs typeface="Arial"/>
                        </a:rPr>
                        <a:t>Nieuw</a:t>
                      </a:r>
                    </a:p>
                  </a:txBody>
                  <a:tcPr marL="91440" marR="91440" marT="45720" marB="45720" anchor="ctr">
                    <a:solidFill>
                      <a:srgbClr val="EFF4F7"/>
                    </a:solidFill>
                  </a:tcPr>
                </a:tc>
                <a:tc>
                  <a:txBody>
                    <a:bodyPr lIns="171450" tIns="95250" rIns="152400" bIns="95250"/>
                    <a:lstStyle/>
                    <a:p>
                      <a:r>
                        <a:rPr sz="3150" b="0">
                          <a:solidFill>
                            <a:srgbClr val="183247"/>
                          </a:solidFill>
                          <a:latin typeface="Arial"/>
                          <a:ea typeface="Arial"/>
                          <a:cs typeface="Arial"/>
                        </a:rPr>
                        <a:t>22 × 800</a:t>
                      </a:r>
                    </a:p>
                  </a:txBody>
                  <a:tcPr marL="91440" marR="91440" marT="45720" marB="45720" anchor="ctr">
                    <a:solidFill>
                      <a:srgbClr val="EFF4F7"/>
                    </a:solidFill>
                  </a:tcPr>
                </a:tc>
                <a:tc>
                  <a:txBody>
                    <a:bodyPr lIns="171450" tIns="95250" rIns="152400" bIns="95250"/>
                    <a:lstStyle/>
                    <a:p>
                      <a:r>
                        <a:rPr sz="3150" b="0">
                          <a:solidFill>
                            <a:srgbClr val="183247"/>
                          </a:solidFill>
                          <a:latin typeface="Arial"/>
                          <a:ea typeface="Arial"/>
                          <a:cs typeface="Arial"/>
                        </a:rPr>
                        <a:t>17.600</a:t>
                      </a:r>
                    </a:p>
                  </a:txBody>
                  <a:tcPr marL="91440" marR="91440" marT="45720" marB="45720" anchor="ctr">
                    <a:solidFill>
                      <a:srgbClr val="EFF4F7"/>
                    </a:solidFill>
                  </a:tcPr>
                </a:tc>
              </a:tr>
            </a:tbl>
          </a:graphicData>
        </a:graphic>
      </p:graphicFrame>
      <p:sp>
        <p:nvSpPr>
          <p:cNvPr id="7" name="Controle: € 2.400 minder omzet per maand.">
            <a:extLst xmlns:a="http://schemas.openxmlformats.org/drawingml/2006/main">
              <a:ext uri="{FF2B5EF4-FFF2-40B4-BE49-F238E27FC236}">
                <a16:creationId xmlns:a16="http://schemas.microsoft.com/office/drawing/2014/main" id="{9EDEED80-77FE-436D-9510-9C733279574D}"/>
              </a:ext>
            </a:extLst>
          </p:cNvPr>
          <p:cNvSpPr>
            <a:spLocks xmlns:a="http://schemas.openxmlformats.org/drawingml/2006/main" noGrp="1"/>
          </p:cNvSpPr>
          <p:nvPr/>
        </p:nvSpPr>
        <p:spPr>
          <a:xfrm xmlns:a="http://schemas.openxmlformats.org/drawingml/2006/main">
            <a:off x="571500" y="7029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Controle: € 2.400 minder omzet per maand.</a:t>
            </a:r>
          </a:p>
        </p:txBody>
      </p:sp>
    </p:spTree>
    <p:extLst>
      <p:ext uri="{BB962C8B-B14F-4D97-AF65-F5344CB8AC3E}">
        <p14:creationId xmlns:p14="http://schemas.microsoft.com/office/powerpoint/2010/main" val="184297053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d: StreamNow, verandering en Ev">
            <a:extLst xmlns:a="http://schemas.openxmlformats.org/drawingml/2006/main">
              <a:ext uri="{FF2B5EF4-FFF2-40B4-BE49-F238E27FC236}">
                <a16:creationId xmlns:a16="http://schemas.microsoft.com/office/drawing/2014/main" id="{D98C205C-D141-4D2F-8E63-15189B9D415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StreamNow, verandering en Ev</a:t>
            </a:r>
          </a:p>
        </p:txBody>
      </p:sp>
      <p:sp>
        <p:nvSpPr>
          <p:cNvPr id="2" name="">
            <a:extLst xmlns:a="http://schemas.openxmlformats.org/drawingml/2006/main">
              <a:ext uri="{FF2B5EF4-FFF2-40B4-BE49-F238E27FC236}">
                <a16:creationId xmlns:a16="http://schemas.microsoft.com/office/drawing/2014/main" id="{657C3253-B8C3-4B3C-AF6B-DFCCB1B1CBE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110610DC-EE67-4C13-8393-B44AF44954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22">
            <a:extLst xmlns:a="http://schemas.openxmlformats.org/drawingml/2006/main">
              <a:ext uri="{FF2B5EF4-FFF2-40B4-BE49-F238E27FC236}">
                <a16:creationId xmlns:a16="http://schemas.microsoft.com/office/drawing/2014/main" id="{A17BA661-C99F-4095-88D9-41A4851C6DE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ΔTO = (TO nieuw − TO oud) / TO oud × 100%">
            <a:extLst xmlns:a="http://schemas.openxmlformats.org/drawingml/2006/main">
              <a:ext uri="{FF2B5EF4-FFF2-40B4-BE49-F238E27FC236}">
                <a16:creationId xmlns:a16="http://schemas.microsoft.com/office/drawing/2014/main" id="{F2E263C4-6A48-451F-817A-C9EC8A2F84B2}"/>
              </a:ext>
            </a:extLst>
          </p:cNvPr>
          <p:cNvSpPr>
            <a:spLocks xmlns:a="http://schemas.openxmlformats.org/drawingml/2006/main" noGrp="1"/>
          </p:cNvSpPr>
          <p:nvPr/>
        </p:nvSpPr>
        <p:spPr>
          <a:xfrm xmlns:a="http://schemas.openxmlformats.org/drawingml/2006/main">
            <a:off x="571500" y="18002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%ΔTO = (TO nieuw − TO oud) / TO oud × 100%</a:t>
            </a:r>
          </a:p>
        </p:txBody>
      </p:sp>
      <p:sp>
        <p:nvSpPr>
          <p:cNvPr id="6" name="= (17.600 − 20.000) / 20.000 × 100% = −12%">
            <a:extLst xmlns:a="http://schemas.openxmlformats.org/drawingml/2006/main">
              <a:ext uri="{FF2B5EF4-FFF2-40B4-BE49-F238E27FC236}">
                <a16:creationId xmlns:a16="http://schemas.microsoft.com/office/drawing/2014/main" id="{A46F0C73-E957-4DF2-B686-475A1A707EAE}"/>
              </a:ext>
            </a:extLst>
          </p:cNvPr>
          <p:cNvSpPr>
            <a:spLocks xmlns:a="http://schemas.openxmlformats.org/drawingml/2006/main" noGrp="1"/>
          </p:cNvSpPr>
          <p:nvPr/>
        </p:nvSpPr>
        <p:spPr>
          <a:xfrm xmlns:a="http://schemas.openxmlformats.org/drawingml/2006/main">
            <a:off x="571500" y="29146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 (17.600 − 20.000) / 20.000 × 100% = −12%</a:t>
            </a:r>
          </a:p>
        </p:txBody>
      </p:sp>
      <p:graphicFrame>
        <p:nvGraphicFramePr>
          <p:cNvPr id="16" name=""/>
          <p:cNvGraphicFramePr/>
          <p:nvPr/>
        </p:nvGraphicFramePr>
        <p:xfrm>
          <a:off xmlns:a="http://schemas.openxmlformats.org/drawingml/2006/main" x="571500" y="4438650"/>
          <a:ext xmlns:a="http://schemas.openxmlformats.org/drawingml/2006/main" cx="14097000" cy="1819275"/>
        </p:xfrm>
        <a:graphic xmlns:a="http://schemas.openxmlformats.org/drawingml/2006/main">
          <a:graphicData uri="http://schemas.openxmlformats.org/drawingml/2006/table">
            <a:tbl>
              <a:tblPr/>
              <a:tblGrid>
                <a:gridCol w="4695825"/>
                <a:gridCol w="4695825"/>
                <a:gridCol w="4705350"/>
              </a:tblGrid>
              <a:tr h="909638">
                <a:tc>
                  <a:txBody>
                    <a:bodyPr lIns="171450" tIns="95250" rIns="152400" bIns="95250"/>
                    <a:lstStyle/>
                    <a:p>
                      <a:r>
                        <a:rPr sz="2550" b="1">
                          <a:solidFill>
                            <a:srgbClr val="FFFFFF"/>
                          </a:solidFill>
                          <a:latin typeface="Arial"/>
                          <a:ea typeface="Arial"/>
                          <a:cs typeface="Arial"/>
                        </a:rPr>
                        <a:t>Prijsverandering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Hoeveelheidsverandering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Ev</a:t>
                      </a:r>
                    </a:p>
                  </a:txBody>
                  <a:tcPr marL="91440" marR="91440" marT="45720" marB="45720" anchor="ctr">
                    <a:solidFill>
                      <a:srgbClr val="183247"/>
                    </a:solidFill>
                  </a:tcPr>
                </a:tc>
              </a:tr>
              <a:tr h="909638">
                <a:tc>
                  <a:txBody>
                    <a:bodyPr lIns="171450" tIns="95250" rIns="152400" bIns="95250"/>
                    <a:lstStyle/>
                    <a:p>
                      <a:r>
                        <a:rPr sz="255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a:t>
                      </a:r>
                    </a:p>
                  </a:txBody>
                  <a:tcPr marL="91440" marR="91440" marT="45720" marB="45720" anchor="ctr">
                    <a:solidFill>
                      <a:srgbClr val="FFFFFF"/>
                    </a:solidFill>
                  </a:tcPr>
                </a:tc>
              </a:tr>
            </a:tbl>
          </a:graphicData>
        </a:graphic>
      </p:graphicFrame>
      <p:sp>
        <p:nvSpPr>
          <p:cNvPr id="8" name="Prijselastisch: Ev &lt; −1.">
            <a:extLst xmlns:a="http://schemas.openxmlformats.org/drawingml/2006/main">
              <a:ext uri="{FF2B5EF4-FFF2-40B4-BE49-F238E27FC236}">
                <a16:creationId xmlns:a16="http://schemas.microsoft.com/office/drawing/2014/main" id="{3A5451D5-5345-4DED-AE7F-57CCE0E5EAAB}"/>
              </a:ext>
            </a:extLst>
          </p:cNvPr>
          <p:cNvSpPr>
            <a:spLocks xmlns:a="http://schemas.openxmlformats.org/drawingml/2006/main" noGrp="1"/>
          </p:cNvSpPr>
          <p:nvPr/>
        </p:nvSpPr>
        <p:spPr>
          <a:xfrm xmlns:a="http://schemas.openxmlformats.org/drawingml/2006/main">
            <a:off x="571500" y="67151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Prijselastisch: Ev &lt; −1.</a:t>
            </a:r>
          </a:p>
        </p:txBody>
      </p:sp>
      <p:sp>
        <p:nvSpPr>
          <p:cNvPr id="9" name="De relatief sterke afzetdaling past hier bij de om">
            <a:extLst xmlns:a="http://schemas.openxmlformats.org/drawingml/2006/main">
              <a:ext uri="{FF2B5EF4-FFF2-40B4-BE49-F238E27FC236}">
                <a16:creationId xmlns:a16="http://schemas.microsoft.com/office/drawing/2014/main" id="{C51E7F8B-50D3-4864-86D1-13EE91B1B3CB}"/>
              </a:ext>
            </a:extLst>
          </p:cNvPr>
          <p:cNvSpPr>
            <a:spLocks xmlns:a="http://schemas.openxmlformats.org/drawingml/2006/main" noGrp="1"/>
          </p:cNvSpPr>
          <p:nvPr/>
        </p:nvSpPr>
        <p:spPr>
          <a:xfrm xmlns:a="http://schemas.openxmlformats.org/drawingml/2006/main">
            <a:off x="571500" y="7315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relatief sterke afzetdaling past hier bij de omzetdaling.</a:t>
            </a:r>
          </a:p>
        </p:txBody>
      </p:sp>
    </p:spTree>
    <p:extLst>
      <p:ext uri="{BB962C8B-B14F-4D97-AF65-F5344CB8AC3E}">
        <p14:creationId xmlns:p14="http://schemas.microsoft.com/office/powerpoint/2010/main" val="104932538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e: de lokale omzetregel">
            <a:extLst xmlns:a="http://schemas.openxmlformats.org/drawingml/2006/main">
              <a:ext uri="{FF2B5EF4-FFF2-40B4-BE49-F238E27FC236}">
                <a16:creationId xmlns:a16="http://schemas.microsoft.com/office/drawing/2014/main" id="{3BB3BD37-8152-45E7-9BE0-7912F0D376D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de lokale omzetregel</a:t>
            </a:r>
          </a:p>
        </p:txBody>
      </p:sp>
      <p:sp>
        <p:nvSpPr>
          <p:cNvPr id="2" name="">
            <a:extLst xmlns:a="http://schemas.openxmlformats.org/drawingml/2006/main">
              <a:ext uri="{FF2B5EF4-FFF2-40B4-BE49-F238E27FC236}">
                <a16:creationId xmlns:a16="http://schemas.microsoft.com/office/drawing/2014/main" id="{EE478F8B-2585-4F6C-BE18-36BA7D9597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3EBA53AE-7F35-4882-93FC-27864C5A567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23">
            <a:extLst xmlns:a="http://schemas.openxmlformats.org/drawingml/2006/main">
              <a:ext uri="{FF2B5EF4-FFF2-40B4-BE49-F238E27FC236}">
                <a16:creationId xmlns:a16="http://schemas.microsoft.com/office/drawing/2014/main" id="{FCDA4A5F-9F6E-4DD5-8BB3-F19CC6221D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Bij een kleine prijsverandering rond de huidige si">
            <a:extLst xmlns:a="http://schemas.openxmlformats.org/drawingml/2006/main">
              <a:ext uri="{FF2B5EF4-FFF2-40B4-BE49-F238E27FC236}">
                <a16:creationId xmlns:a16="http://schemas.microsoft.com/office/drawing/2014/main" id="{26D5C6A0-8EFC-4392-9FFF-A47D435D7D84}"/>
              </a:ext>
            </a:extLst>
          </p:cNvPr>
          <p:cNvSpPr>
            <a:spLocks xmlns:a="http://schemas.openxmlformats.org/drawingml/2006/main" noGrp="1"/>
          </p:cNvSpPr>
          <p:nvPr/>
        </p:nvSpPr>
        <p:spPr>
          <a:xfrm xmlns:a="http://schemas.openxmlformats.org/drawingml/2006/main">
            <a:off x="571500" y="17621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Bij een kleine prijsverandering rond de huidige situatie</a:t>
            </a:r>
          </a:p>
        </p:txBody>
      </p:sp>
      <p:graphicFrame>
        <p:nvGraphicFramePr>
          <p:cNvPr id="13" name=""/>
          <p:cNvGraphicFramePr/>
          <p:nvPr/>
        </p:nvGraphicFramePr>
        <p:xfrm>
          <a:off xmlns:a="http://schemas.openxmlformats.org/drawingml/2006/main" x="571500" y="2886075"/>
          <a:ext xmlns:a="http://schemas.openxmlformats.org/drawingml/2006/main" cx="14097000" cy="3695700"/>
        </p:xfrm>
        <a:graphic xmlns:a="http://schemas.openxmlformats.org/drawingml/2006/main">
          <a:graphicData uri="http://schemas.openxmlformats.org/drawingml/2006/table">
            <a:tbl>
              <a:tblPr/>
              <a:tblGrid>
                <a:gridCol w="5048250"/>
                <a:gridCol w="4524375"/>
                <a:gridCol w="4524375"/>
              </a:tblGrid>
              <a:tr h="923925">
                <a:tc>
                  <a:txBody>
                    <a:bodyPr lIns="171450" tIns="95250" rIns="152400" bIns="95250"/>
                    <a:lstStyle/>
                    <a:p>
                      <a:r>
                        <a:rPr sz="2400"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Kleine prijsstijging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Kleine prijsdaling</a:t>
                      </a:r>
                    </a:p>
                  </a:txBody>
                  <a:tcPr marL="91440" marR="91440" marT="45720" marB="45720" anchor="ctr">
                    <a:solidFill>
                      <a:srgbClr val="183247"/>
                    </a:solidFill>
                  </a:tcPr>
                </a:tc>
              </a:tr>
              <a:tr h="923925">
                <a:tc>
                  <a:txBody>
                    <a:bodyPr lIns="171450" tIns="95250" rIns="152400" bIns="95250"/>
                    <a:lstStyle/>
                    <a:p>
                      <a:r>
                        <a:rPr sz="2400" b="0">
                          <a:solidFill>
                            <a:srgbClr val="183247"/>
                          </a:solidFill>
                          <a:latin typeface="Arial"/>
                          <a:ea typeface="Arial"/>
                          <a:cs typeface="Arial"/>
                        </a:rPr>
                        <a:t>Prijsinelastisch</a:t>
                      </a:r>
                    </a:p>
                    <a:p>
                      <a:r>
                        <a:rPr sz="2400" b="0">
                          <a:solidFill>
                            <a:srgbClr val="183247"/>
                          </a:solidFill>
                          <a:latin typeface="Arial"/>
                          <a:ea typeface="Arial"/>
                          <a:cs typeface="Arial"/>
                        </a:rPr>
                        <a:t>−1 &lt; Ev ≤ 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 stijgt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 daalt</a:t>
                      </a:r>
                    </a:p>
                  </a:txBody>
                  <a:tcPr marL="91440" marR="91440" marT="45720" marB="45720" anchor="ctr">
                    <a:solidFill>
                      <a:srgbClr val="FFFFFF"/>
                    </a:solidFill>
                  </a:tcPr>
                </a:tc>
              </a:tr>
              <a:tr h="923925">
                <a:tc>
                  <a:txBody>
                    <a:bodyPr lIns="171450" tIns="95250" rIns="152400" bIns="95250"/>
                    <a:lstStyle/>
                    <a:p>
                      <a:r>
                        <a:rPr sz="2400" b="0">
                          <a:solidFill>
                            <a:srgbClr val="183247"/>
                          </a:solidFill>
                          <a:latin typeface="Arial"/>
                          <a:ea typeface="Arial"/>
                          <a:cs typeface="Arial"/>
                        </a:rPr>
                        <a:t>Prijselastisch</a:t>
                      </a:r>
                    </a:p>
                    <a:p>
                      <a:r>
                        <a:rPr sz="2400" b="0">
                          <a:solidFill>
                            <a:srgbClr val="183247"/>
                          </a:solidFill>
                          <a:latin typeface="Arial"/>
                          <a:ea typeface="Arial"/>
                          <a:cs typeface="Arial"/>
                        </a:rPr>
                        <a:t>Ev &lt; −1</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TO daalt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TO stijgt</a:t>
                      </a:r>
                    </a:p>
                  </a:txBody>
                  <a:tcPr marL="91440" marR="91440" marT="45720" marB="45720" anchor="ctr">
                    <a:solidFill>
                      <a:srgbClr val="EFF4F7"/>
                    </a:solidFill>
                  </a:tcPr>
                </a:tc>
              </a:tr>
              <a:tr h="923925">
                <a:tc>
                  <a:txBody>
                    <a:bodyPr lIns="171450" tIns="95250" rIns="152400" bIns="95250"/>
                    <a:lstStyle/>
                    <a:p>
                      <a:r>
                        <a:rPr sz="2400" b="0">
                          <a:solidFill>
                            <a:srgbClr val="183247"/>
                          </a:solidFill>
                          <a:latin typeface="Arial"/>
                          <a:ea typeface="Arial"/>
                          <a:cs typeface="Arial"/>
                        </a:rPr>
                        <a:t>Unitair elastisch</a:t>
                      </a:r>
                    </a:p>
                    <a:p>
                      <a:r>
                        <a:rPr sz="2400" b="0">
                          <a:solidFill>
                            <a:srgbClr val="183247"/>
                          </a:solidFill>
                          <a:latin typeface="Arial"/>
                          <a:ea typeface="Arial"/>
                          <a:cs typeface="Arial"/>
                        </a:rPr>
                        <a:t>Ev = −1</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Effecten ongeveer</a:t>
                      </a:r>
                    </a:p>
                    <a:p>
                      <a:r>
                        <a:rPr sz="2400" b="0">
                          <a:solidFill>
                            <a:srgbClr val="183247"/>
                          </a:solidFill>
                          <a:latin typeface="Arial"/>
                          <a:ea typeface="Arial"/>
                          <a:cs typeface="Arial"/>
                        </a:rPr>
                        <a:t>in evenwicht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Effecten ongeveer</a:t>
                      </a:r>
                    </a:p>
                    <a:p>
                      <a:r>
                        <a:rPr sz="2400" b="0">
                          <a:solidFill>
                            <a:srgbClr val="183247"/>
                          </a:solidFill>
                          <a:latin typeface="Arial"/>
                          <a:ea typeface="Arial"/>
                          <a:cs typeface="Arial"/>
                        </a:rPr>
                        <a:t>in evenwicht</a:t>
                      </a:r>
                    </a:p>
                  </a:txBody>
                  <a:tcPr marL="91440" marR="91440" marT="45720" marB="45720" anchor="ctr">
                    <a:solidFill>
                      <a:srgbClr val="FFFFFF"/>
                    </a:solidFill>
                  </a:tcPr>
                </a:tc>
              </a:tr>
            </a:tbl>
          </a:graphicData>
        </a:graphic>
      </p:graphicFrame>
      <p:sp>
        <p:nvSpPr>
          <p:cNvPr id="7" name="Bij gegeven oude en nieuwe waarden: TO altijd nare">
            <a:extLst xmlns:a="http://schemas.openxmlformats.org/drawingml/2006/main">
              <a:ext uri="{FF2B5EF4-FFF2-40B4-BE49-F238E27FC236}">
                <a16:creationId xmlns:a16="http://schemas.microsoft.com/office/drawing/2014/main" id="{55CC8F77-26A8-46EE-B1FF-FC02C40D052D}"/>
              </a:ext>
            </a:extLst>
          </p:cNvPr>
          <p:cNvSpPr>
            <a:spLocks xmlns:a="http://schemas.openxmlformats.org/drawingml/2006/main" noGrp="1"/>
          </p:cNvSpPr>
          <p:nvPr/>
        </p:nvSpPr>
        <p:spPr>
          <a:xfrm xmlns:a="http://schemas.openxmlformats.org/drawingml/2006/main">
            <a:off x="571500" y="71247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Bij gegeven oude en nieuwe waarden: TO altijd narekenen.</a:t>
            </a:r>
          </a:p>
        </p:txBody>
      </p:sp>
    </p:spTree>
    <p:extLst>
      <p:ext uri="{BB962C8B-B14F-4D97-AF65-F5344CB8AC3E}">
        <p14:creationId xmlns:p14="http://schemas.microsoft.com/office/powerpoint/2010/main" val="141331585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e: een grote, eindige verandering">
            <a:extLst xmlns:a="http://schemas.openxmlformats.org/drawingml/2006/main">
              <a:ext uri="{FF2B5EF4-FFF2-40B4-BE49-F238E27FC236}">
                <a16:creationId xmlns:a16="http://schemas.microsoft.com/office/drawing/2014/main" id="{12C14A04-B3FA-4E19-968C-8074821B362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een grote, eindige verandering</a:t>
            </a:r>
          </a:p>
        </p:txBody>
      </p:sp>
      <p:sp>
        <p:nvSpPr>
          <p:cNvPr id="2" name="">
            <a:extLst xmlns:a="http://schemas.openxmlformats.org/drawingml/2006/main">
              <a:ext uri="{FF2B5EF4-FFF2-40B4-BE49-F238E27FC236}">
                <a16:creationId xmlns:a16="http://schemas.microsoft.com/office/drawing/2014/main" id="{4DD55092-4B77-4C1C-BE81-6B9227C4C57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ACEABBA4-D631-46F2-B293-6520CCE3E12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24">
            <a:extLst xmlns:a="http://schemas.openxmlformats.org/drawingml/2006/main">
              <a:ext uri="{FF2B5EF4-FFF2-40B4-BE49-F238E27FC236}">
                <a16:creationId xmlns:a16="http://schemas.microsoft.com/office/drawing/2014/main" id="{6524DDA8-49E2-40AE-AA0F-5253F21136E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Een gemeten Ev geldt niet automatisch bij elke pri">
            <a:extLst xmlns:a="http://schemas.openxmlformats.org/drawingml/2006/main">
              <a:ext uri="{FF2B5EF4-FFF2-40B4-BE49-F238E27FC236}">
                <a16:creationId xmlns:a16="http://schemas.microsoft.com/office/drawing/2014/main" id="{3A205429-EEF6-4FAA-8D9F-59AF6A78D2D4}"/>
              </a:ext>
            </a:extLst>
          </p:cNvPr>
          <p:cNvSpPr>
            <a:spLocks xmlns:a="http://schemas.openxmlformats.org/drawingml/2006/main" noGrp="1"/>
          </p:cNvSpPr>
          <p:nvPr/>
        </p:nvSpPr>
        <p:spPr>
          <a:xfrm xmlns:a="http://schemas.openxmlformats.org/drawingml/2006/main">
            <a:off x="571500" y="18002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gemeten Ev geldt niet automatisch bij elke prijs.</a:t>
            </a:r>
          </a:p>
        </p:txBody>
      </p:sp>
      <p:sp>
        <p:nvSpPr>
          <p:cNvPr id="6" name="De omzetfactor is de prijsfactor × de hoeveelheids">
            <a:extLst xmlns:a="http://schemas.openxmlformats.org/drawingml/2006/main">
              <a:ext uri="{FF2B5EF4-FFF2-40B4-BE49-F238E27FC236}">
                <a16:creationId xmlns:a16="http://schemas.microsoft.com/office/drawing/2014/main" id="{FBF3E9DA-3023-4E4C-B216-6263EC807988}"/>
              </a:ext>
            </a:extLst>
          </p:cNvPr>
          <p:cNvSpPr>
            <a:spLocks xmlns:a="http://schemas.openxmlformats.org/drawingml/2006/main" noGrp="1"/>
          </p:cNvSpPr>
          <p:nvPr/>
        </p:nvSpPr>
        <p:spPr>
          <a:xfrm xmlns:a="http://schemas.openxmlformats.org/drawingml/2006/main">
            <a:off x="571500" y="30765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omzetfactor is de prijsfactor × de hoeveelheidsfactor.</a:t>
            </a:r>
          </a:p>
        </p:txBody>
      </p:sp>
      <p:graphicFrame>
        <p:nvGraphicFramePr>
          <p:cNvPr id="14" name=""/>
          <p:cNvGraphicFramePr/>
          <p:nvPr/>
        </p:nvGraphicFramePr>
        <p:xfrm>
          <a:off xmlns:a="http://schemas.openxmlformats.org/drawingml/2006/main" x="571500" y="4371975"/>
          <a:ext xmlns:a="http://schemas.openxmlformats.org/drawingml/2006/main" cx="14097000" cy="2524125"/>
        </p:xfrm>
        <a:graphic xmlns:a="http://schemas.openxmlformats.org/drawingml/2006/main">
          <a:graphicData uri="http://schemas.openxmlformats.org/drawingml/2006/table">
            <a:tbl>
              <a:tblPr/>
              <a:tblGrid>
                <a:gridCol w="3524250"/>
                <a:gridCol w="6191250"/>
                <a:gridCol w="4381500"/>
              </a:tblGrid>
              <a:tr h="841375">
                <a:tc>
                  <a:txBody>
                    <a:bodyPr lIns="171450" tIns="95250" rIns="152400" bIns="95250"/>
                    <a:lstStyle/>
                    <a:p>
                      <a:r>
                        <a:rPr sz="2625" b="1">
                          <a:solidFill>
                            <a:srgbClr val="FFFFFF"/>
                          </a:solidFill>
                          <a:latin typeface="Arial"/>
                          <a:ea typeface="Arial"/>
                          <a:cs typeface="Arial"/>
                        </a:rPr>
                        <a:t>Controle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Factoren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Omzetverandering</a:t>
                      </a:r>
                    </a:p>
                  </a:txBody>
                  <a:tcPr marL="91440" marR="91440" marT="45720" marB="45720" anchor="ctr">
                    <a:solidFill>
                      <a:srgbClr val="183247"/>
                    </a:solidFill>
                  </a:tcPr>
                </a:tc>
              </a:tr>
              <a:tr h="841375">
                <a:tc>
                  <a:txBody>
                    <a:bodyPr lIns="171450" tIns="95250" rIns="152400" bIns="95250"/>
                    <a:lstStyle/>
                    <a:p>
                      <a:r>
                        <a:rPr sz="2625" b="0">
                          <a:solidFill>
                            <a:srgbClr val="183247"/>
                          </a:solidFill>
                          <a:latin typeface="Arial"/>
                          <a:ea typeface="Arial"/>
                          <a:cs typeface="Arial"/>
                        </a:rPr>
                        <a:t>Nova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1,20 × 0,84 = 1,008</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+0,8%</a:t>
                      </a:r>
                    </a:p>
                  </a:txBody>
                  <a:tcPr marL="91440" marR="91440" marT="45720" marB="45720" anchor="ctr">
                    <a:solidFill>
                      <a:srgbClr val="FFFFFF"/>
                    </a:solidFill>
                  </a:tcPr>
                </a:tc>
              </a:tr>
              <a:tr h="841375">
                <a:tc>
                  <a:txBody>
                    <a:bodyPr lIns="171450" tIns="95250" rIns="152400" bIns="95250"/>
                    <a:lstStyle/>
                    <a:p>
                      <a:r>
                        <a:rPr sz="2625" b="0">
                          <a:solidFill>
                            <a:srgbClr val="183247"/>
                          </a:solidFill>
                          <a:latin typeface="Arial"/>
                          <a:ea typeface="Arial"/>
                          <a:cs typeface="Arial"/>
                        </a:rPr>
                        <a:t>StreamNow</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1,10 × 0,80 = 0,88</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−12%</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27794567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f: de winst is nog onbekend">
            <a:extLst xmlns:a="http://schemas.openxmlformats.org/drawingml/2006/main">
              <a:ext uri="{FF2B5EF4-FFF2-40B4-BE49-F238E27FC236}">
                <a16:creationId xmlns:a16="http://schemas.microsoft.com/office/drawing/2014/main" id="{EB7B44DC-8F4F-4DB1-B239-CF92663A229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7f: de winst is nog onbekend</a:t>
            </a:r>
          </a:p>
        </p:txBody>
      </p:sp>
      <p:sp>
        <p:nvSpPr>
          <p:cNvPr id="2" name="">
            <a:extLst xmlns:a="http://schemas.openxmlformats.org/drawingml/2006/main">
              <a:ext uri="{FF2B5EF4-FFF2-40B4-BE49-F238E27FC236}">
                <a16:creationId xmlns:a16="http://schemas.microsoft.com/office/drawing/2014/main" id="{F52E9347-E6CF-4C58-8CF1-F6CC50FD04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 Opgave 7 · Boekpagi">
            <a:extLst xmlns:a="http://schemas.openxmlformats.org/drawingml/2006/main">
              <a:ext uri="{FF2B5EF4-FFF2-40B4-BE49-F238E27FC236}">
                <a16:creationId xmlns:a16="http://schemas.microsoft.com/office/drawing/2014/main" id="{62D0C084-AB6C-4A8A-BEAC-8125F7CA601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 · Opgave 7 · Boekpagina 50</a:t>
            </a:r>
          </a:p>
        </p:txBody>
      </p:sp>
      <p:sp>
        <p:nvSpPr>
          <p:cNvPr id="4" name="25">
            <a:extLst xmlns:a="http://schemas.openxmlformats.org/drawingml/2006/main">
              <a:ext uri="{FF2B5EF4-FFF2-40B4-BE49-F238E27FC236}">
                <a16:creationId xmlns:a16="http://schemas.microsoft.com/office/drawing/2014/main" id="{820E8025-A236-4AE9-AAD5-91375BA85A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Winst = TO − TK">
            <a:extLst xmlns:a="http://schemas.openxmlformats.org/drawingml/2006/main">
              <a:ext uri="{FF2B5EF4-FFF2-40B4-BE49-F238E27FC236}">
                <a16:creationId xmlns:a16="http://schemas.microsoft.com/office/drawing/2014/main" id="{DF1BFD97-A039-4046-BCA0-060415A60E1A}"/>
              </a:ext>
            </a:extLst>
          </p:cNvPr>
          <p:cNvSpPr>
            <a:spLocks xmlns:a="http://schemas.openxmlformats.org/drawingml/2006/main" noGrp="1"/>
          </p:cNvSpPr>
          <p:nvPr/>
        </p:nvSpPr>
        <p:spPr>
          <a:xfrm xmlns:a="http://schemas.openxmlformats.org/drawingml/2006/main">
            <a:off x="571500" y="19240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658A"/>
                </a:solidFill>
                <a:latin typeface="Arial"/>
                <a:ea typeface="Arial"/>
                <a:cs typeface="Arial"/>
              </a:defRPr>
            </a:pPr>
            <a:r>
              <a:rPr sz="4500" b="1">
                <a:solidFill>
                  <a:srgbClr val="17658A"/>
                </a:solidFill>
                <a:latin typeface="Arial"/>
                <a:ea typeface="Arial"/>
                <a:cs typeface="Arial"/>
              </a:rPr>
              <a:t>Winst = TO − TK</a:t>
            </a:r>
          </a:p>
        </p:txBody>
      </p:sp>
      <p:graphicFrame>
        <p:nvGraphicFramePr>
          <p:cNvPr id="13" name=""/>
          <p:cNvGraphicFramePr/>
          <p:nvPr/>
        </p:nvGraphicFramePr>
        <p:xfrm>
          <a:off xmlns:a="http://schemas.openxmlformats.org/drawingml/2006/main" x="571500" y="3667125"/>
          <a:ext xmlns:a="http://schemas.openxmlformats.org/drawingml/2006/main" cx="14097000" cy="2028825"/>
        </p:xfrm>
        <a:graphic xmlns:a="http://schemas.openxmlformats.org/drawingml/2006/main">
          <a:graphicData uri="http://schemas.openxmlformats.org/drawingml/2006/table">
            <a:tbl>
              <a:tblPr/>
              <a:tblGrid>
                <a:gridCol w="7048500"/>
                <a:gridCol w="7048500"/>
              </a:tblGrid>
              <a:tr h="1014413">
                <a:tc>
                  <a:txBody>
                    <a:bodyPr lIns="171450" tIns="95250" rIns="152400" bIns="95250"/>
                    <a:lstStyle/>
                    <a:p>
                      <a:r>
                        <a:rPr sz="2925" b="1">
                          <a:solidFill>
                            <a:srgbClr val="FFFFFF"/>
                          </a:solidFill>
                          <a:latin typeface="Arial"/>
                          <a:ea typeface="Arial"/>
                          <a:cs typeface="Arial"/>
                        </a:rPr>
                        <a:t>Je kent</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Je mist</a:t>
                      </a:r>
                    </a:p>
                  </a:txBody>
                  <a:tcPr marL="91440" marR="91440" marT="45720" marB="45720" anchor="ctr">
                    <a:solidFill>
                      <a:srgbClr val="183247"/>
                    </a:solidFill>
                  </a:tcPr>
                </a:tc>
              </a:tr>
              <a:tr h="1014413">
                <a:tc>
                  <a:txBody>
                    <a:bodyPr lIns="171450" tIns="95250" rIns="152400" bIns="95250"/>
                    <a:lstStyle/>
                    <a:p>
                      <a:r>
                        <a:rPr sz="2925" b="0">
                          <a:solidFill>
                            <a:srgbClr val="183247"/>
                          </a:solidFill>
                          <a:latin typeface="Arial"/>
                          <a:ea typeface="Arial"/>
                          <a:cs typeface="Arial"/>
                        </a:rPr>
                        <a:t>TO oud en TO nieuw</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TK oud en TK nieuw</a:t>
                      </a:r>
                    </a:p>
                  </a:txBody>
                  <a:tcPr marL="91440" marR="91440" marT="45720" marB="45720" anchor="ctr">
                    <a:solidFill>
                      <a:srgbClr val="FFFFFF"/>
                    </a:solidFill>
                  </a:tcPr>
                </a:tc>
              </a:tr>
            </a:tbl>
          </a:graphicData>
        </a:graphic>
      </p:graphicFrame>
      <p:sp>
        <p:nvSpPr>
          <p:cNvPr id="7" name="Zonder kosten vóór en na volgt geen zekere winstve">
            <a:extLst xmlns:a="http://schemas.openxmlformats.org/drawingml/2006/main">
              <a:ext uri="{FF2B5EF4-FFF2-40B4-BE49-F238E27FC236}">
                <a16:creationId xmlns:a16="http://schemas.microsoft.com/office/drawing/2014/main" id="{58BBE287-5405-483D-9107-24A20DDF96DF}"/>
              </a:ext>
            </a:extLst>
          </p:cNvPr>
          <p:cNvSpPr>
            <a:spLocks xmlns:a="http://schemas.openxmlformats.org/drawingml/2006/main" noGrp="1"/>
          </p:cNvSpPr>
          <p:nvPr/>
        </p:nvSpPr>
        <p:spPr>
          <a:xfrm xmlns:a="http://schemas.openxmlformats.org/drawingml/2006/main">
            <a:off x="571500" y="68770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Zonder kosten vóór en na volgt geen zekere winstverandering.</a:t>
            </a:r>
          </a:p>
        </p:txBody>
      </p:sp>
    </p:spTree>
    <p:extLst>
      <p:ext uri="{BB962C8B-B14F-4D97-AF65-F5344CB8AC3E}">
        <p14:creationId xmlns:p14="http://schemas.microsoft.com/office/powerpoint/2010/main" val="84528955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2 Elasticiteit en omzet">
            <a:extLst xmlns:a="http://schemas.openxmlformats.org/drawingml/2006/main">
              <a:ext uri="{FF2B5EF4-FFF2-40B4-BE49-F238E27FC236}">
                <a16:creationId xmlns:a16="http://schemas.microsoft.com/office/drawing/2014/main" id="{F216D3D7-3684-4F21-818C-754DD250C5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§2.2.2 Elasticiteit en omzet</a:t>
            </a:r>
          </a:p>
        </p:txBody>
      </p:sp>
      <p:sp>
        <p:nvSpPr>
          <p:cNvPr id="2" name="">
            <a:extLst xmlns:a="http://schemas.openxmlformats.org/drawingml/2006/main">
              <a:ext uri="{FF2B5EF4-FFF2-40B4-BE49-F238E27FC236}">
                <a16:creationId xmlns:a16="http://schemas.microsoft.com/office/drawing/2014/main" id="{3F98F72C-6DEF-4EB2-AAFE-C59C9BBA601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2 Elasticiteit en omzet">
            <a:extLst xmlns:a="http://schemas.openxmlformats.org/drawingml/2006/main">
              <a:ext uri="{FF2B5EF4-FFF2-40B4-BE49-F238E27FC236}">
                <a16:creationId xmlns:a16="http://schemas.microsoft.com/office/drawing/2014/main" id="{DA1BBA5F-65F7-493E-8055-29AB1BC8846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§2.2.2 Elasticiteit en omzet</a:t>
            </a:r>
          </a:p>
        </p:txBody>
      </p:sp>
      <p:sp>
        <p:nvSpPr>
          <p:cNvPr id="4" name="26">
            <a:extLst xmlns:a="http://schemas.openxmlformats.org/drawingml/2006/main">
              <a:ext uri="{FF2B5EF4-FFF2-40B4-BE49-F238E27FC236}">
                <a16:creationId xmlns:a16="http://schemas.microsoft.com/office/drawing/2014/main" id="{071D2F9F-9398-4D89-B22D-5400708D44D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phase">
            <a:extLst xmlns:a="http://schemas.openxmlformats.org/drawingml/2006/main">
              <a:ext uri="{FF2B5EF4-FFF2-40B4-BE49-F238E27FC236}">
                <a16:creationId xmlns:a16="http://schemas.microsoft.com/office/drawing/2014/main" id="{52F882D9-F01E-44FB-A767-5767C652822E}"/>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2FB38364-7D4B-44B3-AA3C-3DBDB7B0B9A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80165BA-1461-40C2-9E69-4913248707F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6AD676D-57DC-47F6-A18C-0E1ADC17D42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0857CAD-8927-400C-85A9-19019E469AA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CA28784-C6FA-4488-8E85-554129828E35}"/>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DE1BBC7-02A6-4877-9A42-58C802918E7D}"/>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22EA197-C64C-42AA-819B-502496E4293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35C7A43E-9CF2-43E7-9FBA-827EA0AFBB5B}"/>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05C3B65-4C5A-4AD5-B74C-5E767F9ABC01}"/>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239D9B9-C7B8-46B7-A4DF-CFA24075CA9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C69EE50F-5485-4FBD-AE06-D2AF969462F0}"/>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9DA1D119-7990-49A9-9EEC-371B02A403B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C1F649B-A700-4B2A-B309-AD99D14D90E6}"/>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7C22F6D7-43DD-4961-8371-32C46BB0485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27492DC-744C-492C-9822-D5C4A68BD92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D3EB903-B863-4802-B1E2-F68973CEFF6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D5E1864-B838-4C21-841C-5DD03543953F}"/>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Omzet berekenen en vergelijken,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Ev gebruiken en omzet van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onderscheiden.</a:t>
            </a:r>
          </a:p>
        </p:txBody>
      </p:sp>
      <p:sp>
        <p:nvSpPr>
          <p:cNvPr id="23" name="">
            <a:extLst xmlns:a="http://schemas.openxmlformats.org/drawingml/2006/main">
              <a:ext uri="{FF2B5EF4-FFF2-40B4-BE49-F238E27FC236}">
                <a16:creationId xmlns:a16="http://schemas.microsoft.com/office/drawing/2014/main" id="{948CDEAD-2AA3-4312-ABB6-DB1F59C96AC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D6CE06C-ED0B-45A8-98D8-0D26C9B0867B}"/>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C8B962A-6DB0-4AEA-B198-03051AC2506C}"/>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48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2a: verkennen, theorie p. 45</a:t>
            </a:r>
          </a:p>
        </p:txBody>
      </p:sp>
      <p:sp>
        <p:nvSpPr>
          <p:cNvPr id="26" name="">
            <a:extLst xmlns:a="http://schemas.openxmlformats.org/drawingml/2006/main">
              <a:ext uri="{FF2B5EF4-FFF2-40B4-BE49-F238E27FC236}">
                <a16:creationId xmlns:a16="http://schemas.microsoft.com/office/drawing/2014/main" id="{AEC3C1F9-FC72-484E-9847-65533A8A3FC3}"/>
              </a:ext>
            </a:extLst>
          </p:cNvPr>
          <p:cNvSpPr>
            <a:spLocks xmlns:a="http://schemas.openxmlformats.org/drawingml/2006/main" noGrp="1"/>
          </p:cNvSpPr>
          <p:nvPr/>
        </p:nvSpPr>
        <p:spPr>
          <a:xfrm xmlns:a="http://schemas.openxmlformats.org/drawingml/2006/main">
            <a:off x="9258300" y="54102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A4AB2E1-E1F7-4581-9127-CFB24CDBB37C}"/>
              </a:ext>
            </a:extLst>
          </p:cNvPr>
          <p:cNvSpPr>
            <a:spLocks xmlns:a="http://schemas.openxmlformats.org/drawingml/2006/main" noGrp="1"/>
          </p:cNvSpPr>
          <p:nvPr/>
        </p:nvSpPr>
        <p:spPr>
          <a:xfrm xmlns:a="http://schemas.openxmlformats.org/drawingml/2006/main">
            <a:off x="9258300" y="56673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AAF804B-53D9-4936-B841-B7FE3D0A1A47}"/>
              </a:ext>
            </a:extLst>
          </p:cNvPr>
          <p:cNvSpPr>
            <a:spLocks xmlns:a="http://schemas.openxmlformats.org/drawingml/2006/main" noGrp="1"/>
          </p:cNvSpPr>
          <p:nvPr/>
        </p:nvSpPr>
        <p:spPr>
          <a:xfrm xmlns:a="http://schemas.openxmlformats.org/drawingml/2006/main">
            <a:off x="9258300" y="6200775"/>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§2.2.2 Elasticiteit en omzet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02993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2026-09-29T11:25:38.5990000Z</dcterms:created>
  <dcterms:modified xsi:type="dcterms:W3CDTF">2026-09-29T11:25:38.5990000Z</dcterms:modified>
</coreProperties>
</file>