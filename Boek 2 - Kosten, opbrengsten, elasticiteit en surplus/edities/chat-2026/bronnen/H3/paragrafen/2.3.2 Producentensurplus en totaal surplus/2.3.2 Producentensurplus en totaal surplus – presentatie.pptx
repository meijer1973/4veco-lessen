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1.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2.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3.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slides/charts/chart4.xml" ContentType="application/vnd.openxmlformats-officedocument.drawingml.chart+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slides/charts/chart5.xml" ContentType="application/vnd.openxmlformats-officedocument.drawingml.chart+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3411b5a674f24cdd" /><Relationship Type="http://schemas.openxmlformats.org/officeDocument/2006/relationships/extended-properties" Target="/docProps/app.xml" Id="R55b7407e14a344c1" /><Relationship Type="http://schemas.openxmlformats.org/officeDocument/2006/relationships/officeDocument" Target="/ppt/presentation.xml" Id="Rf8a43acf85724ca5" /></Relationships>
</file>

<file path=ppt/presentation.xml><?xml version="1.0" encoding="utf-8"?>
<p:presentation xmlns:p="http://schemas.openxmlformats.org/presentationml/2006/main">
  <p:sldMasterIdLst>
    <p:sldMasterId xmlns:r="http://schemas.openxmlformats.org/officeDocument/2006/relationships" id="2147483648" r:id="R98c8da11dcc04067"/>
  </p:sldMasterIdLst>
  <p:notesMasterIdLst>
    <p:notesMasterId xmlns:r="http://schemas.openxmlformats.org/officeDocument/2006/relationships" r:id="Rb11ecb26b2ac49a1"/>
  </p:notesMasterIdLst>
  <p:sldIdLst>
    <p:sldId xmlns:r="http://schemas.openxmlformats.org/officeDocument/2006/relationships" id="256" r:id="R289aa0aeb862441a"/>
    <p:sldId xmlns:r="http://schemas.openxmlformats.org/officeDocument/2006/relationships" id="257" r:id="Rdfd902995b1f4c67"/>
    <p:sldId xmlns:r="http://schemas.openxmlformats.org/officeDocument/2006/relationships" id="258" r:id="R72928353733d44d8"/>
    <p:sldId xmlns:r="http://schemas.openxmlformats.org/officeDocument/2006/relationships" id="259" r:id="R3fd1a6771bb342f6"/>
    <p:sldId xmlns:r="http://schemas.openxmlformats.org/officeDocument/2006/relationships" id="260" r:id="Re627762dc9d84b1f"/>
    <p:sldId xmlns:r="http://schemas.openxmlformats.org/officeDocument/2006/relationships" id="261" r:id="R7a4c8f5fa3984ab7"/>
    <p:sldId xmlns:r="http://schemas.openxmlformats.org/officeDocument/2006/relationships" id="262" r:id="Rfa772b40661745c3"/>
    <p:sldId xmlns:r="http://schemas.openxmlformats.org/officeDocument/2006/relationships" id="263" r:id="R59ba1ab9c0df4a0e"/>
    <p:sldId xmlns:r="http://schemas.openxmlformats.org/officeDocument/2006/relationships" id="264" r:id="R9a3ee96710bc4ad2"/>
    <p:sldId xmlns:r="http://schemas.openxmlformats.org/officeDocument/2006/relationships" id="265" r:id="R48301670e7864c7f"/>
    <p:sldId xmlns:r="http://schemas.openxmlformats.org/officeDocument/2006/relationships" id="266" r:id="Re9cc01d04d3048f8"/>
    <p:sldId xmlns:r="http://schemas.openxmlformats.org/officeDocument/2006/relationships" id="267" r:id="R558b9e6a4bfe4bc0"/>
    <p:sldId xmlns:r="http://schemas.openxmlformats.org/officeDocument/2006/relationships" id="268" r:id="R78da5c7b047145ea"/>
    <p:sldId xmlns:r="http://schemas.openxmlformats.org/officeDocument/2006/relationships" id="269" r:id="Rc13c500f822e4af4"/>
    <p:sldId xmlns:r="http://schemas.openxmlformats.org/officeDocument/2006/relationships" id="270" r:id="R244c3f3cd06f459a"/>
    <p:sldId xmlns:r="http://schemas.openxmlformats.org/officeDocument/2006/relationships" id="271" r:id="Re901faa1bb124f44"/>
    <p:sldId xmlns:r="http://schemas.openxmlformats.org/officeDocument/2006/relationships" id="272" r:id="R07023737899744c3"/>
    <p:sldId xmlns:r="http://schemas.openxmlformats.org/officeDocument/2006/relationships" id="273" r:id="R97b9e233d613470e"/>
    <p:sldId xmlns:r="http://schemas.openxmlformats.org/officeDocument/2006/relationships" id="274" r:id="R72d4db4b00af483a"/>
    <p:sldId xmlns:r="http://schemas.openxmlformats.org/officeDocument/2006/relationships" id="275" r:id="R4d46051ffac5466f"/>
    <p:sldId xmlns:r="http://schemas.openxmlformats.org/officeDocument/2006/relationships" id="276" r:id="Rc89c59503d7949f0"/>
    <p:sldId xmlns:r="http://schemas.openxmlformats.org/officeDocument/2006/relationships" id="277" r:id="R110a3d61378e40ed"/>
    <p:sldId xmlns:r="http://schemas.openxmlformats.org/officeDocument/2006/relationships" id="278" r:id="R9ff36f3d8b4b4005"/>
    <p:sldId xmlns:r="http://schemas.openxmlformats.org/officeDocument/2006/relationships" id="279" r:id="R571bf712e2574a8b"/>
    <p:sldId xmlns:r="http://schemas.openxmlformats.org/officeDocument/2006/relationships" id="280" r:id="R526d37d7b73f4f3b"/>
    <p:sldId xmlns:r="http://schemas.openxmlformats.org/officeDocument/2006/relationships" id="281" r:id="R27e9771945164122"/>
    <p:sldId xmlns:r="http://schemas.openxmlformats.org/officeDocument/2006/relationships" id="282" r:id="Rd189c3ae38884130"/>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f8bce012acd4c65" /><Relationship Type="http://schemas.openxmlformats.org/officeDocument/2006/relationships/slideMaster" Target="/ppt/slideMasters/slideMaster1.xml" Id="R98c8da11dcc04067" /><Relationship Type="http://schemas.openxmlformats.org/officeDocument/2006/relationships/notesMaster" Target="/ppt/notesMasters/notesMaster1.xml" Id="Rb11ecb26b2ac49a1" /><Relationship Type="http://schemas.openxmlformats.org/officeDocument/2006/relationships/presProps" Target="/ppt/presProps.xml" Id="R25ef4dfb37e448d8" /><Relationship Type="http://schemas.openxmlformats.org/officeDocument/2006/relationships/tableStyles" Target="/ppt/tableStyles.xml" Id="R92644b2e0d3a4ab0" /><Relationship Type="http://schemas.openxmlformats.org/officeDocument/2006/relationships/slide" Target="/ppt/slides/slide1.xml" Id="R289aa0aeb862441a" /><Relationship Type="http://schemas.openxmlformats.org/officeDocument/2006/relationships/slide" Target="/ppt/slides/slide2.xml" Id="Rdfd902995b1f4c67" /><Relationship Type="http://schemas.openxmlformats.org/officeDocument/2006/relationships/slide" Target="/ppt/slides/slide3.xml" Id="R72928353733d44d8" /><Relationship Type="http://schemas.openxmlformats.org/officeDocument/2006/relationships/slide" Target="/ppt/slides/slide4.xml" Id="R3fd1a6771bb342f6" /><Relationship Type="http://schemas.openxmlformats.org/officeDocument/2006/relationships/slide" Target="/ppt/slides/slide5.xml" Id="Re627762dc9d84b1f" /><Relationship Type="http://schemas.openxmlformats.org/officeDocument/2006/relationships/slide" Target="/ppt/slides/slide6.xml" Id="R7a4c8f5fa3984ab7" /><Relationship Type="http://schemas.openxmlformats.org/officeDocument/2006/relationships/slide" Target="/ppt/slides/slide7.xml" Id="Rfa772b40661745c3" /><Relationship Type="http://schemas.openxmlformats.org/officeDocument/2006/relationships/slide" Target="/ppt/slides/slide8.xml" Id="R59ba1ab9c0df4a0e" /><Relationship Type="http://schemas.openxmlformats.org/officeDocument/2006/relationships/slide" Target="/ppt/slides/slide9.xml" Id="R9a3ee96710bc4ad2" /><Relationship Type="http://schemas.openxmlformats.org/officeDocument/2006/relationships/slide" Target="/ppt/slides/slide10.xml" Id="R48301670e7864c7f" /><Relationship Type="http://schemas.openxmlformats.org/officeDocument/2006/relationships/slide" Target="/ppt/slides/slide11.xml" Id="Re9cc01d04d3048f8" /><Relationship Type="http://schemas.openxmlformats.org/officeDocument/2006/relationships/slide" Target="/ppt/slides/slide12.xml" Id="R558b9e6a4bfe4bc0" /><Relationship Type="http://schemas.openxmlformats.org/officeDocument/2006/relationships/slide" Target="/ppt/slides/slide13.xml" Id="R78da5c7b047145ea" /><Relationship Type="http://schemas.openxmlformats.org/officeDocument/2006/relationships/slide" Target="/ppt/slides/slide14.xml" Id="Rc13c500f822e4af4" /><Relationship Type="http://schemas.openxmlformats.org/officeDocument/2006/relationships/slide" Target="/ppt/slides/slide15.xml" Id="R244c3f3cd06f459a" /><Relationship Type="http://schemas.openxmlformats.org/officeDocument/2006/relationships/slide" Target="/ppt/slides/slide16.xml" Id="Re901faa1bb124f44" /><Relationship Type="http://schemas.openxmlformats.org/officeDocument/2006/relationships/slide" Target="/ppt/slides/slide17.xml" Id="R07023737899744c3" /><Relationship Type="http://schemas.openxmlformats.org/officeDocument/2006/relationships/slide" Target="/ppt/slides/slide18.xml" Id="R97b9e233d613470e" /><Relationship Type="http://schemas.openxmlformats.org/officeDocument/2006/relationships/slide" Target="/ppt/slides/slide19.xml" Id="R72d4db4b00af483a" /><Relationship Type="http://schemas.openxmlformats.org/officeDocument/2006/relationships/slide" Target="/ppt/slides/slide20.xml" Id="R4d46051ffac5466f" /><Relationship Type="http://schemas.openxmlformats.org/officeDocument/2006/relationships/slide" Target="/ppt/slides/slide21.xml" Id="Rc89c59503d7949f0" /><Relationship Type="http://schemas.openxmlformats.org/officeDocument/2006/relationships/slide" Target="/ppt/slides/slide22.xml" Id="R110a3d61378e40ed" /><Relationship Type="http://schemas.openxmlformats.org/officeDocument/2006/relationships/slide" Target="/ppt/slides/slide23.xml" Id="R9ff36f3d8b4b4005" /><Relationship Type="http://schemas.openxmlformats.org/officeDocument/2006/relationships/slide" Target="/ppt/slides/slide24.xml" Id="R571bf712e2574a8b" /><Relationship Type="http://schemas.openxmlformats.org/officeDocument/2006/relationships/slide" Target="/ppt/slides/slide25.xml" Id="R526d37d7b73f4f3b" /><Relationship Type="http://schemas.openxmlformats.org/officeDocument/2006/relationships/slide" Target="/ppt/slides/slide26.xml" Id="R27e9771945164122" /><Relationship Type="http://schemas.openxmlformats.org/officeDocument/2006/relationships/slide" Target="/ppt/slides/slide27.xml" Id="Rd189c3ae3888413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393467ae530401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4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d9541f6864144a3" /><Relationship Type="http://schemas.openxmlformats.org/officeDocument/2006/relationships/notesMaster" Target="/ppt/notesMasters/notesMaster1.xml" Id="R78a33cc614eb4715" /></Relationships>
</file>

<file path=ppt/notesSlides/_rels/notesSlide2.xml.rels>&#65279;<?xml version="1.0" encoding="utf-8"?><Relationships xmlns="http://schemas.openxmlformats.org/package/2006/relationships"><Relationship Type="http://schemas.openxmlformats.org/officeDocument/2006/relationships/slide" Target="/ppt/slides/slide2.xml" Id="R79cd17ea5a1b4e9a" /><Relationship Type="http://schemas.openxmlformats.org/officeDocument/2006/relationships/notesMaster" Target="/ppt/notesMasters/notesMaster1.xml" Id="Reb6ac63cc49e4f72" /></Relationships>
</file>

<file path=ppt/notesSlides/_rels/notesSlide3.xml.rels>&#65279;<?xml version="1.0" encoding="utf-8"?><Relationships xmlns="http://schemas.openxmlformats.org/package/2006/relationships"><Relationship Type="http://schemas.openxmlformats.org/officeDocument/2006/relationships/slide" Target="/ppt/slides/slide3.xml" Id="Ree76233471a3423b" /><Relationship Type="http://schemas.openxmlformats.org/officeDocument/2006/relationships/notesMaster" Target="/ppt/notesMasters/notesMaster1.xml" Id="R436e72f67c8d481b" /></Relationships>
</file>

<file path=ppt/notesSlides/_rels/notesSlide4.xml.rels>&#65279;<?xml version="1.0" encoding="utf-8"?><Relationships xmlns="http://schemas.openxmlformats.org/package/2006/relationships"><Relationship Type="http://schemas.openxmlformats.org/officeDocument/2006/relationships/slide" Target="/ppt/slides/slide4.xml" Id="Rbc0ebcb7022e4101" /><Relationship Type="http://schemas.openxmlformats.org/officeDocument/2006/relationships/notesMaster" Target="/ppt/notesMasters/notesMaster1.xml" Id="R172ce3a2b0594a3f" /></Relationships>
</file>

<file path=ppt/notesSlides/_rels/notesSlide5.xml.rels>&#65279;<?xml version="1.0" encoding="utf-8"?><Relationships xmlns="http://schemas.openxmlformats.org/package/2006/relationships"><Relationship Type="http://schemas.openxmlformats.org/officeDocument/2006/relationships/slide" Target="/ppt/slides/slide5.xml" Id="Rcf0c35c0fc684778" /><Relationship Type="http://schemas.openxmlformats.org/officeDocument/2006/relationships/notesMaster" Target="/ppt/notesMasters/notesMaster1.xml" Id="R92f7dabaec3747f5" /></Relationships>
</file>

<file path=ppt/notesSlides/_rels/notesSlide6.xml.rels>&#65279;<?xml version="1.0" encoding="utf-8"?><Relationships xmlns="http://schemas.openxmlformats.org/package/2006/relationships"><Relationship Type="http://schemas.openxmlformats.org/officeDocument/2006/relationships/slide" Target="/ppt/slides/slide6.xml" Id="Re36f3b01231141a6" /><Relationship Type="http://schemas.openxmlformats.org/officeDocument/2006/relationships/notesMaster" Target="/ppt/notesMasters/notesMaster1.xml" Id="R2d3a7b94b3424df3" /></Relationships>
</file>

<file path=ppt/notesSlides/_rels/notesSlide7.xml.rels>&#65279;<?xml version="1.0" encoding="utf-8"?><Relationships xmlns="http://schemas.openxmlformats.org/package/2006/relationships"><Relationship Type="http://schemas.openxmlformats.org/officeDocument/2006/relationships/slide" Target="/ppt/slides/slide7.xml" Id="Re86435697b6849a4" /><Relationship Type="http://schemas.openxmlformats.org/officeDocument/2006/relationships/notesMaster" Target="/ppt/notesMasters/notesMaster1.xml" Id="R25e2357c56464c87" /></Relationships>
</file>

<file path=ppt/notesSlides/_rels/notesSlide8.xml.rels>&#65279;<?xml version="1.0" encoding="utf-8"?><Relationships xmlns="http://schemas.openxmlformats.org/package/2006/relationships"><Relationship Type="http://schemas.openxmlformats.org/officeDocument/2006/relationships/slide" Target="/ppt/slides/slide8.xml" Id="Rc1376ef1cf0d4a46" /><Relationship Type="http://schemas.openxmlformats.org/officeDocument/2006/relationships/notesMaster" Target="/ppt/notesMasters/notesMaster1.xml" Id="R1c4e66de785b4aab" /></Relationships>
</file>

<file path=ppt/notesSlides/_rels/notesSlide9.xml.rels>&#65279;<?xml version="1.0" encoding="utf-8"?><Relationships xmlns="http://schemas.openxmlformats.org/package/2006/relationships"><Relationship Type="http://schemas.openxmlformats.org/officeDocument/2006/relationships/slide" Target="/ppt/slides/slide9.xml" Id="R838d1d3448e846ed" /><Relationship Type="http://schemas.openxmlformats.org/officeDocument/2006/relationships/notesMaster" Target="/ppt/notesMasters/notesMaster1.xml" Id="R0fd10fb6bb6a4b3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556d7ef03ef4ad5" /><Relationship Type="http://schemas.openxmlformats.org/officeDocument/2006/relationships/notesMaster" Target="/ppt/notesMasters/notesMaster1.xml" Id="Rcae7cb4e2ffc432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3c1e14c61a0476c" /><Relationship Type="http://schemas.openxmlformats.org/officeDocument/2006/relationships/notesMaster" Target="/ppt/notesMasters/notesMaster1.xml" Id="Rd202ed474cfb4ba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3649ca7eefe4311" /><Relationship Type="http://schemas.openxmlformats.org/officeDocument/2006/relationships/notesMaster" Target="/ppt/notesMasters/notesMaster1.xml" Id="R5eb58f2ad72244f3"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cb927272c2cc4dfd" /><Relationship Type="http://schemas.openxmlformats.org/officeDocument/2006/relationships/notesMaster" Target="/ppt/notesMasters/notesMaster1.xml" Id="Re5b537c65d004c1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598813715dc54292" /><Relationship Type="http://schemas.openxmlformats.org/officeDocument/2006/relationships/notesMaster" Target="/ppt/notesMasters/notesMaster1.xml" Id="R62ae224420c344f5"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d67e7dc2cf4c464f" /><Relationship Type="http://schemas.openxmlformats.org/officeDocument/2006/relationships/notesMaster" Target="/ppt/notesMasters/notesMaster1.xml" Id="R72391b9fb4aa452e"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099ed86d61f5408f" /><Relationship Type="http://schemas.openxmlformats.org/officeDocument/2006/relationships/notesMaster" Target="/ppt/notesMasters/notesMaster1.xml" Id="Re8415a5e83f941e3"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0d23846506444de6" /><Relationship Type="http://schemas.openxmlformats.org/officeDocument/2006/relationships/notesMaster" Target="/ppt/notesMasters/notesMaster1.xml" Id="R1377bf92a9d545ce"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11308b7d25014d87" /><Relationship Type="http://schemas.openxmlformats.org/officeDocument/2006/relationships/notesMaster" Target="/ppt/notesMasters/notesMaster1.xml" Id="R23cc2cca1a3a4e27"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045759806f0b4a70" /><Relationship Type="http://schemas.openxmlformats.org/officeDocument/2006/relationships/notesMaster" Target="/ppt/notesMasters/notesMaster1.xml" Id="R10a8c03fd5834e0f"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783c8a1b9d59479a" /><Relationship Type="http://schemas.openxmlformats.org/officeDocument/2006/relationships/notesMaster" Target="/ppt/notesMasters/notesMaster1.xml" Id="Rb7f90971d3a845af"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ac9f9296c0a0458b" /><Relationship Type="http://schemas.openxmlformats.org/officeDocument/2006/relationships/notesMaster" Target="/ppt/notesMasters/notesMaster1.xml" Id="R99bf456800824c6d"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8e0b08241a244549" /><Relationship Type="http://schemas.openxmlformats.org/officeDocument/2006/relationships/notesMaster" Target="/ppt/notesMasters/notesMaster1.xml" Id="Re7cbab9ca2d64863"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59da3b98249c482f" /><Relationship Type="http://schemas.openxmlformats.org/officeDocument/2006/relationships/notesMaster" Target="/ppt/notesMasters/notesMaster1.xml" Id="Ra0aaf5286d534fce"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e978319d1f3d4ce6" /><Relationship Type="http://schemas.openxmlformats.org/officeDocument/2006/relationships/notesMaster" Target="/ppt/notesMasters/notesMaster1.xml" Id="R417253b7067548b9"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c3475c3159c34daa" /><Relationship Type="http://schemas.openxmlformats.org/officeDocument/2006/relationships/notesMaster" Target="/ppt/notesMasters/notesMaster1.xml" Id="Rf9a7e69d86e84146"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27ec1428f6594b10" /><Relationship Type="http://schemas.openxmlformats.org/officeDocument/2006/relationships/notesMaster" Target="/ppt/notesMasters/notesMaster1.xml" Id="R17514294db264626"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575f49184c3342b9" /><Relationship Type="http://schemas.openxmlformats.org/officeDocument/2006/relationships/notesMaster" Target="/ppt/notesMasters/notesMaster1.xml" Id="Rea5290a0c40f486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uitleg op p. 81 helpt bij startopgave 2?</a:t>
            </a:r>
          </a:p>
          <a:p xmlns:a="http://schemas.openxmlformats.org/drawingml/2006/main">
            <a:r>
              <a:rPr sz="1400"/>
              <a:t/>
            </a:r>
          </a:p>
          <a:p xmlns:a="http://schemas.openxmlformats.org/drawingml/2006/main">
            <a:r>
              <a:rPr sz="1400"/>
              <a:t>Uitleg: Laat het overzicht staan tijdens startopdracht. Start: 1–2 op p. 85. Basis: 3 op p. 86, 4–5 op p. 87. Zelfstandig: 6–7 op p. 88. Doel: 8, bronnen p. 89 en vragen p. 90. Huiswerk 3–8 maken en nakijken. Bonus 9 en herhaling 10–11 zijn extra. De volledige route hoeft niet in één les af. Opgave 1 haalt evenwicht op uit §1.3.2, maar daar stonden Qv(P) en Qa(P). De inverse vorm P(Q) is een verandering van voorstelling. Geef daarom zo nodig vooraf de steun op p. 83: beide formules geven P bij dezelfde Q; stel ze gelijk, los Q op en vul in. Laat dit na dia 7 opnieuw verwoorden. In opgave 2 is kopersvoordeel bekend uit §2.3.1, maar verkopersvoordeel en het wegvallen van de prijs zijn nieuw. Laat de leerling eerst op p. 81 de twee voordelen en figuur 1 lezen, de passende verschillen aanwijzen en twijfel noteren. Dit is verkennen met steun. Bij terugkeer vóór basiswerk: laat 2a–b opnieuw proberen en vraag waarom de betaling wegvalt. Bespreek dan zo nodig de antwoorden: CS 3, PS 4, samen 7 euro.</a:t>
            </a:r>
          </a:p>
          <a:p xmlns:a="http://schemas.openxmlformats.org/drawingml/2006/main">
            <a:r>
              <a:rPr sz="1400"/>
              <a:t/>
            </a:r>
          </a:p>
          <a:p xmlns:a="http://schemas.openxmlformats.org/drawingml/2006/main">
            <a:r>
              <a:rPr sz="1400"/>
              <a:t>Misvatting: Nieuwe leerstof in startopgave 2 is nog geen veronderstelde beheersing. Een startscore bepaalt niet automatisch de oefenroute.</a:t>
            </a:r>
          </a:p>
          <a:p xmlns:a="http://schemas.openxmlformats.org/drawingml/2006/main">
            <a:r>
              <a:rPr sz="1400"/>
              <a:t/>
            </a:r>
          </a:p>
          <a:p xmlns:a="http://schemas.openxmlformats.org/drawingml/2006/main">
            <a:r>
              <a:rPr sz="1400"/>
              <a:t>Overgang: Ga verder met de lesfase op het overzicht.</a:t>
            </a:r>
          </a:p>
          <a:p xmlns:a="http://schemas.openxmlformats.org/drawingml/2006/main">
            <a:r>
              <a:rPr sz="1400"/>
              <a:t/>
            </a:r>
          </a:p>
          <a:p xmlns:a="http://schemas.openxmlformats.org/drawingml/2006/main">
            <a:r>
              <a:rPr sz="1400"/>
              <a:t>Bron: leerlingenboek Boek 2, chat-2026, gedrukte pagina 81, 85–90. https://github.com/meijer1973/4veco-lessen/blob/a8940a7a79e22857a3e306a91fe923c48c63e716/Boek%202%20-%20Kosten%2C%20opbrengsten%2C%20elasticiteit%20en%20surplus/edities/chat-2026/boek/Boek_2_Compleet.pdf</a:t>
            </a:r>
          </a:p>
          <a:p xmlns:a="http://schemas.openxmlformats.org/drawingml/2006/main">
            <a:r>
              <a:rPr sz="1400"/>
              <a:t>Antwoordmodel: https://github.com/meijer1973/4veco-lessen/blob/a8940a7a79e22857a3e306a91fe923c48c63e716/Boek%202%20-%20Kosten%2C%20opbrengsten%2C%20elasticiteit%20en%20surplus/edities/chat-2026/boek/Boek_2_Compleet_Antwoorden.pdf</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Wat betekenen betalingsbereidheid en MK?</a:t>
            </a:r>
          </a:p>
          <a:p xmlns:a="http://schemas.openxmlformats.org/drawingml/2006/main">
            <a:r>
              <a:rPr sz="1400"/>
              <a:t/>
            </a:r>
          </a:p>
          <a:p xmlns:a="http://schemas.openxmlformats.org/drawingml/2006/main">
            <a:r>
              <a:rPr sz="1400"/>
              <a:t>Uitleg: De les bereidt voor op opgave 8a–e. Haal betalingsbereidheid en de driehoeksformule op uit §2.3.1 (p. 73–76). MK zijn extra kosten per extra product (§2.1.3, p. 19–21). We gaan van één transactie naar een doorlopende marktgrafiek.</a:t>
            </a:r>
          </a:p>
          <a:p xmlns:a="http://schemas.openxmlformats.org/drawingml/2006/main">
            <a:r>
              <a:rPr sz="1400"/>
              <a:t/>
            </a:r>
          </a:p>
          <a:p xmlns:a="http://schemas.openxmlformats.org/drawingml/2006/main">
            <a:r>
              <a:rPr sz="1400"/>
              <a:t>Misvatting: Een oppervlakte geeft euro, een hoogte euro per product.</a:t>
            </a:r>
          </a:p>
          <a:p xmlns:a="http://schemas.openxmlformats.org/drawingml/2006/main">
            <a:r>
              <a:rPr sz="1400"/>
              <a:t/>
            </a:r>
          </a:p>
          <a:p xmlns:a="http://schemas.openxmlformats.org/drawingml/2006/main">
            <a:r>
              <a:rPr sz="1400"/>
              <a:t>Overgang: Bekijk eerst één transactie.</a:t>
            </a:r>
          </a:p>
          <a:p xmlns:a="http://schemas.openxmlformats.org/drawingml/2006/main">
            <a:r>
              <a:rPr sz="1400"/>
              <a:t/>
            </a:r>
          </a:p>
          <a:p xmlns:a="http://schemas.openxmlformats.org/drawingml/2006/main">
            <a:r>
              <a:rPr sz="1400"/>
              <a:t>Bron: leerlingenboek Boek 2, chat-2026, gedrukte pagina 81–85. https://github.com/meijer1973/4veco-lessen/blob/a8940a7a79e22857a3e306a91fe923c48c63e716/Boek%202%20-%20Kosten%2C%20opbrengsten%2C%20elasticiteit%20en%20surplus/edities/chat-2026/boek/Boek_2_Compleet.pdf</a:t>
            </a:r>
          </a:p>
          <a:p xmlns:a="http://schemas.openxmlformats.org/drawingml/2006/main">
            <a:r>
              <a:rPr sz="1400"/>
              <a:t>Antwoordmodel: https://github.com/meijer1973/4veco-lessen/blob/a8940a7a79e22857a3e306a91fe923c48c63e716/Boek%202%20-%20Kosten%2C%20opbrengsten%2C%20elasticiteit%20en%20surplus/edities/chat-2026/boek/Boek_2_Compleet_Antwoorden.pdf</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tellen we de prijs niet nog eens bij € 18 op?</a:t>
            </a:r>
          </a:p>
          <a:p xmlns:a="http://schemas.openxmlformats.org/drawingml/2006/main">
            <a:r>
              <a:rPr sz="1400"/>
              <a:t/>
            </a:r>
          </a:p>
          <a:p xmlns:a="http://schemas.openxmlformats.org/drawingml/2006/main">
            <a:r>
              <a:rPr sz="1400"/>
              <a:t>Uitleg: MK zijn de extra kosten van de sleutelhanger. De koper waardeert deze hoger dan de prijs. De verkoper ontvangt meer dan MK. Dezelfde betaling van 11 gaat van koper naar verkoper en valt bij optellen weg. Het gezamenlijke voordeel is betalingsbereidheid min MK.</a:t>
            </a:r>
          </a:p>
          <a:p xmlns:a="http://schemas.openxmlformats.org/drawingml/2006/main">
            <a:r>
              <a:rPr sz="1400"/>
              <a:t/>
            </a:r>
          </a:p>
          <a:p xmlns:a="http://schemas.openxmlformats.org/drawingml/2006/main">
            <a:r>
              <a:rPr sz="1400"/>
              <a:t>Misvatting: Voordeel is geen terugbetaling. PS is evenmin automatisch winst.</a:t>
            </a:r>
          </a:p>
          <a:p xmlns:a="http://schemas.openxmlformats.org/drawingml/2006/main">
            <a:r>
              <a:rPr sz="1400"/>
              <a:t/>
            </a:r>
          </a:p>
          <a:p xmlns:a="http://schemas.openxmlformats.org/drawingml/2006/main">
            <a:r>
              <a:rPr sz="1400"/>
              <a:t>Overgang: Maak het onderscheid met winst expliciet.</a:t>
            </a:r>
          </a:p>
          <a:p xmlns:a="http://schemas.openxmlformats.org/drawingml/2006/main">
            <a:r>
              <a:rPr sz="1400"/>
              <a:t/>
            </a:r>
          </a:p>
          <a:p xmlns:a="http://schemas.openxmlformats.org/drawingml/2006/main">
            <a:r>
              <a:rPr sz="1400"/>
              <a:t>Bron: leerlingenboek Boek 2, chat-2026, gedrukte pagina 81. https://github.com/meijer1973/4veco-lessen/blob/a8940a7a79e22857a3e306a91fe923c48c63e716/Boek%202%20-%20Kosten%2C%20opbrengsten%2C%20elasticiteit%20en%20surplus/edities/chat-2026/boek/Boek_2_Compleet.pdf</a:t>
            </a:r>
          </a:p>
          <a:p xmlns:a="http://schemas.openxmlformats.org/drawingml/2006/main">
            <a:r>
              <a:rPr sz="1400"/>
              <a:t>Antwoordmodel: https://github.com/meijer1973/4veco-lessen/blob/a8940a7a79e22857a3e306a91fe923c48c63e716/Boek%202%20-%20Kosten%2C%20opbrengsten%2C%20elasticiteit%20en%20surplus/edities/chat-2026/boek/Boek_2_Compleet_Antwoorden.pdf</a:t>
            </a:r>
          </a:p>
          <a:p xmlns:a="http://schemas.openxmlformats.org/drawingml/2006/main">
            <a:r>
              <a:rPr sz="1400"/>
              <a:t>Uitlegvoorbeeld — niet uit het boek. Context en getallen zijn voor deze les gemaakt. De boekverwijzing betreft alleen de methode.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Kun je uit alleen PS een winstbedrag afleiden?</a:t>
            </a:r>
          </a:p>
          <a:p xmlns:a="http://schemas.openxmlformats.org/drawingml/2006/main">
            <a:r>
              <a:rPr sz="1400"/>
              <a:t/>
            </a:r>
          </a:p>
          <a:p xmlns:a="http://schemas.openxmlformats.org/drawingml/2006/main">
            <a:r>
              <a:rPr sz="1400"/>
              <a:t>Uitleg: Bij het doorlopende marktmodel geeft het gebied onder MK de variabele productiekosten weer. Het surplus daarboven is nog nodig om vaste kosten te dekken. Zonder de vaste kosten kun je geen winstgetal noemen. Verbind dit met TK, TVK en TCK uit §2.1.1.</a:t>
            </a:r>
          </a:p>
          <a:p xmlns:a="http://schemas.openxmlformats.org/drawingml/2006/main">
            <a:r>
              <a:rPr sz="1400"/>
              <a:t/>
            </a:r>
          </a:p>
          <a:p xmlns:a="http://schemas.openxmlformats.org/drawingml/2006/main">
            <a:r>
              <a:rPr sz="1400"/>
              <a:t>Misvatting: Het hele prijs-maal-hoeveelheidgebied is omzet, niet PS.</a:t>
            </a:r>
          </a:p>
          <a:p xmlns:a="http://schemas.openxmlformats.org/drawingml/2006/main">
            <a:r>
              <a:rPr sz="1400"/>
              <a:t/>
            </a:r>
          </a:p>
          <a:p xmlns:a="http://schemas.openxmlformats.org/drawingml/2006/main">
            <a:r>
              <a:rPr sz="1400"/>
              <a:t>Overgang: Bekijk twee veranderingen bij dezelfde transactie.</a:t>
            </a:r>
          </a:p>
          <a:p xmlns:a="http://schemas.openxmlformats.org/drawingml/2006/main">
            <a:r>
              <a:rPr sz="1400"/>
              <a:t/>
            </a:r>
          </a:p>
          <a:p xmlns:a="http://schemas.openxmlformats.org/drawingml/2006/main">
            <a:r>
              <a:rPr sz="1400"/>
              <a:t>Bron: leerlingenboek Boek 2, chat-2026, gedrukte pagina 81–82. https://github.com/meijer1973/4veco-lessen/blob/a8940a7a79e22857a3e306a91fe923c48c63e716/Boek%202%20-%20Kosten%2C%20opbrengsten%2C%20elasticiteit%20en%20surplus/edities/chat-2026/boek/Boek_2_Compleet.pdf</a:t>
            </a:r>
          </a:p>
          <a:p xmlns:a="http://schemas.openxmlformats.org/drawingml/2006/main">
            <a:r>
              <a:rPr sz="1400"/>
              <a:t>Antwoordmodel: https://github.com/meijer1973/4veco-lessen/blob/a8940a7a79e22857a3e306a91fe923c48c63e716/Boek%202%20-%20Kosten%2C%20opbrengsten%2C%20elasticiteit%20en%20surplus/edities/chat-2026/boek/Boek_2_Compleet_Antwoorden.pdf</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versterken de twee effecten elkaar?</a:t>
            </a:r>
          </a:p>
          <a:p xmlns:a="http://schemas.openxmlformats.org/drawingml/2006/main">
            <a:r>
              <a:rPr sz="1400"/>
              <a:t/>
            </a:r>
          </a:p>
          <a:p xmlns:a="http://schemas.openxmlformats.org/drawingml/2006/main">
            <a:r>
              <a:rPr sz="1400"/>
              <a:t>Uitleg: Ondersteunt basisopgave 5 met eigen getallen. Neem steeds eerst de beginsituatie. Hogere bereidheid: 20−11=9, dus CS neemt 2 toe. Lagere MK: 11−4=7, dus PS neemt 2 toe. Samen: 20−4=16, stijging 4. Laat leerlingen de effecten apart benoemen voordat de laatste rij besproken wordt.</a:t>
            </a:r>
          </a:p>
          <a:p xmlns:a="http://schemas.openxmlformats.org/drawingml/2006/main">
            <a:r>
              <a:rPr sz="1400"/>
              <a:t/>
            </a:r>
          </a:p>
          <a:p xmlns:a="http://schemas.openxmlformats.org/drawingml/2006/main">
            <a:r>
              <a:rPr sz="1400"/>
              <a:t>Misvatting: Een stijgend en een dalend invoergetal betekenen niet tegengestelde veranderingen van voordeel.</a:t>
            </a:r>
          </a:p>
          <a:p xmlns:a="http://schemas.openxmlformats.org/drawingml/2006/main">
            <a:r>
              <a:rPr sz="1400"/>
              <a:t/>
            </a:r>
          </a:p>
          <a:p xmlns:a="http://schemas.openxmlformats.org/drawingml/2006/main">
            <a:r>
              <a:rPr sz="1400"/>
              <a:t>Overgang: Ga nu van één transactie naar een doorlopende markt.</a:t>
            </a:r>
          </a:p>
          <a:p xmlns:a="http://schemas.openxmlformats.org/drawingml/2006/main">
            <a:r>
              <a:rPr sz="1400"/>
              <a:t/>
            </a:r>
          </a:p>
          <a:p xmlns:a="http://schemas.openxmlformats.org/drawingml/2006/main">
            <a:r>
              <a:rPr sz="1400"/>
              <a:t>Bron: leerlingenboek Boek 2, chat-2026, gedrukte pagina 81, 87. https://github.com/meijer1973/4veco-lessen/blob/a8940a7a79e22857a3e306a91fe923c48c63e716/Boek%202%20-%20Kosten%2C%20opbrengsten%2C%20elasticiteit%20en%20surplus/edities/chat-2026/boek/Boek_2_Compleet.pdf</a:t>
            </a:r>
          </a:p>
          <a:p xmlns:a="http://schemas.openxmlformats.org/drawingml/2006/main">
            <a:r>
              <a:rPr sz="1400"/>
              <a:t>Antwoordmodel: https://github.com/meijer1973/4veco-lessen/blob/a8940a7a79e22857a3e306a91fe923c48c63e716/Boek%202%20-%20Kosten%2C%20opbrengsten%2C%20elasticiteit%20en%20surplus/edities/chat-2026/boek/Boek_2_Compleet_Antwoorden.pdf</a:t>
            </a:r>
          </a:p>
          <a:p xmlns:a="http://schemas.openxmlformats.org/drawingml/2006/main">
            <a:r>
              <a:rPr sz="1400"/>
              <a:t>Uitlegvoorbeeld — niet uit het boek. Context en getallen zijn voor deze les gemaakt. De boekverwijzing betreft alleen de methode.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MK lees je bij Q=48?</a:t>
            </a:r>
          </a:p>
          <a:p xmlns:a="http://schemas.openxmlformats.org/drawingml/2006/main">
            <a:r>
              <a:rPr sz="1400"/>
              <a:t/>
            </a:r>
          </a:p>
          <a:p xmlns:a="http://schemas.openxmlformats.org/drawingml/2006/main">
            <a:r>
              <a:rPr sz="1400"/>
              <a:t>Uitleg: Dit eigen marktvoorbeeld gebruikt Q in fietsbellen en P in euro per fietsbel. Binnen 0≤Q≤56 stelt A de marginale kosten van iedere opeenvolgende eenheid voor, ook van niet verkochte eenheden. Dat is een gegeven modelaanname. §2.1.3 leerde MK als intervalgemiddelde uit een tabel; hier lezen we MK rechtstreeks op een doorlopende lijn. Verder naar rechts betreft steeds een extra eenheid met hogere kosten.</a:t>
            </a:r>
          </a:p>
          <a:p xmlns:a="http://schemas.openxmlformats.org/drawingml/2006/main">
            <a:r>
              <a:rPr sz="1400"/>
              <a:t/>
            </a:r>
          </a:p>
          <a:p xmlns:a="http://schemas.openxmlformats.org/drawingml/2006/main">
            <a:r>
              <a:rPr sz="1400"/>
              <a:t>Misvatting: Een aanbodlijn mag niet zonder modelaanname altijd met MK worden gelijkgesteld. Een punt op MK geeft niet de totale kosten.</a:t>
            </a:r>
          </a:p>
          <a:p xmlns:a="http://schemas.openxmlformats.org/drawingml/2006/main">
            <a:r>
              <a:rPr sz="1400"/>
              <a:t/>
            </a:r>
          </a:p>
          <a:p xmlns:a="http://schemas.openxmlformats.org/drawingml/2006/main">
            <a:r>
              <a:rPr sz="1400"/>
              <a:t>Overgang: Combineer aanbod met vraag om de verhandelde hoeveelheid te bepalen.</a:t>
            </a:r>
          </a:p>
          <a:p xmlns:a="http://schemas.openxmlformats.org/drawingml/2006/main">
            <a:r>
              <a:rPr sz="1400"/>
              <a:t/>
            </a:r>
          </a:p>
          <a:p xmlns:a="http://schemas.openxmlformats.org/drawingml/2006/main">
            <a:r>
              <a:rPr sz="1400"/>
              <a:t>Bron: leerlingenboek Boek 2, chat-2026, gedrukte pagina 82. https://github.com/meijer1973/4veco-lessen/blob/a8940a7a79e22857a3e306a91fe923c48c63e716/Boek%202%20-%20Kosten%2C%20opbrengsten%2C%20elasticiteit%20en%20surplus/edities/chat-2026/boek/Boek_2_Compleet.pdf</a:t>
            </a:r>
          </a:p>
          <a:p xmlns:a="http://schemas.openxmlformats.org/drawingml/2006/main">
            <a:r>
              <a:rPr sz="1400"/>
              <a:t>Antwoordmodel: https://github.com/meijer1973/4veco-lessen/blob/a8940a7a79e22857a3e306a91fe923c48c63e716/Boek%202%20-%20Kosten%2C%20opbrengsten%2C%20elasticiteit%20en%20surplus/edities/chat-2026/boek/Boek_2_Compleet_Antwoorden.pdf</a:t>
            </a:r>
          </a:p>
          <a:p xmlns:a="http://schemas.openxmlformats.org/drawingml/2006/main">
            <a:r>
              <a:rPr sz="1400"/>
              <a:t>Uitlegvoorbeeld — niet uit het boek. Context en getallen zijn voor deze les gemaakt. De boekverwijzing betreft alleen de methode.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kun je deze twee uitdrukkingen gelijkstellen?</a:t>
            </a:r>
          </a:p>
          <a:p xmlns:a="http://schemas.openxmlformats.org/drawingml/2006/main">
            <a:r>
              <a:rPr sz="1400"/>
              <a:t/>
            </a:r>
          </a:p>
          <a:p xmlns:a="http://schemas.openxmlformats.org/drawingml/2006/main">
            <a:r>
              <a:rPr sz="1400"/>
              <a:t>Uitleg: Herhaal de oude evenwichtsprocedure uit §1.3.2 met inverse functies. Beide geven P bij dezelfde Q, dus gelijkstellen. Tel 0,5Q aan beide kanten op en trek 4 af: 24=0,75Q. Deel door 0,75. Controleer de prijs in beide functies. We gebruiken vrije handel zonder extra handelskosten of gevolgen voor anderen. De laagste MK en hoogste betalingsbereidheid bepalen de verhandelde eenheden.</a:t>
            </a:r>
          </a:p>
          <a:p xmlns:a="http://schemas.openxmlformats.org/drawingml/2006/main">
            <a:r>
              <a:rPr sz="1400"/>
              <a:t/>
            </a:r>
          </a:p>
          <a:p xmlns:a="http://schemas.openxmlformats.org/drawingml/2006/main">
            <a:r>
              <a:rPr sz="1400"/>
              <a:t>Misvatting: Alleen Q bij een gegeven prijs berekenen, zoals §2.3.1, is nog geen evenwicht berekenen.</a:t>
            </a:r>
          </a:p>
          <a:p xmlns:a="http://schemas.openxmlformats.org/drawingml/2006/main">
            <a:r>
              <a:rPr sz="1400"/>
              <a:t/>
            </a:r>
          </a:p>
          <a:p xmlns:a="http://schemas.openxmlformats.org/drawingml/2006/main">
            <a:r>
              <a:rPr sz="1400"/>
              <a:t>Overgang: Markeer de berekende combinatie op de gegeven lijnen.</a:t>
            </a:r>
          </a:p>
          <a:p xmlns:a="http://schemas.openxmlformats.org/drawingml/2006/main">
            <a:r>
              <a:rPr sz="1400"/>
              <a:t/>
            </a:r>
          </a:p>
          <a:p xmlns:a="http://schemas.openxmlformats.org/drawingml/2006/main">
            <a:r>
              <a:rPr sz="1400"/>
              <a:t>Bron: leerlingenboek Boek 2, chat-2026, gedrukte pagina 83–84. https://github.com/meijer1973/4veco-lessen/blob/a8940a7a79e22857a3e306a91fe923c48c63e716/Boek%202%20-%20Kosten%2C%20opbrengsten%2C%20elasticiteit%20en%20surplus/edities/chat-2026/boek/Boek_2_Compleet.pdf</a:t>
            </a:r>
          </a:p>
          <a:p xmlns:a="http://schemas.openxmlformats.org/drawingml/2006/main">
            <a:r>
              <a:rPr sz="1400"/>
              <a:t>Antwoordmodel: https://github.com/meijer1973/4veco-lessen/blob/a8940a7a79e22857a3e306a91fe923c48c63e716/Boek%202%20-%20Kosten%2C%20opbrengsten%2C%20elasticiteit%20en%20surplus/edities/chat-2026/boek/Boek_2_Compleet_Antwoorden.pdf</a:t>
            </a:r>
          </a:p>
          <a:p xmlns:a="http://schemas.openxmlformats.org/drawingml/2006/main">
            <a:r>
              <a:rPr sz="1400"/>
              <a:t>Uitlegvoorbeeld — niet uit het boek. Context en getallen zijn voor deze les gemaakt. De boekverwijzing betreft alleen de methode.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coördinaat hoort op de horizontale as?</a:t>
            </a:r>
          </a:p>
          <a:p xmlns:a="http://schemas.openxmlformats.org/drawingml/2006/main">
            <a:r>
              <a:rPr sz="1400"/>
              <a:t/>
            </a:r>
          </a:p>
          <a:p xmlns:a="http://schemas.openxmlformats.org/drawingml/2006/main">
            <a:r>
              <a:rPr sz="1400"/>
              <a:t>Uitleg: De horizontale as is Q, de verticale P. E staat bij (hoeveelheid; prijs). Gebruik de hulplijnen om de coördinaten te lezen. Alleen de 32 verhandelde fietsbellen tellen mee in het surplus.</a:t>
            </a:r>
          </a:p>
          <a:p xmlns:a="http://schemas.openxmlformats.org/drawingml/2006/main">
            <a:r>
              <a:rPr sz="1400"/>
              <a:t/>
            </a:r>
          </a:p>
          <a:p xmlns:a="http://schemas.openxmlformats.org/drawingml/2006/main">
            <a:r>
              <a:rPr sz="1400"/>
              <a:t>Misvatting: Verwissel (Q;P) niet met (P;Q).</a:t>
            </a:r>
          </a:p>
          <a:p xmlns:a="http://schemas.openxmlformats.org/drawingml/2006/main">
            <a:r>
              <a:rPr sz="1400"/>
              <a:t/>
            </a:r>
          </a:p>
          <a:p xmlns:a="http://schemas.openxmlformats.org/drawingml/2006/main">
            <a:r>
              <a:rPr sz="1400"/>
              <a:t>Overgang: Haal eerst het bekende kopersgebied terug.</a:t>
            </a:r>
          </a:p>
          <a:p xmlns:a="http://schemas.openxmlformats.org/drawingml/2006/main">
            <a:r>
              <a:rPr sz="1400"/>
              <a:t/>
            </a:r>
          </a:p>
          <a:p xmlns:a="http://schemas.openxmlformats.org/drawingml/2006/main">
            <a:r>
              <a:rPr sz="1400"/>
              <a:t>Bron: leerlingenboek Boek 2, chat-2026, gedrukte pagina 82–84. https://github.com/meijer1973/4veco-lessen/blob/a8940a7a79e22857a3e306a91fe923c48c63e716/Boek%202%20-%20Kosten%2C%20opbrengsten%2C%20elasticiteit%20en%20surplus/edities/chat-2026/boek/Boek_2_Compleet.pdf</a:t>
            </a:r>
          </a:p>
          <a:p xmlns:a="http://schemas.openxmlformats.org/drawingml/2006/main">
            <a:r>
              <a:rPr sz="1400"/>
              <a:t>Antwoordmodel: https://github.com/meijer1973/4veco-lessen/blob/a8940a7a79e22857a3e306a91fe923c48c63e716/Boek%202%20-%20Kosten%2C%20opbrengsten%2C%20elasticiteit%20en%20surplus/edities/chat-2026/boek/Boek_2_Compleet_Antwoorden.pdf</a:t>
            </a:r>
          </a:p>
          <a:p xmlns:a="http://schemas.openxmlformats.org/drawingml/2006/main">
            <a:r>
              <a:rPr sz="1400"/>
              <a:t>Uitlegvoorbeeld — niet uit het boek. Context en getallen zijn voor deze les gemaakt. De boekverwijzing betreft alleen de methode.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drie grenzen omsluiten CS?</a:t>
            </a:r>
          </a:p>
          <a:p xmlns:a="http://schemas.openxmlformats.org/drawingml/2006/main">
            <a:r>
              <a:rPr sz="1400"/>
              <a:t/>
            </a:r>
          </a:p>
          <a:p xmlns:a="http://schemas.openxmlformats.org/drawingml/2006/main">
            <a:r>
              <a:rPr sz="1400"/>
              <a:t>Uitleg: Herhaal de driehoek uit §2.3.1: onder V, boven de betaalde prijs, tot Q=32. Niet tot de vraaglijn de Q-as snijdt. De hoogte is het verschil 28−12, niet de prijs 12. De oppervlakte telt het voordeel van verkochte eenheden in het doorlopende model op.</a:t>
            </a:r>
          </a:p>
          <a:p xmlns:a="http://schemas.openxmlformats.org/drawingml/2006/main">
            <a:r>
              <a:rPr sz="1400"/>
              <a:t/>
            </a:r>
          </a:p>
          <a:p xmlns:a="http://schemas.openxmlformats.org/drawingml/2006/main">
            <a:r>
              <a:rPr sz="1400"/>
              <a:t>Misvatting: Een doorlopend model gebruikt oppervlakte. Tel dit niet op alsof het een tabel met 32 losse kopers is.</a:t>
            </a:r>
          </a:p>
          <a:p xmlns:a="http://schemas.openxmlformats.org/drawingml/2006/main">
            <a:r>
              <a:rPr sz="1400"/>
              <a:t/>
            </a:r>
          </a:p>
          <a:p xmlns:a="http://schemas.openxmlformats.org/drawingml/2006/main">
            <a:r>
              <a:rPr sz="1400"/>
              <a:t>Overgang: Voeg onder dezelfde prijs het verkopersgebied toe.</a:t>
            </a:r>
          </a:p>
          <a:p xmlns:a="http://schemas.openxmlformats.org/drawingml/2006/main">
            <a:r>
              <a:rPr sz="1400"/>
              <a:t/>
            </a:r>
          </a:p>
          <a:p xmlns:a="http://schemas.openxmlformats.org/drawingml/2006/main">
            <a:r>
              <a:rPr sz="1400"/>
              <a:t>Bron: leerlingenboek Boek 2, chat-2026, gedrukte pagina 75–76, 83–84. https://github.com/meijer1973/4veco-lessen/blob/a8940a7a79e22857a3e306a91fe923c48c63e716/Boek%202%20-%20Kosten%2C%20opbrengsten%2C%20elasticiteit%20en%20surplus/edities/chat-2026/boek/Boek_2_Compleet.pdf</a:t>
            </a:r>
          </a:p>
          <a:p xmlns:a="http://schemas.openxmlformats.org/drawingml/2006/main">
            <a:r>
              <a:rPr sz="1400"/>
              <a:t>Antwoordmodel: https://github.com/meijer1973/4veco-lessen/blob/a8940a7a79e22857a3e306a91fe923c48c63e716/Boek%202%20-%20Kosten%2C%20opbrengsten%2C%20elasticiteit%20en%20surplus/edities/chat-2026/boek/Boek_2_Compleet_Antwoorden.pdf</a:t>
            </a:r>
          </a:p>
          <a:p xmlns:a="http://schemas.openxmlformats.org/drawingml/2006/main">
            <a:r>
              <a:rPr sz="1400"/>
              <a:t>Uitlegvoorbeeld — niet uit het boek. Context en getallen zijn voor deze les gemaakt. De boekverwijzing betreft alleen de methode.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trek je bij de hoogte 4 van 12 af?</a:t>
            </a:r>
          </a:p>
          <a:p xmlns:a="http://schemas.openxmlformats.org/drawingml/2006/main">
            <a:r>
              <a:rPr sz="1400"/>
              <a:t/>
            </a:r>
          </a:p>
          <a:p xmlns:a="http://schemas.openxmlformats.org/drawingml/2006/main">
            <a:r>
              <a:rPr sz="1400"/>
              <a:t>Uitleg: PS ligt onder P=12 en boven A=MK, tot Q=32. De aanbodlijn begint bij 4 op de verticale as, dus de hoogte is 12−4. De hele rechthoek 12×32 bevat ook variabele kosten en is geen PS.</a:t>
            </a:r>
          </a:p>
          <a:p xmlns:a="http://schemas.openxmlformats.org/drawingml/2006/main">
            <a:r>
              <a:rPr sz="1400"/>
              <a:t/>
            </a:r>
          </a:p>
          <a:p xmlns:a="http://schemas.openxmlformats.org/drawingml/2006/main">
            <a:r>
              <a:rPr sz="1400"/>
              <a:t>Misvatting: Het gebied onder A hoort niet bij PS.</a:t>
            </a:r>
          </a:p>
          <a:p xmlns:a="http://schemas.openxmlformats.org/drawingml/2006/main">
            <a:r>
              <a:rPr sz="1400"/>
              <a:t/>
            </a:r>
          </a:p>
          <a:p xmlns:a="http://schemas.openxmlformats.org/drawingml/2006/main">
            <a:r>
              <a:rPr sz="1400"/>
              <a:t>Overgang: Tel beide voordelen op en controleer de eenheden.</a:t>
            </a:r>
          </a:p>
          <a:p xmlns:a="http://schemas.openxmlformats.org/drawingml/2006/main">
            <a:r>
              <a:rPr sz="1400"/>
              <a:t/>
            </a:r>
          </a:p>
          <a:p xmlns:a="http://schemas.openxmlformats.org/drawingml/2006/main">
            <a:r>
              <a:rPr sz="1400"/>
              <a:t>Bron: leerlingenboek Boek 2, chat-2026, gedrukte pagina 82–84. https://github.com/meijer1973/4veco-lessen/blob/a8940a7a79e22857a3e306a91fe923c48c63e716/Boek%202%20-%20Kosten%2C%20opbrengsten%2C%20elasticiteit%20en%20surplus/edities/chat-2026/boek/Boek_2_Compleet.pdf</a:t>
            </a:r>
          </a:p>
          <a:p xmlns:a="http://schemas.openxmlformats.org/drawingml/2006/main">
            <a:r>
              <a:rPr sz="1400"/>
              <a:t>Antwoordmodel: https://github.com/meijer1973/4veco-lessen/blob/a8940a7a79e22857a3e306a91fe923c48c63e716/Boek%202%20-%20Kosten%2C%20opbrengsten%2C%20elasticiteit%20en%20surplus/edities/chat-2026/boek/Boek_2_Compleet_Antwoorden.pdf</a:t>
            </a:r>
          </a:p>
          <a:p xmlns:a="http://schemas.openxmlformats.org/drawingml/2006/main">
            <a:r>
              <a:rPr sz="1400"/>
              <a:t>Uitlegvoorbeeld — niet uit het boek. Context en getallen zijn voor deze les gemaakt. De boekverwijzing betreft alleen de methode.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Hoe controleer je 384 rechtstreeks met de totale driehoek?</a:t>
            </a:r>
          </a:p>
          <a:p xmlns:a="http://schemas.openxmlformats.org/drawingml/2006/main">
            <a:r>
              <a:rPr sz="1400"/>
              <a:t/>
            </a:r>
          </a:p>
          <a:p xmlns:a="http://schemas.openxmlformats.org/drawingml/2006/main">
            <a:r>
              <a:rPr sz="1400"/>
              <a:t>Uitleg: TS is het gezamenlijke voordeel van kopers en verkopers. Controle: de hele driehoek tussen V en MK heeft basis 32 en hoogte 28−4=24: ½×32×24=384. De prijs verdeelt het voordeel. Het totaal is een bedrag in euro, geen bedrag per fietsbel.</a:t>
            </a:r>
          </a:p>
          <a:p xmlns:a="http://schemas.openxmlformats.org/drawingml/2006/main">
            <a:r>
              <a:rPr sz="1400"/>
              <a:t/>
            </a:r>
          </a:p>
          <a:p xmlns:a="http://schemas.openxmlformats.org/drawingml/2006/main">
            <a:r>
              <a:rPr sz="1400"/>
              <a:t>Misvatting: CS en PS hoeven niet even groot te zijn.</a:t>
            </a:r>
          </a:p>
          <a:p xmlns:a="http://schemas.openxmlformats.org/drawingml/2006/main">
            <a:r>
              <a:rPr sz="1400"/>
              <a:t/>
            </a:r>
          </a:p>
          <a:p xmlns:a="http://schemas.openxmlformats.org/drawingml/2006/main">
            <a:r>
              <a:rPr sz="1400"/>
              <a:t>Overgang: Onderzoek of een extra transactie het totaal groter maakt.</a:t>
            </a:r>
          </a:p>
          <a:p xmlns:a="http://schemas.openxmlformats.org/drawingml/2006/main">
            <a:r>
              <a:rPr sz="1400"/>
              <a:t/>
            </a:r>
          </a:p>
          <a:p xmlns:a="http://schemas.openxmlformats.org/drawingml/2006/main">
            <a:r>
              <a:rPr sz="1400"/>
              <a:t>Bron: leerlingenboek Boek 2, chat-2026, gedrukte pagina 83–84. https://github.com/meijer1973/4veco-lessen/blob/a8940a7a79e22857a3e306a91fe923c48c63e716/Boek%202%20-%20Kosten%2C%20opbrengsten%2C%20elasticiteit%20en%20surplus/edities/chat-2026/boek/Boek_2_Compleet.pdf</a:t>
            </a:r>
          </a:p>
          <a:p xmlns:a="http://schemas.openxmlformats.org/drawingml/2006/main">
            <a:r>
              <a:rPr sz="1400"/>
              <a:t>Antwoordmodel: https://github.com/meijer1973/4veco-lessen/blob/a8940a7a79e22857a3e306a91fe923c48c63e716/Boek%202%20-%20Kosten%2C%20opbrengsten%2C%20elasticiteit%20en%20surplus/edities/chat-2026/boek/Boek_2_Compleet_Antwoorden.pdf</a:t>
            </a:r>
          </a:p>
          <a:p xmlns:a="http://schemas.openxmlformats.org/drawingml/2006/main">
            <a:r>
              <a:rPr sz="1400"/>
              <a:t>Uitlegvoorbeeld — niet uit het boek. Context en getallen zijn voor deze les gemaakt. De boekverwijzing betreft alleen de methode.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twee bedragen vergelijk je bij Q=48?</a:t>
            </a:r>
          </a:p>
          <a:p xmlns:a="http://schemas.openxmlformats.org/drawingml/2006/main">
            <a:r>
              <a:rPr sz="1400"/>
              <a:t/>
            </a:r>
          </a:p>
          <a:p xmlns:a="http://schemas.openxmlformats.org/drawingml/2006/main">
            <a:r>
              <a:rPr sz="1400"/>
              <a:t>Uitleg: Vergelijk steeds V en MK bij dezelfde hoeveelheid. Bij Q=16 is de verticale afstand 12 euro positief. Bij Q=48 is deze −12. Dit is de marginale vergelijking in het doorlopende model; deze getallen zijn geen totale CS of PS. Ook rechts van het evenwicht mogen we MK lezen binnen het gegeven domein.</a:t>
            </a:r>
          </a:p>
          <a:p xmlns:a="http://schemas.openxmlformats.org/drawingml/2006/main">
            <a:r>
              <a:rPr sz="1400"/>
              <a:t/>
            </a:r>
          </a:p>
          <a:p xmlns:a="http://schemas.openxmlformats.org/drawingml/2006/main">
            <a:r>
              <a:rPr sz="1400"/>
              <a:t>Misvatting: Vergelijk de betalingsbereidheid met MK, niet alleen de prijs met MK.</a:t>
            </a:r>
          </a:p>
          <a:p xmlns:a="http://schemas.openxmlformats.org/drawingml/2006/main">
            <a:r>
              <a:rPr sz="1400"/>
              <a:t/>
            </a:r>
          </a:p>
          <a:p xmlns:a="http://schemas.openxmlformats.org/drawingml/2006/main">
            <a:r>
              <a:rPr sz="1400"/>
              <a:t>Overgang: Gebruik deze vergelijking om het maximum te verklaren.</a:t>
            </a:r>
          </a:p>
          <a:p xmlns:a="http://schemas.openxmlformats.org/drawingml/2006/main">
            <a:r>
              <a:rPr sz="1400"/>
              <a:t/>
            </a:r>
          </a:p>
          <a:p xmlns:a="http://schemas.openxmlformats.org/drawingml/2006/main">
            <a:r>
              <a:rPr sz="1400"/>
              <a:t>Bron: leerlingenboek Boek 2, chat-2026, gedrukte pagina 83, 85. https://github.com/meijer1973/4veco-lessen/blob/a8940a7a79e22857a3e306a91fe923c48c63e716/Boek%202%20-%20Kosten%2C%20opbrengsten%2C%20elasticiteit%20en%20surplus/edities/chat-2026/boek/Boek_2_Compleet.pdf</a:t>
            </a:r>
          </a:p>
          <a:p xmlns:a="http://schemas.openxmlformats.org/drawingml/2006/main">
            <a:r>
              <a:rPr sz="1400"/>
              <a:t>Antwoordmodel: https://github.com/meijer1973/4veco-lessen/blob/a8940a7a79e22857a3e306a91fe923c48c63e716/Boek%202%20-%20Kosten%2C%20opbrengsten%2C%20elasticiteit%20en%20surplus/edities/chat-2026/boek/Boek_2_Compleet_Antwoorden.pdf</a:t>
            </a:r>
          </a:p>
          <a:p xmlns:a="http://schemas.openxmlformats.org/drawingml/2006/main">
            <a:r>
              <a:rPr sz="1400"/>
              <a:t>Uitlegvoorbeeld — niet uit het boek. Context en getallen zijn voor deze les gemaakt. De boekverwijzing betreft alleen de methode.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Bewijst een ongelijk CS en PS dat het totaal niet maximaal is?</a:t>
            </a:r>
          </a:p>
          <a:p xmlns:a="http://schemas.openxmlformats.org/drawingml/2006/main">
            <a:r>
              <a:rPr sz="1400"/>
              <a:t/>
            </a:r>
          </a:p>
          <a:p xmlns:a="http://schemas.openxmlformats.org/drawingml/2006/main">
            <a:r>
              <a:rPr sz="1400"/>
              <a:t>Uitleg: Alle eenheden met positief gezamenlijk voordeel worden verhandeld. Verder uitbreiden voegt negatief voordeel toe. Die efficiëntie-uitkomst zegt niets over een norm voor eerlijke verdeling of verdeling binnen groepen. Extra handelskosten en gevolgen voor anderen blijven in dit model buiten beeld.</a:t>
            </a:r>
          </a:p>
          <a:p xmlns:a="http://schemas.openxmlformats.org/drawingml/2006/main">
            <a:r>
              <a:rPr sz="1400"/>
              <a:t/>
            </a:r>
          </a:p>
          <a:p xmlns:a="http://schemas.openxmlformats.org/drawingml/2006/main">
            <a:r>
              <a:rPr sz="1400"/>
              <a:t>Misvatting: Een maximum van het totale bedrag betekent niet dat iedereen evenveel krijgt of dat alle maatschappelijke effecten gemeten zijn.</a:t>
            </a:r>
          </a:p>
          <a:p xmlns:a="http://schemas.openxmlformats.org/drawingml/2006/main">
            <a:r>
              <a:rPr sz="1400"/>
              <a:t/>
            </a:r>
          </a:p>
          <a:p xmlns:a="http://schemas.openxmlformats.org/drawingml/2006/main">
            <a:r>
              <a:rPr sz="1400"/>
              <a:t>Overgang: Controleer de redenering met dezelfde fictieve markt.</a:t>
            </a:r>
          </a:p>
          <a:p xmlns:a="http://schemas.openxmlformats.org/drawingml/2006/main">
            <a:r>
              <a:rPr sz="1400"/>
              <a:t/>
            </a:r>
          </a:p>
          <a:p xmlns:a="http://schemas.openxmlformats.org/drawingml/2006/main">
            <a:r>
              <a:rPr sz="1400"/>
              <a:t>Bron: leerlingenboek Boek 2, chat-2026, gedrukte pagina 83–85. https://github.com/meijer1973/4veco-lessen/blob/a8940a7a79e22857a3e306a91fe923c48c63e716/Boek%202%20-%20Kosten%2C%20opbrengsten%2C%20elasticiteit%20en%20surplus/edities/chat-2026/boek/Boek_2_Compleet.pdf</a:t>
            </a:r>
          </a:p>
          <a:p xmlns:a="http://schemas.openxmlformats.org/drawingml/2006/main">
            <a:r>
              <a:rPr sz="1400"/>
              <a:t>Antwoordmodel: https://github.com/meijer1973/4veco-lessen/blob/a8940a7a79e22857a3e306a91fe923c48c63e716/Boek%202%20-%20Kosten%2C%20opbrengsten%2C%20elasticiteit%20en%20surplus/edities/chat-2026/boek/Boek_2_Compleet_Antwoorden.pdf</a:t>
            </a:r>
          </a:p>
          <a:p xmlns:a="http://schemas.openxmlformats.org/drawingml/2006/main">
            <a:r>
              <a:rPr sz="1400"/>
              <a:t>Uitlegvoorbeeld — niet uit het boek. Context en getallen zijn voor deze les gemaakt. De boekverwijzing betreft alleen de methode.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Vergroot of verkleint deze extra transactie TS?</a:t>
            </a:r>
          </a:p>
          <a:p xmlns:a="http://schemas.openxmlformats.org/drawingml/2006/main">
            <a:r>
              <a:rPr sz="1400"/>
              <a:t/>
            </a:r>
          </a:p>
          <a:p xmlns:a="http://schemas.openxmlformats.org/drawingml/2006/main">
            <a:r>
              <a:rPr sz="1400"/>
              <a:t>Uitleg: Laat leerlingen eerst zelf denken en kort toelichten. Dit is een controle op het uitlegvoorbeeld, geen extra huiswerkopgave. De volgende dia toont de bespreking.</a:t>
            </a:r>
          </a:p>
          <a:p xmlns:a="http://schemas.openxmlformats.org/drawingml/2006/main">
            <a:r>
              <a:rPr sz="1400"/>
              <a:t/>
            </a:r>
          </a:p>
          <a:p xmlns:a="http://schemas.openxmlformats.org/drawingml/2006/main">
            <a:r>
              <a:rPr sz="1400"/>
              <a:t>Misvatting: Meer omzet is niet hetzelfde als meer totaal surplus.</a:t>
            </a:r>
          </a:p>
          <a:p xmlns:a="http://schemas.openxmlformats.org/drawingml/2006/main">
            <a:r>
              <a:rPr sz="1400"/>
              <a:t/>
            </a:r>
          </a:p>
          <a:p xmlns:a="http://schemas.openxmlformats.org/drawingml/2006/main">
            <a:r>
              <a:rPr sz="1400"/>
              <a:t>Overgang: Bespreek de redenering.</a:t>
            </a:r>
          </a:p>
          <a:p xmlns:a="http://schemas.openxmlformats.org/drawingml/2006/main">
            <a:r>
              <a:rPr sz="1400"/>
              <a:t/>
            </a:r>
          </a:p>
          <a:p xmlns:a="http://schemas.openxmlformats.org/drawingml/2006/main">
            <a:r>
              <a:rPr sz="1400"/>
              <a:t>Bron: leerlingenboek Boek 2, chat-2026, gedrukte pagina 83–85. https://github.com/meijer1973/4veco-lessen/blob/a8940a7a79e22857a3e306a91fe923c48c63e716/Boek%202%20-%20Kosten%2C%20opbrengsten%2C%20elasticiteit%20en%20surplus/edities/chat-2026/boek/Boek_2_Compleet.pdf</a:t>
            </a:r>
          </a:p>
          <a:p xmlns:a="http://schemas.openxmlformats.org/drawingml/2006/main">
            <a:r>
              <a:rPr sz="1400"/>
              <a:t>Antwoordmodel: https://github.com/meijer1973/4veco-lessen/blob/a8940a7a79e22857a3e306a91fe923c48c63e716/Boek%202%20-%20Kosten%2C%20opbrengsten%2C%20elasticiteit%20en%20surplus/edities/chat-2026/boek/Boek_2_Compleet_Antwoorden.pdf</a:t>
            </a:r>
          </a:p>
          <a:p xmlns:a="http://schemas.openxmlformats.org/drawingml/2006/main">
            <a:r>
              <a:rPr sz="1400"/>
              <a:t>Uitlegvoorbeeld — niet uit het boek. Context en getallen zijn voor deze les gemaakt. De boekverwijzing betreft alleen de methode.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Vergroot of verkleint deze extra transactie TS?</a:t>
            </a:r>
          </a:p>
          <a:p xmlns:a="http://schemas.openxmlformats.org/drawingml/2006/main">
            <a:r>
              <a:rPr sz="1400"/>
              <a:t/>
            </a:r>
          </a:p>
          <a:p xmlns:a="http://schemas.openxmlformats.org/drawingml/2006/main">
            <a:r>
              <a:rPr sz="1400"/>
              <a:t>Uitleg: De uitspraak klopt niet. Voor deze extra eenheid zijn MK hoger dan de waardering. Het verschil is −6 euro. Benoem wat de koper voor de eenheid over heeft en wat die kost.</a:t>
            </a:r>
          </a:p>
          <a:p xmlns:a="http://schemas.openxmlformats.org/drawingml/2006/main">
            <a:r>
              <a:rPr sz="1400"/>
              <a:t/>
            </a:r>
          </a:p>
          <a:p xmlns:a="http://schemas.openxmlformats.org/drawingml/2006/main">
            <a:r>
              <a:rPr sz="1400"/>
              <a:t>Misvatting: Meer omzet is niet hetzelfde als meer totaal surplus.</a:t>
            </a:r>
          </a:p>
          <a:p xmlns:a="http://schemas.openxmlformats.org/drawingml/2006/main">
            <a:r>
              <a:rPr sz="1400"/>
              <a:t/>
            </a:r>
          </a:p>
          <a:p xmlns:a="http://schemas.openxmlformats.org/drawingml/2006/main">
            <a:r>
              <a:rPr sz="1400"/>
              <a:t>Overgang: Keer terug naar startopgave 2 en begin daarna met basis 3–5.</a:t>
            </a:r>
          </a:p>
          <a:p xmlns:a="http://schemas.openxmlformats.org/drawingml/2006/main">
            <a:r>
              <a:rPr sz="1400"/>
              <a:t/>
            </a:r>
          </a:p>
          <a:p xmlns:a="http://schemas.openxmlformats.org/drawingml/2006/main">
            <a:r>
              <a:rPr sz="1400"/>
              <a:t>Bron: leerlingenboek Boek 2, chat-2026, gedrukte pagina 83–85. https://github.com/meijer1973/4veco-lessen/blob/a8940a7a79e22857a3e306a91fe923c48c63e716/Boek%202%20-%20Kosten%2C%20opbrengsten%2C%20elasticiteit%20en%20surplus/edities/chat-2026/boek/Boek_2_Compleet.pdf</a:t>
            </a:r>
          </a:p>
          <a:p xmlns:a="http://schemas.openxmlformats.org/drawingml/2006/main">
            <a:r>
              <a:rPr sz="1400"/>
              <a:t>Antwoordmodel: https://github.com/meijer1973/4veco-lessen/blob/a8940a7a79e22857a3e306a91fe923c48c63e716/Boek%202%20-%20Kosten%2C%20opbrengsten%2C%20elasticiteit%20en%20surplus/edities/chat-2026/boek/Boek_2_Compleet_Antwoorden.pdf</a:t>
            </a:r>
          </a:p>
          <a:p xmlns:a="http://schemas.openxmlformats.org/drawingml/2006/main">
            <a:r>
              <a:rPr sz="1400"/>
              <a:t>Uitlegvoorbeeld — niet uit het boek. Context en getallen zijn voor deze les gemaakt. De boekverwijzing betreft alleen de methode.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stap wil je nog verbeteren?</a:t>
            </a:r>
          </a:p>
          <a:p xmlns:a="http://schemas.openxmlformats.org/drawingml/2006/main">
            <a:r>
              <a:rPr sz="1400"/>
              <a:t/>
            </a:r>
          </a:p>
          <a:p xmlns:a="http://schemas.openxmlformats.org/drawingml/2006/main">
            <a:r>
              <a:rPr sz="1400"/>
              <a:t>Uitleg: Laat het overzicht staan tijdens zelfstandig werken. Start: 1–2 op p. 85. Basis: 3 op p. 86, 4–5 op p. 87. Zelfstandig: 6–7 op p. 88. Doel: 8, bronnen p. 89 en vragen p. 90. Huiswerk 3–8 maken en nakijken. Bonus 9 en herhaling 10–11 zijn extra. De volledige route hoeft niet in één les af. Opgave 1 haalt evenwicht op uit §1.3.2, maar daar stonden Qv(P) en Qa(P). De inverse vorm P(Q) is een verandering van voorstelling. Geef daarom zo nodig vooraf de steun op p. 83: beide formules geven P bij dezelfde Q; stel ze gelijk, los Q op en vul in. Laat dit na dia 7 opnieuw verwoorden. In opgave 2 is kopersvoordeel bekend uit §2.3.1, maar verkopersvoordeel en het wegvallen van de prijs zijn nieuw. Laat de leerling eerst op p. 81 de twee voordelen en figuur 1 lezen, de passende verschillen aanwijzen en twijfel noteren. Dit is verkennen met steun. Bij terugkeer vóór basiswerk: laat 2a–b opnieuw proberen en vraag waarom de betaling wegvalt. Bespreek dan zo nodig de antwoorden: CS 3, PS 4, samen 7 euro.</a:t>
            </a:r>
          </a:p>
          <a:p xmlns:a="http://schemas.openxmlformats.org/drawingml/2006/main">
            <a:r>
              <a:rPr sz="1400"/>
              <a:t/>
            </a:r>
          </a:p>
          <a:p xmlns:a="http://schemas.openxmlformats.org/drawingml/2006/main">
            <a:r>
              <a:rPr sz="1400"/>
              <a:t>Misvatting: Nieuwe leerstof in startopgave 2 is nog geen veronderstelde beheersing. Een startscore bepaalt niet automatisch de oefenroute.</a:t>
            </a:r>
          </a:p>
          <a:p xmlns:a="http://schemas.openxmlformats.org/drawingml/2006/main">
            <a:r>
              <a:rPr sz="1400"/>
              <a:t/>
            </a:r>
          </a:p>
          <a:p xmlns:a="http://schemas.openxmlformats.org/drawingml/2006/main">
            <a:r>
              <a:rPr sz="1400"/>
              <a:t>Overgang: Ga verder met de lesfase op het overzicht.</a:t>
            </a:r>
          </a:p>
          <a:p xmlns:a="http://schemas.openxmlformats.org/drawingml/2006/main">
            <a:r>
              <a:rPr sz="1400"/>
              <a:t/>
            </a:r>
          </a:p>
          <a:p xmlns:a="http://schemas.openxmlformats.org/drawingml/2006/main">
            <a:r>
              <a:rPr sz="1400"/>
              <a:t>Bron: leerlingenboek Boek 2, chat-2026, gedrukte pagina 81, 85–90. https://github.com/meijer1973/4veco-lessen/blob/a8940a7a79e22857a3e306a91fe923c48c63e716/Boek%202%20-%20Kosten%2C%20opbrengsten%2C%20elasticiteit%20en%20surplus/edities/chat-2026/boek/Boek_2_Compleet.pdf</a:t>
            </a:r>
          </a:p>
          <a:p xmlns:a="http://schemas.openxmlformats.org/drawingml/2006/main">
            <a:r>
              <a:rPr sz="1400"/>
              <a:t>Antwoordmodel: https://github.com/meijer1973/4veco-lessen/blob/a8940a7a79e22857a3e306a91fe923c48c63e716/Boek%202%20-%20Kosten%2C%20opbrengsten%2C%20elasticiteit%20en%20surplus/edities/chat-2026/boek/Boek_2_Compleet_Antwoorden.pdf</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betekenis geeft het model aan de aanbodlijn?</a:t>
            </a:r>
          </a:p>
          <a:p xmlns:a="http://schemas.openxmlformats.org/drawingml/2006/main">
            <a:r>
              <a:rPr sz="1400"/>
              <a:t/>
            </a:r>
          </a:p>
          <a:p xmlns:a="http://schemas.openxmlformats.org/drawingml/2006/main">
            <a:r>
              <a:rPr sz="1400"/>
              <a:t>Uitleg: Toon eerst de gegevens, tabel en alle vragen zonder oplossingen. Laat leerlingen de functies en het domein in het boek aanwijzen. Evenwicht en surplus zijn nog niet gemarkeerd.</a:t>
            </a:r>
          </a:p>
          <a:p xmlns:a="http://schemas.openxmlformats.org/drawingml/2006/main">
            <a:r>
              <a:rPr sz="1400"/>
              <a:t/>
            </a:r>
          </a:p>
          <a:p xmlns:a="http://schemas.openxmlformats.org/drawingml/2006/main">
            <a:r>
              <a:rPr sz="1400"/>
              <a:t>Misvatting: Ook een niet verkochte eenheid heeft in dit domein een MK-waarde.</a:t>
            </a:r>
          </a:p>
          <a:p xmlns:a="http://schemas.openxmlformats.org/drawingml/2006/main">
            <a:r>
              <a:rPr sz="1400"/>
              <a:t/>
            </a:r>
          </a:p>
          <a:p xmlns:a="http://schemas.openxmlformats.org/drawingml/2006/main">
            <a:r>
              <a:rPr sz="1400"/>
              <a:t>Overgang: Toon de brontabel voordat je alle deelvragen laat zien.</a:t>
            </a:r>
          </a:p>
          <a:p xmlns:a="http://schemas.openxmlformats.org/drawingml/2006/main">
            <a:r>
              <a:rPr sz="1400"/>
              <a:t/>
            </a:r>
          </a:p>
          <a:p xmlns:a="http://schemas.openxmlformats.org/drawingml/2006/main">
            <a:r>
              <a:rPr sz="1400"/>
              <a:t>Bron: leerlingenboek Boek 2, chat-2026, gedrukte pagina 89. https://github.com/meijer1973/4veco-lessen/blob/a8940a7a79e22857a3e306a91fe923c48c63e716/Boek%202%20-%20Kosten%2C%20opbrengsten%2C%20elasticiteit%20en%20surplus/edities/chat-2026/boek/Boek_2_Compleet.pdf</a:t>
            </a:r>
          </a:p>
          <a:p xmlns:a="http://schemas.openxmlformats.org/drawingml/2006/main">
            <a:r>
              <a:rPr sz="1400"/>
              <a:t>Antwoordmodel: https://github.com/meijer1973/4veco-lessen/blob/a8940a7a79e22857a3e306a91fe923c48c63e716/Boek%202%20-%20Kosten%2C%20opbrengsten%2C%20elasticiteit%20en%20surplus/edities/chat-2026/boek/Boek_2_Compleet_Antwoorden.pdf</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rij gebruik je om de 70e positie in de grafiek te onderzoeken?</a:t>
            </a:r>
          </a:p>
          <a:p xmlns:a="http://schemas.openxmlformats.org/drawingml/2006/main">
            <a:r>
              <a:rPr sz="1400"/>
              <a:t/>
            </a:r>
          </a:p>
          <a:p xmlns:a="http://schemas.openxmlformats.org/drawingml/2006/main">
            <a:r>
              <a:rPr sz="1400"/>
              <a:t>Uitleg: Deze volledige brontabel bevat dezelfde getallen als het boek en nog geen berekende surplusverschillen. Het notatiekader hoort bij de gegevens. Vergelijk V en MK bij dezelfde Q.</a:t>
            </a:r>
          </a:p>
          <a:p xmlns:a="http://schemas.openxmlformats.org/drawingml/2006/main">
            <a:r>
              <a:rPr sz="1400"/>
              <a:t/>
            </a:r>
          </a:p>
          <a:p xmlns:a="http://schemas.openxmlformats.org/drawingml/2006/main">
            <a:r>
              <a:rPr sz="1400"/>
              <a:t>Misvatting: Een gegeven tabelwaarde is niet het antwoord op de gevraagde vergelijking.</a:t>
            </a:r>
          </a:p>
          <a:p xmlns:a="http://schemas.openxmlformats.org/drawingml/2006/main">
            <a:r>
              <a:rPr sz="1400"/>
              <a:t/>
            </a:r>
          </a:p>
          <a:p xmlns:a="http://schemas.openxmlformats.org/drawingml/2006/main">
            <a:r>
              <a:rPr sz="1400"/>
              <a:t>Overgang: Toon deelvragen a–c en daarna d–e.</a:t>
            </a:r>
          </a:p>
          <a:p xmlns:a="http://schemas.openxmlformats.org/drawingml/2006/main">
            <a:r>
              <a:rPr sz="1400"/>
              <a:t/>
            </a:r>
          </a:p>
          <a:p xmlns:a="http://schemas.openxmlformats.org/drawingml/2006/main">
            <a:r>
              <a:rPr sz="1400"/>
              <a:t>Bron: leerlingenboek Boek 2, chat-2026, gedrukte pagina 89. https://github.com/meijer1973/4veco-lessen/blob/a8940a7a79e22857a3e306a91fe923c48c63e716/Boek%202%20-%20Kosten%2C%20opbrengsten%2C%20elasticiteit%20en%20surplus/edities/chat-2026/boek/Boek_2_Compleet.pdf</a:t>
            </a:r>
          </a:p>
          <a:p xmlns:a="http://schemas.openxmlformats.org/drawingml/2006/main">
            <a:r>
              <a:rPr sz="1400"/>
              <a:t>Antwoordmodel: https://github.com/meijer1973/4veco-lessen/blob/a8940a7a79e22857a3e306a91fe923c48c63e716/Boek%202%20-%20Kosten%2C%20opbrengsten%2C%20elasticiteit%20en%20surplus/edities/chat-2026/boek/Boek_2_Compleet_Antwoorden.pdf</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Heb je zowel de gebieden als de berekeningen in je schrift?</a:t>
            </a:r>
          </a:p>
          <a:p xmlns:a="http://schemas.openxmlformats.org/drawingml/2006/main">
            <a:r>
              <a:rPr sz="1400"/>
              <a:t/>
            </a:r>
          </a:p>
          <a:p xmlns:a="http://schemas.openxmlformats.org/drawingml/2006/main">
            <a:r>
              <a:rPr sz="1400"/>
              <a:t>Uitleg: Lees de volledige deelvragen a tot en met c. De context en de tabel staan op de voorafgaande dia’s en op boekpagina 89. Toon nog geen uitwerkingen.</a:t>
            </a:r>
          </a:p>
          <a:p xmlns:a="http://schemas.openxmlformats.org/drawingml/2006/main">
            <a:r>
              <a:rPr sz="1400"/>
              <a:t/>
            </a:r>
          </a:p>
          <a:p xmlns:a="http://schemas.openxmlformats.org/drawingml/2006/main">
            <a:r>
              <a:rPr sz="1400"/>
              <a:t>Misvatting: Een juist eindgetal vervangt de markering en arcering bij b niet.</a:t>
            </a:r>
          </a:p>
          <a:p xmlns:a="http://schemas.openxmlformats.org/drawingml/2006/main">
            <a:r>
              <a:rPr sz="1400"/>
              <a:t/>
            </a:r>
          </a:p>
          <a:p xmlns:a="http://schemas.openxmlformats.org/drawingml/2006/main">
            <a:r>
              <a:rPr sz="1400"/>
              <a:t>Overgang: Toon ook d en e voordat je een antwoord bespreekt.</a:t>
            </a:r>
          </a:p>
          <a:p xmlns:a="http://schemas.openxmlformats.org/drawingml/2006/main">
            <a:r>
              <a:rPr sz="1400"/>
              <a:t/>
            </a:r>
          </a:p>
          <a:p xmlns:a="http://schemas.openxmlformats.org/drawingml/2006/main">
            <a:r>
              <a:rPr sz="1400"/>
              <a:t>Bron: leerlingenboek Boek 2, chat-2026, gedrukte pagina 90. https://github.com/meijer1973/4veco-lessen/blob/a8940a7a79e22857a3e306a91fe923c48c63e716/Boek%202%20-%20Kosten%2C%20opbrengsten%2C%20elasticiteit%20en%20surplus/edities/chat-2026/boek/Boek_2_Compleet.pdf</a:t>
            </a:r>
          </a:p>
          <a:p xmlns:a="http://schemas.openxmlformats.org/drawingml/2006/main">
            <a:r>
              <a:rPr sz="1400"/>
              <a:t>Antwoordmodel: https://github.com/meijer1973/4veco-lessen/blob/a8940a7a79e22857a3e306a91fe923c48c63e716/Boek%202%20-%20Kosten%2C%20opbrengsten%2C%20elasticiteit%20en%20surplus/edities/chat-2026/boek/Boek_2_Compleet_Antwoorden.pdf</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economische redenering heb je naast je getallen opgeschreven?</a:t>
            </a:r>
          </a:p>
          <a:p xmlns:a="http://schemas.openxmlformats.org/drawingml/2006/main">
            <a:r>
              <a:rPr sz="1400"/>
              <a:t/>
            </a:r>
          </a:p>
          <a:p xmlns:a="http://schemas.openxmlformats.org/drawingml/2006/main">
            <a:r>
              <a:rPr sz="1400"/>
              <a:t>Uitleg: Dit zijn de volledige deelvragen d en e uit het boek. Q=60 is al expliciet gegeven in de oorspronkelijke vraag e; dit is geen toegevoegd antwoord op de eerdere dia’s. Alle gegevens en vragen zijn nu beschikbaar, vóór de bespreking.</a:t>
            </a:r>
          </a:p>
          <a:p xmlns:a="http://schemas.openxmlformats.org/drawingml/2006/main">
            <a:r>
              <a:rPr sz="1400"/>
              <a:t/>
            </a:r>
          </a:p>
          <a:p xmlns:a="http://schemas.openxmlformats.org/drawingml/2006/main">
            <a:r>
              <a:rPr sz="1400"/>
              <a:t>Misvatting: Een maximaal totaalbedrag is nog geen oordeel over verdeling.</a:t>
            </a:r>
          </a:p>
          <a:p xmlns:a="http://schemas.openxmlformats.org/drawingml/2006/main">
            <a:r>
              <a:rPr sz="1400"/>
              <a:t/>
            </a:r>
          </a:p>
          <a:p xmlns:a="http://schemas.openxmlformats.org/drawingml/2006/main">
            <a:r>
              <a:rPr sz="1400"/>
              <a:t>Overgang: Begin nu de stapsgewijze uitwerking van a.</a:t>
            </a:r>
          </a:p>
          <a:p xmlns:a="http://schemas.openxmlformats.org/drawingml/2006/main">
            <a:r>
              <a:rPr sz="1400"/>
              <a:t/>
            </a:r>
          </a:p>
          <a:p xmlns:a="http://schemas.openxmlformats.org/drawingml/2006/main">
            <a:r>
              <a:rPr sz="1400"/>
              <a:t>Bron: leerlingenboek Boek 2, chat-2026, gedrukte pagina 90. https://github.com/meijer1973/4veco-lessen/blob/a8940a7a79e22857a3e306a91fe923c48c63e716/Boek%202%20-%20Kosten%2C%20opbrengsten%2C%20elasticiteit%20en%20surplus/edities/chat-2026/boek/Boek_2_Compleet.pdf</a:t>
            </a:r>
          </a:p>
          <a:p xmlns:a="http://schemas.openxmlformats.org/drawingml/2006/main">
            <a:r>
              <a:rPr sz="1400"/>
              <a:t>Antwoordmodel: https://github.com/meijer1973/4veco-lessen/blob/a8940a7a79e22857a3e306a91fe923c48c63e716/Boek%202%20-%20Kosten%2C%20opbrengsten%2C%20elasticiteit%20en%20surplus/edities/chat-2026/boek/Boek_2_Compleet_Antwoorden.pdf</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hoort bij 60 in beide functies dezelfde prijs?</a:t>
            </a:r>
          </a:p>
          <a:p xmlns:a="http://schemas.openxmlformats.org/drawingml/2006/main">
            <a:r>
              <a:rPr sz="1400"/>
              <a:t/>
            </a:r>
          </a:p>
          <a:p xmlns:a="http://schemas.openxmlformats.org/drawingml/2006/main">
            <a:r>
              <a:rPr sz="1400"/>
              <a:t>Uitleg: Trek 5 af en tel 0,5Q op aan beide kanten. Deel 45 door 0,75. Vul 60 in V in en controleer in A. Antwoordmodel: Qe=60, Pe=20.</a:t>
            </a:r>
          </a:p>
          <a:p xmlns:a="http://schemas.openxmlformats.org/drawingml/2006/main">
            <a:r>
              <a:rPr sz="1400"/>
              <a:t/>
            </a:r>
          </a:p>
          <a:p xmlns:a="http://schemas.openxmlformats.org/drawingml/2006/main">
            <a:r>
              <a:rPr sz="1400"/>
              <a:t>Misvatting: De hoeveelheid is in kaartjes, de prijs in euro per kaartje.</a:t>
            </a:r>
          </a:p>
          <a:p xmlns:a="http://schemas.openxmlformats.org/drawingml/2006/main">
            <a:r>
              <a:rPr sz="1400"/>
              <a:t/>
            </a:r>
          </a:p>
          <a:p xmlns:a="http://schemas.openxmlformats.org/drawingml/2006/main">
            <a:r>
              <a:rPr sz="1400"/>
              <a:t>Overgang: Markeer de coördinaten en de beide gebieden.</a:t>
            </a:r>
          </a:p>
          <a:p xmlns:a="http://schemas.openxmlformats.org/drawingml/2006/main">
            <a:r>
              <a:rPr sz="1400"/>
              <a:t/>
            </a:r>
          </a:p>
          <a:p xmlns:a="http://schemas.openxmlformats.org/drawingml/2006/main">
            <a:r>
              <a:rPr sz="1400"/>
              <a:t>Bron: leerlingenboek Boek 2, chat-2026, gedrukte pagina 89–90. https://github.com/meijer1973/4veco-lessen/blob/a8940a7a79e22857a3e306a91fe923c48c63e716/Boek%202%20-%20Kosten%2C%20opbrengsten%2C%20elasticiteit%20en%20surplus/edities/chat-2026/boek/Boek_2_Compleet.pdf</a:t>
            </a:r>
          </a:p>
          <a:p xmlns:a="http://schemas.openxmlformats.org/drawingml/2006/main">
            <a:r>
              <a:rPr sz="1400"/>
              <a:t>Antwoordmodel: https://github.com/meijer1973/4veco-lessen/blob/a8940a7a79e22857a3e306a91fe923c48c63e716/Boek%202%20-%20Kosten%2C%20opbrengsten%2C%20elasticiteit%20en%20surplus/edities/chat-2026/boek/Boek_2_Compleet_Antwoorden.pdf</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 stopt de basis van beide driehoeken?</a:t>
            </a:r>
          </a:p>
          <a:p xmlns:a="http://schemas.openxmlformats.org/drawingml/2006/main">
            <a:r>
              <a:rPr sz="1400"/>
              <a:t/>
            </a:r>
          </a:p>
          <a:p xmlns:a="http://schemas.openxmlformats.org/drawingml/2006/main">
            <a:r>
              <a:rPr sz="1400"/>
              <a:t>Uitleg: Het evenwicht is E(60;20). De blauwe driehoek heeft hoekpunten (0;50), (0;20), (60;20). De groene driehoek heeft (0;5), (0;20), (60;20). Geen oppervlak rechts van 60 telt mee. De oorspronkelijke lijnen blijven staan.</a:t>
            </a:r>
          </a:p>
          <a:p xmlns:a="http://schemas.openxmlformats.org/drawingml/2006/main">
            <a:r>
              <a:rPr sz="1400"/>
              <a:t/>
            </a:r>
          </a:p>
          <a:p xmlns:a="http://schemas.openxmlformats.org/drawingml/2006/main">
            <a:r>
              <a:rPr sz="1400"/>
              <a:t>Misvatting: Arceer het gebied onder de aanbodlijn niet als PS.</a:t>
            </a:r>
          </a:p>
          <a:p xmlns:a="http://schemas.openxmlformats.org/drawingml/2006/main">
            <a:r>
              <a:rPr sz="1400"/>
              <a:t/>
            </a:r>
          </a:p>
          <a:p xmlns:a="http://schemas.openxmlformats.org/drawingml/2006/main">
            <a:r>
              <a:rPr sz="1400"/>
              <a:t>Overgang: Bereken eerst de kopersdriehoek.</a:t>
            </a:r>
          </a:p>
          <a:p xmlns:a="http://schemas.openxmlformats.org/drawingml/2006/main">
            <a:r>
              <a:rPr sz="1400"/>
              <a:t/>
            </a:r>
          </a:p>
          <a:p xmlns:a="http://schemas.openxmlformats.org/drawingml/2006/main">
            <a:r>
              <a:rPr sz="1400"/>
              <a:t>Bron: leerlingenboek Boek 2, chat-2026, gedrukte pagina 89–90. https://github.com/meijer1973/4veco-lessen/blob/a8940a7a79e22857a3e306a91fe923c48c63e716/Boek%202%20-%20Kosten%2C%20opbrengsten%2C%20elasticiteit%20en%20surplus/edities/chat-2026/boek/Boek_2_Compleet.pdf</a:t>
            </a:r>
          </a:p>
          <a:p xmlns:a="http://schemas.openxmlformats.org/drawingml/2006/main">
            <a:r>
              <a:rPr sz="1400"/>
              <a:t>Antwoordmodel: https://github.com/meijer1973/4veco-lessen/blob/a8940a7a79e22857a3e306a91fe923c48c63e716/Boek%202%20-%20Kosten%2C%20opbrengsten%2C%20elasticiteit%20en%20surplus/edities/chat-2026/boek/Boek_2_Compleet_Antwoorden.pdf</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is de hoogte 30 en niet 20?</a:t>
            </a:r>
          </a:p>
          <a:p xmlns:a="http://schemas.openxmlformats.org/drawingml/2006/main">
            <a:r>
              <a:rPr sz="1400"/>
              <a:t/>
            </a:r>
          </a:p>
          <a:p xmlns:a="http://schemas.openxmlformats.org/drawingml/2006/main">
            <a:r>
              <a:rPr sz="1400"/>
              <a:t>Uitleg: Neem basis 60 kaartjes en hoogte 30 euro per kaartje. Kaartjes maal euro per kaartje geeft euro. Het bedrag is het gezamenlijke voordeel van de kopers, niet de omzet of een korting.</a:t>
            </a:r>
          </a:p>
          <a:p xmlns:a="http://schemas.openxmlformats.org/drawingml/2006/main">
            <a:r>
              <a:rPr sz="1400"/>
              <a:t/>
            </a:r>
          </a:p>
          <a:p xmlns:a="http://schemas.openxmlformats.org/drawingml/2006/main">
            <a:r>
              <a:rPr sz="1400"/>
              <a:t>Misvatting: De prijs zelf is niet automatisch de hoogte van CS.</a:t>
            </a:r>
          </a:p>
          <a:p xmlns:a="http://schemas.openxmlformats.org/drawingml/2006/main">
            <a:r>
              <a:rPr sz="1400"/>
              <a:t/>
            </a:r>
          </a:p>
          <a:p xmlns:a="http://schemas.openxmlformats.org/drawingml/2006/main">
            <a:r>
              <a:rPr sz="1400"/>
              <a:t>Overgang: Bereken PS en tel beide bedragen op.</a:t>
            </a:r>
          </a:p>
          <a:p xmlns:a="http://schemas.openxmlformats.org/drawingml/2006/main">
            <a:r>
              <a:rPr sz="1400"/>
              <a:t/>
            </a:r>
          </a:p>
          <a:p xmlns:a="http://schemas.openxmlformats.org/drawingml/2006/main">
            <a:r>
              <a:rPr sz="1400"/>
              <a:t>Bron: leerlingenboek Boek 2, chat-2026, gedrukte pagina 89–90. https://github.com/meijer1973/4veco-lessen/blob/a8940a7a79e22857a3e306a91fe923c48c63e716/Boek%202%20-%20Kosten%2C%20opbrengsten%2C%20elasticiteit%20en%20surplus/edities/chat-2026/boek/Boek_2_Compleet.pdf</a:t>
            </a:r>
          </a:p>
          <a:p xmlns:a="http://schemas.openxmlformats.org/drawingml/2006/main">
            <a:r>
              <a:rPr sz="1400"/>
              <a:t>Antwoordmodel: https://github.com/meijer1973/4veco-lessen/blob/a8940a7a79e22857a3e306a91fe923c48c63e716/Boek%202%20-%20Kosten%2C%20opbrengsten%2C%20elasticiteit%20en%20surplus/edities/chat-2026/boek/Boek_2_Compleet_Antwoorden.pdf</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 beginpunt lees je voor de hoogte van PS?</a:t>
            </a:r>
          </a:p>
          <a:p xmlns:a="http://schemas.openxmlformats.org/drawingml/2006/main">
            <a:r>
              <a:rPr sz="1400"/>
              <a:t/>
            </a:r>
          </a:p>
          <a:p xmlns:a="http://schemas.openxmlformats.org/drawingml/2006/main">
            <a:r>
              <a:rPr sz="1400"/>
              <a:t>Uitleg: De hoogte van PS is het prijsverschil tussen 20 en het startpunt 5 van A=MK. TS is 1350 euro. De controle gebruikt de driehoek tussen V en MK. PS is verkopersvoordeel boven de marginale productiekosten en niet zonder meer winst.</a:t>
            </a:r>
          </a:p>
          <a:p xmlns:a="http://schemas.openxmlformats.org/drawingml/2006/main">
            <a:r>
              <a:rPr sz="1400"/>
              <a:t/>
            </a:r>
          </a:p>
          <a:p xmlns:a="http://schemas.openxmlformats.org/drawingml/2006/main">
            <a:r>
              <a:rPr sz="1400"/>
              <a:t>Misvatting: Gebruik niet 20 als volledige hoogte en trek vaste kosten niet nog eens van TS af zonder gevraagde gegevens.</a:t>
            </a:r>
          </a:p>
          <a:p xmlns:a="http://schemas.openxmlformats.org/drawingml/2006/main">
            <a:r>
              <a:rPr sz="1400"/>
              <a:t/>
            </a:r>
          </a:p>
          <a:p xmlns:a="http://schemas.openxmlformats.org/drawingml/2006/main">
            <a:r>
              <a:rPr sz="1400"/>
              <a:t>Overgang: Bekijk de marginale vergelijking bij 50 en 70.</a:t>
            </a:r>
          </a:p>
          <a:p xmlns:a="http://schemas.openxmlformats.org/drawingml/2006/main">
            <a:r>
              <a:rPr sz="1400"/>
              <a:t/>
            </a:r>
          </a:p>
          <a:p xmlns:a="http://schemas.openxmlformats.org/drawingml/2006/main">
            <a:r>
              <a:rPr sz="1400"/>
              <a:t>Bron: leerlingenboek Boek 2, chat-2026, gedrukte pagina 89–90. https://github.com/meijer1973/4veco-lessen/blob/a8940a7a79e22857a3e306a91fe923c48c63e716/Boek%202%20-%20Kosten%2C%20opbrengsten%2C%20elasticiteit%20en%20surplus/edities/chat-2026/boek/Boek_2_Compleet.pdf</a:t>
            </a:r>
          </a:p>
          <a:p xmlns:a="http://schemas.openxmlformats.org/drawingml/2006/main">
            <a:r>
              <a:rPr sz="1400"/>
              <a:t>Antwoordmodel: https://github.com/meijer1973/4veco-lessen/blob/a8940a7a79e22857a3e306a91fe923c48c63e716/Boek%202%20-%20Kosten%2C%20opbrengsten%2C%20elasticiteit%20en%20surplus/edities/chat-2026/boek/Boek_2_Compleet_Antwoorden.pdf</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mag je de MK bij 70 gebruiken?</a:t>
            </a:r>
          </a:p>
          <a:p xmlns:a="http://schemas.openxmlformats.org/drawingml/2006/main">
            <a:r>
              <a:rPr sz="1400"/>
              <a:t/>
            </a:r>
          </a:p>
          <a:p xmlns:a="http://schemas.openxmlformats.org/drawingml/2006/main">
            <a:r>
              <a:rPr sz="1400"/>
              <a:t>Uitleg: Gebruik de brontabel. Beide verschillen betreffen de marginale vergelijking bij die hoeveelheid. Ook bij 70 mag de aanbodlijn als MK worden gelezen, hoewel dat punt rechts van het vrije evenwicht ligt. Die aanname stond uitdrukkelijk in de context.</a:t>
            </a:r>
          </a:p>
          <a:p xmlns:a="http://schemas.openxmlformats.org/drawingml/2006/main">
            <a:r>
              <a:rPr sz="1400"/>
              <a:t/>
            </a:r>
          </a:p>
          <a:p xmlns:a="http://schemas.openxmlformats.org/drawingml/2006/main">
            <a:r>
              <a:rPr sz="1400"/>
              <a:t>Misvatting: Het verschil van 7,50 is geen totaal surplus van 50 of 70 kaartjes.</a:t>
            </a:r>
          </a:p>
          <a:p xmlns:a="http://schemas.openxmlformats.org/drawingml/2006/main">
            <a:r>
              <a:rPr sz="1400"/>
              <a:t/>
            </a:r>
          </a:p>
          <a:p xmlns:a="http://schemas.openxmlformats.org/drawingml/2006/main">
            <a:r>
              <a:rPr sz="1400"/>
              <a:t>Overgang: Verbind de twee tekens met het maximum bij 60.</a:t>
            </a:r>
          </a:p>
          <a:p xmlns:a="http://schemas.openxmlformats.org/drawingml/2006/main">
            <a:r>
              <a:rPr sz="1400"/>
              <a:t/>
            </a:r>
          </a:p>
          <a:p xmlns:a="http://schemas.openxmlformats.org/drawingml/2006/main">
            <a:r>
              <a:rPr sz="1400"/>
              <a:t>Bron: leerlingenboek Boek 2, chat-2026, gedrukte pagina 89–90. https://github.com/meijer1973/4veco-lessen/blob/a8940a7a79e22857a3e306a91fe923c48c63e716/Boek%202%20-%20Kosten%2C%20opbrengsten%2C%20elasticiteit%20en%20surplus/edities/chat-2026/boek/Boek_2_Compleet.pdf</a:t>
            </a:r>
          </a:p>
          <a:p xmlns:a="http://schemas.openxmlformats.org/drawingml/2006/main">
            <a:r>
              <a:rPr sz="1400"/>
              <a:t>Antwoordmodel: https://github.com/meijer1973/4veco-lessen/blob/a8940a7a79e22857a3e306a91fe923c48c63e716/Boek%202%20-%20Kosten%2C%20opbrengsten%2C%20elasticiteit%20en%20surplus/edities/chat-2026/boek/Boek_2_Compleet_Antwoorden.pdf</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zin in je antwoord verklaart het maximum, en welke zin begrenst de conclusie?</a:t>
            </a:r>
          </a:p>
          <a:p xmlns:a="http://schemas.openxmlformats.org/drawingml/2006/main">
            <a:r>
              <a:rPr sz="1400"/>
              <a:t/>
            </a:r>
          </a:p>
          <a:p xmlns:a="http://schemas.openxmlformats.org/drawingml/2006/main">
            <a:r>
              <a:rPr sz="1400"/>
              <a:t>Uitleg: Tot het evenwicht zijn voordelige transacties mogelijk, op de grens is de marginale bijdrage nul en daarna negatief. Zo wordt TS gemaximaliseerd. CS=900 en PS=450 beschrijven de verdeling tussen groepen maar bewijzen geen eerlijkheid of oneerlijkheid. Het model geeft ook geen volledig oordeel over alle maatschappelijke gevolgen. Laat leerlingen een ontbrekende redenering of eenheid in hun eigen antwoord verbeteren.</a:t>
            </a:r>
          </a:p>
          <a:p xmlns:a="http://schemas.openxmlformats.org/drawingml/2006/main">
            <a:r>
              <a:rPr sz="1400"/>
              <a:t/>
            </a:r>
          </a:p>
          <a:p xmlns:a="http://schemas.openxmlformats.org/drawingml/2006/main">
            <a:r>
              <a:rPr sz="1400"/>
              <a:t>Misvatting: Efficiëntie betekent niet automatisch CS=PS.</a:t>
            </a:r>
          </a:p>
          <a:p xmlns:a="http://schemas.openxmlformats.org/drawingml/2006/main">
            <a:r>
              <a:rPr sz="1400"/>
              <a:t/>
            </a:r>
          </a:p>
          <a:p xmlns:a="http://schemas.openxmlformats.org/drawingml/2006/main">
            <a:r>
              <a:rPr sz="1400"/>
              <a:t>Overgang: Keer terug naar het overzicht en noteer het huiswerk.</a:t>
            </a:r>
          </a:p>
          <a:p xmlns:a="http://schemas.openxmlformats.org/drawingml/2006/main">
            <a:r>
              <a:rPr sz="1400"/>
              <a:t/>
            </a:r>
          </a:p>
          <a:p xmlns:a="http://schemas.openxmlformats.org/drawingml/2006/main">
            <a:r>
              <a:rPr sz="1400"/>
              <a:t>Bron: leerlingenboek Boek 2, chat-2026, gedrukte pagina 89–90. https://github.com/meijer1973/4veco-lessen/blob/a8940a7a79e22857a3e306a91fe923c48c63e716/Boek%202%20-%20Kosten%2C%20opbrengsten%2C%20elasticiteit%20en%20surplus/edities/chat-2026/boek/Boek_2_Compleet.pdf</a:t>
            </a:r>
          </a:p>
          <a:p xmlns:a="http://schemas.openxmlformats.org/drawingml/2006/main">
            <a:r>
              <a:rPr sz="1400"/>
              <a:t>Antwoordmodel: https://github.com/meijer1973/4veco-lessen/blob/a8940a7a79e22857a3e306a91fe923c48c63e716/Boek%202%20-%20Kosten%2C%20opbrengsten%2C%20elasticiteit%20en%20surplus/edities/chat-2026/boek/Boek_2_Compleet_Antwoorden.pdf</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stap wil je nog verbeteren?</a:t>
            </a:r>
          </a:p>
          <a:p xmlns:a="http://schemas.openxmlformats.org/drawingml/2006/main">
            <a:r>
              <a:rPr sz="1400"/>
              <a:t/>
            </a:r>
          </a:p>
          <a:p xmlns:a="http://schemas.openxmlformats.org/drawingml/2006/main">
            <a:r>
              <a:rPr sz="1400"/>
              <a:t>Uitleg: Laat het overzicht staan tijdens afsluiting / huiswerk. Start: 1–2 op p. 85. Basis: 3 op p. 86, 4–5 op p. 87. Zelfstandig: 6–7 op p. 88. Doel: 8, bronnen p. 89 en vragen p. 90. Huiswerk 3–8 maken en nakijken. Bonus 9 en herhaling 10–11 zijn extra. De volledige route hoeft niet in één les af. Opgave 1 haalt evenwicht op uit §1.3.2, maar daar stonden Qv(P) en Qa(P). De inverse vorm P(Q) is een verandering van voorstelling. Geef daarom zo nodig vooraf de steun op p. 83: beide formules geven P bij dezelfde Q; stel ze gelijk, los Q op en vul in. Laat dit na dia 7 opnieuw verwoorden. In opgave 2 is kopersvoordeel bekend uit §2.3.1, maar verkopersvoordeel en het wegvallen van de prijs zijn nieuw. Laat de leerling eerst op p. 81 de twee voordelen en figuur 1 lezen, de passende verschillen aanwijzen en twijfel noteren. Dit is verkennen met steun. Bij terugkeer vóór basiswerk: laat 2a–b opnieuw proberen en vraag waarom de betaling wegvalt. Bespreek dan zo nodig de antwoorden: CS 3, PS 4, samen 7 euro.</a:t>
            </a:r>
          </a:p>
          <a:p xmlns:a="http://schemas.openxmlformats.org/drawingml/2006/main">
            <a:r>
              <a:rPr sz="1400"/>
              <a:t/>
            </a:r>
          </a:p>
          <a:p xmlns:a="http://schemas.openxmlformats.org/drawingml/2006/main">
            <a:r>
              <a:rPr sz="1400"/>
              <a:t>Misvatting: Nieuwe leerstof in startopgave 2 is nog geen veronderstelde beheersing. Een startscore bepaalt niet automatisch de oefenroute.</a:t>
            </a:r>
          </a:p>
          <a:p xmlns:a="http://schemas.openxmlformats.org/drawingml/2006/main">
            <a:r>
              <a:rPr sz="1400"/>
              <a:t/>
            </a:r>
          </a:p>
          <a:p xmlns:a="http://schemas.openxmlformats.org/drawingml/2006/main">
            <a:r>
              <a:rPr sz="1400"/>
              <a:t>Overgang: Noteer 3 tot en met 8 maken en nakijken in de agenda.</a:t>
            </a:r>
          </a:p>
          <a:p xmlns:a="http://schemas.openxmlformats.org/drawingml/2006/main">
            <a:r>
              <a:rPr sz="1400"/>
              <a:t/>
            </a:r>
          </a:p>
          <a:p xmlns:a="http://schemas.openxmlformats.org/drawingml/2006/main">
            <a:r>
              <a:rPr sz="1400"/>
              <a:t>Bron: leerlingenboek Boek 2, chat-2026, gedrukte pagina 81, 85–90. https://github.com/meijer1973/4veco-lessen/blob/a8940a7a79e22857a3e306a91fe923c48c63e716/Boek%202%20-%20Kosten%2C%20opbrengsten%2C%20elasticiteit%20en%20surplus/edities/chat-2026/boek/Boek_2_Compleet.pdf</a:t>
            </a:r>
          </a:p>
          <a:p xmlns:a="http://schemas.openxmlformats.org/drawingml/2006/main">
            <a:r>
              <a:rPr sz="1400"/>
              <a:t>Antwoordmodel: https://github.com/meijer1973/4veco-lessen/blob/a8940a7a79e22857a3e306a91fe923c48c63e716/Boek%202%20-%20Kosten%2C%20opbrengsten%2C%20elasticiteit%20en%20surplus/edities/chat-2026/boek/Boek_2_Compleet_Antwoorden.pdf</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bb0971d659b409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2fe53e431dd4653" /><Relationship Type="http://schemas.openxmlformats.org/officeDocument/2006/relationships/slideLayout" Target="/ppt/slideLayouts/slideLayout1.xml" Id="Rc5ab9d3943da462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5ab9d3943da462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44598b059aa40dc" /><Relationship Type="http://schemas.openxmlformats.org/officeDocument/2006/relationships/notesSlide" Target="/ppt/notesSlides/notesSlide1.xml" Id="Rb03f1ee9c9c544b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9422acf7d5a4315" /><Relationship Type="http://schemas.openxmlformats.org/officeDocument/2006/relationships/notesSlide" Target="/ppt/notesSlides/notesSlide2.xml" Id="R43fab6ec23c94ec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7518ef5c6d04997" /><Relationship Type="http://schemas.openxmlformats.org/officeDocument/2006/relationships/notesSlide" Target="/ppt/notesSlides/notesSlide3.xml" Id="R036653f14b3d4f1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ddd633ce7c0421b" /><Relationship Type="http://schemas.openxmlformats.org/officeDocument/2006/relationships/notesSlide" Target="/ppt/notesSlides/notesSlide4.xml" Id="R80a7478e51c04d8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cd4836e63684130" /><Relationship Type="http://schemas.openxmlformats.org/officeDocument/2006/relationships/notesSlide" Target="/ppt/notesSlides/notesSlide5.xml" Id="R63f9ebbe13a6433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91ee612eb4d4eb5" /><Relationship Type="http://schemas.openxmlformats.org/officeDocument/2006/relationships/notesSlide" Target="/ppt/notesSlides/notesSlide6.xml" Id="Ra619c5fca547416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53cf00b80ed4f05" /><Relationship Type="http://schemas.openxmlformats.org/officeDocument/2006/relationships/notesSlide" Target="/ppt/notesSlides/notesSlide7.xml" Id="R433591782b2f4b97"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fcfc56b31b9488c" /><Relationship Type="http://schemas.openxmlformats.org/officeDocument/2006/relationships/chart" Target="/ppt/slides/charts/chart1.xml" Id="R02877e5238e24494" /><Relationship Type="http://schemas.openxmlformats.org/officeDocument/2006/relationships/notesSlide" Target="/ppt/notesSlides/notesSlide8.xml" Id="Rb9f47aef39ea4299"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ddab23be71694115" /><Relationship Type="http://schemas.openxmlformats.org/officeDocument/2006/relationships/chart" Target="/ppt/slides/charts/chart2.xml" Id="R8b5200e254ac4faa" /><Relationship Type="http://schemas.openxmlformats.org/officeDocument/2006/relationships/notesSlide" Target="/ppt/notesSlides/notesSlide9.xml" Id="Rb5b403d69d624a5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9ad9b270bd174930" /><Relationship Type="http://schemas.openxmlformats.org/officeDocument/2006/relationships/chart" Target="/ppt/slides/charts/chart3.xml" Id="R43ae3adc8f6a4855" /><Relationship Type="http://schemas.openxmlformats.org/officeDocument/2006/relationships/notesSlide" Target="/ppt/notesSlides/notesSlide10.xml" Id="R944356f0ec614fe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e0f8f5d37b044d45" /><Relationship Type="http://schemas.openxmlformats.org/officeDocument/2006/relationships/notesSlide" Target="/ppt/notesSlides/notesSlide11.xml" Id="R1cd63f61d4e341b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b5d254dbe76b454d" /><Relationship Type="http://schemas.openxmlformats.org/officeDocument/2006/relationships/notesSlide" Target="/ppt/notesSlides/notesSlide12.xml" Id="R91e7dca27417468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5d90ebf07dc14d17" /><Relationship Type="http://schemas.openxmlformats.org/officeDocument/2006/relationships/notesSlide" Target="/ppt/notesSlides/notesSlide13.xml" Id="R37448a5824664cc7"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df4e328b7f2a4a6e" /><Relationship Type="http://schemas.openxmlformats.org/officeDocument/2006/relationships/notesSlide" Target="/ppt/notesSlides/notesSlide14.xml" Id="R1c1a6ae3895245d5"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3e2a7cdeaebd469f" /><Relationship Type="http://schemas.openxmlformats.org/officeDocument/2006/relationships/notesSlide" Target="/ppt/notesSlides/notesSlide15.xml" Id="Rf107559b7d564b66"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2560107a92c249d9" /><Relationship Type="http://schemas.openxmlformats.org/officeDocument/2006/relationships/notesSlide" Target="/ppt/notesSlides/notesSlide16.xml" Id="R27cd208b72f042f8"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679f82b9c23047ed" /><Relationship Type="http://schemas.openxmlformats.org/officeDocument/2006/relationships/chart" Target="/ppt/slides/charts/chart4.xml" Id="R0d54d51679394597" /><Relationship Type="http://schemas.openxmlformats.org/officeDocument/2006/relationships/notesSlide" Target="/ppt/notesSlides/notesSlide17.xml" Id="R6fa550d5f2f44e45"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0f9e4ecab7fb452f" /><Relationship Type="http://schemas.openxmlformats.org/officeDocument/2006/relationships/notesSlide" Target="/ppt/notesSlides/notesSlide18.xml" Id="R1d4bb603b34c40ee"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d638d04a8873446a" /><Relationship Type="http://schemas.openxmlformats.org/officeDocument/2006/relationships/notesSlide" Target="/ppt/notesSlides/notesSlide19.xml" Id="R1a137eea34a5484d"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95beadf108974e4c" /><Relationship Type="http://schemas.openxmlformats.org/officeDocument/2006/relationships/notesSlide" Target="/ppt/notesSlides/notesSlide20.xml" Id="R1407f08c68524170"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01a37e0a06b14e97" /><Relationship Type="http://schemas.openxmlformats.org/officeDocument/2006/relationships/notesSlide" Target="/ppt/notesSlides/notesSlide21.xml" Id="R7da4cad91eb74717"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bf101553932a4a6f" /><Relationship Type="http://schemas.openxmlformats.org/officeDocument/2006/relationships/chart" Target="/ppt/slides/charts/chart5.xml" Id="Rb40f4f5284264f29" /><Relationship Type="http://schemas.openxmlformats.org/officeDocument/2006/relationships/notesSlide" Target="/ppt/notesSlides/notesSlide22.xml" Id="Ra62df046402c4b97"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8f841d0cfa8c49a0" /><Relationship Type="http://schemas.openxmlformats.org/officeDocument/2006/relationships/notesSlide" Target="/ppt/notesSlides/notesSlide23.xml" Id="R9d359a05e3b6475e"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e613e6ab6cce48c5" /><Relationship Type="http://schemas.openxmlformats.org/officeDocument/2006/relationships/notesSlide" Target="/ppt/notesSlides/notesSlide24.xml" Id="Rb1fb35737fdf48c5"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d400b3f9d4b44c0e" /><Relationship Type="http://schemas.openxmlformats.org/officeDocument/2006/relationships/notesSlide" Target="/ppt/notesSlides/notesSlide25.xml" Id="R6b6aca5c5d764329"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ee05e5f6a6ea4d47" /><Relationship Type="http://schemas.openxmlformats.org/officeDocument/2006/relationships/notesSlide" Target="/ppt/notesSlides/notesSlide26.xml" Id="R74d0dc9ff1bb4874"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5ca16767fbbc410a" /><Relationship Type="http://schemas.openxmlformats.org/officeDocument/2006/relationships/notesSlide" Target="/ppt/notesSlides/notesSlide27.xml" Id="Rb8fcccc8d02a444d"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chart1.xml><?xml version="1.0" encoding="utf-8"?>
<c:chartSpace xmlns:c="http://schemas.openxmlformats.org/drawingml/2006/chart" xmlns:r="http://schemas.openxmlformats.org/officeDocument/2006/relationships">
  <c:lang val="en-US"/>
  <c:chart>
    <c:plotArea>
      <c:scatterChart>
        <c:scatterStyle val="line"/>
        <c:ser>
          <c:idx val="0"/>
          <c:order val="0"/>
          <c:tx>
            <c:v>V</c:v>
          </c:tx>
          <c:spPr>
            <a:ln xmlns:a="http://schemas.openxmlformats.org/drawingml/2006/main" w="38100">
              <a:solidFill>
                <a:srgbClr val="17658A"/>
              </a:solidFill>
              <a:prstDash val="solid"/>
            </a:ln>
          </c:spPr>
          <c:marker>
            <c:symbol val="none"/>
            <c:size val="3"/>
          </c:marker>
          <c:xVal>
            <c:numRef>
              <c:f>'Chart Data'!$A$2:$A$3</c:f>
              <c:numCache>
                <c:formatCode>General</c:formatCode>
                <c:ptCount val="2"/>
                <c:pt idx="0">
                  <c:v>0</c:v>
                </c:pt>
                <c:pt idx="1">
                  <c:v>56</c:v>
                </c:pt>
              </c:numCache>
            </c:numRef>
          </c:xVal>
          <c:yVal>
            <c:numRef>
              <c:f>'Chart Data'!$B$2:$B$3</c:f>
              <c:numCache>
                <c:formatCode>0</c:formatCode>
                <c:ptCount val="2"/>
                <c:pt idx="0">
                  <c:v>28</c:v>
                </c:pt>
                <c:pt idx="1">
                  <c:v>0</c:v>
                </c:pt>
              </c:numCache>
            </c:numRef>
          </c:yVal>
        </c:ser>
        <c:ser>
          <c:idx val="1"/>
          <c:order val="1"/>
          <c:tx>
            <c:v>A = MK</c:v>
          </c:tx>
          <c:spPr>
            <a:ln xmlns:a="http://schemas.openxmlformats.org/drawingml/2006/main" w="38100">
              <a:solidFill>
                <a:srgbClr val="20665B"/>
              </a:solidFill>
              <a:prstDash val="solid"/>
            </a:ln>
          </c:spPr>
          <c:marker>
            <c:symbol val="none"/>
            <c:size val="3"/>
          </c:marker>
          <c:xVal>
            <c:numRef>
              <c:f>'Chart Data'!$C$2:$C$3</c:f>
              <c:numCache>
                <c:formatCode>General</c:formatCode>
                <c:ptCount val="2"/>
                <c:pt idx="0">
                  <c:v>0</c:v>
                </c:pt>
                <c:pt idx="1">
                  <c:v>56</c:v>
                </c:pt>
              </c:numCache>
            </c:numRef>
          </c:xVal>
          <c:yVal>
            <c:numRef>
              <c:f>'Chart Data'!$D$2:$D$3</c:f>
              <c:numCache>
                <c:formatCode>0</c:formatCode>
                <c:ptCount val="2"/>
                <c:pt idx="0">
                  <c:v>4</c:v>
                </c:pt>
                <c:pt idx="1">
                  <c:v>18</c:v>
                </c:pt>
              </c:numCache>
            </c:numRef>
          </c:yVal>
        </c:ser>
        <c:ser>
          <c:idx val="2"/>
          <c:order val="2"/>
          <c:tx>
            <c:v>Pe</c:v>
          </c:tx>
          <c:spPr>
            <a:ln xmlns:a="http://schemas.openxmlformats.org/drawingml/2006/main" w="28575">
              <a:solidFill>
                <a:srgbClr val="A94D16"/>
              </a:solidFill>
              <a:prstDash val="dash"/>
            </a:ln>
          </c:spPr>
          <c:marker>
            <c:symbol val="none"/>
            <c:size val="3"/>
          </c:marker>
          <c:xVal>
            <c:numRef>
              <c:f>'Chart Data'!$E$2:$E$3</c:f>
              <c:numCache>
                <c:formatCode>General</c:formatCode>
                <c:ptCount val="2"/>
                <c:pt idx="0">
                  <c:v>0</c:v>
                </c:pt>
                <c:pt idx="1">
                  <c:v>32</c:v>
                </c:pt>
              </c:numCache>
            </c:numRef>
          </c:xVal>
          <c:yVal>
            <c:numRef>
              <c:f>'Chart Data'!$F$2:$F$3</c:f>
              <c:numCache>
                <c:formatCode>0</c:formatCode>
                <c:ptCount val="2"/>
                <c:pt idx="0">
                  <c:v>12</c:v>
                </c:pt>
                <c:pt idx="1">
                  <c:v>12</c:v>
                </c:pt>
              </c:numCache>
            </c:numRef>
          </c:yVal>
        </c:ser>
        <c:ser>
          <c:idx val="3"/>
          <c:order val="3"/>
          <c:tx>
            <c:v>Qe</c:v>
          </c:tx>
          <c:spPr>
            <a:ln xmlns:a="http://schemas.openxmlformats.org/drawingml/2006/main" w="19050">
              <a:solidFill>
                <a:srgbClr val="445B6B"/>
              </a:solidFill>
              <a:prstDash val="dash"/>
            </a:ln>
          </c:spPr>
          <c:marker>
            <c:symbol val="none"/>
            <c:size val="3"/>
          </c:marker>
          <c:xVal>
            <c:numRef>
              <c:f>'Chart Data'!$G$2:$G$3</c:f>
              <c:numCache>
                <c:formatCode>General</c:formatCode>
                <c:ptCount val="2"/>
                <c:pt idx="0">
                  <c:v>32</c:v>
                </c:pt>
                <c:pt idx="1">
                  <c:v>32</c:v>
                </c:pt>
              </c:numCache>
            </c:numRef>
          </c:xVal>
          <c:yVal>
            <c:numRef>
              <c:f>'Chart Data'!$H$2:$H$3</c:f>
              <c:numCache>
                <c:formatCode>0</c:formatCode>
                <c:ptCount val="2"/>
                <c:pt idx="0">
                  <c:v>0</c:v>
                </c:pt>
                <c:pt idx="1">
                  <c:v>12</c:v>
                </c:pt>
              </c:numCache>
            </c:numRef>
          </c:yVal>
        </c:ser>
        <c:ser>
          <c:idx val="4"/>
          <c:order val="4"/>
          <c:tx>
            <c:v>V</c:v>
          </c:tx>
          <c:spPr>
            <a:ln xmlns:a="http://schemas.openxmlformats.org/drawingml/2006/main" w="0">
              <a:noFill/>
            </a:ln>
          </c:spPr>
          <c:marker>
            <c:symbol val="none"/>
            <c:size val="3"/>
          </c:marker>
          <c:dLbls>
            <c:dLbl>
              <c:idx val="0"/>
              <c:tx>
                <c:rich>
                  <a:bodyPr xmlns:a="http://schemas.openxmlformats.org/drawingml/2006/main"/>
                  <a:lstStyle xmlns:a="http://schemas.openxmlformats.org/drawingml/2006/main"/>
                  <a:p xmlns:a="http://schemas.openxmlformats.org/drawingml/2006/main">
                    <a:r>
                      <a:rPr sz="2100" b="1">
                        <a:solidFill>
                          <a:srgbClr val="17658A"/>
                        </a:solidFill>
                        <a:latin typeface="Arial"/>
                        <a:ea typeface="Arial"/>
                        <a:cs typeface="Arial"/>
                      </a:rPr>
                      <a:t>V</a:t>
                    </a:r>
                  </a:p>
                </c:rich>
              </c:tx>
              <c:txPr>
                <a:bodyPr xmlns:a="http://schemas.openxmlformats.org/drawingml/2006/main" anchorCtr="1"/>
                <a:lstStyle xmlns:a="http://schemas.openxmlformats.org/drawingml/2006/main"/>
                <a:p xmlns:a="http://schemas.openxmlformats.org/drawingml/2006/main">
                  <a:pPr>
                    <a:defRPr sz="2100" b="1">
                      <a:solidFill>
                        <a:srgbClr val="17658A"/>
                      </a:solidFill>
                      <a:latin typeface="Arial"/>
                      <a:ea typeface="Arial"/>
                      <a:cs typeface="Arial"/>
                    </a:defRPr>
                  </a:pPr>
                </a:p>
              </c:txPr>
              <c:showLegendKey val="0"/>
              <c:showVal val="0"/>
              <c:showCatName val="0"/>
              <c:showSerName val="0"/>
              <c:showPercent val="0"/>
              <c:showBubbleSize val="0"/>
            </c:dLbl>
          </c:dLbls>
          <c:xVal>
            <c:numRef>
              <c:f>'Chart Data'!$I$2:$I$2</c:f>
              <c:numCache>
                <c:formatCode>General</c:formatCode>
                <c:ptCount val="1"/>
                <c:pt idx="0">
                  <c:v>48.72</c:v>
                </c:pt>
              </c:numCache>
            </c:numRef>
          </c:xVal>
          <c:yVal>
            <c:numRef>
              <c:f>'Chart Data'!$J$2:$J$2</c:f>
              <c:numCache>
                <c:formatCode>0</c:formatCode>
                <c:ptCount val="1"/>
                <c:pt idx="0">
                  <c:v>3.64</c:v>
                </c:pt>
              </c:numCache>
            </c:numRef>
          </c:yVal>
        </c:ser>
        <c:ser>
          <c:idx val="5"/>
          <c:order val="5"/>
          <c:tx>
            <c:v>A = MK</c:v>
          </c:tx>
          <c:spPr>
            <a:ln xmlns:a="http://schemas.openxmlformats.org/drawingml/2006/main" w="0">
              <a:noFill/>
            </a:ln>
          </c:spPr>
          <c:marker>
            <c:symbol val="none"/>
            <c:size val="3"/>
          </c:marker>
          <c:dLbls>
            <c:dLbl>
              <c:idx val="0"/>
              <c:tx>
                <c:rich>
                  <a:bodyPr xmlns:a="http://schemas.openxmlformats.org/drawingml/2006/main"/>
                  <a:lstStyle xmlns:a="http://schemas.openxmlformats.org/drawingml/2006/main"/>
                  <a:p xmlns:a="http://schemas.openxmlformats.org/drawingml/2006/main">
                    <a:r>
                      <a:rPr sz="2100" b="1">
                        <a:solidFill>
                          <a:srgbClr val="20665B"/>
                        </a:solidFill>
                        <a:latin typeface="Arial"/>
                        <a:ea typeface="Arial"/>
                        <a:cs typeface="Arial"/>
                      </a:rPr>
                      <a:t>A = MK</a:t>
                    </a:r>
                  </a:p>
                </c:rich>
              </c:tx>
              <c:txPr>
                <a:bodyPr xmlns:a="http://schemas.openxmlformats.org/drawingml/2006/main" anchorCtr="1"/>
                <a:lstStyle xmlns:a="http://schemas.openxmlformats.org/drawingml/2006/main"/>
                <a:p xmlns:a="http://schemas.openxmlformats.org/drawingml/2006/main">
                  <a:pPr>
                    <a:defRPr sz="2100" b="1">
                      <a:solidFill>
                        <a:srgbClr val="20665B"/>
                      </a:solidFill>
                      <a:latin typeface="Arial"/>
                      <a:ea typeface="Arial"/>
                      <a:cs typeface="Arial"/>
                    </a:defRPr>
                  </a:pPr>
                </a:p>
              </c:txPr>
              <c:showLegendKey val="0"/>
              <c:showVal val="0"/>
              <c:showCatName val="0"/>
              <c:showSerName val="0"/>
              <c:showPercent val="0"/>
              <c:showBubbleSize val="0"/>
            </c:dLbl>
          </c:dLbls>
          <c:xVal>
            <c:numRef>
              <c:f>'Chart Data'!$K$2:$K$2</c:f>
              <c:numCache>
                <c:formatCode>General</c:formatCode>
                <c:ptCount val="1"/>
                <c:pt idx="0">
                  <c:v>44.8</c:v>
                </c:pt>
              </c:numCache>
            </c:numRef>
          </c:xVal>
          <c:yVal>
            <c:numRef>
              <c:f>'Chart Data'!$L$2:$L$2</c:f>
              <c:numCache>
                <c:formatCode>0</c:formatCode>
                <c:ptCount val="1"/>
                <c:pt idx="0">
                  <c:v>15.2</c:v>
                </c:pt>
              </c:numCache>
            </c:numRef>
          </c:yVal>
        </c:ser>
        <c:ser>
          <c:idx val="6"/>
          <c:order val="6"/>
          <c:tx>
            <c:v>E</c:v>
          </c:tx>
          <c:spPr>
            <a:ln xmlns:a="http://schemas.openxmlformats.org/drawingml/2006/main" w="0">
              <a:noFill/>
            </a:ln>
          </c:spPr>
          <c:marker>
            <c:symbol val="circle"/>
            <c:size val="9"/>
            <c:spPr>
              <a:noFill xmlns:a="http://schemas.openxmlformats.org/drawingml/2006/main"/>
            </c:spPr>
          </c:marker>
          <c:dLbls>
            <c:dLbl>
              <c:idx val="0"/>
              <c:tx>
                <c:rich>
                  <a:bodyPr xmlns:a="http://schemas.openxmlformats.org/drawingml/2006/main"/>
                  <a:lstStyle xmlns:a="http://schemas.openxmlformats.org/drawingml/2006/main"/>
                  <a:p xmlns:a="http://schemas.openxmlformats.org/drawingml/2006/main">
                    <a:r>
                      <a:rPr sz="2100" b="1">
                        <a:solidFill>
                          <a:srgbClr val="183247"/>
                        </a:solidFill>
                        <a:latin typeface="Arial"/>
                        <a:ea typeface="Arial"/>
                        <a:cs typeface="Arial"/>
                      </a:rPr>
                      <a:t>E</a:t>
                    </a:r>
                  </a:p>
                </c:rich>
              </c:tx>
              <c:txPr>
                <a:bodyPr xmlns:a="http://schemas.openxmlformats.org/drawingml/2006/main" anchorCtr="1"/>
                <a:lstStyle xmlns:a="http://schemas.openxmlformats.org/drawingml/2006/main"/>
                <a:p xmlns:a="http://schemas.openxmlformats.org/drawingml/2006/main">
                  <a:pPr>
                    <a:defRPr sz="2100" b="1">
                      <a:solidFill>
                        <a:srgbClr val="183247"/>
                      </a:solidFill>
                      <a:latin typeface="Arial"/>
                      <a:ea typeface="Arial"/>
                      <a:cs typeface="Arial"/>
                    </a:defRPr>
                  </a:pPr>
                </a:p>
              </c:txPr>
              <c:showLegendKey val="0"/>
              <c:showVal val="0"/>
              <c:showCatName val="0"/>
              <c:showSerName val="0"/>
              <c:showPercent val="0"/>
              <c:showBubbleSize val="0"/>
            </c:dLbl>
          </c:dLbls>
          <c:xVal>
            <c:numRef>
              <c:f>'Chart Data'!$M$2:$M$2</c:f>
              <c:numCache>
                <c:formatCode>General</c:formatCode>
                <c:ptCount val="1"/>
                <c:pt idx="0">
                  <c:v>32</c:v>
                </c:pt>
              </c:numCache>
            </c:numRef>
          </c:xVal>
          <c:yVal>
            <c:numRef>
              <c:f>'Chart Data'!$N$2:$N$2</c:f>
              <c:numCache>
                <c:formatCode>0</c:formatCode>
                <c:ptCount val="1"/>
                <c:pt idx="0">
                  <c:v>12</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28"/>
          <c:min val="0"/>
        </c:scaling>
        <c:delete val="0"/>
        <c:axPos val="l"/>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1875">
                    <a:solidFill>
                      <a:srgbClr val="183247"/>
                    </a:solidFill>
                    <a:latin typeface="Arial"/>
                    <a:ea typeface="Arial"/>
                    <a:cs typeface="Arial"/>
                  </a:rPr>
                  <a:t>P (€ per fietsbel)</a:t>
                </a:r>
              </a:p>
            </c:rich>
          </c:tx>
          <c:overlay val="0"/>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crossAx val="48650112"/>
        <c:majorUnit val="4"/>
      </c:valAx>
      <c:valAx>
        <c:axId val="48650112"/>
        <c:scaling>
          <c:orientation val="minMax"/>
          <c:max val="56"/>
          <c:min val="0"/>
        </c:scaling>
        <c:delete val="0"/>
        <c:axPos val="b"/>
        <c:title>
          <c:tx>
            <c:rich>
              <a:bodyPr xmlns:a="http://schemas.openxmlformats.org/drawingml/2006/main"/>
              <a:lstStyle xmlns:a="http://schemas.openxmlformats.org/drawingml/2006/main"/>
              <a:p xmlns:a="http://schemas.openxmlformats.org/drawingml/2006/main">
                <a:r>
                  <a:rPr sz="1875">
                    <a:solidFill>
                      <a:srgbClr val="183247"/>
                    </a:solidFill>
                    <a:latin typeface="Arial"/>
                    <a:ea typeface="Arial"/>
                    <a:cs typeface="Arial"/>
                  </a:rPr>
                  <a:t>Q (fietsbellen)</a:t>
                </a:r>
              </a:p>
            </c:rich>
          </c:tx>
          <c:overlay val="0"/>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crossAx val="48672768"/>
        <c:majorUnit val="8"/>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scatterChart>
        <c:scatterStyle val="line"/>
        <c:ser>
          <c:idx val="0"/>
          <c:order val="0"/>
          <c:tx>
            <c:v>CS arcering 1</c:v>
          </c:tx>
          <c:spPr>
            <a:ln xmlns:a="http://schemas.openxmlformats.org/drawingml/2006/main" w="47625">
              <a:solidFill>
                <a:srgbClr val="85C1E9"/>
              </a:solidFill>
              <a:prstDash val="solid"/>
            </a:ln>
          </c:spPr>
          <c:marker>
            <c:symbol val="none"/>
            <c:size val="3"/>
          </c:marker>
          <c:xVal>
            <c:numRef>
              <c:f>'Chart Data'!$A$2:$A$3</c:f>
              <c:numCache>
                <c:formatCode>General</c:formatCode>
                <c:ptCount val="2"/>
                <c:pt idx="0">
                  <c:v>1</c:v>
                </c:pt>
                <c:pt idx="1">
                  <c:v>1</c:v>
                </c:pt>
              </c:numCache>
            </c:numRef>
          </c:xVal>
          <c:yVal>
            <c:numRef>
              <c:f>'Chart Data'!$B$2:$B$3</c:f>
              <c:numCache>
                <c:formatCode>0</c:formatCode>
                <c:ptCount val="2"/>
                <c:pt idx="0">
                  <c:v>12</c:v>
                </c:pt>
                <c:pt idx="1">
                  <c:v>27.5</c:v>
                </c:pt>
              </c:numCache>
            </c:numRef>
          </c:yVal>
        </c:ser>
        <c:ser>
          <c:idx val="1"/>
          <c:order val="1"/>
          <c:tx>
            <c:v>CS arcering 2</c:v>
          </c:tx>
          <c:spPr>
            <a:ln xmlns:a="http://schemas.openxmlformats.org/drawingml/2006/main" w="47625">
              <a:solidFill>
                <a:srgbClr val="85C1E9"/>
              </a:solidFill>
              <a:prstDash val="solid"/>
            </a:ln>
          </c:spPr>
          <c:marker>
            <c:symbol val="none"/>
            <c:size val="3"/>
          </c:marker>
          <c:xVal>
            <c:numRef>
              <c:f>'Chart Data'!$C$2:$C$3</c:f>
              <c:numCache>
                <c:formatCode>General</c:formatCode>
                <c:ptCount val="2"/>
                <c:pt idx="0">
                  <c:v>2</c:v>
                </c:pt>
                <c:pt idx="1">
                  <c:v>2</c:v>
                </c:pt>
              </c:numCache>
            </c:numRef>
          </c:xVal>
          <c:yVal>
            <c:numRef>
              <c:f>'Chart Data'!$D$2:$D$3</c:f>
              <c:numCache>
                <c:formatCode>0</c:formatCode>
                <c:ptCount val="2"/>
                <c:pt idx="0">
                  <c:v>12</c:v>
                </c:pt>
                <c:pt idx="1">
                  <c:v>27</c:v>
                </c:pt>
              </c:numCache>
            </c:numRef>
          </c:yVal>
        </c:ser>
        <c:ser>
          <c:idx val="2"/>
          <c:order val="2"/>
          <c:tx>
            <c:v>CS arcering 3</c:v>
          </c:tx>
          <c:spPr>
            <a:ln xmlns:a="http://schemas.openxmlformats.org/drawingml/2006/main" w="47625">
              <a:solidFill>
                <a:srgbClr val="85C1E9"/>
              </a:solidFill>
              <a:prstDash val="solid"/>
            </a:ln>
          </c:spPr>
          <c:marker>
            <c:symbol val="none"/>
            <c:size val="3"/>
          </c:marker>
          <c:xVal>
            <c:numRef>
              <c:f>'Chart Data'!$E$2:$E$3</c:f>
              <c:numCache>
                <c:formatCode>General</c:formatCode>
                <c:ptCount val="2"/>
                <c:pt idx="0">
                  <c:v>3</c:v>
                </c:pt>
                <c:pt idx="1">
                  <c:v>3</c:v>
                </c:pt>
              </c:numCache>
            </c:numRef>
          </c:xVal>
          <c:yVal>
            <c:numRef>
              <c:f>'Chart Data'!$F$2:$F$3</c:f>
              <c:numCache>
                <c:formatCode>0</c:formatCode>
                <c:ptCount val="2"/>
                <c:pt idx="0">
                  <c:v>12</c:v>
                </c:pt>
                <c:pt idx="1">
                  <c:v>26.5</c:v>
                </c:pt>
              </c:numCache>
            </c:numRef>
          </c:yVal>
        </c:ser>
        <c:ser>
          <c:idx val="3"/>
          <c:order val="3"/>
          <c:tx>
            <c:v>CS arcering 4</c:v>
          </c:tx>
          <c:spPr>
            <a:ln xmlns:a="http://schemas.openxmlformats.org/drawingml/2006/main" w="47625">
              <a:solidFill>
                <a:srgbClr val="85C1E9"/>
              </a:solidFill>
              <a:prstDash val="solid"/>
            </a:ln>
          </c:spPr>
          <c:marker>
            <c:symbol val="none"/>
            <c:size val="3"/>
          </c:marker>
          <c:xVal>
            <c:numRef>
              <c:f>'Chart Data'!$G$2:$G$3</c:f>
              <c:numCache>
                <c:formatCode>General</c:formatCode>
                <c:ptCount val="2"/>
                <c:pt idx="0">
                  <c:v>4</c:v>
                </c:pt>
                <c:pt idx="1">
                  <c:v>4</c:v>
                </c:pt>
              </c:numCache>
            </c:numRef>
          </c:xVal>
          <c:yVal>
            <c:numRef>
              <c:f>'Chart Data'!$H$2:$H$3</c:f>
              <c:numCache>
                <c:formatCode>0</c:formatCode>
                <c:ptCount val="2"/>
                <c:pt idx="0">
                  <c:v>12</c:v>
                </c:pt>
                <c:pt idx="1">
                  <c:v>26</c:v>
                </c:pt>
              </c:numCache>
            </c:numRef>
          </c:yVal>
        </c:ser>
        <c:ser>
          <c:idx val="4"/>
          <c:order val="4"/>
          <c:tx>
            <c:v>CS arcering 5</c:v>
          </c:tx>
          <c:spPr>
            <a:ln xmlns:a="http://schemas.openxmlformats.org/drawingml/2006/main" w="47625">
              <a:solidFill>
                <a:srgbClr val="85C1E9"/>
              </a:solidFill>
              <a:prstDash val="solid"/>
            </a:ln>
          </c:spPr>
          <c:marker>
            <c:symbol val="none"/>
            <c:size val="3"/>
          </c:marker>
          <c:xVal>
            <c:numRef>
              <c:f>'Chart Data'!$I$2:$I$3</c:f>
              <c:numCache>
                <c:formatCode>General</c:formatCode>
                <c:ptCount val="2"/>
                <c:pt idx="0">
                  <c:v>5</c:v>
                </c:pt>
                <c:pt idx="1">
                  <c:v>5</c:v>
                </c:pt>
              </c:numCache>
            </c:numRef>
          </c:xVal>
          <c:yVal>
            <c:numRef>
              <c:f>'Chart Data'!$J$2:$J$3</c:f>
              <c:numCache>
                <c:formatCode>0</c:formatCode>
                <c:ptCount val="2"/>
                <c:pt idx="0">
                  <c:v>12</c:v>
                </c:pt>
                <c:pt idx="1">
                  <c:v>25.5</c:v>
                </c:pt>
              </c:numCache>
            </c:numRef>
          </c:yVal>
        </c:ser>
        <c:ser>
          <c:idx val="5"/>
          <c:order val="5"/>
          <c:tx>
            <c:v>CS arcering 6</c:v>
          </c:tx>
          <c:spPr>
            <a:ln xmlns:a="http://schemas.openxmlformats.org/drawingml/2006/main" w="47625">
              <a:solidFill>
                <a:srgbClr val="85C1E9"/>
              </a:solidFill>
              <a:prstDash val="solid"/>
            </a:ln>
          </c:spPr>
          <c:marker>
            <c:symbol val="none"/>
            <c:size val="3"/>
          </c:marker>
          <c:xVal>
            <c:numRef>
              <c:f>'Chart Data'!$K$2:$K$3</c:f>
              <c:numCache>
                <c:formatCode>General</c:formatCode>
                <c:ptCount val="2"/>
                <c:pt idx="0">
                  <c:v>6</c:v>
                </c:pt>
                <c:pt idx="1">
                  <c:v>6</c:v>
                </c:pt>
              </c:numCache>
            </c:numRef>
          </c:xVal>
          <c:yVal>
            <c:numRef>
              <c:f>'Chart Data'!$L$2:$L$3</c:f>
              <c:numCache>
                <c:formatCode>0</c:formatCode>
                <c:ptCount val="2"/>
                <c:pt idx="0">
                  <c:v>12</c:v>
                </c:pt>
                <c:pt idx="1">
                  <c:v>25</c:v>
                </c:pt>
              </c:numCache>
            </c:numRef>
          </c:yVal>
        </c:ser>
        <c:ser>
          <c:idx val="6"/>
          <c:order val="6"/>
          <c:tx>
            <c:v>CS arcering 7</c:v>
          </c:tx>
          <c:spPr>
            <a:ln xmlns:a="http://schemas.openxmlformats.org/drawingml/2006/main" w="47625">
              <a:solidFill>
                <a:srgbClr val="85C1E9"/>
              </a:solidFill>
              <a:prstDash val="solid"/>
            </a:ln>
          </c:spPr>
          <c:marker>
            <c:symbol val="none"/>
            <c:size val="3"/>
          </c:marker>
          <c:xVal>
            <c:numRef>
              <c:f>'Chart Data'!$M$2:$M$3</c:f>
              <c:numCache>
                <c:formatCode>General</c:formatCode>
                <c:ptCount val="2"/>
                <c:pt idx="0">
                  <c:v>7</c:v>
                </c:pt>
                <c:pt idx="1">
                  <c:v>7</c:v>
                </c:pt>
              </c:numCache>
            </c:numRef>
          </c:xVal>
          <c:yVal>
            <c:numRef>
              <c:f>'Chart Data'!$N$2:$N$3</c:f>
              <c:numCache>
                <c:formatCode>0</c:formatCode>
                <c:ptCount val="2"/>
                <c:pt idx="0">
                  <c:v>12</c:v>
                </c:pt>
                <c:pt idx="1">
                  <c:v>24.5</c:v>
                </c:pt>
              </c:numCache>
            </c:numRef>
          </c:yVal>
        </c:ser>
        <c:ser>
          <c:idx val="7"/>
          <c:order val="7"/>
          <c:tx>
            <c:v>CS arcering 8</c:v>
          </c:tx>
          <c:spPr>
            <a:ln xmlns:a="http://schemas.openxmlformats.org/drawingml/2006/main" w="47625">
              <a:solidFill>
                <a:srgbClr val="85C1E9"/>
              </a:solidFill>
              <a:prstDash val="solid"/>
            </a:ln>
          </c:spPr>
          <c:marker>
            <c:symbol val="none"/>
            <c:size val="3"/>
          </c:marker>
          <c:xVal>
            <c:numRef>
              <c:f>'Chart Data'!$O$2:$O$3</c:f>
              <c:numCache>
                <c:formatCode>General</c:formatCode>
                <c:ptCount val="2"/>
                <c:pt idx="0">
                  <c:v>8</c:v>
                </c:pt>
                <c:pt idx="1">
                  <c:v>8</c:v>
                </c:pt>
              </c:numCache>
            </c:numRef>
          </c:xVal>
          <c:yVal>
            <c:numRef>
              <c:f>'Chart Data'!$P$2:$P$3</c:f>
              <c:numCache>
                <c:formatCode>0</c:formatCode>
                <c:ptCount val="2"/>
                <c:pt idx="0">
                  <c:v>12</c:v>
                </c:pt>
                <c:pt idx="1">
                  <c:v>24</c:v>
                </c:pt>
              </c:numCache>
            </c:numRef>
          </c:yVal>
        </c:ser>
        <c:ser>
          <c:idx val="8"/>
          <c:order val="8"/>
          <c:tx>
            <c:v>CS arcering 9</c:v>
          </c:tx>
          <c:spPr>
            <a:ln xmlns:a="http://schemas.openxmlformats.org/drawingml/2006/main" w="47625">
              <a:solidFill>
                <a:srgbClr val="85C1E9"/>
              </a:solidFill>
              <a:prstDash val="solid"/>
            </a:ln>
          </c:spPr>
          <c:marker>
            <c:symbol val="none"/>
            <c:size val="3"/>
          </c:marker>
          <c:xVal>
            <c:numRef>
              <c:f>'Chart Data'!$Q$2:$Q$3</c:f>
              <c:numCache>
                <c:formatCode>General</c:formatCode>
                <c:ptCount val="2"/>
                <c:pt idx="0">
                  <c:v>9</c:v>
                </c:pt>
                <c:pt idx="1">
                  <c:v>9</c:v>
                </c:pt>
              </c:numCache>
            </c:numRef>
          </c:xVal>
          <c:yVal>
            <c:numRef>
              <c:f>'Chart Data'!$R$2:$R$3</c:f>
              <c:numCache>
                <c:formatCode>0</c:formatCode>
                <c:ptCount val="2"/>
                <c:pt idx="0">
                  <c:v>12</c:v>
                </c:pt>
                <c:pt idx="1">
                  <c:v>23.5</c:v>
                </c:pt>
              </c:numCache>
            </c:numRef>
          </c:yVal>
        </c:ser>
        <c:ser>
          <c:idx val="9"/>
          <c:order val="9"/>
          <c:tx>
            <c:v>CS arcering 10</c:v>
          </c:tx>
          <c:spPr>
            <a:ln xmlns:a="http://schemas.openxmlformats.org/drawingml/2006/main" w="47625">
              <a:solidFill>
                <a:srgbClr val="85C1E9"/>
              </a:solidFill>
              <a:prstDash val="solid"/>
            </a:ln>
          </c:spPr>
          <c:marker>
            <c:symbol val="none"/>
            <c:size val="3"/>
          </c:marker>
          <c:xVal>
            <c:numRef>
              <c:f>'Chart Data'!$S$2:$S$3</c:f>
              <c:numCache>
                <c:formatCode>General</c:formatCode>
                <c:ptCount val="2"/>
                <c:pt idx="0">
                  <c:v>10</c:v>
                </c:pt>
                <c:pt idx="1">
                  <c:v>10</c:v>
                </c:pt>
              </c:numCache>
            </c:numRef>
          </c:xVal>
          <c:yVal>
            <c:numRef>
              <c:f>'Chart Data'!$T$2:$T$3</c:f>
              <c:numCache>
                <c:formatCode>0</c:formatCode>
                <c:ptCount val="2"/>
                <c:pt idx="0">
                  <c:v>12</c:v>
                </c:pt>
                <c:pt idx="1">
                  <c:v>23</c:v>
                </c:pt>
              </c:numCache>
            </c:numRef>
          </c:yVal>
        </c:ser>
        <c:ser>
          <c:idx val="10"/>
          <c:order val="10"/>
          <c:tx>
            <c:v>CS arcering 11</c:v>
          </c:tx>
          <c:spPr>
            <a:ln xmlns:a="http://schemas.openxmlformats.org/drawingml/2006/main" w="47625">
              <a:solidFill>
                <a:srgbClr val="85C1E9"/>
              </a:solidFill>
              <a:prstDash val="solid"/>
            </a:ln>
          </c:spPr>
          <c:marker>
            <c:symbol val="none"/>
            <c:size val="3"/>
          </c:marker>
          <c:xVal>
            <c:numRef>
              <c:f>'Chart Data'!$U$2:$U$3</c:f>
              <c:numCache>
                <c:formatCode>General</c:formatCode>
                <c:ptCount val="2"/>
                <c:pt idx="0">
                  <c:v>11</c:v>
                </c:pt>
                <c:pt idx="1">
                  <c:v>11</c:v>
                </c:pt>
              </c:numCache>
            </c:numRef>
          </c:xVal>
          <c:yVal>
            <c:numRef>
              <c:f>'Chart Data'!$V$2:$V$3</c:f>
              <c:numCache>
                <c:formatCode>0</c:formatCode>
                <c:ptCount val="2"/>
                <c:pt idx="0">
                  <c:v>12</c:v>
                </c:pt>
                <c:pt idx="1">
                  <c:v>22.5</c:v>
                </c:pt>
              </c:numCache>
            </c:numRef>
          </c:yVal>
        </c:ser>
        <c:ser>
          <c:idx val="11"/>
          <c:order val="11"/>
          <c:tx>
            <c:v>CS arcering 12</c:v>
          </c:tx>
          <c:spPr>
            <a:ln xmlns:a="http://schemas.openxmlformats.org/drawingml/2006/main" w="47625">
              <a:solidFill>
                <a:srgbClr val="85C1E9"/>
              </a:solidFill>
              <a:prstDash val="solid"/>
            </a:ln>
          </c:spPr>
          <c:marker>
            <c:symbol val="none"/>
            <c:size val="3"/>
          </c:marker>
          <c:xVal>
            <c:numRef>
              <c:f>'Chart Data'!$W$2:$W$3</c:f>
              <c:numCache>
                <c:formatCode>General</c:formatCode>
                <c:ptCount val="2"/>
                <c:pt idx="0">
                  <c:v>12</c:v>
                </c:pt>
                <c:pt idx="1">
                  <c:v>12</c:v>
                </c:pt>
              </c:numCache>
            </c:numRef>
          </c:xVal>
          <c:yVal>
            <c:numRef>
              <c:f>'Chart Data'!$X$2:$X$3</c:f>
              <c:numCache>
                <c:formatCode>0</c:formatCode>
                <c:ptCount val="2"/>
                <c:pt idx="0">
                  <c:v>12</c:v>
                </c:pt>
                <c:pt idx="1">
                  <c:v>22</c:v>
                </c:pt>
              </c:numCache>
            </c:numRef>
          </c:yVal>
        </c:ser>
        <c:ser>
          <c:idx val="12"/>
          <c:order val="12"/>
          <c:tx>
            <c:v>CS arcering 13</c:v>
          </c:tx>
          <c:spPr>
            <a:ln xmlns:a="http://schemas.openxmlformats.org/drawingml/2006/main" w="47625">
              <a:solidFill>
                <a:srgbClr val="85C1E9"/>
              </a:solidFill>
              <a:prstDash val="solid"/>
            </a:ln>
          </c:spPr>
          <c:marker>
            <c:symbol val="none"/>
            <c:size val="3"/>
          </c:marker>
          <c:xVal>
            <c:numRef>
              <c:f>'Chart Data'!$Y$2:$Y$3</c:f>
              <c:numCache>
                <c:formatCode>General</c:formatCode>
                <c:ptCount val="2"/>
                <c:pt idx="0">
                  <c:v>13</c:v>
                </c:pt>
                <c:pt idx="1">
                  <c:v>13</c:v>
                </c:pt>
              </c:numCache>
            </c:numRef>
          </c:xVal>
          <c:yVal>
            <c:numRef>
              <c:f>'Chart Data'!$Z$2:$Z$3</c:f>
              <c:numCache>
                <c:formatCode>0</c:formatCode>
                <c:ptCount val="2"/>
                <c:pt idx="0">
                  <c:v>12</c:v>
                </c:pt>
                <c:pt idx="1">
                  <c:v>21.5</c:v>
                </c:pt>
              </c:numCache>
            </c:numRef>
          </c:yVal>
        </c:ser>
        <c:ser>
          <c:idx val="13"/>
          <c:order val="13"/>
          <c:tx>
            <c:v>CS arcering 14</c:v>
          </c:tx>
          <c:spPr>
            <a:ln xmlns:a="http://schemas.openxmlformats.org/drawingml/2006/main" w="47625">
              <a:solidFill>
                <a:srgbClr val="85C1E9"/>
              </a:solidFill>
              <a:prstDash val="solid"/>
            </a:ln>
          </c:spPr>
          <c:marker>
            <c:symbol val="none"/>
            <c:size val="3"/>
          </c:marker>
          <c:xVal>
            <c:numRef>
              <c:f>'Chart Data'!$AA$2:$AA$3</c:f>
              <c:numCache>
                <c:formatCode>General</c:formatCode>
                <c:ptCount val="2"/>
                <c:pt idx="0">
                  <c:v>14</c:v>
                </c:pt>
                <c:pt idx="1">
                  <c:v>14</c:v>
                </c:pt>
              </c:numCache>
            </c:numRef>
          </c:xVal>
          <c:yVal>
            <c:numRef>
              <c:f>'Chart Data'!$AB$2:$AB$3</c:f>
              <c:numCache>
                <c:formatCode>0</c:formatCode>
                <c:ptCount val="2"/>
                <c:pt idx="0">
                  <c:v>12</c:v>
                </c:pt>
                <c:pt idx="1">
                  <c:v>21</c:v>
                </c:pt>
              </c:numCache>
            </c:numRef>
          </c:yVal>
        </c:ser>
        <c:ser>
          <c:idx val="14"/>
          <c:order val="14"/>
          <c:tx>
            <c:v>CS arcering 15</c:v>
          </c:tx>
          <c:spPr>
            <a:ln xmlns:a="http://schemas.openxmlformats.org/drawingml/2006/main" w="47625">
              <a:solidFill>
                <a:srgbClr val="85C1E9"/>
              </a:solidFill>
              <a:prstDash val="solid"/>
            </a:ln>
          </c:spPr>
          <c:marker>
            <c:symbol val="none"/>
            <c:size val="3"/>
          </c:marker>
          <c:xVal>
            <c:numRef>
              <c:f>'Chart Data'!$AC$2:$AC$3</c:f>
              <c:numCache>
                <c:formatCode>General</c:formatCode>
                <c:ptCount val="2"/>
                <c:pt idx="0">
                  <c:v>15</c:v>
                </c:pt>
                <c:pt idx="1">
                  <c:v>15</c:v>
                </c:pt>
              </c:numCache>
            </c:numRef>
          </c:xVal>
          <c:yVal>
            <c:numRef>
              <c:f>'Chart Data'!$AD$2:$AD$3</c:f>
              <c:numCache>
                <c:formatCode>0</c:formatCode>
                <c:ptCount val="2"/>
                <c:pt idx="0">
                  <c:v>12</c:v>
                </c:pt>
                <c:pt idx="1">
                  <c:v>20.5</c:v>
                </c:pt>
              </c:numCache>
            </c:numRef>
          </c:yVal>
        </c:ser>
        <c:ser>
          <c:idx val="15"/>
          <c:order val="15"/>
          <c:tx>
            <c:v>CS arcering 16</c:v>
          </c:tx>
          <c:spPr>
            <a:ln xmlns:a="http://schemas.openxmlformats.org/drawingml/2006/main" w="47625">
              <a:solidFill>
                <a:srgbClr val="85C1E9"/>
              </a:solidFill>
              <a:prstDash val="solid"/>
            </a:ln>
          </c:spPr>
          <c:marker>
            <c:symbol val="none"/>
            <c:size val="3"/>
          </c:marker>
          <c:xVal>
            <c:numRef>
              <c:f>'Chart Data'!$AE$2:$AE$3</c:f>
              <c:numCache>
                <c:formatCode>General</c:formatCode>
                <c:ptCount val="2"/>
                <c:pt idx="0">
                  <c:v>16</c:v>
                </c:pt>
                <c:pt idx="1">
                  <c:v>16</c:v>
                </c:pt>
              </c:numCache>
            </c:numRef>
          </c:xVal>
          <c:yVal>
            <c:numRef>
              <c:f>'Chart Data'!$AF$2:$AF$3</c:f>
              <c:numCache>
                <c:formatCode>0</c:formatCode>
                <c:ptCount val="2"/>
                <c:pt idx="0">
                  <c:v>12</c:v>
                </c:pt>
                <c:pt idx="1">
                  <c:v>20</c:v>
                </c:pt>
              </c:numCache>
            </c:numRef>
          </c:yVal>
        </c:ser>
        <c:ser>
          <c:idx val="16"/>
          <c:order val="16"/>
          <c:tx>
            <c:v>CS arcering 17</c:v>
          </c:tx>
          <c:spPr>
            <a:ln xmlns:a="http://schemas.openxmlformats.org/drawingml/2006/main" w="47625">
              <a:solidFill>
                <a:srgbClr val="85C1E9"/>
              </a:solidFill>
              <a:prstDash val="solid"/>
            </a:ln>
          </c:spPr>
          <c:marker>
            <c:symbol val="none"/>
            <c:size val="3"/>
          </c:marker>
          <c:xVal>
            <c:numRef>
              <c:f>'Chart Data'!$AG$2:$AG$3</c:f>
              <c:numCache>
                <c:formatCode>General</c:formatCode>
                <c:ptCount val="2"/>
                <c:pt idx="0">
                  <c:v>17</c:v>
                </c:pt>
                <c:pt idx="1">
                  <c:v>17</c:v>
                </c:pt>
              </c:numCache>
            </c:numRef>
          </c:xVal>
          <c:yVal>
            <c:numRef>
              <c:f>'Chart Data'!$AH$2:$AH$3</c:f>
              <c:numCache>
                <c:formatCode>0</c:formatCode>
                <c:ptCount val="2"/>
                <c:pt idx="0">
                  <c:v>12</c:v>
                </c:pt>
                <c:pt idx="1">
                  <c:v>19.5</c:v>
                </c:pt>
              </c:numCache>
            </c:numRef>
          </c:yVal>
        </c:ser>
        <c:ser>
          <c:idx val="17"/>
          <c:order val="17"/>
          <c:tx>
            <c:v>CS arcering 18</c:v>
          </c:tx>
          <c:spPr>
            <a:ln xmlns:a="http://schemas.openxmlformats.org/drawingml/2006/main" w="47625">
              <a:solidFill>
                <a:srgbClr val="85C1E9"/>
              </a:solidFill>
              <a:prstDash val="solid"/>
            </a:ln>
          </c:spPr>
          <c:marker>
            <c:symbol val="none"/>
            <c:size val="3"/>
          </c:marker>
          <c:xVal>
            <c:numRef>
              <c:f>'Chart Data'!$AI$2:$AI$3</c:f>
              <c:numCache>
                <c:formatCode>General</c:formatCode>
                <c:ptCount val="2"/>
                <c:pt idx="0">
                  <c:v>18</c:v>
                </c:pt>
                <c:pt idx="1">
                  <c:v>18</c:v>
                </c:pt>
              </c:numCache>
            </c:numRef>
          </c:xVal>
          <c:yVal>
            <c:numRef>
              <c:f>'Chart Data'!$AJ$2:$AJ$3</c:f>
              <c:numCache>
                <c:formatCode>0</c:formatCode>
                <c:ptCount val="2"/>
                <c:pt idx="0">
                  <c:v>12</c:v>
                </c:pt>
                <c:pt idx="1">
                  <c:v>19</c:v>
                </c:pt>
              </c:numCache>
            </c:numRef>
          </c:yVal>
        </c:ser>
        <c:ser>
          <c:idx val="18"/>
          <c:order val="18"/>
          <c:tx>
            <c:v>CS arcering 19</c:v>
          </c:tx>
          <c:spPr>
            <a:ln xmlns:a="http://schemas.openxmlformats.org/drawingml/2006/main" w="47625">
              <a:solidFill>
                <a:srgbClr val="85C1E9"/>
              </a:solidFill>
              <a:prstDash val="solid"/>
            </a:ln>
          </c:spPr>
          <c:marker>
            <c:symbol val="none"/>
            <c:size val="3"/>
          </c:marker>
          <c:xVal>
            <c:numRef>
              <c:f>'Chart Data'!$AK$2:$AK$3</c:f>
              <c:numCache>
                <c:formatCode>General</c:formatCode>
                <c:ptCount val="2"/>
                <c:pt idx="0">
                  <c:v>19</c:v>
                </c:pt>
                <c:pt idx="1">
                  <c:v>19</c:v>
                </c:pt>
              </c:numCache>
            </c:numRef>
          </c:xVal>
          <c:yVal>
            <c:numRef>
              <c:f>'Chart Data'!$AL$2:$AL$3</c:f>
              <c:numCache>
                <c:formatCode>0</c:formatCode>
                <c:ptCount val="2"/>
                <c:pt idx="0">
                  <c:v>12</c:v>
                </c:pt>
                <c:pt idx="1">
                  <c:v>18.5</c:v>
                </c:pt>
              </c:numCache>
            </c:numRef>
          </c:yVal>
        </c:ser>
        <c:ser>
          <c:idx val="19"/>
          <c:order val="19"/>
          <c:tx>
            <c:v>CS arcering 20</c:v>
          </c:tx>
          <c:spPr>
            <a:ln xmlns:a="http://schemas.openxmlformats.org/drawingml/2006/main" w="47625">
              <a:solidFill>
                <a:srgbClr val="85C1E9"/>
              </a:solidFill>
              <a:prstDash val="solid"/>
            </a:ln>
          </c:spPr>
          <c:marker>
            <c:symbol val="none"/>
            <c:size val="3"/>
          </c:marker>
          <c:xVal>
            <c:numRef>
              <c:f>'Chart Data'!$AM$2:$AM$3</c:f>
              <c:numCache>
                <c:formatCode>General</c:formatCode>
                <c:ptCount val="2"/>
                <c:pt idx="0">
                  <c:v>20</c:v>
                </c:pt>
                <c:pt idx="1">
                  <c:v>20</c:v>
                </c:pt>
              </c:numCache>
            </c:numRef>
          </c:xVal>
          <c:yVal>
            <c:numRef>
              <c:f>'Chart Data'!$AN$2:$AN$3</c:f>
              <c:numCache>
                <c:formatCode>0</c:formatCode>
                <c:ptCount val="2"/>
                <c:pt idx="0">
                  <c:v>12</c:v>
                </c:pt>
                <c:pt idx="1">
                  <c:v>18</c:v>
                </c:pt>
              </c:numCache>
            </c:numRef>
          </c:yVal>
        </c:ser>
        <c:ser>
          <c:idx val="20"/>
          <c:order val="20"/>
          <c:tx>
            <c:v>CS arcering 21</c:v>
          </c:tx>
          <c:spPr>
            <a:ln xmlns:a="http://schemas.openxmlformats.org/drawingml/2006/main" w="47625">
              <a:solidFill>
                <a:srgbClr val="85C1E9"/>
              </a:solidFill>
              <a:prstDash val="solid"/>
            </a:ln>
          </c:spPr>
          <c:marker>
            <c:symbol val="none"/>
            <c:size val="3"/>
          </c:marker>
          <c:xVal>
            <c:numRef>
              <c:f>'Chart Data'!$AO$2:$AO$3</c:f>
              <c:numCache>
                <c:formatCode>General</c:formatCode>
                <c:ptCount val="2"/>
                <c:pt idx="0">
                  <c:v>21</c:v>
                </c:pt>
                <c:pt idx="1">
                  <c:v>21</c:v>
                </c:pt>
              </c:numCache>
            </c:numRef>
          </c:xVal>
          <c:yVal>
            <c:numRef>
              <c:f>'Chart Data'!$AP$2:$AP$3</c:f>
              <c:numCache>
                <c:formatCode>0</c:formatCode>
                <c:ptCount val="2"/>
                <c:pt idx="0">
                  <c:v>12</c:v>
                </c:pt>
                <c:pt idx="1">
                  <c:v>17.5</c:v>
                </c:pt>
              </c:numCache>
            </c:numRef>
          </c:yVal>
        </c:ser>
        <c:ser>
          <c:idx val="21"/>
          <c:order val="21"/>
          <c:tx>
            <c:v>CS arcering 22</c:v>
          </c:tx>
          <c:spPr>
            <a:ln xmlns:a="http://schemas.openxmlformats.org/drawingml/2006/main" w="47625">
              <a:solidFill>
                <a:srgbClr val="85C1E9"/>
              </a:solidFill>
              <a:prstDash val="solid"/>
            </a:ln>
          </c:spPr>
          <c:marker>
            <c:symbol val="none"/>
            <c:size val="3"/>
          </c:marker>
          <c:xVal>
            <c:numRef>
              <c:f>'Chart Data'!$AQ$2:$AQ$3</c:f>
              <c:numCache>
                <c:formatCode>General</c:formatCode>
                <c:ptCount val="2"/>
                <c:pt idx="0">
                  <c:v>22</c:v>
                </c:pt>
                <c:pt idx="1">
                  <c:v>22</c:v>
                </c:pt>
              </c:numCache>
            </c:numRef>
          </c:xVal>
          <c:yVal>
            <c:numRef>
              <c:f>'Chart Data'!$AR$2:$AR$3</c:f>
              <c:numCache>
                <c:formatCode>0</c:formatCode>
                <c:ptCount val="2"/>
                <c:pt idx="0">
                  <c:v>12</c:v>
                </c:pt>
                <c:pt idx="1">
                  <c:v>17</c:v>
                </c:pt>
              </c:numCache>
            </c:numRef>
          </c:yVal>
        </c:ser>
        <c:ser>
          <c:idx val="22"/>
          <c:order val="22"/>
          <c:tx>
            <c:v>CS arcering 23</c:v>
          </c:tx>
          <c:spPr>
            <a:ln xmlns:a="http://schemas.openxmlformats.org/drawingml/2006/main" w="47625">
              <a:solidFill>
                <a:srgbClr val="85C1E9"/>
              </a:solidFill>
              <a:prstDash val="solid"/>
            </a:ln>
          </c:spPr>
          <c:marker>
            <c:symbol val="none"/>
            <c:size val="3"/>
          </c:marker>
          <c:xVal>
            <c:numRef>
              <c:f>'Chart Data'!$AS$2:$AS$3</c:f>
              <c:numCache>
                <c:formatCode>General</c:formatCode>
                <c:ptCount val="2"/>
                <c:pt idx="0">
                  <c:v>23</c:v>
                </c:pt>
                <c:pt idx="1">
                  <c:v>23</c:v>
                </c:pt>
              </c:numCache>
            </c:numRef>
          </c:xVal>
          <c:yVal>
            <c:numRef>
              <c:f>'Chart Data'!$AT$2:$AT$3</c:f>
              <c:numCache>
                <c:formatCode>0</c:formatCode>
                <c:ptCount val="2"/>
                <c:pt idx="0">
                  <c:v>12</c:v>
                </c:pt>
                <c:pt idx="1">
                  <c:v>16.5</c:v>
                </c:pt>
              </c:numCache>
            </c:numRef>
          </c:yVal>
        </c:ser>
        <c:ser>
          <c:idx val="23"/>
          <c:order val="23"/>
          <c:tx>
            <c:v>CS arcering 24</c:v>
          </c:tx>
          <c:spPr>
            <a:ln xmlns:a="http://schemas.openxmlformats.org/drawingml/2006/main" w="47625">
              <a:solidFill>
                <a:srgbClr val="85C1E9"/>
              </a:solidFill>
              <a:prstDash val="solid"/>
            </a:ln>
          </c:spPr>
          <c:marker>
            <c:symbol val="none"/>
            <c:size val="3"/>
          </c:marker>
          <c:xVal>
            <c:numRef>
              <c:f>'Chart Data'!$AU$2:$AU$3</c:f>
              <c:numCache>
                <c:formatCode>General</c:formatCode>
                <c:ptCount val="2"/>
                <c:pt idx="0">
                  <c:v>24</c:v>
                </c:pt>
                <c:pt idx="1">
                  <c:v>24</c:v>
                </c:pt>
              </c:numCache>
            </c:numRef>
          </c:xVal>
          <c:yVal>
            <c:numRef>
              <c:f>'Chart Data'!$AV$2:$AV$3</c:f>
              <c:numCache>
                <c:formatCode>0</c:formatCode>
                <c:ptCount val="2"/>
                <c:pt idx="0">
                  <c:v>12</c:v>
                </c:pt>
                <c:pt idx="1">
                  <c:v>16</c:v>
                </c:pt>
              </c:numCache>
            </c:numRef>
          </c:yVal>
        </c:ser>
        <c:ser>
          <c:idx val="24"/>
          <c:order val="24"/>
          <c:tx>
            <c:v>CS arcering 25</c:v>
          </c:tx>
          <c:spPr>
            <a:ln xmlns:a="http://schemas.openxmlformats.org/drawingml/2006/main" w="47625">
              <a:solidFill>
                <a:srgbClr val="85C1E9"/>
              </a:solidFill>
              <a:prstDash val="solid"/>
            </a:ln>
          </c:spPr>
          <c:marker>
            <c:symbol val="none"/>
            <c:size val="3"/>
          </c:marker>
          <c:xVal>
            <c:numRef>
              <c:f>'Chart Data'!$AW$2:$AW$3</c:f>
              <c:numCache>
                <c:formatCode>General</c:formatCode>
                <c:ptCount val="2"/>
                <c:pt idx="0">
                  <c:v>25</c:v>
                </c:pt>
                <c:pt idx="1">
                  <c:v>25</c:v>
                </c:pt>
              </c:numCache>
            </c:numRef>
          </c:xVal>
          <c:yVal>
            <c:numRef>
              <c:f>'Chart Data'!$AX$2:$AX$3</c:f>
              <c:numCache>
                <c:formatCode>0</c:formatCode>
                <c:ptCount val="2"/>
                <c:pt idx="0">
                  <c:v>12</c:v>
                </c:pt>
                <c:pt idx="1">
                  <c:v>15.5</c:v>
                </c:pt>
              </c:numCache>
            </c:numRef>
          </c:yVal>
        </c:ser>
        <c:ser>
          <c:idx val="25"/>
          <c:order val="25"/>
          <c:tx>
            <c:v>CS arcering 26</c:v>
          </c:tx>
          <c:spPr>
            <a:ln xmlns:a="http://schemas.openxmlformats.org/drawingml/2006/main" w="47625">
              <a:solidFill>
                <a:srgbClr val="85C1E9"/>
              </a:solidFill>
              <a:prstDash val="solid"/>
            </a:ln>
          </c:spPr>
          <c:marker>
            <c:symbol val="none"/>
            <c:size val="3"/>
          </c:marker>
          <c:xVal>
            <c:numRef>
              <c:f>'Chart Data'!$AY$2:$AY$3</c:f>
              <c:numCache>
                <c:formatCode>General</c:formatCode>
                <c:ptCount val="2"/>
                <c:pt idx="0">
                  <c:v>26</c:v>
                </c:pt>
                <c:pt idx="1">
                  <c:v>26</c:v>
                </c:pt>
              </c:numCache>
            </c:numRef>
          </c:xVal>
          <c:yVal>
            <c:numRef>
              <c:f>'Chart Data'!$AZ$2:$AZ$3</c:f>
              <c:numCache>
                <c:formatCode>0</c:formatCode>
                <c:ptCount val="2"/>
                <c:pt idx="0">
                  <c:v>12</c:v>
                </c:pt>
                <c:pt idx="1">
                  <c:v>15</c:v>
                </c:pt>
              </c:numCache>
            </c:numRef>
          </c:yVal>
        </c:ser>
        <c:ser>
          <c:idx val="26"/>
          <c:order val="26"/>
          <c:tx>
            <c:v>CS arcering 27</c:v>
          </c:tx>
          <c:spPr>
            <a:ln xmlns:a="http://schemas.openxmlformats.org/drawingml/2006/main" w="47625">
              <a:solidFill>
                <a:srgbClr val="85C1E9"/>
              </a:solidFill>
              <a:prstDash val="solid"/>
            </a:ln>
          </c:spPr>
          <c:marker>
            <c:symbol val="none"/>
            <c:size val="3"/>
          </c:marker>
          <c:xVal>
            <c:numRef>
              <c:f>'Chart Data'!$BA$2:$BA$3</c:f>
              <c:numCache>
                <c:formatCode>General</c:formatCode>
                <c:ptCount val="2"/>
                <c:pt idx="0">
                  <c:v>27</c:v>
                </c:pt>
                <c:pt idx="1">
                  <c:v>27</c:v>
                </c:pt>
              </c:numCache>
            </c:numRef>
          </c:xVal>
          <c:yVal>
            <c:numRef>
              <c:f>'Chart Data'!$BB$2:$BB$3</c:f>
              <c:numCache>
                <c:formatCode>0</c:formatCode>
                <c:ptCount val="2"/>
                <c:pt idx="0">
                  <c:v>12</c:v>
                </c:pt>
                <c:pt idx="1">
                  <c:v>14.5</c:v>
                </c:pt>
              </c:numCache>
            </c:numRef>
          </c:yVal>
        </c:ser>
        <c:ser>
          <c:idx val="27"/>
          <c:order val="27"/>
          <c:tx>
            <c:v>CS arcering 28</c:v>
          </c:tx>
          <c:spPr>
            <a:ln xmlns:a="http://schemas.openxmlformats.org/drawingml/2006/main" w="47625">
              <a:solidFill>
                <a:srgbClr val="85C1E9"/>
              </a:solidFill>
              <a:prstDash val="solid"/>
            </a:ln>
          </c:spPr>
          <c:marker>
            <c:symbol val="none"/>
            <c:size val="3"/>
          </c:marker>
          <c:xVal>
            <c:numRef>
              <c:f>'Chart Data'!$BC$2:$BC$3</c:f>
              <c:numCache>
                <c:formatCode>General</c:formatCode>
                <c:ptCount val="2"/>
                <c:pt idx="0">
                  <c:v>28</c:v>
                </c:pt>
                <c:pt idx="1">
                  <c:v>28</c:v>
                </c:pt>
              </c:numCache>
            </c:numRef>
          </c:xVal>
          <c:yVal>
            <c:numRef>
              <c:f>'Chart Data'!$BD$2:$BD$3</c:f>
              <c:numCache>
                <c:formatCode>0</c:formatCode>
                <c:ptCount val="2"/>
                <c:pt idx="0">
                  <c:v>12</c:v>
                </c:pt>
                <c:pt idx="1">
                  <c:v>14</c:v>
                </c:pt>
              </c:numCache>
            </c:numRef>
          </c:yVal>
        </c:ser>
        <c:ser>
          <c:idx val="28"/>
          <c:order val="28"/>
          <c:tx>
            <c:v>CS arcering 29</c:v>
          </c:tx>
          <c:spPr>
            <a:ln xmlns:a="http://schemas.openxmlformats.org/drawingml/2006/main" w="47625">
              <a:solidFill>
                <a:srgbClr val="85C1E9"/>
              </a:solidFill>
              <a:prstDash val="solid"/>
            </a:ln>
          </c:spPr>
          <c:marker>
            <c:symbol val="none"/>
            <c:size val="3"/>
          </c:marker>
          <c:xVal>
            <c:numRef>
              <c:f>'Chart Data'!$BE$2:$BE$3</c:f>
              <c:numCache>
                <c:formatCode>General</c:formatCode>
                <c:ptCount val="2"/>
                <c:pt idx="0">
                  <c:v>29</c:v>
                </c:pt>
                <c:pt idx="1">
                  <c:v>29</c:v>
                </c:pt>
              </c:numCache>
            </c:numRef>
          </c:xVal>
          <c:yVal>
            <c:numRef>
              <c:f>'Chart Data'!$BF$2:$BF$3</c:f>
              <c:numCache>
                <c:formatCode>0</c:formatCode>
                <c:ptCount val="2"/>
                <c:pt idx="0">
                  <c:v>12</c:v>
                </c:pt>
                <c:pt idx="1">
                  <c:v>13.5</c:v>
                </c:pt>
              </c:numCache>
            </c:numRef>
          </c:yVal>
        </c:ser>
        <c:ser>
          <c:idx val="29"/>
          <c:order val="29"/>
          <c:tx>
            <c:v>CS arcering 30</c:v>
          </c:tx>
          <c:spPr>
            <a:ln xmlns:a="http://schemas.openxmlformats.org/drawingml/2006/main" w="47625">
              <a:solidFill>
                <a:srgbClr val="85C1E9"/>
              </a:solidFill>
              <a:prstDash val="solid"/>
            </a:ln>
          </c:spPr>
          <c:marker>
            <c:symbol val="none"/>
            <c:size val="3"/>
          </c:marker>
          <c:xVal>
            <c:numRef>
              <c:f>'Chart Data'!$BG$2:$BG$3</c:f>
              <c:numCache>
                <c:formatCode>General</c:formatCode>
                <c:ptCount val="2"/>
                <c:pt idx="0">
                  <c:v>30</c:v>
                </c:pt>
                <c:pt idx="1">
                  <c:v>30</c:v>
                </c:pt>
              </c:numCache>
            </c:numRef>
          </c:xVal>
          <c:yVal>
            <c:numRef>
              <c:f>'Chart Data'!$BH$2:$BH$3</c:f>
              <c:numCache>
                <c:formatCode>0</c:formatCode>
                <c:ptCount val="2"/>
                <c:pt idx="0">
                  <c:v>12</c:v>
                </c:pt>
                <c:pt idx="1">
                  <c:v>13</c:v>
                </c:pt>
              </c:numCache>
            </c:numRef>
          </c:yVal>
        </c:ser>
        <c:ser>
          <c:idx val="30"/>
          <c:order val="30"/>
          <c:tx>
            <c:v>CS arcering 31</c:v>
          </c:tx>
          <c:spPr>
            <a:ln xmlns:a="http://schemas.openxmlformats.org/drawingml/2006/main" w="47625">
              <a:solidFill>
                <a:srgbClr val="85C1E9"/>
              </a:solidFill>
              <a:prstDash val="solid"/>
            </a:ln>
          </c:spPr>
          <c:marker>
            <c:symbol val="none"/>
            <c:size val="3"/>
          </c:marker>
          <c:xVal>
            <c:numRef>
              <c:f>'Chart Data'!$BI$2:$BI$3</c:f>
              <c:numCache>
                <c:formatCode>General</c:formatCode>
                <c:ptCount val="2"/>
                <c:pt idx="0">
                  <c:v>31</c:v>
                </c:pt>
                <c:pt idx="1">
                  <c:v>31</c:v>
                </c:pt>
              </c:numCache>
            </c:numRef>
          </c:xVal>
          <c:yVal>
            <c:numRef>
              <c:f>'Chart Data'!$BJ$2:$BJ$3</c:f>
              <c:numCache>
                <c:formatCode>0</c:formatCode>
                <c:ptCount val="2"/>
                <c:pt idx="0">
                  <c:v>12</c:v>
                </c:pt>
                <c:pt idx="1">
                  <c:v>12.5</c:v>
                </c:pt>
              </c:numCache>
            </c:numRef>
          </c:yVal>
        </c:ser>
        <c:ser>
          <c:idx val="31"/>
          <c:order val="31"/>
          <c:tx>
            <c:v>V</c:v>
          </c:tx>
          <c:spPr>
            <a:ln xmlns:a="http://schemas.openxmlformats.org/drawingml/2006/main" w="38100">
              <a:solidFill>
                <a:srgbClr val="17658A"/>
              </a:solidFill>
              <a:prstDash val="solid"/>
            </a:ln>
          </c:spPr>
          <c:marker>
            <c:symbol val="none"/>
            <c:size val="3"/>
          </c:marker>
          <c:xVal>
            <c:numRef>
              <c:f>'Chart Data'!$BK$2:$BK$3</c:f>
              <c:numCache>
                <c:formatCode>General</c:formatCode>
                <c:ptCount val="2"/>
                <c:pt idx="0">
                  <c:v>0</c:v>
                </c:pt>
                <c:pt idx="1">
                  <c:v>56</c:v>
                </c:pt>
              </c:numCache>
            </c:numRef>
          </c:xVal>
          <c:yVal>
            <c:numRef>
              <c:f>'Chart Data'!$BL$2:$BL$3</c:f>
              <c:numCache>
                <c:formatCode>0</c:formatCode>
                <c:ptCount val="2"/>
                <c:pt idx="0">
                  <c:v>28</c:v>
                </c:pt>
                <c:pt idx="1">
                  <c:v>0</c:v>
                </c:pt>
              </c:numCache>
            </c:numRef>
          </c:yVal>
        </c:ser>
        <c:ser>
          <c:idx val="32"/>
          <c:order val="32"/>
          <c:tx>
            <c:v>A = MK</c:v>
          </c:tx>
          <c:spPr>
            <a:ln xmlns:a="http://schemas.openxmlformats.org/drawingml/2006/main" w="38100">
              <a:solidFill>
                <a:srgbClr val="20665B"/>
              </a:solidFill>
              <a:prstDash val="solid"/>
            </a:ln>
          </c:spPr>
          <c:marker>
            <c:symbol val="none"/>
            <c:size val="3"/>
          </c:marker>
          <c:xVal>
            <c:numRef>
              <c:f>'Chart Data'!$BM$2:$BM$3</c:f>
              <c:numCache>
                <c:formatCode>General</c:formatCode>
                <c:ptCount val="2"/>
                <c:pt idx="0">
                  <c:v>0</c:v>
                </c:pt>
                <c:pt idx="1">
                  <c:v>56</c:v>
                </c:pt>
              </c:numCache>
            </c:numRef>
          </c:xVal>
          <c:yVal>
            <c:numRef>
              <c:f>'Chart Data'!$BN$2:$BN$3</c:f>
              <c:numCache>
                <c:formatCode>0</c:formatCode>
                <c:ptCount val="2"/>
                <c:pt idx="0">
                  <c:v>4</c:v>
                </c:pt>
                <c:pt idx="1">
                  <c:v>18</c:v>
                </c:pt>
              </c:numCache>
            </c:numRef>
          </c:yVal>
        </c:ser>
        <c:ser>
          <c:idx val="33"/>
          <c:order val="33"/>
          <c:tx>
            <c:v>Pe</c:v>
          </c:tx>
          <c:spPr>
            <a:ln xmlns:a="http://schemas.openxmlformats.org/drawingml/2006/main" w="28575">
              <a:solidFill>
                <a:srgbClr val="A94D16"/>
              </a:solidFill>
              <a:prstDash val="dash"/>
            </a:ln>
          </c:spPr>
          <c:marker>
            <c:symbol val="none"/>
            <c:size val="3"/>
          </c:marker>
          <c:xVal>
            <c:numRef>
              <c:f>'Chart Data'!$BO$2:$BO$3</c:f>
              <c:numCache>
                <c:formatCode>General</c:formatCode>
                <c:ptCount val="2"/>
                <c:pt idx="0">
                  <c:v>0</c:v>
                </c:pt>
                <c:pt idx="1">
                  <c:v>32</c:v>
                </c:pt>
              </c:numCache>
            </c:numRef>
          </c:xVal>
          <c:yVal>
            <c:numRef>
              <c:f>'Chart Data'!$BP$2:$BP$3</c:f>
              <c:numCache>
                <c:formatCode>0</c:formatCode>
                <c:ptCount val="2"/>
                <c:pt idx="0">
                  <c:v>12</c:v>
                </c:pt>
                <c:pt idx="1">
                  <c:v>12</c:v>
                </c:pt>
              </c:numCache>
            </c:numRef>
          </c:yVal>
        </c:ser>
        <c:ser>
          <c:idx val="34"/>
          <c:order val="34"/>
          <c:tx>
            <c:v>Qe</c:v>
          </c:tx>
          <c:spPr>
            <a:ln xmlns:a="http://schemas.openxmlformats.org/drawingml/2006/main" w="19050">
              <a:solidFill>
                <a:srgbClr val="445B6B"/>
              </a:solidFill>
              <a:prstDash val="dash"/>
            </a:ln>
          </c:spPr>
          <c:marker>
            <c:symbol val="none"/>
            <c:size val="3"/>
          </c:marker>
          <c:xVal>
            <c:numRef>
              <c:f>'Chart Data'!$BQ$2:$BQ$3</c:f>
              <c:numCache>
                <c:formatCode>General</c:formatCode>
                <c:ptCount val="2"/>
                <c:pt idx="0">
                  <c:v>32</c:v>
                </c:pt>
                <c:pt idx="1">
                  <c:v>32</c:v>
                </c:pt>
              </c:numCache>
            </c:numRef>
          </c:xVal>
          <c:yVal>
            <c:numRef>
              <c:f>'Chart Data'!$BR$2:$BR$3</c:f>
              <c:numCache>
                <c:formatCode>0</c:formatCode>
                <c:ptCount val="2"/>
                <c:pt idx="0">
                  <c:v>0</c:v>
                </c:pt>
                <c:pt idx="1">
                  <c:v>12</c:v>
                </c:pt>
              </c:numCache>
            </c:numRef>
          </c:yVal>
        </c:ser>
        <c:ser>
          <c:idx val="35"/>
          <c:order val="35"/>
          <c:tx>
            <c:v>V</c:v>
          </c:tx>
          <c:spPr>
            <a:ln xmlns:a="http://schemas.openxmlformats.org/drawingml/2006/main" w="0">
              <a:noFill/>
            </a:ln>
          </c:spPr>
          <c:marker>
            <c:symbol val="none"/>
            <c:size val="3"/>
          </c:marker>
          <c:dLbls>
            <c:dLbl>
              <c:idx val="0"/>
              <c:tx>
                <c:rich>
                  <a:bodyPr xmlns:a="http://schemas.openxmlformats.org/drawingml/2006/main"/>
                  <a:lstStyle xmlns:a="http://schemas.openxmlformats.org/drawingml/2006/main"/>
                  <a:p xmlns:a="http://schemas.openxmlformats.org/drawingml/2006/main">
                    <a:r>
                      <a:rPr sz="2100" b="1">
                        <a:solidFill>
                          <a:srgbClr val="17658A"/>
                        </a:solidFill>
                        <a:latin typeface="Arial"/>
                        <a:ea typeface="Arial"/>
                        <a:cs typeface="Arial"/>
                      </a:rPr>
                      <a:t>V</a:t>
                    </a:r>
                  </a:p>
                </c:rich>
              </c:tx>
              <c:txPr>
                <a:bodyPr xmlns:a="http://schemas.openxmlformats.org/drawingml/2006/main" anchorCtr="1"/>
                <a:lstStyle xmlns:a="http://schemas.openxmlformats.org/drawingml/2006/main"/>
                <a:p xmlns:a="http://schemas.openxmlformats.org/drawingml/2006/main">
                  <a:pPr>
                    <a:defRPr sz="2100" b="1">
                      <a:solidFill>
                        <a:srgbClr val="17658A"/>
                      </a:solidFill>
                      <a:latin typeface="Arial"/>
                      <a:ea typeface="Arial"/>
                      <a:cs typeface="Arial"/>
                    </a:defRPr>
                  </a:pPr>
                </a:p>
              </c:txPr>
              <c:showLegendKey val="0"/>
              <c:showVal val="0"/>
              <c:showCatName val="0"/>
              <c:showSerName val="0"/>
              <c:showPercent val="0"/>
              <c:showBubbleSize val="0"/>
            </c:dLbl>
          </c:dLbls>
          <c:xVal>
            <c:numRef>
              <c:f>'Chart Data'!$BS$2:$BS$2</c:f>
              <c:numCache>
                <c:formatCode>General</c:formatCode>
                <c:ptCount val="1"/>
                <c:pt idx="0">
                  <c:v>48.72</c:v>
                </c:pt>
              </c:numCache>
            </c:numRef>
          </c:xVal>
          <c:yVal>
            <c:numRef>
              <c:f>'Chart Data'!$BT$2:$BT$2</c:f>
              <c:numCache>
                <c:formatCode>0</c:formatCode>
                <c:ptCount val="1"/>
                <c:pt idx="0">
                  <c:v>3.64</c:v>
                </c:pt>
              </c:numCache>
            </c:numRef>
          </c:yVal>
        </c:ser>
        <c:ser>
          <c:idx val="36"/>
          <c:order val="36"/>
          <c:tx>
            <c:v>A = MK</c:v>
          </c:tx>
          <c:spPr>
            <a:ln xmlns:a="http://schemas.openxmlformats.org/drawingml/2006/main" w="0">
              <a:noFill/>
            </a:ln>
          </c:spPr>
          <c:marker>
            <c:symbol val="none"/>
            <c:size val="3"/>
          </c:marker>
          <c:dLbls>
            <c:dLbl>
              <c:idx val="0"/>
              <c:tx>
                <c:rich>
                  <a:bodyPr xmlns:a="http://schemas.openxmlformats.org/drawingml/2006/main"/>
                  <a:lstStyle xmlns:a="http://schemas.openxmlformats.org/drawingml/2006/main"/>
                  <a:p xmlns:a="http://schemas.openxmlformats.org/drawingml/2006/main">
                    <a:r>
                      <a:rPr sz="2100" b="1">
                        <a:solidFill>
                          <a:srgbClr val="20665B"/>
                        </a:solidFill>
                        <a:latin typeface="Arial"/>
                        <a:ea typeface="Arial"/>
                        <a:cs typeface="Arial"/>
                      </a:rPr>
                      <a:t>A = MK</a:t>
                    </a:r>
                  </a:p>
                </c:rich>
              </c:tx>
              <c:txPr>
                <a:bodyPr xmlns:a="http://schemas.openxmlformats.org/drawingml/2006/main" anchorCtr="1"/>
                <a:lstStyle xmlns:a="http://schemas.openxmlformats.org/drawingml/2006/main"/>
                <a:p xmlns:a="http://schemas.openxmlformats.org/drawingml/2006/main">
                  <a:pPr>
                    <a:defRPr sz="2100" b="1">
                      <a:solidFill>
                        <a:srgbClr val="20665B"/>
                      </a:solidFill>
                      <a:latin typeface="Arial"/>
                      <a:ea typeface="Arial"/>
                      <a:cs typeface="Arial"/>
                    </a:defRPr>
                  </a:pPr>
                </a:p>
              </c:txPr>
              <c:showLegendKey val="0"/>
              <c:showVal val="0"/>
              <c:showCatName val="0"/>
              <c:showSerName val="0"/>
              <c:showPercent val="0"/>
              <c:showBubbleSize val="0"/>
            </c:dLbl>
          </c:dLbls>
          <c:xVal>
            <c:numRef>
              <c:f>'Chart Data'!$BU$2:$BU$2</c:f>
              <c:numCache>
                <c:formatCode>General</c:formatCode>
                <c:ptCount val="1"/>
                <c:pt idx="0">
                  <c:v>44.8</c:v>
                </c:pt>
              </c:numCache>
            </c:numRef>
          </c:xVal>
          <c:yVal>
            <c:numRef>
              <c:f>'Chart Data'!$BV$2:$BV$2</c:f>
              <c:numCache>
                <c:formatCode>0</c:formatCode>
                <c:ptCount val="1"/>
                <c:pt idx="0">
                  <c:v>15.2</c:v>
                </c:pt>
              </c:numCache>
            </c:numRef>
          </c:yVal>
        </c:ser>
        <c:ser>
          <c:idx val="37"/>
          <c:order val="37"/>
          <c:tx>
            <c:v>E</c:v>
          </c:tx>
          <c:spPr>
            <a:ln xmlns:a="http://schemas.openxmlformats.org/drawingml/2006/main" w="0">
              <a:noFill/>
            </a:ln>
          </c:spPr>
          <c:marker>
            <c:symbol val="circle"/>
            <c:size val="9"/>
            <c:spPr>
              <a:noFill xmlns:a="http://schemas.openxmlformats.org/drawingml/2006/main"/>
            </c:spPr>
          </c:marker>
          <c:dLbls>
            <c:dLbl>
              <c:idx val="0"/>
              <c:tx>
                <c:rich>
                  <a:bodyPr xmlns:a="http://schemas.openxmlformats.org/drawingml/2006/main"/>
                  <a:lstStyle xmlns:a="http://schemas.openxmlformats.org/drawingml/2006/main"/>
                  <a:p xmlns:a="http://schemas.openxmlformats.org/drawingml/2006/main">
                    <a:r>
                      <a:rPr sz="2100" b="1">
                        <a:solidFill>
                          <a:srgbClr val="183247"/>
                        </a:solidFill>
                        <a:latin typeface="Arial"/>
                        <a:ea typeface="Arial"/>
                        <a:cs typeface="Arial"/>
                      </a:rPr>
                      <a:t>E</a:t>
                    </a:r>
                  </a:p>
                </c:rich>
              </c:tx>
              <c:txPr>
                <a:bodyPr xmlns:a="http://schemas.openxmlformats.org/drawingml/2006/main" anchorCtr="1"/>
                <a:lstStyle xmlns:a="http://schemas.openxmlformats.org/drawingml/2006/main"/>
                <a:p xmlns:a="http://schemas.openxmlformats.org/drawingml/2006/main">
                  <a:pPr>
                    <a:defRPr sz="2100" b="1">
                      <a:solidFill>
                        <a:srgbClr val="183247"/>
                      </a:solidFill>
                      <a:latin typeface="Arial"/>
                      <a:ea typeface="Arial"/>
                      <a:cs typeface="Arial"/>
                    </a:defRPr>
                  </a:pPr>
                </a:p>
              </c:txPr>
              <c:showLegendKey val="0"/>
              <c:showVal val="0"/>
              <c:showCatName val="0"/>
              <c:showSerName val="0"/>
              <c:showPercent val="0"/>
              <c:showBubbleSize val="0"/>
            </c:dLbl>
          </c:dLbls>
          <c:xVal>
            <c:numRef>
              <c:f>'Chart Data'!$BW$2:$BW$2</c:f>
              <c:numCache>
                <c:formatCode>General</c:formatCode>
                <c:ptCount val="1"/>
                <c:pt idx="0">
                  <c:v>32</c:v>
                </c:pt>
              </c:numCache>
            </c:numRef>
          </c:xVal>
          <c:yVal>
            <c:numRef>
              <c:f>'Chart Data'!$BX$2:$BX$2</c:f>
              <c:numCache>
                <c:formatCode>0</c:formatCode>
                <c:ptCount val="1"/>
                <c:pt idx="0">
                  <c:v>12</c:v>
                </c:pt>
              </c:numCache>
            </c:numRef>
          </c:yVal>
        </c:ser>
        <c:ser>
          <c:idx val="38"/>
          <c:order val="38"/>
          <c:tx>
            <c:v>CS</c:v>
          </c:tx>
          <c:spPr>
            <a:ln xmlns:a="http://schemas.openxmlformats.org/drawingml/2006/main" w="0">
              <a:noFill/>
            </a:ln>
          </c:spPr>
          <c:marker>
            <c:symbol val="none"/>
            <c:size val="3"/>
          </c:marker>
          <c:dLbls>
            <c:dLbl>
              <c:idx val="0"/>
              <c:tx>
                <c:rich>
                  <a:bodyPr xmlns:a="http://schemas.openxmlformats.org/drawingml/2006/main"/>
                  <a:lstStyle xmlns:a="http://schemas.openxmlformats.org/drawingml/2006/main"/>
                  <a:p xmlns:a="http://schemas.openxmlformats.org/drawingml/2006/main">
                    <a:r>
                      <a:rPr sz="2100" b="1">
                        <a:solidFill>
                          <a:srgbClr val="183247"/>
                        </a:solidFill>
                        <a:latin typeface="Arial"/>
                        <a:ea typeface="Arial"/>
                        <a:cs typeface="Arial"/>
                      </a:rPr>
                      <a:t>CS</a:t>
                    </a:r>
                  </a:p>
                </c:rich>
              </c:tx>
              <c:txPr>
                <a:bodyPr xmlns:a="http://schemas.openxmlformats.org/drawingml/2006/main" anchorCtr="1"/>
                <a:lstStyle xmlns:a="http://schemas.openxmlformats.org/drawingml/2006/main"/>
                <a:p xmlns:a="http://schemas.openxmlformats.org/drawingml/2006/main">
                  <a:pPr>
                    <a:defRPr sz="2100" b="1">
                      <a:solidFill>
                        <a:srgbClr val="183247"/>
                      </a:solidFill>
                      <a:latin typeface="Arial"/>
                      <a:ea typeface="Arial"/>
                      <a:cs typeface="Arial"/>
                    </a:defRPr>
                  </a:pPr>
                </a:p>
              </c:txPr>
              <c:showLegendKey val="0"/>
              <c:showVal val="0"/>
              <c:showCatName val="0"/>
              <c:showSerName val="0"/>
              <c:showPercent val="0"/>
              <c:showBubbleSize val="0"/>
            </c:dLbl>
          </c:dLbls>
          <c:xVal>
            <c:numRef>
              <c:f>'Chart Data'!$BY$2:$BY$2</c:f>
              <c:numCache>
                <c:formatCode>General</c:formatCode>
                <c:ptCount val="1"/>
                <c:pt idx="0">
                  <c:v>6.4</c:v>
                </c:pt>
              </c:numCache>
            </c:numRef>
          </c:xVal>
          <c:yVal>
            <c:numRef>
              <c:f>'Chart Data'!$BZ$2:$BZ$2</c:f>
              <c:numCache>
                <c:formatCode>0</c:formatCode>
                <c:ptCount val="1"/>
                <c:pt idx="0">
                  <c:v>17.6</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28"/>
          <c:min val="0"/>
        </c:scaling>
        <c:delete val="0"/>
        <c:axPos val="l"/>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1875">
                    <a:solidFill>
                      <a:srgbClr val="183247"/>
                    </a:solidFill>
                    <a:latin typeface="Arial"/>
                    <a:ea typeface="Arial"/>
                    <a:cs typeface="Arial"/>
                  </a:rPr>
                  <a:t>P (€ per fietsbel)</a:t>
                </a:r>
              </a:p>
            </c:rich>
          </c:tx>
          <c:overlay val="0"/>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crossAx val="48650112"/>
        <c:majorUnit val="4"/>
      </c:valAx>
      <c:valAx>
        <c:axId val="48650112"/>
        <c:scaling>
          <c:orientation val="minMax"/>
          <c:max val="56"/>
          <c:min val="0"/>
        </c:scaling>
        <c:delete val="0"/>
        <c:axPos val="b"/>
        <c:title>
          <c:tx>
            <c:rich>
              <a:bodyPr xmlns:a="http://schemas.openxmlformats.org/drawingml/2006/main"/>
              <a:lstStyle xmlns:a="http://schemas.openxmlformats.org/drawingml/2006/main"/>
              <a:p xmlns:a="http://schemas.openxmlformats.org/drawingml/2006/main">
                <a:r>
                  <a:rPr sz="1875">
                    <a:solidFill>
                      <a:srgbClr val="183247"/>
                    </a:solidFill>
                    <a:latin typeface="Arial"/>
                    <a:ea typeface="Arial"/>
                    <a:cs typeface="Arial"/>
                  </a:rPr>
                  <a:t>Q (fietsbellen)</a:t>
                </a:r>
              </a:p>
            </c:rich>
          </c:tx>
          <c:overlay val="0"/>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crossAx val="48672768"/>
        <c:majorUnit val="8"/>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scatterChart>
        <c:scatterStyle val="line"/>
        <c:ser>
          <c:idx val="0"/>
          <c:order val="0"/>
          <c:tx>
            <c:v>CS arcering 1</c:v>
          </c:tx>
          <c:spPr>
            <a:ln xmlns:a="http://schemas.openxmlformats.org/drawingml/2006/main" w="47625">
              <a:solidFill>
                <a:srgbClr val="85C1E9"/>
              </a:solidFill>
              <a:prstDash val="solid"/>
            </a:ln>
          </c:spPr>
          <c:marker>
            <c:symbol val="none"/>
            <c:size val="3"/>
          </c:marker>
          <c:xVal>
            <c:numRef>
              <c:f>'Chart Data'!$A$2:$A$3</c:f>
              <c:numCache>
                <c:formatCode>General</c:formatCode>
                <c:ptCount val="2"/>
                <c:pt idx="0">
                  <c:v>1</c:v>
                </c:pt>
                <c:pt idx="1">
                  <c:v>1</c:v>
                </c:pt>
              </c:numCache>
            </c:numRef>
          </c:xVal>
          <c:yVal>
            <c:numRef>
              <c:f>'Chart Data'!$B$2:$B$3</c:f>
              <c:numCache>
                <c:formatCode>0</c:formatCode>
                <c:ptCount val="2"/>
                <c:pt idx="0">
                  <c:v>12</c:v>
                </c:pt>
                <c:pt idx="1">
                  <c:v>27.5</c:v>
                </c:pt>
              </c:numCache>
            </c:numRef>
          </c:yVal>
        </c:ser>
        <c:ser>
          <c:idx val="1"/>
          <c:order val="1"/>
          <c:tx>
            <c:v>CS arcering 2</c:v>
          </c:tx>
          <c:spPr>
            <a:ln xmlns:a="http://schemas.openxmlformats.org/drawingml/2006/main" w="47625">
              <a:solidFill>
                <a:srgbClr val="85C1E9"/>
              </a:solidFill>
              <a:prstDash val="solid"/>
            </a:ln>
          </c:spPr>
          <c:marker>
            <c:symbol val="none"/>
            <c:size val="3"/>
          </c:marker>
          <c:xVal>
            <c:numRef>
              <c:f>'Chart Data'!$C$2:$C$3</c:f>
              <c:numCache>
                <c:formatCode>General</c:formatCode>
                <c:ptCount val="2"/>
                <c:pt idx="0">
                  <c:v>2</c:v>
                </c:pt>
                <c:pt idx="1">
                  <c:v>2</c:v>
                </c:pt>
              </c:numCache>
            </c:numRef>
          </c:xVal>
          <c:yVal>
            <c:numRef>
              <c:f>'Chart Data'!$D$2:$D$3</c:f>
              <c:numCache>
                <c:formatCode>0</c:formatCode>
                <c:ptCount val="2"/>
                <c:pt idx="0">
                  <c:v>12</c:v>
                </c:pt>
                <c:pt idx="1">
                  <c:v>27</c:v>
                </c:pt>
              </c:numCache>
            </c:numRef>
          </c:yVal>
        </c:ser>
        <c:ser>
          <c:idx val="2"/>
          <c:order val="2"/>
          <c:tx>
            <c:v>CS arcering 3</c:v>
          </c:tx>
          <c:spPr>
            <a:ln xmlns:a="http://schemas.openxmlformats.org/drawingml/2006/main" w="47625">
              <a:solidFill>
                <a:srgbClr val="85C1E9"/>
              </a:solidFill>
              <a:prstDash val="solid"/>
            </a:ln>
          </c:spPr>
          <c:marker>
            <c:symbol val="none"/>
            <c:size val="3"/>
          </c:marker>
          <c:xVal>
            <c:numRef>
              <c:f>'Chart Data'!$E$2:$E$3</c:f>
              <c:numCache>
                <c:formatCode>General</c:formatCode>
                <c:ptCount val="2"/>
                <c:pt idx="0">
                  <c:v>3</c:v>
                </c:pt>
                <c:pt idx="1">
                  <c:v>3</c:v>
                </c:pt>
              </c:numCache>
            </c:numRef>
          </c:xVal>
          <c:yVal>
            <c:numRef>
              <c:f>'Chart Data'!$F$2:$F$3</c:f>
              <c:numCache>
                <c:formatCode>0</c:formatCode>
                <c:ptCount val="2"/>
                <c:pt idx="0">
                  <c:v>12</c:v>
                </c:pt>
                <c:pt idx="1">
                  <c:v>26.5</c:v>
                </c:pt>
              </c:numCache>
            </c:numRef>
          </c:yVal>
        </c:ser>
        <c:ser>
          <c:idx val="3"/>
          <c:order val="3"/>
          <c:tx>
            <c:v>CS arcering 4</c:v>
          </c:tx>
          <c:spPr>
            <a:ln xmlns:a="http://schemas.openxmlformats.org/drawingml/2006/main" w="47625">
              <a:solidFill>
                <a:srgbClr val="85C1E9"/>
              </a:solidFill>
              <a:prstDash val="solid"/>
            </a:ln>
          </c:spPr>
          <c:marker>
            <c:symbol val="none"/>
            <c:size val="3"/>
          </c:marker>
          <c:xVal>
            <c:numRef>
              <c:f>'Chart Data'!$G$2:$G$3</c:f>
              <c:numCache>
                <c:formatCode>General</c:formatCode>
                <c:ptCount val="2"/>
                <c:pt idx="0">
                  <c:v>4</c:v>
                </c:pt>
                <c:pt idx="1">
                  <c:v>4</c:v>
                </c:pt>
              </c:numCache>
            </c:numRef>
          </c:xVal>
          <c:yVal>
            <c:numRef>
              <c:f>'Chart Data'!$H$2:$H$3</c:f>
              <c:numCache>
                <c:formatCode>0</c:formatCode>
                <c:ptCount val="2"/>
                <c:pt idx="0">
                  <c:v>12</c:v>
                </c:pt>
                <c:pt idx="1">
                  <c:v>26</c:v>
                </c:pt>
              </c:numCache>
            </c:numRef>
          </c:yVal>
        </c:ser>
        <c:ser>
          <c:idx val="4"/>
          <c:order val="4"/>
          <c:tx>
            <c:v>CS arcering 5</c:v>
          </c:tx>
          <c:spPr>
            <a:ln xmlns:a="http://schemas.openxmlformats.org/drawingml/2006/main" w="47625">
              <a:solidFill>
                <a:srgbClr val="85C1E9"/>
              </a:solidFill>
              <a:prstDash val="solid"/>
            </a:ln>
          </c:spPr>
          <c:marker>
            <c:symbol val="none"/>
            <c:size val="3"/>
          </c:marker>
          <c:xVal>
            <c:numRef>
              <c:f>'Chart Data'!$I$2:$I$3</c:f>
              <c:numCache>
                <c:formatCode>General</c:formatCode>
                <c:ptCount val="2"/>
                <c:pt idx="0">
                  <c:v>5</c:v>
                </c:pt>
                <c:pt idx="1">
                  <c:v>5</c:v>
                </c:pt>
              </c:numCache>
            </c:numRef>
          </c:xVal>
          <c:yVal>
            <c:numRef>
              <c:f>'Chart Data'!$J$2:$J$3</c:f>
              <c:numCache>
                <c:formatCode>0</c:formatCode>
                <c:ptCount val="2"/>
                <c:pt idx="0">
                  <c:v>12</c:v>
                </c:pt>
                <c:pt idx="1">
                  <c:v>25.5</c:v>
                </c:pt>
              </c:numCache>
            </c:numRef>
          </c:yVal>
        </c:ser>
        <c:ser>
          <c:idx val="5"/>
          <c:order val="5"/>
          <c:tx>
            <c:v>CS arcering 6</c:v>
          </c:tx>
          <c:spPr>
            <a:ln xmlns:a="http://schemas.openxmlformats.org/drawingml/2006/main" w="47625">
              <a:solidFill>
                <a:srgbClr val="85C1E9"/>
              </a:solidFill>
              <a:prstDash val="solid"/>
            </a:ln>
          </c:spPr>
          <c:marker>
            <c:symbol val="none"/>
            <c:size val="3"/>
          </c:marker>
          <c:xVal>
            <c:numRef>
              <c:f>'Chart Data'!$K$2:$K$3</c:f>
              <c:numCache>
                <c:formatCode>General</c:formatCode>
                <c:ptCount val="2"/>
                <c:pt idx="0">
                  <c:v>6</c:v>
                </c:pt>
                <c:pt idx="1">
                  <c:v>6</c:v>
                </c:pt>
              </c:numCache>
            </c:numRef>
          </c:xVal>
          <c:yVal>
            <c:numRef>
              <c:f>'Chart Data'!$L$2:$L$3</c:f>
              <c:numCache>
                <c:formatCode>0</c:formatCode>
                <c:ptCount val="2"/>
                <c:pt idx="0">
                  <c:v>12</c:v>
                </c:pt>
                <c:pt idx="1">
                  <c:v>25</c:v>
                </c:pt>
              </c:numCache>
            </c:numRef>
          </c:yVal>
        </c:ser>
        <c:ser>
          <c:idx val="6"/>
          <c:order val="6"/>
          <c:tx>
            <c:v>CS arcering 7</c:v>
          </c:tx>
          <c:spPr>
            <a:ln xmlns:a="http://schemas.openxmlformats.org/drawingml/2006/main" w="47625">
              <a:solidFill>
                <a:srgbClr val="85C1E9"/>
              </a:solidFill>
              <a:prstDash val="solid"/>
            </a:ln>
          </c:spPr>
          <c:marker>
            <c:symbol val="none"/>
            <c:size val="3"/>
          </c:marker>
          <c:xVal>
            <c:numRef>
              <c:f>'Chart Data'!$M$2:$M$3</c:f>
              <c:numCache>
                <c:formatCode>General</c:formatCode>
                <c:ptCount val="2"/>
                <c:pt idx="0">
                  <c:v>7</c:v>
                </c:pt>
                <c:pt idx="1">
                  <c:v>7</c:v>
                </c:pt>
              </c:numCache>
            </c:numRef>
          </c:xVal>
          <c:yVal>
            <c:numRef>
              <c:f>'Chart Data'!$N$2:$N$3</c:f>
              <c:numCache>
                <c:formatCode>0</c:formatCode>
                <c:ptCount val="2"/>
                <c:pt idx="0">
                  <c:v>12</c:v>
                </c:pt>
                <c:pt idx="1">
                  <c:v>24.5</c:v>
                </c:pt>
              </c:numCache>
            </c:numRef>
          </c:yVal>
        </c:ser>
        <c:ser>
          <c:idx val="7"/>
          <c:order val="7"/>
          <c:tx>
            <c:v>CS arcering 8</c:v>
          </c:tx>
          <c:spPr>
            <a:ln xmlns:a="http://schemas.openxmlformats.org/drawingml/2006/main" w="47625">
              <a:solidFill>
                <a:srgbClr val="85C1E9"/>
              </a:solidFill>
              <a:prstDash val="solid"/>
            </a:ln>
          </c:spPr>
          <c:marker>
            <c:symbol val="none"/>
            <c:size val="3"/>
          </c:marker>
          <c:xVal>
            <c:numRef>
              <c:f>'Chart Data'!$O$2:$O$3</c:f>
              <c:numCache>
                <c:formatCode>General</c:formatCode>
                <c:ptCount val="2"/>
                <c:pt idx="0">
                  <c:v>8</c:v>
                </c:pt>
                <c:pt idx="1">
                  <c:v>8</c:v>
                </c:pt>
              </c:numCache>
            </c:numRef>
          </c:xVal>
          <c:yVal>
            <c:numRef>
              <c:f>'Chart Data'!$P$2:$P$3</c:f>
              <c:numCache>
                <c:formatCode>0</c:formatCode>
                <c:ptCount val="2"/>
                <c:pt idx="0">
                  <c:v>12</c:v>
                </c:pt>
                <c:pt idx="1">
                  <c:v>24</c:v>
                </c:pt>
              </c:numCache>
            </c:numRef>
          </c:yVal>
        </c:ser>
        <c:ser>
          <c:idx val="8"/>
          <c:order val="8"/>
          <c:tx>
            <c:v>CS arcering 9</c:v>
          </c:tx>
          <c:spPr>
            <a:ln xmlns:a="http://schemas.openxmlformats.org/drawingml/2006/main" w="47625">
              <a:solidFill>
                <a:srgbClr val="85C1E9"/>
              </a:solidFill>
              <a:prstDash val="solid"/>
            </a:ln>
          </c:spPr>
          <c:marker>
            <c:symbol val="none"/>
            <c:size val="3"/>
          </c:marker>
          <c:xVal>
            <c:numRef>
              <c:f>'Chart Data'!$Q$2:$Q$3</c:f>
              <c:numCache>
                <c:formatCode>General</c:formatCode>
                <c:ptCount val="2"/>
                <c:pt idx="0">
                  <c:v>9</c:v>
                </c:pt>
                <c:pt idx="1">
                  <c:v>9</c:v>
                </c:pt>
              </c:numCache>
            </c:numRef>
          </c:xVal>
          <c:yVal>
            <c:numRef>
              <c:f>'Chart Data'!$R$2:$R$3</c:f>
              <c:numCache>
                <c:formatCode>0</c:formatCode>
                <c:ptCount val="2"/>
                <c:pt idx="0">
                  <c:v>12</c:v>
                </c:pt>
                <c:pt idx="1">
                  <c:v>23.5</c:v>
                </c:pt>
              </c:numCache>
            </c:numRef>
          </c:yVal>
        </c:ser>
        <c:ser>
          <c:idx val="9"/>
          <c:order val="9"/>
          <c:tx>
            <c:v>CS arcering 10</c:v>
          </c:tx>
          <c:spPr>
            <a:ln xmlns:a="http://schemas.openxmlformats.org/drawingml/2006/main" w="47625">
              <a:solidFill>
                <a:srgbClr val="85C1E9"/>
              </a:solidFill>
              <a:prstDash val="solid"/>
            </a:ln>
          </c:spPr>
          <c:marker>
            <c:symbol val="none"/>
            <c:size val="3"/>
          </c:marker>
          <c:xVal>
            <c:numRef>
              <c:f>'Chart Data'!$S$2:$S$3</c:f>
              <c:numCache>
                <c:formatCode>General</c:formatCode>
                <c:ptCount val="2"/>
                <c:pt idx="0">
                  <c:v>10</c:v>
                </c:pt>
                <c:pt idx="1">
                  <c:v>10</c:v>
                </c:pt>
              </c:numCache>
            </c:numRef>
          </c:xVal>
          <c:yVal>
            <c:numRef>
              <c:f>'Chart Data'!$T$2:$T$3</c:f>
              <c:numCache>
                <c:formatCode>0</c:formatCode>
                <c:ptCount val="2"/>
                <c:pt idx="0">
                  <c:v>12</c:v>
                </c:pt>
                <c:pt idx="1">
                  <c:v>23</c:v>
                </c:pt>
              </c:numCache>
            </c:numRef>
          </c:yVal>
        </c:ser>
        <c:ser>
          <c:idx val="10"/>
          <c:order val="10"/>
          <c:tx>
            <c:v>CS arcering 11</c:v>
          </c:tx>
          <c:spPr>
            <a:ln xmlns:a="http://schemas.openxmlformats.org/drawingml/2006/main" w="47625">
              <a:solidFill>
                <a:srgbClr val="85C1E9"/>
              </a:solidFill>
              <a:prstDash val="solid"/>
            </a:ln>
          </c:spPr>
          <c:marker>
            <c:symbol val="none"/>
            <c:size val="3"/>
          </c:marker>
          <c:xVal>
            <c:numRef>
              <c:f>'Chart Data'!$U$2:$U$3</c:f>
              <c:numCache>
                <c:formatCode>General</c:formatCode>
                <c:ptCount val="2"/>
                <c:pt idx="0">
                  <c:v>11</c:v>
                </c:pt>
                <c:pt idx="1">
                  <c:v>11</c:v>
                </c:pt>
              </c:numCache>
            </c:numRef>
          </c:xVal>
          <c:yVal>
            <c:numRef>
              <c:f>'Chart Data'!$V$2:$V$3</c:f>
              <c:numCache>
                <c:formatCode>0</c:formatCode>
                <c:ptCount val="2"/>
                <c:pt idx="0">
                  <c:v>12</c:v>
                </c:pt>
                <c:pt idx="1">
                  <c:v>22.5</c:v>
                </c:pt>
              </c:numCache>
            </c:numRef>
          </c:yVal>
        </c:ser>
        <c:ser>
          <c:idx val="11"/>
          <c:order val="11"/>
          <c:tx>
            <c:v>CS arcering 12</c:v>
          </c:tx>
          <c:spPr>
            <a:ln xmlns:a="http://schemas.openxmlformats.org/drawingml/2006/main" w="47625">
              <a:solidFill>
                <a:srgbClr val="85C1E9"/>
              </a:solidFill>
              <a:prstDash val="solid"/>
            </a:ln>
          </c:spPr>
          <c:marker>
            <c:symbol val="none"/>
            <c:size val="3"/>
          </c:marker>
          <c:xVal>
            <c:numRef>
              <c:f>'Chart Data'!$W$2:$W$3</c:f>
              <c:numCache>
                <c:formatCode>General</c:formatCode>
                <c:ptCount val="2"/>
                <c:pt idx="0">
                  <c:v>12</c:v>
                </c:pt>
                <c:pt idx="1">
                  <c:v>12</c:v>
                </c:pt>
              </c:numCache>
            </c:numRef>
          </c:xVal>
          <c:yVal>
            <c:numRef>
              <c:f>'Chart Data'!$X$2:$X$3</c:f>
              <c:numCache>
                <c:formatCode>0</c:formatCode>
                <c:ptCount val="2"/>
                <c:pt idx="0">
                  <c:v>12</c:v>
                </c:pt>
                <c:pt idx="1">
                  <c:v>22</c:v>
                </c:pt>
              </c:numCache>
            </c:numRef>
          </c:yVal>
        </c:ser>
        <c:ser>
          <c:idx val="12"/>
          <c:order val="12"/>
          <c:tx>
            <c:v>CS arcering 13</c:v>
          </c:tx>
          <c:spPr>
            <a:ln xmlns:a="http://schemas.openxmlformats.org/drawingml/2006/main" w="47625">
              <a:solidFill>
                <a:srgbClr val="85C1E9"/>
              </a:solidFill>
              <a:prstDash val="solid"/>
            </a:ln>
          </c:spPr>
          <c:marker>
            <c:symbol val="none"/>
            <c:size val="3"/>
          </c:marker>
          <c:xVal>
            <c:numRef>
              <c:f>'Chart Data'!$Y$2:$Y$3</c:f>
              <c:numCache>
                <c:formatCode>General</c:formatCode>
                <c:ptCount val="2"/>
                <c:pt idx="0">
                  <c:v>13</c:v>
                </c:pt>
                <c:pt idx="1">
                  <c:v>13</c:v>
                </c:pt>
              </c:numCache>
            </c:numRef>
          </c:xVal>
          <c:yVal>
            <c:numRef>
              <c:f>'Chart Data'!$Z$2:$Z$3</c:f>
              <c:numCache>
                <c:formatCode>0</c:formatCode>
                <c:ptCount val="2"/>
                <c:pt idx="0">
                  <c:v>12</c:v>
                </c:pt>
                <c:pt idx="1">
                  <c:v>21.5</c:v>
                </c:pt>
              </c:numCache>
            </c:numRef>
          </c:yVal>
        </c:ser>
        <c:ser>
          <c:idx val="13"/>
          <c:order val="13"/>
          <c:tx>
            <c:v>CS arcering 14</c:v>
          </c:tx>
          <c:spPr>
            <a:ln xmlns:a="http://schemas.openxmlformats.org/drawingml/2006/main" w="47625">
              <a:solidFill>
                <a:srgbClr val="85C1E9"/>
              </a:solidFill>
              <a:prstDash val="solid"/>
            </a:ln>
          </c:spPr>
          <c:marker>
            <c:symbol val="none"/>
            <c:size val="3"/>
          </c:marker>
          <c:xVal>
            <c:numRef>
              <c:f>'Chart Data'!$AA$2:$AA$3</c:f>
              <c:numCache>
                <c:formatCode>General</c:formatCode>
                <c:ptCount val="2"/>
                <c:pt idx="0">
                  <c:v>14</c:v>
                </c:pt>
                <c:pt idx="1">
                  <c:v>14</c:v>
                </c:pt>
              </c:numCache>
            </c:numRef>
          </c:xVal>
          <c:yVal>
            <c:numRef>
              <c:f>'Chart Data'!$AB$2:$AB$3</c:f>
              <c:numCache>
                <c:formatCode>0</c:formatCode>
                <c:ptCount val="2"/>
                <c:pt idx="0">
                  <c:v>12</c:v>
                </c:pt>
                <c:pt idx="1">
                  <c:v>21</c:v>
                </c:pt>
              </c:numCache>
            </c:numRef>
          </c:yVal>
        </c:ser>
        <c:ser>
          <c:idx val="14"/>
          <c:order val="14"/>
          <c:tx>
            <c:v>CS arcering 15</c:v>
          </c:tx>
          <c:spPr>
            <a:ln xmlns:a="http://schemas.openxmlformats.org/drawingml/2006/main" w="47625">
              <a:solidFill>
                <a:srgbClr val="85C1E9"/>
              </a:solidFill>
              <a:prstDash val="solid"/>
            </a:ln>
          </c:spPr>
          <c:marker>
            <c:symbol val="none"/>
            <c:size val="3"/>
          </c:marker>
          <c:xVal>
            <c:numRef>
              <c:f>'Chart Data'!$AC$2:$AC$3</c:f>
              <c:numCache>
                <c:formatCode>General</c:formatCode>
                <c:ptCount val="2"/>
                <c:pt idx="0">
                  <c:v>15</c:v>
                </c:pt>
                <c:pt idx="1">
                  <c:v>15</c:v>
                </c:pt>
              </c:numCache>
            </c:numRef>
          </c:xVal>
          <c:yVal>
            <c:numRef>
              <c:f>'Chart Data'!$AD$2:$AD$3</c:f>
              <c:numCache>
                <c:formatCode>0</c:formatCode>
                <c:ptCount val="2"/>
                <c:pt idx="0">
                  <c:v>12</c:v>
                </c:pt>
                <c:pt idx="1">
                  <c:v>20.5</c:v>
                </c:pt>
              </c:numCache>
            </c:numRef>
          </c:yVal>
        </c:ser>
        <c:ser>
          <c:idx val="15"/>
          <c:order val="15"/>
          <c:tx>
            <c:v>CS arcering 16</c:v>
          </c:tx>
          <c:spPr>
            <a:ln xmlns:a="http://schemas.openxmlformats.org/drawingml/2006/main" w="47625">
              <a:solidFill>
                <a:srgbClr val="85C1E9"/>
              </a:solidFill>
              <a:prstDash val="solid"/>
            </a:ln>
          </c:spPr>
          <c:marker>
            <c:symbol val="none"/>
            <c:size val="3"/>
          </c:marker>
          <c:xVal>
            <c:numRef>
              <c:f>'Chart Data'!$AE$2:$AE$3</c:f>
              <c:numCache>
                <c:formatCode>General</c:formatCode>
                <c:ptCount val="2"/>
                <c:pt idx="0">
                  <c:v>16</c:v>
                </c:pt>
                <c:pt idx="1">
                  <c:v>16</c:v>
                </c:pt>
              </c:numCache>
            </c:numRef>
          </c:xVal>
          <c:yVal>
            <c:numRef>
              <c:f>'Chart Data'!$AF$2:$AF$3</c:f>
              <c:numCache>
                <c:formatCode>0</c:formatCode>
                <c:ptCount val="2"/>
                <c:pt idx="0">
                  <c:v>12</c:v>
                </c:pt>
                <c:pt idx="1">
                  <c:v>20</c:v>
                </c:pt>
              </c:numCache>
            </c:numRef>
          </c:yVal>
        </c:ser>
        <c:ser>
          <c:idx val="16"/>
          <c:order val="16"/>
          <c:tx>
            <c:v>CS arcering 17</c:v>
          </c:tx>
          <c:spPr>
            <a:ln xmlns:a="http://schemas.openxmlformats.org/drawingml/2006/main" w="47625">
              <a:solidFill>
                <a:srgbClr val="85C1E9"/>
              </a:solidFill>
              <a:prstDash val="solid"/>
            </a:ln>
          </c:spPr>
          <c:marker>
            <c:symbol val="none"/>
            <c:size val="3"/>
          </c:marker>
          <c:xVal>
            <c:numRef>
              <c:f>'Chart Data'!$AG$2:$AG$3</c:f>
              <c:numCache>
                <c:formatCode>General</c:formatCode>
                <c:ptCount val="2"/>
                <c:pt idx="0">
                  <c:v>17</c:v>
                </c:pt>
                <c:pt idx="1">
                  <c:v>17</c:v>
                </c:pt>
              </c:numCache>
            </c:numRef>
          </c:xVal>
          <c:yVal>
            <c:numRef>
              <c:f>'Chart Data'!$AH$2:$AH$3</c:f>
              <c:numCache>
                <c:formatCode>0</c:formatCode>
                <c:ptCount val="2"/>
                <c:pt idx="0">
                  <c:v>12</c:v>
                </c:pt>
                <c:pt idx="1">
                  <c:v>19.5</c:v>
                </c:pt>
              </c:numCache>
            </c:numRef>
          </c:yVal>
        </c:ser>
        <c:ser>
          <c:idx val="17"/>
          <c:order val="17"/>
          <c:tx>
            <c:v>CS arcering 18</c:v>
          </c:tx>
          <c:spPr>
            <a:ln xmlns:a="http://schemas.openxmlformats.org/drawingml/2006/main" w="47625">
              <a:solidFill>
                <a:srgbClr val="85C1E9"/>
              </a:solidFill>
              <a:prstDash val="solid"/>
            </a:ln>
          </c:spPr>
          <c:marker>
            <c:symbol val="none"/>
            <c:size val="3"/>
          </c:marker>
          <c:xVal>
            <c:numRef>
              <c:f>'Chart Data'!$AI$2:$AI$3</c:f>
              <c:numCache>
                <c:formatCode>General</c:formatCode>
                <c:ptCount val="2"/>
                <c:pt idx="0">
                  <c:v>18</c:v>
                </c:pt>
                <c:pt idx="1">
                  <c:v>18</c:v>
                </c:pt>
              </c:numCache>
            </c:numRef>
          </c:xVal>
          <c:yVal>
            <c:numRef>
              <c:f>'Chart Data'!$AJ$2:$AJ$3</c:f>
              <c:numCache>
                <c:formatCode>0</c:formatCode>
                <c:ptCount val="2"/>
                <c:pt idx="0">
                  <c:v>12</c:v>
                </c:pt>
                <c:pt idx="1">
                  <c:v>19</c:v>
                </c:pt>
              </c:numCache>
            </c:numRef>
          </c:yVal>
        </c:ser>
        <c:ser>
          <c:idx val="18"/>
          <c:order val="18"/>
          <c:tx>
            <c:v>CS arcering 19</c:v>
          </c:tx>
          <c:spPr>
            <a:ln xmlns:a="http://schemas.openxmlformats.org/drawingml/2006/main" w="47625">
              <a:solidFill>
                <a:srgbClr val="85C1E9"/>
              </a:solidFill>
              <a:prstDash val="solid"/>
            </a:ln>
          </c:spPr>
          <c:marker>
            <c:symbol val="none"/>
            <c:size val="3"/>
          </c:marker>
          <c:xVal>
            <c:numRef>
              <c:f>'Chart Data'!$AK$2:$AK$3</c:f>
              <c:numCache>
                <c:formatCode>General</c:formatCode>
                <c:ptCount val="2"/>
                <c:pt idx="0">
                  <c:v>19</c:v>
                </c:pt>
                <c:pt idx="1">
                  <c:v>19</c:v>
                </c:pt>
              </c:numCache>
            </c:numRef>
          </c:xVal>
          <c:yVal>
            <c:numRef>
              <c:f>'Chart Data'!$AL$2:$AL$3</c:f>
              <c:numCache>
                <c:formatCode>0</c:formatCode>
                <c:ptCount val="2"/>
                <c:pt idx="0">
                  <c:v>12</c:v>
                </c:pt>
                <c:pt idx="1">
                  <c:v>18.5</c:v>
                </c:pt>
              </c:numCache>
            </c:numRef>
          </c:yVal>
        </c:ser>
        <c:ser>
          <c:idx val="19"/>
          <c:order val="19"/>
          <c:tx>
            <c:v>CS arcering 20</c:v>
          </c:tx>
          <c:spPr>
            <a:ln xmlns:a="http://schemas.openxmlformats.org/drawingml/2006/main" w="47625">
              <a:solidFill>
                <a:srgbClr val="85C1E9"/>
              </a:solidFill>
              <a:prstDash val="solid"/>
            </a:ln>
          </c:spPr>
          <c:marker>
            <c:symbol val="none"/>
            <c:size val="3"/>
          </c:marker>
          <c:xVal>
            <c:numRef>
              <c:f>'Chart Data'!$AM$2:$AM$3</c:f>
              <c:numCache>
                <c:formatCode>General</c:formatCode>
                <c:ptCount val="2"/>
                <c:pt idx="0">
                  <c:v>20</c:v>
                </c:pt>
                <c:pt idx="1">
                  <c:v>20</c:v>
                </c:pt>
              </c:numCache>
            </c:numRef>
          </c:xVal>
          <c:yVal>
            <c:numRef>
              <c:f>'Chart Data'!$AN$2:$AN$3</c:f>
              <c:numCache>
                <c:formatCode>0</c:formatCode>
                <c:ptCount val="2"/>
                <c:pt idx="0">
                  <c:v>12</c:v>
                </c:pt>
                <c:pt idx="1">
                  <c:v>18</c:v>
                </c:pt>
              </c:numCache>
            </c:numRef>
          </c:yVal>
        </c:ser>
        <c:ser>
          <c:idx val="20"/>
          <c:order val="20"/>
          <c:tx>
            <c:v>CS arcering 21</c:v>
          </c:tx>
          <c:spPr>
            <a:ln xmlns:a="http://schemas.openxmlformats.org/drawingml/2006/main" w="47625">
              <a:solidFill>
                <a:srgbClr val="85C1E9"/>
              </a:solidFill>
              <a:prstDash val="solid"/>
            </a:ln>
          </c:spPr>
          <c:marker>
            <c:symbol val="none"/>
            <c:size val="3"/>
          </c:marker>
          <c:xVal>
            <c:numRef>
              <c:f>'Chart Data'!$AO$2:$AO$3</c:f>
              <c:numCache>
                <c:formatCode>General</c:formatCode>
                <c:ptCount val="2"/>
                <c:pt idx="0">
                  <c:v>21</c:v>
                </c:pt>
                <c:pt idx="1">
                  <c:v>21</c:v>
                </c:pt>
              </c:numCache>
            </c:numRef>
          </c:xVal>
          <c:yVal>
            <c:numRef>
              <c:f>'Chart Data'!$AP$2:$AP$3</c:f>
              <c:numCache>
                <c:formatCode>0</c:formatCode>
                <c:ptCount val="2"/>
                <c:pt idx="0">
                  <c:v>12</c:v>
                </c:pt>
                <c:pt idx="1">
                  <c:v>17.5</c:v>
                </c:pt>
              </c:numCache>
            </c:numRef>
          </c:yVal>
        </c:ser>
        <c:ser>
          <c:idx val="21"/>
          <c:order val="21"/>
          <c:tx>
            <c:v>CS arcering 22</c:v>
          </c:tx>
          <c:spPr>
            <a:ln xmlns:a="http://schemas.openxmlformats.org/drawingml/2006/main" w="47625">
              <a:solidFill>
                <a:srgbClr val="85C1E9"/>
              </a:solidFill>
              <a:prstDash val="solid"/>
            </a:ln>
          </c:spPr>
          <c:marker>
            <c:symbol val="none"/>
            <c:size val="3"/>
          </c:marker>
          <c:xVal>
            <c:numRef>
              <c:f>'Chart Data'!$AQ$2:$AQ$3</c:f>
              <c:numCache>
                <c:formatCode>General</c:formatCode>
                <c:ptCount val="2"/>
                <c:pt idx="0">
                  <c:v>22</c:v>
                </c:pt>
                <c:pt idx="1">
                  <c:v>22</c:v>
                </c:pt>
              </c:numCache>
            </c:numRef>
          </c:xVal>
          <c:yVal>
            <c:numRef>
              <c:f>'Chart Data'!$AR$2:$AR$3</c:f>
              <c:numCache>
                <c:formatCode>0</c:formatCode>
                <c:ptCount val="2"/>
                <c:pt idx="0">
                  <c:v>12</c:v>
                </c:pt>
                <c:pt idx="1">
                  <c:v>17</c:v>
                </c:pt>
              </c:numCache>
            </c:numRef>
          </c:yVal>
        </c:ser>
        <c:ser>
          <c:idx val="22"/>
          <c:order val="22"/>
          <c:tx>
            <c:v>CS arcering 23</c:v>
          </c:tx>
          <c:spPr>
            <a:ln xmlns:a="http://schemas.openxmlformats.org/drawingml/2006/main" w="47625">
              <a:solidFill>
                <a:srgbClr val="85C1E9"/>
              </a:solidFill>
              <a:prstDash val="solid"/>
            </a:ln>
          </c:spPr>
          <c:marker>
            <c:symbol val="none"/>
            <c:size val="3"/>
          </c:marker>
          <c:xVal>
            <c:numRef>
              <c:f>'Chart Data'!$AS$2:$AS$3</c:f>
              <c:numCache>
                <c:formatCode>General</c:formatCode>
                <c:ptCount val="2"/>
                <c:pt idx="0">
                  <c:v>23</c:v>
                </c:pt>
                <c:pt idx="1">
                  <c:v>23</c:v>
                </c:pt>
              </c:numCache>
            </c:numRef>
          </c:xVal>
          <c:yVal>
            <c:numRef>
              <c:f>'Chart Data'!$AT$2:$AT$3</c:f>
              <c:numCache>
                <c:formatCode>0</c:formatCode>
                <c:ptCount val="2"/>
                <c:pt idx="0">
                  <c:v>12</c:v>
                </c:pt>
                <c:pt idx="1">
                  <c:v>16.5</c:v>
                </c:pt>
              </c:numCache>
            </c:numRef>
          </c:yVal>
        </c:ser>
        <c:ser>
          <c:idx val="23"/>
          <c:order val="23"/>
          <c:tx>
            <c:v>CS arcering 24</c:v>
          </c:tx>
          <c:spPr>
            <a:ln xmlns:a="http://schemas.openxmlformats.org/drawingml/2006/main" w="47625">
              <a:solidFill>
                <a:srgbClr val="85C1E9"/>
              </a:solidFill>
              <a:prstDash val="solid"/>
            </a:ln>
          </c:spPr>
          <c:marker>
            <c:symbol val="none"/>
            <c:size val="3"/>
          </c:marker>
          <c:xVal>
            <c:numRef>
              <c:f>'Chart Data'!$AU$2:$AU$3</c:f>
              <c:numCache>
                <c:formatCode>General</c:formatCode>
                <c:ptCount val="2"/>
                <c:pt idx="0">
                  <c:v>24</c:v>
                </c:pt>
                <c:pt idx="1">
                  <c:v>24</c:v>
                </c:pt>
              </c:numCache>
            </c:numRef>
          </c:xVal>
          <c:yVal>
            <c:numRef>
              <c:f>'Chart Data'!$AV$2:$AV$3</c:f>
              <c:numCache>
                <c:formatCode>0</c:formatCode>
                <c:ptCount val="2"/>
                <c:pt idx="0">
                  <c:v>12</c:v>
                </c:pt>
                <c:pt idx="1">
                  <c:v>16</c:v>
                </c:pt>
              </c:numCache>
            </c:numRef>
          </c:yVal>
        </c:ser>
        <c:ser>
          <c:idx val="24"/>
          <c:order val="24"/>
          <c:tx>
            <c:v>CS arcering 25</c:v>
          </c:tx>
          <c:spPr>
            <a:ln xmlns:a="http://schemas.openxmlformats.org/drawingml/2006/main" w="47625">
              <a:solidFill>
                <a:srgbClr val="85C1E9"/>
              </a:solidFill>
              <a:prstDash val="solid"/>
            </a:ln>
          </c:spPr>
          <c:marker>
            <c:symbol val="none"/>
            <c:size val="3"/>
          </c:marker>
          <c:xVal>
            <c:numRef>
              <c:f>'Chart Data'!$AW$2:$AW$3</c:f>
              <c:numCache>
                <c:formatCode>General</c:formatCode>
                <c:ptCount val="2"/>
                <c:pt idx="0">
                  <c:v>25</c:v>
                </c:pt>
                <c:pt idx="1">
                  <c:v>25</c:v>
                </c:pt>
              </c:numCache>
            </c:numRef>
          </c:xVal>
          <c:yVal>
            <c:numRef>
              <c:f>'Chart Data'!$AX$2:$AX$3</c:f>
              <c:numCache>
                <c:formatCode>0</c:formatCode>
                <c:ptCount val="2"/>
                <c:pt idx="0">
                  <c:v>12</c:v>
                </c:pt>
                <c:pt idx="1">
                  <c:v>15.5</c:v>
                </c:pt>
              </c:numCache>
            </c:numRef>
          </c:yVal>
        </c:ser>
        <c:ser>
          <c:idx val="25"/>
          <c:order val="25"/>
          <c:tx>
            <c:v>CS arcering 26</c:v>
          </c:tx>
          <c:spPr>
            <a:ln xmlns:a="http://schemas.openxmlformats.org/drawingml/2006/main" w="47625">
              <a:solidFill>
                <a:srgbClr val="85C1E9"/>
              </a:solidFill>
              <a:prstDash val="solid"/>
            </a:ln>
          </c:spPr>
          <c:marker>
            <c:symbol val="none"/>
            <c:size val="3"/>
          </c:marker>
          <c:xVal>
            <c:numRef>
              <c:f>'Chart Data'!$AY$2:$AY$3</c:f>
              <c:numCache>
                <c:formatCode>General</c:formatCode>
                <c:ptCount val="2"/>
                <c:pt idx="0">
                  <c:v>26</c:v>
                </c:pt>
                <c:pt idx="1">
                  <c:v>26</c:v>
                </c:pt>
              </c:numCache>
            </c:numRef>
          </c:xVal>
          <c:yVal>
            <c:numRef>
              <c:f>'Chart Data'!$AZ$2:$AZ$3</c:f>
              <c:numCache>
                <c:formatCode>0</c:formatCode>
                <c:ptCount val="2"/>
                <c:pt idx="0">
                  <c:v>12</c:v>
                </c:pt>
                <c:pt idx="1">
                  <c:v>15</c:v>
                </c:pt>
              </c:numCache>
            </c:numRef>
          </c:yVal>
        </c:ser>
        <c:ser>
          <c:idx val="26"/>
          <c:order val="26"/>
          <c:tx>
            <c:v>CS arcering 27</c:v>
          </c:tx>
          <c:spPr>
            <a:ln xmlns:a="http://schemas.openxmlformats.org/drawingml/2006/main" w="47625">
              <a:solidFill>
                <a:srgbClr val="85C1E9"/>
              </a:solidFill>
              <a:prstDash val="solid"/>
            </a:ln>
          </c:spPr>
          <c:marker>
            <c:symbol val="none"/>
            <c:size val="3"/>
          </c:marker>
          <c:xVal>
            <c:numRef>
              <c:f>'Chart Data'!$BA$2:$BA$3</c:f>
              <c:numCache>
                <c:formatCode>General</c:formatCode>
                <c:ptCount val="2"/>
                <c:pt idx="0">
                  <c:v>27</c:v>
                </c:pt>
                <c:pt idx="1">
                  <c:v>27</c:v>
                </c:pt>
              </c:numCache>
            </c:numRef>
          </c:xVal>
          <c:yVal>
            <c:numRef>
              <c:f>'Chart Data'!$BB$2:$BB$3</c:f>
              <c:numCache>
                <c:formatCode>0</c:formatCode>
                <c:ptCount val="2"/>
                <c:pt idx="0">
                  <c:v>12</c:v>
                </c:pt>
                <c:pt idx="1">
                  <c:v>14.5</c:v>
                </c:pt>
              </c:numCache>
            </c:numRef>
          </c:yVal>
        </c:ser>
        <c:ser>
          <c:idx val="27"/>
          <c:order val="27"/>
          <c:tx>
            <c:v>CS arcering 28</c:v>
          </c:tx>
          <c:spPr>
            <a:ln xmlns:a="http://schemas.openxmlformats.org/drawingml/2006/main" w="47625">
              <a:solidFill>
                <a:srgbClr val="85C1E9"/>
              </a:solidFill>
              <a:prstDash val="solid"/>
            </a:ln>
          </c:spPr>
          <c:marker>
            <c:symbol val="none"/>
            <c:size val="3"/>
          </c:marker>
          <c:xVal>
            <c:numRef>
              <c:f>'Chart Data'!$BC$2:$BC$3</c:f>
              <c:numCache>
                <c:formatCode>General</c:formatCode>
                <c:ptCount val="2"/>
                <c:pt idx="0">
                  <c:v>28</c:v>
                </c:pt>
                <c:pt idx="1">
                  <c:v>28</c:v>
                </c:pt>
              </c:numCache>
            </c:numRef>
          </c:xVal>
          <c:yVal>
            <c:numRef>
              <c:f>'Chart Data'!$BD$2:$BD$3</c:f>
              <c:numCache>
                <c:formatCode>0</c:formatCode>
                <c:ptCount val="2"/>
                <c:pt idx="0">
                  <c:v>12</c:v>
                </c:pt>
                <c:pt idx="1">
                  <c:v>14</c:v>
                </c:pt>
              </c:numCache>
            </c:numRef>
          </c:yVal>
        </c:ser>
        <c:ser>
          <c:idx val="28"/>
          <c:order val="28"/>
          <c:tx>
            <c:v>CS arcering 29</c:v>
          </c:tx>
          <c:spPr>
            <a:ln xmlns:a="http://schemas.openxmlformats.org/drawingml/2006/main" w="47625">
              <a:solidFill>
                <a:srgbClr val="85C1E9"/>
              </a:solidFill>
              <a:prstDash val="solid"/>
            </a:ln>
          </c:spPr>
          <c:marker>
            <c:symbol val="none"/>
            <c:size val="3"/>
          </c:marker>
          <c:xVal>
            <c:numRef>
              <c:f>'Chart Data'!$BE$2:$BE$3</c:f>
              <c:numCache>
                <c:formatCode>General</c:formatCode>
                <c:ptCount val="2"/>
                <c:pt idx="0">
                  <c:v>29</c:v>
                </c:pt>
                <c:pt idx="1">
                  <c:v>29</c:v>
                </c:pt>
              </c:numCache>
            </c:numRef>
          </c:xVal>
          <c:yVal>
            <c:numRef>
              <c:f>'Chart Data'!$BF$2:$BF$3</c:f>
              <c:numCache>
                <c:formatCode>0</c:formatCode>
                <c:ptCount val="2"/>
                <c:pt idx="0">
                  <c:v>12</c:v>
                </c:pt>
                <c:pt idx="1">
                  <c:v>13.5</c:v>
                </c:pt>
              </c:numCache>
            </c:numRef>
          </c:yVal>
        </c:ser>
        <c:ser>
          <c:idx val="29"/>
          <c:order val="29"/>
          <c:tx>
            <c:v>CS arcering 30</c:v>
          </c:tx>
          <c:spPr>
            <a:ln xmlns:a="http://schemas.openxmlformats.org/drawingml/2006/main" w="47625">
              <a:solidFill>
                <a:srgbClr val="85C1E9"/>
              </a:solidFill>
              <a:prstDash val="solid"/>
            </a:ln>
          </c:spPr>
          <c:marker>
            <c:symbol val="none"/>
            <c:size val="3"/>
          </c:marker>
          <c:xVal>
            <c:numRef>
              <c:f>'Chart Data'!$BG$2:$BG$3</c:f>
              <c:numCache>
                <c:formatCode>General</c:formatCode>
                <c:ptCount val="2"/>
                <c:pt idx="0">
                  <c:v>30</c:v>
                </c:pt>
                <c:pt idx="1">
                  <c:v>30</c:v>
                </c:pt>
              </c:numCache>
            </c:numRef>
          </c:xVal>
          <c:yVal>
            <c:numRef>
              <c:f>'Chart Data'!$BH$2:$BH$3</c:f>
              <c:numCache>
                <c:formatCode>0</c:formatCode>
                <c:ptCount val="2"/>
                <c:pt idx="0">
                  <c:v>12</c:v>
                </c:pt>
                <c:pt idx="1">
                  <c:v>13</c:v>
                </c:pt>
              </c:numCache>
            </c:numRef>
          </c:yVal>
        </c:ser>
        <c:ser>
          <c:idx val="30"/>
          <c:order val="30"/>
          <c:tx>
            <c:v>CS arcering 31</c:v>
          </c:tx>
          <c:spPr>
            <a:ln xmlns:a="http://schemas.openxmlformats.org/drawingml/2006/main" w="47625">
              <a:solidFill>
                <a:srgbClr val="85C1E9"/>
              </a:solidFill>
              <a:prstDash val="solid"/>
            </a:ln>
          </c:spPr>
          <c:marker>
            <c:symbol val="none"/>
            <c:size val="3"/>
          </c:marker>
          <c:xVal>
            <c:numRef>
              <c:f>'Chart Data'!$BI$2:$BI$3</c:f>
              <c:numCache>
                <c:formatCode>General</c:formatCode>
                <c:ptCount val="2"/>
                <c:pt idx="0">
                  <c:v>31</c:v>
                </c:pt>
                <c:pt idx="1">
                  <c:v>31</c:v>
                </c:pt>
              </c:numCache>
            </c:numRef>
          </c:xVal>
          <c:yVal>
            <c:numRef>
              <c:f>'Chart Data'!$BJ$2:$BJ$3</c:f>
              <c:numCache>
                <c:formatCode>0</c:formatCode>
                <c:ptCount val="2"/>
                <c:pt idx="0">
                  <c:v>12</c:v>
                </c:pt>
                <c:pt idx="1">
                  <c:v>12.5</c:v>
                </c:pt>
              </c:numCache>
            </c:numRef>
          </c:yVal>
        </c:ser>
        <c:ser>
          <c:idx val="31"/>
          <c:order val="31"/>
          <c:tx>
            <c:v>PS arcering 1</c:v>
          </c:tx>
          <c:spPr>
            <a:ln xmlns:a="http://schemas.openxmlformats.org/drawingml/2006/main" w="47625">
              <a:solidFill>
                <a:srgbClr val="82E0AA"/>
              </a:solidFill>
              <a:prstDash val="solid"/>
            </a:ln>
          </c:spPr>
          <c:marker>
            <c:symbol val="none"/>
            <c:size val="3"/>
          </c:marker>
          <c:xVal>
            <c:numRef>
              <c:f>'Chart Data'!$BK$2:$BK$3</c:f>
              <c:numCache>
                <c:formatCode>General</c:formatCode>
                <c:ptCount val="2"/>
                <c:pt idx="0">
                  <c:v>1</c:v>
                </c:pt>
                <c:pt idx="1">
                  <c:v>1</c:v>
                </c:pt>
              </c:numCache>
            </c:numRef>
          </c:xVal>
          <c:yVal>
            <c:numRef>
              <c:f>'Chart Data'!$BL$2:$BL$3</c:f>
              <c:numCache>
                <c:formatCode>0</c:formatCode>
                <c:ptCount val="2"/>
                <c:pt idx="0">
                  <c:v>4.25</c:v>
                </c:pt>
                <c:pt idx="1">
                  <c:v>12</c:v>
                </c:pt>
              </c:numCache>
            </c:numRef>
          </c:yVal>
        </c:ser>
        <c:ser>
          <c:idx val="32"/>
          <c:order val="32"/>
          <c:tx>
            <c:v>PS arcering 2</c:v>
          </c:tx>
          <c:spPr>
            <a:ln xmlns:a="http://schemas.openxmlformats.org/drawingml/2006/main" w="47625">
              <a:solidFill>
                <a:srgbClr val="82E0AA"/>
              </a:solidFill>
              <a:prstDash val="solid"/>
            </a:ln>
          </c:spPr>
          <c:marker>
            <c:symbol val="none"/>
            <c:size val="3"/>
          </c:marker>
          <c:xVal>
            <c:numRef>
              <c:f>'Chart Data'!$BM$2:$BM$3</c:f>
              <c:numCache>
                <c:formatCode>General</c:formatCode>
                <c:ptCount val="2"/>
                <c:pt idx="0">
                  <c:v>2</c:v>
                </c:pt>
                <c:pt idx="1">
                  <c:v>2</c:v>
                </c:pt>
              </c:numCache>
            </c:numRef>
          </c:xVal>
          <c:yVal>
            <c:numRef>
              <c:f>'Chart Data'!$BN$2:$BN$3</c:f>
              <c:numCache>
                <c:formatCode>0</c:formatCode>
                <c:ptCount val="2"/>
                <c:pt idx="0">
                  <c:v>4.5</c:v>
                </c:pt>
                <c:pt idx="1">
                  <c:v>12</c:v>
                </c:pt>
              </c:numCache>
            </c:numRef>
          </c:yVal>
        </c:ser>
        <c:ser>
          <c:idx val="33"/>
          <c:order val="33"/>
          <c:tx>
            <c:v>PS arcering 3</c:v>
          </c:tx>
          <c:spPr>
            <a:ln xmlns:a="http://schemas.openxmlformats.org/drawingml/2006/main" w="47625">
              <a:solidFill>
                <a:srgbClr val="82E0AA"/>
              </a:solidFill>
              <a:prstDash val="solid"/>
            </a:ln>
          </c:spPr>
          <c:marker>
            <c:symbol val="none"/>
            <c:size val="3"/>
          </c:marker>
          <c:xVal>
            <c:numRef>
              <c:f>'Chart Data'!$BO$2:$BO$3</c:f>
              <c:numCache>
                <c:formatCode>General</c:formatCode>
                <c:ptCount val="2"/>
                <c:pt idx="0">
                  <c:v>3</c:v>
                </c:pt>
                <c:pt idx="1">
                  <c:v>3</c:v>
                </c:pt>
              </c:numCache>
            </c:numRef>
          </c:xVal>
          <c:yVal>
            <c:numRef>
              <c:f>'Chart Data'!$BP$2:$BP$3</c:f>
              <c:numCache>
                <c:formatCode>0</c:formatCode>
                <c:ptCount val="2"/>
                <c:pt idx="0">
                  <c:v>4.75</c:v>
                </c:pt>
                <c:pt idx="1">
                  <c:v>12</c:v>
                </c:pt>
              </c:numCache>
            </c:numRef>
          </c:yVal>
        </c:ser>
        <c:ser>
          <c:idx val="34"/>
          <c:order val="34"/>
          <c:tx>
            <c:v>PS arcering 4</c:v>
          </c:tx>
          <c:spPr>
            <a:ln xmlns:a="http://schemas.openxmlformats.org/drawingml/2006/main" w="47625">
              <a:solidFill>
                <a:srgbClr val="82E0AA"/>
              </a:solidFill>
              <a:prstDash val="solid"/>
            </a:ln>
          </c:spPr>
          <c:marker>
            <c:symbol val="none"/>
            <c:size val="3"/>
          </c:marker>
          <c:xVal>
            <c:numRef>
              <c:f>'Chart Data'!$BQ$2:$BQ$3</c:f>
              <c:numCache>
                <c:formatCode>General</c:formatCode>
                <c:ptCount val="2"/>
                <c:pt idx="0">
                  <c:v>4</c:v>
                </c:pt>
                <c:pt idx="1">
                  <c:v>4</c:v>
                </c:pt>
              </c:numCache>
            </c:numRef>
          </c:xVal>
          <c:yVal>
            <c:numRef>
              <c:f>'Chart Data'!$BR$2:$BR$3</c:f>
              <c:numCache>
                <c:formatCode>0</c:formatCode>
                <c:ptCount val="2"/>
                <c:pt idx="0">
                  <c:v>5</c:v>
                </c:pt>
                <c:pt idx="1">
                  <c:v>12</c:v>
                </c:pt>
              </c:numCache>
            </c:numRef>
          </c:yVal>
        </c:ser>
        <c:ser>
          <c:idx val="35"/>
          <c:order val="35"/>
          <c:tx>
            <c:v>PS arcering 5</c:v>
          </c:tx>
          <c:spPr>
            <a:ln xmlns:a="http://schemas.openxmlformats.org/drawingml/2006/main" w="47625">
              <a:solidFill>
                <a:srgbClr val="82E0AA"/>
              </a:solidFill>
              <a:prstDash val="solid"/>
            </a:ln>
          </c:spPr>
          <c:marker>
            <c:symbol val="none"/>
            <c:size val="3"/>
          </c:marker>
          <c:xVal>
            <c:numRef>
              <c:f>'Chart Data'!$BS$2:$BS$3</c:f>
              <c:numCache>
                <c:formatCode>General</c:formatCode>
                <c:ptCount val="2"/>
                <c:pt idx="0">
                  <c:v>5</c:v>
                </c:pt>
                <c:pt idx="1">
                  <c:v>5</c:v>
                </c:pt>
              </c:numCache>
            </c:numRef>
          </c:xVal>
          <c:yVal>
            <c:numRef>
              <c:f>'Chart Data'!$BT$2:$BT$3</c:f>
              <c:numCache>
                <c:formatCode>0</c:formatCode>
                <c:ptCount val="2"/>
                <c:pt idx="0">
                  <c:v>5.25</c:v>
                </c:pt>
                <c:pt idx="1">
                  <c:v>12</c:v>
                </c:pt>
              </c:numCache>
            </c:numRef>
          </c:yVal>
        </c:ser>
        <c:ser>
          <c:idx val="36"/>
          <c:order val="36"/>
          <c:tx>
            <c:v>PS arcering 6</c:v>
          </c:tx>
          <c:spPr>
            <a:ln xmlns:a="http://schemas.openxmlformats.org/drawingml/2006/main" w="47625">
              <a:solidFill>
                <a:srgbClr val="82E0AA"/>
              </a:solidFill>
              <a:prstDash val="solid"/>
            </a:ln>
          </c:spPr>
          <c:marker>
            <c:symbol val="none"/>
            <c:size val="3"/>
          </c:marker>
          <c:xVal>
            <c:numRef>
              <c:f>'Chart Data'!$BU$2:$BU$3</c:f>
              <c:numCache>
                <c:formatCode>General</c:formatCode>
                <c:ptCount val="2"/>
                <c:pt idx="0">
                  <c:v>6</c:v>
                </c:pt>
                <c:pt idx="1">
                  <c:v>6</c:v>
                </c:pt>
              </c:numCache>
            </c:numRef>
          </c:xVal>
          <c:yVal>
            <c:numRef>
              <c:f>'Chart Data'!$BV$2:$BV$3</c:f>
              <c:numCache>
                <c:formatCode>0</c:formatCode>
                <c:ptCount val="2"/>
                <c:pt idx="0">
                  <c:v>5.5</c:v>
                </c:pt>
                <c:pt idx="1">
                  <c:v>12</c:v>
                </c:pt>
              </c:numCache>
            </c:numRef>
          </c:yVal>
        </c:ser>
        <c:ser>
          <c:idx val="37"/>
          <c:order val="37"/>
          <c:tx>
            <c:v>PS arcering 7</c:v>
          </c:tx>
          <c:spPr>
            <a:ln xmlns:a="http://schemas.openxmlformats.org/drawingml/2006/main" w="47625">
              <a:solidFill>
                <a:srgbClr val="82E0AA"/>
              </a:solidFill>
              <a:prstDash val="solid"/>
            </a:ln>
          </c:spPr>
          <c:marker>
            <c:symbol val="none"/>
            <c:size val="3"/>
          </c:marker>
          <c:xVal>
            <c:numRef>
              <c:f>'Chart Data'!$BW$2:$BW$3</c:f>
              <c:numCache>
                <c:formatCode>General</c:formatCode>
                <c:ptCount val="2"/>
                <c:pt idx="0">
                  <c:v>7</c:v>
                </c:pt>
                <c:pt idx="1">
                  <c:v>7</c:v>
                </c:pt>
              </c:numCache>
            </c:numRef>
          </c:xVal>
          <c:yVal>
            <c:numRef>
              <c:f>'Chart Data'!$BX$2:$BX$3</c:f>
              <c:numCache>
                <c:formatCode>0</c:formatCode>
                <c:ptCount val="2"/>
                <c:pt idx="0">
                  <c:v>5.75</c:v>
                </c:pt>
                <c:pt idx="1">
                  <c:v>12</c:v>
                </c:pt>
              </c:numCache>
            </c:numRef>
          </c:yVal>
        </c:ser>
        <c:ser>
          <c:idx val="38"/>
          <c:order val="38"/>
          <c:tx>
            <c:v>PS arcering 8</c:v>
          </c:tx>
          <c:spPr>
            <a:ln xmlns:a="http://schemas.openxmlformats.org/drawingml/2006/main" w="47625">
              <a:solidFill>
                <a:srgbClr val="82E0AA"/>
              </a:solidFill>
              <a:prstDash val="solid"/>
            </a:ln>
          </c:spPr>
          <c:marker>
            <c:symbol val="none"/>
            <c:size val="3"/>
          </c:marker>
          <c:xVal>
            <c:numRef>
              <c:f>'Chart Data'!$BY$2:$BY$3</c:f>
              <c:numCache>
                <c:formatCode>General</c:formatCode>
                <c:ptCount val="2"/>
                <c:pt idx="0">
                  <c:v>8</c:v>
                </c:pt>
                <c:pt idx="1">
                  <c:v>8</c:v>
                </c:pt>
              </c:numCache>
            </c:numRef>
          </c:xVal>
          <c:yVal>
            <c:numRef>
              <c:f>'Chart Data'!$BZ$2:$BZ$3</c:f>
              <c:numCache>
                <c:formatCode>0</c:formatCode>
                <c:ptCount val="2"/>
                <c:pt idx="0">
                  <c:v>6</c:v>
                </c:pt>
                <c:pt idx="1">
                  <c:v>12</c:v>
                </c:pt>
              </c:numCache>
            </c:numRef>
          </c:yVal>
        </c:ser>
        <c:ser>
          <c:idx val="39"/>
          <c:order val="39"/>
          <c:tx>
            <c:v>PS arcering 9</c:v>
          </c:tx>
          <c:spPr>
            <a:ln xmlns:a="http://schemas.openxmlformats.org/drawingml/2006/main" w="47625">
              <a:solidFill>
                <a:srgbClr val="82E0AA"/>
              </a:solidFill>
              <a:prstDash val="solid"/>
            </a:ln>
          </c:spPr>
          <c:marker>
            <c:symbol val="none"/>
            <c:size val="3"/>
          </c:marker>
          <c:xVal>
            <c:numRef>
              <c:f>'Chart Data'!$CA$2:$CA$3</c:f>
              <c:numCache>
                <c:formatCode>General</c:formatCode>
                <c:ptCount val="2"/>
                <c:pt idx="0">
                  <c:v>9</c:v>
                </c:pt>
                <c:pt idx="1">
                  <c:v>9</c:v>
                </c:pt>
              </c:numCache>
            </c:numRef>
          </c:xVal>
          <c:yVal>
            <c:numRef>
              <c:f>'Chart Data'!$CB$2:$CB$3</c:f>
              <c:numCache>
                <c:formatCode>0</c:formatCode>
                <c:ptCount val="2"/>
                <c:pt idx="0">
                  <c:v>6.25</c:v>
                </c:pt>
                <c:pt idx="1">
                  <c:v>12</c:v>
                </c:pt>
              </c:numCache>
            </c:numRef>
          </c:yVal>
        </c:ser>
        <c:ser>
          <c:idx val="40"/>
          <c:order val="40"/>
          <c:tx>
            <c:v>PS arcering 10</c:v>
          </c:tx>
          <c:spPr>
            <a:ln xmlns:a="http://schemas.openxmlformats.org/drawingml/2006/main" w="47625">
              <a:solidFill>
                <a:srgbClr val="82E0AA"/>
              </a:solidFill>
              <a:prstDash val="solid"/>
            </a:ln>
          </c:spPr>
          <c:marker>
            <c:symbol val="none"/>
            <c:size val="3"/>
          </c:marker>
          <c:xVal>
            <c:numRef>
              <c:f>'Chart Data'!$CC$2:$CC$3</c:f>
              <c:numCache>
                <c:formatCode>General</c:formatCode>
                <c:ptCount val="2"/>
                <c:pt idx="0">
                  <c:v>10</c:v>
                </c:pt>
                <c:pt idx="1">
                  <c:v>10</c:v>
                </c:pt>
              </c:numCache>
            </c:numRef>
          </c:xVal>
          <c:yVal>
            <c:numRef>
              <c:f>'Chart Data'!$CD$2:$CD$3</c:f>
              <c:numCache>
                <c:formatCode>0</c:formatCode>
                <c:ptCount val="2"/>
                <c:pt idx="0">
                  <c:v>6.5</c:v>
                </c:pt>
                <c:pt idx="1">
                  <c:v>12</c:v>
                </c:pt>
              </c:numCache>
            </c:numRef>
          </c:yVal>
        </c:ser>
        <c:ser>
          <c:idx val="41"/>
          <c:order val="41"/>
          <c:tx>
            <c:v>PS arcering 11</c:v>
          </c:tx>
          <c:spPr>
            <a:ln xmlns:a="http://schemas.openxmlformats.org/drawingml/2006/main" w="47625">
              <a:solidFill>
                <a:srgbClr val="82E0AA"/>
              </a:solidFill>
              <a:prstDash val="solid"/>
            </a:ln>
          </c:spPr>
          <c:marker>
            <c:symbol val="none"/>
            <c:size val="3"/>
          </c:marker>
          <c:xVal>
            <c:numRef>
              <c:f>'Chart Data'!$CE$2:$CE$3</c:f>
              <c:numCache>
                <c:formatCode>General</c:formatCode>
                <c:ptCount val="2"/>
                <c:pt idx="0">
                  <c:v>11</c:v>
                </c:pt>
                <c:pt idx="1">
                  <c:v>11</c:v>
                </c:pt>
              </c:numCache>
            </c:numRef>
          </c:xVal>
          <c:yVal>
            <c:numRef>
              <c:f>'Chart Data'!$CF$2:$CF$3</c:f>
              <c:numCache>
                <c:formatCode>0</c:formatCode>
                <c:ptCount val="2"/>
                <c:pt idx="0">
                  <c:v>6.75</c:v>
                </c:pt>
                <c:pt idx="1">
                  <c:v>12</c:v>
                </c:pt>
              </c:numCache>
            </c:numRef>
          </c:yVal>
        </c:ser>
        <c:ser>
          <c:idx val="42"/>
          <c:order val="42"/>
          <c:tx>
            <c:v>PS arcering 12</c:v>
          </c:tx>
          <c:spPr>
            <a:ln xmlns:a="http://schemas.openxmlformats.org/drawingml/2006/main" w="47625">
              <a:solidFill>
                <a:srgbClr val="82E0AA"/>
              </a:solidFill>
              <a:prstDash val="solid"/>
            </a:ln>
          </c:spPr>
          <c:marker>
            <c:symbol val="none"/>
            <c:size val="3"/>
          </c:marker>
          <c:xVal>
            <c:numRef>
              <c:f>'Chart Data'!$CG$2:$CG$3</c:f>
              <c:numCache>
                <c:formatCode>General</c:formatCode>
                <c:ptCount val="2"/>
                <c:pt idx="0">
                  <c:v>12</c:v>
                </c:pt>
                <c:pt idx="1">
                  <c:v>12</c:v>
                </c:pt>
              </c:numCache>
            </c:numRef>
          </c:xVal>
          <c:yVal>
            <c:numRef>
              <c:f>'Chart Data'!$CH$2:$CH$3</c:f>
              <c:numCache>
                <c:formatCode>0</c:formatCode>
                <c:ptCount val="2"/>
                <c:pt idx="0">
                  <c:v>7</c:v>
                </c:pt>
                <c:pt idx="1">
                  <c:v>12</c:v>
                </c:pt>
              </c:numCache>
            </c:numRef>
          </c:yVal>
        </c:ser>
        <c:ser>
          <c:idx val="43"/>
          <c:order val="43"/>
          <c:tx>
            <c:v>PS arcering 13</c:v>
          </c:tx>
          <c:spPr>
            <a:ln xmlns:a="http://schemas.openxmlformats.org/drawingml/2006/main" w="47625">
              <a:solidFill>
                <a:srgbClr val="82E0AA"/>
              </a:solidFill>
              <a:prstDash val="solid"/>
            </a:ln>
          </c:spPr>
          <c:marker>
            <c:symbol val="none"/>
            <c:size val="3"/>
          </c:marker>
          <c:xVal>
            <c:numRef>
              <c:f>'Chart Data'!$CI$2:$CI$3</c:f>
              <c:numCache>
                <c:formatCode>General</c:formatCode>
                <c:ptCount val="2"/>
                <c:pt idx="0">
                  <c:v>13</c:v>
                </c:pt>
                <c:pt idx="1">
                  <c:v>13</c:v>
                </c:pt>
              </c:numCache>
            </c:numRef>
          </c:xVal>
          <c:yVal>
            <c:numRef>
              <c:f>'Chart Data'!$CJ$2:$CJ$3</c:f>
              <c:numCache>
                <c:formatCode>0</c:formatCode>
                <c:ptCount val="2"/>
                <c:pt idx="0">
                  <c:v>7.25</c:v>
                </c:pt>
                <c:pt idx="1">
                  <c:v>12</c:v>
                </c:pt>
              </c:numCache>
            </c:numRef>
          </c:yVal>
        </c:ser>
        <c:ser>
          <c:idx val="44"/>
          <c:order val="44"/>
          <c:tx>
            <c:v>PS arcering 14</c:v>
          </c:tx>
          <c:spPr>
            <a:ln xmlns:a="http://schemas.openxmlformats.org/drawingml/2006/main" w="47625">
              <a:solidFill>
                <a:srgbClr val="82E0AA"/>
              </a:solidFill>
              <a:prstDash val="solid"/>
            </a:ln>
          </c:spPr>
          <c:marker>
            <c:symbol val="none"/>
            <c:size val="3"/>
          </c:marker>
          <c:xVal>
            <c:numRef>
              <c:f>'Chart Data'!$CK$2:$CK$3</c:f>
              <c:numCache>
                <c:formatCode>General</c:formatCode>
                <c:ptCount val="2"/>
                <c:pt idx="0">
                  <c:v>14</c:v>
                </c:pt>
                <c:pt idx="1">
                  <c:v>14</c:v>
                </c:pt>
              </c:numCache>
            </c:numRef>
          </c:xVal>
          <c:yVal>
            <c:numRef>
              <c:f>'Chart Data'!$CL$2:$CL$3</c:f>
              <c:numCache>
                <c:formatCode>0</c:formatCode>
                <c:ptCount val="2"/>
                <c:pt idx="0">
                  <c:v>7.5</c:v>
                </c:pt>
                <c:pt idx="1">
                  <c:v>12</c:v>
                </c:pt>
              </c:numCache>
            </c:numRef>
          </c:yVal>
        </c:ser>
        <c:ser>
          <c:idx val="45"/>
          <c:order val="45"/>
          <c:tx>
            <c:v>PS arcering 15</c:v>
          </c:tx>
          <c:spPr>
            <a:ln xmlns:a="http://schemas.openxmlformats.org/drawingml/2006/main" w="47625">
              <a:solidFill>
                <a:srgbClr val="82E0AA"/>
              </a:solidFill>
              <a:prstDash val="solid"/>
            </a:ln>
          </c:spPr>
          <c:marker>
            <c:symbol val="none"/>
            <c:size val="3"/>
          </c:marker>
          <c:xVal>
            <c:numRef>
              <c:f>'Chart Data'!$CM$2:$CM$3</c:f>
              <c:numCache>
                <c:formatCode>General</c:formatCode>
                <c:ptCount val="2"/>
                <c:pt idx="0">
                  <c:v>15</c:v>
                </c:pt>
                <c:pt idx="1">
                  <c:v>15</c:v>
                </c:pt>
              </c:numCache>
            </c:numRef>
          </c:xVal>
          <c:yVal>
            <c:numRef>
              <c:f>'Chart Data'!$CN$2:$CN$3</c:f>
              <c:numCache>
                <c:formatCode>0</c:formatCode>
                <c:ptCount val="2"/>
                <c:pt idx="0">
                  <c:v>7.75</c:v>
                </c:pt>
                <c:pt idx="1">
                  <c:v>12</c:v>
                </c:pt>
              </c:numCache>
            </c:numRef>
          </c:yVal>
        </c:ser>
        <c:ser>
          <c:idx val="46"/>
          <c:order val="46"/>
          <c:tx>
            <c:v>PS arcering 16</c:v>
          </c:tx>
          <c:spPr>
            <a:ln xmlns:a="http://schemas.openxmlformats.org/drawingml/2006/main" w="47625">
              <a:solidFill>
                <a:srgbClr val="82E0AA"/>
              </a:solidFill>
              <a:prstDash val="solid"/>
            </a:ln>
          </c:spPr>
          <c:marker>
            <c:symbol val="none"/>
            <c:size val="3"/>
          </c:marker>
          <c:xVal>
            <c:numRef>
              <c:f>'Chart Data'!$CO$2:$CO$3</c:f>
              <c:numCache>
                <c:formatCode>General</c:formatCode>
                <c:ptCount val="2"/>
                <c:pt idx="0">
                  <c:v>16</c:v>
                </c:pt>
                <c:pt idx="1">
                  <c:v>16</c:v>
                </c:pt>
              </c:numCache>
            </c:numRef>
          </c:xVal>
          <c:yVal>
            <c:numRef>
              <c:f>'Chart Data'!$CP$2:$CP$3</c:f>
              <c:numCache>
                <c:formatCode>0</c:formatCode>
                <c:ptCount val="2"/>
                <c:pt idx="0">
                  <c:v>8</c:v>
                </c:pt>
                <c:pt idx="1">
                  <c:v>12</c:v>
                </c:pt>
              </c:numCache>
            </c:numRef>
          </c:yVal>
        </c:ser>
        <c:ser>
          <c:idx val="47"/>
          <c:order val="47"/>
          <c:tx>
            <c:v>PS arcering 17</c:v>
          </c:tx>
          <c:spPr>
            <a:ln xmlns:a="http://schemas.openxmlformats.org/drawingml/2006/main" w="47625">
              <a:solidFill>
                <a:srgbClr val="82E0AA"/>
              </a:solidFill>
              <a:prstDash val="solid"/>
            </a:ln>
          </c:spPr>
          <c:marker>
            <c:symbol val="none"/>
            <c:size val="3"/>
          </c:marker>
          <c:xVal>
            <c:numRef>
              <c:f>'Chart Data'!$CQ$2:$CQ$3</c:f>
              <c:numCache>
                <c:formatCode>General</c:formatCode>
                <c:ptCount val="2"/>
                <c:pt idx="0">
                  <c:v>17</c:v>
                </c:pt>
                <c:pt idx="1">
                  <c:v>17</c:v>
                </c:pt>
              </c:numCache>
            </c:numRef>
          </c:xVal>
          <c:yVal>
            <c:numRef>
              <c:f>'Chart Data'!$CR$2:$CR$3</c:f>
              <c:numCache>
                <c:formatCode>0</c:formatCode>
                <c:ptCount val="2"/>
                <c:pt idx="0">
                  <c:v>8.25</c:v>
                </c:pt>
                <c:pt idx="1">
                  <c:v>12</c:v>
                </c:pt>
              </c:numCache>
            </c:numRef>
          </c:yVal>
        </c:ser>
        <c:ser>
          <c:idx val="48"/>
          <c:order val="48"/>
          <c:tx>
            <c:v>PS arcering 18</c:v>
          </c:tx>
          <c:spPr>
            <a:ln xmlns:a="http://schemas.openxmlformats.org/drawingml/2006/main" w="47625">
              <a:solidFill>
                <a:srgbClr val="82E0AA"/>
              </a:solidFill>
              <a:prstDash val="solid"/>
            </a:ln>
          </c:spPr>
          <c:marker>
            <c:symbol val="none"/>
            <c:size val="3"/>
          </c:marker>
          <c:xVal>
            <c:numRef>
              <c:f>'Chart Data'!$CS$2:$CS$3</c:f>
              <c:numCache>
                <c:formatCode>General</c:formatCode>
                <c:ptCount val="2"/>
                <c:pt idx="0">
                  <c:v>18</c:v>
                </c:pt>
                <c:pt idx="1">
                  <c:v>18</c:v>
                </c:pt>
              </c:numCache>
            </c:numRef>
          </c:xVal>
          <c:yVal>
            <c:numRef>
              <c:f>'Chart Data'!$CT$2:$CT$3</c:f>
              <c:numCache>
                <c:formatCode>0</c:formatCode>
                <c:ptCount val="2"/>
                <c:pt idx="0">
                  <c:v>8.5</c:v>
                </c:pt>
                <c:pt idx="1">
                  <c:v>12</c:v>
                </c:pt>
              </c:numCache>
            </c:numRef>
          </c:yVal>
        </c:ser>
        <c:ser>
          <c:idx val="49"/>
          <c:order val="49"/>
          <c:tx>
            <c:v>PS arcering 19</c:v>
          </c:tx>
          <c:spPr>
            <a:ln xmlns:a="http://schemas.openxmlformats.org/drawingml/2006/main" w="47625">
              <a:solidFill>
                <a:srgbClr val="82E0AA"/>
              </a:solidFill>
              <a:prstDash val="solid"/>
            </a:ln>
          </c:spPr>
          <c:marker>
            <c:symbol val="none"/>
            <c:size val="3"/>
          </c:marker>
          <c:xVal>
            <c:numRef>
              <c:f>'Chart Data'!$CU$2:$CU$3</c:f>
              <c:numCache>
                <c:formatCode>General</c:formatCode>
                <c:ptCount val="2"/>
                <c:pt idx="0">
                  <c:v>19</c:v>
                </c:pt>
                <c:pt idx="1">
                  <c:v>19</c:v>
                </c:pt>
              </c:numCache>
            </c:numRef>
          </c:xVal>
          <c:yVal>
            <c:numRef>
              <c:f>'Chart Data'!$CV$2:$CV$3</c:f>
              <c:numCache>
                <c:formatCode>0</c:formatCode>
                <c:ptCount val="2"/>
                <c:pt idx="0">
                  <c:v>8.75</c:v>
                </c:pt>
                <c:pt idx="1">
                  <c:v>12</c:v>
                </c:pt>
              </c:numCache>
            </c:numRef>
          </c:yVal>
        </c:ser>
        <c:ser>
          <c:idx val="50"/>
          <c:order val="50"/>
          <c:tx>
            <c:v>PS arcering 20</c:v>
          </c:tx>
          <c:spPr>
            <a:ln xmlns:a="http://schemas.openxmlformats.org/drawingml/2006/main" w="47625">
              <a:solidFill>
                <a:srgbClr val="82E0AA"/>
              </a:solidFill>
              <a:prstDash val="solid"/>
            </a:ln>
          </c:spPr>
          <c:marker>
            <c:symbol val="none"/>
            <c:size val="3"/>
          </c:marker>
          <c:xVal>
            <c:numRef>
              <c:f>'Chart Data'!$CW$2:$CW$3</c:f>
              <c:numCache>
                <c:formatCode>General</c:formatCode>
                <c:ptCount val="2"/>
                <c:pt idx="0">
                  <c:v>20</c:v>
                </c:pt>
                <c:pt idx="1">
                  <c:v>20</c:v>
                </c:pt>
              </c:numCache>
            </c:numRef>
          </c:xVal>
          <c:yVal>
            <c:numRef>
              <c:f>'Chart Data'!$CX$2:$CX$3</c:f>
              <c:numCache>
                <c:formatCode>0</c:formatCode>
                <c:ptCount val="2"/>
                <c:pt idx="0">
                  <c:v>9</c:v>
                </c:pt>
                <c:pt idx="1">
                  <c:v>12</c:v>
                </c:pt>
              </c:numCache>
            </c:numRef>
          </c:yVal>
        </c:ser>
        <c:ser>
          <c:idx val="51"/>
          <c:order val="51"/>
          <c:tx>
            <c:v>PS arcering 21</c:v>
          </c:tx>
          <c:spPr>
            <a:ln xmlns:a="http://schemas.openxmlformats.org/drawingml/2006/main" w="47625">
              <a:solidFill>
                <a:srgbClr val="82E0AA"/>
              </a:solidFill>
              <a:prstDash val="solid"/>
            </a:ln>
          </c:spPr>
          <c:marker>
            <c:symbol val="none"/>
            <c:size val="3"/>
          </c:marker>
          <c:xVal>
            <c:numRef>
              <c:f>'Chart Data'!$CY$2:$CY$3</c:f>
              <c:numCache>
                <c:formatCode>General</c:formatCode>
                <c:ptCount val="2"/>
                <c:pt idx="0">
                  <c:v>21</c:v>
                </c:pt>
                <c:pt idx="1">
                  <c:v>21</c:v>
                </c:pt>
              </c:numCache>
            </c:numRef>
          </c:xVal>
          <c:yVal>
            <c:numRef>
              <c:f>'Chart Data'!$CZ$2:$CZ$3</c:f>
              <c:numCache>
                <c:formatCode>0</c:formatCode>
                <c:ptCount val="2"/>
                <c:pt idx="0">
                  <c:v>9.25</c:v>
                </c:pt>
                <c:pt idx="1">
                  <c:v>12</c:v>
                </c:pt>
              </c:numCache>
            </c:numRef>
          </c:yVal>
        </c:ser>
        <c:ser>
          <c:idx val="52"/>
          <c:order val="52"/>
          <c:tx>
            <c:v>PS arcering 22</c:v>
          </c:tx>
          <c:spPr>
            <a:ln xmlns:a="http://schemas.openxmlformats.org/drawingml/2006/main" w="47625">
              <a:solidFill>
                <a:srgbClr val="82E0AA"/>
              </a:solidFill>
              <a:prstDash val="solid"/>
            </a:ln>
          </c:spPr>
          <c:marker>
            <c:symbol val="none"/>
            <c:size val="3"/>
          </c:marker>
          <c:xVal>
            <c:numRef>
              <c:f>'Chart Data'!$DA$2:$DA$3</c:f>
              <c:numCache>
                <c:formatCode>General</c:formatCode>
                <c:ptCount val="2"/>
                <c:pt idx="0">
                  <c:v>22</c:v>
                </c:pt>
                <c:pt idx="1">
                  <c:v>22</c:v>
                </c:pt>
              </c:numCache>
            </c:numRef>
          </c:xVal>
          <c:yVal>
            <c:numRef>
              <c:f>'Chart Data'!$DB$2:$DB$3</c:f>
              <c:numCache>
                <c:formatCode>0</c:formatCode>
                <c:ptCount val="2"/>
                <c:pt idx="0">
                  <c:v>9.5</c:v>
                </c:pt>
                <c:pt idx="1">
                  <c:v>12</c:v>
                </c:pt>
              </c:numCache>
            </c:numRef>
          </c:yVal>
        </c:ser>
        <c:ser>
          <c:idx val="53"/>
          <c:order val="53"/>
          <c:tx>
            <c:v>PS arcering 23</c:v>
          </c:tx>
          <c:spPr>
            <a:ln xmlns:a="http://schemas.openxmlformats.org/drawingml/2006/main" w="47625">
              <a:solidFill>
                <a:srgbClr val="82E0AA"/>
              </a:solidFill>
              <a:prstDash val="solid"/>
            </a:ln>
          </c:spPr>
          <c:marker>
            <c:symbol val="none"/>
            <c:size val="3"/>
          </c:marker>
          <c:xVal>
            <c:numRef>
              <c:f>'Chart Data'!$DC$2:$DC$3</c:f>
              <c:numCache>
                <c:formatCode>General</c:formatCode>
                <c:ptCount val="2"/>
                <c:pt idx="0">
                  <c:v>23</c:v>
                </c:pt>
                <c:pt idx="1">
                  <c:v>23</c:v>
                </c:pt>
              </c:numCache>
            </c:numRef>
          </c:xVal>
          <c:yVal>
            <c:numRef>
              <c:f>'Chart Data'!$DD$2:$DD$3</c:f>
              <c:numCache>
                <c:formatCode>0</c:formatCode>
                <c:ptCount val="2"/>
                <c:pt idx="0">
                  <c:v>9.75</c:v>
                </c:pt>
                <c:pt idx="1">
                  <c:v>12</c:v>
                </c:pt>
              </c:numCache>
            </c:numRef>
          </c:yVal>
        </c:ser>
        <c:ser>
          <c:idx val="54"/>
          <c:order val="54"/>
          <c:tx>
            <c:v>PS arcering 24</c:v>
          </c:tx>
          <c:spPr>
            <a:ln xmlns:a="http://schemas.openxmlformats.org/drawingml/2006/main" w="47625">
              <a:solidFill>
                <a:srgbClr val="82E0AA"/>
              </a:solidFill>
              <a:prstDash val="solid"/>
            </a:ln>
          </c:spPr>
          <c:marker>
            <c:symbol val="none"/>
            <c:size val="3"/>
          </c:marker>
          <c:xVal>
            <c:numRef>
              <c:f>'Chart Data'!$DE$2:$DE$3</c:f>
              <c:numCache>
                <c:formatCode>General</c:formatCode>
                <c:ptCount val="2"/>
                <c:pt idx="0">
                  <c:v>24</c:v>
                </c:pt>
                <c:pt idx="1">
                  <c:v>24</c:v>
                </c:pt>
              </c:numCache>
            </c:numRef>
          </c:xVal>
          <c:yVal>
            <c:numRef>
              <c:f>'Chart Data'!$DF$2:$DF$3</c:f>
              <c:numCache>
                <c:formatCode>0</c:formatCode>
                <c:ptCount val="2"/>
                <c:pt idx="0">
                  <c:v>10</c:v>
                </c:pt>
                <c:pt idx="1">
                  <c:v>12</c:v>
                </c:pt>
              </c:numCache>
            </c:numRef>
          </c:yVal>
        </c:ser>
        <c:ser>
          <c:idx val="55"/>
          <c:order val="55"/>
          <c:tx>
            <c:v>PS arcering 25</c:v>
          </c:tx>
          <c:spPr>
            <a:ln xmlns:a="http://schemas.openxmlformats.org/drawingml/2006/main" w="47625">
              <a:solidFill>
                <a:srgbClr val="82E0AA"/>
              </a:solidFill>
              <a:prstDash val="solid"/>
            </a:ln>
          </c:spPr>
          <c:marker>
            <c:symbol val="none"/>
            <c:size val="3"/>
          </c:marker>
          <c:xVal>
            <c:numRef>
              <c:f>'Chart Data'!$DG$2:$DG$3</c:f>
              <c:numCache>
                <c:formatCode>General</c:formatCode>
                <c:ptCount val="2"/>
                <c:pt idx="0">
                  <c:v>25</c:v>
                </c:pt>
                <c:pt idx="1">
                  <c:v>25</c:v>
                </c:pt>
              </c:numCache>
            </c:numRef>
          </c:xVal>
          <c:yVal>
            <c:numRef>
              <c:f>'Chart Data'!$DH$2:$DH$3</c:f>
              <c:numCache>
                <c:formatCode>0</c:formatCode>
                <c:ptCount val="2"/>
                <c:pt idx="0">
                  <c:v>10.25</c:v>
                </c:pt>
                <c:pt idx="1">
                  <c:v>12</c:v>
                </c:pt>
              </c:numCache>
            </c:numRef>
          </c:yVal>
        </c:ser>
        <c:ser>
          <c:idx val="56"/>
          <c:order val="56"/>
          <c:tx>
            <c:v>PS arcering 26</c:v>
          </c:tx>
          <c:spPr>
            <a:ln xmlns:a="http://schemas.openxmlformats.org/drawingml/2006/main" w="47625">
              <a:solidFill>
                <a:srgbClr val="82E0AA"/>
              </a:solidFill>
              <a:prstDash val="solid"/>
            </a:ln>
          </c:spPr>
          <c:marker>
            <c:symbol val="none"/>
            <c:size val="3"/>
          </c:marker>
          <c:xVal>
            <c:numRef>
              <c:f>'Chart Data'!$DI$2:$DI$3</c:f>
              <c:numCache>
                <c:formatCode>General</c:formatCode>
                <c:ptCount val="2"/>
                <c:pt idx="0">
                  <c:v>26</c:v>
                </c:pt>
                <c:pt idx="1">
                  <c:v>26</c:v>
                </c:pt>
              </c:numCache>
            </c:numRef>
          </c:xVal>
          <c:yVal>
            <c:numRef>
              <c:f>'Chart Data'!$DJ$2:$DJ$3</c:f>
              <c:numCache>
                <c:formatCode>0</c:formatCode>
                <c:ptCount val="2"/>
                <c:pt idx="0">
                  <c:v>10.5</c:v>
                </c:pt>
                <c:pt idx="1">
                  <c:v>12</c:v>
                </c:pt>
              </c:numCache>
            </c:numRef>
          </c:yVal>
        </c:ser>
        <c:ser>
          <c:idx val="57"/>
          <c:order val="57"/>
          <c:tx>
            <c:v>PS arcering 27</c:v>
          </c:tx>
          <c:spPr>
            <a:ln xmlns:a="http://schemas.openxmlformats.org/drawingml/2006/main" w="47625">
              <a:solidFill>
                <a:srgbClr val="82E0AA"/>
              </a:solidFill>
              <a:prstDash val="solid"/>
            </a:ln>
          </c:spPr>
          <c:marker>
            <c:symbol val="none"/>
            <c:size val="3"/>
          </c:marker>
          <c:xVal>
            <c:numRef>
              <c:f>'Chart Data'!$DK$2:$DK$3</c:f>
              <c:numCache>
                <c:formatCode>General</c:formatCode>
                <c:ptCount val="2"/>
                <c:pt idx="0">
                  <c:v>27</c:v>
                </c:pt>
                <c:pt idx="1">
                  <c:v>27</c:v>
                </c:pt>
              </c:numCache>
            </c:numRef>
          </c:xVal>
          <c:yVal>
            <c:numRef>
              <c:f>'Chart Data'!$DL$2:$DL$3</c:f>
              <c:numCache>
                <c:formatCode>0</c:formatCode>
                <c:ptCount val="2"/>
                <c:pt idx="0">
                  <c:v>10.75</c:v>
                </c:pt>
                <c:pt idx="1">
                  <c:v>12</c:v>
                </c:pt>
              </c:numCache>
            </c:numRef>
          </c:yVal>
        </c:ser>
        <c:ser>
          <c:idx val="58"/>
          <c:order val="58"/>
          <c:tx>
            <c:v>PS arcering 28</c:v>
          </c:tx>
          <c:spPr>
            <a:ln xmlns:a="http://schemas.openxmlformats.org/drawingml/2006/main" w="47625">
              <a:solidFill>
                <a:srgbClr val="82E0AA"/>
              </a:solidFill>
              <a:prstDash val="solid"/>
            </a:ln>
          </c:spPr>
          <c:marker>
            <c:symbol val="none"/>
            <c:size val="3"/>
          </c:marker>
          <c:xVal>
            <c:numRef>
              <c:f>'Chart Data'!$DM$2:$DM$3</c:f>
              <c:numCache>
                <c:formatCode>General</c:formatCode>
                <c:ptCount val="2"/>
                <c:pt idx="0">
                  <c:v>28</c:v>
                </c:pt>
                <c:pt idx="1">
                  <c:v>28</c:v>
                </c:pt>
              </c:numCache>
            </c:numRef>
          </c:xVal>
          <c:yVal>
            <c:numRef>
              <c:f>'Chart Data'!$DN$2:$DN$3</c:f>
              <c:numCache>
                <c:formatCode>0</c:formatCode>
                <c:ptCount val="2"/>
                <c:pt idx="0">
                  <c:v>11</c:v>
                </c:pt>
                <c:pt idx="1">
                  <c:v>12</c:v>
                </c:pt>
              </c:numCache>
            </c:numRef>
          </c:yVal>
        </c:ser>
        <c:ser>
          <c:idx val="59"/>
          <c:order val="59"/>
          <c:tx>
            <c:v>PS arcering 29</c:v>
          </c:tx>
          <c:spPr>
            <a:ln xmlns:a="http://schemas.openxmlformats.org/drawingml/2006/main" w="47625">
              <a:solidFill>
                <a:srgbClr val="82E0AA"/>
              </a:solidFill>
              <a:prstDash val="solid"/>
            </a:ln>
          </c:spPr>
          <c:marker>
            <c:symbol val="none"/>
            <c:size val="3"/>
          </c:marker>
          <c:xVal>
            <c:numRef>
              <c:f>'Chart Data'!$DO$2:$DO$3</c:f>
              <c:numCache>
                <c:formatCode>General</c:formatCode>
                <c:ptCount val="2"/>
                <c:pt idx="0">
                  <c:v>29</c:v>
                </c:pt>
                <c:pt idx="1">
                  <c:v>29</c:v>
                </c:pt>
              </c:numCache>
            </c:numRef>
          </c:xVal>
          <c:yVal>
            <c:numRef>
              <c:f>'Chart Data'!$DP$2:$DP$3</c:f>
              <c:numCache>
                <c:formatCode>0</c:formatCode>
                <c:ptCount val="2"/>
                <c:pt idx="0">
                  <c:v>11.25</c:v>
                </c:pt>
                <c:pt idx="1">
                  <c:v>12</c:v>
                </c:pt>
              </c:numCache>
            </c:numRef>
          </c:yVal>
        </c:ser>
        <c:ser>
          <c:idx val="60"/>
          <c:order val="60"/>
          <c:tx>
            <c:v>PS arcering 30</c:v>
          </c:tx>
          <c:spPr>
            <a:ln xmlns:a="http://schemas.openxmlformats.org/drawingml/2006/main" w="47625">
              <a:solidFill>
                <a:srgbClr val="82E0AA"/>
              </a:solidFill>
              <a:prstDash val="solid"/>
            </a:ln>
          </c:spPr>
          <c:marker>
            <c:symbol val="none"/>
            <c:size val="3"/>
          </c:marker>
          <c:xVal>
            <c:numRef>
              <c:f>'Chart Data'!$DQ$2:$DQ$3</c:f>
              <c:numCache>
                <c:formatCode>General</c:formatCode>
                <c:ptCount val="2"/>
                <c:pt idx="0">
                  <c:v>30</c:v>
                </c:pt>
                <c:pt idx="1">
                  <c:v>30</c:v>
                </c:pt>
              </c:numCache>
            </c:numRef>
          </c:xVal>
          <c:yVal>
            <c:numRef>
              <c:f>'Chart Data'!$DR$2:$DR$3</c:f>
              <c:numCache>
                <c:formatCode>0</c:formatCode>
                <c:ptCount val="2"/>
                <c:pt idx="0">
                  <c:v>11.5</c:v>
                </c:pt>
                <c:pt idx="1">
                  <c:v>12</c:v>
                </c:pt>
              </c:numCache>
            </c:numRef>
          </c:yVal>
        </c:ser>
        <c:ser>
          <c:idx val="61"/>
          <c:order val="61"/>
          <c:tx>
            <c:v>PS arcering 31</c:v>
          </c:tx>
          <c:spPr>
            <a:ln xmlns:a="http://schemas.openxmlformats.org/drawingml/2006/main" w="47625">
              <a:solidFill>
                <a:srgbClr val="82E0AA"/>
              </a:solidFill>
              <a:prstDash val="solid"/>
            </a:ln>
          </c:spPr>
          <c:marker>
            <c:symbol val="none"/>
            <c:size val="3"/>
          </c:marker>
          <c:xVal>
            <c:numRef>
              <c:f>'Chart Data'!$DS$2:$DS$3</c:f>
              <c:numCache>
                <c:formatCode>General</c:formatCode>
                <c:ptCount val="2"/>
                <c:pt idx="0">
                  <c:v>31</c:v>
                </c:pt>
                <c:pt idx="1">
                  <c:v>31</c:v>
                </c:pt>
              </c:numCache>
            </c:numRef>
          </c:xVal>
          <c:yVal>
            <c:numRef>
              <c:f>'Chart Data'!$DT$2:$DT$3</c:f>
              <c:numCache>
                <c:formatCode>0</c:formatCode>
                <c:ptCount val="2"/>
                <c:pt idx="0">
                  <c:v>11.75</c:v>
                </c:pt>
                <c:pt idx="1">
                  <c:v>12</c:v>
                </c:pt>
              </c:numCache>
            </c:numRef>
          </c:yVal>
        </c:ser>
        <c:ser>
          <c:idx val="62"/>
          <c:order val="62"/>
          <c:tx>
            <c:v>V</c:v>
          </c:tx>
          <c:spPr>
            <a:ln xmlns:a="http://schemas.openxmlformats.org/drawingml/2006/main" w="38100">
              <a:solidFill>
                <a:srgbClr val="17658A"/>
              </a:solidFill>
              <a:prstDash val="solid"/>
            </a:ln>
          </c:spPr>
          <c:marker>
            <c:symbol val="none"/>
            <c:size val="3"/>
          </c:marker>
          <c:xVal>
            <c:numRef>
              <c:f>'Chart Data'!$DU$2:$DU$3</c:f>
              <c:numCache>
                <c:formatCode>General</c:formatCode>
                <c:ptCount val="2"/>
                <c:pt idx="0">
                  <c:v>0</c:v>
                </c:pt>
                <c:pt idx="1">
                  <c:v>56</c:v>
                </c:pt>
              </c:numCache>
            </c:numRef>
          </c:xVal>
          <c:yVal>
            <c:numRef>
              <c:f>'Chart Data'!$DV$2:$DV$3</c:f>
              <c:numCache>
                <c:formatCode>0</c:formatCode>
                <c:ptCount val="2"/>
                <c:pt idx="0">
                  <c:v>28</c:v>
                </c:pt>
                <c:pt idx="1">
                  <c:v>0</c:v>
                </c:pt>
              </c:numCache>
            </c:numRef>
          </c:yVal>
        </c:ser>
        <c:ser>
          <c:idx val="63"/>
          <c:order val="63"/>
          <c:tx>
            <c:v>A = MK</c:v>
          </c:tx>
          <c:spPr>
            <a:ln xmlns:a="http://schemas.openxmlformats.org/drawingml/2006/main" w="38100">
              <a:solidFill>
                <a:srgbClr val="20665B"/>
              </a:solidFill>
              <a:prstDash val="solid"/>
            </a:ln>
          </c:spPr>
          <c:marker>
            <c:symbol val="none"/>
            <c:size val="3"/>
          </c:marker>
          <c:xVal>
            <c:numRef>
              <c:f>'Chart Data'!$DW$2:$DW$3</c:f>
              <c:numCache>
                <c:formatCode>General</c:formatCode>
                <c:ptCount val="2"/>
                <c:pt idx="0">
                  <c:v>0</c:v>
                </c:pt>
                <c:pt idx="1">
                  <c:v>56</c:v>
                </c:pt>
              </c:numCache>
            </c:numRef>
          </c:xVal>
          <c:yVal>
            <c:numRef>
              <c:f>'Chart Data'!$DX$2:$DX$3</c:f>
              <c:numCache>
                <c:formatCode>0</c:formatCode>
                <c:ptCount val="2"/>
                <c:pt idx="0">
                  <c:v>4</c:v>
                </c:pt>
                <c:pt idx="1">
                  <c:v>18</c:v>
                </c:pt>
              </c:numCache>
            </c:numRef>
          </c:yVal>
        </c:ser>
        <c:ser>
          <c:idx val="64"/>
          <c:order val="64"/>
          <c:tx>
            <c:v>Pe</c:v>
          </c:tx>
          <c:spPr>
            <a:ln xmlns:a="http://schemas.openxmlformats.org/drawingml/2006/main" w="28575">
              <a:solidFill>
                <a:srgbClr val="A94D16"/>
              </a:solidFill>
              <a:prstDash val="dash"/>
            </a:ln>
          </c:spPr>
          <c:marker>
            <c:symbol val="none"/>
            <c:size val="3"/>
          </c:marker>
          <c:xVal>
            <c:numRef>
              <c:f>'Chart Data'!$DY$2:$DY$3</c:f>
              <c:numCache>
                <c:formatCode>General</c:formatCode>
                <c:ptCount val="2"/>
                <c:pt idx="0">
                  <c:v>0</c:v>
                </c:pt>
                <c:pt idx="1">
                  <c:v>32</c:v>
                </c:pt>
              </c:numCache>
            </c:numRef>
          </c:xVal>
          <c:yVal>
            <c:numRef>
              <c:f>'Chart Data'!$DZ$2:$DZ$3</c:f>
              <c:numCache>
                <c:formatCode>0</c:formatCode>
                <c:ptCount val="2"/>
                <c:pt idx="0">
                  <c:v>12</c:v>
                </c:pt>
                <c:pt idx="1">
                  <c:v>12</c:v>
                </c:pt>
              </c:numCache>
            </c:numRef>
          </c:yVal>
        </c:ser>
        <c:ser>
          <c:idx val="65"/>
          <c:order val="65"/>
          <c:tx>
            <c:v>Qe</c:v>
          </c:tx>
          <c:spPr>
            <a:ln xmlns:a="http://schemas.openxmlformats.org/drawingml/2006/main" w="19050">
              <a:solidFill>
                <a:srgbClr val="445B6B"/>
              </a:solidFill>
              <a:prstDash val="dash"/>
            </a:ln>
          </c:spPr>
          <c:marker>
            <c:symbol val="none"/>
            <c:size val="3"/>
          </c:marker>
          <c:xVal>
            <c:numRef>
              <c:f>'Chart Data'!$EA$2:$EA$3</c:f>
              <c:numCache>
                <c:formatCode>General</c:formatCode>
                <c:ptCount val="2"/>
                <c:pt idx="0">
                  <c:v>32</c:v>
                </c:pt>
                <c:pt idx="1">
                  <c:v>32</c:v>
                </c:pt>
              </c:numCache>
            </c:numRef>
          </c:xVal>
          <c:yVal>
            <c:numRef>
              <c:f>'Chart Data'!$EB$2:$EB$3</c:f>
              <c:numCache>
                <c:formatCode>0</c:formatCode>
                <c:ptCount val="2"/>
                <c:pt idx="0">
                  <c:v>0</c:v>
                </c:pt>
                <c:pt idx="1">
                  <c:v>12</c:v>
                </c:pt>
              </c:numCache>
            </c:numRef>
          </c:yVal>
        </c:ser>
        <c:ser>
          <c:idx val="66"/>
          <c:order val="66"/>
          <c:tx>
            <c:v>V</c:v>
          </c:tx>
          <c:spPr>
            <a:ln xmlns:a="http://schemas.openxmlformats.org/drawingml/2006/main" w="0">
              <a:noFill/>
            </a:ln>
          </c:spPr>
          <c:marker>
            <c:symbol val="none"/>
            <c:size val="3"/>
          </c:marker>
          <c:dLbls>
            <c:dLbl>
              <c:idx val="0"/>
              <c:tx>
                <c:rich>
                  <a:bodyPr xmlns:a="http://schemas.openxmlformats.org/drawingml/2006/main"/>
                  <a:lstStyle xmlns:a="http://schemas.openxmlformats.org/drawingml/2006/main"/>
                  <a:p xmlns:a="http://schemas.openxmlformats.org/drawingml/2006/main">
                    <a:r>
                      <a:rPr sz="2100" b="1">
                        <a:solidFill>
                          <a:srgbClr val="17658A"/>
                        </a:solidFill>
                        <a:latin typeface="Arial"/>
                        <a:ea typeface="Arial"/>
                        <a:cs typeface="Arial"/>
                      </a:rPr>
                      <a:t>V</a:t>
                    </a:r>
                  </a:p>
                </c:rich>
              </c:tx>
              <c:txPr>
                <a:bodyPr xmlns:a="http://schemas.openxmlformats.org/drawingml/2006/main" anchorCtr="1"/>
                <a:lstStyle xmlns:a="http://schemas.openxmlformats.org/drawingml/2006/main"/>
                <a:p xmlns:a="http://schemas.openxmlformats.org/drawingml/2006/main">
                  <a:pPr>
                    <a:defRPr sz="2100" b="1">
                      <a:solidFill>
                        <a:srgbClr val="17658A"/>
                      </a:solidFill>
                      <a:latin typeface="Arial"/>
                      <a:ea typeface="Arial"/>
                      <a:cs typeface="Arial"/>
                    </a:defRPr>
                  </a:pPr>
                </a:p>
              </c:txPr>
              <c:showLegendKey val="0"/>
              <c:showVal val="0"/>
              <c:showCatName val="0"/>
              <c:showSerName val="0"/>
              <c:showPercent val="0"/>
              <c:showBubbleSize val="0"/>
            </c:dLbl>
          </c:dLbls>
          <c:xVal>
            <c:numRef>
              <c:f>'Chart Data'!$EC$2:$EC$2</c:f>
              <c:numCache>
                <c:formatCode>General</c:formatCode>
                <c:ptCount val="1"/>
                <c:pt idx="0">
                  <c:v>48.72</c:v>
                </c:pt>
              </c:numCache>
            </c:numRef>
          </c:xVal>
          <c:yVal>
            <c:numRef>
              <c:f>'Chart Data'!$ED$2:$ED$2</c:f>
              <c:numCache>
                <c:formatCode>0</c:formatCode>
                <c:ptCount val="1"/>
                <c:pt idx="0">
                  <c:v>3.64</c:v>
                </c:pt>
              </c:numCache>
            </c:numRef>
          </c:yVal>
        </c:ser>
        <c:ser>
          <c:idx val="67"/>
          <c:order val="67"/>
          <c:tx>
            <c:v>A = MK</c:v>
          </c:tx>
          <c:spPr>
            <a:ln xmlns:a="http://schemas.openxmlformats.org/drawingml/2006/main" w="0">
              <a:noFill/>
            </a:ln>
          </c:spPr>
          <c:marker>
            <c:symbol val="none"/>
            <c:size val="3"/>
          </c:marker>
          <c:dLbls>
            <c:dLbl>
              <c:idx val="0"/>
              <c:tx>
                <c:rich>
                  <a:bodyPr xmlns:a="http://schemas.openxmlformats.org/drawingml/2006/main"/>
                  <a:lstStyle xmlns:a="http://schemas.openxmlformats.org/drawingml/2006/main"/>
                  <a:p xmlns:a="http://schemas.openxmlformats.org/drawingml/2006/main">
                    <a:r>
                      <a:rPr sz="2100" b="1">
                        <a:solidFill>
                          <a:srgbClr val="20665B"/>
                        </a:solidFill>
                        <a:latin typeface="Arial"/>
                        <a:ea typeface="Arial"/>
                        <a:cs typeface="Arial"/>
                      </a:rPr>
                      <a:t>A = MK</a:t>
                    </a:r>
                  </a:p>
                </c:rich>
              </c:tx>
              <c:txPr>
                <a:bodyPr xmlns:a="http://schemas.openxmlformats.org/drawingml/2006/main" anchorCtr="1"/>
                <a:lstStyle xmlns:a="http://schemas.openxmlformats.org/drawingml/2006/main"/>
                <a:p xmlns:a="http://schemas.openxmlformats.org/drawingml/2006/main">
                  <a:pPr>
                    <a:defRPr sz="2100" b="1">
                      <a:solidFill>
                        <a:srgbClr val="20665B"/>
                      </a:solidFill>
                      <a:latin typeface="Arial"/>
                      <a:ea typeface="Arial"/>
                      <a:cs typeface="Arial"/>
                    </a:defRPr>
                  </a:pPr>
                </a:p>
              </c:txPr>
              <c:showLegendKey val="0"/>
              <c:showVal val="0"/>
              <c:showCatName val="0"/>
              <c:showSerName val="0"/>
              <c:showPercent val="0"/>
              <c:showBubbleSize val="0"/>
            </c:dLbl>
          </c:dLbls>
          <c:xVal>
            <c:numRef>
              <c:f>'Chart Data'!$EE$2:$EE$2</c:f>
              <c:numCache>
                <c:formatCode>General</c:formatCode>
                <c:ptCount val="1"/>
                <c:pt idx="0">
                  <c:v>44.8</c:v>
                </c:pt>
              </c:numCache>
            </c:numRef>
          </c:xVal>
          <c:yVal>
            <c:numRef>
              <c:f>'Chart Data'!$EF$2:$EF$2</c:f>
              <c:numCache>
                <c:formatCode>0</c:formatCode>
                <c:ptCount val="1"/>
                <c:pt idx="0">
                  <c:v>15.2</c:v>
                </c:pt>
              </c:numCache>
            </c:numRef>
          </c:yVal>
        </c:ser>
        <c:ser>
          <c:idx val="68"/>
          <c:order val="68"/>
          <c:tx>
            <c:v>E</c:v>
          </c:tx>
          <c:spPr>
            <a:ln xmlns:a="http://schemas.openxmlformats.org/drawingml/2006/main" w="0">
              <a:noFill/>
            </a:ln>
          </c:spPr>
          <c:marker>
            <c:symbol val="circle"/>
            <c:size val="9"/>
            <c:spPr>
              <a:noFill xmlns:a="http://schemas.openxmlformats.org/drawingml/2006/main"/>
            </c:spPr>
          </c:marker>
          <c:dLbls>
            <c:dLbl>
              <c:idx val="0"/>
              <c:tx>
                <c:rich>
                  <a:bodyPr xmlns:a="http://schemas.openxmlformats.org/drawingml/2006/main"/>
                  <a:lstStyle xmlns:a="http://schemas.openxmlformats.org/drawingml/2006/main"/>
                  <a:p xmlns:a="http://schemas.openxmlformats.org/drawingml/2006/main">
                    <a:r>
                      <a:rPr sz="2100" b="1">
                        <a:solidFill>
                          <a:srgbClr val="183247"/>
                        </a:solidFill>
                        <a:latin typeface="Arial"/>
                        <a:ea typeface="Arial"/>
                        <a:cs typeface="Arial"/>
                      </a:rPr>
                      <a:t>E</a:t>
                    </a:r>
                  </a:p>
                </c:rich>
              </c:tx>
              <c:txPr>
                <a:bodyPr xmlns:a="http://schemas.openxmlformats.org/drawingml/2006/main" anchorCtr="1"/>
                <a:lstStyle xmlns:a="http://schemas.openxmlformats.org/drawingml/2006/main"/>
                <a:p xmlns:a="http://schemas.openxmlformats.org/drawingml/2006/main">
                  <a:pPr>
                    <a:defRPr sz="2100" b="1">
                      <a:solidFill>
                        <a:srgbClr val="183247"/>
                      </a:solidFill>
                      <a:latin typeface="Arial"/>
                      <a:ea typeface="Arial"/>
                      <a:cs typeface="Arial"/>
                    </a:defRPr>
                  </a:pPr>
                </a:p>
              </c:txPr>
              <c:showLegendKey val="0"/>
              <c:showVal val="0"/>
              <c:showCatName val="0"/>
              <c:showSerName val="0"/>
              <c:showPercent val="0"/>
              <c:showBubbleSize val="0"/>
            </c:dLbl>
          </c:dLbls>
          <c:xVal>
            <c:numRef>
              <c:f>'Chart Data'!$EG$2:$EG$2</c:f>
              <c:numCache>
                <c:formatCode>General</c:formatCode>
                <c:ptCount val="1"/>
                <c:pt idx="0">
                  <c:v>32</c:v>
                </c:pt>
              </c:numCache>
            </c:numRef>
          </c:xVal>
          <c:yVal>
            <c:numRef>
              <c:f>'Chart Data'!$EH$2:$EH$2</c:f>
              <c:numCache>
                <c:formatCode>0</c:formatCode>
                <c:ptCount val="1"/>
                <c:pt idx="0">
                  <c:v>12</c:v>
                </c:pt>
              </c:numCache>
            </c:numRef>
          </c:yVal>
        </c:ser>
        <c:ser>
          <c:idx val="69"/>
          <c:order val="69"/>
          <c:tx>
            <c:v>CS</c:v>
          </c:tx>
          <c:spPr>
            <a:ln xmlns:a="http://schemas.openxmlformats.org/drawingml/2006/main" w="0">
              <a:noFill/>
            </a:ln>
          </c:spPr>
          <c:marker>
            <c:symbol val="none"/>
            <c:size val="3"/>
          </c:marker>
          <c:dLbls>
            <c:dLbl>
              <c:idx val="0"/>
              <c:tx>
                <c:rich>
                  <a:bodyPr xmlns:a="http://schemas.openxmlformats.org/drawingml/2006/main"/>
                  <a:lstStyle xmlns:a="http://schemas.openxmlformats.org/drawingml/2006/main"/>
                  <a:p xmlns:a="http://schemas.openxmlformats.org/drawingml/2006/main">
                    <a:r>
                      <a:rPr sz="2100" b="1">
                        <a:solidFill>
                          <a:srgbClr val="183247"/>
                        </a:solidFill>
                        <a:latin typeface="Arial"/>
                        <a:ea typeface="Arial"/>
                        <a:cs typeface="Arial"/>
                      </a:rPr>
                      <a:t>CS</a:t>
                    </a:r>
                  </a:p>
                </c:rich>
              </c:tx>
              <c:txPr>
                <a:bodyPr xmlns:a="http://schemas.openxmlformats.org/drawingml/2006/main" anchorCtr="1"/>
                <a:lstStyle xmlns:a="http://schemas.openxmlformats.org/drawingml/2006/main"/>
                <a:p xmlns:a="http://schemas.openxmlformats.org/drawingml/2006/main">
                  <a:pPr>
                    <a:defRPr sz="2100" b="1">
                      <a:solidFill>
                        <a:srgbClr val="183247"/>
                      </a:solidFill>
                      <a:latin typeface="Arial"/>
                      <a:ea typeface="Arial"/>
                      <a:cs typeface="Arial"/>
                    </a:defRPr>
                  </a:pPr>
                </a:p>
              </c:txPr>
              <c:showLegendKey val="0"/>
              <c:showVal val="0"/>
              <c:showCatName val="0"/>
              <c:showSerName val="0"/>
              <c:showPercent val="0"/>
              <c:showBubbleSize val="0"/>
            </c:dLbl>
          </c:dLbls>
          <c:xVal>
            <c:numRef>
              <c:f>'Chart Data'!$EI$2:$EI$2</c:f>
              <c:numCache>
                <c:formatCode>General</c:formatCode>
                <c:ptCount val="1"/>
                <c:pt idx="0">
                  <c:v>6.4</c:v>
                </c:pt>
              </c:numCache>
            </c:numRef>
          </c:xVal>
          <c:yVal>
            <c:numRef>
              <c:f>'Chart Data'!$EJ$2:$EJ$2</c:f>
              <c:numCache>
                <c:formatCode>0</c:formatCode>
                <c:ptCount val="1"/>
                <c:pt idx="0">
                  <c:v>17.6</c:v>
                </c:pt>
              </c:numCache>
            </c:numRef>
          </c:yVal>
        </c:ser>
        <c:ser>
          <c:idx val="70"/>
          <c:order val="70"/>
          <c:tx>
            <c:v>PS</c:v>
          </c:tx>
          <c:spPr>
            <a:ln xmlns:a="http://schemas.openxmlformats.org/drawingml/2006/main" w="0">
              <a:noFill/>
            </a:ln>
          </c:spPr>
          <c:marker>
            <c:symbol val="none"/>
            <c:size val="3"/>
          </c:marker>
          <c:dLbls>
            <c:dLbl>
              <c:idx val="0"/>
              <c:tx>
                <c:rich>
                  <a:bodyPr xmlns:a="http://schemas.openxmlformats.org/drawingml/2006/main"/>
                  <a:lstStyle xmlns:a="http://schemas.openxmlformats.org/drawingml/2006/main"/>
                  <a:p xmlns:a="http://schemas.openxmlformats.org/drawingml/2006/main">
                    <a:r>
                      <a:rPr sz="2100" b="1">
                        <a:solidFill>
                          <a:srgbClr val="183247"/>
                        </a:solidFill>
                        <a:latin typeface="Arial"/>
                        <a:ea typeface="Arial"/>
                        <a:cs typeface="Arial"/>
                      </a:rPr>
                      <a:t>PS</a:t>
                    </a:r>
                  </a:p>
                </c:rich>
              </c:tx>
              <c:txPr>
                <a:bodyPr xmlns:a="http://schemas.openxmlformats.org/drawingml/2006/main" anchorCtr="1"/>
                <a:lstStyle xmlns:a="http://schemas.openxmlformats.org/drawingml/2006/main"/>
                <a:p xmlns:a="http://schemas.openxmlformats.org/drawingml/2006/main">
                  <a:pPr>
                    <a:defRPr sz="2100" b="1">
                      <a:solidFill>
                        <a:srgbClr val="183247"/>
                      </a:solidFill>
                      <a:latin typeface="Arial"/>
                      <a:ea typeface="Arial"/>
                      <a:cs typeface="Arial"/>
                    </a:defRPr>
                  </a:pPr>
                </a:p>
              </c:txPr>
              <c:showLegendKey val="0"/>
              <c:showVal val="0"/>
              <c:showCatName val="0"/>
              <c:showSerName val="0"/>
              <c:showPercent val="0"/>
              <c:showBubbleSize val="0"/>
            </c:dLbl>
          </c:dLbls>
          <c:xVal>
            <c:numRef>
              <c:f>'Chart Data'!$EK$2:$EK$2</c:f>
              <c:numCache>
                <c:formatCode>General</c:formatCode>
                <c:ptCount val="1"/>
                <c:pt idx="0">
                  <c:v>6.4</c:v>
                </c:pt>
              </c:numCache>
            </c:numRef>
          </c:xVal>
          <c:yVal>
            <c:numRef>
              <c:f>'Chart Data'!$EL$2:$EL$2</c:f>
              <c:numCache>
                <c:formatCode>0</c:formatCode>
                <c:ptCount val="1"/>
                <c:pt idx="0">
                  <c:v>8</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28"/>
          <c:min val="0"/>
        </c:scaling>
        <c:delete val="0"/>
        <c:axPos val="l"/>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1875">
                    <a:solidFill>
                      <a:srgbClr val="183247"/>
                    </a:solidFill>
                    <a:latin typeface="Arial"/>
                    <a:ea typeface="Arial"/>
                    <a:cs typeface="Arial"/>
                  </a:rPr>
                  <a:t>P (€ per fietsbel)</a:t>
                </a:r>
              </a:p>
            </c:rich>
          </c:tx>
          <c:overlay val="0"/>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crossAx val="48650112"/>
        <c:majorUnit val="4"/>
      </c:valAx>
      <c:valAx>
        <c:axId val="48650112"/>
        <c:scaling>
          <c:orientation val="minMax"/>
          <c:max val="56"/>
          <c:min val="0"/>
        </c:scaling>
        <c:delete val="0"/>
        <c:axPos val="b"/>
        <c:title>
          <c:tx>
            <c:rich>
              <a:bodyPr xmlns:a="http://schemas.openxmlformats.org/drawingml/2006/main"/>
              <a:lstStyle xmlns:a="http://schemas.openxmlformats.org/drawingml/2006/main"/>
              <a:p xmlns:a="http://schemas.openxmlformats.org/drawingml/2006/main">
                <a:r>
                  <a:rPr sz="1875">
                    <a:solidFill>
                      <a:srgbClr val="183247"/>
                    </a:solidFill>
                    <a:latin typeface="Arial"/>
                    <a:ea typeface="Arial"/>
                    <a:cs typeface="Arial"/>
                  </a:rPr>
                  <a:t>Q (fietsbellen)</a:t>
                </a:r>
              </a:p>
            </c:rich>
          </c:tx>
          <c:overlay val="0"/>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crossAx val="48672768"/>
        <c:majorUnit val="8"/>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scatterChart>
        <c:scatterStyle val="line"/>
        <c:ser>
          <c:idx val="0"/>
          <c:order val="0"/>
          <c:tx>
            <c:v>V</c:v>
          </c:tx>
          <c:spPr>
            <a:ln xmlns:a="http://schemas.openxmlformats.org/drawingml/2006/main" w="38100">
              <a:solidFill>
                <a:srgbClr val="17658A"/>
              </a:solidFill>
              <a:prstDash val="solid"/>
            </a:ln>
          </c:spPr>
          <c:marker>
            <c:symbol val="none"/>
            <c:size val="3"/>
          </c:marker>
          <c:xVal>
            <c:numRef>
              <c:f>'Chart Data'!$A$2:$A$3</c:f>
              <c:numCache>
                <c:formatCode>General</c:formatCode>
                <c:ptCount val="2"/>
                <c:pt idx="0">
                  <c:v>0</c:v>
                </c:pt>
                <c:pt idx="1">
                  <c:v>100</c:v>
                </c:pt>
              </c:numCache>
            </c:numRef>
          </c:xVal>
          <c:yVal>
            <c:numRef>
              <c:f>'Chart Data'!$B$2:$B$3</c:f>
              <c:numCache>
                <c:formatCode>0</c:formatCode>
                <c:ptCount val="2"/>
                <c:pt idx="0">
                  <c:v>50</c:v>
                </c:pt>
                <c:pt idx="1">
                  <c:v>0</c:v>
                </c:pt>
              </c:numCache>
            </c:numRef>
          </c:yVal>
        </c:ser>
        <c:ser>
          <c:idx val="1"/>
          <c:order val="1"/>
          <c:tx>
            <c:v>A = MK</c:v>
          </c:tx>
          <c:spPr>
            <a:ln xmlns:a="http://schemas.openxmlformats.org/drawingml/2006/main" w="38100">
              <a:solidFill>
                <a:srgbClr val="20665B"/>
              </a:solidFill>
              <a:prstDash val="solid"/>
            </a:ln>
          </c:spPr>
          <c:marker>
            <c:symbol val="none"/>
            <c:size val="3"/>
          </c:marker>
          <c:xVal>
            <c:numRef>
              <c:f>'Chart Data'!$C$2:$C$3</c:f>
              <c:numCache>
                <c:formatCode>General</c:formatCode>
                <c:ptCount val="2"/>
                <c:pt idx="0">
                  <c:v>0</c:v>
                </c:pt>
                <c:pt idx="1">
                  <c:v>100</c:v>
                </c:pt>
              </c:numCache>
            </c:numRef>
          </c:xVal>
          <c:yVal>
            <c:numRef>
              <c:f>'Chart Data'!$D$2:$D$3</c:f>
              <c:numCache>
                <c:formatCode>0</c:formatCode>
                <c:ptCount val="2"/>
                <c:pt idx="0">
                  <c:v>5</c:v>
                </c:pt>
                <c:pt idx="1">
                  <c:v>30</c:v>
                </c:pt>
              </c:numCache>
            </c:numRef>
          </c:yVal>
        </c:ser>
        <c:ser>
          <c:idx val="2"/>
          <c:order val="2"/>
          <c:tx>
            <c:v>V</c:v>
          </c:tx>
          <c:spPr>
            <a:ln xmlns:a="http://schemas.openxmlformats.org/drawingml/2006/main" w="0">
              <a:noFill/>
            </a:ln>
          </c:spPr>
          <c:marker>
            <c:symbol val="none"/>
            <c:size val="3"/>
          </c:marker>
          <c:dLbls>
            <c:dLbl>
              <c:idx val="0"/>
              <c:tx>
                <c:rich>
                  <a:bodyPr xmlns:a="http://schemas.openxmlformats.org/drawingml/2006/main"/>
                  <a:lstStyle xmlns:a="http://schemas.openxmlformats.org/drawingml/2006/main"/>
                  <a:p xmlns:a="http://schemas.openxmlformats.org/drawingml/2006/main">
                    <a:r>
                      <a:rPr sz="2100" b="1">
                        <a:solidFill>
                          <a:srgbClr val="17658A"/>
                        </a:solidFill>
                        <a:latin typeface="Arial"/>
                        <a:ea typeface="Arial"/>
                        <a:cs typeface="Arial"/>
                      </a:rPr>
                      <a:t>V</a:t>
                    </a:r>
                  </a:p>
                </c:rich>
              </c:tx>
              <c:txPr>
                <a:bodyPr xmlns:a="http://schemas.openxmlformats.org/drawingml/2006/main" anchorCtr="1"/>
                <a:lstStyle xmlns:a="http://schemas.openxmlformats.org/drawingml/2006/main"/>
                <a:p xmlns:a="http://schemas.openxmlformats.org/drawingml/2006/main">
                  <a:pPr>
                    <a:defRPr sz="2100" b="1">
                      <a:solidFill>
                        <a:srgbClr val="17658A"/>
                      </a:solidFill>
                      <a:latin typeface="Arial"/>
                      <a:ea typeface="Arial"/>
                      <a:cs typeface="Arial"/>
                    </a:defRPr>
                  </a:pPr>
                </a:p>
              </c:txPr>
              <c:showLegendKey val="0"/>
              <c:showVal val="0"/>
              <c:showCatName val="0"/>
              <c:showSerName val="0"/>
              <c:showPercent val="0"/>
              <c:showBubbleSize val="0"/>
            </c:dLbl>
          </c:dLbls>
          <c:xVal>
            <c:numRef>
              <c:f>'Chart Data'!$E$2:$E$2</c:f>
              <c:numCache>
                <c:formatCode>General</c:formatCode>
                <c:ptCount val="1"/>
                <c:pt idx="0">
                  <c:v>87</c:v>
                </c:pt>
              </c:numCache>
            </c:numRef>
          </c:xVal>
          <c:yVal>
            <c:numRef>
              <c:f>'Chart Data'!$F$2:$F$2</c:f>
              <c:numCache>
                <c:formatCode>0</c:formatCode>
                <c:ptCount val="1"/>
                <c:pt idx="0">
                  <c:v>6.5</c:v>
                </c:pt>
              </c:numCache>
            </c:numRef>
          </c:yVal>
        </c:ser>
        <c:ser>
          <c:idx val="3"/>
          <c:order val="3"/>
          <c:tx>
            <c:v>A = MK</c:v>
          </c:tx>
          <c:spPr>
            <a:ln xmlns:a="http://schemas.openxmlformats.org/drawingml/2006/main" w="0">
              <a:noFill/>
            </a:ln>
          </c:spPr>
          <c:marker>
            <c:symbol val="none"/>
            <c:size val="3"/>
          </c:marker>
          <c:dLbls>
            <c:dLbl>
              <c:idx val="0"/>
              <c:tx>
                <c:rich>
                  <a:bodyPr xmlns:a="http://schemas.openxmlformats.org/drawingml/2006/main"/>
                  <a:lstStyle xmlns:a="http://schemas.openxmlformats.org/drawingml/2006/main"/>
                  <a:p xmlns:a="http://schemas.openxmlformats.org/drawingml/2006/main">
                    <a:r>
                      <a:rPr sz="2100" b="1">
                        <a:solidFill>
                          <a:srgbClr val="20665B"/>
                        </a:solidFill>
                        <a:latin typeface="Arial"/>
                        <a:ea typeface="Arial"/>
                        <a:cs typeface="Arial"/>
                      </a:rPr>
                      <a:t>A = MK</a:t>
                    </a:r>
                  </a:p>
                </c:rich>
              </c:tx>
              <c:txPr>
                <a:bodyPr xmlns:a="http://schemas.openxmlformats.org/drawingml/2006/main" anchorCtr="1"/>
                <a:lstStyle xmlns:a="http://schemas.openxmlformats.org/drawingml/2006/main"/>
                <a:p xmlns:a="http://schemas.openxmlformats.org/drawingml/2006/main">
                  <a:pPr>
                    <a:defRPr sz="2100" b="1">
                      <a:solidFill>
                        <a:srgbClr val="20665B"/>
                      </a:solidFill>
                      <a:latin typeface="Arial"/>
                      <a:ea typeface="Arial"/>
                      <a:cs typeface="Arial"/>
                    </a:defRPr>
                  </a:pPr>
                </a:p>
              </c:txPr>
              <c:showLegendKey val="0"/>
              <c:showVal val="0"/>
              <c:showCatName val="0"/>
              <c:showSerName val="0"/>
              <c:showPercent val="0"/>
              <c:showBubbleSize val="0"/>
            </c:dLbl>
          </c:dLbls>
          <c:xVal>
            <c:numRef>
              <c:f>'Chart Data'!$G$2:$G$2</c:f>
              <c:numCache>
                <c:formatCode>General</c:formatCode>
                <c:ptCount val="1"/>
                <c:pt idx="0">
                  <c:v>80</c:v>
                </c:pt>
              </c:numCache>
            </c:numRef>
          </c:xVal>
          <c:yVal>
            <c:numRef>
              <c:f>'Chart Data'!$H$2:$H$2</c:f>
              <c:numCache>
                <c:formatCode>0</c:formatCode>
                <c:ptCount val="1"/>
                <c:pt idx="0">
                  <c:v>25</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50"/>
          <c:min val="0"/>
        </c:scaling>
        <c:delete val="0"/>
        <c:axPos val="l"/>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1875">
                    <a:solidFill>
                      <a:srgbClr val="183247"/>
                    </a:solidFill>
                    <a:latin typeface="Arial"/>
                    <a:ea typeface="Arial"/>
                    <a:cs typeface="Arial"/>
                  </a:rPr>
                  <a:t>P (€ per kaartje)</a:t>
                </a:r>
              </a:p>
            </c:rich>
          </c:tx>
          <c:overlay val="0"/>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crossAx val="48650112"/>
        <c:majorUnit val="10"/>
      </c:valAx>
      <c:valAx>
        <c:axId val="48650112"/>
        <c:scaling>
          <c:orientation val="minMax"/>
          <c:max val="100"/>
          <c:min val="0"/>
        </c:scaling>
        <c:delete val="0"/>
        <c:axPos val="b"/>
        <c:title>
          <c:tx>
            <c:rich>
              <a:bodyPr xmlns:a="http://schemas.openxmlformats.org/drawingml/2006/main"/>
              <a:lstStyle xmlns:a="http://schemas.openxmlformats.org/drawingml/2006/main"/>
              <a:p xmlns:a="http://schemas.openxmlformats.org/drawingml/2006/main">
                <a:r>
                  <a:rPr sz="1875">
                    <a:solidFill>
                      <a:srgbClr val="183247"/>
                    </a:solidFill>
                    <a:latin typeface="Arial"/>
                    <a:ea typeface="Arial"/>
                    <a:cs typeface="Arial"/>
                  </a:rPr>
                  <a:t>Q (kaartjes)</a:t>
                </a:r>
              </a:p>
            </c:rich>
          </c:tx>
          <c:overlay val="0"/>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crossAx val="48672768"/>
        <c:majorUnit val="20"/>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scatterChart>
        <c:scatterStyle val="line"/>
        <c:ser>
          <c:idx val="0"/>
          <c:order val="0"/>
          <c:tx>
            <c:v>CS arcering 1</c:v>
          </c:tx>
          <c:spPr>
            <a:ln xmlns:a="http://schemas.openxmlformats.org/drawingml/2006/main" w="47625">
              <a:solidFill>
                <a:srgbClr val="85C1E9"/>
              </a:solidFill>
              <a:prstDash val="solid"/>
            </a:ln>
          </c:spPr>
          <c:marker>
            <c:symbol val="none"/>
            <c:size val="3"/>
          </c:marker>
          <c:xVal>
            <c:numRef>
              <c:f>'Chart Data'!$A$2:$A$3</c:f>
              <c:numCache>
                <c:formatCode>General</c:formatCode>
                <c:ptCount val="2"/>
                <c:pt idx="0">
                  <c:v>1.875</c:v>
                </c:pt>
                <c:pt idx="1">
                  <c:v>1.875</c:v>
                </c:pt>
              </c:numCache>
            </c:numRef>
          </c:xVal>
          <c:yVal>
            <c:numRef>
              <c:f>'Chart Data'!$B$2:$B$3</c:f>
              <c:numCache>
                <c:formatCode>0</c:formatCode>
                <c:ptCount val="2"/>
                <c:pt idx="0">
                  <c:v>20</c:v>
                </c:pt>
                <c:pt idx="1">
                  <c:v>49.0625</c:v>
                </c:pt>
              </c:numCache>
            </c:numRef>
          </c:yVal>
        </c:ser>
        <c:ser>
          <c:idx val="1"/>
          <c:order val="1"/>
          <c:tx>
            <c:v>CS arcering 2</c:v>
          </c:tx>
          <c:spPr>
            <a:ln xmlns:a="http://schemas.openxmlformats.org/drawingml/2006/main" w="47625">
              <a:solidFill>
                <a:srgbClr val="85C1E9"/>
              </a:solidFill>
              <a:prstDash val="solid"/>
            </a:ln>
          </c:spPr>
          <c:marker>
            <c:symbol val="none"/>
            <c:size val="3"/>
          </c:marker>
          <c:xVal>
            <c:numRef>
              <c:f>'Chart Data'!$C$2:$C$3</c:f>
              <c:numCache>
                <c:formatCode>General</c:formatCode>
                <c:ptCount val="2"/>
                <c:pt idx="0">
                  <c:v>3.75</c:v>
                </c:pt>
                <c:pt idx="1">
                  <c:v>3.75</c:v>
                </c:pt>
              </c:numCache>
            </c:numRef>
          </c:xVal>
          <c:yVal>
            <c:numRef>
              <c:f>'Chart Data'!$D$2:$D$3</c:f>
              <c:numCache>
                <c:formatCode>0</c:formatCode>
                <c:ptCount val="2"/>
                <c:pt idx="0">
                  <c:v>20</c:v>
                </c:pt>
                <c:pt idx="1">
                  <c:v>48.125</c:v>
                </c:pt>
              </c:numCache>
            </c:numRef>
          </c:yVal>
        </c:ser>
        <c:ser>
          <c:idx val="2"/>
          <c:order val="2"/>
          <c:tx>
            <c:v>CS arcering 3</c:v>
          </c:tx>
          <c:spPr>
            <a:ln xmlns:a="http://schemas.openxmlformats.org/drawingml/2006/main" w="47625">
              <a:solidFill>
                <a:srgbClr val="85C1E9"/>
              </a:solidFill>
              <a:prstDash val="solid"/>
            </a:ln>
          </c:spPr>
          <c:marker>
            <c:symbol val="none"/>
            <c:size val="3"/>
          </c:marker>
          <c:xVal>
            <c:numRef>
              <c:f>'Chart Data'!$E$2:$E$3</c:f>
              <c:numCache>
                <c:formatCode>General</c:formatCode>
                <c:ptCount val="2"/>
                <c:pt idx="0">
                  <c:v>5.625</c:v>
                </c:pt>
                <c:pt idx="1">
                  <c:v>5.625</c:v>
                </c:pt>
              </c:numCache>
            </c:numRef>
          </c:xVal>
          <c:yVal>
            <c:numRef>
              <c:f>'Chart Data'!$F$2:$F$3</c:f>
              <c:numCache>
                <c:formatCode>0</c:formatCode>
                <c:ptCount val="2"/>
                <c:pt idx="0">
                  <c:v>20</c:v>
                </c:pt>
                <c:pt idx="1">
                  <c:v>47.1875</c:v>
                </c:pt>
              </c:numCache>
            </c:numRef>
          </c:yVal>
        </c:ser>
        <c:ser>
          <c:idx val="3"/>
          <c:order val="3"/>
          <c:tx>
            <c:v>CS arcering 4</c:v>
          </c:tx>
          <c:spPr>
            <a:ln xmlns:a="http://schemas.openxmlformats.org/drawingml/2006/main" w="47625">
              <a:solidFill>
                <a:srgbClr val="85C1E9"/>
              </a:solidFill>
              <a:prstDash val="solid"/>
            </a:ln>
          </c:spPr>
          <c:marker>
            <c:symbol val="none"/>
            <c:size val="3"/>
          </c:marker>
          <c:xVal>
            <c:numRef>
              <c:f>'Chart Data'!$G$2:$G$3</c:f>
              <c:numCache>
                <c:formatCode>General</c:formatCode>
                <c:ptCount val="2"/>
                <c:pt idx="0">
                  <c:v>7.5</c:v>
                </c:pt>
                <c:pt idx="1">
                  <c:v>7.5</c:v>
                </c:pt>
              </c:numCache>
            </c:numRef>
          </c:xVal>
          <c:yVal>
            <c:numRef>
              <c:f>'Chart Data'!$H$2:$H$3</c:f>
              <c:numCache>
                <c:formatCode>0</c:formatCode>
                <c:ptCount val="2"/>
                <c:pt idx="0">
                  <c:v>20</c:v>
                </c:pt>
                <c:pt idx="1">
                  <c:v>46.25</c:v>
                </c:pt>
              </c:numCache>
            </c:numRef>
          </c:yVal>
        </c:ser>
        <c:ser>
          <c:idx val="4"/>
          <c:order val="4"/>
          <c:tx>
            <c:v>CS arcering 5</c:v>
          </c:tx>
          <c:spPr>
            <a:ln xmlns:a="http://schemas.openxmlformats.org/drawingml/2006/main" w="47625">
              <a:solidFill>
                <a:srgbClr val="85C1E9"/>
              </a:solidFill>
              <a:prstDash val="solid"/>
            </a:ln>
          </c:spPr>
          <c:marker>
            <c:symbol val="none"/>
            <c:size val="3"/>
          </c:marker>
          <c:xVal>
            <c:numRef>
              <c:f>'Chart Data'!$I$2:$I$3</c:f>
              <c:numCache>
                <c:formatCode>General</c:formatCode>
                <c:ptCount val="2"/>
                <c:pt idx="0">
                  <c:v>9.375</c:v>
                </c:pt>
                <c:pt idx="1">
                  <c:v>9.375</c:v>
                </c:pt>
              </c:numCache>
            </c:numRef>
          </c:xVal>
          <c:yVal>
            <c:numRef>
              <c:f>'Chart Data'!$J$2:$J$3</c:f>
              <c:numCache>
                <c:formatCode>0</c:formatCode>
                <c:ptCount val="2"/>
                <c:pt idx="0">
                  <c:v>20</c:v>
                </c:pt>
                <c:pt idx="1">
                  <c:v>45.3125</c:v>
                </c:pt>
              </c:numCache>
            </c:numRef>
          </c:yVal>
        </c:ser>
        <c:ser>
          <c:idx val="5"/>
          <c:order val="5"/>
          <c:tx>
            <c:v>CS arcering 6</c:v>
          </c:tx>
          <c:spPr>
            <a:ln xmlns:a="http://schemas.openxmlformats.org/drawingml/2006/main" w="47625">
              <a:solidFill>
                <a:srgbClr val="85C1E9"/>
              </a:solidFill>
              <a:prstDash val="solid"/>
            </a:ln>
          </c:spPr>
          <c:marker>
            <c:symbol val="none"/>
            <c:size val="3"/>
          </c:marker>
          <c:xVal>
            <c:numRef>
              <c:f>'Chart Data'!$K$2:$K$3</c:f>
              <c:numCache>
                <c:formatCode>General</c:formatCode>
                <c:ptCount val="2"/>
                <c:pt idx="0">
                  <c:v>11.25</c:v>
                </c:pt>
                <c:pt idx="1">
                  <c:v>11.25</c:v>
                </c:pt>
              </c:numCache>
            </c:numRef>
          </c:xVal>
          <c:yVal>
            <c:numRef>
              <c:f>'Chart Data'!$L$2:$L$3</c:f>
              <c:numCache>
                <c:formatCode>0</c:formatCode>
                <c:ptCount val="2"/>
                <c:pt idx="0">
                  <c:v>20</c:v>
                </c:pt>
                <c:pt idx="1">
                  <c:v>44.375</c:v>
                </c:pt>
              </c:numCache>
            </c:numRef>
          </c:yVal>
        </c:ser>
        <c:ser>
          <c:idx val="6"/>
          <c:order val="6"/>
          <c:tx>
            <c:v>CS arcering 7</c:v>
          </c:tx>
          <c:spPr>
            <a:ln xmlns:a="http://schemas.openxmlformats.org/drawingml/2006/main" w="47625">
              <a:solidFill>
                <a:srgbClr val="85C1E9"/>
              </a:solidFill>
              <a:prstDash val="solid"/>
            </a:ln>
          </c:spPr>
          <c:marker>
            <c:symbol val="none"/>
            <c:size val="3"/>
          </c:marker>
          <c:xVal>
            <c:numRef>
              <c:f>'Chart Data'!$M$2:$M$3</c:f>
              <c:numCache>
                <c:formatCode>General</c:formatCode>
                <c:ptCount val="2"/>
                <c:pt idx="0">
                  <c:v>13.125</c:v>
                </c:pt>
                <c:pt idx="1">
                  <c:v>13.125</c:v>
                </c:pt>
              </c:numCache>
            </c:numRef>
          </c:xVal>
          <c:yVal>
            <c:numRef>
              <c:f>'Chart Data'!$N$2:$N$3</c:f>
              <c:numCache>
                <c:formatCode>0</c:formatCode>
                <c:ptCount val="2"/>
                <c:pt idx="0">
                  <c:v>20</c:v>
                </c:pt>
                <c:pt idx="1">
                  <c:v>43.4375</c:v>
                </c:pt>
              </c:numCache>
            </c:numRef>
          </c:yVal>
        </c:ser>
        <c:ser>
          <c:idx val="7"/>
          <c:order val="7"/>
          <c:tx>
            <c:v>CS arcering 8</c:v>
          </c:tx>
          <c:spPr>
            <a:ln xmlns:a="http://schemas.openxmlformats.org/drawingml/2006/main" w="47625">
              <a:solidFill>
                <a:srgbClr val="85C1E9"/>
              </a:solidFill>
              <a:prstDash val="solid"/>
            </a:ln>
          </c:spPr>
          <c:marker>
            <c:symbol val="none"/>
            <c:size val="3"/>
          </c:marker>
          <c:xVal>
            <c:numRef>
              <c:f>'Chart Data'!$O$2:$O$3</c:f>
              <c:numCache>
                <c:formatCode>General</c:formatCode>
                <c:ptCount val="2"/>
                <c:pt idx="0">
                  <c:v>15</c:v>
                </c:pt>
                <c:pt idx="1">
                  <c:v>15</c:v>
                </c:pt>
              </c:numCache>
            </c:numRef>
          </c:xVal>
          <c:yVal>
            <c:numRef>
              <c:f>'Chart Data'!$P$2:$P$3</c:f>
              <c:numCache>
                <c:formatCode>0</c:formatCode>
                <c:ptCount val="2"/>
                <c:pt idx="0">
                  <c:v>20</c:v>
                </c:pt>
                <c:pt idx="1">
                  <c:v>42.5</c:v>
                </c:pt>
              </c:numCache>
            </c:numRef>
          </c:yVal>
        </c:ser>
        <c:ser>
          <c:idx val="8"/>
          <c:order val="8"/>
          <c:tx>
            <c:v>CS arcering 9</c:v>
          </c:tx>
          <c:spPr>
            <a:ln xmlns:a="http://schemas.openxmlformats.org/drawingml/2006/main" w="47625">
              <a:solidFill>
                <a:srgbClr val="85C1E9"/>
              </a:solidFill>
              <a:prstDash val="solid"/>
            </a:ln>
          </c:spPr>
          <c:marker>
            <c:symbol val="none"/>
            <c:size val="3"/>
          </c:marker>
          <c:xVal>
            <c:numRef>
              <c:f>'Chart Data'!$Q$2:$Q$3</c:f>
              <c:numCache>
                <c:formatCode>General</c:formatCode>
                <c:ptCount val="2"/>
                <c:pt idx="0">
                  <c:v>16.875</c:v>
                </c:pt>
                <c:pt idx="1">
                  <c:v>16.875</c:v>
                </c:pt>
              </c:numCache>
            </c:numRef>
          </c:xVal>
          <c:yVal>
            <c:numRef>
              <c:f>'Chart Data'!$R$2:$R$3</c:f>
              <c:numCache>
                <c:formatCode>0</c:formatCode>
                <c:ptCount val="2"/>
                <c:pt idx="0">
                  <c:v>20</c:v>
                </c:pt>
                <c:pt idx="1">
                  <c:v>41.5625</c:v>
                </c:pt>
              </c:numCache>
            </c:numRef>
          </c:yVal>
        </c:ser>
        <c:ser>
          <c:idx val="9"/>
          <c:order val="9"/>
          <c:tx>
            <c:v>CS arcering 10</c:v>
          </c:tx>
          <c:spPr>
            <a:ln xmlns:a="http://schemas.openxmlformats.org/drawingml/2006/main" w="47625">
              <a:solidFill>
                <a:srgbClr val="85C1E9"/>
              </a:solidFill>
              <a:prstDash val="solid"/>
            </a:ln>
          </c:spPr>
          <c:marker>
            <c:symbol val="none"/>
            <c:size val="3"/>
          </c:marker>
          <c:xVal>
            <c:numRef>
              <c:f>'Chart Data'!$S$2:$S$3</c:f>
              <c:numCache>
                <c:formatCode>General</c:formatCode>
                <c:ptCount val="2"/>
                <c:pt idx="0">
                  <c:v>18.75</c:v>
                </c:pt>
                <c:pt idx="1">
                  <c:v>18.75</c:v>
                </c:pt>
              </c:numCache>
            </c:numRef>
          </c:xVal>
          <c:yVal>
            <c:numRef>
              <c:f>'Chart Data'!$T$2:$T$3</c:f>
              <c:numCache>
                <c:formatCode>0</c:formatCode>
                <c:ptCount val="2"/>
                <c:pt idx="0">
                  <c:v>20</c:v>
                </c:pt>
                <c:pt idx="1">
                  <c:v>40.625</c:v>
                </c:pt>
              </c:numCache>
            </c:numRef>
          </c:yVal>
        </c:ser>
        <c:ser>
          <c:idx val="10"/>
          <c:order val="10"/>
          <c:tx>
            <c:v>CS arcering 11</c:v>
          </c:tx>
          <c:spPr>
            <a:ln xmlns:a="http://schemas.openxmlformats.org/drawingml/2006/main" w="47625">
              <a:solidFill>
                <a:srgbClr val="85C1E9"/>
              </a:solidFill>
              <a:prstDash val="solid"/>
            </a:ln>
          </c:spPr>
          <c:marker>
            <c:symbol val="none"/>
            <c:size val="3"/>
          </c:marker>
          <c:xVal>
            <c:numRef>
              <c:f>'Chart Data'!$U$2:$U$3</c:f>
              <c:numCache>
                <c:formatCode>General</c:formatCode>
                <c:ptCount val="2"/>
                <c:pt idx="0">
                  <c:v>20.625</c:v>
                </c:pt>
                <c:pt idx="1">
                  <c:v>20.625</c:v>
                </c:pt>
              </c:numCache>
            </c:numRef>
          </c:xVal>
          <c:yVal>
            <c:numRef>
              <c:f>'Chart Data'!$V$2:$V$3</c:f>
              <c:numCache>
                <c:formatCode>0</c:formatCode>
                <c:ptCount val="2"/>
                <c:pt idx="0">
                  <c:v>20</c:v>
                </c:pt>
                <c:pt idx="1">
                  <c:v>39.6875</c:v>
                </c:pt>
              </c:numCache>
            </c:numRef>
          </c:yVal>
        </c:ser>
        <c:ser>
          <c:idx val="11"/>
          <c:order val="11"/>
          <c:tx>
            <c:v>CS arcering 12</c:v>
          </c:tx>
          <c:spPr>
            <a:ln xmlns:a="http://schemas.openxmlformats.org/drawingml/2006/main" w="47625">
              <a:solidFill>
                <a:srgbClr val="85C1E9"/>
              </a:solidFill>
              <a:prstDash val="solid"/>
            </a:ln>
          </c:spPr>
          <c:marker>
            <c:symbol val="none"/>
            <c:size val="3"/>
          </c:marker>
          <c:xVal>
            <c:numRef>
              <c:f>'Chart Data'!$W$2:$W$3</c:f>
              <c:numCache>
                <c:formatCode>General</c:formatCode>
                <c:ptCount val="2"/>
                <c:pt idx="0">
                  <c:v>22.5</c:v>
                </c:pt>
                <c:pt idx="1">
                  <c:v>22.5</c:v>
                </c:pt>
              </c:numCache>
            </c:numRef>
          </c:xVal>
          <c:yVal>
            <c:numRef>
              <c:f>'Chart Data'!$X$2:$X$3</c:f>
              <c:numCache>
                <c:formatCode>0</c:formatCode>
                <c:ptCount val="2"/>
                <c:pt idx="0">
                  <c:v>20</c:v>
                </c:pt>
                <c:pt idx="1">
                  <c:v>38.75</c:v>
                </c:pt>
              </c:numCache>
            </c:numRef>
          </c:yVal>
        </c:ser>
        <c:ser>
          <c:idx val="12"/>
          <c:order val="12"/>
          <c:tx>
            <c:v>CS arcering 13</c:v>
          </c:tx>
          <c:spPr>
            <a:ln xmlns:a="http://schemas.openxmlformats.org/drawingml/2006/main" w="47625">
              <a:solidFill>
                <a:srgbClr val="85C1E9"/>
              </a:solidFill>
              <a:prstDash val="solid"/>
            </a:ln>
          </c:spPr>
          <c:marker>
            <c:symbol val="none"/>
            <c:size val="3"/>
          </c:marker>
          <c:xVal>
            <c:numRef>
              <c:f>'Chart Data'!$Y$2:$Y$3</c:f>
              <c:numCache>
                <c:formatCode>General</c:formatCode>
                <c:ptCount val="2"/>
                <c:pt idx="0">
                  <c:v>24.375</c:v>
                </c:pt>
                <c:pt idx="1">
                  <c:v>24.375</c:v>
                </c:pt>
              </c:numCache>
            </c:numRef>
          </c:xVal>
          <c:yVal>
            <c:numRef>
              <c:f>'Chart Data'!$Z$2:$Z$3</c:f>
              <c:numCache>
                <c:formatCode>0</c:formatCode>
                <c:ptCount val="2"/>
                <c:pt idx="0">
                  <c:v>20</c:v>
                </c:pt>
                <c:pt idx="1">
                  <c:v>37.8125</c:v>
                </c:pt>
              </c:numCache>
            </c:numRef>
          </c:yVal>
        </c:ser>
        <c:ser>
          <c:idx val="13"/>
          <c:order val="13"/>
          <c:tx>
            <c:v>CS arcering 14</c:v>
          </c:tx>
          <c:spPr>
            <a:ln xmlns:a="http://schemas.openxmlformats.org/drawingml/2006/main" w="47625">
              <a:solidFill>
                <a:srgbClr val="85C1E9"/>
              </a:solidFill>
              <a:prstDash val="solid"/>
            </a:ln>
          </c:spPr>
          <c:marker>
            <c:symbol val="none"/>
            <c:size val="3"/>
          </c:marker>
          <c:xVal>
            <c:numRef>
              <c:f>'Chart Data'!$AA$2:$AA$3</c:f>
              <c:numCache>
                <c:formatCode>General</c:formatCode>
                <c:ptCount val="2"/>
                <c:pt idx="0">
                  <c:v>26.25</c:v>
                </c:pt>
                <c:pt idx="1">
                  <c:v>26.25</c:v>
                </c:pt>
              </c:numCache>
            </c:numRef>
          </c:xVal>
          <c:yVal>
            <c:numRef>
              <c:f>'Chart Data'!$AB$2:$AB$3</c:f>
              <c:numCache>
                <c:formatCode>0</c:formatCode>
                <c:ptCount val="2"/>
                <c:pt idx="0">
                  <c:v>20</c:v>
                </c:pt>
                <c:pt idx="1">
                  <c:v>36.875</c:v>
                </c:pt>
              </c:numCache>
            </c:numRef>
          </c:yVal>
        </c:ser>
        <c:ser>
          <c:idx val="14"/>
          <c:order val="14"/>
          <c:tx>
            <c:v>CS arcering 15</c:v>
          </c:tx>
          <c:spPr>
            <a:ln xmlns:a="http://schemas.openxmlformats.org/drawingml/2006/main" w="47625">
              <a:solidFill>
                <a:srgbClr val="85C1E9"/>
              </a:solidFill>
              <a:prstDash val="solid"/>
            </a:ln>
          </c:spPr>
          <c:marker>
            <c:symbol val="none"/>
            <c:size val="3"/>
          </c:marker>
          <c:xVal>
            <c:numRef>
              <c:f>'Chart Data'!$AC$2:$AC$3</c:f>
              <c:numCache>
                <c:formatCode>General</c:formatCode>
                <c:ptCount val="2"/>
                <c:pt idx="0">
                  <c:v>28.125</c:v>
                </c:pt>
                <c:pt idx="1">
                  <c:v>28.125</c:v>
                </c:pt>
              </c:numCache>
            </c:numRef>
          </c:xVal>
          <c:yVal>
            <c:numRef>
              <c:f>'Chart Data'!$AD$2:$AD$3</c:f>
              <c:numCache>
                <c:formatCode>0</c:formatCode>
                <c:ptCount val="2"/>
                <c:pt idx="0">
                  <c:v>20</c:v>
                </c:pt>
                <c:pt idx="1">
                  <c:v>35.9375</c:v>
                </c:pt>
              </c:numCache>
            </c:numRef>
          </c:yVal>
        </c:ser>
        <c:ser>
          <c:idx val="15"/>
          <c:order val="15"/>
          <c:tx>
            <c:v>CS arcering 16</c:v>
          </c:tx>
          <c:spPr>
            <a:ln xmlns:a="http://schemas.openxmlformats.org/drawingml/2006/main" w="47625">
              <a:solidFill>
                <a:srgbClr val="85C1E9"/>
              </a:solidFill>
              <a:prstDash val="solid"/>
            </a:ln>
          </c:spPr>
          <c:marker>
            <c:symbol val="none"/>
            <c:size val="3"/>
          </c:marker>
          <c:xVal>
            <c:numRef>
              <c:f>'Chart Data'!$AE$2:$AE$3</c:f>
              <c:numCache>
                <c:formatCode>General</c:formatCode>
                <c:ptCount val="2"/>
                <c:pt idx="0">
                  <c:v>30</c:v>
                </c:pt>
                <c:pt idx="1">
                  <c:v>30</c:v>
                </c:pt>
              </c:numCache>
            </c:numRef>
          </c:xVal>
          <c:yVal>
            <c:numRef>
              <c:f>'Chart Data'!$AF$2:$AF$3</c:f>
              <c:numCache>
                <c:formatCode>0</c:formatCode>
                <c:ptCount val="2"/>
                <c:pt idx="0">
                  <c:v>20</c:v>
                </c:pt>
                <c:pt idx="1">
                  <c:v>35</c:v>
                </c:pt>
              </c:numCache>
            </c:numRef>
          </c:yVal>
        </c:ser>
        <c:ser>
          <c:idx val="16"/>
          <c:order val="16"/>
          <c:tx>
            <c:v>CS arcering 17</c:v>
          </c:tx>
          <c:spPr>
            <a:ln xmlns:a="http://schemas.openxmlformats.org/drawingml/2006/main" w="47625">
              <a:solidFill>
                <a:srgbClr val="85C1E9"/>
              </a:solidFill>
              <a:prstDash val="solid"/>
            </a:ln>
          </c:spPr>
          <c:marker>
            <c:symbol val="none"/>
            <c:size val="3"/>
          </c:marker>
          <c:xVal>
            <c:numRef>
              <c:f>'Chart Data'!$AG$2:$AG$3</c:f>
              <c:numCache>
                <c:formatCode>General</c:formatCode>
                <c:ptCount val="2"/>
                <c:pt idx="0">
                  <c:v>31.875</c:v>
                </c:pt>
                <c:pt idx="1">
                  <c:v>31.875</c:v>
                </c:pt>
              </c:numCache>
            </c:numRef>
          </c:xVal>
          <c:yVal>
            <c:numRef>
              <c:f>'Chart Data'!$AH$2:$AH$3</c:f>
              <c:numCache>
                <c:formatCode>0</c:formatCode>
                <c:ptCount val="2"/>
                <c:pt idx="0">
                  <c:v>20</c:v>
                </c:pt>
                <c:pt idx="1">
                  <c:v>34.0625</c:v>
                </c:pt>
              </c:numCache>
            </c:numRef>
          </c:yVal>
        </c:ser>
        <c:ser>
          <c:idx val="17"/>
          <c:order val="17"/>
          <c:tx>
            <c:v>CS arcering 18</c:v>
          </c:tx>
          <c:spPr>
            <a:ln xmlns:a="http://schemas.openxmlformats.org/drawingml/2006/main" w="47625">
              <a:solidFill>
                <a:srgbClr val="85C1E9"/>
              </a:solidFill>
              <a:prstDash val="solid"/>
            </a:ln>
          </c:spPr>
          <c:marker>
            <c:symbol val="none"/>
            <c:size val="3"/>
          </c:marker>
          <c:xVal>
            <c:numRef>
              <c:f>'Chart Data'!$AI$2:$AI$3</c:f>
              <c:numCache>
                <c:formatCode>General</c:formatCode>
                <c:ptCount val="2"/>
                <c:pt idx="0">
                  <c:v>33.75</c:v>
                </c:pt>
                <c:pt idx="1">
                  <c:v>33.75</c:v>
                </c:pt>
              </c:numCache>
            </c:numRef>
          </c:xVal>
          <c:yVal>
            <c:numRef>
              <c:f>'Chart Data'!$AJ$2:$AJ$3</c:f>
              <c:numCache>
                <c:formatCode>0</c:formatCode>
                <c:ptCount val="2"/>
                <c:pt idx="0">
                  <c:v>20</c:v>
                </c:pt>
                <c:pt idx="1">
                  <c:v>33.125</c:v>
                </c:pt>
              </c:numCache>
            </c:numRef>
          </c:yVal>
        </c:ser>
        <c:ser>
          <c:idx val="18"/>
          <c:order val="18"/>
          <c:tx>
            <c:v>CS arcering 19</c:v>
          </c:tx>
          <c:spPr>
            <a:ln xmlns:a="http://schemas.openxmlformats.org/drawingml/2006/main" w="47625">
              <a:solidFill>
                <a:srgbClr val="85C1E9"/>
              </a:solidFill>
              <a:prstDash val="solid"/>
            </a:ln>
          </c:spPr>
          <c:marker>
            <c:symbol val="none"/>
            <c:size val="3"/>
          </c:marker>
          <c:xVal>
            <c:numRef>
              <c:f>'Chart Data'!$AK$2:$AK$3</c:f>
              <c:numCache>
                <c:formatCode>General</c:formatCode>
                <c:ptCount val="2"/>
                <c:pt idx="0">
                  <c:v>35.625</c:v>
                </c:pt>
                <c:pt idx="1">
                  <c:v>35.625</c:v>
                </c:pt>
              </c:numCache>
            </c:numRef>
          </c:xVal>
          <c:yVal>
            <c:numRef>
              <c:f>'Chart Data'!$AL$2:$AL$3</c:f>
              <c:numCache>
                <c:formatCode>0</c:formatCode>
                <c:ptCount val="2"/>
                <c:pt idx="0">
                  <c:v>20</c:v>
                </c:pt>
                <c:pt idx="1">
                  <c:v>32.1875</c:v>
                </c:pt>
              </c:numCache>
            </c:numRef>
          </c:yVal>
        </c:ser>
        <c:ser>
          <c:idx val="19"/>
          <c:order val="19"/>
          <c:tx>
            <c:v>CS arcering 20</c:v>
          </c:tx>
          <c:spPr>
            <a:ln xmlns:a="http://schemas.openxmlformats.org/drawingml/2006/main" w="47625">
              <a:solidFill>
                <a:srgbClr val="85C1E9"/>
              </a:solidFill>
              <a:prstDash val="solid"/>
            </a:ln>
          </c:spPr>
          <c:marker>
            <c:symbol val="none"/>
            <c:size val="3"/>
          </c:marker>
          <c:xVal>
            <c:numRef>
              <c:f>'Chart Data'!$AM$2:$AM$3</c:f>
              <c:numCache>
                <c:formatCode>General</c:formatCode>
                <c:ptCount val="2"/>
                <c:pt idx="0">
                  <c:v>37.5</c:v>
                </c:pt>
                <c:pt idx="1">
                  <c:v>37.5</c:v>
                </c:pt>
              </c:numCache>
            </c:numRef>
          </c:xVal>
          <c:yVal>
            <c:numRef>
              <c:f>'Chart Data'!$AN$2:$AN$3</c:f>
              <c:numCache>
                <c:formatCode>0</c:formatCode>
                <c:ptCount val="2"/>
                <c:pt idx="0">
                  <c:v>20</c:v>
                </c:pt>
                <c:pt idx="1">
                  <c:v>31.25</c:v>
                </c:pt>
              </c:numCache>
            </c:numRef>
          </c:yVal>
        </c:ser>
        <c:ser>
          <c:idx val="20"/>
          <c:order val="20"/>
          <c:tx>
            <c:v>CS arcering 21</c:v>
          </c:tx>
          <c:spPr>
            <a:ln xmlns:a="http://schemas.openxmlformats.org/drawingml/2006/main" w="47625">
              <a:solidFill>
                <a:srgbClr val="85C1E9"/>
              </a:solidFill>
              <a:prstDash val="solid"/>
            </a:ln>
          </c:spPr>
          <c:marker>
            <c:symbol val="none"/>
            <c:size val="3"/>
          </c:marker>
          <c:xVal>
            <c:numRef>
              <c:f>'Chart Data'!$AO$2:$AO$3</c:f>
              <c:numCache>
                <c:formatCode>General</c:formatCode>
                <c:ptCount val="2"/>
                <c:pt idx="0">
                  <c:v>39.375</c:v>
                </c:pt>
                <c:pt idx="1">
                  <c:v>39.375</c:v>
                </c:pt>
              </c:numCache>
            </c:numRef>
          </c:xVal>
          <c:yVal>
            <c:numRef>
              <c:f>'Chart Data'!$AP$2:$AP$3</c:f>
              <c:numCache>
                <c:formatCode>0</c:formatCode>
                <c:ptCount val="2"/>
                <c:pt idx="0">
                  <c:v>20</c:v>
                </c:pt>
                <c:pt idx="1">
                  <c:v>30.3125</c:v>
                </c:pt>
              </c:numCache>
            </c:numRef>
          </c:yVal>
        </c:ser>
        <c:ser>
          <c:idx val="21"/>
          <c:order val="21"/>
          <c:tx>
            <c:v>CS arcering 22</c:v>
          </c:tx>
          <c:spPr>
            <a:ln xmlns:a="http://schemas.openxmlformats.org/drawingml/2006/main" w="47625">
              <a:solidFill>
                <a:srgbClr val="85C1E9"/>
              </a:solidFill>
              <a:prstDash val="solid"/>
            </a:ln>
          </c:spPr>
          <c:marker>
            <c:symbol val="none"/>
            <c:size val="3"/>
          </c:marker>
          <c:xVal>
            <c:numRef>
              <c:f>'Chart Data'!$AQ$2:$AQ$3</c:f>
              <c:numCache>
                <c:formatCode>General</c:formatCode>
                <c:ptCount val="2"/>
                <c:pt idx="0">
                  <c:v>41.25</c:v>
                </c:pt>
                <c:pt idx="1">
                  <c:v>41.25</c:v>
                </c:pt>
              </c:numCache>
            </c:numRef>
          </c:xVal>
          <c:yVal>
            <c:numRef>
              <c:f>'Chart Data'!$AR$2:$AR$3</c:f>
              <c:numCache>
                <c:formatCode>0</c:formatCode>
                <c:ptCount val="2"/>
                <c:pt idx="0">
                  <c:v>20</c:v>
                </c:pt>
                <c:pt idx="1">
                  <c:v>29.375</c:v>
                </c:pt>
              </c:numCache>
            </c:numRef>
          </c:yVal>
        </c:ser>
        <c:ser>
          <c:idx val="22"/>
          <c:order val="22"/>
          <c:tx>
            <c:v>CS arcering 23</c:v>
          </c:tx>
          <c:spPr>
            <a:ln xmlns:a="http://schemas.openxmlformats.org/drawingml/2006/main" w="47625">
              <a:solidFill>
                <a:srgbClr val="85C1E9"/>
              </a:solidFill>
              <a:prstDash val="solid"/>
            </a:ln>
          </c:spPr>
          <c:marker>
            <c:symbol val="none"/>
            <c:size val="3"/>
          </c:marker>
          <c:xVal>
            <c:numRef>
              <c:f>'Chart Data'!$AS$2:$AS$3</c:f>
              <c:numCache>
                <c:formatCode>General</c:formatCode>
                <c:ptCount val="2"/>
                <c:pt idx="0">
                  <c:v>43.125</c:v>
                </c:pt>
                <c:pt idx="1">
                  <c:v>43.125</c:v>
                </c:pt>
              </c:numCache>
            </c:numRef>
          </c:xVal>
          <c:yVal>
            <c:numRef>
              <c:f>'Chart Data'!$AT$2:$AT$3</c:f>
              <c:numCache>
                <c:formatCode>0</c:formatCode>
                <c:ptCount val="2"/>
                <c:pt idx="0">
                  <c:v>20</c:v>
                </c:pt>
                <c:pt idx="1">
                  <c:v>28.4375</c:v>
                </c:pt>
              </c:numCache>
            </c:numRef>
          </c:yVal>
        </c:ser>
        <c:ser>
          <c:idx val="23"/>
          <c:order val="23"/>
          <c:tx>
            <c:v>CS arcering 24</c:v>
          </c:tx>
          <c:spPr>
            <a:ln xmlns:a="http://schemas.openxmlformats.org/drawingml/2006/main" w="47625">
              <a:solidFill>
                <a:srgbClr val="85C1E9"/>
              </a:solidFill>
              <a:prstDash val="solid"/>
            </a:ln>
          </c:spPr>
          <c:marker>
            <c:symbol val="none"/>
            <c:size val="3"/>
          </c:marker>
          <c:xVal>
            <c:numRef>
              <c:f>'Chart Data'!$AU$2:$AU$3</c:f>
              <c:numCache>
                <c:formatCode>General</c:formatCode>
                <c:ptCount val="2"/>
                <c:pt idx="0">
                  <c:v>45</c:v>
                </c:pt>
                <c:pt idx="1">
                  <c:v>45</c:v>
                </c:pt>
              </c:numCache>
            </c:numRef>
          </c:xVal>
          <c:yVal>
            <c:numRef>
              <c:f>'Chart Data'!$AV$2:$AV$3</c:f>
              <c:numCache>
                <c:formatCode>0</c:formatCode>
                <c:ptCount val="2"/>
                <c:pt idx="0">
                  <c:v>20</c:v>
                </c:pt>
                <c:pt idx="1">
                  <c:v>27.5</c:v>
                </c:pt>
              </c:numCache>
            </c:numRef>
          </c:yVal>
        </c:ser>
        <c:ser>
          <c:idx val="24"/>
          <c:order val="24"/>
          <c:tx>
            <c:v>CS arcering 25</c:v>
          </c:tx>
          <c:spPr>
            <a:ln xmlns:a="http://schemas.openxmlformats.org/drawingml/2006/main" w="47625">
              <a:solidFill>
                <a:srgbClr val="85C1E9"/>
              </a:solidFill>
              <a:prstDash val="solid"/>
            </a:ln>
          </c:spPr>
          <c:marker>
            <c:symbol val="none"/>
            <c:size val="3"/>
          </c:marker>
          <c:xVal>
            <c:numRef>
              <c:f>'Chart Data'!$AW$2:$AW$3</c:f>
              <c:numCache>
                <c:formatCode>General</c:formatCode>
                <c:ptCount val="2"/>
                <c:pt idx="0">
                  <c:v>46.875</c:v>
                </c:pt>
                <c:pt idx="1">
                  <c:v>46.875</c:v>
                </c:pt>
              </c:numCache>
            </c:numRef>
          </c:xVal>
          <c:yVal>
            <c:numRef>
              <c:f>'Chart Data'!$AX$2:$AX$3</c:f>
              <c:numCache>
                <c:formatCode>0</c:formatCode>
                <c:ptCount val="2"/>
                <c:pt idx="0">
                  <c:v>20</c:v>
                </c:pt>
                <c:pt idx="1">
                  <c:v>26.5625</c:v>
                </c:pt>
              </c:numCache>
            </c:numRef>
          </c:yVal>
        </c:ser>
        <c:ser>
          <c:idx val="25"/>
          <c:order val="25"/>
          <c:tx>
            <c:v>CS arcering 26</c:v>
          </c:tx>
          <c:spPr>
            <a:ln xmlns:a="http://schemas.openxmlformats.org/drawingml/2006/main" w="47625">
              <a:solidFill>
                <a:srgbClr val="85C1E9"/>
              </a:solidFill>
              <a:prstDash val="solid"/>
            </a:ln>
          </c:spPr>
          <c:marker>
            <c:symbol val="none"/>
            <c:size val="3"/>
          </c:marker>
          <c:xVal>
            <c:numRef>
              <c:f>'Chart Data'!$AY$2:$AY$3</c:f>
              <c:numCache>
                <c:formatCode>General</c:formatCode>
                <c:ptCount val="2"/>
                <c:pt idx="0">
                  <c:v>48.75</c:v>
                </c:pt>
                <c:pt idx="1">
                  <c:v>48.75</c:v>
                </c:pt>
              </c:numCache>
            </c:numRef>
          </c:xVal>
          <c:yVal>
            <c:numRef>
              <c:f>'Chart Data'!$AZ$2:$AZ$3</c:f>
              <c:numCache>
                <c:formatCode>0</c:formatCode>
                <c:ptCount val="2"/>
                <c:pt idx="0">
                  <c:v>20</c:v>
                </c:pt>
                <c:pt idx="1">
                  <c:v>25.625</c:v>
                </c:pt>
              </c:numCache>
            </c:numRef>
          </c:yVal>
        </c:ser>
        <c:ser>
          <c:idx val="26"/>
          <c:order val="26"/>
          <c:tx>
            <c:v>CS arcering 27</c:v>
          </c:tx>
          <c:spPr>
            <a:ln xmlns:a="http://schemas.openxmlformats.org/drawingml/2006/main" w="47625">
              <a:solidFill>
                <a:srgbClr val="85C1E9"/>
              </a:solidFill>
              <a:prstDash val="solid"/>
            </a:ln>
          </c:spPr>
          <c:marker>
            <c:symbol val="none"/>
            <c:size val="3"/>
          </c:marker>
          <c:xVal>
            <c:numRef>
              <c:f>'Chart Data'!$BA$2:$BA$3</c:f>
              <c:numCache>
                <c:formatCode>General</c:formatCode>
                <c:ptCount val="2"/>
                <c:pt idx="0">
                  <c:v>50.625</c:v>
                </c:pt>
                <c:pt idx="1">
                  <c:v>50.625</c:v>
                </c:pt>
              </c:numCache>
            </c:numRef>
          </c:xVal>
          <c:yVal>
            <c:numRef>
              <c:f>'Chart Data'!$BB$2:$BB$3</c:f>
              <c:numCache>
                <c:formatCode>0</c:formatCode>
                <c:ptCount val="2"/>
                <c:pt idx="0">
                  <c:v>20</c:v>
                </c:pt>
                <c:pt idx="1">
                  <c:v>24.6875</c:v>
                </c:pt>
              </c:numCache>
            </c:numRef>
          </c:yVal>
        </c:ser>
        <c:ser>
          <c:idx val="27"/>
          <c:order val="27"/>
          <c:tx>
            <c:v>CS arcering 28</c:v>
          </c:tx>
          <c:spPr>
            <a:ln xmlns:a="http://schemas.openxmlformats.org/drawingml/2006/main" w="47625">
              <a:solidFill>
                <a:srgbClr val="85C1E9"/>
              </a:solidFill>
              <a:prstDash val="solid"/>
            </a:ln>
          </c:spPr>
          <c:marker>
            <c:symbol val="none"/>
            <c:size val="3"/>
          </c:marker>
          <c:xVal>
            <c:numRef>
              <c:f>'Chart Data'!$BC$2:$BC$3</c:f>
              <c:numCache>
                <c:formatCode>General</c:formatCode>
                <c:ptCount val="2"/>
                <c:pt idx="0">
                  <c:v>52.5</c:v>
                </c:pt>
                <c:pt idx="1">
                  <c:v>52.5</c:v>
                </c:pt>
              </c:numCache>
            </c:numRef>
          </c:xVal>
          <c:yVal>
            <c:numRef>
              <c:f>'Chart Data'!$BD$2:$BD$3</c:f>
              <c:numCache>
                <c:formatCode>0</c:formatCode>
                <c:ptCount val="2"/>
                <c:pt idx="0">
                  <c:v>20</c:v>
                </c:pt>
                <c:pt idx="1">
                  <c:v>23.75</c:v>
                </c:pt>
              </c:numCache>
            </c:numRef>
          </c:yVal>
        </c:ser>
        <c:ser>
          <c:idx val="28"/>
          <c:order val="28"/>
          <c:tx>
            <c:v>CS arcering 29</c:v>
          </c:tx>
          <c:spPr>
            <a:ln xmlns:a="http://schemas.openxmlformats.org/drawingml/2006/main" w="47625">
              <a:solidFill>
                <a:srgbClr val="85C1E9"/>
              </a:solidFill>
              <a:prstDash val="solid"/>
            </a:ln>
          </c:spPr>
          <c:marker>
            <c:symbol val="none"/>
            <c:size val="3"/>
          </c:marker>
          <c:xVal>
            <c:numRef>
              <c:f>'Chart Data'!$BE$2:$BE$3</c:f>
              <c:numCache>
                <c:formatCode>General</c:formatCode>
                <c:ptCount val="2"/>
                <c:pt idx="0">
                  <c:v>54.375</c:v>
                </c:pt>
                <c:pt idx="1">
                  <c:v>54.375</c:v>
                </c:pt>
              </c:numCache>
            </c:numRef>
          </c:xVal>
          <c:yVal>
            <c:numRef>
              <c:f>'Chart Data'!$BF$2:$BF$3</c:f>
              <c:numCache>
                <c:formatCode>0</c:formatCode>
                <c:ptCount val="2"/>
                <c:pt idx="0">
                  <c:v>20</c:v>
                </c:pt>
                <c:pt idx="1">
                  <c:v>22.8125</c:v>
                </c:pt>
              </c:numCache>
            </c:numRef>
          </c:yVal>
        </c:ser>
        <c:ser>
          <c:idx val="29"/>
          <c:order val="29"/>
          <c:tx>
            <c:v>CS arcering 30</c:v>
          </c:tx>
          <c:spPr>
            <a:ln xmlns:a="http://schemas.openxmlformats.org/drawingml/2006/main" w="47625">
              <a:solidFill>
                <a:srgbClr val="85C1E9"/>
              </a:solidFill>
              <a:prstDash val="solid"/>
            </a:ln>
          </c:spPr>
          <c:marker>
            <c:symbol val="none"/>
            <c:size val="3"/>
          </c:marker>
          <c:xVal>
            <c:numRef>
              <c:f>'Chart Data'!$BG$2:$BG$3</c:f>
              <c:numCache>
                <c:formatCode>General</c:formatCode>
                <c:ptCount val="2"/>
                <c:pt idx="0">
                  <c:v>56.25</c:v>
                </c:pt>
                <c:pt idx="1">
                  <c:v>56.25</c:v>
                </c:pt>
              </c:numCache>
            </c:numRef>
          </c:xVal>
          <c:yVal>
            <c:numRef>
              <c:f>'Chart Data'!$BH$2:$BH$3</c:f>
              <c:numCache>
                <c:formatCode>0</c:formatCode>
                <c:ptCount val="2"/>
                <c:pt idx="0">
                  <c:v>20</c:v>
                </c:pt>
                <c:pt idx="1">
                  <c:v>21.875</c:v>
                </c:pt>
              </c:numCache>
            </c:numRef>
          </c:yVal>
        </c:ser>
        <c:ser>
          <c:idx val="30"/>
          <c:order val="30"/>
          <c:tx>
            <c:v>CS arcering 31</c:v>
          </c:tx>
          <c:spPr>
            <a:ln xmlns:a="http://schemas.openxmlformats.org/drawingml/2006/main" w="47625">
              <a:solidFill>
                <a:srgbClr val="85C1E9"/>
              </a:solidFill>
              <a:prstDash val="solid"/>
            </a:ln>
          </c:spPr>
          <c:marker>
            <c:symbol val="none"/>
            <c:size val="3"/>
          </c:marker>
          <c:xVal>
            <c:numRef>
              <c:f>'Chart Data'!$BI$2:$BI$3</c:f>
              <c:numCache>
                <c:formatCode>General</c:formatCode>
                <c:ptCount val="2"/>
                <c:pt idx="0">
                  <c:v>58.125</c:v>
                </c:pt>
                <c:pt idx="1">
                  <c:v>58.125</c:v>
                </c:pt>
              </c:numCache>
            </c:numRef>
          </c:xVal>
          <c:yVal>
            <c:numRef>
              <c:f>'Chart Data'!$BJ$2:$BJ$3</c:f>
              <c:numCache>
                <c:formatCode>0</c:formatCode>
                <c:ptCount val="2"/>
                <c:pt idx="0">
                  <c:v>20</c:v>
                </c:pt>
                <c:pt idx="1">
                  <c:v>20.9375</c:v>
                </c:pt>
              </c:numCache>
            </c:numRef>
          </c:yVal>
        </c:ser>
        <c:ser>
          <c:idx val="31"/>
          <c:order val="31"/>
          <c:tx>
            <c:v>PS arcering 1</c:v>
          </c:tx>
          <c:spPr>
            <a:ln xmlns:a="http://schemas.openxmlformats.org/drawingml/2006/main" w="47625">
              <a:solidFill>
                <a:srgbClr val="82E0AA"/>
              </a:solidFill>
              <a:prstDash val="solid"/>
            </a:ln>
          </c:spPr>
          <c:marker>
            <c:symbol val="none"/>
            <c:size val="3"/>
          </c:marker>
          <c:xVal>
            <c:numRef>
              <c:f>'Chart Data'!$BK$2:$BK$3</c:f>
              <c:numCache>
                <c:formatCode>General</c:formatCode>
                <c:ptCount val="2"/>
                <c:pt idx="0">
                  <c:v>1.875</c:v>
                </c:pt>
                <c:pt idx="1">
                  <c:v>1.875</c:v>
                </c:pt>
              </c:numCache>
            </c:numRef>
          </c:xVal>
          <c:yVal>
            <c:numRef>
              <c:f>'Chart Data'!$BL$2:$BL$3</c:f>
              <c:numCache>
                <c:formatCode>0</c:formatCode>
                <c:ptCount val="2"/>
                <c:pt idx="0">
                  <c:v>5.46875</c:v>
                </c:pt>
                <c:pt idx="1">
                  <c:v>20</c:v>
                </c:pt>
              </c:numCache>
            </c:numRef>
          </c:yVal>
        </c:ser>
        <c:ser>
          <c:idx val="32"/>
          <c:order val="32"/>
          <c:tx>
            <c:v>PS arcering 2</c:v>
          </c:tx>
          <c:spPr>
            <a:ln xmlns:a="http://schemas.openxmlformats.org/drawingml/2006/main" w="47625">
              <a:solidFill>
                <a:srgbClr val="82E0AA"/>
              </a:solidFill>
              <a:prstDash val="solid"/>
            </a:ln>
          </c:spPr>
          <c:marker>
            <c:symbol val="none"/>
            <c:size val="3"/>
          </c:marker>
          <c:xVal>
            <c:numRef>
              <c:f>'Chart Data'!$BM$2:$BM$3</c:f>
              <c:numCache>
                <c:formatCode>General</c:formatCode>
                <c:ptCount val="2"/>
                <c:pt idx="0">
                  <c:v>3.75</c:v>
                </c:pt>
                <c:pt idx="1">
                  <c:v>3.75</c:v>
                </c:pt>
              </c:numCache>
            </c:numRef>
          </c:xVal>
          <c:yVal>
            <c:numRef>
              <c:f>'Chart Data'!$BN$2:$BN$3</c:f>
              <c:numCache>
                <c:formatCode>0</c:formatCode>
                <c:ptCount val="2"/>
                <c:pt idx="0">
                  <c:v>5.9375</c:v>
                </c:pt>
                <c:pt idx="1">
                  <c:v>20</c:v>
                </c:pt>
              </c:numCache>
            </c:numRef>
          </c:yVal>
        </c:ser>
        <c:ser>
          <c:idx val="33"/>
          <c:order val="33"/>
          <c:tx>
            <c:v>PS arcering 3</c:v>
          </c:tx>
          <c:spPr>
            <a:ln xmlns:a="http://schemas.openxmlformats.org/drawingml/2006/main" w="47625">
              <a:solidFill>
                <a:srgbClr val="82E0AA"/>
              </a:solidFill>
              <a:prstDash val="solid"/>
            </a:ln>
          </c:spPr>
          <c:marker>
            <c:symbol val="none"/>
            <c:size val="3"/>
          </c:marker>
          <c:xVal>
            <c:numRef>
              <c:f>'Chart Data'!$BO$2:$BO$3</c:f>
              <c:numCache>
                <c:formatCode>General</c:formatCode>
                <c:ptCount val="2"/>
                <c:pt idx="0">
                  <c:v>5.625</c:v>
                </c:pt>
                <c:pt idx="1">
                  <c:v>5.625</c:v>
                </c:pt>
              </c:numCache>
            </c:numRef>
          </c:xVal>
          <c:yVal>
            <c:numRef>
              <c:f>'Chart Data'!$BP$2:$BP$3</c:f>
              <c:numCache>
                <c:formatCode>0</c:formatCode>
                <c:ptCount val="2"/>
                <c:pt idx="0">
                  <c:v>6.40625</c:v>
                </c:pt>
                <c:pt idx="1">
                  <c:v>20</c:v>
                </c:pt>
              </c:numCache>
            </c:numRef>
          </c:yVal>
        </c:ser>
        <c:ser>
          <c:idx val="34"/>
          <c:order val="34"/>
          <c:tx>
            <c:v>PS arcering 4</c:v>
          </c:tx>
          <c:spPr>
            <a:ln xmlns:a="http://schemas.openxmlformats.org/drawingml/2006/main" w="47625">
              <a:solidFill>
                <a:srgbClr val="82E0AA"/>
              </a:solidFill>
              <a:prstDash val="solid"/>
            </a:ln>
          </c:spPr>
          <c:marker>
            <c:symbol val="none"/>
            <c:size val="3"/>
          </c:marker>
          <c:xVal>
            <c:numRef>
              <c:f>'Chart Data'!$BQ$2:$BQ$3</c:f>
              <c:numCache>
                <c:formatCode>General</c:formatCode>
                <c:ptCount val="2"/>
                <c:pt idx="0">
                  <c:v>7.5</c:v>
                </c:pt>
                <c:pt idx="1">
                  <c:v>7.5</c:v>
                </c:pt>
              </c:numCache>
            </c:numRef>
          </c:xVal>
          <c:yVal>
            <c:numRef>
              <c:f>'Chart Data'!$BR$2:$BR$3</c:f>
              <c:numCache>
                <c:formatCode>0</c:formatCode>
                <c:ptCount val="2"/>
                <c:pt idx="0">
                  <c:v>6.875</c:v>
                </c:pt>
                <c:pt idx="1">
                  <c:v>20</c:v>
                </c:pt>
              </c:numCache>
            </c:numRef>
          </c:yVal>
        </c:ser>
        <c:ser>
          <c:idx val="35"/>
          <c:order val="35"/>
          <c:tx>
            <c:v>PS arcering 5</c:v>
          </c:tx>
          <c:spPr>
            <a:ln xmlns:a="http://schemas.openxmlformats.org/drawingml/2006/main" w="47625">
              <a:solidFill>
                <a:srgbClr val="82E0AA"/>
              </a:solidFill>
              <a:prstDash val="solid"/>
            </a:ln>
          </c:spPr>
          <c:marker>
            <c:symbol val="none"/>
            <c:size val="3"/>
          </c:marker>
          <c:xVal>
            <c:numRef>
              <c:f>'Chart Data'!$BS$2:$BS$3</c:f>
              <c:numCache>
                <c:formatCode>General</c:formatCode>
                <c:ptCount val="2"/>
                <c:pt idx="0">
                  <c:v>9.375</c:v>
                </c:pt>
                <c:pt idx="1">
                  <c:v>9.375</c:v>
                </c:pt>
              </c:numCache>
            </c:numRef>
          </c:xVal>
          <c:yVal>
            <c:numRef>
              <c:f>'Chart Data'!$BT$2:$BT$3</c:f>
              <c:numCache>
                <c:formatCode>0</c:formatCode>
                <c:ptCount val="2"/>
                <c:pt idx="0">
                  <c:v>7.34375</c:v>
                </c:pt>
                <c:pt idx="1">
                  <c:v>20</c:v>
                </c:pt>
              </c:numCache>
            </c:numRef>
          </c:yVal>
        </c:ser>
        <c:ser>
          <c:idx val="36"/>
          <c:order val="36"/>
          <c:tx>
            <c:v>PS arcering 6</c:v>
          </c:tx>
          <c:spPr>
            <a:ln xmlns:a="http://schemas.openxmlformats.org/drawingml/2006/main" w="47625">
              <a:solidFill>
                <a:srgbClr val="82E0AA"/>
              </a:solidFill>
              <a:prstDash val="solid"/>
            </a:ln>
          </c:spPr>
          <c:marker>
            <c:symbol val="none"/>
            <c:size val="3"/>
          </c:marker>
          <c:xVal>
            <c:numRef>
              <c:f>'Chart Data'!$BU$2:$BU$3</c:f>
              <c:numCache>
                <c:formatCode>General</c:formatCode>
                <c:ptCount val="2"/>
                <c:pt idx="0">
                  <c:v>11.25</c:v>
                </c:pt>
                <c:pt idx="1">
                  <c:v>11.25</c:v>
                </c:pt>
              </c:numCache>
            </c:numRef>
          </c:xVal>
          <c:yVal>
            <c:numRef>
              <c:f>'Chart Data'!$BV$2:$BV$3</c:f>
              <c:numCache>
                <c:formatCode>0</c:formatCode>
                <c:ptCount val="2"/>
                <c:pt idx="0">
                  <c:v>7.8125</c:v>
                </c:pt>
                <c:pt idx="1">
                  <c:v>20</c:v>
                </c:pt>
              </c:numCache>
            </c:numRef>
          </c:yVal>
        </c:ser>
        <c:ser>
          <c:idx val="37"/>
          <c:order val="37"/>
          <c:tx>
            <c:v>PS arcering 7</c:v>
          </c:tx>
          <c:spPr>
            <a:ln xmlns:a="http://schemas.openxmlformats.org/drawingml/2006/main" w="47625">
              <a:solidFill>
                <a:srgbClr val="82E0AA"/>
              </a:solidFill>
              <a:prstDash val="solid"/>
            </a:ln>
          </c:spPr>
          <c:marker>
            <c:symbol val="none"/>
            <c:size val="3"/>
          </c:marker>
          <c:xVal>
            <c:numRef>
              <c:f>'Chart Data'!$BW$2:$BW$3</c:f>
              <c:numCache>
                <c:formatCode>General</c:formatCode>
                <c:ptCount val="2"/>
                <c:pt idx="0">
                  <c:v>13.125</c:v>
                </c:pt>
                <c:pt idx="1">
                  <c:v>13.125</c:v>
                </c:pt>
              </c:numCache>
            </c:numRef>
          </c:xVal>
          <c:yVal>
            <c:numRef>
              <c:f>'Chart Data'!$BX$2:$BX$3</c:f>
              <c:numCache>
                <c:formatCode>0</c:formatCode>
                <c:ptCount val="2"/>
                <c:pt idx="0">
                  <c:v>8.28125</c:v>
                </c:pt>
                <c:pt idx="1">
                  <c:v>20</c:v>
                </c:pt>
              </c:numCache>
            </c:numRef>
          </c:yVal>
        </c:ser>
        <c:ser>
          <c:idx val="38"/>
          <c:order val="38"/>
          <c:tx>
            <c:v>PS arcering 8</c:v>
          </c:tx>
          <c:spPr>
            <a:ln xmlns:a="http://schemas.openxmlformats.org/drawingml/2006/main" w="47625">
              <a:solidFill>
                <a:srgbClr val="82E0AA"/>
              </a:solidFill>
              <a:prstDash val="solid"/>
            </a:ln>
          </c:spPr>
          <c:marker>
            <c:symbol val="none"/>
            <c:size val="3"/>
          </c:marker>
          <c:xVal>
            <c:numRef>
              <c:f>'Chart Data'!$BY$2:$BY$3</c:f>
              <c:numCache>
                <c:formatCode>General</c:formatCode>
                <c:ptCount val="2"/>
                <c:pt idx="0">
                  <c:v>15</c:v>
                </c:pt>
                <c:pt idx="1">
                  <c:v>15</c:v>
                </c:pt>
              </c:numCache>
            </c:numRef>
          </c:xVal>
          <c:yVal>
            <c:numRef>
              <c:f>'Chart Data'!$BZ$2:$BZ$3</c:f>
              <c:numCache>
                <c:formatCode>0</c:formatCode>
                <c:ptCount val="2"/>
                <c:pt idx="0">
                  <c:v>8.75</c:v>
                </c:pt>
                <c:pt idx="1">
                  <c:v>20</c:v>
                </c:pt>
              </c:numCache>
            </c:numRef>
          </c:yVal>
        </c:ser>
        <c:ser>
          <c:idx val="39"/>
          <c:order val="39"/>
          <c:tx>
            <c:v>PS arcering 9</c:v>
          </c:tx>
          <c:spPr>
            <a:ln xmlns:a="http://schemas.openxmlformats.org/drawingml/2006/main" w="47625">
              <a:solidFill>
                <a:srgbClr val="82E0AA"/>
              </a:solidFill>
              <a:prstDash val="solid"/>
            </a:ln>
          </c:spPr>
          <c:marker>
            <c:symbol val="none"/>
            <c:size val="3"/>
          </c:marker>
          <c:xVal>
            <c:numRef>
              <c:f>'Chart Data'!$CA$2:$CA$3</c:f>
              <c:numCache>
                <c:formatCode>General</c:formatCode>
                <c:ptCount val="2"/>
                <c:pt idx="0">
                  <c:v>16.875</c:v>
                </c:pt>
                <c:pt idx="1">
                  <c:v>16.875</c:v>
                </c:pt>
              </c:numCache>
            </c:numRef>
          </c:xVal>
          <c:yVal>
            <c:numRef>
              <c:f>'Chart Data'!$CB$2:$CB$3</c:f>
              <c:numCache>
                <c:formatCode>0</c:formatCode>
                <c:ptCount val="2"/>
                <c:pt idx="0">
                  <c:v>9.21875</c:v>
                </c:pt>
                <c:pt idx="1">
                  <c:v>20</c:v>
                </c:pt>
              </c:numCache>
            </c:numRef>
          </c:yVal>
        </c:ser>
        <c:ser>
          <c:idx val="40"/>
          <c:order val="40"/>
          <c:tx>
            <c:v>PS arcering 10</c:v>
          </c:tx>
          <c:spPr>
            <a:ln xmlns:a="http://schemas.openxmlformats.org/drawingml/2006/main" w="47625">
              <a:solidFill>
                <a:srgbClr val="82E0AA"/>
              </a:solidFill>
              <a:prstDash val="solid"/>
            </a:ln>
          </c:spPr>
          <c:marker>
            <c:symbol val="none"/>
            <c:size val="3"/>
          </c:marker>
          <c:xVal>
            <c:numRef>
              <c:f>'Chart Data'!$CC$2:$CC$3</c:f>
              <c:numCache>
                <c:formatCode>General</c:formatCode>
                <c:ptCount val="2"/>
                <c:pt idx="0">
                  <c:v>18.75</c:v>
                </c:pt>
                <c:pt idx="1">
                  <c:v>18.75</c:v>
                </c:pt>
              </c:numCache>
            </c:numRef>
          </c:xVal>
          <c:yVal>
            <c:numRef>
              <c:f>'Chart Data'!$CD$2:$CD$3</c:f>
              <c:numCache>
                <c:formatCode>0</c:formatCode>
                <c:ptCount val="2"/>
                <c:pt idx="0">
                  <c:v>9.6875</c:v>
                </c:pt>
                <c:pt idx="1">
                  <c:v>20</c:v>
                </c:pt>
              </c:numCache>
            </c:numRef>
          </c:yVal>
        </c:ser>
        <c:ser>
          <c:idx val="41"/>
          <c:order val="41"/>
          <c:tx>
            <c:v>PS arcering 11</c:v>
          </c:tx>
          <c:spPr>
            <a:ln xmlns:a="http://schemas.openxmlformats.org/drawingml/2006/main" w="47625">
              <a:solidFill>
                <a:srgbClr val="82E0AA"/>
              </a:solidFill>
              <a:prstDash val="solid"/>
            </a:ln>
          </c:spPr>
          <c:marker>
            <c:symbol val="none"/>
            <c:size val="3"/>
          </c:marker>
          <c:xVal>
            <c:numRef>
              <c:f>'Chart Data'!$CE$2:$CE$3</c:f>
              <c:numCache>
                <c:formatCode>General</c:formatCode>
                <c:ptCount val="2"/>
                <c:pt idx="0">
                  <c:v>20.625</c:v>
                </c:pt>
                <c:pt idx="1">
                  <c:v>20.625</c:v>
                </c:pt>
              </c:numCache>
            </c:numRef>
          </c:xVal>
          <c:yVal>
            <c:numRef>
              <c:f>'Chart Data'!$CF$2:$CF$3</c:f>
              <c:numCache>
                <c:formatCode>0</c:formatCode>
                <c:ptCount val="2"/>
                <c:pt idx="0">
                  <c:v>10.15625</c:v>
                </c:pt>
                <c:pt idx="1">
                  <c:v>20</c:v>
                </c:pt>
              </c:numCache>
            </c:numRef>
          </c:yVal>
        </c:ser>
        <c:ser>
          <c:idx val="42"/>
          <c:order val="42"/>
          <c:tx>
            <c:v>PS arcering 12</c:v>
          </c:tx>
          <c:spPr>
            <a:ln xmlns:a="http://schemas.openxmlformats.org/drawingml/2006/main" w="47625">
              <a:solidFill>
                <a:srgbClr val="82E0AA"/>
              </a:solidFill>
              <a:prstDash val="solid"/>
            </a:ln>
          </c:spPr>
          <c:marker>
            <c:symbol val="none"/>
            <c:size val="3"/>
          </c:marker>
          <c:xVal>
            <c:numRef>
              <c:f>'Chart Data'!$CG$2:$CG$3</c:f>
              <c:numCache>
                <c:formatCode>General</c:formatCode>
                <c:ptCount val="2"/>
                <c:pt idx="0">
                  <c:v>22.5</c:v>
                </c:pt>
                <c:pt idx="1">
                  <c:v>22.5</c:v>
                </c:pt>
              </c:numCache>
            </c:numRef>
          </c:xVal>
          <c:yVal>
            <c:numRef>
              <c:f>'Chart Data'!$CH$2:$CH$3</c:f>
              <c:numCache>
                <c:formatCode>0</c:formatCode>
                <c:ptCount val="2"/>
                <c:pt idx="0">
                  <c:v>10.625</c:v>
                </c:pt>
                <c:pt idx="1">
                  <c:v>20</c:v>
                </c:pt>
              </c:numCache>
            </c:numRef>
          </c:yVal>
        </c:ser>
        <c:ser>
          <c:idx val="43"/>
          <c:order val="43"/>
          <c:tx>
            <c:v>PS arcering 13</c:v>
          </c:tx>
          <c:spPr>
            <a:ln xmlns:a="http://schemas.openxmlformats.org/drawingml/2006/main" w="47625">
              <a:solidFill>
                <a:srgbClr val="82E0AA"/>
              </a:solidFill>
              <a:prstDash val="solid"/>
            </a:ln>
          </c:spPr>
          <c:marker>
            <c:symbol val="none"/>
            <c:size val="3"/>
          </c:marker>
          <c:xVal>
            <c:numRef>
              <c:f>'Chart Data'!$CI$2:$CI$3</c:f>
              <c:numCache>
                <c:formatCode>General</c:formatCode>
                <c:ptCount val="2"/>
                <c:pt idx="0">
                  <c:v>24.375</c:v>
                </c:pt>
                <c:pt idx="1">
                  <c:v>24.375</c:v>
                </c:pt>
              </c:numCache>
            </c:numRef>
          </c:xVal>
          <c:yVal>
            <c:numRef>
              <c:f>'Chart Data'!$CJ$2:$CJ$3</c:f>
              <c:numCache>
                <c:formatCode>0</c:formatCode>
                <c:ptCount val="2"/>
                <c:pt idx="0">
                  <c:v>11.09375</c:v>
                </c:pt>
                <c:pt idx="1">
                  <c:v>20</c:v>
                </c:pt>
              </c:numCache>
            </c:numRef>
          </c:yVal>
        </c:ser>
        <c:ser>
          <c:idx val="44"/>
          <c:order val="44"/>
          <c:tx>
            <c:v>PS arcering 14</c:v>
          </c:tx>
          <c:spPr>
            <a:ln xmlns:a="http://schemas.openxmlformats.org/drawingml/2006/main" w="47625">
              <a:solidFill>
                <a:srgbClr val="82E0AA"/>
              </a:solidFill>
              <a:prstDash val="solid"/>
            </a:ln>
          </c:spPr>
          <c:marker>
            <c:symbol val="none"/>
            <c:size val="3"/>
          </c:marker>
          <c:xVal>
            <c:numRef>
              <c:f>'Chart Data'!$CK$2:$CK$3</c:f>
              <c:numCache>
                <c:formatCode>General</c:formatCode>
                <c:ptCount val="2"/>
                <c:pt idx="0">
                  <c:v>26.25</c:v>
                </c:pt>
                <c:pt idx="1">
                  <c:v>26.25</c:v>
                </c:pt>
              </c:numCache>
            </c:numRef>
          </c:xVal>
          <c:yVal>
            <c:numRef>
              <c:f>'Chart Data'!$CL$2:$CL$3</c:f>
              <c:numCache>
                <c:formatCode>0</c:formatCode>
                <c:ptCount val="2"/>
                <c:pt idx="0">
                  <c:v>11.5625</c:v>
                </c:pt>
                <c:pt idx="1">
                  <c:v>20</c:v>
                </c:pt>
              </c:numCache>
            </c:numRef>
          </c:yVal>
        </c:ser>
        <c:ser>
          <c:idx val="45"/>
          <c:order val="45"/>
          <c:tx>
            <c:v>PS arcering 15</c:v>
          </c:tx>
          <c:spPr>
            <a:ln xmlns:a="http://schemas.openxmlformats.org/drawingml/2006/main" w="47625">
              <a:solidFill>
                <a:srgbClr val="82E0AA"/>
              </a:solidFill>
              <a:prstDash val="solid"/>
            </a:ln>
          </c:spPr>
          <c:marker>
            <c:symbol val="none"/>
            <c:size val="3"/>
          </c:marker>
          <c:xVal>
            <c:numRef>
              <c:f>'Chart Data'!$CM$2:$CM$3</c:f>
              <c:numCache>
                <c:formatCode>General</c:formatCode>
                <c:ptCount val="2"/>
                <c:pt idx="0">
                  <c:v>28.125</c:v>
                </c:pt>
                <c:pt idx="1">
                  <c:v>28.125</c:v>
                </c:pt>
              </c:numCache>
            </c:numRef>
          </c:xVal>
          <c:yVal>
            <c:numRef>
              <c:f>'Chart Data'!$CN$2:$CN$3</c:f>
              <c:numCache>
                <c:formatCode>0</c:formatCode>
                <c:ptCount val="2"/>
                <c:pt idx="0">
                  <c:v>12.03125</c:v>
                </c:pt>
                <c:pt idx="1">
                  <c:v>20</c:v>
                </c:pt>
              </c:numCache>
            </c:numRef>
          </c:yVal>
        </c:ser>
        <c:ser>
          <c:idx val="46"/>
          <c:order val="46"/>
          <c:tx>
            <c:v>PS arcering 16</c:v>
          </c:tx>
          <c:spPr>
            <a:ln xmlns:a="http://schemas.openxmlformats.org/drawingml/2006/main" w="47625">
              <a:solidFill>
                <a:srgbClr val="82E0AA"/>
              </a:solidFill>
              <a:prstDash val="solid"/>
            </a:ln>
          </c:spPr>
          <c:marker>
            <c:symbol val="none"/>
            <c:size val="3"/>
          </c:marker>
          <c:xVal>
            <c:numRef>
              <c:f>'Chart Data'!$CO$2:$CO$3</c:f>
              <c:numCache>
                <c:formatCode>General</c:formatCode>
                <c:ptCount val="2"/>
                <c:pt idx="0">
                  <c:v>30</c:v>
                </c:pt>
                <c:pt idx="1">
                  <c:v>30</c:v>
                </c:pt>
              </c:numCache>
            </c:numRef>
          </c:xVal>
          <c:yVal>
            <c:numRef>
              <c:f>'Chart Data'!$CP$2:$CP$3</c:f>
              <c:numCache>
                <c:formatCode>0</c:formatCode>
                <c:ptCount val="2"/>
                <c:pt idx="0">
                  <c:v>12.5</c:v>
                </c:pt>
                <c:pt idx="1">
                  <c:v>20</c:v>
                </c:pt>
              </c:numCache>
            </c:numRef>
          </c:yVal>
        </c:ser>
        <c:ser>
          <c:idx val="47"/>
          <c:order val="47"/>
          <c:tx>
            <c:v>PS arcering 17</c:v>
          </c:tx>
          <c:spPr>
            <a:ln xmlns:a="http://schemas.openxmlformats.org/drawingml/2006/main" w="47625">
              <a:solidFill>
                <a:srgbClr val="82E0AA"/>
              </a:solidFill>
              <a:prstDash val="solid"/>
            </a:ln>
          </c:spPr>
          <c:marker>
            <c:symbol val="none"/>
            <c:size val="3"/>
          </c:marker>
          <c:xVal>
            <c:numRef>
              <c:f>'Chart Data'!$CQ$2:$CQ$3</c:f>
              <c:numCache>
                <c:formatCode>General</c:formatCode>
                <c:ptCount val="2"/>
                <c:pt idx="0">
                  <c:v>31.875</c:v>
                </c:pt>
                <c:pt idx="1">
                  <c:v>31.875</c:v>
                </c:pt>
              </c:numCache>
            </c:numRef>
          </c:xVal>
          <c:yVal>
            <c:numRef>
              <c:f>'Chart Data'!$CR$2:$CR$3</c:f>
              <c:numCache>
                <c:formatCode>0</c:formatCode>
                <c:ptCount val="2"/>
                <c:pt idx="0">
                  <c:v>12.96875</c:v>
                </c:pt>
                <c:pt idx="1">
                  <c:v>20</c:v>
                </c:pt>
              </c:numCache>
            </c:numRef>
          </c:yVal>
        </c:ser>
        <c:ser>
          <c:idx val="48"/>
          <c:order val="48"/>
          <c:tx>
            <c:v>PS arcering 18</c:v>
          </c:tx>
          <c:spPr>
            <a:ln xmlns:a="http://schemas.openxmlformats.org/drawingml/2006/main" w="47625">
              <a:solidFill>
                <a:srgbClr val="82E0AA"/>
              </a:solidFill>
              <a:prstDash val="solid"/>
            </a:ln>
          </c:spPr>
          <c:marker>
            <c:symbol val="none"/>
            <c:size val="3"/>
          </c:marker>
          <c:xVal>
            <c:numRef>
              <c:f>'Chart Data'!$CS$2:$CS$3</c:f>
              <c:numCache>
                <c:formatCode>General</c:formatCode>
                <c:ptCount val="2"/>
                <c:pt idx="0">
                  <c:v>33.75</c:v>
                </c:pt>
                <c:pt idx="1">
                  <c:v>33.75</c:v>
                </c:pt>
              </c:numCache>
            </c:numRef>
          </c:xVal>
          <c:yVal>
            <c:numRef>
              <c:f>'Chart Data'!$CT$2:$CT$3</c:f>
              <c:numCache>
                <c:formatCode>0</c:formatCode>
                <c:ptCount val="2"/>
                <c:pt idx="0">
                  <c:v>13.4375</c:v>
                </c:pt>
                <c:pt idx="1">
                  <c:v>20</c:v>
                </c:pt>
              </c:numCache>
            </c:numRef>
          </c:yVal>
        </c:ser>
        <c:ser>
          <c:idx val="49"/>
          <c:order val="49"/>
          <c:tx>
            <c:v>PS arcering 19</c:v>
          </c:tx>
          <c:spPr>
            <a:ln xmlns:a="http://schemas.openxmlformats.org/drawingml/2006/main" w="47625">
              <a:solidFill>
                <a:srgbClr val="82E0AA"/>
              </a:solidFill>
              <a:prstDash val="solid"/>
            </a:ln>
          </c:spPr>
          <c:marker>
            <c:symbol val="none"/>
            <c:size val="3"/>
          </c:marker>
          <c:xVal>
            <c:numRef>
              <c:f>'Chart Data'!$CU$2:$CU$3</c:f>
              <c:numCache>
                <c:formatCode>General</c:formatCode>
                <c:ptCount val="2"/>
                <c:pt idx="0">
                  <c:v>35.625</c:v>
                </c:pt>
                <c:pt idx="1">
                  <c:v>35.625</c:v>
                </c:pt>
              </c:numCache>
            </c:numRef>
          </c:xVal>
          <c:yVal>
            <c:numRef>
              <c:f>'Chart Data'!$CV$2:$CV$3</c:f>
              <c:numCache>
                <c:formatCode>0</c:formatCode>
                <c:ptCount val="2"/>
                <c:pt idx="0">
                  <c:v>13.90625</c:v>
                </c:pt>
                <c:pt idx="1">
                  <c:v>20</c:v>
                </c:pt>
              </c:numCache>
            </c:numRef>
          </c:yVal>
        </c:ser>
        <c:ser>
          <c:idx val="50"/>
          <c:order val="50"/>
          <c:tx>
            <c:v>PS arcering 20</c:v>
          </c:tx>
          <c:spPr>
            <a:ln xmlns:a="http://schemas.openxmlformats.org/drawingml/2006/main" w="47625">
              <a:solidFill>
                <a:srgbClr val="82E0AA"/>
              </a:solidFill>
              <a:prstDash val="solid"/>
            </a:ln>
          </c:spPr>
          <c:marker>
            <c:symbol val="none"/>
            <c:size val="3"/>
          </c:marker>
          <c:xVal>
            <c:numRef>
              <c:f>'Chart Data'!$CW$2:$CW$3</c:f>
              <c:numCache>
                <c:formatCode>General</c:formatCode>
                <c:ptCount val="2"/>
                <c:pt idx="0">
                  <c:v>37.5</c:v>
                </c:pt>
                <c:pt idx="1">
                  <c:v>37.5</c:v>
                </c:pt>
              </c:numCache>
            </c:numRef>
          </c:xVal>
          <c:yVal>
            <c:numRef>
              <c:f>'Chart Data'!$CX$2:$CX$3</c:f>
              <c:numCache>
                <c:formatCode>0</c:formatCode>
                <c:ptCount val="2"/>
                <c:pt idx="0">
                  <c:v>14.375</c:v>
                </c:pt>
                <c:pt idx="1">
                  <c:v>20</c:v>
                </c:pt>
              </c:numCache>
            </c:numRef>
          </c:yVal>
        </c:ser>
        <c:ser>
          <c:idx val="51"/>
          <c:order val="51"/>
          <c:tx>
            <c:v>PS arcering 21</c:v>
          </c:tx>
          <c:spPr>
            <a:ln xmlns:a="http://schemas.openxmlformats.org/drawingml/2006/main" w="47625">
              <a:solidFill>
                <a:srgbClr val="82E0AA"/>
              </a:solidFill>
              <a:prstDash val="solid"/>
            </a:ln>
          </c:spPr>
          <c:marker>
            <c:symbol val="none"/>
            <c:size val="3"/>
          </c:marker>
          <c:xVal>
            <c:numRef>
              <c:f>'Chart Data'!$CY$2:$CY$3</c:f>
              <c:numCache>
                <c:formatCode>General</c:formatCode>
                <c:ptCount val="2"/>
                <c:pt idx="0">
                  <c:v>39.375</c:v>
                </c:pt>
                <c:pt idx="1">
                  <c:v>39.375</c:v>
                </c:pt>
              </c:numCache>
            </c:numRef>
          </c:xVal>
          <c:yVal>
            <c:numRef>
              <c:f>'Chart Data'!$CZ$2:$CZ$3</c:f>
              <c:numCache>
                <c:formatCode>0</c:formatCode>
                <c:ptCount val="2"/>
                <c:pt idx="0">
                  <c:v>14.84375</c:v>
                </c:pt>
                <c:pt idx="1">
                  <c:v>20</c:v>
                </c:pt>
              </c:numCache>
            </c:numRef>
          </c:yVal>
        </c:ser>
        <c:ser>
          <c:idx val="52"/>
          <c:order val="52"/>
          <c:tx>
            <c:v>PS arcering 22</c:v>
          </c:tx>
          <c:spPr>
            <a:ln xmlns:a="http://schemas.openxmlformats.org/drawingml/2006/main" w="47625">
              <a:solidFill>
                <a:srgbClr val="82E0AA"/>
              </a:solidFill>
              <a:prstDash val="solid"/>
            </a:ln>
          </c:spPr>
          <c:marker>
            <c:symbol val="none"/>
            <c:size val="3"/>
          </c:marker>
          <c:xVal>
            <c:numRef>
              <c:f>'Chart Data'!$DA$2:$DA$3</c:f>
              <c:numCache>
                <c:formatCode>General</c:formatCode>
                <c:ptCount val="2"/>
                <c:pt idx="0">
                  <c:v>41.25</c:v>
                </c:pt>
                <c:pt idx="1">
                  <c:v>41.25</c:v>
                </c:pt>
              </c:numCache>
            </c:numRef>
          </c:xVal>
          <c:yVal>
            <c:numRef>
              <c:f>'Chart Data'!$DB$2:$DB$3</c:f>
              <c:numCache>
                <c:formatCode>0</c:formatCode>
                <c:ptCount val="2"/>
                <c:pt idx="0">
                  <c:v>15.3125</c:v>
                </c:pt>
                <c:pt idx="1">
                  <c:v>20</c:v>
                </c:pt>
              </c:numCache>
            </c:numRef>
          </c:yVal>
        </c:ser>
        <c:ser>
          <c:idx val="53"/>
          <c:order val="53"/>
          <c:tx>
            <c:v>PS arcering 23</c:v>
          </c:tx>
          <c:spPr>
            <a:ln xmlns:a="http://schemas.openxmlformats.org/drawingml/2006/main" w="47625">
              <a:solidFill>
                <a:srgbClr val="82E0AA"/>
              </a:solidFill>
              <a:prstDash val="solid"/>
            </a:ln>
          </c:spPr>
          <c:marker>
            <c:symbol val="none"/>
            <c:size val="3"/>
          </c:marker>
          <c:xVal>
            <c:numRef>
              <c:f>'Chart Data'!$DC$2:$DC$3</c:f>
              <c:numCache>
                <c:formatCode>General</c:formatCode>
                <c:ptCount val="2"/>
                <c:pt idx="0">
                  <c:v>43.125</c:v>
                </c:pt>
                <c:pt idx="1">
                  <c:v>43.125</c:v>
                </c:pt>
              </c:numCache>
            </c:numRef>
          </c:xVal>
          <c:yVal>
            <c:numRef>
              <c:f>'Chart Data'!$DD$2:$DD$3</c:f>
              <c:numCache>
                <c:formatCode>0</c:formatCode>
                <c:ptCount val="2"/>
                <c:pt idx="0">
                  <c:v>15.78125</c:v>
                </c:pt>
                <c:pt idx="1">
                  <c:v>20</c:v>
                </c:pt>
              </c:numCache>
            </c:numRef>
          </c:yVal>
        </c:ser>
        <c:ser>
          <c:idx val="54"/>
          <c:order val="54"/>
          <c:tx>
            <c:v>PS arcering 24</c:v>
          </c:tx>
          <c:spPr>
            <a:ln xmlns:a="http://schemas.openxmlformats.org/drawingml/2006/main" w="47625">
              <a:solidFill>
                <a:srgbClr val="82E0AA"/>
              </a:solidFill>
              <a:prstDash val="solid"/>
            </a:ln>
          </c:spPr>
          <c:marker>
            <c:symbol val="none"/>
            <c:size val="3"/>
          </c:marker>
          <c:xVal>
            <c:numRef>
              <c:f>'Chart Data'!$DE$2:$DE$3</c:f>
              <c:numCache>
                <c:formatCode>General</c:formatCode>
                <c:ptCount val="2"/>
                <c:pt idx="0">
                  <c:v>45</c:v>
                </c:pt>
                <c:pt idx="1">
                  <c:v>45</c:v>
                </c:pt>
              </c:numCache>
            </c:numRef>
          </c:xVal>
          <c:yVal>
            <c:numRef>
              <c:f>'Chart Data'!$DF$2:$DF$3</c:f>
              <c:numCache>
                <c:formatCode>0</c:formatCode>
                <c:ptCount val="2"/>
                <c:pt idx="0">
                  <c:v>16.25</c:v>
                </c:pt>
                <c:pt idx="1">
                  <c:v>20</c:v>
                </c:pt>
              </c:numCache>
            </c:numRef>
          </c:yVal>
        </c:ser>
        <c:ser>
          <c:idx val="55"/>
          <c:order val="55"/>
          <c:tx>
            <c:v>PS arcering 25</c:v>
          </c:tx>
          <c:spPr>
            <a:ln xmlns:a="http://schemas.openxmlformats.org/drawingml/2006/main" w="47625">
              <a:solidFill>
                <a:srgbClr val="82E0AA"/>
              </a:solidFill>
              <a:prstDash val="solid"/>
            </a:ln>
          </c:spPr>
          <c:marker>
            <c:symbol val="none"/>
            <c:size val="3"/>
          </c:marker>
          <c:xVal>
            <c:numRef>
              <c:f>'Chart Data'!$DG$2:$DG$3</c:f>
              <c:numCache>
                <c:formatCode>General</c:formatCode>
                <c:ptCount val="2"/>
                <c:pt idx="0">
                  <c:v>46.875</c:v>
                </c:pt>
                <c:pt idx="1">
                  <c:v>46.875</c:v>
                </c:pt>
              </c:numCache>
            </c:numRef>
          </c:xVal>
          <c:yVal>
            <c:numRef>
              <c:f>'Chart Data'!$DH$2:$DH$3</c:f>
              <c:numCache>
                <c:formatCode>0</c:formatCode>
                <c:ptCount val="2"/>
                <c:pt idx="0">
                  <c:v>16.71875</c:v>
                </c:pt>
                <c:pt idx="1">
                  <c:v>20</c:v>
                </c:pt>
              </c:numCache>
            </c:numRef>
          </c:yVal>
        </c:ser>
        <c:ser>
          <c:idx val="56"/>
          <c:order val="56"/>
          <c:tx>
            <c:v>PS arcering 26</c:v>
          </c:tx>
          <c:spPr>
            <a:ln xmlns:a="http://schemas.openxmlformats.org/drawingml/2006/main" w="47625">
              <a:solidFill>
                <a:srgbClr val="82E0AA"/>
              </a:solidFill>
              <a:prstDash val="solid"/>
            </a:ln>
          </c:spPr>
          <c:marker>
            <c:symbol val="none"/>
            <c:size val="3"/>
          </c:marker>
          <c:xVal>
            <c:numRef>
              <c:f>'Chart Data'!$DI$2:$DI$3</c:f>
              <c:numCache>
                <c:formatCode>General</c:formatCode>
                <c:ptCount val="2"/>
                <c:pt idx="0">
                  <c:v>48.75</c:v>
                </c:pt>
                <c:pt idx="1">
                  <c:v>48.75</c:v>
                </c:pt>
              </c:numCache>
            </c:numRef>
          </c:xVal>
          <c:yVal>
            <c:numRef>
              <c:f>'Chart Data'!$DJ$2:$DJ$3</c:f>
              <c:numCache>
                <c:formatCode>0</c:formatCode>
                <c:ptCount val="2"/>
                <c:pt idx="0">
                  <c:v>17.1875</c:v>
                </c:pt>
                <c:pt idx="1">
                  <c:v>20</c:v>
                </c:pt>
              </c:numCache>
            </c:numRef>
          </c:yVal>
        </c:ser>
        <c:ser>
          <c:idx val="57"/>
          <c:order val="57"/>
          <c:tx>
            <c:v>PS arcering 27</c:v>
          </c:tx>
          <c:spPr>
            <a:ln xmlns:a="http://schemas.openxmlformats.org/drawingml/2006/main" w="47625">
              <a:solidFill>
                <a:srgbClr val="82E0AA"/>
              </a:solidFill>
              <a:prstDash val="solid"/>
            </a:ln>
          </c:spPr>
          <c:marker>
            <c:symbol val="none"/>
            <c:size val="3"/>
          </c:marker>
          <c:xVal>
            <c:numRef>
              <c:f>'Chart Data'!$DK$2:$DK$3</c:f>
              <c:numCache>
                <c:formatCode>General</c:formatCode>
                <c:ptCount val="2"/>
                <c:pt idx="0">
                  <c:v>50.625</c:v>
                </c:pt>
                <c:pt idx="1">
                  <c:v>50.625</c:v>
                </c:pt>
              </c:numCache>
            </c:numRef>
          </c:xVal>
          <c:yVal>
            <c:numRef>
              <c:f>'Chart Data'!$DL$2:$DL$3</c:f>
              <c:numCache>
                <c:formatCode>0</c:formatCode>
                <c:ptCount val="2"/>
                <c:pt idx="0">
                  <c:v>17.65625</c:v>
                </c:pt>
                <c:pt idx="1">
                  <c:v>20</c:v>
                </c:pt>
              </c:numCache>
            </c:numRef>
          </c:yVal>
        </c:ser>
        <c:ser>
          <c:idx val="58"/>
          <c:order val="58"/>
          <c:tx>
            <c:v>PS arcering 28</c:v>
          </c:tx>
          <c:spPr>
            <a:ln xmlns:a="http://schemas.openxmlformats.org/drawingml/2006/main" w="47625">
              <a:solidFill>
                <a:srgbClr val="82E0AA"/>
              </a:solidFill>
              <a:prstDash val="solid"/>
            </a:ln>
          </c:spPr>
          <c:marker>
            <c:symbol val="none"/>
            <c:size val="3"/>
          </c:marker>
          <c:xVal>
            <c:numRef>
              <c:f>'Chart Data'!$DM$2:$DM$3</c:f>
              <c:numCache>
                <c:formatCode>General</c:formatCode>
                <c:ptCount val="2"/>
                <c:pt idx="0">
                  <c:v>52.5</c:v>
                </c:pt>
                <c:pt idx="1">
                  <c:v>52.5</c:v>
                </c:pt>
              </c:numCache>
            </c:numRef>
          </c:xVal>
          <c:yVal>
            <c:numRef>
              <c:f>'Chart Data'!$DN$2:$DN$3</c:f>
              <c:numCache>
                <c:formatCode>0</c:formatCode>
                <c:ptCount val="2"/>
                <c:pt idx="0">
                  <c:v>18.125</c:v>
                </c:pt>
                <c:pt idx="1">
                  <c:v>20</c:v>
                </c:pt>
              </c:numCache>
            </c:numRef>
          </c:yVal>
        </c:ser>
        <c:ser>
          <c:idx val="59"/>
          <c:order val="59"/>
          <c:tx>
            <c:v>PS arcering 29</c:v>
          </c:tx>
          <c:spPr>
            <a:ln xmlns:a="http://schemas.openxmlformats.org/drawingml/2006/main" w="47625">
              <a:solidFill>
                <a:srgbClr val="82E0AA"/>
              </a:solidFill>
              <a:prstDash val="solid"/>
            </a:ln>
          </c:spPr>
          <c:marker>
            <c:symbol val="none"/>
            <c:size val="3"/>
          </c:marker>
          <c:xVal>
            <c:numRef>
              <c:f>'Chart Data'!$DO$2:$DO$3</c:f>
              <c:numCache>
                <c:formatCode>General</c:formatCode>
                <c:ptCount val="2"/>
                <c:pt idx="0">
                  <c:v>54.375</c:v>
                </c:pt>
                <c:pt idx="1">
                  <c:v>54.375</c:v>
                </c:pt>
              </c:numCache>
            </c:numRef>
          </c:xVal>
          <c:yVal>
            <c:numRef>
              <c:f>'Chart Data'!$DP$2:$DP$3</c:f>
              <c:numCache>
                <c:formatCode>0</c:formatCode>
                <c:ptCount val="2"/>
                <c:pt idx="0">
                  <c:v>18.59375</c:v>
                </c:pt>
                <c:pt idx="1">
                  <c:v>20</c:v>
                </c:pt>
              </c:numCache>
            </c:numRef>
          </c:yVal>
        </c:ser>
        <c:ser>
          <c:idx val="60"/>
          <c:order val="60"/>
          <c:tx>
            <c:v>PS arcering 30</c:v>
          </c:tx>
          <c:spPr>
            <a:ln xmlns:a="http://schemas.openxmlformats.org/drawingml/2006/main" w="47625">
              <a:solidFill>
                <a:srgbClr val="82E0AA"/>
              </a:solidFill>
              <a:prstDash val="solid"/>
            </a:ln>
          </c:spPr>
          <c:marker>
            <c:symbol val="none"/>
            <c:size val="3"/>
          </c:marker>
          <c:xVal>
            <c:numRef>
              <c:f>'Chart Data'!$DQ$2:$DQ$3</c:f>
              <c:numCache>
                <c:formatCode>General</c:formatCode>
                <c:ptCount val="2"/>
                <c:pt idx="0">
                  <c:v>56.25</c:v>
                </c:pt>
                <c:pt idx="1">
                  <c:v>56.25</c:v>
                </c:pt>
              </c:numCache>
            </c:numRef>
          </c:xVal>
          <c:yVal>
            <c:numRef>
              <c:f>'Chart Data'!$DR$2:$DR$3</c:f>
              <c:numCache>
                <c:formatCode>0</c:formatCode>
                <c:ptCount val="2"/>
                <c:pt idx="0">
                  <c:v>19.0625</c:v>
                </c:pt>
                <c:pt idx="1">
                  <c:v>20</c:v>
                </c:pt>
              </c:numCache>
            </c:numRef>
          </c:yVal>
        </c:ser>
        <c:ser>
          <c:idx val="61"/>
          <c:order val="61"/>
          <c:tx>
            <c:v>PS arcering 31</c:v>
          </c:tx>
          <c:spPr>
            <a:ln xmlns:a="http://schemas.openxmlformats.org/drawingml/2006/main" w="47625">
              <a:solidFill>
                <a:srgbClr val="82E0AA"/>
              </a:solidFill>
              <a:prstDash val="solid"/>
            </a:ln>
          </c:spPr>
          <c:marker>
            <c:symbol val="none"/>
            <c:size val="3"/>
          </c:marker>
          <c:xVal>
            <c:numRef>
              <c:f>'Chart Data'!$DS$2:$DS$3</c:f>
              <c:numCache>
                <c:formatCode>General</c:formatCode>
                <c:ptCount val="2"/>
                <c:pt idx="0">
                  <c:v>58.125</c:v>
                </c:pt>
                <c:pt idx="1">
                  <c:v>58.125</c:v>
                </c:pt>
              </c:numCache>
            </c:numRef>
          </c:xVal>
          <c:yVal>
            <c:numRef>
              <c:f>'Chart Data'!$DT$2:$DT$3</c:f>
              <c:numCache>
                <c:formatCode>0</c:formatCode>
                <c:ptCount val="2"/>
                <c:pt idx="0">
                  <c:v>19.53125</c:v>
                </c:pt>
                <c:pt idx="1">
                  <c:v>20</c:v>
                </c:pt>
              </c:numCache>
            </c:numRef>
          </c:yVal>
        </c:ser>
        <c:ser>
          <c:idx val="62"/>
          <c:order val="62"/>
          <c:tx>
            <c:v>V</c:v>
          </c:tx>
          <c:spPr>
            <a:ln xmlns:a="http://schemas.openxmlformats.org/drawingml/2006/main" w="38100">
              <a:solidFill>
                <a:srgbClr val="17658A"/>
              </a:solidFill>
              <a:prstDash val="solid"/>
            </a:ln>
          </c:spPr>
          <c:marker>
            <c:symbol val="none"/>
            <c:size val="3"/>
          </c:marker>
          <c:xVal>
            <c:numRef>
              <c:f>'Chart Data'!$DU$2:$DU$3</c:f>
              <c:numCache>
                <c:formatCode>General</c:formatCode>
                <c:ptCount val="2"/>
                <c:pt idx="0">
                  <c:v>0</c:v>
                </c:pt>
                <c:pt idx="1">
                  <c:v>100</c:v>
                </c:pt>
              </c:numCache>
            </c:numRef>
          </c:xVal>
          <c:yVal>
            <c:numRef>
              <c:f>'Chart Data'!$DV$2:$DV$3</c:f>
              <c:numCache>
                <c:formatCode>0</c:formatCode>
                <c:ptCount val="2"/>
                <c:pt idx="0">
                  <c:v>50</c:v>
                </c:pt>
                <c:pt idx="1">
                  <c:v>0</c:v>
                </c:pt>
              </c:numCache>
            </c:numRef>
          </c:yVal>
        </c:ser>
        <c:ser>
          <c:idx val="63"/>
          <c:order val="63"/>
          <c:tx>
            <c:v>A = MK</c:v>
          </c:tx>
          <c:spPr>
            <a:ln xmlns:a="http://schemas.openxmlformats.org/drawingml/2006/main" w="38100">
              <a:solidFill>
                <a:srgbClr val="20665B"/>
              </a:solidFill>
              <a:prstDash val="solid"/>
            </a:ln>
          </c:spPr>
          <c:marker>
            <c:symbol val="none"/>
            <c:size val="3"/>
          </c:marker>
          <c:xVal>
            <c:numRef>
              <c:f>'Chart Data'!$DW$2:$DW$3</c:f>
              <c:numCache>
                <c:formatCode>General</c:formatCode>
                <c:ptCount val="2"/>
                <c:pt idx="0">
                  <c:v>0</c:v>
                </c:pt>
                <c:pt idx="1">
                  <c:v>100</c:v>
                </c:pt>
              </c:numCache>
            </c:numRef>
          </c:xVal>
          <c:yVal>
            <c:numRef>
              <c:f>'Chart Data'!$DX$2:$DX$3</c:f>
              <c:numCache>
                <c:formatCode>0</c:formatCode>
                <c:ptCount val="2"/>
                <c:pt idx="0">
                  <c:v>5</c:v>
                </c:pt>
                <c:pt idx="1">
                  <c:v>30</c:v>
                </c:pt>
              </c:numCache>
            </c:numRef>
          </c:yVal>
        </c:ser>
        <c:ser>
          <c:idx val="64"/>
          <c:order val="64"/>
          <c:tx>
            <c:v>Pe</c:v>
          </c:tx>
          <c:spPr>
            <a:ln xmlns:a="http://schemas.openxmlformats.org/drawingml/2006/main" w="28575">
              <a:solidFill>
                <a:srgbClr val="A94D16"/>
              </a:solidFill>
              <a:prstDash val="dash"/>
            </a:ln>
          </c:spPr>
          <c:marker>
            <c:symbol val="none"/>
            <c:size val="3"/>
          </c:marker>
          <c:xVal>
            <c:numRef>
              <c:f>'Chart Data'!$DY$2:$DY$3</c:f>
              <c:numCache>
                <c:formatCode>General</c:formatCode>
                <c:ptCount val="2"/>
                <c:pt idx="0">
                  <c:v>0</c:v>
                </c:pt>
                <c:pt idx="1">
                  <c:v>60</c:v>
                </c:pt>
              </c:numCache>
            </c:numRef>
          </c:xVal>
          <c:yVal>
            <c:numRef>
              <c:f>'Chart Data'!$DZ$2:$DZ$3</c:f>
              <c:numCache>
                <c:formatCode>0</c:formatCode>
                <c:ptCount val="2"/>
                <c:pt idx="0">
                  <c:v>20</c:v>
                </c:pt>
                <c:pt idx="1">
                  <c:v>20</c:v>
                </c:pt>
              </c:numCache>
            </c:numRef>
          </c:yVal>
        </c:ser>
        <c:ser>
          <c:idx val="65"/>
          <c:order val="65"/>
          <c:tx>
            <c:v>Qe</c:v>
          </c:tx>
          <c:spPr>
            <a:ln xmlns:a="http://schemas.openxmlformats.org/drawingml/2006/main" w="19050">
              <a:solidFill>
                <a:srgbClr val="445B6B"/>
              </a:solidFill>
              <a:prstDash val="dash"/>
            </a:ln>
          </c:spPr>
          <c:marker>
            <c:symbol val="none"/>
            <c:size val="3"/>
          </c:marker>
          <c:xVal>
            <c:numRef>
              <c:f>'Chart Data'!$EA$2:$EA$3</c:f>
              <c:numCache>
                <c:formatCode>General</c:formatCode>
                <c:ptCount val="2"/>
                <c:pt idx="0">
                  <c:v>60</c:v>
                </c:pt>
                <c:pt idx="1">
                  <c:v>60</c:v>
                </c:pt>
              </c:numCache>
            </c:numRef>
          </c:xVal>
          <c:yVal>
            <c:numRef>
              <c:f>'Chart Data'!$EB$2:$EB$3</c:f>
              <c:numCache>
                <c:formatCode>0</c:formatCode>
                <c:ptCount val="2"/>
                <c:pt idx="0">
                  <c:v>0</c:v>
                </c:pt>
                <c:pt idx="1">
                  <c:v>20</c:v>
                </c:pt>
              </c:numCache>
            </c:numRef>
          </c:yVal>
        </c:ser>
        <c:ser>
          <c:idx val="66"/>
          <c:order val="66"/>
          <c:tx>
            <c:v>V</c:v>
          </c:tx>
          <c:spPr>
            <a:ln xmlns:a="http://schemas.openxmlformats.org/drawingml/2006/main" w="0">
              <a:noFill/>
            </a:ln>
          </c:spPr>
          <c:marker>
            <c:symbol val="none"/>
            <c:size val="3"/>
          </c:marker>
          <c:dLbls>
            <c:dLbl>
              <c:idx val="0"/>
              <c:tx>
                <c:rich>
                  <a:bodyPr xmlns:a="http://schemas.openxmlformats.org/drawingml/2006/main"/>
                  <a:lstStyle xmlns:a="http://schemas.openxmlformats.org/drawingml/2006/main"/>
                  <a:p xmlns:a="http://schemas.openxmlformats.org/drawingml/2006/main">
                    <a:r>
                      <a:rPr sz="2100" b="1">
                        <a:solidFill>
                          <a:srgbClr val="17658A"/>
                        </a:solidFill>
                        <a:latin typeface="Arial"/>
                        <a:ea typeface="Arial"/>
                        <a:cs typeface="Arial"/>
                      </a:rPr>
                      <a:t>V</a:t>
                    </a:r>
                  </a:p>
                </c:rich>
              </c:tx>
              <c:txPr>
                <a:bodyPr xmlns:a="http://schemas.openxmlformats.org/drawingml/2006/main" anchorCtr="1"/>
                <a:lstStyle xmlns:a="http://schemas.openxmlformats.org/drawingml/2006/main"/>
                <a:p xmlns:a="http://schemas.openxmlformats.org/drawingml/2006/main">
                  <a:pPr>
                    <a:defRPr sz="2100" b="1">
                      <a:solidFill>
                        <a:srgbClr val="17658A"/>
                      </a:solidFill>
                      <a:latin typeface="Arial"/>
                      <a:ea typeface="Arial"/>
                      <a:cs typeface="Arial"/>
                    </a:defRPr>
                  </a:pPr>
                </a:p>
              </c:txPr>
              <c:showLegendKey val="0"/>
              <c:showVal val="0"/>
              <c:showCatName val="0"/>
              <c:showSerName val="0"/>
              <c:showPercent val="0"/>
              <c:showBubbleSize val="0"/>
            </c:dLbl>
          </c:dLbls>
          <c:xVal>
            <c:numRef>
              <c:f>'Chart Data'!$EC$2:$EC$2</c:f>
              <c:numCache>
                <c:formatCode>General</c:formatCode>
                <c:ptCount val="1"/>
                <c:pt idx="0">
                  <c:v>87</c:v>
                </c:pt>
              </c:numCache>
            </c:numRef>
          </c:xVal>
          <c:yVal>
            <c:numRef>
              <c:f>'Chart Data'!$ED$2:$ED$2</c:f>
              <c:numCache>
                <c:formatCode>0</c:formatCode>
                <c:ptCount val="1"/>
                <c:pt idx="0">
                  <c:v>6.5</c:v>
                </c:pt>
              </c:numCache>
            </c:numRef>
          </c:yVal>
        </c:ser>
        <c:ser>
          <c:idx val="67"/>
          <c:order val="67"/>
          <c:tx>
            <c:v>A = MK</c:v>
          </c:tx>
          <c:spPr>
            <a:ln xmlns:a="http://schemas.openxmlformats.org/drawingml/2006/main" w="0">
              <a:noFill/>
            </a:ln>
          </c:spPr>
          <c:marker>
            <c:symbol val="none"/>
            <c:size val="3"/>
          </c:marker>
          <c:dLbls>
            <c:dLbl>
              <c:idx val="0"/>
              <c:tx>
                <c:rich>
                  <a:bodyPr xmlns:a="http://schemas.openxmlformats.org/drawingml/2006/main"/>
                  <a:lstStyle xmlns:a="http://schemas.openxmlformats.org/drawingml/2006/main"/>
                  <a:p xmlns:a="http://schemas.openxmlformats.org/drawingml/2006/main">
                    <a:r>
                      <a:rPr sz="2100" b="1">
                        <a:solidFill>
                          <a:srgbClr val="20665B"/>
                        </a:solidFill>
                        <a:latin typeface="Arial"/>
                        <a:ea typeface="Arial"/>
                        <a:cs typeface="Arial"/>
                      </a:rPr>
                      <a:t>A = MK</a:t>
                    </a:r>
                  </a:p>
                </c:rich>
              </c:tx>
              <c:txPr>
                <a:bodyPr xmlns:a="http://schemas.openxmlformats.org/drawingml/2006/main" anchorCtr="1"/>
                <a:lstStyle xmlns:a="http://schemas.openxmlformats.org/drawingml/2006/main"/>
                <a:p xmlns:a="http://schemas.openxmlformats.org/drawingml/2006/main">
                  <a:pPr>
                    <a:defRPr sz="2100" b="1">
                      <a:solidFill>
                        <a:srgbClr val="20665B"/>
                      </a:solidFill>
                      <a:latin typeface="Arial"/>
                      <a:ea typeface="Arial"/>
                      <a:cs typeface="Arial"/>
                    </a:defRPr>
                  </a:pPr>
                </a:p>
              </c:txPr>
              <c:showLegendKey val="0"/>
              <c:showVal val="0"/>
              <c:showCatName val="0"/>
              <c:showSerName val="0"/>
              <c:showPercent val="0"/>
              <c:showBubbleSize val="0"/>
            </c:dLbl>
          </c:dLbls>
          <c:xVal>
            <c:numRef>
              <c:f>'Chart Data'!$EE$2:$EE$2</c:f>
              <c:numCache>
                <c:formatCode>General</c:formatCode>
                <c:ptCount val="1"/>
                <c:pt idx="0">
                  <c:v>80</c:v>
                </c:pt>
              </c:numCache>
            </c:numRef>
          </c:xVal>
          <c:yVal>
            <c:numRef>
              <c:f>'Chart Data'!$EF$2:$EF$2</c:f>
              <c:numCache>
                <c:formatCode>0</c:formatCode>
                <c:ptCount val="1"/>
                <c:pt idx="0">
                  <c:v>25</c:v>
                </c:pt>
              </c:numCache>
            </c:numRef>
          </c:yVal>
        </c:ser>
        <c:ser>
          <c:idx val="68"/>
          <c:order val="68"/>
          <c:tx>
            <c:v>E</c:v>
          </c:tx>
          <c:spPr>
            <a:ln xmlns:a="http://schemas.openxmlformats.org/drawingml/2006/main" w="0">
              <a:noFill/>
            </a:ln>
          </c:spPr>
          <c:marker>
            <c:symbol val="circle"/>
            <c:size val="9"/>
            <c:spPr>
              <a:noFill xmlns:a="http://schemas.openxmlformats.org/drawingml/2006/main"/>
            </c:spPr>
          </c:marker>
          <c:dLbls>
            <c:dLbl>
              <c:idx val="0"/>
              <c:tx>
                <c:rich>
                  <a:bodyPr xmlns:a="http://schemas.openxmlformats.org/drawingml/2006/main"/>
                  <a:lstStyle xmlns:a="http://schemas.openxmlformats.org/drawingml/2006/main"/>
                  <a:p xmlns:a="http://schemas.openxmlformats.org/drawingml/2006/main">
                    <a:r>
                      <a:rPr sz="2100" b="1">
                        <a:solidFill>
                          <a:srgbClr val="183247"/>
                        </a:solidFill>
                        <a:latin typeface="Arial"/>
                        <a:ea typeface="Arial"/>
                        <a:cs typeface="Arial"/>
                      </a:rPr>
                      <a:t>E</a:t>
                    </a:r>
                  </a:p>
                </c:rich>
              </c:tx>
              <c:txPr>
                <a:bodyPr xmlns:a="http://schemas.openxmlformats.org/drawingml/2006/main" anchorCtr="1"/>
                <a:lstStyle xmlns:a="http://schemas.openxmlformats.org/drawingml/2006/main"/>
                <a:p xmlns:a="http://schemas.openxmlformats.org/drawingml/2006/main">
                  <a:pPr>
                    <a:defRPr sz="2100" b="1">
                      <a:solidFill>
                        <a:srgbClr val="183247"/>
                      </a:solidFill>
                      <a:latin typeface="Arial"/>
                      <a:ea typeface="Arial"/>
                      <a:cs typeface="Arial"/>
                    </a:defRPr>
                  </a:pPr>
                </a:p>
              </c:txPr>
              <c:showLegendKey val="0"/>
              <c:showVal val="0"/>
              <c:showCatName val="0"/>
              <c:showSerName val="0"/>
              <c:showPercent val="0"/>
              <c:showBubbleSize val="0"/>
            </c:dLbl>
          </c:dLbls>
          <c:xVal>
            <c:numRef>
              <c:f>'Chart Data'!$EG$2:$EG$2</c:f>
              <c:numCache>
                <c:formatCode>General</c:formatCode>
                <c:ptCount val="1"/>
                <c:pt idx="0">
                  <c:v>60</c:v>
                </c:pt>
              </c:numCache>
            </c:numRef>
          </c:xVal>
          <c:yVal>
            <c:numRef>
              <c:f>'Chart Data'!$EH$2:$EH$2</c:f>
              <c:numCache>
                <c:formatCode>0</c:formatCode>
                <c:ptCount val="1"/>
                <c:pt idx="0">
                  <c:v>20</c:v>
                </c:pt>
              </c:numCache>
            </c:numRef>
          </c:yVal>
        </c:ser>
        <c:ser>
          <c:idx val="69"/>
          <c:order val="69"/>
          <c:tx>
            <c:v>CS</c:v>
          </c:tx>
          <c:spPr>
            <a:ln xmlns:a="http://schemas.openxmlformats.org/drawingml/2006/main" w="0">
              <a:noFill/>
            </a:ln>
          </c:spPr>
          <c:marker>
            <c:symbol val="none"/>
            <c:size val="3"/>
          </c:marker>
          <c:dLbls>
            <c:dLbl>
              <c:idx val="0"/>
              <c:tx>
                <c:rich>
                  <a:bodyPr xmlns:a="http://schemas.openxmlformats.org/drawingml/2006/main"/>
                  <a:lstStyle xmlns:a="http://schemas.openxmlformats.org/drawingml/2006/main"/>
                  <a:p xmlns:a="http://schemas.openxmlformats.org/drawingml/2006/main">
                    <a:r>
                      <a:rPr sz="2100" b="1">
                        <a:solidFill>
                          <a:srgbClr val="183247"/>
                        </a:solidFill>
                        <a:latin typeface="Arial"/>
                        <a:ea typeface="Arial"/>
                        <a:cs typeface="Arial"/>
                      </a:rPr>
                      <a:t>CS</a:t>
                    </a:r>
                  </a:p>
                </c:rich>
              </c:tx>
              <c:txPr>
                <a:bodyPr xmlns:a="http://schemas.openxmlformats.org/drawingml/2006/main" anchorCtr="1"/>
                <a:lstStyle xmlns:a="http://schemas.openxmlformats.org/drawingml/2006/main"/>
                <a:p xmlns:a="http://schemas.openxmlformats.org/drawingml/2006/main">
                  <a:pPr>
                    <a:defRPr sz="2100" b="1">
                      <a:solidFill>
                        <a:srgbClr val="183247"/>
                      </a:solidFill>
                      <a:latin typeface="Arial"/>
                      <a:ea typeface="Arial"/>
                      <a:cs typeface="Arial"/>
                    </a:defRPr>
                  </a:pPr>
                </a:p>
              </c:txPr>
              <c:showLegendKey val="0"/>
              <c:showVal val="0"/>
              <c:showCatName val="0"/>
              <c:showSerName val="0"/>
              <c:showPercent val="0"/>
              <c:showBubbleSize val="0"/>
            </c:dLbl>
          </c:dLbls>
          <c:xVal>
            <c:numRef>
              <c:f>'Chart Data'!$EI$2:$EI$2</c:f>
              <c:numCache>
                <c:formatCode>General</c:formatCode>
                <c:ptCount val="1"/>
                <c:pt idx="0">
                  <c:v>12</c:v>
                </c:pt>
              </c:numCache>
            </c:numRef>
          </c:xVal>
          <c:yVal>
            <c:numRef>
              <c:f>'Chart Data'!$EJ$2:$EJ$2</c:f>
              <c:numCache>
                <c:formatCode>0</c:formatCode>
                <c:ptCount val="1"/>
                <c:pt idx="0">
                  <c:v>30.5</c:v>
                </c:pt>
              </c:numCache>
            </c:numRef>
          </c:yVal>
        </c:ser>
        <c:ser>
          <c:idx val="70"/>
          <c:order val="70"/>
          <c:tx>
            <c:v>PS</c:v>
          </c:tx>
          <c:spPr>
            <a:ln xmlns:a="http://schemas.openxmlformats.org/drawingml/2006/main" w="0">
              <a:noFill/>
            </a:ln>
          </c:spPr>
          <c:marker>
            <c:symbol val="none"/>
            <c:size val="3"/>
          </c:marker>
          <c:dLbls>
            <c:dLbl>
              <c:idx val="0"/>
              <c:tx>
                <c:rich>
                  <a:bodyPr xmlns:a="http://schemas.openxmlformats.org/drawingml/2006/main"/>
                  <a:lstStyle xmlns:a="http://schemas.openxmlformats.org/drawingml/2006/main"/>
                  <a:p xmlns:a="http://schemas.openxmlformats.org/drawingml/2006/main">
                    <a:r>
                      <a:rPr sz="2100" b="1">
                        <a:solidFill>
                          <a:srgbClr val="183247"/>
                        </a:solidFill>
                        <a:latin typeface="Arial"/>
                        <a:ea typeface="Arial"/>
                        <a:cs typeface="Arial"/>
                      </a:rPr>
                      <a:t>PS</a:t>
                    </a:r>
                  </a:p>
                </c:rich>
              </c:tx>
              <c:txPr>
                <a:bodyPr xmlns:a="http://schemas.openxmlformats.org/drawingml/2006/main" anchorCtr="1"/>
                <a:lstStyle xmlns:a="http://schemas.openxmlformats.org/drawingml/2006/main"/>
                <a:p xmlns:a="http://schemas.openxmlformats.org/drawingml/2006/main">
                  <a:pPr>
                    <a:defRPr sz="2100" b="1">
                      <a:solidFill>
                        <a:srgbClr val="183247"/>
                      </a:solidFill>
                      <a:latin typeface="Arial"/>
                      <a:ea typeface="Arial"/>
                      <a:cs typeface="Arial"/>
                    </a:defRPr>
                  </a:pPr>
                </a:p>
              </c:txPr>
              <c:showLegendKey val="0"/>
              <c:showVal val="0"/>
              <c:showCatName val="0"/>
              <c:showSerName val="0"/>
              <c:showPercent val="0"/>
              <c:showBubbleSize val="0"/>
            </c:dLbl>
          </c:dLbls>
          <c:xVal>
            <c:numRef>
              <c:f>'Chart Data'!$EK$2:$EK$2</c:f>
              <c:numCache>
                <c:formatCode>General</c:formatCode>
                <c:ptCount val="1"/>
                <c:pt idx="0">
                  <c:v>12</c:v>
                </c:pt>
              </c:numCache>
            </c:numRef>
          </c:xVal>
          <c:yVal>
            <c:numRef>
              <c:f>'Chart Data'!$EL$2:$EL$2</c:f>
              <c:numCache>
                <c:formatCode>0</c:formatCode>
                <c:ptCount val="1"/>
                <c:pt idx="0">
                  <c:v>12.5</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50"/>
          <c:min val="0"/>
        </c:scaling>
        <c:delete val="0"/>
        <c:axPos val="l"/>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1875">
                    <a:solidFill>
                      <a:srgbClr val="183247"/>
                    </a:solidFill>
                    <a:latin typeface="Arial"/>
                    <a:ea typeface="Arial"/>
                    <a:cs typeface="Arial"/>
                  </a:rPr>
                  <a:t>P (€ per kaartje)</a:t>
                </a:r>
              </a:p>
            </c:rich>
          </c:tx>
          <c:overlay val="0"/>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crossAx val="48650112"/>
        <c:majorUnit val="10"/>
      </c:valAx>
      <c:valAx>
        <c:axId val="48650112"/>
        <c:scaling>
          <c:orientation val="minMax"/>
          <c:max val="100"/>
          <c:min val="0"/>
        </c:scaling>
        <c:delete val="0"/>
        <c:axPos val="b"/>
        <c:title>
          <c:tx>
            <c:rich>
              <a:bodyPr xmlns:a="http://schemas.openxmlformats.org/drawingml/2006/main"/>
              <a:lstStyle xmlns:a="http://schemas.openxmlformats.org/drawingml/2006/main"/>
              <a:p xmlns:a="http://schemas.openxmlformats.org/drawingml/2006/main">
                <a:r>
                  <a:rPr sz="1875">
                    <a:solidFill>
                      <a:srgbClr val="183247"/>
                    </a:solidFill>
                    <a:latin typeface="Arial"/>
                    <a:ea typeface="Arial"/>
                    <a:cs typeface="Arial"/>
                  </a:rPr>
                  <a:t>Q (kaartjes)</a:t>
                </a:r>
              </a:p>
            </c:rich>
          </c:tx>
          <c:overlay val="0"/>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crossAx val="48672768"/>
        <c:majorUnit val="20"/>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Deze les: §2.3.2 Producentensurplus en totaal surplus">
            <a:extLst xmlns:a="http://schemas.openxmlformats.org/drawingml/2006/main">
              <a:ext uri="{FF2B5EF4-FFF2-40B4-BE49-F238E27FC236}">
                <a16:creationId xmlns:a16="http://schemas.microsoft.com/office/drawing/2014/main" id="{3FBB1DD0-8E75-4103-88DE-C983E128F086}"/>
              </a:ext>
            </a:extLst>
          </p:cNvPr>
          <p:cNvSpPr>
            <a:spLocks xmlns:a="http://schemas.openxmlformats.org/drawingml/2006/main" noGrp="1"/>
          </p:cNvSpPr>
          <p:nvPr/>
        </p:nvSpPr>
        <p:spPr>
          <a:xfrm xmlns:a="http://schemas.openxmlformats.org/drawingml/2006/main">
            <a:off x="571500" y="361950"/>
            <a:ext cx="14097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83247"/>
                </a:solidFill>
                <a:latin typeface="Arial"/>
                <a:ea typeface="Arial"/>
                <a:cs typeface="Arial"/>
              </a:defRPr>
            </a:pPr>
            <a:r>
              <a:rPr sz="3300" b="1">
                <a:solidFill>
                  <a:srgbClr val="183247"/>
                </a:solidFill>
                <a:latin typeface="Arial"/>
                <a:ea typeface="Arial"/>
                <a:cs typeface="Arial"/>
              </a:rPr>
              <a:t>Deze les: §2.3.2 Producentensurplus en totaal surplus</a:t>
            </a:r>
          </a:p>
        </p:txBody>
      </p:sp>
      <p:sp>
        <p:nvSpPr>
          <p:cNvPr id="2" name="">
            <a:extLst xmlns:a="http://schemas.openxmlformats.org/drawingml/2006/main">
              <a:ext uri="{FF2B5EF4-FFF2-40B4-BE49-F238E27FC236}">
                <a16:creationId xmlns:a16="http://schemas.microsoft.com/office/drawing/2014/main" id="{CE90E898-D4E5-4603-B873-C49D03D03814}"/>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2.3.2 Producentensurplus en totaal surplus">
            <a:extLst xmlns:a="http://schemas.openxmlformats.org/drawingml/2006/main">
              <a:ext uri="{FF2B5EF4-FFF2-40B4-BE49-F238E27FC236}">
                <a16:creationId xmlns:a16="http://schemas.microsoft.com/office/drawing/2014/main" id="{6388B5A9-7F77-4FA2-B050-C1BCBA6473C9}"/>
              </a:ext>
            </a:extLst>
          </p:cNvPr>
          <p:cNvSpPr>
            <a:spLocks xmlns:a="http://schemas.openxmlformats.org/drawingml/2006/main" noGrp="1"/>
          </p:cNvSpPr>
          <p:nvPr/>
        </p:nvSpPr>
        <p:spPr>
          <a:xfrm xmlns:a="http://schemas.openxmlformats.org/drawingml/2006/main">
            <a:off x="571500" y="8077200"/>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§2.3.2 Producentensurplus en totaal surplus</a:t>
            </a:r>
          </a:p>
        </p:txBody>
      </p:sp>
      <p:sp>
        <p:nvSpPr>
          <p:cNvPr id="4" name="1">
            <a:extLst xmlns:a="http://schemas.openxmlformats.org/drawingml/2006/main">
              <a:ext uri="{FF2B5EF4-FFF2-40B4-BE49-F238E27FC236}">
                <a16:creationId xmlns:a16="http://schemas.microsoft.com/office/drawing/2014/main" id="{97E82D33-9374-4CAB-8AC0-AFB2A855E426}"/>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a:t>
            </a:r>
          </a:p>
        </p:txBody>
      </p:sp>
      <p:sp>
        <p:nvSpPr>
          <p:cNvPr id="5" name="phase">
            <a:extLst xmlns:a="http://schemas.openxmlformats.org/drawingml/2006/main">
              <a:ext uri="{FF2B5EF4-FFF2-40B4-BE49-F238E27FC236}">
                <a16:creationId xmlns:a16="http://schemas.microsoft.com/office/drawing/2014/main" id="{C2D9BF18-4272-4E06-9ABF-B16D31FC3730}"/>
              </a:ext>
            </a:extLst>
          </p:cNvPr>
          <p:cNvSpPr>
            <a:spLocks xmlns:a="http://schemas.openxmlformats.org/drawingml/2006/main" noGrp="1"/>
          </p:cNvSpPr>
          <p:nvPr/>
        </p:nvSpPr>
        <p:spPr>
          <a:xfrm xmlns:a="http://schemas.openxmlformats.org/drawingml/2006/main">
            <a:off x="571500" y="1000125"/>
            <a:ext cx="13811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Nu: Startopdracht</a:t>
            </a:r>
          </a:p>
        </p:txBody>
      </p:sp>
      <p:sp>
        <p:nvSpPr>
          <p:cNvPr id="6" name="Lesroute">
            <a:extLst xmlns:a="http://schemas.openxmlformats.org/drawingml/2006/main">
              <a:ext uri="{FF2B5EF4-FFF2-40B4-BE49-F238E27FC236}">
                <a16:creationId xmlns:a16="http://schemas.microsoft.com/office/drawing/2014/main" id="{8ECF283F-4462-4BB0-8F30-01ECFC9FE624}"/>
              </a:ext>
            </a:extLst>
          </p:cNvPr>
          <p:cNvSpPr>
            <a:spLocks xmlns:a="http://schemas.openxmlformats.org/drawingml/2006/main" noGrp="1"/>
          </p:cNvSpPr>
          <p:nvPr/>
        </p:nvSpPr>
        <p:spPr>
          <a:xfrm xmlns:a="http://schemas.openxmlformats.org/drawingml/2006/main">
            <a:off x="571500" y="1762125"/>
            <a:ext cx="7953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Lesroute</a:t>
            </a:r>
          </a:p>
        </p:txBody>
      </p:sp>
      <p:sp>
        <p:nvSpPr>
          <p:cNvPr id="7" name="route-number-1">
            <a:extLst xmlns:a="http://schemas.openxmlformats.org/drawingml/2006/main">
              <a:ext uri="{FF2B5EF4-FFF2-40B4-BE49-F238E27FC236}">
                <a16:creationId xmlns:a16="http://schemas.microsoft.com/office/drawing/2014/main" id="{38CE88F8-9392-481F-8686-236159AF1EFF}"/>
              </a:ext>
            </a:extLst>
          </p:cNvPr>
          <p:cNvSpPr>
            <a:spLocks xmlns:a="http://schemas.openxmlformats.org/drawingml/2006/main" noGrp="1"/>
          </p:cNvSpPr>
          <p:nvPr/>
        </p:nvSpPr>
        <p:spPr>
          <a:xfrm xmlns:a="http://schemas.openxmlformats.org/drawingml/2006/main">
            <a:off x="571500" y="2324100"/>
            <a:ext cx="457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1.</a:t>
            </a:r>
          </a:p>
        </p:txBody>
      </p:sp>
      <p:sp>
        <p:nvSpPr>
          <p:cNvPr id="8" name="route-1">
            <a:extLst xmlns:a="http://schemas.openxmlformats.org/drawingml/2006/main">
              <a:ext uri="{FF2B5EF4-FFF2-40B4-BE49-F238E27FC236}">
                <a16:creationId xmlns:a16="http://schemas.microsoft.com/office/drawing/2014/main" id="{B8CFEAAD-A84F-4863-B3F0-0AA9C935EE5E}"/>
              </a:ext>
            </a:extLst>
          </p:cNvPr>
          <p:cNvSpPr>
            <a:spLocks xmlns:a="http://schemas.openxmlformats.org/drawingml/2006/main" noGrp="1"/>
          </p:cNvSpPr>
          <p:nvPr/>
        </p:nvSpPr>
        <p:spPr>
          <a:xfrm xmlns:a="http://schemas.openxmlformats.org/drawingml/2006/main">
            <a:off x="1104900" y="2324100"/>
            <a:ext cx="7524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Jas in de kluis of aan de kapstok. Pak agenda, schrift, pen en rekenmachine.</a:t>
            </a:r>
          </a:p>
        </p:txBody>
      </p:sp>
      <p:sp>
        <p:nvSpPr>
          <p:cNvPr id="9" name="route-number-2">
            <a:extLst xmlns:a="http://schemas.openxmlformats.org/drawingml/2006/main">
              <a:ext uri="{FF2B5EF4-FFF2-40B4-BE49-F238E27FC236}">
                <a16:creationId xmlns:a16="http://schemas.microsoft.com/office/drawing/2014/main" id="{E7602BFF-8858-4775-97D4-E1FDE727EDEE}"/>
              </a:ext>
            </a:extLst>
          </p:cNvPr>
          <p:cNvSpPr>
            <a:spLocks xmlns:a="http://schemas.openxmlformats.org/drawingml/2006/main" noGrp="1"/>
          </p:cNvSpPr>
          <p:nvPr/>
        </p:nvSpPr>
        <p:spPr>
          <a:xfrm xmlns:a="http://schemas.openxmlformats.org/drawingml/2006/main">
            <a:off x="571500" y="320040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2.</a:t>
            </a:r>
          </a:p>
        </p:txBody>
      </p:sp>
      <p:sp>
        <p:nvSpPr>
          <p:cNvPr id="10" name="route-2">
            <a:extLst xmlns:a="http://schemas.openxmlformats.org/drawingml/2006/main">
              <a:ext uri="{FF2B5EF4-FFF2-40B4-BE49-F238E27FC236}">
                <a16:creationId xmlns:a16="http://schemas.microsoft.com/office/drawing/2014/main" id="{B87D1EF2-F704-4D0D-A3CD-2F2443F4CDC3}"/>
              </a:ext>
            </a:extLst>
          </p:cNvPr>
          <p:cNvSpPr>
            <a:spLocks xmlns:a="http://schemas.openxmlformats.org/drawingml/2006/main" noGrp="1"/>
          </p:cNvSpPr>
          <p:nvPr/>
        </p:nvSpPr>
        <p:spPr>
          <a:xfrm xmlns:a="http://schemas.openxmlformats.org/drawingml/2006/main">
            <a:off x="1104900" y="3200400"/>
            <a:ext cx="7524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Maak de startopdracht.</a:t>
            </a:r>
          </a:p>
        </p:txBody>
      </p:sp>
      <p:sp>
        <p:nvSpPr>
          <p:cNvPr id="11" name="route-number-3">
            <a:extLst xmlns:a="http://schemas.openxmlformats.org/drawingml/2006/main">
              <a:ext uri="{FF2B5EF4-FFF2-40B4-BE49-F238E27FC236}">
                <a16:creationId xmlns:a16="http://schemas.microsoft.com/office/drawing/2014/main" id="{B81801CA-5B3C-4072-B662-C071FFF11B11}"/>
              </a:ext>
            </a:extLst>
          </p:cNvPr>
          <p:cNvSpPr>
            <a:spLocks xmlns:a="http://schemas.openxmlformats.org/drawingml/2006/main" noGrp="1"/>
          </p:cNvSpPr>
          <p:nvPr/>
        </p:nvSpPr>
        <p:spPr>
          <a:xfrm xmlns:a="http://schemas.openxmlformats.org/drawingml/2006/main">
            <a:off x="571500" y="371475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3.</a:t>
            </a:r>
          </a:p>
        </p:txBody>
      </p:sp>
      <p:sp>
        <p:nvSpPr>
          <p:cNvPr id="12" name="route-3">
            <a:extLst xmlns:a="http://schemas.openxmlformats.org/drawingml/2006/main">
              <a:ext uri="{FF2B5EF4-FFF2-40B4-BE49-F238E27FC236}">
                <a16:creationId xmlns:a16="http://schemas.microsoft.com/office/drawing/2014/main" id="{6F3AC546-F961-4ACC-9F8F-B07D5B6F5C09}"/>
              </a:ext>
            </a:extLst>
          </p:cNvPr>
          <p:cNvSpPr>
            <a:spLocks xmlns:a="http://schemas.openxmlformats.org/drawingml/2006/main" noGrp="1"/>
          </p:cNvSpPr>
          <p:nvPr/>
        </p:nvSpPr>
        <p:spPr>
          <a:xfrm xmlns:a="http://schemas.openxmlformats.org/drawingml/2006/main">
            <a:off x="1104900" y="3714750"/>
            <a:ext cx="7524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Uitleg bij de lesdoelen.</a:t>
            </a:r>
          </a:p>
        </p:txBody>
      </p:sp>
      <p:sp>
        <p:nvSpPr>
          <p:cNvPr id="13" name="route-number-4">
            <a:extLst xmlns:a="http://schemas.openxmlformats.org/drawingml/2006/main">
              <a:ext uri="{FF2B5EF4-FFF2-40B4-BE49-F238E27FC236}">
                <a16:creationId xmlns:a16="http://schemas.microsoft.com/office/drawing/2014/main" id="{F18A71EA-0AD1-4062-812A-1C5CF840321E}"/>
              </a:ext>
            </a:extLst>
          </p:cNvPr>
          <p:cNvSpPr>
            <a:spLocks xmlns:a="http://schemas.openxmlformats.org/drawingml/2006/main" noGrp="1"/>
          </p:cNvSpPr>
          <p:nvPr/>
        </p:nvSpPr>
        <p:spPr>
          <a:xfrm xmlns:a="http://schemas.openxmlformats.org/drawingml/2006/main">
            <a:off x="571500" y="4248150"/>
            <a:ext cx="457200"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4.</a:t>
            </a:r>
          </a:p>
        </p:txBody>
      </p:sp>
      <p:sp>
        <p:nvSpPr>
          <p:cNvPr id="14" name="route-4">
            <a:extLst xmlns:a="http://schemas.openxmlformats.org/drawingml/2006/main">
              <a:ext uri="{FF2B5EF4-FFF2-40B4-BE49-F238E27FC236}">
                <a16:creationId xmlns:a16="http://schemas.microsoft.com/office/drawing/2014/main" id="{F84C3369-A6ED-4C08-839C-4CCCD209036F}"/>
              </a:ext>
            </a:extLst>
          </p:cNvPr>
          <p:cNvSpPr>
            <a:spLocks xmlns:a="http://schemas.openxmlformats.org/drawingml/2006/main" noGrp="1"/>
          </p:cNvSpPr>
          <p:nvPr/>
        </p:nvSpPr>
        <p:spPr>
          <a:xfrm xmlns:a="http://schemas.openxmlformats.org/drawingml/2006/main">
            <a:off x="1104900" y="4248150"/>
            <a:ext cx="7524750"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Begin bij de basisopgaven en stel vragen. Lukt dat goed, ga dan naar de zelfstandige oefening. Maak daarna de doelopgave en kijk vervolgens je antwoorden na.</a:t>
            </a:r>
          </a:p>
        </p:txBody>
      </p:sp>
      <p:sp>
        <p:nvSpPr>
          <p:cNvPr id="15" name="route-number-5">
            <a:extLst xmlns:a="http://schemas.openxmlformats.org/drawingml/2006/main">
              <a:ext uri="{FF2B5EF4-FFF2-40B4-BE49-F238E27FC236}">
                <a16:creationId xmlns:a16="http://schemas.microsoft.com/office/drawing/2014/main" id="{48F1526B-57C5-4F69-9545-0EB2B2A77977}"/>
              </a:ext>
            </a:extLst>
          </p:cNvPr>
          <p:cNvSpPr>
            <a:spLocks xmlns:a="http://schemas.openxmlformats.org/drawingml/2006/main" noGrp="1"/>
          </p:cNvSpPr>
          <p:nvPr/>
        </p:nvSpPr>
        <p:spPr>
          <a:xfrm xmlns:a="http://schemas.openxmlformats.org/drawingml/2006/main">
            <a:off x="571500" y="6057900"/>
            <a:ext cx="4572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5.</a:t>
            </a:r>
          </a:p>
        </p:txBody>
      </p:sp>
      <p:sp>
        <p:nvSpPr>
          <p:cNvPr id="16" name="route-5">
            <a:extLst xmlns:a="http://schemas.openxmlformats.org/drawingml/2006/main">
              <a:ext uri="{FF2B5EF4-FFF2-40B4-BE49-F238E27FC236}">
                <a16:creationId xmlns:a16="http://schemas.microsoft.com/office/drawing/2014/main" id="{76F8B5E7-40F1-479E-8139-12C772CD103A}"/>
              </a:ext>
            </a:extLst>
          </p:cNvPr>
          <p:cNvSpPr>
            <a:spLocks xmlns:a="http://schemas.openxmlformats.org/drawingml/2006/main" noGrp="1"/>
          </p:cNvSpPr>
          <p:nvPr/>
        </p:nvSpPr>
        <p:spPr>
          <a:xfrm xmlns:a="http://schemas.openxmlformats.org/drawingml/2006/main">
            <a:off x="1104900" y="6057900"/>
            <a:ext cx="75247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Klaar? Werk aan een ander vak. Geen devices.</a:t>
            </a:r>
          </a:p>
        </p:txBody>
      </p:sp>
      <p:sp>
        <p:nvSpPr>
          <p:cNvPr id="17" name="route-number-6">
            <a:extLst xmlns:a="http://schemas.openxmlformats.org/drawingml/2006/main">
              <a:ext uri="{FF2B5EF4-FFF2-40B4-BE49-F238E27FC236}">
                <a16:creationId xmlns:a16="http://schemas.microsoft.com/office/drawing/2014/main" id="{E24474F7-F0BB-477F-88EB-8B4B8581E4AE}"/>
              </a:ext>
            </a:extLst>
          </p:cNvPr>
          <p:cNvSpPr>
            <a:spLocks xmlns:a="http://schemas.openxmlformats.org/drawingml/2006/main" noGrp="1"/>
          </p:cNvSpPr>
          <p:nvPr/>
        </p:nvSpPr>
        <p:spPr>
          <a:xfrm xmlns:a="http://schemas.openxmlformats.org/drawingml/2006/main">
            <a:off x="571500" y="6819900"/>
            <a:ext cx="457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6.</a:t>
            </a:r>
          </a:p>
        </p:txBody>
      </p:sp>
      <p:sp>
        <p:nvSpPr>
          <p:cNvPr id="18" name="route-6">
            <a:extLst xmlns:a="http://schemas.openxmlformats.org/drawingml/2006/main">
              <a:ext uri="{FF2B5EF4-FFF2-40B4-BE49-F238E27FC236}">
                <a16:creationId xmlns:a16="http://schemas.microsoft.com/office/drawing/2014/main" id="{9DA69601-E56B-4C01-9D53-CA53CD910213}"/>
              </a:ext>
            </a:extLst>
          </p:cNvPr>
          <p:cNvSpPr>
            <a:spLocks xmlns:a="http://schemas.openxmlformats.org/drawingml/2006/main" noGrp="1"/>
          </p:cNvSpPr>
          <p:nvPr/>
        </p:nvSpPr>
        <p:spPr>
          <a:xfrm xmlns:a="http://schemas.openxmlformats.org/drawingml/2006/main">
            <a:off x="1104900" y="6819900"/>
            <a:ext cx="7524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Bespreken van de doelopgave: opgave 8.</a:t>
            </a:r>
          </a:p>
        </p:txBody>
      </p:sp>
      <p:sp>
        <p:nvSpPr>
          <p:cNvPr id="19" name="route-number-7">
            <a:extLst xmlns:a="http://schemas.openxmlformats.org/drawingml/2006/main">
              <a:ext uri="{FF2B5EF4-FFF2-40B4-BE49-F238E27FC236}">
                <a16:creationId xmlns:a16="http://schemas.microsoft.com/office/drawing/2014/main" id="{B6490040-6FF3-4753-9F1A-B6B825ADEB72}"/>
              </a:ext>
            </a:extLst>
          </p:cNvPr>
          <p:cNvSpPr>
            <a:spLocks xmlns:a="http://schemas.openxmlformats.org/drawingml/2006/main" noGrp="1"/>
          </p:cNvSpPr>
          <p:nvPr/>
        </p:nvSpPr>
        <p:spPr>
          <a:xfrm xmlns:a="http://schemas.openxmlformats.org/drawingml/2006/main">
            <a:off x="571500" y="7372350"/>
            <a:ext cx="457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7.</a:t>
            </a:r>
          </a:p>
        </p:txBody>
      </p:sp>
      <p:sp>
        <p:nvSpPr>
          <p:cNvPr id="20" name="route-7">
            <a:extLst xmlns:a="http://schemas.openxmlformats.org/drawingml/2006/main">
              <a:ext uri="{FF2B5EF4-FFF2-40B4-BE49-F238E27FC236}">
                <a16:creationId xmlns:a16="http://schemas.microsoft.com/office/drawing/2014/main" id="{217F2EF9-6E6D-4E6D-99D3-66F27B62365A}"/>
              </a:ext>
            </a:extLst>
          </p:cNvPr>
          <p:cNvSpPr>
            <a:spLocks xmlns:a="http://schemas.openxmlformats.org/drawingml/2006/main" noGrp="1"/>
          </p:cNvSpPr>
          <p:nvPr/>
        </p:nvSpPr>
        <p:spPr>
          <a:xfrm xmlns:a="http://schemas.openxmlformats.org/drawingml/2006/main">
            <a:off x="1104900" y="7372350"/>
            <a:ext cx="7524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Zet je huiswerk in je agenda.</a:t>
            </a:r>
          </a:p>
        </p:txBody>
      </p:sp>
      <p:sp>
        <p:nvSpPr>
          <p:cNvPr id="21" name="Lesdoelen">
            <a:extLst xmlns:a="http://schemas.openxmlformats.org/drawingml/2006/main">
              <a:ext uri="{FF2B5EF4-FFF2-40B4-BE49-F238E27FC236}">
                <a16:creationId xmlns:a16="http://schemas.microsoft.com/office/drawing/2014/main" id="{50DA2C95-2F94-4FFA-8C4C-CDF329F6FCAC}"/>
              </a:ext>
            </a:extLst>
          </p:cNvPr>
          <p:cNvSpPr>
            <a:spLocks xmlns:a="http://schemas.openxmlformats.org/drawingml/2006/main" noGrp="1"/>
          </p:cNvSpPr>
          <p:nvPr/>
        </p:nvSpPr>
        <p:spPr>
          <a:xfrm xmlns:a="http://schemas.openxmlformats.org/drawingml/2006/main">
            <a:off x="9258300" y="176212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Lesdoelen</a:t>
            </a:r>
          </a:p>
        </p:txBody>
      </p:sp>
      <p:sp>
        <p:nvSpPr>
          <p:cNvPr id="22" name="overview-goals">
            <a:extLst xmlns:a="http://schemas.openxmlformats.org/drawingml/2006/main">
              <a:ext uri="{FF2B5EF4-FFF2-40B4-BE49-F238E27FC236}">
                <a16:creationId xmlns:a16="http://schemas.microsoft.com/office/drawing/2014/main" id="{763DF7B4-5990-427C-B6EA-2C9CBEA97A20}"/>
              </a:ext>
            </a:extLst>
          </p:cNvPr>
          <p:cNvSpPr>
            <a:spLocks xmlns:a="http://schemas.openxmlformats.org/drawingml/2006/main" noGrp="1"/>
          </p:cNvSpPr>
          <p:nvPr/>
        </p:nvSpPr>
        <p:spPr>
          <a:xfrm xmlns:a="http://schemas.openxmlformats.org/drawingml/2006/main">
            <a:off x="9258300" y="2324100"/>
            <a:ext cx="5381625"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Evenwicht, CS, PS en TS bepalen.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Met MK maximaal TS verklaren.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Efficiëntie en eerlijkheid scheiden.</a:t>
            </a:r>
          </a:p>
        </p:txBody>
      </p:sp>
      <p:sp>
        <p:nvSpPr>
          <p:cNvPr id="23" name="">
            <a:extLst xmlns:a="http://schemas.openxmlformats.org/drawingml/2006/main">
              <a:ext uri="{FF2B5EF4-FFF2-40B4-BE49-F238E27FC236}">
                <a16:creationId xmlns:a16="http://schemas.microsoft.com/office/drawing/2014/main" id="{6BEAD25D-992D-4130-8918-68EC0ED8F8CD}"/>
              </a:ext>
            </a:extLst>
          </p:cNvPr>
          <p:cNvSpPr>
            <a:spLocks xmlns:a="http://schemas.openxmlformats.org/drawingml/2006/main" noGrp="1"/>
          </p:cNvSpPr>
          <p:nvPr/>
        </p:nvSpPr>
        <p:spPr>
          <a:xfrm xmlns:a="http://schemas.openxmlformats.org/drawingml/2006/main">
            <a:off x="9258300" y="3562350"/>
            <a:ext cx="5410200" cy="0"/>
          </a:xfrm>
          <a:prstGeom xmlns:a="http://schemas.openxmlformats.org/drawingml/2006/main" prst="line">
            <a:avLst/>
          </a:prstGeom>
          <a:ln xmlns:a="http://schemas.openxmlformats.org/drawingml/2006/main" w="19050">
            <a:solidFill>
              <a:srgbClr val="C6D2DB"/>
            </a:solidFill>
          </a:ln>
        </p:spPr>
      </p:sp>
      <p:sp>
        <p:nvSpPr>
          <p:cNvPr id="24" name="Startopdracht">
            <a:extLst xmlns:a="http://schemas.openxmlformats.org/drawingml/2006/main">
              <a:ext uri="{FF2B5EF4-FFF2-40B4-BE49-F238E27FC236}">
                <a16:creationId xmlns:a16="http://schemas.microsoft.com/office/drawing/2014/main" id="{2E308438-368D-4458-A33F-02AEF39F7450}"/>
              </a:ext>
            </a:extLst>
          </p:cNvPr>
          <p:cNvSpPr>
            <a:spLocks xmlns:a="http://schemas.openxmlformats.org/drawingml/2006/main" noGrp="1"/>
          </p:cNvSpPr>
          <p:nvPr/>
        </p:nvSpPr>
        <p:spPr>
          <a:xfrm xmlns:a="http://schemas.openxmlformats.org/drawingml/2006/main">
            <a:off x="9258300" y="383857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7658A"/>
                </a:solidFill>
                <a:latin typeface="Arial"/>
                <a:ea typeface="Arial"/>
                <a:cs typeface="Arial"/>
              </a:defRPr>
            </a:pPr>
            <a:r>
              <a:rPr sz="2625" b="1">
                <a:solidFill>
                  <a:srgbClr val="17658A"/>
                </a:solidFill>
                <a:latin typeface="Arial"/>
                <a:ea typeface="Arial"/>
                <a:cs typeface="Arial"/>
              </a:rPr>
              <a:t>Startopdracht</a:t>
            </a:r>
          </a:p>
        </p:txBody>
      </p:sp>
      <p:sp>
        <p:nvSpPr>
          <p:cNvPr id="25" name="overview-start">
            <a:extLst xmlns:a="http://schemas.openxmlformats.org/drawingml/2006/main">
              <a:ext uri="{FF2B5EF4-FFF2-40B4-BE49-F238E27FC236}">
                <a16:creationId xmlns:a16="http://schemas.microsoft.com/office/drawing/2014/main" id="{F49E1B13-50B2-4709-A354-CE42FC83CD90}"/>
              </a:ext>
            </a:extLst>
          </p:cNvPr>
          <p:cNvSpPr>
            <a:spLocks xmlns:a="http://schemas.openxmlformats.org/drawingml/2006/main" noGrp="1"/>
          </p:cNvSpPr>
          <p:nvPr/>
        </p:nvSpPr>
        <p:spPr>
          <a:xfrm xmlns:a="http://schemas.openxmlformats.org/drawingml/2006/main">
            <a:off x="9258300" y="4371975"/>
            <a:ext cx="53816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Pagina 85 · Opgaven 1 en 2</a:t>
            </a:r>
          </a:p>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1: hulp p. 83; 2: verkennen p. 81</a:t>
            </a:r>
          </a:p>
        </p:txBody>
      </p:sp>
      <p:sp>
        <p:nvSpPr>
          <p:cNvPr id="26" name="">
            <a:extLst xmlns:a="http://schemas.openxmlformats.org/drawingml/2006/main">
              <a:ext uri="{FF2B5EF4-FFF2-40B4-BE49-F238E27FC236}">
                <a16:creationId xmlns:a16="http://schemas.microsoft.com/office/drawing/2014/main" id="{963CA5EF-2EDE-4AE7-9EE8-79A0E9685E14}"/>
              </a:ext>
            </a:extLst>
          </p:cNvPr>
          <p:cNvSpPr>
            <a:spLocks xmlns:a="http://schemas.openxmlformats.org/drawingml/2006/main" noGrp="1"/>
          </p:cNvSpPr>
          <p:nvPr/>
        </p:nvSpPr>
        <p:spPr>
          <a:xfrm xmlns:a="http://schemas.openxmlformats.org/drawingml/2006/main">
            <a:off x="9258300" y="5429250"/>
            <a:ext cx="5410200" cy="0"/>
          </a:xfrm>
          <a:prstGeom xmlns:a="http://schemas.openxmlformats.org/drawingml/2006/main" prst="line">
            <a:avLst/>
          </a:prstGeom>
          <a:ln xmlns:a="http://schemas.openxmlformats.org/drawingml/2006/main" w="19050">
            <a:solidFill>
              <a:srgbClr val="C6D2DB"/>
            </a:solidFill>
          </a:ln>
        </p:spPr>
      </p:sp>
      <p:sp>
        <p:nvSpPr>
          <p:cNvPr id="27" name="Huiswerk">
            <a:extLst xmlns:a="http://schemas.openxmlformats.org/drawingml/2006/main">
              <a:ext uri="{FF2B5EF4-FFF2-40B4-BE49-F238E27FC236}">
                <a16:creationId xmlns:a16="http://schemas.microsoft.com/office/drawing/2014/main" id="{D082831D-F310-493D-82CD-F4CFFC72366F}"/>
              </a:ext>
            </a:extLst>
          </p:cNvPr>
          <p:cNvSpPr>
            <a:spLocks xmlns:a="http://schemas.openxmlformats.org/drawingml/2006/main" noGrp="1"/>
          </p:cNvSpPr>
          <p:nvPr/>
        </p:nvSpPr>
        <p:spPr>
          <a:xfrm xmlns:a="http://schemas.openxmlformats.org/drawingml/2006/main">
            <a:off x="9258300" y="5695950"/>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Huiswerk</a:t>
            </a:r>
          </a:p>
        </p:txBody>
      </p:sp>
      <p:sp>
        <p:nvSpPr>
          <p:cNvPr id="28" name="overview-homework">
            <a:extLst xmlns:a="http://schemas.openxmlformats.org/drawingml/2006/main">
              <a:ext uri="{FF2B5EF4-FFF2-40B4-BE49-F238E27FC236}">
                <a16:creationId xmlns:a16="http://schemas.microsoft.com/office/drawing/2014/main" id="{F601597B-074B-420E-8BD5-D09277E52AF5}"/>
              </a:ext>
            </a:extLst>
          </p:cNvPr>
          <p:cNvSpPr>
            <a:spLocks xmlns:a="http://schemas.openxmlformats.org/drawingml/2006/main" noGrp="1"/>
          </p:cNvSpPr>
          <p:nvPr/>
        </p:nvSpPr>
        <p:spPr>
          <a:xfrm xmlns:a="http://schemas.openxmlformats.org/drawingml/2006/main">
            <a:off x="9258300" y="6229350"/>
            <a:ext cx="5381625"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§2.3.2 · Opgaven 3 t/m 8</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Basis: 3, 4 en 5</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Zelfstandig: 6 en 7</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Doelopgave: 8</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Maken en nakijken</a:t>
            </a:r>
          </a:p>
        </p:txBody>
      </p:sp>
    </p:spTree>
    <p:extLst>
      <p:ext uri="{BB962C8B-B14F-4D97-AF65-F5344CB8AC3E}">
        <p14:creationId xmlns:p14="http://schemas.microsoft.com/office/powerpoint/2010/main" val="136626819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Wat kun je na deze les?">
            <a:extLst xmlns:a="http://schemas.openxmlformats.org/drawingml/2006/main">
              <a:ext uri="{FF2B5EF4-FFF2-40B4-BE49-F238E27FC236}">
                <a16:creationId xmlns:a16="http://schemas.microsoft.com/office/drawing/2014/main" id="{A006A510-5823-4DDC-97CD-4D7496A77030}"/>
              </a:ext>
            </a:extLst>
          </p:cNvPr>
          <p:cNvSpPr>
            <a:spLocks xmlns:a="http://schemas.openxmlformats.org/drawingml/2006/main" noGrp="1"/>
          </p:cNvSpPr>
          <p:nvPr/>
        </p:nvSpPr>
        <p:spPr>
          <a:xfrm xmlns:a="http://schemas.openxmlformats.org/drawingml/2006/main">
            <a:off x="571500" y="361950"/>
            <a:ext cx="14097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Wat kun je na deze les?</a:t>
            </a:r>
          </a:p>
        </p:txBody>
      </p:sp>
      <p:sp>
        <p:nvSpPr>
          <p:cNvPr id="2" name="">
            <a:extLst xmlns:a="http://schemas.openxmlformats.org/drawingml/2006/main">
              <a:ext uri="{FF2B5EF4-FFF2-40B4-BE49-F238E27FC236}">
                <a16:creationId xmlns:a16="http://schemas.microsoft.com/office/drawing/2014/main" id="{BA179A17-43B8-4217-ABF1-328836E0E9ED}"/>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2.3.2 Producentensurplus en totaal surplus">
            <a:extLst xmlns:a="http://schemas.openxmlformats.org/drawingml/2006/main">
              <a:ext uri="{FF2B5EF4-FFF2-40B4-BE49-F238E27FC236}">
                <a16:creationId xmlns:a16="http://schemas.microsoft.com/office/drawing/2014/main" id="{A25BE8B8-2E33-4BE8-8636-8CA2BA211A1D}"/>
              </a:ext>
            </a:extLst>
          </p:cNvPr>
          <p:cNvSpPr>
            <a:spLocks xmlns:a="http://schemas.openxmlformats.org/drawingml/2006/main" noGrp="1"/>
          </p:cNvSpPr>
          <p:nvPr/>
        </p:nvSpPr>
        <p:spPr>
          <a:xfrm xmlns:a="http://schemas.openxmlformats.org/drawingml/2006/main">
            <a:off x="571500" y="8077200"/>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§2.3.2 Producentensurplus en totaal surplus</a:t>
            </a:r>
          </a:p>
        </p:txBody>
      </p:sp>
      <p:sp>
        <p:nvSpPr>
          <p:cNvPr id="4" name="2">
            <a:extLst xmlns:a="http://schemas.openxmlformats.org/drawingml/2006/main">
              <a:ext uri="{FF2B5EF4-FFF2-40B4-BE49-F238E27FC236}">
                <a16:creationId xmlns:a16="http://schemas.microsoft.com/office/drawing/2014/main" id="{6CBA7419-7330-41B3-858E-2B1615F620FD}"/>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a:t>
            </a:r>
          </a:p>
        </p:txBody>
      </p:sp>
      <p:sp>
        <p:nvSpPr>
          <p:cNvPr id="5" name="Evenwicht">
            <a:extLst xmlns:a="http://schemas.openxmlformats.org/drawingml/2006/main">
              <a:ext uri="{FF2B5EF4-FFF2-40B4-BE49-F238E27FC236}">
                <a16:creationId xmlns:a16="http://schemas.microsoft.com/office/drawing/2014/main" id="{7E1C06C1-7D02-48DB-8B1C-4109405D4D48}"/>
              </a:ext>
            </a:extLst>
          </p:cNvPr>
          <p:cNvSpPr>
            <a:spLocks xmlns:a="http://schemas.openxmlformats.org/drawingml/2006/main" noGrp="1"/>
          </p:cNvSpPr>
          <p:nvPr/>
        </p:nvSpPr>
        <p:spPr>
          <a:xfrm xmlns:a="http://schemas.openxmlformats.org/drawingml/2006/main">
            <a:off x="571500" y="1981200"/>
            <a:ext cx="4953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7658A"/>
                </a:solidFill>
                <a:latin typeface="Arial"/>
                <a:ea typeface="Arial"/>
                <a:cs typeface="Arial"/>
              </a:defRPr>
            </a:pPr>
            <a:r>
              <a:rPr sz="2700" b="1">
                <a:solidFill>
                  <a:srgbClr val="17658A"/>
                </a:solidFill>
                <a:latin typeface="Arial"/>
                <a:ea typeface="Arial"/>
                <a:cs typeface="Arial"/>
              </a:rPr>
              <a:t>Evenwicht</a:t>
            </a:r>
          </a:p>
        </p:txBody>
      </p:sp>
      <p:sp>
        <p:nvSpPr>
          <p:cNvPr id="6" name="Vraag en aanbod gelijkstellen en E markeren.">
            <a:extLst xmlns:a="http://schemas.openxmlformats.org/drawingml/2006/main">
              <a:ext uri="{FF2B5EF4-FFF2-40B4-BE49-F238E27FC236}">
                <a16:creationId xmlns:a16="http://schemas.microsoft.com/office/drawing/2014/main" id="{1336D6BB-DA05-4346-8FAB-70EDF1BC1C52}"/>
              </a:ext>
            </a:extLst>
          </p:cNvPr>
          <p:cNvSpPr>
            <a:spLocks xmlns:a="http://schemas.openxmlformats.org/drawingml/2006/main" noGrp="1"/>
          </p:cNvSpPr>
          <p:nvPr/>
        </p:nvSpPr>
        <p:spPr>
          <a:xfrm xmlns:a="http://schemas.openxmlformats.org/drawingml/2006/main">
            <a:off x="5905500" y="1981200"/>
            <a:ext cx="8763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0">
                <a:solidFill>
                  <a:srgbClr val="183247"/>
                </a:solidFill>
                <a:latin typeface="Arial"/>
                <a:ea typeface="Arial"/>
                <a:cs typeface="Arial"/>
              </a:defRPr>
            </a:pPr>
            <a:r>
              <a:rPr sz="2850" b="0">
                <a:solidFill>
                  <a:srgbClr val="183247"/>
                </a:solidFill>
                <a:latin typeface="Arial"/>
                <a:ea typeface="Arial"/>
                <a:cs typeface="Arial"/>
              </a:rPr>
              <a:t>Vraag en aanbod gelijkstellen en E markeren.</a:t>
            </a:r>
          </a:p>
        </p:txBody>
      </p:sp>
      <p:sp>
        <p:nvSpPr>
          <p:cNvPr id="7" name="Surplus">
            <a:extLst xmlns:a="http://schemas.openxmlformats.org/drawingml/2006/main">
              <a:ext uri="{FF2B5EF4-FFF2-40B4-BE49-F238E27FC236}">
                <a16:creationId xmlns:a16="http://schemas.microsoft.com/office/drawing/2014/main" id="{D0C981DF-E8A8-4393-87D7-F8C5D1F01215}"/>
              </a:ext>
            </a:extLst>
          </p:cNvPr>
          <p:cNvSpPr>
            <a:spLocks xmlns:a="http://schemas.openxmlformats.org/drawingml/2006/main" noGrp="1"/>
          </p:cNvSpPr>
          <p:nvPr/>
        </p:nvSpPr>
        <p:spPr>
          <a:xfrm xmlns:a="http://schemas.openxmlformats.org/drawingml/2006/main">
            <a:off x="571500" y="3390900"/>
            <a:ext cx="4953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7658A"/>
                </a:solidFill>
                <a:latin typeface="Arial"/>
                <a:ea typeface="Arial"/>
                <a:cs typeface="Arial"/>
              </a:defRPr>
            </a:pPr>
            <a:r>
              <a:rPr sz="2700" b="1">
                <a:solidFill>
                  <a:srgbClr val="17658A"/>
                </a:solidFill>
                <a:latin typeface="Arial"/>
                <a:ea typeface="Arial"/>
                <a:cs typeface="Arial"/>
              </a:rPr>
              <a:t>Surplus</a:t>
            </a:r>
          </a:p>
        </p:txBody>
      </p:sp>
      <p:sp>
        <p:nvSpPr>
          <p:cNvPr id="8" name="CS, PS en TS berekenen met basis, hoogte en eenheid.">
            <a:extLst xmlns:a="http://schemas.openxmlformats.org/drawingml/2006/main">
              <a:ext uri="{FF2B5EF4-FFF2-40B4-BE49-F238E27FC236}">
                <a16:creationId xmlns:a16="http://schemas.microsoft.com/office/drawing/2014/main" id="{B70BEEAE-A228-400C-96A4-81EA4932A2B3}"/>
              </a:ext>
            </a:extLst>
          </p:cNvPr>
          <p:cNvSpPr>
            <a:spLocks xmlns:a="http://schemas.openxmlformats.org/drawingml/2006/main" noGrp="1"/>
          </p:cNvSpPr>
          <p:nvPr/>
        </p:nvSpPr>
        <p:spPr>
          <a:xfrm xmlns:a="http://schemas.openxmlformats.org/drawingml/2006/main">
            <a:off x="5905500" y="3390900"/>
            <a:ext cx="8763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0">
                <a:solidFill>
                  <a:srgbClr val="183247"/>
                </a:solidFill>
                <a:latin typeface="Arial"/>
                <a:ea typeface="Arial"/>
                <a:cs typeface="Arial"/>
              </a:defRPr>
            </a:pPr>
            <a:r>
              <a:rPr sz="2850" b="0">
                <a:solidFill>
                  <a:srgbClr val="183247"/>
                </a:solidFill>
                <a:latin typeface="Arial"/>
                <a:ea typeface="Arial"/>
                <a:cs typeface="Arial"/>
              </a:rPr>
              <a:t>CS, PS en TS berekenen met basis, hoogte en eenheid.</a:t>
            </a:r>
          </a:p>
        </p:txBody>
      </p:sp>
      <p:sp>
        <p:nvSpPr>
          <p:cNvPr id="9" name="Extra handel">
            <a:extLst xmlns:a="http://schemas.openxmlformats.org/drawingml/2006/main">
              <a:ext uri="{FF2B5EF4-FFF2-40B4-BE49-F238E27FC236}">
                <a16:creationId xmlns:a16="http://schemas.microsoft.com/office/drawing/2014/main" id="{72949951-2C88-470B-8854-D7D0A3C6FD7D}"/>
              </a:ext>
            </a:extLst>
          </p:cNvPr>
          <p:cNvSpPr>
            <a:spLocks xmlns:a="http://schemas.openxmlformats.org/drawingml/2006/main" noGrp="1"/>
          </p:cNvSpPr>
          <p:nvPr/>
        </p:nvSpPr>
        <p:spPr>
          <a:xfrm xmlns:a="http://schemas.openxmlformats.org/drawingml/2006/main">
            <a:off x="571500" y="4800600"/>
            <a:ext cx="4953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7658A"/>
                </a:solidFill>
                <a:latin typeface="Arial"/>
                <a:ea typeface="Arial"/>
                <a:cs typeface="Arial"/>
              </a:defRPr>
            </a:pPr>
            <a:r>
              <a:rPr sz="2700" b="1">
                <a:solidFill>
                  <a:srgbClr val="17658A"/>
                </a:solidFill>
                <a:latin typeface="Arial"/>
                <a:ea typeface="Arial"/>
                <a:cs typeface="Arial"/>
              </a:rPr>
              <a:t>Extra handel</a:t>
            </a:r>
          </a:p>
        </p:txBody>
      </p:sp>
      <p:sp>
        <p:nvSpPr>
          <p:cNvPr id="10" name="Betalingsbereidheid met MK vergelijken.">
            <a:extLst xmlns:a="http://schemas.openxmlformats.org/drawingml/2006/main">
              <a:ext uri="{FF2B5EF4-FFF2-40B4-BE49-F238E27FC236}">
                <a16:creationId xmlns:a16="http://schemas.microsoft.com/office/drawing/2014/main" id="{B6FA6DE1-0016-4A34-90DC-B8BB798D8BEE}"/>
              </a:ext>
            </a:extLst>
          </p:cNvPr>
          <p:cNvSpPr>
            <a:spLocks xmlns:a="http://schemas.openxmlformats.org/drawingml/2006/main" noGrp="1"/>
          </p:cNvSpPr>
          <p:nvPr/>
        </p:nvSpPr>
        <p:spPr>
          <a:xfrm xmlns:a="http://schemas.openxmlformats.org/drawingml/2006/main">
            <a:off x="5905500" y="4800600"/>
            <a:ext cx="8763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0">
                <a:solidFill>
                  <a:srgbClr val="183247"/>
                </a:solidFill>
                <a:latin typeface="Arial"/>
                <a:ea typeface="Arial"/>
                <a:cs typeface="Arial"/>
              </a:defRPr>
            </a:pPr>
            <a:r>
              <a:rPr sz="2850" b="0">
                <a:solidFill>
                  <a:srgbClr val="183247"/>
                </a:solidFill>
                <a:latin typeface="Arial"/>
                <a:ea typeface="Arial"/>
                <a:cs typeface="Arial"/>
              </a:rPr>
              <a:t>Betalingsbereidheid met MK vergelijken.</a:t>
            </a:r>
          </a:p>
        </p:txBody>
      </p:sp>
      <p:sp>
        <p:nvSpPr>
          <p:cNvPr id="11" name="Betekenis">
            <a:extLst xmlns:a="http://schemas.openxmlformats.org/drawingml/2006/main">
              <a:ext uri="{FF2B5EF4-FFF2-40B4-BE49-F238E27FC236}">
                <a16:creationId xmlns:a16="http://schemas.microsoft.com/office/drawing/2014/main" id="{5236AA52-B532-4676-ACAA-B8EE997E0332}"/>
              </a:ext>
            </a:extLst>
          </p:cNvPr>
          <p:cNvSpPr>
            <a:spLocks xmlns:a="http://schemas.openxmlformats.org/drawingml/2006/main" noGrp="1"/>
          </p:cNvSpPr>
          <p:nvPr/>
        </p:nvSpPr>
        <p:spPr>
          <a:xfrm xmlns:a="http://schemas.openxmlformats.org/drawingml/2006/main">
            <a:off x="571500" y="6210300"/>
            <a:ext cx="4953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7658A"/>
                </a:solidFill>
                <a:latin typeface="Arial"/>
                <a:ea typeface="Arial"/>
                <a:cs typeface="Arial"/>
              </a:defRPr>
            </a:pPr>
            <a:r>
              <a:rPr sz="2700" b="1">
                <a:solidFill>
                  <a:srgbClr val="17658A"/>
                </a:solidFill>
                <a:latin typeface="Arial"/>
                <a:ea typeface="Arial"/>
                <a:cs typeface="Arial"/>
              </a:rPr>
              <a:t>Betekenis</a:t>
            </a:r>
          </a:p>
        </p:txBody>
      </p:sp>
      <p:sp>
        <p:nvSpPr>
          <p:cNvPr id="12" name="Maximaal TS onderscheiden van een eerlijke verdeling.">
            <a:extLst xmlns:a="http://schemas.openxmlformats.org/drawingml/2006/main">
              <a:ext uri="{FF2B5EF4-FFF2-40B4-BE49-F238E27FC236}">
                <a16:creationId xmlns:a16="http://schemas.microsoft.com/office/drawing/2014/main" id="{C46DE8D0-7E17-42BC-AD74-E1D67F74EA59}"/>
              </a:ext>
            </a:extLst>
          </p:cNvPr>
          <p:cNvSpPr>
            <a:spLocks xmlns:a="http://schemas.openxmlformats.org/drawingml/2006/main" noGrp="1"/>
          </p:cNvSpPr>
          <p:nvPr/>
        </p:nvSpPr>
        <p:spPr>
          <a:xfrm xmlns:a="http://schemas.openxmlformats.org/drawingml/2006/main">
            <a:off x="5905500" y="6210300"/>
            <a:ext cx="8763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0">
                <a:solidFill>
                  <a:srgbClr val="183247"/>
                </a:solidFill>
                <a:latin typeface="Arial"/>
                <a:ea typeface="Arial"/>
                <a:cs typeface="Arial"/>
              </a:defRPr>
            </a:pPr>
            <a:r>
              <a:rPr sz="2850" b="0">
                <a:solidFill>
                  <a:srgbClr val="183247"/>
                </a:solidFill>
                <a:latin typeface="Arial"/>
                <a:ea typeface="Arial"/>
                <a:cs typeface="Arial"/>
              </a:rPr>
              <a:t>Maximaal TS onderscheiden van een eerlijke verdeling.</a:t>
            </a:r>
          </a:p>
        </p:txBody>
      </p:sp>
    </p:spTree>
    <p:extLst>
      <p:ext uri="{BB962C8B-B14F-4D97-AF65-F5344CB8AC3E}">
        <p14:creationId xmlns:p14="http://schemas.microsoft.com/office/powerpoint/2010/main" val="147302258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Het voordeel van één transactie">
            <a:extLst xmlns:a="http://schemas.openxmlformats.org/drawingml/2006/main">
              <a:ext uri="{FF2B5EF4-FFF2-40B4-BE49-F238E27FC236}">
                <a16:creationId xmlns:a16="http://schemas.microsoft.com/office/drawing/2014/main" id="{E5E63A36-B0C8-472D-B473-218F47CD5608}"/>
              </a:ext>
            </a:extLst>
          </p:cNvPr>
          <p:cNvSpPr>
            <a:spLocks xmlns:a="http://schemas.openxmlformats.org/drawingml/2006/main" noGrp="1"/>
          </p:cNvSpPr>
          <p:nvPr/>
        </p:nvSpPr>
        <p:spPr>
          <a:xfrm xmlns:a="http://schemas.openxmlformats.org/drawingml/2006/main">
            <a:off x="571500" y="361950"/>
            <a:ext cx="14097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Het voordeel van één transactie</a:t>
            </a:r>
          </a:p>
        </p:txBody>
      </p:sp>
      <p:sp>
        <p:nvSpPr>
          <p:cNvPr id="2" name="">
            <a:extLst xmlns:a="http://schemas.openxmlformats.org/drawingml/2006/main">
              <a:ext uri="{FF2B5EF4-FFF2-40B4-BE49-F238E27FC236}">
                <a16:creationId xmlns:a16="http://schemas.microsoft.com/office/drawing/2014/main" id="{62951944-65AA-4881-887F-5B804CA42103}"/>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2.3.2 Producentensurplus en totaal surplus">
            <a:extLst xmlns:a="http://schemas.openxmlformats.org/drawingml/2006/main">
              <a:ext uri="{FF2B5EF4-FFF2-40B4-BE49-F238E27FC236}">
                <a16:creationId xmlns:a16="http://schemas.microsoft.com/office/drawing/2014/main" id="{FBD6F63C-D0C5-4CD1-982B-0E5700C2B046}"/>
              </a:ext>
            </a:extLst>
          </p:cNvPr>
          <p:cNvSpPr>
            <a:spLocks xmlns:a="http://schemas.openxmlformats.org/drawingml/2006/main" noGrp="1"/>
          </p:cNvSpPr>
          <p:nvPr/>
        </p:nvSpPr>
        <p:spPr>
          <a:xfrm xmlns:a="http://schemas.openxmlformats.org/drawingml/2006/main">
            <a:off x="571500" y="8077200"/>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§2.3.2 Producentensurplus en totaal surplus</a:t>
            </a:r>
          </a:p>
        </p:txBody>
      </p:sp>
      <p:sp>
        <p:nvSpPr>
          <p:cNvPr id="4" name="3">
            <a:extLst xmlns:a="http://schemas.openxmlformats.org/drawingml/2006/main">
              <a:ext uri="{FF2B5EF4-FFF2-40B4-BE49-F238E27FC236}">
                <a16:creationId xmlns:a16="http://schemas.microsoft.com/office/drawing/2014/main" id="{3B760086-CFB8-4ED2-B714-BE5067872BAE}"/>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3</a:t>
            </a:r>
          </a:p>
        </p:txBody>
      </p:sp>
      <p:sp>
        <p:nvSpPr>
          <p:cNvPr id="5" name="Uitlegvoorbeeld — niet uit het boek · Sleutelhanger">
            <a:extLst xmlns:a="http://schemas.openxmlformats.org/drawingml/2006/main">
              <a:ext uri="{FF2B5EF4-FFF2-40B4-BE49-F238E27FC236}">
                <a16:creationId xmlns:a16="http://schemas.microsoft.com/office/drawing/2014/main" id="{2BACB5E2-4B1E-40B8-84FE-CB8D5D37D0D8}"/>
              </a:ext>
            </a:extLst>
          </p:cNvPr>
          <p:cNvSpPr>
            <a:spLocks xmlns:a="http://schemas.openxmlformats.org/drawingml/2006/main" noGrp="1"/>
          </p:cNvSpPr>
          <p:nvPr/>
        </p:nvSpPr>
        <p:spPr>
          <a:xfrm xmlns:a="http://schemas.openxmlformats.org/drawingml/2006/main">
            <a:off x="571500" y="1733550"/>
            <a:ext cx="14097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7658A"/>
                </a:solidFill>
                <a:latin typeface="Arial"/>
                <a:ea typeface="Arial"/>
                <a:cs typeface="Arial"/>
              </a:defRPr>
            </a:pPr>
            <a:r>
              <a:rPr sz="2175" b="1">
                <a:solidFill>
                  <a:srgbClr val="17658A"/>
                </a:solidFill>
                <a:latin typeface="Arial"/>
                <a:ea typeface="Arial"/>
                <a:cs typeface="Arial"/>
              </a:rPr>
              <a:t>Uitlegvoorbeeld — niet uit het boek · Sleutelhanger</a:t>
            </a:r>
          </a:p>
        </p:txBody>
      </p:sp>
      <p:sp>
        <p:nvSpPr>
          <p:cNvPr id="6" name="Betalingsbereidheid € 18 · Prijs € 11 · MK € 6">
            <a:extLst xmlns:a="http://schemas.openxmlformats.org/drawingml/2006/main">
              <a:ext uri="{FF2B5EF4-FFF2-40B4-BE49-F238E27FC236}">
                <a16:creationId xmlns:a16="http://schemas.microsoft.com/office/drawing/2014/main" id="{EB45B04D-00F7-4177-8035-FC05278B378D}"/>
              </a:ext>
            </a:extLst>
          </p:cNvPr>
          <p:cNvSpPr>
            <a:spLocks xmlns:a="http://schemas.openxmlformats.org/drawingml/2006/main" noGrp="1"/>
          </p:cNvSpPr>
          <p:nvPr/>
        </p:nvSpPr>
        <p:spPr>
          <a:xfrm xmlns:a="http://schemas.openxmlformats.org/drawingml/2006/main">
            <a:off x="571500" y="2543175"/>
            <a:ext cx="1409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83247"/>
                </a:solidFill>
                <a:latin typeface="Arial"/>
                <a:ea typeface="Arial"/>
                <a:cs typeface="Arial"/>
              </a:defRPr>
            </a:pPr>
            <a:r>
              <a:rPr sz="3150" b="1">
                <a:solidFill>
                  <a:srgbClr val="183247"/>
                </a:solidFill>
                <a:latin typeface="Arial"/>
                <a:ea typeface="Arial"/>
                <a:cs typeface="Arial"/>
              </a:rPr>
              <a:t>Betalingsbereidheid € 18 · Prijs € 11 · MK € 6</a:t>
            </a:r>
          </a:p>
        </p:txBody>
      </p:sp>
      <p:graphicFrame>
        <p:nvGraphicFramePr>
          <p:cNvPr id="15" name=""/>
          <p:cNvGraphicFramePr/>
          <p:nvPr/>
        </p:nvGraphicFramePr>
        <p:xfrm>
          <a:off xmlns:a="http://schemas.openxmlformats.org/drawingml/2006/main" x="571500" y="3571875"/>
          <a:ext xmlns:a="http://schemas.openxmlformats.org/drawingml/2006/main" cx="14097000" cy="2476500"/>
        </p:xfrm>
        <a:graphic xmlns:a="http://schemas.openxmlformats.org/drawingml/2006/main">
          <a:graphicData uri="http://schemas.openxmlformats.org/drawingml/2006/table">
            <a:tbl>
              <a:tblPr/>
              <a:tblGrid>
                <a:gridCol w="5143500"/>
                <a:gridCol w="5334000"/>
                <a:gridCol w="3619500"/>
              </a:tblGrid>
              <a:tr h="825500">
                <a:tc>
                  <a:txBody>
                    <a:bodyPr lIns="171450" tIns="95250" rIns="152400" bIns="95250"/>
                    <a:lstStyle/>
                    <a:p>
                      <a:r>
                        <a:rPr sz="2775" b="1">
                          <a:solidFill>
                            <a:srgbClr val="FFFFFF"/>
                          </a:solidFill>
                          <a:latin typeface="Arial"/>
                          <a:ea typeface="Arial"/>
                          <a:cs typeface="Arial"/>
                        </a:rPr>
                        <a:t>Voor wie?</a:t>
                      </a:r>
                    </a:p>
                  </a:txBody>
                  <a:tcPr marL="91440" marR="91440" marT="45720" marB="45720" anchor="ctr">
                    <a:solidFill>
                      <a:srgbClr val="183247"/>
                    </a:solidFill>
                  </a:tcPr>
                </a:tc>
                <a:tc>
                  <a:txBody>
                    <a:bodyPr lIns="171450" tIns="95250" rIns="152400" bIns="95250"/>
                    <a:lstStyle/>
                    <a:p>
                      <a:r>
                        <a:rPr sz="2775" b="1">
                          <a:solidFill>
                            <a:srgbClr val="FFFFFF"/>
                          </a:solidFill>
                          <a:latin typeface="Arial"/>
                          <a:ea typeface="Arial"/>
                          <a:cs typeface="Arial"/>
                        </a:rPr>
                        <a:t>Vergelijking</a:t>
                      </a:r>
                    </a:p>
                  </a:txBody>
                  <a:tcPr marL="91440" marR="91440" marT="45720" marB="45720" anchor="ctr">
                    <a:solidFill>
                      <a:srgbClr val="183247"/>
                    </a:solidFill>
                  </a:tcPr>
                </a:tc>
                <a:tc>
                  <a:txBody>
                    <a:bodyPr lIns="171450" tIns="95250" rIns="152400" bIns="95250"/>
                    <a:lstStyle/>
                    <a:p>
                      <a:r>
                        <a:rPr sz="2775" b="1">
                          <a:solidFill>
                            <a:srgbClr val="FFFFFF"/>
                          </a:solidFill>
                          <a:latin typeface="Arial"/>
                          <a:ea typeface="Arial"/>
                          <a:cs typeface="Arial"/>
                        </a:rPr>
                        <a:t>Voordeel</a:t>
                      </a:r>
                    </a:p>
                  </a:txBody>
                  <a:tcPr marL="91440" marR="91440" marT="45720" marB="45720" anchor="ctr">
                    <a:solidFill>
                      <a:srgbClr val="183247"/>
                    </a:solidFill>
                  </a:tcPr>
                </a:tc>
              </a:tr>
              <a:tr h="825500">
                <a:tc>
                  <a:txBody>
                    <a:bodyPr lIns="171450" tIns="95250" rIns="152400" bIns="95250"/>
                    <a:lstStyle/>
                    <a:p>
                      <a:r>
                        <a:rPr sz="2775" b="0">
                          <a:solidFill>
                            <a:srgbClr val="183247"/>
                          </a:solidFill>
                          <a:latin typeface="Arial"/>
                          <a:ea typeface="Arial"/>
                          <a:cs typeface="Arial"/>
                        </a:rPr>
                        <a:t>Koper: CS</a:t>
                      </a:r>
                    </a:p>
                  </a:txBody>
                  <a:tcPr marL="91440" marR="91440" marT="45720" marB="45720" anchor="ctr">
                    <a:solidFill>
                      <a:srgbClr val="FFFFFF"/>
                    </a:solidFill>
                  </a:tcPr>
                </a:tc>
                <a:tc>
                  <a:txBody>
                    <a:bodyPr lIns="171450" tIns="95250" rIns="152400" bIns="95250"/>
                    <a:lstStyle/>
                    <a:p>
                      <a:r>
                        <a:rPr sz="2775" b="0">
                          <a:solidFill>
                            <a:srgbClr val="183247"/>
                          </a:solidFill>
                          <a:latin typeface="Arial"/>
                          <a:ea typeface="Arial"/>
                          <a:cs typeface="Arial"/>
                        </a:rPr>
                        <a:t>18 − 11</a:t>
                      </a:r>
                    </a:p>
                  </a:txBody>
                  <a:tcPr marL="91440" marR="91440" marT="45720" marB="45720" anchor="ctr">
                    <a:solidFill>
                      <a:srgbClr val="FFFFFF"/>
                    </a:solidFill>
                  </a:tcPr>
                </a:tc>
                <a:tc>
                  <a:txBody>
                    <a:bodyPr lIns="171450" tIns="95250" rIns="152400" bIns="95250"/>
                    <a:lstStyle/>
                    <a:p>
                      <a:r>
                        <a:rPr sz="2775" b="0">
                          <a:solidFill>
                            <a:srgbClr val="183247"/>
                          </a:solidFill>
                          <a:latin typeface="Arial"/>
                          <a:ea typeface="Arial"/>
                          <a:cs typeface="Arial"/>
                        </a:rPr>
                        <a:t>€ 7</a:t>
                      </a:r>
                    </a:p>
                  </a:txBody>
                  <a:tcPr marL="91440" marR="91440" marT="45720" marB="45720" anchor="ctr">
                    <a:solidFill>
                      <a:srgbClr val="FFFFFF"/>
                    </a:solidFill>
                  </a:tcPr>
                </a:tc>
              </a:tr>
              <a:tr h="825500">
                <a:tc>
                  <a:txBody>
                    <a:bodyPr lIns="171450" tIns="95250" rIns="152400" bIns="95250"/>
                    <a:lstStyle/>
                    <a:p>
                      <a:r>
                        <a:rPr sz="2775" b="0">
                          <a:solidFill>
                            <a:srgbClr val="183247"/>
                          </a:solidFill>
                          <a:latin typeface="Arial"/>
                          <a:ea typeface="Arial"/>
                          <a:cs typeface="Arial"/>
                        </a:rPr>
                        <a:t>Verkoper: PS</a:t>
                      </a:r>
                    </a:p>
                  </a:txBody>
                  <a:tcPr marL="91440" marR="91440" marT="45720" marB="45720" anchor="ctr">
                    <a:solidFill>
                      <a:srgbClr val="EFF4F7"/>
                    </a:solidFill>
                  </a:tcPr>
                </a:tc>
                <a:tc>
                  <a:txBody>
                    <a:bodyPr lIns="171450" tIns="95250" rIns="152400" bIns="95250"/>
                    <a:lstStyle/>
                    <a:p>
                      <a:r>
                        <a:rPr sz="2775" b="0">
                          <a:solidFill>
                            <a:srgbClr val="183247"/>
                          </a:solidFill>
                          <a:latin typeface="Arial"/>
                          <a:ea typeface="Arial"/>
                          <a:cs typeface="Arial"/>
                        </a:rPr>
                        <a:t>11 − 6</a:t>
                      </a:r>
                    </a:p>
                  </a:txBody>
                  <a:tcPr marL="91440" marR="91440" marT="45720" marB="45720" anchor="ctr">
                    <a:solidFill>
                      <a:srgbClr val="EFF4F7"/>
                    </a:solidFill>
                  </a:tcPr>
                </a:tc>
                <a:tc>
                  <a:txBody>
                    <a:bodyPr lIns="171450" tIns="95250" rIns="152400" bIns="95250"/>
                    <a:lstStyle/>
                    <a:p>
                      <a:r>
                        <a:rPr sz="2775" b="0">
                          <a:solidFill>
                            <a:srgbClr val="183247"/>
                          </a:solidFill>
                          <a:latin typeface="Arial"/>
                          <a:ea typeface="Arial"/>
                          <a:cs typeface="Arial"/>
                        </a:rPr>
                        <a:t>€ 5</a:t>
                      </a:r>
                    </a:p>
                  </a:txBody>
                  <a:tcPr marL="91440" marR="91440" marT="45720" marB="45720" anchor="ctr">
                    <a:solidFill>
                      <a:srgbClr val="EFF4F7"/>
                    </a:solidFill>
                  </a:tcPr>
                </a:tc>
              </a:tr>
            </a:tbl>
          </a:graphicData>
        </a:graphic>
      </p:graphicFrame>
      <p:sp>
        <p:nvSpPr>
          <p:cNvPr id="8" name="Samen: (18 − 11) + (11 − 6) = 18 − 6 = € 12">
            <a:extLst xmlns:a="http://schemas.openxmlformats.org/drawingml/2006/main">
              <a:ext uri="{FF2B5EF4-FFF2-40B4-BE49-F238E27FC236}">
                <a16:creationId xmlns:a16="http://schemas.microsoft.com/office/drawing/2014/main" id="{460B4E18-49BE-4DCF-9A25-2028B2F653DB}"/>
              </a:ext>
            </a:extLst>
          </p:cNvPr>
          <p:cNvSpPr>
            <a:spLocks xmlns:a="http://schemas.openxmlformats.org/drawingml/2006/main" noGrp="1"/>
          </p:cNvSpPr>
          <p:nvPr/>
        </p:nvSpPr>
        <p:spPr>
          <a:xfrm xmlns:a="http://schemas.openxmlformats.org/drawingml/2006/main">
            <a:off x="571500" y="6657975"/>
            <a:ext cx="14097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A94D16"/>
                </a:solidFill>
                <a:latin typeface="Arial"/>
                <a:ea typeface="Arial"/>
                <a:cs typeface="Arial"/>
              </a:defRPr>
            </a:pPr>
            <a:r>
              <a:rPr sz="3225" b="1">
                <a:solidFill>
                  <a:srgbClr val="A94D16"/>
                </a:solidFill>
                <a:latin typeface="Arial"/>
                <a:ea typeface="Arial"/>
                <a:cs typeface="Arial"/>
              </a:rPr>
              <a:t>Samen: (18 − 11) + (11 − 6) = 18 − 6 = € 12</a:t>
            </a:r>
          </a:p>
        </p:txBody>
      </p:sp>
    </p:spTree>
    <p:extLst>
      <p:ext uri="{BB962C8B-B14F-4D97-AF65-F5344CB8AC3E}">
        <p14:creationId xmlns:p14="http://schemas.microsoft.com/office/powerpoint/2010/main" val="107356785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Omzet, producentensurplus en winst">
            <a:extLst xmlns:a="http://schemas.openxmlformats.org/drawingml/2006/main">
              <a:ext uri="{FF2B5EF4-FFF2-40B4-BE49-F238E27FC236}">
                <a16:creationId xmlns:a16="http://schemas.microsoft.com/office/drawing/2014/main" id="{92DBBF41-A2E2-4CC9-82E9-39784D3FCEE1}"/>
              </a:ext>
            </a:extLst>
          </p:cNvPr>
          <p:cNvSpPr>
            <a:spLocks xmlns:a="http://schemas.openxmlformats.org/drawingml/2006/main" noGrp="1"/>
          </p:cNvSpPr>
          <p:nvPr/>
        </p:nvSpPr>
        <p:spPr>
          <a:xfrm xmlns:a="http://schemas.openxmlformats.org/drawingml/2006/main">
            <a:off x="571500" y="361950"/>
            <a:ext cx="14097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Omzet, producentensurplus en winst</a:t>
            </a:r>
          </a:p>
        </p:txBody>
      </p:sp>
      <p:sp>
        <p:nvSpPr>
          <p:cNvPr id="2" name="">
            <a:extLst xmlns:a="http://schemas.openxmlformats.org/drawingml/2006/main">
              <a:ext uri="{FF2B5EF4-FFF2-40B4-BE49-F238E27FC236}">
                <a16:creationId xmlns:a16="http://schemas.microsoft.com/office/drawing/2014/main" id="{D6AC8386-104A-4746-974C-5D74FDE6B4A1}"/>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2.3.2 Producentensurplus en totaal surplus">
            <a:extLst xmlns:a="http://schemas.openxmlformats.org/drawingml/2006/main">
              <a:ext uri="{FF2B5EF4-FFF2-40B4-BE49-F238E27FC236}">
                <a16:creationId xmlns:a16="http://schemas.microsoft.com/office/drawing/2014/main" id="{CCB50CA1-0BBA-47E0-8F29-4CD8DBB17751}"/>
              </a:ext>
            </a:extLst>
          </p:cNvPr>
          <p:cNvSpPr>
            <a:spLocks xmlns:a="http://schemas.openxmlformats.org/drawingml/2006/main" noGrp="1"/>
          </p:cNvSpPr>
          <p:nvPr/>
        </p:nvSpPr>
        <p:spPr>
          <a:xfrm xmlns:a="http://schemas.openxmlformats.org/drawingml/2006/main">
            <a:off x="571500" y="8077200"/>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§2.3.2 Producentensurplus en totaal surplus</a:t>
            </a:r>
          </a:p>
        </p:txBody>
      </p:sp>
      <p:sp>
        <p:nvSpPr>
          <p:cNvPr id="4" name="4">
            <a:extLst xmlns:a="http://schemas.openxmlformats.org/drawingml/2006/main">
              <a:ext uri="{FF2B5EF4-FFF2-40B4-BE49-F238E27FC236}">
                <a16:creationId xmlns:a16="http://schemas.microsoft.com/office/drawing/2014/main" id="{52D98CA8-B962-45F7-B288-89249AC1D8F9}"/>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4</a:t>
            </a:r>
          </a:p>
        </p:txBody>
      </p:sp>
      <p:sp>
        <p:nvSpPr>
          <p:cNvPr id="5" name="Omzet">
            <a:extLst xmlns:a="http://schemas.openxmlformats.org/drawingml/2006/main">
              <a:ext uri="{FF2B5EF4-FFF2-40B4-BE49-F238E27FC236}">
                <a16:creationId xmlns:a16="http://schemas.microsoft.com/office/drawing/2014/main" id="{328B93B0-9A1C-4BE6-90DF-0AA9046A722D}"/>
              </a:ext>
            </a:extLst>
          </p:cNvPr>
          <p:cNvSpPr>
            <a:spLocks xmlns:a="http://schemas.openxmlformats.org/drawingml/2006/main" noGrp="1"/>
          </p:cNvSpPr>
          <p:nvPr/>
        </p:nvSpPr>
        <p:spPr>
          <a:xfrm xmlns:a="http://schemas.openxmlformats.org/drawingml/2006/main">
            <a:off x="571500" y="2209800"/>
            <a:ext cx="4953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7658A"/>
                </a:solidFill>
                <a:latin typeface="Arial"/>
                <a:ea typeface="Arial"/>
                <a:cs typeface="Arial"/>
              </a:defRPr>
            </a:pPr>
            <a:r>
              <a:rPr sz="2700" b="1">
                <a:solidFill>
                  <a:srgbClr val="17658A"/>
                </a:solidFill>
                <a:latin typeface="Arial"/>
                <a:ea typeface="Arial"/>
                <a:cs typeface="Arial"/>
              </a:rPr>
              <a:t>Omzet</a:t>
            </a:r>
          </a:p>
        </p:txBody>
      </p:sp>
      <p:sp>
        <p:nvSpPr>
          <p:cNvPr id="6" name="Het bedrag dat de verkoop oplevert.">
            <a:extLst xmlns:a="http://schemas.openxmlformats.org/drawingml/2006/main">
              <a:ext uri="{FF2B5EF4-FFF2-40B4-BE49-F238E27FC236}">
                <a16:creationId xmlns:a16="http://schemas.microsoft.com/office/drawing/2014/main" id="{2FA4B6EF-F3E8-49FF-90A6-69926422718B}"/>
              </a:ext>
            </a:extLst>
          </p:cNvPr>
          <p:cNvSpPr>
            <a:spLocks xmlns:a="http://schemas.openxmlformats.org/drawingml/2006/main" noGrp="1"/>
          </p:cNvSpPr>
          <p:nvPr/>
        </p:nvSpPr>
        <p:spPr>
          <a:xfrm xmlns:a="http://schemas.openxmlformats.org/drawingml/2006/main">
            <a:off x="5905500" y="2209800"/>
            <a:ext cx="8763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0">
                <a:solidFill>
                  <a:srgbClr val="183247"/>
                </a:solidFill>
                <a:latin typeface="Arial"/>
                <a:ea typeface="Arial"/>
                <a:cs typeface="Arial"/>
              </a:defRPr>
            </a:pPr>
            <a:r>
              <a:rPr sz="2850" b="0">
                <a:solidFill>
                  <a:srgbClr val="183247"/>
                </a:solidFill>
                <a:latin typeface="Arial"/>
                <a:ea typeface="Arial"/>
                <a:cs typeface="Arial"/>
              </a:rPr>
              <a:t>Het bedrag dat de verkoop oplevert.</a:t>
            </a:r>
          </a:p>
        </p:txBody>
      </p:sp>
      <p:sp>
        <p:nvSpPr>
          <p:cNvPr id="7" name="Producentensurplus">
            <a:extLst xmlns:a="http://schemas.openxmlformats.org/drawingml/2006/main">
              <a:ext uri="{FF2B5EF4-FFF2-40B4-BE49-F238E27FC236}">
                <a16:creationId xmlns:a16="http://schemas.microsoft.com/office/drawing/2014/main" id="{FE4EA972-7526-47A1-8DC2-02CD44B85B5A}"/>
              </a:ext>
            </a:extLst>
          </p:cNvPr>
          <p:cNvSpPr>
            <a:spLocks xmlns:a="http://schemas.openxmlformats.org/drawingml/2006/main" noGrp="1"/>
          </p:cNvSpPr>
          <p:nvPr/>
        </p:nvSpPr>
        <p:spPr>
          <a:xfrm xmlns:a="http://schemas.openxmlformats.org/drawingml/2006/main">
            <a:off x="571500" y="3867150"/>
            <a:ext cx="4953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7658A"/>
                </a:solidFill>
                <a:latin typeface="Arial"/>
                <a:ea typeface="Arial"/>
                <a:cs typeface="Arial"/>
              </a:defRPr>
            </a:pPr>
            <a:r>
              <a:rPr sz="2700" b="1">
                <a:solidFill>
                  <a:srgbClr val="17658A"/>
                </a:solidFill>
                <a:latin typeface="Arial"/>
                <a:ea typeface="Arial"/>
                <a:cs typeface="Arial"/>
              </a:rPr>
              <a:t>Producentensurplus</a:t>
            </a:r>
          </a:p>
        </p:txBody>
      </p:sp>
      <p:sp>
        <p:nvSpPr>
          <p:cNvPr id="8" name="Ontvangen prijs min MK, opgeteld over verkochte producten.">
            <a:extLst xmlns:a="http://schemas.openxmlformats.org/drawingml/2006/main">
              <a:ext uri="{FF2B5EF4-FFF2-40B4-BE49-F238E27FC236}">
                <a16:creationId xmlns:a16="http://schemas.microsoft.com/office/drawing/2014/main" id="{F2C60844-D629-4E03-B49A-FA5BC98442E4}"/>
              </a:ext>
            </a:extLst>
          </p:cNvPr>
          <p:cNvSpPr>
            <a:spLocks xmlns:a="http://schemas.openxmlformats.org/drawingml/2006/main" noGrp="1"/>
          </p:cNvSpPr>
          <p:nvPr/>
        </p:nvSpPr>
        <p:spPr>
          <a:xfrm xmlns:a="http://schemas.openxmlformats.org/drawingml/2006/main">
            <a:off x="5905500" y="3867150"/>
            <a:ext cx="8763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0">
                <a:solidFill>
                  <a:srgbClr val="183247"/>
                </a:solidFill>
                <a:latin typeface="Arial"/>
                <a:ea typeface="Arial"/>
                <a:cs typeface="Arial"/>
              </a:defRPr>
            </a:pPr>
            <a:r>
              <a:rPr sz="2850" b="0">
                <a:solidFill>
                  <a:srgbClr val="183247"/>
                </a:solidFill>
                <a:latin typeface="Arial"/>
                <a:ea typeface="Arial"/>
                <a:cs typeface="Arial"/>
              </a:rPr>
              <a:t>Ontvangen prijs min MK, opgeteld over verkochte producten.</a:t>
            </a:r>
          </a:p>
        </p:txBody>
      </p:sp>
      <p:sp>
        <p:nvSpPr>
          <p:cNvPr id="9" name="Winst">
            <a:extLst xmlns:a="http://schemas.openxmlformats.org/drawingml/2006/main">
              <a:ext uri="{FF2B5EF4-FFF2-40B4-BE49-F238E27FC236}">
                <a16:creationId xmlns:a16="http://schemas.microsoft.com/office/drawing/2014/main" id="{51FBAF85-434F-4BB2-80BC-721F51916E54}"/>
              </a:ext>
            </a:extLst>
          </p:cNvPr>
          <p:cNvSpPr>
            <a:spLocks xmlns:a="http://schemas.openxmlformats.org/drawingml/2006/main" noGrp="1"/>
          </p:cNvSpPr>
          <p:nvPr/>
        </p:nvSpPr>
        <p:spPr>
          <a:xfrm xmlns:a="http://schemas.openxmlformats.org/drawingml/2006/main">
            <a:off x="571500" y="5524500"/>
            <a:ext cx="4953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7658A"/>
                </a:solidFill>
                <a:latin typeface="Arial"/>
                <a:ea typeface="Arial"/>
                <a:cs typeface="Arial"/>
              </a:defRPr>
            </a:pPr>
            <a:r>
              <a:rPr sz="2700" b="1">
                <a:solidFill>
                  <a:srgbClr val="17658A"/>
                </a:solidFill>
                <a:latin typeface="Arial"/>
                <a:ea typeface="Arial"/>
                <a:cs typeface="Arial"/>
              </a:rPr>
              <a:t>Winst</a:t>
            </a:r>
          </a:p>
        </p:txBody>
      </p:sp>
      <p:sp>
        <p:nvSpPr>
          <p:cNvPr id="10" name="Opbrengst min álle kosten, ook de constante kosten.">
            <a:extLst xmlns:a="http://schemas.openxmlformats.org/drawingml/2006/main">
              <a:ext uri="{FF2B5EF4-FFF2-40B4-BE49-F238E27FC236}">
                <a16:creationId xmlns:a16="http://schemas.microsoft.com/office/drawing/2014/main" id="{CAF93643-BB05-4731-83C0-0564D2E8419F}"/>
              </a:ext>
            </a:extLst>
          </p:cNvPr>
          <p:cNvSpPr>
            <a:spLocks xmlns:a="http://schemas.openxmlformats.org/drawingml/2006/main" noGrp="1"/>
          </p:cNvSpPr>
          <p:nvPr/>
        </p:nvSpPr>
        <p:spPr>
          <a:xfrm xmlns:a="http://schemas.openxmlformats.org/drawingml/2006/main">
            <a:off x="5905500" y="5524500"/>
            <a:ext cx="8763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0">
                <a:solidFill>
                  <a:srgbClr val="183247"/>
                </a:solidFill>
                <a:latin typeface="Arial"/>
                <a:ea typeface="Arial"/>
                <a:cs typeface="Arial"/>
              </a:defRPr>
            </a:pPr>
            <a:r>
              <a:rPr sz="2850" b="0">
                <a:solidFill>
                  <a:srgbClr val="183247"/>
                </a:solidFill>
                <a:latin typeface="Arial"/>
                <a:ea typeface="Arial"/>
                <a:cs typeface="Arial"/>
              </a:rPr>
              <a:t>Opbrengst min álle kosten, ook de constante kosten.</a:t>
            </a:r>
          </a:p>
        </p:txBody>
      </p:sp>
      <p:sp>
        <p:nvSpPr>
          <p:cNvPr id="11" name="Voor PS zijn de constante kosten nog niet afgetrokken.">
            <a:extLst xmlns:a="http://schemas.openxmlformats.org/drawingml/2006/main">
              <a:ext uri="{FF2B5EF4-FFF2-40B4-BE49-F238E27FC236}">
                <a16:creationId xmlns:a16="http://schemas.microsoft.com/office/drawing/2014/main" id="{0512D32E-76CF-44B8-83CC-1A1D3E13121C}"/>
              </a:ext>
            </a:extLst>
          </p:cNvPr>
          <p:cNvSpPr>
            <a:spLocks xmlns:a="http://schemas.openxmlformats.org/drawingml/2006/main" noGrp="1"/>
          </p:cNvSpPr>
          <p:nvPr/>
        </p:nvSpPr>
        <p:spPr>
          <a:xfrm xmlns:a="http://schemas.openxmlformats.org/drawingml/2006/main">
            <a:off x="571500" y="7200900"/>
            <a:ext cx="14097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A94D16"/>
                </a:solidFill>
                <a:latin typeface="Arial"/>
                <a:ea typeface="Arial"/>
                <a:cs typeface="Arial"/>
              </a:defRPr>
            </a:pPr>
            <a:r>
              <a:rPr sz="2925" b="1">
                <a:solidFill>
                  <a:srgbClr val="A94D16"/>
                </a:solidFill>
                <a:latin typeface="Arial"/>
                <a:ea typeface="Arial"/>
                <a:cs typeface="Arial"/>
              </a:rPr>
              <a:t>Voor PS zijn de constante kosten nog niet afgetrokken.</a:t>
            </a:r>
          </a:p>
        </p:txBody>
      </p:sp>
    </p:spTree>
    <p:extLst>
      <p:ext uri="{BB962C8B-B14F-4D97-AF65-F5344CB8AC3E}">
        <p14:creationId xmlns:p14="http://schemas.microsoft.com/office/powerpoint/2010/main" val="156873098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Een hogere waardering en lagere MK">
            <a:extLst xmlns:a="http://schemas.openxmlformats.org/drawingml/2006/main">
              <a:ext uri="{FF2B5EF4-FFF2-40B4-BE49-F238E27FC236}">
                <a16:creationId xmlns:a16="http://schemas.microsoft.com/office/drawing/2014/main" id="{7A44BB46-CFD3-4812-B260-CF57D75248A0}"/>
              </a:ext>
            </a:extLst>
          </p:cNvPr>
          <p:cNvSpPr>
            <a:spLocks xmlns:a="http://schemas.openxmlformats.org/drawingml/2006/main" noGrp="1"/>
          </p:cNvSpPr>
          <p:nvPr/>
        </p:nvSpPr>
        <p:spPr>
          <a:xfrm xmlns:a="http://schemas.openxmlformats.org/drawingml/2006/main">
            <a:off x="571500" y="361950"/>
            <a:ext cx="14097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Een hogere waardering en lagere MK</a:t>
            </a:r>
          </a:p>
        </p:txBody>
      </p:sp>
      <p:sp>
        <p:nvSpPr>
          <p:cNvPr id="2" name="">
            <a:extLst xmlns:a="http://schemas.openxmlformats.org/drawingml/2006/main">
              <a:ext uri="{FF2B5EF4-FFF2-40B4-BE49-F238E27FC236}">
                <a16:creationId xmlns:a16="http://schemas.microsoft.com/office/drawing/2014/main" id="{D2575A64-1324-4200-BFE9-437B6DA3B843}"/>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2.3.2 Producentensurplus en totaal surplus">
            <a:extLst xmlns:a="http://schemas.openxmlformats.org/drawingml/2006/main">
              <a:ext uri="{FF2B5EF4-FFF2-40B4-BE49-F238E27FC236}">
                <a16:creationId xmlns:a16="http://schemas.microsoft.com/office/drawing/2014/main" id="{BB43EABA-70DF-4B41-B366-C9457353F085}"/>
              </a:ext>
            </a:extLst>
          </p:cNvPr>
          <p:cNvSpPr>
            <a:spLocks xmlns:a="http://schemas.openxmlformats.org/drawingml/2006/main" noGrp="1"/>
          </p:cNvSpPr>
          <p:nvPr/>
        </p:nvSpPr>
        <p:spPr>
          <a:xfrm xmlns:a="http://schemas.openxmlformats.org/drawingml/2006/main">
            <a:off x="571500" y="8077200"/>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§2.3.2 Producentensurplus en totaal surplus</a:t>
            </a:r>
          </a:p>
        </p:txBody>
      </p:sp>
      <p:sp>
        <p:nvSpPr>
          <p:cNvPr id="4" name="5">
            <a:extLst xmlns:a="http://schemas.openxmlformats.org/drawingml/2006/main">
              <a:ext uri="{FF2B5EF4-FFF2-40B4-BE49-F238E27FC236}">
                <a16:creationId xmlns:a16="http://schemas.microsoft.com/office/drawing/2014/main" id="{B2D5F7AB-12F7-472C-8396-E035D72C8564}"/>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5</a:t>
            </a:r>
          </a:p>
        </p:txBody>
      </p:sp>
      <p:sp>
        <p:nvSpPr>
          <p:cNvPr id="5" name="Uitlegvoorbeeld — niet uit het boek · Dezelfde sleutelhanger">
            <a:extLst xmlns:a="http://schemas.openxmlformats.org/drawingml/2006/main">
              <a:ext uri="{FF2B5EF4-FFF2-40B4-BE49-F238E27FC236}">
                <a16:creationId xmlns:a16="http://schemas.microsoft.com/office/drawing/2014/main" id="{D5851A85-FB8B-443E-82B1-F99220051239}"/>
              </a:ext>
            </a:extLst>
          </p:cNvPr>
          <p:cNvSpPr>
            <a:spLocks xmlns:a="http://schemas.openxmlformats.org/drawingml/2006/main" noGrp="1"/>
          </p:cNvSpPr>
          <p:nvPr/>
        </p:nvSpPr>
        <p:spPr>
          <a:xfrm xmlns:a="http://schemas.openxmlformats.org/drawingml/2006/main">
            <a:off x="571500" y="1733550"/>
            <a:ext cx="14097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7658A"/>
                </a:solidFill>
                <a:latin typeface="Arial"/>
                <a:ea typeface="Arial"/>
                <a:cs typeface="Arial"/>
              </a:defRPr>
            </a:pPr>
            <a:r>
              <a:rPr sz="2175" b="1">
                <a:solidFill>
                  <a:srgbClr val="17658A"/>
                </a:solidFill>
                <a:latin typeface="Arial"/>
                <a:ea typeface="Arial"/>
                <a:cs typeface="Arial"/>
              </a:rPr>
              <a:t>Uitlegvoorbeeld — niet uit het boek · Dezelfde sleutelhanger</a:t>
            </a:r>
          </a:p>
        </p:txBody>
      </p:sp>
      <p:sp>
        <p:nvSpPr>
          <p:cNvPr id="6" name="Prijs blijft € 11. Dezelfde transactie gaat door.">
            <a:extLst xmlns:a="http://schemas.openxmlformats.org/drawingml/2006/main">
              <a:ext uri="{FF2B5EF4-FFF2-40B4-BE49-F238E27FC236}">
                <a16:creationId xmlns:a16="http://schemas.microsoft.com/office/drawing/2014/main" id="{A7EF04AD-7CCC-41BA-B155-11359C9B62AF}"/>
              </a:ext>
            </a:extLst>
          </p:cNvPr>
          <p:cNvSpPr>
            <a:spLocks xmlns:a="http://schemas.openxmlformats.org/drawingml/2006/main" noGrp="1"/>
          </p:cNvSpPr>
          <p:nvPr/>
        </p:nvSpPr>
        <p:spPr>
          <a:xfrm xmlns:a="http://schemas.openxmlformats.org/drawingml/2006/main">
            <a:off x="571500" y="2438400"/>
            <a:ext cx="1409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183247"/>
                </a:solidFill>
                <a:latin typeface="Arial"/>
                <a:ea typeface="Arial"/>
                <a:cs typeface="Arial"/>
              </a:defRPr>
            </a:pPr>
            <a:r>
              <a:rPr sz="2850" b="1">
                <a:solidFill>
                  <a:srgbClr val="183247"/>
                </a:solidFill>
                <a:latin typeface="Arial"/>
                <a:ea typeface="Arial"/>
                <a:cs typeface="Arial"/>
              </a:rPr>
              <a:t>Prijs blijft € 11. Dezelfde transactie gaat door.</a:t>
            </a:r>
          </a:p>
        </p:txBody>
      </p:sp>
      <p:graphicFrame>
        <p:nvGraphicFramePr>
          <p:cNvPr id="15" name=""/>
          <p:cNvGraphicFramePr/>
          <p:nvPr/>
        </p:nvGraphicFramePr>
        <p:xfrm>
          <a:off xmlns:a="http://schemas.openxmlformats.org/drawingml/2006/main" x="571500" y="3429000"/>
          <a:ext xmlns:a="http://schemas.openxmlformats.org/drawingml/2006/main" cx="14097000" cy="3476625"/>
        </p:xfrm>
        <a:graphic xmlns:a="http://schemas.openxmlformats.org/drawingml/2006/main">
          <a:graphicData uri="http://schemas.openxmlformats.org/drawingml/2006/table">
            <a:tbl>
              <a:tblPr/>
              <a:tblGrid>
                <a:gridCol w="7524750"/>
                <a:gridCol w="2190750"/>
                <a:gridCol w="2190750"/>
                <a:gridCol w="2190750"/>
              </a:tblGrid>
              <a:tr h="695325">
                <a:tc>
                  <a:txBody>
                    <a:bodyPr lIns="171450" tIns="95250" rIns="152400" bIns="95250"/>
                    <a:lstStyle/>
                    <a:p>
                      <a:r>
                        <a:rPr sz="2325" b="1">
                          <a:solidFill>
                            <a:srgbClr val="FFFFFF"/>
                          </a:solidFill>
                          <a:latin typeface="Arial"/>
                          <a:ea typeface="Arial"/>
                          <a:cs typeface="Arial"/>
                        </a:rPr>
                        <a:t>Situatie</a:t>
                      </a:r>
                    </a:p>
                  </a:txBody>
                  <a:tcPr marL="91440" marR="91440" marT="45720" marB="45720" anchor="ctr">
                    <a:solidFill>
                      <a:srgbClr val="183247"/>
                    </a:solidFill>
                  </a:tcPr>
                </a:tc>
                <a:tc>
                  <a:txBody>
                    <a:bodyPr lIns="171450" tIns="95250" rIns="152400" bIns="95250"/>
                    <a:lstStyle/>
                    <a:p>
                      <a:r>
                        <a:rPr sz="2325" b="1">
                          <a:solidFill>
                            <a:srgbClr val="FFFFFF"/>
                          </a:solidFill>
                          <a:latin typeface="Arial"/>
                          <a:ea typeface="Arial"/>
                          <a:cs typeface="Arial"/>
                        </a:rPr>
                        <a:t>CS (€)</a:t>
                      </a:r>
                    </a:p>
                  </a:txBody>
                  <a:tcPr marL="91440" marR="91440" marT="45720" marB="45720" anchor="ctr">
                    <a:solidFill>
                      <a:srgbClr val="183247"/>
                    </a:solidFill>
                  </a:tcPr>
                </a:tc>
                <a:tc>
                  <a:txBody>
                    <a:bodyPr lIns="171450" tIns="95250" rIns="152400" bIns="95250"/>
                    <a:lstStyle/>
                    <a:p>
                      <a:r>
                        <a:rPr sz="2325" b="1">
                          <a:solidFill>
                            <a:srgbClr val="FFFFFF"/>
                          </a:solidFill>
                          <a:latin typeface="Arial"/>
                          <a:ea typeface="Arial"/>
                          <a:cs typeface="Arial"/>
                        </a:rPr>
                        <a:t>PS (€)</a:t>
                      </a:r>
                    </a:p>
                  </a:txBody>
                  <a:tcPr marL="91440" marR="91440" marT="45720" marB="45720" anchor="ctr">
                    <a:solidFill>
                      <a:srgbClr val="183247"/>
                    </a:solidFill>
                  </a:tcPr>
                </a:tc>
                <a:tc>
                  <a:txBody>
                    <a:bodyPr lIns="171450" tIns="95250" rIns="152400" bIns="95250"/>
                    <a:lstStyle/>
                    <a:p>
                      <a:r>
                        <a:rPr sz="2325" b="1">
                          <a:solidFill>
                            <a:srgbClr val="FFFFFF"/>
                          </a:solidFill>
                          <a:latin typeface="Arial"/>
                          <a:ea typeface="Arial"/>
                          <a:cs typeface="Arial"/>
                        </a:rPr>
                        <a:t>Samen (€)</a:t>
                      </a:r>
                    </a:p>
                  </a:txBody>
                  <a:tcPr marL="91440" marR="91440" marT="45720" marB="45720" anchor="ctr">
                    <a:solidFill>
                      <a:srgbClr val="183247"/>
                    </a:solidFill>
                  </a:tcPr>
                </a:tc>
              </a:tr>
              <a:tr h="695325">
                <a:tc>
                  <a:txBody>
                    <a:bodyPr lIns="171450" tIns="95250" rIns="152400" bIns="95250"/>
                    <a:lstStyle/>
                    <a:p>
                      <a:r>
                        <a:rPr sz="2325" b="0">
                          <a:solidFill>
                            <a:srgbClr val="183247"/>
                          </a:solidFill>
                          <a:latin typeface="Arial"/>
                          <a:ea typeface="Arial"/>
                          <a:cs typeface="Arial"/>
                        </a:rPr>
                        <a:t>Eerst: bereidheid 18, MK 6</a:t>
                      </a:r>
                    </a:p>
                  </a:txBody>
                  <a:tcPr marL="91440" marR="91440" marT="45720" marB="45720" anchor="ctr">
                    <a:solidFill>
                      <a:srgbClr val="FFFFFF"/>
                    </a:solidFill>
                  </a:tcPr>
                </a:tc>
                <a:tc>
                  <a:txBody>
                    <a:bodyPr lIns="171450" tIns="95250" rIns="152400" bIns="95250"/>
                    <a:lstStyle/>
                    <a:p>
                      <a:r>
                        <a:rPr sz="2325" b="0">
                          <a:solidFill>
                            <a:srgbClr val="183247"/>
                          </a:solidFill>
                          <a:latin typeface="Arial"/>
                          <a:ea typeface="Arial"/>
                          <a:cs typeface="Arial"/>
                        </a:rPr>
                        <a:t>7</a:t>
                      </a:r>
                    </a:p>
                  </a:txBody>
                  <a:tcPr marL="91440" marR="91440" marT="45720" marB="45720" anchor="ctr">
                    <a:solidFill>
                      <a:srgbClr val="FFFFFF"/>
                    </a:solidFill>
                  </a:tcPr>
                </a:tc>
                <a:tc>
                  <a:txBody>
                    <a:bodyPr lIns="171450" tIns="95250" rIns="152400" bIns="95250"/>
                    <a:lstStyle/>
                    <a:p>
                      <a:r>
                        <a:rPr sz="2325" b="0">
                          <a:solidFill>
                            <a:srgbClr val="183247"/>
                          </a:solidFill>
                          <a:latin typeface="Arial"/>
                          <a:ea typeface="Arial"/>
                          <a:cs typeface="Arial"/>
                        </a:rPr>
                        <a:t>5</a:t>
                      </a:r>
                    </a:p>
                  </a:txBody>
                  <a:tcPr marL="91440" marR="91440" marT="45720" marB="45720" anchor="ctr">
                    <a:solidFill>
                      <a:srgbClr val="FFFFFF"/>
                    </a:solidFill>
                  </a:tcPr>
                </a:tc>
                <a:tc>
                  <a:txBody>
                    <a:bodyPr lIns="171450" tIns="95250" rIns="152400" bIns="95250"/>
                    <a:lstStyle/>
                    <a:p>
                      <a:r>
                        <a:rPr sz="2325" b="0">
                          <a:solidFill>
                            <a:srgbClr val="183247"/>
                          </a:solidFill>
                          <a:latin typeface="Arial"/>
                          <a:ea typeface="Arial"/>
                          <a:cs typeface="Arial"/>
                        </a:rPr>
                        <a:t>12</a:t>
                      </a:r>
                    </a:p>
                  </a:txBody>
                  <a:tcPr marL="91440" marR="91440" marT="45720" marB="45720" anchor="ctr">
                    <a:solidFill>
                      <a:srgbClr val="FFFFFF"/>
                    </a:solidFill>
                  </a:tcPr>
                </a:tc>
              </a:tr>
              <a:tr h="695325">
                <a:tc>
                  <a:txBody>
                    <a:bodyPr lIns="171450" tIns="95250" rIns="152400" bIns="95250"/>
                    <a:lstStyle/>
                    <a:p>
                      <a:r>
                        <a:rPr sz="2325" b="0">
                          <a:solidFill>
                            <a:srgbClr val="183247"/>
                          </a:solidFill>
                          <a:latin typeface="Arial"/>
                          <a:ea typeface="Arial"/>
                          <a:cs typeface="Arial"/>
                        </a:rPr>
                        <a:t>Alleen bereidheid naar 20</a:t>
                      </a:r>
                    </a:p>
                  </a:txBody>
                  <a:tcPr marL="91440" marR="91440" marT="45720" marB="45720" anchor="ctr">
                    <a:solidFill>
                      <a:srgbClr val="EFF4F7"/>
                    </a:solidFill>
                  </a:tcPr>
                </a:tc>
                <a:tc>
                  <a:txBody>
                    <a:bodyPr lIns="171450" tIns="95250" rIns="152400" bIns="95250"/>
                    <a:lstStyle/>
                    <a:p>
                      <a:r>
                        <a:rPr sz="2325" b="0">
                          <a:solidFill>
                            <a:srgbClr val="183247"/>
                          </a:solidFill>
                          <a:latin typeface="Arial"/>
                          <a:ea typeface="Arial"/>
                          <a:cs typeface="Arial"/>
                        </a:rPr>
                        <a:t>9</a:t>
                      </a:r>
                    </a:p>
                  </a:txBody>
                  <a:tcPr marL="91440" marR="91440" marT="45720" marB="45720" anchor="ctr">
                    <a:solidFill>
                      <a:srgbClr val="EFF4F7"/>
                    </a:solidFill>
                  </a:tcPr>
                </a:tc>
                <a:tc>
                  <a:txBody>
                    <a:bodyPr lIns="171450" tIns="95250" rIns="152400" bIns="95250"/>
                    <a:lstStyle/>
                    <a:p>
                      <a:r>
                        <a:rPr sz="2325" b="0">
                          <a:solidFill>
                            <a:srgbClr val="183247"/>
                          </a:solidFill>
                          <a:latin typeface="Arial"/>
                          <a:ea typeface="Arial"/>
                          <a:cs typeface="Arial"/>
                        </a:rPr>
                        <a:t>5</a:t>
                      </a:r>
                    </a:p>
                  </a:txBody>
                  <a:tcPr marL="91440" marR="91440" marT="45720" marB="45720" anchor="ctr">
                    <a:solidFill>
                      <a:srgbClr val="EFF4F7"/>
                    </a:solidFill>
                  </a:tcPr>
                </a:tc>
                <a:tc>
                  <a:txBody>
                    <a:bodyPr lIns="171450" tIns="95250" rIns="152400" bIns="95250"/>
                    <a:lstStyle/>
                    <a:p>
                      <a:r>
                        <a:rPr sz="2325" b="0">
                          <a:solidFill>
                            <a:srgbClr val="183247"/>
                          </a:solidFill>
                          <a:latin typeface="Arial"/>
                          <a:ea typeface="Arial"/>
                          <a:cs typeface="Arial"/>
                        </a:rPr>
                        <a:t>14</a:t>
                      </a:r>
                    </a:p>
                  </a:txBody>
                  <a:tcPr marL="91440" marR="91440" marT="45720" marB="45720" anchor="ctr">
                    <a:solidFill>
                      <a:srgbClr val="EFF4F7"/>
                    </a:solidFill>
                  </a:tcPr>
                </a:tc>
              </a:tr>
              <a:tr h="695325">
                <a:tc>
                  <a:txBody>
                    <a:bodyPr lIns="171450" tIns="95250" rIns="152400" bIns="95250"/>
                    <a:lstStyle/>
                    <a:p>
                      <a:r>
                        <a:rPr sz="2325" b="0">
                          <a:solidFill>
                            <a:srgbClr val="183247"/>
                          </a:solidFill>
                          <a:latin typeface="Arial"/>
                          <a:ea typeface="Arial"/>
                          <a:cs typeface="Arial"/>
                        </a:rPr>
                        <a:t>Alleen MK naar 4</a:t>
                      </a:r>
                    </a:p>
                  </a:txBody>
                  <a:tcPr marL="91440" marR="91440" marT="45720" marB="45720" anchor="ctr">
                    <a:solidFill>
                      <a:srgbClr val="FFFFFF"/>
                    </a:solidFill>
                  </a:tcPr>
                </a:tc>
                <a:tc>
                  <a:txBody>
                    <a:bodyPr lIns="171450" tIns="95250" rIns="152400" bIns="95250"/>
                    <a:lstStyle/>
                    <a:p>
                      <a:r>
                        <a:rPr sz="2325" b="0">
                          <a:solidFill>
                            <a:srgbClr val="183247"/>
                          </a:solidFill>
                          <a:latin typeface="Arial"/>
                          <a:ea typeface="Arial"/>
                          <a:cs typeface="Arial"/>
                        </a:rPr>
                        <a:t>7</a:t>
                      </a:r>
                    </a:p>
                  </a:txBody>
                  <a:tcPr marL="91440" marR="91440" marT="45720" marB="45720" anchor="ctr">
                    <a:solidFill>
                      <a:srgbClr val="FFFFFF"/>
                    </a:solidFill>
                  </a:tcPr>
                </a:tc>
                <a:tc>
                  <a:txBody>
                    <a:bodyPr lIns="171450" tIns="95250" rIns="152400" bIns="95250"/>
                    <a:lstStyle/>
                    <a:p>
                      <a:r>
                        <a:rPr sz="2325" b="0">
                          <a:solidFill>
                            <a:srgbClr val="183247"/>
                          </a:solidFill>
                          <a:latin typeface="Arial"/>
                          <a:ea typeface="Arial"/>
                          <a:cs typeface="Arial"/>
                        </a:rPr>
                        <a:t>7</a:t>
                      </a:r>
                    </a:p>
                  </a:txBody>
                  <a:tcPr marL="91440" marR="91440" marT="45720" marB="45720" anchor="ctr">
                    <a:solidFill>
                      <a:srgbClr val="FFFFFF"/>
                    </a:solidFill>
                  </a:tcPr>
                </a:tc>
                <a:tc>
                  <a:txBody>
                    <a:bodyPr lIns="171450" tIns="95250" rIns="152400" bIns="95250"/>
                    <a:lstStyle/>
                    <a:p>
                      <a:r>
                        <a:rPr sz="2325" b="0">
                          <a:solidFill>
                            <a:srgbClr val="183247"/>
                          </a:solidFill>
                          <a:latin typeface="Arial"/>
                          <a:ea typeface="Arial"/>
                          <a:cs typeface="Arial"/>
                        </a:rPr>
                        <a:t>14</a:t>
                      </a:r>
                    </a:p>
                  </a:txBody>
                  <a:tcPr marL="91440" marR="91440" marT="45720" marB="45720" anchor="ctr">
                    <a:solidFill>
                      <a:srgbClr val="FFFFFF"/>
                    </a:solidFill>
                  </a:tcPr>
                </a:tc>
              </a:tr>
              <a:tr h="695325">
                <a:tc>
                  <a:txBody>
                    <a:bodyPr lIns="171450" tIns="95250" rIns="152400" bIns="95250"/>
                    <a:lstStyle/>
                    <a:p>
                      <a:r>
                        <a:rPr sz="2325" b="0">
                          <a:solidFill>
                            <a:srgbClr val="183247"/>
                          </a:solidFill>
                          <a:latin typeface="Arial"/>
                          <a:ea typeface="Arial"/>
                          <a:cs typeface="Arial"/>
                        </a:rPr>
                        <a:t>Beide veranderingen</a:t>
                      </a:r>
                    </a:p>
                  </a:txBody>
                  <a:tcPr marL="91440" marR="91440" marT="45720" marB="45720" anchor="ctr">
                    <a:solidFill>
                      <a:srgbClr val="EFF4F7"/>
                    </a:solidFill>
                  </a:tcPr>
                </a:tc>
                <a:tc>
                  <a:txBody>
                    <a:bodyPr lIns="171450" tIns="95250" rIns="152400" bIns="95250"/>
                    <a:lstStyle/>
                    <a:p>
                      <a:r>
                        <a:rPr sz="2325" b="0">
                          <a:solidFill>
                            <a:srgbClr val="183247"/>
                          </a:solidFill>
                          <a:latin typeface="Arial"/>
                          <a:ea typeface="Arial"/>
                          <a:cs typeface="Arial"/>
                        </a:rPr>
                        <a:t>9</a:t>
                      </a:r>
                    </a:p>
                  </a:txBody>
                  <a:tcPr marL="91440" marR="91440" marT="45720" marB="45720" anchor="ctr">
                    <a:solidFill>
                      <a:srgbClr val="EFF4F7"/>
                    </a:solidFill>
                  </a:tcPr>
                </a:tc>
                <a:tc>
                  <a:txBody>
                    <a:bodyPr lIns="171450" tIns="95250" rIns="152400" bIns="95250"/>
                    <a:lstStyle/>
                    <a:p>
                      <a:r>
                        <a:rPr sz="2325" b="0">
                          <a:solidFill>
                            <a:srgbClr val="183247"/>
                          </a:solidFill>
                          <a:latin typeface="Arial"/>
                          <a:ea typeface="Arial"/>
                          <a:cs typeface="Arial"/>
                        </a:rPr>
                        <a:t>7</a:t>
                      </a:r>
                    </a:p>
                  </a:txBody>
                  <a:tcPr marL="91440" marR="91440" marT="45720" marB="45720" anchor="ctr">
                    <a:solidFill>
                      <a:srgbClr val="EFF4F7"/>
                    </a:solidFill>
                  </a:tcPr>
                </a:tc>
                <a:tc>
                  <a:txBody>
                    <a:bodyPr lIns="171450" tIns="95250" rIns="152400" bIns="95250"/>
                    <a:lstStyle/>
                    <a:p>
                      <a:r>
                        <a:rPr sz="2325" b="0">
                          <a:solidFill>
                            <a:srgbClr val="183247"/>
                          </a:solidFill>
                          <a:latin typeface="Arial"/>
                          <a:ea typeface="Arial"/>
                          <a:cs typeface="Arial"/>
                        </a:rPr>
                        <a:t>16</a:t>
                      </a:r>
                    </a:p>
                  </a:txBody>
                  <a:tcPr marL="91440" marR="91440" marT="45720" marB="45720" anchor="ctr">
                    <a:solidFill>
                      <a:srgbClr val="EFF4F7"/>
                    </a:solidFill>
                  </a:tcPr>
                </a:tc>
              </a:tr>
            </a:tbl>
          </a:graphicData>
        </a:graphic>
      </p:graphicFrame>
      <p:sp>
        <p:nvSpPr>
          <p:cNvPr id="8" name="Beide veranderingen vergroten het gezamenlijke voordeel.">
            <a:extLst xmlns:a="http://schemas.openxmlformats.org/drawingml/2006/main">
              <a:ext uri="{FF2B5EF4-FFF2-40B4-BE49-F238E27FC236}">
                <a16:creationId xmlns:a16="http://schemas.microsoft.com/office/drawing/2014/main" id="{4C40C212-4039-4E2D-BDDF-E073DC8209E8}"/>
              </a:ext>
            </a:extLst>
          </p:cNvPr>
          <p:cNvSpPr>
            <a:spLocks xmlns:a="http://schemas.openxmlformats.org/drawingml/2006/main" noGrp="1"/>
          </p:cNvSpPr>
          <p:nvPr/>
        </p:nvSpPr>
        <p:spPr>
          <a:xfrm xmlns:a="http://schemas.openxmlformats.org/drawingml/2006/main">
            <a:off x="571500" y="7391400"/>
            <a:ext cx="1409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A94D16"/>
                </a:solidFill>
                <a:latin typeface="Arial"/>
                <a:ea typeface="Arial"/>
                <a:cs typeface="Arial"/>
              </a:defRPr>
            </a:pPr>
            <a:r>
              <a:rPr sz="2775" b="1">
                <a:solidFill>
                  <a:srgbClr val="A94D16"/>
                </a:solidFill>
                <a:latin typeface="Arial"/>
                <a:ea typeface="Arial"/>
                <a:cs typeface="Arial"/>
              </a:rPr>
              <a:t>Beide veranderingen vergroten het gezamenlijke voordeel.</a:t>
            </a:r>
          </a:p>
        </p:txBody>
      </p:sp>
    </p:spTree>
    <p:extLst>
      <p:ext uri="{BB962C8B-B14F-4D97-AF65-F5344CB8AC3E}">
        <p14:creationId xmlns:p14="http://schemas.microsoft.com/office/powerpoint/2010/main" val="23876168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De aanbodlijn als MK-lijn">
            <a:extLst xmlns:a="http://schemas.openxmlformats.org/drawingml/2006/main">
              <a:ext uri="{FF2B5EF4-FFF2-40B4-BE49-F238E27FC236}">
                <a16:creationId xmlns:a16="http://schemas.microsoft.com/office/drawing/2014/main" id="{F2ABFD5A-75D1-4627-AADC-0D83AA5853D1}"/>
              </a:ext>
            </a:extLst>
          </p:cNvPr>
          <p:cNvSpPr>
            <a:spLocks xmlns:a="http://schemas.openxmlformats.org/drawingml/2006/main" noGrp="1"/>
          </p:cNvSpPr>
          <p:nvPr/>
        </p:nvSpPr>
        <p:spPr>
          <a:xfrm xmlns:a="http://schemas.openxmlformats.org/drawingml/2006/main">
            <a:off x="571500" y="361950"/>
            <a:ext cx="14097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De aanbodlijn als MK-lijn</a:t>
            </a:r>
          </a:p>
        </p:txBody>
      </p:sp>
      <p:sp>
        <p:nvSpPr>
          <p:cNvPr id="2" name="">
            <a:extLst xmlns:a="http://schemas.openxmlformats.org/drawingml/2006/main">
              <a:ext uri="{FF2B5EF4-FFF2-40B4-BE49-F238E27FC236}">
                <a16:creationId xmlns:a16="http://schemas.microsoft.com/office/drawing/2014/main" id="{26EDD09B-D20C-4E6F-9EF1-3D39AD1161AF}"/>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2.3.2 Producentensurplus en totaal surplus">
            <a:extLst xmlns:a="http://schemas.openxmlformats.org/drawingml/2006/main">
              <a:ext uri="{FF2B5EF4-FFF2-40B4-BE49-F238E27FC236}">
                <a16:creationId xmlns:a16="http://schemas.microsoft.com/office/drawing/2014/main" id="{8E1B60B9-5A57-47B9-AACB-42B16A77B23B}"/>
              </a:ext>
            </a:extLst>
          </p:cNvPr>
          <p:cNvSpPr>
            <a:spLocks xmlns:a="http://schemas.openxmlformats.org/drawingml/2006/main" noGrp="1"/>
          </p:cNvSpPr>
          <p:nvPr/>
        </p:nvSpPr>
        <p:spPr>
          <a:xfrm xmlns:a="http://schemas.openxmlformats.org/drawingml/2006/main">
            <a:off x="571500" y="8077200"/>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§2.3.2 Producentensurplus en totaal surplus</a:t>
            </a:r>
          </a:p>
        </p:txBody>
      </p:sp>
      <p:sp>
        <p:nvSpPr>
          <p:cNvPr id="4" name="6">
            <a:extLst xmlns:a="http://schemas.openxmlformats.org/drawingml/2006/main">
              <a:ext uri="{FF2B5EF4-FFF2-40B4-BE49-F238E27FC236}">
                <a16:creationId xmlns:a16="http://schemas.microsoft.com/office/drawing/2014/main" id="{54BA857B-C98D-4D35-BA28-E9E5A1BC934C}"/>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6</a:t>
            </a:r>
          </a:p>
        </p:txBody>
      </p:sp>
      <p:sp>
        <p:nvSpPr>
          <p:cNvPr id="5" name="Uitlegvoorbeeld — niet uit het boek · Fietsbellen">
            <a:extLst xmlns:a="http://schemas.openxmlformats.org/drawingml/2006/main">
              <a:ext uri="{FF2B5EF4-FFF2-40B4-BE49-F238E27FC236}">
                <a16:creationId xmlns:a16="http://schemas.microsoft.com/office/drawing/2014/main" id="{44EE2F33-0ADE-478B-BBF8-22787634BF8B}"/>
              </a:ext>
            </a:extLst>
          </p:cNvPr>
          <p:cNvSpPr>
            <a:spLocks xmlns:a="http://schemas.openxmlformats.org/drawingml/2006/main" noGrp="1"/>
          </p:cNvSpPr>
          <p:nvPr/>
        </p:nvSpPr>
        <p:spPr>
          <a:xfrm xmlns:a="http://schemas.openxmlformats.org/drawingml/2006/main">
            <a:off x="571500" y="1733550"/>
            <a:ext cx="14097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7658A"/>
                </a:solidFill>
                <a:latin typeface="Arial"/>
                <a:ea typeface="Arial"/>
                <a:cs typeface="Arial"/>
              </a:defRPr>
            </a:pPr>
            <a:r>
              <a:rPr sz="2175" b="1">
                <a:solidFill>
                  <a:srgbClr val="17658A"/>
                </a:solidFill>
                <a:latin typeface="Arial"/>
                <a:ea typeface="Arial"/>
                <a:cs typeface="Arial"/>
              </a:rPr>
              <a:t>Uitlegvoorbeeld — niet uit het boek · Fietsbellen</a:t>
            </a:r>
          </a:p>
        </p:txBody>
      </p:sp>
      <p:sp>
        <p:nvSpPr>
          <p:cNvPr id="6" name="Aanbod: P = 4 + 0,25Q">
            <a:extLst xmlns:a="http://schemas.openxmlformats.org/drawingml/2006/main">
              <a:ext uri="{FF2B5EF4-FFF2-40B4-BE49-F238E27FC236}">
                <a16:creationId xmlns:a16="http://schemas.microsoft.com/office/drawing/2014/main" id="{2BA844B9-A344-4BA1-B16C-37ECF4319837}"/>
              </a:ext>
            </a:extLst>
          </p:cNvPr>
          <p:cNvSpPr>
            <a:spLocks xmlns:a="http://schemas.openxmlformats.org/drawingml/2006/main" noGrp="1"/>
          </p:cNvSpPr>
          <p:nvPr/>
        </p:nvSpPr>
        <p:spPr>
          <a:xfrm xmlns:a="http://schemas.openxmlformats.org/drawingml/2006/main">
            <a:off x="571500" y="2571750"/>
            <a:ext cx="14097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20665B"/>
                </a:solidFill>
                <a:latin typeface="Arial"/>
                <a:ea typeface="Arial"/>
                <a:cs typeface="Arial"/>
              </a:defRPr>
            </a:pPr>
            <a:r>
              <a:rPr sz="3225" b="1">
                <a:solidFill>
                  <a:srgbClr val="20665B"/>
                </a:solidFill>
                <a:latin typeface="Arial"/>
                <a:ea typeface="Arial"/>
                <a:cs typeface="Arial"/>
              </a:rPr>
              <a:t>Aanbod: P = 4 + 0,25Q</a:t>
            </a:r>
          </a:p>
        </p:txBody>
      </p:sp>
      <p:graphicFrame>
        <p:nvGraphicFramePr>
          <p:cNvPr id="15" name=""/>
          <p:cNvGraphicFramePr/>
          <p:nvPr/>
        </p:nvGraphicFramePr>
        <p:xfrm>
          <a:off xmlns:a="http://schemas.openxmlformats.org/drawingml/2006/main" x="571500" y="3476625"/>
          <a:ext xmlns:a="http://schemas.openxmlformats.org/drawingml/2006/main" cx="14097000" cy="3190875"/>
        </p:xfrm>
        <a:graphic xmlns:a="http://schemas.openxmlformats.org/drawingml/2006/main">
          <a:graphicData uri="http://schemas.openxmlformats.org/drawingml/2006/table">
            <a:tbl>
              <a:tblPr/>
              <a:tblGrid>
                <a:gridCol w="4095750"/>
                <a:gridCol w="5905500"/>
                <a:gridCol w="4095750"/>
              </a:tblGrid>
              <a:tr h="797719">
                <a:tc>
                  <a:txBody>
                    <a:bodyPr lIns="171450" tIns="95250" rIns="152400" bIns="95250"/>
                    <a:lstStyle/>
                    <a:p>
                      <a:r>
                        <a:rPr sz="2475" b="1">
                          <a:solidFill>
                            <a:srgbClr val="FFFFFF"/>
                          </a:solidFill>
                          <a:latin typeface="Arial"/>
                          <a:ea typeface="Arial"/>
                          <a:cs typeface="Arial"/>
                        </a:rPr>
                        <a:t>Q (fietsbellen)</a:t>
                      </a:r>
                    </a:p>
                  </a:txBody>
                  <a:tcPr marL="91440" marR="91440" marT="45720" marB="45720" anchor="ctr">
                    <a:solidFill>
                      <a:srgbClr val="183247"/>
                    </a:solidFill>
                  </a:tcPr>
                </a:tc>
                <a:tc>
                  <a:txBody>
                    <a:bodyPr lIns="171450" tIns="95250" rIns="152400" bIns="95250"/>
                    <a:lstStyle/>
                    <a:p>
                      <a:r>
                        <a:rPr sz="2475" b="1">
                          <a:solidFill>
                            <a:srgbClr val="FFFFFF"/>
                          </a:solidFill>
                          <a:latin typeface="Arial"/>
                          <a:ea typeface="Arial"/>
                          <a:cs typeface="Arial"/>
                        </a:rPr>
                        <a:t>MK = 4 + 0,25Q</a:t>
                      </a:r>
                    </a:p>
                  </a:txBody>
                  <a:tcPr marL="91440" marR="91440" marT="45720" marB="45720" anchor="ctr">
                    <a:solidFill>
                      <a:srgbClr val="183247"/>
                    </a:solidFill>
                  </a:tcPr>
                </a:tc>
                <a:tc>
                  <a:txBody>
                    <a:bodyPr lIns="171450" tIns="95250" rIns="152400" bIns="95250"/>
                    <a:lstStyle/>
                    <a:p>
                      <a:r>
                        <a:rPr sz="2475" b="1">
                          <a:solidFill>
                            <a:srgbClr val="FFFFFF"/>
                          </a:solidFill>
                          <a:latin typeface="Arial"/>
                          <a:ea typeface="Arial"/>
                          <a:cs typeface="Arial"/>
                        </a:rPr>
                        <a:t>MK (€ per fietsbel)</a:t>
                      </a:r>
                    </a:p>
                  </a:txBody>
                  <a:tcPr marL="91440" marR="91440" marT="45720" marB="45720" anchor="ctr">
                    <a:solidFill>
                      <a:srgbClr val="183247"/>
                    </a:solidFill>
                  </a:tcPr>
                </a:tc>
              </a:tr>
              <a:tr h="797719">
                <a:tc>
                  <a:txBody>
                    <a:bodyPr lIns="171450" tIns="95250" rIns="152400" bIns="95250"/>
                    <a:lstStyle/>
                    <a:p>
                      <a:r>
                        <a:rPr sz="2475" b="0">
                          <a:solidFill>
                            <a:srgbClr val="183247"/>
                          </a:solidFill>
                          <a:latin typeface="Arial"/>
                          <a:ea typeface="Arial"/>
                          <a:cs typeface="Arial"/>
                        </a:rPr>
                        <a:t>16</a:t>
                      </a:r>
                    </a:p>
                  </a:txBody>
                  <a:tcPr marL="91440" marR="91440" marT="45720" marB="45720" anchor="ctr">
                    <a:solidFill>
                      <a:srgbClr val="FFFFFF"/>
                    </a:solidFill>
                  </a:tcPr>
                </a:tc>
                <a:tc>
                  <a:txBody>
                    <a:bodyPr lIns="171450" tIns="95250" rIns="152400" bIns="95250"/>
                    <a:lstStyle/>
                    <a:p>
                      <a:r>
                        <a:rPr sz="2475" b="0">
                          <a:solidFill>
                            <a:srgbClr val="183247"/>
                          </a:solidFill>
                          <a:latin typeface="Arial"/>
                          <a:ea typeface="Arial"/>
                          <a:cs typeface="Arial"/>
                        </a:rPr>
                        <a:t>4 + 0,25 × 16</a:t>
                      </a:r>
                    </a:p>
                  </a:txBody>
                  <a:tcPr marL="91440" marR="91440" marT="45720" marB="45720" anchor="ctr">
                    <a:solidFill>
                      <a:srgbClr val="FFFFFF"/>
                    </a:solidFill>
                  </a:tcPr>
                </a:tc>
                <a:tc>
                  <a:txBody>
                    <a:bodyPr lIns="171450" tIns="95250" rIns="152400" bIns="95250"/>
                    <a:lstStyle/>
                    <a:p>
                      <a:r>
                        <a:rPr sz="2475" b="0">
                          <a:solidFill>
                            <a:srgbClr val="183247"/>
                          </a:solidFill>
                          <a:latin typeface="Arial"/>
                          <a:ea typeface="Arial"/>
                          <a:cs typeface="Arial"/>
                        </a:rPr>
                        <a:t>8</a:t>
                      </a:r>
                    </a:p>
                  </a:txBody>
                  <a:tcPr marL="91440" marR="91440" marT="45720" marB="45720" anchor="ctr">
                    <a:solidFill>
                      <a:srgbClr val="FFFFFF"/>
                    </a:solidFill>
                  </a:tcPr>
                </a:tc>
              </a:tr>
              <a:tr h="797719">
                <a:tc>
                  <a:txBody>
                    <a:bodyPr lIns="171450" tIns="95250" rIns="152400" bIns="95250"/>
                    <a:lstStyle/>
                    <a:p>
                      <a:r>
                        <a:rPr sz="2475" b="0">
                          <a:solidFill>
                            <a:srgbClr val="183247"/>
                          </a:solidFill>
                          <a:latin typeface="Arial"/>
                          <a:ea typeface="Arial"/>
                          <a:cs typeface="Arial"/>
                        </a:rPr>
                        <a:t>32</a:t>
                      </a:r>
                    </a:p>
                  </a:txBody>
                  <a:tcPr marL="91440" marR="91440" marT="45720" marB="45720" anchor="ctr">
                    <a:solidFill>
                      <a:srgbClr val="EFF4F7"/>
                    </a:solidFill>
                  </a:tcPr>
                </a:tc>
                <a:tc>
                  <a:txBody>
                    <a:bodyPr lIns="171450" tIns="95250" rIns="152400" bIns="95250"/>
                    <a:lstStyle/>
                    <a:p>
                      <a:r>
                        <a:rPr sz="2475" b="0">
                          <a:solidFill>
                            <a:srgbClr val="183247"/>
                          </a:solidFill>
                          <a:latin typeface="Arial"/>
                          <a:ea typeface="Arial"/>
                          <a:cs typeface="Arial"/>
                        </a:rPr>
                        <a:t>4 + 0,25 × 32</a:t>
                      </a:r>
                    </a:p>
                  </a:txBody>
                  <a:tcPr marL="91440" marR="91440" marT="45720" marB="45720" anchor="ctr">
                    <a:solidFill>
                      <a:srgbClr val="EFF4F7"/>
                    </a:solidFill>
                  </a:tcPr>
                </a:tc>
                <a:tc>
                  <a:txBody>
                    <a:bodyPr lIns="171450" tIns="95250" rIns="152400" bIns="95250"/>
                    <a:lstStyle/>
                    <a:p>
                      <a:r>
                        <a:rPr sz="2475" b="0">
                          <a:solidFill>
                            <a:srgbClr val="183247"/>
                          </a:solidFill>
                          <a:latin typeface="Arial"/>
                          <a:ea typeface="Arial"/>
                          <a:cs typeface="Arial"/>
                        </a:rPr>
                        <a:t>12</a:t>
                      </a:r>
                    </a:p>
                  </a:txBody>
                  <a:tcPr marL="91440" marR="91440" marT="45720" marB="45720" anchor="ctr">
                    <a:solidFill>
                      <a:srgbClr val="EFF4F7"/>
                    </a:solidFill>
                  </a:tcPr>
                </a:tc>
              </a:tr>
              <a:tr h="797719">
                <a:tc>
                  <a:txBody>
                    <a:bodyPr lIns="171450" tIns="95250" rIns="152400" bIns="95250"/>
                    <a:lstStyle/>
                    <a:p>
                      <a:r>
                        <a:rPr sz="2475" b="0">
                          <a:solidFill>
                            <a:srgbClr val="183247"/>
                          </a:solidFill>
                          <a:latin typeface="Arial"/>
                          <a:ea typeface="Arial"/>
                          <a:cs typeface="Arial"/>
                        </a:rPr>
                        <a:t>48</a:t>
                      </a:r>
                    </a:p>
                  </a:txBody>
                  <a:tcPr marL="91440" marR="91440" marT="45720" marB="45720" anchor="ctr">
                    <a:solidFill>
                      <a:srgbClr val="FFFFFF"/>
                    </a:solidFill>
                  </a:tcPr>
                </a:tc>
                <a:tc>
                  <a:txBody>
                    <a:bodyPr lIns="171450" tIns="95250" rIns="152400" bIns="95250"/>
                    <a:lstStyle/>
                    <a:p>
                      <a:r>
                        <a:rPr sz="2475" b="0">
                          <a:solidFill>
                            <a:srgbClr val="183247"/>
                          </a:solidFill>
                          <a:latin typeface="Arial"/>
                          <a:ea typeface="Arial"/>
                          <a:cs typeface="Arial"/>
                        </a:rPr>
                        <a:t>4 + 0,25 × 48</a:t>
                      </a:r>
                    </a:p>
                  </a:txBody>
                  <a:tcPr marL="91440" marR="91440" marT="45720" marB="45720" anchor="ctr">
                    <a:solidFill>
                      <a:srgbClr val="FFFFFF"/>
                    </a:solidFill>
                  </a:tcPr>
                </a:tc>
                <a:tc>
                  <a:txBody>
                    <a:bodyPr lIns="171450" tIns="95250" rIns="152400" bIns="95250"/>
                    <a:lstStyle/>
                    <a:p>
                      <a:r>
                        <a:rPr sz="2475" b="0">
                          <a:solidFill>
                            <a:srgbClr val="183247"/>
                          </a:solidFill>
                          <a:latin typeface="Arial"/>
                          <a:ea typeface="Arial"/>
                          <a:cs typeface="Arial"/>
                        </a:rPr>
                        <a:t>16</a:t>
                      </a:r>
                    </a:p>
                  </a:txBody>
                  <a:tcPr marL="91440" marR="91440" marT="45720" marB="45720" anchor="ctr">
                    <a:solidFill>
                      <a:srgbClr val="FFFFFF"/>
                    </a:solidFill>
                  </a:tcPr>
                </a:tc>
              </a:tr>
            </a:tbl>
          </a:graphicData>
        </a:graphic>
      </p:graphicFrame>
      <p:sp>
        <p:nvSpPr>
          <p:cNvPr id="8" name="In dit model: opeenvolgende eenheden met steeds hogere MK.">
            <a:extLst xmlns:a="http://schemas.openxmlformats.org/drawingml/2006/main">
              <a:ext uri="{FF2B5EF4-FFF2-40B4-BE49-F238E27FC236}">
                <a16:creationId xmlns:a16="http://schemas.microsoft.com/office/drawing/2014/main" id="{FECECC3F-F7B1-4019-B150-4AD2B87FB06C}"/>
              </a:ext>
            </a:extLst>
          </p:cNvPr>
          <p:cNvSpPr>
            <a:spLocks xmlns:a="http://schemas.openxmlformats.org/drawingml/2006/main" noGrp="1"/>
          </p:cNvSpPr>
          <p:nvPr/>
        </p:nvSpPr>
        <p:spPr>
          <a:xfrm xmlns:a="http://schemas.openxmlformats.org/drawingml/2006/main">
            <a:off x="571500" y="7219950"/>
            <a:ext cx="1409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In dit model: opeenvolgende eenheden met steeds hogere MK.</a:t>
            </a:r>
          </a:p>
        </p:txBody>
      </p:sp>
    </p:spTree>
    <p:extLst>
      <p:ext uri="{BB962C8B-B14F-4D97-AF65-F5344CB8AC3E}">
        <p14:creationId xmlns:p14="http://schemas.microsoft.com/office/powerpoint/2010/main" val="1972999243"/>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Het marktevenwicht berekenen">
            <a:extLst xmlns:a="http://schemas.openxmlformats.org/drawingml/2006/main">
              <a:ext uri="{FF2B5EF4-FFF2-40B4-BE49-F238E27FC236}">
                <a16:creationId xmlns:a16="http://schemas.microsoft.com/office/drawing/2014/main" id="{E378E23E-3138-4A6C-8973-0A4C02ECC31B}"/>
              </a:ext>
            </a:extLst>
          </p:cNvPr>
          <p:cNvSpPr>
            <a:spLocks xmlns:a="http://schemas.openxmlformats.org/drawingml/2006/main" noGrp="1"/>
          </p:cNvSpPr>
          <p:nvPr/>
        </p:nvSpPr>
        <p:spPr>
          <a:xfrm xmlns:a="http://schemas.openxmlformats.org/drawingml/2006/main">
            <a:off x="571500" y="361950"/>
            <a:ext cx="14097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Het marktevenwicht berekenen</a:t>
            </a:r>
          </a:p>
        </p:txBody>
      </p:sp>
      <p:sp>
        <p:nvSpPr>
          <p:cNvPr id="2" name="">
            <a:extLst xmlns:a="http://schemas.openxmlformats.org/drawingml/2006/main">
              <a:ext uri="{FF2B5EF4-FFF2-40B4-BE49-F238E27FC236}">
                <a16:creationId xmlns:a16="http://schemas.microsoft.com/office/drawing/2014/main" id="{1040EB6B-63DC-41E3-9AA5-5E32CF8A25BA}"/>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2.3.2 Producentensurplus en totaal surplus">
            <a:extLst xmlns:a="http://schemas.openxmlformats.org/drawingml/2006/main">
              <a:ext uri="{FF2B5EF4-FFF2-40B4-BE49-F238E27FC236}">
                <a16:creationId xmlns:a16="http://schemas.microsoft.com/office/drawing/2014/main" id="{E029F737-1C23-462A-A620-15C963B61371}"/>
              </a:ext>
            </a:extLst>
          </p:cNvPr>
          <p:cNvSpPr>
            <a:spLocks xmlns:a="http://schemas.openxmlformats.org/drawingml/2006/main" noGrp="1"/>
          </p:cNvSpPr>
          <p:nvPr/>
        </p:nvSpPr>
        <p:spPr>
          <a:xfrm xmlns:a="http://schemas.openxmlformats.org/drawingml/2006/main">
            <a:off x="571500" y="8077200"/>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§2.3.2 Producentensurplus en totaal surplus</a:t>
            </a:r>
          </a:p>
        </p:txBody>
      </p:sp>
      <p:sp>
        <p:nvSpPr>
          <p:cNvPr id="4" name="7">
            <a:extLst xmlns:a="http://schemas.openxmlformats.org/drawingml/2006/main">
              <a:ext uri="{FF2B5EF4-FFF2-40B4-BE49-F238E27FC236}">
                <a16:creationId xmlns:a16="http://schemas.microsoft.com/office/drawing/2014/main" id="{7A15E7D5-A62B-4A4E-B046-CC5B8FBF241B}"/>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7</a:t>
            </a:r>
          </a:p>
        </p:txBody>
      </p:sp>
      <p:sp>
        <p:nvSpPr>
          <p:cNvPr id="5" name="Uitlegvoorbeeld — niet uit het boek · Fietsbellen">
            <a:extLst xmlns:a="http://schemas.openxmlformats.org/drawingml/2006/main">
              <a:ext uri="{FF2B5EF4-FFF2-40B4-BE49-F238E27FC236}">
                <a16:creationId xmlns:a16="http://schemas.microsoft.com/office/drawing/2014/main" id="{74D0FBDD-5CF1-439C-8324-B3D0D2AD4668}"/>
              </a:ext>
            </a:extLst>
          </p:cNvPr>
          <p:cNvSpPr>
            <a:spLocks xmlns:a="http://schemas.openxmlformats.org/drawingml/2006/main" noGrp="1"/>
          </p:cNvSpPr>
          <p:nvPr/>
        </p:nvSpPr>
        <p:spPr>
          <a:xfrm xmlns:a="http://schemas.openxmlformats.org/drawingml/2006/main">
            <a:off x="571500" y="1733550"/>
            <a:ext cx="14097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7658A"/>
                </a:solidFill>
                <a:latin typeface="Arial"/>
                <a:ea typeface="Arial"/>
                <a:cs typeface="Arial"/>
              </a:defRPr>
            </a:pPr>
            <a:r>
              <a:rPr sz="2175" b="1">
                <a:solidFill>
                  <a:srgbClr val="17658A"/>
                </a:solidFill>
                <a:latin typeface="Arial"/>
                <a:ea typeface="Arial"/>
                <a:cs typeface="Arial"/>
              </a:rPr>
              <a:t>Uitlegvoorbeeld — niet uit het boek · Fietsbellen</a:t>
            </a:r>
          </a:p>
        </p:txBody>
      </p:sp>
      <p:sp>
        <p:nvSpPr>
          <p:cNvPr id="6" name="Vraag: P = 28 − 0,5Q      Aanbod: P = 4 + 0,25Q">
            <a:extLst xmlns:a="http://schemas.openxmlformats.org/drawingml/2006/main">
              <a:ext uri="{FF2B5EF4-FFF2-40B4-BE49-F238E27FC236}">
                <a16:creationId xmlns:a16="http://schemas.microsoft.com/office/drawing/2014/main" id="{8F1ED2A6-9937-4DDA-80AD-79E06B31BA6D}"/>
              </a:ext>
            </a:extLst>
          </p:cNvPr>
          <p:cNvSpPr>
            <a:spLocks xmlns:a="http://schemas.openxmlformats.org/drawingml/2006/main" noGrp="1"/>
          </p:cNvSpPr>
          <p:nvPr/>
        </p:nvSpPr>
        <p:spPr>
          <a:xfrm xmlns:a="http://schemas.openxmlformats.org/drawingml/2006/main">
            <a:off x="571500" y="2476500"/>
            <a:ext cx="1409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83247"/>
                </a:solidFill>
                <a:latin typeface="Arial"/>
                <a:ea typeface="Arial"/>
                <a:cs typeface="Arial"/>
              </a:defRPr>
            </a:pPr>
            <a:r>
              <a:rPr sz="2925" b="1">
                <a:solidFill>
                  <a:srgbClr val="183247"/>
                </a:solidFill>
                <a:latin typeface="Arial"/>
                <a:ea typeface="Arial"/>
                <a:cs typeface="Arial"/>
              </a:rPr>
              <a:t>Vraag: P = 28 − 0,5Q      Aanbod: P = 4 + 0,25Q</a:t>
            </a:r>
          </a:p>
        </p:txBody>
      </p:sp>
      <p:sp>
        <p:nvSpPr>
          <p:cNvPr id="7" name="Dezelfde Q en P">
            <a:extLst xmlns:a="http://schemas.openxmlformats.org/drawingml/2006/main">
              <a:ext uri="{FF2B5EF4-FFF2-40B4-BE49-F238E27FC236}">
                <a16:creationId xmlns:a16="http://schemas.microsoft.com/office/drawing/2014/main" id="{53293FAF-963E-41B2-8F8D-A054CF08C511}"/>
              </a:ext>
            </a:extLst>
          </p:cNvPr>
          <p:cNvSpPr>
            <a:spLocks xmlns:a="http://schemas.openxmlformats.org/drawingml/2006/main" noGrp="1"/>
          </p:cNvSpPr>
          <p:nvPr/>
        </p:nvSpPr>
        <p:spPr>
          <a:xfrm xmlns:a="http://schemas.openxmlformats.org/drawingml/2006/main">
            <a:off x="571500" y="3552825"/>
            <a:ext cx="4953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7658A"/>
                </a:solidFill>
                <a:latin typeface="Arial"/>
                <a:ea typeface="Arial"/>
                <a:cs typeface="Arial"/>
              </a:defRPr>
            </a:pPr>
            <a:r>
              <a:rPr sz="2700" b="1">
                <a:solidFill>
                  <a:srgbClr val="17658A"/>
                </a:solidFill>
                <a:latin typeface="Arial"/>
                <a:ea typeface="Arial"/>
                <a:cs typeface="Arial"/>
              </a:rPr>
              <a:t>Dezelfde Q en P</a:t>
            </a:r>
          </a:p>
        </p:txBody>
      </p:sp>
      <p:sp>
        <p:nvSpPr>
          <p:cNvPr id="8" name="28 − 0,5Q = 4 + 0,25Q">
            <a:extLst xmlns:a="http://schemas.openxmlformats.org/drawingml/2006/main">
              <a:ext uri="{FF2B5EF4-FFF2-40B4-BE49-F238E27FC236}">
                <a16:creationId xmlns:a16="http://schemas.microsoft.com/office/drawing/2014/main" id="{3E972AE4-7B80-4A05-8A32-37585B51B140}"/>
              </a:ext>
            </a:extLst>
          </p:cNvPr>
          <p:cNvSpPr>
            <a:spLocks xmlns:a="http://schemas.openxmlformats.org/drawingml/2006/main" noGrp="1"/>
          </p:cNvSpPr>
          <p:nvPr/>
        </p:nvSpPr>
        <p:spPr>
          <a:xfrm xmlns:a="http://schemas.openxmlformats.org/drawingml/2006/main">
            <a:off x="5905500" y="3552825"/>
            <a:ext cx="8763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0">
                <a:solidFill>
                  <a:srgbClr val="183247"/>
                </a:solidFill>
                <a:latin typeface="Arial"/>
                <a:ea typeface="Arial"/>
                <a:cs typeface="Arial"/>
              </a:defRPr>
            </a:pPr>
            <a:r>
              <a:rPr sz="2850" b="0">
                <a:solidFill>
                  <a:srgbClr val="183247"/>
                </a:solidFill>
                <a:latin typeface="Arial"/>
                <a:ea typeface="Arial"/>
                <a:cs typeface="Arial"/>
              </a:rPr>
              <a:t>28 − 0,5Q = 4 + 0,25Q</a:t>
            </a:r>
          </a:p>
        </p:txBody>
      </p:sp>
      <p:sp>
        <p:nvSpPr>
          <p:cNvPr id="9" name="Q bepalen">
            <a:extLst xmlns:a="http://schemas.openxmlformats.org/drawingml/2006/main">
              <a:ext uri="{FF2B5EF4-FFF2-40B4-BE49-F238E27FC236}">
                <a16:creationId xmlns:a16="http://schemas.microsoft.com/office/drawing/2014/main" id="{5D22522A-8BBB-4AF3-89AD-9938ECD180A8}"/>
              </a:ext>
            </a:extLst>
          </p:cNvPr>
          <p:cNvSpPr>
            <a:spLocks xmlns:a="http://schemas.openxmlformats.org/drawingml/2006/main" noGrp="1"/>
          </p:cNvSpPr>
          <p:nvPr/>
        </p:nvSpPr>
        <p:spPr>
          <a:xfrm xmlns:a="http://schemas.openxmlformats.org/drawingml/2006/main">
            <a:off x="571500" y="4810125"/>
            <a:ext cx="4953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7658A"/>
                </a:solidFill>
                <a:latin typeface="Arial"/>
                <a:ea typeface="Arial"/>
                <a:cs typeface="Arial"/>
              </a:defRPr>
            </a:pPr>
            <a:r>
              <a:rPr sz="2700" b="1">
                <a:solidFill>
                  <a:srgbClr val="17658A"/>
                </a:solidFill>
                <a:latin typeface="Arial"/>
                <a:ea typeface="Arial"/>
                <a:cs typeface="Arial"/>
              </a:rPr>
              <a:t>Q bepalen</a:t>
            </a:r>
          </a:p>
        </p:txBody>
      </p:sp>
      <p:sp>
        <p:nvSpPr>
          <p:cNvPr id="10" name="24 = 0,75Q     dus Qe = 32 fietsbellen">
            <a:extLst xmlns:a="http://schemas.openxmlformats.org/drawingml/2006/main">
              <a:ext uri="{FF2B5EF4-FFF2-40B4-BE49-F238E27FC236}">
                <a16:creationId xmlns:a16="http://schemas.microsoft.com/office/drawing/2014/main" id="{47D2D34F-7551-4444-B3F4-C9A41AD1099D}"/>
              </a:ext>
            </a:extLst>
          </p:cNvPr>
          <p:cNvSpPr>
            <a:spLocks xmlns:a="http://schemas.openxmlformats.org/drawingml/2006/main" noGrp="1"/>
          </p:cNvSpPr>
          <p:nvPr/>
        </p:nvSpPr>
        <p:spPr>
          <a:xfrm xmlns:a="http://schemas.openxmlformats.org/drawingml/2006/main">
            <a:off x="5905500" y="4810125"/>
            <a:ext cx="8763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0">
                <a:solidFill>
                  <a:srgbClr val="183247"/>
                </a:solidFill>
                <a:latin typeface="Arial"/>
                <a:ea typeface="Arial"/>
                <a:cs typeface="Arial"/>
              </a:defRPr>
            </a:pPr>
            <a:r>
              <a:rPr sz="2850" b="0">
                <a:solidFill>
                  <a:srgbClr val="183247"/>
                </a:solidFill>
                <a:latin typeface="Arial"/>
                <a:ea typeface="Arial"/>
                <a:cs typeface="Arial"/>
              </a:rPr>
              <a:t>24 = 0,75Q     dus Qe = 32 fietsbellen</a:t>
            </a:r>
          </a:p>
        </p:txBody>
      </p:sp>
      <p:sp>
        <p:nvSpPr>
          <p:cNvPr id="11" name="P invullen">
            <a:extLst xmlns:a="http://schemas.openxmlformats.org/drawingml/2006/main">
              <a:ext uri="{FF2B5EF4-FFF2-40B4-BE49-F238E27FC236}">
                <a16:creationId xmlns:a16="http://schemas.microsoft.com/office/drawing/2014/main" id="{C309BE3B-9128-4708-BC44-AB0351E0065A}"/>
              </a:ext>
            </a:extLst>
          </p:cNvPr>
          <p:cNvSpPr>
            <a:spLocks xmlns:a="http://schemas.openxmlformats.org/drawingml/2006/main" noGrp="1"/>
          </p:cNvSpPr>
          <p:nvPr/>
        </p:nvSpPr>
        <p:spPr>
          <a:xfrm xmlns:a="http://schemas.openxmlformats.org/drawingml/2006/main">
            <a:off x="571500" y="6067425"/>
            <a:ext cx="4953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7658A"/>
                </a:solidFill>
                <a:latin typeface="Arial"/>
                <a:ea typeface="Arial"/>
                <a:cs typeface="Arial"/>
              </a:defRPr>
            </a:pPr>
            <a:r>
              <a:rPr sz="2700" b="1">
                <a:solidFill>
                  <a:srgbClr val="17658A"/>
                </a:solidFill>
                <a:latin typeface="Arial"/>
                <a:ea typeface="Arial"/>
                <a:cs typeface="Arial"/>
              </a:rPr>
              <a:t>P invullen</a:t>
            </a:r>
          </a:p>
        </p:txBody>
      </p:sp>
      <p:sp>
        <p:nvSpPr>
          <p:cNvPr id="12" name="Pe = 28 − 0,5 × 32 = € 12 per fietsbel">
            <a:extLst xmlns:a="http://schemas.openxmlformats.org/drawingml/2006/main">
              <a:ext uri="{FF2B5EF4-FFF2-40B4-BE49-F238E27FC236}">
                <a16:creationId xmlns:a16="http://schemas.microsoft.com/office/drawing/2014/main" id="{2AB96E2F-6220-4D31-B78A-DEE3352FD39A}"/>
              </a:ext>
            </a:extLst>
          </p:cNvPr>
          <p:cNvSpPr>
            <a:spLocks xmlns:a="http://schemas.openxmlformats.org/drawingml/2006/main" noGrp="1"/>
          </p:cNvSpPr>
          <p:nvPr/>
        </p:nvSpPr>
        <p:spPr>
          <a:xfrm xmlns:a="http://schemas.openxmlformats.org/drawingml/2006/main">
            <a:off x="5905500" y="6067425"/>
            <a:ext cx="8763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0">
                <a:solidFill>
                  <a:srgbClr val="183247"/>
                </a:solidFill>
                <a:latin typeface="Arial"/>
                <a:ea typeface="Arial"/>
                <a:cs typeface="Arial"/>
              </a:defRPr>
            </a:pPr>
            <a:r>
              <a:rPr sz="2850" b="0">
                <a:solidFill>
                  <a:srgbClr val="183247"/>
                </a:solidFill>
                <a:latin typeface="Arial"/>
                <a:ea typeface="Arial"/>
                <a:cs typeface="Arial"/>
              </a:rPr>
              <a:t>Pe = 28 − 0,5 × 32 = € 12 per fietsbel</a:t>
            </a:r>
          </a:p>
        </p:txBody>
      </p:sp>
      <p:sp>
        <p:nvSpPr>
          <p:cNvPr id="13" name="Controle in aanbod: 4 + 0,25 × 32 = 12">
            <a:extLst xmlns:a="http://schemas.openxmlformats.org/drawingml/2006/main">
              <a:ext uri="{FF2B5EF4-FFF2-40B4-BE49-F238E27FC236}">
                <a16:creationId xmlns:a16="http://schemas.microsoft.com/office/drawing/2014/main" id="{CBAAC5FF-A5FB-44E3-BD0B-6C326F5C8D86}"/>
              </a:ext>
            </a:extLst>
          </p:cNvPr>
          <p:cNvSpPr>
            <a:spLocks xmlns:a="http://schemas.openxmlformats.org/drawingml/2006/main" noGrp="1"/>
          </p:cNvSpPr>
          <p:nvPr/>
        </p:nvSpPr>
        <p:spPr>
          <a:xfrm xmlns:a="http://schemas.openxmlformats.org/drawingml/2006/main">
            <a:off x="571500" y="7419975"/>
            <a:ext cx="14097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20665B"/>
                </a:solidFill>
                <a:latin typeface="Arial"/>
                <a:ea typeface="Arial"/>
                <a:cs typeface="Arial"/>
              </a:defRPr>
            </a:pPr>
            <a:r>
              <a:rPr sz="2550" b="1">
                <a:solidFill>
                  <a:srgbClr val="20665B"/>
                </a:solidFill>
                <a:latin typeface="Arial"/>
                <a:ea typeface="Arial"/>
                <a:cs typeface="Arial"/>
              </a:rPr>
              <a:t>Controle in aanbod: 4 + 0,25 × 32 = 12</a:t>
            </a:r>
          </a:p>
        </p:txBody>
      </p:sp>
    </p:spTree>
    <p:extLst>
      <p:ext uri="{BB962C8B-B14F-4D97-AF65-F5344CB8AC3E}">
        <p14:creationId xmlns:p14="http://schemas.microsoft.com/office/powerpoint/2010/main" val="180434921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Het evenwicht in de grafiek">
            <a:extLst xmlns:a="http://schemas.openxmlformats.org/drawingml/2006/main">
              <a:ext uri="{FF2B5EF4-FFF2-40B4-BE49-F238E27FC236}">
                <a16:creationId xmlns:a16="http://schemas.microsoft.com/office/drawing/2014/main" id="{81F09A7B-1B6E-4EFA-85A4-B0D3EACEC970}"/>
              </a:ext>
            </a:extLst>
          </p:cNvPr>
          <p:cNvSpPr>
            <a:spLocks xmlns:a="http://schemas.openxmlformats.org/drawingml/2006/main" noGrp="1"/>
          </p:cNvSpPr>
          <p:nvPr/>
        </p:nvSpPr>
        <p:spPr>
          <a:xfrm xmlns:a="http://schemas.openxmlformats.org/drawingml/2006/main">
            <a:off x="571500" y="361950"/>
            <a:ext cx="14097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Het evenwicht in de grafiek</a:t>
            </a:r>
          </a:p>
        </p:txBody>
      </p:sp>
      <p:sp>
        <p:nvSpPr>
          <p:cNvPr id="2" name="">
            <a:extLst xmlns:a="http://schemas.openxmlformats.org/drawingml/2006/main">
              <a:ext uri="{FF2B5EF4-FFF2-40B4-BE49-F238E27FC236}">
                <a16:creationId xmlns:a16="http://schemas.microsoft.com/office/drawing/2014/main" id="{8B359A2D-EB94-4334-B2C7-45CDD5ACA6D0}"/>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2.3.2 Producentensurplus en totaal surplus">
            <a:extLst xmlns:a="http://schemas.openxmlformats.org/drawingml/2006/main">
              <a:ext uri="{FF2B5EF4-FFF2-40B4-BE49-F238E27FC236}">
                <a16:creationId xmlns:a16="http://schemas.microsoft.com/office/drawing/2014/main" id="{08316476-CA9F-47BB-A572-54FD9FBF31BF}"/>
              </a:ext>
            </a:extLst>
          </p:cNvPr>
          <p:cNvSpPr>
            <a:spLocks xmlns:a="http://schemas.openxmlformats.org/drawingml/2006/main" noGrp="1"/>
          </p:cNvSpPr>
          <p:nvPr/>
        </p:nvSpPr>
        <p:spPr>
          <a:xfrm xmlns:a="http://schemas.openxmlformats.org/drawingml/2006/main">
            <a:off x="571500" y="8077200"/>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§2.3.2 Producentensurplus en totaal surplus</a:t>
            </a:r>
          </a:p>
        </p:txBody>
      </p:sp>
      <p:sp>
        <p:nvSpPr>
          <p:cNvPr id="4" name="8">
            <a:extLst xmlns:a="http://schemas.openxmlformats.org/drawingml/2006/main">
              <a:ext uri="{FF2B5EF4-FFF2-40B4-BE49-F238E27FC236}">
                <a16:creationId xmlns:a16="http://schemas.microsoft.com/office/drawing/2014/main" id="{793804EF-D3DD-49A6-92E3-39AA981EFE9C}"/>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8</a:t>
            </a:r>
          </a:p>
        </p:txBody>
      </p:sp>
      <p:sp>
        <p:nvSpPr>
          <p:cNvPr id="5" name="Uitlegvoorbeeld — niet uit het boek · Fietsbellen">
            <a:extLst xmlns:a="http://schemas.openxmlformats.org/drawingml/2006/main">
              <a:ext uri="{FF2B5EF4-FFF2-40B4-BE49-F238E27FC236}">
                <a16:creationId xmlns:a16="http://schemas.microsoft.com/office/drawing/2014/main" id="{133E45F6-CE77-4609-A0F4-FE79887AEE2A}"/>
              </a:ext>
            </a:extLst>
          </p:cNvPr>
          <p:cNvSpPr>
            <a:spLocks xmlns:a="http://schemas.openxmlformats.org/drawingml/2006/main" noGrp="1"/>
          </p:cNvSpPr>
          <p:nvPr/>
        </p:nvSpPr>
        <p:spPr>
          <a:xfrm xmlns:a="http://schemas.openxmlformats.org/drawingml/2006/main">
            <a:off x="571500" y="1733550"/>
            <a:ext cx="14097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7658A"/>
                </a:solidFill>
                <a:latin typeface="Arial"/>
                <a:ea typeface="Arial"/>
                <a:cs typeface="Arial"/>
              </a:defRPr>
            </a:pPr>
            <a:r>
              <a:rPr sz="2175" b="1">
                <a:solidFill>
                  <a:srgbClr val="17658A"/>
                </a:solidFill>
                <a:latin typeface="Arial"/>
                <a:ea typeface="Arial"/>
                <a:cs typeface="Arial"/>
              </a:rPr>
              <a:t>Uitlegvoorbeeld — niet uit het boek · Fietsbellen</a:t>
            </a:r>
          </a:p>
        </p:txBody>
      </p:sp>
      <p:graphicFrame>
        <p:nvGraphicFramePr>
          <p:cNvPr id="15" name="Chart"/>
          <p:cNvGraphicFramePr/>
          <p:nvPr/>
        </p:nvGraphicFramePr>
        <p:xfrm>
          <a:off xmlns:a="http://schemas.openxmlformats.org/drawingml/2006/main" x="571500" y="2381250"/>
          <a:ext xmlns:a="http://schemas.openxmlformats.org/drawingml/2006/main" cx="9906000" cy="5238750"/>
        </p:xfrm>
        <a:graphic xmlns:a="http://schemas.openxmlformats.org/drawingml/2006/main">
          <a:graphicData uri="http://schemas.openxmlformats.org/drawingml/2006/chart">
            <c:chart xmlns:r="http://schemas.openxmlformats.org/officeDocument/2006/relationships" xmlns:c="http://schemas.openxmlformats.org/drawingml/2006/chart" r:id="R02877e5238e24494"/>
          </a:graphicData>
        </a:graphic>
      </p:graphicFrame>
      <p:sp>
        <p:nvSpPr>
          <p:cNvPr id="7" name="E = (32; 12)">
            <a:extLst xmlns:a="http://schemas.openxmlformats.org/drawingml/2006/main">
              <a:ext uri="{FF2B5EF4-FFF2-40B4-BE49-F238E27FC236}">
                <a16:creationId xmlns:a16="http://schemas.microsoft.com/office/drawing/2014/main" id="{CB1BC36F-F953-40E6-8F36-2C5C314F44FD}"/>
              </a:ext>
            </a:extLst>
          </p:cNvPr>
          <p:cNvSpPr>
            <a:spLocks xmlns:a="http://schemas.openxmlformats.org/drawingml/2006/main" noGrp="1"/>
          </p:cNvSpPr>
          <p:nvPr/>
        </p:nvSpPr>
        <p:spPr>
          <a:xfrm xmlns:a="http://schemas.openxmlformats.org/drawingml/2006/main">
            <a:off x="10953750" y="2695575"/>
            <a:ext cx="371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83247"/>
                </a:solidFill>
                <a:latin typeface="Arial"/>
                <a:ea typeface="Arial"/>
                <a:cs typeface="Arial"/>
              </a:defRPr>
            </a:pPr>
            <a:r>
              <a:rPr sz="3000" b="1">
                <a:solidFill>
                  <a:srgbClr val="183247"/>
                </a:solidFill>
                <a:latin typeface="Arial"/>
                <a:ea typeface="Arial"/>
                <a:cs typeface="Arial"/>
              </a:rPr>
              <a:t>E = (32; 12)</a:t>
            </a:r>
          </a:p>
        </p:txBody>
      </p:sp>
      <p:sp>
        <p:nvSpPr>
          <p:cNvPr id="8" name="Qe = 32 fietsbellen&#10;&#10;Pe = € 12&#10;per fietsbel">
            <a:extLst xmlns:a="http://schemas.openxmlformats.org/drawingml/2006/main">
              <a:ext uri="{FF2B5EF4-FFF2-40B4-BE49-F238E27FC236}">
                <a16:creationId xmlns:a16="http://schemas.microsoft.com/office/drawing/2014/main" id="{2C5B1CAD-0194-4B21-BC0A-91CB3F432659}"/>
              </a:ext>
            </a:extLst>
          </p:cNvPr>
          <p:cNvSpPr>
            <a:spLocks xmlns:a="http://schemas.openxmlformats.org/drawingml/2006/main" noGrp="1"/>
          </p:cNvSpPr>
          <p:nvPr/>
        </p:nvSpPr>
        <p:spPr>
          <a:xfrm xmlns:a="http://schemas.openxmlformats.org/drawingml/2006/main">
            <a:off x="10953750" y="3619500"/>
            <a:ext cx="3714750" cy="2152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0">
                <a:solidFill>
                  <a:srgbClr val="183247"/>
                </a:solidFill>
                <a:latin typeface="Arial"/>
                <a:ea typeface="Arial"/>
                <a:cs typeface="Arial"/>
              </a:defRPr>
            </a:pPr>
            <a:r>
              <a:rPr sz="2625" b="0">
                <a:solidFill>
                  <a:srgbClr val="183247"/>
                </a:solidFill>
                <a:latin typeface="Arial"/>
                <a:ea typeface="Arial"/>
                <a:cs typeface="Arial"/>
              </a:rPr>
              <a:t>Qe = 32 fietsbellen</a:t>
            </a:r>
          </a:p>
          <a:p xmlns:a="http://schemas.openxmlformats.org/drawingml/2006/main">
            <a:r>
              <a:t/>
            </a:r>
          </a:p>
          <a:p xmlns:a="http://schemas.openxmlformats.org/drawingml/2006/main">
            <a:pPr algn="l">
              <a:defRPr sz="2625" b="0">
                <a:solidFill>
                  <a:srgbClr val="183247"/>
                </a:solidFill>
                <a:latin typeface="Arial"/>
                <a:ea typeface="Arial"/>
                <a:cs typeface="Arial"/>
              </a:defRPr>
            </a:pPr>
            <a:r>
              <a:rPr sz="2625" b="0">
                <a:solidFill>
                  <a:srgbClr val="183247"/>
                </a:solidFill>
                <a:latin typeface="Arial"/>
                <a:ea typeface="Arial"/>
                <a:cs typeface="Arial"/>
              </a:rPr>
              <a:t>Pe = € 12</a:t>
            </a:r>
          </a:p>
          <a:p xmlns:a="http://schemas.openxmlformats.org/drawingml/2006/main">
            <a:pPr algn="l">
              <a:defRPr sz="2625" b="0">
                <a:solidFill>
                  <a:srgbClr val="183247"/>
                </a:solidFill>
                <a:latin typeface="Arial"/>
                <a:ea typeface="Arial"/>
                <a:cs typeface="Arial"/>
              </a:defRPr>
            </a:pPr>
            <a:r>
              <a:rPr sz="2625" b="0">
                <a:solidFill>
                  <a:srgbClr val="183247"/>
                </a:solidFill>
                <a:latin typeface="Arial"/>
                <a:ea typeface="Arial"/>
                <a:cs typeface="Arial"/>
              </a:rPr>
              <a:t>per fietsbel</a:t>
            </a:r>
          </a:p>
        </p:txBody>
      </p:sp>
      <p:sp>
        <p:nvSpPr>
          <p:cNvPr id="9" name="Beide lijnen geven&#10;bij Q = 32&#10;dezelfde prijs.">
            <a:extLst xmlns:a="http://schemas.openxmlformats.org/drawingml/2006/main">
              <a:ext uri="{FF2B5EF4-FFF2-40B4-BE49-F238E27FC236}">
                <a16:creationId xmlns:a16="http://schemas.microsoft.com/office/drawing/2014/main" id="{17082BE2-E217-4E41-A6AE-33E8CC711A17}"/>
              </a:ext>
            </a:extLst>
          </p:cNvPr>
          <p:cNvSpPr>
            <a:spLocks xmlns:a="http://schemas.openxmlformats.org/drawingml/2006/main" noGrp="1"/>
          </p:cNvSpPr>
          <p:nvPr/>
        </p:nvSpPr>
        <p:spPr>
          <a:xfrm xmlns:a="http://schemas.openxmlformats.org/drawingml/2006/main">
            <a:off x="10953750" y="6238875"/>
            <a:ext cx="3714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83247"/>
                </a:solidFill>
                <a:latin typeface="Arial"/>
                <a:ea typeface="Arial"/>
                <a:cs typeface="Arial"/>
              </a:defRPr>
            </a:pPr>
            <a:r>
              <a:rPr sz="2550" b="1">
                <a:solidFill>
                  <a:srgbClr val="183247"/>
                </a:solidFill>
                <a:latin typeface="Arial"/>
                <a:ea typeface="Arial"/>
                <a:cs typeface="Arial"/>
              </a:rPr>
              <a:t>Beide lijnen geven</a:t>
            </a:r>
          </a:p>
          <a:p xmlns:a="http://schemas.openxmlformats.org/drawingml/2006/main">
            <a:pPr algn="l">
              <a:defRPr sz="2550" b="1">
                <a:solidFill>
                  <a:srgbClr val="183247"/>
                </a:solidFill>
                <a:latin typeface="Arial"/>
                <a:ea typeface="Arial"/>
                <a:cs typeface="Arial"/>
              </a:defRPr>
            </a:pPr>
            <a:r>
              <a:rPr sz="2550" b="1">
                <a:solidFill>
                  <a:srgbClr val="183247"/>
                </a:solidFill>
                <a:latin typeface="Arial"/>
                <a:ea typeface="Arial"/>
                <a:cs typeface="Arial"/>
              </a:rPr>
              <a:t>bij Q = 32</a:t>
            </a:r>
          </a:p>
          <a:p xmlns:a="http://schemas.openxmlformats.org/drawingml/2006/main">
            <a:pPr algn="l">
              <a:defRPr sz="2550" b="1">
                <a:solidFill>
                  <a:srgbClr val="183247"/>
                </a:solidFill>
                <a:latin typeface="Arial"/>
                <a:ea typeface="Arial"/>
                <a:cs typeface="Arial"/>
              </a:defRPr>
            </a:pPr>
            <a:r>
              <a:rPr sz="2550" b="1">
                <a:solidFill>
                  <a:srgbClr val="183247"/>
                </a:solidFill>
                <a:latin typeface="Arial"/>
                <a:ea typeface="Arial"/>
                <a:cs typeface="Arial"/>
              </a:rPr>
              <a:t>dezelfde prijs.</a:t>
            </a:r>
          </a:p>
        </p:txBody>
      </p:sp>
    </p:spTree>
    <p:extLst>
      <p:ext uri="{BB962C8B-B14F-4D97-AF65-F5344CB8AC3E}">
        <p14:creationId xmlns:p14="http://schemas.microsoft.com/office/powerpoint/2010/main" val="2057550536"/>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Consumentensurplus boven de prijs">
            <a:extLst xmlns:a="http://schemas.openxmlformats.org/drawingml/2006/main">
              <a:ext uri="{FF2B5EF4-FFF2-40B4-BE49-F238E27FC236}">
                <a16:creationId xmlns:a16="http://schemas.microsoft.com/office/drawing/2014/main" id="{DCAF682F-2C6A-400C-951D-945EA99185B3}"/>
              </a:ext>
            </a:extLst>
          </p:cNvPr>
          <p:cNvSpPr>
            <a:spLocks xmlns:a="http://schemas.openxmlformats.org/drawingml/2006/main" noGrp="1"/>
          </p:cNvSpPr>
          <p:nvPr/>
        </p:nvSpPr>
        <p:spPr>
          <a:xfrm xmlns:a="http://schemas.openxmlformats.org/drawingml/2006/main">
            <a:off x="571500" y="361950"/>
            <a:ext cx="14097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Consumentensurplus boven de prijs</a:t>
            </a:r>
          </a:p>
        </p:txBody>
      </p:sp>
      <p:sp>
        <p:nvSpPr>
          <p:cNvPr id="2" name="">
            <a:extLst xmlns:a="http://schemas.openxmlformats.org/drawingml/2006/main">
              <a:ext uri="{FF2B5EF4-FFF2-40B4-BE49-F238E27FC236}">
                <a16:creationId xmlns:a16="http://schemas.microsoft.com/office/drawing/2014/main" id="{01FBF2E7-ACCB-4995-ABA7-42B2F4EFA626}"/>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2.3.2 Producentensurplus en totaal surplus">
            <a:extLst xmlns:a="http://schemas.openxmlformats.org/drawingml/2006/main">
              <a:ext uri="{FF2B5EF4-FFF2-40B4-BE49-F238E27FC236}">
                <a16:creationId xmlns:a16="http://schemas.microsoft.com/office/drawing/2014/main" id="{9F791313-1B70-4413-A984-244D92E2E238}"/>
              </a:ext>
            </a:extLst>
          </p:cNvPr>
          <p:cNvSpPr>
            <a:spLocks xmlns:a="http://schemas.openxmlformats.org/drawingml/2006/main" noGrp="1"/>
          </p:cNvSpPr>
          <p:nvPr/>
        </p:nvSpPr>
        <p:spPr>
          <a:xfrm xmlns:a="http://schemas.openxmlformats.org/drawingml/2006/main">
            <a:off x="571500" y="8077200"/>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§2.3.2 Producentensurplus en totaal surplus</a:t>
            </a:r>
          </a:p>
        </p:txBody>
      </p:sp>
      <p:sp>
        <p:nvSpPr>
          <p:cNvPr id="4" name="9">
            <a:extLst xmlns:a="http://schemas.openxmlformats.org/drawingml/2006/main">
              <a:ext uri="{FF2B5EF4-FFF2-40B4-BE49-F238E27FC236}">
                <a16:creationId xmlns:a16="http://schemas.microsoft.com/office/drawing/2014/main" id="{EDE31EC8-A318-4965-857C-5A1E49A5223D}"/>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9</a:t>
            </a:r>
          </a:p>
        </p:txBody>
      </p:sp>
      <p:sp>
        <p:nvSpPr>
          <p:cNvPr id="5" name="Uitlegvoorbeeld — niet uit het boek · Fietsbellen">
            <a:extLst xmlns:a="http://schemas.openxmlformats.org/drawingml/2006/main">
              <a:ext uri="{FF2B5EF4-FFF2-40B4-BE49-F238E27FC236}">
                <a16:creationId xmlns:a16="http://schemas.microsoft.com/office/drawing/2014/main" id="{B882F189-6C29-44F9-B763-62008FF453CC}"/>
              </a:ext>
            </a:extLst>
          </p:cNvPr>
          <p:cNvSpPr>
            <a:spLocks xmlns:a="http://schemas.openxmlformats.org/drawingml/2006/main" noGrp="1"/>
          </p:cNvSpPr>
          <p:nvPr/>
        </p:nvSpPr>
        <p:spPr>
          <a:xfrm xmlns:a="http://schemas.openxmlformats.org/drawingml/2006/main">
            <a:off x="571500" y="1733550"/>
            <a:ext cx="14097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7658A"/>
                </a:solidFill>
                <a:latin typeface="Arial"/>
                <a:ea typeface="Arial"/>
                <a:cs typeface="Arial"/>
              </a:defRPr>
            </a:pPr>
            <a:r>
              <a:rPr sz="2175" b="1">
                <a:solidFill>
                  <a:srgbClr val="17658A"/>
                </a:solidFill>
                <a:latin typeface="Arial"/>
                <a:ea typeface="Arial"/>
                <a:cs typeface="Arial"/>
              </a:rPr>
              <a:t>Uitlegvoorbeeld — niet uit het boek · Fietsbellen</a:t>
            </a:r>
          </a:p>
        </p:txBody>
      </p:sp>
      <p:graphicFrame>
        <p:nvGraphicFramePr>
          <p:cNvPr id="15" name="Chart"/>
          <p:cNvGraphicFramePr/>
          <p:nvPr/>
        </p:nvGraphicFramePr>
        <p:xfrm>
          <a:off xmlns:a="http://schemas.openxmlformats.org/drawingml/2006/main" x="571500" y="2381250"/>
          <a:ext xmlns:a="http://schemas.openxmlformats.org/drawingml/2006/main" cx="9906000" cy="5238750"/>
        </p:xfrm>
        <a:graphic xmlns:a="http://schemas.openxmlformats.org/drawingml/2006/main">
          <a:graphicData uri="http://schemas.openxmlformats.org/drawingml/2006/chart">
            <c:chart xmlns:r="http://schemas.openxmlformats.org/officeDocument/2006/relationships" xmlns:c="http://schemas.openxmlformats.org/drawingml/2006/chart" r:id="R8b5200e254ac4faa"/>
          </a:graphicData>
        </a:graphic>
      </p:graphicFrame>
      <p:sp>
        <p:nvSpPr>
          <p:cNvPr id="7" name="Basis: 32 fietsbellen">
            <a:extLst xmlns:a="http://schemas.openxmlformats.org/drawingml/2006/main">
              <a:ext uri="{FF2B5EF4-FFF2-40B4-BE49-F238E27FC236}">
                <a16:creationId xmlns:a16="http://schemas.microsoft.com/office/drawing/2014/main" id="{E2C2B2DD-18B3-4F0F-8311-A1A1C0DB4861}"/>
              </a:ext>
            </a:extLst>
          </p:cNvPr>
          <p:cNvSpPr>
            <a:spLocks xmlns:a="http://schemas.openxmlformats.org/drawingml/2006/main" noGrp="1"/>
          </p:cNvSpPr>
          <p:nvPr/>
        </p:nvSpPr>
        <p:spPr>
          <a:xfrm xmlns:a="http://schemas.openxmlformats.org/drawingml/2006/main">
            <a:off x="10858500" y="2714625"/>
            <a:ext cx="38100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83247"/>
                </a:solidFill>
                <a:latin typeface="Arial"/>
                <a:ea typeface="Arial"/>
                <a:cs typeface="Arial"/>
              </a:defRPr>
            </a:pPr>
            <a:r>
              <a:rPr sz="2700" b="1">
                <a:solidFill>
                  <a:srgbClr val="183247"/>
                </a:solidFill>
                <a:latin typeface="Arial"/>
                <a:ea typeface="Arial"/>
                <a:cs typeface="Arial"/>
              </a:rPr>
              <a:t>Basis: 32 fietsbellen</a:t>
            </a:r>
          </a:p>
        </p:txBody>
      </p:sp>
      <p:sp>
        <p:nvSpPr>
          <p:cNvPr id="8" name="Hoogte:&#10;28 − 12 = € 16&#10;per fietsbel">
            <a:extLst xmlns:a="http://schemas.openxmlformats.org/drawingml/2006/main">
              <a:ext uri="{FF2B5EF4-FFF2-40B4-BE49-F238E27FC236}">
                <a16:creationId xmlns:a16="http://schemas.microsoft.com/office/drawing/2014/main" id="{68EFE8AC-025A-4FA1-885A-C8AA5EB46BAD}"/>
              </a:ext>
            </a:extLst>
          </p:cNvPr>
          <p:cNvSpPr>
            <a:spLocks xmlns:a="http://schemas.openxmlformats.org/drawingml/2006/main" noGrp="1"/>
          </p:cNvSpPr>
          <p:nvPr/>
        </p:nvSpPr>
        <p:spPr>
          <a:xfrm xmlns:a="http://schemas.openxmlformats.org/drawingml/2006/main">
            <a:off x="10858500" y="4048125"/>
            <a:ext cx="3810000" cy="1533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Hoogte:</a:t>
            </a:r>
          </a:p>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28 − 12 = € 16</a:t>
            </a:r>
          </a:p>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per fietsbel</a:t>
            </a:r>
          </a:p>
        </p:txBody>
      </p:sp>
      <p:sp>
        <p:nvSpPr>
          <p:cNvPr id="9" name="CS = ½ × 32 × 16&#10;= € 256">
            <a:extLst xmlns:a="http://schemas.openxmlformats.org/drawingml/2006/main">
              <a:ext uri="{FF2B5EF4-FFF2-40B4-BE49-F238E27FC236}">
                <a16:creationId xmlns:a16="http://schemas.microsoft.com/office/drawing/2014/main" id="{6232BCDD-1C0C-4D66-AFDF-2CF744FDBA26}"/>
              </a:ext>
            </a:extLst>
          </p:cNvPr>
          <p:cNvSpPr>
            <a:spLocks xmlns:a="http://schemas.openxmlformats.org/drawingml/2006/main" noGrp="1"/>
          </p:cNvSpPr>
          <p:nvPr/>
        </p:nvSpPr>
        <p:spPr>
          <a:xfrm xmlns:a="http://schemas.openxmlformats.org/drawingml/2006/main">
            <a:off x="10858500" y="6372225"/>
            <a:ext cx="3810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17658A"/>
                </a:solidFill>
                <a:latin typeface="Arial"/>
                <a:ea typeface="Arial"/>
                <a:cs typeface="Arial"/>
              </a:defRPr>
            </a:pPr>
            <a:r>
              <a:rPr sz="2775" b="1">
                <a:solidFill>
                  <a:srgbClr val="17658A"/>
                </a:solidFill>
                <a:latin typeface="Arial"/>
                <a:ea typeface="Arial"/>
                <a:cs typeface="Arial"/>
              </a:rPr>
              <a:t>CS = ½ × 32 × 16</a:t>
            </a:r>
          </a:p>
          <a:p xmlns:a="http://schemas.openxmlformats.org/drawingml/2006/main">
            <a:pPr algn="l">
              <a:defRPr sz="2775" b="1">
                <a:solidFill>
                  <a:srgbClr val="17658A"/>
                </a:solidFill>
                <a:latin typeface="Arial"/>
                <a:ea typeface="Arial"/>
                <a:cs typeface="Arial"/>
              </a:defRPr>
            </a:pPr>
            <a:r>
              <a:rPr sz="2775" b="1">
                <a:solidFill>
                  <a:srgbClr val="17658A"/>
                </a:solidFill>
                <a:latin typeface="Arial"/>
                <a:ea typeface="Arial"/>
                <a:cs typeface="Arial"/>
              </a:rPr>
              <a:t>= € 256</a:t>
            </a:r>
          </a:p>
        </p:txBody>
      </p:sp>
    </p:spTree>
    <p:extLst>
      <p:ext uri="{BB962C8B-B14F-4D97-AF65-F5344CB8AC3E}">
        <p14:creationId xmlns:p14="http://schemas.microsoft.com/office/powerpoint/2010/main" val="1636723936"/>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Producentensurplus onder de prijs">
            <a:extLst xmlns:a="http://schemas.openxmlformats.org/drawingml/2006/main">
              <a:ext uri="{FF2B5EF4-FFF2-40B4-BE49-F238E27FC236}">
                <a16:creationId xmlns:a16="http://schemas.microsoft.com/office/drawing/2014/main" id="{11D241BB-5FA6-4380-9B88-8B6864FC1C35}"/>
              </a:ext>
            </a:extLst>
          </p:cNvPr>
          <p:cNvSpPr>
            <a:spLocks xmlns:a="http://schemas.openxmlformats.org/drawingml/2006/main" noGrp="1"/>
          </p:cNvSpPr>
          <p:nvPr/>
        </p:nvSpPr>
        <p:spPr>
          <a:xfrm xmlns:a="http://schemas.openxmlformats.org/drawingml/2006/main">
            <a:off x="571500" y="361950"/>
            <a:ext cx="14097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Producentensurplus onder de prijs</a:t>
            </a:r>
          </a:p>
        </p:txBody>
      </p:sp>
      <p:sp>
        <p:nvSpPr>
          <p:cNvPr id="2" name="">
            <a:extLst xmlns:a="http://schemas.openxmlformats.org/drawingml/2006/main">
              <a:ext uri="{FF2B5EF4-FFF2-40B4-BE49-F238E27FC236}">
                <a16:creationId xmlns:a16="http://schemas.microsoft.com/office/drawing/2014/main" id="{2A2007F4-F49A-46C4-B8D7-D095C015BDEE}"/>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2.3.2 Producentensurplus en totaal surplus">
            <a:extLst xmlns:a="http://schemas.openxmlformats.org/drawingml/2006/main">
              <a:ext uri="{FF2B5EF4-FFF2-40B4-BE49-F238E27FC236}">
                <a16:creationId xmlns:a16="http://schemas.microsoft.com/office/drawing/2014/main" id="{E350EF8A-FBAC-4FCF-858F-F131E8FCC41A}"/>
              </a:ext>
            </a:extLst>
          </p:cNvPr>
          <p:cNvSpPr>
            <a:spLocks xmlns:a="http://schemas.openxmlformats.org/drawingml/2006/main" noGrp="1"/>
          </p:cNvSpPr>
          <p:nvPr/>
        </p:nvSpPr>
        <p:spPr>
          <a:xfrm xmlns:a="http://schemas.openxmlformats.org/drawingml/2006/main">
            <a:off x="571500" y="8077200"/>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§2.3.2 Producentensurplus en totaal surplus</a:t>
            </a:r>
          </a:p>
        </p:txBody>
      </p:sp>
      <p:sp>
        <p:nvSpPr>
          <p:cNvPr id="4" name="10">
            <a:extLst xmlns:a="http://schemas.openxmlformats.org/drawingml/2006/main">
              <a:ext uri="{FF2B5EF4-FFF2-40B4-BE49-F238E27FC236}">
                <a16:creationId xmlns:a16="http://schemas.microsoft.com/office/drawing/2014/main" id="{63B4E80C-8D27-48E2-8F45-59B6B9D198F9}"/>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10</a:t>
            </a:r>
          </a:p>
        </p:txBody>
      </p:sp>
      <p:sp>
        <p:nvSpPr>
          <p:cNvPr id="5" name="Uitlegvoorbeeld — niet uit het boek · Fietsbellen">
            <a:extLst xmlns:a="http://schemas.openxmlformats.org/drawingml/2006/main">
              <a:ext uri="{FF2B5EF4-FFF2-40B4-BE49-F238E27FC236}">
                <a16:creationId xmlns:a16="http://schemas.microsoft.com/office/drawing/2014/main" id="{9160BB48-3B6D-4023-B6B4-90903CA9D732}"/>
              </a:ext>
            </a:extLst>
          </p:cNvPr>
          <p:cNvSpPr>
            <a:spLocks xmlns:a="http://schemas.openxmlformats.org/drawingml/2006/main" noGrp="1"/>
          </p:cNvSpPr>
          <p:nvPr/>
        </p:nvSpPr>
        <p:spPr>
          <a:xfrm xmlns:a="http://schemas.openxmlformats.org/drawingml/2006/main">
            <a:off x="571500" y="1733550"/>
            <a:ext cx="14097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7658A"/>
                </a:solidFill>
                <a:latin typeface="Arial"/>
                <a:ea typeface="Arial"/>
                <a:cs typeface="Arial"/>
              </a:defRPr>
            </a:pPr>
            <a:r>
              <a:rPr sz="2175" b="1">
                <a:solidFill>
                  <a:srgbClr val="17658A"/>
                </a:solidFill>
                <a:latin typeface="Arial"/>
                <a:ea typeface="Arial"/>
                <a:cs typeface="Arial"/>
              </a:rPr>
              <a:t>Uitlegvoorbeeld — niet uit het boek · Fietsbellen</a:t>
            </a:r>
          </a:p>
        </p:txBody>
      </p:sp>
      <p:graphicFrame>
        <p:nvGraphicFramePr>
          <p:cNvPr id="15" name="Chart"/>
          <p:cNvGraphicFramePr/>
          <p:nvPr/>
        </p:nvGraphicFramePr>
        <p:xfrm>
          <a:off xmlns:a="http://schemas.openxmlformats.org/drawingml/2006/main" x="571500" y="2381250"/>
          <a:ext xmlns:a="http://schemas.openxmlformats.org/drawingml/2006/main" cx="9906000" cy="5238750"/>
        </p:xfrm>
        <a:graphic xmlns:a="http://schemas.openxmlformats.org/drawingml/2006/main">
          <a:graphicData uri="http://schemas.openxmlformats.org/drawingml/2006/chart">
            <c:chart xmlns:r="http://schemas.openxmlformats.org/officeDocument/2006/relationships" xmlns:c="http://schemas.openxmlformats.org/drawingml/2006/chart" r:id="R43ae3adc8f6a4855"/>
          </a:graphicData>
        </a:graphic>
      </p:graphicFrame>
      <p:sp>
        <p:nvSpPr>
          <p:cNvPr id="7" name="Basis: 32 fietsbellen">
            <a:extLst xmlns:a="http://schemas.openxmlformats.org/drawingml/2006/main">
              <a:ext uri="{FF2B5EF4-FFF2-40B4-BE49-F238E27FC236}">
                <a16:creationId xmlns:a16="http://schemas.microsoft.com/office/drawing/2014/main" id="{D0511DFB-98C0-4E68-A5C3-1D49FD97359C}"/>
              </a:ext>
            </a:extLst>
          </p:cNvPr>
          <p:cNvSpPr>
            <a:spLocks xmlns:a="http://schemas.openxmlformats.org/drawingml/2006/main" noGrp="1"/>
          </p:cNvSpPr>
          <p:nvPr/>
        </p:nvSpPr>
        <p:spPr>
          <a:xfrm xmlns:a="http://schemas.openxmlformats.org/drawingml/2006/main">
            <a:off x="10858500" y="2714625"/>
            <a:ext cx="38100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83247"/>
                </a:solidFill>
                <a:latin typeface="Arial"/>
                <a:ea typeface="Arial"/>
                <a:cs typeface="Arial"/>
              </a:defRPr>
            </a:pPr>
            <a:r>
              <a:rPr sz="2700" b="1">
                <a:solidFill>
                  <a:srgbClr val="183247"/>
                </a:solidFill>
                <a:latin typeface="Arial"/>
                <a:ea typeface="Arial"/>
                <a:cs typeface="Arial"/>
              </a:rPr>
              <a:t>Basis: 32 fietsbellen</a:t>
            </a:r>
          </a:p>
        </p:txBody>
      </p:sp>
      <p:sp>
        <p:nvSpPr>
          <p:cNvPr id="8" name="Hoogte PS:&#10;12 − 4 = € 8&#10;per fietsbel">
            <a:extLst xmlns:a="http://schemas.openxmlformats.org/drawingml/2006/main">
              <a:ext uri="{FF2B5EF4-FFF2-40B4-BE49-F238E27FC236}">
                <a16:creationId xmlns:a16="http://schemas.microsoft.com/office/drawing/2014/main" id="{17BABD0F-AE5B-4046-802C-8C55DE9EDDE7}"/>
              </a:ext>
            </a:extLst>
          </p:cNvPr>
          <p:cNvSpPr>
            <a:spLocks xmlns:a="http://schemas.openxmlformats.org/drawingml/2006/main" noGrp="1"/>
          </p:cNvSpPr>
          <p:nvPr/>
        </p:nvSpPr>
        <p:spPr>
          <a:xfrm xmlns:a="http://schemas.openxmlformats.org/drawingml/2006/main">
            <a:off x="10858500" y="4048125"/>
            <a:ext cx="3810000" cy="1533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Hoogte PS:</a:t>
            </a:r>
          </a:p>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12 − 4 = € 8</a:t>
            </a:r>
          </a:p>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per fietsbel</a:t>
            </a:r>
          </a:p>
        </p:txBody>
      </p:sp>
      <p:sp>
        <p:nvSpPr>
          <p:cNvPr id="9" name="PS = ½ × 32 × 8&#10;= € 128">
            <a:extLst xmlns:a="http://schemas.openxmlformats.org/drawingml/2006/main">
              <a:ext uri="{FF2B5EF4-FFF2-40B4-BE49-F238E27FC236}">
                <a16:creationId xmlns:a16="http://schemas.microsoft.com/office/drawing/2014/main" id="{CB99C0E8-9811-41A6-8A68-3C48D70E3DE6}"/>
              </a:ext>
            </a:extLst>
          </p:cNvPr>
          <p:cNvSpPr>
            <a:spLocks xmlns:a="http://schemas.openxmlformats.org/drawingml/2006/main" noGrp="1"/>
          </p:cNvSpPr>
          <p:nvPr/>
        </p:nvSpPr>
        <p:spPr>
          <a:xfrm xmlns:a="http://schemas.openxmlformats.org/drawingml/2006/main">
            <a:off x="10858500" y="6372225"/>
            <a:ext cx="3810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20665B"/>
                </a:solidFill>
                <a:latin typeface="Arial"/>
                <a:ea typeface="Arial"/>
                <a:cs typeface="Arial"/>
              </a:defRPr>
            </a:pPr>
            <a:r>
              <a:rPr sz="2775" b="1">
                <a:solidFill>
                  <a:srgbClr val="20665B"/>
                </a:solidFill>
                <a:latin typeface="Arial"/>
                <a:ea typeface="Arial"/>
                <a:cs typeface="Arial"/>
              </a:rPr>
              <a:t>PS = ½ × 32 × 8</a:t>
            </a:r>
          </a:p>
          <a:p xmlns:a="http://schemas.openxmlformats.org/drawingml/2006/main">
            <a:pPr algn="l">
              <a:defRPr sz="2775" b="1">
                <a:solidFill>
                  <a:srgbClr val="20665B"/>
                </a:solidFill>
                <a:latin typeface="Arial"/>
                <a:ea typeface="Arial"/>
                <a:cs typeface="Arial"/>
              </a:defRPr>
            </a:pPr>
            <a:r>
              <a:rPr sz="2775" b="1">
                <a:solidFill>
                  <a:srgbClr val="20665B"/>
                </a:solidFill>
                <a:latin typeface="Arial"/>
                <a:ea typeface="Arial"/>
                <a:cs typeface="Arial"/>
              </a:rPr>
              <a:t>= € 128</a:t>
            </a:r>
          </a:p>
        </p:txBody>
      </p:sp>
    </p:spTree>
    <p:extLst>
      <p:ext uri="{BB962C8B-B14F-4D97-AF65-F5344CB8AC3E}">
        <p14:creationId xmlns:p14="http://schemas.microsoft.com/office/powerpoint/2010/main" val="1215545510"/>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otaal surplus en de eenheden">
            <a:extLst xmlns:a="http://schemas.openxmlformats.org/drawingml/2006/main">
              <a:ext uri="{FF2B5EF4-FFF2-40B4-BE49-F238E27FC236}">
                <a16:creationId xmlns:a16="http://schemas.microsoft.com/office/drawing/2014/main" id="{3337595B-CA13-4CD9-80A3-7FC983FCC441}"/>
              </a:ext>
            </a:extLst>
          </p:cNvPr>
          <p:cNvSpPr>
            <a:spLocks xmlns:a="http://schemas.openxmlformats.org/drawingml/2006/main" noGrp="1"/>
          </p:cNvSpPr>
          <p:nvPr/>
        </p:nvSpPr>
        <p:spPr>
          <a:xfrm xmlns:a="http://schemas.openxmlformats.org/drawingml/2006/main">
            <a:off x="571500" y="361950"/>
            <a:ext cx="14097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Totaal surplus en de eenheden</a:t>
            </a:r>
          </a:p>
        </p:txBody>
      </p:sp>
      <p:sp>
        <p:nvSpPr>
          <p:cNvPr id="2" name="">
            <a:extLst xmlns:a="http://schemas.openxmlformats.org/drawingml/2006/main">
              <a:ext uri="{FF2B5EF4-FFF2-40B4-BE49-F238E27FC236}">
                <a16:creationId xmlns:a16="http://schemas.microsoft.com/office/drawing/2014/main" id="{4F37D081-97E6-44EB-B2B2-2A1100C584EE}"/>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2.3.2 Producentensurplus en totaal surplus">
            <a:extLst xmlns:a="http://schemas.openxmlformats.org/drawingml/2006/main">
              <a:ext uri="{FF2B5EF4-FFF2-40B4-BE49-F238E27FC236}">
                <a16:creationId xmlns:a16="http://schemas.microsoft.com/office/drawing/2014/main" id="{B166460E-9F3D-4378-8AE7-20CDDF3176C4}"/>
              </a:ext>
            </a:extLst>
          </p:cNvPr>
          <p:cNvSpPr>
            <a:spLocks xmlns:a="http://schemas.openxmlformats.org/drawingml/2006/main" noGrp="1"/>
          </p:cNvSpPr>
          <p:nvPr/>
        </p:nvSpPr>
        <p:spPr>
          <a:xfrm xmlns:a="http://schemas.openxmlformats.org/drawingml/2006/main">
            <a:off x="571500" y="8077200"/>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§2.3.2 Producentensurplus en totaal surplus</a:t>
            </a:r>
          </a:p>
        </p:txBody>
      </p:sp>
      <p:sp>
        <p:nvSpPr>
          <p:cNvPr id="4" name="11">
            <a:extLst xmlns:a="http://schemas.openxmlformats.org/drawingml/2006/main">
              <a:ext uri="{FF2B5EF4-FFF2-40B4-BE49-F238E27FC236}">
                <a16:creationId xmlns:a16="http://schemas.microsoft.com/office/drawing/2014/main" id="{CBD6AAC1-743D-4E01-A054-1CF89A9FA9B9}"/>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11</a:t>
            </a:r>
          </a:p>
        </p:txBody>
      </p:sp>
      <p:sp>
        <p:nvSpPr>
          <p:cNvPr id="5" name="Uitlegvoorbeeld — niet uit het boek · Fietsbellen">
            <a:extLst xmlns:a="http://schemas.openxmlformats.org/drawingml/2006/main">
              <a:ext uri="{FF2B5EF4-FFF2-40B4-BE49-F238E27FC236}">
                <a16:creationId xmlns:a16="http://schemas.microsoft.com/office/drawing/2014/main" id="{74CDF91A-AADB-4793-A357-9431A0225AEA}"/>
              </a:ext>
            </a:extLst>
          </p:cNvPr>
          <p:cNvSpPr>
            <a:spLocks xmlns:a="http://schemas.openxmlformats.org/drawingml/2006/main" noGrp="1"/>
          </p:cNvSpPr>
          <p:nvPr/>
        </p:nvSpPr>
        <p:spPr>
          <a:xfrm xmlns:a="http://schemas.openxmlformats.org/drawingml/2006/main">
            <a:off x="571500" y="1733550"/>
            <a:ext cx="14097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7658A"/>
                </a:solidFill>
                <a:latin typeface="Arial"/>
                <a:ea typeface="Arial"/>
                <a:cs typeface="Arial"/>
              </a:defRPr>
            </a:pPr>
            <a:r>
              <a:rPr sz="2175" b="1">
                <a:solidFill>
                  <a:srgbClr val="17658A"/>
                </a:solidFill>
                <a:latin typeface="Arial"/>
                <a:ea typeface="Arial"/>
                <a:cs typeface="Arial"/>
              </a:rPr>
              <a:t>Uitlegvoorbeeld — niet uit het boek · Fietsbellen</a:t>
            </a:r>
          </a:p>
        </p:txBody>
      </p:sp>
      <p:graphicFrame>
        <p:nvGraphicFramePr>
          <p:cNvPr id="13" name=""/>
          <p:cNvGraphicFramePr/>
          <p:nvPr/>
        </p:nvGraphicFramePr>
        <p:xfrm>
          <a:off xmlns:a="http://schemas.openxmlformats.org/drawingml/2006/main" x="571500" y="2781300"/>
          <a:ext xmlns:a="http://schemas.openxmlformats.org/drawingml/2006/main" cx="14097000" cy="3324225"/>
        </p:xfrm>
        <a:graphic xmlns:a="http://schemas.openxmlformats.org/drawingml/2006/main">
          <a:graphicData uri="http://schemas.openxmlformats.org/drawingml/2006/table">
            <a:tbl>
              <a:tblPr/>
              <a:tblGrid>
                <a:gridCol w="3714750"/>
                <a:gridCol w="6381750"/>
                <a:gridCol w="4000500"/>
              </a:tblGrid>
              <a:tr h="831056">
                <a:tc>
                  <a:txBody>
                    <a:bodyPr lIns="171450" tIns="95250" rIns="152400" bIns="95250"/>
                    <a:lstStyle/>
                    <a:p>
                      <a:r>
                        <a:rPr sz="2775" b="1">
                          <a:solidFill>
                            <a:srgbClr val="FFFFFF"/>
                          </a:solidFill>
                          <a:latin typeface="Arial"/>
                          <a:ea typeface="Arial"/>
                          <a:cs typeface="Arial"/>
                        </a:rPr>
                        <a:t>Gebied</a:t>
                      </a:r>
                    </a:p>
                  </a:txBody>
                  <a:tcPr marL="91440" marR="91440" marT="45720" marB="45720" anchor="ctr">
                    <a:solidFill>
                      <a:srgbClr val="183247"/>
                    </a:solidFill>
                  </a:tcPr>
                </a:tc>
                <a:tc>
                  <a:txBody>
                    <a:bodyPr lIns="171450" tIns="95250" rIns="152400" bIns="95250"/>
                    <a:lstStyle/>
                    <a:p>
                      <a:r>
                        <a:rPr sz="2775" b="1">
                          <a:solidFill>
                            <a:srgbClr val="FFFFFF"/>
                          </a:solidFill>
                          <a:latin typeface="Arial"/>
                          <a:ea typeface="Arial"/>
                          <a:cs typeface="Arial"/>
                        </a:rPr>
                        <a:t>Berekening</a:t>
                      </a:r>
                    </a:p>
                  </a:txBody>
                  <a:tcPr marL="91440" marR="91440" marT="45720" marB="45720" anchor="ctr">
                    <a:solidFill>
                      <a:srgbClr val="183247"/>
                    </a:solidFill>
                  </a:tcPr>
                </a:tc>
                <a:tc>
                  <a:txBody>
                    <a:bodyPr lIns="171450" tIns="95250" rIns="152400" bIns="95250"/>
                    <a:lstStyle/>
                    <a:p>
                      <a:r>
                        <a:rPr sz="2775" b="1">
                          <a:solidFill>
                            <a:srgbClr val="FFFFFF"/>
                          </a:solidFill>
                          <a:latin typeface="Arial"/>
                          <a:ea typeface="Arial"/>
                          <a:cs typeface="Arial"/>
                        </a:rPr>
                        <a:t>Oppervlakte</a:t>
                      </a:r>
                    </a:p>
                  </a:txBody>
                  <a:tcPr marL="91440" marR="91440" marT="45720" marB="45720" anchor="ctr">
                    <a:solidFill>
                      <a:srgbClr val="183247"/>
                    </a:solidFill>
                  </a:tcPr>
                </a:tc>
              </a:tr>
              <a:tr h="831056">
                <a:tc>
                  <a:txBody>
                    <a:bodyPr lIns="171450" tIns="95250" rIns="152400" bIns="95250"/>
                    <a:lstStyle/>
                    <a:p>
                      <a:r>
                        <a:rPr sz="2775" b="0">
                          <a:solidFill>
                            <a:srgbClr val="183247"/>
                          </a:solidFill>
                          <a:latin typeface="Arial"/>
                          <a:ea typeface="Arial"/>
                          <a:cs typeface="Arial"/>
                        </a:rPr>
                        <a:t>CS</a:t>
                      </a:r>
                    </a:p>
                  </a:txBody>
                  <a:tcPr marL="91440" marR="91440" marT="45720" marB="45720" anchor="ctr">
                    <a:solidFill>
                      <a:srgbClr val="FFFFFF"/>
                    </a:solidFill>
                  </a:tcPr>
                </a:tc>
                <a:tc>
                  <a:txBody>
                    <a:bodyPr lIns="171450" tIns="95250" rIns="152400" bIns="95250"/>
                    <a:lstStyle/>
                    <a:p>
                      <a:r>
                        <a:rPr sz="2775" b="0">
                          <a:solidFill>
                            <a:srgbClr val="183247"/>
                          </a:solidFill>
                          <a:latin typeface="Arial"/>
                          <a:ea typeface="Arial"/>
                          <a:cs typeface="Arial"/>
                        </a:rPr>
                        <a:t>½ × 32 × (28 − 12)</a:t>
                      </a:r>
                    </a:p>
                  </a:txBody>
                  <a:tcPr marL="91440" marR="91440" marT="45720" marB="45720" anchor="ctr">
                    <a:solidFill>
                      <a:srgbClr val="FFFFFF"/>
                    </a:solidFill>
                  </a:tcPr>
                </a:tc>
                <a:tc>
                  <a:txBody>
                    <a:bodyPr lIns="171450" tIns="95250" rIns="152400" bIns="95250"/>
                    <a:lstStyle/>
                    <a:p>
                      <a:r>
                        <a:rPr sz="2775" b="0">
                          <a:solidFill>
                            <a:srgbClr val="183247"/>
                          </a:solidFill>
                          <a:latin typeface="Arial"/>
                          <a:ea typeface="Arial"/>
                          <a:cs typeface="Arial"/>
                        </a:rPr>
                        <a:t>€ 256</a:t>
                      </a:r>
                    </a:p>
                  </a:txBody>
                  <a:tcPr marL="91440" marR="91440" marT="45720" marB="45720" anchor="ctr">
                    <a:solidFill>
                      <a:srgbClr val="FFFFFF"/>
                    </a:solidFill>
                  </a:tcPr>
                </a:tc>
              </a:tr>
              <a:tr h="831056">
                <a:tc>
                  <a:txBody>
                    <a:bodyPr lIns="171450" tIns="95250" rIns="152400" bIns="95250"/>
                    <a:lstStyle/>
                    <a:p>
                      <a:r>
                        <a:rPr sz="2775" b="0">
                          <a:solidFill>
                            <a:srgbClr val="183247"/>
                          </a:solidFill>
                          <a:latin typeface="Arial"/>
                          <a:ea typeface="Arial"/>
                          <a:cs typeface="Arial"/>
                        </a:rPr>
                        <a:t>PS</a:t>
                      </a:r>
                    </a:p>
                  </a:txBody>
                  <a:tcPr marL="91440" marR="91440" marT="45720" marB="45720" anchor="ctr">
                    <a:solidFill>
                      <a:srgbClr val="EFF4F7"/>
                    </a:solidFill>
                  </a:tcPr>
                </a:tc>
                <a:tc>
                  <a:txBody>
                    <a:bodyPr lIns="171450" tIns="95250" rIns="152400" bIns="95250"/>
                    <a:lstStyle/>
                    <a:p>
                      <a:r>
                        <a:rPr sz="2775" b="0">
                          <a:solidFill>
                            <a:srgbClr val="183247"/>
                          </a:solidFill>
                          <a:latin typeface="Arial"/>
                          <a:ea typeface="Arial"/>
                          <a:cs typeface="Arial"/>
                        </a:rPr>
                        <a:t>½ × 32 × (12 − 4)</a:t>
                      </a:r>
                    </a:p>
                  </a:txBody>
                  <a:tcPr marL="91440" marR="91440" marT="45720" marB="45720" anchor="ctr">
                    <a:solidFill>
                      <a:srgbClr val="EFF4F7"/>
                    </a:solidFill>
                  </a:tcPr>
                </a:tc>
                <a:tc>
                  <a:txBody>
                    <a:bodyPr lIns="171450" tIns="95250" rIns="152400" bIns="95250"/>
                    <a:lstStyle/>
                    <a:p>
                      <a:r>
                        <a:rPr sz="2775" b="0">
                          <a:solidFill>
                            <a:srgbClr val="183247"/>
                          </a:solidFill>
                          <a:latin typeface="Arial"/>
                          <a:ea typeface="Arial"/>
                          <a:cs typeface="Arial"/>
                        </a:rPr>
                        <a:t>€ 128</a:t>
                      </a:r>
                    </a:p>
                  </a:txBody>
                  <a:tcPr marL="91440" marR="91440" marT="45720" marB="45720" anchor="ctr">
                    <a:solidFill>
                      <a:srgbClr val="EFF4F7"/>
                    </a:solidFill>
                  </a:tcPr>
                </a:tc>
              </a:tr>
              <a:tr h="831056">
                <a:tc>
                  <a:txBody>
                    <a:bodyPr lIns="171450" tIns="95250" rIns="152400" bIns="95250"/>
                    <a:lstStyle/>
                    <a:p>
                      <a:r>
                        <a:rPr sz="2775" b="0">
                          <a:solidFill>
                            <a:srgbClr val="183247"/>
                          </a:solidFill>
                          <a:latin typeface="Arial"/>
                          <a:ea typeface="Arial"/>
                          <a:cs typeface="Arial"/>
                        </a:rPr>
                        <a:t>TS = CS + PS</a:t>
                      </a:r>
                    </a:p>
                  </a:txBody>
                  <a:tcPr marL="91440" marR="91440" marT="45720" marB="45720" anchor="ctr">
                    <a:solidFill>
                      <a:srgbClr val="FFFFFF"/>
                    </a:solidFill>
                  </a:tcPr>
                </a:tc>
                <a:tc>
                  <a:txBody>
                    <a:bodyPr lIns="171450" tIns="95250" rIns="152400" bIns="95250"/>
                    <a:lstStyle/>
                    <a:p>
                      <a:r>
                        <a:rPr sz="2775" b="0">
                          <a:solidFill>
                            <a:srgbClr val="183247"/>
                          </a:solidFill>
                          <a:latin typeface="Arial"/>
                          <a:ea typeface="Arial"/>
                          <a:cs typeface="Arial"/>
                        </a:rPr>
                        <a:t>256 + 128</a:t>
                      </a:r>
                    </a:p>
                  </a:txBody>
                  <a:tcPr marL="91440" marR="91440" marT="45720" marB="45720" anchor="ctr">
                    <a:solidFill>
                      <a:srgbClr val="FFFFFF"/>
                    </a:solidFill>
                  </a:tcPr>
                </a:tc>
                <a:tc>
                  <a:txBody>
                    <a:bodyPr lIns="171450" tIns="95250" rIns="152400" bIns="95250"/>
                    <a:lstStyle/>
                    <a:p>
                      <a:r>
                        <a:rPr sz="2775" b="0">
                          <a:solidFill>
                            <a:srgbClr val="183247"/>
                          </a:solidFill>
                          <a:latin typeface="Arial"/>
                          <a:ea typeface="Arial"/>
                          <a:cs typeface="Arial"/>
                        </a:rPr>
                        <a:t>€ 384</a:t>
                      </a:r>
                    </a:p>
                  </a:txBody>
                  <a:tcPr marL="91440" marR="91440" marT="45720" marB="45720" anchor="ctr">
                    <a:solidFill>
                      <a:srgbClr val="FFFFFF"/>
                    </a:solidFill>
                  </a:tcPr>
                </a:tc>
              </a:tr>
            </a:tbl>
          </a:graphicData>
        </a:graphic>
      </p:graphicFrame>
      <p:sp>
        <p:nvSpPr>
          <p:cNvPr id="7" name="Fietsbellen × euro per fietsbel = euro">
            <a:extLst xmlns:a="http://schemas.openxmlformats.org/drawingml/2006/main">
              <a:ext uri="{FF2B5EF4-FFF2-40B4-BE49-F238E27FC236}">
                <a16:creationId xmlns:a16="http://schemas.microsoft.com/office/drawing/2014/main" id="{8A16FA75-06D1-4001-9E4B-2B654E43020F}"/>
              </a:ext>
            </a:extLst>
          </p:cNvPr>
          <p:cNvSpPr>
            <a:spLocks xmlns:a="http://schemas.openxmlformats.org/drawingml/2006/main" noGrp="1"/>
          </p:cNvSpPr>
          <p:nvPr/>
        </p:nvSpPr>
        <p:spPr>
          <a:xfrm xmlns:a="http://schemas.openxmlformats.org/drawingml/2006/main">
            <a:off x="571500" y="6734175"/>
            <a:ext cx="14097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A94D16"/>
                </a:solidFill>
                <a:latin typeface="Arial"/>
                <a:ea typeface="Arial"/>
                <a:cs typeface="Arial"/>
              </a:defRPr>
            </a:pPr>
            <a:r>
              <a:rPr sz="3150" b="1">
                <a:solidFill>
                  <a:srgbClr val="A94D16"/>
                </a:solidFill>
                <a:latin typeface="Arial"/>
                <a:ea typeface="Arial"/>
                <a:cs typeface="Arial"/>
              </a:rPr>
              <a:t>Fietsbellen × euro per fietsbel = euro</a:t>
            </a:r>
          </a:p>
        </p:txBody>
      </p:sp>
    </p:spTree>
    <p:extLst>
      <p:ext uri="{BB962C8B-B14F-4D97-AF65-F5344CB8AC3E}">
        <p14:creationId xmlns:p14="http://schemas.microsoft.com/office/powerpoint/2010/main" val="1365467376"/>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Extra handel vóór en na het evenwicht">
            <a:extLst xmlns:a="http://schemas.openxmlformats.org/drawingml/2006/main">
              <a:ext uri="{FF2B5EF4-FFF2-40B4-BE49-F238E27FC236}">
                <a16:creationId xmlns:a16="http://schemas.microsoft.com/office/drawing/2014/main" id="{873FD0BF-0CA7-423B-90FE-CC789BD2B43D}"/>
              </a:ext>
            </a:extLst>
          </p:cNvPr>
          <p:cNvSpPr>
            <a:spLocks xmlns:a="http://schemas.openxmlformats.org/drawingml/2006/main" noGrp="1"/>
          </p:cNvSpPr>
          <p:nvPr/>
        </p:nvSpPr>
        <p:spPr>
          <a:xfrm xmlns:a="http://schemas.openxmlformats.org/drawingml/2006/main">
            <a:off x="571500" y="361950"/>
            <a:ext cx="14097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Extra handel vóór en na het evenwicht</a:t>
            </a:r>
          </a:p>
        </p:txBody>
      </p:sp>
      <p:sp>
        <p:nvSpPr>
          <p:cNvPr id="2" name="">
            <a:extLst xmlns:a="http://schemas.openxmlformats.org/drawingml/2006/main">
              <a:ext uri="{FF2B5EF4-FFF2-40B4-BE49-F238E27FC236}">
                <a16:creationId xmlns:a16="http://schemas.microsoft.com/office/drawing/2014/main" id="{B0D7BB0A-C643-4153-AE1B-3B7D1A754B3A}"/>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2.3.2 Producentensurplus en totaal surplus">
            <a:extLst xmlns:a="http://schemas.openxmlformats.org/drawingml/2006/main">
              <a:ext uri="{FF2B5EF4-FFF2-40B4-BE49-F238E27FC236}">
                <a16:creationId xmlns:a16="http://schemas.microsoft.com/office/drawing/2014/main" id="{2D6780F4-CE0F-4F22-8867-A50723F3184B}"/>
              </a:ext>
            </a:extLst>
          </p:cNvPr>
          <p:cNvSpPr>
            <a:spLocks xmlns:a="http://schemas.openxmlformats.org/drawingml/2006/main" noGrp="1"/>
          </p:cNvSpPr>
          <p:nvPr/>
        </p:nvSpPr>
        <p:spPr>
          <a:xfrm xmlns:a="http://schemas.openxmlformats.org/drawingml/2006/main">
            <a:off x="571500" y="8077200"/>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§2.3.2 Producentensurplus en totaal surplus</a:t>
            </a:r>
          </a:p>
        </p:txBody>
      </p:sp>
      <p:sp>
        <p:nvSpPr>
          <p:cNvPr id="4" name="12">
            <a:extLst xmlns:a="http://schemas.openxmlformats.org/drawingml/2006/main">
              <a:ext uri="{FF2B5EF4-FFF2-40B4-BE49-F238E27FC236}">
                <a16:creationId xmlns:a16="http://schemas.microsoft.com/office/drawing/2014/main" id="{6F7FF209-B74C-42A8-954A-CE52AAB04857}"/>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12</a:t>
            </a:r>
          </a:p>
        </p:txBody>
      </p:sp>
      <p:sp>
        <p:nvSpPr>
          <p:cNvPr id="5" name="Uitlegvoorbeeld — niet uit het boek · Fietsbellen">
            <a:extLst xmlns:a="http://schemas.openxmlformats.org/drawingml/2006/main">
              <a:ext uri="{FF2B5EF4-FFF2-40B4-BE49-F238E27FC236}">
                <a16:creationId xmlns:a16="http://schemas.microsoft.com/office/drawing/2014/main" id="{E24B70B4-A5D8-43CB-B3D2-261592B7A8B6}"/>
              </a:ext>
            </a:extLst>
          </p:cNvPr>
          <p:cNvSpPr>
            <a:spLocks xmlns:a="http://schemas.openxmlformats.org/drawingml/2006/main" noGrp="1"/>
          </p:cNvSpPr>
          <p:nvPr/>
        </p:nvSpPr>
        <p:spPr>
          <a:xfrm xmlns:a="http://schemas.openxmlformats.org/drawingml/2006/main">
            <a:off x="571500" y="1733550"/>
            <a:ext cx="14097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7658A"/>
                </a:solidFill>
                <a:latin typeface="Arial"/>
                <a:ea typeface="Arial"/>
                <a:cs typeface="Arial"/>
              </a:defRPr>
            </a:pPr>
            <a:r>
              <a:rPr sz="2175" b="1">
                <a:solidFill>
                  <a:srgbClr val="17658A"/>
                </a:solidFill>
                <a:latin typeface="Arial"/>
                <a:ea typeface="Arial"/>
                <a:cs typeface="Arial"/>
              </a:rPr>
              <a:t>Uitlegvoorbeeld — niet uit het boek · Fietsbellen</a:t>
            </a:r>
          </a:p>
        </p:txBody>
      </p:sp>
      <p:graphicFrame>
        <p:nvGraphicFramePr>
          <p:cNvPr id="14" name=""/>
          <p:cNvGraphicFramePr/>
          <p:nvPr/>
        </p:nvGraphicFramePr>
        <p:xfrm>
          <a:off xmlns:a="http://schemas.openxmlformats.org/drawingml/2006/main" x="571500" y="2752725"/>
          <a:ext xmlns:a="http://schemas.openxmlformats.org/drawingml/2006/main" cx="14097000" cy="3419475"/>
        </p:xfrm>
        <a:graphic xmlns:a="http://schemas.openxmlformats.org/drawingml/2006/main">
          <a:graphicData uri="http://schemas.openxmlformats.org/drawingml/2006/table">
            <a:tbl>
              <a:tblPr/>
              <a:tblGrid>
                <a:gridCol w="1238250"/>
                <a:gridCol w="5619750"/>
                <a:gridCol w="5143500"/>
                <a:gridCol w="2095500"/>
              </a:tblGrid>
              <a:tr h="854869">
                <a:tc>
                  <a:txBody>
                    <a:bodyPr lIns="171450" tIns="95250" rIns="152400" bIns="95250"/>
                    <a:lstStyle/>
                    <a:p>
                      <a:r>
                        <a:rPr sz="2250" b="1">
                          <a:solidFill>
                            <a:srgbClr val="FFFFFF"/>
                          </a:solidFill>
                          <a:latin typeface="Arial"/>
                          <a:ea typeface="Arial"/>
                          <a:cs typeface="Arial"/>
                        </a:rPr>
                        <a:t>Q</a:t>
                      </a:r>
                    </a:p>
                  </a:txBody>
                  <a:tcPr marL="91440" marR="91440" marT="45720" marB="45720" anchor="ctr">
                    <a:solidFill>
                      <a:srgbClr val="183247"/>
                    </a:solidFill>
                  </a:tcPr>
                </a:tc>
                <a:tc>
                  <a:txBody>
                    <a:bodyPr lIns="171450" tIns="95250" rIns="152400" bIns="95250"/>
                    <a:lstStyle/>
                    <a:p>
                      <a:r>
                        <a:rPr sz="2250" b="1">
                          <a:solidFill>
                            <a:srgbClr val="FFFFFF"/>
                          </a:solidFill>
                          <a:latin typeface="Arial"/>
                          <a:ea typeface="Arial"/>
                          <a:cs typeface="Arial"/>
                        </a:rPr>
                        <a:t>Betalingsbereidheid</a:t>
                      </a:r>
                    </a:p>
                  </a:txBody>
                  <a:tcPr marL="91440" marR="91440" marT="45720" marB="45720" anchor="ctr">
                    <a:solidFill>
                      <a:srgbClr val="183247"/>
                    </a:solidFill>
                  </a:tcPr>
                </a:tc>
                <a:tc>
                  <a:txBody>
                    <a:bodyPr lIns="171450" tIns="95250" rIns="152400" bIns="95250"/>
                    <a:lstStyle/>
                    <a:p>
                      <a:r>
                        <a:rPr sz="2250" b="1">
                          <a:solidFill>
                            <a:srgbClr val="FFFFFF"/>
                          </a:solidFill>
                          <a:latin typeface="Arial"/>
                          <a:ea typeface="Arial"/>
                          <a:cs typeface="Arial"/>
                        </a:rPr>
                        <a:t>MK</a:t>
                      </a:r>
                    </a:p>
                  </a:txBody>
                  <a:tcPr marL="91440" marR="91440" marT="45720" marB="45720" anchor="ctr">
                    <a:solidFill>
                      <a:srgbClr val="183247"/>
                    </a:solidFill>
                  </a:tcPr>
                </a:tc>
                <a:tc>
                  <a:txBody>
                    <a:bodyPr lIns="171450" tIns="95250" rIns="152400" bIns="95250"/>
                    <a:lstStyle/>
                    <a:p>
                      <a:r>
                        <a:rPr sz="2250" b="1">
                          <a:solidFill>
                            <a:srgbClr val="FFFFFF"/>
                          </a:solidFill>
                          <a:latin typeface="Arial"/>
                          <a:ea typeface="Arial"/>
                          <a:cs typeface="Arial"/>
                        </a:rPr>
                        <a:t>Verschil</a:t>
                      </a:r>
                    </a:p>
                  </a:txBody>
                  <a:tcPr marL="91440" marR="91440" marT="45720" marB="45720" anchor="ctr">
                    <a:solidFill>
                      <a:srgbClr val="183247"/>
                    </a:solidFill>
                  </a:tcPr>
                </a:tc>
              </a:tr>
              <a:tr h="854869">
                <a:tc>
                  <a:txBody>
                    <a:bodyPr lIns="171450" tIns="95250" rIns="152400" bIns="95250"/>
                    <a:lstStyle/>
                    <a:p>
                      <a:r>
                        <a:rPr sz="2250" b="0">
                          <a:solidFill>
                            <a:srgbClr val="183247"/>
                          </a:solidFill>
                          <a:latin typeface="Arial"/>
                          <a:ea typeface="Arial"/>
                          <a:cs typeface="Arial"/>
                        </a:rPr>
                        <a:t>16</a:t>
                      </a:r>
                    </a:p>
                  </a:txBody>
                  <a:tcPr marL="91440" marR="91440" marT="45720" marB="45720" anchor="ctr">
                    <a:solidFill>
                      <a:srgbClr val="FFFFFF"/>
                    </a:solidFill>
                  </a:tcPr>
                </a:tc>
                <a:tc>
                  <a:txBody>
                    <a:bodyPr lIns="171450" tIns="95250" rIns="152400" bIns="95250"/>
                    <a:lstStyle/>
                    <a:p>
                      <a:r>
                        <a:rPr sz="2250" b="0">
                          <a:solidFill>
                            <a:srgbClr val="183247"/>
                          </a:solidFill>
                          <a:latin typeface="Arial"/>
                          <a:ea typeface="Arial"/>
                          <a:cs typeface="Arial"/>
                        </a:rPr>
                        <a:t>28 − 0,5 × 16 = € 20</a:t>
                      </a:r>
                    </a:p>
                  </a:txBody>
                  <a:tcPr marL="91440" marR="91440" marT="45720" marB="45720" anchor="ctr">
                    <a:solidFill>
                      <a:srgbClr val="FFFFFF"/>
                    </a:solidFill>
                  </a:tcPr>
                </a:tc>
                <a:tc>
                  <a:txBody>
                    <a:bodyPr lIns="171450" tIns="95250" rIns="152400" bIns="95250"/>
                    <a:lstStyle/>
                    <a:p>
                      <a:r>
                        <a:rPr sz="2250" b="0">
                          <a:solidFill>
                            <a:srgbClr val="183247"/>
                          </a:solidFill>
                          <a:latin typeface="Arial"/>
                          <a:ea typeface="Arial"/>
                          <a:cs typeface="Arial"/>
                        </a:rPr>
                        <a:t>4 + 0,25 × 16 = € 8</a:t>
                      </a:r>
                    </a:p>
                  </a:txBody>
                  <a:tcPr marL="91440" marR="91440" marT="45720" marB="45720" anchor="ctr">
                    <a:solidFill>
                      <a:srgbClr val="FFFFFF"/>
                    </a:solidFill>
                  </a:tcPr>
                </a:tc>
                <a:tc>
                  <a:txBody>
                    <a:bodyPr lIns="171450" tIns="95250" rIns="152400" bIns="95250"/>
                    <a:lstStyle/>
                    <a:p>
                      <a:r>
                        <a:rPr sz="2250" b="0">
                          <a:solidFill>
                            <a:srgbClr val="183247"/>
                          </a:solidFill>
                          <a:latin typeface="Arial"/>
                          <a:ea typeface="Arial"/>
                          <a:cs typeface="Arial"/>
                        </a:rPr>
                        <a:t>+ € 12</a:t>
                      </a:r>
                    </a:p>
                  </a:txBody>
                  <a:tcPr marL="91440" marR="91440" marT="45720" marB="45720" anchor="ctr">
                    <a:solidFill>
                      <a:srgbClr val="FFFFFF"/>
                    </a:solidFill>
                  </a:tcPr>
                </a:tc>
              </a:tr>
              <a:tr h="854869">
                <a:tc>
                  <a:txBody>
                    <a:bodyPr lIns="171450" tIns="95250" rIns="152400" bIns="95250"/>
                    <a:lstStyle/>
                    <a:p>
                      <a:r>
                        <a:rPr sz="2250" b="0">
                          <a:solidFill>
                            <a:srgbClr val="183247"/>
                          </a:solidFill>
                          <a:latin typeface="Arial"/>
                          <a:ea typeface="Arial"/>
                          <a:cs typeface="Arial"/>
                        </a:rPr>
                        <a:t>32</a:t>
                      </a:r>
                    </a:p>
                  </a:txBody>
                  <a:tcPr marL="91440" marR="91440" marT="45720" marB="45720" anchor="ctr">
                    <a:solidFill>
                      <a:srgbClr val="EFF4F7"/>
                    </a:solidFill>
                  </a:tcPr>
                </a:tc>
                <a:tc>
                  <a:txBody>
                    <a:bodyPr lIns="171450" tIns="95250" rIns="152400" bIns="95250"/>
                    <a:lstStyle/>
                    <a:p>
                      <a:r>
                        <a:rPr sz="2250" b="0">
                          <a:solidFill>
                            <a:srgbClr val="183247"/>
                          </a:solidFill>
                          <a:latin typeface="Arial"/>
                          <a:ea typeface="Arial"/>
                          <a:cs typeface="Arial"/>
                        </a:rPr>
                        <a:t>€ 12</a:t>
                      </a:r>
                    </a:p>
                  </a:txBody>
                  <a:tcPr marL="91440" marR="91440" marT="45720" marB="45720" anchor="ctr">
                    <a:solidFill>
                      <a:srgbClr val="EFF4F7"/>
                    </a:solidFill>
                  </a:tcPr>
                </a:tc>
                <a:tc>
                  <a:txBody>
                    <a:bodyPr lIns="171450" tIns="95250" rIns="152400" bIns="95250"/>
                    <a:lstStyle/>
                    <a:p>
                      <a:r>
                        <a:rPr sz="2250" b="0">
                          <a:solidFill>
                            <a:srgbClr val="183247"/>
                          </a:solidFill>
                          <a:latin typeface="Arial"/>
                          <a:ea typeface="Arial"/>
                          <a:cs typeface="Arial"/>
                        </a:rPr>
                        <a:t>€ 12</a:t>
                      </a:r>
                    </a:p>
                  </a:txBody>
                  <a:tcPr marL="91440" marR="91440" marT="45720" marB="45720" anchor="ctr">
                    <a:solidFill>
                      <a:srgbClr val="EFF4F7"/>
                    </a:solidFill>
                  </a:tcPr>
                </a:tc>
                <a:tc>
                  <a:txBody>
                    <a:bodyPr lIns="171450" tIns="95250" rIns="152400" bIns="95250"/>
                    <a:lstStyle/>
                    <a:p>
                      <a:r>
                        <a:rPr sz="2250" b="0">
                          <a:solidFill>
                            <a:srgbClr val="183247"/>
                          </a:solidFill>
                          <a:latin typeface="Arial"/>
                          <a:ea typeface="Arial"/>
                          <a:cs typeface="Arial"/>
                        </a:rPr>
                        <a:t>€ 0</a:t>
                      </a:r>
                    </a:p>
                  </a:txBody>
                  <a:tcPr marL="91440" marR="91440" marT="45720" marB="45720" anchor="ctr">
                    <a:solidFill>
                      <a:srgbClr val="EFF4F7"/>
                    </a:solidFill>
                  </a:tcPr>
                </a:tc>
              </a:tr>
              <a:tr h="854869">
                <a:tc>
                  <a:txBody>
                    <a:bodyPr lIns="171450" tIns="95250" rIns="152400" bIns="95250"/>
                    <a:lstStyle/>
                    <a:p>
                      <a:r>
                        <a:rPr sz="2250" b="0">
                          <a:solidFill>
                            <a:srgbClr val="183247"/>
                          </a:solidFill>
                          <a:latin typeface="Arial"/>
                          <a:ea typeface="Arial"/>
                          <a:cs typeface="Arial"/>
                        </a:rPr>
                        <a:t>48</a:t>
                      </a:r>
                    </a:p>
                  </a:txBody>
                  <a:tcPr marL="91440" marR="91440" marT="45720" marB="45720" anchor="ctr">
                    <a:solidFill>
                      <a:srgbClr val="FFFFFF"/>
                    </a:solidFill>
                  </a:tcPr>
                </a:tc>
                <a:tc>
                  <a:txBody>
                    <a:bodyPr lIns="171450" tIns="95250" rIns="152400" bIns="95250"/>
                    <a:lstStyle/>
                    <a:p>
                      <a:r>
                        <a:rPr sz="2250" b="0">
                          <a:solidFill>
                            <a:srgbClr val="183247"/>
                          </a:solidFill>
                          <a:latin typeface="Arial"/>
                          <a:ea typeface="Arial"/>
                          <a:cs typeface="Arial"/>
                        </a:rPr>
                        <a:t>28 − 0,5 × 48 = € 4</a:t>
                      </a:r>
                    </a:p>
                  </a:txBody>
                  <a:tcPr marL="91440" marR="91440" marT="45720" marB="45720" anchor="ctr">
                    <a:solidFill>
                      <a:srgbClr val="FFFFFF"/>
                    </a:solidFill>
                  </a:tcPr>
                </a:tc>
                <a:tc>
                  <a:txBody>
                    <a:bodyPr lIns="171450" tIns="95250" rIns="152400" bIns="95250"/>
                    <a:lstStyle/>
                    <a:p>
                      <a:r>
                        <a:rPr sz="2250" b="0">
                          <a:solidFill>
                            <a:srgbClr val="183247"/>
                          </a:solidFill>
                          <a:latin typeface="Arial"/>
                          <a:ea typeface="Arial"/>
                          <a:cs typeface="Arial"/>
                        </a:rPr>
                        <a:t>4 + 0,25 × 48 = € 16</a:t>
                      </a:r>
                    </a:p>
                  </a:txBody>
                  <a:tcPr marL="91440" marR="91440" marT="45720" marB="45720" anchor="ctr">
                    <a:solidFill>
                      <a:srgbClr val="FFFFFF"/>
                    </a:solidFill>
                  </a:tcPr>
                </a:tc>
                <a:tc>
                  <a:txBody>
                    <a:bodyPr lIns="171450" tIns="95250" rIns="152400" bIns="95250"/>
                    <a:lstStyle/>
                    <a:p>
                      <a:r>
                        <a:rPr sz="2250" b="0">
                          <a:solidFill>
                            <a:srgbClr val="183247"/>
                          </a:solidFill>
                          <a:latin typeface="Arial"/>
                          <a:ea typeface="Arial"/>
                          <a:cs typeface="Arial"/>
                        </a:rPr>
                        <a:t>− € 12</a:t>
                      </a:r>
                    </a:p>
                  </a:txBody>
                  <a:tcPr marL="91440" marR="91440" marT="45720" marB="45720" anchor="ctr">
                    <a:solidFill>
                      <a:srgbClr val="FFFFFF"/>
                    </a:solidFill>
                  </a:tcPr>
                </a:tc>
              </a:tr>
            </a:tbl>
          </a:graphicData>
        </a:graphic>
      </p:graphicFrame>
      <p:sp>
        <p:nvSpPr>
          <p:cNvPr id="7" name="Vóór Qe: extra handel vergroot TS.">
            <a:extLst xmlns:a="http://schemas.openxmlformats.org/drawingml/2006/main">
              <a:ext uri="{FF2B5EF4-FFF2-40B4-BE49-F238E27FC236}">
                <a16:creationId xmlns:a16="http://schemas.microsoft.com/office/drawing/2014/main" id="{A49438C8-F278-4213-832D-F4578239AAF1}"/>
              </a:ext>
            </a:extLst>
          </p:cNvPr>
          <p:cNvSpPr>
            <a:spLocks xmlns:a="http://schemas.openxmlformats.org/drawingml/2006/main" noGrp="1"/>
          </p:cNvSpPr>
          <p:nvPr/>
        </p:nvSpPr>
        <p:spPr>
          <a:xfrm xmlns:a="http://schemas.openxmlformats.org/drawingml/2006/main">
            <a:off x="571500" y="6638925"/>
            <a:ext cx="14097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7658A"/>
                </a:solidFill>
                <a:latin typeface="Arial"/>
                <a:ea typeface="Arial"/>
                <a:cs typeface="Arial"/>
              </a:defRPr>
            </a:pPr>
            <a:r>
              <a:rPr sz="3000" b="1">
                <a:solidFill>
                  <a:srgbClr val="17658A"/>
                </a:solidFill>
                <a:latin typeface="Arial"/>
                <a:ea typeface="Arial"/>
                <a:cs typeface="Arial"/>
              </a:rPr>
              <a:t>Vóór Qe: extra handel vergroot TS.</a:t>
            </a:r>
          </a:p>
        </p:txBody>
      </p:sp>
      <p:sp>
        <p:nvSpPr>
          <p:cNvPr id="8" name="Na Qe: extra handel verkleint TS.">
            <a:extLst xmlns:a="http://schemas.openxmlformats.org/drawingml/2006/main">
              <a:ext uri="{FF2B5EF4-FFF2-40B4-BE49-F238E27FC236}">
                <a16:creationId xmlns:a16="http://schemas.microsoft.com/office/drawing/2014/main" id="{CAD1835D-2F47-4E4D-94E6-DB66B3FEC000}"/>
              </a:ext>
            </a:extLst>
          </p:cNvPr>
          <p:cNvSpPr>
            <a:spLocks xmlns:a="http://schemas.openxmlformats.org/drawingml/2006/main" noGrp="1"/>
          </p:cNvSpPr>
          <p:nvPr/>
        </p:nvSpPr>
        <p:spPr>
          <a:xfrm xmlns:a="http://schemas.openxmlformats.org/drawingml/2006/main">
            <a:off x="571500" y="7353300"/>
            <a:ext cx="14097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A94D16"/>
                </a:solidFill>
                <a:latin typeface="Arial"/>
                <a:ea typeface="Arial"/>
                <a:cs typeface="Arial"/>
              </a:defRPr>
            </a:pPr>
            <a:r>
              <a:rPr sz="3000" b="1">
                <a:solidFill>
                  <a:srgbClr val="A94D16"/>
                </a:solidFill>
                <a:latin typeface="Arial"/>
                <a:ea typeface="Arial"/>
                <a:cs typeface="Arial"/>
              </a:rPr>
              <a:t>Na Qe: extra handel verkleint TS.</a:t>
            </a:r>
          </a:p>
        </p:txBody>
      </p:sp>
    </p:spTree>
    <p:extLst>
      <p:ext uri="{BB962C8B-B14F-4D97-AF65-F5344CB8AC3E}">
        <p14:creationId xmlns:p14="http://schemas.microsoft.com/office/powerpoint/2010/main" val="791425388"/>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Maximaal totaal surplus">
            <a:extLst xmlns:a="http://schemas.openxmlformats.org/drawingml/2006/main">
              <a:ext uri="{FF2B5EF4-FFF2-40B4-BE49-F238E27FC236}">
                <a16:creationId xmlns:a16="http://schemas.microsoft.com/office/drawing/2014/main" id="{B8023371-9673-4CF0-A6AA-C839BA38AC45}"/>
              </a:ext>
            </a:extLst>
          </p:cNvPr>
          <p:cNvSpPr>
            <a:spLocks xmlns:a="http://schemas.openxmlformats.org/drawingml/2006/main" noGrp="1"/>
          </p:cNvSpPr>
          <p:nvPr/>
        </p:nvSpPr>
        <p:spPr>
          <a:xfrm xmlns:a="http://schemas.openxmlformats.org/drawingml/2006/main">
            <a:off x="571500" y="361950"/>
            <a:ext cx="14097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Maximaal totaal surplus</a:t>
            </a:r>
          </a:p>
        </p:txBody>
      </p:sp>
      <p:sp>
        <p:nvSpPr>
          <p:cNvPr id="2" name="">
            <a:extLst xmlns:a="http://schemas.openxmlformats.org/drawingml/2006/main">
              <a:ext uri="{FF2B5EF4-FFF2-40B4-BE49-F238E27FC236}">
                <a16:creationId xmlns:a16="http://schemas.microsoft.com/office/drawing/2014/main" id="{3EE71FDD-D0E4-4C6A-8815-E3813025E4F6}"/>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2.3.2 Producentensurplus en totaal surplus">
            <a:extLst xmlns:a="http://schemas.openxmlformats.org/drawingml/2006/main">
              <a:ext uri="{FF2B5EF4-FFF2-40B4-BE49-F238E27FC236}">
                <a16:creationId xmlns:a16="http://schemas.microsoft.com/office/drawing/2014/main" id="{3D575829-06F5-4005-90C8-97C29870C9FE}"/>
              </a:ext>
            </a:extLst>
          </p:cNvPr>
          <p:cNvSpPr>
            <a:spLocks xmlns:a="http://schemas.openxmlformats.org/drawingml/2006/main" noGrp="1"/>
          </p:cNvSpPr>
          <p:nvPr/>
        </p:nvSpPr>
        <p:spPr>
          <a:xfrm xmlns:a="http://schemas.openxmlformats.org/drawingml/2006/main">
            <a:off x="571500" y="8077200"/>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§2.3.2 Producentensurplus en totaal surplus</a:t>
            </a:r>
          </a:p>
        </p:txBody>
      </p:sp>
      <p:sp>
        <p:nvSpPr>
          <p:cNvPr id="4" name="13">
            <a:extLst xmlns:a="http://schemas.openxmlformats.org/drawingml/2006/main">
              <a:ext uri="{FF2B5EF4-FFF2-40B4-BE49-F238E27FC236}">
                <a16:creationId xmlns:a16="http://schemas.microsoft.com/office/drawing/2014/main" id="{E3922D10-FBC7-4C9A-97C3-95CB9A5D3D64}"/>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13</a:t>
            </a:r>
          </a:p>
        </p:txBody>
      </p:sp>
      <p:sp>
        <p:nvSpPr>
          <p:cNvPr id="5" name="Uitlegvoorbeeld — niet uit het boek · Fietsbellen">
            <a:extLst xmlns:a="http://schemas.openxmlformats.org/drawingml/2006/main">
              <a:ext uri="{FF2B5EF4-FFF2-40B4-BE49-F238E27FC236}">
                <a16:creationId xmlns:a16="http://schemas.microsoft.com/office/drawing/2014/main" id="{435E1FE7-2343-457D-A848-3C999FB4DA3D}"/>
              </a:ext>
            </a:extLst>
          </p:cNvPr>
          <p:cNvSpPr>
            <a:spLocks xmlns:a="http://schemas.openxmlformats.org/drawingml/2006/main" noGrp="1"/>
          </p:cNvSpPr>
          <p:nvPr/>
        </p:nvSpPr>
        <p:spPr>
          <a:xfrm xmlns:a="http://schemas.openxmlformats.org/drawingml/2006/main">
            <a:off x="571500" y="1733550"/>
            <a:ext cx="14097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7658A"/>
                </a:solidFill>
                <a:latin typeface="Arial"/>
                <a:ea typeface="Arial"/>
                <a:cs typeface="Arial"/>
              </a:defRPr>
            </a:pPr>
            <a:r>
              <a:rPr sz="2175" b="1">
                <a:solidFill>
                  <a:srgbClr val="17658A"/>
                </a:solidFill>
                <a:latin typeface="Arial"/>
                <a:ea typeface="Arial"/>
                <a:cs typeface="Arial"/>
              </a:rPr>
              <a:t>Uitlegvoorbeeld — niet uit het boek · Fietsbellen</a:t>
            </a:r>
          </a:p>
        </p:txBody>
      </p:sp>
      <p:sp>
        <p:nvSpPr>
          <p:cNvPr id="6" name="Tot Q = 32">
            <a:extLst xmlns:a="http://schemas.openxmlformats.org/drawingml/2006/main">
              <a:ext uri="{FF2B5EF4-FFF2-40B4-BE49-F238E27FC236}">
                <a16:creationId xmlns:a16="http://schemas.microsoft.com/office/drawing/2014/main" id="{05CE1B67-2137-47D0-B29A-25242B16E467}"/>
              </a:ext>
            </a:extLst>
          </p:cNvPr>
          <p:cNvSpPr>
            <a:spLocks xmlns:a="http://schemas.openxmlformats.org/drawingml/2006/main" noGrp="1"/>
          </p:cNvSpPr>
          <p:nvPr/>
        </p:nvSpPr>
        <p:spPr>
          <a:xfrm xmlns:a="http://schemas.openxmlformats.org/drawingml/2006/main">
            <a:off x="571500" y="2524125"/>
            <a:ext cx="4953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7658A"/>
                </a:solidFill>
                <a:latin typeface="Arial"/>
                <a:ea typeface="Arial"/>
                <a:cs typeface="Arial"/>
              </a:defRPr>
            </a:pPr>
            <a:r>
              <a:rPr sz="2700" b="1">
                <a:solidFill>
                  <a:srgbClr val="17658A"/>
                </a:solidFill>
                <a:latin typeface="Arial"/>
                <a:ea typeface="Arial"/>
                <a:cs typeface="Arial"/>
              </a:rPr>
              <a:t>Tot Q = 32</a:t>
            </a:r>
          </a:p>
        </p:txBody>
      </p:sp>
      <p:sp>
        <p:nvSpPr>
          <p:cNvPr id="7" name="Betalingsbereidheid is minstens zo hoog als MK.">
            <a:extLst xmlns:a="http://schemas.openxmlformats.org/drawingml/2006/main">
              <a:ext uri="{FF2B5EF4-FFF2-40B4-BE49-F238E27FC236}">
                <a16:creationId xmlns:a16="http://schemas.microsoft.com/office/drawing/2014/main" id="{D2FBFEE8-1CE8-47F7-94A7-8AFFAF66F4C5}"/>
              </a:ext>
            </a:extLst>
          </p:cNvPr>
          <p:cNvSpPr>
            <a:spLocks xmlns:a="http://schemas.openxmlformats.org/drawingml/2006/main" noGrp="1"/>
          </p:cNvSpPr>
          <p:nvPr/>
        </p:nvSpPr>
        <p:spPr>
          <a:xfrm xmlns:a="http://schemas.openxmlformats.org/drawingml/2006/main">
            <a:off x="5905500" y="2524125"/>
            <a:ext cx="8763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0">
                <a:solidFill>
                  <a:srgbClr val="183247"/>
                </a:solidFill>
                <a:latin typeface="Arial"/>
                <a:ea typeface="Arial"/>
                <a:cs typeface="Arial"/>
              </a:defRPr>
            </a:pPr>
            <a:r>
              <a:rPr sz="2850" b="0">
                <a:solidFill>
                  <a:srgbClr val="183247"/>
                </a:solidFill>
                <a:latin typeface="Arial"/>
                <a:ea typeface="Arial"/>
                <a:cs typeface="Arial"/>
              </a:rPr>
              <a:t>Betalingsbereidheid is minstens zo hoog als MK.</a:t>
            </a:r>
          </a:p>
        </p:txBody>
      </p:sp>
      <p:sp>
        <p:nvSpPr>
          <p:cNvPr id="8" name="Voorbij Q = 32">
            <a:extLst xmlns:a="http://schemas.openxmlformats.org/drawingml/2006/main">
              <a:ext uri="{FF2B5EF4-FFF2-40B4-BE49-F238E27FC236}">
                <a16:creationId xmlns:a16="http://schemas.microsoft.com/office/drawing/2014/main" id="{00C3F760-2C4A-49B6-BF9A-F3EA1EECE079}"/>
              </a:ext>
            </a:extLst>
          </p:cNvPr>
          <p:cNvSpPr>
            <a:spLocks xmlns:a="http://schemas.openxmlformats.org/drawingml/2006/main" noGrp="1"/>
          </p:cNvSpPr>
          <p:nvPr/>
        </p:nvSpPr>
        <p:spPr>
          <a:xfrm xmlns:a="http://schemas.openxmlformats.org/drawingml/2006/main">
            <a:off x="571500" y="4038600"/>
            <a:ext cx="4953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7658A"/>
                </a:solidFill>
                <a:latin typeface="Arial"/>
                <a:ea typeface="Arial"/>
                <a:cs typeface="Arial"/>
              </a:defRPr>
            </a:pPr>
            <a:r>
              <a:rPr sz="2700" b="1">
                <a:solidFill>
                  <a:srgbClr val="17658A"/>
                </a:solidFill>
                <a:latin typeface="Arial"/>
                <a:ea typeface="Arial"/>
                <a:cs typeface="Arial"/>
              </a:rPr>
              <a:t>Voorbij Q = 32</a:t>
            </a:r>
          </a:p>
        </p:txBody>
      </p:sp>
      <p:sp>
        <p:nvSpPr>
          <p:cNvPr id="9" name="Extra eenheden kosten meer dan ze de kopers waard zijn.">
            <a:extLst xmlns:a="http://schemas.openxmlformats.org/drawingml/2006/main">
              <a:ext uri="{FF2B5EF4-FFF2-40B4-BE49-F238E27FC236}">
                <a16:creationId xmlns:a16="http://schemas.microsoft.com/office/drawing/2014/main" id="{7FF6DC5E-25B9-4D2C-84D1-A699E6BD30B7}"/>
              </a:ext>
            </a:extLst>
          </p:cNvPr>
          <p:cNvSpPr>
            <a:spLocks xmlns:a="http://schemas.openxmlformats.org/drawingml/2006/main" noGrp="1"/>
          </p:cNvSpPr>
          <p:nvPr/>
        </p:nvSpPr>
        <p:spPr>
          <a:xfrm xmlns:a="http://schemas.openxmlformats.org/drawingml/2006/main">
            <a:off x="5905500" y="4038600"/>
            <a:ext cx="8763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0">
                <a:solidFill>
                  <a:srgbClr val="183247"/>
                </a:solidFill>
                <a:latin typeface="Arial"/>
                <a:ea typeface="Arial"/>
                <a:cs typeface="Arial"/>
              </a:defRPr>
            </a:pPr>
            <a:r>
              <a:rPr sz="2850" b="0">
                <a:solidFill>
                  <a:srgbClr val="183247"/>
                </a:solidFill>
                <a:latin typeface="Arial"/>
                <a:ea typeface="Arial"/>
                <a:cs typeface="Arial"/>
              </a:rPr>
              <a:t>Extra eenheden kosten meer dan ze de kopers waard zijn.</a:t>
            </a:r>
          </a:p>
        </p:txBody>
      </p:sp>
      <p:sp>
        <p:nvSpPr>
          <p:cNvPr id="10" name="Bij Q = 32">
            <a:extLst xmlns:a="http://schemas.openxmlformats.org/drawingml/2006/main">
              <a:ext uri="{FF2B5EF4-FFF2-40B4-BE49-F238E27FC236}">
                <a16:creationId xmlns:a16="http://schemas.microsoft.com/office/drawing/2014/main" id="{66438B85-C541-4A7E-B3C0-594D5B8DEDA3}"/>
              </a:ext>
            </a:extLst>
          </p:cNvPr>
          <p:cNvSpPr>
            <a:spLocks xmlns:a="http://schemas.openxmlformats.org/drawingml/2006/main" noGrp="1"/>
          </p:cNvSpPr>
          <p:nvPr/>
        </p:nvSpPr>
        <p:spPr>
          <a:xfrm xmlns:a="http://schemas.openxmlformats.org/drawingml/2006/main">
            <a:off x="571500" y="5553075"/>
            <a:ext cx="4953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7658A"/>
                </a:solidFill>
                <a:latin typeface="Arial"/>
                <a:ea typeface="Arial"/>
                <a:cs typeface="Arial"/>
              </a:defRPr>
            </a:pPr>
            <a:r>
              <a:rPr sz="2700" b="1">
                <a:solidFill>
                  <a:srgbClr val="17658A"/>
                </a:solidFill>
                <a:latin typeface="Arial"/>
                <a:ea typeface="Arial"/>
                <a:cs typeface="Arial"/>
              </a:rPr>
              <a:t>Bij Q = 32</a:t>
            </a:r>
          </a:p>
        </p:txBody>
      </p:sp>
      <p:sp>
        <p:nvSpPr>
          <p:cNvPr id="11" name="TS is maximaal binnen dit marktmodel.">
            <a:extLst xmlns:a="http://schemas.openxmlformats.org/drawingml/2006/main">
              <a:ext uri="{FF2B5EF4-FFF2-40B4-BE49-F238E27FC236}">
                <a16:creationId xmlns:a16="http://schemas.microsoft.com/office/drawing/2014/main" id="{FF96D9F8-BD90-4CA8-89DD-C25F06818CC2}"/>
              </a:ext>
            </a:extLst>
          </p:cNvPr>
          <p:cNvSpPr>
            <a:spLocks xmlns:a="http://schemas.openxmlformats.org/drawingml/2006/main" noGrp="1"/>
          </p:cNvSpPr>
          <p:nvPr/>
        </p:nvSpPr>
        <p:spPr>
          <a:xfrm xmlns:a="http://schemas.openxmlformats.org/drawingml/2006/main">
            <a:off x="5905500" y="5553075"/>
            <a:ext cx="8763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0">
                <a:solidFill>
                  <a:srgbClr val="183247"/>
                </a:solidFill>
                <a:latin typeface="Arial"/>
                <a:ea typeface="Arial"/>
                <a:cs typeface="Arial"/>
              </a:defRPr>
            </a:pPr>
            <a:r>
              <a:rPr sz="2850" b="0">
                <a:solidFill>
                  <a:srgbClr val="183247"/>
                </a:solidFill>
                <a:latin typeface="Arial"/>
                <a:ea typeface="Arial"/>
                <a:cs typeface="Arial"/>
              </a:rPr>
              <a:t>TS is maximaal binnen dit marktmodel.</a:t>
            </a:r>
          </a:p>
        </p:txBody>
      </p:sp>
      <p:sp>
        <p:nvSpPr>
          <p:cNvPr id="12" name="€ 256 voor kopers en € 128 voor verkopers: geen oordeel over eerlijkhe">
            <a:extLst xmlns:a="http://schemas.openxmlformats.org/drawingml/2006/main">
              <a:ext uri="{FF2B5EF4-FFF2-40B4-BE49-F238E27FC236}">
                <a16:creationId xmlns:a16="http://schemas.microsoft.com/office/drawing/2014/main" id="{A8D2C5E0-6C5D-437E-801B-571A15A29981}"/>
              </a:ext>
            </a:extLst>
          </p:cNvPr>
          <p:cNvSpPr>
            <a:spLocks xmlns:a="http://schemas.openxmlformats.org/drawingml/2006/main" noGrp="1"/>
          </p:cNvSpPr>
          <p:nvPr/>
        </p:nvSpPr>
        <p:spPr>
          <a:xfrm xmlns:a="http://schemas.openxmlformats.org/drawingml/2006/main">
            <a:off x="571500" y="7267575"/>
            <a:ext cx="14097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A94D16"/>
                </a:solidFill>
                <a:latin typeface="Arial"/>
                <a:ea typeface="Arial"/>
                <a:cs typeface="Arial"/>
              </a:defRPr>
            </a:pPr>
            <a:r>
              <a:rPr sz="2625" b="1">
                <a:solidFill>
                  <a:srgbClr val="A94D16"/>
                </a:solidFill>
                <a:latin typeface="Arial"/>
                <a:ea typeface="Arial"/>
                <a:cs typeface="Arial"/>
              </a:rPr>
              <a:t>€ 256 voor kopers en € 128 voor verkopers: geen oordeel over eerlijkheid.</a:t>
            </a:r>
          </a:p>
        </p:txBody>
      </p:sp>
    </p:spTree>
    <p:extLst>
      <p:ext uri="{BB962C8B-B14F-4D97-AF65-F5344CB8AC3E}">
        <p14:creationId xmlns:p14="http://schemas.microsoft.com/office/powerpoint/2010/main" val="1777664302"/>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Korte controle">
            <a:extLst xmlns:a="http://schemas.openxmlformats.org/drawingml/2006/main">
              <a:ext uri="{FF2B5EF4-FFF2-40B4-BE49-F238E27FC236}">
                <a16:creationId xmlns:a16="http://schemas.microsoft.com/office/drawing/2014/main" id="{986E6980-A130-421B-86B6-DA57632EEE53}"/>
              </a:ext>
            </a:extLst>
          </p:cNvPr>
          <p:cNvSpPr>
            <a:spLocks xmlns:a="http://schemas.openxmlformats.org/drawingml/2006/main" noGrp="1"/>
          </p:cNvSpPr>
          <p:nvPr/>
        </p:nvSpPr>
        <p:spPr>
          <a:xfrm xmlns:a="http://schemas.openxmlformats.org/drawingml/2006/main">
            <a:off x="571500" y="361950"/>
            <a:ext cx="14097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Korte controle</a:t>
            </a:r>
          </a:p>
        </p:txBody>
      </p:sp>
      <p:sp>
        <p:nvSpPr>
          <p:cNvPr id="2" name="">
            <a:extLst xmlns:a="http://schemas.openxmlformats.org/drawingml/2006/main">
              <a:ext uri="{FF2B5EF4-FFF2-40B4-BE49-F238E27FC236}">
                <a16:creationId xmlns:a16="http://schemas.microsoft.com/office/drawing/2014/main" id="{B5FF8275-30C1-4B88-911E-5B27D793369B}"/>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2.3.2 Producentensurplus en totaal surplus">
            <a:extLst xmlns:a="http://schemas.openxmlformats.org/drawingml/2006/main">
              <a:ext uri="{FF2B5EF4-FFF2-40B4-BE49-F238E27FC236}">
                <a16:creationId xmlns:a16="http://schemas.microsoft.com/office/drawing/2014/main" id="{41A0291F-0DC3-4C97-867D-0EDA7701A982}"/>
              </a:ext>
            </a:extLst>
          </p:cNvPr>
          <p:cNvSpPr>
            <a:spLocks xmlns:a="http://schemas.openxmlformats.org/drawingml/2006/main" noGrp="1"/>
          </p:cNvSpPr>
          <p:nvPr/>
        </p:nvSpPr>
        <p:spPr>
          <a:xfrm xmlns:a="http://schemas.openxmlformats.org/drawingml/2006/main">
            <a:off x="571500" y="8077200"/>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§2.3.2 Producentensurplus en totaal surplus</a:t>
            </a:r>
          </a:p>
        </p:txBody>
      </p:sp>
      <p:sp>
        <p:nvSpPr>
          <p:cNvPr id="4" name="14">
            <a:extLst xmlns:a="http://schemas.openxmlformats.org/drawingml/2006/main">
              <a:ext uri="{FF2B5EF4-FFF2-40B4-BE49-F238E27FC236}">
                <a16:creationId xmlns:a16="http://schemas.microsoft.com/office/drawing/2014/main" id="{EF81E1D4-8743-4EDB-87FB-7EB23B593B6D}"/>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14</a:t>
            </a:r>
          </a:p>
        </p:txBody>
      </p:sp>
      <p:sp>
        <p:nvSpPr>
          <p:cNvPr id="5" name="Uitlegvoorbeeld — niet uit het boek · Fietsbellen">
            <a:extLst xmlns:a="http://schemas.openxmlformats.org/drawingml/2006/main">
              <a:ext uri="{FF2B5EF4-FFF2-40B4-BE49-F238E27FC236}">
                <a16:creationId xmlns:a16="http://schemas.microsoft.com/office/drawing/2014/main" id="{8DD800F5-1E38-40A7-B3E3-65AEE956BB01}"/>
              </a:ext>
            </a:extLst>
          </p:cNvPr>
          <p:cNvSpPr>
            <a:spLocks xmlns:a="http://schemas.openxmlformats.org/drawingml/2006/main" noGrp="1"/>
          </p:cNvSpPr>
          <p:nvPr/>
        </p:nvSpPr>
        <p:spPr>
          <a:xfrm xmlns:a="http://schemas.openxmlformats.org/drawingml/2006/main">
            <a:off x="571500" y="1733550"/>
            <a:ext cx="14097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7658A"/>
                </a:solidFill>
                <a:latin typeface="Arial"/>
                <a:ea typeface="Arial"/>
                <a:cs typeface="Arial"/>
              </a:defRPr>
            </a:pPr>
            <a:r>
              <a:rPr sz="2175" b="1">
                <a:solidFill>
                  <a:srgbClr val="17658A"/>
                </a:solidFill>
                <a:latin typeface="Arial"/>
                <a:ea typeface="Arial"/>
                <a:cs typeface="Arial"/>
              </a:rPr>
              <a:t>Uitlegvoorbeeld — niet uit het boek · Fietsbellen</a:t>
            </a:r>
          </a:p>
        </p:txBody>
      </p:sp>
      <p:sp>
        <p:nvSpPr>
          <p:cNvPr id="6" name="Bij Q = 40: betalingsbereidheid € 8 en MK € 14.">
            <a:extLst xmlns:a="http://schemas.openxmlformats.org/drawingml/2006/main">
              <a:ext uri="{FF2B5EF4-FFF2-40B4-BE49-F238E27FC236}">
                <a16:creationId xmlns:a16="http://schemas.microsoft.com/office/drawing/2014/main" id="{38A1B7BA-ED54-4CBE-B425-AE66B16C6F51}"/>
              </a:ext>
            </a:extLst>
          </p:cNvPr>
          <p:cNvSpPr>
            <a:spLocks xmlns:a="http://schemas.openxmlformats.org/drawingml/2006/main" noGrp="1"/>
          </p:cNvSpPr>
          <p:nvPr/>
        </p:nvSpPr>
        <p:spPr>
          <a:xfrm xmlns:a="http://schemas.openxmlformats.org/drawingml/2006/main">
            <a:off x="571500" y="2667000"/>
            <a:ext cx="14097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3247"/>
                </a:solidFill>
                <a:latin typeface="Arial"/>
                <a:ea typeface="Arial"/>
                <a:cs typeface="Arial"/>
              </a:defRPr>
            </a:pPr>
            <a:r>
              <a:rPr sz="3225" b="1">
                <a:solidFill>
                  <a:srgbClr val="183247"/>
                </a:solidFill>
                <a:latin typeface="Arial"/>
                <a:ea typeface="Arial"/>
                <a:cs typeface="Arial"/>
              </a:rPr>
              <a:t>Bij Q = 40: betalingsbereidheid € 8 en MK € 14.</a:t>
            </a:r>
          </a:p>
        </p:txBody>
      </p:sp>
      <p:sp>
        <p:nvSpPr>
          <p:cNvPr id="7" name="“Meer fietsbellen verkopen maakt TS altijd groter.”">
            <a:extLst xmlns:a="http://schemas.openxmlformats.org/drawingml/2006/main">
              <a:ext uri="{FF2B5EF4-FFF2-40B4-BE49-F238E27FC236}">
                <a16:creationId xmlns:a16="http://schemas.microsoft.com/office/drawing/2014/main" id="{AFCC3F45-ABF6-4778-A712-38CA4D38EFD9}"/>
              </a:ext>
            </a:extLst>
          </p:cNvPr>
          <p:cNvSpPr>
            <a:spLocks xmlns:a="http://schemas.openxmlformats.org/drawingml/2006/main" noGrp="1"/>
          </p:cNvSpPr>
          <p:nvPr/>
        </p:nvSpPr>
        <p:spPr>
          <a:xfrm xmlns:a="http://schemas.openxmlformats.org/drawingml/2006/main">
            <a:off x="571500" y="4029075"/>
            <a:ext cx="14097000"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525" b="1">
                <a:solidFill>
                  <a:srgbClr val="17658A"/>
                </a:solidFill>
                <a:latin typeface="Arial"/>
                <a:ea typeface="Arial"/>
                <a:cs typeface="Arial"/>
              </a:defRPr>
            </a:pPr>
            <a:r>
              <a:rPr sz="3525" b="1">
                <a:solidFill>
                  <a:srgbClr val="17658A"/>
                </a:solidFill>
                <a:latin typeface="Arial"/>
                <a:ea typeface="Arial"/>
                <a:cs typeface="Arial"/>
              </a:rPr>
              <a:t>“Meer fietsbellen verkopen maakt TS altijd groter.”</a:t>
            </a:r>
          </a:p>
        </p:txBody>
      </p:sp>
      <p:sp>
        <p:nvSpPr>
          <p:cNvPr id="8" name="Klopt de uitspraak?&#10;Gebruik de betalingsbereidheid en MK in je uitleg.">
            <a:extLst xmlns:a="http://schemas.openxmlformats.org/drawingml/2006/main">
              <a:ext uri="{FF2B5EF4-FFF2-40B4-BE49-F238E27FC236}">
                <a16:creationId xmlns:a16="http://schemas.microsoft.com/office/drawing/2014/main" id="{92818BC9-6AF7-4568-B715-822FACC61E5D}"/>
              </a:ext>
            </a:extLst>
          </p:cNvPr>
          <p:cNvSpPr>
            <a:spLocks xmlns:a="http://schemas.openxmlformats.org/drawingml/2006/main" noGrp="1"/>
          </p:cNvSpPr>
          <p:nvPr/>
        </p:nvSpPr>
        <p:spPr>
          <a:xfrm xmlns:a="http://schemas.openxmlformats.org/drawingml/2006/main">
            <a:off x="571500" y="6134100"/>
            <a:ext cx="140970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0">
                <a:solidFill>
                  <a:srgbClr val="183247"/>
                </a:solidFill>
                <a:latin typeface="Arial"/>
                <a:ea typeface="Arial"/>
                <a:cs typeface="Arial"/>
              </a:defRPr>
            </a:pPr>
            <a:r>
              <a:rPr sz="3150" b="0">
                <a:solidFill>
                  <a:srgbClr val="183247"/>
                </a:solidFill>
                <a:latin typeface="Arial"/>
                <a:ea typeface="Arial"/>
                <a:cs typeface="Arial"/>
              </a:rPr>
              <a:t>Klopt de uitspraak?</a:t>
            </a:r>
          </a:p>
          <a:p xmlns:a="http://schemas.openxmlformats.org/drawingml/2006/main">
            <a:pPr algn="l">
              <a:defRPr sz="3150" b="0">
                <a:solidFill>
                  <a:srgbClr val="183247"/>
                </a:solidFill>
                <a:latin typeface="Arial"/>
                <a:ea typeface="Arial"/>
                <a:cs typeface="Arial"/>
              </a:defRPr>
            </a:pPr>
            <a:r>
              <a:rPr sz="3150" b="0">
                <a:solidFill>
                  <a:srgbClr val="183247"/>
                </a:solidFill>
                <a:latin typeface="Arial"/>
                <a:ea typeface="Arial"/>
                <a:cs typeface="Arial"/>
              </a:rPr>
              <a:t>Gebruik de betalingsbereidheid en MK in je uitleg.</a:t>
            </a:r>
          </a:p>
        </p:txBody>
      </p:sp>
    </p:spTree>
    <p:extLst>
      <p:ext uri="{BB962C8B-B14F-4D97-AF65-F5344CB8AC3E}">
        <p14:creationId xmlns:p14="http://schemas.microsoft.com/office/powerpoint/2010/main" val="1831341143"/>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Korte controle · Bespreking">
            <a:extLst xmlns:a="http://schemas.openxmlformats.org/drawingml/2006/main">
              <a:ext uri="{FF2B5EF4-FFF2-40B4-BE49-F238E27FC236}">
                <a16:creationId xmlns:a16="http://schemas.microsoft.com/office/drawing/2014/main" id="{02D6AA39-F132-44E6-8256-296FFAE4E5D4}"/>
              </a:ext>
            </a:extLst>
          </p:cNvPr>
          <p:cNvSpPr>
            <a:spLocks xmlns:a="http://schemas.openxmlformats.org/drawingml/2006/main" noGrp="1"/>
          </p:cNvSpPr>
          <p:nvPr/>
        </p:nvSpPr>
        <p:spPr>
          <a:xfrm xmlns:a="http://schemas.openxmlformats.org/drawingml/2006/main">
            <a:off x="571500" y="361950"/>
            <a:ext cx="14097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Korte controle · Bespreking</a:t>
            </a:r>
          </a:p>
        </p:txBody>
      </p:sp>
      <p:sp>
        <p:nvSpPr>
          <p:cNvPr id="2" name="">
            <a:extLst xmlns:a="http://schemas.openxmlformats.org/drawingml/2006/main">
              <a:ext uri="{FF2B5EF4-FFF2-40B4-BE49-F238E27FC236}">
                <a16:creationId xmlns:a16="http://schemas.microsoft.com/office/drawing/2014/main" id="{2B60B35D-517C-47AF-9A70-51E7EF200C45}"/>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2.3.2 Producentensurplus en totaal surplus">
            <a:extLst xmlns:a="http://schemas.openxmlformats.org/drawingml/2006/main">
              <a:ext uri="{FF2B5EF4-FFF2-40B4-BE49-F238E27FC236}">
                <a16:creationId xmlns:a16="http://schemas.microsoft.com/office/drawing/2014/main" id="{E5FAF60A-9318-40A3-82E2-55E4A2C2894E}"/>
              </a:ext>
            </a:extLst>
          </p:cNvPr>
          <p:cNvSpPr>
            <a:spLocks xmlns:a="http://schemas.openxmlformats.org/drawingml/2006/main" noGrp="1"/>
          </p:cNvSpPr>
          <p:nvPr/>
        </p:nvSpPr>
        <p:spPr>
          <a:xfrm xmlns:a="http://schemas.openxmlformats.org/drawingml/2006/main">
            <a:off x="571500" y="8077200"/>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§2.3.2 Producentensurplus en totaal surplus</a:t>
            </a:r>
          </a:p>
        </p:txBody>
      </p:sp>
      <p:sp>
        <p:nvSpPr>
          <p:cNvPr id="4" name="15">
            <a:extLst xmlns:a="http://schemas.openxmlformats.org/drawingml/2006/main">
              <a:ext uri="{FF2B5EF4-FFF2-40B4-BE49-F238E27FC236}">
                <a16:creationId xmlns:a16="http://schemas.microsoft.com/office/drawing/2014/main" id="{B1E5F030-9C07-40B3-9FEF-8AF07E10D2B5}"/>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15</a:t>
            </a:r>
          </a:p>
        </p:txBody>
      </p:sp>
      <p:sp>
        <p:nvSpPr>
          <p:cNvPr id="5" name="Uitlegvoorbeeld — niet uit het boek · Fietsbellen">
            <a:extLst xmlns:a="http://schemas.openxmlformats.org/drawingml/2006/main">
              <a:ext uri="{FF2B5EF4-FFF2-40B4-BE49-F238E27FC236}">
                <a16:creationId xmlns:a16="http://schemas.microsoft.com/office/drawing/2014/main" id="{C52935EF-6B43-47F8-AC1D-B81E22CCB904}"/>
              </a:ext>
            </a:extLst>
          </p:cNvPr>
          <p:cNvSpPr>
            <a:spLocks xmlns:a="http://schemas.openxmlformats.org/drawingml/2006/main" noGrp="1"/>
          </p:cNvSpPr>
          <p:nvPr/>
        </p:nvSpPr>
        <p:spPr>
          <a:xfrm xmlns:a="http://schemas.openxmlformats.org/drawingml/2006/main">
            <a:off x="571500" y="1733550"/>
            <a:ext cx="14097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7658A"/>
                </a:solidFill>
                <a:latin typeface="Arial"/>
                <a:ea typeface="Arial"/>
                <a:cs typeface="Arial"/>
              </a:defRPr>
            </a:pPr>
            <a:r>
              <a:rPr sz="2175" b="1">
                <a:solidFill>
                  <a:srgbClr val="17658A"/>
                </a:solidFill>
                <a:latin typeface="Arial"/>
                <a:ea typeface="Arial"/>
                <a:cs typeface="Arial"/>
              </a:rPr>
              <a:t>Uitlegvoorbeeld — niet uit het boek · Fietsbellen</a:t>
            </a:r>
          </a:p>
        </p:txBody>
      </p:sp>
      <p:sp>
        <p:nvSpPr>
          <p:cNvPr id="6" name="Bij Q = 40: betalingsbereidheid € 8 en MK € 14.">
            <a:extLst xmlns:a="http://schemas.openxmlformats.org/drawingml/2006/main">
              <a:ext uri="{FF2B5EF4-FFF2-40B4-BE49-F238E27FC236}">
                <a16:creationId xmlns:a16="http://schemas.microsoft.com/office/drawing/2014/main" id="{F5BE056D-95DE-430E-B867-713E5BF83834}"/>
              </a:ext>
            </a:extLst>
          </p:cNvPr>
          <p:cNvSpPr>
            <a:spLocks xmlns:a="http://schemas.openxmlformats.org/drawingml/2006/main" noGrp="1"/>
          </p:cNvSpPr>
          <p:nvPr/>
        </p:nvSpPr>
        <p:spPr>
          <a:xfrm xmlns:a="http://schemas.openxmlformats.org/drawingml/2006/main">
            <a:off x="571500" y="2667000"/>
            <a:ext cx="14097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3247"/>
                </a:solidFill>
                <a:latin typeface="Arial"/>
                <a:ea typeface="Arial"/>
                <a:cs typeface="Arial"/>
              </a:defRPr>
            </a:pPr>
            <a:r>
              <a:rPr sz="3225" b="1">
                <a:solidFill>
                  <a:srgbClr val="183247"/>
                </a:solidFill>
                <a:latin typeface="Arial"/>
                <a:ea typeface="Arial"/>
                <a:cs typeface="Arial"/>
              </a:rPr>
              <a:t>Bij Q = 40: betalingsbereidheid € 8 en MK € 14.</a:t>
            </a:r>
          </a:p>
        </p:txBody>
      </p:sp>
      <p:sp>
        <p:nvSpPr>
          <p:cNvPr id="7" name="“Meer fietsbellen verkopen maakt TS altijd groter.”">
            <a:extLst xmlns:a="http://schemas.openxmlformats.org/drawingml/2006/main">
              <a:ext uri="{FF2B5EF4-FFF2-40B4-BE49-F238E27FC236}">
                <a16:creationId xmlns:a16="http://schemas.microsoft.com/office/drawing/2014/main" id="{B73D2622-B222-46DF-9CAD-3360F8B7AE4E}"/>
              </a:ext>
            </a:extLst>
          </p:cNvPr>
          <p:cNvSpPr>
            <a:spLocks xmlns:a="http://schemas.openxmlformats.org/drawingml/2006/main" noGrp="1"/>
          </p:cNvSpPr>
          <p:nvPr/>
        </p:nvSpPr>
        <p:spPr>
          <a:xfrm xmlns:a="http://schemas.openxmlformats.org/drawingml/2006/main">
            <a:off x="571500" y="4029075"/>
            <a:ext cx="14097000"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525" b="1">
                <a:solidFill>
                  <a:srgbClr val="17658A"/>
                </a:solidFill>
                <a:latin typeface="Arial"/>
                <a:ea typeface="Arial"/>
                <a:cs typeface="Arial"/>
              </a:defRPr>
            </a:pPr>
            <a:r>
              <a:rPr sz="3525" b="1">
                <a:solidFill>
                  <a:srgbClr val="17658A"/>
                </a:solidFill>
                <a:latin typeface="Arial"/>
                <a:ea typeface="Arial"/>
                <a:cs typeface="Arial"/>
              </a:rPr>
              <a:t>“Meer fietsbellen verkopen maakt TS altijd groter.”</a:t>
            </a:r>
          </a:p>
        </p:txBody>
      </p:sp>
      <p:sp>
        <p:nvSpPr>
          <p:cNvPr id="8" name="8 − 14 = − € 6 bij de marginale vergelijking.&#10;De extra eenheid verlaag">
            <a:extLst xmlns:a="http://schemas.openxmlformats.org/drawingml/2006/main">
              <a:ext uri="{FF2B5EF4-FFF2-40B4-BE49-F238E27FC236}">
                <a16:creationId xmlns:a16="http://schemas.microsoft.com/office/drawing/2014/main" id="{26545C84-CFF8-4E3D-9783-1D0DC281359E}"/>
              </a:ext>
            </a:extLst>
          </p:cNvPr>
          <p:cNvSpPr>
            <a:spLocks xmlns:a="http://schemas.openxmlformats.org/drawingml/2006/main" noGrp="1"/>
          </p:cNvSpPr>
          <p:nvPr/>
        </p:nvSpPr>
        <p:spPr>
          <a:xfrm xmlns:a="http://schemas.openxmlformats.org/drawingml/2006/main">
            <a:off x="571500" y="6134100"/>
            <a:ext cx="140970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83247"/>
                </a:solidFill>
                <a:latin typeface="Arial"/>
                <a:ea typeface="Arial"/>
                <a:cs typeface="Arial"/>
              </a:defRPr>
            </a:pPr>
            <a:r>
              <a:rPr sz="3150" b="1">
                <a:solidFill>
                  <a:srgbClr val="183247"/>
                </a:solidFill>
                <a:latin typeface="Arial"/>
                <a:ea typeface="Arial"/>
                <a:cs typeface="Arial"/>
              </a:rPr>
              <a:t>8 − 14 = − € 6 bij de marginale vergelijking.</a:t>
            </a:r>
          </a:p>
          <a:p xmlns:a="http://schemas.openxmlformats.org/drawingml/2006/main">
            <a:pPr algn="l">
              <a:defRPr sz="3150" b="1">
                <a:solidFill>
                  <a:srgbClr val="183247"/>
                </a:solidFill>
                <a:latin typeface="Arial"/>
                <a:ea typeface="Arial"/>
                <a:cs typeface="Arial"/>
              </a:defRPr>
            </a:pPr>
            <a:r>
              <a:rPr sz="3150" b="1">
                <a:solidFill>
                  <a:srgbClr val="183247"/>
                </a:solidFill>
                <a:latin typeface="Arial"/>
                <a:ea typeface="Arial"/>
                <a:cs typeface="Arial"/>
              </a:rPr>
              <a:t>De extra eenheid verlaagt TS in dit model.</a:t>
            </a:r>
          </a:p>
        </p:txBody>
      </p:sp>
    </p:spTree>
    <p:extLst>
      <p:ext uri="{BB962C8B-B14F-4D97-AF65-F5344CB8AC3E}">
        <p14:creationId xmlns:p14="http://schemas.microsoft.com/office/powerpoint/2010/main" val="306814253"/>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Deze les: §2.3.2 Producentensurplus en totaal surplus">
            <a:extLst xmlns:a="http://schemas.openxmlformats.org/drawingml/2006/main">
              <a:ext uri="{FF2B5EF4-FFF2-40B4-BE49-F238E27FC236}">
                <a16:creationId xmlns:a16="http://schemas.microsoft.com/office/drawing/2014/main" id="{E930A56C-3B80-40F1-8FFD-1960B7D25F8B}"/>
              </a:ext>
            </a:extLst>
          </p:cNvPr>
          <p:cNvSpPr>
            <a:spLocks xmlns:a="http://schemas.openxmlformats.org/drawingml/2006/main" noGrp="1"/>
          </p:cNvSpPr>
          <p:nvPr/>
        </p:nvSpPr>
        <p:spPr>
          <a:xfrm xmlns:a="http://schemas.openxmlformats.org/drawingml/2006/main">
            <a:off x="571500" y="361950"/>
            <a:ext cx="14097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83247"/>
                </a:solidFill>
                <a:latin typeface="Arial"/>
                <a:ea typeface="Arial"/>
                <a:cs typeface="Arial"/>
              </a:defRPr>
            </a:pPr>
            <a:r>
              <a:rPr sz="3300" b="1">
                <a:solidFill>
                  <a:srgbClr val="183247"/>
                </a:solidFill>
                <a:latin typeface="Arial"/>
                <a:ea typeface="Arial"/>
                <a:cs typeface="Arial"/>
              </a:rPr>
              <a:t>Deze les: §2.3.2 Producentensurplus en totaal surplus</a:t>
            </a:r>
          </a:p>
        </p:txBody>
      </p:sp>
      <p:sp>
        <p:nvSpPr>
          <p:cNvPr id="2" name="">
            <a:extLst xmlns:a="http://schemas.openxmlformats.org/drawingml/2006/main">
              <a:ext uri="{FF2B5EF4-FFF2-40B4-BE49-F238E27FC236}">
                <a16:creationId xmlns:a16="http://schemas.microsoft.com/office/drawing/2014/main" id="{46B83379-8907-4B17-99A9-6E54D630EF38}"/>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2.3.2 Producentensurplus en totaal surplus">
            <a:extLst xmlns:a="http://schemas.openxmlformats.org/drawingml/2006/main">
              <a:ext uri="{FF2B5EF4-FFF2-40B4-BE49-F238E27FC236}">
                <a16:creationId xmlns:a16="http://schemas.microsoft.com/office/drawing/2014/main" id="{CDAE4797-A80F-4132-B3F9-E42271DEC72C}"/>
              </a:ext>
            </a:extLst>
          </p:cNvPr>
          <p:cNvSpPr>
            <a:spLocks xmlns:a="http://schemas.openxmlformats.org/drawingml/2006/main" noGrp="1"/>
          </p:cNvSpPr>
          <p:nvPr/>
        </p:nvSpPr>
        <p:spPr>
          <a:xfrm xmlns:a="http://schemas.openxmlformats.org/drawingml/2006/main">
            <a:off x="571500" y="8077200"/>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§2.3.2 Producentensurplus en totaal surplus</a:t>
            </a:r>
          </a:p>
        </p:txBody>
      </p:sp>
      <p:sp>
        <p:nvSpPr>
          <p:cNvPr id="4" name="16">
            <a:extLst xmlns:a="http://schemas.openxmlformats.org/drawingml/2006/main">
              <a:ext uri="{FF2B5EF4-FFF2-40B4-BE49-F238E27FC236}">
                <a16:creationId xmlns:a16="http://schemas.microsoft.com/office/drawing/2014/main" id="{97972C6A-8C9B-4F82-BE0B-0369E5AA075A}"/>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16</a:t>
            </a:r>
          </a:p>
        </p:txBody>
      </p:sp>
      <p:sp>
        <p:nvSpPr>
          <p:cNvPr id="5" name="phase">
            <a:extLst xmlns:a="http://schemas.openxmlformats.org/drawingml/2006/main">
              <a:ext uri="{FF2B5EF4-FFF2-40B4-BE49-F238E27FC236}">
                <a16:creationId xmlns:a16="http://schemas.microsoft.com/office/drawing/2014/main" id="{7D4F8BF8-4521-445A-A115-E1DB3A2047C1}"/>
              </a:ext>
            </a:extLst>
          </p:cNvPr>
          <p:cNvSpPr>
            <a:spLocks xmlns:a="http://schemas.openxmlformats.org/drawingml/2006/main" noGrp="1"/>
          </p:cNvSpPr>
          <p:nvPr/>
        </p:nvSpPr>
        <p:spPr>
          <a:xfrm xmlns:a="http://schemas.openxmlformats.org/drawingml/2006/main">
            <a:off x="571500" y="1000125"/>
            <a:ext cx="13811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Nu: Zelfstandig werken</a:t>
            </a:r>
          </a:p>
        </p:txBody>
      </p:sp>
      <p:sp>
        <p:nvSpPr>
          <p:cNvPr id="6" name="Lesroute">
            <a:extLst xmlns:a="http://schemas.openxmlformats.org/drawingml/2006/main">
              <a:ext uri="{FF2B5EF4-FFF2-40B4-BE49-F238E27FC236}">
                <a16:creationId xmlns:a16="http://schemas.microsoft.com/office/drawing/2014/main" id="{9A9C6C01-4F9B-4EB9-B7E0-78F73D296E4E}"/>
              </a:ext>
            </a:extLst>
          </p:cNvPr>
          <p:cNvSpPr>
            <a:spLocks xmlns:a="http://schemas.openxmlformats.org/drawingml/2006/main" noGrp="1"/>
          </p:cNvSpPr>
          <p:nvPr/>
        </p:nvSpPr>
        <p:spPr>
          <a:xfrm xmlns:a="http://schemas.openxmlformats.org/drawingml/2006/main">
            <a:off x="571500" y="1762125"/>
            <a:ext cx="7953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Lesroute</a:t>
            </a:r>
          </a:p>
        </p:txBody>
      </p:sp>
      <p:sp>
        <p:nvSpPr>
          <p:cNvPr id="7" name="route-number-1">
            <a:extLst xmlns:a="http://schemas.openxmlformats.org/drawingml/2006/main">
              <a:ext uri="{FF2B5EF4-FFF2-40B4-BE49-F238E27FC236}">
                <a16:creationId xmlns:a16="http://schemas.microsoft.com/office/drawing/2014/main" id="{C1305504-C966-44DE-B9F7-1916AEBB442B}"/>
              </a:ext>
            </a:extLst>
          </p:cNvPr>
          <p:cNvSpPr>
            <a:spLocks xmlns:a="http://schemas.openxmlformats.org/drawingml/2006/main" noGrp="1"/>
          </p:cNvSpPr>
          <p:nvPr/>
        </p:nvSpPr>
        <p:spPr>
          <a:xfrm xmlns:a="http://schemas.openxmlformats.org/drawingml/2006/main">
            <a:off x="571500" y="2324100"/>
            <a:ext cx="457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1.</a:t>
            </a:r>
          </a:p>
        </p:txBody>
      </p:sp>
      <p:sp>
        <p:nvSpPr>
          <p:cNvPr id="8" name="route-1">
            <a:extLst xmlns:a="http://schemas.openxmlformats.org/drawingml/2006/main">
              <a:ext uri="{FF2B5EF4-FFF2-40B4-BE49-F238E27FC236}">
                <a16:creationId xmlns:a16="http://schemas.microsoft.com/office/drawing/2014/main" id="{C096DB16-DC15-4F71-A8C4-8A1EBCF4826E}"/>
              </a:ext>
            </a:extLst>
          </p:cNvPr>
          <p:cNvSpPr>
            <a:spLocks xmlns:a="http://schemas.openxmlformats.org/drawingml/2006/main" noGrp="1"/>
          </p:cNvSpPr>
          <p:nvPr/>
        </p:nvSpPr>
        <p:spPr>
          <a:xfrm xmlns:a="http://schemas.openxmlformats.org/drawingml/2006/main">
            <a:off x="1104900" y="2324100"/>
            <a:ext cx="7524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Jas in de kluis of aan de kapstok. Pak agenda, schrift, pen en rekenmachine.</a:t>
            </a:r>
          </a:p>
        </p:txBody>
      </p:sp>
      <p:sp>
        <p:nvSpPr>
          <p:cNvPr id="9" name="route-number-2">
            <a:extLst xmlns:a="http://schemas.openxmlformats.org/drawingml/2006/main">
              <a:ext uri="{FF2B5EF4-FFF2-40B4-BE49-F238E27FC236}">
                <a16:creationId xmlns:a16="http://schemas.microsoft.com/office/drawing/2014/main" id="{56153B9B-EFB9-4742-B201-9D9C216357F0}"/>
              </a:ext>
            </a:extLst>
          </p:cNvPr>
          <p:cNvSpPr>
            <a:spLocks xmlns:a="http://schemas.openxmlformats.org/drawingml/2006/main" noGrp="1"/>
          </p:cNvSpPr>
          <p:nvPr/>
        </p:nvSpPr>
        <p:spPr>
          <a:xfrm xmlns:a="http://schemas.openxmlformats.org/drawingml/2006/main">
            <a:off x="571500" y="320040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2.</a:t>
            </a:r>
          </a:p>
        </p:txBody>
      </p:sp>
      <p:sp>
        <p:nvSpPr>
          <p:cNvPr id="10" name="route-2">
            <a:extLst xmlns:a="http://schemas.openxmlformats.org/drawingml/2006/main">
              <a:ext uri="{FF2B5EF4-FFF2-40B4-BE49-F238E27FC236}">
                <a16:creationId xmlns:a16="http://schemas.microsoft.com/office/drawing/2014/main" id="{AD0457B5-8D66-4EB5-BF4B-AE00D6C5D71B}"/>
              </a:ext>
            </a:extLst>
          </p:cNvPr>
          <p:cNvSpPr>
            <a:spLocks xmlns:a="http://schemas.openxmlformats.org/drawingml/2006/main" noGrp="1"/>
          </p:cNvSpPr>
          <p:nvPr/>
        </p:nvSpPr>
        <p:spPr>
          <a:xfrm xmlns:a="http://schemas.openxmlformats.org/drawingml/2006/main">
            <a:off x="1104900" y="3200400"/>
            <a:ext cx="7524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Maak de startopdracht.</a:t>
            </a:r>
          </a:p>
        </p:txBody>
      </p:sp>
      <p:sp>
        <p:nvSpPr>
          <p:cNvPr id="11" name="route-number-3">
            <a:extLst xmlns:a="http://schemas.openxmlformats.org/drawingml/2006/main">
              <a:ext uri="{FF2B5EF4-FFF2-40B4-BE49-F238E27FC236}">
                <a16:creationId xmlns:a16="http://schemas.microsoft.com/office/drawing/2014/main" id="{D5EA4B01-BDC7-4F49-A83C-B6AE0148257B}"/>
              </a:ext>
            </a:extLst>
          </p:cNvPr>
          <p:cNvSpPr>
            <a:spLocks xmlns:a="http://schemas.openxmlformats.org/drawingml/2006/main" noGrp="1"/>
          </p:cNvSpPr>
          <p:nvPr/>
        </p:nvSpPr>
        <p:spPr>
          <a:xfrm xmlns:a="http://schemas.openxmlformats.org/drawingml/2006/main">
            <a:off x="571500" y="371475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3.</a:t>
            </a:r>
          </a:p>
        </p:txBody>
      </p:sp>
      <p:sp>
        <p:nvSpPr>
          <p:cNvPr id="12" name="route-3">
            <a:extLst xmlns:a="http://schemas.openxmlformats.org/drawingml/2006/main">
              <a:ext uri="{FF2B5EF4-FFF2-40B4-BE49-F238E27FC236}">
                <a16:creationId xmlns:a16="http://schemas.microsoft.com/office/drawing/2014/main" id="{A805CCD3-20AB-40DB-9EA3-24E3D9915C99}"/>
              </a:ext>
            </a:extLst>
          </p:cNvPr>
          <p:cNvSpPr>
            <a:spLocks xmlns:a="http://schemas.openxmlformats.org/drawingml/2006/main" noGrp="1"/>
          </p:cNvSpPr>
          <p:nvPr/>
        </p:nvSpPr>
        <p:spPr>
          <a:xfrm xmlns:a="http://schemas.openxmlformats.org/drawingml/2006/main">
            <a:off x="1104900" y="3714750"/>
            <a:ext cx="7524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Uitleg bij de lesdoelen.</a:t>
            </a:r>
          </a:p>
        </p:txBody>
      </p:sp>
      <p:sp>
        <p:nvSpPr>
          <p:cNvPr id="13" name="route-number-4">
            <a:extLst xmlns:a="http://schemas.openxmlformats.org/drawingml/2006/main">
              <a:ext uri="{FF2B5EF4-FFF2-40B4-BE49-F238E27FC236}">
                <a16:creationId xmlns:a16="http://schemas.microsoft.com/office/drawing/2014/main" id="{D43B45FF-ECAF-4142-AB2D-7A22205DFD57}"/>
              </a:ext>
            </a:extLst>
          </p:cNvPr>
          <p:cNvSpPr>
            <a:spLocks xmlns:a="http://schemas.openxmlformats.org/drawingml/2006/main" noGrp="1"/>
          </p:cNvSpPr>
          <p:nvPr/>
        </p:nvSpPr>
        <p:spPr>
          <a:xfrm xmlns:a="http://schemas.openxmlformats.org/drawingml/2006/main">
            <a:off x="571500" y="4248150"/>
            <a:ext cx="457200"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4.</a:t>
            </a:r>
          </a:p>
        </p:txBody>
      </p:sp>
      <p:sp>
        <p:nvSpPr>
          <p:cNvPr id="14" name="route-4">
            <a:extLst xmlns:a="http://schemas.openxmlformats.org/drawingml/2006/main">
              <a:ext uri="{FF2B5EF4-FFF2-40B4-BE49-F238E27FC236}">
                <a16:creationId xmlns:a16="http://schemas.microsoft.com/office/drawing/2014/main" id="{0591007E-56C0-47CA-AFB4-5B066D030DA8}"/>
              </a:ext>
            </a:extLst>
          </p:cNvPr>
          <p:cNvSpPr>
            <a:spLocks xmlns:a="http://schemas.openxmlformats.org/drawingml/2006/main" noGrp="1"/>
          </p:cNvSpPr>
          <p:nvPr/>
        </p:nvSpPr>
        <p:spPr>
          <a:xfrm xmlns:a="http://schemas.openxmlformats.org/drawingml/2006/main">
            <a:off x="1104900" y="4248150"/>
            <a:ext cx="7524750"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Begin bij de basisopgaven en stel vragen. Lukt dat goed, ga dan naar de zelfstandige oefening. Maak daarna de doelopgave en kijk vervolgens je antwoorden na.</a:t>
            </a:r>
          </a:p>
        </p:txBody>
      </p:sp>
      <p:sp>
        <p:nvSpPr>
          <p:cNvPr id="15" name="route-number-5">
            <a:extLst xmlns:a="http://schemas.openxmlformats.org/drawingml/2006/main">
              <a:ext uri="{FF2B5EF4-FFF2-40B4-BE49-F238E27FC236}">
                <a16:creationId xmlns:a16="http://schemas.microsoft.com/office/drawing/2014/main" id="{304214EC-AB21-4612-9710-4B73A115AFAD}"/>
              </a:ext>
            </a:extLst>
          </p:cNvPr>
          <p:cNvSpPr>
            <a:spLocks xmlns:a="http://schemas.openxmlformats.org/drawingml/2006/main" noGrp="1"/>
          </p:cNvSpPr>
          <p:nvPr/>
        </p:nvSpPr>
        <p:spPr>
          <a:xfrm xmlns:a="http://schemas.openxmlformats.org/drawingml/2006/main">
            <a:off x="571500" y="6057900"/>
            <a:ext cx="4572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5.</a:t>
            </a:r>
          </a:p>
        </p:txBody>
      </p:sp>
      <p:sp>
        <p:nvSpPr>
          <p:cNvPr id="16" name="route-5">
            <a:extLst xmlns:a="http://schemas.openxmlformats.org/drawingml/2006/main">
              <a:ext uri="{FF2B5EF4-FFF2-40B4-BE49-F238E27FC236}">
                <a16:creationId xmlns:a16="http://schemas.microsoft.com/office/drawing/2014/main" id="{E182FFE9-6E66-4B47-AFB0-0EB68858A928}"/>
              </a:ext>
            </a:extLst>
          </p:cNvPr>
          <p:cNvSpPr>
            <a:spLocks xmlns:a="http://schemas.openxmlformats.org/drawingml/2006/main" noGrp="1"/>
          </p:cNvSpPr>
          <p:nvPr/>
        </p:nvSpPr>
        <p:spPr>
          <a:xfrm xmlns:a="http://schemas.openxmlformats.org/drawingml/2006/main">
            <a:off x="1104900" y="6057900"/>
            <a:ext cx="75247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Klaar? Werk aan een ander vak. Geen devices.</a:t>
            </a:r>
          </a:p>
        </p:txBody>
      </p:sp>
      <p:sp>
        <p:nvSpPr>
          <p:cNvPr id="17" name="route-number-6">
            <a:extLst xmlns:a="http://schemas.openxmlformats.org/drawingml/2006/main">
              <a:ext uri="{FF2B5EF4-FFF2-40B4-BE49-F238E27FC236}">
                <a16:creationId xmlns:a16="http://schemas.microsoft.com/office/drawing/2014/main" id="{6A1C9F40-84CF-4DA9-9EEA-E3C989102DA3}"/>
              </a:ext>
            </a:extLst>
          </p:cNvPr>
          <p:cNvSpPr>
            <a:spLocks xmlns:a="http://schemas.openxmlformats.org/drawingml/2006/main" noGrp="1"/>
          </p:cNvSpPr>
          <p:nvPr/>
        </p:nvSpPr>
        <p:spPr>
          <a:xfrm xmlns:a="http://schemas.openxmlformats.org/drawingml/2006/main">
            <a:off x="571500" y="6819900"/>
            <a:ext cx="457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6.</a:t>
            </a:r>
          </a:p>
        </p:txBody>
      </p:sp>
      <p:sp>
        <p:nvSpPr>
          <p:cNvPr id="18" name="route-6">
            <a:extLst xmlns:a="http://schemas.openxmlformats.org/drawingml/2006/main">
              <a:ext uri="{FF2B5EF4-FFF2-40B4-BE49-F238E27FC236}">
                <a16:creationId xmlns:a16="http://schemas.microsoft.com/office/drawing/2014/main" id="{343409E1-3AE0-485F-A1C7-F9535A448625}"/>
              </a:ext>
            </a:extLst>
          </p:cNvPr>
          <p:cNvSpPr>
            <a:spLocks xmlns:a="http://schemas.openxmlformats.org/drawingml/2006/main" noGrp="1"/>
          </p:cNvSpPr>
          <p:nvPr/>
        </p:nvSpPr>
        <p:spPr>
          <a:xfrm xmlns:a="http://schemas.openxmlformats.org/drawingml/2006/main">
            <a:off x="1104900" y="6819900"/>
            <a:ext cx="7524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Bespreken van de doelopgave: opgave 8.</a:t>
            </a:r>
          </a:p>
        </p:txBody>
      </p:sp>
      <p:sp>
        <p:nvSpPr>
          <p:cNvPr id="19" name="route-number-7">
            <a:extLst xmlns:a="http://schemas.openxmlformats.org/drawingml/2006/main">
              <a:ext uri="{FF2B5EF4-FFF2-40B4-BE49-F238E27FC236}">
                <a16:creationId xmlns:a16="http://schemas.microsoft.com/office/drawing/2014/main" id="{82C571D8-5227-4E5E-BB6E-543581FA6663}"/>
              </a:ext>
            </a:extLst>
          </p:cNvPr>
          <p:cNvSpPr>
            <a:spLocks xmlns:a="http://schemas.openxmlformats.org/drawingml/2006/main" noGrp="1"/>
          </p:cNvSpPr>
          <p:nvPr/>
        </p:nvSpPr>
        <p:spPr>
          <a:xfrm xmlns:a="http://schemas.openxmlformats.org/drawingml/2006/main">
            <a:off x="571500" y="7372350"/>
            <a:ext cx="457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7.</a:t>
            </a:r>
          </a:p>
        </p:txBody>
      </p:sp>
      <p:sp>
        <p:nvSpPr>
          <p:cNvPr id="20" name="route-7">
            <a:extLst xmlns:a="http://schemas.openxmlformats.org/drawingml/2006/main">
              <a:ext uri="{FF2B5EF4-FFF2-40B4-BE49-F238E27FC236}">
                <a16:creationId xmlns:a16="http://schemas.microsoft.com/office/drawing/2014/main" id="{F2C1D84B-4FF5-4781-9481-A01D44B721E5}"/>
              </a:ext>
            </a:extLst>
          </p:cNvPr>
          <p:cNvSpPr>
            <a:spLocks xmlns:a="http://schemas.openxmlformats.org/drawingml/2006/main" noGrp="1"/>
          </p:cNvSpPr>
          <p:nvPr/>
        </p:nvSpPr>
        <p:spPr>
          <a:xfrm xmlns:a="http://schemas.openxmlformats.org/drawingml/2006/main">
            <a:off x="1104900" y="7372350"/>
            <a:ext cx="7524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Zet je huiswerk in je agenda.</a:t>
            </a:r>
          </a:p>
        </p:txBody>
      </p:sp>
      <p:sp>
        <p:nvSpPr>
          <p:cNvPr id="21" name="Lesdoelen">
            <a:extLst xmlns:a="http://schemas.openxmlformats.org/drawingml/2006/main">
              <a:ext uri="{FF2B5EF4-FFF2-40B4-BE49-F238E27FC236}">
                <a16:creationId xmlns:a16="http://schemas.microsoft.com/office/drawing/2014/main" id="{2ACE7863-F49A-433D-96E5-3A87ABAFFBF5}"/>
              </a:ext>
            </a:extLst>
          </p:cNvPr>
          <p:cNvSpPr>
            <a:spLocks xmlns:a="http://schemas.openxmlformats.org/drawingml/2006/main" noGrp="1"/>
          </p:cNvSpPr>
          <p:nvPr/>
        </p:nvSpPr>
        <p:spPr>
          <a:xfrm xmlns:a="http://schemas.openxmlformats.org/drawingml/2006/main">
            <a:off x="9258300" y="176212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Lesdoelen</a:t>
            </a:r>
          </a:p>
        </p:txBody>
      </p:sp>
      <p:sp>
        <p:nvSpPr>
          <p:cNvPr id="22" name="overview-goals">
            <a:extLst xmlns:a="http://schemas.openxmlformats.org/drawingml/2006/main">
              <a:ext uri="{FF2B5EF4-FFF2-40B4-BE49-F238E27FC236}">
                <a16:creationId xmlns:a16="http://schemas.microsoft.com/office/drawing/2014/main" id="{21E4ECB5-275C-405C-9081-279B275F5B3C}"/>
              </a:ext>
            </a:extLst>
          </p:cNvPr>
          <p:cNvSpPr>
            <a:spLocks xmlns:a="http://schemas.openxmlformats.org/drawingml/2006/main" noGrp="1"/>
          </p:cNvSpPr>
          <p:nvPr/>
        </p:nvSpPr>
        <p:spPr>
          <a:xfrm xmlns:a="http://schemas.openxmlformats.org/drawingml/2006/main">
            <a:off x="9258300" y="2324100"/>
            <a:ext cx="5381625"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Evenwicht, CS, PS en TS bepalen.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Met MK maximaal TS verklaren.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Efficiëntie en eerlijkheid scheiden.</a:t>
            </a:r>
          </a:p>
        </p:txBody>
      </p:sp>
      <p:sp>
        <p:nvSpPr>
          <p:cNvPr id="23" name="">
            <a:extLst xmlns:a="http://schemas.openxmlformats.org/drawingml/2006/main">
              <a:ext uri="{FF2B5EF4-FFF2-40B4-BE49-F238E27FC236}">
                <a16:creationId xmlns:a16="http://schemas.microsoft.com/office/drawing/2014/main" id="{D8EA6A3C-8308-4C6B-A5FF-89C2F4973E2E}"/>
              </a:ext>
            </a:extLst>
          </p:cNvPr>
          <p:cNvSpPr>
            <a:spLocks xmlns:a="http://schemas.openxmlformats.org/drawingml/2006/main" noGrp="1"/>
          </p:cNvSpPr>
          <p:nvPr/>
        </p:nvSpPr>
        <p:spPr>
          <a:xfrm xmlns:a="http://schemas.openxmlformats.org/drawingml/2006/main">
            <a:off x="9258300" y="3562350"/>
            <a:ext cx="5410200" cy="0"/>
          </a:xfrm>
          <a:prstGeom xmlns:a="http://schemas.openxmlformats.org/drawingml/2006/main" prst="line">
            <a:avLst/>
          </a:prstGeom>
          <a:ln xmlns:a="http://schemas.openxmlformats.org/drawingml/2006/main" w="19050">
            <a:solidFill>
              <a:srgbClr val="C6D2DB"/>
            </a:solidFill>
          </a:ln>
        </p:spPr>
      </p:sp>
      <p:sp>
        <p:nvSpPr>
          <p:cNvPr id="24" name="Startopdracht">
            <a:extLst xmlns:a="http://schemas.openxmlformats.org/drawingml/2006/main">
              <a:ext uri="{FF2B5EF4-FFF2-40B4-BE49-F238E27FC236}">
                <a16:creationId xmlns:a16="http://schemas.microsoft.com/office/drawing/2014/main" id="{A77763B4-D390-4E1C-97A0-DA711F5E6D9B}"/>
              </a:ext>
            </a:extLst>
          </p:cNvPr>
          <p:cNvSpPr>
            <a:spLocks xmlns:a="http://schemas.openxmlformats.org/drawingml/2006/main" noGrp="1"/>
          </p:cNvSpPr>
          <p:nvPr/>
        </p:nvSpPr>
        <p:spPr>
          <a:xfrm xmlns:a="http://schemas.openxmlformats.org/drawingml/2006/main">
            <a:off x="9258300" y="383857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Startopdracht</a:t>
            </a:r>
          </a:p>
        </p:txBody>
      </p:sp>
      <p:sp>
        <p:nvSpPr>
          <p:cNvPr id="25" name="overview-start">
            <a:extLst xmlns:a="http://schemas.openxmlformats.org/drawingml/2006/main">
              <a:ext uri="{FF2B5EF4-FFF2-40B4-BE49-F238E27FC236}">
                <a16:creationId xmlns:a16="http://schemas.microsoft.com/office/drawing/2014/main" id="{F34059DB-4CD8-4C85-8D93-ACA7FAFECD60}"/>
              </a:ext>
            </a:extLst>
          </p:cNvPr>
          <p:cNvSpPr>
            <a:spLocks xmlns:a="http://schemas.openxmlformats.org/drawingml/2006/main" noGrp="1"/>
          </p:cNvSpPr>
          <p:nvPr/>
        </p:nvSpPr>
        <p:spPr>
          <a:xfrm xmlns:a="http://schemas.openxmlformats.org/drawingml/2006/main">
            <a:off x="9258300" y="4371975"/>
            <a:ext cx="53816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Pagina 85 · Opgaven 1 en 2</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1: hulp p. 83; 2: verkennen p. 81</a:t>
            </a:r>
          </a:p>
        </p:txBody>
      </p:sp>
      <p:sp>
        <p:nvSpPr>
          <p:cNvPr id="26" name="">
            <a:extLst xmlns:a="http://schemas.openxmlformats.org/drawingml/2006/main">
              <a:ext uri="{FF2B5EF4-FFF2-40B4-BE49-F238E27FC236}">
                <a16:creationId xmlns:a16="http://schemas.microsoft.com/office/drawing/2014/main" id="{C867A1B5-FB26-482F-A197-F94A778AD086}"/>
              </a:ext>
            </a:extLst>
          </p:cNvPr>
          <p:cNvSpPr>
            <a:spLocks xmlns:a="http://schemas.openxmlformats.org/drawingml/2006/main" noGrp="1"/>
          </p:cNvSpPr>
          <p:nvPr/>
        </p:nvSpPr>
        <p:spPr>
          <a:xfrm xmlns:a="http://schemas.openxmlformats.org/drawingml/2006/main">
            <a:off x="9258300" y="5429250"/>
            <a:ext cx="5410200" cy="0"/>
          </a:xfrm>
          <a:prstGeom xmlns:a="http://schemas.openxmlformats.org/drawingml/2006/main" prst="line">
            <a:avLst/>
          </a:prstGeom>
          <a:ln xmlns:a="http://schemas.openxmlformats.org/drawingml/2006/main" w="19050">
            <a:solidFill>
              <a:srgbClr val="C6D2DB"/>
            </a:solidFill>
          </a:ln>
        </p:spPr>
      </p:sp>
      <p:sp>
        <p:nvSpPr>
          <p:cNvPr id="27" name="Huiswerk">
            <a:extLst xmlns:a="http://schemas.openxmlformats.org/drawingml/2006/main">
              <a:ext uri="{FF2B5EF4-FFF2-40B4-BE49-F238E27FC236}">
                <a16:creationId xmlns:a16="http://schemas.microsoft.com/office/drawing/2014/main" id="{E91F6B07-A31A-47CD-B379-F5F458CEE341}"/>
              </a:ext>
            </a:extLst>
          </p:cNvPr>
          <p:cNvSpPr>
            <a:spLocks xmlns:a="http://schemas.openxmlformats.org/drawingml/2006/main" noGrp="1"/>
          </p:cNvSpPr>
          <p:nvPr/>
        </p:nvSpPr>
        <p:spPr>
          <a:xfrm xmlns:a="http://schemas.openxmlformats.org/drawingml/2006/main">
            <a:off x="9258300" y="5695950"/>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Huiswerk</a:t>
            </a:r>
          </a:p>
        </p:txBody>
      </p:sp>
      <p:sp>
        <p:nvSpPr>
          <p:cNvPr id="28" name="overview-homework">
            <a:extLst xmlns:a="http://schemas.openxmlformats.org/drawingml/2006/main">
              <a:ext uri="{FF2B5EF4-FFF2-40B4-BE49-F238E27FC236}">
                <a16:creationId xmlns:a16="http://schemas.microsoft.com/office/drawing/2014/main" id="{6210E6CE-F429-4F61-BB15-0379C80BECA9}"/>
              </a:ext>
            </a:extLst>
          </p:cNvPr>
          <p:cNvSpPr>
            <a:spLocks xmlns:a="http://schemas.openxmlformats.org/drawingml/2006/main" noGrp="1"/>
          </p:cNvSpPr>
          <p:nvPr/>
        </p:nvSpPr>
        <p:spPr>
          <a:xfrm xmlns:a="http://schemas.openxmlformats.org/drawingml/2006/main">
            <a:off x="9258300" y="6229350"/>
            <a:ext cx="5381625"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§2.3.2 · Opgaven 3 t/m 8</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Basis: 3, 4 en 5</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Zelfstandig: 6 en 7</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Doelopgave: 8</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Maken en nakijken</a:t>
            </a:r>
          </a:p>
        </p:txBody>
      </p:sp>
    </p:spTree>
    <p:extLst>
      <p:ext uri="{BB962C8B-B14F-4D97-AF65-F5344CB8AC3E}">
        <p14:creationId xmlns:p14="http://schemas.microsoft.com/office/powerpoint/2010/main" val="762489947"/>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Opgave 8 · Concertkaartjes">
            <a:extLst xmlns:a="http://schemas.openxmlformats.org/drawingml/2006/main">
              <a:ext uri="{FF2B5EF4-FFF2-40B4-BE49-F238E27FC236}">
                <a16:creationId xmlns:a16="http://schemas.microsoft.com/office/drawing/2014/main" id="{ED1A30FB-174F-4D3A-AEA0-1CFB185E9E73}"/>
              </a:ext>
            </a:extLst>
          </p:cNvPr>
          <p:cNvSpPr>
            <a:spLocks xmlns:a="http://schemas.openxmlformats.org/drawingml/2006/main" noGrp="1"/>
          </p:cNvSpPr>
          <p:nvPr/>
        </p:nvSpPr>
        <p:spPr>
          <a:xfrm xmlns:a="http://schemas.openxmlformats.org/drawingml/2006/main">
            <a:off x="571500" y="361950"/>
            <a:ext cx="14097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8 · Concertkaartjes</a:t>
            </a:r>
          </a:p>
        </p:txBody>
      </p:sp>
      <p:sp>
        <p:nvSpPr>
          <p:cNvPr id="2" name="">
            <a:extLst xmlns:a="http://schemas.openxmlformats.org/drawingml/2006/main">
              <a:ext uri="{FF2B5EF4-FFF2-40B4-BE49-F238E27FC236}">
                <a16:creationId xmlns:a16="http://schemas.microsoft.com/office/drawing/2014/main" id="{802C9CFD-1C77-414E-968C-13BE22812141}"/>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2.3.2 · Doelopgave 8 · Boekpagina 89–90">
            <a:extLst xmlns:a="http://schemas.openxmlformats.org/drawingml/2006/main">
              <a:ext uri="{FF2B5EF4-FFF2-40B4-BE49-F238E27FC236}">
                <a16:creationId xmlns:a16="http://schemas.microsoft.com/office/drawing/2014/main" id="{62AEC65C-2922-4947-876A-434785BC1222}"/>
              </a:ext>
            </a:extLst>
          </p:cNvPr>
          <p:cNvSpPr>
            <a:spLocks xmlns:a="http://schemas.openxmlformats.org/drawingml/2006/main" noGrp="1"/>
          </p:cNvSpPr>
          <p:nvPr/>
        </p:nvSpPr>
        <p:spPr>
          <a:xfrm xmlns:a="http://schemas.openxmlformats.org/drawingml/2006/main">
            <a:off x="571500" y="8077200"/>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§2.3.2 · Doelopgave 8 · Boekpagina 89–90</a:t>
            </a:r>
          </a:p>
        </p:txBody>
      </p:sp>
      <p:sp>
        <p:nvSpPr>
          <p:cNvPr id="4" name="17">
            <a:extLst xmlns:a="http://schemas.openxmlformats.org/drawingml/2006/main">
              <a:ext uri="{FF2B5EF4-FFF2-40B4-BE49-F238E27FC236}">
                <a16:creationId xmlns:a16="http://schemas.microsoft.com/office/drawing/2014/main" id="{B6A5CD66-8ECB-4CE7-91C9-00EB8E887729}"/>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17</a:t>
            </a:r>
          </a:p>
        </p:txBody>
      </p:sp>
      <p:sp>
        <p:nvSpPr>
          <p:cNvPr id="5" name="Vraag P = 50 − 0,5Q      Aanbod P = 5 + 0,25Q">
            <a:extLst xmlns:a="http://schemas.openxmlformats.org/drawingml/2006/main">
              <a:ext uri="{FF2B5EF4-FFF2-40B4-BE49-F238E27FC236}">
                <a16:creationId xmlns:a16="http://schemas.microsoft.com/office/drawing/2014/main" id="{0271E61A-8EB6-4D1E-BD5E-C0A8D638C864}"/>
              </a:ext>
            </a:extLst>
          </p:cNvPr>
          <p:cNvSpPr>
            <a:spLocks xmlns:a="http://schemas.openxmlformats.org/drawingml/2006/main" noGrp="1"/>
          </p:cNvSpPr>
          <p:nvPr/>
        </p:nvSpPr>
        <p:spPr>
          <a:xfrm xmlns:a="http://schemas.openxmlformats.org/drawingml/2006/main">
            <a:off x="571500" y="1743075"/>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83247"/>
                </a:solidFill>
                <a:latin typeface="Arial"/>
                <a:ea typeface="Arial"/>
                <a:cs typeface="Arial"/>
              </a:defRPr>
            </a:pPr>
            <a:r>
              <a:rPr sz="2925" b="1">
                <a:solidFill>
                  <a:srgbClr val="183247"/>
                </a:solidFill>
                <a:latin typeface="Arial"/>
                <a:ea typeface="Arial"/>
                <a:cs typeface="Arial"/>
              </a:rPr>
              <a:t>Vraag P = 50 − 0,5Q      Aanbod P = 5 + 0,25Q</a:t>
            </a:r>
          </a:p>
        </p:txBody>
      </p:sp>
      <p:graphicFrame>
        <p:nvGraphicFramePr>
          <p:cNvPr id="14" name="Chart"/>
          <p:cNvGraphicFramePr/>
          <p:nvPr/>
        </p:nvGraphicFramePr>
        <p:xfrm>
          <a:off xmlns:a="http://schemas.openxmlformats.org/drawingml/2006/main" x="571500" y="2724150"/>
          <a:ext xmlns:a="http://schemas.openxmlformats.org/drawingml/2006/main" cx="9715500" cy="5038725"/>
        </p:xfrm>
        <a:graphic xmlns:a="http://schemas.openxmlformats.org/drawingml/2006/main">
          <a:graphicData uri="http://schemas.openxmlformats.org/drawingml/2006/chart">
            <c:chart xmlns:r="http://schemas.openxmlformats.org/officeDocument/2006/relationships" xmlns:c="http://schemas.openxmlformats.org/drawingml/2006/chart" r:id="R0d54d51679394597"/>
          </a:graphicData>
        </a:graphic>
      </p:graphicFrame>
      <p:sp>
        <p:nvSpPr>
          <p:cNvPr id="7" name="P: euro per kaartje&#10;Q: kaartjes">
            <a:extLst xmlns:a="http://schemas.openxmlformats.org/drawingml/2006/main">
              <a:ext uri="{FF2B5EF4-FFF2-40B4-BE49-F238E27FC236}">
                <a16:creationId xmlns:a16="http://schemas.microsoft.com/office/drawing/2014/main" id="{BB4ECFCD-FCF8-4967-83BD-E2B5292B8E23}"/>
              </a:ext>
            </a:extLst>
          </p:cNvPr>
          <p:cNvSpPr>
            <a:spLocks xmlns:a="http://schemas.openxmlformats.org/drawingml/2006/main" noGrp="1"/>
          </p:cNvSpPr>
          <p:nvPr/>
        </p:nvSpPr>
        <p:spPr>
          <a:xfrm xmlns:a="http://schemas.openxmlformats.org/drawingml/2006/main">
            <a:off x="10763250" y="2790825"/>
            <a:ext cx="3905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P: euro per kaartje</a:t>
            </a:r>
          </a:p>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Q: kaartjes</a:t>
            </a:r>
          </a:p>
        </p:txBody>
      </p:sp>
      <p:sp>
        <p:nvSpPr>
          <p:cNvPr id="8" name="Binnen 0 ≤ Q ≤ 100&#10;geeft de inverse&#10;aanbodlijn de MK van&#10;elke opeenvol">
            <a:extLst xmlns:a="http://schemas.openxmlformats.org/drawingml/2006/main">
              <a:ext uri="{FF2B5EF4-FFF2-40B4-BE49-F238E27FC236}">
                <a16:creationId xmlns:a16="http://schemas.microsoft.com/office/drawing/2014/main" id="{43B539A7-02AE-4BE2-B03B-75462BC6CD7D}"/>
              </a:ext>
            </a:extLst>
          </p:cNvPr>
          <p:cNvSpPr>
            <a:spLocks xmlns:a="http://schemas.openxmlformats.org/drawingml/2006/main" noGrp="1"/>
          </p:cNvSpPr>
          <p:nvPr/>
        </p:nvSpPr>
        <p:spPr>
          <a:xfrm xmlns:a="http://schemas.openxmlformats.org/drawingml/2006/main">
            <a:off x="10763250" y="4181475"/>
            <a:ext cx="3905250" cy="3009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0">
                <a:solidFill>
                  <a:srgbClr val="183247"/>
                </a:solidFill>
                <a:latin typeface="Arial"/>
                <a:ea typeface="Arial"/>
                <a:cs typeface="Arial"/>
              </a:defRPr>
            </a:pPr>
            <a:r>
              <a:rPr sz="2400" b="0">
                <a:solidFill>
                  <a:srgbClr val="183247"/>
                </a:solidFill>
                <a:latin typeface="Arial"/>
                <a:ea typeface="Arial"/>
                <a:cs typeface="Arial"/>
              </a:rPr>
              <a:t>Binnen 0 ≤ Q ≤ 100</a:t>
            </a:r>
          </a:p>
          <a:p xmlns:a="http://schemas.openxmlformats.org/drawingml/2006/main">
            <a:pPr algn="l">
              <a:defRPr sz="2400" b="0">
                <a:solidFill>
                  <a:srgbClr val="183247"/>
                </a:solidFill>
                <a:latin typeface="Arial"/>
                <a:ea typeface="Arial"/>
                <a:cs typeface="Arial"/>
              </a:defRPr>
            </a:pPr>
            <a:r>
              <a:rPr sz="2400" b="0">
                <a:solidFill>
                  <a:srgbClr val="183247"/>
                </a:solidFill>
                <a:latin typeface="Arial"/>
                <a:ea typeface="Arial"/>
                <a:cs typeface="Arial"/>
              </a:rPr>
              <a:t>geeft de inverse</a:t>
            </a:r>
          </a:p>
          <a:p xmlns:a="http://schemas.openxmlformats.org/drawingml/2006/main">
            <a:pPr algn="l">
              <a:defRPr sz="2400" b="0">
                <a:solidFill>
                  <a:srgbClr val="183247"/>
                </a:solidFill>
                <a:latin typeface="Arial"/>
                <a:ea typeface="Arial"/>
                <a:cs typeface="Arial"/>
              </a:defRPr>
            </a:pPr>
            <a:r>
              <a:rPr sz="2400" b="0">
                <a:solidFill>
                  <a:srgbClr val="183247"/>
                </a:solidFill>
                <a:latin typeface="Arial"/>
                <a:ea typeface="Arial"/>
                <a:cs typeface="Arial"/>
              </a:rPr>
              <a:t>aanbodlijn de MK van</a:t>
            </a:r>
          </a:p>
          <a:p xmlns:a="http://schemas.openxmlformats.org/drawingml/2006/main">
            <a:pPr algn="l">
              <a:defRPr sz="2400" b="0">
                <a:solidFill>
                  <a:srgbClr val="183247"/>
                </a:solidFill>
                <a:latin typeface="Arial"/>
                <a:ea typeface="Arial"/>
                <a:cs typeface="Arial"/>
              </a:defRPr>
            </a:pPr>
            <a:r>
              <a:rPr sz="2400" b="0">
                <a:solidFill>
                  <a:srgbClr val="183247"/>
                </a:solidFill>
                <a:latin typeface="Arial"/>
                <a:ea typeface="Arial"/>
                <a:cs typeface="Arial"/>
              </a:rPr>
              <a:t>elke opeenvolgende</a:t>
            </a:r>
          </a:p>
          <a:p xmlns:a="http://schemas.openxmlformats.org/drawingml/2006/main">
            <a:pPr algn="l">
              <a:defRPr sz="2400" b="0">
                <a:solidFill>
                  <a:srgbClr val="183247"/>
                </a:solidFill>
                <a:latin typeface="Arial"/>
                <a:ea typeface="Arial"/>
                <a:cs typeface="Arial"/>
              </a:defRPr>
            </a:pPr>
            <a:r>
              <a:rPr sz="2400" b="0">
                <a:solidFill>
                  <a:srgbClr val="183247"/>
                </a:solidFill>
                <a:latin typeface="Arial"/>
                <a:ea typeface="Arial"/>
                <a:cs typeface="Arial"/>
              </a:rPr>
              <a:t>eenheid, ook als die</a:t>
            </a:r>
          </a:p>
          <a:p xmlns:a="http://schemas.openxmlformats.org/drawingml/2006/main">
            <a:pPr algn="l">
              <a:defRPr sz="2400" b="0">
                <a:solidFill>
                  <a:srgbClr val="183247"/>
                </a:solidFill>
                <a:latin typeface="Arial"/>
                <a:ea typeface="Arial"/>
                <a:cs typeface="Arial"/>
              </a:defRPr>
            </a:pPr>
            <a:r>
              <a:rPr sz="2400" b="0">
                <a:solidFill>
                  <a:srgbClr val="183247"/>
                </a:solidFill>
                <a:latin typeface="Arial"/>
                <a:ea typeface="Arial"/>
                <a:cs typeface="Arial"/>
              </a:rPr>
              <a:t>in evenwicht niet</a:t>
            </a:r>
          </a:p>
          <a:p xmlns:a="http://schemas.openxmlformats.org/drawingml/2006/main">
            <a:pPr algn="l">
              <a:defRPr sz="2400" b="0">
                <a:solidFill>
                  <a:srgbClr val="183247"/>
                </a:solidFill>
                <a:latin typeface="Arial"/>
                <a:ea typeface="Arial"/>
                <a:cs typeface="Arial"/>
              </a:defRPr>
            </a:pPr>
            <a:r>
              <a:rPr sz="2400" b="0">
                <a:solidFill>
                  <a:srgbClr val="183247"/>
                </a:solidFill>
                <a:latin typeface="Arial"/>
                <a:ea typeface="Arial"/>
                <a:cs typeface="Arial"/>
              </a:rPr>
              <a:t>wordt verkocht.</a:t>
            </a:r>
          </a:p>
        </p:txBody>
      </p:sp>
    </p:spTree>
    <p:extLst>
      <p:ext uri="{BB962C8B-B14F-4D97-AF65-F5344CB8AC3E}">
        <p14:creationId xmlns:p14="http://schemas.microsoft.com/office/powerpoint/2010/main" val="1409257530"/>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Opgave 8 · Bron: marginale vergelijking">
            <a:extLst xmlns:a="http://schemas.openxmlformats.org/drawingml/2006/main">
              <a:ext uri="{FF2B5EF4-FFF2-40B4-BE49-F238E27FC236}">
                <a16:creationId xmlns:a16="http://schemas.microsoft.com/office/drawing/2014/main" id="{E5752E67-32F0-4205-AECC-4D407DED93D9}"/>
              </a:ext>
            </a:extLst>
          </p:cNvPr>
          <p:cNvSpPr>
            <a:spLocks xmlns:a="http://schemas.openxmlformats.org/drawingml/2006/main" noGrp="1"/>
          </p:cNvSpPr>
          <p:nvPr/>
        </p:nvSpPr>
        <p:spPr>
          <a:xfrm xmlns:a="http://schemas.openxmlformats.org/drawingml/2006/main">
            <a:off x="571500" y="361950"/>
            <a:ext cx="14097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8 · Bron: marginale vergelijking</a:t>
            </a:r>
          </a:p>
        </p:txBody>
      </p:sp>
      <p:sp>
        <p:nvSpPr>
          <p:cNvPr id="2" name="">
            <a:extLst xmlns:a="http://schemas.openxmlformats.org/drawingml/2006/main">
              <a:ext uri="{FF2B5EF4-FFF2-40B4-BE49-F238E27FC236}">
                <a16:creationId xmlns:a16="http://schemas.microsoft.com/office/drawing/2014/main" id="{49DD3717-94D4-4D68-9A67-F4B218719C64}"/>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2.3.2 · Doelopgave 8 · Boekpagina 89–90">
            <a:extLst xmlns:a="http://schemas.openxmlformats.org/drawingml/2006/main">
              <a:ext uri="{FF2B5EF4-FFF2-40B4-BE49-F238E27FC236}">
                <a16:creationId xmlns:a16="http://schemas.microsoft.com/office/drawing/2014/main" id="{8A878CB2-1DB7-4799-8BAA-80796EA55B10}"/>
              </a:ext>
            </a:extLst>
          </p:cNvPr>
          <p:cNvSpPr>
            <a:spLocks xmlns:a="http://schemas.openxmlformats.org/drawingml/2006/main" noGrp="1"/>
          </p:cNvSpPr>
          <p:nvPr/>
        </p:nvSpPr>
        <p:spPr>
          <a:xfrm xmlns:a="http://schemas.openxmlformats.org/drawingml/2006/main">
            <a:off x="571500" y="8077200"/>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§2.3.2 · Doelopgave 8 · Boekpagina 89–90</a:t>
            </a:r>
          </a:p>
        </p:txBody>
      </p:sp>
      <p:sp>
        <p:nvSpPr>
          <p:cNvPr id="4" name="18">
            <a:extLst xmlns:a="http://schemas.openxmlformats.org/drawingml/2006/main">
              <a:ext uri="{FF2B5EF4-FFF2-40B4-BE49-F238E27FC236}">
                <a16:creationId xmlns:a16="http://schemas.microsoft.com/office/drawing/2014/main" id="{993AB69F-DDC7-4E23-A524-F5A1B7CCC5FA}"/>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18</a:t>
            </a:r>
          </a:p>
        </p:txBody>
      </p:sp>
      <p:graphicFrame>
        <p:nvGraphicFramePr>
          <p:cNvPr id="12" name=""/>
          <p:cNvGraphicFramePr/>
          <p:nvPr/>
        </p:nvGraphicFramePr>
        <p:xfrm>
          <a:off xmlns:a="http://schemas.openxmlformats.org/drawingml/2006/main" x="571500" y="2219325"/>
          <a:ext xmlns:a="http://schemas.openxmlformats.org/drawingml/2006/main" cx="14097000" cy="3028950"/>
        </p:xfrm>
        <a:graphic xmlns:a="http://schemas.openxmlformats.org/drawingml/2006/main">
          <a:graphicData uri="http://schemas.openxmlformats.org/drawingml/2006/table">
            <a:tbl>
              <a:tblPr/>
              <a:tblGrid>
                <a:gridCol w="2667000"/>
                <a:gridCol w="5715000"/>
                <a:gridCol w="5715000"/>
              </a:tblGrid>
              <a:tr h="1009650">
                <a:tc>
                  <a:txBody>
                    <a:bodyPr lIns="171450" tIns="95250" rIns="152400" bIns="95250"/>
                    <a:lstStyle/>
                    <a:p>
                      <a:r>
                        <a:rPr sz="2625" b="1">
                          <a:solidFill>
                            <a:srgbClr val="FFFFFF"/>
                          </a:solidFill>
                          <a:latin typeface="Arial"/>
                          <a:ea typeface="Arial"/>
                          <a:cs typeface="Arial"/>
                        </a:rPr>
                        <a:t>Q (kaartjes)</a:t>
                      </a:r>
                    </a:p>
                  </a:txBody>
                  <a:tcPr marL="91440" marR="91440" marT="45720" marB="45720" anchor="ctr">
                    <a:solidFill>
                      <a:srgbClr val="183247"/>
                    </a:solidFill>
                  </a:tcPr>
                </a:tc>
                <a:tc>
                  <a:txBody>
                    <a:bodyPr lIns="171450" tIns="95250" rIns="152400" bIns="95250"/>
                    <a:lstStyle/>
                    <a:p>
                      <a:r>
                        <a:rPr sz="2625" b="1">
                          <a:solidFill>
                            <a:srgbClr val="FFFFFF"/>
                          </a:solidFill>
                          <a:latin typeface="Arial"/>
                          <a:ea typeface="Arial"/>
                          <a:cs typeface="Arial"/>
                        </a:rPr>
                        <a:t>Betalingsbereidheid volgens V</a:t>
                      </a:r>
                    </a:p>
                  </a:txBody>
                  <a:tcPr marL="91440" marR="91440" marT="45720" marB="45720" anchor="ctr">
                    <a:solidFill>
                      <a:srgbClr val="183247"/>
                    </a:solidFill>
                  </a:tcPr>
                </a:tc>
                <a:tc>
                  <a:txBody>
                    <a:bodyPr lIns="171450" tIns="95250" rIns="152400" bIns="95250"/>
                    <a:lstStyle/>
                    <a:p>
                      <a:r>
                        <a:rPr sz="2625" b="1">
                          <a:solidFill>
                            <a:srgbClr val="FFFFFF"/>
                          </a:solidFill>
                          <a:latin typeface="Arial"/>
                          <a:ea typeface="Arial"/>
                          <a:cs typeface="Arial"/>
                        </a:rPr>
                        <a:t>Marginale kosten volgens A</a:t>
                      </a:r>
                    </a:p>
                  </a:txBody>
                  <a:tcPr marL="91440" marR="91440" marT="45720" marB="45720" anchor="ctr">
                    <a:solidFill>
                      <a:srgbClr val="183247"/>
                    </a:solidFill>
                  </a:tcPr>
                </a:tc>
              </a:tr>
              <a:tr h="1009650">
                <a:tc>
                  <a:txBody>
                    <a:bodyPr lIns="171450" tIns="95250" rIns="152400" bIns="95250"/>
                    <a:lstStyle/>
                    <a:p>
                      <a:r>
                        <a:rPr sz="2625" b="0">
                          <a:solidFill>
                            <a:srgbClr val="183247"/>
                          </a:solidFill>
                          <a:latin typeface="Arial"/>
                          <a:ea typeface="Arial"/>
                          <a:cs typeface="Arial"/>
                        </a:rPr>
                        <a:t>50</a:t>
                      </a:r>
                    </a:p>
                  </a:txBody>
                  <a:tcPr marL="91440" marR="91440" marT="45720" marB="45720" anchor="ctr">
                    <a:solidFill>
                      <a:srgbClr val="FFFFFF"/>
                    </a:solidFill>
                  </a:tcPr>
                </a:tc>
                <a:tc>
                  <a:txBody>
                    <a:bodyPr lIns="171450" tIns="95250" rIns="152400" bIns="95250"/>
                    <a:lstStyle/>
                    <a:p>
                      <a:r>
                        <a:rPr sz="2625" b="0">
                          <a:solidFill>
                            <a:srgbClr val="183247"/>
                          </a:solidFill>
                          <a:latin typeface="Arial"/>
                          <a:ea typeface="Arial"/>
                          <a:cs typeface="Arial"/>
                        </a:rPr>
                        <a:t>€ 25</a:t>
                      </a:r>
                    </a:p>
                  </a:txBody>
                  <a:tcPr marL="91440" marR="91440" marT="45720" marB="45720" anchor="ctr">
                    <a:solidFill>
                      <a:srgbClr val="FFFFFF"/>
                    </a:solidFill>
                  </a:tcPr>
                </a:tc>
                <a:tc>
                  <a:txBody>
                    <a:bodyPr lIns="171450" tIns="95250" rIns="152400" bIns="95250"/>
                    <a:lstStyle/>
                    <a:p>
                      <a:r>
                        <a:rPr sz="2625" b="0">
                          <a:solidFill>
                            <a:srgbClr val="183247"/>
                          </a:solidFill>
                          <a:latin typeface="Arial"/>
                          <a:ea typeface="Arial"/>
                          <a:cs typeface="Arial"/>
                        </a:rPr>
                        <a:t>€ 17,50</a:t>
                      </a:r>
                    </a:p>
                  </a:txBody>
                  <a:tcPr marL="91440" marR="91440" marT="45720" marB="45720" anchor="ctr">
                    <a:solidFill>
                      <a:srgbClr val="FFFFFF"/>
                    </a:solidFill>
                  </a:tcPr>
                </a:tc>
              </a:tr>
              <a:tr h="1009650">
                <a:tc>
                  <a:txBody>
                    <a:bodyPr lIns="171450" tIns="95250" rIns="152400" bIns="95250"/>
                    <a:lstStyle/>
                    <a:p>
                      <a:r>
                        <a:rPr sz="2625" b="0">
                          <a:solidFill>
                            <a:srgbClr val="183247"/>
                          </a:solidFill>
                          <a:latin typeface="Arial"/>
                          <a:ea typeface="Arial"/>
                          <a:cs typeface="Arial"/>
                        </a:rPr>
                        <a:t>70</a:t>
                      </a:r>
                    </a:p>
                  </a:txBody>
                  <a:tcPr marL="91440" marR="91440" marT="45720" marB="45720" anchor="ctr">
                    <a:solidFill>
                      <a:srgbClr val="EFF4F7"/>
                    </a:solidFill>
                  </a:tcPr>
                </a:tc>
                <a:tc>
                  <a:txBody>
                    <a:bodyPr lIns="171450" tIns="95250" rIns="152400" bIns="95250"/>
                    <a:lstStyle/>
                    <a:p>
                      <a:r>
                        <a:rPr sz="2625" b="0">
                          <a:solidFill>
                            <a:srgbClr val="183247"/>
                          </a:solidFill>
                          <a:latin typeface="Arial"/>
                          <a:ea typeface="Arial"/>
                          <a:cs typeface="Arial"/>
                        </a:rPr>
                        <a:t>€ 15</a:t>
                      </a:r>
                    </a:p>
                  </a:txBody>
                  <a:tcPr marL="91440" marR="91440" marT="45720" marB="45720" anchor="ctr">
                    <a:solidFill>
                      <a:srgbClr val="EFF4F7"/>
                    </a:solidFill>
                  </a:tcPr>
                </a:tc>
                <a:tc>
                  <a:txBody>
                    <a:bodyPr lIns="171450" tIns="95250" rIns="152400" bIns="95250"/>
                    <a:lstStyle/>
                    <a:p>
                      <a:r>
                        <a:rPr sz="2625" b="0">
                          <a:solidFill>
                            <a:srgbClr val="183247"/>
                          </a:solidFill>
                          <a:latin typeface="Arial"/>
                          <a:ea typeface="Arial"/>
                          <a:cs typeface="Arial"/>
                        </a:rPr>
                        <a:t>€ 22,50</a:t>
                      </a:r>
                    </a:p>
                  </a:txBody>
                  <a:tcPr marL="91440" marR="91440" marT="45720" marB="45720" anchor="ctr">
                    <a:solidFill>
                      <a:srgbClr val="EFF4F7"/>
                    </a:solidFill>
                  </a:tcPr>
                </a:tc>
              </a:tr>
            </a:tbl>
          </a:graphicData>
        </a:graphic>
      </p:graphicFrame>
      <p:sp>
        <p:nvSpPr>
          <p:cNvPr id="6" name="De waarden zijn berekend met de gegeven vraag- en aanbodfunctie.">
            <a:extLst xmlns:a="http://schemas.openxmlformats.org/drawingml/2006/main">
              <a:ext uri="{FF2B5EF4-FFF2-40B4-BE49-F238E27FC236}">
                <a16:creationId xmlns:a16="http://schemas.microsoft.com/office/drawing/2014/main" id="{C7771258-F6F6-411A-BAB2-C909297F9A8C}"/>
              </a:ext>
            </a:extLst>
          </p:cNvPr>
          <p:cNvSpPr>
            <a:spLocks xmlns:a="http://schemas.openxmlformats.org/drawingml/2006/main" noGrp="1"/>
          </p:cNvSpPr>
          <p:nvPr/>
        </p:nvSpPr>
        <p:spPr>
          <a:xfrm xmlns:a="http://schemas.openxmlformats.org/drawingml/2006/main">
            <a:off x="571500" y="5705475"/>
            <a:ext cx="14097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0">
                <a:solidFill>
                  <a:srgbClr val="183247"/>
                </a:solidFill>
                <a:latin typeface="Arial"/>
                <a:ea typeface="Arial"/>
                <a:cs typeface="Arial"/>
              </a:defRPr>
            </a:pPr>
            <a:r>
              <a:rPr sz="2625" b="0">
                <a:solidFill>
                  <a:srgbClr val="183247"/>
                </a:solidFill>
                <a:latin typeface="Arial"/>
                <a:ea typeface="Arial"/>
                <a:cs typeface="Arial"/>
              </a:rPr>
              <a:t>De waarden zijn berekend met de gegeven vraag- en aanbodfunctie.</a:t>
            </a:r>
          </a:p>
        </p:txBody>
      </p:sp>
      <p:sp>
        <p:nvSpPr>
          <p:cNvPr id="7" name="De inverse aanbodlijn geeft P bij Q.&#10;In deze opgave lees je die P ook ">
            <a:extLst xmlns:a="http://schemas.openxmlformats.org/drawingml/2006/main">
              <a:ext uri="{FF2B5EF4-FFF2-40B4-BE49-F238E27FC236}">
                <a16:creationId xmlns:a16="http://schemas.microsoft.com/office/drawing/2014/main" id="{D571670C-0689-4A57-9C3D-28DA4EAC5C38}"/>
              </a:ext>
            </a:extLst>
          </p:cNvPr>
          <p:cNvSpPr>
            <a:spLocks xmlns:a="http://schemas.openxmlformats.org/drawingml/2006/main" noGrp="1"/>
          </p:cNvSpPr>
          <p:nvPr/>
        </p:nvSpPr>
        <p:spPr>
          <a:xfrm xmlns:a="http://schemas.openxmlformats.org/drawingml/2006/main">
            <a:off x="571500" y="6886575"/>
            <a:ext cx="14097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83247"/>
                </a:solidFill>
                <a:latin typeface="Arial"/>
                <a:ea typeface="Arial"/>
                <a:cs typeface="Arial"/>
              </a:defRPr>
            </a:pPr>
            <a:r>
              <a:rPr sz="2700" b="1">
                <a:solidFill>
                  <a:srgbClr val="183247"/>
                </a:solidFill>
                <a:latin typeface="Arial"/>
                <a:ea typeface="Arial"/>
                <a:cs typeface="Arial"/>
              </a:rPr>
              <a:t>De inverse aanbodlijn geeft P bij Q.</a:t>
            </a:r>
          </a:p>
          <a:p xmlns:a="http://schemas.openxmlformats.org/drawingml/2006/main">
            <a:pPr algn="l">
              <a:defRPr sz="2700" b="1">
                <a:solidFill>
                  <a:srgbClr val="183247"/>
                </a:solidFill>
                <a:latin typeface="Arial"/>
                <a:ea typeface="Arial"/>
                <a:cs typeface="Arial"/>
              </a:defRPr>
            </a:pPr>
            <a:r>
              <a:rPr sz="2700" b="1">
                <a:solidFill>
                  <a:srgbClr val="183247"/>
                </a:solidFill>
                <a:latin typeface="Arial"/>
                <a:ea typeface="Arial"/>
                <a:cs typeface="Arial"/>
              </a:rPr>
              <a:t>In deze opgave lees je die P ook als MK bij dezelfde Q.</a:t>
            </a:r>
          </a:p>
        </p:txBody>
      </p:sp>
    </p:spTree>
    <p:extLst>
      <p:ext uri="{BB962C8B-B14F-4D97-AF65-F5344CB8AC3E}">
        <p14:creationId xmlns:p14="http://schemas.microsoft.com/office/powerpoint/2010/main" val="904976022"/>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Opgave 8 · Vragen a–c">
            <a:extLst xmlns:a="http://schemas.openxmlformats.org/drawingml/2006/main">
              <a:ext uri="{FF2B5EF4-FFF2-40B4-BE49-F238E27FC236}">
                <a16:creationId xmlns:a16="http://schemas.microsoft.com/office/drawing/2014/main" id="{9155C25C-062A-4F0C-8F40-586DCDF167AE}"/>
              </a:ext>
            </a:extLst>
          </p:cNvPr>
          <p:cNvSpPr>
            <a:spLocks xmlns:a="http://schemas.openxmlformats.org/drawingml/2006/main" noGrp="1"/>
          </p:cNvSpPr>
          <p:nvPr/>
        </p:nvSpPr>
        <p:spPr>
          <a:xfrm xmlns:a="http://schemas.openxmlformats.org/drawingml/2006/main">
            <a:off x="571500" y="361950"/>
            <a:ext cx="14097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8 · Vragen a–c</a:t>
            </a:r>
          </a:p>
        </p:txBody>
      </p:sp>
      <p:sp>
        <p:nvSpPr>
          <p:cNvPr id="2" name="">
            <a:extLst xmlns:a="http://schemas.openxmlformats.org/drawingml/2006/main">
              <a:ext uri="{FF2B5EF4-FFF2-40B4-BE49-F238E27FC236}">
                <a16:creationId xmlns:a16="http://schemas.microsoft.com/office/drawing/2014/main" id="{4908F741-7B45-48CB-ABD8-D54568C708D0}"/>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2.3.2 · Doelopgave 8 · Boekpagina 89–90">
            <a:extLst xmlns:a="http://schemas.openxmlformats.org/drawingml/2006/main">
              <a:ext uri="{FF2B5EF4-FFF2-40B4-BE49-F238E27FC236}">
                <a16:creationId xmlns:a16="http://schemas.microsoft.com/office/drawing/2014/main" id="{FE5CB4B3-CF96-44E4-BE0F-E3FA1BDC2FFA}"/>
              </a:ext>
            </a:extLst>
          </p:cNvPr>
          <p:cNvSpPr>
            <a:spLocks xmlns:a="http://schemas.openxmlformats.org/drawingml/2006/main" noGrp="1"/>
          </p:cNvSpPr>
          <p:nvPr/>
        </p:nvSpPr>
        <p:spPr>
          <a:xfrm xmlns:a="http://schemas.openxmlformats.org/drawingml/2006/main">
            <a:off x="571500" y="8077200"/>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§2.3.2 · Doelopgave 8 · Boekpagina 89–90</a:t>
            </a:r>
          </a:p>
        </p:txBody>
      </p:sp>
      <p:sp>
        <p:nvSpPr>
          <p:cNvPr id="4" name="19">
            <a:extLst xmlns:a="http://schemas.openxmlformats.org/drawingml/2006/main">
              <a:ext uri="{FF2B5EF4-FFF2-40B4-BE49-F238E27FC236}">
                <a16:creationId xmlns:a16="http://schemas.microsoft.com/office/drawing/2014/main" id="{D7997D92-2E20-4D70-B62F-B385569957B3}"/>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19</a:t>
            </a:r>
          </a:p>
        </p:txBody>
      </p:sp>
      <p:sp>
        <p:nvSpPr>
          <p:cNvPr id="5" name="a)">
            <a:extLst xmlns:a="http://schemas.openxmlformats.org/drawingml/2006/main">
              <a:ext uri="{FF2B5EF4-FFF2-40B4-BE49-F238E27FC236}">
                <a16:creationId xmlns:a16="http://schemas.microsoft.com/office/drawing/2014/main" id="{4B74A9DD-FDD7-4940-8711-ABFD18EE1424}"/>
              </a:ext>
            </a:extLst>
          </p:cNvPr>
          <p:cNvSpPr>
            <a:spLocks xmlns:a="http://schemas.openxmlformats.org/drawingml/2006/main" noGrp="1"/>
          </p:cNvSpPr>
          <p:nvPr/>
        </p:nvSpPr>
        <p:spPr>
          <a:xfrm xmlns:a="http://schemas.openxmlformats.org/drawingml/2006/main">
            <a:off x="571500" y="2238375"/>
            <a:ext cx="714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7658A"/>
                </a:solidFill>
                <a:latin typeface="Arial"/>
                <a:ea typeface="Arial"/>
                <a:cs typeface="Arial"/>
              </a:defRPr>
            </a:pPr>
            <a:r>
              <a:rPr sz="3000" b="1">
                <a:solidFill>
                  <a:srgbClr val="17658A"/>
                </a:solidFill>
                <a:latin typeface="Arial"/>
                <a:ea typeface="Arial"/>
                <a:cs typeface="Arial"/>
              </a:rPr>
              <a:t>a)</a:t>
            </a:r>
          </a:p>
        </p:txBody>
      </p:sp>
      <p:sp>
        <p:nvSpPr>
          <p:cNvPr id="6" name="Bereken de evenwichtsprijs en -hoeveelheid.">
            <a:extLst xmlns:a="http://schemas.openxmlformats.org/drawingml/2006/main">
              <a:ext uri="{FF2B5EF4-FFF2-40B4-BE49-F238E27FC236}">
                <a16:creationId xmlns:a16="http://schemas.microsoft.com/office/drawing/2014/main" id="{F8E6E8AB-FA5A-4F06-A201-906A9C475E9A}"/>
              </a:ext>
            </a:extLst>
          </p:cNvPr>
          <p:cNvSpPr>
            <a:spLocks xmlns:a="http://schemas.openxmlformats.org/drawingml/2006/main" noGrp="1"/>
          </p:cNvSpPr>
          <p:nvPr/>
        </p:nvSpPr>
        <p:spPr>
          <a:xfrm xmlns:a="http://schemas.openxmlformats.org/drawingml/2006/main">
            <a:off x="1476375" y="2238375"/>
            <a:ext cx="13192125"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0">
                <a:solidFill>
                  <a:srgbClr val="183247"/>
                </a:solidFill>
                <a:latin typeface="Arial"/>
                <a:ea typeface="Arial"/>
                <a:cs typeface="Arial"/>
              </a:defRPr>
            </a:pPr>
            <a:r>
              <a:rPr sz="2850" b="0">
                <a:solidFill>
                  <a:srgbClr val="183247"/>
                </a:solidFill>
                <a:latin typeface="Arial"/>
                <a:ea typeface="Arial"/>
                <a:cs typeface="Arial"/>
              </a:rPr>
              <a:t>Bereken de evenwichtsprijs en -hoeveelheid.</a:t>
            </a:r>
          </a:p>
        </p:txBody>
      </p:sp>
      <p:sp>
        <p:nvSpPr>
          <p:cNvPr id="7" name="b)">
            <a:extLst xmlns:a="http://schemas.openxmlformats.org/drawingml/2006/main">
              <a:ext uri="{FF2B5EF4-FFF2-40B4-BE49-F238E27FC236}">
                <a16:creationId xmlns:a16="http://schemas.microsoft.com/office/drawing/2014/main" id="{8A94C00D-8604-4B74-8AB1-336B5C268015}"/>
              </a:ext>
            </a:extLst>
          </p:cNvPr>
          <p:cNvSpPr>
            <a:spLocks xmlns:a="http://schemas.openxmlformats.org/drawingml/2006/main" noGrp="1"/>
          </p:cNvSpPr>
          <p:nvPr/>
        </p:nvSpPr>
        <p:spPr>
          <a:xfrm xmlns:a="http://schemas.openxmlformats.org/drawingml/2006/main">
            <a:off x="571500" y="4000500"/>
            <a:ext cx="714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7658A"/>
                </a:solidFill>
                <a:latin typeface="Arial"/>
                <a:ea typeface="Arial"/>
                <a:cs typeface="Arial"/>
              </a:defRPr>
            </a:pPr>
            <a:r>
              <a:rPr sz="3000" b="1">
                <a:solidFill>
                  <a:srgbClr val="17658A"/>
                </a:solidFill>
                <a:latin typeface="Arial"/>
                <a:ea typeface="Arial"/>
                <a:cs typeface="Arial"/>
              </a:rPr>
              <a:t>b)</a:t>
            </a:r>
          </a:p>
        </p:txBody>
      </p:sp>
      <p:sp>
        <p:nvSpPr>
          <p:cNvPr id="8" name="Markeer het evenwicht in de basisgrafiek en arceer en benoem CS en PS.">
            <a:extLst xmlns:a="http://schemas.openxmlformats.org/drawingml/2006/main">
              <a:ext uri="{FF2B5EF4-FFF2-40B4-BE49-F238E27FC236}">
                <a16:creationId xmlns:a16="http://schemas.microsoft.com/office/drawing/2014/main" id="{9FCD34C0-87CE-4B7E-BE66-44D9F094917B}"/>
              </a:ext>
            </a:extLst>
          </p:cNvPr>
          <p:cNvSpPr>
            <a:spLocks xmlns:a="http://schemas.openxmlformats.org/drawingml/2006/main" noGrp="1"/>
          </p:cNvSpPr>
          <p:nvPr/>
        </p:nvSpPr>
        <p:spPr>
          <a:xfrm xmlns:a="http://schemas.openxmlformats.org/drawingml/2006/main">
            <a:off x="1476375" y="4000500"/>
            <a:ext cx="13192125"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0">
                <a:solidFill>
                  <a:srgbClr val="183247"/>
                </a:solidFill>
                <a:latin typeface="Arial"/>
                <a:ea typeface="Arial"/>
                <a:cs typeface="Arial"/>
              </a:defRPr>
            </a:pPr>
            <a:r>
              <a:rPr sz="2850" b="0">
                <a:solidFill>
                  <a:srgbClr val="183247"/>
                </a:solidFill>
                <a:latin typeface="Arial"/>
                <a:ea typeface="Arial"/>
                <a:cs typeface="Arial"/>
              </a:rPr>
              <a:t>Markeer het evenwicht in de basisgrafiek en arceer en benoem CS en PS. Teken de lijnen niet opnieuw.</a:t>
            </a:r>
          </a:p>
        </p:txBody>
      </p:sp>
      <p:sp>
        <p:nvSpPr>
          <p:cNvPr id="9" name="c)">
            <a:extLst xmlns:a="http://schemas.openxmlformats.org/drawingml/2006/main">
              <a:ext uri="{FF2B5EF4-FFF2-40B4-BE49-F238E27FC236}">
                <a16:creationId xmlns:a16="http://schemas.microsoft.com/office/drawing/2014/main" id="{02CFDBAA-543A-45EA-8EB5-8D3300F28A8B}"/>
              </a:ext>
            </a:extLst>
          </p:cNvPr>
          <p:cNvSpPr>
            <a:spLocks xmlns:a="http://schemas.openxmlformats.org/drawingml/2006/main" noGrp="1"/>
          </p:cNvSpPr>
          <p:nvPr/>
        </p:nvSpPr>
        <p:spPr>
          <a:xfrm xmlns:a="http://schemas.openxmlformats.org/drawingml/2006/main">
            <a:off x="571500" y="5762625"/>
            <a:ext cx="714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7658A"/>
                </a:solidFill>
                <a:latin typeface="Arial"/>
                <a:ea typeface="Arial"/>
                <a:cs typeface="Arial"/>
              </a:defRPr>
            </a:pPr>
            <a:r>
              <a:rPr sz="3000" b="1">
                <a:solidFill>
                  <a:srgbClr val="17658A"/>
                </a:solidFill>
                <a:latin typeface="Arial"/>
                <a:ea typeface="Arial"/>
                <a:cs typeface="Arial"/>
              </a:rPr>
              <a:t>c)</a:t>
            </a:r>
          </a:p>
        </p:txBody>
      </p:sp>
      <p:sp>
        <p:nvSpPr>
          <p:cNvPr id="10" name="Bereken CS, PS en TS met basis, hoogte en eenheid.">
            <a:extLst xmlns:a="http://schemas.openxmlformats.org/drawingml/2006/main">
              <a:ext uri="{FF2B5EF4-FFF2-40B4-BE49-F238E27FC236}">
                <a16:creationId xmlns:a16="http://schemas.microsoft.com/office/drawing/2014/main" id="{62A194B2-AF8C-4EAC-B35D-735083933E36}"/>
              </a:ext>
            </a:extLst>
          </p:cNvPr>
          <p:cNvSpPr>
            <a:spLocks xmlns:a="http://schemas.openxmlformats.org/drawingml/2006/main" noGrp="1"/>
          </p:cNvSpPr>
          <p:nvPr/>
        </p:nvSpPr>
        <p:spPr>
          <a:xfrm xmlns:a="http://schemas.openxmlformats.org/drawingml/2006/main">
            <a:off x="1476375" y="5762625"/>
            <a:ext cx="13192125"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0">
                <a:solidFill>
                  <a:srgbClr val="183247"/>
                </a:solidFill>
                <a:latin typeface="Arial"/>
                <a:ea typeface="Arial"/>
                <a:cs typeface="Arial"/>
              </a:defRPr>
            </a:pPr>
            <a:r>
              <a:rPr sz="2850" b="0">
                <a:solidFill>
                  <a:srgbClr val="183247"/>
                </a:solidFill>
                <a:latin typeface="Arial"/>
                <a:ea typeface="Arial"/>
                <a:cs typeface="Arial"/>
              </a:rPr>
              <a:t>Bereken CS, PS en TS met basis, hoogte en eenheid.</a:t>
            </a:r>
          </a:p>
        </p:txBody>
      </p:sp>
    </p:spTree>
    <p:extLst>
      <p:ext uri="{BB962C8B-B14F-4D97-AF65-F5344CB8AC3E}">
        <p14:creationId xmlns:p14="http://schemas.microsoft.com/office/powerpoint/2010/main" val="1502315390"/>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Opgave 8 · Vragen d–e">
            <a:extLst xmlns:a="http://schemas.openxmlformats.org/drawingml/2006/main">
              <a:ext uri="{FF2B5EF4-FFF2-40B4-BE49-F238E27FC236}">
                <a16:creationId xmlns:a16="http://schemas.microsoft.com/office/drawing/2014/main" id="{CD0CF66C-87CA-4C5F-80C9-5424B503459A}"/>
              </a:ext>
            </a:extLst>
          </p:cNvPr>
          <p:cNvSpPr>
            <a:spLocks xmlns:a="http://schemas.openxmlformats.org/drawingml/2006/main" noGrp="1"/>
          </p:cNvSpPr>
          <p:nvPr/>
        </p:nvSpPr>
        <p:spPr>
          <a:xfrm xmlns:a="http://schemas.openxmlformats.org/drawingml/2006/main">
            <a:off x="571500" y="361950"/>
            <a:ext cx="14097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8 · Vragen d–e</a:t>
            </a:r>
          </a:p>
        </p:txBody>
      </p:sp>
      <p:sp>
        <p:nvSpPr>
          <p:cNvPr id="2" name="">
            <a:extLst xmlns:a="http://schemas.openxmlformats.org/drawingml/2006/main">
              <a:ext uri="{FF2B5EF4-FFF2-40B4-BE49-F238E27FC236}">
                <a16:creationId xmlns:a16="http://schemas.microsoft.com/office/drawing/2014/main" id="{64D77834-92B6-4585-B9F5-C0BB1D8CA10B}"/>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2.3.2 · Doelopgave 8 · Boekpagina 89–90">
            <a:extLst xmlns:a="http://schemas.openxmlformats.org/drawingml/2006/main">
              <a:ext uri="{FF2B5EF4-FFF2-40B4-BE49-F238E27FC236}">
                <a16:creationId xmlns:a16="http://schemas.microsoft.com/office/drawing/2014/main" id="{2CCD7905-CD02-4EF1-A03A-6EE323AF62CE}"/>
              </a:ext>
            </a:extLst>
          </p:cNvPr>
          <p:cNvSpPr>
            <a:spLocks xmlns:a="http://schemas.openxmlformats.org/drawingml/2006/main" noGrp="1"/>
          </p:cNvSpPr>
          <p:nvPr/>
        </p:nvSpPr>
        <p:spPr>
          <a:xfrm xmlns:a="http://schemas.openxmlformats.org/drawingml/2006/main">
            <a:off x="571500" y="8077200"/>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§2.3.2 · Doelopgave 8 · Boekpagina 89–90</a:t>
            </a:r>
          </a:p>
        </p:txBody>
      </p:sp>
      <p:sp>
        <p:nvSpPr>
          <p:cNvPr id="4" name="20">
            <a:extLst xmlns:a="http://schemas.openxmlformats.org/drawingml/2006/main">
              <a:ext uri="{FF2B5EF4-FFF2-40B4-BE49-F238E27FC236}">
                <a16:creationId xmlns:a16="http://schemas.microsoft.com/office/drawing/2014/main" id="{0B65CE85-B1CD-4004-BC81-DCF36CD367FA}"/>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20</a:t>
            </a:r>
          </a:p>
        </p:txBody>
      </p:sp>
      <p:sp>
        <p:nvSpPr>
          <p:cNvPr id="5" name="d)">
            <a:extLst xmlns:a="http://schemas.openxmlformats.org/drawingml/2006/main">
              <a:ext uri="{FF2B5EF4-FFF2-40B4-BE49-F238E27FC236}">
                <a16:creationId xmlns:a16="http://schemas.microsoft.com/office/drawing/2014/main" id="{EAD8739C-5B47-42E4-8488-AB115460BF41}"/>
              </a:ext>
            </a:extLst>
          </p:cNvPr>
          <p:cNvSpPr>
            <a:spLocks xmlns:a="http://schemas.openxmlformats.org/drawingml/2006/main" noGrp="1"/>
          </p:cNvSpPr>
          <p:nvPr/>
        </p:nvSpPr>
        <p:spPr>
          <a:xfrm xmlns:a="http://schemas.openxmlformats.org/drawingml/2006/main">
            <a:off x="571500" y="2238375"/>
            <a:ext cx="714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7658A"/>
                </a:solidFill>
                <a:latin typeface="Arial"/>
                <a:ea typeface="Arial"/>
                <a:cs typeface="Arial"/>
              </a:defRPr>
            </a:pPr>
            <a:r>
              <a:rPr sz="3000" b="1">
                <a:solidFill>
                  <a:srgbClr val="17658A"/>
                </a:solidFill>
                <a:latin typeface="Arial"/>
                <a:ea typeface="Arial"/>
                <a:cs typeface="Arial"/>
              </a:rPr>
              <a:t>d)</a:t>
            </a:r>
          </a:p>
        </p:txBody>
      </p:sp>
      <p:sp>
        <p:nvSpPr>
          <p:cNvPr id="6" name="Vergelijk met de tabel bij Q = 50 en Q = 70 de betalingsbereidheid met">
            <a:extLst xmlns:a="http://schemas.openxmlformats.org/drawingml/2006/main">
              <a:ext uri="{FF2B5EF4-FFF2-40B4-BE49-F238E27FC236}">
                <a16:creationId xmlns:a16="http://schemas.microsoft.com/office/drawing/2014/main" id="{C6581364-2EBB-4895-904A-9A889262962C}"/>
              </a:ext>
            </a:extLst>
          </p:cNvPr>
          <p:cNvSpPr>
            <a:spLocks xmlns:a="http://schemas.openxmlformats.org/drawingml/2006/main" noGrp="1"/>
          </p:cNvSpPr>
          <p:nvPr/>
        </p:nvSpPr>
        <p:spPr>
          <a:xfrm xmlns:a="http://schemas.openxmlformats.org/drawingml/2006/main">
            <a:off x="1476375" y="2238375"/>
            <a:ext cx="13192125" cy="2266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0">
                <a:solidFill>
                  <a:srgbClr val="183247"/>
                </a:solidFill>
                <a:latin typeface="Arial"/>
                <a:ea typeface="Arial"/>
                <a:cs typeface="Arial"/>
              </a:defRPr>
            </a:pPr>
            <a:r>
              <a:rPr sz="2850" b="0">
                <a:solidFill>
                  <a:srgbClr val="183247"/>
                </a:solidFill>
                <a:latin typeface="Arial"/>
                <a:ea typeface="Arial"/>
                <a:cs typeface="Arial"/>
              </a:rPr>
              <a:t>Vergelijk met de tabel bij Q = 50 en Q = 70 de betalingsbereidheid met de marginale kosten en geef per hoeveelheid aan of één extra transactie TS verhoogt of verlaagt.</a:t>
            </a:r>
          </a:p>
        </p:txBody>
      </p:sp>
      <p:sp>
        <p:nvSpPr>
          <p:cNvPr id="7" name="e)">
            <a:extLst xmlns:a="http://schemas.openxmlformats.org/drawingml/2006/main">
              <a:ext uri="{FF2B5EF4-FFF2-40B4-BE49-F238E27FC236}">
                <a16:creationId xmlns:a16="http://schemas.microsoft.com/office/drawing/2014/main" id="{637C0054-0A16-4423-B592-F3D8630CAF80}"/>
              </a:ext>
            </a:extLst>
          </p:cNvPr>
          <p:cNvSpPr>
            <a:spLocks xmlns:a="http://schemas.openxmlformats.org/drawingml/2006/main" noGrp="1"/>
          </p:cNvSpPr>
          <p:nvPr/>
        </p:nvSpPr>
        <p:spPr>
          <a:xfrm xmlns:a="http://schemas.openxmlformats.org/drawingml/2006/main">
            <a:off x="571500" y="5248275"/>
            <a:ext cx="714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7658A"/>
                </a:solidFill>
                <a:latin typeface="Arial"/>
                <a:ea typeface="Arial"/>
                <a:cs typeface="Arial"/>
              </a:defRPr>
            </a:pPr>
            <a:r>
              <a:rPr sz="3000" b="1">
                <a:solidFill>
                  <a:srgbClr val="17658A"/>
                </a:solidFill>
                <a:latin typeface="Arial"/>
                <a:ea typeface="Arial"/>
                <a:cs typeface="Arial"/>
              </a:rPr>
              <a:t>e)</a:t>
            </a:r>
          </a:p>
        </p:txBody>
      </p:sp>
      <p:sp>
        <p:nvSpPr>
          <p:cNvPr id="8" name="Leg uit waarom TS in dit model maximaal is bij Q = 60 en waarom dit ge">
            <a:extLst xmlns:a="http://schemas.openxmlformats.org/drawingml/2006/main">
              <a:ext uri="{FF2B5EF4-FFF2-40B4-BE49-F238E27FC236}">
                <a16:creationId xmlns:a16="http://schemas.microsoft.com/office/drawing/2014/main" id="{B0935699-814C-48B3-9C79-6FD903D4B27D}"/>
              </a:ext>
            </a:extLst>
          </p:cNvPr>
          <p:cNvSpPr>
            <a:spLocks xmlns:a="http://schemas.openxmlformats.org/drawingml/2006/main" noGrp="1"/>
          </p:cNvSpPr>
          <p:nvPr/>
        </p:nvSpPr>
        <p:spPr>
          <a:xfrm xmlns:a="http://schemas.openxmlformats.org/drawingml/2006/main">
            <a:off x="1476375" y="5248275"/>
            <a:ext cx="13192125" cy="1971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0">
                <a:solidFill>
                  <a:srgbClr val="183247"/>
                </a:solidFill>
                <a:latin typeface="Arial"/>
                <a:ea typeface="Arial"/>
                <a:cs typeface="Arial"/>
              </a:defRPr>
            </a:pPr>
            <a:r>
              <a:rPr sz="2850" b="0">
                <a:solidFill>
                  <a:srgbClr val="183247"/>
                </a:solidFill>
                <a:latin typeface="Arial"/>
                <a:ea typeface="Arial"/>
                <a:cs typeface="Arial"/>
              </a:rPr>
              <a:t>Leg uit waarom TS in dit model maximaal is bij Q = 60 en waarom dit geen oordeel over een eerlijke verdeling oplevert.</a:t>
            </a:r>
          </a:p>
        </p:txBody>
      </p:sp>
    </p:spTree>
    <p:extLst>
      <p:ext uri="{BB962C8B-B14F-4D97-AF65-F5344CB8AC3E}">
        <p14:creationId xmlns:p14="http://schemas.microsoft.com/office/powerpoint/2010/main" val="1083555929"/>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Opgave 8a · Evenwicht">
            <a:extLst xmlns:a="http://schemas.openxmlformats.org/drawingml/2006/main">
              <a:ext uri="{FF2B5EF4-FFF2-40B4-BE49-F238E27FC236}">
                <a16:creationId xmlns:a16="http://schemas.microsoft.com/office/drawing/2014/main" id="{3CA6F5E1-F267-4497-B33F-2F7EF685C1BB}"/>
              </a:ext>
            </a:extLst>
          </p:cNvPr>
          <p:cNvSpPr>
            <a:spLocks xmlns:a="http://schemas.openxmlformats.org/drawingml/2006/main" noGrp="1"/>
          </p:cNvSpPr>
          <p:nvPr/>
        </p:nvSpPr>
        <p:spPr>
          <a:xfrm xmlns:a="http://schemas.openxmlformats.org/drawingml/2006/main">
            <a:off x="571500" y="361950"/>
            <a:ext cx="14097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8a · Evenwicht</a:t>
            </a:r>
          </a:p>
        </p:txBody>
      </p:sp>
      <p:sp>
        <p:nvSpPr>
          <p:cNvPr id="2" name="">
            <a:extLst xmlns:a="http://schemas.openxmlformats.org/drawingml/2006/main">
              <a:ext uri="{FF2B5EF4-FFF2-40B4-BE49-F238E27FC236}">
                <a16:creationId xmlns:a16="http://schemas.microsoft.com/office/drawing/2014/main" id="{EE5DE58D-72AE-40F0-9B65-85845FC09D86}"/>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2.3.2 · Doelopgave 8 · Boekpagina 89–90">
            <a:extLst xmlns:a="http://schemas.openxmlformats.org/drawingml/2006/main">
              <a:ext uri="{FF2B5EF4-FFF2-40B4-BE49-F238E27FC236}">
                <a16:creationId xmlns:a16="http://schemas.microsoft.com/office/drawing/2014/main" id="{15BF4257-8F60-459D-A6EA-6D942F6ED3DD}"/>
              </a:ext>
            </a:extLst>
          </p:cNvPr>
          <p:cNvSpPr>
            <a:spLocks xmlns:a="http://schemas.openxmlformats.org/drawingml/2006/main" noGrp="1"/>
          </p:cNvSpPr>
          <p:nvPr/>
        </p:nvSpPr>
        <p:spPr>
          <a:xfrm xmlns:a="http://schemas.openxmlformats.org/drawingml/2006/main">
            <a:off x="571500" y="8077200"/>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§2.3.2 · Doelopgave 8 · Boekpagina 89–90</a:t>
            </a:r>
          </a:p>
        </p:txBody>
      </p:sp>
      <p:sp>
        <p:nvSpPr>
          <p:cNvPr id="4" name="21">
            <a:extLst xmlns:a="http://schemas.openxmlformats.org/drawingml/2006/main">
              <a:ext uri="{FF2B5EF4-FFF2-40B4-BE49-F238E27FC236}">
                <a16:creationId xmlns:a16="http://schemas.microsoft.com/office/drawing/2014/main" id="{056DBBC5-6D7F-4461-B1CA-E352ADC78A38}"/>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21</a:t>
            </a:r>
          </a:p>
        </p:txBody>
      </p:sp>
      <p:sp>
        <p:nvSpPr>
          <p:cNvPr id="5" name="Gelijkstellen">
            <a:extLst xmlns:a="http://schemas.openxmlformats.org/drawingml/2006/main">
              <a:ext uri="{FF2B5EF4-FFF2-40B4-BE49-F238E27FC236}">
                <a16:creationId xmlns:a16="http://schemas.microsoft.com/office/drawing/2014/main" id="{38900D1B-99FF-4629-8F94-19BCA71D473D}"/>
              </a:ext>
            </a:extLst>
          </p:cNvPr>
          <p:cNvSpPr>
            <a:spLocks xmlns:a="http://schemas.openxmlformats.org/drawingml/2006/main" noGrp="1"/>
          </p:cNvSpPr>
          <p:nvPr/>
        </p:nvSpPr>
        <p:spPr>
          <a:xfrm xmlns:a="http://schemas.openxmlformats.org/drawingml/2006/main">
            <a:off x="571500" y="2228850"/>
            <a:ext cx="4953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7658A"/>
                </a:solidFill>
                <a:latin typeface="Arial"/>
                <a:ea typeface="Arial"/>
                <a:cs typeface="Arial"/>
              </a:defRPr>
            </a:pPr>
            <a:r>
              <a:rPr sz="2700" b="1">
                <a:solidFill>
                  <a:srgbClr val="17658A"/>
                </a:solidFill>
                <a:latin typeface="Arial"/>
                <a:ea typeface="Arial"/>
                <a:cs typeface="Arial"/>
              </a:rPr>
              <a:t>Gelijkstellen</a:t>
            </a:r>
          </a:p>
        </p:txBody>
      </p:sp>
      <p:sp>
        <p:nvSpPr>
          <p:cNvPr id="6" name="50 − 0,5Q = 5 + 0,25Q">
            <a:extLst xmlns:a="http://schemas.openxmlformats.org/drawingml/2006/main">
              <a:ext uri="{FF2B5EF4-FFF2-40B4-BE49-F238E27FC236}">
                <a16:creationId xmlns:a16="http://schemas.microsoft.com/office/drawing/2014/main" id="{CCD64E85-B7CA-4B06-96E7-F0CED59229C9}"/>
              </a:ext>
            </a:extLst>
          </p:cNvPr>
          <p:cNvSpPr>
            <a:spLocks xmlns:a="http://schemas.openxmlformats.org/drawingml/2006/main" noGrp="1"/>
          </p:cNvSpPr>
          <p:nvPr/>
        </p:nvSpPr>
        <p:spPr>
          <a:xfrm xmlns:a="http://schemas.openxmlformats.org/drawingml/2006/main">
            <a:off x="5905500" y="2228850"/>
            <a:ext cx="8763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0">
                <a:solidFill>
                  <a:srgbClr val="183247"/>
                </a:solidFill>
                <a:latin typeface="Arial"/>
                <a:ea typeface="Arial"/>
                <a:cs typeface="Arial"/>
              </a:defRPr>
            </a:pPr>
            <a:r>
              <a:rPr sz="2850" b="0">
                <a:solidFill>
                  <a:srgbClr val="183247"/>
                </a:solidFill>
                <a:latin typeface="Arial"/>
                <a:ea typeface="Arial"/>
                <a:cs typeface="Arial"/>
              </a:rPr>
              <a:t>50 − 0,5Q = 5 + 0,25Q</a:t>
            </a:r>
          </a:p>
        </p:txBody>
      </p:sp>
      <p:sp>
        <p:nvSpPr>
          <p:cNvPr id="7" name="Hoeveelheid">
            <a:extLst xmlns:a="http://schemas.openxmlformats.org/drawingml/2006/main">
              <a:ext uri="{FF2B5EF4-FFF2-40B4-BE49-F238E27FC236}">
                <a16:creationId xmlns:a16="http://schemas.microsoft.com/office/drawing/2014/main" id="{B974D8B7-9E93-4AC1-82C6-492BFFD12C8E}"/>
              </a:ext>
            </a:extLst>
          </p:cNvPr>
          <p:cNvSpPr>
            <a:spLocks xmlns:a="http://schemas.openxmlformats.org/drawingml/2006/main" noGrp="1"/>
          </p:cNvSpPr>
          <p:nvPr/>
        </p:nvSpPr>
        <p:spPr>
          <a:xfrm xmlns:a="http://schemas.openxmlformats.org/drawingml/2006/main">
            <a:off x="571500" y="3848100"/>
            <a:ext cx="4953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7658A"/>
                </a:solidFill>
                <a:latin typeface="Arial"/>
                <a:ea typeface="Arial"/>
                <a:cs typeface="Arial"/>
              </a:defRPr>
            </a:pPr>
            <a:r>
              <a:rPr sz="2700" b="1">
                <a:solidFill>
                  <a:srgbClr val="17658A"/>
                </a:solidFill>
                <a:latin typeface="Arial"/>
                <a:ea typeface="Arial"/>
                <a:cs typeface="Arial"/>
              </a:rPr>
              <a:t>Hoeveelheid</a:t>
            </a:r>
          </a:p>
        </p:txBody>
      </p:sp>
      <p:sp>
        <p:nvSpPr>
          <p:cNvPr id="8" name="45 = 0,75Q&#10;Qe = 60 kaartjes">
            <a:extLst xmlns:a="http://schemas.openxmlformats.org/drawingml/2006/main">
              <a:ext uri="{FF2B5EF4-FFF2-40B4-BE49-F238E27FC236}">
                <a16:creationId xmlns:a16="http://schemas.microsoft.com/office/drawing/2014/main" id="{0FA0A32A-D691-4CCF-B9BE-A461A64BC85C}"/>
              </a:ext>
            </a:extLst>
          </p:cNvPr>
          <p:cNvSpPr>
            <a:spLocks xmlns:a="http://schemas.openxmlformats.org/drawingml/2006/main" noGrp="1"/>
          </p:cNvSpPr>
          <p:nvPr/>
        </p:nvSpPr>
        <p:spPr>
          <a:xfrm xmlns:a="http://schemas.openxmlformats.org/drawingml/2006/main">
            <a:off x="5905500" y="3848100"/>
            <a:ext cx="8763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0">
                <a:solidFill>
                  <a:srgbClr val="183247"/>
                </a:solidFill>
                <a:latin typeface="Arial"/>
                <a:ea typeface="Arial"/>
                <a:cs typeface="Arial"/>
              </a:defRPr>
            </a:pPr>
            <a:r>
              <a:rPr sz="2850" b="0">
                <a:solidFill>
                  <a:srgbClr val="183247"/>
                </a:solidFill>
                <a:latin typeface="Arial"/>
                <a:ea typeface="Arial"/>
                <a:cs typeface="Arial"/>
              </a:rPr>
              <a:t>45 = 0,75Q</a:t>
            </a:r>
          </a:p>
          <a:p xmlns:a="http://schemas.openxmlformats.org/drawingml/2006/main">
            <a:pPr algn="l">
              <a:defRPr sz="2850" b="0">
                <a:solidFill>
                  <a:srgbClr val="183247"/>
                </a:solidFill>
                <a:latin typeface="Arial"/>
                <a:ea typeface="Arial"/>
                <a:cs typeface="Arial"/>
              </a:defRPr>
            </a:pPr>
            <a:r>
              <a:rPr sz="2850" b="0">
                <a:solidFill>
                  <a:srgbClr val="183247"/>
                </a:solidFill>
                <a:latin typeface="Arial"/>
                <a:ea typeface="Arial"/>
                <a:cs typeface="Arial"/>
              </a:rPr>
              <a:t>Qe = 60 kaartjes</a:t>
            </a:r>
          </a:p>
        </p:txBody>
      </p:sp>
      <p:sp>
        <p:nvSpPr>
          <p:cNvPr id="9" name="Prijs">
            <a:extLst xmlns:a="http://schemas.openxmlformats.org/drawingml/2006/main">
              <a:ext uri="{FF2B5EF4-FFF2-40B4-BE49-F238E27FC236}">
                <a16:creationId xmlns:a16="http://schemas.microsoft.com/office/drawing/2014/main" id="{DD277085-1276-4A6A-B775-04095E1156A6}"/>
              </a:ext>
            </a:extLst>
          </p:cNvPr>
          <p:cNvSpPr>
            <a:spLocks xmlns:a="http://schemas.openxmlformats.org/drawingml/2006/main" noGrp="1"/>
          </p:cNvSpPr>
          <p:nvPr/>
        </p:nvSpPr>
        <p:spPr>
          <a:xfrm xmlns:a="http://schemas.openxmlformats.org/drawingml/2006/main">
            <a:off x="571500" y="5467350"/>
            <a:ext cx="4953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7658A"/>
                </a:solidFill>
                <a:latin typeface="Arial"/>
                <a:ea typeface="Arial"/>
                <a:cs typeface="Arial"/>
              </a:defRPr>
            </a:pPr>
            <a:r>
              <a:rPr sz="2700" b="1">
                <a:solidFill>
                  <a:srgbClr val="17658A"/>
                </a:solidFill>
                <a:latin typeface="Arial"/>
                <a:ea typeface="Arial"/>
                <a:cs typeface="Arial"/>
              </a:rPr>
              <a:t>Prijs</a:t>
            </a:r>
          </a:p>
        </p:txBody>
      </p:sp>
      <p:sp>
        <p:nvSpPr>
          <p:cNvPr id="10" name="Pe = 50 − 0,5 × 60&#10;Pe = € 20 per kaartje">
            <a:extLst xmlns:a="http://schemas.openxmlformats.org/drawingml/2006/main">
              <a:ext uri="{FF2B5EF4-FFF2-40B4-BE49-F238E27FC236}">
                <a16:creationId xmlns:a16="http://schemas.microsoft.com/office/drawing/2014/main" id="{B376D518-1248-4263-8503-058EF9D10B6A}"/>
              </a:ext>
            </a:extLst>
          </p:cNvPr>
          <p:cNvSpPr>
            <a:spLocks xmlns:a="http://schemas.openxmlformats.org/drawingml/2006/main" noGrp="1"/>
          </p:cNvSpPr>
          <p:nvPr/>
        </p:nvSpPr>
        <p:spPr>
          <a:xfrm xmlns:a="http://schemas.openxmlformats.org/drawingml/2006/main">
            <a:off x="5905500" y="5467350"/>
            <a:ext cx="8763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0">
                <a:solidFill>
                  <a:srgbClr val="183247"/>
                </a:solidFill>
                <a:latin typeface="Arial"/>
                <a:ea typeface="Arial"/>
                <a:cs typeface="Arial"/>
              </a:defRPr>
            </a:pPr>
            <a:r>
              <a:rPr sz="2850" b="0">
                <a:solidFill>
                  <a:srgbClr val="183247"/>
                </a:solidFill>
                <a:latin typeface="Arial"/>
                <a:ea typeface="Arial"/>
                <a:cs typeface="Arial"/>
              </a:rPr>
              <a:t>Pe = 50 − 0,5 × 60</a:t>
            </a:r>
          </a:p>
          <a:p xmlns:a="http://schemas.openxmlformats.org/drawingml/2006/main">
            <a:pPr algn="l">
              <a:defRPr sz="2850" b="0">
                <a:solidFill>
                  <a:srgbClr val="183247"/>
                </a:solidFill>
                <a:latin typeface="Arial"/>
                <a:ea typeface="Arial"/>
                <a:cs typeface="Arial"/>
              </a:defRPr>
            </a:pPr>
            <a:r>
              <a:rPr sz="2850" b="0">
                <a:solidFill>
                  <a:srgbClr val="183247"/>
                </a:solidFill>
                <a:latin typeface="Arial"/>
                <a:ea typeface="Arial"/>
                <a:cs typeface="Arial"/>
              </a:rPr>
              <a:t>Pe = € 20 per kaartje</a:t>
            </a:r>
          </a:p>
        </p:txBody>
      </p:sp>
      <p:sp>
        <p:nvSpPr>
          <p:cNvPr id="11" name="Controle: 5 + 0,25 × 60 = € 20 per kaartje">
            <a:extLst xmlns:a="http://schemas.openxmlformats.org/drawingml/2006/main">
              <a:ext uri="{FF2B5EF4-FFF2-40B4-BE49-F238E27FC236}">
                <a16:creationId xmlns:a16="http://schemas.microsoft.com/office/drawing/2014/main" id="{D4059612-43A5-49A7-BEC0-1E72E7CF9585}"/>
              </a:ext>
            </a:extLst>
          </p:cNvPr>
          <p:cNvSpPr>
            <a:spLocks xmlns:a="http://schemas.openxmlformats.org/drawingml/2006/main" noGrp="1"/>
          </p:cNvSpPr>
          <p:nvPr/>
        </p:nvSpPr>
        <p:spPr>
          <a:xfrm xmlns:a="http://schemas.openxmlformats.org/drawingml/2006/main">
            <a:off x="571500" y="7467600"/>
            <a:ext cx="14097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20665B"/>
                </a:solidFill>
                <a:latin typeface="Arial"/>
                <a:ea typeface="Arial"/>
                <a:cs typeface="Arial"/>
              </a:defRPr>
            </a:pPr>
            <a:r>
              <a:rPr sz="2550" b="1">
                <a:solidFill>
                  <a:srgbClr val="20665B"/>
                </a:solidFill>
                <a:latin typeface="Arial"/>
                <a:ea typeface="Arial"/>
                <a:cs typeface="Arial"/>
              </a:rPr>
              <a:t>Controle: 5 + 0,25 × 60 = € 20 per kaartje</a:t>
            </a:r>
          </a:p>
        </p:txBody>
      </p:sp>
    </p:spTree>
    <p:extLst>
      <p:ext uri="{BB962C8B-B14F-4D97-AF65-F5344CB8AC3E}">
        <p14:creationId xmlns:p14="http://schemas.microsoft.com/office/powerpoint/2010/main" val="1539271812"/>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Opgave 8b · Evenwicht en surplusgebieden">
            <a:extLst xmlns:a="http://schemas.openxmlformats.org/drawingml/2006/main">
              <a:ext uri="{FF2B5EF4-FFF2-40B4-BE49-F238E27FC236}">
                <a16:creationId xmlns:a16="http://schemas.microsoft.com/office/drawing/2014/main" id="{42995B78-41B1-46F1-A740-EC65C5A32511}"/>
              </a:ext>
            </a:extLst>
          </p:cNvPr>
          <p:cNvSpPr>
            <a:spLocks xmlns:a="http://schemas.openxmlformats.org/drawingml/2006/main" noGrp="1"/>
          </p:cNvSpPr>
          <p:nvPr/>
        </p:nvSpPr>
        <p:spPr>
          <a:xfrm xmlns:a="http://schemas.openxmlformats.org/drawingml/2006/main">
            <a:off x="571500" y="361950"/>
            <a:ext cx="14097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8b · Evenwicht en surplusgebieden</a:t>
            </a:r>
          </a:p>
        </p:txBody>
      </p:sp>
      <p:sp>
        <p:nvSpPr>
          <p:cNvPr id="2" name="">
            <a:extLst xmlns:a="http://schemas.openxmlformats.org/drawingml/2006/main">
              <a:ext uri="{FF2B5EF4-FFF2-40B4-BE49-F238E27FC236}">
                <a16:creationId xmlns:a16="http://schemas.microsoft.com/office/drawing/2014/main" id="{76DE6BDA-2CB9-4CF6-B69F-EE0B3E2803EA}"/>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2.3.2 · Doelopgave 8 · Boekpagina 89–90">
            <a:extLst xmlns:a="http://schemas.openxmlformats.org/drawingml/2006/main">
              <a:ext uri="{FF2B5EF4-FFF2-40B4-BE49-F238E27FC236}">
                <a16:creationId xmlns:a16="http://schemas.microsoft.com/office/drawing/2014/main" id="{DD406430-7DD0-41E1-B4D5-D4E2B27B59EE}"/>
              </a:ext>
            </a:extLst>
          </p:cNvPr>
          <p:cNvSpPr>
            <a:spLocks xmlns:a="http://schemas.openxmlformats.org/drawingml/2006/main" noGrp="1"/>
          </p:cNvSpPr>
          <p:nvPr/>
        </p:nvSpPr>
        <p:spPr>
          <a:xfrm xmlns:a="http://schemas.openxmlformats.org/drawingml/2006/main">
            <a:off x="571500" y="8077200"/>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§2.3.2 · Doelopgave 8 · Boekpagina 89–90</a:t>
            </a:r>
          </a:p>
        </p:txBody>
      </p:sp>
      <p:sp>
        <p:nvSpPr>
          <p:cNvPr id="4" name="22">
            <a:extLst xmlns:a="http://schemas.openxmlformats.org/drawingml/2006/main">
              <a:ext uri="{FF2B5EF4-FFF2-40B4-BE49-F238E27FC236}">
                <a16:creationId xmlns:a16="http://schemas.microsoft.com/office/drawing/2014/main" id="{2B53D14B-F59F-4A55-B050-9F1D2945C429}"/>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22</a:t>
            </a:r>
          </a:p>
        </p:txBody>
      </p:sp>
      <p:graphicFrame>
        <p:nvGraphicFramePr>
          <p:cNvPr id="14" name="Chart"/>
          <p:cNvGraphicFramePr/>
          <p:nvPr/>
        </p:nvGraphicFramePr>
        <p:xfrm>
          <a:off xmlns:a="http://schemas.openxmlformats.org/drawingml/2006/main" x="571500" y="2009775"/>
          <a:ext xmlns:a="http://schemas.openxmlformats.org/drawingml/2006/main" cx="9906000" cy="5715000"/>
        </p:xfrm>
        <a:graphic xmlns:a="http://schemas.openxmlformats.org/drawingml/2006/main">
          <a:graphicData uri="http://schemas.openxmlformats.org/drawingml/2006/chart">
            <c:chart xmlns:r="http://schemas.openxmlformats.org/officeDocument/2006/relationships" xmlns:c="http://schemas.openxmlformats.org/drawingml/2006/chart" r:id="Rb40f4f5284264f29"/>
          </a:graphicData>
        </a:graphic>
      </p:graphicFrame>
      <p:sp>
        <p:nvSpPr>
          <p:cNvPr id="6" name="E = (60; 20)">
            <a:extLst xmlns:a="http://schemas.openxmlformats.org/drawingml/2006/main">
              <a:ext uri="{FF2B5EF4-FFF2-40B4-BE49-F238E27FC236}">
                <a16:creationId xmlns:a16="http://schemas.microsoft.com/office/drawing/2014/main" id="{D90E2853-A346-4530-BFD5-FEC719D36486}"/>
              </a:ext>
            </a:extLst>
          </p:cNvPr>
          <p:cNvSpPr>
            <a:spLocks xmlns:a="http://schemas.openxmlformats.org/drawingml/2006/main" noGrp="1"/>
          </p:cNvSpPr>
          <p:nvPr/>
        </p:nvSpPr>
        <p:spPr>
          <a:xfrm xmlns:a="http://schemas.openxmlformats.org/drawingml/2006/main">
            <a:off x="10858500" y="2286000"/>
            <a:ext cx="3810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83247"/>
                </a:solidFill>
                <a:latin typeface="Arial"/>
                <a:ea typeface="Arial"/>
                <a:cs typeface="Arial"/>
              </a:defRPr>
            </a:pPr>
            <a:r>
              <a:rPr sz="3000" b="1">
                <a:solidFill>
                  <a:srgbClr val="183247"/>
                </a:solidFill>
                <a:latin typeface="Arial"/>
                <a:ea typeface="Arial"/>
                <a:cs typeface="Arial"/>
              </a:rPr>
              <a:t>E = (60; 20)</a:t>
            </a:r>
          </a:p>
        </p:txBody>
      </p:sp>
      <p:sp>
        <p:nvSpPr>
          <p:cNvPr id="7" name="CS&#10;Boven P = 20&#10;en onder V">
            <a:extLst xmlns:a="http://schemas.openxmlformats.org/drawingml/2006/main">
              <a:ext uri="{FF2B5EF4-FFF2-40B4-BE49-F238E27FC236}">
                <a16:creationId xmlns:a16="http://schemas.microsoft.com/office/drawing/2014/main" id="{B842337F-DFE1-440F-BAF4-E41A0421FDDA}"/>
              </a:ext>
            </a:extLst>
          </p:cNvPr>
          <p:cNvSpPr>
            <a:spLocks xmlns:a="http://schemas.openxmlformats.org/drawingml/2006/main" noGrp="1"/>
          </p:cNvSpPr>
          <p:nvPr/>
        </p:nvSpPr>
        <p:spPr>
          <a:xfrm xmlns:a="http://schemas.openxmlformats.org/drawingml/2006/main">
            <a:off x="10858500" y="3581400"/>
            <a:ext cx="38100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7658A"/>
                </a:solidFill>
                <a:latin typeface="Arial"/>
                <a:ea typeface="Arial"/>
                <a:cs typeface="Arial"/>
              </a:defRPr>
            </a:pPr>
            <a:r>
              <a:rPr sz="2700" b="1">
                <a:solidFill>
                  <a:srgbClr val="17658A"/>
                </a:solidFill>
                <a:latin typeface="Arial"/>
                <a:ea typeface="Arial"/>
                <a:cs typeface="Arial"/>
              </a:rPr>
              <a:t>CS</a:t>
            </a:r>
          </a:p>
          <a:p xmlns:a="http://schemas.openxmlformats.org/drawingml/2006/main">
            <a:pPr algn="l">
              <a:defRPr sz="2700" b="1">
                <a:solidFill>
                  <a:srgbClr val="17658A"/>
                </a:solidFill>
                <a:latin typeface="Arial"/>
                <a:ea typeface="Arial"/>
                <a:cs typeface="Arial"/>
              </a:defRPr>
            </a:pPr>
            <a:r>
              <a:rPr sz="2700" b="1">
                <a:solidFill>
                  <a:srgbClr val="17658A"/>
                </a:solidFill>
                <a:latin typeface="Arial"/>
                <a:ea typeface="Arial"/>
                <a:cs typeface="Arial"/>
              </a:rPr>
              <a:t>Boven P = 20</a:t>
            </a:r>
          </a:p>
          <a:p xmlns:a="http://schemas.openxmlformats.org/drawingml/2006/main">
            <a:pPr algn="l">
              <a:defRPr sz="2700" b="1">
                <a:solidFill>
                  <a:srgbClr val="17658A"/>
                </a:solidFill>
                <a:latin typeface="Arial"/>
                <a:ea typeface="Arial"/>
                <a:cs typeface="Arial"/>
              </a:defRPr>
            </a:pPr>
            <a:r>
              <a:rPr sz="2700" b="1">
                <a:solidFill>
                  <a:srgbClr val="17658A"/>
                </a:solidFill>
                <a:latin typeface="Arial"/>
                <a:ea typeface="Arial"/>
                <a:cs typeface="Arial"/>
              </a:rPr>
              <a:t>en onder V</a:t>
            </a:r>
          </a:p>
        </p:txBody>
      </p:sp>
      <p:sp>
        <p:nvSpPr>
          <p:cNvPr id="8" name="PS&#10;Onder P = 20&#10;en boven A = MK">
            <a:extLst xmlns:a="http://schemas.openxmlformats.org/drawingml/2006/main">
              <a:ext uri="{FF2B5EF4-FFF2-40B4-BE49-F238E27FC236}">
                <a16:creationId xmlns:a16="http://schemas.microsoft.com/office/drawing/2014/main" id="{B3689B41-ED3C-485D-8520-92901440D9AC}"/>
              </a:ext>
            </a:extLst>
          </p:cNvPr>
          <p:cNvSpPr>
            <a:spLocks xmlns:a="http://schemas.openxmlformats.org/drawingml/2006/main" noGrp="1"/>
          </p:cNvSpPr>
          <p:nvPr/>
        </p:nvSpPr>
        <p:spPr>
          <a:xfrm xmlns:a="http://schemas.openxmlformats.org/drawingml/2006/main">
            <a:off x="10858500" y="5400675"/>
            <a:ext cx="3810000"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20665B"/>
                </a:solidFill>
                <a:latin typeface="Arial"/>
                <a:ea typeface="Arial"/>
                <a:cs typeface="Arial"/>
              </a:defRPr>
            </a:pPr>
            <a:r>
              <a:rPr sz="2700" b="1">
                <a:solidFill>
                  <a:srgbClr val="20665B"/>
                </a:solidFill>
                <a:latin typeface="Arial"/>
                <a:ea typeface="Arial"/>
                <a:cs typeface="Arial"/>
              </a:rPr>
              <a:t>PS</a:t>
            </a:r>
          </a:p>
          <a:p xmlns:a="http://schemas.openxmlformats.org/drawingml/2006/main">
            <a:pPr algn="l">
              <a:defRPr sz="2700" b="1">
                <a:solidFill>
                  <a:srgbClr val="20665B"/>
                </a:solidFill>
                <a:latin typeface="Arial"/>
                <a:ea typeface="Arial"/>
                <a:cs typeface="Arial"/>
              </a:defRPr>
            </a:pPr>
            <a:r>
              <a:rPr sz="2700" b="1">
                <a:solidFill>
                  <a:srgbClr val="20665B"/>
                </a:solidFill>
                <a:latin typeface="Arial"/>
                <a:ea typeface="Arial"/>
                <a:cs typeface="Arial"/>
              </a:rPr>
              <a:t>Onder P = 20</a:t>
            </a:r>
          </a:p>
          <a:p xmlns:a="http://schemas.openxmlformats.org/drawingml/2006/main">
            <a:pPr algn="l">
              <a:defRPr sz="2700" b="1">
                <a:solidFill>
                  <a:srgbClr val="20665B"/>
                </a:solidFill>
                <a:latin typeface="Arial"/>
                <a:ea typeface="Arial"/>
                <a:cs typeface="Arial"/>
              </a:defRPr>
            </a:pPr>
            <a:r>
              <a:rPr sz="2700" b="1">
                <a:solidFill>
                  <a:srgbClr val="20665B"/>
                </a:solidFill>
                <a:latin typeface="Arial"/>
                <a:ea typeface="Arial"/>
                <a:cs typeface="Arial"/>
              </a:rPr>
              <a:t>en boven A = MK</a:t>
            </a:r>
          </a:p>
        </p:txBody>
      </p:sp>
      <p:sp>
        <p:nvSpPr>
          <p:cNvPr id="9" name="Beide tot Q = 60.">
            <a:extLst xmlns:a="http://schemas.openxmlformats.org/drawingml/2006/main">
              <a:ext uri="{FF2B5EF4-FFF2-40B4-BE49-F238E27FC236}">
                <a16:creationId xmlns:a16="http://schemas.microsoft.com/office/drawing/2014/main" id="{92AF6749-B353-4B11-879A-202075AEB776}"/>
              </a:ext>
            </a:extLst>
          </p:cNvPr>
          <p:cNvSpPr>
            <a:spLocks xmlns:a="http://schemas.openxmlformats.org/drawingml/2006/main" noGrp="1"/>
          </p:cNvSpPr>
          <p:nvPr/>
        </p:nvSpPr>
        <p:spPr>
          <a:xfrm xmlns:a="http://schemas.openxmlformats.org/drawingml/2006/main">
            <a:off x="10858500" y="7343775"/>
            <a:ext cx="3810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183247"/>
                </a:solidFill>
                <a:latin typeface="Arial"/>
                <a:ea typeface="Arial"/>
                <a:cs typeface="Arial"/>
              </a:defRPr>
            </a:pPr>
            <a:r>
              <a:rPr sz="2475" b="1">
                <a:solidFill>
                  <a:srgbClr val="183247"/>
                </a:solidFill>
                <a:latin typeface="Arial"/>
                <a:ea typeface="Arial"/>
                <a:cs typeface="Arial"/>
              </a:rPr>
              <a:t>Beide tot Q = 60.</a:t>
            </a:r>
          </a:p>
        </p:txBody>
      </p:sp>
    </p:spTree>
    <p:extLst>
      <p:ext uri="{BB962C8B-B14F-4D97-AF65-F5344CB8AC3E}">
        <p14:creationId xmlns:p14="http://schemas.microsoft.com/office/powerpoint/2010/main" val="1263811488"/>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Opgave 8c · Consumentensurplus">
            <a:extLst xmlns:a="http://schemas.openxmlformats.org/drawingml/2006/main">
              <a:ext uri="{FF2B5EF4-FFF2-40B4-BE49-F238E27FC236}">
                <a16:creationId xmlns:a16="http://schemas.microsoft.com/office/drawing/2014/main" id="{6B1C207C-D05B-47CC-B67F-C6168147598E}"/>
              </a:ext>
            </a:extLst>
          </p:cNvPr>
          <p:cNvSpPr>
            <a:spLocks xmlns:a="http://schemas.openxmlformats.org/drawingml/2006/main" noGrp="1"/>
          </p:cNvSpPr>
          <p:nvPr/>
        </p:nvSpPr>
        <p:spPr>
          <a:xfrm xmlns:a="http://schemas.openxmlformats.org/drawingml/2006/main">
            <a:off x="571500" y="361950"/>
            <a:ext cx="14097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8c · Consumentensurplus</a:t>
            </a:r>
          </a:p>
        </p:txBody>
      </p:sp>
      <p:sp>
        <p:nvSpPr>
          <p:cNvPr id="2" name="">
            <a:extLst xmlns:a="http://schemas.openxmlformats.org/drawingml/2006/main">
              <a:ext uri="{FF2B5EF4-FFF2-40B4-BE49-F238E27FC236}">
                <a16:creationId xmlns:a16="http://schemas.microsoft.com/office/drawing/2014/main" id="{BB2110A8-5191-4535-86EC-CDE23F7A0B3A}"/>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2.3.2 · Doelopgave 8 · Boekpagina 89–90">
            <a:extLst xmlns:a="http://schemas.openxmlformats.org/drawingml/2006/main">
              <a:ext uri="{FF2B5EF4-FFF2-40B4-BE49-F238E27FC236}">
                <a16:creationId xmlns:a16="http://schemas.microsoft.com/office/drawing/2014/main" id="{AC109F04-E0A7-4C07-822D-F1067BC5AEE1}"/>
              </a:ext>
            </a:extLst>
          </p:cNvPr>
          <p:cNvSpPr>
            <a:spLocks xmlns:a="http://schemas.openxmlformats.org/drawingml/2006/main" noGrp="1"/>
          </p:cNvSpPr>
          <p:nvPr/>
        </p:nvSpPr>
        <p:spPr>
          <a:xfrm xmlns:a="http://schemas.openxmlformats.org/drawingml/2006/main">
            <a:off x="571500" y="8077200"/>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§2.3.2 · Doelopgave 8 · Boekpagina 89–90</a:t>
            </a:r>
          </a:p>
        </p:txBody>
      </p:sp>
      <p:sp>
        <p:nvSpPr>
          <p:cNvPr id="4" name="23">
            <a:extLst xmlns:a="http://schemas.openxmlformats.org/drawingml/2006/main">
              <a:ext uri="{FF2B5EF4-FFF2-40B4-BE49-F238E27FC236}">
                <a16:creationId xmlns:a16="http://schemas.microsoft.com/office/drawing/2014/main" id="{C5C7F850-424B-42DA-B36A-DB2B94215337}"/>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23</a:t>
            </a:r>
          </a:p>
        </p:txBody>
      </p:sp>
      <p:sp>
        <p:nvSpPr>
          <p:cNvPr id="5" name="Basis">
            <a:extLst xmlns:a="http://schemas.openxmlformats.org/drawingml/2006/main">
              <a:ext uri="{FF2B5EF4-FFF2-40B4-BE49-F238E27FC236}">
                <a16:creationId xmlns:a16="http://schemas.microsoft.com/office/drawing/2014/main" id="{BCD5E4C3-63A2-48E5-94F6-9A59A0629F96}"/>
              </a:ext>
            </a:extLst>
          </p:cNvPr>
          <p:cNvSpPr>
            <a:spLocks xmlns:a="http://schemas.openxmlformats.org/drawingml/2006/main" noGrp="1"/>
          </p:cNvSpPr>
          <p:nvPr/>
        </p:nvSpPr>
        <p:spPr>
          <a:xfrm xmlns:a="http://schemas.openxmlformats.org/drawingml/2006/main">
            <a:off x="571500" y="2343150"/>
            <a:ext cx="4953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7658A"/>
                </a:solidFill>
                <a:latin typeface="Arial"/>
                <a:ea typeface="Arial"/>
                <a:cs typeface="Arial"/>
              </a:defRPr>
            </a:pPr>
            <a:r>
              <a:rPr sz="2700" b="1">
                <a:solidFill>
                  <a:srgbClr val="17658A"/>
                </a:solidFill>
                <a:latin typeface="Arial"/>
                <a:ea typeface="Arial"/>
                <a:cs typeface="Arial"/>
              </a:rPr>
              <a:t>Basis</a:t>
            </a:r>
          </a:p>
        </p:txBody>
      </p:sp>
      <p:sp>
        <p:nvSpPr>
          <p:cNvPr id="6" name="60 kaartjes">
            <a:extLst xmlns:a="http://schemas.openxmlformats.org/drawingml/2006/main">
              <a:ext uri="{FF2B5EF4-FFF2-40B4-BE49-F238E27FC236}">
                <a16:creationId xmlns:a16="http://schemas.microsoft.com/office/drawing/2014/main" id="{84386890-35F4-4CD3-978B-5B0B794B65E2}"/>
              </a:ext>
            </a:extLst>
          </p:cNvPr>
          <p:cNvSpPr>
            <a:spLocks xmlns:a="http://schemas.openxmlformats.org/drawingml/2006/main" noGrp="1"/>
          </p:cNvSpPr>
          <p:nvPr/>
        </p:nvSpPr>
        <p:spPr>
          <a:xfrm xmlns:a="http://schemas.openxmlformats.org/drawingml/2006/main">
            <a:off x="5905500" y="2343150"/>
            <a:ext cx="8763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0">
                <a:solidFill>
                  <a:srgbClr val="183247"/>
                </a:solidFill>
                <a:latin typeface="Arial"/>
                <a:ea typeface="Arial"/>
                <a:cs typeface="Arial"/>
              </a:defRPr>
            </a:pPr>
            <a:r>
              <a:rPr sz="2850" b="0">
                <a:solidFill>
                  <a:srgbClr val="183247"/>
                </a:solidFill>
                <a:latin typeface="Arial"/>
                <a:ea typeface="Arial"/>
                <a:cs typeface="Arial"/>
              </a:rPr>
              <a:t>60 kaartjes</a:t>
            </a:r>
          </a:p>
        </p:txBody>
      </p:sp>
      <p:sp>
        <p:nvSpPr>
          <p:cNvPr id="7" name="Hoogte">
            <a:extLst xmlns:a="http://schemas.openxmlformats.org/drawingml/2006/main">
              <a:ext uri="{FF2B5EF4-FFF2-40B4-BE49-F238E27FC236}">
                <a16:creationId xmlns:a16="http://schemas.microsoft.com/office/drawing/2014/main" id="{5AC73706-5AC9-4D08-8467-1AE94DABF576}"/>
              </a:ext>
            </a:extLst>
          </p:cNvPr>
          <p:cNvSpPr>
            <a:spLocks xmlns:a="http://schemas.openxmlformats.org/drawingml/2006/main" noGrp="1"/>
          </p:cNvSpPr>
          <p:nvPr/>
        </p:nvSpPr>
        <p:spPr>
          <a:xfrm xmlns:a="http://schemas.openxmlformats.org/drawingml/2006/main">
            <a:off x="571500" y="3857625"/>
            <a:ext cx="4953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7658A"/>
                </a:solidFill>
                <a:latin typeface="Arial"/>
                <a:ea typeface="Arial"/>
                <a:cs typeface="Arial"/>
              </a:defRPr>
            </a:pPr>
            <a:r>
              <a:rPr sz="2700" b="1">
                <a:solidFill>
                  <a:srgbClr val="17658A"/>
                </a:solidFill>
                <a:latin typeface="Arial"/>
                <a:ea typeface="Arial"/>
                <a:cs typeface="Arial"/>
              </a:rPr>
              <a:t>Hoogte</a:t>
            </a:r>
          </a:p>
        </p:txBody>
      </p:sp>
      <p:sp>
        <p:nvSpPr>
          <p:cNvPr id="8" name="50 − 20 = € 30 per kaartje">
            <a:extLst xmlns:a="http://schemas.openxmlformats.org/drawingml/2006/main">
              <a:ext uri="{FF2B5EF4-FFF2-40B4-BE49-F238E27FC236}">
                <a16:creationId xmlns:a16="http://schemas.microsoft.com/office/drawing/2014/main" id="{68035435-ED67-47D5-A396-01825A6CE945}"/>
              </a:ext>
            </a:extLst>
          </p:cNvPr>
          <p:cNvSpPr>
            <a:spLocks xmlns:a="http://schemas.openxmlformats.org/drawingml/2006/main" noGrp="1"/>
          </p:cNvSpPr>
          <p:nvPr/>
        </p:nvSpPr>
        <p:spPr>
          <a:xfrm xmlns:a="http://schemas.openxmlformats.org/drawingml/2006/main">
            <a:off x="5905500" y="3857625"/>
            <a:ext cx="8763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0">
                <a:solidFill>
                  <a:srgbClr val="183247"/>
                </a:solidFill>
                <a:latin typeface="Arial"/>
                <a:ea typeface="Arial"/>
                <a:cs typeface="Arial"/>
              </a:defRPr>
            </a:pPr>
            <a:r>
              <a:rPr sz="2850" b="0">
                <a:solidFill>
                  <a:srgbClr val="183247"/>
                </a:solidFill>
                <a:latin typeface="Arial"/>
                <a:ea typeface="Arial"/>
                <a:cs typeface="Arial"/>
              </a:rPr>
              <a:t>50 − 20 = € 30 per kaartje</a:t>
            </a:r>
          </a:p>
        </p:txBody>
      </p:sp>
      <p:sp>
        <p:nvSpPr>
          <p:cNvPr id="9" name="Berekening">
            <a:extLst xmlns:a="http://schemas.openxmlformats.org/drawingml/2006/main">
              <a:ext uri="{FF2B5EF4-FFF2-40B4-BE49-F238E27FC236}">
                <a16:creationId xmlns:a16="http://schemas.microsoft.com/office/drawing/2014/main" id="{2773B3C4-7EBA-4188-A454-CFC7749CE176}"/>
              </a:ext>
            </a:extLst>
          </p:cNvPr>
          <p:cNvSpPr>
            <a:spLocks xmlns:a="http://schemas.openxmlformats.org/drawingml/2006/main" noGrp="1"/>
          </p:cNvSpPr>
          <p:nvPr/>
        </p:nvSpPr>
        <p:spPr>
          <a:xfrm xmlns:a="http://schemas.openxmlformats.org/drawingml/2006/main">
            <a:off x="571500" y="5372100"/>
            <a:ext cx="4953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7658A"/>
                </a:solidFill>
                <a:latin typeface="Arial"/>
                <a:ea typeface="Arial"/>
                <a:cs typeface="Arial"/>
              </a:defRPr>
            </a:pPr>
            <a:r>
              <a:rPr sz="2700" b="1">
                <a:solidFill>
                  <a:srgbClr val="17658A"/>
                </a:solidFill>
                <a:latin typeface="Arial"/>
                <a:ea typeface="Arial"/>
                <a:cs typeface="Arial"/>
              </a:rPr>
              <a:t>Berekening</a:t>
            </a:r>
          </a:p>
        </p:txBody>
      </p:sp>
      <p:sp>
        <p:nvSpPr>
          <p:cNvPr id="10" name="CS = ½ × 60 × 30 = € 900">
            <a:extLst xmlns:a="http://schemas.openxmlformats.org/drawingml/2006/main">
              <a:ext uri="{FF2B5EF4-FFF2-40B4-BE49-F238E27FC236}">
                <a16:creationId xmlns:a16="http://schemas.microsoft.com/office/drawing/2014/main" id="{1891703C-0E48-43B2-BA68-5C9EA42F7DB0}"/>
              </a:ext>
            </a:extLst>
          </p:cNvPr>
          <p:cNvSpPr>
            <a:spLocks xmlns:a="http://schemas.openxmlformats.org/drawingml/2006/main" noGrp="1"/>
          </p:cNvSpPr>
          <p:nvPr/>
        </p:nvSpPr>
        <p:spPr>
          <a:xfrm xmlns:a="http://schemas.openxmlformats.org/drawingml/2006/main">
            <a:off x="5905500" y="5372100"/>
            <a:ext cx="8763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0">
                <a:solidFill>
                  <a:srgbClr val="183247"/>
                </a:solidFill>
                <a:latin typeface="Arial"/>
                <a:ea typeface="Arial"/>
                <a:cs typeface="Arial"/>
              </a:defRPr>
            </a:pPr>
            <a:r>
              <a:rPr sz="2850" b="0">
                <a:solidFill>
                  <a:srgbClr val="183247"/>
                </a:solidFill>
                <a:latin typeface="Arial"/>
                <a:ea typeface="Arial"/>
                <a:cs typeface="Arial"/>
              </a:rPr>
              <a:t>CS = ½ × 60 × 30 = € 900</a:t>
            </a:r>
          </a:p>
        </p:txBody>
      </p:sp>
      <p:sp>
        <p:nvSpPr>
          <p:cNvPr id="11" name="Kopers hebben samen € 900 meer over dan ze betalen.">
            <a:extLst xmlns:a="http://schemas.openxmlformats.org/drawingml/2006/main">
              <a:ext uri="{FF2B5EF4-FFF2-40B4-BE49-F238E27FC236}">
                <a16:creationId xmlns:a16="http://schemas.microsoft.com/office/drawing/2014/main" id="{CE15C56E-0F2E-4D99-BEF2-9DF78868FBFD}"/>
              </a:ext>
            </a:extLst>
          </p:cNvPr>
          <p:cNvSpPr>
            <a:spLocks xmlns:a="http://schemas.openxmlformats.org/drawingml/2006/main" noGrp="1"/>
          </p:cNvSpPr>
          <p:nvPr/>
        </p:nvSpPr>
        <p:spPr>
          <a:xfrm xmlns:a="http://schemas.openxmlformats.org/drawingml/2006/main">
            <a:off x="571500" y="7172325"/>
            <a:ext cx="140970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7658A"/>
                </a:solidFill>
                <a:latin typeface="Arial"/>
                <a:ea typeface="Arial"/>
                <a:cs typeface="Arial"/>
              </a:defRPr>
            </a:pPr>
            <a:r>
              <a:rPr sz="3000" b="1">
                <a:solidFill>
                  <a:srgbClr val="17658A"/>
                </a:solidFill>
                <a:latin typeface="Arial"/>
                <a:ea typeface="Arial"/>
                <a:cs typeface="Arial"/>
              </a:rPr>
              <a:t>Kopers hebben samen € 900 meer over dan ze betalen.</a:t>
            </a:r>
          </a:p>
        </p:txBody>
      </p:sp>
    </p:spTree>
    <p:extLst>
      <p:ext uri="{BB962C8B-B14F-4D97-AF65-F5344CB8AC3E}">
        <p14:creationId xmlns:p14="http://schemas.microsoft.com/office/powerpoint/2010/main" val="848916804"/>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Opgave 8c · Producentensurplus en totaal">
            <a:extLst xmlns:a="http://schemas.openxmlformats.org/drawingml/2006/main">
              <a:ext uri="{FF2B5EF4-FFF2-40B4-BE49-F238E27FC236}">
                <a16:creationId xmlns:a16="http://schemas.microsoft.com/office/drawing/2014/main" id="{142D173B-7EF7-42C7-8C9F-4C4866A69B0F}"/>
              </a:ext>
            </a:extLst>
          </p:cNvPr>
          <p:cNvSpPr>
            <a:spLocks xmlns:a="http://schemas.openxmlformats.org/drawingml/2006/main" noGrp="1"/>
          </p:cNvSpPr>
          <p:nvPr/>
        </p:nvSpPr>
        <p:spPr>
          <a:xfrm xmlns:a="http://schemas.openxmlformats.org/drawingml/2006/main">
            <a:off x="571500" y="361950"/>
            <a:ext cx="14097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8c · Producentensurplus en totaal</a:t>
            </a:r>
          </a:p>
        </p:txBody>
      </p:sp>
      <p:sp>
        <p:nvSpPr>
          <p:cNvPr id="2" name="">
            <a:extLst xmlns:a="http://schemas.openxmlformats.org/drawingml/2006/main">
              <a:ext uri="{FF2B5EF4-FFF2-40B4-BE49-F238E27FC236}">
                <a16:creationId xmlns:a16="http://schemas.microsoft.com/office/drawing/2014/main" id="{B59BFABD-9CB6-42B6-8EB2-A580BBE1218C}"/>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2.3.2 · Doelopgave 8 · Boekpagina 89–90">
            <a:extLst xmlns:a="http://schemas.openxmlformats.org/drawingml/2006/main">
              <a:ext uri="{FF2B5EF4-FFF2-40B4-BE49-F238E27FC236}">
                <a16:creationId xmlns:a16="http://schemas.microsoft.com/office/drawing/2014/main" id="{E5554E13-88A3-4413-862E-FED40DF625B8}"/>
              </a:ext>
            </a:extLst>
          </p:cNvPr>
          <p:cNvSpPr>
            <a:spLocks xmlns:a="http://schemas.openxmlformats.org/drawingml/2006/main" noGrp="1"/>
          </p:cNvSpPr>
          <p:nvPr/>
        </p:nvSpPr>
        <p:spPr>
          <a:xfrm xmlns:a="http://schemas.openxmlformats.org/drawingml/2006/main">
            <a:off x="571500" y="8077200"/>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§2.3.2 · Doelopgave 8 · Boekpagina 89–90</a:t>
            </a:r>
          </a:p>
        </p:txBody>
      </p:sp>
      <p:sp>
        <p:nvSpPr>
          <p:cNvPr id="4" name="24">
            <a:extLst xmlns:a="http://schemas.openxmlformats.org/drawingml/2006/main">
              <a:ext uri="{FF2B5EF4-FFF2-40B4-BE49-F238E27FC236}">
                <a16:creationId xmlns:a16="http://schemas.microsoft.com/office/drawing/2014/main" id="{E11A7C61-BF53-4EA7-B24D-28F70AE034E6}"/>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24</a:t>
            </a:r>
          </a:p>
        </p:txBody>
      </p:sp>
      <p:sp>
        <p:nvSpPr>
          <p:cNvPr id="5" name="Basis">
            <a:extLst xmlns:a="http://schemas.openxmlformats.org/drawingml/2006/main">
              <a:ext uri="{FF2B5EF4-FFF2-40B4-BE49-F238E27FC236}">
                <a16:creationId xmlns:a16="http://schemas.microsoft.com/office/drawing/2014/main" id="{0C37BC7B-602F-4BA2-A5D8-AE5D6AA234A2}"/>
              </a:ext>
            </a:extLst>
          </p:cNvPr>
          <p:cNvSpPr>
            <a:spLocks xmlns:a="http://schemas.openxmlformats.org/drawingml/2006/main" noGrp="1"/>
          </p:cNvSpPr>
          <p:nvPr/>
        </p:nvSpPr>
        <p:spPr>
          <a:xfrm xmlns:a="http://schemas.openxmlformats.org/drawingml/2006/main">
            <a:off x="571500" y="2085975"/>
            <a:ext cx="4953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7658A"/>
                </a:solidFill>
                <a:latin typeface="Arial"/>
                <a:ea typeface="Arial"/>
                <a:cs typeface="Arial"/>
              </a:defRPr>
            </a:pPr>
            <a:r>
              <a:rPr sz="2700" b="1">
                <a:solidFill>
                  <a:srgbClr val="17658A"/>
                </a:solidFill>
                <a:latin typeface="Arial"/>
                <a:ea typeface="Arial"/>
                <a:cs typeface="Arial"/>
              </a:rPr>
              <a:t>Basis</a:t>
            </a:r>
          </a:p>
        </p:txBody>
      </p:sp>
      <p:sp>
        <p:nvSpPr>
          <p:cNvPr id="6" name="60 kaartjes">
            <a:extLst xmlns:a="http://schemas.openxmlformats.org/drawingml/2006/main">
              <a:ext uri="{FF2B5EF4-FFF2-40B4-BE49-F238E27FC236}">
                <a16:creationId xmlns:a16="http://schemas.microsoft.com/office/drawing/2014/main" id="{3B44161D-601C-4450-9FFE-9919CB0A08FD}"/>
              </a:ext>
            </a:extLst>
          </p:cNvPr>
          <p:cNvSpPr>
            <a:spLocks xmlns:a="http://schemas.openxmlformats.org/drawingml/2006/main" noGrp="1"/>
          </p:cNvSpPr>
          <p:nvPr/>
        </p:nvSpPr>
        <p:spPr>
          <a:xfrm xmlns:a="http://schemas.openxmlformats.org/drawingml/2006/main">
            <a:off x="5905500" y="2085975"/>
            <a:ext cx="8763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0">
                <a:solidFill>
                  <a:srgbClr val="183247"/>
                </a:solidFill>
                <a:latin typeface="Arial"/>
                <a:ea typeface="Arial"/>
                <a:cs typeface="Arial"/>
              </a:defRPr>
            </a:pPr>
            <a:r>
              <a:rPr sz="2850" b="0">
                <a:solidFill>
                  <a:srgbClr val="183247"/>
                </a:solidFill>
                <a:latin typeface="Arial"/>
                <a:ea typeface="Arial"/>
                <a:cs typeface="Arial"/>
              </a:rPr>
              <a:t>60 kaartjes</a:t>
            </a:r>
          </a:p>
        </p:txBody>
      </p:sp>
      <p:sp>
        <p:nvSpPr>
          <p:cNvPr id="7" name="Hoogte PS">
            <a:extLst xmlns:a="http://schemas.openxmlformats.org/drawingml/2006/main">
              <a:ext uri="{FF2B5EF4-FFF2-40B4-BE49-F238E27FC236}">
                <a16:creationId xmlns:a16="http://schemas.microsoft.com/office/drawing/2014/main" id="{2E88456C-A788-4984-BB87-15FDF9402E4B}"/>
              </a:ext>
            </a:extLst>
          </p:cNvPr>
          <p:cNvSpPr>
            <a:spLocks xmlns:a="http://schemas.openxmlformats.org/drawingml/2006/main" noGrp="1"/>
          </p:cNvSpPr>
          <p:nvPr/>
        </p:nvSpPr>
        <p:spPr>
          <a:xfrm xmlns:a="http://schemas.openxmlformats.org/drawingml/2006/main">
            <a:off x="571500" y="3429000"/>
            <a:ext cx="4953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7658A"/>
                </a:solidFill>
                <a:latin typeface="Arial"/>
                <a:ea typeface="Arial"/>
                <a:cs typeface="Arial"/>
              </a:defRPr>
            </a:pPr>
            <a:r>
              <a:rPr sz="2700" b="1">
                <a:solidFill>
                  <a:srgbClr val="17658A"/>
                </a:solidFill>
                <a:latin typeface="Arial"/>
                <a:ea typeface="Arial"/>
                <a:cs typeface="Arial"/>
              </a:rPr>
              <a:t>Hoogte PS</a:t>
            </a:r>
          </a:p>
        </p:txBody>
      </p:sp>
      <p:sp>
        <p:nvSpPr>
          <p:cNvPr id="8" name="20 − 5 = € 15 per kaartje">
            <a:extLst xmlns:a="http://schemas.openxmlformats.org/drawingml/2006/main">
              <a:ext uri="{FF2B5EF4-FFF2-40B4-BE49-F238E27FC236}">
                <a16:creationId xmlns:a16="http://schemas.microsoft.com/office/drawing/2014/main" id="{68BA822D-9B32-4B64-8B55-9AE59D2C9201}"/>
              </a:ext>
            </a:extLst>
          </p:cNvPr>
          <p:cNvSpPr>
            <a:spLocks xmlns:a="http://schemas.openxmlformats.org/drawingml/2006/main" noGrp="1"/>
          </p:cNvSpPr>
          <p:nvPr/>
        </p:nvSpPr>
        <p:spPr>
          <a:xfrm xmlns:a="http://schemas.openxmlformats.org/drawingml/2006/main">
            <a:off x="5905500" y="3429000"/>
            <a:ext cx="8763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0">
                <a:solidFill>
                  <a:srgbClr val="183247"/>
                </a:solidFill>
                <a:latin typeface="Arial"/>
                <a:ea typeface="Arial"/>
                <a:cs typeface="Arial"/>
              </a:defRPr>
            </a:pPr>
            <a:r>
              <a:rPr sz="2850" b="0">
                <a:solidFill>
                  <a:srgbClr val="183247"/>
                </a:solidFill>
                <a:latin typeface="Arial"/>
                <a:ea typeface="Arial"/>
                <a:cs typeface="Arial"/>
              </a:rPr>
              <a:t>20 − 5 = € 15 per kaartje</a:t>
            </a:r>
          </a:p>
        </p:txBody>
      </p:sp>
      <p:sp>
        <p:nvSpPr>
          <p:cNvPr id="9" name="Producentensurplus">
            <a:extLst xmlns:a="http://schemas.openxmlformats.org/drawingml/2006/main">
              <a:ext uri="{FF2B5EF4-FFF2-40B4-BE49-F238E27FC236}">
                <a16:creationId xmlns:a16="http://schemas.microsoft.com/office/drawing/2014/main" id="{103CFFF4-0154-4D35-9E08-83D295CAA5C7}"/>
              </a:ext>
            </a:extLst>
          </p:cNvPr>
          <p:cNvSpPr>
            <a:spLocks xmlns:a="http://schemas.openxmlformats.org/drawingml/2006/main" noGrp="1"/>
          </p:cNvSpPr>
          <p:nvPr/>
        </p:nvSpPr>
        <p:spPr>
          <a:xfrm xmlns:a="http://schemas.openxmlformats.org/drawingml/2006/main">
            <a:off x="571500" y="4772025"/>
            <a:ext cx="4953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7658A"/>
                </a:solidFill>
                <a:latin typeface="Arial"/>
                <a:ea typeface="Arial"/>
                <a:cs typeface="Arial"/>
              </a:defRPr>
            </a:pPr>
            <a:r>
              <a:rPr sz="2700" b="1">
                <a:solidFill>
                  <a:srgbClr val="17658A"/>
                </a:solidFill>
                <a:latin typeface="Arial"/>
                <a:ea typeface="Arial"/>
                <a:cs typeface="Arial"/>
              </a:rPr>
              <a:t>Producentensurplus</a:t>
            </a:r>
          </a:p>
        </p:txBody>
      </p:sp>
      <p:sp>
        <p:nvSpPr>
          <p:cNvPr id="10" name="PS = ½ × 60 × 15 = € 450">
            <a:extLst xmlns:a="http://schemas.openxmlformats.org/drawingml/2006/main">
              <a:ext uri="{FF2B5EF4-FFF2-40B4-BE49-F238E27FC236}">
                <a16:creationId xmlns:a16="http://schemas.microsoft.com/office/drawing/2014/main" id="{79C3E9D0-6056-4A31-8707-3AA8771DD426}"/>
              </a:ext>
            </a:extLst>
          </p:cNvPr>
          <p:cNvSpPr>
            <a:spLocks xmlns:a="http://schemas.openxmlformats.org/drawingml/2006/main" noGrp="1"/>
          </p:cNvSpPr>
          <p:nvPr/>
        </p:nvSpPr>
        <p:spPr>
          <a:xfrm xmlns:a="http://schemas.openxmlformats.org/drawingml/2006/main">
            <a:off x="5905500" y="4772025"/>
            <a:ext cx="8763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0">
                <a:solidFill>
                  <a:srgbClr val="183247"/>
                </a:solidFill>
                <a:latin typeface="Arial"/>
                <a:ea typeface="Arial"/>
                <a:cs typeface="Arial"/>
              </a:defRPr>
            </a:pPr>
            <a:r>
              <a:rPr sz="2850" b="0">
                <a:solidFill>
                  <a:srgbClr val="183247"/>
                </a:solidFill>
                <a:latin typeface="Arial"/>
                <a:ea typeface="Arial"/>
                <a:cs typeface="Arial"/>
              </a:rPr>
              <a:t>PS = ½ × 60 × 15 = € 450</a:t>
            </a:r>
          </a:p>
        </p:txBody>
      </p:sp>
      <p:sp>
        <p:nvSpPr>
          <p:cNvPr id="11" name="TS = CS + PS = 900 + 450 = € 1.350">
            <a:extLst xmlns:a="http://schemas.openxmlformats.org/drawingml/2006/main">
              <a:ext uri="{FF2B5EF4-FFF2-40B4-BE49-F238E27FC236}">
                <a16:creationId xmlns:a16="http://schemas.microsoft.com/office/drawing/2014/main" id="{34A14A00-DBE2-44B3-A5EC-38958C13F123}"/>
              </a:ext>
            </a:extLst>
          </p:cNvPr>
          <p:cNvSpPr>
            <a:spLocks xmlns:a="http://schemas.openxmlformats.org/drawingml/2006/main" noGrp="1"/>
          </p:cNvSpPr>
          <p:nvPr/>
        </p:nvSpPr>
        <p:spPr>
          <a:xfrm xmlns:a="http://schemas.openxmlformats.org/drawingml/2006/main">
            <a:off x="571500" y="6534150"/>
            <a:ext cx="14097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75" b="1">
                <a:solidFill>
                  <a:srgbClr val="A94D16"/>
                </a:solidFill>
                <a:latin typeface="Arial"/>
                <a:ea typeface="Arial"/>
                <a:cs typeface="Arial"/>
              </a:defRPr>
            </a:pPr>
            <a:r>
              <a:rPr sz="3375" b="1">
                <a:solidFill>
                  <a:srgbClr val="A94D16"/>
                </a:solidFill>
                <a:latin typeface="Arial"/>
                <a:ea typeface="Arial"/>
                <a:cs typeface="Arial"/>
              </a:rPr>
              <a:t>TS = CS + PS = 900 + 450 = € 1.350</a:t>
            </a:r>
          </a:p>
        </p:txBody>
      </p:sp>
      <p:sp>
        <p:nvSpPr>
          <p:cNvPr id="12" name="Controle: ½ × 60 × (50 − 5) = € 1.350">
            <a:extLst xmlns:a="http://schemas.openxmlformats.org/drawingml/2006/main">
              <a:ext uri="{FF2B5EF4-FFF2-40B4-BE49-F238E27FC236}">
                <a16:creationId xmlns:a16="http://schemas.microsoft.com/office/drawing/2014/main" id="{5F0AE013-1D3D-43B1-90E5-059FA38D3B2D}"/>
              </a:ext>
            </a:extLst>
          </p:cNvPr>
          <p:cNvSpPr>
            <a:spLocks xmlns:a="http://schemas.openxmlformats.org/drawingml/2006/main" noGrp="1"/>
          </p:cNvSpPr>
          <p:nvPr/>
        </p:nvSpPr>
        <p:spPr>
          <a:xfrm xmlns:a="http://schemas.openxmlformats.org/drawingml/2006/main">
            <a:off x="571500" y="7496175"/>
            <a:ext cx="14097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83247"/>
                </a:solidFill>
                <a:latin typeface="Arial"/>
                <a:ea typeface="Arial"/>
                <a:cs typeface="Arial"/>
              </a:defRPr>
            </a:pPr>
            <a:r>
              <a:rPr sz="2400" b="1">
                <a:solidFill>
                  <a:srgbClr val="183247"/>
                </a:solidFill>
                <a:latin typeface="Arial"/>
                <a:ea typeface="Arial"/>
                <a:cs typeface="Arial"/>
              </a:rPr>
              <a:t>Controle: ½ × 60 × (50 − 5) = € 1.350</a:t>
            </a:r>
          </a:p>
        </p:txBody>
      </p:sp>
    </p:spTree>
    <p:extLst>
      <p:ext uri="{BB962C8B-B14F-4D97-AF65-F5344CB8AC3E}">
        <p14:creationId xmlns:p14="http://schemas.microsoft.com/office/powerpoint/2010/main" val="1459162973"/>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Opgave 8d · Wat doet extra handel met TS?">
            <a:extLst xmlns:a="http://schemas.openxmlformats.org/drawingml/2006/main">
              <a:ext uri="{FF2B5EF4-FFF2-40B4-BE49-F238E27FC236}">
                <a16:creationId xmlns:a16="http://schemas.microsoft.com/office/drawing/2014/main" id="{2BAB1A58-6C8D-4AA2-911C-759A9650216D}"/>
              </a:ext>
            </a:extLst>
          </p:cNvPr>
          <p:cNvSpPr>
            <a:spLocks xmlns:a="http://schemas.openxmlformats.org/drawingml/2006/main" noGrp="1"/>
          </p:cNvSpPr>
          <p:nvPr/>
        </p:nvSpPr>
        <p:spPr>
          <a:xfrm xmlns:a="http://schemas.openxmlformats.org/drawingml/2006/main">
            <a:off x="571500" y="361950"/>
            <a:ext cx="14097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8d · Wat doet extra handel met TS?</a:t>
            </a:r>
          </a:p>
        </p:txBody>
      </p:sp>
      <p:sp>
        <p:nvSpPr>
          <p:cNvPr id="2" name="">
            <a:extLst xmlns:a="http://schemas.openxmlformats.org/drawingml/2006/main">
              <a:ext uri="{FF2B5EF4-FFF2-40B4-BE49-F238E27FC236}">
                <a16:creationId xmlns:a16="http://schemas.microsoft.com/office/drawing/2014/main" id="{7A839451-3973-4F82-8C3C-700C84AE1682}"/>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2.3.2 · Doelopgave 8 · Boekpagina 89–90">
            <a:extLst xmlns:a="http://schemas.openxmlformats.org/drawingml/2006/main">
              <a:ext uri="{FF2B5EF4-FFF2-40B4-BE49-F238E27FC236}">
                <a16:creationId xmlns:a16="http://schemas.microsoft.com/office/drawing/2014/main" id="{5845DD4D-74A4-4B33-8DDC-AAA816F21AE8}"/>
              </a:ext>
            </a:extLst>
          </p:cNvPr>
          <p:cNvSpPr>
            <a:spLocks xmlns:a="http://schemas.openxmlformats.org/drawingml/2006/main" noGrp="1"/>
          </p:cNvSpPr>
          <p:nvPr/>
        </p:nvSpPr>
        <p:spPr>
          <a:xfrm xmlns:a="http://schemas.openxmlformats.org/drawingml/2006/main">
            <a:off x="571500" y="8077200"/>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§2.3.2 · Doelopgave 8 · Boekpagina 89–90</a:t>
            </a:r>
          </a:p>
        </p:txBody>
      </p:sp>
      <p:sp>
        <p:nvSpPr>
          <p:cNvPr id="4" name="25">
            <a:extLst xmlns:a="http://schemas.openxmlformats.org/drawingml/2006/main">
              <a:ext uri="{FF2B5EF4-FFF2-40B4-BE49-F238E27FC236}">
                <a16:creationId xmlns:a16="http://schemas.microsoft.com/office/drawing/2014/main" id="{4DE39E16-4BEB-477C-85EA-E16D2A6F4C8E}"/>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25</a:t>
            </a:r>
          </a:p>
        </p:txBody>
      </p:sp>
      <p:graphicFrame>
        <p:nvGraphicFramePr>
          <p:cNvPr id="12" name=""/>
          <p:cNvGraphicFramePr/>
          <p:nvPr/>
        </p:nvGraphicFramePr>
        <p:xfrm>
          <a:off xmlns:a="http://schemas.openxmlformats.org/drawingml/2006/main" x="571500" y="2466975"/>
          <a:ext xmlns:a="http://schemas.openxmlformats.org/drawingml/2006/main" cx="14097000" cy="3000375"/>
        </p:xfrm>
        <a:graphic xmlns:a="http://schemas.openxmlformats.org/drawingml/2006/main">
          <a:graphicData uri="http://schemas.openxmlformats.org/drawingml/2006/table">
            <a:tbl>
              <a:tblPr/>
              <a:tblGrid>
                <a:gridCol w="1428750"/>
                <a:gridCol w="6286500"/>
                <a:gridCol w="2857500"/>
                <a:gridCol w="3524250"/>
              </a:tblGrid>
              <a:tr h="1000125">
                <a:tc>
                  <a:txBody>
                    <a:bodyPr lIns="171450" tIns="95250" rIns="152400" bIns="95250"/>
                    <a:lstStyle/>
                    <a:p>
                      <a:r>
                        <a:rPr sz="2550" b="1">
                          <a:solidFill>
                            <a:srgbClr val="FFFFFF"/>
                          </a:solidFill>
                          <a:latin typeface="Arial"/>
                          <a:ea typeface="Arial"/>
                          <a:cs typeface="Arial"/>
                        </a:rPr>
                        <a:t>Q</a:t>
                      </a:r>
                    </a:p>
                  </a:txBody>
                  <a:tcPr marL="91440" marR="91440" marT="45720" marB="45720" anchor="ctr">
                    <a:solidFill>
                      <a:srgbClr val="183247"/>
                    </a:solidFill>
                  </a:tcPr>
                </a:tc>
                <a:tc>
                  <a:txBody>
                    <a:bodyPr lIns="171450" tIns="95250" rIns="152400" bIns="95250"/>
                    <a:lstStyle/>
                    <a:p>
                      <a:r>
                        <a:rPr sz="2550" b="1">
                          <a:solidFill>
                            <a:srgbClr val="FFFFFF"/>
                          </a:solidFill>
                          <a:latin typeface="Arial"/>
                          <a:ea typeface="Arial"/>
                          <a:cs typeface="Arial"/>
                        </a:rPr>
                        <a:t>Betalingsbereidheid − MK</a:t>
                      </a:r>
                    </a:p>
                  </a:txBody>
                  <a:tcPr marL="91440" marR="91440" marT="45720" marB="45720" anchor="ctr">
                    <a:solidFill>
                      <a:srgbClr val="183247"/>
                    </a:solidFill>
                  </a:tcPr>
                </a:tc>
                <a:tc>
                  <a:txBody>
                    <a:bodyPr lIns="171450" tIns="95250" rIns="152400" bIns="95250"/>
                    <a:lstStyle/>
                    <a:p>
                      <a:r>
                        <a:rPr sz="2550" b="1">
                          <a:solidFill>
                            <a:srgbClr val="FFFFFF"/>
                          </a:solidFill>
                          <a:latin typeface="Arial"/>
                          <a:ea typeface="Arial"/>
                          <a:cs typeface="Arial"/>
                        </a:rPr>
                        <a:t>Verschil</a:t>
                      </a:r>
                    </a:p>
                  </a:txBody>
                  <a:tcPr marL="91440" marR="91440" marT="45720" marB="45720" anchor="ctr">
                    <a:solidFill>
                      <a:srgbClr val="183247"/>
                    </a:solidFill>
                  </a:tcPr>
                </a:tc>
                <a:tc>
                  <a:txBody>
                    <a:bodyPr lIns="171450" tIns="95250" rIns="152400" bIns="95250"/>
                    <a:lstStyle/>
                    <a:p>
                      <a:r>
                        <a:rPr sz="2550" b="1">
                          <a:solidFill>
                            <a:srgbClr val="FFFFFF"/>
                          </a:solidFill>
                          <a:latin typeface="Arial"/>
                          <a:ea typeface="Arial"/>
                          <a:cs typeface="Arial"/>
                        </a:rPr>
                        <a:t>Extra transactie</a:t>
                      </a:r>
                    </a:p>
                  </a:txBody>
                  <a:tcPr marL="91440" marR="91440" marT="45720" marB="45720" anchor="ctr">
                    <a:solidFill>
                      <a:srgbClr val="183247"/>
                    </a:solidFill>
                  </a:tcPr>
                </a:tc>
              </a:tr>
              <a:tr h="1000125">
                <a:tc>
                  <a:txBody>
                    <a:bodyPr lIns="171450" tIns="95250" rIns="152400" bIns="95250"/>
                    <a:lstStyle/>
                    <a:p>
                      <a:r>
                        <a:rPr sz="2550" b="0">
                          <a:solidFill>
                            <a:srgbClr val="183247"/>
                          </a:solidFill>
                          <a:latin typeface="Arial"/>
                          <a:ea typeface="Arial"/>
                          <a:cs typeface="Arial"/>
                        </a:rPr>
                        <a:t>50</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25 − 17,50</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 € 7,50</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Verhoogt TS</a:t>
                      </a:r>
                    </a:p>
                  </a:txBody>
                  <a:tcPr marL="91440" marR="91440" marT="45720" marB="45720" anchor="ctr">
                    <a:solidFill>
                      <a:srgbClr val="FFFFFF"/>
                    </a:solidFill>
                  </a:tcPr>
                </a:tc>
              </a:tr>
              <a:tr h="1000125">
                <a:tc>
                  <a:txBody>
                    <a:bodyPr lIns="171450" tIns="95250" rIns="152400" bIns="95250"/>
                    <a:lstStyle/>
                    <a:p>
                      <a:r>
                        <a:rPr sz="2550" b="0">
                          <a:solidFill>
                            <a:srgbClr val="183247"/>
                          </a:solidFill>
                          <a:latin typeface="Arial"/>
                          <a:ea typeface="Arial"/>
                          <a:cs typeface="Arial"/>
                        </a:rPr>
                        <a:t>70</a:t>
                      </a:r>
                    </a:p>
                  </a:txBody>
                  <a:tcPr marL="91440" marR="91440" marT="45720" marB="45720" anchor="ctr">
                    <a:solidFill>
                      <a:srgbClr val="EFF4F7"/>
                    </a:solidFill>
                  </a:tcPr>
                </a:tc>
                <a:tc>
                  <a:txBody>
                    <a:bodyPr lIns="171450" tIns="95250" rIns="152400" bIns="95250"/>
                    <a:lstStyle/>
                    <a:p>
                      <a:r>
                        <a:rPr sz="2550" b="0">
                          <a:solidFill>
                            <a:srgbClr val="183247"/>
                          </a:solidFill>
                          <a:latin typeface="Arial"/>
                          <a:ea typeface="Arial"/>
                          <a:cs typeface="Arial"/>
                        </a:rPr>
                        <a:t>15 − 22,50</a:t>
                      </a:r>
                    </a:p>
                  </a:txBody>
                  <a:tcPr marL="91440" marR="91440" marT="45720" marB="45720" anchor="ctr">
                    <a:solidFill>
                      <a:srgbClr val="EFF4F7"/>
                    </a:solidFill>
                  </a:tcPr>
                </a:tc>
                <a:tc>
                  <a:txBody>
                    <a:bodyPr lIns="171450" tIns="95250" rIns="152400" bIns="95250"/>
                    <a:lstStyle/>
                    <a:p>
                      <a:r>
                        <a:rPr sz="2550" b="0">
                          <a:solidFill>
                            <a:srgbClr val="183247"/>
                          </a:solidFill>
                          <a:latin typeface="Arial"/>
                          <a:ea typeface="Arial"/>
                          <a:cs typeface="Arial"/>
                        </a:rPr>
                        <a:t>− € 7,50</a:t>
                      </a:r>
                    </a:p>
                  </a:txBody>
                  <a:tcPr marL="91440" marR="91440" marT="45720" marB="45720" anchor="ctr">
                    <a:solidFill>
                      <a:srgbClr val="EFF4F7"/>
                    </a:solidFill>
                  </a:tcPr>
                </a:tc>
                <a:tc>
                  <a:txBody>
                    <a:bodyPr lIns="171450" tIns="95250" rIns="152400" bIns="95250"/>
                    <a:lstStyle/>
                    <a:p>
                      <a:r>
                        <a:rPr sz="2550" b="0">
                          <a:solidFill>
                            <a:srgbClr val="183247"/>
                          </a:solidFill>
                          <a:latin typeface="Arial"/>
                          <a:ea typeface="Arial"/>
                          <a:cs typeface="Arial"/>
                        </a:rPr>
                        <a:t>Verlaagt TS</a:t>
                      </a:r>
                    </a:p>
                  </a:txBody>
                  <a:tcPr marL="91440" marR="91440" marT="45720" marB="45720" anchor="ctr">
                    <a:solidFill>
                      <a:srgbClr val="EFF4F7"/>
                    </a:solidFill>
                  </a:tcPr>
                </a:tc>
              </a:tr>
            </a:tbl>
          </a:graphicData>
        </a:graphic>
      </p:graphicFrame>
      <p:sp>
        <p:nvSpPr>
          <p:cNvPr id="6" name="Bij 50 is de eenheid méér waard dan zij kost.">
            <a:extLst xmlns:a="http://schemas.openxmlformats.org/drawingml/2006/main">
              <a:ext uri="{FF2B5EF4-FFF2-40B4-BE49-F238E27FC236}">
                <a16:creationId xmlns:a16="http://schemas.microsoft.com/office/drawing/2014/main" id="{573FF7D2-1C7F-4429-97F0-E8C9E7312108}"/>
              </a:ext>
            </a:extLst>
          </p:cNvPr>
          <p:cNvSpPr>
            <a:spLocks xmlns:a="http://schemas.openxmlformats.org/drawingml/2006/main" noGrp="1"/>
          </p:cNvSpPr>
          <p:nvPr/>
        </p:nvSpPr>
        <p:spPr>
          <a:xfrm xmlns:a="http://schemas.openxmlformats.org/drawingml/2006/main">
            <a:off x="571500" y="6191250"/>
            <a:ext cx="14097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7658A"/>
                </a:solidFill>
                <a:latin typeface="Arial"/>
                <a:ea typeface="Arial"/>
                <a:cs typeface="Arial"/>
              </a:defRPr>
            </a:pPr>
            <a:r>
              <a:rPr sz="2925" b="1">
                <a:solidFill>
                  <a:srgbClr val="17658A"/>
                </a:solidFill>
                <a:latin typeface="Arial"/>
                <a:ea typeface="Arial"/>
                <a:cs typeface="Arial"/>
              </a:rPr>
              <a:t>Bij 50 is de eenheid méér waard dan zij kost.</a:t>
            </a:r>
          </a:p>
        </p:txBody>
      </p:sp>
      <p:sp>
        <p:nvSpPr>
          <p:cNvPr id="7" name="Bij 70 kost de eenheid méér dan zij waard is.">
            <a:extLst xmlns:a="http://schemas.openxmlformats.org/drawingml/2006/main">
              <a:ext uri="{FF2B5EF4-FFF2-40B4-BE49-F238E27FC236}">
                <a16:creationId xmlns:a16="http://schemas.microsoft.com/office/drawing/2014/main" id="{A5CCD9C3-26C2-4AAA-824D-83035A4A368B}"/>
              </a:ext>
            </a:extLst>
          </p:cNvPr>
          <p:cNvSpPr>
            <a:spLocks xmlns:a="http://schemas.openxmlformats.org/drawingml/2006/main" noGrp="1"/>
          </p:cNvSpPr>
          <p:nvPr/>
        </p:nvSpPr>
        <p:spPr>
          <a:xfrm xmlns:a="http://schemas.openxmlformats.org/drawingml/2006/main">
            <a:off x="571500" y="7229475"/>
            <a:ext cx="14097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A94D16"/>
                </a:solidFill>
                <a:latin typeface="Arial"/>
                <a:ea typeface="Arial"/>
                <a:cs typeface="Arial"/>
              </a:defRPr>
            </a:pPr>
            <a:r>
              <a:rPr sz="2925" b="1">
                <a:solidFill>
                  <a:srgbClr val="A94D16"/>
                </a:solidFill>
                <a:latin typeface="Arial"/>
                <a:ea typeface="Arial"/>
                <a:cs typeface="Arial"/>
              </a:rPr>
              <a:t>Bij 70 kost de eenheid méér dan zij waard is.</a:t>
            </a:r>
          </a:p>
        </p:txBody>
      </p:sp>
    </p:spTree>
    <p:extLst>
      <p:ext uri="{BB962C8B-B14F-4D97-AF65-F5344CB8AC3E}">
        <p14:creationId xmlns:p14="http://schemas.microsoft.com/office/powerpoint/2010/main" val="1203000647"/>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Opgave 8e · Maximaal TS en verdeling">
            <a:extLst xmlns:a="http://schemas.openxmlformats.org/drawingml/2006/main">
              <a:ext uri="{FF2B5EF4-FFF2-40B4-BE49-F238E27FC236}">
                <a16:creationId xmlns:a16="http://schemas.microsoft.com/office/drawing/2014/main" id="{2AD8F2E9-E436-4AFF-A838-61E41544936E}"/>
              </a:ext>
            </a:extLst>
          </p:cNvPr>
          <p:cNvSpPr>
            <a:spLocks xmlns:a="http://schemas.openxmlformats.org/drawingml/2006/main" noGrp="1"/>
          </p:cNvSpPr>
          <p:nvPr/>
        </p:nvSpPr>
        <p:spPr>
          <a:xfrm xmlns:a="http://schemas.openxmlformats.org/drawingml/2006/main">
            <a:off x="571500" y="361950"/>
            <a:ext cx="14097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8e · Maximaal TS en verdeling</a:t>
            </a:r>
          </a:p>
        </p:txBody>
      </p:sp>
      <p:sp>
        <p:nvSpPr>
          <p:cNvPr id="2" name="">
            <a:extLst xmlns:a="http://schemas.openxmlformats.org/drawingml/2006/main">
              <a:ext uri="{FF2B5EF4-FFF2-40B4-BE49-F238E27FC236}">
                <a16:creationId xmlns:a16="http://schemas.microsoft.com/office/drawing/2014/main" id="{AED5300E-AACA-4123-BB54-29B30027EABB}"/>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2.3.2 · Doelopgave 8 · Boekpagina 89–90">
            <a:extLst xmlns:a="http://schemas.openxmlformats.org/drawingml/2006/main">
              <a:ext uri="{FF2B5EF4-FFF2-40B4-BE49-F238E27FC236}">
                <a16:creationId xmlns:a16="http://schemas.microsoft.com/office/drawing/2014/main" id="{1C06DBFA-5529-40DA-AE46-B1462DA1C613}"/>
              </a:ext>
            </a:extLst>
          </p:cNvPr>
          <p:cNvSpPr>
            <a:spLocks xmlns:a="http://schemas.openxmlformats.org/drawingml/2006/main" noGrp="1"/>
          </p:cNvSpPr>
          <p:nvPr/>
        </p:nvSpPr>
        <p:spPr>
          <a:xfrm xmlns:a="http://schemas.openxmlformats.org/drawingml/2006/main">
            <a:off x="571500" y="8077200"/>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§2.3.2 · Doelopgave 8 · Boekpagina 89–90</a:t>
            </a:r>
          </a:p>
        </p:txBody>
      </p:sp>
      <p:sp>
        <p:nvSpPr>
          <p:cNvPr id="4" name="26">
            <a:extLst xmlns:a="http://schemas.openxmlformats.org/drawingml/2006/main">
              <a:ext uri="{FF2B5EF4-FFF2-40B4-BE49-F238E27FC236}">
                <a16:creationId xmlns:a16="http://schemas.microsoft.com/office/drawing/2014/main" id="{968BF546-2719-43BE-85ED-B63741981B17}"/>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26</a:t>
            </a:r>
          </a:p>
        </p:txBody>
      </p:sp>
      <p:sp>
        <p:nvSpPr>
          <p:cNvPr id="5" name="Tot Q = 60">
            <a:extLst xmlns:a="http://schemas.openxmlformats.org/drawingml/2006/main">
              <a:ext uri="{FF2B5EF4-FFF2-40B4-BE49-F238E27FC236}">
                <a16:creationId xmlns:a16="http://schemas.microsoft.com/office/drawing/2014/main" id="{2539A30E-8CA5-4093-AAAE-C6CDDBD94443}"/>
              </a:ext>
            </a:extLst>
          </p:cNvPr>
          <p:cNvSpPr>
            <a:spLocks xmlns:a="http://schemas.openxmlformats.org/drawingml/2006/main" noGrp="1"/>
          </p:cNvSpPr>
          <p:nvPr/>
        </p:nvSpPr>
        <p:spPr>
          <a:xfrm xmlns:a="http://schemas.openxmlformats.org/drawingml/2006/main">
            <a:off x="571500" y="2133600"/>
            <a:ext cx="4953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7658A"/>
                </a:solidFill>
                <a:latin typeface="Arial"/>
                <a:ea typeface="Arial"/>
                <a:cs typeface="Arial"/>
              </a:defRPr>
            </a:pPr>
            <a:r>
              <a:rPr sz="2700" b="1">
                <a:solidFill>
                  <a:srgbClr val="17658A"/>
                </a:solidFill>
                <a:latin typeface="Arial"/>
                <a:ea typeface="Arial"/>
                <a:cs typeface="Arial"/>
              </a:rPr>
              <a:t>Tot Q = 60</a:t>
            </a:r>
          </a:p>
        </p:txBody>
      </p:sp>
      <p:sp>
        <p:nvSpPr>
          <p:cNvPr id="6" name="Betalingsbereidheid ≥ MK: handel levert gezamenlijk voordeel.">
            <a:extLst xmlns:a="http://schemas.openxmlformats.org/drawingml/2006/main">
              <a:ext uri="{FF2B5EF4-FFF2-40B4-BE49-F238E27FC236}">
                <a16:creationId xmlns:a16="http://schemas.microsoft.com/office/drawing/2014/main" id="{CFFF2639-445E-46D5-B92D-477B7269A38A}"/>
              </a:ext>
            </a:extLst>
          </p:cNvPr>
          <p:cNvSpPr>
            <a:spLocks xmlns:a="http://schemas.openxmlformats.org/drawingml/2006/main" noGrp="1"/>
          </p:cNvSpPr>
          <p:nvPr/>
        </p:nvSpPr>
        <p:spPr>
          <a:xfrm xmlns:a="http://schemas.openxmlformats.org/drawingml/2006/main">
            <a:off x="5905500" y="2133600"/>
            <a:ext cx="8763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0">
                <a:solidFill>
                  <a:srgbClr val="183247"/>
                </a:solidFill>
                <a:latin typeface="Arial"/>
                <a:ea typeface="Arial"/>
                <a:cs typeface="Arial"/>
              </a:defRPr>
            </a:pPr>
            <a:r>
              <a:rPr sz="2850" b="0">
                <a:solidFill>
                  <a:srgbClr val="183247"/>
                </a:solidFill>
                <a:latin typeface="Arial"/>
                <a:ea typeface="Arial"/>
                <a:cs typeface="Arial"/>
              </a:rPr>
              <a:t>Betalingsbereidheid ≥ MK: handel levert gezamenlijk voordeel.</a:t>
            </a:r>
          </a:p>
        </p:txBody>
      </p:sp>
      <p:sp>
        <p:nvSpPr>
          <p:cNvPr id="7" name="Na Q = 60">
            <a:extLst xmlns:a="http://schemas.openxmlformats.org/drawingml/2006/main">
              <a:ext uri="{FF2B5EF4-FFF2-40B4-BE49-F238E27FC236}">
                <a16:creationId xmlns:a16="http://schemas.microsoft.com/office/drawing/2014/main" id="{F90ABAD1-A43F-4AC1-8230-C194BA69B556}"/>
              </a:ext>
            </a:extLst>
          </p:cNvPr>
          <p:cNvSpPr>
            <a:spLocks xmlns:a="http://schemas.openxmlformats.org/drawingml/2006/main" noGrp="1"/>
          </p:cNvSpPr>
          <p:nvPr/>
        </p:nvSpPr>
        <p:spPr>
          <a:xfrm xmlns:a="http://schemas.openxmlformats.org/drawingml/2006/main">
            <a:off x="571500" y="3648075"/>
            <a:ext cx="4953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7658A"/>
                </a:solidFill>
                <a:latin typeface="Arial"/>
                <a:ea typeface="Arial"/>
                <a:cs typeface="Arial"/>
              </a:defRPr>
            </a:pPr>
            <a:r>
              <a:rPr sz="2700" b="1">
                <a:solidFill>
                  <a:srgbClr val="17658A"/>
                </a:solidFill>
                <a:latin typeface="Arial"/>
                <a:ea typeface="Arial"/>
                <a:cs typeface="Arial"/>
              </a:rPr>
              <a:t>Na Q = 60</a:t>
            </a:r>
          </a:p>
        </p:txBody>
      </p:sp>
      <p:sp>
        <p:nvSpPr>
          <p:cNvPr id="8" name="MK &gt; betalingsbereidheid: extra handel verlaagt TS.">
            <a:extLst xmlns:a="http://schemas.openxmlformats.org/drawingml/2006/main">
              <a:ext uri="{FF2B5EF4-FFF2-40B4-BE49-F238E27FC236}">
                <a16:creationId xmlns:a16="http://schemas.microsoft.com/office/drawing/2014/main" id="{6D0A7C92-665D-4AE3-8B45-BAA9D69E06DE}"/>
              </a:ext>
            </a:extLst>
          </p:cNvPr>
          <p:cNvSpPr>
            <a:spLocks xmlns:a="http://schemas.openxmlformats.org/drawingml/2006/main" noGrp="1"/>
          </p:cNvSpPr>
          <p:nvPr/>
        </p:nvSpPr>
        <p:spPr>
          <a:xfrm xmlns:a="http://schemas.openxmlformats.org/drawingml/2006/main">
            <a:off x="5905500" y="3648075"/>
            <a:ext cx="8763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0">
                <a:solidFill>
                  <a:srgbClr val="183247"/>
                </a:solidFill>
                <a:latin typeface="Arial"/>
                <a:ea typeface="Arial"/>
                <a:cs typeface="Arial"/>
              </a:defRPr>
            </a:pPr>
            <a:r>
              <a:rPr sz="2850" b="0">
                <a:solidFill>
                  <a:srgbClr val="183247"/>
                </a:solidFill>
                <a:latin typeface="Arial"/>
                <a:ea typeface="Arial"/>
                <a:cs typeface="Arial"/>
              </a:rPr>
              <a:t>MK &gt; betalingsbereidheid: extra handel verlaagt TS.</a:t>
            </a:r>
          </a:p>
        </p:txBody>
      </p:sp>
      <p:sp>
        <p:nvSpPr>
          <p:cNvPr id="9" name="Conclusie">
            <a:extLst xmlns:a="http://schemas.openxmlformats.org/drawingml/2006/main">
              <a:ext uri="{FF2B5EF4-FFF2-40B4-BE49-F238E27FC236}">
                <a16:creationId xmlns:a16="http://schemas.microsoft.com/office/drawing/2014/main" id="{7F7E0B3A-FCE1-4706-A982-8C62886AE8A1}"/>
              </a:ext>
            </a:extLst>
          </p:cNvPr>
          <p:cNvSpPr>
            <a:spLocks xmlns:a="http://schemas.openxmlformats.org/drawingml/2006/main" noGrp="1"/>
          </p:cNvSpPr>
          <p:nvPr/>
        </p:nvSpPr>
        <p:spPr>
          <a:xfrm xmlns:a="http://schemas.openxmlformats.org/drawingml/2006/main">
            <a:off x="571500" y="5162550"/>
            <a:ext cx="4953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7658A"/>
                </a:solidFill>
                <a:latin typeface="Arial"/>
                <a:ea typeface="Arial"/>
                <a:cs typeface="Arial"/>
              </a:defRPr>
            </a:pPr>
            <a:r>
              <a:rPr sz="2700" b="1">
                <a:solidFill>
                  <a:srgbClr val="17658A"/>
                </a:solidFill>
                <a:latin typeface="Arial"/>
                <a:ea typeface="Arial"/>
                <a:cs typeface="Arial"/>
              </a:rPr>
              <a:t>Conclusie</a:t>
            </a:r>
          </a:p>
        </p:txBody>
      </p:sp>
      <p:sp>
        <p:nvSpPr>
          <p:cNvPr id="10" name="TS is maximaal bij Q = 60, binnen dit model.">
            <a:extLst xmlns:a="http://schemas.openxmlformats.org/drawingml/2006/main">
              <a:ext uri="{FF2B5EF4-FFF2-40B4-BE49-F238E27FC236}">
                <a16:creationId xmlns:a16="http://schemas.microsoft.com/office/drawing/2014/main" id="{83CE88B9-01B3-4DEF-B68B-E59053FE9198}"/>
              </a:ext>
            </a:extLst>
          </p:cNvPr>
          <p:cNvSpPr>
            <a:spLocks xmlns:a="http://schemas.openxmlformats.org/drawingml/2006/main" noGrp="1"/>
          </p:cNvSpPr>
          <p:nvPr/>
        </p:nvSpPr>
        <p:spPr>
          <a:xfrm xmlns:a="http://schemas.openxmlformats.org/drawingml/2006/main">
            <a:off x="5905500" y="5162550"/>
            <a:ext cx="8763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0">
                <a:solidFill>
                  <a:srgbClr val="183247"/>
                </a:solidFill>
                <a:latin typeface="Arial"/>
                <a:ea typeface="Arial"/>
                <a:cs typeface="Arial"/>
              </a:defRPr>
            </a:pPr>
            <a:r>
              <a:rPr sz="2850" b="0">
                <a:solidFill>
                  <a:srgbClr val="183247"/>
                </a:solidFill>
                <a:latin typeface="Arial"/>
                <a:ea typeface="Arial"/>
                <a:cs typeface="Arial"/>
              </a:rPr>
              <a:t>TS is maximaal bij Q = 60, binnen dit model.</a:t>
            </a:r>
          </a:p>
        </p:txBody>
      </p:sp>
      <p:sp>
        <p:nvSpPr>
          <p:cNvPr id="11" name="De functies bevatten geen norm voor een eerlijke verdeling.">
            <a:extLst xmlns:a="http://schemas.openxmlformats.org/drawingml/2006/main">
              <a:ext uri="{FF2B5EF4-FFF2-40B4-BE49-F238E27FC236}">
                <a16:creationId xmlns:a16="http://schemas.microsoft.com/office/drawing/2014/main" id="{731AF64E-306E-4A5D-B1D4-C065F887BDDA}"/>
              </a:ext>
            </a:extLst>
          </p:cNvPr>
          <p:cNvSpPr>
            <a:spLocks xmlns:a="http://schemas.openxmlformats.org/drawingml/2006/main" noGrp="1"/>
          </p:cNvSpPr>
          <p:nvPr/>
        </p:nvSpPr>
        <p:spPr>
          <a:xfrm xmlns:a="http://schemas.openxmlformats.org/drawingml/2006/main">
            <a:off x="571500" y="7143750"/>
            <a:ext cx="140970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A94D16"/>
                </a:solidFill>
                <a:latin typeface="Arial"/>
                <a:ea typeface="Arial"/>
                <a:cs typeface="Arial"/>
              </a:defRPr>
            </a:pPr>
            <a:r>
              <a:rPr sz="3000" b="1">
                <a:solidFill>
                  <a:srgbClr val="A94D16"/>
                </a:solidFill>
                <a:latin typeface="Arial"/>
                <a:ea typeface="Arial"/>
                <a:cs typeface="Arial"/>
              </a:rPr>
              <a:t>De functies bevatten geen norm voor een eerlijke verdeling.</a:t>
            </a:r>
          </a:p>
        </p:txBody>
      </p:sp>
    </p:spTree>
    <p:extLst>
      <p:ext uri="{BB962C8B-B14F-4D97-AF65-F5344CB8AC3E}">
        <p14:creationId xmlns:p14="http://schemas.microsoft.com/office/powerpoint/2010/main" val="1452135310"/>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Deze les: §2.3.2 Producentensurplus en totaal surplus">
            <a:extLst xmlns:a="http://schemas.openxmlformats.org/drawingml/2006/main">
              <a:ext uri="{FF2B5EF4-FFF2-40B4-BE49-F238E27FC236}">
                <a16:creationId xmlns:a16="http://schemas.microsoft.com/office/drawing/2014/main" id="{59B40878-836F-482F-91F5-D083DDCA68BE}"/>
              </a:ext>
            </a:extLst>
          </p:cNvPr>
          <p:cNvSpPr>
            <a:spLocks xmlns:a="http://schemas.openxmlformats.org/drawingml/2006/main" noGrp="1"/>
          </p:cNvSpPr>
          <p:nvPr/>
        </p:nvSpPr>
        <p:spPr>
          <a:xfrm xmlns:a="http://schemas.openxmlformats.org/drawingml/2006/main">
            <a:off x="571500" y="361950"/>
            <a:ext cx="14097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83247"/>
                </a:solidFill>
                <a:latin typeface="Arial"/>
                <a:ea typeface="Arial"/>
                <a:cs typeface="Arial"/>
              </a:defRPr>
            </a:pPr>
            <a:r>
              <a:rPr sz="3300" b="1">
                <a:solidFill>
                  <a:srgbClr val="183247"/>
                </a:solidFill>
                <a:latin typeface="Arial"/>
                <a:ea typeface="Arial"/>
                <a:cs typeface="Arial"/>
              </a:rPr>
              <a:t>Deze les: §2.3.2 Producentensurplus en totaal surplus</a:t>
            </a:r>
          </a:p>
        </p:txBody>
      </p:sp>
      <p:sp>
        <p:nvSpPr>
          <p:cNvPr id="2" name="">
            <a:extLst xmlns:a="http://schemas.openxmlformats.org/drawingml/2006/main">
              <a:ext uri="{FF2B5EF4-FFF2-40B4-BE49-F238E27FC236}">
                <a16:creationId xmlns:a16="http://schemas.microsoft.com/office/drawing/2014/main" id="{8EBE4CBF-686A-4F91-8222-7E3320801FC3}"/>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2.3.2 Producentensurplus en totaal surplus">
            <a:extLst xmlns:a="http://schemas.openxmlformats.org/drawingml/2006/main">
              <a:ext uri="{FF2B5EF4-FFF2-40B4-BE49-F238E27FC236}">
                <a16:creationId xmlns:a16="http://schemas.microsoft.com/office/drawing/2014/main" id="{BB7AF7B9-DFBF-42D7-8BBD-06AFF26C7B30}"/>
              </a:ext>
            </a:extLst>
          </p:cNvPr>
          <p:cNvSpPr>
            <a:spLocks xmlns:a="http://schemas.openxmlformats.org/drawingml/2006/main" noGrp="1"/>
          </p:cNvSpPr>
          <p:nvPr/>
        </p:nvSpPr>
        <p:spPr>
          <a:xfrm xmlns:a="http://schemas.openxmlformats.org/drawingml/2006/main">
            <a:off x="571500" y="8077200"/>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§2.3.2 Producentensurplus en totaal surplus</a:t>
            </a:r>
          </a:p>
        </p:txBody>
      </p:sp>
      <p:sp>
        <p:nvSpPr>
          <p:cNvPr id="4" name="27">
            <a:extLst xmlns:a="http://schemas.openxmlformats.org/drawingml/2006/main">
              <a:ext uri="{FF2B5EF4-FFF2-40B4-BE49-F238E27FC236}">
                <a16:creationId xmlns:a16="http://schemas.microsoft.com/office/drawing/2014/main" id="{811B9064-42F9-4967-B29E-F62667A3AED4}"/>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27</a:t>
            </a:r>
          </a:p>
        </p:txBody>
      </p:sp>
      <p:sp>
        <p:nvSpPr>
          <p:cNvPr id="5" name="phase">
            <a:extLst xmlns:a="http://schemas.openxmlformats.org/drawingml/2006/main">
              <a:ext uri="{FF2B5EF4-FFF2-40B4-BE49-F238E27FC236}">
                <a16:creationId xmlns:a16="http://schemas.microsoft.com/office/drawing/2014/main" id="{A45E1CAD-2CED-41F2-9F15-85D8B984F949}"/>
              </a:ext>
            </a:extLst>
          </p:cNvPr>
          <p:cNvSpPr>
            <a:spLocks xmlns:a="http://schemas.openxmlformats.org/drawingml/2006/main" noGrp="1"/>
          </p:cNvSpPr>
          <p:nvPr/>
        </p:nvSpPr>
        <p:spPr>
          <a:xfrm xmlns:a="http://schemas.openxmlformats.org/drawingml/2006/main">
            <a:off x="571500" y="1000125"/>
            <a:ext cx="13811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Nu: Afsluiting / huiswerk</a:t>
            </a:r>
          </a:p>
        </p:txBody>
      </p:sp>
      <p:sp>
        <p:nvSpPr>
          <p:cNvPr id="6" name="Lesroute">
            <a:extLst xmlns:a="http://schemas.openxmlformats.org/drawingml/2006/main">
              <a:ext uri="{FF2B5EF4-FFF2-40B4-BE49-F238E27FC236}">
                <a16:creationId xmlns:a16="http://schemas.microsoft.com/office/drawing/2014/main" id="{A946FF02-F3A3-4A88-9CCF-5FFE2440BAF2}"/>
              </a:ext>
            </a:extLst>
          </p:cNvPr>
          <p:cNvSpPr>
            <a:spLocks xmlns:a="http://schemas.openxmlformats.org/drawingml/2006/main" noGrp="1"/>
          </p:cNvSpPr>
          <p:nvPr/>
        </p:nvSpPr>
        <p:spPr>
          <a:xfrm xmlns:a="http://schemas.openxmlformats.org/drawingml/2006/main">
            <a:off x="571500" y="1762125"/>
            <a:ext cx="7953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Lesroute</a:t>
            </a:r>
          </a:p>
        </p:txBody>
      </p:sp>
      <p:sp>
        <p:nvSpPr>
          <p:cNvPr id="7" name="route-number-1">
            <a:extLst xmlns:a="http://schemas.openxmlformats.org/drawingml/2006/main">
              <a:ext uri="{FF2B5EF4-FFF2-40B4-BE49-F238E27FC236}">
                <a16:creationId xmlns:a16="http://schemas.microsoft.com/office/drawing/2014/main" id="{20C16C4E-2FDB-4D8C-8001-84C70CA45B38}"/>
              </a:ext>
            </a:extLst>
          </p:cNvPr>
          <p:cNvSpPr>
            <a:spLocks xmlns:a="http://schemas.openxmlformats.org/drawingml/2006/main" noGrp="1"/>
          </p:cNvSpPr>
          <p:nvPr/>
        </p:nvSpPr>
        <p:spPr>
          <a:xfrm xmlns:a="http://schemas.openxmlformats.org/drawingml/2006/main">
            <a:off x="571500" y="2324100"/>
            <a:ext cx="457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1.</a:t>
            </a:r>
          </a:p>
        </p:txBody>
      </p:sp>
      <p:sp>
        <p:nvSpPr>
          <p:cNvPr id="8" name="route-1">
            <a:extLst xmlns:a="http://schemas.openxmlformats.org/drawingml/2006/main">
              <a:ext uri="{FF2B5EF4-FFF2-40B4-BE49-F238E27FC236}">
                <a16:creationId xmlns:a16="http://schemas.microsoft.com/office/drawing/2014/main" id="{3E303548-A3FF-4042-A714-B139760B5B4C}"/>
              </a:ext>
            </a:extLst>
          </p:cNvPr>
          <p:cNvSpPr>
            <a:spLocks xmlns:a="http://schemas.openxmlformats.org/drawingml/2006/main" noGrp="1"/>
          </p:cNvSpPr>
          <p:nvPr/>
        </p:nvSpPr>
        <p:spPr>
          <a:xfrm xmlns:a="http://schemas.openxmlformats.org/drawingml/2006/main">
            <a:off x="1104900" y="2324100"/>
            <a:ext cx="7524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Jas in de kluis of aan de kapstok. Pak agenda, schrift, pen en rekenmachine.</a:t>
            </a:r>
          </a:p>
        </p:txBody>
      </p:sp>
      <p:sp>
        <p:nvSpPr>
          <p:cNvPr id="9" name="route-number-2">
            <a:extLst xmlns:a="http://schemas.openxmlformats.org/drawingml/2006/main">
              <a:ext uri="{FF2B5EF4-FFF2-40B4-BE49-F238E27FC236}">
                <a16:creationId xmlns:a16="http://schemas.microsoft.com/office/drawing/2014/main" id="{A33D2D24-B34F-4E6D-BFC2-2E9D226EEBB9}"/>
              </a:ext>
            </a:extLst>
          </p:cNvPr>
          <p:cNvSpPr>
            <a:spLocks xmlns:a="http://schemas.openxmlformats.org/drawingml/2006/main" noGrp="1"/>
          </p:cNvSpPr>
          <p:nvPr/>
        </p:nvSpPr>
        <p:spPr>
          <a:xfrm xmlns:a="http://schemas.openxmlformats.org/drawingml/2006/main">
            <a:off x="571500" y="320040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2.</a:t>
            </a:r>
          </a:p>
        </p:txBody>
      </p:sp>
      <p:sp>
        <p:nvSpPr>
          <p:cNvPr id="10" name="route-2">
            <a:extLst xmlns:a="http://schemas.openxmlformats.org/drawingml/2006/main">
              <a:ext uri="{FF2B5EF4-FFF2-40B4-BE49-F238E27FC236}">
                <a16:creationId xmlns:a16="http://schemas.microsoft.com/office/drawing/2014/main" id="{52AF05DC-CFD6-42B1-8CC9-3CCE0181BB72}"/>
              </a:ext>
            </a:extLst>
          </p:cNvPr>
          <p:cNvSpPr>
            <a:spLocks xmlns:a="http://schemas.openxmlformats.org/drawingml/2006/main" noGrp="1"/>
          </p:cNvSpPr>
          <p:nvPr/>
        </p:nvSpPr>
        <p:spPr>
          <a:xfrm xmlns:a="http://schemas.openxmlformats.org/drawingml/2006/main">
            <a:off x="1104900" y="3200400"/>
            <a:ext cx="7524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Maak de startopdracht.</a:t>
            </a:r>
          </a:p>
        </p:txBody>
      </p:sp>
      <p:sp>
        <p:nvSpPr>
          <p:cNvPr id="11" name="route-number-3">
            <a:extLst xmlns:a="http://schemas.openxmlformats.org/drawingml/2006/main">
              <a:ext uri="{FF2B5EF4-FFF2-40B4-BE49-F238E27FC236}">
                <a16:creationId xmlns:a16="http://schemas.microsoft.com/office/drawing/2014/main" id="{AEECE0D5-7D3F-457A-908D-03468FC1BFFB}"/>
              </a:ext>
            </a:extLst>
          </p:cNvPr>
          <p:cNvSpPr>
            <a:spLocks xmlns:a="http://schemas.openxmlformats.org/drawingml/2006/main" noGrp="1"/>
          </p:cNvSpPr>
          <p:nvPr/>
        </p:nvSpPr>
        <p:spPr>
          <a:xfrm xmlns:a="http://schemas.openxmlformats.org/drawingml/2006/main">
            <a:off x="571500" y="371475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3.</a:t>
            </a:r>
          </a:p>
        </p:txBody>
      </p:sp>
      <p:sp>
        <p:nvSpPr>
          <p:cNvPr id="12" name="route-3">
            <a:extLst xmlns:a="http://schemas.openxmlformats.org/drawingml/2006/main">
              <a:ext uri="{FF2B5EF4-FFF2-40B4-BE49-F238E27FC236}">
                <a16:creationId xmlns:a16="http://schemas.microsoft.com/office/drawing/2014/main" id="{1BFF09A5-9D18-4882-A801-CDF6529E7760}"/>
              </a:ext>
            </a:extLst>
          </p:cNvPr>
          <p:cNvSpPr>
            <a:spLocks xmlns:a="http://schemas.openxmlformats.org/drawingml/2006/main" noGrp="1"/>
          </p:cNvSpPr>
          <p:nvPr/>
        </p:nvSpPr>
        <p:spPr>
          <a:xfrm xmlns:a="http://schemas.openxmlformats.org/drawingml/2006/main">
            <a:off x="1104900" y="3714750"/>
            <a:ext cx="7524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Uitleg bij de lesdoelen.</a:t>
            </a:r>
          </a:p>
        </p:txBody>
      </p:sp>
      <p:sp>
        <p:nvSpPr>
          <p:cNvPr id="13" name="route-number-4">
            <a:extLst xmlns:a="http://schemas.openxmlformats.org/drawingml/2006/main">
              <a:ext uri="{FF2B5EF4-FFF2-40B4-BE49-F238E27FC236}">
                <a16:creationId xmlns:a16="http://schemas.microsoft.com/office/drawing/2014/main" id="{B23DE91C-9BFE-4972-9888-774BAD1BD0BE}"/>
              </a:ext>
            </a:extLst>
          </p:cNvPr>
          <p:cNvSpPr>
            <a:spLocks xmlns:a="http://schemas.openxmlformats.org/drawingml/2006/main" noGrp="1"/>
          </p:cNvSpPr>
          <p:nvPr/>
        </p:nvSpPr>
        <p:spPr>
          <a:xfrm xmlns:a="http://schemas.openxmlformats.org/drawingml/2006/main">
            <a:off x="571500" y="4248150"/>
            <a:ext cx="457200"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4.</a:t>
            </a:r>
          </a:p>
        </p:txBody>
      </p:sp>
      <p:sp>
        <p:nvSpPr>
          <p:cNvPr id="14" name="route-4">
            <a:extLst xmlns:a="http://schemas.openxmlformats.org/drawingml/2006/main">
              <a:ext uri="{FF2B5EF4-FFF2-40B4-BE49-F238E27FC236}">
                <a16:creationId xmlns:a16="http://schemas.microsoft.com/office/drawing/2014/main" id="{306886FF-3ED6-4705-BE96-811F8A07B152}"/>
              </a:ext>
            </a:extLst>
          </p:cNvPr>
          <p:cNvSpPr>
            <a:spLocks xmlns:a="http://schemas.openxmlformats.org/drawingml/2006/main" noGrp="1"/>
          </p:cNvSpPr>
          <p:nvPr/>
        </p:nvSpPr>
        <p:spPr>
          <a:xfrm xmlns:a="http://schemas.openxmlformats.org/drawingml/2006/main">
            <a:off x="1104900" y="4248150"/>
            <a:ext cx="7524750"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Begin bij de basisopgaven en stel vragen. Lukt dat goed, ga dan naar de zelfstandige oefening. Maak daarna de doelopgave en kijk vervolgens je antwoorden na.</a:t>
            </a:r>
          </a:p>
        </p:txBody>
      </p:sp>
      <p:sp>
        <p:nvSpPr>
          <p:cNvPr id="15" name="route-number-5">
            <a:extLst xmlns:a="http://schemas.openxmlformats.org/drawingml/2006/main">
              <a:ext uri="{FF2B5EF4-FFF2-40B4-BE49-F238E27FC236}">
                <a16:creationId xmlns:a16="http://schemas.microsoft.com/office/drawing/2014/main" id="{64E9EC6B-EA97-40A1-BAF8-F86086D16C5E}"/>
              </a:ext>
            </a:extLst>
          </p:cNvPr>
          <p:cNvSpPr>
            <a:spLocks xmlns:a="http://schemas.openxmlformats.org/drawingml/2006/main" noGrp="1"/>
          </p:cNvSpPr>
          <p:nvPr/>
        </p:nvSpPr>
        <p:spPr>
          <a:xfrm xmlns:a="http://schemas.openxmlformats.org/drawingml/2006/main">
            <a:off x="571500" y="6057900"/>
            <a:ext cx="4572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5.</a:t>
            </a:r>
          </a:p>
        </p:txBody>
      </p:sp>
      <p:sp>
        <p:nvSpPr>
          <p:cNvPr id="16" name="route-5">
            <a:extLst xmlns:a="http://schemas.openxmlformats.org/drawingml/2006/main">
              <a:ext uri="{FF2B5EF4-FFF2-40B4-BE49-F238E27FC236}">
                <a16:creationId xmlns:a16="http://schemas.microsoft.com/office/drawing/2014/main" id="{E4190C6D-4FBE-4D4F-91EE-C350034E5069}"/>
              </a:ext>
            </a:extLst>
          </p:cNvPr>
          <p:cNvSpPr>
            <a:spLocks xmlns:a="http://schemas.openxmlformats.org/drawingml/2006/main" noGrp="1"/>
          </p:cNvSpPr>
          <p:nvPr/>
        </p:nvSpPr>
        <p:spPr>
          <a:xfrm xmlns:a="http://schemas.openxmlformats.org/drawingml/2006/main">
            <a:off x="1104900" y="6057900"/>
            <a:ext cx="75247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Klaar? Werk aan een ander vak. Geen devices.</a:t>
            </a:r>
          </a:p>
        </p:txBody>
      </p:sp>
      <p:sp>
        <p:nvSpPr>
          <p:cNvPr id="17" name="route-number-6">
            <a:extLst xmlns:a="http://schemas.openxmlformats.org/drawingml/2006/main">
              <a:ext uri="{FF2B5EF4-FFF2-40B4-BE49-F238E27FC236}">
                <a16:creationId xmlns:a16="http://schemas.microsoft.com/office/drawing/2014/main" id="{CFB17127-F058-48D2-8749-18EE83DB8359}"/>
              </a:ext>
            </a:extLst>
          </p:cNvPr>
          <p:cNvSpPr>
            <a:spLocks xmlns:a="http://schemas.openxmlformats.org/drawingml/2006/main" noGrp="1"/>
          </p:cNvSpPr>
          <p:nvPr/>
        </p:nvSpPr>
        <p:spPr>
          <a:xfrm xmlns:a="http://schemas.openxmlformats.org/drawingml/2006/main">
            <a:off x="571500" y="6819900"/>
            <a:ext cx="457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6.</a:t>
            </a:r>
          </a:p>
        </p:txBody>
      </p:sp>
      <p:sp>
        <p:nvSpPr>
          <p:cNvPr id="18" name="route-6">
            <a:extLst xmlns:a="http://schemas.openxmlformats.org/drawingml/2006/main">
              <a:ext uri="{FF2B5EF4-FFF2-40B4-BE49-F238E27FC236}">
                <a16:creationId xmlns:a16="http://schemas.microsoft.com/office/drawing/2014/main" id="{937612E4-F664-477E-AE7B-9B3EE1C737B0}"/>
              </a:ext>
            </a:extLst>
          </p:cNvPr>
          <p:cNvSpPr>
            <a:spLocks xmlns:a="http://schemas.openxmlformats.org/drawingml/2006/main" noGrp="1"/>
          </p:cNvSpPr>
          <p:nvPr/>
        </p:nvSpPr>
        <p:spPr>
          <a:xfrm xmlns:a="http://schemas.openxmlformats.org/drawingml/2006/main">
            <a:off x="1104900" y="6819900"/>
            <a:ext cx="7524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Bespreken van de doelopgave: opgave 8.</a:t>
            </a:r>
          </a:p>
        </p:txBody>
      </p:sp>
      <p:sp>
        <p:nvSpPr>
          <p:cNvPr id="19" name="route-number-7">
            <a:extLst xmlns:a="http://schemas.openxmlformats.org/drawingml/2006/main">
              <a:ext uri="{FF2B5EF4-FFF2-40B4-BE49-F238E27FC236}">
                <a16:creationId xmlns:a16="http://schemas.microsoft.com/office/drawing/2014/main" id="{8ECB6AEB-AB8F-4113-AB82-62412F142232}"/>
              </a:ext>
            </a:extLst>
          </p:cNvPr>
          <p:cNvSpPr>
            <a:spLocks xmlns:a="http://schemas.openxmlformats.org/drawingml/2006/main" noGrp="1"/>
          </p:cNvSpPr>
          <p:nvPr/>
        </p:nvSpPr>
        <p:spPr>
          <a:xfrm xmlns:a="http://schemas.openxmlformats.org/drawingml/2006/main">
            <a:off x="571500" y="7372350"/>
            <a:ext cx="457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7.</a:t>
            </a:r>
          </a:p>
        </p:txBody>
      </p:sp>
      <p:sp>
        <p:nvSpPr>
          <p:cNvPr id="20" name="route-7">
            <a:extLst xmlns:a="http://schemas.openxmlformats.org/drawingml/2006/main">
              <a:ext uri="{FF2B5EF4-FFF2-40B4-BE49-F238E27FC236}">
                <a16:creationId xmlns:a16="http://schemas.microsoft.com/office/drawing/2014/main" id="{4524EEEB-06FA-43B9-9152-B3C78F28D83B}"/>
              </a:ext>
            </a:extLst>
          </p:cNvPr>
          <p:cNvSpPr>
            <a:spLocks xmlns:a="http://schemas.openxmlformats.org/drawingml/2006/main" noGrp="1"/>
          </p:cNvSpPr>
          <p:nvPr/>
        </p:nvSpPr>
        <p:spPr>
          <a:xfrm xmlns:a="http://schemas.openxmlformats.org/drawingml/2006/main">
            <a:off x="1104900" y="7372350"/>
            <a:ext cx="7524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Zet je huiswerk in je agenda.</a:t>
            </a:r>
          </a:p>
        </p:txBody>
      </p:sp>
      <p:sp>
        <p:nvSpPr>
          <p:cNvPr id="21" name="Lesdoelen">
            <a:extLst xmlns:a="http://schemas.openxmlformats.org/drawingml/2006/main">
              <a:ext uri="{FF2B5EF4-FFF2-40B4-BE49-F238E27FC236}">
                <a16:creationId xmlns:a16="http://schemas.microsoft.com/office/drawing/2014/main" id="{61BCF3A7-C06A-46D3-BB71-811E054A844A}"/>
              </a:ext>
            </a:extLst>
          </p:cNvPr>
          <p:cNvSpPr>
            <a:spLocks xmlns:a="http://schemas.openxmlformats.org/drawingml/2006/main" noGrp="1"/>
          </p:cNvSpPr>
          <p:nvPr/>
        </p:nvSpPr>
        <p:spPr>
          <a:xfrm xmlns:a="http://schemas.openxmlformats.org/drawingml/2006/main">
            <a:off x="9258300" y="176212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Lesdoelen</a:t>
            </a:r>
          </a:p>
        </p:txBody>
      </p:sp>
      <p:sp>
        <p:nvSpPr>
          <p:cNvPr id="22" name="overview-goals">
            <a:extLst xmlns:a="http://schemas.openxmlformats.org/drawingml/2006/main">
              <a:ext uri="{FF2B5EF4-FFF2-40B4-BE49-F238E27FC236}">
                <a16:creationId xmlns:a16="http://schemas.microsoft.com/office/drawing/2014/main" id="{4A0B0F8C-1B56-40C5-B7C9-7DCBE1260596}"/>
              </a:ext>
            </a:extLst>
          </p:cNvPr>
          <p:cNvSpPr>
            <a:spLocks xmlns:a="http://schemas.openxmlformats.org/drawingml/2006/main" noGrp="1"/>
          </p:cNvSpPr>
          <p:nvPr/>
        </p:nvSpPr>
        <p:spPr>
          <a:xfrm xmlns:a="http://schemas.openxmlformats.org/drawingml/2006/main">
            <a:off x="9258300" y="2324100"/>
            <a:ext cx="5381625"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Evenwicht, CS, PS en TS bepalen.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Met MK maximaal TS verklaren.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Efficiëntie en eerlijkheid scheiden.</a:t>
            </a:r>
          </a:p>
        </p:txBody>
      </p:sp>
      <p:sp>
        <p:nvSpPr>
          <p:cNvPr id="23" name="">
            <a:extLst xmlns:a="http://schemas.openxmlformats.org/drawingml/2006/main">
              <a:ext uri="{FF2B5EF4-FFF2-40B4-BE49-F238E27FC236}">
                <a16:creationId xmlns:a16="http://schemas.microsoft.com/office/drawing/2014/main" id="{FF8EFD7F-71EA-4800-9D7D-EE9EA8AC9AA4}"/>
              </a:ext>
            </a:extLst>
          </p:cNvPr>
          <p:cNvSpPr>
            <a:spLocks xmlns:a="http://schemas.openxmlformats.org/drawingml/2006/main" noGrp="1"/>
          </p:cNvSpPr>
          <p:nvPr/>
        </p:nvSpPr>
        <p:spPr>
          <a:xfrm xmlns:a="http://schemas.openxmlformats.org/drawingml/2006/main">
            <a:off x="9258300" y="3562350"/>
            <a:ext cx="5410200" cy="0"/>
          </a:xfrm>
          <a:prstGeom xmlns:a="http://schemas.openxmlformats.org/drawingml/2006/main" prst="line">
            <a:avLst/>
          </a:prstGeom>
          <a:ln xmlns:a="http://schemas.openxmlformats.org/drawingml/2006/main" w="19050">
            <a:solidFill>
              <a:srgbClr val="C6D2DB"/>
            </a:solidFill>
          </a:ln>
        </p:spPr>
      </p:sp>
      <p:sp>
        <p:nvSpPr>
          <p:cNvPr id="24" name="Startopdracht">
            <a:extLst xmlns:a="http://schemas.openxmlformats.org/drawingml/2006/main">
              <a:ext uri="{FF2B5EF4-FFF2-40B4-BE49-F238E27FC236}">
                <a16:creationId xmlns:a16="http://schemas.microsoft.com/office/drawing/2014/main" id="{3ECFC9B0-0609-4755-973B-3069B0B2C3D3}"/>
              </a:ext>
            </a:extLst>
          </p:cNvPr>
          <p:cNvSpPr>
            <a:spLocks xmlns:a="http://schemas.openxmlformats.org/drawingml/2006/main" noGrp="1"/>
          </p:cNvSpPr>
          <p:nvPr/>
        </p:nvSpPr>
        <p:spPr>
          <a:xfrm xmlns:a="http://schemas.openxmlformats.org/drawingml/2006/main">
            <a:off x="9258300" y="383857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Startopdracht</a:t>
            </a:r>
          </a:p>
        </p:txBody>
      </p:sp>
      <p:sp>
        <p:nvSpPr>
          <p:cNvPr id="25" name="overview-start">
            <a:extLst xmlns:a="http://schemas.openxmlformats.org/drawingml/2006/main">
              <a:ext uri="{FF2B5EF4-FFF2-40B4-BE49-F238E27FC236}">
                <a16:creationId xmlns:a16="http://schemas.microsoft.com/office/drawing/2014/main" id="{5A72F19F-7597-4CA1-A642-1D4389BF537D}"/>
              </a:ext>
            </a:extLst>
          </p:cNvPr>
          <p:cNvSpPr>
            <a:spLocks xmlns:a="http://schemas.openxmlformats.org/drawingml/2006/main" noGrp="1"/>
          </p:cNvSpPr>
          <p:nvPr/>
        </p:nvSpPr>
        <p:spPr>
          <a:xfrm xmlns:a="http://schemas.openxmlformats.org/drawingml/2006/main">
            <a:off x="9258300" y="4371975"/>
            <a:ext cx="53816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Pagina 85 · Opgaven 1 en 2</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1: hulp p. 83; 2: verkennen p. 81</a:t>
            </a:r>
          </a:p>
        </p:txBody>
      </p:sp>
      <p:sp>
        <p:nvSpPr>
          <p:cNvPr id="26" name="">
            <a:extLst xmlns:a="http://schemas.openxmlformats.org/drawingml/2006/main">
              <a:ext uri="{FF2B5EF4-FFF2-40B4-BE49-F238E27FC236}">
                <a16:creationId xmlns:a16="http://schemas.microsoft.com/office/drawing/2014/main" id="{80E83ED9-8289-47C8-BAA3-548208F28E53}"/>
              </a:ext>
            </a:extLst>
          </p:cNvPr>
          <p:cNvSpPr>
            <a:spLocks xmlns:a="http://schemas.openxmlformats.org/drawingml/2006/main" noGrp="1"/>
          </p:cNvSpPr>
          <p:nvPr/>
        </p:nvSpPr>
        <p:spPr>
          <a:xfrm xmlns:a="http://schemas.openxmlformats.org/drawingml/2006/main">
            <a:off x="9258300" y="5429250"/>
            <a:ext cx="5410200" cy="0"/>
          </a:xfrm>
          <a:prstGeom xmlns:a="http://schemas.openxmlformats.org/drawingml/2006/main" prst="line">
            <a:avLst/>
          </a:prstGeom>
          <a:ln xmlns:a="http://schemas.openxmlformats.org/drawingml/2006/main" w="19050">
            <a:solidFill>
              <a:srgbClr val="C6D2DB"/>
            </a:solidFill>
          </a:ln>
        </p:spPr>
      </p:sp>
      <p:sp>
        <p:nvSpPr>
          <p:cNvPr id="27" name="Huiswerk">
            <a:extLst xmlns:a="http://schemas.openxmlformats.org/drawingml/2006/main">
              <a:ext uri="{FF2B5EF4-FFF2-40B4-BE49-F238E27FC236}">
                <a16:creationId xmlns:a16="http://schemas.microsoft.com/office/drawing/2014/main" id="{D64F4B57-4227-428A-88A1-BA3A0365BEB6}"/>
              </a:ext>
            </a:extLst>
          </p:cNvPr>
          <p:cNvSpPr>
            <a:spLocks xmlns:a="http://schemas.openxmlformats.org/drawingml/2006/main" noGrp="1"/>
          </p:cNvSpPr>
          <p:nvPr/>
        </p:nvSpPr>
        <p:spPr>
          <a:xfrm xmlns:a="http://schemas.openxmlformats.org/drawingml/2006/main">
            <a:off x="9258300" y="5695950"/>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7658A"/>
                </a:solidFill>
                <a:latin typeface="Arial"/>
                <a:ea typeface="Arial"/>
                <a:cs typeface="Arial"/>
              </a:defRPr>
            </a:pPr>
            <a:r>
              <a:rPr sz="2625" b="1">
                <a:solidFill>
                  <a:srgbClr val="17658A"/>
                </a:solidFill>
                <a:latin typeface="Arial"/>
                <a:ea typeface="Arial"/>
                <a:cs typeface="Arial"/>
              </a:rPr>
              <a:t>Huiswerk</a:t>
            </a:r>
          </a:p>
        </p:txBody>
      </p:sp>
      <p:sp>
        <p:nvSpPr>
          <p:cNvPr id="28" name="overview-homework">
            <a:extLst xmlns:a="http://schemas.openxmlformats.org/drawingml/2006/main">
              <a:ext uri="{FF2B5EF4-FFF2-40B4-BE49-F238E27FC236}">
                <a16:creationId xmlns:a16="http://schemas.microsoft.com/office/drawing/2014/main" id="{D4C06F9C-FDB5-45F6-84A1-D314A45063B1}"/>
              </a:ext>
            </a:extLst>
          </p:cNvPr>
          <p:cNvSpPr>
            <a:spLocks xmlns:a="http://schemas.openxmlformats.org/drawingml/2006/main" noGrp="1"/>
          </p:cNvSpPr>
          <p:nvPr/>
        </p:nvSpPr>
        <p:spPr>
          <a:xfrm xmlns:a="http://schemas.openxmlformats.org/drawingml/2006/main">
            <a:off x="9258300" y="6229350"/>
            <a:ext cx="5381625"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§2.3.2 · Opgaven 3 t/m 8</a:t>
            </a:r>
          </a:p>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Basis: 3, 4 en 5</a:t>
            </a:r>
          </a:p>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Zelfstandig: 6 en 7</a:t>
            </a:r>
          </a:p>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Doelopgave: 8</a:t>
            </a:r>
          </a:p>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Maken en nakijken</a:t>
            </a:r>
          </a:p>
        </p:txBody>
      </p:sp>
    </p:spTree>
    <p:extLst>
      <p:ext uri="{BB962C8B-B14F-4D97-AF65-F5344CB8AC3E}">
        <p14:creationId xmlns:p14="http://schemas.microsoft.com/office/powerpoint/2010/main" val="20284114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2026-10-01T11:44:26.9790000Z</dcterms:created>
  <dcterms:modified xsi:type="dcterms:W3CDTF">2026-10-01T11:44:26.9790000Z</dcterms:modified>
</coreProperties>
</file>