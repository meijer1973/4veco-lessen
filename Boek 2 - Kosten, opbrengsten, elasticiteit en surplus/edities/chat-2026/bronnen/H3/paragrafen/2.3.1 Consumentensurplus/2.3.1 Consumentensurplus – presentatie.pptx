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5.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e6fe4905c34ea3" /><Relationship Type="http://schemas.openxmlformats.org/officeDocument/2006/relationships/extended-properties" Target="/docProps/app.xml" Id="R512c3646a8ba4f30" /><Relationship Type="http://schemas.openxmlformats.org/officeDocument/2006/relationships/officeDocument" Target="/ppt/presentation.xml" Id="R5672ae83b95e485a" /></Relationships>
</file>

<file path=ppt/presentation.xml><?xml version="1.0" encoding="utf-8"?>
<p:presentation xmlns:p="http://schemas.openxmlformats.org/presentationml/2006/main">
  <p:sldMasterIdLst>
    <p:sldMasterId xmlns:r="http://schemas.openxmlformats.org/officeDocument/2006/relationships" id="2147483648" r:id="R69295d33d1a44402"/>
  </p:sldMasterIdLst>
  <p:notesMasterIdLst>
    <p:notesMasterId xmlns:r="http://schemas.openxmlformats.org/officeDocument/2006/relationships" r:id="Rf1e077cd12744580"/>
  </p:notesMasterIdLst>
  <p:sldIdLst>
    <p:sldId xmlns:r="http://schemas.openxmlformats.org/officeDocument/2006/relationships" id="256" r:id="R868449cc252e4a3c"/>
    <p:sldId xmlns:r="http://schemas.openxmlformats.org/officeDocument/2006/relationships" id="257" r:id="Rbcfa15c699f74b4d"/>
    <p:sldId xmlns:r="http://schemas.openxmlformats.org/officeDocument/2006/relationships" id="258" r:id="R46b42dd47d764c31"/>
    <p:sldId xmlns:r="http://schemas.openxmlformats.org/officeDocument/2006/relationships" id="259" r:id="Raad83d5c4f1b43b1"/>
    <p:sldId xmlns:r="http://schemas.openxmlformats.org/officeDocument/2006/relationships" id="260" r:id="Rca094746bbed47ab"/>
    <p:sldId xmlns:r="http://schemas.openxmlformats.org/officeDocument/2006/relationships" id="261" r:id="R8ab45eab8f394370"/>
    <p:sldId xmlns:r="http://schemas.openxmlformats.org/officeDocument/2006/relationships" id="262" r:id="R9b366681662940ff"/>
    <p:sldId xmlns:r="http://schemas.openxmlformats.org/officeDocument/2006/relationships" id="263" r:id="R04b059a0b3b5419d"/>
    <p:sldId xmlns:r="http://schemas.openxmlformats.org/officeDocument/2006/relationships" id="264" r:id="R1508cfe519ed4bda"/>
    <p:sldId xmlns:r="http://schemas.openxmlformats.org/officeDocument/2006/relationships" id="265" r:id="Rea4c4fe92e4846a4"/>
    <p:sldId xmlns:r="http://schemas.openxmlformats.org/officeDocument/2006/relationships" id="266" r:id="R388697e8e2814603"/>
    <p:sldId xmlns:r="http://schemas.openxmlformats.org/officeDocument/2006/relationships" id="267" r:id="R490c4b5323d549e1"/>
    <p:sldId xmlns:r="http://schemas.openxmlformats.org/officeDocument/2006/relationships" id="268" r:id="R0cf5a0af7b404a86"/>
    <p:sldId xmlns:r="http://schemas.openxmlformats.org/officeDocument/2006/relationships" id="269" r:id="Ra248609c26b9449f"/>
    <p:sldId xmlns:r="http://schemas.openxmlformats.org/officeDocument/2006/relationships" id="270" r:id="R84cef64ae0db48a4"/>
    <p:sldId xmlns:r="http://schemas.openxmlformats.org/officeDocument/2006/relationships" id="271" r:id="R45389c4102ad4c10"/>
    <p:sldId xmlns:r="http://schemas.openxmlformats.org/officeDocument/2006/relationships" id="272" r:id="R3e4fb3515dba4204"/>
    <p:sldId xmlns:r="http://schemas.openxmlformats.org/officeDocument/2006/relationships" id="273" r:id="R29b7bdbcc31249ae"/>
    <p:sldId xmlns:r="http://schemas.openxmlformats.org/officeDocument/2006/relationships" id="274" r:id="R0f0651a341b94f11"/>
    <p:sldId xmlns:r="http://schemas.openxmlformats.org/officeDocument/2006/relationships" id="275" r:id="R8c60fab0366e449b"/>
    <p:sldId xmlns:r="http://schemas.openxmlformats.org/officeDocument/2006/relationships" id="276" r:id="R5be9d230a6c54aeb"/>
    <p:sldId xmlns:r="http://schemas.openxmlformats.org/officeDocument/2006/relationships" id="277" r:id="R87cd9f8d54884aea"/>
    <p:sldId xmlns:r="http://schemas.openxmlformats.org/officeDocument/2006/relationships" id="278" r:id="R676761eda79f43ea"/>
    <p:sldId xmlns:r="http://schemas.openxmlformats.org/officeDocument/2006/relationships" id="279" r:id="R636e008386bb49ed"/>
    <p:sldId xmlns:r="http://schemas.openxmlformats.org/officeDocument/2006/relationships" id="280" r:id="Rfe63f26350c5463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add0c2f01c45b4" /><Relationship Type="http://schemas.openxmlformats.org/officeDocument/2006/relationships/slideMaster" Target="/ppt/slideMasters/slideMaster1.xml" Id="R69295d33d1a44402" /><Relationship Type="http://schemas.openxmlformats.org/officeDocument/2006/relationships/notesMaster" Target="/ppt/notesMasters/notesMaster1.xml" Id="Rf1e077cd12744580" /><Relationship Type="http://schemas.openxmlformats.org/officeDocument/2006/relationships/presProps" Target="/ppt/presProps.xml" Id="R1c2657daf78b43e5" /><Relationship Type="http://schemas.openxmlformats.org/officeDocument/2006/relationships/tableStyles" Target="/ppt/tableStyles.xml" Id="Rb47a61733f794870" /><Relationship Type="http://schemas.openxmlformats.org/officeDocument/2006/relationships/slide" Target="/ppt/slides/slide1.xml" Id="R868449cc252e4a3c" /><Relationship Type="http://schemas.openxmlformats.org/officeDocument/2006/relationships/slide" Target="/ppt/slides/slide2.xml" Id="Rbcfa15c699f74b4d" /><Relationship Type="http://schemas.openxmlformats.org/officeDocument/2006/relationships/slide" Target="/ppt/slides/slide3.xml" Id="R46b42dd47d764c31" /><Relationship Type="http://schemas.openxmlformats.org/officeDocument/2006/relationships/slide" Target="/ppt/slides/slide4.xml" Id="Raad83d5c4f1b43b1" /><Relationship Type="http://schemas.openxmlformats.org/officeDocument/2006/relationships/slide" Target="/ppt/slides/slide5.xml" Id="Rca094746bbed47ab" /><Relationship Type="http://schemas.openxmlformats.org/officeDocument/2006/relationships/slide" Target="/ppt/slides/slide6.xml" Id="R8ab45eab8f394370" /><Relationship Type="http://schemas.openxmlformats.org/officeDocument/2006/relationships/slide" Target="/ppt/slides/slide7.xml" Id="R9b366681662940ff" /><Relationship Type="http://schemas.openxmlformats.org/officeDocument/2006/relationships/slide" Target="/ppt/slides/slide8.xml" Id="R04b059a0b3b5419d" /><Relationship Type="http://schemas.openxmlformats.org/officeDocument/2006/relationships/slide" Target="/ppt/slides/slide9.xml" Id="R1508cfe519ed4bda" /><Relationship Type="http://schemas.openxmlformats.org/officeDocument/2006/relationships/slide" Target="/ppt/slides/slide10.xml" Id="Rea4c4fe92e4846a4" /><Relationship Type="http://schemas.openxmlformats.org/officeDocument/2006/relationships/slide" Target="/ppt/slides/slide11.xml" Id="R388697e8e2814603" /><Relationship Type="http://schemas.openxmlformats.org/officeDocument/2006/relationships/slide" Target="/ppt/slides/slide12.xml" Id="R490c4b5323d549e1" /><Relationship Type="http://schemas.openxmlformats.org/officeDocument/2006/relationships/slide" Target="/ppt/slides/slide13.xml" Id="R0cf5a0af7b404a86" /><Relationship Type="http://schemas.openxmlformats.org/officeDocument/2006/relationships/slide" Target="/ppt/slides/slide14.xml" Id="Ra248609c26b9449f" /><Relationship Type="http://schemas.openxmlformats.org/officeDocument/2006/relationships/slide" Target="/ppt/slides/slide15.xml" Id="R84cef64ae0db48a4" /><Relationship Type="http://schemas.openxmlformats.org/officeDocument/2006/relationships/slide" Target="/ppt/slides/slide16.xml" Id="R45389c4102ad4c10" /><Relationship Type="http://schemas.openxmlformats.org/officeDocument/2006/relationships/slide" Target="/ppt/slides/slide17.xml" Id="R3e4fb3515dba4204" /><Relationship Type="http://schemas.openxmlformats.org/officeDocument/2006/relationships/slide" Target="/ppt/slides/slide18.xml" Id="R29b7bdbcc31249ae" /><Relationship Type="http://schemas.openxmlformats.org/officeDocument/2006/relationships/slide" Target="/ppt/slides/slide19.xml" Id="R0f0651a341b94f11" /><Relationship Type="http://schemas.openxmlformats.org/officeDocument/2006/relationships/slide" Target="/ppt/slides/slide20.xml" Id="R8c60fab0366e449b" /><Relationship Type="http://schemas.openxmlformats.org/officeDocument/2006/relationships/slide" Target="/ppt/slides/slide21.xml" Id="R5be9d230a6c54aeb" /><Relationship Type="http://schemas.openxmlformats.org/officeDocument/2006/relationships/slide" Target="/ppt/slides/slide22.xml" Id="R87cd9f8d54884aea" /><Relationship Type="http://schemas.openxmlformats.org/officeDocument/2006/relationships/slide" Target="/ppt/slides/slide23.xml" Id="R676761eda79f43ea" /><Relationship Type="http://schemas.openxmlformats.org/officeDocument/2006/relationships/slide" Target="/ppt/slides/slide24.xml" Id="R636e008386bb49ed" /><Relationship Type="http://schemas.openxmlformats.org/officeDocument/2006/relationships/slide" Target="/ppt/slides/slide25.xml" Id="Rfe63f26350c546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c14813dbff46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3694138e34fd1" /><Relationship Type="http://schemas.openxmlformats.org/officeDocument/2006/relationships/notesMaster" Target="/ppt/notesMasters/notesMaster1.xml" Id="R4f4a6717b77243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6337a6c60b487e" /><Relationship Type="http://schemas.openxmlformats.org/officeDocument/2006/relationships/notesMaster" Target="/ppt/notesMasters/notesMaster1.xml" Id="R442479bce98d4d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d2759f0d8a4ffe" /><Relationship Type="http://schemas.openxmlformats.org/officeDocument/2006/relationships/notesMaster" Target="/ppt/notesMasters/notesMaster1.xml" Id="Rbc9e606f20904e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f678767dd3456f" /><Relationship Type="http://schemas.openxmlformats.org/officeDocument/2006/relationships/notesMaster" Target="/ppt/notesMasters/notesMaster1.xml" Id="R70e306ae4e9a42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e942bcc77b4e10" /><Relationship Type="http://schemas.openxmlformats.org/officeDocument/2006/relationships/notesMaster" Target="/ppt/notesMasters/notesMaster1.xml" Id="R134cd14d3e784f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83ccd612d04816" /><Relationship Type="http://schemas.openxmlformats.org/officeDocument/2006/relationships/notesMaster" Target="/ppt/notesMasters/notesMaster1.xml" Id="Ref77d07d8daf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46ccddca484746" /><Relationship Type="http://schemas.openxmlformats.org/officeDocument/2006/relationships/notesMaster" Target="/ppt/notesMasters/notesMaster1.xml" Id="R6cc700c65daf4f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02dccba7b54cc6" /><Relationship Type="http://schemas.openxmlformats.org/officeDocument/2006/relationships/notesMaster" Target="/ppt/notesMasters/notesMaster1.xml" Id="Rbc4528b3e5fc4f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0870d6ed0d441f" /><Relationship Type="http://schemas.openxmlformats.org/officeDocument/2006/relationships/notesMaster" Target="/ppt/notesMasters/notesMaster1.xml" Id="R70c7f42f0b6e43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f3c508cf4b405d" /><Relationship Type="http://schemas.openxmlformats.org/officeDocument/2006/relationships/notesMaster" Target="/ppt/notesMasters/notesMaster1.xml" Id="Rc565885ce6d14c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de3fba6b974d4a" /><Relationship Type="http://schemas.openxmlformats.org/officeDocument/2006/relationships/notesMaster" Target="/ppt/notesMasters/notesMaster1.xml" Id="R1c572e827eb44c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c49a6fba7c46f6" /><Relationship Type="http://schemas.openxmlformats.org/officeDocument/2006/relationships/notesMaster" Target="/ppt/notesMasters/notesMaster1.xml" Id="Rdd42976aa91c41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009f1ffb9d4819" /><Relationship Type="http://schemas.openxmlformats.org/officeDocument/2006/relationships/notesMaster" Target="/ppt/notesMasters/notesMaster1.xml" Id="R731a0f4eece84e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3ecdee771a4aa0" /><Relationship Type="http://schemas.openxmlformats.org/officeDocument/2006/relationships/notesMaster" Target="/ppt/notesMasters/notesMaster1.xml" Id="R3bb30ff6d87748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248bc040854392" /><Relationship Type="http://schemas.openxmlformats.org/officeDocument/2006/relationships/notesMaster" Target="/ppt/notesMasters/notesMaster1.xml" Id="R88b5aa5728684d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f6f07e69fd4ef2" /><Relationship Type="http://schemas.openxmlformats.org/officeDocument/2006/relationships/notesMaster" Target="/ppt/notesMasters/notesMaster1.xml" Id="Rf600756e0bd542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9a3203bb994a29" /><Relationship Type="http://schemas.openxmlformats.org/officeDocument/2006/relationships/notesMaster" Target="/ppt/notesMasters/notesMaster1.xml" Id="Rdc824f2f4e9b4f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c223fb939646ac" /><Relationship Type="http://schemas.openxmlformats.org/officeDocument/2006/relationships/notesMaster" Target="/ppt/notesMasters/notesMaster1.xml" Id="R8a679d47468046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a73dcfa685465e" /><Relationship Type="http://schemas.openxmlformats.org/officeDocument/2006/relationships/notesMaster" Target="/ppt/notesMasters/notesMaster1.xml" Id="Rc312660a3a5c46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8595bbc3e3480c" /><Relationship Type="http://schemas.openxmlformats.org/officeDocument/2006/relationships/notesMaster" Target="/ppt/notesMasters/notesMaster1.xml" Id="R7ee10148e97542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e60cf9e59644f8" /><Relationship Type="http://schemas.openxmlformats.org/officeDocument/2006/relationships/notesMaster" Target="/ppt/notesMasters/notesMaster1.xml" Id="Re38e15838c9140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37ca300e0649dc" /><Relationship Type="http://schemas.openxmlformats.org/officeDocument/2006/relationships/notesMaster" Target="/ppt/notesMasters/notesMaster1.xml" Id="Rf6045e32fcc043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0e6dc7848a42e9" /><Relationship Type="http://schemas.openxmlformats.org/officeDocument/2006/relationships/notesMaster" Target="/ppt/notesMasters/notesMaster1.xml" Id="Rc15985c34d4645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338c91d6094fc9" /><Relationship Type="http://schemas.openxmlformats.org/officeDocument/2006/relationships/notesMaster" Target="/ppt/notesMasters/notesMaster1.xml" Id="R3fb638cd0cf9417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3ac173259f4eb4" /><Relationship Type="http://schemas.openxmlformats.org/officeDocument/2006/relationships/notesMaster" Target="/ppt/notesMasters/notesMaster1.xml" Id="R8852642b611b45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deze dia staan tijdens startopdracht. Start: 1–2 op p.76. Basis: alle begeleide opgaven 3 (p.76), 4 en 5 (p.77). Zelfstandig: 6–7 (p.78). Doel: 8 (p.79). Huiswerk: 3 t/m 8 maken en nakijken. Bonus 9 en herhaling 10–11 zijn extra en niet toegewezen. Volledige route heeft geen gemeten lestijd; maak zo nodig thuis of in een volgende les af.</a:t>
            </a:r>
          </a:p>
          <a:p xmlns:a="http://schemas.openxmlformats.org/drawingml/2006/main">
            <a:r>
              <a:rPr sz="1400"/>
              <a:t/>
            </a:r>
          </a:p>
          <a:p xmlns:a="http://schemas.openxmlformats.org/drawingml/2006/main">
            <a:r>
              <a:rPr sz="1400"/>
              <a:t>Start 1 haalt functie-invulling, assensnijpunten en driehoeksoppervlakte op. Eerdere kennismaking bewijst geen beheersing: verwijs bij vastlopen naar p.74. Start 2 is verkenning van formeel CS. Lees op p.72 de blokken Betalingsbereidheid, Werkelijk betaalde prijs en Consumentensurplus. Laat leerlingen hun gebruikte definitie en twijfel aanwijzen. Geef nog geen uitgewerkt antwoord. Keer na de uitleg, bij de tweede overzichtsdia, terug naar 1–2: laat leerlingen beide antwoorden opnieuw bekijken en hun redenering voor 2 verbeteren vóór het basiswerk. Geef dan zo nodig feedback op reeds gemaakt werk.</a:t>
            </a:r>
          </a:p>
          <a:p xmlns:a="http://schemas.openxmlformats.org/drawingml/2006/main">
            <a:r>
              <a:rPr sz="1400"/>
              <a:t/>
            </a:r>
          </a:p>
          <a:p xmlns:a="http://schemas.openxmlformats.org/drawingml/2006/main">
            <a:r>
              <a:rPr sz="1400"/>
              <a:t>Vraag: Welk bedrag is het maximum en welk bedrag wordt echt betaald?</a:t>
            </a:r>
          </a:p>
          <a:p xmlns:a="http://schemas.openxmlformats.org/drawingml/2006/main">
            <a:r>
              <a:rPr sz="1400"/>
              <a:t/>
            </a:r>
          </a:p>
          <a:p xmlns:a="http://schemas.openxmlformats.org/drawingml/2006/main">
            <a:r>
              <a:rPr sz="1400"/>
              <a:t>Misvatting: Een verkennende start is geen bewijs van beheersing. Gebruik gedrukte boekpagina’s, niet de PDF-index.</a:t>
            </a:r>
          </a:p>
          <a:p xmlns:a="http://schemas.openxmlformats.org/drawingml/2006/main">
            <a:r>
              <a:rPr sz="1400"/>
              <a:t/>
            </a:r>
          </a:p>
          <a:p xmlns:a="http://schemas.openxmlformats.org/drawingml/2006/main">
            <a:r>
              <a:rPr sz="1400"/>
              <a:t>Overgang: Ga door naar de volgende fase zodra leerlingen voldoende steun hebben.</a:t>
            </a:r>
          </a:p>
          <a:p xmlns:a="http://schemas.openxmlformats.org/drawingml/2006/main">
            <a:r>
              <a:rPr sz="1400"/>
              <a:t/>
            </a:r>
          </a:p>
          <a:p xmlns:a="http://schemas.openxmlformats.org/drawingml/2006/main">
            <a:r>
              <a:rPr sz="1400"/>
              <a:t>Bron: Boek 2, chatuitgave 2026, gedrukte pagina 72, 74, 76–79.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doelopgave vraagt het hele proces: berekenen, tekenen, arceren en uitleggen. De prijs is gegeven. De kern van deze les is formeel CS als oppervlak.</a:t>
            </a:r>
          </a:p>
          <a:p xmlns:a="http://schemas.openxmlformats.org/drawingml/2006/main">
            <a:r>
              <a:rPr sz="1400"/>
              <a:t/>
            </a:r>
          </a:p>
          <a:p xmlns:a="http://schemas.openxmlformats.org/drawingml/2006/main">
            <a:r>
              <a:rPr sz="1400"/>
              <a:t>Vraag: Welke stap is meer dan alleen een getal uitrekenen?</a:t>
            </a:r>
          </a:p>
          <a:p xmlns:a="http://schemas.openxmlformats.org/drawingml/2006/main">
            <a:r>
              <a:rPr sz="1400"/>
              <a:t/>
            </a:r>
          </a:p>
          <a:p xmlns:a="http://schemas.openxmlformats.org/drawingml/2006/main">
            <a:r>
              <a:rPr sz="1400"/>
              <a:t>Misvatting: Een juist CS-bedrag alleen beantwoordt een tekenvraag niet.</a:t>
            </a:r>
          </a:p>
          <a:p xmlns:a="http://schemas.openxmlformats.org/drawingml/2006/main">
            <a:r>
              <a:rPr sz="1400"/>
              <a:t/>
            </a:r>
          </a:p>
          <a:p xmlns:a="http://schemas.openxmlformats.org/drawingml/2006/main">
            <a:r>
              <a:rPr sz="1400"/>
              <a:t>Overgang: Begin bij het voordeel van één koper.</a:t>
            </a:r>
          </a:p>
          <a:p xmlns:a="http://schemas.openxmlformats.org/drawingml/2006/main">
            <a:r>
              <a:rPr sz="1400"/>
              <a:t/>
            </a:r>
          </a:p>
          <a:p xmlns:a="http://schemas.openxmlformats.org/drawingml/2006/main">
            <a:r>
              <a:rPr sz="1400"/>
              <a:t>Bron: Boek 2, chatuitgave 2026, gedrukte pagina 72–75.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Noor koopt één kaartje. Maximaal willen betalen is een waardering. Zij betaalt 9 euro, niet 22 euro. Het verschil van 13 euro is haar voordeel. Dit is een hernieuwde, formele uitleg na de informele kennismaking in Boek 1 §1.2.1.</a:t>
            </a:r>
          </a:p>
          <a:p xmlns:a="http://schemas.openxmlformats.org/drawingml/2006/main">
            <a:r>
              <a:rPr sz="1400"/>
              <a:t/>
            </a:r>
          </a:p>
          <a:p xmlns:a="http://schemas.openxmlformats.org/drawingml/2006/main">
            <a:r>
              <a:rPr sz="1400"/>
              <a:t>Vraag: Krijgt Noor € 13 terug aan de kassa?</a:t>
            </a:r>
          </a:p>
          <a:p xmlns:a="http://schemas.openxmlformats.org/drawingml/2006/main">
            <a:r>
              <a:rPr sz="1400"/>
              <a:t/>
            </a:r>
          </a:p>
          <a:p xmlns:a="http://schemas.openxmlformats.org/drawingml/2006/main">
            <a:r>
              <a:rPr sz="1400"/>
              <a:t>Misvatting: CS is geen terugbetaling en ook geen korting ten opzichte van een oude winkelprijs.</a:t>
            </a:r>
          </a:p>
          <a:p xmlns:a="http://schemas.openxmlformats.org/drawingml/2006/main">
            <a:r>
              <a:rPr sz="1400"/>
              <a:t/>
            </a:r>
          </a:p>
          <a:p xmlns:a="http://schemas.openxmlformats.org/drawingml/2006/main">
            <a:r>
              <a:rPr sz="1400"/>
              <a:t>Overgang: Vergelijk meerdere kopers die dezelfde prijs betalen.</a:t>
            </a:r>
          </a:p>
          <a:p xmlns:a="http://schemas.openxmlformats.org/drawingml/2006/main">
            <a:r>
              <a:rPr sz="1400"/>
              <a:t/>
            </a:r>
          </a:p>
          <a:p xmlns:a="http://schemas.openxmlformats.org/drawingml/2006/main">
            <a:r>
              <a:rPr sz="1400"/>
              <a:t>Bron: Boek 2, chatuitgave 2026, gedrukte pagina 72.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Bij een losse lijst kopers bereken je de werkelijke voordelen en tel je die op. Bo koopt niet bij 9 euro, dus Bo heeft geen negatief CS. Dit is een discrete som van 2 kaartjes.</a:t>
            </a:r>
          </a:p>
          <a:p xmlns:a="http://schemas.openxmlformats.org/drawingml/2006/main">
            <a:r>
              <a:rPr sz="1400"/>
              <a:t/>
            </a:r>
          </a:p>
          <a:p xmlns:a="http://schemas.openxmlformats.org/drawingml/2006/main">
            <a:r>
              <a:rPr sz="1400"/>
              <a:t>Vraag: Waarom tel je bij Bo geen −€ 2 op?</a:t>
            </a:r>
          </a:p>
          <a:p xmlns:a="http://schemas.openxmlformats.org/drawingml/2006/main">
            <a:r>
              <a:rPr sz="1400"/>
              <a:t/>
            </a:r>
          </a:p>
          <a:p xmlns:a="http://schemas.openxmlformats.org/drawingml/2006/main">
            <a:r>
              <a:rPr sz="1400"/>
              <a:t>Misvatting: Een tabel met drie personen wordt niet zonder modelwijziging een doorlopende rechte lijn.</a:t>
            </a:r>
          </a:p>
          <a:p xmlns:a="http://schemas.openxmlformats.org/drawingml/2006/main">
            <a:r>
              <a:rPr sz="1400"/>
              <a:t/>
            </a:r>
          </a:p>
          <a:p xmlns:a="http://schemas.openxmlformats.org/drawingml/2006/main">
            <a:r>
              <a:rPr sz="1400"/>
              <a:t>Overgang: We schakelen nu expliciet over naar een andere context en een doorlopend marktmodel.</a:t>
            </a:r>
          </a:p>
          <a:p xmlns:a="http://schemas.openxmlformats.org/drawingml/2006/main">
            <a:r>
              <a:rPr sz="1400"/>
              <a:t/>
            </a:r>
          </a:p>
          <a:p xmlns:a="http://schemas.openxmlformats.org/drawingml/2006/main">
            <a:r>
              <a:rPr sz="1400"/>
              <a:t>Bron: Boek 2, chatuitgave 2026, gedrukte pagina 72–73.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Dit is een nieuw, doorlopend lineair marktmodel, niet de tabel van Noor, Sam en Bo. Op V lees je van links naar rechts een dalende betalingsbereidheid. De gegeven prijs bepaalt via deze vraagfunctie Q; er is geen aanbodfunctie. De toewijzing en voldoende aanbod maken het volledige driehoeksgebied geldig.</a:t>
            </a:r>
          </a:p>
          <a:p xmlns:a="http://schemas.openxmlformats.org/drawingml/2006/main">
            <a:r>
              <a:rPr sz="1400"/>
              <a:t/>
            </a:r>
          </a:p>
          <a:p xmlns:a="http://schemas.openxmlformats.org/drawingml/2006/main">
            <a:r>
              <a:rPr sz="1400"/>
              <a:t>Vraag: Welke informatie geeft V over wat kopers willen betalen?</a:t>
            </a:r>
          </a:p>
          <a:p xmlns:a="http://schemas.openxmlformats.org/drawingml/2006/main">
            <a:r>
              <a:rPr sz="1400"/>
              <a:t/>
            </a:r>
          </a:p>
          <a:p xmlns:a="http://schemas.openxmlformats.org/drawingml/2006/main">
            <a:r>
              <a:rPr sz="1400"/>
              <a:t>Misvatting: De 40 in de formule is een prijs bij Q = 0, geen aantal kaartjes. De gegeven prijs is niet berekend als evenwichtsprijs.</a:t>
            </a:r>
          </a:p>
          <a:p xmlns:a="http://schemas.openxmlformats.org/drawingml/2006/main">
            <a:r>
              <a:rPr sz="1400"/>
              <a:t/>
            </a:r>
          </a:p>
          <a:p xmlns:a="http://schemas.openxmlformats.org/drawingml/2006/main">
            <a:r>
              <a:rPr sz="1400"/>
              <a:t>Overgang: Vul eerst de gegeven prijs in en los op naar Q.</a:t>
            </a:r>
          </a:p>
          <a:p xmlns:a="http://schemas.openxmlformats.org/drawingml/2006/main">
            <a:r>
              <a:rPr sz="1400"/>
              <a:t/>
            </a:r>
          </a:p>
          <a:p xmlns:a="http://schemas.openxmlformats.org/drawingml/2006/main">
            <a:r>
              <a:rPr sz="1400"/>
              <a:t>Bron: Boek 2, chatuitgave 2026, gedrukte pagina 73–75.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Tel aan beide kanten 0,5Q op en trek aan beide kanten 16 af. Zo krijg je 0,5Q = 24. Deel beide kanten door 0,5. Deze vorm P(Q) kan anders zijn dan de Q(P)-notatie uit Boek 1 §1.3.2, dus doe de algebra expliciet voor. Controleer met de originele functie.</a:t>
            </a:r>
          </a:p>
          <a:p xmlns:a="http://schemas.openxmlformats.org/drawingml/2006/main">
            <a:r>
              <a:rPr sz="1400"/>
              <a:t/>
            </a:r>
          </a:p>
          <a:p xmlns:a="http://schemas.openxmlformats.org/drawingml/2006/main">
            <a:r>
              <a:rPr sz="1400"/>
              <a:t>Vraag: Waarom is delen door 0,5 hetzelfde als vermenigvuldigen met 2?</a:t>
            </a:r>
          </a:p>
          <a:p xmlns:a="http://schemas.openxmlformats.org/drawingml/2006/main">
            <a:r>
              <a:rPr sz="1400"/>
              <a:t/>
            </a:r>
          </a:p>
          <a:p xmlns:a="http://schemas.openxmlformats.org/drawingml/2006/main">
            <a:r>
              <a:rPr sz="1400"/>
              <a:t>Misvatting: Zonder aanbodfunctie is Q = 48 geen berekend marktevenwicht. Noem alleen de gevraagde en hier verkochte hoeveelheid.</a:t>
            </a:r>
          </a:p>
          <a:p xmlns:a="http://schemas.openxmlformats.org/drawingml/2006/main">
            <a:r>
              <a:rPr sz="1400"/>
              <a:t/>
            </a:r>
          </a:p>
          <a:p xmlns:a="http://schemas.openxmlformats.org/drawingml/2006/main">
            <a:r>
              <a:rPr sz="1400"/>
              <a:t>Overgang: Bereken daarna de twee punten waarmee je V tekent.</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Een punt schrijf je als (Q; P), omdat Q horizontaal en P verticaal staat. Op de verticale as is Q nul. Op de horizontale as is P nul. Verbind de twee gevonden punten met een rechte lijn.</a:t>
            </a:r>
          </a:p>
          <a:p xmlns:a="http://schemas.openxmlformats.org/drawingml/2006/main">
            <a:r>
              <a:rPr sz="1400"/>
              <a:t/>
            </a:r>
          </a:p>
          <a:p xmlns:a="http://schemas.openxmlformats.org/drawingml/2006/main">
            <a:r>
              <a:rPr sz="1400"/>
              <a:t>Vraag: Welke variabele is nul op de P-as?</a:t>
            </a:r>
          </a:p>
          <a:p xmlns:a="http://schemas.openxmlformats.org/drawingml/2006/main">
            <a:r>
              <a:rPr sz="1400"/>
              <a:t/>
            </a:r>
          </a:p>
          <a:p xmlns:a="http://schemas.openxmlformats.org/drawingml/2006/main">
            <a:r>
              <a:rPr sz="1400"/>
              <a:t>Misvatting: Verwissel de assen of de volgorde in het coördinatenpaar niet.</a:t>
            </a:r>
          </a:p>
          <a:p xmlns:a="http://schemas.openxmlformats.org/drawingml/2006/main">
            <a:r>
              <a:rPr sz="1400"/>
              <a:t/>
            </a:r>
          </a:p>
          <a:p xmlns:a="http://schemas.openxmlformats.org/drawingml/2006/main">
            <a:r>
              <a:rPr sz="1400"/>
              <a:t>Overgang: Zet de berekende punten nu in een geschaald assenstelsel.</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leerlingen de assen, schaalverdeling en eenheden benoemen. Elke stap horizontaal is 20 kaartjes, verticaal 10 euro per kaartje. De lijn stopt op de Q-as bij 80. De grotere schaal laat ruimte voor labels en blijft op de volgende grafieken gelijk.</a:t>
            </a:r>
          </a:p>
          <a:p xmlns:a="http://schemas.openxmlformats.org/drawingml/2006/main">
            <a:r>
              <a:rPr sz="1400"/>
              <a:t/>
            </a:r>
          </a:p>
          <a:p xmlns:a="http://schemas.openxmlformats.org/drawingml/2006/main">
            <a:r>
              <a:rPr sz="1400"/>
              <a:t>Vraag: Waar teken je het punt (80; 0)?</a:t>
            </a:r>
          </a:p>
          <a:p xmlns:a="http://schemas.openxmlformats.org/drawingml/2006/main">
            <a:r>
              <a:rPr sz="1400"/>
              <a:t/>
            </a:r>
          </a:p>
          <a:p xmlns:a="http://schemas.openxmlformats.org/drawingml/2006/main">
            <a:r>
              <a:rPr sz="1400"/>
              <a:t>Misvatting: Een negatieve voortzetting is voor dit marktmodel niet nodig. De vraaglijn toont hoeveel kopers voor een extra kaartje overhebben.</a:t>
            </a:r>
          </a:p>
          <a:p xmlns:a="http://schemas.openxmlformats.org/drawingml/2006/main">
            <a:r>
              <a:rPr sz="1400"/>
              <a:t/>
            </a:r>
          </a:p>
          <a:p xmlns:a="http://schemas.openxmlformats.org/drawingml/2006/main">
            <a:r>
              <a:rPr sz="1400"/>
              <a:t>Overgang: Voeg de horizontale prijs toe.</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prijs is een horizontale lijn door 16, tussen 10 en 20 op de P-as. Vanuit het snijpunt met V ga je verticaal naar Q = 48. Gebruik de berekening voor de precieze coördinaat, de grafiek als controle.</a:t>
            </a:r>
          </a:p>
          <a:p xmlns:a="http://schemas.openxmlformats.org/drawingml/2006/main">
            <a:r>
              <a:rPr sz="1400"/>
              <a:t/>
            </a:r>
          </a:p>
          <a:p xmlns:a="http://schemas.openxmlformats.org/drawingml/2006/main">
            <a:r>
              <a:rPr sz="1400"/>
              <a:t>Vraag: Welke hoeveelheid lees je onder het snijpunt af?</a:t>
            </a:r>
          </a:p>
          <a:p xmlns:a="http://schemas.openxmlformats.org/drawingml/2006/main">
            <a:r>
              <a:rPr sz="1400"/>
              <a:t/>
            </a:r>
          </a:p>
          <a:p xmlns:a="http://schemas.openxmlformats.org/drawingml/2006/main">
            <a:r>
              <a:rPr sz="1400"/>
              <a:t>Misvatting: Het kruisen van V met een gegeven prijslijn is op zichzelf geen berekend vraag-aanbodevenwicht.</a:t>
            </a:r>
          </a:p>
          <a:p xmlns:a="http://schemas.openxmlformats.org/drawingml/2006/main">
            <a:r>
              <a:rPr sz="1400"/>
              <a:t/>
            </a:r>
          </a:p>
          <a:p xmlns:a="http://schemas.openxmlformats.org/drawingml/2006/main">
            <a:r>
              <a:rPr sz="1400"/>
              <a:t>Overgang: Kies alleen het voordeel boven de betaling bij die 48 kaartjes.</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arcering telt het voordeel voor alle verkochte kaartjes in het doorlopende model. De drie hoekpunten zijn (0;16), (0;40), (48;16). De basis loopt horizontaal van 0 tot 48. De loodrechte hoogte loopt verticaal van 16 tot 40. Dit is 24, niet 16.</a:t>
            </a:r>
          </a:p>
          <a:p xmlns:a="http://schemas.openxmlformats.org/drawingml/2006/main">
            <a:r>
              <a:rPr sz="1400"/>
              <a:t/>
            </a:r>
          </a:p>
          <a:p xmlns:a="http://schemas.openxmlformats.org/drawingml/2006/main">
            <a:r>
              <a:rPr sz="1400"/>
              <a:t>Vraag: Waarom hoort het gebied onder P = 16 niet bij CS?</a:t>
            </a:r>
          </a:p>
          <a:p xmlns:a="http://schemas.openxmlformats.org/drawingml/2006/main">
            <a:r>
              <a:rPr sz="1400"/>
              <a:t/>
            </a:r>
          </a:p>
          <a:p xmlns:a="http://schemas.openxmlformats.org/drawingml/2006/main">
            <a:r>
              <a:rPr sz="1400"/>
              <a:t>Misvatting: Onder de prijslijn ligt de betaling. Rechts van Q = 48 zijn in deze situatie geen verkochte kaartjes om mee te tellen.</a:t>
            </a:r>
          </a:p>
          <a:p xmlns:a="http://schemas.openxmlformats.org/drawingml/2006/main">
            <a:r>
              <a:rPr sz="1400"/>
              <a:t/>
            </a:r>
          </a:p>
          <a:p xmlns:a="http://schemas.openxmlformats.org/drawingml/2006/main">
            <a:r>
              <a:rPr sz="1400"/>
              <a:t>Overgang: Bereken de oppervlakte met deze basis en hoogte.</a:t>
            </a:r>
          </a:p>
          <a:p xmlns:a="http://schemas.openxmlformats.org/drawingml/2006/main">
            <a:r>
              <a:rPr sz="1400"/>
              <a:t/>
            </a:r>
          </a:p>
          <a:p xmlns:a="http://schemas.openxmlformats.org/drawingml/2006/main">
            <a:r>
              <a:rPr sz="1400"/>
              <a:t>Bron: Boek 2, chatuitgave 2026, gedrukte pagina 73–75.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Herhaal de wiskundige regel expliciet: de driehoek is de helft van een rechthoek met dezelfde basis en loodrechte hoogte. 48 × 24 = 1152; de helft is 576. De hoogte loopt vanaf de prijs, niet vanaf nul. De uitkomst is euro voor de groep, niet euro per kaartje.</a:t>
            </a:r>
          </a:p>
          <a:p xmlns:a="http://schemas.openxmlformats.org/drawingml/2006/main">
            <a:r>
              <a:rPr sz="1400"/>
              <a:t/>
            </a:r>
          </a:p>
          <a:p xmlns:a="http://schemas.openxmlformats.org/drawingml/2006/main">
            <a:r>
              <a:rPr sz="1400"/>
              <a:t>Vraag: Welke twee grootheden vermenigvuldig je, en welke eenheid blijft over?</a:t>
            </a:r>
          </a:p>
          <a:p xmlns:a="http://schemas.openxmlformats.org/drawingml/2006/main">
            <a:r>
              <a:rPr sz="1400"/>
              <a:t/>
            </a:r>
          </a:p>
          <a:p xmlns:a="http://schemas.openxmlformats.org/drawingml/2006/main">
            <a:r>
              <a:rPr sz="1400"/>
              <a:t>Misvatting: De formule ½ × Q × P is hier fout: ½ × 48 × 16 zou 384 geven.</a:t>
            </a:r>
          </a:p>
          <a:p xmlns:a="http://schemas.openxmlformats.org/drawingml/2006/main">
            <a:r>
              <a:rPr sz="1400"/>
              <a:t/>
            </a:r>
          </a:p>
          <a:p xmlns:a="http://schemas.openxmlformats.org/drawingml/2006/main">
            <a:r>
              <a:rPr sz="1400"/>
              <a:t>Overgang: Leg uit wat de 576 euro in deze situatie betekent.</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vraag is naar de groep kopers. CS is het totale extra voordeel boven de betaling voor de 48 gekochte kaartjes. De gezamenlijke bereidheid voor die kaartjes is 576 + 768 = 1344 euro, maar niemand krijgt het CS terugbetaald.</a:t>
            </a:r>
          </a:p>
          <a:p xmlns:a="http://schemas.openxmlformats.org/drawingml/2006/main">
            <a:r>
              <a:rPr sz="1400"/>
              <a:t/>
            </a:r>
          </a:p>
          <a:p xmlns:a="http://schemas.openxmlformats.org/drawingml/2006/main">
            <a:r>
              <a:rPr sz="1400"/>
              <a:t>Vraag: Welk bedrag ontvangt de verkoper?</a:t>
            </a:r>
          </a:p>
          <a:p xmlns:a="http://schemas.openxmlformats.org/drawingml/2006/main">
            <a:r>
              <a:rPr sz="1400"/>
              <a:t/>
            </a:r>
          </a:p>
          <a:p xmlns:a="http://schemas.openxmlformats.org/drawingml/2006/main">
            <a:r>
              <a:rPr sz="1400"/>
              <a:t>Misvatting: € 576 is geen omzet en geen voordeel per koper. Verwar betaling niet met waardering.</a:t>
            </a:r>
          </a:p>
          <a:p xmlns:a="http://schemas.openxmlformats.org/drawingml/2006/main">
            <a:r>
              <a:rPr sz="1400"/>
              <a:t/>
            </a:r>
          </a:p>
          <a:p xmlns:a="http://schemas.openxmlformats.org/drawingml/2006/main">
            <a:r>
              <a:rPr sz="1400"/>
              <a:t>Overgang: Controleer de keuze van de hoogte met een korte vraag.</a:t>
            </a:r>
          </a:p>
          <a:p xmlns:a="http://schemas.openxmlformats.org/drawingml/2006/main">
            <a:r>
              <a:rPr sz="1400"/>
              <a:t/>
            </a:r>
          </a:p>
          <a:p xmlns:a="http://schemas.openxmlformats.org/drawingml/2006/main">
            <a:r>
              <a:rPr sz="1400"/>
              <a:t>Bron: Boek 2, chatuitgave 2026, gedrukte pagina 72–75.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leerlingen eerst zelf nadenken. Dit is een korte begripscheck op het eigen uitlegvoorbeeld en geen extra huiswerkopgave.</a:t>
            </a:r>
          </a:p>
          <a:p xmlns:a="http://schemas.openxmlformats.org/drawingml/2006/main">
            <a:r>
              <a:rPr sz="1400"/>
              <a:t/>
            </a:r>
          </a:p>
          <a:p xmlns:a="http://schemas.openxmlformats.org/drawingml/2006/main">
            <a:r>
              <a:rPr sz="1400"/>
              <a:t>Vraag: Tussen welke twee prijzen loopt de hoogte?</a:t>
            </a:r>
          </a:p>
          <a:p xmlns:a="http://schemas.openxmlformats.org/drawingml/2006/main">
            <a:r>
              <a:rPr sz="1400"/>
              <a:t/>
            </a:r>
          </a:p>
          <a:p xmlns:a="http://schemas.openxmlformats.org/drawingml/2006/main">
            <a:r>
              <a:rPr sz="1400"/>
              <a:t>Misvatting: Een juist basisgetal maakt een verkeerde hoogte nog niet goed.</a:t>
            </a:r>
          </a:p>
          <a:p xmlns:a="http://schemas.openxmlformats.org/drawingml/2006/main">
            <a:r>
              <a:rPr sz="1400"/>
              <a:t/>
            </a:r>
          </a:p>
          <a:p xmlns:a="http://schemas.openxmlformats.org/drawingml/2006/main">
            <a:r>
              <a:rPr sz="1400"/>
              <a:t>Overgang: Toon de uitwerking na de reacties.</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een leerling benoemen waar de hoogte in de grafiek ligt. Het getal 16 is de prijs, maar de juiste hoogte is 24.</a:t>
            </a:r>
          </a:p>
          <a:p xmlns:a="http://schemas.openxmlformats.org/drawingml/2006/main">
            <a:r>
              <a:rPr sz="1400"/>
              <a:t/>
            </a:r>
          </a:p>
          <a:p xmlns:a="http://schemas.openxmlformats.org/drawingml/2006/main">
            <a:r>
              <a:rPr sz="1400"/>
              <a:t>Vraag: Tussen welke twee prijzen loopt de hoogte?</a:t>
            </a:r>
          </a:p>
          <a:p xmlns:a="http://schemas.openxmlformats.org/drawingml/2006/main">
            <a:r>
              <a:rPr sz="1400"/>
              <a:t/>
            </a:r>
          </a:p>
          <a:p xmlns:a="http://schemas.openxmlformats.org/drawingml/2006/main">
            <a:r>
              <a:rPr sz="1400"/>
              <a:t>Misvatting: Een juist basisgetal maakt een verkeerde hoogte nog niet goed.</a:t>
            </a:r>
          </a:p>
          <a:p xmlns:a="http://schemas.openxmlformats.org/drawingml/2006/main">
            <a:r>
              <a:rPr sz="1400"/>
              <a:t/>
            </a:r>
          </a:p>
          <a:p xmlns:a="http://schemas.openxmlformats.org/drawingml/2006/main">
            <a:r>
              <a:rPr sz="1400"/>
              <a:t>Overgang: Keer terug naar start 1–2 voordat leerlingen de basisopgaven maken.</a:t>
            </a:r>
          </a:p>
          <a:p xmlns:a="http://schemas.openxmlformats.org/drawingml/2006/main">
            <a:r>
              <a:rPr sz="1400"/>
              <a:t/>
            </a:r>
          </a:p>
          <a:p xmlns:a="http://schemas.openxmlformats.org/drawingml/2006/main">
            <a:r>
              <a:rPr sz="1400"/>
              <a:t>Bron: Boek 2, chatuitgave 2026, gedrukte pagina 74–75.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Uitlegvoorbeeld — niet uit het boek. Filmavond en Theatermiddag, met alle bijbehorende getallen, zijn voor deze presentatie bedacht. De boekpagina onderbouwt alleen de methode. Geen uitgewerkte toegewezen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deze dia staan tijdens zelfstandig werken. Start: 1–2 op p.76. Basis: alle begeleide opgaven 3 (p.76), 4 en 5 (p.77). Zelfstandig: 6–7 (p.78). Doel: 8 (p.79). Huiswerk: 3 t/m 8 maken en nakijken. Bonus 9 en herhaling 10–11 zijn extra en niet toegewezen. Volledige route heeft geen gemeten lestijd; maak zo nodig thuis of in een volgende les af.</a:t>
            </a:r>
          </a:p>
          <a:p xmlns:a="http://schemas.openxmlformats.org/drawingml/2006/main">
            <a:r>
              <a:rPr sz="1400"/>
              <a:t/>
            </a:r>
          </a:p>
          <a:p xmlns:a="http://schemas.openxmlformats.org/drawingml/2006/main">
            <a:r>
              <a:rPr sz="1400"/>
              <a:t>Start 1 haalt functie-invulling, assensnijpunten en driehoeksoppervlakte op. Eerdere kennismaking bewijst geen beheersing: verwijs bij vastlopen naar p.74. Start 2 is verkenning van formeel CS. Lees op p.72 de blokken Betalingsbereidheid, Werkelijk betaalde prijs en Consumentensurplus. Laat leerlingen hun gebruikte definitie en twijfel aanwijzen. Geef nog geen uitgewerkt antwoord. Keer na de uitleg, bij de tweede overzichtsdia, terug naar 1–2: laat leerlingen beide antwoorden opnieuw bekijken en hun redenering voor 2 verbeteren vóór het basiswerk. Geef dan zo nodig feedback op reeds gemaakt werk.</a:t>
            </a:r>
          </a:p>
          <a:p xmlns:a="http://schemas.openxmlformats.org/drawingml/2006/main">
            <a:r>
              <a:rPr sz="1400"/>
              <a:t/>
            </a:r>
          </a:p>
          <a:p xmlns:a="http://schemas.openxmlformats.org/drawingml/2006/main">
            <a:r>
              <a:rPr sz="1400"/>
              <a:t>Vraag: Welke stap vraagt nog uitleg voordat je verder oefent?</a:t>
            </a:r>
          </a:p>
          <a:p xmlns:a="http://schemas.openxmlformats.org/drawingml/2006/main">
            <a:r>
              <a:rPr sz="1400"/>
              <a:t/>
            </a:r>
          </a:p>
          <a:p xmlns:a="http://schemas.openxmlformats.org/drawingml/2006/main">
            <a:r>
              <a:rPr sz="1400"/>
              <a:t>Misvatting: Een verkennende start is geen bewijs van beheersing. Gebruik gedrukte boekpagina’s, niet de PDF-index.</a:t>
            </a:r>
          </a:p>
          <a:p xmlns:a="http://schemas.openxmlformats.org/drawingml/2006/main">
            <a:r>
              <a:rPr sz="1400"/>
              <a:t/>
            </a:r>
          </a:p>
          <a:p xmlns:a="http://schemas.openxmlformats.org/drawingml/2006/main">
            <a:r>
              <a:rPr sz="1400"/>
              <a:t>Overgang: Ga door naar de volgende fase zodra leerlingen voldoende steun hebben.</a:t>
            </a:r>
          </a:p>
          <a:p xmlns:a="http://schemas.openxmlformats.org/drawingml/2006/main">
            <a:r>
              <a:rPr sz="1400"/>
              <a:t/>
            </a:r>
          </a:p>
          <a:p xmlns:a="http://schemas.openxmlformats.org/drawingml/2006/main">
            <a:r>
              <a:rPr sz="1400"/>
              <a:t>Bron: Boek 2, chatuitgave 2026, gedrukte pagina 72, 74, 76–79.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Start deze bespreking nadat leerlingen zelf doelopgave 8 hebben geprobeerd. Dit is de volledige context met alle gegevens en aannames uit de echte boekopgave. De context is nu concertkaartjes, niet Theatermiddag.</a:t>
            </a:r>
          </a:p>
          <a:p xmlns:a="http://schemas.openxmlformats.org/drawingml/2006/main">
            <a:r>
              <a:rPr sz="1400"/>
              <a:t/>
            </a:r>
          </a:p>
          <a:p xmlns:a="http://schemas.openxmlformats.org/drawingml/2006/main">
            <a:r>
              <a:rPr sz="1400"/>
              <a:t>Vraag: Welke gegevens veranderen ten opzichte van het uitlegvoorbeeld?</a:t>
            </a:r>
          </a:p>
          <a:p xmlns:a="http://schemas.openxmlformats.org/drawingml/2006/main">
            <a:r>
              <a:rPr sz="1400"/>
              <a:t/>
            </a:r>
          </a:p>
          <a:p xmlns:a="http://schemas.openxmlformats.org/drawingml/2006/main">
            <a:r>
              <a:rPr sz="1400"/>
              <a:t>Misvatting: Neem geen getal of uitkomst uit de vorige context over.</a:t>
            </a:r>
          </a:p>
          <a:p xmlns:a="http://schemas.openxmlformats.org/drawingml/2006/main">
            <a:r>
              <a:rPr sz="1400"/>
              <a:t/>
            </a:r>
          </a:p>
          <a:p xmlns:a="http://schemas.openxmlformats.org/drawingml/2006/main">
            <a:r>
              <a:rPr sz="1400"/>
              <a:t>Overgang: Toon eerst alle deelvragen, pas daarna de antwoorden.</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Deze vragen zijn inhoudelijk volledig overgenomen. De opmaak verdeelt b in leesbare zinnen. Er staat nog geen oplossing op de dia.</a:t>
            </a:r>
          </a:p>
          <a:p xmlns:a="http://schemas.openxmlformats.org/drawingml/2006/main">
            <a:r>
              <a:rPr sz="1400"/>
              <a:t/>
            </a:r>
          </a:p>
          <a:p xmlns:a="http://schemas.openxmlformats.org/drawingml/2006/main">
            <a:r>
              <a:rPr sz="1400"/>
              <a:t>Vraag: Welke drie punten moet je straks in je tekening terugvinden?</a:t>
            </a:r>
          </a:p>
          <a:p xmlns:a="http://schemas.openxmlformats.org/drawingml/2006/main">
            <a:r>
              <a:rPr sz="1400"/>
              <a:t/>
            </a:r>
          </a:p>
          <a:p xmlns:a="http://schemas.openxmlformats.org/drawingml/2006/main">
            <a:r>
              <a:rPr sz="1400"/>
              <a:t>Misvatting: Alleen twee lijnen tekenen zonder assen, eenheden en punten is onvoldoende voor b.</a:t>
            </a:r>
          </a:p>
          <a:p xmlns:a="http://schemas.openxmlformats.org/drawingml/2006/main">
            <a:r>
              <a:rPr sz="1400"/>
              <a:t/>
            </a:r>
          </a:p>
          <a:p xmlns:a="http://schemas.openxmlformats.org/drawingml/2006/main">
            <a:r>
              <a:rPr sz="1400"/>
              <a:t>Overgang: Laat ook c, d en e zien voordat je de uitwerking opent.</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Nu zijn alle vijf deelvragen zonder antwoorden zichtbaar geweest. Laat leerlingen hun eigen werk erbij houden en pas straks verbeteren.</a:t>
            </a:r>
          </a:p>
          <a:p xmlns:a="http://schemas.openxmlformats.org/drawingml/2006/main">
            <a:r>
              <a:rPr sz="1400"/>
              <a:t/>
            </a:r>
          </a:p>
          <a:p xmlns:a="http://schemas.openxmlformats.org/drawingml/2006/main">
            <a:r>
              <a:rPr sz="1400"/>
              <a:t>Vraag: Bij welke deelvraag heb je woorden nodig naast getallen?</a:t>
            </a:r>
          </a:p>
          <a:p xmlns:a="http://schemas.openxmlformats.org/drawingml/2006/main">
            <a:r>
              <a:rPr sz="1400"/>
              <a:t/>
            </a:r>
          </a:p>
          <a:p xmlns:a="http://schemas.openxmlformats.org/drawingml/2006/main">
            <a:r>
              <a:rPr sz="1400"/>
              <a:t>Misvatting: Een berekening vervangt de gevraagde arcering niet, en een definitie zonder context vervangt e niet.</a:t>
            </a:r>
          </a:p>
          <a:p xmlns:a="http://schemas.openxmlformats.org/drawingml/2006/main">
            <a:r>
              <a:rPr sz="1400"/>
              <a:t/>
            </a:r>
          </a:p>
          <a:p xmlns:a="http://schemas.openxmlformats.org/drawingml/2006/main">
            <a:r>
              <a:rPr sz="1400"/>
              <a:t>Overgang: Bespreek eerst a: invullen, oplossen en controleren.</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Tel 0,5Q op en trek 20 af aan beide kanten. 0,5Q = 30; deel door 0,5 voor 60 kaartjes. Er is voldoende beschikbaar, zodat de gevraagde hoeveelheid ook werkelijk verkocht wordt.</a:t>
            </a:r>
          </a:p>
          <a:p xmlns:a="http://schemas.openxmlformats.org/drawingml/2006/main">
            <a:r>
              <a:rPr sz="1400"/>
              <a:t/>
            </a:r>
          </a:p>
          <a:p xmlns:a="http://schemas.openxmlformats.org/drawingml/2006/main">
            <a:r>
              <a:rPr sz="1400"/>
              <a:t>Vraag: Waarom mag je wel verkocht zeggen maar geen berekend marktevenwicht?</a:t>
            </a:r>
          </a:p>
          <a:p xmlns:a="http://schemas.openxmlformats.org/drawingml/2006/main">
            <a:r>
              <a:rPr sz="1400"/>
              <a:t/>
            </a:r>
          </a:p>
          <a:p xmlns:a="http://schemas.openxmlformats.org/drawingml/2006/main">
            <a:r>
              <a:rPr sz="1400"/>
              <a:t>Misvatting: Je hebt geen vraag en aanbod gelijkgesteld.</a:t>
            </a:r>
          </a:p>
          <a:p xmlns:a="http://schemas.openxmlformats.org/drawingml/2006/main">
            <a:r>
              <a:rPr sz="1400"/>
              <a:t/>
            </a:r>
          </a:p>
          <a:p xmlns:a="http://schemas.openxmlformats.org/drawingml/2006/main">
            <a:r>
              <a:rPr sz="1400"/>
              <a:t>Overgang: Bepaal de assensnijpunten voor de tekening.</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Elke rij koppelt een gekozen prijs of hoeveelheid aan de bijbehorende andere variabele. De assensnijpunten liggen op de vraaglijn. Het snijpunt met de prijslijn volgt uit a.</a:t>
            </a:r>
          </a:p>
          <a:p xmlns:a="http://schemas.openxmlformats.org/drawingml/2006/main">
            <a:r>
              <a:rPr sz="1400"/>
              <a:t/>
            </a:r>
          </a:p>
          <a:p xmlns:a="http://schemas.openxmlformats.org/drawingml/2006/main">
            <a:r>
              <a:rPr sz="1400"/>
              <a:t>Vraag: Hoe kun je controleren of (60; 20) op V ligt?</a:t>
            </a:r>
          </a:p>
          <a:p xmlns:a="http://schemas.openxmlformats.org/drawingml/2006/main">
            <a:r>
              <a:rPr sz="1400"/>
              <a:t/>
            </a:r>
          </a:p>
          <a:p xmlns:a="http://schemas.openxmlformats.org/drawingml/2006/main">
            <a:r>
              <a:rPr sz="1400"/>
              <a:t>Misvatting: Punten noteren als (P; Q) verwisselt de assen.</a:t>
            </a:r>
          </a:p>
          <a:p xmlns:a="http://schemas.openxmlformats.org/drawingml/2006/main">
            <a:r>
              <a:rPr sz="1400"/>
              <a:t/>
            </a:r>
          </a:p>
          <a:p xmlns:a="http://schemas.openxmlformats.org/drawingml/2006/main">
            <a:r>
              <a:rPr sz="1400"/>
              <a:t>Overgang: Zet de drie punten in het assenstelsel.</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assen staan met grootheid en eenheid op de grafiek. V loopt door de twee assensnijpunten. De horizontale prijslijn op 20 snijdt V exact op Q = 60. De verticale stippellijn is een afleeshulp, geen aanbodlijn.</a:t>
            </a:r>
          </a:p>
          <a:p xmlns:a="http://schemas.openxmlformats.org/drawingml/2006/main">
            <a:r>
              <a:rPr sz="1400"/>
              <a:t/>
            </a:r>
          </a:p>
          <a:p xmlns:a="http://schemas.openxmlformats.org/drawingml/2006/main">
            <a:r>
              <a:rPr sz="1400"/>
              <a:t>Vraag: Welke lijn is alleen een afleeshulp?</a:t>
            </a:r>
          </a:p>
          <a:p xmlns:a="http://schemas.openxmlformats.org/drawingml/2006/main">
            <a:r>
              <a:rPr sz="1400"/>
              <a:t/>
            </a:r>
          </a:p>
          <a:p xmlns:a="http://schemas.openxmlformats.org/drawingml/2006/main">
            <a:r>
              <a:rPr sz="1400"/>
              <a:t>Misvatting: Een stijgende aanbodlijn toevoegen is hier niet toegestaan: die is niet gegeven.</a:t>
            </a:r>
          </a:p>
          <a:p xmlns:a="http://schemas.openxmlformats.org/drawingml/2006/main">
            <a:r>
              <a:rPr sz="1400"/>
              <a:t/>
            </a:r>
          </a:p>
          <a:p xmlns:a="http://schemas.openxmlformats.org/drawingml/2006/main">
            <a:r>
              <a:rPr sz="1400"/>
              <a:t>Overgang: Arceer nu het gebied voor de kopers.</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Controleer de echte tekening van leerlingen. Het gebied begint bij de prijs 20, loopt links tot 50 en eindigt rechts bij het snijpunt 60;20. Het label CS staat binnen de arcering. De schaal is identiek aan de vorige dia.</a:t>
            </a:r>
          </a:p>
          <a:p xmlns:a="http://schemas.openxmlformats.org/drawingml/2006/main">
            <a:r>
              <a:rPr sz="1400"/>
              <a:t/>
            </a:r>
          </a:p>
          <a:p xmlns:a="http://schemas.openxmlformats.org/drawingml/2006/main">
            <a:r>
              <a:rPr sz="1400"/>
              <a:t>Vraag: Hoort de rechthoek van Q = 0 tot 60 onder P = 20 bij CS?</a:t>
            </a:r>
          </a:p>
          <a:p xmlns:a="http://schemas.openxmlformats.org/drawingml/2006/main">
            <a:r>
              <a:rPr sz="1400"/>
              <a:t/>
            </a:r>
          </a:p>
          <a:p xmlns:a="http://schemas.openxmlformats.org/drawingml/2006/main">
            <a:r>
              <a:rPr sz="1400"/>
              <a:t>Misvatting: De rechthoek is de gezamenlijke betaling. Alleen het extra voordeel boven de prijs telt mee.</a:t>
            </a:r>
          </a:p>
          <a:p xmlns:a="http://schemas.openxmlformats.org/drawingml/2006/main">
            <a:r>
              <a:rPr sz="1400"/>
              <a:t/>
            </a:r>
          </a:p>
          <a:p xmlns:a="http://schemas.openxmlformats.org/drawingml/2006/main">
            <a:r>
              <a:rPr sz="1400"/>
              <a:t>Overgang: Gebruik de basis en loodrechte hoogte van deze driehoek.</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hoogte is 30 euro per kaartje, geen 20. 60 × 30 = 1800; de helft is 900. Controleer dat het antwoord in euro voor de hele groep staat.</a:t>
            </a:r>
          </a:p>
          <a:p xmlns:a="http://schemas.openxmlformats.org/drawingml/2006/main">
            <a:r>
              <a:rPr sz="1400"/>
              <a:t/>
            </a:r>
          </a:p>
          <a:p xmlns:a="http://schemas.openxmlformats.org/drawingml/2006/main">
            <a:r>
              <a:rPr sz="1400"/>
              <a:t>Vraag: Waar komt de 30 in de berekening vandaan?</a:t>
            </a:r>
          </a:p>
          <a:p xmlns:a="http://schemas.openxmlformats.org/drawingml/2006/main">
            <a:r>
              <a:rPr sz="1400"/>
              <a:t/>
            </a:r>
          </a:p>
          <a:p xmlns:a="http://schemas.openxmlformats.org/drawingml/2006/main">
            <a:r>
              <a:rPr sz="1400"/>
              <a:t>Misvatting: De prijs 20 gebruiken als hoogte meet het verkeerde gebied.</a:t>
            </a:r>
          </a:p>
          <a:p xmlns:a="http://schemas.openxmlformats.org/drawingml/2006/main">
            <a:r>
              <a:rPr sz="1400"/>
              <a:t/>
            </a:r>
          </a:p>
          <a:p xmlns:a="http://schemas.openxmlformats.org/drawingml/2006/main">
            <a:r>
              <a:rPr sz="1400"/>
              <a:t>Overgang: Leg het gevonden bedrag uit voor de kopers als groep.</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Voor e moet de economische betekenis én de groep van 60 verkochte kaartjes duidelijk zijn. 900 is het gezamenlijke verschil tussen bereidheid en betaling. De omzetcontrole 1200 is aanvullend, geen extra boekdeelvraag. Laat leerlingen één ontbrekende rekenstap, eenheid, grafieklabel of uitleg verbeteren.</a:t>
            </a:r>
          </a:p>
          <a:p xmlns:a="http://schemas.openxmlformats.org/drawingml/2006/main">
            <a:r>
              <a:rPr sz="1400"/>
              <a:t/>
            </a:r>
          </a:p>
          <a:p xmlns:a="http://schemas.openxmlformats.org/drawingml/2006/main">
            <a:r>
              <a:rPr sz="1400"/>
              <a:t>Vraag: Welke woorden laten zien dat jouw antwoord over alle kopers samen gaat?</a:t>
            </a:r>
          </a:p>
          <a:p xmlns:a="http://schemas.openxmlformats.org/drawingml/2006/main">
            <a:r>
              <a:rPr sz="1400"/>
              <a:t/>
            </a:r>
          </a:p>
          <a:p xmlns:a="http://schemas.openxmlformats.org/drawingml/2006/main">
            <a:r>
              <a:rPr sz="1400"/>
              <a:t>Misvatting: Het CS is geen omzet, geen teruggave en geen bedrag per koper.</a:t>
            </a:r>
          </a:p>
          <a:p xmlns:a="http://schemas.openxmlformats.org/drawingml/2006/main">
            <a:r>
              <a:rPr sz="1400"/>
              <a:t/>
            </a:r>
          </a:p>
          <a:p xmlns:a="http://schemas.openxmlformats.org/drawingml/2006/main">
            <a:r>
              <a:rPr sz="1400"/>
              <a:t>Overgang: Laat de gezamenlijke overzichtsdia staan bij de afsluiting.</a:t>
            </a:r>
          </a:p>
          <a:p xmlns:a="http://schemas.openxmlformats.org/drawingml/2006/main">
            <a:r>
              <a:rPr sz="1400"/>
              <a:t/>
            </a:r>
          </a:p>
          <a:p xmlns:a="http://schemas.openxmlformats.org/drawingml/2006/main">
            <a:r>
              <a:rPr sz="1400"/>
              <a:t>Bron: Boek 2, chatuitgave 2026, gedrukte pagina 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deze dia staan tijdens afsluiting / huiswerk. Start: 1–2 op p.76. Basis: alle begeleide opgaven 3 (p.76), 4 en 5 (p.77). Zelfstandig: 6–7 (p.78). Doel: 8 (p.79). Huiswerk: 3 t/m 8 maken en nakijken. Bonus 9 en herhaling 10–11 zijn extra en niet toegewezen. Volledige route heeft geen gemeten lestijd; maak zo nodig thuis of in een volgende les af.</a:t>
            </a:r>
          </a:p>
          <a:p xmlns:a="http://schemas.openxmlformats.org/drawingml/2006/main">
            <a:r>
              <a:rPr sz="1400"/>
              <a:t/>
            </a:r>
          </a:p>
          <a:p xmlns:a="http://schemas.openxmlformats.org/drawingml/2006/main">
            <a:r>
              <a:rPr sz="1400"/>
              <a:t>Start 1 haalt functie-invulling, assensnijpunten en driehoeksoppervlakte op. Eerdere kennismaking bewijst geen beheersing: verwijs bij vastlopen naar p.74. Start 2 is verkenning van formeel CS. Lees op p.72 de blokken Betalingsbereidheid, Werkelijk betaalde prijs en Consumentensurplus. Laat leerlingen hun gebruikte definitie en twijfel aanwijzen. Geef nog geen uitgewerkt antwoord. Keer na de uitleg, bij de tweede overzichtsdia, terug naar 1–2: laat leerlingen beide antwoorden opnieuw bekijken en hun redenering voor 2 verbeteren vóór het basiswerk. Geef dan zo nodig feedback op reeds gemaakt werk.</a:t>
            </a:r>
          </a:p>
          <a:p xmlns:a="http://schemas.openxmlformats.org/drawingml/2006/main">
            <a:r>
              <a:rPr sz="1400"/>
              <a:t/>
            </a:r>
          </a:p>
          <a:p xmlns:a="http://schemas.openxmlformats.org/drawingml/2006/main">
            <a:r>
              <a:rPr sz="1400"/>
              <a:t>Vraag: Welke stap vraagt nog uitleg voordat je verder oefent?</a:t>
            </a:r>
          </a:p>
          <a:p xmlns:a="http://schemas.openxmlformats.org/drawingml/2006/main">
            <a:r>
              <a:rPr sz="1400"/>
              <a:t/>
            </a:r>
          </a:p>
          <a:p xmlns:a="http://schemas.openxmlformats.org/drawingml/2006/main">
            <a:r>
              <a:rPr sz="1400"/>
              <a:t>Misvatting: Een verkennende start is geen bewijs van beheersing. Gebruik gedrukte boekpagina’s, niet de PDF-index.</a:t>
            </a:r>
          </a:p>
          <a:p xmlns:a="http://schemas.openxmlformats.org/drawingml/2006/main">
            <a:r>
              <a:rPr sz="1400"/>
              <a:t/>
            </a:r>
          </a:p>
          <a:p xmlns:a="http://schemas.openxmlformats.org/drawingml/2006/main">
            <a:r>
              <a:rPr sz="1400"/>
              <a:t>Overgang: Laat het huiswerk in de agenda noteren.</a:t>
            </a:r>
          </a:p>
          <a:p xmlns:a="http://schemas.openxmlformats.org/drawingml/2006/main">
            <a:r>
              <a:rPr sz="1400"/>
              <a:t/>
            </a:r>
          </a:p>
          <a:p xmlns:a="http://schemas.openxmlformats.org/drawingml/2006/main">
            <a:r>
              <a:rPr sz="1400"/>
              <a:t>Bron: Boek 2, chatuitgave 2026, gedrukte pagina 72, 74, 76–79. https://github.com/meijer1973/4veco-lessen/blob/d53080f38ebbdbba319e6d9b89dcba86067a72be/Boek%202%20-%20Kosten%2C%20opbrengsten%2C%20elasticiteit%20en%20surplus/edities/chat-2026/boek/Boek_2_Compleet.pdf</a:t>
            </a:r>
          </a:p>
          <a:p xmlns:a="http://schemas.openxmlformats.org/drawingml/2006/main">
            <a:r>
              <a:rPr sz="1400"/>
              <a:t>Antwoordmodel: https://github.com/meijer1973/4veco-lessen/blob/d53080f38ebbdbba319e6d9b89dcba86067a72be/Boek%202%20-%20Kosten%2C%20opbrengsten%2C%20elasticiteit%20en%20surplus/edities/chat-2026/boek/Boek_2_Compleet_Antwoorden.pdf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f547ff06a54c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9b64e6d1a24c45" /><Relationship Type="http://schemas.openxmlformats.org/officeDocument/2006/relationships/slideLayout" Target="/ppt/slideLayouts/slideLayout1.xml" Id="R0436971199fd4e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36971199fd4e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f02dfc8ece4571" /><Relationship Type="http://schemas.openxmlformats.org/officeDocument/2006/relationships/notesSlide" Target="/ppt/notesSlides/notesSlide1.xml" Id="R818123dcfc6642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c1fa99273e49f6" /><Relationship Type="http://schemas.openxmlformats.org/officeDocument/2006/relationships/notesSlide" Target="/ppt/notesSlides/notesSlide2.xml" Id="Ra86ae3f5d5644a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a6ca5b9d4d4767" /><Relationship Type="http://schemas.openxmlformats.org/officeDocument/2006/relationships/notesSlide" Target="/ppt/notesSlides/notesSlide3.xml" Id="R8d552c5af16f42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6f732a7baf4008" /><Relationship Type="http://schemas.openxmlformats.org/officeDocument/2006/relationships/notesSlide" Target="/ppt/notesSlides/notesSlide4.xml" Id="R3997cbb8e60c4e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8af80e51f145cd" /><Relationship Type="http://schemas.openxmlformats.org/officeDocument/2006/relationships/notesSlide" Target="/ppt/notesSlides/notesSlide5.xml" Id="R549edd83523940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14023ecfdb4799" /><Relationship Type="http://schemas.openxmlformats.org/officeDocument/2006/relationships/notesSlide" Target="/ppt/notesSlides/notesSlide6.xml" Id="Rcdd1f2ab057048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81836bc72649cc" /><Relationship Type="http://schemas.openxmlformats.org/officeDocument/2006/relationships/notesSlide" Target="/ppt/notesSlides/notesSlide7.xml" Id="R3101cc3597eb47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5edc3c6ef94f9b" /><Relationship Type="http://schemas.openxmlformats.org/officeDocument/2006/relationships/chart" Target="/ppt/slides/charts/chart1.xml" Id="R49b205fc610b47b3" /><Relationship Type="http://schemas.openxmlformats.org/officeDocument/2006/relationships/notesSlide" Target="/ppt/notesSlides/notesSlide8.xml" Id="R0afd05a0266943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4dc1ca4aa640f4" /><Relationship Type="http://schemas.openxmlformats.org/officeDocument/2006/relationships/chart" Target="/ppt/slides/charts/chart2.xml" Id="Rcce06be4299d448d" /><Relationship Type="http://schemas.openxmlformats.org/officeDocument/2006/relationships/notesSlide" Target="/ppt/notesSlides/notesSlide9.xml" Id="R25b068d77f9a4e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99e62240d3417a" /><Relationship Type="http://schemas.openxmlformats.org/officeDocument/2006/relationships/chart" Target="/ppt/slides/charts/chart3.xml" Id="R506ca7b6f72d42db" /><Relationship Type="http://schemas.openxmlformats.org/officeDocument/2006/relationships/notesSlide" Target="/ppt/notesSlides/notesSlide10.xml" Id="Rb90f6065ce984c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6fd5fac9c94414" /><Relationship Type="http://schemas.openxmlformats.org/officeDocument/2006/relationships/notesSlide" Target="/ppt/notesSlides/notesSlide11.xml" Id="Rda400ca8ce9b43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660509d508486b" /><Relationship Type="http://schemas.openxmlformats.org/officeDocument/2006/relationships/notesSlide" Target="/ppt/notesSlides/notesSlide12.xml" Id="R3fb070f0adf646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f050ec16584b46" /><Relationship Type="http://schemas.openxmlformats.org/officeDocument/2006/relationships/notesSlide" Target="/ppt/notesSlides/notesSlide13.xml" Id="R62deaa5358d947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f828599c76465d" /><Relationship Type="http://schemas.openxmlformats.org/officeDocument/2006/relationships/notesSlide" Target="/ppt/notesSlides/notesSlide14.xml" Id="R9140e92ba5a24b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a56ac0fd6146b5" /><Relationship Type="http://schemas.openxmlformats.org/officeDocument/2006/relationships/notesSlide" Target="/ppt/notesSlides/notesSlide15.xml" Id="R63946b809e1d48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335580761394461" /><Relationship Type="http://schemas.openxmlformats.org/officeDocument/2006/relationships/notesSlide" Target="/ppt/notesSlides/notesSlide16.xml" Id="Rd46893fbcd0440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2a1b451aaa4c16" /><Relationship Type="http://schemas.openxmlformats.org/officeDocument/2006/relationships/notesSlide" Target="/ppt/notesSlides/notesSlide17.xml" Id="R1169fbadb6f244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9c0cd670b5f4ed3" /><Relationship Type="http://schemas.openxmlformats.org/officeDocument/2006/relationships/notesSlide" Target="/ppt/notesSlides/notesSlide18.xml" Id="Rc9c377d3052346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ab8e4f614124a3c" /><Relationship Type="http://schemas.openxmlformats.org/officeDocument/2006/relationships/notesSlide" Target="/ppt/notesSlides/notesSlide19.xml" Id="Rd5d8096649c840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a1ea37304b4f57" /><Relationship Type="http://schemas.openxmlformats.org/officeDocument/2006/relationships/notesSlide" Target="/ppt/notesSlides/notesSlide20.xml" Id="Rf671972626874f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6dd005aa1c64c5d" /><Relationship Type="http://schemas.openxmlformats.org/officeDocument/2006/relationships/chart" Target="/ppt/slides/charts/chart4.xml" Id="Ra340818f6afb4631" /><Relationship Type="http://schemas.openxmlformats.org/officeDocument/2006/relationships/notesSlide" Target="/ppt/notesSlides/notesSlide21.xml" Id="R8cf948b844744f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eaac93f613a4450" /><Relationship Type="http://schemas.openxmlformats.org/officeDocument/2006/relationships/chart" Target="/ppt/slides/charts/chart5.xml" Id="R86d78908d25544b2" /><Relationship Type="http://schemas.openxmlformats.org/officeDocument/2006/relationships/notesSlide" Target="/ppt/notesSlides/notesSlide22.xml" Id="R9acb21cb35d242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7f78a9548d240b5" /><Relationship Type="http://schemas.openxmlformats.org/officeDocument/2006/relationships/notesSlide" Target="/ppt/notesSlides/notesSlide23.xml" Id="R5e698c6017e24d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b207a3e990b432e" /><Relationship Type="http://schemas.openxmlformats.org/officeDocument/2006/relationships/notesSlide" Target="/ppt/notesSlides/notesSlide24.xml" Id="Reec4460b77d04f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68f8651fcf4d06" /><Relationship Type="http://schemas.openxmlformats.org/officeDocument/2006/relationships/notesSlide" Target="/ppt/notesSlides/notesSlide25.xml" Id="Rf54446107a9b42e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6"/>
            <c:spPr>
              <a:solidFill xmlns:a="http://schemas.openxmlformats.org/drawingml/2006/main">
                <a:srgbClr val="17658A"/>
              </a:solidFill>
            </c:spPr>
          </c:marker>
          <c:xVal>
            <c:numRef>
              <c:f>'Chart Data'!$A$2:$A$3</c:f>
              <c:numCache>
                <c:formatCode>General</c:formatCode>
                <c:ptCount val="2"/>
                <c:pt idx="0">
                  <c:v>0</c:v>
                </c:pt>
                <c:pt idx="1">
                  <c:v>80</c:v>
                </c:pt>
              </c:numCache>
            </c:numRef>
          </c:xVal>
          <c:yVal>
            <c:numRef>
              <c:f>'Chart Data'!$B$2:$B$3</c:f>
              <c:numCache>
                <c:formatCode>0</c:formatCode>
                <c:ptCount val="2"/>
                <c:pt idx="0">
                  <c:v>40</c:v>
                </c:pt>
                <c:pt idx="1">
                  <c:v>0</c:v>
                </c:pt>
              </c:numCache>
            </c:numRef>
          </c:yVal>
        </c:ser>
        <c:ser>
          <c:idx val="1"/>
          <c:order val="1"/>
          <c:tx>
            <c:v>(0; 40)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(0; 40)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Data'!$C$2:$C$2</c:f>
              <c:numCache>
                <c:formatCode>General</c:formatCode>
                <c:ptCount val="1"/>
                <c:pt idx="0">
                  <c:v>0</c:v>
                </c:pt>
              </c:numCache>
            </c:numRef>
          </c:xVal>
          <c:yVal>
            <c:numRef>
              <c:f>'Chart Data'!$D$2:$D$2</c:f>
              <c:numCache>
                <c:formatCode>0</c:formatCode>
                <c:ptCount val="1"/>
                <c:pt idx="0">
                  <c:v>43</c:v>
                </c:pt>
              </c:numCache>
            </c:numRef>
          </c:yVal>
        </c:ser>
        <c:ser>
          <c:idx val="2"/>
          <c:order val="2"/>
          <c:tx>
            <c:v>(80; 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(80; 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Data'!$E$2:$E$2</c:f>
              <c:numCache>
                <c:formatCode>General</c:formatCode>
                <c:ptCount val="1"/>
                <c:pt idx="0">
                  <c:v>80</c:v>
                </c:pt>
              </c:numCache>
            </c:numRef>
          </c:xVal>
          <c:yVal>
            <c:numRef>
              <c:f>'Chart Data'!$F$2:$F$2</c:f>
              <c:numCache>
                <c:formatCode>0</c:formatCode>
                <c:ptCount val="1"/>
                <c:pt idx="0">
                  <c:v>3</c:v>
                </c:pt>
              </c:numCache>
            </c:numRef>
          </c:yVal>
        </c:ser>
        <c:ser>
          <c:idx val="3"/>
          <c:order val="3"/>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Data'!$G$2:$G$2</c:f>
              <c:numCache>
                <c:formatCode>General</c:formatCode>
                <c:ptCount val="1"/>
                <c:pt idx="0">
                  <c:v>71</c:v>
                </c:pt>
              </c:numCache>
            </c:numRef>
          </c:xVal>
          <c:yVal>
            <c:numRef>
              <c:f>'Chart Data'!$H$2:$H$2</c:f>
              <c:numCache>
                <c:formatCode>0</c:formatCode>
                <c:ptCount val="1"/>
                <c:pt idx="0">
                  <c:v>10</c:v>
                </c:pt>
              </c:numCache>
            </c:numRef>
          </c:yVal>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6"/>
            <c:spPr>
              <a:solidFill xmlns:a="http://schemas.openxmlformats.org/drawingml/2006/main">
                <a:srgbClr val="17658A"/>
              </a:solidFill>
            </c:spPr>
          </c:marker>
          <c:xVal>
            <c:numRef>
              <c:f>'Chart Data'!$A$2:$A$3</c:f>
              <c:numCache>
                <c:formatCode>General</c:formatCode>
                <c:ptCount val="2"/>
                <c:pt idx="0">
                  <c:v>0</c:v>
                </c:pt>
                <c:pt idx="1">
                  <c:v>80</c:v>
                </c:pt>
              </c:numCache>
            </c:numRef>
          </c:xVal>
          <c:yVal>
            <c:numRef>
              <c:f>'Chart Data'!$B$2:$B$3</c:f>
              <c:numCache>
                <c:formatCode>0</c:formatCode>
                <c:ptCount val="2"/>
                <c:pt idx="0">
                  <c:v>40</c:v>
                </c:pt>
                <c:pt idx="1">
                  <c:v>0</c:v>
                </c:pt>
              </c:numCache>
            </c:numRef>
          </c:yVal>
        </c:ser>
        <c:ser>
          <c:idx val="1"/>
          <c:order val="1"/>
          <c:tx>
            <c:v>(0; 40)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(0; 40)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Data'!$C$2:$C$2</c:f>
              <c:numCache>
                <c:formatCode>General</c:formatCode>
                <c:ptCount val="1"/>
                <c:pt idx="0">
                  <c:v>0</c:v>
                </c:pt>
              </c:numCache>
            </c:numRef>
          </c:xVal>
          <c:yVal>
            <c:numRef>
              <c:f>'Chart Data'!$D$2:$D$2</c:f>
              <c:numCache>
                <c:formatCode>0</c:formatCode>
                <c:ptCount val="1"/>
                <c:pt idx="0">
                  <c:v>43</c:v>
                </c:pt>
              </c:numCache>
            </c:numRef>
          </c:yVal>
        </c:ser>
        <c:ser>
          <c:idx val="2"/>
          <c:order val="2"/>
          <c:tx>
            <c:v>(80; 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(80; 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Data'!$E$2:$E$2</c:f>
              <c:numCache>
                <c:formatCode>General</c:formatCode>
                <c:ptCount val="1"/>
                <c:pt idx="0">
                  <c:v>80</c:v>
                </c:pt>
              </c:numCache>
            </c:numRef>
          </c:xVal>
          <c:yVal>
            <c:numRef>
              <c:f>'Chart Data'!$F$2:$F$2</c:f>
              <c:numCache>
                <c:formatCode>0</c:formatCode>
                <c:ptCount val="1"/>
                <c:pt idx="0">
                  <c:v>3</c:v>
                </c:pt>
              </c:numCache>
            </c:numRef>
          </c:yVal>
        </c:ser>
        <c:ser>
          <c:idx val="3"/>
          <c:order val="3"/>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Data'!$G$2:$G$2</c:f>
              <c:numCache>
                <c:formatCode>General</c:formatCode>
                <c:ptCount val="1"/>
                <c:pt idx="0">
                  <c:v>71</c:v>
                </c:pt>
              </c:numCache>
            </c:numRef>
          </c:xVal>
          <c:yVal>
            <c:numRef>
              <c:f>'Chart Data'!$H$2:$H$2</c:f>
              <c:numCache>
                <c:formatCode>0</c:formatCode>
                <c:ptCount val="1"/>
                <c:pt idx="0">
                  <c:v>10</c:v>
                </c:pt>
              </c:numCache>
            </c:numRef>
          </c:yVal>
        </c:ser>
        <c:ser>
          <c:idx val="4"/>
          <c:order val="4"/>
          <c:tx>
            <c:v>Prijslijn</c:v>
          </c:tx>
          <c:spPr>
            <a:ln xmlns:a="http://schemas.openxmlformats.org/drawingml/2006/main" w="28575">
              <a:solidFill>
                <a:srgbClr val="A94D16"/>
              </a:solidFill>
            </a:ln>
          </c:spPr>
          <c:marker>
            <c:symbol val="none"/>
          </c:marker>
          <c:xVal>
            <c:numRef>
              <c:f>'Chart Data'!$I$2:$I$3</c:f>
              <c:numCache>
                <c:formatCode>General</c:formatCode>
                <c:ptCount val="2"/>
                <c:pt idx="0">
                  <c:v>0</c:v>
                </c:pt>
                <c:pt idx="1">
                  <c:v>120</c:v>
                </c:pt>
              </c:numCache>
            </c:numRef>
          </c:xVal>
          <c:yVal>
            <c:numRef>
              <c:f>'Chart Data'!$J$2:$J$3</c:f>
              <c:numCache>
                <c:formatCode>0</c:formatCode>
                <c:ptCount val="2"/>
                <c:pt idx="0">
                  <c:v>16</c:v>
                </c:pt>
                <c:pt idx="1">
                  <c:v>16</c:v>
                </c:pt>
              </c:numCache>
            </c:numRef>
          </c:yVal>
        </c:ser>
        <c:ser>
          <c:idx val="5"/>
          <c:order val="5"/>
          <c:tx>
            <c:v>Hoeveelheid</c:v>
          </c:tx>
          <c:spPr>
            <a:ln xmlns:a="http://schemas.openxmlformats.org/drawingml/2006/main" w="19050">
              <a:solidFill>
                <a:srgbClr val="445B6B"/>
              </a:solidFill>
              <a:prstDash val="dash"/>
            </a:ln>
          </c:spPr>
          <c:marker>
            <c:symbol val="none"/>
          </c:marker>
          <c:xVal>
            <c:numRef>
              <c:f>'Chart Data'!$K$2:$K$3</c:f>
              <c:numCache>
                <c:formatCode>General</c:formatCode>
                <c:ptCount val="2"/>
                <c:pt idx="0">
                  <c:v>48</c:v>
                </c:pt>
                <c:pt idx="1">
                  <c:v>48</c:v>
                </c:pt>
              </c:numCache>
            </c:numRef>
          </c:xVal>
          <c:yVal>
            <c:numRef>
              <c:f>'Chart Data'!$L$2:$L$3</c:f>
              <c:numCache>
                <c:formatCode>0</c:formatCode>
                <c:ptCount val="2"/>
                <c:pt idx="0">
                  <c:v>0</c:v>
                </c:pt>
                <c:pt idx="1">
                  <c:v>16</c:v>
                </c:pt>
              </c:numCache>
            </c:numRef>
          </c:yVal>
        </c:ser>
        <c:ser>
          <c:idx val="6"/>
          <c:order val="6"/>
          <c:tx>
            <c:v>Snijpunt</c:v>
          </c:tx>
          <c:spPr>
            <a:ln xmlns:a="http://schemas.openxmlformats.org/drawingml/2006/main" w="0">
              <a:noFill/>
            </a:ln>
          </c:spPr>
          <c:marker>
            <c:symbol val="circle"/>
            <c:size val="8"/>
            <c:spPr>
              <a:noFill xmlns:a="http://schemas.openxmlformats.org/drawingml/2006/main"/>
            </c:spPr>
          </c:marker>
          <c:xVal>
            <c:numRef>
              <c:f>'Chart Data'!$M$2:$M$2</c:f>
              <c:numCache>
                <c:formatCode>General</c:formatCode>
                <c:ptCount val="1"/>
                <c:pt idx="0">
                  <c:v>48</c:v>
                </c:pt>
              </c:numCache>
            </c:numRef>
          </c:xVal>
          <c:yVal>
            <c:numRef>
              <c:f>'Chart Data'!$N$2:$N$2</c:f>
              <c:numCache>
                <c:formatCode>0</c:formatCode>
                <c:ptCount val="1"/>
                <c:pt idx="0">
                  <c:v>16</c:v>
                </c:pt>
              </c:numCache>
            </c:numRef>
          </c:yVal>
        </c:ser>
        <c:ser>
          <c:idx val="7"/>
          <c:order val="7"/>
          <c:tx>
            <c:v>(48; 16)</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(48; 16)</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48</c:v>
                </c:pt>
              </c:numCache>
            </c:numRef>
          </c:xVal>
          <c:yVal>
            <c:numRef>
              <c:f>'Chart Data'!$P$2:$P$2</c:f>
              <c:numCache>
                <c:formatCode>0</c:formatCode>
                <c:ptCount val="1"/>
                <c:pt idx="0">
                  <c:v>20</c:v>
                </c:pt>
              </c:numCache>
            </c:numRef>
          </c:yVal>
        </c:ser>
        <c:ser>
          <c:idx val="8"/>
          <c:order val="8"/>
          <c:tx>
            <c:v>P = 16</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P = 16</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dLbls>
          <c:xVal>
            <c:numRef>
              <c:f>'Chart Data'!$Q$2:$Q$2</c:f>
              <c:numCache>
                <c:formatCode>General</c:formatCode>
                <c:ptCount val="1"/>
                <c:pt idx="0">
                  <c:v>106</c:v>
                </c:pt>
              </c:numCache>
            </c:numRef>
          </c:xVal>
          <c:yVal>
            <c:numRef>
              <c:f>'Chart Data'!$R$2:$R$2</c:f>
              <c:numCache>
                <c:formatCode>0</c:formatCode>
                <c:ptCount val="1"/>
                <c:pt idx="0">
                  <c:v>20</c:v>
                </c:pt>
              </c:numCache>
            </c:numRef>
          </c:yVal>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CS-arcering 3</c:v>
          </c:tx>
          <c:spPr>
            <a:ln xmlns:a="http://schemas.openxmlformats.org/drawingml/2006/main" w="19050">
              <a:solidFill>
                <a:srgbClr val="7BACBF"/>
              </a:solidFill>
            </a:ln>
          </c:spPr>
          <c:marker>
            <c:symbol val="none"/>
          </c:marker>
          <c:xVal>
            <c:numRef>
              <c:f>'Chart Data'!$A$2:$A$3</c:f>
              <c:numCache>
                <c:formatCode>General</c:formatCode>
                <c:ptCount val="2"/>
                <c:pt idx="0">
                  <c:v>3</c:v>
                </c:pt>
                <c:pt idx="1">
                  <c:v>3</c:v>
                </c:pt>
              </c:numCache>
            </c:numRef>
          </c:xVal>
          <c:yVal>
            <c:numRef>
              <c:f>'Chart Data'!$B$2:$B$3</c:f>
              <c:numCache>
                <c:formatCode>0</c:formatCode>
                <c:ptCount val="2"/>
                <c:pt idx="0">
                  <c:v>16</c:v>
                </c:pt>
                <c:pt idx="1">
                  <c:v>38.5</c:v>
                </c:pt>
              </c:numCache>
            </c:numRef>
          </c:yVal>
        </c:ser>
        <c:ser>
          <c:idx val="1"/>
          <c:order val="1"/>
          <c:tx>
            <c:v>CS-arcering 6</c:v>
          </c:tx>
          <c:spPr>
            <a:ln xmlns:a="http://schemas.openxmlformats.org/drawingml/2006/main" w="19050">
              <a:solidFill>
                <a:srgbClr val="7BACBF"/>
              </a:solidFill>
            </a:ln>
          </c:spPr>
          <c:marker>
            <c:symbol val="none"/>
          </c:marker>
          <c:xVal>
            <c:numRef>
              <c:f>'Chart Data'!$C$2:$C$3</c:f>
              <c:numCache>
                <c:formatCode>General</c:formatCode>
                <c:ptCount val="2"/>
                <c:pt idx="0">
                  <c:v>6</c:v>
                </c:pt>
                <c:pt idx="1">
                  <c:v>6</c:v>
                </c:pt>
              </c:numCache>
            </c:numRef>
          </c:xVal>
          <c:yVal>
            <c:numRef>
              <c:f>'Chart Data'!$D$2:$D$3</c:f>
              <c:numCache>
                <c:formatCode>0</c:formatCode>
                <c:ptCount val="2"/>
                <c:pt idx="0">
                  <c:v>16</c:v>
                </c:pt>
                <c:pt idx="1">
                  <c:v>37</c:v>
                </c:pt>
              </c:numCache>
            </c:numRef>
          </c:yVal>
        </c:ser>
        <c:ser>
          <c:idx val="2"/>
          <c:order val="2"/>
          <c:tx>
            <c:v>CS-arcering 9</c:v>
          </c:tx>
          <c:spPr>
            <a:ln xmlns:a="http://schemas.openxmlformats.org/drawingml/2006/main" w="19050">
              <a:solidFill>
                <a:srgbClr val="7BACBF"/>
              </a:solidFill>
            </a:ln>
          </c:spPr>
          <c:marker>
            <c:symbol val="none"/>
          </c:marker>
          <c:xVal>
            <c:numRef>
              <c:f>'Chart Data'!$E$2:$E$3</c:f>
              <c:numCache>
                <c:formatCode>General</c:formatCode>
                <c:ptCount val="2"/>
                <c:pt idx="0">
                  <c:v>9</c:v>
                </c:pt>
                <c:pt idx="1">
                  <c:v>9</c:v>
                </c:pt>
              </c:numCache>
            </c:numRef>
          </c:xVal>
          <c:yVal>
            <c:numRef>
              <c:f>'Chart Data'!$F$2:$F$3</c:f>
              <c:numCache>
                <c:formatCode>0</c:formatCode>
                <c:ptCount val="2"/>
                <c:pt idx="0">
                  <c:v>16</c:v>
                </c:pt>
                <c:pt idx="1">
                  <c:v>35.5</c:v>
                </c:pt>
              </c:numCache>
            </c:numRef>
          </c:yVal>
        </c:ser>
        <c:ser>
          <c:idx val="3"/>
          <c:order val="3"/>
          <c:tx>
            <c:v>CS-arcering 12</c:v>
          </c:tx>
          <c:spPr>
            <a:ln xmlns:a="http://schemas.openxmlformats.org/drawingml/2006/main" w="19050">
              <a:solidFill>
                <a:srgbClr val="7BACBF"/>
              </a:solidFill>
            </a:ln>
          </c:spPr>
          <c:marker>
            <c:symbol val="none"/>
          </c:marker>
          <c:xVal>
            <c:numRef>
              <c:f>'Chart Data'!$G$2:$G$3</c:f>
              <c:numCache>
                <c:formatCode>General</c:formatCode>
                <c:ptCount val="2"/>
                <c:pt idx="0">
                  <c:v>12</c:v>
                </c:pt>
                <c:pt idx="1">
                  <c:v>12</c:v>
                </c:pt>
              </c:numCache>
            </c:numRef>
          </c:xVal>
          <c:yVal>
            <c:numRef>
              <c:f>'Chart Data'!$H$2:$H$3</c:f>
              <c:numCache>
                <c:formatCode>0</c:formatCode>
                <c:ptCount val="2"/>
                <c:pt idx="0">
                  <c:v>16</c:v>
                </c:pt>
                <c:pt idx="1">
                  <c:v>34</c:v>
                </c:pt>
              </c:numCache>
            </c:numRef>
          </c:yVal>
        </c:ser>
        <c:ser>
          <c:idx val="4"/>
          <c:order val="4"/>
          <c:tx>
            <c:v>CS-arcering 15</c:v>
          </c:tx>
          <c:spPr>
            <a:ln xmlns:a="http://schemas.openxmlformats.org/drawingml/2006/main" w="19050">
              <a:solidFill>
                <a:srgbClr val="7BACBF"/>
              </a:solidFill>
            </a:ln>
          </c:spPr>
          <c:marker>
            <c:symbol val="none"/>
          </c:marker>
          <c:xVal>
            <c:numRef>
              <c:f>'Chart Data'!$I$2:$I$3</c:f>
              <c:numCache>
                <c:formatCode>General</c:formatCode>
                <c:ptCount val="2"/>
                <c:pt idx="0">
                  <c:v>15</c:v>
                </c:pt>
                <c:pt idx="1">
                  <c:v>15</c:v>
                </c:pt>
              </c:numCache>
            </c:numRef>
          </c:xVal>
          <c:yVal>
            <c:numRef>
              <c:f>'Chart Data'!$J$2:$J$3</c:f>
              <c:numCache>
                <c:formatCode>0</c:formatCode>
                <c:ptCount val="2"/>
                <c:pt idx="0">
                  <c:v>16</c:v>
                </c:pt>
                <c:pt idx="1">
                  <c:v>32.5</c:v>
                </c:pt>
              </c:numCache>
            </c:numRef>
          </c:yVal>
        </c:ser>
        <c:ser>
          <c:idx val="5"/>
          <c:order val="5"/>
          <c:tx>
            <c:v>CS-arcering 18</c:v>
          </c:tx>
          <c:spPr>
            <a:ln xmlns:a="http://schemas.openxmlformats.org/drawingml/2006/main" w="19050">
              <a:solidFill>
                <a:srgbClr val="7BACBF"/>
              </a:solidFill>
            </a:ln>
          </c:spPr>
          <c:marker>
            <c:symbol val="none"/>
          </c:marker>
          <c:xVal>
            <c:numRef>
              <c:f>'Chart Data'!$K$2:$K$3</c:f>
              <c:numCache>
                <c:formatCode>General</c:formatCode>
                <c:ptCount val="2"/>
                <c:pt idx="0">
                  <c:v>18</c:v>
                </c:pt>
                <c:pt idx="1">
                  <c:v>18</c:v>
                </c:pt>
              </c:numCache>
            </c:numRef>
          </c:xVal>
          <c:yVal>
            <c:numRef>
              <c:f>'Chart Data'!$L$2:$L$3</c:f>
              <c:numCache>
                <c:formatCode>0</c:formatCode>
                <c:ptCount val="2"/>
                <c:pt idx="0">
                  <c:v>16</c:v>
                </c:pt>
                <c:pt idx="1">
                  <c:v>31</c:v>
                </c:pt>
              </c:numCache>
            </c:numRef>
          </c:yVal>
        </c:ser>
        <c:ser>
          <c:idx val="6"/>
          <c:order val="6"/>
          <c:tx>
            <c:v>CS-arcering 21</c:v>
          </c:tx>
          <c:spPr>
            <a:ln xmlns:a="http://schemas.openxmlformats.org/drawingml/2006/main" w="19050">
              <a:solidFill>
                <a:srgbClr val="7BACBF"/>
              </a:solidFill>
            </a:ln>
          </c:spPr>
          <c:marker>
            <c:symbol val="none"/>
          </c:marker>
          <c:xVal>
            <c:numRef>
              <c:f>'Chart Data'!$M$2:$M$3</c:f>
              <c:numCache>
                <c:formatCode>General</c:formatCode>
                <c:ptCount val="2"/>
                <c:pt idx="0">
                  <c:v>21</c:v>
                </c:pt>
                <c:pt idx="1">
                  <c:v>21</c:v>
                </c:pt>
              </c:numCache>
            </c:numRef>
          </c:xVal>
          <c:yVal>
            <c:numRef>
              <c:f>'Chart Data'!$N$2:$N$3</c:f>
              <c:numCache>
                <c:formatCode>0</c:formatCode>
                <c:ptCount val="2"/>
                <c:pt idx="0">
                  <c:v>16</c:v>
                </c:pt>
                <c:pt idx="1">
                  <c:v>29.5</c:v>
                </c:pt>
              </c:numCache>
            </c:numRef>
          </c:yVal>
        </c:ser>
        <c:ser>
          <c:idx val="7"/>
          <c:order val="7"/>
          <c:tx>
            <c:v>CS-arcering 24</c:v>
          </c:tx>
          <c:spPr>
            <a:ln xmlns:a="http://schemas.openxmlformats.org/drawingml/2006/main" w="19050">
              <a:solidFill>
                <a:srgbClr val="7BACBF"/>
              </a:solidFill>
            </a:ln>
          </c:spPr>
          <c:marker>
            <c:symbol val="none"/>
          </c:marker>
          <c:xVal>
            <c:numRef>
              <c:f>'Chart Data'!$O$2:$O$3</c:f>
              <c:numCache>
                <c:formatCode>General</c:formatCode>
                <c:ptCount val="2"/>
                <c:pt idx="0">
                  <c:v>24</c:v>
                </c:pt>
                <c:pt idx="1">
                  <c:v>24</c:v>
                </c:pt>
              </c:numCache>
            </c:numRef>
          </c:xVal>
          <c:yVal>
            <c:numRef>
              <c:f>'Chart Data'!$P$2:$P$3</c:f>
              <c:numCache>
                <c:formatCode>0</c:formatCode>
                <c:ptCount val="2"/>
                <c:pt idx="0">
                  <c:v>16</c:v>
                </c:pt>
                <c:pt idx="1">
                  <c:v>28</c:v>
                </c:pt>
              </c:numCache>
            </c:numRef>
          </c:yVal>
        </c:ser>
        <c:ser>
          <c:idx val="8"/>
          <c:order val="8"/>
          <c:tx>
            <c:v>CS-arcering 27</c:v>
          </c:tx>
          <c:spPr>
            <a:ln xmlns:a="http://schemas.openxmlformats.org/drawingml/2006/main" w="19050">
              <a:solidFill>
                <a:srgbClr val="7BACBF"/>
              </a:solidFill>
            </a:ln>
          </c:spPr>
          <c:marker>
            <c:symbol val="none"/>
          </c:marker>
          <c:xVal>
            <c:numRef>
              <c:f>'Chart Data'!$Q$2:$Q$3</c:f>
              <c:numCache>
                <c:formatCode>General</c:formatCode>
                <c:ptCount val="2"/>
                <c:pt idx="0">
                  <c:v>27</c:v>
                </c:pt>
                <c:pt idx="1">
                  <c:v>27</c:v>
                </c:pt>
              </c:numCache>
            </c:numRef>
          </c:xVal>
          <c:yVal>
            <c:numRef>
              <c:f>'Chart Data'!$R$2:$R$3</c:f>
              <c:numCache>
                <c:formatCode>0</c:formatCode>
                <c:ptCount val="2"/>
                <c:pt idx="0">
                  <c:v>16</c:v>
                </c:pt>
                <c:pt idx="1">
                  <c:v>26.5</c:v>
                </c:pt>
              </c:numCache>
            </c:numRef>
          </c:yVal>
        </c:ser>
        <c:ser>
          <c:idx val="9"/>
          <c:order val="9"/>
          <c:tx>
            <c:v>CS-arcering 30</c:v>
          </c:tx>
          <c:spPr>
            <a:ln xmlns:a="http://schemas.openxmlformats.org/drawingml/2006/main" w="19050">
              <a:solidFill>
                <a:srgbClr val="7BACBF"/>
              </a:solidFill>
            </a:ln>
          </c:spPr>
          <c:marker>
            <c:symbol val="none"/>
          </c:marker>
          <c:xVal>
            <c:numRef>
              <c:f>'Chart Data'!$S$2:$S$3</c:f>
              <c:numCache>
                <c:formatCode>General</c:formatCode>
                <c:ptCount val="2"/>
                <c:pt idx="0">
                  <c:v>30</c:v>
                </c:pt>
                <c:pt idx="1">
                  <c:v>30</c:v>
                </c:pt>
              </c:numCache>
            </c:numRef>
          </c:xVal>
          <c:yVal>
            <c:numRef>
              <c:f>'Chart Data'!$T$2:$T$3</c:f>
              <c:numCache>
                <c:formatCode>0</c:formatCode>
                <c:ptCount val="2"/>
                <c:pt idx="0">
                  <c:v>16</c:v>
                </c:pt>
                <c:pt idx="1">
                  <c:v>25</c:v>
                </c:pt>
              </c:numCache>
            </c:numRef>
          </c:yVal>
        </c:ser>
        <c:ser>
          <c:idx val="10"/>
          <c:order val="10"/>
          <c:tx>
            <c:v>CS-arcering 33</c:v>
          </c:tx>
          <c:spPr>
            <a:ln xmlns:a="http://schemas.openxmlformats.org/drawingml/2006/main" w="19050">
              <a:solidFill>
                <a:srgbClr val="7BACBF"/>
              </a:solidFill>
            </a:ln>
          </c:spPr>
          <c:marker>
            <c:symbol val="none"/>
          </c:marker>
          <c:xVal>
            <c:numRef>
              <c:f>'Chart Data'!$U$2:$U$3</c:f>
              <c:numCache>
                <c:formatCode>General</c:formatCode>
                <c:ptCount val="2"/>
                <c:pt idx="0">
                  <c:v>33</c:v>
                </c:pt>
                <c:pt idx="1">
                  <c:v>33</c:v>
                </c:pt>
              </c:numCache>
            </c:numRef>
          </c:xVal>
          <c:yVal>
            <c:numRef>
              <c:f>'Chart Data'!$V$2:$V$3</c:f>
              <c:numCache>
                <c:formatCode>0</c:formatCode>
                <c:ptCount val="2"/>
                <c:pt idx="0">
                  <c:v>16</c:v>
                </c:pt>
                <c:pt idx="1">
                  <c:v>23.5</c:v>
                </c:pt>
              </c:numCache>
            </c:numRef>
          </c:yVal>
        </c:ser>
        <c:ser>
          <c:idx val="11"/>
          <c:order val="11"/>
          <c:tx>
            <c:v>CS-arcering 36</c:v>
          </c:tx>
          <c:spPr>
            <a:ln xmlns:a="http://schemas.openxmlformats.org/drawingml/2006/main" w="19050">
              <a:solidFill>
                <a:srgbClr val="7BACBF"/>
              </a:solidFill>
            </a:ln>
          </c:spPr>
          <c:marker>
            <c:symbol val="none"/>
          </c:marker>
          <c:xVal>
            <c:numRef>
              <c:f>'Chart Data'!$W$2:$W$3</c:f>
              <c:numCache>
                <c:formatCode>General</c:formatCode>
                <c:ptCount val="2"/>
                <c:pt idx="0">
                  <c:v>36</c:v>
                </c:pt>
                <c:pt idx="1">
                  <c:v>36</c:v>
                </c:pt>
              </c:numCache>
            </c:numRef>
          </c:xVal>
          <c:yVal>
            <c:numRef>
              <c:f>'Chart Data'!$X$2:$X$3</c:f>
              <c:numCache>
                <c:formatCode>0</c:formatCode>
                <c:ptCount val="2"/>
                <c:pt idx="0">
                  <c:v>16</c:v>
                </c:pt>
                <c:pt idx="1">
                  <c:v>22</c:v>
                </c:pt>
              </c:numCache>
            </c:numRef>
          </c:yVal>
        </c:ser>
        <c:ser>
          <c:idx val="12"/>
          <c:order val="12"/>
          <c:tx>
            <c:v>CS-arcering 39</c:v>
          </c:tx>
          <c:spPr>
            <a:ln xmlns:a="http://schemas.openxmlformats.org/drawingml/2006/main" w="19050">
              <a:solidFill>
                <a:srgbClr val="7BACBF"/>
              </a:solidFill>
            </a:ln>
          </c:spPr>
          <c:marker>
            <c:symbol val="none"/>
          </c:marker>
          <c:xVal>
            <c:numRef>
              <c:f>'Chart Data'!$Y$2:$Y$3</c:f>
              <c:numCache>
                <c:formatCode>General</c:formatCode>
                <c:ptCount val="2"/>
                <c:pt idx="0">
                  <c:v>39</c:v>
                </c:pt>
                <c:pt idx="1">
                  <c:v>39</c:v>
                </c:pt>
              </c:numCache>
            </c:numRef>
          </c:xVal>
          <c:yVal>
            <c:numRef>
              <c:f>'Chart Data'!$Z$2:$Z$3</c:f>
              <c:numCache>
                <c:formatCode>0</c:formatCode>
                <c:ptCount val="2"/>
                <c:pt idx="0">
                  <c:v>16</c:v>
                </c:pt>
                <c:pt idx="1">
                  <c:v>20.5</c:v>
                </c:pt>
              </c:numCache>
            </c:numRef>
          </c:yVal>
        </c:ser>
        <c:ser>
          <c:idx val="13"/>
          <c:order val="13"/>
          <c:tx>
            <c:v>CS-arcering 42</c:v>
          </c:tx>
          <c:spPr>
            <a:ln xmlns:a="http://schemas.openxmlformats.org/drawingml/2006/main" w="19050">
              <a:solidFill>
                <a:srgbClr val="7BACBF"/>
              </a:solidFill>
            </a:ln>
          </c:spPr>
          <c:marker>
            <c:symbol val="none"/>
          </c:marker>
          <c:xVal>
            <c:numRef>
              <c:f>'Chart Data'!$AA$2:$AA$3</c:f>
              <c:numCache>
                <c:formatCode>General</c:formatCode>
                <c:ptCount val="2"/>
                <c:pt idx="0">
                  <c:v>42</c:v>
                </c:pt>
                <c:pt idx="1">
                  <c:v>42</c:v>
                </c:pt>
              </c:numCache>
            </c:numRef>
          </c:xVal>
          <c:yVal>
            <c:numRef>
              <c:f>'Chart Data'!$AB$2:$AB$3</c:f>
              <c:numCache>
                <c:formatCode>0</c:formatCode>
                <c:ptCount val="2"/>
                <c:pt idx="0">
                  <c:v>16</c:v>
                </c:pt>
                <c:pt idx="1">
                  <c:v>19</c:v>
                </c:pt>
              </c:numCache>
            </c:numRef>
          </c:yVal>
        </c:ser>
        <c:ser>
          <c:idx val="14"/>
          <c:order val="14"/>
          <c:tx>
            <c:v>CS-arcering 45</c:v>
          </c:tx>
          <c:spPr>
            <a:ln xmlns:a="http://schemas.openxmlformats.org/drawingml/2006/main" w="19050">
              <a:solidFill>
                <a:srgbClr val="7BACBF"/>
              </a:solidFill>
            </a:ln>
          </c:spPr>
          <c:marker>
            <c:symbol val="none"/>
          </c:marker>
          <c:xVal>
            <c:numRef>
              <c:f>'Chart Data'!$AC$2:$AC$3</c:f>
              <c:numCache>
                <c:formatCode>General</c:formatCode>
                <c:ptCount val="2"/>
                <c:pt idx="0">
                  <c:v>45</c:v>
                </c:pt>
                <c:pt idx="1">
                  <c:v>45</c:v>
                </c:pt>
              </c:numCache>
            </c:numRef>
          </c:xVal>
          <c:yVal>
            <c:numRef>
              <c:f>'Chart Data'!$AD$2:$AD$3</c:f>
              <c:numCache>
                <c:formatCode>0</c:formatCode>
                <c:ptCount val="2"/>
                <c:pt idx="0">
                  <c:v>16</c:v>
                </c:pt>
                <c:pt idx="1">
                  <c:v>17.5</c:v>
                </c:pt>
              </c:numCache>
            </c:numRef>
          </c:yVal>
        </c:ser>
        <c:ser>
          <c:idx val="15"/>
          <c:order val="15"/>
          <c:tx>
            <c:v>V</c:v>
          </c:tx>
          <c:spPr>
            <a:ln xmlns:a="http://schemas.openxmlformats.org/drawingml/2006/main" w="38100">
              <a:solidFill>
                <a:srgbClr val="17658A"/>
              </a:solidFill>
            </a:ln>
          </c:spPr>
          <c:marker>
            <c:symbol val="circle"/>
            <c:size val="6"/>
            <c:spPr>
              <a:solidFill xmlns:a="http://schemas.openxmlformats.org/drawingml/2006/main">
                <a:srgbClr val="17658A"/>
              </a:solidFill>
            </c:spPr>
          </c:marker>
          <c:xVal>
            <c:numRef>
              <c:f>'Chart Data'!$AE$2:$AE$3</c:f>
              <c:numCache>
                <c:formatCode>General</c:formatCode>
                <c:ptCount val="2"/>
                <c:pt idx="0">
                  <c:v>0</c:v>
                </c:pt>
                <c:pt idx="1">
                  <c:v>80</c:v>
                </c:pt>
              </c:numCache>
            </c:numRef>
          </c:xVal>
          <c:yVal>
            <c:numRef>
              <c:f>'Chart Data'!$AF$2:$AF$3</c:f>
              <c:numCache>
                <c:formatCode>0</c:formatCode>
                <c:ptCount val="2"/>
                <c:pt idx="0">
                  <c:v>40</c:v>
                </c:pt>
                <c:pt idx="1">
                  <c:v>0</c:v>
                </c:pt>
              </c:numCache>
            </c:numRef>
          </c:yVal>
        </c:ser>
        <c:ser>
          <c:idx val="16"/>
          <c:order val="16"/>
          <c:tx>
            <c:v>(0; 40)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(0; 40)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Data'!$AG$2:$AG$2</c:f>
              <c:numCache>
                <c:formatCode>General</c:formatCode>
                <c:ptCount val="1"/>
                <c:pt idx="0">
                  <c:v>0</c:v>
                </c:pt>
              </c:numCache>
            </c:numRef>
          </c:xVal>
          <c:yVal>
            <c:numRef>
              <c:f>'Chart Data'!$AH$2:$AH$2</c:f>
              <c:numCache>
                <c:formatCode>0</c:formatCode>
                <c:ptCount val="1"/>
                <c:pt idx="0">
                  <c:v>43</c:v>
                </c:pt>
              </c:numCache>
            </c:numRef>
          </c:yVal>
        </c:ser>
        <c:ser>
          <c:idx val="17"/>
          <c:order val="17"/>
          <c:tx>
            <c:v>(80; 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(80; 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Data'!$AI$2:$AI$2</c:f>
              <c:numCache>
                <c:formatCode>General</c:formatCode>
                <c:ptCount val="1"/>
                <c:pt idx="0">
                  <c:v>80</c:v>
                </c:pt>
              </c:numCache>
            </c:numRef>
          </c:xVal>
          <c:yVal>
            <c:numRef>
              <c:f>'Chart Data'!$AJ$2:$AJ$2</c:f>
              <c:numCache>
                <c:formatCode>0</c:formatCode>
                <c:ptCount val="1"/>
                <c:pt idx="0">
                  <c:v>3</c:v>
                </c:pt>
              </c:numCache>
            </c:numRef>
          </c:yVal>
        </c:ser>
        <c:ser>
          <c:idx val="18"/>
          <c:order val="18"/>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Data'!$AK$2:$AK$2</c:f>
              <c:numCache>
                <c:formatCode>General</c:formatCode>
                <c:ptCount val="1"/>
                <c:pt idx="0">
                  <c:v>71</c:v>
                </c:pt>
              </c:numCache>
            </c:numRef>
          </c:xVal>
          <c:yVal>
            <c:numRef>
              <c:f>'Chart Data'!$AL$2:$AL$2</c:f>
              <c:numCache>
                <c:formatCode>0</c:formatCode>
                <c:ptCount val="1"/>
                <c:pt idx="0">
                  <c:v>10</c:v>
                </c:pt>
              </c:numCache>
            </c:numRef>
          </c:yVal>
        </c:ser>
        <c:ser>
          <c:idx val="19"/>
          <c:order val="19"/>
          <c:tx>
            <c:v>Prijslijn</c:v>
          </c:tx>
          <c:spPr>
            <a:ln xmlns:a="http://schemas.openxmlformats.org/drawingml/2006/main" w="28575">
              <a:solidFill>
                <a:srgbClr val="A94D16"/>
              </a:solidFill>
            </a:ln>
          </c:spPr>
          <c:marker>
            <c:symbol val="none"/>
          </c:marker>
          <c:xVal>
            <c:numRef>
              <c:f>'Chart Data'!$AM$2:$AM$3</c:f>
              <c:numCache>
                <c:formatCode>General</c:formatCode>
                <c:ptCount val="2"/>
                <c:pt idx="0">
                  <c:v>0</c:v>
                </c:pt>
                <c:pt idx="1">
                  <c:v>120</c:v>
                </c:pt>
              </c:numCache>
            </c:numRef>
          </c:xVal>
          <c:yVal>
            <c:numRef>
              <c:f>'Chart Data'!$AN$2:$AN$3</c:f>
              <c:numCache>
                <c:formatCode>0</c:formatCode>
                <c:ptCount val="2"/>
                <c:pt idx="0">
                  <c:v>16</c:v>
                </c:pt>
                <c:pt idx="1">
                  <c:v>16</c:v>
                </c:pt>
              </c:numCache>
            </c:numRef>
          </c:yVal>
        </c:ser>
        <c:ser>
          <c:idx val="20"/>
          <c:order val="20"/>
          <c:tx>
            <c:v>Hoeveelheid</c:v>
          </c:tx>
          <c:spPr>
            <a:ln xmlns:a="http://schemas.openxmlformats.org/drawingml/2006/main" w="19050">
              <a:solidFill>
                <a:srgbClr val="445B6B"/>
              </a:solidFill>
              <a:prstDash val="dash"/>
            </a:ln>
          </c:spPr>
          <c:marker>
            <c:symbol val="none"/>
          </c:marker>
          <c:xVal>
            <c:numRef>
              <c:f>'Chart Data'!$AO$2:$AO$3</c:f>
              <c:numCache>
                <c:formatCode>General</c:formatCode>
                <c:ptCount val="2"/>
                <c:pt idx="0">
                  <c:v>48</c:v>
                </c:pt>
                <c:pt idx="1">
                  <c:v>48</c:v>
                </c:pt>
              </c:numCache>
            </c:numRef>
          </c:xVal>
          <c:yVal>
            <c:numRef>
              <c:f>'Chart Data'!$AP$2:$AP$3</c:f>
              <c:numCache>
                <c:formatCode>0</c:formatCode>
                <c:ptCount val="2"/>
                <c:pt idx="0">
                  <c:v>0</c:v>
                </c:pt>
                <c:pt idx="1">
                  <c:v>16</c:v>
                </c:pt>
              </c:numCache>
            </c:numRef>
          </c:yVal>
        </c:ser>
        <c:ser>
          <c:idx val="21"/>
          <c:order val="21"/>
          <c:tx>
            <c:v>Snijpunt</c:v>
          </c:tx>
          <c:spPr>
            <a:ln xmlns:a="http://schemas.openxmlformats.org/drawingml/2006/main" w="0">
              <a:noFill/>
            </a:ln>
          </c:spPr>
          <c:marker>
            <c:symbol val="circle"/>
            <c:size val="8"/>
            <c:spPr>
              <a:noFill xmlns:a="http://schemas.openxmlformats.org/drawingml/2006/main"/>
            </c:spPr>
          </c:marker>
          <c:xVal>
            <c:numRef>
              <c:f>'Chart Data'!$AQ$2:$AQ$2</c:f>
              <c:numCache>
                <c:formatCode>General</c:formatCode>
                <c:ptCount val="1"/>
                <c:pt idx="0">
                  <c:v>48</c:v>
                </c:pt>
              </c:numCache>
            </c:numRef>
          </c:xVal>
          <c:yVal>
            <c:numRef>
              <c:f>'Chart Data'!$AR$2:$AR$2</c:f>
              <c:numCache>
                <c:formatCode>0</c:formatCode>
                <c:ptCount val="1"/>
                <c:pt idx="0">
                  <c:v>16</c:v>
                </c:pt>
              </c:numCache>
            </c:numRef>
          </c:yVal>
        </c:ser>
        <c:ser>
          <c:idx val="22"/>
          <c:order val="22"/>
          <c:tx>
            <c:v>(48; 16)</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(48; 16)</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Data'!$AS$2:$AS$2</c:f>
              <c:numCache>
                <c:formatCode>General</c:formatCode>
                <c:ptCount val="1"/>
                <c:pt idx="0">
                  <c:v>48</c:v>
                </c:pt>
              </c:numCache>
            </c:numRef>
          </c:xVal>
          <c:yVal>
            <c:numRef>
              <c:f>'Chart Data'!$AT$2:$AT$2</c:f>
              <c:numCache>
                <c:formatCode>0</c:formatCode>
                <c:ptCount val="1"/>
                <c:pt idx="0">
                  <c:v>20</c:v>
                </c:pt>
              </c:numCache>
            </c:numRef>
          </c:yVal>
        </c:ser>
        <c:ser>
          <c:idx val="23"/>
          <c:order val="23"/>
          <c:tx>
            <c:v>P = 16</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P = 16</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dLbls>
          <c:xVal>
            <c:numRef>
              <c:f>'Chart Data'!$AU$2:$AU$2</c:f>
              <c:numCache>
                <c:formatCode>General</c:formatCode>
                <c:ptCount val="1"/>
                <c:pt idx="0">
                  <c:v>106</c:v>
                </c:pt>
              </c:numCache>
            </c:numRef>
          </c:xVal>
          <c:yVal>
            <c:numRef>
              <c:f>'Chart Data'!$AV$2:$AV$2</c:f>
              <c:numCache>
                <c:formatCode>0</c:formatCode>
                <c:ptCount val="1"/>
                <c:pt idx="0">
                  <c:v>20</c:v>
                </c:pt>
              </c:numCache>
            </c:numRef>
          </c:yVal>
        </c:ser>
        <c:ser>
          <c:idx val="24"/>
          <c:order val="24"/>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CS</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Data'!$AW$2:$AW$2</c:f>
              <c:numCache>
                <c:formatCode>General</c:formatCode>
                <c:ptCount val="1"/>
                <c:pt idx="0">
                  <c:v>12.96</c:v>
                </c:pt>
              </c:numCache>
            </c:numRef>
          </c:xVal>
          <c:yVal>
            <c:numRef>
              <c:f>'Chart Data'!$AX$2:$AX$2</c:f>
              <c:numCache>
                <c:formatCode>0</c:formatCode>
                <c:ptCount val="1"/>
                <c:pt idx="0">
                  <c:v>24.4</c:v>
                </c:pt>
              </c:numCache>
            </c:numRef>
          </c:yVal>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6"/>
            <c:spPr>
              <a:solidFill xmlns:a="http://schemas.openxmlformats.org/drawingml/2006/main">
                <a:srgbClr val="17658A"/>
              </a:solidFill>
            </c:spPr>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er>
        <c:ser>
          <c:idx val="1"/>
          <c:order val="1"/>
          <c:tx>
            <c:v>(0; 50)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(0; 50)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Data'!$C$2:$C$2</c:f>
              <c:numCache>
                <c:formatCode>General</c:formatCode>
                <c:ptCount val="1"/>
                <c:pt idx="0">
                  <c:v>0</c:v>
                </c:pt>
              </c:numCache>
            </c:numRef>
          </c:xVal>
          <c:yVal>
            <c:numRef>
              <c:f>'Chart Data'!$D$2:$D$2</c:f>
              <c:numCache>
                <c:formatCode>0</c:formatCode>
                <c:ptCount val="1"/>
                <c:pt idx="0">
                  <c:v>53</c:v>
                </c:pt>
              </c:numCache>
            </c:numRef>
          </c:yVal>
        </c:ser>
        <c:ser>
          <c:idx val="2"/>
          <c:order val="2"/>
          <c:tx>
            <c:v>(100; 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(100; 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Data'!$E$2:$E$2</c:f>
              <c:numCache>
                <c:formatCode>General</c:formatCode>
                <c:ptCount val="1"/>
                <c:pt idx="0">
                  <c:v>100</c:v>
                </c:pt>
              </c:numCache>
            </c:numRef>
          </c:xVal>
          <c:yVal>
            <c:numRef>
              <c:f>'Chart Data'!$F$2:$F$2</c:f>
              <c:numCache>
                <c:formatCode>0</c:formatCode>
                <c:ptCount val="1"/>
                <c:pt idx="0">
                  <c:v>3</c:v>
                </c:pt>
              </c:numCache>
            </c:numRef>
          </c:yVal>
        </c:ser>
        <c:ser>
          <c:idx val="3"/>
          <c:order val="3"/>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Data'!$G$2:$G$2</c:f>
              <c:numCache>
                <c:formatCode>General</c:formatCode>
                <c:ptCount val="1"/>
                <c:pt idx="0">
                  <c:v>91</c:v>
                </c:pt>
              </c:numCache>
            </c:numRef>
          </c:xVal>
          <c:yVal>
            <c:numRef>
              <c:f>'Chart Data'!$H$2:$H$2</c:f>
              <c:numCache>
                <c:formatCode>0</c:formatCode>
                <c:ptCount val="1"/>
                <c:pt idx="0">
                  <c:v>10</c:v>
                </c:pt>
              </c:numCache>
            </c:numRef>
          </c:yVal>
        </c:ser>
        <c:ser>
          <c:idx val="4"/>
          <c:order val="4"/>
          <c:tx>
            <c:v>Prijslijn</c:v>
          </c:tx>
          <c:spPr>
            <a:ln xmlns:a="http://schemas.openxmlformats.org/drawingml/2006/main" w="28575">
              <a:solidFill>
                <a:srgbClr val="A94D16"/>
              </a:solidFill>
            </a:ln>
          </c:spPr>
          <c:marker>
            <c:symbol val="none"/>
          </c:marker>
          <c:xVal>
            <c:numRef>
              <c:f>'Chart Data'!$I$2:$I$3</c:f>
              <c:numCache>
                <c:formatCode>General</c:formatCode>
                <c:ptCount val="2"/>
                <c:pt idx="0">
                  <c:v>0</c:v>
                </c:pt>
                <c:pt idx="1">
                  <c:v>120</c:v>
                </c:pt>
              </c:numCache>
            </c:numRef>
          </c:xVal>
          <c:yVal>
            <c:numRef>
              <c:f>'Chart Data'!$J$2:$J$3</c:f>
              <c:numCache>
                <c:formatCode>0</c:formatCode>
                <c:ptCount val="2"/>
                <c:pt idx="0">
                  <c:v>20</c:v>
                </c:pt>
                <c:pt idx="1">
                  <c:v>20</c:v>
                </c:pt>
              </c:numCache>
            </c:numRef>
          </c:yVal>
        </c:ser>
        <c:ser>
          <c:idx val="5"/>
          <c:order val="5"/>
          <c:tx>
            <c:v>Hoeveelheid</c:v>
          </c:tx>
          <c:spPr>
            <a:ln xmlns:a="http://schemas.openxmlformats.org/drawingml/2006/main" w="19050">
              <a:solidFill>
                <a:srgbClr val="445B6B"/>
              </a:solidFill>
              <a:prstDash val="dash"/>
            </a:ln>
          </c:spPr>
          <c:marker>
            <c:symbol val="none"/>
          </c:marker>
          <c:xVal>
            <c:numRef>
              <c:f>'Chart Data'!$K$2:$K$3</c:f>
              <c:numCache>
                <c:formatCode>General</c:formatCode>
                <c:ptCount val="2"/>
                <c:pt idx="0">
                  <c:v>60</c:v>
                </c:pt>
                <c:pt idx="1">
                  <c:v>60</c:v>
                </c:pt>
              </c:numCache>
            </c:numRef>
          </c:xVal>
          <c:yVal>
            <c:numRef>
              <c:f>'Chart Data'!$L$2:$L$3</c:f>
              <c:numCache>
                <c:formatCode>0</c:formatCode>
                <c:ptCount val="2"/>
                <c:pt idx="0">
                  <c:v>0</c:v>
                </c:pt>
                <c:pt idx="1">
                  <c:v>20</c:v>
                </c:pt>
              </c:numCache>
            </c:numRef>
          </c:yVal>
        </c:ser>
        <c:ser>
          <c:idx val="6"/>
          <c:order val="6"/>
          <c:tx>
            <c:v>Snijpunt</c:v>
          </c:tx>
          <c:spPr>
            <a:ln xmlns:a="http://schemas.openxmlformats.org/drawingml/2006/main" w="0">
              <a:noFill/>
            </a:ln>
          </c:spPr>
          <c:marker>
            <c:symbol val="circle"/>
            <c:size val="8"/>
            <c:spPr>
              <a:noFill xmlns:a="http://schemas.openxmlformats.org/drawingml/2006/main"/>
            </c:spPr>
          </c:marker>
          <c:xVal>
            <c:numRef>
              <c:f>'Chart Data'!$M$2:$M$2</c:f>
              <c:numCache>
                <c:formatCode>General</c:formatCode>
                <c:ptCount val="1"/>
                <c:pt idx="0">
                  <c:v>60</c:v>
                </c:pt>
              </c:numCache>
            </c:numRef>
          </c:xVal>
          <c:yVal>
            <c:numRef>
              <c:f>'Chart Data'!$N$2:$N$2</c:f>
              <c:numCache>
                <c:formatCode>0</c:formatCode>
                <c:ptCount val="1"/>
                <c:pt idx="0">
                  <c:v>20</c:v>
                </c:pt>
              </c:numCache>
            </c:numRef>
          </c:yVal>
        </c:ser>
        <c:ser>
          <c:idx val="7"/>
          <c:order val="7"/>
          <c:tx>
            <c:v>(60; 20)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(60; 20)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60</c:v>
                </c:pt>
              </c:numCache>
            </c:numRef>
          </c:xVal>
          <c:yVal>
            <c:numRef>
              <c:f>'Chart Data'!$P$2:$P$2</c:f>
              <c:numCache>
                <c:formatCode>0</c:formatCode>
                <c:ptCount val="1"/>
                <c:pt idx="0">
                  <c:v>24</c:v>
                </c:pt>
              </c:numCache>
            </c:numRef>
          </c:yVal>
        </c:ser>
        <c:ser>
          <c:idx val="8"/>
          <c:order val="8"/>
          <c:tx>
            <c:v>P = 20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P = 20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dLbls>
          <c:xVal>
            <c:numRef>
              <c:f>'Chart Data'!$Q$2:$Q$2</c:f>
              <c:numCache>
                <c:formatCode>General</c:formatCode>
                <c:ptCount val="1"/>
                <c:pt idx="0">
                  <c:v>106</c:v>
                </c:pt>
              </c:numCache>
            </c:numRef>
          </c:xVal>
          <c:yVal>
            <c:numRef>
              <c:f>'Chart Data'!$R$2:$R$2</c:f>
              <c:numCache>
                <c:formatCode>0</c:formatCode>
                <c:ptCount val="1"/>
                <c:pt idx="0">
                  <c:v>24</c:v>
                </c:pt>
              </c:numCache>
            </c:numRef>
          </c:yVal>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CS-arcering 3</c:v>
          </c:tx>
          <c:spPr>
            <a:ln xmlns:a="http://schemas.openxmlformats.org/drawingml/2006/main" w="19050">
              <a:solidFill>
                <a:srgbClr val="7BACBF"/>
              </a:solidFill>
            </a:ln>
          </c:spPr>
          <c:marker>
            <c:symbol val="none"/>
          </c:marker>
          <c:xVal>
            <c:numRef>
              <c:f>'Chart Data'!$A$2:$A$3</c:f>
              <c:numCache>
                <c:formatCode>General</c:formatCode>
                <c:ptCount val="2"/>
                <c:pt idx="0">
                  <c:v>3</c:v>
                </c:pt>
                <c:pt idx="1">
                  <c:v>3</c:v>
                </c:pt>
              </c:numCache>
            </c:numRef>
          </c:xVal>
          <c:yVal>
            <c:numRef>
              <c:f>'Chart Data'!$B$2:$B$3</c:f>
              <c:numCache>
                <c:formatCode>0</c:formatCode>
                <c:ptCount val="2"/>
                <c:pt idx="0">
                  <c:v>20</c:v>
                </c:pt>
                <c:pt idx="1">
                  <c:v>48.5</c:v>
                </c:pt>
              </c:numCache>
            </c:numRef>
          </c:yVal>
        </c:ser>
        <c:ser>
          <c:idx val="1"/>
          <c:order val="1"/>
          <c:tx>
            <c:v>CS-arcering 6</c:v>
          </c:tx>
          <c:spPr>
            <a:ln xmlns:a="http://schemas.openxmlformats.org/drawingml/2006/main" w="19050">
              <a:solidFill>
                <a:srgbClr val="7BACBF"/>
              </a:solidFill>
            </a:ln>
          </c:spPr>
          <c:marker>
            <c:symbol val="none"/>
          </c:marker>
          <c:xVal>
            <c:numRef>
              <c:f>'Chart Data'!$C$2:$C$3</c:f>
              <c:numCache>
                <c:formatCode>General</c:formatCode>
                <c:ptCount val="2"/>
                <c:pt idx="0">
                  <c:v>6</c:v>
                </c:pt>
                <c:pt idx="1">
                  <c:v>6</c:v>
                </c:pt>
              </c:numCache>
            </c:numRef>
          </c:xVal>
          <c:yVal>
            <c:numRef>
              <c:f>'Chart Data'!$D$2:$D$3</c:f>
              <c:numCache>
                <c:formatCode>0</c:formatCode>
                <c:ptCount val="2"/>
                <c:pt idx="0">
                  <c:v>20</c:v>
                </c:pt>
                <c:pt idx="1">
                  <c:v>47</c:v>
                </c:pt>
              </c:numCache>
            </c:numRef>
          </c:yVal>
        </c:ser>
        <c:ser>
          <c:idx val="2"/>
          <c:order val="2"/>
          <c:tx>
            <c:v>CS-arcering 9</c:v>
          </c:tx>
          <c:spPr>
            <a:ln xmlns:a="http://schemas.openxmlformats.org/drawingml/2006/main" w="19050">
              <a:solidFill>
                <a:srgbClr val="7BACBF"/>
              </a:solidFill>
            </a:ln>
          </c:spPr>
          <c:marker>
            <c:symbol val="none"/>
          </c:marker>
          <c:xVal>
            <c:numRef>
              <c:f>'Chart Data'!$E$2:$E$3</c:f>
              <c:numCache>
                <c:formatCode>General</c:formatCode>
                <c:ptCount val="2"/>
                <c:pt idx="0">
                  <c:v>9</c:v>
                </c:pt>
                <c:pt idx="1">
                  <c:v>9</c:v>
                </c:pt>
              </c:numCache>
            </c:numRef>
          </c:xVal>
          <c:yVal>
            <c:numRef>
              <c:f>'Chart Data'!$F$2:$F$3</c:f>
              <c:numCache>
                <c:formatCode>0</c:formatCode>
                <c:ptCount val="2"/>
                <c:pt idx="0">
                  <c:v>20</c:v>
                </c:pt>
                <c:pt idx="1">
                  <c:v>45.5</c:v>
                </c:pt>
              </c:numCache>
            </c:numRef>
          </c:yVal>
        </c:ser>
        <c:ser>
          <c:idx val="3"/>
          <c:order val="3"/>
          <c:tx>
            <c:v>CS-arcering 12</c:v>
          </c:tx>
          <c:spPr>
            <a:ln xmlns:a="http://schemas.openxmlformats.org/drawingml/2006/main" w="19050">
              <a:solidFill>
                <a:srgbClr val="7BACBF"/>
              </a:solidFill>
            </a:ln>
          </c:spPr>
          <c:marker>
            <c:symbol val="none"/>
          </c:marker>
          <c:xVal>
            <c:numRef>
              <c:f>'Chart Data'!$G$2:$G$3</c:f>
              <c:numCache>
                <c:formatCode>General</c:formatCode>
                <c:ptCount val="2"/>
                <c:pt idx="0">
                  <c:v>12</c:v>
                </c:pt>
                <c:pt idx="1">
                  <c:v>12</c:v>
                </c:pt>
              </c:numCache>
            </c:numRef>
          </c:xVal>
          <c:yVal>
            <c:numRef>
              <c:f>'Chart Data'!$H$2:$H$3</c:f>
              <c:numCache>
                <c:formatCode>0</c:formatCode>
                <c:ptCount val="2"/>
                <c:pt idx="0">
                  <c:v>20</c:v>
                </c:pt>
                <c:pt idx="1">
                  <c:v>44</c:v>
                </c:pt>
              </c:numCache>
            </c:numRef>
          </c:yVal>
        </c:ser>
        <c:ser>
          <c:idx val="4"/>
          <c:order val="4"/>
          <c:tx>
            <c:v>CS-arcering 15</c:v>
          </c:tx>
          <c:spPr>
            <a:ln xmlns:a="http://schemas.openxmlformats.org/drawingml/2006/main" w="19050">
              <a:solidFill>
                <a:srgbClr val="7BACBF"/>
              </a:solidFill>
            </a:ln>
          </c:spPr>
          <c:marker>
            <c:symbol val="none"/>
          </c:marker>
          <c:xVal>
            <c:numRef>
              <c:f>'Chart Data'!$I$2:$I$3</c:f>
              <c:numCache>
                <c:formatCode>General</c:formatCode>
                <c:ptCount val="2"/>
                <c:pt idx="0">
                  <c:v>15</c:v>
                </c:pt>
                <c:pt idx="1">
                  <c:v>15</c:v>
                </c:pt>
              </c:numCache>
            </c:numRef>
          </c:xVal>
          <c:yVal>
            <c:numRef>
              <c:f>'Chart Data'!$J$2:$J$3</c:f>
              <c:numCache>
                <c:formatCode>0</c:formatCode>
                <c:ptCount val="2"/>
                <c:pt idx="0">
                  <c:v>20</c:v>
                </c:pt>
                <c:pt idx="1">
                  <c:v>42.5</c:v>
                </c:pt>
              </c:numCache>
            </c:numRef>
          </c:yVal>
        </c:ser>
        <c:ser>
          <c:idx val="5"/>
          <c:order val="5"/>
          <c:tx>
            <c:v>CS-arcering 18</c:v>
          </c:tx>
          <c:spPr>
            <a:ln xmlns:a="http://schemas.openxmlformats.org/drawingml/2006/main" w="19050">
              <a:solidFill>
                <a:srgbClr val="7BACBF"/>
              </a:solidFill>
            </a:ln>
          </c:spPr>
          <c:marker>
            <c:symbol val="none"/>
          </c:marker>
          <c:xVal>
            <c:numRef>
              <c:f>'Chart Data'!$K$2:$K$3</c:f>
              <c:numCache>
                <c:formatCode>General</c:formatCode>
                <c:ptCount val="2"/>
                <c:pt idx="0">
                  <c:v>18</c:v>
                </c:pt>
                <c:pt idx="1">
                  <c:v>18</c:v>
                </c:pt>
              </c:numCache>
            </c:numRef>
          </c:xVal>
          <c:yVal>
            <c:numRef>
              <c:f>'Chart Data'!$L$2:$L$3</c:f>
              <c:numCache>
                <c:formatCode>0</c:formatCode>
                <c:ptCount val="2"/>
                <c:pt idx="0">
                  <c:v>20</c:v>
                </c:pt>
                <c:pt idx="1">
                  <c:v>41</c:v>
                </c:pt>
              </c:numCache>
            </c:numRef>
          </c:yVal>
        </c:ser>
        <c:ser>
          <c:idx val="6"/>
          <c:order val="6"/>
          <c:tx>
            <c:v>CS-arcering 21</c:v>
          </c:tx>
          <c:spPr>
            <a:ln xmlns:a="http://schemas.openxmlformats.org/drawingml/2006/main" w="19050">
              <a:solidFill>
                <a:srgbClr val="7BACBF"/>
              </a:solidFill>
            </a:ln>
          </c:spPr>
          <c:marker>
            <c:symbol val="none"/>
          </c:marker>
          <c:xVal>
            <c:numRef>
              <c:f>'Chart Data'!$M$2:$M$3</c:f>
              <c:numCache>
                <c:formatCode>General</c:formatCode>
                <c:ptCount val="2"/>
                <c:pt idx="0">
                  <c:v>21</c:v>
                </c:pt>
                <c:pt idx="1">
                  <c:v>21</c:v>
                </c:pt>
              </c:numCache>
            </c:numRef>
          </c:xVal>
          <c:yVal>
            <c:numRef>
              <c:f>'Chart Data'!$N$2:$N$3</c:f>
              <c:numCache>
                <c:formatCode>0</c:formatCode>
                <c:ptCount val="2"/>
                <c:pt idx="0">
                  <c:v>20</c:v>
                </c:pt>
                <c:pt idx="1">
                  <c:v>39.5</c:v>
                </c:pt>
              </c:numCache>
            </c:numRef>
          </c:yVal>
        </c:ser>
        <c:ser>
          <c:idx val="7"/>
          <c:order val="7"/>
          <c:tx>
            <c:v>CS-arcering 24</c:v>
          </c:tx>
          <c:spPr>
            <a:ln xmlns:a="http://schemas.openxmlformats.org/drawingml/2006/main" w="19050">
              <a:solidFill>
                <a:srgbClr val="7BACBF"/>
              </a:solidFill>
            </a:ln>
          </c:spPr>
          <c:marker>
            <c:symbol val="none"/>
          </c:marker>
          <c:xVal>
            <c:numRef>
              <c:f>'Chart Data'!$O$2:$O$3</c:f>
              <c:numCache>
                <c:formatCode>General</c:formatCode>
                <c:ptCount val="2"/>
                <c:pt idx="0">
                  <c:v>24</c:v>
                </c:pt>
                <c:pt idx="1">
                  <c:v>24</c:v>
                </c:pt>
              </c:numCache>
            </c:numRef>
          </c:xVal>
          <c:yVal>
            <c:numRef>
              <c:f>'Chart Data'!$P$2:$P$3</c:f>
              <c:numCache>
                <c:formatCode>0</c:formatCode>
                <c:ptCount val="2"/>
                <c:pt idx="0">
                  <c:v>20</c:v>
                </c:pt>
                <c:pt idx="1">
                  <c:v>38</c:v>
                </c:pt>
              </c:numCache>
            </c:numRef>
          </c:yVal>
        </c:ser>
        <c:ser>
          <c:idx val="8"/>
          <c:order val="8"/>
          <c:tx>
            <c:v>CS-arcering 27</c:v>
          </c:tx>
          <c:spPr>
            <a:ln xmlns:a="http://schemas.openxmlformats.org/drawingml/2006/main" w="19050">
              <a:solidFill>
                <a:srgbClr val="7BACBF"/>
              </a:solidFill>
            </a:ln>
          </c:spPr>
          <c:marker>
            <c:symbol val="none"/>
          </c:marker>
          <c:xVal>
            <c:numRef>
              <c:f>'Chart Data'!$Q$2:$Q$3</c:f>
              <c:numCache>
                <c:formatCode>General</c:formatCode>
                <c:ptCount val="2"/>
                <c:pt idx="0">
                  <c:v>27</c:v>
                </c:pt>
                <c:pt idx="1">
                  <c:v>27</c:v>
                </c:pt>
              </c:numCache>
            </c:numRef>
          </c:xVal>
          <c:yVal>
            <c:numRef>
              <c:f>'Chart Data'!$R$2:$R$3</c:f>
              <c:numCache>
                <c:formatCode>0</c:formatCode>
                <c:ptCount val="2"/>
                <c:pt idx="0">
                  <c:v>20</c:v>
                </c:pt>
                <c:pt idx="1">
                  <c:v>36.5</c:v>
                </c:pt>
              </c:numCache>
            </c:numRef>
          </c:yVal>
        </c:ser>
        <c:ser>
          <c:idx val="9"/>
          <c:order val="9"/>
          <c:tx>
            <c:v>CS-arcering 30</c:v>
          </c:tx>
          <c:spPr>
            <a:ln xmlns:a="http://schemas.openxmlformats.org/drawingml/2006/main" w="19050">
              <a:solidFill>
                <a:srgbClr val="7BACBF"/>
              </a:solidFill>
            </a:ln>
          </c:spPr>
          <c:marker>
            <c:symbol val="none"/>
          </c:marker>
          <c:xVal>
            <c:numRef>
              <c:f>'Chart Data'!$S$2:$S$3</c:f>
              <c:numCache>
                <c:formatCode>General</c:formatCode>
                <c:ptCount val="2"/>
                <c:pt idx="0">
                  <c:v>30</c:v>
                </c:pt>
                <c:pt idx="1">
                  <c:v>30</c:v>
                </c:pt>
              </c:numCache>
            </c:numRef>
          </c:xVal>
          <c:yVal>
            <c:numRef>
              <c:f>'Chart Data'!$T$2:$T$3</c:f>
              <c:numCache>
                <c:formatCode>0</c:formatCode>
                <c:ptCount val="2"/>
                <c:pt idx="0">
                  <c:v>20</c:v>
                </c:pt>
                <c:pt idx="1">
                  <c:v>35</c:v>
                </c:pt>
              </c:numCache>
            </c:numRef>
          </c:yVal>
        </c:ser>
        <c:ser>
          <c:idx val="10"/>
          <c:order val="10"/>
          <c:tx>
            <c:v>CS-arcering 33</c:v>
          </c:tx>
          <c:spPr>
            <a:ln xmlns:a="http://schemas.openxmlformats.org/drawingml/2006/main" w="19050">
              <a:solidFill>
                <a:srgbClr val="7BACBF"/>
              </a:solidFill>
            </a:ln>
          </c:spPr>
          <c:marker>
            <c:symbol val="none"/>
          </c:marker>
          <c:xVal>
            <c:numRef>
              <c:f>'Chart Data'!$U$2:$U$3</c:f>
              <c:numCache>
                <c:formatCode>General</c:formatCode>
                <c:ptCount val="2"/>
                <c:pt idx="0">
                  <c:v>33</c:v>
                </c:pt>
                <c:pt idx="1">
                  <c:v>33</c:v>
                </c:pt>
              </c:numCache>
            </c:numRef>
          </c:xVal>
          <c:yVal>
            <c:numRef>
              <c:f>'Chart Data'!$V$2:$V$3</c:f>
              <c:numCache>
                <c:formatCode>0</c:formatCode>
                <c:ptCount val="2"/>
                <c:pt idx="0">
                  <c:v>20</c:v>
                </c:pt>
                <c:pt idx="1">
                  <c:v>33.5</c:v>
                </c:pt>
              </c:numCache>
            </c:numRef>
          </c:yVal>
        </c:ser>
        <c:ser>
          <c:idx val="11"/>
          <c:order val="11"/>
          <c:tx>
            <c:v>CS-arcering 36</c:v>
          </c:tx>
          <c:spPr>
            <a:ln xmlns:a="http://schemas.openxmlformats.org/drawingml/2006/main" w="19050">
              <a:solidFill>
                <a:srgbClr val="7BACBF"/>
              </a:solidFill>
            </a:ln>
          </c:spPr>
          <c:marker>
            <c:symbol val="none"/>
          </c:marker>
          <c:xVal>
            <c:numRef>
              <c:f>'Chart Data'!$W$2:$W$3</c:f>
              <c:numCache>
                <c:formatCode>General</c:formatCode>
                <c:ptCount val="2"/>
                <c:pt idx="0">
                  <c:v>36</c:v>
                </c:pt>
                <c:pt idx="1">
                  <c:v>36</c:v>
                </c:pt>
              </c:numCache>
            </c:numRef>
          </c:xVal>
          <c:yVal>
            <c:numRef>
              <c:f>'Chart Data'!$X$2:$X$3</c:f>
              <c:numCache>
                <c:formatCode>0</c:formatCode>
                <c:ptCount val="2"/>
                <c:pt idx="0">
                  <c:v>20</c:v>
                </c:pt>
                <c:pt idx="1">
                  <c:v>32</c:v>
                </c:pt>
              </c:numCache>
            </c:numRef>
          </c:yVal>
        </c:ser>
        <c:ser>
          <c:idx val="12"/>
          <c:order val="12"/>
          <c:tx>
            <c:v>CS-arcering 39</c:v>
          </c:tx>
          <c:spPr>
            <a:ln xmlns:a="http://schemas.openxmlformats.org/drawingml/2006/main" w="19050">
              <a:solidFill>
                <a:srgbClr val="7BACBF"/>
              </a:solidFill>
            </a:ln>
          </c:spPr>
          <c:marker>
            <c:symbol val="none"/>
          </c:marker>
          <c:xVal>
            <c:numRef>
              <c:f>'Chart Data'!$Y$2:$Y$3</c:f>
              <c:numCache>
                <c:formatCode>General</c:formatCode>
                <c:ptCount val="2"/>
                <c:pt idx="0">
                  <c:v>39</c:v>
                </c:pt>
                <c:pt idx="1">
                  <c:v>39</c:v>
                </c:pt>
              </c:numCache>
            </c:numRef>
          </c:xVal>
          <c:yVal>
            <c:numRef>
              <c:f>'Chart Data'!$Z$2:$Z$3</c:f>
              <c:numCache>
                <c:formatCode>0</c:formatCode>
                <c:ptCount val="2"/>
                <c:pt idx="0">
                  <c:v>20</c:v>
                </c:pt>
                <c:pt idx="1">
                  <c:v>30.5</c:v>
                </c:pt>
              </c:numCache>
            </c:numRef>
          </c:yVal>
        </c:ser>
        <c:ser>
          <c:idx val="13"/>
          <c:order val="13"/>
          <c:tx>
            <c:v>CS-arcering 42</c:v>
          </c:tx>
          <c:spPr>
            <a:ln xmlns:a="http://schemas.openxmlformats.org/drawingml/2006/main" w="19050">
              <a:solidFill>
                <a:srgbClr val="7BACBF"/>
              </a:solidFill>
            </a:ln>
          </c:spPr>
          <c:marker>
            <c:symbol val="none"/>
          </c:marker>
          <c:xVal>
            <c:numRef>
              <c:f>'Chart Data'!$AA$2:$AA$3</c:f>
              <c:numCache>
                <c:formatCode>General</c:formatCode>
                <c:ptCount val="2"/>
                <c:pt idx="0">
                  <c:v>42</c:v>
                </c:pt>
                <c:pt idx="1">
                  <c:v>42</c:v>
                </c:pt>
              </c:numCache>
            </c:numRef>
          </c:xVal>
          <c:yVal>
            <c:numRef>
              <c:f>'Chart Data'!$AB$2:$AB$3</c:f>
              <c:numCache>
                <c:formatCode>0</c:formatCode>
                <c:ptCount val="2"/>
                <c:pt idx="0">
                  <c:v>20</c:v>
                </c:pt>
                <c:pt idx="1">
                  <c:v>29</c:v>
                </c:pt>
              </c:numCache>
            </c:numRef>
          </c:yVal>
        </c:ser>
        <c:ser>
          <c:idx val="14"/>
          <c:order val="14"/>
          <c:tx>
            <c:v>CS-arcering 45</c:v>
          </c:tx>
          <c:spPr>
            <a:ln xmlns:a="http://schemas.openxmlformats.org/drawingml/2006/main" w="19050">
              <a:solidFill>
                <a:srgbClr val="7BACBF"/>
              </a:solidFill>
            </a:ln>
          </c:spPr>
          <c:marker>
            <c:symbol val="none"/>
          </c:marker>
          <c:xVal>
            <c:numRef>
              <c:f>'Chart Data'!$AC$2:$AC$3</c:f>
              <c:numCache>
                <c:formatCode>General</c:formatCode>
                <c:ptCount val="2"/>
                <c:pt idx="0">
                  <c:v>45</c:v>
                </c:pt>
                <c:pt idx="1">
                  <c:v>45</c:v>
                </c:pt>
              </c:numCache>
            </c:numRef>
          </c:xVal>
          <c:yVal>
            <c:numRef>
              <c:f>'Chart Data'!$AD$2:$AD$3</c:f>
              <c:numCache>
                <c:formatCode>0</c:formatCode>
                <c:ptCount val="2"/>
                <c:pt idx="0">
                  <c:v>20</c:v>
                </c:pt>
                <c:pt idx="1">
                  <c:v>27.5</c:v>
                </c:pt>
              </c:numCache>
            </c:numRef>
          </c:yVal>
        </c:ser>
        <c:ser>
          <c:idx val="15"/>
          <c:order val="15"/>
          <c:tx>
            <c:v>CS-arcering 48</c:v>
          </c:tx>
          <c:spPr>
            <a:ln xmlns:a="http://schemas.openxmlformats.org/drawingml/2006/main" w="19050">
              <a:solidFill>
                <a:srgbClr val="7BACBF"/>
              </a:solidFill>
            </a:ln>
          </c:spPr>
          <c:marker>
            <c:symbol val="none"/>
          </c:marker>
          <c:xVal>
            <c:numRef>
              <c:f>'Chart Data'!$AE$2:$AE$3</c:f>
              <c:numCache>
                <c:formatCode>General</c:formatCode>
                <c:ptCount val="2"/>
                <c:pt idx="0">
                  <c:v>48</c:v>
                </c:pt>
                <c:pt idx="1">
                  <c:v>48</c:v>
                </c:pt>
              </c:numCache>
            </c:numRef>
          </c:xVal>
          <c:yVal>
            <c:numRef>
              <c:f>'Chart Data'!$AF$2:$AF$3</c:f>
              <c:numCache>
                <c:formatCode>0</c:formatCode>
                <c:ptCount val="2"/>
                <c:pt idx="0">
                  <c:v>20</c:v>
                </c:pt>
                <c:pt idx="1">
                  <c:v>26</c:v>
                </c:pt>
              </c:numCache>
            </c:numRef>
          </c:yVal>
        </c:ser>
        <c:ser>
          <c:idx val="16"/>
          <c:order val="16"/>
          <c:tx>
            <c:v>CS-arcering 51</c:v>
          </c:tx>
          <c:spPr>
            <a:ln xmlns:a="http://schemas.openxmlformats.org/drawingml/2006/main" w="19050">
              <a:solidFill>
                <a:srgbClr val="7BACBF"/>
              </a:solidFill>
            </a:ln>
          </c:spPr>
          <c:marker>
            <c:symbol val="none"/>
          </c:marker>
          <c:xVal>
            <c:numRef>
              <c:f>'Chart Data'!$AG$2:$AG$3</c:f>
              <c:numCache>
                <c:formatCode>General</c:formatCode>
                <c:ptCount val="2"/>
                <c:pt idx="0">
                  <c:v>51</c:v>
                </c:pt>
                <c:pt idx="1">
                  <c:v>51</c:v>
                </c:pt>
              </c:numCache>
            </c:numRef>
          </c:xVal>
          <c:yVal>
            <c:numRef>
              <c:f>'Chart Data'!$AH$2:$AH$3</c:f>
              <c:numCache>
                <c:formatCode>0</c:formatCode>
                <c:ptCount val="2"/>
                <c:pt idx="0">
                  <c:v>20</c:v>
                </c:pt>
                <c:pt idx="1">
                  <c:v>24.5</c:v>
                </c:pt>
              </c:numCache>
            </c:numRef>
          </c:yVal>
        </c:ser>
        <c:ser>
          <c:idx val="17"/>
          <c:order val="17"/>
          <c:tx>
            <c:v>CS-arcering 54</c:v>
          </c:tx>
          <c:spPr>
            <a:ln xmlns:a="http://schemas.openxmlformats.org/drawingml/2006/main" w="19050">
              <a:solidFill>
                <a:srgbClr val="7BACBF"/>
              </a:solidFill>
            </a:ln>
          </c:spPr>
          <c:marker>
            <c:symbol val="none"/>
          </c:marker>
          <c:xVal>
            <c:numRef>
              <c:f>'Chart Data'!$AI$2:$AI$3</c:f>
              <c:numCache>
                <c:formatCode>General</c:formatCode>
                <c:ptCount val="2"/>
                <c:pt idx="0">
                  <c:v>54</c:v>
                </c:pt>
                <c:pt idx="1">
                  <c:v>54</c:v>
                </c:pt>
              </c:numCache>
            </c:numRef>
          </c:xVal>
          <c:yVal>
            <c:numRef>
              <c:f>'Chart Data'!$AJ$2:$AJ$3</c:f>
              <c:numCache>
                <c:formatCode>0</c:formatCode>
                <c:ptCount val="2"/>
                <c:pt idx="0">
                  <c:v>20</c:v>
                </c:pt>
                <c:pt idx="1">
                  <c:v>23</c:v>
                </c:pt>
              </c:numCache>
            </c:numRef>
          </c:yVal>
        </c:ser>
        <c:ser>
          <c:idx val="18"/>
          <c:order val="18"/>
          <c:tx>
            <c:v>CS-arcering 57</c:v>
          </c:tx>
          <c:spPr>
            <a:ln xmlns:a="http://schemas.openxmlformats.org/drawingml/2006/main" w="19050">
              <a:solidFill>
                <a:srgbClr val="7BACBF"/>
              </a:solidFill>
            </a:ln>
          </c:spPr>
          <c:marker>
            <c:symbol val="none"/>
          </c:marker>
          <c:xVal>
            <c:numRef>
              <c:f>'Chart Data'!$AK$2:$AK$3</c:f>
              <c:numCache>
                <c:formatCode>General</c:formatCode>
                <c:ptCount val="2"/>
                <c:pt idx="0">
                  <c:v>57</c:v>
                </c:pt>
                <c:pt idx="1">
                  <c:v>57</c:v>
                </c:pt>
              </c:numCache>
            </c:numRef>
          </c:xVal>
          <c:yVal>
            <c:numRef>
              <c:f>'Chart Data'!$AL$2:$AL$3</c:f>
              <c:numCache>
                <c:formatCode>0</c:formatCode>
                <c:ptCount val="2"/>
                <c:pt idx="0">
                  <c:v>20</c:v>
                </c:pt>
                <c:pt idx="1">
                  <c:v>21.5</c:v>
                </c:pt>
              </c:numCache>
            </c:numRef>
          </c:yVal>
        </c:ser>
        <c:ser>
          <c:idx val="19"/>
          <c:order val="19"/>
          <c:tx>
            <c:v>V</c:v>
          </c:tx>
          <c:spPr>
            <a:ln xmlns:a="http://schemas.openxmlformats.org/drawingml/2006/main" w="38100">
              <a:solidFill>
                <a:srgbClr val="17658A"/>
              </a:solidFill>
            </a:ln>
          </c:spPr>
          <c:marker>
            <c:symbol val="circle"/>
            <c:size val="6"/>
            <c:spPr>
              <a:solidFill xmlns:a="http://schemas.openxmlformats.org/drawingml/2006/main">
                <a:srgbClr val="17658A"/>
              </a:solidFill>
            </c:spPr>
          </c:marker>
          <c:xVal>
            <c:numRef>
              <c:f>'Chart Data'!$AM$2:$AM$3</c:f>
              <c:numCache>
                <c:formatCode>General</c:formatCode>
                <c:ptCount val="2"/>
                <c:pt idx="0">
                  <c:v>0</c:v>
                </c:pt>
                <c:pt idx="1">
                  <c:v>100</c:v>
                </c:pt>
              </c:numCache>
            </c:numRef>
          </c:xVal>
          <c:yVal>
            <c:numRef>
              <c:f>'Chart Data'!$AN$2:$AN$3</c:f>
              <c:numCache>
                <c:formatCode>0</c:formatCode>
                <c:ptCount val="2"/>
                <c:pt idx="0">
                  <c:v>50</c:v>
                </c:pt>
                <c:pt idx="1">
                  <c:v>0</c:v>
                </c:pt>
              </c:numCache>
            </c:numRef>
          </c:yVal>
        </c:ser>
        <c:ser>
          <c:idx val="20"/>
          <c:order val="20"/>
          <c:tx>
            <c:v>(0; 50)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(0; 50)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Data'!$AO$2:$AO$2</c:f>
              <c:numCache>
                <c:formatCode>General</c:formatCode>
                <c:ptCount val="1"/>
                <c:pt idx="0">
                  <c:v>0</c:v>
                </c:pt>
              </c:numCache>
            </c:numRef>
          </c:xVal>
          <c:yVal>
            <c:numRef>
              <c:f>'Chart Data'!$AP$2:$AP$2</c:f>
              <c:numCache>
                <c:formatCode>0</c:formatCode>
                <c:ptCount val="1"/>
                <c:pt idx="0">
                  <c:v>53</c:v>
                </c:pt>
              </c:numCache>
            </c:numRef>
          </c:yVal>
        </c:ser>
        <c:ser>
          <c:idx val="21"/>
          <c:order val="21"/>
          <c:tx>
            <c:v>(100; 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(100; 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Data'!$AQ$2:$AQ$2</c:f>
              <c:numCache>
                <c:formatCode>General</c:formatCode>
                <c:ptCount val="1"/>
                <c:pt idx="0">
                  <c:v>100</c:v>
                </c:pt>
              </c:numCache>
            </c:numRef>
          </c:xVal>
          <c:yVal>
            <c:numRef>
              <c:f>'Chart Data'!$AR$2:$AR$2</c:f>
              <c:numCache>
                <c:formatCode>0</c:formatCode>
                <c:ptCount val="1"/>
                <c:pt idx="0">
                  <c:v>3</c:v>
                </c:pt>
              </c:numCache>
            </c:numRef>
          </c:yVal>
        </c:ser>
        <c:ser>
          <c:idx val="22"/>
          <c:order val="22"/>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Data'!$AS$2:$AS$2</c:f>
              <c:numCache>
                <c:formatCode>General</c:formatCode>
                <c:ptCount val="1"/>
                <c:pt idx="0">
                  <c:v>91</c:v>
                </c:pt>
              </c:numCache>
            </c:numRef>
          </c:xVal>
          <c:yVal>
            <c:numRef>
              <c:f>'Chart Data'!$AT$2:$AT$2</c:f>
              <c:numCache>
                <c:formatCode>0</c:formatCode>
                <c:ptCount val="1"/>
                <c:pt idx="0">
                  <c:v>10</c:v>
                </c:pt>
              </c:numCache>
            </c:numRef>
          </c:yVal>
        </c:ser>
        <c:ser>
          <c:idx val="23"/>
          <c:order val="23"/>
          <c:tx>
            <c:v>Prijslijn</c:v>
          </c:tx>
          <c:spPr>
            <a:ln xmlns:a="http://schemas.openxmlformats.org/drawingml/2006/main" w="28575">
              <a:solidFill>
                <a:srgbClr val="A94D16"/>
              </a:solidFill>
            </a:ln>
          </c:spPr>
          <c:marker>
            <c:symbol val="none"/>
          </c:marker>
          <c:xVal>
            <c:numRef>
              <c:f>'Chart Data'!$AU$2:$AU$3</c:f>
              <c:numCache>
                <c:formatCode>General</c:formatCode>
                <c:ptCount val="2"/>
                <c:pt idx="0">
                  <c:v>0</c:v>
                </c:pt>
                <c:pt idx="1">
                  <c:v>120</c:v>
                </c:pt>
              </c:numCache>
            </c:numRef>
          </c:xVal>
          <c:yVal>
            <c:numRef>
              <c:f>'Chart Data'!$AV$2:$AV$3</c:f>
              <c:numCache>
                <c:formatCode>0</c:formatCode>
                <c:ptCount val="2"/>
                <c:pt idx="0">
                  <c:v>20</c:v>
                </c:pt>
                <c:pt idx="1">
                  <c:v>20</c:v>
                </c:pt>
              </c:numCache>
            </c:numRef>
          </c:yVal>
        </c:ser>
        <c:ser>
          <c:idx val="24"/>
          <c:order val="24"/>
          <c:tx>
            <c:v>Hoeveelheid</c:v>
          </c:tx>
          <c:spPr>
            <a:ln xmlns:a="http://schemas.openxmlformats.org/drawingml/2006/main" w="19050">
              <a:solidFill>
                <a:srgbClr val="445B6B"/>
              </a:solidFill>
              <a:prstDash val="dash"/>
            </a:ln>
          </c:spPr>
          <c:marker>
            <c:symbol val="none"/>
          </c:marker>
          <c:xVal>
            <c:numRef>
              <c:f>'Chart Data'!$AW$2:$AW$3</c:f>
              <c:numCache>
                <c:formatCode>General</c:formatCode>
                <c:ptCount val="2"/>
                <c:pt idx="0">
                  <c:v>60</c:v>
                </c:pt>
                <c:pt idx="1">
                  <c:v>60</c:v>
                </c:pt>
              </c:numCache>
            </c:numRef>
          </c:xVal>
          <c:yVal>
            <c:numRef>
              <c:f>'Chart Data'!$AX$2:$AX$3</c:f>
              <c:numCache>
                <c:formatCode>0</c:formatCode>
                <c:ptCount val="2"/>
                <c:pt idx="0">
                  <c:v>0</c:v>
                </c:pt>
                <c:pt idx="1">
                  <c:v>20</c:v>
                </c:pt>
              </c:numCache>
            </c:numRef>
          </c:yVal>
        </c:ser>
        <c:ser>
          <c:idx val="25"/>
          <c:order val="25"/>
          <c:tx>
            <c:v>Snijpunt</c:v>
          </c:tx>
          <c:spPr>
            <a:ln xmlns:a="http://schemas.openxmlformats.org/drawingml/2006/main" w="0">
              <a:noFill/>
            </a:ln>
          </c:spPr>
          <c:marker>
            <c:symbol val="circle"/>
            <c:size val="8"/>
            <c:spPr>
              <a:noFill xmlns:a="http://schemas.openxmlformats.org/drawingml/2006/main"/>
            </c:spPr>
          </c:marker>
          <c:xVal>
            <c:numRef>
              <c:f>'Chart Data'!$AY$2:$AY$2</c:f>
              <c:numCache>
                <c:formatCode>General</c:formatCode>
                <c:ptCount val="1"/>
                <c:pt idx="0">
                  <c:v>60</c:v>
                </c:pt>
              </c:numCache>
            </c:numRef>
          </c:xVal>
          <c:yVal>
            <c:numRef>
              <c:f>'Chart Data'!$AZ$2:$AZ$2</c:f>
              <c:numCache>
                <c:formatCode>0</c:formatCode>
                <c:ptCount val="1"/>
                <c:pt idx="0">
                  <c:v>20</c:v>
                </c:pt>
              </c:numCache>
            </c:numRef>
          </c:yVal>
        </c:ser>
        <c:ser>
          <c:idx val="26"/>
          <c:order val="26"/>
          <c:tx>
            <c:v>(60; 20)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0">
                        <a:solidFill>
                          <a:srgbClr val="183247"/>
                        </a:solidFill>
                        <a:latin typeface="Arial"/>
                        <a:ea typeface="Arial"/>
                        <a:cs typeface="Arial"/>
                      </a:rPr>
                      <a:t>(60; 20)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1950" b="0">
                      <a:solidFill>
                        <a:srgbClr val="183247"/>
                      </a:solidFill>
                      <a:latin typeface="Arial"/>
                      <a:ea typeface="Arial"/>
                      <a:cs typeface="Arial"/>
                    </a:defRPr>
                  </a:pPr>
                </a:p>
              </c:txPr>
              <c:showLegendKey val="0"/>
              <c:showVal val="0"/>
              <c:showCatName val="0"/>
              <c:showSerName val="0"/>
              <c:showPercent val="0"/>
              <c:showBubbleSize val="0"/>
            </c:dLbl>
          </c:dLbls>
          <c:xVal>
            <c:numRef>
              <c:f>'Chart Data'!$BA$2:$BA$2</c:f>
              <c:numCache>
                <c:formatCode>General</c:formatCode>
                <c:ptCount val="1"/>
                <c:pt idx="0">
                  <c:v>60</c:v>
                </c:pt>
              </c:numCache>
            </c:numRef>
          </c:xVal>
          <c:yVal>
            <c:numRef>
              <c:f>'Chart Data'!$BB$2:$BB$2</c:f>
              <c:numCache>
                <c:formatCode>0</c:formatCode>
                <c:ptCount val="1"/>
                <c:pt idx="0">
                  <c:v>24</c:v>
                </c:pt>
              </c:numCache>
            </c:numRef>
          </c:yVal>
        </c:ser>
        <c:ser>
          <c:idx val="27"/>
          <c:order val="27"/>
          <c:tx>
            <c:v>P = 20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P = 20</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dLbls>
          <c:xVal>
            <c:numRef>
              <c:f>'Chart Data'!$BC$2:$BC$2</c:f>
              <c:numCache>
                <c:formatCode>General</c:formatCode>
                <c:ptCount val="1"/>
                <c:pt idx="0">
                  <c:v>106</c:v>
                </c:pt>
              </c:numCache>
            </c:numRef>
          </c:xVal>
          <c:yVal>
            <c:numRef>
              <c:f>'Chart Data'!$BD$2:$BD$2</c:f>
              <c:numCache>
                <c:formatCode>0</c:formatCode>
                <c:ptCount val="1"/>
                <c:pt idx="0">
                  <c:v>24</c:v>
                </c:pt>
              </c:numCache>
            </c:numRef>
          </c:yVal>
        </c:ser>
        <c:ser>
          <c:idx val="28"/>
          <c:order val="28"/>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CS</a:t>
                    </a:r>
                  </a:p>
                </c:rich>
              </c:tx>
              <c:spPr>
                <a:solidFill xmlns:a="http://schemas.openxmlformats.org/drawingml/2006/main">
                  <a:srgbClr val="FFFFFF"/>
                </a:solidFill>
              </c:spPr>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dLbls>
          <c:xVal>
            <c:numRef>
              <c:f>'Chart Data'!$BE$2:$BE$2</c:f>
              <c:numCache>
                <c:formatCode>General</c:formatCode>
                <c:ptCount val="1"/>
                <c:pt idx="0">
                  <c:v>16.2</c:v>
                </c:pt>
              </c:numCache>
            </c:numRef>
          </c:xVal>
          <c:yVal>
            <c:numRef>
              <c:f>'Chart Data'!$BF$2:$BF$2</c:f>
              <c:numCache>
                <c:formatCode>0</c:formatCode>
                <c:ptCount val="1"/>
                <c:pt idx="0">
                  <c:v>30.5</c:v>
                </c:pt>
              </c:numCache>
            </c:numRef>
          </c:yVal>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1 Consumentensurplus">
            <a:extLst xmlns:a="http://schemas.openxmlformats.org/drawingml/2006/main">
              <a:ext uri="{FF2B5EF4-FFF2-40B4-BE49-F238E27FC236}">
                <a16:creationId xmlns:a16="http://schemas.microsoft.com/office/drawing/2014/main" id="{FF5812A4-8A4D-405B-BDE1-E7F172000D6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§2.3.1 Consumentensurplus</a:t>
            </a:r>
          </a:p>
        </p:txBody>
      </p:sp>
      <p:sp>
        <p:nvSpPr>
          <p:cNvPr id="2" name="">
            <a:extLst xmlns:a="http://schemas.openxmlformats.org/drawingml/2006/main">
              <a:ext uri="{FF2B5EF4-FFF2-40B4-BE49-F238E27FC236}">
                <a16:creationId xmlns:a16="http://schemas.microsoft.com/office/drawing/2014/main" id="{AF0F5884-FE5F-4F80-A012-2E358A2A86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a:extLst xmlns:a="http://schemas.openxmlformats.org/drawingml/2006/main">
              <a:ext uri="{FF2B5EF4-FFF2-40B4-BE49-F238E27FC236}">
                <a16:creationId xmlns:a16="http://schemas.microsoft.com/office/drawing/2014/main" id="{B0FCB845-97B8-444B-A82A-819D8D11771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a:t>
            </a:r>
          </a:p>
        </p:txBody>
      </p:sp>
      <p:sp>
        <p:nvSpPr>
          <p:cNvPr id="4" name="1">
            <a:extLst xmlns:a="http://schemas.openxmlformats.org/drawingml/2006/main">
              <a:ext uri="{FF2B5EF4-FFF2-40B4-BE49-F238E27FC236}">
                <a16:creationId xmlns:a16="http://schemas.microsoft.com/office/drawing/2014/main" id="{AB8712DF-525B-4F29-BDE2-A227D82773D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7C17F5D-0046-42E5-930E-2641F6AC380F}"/>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878BEF56-27FA-43B6-BAEB-0DA7094F88A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F372BBB-8BAE-41D8-8CFF-E47357E5BBB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740E608-3BA2-45A8-88D7-EE412805D3D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226C09E-D40B-4EDF-8A50-2FBCD902961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8913AC4-2AA7-4C7C-BCBC-DA12BA9CA2B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9076661-8CFD-4A1A-86AD-3898C476FCA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93EDD645-D9E6-4CEF-9087-AAC05EE5C8A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C8EA164F-E6C3-4CBD-B7F4-64F4AD66B72B}"/>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920421F-F1C5-47D3-AF7D-26D9B874602F}"/>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96E97F44-E03F-4177-A4ED-A8B219BF247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4250CD3-C45D-4BD7-9955-B060C776779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56163C0-200D-46D2-B64E-DE2C3F427A8F}"/>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3A2FDE1-3F94-4CD1-A779-E4675A259BA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D5F93557-0E0C-4042-8D4B-E9257533B08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B636B54-C5FE-4F3E-BCA4-2EEA00810AE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12E0BCF-E3C5-4719-8D02-392583D22D3B}"/>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56D3FF7-CEEA-45FE-9BDB-0645D267327F}"/>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berekenen, lijnen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CS arceren en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het kopersvoordeel uitleggen.</a:t>
            </a:r>
          </a:p>
        </p:txBody>
      </p:sp>
      <p:sp>
        <p:nvSpPr>
          <p:cNvPr id="23" name="">
            <a:extLst xmlns:a="http://schemas.openxmlformats.org/drawingml/2006/main">
              <a:ext uri="{FF2B5EF4-FFF2-40B4-BE49-F238E27FC236}">
                <a16:creationId xmlns:a16="http://schemas.microsoft.com/office/drawing/2014/main" id="{B312F5D8-82C1-4E1D-BF4A-6E015E71D42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7BDB04D-84B3-498F-AEE2-E35B3D6300DA}"/>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E256EEF-2A4D-48BB-925D-1E83993969E9}"/>
              </a:ext>
            </a:extLst>
          </p:cNvPr>
          <p:cNvSpPr>
            <a:spLocks xmlns:a="http://schemas.openxmlformats.org/drawingml/2006/main" noGrp="1"/>
          </p:cNvSpPr>
          <p:nvPr/>
        </p:nvSpPr>
        <p:spPr>
          <a:xfrm xmlns:a="http://schemas.openxmlformats.org/drawingml/2006/main">
            <a:off x="9258300" y="430530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76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met theorie p. 72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Reken- en tekenhulp: p. 74</a:t>
            </a:r>
          </a:p>
        </p:txBody>
      </p:sp>
      <p:sp>
        <p:nvSpPr>
          <p:cNvPr id="26" name="">
            <a:extLst xmlns:a="http://schemas.openxmlformats.org/drawingml/2006/main">
              <a:ext uri="{FF2B5EF4-FFF2-40B4-BE49-F238E27FC236}">
                <a16:creationId xmlns:a16="http://schemas.microsoft.com/office/drawing/2014/main" id="{DEAE4578-CD5A-4CBC-8804-D200820F75DA}"/>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25BECB6-2679-4DA0-9F3F-081695D2FD34}"/>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4641D93-31D8-46F0-9637-5E07628637B2}"/>
              </a:ext>
            </a:extLst>
          </p:cNvPr>
          <p:cNvSpPr>
            <a:spLocks xmlns:a="http://schemas.openxmlformats.org/drawingml/2006/main" noGrp="1"/>
          </p:cNvSpPr>
          <p:nvPr/>
        </p:nvSpPr>
        <p:spPr>
          <a:xfrm xmlns:a="http://schemas.openxmlformats.org/drawingml/2006/main">
            <a:off x="9258300" y="623887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§2.3.1 Consumentensurplus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255797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5D54F4EF-7A10-40ED-A5CA-7D717029403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1B568D99-DC89-4571-AE82-07A31A2EFA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a:extLst xmlns:a="http://schemas.openxmlformats.org/drawingml/2006/main">
              <a:ext uri="{FF2B5EF4-FFF2-40B4-BE49-F238E27FC236}">
                <a16:creationId xmlns:a16="http://schemas.microsoft.com/office/drawing/2014/main" id="{4E5C1477-70B9-4FEF-B556-F0C77A1802F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a:t>
            </a:r>
          </a:p>
        </p:txBody>
      </p:sp>
      <p:sp>
        <p:nvSpPr>
          <p:cNvPr id="4" name="2">
            <a:extLst xmlns:a="http://schemas.openxmlformats.org/drawingml/2006/main">
              <a:ext uri="{FF2B5EF4-FFF2-40B4-BE49-F238E27FC236}">
                <a16:creationId xmlns:a16="http://schemas.microsoft.com/office/drawing/2014/main" id="{850E7231-462D-46DA-843B-D9CFBEFB99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Hoeveelheid">
            <a:extLst xmlns:a="http://schemas.openxmlformats.org/drawingml/2006/main">
              <a:ext uri="{FF2B5EF4-FFF2-40B4-BE49-F238E27FC236}">
                <a16:creationId xmlns:a16="http://schemas.microsoft.com/office/drawing/2014/main" id="{833DC11D-5A8E-439A-921B-69C71E368386}"/>
              </a:ext>
            </a:extLst>
          </p:cNvPr>
          <p:cNvSpPr>
            <a:spLocks xmlns:a="http://schemas.openxmlformats.org/drawingml/2006/main" noGrp="1"/>
          </p:cNvSpPr>
          <p:nvPr/>
        </p:nvSpPr>
        <p:spPr>
          <a:xfrm xmlns:a="http://schemas.openxmlformats.org/drawingml/2006/main">
            <a:off x="571500" y="19716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Hoeveelheid</a:t>
            </a:r>
          </a:p>
        </p:txBody>
      </p:sp>
      <p:sp>
        <p:nvSpPr>
          <p:cNvPr id="6" name="Je berekent Q bij een gegeven prijs.">
            <a:extLst xmlns:a="http://schemas.openxmlformats.org/drawingml/2006/main">
              <a:ext uri="{FF2B5EF4-FFF2-40B4-BE49-F238E27FC236}">
                <a16:creationId xmlns:a16="http://schemas.microsoft.com/office/drawing/2014/main" id="{FCBFE678-387A-4858-B2F6-03A44B37931E}"/>
              </a:ext>
            </a:extLst>
          </p:cNvPr>
          <p:cNvSpPr>
            <a:spLocks xmlns:a="http://schemas.openxmlformats.org/drawingml/2006/main" noGrp="1"/>
          </p:cNvSpPr>
          <p:nvPr/>
        </p:nvSpPr>
        <p:spPr>
          <a:xfrm xmlns:a="http://schemas.openxmlformats.org/drawingml/2006/main">
            <a:off x="6667500" y="1971675"/>
            <a:ext cx="800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berekent Q bij een gegeven prijs.</a:t>
            </a:r>
          </a:p>
        </p:txBody>
      </p:sp>
      <p:sp>
        <p:nvSpPr>
          <p:cNvPr id="7" name="">
            <a:extLst xmlns:a="http://schemas.openxmlformats.org/drawingml/2006/main">
              <a:ext uri="{FF2B5EF4-FFF2-40B4-BE49-F238E27FC236}">
                <a16:creationId xmlns:a16="http://schemas.microsoft.com/office/drawing/2014/main" id="{4FDD273D-40AF-4C6C-AFEF-4E7C01258D63}"/>
              </a:ext>
            </a:extLst>
          </p:cNvPr>
          <p:cNvSpPr>
            <a:spLocks xmlns:a="http://schemas.openxmlformats.org/drawingml/2006/main" noGrp="1"/>
          </p:cNvSpPr>
          <p:nvPr/>
        </p:nvSpPr>
        <p:spPr>
          <a:xfrm xmlns:a="http://schemas.openxmlformats.org/drawingml/2006/main">
            <a:off x="571500" y="3086100"/>
            <a:ext cx="14097000" cy="0"/>
          </a:xfrm>
          <a:prstGeom xmlns:a="http://schemas.openxmlformats.org/drawingml/2006/main" prst="line">
            <a:avLst/>
          </a:prstGeom>
          <a:ln xmlns:a="http://schemas.openxmlformats.org/drawingml/2006/main" w="19050">
            <a:solidFill>
              <a:srgbClr val="C6D2DB"/>
            </a:solidFill>
          </a:ln>
        </p:spPr>
      </p:sp>
      <p:sp>
        <p:nvSpPr>
          <p:cNvPr id="8" name="Grafiek">
            <a:extLst xmlns:a="http://schemas.openxmlformats.org/drawingml/2006/main">
              <a:ext uri="{FF2B5EF4-FFF2-40B4-BE49-F238E27FC236}">
                <a16:creationId xmlns:a16="http://schemas.microsoft.com/office/drawing/2014/main" id="{21CCD393-CAE7-409E-AF8A-436D47FCB492}"/>
              </a:ext>
            </a:extLst>
          </p:cNvPr>
          <p:cNvSpPr>
            <a:spLocks xmlns:a="http://schemas.openxmlformats.org/drawingml/2006/main" noGrp="1"/>
          </p:cNvSpPr>
          <p:nvPr/>
        </p:nvSpPr>
        <p:spPr>
          <a:xfrm xmlns:a="http://schemas.openxmlformats.org/drawingml/2006/main">
            <a:off x="571500" y="33813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Grafiek</a:t>
            </a:r>
          </a:p>
        </p:txBody>
      </p:sp>
      <p:sp>
        <p:nvSpPr>
          <p:cNvPr id="9" name="Je tekent V en de prijslijn met assen, eenheden en snijpunte">
            <a:extLst xmlns:a="http://schemas.openxmlformats.org/drawingml/2006/main">
              <a:ext uri="{FF2B5EF4-FFF2-40B4-BE49-F238E27FC236}">
                <a16:creationId xmlns:a16="http://schemas.microsoft.com/office/drawing/2014/main" id="{930E0010-6E8F-479D-990F-6710AC217DE5}"/>
              </a:ext>
            </a:extLst>
          </p:cNvPr>
          <p:cNvSpPr>
            <a:spLocks xmlns:a="http://schemas.openxmlformats.org/drawingml/2006/main" noGrp="1"/>
          </p:cNvSpPr>
          <p:nvPr/>
        </p:nvSpPr>
        <p:spPr>
          <a:xfrm xmlns:a="http://schemas.openxmlformats.org/drawingml/2006/main">
            <a:off x="6667500" y="3381375"/>
            <a:ext cx="800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tekent V en de prijslijn met assen, eenheden en snijpunten.</a:t>
            </a:r>
          </a:p>
        </p:txBody>
      </p:sp>
      <p:sp>
        <p:nvSpPr>
          <p:cNvPr id="10" name="">
            <a:extLst xmlns:a="http://schemas.openxmlformats.org/drawingml/2006/main">
              <a:ext uri="{FF2B5EF4-FFF2-40B4-BE49-F238E27FC236}">
                <a16:creationId xmlns:a16="http://schemas.microsoft.com/office/drawing/2014/main" id="{7D795629-EC48-4A49-BCA6-BF046A0F5500}"/>
              </a:ext>
            </a:extLst>
          </p:cNvPr>
          <p:cNvSpPr>
            <a:spLocks xmlns:a="http://schemas.openxmlformats.org/drawingml/2006/main" noGrp="1"/>
          </p:cNvSpPr>
          <p:nvPr/>
        </p:nvSpPr>
        <p:spPr>
          <a:xfrm xmlns:a="http://schemas.openxmlformats.org/drawingml/2006/main">
            <a:off x="571500" y="4495800"/>
            <a:ext cx="14097000" cy="0"/>
          </a:xfrm>
          <a:prstGeom xmlns:a="http://schemas.openxmlformats.org/drawingml/2006/main" prst="line">
            <a:avLst/>
          </a:prstGeom>
          <a:ln xmlns:a="http://schemas.openxmlformats.org/drawingml/2006/main" w="19050">
            <a:solidFill>
              <a:srgbClr val="C6D2DB"/>
            </a:solidFill>
          </a:ln>
        </p:spPr>
      </p:sp>
      <p:sp>
        <p:nvSpPr>
          <p:cNvPr id="11" name="Consumentensurplus">
            <a:extLst xmlns:a="http://schemas.openxmlformats.org/drawingml/2006/main">
              <a:ext uri="{FF2B5EF4-FFF2-40B4-BE49-F238E27FC236}">
                <a16:creationId xmlns:a16="http://schemas.microsoft.com/office/drawing/2014/main" id="{6E521FD7-D02A-4595-8735-6E8E941B1A3E}"/>
              </a:ext>
            </a:extLst>
          </p:cNvPr>
          <p:cNvSpPr>
            <a:spLocks xmlns:a="http://schemas.openxmlformats.org/drawingml/2006/main" noGrp="1"/>
          </p:cNvSpPr>
          <p:nvPr/>
        </p:nvSpPr>
        <p:spPr>
          <a:xfrm xmlns:a="http://schemas.openxmlformats.org/drawingml/2006/main">
            <a:off x="571500" y="47910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Consumentensurplus</a:t>
            </a:r>
          </a:p>
        </p:txBody>
      </p:sp>
      <p:sp>
        <p:nvSpPr>
          <p:cNvPr id="12" name="Je arceert het gebied en berekent de oppervlakte.">
            <a:extLst xmlns:a="http://schemas.openxmlformats.org/drawingml/2006/main">
              <a:ext uri="{FF2B5EF4-FFF2-40B4-BE49-F238E27FC236}">
                <a16:creationId xmlns:a16="http://schemas.microsoft.com/office/drawing/2014/main" id="{D644A0F1-A1C5-435F-A9A5-EBE8848CE389}"/>
              </a:ext>
            </a:extLst>
          </p:cNvPr>
          <p:cNvSpPr>
            <a:spLocks xmlns:a="http://schemas.openxmlformats.org/drawingml/2006/main" noGrp="1"/>
          </p:cNvSpPr>
          <p:nvPr/>
        </p:nvSpPr>
        <p:spPr>
          <a:xfrm xmlns:a="http://schemas.openxmlformats.org/drawingml/2006/main">
            <a:off x="6667500" y="4791075"/>
            <a:ext cx="800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arceert het gebied en berekent de oppervlakte.</a:t>
            </a:r>
          </a:p>
        </p:txBody>
      </p:sp>
      <p:sp>
        <p:nvSpPr>
          <p:cNvPr id="13" name="">
            <a:extLst xmlns:a="http://schemas.openxmlformats.org/drawingml/2006/main">
              <a:ext uri="{FF2B5EF4-FFF2-40B4-BE49-F238E27FC236}">
                <a16:creationId xmlns:a16="http://schemas.microsoft.com/office/drawing/2014/main" id="{C8945788-6A46-45F2-BC3D-72D85E95D276}"/>
              </a:ext>
            </a:extLst>
          </p:cNvPr>
          <p:cNvSpPr>
            <a:spLocks xmlns:a="http://schemas.openxmlformats.org/drawingml/2006/main" noGrp="1"/>
          </p:cNvSpPr>
          <p:nvPr/>
        </p:nvSpPr>
        <p:spPr>
          <a:xfrm xmlns:a="http://schemas.openxmlformats.org/drawingml/2006/main">
            <a:off x="571500" y="5905500"/>
            <a:ext cx="14097000" cy="0"/>
          </a:xfrm>
          <a:prstGeom xmlns:a="http://schemas.openxmlformats.org/drawingml/2006/main" prst="line">
            <a:avLst/>
          </a:prstGeom>
          <a:ln xmlns:a="http://schemas.openxmlformats.org/drawingml/2006/main" w="19050">
            <a:solidFill>
              <a:srgbClr val="C6D2DB"/>
            </a:solidFill>
          </a:ln>
        </p:spPr>
      </p:sp>
      <p:sp>
        <p:nvSpPr>
          <p:cNvPr id="14" name="Betekenis">
            <a:extLst xmlns:a="http://schemas.openxmlformats.org/drawingml/2006/main">
              <a:ext uri="{FF2B5EF4-FFF2-40B4-BE49-F238E27FC236}">
                <a16:creationId xmlns:a16="http://schemas.microsoft.com/office/drawing/2014/main" id="{DC567A63-B8C8-4204-9565-726189691199}"/>
              </a:ext>
            </a:extLst>
          </p:cNvPr>
          <p:cNvSpPr>
            <a:spLocks xmlns:a="http://schemas.openxmlformats.org/drawingml/2006/main" noGrp="1"/>
          </p:cNvSpPr>
          <p:nvPr/>
        </p:nvSpPr>
        <p:spPr>
          <a:xfrm xmlns:a="http://schemas.openxmlformats.org/drawingml/2006/main">
            <a:off x="571500" y="62007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Betekenis</a:t>
            </a:r>
          </a:p>
        </p:txBody>
      </p:sp>
      <p:sp>
        <p:nvSpPr>
          <p:cNvPr id="15" name="Je legt het gezamenlijke voordeel van de kopers uit.">
            <a:extLst xmlns:a="http://schemas.openxmlformats.org/drawingml/2006/main">
              <a:ext uri="{FF2B5EF4-FFF2-40B4-BE49-F238E27FC236}">
                <a16:creationId xmlns:a16="http://schemas.microsoft.com/office/drawing/2014/main" id="{290F1D4A-831E-49F6-B82F-1F05A4253A43}"/>
              </a:ext>
            </a:extLst>
          </p:cNvPr>
          <p:cNvSpPr>
            <a:spLocks xmlns:a="http://schemas.openxmlformats.org/drawingml/2006/main" noGrp="1"/>
          </p:cNvSpPr>
          <p:nvPr/>
        </p:nvSpPr>
        <p:spPr>
          <a:xfrm xmlns:a="http://schemas.openxmlformats.org/drawingml/2006/main">
            <a:off x="6667500" y="6200775"/>
            <a:ext cx="800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Je legt het gezamenlijke voordeel van de kopers uit.</a:t>
            </a:r>
          </a:p>
        </p:txBody>
      </p:sp>
    </p:spTree>
    <p:extLst>
      <p:ext uri="{BB962C8B-B14F-4D97-AF65-F5344CB8AC3E}">
        <p14:creationId xmlns:p14="http://schemas.microsoft.com/office/powerpoint/2010/main" val="14197489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voordeel van één koper">
            <a:extLst xmlns:a="http://schemas.openxmlformats.org/drawingml/2006/main">
              <a:ext uri="{FF2B5EF4-FFF2-40B4-BE49-F238E27FC236}">
                <a16:creationId xmlns:a16="http://schemas.microsoft.com/office/drawing/2014/main" id="{DD5F8DC0-AD3F-4FDE-A04F-E8D31E86E08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voordeel van één koper</a:t>
            </a:r>
          </a:p>
        </p:txBody>
      </p:sp>
      <p:sp>
        <p:nvSpPr>
          <p:cNvPr id="2" name="">
            <a:extLst xmlns:a="http://schemas.openxmlformats.org/drawingml/2006/main">
              <a:ext uri="{FF2B5EF4-FFF2-40B4-BE49-F238E27FC236}">
                <a16:creationId xmlns:a16="http://schemas.microsoft.com/office/drawing/2014/main" id="{BDA317D0-A60E-4D19-9BBD-59CEBE3BF4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42FAD8D-4195-4C35-BF47-13BDDBA1F33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83529264-92FC-43B0-B214-DE57B412FE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Filmavond: Noor wil maximaal € 22 betalen. Het kaartje kost ">
            <a:extLst xmlns:a="http://schemas.openxmlformats.org/drawingml/2006/main">
              <a:ext uri="{FF2B5EF4-FFF2-40B4-BE49-F238E27FC236}">
                <a16:creationId xmlns:a16="http://schemas.microsoft.com/office/drawing/2014/main" id="{91752060-A213-408E-8489-7FCC0ACCEFC9}"/>
              </a:ext>
            </a:extLst>
          </p:cNvPr>
          <p:cNvSpPr>
            <a:spLocks xmlns:a="http://schemas.openxmlformats.org/drawingml/2006/main" noGrp="1"/>
          </p:cNvSpPr>
          <p:nvPr/>
        </p:nvSpPr>
        <p:spPr>
          <a:xfrm xmlns:a="http://schemas.openxmlformats.org/drawingml/2006/main">
            <a:off x="571500" y="17907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Filmavond: Noor wil maximaal € 22 betalen. Het kaartje kost € 9.</a:t>
            </a:r>
          </a:p>
        </p:txBody>
      </p:sp>
      <p:graphicFrame>
        <p:nvGraphicFramePr>
          <p:cNvPr id="14" name=""/>
          <p:cNvGraphicFramePr/>
          <p:nvPr/>
        </p:nvGraphicFramePr>
        <p:xfrm>
          <a:off xmlns:a="http://schemas.openxmlformats.org/drawingml/2006/main" x="571500" y="3152775"/>
          <a:ext xmlns:a="http://schemas.openxmlformats.org/drawingml/2006/main" cx="14097000" cy="2190750"/>
        </p:xfrm>
        <a:graphic xmlns:a="http://schemas.openxmlformats.org/drawingml/2006/main">
          <a:graphicData uri="http://schemas.openxmlformats.org/drawingml/2006/table">
            <a:tbl>
              <a:tblPr/>
              <a:tblGrid>
                <a:gridCol w="4667250"/>
                <a:gridCol w="4476750"/>
                <a:gridCol w="4953000"/>
              </a:tblGrid>
              <a:tr h="1095375">
                <a:tc>
                  <a:txBody>
                    <a:bodyPr lIns="171450" tIns="95250" rIns="152400" bIns="95250"/>
                    <a:lstStyle/>
                    <a:p>
                      <a:r>
                        <a:rPr sz="2625" b="1">
                          <a:solidFill>
                            <a:srgbClr val="FFFFFF"/>
                          </a:solidFill>
                          <a:latin typeface="Arial"/>
                          <a:ea typeface="Arial"/>
                          <a:cs typeface="Arial"/>
                        </a:rPr>
                        <a:t>Betalingsbereidheid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Werkelijk betaald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Consumentensurplus</a:t>
                      </a:r>
                    </a:p>
                  </a:txBody>
                  <a:tcPr marL="91440" marR="91440" marT="45720" marB="45720" anchor="ctr">
                    <a:solidFill>
                      <a:srgbClr val="183247"/>
                    </a:solidFill>
                  </a:tcPr>
                </a:tc>
              </a:tr>
              <a:tr h="1095375">
                <a:tc>
                  <a:txBody>
                    <a:bodyPr lIns="171450" tIns="95250" rIns="152400" bIns="95250"/>
                    <a:lstStyle/>
                    <a:p>
                      <a:r>
                        <a:rPr sz="2625" b="0">
                          <a:solidFill>
                            <a:srgbClr val="183247"/>
                          </a:solidFill>
                          <a:latin typeface="Arial"/>
                          <a:ea typeface="Arial"/>
                          <a:cs typeface="Arial"/>
                        </a:rPr>
                        <a:t>€ 22</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€ 9</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22 − 9 = € 13</a:t>
                      </a:r>
                    </a:p>
                  </a:txBody>
                  <a:tcPr marL="91440" marR="91440" marT="45720" marB="45720" anchor="ctr">
                    <a:solidFill>
                      <a:srgbClr val="FFFFFF"/>
                    </a:solidFill>
                  </a:tcPr>
                </a:tc>
              </a:tr>
            </a:tbl>
          </a:graphicData>
        </a:graphic>
      </p:graphicFrame>
      <p:sp>
        <p:nvSpPr>
          <p:cNvPr id="7" name="CS = betalingsbereidheid − betaalde prijs">
            <a:extLst xmlns:a="http://schemas.openxmlformats.org/drawingml/2006/main">
              <a:ext uri="{FF2B5EF4-FFF2-40B4-BE49-F238E27FC236}">
                <a16:creationId xmlns:a16="http://schemas.microsoft.com/office/drawing/2014/main" id="{E0F8A222-213E-4CE0-8FEF-8BB3B7054DBE}"/>
              </a:ext>
            </a:extLst>
          </p:cNvPr>
          <p:cNvSpPr>
            <a:spLocks xmlns:a="http://schemas.openxmlformats.org/drawingml/2006/main" noGrp="1"/>
          </p:cNvSpPr>
          <p:nvPr/>
        </p:nvSpPr>
        <p:spPr>
          <a:xfrm xmlns:a="http://schemas.openxmlformats.org/drawingml/2006/main">
            <a:off x="571500" y="58674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CS = betalingsbereidheid − betaalde prijs</a:t>
            </a:r>
          </a:p>
        </p:txBody>
      </p:sp>
      <p:sp>
        <p:nvSpPr>
          <p:cNvPr id="8" name="Het bezoek is voor Noor € 13 meer waard dan zij betaalt.">
            <a:extLst xmlns:a="http://schemas.openxmlformats.org/drawingml/2006/main">
              <a:ext uri="{FF2B5EF4-FFF2-40B4-BE49-F238E27FC236}">
                <a16:creationId xmlns:a16="http://schemas.microsoft.com/office/drawing/2014/main" id="{5F728991-4E0A-471E-97E0-0AFCB441A8B4}"/>
              </a:ext>
            </a:extLst>
          </p:cNvPr>
          <p:cNvSpPr>
            <a:spLocks xmlns:a="http://schemas.openxmlformats.org/drawingml/2006/main" noGrp="1"/>
          </p:cNvSpPr>
          <p:nvPr/>
        </p:nvSpPr>
        <p:spPr>
          <a:xfrm xmlns:a="http://schemas.openxmlformats.org/drawingml/2006/main">
            <a:off x="571500" y="69342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Het bezoek is voor Noor € 13 meer waard dan zij betaalt.</a:t>
            </a:r>
          </a:p>
        </p:txBody>
      </p:sp>
    </p:spTree>
    <p:extLst>
      <p:ext uri="{BB962C8B-B14F-4D97-AF65-F5344CB8AC3E}">
        <p14:creationId xmlns:p14="http://schemas.microsoft.com/office/powerpoint/2010/main" val="12943219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osse kopers: voordelen optellen">
            <a:extLst xmlns:a="http://schemas.openxmlformats.org/drawingml/2006/main">
              <a:ext uri="{FF2B5EF4-FFF2-40B4-BE49-F238E27FC236}">
                <a16:creationId xmlns:a16="http://schemas.microsoft.com/office/drawing/2014/main" id="{B098B4C0-2996-4D9C-BABF-316791B58A9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Losse kopers: voordelen optellen</a:t>
            </a:r>
          </a:p>
        </p:txBody>
      </p:sp>
      <p:sp>
        <p:nvSpPr>
          <p:cNvPr id="2" name="">
            <a:extLst xmlns:a="http://schemas.openxmlformats.org/drawingml/2006/main">
              <a:ext uri="{FF2B5EF4-FFF2-40B4-BE49-F238E27FC236}">
                <a16:creationId xmlns:a16="http://schemas.microsoft.com/office/drawing/2014/main" id="{551906DB-1630-48EA-BC43-1155D57474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C6B9194-A6C1-49EB-8438-319BBB711D9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5E6CB60C-88D3-49EA-B621-5A0E55AE4E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Filmavond: iedereen wil hoogstens één kaartje. De prijs is €">
            <a:extLst xmlns:a="http://schemas.openxmlformats.org/drawingml/2006/main">
              <a:ext uri="{FF2B5EF4-FFF2-40B4-BE49-F238E27FC236}">
                <a16:creationId xmlns:a16="http://schemas.microsoft.com/office/drawing/2014/main" id="{7E4F214E-6F8C-4F7C-8960-0AEA1C858CB6}"/>
              </a:ext>
            </a:extLst>
          </p:cNvPr>
          <p:cNvSpPr>
            <a:spLocks xmlns:a="http://schemas.openxmlformats.org/drawingml/2006/main" noGrp="1"/>
          </p:cNvSpPr>
          <p:nvPr/>
        </p:nvSpPr>
        <p:spPr>
          <a:xfrm xmlns:a="http://schemas.openxmlformats.org/drawingml/2006/main">
            <a:off x="571500" y="17716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Filmavond: iedereen wil hoogstens één kaartje. De prijs is € 9.</a:t>
            </a:r>
          </a:p>
        </p:txBody>
      </p:sp>
      <p:graphicFrame>
        <p:nvGraphicFramePr>
          <p:cNvPr id="14" name=""/>
          <p:cNvGraphicFramePr/>
          <p:nvPr/>
        </p:nvGraphicFramePr>
        <p:xfrm>
          <a:off xmlns:a="http://schemas.openxmlformats.org/drawingml/2006/main" x="571500" y="2857500"/>
          <a:ext xmlns:a="http://schemas.openxmlformats.org/drawingml/2006/main" cx="14097000" cy="3286125"/>
        </p:xfrm>
        <a:graphic xmlns:a="http://schemas.openxmlformats.org/drawingml/2006/main">
          <a:graphicData uri="http://schemas.openxmlformats.org/drawingml/2006/table">
            <a:tbl>
              <a:tblPr/>
              <a:tblGrid>
                <a:gridCol w="2714625"/>
                <a:gridCol w="4333875"/>
                <a:gridCol w="2667000"/>
                <a:gridCol w="4381500"/>
              </a:tblGrid>
              <a:tr h="821531">
                <a:tc>
                  <a:txBody>
                    <a:bodyPr lIns="171450" tIns="95250" rIns="152400" bIns="95250"/>
                    <a:lstStyle/>
                    <a:p>
                      <a:r>
                        <a:rPr sz="2550" b="1">
                          <a:solidFill>
                            <a:srgbClr val="FFFFFF"/>
                          </a:solidFill>
                          <a:latin typeface="Arial"/>
                          <a:ea typeface="Arial"/>
                          <a:cs typeface="Arial"/>
                        </a:rPr>
                        <a:t>Koper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Maximaal betalen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Aankoop?</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CS</a:t>
                      </a:r>
                    </a:p>
                  </a:txBody>
                  <a:tcPr marL="91440" marR="91440" marT="45720" marB="45720" anchor="ctr">
                    <a:solidFill>
                      <a:srgbClr val="183247"/>
                    </a:solidFill>
                  </a:tcPr>
                </a:tc>
              </a:tr>
              <a:tr h="821531">
                <a:tc>
                  <a:txBody>
                    <a:bodyPr lIns="171450" tIns="95250" rIns="152400" bIns="95250"/>
                    <a:lstStyle/>
                    <a:p>
                      <a:r>
                        <a:rPr sz="2550" b="0">
                          <a:solidFill>
                            <a:srgbClr val="183247"/>
                          </a:solidFill>
                          <a:latin typeface="Arial"/>
                          <a:ea typeface="Arial"/>
                          <a:cs typeface="Arial"/>
                        </a:rPr>
                        <a:t>Noor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€ 22</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22 − 9 = € 13</a:t>
                      </a:r>
                    </a:p>
                  </a:txBody>
                  <a:tcPr marL="91440" marR="91440" marT="45720" marB="45720" anchor="ctr">
                    <a:solidFill>
                      <a:srgbClr val="FFFFFF"/>
                    </a:solidFill>
                  </a:tcPr>
                </a:tc>
              </a:tr>
              <a:tr h="821531">
                <a:tc>
                  <a:txBody>
                    <a:bodyPr lIns="171450" tIns="95250" rIns="152400" bIns="95250"/>
                    <a:lstStyle/>
                    <a:p>
                      <a:r>
                        <a:rPr sz="2550" b="0">
                          <a:solidFill>
                            <a:srgbClr val="183247"/>
                          </a:solidFill>
                          <a:latin typeface="Arial"/>
                          <a:ea typeface="Arial"/>
                          <a:cs typeface="Arial"/>
                        </a:rPr>
                        <a:t>Sam</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15 − 9 = € 6</a:t>
                      </a:r>
                    </a:p>
                  </a:txBody>
                  <a:tcPr marL="91440" marR="91440" marT="45720" marB="45720" anchor="ctr">
                    <a:solidFill>
                      <a:srgbClr val="EFF4F7"/>
                    </a:solidFill>
                  </a:tcPr>
                </a:tc>
              </a:tr>
              <a:tr h="821531">
                <a:tc>
                  <a:txBody>
                    <a:bodyPr lIns="171450" tIns="95250" rIns="152400" bIns="95250"/>
                    <a:lstStyle/>
                    <a:p>
                      <a:r>
                        <a:rPr sz="2550" b="0">
                          <a:solidFill>
                            <a:srgbClr val="183247"/>
                          </a:solidFill>
                          <a:latin typeface="Arial"/>
                          <a:ea typeface="Arial"/>
                          <a:cs typeface="Arial"/>
                        </a:rPr>
                        <a:t>Bo</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€ 7</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Nee</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€ 0</a:t>
                      </a:r>
                    </a:p>
                  </a:txBody>
                  <a:tcPr marL="91440" marR="91440" marT="45720" marB="45720" anchor="ctr">
                    <a:solidFill>
                      <a:srgbClr val="FFFFFF"/>
                    </a:solidFill>
                  </a:tcPr>
                </a:tc>
              </a:tr>
            </a:tbl>
          </a:graphicData>
        </a:graphic>
      </p:graphicFrame>
      <p:sp>
        <p:nvSpPr>
          <p:cNvPr id="7" name="Gezamenlijk CS = 13 + 6 = € 19">
            <a:extLst xmlns:a="http://schemas.openxmlformats.org/drawingml/2006/main">
              <a:ext uri="{FF2B5EF4-FFF2-40B4-BE49-F238E27FC236}">
                <a16:creationId xmlns:a16="http://schemas.microsoft.com/office/drawing/2014/main" id="{9D7BE7BD-FBC4-4B91-BD4B-F06EAD84F99D}"/>
              </a:ext>
            </a:extLst>
          </p:cNvPr>
          <p:cNvSpPr>
            <a:spLocks xmlns:a="http://schemas.openxmlformats.org/drawingml/2006/main" noGrp="1"/>
          </p:cNvSpPr>
          <p:nvPr/>
        </p:nvSpPr>
        <p:spPr>
          <a:xfrm xmlns:a="http://schemas.openxmlformats.org/drawingml/2006/main">
            <a:off x="571500" y="66484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Gezamenlijk CS = 13 + 6 = € 19</a:t>
            </a:r>
          </a:p>
        </p:txBody>
      </p:sp>
      <p:sp>
        <p:nvSpPr>
          <p:cNvPr id="8" name="Alleen de gekochte kaartjes tellen mee.">
            <a:extLst xmlns:a="http://schemas.openxmlformats.org/drawingml/2006/main">
              <a:ext uri="{FF2B5EF4-FFF2-40B4-BE49-F238E27FC236}">
                <a16:creationId xmlns:a16="http://schemas.microsoft.com/office/drawing/2014/main" id="{9D60CBD2-7E4A-431B-9372-B49272B142F2}"/>
              </a:ext>
            </a:extLst>
          </p:cNvPr>
          <p:cNvSpPr>
            <a:spLocks xmlns:a="http://schemas.openxmlformats.org/drawingml/2006/main" noGrp="1"/>
          </p:cNvSpPr>
          <p:nvPr/>
        </p:nvSpPr>
        <p:spPr>
          <a:xfrm xmlns:a="http://schemas.openxmlformats.org/drawingml/2006/main">
            <a:off x="571500" y="738187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Alleen de gekochte kaartjes tellen mee.</a:t>
            </a:r>
          </a:p>
        </p:txBody>
      </p:sp>
    </p:spTree>
    <p:extLst>
      <p:ext uri="{BB962C8B-B14F-4D97-AF65-F5344CB8AC3E}">
        <p14:creationId xmlns:p14="http://schemas.microsoft.com/office/powerpoint/2010/main" val="1068670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eatermiddag">
            <a:extLst xmlns:a="http://schemas.openxmlformats.org/drawingml/2006/main">
              <a:ext uri="{FF2B5EF4-FFF2-40B4-BE49-F238E27FC236}">
                <a16:creationId xmlns:a16="http://schemas.microsoft.com/office/drawing/2014/main" id="{750819C4-C045-48E3-A8CC-D8617A68A31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Theatermiddag</a:t>
            </a:r>
          </a:p>
        </p:txBody>
      </p:sp>
      <p:sp>
        <p:nvSpPr>
          <p:cNvPr id="2" name="">
            <a:extLst xmlns:a="http://schemas.openxmlformats.org/drawingml/2006/main">
              <a:ext uri="{FF2B5EF4-FFF2-40B4-BE49-F238E27FC236}">
                <a16:creationId xmlns:a16="http://schemas.microsoft.com/office/drawing/2014/main" id="{4F127F71-F921-41B9-A058-927C0F0C488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B9BC033-E4CB-456C-9385-F1E9915161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3505F4F9-D238-4B7E-92F8-E49F5EC1185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Een doorlopende vraaglijn voor een andere markt">
            <a:extLst xmlns:a="http://schemas.openxmlformats.org/drawingml/2006/main">
              <a:ext uri="{FF2B5EF4-FFF2-40B4-BE49-F238E27FC236}">
                <a16:creationId xmlns:a16="http://schemas.microsoft.com/office/drawing/2014/main" id="{A084121E-05AB-4F96-83FA-8400FDC89654}"/>
              </a:ext>
            </a:extLst>
          </p:cNvPr>
          <p:cNvSpPr>
            <a:spLocks xmlns:a="http://schemas.openxmlformats.org/drawingml/2006/main" noGrp="1"/>
          </p:cNvSpPr>
          <p:nvPr/>
        </p:nvSpPr>
        <p:spPr>
          <a:xfrm xmlns:a="http://schemas.openxmlformats.org/drawingml/2006/main">
            <a:off x="571500" y="17716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Een doorlopende vraaglijn voor een andere markt</a:t>
            </a:r>
          </a:p>
        </p:txBody>
      </p:sp>
      <p:sp>
        <p:nvSpPr>
          <p:cNvPr id="6" name="P = 40 − 0,5Q">
            <a:extLst xmlns:a="http://schemas.openxmlformats.org/drawingml/2006/main">
              <a:ext uri="{FF2B5EF4-FFF2-40B4-BE49-F238E27FC236}">
                <a16:creationId xmlns:a16="http://schemas.microsoft.com/office/drawing/2014/main" id="{08BF9F9C-28CC-475C-9724-4A2C0A0D586C}"/>
              </a:ext>
            </a:extLst>
          </p:cNvPr>
          <p:cNvSpPr>
            <a:spLocks xmlns:a="http://schemas.openxmlformats.org/drawingml/2006/main" noGrp="1"/>
          </p:cNvSpPr>
          <p:nvPr/>
        </p:nvSpPr>
        <p:spPr>
          <a:xfrm xmlns:a="http://schemas.openxmlformats.org/drawingml/2006/main">
            <a:off x="571500" y="28384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83247"/>
                </a:solidFill>
                <a:latin typeface="Arial"/>
                <a:ea typeface="Arial"/>
                <a:cs typeface="Arial"/>
              </a:defRPr>
            </a:pPr>
            <a:r>
              <a:rPr sz="4050" b="1">
                <a:solidFill>
                  <a:srgbClr val="183247"/>
                </a:solidFill>
                <a:latin typeface="Arial"/>
                <a:ea typeface="Arial"/>
                <a:cs typeface="Arial"/>
              </a:rPr>
              <a:t>P = 40 − 0,5Q</a:t>
            </a:r>
          </a:p>
        </p:txBody>
      </p:sp>
      <p:sp>
        <p:nvSpPr>
          <p:cNvPr id="7" name="P: euro per kaartje&#10;Q: aantal kaartjes voor deze theatermidd">
            <a:extLst xmlns:a="http://schemas.openxmlformats.org/drawingml/2006/main">
              <a:ext uri="{FF2B5EF4-FFF2-40B4-BE49-F238E27FC236}">
                <a16:creationId xmlns:a16="http://schemas.microsoft.com/office/drawing/2014/main" id="{449C7326-2C38-4636-A748-1720D9545A92}"/>
              </a:ext>
            </a:extLst>
          </p:cNvPr>
          <p:cNvSpPr>
            <a:spLocks xmlns:a="http://schemas.openxmlformats.org/drawingml/2006/main" noGrp="1"/>
          </p:cNvSpPr>
          <p:nvPr/>
        </p:nvSpPr>
        <p:spPr>
          <a:xfrm xmlns:a="http://schemas.openxmlformats.org/drawingml/2006/main">
            <a:off x="571500" y="39528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 euro per kaartje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aantal kaartjes voor deze theatermiddag</a:t>
            </a:r>
          </a:p>
        </p:txBody>
      </p:sp>
      <p:sp>
        <p:nvSpPr>
          <p:cNvPr id="8" name="Gegeven prijs: € 16 per kaartje">
            <a:extLst xmlns:a="http://schemas.openxmlformats.org/drawingml/2006/main">
              <a:ext uri="{FF2B5EF4-FFF2-40B4-BE49-F238E27FC236}">
                <a16:creationId xmlns:a16="http://schemas.microsoft.com/office/drawing/2014/main" id="{A0E7A83C-CB25-412E-B996-C116347CFE0F}"/>
              </a:ext>
            </a:extLst>
          </p:cNvPr>
          <p:cNvSpPr>
            <a:spLocks xmlns:a="http://schemas.openxmlformats.org/drawingml/2006/main" noGrp="1"/>
          </p:cNvSpPr>
          <p:nvPr/>
        </p:nvSpPr>
        <p:spPr>
          <a:xfrm xmlns:a="http://schemas.openxmlformats.org/drawingml/2006/main">
            <a:off x="571500" y="55245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Gegeven prijs: € 16 per kaartje</a:t>
            </a:r>
          </a:p>
        </p:txBody>
      </p:sp>
      <p:sp>
        <p:nvSpPr>
          <p:cNvPr id="9" name="Er zijn genoeg kaartjes. Alle gevraagde kaartjes gaan naar d">
            <a:extLst xmlns:a="http://schemas.openxmlformats.org/drawingml/2006/main">
              <a:ext uri="{FF2B5EF4-FFF2-40B4-BE49-F238E27FC236}">
                <a16:creationId xmlns:a16="http://schemas.microsoft.com/office/drawing/2014/main" id="{D805E15E-F4D1-4C68-B254-C37382AFCA34}"/>
              </a:ext>
            </a:extLst>
          </p:cNvPr>
          <p:cNvSpPr>
            <a:spLocks xmlns:a="http://schemas.openxmlformats.org/drawingml/2006/main" noGrp="1"/>
          </p:cNvSpPr>
          <p:nvPr/>
        </p:nvSpPr>
        <p:spPr>
          <a:xfrm xmlns:a="http://schemas.openxmlformats.org/drawingml/2006/main">
            <a:off x="571500" y="653415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Er zijn genoeg kaartjes. Alle gevraagde kaartjes gaan naar de vragers met de hoogste betalingsbereidheid.</a:t>
            </a:r>
          </a:p>
        </p:txBody>
      </p:sp>
    </p:spTree>
    <p:extLst>
      <p:ext uri="{BB962C8B-B14F-4D97-AF65-F5344CB8AC3E}">
        <p14:creationId xmlns:p14="http://schemas.microsoft.com/office/powerpoint/2010/main" val="5948379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 hoeveelheid bij P = € 16">
            <a:extLst xmlns:a="http://schemas.openxmlformats.org/drawingml/2006/main">
              <a:ext uri="{FF2B5EF4-FFF2-40B4-BE49-F238E27FC236}">
                <a16:creationId xmlns:a16="http://schemas.microsoft.com/office/drawing/2014/main" id="{921F3F3E-FC4E-41B3-BEC5-972223D470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hoeveelheid bij P = € 16</a:t>
            </a:r>
          </a:p>
        </p:txBody>
      </p:sp>
      <p:sp>
        <p:nvSpPr>
          <p:cNvPr id="2" name="">
            <a:extLst xmlns:a="http://schemas.openxmlformats.org/drawingml/2006/main">
              <a:ext uri="{FF2B5EF4-FFF2-40B4-BE49-F238E27FC236}">
                <a16:creationId xmlns:a16="http://schemas.microsoft.com/office/drawing/2014/main" id="{8B252093-3E33-478C-9C07-4C3CB88A82A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34377644-91CA-4096-A15F-9DB71A0D21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331D6810-24C5-40B9-83A5-2C383D62F94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Theatermiddag: P = 40 − 0,5Q">
            <a:extLst xmlns:a="http://schemas.openxmlformats.org/drawingml/2006/main">
              <a:ext uri="{FF2B5EF4-FFF2-40B4-BE49-F238E27FC236}">
                <a16:creationId xmlns:a16="http://schemas.microsoft.com/office/drawing/2014/main" id="{EEE176BB-29AD-4D42-94B9-86CF7B17E97E}"/>
              </a:ext>
            </a:extLst>
          </p:cNvPr>
          <p:cNvSpPr>
            <a:spLocks xmlns:a="http://schemas.openxmlformats.org/drawingml/2006/main" noGrp="1"/>
          </p:cNvSpPr>
          <p:nvPr/>
        </p:nvSpPr>
        <p:spPr>
          <a:xfrm xmlns:a="http://schemas.openxmlformats.org/drawingml/2006/main">
            <a:off x="571500" y="17716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Theatermiddag: P = 40 − 0,5Q</a:t>
            </a:r>
          </a:p>
        </p:txBody>
      </p:sp>
      <p:sp>
        <p:nvSpPr>
          <p:cNvPr id="6" name="Prijs invullen">
            <a:extLst xmlns:a="http://schemas.openxmlformats.org/drawingml/2006/main">
              <a:ext uri="{FF2B5EF4-FFF2-40B4-BE49-F238E27FC236}">
                <a16:creationId xmlns:a16="http://schemas.microsoft.com/office/drawing/2014/main" id="{D5074AF8-9540-4C6E-BAEA-66B97DBFB714}"/>
              </a:ext>
            </a:extLst>
          </p:cNvPr>
          <p:cNvSpPr>
            <a:spLocks xmlns:a="http://schemas.openxmlformats.org/drawingml/2006/main" noGrp="1"/>
          </p:cNvSpPr>
          <p:nvPr/>
        </p:nvSpPr>
        <p:spPr>
          <a:xfrm xmlns:a="http://schemas.openxmlformats.org/drawingml/2006/main">
            <a:off x="571500" y="2838450"/>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Prijs invullen</a:t>
            </a:r>
          </a:p>
        </p:txBody>
      </p:sp>
      <p:sp>
        <p:nvSpPr>
          <p:cNvPr id="7" name="16 = 40 − 0,5Q">
            <a:extLst xmlns:a="http://schemas.openxmlformats.org/drawingml/2006/main">
              <a:ext uri="{FF2B5EF4-FFF2-40B4-BE49-F238E27FC236}">
                <a16:creationId xmlns:a16="http://schemas.microsoft.com/office/drawing/2014/main" id="{D7390BCE-6432-4CB7-AE90-FD5749A42B45}"/>
              </a:ext>
            </a:extLst>
          </p:cNvPr>
          <p:cNvSpPr>
            <a:spLocks xmlns:a="http://schemas.openxmlformats.org/drawingml/2006/main" noGrp="1"/>
          </p:cNvSpPr>
          <p:nvPr/>
        </p:nvSpPr>
        <p:spPr>
          <a:xfrm xmlns:a="http://schemas.openxmlformats.org/drawingml/2006/main">
            <a:off x="6543675" y="2838450"/>
            <a:ext cx="8096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16 = 40 − 0,5Q</a:t>
            </a:r>
          </a:p>
        </p:txBody>
      </p:sp>
      <p:sp>
        <p:nvSpPr>
          <p:cNvPr id="8" name="0,5Q links, 16 rechts">
            <a:extLst xmlns:a="http://schemas.openxmlformats.org/drawingml/2006/main">
              <a:ext uri="{FF2B5EF4-FFF2-40B4-BE49-F238E27FC236}">
                <a16:creationId xmlns:a16="http://schemas.microsoft.com/office/drawing/2014/main" id="{DEF375FC-1506-48AD-99B7-5BB5A0818A69}"/>
              </a:ext>
            </a:extLst>
          </p:cNvPr>
          <p:cNvSpPr>
            <a:spLocks xmlns:a="http://schemas.openxmlformats.org/drawingml/2006/main" noGrp="1"/>
          </p:cNvSpPr>
          <p:nvPr/>
        </p:nvSpPr>
        <p:spPr>
          <a:xfrm xmlns:a="http://schemas.openxmlformats.org/drawingml/2006/main">
            <a:off x="571500" y="41052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0,5Q links, 16 rechts</a:t>
            </a:r>
          </a:p>
        </p:txBody>
      </p:sp>
      <p:sp>
        <p:nvSpPr>
          <p:cNvPr id="9" name="0,5Q = 40 − 16 = 24">
            <a:extLst xmlns:a="http://schemas.openxmlformats.org/drawingml/2006/main">
              <a:ext uri="{FF2B5EF4-FFF2-40B4-BE49-F238E27FC236}">
                <a16:creationId xmlns:a16="http://schemas.microsoft.com/office/drawing/2014/main" id="{31D9D640-3BAC-4E4B-8FEB-95C336248DE3}"/>
              </a:ext>
            </a:extLst>
          </p:cNvPr>
          <p:cNvSpPr>
            <a:spLocks xmlns:a="http://schemas.openxmlformats.org/drawingml/2006/main" noGrp="1"/>
          </p:cNvSpPr>
          <p:nvPr/>
        </p:nvSpPr>
        <p:spPr>
          <a:xfrm xmlns:a="http://schemas.openxmlformats.org/drawingml/2006/main">
            <a:off x="6543675" y="4105275"/>
            <a:ext cx="8096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0,5Q = 40 − 16 = 24</a:t>
            </a:r>
          </a:p>
        </p:txBody>
      </p:sp>
      <p:sp>
        <p:nvSpPr>
          <p:cNvPr id="10" name="Delen door 0,5">
            <a:extLst xmlns:a="http://schemas.openxmlformats.org/drawingml/2006/main">
              <a:ext uri="{FF2B5EF4-FFF2-40B4-BE49-F238E27FC236}">
                <a16:creationId xmlns:a16="http://schemas.microsoft.com/office/drawing/2014/main" id="{E9008F1B-B06D-404E-816C-82BFB142F38F}"/>
              </a:ext>
            </a:extLst>
          </p:cNvPr>
          <p:cNvSpPr>
            <a:spLocks xmlns:a="http://schemas.openxmlformats.org/drawingml/2006/main" noGrp="1"/>
          </p:cNvSpPr>
          <p:nvPr/>
        </p:nvSpPr>
        <p:spPr>
          <a:xfrm xmlns:a="http://schemas.openxmlformats.org/drawingml/2006/main">
            <a:off x="571500" y="5372100"/>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Delen door 0,5</a:t>
            </a:r>
          </a:p>
        </p:txBody>
      </p:sp>
      <p:sp>
        <p:nvSpPr>
          <p:cNvPr id="11" name="Q = 24 / 0,5 = 48 kaartjes">
            <a:extLst xmlns:a="http://schemas.openxmlformats.org/drawingml/2006/main">
              <a:ext uri="{FF2B5EF4-FFF2-40B4-BE49-F238E27FC236}">
                <a16:creationId xmlns:a16="http://schemas.microsoft.com/office/drawing/2014/main" id="{A23D93BA-5035-4FA7-9F86-949A26ABC6F8}"/>
              </a:ext>
            </a:extLst>
          </p:cNvPr>
          <p:cNvSpPr>
            <a:spLocks xmlns:a="http://schemas.openxmlformats.org/drawingml/2006/main" noGrp="1"/>
          </p:cNvSpPr>
          <p:nvPr/>
        </p:nvSpPr>
        <p:spPr>
          <a:xfrm xmlns:a="http://schemas.openxmlformats.org/drawingml/2006/main">
            <a:off x="6543675" y="5372100"/>
            <a:ext cx="8096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 = 24 / 0,5 = 48 kaartjes</a:t>
            </a:r>
          </a:p>
        </p:txBody>
      </p:sp>
      <p:sp>
        <p:nvSpPr>
          <p:cNvPr id="12" name="Controle: 40 − 0,5 × 48 = € 16 per kaartje">
            <a:extLst xmlns:a="http://schemas.openxmlformats.org/drawingml/2006/main">
              <a:ext uri="{FF2B5EF4-FFF2-40B4-BE49-F238E27FC236}">
                <a16:creationId xmlns:a16="http://schemas.microsoft.com/office/drawing/2014/main" id="{4A925F8B-099E-4125-9C3A-EE692D47EE8B}"/>
              </a:ext>
            </a:extLst>
          </p:cNvPr>
          <p:cNvSpPr>
            <a:spLocks xmlns:a="http://schemas.openxmlformats.org/drawingml/2006/main" noGrp="1"/>
          </p:cNvSpPr>
          <p:nvPr/>
        </p:nvSpPr>
        <p:spPr>
          <a:xfrm xmlns:a="http://schemas.openxmlformats.org/drawingml/2006/main">
            <a:off x="571500" y="66389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Controle: 40 − 0,5 × 48 = € 16 per kaartje</a:t>
            </a:r>
          </a:p>
        </p:txBody>
      </p:sp>
      <p:sp>
        <p:nvSpPr>
          <p:cNvPr id="13" name="Q = 48 is hier gevraagd én verkocht.&#10;Zonder aanbodfunctie is">
            <a:extLst xmlns:a="http://schemas.openxmlformats.org/drawingml/2006/main">
              <a:ext uri="{FF2B5EF4-FFF2-40B4-BE49-F238E27FC236}">
                <a16:creationId xmlns:a16="http://schemas.microsoft.com/office/drawing/2014/main" id="{0C9D4019-110E-44BC-9651-2381885AD2F7}"/>
              </a:ext>
            </a:extLst>
          </p:cNvPr>
          <p:cNvSpPr>
            <a:spLocks xmlns:a="http://schemas.openxmlformats.org/drawingml/2006/main" noGrp="1"/>
          </p:cNvSpPr>
          <p:nvPr/>
        </p:nvSpPr>
        <p:spPr>
          <a:xfrm xmlns:a="http://schemas.openxmlformats.org/drawingml/2006/main">
            <a:off x="571500" y="72771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 48 is hier gevraagd én verkocht.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Zonder aanbodfunctie is dit geen berekend marktevenwicht.</a:t>
            </a:r>
          </a:p>
        </p:txBody>
      </p:sp>
    </p:spTree>
    <p:extLst>
      <p:ext uri="{BB962C8B-B14F-4D97-AF65-F5344CB8AC3E}">
        <p14:creationId xmlns:p14="http://schemas.microsoft.com/office/powerpoint/2010/main" val="9649582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assensnijpunten voor V">
            <a:extLst xmlns:a="http://schemas.openxmlformats.org/drawingml/2006/main">
              <a:ext uri="{FF2B5EF4-FFF2-40B4-BE49-F238E27FC236}">
                <a16:creationId xmlns:a16="http://schemas.microsoft.com/office/drawing/2014/main" id="{8D6FE80F-A22B-49F2-A413-E981006DB2E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Twee assensnijpunten voor V</a:t>
            </a:r>
          </a:p>
        </p:txBody>
      </p:sp>
      <p:sp>
        <p:nvSpPr>
          <p:cNvPr id="2" name="">
            <a:extLst xmlns:a="http://schemas.openxmlformats.org/drawingml/2006/main">
              <a:ext uri="{FF2B5EF4-FFF2-40B4-BE49-F238E27FC236}">
                <a16:creationId xmlns:a16="http://schemas.microsoft.com/office/drawing/2014/main" id="{4A71E670-9EF0-4879-9467-109FAC98597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FAE83F0-4104-4633-A93B-200025FA70F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70AE6CDC-2AC1-478D-A0B7-5B977DE119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Theatermiddag: P = 40 − 0,5Q">
            <a:extLst xmlns:a="http://schemas.openxmlformats.org/drawingml/2006/main">
              <a:ext uri="{FF2B5EF4-FFF2-40B4-BE49-F238E27FC236}">
                <a16:creationId xmlns:a16="http://schemas.microsoft.com/office/drawing/2014/main" id="{DD7385A8-7AF8-477E-8B8C-E415B9AF36A8}"/>
              </a:ext>
            </a:extLst>
          </p:cNvPr>
          <p:cNvSpPr>
            <a:spLocks xmlns:a="http://schemas.openxmlformats.org/drawingml/2006/main" noGrp="1"/>
          </p:cNvSpPr>
          <p:nvPr/>
        </p:nvSpPr>
        <p:spPr>
          <a:xfrm xmlns:a="http://schemas.openxmlformats.org/drawingml/2006/main">
            <a:off x="571500" y="17716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Theatermiddag: P = 40 − 0,5Q</a:t>
            </a:r>
          </a:p>
        </p:txBody>
      </p:sp>
      <p:graphicFrame>
        <p:nvGraphicFramePr>
          <p:cNvPr id="13" name=""/>
          <p:cNvGraphicFramePr/>
          <p:nvPr/>
        </p:nvGraphicFramePr>
        <p:xfrm>
          <a:off xmlns:a="http://schemas.openxmlformats.org/drawingml/2006/main" x="571500" y="2857500"/>
          <a:ext xmlns:a="http://schemas.openxmlformats.org/drawingml/2006/main" cx="14097000" cy="3238500"/>
        </p:xfrm>
        <a:graphic xmlns:a="http://schemas.openxmlformats.org/drawingml/2006/main">
          <a:graphicData uri="http://schemas.openxmlformats.org/drawingml/2006/table">
            <a:tbl>
              <a:tblPr/>
              <a:tblGrid>
                <a:gridCol w="3905250"/>
                <a:gridCol w="6619875"/>
                <a:gridCol w="3571875"/>
              </a:tblGrid>
              <a:tr h="1079500">
                <a:tc>
                  <a:txBody>
                    <a:bodyPr lIns="171450" tIns="95250" rIns="152400" bIns="95250"/>
                    <a:lstStyle/>
                    <a:p>
                      <a:r>
                        <a:rPr sz="2550" b="1">
                          <a:solidFill>
                            <a:srgbClr val="FFFFFF"/>
                          </a:solidFill>
                          <a:latin typeface="Arial"/>
                          <a:ea typeface="Arial"/>
                          <a:cs typeface="Arial"/>
                        </a:rPr>
                        <a:t>Kies nul op één as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Punt (Q; P)</a:t>
                      </a:r>
                    </a:p>
                  </a:txBody>
                  <a:tcPr marL="91440" marR="91440" marT="45720" marB="45720" anchor="ctr">
                    <a:solidFill>
                      <a:srgbClr val="183247"/>
                    </a:solidFill>
                  </a:tcPr>
                </a:tc>
              </a:tr>
              <a:tr h="1079500">
                <a:tc>
                  <a:txBody>
                    <a:bodyPr lIns="171450" tIns="95250" rIns="152400" bIns="95250"/>
                    <a:lstStyle/>
                    <a:p>
                      <a:r>
                        <a:rPr sz="2550" b="0">
                          <a:solidFill>
                            <a:srgbClr val="183247"/>
                          </a:solidFill>
                          <a:latin typeface="Arial"/>
                          <a:ea typeface="Arial"/>
                          <a:cs typeface="Arial"/>
                        </a:rPr>
                        <a:t>Q =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40 − 0,5 × 0 = 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 40)</a:t>
                      </a:r>
                    </a:p>
                  </a:txBody>
                  <a:tcPr marL="91440" marR="91440" marT="45720" marB="45720" anchor="ctr">
                    <a:solidFill>
                      <a:srgbClr val="FFFFFF"/>
                    </a:solidFill>
                  </a:tcPr>
                </a:tc>
              </a:tr>
              <a:tr h="1079500">
                <a:tc>
                  <a:txBody>
                    <a:bodyPr lIns="171450" tIns="95250" rIns="152400" bIns="95250"/>
                    <a:lstStyle/>
                    <a:p>
                      <a:r>
                        <a:rPr sz="2550" b="0">
                          <a:solidFill>
                            <a:srgbClr val="183247"/>
                          </a:solidFill>
                          <a:latin typeface="Arial"/>
                          <a:ea typeface="Arial"/>
                          <a:cs typeface="Arial"/>
                        </a:rPr>
                        <a:t>P = 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0,5Q = 40</a:t>
                      </a:r>
                    </a:p>
                    <a:p>
                      <a:r>
                        <a:rPr sz="2550" b="0">
                          <a:solidFill>
                            <a:srgbClr val="183247"/>
                          </a:solidFill>
                          <a:latin typeface="Arial"/>
                          <a:ea typeface="Arial"/>
                          <a:cs typeface="Arial"/>
                        </a:rPr>
                        <a:t>Q = 40 / 0,5 = 80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 0)</a:t>
                      </a:r>
                    </a:p>
                  </a:txBody>
                  <a:tcPr marL="91440" marR="91440" marT="45720" marB="45720" anchor="ctr">
                    <a:solidFill>
                      <a:srgbClr val="EFF4F7"/>
                    </a:solidFill>
                  </a:tcPr>
                </a:tc>
              </a:tr>
            </a:tbl>
          </a:graphicData>
        </a:graphic>
      </p:graphicFrame>
      <p:sp>
        <p:nvSpPr>
          <p:cNvPr id="7" name="Horizontaal: Q (kaartjes)&#10;Verticaal: P (€ per kaartje)">
            <a:extLst xmlns:a="http://schemas.openxmlformats.org/drawingml/2006/main">
              <a:ext uri="{FF2B5EF4-FFF2-40B4-BE49-F238E27FC236}">
                <a16:creationId xmlns:a16="http://schemas.microsoft.com/office/drawing/2014/main" id="{A6DC591F-CC07-4074-81BD-7DAE9FB446E6}"/>
              </a:ext>
            </a:extLst>
          </p:cNvPr>
          <p:cNvSpPr>
            <a:spLocks xmlns:a="http://schemas.openxmlformats.org/drawingml/2006/main" noGrp="1"/>
          </p:cNvSpPr>
          <p:nvPr/>
        </p:nvSpPr>
        <p:spPr>
          <a:xfrm xmlns:a="http://schemas.openxmlformats.org/drawingml/2006/main">
            <a:off x="571500" y="662940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Horizontaal: Q (kaartjes)</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Verticaal: P (€ per kaartje)</a:t>
            </a:r>
          </a:p>
        </p:txBody>
      </p:sp>
    </p:spTree>
    <p:extLst>
      <p:ext uri="{BB962C8B-B14F-4D97-AF65-F5344CB8AC3E}">
        <p14:creationId xmlns:p14="http://schemas.microsoft.com/office/powerpoint/2010/main" val="593327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vraaglijn tekenen">
            <a:extLst xmlns:a="http://schemas.openxmlformats.org/drawingml/2006/main">
              <a:ext uri="{FF2B5EF4-FFF2-40B4-BE49-F238E27FC236}">
                <a16:creationId xmlns:a16="http://schemas.microsoft.com/office/drawing/2014/main" id="{2E54FCB6-08D5-41A9-9B3A-AAD506DE36D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vraaglijn tekenen</a:t>
            </a:r>
          </a:p>
        </p:txBody>
      </p:sp>
      <p:sp>
        <p:nvSpPr>
          <p:cNvPr id="2" name="">
            <a:extLst xmlns:a="http://schemas.openxmlformats.org/drawingml/2006/main">
              <a:ext uri="{FF2B5EF4-FFF2-40B4-BE49-F238E27FC236}">
                <a16:creationId xmlns:a16="http://schemas.microsoft.com/office/drawing/2014/main" id="{E0E73F6C-EF0F-4D22-A127-B5839570155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DDE8EE0-6C15-4BB3-B47D-AF47CDBB9F6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8446DB01-BE45-4777-8873-B945CBB75C7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Theatermiddag: P = 40 − 0,5Q">
            <a:extLst xmlns:a="http://schemas.openxmlformats.org/drawingml/2006/main">
              <a:ext uri="{FF2B5EF4-FFF2-40B4-BE49-F238E27FC236}">
                <a16:creationId xmlns:a16="http://schemas.microsoft.com/office/drawing/2014/main" id="{3BC7A2F9-3638-487F-964B-7015607B5986}"/>
              </a:ext>
            </a:extLst>
          </p:cNvPr>
          <p:cNvSpPr>
            <a:spLocks xmlns:a="http://schemas.openxmlformats.org/drawingml/2006/main" noGrp="1"/>
          </p:cNvSpPr>
          <p:nvPr/>
        </p:nvSpPr>
        <p:spPr>
          <a:xfrm xmlns:a="http://schemas.openxmlformats.org/drawingml/2006/main">
            <a:off x="571500" y="1743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Theatermiddag: P = 40 − 0,5Q</a:t>
            </a:r>
          </a:p>
        </p:txBody>
      </p:sp>
      <p:graphicFrame>
        <p:nvGraphicFramePr>
          <p:cNvPr id="15" name="Chart"/>
          <p:cNvGraphicFramePr/>
          <p:nvPr/>
        </p:nvGraphicFramePr>
        <p:xfrm>
          <a:off xmlns:a="http://schemas.openxmlformats.org/drawingml/2006/main" x="523875" y="2400300"/>
          <a:ext xmlns:a="http://schemas.openxmlformats.org/drawingml/2006/main" cx="9620250" cy="5372100"/>
        </p:xfrm>
        <a:graphic xmlns:a="http://schemas.openxmlformats.org/drawingml/2006/main">
          <a:graphicData uri="http://schemas.openxmlformats.org/drawingml/2006/chart">
            <c:chart xmlns:r="http://schemas.openxmlformats.org/officeDocument/2006/relationships" xmlns:c="http://schemas.openxmlformats.org/drawingml/2006/chart" r:id="R49b205fc610b47b3"/>
          </a:graphicData>
        </a:graphic>
      </p:graphicFrame>
      <p:sp>
        <p:nvSpPr>
          <p:cNvPr id="7" name="Assen en schaal">
            <a:extLst xmlns:a="http://schemas.openxmlformats.org/drawingml/2006/main">
              <a:ext uri="{FF2B5EF4-FFF2-40B4-BE49-F238E27FC236}">
                <a16:creationId xmlns:a16="http://schemas.microsoft.com/office/drawing/2014/main" id="{2EE490A9-8578-4027-B773-C5166311DF52}"/>
              </a:ext>
            </a:extLst>
          </p:cNvPr>
          <p:cNvSpPr>
            <a:spLocks xmlns:a="http://schemas.openxmlformats.org/drawingml/2006/main" noGrp="1"/>
          </p:cNvSpPr>
          <p:nvPr/>
        </p:nvSpPr>
        <p:spPr>
          <a:xfrm xmlns:a="http://schemas.openxmlformats.org/drawingml/2006/main">
            <a:off x="10668000" y="2771775"/>
            <a:ext cx="395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Assen en schaal</a:t>
            </a:r>
          </a:p>
        </p:txBody>
      </p:sp>
      <p:sp>
        <p:nvSpPr>
          <p:cNvPr id="8" name="Q horizontaal&#10;P verticaal&#10;Nul op beide assen">
            <a:extLst xmlns:a="http://schemas.openxmlformats.org/drawingml/2006/main">
              <a:ext uri="{FF2B5EF4-FFF2-40B4-BE49-F238E27FC236}">
                <a16:creationId xmlns:a16="http://schemas.microsoft.com/office/drawing/2014/main" id="{AF8010E5-B7BE-4F64-B7B7-4CBFF9061A06}"/>
              </a:ext>
            </a:extLst>
          </p:cNvPr>
          <p:cNvSpPr>
            <a:spLocks xmlns:a="http://schemas.openxmlformats.org/drawingml/2006/main" noGrp="1"/>
          </p:cNvSpPr>
          <p:nvPr/>
        </p:nvSpPr>
        <p:spPr>
          <a:xfrm xmlns:a="http://schemas.openxmlformats.org/drawingml/2006/main">
            <a:off x="10668000" y="3609975"/>
            <a:ext cx="39528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horizontaal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verticaal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Nul op beide assen</a:t>
            </a:r>
          </a:p>
        </p:txBody>
      </p:sp>
      <p:sp>
        <p:nvSpPr>
          <p:cNvPr id="9" name="V verbindt&#10;(0; 40) en (80; 0).">
            <a:extLst xmlns:a="http://schemas.openxmlformats.org/drawingml/2006/main">
              <a:ext uri="{FF2B5EF4-FFF2-40B4-BE49-F238E27FC236}">
                <a16:creationId xmlns:a16="http://schemas.microsoft.com/office/drawing/2014/main" id="{D503EAE4-CF51-4A3B-99A4-8A050C100A3C}"/>
              </a:ext>
            </a:extLst>
          </p:cNvPr>
          <p:cNvSpPr>
            <a:spLocks xmlns:a="http://schemas.openxmlformats.org/drawingml/2006/main" noGrp="1"/>
          </p:cNvSpPr>
          <p:nvPr/>
        </p:nvSpPr>
        <p:spPr>
          <a:xfrm xmlns:a="http://schemas.openxmlformats.org/drawingml/2006/main">
            <a:off x="10668000" y="5676900"/>
            <a:ext cx="3952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 verbindt</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(0; 40) en (80; 0).</a:t>
            </a:r>
          </a:p>
        </p:txBody>
      </p:sp>
    </p:spTree>
    <p:extLst>
      <p:ext uri="{BB962C8B-B14F-4D97-AF65-F5344CB8AC3E}">
        <p14:creationId xmlns:p14="http://schemas.microsoft.com/office/powerpoint/2010/main" val="19677529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prijslijn en de verkochte hoeveelheid">
            <a:extLst xmlns:a="http://schemas.openxmlformats.org/drawingml/2006/main">
              <a:ext uri="{FF2B5EF4-FFF2-40B4-BE49-F238E27FC236}">
                <a16:creationId xmlns:a16="http://schemas.microsoft.com/office/drawing/2014/main" id="{2E6DB7C0-CFBF-49A8-96AE-8316F6C47B2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prijslijn en de verkochte hoeveelheid</a:t>
            </a:r>
          </a:p>
        </p:txBody>
      </p:sp>
      <p:sp>
        <p:nvSpPr>
          <p:cNvPr id="2" name="">
            <a:extLst xmlns:a="http://schemas.openxmlformats.org/drawingml/2006/main">
              <a:ext uri="{FF2B5EF4-FFF2-40B4-BE49-F238E27FC236}">
                <a16:creationId xmlns:a16="http://schemas.microsoft.com/office/drawing/2014/main" id="{FC1C8394-BB1D-42AD-AFBF-6BB4EE633B2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D4A3FAA-D9CE-4AE3-94E3-BB9EA319807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03E32DE4-9F82-4560-9410-8A39B4582F0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Theatermiddag: P = 40 − 0,5Q en prijs € 16">
            <a:extLst xmlns:a="http://schemas.openxmlformats.org/drawingml/2006/main">
              <a:ext uri="{FF2B5EF4-FFF2-40B4-BE49-F238E27FC236}">
                <a16:creationId xmlns:a16="http://schemas.microsoft.com/office/drawing/2014/main" id="{AE7E8FC8-79B1-469C-BB03-DF2F97E4DFBA}"/>
              </a:ext>
            </a:extLst>
          </p:cNvPr>
          <p:cNvSpPr>
            <a:spLocks xmlns:a="http://schemas.openxmlformats.org/drawingml/2006/main" noGrp="1"/>
          </p:cNvSpPr>
          <p:nvPr/>
        </p:nvSpPr>
        <p:spPr>
          <a:xfrm xmlns:a="http://schemas.openxmlformats.org/drawingml/2006/main">
            <a:off x="571500" y="1743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Theatermiddag: P = 40 − 0,5Q en prijs € 16</a:t>
            </a:r>
          </a:p>
        </p:txBody>
      </p:sp>
      <p:graphicFrame>
        <p:nvGraphicFramePr>
          <p:cNvPr id="15" name="Chart"/>
          <p:cNvGraphicFramePr/>
          <p:nvPr/>
        </p:nvGraphicFramePr>
        <p:xfrm>
          <a:off xmlns:a="http://schemas.openxmlformats.org/drawingml/2006/main" x="523875" y="2400300"/>
          <a:ext xmlns:a="http://schemas.openxmlformats.org/drawingml/2006/main" cx="9620250" cy="5372100"/>
        </p:xfrm>
        <a:graphic xmlns:a="http://schemas.openxmlformats.org/drawingml/2006/main">
          <a:graphicData uri="http://schemas.openxmlformats.org/drawingml/2006/chart">
            <c:chart xmlns:r="http://schemas.openxmlformats.org/officeDocument/2006/relationships" xmlns:c="http://schemas.openxmlformats.org/drawingml/2006/chart" r:id="Rcce06be4299d448d"/>
          </a:graphicData>
        </a:graphic>
      </p:graphicFrame>
      <p:sp>
        <p:nvSpPr>
          <p:cNvPr id="7" name="P = 16">
            <a:extLst xmlns:a="http://schemas.openxmlformats.org/drawingml/2006/main">
              <a:ext uri="{FF2B5EF4-FFF2-40B4-BE49-F238E27FC236}">
                <a16:creationId xmlns:a16="http://schemas.microsoft.com/office/drawing/2014/main" id="{A2A1C324-2AD9-4085-8252-C595F22AE327}"/>
              </a:ext>
            </a:extLst>
          </p:cNvPr>
          <p:cNvSpPr>
            <a:spLocks xmlns:a="http://schemas.openxmlformats.org/drawingml/2006/main" noGrp="1"/>
          </p:cNvSpPr>
          <p:nvPr/>
        </p:nvSpPr>
        <p:spPr>
          <a:xfrm xmlns:a="http://schemas.openxmlformats.org/drawingml/2006/main">
            <a:off x="10668000" y="2771775"/>
            <a:ext cx="395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P = 16</a:t>
            </a:r>
          </a:p>
        </p:txBody>
      </p:sp>
      <p:sp>
        <p:nvSpPr>
          <p:cNvPr id="8" name="Een horizontale lijn:&#10;elk kaartje kost&#10;evenveel.">
            <a:extLst xmlns:a="http://schemas.openxmlformats.org/drawingml/2006/main">
              <a:ext uri="{FF2B5EF4-FFF2-40B4-BE49-F238E27FC236}">
                <a16:creationId xmlns:a16="http://schemas.microsoft.com/office/drawing/2014/main" id="{5882049D-4259-44E9-B149-44D5CF8ADCD5}"/>
              </a:ext>
            </a:extLst>
          </p:cNvPr>
          <p:cNvSpPr>
            <a:spLocks xmlns:a="http://schemas.openxmlformats.org/drawingml/2006/main" noGrp="1"/>
          </p:cNvSpPr>
          <p:nvPr/>
        </p:nvSpPr>
        <p:spPr>
          <a:xfrm xmlns:a="http://schemas.openxmlformats.org/drawingml/2006/main">
            <a:off x="10668000" y="3619500"/>
            <a:ext cx="395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Een horizontale lijn: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elk kaartje kost</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evenveel.</a:t>
            </a:r>
          </a:p>
        </p:txBody>
      </p:sp>
      <p:sp>
        <p:nvSpPr>
          <p:cNvPr id="9" name="Snijpunt (48; 16)&#10;Dus Q = 48 kaartjes.">
            <a:extLst xmlns:a="http://schemas.openxmlformats.org/drawingml/2006/main">
              <a:ext uri="{FF2B5EF4-FFF2-40B4-BE49-F238E27FC236}">
                <a16:creationId xmlns:a16="http://schemas.microsoft.com/office/drawing/2014/main" id="{4BDA8964-C2C9-4224-9E2A-1D0638A0C0C5}"/>
              </a:ext>
            </a:extLst>
          </p:cNvPr>
          <p:cNvSpPr>
            <a:spLocks xmlns:a="http://schemas.openxmlformats.org/drawingml/2006/main" noGrp="1"/>
          </p:cNvSpPr>
          <p:nvPr/>
        </p:nvSpPr>
        <p:spPr>
          <a:xfrm xmlns:a="http://schemas.openxmlformats.org/drawingml/2006/main">
            <a:off x="10668000" y="5724525"/>
            <a:ext cx="3952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Snijpunt (48; 16)</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Dus Q = 48 kaartjes.</a:t>
            </a:r>
          </a:p>
        </p:txBody>
      </p:sp>
    </p:spTree>
    <p:extLst>
      <p:ext uri="{BB962C8B-B14F-4D97-AF65-F5344CB8AC3E}">
        <p14:creationId xmlns:p14="http://schemas.microsoft.com/office/powerpoint/2010/main" val="49568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consumentensurplus als gebied">
            <a:extLst xmlns:a="http://schemas.openxmlformats.org/drawingml/2006/main">
              <a:ext uri="{FF2B5EF4-FFF2-40B4-BE49-F238E27FC236}">
                <a16:creationId xmlns:a16="http://schemas.microsoft.com/office/drawing/2014/main" id="{086347C1-8037-4972-A21C-3E02648660E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consumentensurplus als gebied</a:t>
            </a:r>
          </a:p>
        </p:txBody>
      </p:sp>
      <p:sp>
        <p:nvSpPr>
          <p:cNvPr id="2" name="">
            <a:extLst xmlns:a="http://schemas.openxmlformats.org/drawingml/2006/main">
              <a:ext uri="{FF2B5EF4-FFF2-40B4-BE49-F238E27FC236}">
                <a16:creationId xmlns:a16="http://schemas.microsoft.com/office/drawing/2014/main" id="{99D2C65D-2A5E-4A8A-87DD-0E5C76DC97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866DE4C-231C-441A-BE5C-EA0460D510A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6C12A2C1-0333-4C2B-8422-C572794D466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Theatermiddag: de 48 verkochte kaartjes">
            <a:extLst xmlns:a="http://schemas.openxmlformats.org/drawingml/2006/main">
              <a:ext uri="{FF2B5EF4-FFF2-40B4-BE49-F238E27FC236}">
                <a16:creationId xmlns:a16="http://schemas.microsoft.com/office/drawing/2014/main" id="{BCD12788-C981-40AF-AF4D-EE5657B0672E}"/>
              </a:ext>
            </a:extLst>
          </p:cNvPr>
          <p:cNvSpPr>
            <a:spLocks xmlns:a="http://schemas.openxmlformats.org/drawingml/2006/main" noGrp="1"/>
          </p:cNvSpPr>
          <p:nvPr/>
        </p:nvSpPr>
        <p:spPr>
          <a:xfrm xmlns:a="http://schemas.openxmlformats.org/drawingml/2006/main">
            <a:off x="571500" y="1743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Theatermiddag: de 48 verkochte kaartjes</a:t>
            </a:r>
          </a:p>
        </p:txBody>
      </p:sp>
      <p:graphicFrame>
        <p:nvGraphicFramePr>
          <p:cNvPr id="15" name="Chart"/>
          <p:cNvGraphicFramePr/>
          <p:nvPr/>
        </p:nvGraphicFramePr>
        <p:xfrm>
          <a:off xmlns:a="http://schemas.openxmlformats.org/drawingml/2006/main" x="523875" y="2400300"/>
          <a:ext xmlns:a="http://schemas.openxmlformats.org/drawingml/2006/main" cx="9620250" cy="5372100"/>
        </p:xfrm>
        <a:graphic xmlns:a="http://schemas.openxmlformats.org/drawingml/2006/main">
          <a:graphicData uri="http://schemas.openxmlformats.org/drawingml/2006/chart">
            <c:chart xmlns:r="http://schemas.openxmlformats.org/officeDocument/2006/relationships" xmlns:c="http://schemas.openxmlformats.org/drawingml/2006/chart" r:id="R506ca7b6f72d42db"/>
          </a:graphicData>
        </a:graphic>
      </p:graphicFrame>
      <p:sp>
        <p:nvSpPr>
          <p:cNvPr id="7" name="CS">
            <a:extLst xmlns:a="http://schemas.openxmlformats.org/drawingml/2006/main">
              <a:ext uri="{FF2B5EF4-FFF2-40B4-BE49-F238E27FC236}">
                <a16:creationId xmlns:a16="http://schemas.microsoft.com/office/drawing/2014/main" id="{376E9308-71FB-4935-ABB8-A88992BF2C1D}"/>
              </a:ext>
            </a:extLst>
          </p:cNvPr>
          <p:cNvSpPr>
            <a:spLocks xmlns:a="http://schemas.openxmlformats.org/drawingml/2006/main" noGrp="1"/>
          </p:cNvSpPr>
          <p:nvPr/>
        </p:nvSpPr>
        <p:spPr>
          <a:xfrm xmlns:a="http://schemas.openxmlformats.org/drawingml/2006/main">
            <a:off x="10668000" y="2686050"/>
            <a:ext cx="3952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CS</a:t>
            </a:r>
          </a:p>
        </p:txBody>
      </p:sp>
      <p:sp>
        <p:nvSpPr>
          <p:cNvPr id="8" name="Onder V&#10;Boven P = 16&#10;Van Q = 0 tot 48">
            <a:extLst xmlns:a="http://schemas.openxmlformats.org/drawingml/2006/main">
              <a:ext uri="{FF2B5EF4-FFF2-40B4-BE49-F238E27FC236}">
                <a16:creationId xmlns:a16="http://schemas.microsoft.com/office/drawing/2014/main" id="{FF98130E-C701-4142-9346-0AB1174BCBFE}"/>
              </a:ext>
            </a:extLst>
          </p:cNvPr>
          <p:cNvSpPr>
            <a:spLocks xmlns:a="http://schemas.openxmlformats.org/drawingml/2006/main" noGrp="1"/>
          </p:cNvSpPr>
          <p:nvPr/>
        </p:nvSpPr>
        <p:spPr>
          <a:xfrm xmlns:a="http://schemas.openxmlformats.org/drawingml/2006/main">
            <a:off x="10668000" y="3390900"/>
            <a:ext cx="39528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Onder V</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Boven P = 16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Van Q = 0 tot 48</a:t>
            </a:r>
          </a:p>
        </p:txBody>
      </p:sp>
      <p:sp>
        <p:nvSpPr>
          <p:cNvPr id="9" name="Basis: 48 kaartjes&#10;Hoogte: 40 − 16&#10;= € 24 per kaartje">
            <a:extLst xmlns:a="http://schemas.openxmlformats.org/drawingml/2006/main">
              <a:ext uri="{FF2B5EF4-FFF2-40B4-BE49-F238E27FC236}">
                <a16:creationId xmlns:a16="http://schemas.microsoft.com/office/drawing/2014/main" id="{7803F272-1223-4FB5-93ED-7010FE6FD720}"/>
              </a:ext>
            </a:extLst>
          </p:cNvPr>
          <p:cNvSpPr>
            <a:spLocks xmlns:a="http://schemas.openxmlformats.org/drawingml/2006/main" noGrp="1"/>
          </p:cNvSpPr>
          <p:nvPr/>
        </p:nvSpPr>
        <p:spPr>
          <a:xfrm xmlns:a="http://schemas.openxmlformats.org/drawingml/2006/main">
            <a:off x="10668000" y="5410200"/>
            <a:ext cx="395287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Basis: 48 kaartjes</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Hoogte: 40 − 16</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€ 24 per kaartje</a:t>
            </a:r>
          </a:p>
        </p:txBody>
      </p:sp>
    </p:spTree>
    <p:extLst>
      <p:ext uri="{BB962C8B-B14F-4D97-AF65-F5344CB8AC3E}">
        <p14:creationId xmlns:p14="http://schemas.microsoft.com/office/powerpoint/2010/main" val="922938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oppervlakte berekenen">
            <a:extLst xmlns:a="http://schemas.openxmlformats.org/drawingml/2006/main">
              <a:ext uri="{FF2B5EF4-FFF2-40B4-BE49-F238E27FC236}">
                <a16:creationId xmlns:a16="http://schemas.microsoft.com/office/drawing/2014/main" id="{8F04FD71-4405-4B85-8E04-8E2F09901DE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oppervlakte berekenen</a:t>
            </a:r>
          </a:p>
        </p:txBody>
      </p:sp>
      <p:sp>
        <p:nvSpPr>
          <p:cNvPr id="2" name="">
            <a:extLst xmlns:a="http://schemas.openxmlformats.org/drawingml/2006/main">
              <a:ext uri="{FF2B5EF4-FFF2-40B4-BE49-F238E27FC236}">
                <a16:creationId xmlns:a16="http://schemas.microsoft.com/office/drawing/2014/main" id="{96F0E6F8-17DA-4AC7-8DEE-7B116EA4777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5BD8956-92F6-420A-B31D-A058B561B93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A02AC651-39D8-471B-BB6B-00EE85B09E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Een driehoek is de helft van basis × hoogte.">
            <a:extLst xmlns:a="http://schemas.openxmlformats.org/drawingml/2006/main">
              <a:ext uri="{FF2B5EF4-FFF2-40B4-BE49-F238E27FC236}">
                <a16:creationId xmlns:a16="http://schemas.microsoft.com/office/drawing/2014/main" id="{91F89DEF-2278-4A12-8D59-DBD0C76959C4}"/>
              </a:ext>
            </a:extLst>
          </p:cNvPr>
          <p:cNvSpPr>
            <a:spLocks xmlns:a="http://schemas.openxmlformats.org/drawingml/2006/main" noGrp="1"/>
          </p:cNvSpPr>
          <p:nvPr/>
        </p:nvSpPr>
        <p:spPr>
          <a:xfrm xmlns:a="http://schemas.openxmlformats.org/drawingml/2006/main">
            <a:off x="571500" y="17716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driehoek is de helft van basis × hoogte.</a:t>
            </a:r>
          </a:p>
        </p:txBody>
      </p:sp>
      <p:graphicFrame>
        <p:nvGraphicFramePr>
          <p:cNvPr id="15" name=""/>
          <p:cNvGraphicFramePr/>
          <p:nvPr/>
        </p:nvGraphicFramePr>
        <p:xfrm>
          <a:off xmlns:a="http://schemas.openxmlformats.org/drawingml/2006/main" x="571500" y="2905125"/>
          <a:ext xmlns:a="http://schemas.openxmlformats.org/drawingml/2006/main" cx="14097000" cy="1952625"/>
        </p:xfrm>
        <a:graphic xmlns:a="http://schemas.openxmlformats.org/drawingml/2006/main">
          <a:graphicData uri="http://schemas.openxmlformats.org/drawingml/2006/table">
            <a:tbl>
              <a:tblPr/>
              <a:tblGrid>
                <a:gridCol w="6381750"/>
                <a:gridCol w="7715250"/>
              </a:tblGrid>
              <a:tr h="976313">
                <a:tc>
                  <a:txBody>
                    <a:bodyPr lIns="171450" tIns="95250" rIns="152400" bIns="95250"/>
                    <a:lstStyle/>
                    <a:p>
                      <a:r>
                        <a:rPr sz="2775" b="1">
                          <a:solidFill>
                            <a:srgbClr val="FFFFFF"/>
                          </a:solidFill>
                          <a:latin typeface="Arial"/>
                          <a:ea typeface="Arial"/>
                          <a:cs typeface="Arial"/>
                        </a:rPr>
                        <a:t>Basis</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Loodrechte hoogte</a:t>
                      </a:r>
                    </a:p>
                  </a:txBody>
                  <a:tcPr marL="91440" marR="91440" marT="45720" marB="45720" anchor="ctr">
                    <a:solidFill>
                      <a:srgbClr val="183247"/>
                    </a:solidFill>
                  </a:tcPr>
                </a:tc>
              </a:tr>
              <a:tr h="976313">
                <a:tc>
                  <a:txBody>
                    <a:bodyPr lIns="171450" tIns="95250" rIns="152400" bIns="95250"/>
                    <a:lstStyle/>
                    <a:p>
                      <a:r>
                        <a:rPr sz="2775" b="0">
                          <a:solidFill>
                            <a:srgbClr val="183247"/>
                          </a:solidFill>
                          <a:latin typeface="Arial"/>
                          <a:ea typeface="Arial"/>
                          <a:cs typeface="Arial"/>
                        </a:rPr>
                        <a:t>48 kaartjes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40 − 16 = € 24 per kaartje</a:t>
                      </a:r>
                    </a:p>
                  </a:txBody>
                  <a:tcPr marL="91440" marR="91440" marT="45720" marB="45720" anchor="ctr">
                    <a:solidFill>
                      <a:srgbClr val="FFFFFF"/>
                    </a:solidFill>
                  </a:tcPr>
                </a:tc>
              </a:tr>
            </a:tbl>
          </a:graphicData>
        </a:graphic>
      </p:graphicFrame>
      <p:sp>
        <p:nvSpPr>
          <p:cNvPr id="7" name="CS = ½ × basis × hoogte">
            <a:extLst xmlns:a="http://schemas.openxmlformats.org/drawingml/2006/main">
              <a:ext uri="{FF2B5EF4-FFF2-40B4-BE49-F238E27FC236}">
                <a16:creationId xmlns:a16="http://schemas.microsoft.com/office/drawing/2014/main" id="{C9D3425A-6BEB-4715-AD68-5135C2F5D2FB}"/>
              </a:ext>
            </a:extLst>
          </p:cNvPr>
          <p:cNvSpPr>
            <a:spLocks xmlns:a="http://schemas.openxmlformats.org/drawingml/2006/main" noGrp="1"/>
          </p:cNvSpPr>
          <p:nvPr/>
        </p:nvSpPr>
        <p:spPr>
          <a:xfrm xmlns:a="http://schemas.openxmlformats.org/drawingml/2006/main">
            <a:off x="571500" y="53911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CS = ½ × basis × hoogte</a:t>
            </a:r>
          </a:p>
        </p:txBody>
      </p:sp>
      <p:sp>
        <p:nvSpPr>
          <p:cNvPr id="8" name="CS = ½ × 48 × 24 = € 576">
            <a:extLst xmlns:a="http://schemas.openxmlformats.org/drawingml/2006/main">
              <a:ext uri="{FF2B5EF4-FFF2-40B4-BE49-F238E27FC236}">
                <a16:creationId xmlns:a16="http://schemas.microsoft.com/office/drawing/2014/main" id="{1613ACDC-AF8F-4581-A2D8-2C664325D47A}"/>
              </a:ext>
            </a:extLst>
          </p:cNvPr>
          <p:cNvSpPr>
            <a:spLocks xmlns:a="http://schemas.openxmlformats.org/drawingml/2006/main" noGrp="1"/>
          </p:cNvSpPr>
          <p:nvPr/>
        </p:nvSpPr>
        <p:spPr>
          <a:xfrm xmlns:a="http://schemas.openxmlformats.org/drawingml/2006/main">
            <a:off x="571500" y="632460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CS = ½ × 48 × 24 = € 576</a:t>
            </a:r>
          </a:p>
        </p:txBody>
      </p:sp>
      <p:sp>
        <p:nvSpPr>
          <p:cNvPr id="9" name="Kaartjes × € per kaartje = €">
            <a:extLst xmlns:a="http://schemas.openxmlformats.org/drawingml/2006/main">
              <a:ext uri="{FF2B5EF4-FFF2-40B4-BE49-F238E27FC236}">
                <a16:creationId xmlns:a16="http://schemas.microsoft.com/office/drawing/2014/main" id="{29590F9B-D290-4D2B-B56A-C853A2DBFE85}"/>
              </a:ext>
            </a:extLst>
          </p:cNvPr>
          <p:cNvSpPr>
            <a:spLocks xmlns:a="http://schemas.openxmlformats.org/drawingml/2006/main" noGrp="1"/>
          </p:cNvSpPr>
          <p:nvPr/>
        </p:nvSpPr>
        <p:spPr>
          <a:xfrm xmlns:a="http://schemas.openxmlformats.org/drawingml/2006/main">
            <a:off x="571500" y="73437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Kaartjes × € per kaartje = €</a:t>
            </a:r>
          </a:p>
        </p:txBody>
      </p:sp>
    </p:spTree>
    <p:extLst>
      <p:ext uri="{BB962C8B-B14F-4D97-AF65-F5344CB8AC3E}">
        <p14:creationId xmlns:p14="http://schemas.microsoft.com/office/powerpoint/2010/main" val="14858989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oordeel en betaling">
            <a:extLst xmlns:a="http://schemas.openxmlformats.org/drawingml/2006/main">
              <a:ext uri="{FF2B5EF4-FFF2-40B4-BE49-F238E27FC236}">
                <a16:creationId xmlns:a16="http://schemas.microsoft.com/office/drawing/2014/main" id="{3A25DC80-147E-4C0D-B1A0-34E47825785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Voordeel en betaling</a:t>
            </a:r>
          </a:p>
        </p:txBody>
      </p:sp>
      <p:sp>
        <p:nvSpPr>
          <p:cNvPr id="2" name="">
            <a:extLst xmlns:a="http://schemas.openxmlformats.org/drawingml/2006/main">
              <a:ext uri="{FF2B5EF4-FFF2-40B4-BE49-F238E27FC236}">
                <a16:creationId xmlns:a16="http://schemas.microsoft.com/office/drawing/2014/main" id="{B2022B26-5C31-42F6-B4E5-ADB135D0F2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64B283B-4BE1-4953-A6EA-071DDABAD05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B6B38EF9-52ED-489D-9A40-CE82835FB59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Theatermiddag: 48 verkochte kaartjes bij P = € 16">
            <a:extLst xmlns:a="http://schemas.openxmlformats.org/drawingml/2006/main">
              <a:ext uri="{FF2B5EF4-FFF2-40B4-BE49-F238E27FC236}">
                <a16:creationId xmlns:a16="http://schemas.microsoft.com/office/drawing/2014/main" id="{B404C2CD-25A7-458E-A517-C2918DD479CE}"/>
              </a:ext>
            </a:extLst>
          </p:cNvPr>
          <p:cNvSpPr>
            <a:spLocks xmlns:a="http://schemas.openxmlformats.org/drawingml/2006/main" noGrp="1"/>
          </p:cNvSpPr>
          <p:nvPr/>
        </p:nvSpPr>
        <p:spPr>
          <a:xfrm xmlns:a="http://schemas.openxmlformats.org/drawingml/2006/main">
            <a:off x="571500" y="17716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Theatermiddag: 48 verkochte kaartjes bij P = € 16</a:t>
            </a:r>
          </a:p>
        </p:txBody>
      </p:sp>
      <p:graphicFrame>
        <p:nvGraphicFramePr>
          <p:cNvPr id="13" name=""/>
          <p:cNvGraphicFramePr/>
          <p:nvPr/>
        </p:nvGraphicFramePr>
        <p:xfrm>
          <a:off xmlns:a="http://schemas.openxmlformats.org/drawingml/2006/main" x="571500" y="2943225"/>
          <a:ext xmlns:a="http://schemas.openxmlformats.org/drawingml/2006/main" cx="14097000" cy="3171825"/>
        </p:xfrm>
        <a:graphic xmlns:a="http://schemas.openxmlformats.org/drawingml/2006/main">
          <a:graphicData uri="http://schemas.openxmlformats.org/drawingml/2006/table">
            <a:tbl>
              <a:tblPr/>
              <a:tblGrid>
                <a:gridCol w="3333750"/>
                <a:gridCol w="4048125"/>
                <a:gridCol w="6715125"/>
              </a:tblGrid>
              <a:tr h="1057275">
                <a:tc>
                  <a:txBody>
                    <a:bodyPr lIns="171450" tIns="95250" rIns="152400" bIns="95250"/>
                    <a:lstStyle/>
                    <a:p>
                      <a:r>
                        <a:rPr sz="2550" b="1">
                          <a:solidFill>
                            <a:srgbClr val="FFFFFF"/>
                          </a:solidFill>
                          <a:latin typeface="Arial"/>
                          <a:ea typeface="Arial"/>
                          <a:cs typeface="Arial"/>
                        </a:rPr>
                        <a:t>Bedrag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Betekenis</a:t>
                      </a:r>
                    </a:p>
                  </a:txBody>
                  <a:tcPr marL="91440" marR="91440" marT="45720" marB="45720" anchor="ctr">
                    <a:solidFill>
                      <a:srgbClr val="183247"/>
                    </a:solidFill>
                  </a:tcPr>
                </a:tc>
              </a:tr>
              <a:tr h="1057275">
                <a:tc>
                  <a:txBody>
                    <a:bodyPr lIns="171450" tIns="95250" rIns="152400" bIns="95250"/>
                    <a:lstStyle/>
                    <a:p>
                      <a:r>
                        <a:rPr sz="255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€ 576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Wat kopers samen méér overhebben dan zij betalen</a:t>
                      </a:r>
                    </a:p>
                  </a:txBody>
                  <a:tcPr marL="91440" marR="91440" marT="45720" marB="45720" anchor="ctr">
                    <a:solidFill>
                      <a:srgbClr val="FFFFFF"/>
                    </a:solidFill>
                  </a:tcPr>
                </a:tc>
              </a:tr>
              <a:tr h="1057275">
                <a:tc>
                  <a:txBody>
                    <a:bodyPr lIns="171450" tIns="95250" rIns="152400" bIns="95250"/>
                    <a:lstStyle/>
                    <a:p>
                      <a:r>
                        <a:rPr sz="2550" b="0">
                          <a:solidFill>
                            <a:srgbClr val="183247"/>
                          </a:solidFill>
                          <a:latin typeface="Arial"/>
                          <a:ea typeface="Arial"/>
                          <a:cs typeface="Arial"/>
                        </a:rPr>
                        <a:t>Betaling / omzet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16 × 48 = € 768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Wat kopers samen werkelijk betalen</a:t>
                      </a:r>
                    </a:p>
                  </a:txBody>
                  <a:tcPr marL="91440" marR="91440" marT="45720" marB="45720" anchor="ctr">
                    <a:solidFill>
                      <a:srgbClr val="EFF4F7"/>
                    </a:solidFill>
                  </a:tcPr>
                </a:tc>
              </a:tr>
            </a:tbl>
          </a:graphicData>
        </a:graphic>
      </p:graphicFrame>
      <p:sp>
        <p:nvSpPr>
          <p:cNvPr id="7" name="De kopers hebben samen € 576 meer over voor de 48 kaartjes d">
            <a:extLst xmlns:a="http://schemas.openxmlformats.org/drawingml/2006/main">
              <a:ext uri="{FF2B5EF4-FFF2-40B4-BE49-F238E27FC236}">
                <a16:creationId xmlns:a16="http://schemas.microsoft.com/office/drawing/2014/main" id="{6FC8759A-AA77-46AE-9279-11219B45AC59}"/>
              </a:ext>
            </a:extLst>
          </p:cNvPr>
          <p:cNvSpPr>
            <a:spLocks xmlns:a="http://schemas.openxmlformats.org/drawingml/2006/main" noGrp="1"/>
          </p:cNvSpPr>
          <p:nvPr/>
        </p:nvSpPr>
        <p:spPr>
          <a:xfrm xmlns:a="http://schemas.openxmlformats.org/drawingml/2006/main">
            <a:off x="571500" y="666750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 kopers hebben samen € 576 meer over voor de 48 kaartjes dan zij werkelijk betalen.</a:t>
            </a:r>
          </a:p>
        </p:txBody>
      </p:sp>
    </p:spTree>
    <p:extLst>
      <p:ext uri="{BB962C8B-B14F-4D97-AF65-F5344CB8AC3E}">
        <p14:creationId xmlns:p14="http://schemas.microsoft.com/office/powerpoint/2010/main" val="13513551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B91199BF-EB1D-459D-8C21-E9F14085D44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404FAE29-EC3A-421B-92E4-DE17E5E59E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6069FE4-2E52-4F9D-8E11-A94467AB33A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FD97943B-AF70-4320-AEAB-7C01E9B47A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Theatermiddag: P = 40 − 0,5Q, prijs € 16 en Q = 48">
            <a:extLst xmlns:a="http://schemas.openxmlformats.org/drawingml/2006/main">
              <a:ext uri="{FF2B5EF4-FFF2-40B4-BE49-F238E27FC236}">
                <a16:creationId xmlns:a16="http://schemas.microsoft.com/office/drawing/2014/main" id="{BF13446A-B983-4A31-B1D6-62815DB76D96}"/>
              </a:ext>
            </a:extLst>
          </p:cNvPr>
          <p:cNvSpPr>
            <a:spLocks xmlns:a="http://schemas.openxmlformats.org/drawingml/2006/main" noGrp="1"/>
          </p:cNvSpPr>
          <p:nvPr/>
        </p:nvSpPr>
        <p:spPr>
          <a:xfrm xmlns:a="http://schemas.openxmlformats.org/drawingml/2006/main">
            <a:off x="571500" y="17907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Theatermiddag: P = 40 − 0,5Q, prijs € 16 en Q = 48</a:t>
            </a:r>
          </a:p>
        </p:txBody>
      </p:sp>
      <p:sp>
        <p:nvSpPr>
          <p:cNvPr id="6" name="Een leerling rekent: CS = ½ × 48 × 16.">
            <a:extLst xmlns:a="http://schemas.openxmlformats.org/drawingml/2006/main">
              <a:ext uri="{FF2B5EF4-FFF2-40B4-BE49-F238E27FC236}">
                <a16:creationId xmlns:a16="http://schemas.microsoft.com/office/drawing/2014/main" id="{3F9F0894-F6BD-456E-96A9-F975E231C455}"/>
              </a:ext>
            </a:extLst>
          </p:cNvPr>
          <p:cNvSpPr>
            <a:spLocks xmlns:a="http://schemas.openxmlformats.org/drawingml/2006/main" noGrp="1"/>
          </p:cNvSpPr>
          <p:nvPr/>
        </p:nvSpPr>
        <p:spPr>
          <a:xfrm xmlns:a="http://schemas.openxmlformats.org/drawingml/2006/main">
            <a:off x="571500" y="32385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Een leerling rekent: CS = ½ × 48 × 16.</a:t>
            </a:r>
          </a:p>
        </p:txBody>
      </p:sp>
      <p:sp>
        <p:nvSpPr>
          <p:cNvPr id="7" name="Welk deel van deze berekening moet veranderen?&#10;Leg uit met d">
            <a:extLst xmlns:a="http://schemas.openxmlformats.org/drawingml/2006/main">
              <a:ext uri="{FF2B5EF4-FFF2-40B4-BE49-F238E27FC236}">
                <a16:creationId xmlns:a16="http://schemas.microsoft.com/office/drawing/2014/main" id="{FE7B60A2-5F5E-48BF-A3A0-0E14EE171C29}"/>
              </a:ext>
            </a:extLst>
          </p:cNvPr>
          <p:cNvSpPr>
            <a:spLocks xmlns:a="http://schemas.openxmlformats.org/drawingml/2006/main" noGrp="1"/>
          </p:cNvSpPr>
          <p:nvPr/>
        </p:nvSpPr>
        <p:spPr>
          <a:xfrm xmlns:a="http://schemas.openxmlformats.org/drawingml/2006/main">
            <a:off x="571500" y="5095875"/>
            <a:ext cx="14097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Welk deel van deze berekening moet veranderen?</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Leg uit met de grenzen van het CS-gebied.</a:t>
            </a:r>
          </a:p>
        </p:txBody>
      </p:sp>
    </p:spTree>
    <p:extLst>
      <p:ext uri="{BB962C8B-B14F-4D97-AF65-F5344CB8AC3E}">
        <p14:creationId xmlns:p14="http://schemas.microsoft.com/office/powerpoint/2010/main" val="17407922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ontrole: de juiste hoogte">
            <a:extLst xmlns:a="http://schemas.openxmlformats.org/drawingml/2006/main">
              <a:ext uri="{FF2B5EF4-FFF2-40B4-BE49-F238E27FC236}">
                <a16:creationId xmlns:a16="http://schemas.microsoft.com/office/drawing/2014/main" id="{B621E991-6160-4E1A-85FE-5C71B53CC0E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de juiste hoogte</a:t>
            </a:r>
          </a:p>
        </p:txBody>
      </p:sp>
      <p:sp>
        <p:nvSpPr>
          <p:cNvPr id="2" name="">
            <a:extLst xmlns:a="http://schemas.openxmlformats.org/drawingml/2006/main">
              <a:ext uri="{FF2B5EF4-FFF2-40B4-BE49-F238E27FC236}">
                <a16:creationId xmlns:a16="http://schemas.microsoft.com/office/drawing/2014/main" id="{BE32F150-2255-4EDF-BA3C-F7E35A35D3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F673D2B-68D9-43AC-AA6E-FC4340E0CA8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8D623142-63FF-4DA1-9EC4-3AC5E2B93F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Theatermiddag: P = 40 − 0,5Q, prijs € 16 en Q = 48">
            <a:extLst xmlns:a="http://schemas.openxmlformats.org/drawingml/2006/main">
              <a:ext uri="{FF2B5EF4-FFF2-40B4-BE49-F238E27FC236}">
                <a16:creationId xmlns:a16="http://schemas.microsoft.com/office/drawing/2014/main" id="{3F380E35-257C-4CA3-AF3C-6D93BCFBAA95}"/>
              </a:ext>
            </a:extLst>
          </p:cNvPr>
          <p:cNvSpPr>
            <a:spLocks xmlns:a="http://schemas.openxmlformats.org/drawingml/2006/main" noGrp="1"/>
          </p:cNvSpPr>
          <p:nvPr/>
        </p:nvSpPr>
        <p:spPr>
          <a:xfrm xmlns:a="http://schemas.openxmlformats.org/drawingml/2006/main">
            <a:off x="571500" y="17907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Theatermiddag: P = 40 − 0,5Q, prijs € 16 en Q = 48</a:t>
            </a:r>
          </a:p>
        </p:txBody>
      </p:sp>
      <p:sp>
        <p:nvSpPr>
          <p:cNvPr id="6" name="Een leerling rekent: CS = ½ × 48 × 16.">
            <a:extLst xmlns:a="http://schemas.openxmlformats.org/drawingml/2006/main">
              <a:ext uri="{FF2B5EF4-FFF2-40B4-BE49-F238E27FC236}">
                <a16:creationId xmlns:a16="http://schemas.microsoft.com/office/drawing/2014/main" id="{D438EE32-C845-4F55-BED7-13E012AE6799}"/>
              </a:ext>
            </a:extLst>
          </p:cNvPr>
          <p:cNvSpPr>
            <a:spLocks xmlns:a="http://schemas.openxmlformats.org/drawingml/2006/main" noGrp="1"/>
          </p:cNvSpPr>
          <p:nvPr/>
        </p:nvSpPr>
        <p:spPr>
          <a:xfrm xmlns:a="http://schemas.openxmlformats.org/drawingml/2006/main">
            <a:off x="571500" y="32385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Een leerling rekent: CS = ½ × 48 × 16.</a:t>
            </a:r>
          </a:p>
        </p:txBody>
      </p:sp>
      <p:sp>
        <p:nvSpPr>
          <p:cNvPr id="7" name="De hoogte is 40 − 16 = € 24 per kaartje.">
            <a:extLst xmlns:a="http://schemas.openxmlformats.org/drawingml/2006/main">
              <a:ext uri="{FF2B5EF4-FFF2-40B4-BE49-F238E27FC236}">
                <a16:creationId xmlns:a16="http://schemas.microsoft.com/office/drawing/2014/main" id="{66034E0F-6945-4DC1-84EC-06F3189F9DB2}"/>
              </a:ext>
            </a:extLst>
          </p:cNvPr>
          <p:cNvSpPr>
            <a:spLocks xmlns:a="http://schemas.openxmlformats.org/drawingml/2006/main" noGrp="1"/>
          </p:cNvSpPr>
          <p:nvPr/>
        </p:nvSpPr>
        <p:spPr>
          <a:xfrm xmlns:a="http://schemas.openxmlformats.org/drawingml/2006/main">
            <a:off x="571500" y="48577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hoogte is 40 − 16 = € 24 per kaartje.</a:t>
            </a:r>
          </a:p>
        </p:txBody>
      </p:sp>
      <p:sp>
        <p:nvSpPr>
          <p:cNvPr id="8" name="CS = ½ × 48 × 24 = € 576">
            <a:extLst xmlns:a="http://schemas.openxmlformats.org/drawingml/2006/main">
              <a:ext uri="{FF2B5EF4-FFF2-40B4-BE49-F238E27FC236}">
                <a16:creationId xmlns:a16="http://schemas.microsoft.com/office/drawing/2014/main" id="{C69FAE5D-0143-411A-A2D4-E4BE0037572A}"/>
              </a:ext>
            </a:extLst>
          </p:cNvPr>
          <p:cNvSpPr>
            <a:spLocks xmlns:a="http://schemas.openxmlformats.org/drawingml/2006/main" noGrp="1"/>
          </p:cNvSpPr>
          <p:nvPr/>
        </p:nvSpPr>
        <p:spPr>
          <a:xfrm xmlns:a="http://schemas.openxmlformats.org/drawingml/2006/main">
            <a:off x="571500" y="601027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CS = ½ × 48 × 24 = € 576</a:t>
            </a:r>
          </a:p>
        </p:txBody>
      </p:sp>
      <p:sp>
        <p:nvSpPr>
          <p:cNvPr id="9" name="Je meet vanaf de prijslijn tot de bovenkant van V.">
            <a:extLst xmlns:a="http://schemas.openxmlformats.org/drawingml/2006/main">
              <a:ext uri="{FF2B5EF4-FFF2-40B4-BE49-F238E27FC236}">
                <a16:creationId xmlns:a16="http://schemas.microsoft.com/office/drawing/2014/main" id="{BF963CBB-CB03-4602-B0FC-F07ABB42CAC3}"/>
              </a:ext>
            </a:extLst>
          </p:cNvPr>
          <p:cNvSpPr>
            <a:spLocks xmlns:a="http://schemas.openxmlformats.org/drawingml/2006/main" noGrp="1"/>
          </p:cNvSpPr>
          <p:nvPr/>
        </p:nvSpPr>
        <p:spPr>
          <a:xfrm xmlns:a="http://schemas.openxmlformats.org/drawingml/2006/main">
            <a:off x="571500" y="72866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meet vanaf de prijslijn tot de bovenkant van V.</a:t>
            </a:r>
          </a:p>
        </p:txBody>
      </p:sp>
    </p:spTree>
    <p:extLst>
      <p:ext uri="{BB962C8B-B14F-4D97-AF65-F5344CB8AC3E}">
        <p14:creationId xmlns:p14="http://schemas.microsoft.com/office/powerpoint/2010/main" val="557717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1 Consumentensurplus">
            <a:extLst xmlns:a="http://schemas.openxmlformats.org/drawingml/2006/main">
              <a:ext uri="{FF2B5EF4-FFF2-40B4-BE49-F238E27FC236}">
                <a16:creationId xmlns:a16="http://schemas.microsoft.com/office/drawing/2014/main" id="{24F88329-4502-41E8-BA34-445EDE091C9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§2.3.1 Consumentensurplus</a:t>
            </a:r>
          </a:p>
        </p:txBody>
      </p:sp>
      <p:sp>
        <p:nvSpPr>
          <p:cNvPr id="2" name="">
            <a:extLst xmlns:a="http://schemas.openxmlformats.org/drawingml/2006/main">
              <a:ext uri="{FF2B5EF4-FFF2-40B4-BE49-F238E27FC236}">
                <a16:creationId xmlns:a16="http://schemas.microsoft.com/office/drawing/2014/main" id="{7D0BCEE1-1974-4FE1-AF49-6055D92A12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a:extLst xmlns:a="http://schemas.openxmlformats.org/drawingml/2006/main">
              <a:ext uri="{FF2B5EF4-FFF2-40B4-BE49-F238E27FC236}">
                <a16:creationId xmlns:a16="http://schemas.microsoft.com/office/drawing/2014/main" id="{A55DDFE4-93A1-4852-8AE0-7C13837C2B3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a:t>
            </a:r>
          </a:p>
        </p:txBody>
      </p:sp>
      <p:sp>
        <p:nvSpPr>
          <p:cNvPr id="4" name="15">
            <a:extLst xmlns:a="http://schemas.openxmlformats.org/drawingml/2006/main">
              <a:ext uri="{FF2B5EF4-FFF2-40B4-BE49-F238E27FC236}">
                <a16:creationId xmlns:a16="http://schemas.microsoft.com/office/drawing/2014/main" id="{C2FEC004-24E2-4F35-8D53-A1914C1B79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D356C976-29FE-4AED-8445-818474A3D64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2148E028-BC29-45D1-8F84-D0D7E0CB97C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3CA68B0-3863-4D16-975F-27E336BA2F1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5565C16-DE2B-430D-95BB-C3D1948759A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BB01813-110B-4A98-834E-D938B99749BF}"/>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68ADA74-164D-44AB-A27B-57003E559F2E}"/>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50A085E-DC44-4673-93BD-83515AD68A3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81FEF1BD-A7A5-4CB1-A67D-AC1FBC5D81F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C3A224D-399F-4F22-8A84-1AF753B8B7D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531E94F-DBFE-4CF1-9944-650414DD489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27EA2D9-6B6C-4E96-9369-C8E6A1B539E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504FA95-2EDE-41DD-8D9E-441164BDC9E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FADB291F-3A11-4E83-A60A-90C2C3E6103F}"/>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B0C9D74-F691-4F92-A167-38CF93D1AD48}"/>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C533A431-A85A-48BA-8A23-0606CA02760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DD16CFE-F04A-4CE1-8BA7-BB52A9E23C96}"/>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77B30FB-6561-4A1A-8DCA-F2BCF9844A7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02AC544-44C9-497F-95A0-6DFC18854EA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berekenen, lijnen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CS arceren en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het kopersvoordeel uitleggen.</a:t>
            </a:r>
          </a:p>
        </p:txBody>
      </p:sp>
      <p:sp>
        <p:nvSpPr>
          <p:cNvPr id="23" name="">
            <a:extLst xmlns:a="http://schemas.openxmlformats.org/drawingml/2006/main">
              <a:ext uri="{FF2B5EF4-FFF2-40B4-BE49-F238E27FC236}">
                <a16:creationId xmlns:a16="http://schemas.microsoft.com/office/drawing/2014/main" id="{A14F1CBB-C407-4C89-814F-4F9B4432C3A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D1A9F87-9AA5-4B16-B8E7-B3894AC54758}"/>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96C3248-C6E8-4C28-B589-DC4170840EB4}"/>
              </a:ext>
            </a:extLst>
          </p:cNvPr>
          <p:cNvSpPr>
            <a:spLocks xmlns:a="http://schemas.openxmlformats.org/drawingml/2006/main" noGrp="1"/>
          </p:cNvSpPr>
          <p:nvPr/>
        </p:nvSpPr>
        <p:spPr>
          <a:xfrm xmlns:a="http://schemas.openxmlformats.org/drawingml/2006/main">
            <a:off x="9258300" y="430530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76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72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Reken- en tekenhulp: p. 74</a:t>
            </a:r>
          </a:p>
        </p:txBody>
      </p:sp>
      <p:sp>
        <p:nvSpPr>
          <p:cNvPr id="26" name="">
            <a:extLst xmlns:a="http://schemas.openxmlformats.org/drawingml/2006/main">
              <a:ext uri="{FF2B5EF4-FFF2-40B4-BE49-F238E27FC236}">
                <a16:creationId xmlns:a16="http://schemas.microsoft.com/office/drawing/2014/main" id="{C0C5834A-0B39-4D64-BBFD-FEAC99998114}"/>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70329B9-59C5-4049-BE08-A3AABFB894D3}"/>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EA125FA-90E6-47E6-9F75-76675D25348F}"/>
              </a:ext>
            </a:extLst>
          </p:cNvPr>
          <p:cNvSpPr>
            <a:spLocks xmlns:a="http://schemas.openxmlformats.org/drawingml/2006/main" noGrp="1"/>
          </p:cNvSpPr>
          <p:nvPr/>
        </p:nvSpPr>
        <p:spPr>
          <a:xfrm xmlns:a="http://schemas.openxmlformats.org/drawingml/2006/main">
            <a:off x="9258300" y="623887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§2.3.1 Consumentensurplus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405102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 · Concertkaartjes">
            <a:extLst xmlns:a="http://schemas.openxmlformats.org/drawingml/2006/main">
              <a:ext uri="{FF2B5EF4-FFF2-40B4-BE49-F238E27FC236}">
                <a16:creationId xmlns:a16="http://schemas.microsoft.com/office/drawing/2014/main" id="{C504CFC3-C0C3-43ED-8E5E-150FA14BC1A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Concertkaartjes</a:t>
            </a:r>
          </a:p>
        </p:txBody>
      </p:sp>
      <p:sp>
        <p:nvSpPr>
          <p:cNvPr id="2" name="">
            <a:extLst xmlns:a="http://schemas.openxmlformats.org/drawingml/2006/main">
              <a:ext uri="{FF2B5EF4-FFF2-40B4-BE49-F238E27FC236}">
                <a16:creationId xmlns:a16="http://schemas.microsoft.com/office/drawing/2014/main" id="{C9F09173-4F21-41DB-ADE5-58A2F08002C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688DD500-E879-4B97-AE83-60FD3A755EA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16">
            <a:extLst xmlns:a="http://schemas.openxmlformats.org/drawingml/2006/main">
              <a:ext uri="{FF2B5EF4-FFF2-40B4-BE49-F238E27FC236}">
                <a16:creationId xmlns:a16="http://schemas.microsoft.com/office/drawing/2014/main" id="{435A3541-6CA1-42EF-9CC5-0B7C2CAEB27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Voor concertkaartjes geldt de vraagfunctie:">
            <a:extLst xmlns:a="http://schemas.openxmlformats.org/drawingml/2006/main">
              <a:ext uri="{FF2B5EF4-FFF2-40B4-BE49-F238E27FC236}">
                <a16:creationId xmlns:a16="http://schemas.microsoft.com/office/drawing/2014/main" id="{EDD96075-6075-4AEE-A4FA-E01366A592B7}"/>
              </a:ext>
            </a:extLst>
          </p:cNvPr>
          <p:cNvSpPr>
            <a:spLocks xmlns:a="http://schemas.openxmlformats.org/drawingml/2006/main" noGrp="1"/>
          </p:cNvSpPr>
          <p:nvPr/>
        </p:nvSpPr>
        <p:spPr>
          <a:xfrm xmlns:a="http://schemas.openxmlformats.org/drawingml/2006/main">
            <a:off x="571500" y="1809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Voor concertkaartjes geldt de vraagfunctie:</a:t>
            </a:r>
          </a:p>
        </p:txBody>
      </p:sp>
      <p:sp>
        <p:nvSpPr>
          <p:cNvPr id="6" name="P = 50 − 0,5Q">
            <a:extLst xmlns:a="http://schemas.openxmlformats.org/drawingml/2006/main">
              <a:ext uri="{FF2B5EF4-FFF2-40B4-BE49-F238E27FC236}">
                <a16:creationId xmlns:a16="http://schemas.microsoft.com/office/drawing/2014/main" id="{C3F1B6E6-1CB2-47D5-B32A-53791094C002}"/>
              </a:ext>
            </a:extLst>
          </p:cNvPr>
          <p:cNvSpPr>
            <a:spLocks xmlns:a="http://schemas.openxmlformats.org/drawingml/2006/main" noGrp="1"/>
          </p:cNvSpPr>
          <p:nvPr/>
        </p:nvSpPr>
        <p:spPr>
          <a:xfrm xmlns:a="http://schemas.openxmlformats.org/drawingml/2006/main">
            <a:off x="571500" y="263842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7658A"/>
                </a:solidFill>
                <a:latin typeface="Arial"/>
                <a:ea typeface="Arial"/>
                <a:cs typeface="Arial"/>
              </a:defRPr>
            </a:pPr>
            <a:r>
              <a:rPr sz="4125" b="1">
                <a:solidFill>
                  <a:srgbClr val="17658A"/>
                </a:solidFill>
                <a:latin typeface="Arial"/>
                <a:ea typeface="Arial"/>
                <a:cs typeface="Arial"/>
              </a:rPr>
              <a:t>P = 50 − 0,5Q</a:t>
            </a:r>
          </a:p>
        </p:txBody>
      </p:sp>
      <p:sp>
        <p:nvSpPr>
          <p:cNvPr id="7" name="P is de prijs in euro per kaartje.&#10;Q is het aantal gevraagde">
            <a:extLst xmlns:a="http://schemas.openxmlformats.org/drawingml/2006/main">
              <a:ext uri="{FF2B5EF4-FFF2-40B4-BE49-F238E27FC236}">
                <a16:creationId xmlns:a16="http://schemas.microsoft.com/office/drawing/2014/main" id="{3EC71131-2FF4-4219-A980-D35C1A9E94ED}"/>
              </a:ext>
            </a:extLst>
          </p:cNvPr>
          <p:cNvSpPr>
            <a:spLocks xmlns:a="http://schemas.openxmlformats.org/drawingml/2006/main" noGrp="1"/>
          </p:cNvSpPr>
          <p:nvPr/>
        </p:nvSpPr>
        <p:spPr>
          <a:xfrm xmlns:a="http://schemas.openxmlformats.org/drawingml/2006/main">
            <a:off x="571500" y="3790950"/>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 is de prijs in euro per kaartje.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 is het aantal gevraagde kaartjes.</a:t>
            </a:r>
          </a:p>
        </p:txBody>
      </p:sp>
      <p:sp>
        <p:nvSpPr>
          <p:cNvPr id="8" name="De gegeven marktprijs is € 20.">
            <a:extLst xmlns:a="http://schemas.openxmlformats.org/drawingml/2006/main">
              <a:ext uri="{FF2B5EF4-FFF2-40B4-BE49-F238E27FC236}">
                <a16:creationId xmlns:a16="http://schemas.microsoft.com/office/drawing/2014/main" id="{E150F1A0-60AE-4855-8BEF-B62300EC6FC6}"/>
              </a:ext>
            </a:extLst>
          </p:cNvPr>
          <p:cNvSpPr>
            <a:spLocks xmlns:a="http://schemas.openxmlformats.org/drawingml/2006/main" noGrp="1"/>
          </p:cNvSpPr>
          <p:nvPr/>
        </p:nvSpPr>
        <p:spPr>
          <a:xfrm xmlns:a="http://schemas.openxmlformats.org/drawingml/2006/main">
            <a:off x="571500" y="52387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De gegeven marktprijs is € 20.</a:t>
            </a:r>
          </a:p>
        </p:txBody>
      </p:sp>
      <p:sp>
        <p:nvSpPr>
          <p:cNvPr id="9" name="Er zijn voldoende kaartjes beschikbaar. Alle bij deze prijs ">
            <a:extLst xmlns:a="http://schemas.openxmlformats.org/drawingml/2006/main">
              <a:ext uri="{FF2B5EF4-FFF2-40B4-BE49-F238E27FC236}">
                <a16:creationId xmlns:a16="http://schemas.microsoft.com/office/drawing/2014/main" id="{BC4D5F56-30C7-4ADF-9E46-A2B7AE6C226E}"/>
              </a:ext>
            </a:extLst>
          </p:cNvPr>
          <p:cNvSpPr>
            <a:spLocks xmlns:a="http://schemas.openxmlformats.org/drawingml/2006/main" noGrp="1"/>
          </p:cNvSpPr>
          <p:nvPr/>
        </p:nvSpPr>
        <p:spPr>
          <a:xfrm xmlns:a="http://schemas.openxmlformats.org/drawingml/2006/main">
            <a:off x="571500" y="613410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Er zijn voldoende kaartjes beschikbaar. Alle bij deze prijs gevraagde kaartjes worden verkocht aan de vragers met de hoogste betalingsbereidheid.</a:t>
            </a:r>
          </a:p>
        </p:txBody>
      </p:sp>
      <p:sp>
        <p:nvSpPr>
          <p:cNvPr id="10" name="Er is in deze opgave geen aanbodfunctie.">
            <a:extLst xmlns:a="http://schemas.openxmlformats.org/drawingml/2006/main">
              <a:ext uri="{FF2B5EF4-FFF2-40B4-BE49-F238E27FC236}">
                <a16:creationId xmlns:a16="http://schemas.microsoft.com/office/drawing/2014/main" id="{F5CE2CC3-B693-4820-BFC7-71A20AB9CE70}"/>
              </a:ext>
            </a:extLst>
          </p:cNvPr>
          <p:cNvSpPr>
            <a:spLocks xmlns:a="http://schemas.openxmlformats.org/drawingml/2006/main" noGrp="1"/>
          </p:cNvSpPr>
          <p:nvPr/>
        </p:nvSpPr>
        <p:spPr>
          <a:xfrm xmlns:a="http://schemas.openxmlformats.org/drawingml/2006/main">
            <a:off x="571500" y="750570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Er is in deze opgave geen aanbodfunctie.</a:t>
            </a:r>
          </a:p>
        </p:txBody>
      </p:sp>
    </p:spTree>
    <p:extLst>
      <p:ext uri="{BB962C8B-B14F-4D97-AF65-F5344CB8AC3E}">
        <p14:creationId xmlns:p14="http://schemas.microsoft.com/office/powerpoint/2010/main" val="2800096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 · Deelvragen a en b">
            <a:extLst xmlns:a="http://schemas.openxmlformats.org/drawingml/2006/main">
              <a:ext uri="{FF2B5EF4-FFF2-40B4-BE49-F238E27FC236}">
                <a16:creationId xmlns:a16="http://schemas.microsoft.com/office/drawing/2014/main" id="{297BFDB9-F5AC-40B3-9452-D50838901A5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Deelvragen a en b</a:t>
            </a:r>
          </a:p>
        </p:txBody>
      </p:sp>
      <p:sp>
        <p:nvSpPr>
          <p:cNvPr id="2" name="">
            <a:extLst xmlns:a="http://schemas.openxmlformats.org/drawingml/2006/main">
              <a:ext uri="{FF2B5EF4-FFF2-40B4-BE49-F238E27FC236}">
                <a16:creationId xmlns:a16="http://schemas.microsoft.com/office/drawing/2014/main" id="{D85DA1A7-0A8E-4103-92CD-1B273F6BFB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7B27A079-D1E5-41FE-AB07-F40D07BE4D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17">
            <a:extLst xmlns:a="http://schemas.openxmlformats.org/drawingml/2006/main">
              <a:ext uri="{FF2B5EF4-FFF2-40B4-BE49-F238E27FC236}">
                <a16:creationId xmlns:a16="http://schemas.microsoft.com/office/drawing/2014/main" id="{E06499AC-A397-41E0-A245-B6ABA270A8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Bereken de gevraagde hoeveelheid bij P = € 20.&#10;Noem dit n">
            <a:extLst xmlns:a="http://schemas.openxmlformats.org/drawingml/2006/main">
              <a:ext uri="{FF2B5EF4-FFF2-40B4-BE49-F238E27FC236}">
                <a16:creationId xmlns:a16="http://schemas.microsoft.com/office/drawing/2014/main" id="{D6A43C1F-5AFB-4362-A558-6FEEDEBE2FBC}"/>
              </a:ext>
            </a:extLst>
          </p:cNvPr>
          <p:cNvSpPr>
            <a:spLocks xmlns:a="http://schemas.openxmlformats.org/drawingml/2006/main" noGrp="1"/>
          </p:cNvSpPr>
          <p:nvPr/>
        </p:nvSpPr>
        <p:spPr>
          <a:xfrm xmlns:a="http://schemas.openxmlformats.org/drawingml/2006/main">
            <a:off x="571500" y="1838325"/>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 Bereken de gevraagde hoeveelheid bij P = € 20.</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Noem dit niet de evenwichtshoeveelheid.</a:t>
            </a:r>
          </a:p>
        </p:txBody>
      </p:sp>
      <p:sp>
        <p:nvSpPr>
          <p:cNvPr id="6" name="">
            <a:extLst xmlns:a="http://schemas.openxmlformats.org/drawingml/2006/main">
              <a:ext uri="{FF2B5EF4-FFF2-40B4-BE49-F238E27FC236}">
                <a16:creationId xmlns:a16="http://schemas.microsoft.com/office/drawing/2014/main" id="{DFF30B57-BFF3-4FD5-8675-6DD7CD1B153A}"/>
              </a:ext>
            </a:extLst>
          </p:cNvPr>
          <p:cNvSpPr>
            <a:spLocks xmlns:a="http://schemas.openxmlformats.org/drawingml/2006/main" noGrp="1"/>
          </p:cNvSpPr>
          <p:nvPr/>
        </p:nvSpPr>
        <p:spPr>
          <a:xfrm xmlns:a="http://schemas.openxmlformats.org/drawingml/2006/main">
            <a:off x="571500" y="3771900"/>
            <a:ext cx="14097000" cy="0"/>
          </a:xfrm>
          <a:prstGeom xmlns:a="http://schemas.openxmlformats.org/drawingml/2006/main" prst="line">
            <a:avLst/>
          </a:prstGeom>
          <a:ln xmlns:a="http://schemas.openxmlformats.org/drawingml/2006/main" w="19050">
            <a:solidFill>
              <a:srgbClr val="C6D2DB"/>
            </a:solidFill>
          </a:ln>
        </p:spPr>
      </p:sp>
      <p:sp>
        <p:nvSpPr>
          <p:cNvPr id="7" name="b) Teken de vraaglijn en de horizontale prijslijn in één ass">
            <a:extLst xmlns:a="http://schemas.openxmlformats.org/drawingml/2006/main">
              <a:ext uri="{FF2B5EF4-FFF2-40B4-BE49-F238E27FC236}">
                <a16:creationId xmlns:a16="http://schemas.microsoft.com/office/drawing/2014/main" id="{4D36C430-C1F2-4FCE-9916-BDCD243E8947}"/>
              </a:ext>
            </a:extLst>
          </p:cNvPr>
          <p:cNvSpPr>
            <a:spLocks xmlns:a="http://schemas.openxmlformats.org/drawingml/2006/main" noGrp="1"/>
          </p:cNvSpPr>
          <p:nvPr/>
        </p:nvSpPr>
        <p:spPr>
          <a:xfrm xmlns:a="http://schemas.openxmlformats.org/drawingml/2006/main">
            <a:off x="571500" y="424815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Teken de vraaglijn en de horizontale prijslijn in één assenstelsel.</a:t>
            </a:r>
          </a:p>
        </p:txBody>
      </p:sp>
      <p:sp>
        <p:nvSpPr>
          <p:cNvPr id="8" name="Benoem de horizontale as als Q (kaartjes) en de verticale as">
            <a:extLst xmlns:a="http://schemas.openxmlformats.org/drawingml/2006/main">
              <a:ext uri="{FF2B5EF4-FFF2-40B4-BE49-F238E27FC236}">
                <a16:creationId xmlns:a16="http://schemas.microsoft.com/office/drawing/2014/main" id="{DC3BF09E-01F9-4E4D-AF06-96B6551518BE}"/>
              </a:ext>
            </a:extLst>
          </p:cNvPr>
          <p:cNvSpPr>
            <a:spLocks xmlns:a="http://schemas.openxmlformats.org/drawingml/2006/main" noGrp="1"/>
          </p:cNvSpPr>
          <p:nvPr/>
        </p:nvSpPr>
        <p:spPr>
          <a:xfrm xmlns:a="http://schemas.openxmlformats.org/drawingml/2006/main">
            <a:off x="571500" y="5695950"/>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Benoem de horizontale as als Q (kaartjes) en de verticale as als P (€ per kaartje).</a:t>
            </a:r>
          </a:p>
        </p:txBody>
      </p:sp>
      <p:sp>
        <p:nvSpPr>
          <p:cNvPr id="9" name="Noteer de snijpunten van de vraaglijn en het snijpunt met de">
            <a:extLst xmlns:a="http://schemas.openxmlformats.org/drawingml/2006/main">
              <a:ext uri="{FF2B5EF4-FFF2-40B4-BE49-F238E27FC236}">
                <a16:creationId xmlns:a16="http://schemas.microsoft.com/office/drawing/2014/main" id="{0C4A727F-FE2A-4F0C-9280-8C04E5C8F1BC}"/>
              </a:ext>
            </a:extLst>
          </p:cNvPr>
          <p:cNvSpPr>
            <a:spLocks xmlns:a="http://schemas.openxmlformats.org/drawingml/2006/main" noGrp="1"/>
          </p:cNvSpPr>
          <p:nvPr/>
        </p:nvSpPr>
        <p:spPr>
          <a:xfrm xmlns:a="http://schemas.openxmlformats.org/drawingml/2006/main">
            <a:off x="571500" y="71437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Noteer de snijpunten van de vraaglijn en het snijpunt met de prijslijn.</a:t>
            </a:r>
          </a:p>
        </p:txBody>
      </p:sp>
    </p:spTree>
    <p:extLst>
      <p:ext uri="{BB962C8B-B14F-4D97-AF65-F5344CB8AC3E}">
        <p14:creationId xmlns:p14="http://schemas.microsoft.com/office/powerpoint/2010/main" val="16898074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 · Deelvragen c, d en e">
            <a:extLst xmlns:a="http://schemas.openxmlformats.org/drawingml/2006/main">
              <a:ext uri="{FF2B5EF4-FFF2-40B4-BE49-F238E27FC236}">
                <a16:creationId xmlns:a16="http://schemas.microsoft.com/office/drawing/2014/main" id="{05891264-10C9-4D38-91C2-A1B964FD357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Deelvragen c, d en e</a:t>
            </a:r>
          </a:p>
        </p:txBody>
      </p:sp>
      <p:sp>
        <p:nvSpPr>
          <p:cNvPr id="2" name="">
            <a:extLst xmlns:a="http://schemas.openxmlformats.org/drawingml/2006/main">
              <a:ext uri="{FF2B5EF4-FFF2-40B4-BE49-F238E27FC236}">
                <a16:creationId xmlns:a16="http://schemas.microsoft.com/office/drawing/2014/main" id="{84866138-EE0C-4761-A50D-4FFA8B94C5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C1DD148A-561C-475E-805D-F6D484CC42D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18">
            <a:extLst xmlns:a="http://schemas.openxmlformats.org/drawingml/2006/main">
              <a:ext uri="{FF2B5EF4-FFF2-40B4-BE49-F238E27FC236}">
                <a16:creationId xmlns:a16="http://schemas.microsoft.com/office/drawing/2014/main" id="{AABED581-F9B7-4209-A8FF-C79575603A5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c) Arceer en benoem in je grafiek het consumentensurplus.">
            <a:extLst xmlns:a="http://schemas.openxmlformats.org/drawingml/2006/main">
              <a:ext uri="{FF2B5EF4-FFF2-40B4-BE49-F238E27FC236}">
                <a16:creationId xmlns:a16="http://schemas.microsoft.com/office/drawing/2014/main" id="{A4881D6A-FB74-48A8-BD51-055B7D3CC1AD}"/>
              </a:ext>
            </a:extLst>
          </p:cNvPr>
          <p:cNvSpPr>
            <a:spLocks xmlns:a="http://schemas.openxmlformats.org/drawingml/2006/main" noGrp="1"/>
          </p:cNvSpPr>
          <p:nvPr/>
        </p:nvSpPr>
        <p:spPr>
          <a:xfrm xmlns:a="http://schemas.openxmlformats.org/drawingml/2006/main">
            <a:off x="571500" y="19335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 Arceer en benoem in je grafiek het consumentensurplus.</a:t>
            </a:r>
          </a:p>
        </p:txBody>
      </p:sp>
      <p:sp>
        <p:nvSpPr>
          <p:cNvPr id="6" name="">
            <a:extLst xmlns:a="http://schemas.openxmlformats.org/drawingml/2006/main">
              <a:ext uri="{FF2B5EF4-FFF2-40B4-BE49-F238E27FC236}">
                <a16:creationId xmlns:a16="http://schemas.microsoft.com/office/drawing/2014/main" id="{85A12C99-A202-4B3D-AA4F-BE529C6C9DE9}"/>
              </a:ext>
            </a:extLst>
          </p:cNvPr>
          <p:cNvSpPr>
            <a:spLocks xmlns:a="http://schemas.openxmlformats.org/drawingml/2006/main" noGrp="1"/>
          </p:cNvSpPr>
          <p:nvPr/>
        </p:nvSpPr>
        <p:spPr>
          <a:xfrm xmlns:a="http://schemas.openxmlformats.org/drawingml/2006/main">
            <a:off x="571500" y="3495675"/>
            <a:ext cx="14097000" cy="0"/>
          </a:xfrm>
          <a:prstGeom xmlns:a="http://schemas.openxmlformats.org/drawingml/2006/main" prst="line">
            <a:avLst/>
          </a:prstGeom>
          <a:ln xmlns:a="http://schemas.openxmlformats.org/drawingml/2006/main" w="19050">
            <a:solidFill>
              <a:srgbClr val="C6D2DB"/>
            </a:solidFill>
          </a:ln>
        </p:spPr>
      </p:sp>
      <p:sp>
        <p:nvSpPr>
          <p:cNvPr id="7" name="d) Bereken het consumentensurplus als oppervlakte van een dr">
            <a:extLst xmlns:a="http://schemas.openxmlformats.org/drawingml/2006/main">
              <a:ext uri="{FF2B5EF4-FFF2-40B4-BE49-F238E27FC236}">
                <a16:creationId xmlns:a16="http://schemas.microsoft.com/office/drawing/2014/main" id="{BFA592CC-928A-470D-8F70-3B1AF960CE9F}"/>
              </a:ext>
            </a:extLst>
          </p:cNvPr>
          <p:cNvSpPr>
            <a:spLocks xmlns:a="http://schemas.openxmlformats.org/drawingml/2006/main" noGrp="1"/>
          </p:cNvSpPr>
          <p:nvPr/>
        </p:nvSpPr>
        <p:spPr>
          <a:xfrm xmlns:a="http://schemas.openxmlformats.org/drawingml/2006/main">
            <a:off x="571500" y="390525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Bereken het consumentensurplus als oppervlakte van een driehoek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en noteer de eenheid.</a:t>
            </a:r>
          </a:p>
        </p:txBody>
      </p:sp>
      <p:sp>
        <p:nvSpPr>
          <p:cNvPr id="8" name="">
            <a:extLst xmlns:a="http://schemas.openxmlformats.org/drawingml/2006/main">
              <a:ext uri="{FF2B5EF4-FFF2-40B4-BE49-F238E27FC236}">
                <a16:creationId xmlns:a16="http://schemas.microsoft.com/office/drawing/2014/main" id="{F9A6A02F-C673-45E5-B654-6F53B473CE1E}"/>
              </a:ext>
            </a:extLst>
          </p:cNvPr>
          <p:cNvSpPr>
            <a:spLocks xmlns:a="http://schemas.openxmlformats.org/drawingml/2006/main" noGrp="1"/>
          </p:cNvSpPr>
          <p:nvPr/>
        </p:nvSpPr>
        <p:spPr>
          <a:xfrm xmlns:a="http://schemas.openxmlformats.org/drawingml/2006/main">
            <a:off x="571500" y="5553075"/>
            <a:ext cx="14097000" cy="0"/>
          </a:xfrm>
          <a:prstGeom xmlns:a="http://schemas.openxmlformats.org/drawingml/2006/main" prst="line">
            <a:avLst/>
          </a:prstGeom>
          <a:ln xmlns:a="http://schemas.openxmlformats.org/drawingml/2006/main" w="19050">
            <a:solidFill>
              <a:srgbClr val="C6D2DB"/>
            </a:solidFill>
          </a:ln>
        </p:spPr>
      </p:sp>
      <p:sp>
        <p:nvSpPr>
          <p:cNvPr id="9" name="e) Leg uit wat het berekende consumentensurplus voor de kope">
            <a:extLst xmlns:a="http://schemas.openxmlformats.org/drawingml/2006/main">
              <a:ext uri="{FF2B5EF4-FFF2-40B4-BE49-F238E27FC236}">
                <a16:creationId xmlns:a16="http://schemas.microsoft.com/office/drawing/2014/main" id="{33C728A5-87A3-47D5-AA22-AF3CC1CD5C12}"/>
              </a:ext>
            </a:extLst>
          </p:cNvPr>
          <p:cNvSpPr>
            <a:spLocks xmlns:a="http://schemas.openxmlformats.org/drawingml/2006/main" noGrp="1"/>
          </p:cNvSpPr>
          <p:nvPr/>
        </p:nvSpPr>
        <p:spPr>
          <a:xfrm xmlns:a="http://schemas.openxmlformats.org/drawingml/2006/main">
            <a:off x="571500" y="6057900"/>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Leg uit wat het berekende consumentensurplus voor de kopers als groep betekent.</a:t>
            </a:r>
          </a:p>
        </p:txBody>
      </p:sp>
    </p:spTree>
    <p:extLst>
      <p:ext uri="{BB962C8B-B14F-4D97-AF65-F5344CB8AC3E}">
        <p14:creationId xmlns:p14="http://schemas.microsoft.com/office/powerpoint/2010/main" val="14267295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8a · De gevraagde hoeveelheid">
            <a:extLst xmlns:a="http://schemas.openxmlformats.org/drawingml/2006/main">
              <a:ext uri="{FF2B5EF4-FFF2-40B4-BE49-F238E27FC236}">
                <a16:creationId xmlns:a16="http://schemas.microsoft.com/office/drawing/2014/main" id="{F6259ACB-0148-47D5-BE3F-084773FA011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8a · De gevraagde hoeveelheid</a:t>
            </a:r>
          </a:p>
        </p:txBody>
      </p:sp>
      <p:sp>
        <p:nvSpPr>
          <p:cNvPr id="2" name="">
            <a:extLst xmlns:a="http://schemas.openxmlformats.org/drawingml/2006/main">
              <a:ext uri="{FF2B5EF4-FFF2-40B4-BE49-F238E27FC236}">
                <a16:creationId xmlns:a16="http://schemas.microsoft.com/office/drawing/2014/main" id="{394BB4FF-D5CE-46D5-B91A-2B6A5CF4AA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7714C602-9F28-4D78-9B9D-7310765AA2F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19">
            <a:extLst xmlns:a="http://schemas.openxmlformats.org/drawingml/2006/main">
              <a:ext uri="{FF2B5EF4-FFF2-40B4-BE49-F238E27FC236}">
                <a16:creationId xmlns:a16="http://schemas.microsoft.com/office/drawing/2014/main" id="{BFEAC39F-B428-440F-8EFF-D0CE791FF29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 = 50 − 0,5Q en P = € 20">
            <a:extLst xmlns:a="http://schemas.openxmlformats.org/drawingml/2006/main">
              <a:ext uri="{FF2B5EF4-FFF2-40B4-BE49-F238E27FC236}">
                <a16:creationId xmlns:a16="http://schemas.microsoft.com/office/drawing/2014/main" id="{E4AD1C6D-0E59-4145-B327-E0153A213F2C}"/>
              </a:ext>
            </a:extLst>
          </p:cNvPr>
          <p:cNvSpPr>
            <a:spLocks xmlns:a="http://schemas.openxmlformats.org/drawingml/2006/main" noGrp="1"/>
          </p:cNvSpPr>
          <p:nvPr/>
        </p:nvSpPr>
        <p:spPr>
          <a:xfrm xmlns:a="http://schemas.openxmlformats.org/drawingml/2006/main">
            <a:off x="571500" y="17811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 = 50 − 0,5Q en P = € 20</a:t>
            </a:r>
          </a:p>
        </p:txBody>
      </p:sp>
      <p:sp>
        <p:nvSpPr>
          <p:cNvPr id="6" name="Invullen">
            <a:extLst xmlns:a="http://schemas.openxmlformats.org/drawingml/2006/main">
              <a:ext uri="{FF2B5EF4-FFF2-40B4-BE49-F238E27FC236}">
                <a16:creationId xmlns:a16="http://schemas.microsoft.com/office/drawing/2014/main" id="{36A9D65F-893A-40D4-9645-6325237A7A9F}"/>
              </a:ext>
            </a:extLst>
          </p:cNvPr>
          <p:cNvSpPr>
            <a:spLocks xmlns:a="http://schemas.openxmlformats.org/drawingml/2006/main" noGrp="1"/>
          </p:cNvSpPr>
          <p:nvPr/>
        </p:nvSpPr>
        <p:spPr>
          <a:xfrm xmlns:a="http://schemas.openxmlformats.org/drawingml/2006/main">
            <a:off x="571500" y="28575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Invullen</a:t>
            </a:r>
          </a:p>
        </p:txBody>
      </p:sp>
      <p:sp>
        <p:nvSpPr>
          <p:cNvPr id="7" name="20 = 50 − 0,5Q">
            <a:extLst xmlns:a="http://schemas.openxmlformats.org/drawingml/2006/main">
              <a:ext uri="{FF2B5EF4-FFF2-40B4-BE49-F238E27FC236}">
                <a16:creationId xmlns:a16="http://schemas.microsoft.com/office/drawing/2014/main" id="{BE41E896-502B-4105-ACD0-674884400A2A}"/>
              </a:ext>
            </a:extLst>
          </p:cNvPr>
          <p:cNvSpPr>
            <a:spLocks xmlns:a="http://schemas.openxmlformats.org/drawingml/2006/main" noGrp="1"/>
          </p:cNvSpPr>
          <p:nvPr/>
        </p:nvSpPr>
        <p:spPr>
          <a:xfrm xmlns:a="http://schemas.openxmlformats.org/drawingml/2006/main">
            <a:off x="5238750" y="28575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20 = 50 − 0,5Q</a:t>
            </a:r>
          </a:p>
        </p:txBody>
      </p:sp>
      <p:sp>
        <p:nvSpPr>
          <p:cNvPr id="8" name="Herschrijven">
            <a:extLst xmlns:a="http://schemas.openxmlformats.org/drawingml/2006/main">
              <a:ext uri="{FF2B5EF4-FFF2-40B4-BE49-F238E27FC236}">
                <a16:creationId xmlns:a16="http://schemas.microsoft.com/office/drawing/2014/main" id="{C0B837F3-BFB6-4642-A90B-5402F633FA65}"/>
              </a:ext>
            </a:extLst>
          </p:cNvPr>
          <p:cNvSpPr>
            <a:spLocks xmlns:a="http://schemas.openxmlformats.org/drawingml/2006/main" noGrp="1"/>
          </p:cNvSpPr>
          <p:nvPr/>
        </p:nvSpPr>
        <p:spPr>
          <a:xfrm xmlns:a="http://schemas.openxmlformats.org/drawingml/2006/main">
            <a:off x="571500" y="40576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Herschrijven</a:t>
            </a:r>
          </a:p>
        </p:txBody>
      </p:sp>
      <p:sp>
        <p:nvSpPr>
          <p:cNvPr id="9" name="0,5Q = 50 − 20 = 30">
            <a:extLst xmlns:a="http://schemas.openxmlformats.org/drawingml/2006/main">
              <a:ext uri="{FF2B5EF4-FFF2-40B4-BE49-F238E27FC236}">
                <a16:creationId xmlns:a16="http://schemas.microsoft.com/office/drawing/2014/main" id="{82F51146-3FEB-4FAD-B745-1ACA9ACEE234}"/>
              </a:ext>
            </a:extLst>
          </p:cNvPr>
          <p:cNvSpPr>
            <a:spLocks xmlns:a="http://schemas.openxmlformats.org/drawingml/2006/main" noGrp="1"/>
          </p:cNvSpPr>
          <p:nvPr/>
        </p:nvSpPr>
        <p:spPr>
          <a:xfrm xmlns:a="http://schemas.openxmlformats.org/drawingml/2006/main">
            <a:off x="5238750" y="40576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0,5Q = 50 − 20 = 30</a:t>
            </a:r>
          </a:p>
        </p:txBody>
      </p:sp>
      <p:sp>
        <p:nvSpPr>
          <p:cNvPr id="10" name="Delen">
            <a:extLst xmlns:a="http://schemas.openxmlformats.org/drawingml/2006/main">
              <a:ext uri="{FF2B5EF4-FFF2-40B4-BE49-F238E27FC236}">
                <a16:creationId xmlns:a16="http://schemas.microsoft.com/office/drawing/2014/main" id="{F4BC1C07-0B6C-408C-AFF4-84FF10B6C170}"/>
              </a:ext>
            </a:extLst>
          </p:cNvPr>
          <p:cNvSpPr>
            <a:spLocks xmlns:a="http://schemas.openxmlformats.org/drawingml/2006/main" noGrp="1"/>
          </p:cNvSpPr>
          <p:nvPr/>
        </p:nvSpPr>
        <p:spPr>
          <a:xfrm xmlns:a="http://schemas.openxmlformats.org/drawingml/2006/main">
            <a:off x="571500" y="52578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Delen</a:t>
            </a:r>
          </a:p>
        </p:txBody>
      </p:sp>
      <p:sp>
        <p:nvSpPr>
          <p:cNvPr id="11" name="Q = 30 / 0,5 = 60 kaartjes">
            <a:extLst xmlns:a="http://schemas.openxmlformats.org/drawingml/2006/main">
              <a:ext uri="{FF2B5EF4-FFF2-40B4-BE49-F238E27FC236}">
                <a16:creationId xmlns:a16="http://schemas.microsoft.com/office/drawing/2014/main" id="{2748797E-8508-41F9-85C9-6DEB71720DB1}"/>
              </a:ext>
            </a:extLst>
          </p:cNvPr>
          <p:cNvSpPr>
            <a:spLocks xmlns:a="http://schemas.openxmlformats.org/drawingml/2006/main" noGrp="1"/>
          </p:cNvSpPr>
          <p:nvPr/>
        </p:nvSpPr>
        <p:spPr>
          <a:xfrm xmlns:a="http://schemas.openxmlformats.org/drawingml/2006/main">
            <a:off x="5238750" y="52578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 = 30 / 0,5 = 60 kaartjes</a:t>
            </a:r>
          </a:p>
        </p:txBody>
      </p:sp>
      <p:sp>
        <p:nvSpPr>
          <p:cNvPr id="12" name="Controle: 50 − 0,5 × 60 = € 20 per kaartje">
            <a:extLst xmlns:a="http://schemas.openxmlformats.org/drawingml/2006/main">
              <a:ext uri="{FF2B5EF4-FFF2-40B4-BE49-F238E27FC236}">
                <a16:creationId xmlns:a16="http://schemas.microsoft.com/office/drawing/2014/main" id="{6DF2C14F-9799-4E3D-9BAA-666CE568B0FB}"/>
              </a:ext>
            </a:extLst>
          </p:cNvPr>
          <p:cNvSpPr>
            <a:spLocks xmlns:a="http://schemas.openxmlformats.org/drawingml/2006/main" noGrp="1"/>
          </p:cNvSpPr>
          <p:nvPr/>
        </p:nvSpPr>
        <p:spPr>
          <a:xfrm xmlns:a="http://schemas.openxmlformats.org/drawingml/2006/main">
            <a:off x="571500" y="67437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Controle: 50 − 0,5 × 60 = € 20 per kaartje</a:t>
            </a:r>
          </a:p>
        </p:txBody>
      </p:sp>
      <p:sp>
        <p:nvSpPr>
          <p:cNvPr id="13" name="Gevraagd én verkocht. Zonder aanbodfunctie geen berekend eve">
            <a:extLst xmlns:a="http://schemas.openxmlformats.org/drawingml/2006/main">
              <a:ext uri="{FF2B5EF4-FFF2-40B4-BE49-F238E27FC236}">
                <a16:creationId xmlns:a16="http://schemas.microsoft.com/office/drawing/2014/main" id="{3B51E56D-FD52-44A4-9676-23A8F59BD527}"/>
              </a:ext>
            </a:extLst>
          </p:cNvPr>
          <p:cNvSpPr>
            <a:spLocks xmlns:a="http://schemas.openxmlformats.org/drawingml/2006/main" noGrp="1"/>
          </p:cNvSpPr>
          <p:nvPr/>
        </p:nvSpPr>
        <p:spPr>
          <a:xfrm xmlns:a="http://schemas.openxmlformats.org/drawingml/2006/main">
            <a:off x="571500" y="75247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Gevraagd én verkocht. Zonder aanbodfunctie geen berekend evenwicht.</a:t>
            </a:r>
          </a:p>
        </p:txBody>
      </p:sp>
    </p:spTree>
    <p:extLst>
      <p:ext uri="{BB962C8B-B14F-4D97-AF65-F5344CB8AC3E}">
        <p14:creationId xmlns:p14="http://schemas.microsoft.com/office/powerpoint/2010/main" val="1144577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b · De punten berekenen">
            <a:extLst xmlns:a="http://schemas.openxmlformats.org/drawingml/2006/main">
              <a:ext uri="{FF2B5EF4-FFF2-40B4-BE49-F238E27FC236}">
                <a16:creationId xmlns:a16="http://schemas.microsoft.com/office/drawing/2014/main" id="{CF36C5CB-13B6-4FC0-ACDC-1349A9ECBA7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De punten berekenen</a:t>
            </a:r>
          </a:p>
        </p:txBody>
      </p:sp>
      <p:sp>
        <p:nvSpPr>
          <p:cNvPr id="2" name="">
            <a:extLst xmlns:a="http://schemas.openxmlformats.org/drawingml/2006/main">
              <a:ext uri="{FF2B5EF4-FFF2-40B4-BE49-F238E27FC236}">
                <a16:creationId xmlns:a16="http://schemas.microsoft.com/office/drawing/2014/main" id="{F46B422B-4F90-4373-B21C-1EE68501E4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17DB958F-EC74-4384-B463-D35C72E96B4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20">
            <a:extLst xmlns:a="http://schemas.openxmlformats.org/drawingml/2006/main">
              <a:ext uri="{FF2B5EF4-FFF2-40B4-BE49-F238E27FC236}">
                <a16:creationId xmlns:a16="http://schemas.microsoft.com/office/drawing/2014/main" id="{A1DB528C-16C1-4E35-84EB-059289C4582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Vraaglijn: P = 50 − 0,5Q">
            <a:extLst xmlns:a="http://schemas.openxmlformats.org/drawingml/2006/main">
              <a:ext uri="{FF2B5EF4-FFF2-40B4-BE49-F238E27FC236}">
                <a16:creationId xmlns:a16="http://schemas.microsoft.com/office/drawing/2014/main" id="{953117B0-ED41-4172-91E5-0329B9450BA8}"/>
              </a:ext>
            </a:extLst>
          </p:cNvPr>
          <p:cNvSpPr>
            <a:spLocks xmlns:a="http://schemas.openxmlformats.org/drawingml/2006/main" noGrp="1"/>
          </p:cNvSpPr>
          <p:nvPr/>
        </p:nvSpPr>
        <p:spPr>
          <a:xfrm xmlns:a="http://schemas.openxmlformats.org/drawingml/2006/main">
            <a:off x="571500" y="17811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Vraaglijn: P = 50 − 0,5Q</a:t>
            </a:r>
          </a:p>
        </p:txBody>
      </p:sp>
      <p:graphicFrame>
        <p:nvGraphicFramePr>
          <p:cNvPr id="13" name=""/>
          <p:cNvGraphicFramePr/>
          <p:nvPr/>
        </p:nvGraphicFramePr>
        <p:xfrm>
          <a:off xmlns:a="http://schemas.openxmlformats.org/drawingml/2006/main" x="571500" y="2857500"/>
          <a:ext xmlns:a="http://schemas.openxmlformats.org/drawingml/2006/main" cx="14097000" cy="3638550"/>
        </p:xfrm>
        <a:graphic xmlns:a="http://schemas.openxmlformats.org/drawingml/2006/main">
          <a:graphicData uri="http://schemas.openxmlformats.org/drawingml/2006/table">
            <a:tbl>
              <a:tblPr/>
              <a:tblGrid>
                <a:gridCol w="2809875"/>
                <a:gridCol w="7667625"/>
                <a:gridCol w="3619500"/>
              </a:tblGrid>
              <a:tr h="909638">
                <a:tc>
                  <a:txBody>
                    <a:bodyPr lIns="171450" tIns="95250" rIns="152400" bIns="95250"/>
                    <a:lstStyle/>
                    <a:p>
                      <a:r>
                        <a:rPr sz="2550" b="1">
                          <a:solidFill>
                            <a:srgbClr val="FFFFFF"/>
                          </a:solidFill>
                          <a:latin typeface="Arial"/>
                          <a:ea typeface="Arial"/>
                          <a:cs typeface="Arial"/>
                        </a:rPr>
                        <a:t>Kies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Punt (Q; P)</a:t>
                      </a:r>
                    </a:p>
                  </a:txBody>
                  <a:tcPr marL="91440" marR="91440" marT="45720" marB="45720" anchor="ctr">
                    <a:solidFill>
                      <a:srgbClr val="183247"/>
                    </a:solidFill>
                  </a:tcPr>
                </a:tc>
              </a:tr>
              <a:tr h="909638">
                <a:tc>
                  <a:txBody>
                    <a:bodyPr lIns="171450" tIns="95250" rIns="152400" bIns="95250"/>
                    <a:lstStyle/>
                    <a:p>
                      <a:r>
                        <a:rPr sz="2550" b="0">
                          <a:solidFill>
                            <a:srgbClr val="183247"/>
                          </a:solidFill>
                          <a:latin typeface="Arial"/>
                          <a:ea typeface="Arial"/>
                          <a:cs typeface="Arial"/>
                        </a:rPr>
                        <a:t>Q =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50 − 0,5 × 0 = 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 50)</a:t>
                      </a:r>
                    </a:p>
                  </a:txBody>
                  <a:tcPr marL="91440" marR="91440" marT="45720" marB="45720" anchor="ctr">
                    <a:solidFill>
                      <a:srgbClr val="FFFFFF"/>
                    </a:solidFill>
                  </a:tcPr>
                </a:tc>
              </a:tr>
              <a:tr h="909638">
                <a:tc>
                  <a:txBody>
                    <a:bodyPr lIns="171450" tIns="95250" rIns="152400" bIns="95250"/>
                    <a:lstStyle/>
                    <a:p>
                      <a:r>
                        <a:rPr sz="2550" b="0">
                          <a:solidFill>
                            <a:srgbClr val="183247"/>
                          </a:solidFill>
                          <a:latin typeface="Arial"/>
                          <a:ea typeface="Arial"/>
                          <a:cs typeface="Arial"/>
                        </a:rPr>
                        <a:t>P = 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0,5Q = 50</a:t>
                      </a:r>
                    </a:p>
                    <a:p>
                      <a:r>
                        <a:rPr sz="2550" b="0">
                          <a:solidFill>
                            <a:srgbClr val="183247"/>
                          </a:solidFill>
                          <a:latin typeface="Arial"/>
                          <a:ea typeface="Arial"/>
                          <a:cs typeface="Arial"/>
                        </a:rPr>
                        <a:t>Q = 50 / 0,5 = 100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(100; 0)</a:t>
                      </a:r>
                    </a:p>
                  </a:txBody>
                  <a:tcPr marL="91440" marR="91440" marT="45720" marB="45720" anchor="ctr">
                    <a:solidFill>
                      <a:srgbClr val="EFF4F7"/>
                    </a:solidFill>
                  </a:tcPr>
                </a:tc>
              </a:tr>
              <a:tr h="909638">
                <a:tc>
                  <a:txBody>
                    <a:bodyPr lIns="171450" tIns="95250" rIns="152400" bIns="95250"/>
                    <a:lstStyle/>
                    <a:p>
                      <a:r>
                        <a:rPr sz="2550" b="0">
                          <a:solidFill>
                            <a:srgbClr val="183247"/>
                          </a:solidFill>
                          <a:latin typeface="Arial"/>
                          <a:ea typeface="Arial"/>
                          <a:cs typeface="Arial"/>
                        </a:rPr>
                        <a:t>P = 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 60 uit deelvraag 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 20)</a:t>
                      </a:r>
                    </a:p>
                  </a:txBody>
                  <a:tcPr marL="91440" marR="91440" marT="45720" marB="45720" anchor="ctr">
                    <a:solidFill>
                      <a:srgbClr val="FFFFFF"/>
                    </a:solidFill>
                  </a:tcPr>
                </a:tc>
              </a:tr>
            </a:tbl>
          </a:graphicData>
        </a:graphic>
      </p:graphicFrame>
      <p:sp>
        <p:nvSpPr>
          <p:cNvPr id="7" name="De eerste twee punten bepalen V.&#10;Het derde punt ligt ook op ">
            <a:extLst xmlns:a="http://schemas.openxmlformats.org/drawingml/2006/main">
              <a:ext uri="{FF2B5EF4-FFF2-40B4-BE49-F238E27FC236}">
                <a16:creationId xmlns:a16="http://schemas.microsoft.com/office/drawing/2014/main" id="{069C0D72-5F38-4A79-8FED-A20FA19E6290}"/>
              </a:ext>
            </a:extLst>
          </p:cNvPr>
          <p:cNvSpPr>
            <a:spLocks xmlns:a="http://schemas.openxmlformats.org/drawingml/2006/main" noGrp="1"/>
          </p:cNvSpPr>
          <p:nvPr/>
        </p:nvSpPr>
        <p:spPr>
          <a:xfrm xmlns:a="http://schemas.openxmlformats.org/drawingml/2006/main">
            <a:off x="571500" y="690562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eerste twee punten bepalen V.</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Het derde punt ligt ook op de horizontale prijslijn.</a:t>
            </a:r>
          </a:p>
        </p:txBody>
      </p:sp>
    </p:spTree>
    <p:extLst>
      <p:ext uri="{BB962C8B-B14F-4D97-AF65-F5344CB8AC3E}">
        <p14:creationId xmlns:p14="http://schemas.microsoft.com/office/powerpoint/2010/main" val="2089554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b · Vraaglijn en prijslijn">
            <a:extLst xmlns:a="http://schemas.openxmlformats.org/drawingml/2006/main">
              <a:ext uri="{FF2B5EF4-FFF2-40B4-BE49-F238E27FC236}">
                <a16:creationId xmlns:a16="http://schemas.microsoft.com/office/drawing/2014/main" id="{1EEF19D6-9F4E-4ACB-AEEC-27B97EDCF10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Vraaglijn en prijslijn</a:t>
            </a:r>
          </a:p>
        </p:txBody>
      </p:sp>
      <p:sp>
        <p:nvSpPr>
          <p:cNvPr id="2" name="">
            <a:extLst xmlns:a="http://schemas.openxmlformats.org/drawingml/2006/main">
              <a:ext uri="{FF2B5EF4-FFF2-40B4-BE49-F238E27FC236}">
                <a16:creationId xmlns:a16="http://schemas.microsoft.com/office/drawing/2014/main" id="{4E8259FC-C348-458E-A054-59B793906DE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86C5AF12-5A70-41C4-8E6C-4CC778C97F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21">
            <a:extLst xmlns:a="http://schemas.openxmlformats.org/drawingml/2006/main">
              <a:ext uri="{FF2B5EF4-FFF2-40B4-BE49-F238E27FC236}">
                <a16:creationId xmlns:a16="http://schemas.microsoft.com/office/drawing/2014/main" id="{67E1F20D-FE18-4B06-A371-EA746253A9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Concertkaartjes: P = 50 − 0,5Q en prijs € 20">
            <a:extLst xmlns:a="http://schemas.openxmlformats.org/drawingml/2006/main">
              <a:ext uri="{FF2B5EF4-FFF2-40B4-BE49-F238E27FC236}">
                <a16:creationId xmlns:a16="http://schemas.microsoft.com/office/drawing/2014/main" id="{459C56F9-C199-4F59-9D5C-CFD685EDCFC0}"/>
              </a:ext>
            </a:extLst>
          </p:cNvPr>
          <p:cNvSpPr>
            <a:spLocks xmlns:a="http://schemas.openxmlformats.org/drawingml/2006/main" noGrp="1"/>
          </p:cNvSpPr>
          <p:nvPr/>
        </p:nvSpPr>
        <p:spPr>
          <a:xfrm xmlns:a="http://schemas.openxmlformats.org/drawingml/2006/main">
            <a:off x="571500" y="1743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Concertkaartjes: P = 50 − 0,5Q en prijs € 20</a:t>
            </a:r>
          </a:p>
        </p:txBody>
      </p:sp>
      <p:graphicFrame>
        <p:nvGraphicFramePr>
          <p:cNvPr id="16" name="Chart"/>
          <p:cNvGraphicFramePr/>
          <p:nvPr/>
        </p:nvGraphicFramePr>
        <p:xfrm>
          <a:off xmlns:a="http://schemas.openxmlformats.org/drawingml/2006/main" x="523875" y="2400300"/>
          <a:ext xmlns:a="http://schemas.openxmlformats.org/drawingml/2006/main" cx="9620250" cy="5372100"/>
        </p:xfrm>
        <a:graphic xmlns:a="http://schemas.openxmlformats.org/drawingml/2006/main">
          <a:graphicData uri="http://schemas.openxmlformats.org/drawingml/2006/chart">
            <c:chart xmlns:r="http://schemas.openxmlformats.org/officeDocument/2006/relationships" xmlns:c="http://schemas.openxmlformats.org/drawingml/2006/chart" r:id="Ra340818f6afb4631"/>
          </a:graphicData>
        </a:graphic>
      </p:graphicFrame>
      <p:sp>
        <p:nvSpPr>
          <p:cNvPr id="7" name="V door">
            <a:extLst xmlns:a="http://schemas.openxmlformats.org/drawingml/2006/main">
              <a:ext uri="{FF2B5EF4-FFF2-40B4-BE49-F238E27FC236}">
                <a16:creationId xmlns:a16="http://schemas.microsoft.com/office/drawing/2014/main" id="{2BDDCF09-1BA9-4423-9BC4-0CDBC7B24B24}"/>
              </a:ext>
            </a:extLst>
          </p:cNvPr>
          <p:cNvSpPr>
            <a:spLocks xmlns:a="http://schemas.openxmlformats.org/drawingml/2006/main" noGrp="1"/>
          </p:cNvSpPr>
          <p:nvPr/>
        </p:nvSpPr>
        <p:spPr>
          <a:xfrm xmlns:a="http://schemas.openxmlformats.org/drawingml/2006/main">
            <a:off x="10668000" y="2686050"/>
            <a:ext cx="3952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 door</a:t>
            </a:r>
          </a:p>
        </p:txBody>
      </p:sp>
      <p:sp>
        <p:nvSpPr>
          <p:cNvPr id="8" name="(0; 50)&#10;en (100; 0)">
            <a:extLst xmlns:a="http://schemas.openxmlformats.org/drawingml/2006/main">
              <a:ext uri="{FF2B5EF4-FFF2-40B4-BE49-F238E27FC236}">
                <a16:creationId xmlns:a16="http://schemas.microsoft.com/office/drawing/2014/main" id="{C548127F-9290-4DD1-A844-27E875829A84}"/>
              </a:ext>
            </a:extLst>
          </p:cNvPr>
          <p:cNvSpPr>
            <a:spLocks xmlns:a="http://schemas.openxmlformats.org/drawingml/2006/main" noGrp="1"/>
          </p:cNvSpPr>
          <p:nvPr/>
        </p:nvSpPr>
        <p:spPr>
          <a:xfrm xmlns:a="http://schemas.openxmlformats.org/drawingml/2006/main">
            <a:off x="10668000" y="3429000"/>
            <a:ext cx="3952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(0; 50)</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en (100; 0)</a:t>
            </a:r>
          </a:p>
        </p:txBody>
      </p:sp>
      <p:sp>
        <p:nvSpPr>
          <p:cNvPr id="9" name="Prijslijn P = 20">
            <a:extLst xmlns:a="http://schemas.openxmlformats.org/drawingml/2006/main">
              <a:ext uri="{FF2B5EF4-FFF2-40B4-BE49-F238E27FC236}">
                <a16:creationId xmlns:a16="http://schemas.microsoft.com/office/drawing/2014/main" id="{743D31F2-D6D0-4380-BE16-CA3465D25871}"/>
              </a:ext>
            </a:extLst>
          </p:cNvPr>
          <p:cNvSpPr>
            <a:spLocks xmlns:a="http://schemas.openxmlformats.org/drawingml/2006/main" noGrp="1"/>
          </p:cNvSpPr>
          <p:nvPr/>
        </p:nvSpPr>
        <p:spPr>
          <a:xfrm xmlns:a="http://schemas.openxmlformats.org/drawingml/2006/main">
            <a:off x="10668000" y="4943475"/>
            <a:ext cx="395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Prijslijn P = 20</a:t>
            </a:r>
          </a:p>
        </p:txBody>
      </p:sp>
      <p:sp>
        <p:nvSpPr>
          <p:cNvPr id="10" name="Snijpunt:&#10;(60; 20)">
            <a:extLst xmlns:a="http://schemas.openxmlformats.org/drawingml/2006/main">
              <a:ext uri="{FF2B5EF4-FFF2-40B4-BE49-F238E27FC236}">
                <a16:creationId xmlns:a16="http://schemas.microsoft.com/office/drawing/2014/main" id="{E9CA4805-5E97-4EEE-AF0D-3BC547B6C0C9}"/>
              </a:ext>
            </a:extLst>
          </p:cNvPr>
          <p:cNvSpPr>
            <a:spLocks xmlns:a="http://schemas.openxmlformats.org/drawingml/2006/main" noGrp="1"/>
          </p:cNvSpPr>
          <p:nvPr/>
        </p:nvSpPr>
        <p:spPr>
          <a:xfrm xmlns:a="http://schemas.openxmlformats.org/drawingml/2006/main">
            <a:off x="10668000" y="5943600"/>
            <a:ext cx="39528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Snijpunt:</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(60; 20)</a:t>
            </a:r>
          </a:p>
        </p:txBody>
      </p:sp>
    </p:spTree>
    <p:extLst>
      <p:ext uri="{BB962C8B-B14F-4D97-AF65-F5344CB8AC3E}">
        <p14:creationId xmlns:p14="http://schemas.microsoft.com/office/powerpoint/2010/main" val="88564223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c · Het CS-gebied">
            <a:extLst xmlns:a="http://schemas.openxmlformats.org/drawingml/2006/main">
              <a:ext uri="{FF2B5EF4-FFF2-40B4-BE49-F238E27FC236}">
                <a16:creationId xmlns:a16="http://schemas.microsoft.com/office/drawing/2014/main" id="{48FB3B47-E311-4000-9513-3938FDE495A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Het CS-gebied</a:t>
            </a:r>
          </a:p>
        </p:txBody>
      </p:sp>
      <p:sp>
        <p:nvSpPr>
          <p:cNvPr id="2" name="">
            <a:extLst xmlns:a="http://schemas.openxmlformats.org/drawingml/2006/main">
              <a:ext uri="{FF2B5EF4-FFF2-40B4-BE49-F238E27FC236}">
                <a16:creationId xmlns:a16="http://schemas.microsoft.com/office/drawing/2014/main" id="{94E3F679-5255-4F50-BC1E-ACEBF1C1F6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BE5F4EF8-70A3-482A-BA54-804C05FC400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22">
            <a:extLst xmlns:a="http://schemas.openxmlformats.org/drawingml/2006/main">
              <a:ext uri="{FF2B5EF4-FFF2-40B4-BE49-F238E27FC236}">
                <a16:creationId xmlns:a16="http://schemas.microsoft.com/office/drawing/2014/main" id="{B6195F7D-8E2E-4E19-A1D4-A07A215CC3E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Concertkaartjes: boven de prijs, onder de vraaglijn">
            <a:extLst xmlns:a="http://schemas.openxmlformats.org/drawingml/2006/main">
              <a:ext uri="{FF2B5EF4-FFF2-40B4-BE49-F238E27FC236}">
                <a16:creationId xmlns:a16="http://schemas.microsoft.com/office/drawing/2014/main" id="{8387BE0D-7D97-4515-B32A-71530C5EF5C6}"/>
              </a:ext>
            </a:extLst>
          </p:cNvPr>
          <p:cNvSpPr>
            <a:spLocks xmlns:a="http://schemas.openxmlformats.org/drawingml/2006/main" noGrp="1"/>
          </p:cNvSpPr>
          <p:nvPr/>
        </p:nvSpPr>
        <p:spPr>
          <a:xfrm xmlns:a="http://schemas.openxmlformats.org/drawingml/2006/main">
            <a:off x="571500" y="1743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Concertkaartjes: boven de prijs, onder de vraaglijn</a:t>
            </a:r>
          </a:p>
        </p:txBody>
      </p:sp>
      <p:graphicFrame>
        <p:nvGraphicFramePr>
          <p:cNvPr id="15" name="Chart"/>
          <p:cNvGraphicFramePr/>
          <p:nvPr/>
        </p:nvGraphicFramePr>
        <p:xfrm>
          <a:off xmlns:a="http://schemas.openxmlformats.org/drawingml/2006/main" x="523875" y="2400300"/>
          <a:ext xmlns:a="http://schemas.openxmlformats.org/drawingml/2006/main" cx="9620250" cy="5372100"/>
        </p:xfrm>
        <a:graphic xmlns:a="http://schemas.openxmlformats.org/drawingml/2006/main">
          <a:graphicData uri="http://schemas.openxmlformats.org/drawingml/2006/chart">
            <c:chart xmlns:r="http://schemas.openxmlformats.org/officeDocument/2006/relationships" xmlns:c="http://schemas.openxmlformats.org/drawingml/2006/chart" r:id="R86d78908d25544b2"/>
          </a:graphicData>
        </a:graphic>
      </p:graphicFrame>
      <p:sp>
        <p:nvSpPr>
          <p:cNvPr id="7" name="Drie hoekpunten">
            <a:extLst xmlns:a="http://schemas.openxmlformats.org/drawingml/2006/main">
              <a:ext uri="{FF2B5EF4-FFF2-40B4-BE49-F238E27FC236}">
                <a16:creationId xmlns:a16="http://schemas.microsoft.com/office/drawing/2014/main" id="{DD6A2893-49DC-4C37-B31B-0EEFAF8E2F36}"/>
              </a:ext>
            </a:extLst>
          </p:cNvPr>
          <p:cNvSpPr>
            <a:spLocks xmlns:a="http://schemas.openxmlformats.org/drawingml/2006/main" noGrp="1"/>
          </p:cNvSpPr>
          <p:nvPr/>
        </p:nvSpPr>
        <p:spPr>
          <a:xfrm xmlns:a="http://schemas.openxmlformats.org/drawingml/2006/main">
            <a:off x="10668000" y="2686050"/>
            <a:ext cx="3952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Drie hoekpunten</a:t>
            </a:r>
          </a:p>
        </p:txBody>
      </p:sp>
      <p:sp>
        <p:nvSpPr>
          <p:cNvPr id="8" name="(0; 20)&#10;(0; 50)&#10;(60; 20)">
            <a:extLst xmlns:a="http://schemas.openxmlformats.org/drawingml/2006/main">
              <a:ext uri="{FF2B5EF4-FFF2-40B4-BE49-F238E27FC236}">
                <a16:creationId xmlns:a16="http://schemas.microsoft.com/office/drawing/2014/main" id="{3EB25B1B-63E9-481A-A0A3-8F97270B0B29}"/>
              </a:ext>
            </a:extLst>
          </p:cNvPr>
          <p:cNvSpPr>
            <a:spLocks xmlns:a="http://schemas.openxmlformats.org/drawingml/2006/main" noGrp="1"/>
          </p:cNvSpPr>
          <p:nvPr/>
        </p:nvSpPr>
        <p:spPr>
          <a:xfrm xmlns:a="http://schemas.openxmlformats.org/drawingml/2006/main">
            <a:off x="10668000" y="3571875"/>
            <a:ext cx="39528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(0; 20)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(0; 50)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(60; 20)</a:t>
            </a:r>
          </a:p>
        </p:txBody>
      </p:sp>
      <p:sp>
        <p:nvSpPr>
          <p:cNvPr id="9" name="Arceer de driehoek&#10;en schrijf CS&#10;in het gebied.">
            <a:extLst xmlns:a="http://schemas.openxmlformats.org/drawingml/2006/main">
              <a:ext uri="{FF2B5EF4-FFF2-40B4-BE49-F238E27FC236}">
                <a16:creationId xmlns:a16="http://schemas.microsoft.com/office/drawing/2014/main" id="{7F6C3310-2364-4FBD-811F-5794FD8363E6}"/>
              </a:ext>
            </a:extLst>
          </p:cNvPr>
          <p:cNvSpPr>
            <a:spLocks xmlns:a="http://schemas.openxmlformats.org/drawingml/2006/main" noGrp="1"/>
          </p:cNvSpPr>
          <p:nvPr/>
        </p:nvSpPr>
        <p:spPr>
          <a:xfrm xmlns:a="http://schemas.openxmlformats.org/drawingml/2006/main">
            <a:off x="10668000" y="5734050"/>
            <a:ext cx="39528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Arceer de driehoek</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en schrijf CS</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in het gebied.</a:t>
            </a:r>
          </a:p>
        </p:txBody>
      </p:sp>
    </p:spTree>
    <p:extLst>
      <p:ext uri="{BB962C8B-B14F-4D97-AF65-F5344CB8AC3E}">
        <p14:creationId xmlns:p14="http://schemas.microsoft.com/office/powerpoint/2010/main" val="12211519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d · Het CS berekenen">
            <a:extLst xmlns:a="http://schemas.openxmlformats.org/drawingml/2006/main">
              <a:ext uri="{FF2B5EF4-FFF2-40B4-BE49-F238E27FC236}">
                <a16:creationId xmlns:a16="http://schemas.microsoft.com/office/drawing/2014/main" id="{DAC1B2F3-BDF0-4F0F-BB22-75F98C5150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Het CS berekenen</a:t>
            </a:r>
          </a:p>
        </p:txBody>
      </p:sp>
      <p:sp>
        <p:nvSpPr>
          <p:cNvPr id="2" name="">
            <a:extLst xmlns:a="http://schemas.openxmlformats.org/drawingml/2006/main">
              <a:ext uri="{FF2B5EF4-FFF2-40B4-BE49-F238E27FC236}">
                <a16:creationId xmlns:a16="http://schemas.microsoft.com/office/drawing/2014/main" id="{19D3292A-D658-4495-8288-0E5A725F1C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FE163BB2-1B69-4206-A463-EEF64CB2047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23">
            <a:extLst xmlns:a="http://schemas.openxmlformats.org/drawingml/2006/main">
              <a:ext uri="{FF2B5EF4-FFF2-40B4-BE49-F238E27FC236}">
                <a16:creationId xmlns:a16="http://schemas.microsoft.com/office/drawing/2014/main" id="{624AE2B2-5762-465E-9F46-2245A63B31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4" name=""/>
          <p:cNvGraphicFramePr/>
          <p:nvPr/>
        </p:nvGraphicFramePr>
        <p:xfrm>
          <a:off xmlns:a="http://schemas.openxmlformats.org/drawingml/2006/main" x="571500" y="1952625"/>
          <a:ext xmlns:a="http://schemas.openxmlformats.org/drawingml/2006/main" cx="14097000" cy="2124075"/>
        </p:xfrm>
        <a:graphic xmlns:a="http://schemas.openxmlformats.org/drawingml/2006/main">
          <a:graphicData uri="http://schemas.openxmlformats.org/drawingml/2006/table">
            <a:tbl>
              <a:tblPr/>
              <a:tblGrid>
                <a:gridCol w="6238875"/>
                <a:gridCol w="7858125"/>
              </a:tblGrid>
              <a:tr h="1062038">
                <a:tc>
                  <a:txBody>
                    <a:bodyPr lIns="171450" tIns="95250" rIns="152400" bIns="95250"/>
                    <a:lstStyle/>
                    <a:p>
                      <a:r>
                        <a:rPr sz="2850" b="1">
                          <a:solidFill>
                            <a:srgbClr val="FFFFFF"/>
                          </a:solidFill>
                          <a:latin typeface="Arial"/>
                          <a:ea typeface="Arial"/>
                          <a:cs typeface="Arial"/>
                        </a:rPr>
                        <a:t>Basis</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Loodrechte hoogte</a:t>
                      </a:r>
                    </a:p>
                  </a:txBody>
                  <a:tcPr marL="91440" marR="91440" marT="45720" marB="45720" anchor="ctr">
                    <a:solidFill>
                      <a:srgbClr val="183247"/>
                    </a:solidFill>
                  </a:tcPr>
                </a:tc>
              </a:tr>
              <a:tr h="1062038">
                <a:tc>
                  <a:txBody>
                    <a:bodyPr lIns="171450" tIns="95250" rIns="152400" bIns="95250"/>
                    <a:lstStyle/>
                    <a:p>
                      <a:r>
                        <a:rPr sz="2850" b="0">
                          <a:solidFill>
                            <a:srgbClr val="183247"/>
                          </a:solidFill>
                          <a:latin typeface="Arial"/>
                          <a:ea typeface="Arial"/>
                          <a:cs typeface="Arial"/>
                        </a:rPr>
                        <a:t>60 kaartjes</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50 − 20 = € 30 per kaartje</a:t>
                      </a:r>
                    </a:p>
                  </a:txBody>
                  <a:tcPr marL="91440" marR="91440" marT="45720" marB="45720" anchor="ctr">
                    <a:solidFill>
                      <a:srgbClr val="FFFFFF"/>
                    </a:solidFill>
                  </a:tcPr>
                </a:tc>
              </a:tr>
            </a:tbl>
          </a:graphicData>
        </a:graphic>
      </p:graphicFrame>
      <p:sp>
        <p:nvSpPr>
          <p:cNvPr id="6" name="CS = ½ × basis × hoogte">
            <a:extLst xmlns:a="http://schemas.openxmlformats.org/drawingml/2006/main">
              <a:ext uri="{FF2B5EF4-FFF2-40B4-BE49-F238E27FC236}">
                <a16:creationId xmlns:a16="http://schemas.microsoft.com/office/drawing/2014/main" id="{B00A53ED-FA8E-49B7-8BE4-27BF602E95DE}"/>
              </a:ext>
            </a:extLst>
          </p:cNvPr>
          <p:cNvSpPr>
            <a:spLocks xmlns:a="http://schemas.openxmlformats.org/drawingml/2006/main" noGrp="1"/>
          </p:cNvSpPr>
          <p:nvPr/>
        </p:nvSpPr>
        <p:spPr>
          <a:xfrm xmlns:a="http://schemas.openxmlformats.org/drawingml/2006/main">
            <a:off x="571500" y="46577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CS = ½ × basis × hoogte</a:t>
            </a:r>
          </a:p>
        </p:txBody>
      </p:sp>
      <p:sp>
        <p:nvSpPr>
          <p:cNvPr id="7" name="CS = ½ × 60 × (50 − 20)">
            <a:extLst xmlns:a="http://schemas.openxmlformats.org/drawingml/2006/main">
              <a:ext uri="{FF2B5EF4-FFF2-40B4-BE49-F238E27FC236}">
                <a16:creationId xmlns:a16="http://schemas.microsoft.com/office/drawing/2014/main" id="{ECB88B25-EBE2-437B-90F9-004C8F898508}"/>
              </a:ext>
            </a:extLst>
          </p:cNvPr>
          <p:cNvSpPr>
            <a:spLocks xmlns:a="http://schemas.openxmlformats.org/drawingml/2006/main" noGrp="1"/>
          </p:cNvSpPr>
          <p:nvPr/>
        </p:nvSpPr>
        <p:spPr>
          <a:xfrm xmlns:a="http://schemas.openxmlformats.org/drawingml/2006/main">
            <a:off x="571500" y="56769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CS = ½ × 60 × (50 − 20)</a:t>
            </a:r>
          </a:p>
        </p:txBody>
      </p:sp>
      <p:sp>
        <p:nvSpPr>
          <p:cNvPr id="8" name="CS = € 900">
            <a:extLst xmlns:a="http://schemas.openxmlformats.org/drawingml/2006/main">
              <a:ext uri="{FF2B5EF4-FFF2-40B4-BE49-F238E27FC236}">
                <a16:creationId xmlns:a16="http://schemas.microsoft.com/office/drawing/2014/main" id="{152A7865-8845-4B2C-B8A9-2091DB4F03E9}"/>
              </a:ext>
            </a:extLst>
          </p:cNvPr>
          <p:cNvSpPr>
            <a:spLocks xmlns:a="http://schemas.openxmlformats.org/drawingml/2006/main" noGrp="1"/>
          </p:cNvSpPr>
          <p:nvPr/>
        </p:nvSpPr>
        <p:spPr>
          <a:xfrm xmlns:a="http://schemas.openxmlformats.org/drawingml/2006/main">
            <a:off x="571500" y="66579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665B"/>
                </a:solidFill>
                <a:latin typeface="Arial"/>
                <a:ea typeface="Arial"/>
                <a:cs typeface="Arial"/>
              </a:defRPr>
            </a:pPr>
            <a:r>
              <a:rPr sz="3975" b="1">
                <a:solidFill>
                  <a:srgbClr val="20665B"/>
                </a:solidFill>
                <a:latin typeface="Arial"/>
                <a:ea typeface="Arial"/>
                <a:cs typeface="Arial"/>
              </a:rPr>
              <a:t>CS = € 900</a:t>
            </a:r>
          </a:p>
        </p:txBody>
      </p:sp>
      <p:sp>
        <p:nvSpPr>
          <p:cNvPr id="9" name="Eenheid: kaartjes × € per kaartje = €">
            <a:extLst xmlns:a="http://schemas.openxmlformats.org/drawingml/2006/main">
              <a:ext uri="{FF2B5EF4-FFF2-40B4-BE49-F238E27FC236}">
                <a16:creationId xmlns:a16="http://schemas.microsoft.com/office/drawing/2014/main" id="{23D5C8D9-8107-4928-9767-BD55CFFC7BF8}"/>
              </a:ext>
            </a:extLst>
          </p:cNvPr>
          <p:cNvSpPr>
            <a:spLocks xmlns:a="http://schemas.openxmlformats.org/drawingml/2006/main" noGrp="1"/>
          </p:cNvSpPr>
          <p:nvPr/>
        </p:nvSpPr>
        <p:spPr>
          <a:xfrm xmlns:a="http://schemas.openxmlformats.org/drawingml/2006/main">
            <a:off x="571500" y="75628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Eenheid: kaartjes × € per kaartje = €</a:t>
            </a:r>
          </a:p>
        </p:txBody>
      </p:sp>
    </p:spTree>
    <p:extLst>
      <p:ext uri="{BB962C8B-B14F-4D97-AF65-F5344CB8AC3E}">
        <p14:creationId xmlns:p14="http://schemas.microsoft.com/office/powerpoint/2010/main" val="20359503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e · Betekenis voor de kopers">
            <a:extLst xmlns:a="http://schemas.openxmlformats.org/drawingml/2006/main">
              <a:ext uri="{FF2B5EF4-FFF2-40B4-BE49-F238E27FC236}">
                <a16:creationId xmlns:a16="http://schemas.microsoft.com/office/drawing/2014/main" id="{FD461388-6EC1-4478-A0AC-2756FE616AC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8e · Betekenis voor de kopers</a:t>
            </a:r>
          </a:p>
        </p:txBody>
      </p:sp>
      <p:sp>
        <p:nvSpPr>
          <p:cNvPr id="2" name="">
            <a:extLst xmlns:a="http://schemas.openxmlformats.org/drawingml/2006/main">
              <a:ext uri="{FF2B5EF4-FFF2-40B4-BE49-F238E27FC236}">
                <a16:creationId xmlns:a16="http://schemas.microsoft.com/office/drawing/2014/main" id="{19887701-535F-467F-BCC9-CB3C5248976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 Opgave 8 · Boekpagina 79">
            <a:extLst xmlns:a="http://schemas.openxmlformats.org/drawingml/2006/main">
              <a:ext uri="{FF2B5EF4-FFF2-40B4-BE49-F238E27FC236}">
                <a16:creationId xmlns:a16="http://schemas.microsoft.com/office/drawing/2014/main" id="{DE53431B-DEDF-4671-B7D3-E775E9F69C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 · Opgave 8 · Boekpagina 79</a:t>
            </a:r>
          </a:p>
        </p:txBody>
      </p:sp>
      <p:sp>
        <p:nvSpPr>
          <p:cNvPr id="4" name="24">
            <a:extLst xmlns:a="http://schemas.openxmlformats.org/drawingml/2006/main">
              <a:ext uri="{FF2B5EF4-FFF2-40B4-BE49-F238E27FC236}">
                <a16:creationId xmlns:a16="http://schemas.microsoft.com/office/drawing/2014/main" id="{45992E0A-2EE5-4C1D-AD32-374EF1AA419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De kopers hebben samen € 900 meer over voor de 60 gekochte k">
            <a:extLst xmlns:a="http://schemas.openxmlformats.org/drawingml/2006/main">
              <a:ext uri="{FF2B5EF4-FFF2-40B4-BE49-F238E27FC236}">
                <a16:creationId xmlns:a16="http://schemas.microsoft.com/office/drawing/2014/main" id="{E29F2C7F-4668-4872-B400-8253CB3FB249}"/>
              </a:ext>
            </a:extLst>
          </p:cNvPr>
          <p:cNvSpPr>
            <a:spLocks xmlns:a="http://schemas.openxmlformats.org/drawingml/2006/main" noGrp="1"/>
          </p:cNvSpPr>
          <p:nvPr/>
        </p:nvSpPr>
        <p:spPr>
          <a:xfrm xmlns:a="http://schemas.openxmlformats.org/drawingml/2006/main">
            <a:off x="571500" y="1895475"/>
            <a:ext cx="140970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De kopers hebben samen € 900 meer over voor de 60 gekochte kaartjes dan zij werkelijk betalen.</a:t>
            </a:r>
          </a:p>
        </p:txBody>
      </p:sp>
      <p:sp>
        <p:nvSpPr>
          <p:cNvPr id="6" name="">
            <a:extLst xmlns:a="http://schemas.openxmlformats.org/drawingml/2006/main">
              <a:ext uri="{FF2B5EF4-FFF2-40B4-BE49-F238E27FC236}">
                <a16:creationId xmlns:a16="http://schemas.microsoft.com/office/drawing/2014/main" id="{29AFE83D-23D3-4538-8077-377B470354AB}"/>
              </a:ext>
            </a:extLst>
          </p:cNvPr>
          <p:cNvSpPr>
            <a:spLocks xmlns:a="http://schemas.openxmlformats.org/drawingml/2006/main" noGrp="1"/>
          </p:cNvSpPr>
          <p:nvPr/>
        </p:nvSpPr>
        <p:spPr>
          <a:xfrm xmlns:a="http://schemas.openxmlformats.org/drawingml/2006/main">
            <a:off x="571500" y="4181475"/>
            <a:ext cx="14097000" cy="0"/>
          </a:xfrm>
          <a:prstGeom xmlns:a="http://schemas.openxmlformats.org/drawingml/2006/main" prst="line">
            <a:avLst/>
          </a:prstGeom>
          <a:ln xmlns:a="http://schemas.openxmlformats.org/drawingml/2006/main" w="19050">
            <a:solidFill>
              <a:srgbClr val="C6D2DB"/>
            </a:solidFill>
          </a:ln>
        </p:spPr>
      </p:sp>
      <p:sp>
        <p:nvSpPr>
          <p:cNvPr id="7" name="Ter controle: wat wordt er werkelijk betaald?">
            <a:extLst xmlns:a="http://schemas.openxmlformats.org/drawingml/2006/main">
              <a:ext uri="{FF2B5EF4-FFF2-40B4-BE49-F238E27FC236}">
                <a16:creationId xmlns:a16="http://schemas.microsoft.com/office/drawing/2014/main" id="{13106BAC-1EA2-4966-A476-4E6256A80DFF}"/>
              </a:ext>
            </a:extLst>
          </p:cNvPr>
          <p:cNvSpPr>
            <a:spLocks xmlns:a="http://schemas.openxmlformats.org/drawingml/2006/main" noGrp="1"/>
          </p:cNvSpPr>
          <p:nvPr/>
        </p:nvSpPr>
        <p:spPr>
          <a:xfrm xmlns:a="http://schemas.openxmlformats.org/drawingml/2006/main">
            <a:off x="571500" y="46291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Ter controle: wat wordt er werkelijk betaald?</a:t>
            </a:r>
          </a:p>
        </p:txBody>
      </p:sp>
      <p:sp>
        <p:nvSpPr>
          <p:cNvPr id="8" name="20 × 60 = € 1.200">
            <a:extLst xmlns:a="http://schemas.openxmlformats.org/drawingml/2006/main">
              <a:ext uri="{FF2B5EF4-FFF2-40B4-BE49-F238E27FC236}">
                <a16:creationId xmlns:a16="http://schemas.microsoft.com/office/drawing/2014/main" id="{C5398C98-D607-4D35-A1CE-12E5A9FE995A}"/>
              </a:ext>
            </a:extLst>
          </p:cNvPr>
          <p:cNvSpPr>
            <a:spLocks xmlns:a="http://schemas.openxmlformats.org/drawingml/2006/main" noGrp="1"/>
          </p:cNvSpPr>
          <p:nvPr/>
        </p:nvSpPr>
        <p:spPr>
          <a:xfrm xmlns:a="http://schemas.openxmlformats.org/drawingml/2006/main">
            <a:off x="571500" y="55149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20 × 60 = € 1.200</a:t>
            </a:r>
          </a:p>
        </p:txBody>
      </p:sp>
      <p:sp>
        <p:nvSpPr>
          <p:cNvPr id="9" name="CS meet het gezamenlijke extra voordeel.&#10;Het bedrag wordt ni">
            <a:extLst xmlns:a="http://schemas.openxmlformats.org/drawingml/2006/main">
              <a:ext uri="{FF2B5EF4-FFF2-40B4-BE49-F238E27FC236}">
                <a16:creationId xmlns:a16="http://schemas.microsoft.com/office/drawing/2014/main" id="{0FF7CEC1-8EB6-4A78-9DB6-07196B00FC52}"/>
              </a:ext>
            </a:extLst>
          </p:cNvPr>
          <p:cNvSpPr>
            <a:spLocks xmlns:a="http://schemas.openxmlformats.org/drawingml/2006/main" noGrp="1"/>
          </p:cNvSpPr>
          <p:nvPr/>
        </p:nvSpPr>
        <p:spPr>
          <a:xfrm xmlns:a="http://schemas.openxmlformats.org/drawingml/2006/main">
            <a:off x="571500" y="6877050"/>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CS meet het gezamenlijke extra voordeel.</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Het bedrag wordt niet aan de kopers terugbetaald.</a:t>
            </a:r>
          </a:p>
        </p:txBody>
      </p:sp>
    </p:spTree>
    <p:extLst>
      <p:ext uri="{BB962C8B-B14F-4D97-AF65-F5344CB8AC3E}">
        <p14:creationId xmlns:p14="http://schemas.microsoft.com/office/powerpoint/2010/main" val="2856031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1 Consumentensurplus">
            <a:extLst xmlns:a="http://schemas.openxmlformats.org/drawingml/2006/main">
              <a:ext uri="{FF2B5EF4-FFF2-40B4-BE49-F238E27FC236}">
                <a16:creationId xmlns:a16="http://schemas.microsoft.com/office/drawing/2014/main" id="{3645BCC3-3C05-4DF0-B0FA-AA67C8729E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§2.3.1 Consumentensurplus</a:t>
            </a:r>
          </a:p>
        </p:txBody>
      </p:sp>
      <p:sp>
        <p:nvSpPr>
          <p:cNvPr id="2" name="">
            <a:extLst xmlns:a="http://schemas.openxmlformats.org/drawingml/2006/main">
              <a:ext uri="{FF2B5EF4-FFF2-40B4-BE49-F238E27FC236}">
                <a16:creationId xmlns:a16="http://schemas.microsoft.com/office/drawing/2014/main" id="{7F53F757-2DCE-4564-89C2-77D4B6A4D7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1 Consumentensurplus">
            <a:extLst xmlns:a="http://schemas.openxmlformats.org/drawingml/2006/main">
              <a:ext uri="{FF2B5EF4-FFF2-40B4-BE49-F238E27FC236}">
                <a16:creationId xmlns:a16="http://schemas.microsoft.com/office/drawing/2014/main" id="{0F3CA4A2-28AE-47A5-BC6A-2875273BA9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§2.3.1 Consumentensurplus</a:t>
            </a:r>
          </a:p>
        </p:txBody>
      </p:sp>
      <p:sp>
        <p:nvSpPr>
          <p:cNvPr id="4" name="25">
            <a:extLst xmlns:a="http://schemas.openxmlformats.org/drawingml/2006/main">
              <a:ext uri="{FF2B5EF4-FFF2-40B4-BE49-F238E27FC236}">
                <a16:creationId xmlns:a16="http://schemas.microsoft.com/office/drawing/2014/main" id="{DB6E4F1E-2334-4C46-BD7D-4AE0762E62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95C58A40-04F2-4557-BED4-8FEAE4151C3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2DBDE68-DB8F-4BD3-AEF3-30D4B90ED4F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F64E060-42AE-4AEA-AF0B-4099BC792F8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B7957FF-7CDD-4600-B380-1DC9FB741A9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605067B-4186-4D0C-B7A4-DA28B1D080E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965E74C-B8D2-4D33-882B-8CC59A5E1BC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D1B8046-9546-497C-ABC9-07829C7237A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BFB127F-FC8A-4946-9BDB-03D13754B9F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88C9E4BE-4C73-4425-AB21-A0A9B2D1185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170B989-EA87-44F0-928D-1428717E63AB}"/>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E2FE24B-994C-4D3A-A824-B549E901CA0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8C2DA2D-12BD-491F-A91B-0810DB8DD44E}"/>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269543E3-1712-420F-A397-DEBD7BCFE33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3912E93-D393-4A35-8801-F8E7BA5FA90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6847255D-F90D-48B0-BA7E-DF8CD902E71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FA1C09A-F8B6-430A-A82B-13FFE9ECDEC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9D381C46-7F1D-4A88-A803-36DEBD28CA7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8C9D5A2-D8F0-4284-AF76-6B0800D203F4}"/>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berekenen, lijnen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CS arceren en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het kopersvoordeel uitleggen.</a:t>
            </a:r>
          </a:p>
        </p:txBody>
      </p:sp>
      <p:sp>
        <p:nvSpPr>
          <p:cNvPr id="23" name="">
            <a:extLst xmlns:a="http://schemas.openxmlformats.org/drawingml/2006/main">
              <a:ext uri="{FF2B5EF4-FFF2-40B4-BE49-F238E27FC236}">
                <a16:creationId xmlns:a16="http://schemas.microsoft.com/office/drawing/2014/main" id="{291D44D9-9DEB-4D38-8B20-547FEE35A1D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FCAEF9B-6FFB-4787-B799-0CCE15C000D0}"/>
              </a:ext>
            </a:extLst>
          </p:cNvPr>
          <p:cNvSpPr>
            <a:spLocks xmlns:a="http://schemas.openxmlformats.org/drawingml/2006/main" noGrp="1"/>
          </p:cNvSpPr>
          <p:nvPr/>
        </p:nvSpPr>
        <p:spPr>
          <a:xfrm xmlns:a="http://schemas.openxmlformats.org/drawingml/2006/main">
            <a:off x="9258300" y="3781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311BB22-5E61-480C-B25D-762B909BEBB0}"/>
              </a:ext>
            </a:extLst>
          </p:cNvPr>
          <p:cNvSpPr>
            <a:spLocks xmlns:a="http://schemas.openxmlformats.org/drawingml/2006/main" noGrp="1"/>
          </p:cNvSpPr>
          <p:nvPr/>
        </p:nvSpPr>
        <p:spPr>
          <a:xfrm xmlns:a="http://schemas.openxmlformats.org/drawingml/2006/main">
            <a:off x="9258300" y="430530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76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72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Reken- en tekenhulp: p. 74</a:t>
            </a:r>
          </a:p>
        </p:txBody>
      </p:sp>
      <p:sp>
        <p:nvSpPr>
          <p:cNvPr id="26" name="">
            <a:extLst xmlns:a="http://schemas.openxmlformats.org/drawingml/2006/main">
              <a:ext uri="{FF2B5EF4-FFF2-40B4-BE49-F238E27FC236}">
                <a16:creationId xmlns:a16="http://schemas.microsoft.com/office/drawing/2014/main" id="{9716F888-1632-4DF2-8806-D005A92D8AE1}"/>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21A73DA-C9B0-4687-B58C-A331541B1AEA}"/>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EF15FF8-60AA-441A-9D71-CE754E56F254}"/>
              </a:ext>
            </a:extLst>
          </p:cNvPr>
          <p:cNvSpPr>
            <a:spLocks xmlns:a="http://schemas.openxmlformats.org/drawingml/2006/main" noGrp="1"/>
          </p:cNvSpPr>
          <p:nvPr/>
        </p:nvSpPr>
        <p:spPr>
          <a:xfrm xmlns:a="http://schemas.openxmlformats.org/drawingml/2006/main">
            <a:off x="9258300" y="623887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§2.3.1 Consumentensurplus</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4 en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6 en 7 · Doel: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Opgaven 3 t/m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931431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2026-10-01T06:18:00.1390000Z</dcterms:created>
  <dcterms:modified xsi:type="dcterms:W3CDTF">2026-10-01T06:18:00.1390000Z</dcterms:modified>
</coreProperties>
</file>