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2b043fccfeb425c" /><Relationship Type="http://schemas.openxmlformats.org/officeDocument/2006/relationships/extended-properties" Target="/docProps/app.xml" Id="R1525a71cdd7d468d" /><Relationship Type="http://schemas.openxmlformats.org/officeDocument/2006/relationships/officeDocument" Target="/ppt/presentation.xml" Id="Rf30810543d1c46b7" /></Relationships>
</file>

<file path=ppt/presentation.xml><?xml version="1.0" encoding="utf-8"?>
<p:presentation xmlns:p="http://schemas.openxmlformats.org/presentationml/2006/main">
  <p:sldMasterIdLst>
    <p:sldMasterId xmlns:r="http://schemas.openxmlformats.org/officeDocument/2006/relationships" id="2147483648" r:id="Rfe7e8955e4b2449e"/>
  </p:sldMasterIdLst>
  <p:notesMasterIdLst>
    <p:notesMasterId xmlns:r="http://schemas.openxmlformats.org/officeDocument/2006/relationships" r:id="Rdc6e80bbeb154923"/>
  </p:notesMasterIdLst>
  <p:sldIdLst>
    <p:sldId xmlns:r="http://schemas.openxmlformats.org/officeDocument/2006/relationships" id="256" r:id="Rde28029eaa134312"/>
    <p:sldId xmlns:r="http://schemas.openxmlformats.org/officeDocument/2006/relationships" id="257" r:id="R01ff7cdd7b17493b"/>
    <p:sldId xmlns:r="http://schemas.openxmlformats.org/officeDocument/2006/relationships" id="258" r:id="Ra30bd61e52cc48ed"/>
    <p:sldId xmlns:r="http://schemas.openxmlformats.org/officeDocument/2006/relationships" id="259" r:id="Rce7ca2ae7ab240a5"/>
    <p:sldId xmlns:r="http://schemas.openxmlformats.org/officeDocument/2006/relationships" id="260" r:id="R79955f84391f44a8"/>
    <p:sldId xmlns:r="http://schemas.openxmlformats.org/officeDocument/2006/relationships" id="261" r:id="R1f0acfba7f7a43ee"/>
    <p:sldId xmlns:r="http://schemas.openxmlformats.org/officeDocument/2006/relationships" id="262" r:id="Rbc44077c5ff549f6"/>
    <p:sldId xmlns:r="http://schemas.openxmlformats.org/officeDocument/2006/relationships" id="263" r:id="R2a9d4a2eca064664"/>
    <p:sldId xmlns:r="http://schemas.openxmlformats.org/officeDocument/2006/relationships" id="264" r:id="R0df105d6b6b74f07"/>
    <p:sldId xmlns:r="http://schemas.openxmlformats.org/officeDocument/2006/relationships" id="265" r:id="R22824bc543b34807"/>
    <p:sldId xmlns:r="http://schemas.openxmlformats.org/officeDocument/2006/relationships" id="266" r:id="R8299627e4b834799"/>
    <p:sldId xmlns:r="http://schemas.openxmlformats.org/officeDocument/2006/relationships" id="267" r:id="Rf7312e8d8e804573"/>
    <p:sldId xmlns:r="http://schemas.openxmlformats.org/officeDocument/2006/relationships" id="268" r:id="Rdc665b59e1714c19"/>
    <p:sldId xmlns:r="http://schemas.openxmlformats.org/officeDocument/2006/relationships" id="269" r:id="Rdd9f1384c63c4e24"/>
    <p:sldId xmlns:r="http://schemas.openxmlformats.org/officeDocument/2006/relationships" id="270" r:id="Ra9da3245c1614196"/>
    <p:sldId xmlns:r="http://schemas.openxmlformats.org/officeDocument/2006/relationships" id="271" r:id="Rda2f89fa3f4e46a6"/>
    <p:sldId xmlns:r="http://schemas.openxmlformats.org/officeDocument/2006/relationships" id="272" r:id="R9da5665996164e10"/>
    <p:sldId xmlns:r="http://schemas.openxmlformats.org/officeDocument/2006/relationships" id="273" r:id="R3830d88293af402b"/>
    <p:sldId xmlns:r="http://schemas.openxmlformats.org/officeDocument/2006/relationships" id="274" r:id="R723a89a26d314753"/>
    <p:sldId xmlns:r="http://schemas.openxmlformats.org/officeDocument/2006/relationships" id="275" r:id="R12cda79976b747b0"/>
    <p:sldId xmlns:r="http://schemas.openxmlformats.org/officeDocument/2006/relationships" id="276" r:id="R0f74e399cc9a4eab"/>
    <p:sldId xmlns:r="http://schemas.openxmlformats.org/officeDocument/2006/relationships" id="277" r:id="R24f619bfee0e46e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743066eb94249" /><Relationship Type="http://schemas.openxmlformats.org/officeDocument/2006/relationships/slideMaster" Target="/ppt/slideMasters/slideMaster1.xml" Id="Rfe7e8955e4b2449e" /><Relationship Type="http://schemas.openxmlformats.org/officeDocument/2006/relationships/notesMaster" Target="/ppt/notesMasters/notesMaster1.xml" Id="Rdc6e80bbeb154923" /><Relationship Type="http://schemas.openxmlformats.org/officeDocument/2006/relationships/presProps" Target="/ppt/presProps.xml" Id="R77ddb61c97e3447e" /><Relationship Type="http://schemas.openxmlformats.org/officeDocument/2006/relationships/tableStyles" Target="/ppt/tableStyles.xml" Id="R447160153c944f94" /><Relationship Type="http://schemas.openxmlformats.org/officeDocument/2006/relationships/slide" Target="/ppt/slides/slide1.xml" Id="Rde28029eaa134312" /><Relationship Type="http://schemas.openxmlformats.org/officeDocument/2006/relationships/slide" Target="/ppt/slides/slide2.xml" Id="R01ff7cdd7b17493b" /><Relationship Type="http://schemas.openxmlformats.org/officeDocument/2006/relationships/slide" Target="/ppt/slides/slide3.xml" Id="Ra30bd61e52cc48ed" /><Relationship Type="http://schemas.openxmlformats.org/officeDocument/2006/relationships/slide" Target="/ppt/slides/slide4.xml" Id="Rce7ca2ae7ab240a5" /><Relationship Type="http://schemas.openxmlformats.org/officeDocument/2006/relationships/slide" Target="/ppt/slides/slide5.xml" Id="R79955f84391f44a8" /><Relationship Type="http://schemas.openxmlformats.org/officeDocument/2006/relationships/slide" Target="/ppt/slides/slide6.xml" Id="R1f0acfba7f7a43ee" /><Relationship Type="http://schemas.openxmlformats.org/officeDocument/2006/relationships/slide" Target="/ppt/slides/slide7.xml" Id="Rbc44077c5ff549f6" /><Relationship Type="http://schemas.openxmlformats.org/officeDocument/2006/relationships/slide" Target="/ppt/slides/slide8.xml" Id="R2a9d4a2eca064664" /><Relationship Type="http://schemas.openxmlformats.org/officeDocument/2006/relationships/slide" Target="/ppt/slides/slide9.xml" Id="R0df105d6b6b74f07" /><Relationship Type="http://schemas.openxmlformats.org/officeDocument/2006/relationships/slide" Target="/ppt/slides/slide10.xml" Id="R22824bc543b34807" /><Relationship Type="http://schemas.openxmlformats.org/officeDocument/2006/relationships/slide" Target="/ppt/slides/slide11.xml" Id="R8299627e4b834799" /><Relationship Type="http://schemas.openxmlformats.org/officeDocument/2006/relationships/slide" Target="/ppt/slides/slide12.xml" Id="Rf7312e8d8e804573" /><Relationship Type="http://schemas.openxmlformats.org/officeDocument/2006/relationships/slide" Target="/ppt/slides/slide13.xml" Id="Rdc665b59e1714c19" /><Relationship Type="http://schemas.openxmlformats.org/officeDocument/2006/relationships/slide" Target="/ppt/slides/slide14.xml" Id="Rdd9f1384c63c4e24" /><Relationship Type="http://schemas.openxmlformats.org/officeDocument/2006/relationships/slide" Target="/ppt/slides/slide15.xml" Id="Ra9da3245c1614196" /><Relationship Type="http://schemas.openxmlformats.org/officeDocument/2006/relationships/slide" Target="/ppt/slides/slide16.xml" Id="Rda2f89fa3f4e46a6" /><Relationship Type="http://schemas.openxmlformats.org/officeDocument/2006/relationships/slide" Target="/ppt/slides/slide17.xml" Id="R9da5665996164e10" /><Relationship Type="http://schemas.openxmlformats.org/officeDocument/2006/relationships/slide" Target="/ppt/slides/slide18.xml" Id="R3830d88293af402b" /><Relationship Type="http://schemas.openxmlformats.org/officeDocument/2006/relationships/slide" Target="/ppt/slides/slide19.xml" Id="R723a89a26d314753" /><Relationship Type="http://schemas.openxmlformats.org/officeDocument/2006/relationships/slide" Target="/ppt/slides/slide20.xml" Id="R12cda79976b747b0" /><Relationship Type="http://schemas.openxmlformats.org/officeDocument/2006/relationships/slide" Target="/ppt/slides/slide21.xml" Id="R0f74e399cc9a4eab" /><Relationship Type="http://schemas.openxmlformats.org/officeDocument/2006/relationships/slide" Target="/ppt/slides/slide22.xml" Id="R24f619bfee0e46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aa80539fdb45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f18c8ac14d4908" /><Relationship Type="http://schemas.openxmlformats.org/officeDocument/2006/relationships/notesMaster" Target="/ppt/notesMasters/notesMaster1.xml" Id="R076cc0368f3f4b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5a1f7fa9fc43ec" /><Relationship Type="http://schemas.openxmlformats.org/officeDocument/2006/relationships/notesMaster" Target="/ppt/notesMasters/notesMaster1.xml" Id="R3b4157c1af154b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20ede6691841c9" /><Relationship Type="http://schemas.openxmlformats.org/officeDocument/2006/relationships/notesMaster" Target="/ppt/notesMasters/notesMaster1.xml" Id="R05fb26cd43bd4a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9bf45ab80c4ee2" /><Relationship Type="http://schemas.openxmlformats.org/officeDocument/2006/relationships/notesMaster" Target="/ppt/notesMasters/notesMaster1.xml" Id="Rd845075783b84e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1a5c8d50224164" /><Relationship Type="http://schemas.openxmlformats.org/officeDocument/2006/relationships/notesMaster" Target="/ppt/notesMasters/notesMaster1.xml" Id="R7ca6c76318104e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40ea8951ba4f4b" /><Relationship Type="http://schemas.openxmlformats.org/officeDocument/2006/relationships/notesMaster" Target="/ppt/notesMasters/notesMaster1.xml" Id="R16a9688b7ebd42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da9c4402404938" /><Relationship Type="http://schemas.openxmlformats.org/officeDocument/2006/relationships/notesMaster" Target="/ppt/notesMasters/notesMaster1.xml" Id="R623013c89b8b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acd01c05d54470" /><Relationship Type="http://schemas.openxmlformats.org/officeDocument/2006/relationships/notesMaster" Target="/ppt/notesMasters/notesMaster1.xml" Id="R1316ba1230ad44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ee5379dfe54f5f" /><Relationship Type="http://schemas.openxmlformats.org/officeDocument/2006/relationships/notesMaster" Target="/ppt/notesMasters/notesMaster1.xml" Id="Re4a3a30974104e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bbaed6efc1410b" /><Relationship Type="http://schemas.openxmlformats.org/officeDocument/2006/relationships/notesMaster" Target="/ppt/notesMasters/notesMaster1.xml" Id="R5f1ffcda67594b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906d846aaa4447" /><Relationship Type="http://schemas.openxmlformats.org/officeDocument/2006/relationships/notesMaster" Target="/ppt/notesMasters/notesMaster1.xml" Id="R38ef700953a94d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df380b16094de5" /><Relationship Type="http://schemas.openxmlformats.org/officeDocument/2006/relationships/notesMaster" Target="/ppt/notesMasters/notesMaster1.xml" Id="R73d382f44d4f4b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94c7e984c640d8" /><Relationship Type="http://schemas.openxmlformats.org/officeDocument/2006/relationships/notesMaster" Target="/ppt/notesMasters/notesMaster1.xml" Id="Rfc418d1b1ec64e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f855f4f6a047f4" /><Relationship Type="http://schemas.openxmlformats.org/officeDocument/2006/relationships/notesMaster" Target="/ppt/notesMasters/notesMaster1.xml" Id="R76cae334422743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b358724bd448ea" /><Relationship Type="http://schemas.openxmlformats.org/officeDocument/2006/relationships/notesMaster" Target="/ppt/notesMasters/notesMaster1.xml" Id="R8a63097d218948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05a9ce3f4b48a6" /><Relationship Type="http://schemas.openxmlformats.org/officeDocument/2006/relationships/notesMaster" Target="/ppt/notesMasters/notesMaster1.xml" Id="Rb8e1bee3fff44e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51569e5e414be8" /><Relationship Type="http://schemas.openxmlformats.org/officeDocument/2006/relationships/notesMaster" Target="/ppt/notesMasters/notesMaster1.xml" Id="Ra3223afc3c8c4f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0570d9ba7a4daa" /><Relationship Type="http://schemas.openxmlformats.org/officeDocument/2006/relationships/notesMaster" Target="/ppt/notesMasters/notesMaster1.xml" Id="Rd4edbbb2b77f4d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6fed4e516f4101" /><Relationship Type="http://schemas.openxmlformats.org/officeDocument/2006/relationships/notesMaster" Target="/ppt/notesMasters/notesMaster1.xml" Id="R1f42ec36cae948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36504458ac4d53" /><Relationship Type="http://schemas.openxmlformats.org/officeDocument/2006/relationships/notesMaster" Target="/ppt/notesMasters/notesMaster1.xml" Id="Ra61d221325b84c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6425acf37d46df" /><Relationship Type="http://schemas.openxmlformats.org/officeDocument/2006/relationships/notesMaster" Target="/ppt/notesMasters/notesMaster1.xml" Id="Rd09727a1634c4c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91bb030c964c79" /><Relationship Type="http://schemas.openxmlformats.org/officeDocument/2006/relationships/notesMaster" Target="/ppt/notesMasters/notesMaster1.xml" Id="R1e9e59cdede044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loopt jouw berekening of redenering vast?</a:t>
            </a:r>
          </a:p>
          <a:p xmlns:a="http://schemas.openxmlformats.org/drawingml/2006/main">
            <a:r>
              <a:rPr sz="1400"/>
              <a:t/>
            </a:r>
          </a:p>
          <a:p xmlns:a="http://schemas.openxmlformats.org/drawingml/2006/main">
            <a:r>
              <a:rPr sz="1400"/>
              <a:t>Uitleg: Laat deze dia staan tijdens startopdracht. Start is opgave 1 (p. 101). Er is geen afzonderlijke basis- of zelfstandige sectie: werk na 1 verder aan 2 (p. 102–103) en doel 3 (p. 104–105). Het huiswerk volgens de classroomroute is alle gemengde opgaven 1, 2, 3, 4, 5, 6 en 7 maken en nakijken, met het bonuslabel bij 4 en herhaling bij 5–7 behouden. Dit is een ruimere huiswerkopdracht dan de gedifferentieerde boekroute. De volledige route hoeft niet in één les af te zijn. Start 1 haalt werkelijk onderwezen stof uit §2.3.2 p. 82–84 op: functies gelijkstellen, driehoeken, vergelijking betalingsbereidheid/MK en de grens tussen maximaal TS en eerlijkheid. Bij moeite laat je die uitleg gebruiken en hun eerste vastgelopen stap aanwijzen. Terug bij dit overzicht vóór verder oefenen laat je het startantwoord verbeteren. Meer TS alleen bewijst geen gelijk voordeel voor iedereen.</a:t>
            </a:r>
          </a:p>
          <a:p xmlns:a="http://schemas.openxmlformats.org/drawingml/2006/main">
            <a:r>
              <a:rPr sz="1400"/>
              <a:t/>
            </a:r>
          </a:p>
          <a:p xmlns:a="http://schemas.openxmlformats.org/drawingml/2006/main">
            <a:r>
              <a:rPr sz="1400"/>
              <a:t>Misvatting: De paginanummers zijn de gedrukte boekvoeten. Page 101 is fysieke PDF-pagina 103. Geen nieuwe theorie aannemen op basis van een eerdere paragraaftitel.</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Leerlingenboek Boek 2, chat-2026, gedrukte pagina 101–106.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keuze moet vóór een oppervlakteberekening komen?</a:t>
            </a:r>
          </a:p>
          <a:p xmlns:a="http://schemas.openxmlformats.org/drawingml/2006/main">
            <a:r>
              <a:rPr sz="1400"/>
              <a:t/>
            </a:r>
          </a:p>
          <a:p xmlns:a="http://schemas.openxmlformats.org/drawingml/2006/main">
            <a:r>
              <a:rPr sz="1400"/>
              <a:t>Uitleg: Haal de bestaande rekenroute op. In het vrije evenwicht stel je V gelijk aan A. Onder een boekingsregel bepaal je eerst Qd, Qs en de bindende grens. Controleer welke partijen handelen. CS ligt onder V en boven P; PS boven A = MK en onder P. Reken alleen met werkelijk verhandelde eenheden. De rekenroute uit p. 91 is hoeveelheid, grenshoogten, rechthoek en driehoek, som. Voor Pareto is naast voordeel ook haalbaarheid en geen nadeel nodig.</a:t>
            </a:r>
          </a:p>
          <a:p xmlns:a="http://schemas.openxmlformats.org/drawingml/2006/main">
            <a:r>
              <a:rPr sz="1400"/>
              <a:t/>
            </a:r>
          </a:p>
          <a:p xmlns:a="http://schemas.openxmlformats.org/drawingml/2006/main">
            <a:r>
              <a:rPr sz="1400"/>
              <a:t>Misvatting: Een gegeven prijs legt niet zelfstandig het aantal transacties vast.</a:t>
            </a:r>
          </a:p>
          <a:p xmlns:a="http://schemas.openxmlformats.org/drawingml/2006/main">
            <a:r>
              <a:rPr sz="1400"/>
              <a:t/>
            </a:r>
          </a:p>
          <a:p xmlns:a="http://schemas.openxmlformats.org/drawingml/2006/main">
            <a:r>
              <a:rPr sz="1400"/>
              <a:t>Overgang: Herhaal de methode met een apart kort kanovoorbeeld.</a:t>
            </a:r>
          </a:p>
          <a:p xmlns:a="http://schemas.openxmlformats.org/drawingml/2006/main">
            <a:r>
              <a:rPr sz="1400"/>
              <a:t/>
            </a:r>
          </a:p>
          <a:p xmlns:a="http://schemas.openxmlformats.org/drawingml/2006/main">
            <a:r>
              <a:rPr sz="1400"/>
              <a:t>Bron: Leerlingenboek Boek 2, chat-2026, gedrukte pagina 82–84, 90–95.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de twee hoogten verschillend?</a:t>
            </a:r>
          </a:p>
          <a:p xmlns:a="http://schemas.openxmlformats.org/drawingml/2006/main">
            <a:r>
              <a:rPr sz="1400"/>
              <a:t/>
            </a:r>
          </a:p>
          <a:p xmlns:a="http://schemas.openxmlformats.org/drawingml/2006/main">
            <a:r>
              <a:rPr sz="1400"/>
              <a:t>Uitleg: Zelfgemaakt voorbeeld Kano’s, met eigen context en getallen. Binnen dit eenvoudige marktmodel geeft A de MK weer, zijn er geen extra handelskosten en geen gevolgen voor anderen. Q is het aantal kanoplaatsen in dezelfde boekingsronde. Beide functies gelijkstellen geeft Qe = 12. Invullen in beide functies geeft P = 18. Voor CS is de hoogte 42 − 18 = 24 euro per plaats. Voor PS is deze 18 − 6 = 12. De basis is 12 plaatsen. Een oppervlakte geeft euro, niet euro per plaats.</a:t>
            </a:r>
          </a:p>
          <a:p xmlns:a="http://schemas.openxmlformats.org/drawingml/2006/main">
            <a:r>
              <a:rPr sz="1400"/>
              <a:t/>
            </a:r>
          </a:p>
          <a:p xmlns:a="http://schemas.openxmlformats.org/drawingml/2006/main">
            <a:r>
              <a:rPr sz="1400"/>
              <a:t>Misvatting: De verticale intercepten zijn geen surplusbedragen.</a:t>
            </a:r>
          </a:p>
          <a:p xmlns:a="http://schemas.openxmlformats.org/drawingml/2006/main">
            <a:r>
              <a:rPr sz="1400"/>
              <a:t/>
            </a:r>
          </a:p>
          <a:p xmlns:a="http://schemas.openxmlformats.org/drawingml/2006/main">
            <a:r>
              <a:rPr sz="1400"/>
              <a:t>Overgang: Beperk nu het aantal boekingen in dezelfde kanomarkt.</a:t>
            </a:r>
          </a:p>
          <a:p xmlns:a="http://schemas.openxmlformats.org/drawingml/2006/main">
            <a:r>
              <a:rPr sz="1400"/>
              <a:t/>
            </a:r>
          </a:p>
          <a:p xmlns:a="http://schemas.openxmlformats.org/drawingml/2006/main">
            <a:r>
              <a:rPr sz="1400"/>
              <a:t>Bron: Zelfgemaakt uitlegvoorbeeld Kano’s. Context, gegevens en uitkomsten zijn niet uit het boek. Methoden: Leerlingenboek Boek 2, chat-2026, gedrukte pagina 82–84.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 (alleen boekopgaven, niet de verzonnen kanomarkt).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het hele CS-gebied geen driehoek?</a:t>
            </a:r>
          </a:p>
          <a:p xmlns:a="http://schemas.openxmlformats.org/drawingml/2006/main">
            <a:r>
              <a:rPr sz="1400"/>
              <a:t/>
            </a:r>
          </a:p>
          <a:p xmlns:a="http://schemas.openxmlformats.org/drawingml/2006/main">
            <a:r>
              <a:rPr sz="1400"/>
              <a:t>Uitleg: Bij P = 20: 20 = 42 − 2Qd, dus Qd = 11. 20 = 6 + Qs, dus Qs = 14. De boekingsgrens van 8 bindt. Gegeven toewijzing: hoogste betalingsbereidheden, laagste MK. Lees op Q = 8 de randhoogten af: 42 − 16 = 26 en 6 + 8 = 14. CS heeft een rechthoek van hoogte 6 en driehoek van hoogte 16. PS heeft een rechthoek van hoogte 6 en driehoek van hoogte 8. Alle basissen zijn 8 plaatsen. Laat leerlingen de oppervlakken beschrijven met de eerdere boekgrafiek op p. 91 als steun.</a:t>
            </a:r>
          </a:p>
          <a:p xmlns:a="http://schemas.openxmlformats.org/drawingml/2006/main">
            <a:r>
              <a:rPr sz="1400"/>
              <a:t/>
            </a:r>
          </a:p>
          <a:p xmlns:a="http://schemas.openxmlformats.org/drawingml/2006/main">
            <a:r>
              <a:rPr sz="1400"/>
              <a:t>Misvatting: Alleen de driehoek tellen zou het voordeel bij de laatste transactie weglaten.</a:t>
            </a:r>
          </a:p>
          <a:p xmlns:a="http://schemas.openxmlformats.org/drawingml/2006/main">
            <a:r>
              <a:rPr sz="1400"/>
              <a:t/>
            </a:r>
          </a:p>
          <a:p xmlns:a="http://schemas.openxmlformats.org/drawingml/2006/main">
            <a:r>
              <a:rPr sz="1400"/>
              <a:t>Overgang: Vergelijk TS en toets één mogelijke extra boeking.</a:t>
            </a:r>
          </a:p>
          <a:p xmlns:a="http://schemas.openxmlformats.org/drawingml/2006/main">
            <a:r>
              <a:rPr sz="1400"/>
              <a:t/>
            </a:r>
          </a:p>
          <a:p xmlns:a="http://schemas.openxmlformats.org/drawingml/2006/main">
            <a:r>
              <a:rPr sz="1400"/>
              <a:t>Bron: Zelfgemaakt uitlegvoorbeeld Kano’s. Context, gegevens en uitkomsten zijn niet uit het boek. Methoden: Leerlingenboek Boek 2, chat-2026, gedrukte pagina 90–91, 94.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 (alleen boekopgaven, niet de verzonnen kanomarkt).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voorwaarden zijn naast positief voordeel nodig?</a:t>
            </a:r>
          </a:p>
          <a:p xmlns:a="http://schemas.openxmlformats.org/drawingml/2006/main">
            <a:r>
              <a:rPr sz="1400"/>
              <a:t/>
            </a:r>
          </a:p>
          <a:p xmlns:a="http://schemas.openxmlformats.org/drawingml/2006/main">
            <a:r>
              <a:rPr sz="1400"/>
              <a:t>Uitleg: In dit eigen voorbeeld kunnen technisch minstens 12 plaatsen worden geboekt. Verruiming kost niets. De prijs blijft 20, bestaande transacties blijven gelijk en er zijn geen gevolgen voor buitenstaanders. Bij Q = 9 is betalingsbereidheid 42 − 18 = 24 en MK = 6 + 9 = 15. Beide nieuwe partijen hebben voordeel en niemand gaat achteruit. Dat is een haalbare Paretoverbetering; de beperking op 8 is niet Pareto-efficiënt. De berekende TS-vergelijking geeft op zichzelf geen oordeel over eerlijkheid. De twee puntvoordelen vormen het bewijs voor die mogelijke transactie, niet een exacte integraal over een heel interval.</a:t>
            </a:r>
          </a:p>
          <a:p xmlns:a="http://schemas.openxmlformats.org/drawingml/2006/main">
            <a:r>
              <a:rPr sz="1400"/>
              <a:t/>
            </a:r>
          </a:p>
          <a:p xmlns:a="http://schemas.openxmlformats.org/drawingml/2006/main">
            <a:r>
              <a:rPr sz="1400"/>
              <a:t>Misvatting: Terugkeer naar het vrije evenwicht is niet automatisch voor iedereen gunstig: ook de prijs verandert.</a:t>
            </a:r>
          </a:p>
          <a:p xmlns:a="http://schemas.openxmlformats.org/drawingml/2006/main">
            <a:r>
              <a:rPr sz="1400"/>
              <a:t/>
            </a:r>
          </a:p>
          <a:p xmlns:a="http://schemas.openxmlformats.org/drawingml/2006/main">
            <a:r>
              <a:rPr sz="1400"/>
              <a:t>Overgang: Keer terug naar opgave 1 en laat daarna zelfstandig verder oefenen.</a:t>
            </a:r>
          </a:p>
          <a:p xmlns:a="http://schemas.openxmlformats.org/drawingml/2006/main">
            <a:r>
              <a:rPr sz="1400"/>
              <a:t/>
            </a:r>
          </a:p>
          <a:p xmlns:a="http://schemas.openxmlformats.org/drawingml/2006/main">
            <a:r>
              <a:rPr sz="1400"/>
              <a:t>Bron: Zelfgemaakt uitlegvoorbeeld Kano’s. Context, gegevens en uitkomsten zijn niet uit het boek. Methoden: Leerlingenboek Boek 2, chat-2026, gedrukte pagina 92–95.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 (alleen boekopgaven, niet de verzonnen kanomarkt).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loopt jouw berekening of redenering vast?</a:t>
            </a:r>
          </a:p>
          <a:p xmlns:a="http://schemas.openxmlformats.org/drawingml/2006/main">
            <a:r>
              <a:rPr sz="1400"/>
              <a:t/>
            </a:r>
          </a:p>
          <a:p xmlns:a="http://schemas.openxmlformats.org/drawingml/2006/main">
            <a:r>
              <a:rPr sz="1400"/>
              <a:t>Uitleg: Laat deze dia staan tijdens zelfstandig werken. Start is opgave 1 (p. 101). Er is geen afzonderlijke basis- of zelfstandige sectie: werk na 1 verder aan 2 (p. 102–103) en doel 3 (p. 104–105). Het huiswerk volgens de classroomroute is alle gemengde opgaven 1, 2, 3, 4, 5, 6 en 7 maken en nakijken, met het bonuslabel bij 4 en herhaling bij 5–7 behouden. Dit is een ruimere huiswerkopdracht dan de gedifferentieerde boekroute. De volledige route hoeft niet in één les af te zijn. Start 1 haalt werkelijk onderwezen stof uit §2.3.2 p. 82–84 op: functies gelijkstellen, driehoeken, vergelijking betalingsbereidheid/MK en de grens tussen maximaal TS en eerlijkheid. Bij moeite laat je die uitleg gebruiken en hun eerste vastgelopen stap aanwijzen. Terug bij dit overzicht vóór verder oefenen laat je het startantwoord verbeteren. Meer TS alleen bewijst geen gelijk voordeel voor iedereen.</a:t>
            </a:r>
          </a:p>
          <a:p xmlns:a="http://schemas.openxmlformats.org/drawingml/2006/main">
            <a:r>
              <a:rPr sz="1400"/>
              <a:t/>
            </a:r>
          </a:p>
          <a:p xmlns:a="http://schemas.openxmlformats.org/drawingml/2006/main">
            <a:r>
              <a:rPr sz="1400"/>
              <a:t>Misvatting: De paginanummers zijn de gedrukte boekvoeten. Page 101 is fysieke PDF-pagina 103. Geen nieuwe theorie aannemen op basis van een eerdere paragraaftitel.</a:t>
            </a:r>
          </a:p>
          <a:p xmlns:a="http://schemas.openxmlformats.org/drawingml/2006/main">
            <a:r>
              <a:rPr sz="1400"/>
              <a:t/>
            </a:r>
          </a:p>
          <a:p xmlns:a="http://schemas.openxmlformats.org/drawingml/2006/main">
            <a:r>
              <a:rPr sz="1400"/>
              <a:t>Overgang: Volg de aangegeven lesfase.</a:t>
            </a:r>
          </a:p>
          <a:p xmlns:a="http://schemas.openxmlformats.org/drawingml/2006/main">
            <a:r>
              <a:rPr sz="1400"/>
              <a:t/>
            </a:r>
          </a:p>
          <a:p xmlns:a="http://schemas.openxmlformats.org/drawingml/2006/main">
            <a:r>
              <a:rPr sz="1400"/>
              <a:t>Bron: Leerlingenboek Boek 2, chat-2026, gedrukte pagina 101–106.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functies beschrijven deze markt?</a:t>
            </a:r>
          </a:p>
          <a:p xmlns:a="http://schemas.openxmlformats.org/drawingml/2006/main">
            <a:r>
              <a:rPr sz="1400"/>
              <a:t/>
            </a:r>
          </a:p>
          <a:p xmlns:a="http://schemas.openxmlformats.org/drawingml/2006/main">
            <a:r>
              <a:rPr sz="1400"/>
              <a:t>Uitleg: Begin de bespreking nadat de leerlingen opgave 3 hebben geprobeerd. Dit zijn de boekgegevens, inclusief de irrelevante fietskleur. De bron noemt zelf dat die kleur economisch niet relevant is. Toon daarna de boekingsregel, de basisgrafiek, alle hulpcijfers en alle zes vragen voordat je enige uitwerking onthult.</a:t>
            </a:r>
          </a:p>
          <a:p xmlns:a="http://schemas.openxmlformats.org/drawingml/2006/main">
            <a:r>
              <a:rPr sz="1400"/>
              <a:t/>
            </a:r>
          </a:p>
          <a:p xmlns:a="http://schemas.openxmlformats.org/drawingml/2006/main">
            <a:r>
              <a:rPr sz="1400"/>
              <a:t>Misvatting: Q staat voor huurfietsen, niet voor euro of een geldbedrag.</a:t>
            </a:r>
          </a:p>
          <a:p xmlns:a="http://schemas.openxmlformats.org/drawingml/2006/main">
            <a:r>
              <a:rPr sz="1400"/>
              <a:t/>
            </a:r>
          </a:p>
          <a:p xmlns:a="http://schemas.openxmlformats.org/drawingml/2006/main">
            <a:r>
              <a:rPr sz="1400"/>
              <a:t>Overgang: Lees de volledige boekingsregel.</a:t>
            </a:r>
          </a:p>
          <a:p xmlns:a="http://schemas.openxmlformats.org/drawingml/2006/main">
            <a:r>
              <a:rPr sz="1400"/>
              <a:t/>
            </a:r>
          </a:p>
          <a:p xmlns:a="http://schemas.openxmlformats.org/drawingml/2006/main">
            <a:r>
              <a:rPr sz="1400"/>
              <a:t>Bron: Leerlingenboek Boek 2, chat-2026, gedrukte pagina 104.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wel, en wat blijft gelijk als één boeking extra wordt toegestaan?</a:t>
            </a:r>
          </a:p>
          <a:p xmlns:a="http://schemas.openxmlformats.org/drawingml/2006/main">
            <a:r>
              <a:rPr sz="1400"/>
              <a:t/>
            </a:r>
          </a:p>
          <a:p xmlns:a="http://schemas.openxmlformats.org/drawingml/2006/main">
            <a:r>
              <a:rPr sz="1400"/>
              <a:t>Uitleg: Behoud alle voorwaarden uit de bron. De selectie van kopers en verkopers bepaalt welke gebieden bij het surplus horen. Het maximum is een kosteloos verruimbare administratieve boekingsgrens, geen fysieke capaciteit van 30. Het systeem kan minstens 40 transacties verwerken.</a:t>
            </a:r>
          </a:p>
          <a:p xmlns:a="http://schemas.openxmlformats.org/drawingml/2006/main">
            <a:r>
              <a:rPr sz="1400"/>
              <a:t/>
            </a:r>
          </a:p>
          <a:p xmlns:a="http://schemas.openxmlformats.org/drawingml/2006/main">
            <a:r>
              <a:rPr sz="1400"/>
              <a:t>Misvatting: Geen minimumprijsbeleid of extra beleidsmechanisme toevoegen: de regel is een gegeven van de opgave.</a:t>
            </a:r>
          </a:p>
          <a:p xmlns:a="http://schemas.openxmlformats.org/drawingml/2006/main">
            <a:r>
              <a:rPr sz="1400"/>
              <a:t/>
            </a:r>
          </a:p>
          <a:p xmlns:a="http://schemas.openxmlformats.org/drawingml/2006/main">
            <a:r>
              <a:rPr sz="1400"/>
              <a:t>Overgang: Toon de oorspronkelijke basisgrafiek in bewerkbare vorm.</a:t>
            </a:r>
          </a:p>
          <a:p xmlns:a="http://schemas.openxmlformats.org/drawingml/2006/main">
            <a:r>
              <a:rPr sz="1400"/>
              <a:t/>
            </a:r>
          </a:p>
          <a:p xmlns:a="http://schemas.openxmlformats.org/drawingml/2006/main">
            <a:r>
              <a:rPr sz="1400"/>
              <a:t>Bron: Leerlingenboek Boek 2, chat-2026, gedrukte pagina 104.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en eenheden staan op de assen?</a:t>
            </a:r>
          </a:p>
          <a:p xmlns:a="http://schemas.openxmlformats.org/drawingml/2006/main">
            <a:r>
              <a:rPr sz="1400"/>
              <a:t/>
            </a:r>
          </a:p>
          <a:p xmlns:a="http://schemas.openxmlformats.org/drawingml/2006/main">
            <a:r>
              <a:rPr sz="1400"/>
              <a:t>Uitleg: Dit is de basisgrafiek uit figuur 2, met dezelfde functies, domeinen en schalen: Q en P lopen beide van 0 tot 80. De grafiek is als native XY-grafiek gereconstrueerd. Vrij evenwicht, surplusgebieden en verlies zijn nog niet gemarkeerd. Bij vraag 4 arceren leerlingen in de gegeven grafiek en tekenen de lijnen niet opnieuw.</a:t>
            </a:r>
          </a:p>
          <a:p xmlns:a="http://schemas.openxmlformats.org/drawingml/2006/main">
            <a:r>
              <a:rPr sz="1400"/>
              <a:t/>
            </a:r>
          </a:p>
          <a:p xmlns:a="http://schemas.openxmlformats.org/drawingml/2006/main">
            <a:r>
              <a:rPr sz="1400"/>
              <a:t>Misvatting: Het kruispunt is zichtbaar in de bron, maar nog niet met E of berekende waarden gemarkeerd.</a:t>
            </a:r>
          </a:p>
          <a:p xmlns:a="http://schemas.openxmlformats.org/drawingml/2006/main">
            <a:r>
              <a:rPr sz="1400"/>
              <a:t/>
            </a:r>
          </a:p>
          <a:p xmlns:a="http://schemas.openxmlformats.org/drawingml/2006/main">
            <a:r>
              <a:rPr sz="1400"/>
              <a:t>Overgang: Toon alle hulpcijfers die de bron aanbiedt.</a:t>
            </a:r>
          </a:p>
          <a:p xmlns:a="http://schemas.openxmlformats.org/drawingml/2006/main">
            <a:r>
              <a:rPr sz="1400"/>
              <a:t/>
            </a:r>
          </a:p>
          <a:p xmlns:a="http://schemas.openxmlformats.org/drawingml/2006/main">
            <a:r>
              <a:rPr sz="1400"/>
              <a:t>Bron: Leerlingenboek Boek 2, chat-2026, gedrukte pagina 104.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cijfers horen bij de 30e en welke bij de mogelijke 31e transactie?</a:t>
            </a:r>
          </a:p>
          <a:p xmlns:a="http://schemas.openxmlformats.org/drawingml/2006/main">
            <a:r>
              <a:rPr sz="1400"/>
              <a:t/>
            </a:r>
          </a:p>
          <a:p xmlns:a="http://schemas.openxmlformats.org/drawingml/2006/main">
            <a:r>
              <a:rPr sz="1400"/>
              <a:t>Uitleg: De volledige tabel staat al in de boekbron. Het tonen ervan is het aanbieden van de opgavegegevens, geen vroegtijdige onthulling van een uitgewerkt antwoord. In beide situaties gelden bedragen per huurfiets. De boekbron licht zelf toe waarom de grens bindt.</a:t>
            </a:r>
          </a:p>
          <a:p xmlns:a="http://schemas.openxmlformats.org/drawingml/2006/main">
            <a:r>
              <a:rPr sz="1400"/>
              <a:t/>
            </a:r>
          </a:p>
          <a:p xmlns:a="http://schemas.openxmlformats.org/drawingml/2006/main">
            <a:r>
              <a:rPr sz="1400"/>
              <a:t>Misvatting: Gebruik de grenswaarden 50 en 35 voor de oppervlakken tot 30. De 49 en 35,50 dienen voor de Pareto-toets.</a:t>
            </a:r>
          </a:p>
          <a:p xmlns:a="http://schemas.openxmlformats.org/drawingml/2006/main">
            <a:r>
              <a:rPr sz="1400"/>
              <a:t/>
            </a:r>
          </a:p>
          <a:p xmlns:a="http://schemas.openxmlformats.org/drawingml/2006/main">
            <a:r>
              <a:rPr sz="1400"/>
              <a:t>Overgang: Toon nu eerst alle zes vragen zonder uitwerkingen.</a:t>
            </a:r>
          </a:p>
          <a:p xmlns:a="http://schemas.openxmlformats.org/drawingml/2006/main">
            <a:r>
              <a:rPr sz="1400"/>
              <a:t/>
            </a:r>
          </a:p>
          <a:p xmlns:a="http://schemas.openxmlformats.org/drawingml/2006/main">
            <a:r>
              <a:rPr sz="1400"/>
              <a:t>Bron: Leerlingenboek Boek 2, chat-2026, gedrukte pagina 104.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van jouw stappen vraagt straks uitleg?</a:t>
            </a:r>
          </a:p>
          <a:p xmlns:a="http://schemas.openxmlformats.org/drawingml/2006/main">
            <a:r>
              <a:rPr sz="1400"/>
              <a:t/>
            </a:r>
          </a:p>
          <a:p xmlns:a="http://schemas.openxmlformats.org/drawingml/2006/main">
            <a:r>
              <a:rPr sz="1400"/>
              <a:t>Uitleg: Dit zijn de volledige eerste drie deelvragen. Laat ze beschikbaar zijn vóór de bespreking. De brondia’s kunnen worden teruggehaald. Vraag 1 vraagt zowel bronselectie als berekening. Vraag 3 vraagt expliciet alleen rechthoeken en driehoeken.</a:t>
            </a:r>
          </a:p>
          <a:p xmlns:a="http://schemas.openxmlformats.org/drawingml/2006/main">
            <a:r>
              <a:rPr sz="1400"/>
              <a:t/>
            </a:r>
          </a:p>
          <a:p xmlns:a="http://schemas.openxmlformats.org/drawingml/2006/main">
            <a:r>
              <a:rPr sz="1400"/>
              <a:t>Misvatting: Geen trapeziumformule als vervanging voor de gevraagde methode.</a:t>
            </a:r>
          </a:p>
          <a:p xmlns:a="http://schemas.openxmlformats.org/drawingml/2006/main">
            <a:r>
              <a:rPr sz="1400"/>
              <a:t/>
            </a:r>
          </a:p>
          <a:p xmlns:a="http://schemas.openxmlformats.org/drawingml/2006/main">
            <a:r>
              <a:rPr sz="1400"/>
              <a:t>Overgang: Toon ook vragen 4–6 voordat de antwoorden volgen.</a:t>
            </a:r>
          </a:p>
          <a:p xmlns:a="http://schemas.openxmlformats.org/drawingml/2006/main">
            <a:r>
              <a:rPr sz="1400"/>
              <a:t/>
            </a:r>
          </a:p>
          <a:p xmlns:a="http://schemas.openxmlformats.org/drawingml/2006/main">
            <a:r>
              <a:rPr sz="1400"/>
              <a:t>Bron: Leerlingenboek Boek 2, chat-2026, gedrukte pagina 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jouw antwoord bij vraag 5 méér bevatten dan een groter totaal?</a:t>
            </a:r>
          </a:p>
          <a:p xmlns:a="http://schemas.openxmlformats.org/drawingml/2006/main">
            <a:r>
              <a:rPr sz="1400"/>
              <a:t/>
            </a:r>
          </a:p>
          <a:p xmlns:a="http://schemas.openxmlformats.org/drawingml/2006/main">
            <a:r>
              <a:rPr sz="1400"/>
              <a:t>Uitleg: Dit zijn de volledige vragen 4, 5 en 6. Alle zes vragen zijn nu aangeboden, met volledige bronnen. Begin pas op de volgende dia aan de uitwerking. Vraag 5 vraagt twee bewijzen: vergelijking van de totalen en een concrete haalbare verbetering via de 31e transactie.</a:t>
            </a:r>
          </a:p>
          <a:p xmlns:a="http://schemas.openxmlformats.org/drawingml/2006/main">
            <a:r>
              <a:rPr sz="1400"/>
              <a:t/>
            </a:r>
          </a:p>
          <a:p xmlns:a="http://schemas.openxmlformats.org/drawingml/2006/main">
            <a:r>
              <a:rPr sz="1400"/>
              <a:t>Misvatting: Efficiëntie en eerlijkheid vragen verschillende redeneringen.</a:t>
            </a:r>
          </a:p>
          <a:p xmlns:a="http://schemas.openxmlformats.org/drawingml/2006/main">
            <a:r>
              <a:rPr sz="1400"/>
              <a:t/>
            </a:r>
          </a:p>
          <a:p xmlns:a="http://schemas.openxmlformats.org/drawingml/2006/main">
            <a:r>
              <a:rPr sz="1400"/>
              <a:t>Overgang: Start bij de bronselectie en het vrije evenwicht.</a:t>
            </a:r>
          </a:p>
          <a:p xmlns:a="http://schemas.openxmlformats.org/drawingml/2006/main">
            <a:r>
              <a:rPr sz="1400"/>
              <a:t/>
            </a:r>
          </a:p>
          <a:p xmlns:a="http://schemas.openxmlformats.org/drawingml/2006/main">
            <a:r>
              <a:rPr sz="1400"/>
              <a:t>Bron: Leerlingenboek Boek 2, chat-2026, gedrukte pagina 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de gevonden prijs met de andere functie?</a:t>
            </a:r>
          </a:p>
          <a:p xmlns:a="http://schemas.openxmlformats.org/drawingml/2006/main">
            <a:r>
              <a:rPr sz="1400"/>
              <a:t/>
            </a:r>
          </a:p>
          <a:p xmlns:a="http://schemas.openxmlformats.org/drawingml/2006/main">
            <a:r>
              <a:rPr sz="1400"/>
              <a:t>Uitleg: Vraag 1: selecteer beide functies. De kleur van de fietsen is irrelevant. Trek 20 af en tel Q op aan beide kanten. 60 = 1,5Q geeft 40. Invullen in de vraag geeft 40 euro. Controle via aanbod: 20 + 0,5 × 40 = 40. Het punt E is (40; 40), met Q eerst. Dezelfde assen en lijnen blijven in volgende diagrammen behouden.</a:t>
            </a:r>
          </a:p>
          <a:p xmlns:a="http://schemas.openxmlformats.org/drawingml/2006/main">
            <a:r>
              <a:rPr sz="1400"/>
              <a:t/>
            </a:r>
          </a:p>
          <a:p xmlns:a="http://schemas.openxmlformats.org/drawingml/2006/main">
            <a:r>
              <a:rPr sz="1400"/>
              <a:t>Misvatting: Gebruik niet de regelprijs 45 als vrije evenwichtsprijs.</a:t>
            </a:r>
          </a:p>
          <a:p xmlns:a="http://schemas.openxmlformats.org/drawingml/2006/main">
            <a:r>
              <a:rPr sz="1400"/>
              <a:t/>
            </a:r>
          </a:p>
          <a:p xmlns:a="http://schemas.openxmlformats.org/drawingml/2006/main">
            <a:r>
              <a:rPr sz="1400"/>
              <a:t>Overgang: Kies de surplusgebieden in het vrije evenwicht.</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CS hier tweemaal zo groot als PS?</a:t>
            </a:r>
          </a:p>
          <a:p xmlns:a="http://schemas.openxmlformats.org/drawingml/2006/main">
            <a:r>
              <a:rPr sz="1400"/>
              <a:t/>
            </a:r>
          </a:p>
          <a:p xmlns:a="http://schemas.openxmlformats.org/drawingml/2006/main">
            <a:r>
              <a:rPr sz="1400"/>
              <a:t>Uitleg: Hoogte CS = 80 − 40 = 40 euro per huurfiets. Hoogte PS = 40 − 20 = 20 euro per huurfiets. Beide hebben een basis van 40 huurfietsen. CS ligt onder V en boven P = 40. PS ligt onder die prijs en boven A = MK. De som is het gehele gebied tussen V en A tot 40.</a:t>
            </a:r>
          </a:p>
          <a:p xmlns:a="http://schemas.openxmlformats.org/drawingml/2006/main">
            <a:r>
              <a:rPr sz="1400"/>
              <a:t/>
            </a:r>
          </a:p>
          <a:p xmlns:a="http://schemas.openxmlformats.org/drawingml/2006/main">
            <a:r>
              <a:rPr sz="1400"/>
              <a:t>Misvatting: Het volledige prijsmaalhoeveelheid-vlak is omzet, geen PS.</a:t>
            </a:r>
          </a:p>
          <a:p xmlns:a="http://schemas.openxmlformats.org/drawingml/2006/main">
            <a:r>
              <a:rPr sz="1400"/>
              <a:t/>
            </a:r>
          </a:p>
          <a:p xmlns:a="http://schemas.openxmlformats.org/drawingml/2006/main">
            <a:r>
              <a:rPr sz="1400"/>
              <a:t>Overgang: Reset naar de boekingsregel: prijs 45, werkelijk 30.</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bepaalt de breedte van elk gebied?</a:t>
            </a:r>
          </a:p>
          <a:p xmlns:a="http://schemas.openxmlformats.org/drawingml/2006/main">
            <a:r>
              <a:rPr sz="1400"/>
              <a:t/>
            </a:r>
          </a:p>
          <a:p xmlns:a="http://schemas.openxmlformats.org/drawingml/2006/main">
            <a:r>
              <a:rPr sz="1400"/>
              <a:t>Uitleg: De hulpcijfers 35 en 50 zijn uit de functies te controleren. De grens van 30 ligt onder beide gewenste hoeveelheden. Daarom ligt de rechterrand van beide surplusgebieden op 30. De gegeven efficiënte toewijzing binnen die 30 transacties maakt de standaardgebieden geldig. Zonder die afspraak kunnen dezelfde prijs en hoeveelheid een ander TS opleveren, zoals bonus 4 laat zien.</a:t>
            </a:r>
          </a:p>
          <a:p xmlns:a="http://schemas.openxmlformats.org/drawingml/2006/main">
            <a:r>
              <a:rPr sz="1400"/>
              <a:t/>
            </a:r>
          </a:p>
          <a:p xmlns:a="http://schemas.openxmlformats.org/drawingml/2006/main">
            <a:r>
              <a:rPr sz="1400"/>
              <a:t>Misvatting: Teken geen gebied tot Qd = 35 of Qs = 50.</a:t>
            </a:r>
          </a:p>
          <a:p xmlns:a="http://schemas.openxmlformats.org/drawingml/2006/main">
            <a:r>
              <a:rPr sz="1400"/>
              <a:t/>
            </a:r>
          </a:p>
          <a:p xmlns:a="http://schemas.openxmlformats.org/drawingml/2006/main">
            <a:r>
              <a:rPr sz="1400"/>
              <a:t>Overgang: Bereken eerst het kopersvoordeel bij de regel.</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mis je als je alleen een driehoek rekent?</a:t>
            </a:r>
          </a:p>
          <a:p xmlns:a="http://schemas.openxmlformats.org/drawingml/2006/main">
            <a:r>
              <a:rPr sz="1400"/>
              <a:t/>
            </a:r>
          </a:p>
          <a:p xmlns:a="http://schemas.openxmlformats.org/drawingml/2006/main">
            <a:r>
              <a:rPr sz="1400"/>
              <a:t>Uitleg: Op Q = 30 is V = 50. De regelprijs is 45. Alle 30 huurders hebben minstens 5 euro voordeel: de rechthoek. Boven 50 tot de vraaglijn ligt extra voordeel van huurders met hogere betalingsbereidheid: de driehoek met hoogte 80 − 50 = 30. Beide basissen zijn 30 huurfietsen. Som 150 + 450 = 600 euro. De horizontale stippellijn op 50 splitst het gebied.</a:t>
            </a:r>
          </a:p>
          <a:p xmlns:a="http://schemas.openxmlformats.org/drawingml/2006/main">
            <a:r>
              <a:rPr sz="1400"/>
              <a:t/>
            </a:r>
          </a:p>
          <a:p xmlns:a="http://schemas.openxmlformats.org/drawingml/2006/main">
            <a:r>
              <a:rPr sz="1400"/>
              <a:t>Misvatting: De hoogte van de driehoek is 80 − 50, niet 80 − 45.</a:t>
            </a:r>
          </a:p>
          <a:p xmlns:a="http://schemas.openxmlformats.org/drawingml/2006/main">
            <a:r>
              <a:rPr sz="1400"/>
              <a:t/>
            </a:r>
          </a:p>
          <a:p xmlns:a="http://schemas.openxmlformats.org/drawingml/2006/main">
            <a:r>
              <a:rPr sz="1400"/>
              <a:t>Overgang: Bereken hetzelfde soort splitsing bij de verhuurders.</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het gebied onder de MK-lijn niet bij PS?</a:t>
            </a:r>
          </a:p>
          <a:p xmlns:a="http://schemas.openxmlformats.org/drawingml/2006/main">
            <a:r>
              <a:rPr sz="1400"/>
              <a:t/>
            </a:r>
          </a:p>
          <a:p xmlns:a="http://schemas.openxmlformats.org/drawingml/2006/main">
            <a:r>
              <a:rPr sz="1400"/>
              <a:t>Uitleg: Op Q = 30 zijn de MK 35. Alle 30 verhuurders krijgen minstens 45 − 35 = 10 euro boven hun MK. Die rechthoek is 300. Onder 35 ligt het extra voordeel van de verhuurders met lagere MK: ½ × 30 × (35 − 20) = 225. Som = 525 euro. De stippellijn op 35 splitst het gebied.</a:t>
            </a:r>
          </a:p>
          <a:p xmlns:a="http://schemas.openxmlformats.org/drawingml/2006/main">
            <a:r>
              <a:rPr sz="1400"/>
              <a:t/>
            </a:r>
          </a:p>
          <a:p xmlns:a="http://schemas.openxmlformats.org/drawingml/2006/main">
            <a:r>
              <a:rPr sz="1400"/>
              <a:t>Misvatting: Kosten en voordeel zijn verschillende delen van de opbrengst. PS is ook niet automatisch winst: constante kosten moeten nog worden betaald.</a:t>
            </a:r>
          </a:p>
          <a:p xmlns:a="http://schemas.openxmlformats.org/drawingml/2006/main">
            <a:r>
              <a:rPr sz="1400"/>
              <a:t/>
            </a:r>
          </a:p>
          <a:p xmlns:a="http://schemas.openxmlformats.org/drawingml/2006/main">
            <a:r>
              <a:rPr sz="1400"/>
              <a:t>Overgang: Tel CS en PS op en vergelijk de twee situaties.</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PS stijgen terwijl TS daalt?</a:t>
            </a:r>
          </a:p>
          <a:p xmlns:a="http://schemas.openxmlformats.org/drawingml/2006/main">
            <a:r>
              <a:rPr sz="1400"/>
              <a:t/>
            </a:r>
          </a:p>
          <a:p xmlns:a="http://schemas.openxmlformats.org/drawingml/2006/main">
            <a:r>
              <a:rPr sz="1400"/>
              <a:t>Uitleg: Maak eerst de som 600 + 525 = 1125. Vergelijk pas daarna met het vrije evenwicht. CS daalt 200, PS stijgt 125, TS daalt 75. Deze verdelingsverschuiving en de daling van het totaal worden uit elkaar gehouden. Dit vormt ook het cijferdeel van het antwoord op vraag 5.</a:t>
            </a:r>
          </a:p>
          <a:p xmlns:a="http://schemas.openxmlformats.org/drawingml/2006/main">
            <a:r>
              <a:rPr sz="1400"/>
              <a:t/>
            </a:r>
          </a:p>
          <a:p xmlns:a="http://schemas.openxmlformats.org/drawingml/2006/main">
            <a:r>
              <a:rPr sz="1400"/>
              <a:t>Misvatting: Meer voordeel voor één groep bewijst geen efficiëntere uitkomst.</a:t>
            </a:r>
          </a:p>
          <a:p xmlns:a="http://schemas.openxmlformats.org/drawingml/2006/main">
            <a:r>
              <a:rPr sz="1400"/>
              <a:t/>
            </a:r>
          </a:p>
          <a:p xmlns:a="http://schemas.openxmlformats.org/drawingml/2006/main">
            <a:r>
              <a:rPr sz="1400"/>
              <a:t>Overgang: Lokaliseer de ontbrekende 75 euro in de grafiek.</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hoekpunten begrenzen het verlies?</a:t>
            </a:r>
          </a:p>
          <a:p xmlns:a="http://schemas.openxmlformats.org/drawingml/2006/main">
            <a:r>
              <a:rPr sz="1400"/>
              <a:t/>
            </a:r>
          </a:p>
          <a:p xmlns:a="http://schemas.openxmlformats.org/drawingml/2006/main">
            <a:r>
              <a:rPr sz="1400"/>
              <a:t>Uitleg: Arceer in de bestaande basisgrafiek de driehoek met hoekpunten (30;50), (40;40), (30;35). Zij ligt tussen V en A van Q = 30 tot Q = 40. De horizontale afstand is 10 huurfietsen; de verticale afstand aan de grens is 15 euro per huurfiets. Verlies = ½ × 10 × 15 = 75 euro, gelijk aan 1200 − 1125. De arcering laat het voordeel van niet-doorgegane transacties zien.</a:t>
            </a:r>
          </a:p>
          <a:p xmlns:a="http://schemas.openxmlformats.org/drawingml/2006/main">
            <a:r>
              <a:rPr sz="1400"/>
              <a:t/>
            </a:r>
          </a:p>
          <a:p xmlns:a="http://schemas.openxmlformats.org/drawingml/2006/main">
            <a:r>
              <a:rPr sz="1400"/>
              <a:t>Misvatting: De hoogte is niet de prijs 45 en ook niet de prijsstijging 5.</a:t>
            </a:r>
          </a:p>
          <a:p xmlns:a="http://schemas.openxmlformats.org/drawingml/2006/main">
            <a:r>
              <a:rPr sz="1400"/>
              <a:t/>
            </a:r>
          </a:p>
          <a:p xmlns:a="http://schemas.openxmlformats.org/drawingml/2006/main">
            <a:r>
              <a:rPr sz="1400"/>
              <a:t>Overgang: Beoordeel nu de claim met een concrete extra transactie.</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drie onderdelen maken dit een Pareto-bewijs?</a:t>
            </a:r>
          </a:p>
          <a:p xmlns:a="http://schemas.openxmlformats.org/drawingml/2006/main">
            <a:r>
              <a:rPr sz="1400"/>
              <a:t/>
            </a:r>
          </a:p>
          <a:p xmlns:a="http://schemas.openxmlformats.org/drawingml/2006/main">
            <a:r>
              <a:rPr sz="1400"/>
              <a:t>Uitleg: De uitspraak is onjuist. Het hogere PS bewijst geen efficiëntie: TS daalt. Een zelfstandige Pareto-toets gebruikt de gegeven 31e transactie. De nieuwe huurder wint 4 euro, de nieuwe verhuurder 9,50. Het platform heeft technisch ruimte, verruimen kost niets en bestaande transacties en prijzen blijven gelijk. Binnen de gegeven modelcontext lijdt niemand nadeel. Er bestaat dus een haalbare verbetering. De overgang naar het gehele vrije evenwicht is niet nodig voor dit bewijs en zou door de lagere prijs niet automatisch een Paretoverbetering voor iedereen zijn. De puntvoordelen worden niet als exacte oppervlakte over een geheel interval voorgesteld.</a:t>
            </a:r>
          </a:p>
          <a:p xmlns:a="http://schemas.openxmlformats.org/drawingml/2006/main">
            <a:r>
              <a:rPr sz="1400"/>
              <a:t/>
            </a:r>
          </a:p>
          <a:p xmlns:a="http://schemas.openxmlformats.org/drawingml/2006/main">
            <a:r>
              <a:rPr sz="1400"/>
              <a:t>Misvatting: Een verschil in TS alleen bewijst niet dat niemand slechter af wordt.</a:t>
            </a:r>
          </a:p>
          <a:p xmlns:a="http://schemas.openxmlformats.org/drawingml/2006/main">
            <a:r>
              <a:rPr sz="1400"/>
              <a:t/>
            </a:r>
          </a:p>
          <a:p xmlns:a="http://schemas.openxmlformats.org/drawingml/2006/main">
            <a:r>
              <a:rPr sz="1400"/>
              <a:t>Overgang: Scheid de efficiëntieconclusie van een oordeel over eerlijkheid.</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extra norm gebruik je als je een uitkomst eerlijker noemt?</a:t>
            </a:r>
          </a:p>
          <a:p xmlns:a="http://schemas.openxmlformats.org/drawingml/2006/main">
            <a:r>
              <a:rPr sz="1400"/>
              <a:t/>
            </a:r>
          </a:p>
          <a:p xmlns:a="http://schemas.openxmlformats.org/drawingml/2006/main">
            <a:r>
              <a:rPr sz="1400"/>
              <a:t>Uitleg: De berekeningen tonen de verdeling tussen groepen en het gerealiseerde totale voordeel. Zij geven geen norm voor een eerlijke verdeling, bijvoorbeeld gelijkheid, behoefte of verdienste. Bovendien tonen groepstotalen niet de verdeling binnen de groepen. Beide uitkomsten kunnen door verschillende mensen anders worden gewaardeerd. Controleer het hele eigen antwoord: bronselectie; 40 en 40; 800/400/1200; 600/525/1125; verlies 75 en juiste arcering; haalbare 31e transactie; apart waardeoordeel.</a:t>
            </a:r>
          </a:p>
          <a:p xmlns:a="http://schemas.openxmlformats.org/drawingml/2006/main">
            <a:r>
              <a:rPr sz="1400"/>
              <a:t/>
            </a:r>
          </a:p>
          <a:p xmlns:a="http://schemas.openxmlformats.org/drawingml/2006/main">
            <a:r>
              <a:rPr sz="1400"/>
              <a:t>Misvatting: Pareto-efficiënt is geen synoniem voor rechtvaardig.</a:t>
            </a:r>
          </a:p>
          <a:p xmlns:a="http://schemas.openxmlformats.org/drawingml/2006/main">
            <a:r>
              <a:rPr sz="1400"/>
              <a:t/>
            </a:r>
          </a:p>
          <a:p xmlns:a="http://schemas.openxmlformats.org/drawingml/2006/main">
            <a:r>
              <a:rPr sz="1400"/>
              <a:t>Overgang: Laat de gezamenlijke overzichtsdia staan voor afsluiting en huiswerk.</a:t>
            </a:r>
          </a:p>
          <a:p xmlns:a="http://schemas.openxmlformats.org/drawingml/2006/main">
            <a:r>
              <a:rPr sz="1400"/>
              <a:t/>
            </a:r>
          </a:p>
          <a:p xmlns:a="http://schemas.openxmlformats.org/drawingml/2006/main">
            <a:r>
              <a:rPr sz="1400"/>
              <a:t>Bron: Leerlingenboek Boek 2, chat-2026, gedrukte pagina 104–105.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loopt jouw berekening of redenering vast?</a:t>
            </a:r>
          </a:p>
          <a:p xmlns:a="http://schemas.openxmlformats.org/drawingml/2006/main">
            <a:r>
              <a:rPr sz="1400"/>
              <a:t/>
            </a:r>
          </a:p>
          <a:p xmlns:a="http://schemas.openxmlformats.org/drawingml/2006/main">
            <a:r>
              <a:rPr sz="1400"/>
              <a:t>Uitleg: Laat deze dia staan tijdens afsluiting / huiswerk. Start is opgave 1 (p. 101). Er is geen afzonderlijke basis- of zelfstandige sectie: werk na 1 verder aan 2 (p. 102–103) en doel 3 (p. 104–105). Het huiswerk volgens de classroomroute is alle gemengde opgaven 1, 2, 3, 4, 5, 6 en 7 maken en nakijken, met het bonuslabel bij 4 en herhaling bij 5–7 behouden. Dit is een ruimere huiswerkopdracht dan de gedifferentieerde boekroute. De volledige route hoeft niet in één les af te zijn. Start 1 haalt werkelijk onderwezen stof uit §2.3.2 p. 82–84 op: functies gelijkstellen, driehoeken, vergelijking betalingsbereidheid/MK en de grens tussen maximaal TS en eerlijkheid. Bij moeite laat je die uitleg gebruiken en hun eerste vastgelopen stap aanwijzen. Terug bij dit overzicht vóór verder oefenen laat je het startantwoord verbeteren. Meer TS alleen bewijst geen gelijk voordeel voor iedereen.</a:t>
            </a:r>
          </a:p>
          <a:p xmlns:a="http://schemas.openxmlformats.org/drawingml/2006/main">
            <a:r>
              <a:rPr sz="1400"/>
              <a:t/>
            </a:r>
          </a:p>
          <a:p xmlns:a="http://schemas.openxmlformats.org/drawingml/2006/main">
            <a:r>
              <a:rPr sz="1400"/>
              <a:t>Misvatting: De paginanummers zijn de gedrukte boekvoeten. Page 101 is fysieke PDF-pagina 103. Geen nieuwe theorie aannemen op basis van een eerdere paragraaftitel.</a:t>
            </a:r>
          </a:p>
          <a:p xmlns:a="http://schemas.openxmlformats.org/drawingml/2006/main">
            <a:r>
              <a:rPr sz="1400"/>
              <a:t/>
            </a:r>
          </a:p>
          <a:p xmlns:a="http://schemas.openxmlformats.org/drawingml/2006/main">
            <a:r>
              <a:rPr sz="1400"/>
              <a:t>Overgang: Laat het volledige huiswerk in de agenda zetten.</a:t>
            </a:r>
          </a:p>
          <a:p xmlns:a="http://schemas.openxmlformats.org/drawingml/2006/main">
            <a:r>
              <a:rPr sz="1400"/>
              <a:t/>
            </a:r>
          </a:p>
          <a:p xmlns:a="http://schemas.openxmlformats.org/drawingml/2006/main">
            <a:r>
              <a:rPr sz="1400"/>
              <a:t>Bron: Leerlingenboek Boek 2, chat-2026, gedrukte pagina 101–106. https://github.com/meijer1973/4veco-lessen/blob/d53080f38ebbdbba319e6d9b89dcba86067a72be/Boek%202%20-%20Kosten,%20opbrengsten,%20elasticiteit%20en%20surplus/edities/chat-2026/boek/Boek_2_Compleet.pdf</a:t>
            </a:r>
          </a:p>
          <a:p xmlns:a="http://schemas.openxmlformats.org/drawingml/2006/main">
            <a:r>
              <a:rPr sz="1400"/>
              <a:t>Antwoordmodel: https://github.com/meijer1973/4veco-lessen/blob/d53080f38ebbdbba319e6d9b89dcba86067a72be/Boek%202%20-%20Kosten,%20opbrengsten,%20elasticiteit%20en%20surplus/edities/chat-2026/bronnen/H3/2.3%20Surplus%20en%20welvaart%20%E2%80%93%20antwoorden.md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9aaf7bea8b4f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4db5135a63413b" /><Relationship Type="http://schemas.openxmlformats.org/officeDocument/2006/relationships/slideLayout" Target="/ppt/slideLayouts/slideLayout1.xml" Id="R498f5156c7cf44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8f5156c7cf44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909abf25424256" /><Relationship Type="http://schemas.openxmlformats.org/officeDocument/2006/relationships/notesSlide" Target="/ppt/notesSlides/notesSlide1.xml" Id="R571b10ce85f944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f097e2e2b8409b" /><Relationship Type="http://schemas.openxmlformats.org/officeDocument/2006/relationships/notesSlide" Target="/ppt/notesSlides/notesSlide2.xml" Id="Rdf7da17963ea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950f7d9f534a89" /><Relationship Type="http://schemas.openxmlformats.org/officeDocument/2006/relationships/notesSlide" Target="/ppt/notesSlides/notesSlide3.xml" Id="R34478ae56c9f42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4dd2951e3d4b2c" /><Relationship Type="http://schemas.openxmlformats.org/officeDocument/2006/relationships/notesSlide" Target="/ppt/notesSlides/notesSlide4.xml" Id="R5eebdfa031144b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6afdf3485348bf" /><Relationship Type="http://schemas.openxmlformats.org/officeDocument/2006/relationships/notesSlide" Target="/ppt/notesSlides/notesSlide5.xml" Id="R6ddd13d8ac7d4c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2803f9352e4a78" /><Relationship Type="http://schemas.openxmlformats.org/officeDocument/2006/relationships/notesSlide" Target="/ppt/notesSlides/notesSlide6.xml" Id="Rf59882ce1c7941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bce123fda042b1" /><Relationship Type="http://schemas.openxmlformats.org/officeDocument/2006/relationships/notesSlide" Target="/ppt/notesSlides/notesSlide7.xml" Id="R5d77b315b15143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3cae8a7a9c4da9" /><Relationship Type="http://schemas.openxmlformats.org/officeDocument/2006/relationships/notesSlide" Target="/ppt/notesSlides/notesSlide8.xml" Id="Rceb021991b414b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0acbf9c378645c5" /><Relationship Type="http://schemas.openxmlformats.org/officeDocument/2006/relationships/chart" Target="/ppt/slides/charts/chart1.xml" Id="Rd7e67a04f0564fd8" /><Relationship Type="http://schemas.openxmlformats.org/officeDocument/2006/relationships/notesSlide" Target="/ppt/notesSlides/notesSlide9.xml" Id="Rc03226be811048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9668c3bca24b49" /><Relationship Type="http://schemas.openxmlformats.org/officeDocument/2006/relationships/notesSlide" Target="/ppt/notesSlides/notesSlide10.xml" Id="R57428f8ed9ac49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db7abdb28e4b20" /><Relationship Type="http://schemas.openxmlformats.org/officeDocument/2006/relationships/notesSlide" Target="/ppt/notesSlides/notesSlide11.xml" Id="R4cc891a36b9543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57e402bcd54215" /><Relationship Type="http://schemas.openxmlformats.org/officeDocument/2006/relationships/notesSlide" Target="/ppt/notesSlides/notesSlide12.xml" Id="R9804fc3e8dcb40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35732cc0bd6418b" /><Relationship Type="http://schemas.openxmlformats.org/officeDocument/2006/relationships/chart" Target="/ppt/slides/charts/chart2.xml" Id="Ra152cacbc61c4432" /><Relationship Type="http://schemas.openxmlformats.org/officeDocument/2006/relationships/notesSlide" Target="/ppt/notesSlides/notesSlide13.xml" Id="R29bdff3d373d47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83cea9642049a6" /><Relationship Type="http://schemas.openxmlformats.org/officeDocument/2006/relationships/chart" Target="/ppt/slides/charts/chart3.xml" Id="R14fce75c3f0f443f" /><Relationship Type="http://schemas.openxmlformats.org/officeDocument/2006/relationships/notesSlide" Target="/ppt/notesSlides/notesSlide14.xml" Id="Rfdb1ee30c9fe45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0b48918da9452a" /><Relationship Type="http://schemas.openxmlformats.org/officeDocument/2006/relationships/notesSlide" Target="/ppt/notesSlides/notesSlide15.xml" Id="R70b979c332014f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1eaea4cdea46ca" /><Relationship Type="http://schemas.openxmlformats.org/officeDocument/2006/relationships/chart" Target="/ppt/slides/charts/chart4.xml" Id="R5b5c3c976f974bf6" /><Relationship Type="http://schemas.openxmlformats.org/officeDocument/2006/relationships/notesSlide" Target="/ppt/notesSlides/notesSlide16.xml" Id="R218050466d054d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7aac6be7bd4f96" /><Relationship Type="http://schemas.openxmlformats.org/officeDocument/2006/relationships/chart" Target="/ppt/slides/charts/chart5.xml" Id="R957d4304c8484f28" /><Relationship Type="http://schemas.openxmlformats.org/officeDocument/2006/relationships/notesSlide" Target="/ppt/notesSlides/notesSlide17.xml" Id="Rcbe7d88d7bda47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916080e6764eff" /><Relationship Type="http://schemas.openxmlformats.org/officeDocument/2006/relationships/notesSlide" Target="/ppt/notesSlides/notesSlide18.xml" Id="Rafff715178bd41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bf3b2fdf526428f" /><Relationship Type="http://schemas.openxmlformats.org/officeDocument/2006/relationships/chart" Target="/ppt/slides/charts/chart6.xml" Id="Rd6730dfcd9d84cf5" /><Relationship Type="http://schemas.openxmlformats.org/officeDocument/2006/relationships/notesSlide" Target="/ppt/notesSlides/notesSlide19.xml" Id="R51e9cd17ff984f5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2033fe34b4a41c6" /><Relationship Type="http://schemas.openxmlformats.org/officeDocument/2006/relationships/notesSlide" Target="/ppt/notesSlides/notesSlide20.xml" Id="R80a6f5a997af49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e88b052d194050" /><Relationship Type="http://schemas.openxmlformats.org/officeDocument/2006/relationships/notesSlide" Target="/ppt/notesSlides/notesSlide21.xml" Id="Rdea6434bf675420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e29261a4e624140" /><Relationship Type="http://schemas.openxmlformats.org/officeDocument/2006/relationships/notesSlide" Target="/ppt/notesSlides/notesSlide22.xml" Id="Rf188f61bb10245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ser>
          <c:idx val="2"/>
          <c:order val="2"/>
          <c:tx>
            <c:v>Pe</c:v>
          </c:tx>
          <c:spPr>
            <ns1:ln w="14288">
              <ns1:solidFill>
                <ns1:srgbClr val="445B6B"/>
              </ns1:solidFill>
              <ns1:prstDash val="dash"/>
            </ns1:ln>
          </c:spPr>
          <c:marker>
            <c:symbol val="none"/>
          </c:marker>
          <c:xVal>
            <c:numRef>
              <c:f>'Chart Data'!$E$2:$E$3</c:f>
              <c:numCache>
                <c:formatCode>General</c:formatCode>
                <c:ptCount val="2"/>
                <c:pt idx="0">
                  <c:v>0</c:v>
                </c:pt>
                <c:pt idx="1">
                  <c:v>40</c:v>
                </c:pt>
              </c:numCache>
            </c:numRef>
          </c:xVal>
          <c:yVal>
            <c:numRef>
              <c:f>'Chart Data'!$F$2:$F$3</c:f>
              <c:numCache>
                <c:formatCode>0</c:formatCode>
                <c:ptCount val="2"/>
                <c:pt idx="0">
                  <c:v>40</c:v>
                </c:pt>
                <c:pt idx="1">
                  <c:v>40</c:v>
                </c:pt>
              </c:numCache>
            </c:numRef>
          </c:yVal>
        </c:ser>
        <c:ser>
          <c:idx val="3"/>
          <c:order val="3"/>
          <c:tx>
            <c:v>Qe</c:v>
          </c:tx>
          <c:spPr>
            <ns1:ln w="14288">
              <ns1:solidFill>
                <ns1:srgbClr val="445B6B"/>
              </ns1:solidFill>
              <ns1:prstDash val="dash"/>
            </ns1: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40</c:v>
                </c:pt>
                <c:pt idx="1">
                  <c:v>0</c:v>
                </c:pt>
              </c:numCache>
            </c:numRef>
          </c:yVal>
        </c:ser>
        <c:ser>
          <c:idx val="4"/>
          <c:order val="4"/>
          <c:tx>
            <c:v>E</c:v>
          </c:tx>
          <c:spPr>
            <ns1:ln w="0">
              <ns1:solidFill>
                <ns1:srgbClr val="183247"/>
              </ns1:solidFill>
            </ns1:ln>
          </c:spPr>
          <c:marker>
            <c:symbol val="circle"/>
            <c:size val="9"/>
            <c:spPr>
              <ns1:solidFill>
                <ns1:srgbClr val="183247"/>
              </ns1:solidFill>
            </c:spPr>
          </c:marker>
          <c:xVal>
            <c:numRef>
              <c:f>'Chart Data'!$I$2:$I$2</c:f>
              <c:numCache>
                <c:formatCode>General</c:formatCode>
                <c:ptCount val="1"/>
                <c:pt idx="0">
                  <c:v>40</c:v>
                </c:pt>
              </c:numCache>
            </c:numRef>
          </c:xVal>
          <c:yVal>
            <c:numRef>
              <c:f>'Chart Data'!$J$2:$J$2</c:f>
              <c:numCache>
                <c:formatCode>0</c:formatCode>
                <c:ptCount val="1"/>
                <c:pt idx="0">
                  <c:v>40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ser>
          <c:idx val="2"/>
          <c:order val="2"/>
          <c:tx>
            <c:v>Pe</c:v>
          </c:tx>
          <c:spPr>
            <ns1:ln w="14288">
              <ns1:solidFill>
                <ns1:srgbClr val="445B6B"/>
              </ns1:solidFill>
              <ns1:prstDash val="dash"/>
            </ns1:ln>
          </c:spPr>
          <c:marker>
            <c:symbol val="none"/>
          </c:marker>
          <c:xVal>
            <c:numRef>
              <c:f>'Chart Data'!$E$2:$E$3</c:f>
              <c:numCache>
                <c:formatCode>General</c:formatCode>
                <c:ptCount val="2"/>
                <c:pt idx="0">
                  <c:v>0</c:v>
                </c:pt>
                <c:pt idx="1">
                  <c:v>40</c:v>
                </c:pt>
              </c:numCache>
            </c:numRef>
          </c:xVal>
          <c:yVal>
            <c:numRef>
              <c:f>'Chart Data'!$F$2:$F$3</c:f>
              <c:numCache>
                <c:formatCode>0</c:formatCode>
                <c:ptCount val="2"/>
                <c:pt idx="0">
                  <c:v>40</c:v>
                </c:pt>
                <c:pt idx="1">
                  <c:v>40</c:v>
                </c:pt>
              </c:numCache>
            </c:numRef>
          </c:yVal>
        </c:ser>
        <c:ser>
          <c:idx val="3"/>
          <c:order val="3"/>
          <c:tx>
            <c:v>Qe</c:v>
          </c:tx>
          <c:spPr>
            <ns1:ln w="14288">
              <ns1:solidFill>
                <ns1:srgbClr val="445B6B"/>
              </ns1:solidFill>
              <ns1:prstDash val="dash"/>
            </ns1:ln>
          </c:spPr>
          <c:marker>
            <c:symbol val="none"/>
          </c:marker>
          <c:xVal>
            <c:numRef>
              <c:f>'Chart Data'!$G$2:$G$3</c:f>
              <c:numCache>
                <c:formatCode>General</c:formatCode>
                <c:ptCount val="2"/>
                <c:pt idx="0">
                  <c:v>40</c:v>
                </c:pt>
                <c:pt idx="1">
                  <c:v>40</c:v>
                </c:pt>
              </c:numCache>
            </c:numRef>
          </c:xVal>
          <c:yVal>
            <c:numRef>
              <c:f>'Chart Data'!$H$2:$H$3</c:f>
              <c:numCache>
                <c:formatCode>0</c:formatCode>
                <c:ptCount val="2"/>
                <c:pt idx="0">
                  <c:v>40</c:v>
                </c:pt>
                <c:pt idx="1">
                  <c:v>0</c:v>
                </c:pt>
              </c:numCache>
            </c:numRef>
          </c:yVal>
        </c:ser>
        <c:ser>
          <c:idx val="4"/>
          <c:order val="4"/>
          <c:tx>
            <c:v>E</c:v>
          </c:tx>
          <c:spPr>
            <ns1:ln w="0">
              <ns1:solidFill>
                <ns1:srgbClr val="183247"/>
              </ns1:solidFill>
            </ns1:ln>
          </c:spPr>
          <c:marker>
            <c:symbol val="circle"/>
            <c:size val="9"/>
            <c:spPr>
              <ns1:solidFill>
                <ns1:srgbClr val="183247"/>
              </ns1:solidFill>
            </c:spPr>
          </c:marker>
          <c:xVal>
            <c:numRef>
              <c:f>'Chart Data'!$I$2:$I$2</c:f>
              <c:numCache>
                <c:formatCode>General</c:formatCode>
                <c:ptCount val="1"/>
                <c:pt idx="0">
                  <c:v>40</c:v>
                </c:pt>
              </c:numCache>
            </c:numRef>
          </c:xVal>
          <c:yVal>
            <c:numRef>
              <c:f>'Chart Data'!$J$2:$J$2</c:f>
              <c:numCache>
                <c:formatCode>0</c:formatCode>
                <c:ptCount val="1"/>
                <c:pt idx="0">
                  <c:v>40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ser>
          <c:idx val="2"/>
          <c:order val="2"/>
          <c:tx>
            <c:v>Transactieprijs</c:v>
          </c:tx>
          <c:spPr>
            <ns1:ln w="23813">
              <ns1:solidFill>
                <ns1:srgbClr val="A94D16"/>
              </ns1:solidFill>
              <ns1:prstDash val="dash"/>
            </ns1: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45</c:v>
                </c:pt>
                <c:pt idx="1">
                  <c:v>45</c:v>
                </c:pt>
              </c:numCache>
            </c:numRef>
          </c:yVal>
        </c:ser>
        <c:ser>
          <c:idx val="3"/>
          <c:order val="3"/>
          <c:tx>
            <c:v>Boekingsgrens</c:v>
          </c:tx>
          <c:spPr>
            <ns1:ln w="19050">
              <ns1:solidFill>
                <ns1:srgbClr val="445B6B"/>
              </ns1:solidFill>
              <ns1:prstDash val="dash"/>
            </ns1:ln>
          </c:spPr>
          <c:marker>
            <c:symbol val="none"/>
          </c:marker>
          <c:xVal>
            <c:numRef>
              <c:f>'Chart Data'!$G$2:$G$3</c:f>
              <c:numCache>
                <c:formatCode>General</c:formatCode>
                <c:ptCount val="2"/>
                <c:pt idx="0">
                  <c:v>30</c:v>
                </c:pt>
                <c:pt idx="1">
                  <c:v>30</c:v>
                </c:pt>
              </c:numCache>
            </c:numRef>
          </c:xVal>
          <c:yVal>
            <c:numRef>
              <c:f>'Chart Data'!$H$2:$H$3</c:f>
              <c:numCache>
                <c:formatCode>0</c:formatCode>
                <c:ptCount val="2"/>
                <c:pt idx="0">
                  <c:v>0</c:v>
                </c:pt>
                <c:pt idx="1">
                  <c:v>80</c:v>
                </c:pt>
              </c:numCache>
            </c:numRef>
          </c:yVal>
        </c:ser>
        <c:ser>
          <c:idx val="4"/>
          <c:order val="4"/>
          <c:tx>
            <c:v>Splitsing 50</c:v>
          </c:tx>
          <c:spPr>
            <ns1:ln w="13335">
              <ns1:solidFill>
                <ns1:srgbClr val="445B6B"/>
              </ns1:solidFill>
              <ns1:prstDash val="dash"/>
            </ns1:ln>
          </c:spPr>
          <c:marker>
            <c:symbol val="none"/>
          </c:marker>
          <c:xVal>
            <c:numRef>
              <c:f>'Chart Data'!$I$2:$I$3</c:f>
              <c:numCache>
                <c:formatCode>General</c:formatCode>
                <c:ptCount val="2"/>
                <c:pt idx="0">
                  <c:v>0</c:v>
                </c:pt>
                <c:pt idx="1">
                  <c:v>30</c:v>
                </c:pt>
              </c:numCache>
            </c:numRef>
          </c:xVal>
          <c:yVal>
            <c:numRef>
              <c:f>'Chart Data'!$J$2:$J$3</c:f>
              <c:numCache>
                <c:formatCode>0</c:formatCode>
                <c:ptCount val="2"/>
                <c:pt idx="0">
                  <c:v>50</c:v>
                </c:pt>
                <c:pt idx="1">
                  <c:v>50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ser>
          <c:idx val="2"/>
          <c:order val="2"/>
          <c:tx>
            <c:v>Transactieprijs</c:v>
          </c:tx>
          <c:spPr>
            <ns1:ln w="23813">
              <ns1:solidFill>
                <ns1:srgbClr val="A94D16"/>
              </ns1:solidFill>
              <ns1:prstDash val="dash"/>
            </ns1: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45</c:v>
                </c:pt>
                <c:pt idx="1">
                  <c:v>45</c:v>
                </c:pt>
              </c:numCache>
            </c:numRef>
          </c:yVal>
        </c:ser>
        <c:ser>
          <c:idx val="3"/>
          <c:order val="3"/>
          <c:tx>
            <c:v>Boekingsgrens</c:v>
          </c:tx>
          <c:spPr>
            <ns1:ln w="19050">
              <ns1:solidFill>
                <ns1:srgbClr val="445B6B"/>
              </ns1:solidFill>
              <ns1:prstDash val="dash"/>
            </ns1:ln>
          </c:spPr>
          <c:marker>
            <c:symbol val="none"/>
          </c:marker>
          <c:xVal>
            <c:numRef>
              <c:f>'Chart Data'!$G$2:$G$3</c:f>
              <c:numCache>
                <c:formatCode>General</c:formatCode>
                <c:ptCount val="2"/>
                <c:pt idx="0">
                  <c:v>30</c:v>
                </c:pt>
                <c:pt idx="1">
                  <c:v>30</c:v>
                </c:pt>
              </c:numCache>
            </c:numRef>
          </c:xVal>
          <c:yVal>
            <c:numRef>
              <c:f>'Chart Data'!$H$2:$H$3</c:f>
              <c:numCache>
                <c:formatCode>0</c:formatCode>
                <c:ptCount val="2"/>
                <c:pt idx="0">
                  <c:v>0</c:v>
                </c:pt>
                <c:pt idx="1">
                  <c:v>80</c:v>
                </c:pt>
              </c:numCache>
            </c:numRef>
          </c:yVal>
        </c:ser>
        <c:ser>
          <c:idx val="4"/>
          <c:order val="4"/>
          <c:tx>
            <c:v>Splitsing 35</c:v>
          </c:tx>
          <c:spPr>
            <ns1:ln w="13335">
              <ns1:solidFill>
                <ns1:srgbClr val="445B6B"/>
              </ns1:solidFill>
              <ns1:prstDash val="dash"/>
            </ns1:ln>
          </c:spPr>
          <c:marker>
            <c:symbol val="none"/>
          </c:marker>
          <c:xVal>
            <c:numRef>
              <c:f>'Chart Data'!$I$2:$I$3</c:f>
              <c:numCache>
                <c:formatCode>General</c:formatCode>
                <c:ptCount val="2"/>
                <c:pt idx="0">
                  <c:v>0</c:v>
                </c:pt>
                <c:pt idx="1">
                  <c:v>30</c:v>
                </c:pt>
              </c:numCache>
            </c:numRef>
          </c:xVal>
          <c:yVal>
            <c:numRef>
              <c:f>'Chart Data'!$J$2:$J$3</c:f>
              <c:numCache>
                <c:formatCode>0</c:formatCode>
                <c:ptCount val="2"/>
                <c:pt idx="0">
                  <c:v>35</c:v>
                </c:pt>
                <c:pt idx="1">
                  <c:v>35</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plotArea>
      <c:layout>
        <c:manualLayout>
          <c:layoutTarget val="inner"/>
          <c:xMode val="edge"/>
          <c:yMode val="edge"/>
          <c:wMode val="factor"/>
          <c:hMode val="factor"/>
          <c:x val="0.14"/>
          <c:y val="0.06"/>
          <c:w val="0.82"/>
          <c:h val="0.8"/>
        </c:manualLayout>
      </c:layout>
      <c:scatterChart>
        <c:scatterStyle val="line"/>
        <c:ser>
          <c:idx val="0"/>
          <c:order val="0"/>
          <c:tx>
            <c:v>V</c:v>
          </c:tx>
          <c:spPr>
            <ns1:ln w="38100">
              <ns1:solidFill>
                <ns1:srgbClr val="17658A"/>
              </ns1:solidFill>
            </ns1:ln>
          </c:spPr>
          <c:marker>
            <c:symbol val="none"/>
          </c:marker>
          <c:xVal>
            <c:numRef>
              <c:f>'Chart Data'!$A$2:$A$3</c:f>
              <c:numCache>
                <c:formatCode>General</c:formatCode>
                <c:ptCount val="2"/>
                <c:pt idx="0">
                  <c:v>0</c:v>
                </c:pt>
                <c:pt idx="1">
                  <c:v>80</c:v>
                </c:pt>
              </c:numCache>
            </c:numRef>
          </c:xVal>
          <c:yVal>
            <c:numRef>
              <c:f>'Chart Data'!$B$2:$B$3</c:f>
              <c:numCache>
                <c:formatCode>0</c:formatCode>
                <c:ptCount val="2"/>
                <c:pt idx="0">
                  <c:v>80</c:v>
                </c:pt>
                <c:pt idx="1">
                  <c:v>0</c:v>
                </c:pt>
              </c:numCache>
            </c:numRef>
          </c:yVal>
        </c:ser>
        <c:ser>
          <c:idx val="1"/>
          <c:order val="1"/>
          <c:tx>
            <c:v>A = MK</c:v>
          </c:tx>
          <c:spPr>
            <ns1:ln w="38100">
              <ns1:solidFill>
                <ns1:srgbClr val="20665B"/>
              </ns1:solidFill>
            </ns1:ln>
          </c:spPr>
          <c:marker>
            <c:symbol val="none"/>
          </c:marker>
          <c:xVal>
            <c:numRef>
              <c:f>'Chart Data'!$C$2:$C$3</c:f>
              <c:numCache>
                <c:formatCode>General</c:formatCode>
                <c:ptCount val="2"/>
                <c:pt idx="0">
                  <c:v>0</c:v>
                </c:pt>
                <c:pt idx="1">
                  <c:v>80</c:v>
                </c:pt>
              </c:numCache>
            </c:numRef>
          </c:xVal>
          <c:yVal>
            <c:numRef>
              <c:f>'Chart Data'!$D$2:$D$3</c:f>
              <c:numCache>
                <c:formatCode>0</c:formatCode>
                <c:ptCount val="2"/>
                <c:pt idx="0">
                  <c:v>20</c:v>
                </c:pt>
                <c:pt idx="1">
                  <c:v>60</c:v>
                </c:pt>
              </c:numCache>
            </c:numRef>
          </c:yVal>
        </c:ser>
        <c:ser>
          <c:idx val="2"/>
          <c:order val="2"/>
          <c:tx>
            <c:v>Transactieprijs</c:v>
          </c:tx>
          <c:spPr>
            <ns1:ln w="23813">
              <ns1:solidFill>
                <ns1:srgbClr val="A94D16"/>
              </ns1:solidFill>
              <ns1:prstDash val="dash"/>
            </ns1:ln>
          </c:spPr>
          <c:marker>
            <c:symbol val="none"/>
          </c:marker>
          <c:xVal>
            <c:numRef>
              <c:f>'Chart Data'!$E$2:$E$3</c:f>
              <c:numCache>
                <c:formatCode>General</c:formatCode>
                <c:ptCount val="2"/>
                <c:pt idx="0">
                  <c:v>0</c:v>
                </c:pt>
                <c:pt idx="1">
                  <c:v>80</c:v>
                </c:pt>
              </c:numCache>
            </c:numRef>
          </c:xVal>
          <c:yVal>
            <c:numRef>
              <c:f>'Chart Data'!$F$2:$F$3</c:f>
              <c:numCache>
                <c:formatCode>0</c:formatCode>
                <c:ptCount val="2"/>
                <c:pt idx="0">
                  <c:v>45</c:v>
                </c:pt>
                <c:pt idx="1">
                  <c:v>45</c:v>
                </c:pt>
              </c:numCache>
            </c:numRef>
          </c:yVal>
        </c:ser>
        <c:ser>
          <c:idx val="3"/>
          <c:order val="3"/>
          <c:tx>
            <c:v>Boekingsgrens</c:v>
          </c:tx>
          <c:spPr>
            <ns1:ln w="19050">
              <ns1:solidFill>
                <ns1:srgbClr val="445B6B"/>
              </ns1:solidFill>
              <ns1:prstDash val="dash"/>
            </ns1:ln>
          </c:spPr>
          <c:marker>
            <c:symbol val="none"/>
          </c:marker>
          <c:xVal>
            <c:numRef>
              <c:f>'Chart Data'!$G$2:$G$3</c:f>
              <c:numCache>
                <c:formatCode>General</c:formatCode>
                <c:ptCount val="2"/>
                <c:pt idx="0">
                  <c:v>30</c:v>
                </c:pt>
                <c:pt idx="1">
                  <c:v>30</c:v>
                </c:pt>
              </c:numCache>
            </c:numRef>
          </c:xVal>
          <c:yVal>
            <c:numRef>
              <c:f>'Chart Data'!$H$2:$H$3</c:f>
              <c:numCache>
                <c:formatCode>0</c:formatCode>
                <c:ptCount val="2"/>
                <c:pt idx="0">
                  <c:v>0</c:v>
                </c:pt>
                <c:pt idx="1">
                  <c:v>80</c:v>
                </c:pt>
              </c:numCache>
            </c:numRef>
          </c:yVal>
        </c:ser>
        <c:ser>
          <c:idx val="4"/>
          <c:order val="4"/>
          <c:tx>
            <c:v>Pe</c:v>
          </c:tx>
          <c:spPr>
            <ns1:ln w="14288">
              <ns1:solidFill>
                <ns1:srgbClr val="445B6B"/>
              </ns1:solidFill>
              <ns1:prstDash val="dash"/>
            </ns1:ln>
          </c:spPr>
          <c:marker>
            <c:symbol val="none"/>
          </c:marker>
          <c:xVal>
            <c:numRef>
              <c:f>'Chart Data'!$I$2:$I$3</c:f>
              <c:numCache>
                <c:formatCode>General</c:formatCode>
                <c:ptCount val="2"/>
                <c:pt idx="0">
                  <c:v>0</c:v>
                </c:pt>
                <c:pt idx="1">
                  <c:v>40</c:v>
                </c:pt>
              </c:numCache>
            </c:numRef>
          </c:xVal>
          <c:yVal>
            <c:numRef>
              <c:f>'Chart Data'!$J$2:$J$3</c:f>
              <c:numCache>
                <c:formatCode>0</c:formatCode>
                <c:ptCount val="2"/>
                <c:pt idx="0">
                  <c:v>40</c:v>
                </c:pt>
                <c:pt idx="1">
                  <c:v>40</c:v>
                </c:pt>
              </c:numCache>
            </c:numRef>
          </c:yVal>
        </c:ser>
        <c:ser>
          <c:idx val="5"/>
          <c:order val="5"/>
          <c:tx>
            <c:v>Qe</c:v>
          </c:tx>
          <c:spPr>
            <ns1:ln w="14288">
              <ns1:solidFill>
                <ns1:srgbClr val="445B6B"/>
              </ns1:solidFill>
              <ns1:prstDash val="dash"/>
            </ns1:ln>
          </c:spPr>
          <c:marker>
            <c:symbol val="none"/>
          </c:marker>
          <c:xVal>
            <c:numRef>
              <c:f>'Chart Data'!$K$2:$K$3</c:f>
              <c:numCache>
                <c:formatCode>General</c:formatCode>
                <c:ptCount val="2"/>
                <c:pt idx="0">
                  <c:v>40</c:v>
                </c:pt>
                <c:pt idx="1">
                  <c:v>40</c:v>
                </c:pt>
              </c:numCache>
            </c:numRef>
          </c:xVal>
          <c:yVal>
            <c:numRef>
              <c:f>'Chart Data'!$L$2:$L$3</c:f>
              <c:numCache>
                <c:formatCode>0</c:formatCode>
                <c:ptCount val="2"/>
                <c:pt idx="0">
                  <c:v>40</c:v>
                </c:pt>
                <c:pt idx="1">
                  <c:v>0</c:v>
                </c:pt>
              </c:numCache>
            </c:numRef>
          </c:yVal>
        </c:ser>
        <c:ser>
          <c:idx val="6"/>
          <c:order val="6"/>
          <c:tx>
            <c:v>E</c:v>
          </c:tx>
          <c:spPr>
            <ns1:ln w="0">
              <ns1:solidFill>
                <ns1:srgbClr val="183247"/>
              </ns1:solidFill>
            </ns1:ln>
          </c:spPr>
          <c:marker>
            <c:symbol val="circle"/>
            <c:size val="9"/>
            <c:spPr>
              <ns1:solidFill>
                <ns1:srgbClr val="183247"/>
              </ns1:solidFill>
            </c:spPr>
          </c:marker>
          <c:xVal>
            <c:numRef>
              <c:f>'Chart Data'!$M$2:$M$2</c:f>
              <c:numCache>
                <c:formatCode>General</c:formatCode>
                <c:ptCount val="1"/>
                <c:pt idx="0">
                  <c:v>40</c:v>
                </c:pt>
              </c:numCache>
            </c:numRef>
          </c:xVal>
          <c:yVal>
            <c:numRef>
              <c:f>'Chart Data'!$N$2:$N$2</c:f>
              <c:numCache>
                <c:formatCode>0</c:formatCode>
                <c:ptCount val="1"/>
                <c:pt idx="0">
                  <c:v>40</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ns1:ln w="5715">
              <ns1:solidFill>
                <ns1:srgbClr val="C6D2DB"/>
              </ns1:solidFill>
            </ns1:ln>
          </c:spPr>
        </c:majorGridlines>
        <c:title>
          <c:tx>
            <c:rich>
              <ns1:bodyPr/>
              <ns1:lstStyle/>
              <ns1:p>
                <ns1:r>
                  <ns1:rPr sz="1875">
                    <ns1:solidFill>
                      <ns1:srgbClr val="183247"/>
                    </ns1:solidFill>
                    <ns1:latin typeface="Arial"/>
                    <ns1:ea typeface="Arial"/>
                    <ns1:cs typeface="Arial"/>
                  </ns1:rPr>
                  <ns1:t>P (€ per huurfiets)</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50112"/>
        <c:majorUnit val="10"/>
      </c:valAx>
      <c:valAx>
        <c:axId val="48650112"/>
        <c:scaling>
          <c:orientation val="minMax"/>
          <c:max val="80"/>
          <c:min val="0"/>
        </c:scaling>
        <c:delete val="0"/>
        <c:axPos val="b"/>
        <c:title>
          <c:tx>
            <c:rich>
              <ns1:bodyPr/>
              <ns1:lstStyle/>
              <ns1:p>
                <ns1:r>
                  <ns1:rPr sz="1875">
                    <ns1:solidFill>
                      <ns1:srgbClr val="183247"/>
                    </ns1:solidFill>
                    <ns1:latin typeface="Arial"/>
                    <ns1:ea typeface="Arial"/>
                    <ns1:cs typeface="Arial"/>
                  </ns1:rPr>
                  <ns1:t>Q (huurfietsen)</ns1:t>
                </ns1:r>
              </ns1:p>
            </c:rich>
          </c:tx>
          <c:overlay val="0"/>
          <c:txPr>
            <ns1:bodyPr anchorCtr="1"/>
            <ns1:lstStyle/>
            <ns1:p>
              <ns1:pPr>
                <ns1:defRPr sz="1875">
                  <ns1:solidFill>
                    <ns1:srgbClr val="183247"/>
                  </ns1:solidFill>
                  <ns1:latin typeface="Arial"/>
                  <ns1:ea typeface="Arial"/>
                  <ns1:cs typeface="Arial"/>
                </ns1:defRPr>
              </ns1:pPr>
            </ns1:p>
          </c:txPr>
        </c:title>
        <c:numFmt formatCode="0"/>
        <c:majorTickMark val="none"/>
        <c:minorTickMark val="none"/>
        <c:spPr>
          <ns1:ln w="14288">
            <ns1:solidFill>
              <ns1:srgbClr val="183247"/>
            </ns1:solidFill>
          </ns1:ln>
        </c:spPr>
        <c:txPr>
          <ns1:bodyPr anchorCtr="1"/>
          <ns1:lstStyle/>
          <ns1:p>
            <ns1:pPr>
              <ns1:defRPr sz="1800">
                <ns1:solidFill>
                  <ns1:srgbClr val="183247"/>
                </ns1:solidFill>
                <ns1:latin typeface="Arial"/>
                <ns1:ea typeface="Arial"/>
                <ns1:cs typeface="Arial"/>
              </ns1:defRPr>
            </ns1:pPr>
          </ns1:p>
        </c:txPr>
        <c:crossAx val="48672768"/>
        <c:majorUnit val="10"/>
      </c:valAx>
      <c:spPr>
        <ns1:noFill/>
      </c:spPr>
    </c:plotArea>
    <c:plotVisOnly val="1"/>
  </c:chart>
  <c:spPr>
    <ns1:no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4 Gemengde opgaven">
            <a:extLst xmlns:a="http://schemas.openxmlformats.org/drawingml/2006/main">
              <a:ext uri="{FF2B5EF4-FFF2-40B4-BE49-F238E27FC236}">
                <a16:creationId xmlns:a16="http://schemas.microsoft.com/office/drawing/2014/main" id="{F6C521C1-3957-41FB-86A2-8C8CD8A2395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§2.3.4 Gemengde opgaven</a:t>
            </a:r>
          </a:p>
        </p:txBody>
      </p:sp>
      <p:sp>
        <p:nvSpPr>
          <p:cNvPr id="2" name="">
            <a:extLst xmlns:a="http://schemas.openxmlformats.org/drawingml/2006/main">
              <a:ext uri="{FF2B5EF4-FFF2-40B4-BE49-F238E27FC236}">
                <a16:creationId xmlns:a16="http://schemas.microsoft.com/office/drawing/2014/main" id="{F5A6D6B3-D67A-479B-975C-3259E2BC444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0075DC0-D8C2-4EA2-B66E-CE35B4277D5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a:t>
            </a:r>
          </a:p>
        </p:txBody>
      </p:sp>
      <p:sp>
        <p:nvSpPr>
          <p:cNvPr id="4" name="slide-number">
            <a:extLst xmlns:a="http://schemas.openxmlformats.org/drawingml/2006/main">
              <a:ext uri="{FF2B5EF4-FFF2-40B4-BE49-F238E27FC236}">
                <a16:creationId xmlns:a16="http://schemas.microsoft.com/office/drawing/2014/main" id="{0EDE47C7-9826-4CC9-8578-D7AEF9B911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D5588C4-D4F4-475F-8F8A-74F2FFD5CCD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DDE2B004-9F95-4D69-A25C-143DE416E51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AEA279A7-70C7-4D1F-B9A5-A7DA0A6522F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2BBEF516-2C31-4F23-9C4B-CAF059DB3DF8}"/>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4499567B-C609-4EFF-A040-6D8BB3C826D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9841AF3-2A2E-42C5-BCBE-0FE3A39838E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B91C1F2-ADBB-461A-AAEC-B97DAD17385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3CA1550F-B3FD-4F86-A51C-446921C96F1A}"/>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0F12DD99-C17C-4CF6-BCE7-28A7BF844E12}"/>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DABCC613-876A-41B1-98EF-0E0F16BD29C7}"/>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9B8B2794-4EED-4058-B680-08F0B72BC187}"/>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8004F2E-6AE4-49EE-838C-92733C9B70C8}"/>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252BC5D-132B-4717-AFFF-18199F35E0AB}"/>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49FC0A3-7826-4AD0-8D2C-CB287AF9340D}"/>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a:t>
            </a:r>
          </a:p>
        </p:txBody>
      </p:sp>
      <p:sp>
        <p:nvSpPr>
          <p:cNvPr id="19" name="route-number-7">
            <a:extLst xmlns:a="http://schemas.openxmlformats.org/drawingml/2006/main">
              <a:ext uri="{FF2B5EF4-FFF2-40B4-BE49-F238E27FC236}">
                <a16:creationId xmlns:a16="http://schemas.microsoft.com/office/drawing/2014/main" id="{FA547BED-B896-4460-B400-7EABCFE0B1E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946F965E-D5EF-4686-860D-12A4D4966B8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60738B5-F147-48D4-8B02-5862DAC1F2B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517281C-0E38-436A-ABB5-97334135D6E4}"/>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surplus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Welvaartsverlies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76EFD98E-61E4-4AEC-80EF-2D309C19616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414AEED-8085-4843-8875-FC05FAEEE26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74FC232-65CD-4BDC-A665-F2BFC9528C20}"/>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101 · Opgave 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Steun: theorie p. 82–84</a:t>
            </a:r>
          </a:p>
        </p:txBody>
      </p:sp>
      <p:sp>
        <p:nvSpPr>
          <p:cNvPr id="26" name="">
            <a:extLst xmlns:a="http://schemas.openxmlformats.org/drawingml/2006/main">
              <a:ext uri="{FF2B5EF4-FFF2-40B4-BE49-F238E27FC236}">
                <a16:creationId xmlns:a16="http://schemas.microsoft.com/office/drawing/2014/main" id="{4EAED2A8-A035-43CB-9242-08D04D66433B}"/>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C627ECF-A3E3-40D1-9B41-59D49C3CE03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DF2B1B8-458C-40A5-9669-4961981F63A2}"/>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§2.3.4 · Opgaven 1, 2, 3, 4, 5, 6,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 = bonus · 5–7 = herhaling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2 · Doelopgave: 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2136906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anpak bij gemengde opgaven">
            <a:extLst xmlns:a="http://schemas.openxmlformats.org/drawingml/2006/main">
              <a:ext uri="{FF2B5EF4-FFF2-40B4-BE49-F238E27FC236}">
                <a16:creationId xmlns:a16="http://schemas.microsoft.com/office/drawing/2014/main" id="{E1991C1D-EFAC-4E6E-9F17-4C3AF5E4F4C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Aanpak bij gemengde opgaven</a:t>
            </a:r>
          </a:p>
        </p:txBody>
      </p:sp>
      <p:sp>
        <p:nvSpPr>
          <p:cNvPr id="2" name="">
            <a:extLst xmlns:a="http://schemas.openxmlformats.org/drawingml/2006/main">
              <a:ext uri="{FF2B5EF4-FFF2-40B4-BE49-F238E27FC236}">
                <a16:creationId xmlns:a16="http://schemas.microsoft.com/office/drawing/2014/main" id="{D9A398C0-49D1-41DD-9047-0B0971732F0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730BFDC-EF19-48B4-AC73-052B44552EF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a:t>
            </a:r>
          </a:p>
        </p:txBody>
      </p:sp>
      <p:sp>
        <p:nvSpPr>
          <p:cNvPr id="4" name="slide-number">
            <a:extLst xmlns:a="http://schemas.openxmlformats.org/drawingml/2006/main">
              <a:ext uri="{FF2B5EF4-FFF2-40B4-BE49-F238E27FC236}">
                <a16:creationId xmlns:a16="http://schemas.microsoft.com/office/drawing/2014/main" id="{F0BC1E85-16B2-49FE-8351-DA394B731F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1 · Hoeveelheid">
            <a:extLst xmlns:a="http://schemas.openxmlformats.org/drawingml/2006/main">
              <a:ext uri="{FF2B5EF4-FFF2-40B4-BE49-F238E27FC236}">
                <a16:creationId xmlns:a16="http://schemas.microsoft.com/office/drawing/2014/main" id="{0112B717-4E5A-41DF-A6E7-DF221797BE7D}"/>
              </a:ext>
            </a:extLst>
          </p:cNvPr>
          <p:cNvSpPr>
            <a:spLocks xmlns:a="http://schemas.openxmlformats.org/drawingml/2006/main" noGrp="1"/>
          </p:cNvSpPr>
          <p:nvPr/>
        </p:nvSpPr>
        <p:spPr>
          <a:xfrm xmlns:a="http://schemas.openxmlformats.org/drawingml/2006/main">
            <a:off x="571500" y="206692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1 · Hoeveelheid</a:t>
            </a:r>
          </a:p>
        </p:txBody>
      </p:sp>
      <p:sp>
        <p:nvSpPr>
          <p:cNvPr id="6" name="Vrij evenwicht of werkelijke transacties?">
            <a:extLst xmlns:a="http://schemas.openxmlformats.org/drawingml/2006/main">
              <a:ext uri="{FF2B5EF4-FFF2-40B4-BE49-F238E27FC236}">
                <a16:creationId xmlns:a16="http://schemas.microsoft.com/office/drawing/2014/main" id="{1E84248B-9C0D-4D51-BB84-7E9C1F3D0BE5}"/>
              </a:ext>
            </a:extLst>
          </p:cNvPr>
          <p:cNvSpPr>
            <a:spLocks xmlns:a="http://schemas.openxmlformats.org/drawingml/2006/main" noGrp="1"/>
          </p:cNvSpPr>
          <p:nvPr/>
        </p:nvSpPr>
        <p:spPr>
          <a:xfrm xmlns:a="http://schemas.openxmlformats.org/drawingml/2006/main">
            <a:off x="5429250" y="2066925"/>
            <a:ext cx="923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Vrij evenwicht of werkelijke transacties?</a:t>
            </a:r>
          </a:p>
        </p:txBody>
      </p:sp>
      <p:sp>
        <p:nvSpPr>
          <p:cNvPr id="7" name="">
            <a:extLst xmlns:a="http://schemas.openxmlformats.org/drawingml/2006/main">
              <a:ext uri="{FF2B5EF4-FFF2-40B4-BE49-F238E27FC236}">
                <a16:creationId xmlns:a16="http://schemas.microsoft.com/office/drawing/2014/main" id="{1415279F-C490-4C93-BAA6-246E5EE43225}"/>
              </a:ext>
            </a:extLst>
          </p:cNvPr>
          <p:cNvSpPr>
            <a:spLocks xmlns:a="http://schemas.openxmlformats.org/drawingml/2006/main" noGrp="1"/>
          </p:cNvSpPr>
          <p:nvPr/>
        </p:nvSpPr>
        <p:spPr>
          <a:xfrm xmlns:a="http://schemas.openxmlformats.org/drawingml/2006/main">
            <a:off x="571500" y="3114675"/>
            <a:ext cx="14097000" cy="0"/>
          </a:xfrm>
          <a:prstGeom xmlns:a="http://schemas.openxmlformats.org/drawingml/2006/main" prst="line">
            <a:avLst/>
          </a:prstGeom>
          <a:ln xmlns:a="http://schemas.openxmlformats.org/drawingml/2006/main" w="19050">
            <a:solidFill>
              <a:srgbClr val="C6D2DB"/>
            </a:solidFill>
          </a:ln>
        </p:spPr>
      </p:sp>
      <p:sp>
        <p:nvSpPr>
          <p:cNvPr id="8" name="2 · Gebied">
            <a:extLst xmlns:a="http://schemas.openxmlformats.org/drawingml/2006/main">
              <a:ext uri="{FF2B5EF4-FFF2-40B4-BE49-F238E27FC236}">
                <a16:creationId xmlns:a16="http://schemas.microsoft.com/office/drawing/2014/main" id="{C6135D40-DFEB-4AEA-B3B9-8D7C2832C252}"/>
              </a:ext>
            </a:extLst>
          </p:cNvPr>
          <p:cNvSpPr>
            <a:spLocks xmlns:a="http://schemas.openxmlformats.org/drawingml/2006/main" noGrp="1"/>
          </p:cNvSpPr>
          <p:nvPr/>
        </p:nvSpPr>
        <p:spPr>
          <a:xfrm xmlns:a="http://schemas.openxmlformats.org/drawingml/2006/main">
            <a:off x="571500" y="343852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2 · Gebied</a:t>
            </a:r>
          </a:p>
        </p:txBody>
      </p:sp>
      <p:sp>
        <p:nvSpPr>
          <p:cNvPr id="9" name="Wie handelt? Waar stoppen CS en PS?">
            <a:extLst xmlns:a="http://schemas.openxmlformats.org/drawingml/2006/main">
              <a:ext uri="{FF2B5EF4-FFF2-40B4-BE49-F238E27FC236}">
                <a16:creationId xmlns:a16="http://schemas.microsoft.com/office/drawing/2014/main" id="{FB83860C-5907-43E3-B290-756C900A2357}"/>
              </a:ext>
            </a:extLst>
          </p:cNvPr>
          <p:cNvSpPr>
            <a:spLocks xmlns:a="http://schemas.openxmlformats.org/drawingml/2006/main" noGrp="1"/>
          </p:cNvSpPr>
          <p:nvPr/>
        </p:nvSpPr>
        <p:spPr>
          <a:xfrm xmlns:a="http://schemas.openxmlformats.org/drawingml/2006/main">
            <a:off x="5429250" y="3438525"/>
            <a:ext cx="923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Wie handelt? Waar stoppen CS en PS?</a:t>
            </a:r>
          </a:p>
        </p:txBody>
      </p:sp>
      <p:sp>
        <p:nvSpPr>
          <p:cNvPr id="10" name="">
            <a:extLst xmlns:a="http://schemas.openxmlformats.org/drawingml/2006/main">
              <a:ext uri="{FF2B5EF4-FFF2-40B4-BE49-F238E27FC236}">
                <a16:creationId xmlns:a16="http://schemas.microsoft.com/office/drawing/2014/main" id="{E9B1A33E-35EC-4C6E-98C7-0F1E958FF7D7}"/>
              </a:ext>
            </a:extLst>
          </p:cNvPr>
          <p:cNvSpPr>
            <a:spLocks xmlns:a="http://schemas.openxmlformats.org/drawingml/2006/main" noGrp="1"/>
          </p:cNvSpPr>
          <p:nvPr/>
        </p:nvSpPr>
        <p:spPr>
          <a:xfrm xmlns:a="http://schemas.openxmlformats.org/drawingml/2006/main">
            <a:off x="571500" y="4486275"/>
            <a:ext cx="14097000" cy="0"/>
          </a:xfrm>
          <a:prstGeom xmlns:a="http://schemas.openxmlformats.org/drawingml/2006/main" prst="line">
            <a:avLst/>
          </a:prstGeom>
          <a:ln xmlns:a="http://schemas.openxmlformats.org/drawingml/2006/main" w="19050">
            <a:solidFill>
              <a:srgbClr val="C6D2DB"/>
            </a:solidFill>
          </a:ln>
        </p:spPr>
      </p:sp>
      <p:sp>
        <p:nvSpPr>
          <p:cNvPr id="11" name="3 · Berekening">
            <a:extLst xmlns:a="http://schemas.openxmlformats.org/drawingml/2006/main">
              <a:ext uri="{FF2B5EF4-FFF2-40B4-BE49-F238E27FC236}">
                <a16:creationId xmlns:a16="http://schemas.microsoft.com/office/drawing/2014/main" id="{8A89C489-0E6C-4D82-98EB-81BEB5A77FCB}"/>
              </a:ext>
            </a:extLst>
          </p:cNvPr>
          <p:cNvSpPr>
            <a:spLocks xmlns:a="http://schemas.openxmlformats.org/drawingml/2006/main" noGrp="1"/>
          </p:cNvSpPr>
          <p:nvPr/>
        </p:nvSpPr>
        <p:spPr>
          <a:xfrm xmlns:a="http://schemas.openxmlformats.org/drawingml/2006/main">
            <a:off x="571500" y="481012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3 · Berekening</a:t>
            </a:r>
          </a:p>
        </p:txBody>
      </p:sp>
      <p:sp>
        <p:nvSpPr>
          <p:cNvPr id="12" name="Basis en hoogte, euro’s, daarna CS + PS.">
            <a:extLst xmlns:a="http://schemas.openxmlformats.org/drawingml/2006/main">
              <a:ext uri="{FF2B5EF4-FFF2-40B4-BE49-F238E27FC236}">
                <a16:creationId xmlns:a16="http://schemas.microsoft.com/office/drawing/2014/main" id="{7EF5E1C4-43FE-41E5-A7E0-F44B50FACB73}"/>
              </a:ext>
            </a:extLst>
          </p:cNvPr>
          <p:cNvSpPr>
            <a:spLocks xmlns:a="http://schemas.openxmlformats.org/drawingml/2006/main" noGrp="1"/>
          </p:cNvSpPr>
          <p:nvPr/>
        </p:nvSpPr>
        <p:spPr>
          <a:xfrm xmlns:a="http://schemas.openxmlformats.org/drawingml/2006/main">
            <a:off x="5429250" y="4810125"/>
            <a:ext cx="923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Basis en hoogte, euro’s, daarna CS + PS.</a:t>
            </a:r>
          </a:p>
        </p:txBody>
      </p:sp>
      <p:sp>
        <p:nvSpPr>
          <p:cNvPr id="13" name="">
            <a:extLst xmlns:a="http://schemas.openxmlformats.org/drawingml/2006/main">
              <a:ext uri="{FF2B5EF4-FFF2-40B4-BE49-F238E27FC236}">
                <a16:creationId xmlns:a16="http://schemas.microsoft.com/office/drawing/2014/main" id="{FDD55606-2729-4C86-BA09-278D4A8B7B81}"/>
              </a:ext>
            </a:extLst>
          </p:cNvPr>
          <p:cNvSpPr>
            <a:spLocks xmlns:a="http://schemas.openxmlformats.org/drawingml/2006/main" noGrp="1"/>
          </p:cNvSpPr>
          <p:nvPr/>
        </p:nvSpPr>
        <p:spPr>
          <a:xfrm xmlns:a="http://schemas.openxmlformats.org/drawingml/2006/main">
            <a:off x="571500" y="5857875"/>
            <a:ext cx="14097000" cy="0"/>
          </a:xfrm>
          <a:prstGeom xmlns:a="http://schemas.openxmlformats.org/drawingml/2006/main" prst="line">
            <a:avLst/>
          </a:prstGeom>
          <a:ln xmlns:a="http://schemas.openxmlformats.org/drawingml/2006/main" w="19050">
            <a:solidFill>
              <a:srgbClr val="C6D2DB"/>
            </a:solidFill>
          </a:ln>
        </p:spPr>
      </p:sp>
      <p:sp>
        <p:nvSpPr>
          <p:cNvPr id="14" name="4 · Beoordeling">
            <a:extLst xmlns:a="http://schemas.openxmlformats.org/drawingml/2006/main">
              <a:ext uri="{FF2B5EF4-FFF2-40B4-BE49-F238E27FC236}">
                <a16:creationId xmlns:a16="http://schemas.microsoft.com/office/drawing/2014/main" id="{D401356E-E27A-49CE-93A7-F3B0172A6F19}"/>
              </a:ext>
            </a:extLst>
          </p:cNvPr>
          <p:cNvSpPr>
            <a:spLocks xmlns:a="http://schemas.openxmlformats.org/drawingml/2006/main" noGrp="1"/>
          </p:cNvSpPr>
          <p:nvPr/>
        </p:nvSpPr>
        <p:spPr>
          <a:xfrm xmlns:a="http://schemas.openxmlformats.org/drawingml/2006/main">
            <a:off x="571500" y="6181725"/>
            <a:ext cx="461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4 · Beoordeling</a:t>
            </a:r>
          </a:p>
        </p:txBody>
      </p:sp>
      <p:sp>
        <p:nvSpPr>
          <p:cNvPr id="15" name="Verlies, haalbare verbetering en eerlijkheid.">
            <a:extLst xmlns:a="http://schemas.openxmlformats.org/drawingml/2006/main">
              <a:ext uri="{FF2B5EF4-FFF2-40B4-BE49-F238E27FC236}">
                <a16:creationId xmlns:a16="http://schemas.microsoft.com/office/drawing/2014/main" id="{343F63FA-2BBB-46A9-B766-59419324410E}"/>
              </a:ext>
            </a:extLst>
          </p:cNvPr>
          <p:cNvSpPr>
            <a:spLocks xmlns:a="http://schemas.openxmlformats.org/drawingml/2006/main" noGrp="1"/>
          </p:cNvSpPr>
          <p:nvPr/>
        </p:nvSpPr>
        <p:spPr>
          <a:xfrm xmlns:a="http://schemas.openxmlformats.org/drawingml/2006/main">
            <a:off x="5429250" y="6181725"/>
            <a:ext cx="923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Verlies, haalbare verbetering en eerlijkheid.</a:t>
            </a:r>
          </a:p>
        </p:txBody>
      </p:sp>
    </p:spTree>
    <p:extLst>
      <p:ext uri="{BB962C8B-B14F-4D97-AF65-F5344CB8AC3E}">
        <p14:creationId xmlns:p14="http://schemas.microsoft.com/office/powerpoint/2010/main" val="11947547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ano’s: het vrije evenwicht">
            <a:extLst xmlns:a="http://schemas.openxmlformats.org/drawingml/2006/main">
              <a:ext uri="{FF2B5EF4-FFF2-40B4-BE49-F238E27FC236}">
                <a16:creationId xmlns:a16="http://schemas.microsoft.com/office/drawing/2014/main" id="{0BF7AA5D-4254-4FAE-8E0E-46257876354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Kano’s: het vrije evenwicht</a:t>
            </a:r>
          </a:p>
        </p:txBody>
      </p:sp>
      <p:sp>
        <p:nvSpPr>
          <p:cNvPr id="2" name="">
            <a:extLst xmlns:a="http://schemas.openxmlformats.org/drawingml/2006/main">
              <a:ext uri="{FF2B5EF4-FFF2-40B4-BE49-F238E27FC236}">
                <a16:creationId xmlns:a16="http://schemas.microsoft.com/office/drawing/2014/main" id="{FF1173AE-8586-4DC1-B691-5D2C564BA1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6B065B4-4970-48BF-9170-125AA2B2CAC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1E211898-F831-494C-88CA-26229D049A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Vraag: P = 42 − 2Q       Aanbod/MK: P = 6 + Q">
            <a:extLst xmlns:a="http://schemas.openxmlformats.org/drawingml/2006/main">
              <a:ext uri="{FF2B5EF4-FFF2-40B4-BE49-F238E27FC236}">
                <a16:creationId xmlns:a16="http://schemas.microsoft.com/office/drawing/2014/main" id="{B0FF67A0-EC6D-4878-9F41-BAFE4F3C231A}"/>
              </a:ext>
            </a:extLst>
          </p:cNvPr>
          <p:cNvSpPr>
            <a:spLocks xmlns:a="http://schemas.openxmlformats.org/drawingml/2006/main" noGrp="1"/>
          </p:cNvSpPr>
          <p:nvPr/>
        </p:nvSpPr>
        <p:spPr>
          <a:xfrm xmlns:a="http://schemas.openxmlformats.org/drawingml/2006/main">
            <a:off x="571500" y="18859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Vraag: P = 42 − 2Q       Aanbod/MK: P = 6 + Q</a:t>
            </a:r>
          </a:p>
        </p:txBody>
      </p:sp>
      <p:sp>
        <p:nvSpPr>
          <p:cNvPr id="6" name="P in € per kanoplaats · Q in kanoplaatsen">
            <a:extLst xmlns:a="http://schemas.openxmlformats.org/drawingml/2006/main">
              <a:ext uri="{FF2B5EF4-FFF2-40B4-BE49-F238E27FC236}">
                <a16:creationId xmlns:a16="http://schemas.microsoft.com/office/drawing/2014/main" id="{8832D10B-FA65-4D77-B615-8CC39676F791}"/>
              </a:ext>
            </a:extLst>
          </p:cNvPr>
          <p:cNvSpPr>
            <a:spLocks xmlns:a="http://schemas.openxmlformats.org/drawingml/2006/main" noGrp="1"/>
          </p:cNvSpPr>
          <p:nvPr/>
        </p:nvSpPr>
        <p:spPr>
          <a:xfrm xmlns:a="http://schemas.openxmlformats.org/drawingml/2006/main">
            <a:off x="571500" y="2619375"/>
            <a:ext cx="1409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P in € per kanoplaats · Q in kanoplaatsen</a:t>
            </a:r>
          </a:p>
        </p:txBody>
      </p:sp>
      <p:sp>
        <p:nvSpPr>
          <p:cNvPr id="7" name="42 − 2Q = 6 + Q        36 = 3Q">
            <a:extLst xmlns:a="http://schemas.openxmlformats.org/drawingml/2006/main">
              <a:ext uri="{FF2B5EF4-FFF2-40B4-BE49-F238E27FC236}">
                <a16:creationId xmlns:a16="http://schemas.microsoft.com/office/drawing/2014/main" id="{06E5DFEF-330D-4987-B5A0-EBDA4A384516}"/>
              </a:ext>
            </a:extLst>
          </p:cNvPr>
          <p:cNvSpPr>
            <a:spLocks xmlns:a="http://schemas.openxmlformats.org/drawingml/2006/main" noGrp="1"/>
          </p:cNvSpPr>
          <p:nvPr/>
        </p:nvSpPr>
        <p:spPr>
          <a:xfrm xmlns:a="http://schemas.openxmlformats.org/drawingml/2006/main">
            <a:off x="571500" y="35052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42 − 2Q = 6 + Q        36 = 3Q</a:t>
            </a:r>
          </a:p>
        </p:txBody>
      </p:sp>
      <p:sp>
        <p:nvSpPr>
          <p:cNvPr id="8" name="Qe = 12 plaatsen          Pe = 42 − 2 × 12 = € 18">
            <a:extLst xmlns:a="http://schemas.openxmlformats.org/drawingml/2006/main">
              <a:ext uri="{FF2B5EF4-FFF2-40B4-BE49-F238E27FC236}">
                <a16:creationId xmlns:a16="http://schemas.microsoft.com/office/drawing/2014/main" id="{66B25675-4645-40D4-BCCA-C9F7EDD294FE}"/>
              </a:ext>
            </a:extLst>
          </p:cNvPr>
          <p:cNvSpPr>
            <a:spLocks xmlns:a="http://schemas.openxmlformats.org/drawingml/2006/main" noGrp="1"/>
          </p:cNvSpPr>
          <p:nvPr/>
        </p:nvSpPr>
        <p:spPr>
          <a:xfrm xmlns:a="http://schemas.openxmlformats.org/drawingml/2006/main">
            <a:off x="571500" y="43243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Qe = 12 plaatsen          Pe = 42 − 2 × 12 = € 18</a:t>
            </a:r>
          </a:p>
        </p:txBody>
      </p:sp>
      <p:graphicFrame>
        <p:nvGraphicFramePr>
          <p:cNvPr id="18" name=""/>
          <p:cNvGraphicFramePr/>
          <p:nvPr/>
        </p:nvGraphicFramePr>
        <p:xfrm>
          <a:off xmlns:a="http://schemas.openxmlformats.org/drawingml/2006/main" x="571500" y="5353050"/>
          <a:ext xmlns:a="http://schemas.openxmlformats.org/drawingml/2006/main" cx="14097000" cy="2343150"/>
        </p:xfrm>
        <a:graphic xmlns:a="http://schemas.openxmlformats.org/drawingml/2006/main">
          <a:graphicData uri="http://schemas.openxmlformats.org/drawingml/2006/table">
            <a:tbl>
              <a:tblPr/>
              <a:tblGrid>
                <a:gridCol w="2571750"/>
                <a:gridCol w="8382000"/>
                <a:gridCol w="3143250"/>
              </a:tblGrid>
              <a:tr h="585788">
                <a:tc>
                  <a:txBody>
                    <a:bodyPr lIns="171450" tIns="95250" rIns="152400" bIns="95250"/>
                    <a:lstStyle/>
                    <a:p>
                      <a:r>
                        <a:rPr sz="2400"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Basis × hoogte × ½</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Surplus</a:t>
                      </a:r>
                    </a:p>
                  </a:txBody>
                  <a:tcPr marL="91440" marR="91440" marT="45720" marB="45720" anchor="ctr">
                    <a:solidFill>
                      <a:srgbClr val="183247"/>
                    </a:solidFill>
                  </a:tcPr>
                </a:tc>
              </a:tr>
              <a:tr h="585788">
                <a:tc>
                  <a:txBody>
                    <a:bodyPr lIns="171450" tIns="95250" rIns="152400" bIns="95250"/>
                    <a:lstStyle/>
                    <a:p>
                      <a:r>
                        <a:rPr sz="240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½ × 12 × (42 − 18)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€ 144</a:t>
                      </a:r>
                    </a:p>
                  </a:txBody>
                  <a:tcPr marL="91440" marR="91440" marT="45720" marB="45720" anchor="ctr">
                    <a:solidFill>
                      <a:srgbClr val="FFFFFF"/>
                    </a:solidFill>
                  </a:tcPr>
                </a:tc>
              </a:tr>
              <a:tr h="585788">
                <a:tc>
                  <a:txBody>
                    <a:bodyPr lIns="171450" tIns="95250" rIns="152400" bIns="95250"/>
                    <a:lstStyle/>
                    <a:p>
                      <a:r>
                        <a:rPr sz="240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½ × 12 × (18 − 6)</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€ 72</a:t>
                      </a:r>
                    </a:p>
                  </a:txBody>
                  <a:tcPr marL="91440" marR="91440" marT="45720" marB="45720" anchor="ctr">
                    <a:solidFill>
                      <a:srgbClr val="EFF4F7"/>
                    </a:solidFill>
                  </a:tcPr>
                </a:tc>
              </a:tr>
              <a:tr h="585788">
                <a:tc>
                  <a:txBody>
                    <a:bodyPr lIns="171450" tIns="95250" rIns="152400" bIns="95250"/>
                    <a:lstStyle/>
                    <a:p>
                      <a:r>
                        <a:rPr sz="2400" b="0">
                          <a:solidFill>
                            <a:srgbClr val="183247"/>
                          </a:solidFill>
                          <a:latin typeface="Arial"/>
                          <a:ea typeface="Arial"/>
                          <a:cs typeface="Arial"/>
                        </a:rPr>
                        <a:t>TS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144 + 72</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€ 216</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84636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ano’s: acht werkelijke transacties">
            <a:extLst xmlns:a="http://schemas.openxmlformats.org/drawingml/2006/main">
              <a:ext uri="{FF2B5EF4-FFF2-40B4-BE49-F238E27FC236}">
                <a16:creationId xmlns:a16="http://schemas.microsoft.com/office/drawing/2014/main" id="{F9322C04-8B57-4282-B11E-22DB6262322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Kano’s: acht werkelijke transacties</a:t>
            </a:r>
          </a:p>
        </p:txBody>
      </p:sp>
      <p:sp>
        <p:nvSpPr>
          <p:cNvPr id="2" name="">
            <a:extLst xmlns:a="http://schemas.openxmlformats.org/drawingml/2006/main">
              <a:ext uri="{FF2B5EF4-FFF2-40B4-BE49-F238E27FC236}">
                <a16:creationId xmlns:a16="http://schemas.microsoft.com/office/drawing/2014/main" id="{CCB17CDD-D579-439D-B67A-5DA9250380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9923836-AB26-4172-B8C1-1433119C86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8130179E-BBD3-4A2A-B83B-99DC333BF29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Boekingsgrens: 8 plaatsen tegen € 20 per plaats">
            <a:extLst xmlns:a="http://schemas.openxmlformats.org/drawingml/2006/main">
              <a:ext uri="{FF2B5EF4-FFF2-40B4-BE49-F238E27FC236}">
                <a16:creationId xmlns:a16="http://schemas.microsoft.com/office/drawing/2014/main" id="{D746FFD8-FCC4-4E6C-BBE1-735056AFFDB9}"/>
              </a:ext>
            </a:extLst>
          </p:cNvPr>
          <p:cNvSpPr>
            <a:spLocks xmlns:a="http://schemas.openxmlformats.org/drawingml/2006/main" noGrp="1"/>
          </p:cNvSpPr>
          <p:nvPr/>
        </p:nvSpPr>
        <p:spPr>
          <a:xfrm xmlns:a="http://schemas.openxmlformats.org/drawingml/2006/main">
            <a:off x="571500" y="17907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Boekingsgrens: 8 plaatsen tegen € 20 per plaats</a:t>
            </a:r>
          </a:p>
        </p:txBody>
      </p:sp>
      <p:sp>
        <p:nvSpPr>
          <p:cNvPr id="6" name="Qd = 11 · Qs = 14 · Hoogste betalingsbereidheid, laagste MK">
            <a:extLst xmlns:a="http://schemas.openxmlformats.org/drawingml/2006/main">
              <a:ext uri="{FF2B5EF4-FFF2-40B4-BE49-F238E27FC236}">
                <a16:creationId xmlns:a16="http://schemas.microsoft.com/office/drawing/2014/main" id="{D12A9102-555B-4FDD-B870-DF503F09B8A6}"/>
              </a:ext>
            </a:extLst>
          </p:cNvPr>
          <p:cNvSpPr>
            <a:spLocks xmlns:a="http://schemas.openxmlformats.org/drawingml/2006/main" noGrp="1"/>
          </p:cNvSpPr>
          <p:nvPr/>
        </p:nvSpPr>
        <p:spPr>
          <a:xfrm xmlns:a="http://schemas.openxmlformats.org/drawingml/2006/main">
            <a:off x="571500" y="253365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Qd = 11 · Qs = 14 · Hoogste betalingsbereidheid, laagste MK</a:t>
            </a:r>
          </a:p>
        </p:txBody>
      </p:sp>
      <p:sp>
        <p:nvSpPr>
          <p:cNvPr id="7" name="Bij Q = 8: betalingsbereidheid = € 26, MK = € 14">
            <a:extLst xmlns:a="http://schemas.openxmlformats.org/drawingml/2006/main">
              <a:ext uri="{FF2B5EF4-FFF2-40B4-BE49-F238E27FC236}">
                <a16:creationId xmlns:a16="http://schemas.microsoft.com/office/drawing/2014/main" id="{EB310F68-29D8-4FDA-92DC-FC5F11B34D6E}"/>
              </a:ext>
            </a:extLst>
          </p:cNvPr>
          <p:cNvSpPr>
            <a:spLocks xmlns:a="http://schemas.openxmlformats.org/drawingml/2006/main" noGrp="1"/>
          </p:cNvSpPr>
          <p:nvPr/>
        </p:nvSpPr>
        <p:spPr>
          <a:xfrm xmlns:a="http://schemas.openxmlformats.org/drawingml/2006/main">
            <a:off x="571500" y="32956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Bij Q = 8: betalingsbereidheid = € 26, MK = € 14</a:t>
            </a:r>
          </a:p>
        </p:txBody>
      </p:sp>
      <p:graphicFrame>
        <p:nvGraphicFramePr>
          <p:cNvPr id="17" name=""/>
          <p:cNvGraphicFramePr/>
          <p:nvPr/>
        </p:nvGraphicFramePr>
        <p:xfrm>
          <a:off xmlns:a="http://schemas.openxmlformats.org/drawingml/2006/main" x="571500" y="4381500"/>
          <a:ext xmlns:a="http://schemas.openxmlformats.org/drawingml/2006/main" cx="14097000" cy="2514600"/>
        </p:xfrm>
        <a:graphic xmlns:a="http://schemas.openxmlformats.org/drawingml/2006/main">
          <a:graphicData uri="http://schemas.openxmlformats.org/drawingml/2006/table">
            <a:tbl>
              <a:tblPr/>
              <a:tblGrid>
                <a:gridCol w="1714500"/>
                <a:gridCol w="4572000"/>
                <a:gridCol w="5238750"/>
                <a:gridCol w="2571750"/>
              </a:tblGrid>
              <a:tr h="838200">
                <a:tc>
                  <a:txBody>
                    <a:bodyPr lIns="171450" tIns="95250" rIns="152400" bIns="95250"/>
                    <a:lstStyle/>
                    <a:p>
                      <a:r>
                        <a:rPr sz="2250"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Rechthoek</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Driehoek</a:t>
                      </a:r>
                    </a:p>
                  </a:txBody>
                  <a:tcPr marL="91440" marR="91440" marT="45720" marB="45720" anchor="ctr">
                    <a:solidFill>
                      <a:srgbClr val="183247"/>
                    </a:solidFill>
                  </a:tcPr>
                </a:tc>
                <a:tc>
                  <a:txBody>
                    <a:bodyPr lIns="171450" tIns="95250" rIns="152400" bIns="95250"/>
                    <a:lstStyle/>
                    <a:p>
                      <a:r>
                        <a:rPr sz="2250" b="1">
                          <a:solidFill>
                            <a:srgbClr val="FFFFFF"/>
                          </a:solidFill>
                          <a:latin typeface="Arial"/>
                          <a:ea typeface="Arial"/>
                          <a:cs typeface="Arial"/>
                        </a:rPr>
                        <a:t>Samen</a:t>
                      </a:r>
                    </a:p>
                  </a:txBody>
                  <a:tcPr marL="91440" marR="91440" marT="45720" marB="45720" anchor="ctr">
                    <a:solidFill>
                      <a:srgbClr val="183247"/>
                    </a:solidFill>
                  </a:tcPr>
                </a:tc>
              </a:tr>
              <a:tr h="838200">
                <a:tc>
                  <a:txBody>
                    <a:bodyPr lIns="171450" tIns="95250" rIns="152400" bIns="95250"/>
                    <a:lstStyle/>
                    <a:p>
                      <a:r>
                        <a:rPr sz="2250"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8 × (26 − 20) = 48</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½ × 8 × (42 − 26) = 64</a:t>
                      </a:r>
                    </a:p>
                  </a:txBody>
                  <a:tcPr marL="91440" marR="91440" marT="45720" marB="45720" anchor="ctr">
                    <a:solidFill>
                      <a:srgbClr val="FFFFFF"/>
                    </a:solidFill>
                  </a:tcPr>
                </a:tc>
                <a:tc>
                  <a:txBody>
                    <a:bodyPr lIns="171450" tIns="95250" rIns="152400" bIns="95250"/>
                    <a:lstStyle/>
                    <a:p>
                      <a:r>
                        <a:rPr sz="2250" b="0">
                          <a:solidFill>
                            <a:srgbClr val="183247"/>
                          </a:solidFill>
                          <a:latin typeface="Arial"/>
                          <a:ea typeface="Arial"/>
                          <a:cs typeface="Arial"/>
                        </a:rPr>
                        <a:t>€ 112</a:t>
                      </a:r>
                    </a:p>
                  </a:txBody>
                  <a:tcPr marL="91440" marR="91440" marT="45720" marB="45720" anchor="ctr">
                    <a:solidFill>
                      <a:srgbClr val="FFFFFF"/>
                    </a:solidFill>
                  </a:tcPr>
                </a:tc>
              </a:tr>
              <a:tr h="838200">
                <a:tc>
                  <a:txBody>
                    <a:bodyPr lIns="171450" tIns="95250" rIns="152400" bIns="95250"/>
                    <a:lstStyle/>
                    <a:p>
                      <a:r>
                        <a:rPr sz="2250"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8 × (20 − 14) = 48</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½ × 8 × (14 − 6) = 32</a:t>
                      </a:r>
                    </a:p>
                  </a:txBody>
                  <a:tcPr marL="91440" marR="91440" marT="45720" marB="45720" anchor="ctr">
                    <a:solidFill>
                      <a:srgbClr val="EFF4F7"/>
                    </a:solidFill>
                  </a:tcPr>
                </a:tc>
                <a:tc>
                  <a:txBody>
                    <a:bodyPr lIns="171450" tIns="95250" rIns="152400" bIns="95250"/>
                    <a:lstStyle/>
                    <a:p>
                      <a:r>
                        <a:rPr sz="2250" b="0">
                          <a:solidFill>
                            <a:srgbClr val="183247"/>
                          </a:solidFill>
                          <a:latin typeface="Arial"/>
                          <a:ea typeface="Arial"/>
                          <a:cs typeface="Arial"/>
                        </a:rPr>
                        <a:t>€ 80</a:t>
                      </a:r>
                    </a:p>
                  </a:txBody>
                  <a:tcPr marL="91440" marR="91440" marT="45720" marB="45720" anchor="ctr">
                    <a:solidFill>
                      <a:srgbClr val="EFF4F7"/>
                    </a:solidFill>
                  </a:tcPr>
                </a:tc>
              </a:tr>
            </a:tbl>
          </a:graphicData>
        </a:graphic>
      </p:graphicFrame>
      <p:sp>
        <p:nvSpPr>
          <p:cNvPr id="9" name="TS = 112 + 80 = € 192">
            <a:extLst xmlns:a="http://schemas.openxmlformats.org/drawingml/2006/main">
              <a:ext uri="{FF2B5EF4-FFF2-40B4-BE49-F238E27FC236}">
                <a16:creationId xmlns:a16="http://schemas.microsoft.com/office/drawing/2014/main" id="{ACD36F44-8092-4FDA-9B54-D859F4EBC04B}"/>
              </a:ext>
            </a:extLst>
          </p:cNvPr>
          <p:cNvSpPr>
            <a:spLocks xmlns:a="http://schemas.openxmlformats.org/drawingml/2006/main" noGrp="1"/>
          </p:cNvSpPr>
          <p:nvPr/>
        </p:nvSpPr>
        <p:spPr>
          <a:xfrm xmlns:a="http://schemas.openxmlformats.org/drawingml/2006/main">
            <a:off x="571500" y="73056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TS = 112 + 80 = € 192</a:t>
            </a:r>
          </a:p>
        </p:txBody>
      </p:sp>
    </p:spTree>
    <p:extLst>
      <p:ext uri="{BB962C8B-B14F-4D97-AF65-F5344CB8AC3E}">
        <p14:creationId xmlns:p14="http://schemas.microsoft.com/office/powerpoint/2010/main" val="17411323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ano’s: verlies en een mogelijke verbetering">
            <a:extLst xmlns:a="http://schemas.openxmlformats.org/drawingml/2006/main">
              <a:ext uri="{FF2B5EF4-FFF2-40B4-BE49-F238E27FC236}">
                <a16:creationId xmlns:a16="http://schemas.microsoft.com/office/drawing/2014/main" id="{4CD0F4F2-CA97-41B9-A753-6E958CFCB90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Kano’s: verlies en een mogelijke verbetering</a:t>
            </a:r>
          </a:p>
        </p:txBody>
      </p:sp>
      <p:sp>
        <p:nvSpPr>
          <p:cNvPr id="2" name="">
            <a:extLst xmlns:a="http://schemas.openxmlformats.org/drawingml/2006/main">
              <a:ext uri="{FF2B5EF4-FFF2-40B4-BE49-F238E27FC236}">
                <a16:creationId xmlns:a16="http://schemas.microsoft.com/office/drawing/2014/main" id="{108D11CC-CDA1-41A7-A7B9-A1EDAE2EEE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C3988E5-A5AF-4361-AD8F-2274350E72F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Uitlegvoorbeeld — niet uit het boek</a:t>
            </a:r>
          </a:p>
        </p:txBody>
      </p:sp>
      <p:sp>
        <p:nvSpPr>
          <p:cNvPr id="4" name="slide-number">
            <a:extLst xmlns:a="http://schemas.openxmlformats.org/drawingml/2006/main">
              <a:ext uri="{FF2B5EF4-FFF2-40B4-BE49-F238E27FC236}">
                <a16:creationId xmlns:a16="http://schemas.microsoft.com/office/drawing/2014/main" id="{987B6E01-FC9D-4E4E-AA6A-8FBDB498798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Welvaartsverlies = 216 − 192 = € 24">
            <a:extLst xmlns:a="http://schemas.openxmlformats.org/drawingml/2006/main">
              <a:ext uri="{FF2B5EF4-FFF2-40B4-BE49-F238E27FC236}">
                <a16:creationId xmlns:a16="http://schemas.microsoft.com/office/drawing/2014/main" id="{5FD1AEC4-04EA-4E08-94A8-274A19206D16}"/>
              </a:ext>
            </a:extLst>
          </p:cNvPr>
          <p:cNvSpPr>
            <a:spLocks xmlns:a="http://schemas.openxmlformats.org/drawingml/2006/main" noGrp="1"/>
          </p:cNvSpPr>
          <p:nvPr/>
        </p:nvSpPr>
        <p:spPr>
          <a:xfrm xmlns:a="http://schemas.openxmlformats.org/drawingml/2006/main">
            <a:off x="571500" y="18859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Welvaartsverlies = 216 − 192 = € 24</a:t>
            </a:r>
          </a:p>
        </p:txBody>
      </p:sp>
      <p:sp>
        <p:nvSpPr>
          <p:cNvPr id="6" name="Controle: ½ × (12 − 8) × (26 − 14) = € 24">
            <a:extLst xmlns:a="http://schemas.openxmlformats.org/drawingml/2006/main">
              <a:ext uri="{FF2B5EF4-FFF2-40B4-BE49-F238E27FC236}">
                <a16:creationId xmlns:a16="http://schemas.microsoft.com/office/drawing/2014/main" id="{E3CCED7F-2BAA-4672-87C9-7309E06C9653}"/>
              </a:ext>
            </a:extLst>
          </p:cNvPr>
          <p:cNvSpPr>
            <a:spLocks xmlns:a="http://schemas.openxmlformats.org/drawingml/2006/main" noGrp="1"/>
          </p:cNvSpPr>
          <p:nvPr/>
        </p:nvSpPr>
        <p:spPr>
          <a:xfrm xmlns:a="http://schemas.openxmlformats.org/drawingml/2006/main">
            <a:off x="571500" y="27146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Controle: ½ × (12 − 8) × (26 − 14) = € 24</a:t>
            </a:r>
          </a:p>
        </p:txBody>
      </p:sp>
      <p:graphicFrame>
        <p:nvGraphicFramePr>
          <p:cNvPr id="15" name=""/>
          <p:cNvGraphicFramePr/>
          <p:nvPr/>
        </p:nvGraphicFramePr>
        <p:xfrm>
          <a:off xmlns:a="http://schemas.openxmlformats.org/drawingml/2006/main" x="571500" y="3857625"/>
          <a:ext xmlns:a="http://schemas.openxmlformats.org/drawingml/2006/main" cx="14097000" cy="2314575"/>
        </p:xfrm>
        <a:graphic xmlns:a="http://schemas.openxmlformats.org/drawingml/2006/main">
          <a:graphicData uri="http://schemas.openxmlformats.org/drawingml/2006/table">
            <a:tbl>
              <a:tblPr/>
              <a:tblGrid>
                <a:gridCol w="7048500"/>
                <a:gridCol w="7048500"/>
              </a:tblGrid>
              <a:tr h="771525">
                <a:tc>
                  <a:txBody>
                    <a:bodyPr lIns="171450" tIns="95250" rIns="152400" bIns="95250"/>
                    <a:lstStyle/>
                    <a:p>
                      <a:r>
                        <a:rPr sz="2625" b="1">
                          <a:solidFill>
                            <a:srgbClr val="FFFFFF"/>
                          </a:solidFill>
                          <a:latin typeface="Arial"/>
                          <a:ea typeface="Arial"/>
                          <a:cs typeface="Arial"/>
                        </a:rPr>
                        <a:t>Mogelijke 9e transactie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Berekening voordeel</a:t>
                      </a:r>
                    </a:p>
                  </a:txBody>
                  <a:tcPr marL="91440" marR="91440" marT="45720" marB="45720" anchor="ctr">
                    <a:solidFill>
                      <a:srgbClr val="183247"/>
                    </a:solidFill>
                  </a:tcPr>
                </a:tc>
              </a:tr>
              <a:tr h="771525">
                <a:tc>
                  <a:txBody>
                    <a:bodyPr lIns="171450" tIns="95250" rIns="152400" bIns="95250"/>
                    <a:lstStyle/>
                    <a:p>
                      <a:r>
                        <a:rPr sz="2625" b="0">
                          <a:solidFill>
                            <a:srgbClr val="183247"/>
                          </a:solidFill>
                          <a:latin typeface="Arial"/>
                          <a:ea typeface="Arial"/>
                          <a:cs typeface="Arial"/>
                        </a:rPr>
                        <a:t>Nieuwe koper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24 − 20 = € 4</a:t>
                      </a:r>
                    </a:p>
                  </a:txBody>
                  <a:tcPr marL="91440" marR="91440" marT="45720" marB="45720" anchor="ctr">
                    <a:solidFill>
                      <a:srgbClr val="FFFFFF"/>
                    </a:solidFill>
                  </a:tcPr>
                </a:tc>
              </a:tr>
              <a:tr h="771525">
                <a:tc>
                  <a:txBody>
                    <a:bodyPr lIns="171450" tIns="95250" rIns="152400" bIns="95250"/>
                    <a:lstStyle/>
                    <a:p>
                      <a:r>
                        <a:rPr sz="2625" b="0">
                          <a:solidFill>
                            <a:srgbClr val="183247"/>
                          </a:solidFill>
                          <a:latin typeface="Arial"/>
                          <a:ea typeface="Arial"/>
                          <a:cs typeface="Arial"/>
                        </a:rPr>
                        <a:t>Nieuwe verkoper</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20 − 15 = € 5</a:t>
                      </a:r>
                    </a:p>
                  </a:txBody>
                  <a:tcPr marL="91440" marR="91440" marT="45720" marB="45720" anchor="ctr">
                    <a:solidFill>
                      <a:srgbClr val="EFF4F7"/>
                    </a:solidFill>
                  </a:tcPr>
                </a:tc>
              </a:tr>
            </a:tbl>
          </a:graphicData>
        </a:graphic>
      </p:graphicFrame>
      <p:sp>
        <p:nvSpPr>
          <p:cNvPr id="8" name="Verruiming is kosteloos en technisch mogelijk.&#10;Prijs en best">
            <a:extLst xmlns:a="http://schemas.openxmlformats.org/drawingml/2006/main">
              <a:ext uri="{FF2B5EF4-FFF2-40B4-BE49-F238E27FC236}">
                <a16:creationId xmlns:a16="http://schemas.microsoft.com/office/drawing/2014/main" id="{6B04EDCF-7AEF-49AB-9BAE-EEAD5824F8A7}"/>
              </a:ext>
            </a:extLst>
          </p:cNvPr>
          <p:cNvSpPr>
            <a:spLocks xmlns:a="http://schemas.openxmlformats.org/drawingml/2006/main" noGrp="1"/>
          </p:cNvSpPr>
          <p:nvPr/>
        </p:nvSpPr>
        <p:spPr>
          <a:xfrm xmlns:a="http://schemas.openxmlformats.org/drawingml/2006/main">
            <a:off x="571500" y="658177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Verruiming is kosteloos en technisch mogelijk.</a:t>
            </a:r>
          </a:p>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Prijs en bestaande transacties blijven gelijk; anderen lijden geen nadeel.</a:t>
            </a:r>
          </a:p>
        </p:txBody>
      </p:sp>
    </p:spTree>
    <p:extLst>
      <p:ext uri="{BB962C8B-B14F-4D97-AF65-F5344CB8AC3E}">
        <p14:creationId xmlns:p14="http://schemas.microsoft.com/office/powerpoint/2010/main" val="19190384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4 Gemengde opgaven">
            <a:extLst xmlns:a="http://schemas.openxmlformats.org/drawingml/2006/main">
              <a:ext uri="{FF2B5EF4-FFF2-40B4-BE49-F238E27FC236}">
                <a16:creationId xmlns:a16="http://schemas.microsoft.com/office/drawing/2014/main" id="{F0ADE2AB-BBB4-4E40-935C-03CD5B8C437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§2.3.4 Gemengde opgaven</a:t>
            </a:r>
          </a:p>
        </p:txBody>
      </p:sp>
      <p:sp>
        <p:nvSpPr>
          <p:cNvPr id="2" name="">
            <a:extLst xmlns:a="http://schemas.openxmlformats.org/drawingml/2006/main">
              <a:ext uri="{FF2B5EF4-FFF2-40B4-BE49-F238E27FC236}">
                <a16:creationId xmlns:a16="http://schemas.microsoft.com/office/drawing/2014/main" id="{4FB3EC28-2FA8-40FB-AA6D-2A547F9B50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869543B-BF76-4E7D-8638-3769AB9471F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a:t>
            </a:r>
          </a:p>
        </p:txBody>
      </p:sp>
      <p:sp>
        <p:nvSpPr>
          <p:cNvPr id="4" name="slide-number">
            <a:extLst xmlns:a="http://schemas.openxmlformats.org/drawingml/2006/main">
              <a:ext uri="{FF2B5EF4-FFF2-40B4-BE49-F238E27FC236}">
                <a16:creationId xmlns:a16="http://schemas.microsoft.com/office/drawing/2014/main" id="{921754CF-9864-45BC-A8DD-02E2D5E49D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4EF25D19-4B37-4EAF-820A-49B4906A670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53E5F6BD-33BE-4307-998C-DC4590478D1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2563892-EF5C-4C67-8C37-57D5761319C1}"/>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8DC82F9-7FE3-4633-8037-1EC45FD4360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CCD514AD-6E37-44E6-A48B-0016385DD15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E8CA8EC-D404-4E62-B8B9-04ABBF474B42}"/>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AD8D860-0A8E-453F-95D4-1EC8F31CB9F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C19D8F10-BCE6-4197-A2FF-DD78C4B4688E}"/>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80003B23-5BA8-48F0-B2FD-5ECFA12D6E8E}"/>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986B7F0-F827-46FF-BB5A-4D549859CA76}"/>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3EF5C2D0-78B0-42CD-965E-04DAC8AB6E53}"/>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5484295-EE88-420D-9E62-D1565179A61E}"/>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8A41C50-B21F-4E25-A773-0C2ACF276270}"/>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5D59869-081C-424F-AD09-6D3360D6831F}"/>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a:t>
            </a:r>
          </a:p>
        </p:txBody>
      </p:sp>
      <p:sp>
        <p:nvSpPr>
          <p:cNvPr id="19" name="route-number-7">
            <a:extLst xmlns:a="http://schemas.openxmlformats.org/drawingml/2006/main">
              <a:ext uri="{FF2B5EF4-FFF2-40B4-BE49-F238E27FC236}">
                <a16:creationId xmlns:a16="http://schemas.microsoft.com/office/drawing/2014/main" id="{8AF4C77B-A374-4595-8697-9029A8ABD6E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2CDA181-CCE7-4C6D-886D-FB0CCCF802F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7570C90-77EF-486E-BE5A-DF5539FF596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F48A718-790F-433C-A7E0-95726654402F}"/>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surplus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Welvaartsverlies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528B6230-589A-43E0-B17C-4EE475C3070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2041B71-81AD-42BD-8C19-3313C1C5AF3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B2DF5B4-F828-49FC-9192-0FDC34585AA0}"/>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101 · Opgave 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theorie p. 82–84</a:t>
            </a:r>
          </a:p>
        </p:txBody>
      </p:sp>
      <p:sp>
        <p:nvSpPr>
          <p:cNvPr id="26" name="">
            <a:extLst xmlns:a="http://schemas.openxmlformats.org/drawingml/2006/main">
              <a:ext uri="{FF2B5EF4-FFF2-40B4-BE49-F238E27FC236}">
                <a16:creationId xmlns:a16="http://schemas.microsoft.com/office/drawing/2014/main" id="{3A956411-1ACF-4565-836B-532B4D57E95C}"/>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5EA02BF-80F6-4E0F-BC76-D5DCA3DE335F}"/>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D63EF1F-57C6-4187-A99F-8E7C835C84E3}"/>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§2.3.4 · Opgaven 1, 2, 3, 4, 5, 6,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 = bonus · 5–7 = herhaling</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Verder: 2 · Doelopgave: 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2970244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 · Huurfietsen op een eiland">
            <a:extLst xmlns:a="http://schemas.openxmlformats.org/drawingml/2006/main">
              <a:ext uri="{FF2B5EF4-FFF2-40B4-BE49-F238E27FC236}">
                <a16:creationId xmlns:a16="http://schemas.microsoft.com/office/drawing/2014/main" id="{0D2F1B95-6CE0-4CA2-A6A4-0C72011268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Huurfietsen op een eiland</a:t>
            </a:r>
          </a:p>
        </p:txBody>
      </p:sp>
      <p:sp>
        <p:nvSpPr>
          <p:cNvPr id="2" name="">
            <a:extLst xmlns:a="http://schemas.openxmlformats.org/drawingml/2006/main">
              <a:ext uri="{FF2B5EF4-FFF2-40B4-BE49-F238E27FC236}">
                <a16:creationId xmlns:a16="http://schemas.microsoft.com/office/drawing/2014/main" id="{3FFBAC40-EC34-49AE-BB2E-AB001B6E82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9AACD83-9636-4C53-A36D-63347D18DF7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0C2727ED-E915-4150-8341-0EC613D4BF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Op een eiland worden huurfietsen verhandeld.">
            <a:extLst xmlns:a="http://schemas.openxmlformats.org/drawingml/2006/main">
              <a:ext uri="{FF2B5EF4-FFF2-40B4-BE49-F238E27FC236}">
                <a16:creationId xmlns:a16="http://schemas.microsoft.com/office/drawing/2014/main" id="{CCBB91B0-488E-45AE-8E5E-74831416AAA2}"/>
              </a:ext>
            </a:extLst>
          </p:cNvPr>
          <p:cNvSpPr>
            <a:spLocks xmlns:a="http://schemas.openxmlformats.org/drawingml/2006/main" noGrp="1"/>
          </p:cNvSpPr>
          <p:nvPr/>
        </p:nvSpPr>
        <p:spPr>
          <a:xfrm xmlns:a="http://schemas.openxmlformats.org/drawingml/2006/main">
            <a:off x="571500" y="18478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Op een eiland worden huurfietsen verhandeld.</a:t>
            </a:r>
          </a:p>
        </p:txBody>
      </p:sp>
      <p:sp>
        <p:nvSpPr>
          <p:cNvPr id="6" name="Vraag: P = 80 − Q">
            <a:extLst xmlns:a="http://schemas.openxmlformats.org/drawingml/2006/main">
              <a:ext uri="{FF2B5EF4-FFF2-40B4-BE49-F238E27FC236}">
                <a16:creationId xmlns:a16="http://schemas.microsoft.com/office/drawing/2014/main" id="{A5D9D3C5-992A-4AFD-8C1E-66506F50A721}"/>
              </a:ext>
            </a:extLst>
          </p:cNvPr>
          <p:cNvSpPr>
            <a:spLocks xmlns:a="http://schemas.openxmlformats.org/drawingml/2006/main" noGrp="1"/>
          </p:cNvSpPr>
          <p:nvPr/>
        </p:nvSpPr>
        <p:spPr>
          <a:xfrm xmlns:a="http://schemas.openxmlformats.org/drawingml/2006/main">
            <a:off x="571500" y="294322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Vraag: P = 80 − Q</a:t>
            </a:r>
          </a:p>
        </p:txBody>
      </p:sp>
      <p:sp>
        <p:nvSpPr>
          <p:cNvPr id="7" name="Aanbod: P = 20 + 0,5Q">
            <a:extLst xmlns:a="http://schemas.openxmlformats.org/drawingml/2006/main">
              <a:ext uri="{FF2B5EF4-FFF2-40B4-BE49-F238E27FC236}">
                <a16:creationId xmlns:a16="http://schemas.microsoft.com/office/drawing/2014/main" id="{8286AAD5-EB0C-4CDC-B673-5BBEB6D8828D}"/>
              </a:ext>
            </a:extLst>
          </p:cNvPr>
          <p:cNvSpPr>
            <a:spLocks xmlns:a="http://schemas.openxmlformats.org/drawingml/2006/main" noGrp="1"/>
          </p:cNvSpPr>
          <p:nvPr/>
        </p:nvSpPr>
        <p:spPr>
          <a:xfrm xmlns:a="http://schemas.openxmlformats.org/drawingml/2006/main">
            <a:off x="571500" y="39433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Aanbod: P = 20 + 0,5Q</a:t>
            </a:r>
          </a:p>
        </p:txBody>
      </p:sp>
      <p:sp>
        <p:nvSpPr>
          <p:cNvPr id="8" name="P in euro per huurfiets · Q in huurfietsen&#10;Binnen deze opgav">
            <a:extLst xmlns:a="http://schemas.openxmlformats.org/drawingml/2006/main">
              <a:ext uri="{FF2B5EF4-FFF2-40B4-BE49-F238E27FC236}">
                <a16:creationId xmlns:a16="http://schemas.microsoft.com/office/drawing/2014/main" id="{D2C9640B-C61B-415C-9C6C-990BB82C9A26}"/>
              </a:ext>
            </a:extLst>
          </p:cNvPr>
          <p:cNvSpPr>
            <a:spLocks xmlns:a="http://schemas.openxmlformats.org/drawingml/2006/main" noGrp="1"/>
          </p:cNvSpPr>
          <p:nvPr/>
        </p:nvSpPr>
        <p:spPr>
          <a:xfrm xmlns:a="http://schemas.openxmlformats.org/drawingml/2006/main">
            <a:off x="571500" y="5019675"/>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 in euro per huurfiets · Q in huurfietsen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Binnen deze opgave lees je de aanbodlijn als MK.</a:t>
            </a:r>
          </a:p>
        </p:txBody>
      </p:sp>
      <p:sp>
        <p:nvSpPr>
          <p:cNvPr id="9" name="Zonder beperking ontstaat een marktevenwicht.&#10;Een bron verme">
            <a:extLst xmlns:a="http://schemas.openxmlformats.org/drawingml/2006/main">
              <a:ext uri="{FF2B5EF4-FFF2-40B4-BE49-F238E27FC236}">
                <a16:creationId xmlns:a16="http://schemas.microsoft.com/office/drawing/2014/main" id="{AF40C0B0-D19B-42EE-904E-6A235DBDE289}"/>
              </a:ext>
            </a:extLst>
          </p:cNvPr>
          <p:cNvSpPr>
            <a:spLocks xmlns:a="http://schemas.openxmlformats.org/drawingml/2006/main" noGrp="1"/>
          </p:cNvSpPr>
          <p:nvPr/>
        </p:nvSpPr>
        <p:spPr>
          <a:xfrm xmlns:a="http://schemas.openxmlformats.org/drawingml/2006/main">
            <a:off x="571500" y="6600825"/>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Zonder beperking ontstaat een marktevenwicht.</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Een bron vermeldt ook dat de meeste fietsen blauw zijn;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dat gegeven is economisch niet relevant.</a:t>
            </a:r>
          </a:p>
        </p:txBody>
      </p:sp>
    </p:spTree>
    <p:extLst>
      <p:ext uri="{BB962C8B-B14F-4D97-AF65-F5344CB8AC3E}">
        <p14:creationId xmlns:p14="http://schemas.microsoft.com/office/powerpoint/2010/main" val="12995381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 · De boekingsregel">
            <a:extLst xmlns:a="http://schemas.openxmlformats.org/drawingml/2006/main">
              <a:ext uri="{FF2B5EF4-FFF2-40B4-BE49-F238E27FC236}">
                <a16:creationId xmlns:a16="http://schemas.microsoft.com/office/drawing/2014/main" id="{F2181DD3-6FC2-4629-90E1-77A6EF2666A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De boekingsregel</a:t>
            </a:r>
          </a:p>
        </p:txBody>
      </p:sp>
      <p:sp>
        <p:nvSpPr>
          <p:cNvPr id="2" name="">
            <a:extLst xmlns:a="http://schemas.openxmlformats.org/drawingml/2006/main">
              <a:ext uri="{FF2B5EF4-FFF2-40B4-BE49-F238E27FC236}">
                <a16:creationId xmlns:a16="http://schemas.microsoft.com/office/drawing/2014/main" id="{3C8E8D2F-4F16-4DA2-98B3-B7D73D15FEF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E014080-A62D-4B1D-9BDD-CD034E08F63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963F9114-296F-4A4A-B1B8-60831DA24F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2" name=""/>
          <p:cNvGraphicFramePr/>
          <p:nvPr/>
        </p:nvGraphicFramePr>
        <p:xfrm>
          <a:off xmlns:a="http://schemas.openxmlformats.org/drawingml/2006/main" x="571500" y="1847850"/>
          <a:ext xmlns:a="http://schemas.openxmlformats.org/drawingml/2006/main" cx="14097000" cy="3400425"/>
        </p:xfrm>
        <a:graphic xmlns:a="http://schemas.openxmlformats.org/drawingml/2006/main">
          <a:graphicData uri="http://schemas.openxmlformats.org/drawingml/2006/table">
            <a:tbl>
              <a:tblPr/>
              <a:tblGrid>
                <a:gridCol w="6286500"/>
                <a:gridCol w="7810500"/>
              </a:tblGrid>
              <a:tr h="680085">
                <a:tc>
                  <a:txBody>
                    <a:bodyPr lIns="171450" tIns="95250" rIns="152400" bIns="95250"/>
                    <a:lstStyle/>
                    <a:p>
                      <a:r>
                        <a:rPr sz="2625" b="1">
                          <a:solidFill>
                            <a:srgbClr val="FFFFFF"/>
                          </a:solidFill>
                          <a:latin typeface="Arial"/>
                          <a:ea typeface="Arial"/>
                          <a:cs typeface="Arial"/>
                        </a:rPr>
                        <a:t>In het hoogseizoen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Gegeven</a:t>
                      </a:r>
                    </a:p>
                  </a:txBody>
                  <a:tcPr marL="91440" marR="91440" marT="45720" marB="45720" anchor="ctr">
                    <a:solidFill>
                      <a:srgbClr val="183247"/>
                    </a:solidFill>
                  </a:tcPr>
                </a:tc>
              </a:tr>
              <a:tr h="680085">
                <a:tc>
                  <a:txBody>
                    <a:bodyPr lIns="171450" tIns="95250" rIns="152400" bIns="95250"/>
                    <a:lstStyle/>
                    <a:p>
                      <a:r>
                        <a:rPr sz="2625" b="0">
                          <a:solidFill>
                            <a:srgbClr val="183247"/>
                          </a:solidFill>
                          <a:latin typeface="Arial"/>
                          <a:ea typeface="Arial"/>
                          <a:cs typeface="Arial"/>
                        </a:rPr>
                        <a:t>Transactieprijs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€ 45 per huurfiets</a:t>
                      </a:r>
                    </a:p>
                  </a:txBody>
                  <a:tcPr marL="91440" marR="91440" marT="45720" marB="45720" anchor="ctr">
                    <a:solidFill>
                      <a:srgbClr val="FFFFFF"/>
                    </a:solidFill>
                  </a:tcPr>
                </a:tc>
              </a:tr>
              <a:tr h="680085">
                <a:tc>
                  <a:txBody>
                    <a:bodyPr lIns="171450" tIns="95250" rIns="152400" bIns="95250"/>
                    <a:lstStyle/>
                    <a:p>
                      <a:r>
                        <a:rPr sz="2625" b="0">
                          <a:solidFill>
                            <a:srgbClr val="183247"/>
                          </a:solidFill>
                          <a:latin typeface="Arial"/>
                          <a:ea typeface="Arial"/>
                          <a:cs typeface="Arial"/>
                        </a:rPr>
                        <a:t>Boekingsgrens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Maximaal 30 boekingen</a:t>
                      </a:r>
                    </a:p>
                  </a:txBody>
                  <a:tcPr marL="91440" marR="91440" marT="45720" marB="45720" anchor="ctr">
                    <a:solidFill>
                      <a:srgbClr val="EFF4F7"/>
                    </a:solidFill>
                  </a:tcPr>
                </a:tc>
              </a:tr>
              <a:tr h="680085">
                <a:tc>
                  <a:txBody>
                    <a:bodyPr lIns="171450" tIns="95250" rIns="152400" bIns="95250"/>
                    <a:lstStyle/>
                    <a:p>
                      <a:r>
                        <a:rPr sz="2625" b="0">
                          <a:solidFill>
                            <a:srgbClr val="183247"/>
                          </a:solidFill>
                          <a:latin typeface="Arial"/>
                          <a:ea typeface="Arial"/>
                          <a:cs typeface="Arial"/>
                        </a:rPr>
                        <a:t>Technische ruimte</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Minstens 40 transacties</a:t>
                      </a:r>
                    </a:p>
                  </a:txBody>
                  <a:tcPr marL="91440" marR="91440" marT="45720" marB="45720" anchor="ctr">
                    <a:solidFill>
                      <a:srgbClr val="FFFFFF"/>
                    </a:solidFill>
                  </a:tcPr>
                </a:tc>
              </a:tr>
              <a:tr h="680085">
                <a:tc>
                  <a:txBody>
                    <a:bodyPr lIns="171450" tIns="95250" rIns="152400" bIns="95250"/>
                    <a:lstStyle/>
                    <a:p>
                      <a:r>
                        <a:rPr sz="2625" b="0">
                          <a:solidFill>
                            <a:srgbClr val="183247"/>
                          </a:solidFill>
                          <a:latin typeface="Arial"/>
                          <a:ea typeface="Arial"/>
                          <a:cs typeface="Arial"/>
                        </a:rPr>
                        <a:t>Verruiming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Kosteloos</a:t>
                      </a:r>
                    </a:p>
                  </a:txBody>
                  <a:tcPr marL="91440" marR="91440" marT="45720" marB="45720" anchor="ctr">
                    <a:solidFill>
                      <a:srgbClr val="EFF4F7"/>
                    </a:solidFill>
                  </a:tcPr>
                </a:tc>
              </a:tr>
            </a:tbl>
          </a:graphicData>
        </a:graphic>
      </p:graphicFrame>
      <p:sp>
        <p:nvSpPr>
          <p:cNvPr id="6" name="De 30 fietsen gaan naar de huurders met de hoogste betalings">
            <a:extLst xmlns:a="http://schemas.openxmlformats.org/drawingml/2006/main">
              <a:ext uri="{FF2B5EF4-FFF2-40B4-BE49-F238E27FC236}">
                <a16:creationId xmlns:a16="http://schemas.microsoft.com/office/drawing/2014/main" id="{54A1162C-25CD-40F9-BE1A-0FD7F41BC8F8}"/>
              </a:ext>
            </a:extLst>
          </p:cNvPr>
          <p:cNvSpPr>
            <a:spLocks xmlns:a="http://schemas.openxmlformats.org/drawingml/2006/main" noGrp="1"/>
          </p:cNvSpPr>
          <p:nvPr/>
        </p:nvSpPr>
        <p:spPr>
          <a:xfrm xmlns:a="http://schemas.openxmlformats.org/drawingml/2006/main">
            <a:off x="571500" y="574357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De 30 fietsen gaan naar de huurders met de hoogste betalingsbereidheid en komen van verhuurders met de laagste MK.</a:t>
            </a:r>
          </a:p>
        </p:txBody>
      </p:sp>
      <p:sp>
        <p:nvSpPr>
          <p:cNvPr id="7" name="Bij verruiming blijven prijs en bestaande transacties ongewi">
            <a:extLst xmlns:a="http://schemas.openxmlformats.org/drawingml/2006/main">
              <a:ext uri="{FF2B5EF4-FFF2-40B4-BE49-F238E27FC236}">
                <a16:creationId xmlns:a16="http://schemas.microsoft.com/office/drawing/2014/main" id="{768205AA-B361-4DA4-80AD-3402AAEA0775}"/>
              </a:ext>
            </a:extLst>
          </p:cNvPr>
          <p:cNvSpPr>
            <a:spLocks xmlns:a="http://schemas.openxmlformats.org/drawingml/2006/main" noGrp="1"/>
          </p:cNvSpPr>
          <p:nvPr/>
        </p:nvSpPr>
        <p:spPr>
          <a:xfrm xmlns:a="http://schemas.openxmlformats.org/drawingml/2006/main">
            <a:off x="571500" y="71628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Bij verruiming blijven prijs en bestaande transacties ongewijzigd.</a:t>
            </a:r>
          </a:p>
        </p:txBody>
      </p:sp>
    </p:spTree>
    <p:extLst>
      <p:ext uri="{BB962C8B-B14F-4D97-AF65-F5344CB8AC3E}">
        <p14:creationId xmlns:p14="http://schemas.microsoft.com/office/powerpoint/2010/main" val="6234092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 · Basisgrafiek">
            <a:extLst xmlns:a="http://schemas.openxmlformats.org/drawingml/2006/main">
              <a:ext uri="{FF2B5EF4-FFF2-40B4-BE49-F238E27FC236}">
                <a16:creationId xmlns:a16="http://schemas.microsoft.com/office/drawing/2014/main" id="{16E437F5-9726-4674-A2DD-299C5EF9CAD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Basisgrafiek</a:t>
            </a:r>
          </a:p>
        </p:txBody>
      </p:sp>
      <p:sp>
        <p:nvSpPr>
          <p:cNvPr id="2" name="">
            <a:extLst xmlns:a="http://schemas.openxmlformats.org/drawingml/2006/main">
              <a:ext uri="{FF2B5EF4-FFF2-40B4-BE49-F238E27FC236}">
                <a16:creationId xmlns:a16="http://schemas.microsoft.com/office/drawing/2014/main" id="{D36C593D-0A6E-4806-BEC9-5F034A37FF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64FE678-98FF-46BF-9DC2-D04863A9C4A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2BFDB04D-9006-453A-A6C5-A06BE2611CA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5"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d7e67a04f0564fd8"/>
          </a:graphicData>
        </a:graphic>
      </p:graphicFrame>
      <p:sp>
        <p:nvSpPr>
          <p:cNvPr id="6" name="V">
            <a:extLst xmlns:a="http://schemas.openxmlformats.org/drawingml/2006/main">
              <a:ext uri="{FF2B5EF4-FFF2-40B4-BE49-F238E27FC236}">
                <a16:creationId xmlns:a16="http://schemas.microsoft.com/office/drawing/2014/main" id="{3A9139F0-8EF2-408B-99E2-B87AEFE7E0A2}"/>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7" name="A = MK">
            <a:extLst xmlns:a="http://schemas.openxmlformats.org/drawingml/2006/main">
              <a:ext uri="{FF2B5EF4-FFF2-40B4-BE49-F238E27FC236}">
                <a16:creationId xmlns:a16="http://schemas.microsoft.com/office/drawing/2014/main" id="{5A903A92-E776-472C-93D5-F5423480A482}"/>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8" name="Gegeven lijnen">
            <a:extLst xmlns:a="http://schemas.openxmlformats.org/drawingml/2006/main">
              <a:ext uri="{FF2B5EF4-FFF2-40B4-BE49-F238E27FC236}">
                <a16:creationId xmlns:a16="http://schemas.microsoft.com/office/drawing/2014/main" id="{49ABAD5F-D18B-411C-AC80-DF6AFEAF7B7E}"/>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Gegeven lijnen</a:t>
            </a:r>
          </a:p>
        </p:txBody>
      </p:sp>
      <p:sp>
        <p:nvSpPr>
          <p:cNvPr id="9" name="V: P = 80 − Q&#10;&#10;A = MK:&#10;P = 20 + 0,5Q">
            <a:extLst xmlns:a="http://schemas.openxmlformats.org/drawingml/2006/main">
              <a:ext uri="{FF2B5EF4-FFF2-40B4-BE49-F238E27FC236}">
                <a16:creationId xmlns:a16="http://schemas.microsoft.com/office/drawing/2014/main" id="{6B37CE84-4FFB-4326-A284-E4D23AF809FD}"/>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 P = 80 − Q</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 = MK: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20 + 0,5Q</a:t>
            </a:r>
          </a:p>
        </p:txBody>
      </p:sp>
      <p:sp>
        <p:nvSpPr>
          <p:cNvPr id="10" name="De markeringen&#10;komen later.">
            <a:extLst xmlns:a="http://schemas.openxmlformats.org/drawingml/2006/main">
              <a:ext uri="{FF2B5EF4-FFF2-40B4-BE49-F238E27FC236}">
                <a16:creationId xmlns:a16="http://schemas.microsoft.com/office/drawing/2014/main" id="{258A1A17-9EA5-4D49-81A9-1AF24DF3EB8B}"/>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De markeringen</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komen later.</a:t>
            </a:r>
          </a:p>
        </p:txBody>
      </p:sp>
    </p:spTree>
    <p:extLst>
      <p:ext uri="{BB962C8B-B14F-4D97-AF65-F5344CB8AC3E}">
        <p14:creationId xmlns:p14="http://schemas.microsoft.com/office/powerpoint/2010/main" val="16914560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3 · Hulpcijfers uit de bron">
            <a:extLst xmlns:a="http://schemas.openxmlformats.org/drawingml/2006/main">
              <a:ext uri="{FF2B5EF4-FFF2-40B4-BE49-F238E27FC236}">
                <a16:creationId xmlns:a16="http://schemas.microsoft.com/office/drawing/2014/main" id="{ED43ED92-8535-44AC-ADD3-B905390F183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Hulpcijfers uit de bron</a:t>
            </a:r>
          </a:p>
        </p:txBody>
      </p:sp>
      <p:sp>
        <p:nvSpPr>
          <p:cNvPr id="2" name="">
            <a:extLst xmlns:a="http://schemas.openxmlformats.org/drawingml/2006/main">
              <a:ext uri="{FF2B5EF4-FFF2-40B4-BE49-F238E27FC236}">
                <a16:creationId xmlns:a16="http://schemas.microsoft.com/office/drawing/2014/main" id="{BA2F25EF-B4EF-4B7B-B434-BF98C160B37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6424EEC-666F-4D85-90A2-18A354E2AA6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9EAE5D30-80C7-4B08-91E5-ED0F7332636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1" name=""/>
          <p:cNvGraphicFramePr/>
          <p:nvPr/>
        </p:nvGraphicFramePr>
        <p:xfrm>
          <a:off xmlns:a="http://schemas.openxmlformats.org/drawingml/2006/main" x="571500" y="2200275"/>
          <a:ext xmlns:a="http://schemas.openxmlformats.org/drawingml/2006/main" cx="14097000" cy="3248025"/>
        </p:xfrm>
        <a:graphic xmlns:a="http://schemas.openxmlformats.org/drawingml/2006/main">
          <a:graphicData uri="http://schemas.openxmlformats.org/drawingml/2006/table">
            <a:tbl>
              <a:tblPr/>
              <a:tblGrid>
                <a:gridCol w="3381375"/>
                <a:gridCol w="1238250"/>
                <a:gridCol w="1238250"/>
                <a:gridCol w="4238625"/>
                <a:gridCol w="4000500"/>
              </a:tblGrid>
              <a:tr h="1082675">
                <a:tc>
                  <a:txBody>
                    <a:bodyPr lIns="171450" tIns="95250" rIns="152400" bIns="95250"/>
                    <a:lstStyle/>
                    <a:p>
                      <a:r>
                        <a:rPr sz="2325" b="1">
                          <a:solidFill>
                            <a:srgbClr val="FFFFFF"/>
                          </a:solidFill>
                          <a:latin typeface="Arial"/>
                          <a:ea typeface="Arial"/>
                          <a:cs typeface="Arial"/>
                        </a:rPr>
                        <a:t>Toestand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Qd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Qs</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Betalingsbereidheid</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Marginale kosten</a:t>
                      </a:r>
                    </a:p>
                  </a:txBody>
                  <a:tcPr marL="91440" marR="91440" marT="45720" marB="45720" anchor="ctr">
                    <a:solidFill>
                      <a:srgbClr val="183247"/>
                    </a:solidFill>
                  </a:tcPr>
                </a:tc>
              </a:tr>
              <a:tr h="1082675">
                <a:tc>
                  <a:txBody>
                    <a:bodyPr lIns="171450" tIns="95250" rIns="152400" bIns="95250"/>
                    <a:lstStyle/>
                    <a:p>
                      <a:r>
                        <a:rPr sz="2325" b="0">
                          <a:solidFill>
                            <a:srgbClr val="183247"/>
                          </a:solidFill>
                          <a:latin typeface="Arial"/>
                          <a:ea typeface="Arial"/>
                          <a:cs typeface="Arial"/>
                        </a:rPr>
                        <a:t>P = € 45</a:t>
                      </a:r>
                    </a:p>
                    <a:p>
                      <a:r>
                        <a:rPr sz="2325" b="0">
                          <a:solidFill>
                            <a:srgbClr val="183247"/>
                          </a:solidFill>
                          <a:latin typeface="Arial"/>
                          <a:ea typeface="Arial"/>
                          <a:cs typeface="Arial"/>
                        </a:rPr>
                        <a:t>en Q = 30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35</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50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€ 50 bij Q = 30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€ 35 bij Q = 30</a:t>
                      </a:r>
                    </a:p>
                  </a:txBody>
                  <a:tcPr marL="91440" marR="91440" marT="45720" marB="45720" anchor="ctr">
                    <a:solidFill>
                      <a:srgbClr val="FFFFFF"/>
                    </a:solidFill>
                  </a:tcPr>
                </a:tc>
              </a:tr>
              <a:tr h="1082675">
                <a:tc>
                  <a:txBody>
                    <a:bodyPr lIns="171450" tIns="95250" rIns="152400" bIns="95250"/>
                    <a:lstStyle/>
                    <a:p>
                      <a:r>
                        <a:rPr sz="2325" b="0">
                          <a:solidFill>
                            <a:srgbClr val="183247"/>
                          </a:solidFill>
                          <a:latin typeface="Arial"/>
                          <a:ea typeface="Arial"/>
                          <a:cs typeface="Arial"/>
                        </a:rPr>
                        <a:t>Mogelijke</a:t>
                      </a:r>
                    </a:p>
                    <a:p>
                      <a:r>
                        <a:rPr sz="2325" b="0">
                          <a:solidFill>
                            <a:srgbClr val="183247"/>
                          </a:solidFill>
                          <a:latin typeface="Arial"/>
                          <a:ea typeface="Arial"/>
                          <a:cs typeface="Arial"/>
                        </a:rPr>
                        <a:t>31e transactie</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€ 49</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€ 35,50</a:t>
                      </a:r>
                    </a:p>
                  </a:txBody>
                  <a:tcPr marL="91440" marR="91440" marT="45720" marB="45720" anchor="ctr">
                    <a:solidFill>
                      <a:srgbClr val="EFF4F7"/>
                    </a:solidFill>
                  </a:tcPr>
                </a:tc>
              </a:tr>
            </a:tbl>
          </a:graphicData>
        </a:graphic>
      </p:graphicFrame>
      <p:sp>
        <p:nvSpPr>
          <p:cNvPr id="6" name="Omdat Qd = 35 en Qs = 50, is de boekingsgrens van 30 bindend">
            <a:extLst xmlns:a="http://schemas.openxmlformats.org/drawingml/2006/main">
              <a:ext uri="{FF2B5EF4-FFF2-40B4-BE49-F238E27FC236}">
                <a16:creationId xmlns:a16="http://schemas.microsoft.com/office/drawing/2014/main" id="{4079E46A-0A7D-4DFC-AD48-30A0A7142BAE}"/>
              </a:ext>
            </a:extLst>
          </p:cNvPr>
          <p:cNvSpPr>
            <a:spLocks xmlns:a="http://schemas.openxmlformats.org/drawingml/2006/main" noGrp="1"/>
          </p:cNvSpPr>
          <p:nvPr/>
        </p:nvSpPr>
        <p:spPr>
          <a:xfrm xmlns:a="http://schemas.openxmlformats.org/drawingml/2006/main">
            <a:off x="571500" y="6076950"/>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Omdat Qd = 35 en Qs = 50, is de boekingsgrens van 30 bindend.</a:t>
            </a:r>
          </a:p>
        </p:txBody>
      </p:sp>
    </p:spTree>
    <p:extLst>
      <p:ext uri="{BB962C8B-B14F-4D97-AF65-F5344CB8AC3E}">
        <p14:creationId xmlns:p14="http://schemas.microsoft.com/office/powerpoint/2010/main" val="640595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 · Vragen 1–3">
            <a:extLst xmlns:a="http://schemas.openxmlformats.org/drawingml/2006/main">
              <a:ext uri="{FF2B5EF4-FFF2-40B4-BE49-F238E27FC236}">
                <a16:creationId xmlns:a16="http://schemas.microsoft.com/office/drawing/2014/main" id="{04557453-E0A3-4BFE-BB5F-36859CBA2BC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Vragen 1–3</a:t>
            </a:r>
          </a:p>
        </p:txBody>
      </p:sp>
      <p:sp>
        <p:nvSpPr>
          <p:cNvPr id="2" name="">
            <a:extLst xmlns:a="http://schemas.openxmlformats.org/drawingml/2006/main">
              <a:ext uri="{FF2B5EF4-FFF2-40B4-BE49-F238E27FC236}">
                <a16:creationId xmlns:a16="http://schemas.microsoft.com/office/drawing/2014/main" id="{FAA6277D-5BCD-4B32-B87C-78302E91B7B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DE4B026-C9C9-4948-B0F8-A651A1CBEC9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1106F64C-22C4-428D-B172-DD8C919EAF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1)">
            <a:extLst xmlns:a="http://schemas.openxmlformats.org/drawingml/2006/main">
              <a:ext uri="{FF2B5EF4-FFF2-40B4-BE49-F238E27FC236}">
                <a16:creationId xmlns:a16="http://schemas.microsoft.com/office/drawing/2014/main" id="{80E5A284-790B-49C5-8ADD-ADD8EB487239}"/>
              </a:ext>
            </a:extLst>
          </p:cNvPr>
          <p:cNvSpPr>
            <a:spLocks xmlns:a="http://schemas.openxmlformats.org/drawingml/2006/main" noGrp="1"/>
          </p:cNvSpPr>
          <p:nvPr/>
        </p:nvSpPr>
        <p:spPr>
          <a:xfrm xmlns:a="http://schemas.openxmlformats.org/drawingml/2006/main">
            <a:off x="571500" y="20097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1)</a:t>
            </a:r>
          </a:p>
        </p:txBody>
      </p:sp>
      <p:sp>
        <p:nvSpPr>
          <p:cNvPr id="6" name="Selecteer de gegevens die nodig zijn om het vrije evenwicht ">
            <a:extLst xmlns:a="http://schemas.openxmlformats.org/drawingml/2006/main">
              <a:ext uri="{FF2B5EF4-FFF2-40B4-BE49-F238E27FC236}">
                <a16:creationId xmlns:a16="http://schemas.microsoft.com/office/drawing/2014/main" id="{D2C8EB04-7229-4C19-A19A-37DE3FE4A3AF}"/>
              </a:ext>
            </a:extLst>
          </p:cNvPr>
          <p:cNvSpPr>
            <a:spLocks xmlns:a="http://schemas.openxmlformats.org/drawingml/2006/main" noGrp="1"/>
          </p:cNvSpPr>
          <p:nvPr/>
        </p:nvSpPr>
        <p:spPr>
          <a:xfrm xmlns:a="http://schemas.openxmlformats.org/drawingml/2006/main">
            <a:off x="1524000" y="2009775"/>
            <a:ext cx="13049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Selecteer de gegevens die nodig zijn om het vrije evenwicht te berekenen, noem het irrelevante gegeven en bereken Pe en Qe.</a:t>
            </a:r>
          </a:p>
        </p:txBody>
      </p:sp>
      <p:sp>
        <p:nvSpPr>
          <p:cNvPr id="7" name="2)">
            <a:extLst xmlns:a="http://schemas.openxmlformats.org/drawingml/2006/main">
              <a:ext uri="{FF2B5EF4-FFF2-40B4-BE49-F238E27FC236}">
                <a16:creationId xmlns:a16="http://schemas.microsoft.com/office/drawing/2014/main" id="{BB2B8047-4A04-4A84-812E-6FC586DC715A}"/>
              </a:ext>
            </a:extLst>
          </p:cNvPr>
          <p:cNvSpPr>
            <a:spLocks xmlns:a="http://schemas.openxmlformats.org/drawingml/2006/main" noGrp="1"/>
          </p:cNvSpPr>
          <p:nvPr/>
        </p:nvSpPr>
        <p:spPr>
          <a:xfrm xmlns:a="http://schemas.openxmlformats.org/drawingml/2006/main">
            <a:off x="571500" y="39243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2)</a:t>
            </a:r>
          </a:p>
        </p:txBody>
      </p:sp>
      <p:sp>
        <p:nvSpPr>
          <p:cNvPr id="8" name="Bereken bij het vrije evenwicht CS, PS en TS.">
            <a:extLst xmlns:a="http://schemas.openxmlformats.org/drawingml/2006/main">
              <a:ext uri="{FF2B5EF4-FFF2-40B4-BE49-F238E27FC236}">
                <a16:creationId xmlns:a16="http://schemas.microsoft.com/office/drawing/2014/main" id="{D7A19FD5-D54D-4241-B377-CF5921368DB5}"/>
              </a:ext>
            </a:extLst>
          </p:cNvPr>
          <p:cNvSpPr>
            <a:spLocks xmlns:a="http://schemas.openxmlformats.org/drawingml/2006/main" noGrp="1"/>
          </p:cNvSpPr>
          <p:nvPr/>
        </p:nvSpPr>
        <p:spPr>
          <a:xfrm xmlns:a="http://schemas.openxmlformats.org/drawingml/2006/main">
            <a:off x="1524000" y="3924300"/>
            <a:ext cx="1304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bij het vrije evenwicht CS, PS en TS.</a:t>
            </a:r>
          </a:p>
        </p:txBody>
      </p:sp>
      <p:sp>
        <p:nvSpPr>
          <p:cNvPr id="9" name="3)">
            <a:extLst xmlns:a="http://schemas.openxmlformats.org/drawingml/2006/main">
              <a:ext uri="{FF2B5EF4-FFF2-40B4-BE49-F238E27FC236}">
                <a16:creationId xmlns:a16="http://schemas.microsoft.com/office/drawing/2014/main" id="{76BD7F9E-F5B9-40A5-AEBB-55145DC39DBB}"/>
              </a:ext>
            </a:extLst>
          </p:cNvPr>
          <p:cNvSpPr>
            <a:spLocks xmlns:a="http://schemas.openxmlformats.org/drawingml/2006/main" noGrp="1"/>
          </p:cNvSpPr>
          <p:nvPr/>
        </p:nvSpPr>
        <p:spPr>
          <a:xfrm xmlns:a="http://schemas.openxmlformats.org/drawingml/2006/main">
            <a:off x="571500" y="53816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3)</a:t>
            </a:r>
          </a:p>
        </p:txBody>
      </p:sp>
      <p:sp>
        <p:nvSpPr>
          <p:cNvPr id="10" name="Bereken bij 30 transacties en P = € 45 met de gegeven alloca">
            <a:extLst xmlns:a="http://schemas.openxmlformats.org/drawingml/2006/main">
              <a:ext uri="{FF2B5EF4-FFF2-40B4-BE49-F238E27FC236}">
                <a16:creationId xmlns:a16="http://schemas.microsoft.com/office/drawing/2014/main" id="{5B7F9F3C-56A8-43B9-AAD5-CA4BD016E68C}"/>
              </a:ext>
            </a:extLst>
          </p:cNvPr>
          <p:cNvSpPr>
            <a:spLocks xmlns:a="http://schemas.openxmlformats.org/drawingml/2006/main" noGrp="1"/>
          </p:cNvSpPr>
          <p:nvPr/>
        </p:nvSpPr>
        <p:spPr>
          <a:xfrm xmlns:a="http://schemas.openxmlformats.org/drawingml/2006/main">
            <a:off x="1524000" y="5381625"/>
            <a:ext cx="13049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bij 30 transacties en P = € 45 met de gegeven allocatieregel CS, PS en TS. Gebruik de hulpcijfers en alleen rechthoeken en driehoeken.</a:t>
            </a:r>
          </a:p>
        </p:txBody>
      </p:sp>
    </p:spTree>
    <p:extLst>
      <p:ext uri="{BB962C8B-B14F-4D97-AF65-F5344CB8AC3E}">
        <p14:creationId xmlns:p14="http://schemas.microsoft.com/office/powerpoint/2010/main" val="4873322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3 · Vragen 4–6">
            <a:extLst xmlns:a="http://schemas.openxmlformats.org/drawingml/2006/main">
              <a:ext uri="{FF2B5EF4-FFF2-40B4-BE49-F238E27FC236}">
                <a16:creationId xmlns:a16="http://schemas.microsoft.com/office/drawing/2014/main" id="{DDB67FB8-3018-4014-90D7-81F0407BDB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 · Vragen 4–6</a:t>
            </a:r>
          </a:p>
        </p:txBody>
      </p:sp>
      <p:sp>
        <p:nvSpPr>
          <p:cNvPr id="2" name="">
            <a:extLst xmlns:a="http://schemas.openxmlformats.org/drawingml/2006/main">
              <a:ext uri="{FF2B5EF4-FFF2-40B4-BE49-F238E27FC236}">
                <a16:creationId xmlns:a16="http://schemas.microsoft.com/office/drawing/2014/main" id="{2FFEC500-ED94-4DAD-844D-4F0B2A67ACA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B9DC080-DE8C-4BE9-8F2C-D08021AE849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37F85963-54AC-4453-A809-5ACDD267B43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4)">
            <a:extLst xmlns:a="http://schemas.openxmlformats.org/drawingml/2006/main">
              <a:ext uri="{FF2B5EF4-FFF2-40B4-BE49-F238E27FC236}">
                <a16:creationId xmlns:a16="http://schemas.microsoft.com/office/drawing/2014/main" id="{86024EC1-E2BD-4653-B791-C697FC8128B1}"/>
              </a:ext>
            </a:extLst>
          </p:cNvPr>
          <p:cNvSpPr>
            <a:spLocks xmlns:a="http://schemas.openxmlformats.org/drawingml/2006/main" noGrp="1"/>
          </p:cNvSpPr>
          <p:nvPr/>
        </p:nvSpPr>
        <p:spPr>
          <a:xfrm xmlns:a="http://schemas.openxmlformats.org/drawingml/2006/main">
            <a:off x="571500" y="19050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4)</a:t>
            </a:r>
          </a:p>
        </p:txBody>
      </p:sp>
      <p:sp>
        <p:nvSpPr>
          <p:cNvPr id="6" name="Bereken het welvaartsverlies en arceer dit in de basisgrafie">
            <a:extLst xmlns:a="http://schemas.openxmlformats.org/drawingml/2006/main">
              <a:ext uri="{FF2B5EF4-FFF2-40B4-BE49-F238E27FC236}">
                <a16:creationId xmlns:a16="http://schemas.microsoft.com/office/drawing/2014/main" id="{1767E763-BEED-474C-8D0A-DB2CFC8AABAC}"/>
              </a:ext>
            </a:extLst>
          </p:cNvPr>
          <p:cNvSpPr>
            <a:spLocks xmlns:a="http://schemas.openxmlformats.org/drawingml/2006/main" noGrp="1"/>
          </p:cNvSpPr>
          <p:nvPr/>
        </p:nvSpPr>
        <p:spPr>
          <a:xfrm xmlns:a="http://schemas.openxmlformats.org/drawingml/2006/main">
            <a:off x="1524000" y="1905000"/>
            <a:ext cx="13049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het welvaartsverlies en arceer dit in de basisgrafiek. Benoem basis en hoogte; teken de vraag- en aanbodlijn niet opnieuw.</a:t>
            </a:r>
          </a:p>
        </p:txBody>
      </p:sp>
      <p:sp>
        <p:nvSpPr>
          <p:cNvPr id="7" name="5)">
            <a:extLst xmlns:a="http://schemas.openxmlformats.org/drawingml/2006/main">
              <a:ext uri="{FF2B5EF4-FFF2-40B4-BE49-F238E27FC236}">
                <a16:creationId xmlns:a16="http://schemas.microsoft.com/office/drawing/2014/main" id="{1C163330-C0D5-4795-A529-9DA04AC367BA}"/>
              </a:ext>
            </a:extLst>
          </p:cNvPr>
          <p:cNvSpPr>
            <a:spLocks xmlns:a="http://schemas.openxmlformats.org/drawingml/2006/main" noGrp="1"/>
          </p:cNvSpPr>
          <p:nvPr/>
        </p:nvSpPr>
        <p:spPr>
          <a:xfrm xmlns:a="http://schemas.openxmlformats.org/drawingml/2006/main">
            <a:off x="571500" y="36576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5)</a:t>
            </a:r>
          </a:p>
        </p:txBody>
      </p:sp>
      <p:sp>
        <p:nvSpPr>
          <p:cNvPr id="8" name="Een verhuurder zegt: ‘PS is bij de beperking hoger, dus de u">
            <a:extLst xmlns:a="http://schemas.openxmlformats.org/drawingml/2006/main">
              <a:ext uri="{FF2B5EF4-FFF2-40B4-BE49-F238E27FC236}">
                <a16:creationId xmlns:a16="http://schemas.microsoft.com/office/drawing/2014/main" id="{F489534E-AF59-4B48-A8E5-C96034B5670C}"/>
              </a:ext>
            </a:extLst>
          </p:cNvPr>
          <p:cNvSpPr>
            <a:spLocks xmlns:a="http://schemas.openxmlformats.org/drawingml/2006/main" noGrp="1"/>
          </p:cNvSpPr>
          <p:nvPr/>
        </p:nvSpPr>
        <p:spPr>
          <a:xfrm xmlns:a="http://schemas.openxmlformats.org/drawingml/2006/main">
            <a:off x="1524000" y="3657600"/>
            <a:ext cx="13049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Een verhuurder zegt: ‘PS is bij de beperking hoger, dus de uitkomst is Pareto-efficiënt.’ Beoordeel deze uitspraak met beide TS-waarden en de gegeven betalingsbereidheid en marginale kosten van de 31e transactie.</a:t>
            </a:r>
          </a:p>
        </p:txBody>
      </p:sp>
      <p:sp>
        <p:nvSpPr>
          <p:cNvPr id="9" name="6)">
            <a:extLst xmlns:a="http://schemas.openxmlformats.org/drawingml/2006/main">
              <a:ext uri="{FF2B5EF4-FFF2-40B4-BE49-F238E27FC236}">
                <a16:creationId xmlns:a16="http://schemas.microsoft.com/office/drawing/2014/main" id="{EDF99D88-51F8-4058-8011-C8E0C94596A8}"/>
              </a:ext>
            </a:extLst>
          </p:cNvPr>
          <p:cNvSpPr>
            <a:spLocks xmlns:a="http://schemas.openxmlformats.org/drawingml/2006/main" noGrp="1"/>
          </p:cNvSpPr>
          <p:nvPr/>
        </p:nvSpPr>
        <p:spPr>
          <a:xfrm xmlns:a="http://schemas.openxmlformats.org/drawingml/2006/main">
            <a:off x="571500" y="65055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6)</a:t>
            </a:r>
          </a:p>
        </p:txBody>
      </p:sp>
      <p:sp>
        <p:nvSpPr>
          <p:cNvPr id="10" name="Leg uit waarom de efficiëntievergelijking niet bepaalt welke">
            <a:extLst xmlns:a="http://schemas.openxmlformats.org/drawingml/2006/main">
              <a:ext uri="{FF2B5EF4-FFF2-40B4-BE49-F238E27FC236}">
                <a16:creationId xmlns:a16="http://schemas.microsoft.com/office/drawing/2014/main" id="{6D2E170C-2FD2-4513-B79B-E4AEB277F45F}"/>
              </a:ext>
            </a:extLst>
          </p:cNvPr>
          <p:cNvSpPr>
            <a:spLocks xmlns:a="http://schemas.openxmlformats.org/drawingml/2006/main" noGrp="1"/>
          </p:cNvSpPr>
          <p:nvPr/>
        </p:nvSpPr>
        <p:spPr>
          <a:xfrm xmlns:a="http://schemas.openxmlformats.org/drawingml/2006/main">
            <a:off x="1524000" y="6505575"/>
            <a:ext cx="13049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Leg uit waarom de efficiëntievergelijking niet bepaalt welke uitkomst eerlijker is.</a:t>
            </a:r>
          </a:p>
        </p:txBody>
      </p:sp>
    </p:spTree>
    <p:extLst>
      <p:ext uri="{BB962C8B-B14F-4D97-AF65-F5344CB8AC3E}">
        <p14:creationId xmlns:p14="http://schemas.microsoft.com/office/powerpoint/2010/main" val="7160484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3.1 · Vrij evenwicht">
            <a:extLst xmlns:a="http://schemas.openxmlformats.org/drawingml/2006/main">
              <a:ext uri="{FF2B5EF4-FFF2-40B4-BE49-F238E27FC236}">
                <a16:creationId xmlns:a16="http://schemas.microsoft.com/office/drawing/2014/main" id="{92C6CA3D-6616-4ECF-865F-A71873FA5B4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3.1 · Vrij evenwicht</a:t>
            </a:r>
          </a:p>
        </p:txBody>
      </p:sp>
      <p:sp>
        <p:nvSpPr>
          <p:cNvPr id="2" name="">
            <a:extLst xmlns:a="http://schemas.openxmlformats.org/drawingml/2006/main">
              <a:ext uri="{FF2B5EF4-FFF2-40B4-BE49-F238E27FC236}">
                <a16:creationId xmlns:a16="http://schemas.microsoft.com/office/drawing/2014/main" id="{947A7018-95FC-4A96-82D2-731844E5E4F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C35E779-214E-4A6D-BAEA-26BEA835BDE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E7F77151-F8DD-42CC-A83B-24EFB707775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6"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a152cacbc61c4432"/>
          </a:graphicData>
        </a:graphic>
      </p:graphicFrame>
      <p:sp>
        <p:nvSpPr>
          <p:cNvPr id="6" name="V">
            <a:extLst xmlns:a="http://schemas.openxmlformats.org/drawingml/2006/main">
              <a:ext uri="{FF2B5EF4-FFF2-40B4-BE49-F238E27FC236}">
                <a16:creationId xmlns:a16="http://schemas.microsoft.com/office/drawing/2014/main" id="{89C7FD17-9ABF-464E-9E38-E73268FCCD77}"/>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7" name="A = MK">
            <a:extLst xmlns:a="http://schemas.openxmlformats.org/drawingml/2006/main">
              <a:ext uri="{FF2B5EF4-FFF2-40B4-BE49-F238E27FC236}">
                <a16:creationId xmlns:a16="http://schemas.microsoft.com/office/drawing/2014/main" id="{106A04FA-E38D-4437-AB06-F354AAB006DF}"/>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8" name="E">
            <a:extLst xmlns:a="http://schemas.openxmlformats.org/drawingml/2006/main">
              <a:ext uri="{FF2B5EF4-FFF2-40B4-BE49-F238E27FC236}">
                <a16:creationId xmlns:a16="http://schemas.microsoft.com/office/drawing/2014/main" id="{408C9420-5E17-4334-BC9C-BEF85E9FD9E0}"/>
              </a:ext>
            </a:extLst>
          </p:cNvPr>
          <p:cNvSpPr>
            <a:spLocks xmlns:a="http://schemas.openxmlformats.org/drawingml/2006/main" noGrp="1"/>
          </p:cNvSpPr>
          <p:nvPr/>
        </p:nvSpPr>
        <p:spPr>
          <a:xfrm xmlns:a="http://schemas.openxmlformats.org/drawingml/2006/main">
            <a:off x="5715000" y="429958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E</a:t>
            </a:r>
          </a:p>
        </p:txBody>
      </p:sp>
      <p:sp>
        <p:nvSpPr>
          <p:cNvPr id="9" name="Benodigd: V en A">
            <a:extLst xmlns:a="http://schemas.openxmlformats.org/drawingml/2006/main">
              <a:ext uri="{FF2B5EF4-FFF2-40B4-BE49-F238E27FC236}">
                <a16:creationId xmlns:a16="http://schemas.microsoft.com/office/drawing/2014/main" id="{62BA42F7-B312-4E12-96E3-DC9176C289DD}"/>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Benodigd: V en A</a:t>
            </a:r>
          </a:p>
        </p:txBody>
      </p:sp>
      <p:sp>
        <p:nvSpPr>
          <p:cNvPr id="10" name="80 − Q = 20 + 0,5Q&#10;60 = 1,5Q&#10;&#10;Qe = 40 huurfietsen&#10;Pe = 80 − ">
            <a:extLst xmlns:a="http://schemas.openxmlformats.org/drawingml/2006/main">
              <a:ext uri="{FF2B5EF4-FFF2-40B4-BE49-F238E27FC236}">
                <a16:creationId xmlns:a16="http://schemas.microsoft.com/office/drawing/2014/main" id="{2CC46F1B-C5AB-4C85-82C8-CF9CE46F3614}"/>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80 − Q = 20 + 0,5Q</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60 = 1,5Q</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Qe = 40 huurfietsen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 = 80 − 40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€ 40 per huurfiets</a:t>
            </a:r>
          </a:p>
        </p:txBody>
      </p:sp>
      <p:sp>
        <p:nvSpPr>
          <p:cNvPr id="11" name="Blauwe fietskleur:&#10;niet nodig.">
            <a:extLst xmlns:a="http://schemas.openxmlformats.org/drawingml/2006/main">
              <a:ext uri="{FF2B5EF4-FFF2-40B4-BE49-F238E27FC236}">
                <a16:creationId xmlns:a16="http://schemas.microsoft.com/office/drawing/2014/main" id="{8AD3C6BB-B397-4315-9712-6293AFE3EBF2}"/>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Blauwe fietskleur:</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niet nodig.</a:t>
            </a:r>
          </a:p>
        </p:txBody>
      </p:sp>
    </p:spTree>
    <p:extLst>
      <p:ext uri="{BB962C8B-B14F-4D97-AF65-F5344CB8AC3E}">
        <p14:creationId xmlns:p14="http://schemas.microsoft.com/office/powerpoint/2010/main" val="2862275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Opgave 3.2 · Surplus in het vrije evenwicht">
            <a:extLst xmlns:a="http://schemas.openxmlformats.org/drawingml/2006/main">
              <a:ext uri="{FF2B5EF4-FFF2-40B4-BE49-F238E27FC236}">
                <a16:creationId xmlns:a16="http://schemas.microsoft.com/office/drawing/2014/main" id="{CC3FCDF0-BDEA-4ED3-9CF7-6AD498E68A1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3.2 · Surplus in het vrije evenwicht</a:t>
            </a:r>
          </a:p>
        </p:txBody>
      </p:sp>
      <p:sp>
        <p:nvSpPr>
          <p:cNvPr id="2" name="">
            <a:extLst xmlns:a="http://schemas.openxmlformats.org/drawingml/2006/main">
              <a:ext uri="{FF2B5EF4-FFF2-40B4-BE49-F238E27FC236}">
                <a16:creationId xmlns:a16="http://schemas.microsoft.com/office/drawing/2014/main" id="{DD2945F5-F621-46AC-B397-2084016740C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DBB0AEA-806C-465F-9764-6D628F6E3A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5ED40A76-DAB0-4A29-9820-EAF490253A8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area-CS">
            <a:extLst xmlns:a="http://schemas.openxmlformats.org/drawingml/2006/main">
              <a:ext uri="{FF2B5EF4-FFF2-40B4-BE49-F238E27FC236}">
                <a16:creationId xmlns:a16="http://schemas.microsoft.com/office/drawing/2014/main" id="{437B1F66-191B-4787-945B-A51B4335245C}"/>
              </a:ext>
            </a:extLst>
          </p:cNvPr>
          <p:cNvSpPr>
            <a:spLocks xmlns:a="http://schemas.openxmlformats.org/drawingml/2006/main" noGrp="1"/>
          </p:cNvSpPr>
          <p:nvPr/>
        </p:nvSpPr>
        <p:spPr>
          <a:xfrm xmlns:a="http://schemas.openxmlformats.org/drawingml/2006/main">
            <a:off x="1851660" y="2451735"/>
            <a:ext cx="3749040" cy="2247900"/>
          </a:xfrm>
          <a:custGeom xmlns:a="http://schemas.openxmlformats.org/drawingml/2006/main">
            <a:pathLst>
              <a:path w="3749040" h="2247900">
                <a:moveTo>
                  <a:pt x="0" y="2247900"/>
                </a:moveTo>
                <a:lnTo>
                  <a:pt x="0" y="0"/>
                </a:lnTo>
                <a:lnTo>
                  <a:pt x="3749040" y="2247900"/>
                </a:lnTo>
                <a:close/>
              </a:path>
            </a:pathLst>
          </a:custGeom>
          <a:solidFill xmlns:a="http://schemas.openxmlformats.org/drawingml/2006/main">
            <a:srgbClr val="BBDDF1"/>
          </a:solidFill>
          <a:ln xmlns:a="http://schemas.openxmlformats.org/drawingml/2006/main" w="0">
            <a:noFill/>
          </a:ln>
        </p:spPr>
      </p:sp>
      <p:sp>
        <p:nvSpPr>
          <p:cNvPr id="6" name="area-PS">
            <a:extLst xmlns:a="http://schemas.openxmlformats.org/drawingml/2006/main">
              <a:ext uri="{FF2B5EF4-FFF2-40B4-BE49-F238E27FC236}">
                <a16:creationId xmlns:a16="http://schemas.microsoft.com/office/drawing/2014/main" id="{05237908-1001-4855-8CED-4FC2BBFA1BF3}"/>
              </a:ext>
            </a:extLst>
          </p:cNvPr>
          <p:cNvSpPr>
            <a:spLocks xmlns:a="http://schemas.openxmlformats.org/drawingml/2006/main" noGrp="1"/>
          </p:cNvSpPr>
          <p:nvPr/>
        </p:nvSpPr>
        <p:spPr>
          <a:xfrm xmlns:a="http://schemas.openxmlformats.org/drawingml/2006/main">
            <a:off x="1851660" y="4699635"/>
            <a:ext cx="3749040" cy="1123950"/>
          </a:xfrm>
          <a:custGeom xmlns:a="http://schemas.openxmlformats.org/drawingml/2006/main">
            <a:pathLst>
              <a:path w="3749040" h="1123950">
                <a:moveTo>
                  <a:pt x="0" y="1123950"/>
                </a:moveTo>
                <a:lnTo>
                  <a:pt x="0" y="0"/>
                </a:lnTo>
                <a:lnTo>
                  <a:pt x="3749040" y="0"/>
                </a:lnTo>
                <a:close/>
              </a:path>
            </a:pathLst>
          </a:custGeom>
          <a:solidFill xmlns:a="http://schemas.openxmlformats.org/drawingml/2006/main">
            <a:srgbClr val="B5E7CC"/>
          </a:solidFill>
          <a:ln xmlns:a="http://schemas.openxmlformats.org/drawingml/2006/main" w="0">
            <a:noFill/>
          </a:ln>
        </p:spPr>
      </p:sp>
      <p:graphicFrame>
        <p:nvGraphicFramePr>
          <p:cNvPr id="22"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14fce75c3f0f443f"/>
          </a:graphicData>
        </a:graphic>
      </p:graphicFrame>
      <p:sp>
        <p:nvSpPr>
          <p:cNvPr id="8" name="V">
            <a:extLst xmlns:a="http://schemas.openxmlformats.org/drawingml/2006/main">
              <a:ext uri="{FF2B5EF4-FFF2-40B4-BE49-F238E27FC236}">
                <a16:creationId xmlns:a16="http://schemas.microsoft.com/office/drawing/2014/main" id="{EA34F669-95A3-4B78-96FD-9385CF163005}"/>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9" name="A = MK">
            <a:extLst xmlns:a="http://schemas.openxmlformats.org/drawingml/2006/main">
              <a:ext uri="{FF2B5EF4-FFF2-40B4-BE49-F238E27FC236}">
                <a16:creationId xmlns:a16="http://schemas.microsoft.com/office/drawing/2014/main" id="{D803FC89-A778-448F-8B3E-4380E237F412}"/>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10" name="E">
            <a:extLst xmlns:a="http://schemas.openxmlformats.org/drawingml/2006/main">
              <a:ext uri="{FF2B5EF4-FFF2-40B4-BE49-F238E27FC236}">
                <a16:creationId xmlns:a16="http://schemas.microsoft.com/office/drawing/2014/main" id="{8C99EB95-781A-473A-A1CB-F9DCB082C2F7}"/>
              </a:ext>
            </a:extLst>
          </p:cNvPr>
          <p:cNvSpPr>
            <a:spLocks xmlns:a="http://schemas.openxmlformats.org/drawingml/2006/main" noGrp="1"/>
          </p:cNvSpPr>
          <p:nvPr/>
        </p:nvSpPr>
        <p:spPr>
          <a:xfrm xmlns:a="http://schemas.openxmlformats.org/drawingml/2006/main">
            <a:off x="5715000" y="429958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E</a:t>
            </a:r>
          </a:p>
        </p:txBody>
      </p:sp>
      <p:sp>
        <p:nvSpPr>
          <p:cNvPr id="11" name="CS">
            <a:extLst xmlns:a="http://schemas.openxmlformats.org/drawingml/2006/main">
              <a:ext uri="{FF2B5EF4-FFF2-40B4-BE49-F238E27FC236}">
                <a16:creationId xmlns:a16="http://schemas.microsoft.com/office/drawing/2014/main" id="{F1CF2178-ADAD-4B91-B3AF-C5C827C8552D}"/>
              </a:ext>
            </a:extLst>
          </p:cNvPr>
          <p:cNvSpPr>
            <a:spLocks xmlns:a="http://schemas.openxmlformats.org/drawingml/2006/main" noGrp="1"/>
          </p:cNvSpPr>
          <p:nvPr/>
        </p:nvSpPr>
        <p:spPr>
          <a:xfrm xmlns:a="http://schemas.openxmlformats.org/drawingml/2006/main">
            <a:off x="2601468" y="3856673"/>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CS</a:t>
            </a:r>
          </a:p>
        </p:txBody>
      </p:sp>
      <p:sp>
        <p:nvSpPr>
          <p:cNvPr id="12" name="PS">
            <a:extLst xmlns:a="http://schemas.openxmlformats.org/drawingml/2006/main">
              <a:ext uri="{FF2B5EF4-FFF2-40B4-BE49-F238E27FC236}">
                <a16:creationId xmlns:a16="http://schemas.microsoft.com/office/drawing/2014/main" id="{4B0CF15A-C4A1-4B49-9449-247FFB253865}"/>
              </a:ext>
            </a:extLst>
          </p:cNvPr>
          <p:cNvSpPr>
            <a:spLocks xmlns:a="http://schemas.openxmlformats.org/drawingml/2006/main" noGrp="1"/>
          </p:cNvSpPr>
          <p:nvPr/>
        </p:nvSpPr>
        <p:spPr>
          <a:xfrm xmlns:a="http://schemas.openxmlformats.org/drawingml/2006/main">
            <a:off x="2601468" y="4980623"/>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PS</a:t>
            </a:r>
          </a:p>
        </p:txBody>
      </p:sp>
      <p:sp>
        <p:nvSpPr>
          <p:cNvPr id="13" name="Basis: 40 huurfietsen">
            <a:extLst xmlns:a="http://schemas.openxmlformats.org/drawingml/2006/main">
              <a:ext uri="{FF2B5EF4-FFF2-40B4-BE49-F238E27FC236}">
                <a16:creationId xmlns:a16="http://schemas.microsoft.com/office/drawing/2014/main" id="{8C95F75B-75B3-45AD-AB48-42344764164D}"/>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Basis: 40 huurfietsen</a:t>
            </a:r>
          </a:p>
        </p:txBody>
      </p:sp>
      <p:sp>
        <p:nvSpPr>
          <p:cNvPr id="14" name="CS = ½ × 40 × (80 − 40)&#10;     = € 800&#10;&#10;PS = ½ × 40 × (40 − 20">
            <a:extLst xmlns:a="http://schemas.openxmlformats.org/drawingml/2006/main">
              <a:ext uri="{FF2B5EF4-FFF2-40B4-BE49-F238E27FC236}">
                <a16:creationId xmlns:a16="http://schemas.microsoft.com/office/drawing/2014/main" id="{7B2E21B1-2329-4840-8DF9-BDDAE8406B6A}"/>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CS = ½ × 40 × (80 − 40)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€ 800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PS = ½ × 40 × (40 − 20)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€ 400</a:t>
            </a:r>
          </a:p>
        </p:txBody>
      </p:sp>
      <p:sp>
        <p:nvSpPr>
          <p:cNvPr id="15" name="TS = 800 + 400&#10;     = € 1.200">
            <a:extLst xmlns:a="http://schemas.openxmlformats.org/drawingml/2006/main">
              <a:ext uri="{FF2B5EF4-FFF2-40B4-BE49-F238E27FC236}">
                <a16:creationId xmlns:a16="http://schemas.microsoft.com/office/drawing/2014/main" id="{A1DC4A37-E214-4FD2-B515-4F69A139C2D9}"/>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TS = 800 + 400</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     = € 1.200</a:t>
            </a:r>
          </a:p>
        </p:txBody>
      </p:sp>
    </p:spTree>
    <p:extLst>
      <p:ext uri="{BB962C8B-B14F-4D97-AF65-F5344CB8AC3E}">
        <p14:creationId xmlns:p14="http://schemas.microsoft.com/office/powerpoint/2010/main" val="3207015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3 · Werkelijke handel en toewijzing">
            <a:extLst xmlns:a="http://schemas.openxmlformats.org/drawingml/2006/main">
              <a:ext uri="{FF2B5EF4-FFF2-40B4-BE49-F238E27FC236}">
                <a16:creationId xmlns:a16="http://schemas.microsoft.com/office/drawing/2014/main" id="{20CEF6C9-65DF-41B0-9FEC-8B9534D0827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3.3 · Werkelijke handel en toewijzing</a:t>
            </a:r>
          </a:p>
        </p:txBody>
      </p:sp>
      <p:sp>
        <p:nvSpPr>
          <p:cNvPr id="2" name="">
            <a:extLst xmlns:a="http://schemas.openxmlformats.org/drawingml/2006/main">
              <a:ext uri="{FF2B5EF4-FFF2-40B4-BE49-F238E27FC236}">
                <a16:creationId xmlns:a16="http://schemas.microsoft.com/office/drawing/2014/main" id="{7CCF9885-44F6-452D-8E3C-AD37F39D7A5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022ED63-2987-47C6-AA70-D36D94A54F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67019FC8-B6F6-4BDF-9B02-2587DD8CA0D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2" name=""/>
          <p:cNvGraphicFramePr/>
          <p:nvPr/>
        </p:nvGraphicFramePr>
        <p:xfrm>
          <a:off xmlns:a="http://schemas.openxmlformats.org/drawingml/2006/main" x="571500" y="1971675"/>
          <a:ext xmlns:a="http://schemas.openxmlformats.org/drawingml/2006/main" cx="14097000" cy="3067050"/>
        </p:xfrm>
        <a:graphic xmlns:a="http://schemas.openxmlformats.org/drawingml/2006/main">
          <a:graphicData uri="http://schemas.openxmlformats.org/drawingml/2006/table">
            <a:tbl>
              <a:tblPr/>
              <a:tblGrid>
                <a:gridCol w="4667250"/>
                <a:gridCol w="6096000"/>
                <a:gridCol w="3333750"/>
              </a:tblGrid>
              <a:tr h="766763">
                <a:tc>
                  <a:txBody>
                    <a:bodyPr lIns="171450" tIns="95250" rIns="152400" bIns="95250"/>
                    <a:lstStyle/>
                    <a:p>
                      <a:r>
                        <a:rPr sz="2400" b="1">
                          <a:solidFill>
                            <a:srgbClr val="FFFFFF"/>
                          </a:solidFill>
                          <a:latin typeface="Arial"/>
                          <a:ea typeface="Arial"/>
                          <a:cs typeface="Arial"/>
                        </a:rPr>
                        <a:t>Grootheid bij P = € 45</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 / gegeven</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Aantal huurfietsen</a:t>
                      </a:r>
                    </a:p>
                  </a:txBody>
                  <a:tcPr marL="91440" marR="91440" marT="45720" marB="45720" anchor="ctr">
                    <a:solidFill>
                      <a:srgbClr val="183247"/>
                    </a:solidFill>
                  </a:tcPr>
                </a:tc>
              </a:tr>
              <a:tr h="766763">
                <a:tc>
                  <a:txBody>
                    <a:bodyPr lIns="171450" tIns="95250" rIns="152400" bIns="95250"/>
                    <a:lstStyle/>
                    <a:p>
                      <a:r>
                        <a:rPr sz="2400" b="0">
                          <a:solidFill>
                            <a:srgbClr val="183247"/>
                          </a:solidFill>
                          <a:latin typeface="Arial"/>
                          <a:ea typeface="Arial"/>
                          <a:cs typeface="Arial"/>
                        </a:rPr>
                        <a:t>Gevraagd: Qd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45 = 80 − Qd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35</a:t>
                      </a:r>
                    </a:p>
                  </a:txBody>
                  <a:tcPr marL="91440" marR="91440" marT="45720" marB="45720" anchor="ctr">
                    <a:solidFill>
                      <a:srgbClr val="FFFFFF"/>
                    </a:solidFill>
                  </a:tcPr>
                </a:tc>
              </a:tr>
              <a:tr h="766763">
                <a:tc>
                  <a:txBody>
                    <a:bodyPr lIns="171450" tIns="95250" rIns="152400" bIns="95250"/>
                    <a:lstStyle/>
                    <a:p>
                      <a:r>
                        <a:rPr sz="2400" b="0">
                          <a:solidFill>
                            <a:srgbClr val="183247"/>
                          </a:solidFill>
                          <a:latin typeface="Arial"/>
                          <a:ea typeface="Arial"/>
                          <a:cs typeface="Arial"/>
                        </a:rPr>
                        <a:t>Aangeboden: Qs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45 = 20 + 0,5Qs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50</a:t>
                      </a:r>
                    </a:p>
                  </a:txBody>
                  <a:tcPr marL="91440" marR="91440" marT="45720" marB="45720" anchor="ctr">
                    <a:solidFill>
                      <a:srgbClr val="EFF4F7"/>
                    </a:solidFill>
                  </a:tcPr>
                </a:tc>
              </a:tr>
              <a:tr h="766763">
                <a:tc>
                  <a:txBody>
                    <a:bodyPr lIns="171450" tIns="95250" rIns="152400" bIns="95250"/>
                    <a:lstStyle/>
                    <a:p>
                      <a:r>
                        <a:rPr sz="2400" b="0">
                          <a:solidFill>
                            <a:srgbClr val="183247"/>
                          </a:solidFill>
                          <a:latin typeface="Arial"/>
                          <a:ea typeface="Arial"/>
                          <a:cs typeface="Arial"/>
                        </a:rPr>
                        <a:t>Werkelijk verhandeld</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Boekingsgrens bindt</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30</a:t>
                      </a:r>
                    </a:p>
                  </a:txBody>
                  <a:tcPr marL="91440" marR="91440" marT="45720" marB="45720" anchor="ctr">
                    <a:solidFill>
                      <a:srgbClr val="FFFFFF"/>
                    </a:solidFill>
                  </a:tcPr>
                </a:tc>
              </a:tr>
            </a:tbl>
          </a:graphicData>
        </a:graphic>
      </p:graphicFrame>
      <p:sp>
        <p:nvSpPr>
          <p:cNvPr id="6" name="De 30 hoogste betalingsbereidheden en de 30 laagste MK">
            <a:extLst xmlns:a="http://schemas.openxmlformats.org/drawingml/2006/main">
              <a:ext uri="{FF2B5EF4-FFF2-40B4-BE49-F238E27FC236}">
                <a16:creationId xmlns:a16="http://schemas.microsoft.com/office/drawing/2014/main" id="{FF4EBE27-0B67-4A6E-8BA2-98CB8FD0D925}"/>
              </a:ext>
            </a:extLst>
          </p:cNvPr>
          <p:cNvSpPr>
            <a:spLocks xmlns:a="http://schemas.openxmlformats.org/drawingml/2006/main" noGrp="1"/>
          </p:cNvSpPr>
          <p:nvPr/>
        </p:nvSpPr>
        <p:spPr>
          <a:xfrm xmlns:a="http://schemas.openxmlformats.org/drawingml/2006/main">
            <a:off x="571500" y="5495925"/>
            <a:ext cx="14097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De 30 hoogste betalingsbereidheden en de 30 laagste MK</a:t>
            </a:r>
          </a:p>
        </p:txBody>
      </p:sp>
      <p:sp>
        <p:nvSpPr>
          <p:cNvPr id="7" name="Rand bij Q = 30:&#10;V: 80 − 30 = € 50       A = MK: 20 + 0,5 × ">
            <a:extLst xmlns:a="http://schemas.openxmlformats.org/drawingml/2006/main">
              <a:ext uri="{FF2B5EF4-FFF2-40B4-BE49-F238E27FC236}">
                <a16:creationId xmlns:a16="http://schemas.microsoft.com/office/drawing/2014/main" id="{B18D1860-B006-4E35-A15B-99F68B2E621C}"/>
              </a:ext>
            </a:extLst>
          </p:cNvPr>
          <p:cNvSpPr>
            <a:spLocks xmlns:a="http://schemas.openxmlformats.org/drawingml/2006/main" noGrp="1"/>
          </p:cNvSpPr>
          <p:nvPr/>
        </p:nvSpPr>
        <p:spPr>
          <a:xfrm xmlns:a="http://schemas.openxmlformats.org/drawingml/2006/main">
            <a:off x="571500" y="6810375"/>
            <a:ext cx="1409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Rand bij Q = 30:</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 80 − 30 = € 50       A = MK: 20 + 0,5 × 30 = € 35</a:t>
            </a:r>
          </a:p>
        </p:txBody>
      </p:sp>
    </p:spTree>
    <p:extLst>
      <p:ext uri="{BB962C8B-B14F-4D97-AF65-F5344CB8AC3E}">
        <p14:creationId xmlns:p14="http://schemas.microsoft.com/office/powerpoint/2010/main" val="2046008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pgave 3.3 · CS bij dertig transacties">
            <a:extLst xmlns:a="http://schemas.openxmlformats.org/drawingml/2006/main">
              <a:ext uri="{FF2B5EF4-FFF2-40B4-BE49-F238E27FC236}">
                <a16:creationId xmlns:a16="http://schemas.microsoft.com/office/drawing/2014/main" id="{CC2BAF98-9897-4AD3-9B04-8426A6A3C6A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3.3 · CS bij dertig transacties</a:t>
            </a:r>
          </a:p>
        </p:txBody>
      </p:sp>
      <p:sp>
        <p:nvSpPr>
          <p:cNvPr id="2" name="">
            <a:extLst xmlns:a="http://schemas.openxmlformats.org/drawingml/2006/main">
              <a:ext uri="{FF2B5EF4-FFF2-40B4-BE49-F238E27FC236}">
                <a16:creationId xmlns:a16="http://schemas.microsoft.com/office/drawing/2014/main" id="{04B9958D-B8F3-4D6D-BF21-88F18022BBC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3B3579F-AD51-4A0B-A973-F8221D734AC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26DB4B9E-C611-44AF-885E-5668B00645E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rea-CS-rectangle">
            <a:extLst xmlns:a="http://schemas.openxmlformats.org/drawingml/2006/main">
              <a:ext uri="{FF2B5EF4-FFF2-40B4-BE49-F238E27FC236}">
                <a16:creationId xmlns:a16="http://schemas.microsoft.com/office/drawing/2014/main" id="{9BAF34EF-1D31-47CB-AB99-393B06935087}"/>
              </a:ext>
            </a:extLst>
          </p:cNvPr>
          <p:cNvSpPr>
            <a:spLocks xmlns:a="http://schemas.openxmlformats.org/drawingml/2006/main" noGrp="1"/>
          </p:cNvSpPr>
          <p:nvPr/>
        </p:nvSpPr>
        <p:spPr>
          <a:xfrm xmlns:a="http://schemas.openxmlformats.org/drawingml/2006/main">
            <a:off x="1851660" y="4137660"/>
            <a:ext cx="2811780" cy="280988"/>
          </a:xfrm>
          <a:custGeom xmlns:a="http://schemas.openxmlformats.org/drawingml/2006/main">
            <a:pathLst>
              <a:path w="2811780" h="280988">
                <a:moveTo>
                  <a:pt x="0" y="280988"/>
                </a:moveTo>
                <a:lnTo>
                  <a:pt x="0" y="0"/>
                </a:lnTo>
                <a:lnTo>
                  <a:pt x="2811780" y="0"/>
                </a:lnTo>
                <a:lnTo>
                  <a:pt x="2811780" y="280988"/>
                </a:lnTo>
                <a:close/>
              </a:path>
            </a:pathLst>
          </a:custGeom>
          <a:solidFill xmlns:a="http://schemas.openxmlformats.org/drawingml/2006/main">
            <a:srgbClr val="BBDDF1"/>
          </a:solidFill>
          <a:ln xmlns:a="http://schemas.openxmlformats.org/drawingml/2006/main" w="0">
            <a:noFill/>
          </a:ln>
        </p:spPr>
      </p:sp>
      <p:sp>
        <p:nvSpPr>
          <p:cNvPr id="6" name="area-CS-triangle">
            <a:extLst xmlns:a="http://schemas.openxmlformats.org/drawingml/2006/main">
              <a:ext uri="{FF2B5EF4-FFF2-40B4-BE49-F238E27FC236}">
                <a16:creationId xmlns:a16="http://schemas.microsoft.com/office/drawing/2014/main" id="{DBCE331B-AC0E-499E-AAD0-A9A33FCC0813}"/>
              </a:ext>
            </a:extLst>
          </p:cNvPr>
          <p:cNvSpPr>
            <a:spLocks xmlns:a="http://schemas.openxmlformats.org/drawingml/2006/main" noGrp="1"/>
          </p:cNvSpPr>
          <p:nvPr/>
        </p:nvSpPr>
        <p:spPr>
          <a:xfrm xmlns:a="http://schemas.openxmlformats.org/drawingml/2006/main">
            <a:off x="1851660" y="2451735"/>
            <a:ext cx="2811780" cy="1685925"/>
          </a:xfrm>
          <a:custGeom xmlns:a="http://schemas.openxmlformats.org/drawingml/2006/main">
            <a:pathLst>
              <a:path w="2811780" h="1685925">
                <a:moveTo>
                  <a:pt x="0" y="1685925"/>
                </a:moveTo>
                <a:lnTo>
                  <a:pt x="0" y="0"/>
                </a:lnTo>
                <a:lnTo>
                  <a:pt x="2811780" y="1685925"/>
                </a:lnTo>
                <a:close/>
              </a:path>
            </a:pathLst>
          </a:custGeom>
          <a:solidFill xmlns:a="http://schemas.openxmlformats.org/drawingml/2006/main">
            <a:srgbClr val="BBDDF1"/>
          </a:solidFill>
          <a:ln xmlns:a="http://schemas.openxmlformats.org/drawingml/2006/main" w="0">
            <a:noFill/>
          </a:ln>
        </p:spPr>
      </p:sp>
      <p:graphicFrame>
        <p:nvGraphicFramePr>
          <p:cNvPr id="23"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5b5c3c976f974bf6"/>
          </a:graphicData>
        </a:graphic>
      </p:graphicFrame>
      <p:sp>
        <p:nvSpPr>
          <p:cNvPr id="8" name="V">
            <a:extLst xmlns:a="http://schemas.openxmlformats.org/drawingml/2006/main">
              <a:ext uri="{FF2B5EF4-FFF2-40B4-BE49-F238E27FC236}">
                <a16:creationId xmlns:a16="http://schemas.microsoft.com/office/drawing/2014/main" id="{ADF6E213-A751-4899-BEB8-79813CF178F7}"/>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9" name="A = MK">
            <a:extLst xmlns:a="http://schemas.openxmlformats.org/drawingml/2006/main">
              <a:ext uri="{FF2B5EF4-FFF2-40B4-BE49-F238E27FC236}">
                <a16:creationId xmlns:a16="http://schemas.microsoft.com/office/drawing/2014/main" id="{B0671134-6F4A-4373-B5A8-CA7A7E18EC30}"/>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10" name="P = 45">
            <a:extLst xmlns:a="http://schemas.openxmlformats.org/drawingml/2006/main">
              <a:ext uri="{FF2B5EF4-FFF2-40B4-BE49-F238E27FC236}">
                <a16:creationId xmlns:a16="http://schemas.microsoft.com/office/drawing/2014/main" id="{C7181795-AACC-4632-824E-1FC9391012EC}"/>
              </a:ext>
            </a:extLst>
          </p:cNvPr>
          <p:cNvSpPr>
            <a:spLocks xmlns:a="http://schemas.openxmlformats.org/drawingml/2006/main" noGrp="1"/>
          </p:cNvSpPr>
          <p:nvPr/>
        </p:nvSpPr>
        <p:spPr>
          <a:xfrm xmlns:a="http://schemas.openxmlformats.org/drawingml/2006/main">
            <a:off x="7662672" y="4494848"/>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P = 45</a:t>
            </a:r>
          </a:p>
        </p:txBody>
      </p:sp>
      <p:sp>
        <p:nvSpPr>
          <p:cNvPr id="11" name="Q = 30">
            <a:extLst xmlns:a="http://schemas.openxmlformats.org/drawingml/2006/main">
              <a:ext uri="{FF2B5EF4-FFF2-40B4-BE49-F238E27FC236}">
                <a16:creationId xmlns:a16="http://schemas.microsoft.com/office/drawing/2014/main" id="{DB6B8EC4-8FB4-44C9-B203-D14EF5FFA175}"/>
              </a:ext>
            </a:extLst>
          </p:cNvPr>
          <p:cNvSpPr>
            <a:spLocks xmlns:a="http://schemas.openxmlformats.org/drawingml/2006/main" noGrp="1"/>
          </p:cNvSpPr>
          <p:nvPr/>
        </p:nvSpPr>
        <p:spPr>
          <a:xfrm xmlns:a="http://schemas.openxmlformats.org/drawingml/2006/main">
            <a:off x="4187190" y="203263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445B6B"/>
                </a:solidFill>
                <a:latin typeface="Arial"/>
                <a:ea typeface="Arial"/>
                <a:cs typeface="Arial"/>
              </a:defRPr>
            </a:pPr>
            <a:r>
              <a:rPr sz="1950" b="1">
                <a:solidFill>
                  <a:srgbClr val="445B6B"/>
                </a:solidFill>
                <a:latin typeface="Arial"/>
                <a:ea typeface="Arial"/>
                <a:cs typeface="Arial"/>
              </a:rPr>
              <a:t>Q = 30</a:t>
            </a:r>
          </a:p>
        </p:txBody>
      </p:sp>
      <p:sp>
        <p:nvSpPr>
          <p:cNvPr id="12" name="50">
            <a:extLst xmlns:a="http://schemas.openxmlformats.org/drawingml/2006/main">
              <a:ext uri="{FF2B5EF4-FFF2-40B4-BE49-F238E27FC236}">
                <a16:creationId xmlns:a16="http://schemas.microsoft.com/office/drawing/2014/main" id="{D8C3DA92-7F2C-4A9C-8CDF-C36FF80F8DC3}"/>
              </a:ext>
            </a:extLst>
          </p:cNvPr>
          <p:cNvSpPr>
            <a:spLocks xmlns:a="http://schemas.openxmlformats.org/drawingml/2006/main" noGrp="1"/>
          </p:cNvSpPr>
          <p:nvPr/>
        </p:nvSpPr>
        <p:spPr>
          <a:xfrm xmlns:a="http://schemas.openxmlformats.org/drawingml/2006/main">
            <a:off x="4758690" y="3794760"/>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445B6B"/>
                </a:solidFill>
                <a:latin typeface="Arial"/>
                <a:ea typeface="Arial"/>
                <a:cs typeface="Arial"/>
              </a:defRPr>
            </a:pPr>
            <a:r>
              <a:rPr sz="1875" b="1">
                <a:solidFill>
                  <a:srgbClr val="445B6B"/>
                </a:solidFill>
                <a:latin typeface="Arial"/>
                <a:ea typeface="Arial"/>
                <a:cs typeface="Arial"/>
              </a:rPr>
              <a:t>50</a:t>
            </a:r>
          </a:p>
        </p:txBody>
      </p:sp>
      <p:sp>
        <p:nvSpPr>
          <p:cNvPr id="13" name="CS">
            <a:extLst xmlns:a="http://schemas.openxmlformats.org/drawingml/2006/main">
              <a:ext uri="{FF2B5EF4-FFF2-40B4-BE49-F238E27FC236}">
                <a16:creationId xmlns:a16="http://schemas.microsoft.com/office/drawing/2014/main" id="{42834278-30E6-42D1-A904-4415C6A18C7E}"/>
              </a:ext>
            </a:extLst>
          </p:cNvPr>
          <p:cNvSpPr>
            <a:spLocks xmlns:a="http://schemas.openxmlformats.org/drawingml/2006/main" noGrp="1"/>
          </p:cNvSpPr>
          <p:nvPr/>
        </p:nvSpPr>
        <p:spPr>
          <a:xfrm xmlns:a="http://schemas.openxmlformats.org/drawingml/2006/main">
            <a:off x="2507742" y="3294698"/>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3247"/>
                </a:solidFill>
                <a:latin typeface="Arial"/>
                <a:ea typeface="Arial"/>
                <a:cs typeface="Arial"/>
              </a:defRPr>
            </a:pPr>
            <a:r>
              <a:rPr sz="2175" b="1">
                <a:solidFill>
                  <a:srgbClr val="183247"/>
                </a:solidFill>
                <a:latin typeface="Arial"/>
                <a:ea typeface="Arial"/>
                <a:cs typeface="Arial"/>
              </a:rPr>
              <a:t>CS</a:t>
            </a:r>
          </a:p>
        </p:txBody>
      </p:sp>
      <p:sp>
        <p:nvSpPr>
          <p:cNvPr id="14" name="Rechthoek + driehoek">
            <a:extLst xmlns:a="http://schemas.openxmlformats.org/drawingml/2006/main">
              <a:ext uri="{FF2B5EF4-FFF2-40B4-BE49-F238E27FC236}">
                <a16:creationId xmlns:a16="http://schemas.microsoft.com/office/drawing/2014/main" id="{3E1E296D-774D-481A-8547-DDECFC79B7F1}"/>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Rechthoek + driehoek</a:t>
            </a:r>
          </a:p>
        </p:txBody>
      </p:sp>
      <p:sp>
        <p:nvSpPr>
          <p:cNvPr id="15" name="30 × (50 − 45) = 150&#10;&#10;½ × 30 × (80 − 50)&#10;= 450&#10;&#10;Hoogten: € 5">
            <a:extLst xmlns:a="http://schemas.openxmlformats.org/drawingml/2006/main">
              <a:ext uri="{FF2B5EF4-FFF2-40B4-BE49-F238E27FC236}">
                <a16:creationId xmlns:a16="http://schemas.microsoft.com/office/drawing/2014/main" id="{2C1EB413-37BD-449E-B27C-18C3047ED98B}"/>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30 × (50 − 45) = 150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½ × 30 × (80 − 50)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450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Hoogten: € 5 en € 30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huurfiets.</a:t>
            </a:r>
          </a:p>
        </p:txBody>
      </p:sp>
      <p:sp>
        <p:nvSpPr>
          <p:cNvPr id="16" name="CS = 150 + 450&#10;     = € 600">
            <a:extLst xmlns:a="http://schemas.openxmlformats.org/drawingml/2006/main">
              <a:ext uri="{FF2B5EF4-FFF2-40B4-BE49-F238E27FC236}">
                <a16:creationId xmlns:a16="http://schemas.microsoft.com/office/drawing/2014/main" id="{DD1CFF9A-6720-4092-BD7C-85A68D770D90}"/>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CS = 150 + 450</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     = € 600</a:t>
            </a:r>
          </a:p>
        </p:txBody>
      </p:sp>
    </p:spTree>
    <p:extLst>
      <p:ext uri="{BB962C8B-B14F-4D97-AF65-F5344CB8AC3E}">
        <p14:creationId xmlns:p14="http://schemas.microsoft.com/office/powerpoint/2010/main" val="19655358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pgave 3.3 · PS bij dertig transacties">
            <a:extLst xmlns:a="http://schemas.openxmlformats.org/drawingml/2006/main">
              <a:ext uri="{FF2B5EF4-FFF2-40B4-BE49-F238E27FC236}">
                <a16:creationId xmlns:a16="http://schemas.microsoft.com/office/drawing/2014/main" id="{34C7268F-5D80-41C1-881F-8CD1E1F9291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3.3 · PS bij dertig transacties</a:t>
            </a:r>
          </a:p>
        </p:txBody>
      </p:sp>
      <p:sp>
        <p:nvSpPr>
          <p:cNvPr id="2" name="">
            <a:extLst xmlns:a="http://schemas.openxmlformats.org/drawingml/2006/main">
              <a:ext uri="{FF2B5EF4-FFF2-40B4-BE49-F238E27FC236}">
                <a16:creationId xmlns:a16="http://schemas.microsoft.com/office/drawing/2014/main" id="{2821B204-C536-452F-B65A-8919D70B6C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30F9A09-5698-4E6A-8C62-57C105A462A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59C635E6-B43C-41B7-B3AB-FE4ACD03096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rea-PS-rectangle">
            <a:extLst xmlns:a="http://schemas.openxmlformats.org/drawingml/2006/main">
              <a:ext uri="{FF2B5EF4-FFF2-40B4-BE49-F238E27FC236}">
                <a16:creationId xmlns:a16="http://schemas.microsoft.com/office/drawing/2014/main" id="{B7C0E583-6B04-4BDA-B414-D1A22ABD7145}"/>
              </a:ext>
            </a:extLst>
          </p:cNvPr>
          <p:cNvSpPr>
            <a:spLocks xmlns:a="http://schemas.openxmlformats.org/drawingml/2006/main" noGrp="1"/>
          </p:cNvSpPr>
          <p:nvPr/>
        </p:nvSpPr>
        <p:spPr>
          <a:xfrm xmlns:a="http://schemas.openxmlformats.org/drawingml/2006/main">
            <a:off x="1851660" y="4418648"/>
            <a:ext cx="2811780" cy="561975"/>
          </a:xfrm>
          <a:custGeom xmlns:a="http://schemas.openxmlformats.org/drawingml/2006/main">
            <a:pathLst>
              <a:path w="2811780" h="561975">
                <a:moveTo>
                  <a:pt x="0" y="561975"/>
                </a:moveTo>
                <a:lnTo>
                  <a:pt x="0" y="0"/>
                </a:lnTo>
                <a:lnTo>
                  <a:pt x="2811780" y="0"/>
                </a:lnTo>
                <a:lnTo>
                  <a:pt x="2811780" y="561975"/>
                </a:lnTo>
                <a:close/>
              </a:path>
            </a:pathLst>
          </a:custGeom>
          <a:solidFill xmlns:a="http://schemas.openxmlformats.org/drawingml/2006/main">
            <a:srgbClr val="B5E7CC"/>
          </a:solidFill>
          <a:ln xmlns:a="http://schemas.openxmlformats.org/drawingml/2006/main" w="0">
            <a:noFill/>
          </a:ln>
        </p:spPr>
      </p:sp>
      <p:sp>
        <p:nvSpPr>
          <p:cNvPr id="6" name="area-PS-triangle">
            <a:extLst xmlns:a="http://schemas.openxmlformats.org/drawingml/2006/main">
              <a:ext uri="{FF2B5EF4-FFF2-40B4-BE49-F238E27FC236}">
                <a16:creationId xmlns:a16="http://schemas.microsoft.com/office/drawing/2014/main" id="{B154486C-3F1E-43DA-902A-8E8159DFF83A}"/>
              </a:ext>
            </a:extLst>
          </p:cNvPr>
          <p:cNvSpPr>
            <a:spLocks xmlns:a="http://schemas.openxmlformats.org/drawingml/2006/main" noGrp="1"/>
          </p:cNvSpPr>
          <p:nvPr/>
        </p:nvSpPr>
        <p:spPr>
          <a:xfrm xmlns:a="http://schemas.openxmlformats.org/drawingml/2006/main">
            <a:off x="1851660" y="4980623"/>
            <a:ext cx="2811780" cy="842963"/>
          </a:xfrm>
          <a:custGeom xmlns:a="http://schemas.openxmlformats.org/drawingml/2006/main">
            <a:pathLst>
              <a:path w="2811780" h="842963">
                <a:moveTo>
                  <a:pt x="0" y="842963"/>
                </a:moveTo>
                <a:lnTo>
                  <a:pt x="0" y="0"/>
                </a:lnTo>
                <a:lnTo>
                  <a:pt x="2811780" y="0"/>
                </a:lnTo>
                <a:close/>
              </a:path>
            </a:pathLst>
          </a:custGeom>
          <a:solidFill xmlns:a="http://schemas.openxmlformats.org/drawingml/2006/main">
            <a:srgbClr val="B5E7CC"/>
          </a:solidFill>
          <a:ln xmlns:a="http://schemas.openxmlformats.org/drawingml/2006/main" w="0">
            <a:noFill/>
          </a:ln>
        </p:spPr>
      </p:sp>
      <p:graphicFrame>
        <p:nvGraphicFramePr>
          <p:cNvPr id="23"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957d4304c8484f28"/>
          </a:graphicData>
        </a:graphic>
      </p:graphicFrame>
      <p:sp>
        <p:nvSpPr>
          <p:cNvPr id="8" name="V">
            <a:extLst xmlns:a="http://schemas.openxmlformats.org/drawingml/2006/main">
              <a:ext uri="{FF2B5EF4-FFF2-40B4-BE49-F238E27FC236}">
                <a16:creationId xmlns:a16="http://schemas.microsoft.com/office/drawing/2014/main" id="{7BDE19E5-8DEE-4BFF-9F57-E7A77E09242D}"/>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9" name="A = MK">
            <a:extLst xmlns:a="http://schemas.openxmlformats.org/drawingml/2006/main">
              <a:ext uri="{FF2B5EF4-FFF2-40B4-BE49-F238E27FC236}">
                <a16:creationId xmlns:a16="http://schemas.microsoft.com/office/drawing/2014/main" id="{E640333F-F6B9-4CE0-B14D-FC53BF31812C}"/>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10" name="P = 45">
            <a:extLst xmlns:a="http://schemas.openxmlformats.org/drawingml/2006/main">
              <a:ext uri="{FF2B5EF4-FFF2-40B4-BE49-F238E27FC236}">
                <a16:creationId xmlns:a16="http://schemas.microsoft.com/office/drawing/2014/main" id="{77820C72-9572-42F2-BDC6-8658B02F0634}"/>
              </a:ext>
            </a:extLst>
          </p:cNvPr>
          <p:cNvSpPr>
            <a:spLocks xmlns:a="http://schemas.openxmlformats.org/drawingml/2006/main" noGrp="1"/>
          </p:cNvSpPr>
          <p:nvPr/>
        </p:nvSpPr>
        <p:spPr>
          <a:xfrm xmlns:a="http://schemas.openxmlformats.org/drawingml/2006/main">
            <a:off x="7662672" y="4494848"/>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P = 45</a:t>
            </a:r>
          </a:p>
        </p:txBody>
      </p:sp>
      <p:sp>
        <p:nvSpPr>
          <p:cNvPr id="11" name="Q = 30">
            <a:extLst xmlns:a="http://schemas.openxmlformats.org/drawingml/2006/main">
              <a:ext uri="{FF2B5EF4-FFF2-40B4-BE49-F238E27FC236}">
                <a16:creationId xmlns:a16="http://schemas.microsoft.com/office/drawing/2014/main" id="{8F4CA8BF-192D-424C-BEE5-50581C25FDAA}"/>
              </a:ext>
            </a:extLst>
          </p:cNvPr>
          <p:cNvSpPr>
            <a:spLocks xmlns:a="http://schemas.openxmlformats.org/drawingml/2006/main" noGrp="1"/>
          </p:cNvSpPr>
          <p:nvPr/>
        </p:nvSpPr>
        <p:spPr>
          <a:xfrm xmlns:a="http://schemas.openxmlformats.org/drawingml/2006/main">
            <a:off x="4187190" y="203263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445B6B"/>
                </a:solidFill>
                <a:latin typeface="Arial"/>
                <a:ea typeface="Arial"/>
                <a:cs typeface="Arial"/>
              </a:defRPr>
            </a:pPr>
            <a:r>
              <a:rPr sz="1950" b="1">
                <a:solidFill>
                  <a:srgbClr val="445B6B"/>
                </a:solidFill>
                <a:latin typeface="Arial"/>
                <a:ea typeface="Arial"/>
                <a:cs typeface="Arial"/>
              </a:rPr>
              <a:t>Q = 30</a:t>
            </a:r>
          </a:p>
        </p:txBody>
      </p:sp>
      <p:sp>
        <p:nvSpPr>
          <p:cNvPr id="12" name="35">
            <a:extLst xmlns:a="http://schemas.openxmlformats.org/drawingml/2006/main">
              <a:ext uri="{FF2B5EF4-FFF2-40B4-BE49-F238E27FC236}">
                <a16:creationId xmlns:a16="http://schemas.microsoft.com/office/drawing/2014/main" id="{BA8223DD-42FC-4C0B-942D-FCA5B2A7E2D0}"/>
              </a:ext>
            </a:extLst>
          </p:cNvPr>
          <p:cNvSpPr>
            <a:spLocks xmlns:a="http://schemas.openxmlformats.org/drawingml/2006/main" noGrp="1"/>
          </p:cNvSpPr>
          <p:nvPr/>
        </p:nvSpPr>
        <p:spPr>
          <a:xfrm xmlns:a="http://schemas.openxmlformats.org/drawingml/2006/main">
            <a:off x="4758690" y="4637723"/>
            <a:ext cx="71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445B6B"/>
                </a:solidFill>
                <a:latin typeface="Arial"/>
                <a:ea typeface="Arial"/>
                <a:cs typeface="Arial"/>
              </a:defRPr>
            </a:pPr>
            <a:r>
              <a:rPr sz="1875" b="1">
                <a:solidFill>
                  <a:srgbClr val="445B6B"/>
                </a:solidFill>
                <a:latin typeface="Arial"/>
                <a:ea typeface="Arial"/>
                <a:cs typeface="Arial"/>
              </a:rPr>
              <a:t>35</a:t>
            </a:r>
          </a:p>
        </p:txBody>
      </p:sp>
      <p:sp>
        <p:nvSpPr>
          <p:cNvPr id="13" name="PS">
            <a:extLst xmlns:a="http://schemas.openxmlformats.org/drawingml/2006/main">
              <a:ext uri="{FF2B5EF4-FFF2-40B4-BE49-F238E27FC236}">
                <a16:creationId xmlns:a16="http://schemas.microsoft.com/office/drawing/2014/main" id="{89512C04-EF41-43F1-9456-EA3A0D7B74BA}"/>
              </a:ext>
            </a:extLst>
          </p:cNvPr>
          <p:cNvSpPr>
            <a:spLocks xmlns:a="http://schemas.openxmlformats.org/drawingml/2006/main" noGrp="1"/>
          </p:cNvSpPr>
          <p:nvPr/>
        </p:nvSpPr>
        <p:spPr>
          <a:xfrm xmlns:a="http://schemas.openxmlformats.org/drawingml/2006/main">
            <a:off x="2507742" y="4474845"/>
            <a:ext cx="85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PS</a:t>
            </a:r>
          </a:p>
        </p:txBody>
      </p:sp>
      <p:sp>
        <p:nvSpPr>
          <p:cNvPr id="14" name="Rechthoek + driehoek">
            <a:extLst xmlns:a="http://schemas.openxmlformats.org/drawingml/2006/main">
              <a:ext uri="{FF2B5EF4-FFF2-40B4-BE49-F238E27FC236}">
                <a16:creationId xmlns:a16="http://schemas.microsoft.com/office/drawing/2014/main" id="{F74FA6AF-6B56-4319-AC58-91B2A6A5F2B5}"/>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Rechthoek + driehoek</a:t>
            </a:r>
          </a:p>
        </p:txBody>
      </p:sp>
      <p:sp>
        <p:nvSpPr>
          <p:cNvPr id="15" name="30 × (45 − 35) = 300&#10;&#10;½ × 30 × (35 − 20)&#10;= 225&#10;&#10;Hoogten: € 1">
            <a:extLst xmlns:a="http://schemas.openxmlformats.org/drawingml/2006/main">
              <a:ext uri="{FF2B5EF4-FFF2-40B4-BE49-F238E27FC236}">
                <a16:creationId xmlns:a16="http://schemas.microsoft.com/office/drawing/2014/main" id="{9B49FBD5-140B-476E-A006-896D8F672625}"/>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30 × (45 − 35) = 300</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½ × 30 × (35 − 20)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225</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Hoogten: € 10 en € 15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huurfiets.</a:t>
            </a:r>
          </a:p>
        </p:txBody>
      </p:sp>
      <p:sp>
        <p:nvSpPr>
          <p:cNvPr id="16" name="PS = 300 + 225&#10;     = € 525">
            <a:extLst xmlns:a="http://schemas.openxmlformats.org/drawingml/2006/main">
              <a:ext uri="{FF2B5EF4-FFF2-40B4-BE49-F238E27FC236}">
                <a16:creationId xmlns:a16="http://schemas.microsoft.com/office/drawing/2014/main" id="{AACD1992-038E-4DEF-A3FE-810326AFA7C7}"/>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PS = 300 + 225</a:t>
            </a:r>
          </a:p>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     = € 525</a:t>
            </a:r>
          </a:p>
        </p:txBody>
      </p:sp>
    </p:spTree>
    <p:extLst>
      <p:ext uri="{BB962C8B-B14F-4D97-AF65-F5344CB8AC3E}">
        <p14:creationId xmlns:p14="http://schemas.microsoft.com/office/powerpoint/2010/main" val="1091250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3 · Twee situaties vergelijken">
            <a:extLst xmlns:a="http://schemas.openxmlformats.org/drawingml/2006/main">
              <a:ext uri="{FF2B5EF4-FFF2-40B4-BE49-F238E27FC236}">
                <a16:creationId xmlns:a16="http://schemas.microsoft.com/office/drawing/2014/main" id="{EF4B3A38-963C-4D9B-B658-E67CB7F0259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3.3 · Twee situaties vergelijken</a:t>
            </a:r>
          </a:p>
        </p:txBody>
      </p:sp>
      <p:sp>
        <p:nvSpPr>
          <p:cNvPr id="2" name="">
            <a:extLst xmlns:a="http://schemas.openxmlformats.org/drawingml/2006/main">
              <a:ext uri="{FF2B5EF4-FFF2-40B4-BE49-F238E27FC236}">
                <a16:creationId xmlns:a16="http://schemas.microsoft.com/office/drawing/2014/main" id="{6B681B8F-EF34-4489-BB1B-09EE1A3A005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19722D7-0629-4F53-9964-E1D0A91DF06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71CAAD63-E0CB-4F81-9E89-8FD290D82C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2" name=""/>
          <p:cNvGraphicFramePr/>
          <p:nvPr/>
        </p:nvGraphicFramePr>
        <p:xfrm>
          <a:off xmlns:a="http://schemas.openxmlformats.org/drawingml/2006/main" x="571500" y="2190750"/>
          <a:ext xmlns:a="http://schemas.openxmlformats.org/drawingml/2006/main" cx="14097000" cy="3314700"/>
        </p:xfrm>
        <a:graphic xmlns:a="http://schemas.openxmlformats.org/drawingml/2006/main">
          <a:graphicData uri="http://schemas.openxmlformats.org/drawingml/2006/table">
            <a:tbl>
              <a:tblPr/>
              <a:tblGrid>
                <a:gridCol w="5810250"/>
                <a:gridCol w="2476500"/>
                <a:gridCol w="2476500"/>
                <a:gridCol w="3333750"/>
              </a:tblGrid>
              <a:tr h="828675">
                <a:tc>
                  <a:txBody>
                    <a:bodyPr lIns="171450" tIns="95250" rIns="152400" bIns="95250"/>
                    <a:lstStyle/>
                    <a:p>
                      <a:r>
                        <a:rPr sz="255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CS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PS</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TS = CS + PS</a:t>
                      </a:r>
                    </a:p>
                  </a:txBody>
                  <a:tcPr marL="91440" marR="91440" marT="45720" marB="45720" anchor="ctr">
                    <a:solidFill>
                      <a:srgbClr val="183247"/>
                    </a:solidFill>
                  </a:tcPr>
                </a:tc>
              </a:tr>
              <a:tr h="828675">
                <a:tc>
                  <a:txBody>
                    <a:bodyPr lIns="171450" tIns="95250" rIns="152400" bIns="95250"/>
                    <a:lstStyle/>
                    <a:p>
                      <a:r>
                        <a:rPr sz="2550" b="0">
                          <a:solidFill>
                            <a:srgbClr val="183247"/>
                          </a:solidFill>
                          <a:latin typeface="Arial"/>
                          <a:ea typeface="Arial"/>
                          <a:cs typeface="Arial"/>
                        </a:rPr>
                        <a:t>Vrij: Q = 40, P = € 40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€ 800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€ 400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€ 1.200</a:t>
                      </a:r>
                    </a:p>
                  </a:txBody>
                  <a:tcPr marL="91440" marR="91440" marT="45720" marB="45720" anchor="ctr">
                    <a:solidFill>
                      <a:srgbClr val="FFFFFF"/>
                    </a:solidFill>
                  </a:tcPr>
                </a:tc>
              </a:tr>
              <a:tr h="828675">
                <a:tc>
                  <a:txBody>
                    <a:bodyPr lIns="171450" tIns="95250" rIns="152400" bIns="95250"/>
                    <a:lstStyle/>
                    <a:p>
                      <a:r>
                        <a:rPr sz="2550" b="0">
                          <a:solidFill>
                            <a:srgbClr val="183247"/>
                          </a:solidFill>
                          <a:latin typeface="Arial"/>
                          <a:ea typeface="Arial"/>
                          <a:cs typeface="Arial"/>
                        </a:rPr>
                        <a:t>Regel: Q = 30, P = € 45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€ 600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€ 525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€ 1.125</a:t>
                      </a:r>
                    </a:p>
                  </a:txBody>
                  <a:tcPr marL="91440" marR="91440" marT="45720" marB="45720" anchor="ctr">
                    <a:solidFill>
                      <a:srgbClr val="EFF4F7"/>
                    </a:solidFill>
                  </a:tcPr>
                </a:tc>
              </a:tr>
              <a:tr h="828675">
                <a:tc>
                  <a:txBody>
                    <a:bodyPr lIns="171450" tIns="95250" rIns="152400" bIns="95250"/>
                    <a:lstStyle/>
                    <a:p>
                      <a:r>
                        <a:rPr sz="2550" b="0">
                          <a:solidFill>
                            <a:srgbClr val="183247"/>
                          </a:solidFill>
                          <a:latin typeface="Arial"/>
                          <a:ea typeface="Arial"/>
                          <a:cs typeface="Arial"/>
                        </a:rPr>
                        <a:t>Verandering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−€ 75</a:t>
                      </a:r>
                    </a:p>
                  </a:txBody>
                  <a:tcPr marL="91440" marR="91440" marT="45720" marB="45720" anchor="ctr">
                    <a:solidFill>
                      <a:srgbClr val="FFFFFF"/>
                    </a:solidFill>
                  </a:tcPr>
                </a:tc>
              </a:tr>
            </a:tbl>
          </a:graphicData>
        </a:graphic>
      </p:graphicFrame>
      <p:sp>
        <p:nvSpPr>
          <p:cNvPr id="6" name="Onder de regel: TS = 600 + 525 = € 1.125">
            <a:extLst xmlns:a="http://schemas.openxmlformats.org/drawingml/2006/main">
              <a:ext uri="{FF2B5EF4-FFF2-40B4-BE49-F238E27FC236}">
                <a16:creationId xmlns:a16="http://schemas.microsoft.com/office/drawing/2014/main" id="{901B6980-E2AC-4093-8A0D-4C2392964DD5}"/>
              </a:ext>
            </a:extLst>
          </p:cNvPr>
          <p:cNvSpPr>
            <a:spLocks xmlns:a="http://schemas.openxmlformats.org/drawingml/2006/main" noGrp="1"/>
          </p:cNvSpPr>
          <p:nvPr/>
        </p:nvSpPr>
        <p:spPr>
          <a:xfrm xmlns:a="http://schemas.openxmlformats.org/drawingml/2006/main">
            <a:off x="571500" y="61055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Onder de regel: TS = 600 + 525 = € 1.125</a:t>
            </a:r>
          </a:p>
        </p:txBody>
      </p:sp>
      <p:sp>
        <p:nvSpPr>
          <p:cNvPr id="7" name="Verhuurders krijgen meer voordeel; het gezamenlijke voordeel">
            <a:extLst xmlns:a="http://schemas.openxmlformats.org/drawingml/2006/main">
              <a:ext uri="{FF2B5EF4-FFF2-40B4-BE49-F238E27FC236}">
                <a16:creationId xmlns:a16="http://schemas.microsoft.com/office/drawing/2014/main" id="{14D7FF0A-E5D7-435A-B0C0-D3357D65800D}"/>
              </a:ext>
            </a:extLst>
          </p:cNvPr>
          <p:cNvSpPr>
            <a:spLocks xmlns:a="http://schemas.openxmlformats.org/drawingml/2006/main" noGrp="1"/>
          </p:cNvSpPr>
          <p:nvPr/>
        </p:nvSpPr>
        <p:spPr>
          <a:xfrm xmlns:a="http://schemas.openxmlformats.org/drawingml/2006/main">
            <a:off x="571500" y="72199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Verhuurders krijgen meer voordeel; het gezamenlijke voordeel daalt.</a:t>
            </a:r>
          </a:p>
        </p:txBody>
      </p:sp>
    </p:spTree>
    <p:extLst>
      <p:ext uri="{BB962C8B-B14F-4D97-AF65-F5344CB8AC3E}">
        <p14:creationId xmlns:p14="http://schemas.microsoft.com/office/powerpoint/2010/main" val="3047487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Opgave 3.4 · Welvaartsverlies">
            <a:extLst xmlns:a="http://schemas.openxmlformats.org/drawingml/2006/main">
              <a:ext uri="{FF2B5EF4-FFF2-40B4-BE49-F238E27FC236}">
                <a16:creationId xmlns:a16="http://schemas.microsoft.com/office/drawing/2014/main" id="{92EF4000-D26E-44C2-8D23-186EAD4C64D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Welvaartsverlies</a:t>
            </a:r>
          </a:p>
        </p:txBody>
      </p:sp>
      <p:sp>
        <p:nvSpPr>
          <p:cNvPr id="2" name="">
            <a:extLst xmlns:a="http://schemas.openxmlformats.org/drawingml/2006/main">
              <a:ext uri="{FF2B5EF4-FFF2-40B4-BE49-F238E27FC236}">
                <a16:creationId xmlns:a16="http://schemas.microsoft.com/office/drawing/2014/main" id="{65E72326-0A8D-40C9-9F5F-BB08367AC2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9969708-C32E-4D78-844C-EFC2260740A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2BD99AC9-D396-4294-B146-AD10D1EF75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rea-loss">
            <a:extLst xmlns:a="http://schemas.openxmlformats.org/drawingml/2006/main">
              <a:ext uri="{FF2B5EF4-FFF2-40B4-BE49-F238E27FC236}">
                <a16:creationId xmlns:a16="http://schemas.microsoft.com/office/drawing/2014/main" id="{7C725274-B459-4498-8592-E27DA357BA10}"/>
              </a:ext>
            </a:extLst>
          </p:cNvPr>
          <p:cNvSpPr>
            <a:spLocks xmlns:a="http://schemas.openxmlformats.org/drawingml/2006/main" noGrp="1"/>
          </p:cNvSpPr>
          <p:nvPr/>
        </p:nvSpPr>
        <p:spPr>
          <a:xfrm xmlns:a="http://schemas.openxmlformats.org/drawingml/2006/main">
            <a:off x="4663440" y="4137660"/>
            <a:ext cx="937260" cy="842963"/>
          </a:xfrm>
          <a:custGeom xmlns:a="http://schemas.openxmlformats.org/drawingml/2006/main">
            <a:pathLst>
              <a:path w="937260" h="842963">
                <a:moveTo>
                  <a:pt x="0" y="842963"/>
                </a:moveTo>
                <a:lnTo>
                  <a:pt x="0" y="0"/>
                </a:lnTo>
                <a:lnTo>
                  <a:pt x="937260" y="561975"/>
                </a:lnTo>
                <a:close/>
              </a:path>
            </a:pathLst>
          </a:custGeom>
          <a:solidFill xmlns:a="http://schemas.openxmlformats.org/drawingml/2006/main">
            <a:srgbClr val="F4BCB4"/>
          </a:solidFill>
          <a:ln xmlns:a="http://schemas.openxmlformats.org/drawingml/2006/main" w="0">
            <a:noFill/>
          </a:ln>
        </p:spPr>
      </p:sp>
      <p:graphicFrame>
        <p:nvGraphicFramePr>
          <p:cNvPr id="28" name="Chart"/>
          <p:cNvGraphicFramePr/>
          <p:nvPr/>
        </p:nvGraphicFramePr>
        <p:xfrm>
          <a:off xmlns:a="http://schemas.openxmlformats.org/drawingml/2006/main" x="571500" y="2114550"/>
          <a:ext xmlns:a="http://schemas.openxmlformats.org/drawingml/2006/main" cx="9144000" cy="5619750"/>
        </p:xfrm>
        <a:graphic xmlns:a="http://schemas.openxmlformats.org/drawingml/2006/main">
          <a:graphicData uri="http://schemas.openxmlformats.org/drawingml/2006/chart">
            <c:chart xmlns:r="http://schemas.openxmlformats.org/officeDocument/2006/relationships" xmlns:c="http://schemas.openxmlformats.org/drawingml/2006/chart" r:id="Rd6730dfcd9d84cf5"/>
          </a:graphicData>
        </a:graphic>
      </p:graphicFrame>
      <p:sp>
        <p:nvSpPr>
          <p:cNvPr id="7" name="V">
            <a:extLst xmlns:a="http://schemas.openxmlformats.org/drawingml/2006/main">
              <a:ext uri="{FF2B5EF4-FFF2-40B4-BE49-F238E27FC236}">
                <a16:creationId xmlns:a16="http://schemas.microsoft.com/office/drawing/2014/main" id="{2D726BFE-E2F4-48F0-AA8E-BA726802CB14}"/>
              </a:ext>
            </a:extLst>
          </p:cNvPr>
          <p:cNvSpPr>
            <a:spLocks xmlns:a="http://schemas.openxmlformats.org/drawingml/2006/main" noGrp="1"/>
          </p:cNvSpPr>
          <p:nvPr/>
        </p:nvSpPr>
        <p:spPr>
          <a:xfrm xmlns:a="http://schemas.openxmlformats.org/drawingml/2006/main">
            <a:off x="8318754" y="5900738"/>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58A"/>
                </a:solidFill>
                <a:latin typeface="Arial"/>
                <a:ea typeface="Arial"/>
                <a:cs typeface="Arial"/>
              </a:defRPr>
            </a:pPr>
            <a:r>
              <a:rPr sz="2100" b="1">
                <a:solidFill>
                  <a:srgbClr val="17658A"/>
                </a:solidFill>
                <a:latin typeface="Arial"/>
                <a:ea typeface="Arial"/>
                <a:cs typeface="Arial"/>
              </a:rPr>
              <a:t>V</a:t>
            </a:r>
          </a:p>
        </p:txBody>
      </p:sp>
      <p:sp>
        <p:nvSpPr>
          <p:cNvPr id="8" name="A = MK">
            <a:extLst xmlns:a="http://schemas.openxmlformats.org/drawingml/2006/main">
              <a:ext uri="{FF2B5EF4-FFF2-40B4-BE49-F238E27FC236}">
                <a16:creationId xmlns:a16="http://schemas.microsoft.com/office/drawing/2014/main" id="{61B9AC3D-92EE-4CF8-B840-16FAFD6F3180}"/>
              </a:ext>
            </a:extLst>
          </p:cNvPr>
          <p:cNvSpPr>
            <a:spLocks xmlns:a="http://schemas.openxmlformats.org/drawingml/2006/main" noGrp="1"/>
          </p:cNvSpPr>
          <p:nvPr/>
        </p:nvSpPr>
        <p:spPr>
          <a:xfrm xmlns:a="http://schemas.openxmlformats.org/drawingml/2006/main">
            <a:off x="7756398" y="3558064"/>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665B"/>
                </a:solidFill>
                <a:latin typeface="Arial"/>
                <a:ea typeface="Arial"/>
                <a:cs typeface="Arial"/>
              </a:defRPr>
            </a:pPr>
            <a:r>
              <a:rPr sz="2100" b="1">
                <a:solidFill>
                  <a:srgbClr val="20665B"/>
                </a:solidFill>
                <a:latin typeface="Arial"/>
                <a:ea typeface="Arial"/>
                <a:cs typeface="Arial"/>
              </a:rPr>
              <a:t>A = MK</a:t>
            </a:r>
          </a:p>
        </p:txBody>
      </p:sp>
      <p:sp>
        <p:nvSpPr>
          <p:cNvPr id="9" name="E">
            <a:extLst xmlns:a="http://schemas.openxmlformats.org/drawingml/2006/main">
              <a:ext uri="{FF2B5EF4-FFF2-40B4-BE49-F238E27FC236}">
                <a16:creationId xmlns:a16="http://schemas.microsoft.com/office/drawing/2014/main" id="{548AEA8F-C00B-46E6-83D4-2076EB47C587}"/>
              </a:ext>
            </a:extLst>
          </p:cNvPr>
          <p:cNvSpPr>
            <a:spLocks xmlns:a="http://schemas.openxmlformats.org/drawingml/2006/main" noGrp="1"/>
          </p:cNvSpPr>
          <p:nvPr/>
        </p:nvSpPr>
        <p:spPr>
          <a:xfrm xmlns:a="http://schemas.openxmlformats.org/drawingml/2006/main">
            <a:off x="5715000" y="429958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3247"/>
                </a:solidFill>
                <a:latin typeface="Arial"/>
                <a:ea typeface="Arial"/>
                <a:cs typeface="Arial"/>
              </a:defRPr>
            </a:pPr>
            <a:r>
              <a:rPr sz="2025" b="1">
                <a:solidFill>
                  <a:srgbClr val="183247"/>
                </a:solidFill>
                <a:latin typeface="Arial"/>
                <a:ea typeface="Arial"/>
                <a:cs typeface="Arial"/>
              </a:rPr>
              <a:t>E</a:t>
            </a:r>
          </a:p>
        </p:txBody>
      </p:sp>
      <p:sp>
        <p:nvSpPr>
          <p:cNvPr id="10" name="P = 45">
            <a:extLst xmlns:a="http://schemas.openxmlformats.org/drawingml/2006/main">
              <a:ext uri="{FF2B5EF4-FFF2-40B4-BE49-F238E27FC236}">
                <a16:creationId xmlns:a16="http://schemas.microsoft.com/office/drawing/2014/main" id="{09728EFD-A01F-4A40-8259-2DAB01339D69}"/>
              </a:ext>
            </a:extLst>
          </p:cNvPr>
          <p:cNvSpPr>
            <a:spLocks xmlns:a="http://schemas.openxmlformats.org/drawingml/2006/main" noGrp="1"/>
          </p:cNvSpPr>
          <p:nvPr/>
        </p:nvSpPr>
        <p:spPr>
          <a:xfrm xmlns:a="http://schemas.openxmlformats.org/drawingml/2006/main">
            <a:off x="7662672" y="4494848"/>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94D16"/>
                </a:solidFill>
                <a:latin typeface="Arial"/>
                <a:ea typeface="Arial"/>
                <a:cs typeface="Arial"/>
              </a:defRPr>
            </a:pPr>
            <a:r>
              <a:rPr sz="1950" b="1">
                <a:solidFill>
                  <a:srgbClr val="A94D16"/>
                </a:solidFill>
                <a:latin typeface="Arial"/>
                <a:ea typeface="Arial"/>
                <a:cs typeface="Arial"/>
              </a:rPr>
              <a:t>P = 45</a:t>
            </a:r>
          </a:p>
        </p:txBody>
      </p:sp>
      <p:sp>
        <p:nvSpPr>
          <p:cNvPr id="11" name="Q = 30">
            <a:extLst xmlns:a="http://schemas.openxmlformats.org/drawingml/2006/main">
              <a:ext uri="{FF2B5EF4-FFF2-40B4-BE49-F238E27FC236}">
                <a16:creationId xmlns:a16="http://schemas.microsoft.com/office/drawing/2014/main" id="{0A19136C-3FA9-4106-B24F-ADA2974EB4C6}"/>
              </a:ext>
            </a:extLst>
          </p:cNvPr>
          <p:cNvSpPr>
            <a:spLocks xmlns:a="http://schemas.openxmlformats.org/drawingml/2006/main" noGrp="1"/>
          </p:cNvSpPr>
          <p:nvPr/>
        </p:nvSpPr>
        <p:spPr>
          <a:xfrm xmlns:a="http://schemas.openxmlformats.org/drawingml/2006/main">
            <a:off x="4187190" y="2032635"/>
            <a:ext cx="1381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445B6B"/>
                </a:solidFill>
                <a:latin typeface="Arial"/>
                <a:ea typeface="Arial"/>
                <a:cs typeface="Arial"/>
              </a:defRPr>
            </a:pPr>
            <a:r>
              <a:rPr sz="1950" b="1">
                <a:solidFill>
                  <a:srgbClr val="445B6B"/>
                </a:solidFill>
                <a:latin typeface="Arial"/>
                <a:ea typeface="Arial"/>
                <a:cs typeface="Arial"/>
              </a:rPr>
              <a:t>Q = 30</a:t>
            </a:r>
          </a:p>
        </p:txBody>
      </p:sp>
      <p:sp>
        <p:nvSpPr>
          <p:cNvPr id="12" name="loss-hatch-31">
            <a:extLst xmlns:a="http://schemas.openxmlformats.org/drawingml/2006/main">
              <a:ext uri="{FF2B5EF4-FFF2-40B4-BE49-F238E27FC236}">
                <a16:creationId xmlns:a16="http://schemas.microsoft.com/office/drawing/2014/main" id="{952CBA0C-B472-4F0D-B395-EA34387B7FED}"/>
              </a:ext>
            </a:extLst>
          </p:cNvPr>
          <p:cNvSpPr>
            <a:spLocks xmlns:a="http://schemas.openxmlformats.org/drawingml/2006/main" noGrp="1"/>
          </p:cNvSpPr>
          <p:nvPr/>
        </p:nvSpPr>
        <p:spPr>
          <a:xfrm xmlns:a="http://schemas.openxmlformats.org/drawingml/2006/main">
            <a:off x="4757166" y="4193857"/>
            <a:ext cx="0" cy="758666"/>
          </a:xfrm>
          <a:prstGeom xmlns:a="http://schemas.openxmlformats.org/drawingml/2006/main" prst="line">
            <a:avLst/>
          </a:prstGeom>
          <a:ln xmlns:a="http://schemas.openxmlformats.org/drawingml/2006/main" w="11430">
            <a:solidFill>
              <a:srgbClr val="A94D16"/>
            </a:solidFill>
          </a:ln>
        </p:spPr>
      </p:sp>
      <p:sp>
        <p:nvSpPr>
          <p:cNvPr id="13" name="loss-hatch-32.5">
            <a:extLst xmlns:a="http://schemas.openxmlformats.org/drawingml/2006/main">
              <a:ext uri="{FF2B5EF4-FFF2-40B4-BE49-F238E27FC236}">
                <a16:creationId xmlns:a16="http://schemas.microsoft.com/office/drawing/2014/main" id="{15A31B51-43EA-4CEF-93A9-22EC5D3D9125}"/>
              </a:ext>
            </a:extLst>
          </p:cNvPr>
          <p:cNvSpPr>
            <a:spLocks xmlns:a="http://schemas.openxmlformats.org/drawingml/2006/main" noGrp="1"/>
          </p:cNvSpPr>
          <p:nvPr/>
        </p:nvSpPr>
        <p:spPr>
          <a:xfrm xmlns:a="http://schemas.openxmlformats.org/drawingml/2006/main">
            <a:off x="4897755" y="4278154"/>
            <a:ext cx="0" cy="632222"/>
          </a:xfrm>
          <a:prstGeom xmlns:a="http://schemas.openxmlformats.org/drawingml/2006/main" prst="line">
            <a:avLst/>
          </a:prstGeom>
          <a:ln xmlns:a="http://schemas.openxmlformats.org/drawingml/2006/main" w="11430">
            <a:solidFill>
              <a:srgbClr val="A94D16"/>
            </a:solidFill>
          </a:ln>
        </p:spPr>
      </p:sp>
      <p:sp>
        <p:nvSpPr>
          <p:cNvPr id="14" name="loss-hatch-34">
            <a:extLst xmlns:a="http://schemas.openxmlformats.org/drawingml/2006/main">
              <a:ext uri="{FF2B5EF4-FFF2-40B4-BE49-F238E27FC236}">
                <a16:creationId xmlns:a16="http://schemas.microsoft.com/office/drawing/2014/main" id="{B9AB0131-E05A-4FD9-A854-5097C97F6237}"/>
              </a:ext>
            </a:extLst>
          </p:cNvPr>
          <p:cNvSpPr>
            <a:spLocks xmlns:a="http://schemas.openxmlformats.org/drawingml/2006/main" noGrp="1"/>
          </p:cNvSpPr>
          <p:nvPr/>
        </p:nvSpPr>
        <p:spPr>
          <a:xfrm xmlns:a="http://schemas.openxmlformats.org/drawingml/2006/main">
            <a:off x="5038344" y="4362450"/>
            <a:ext cx="0" cy="505777"/>
          </a:xfrm>
          <a:prstGeom xmlns:a="http://schemas.openxmlformats.org/drawingml/2006/main" prst="line">
            <a:avLst/>
          </a:prstGeom>
          <a:ln xmlns:a="http://schemas.openxmlformats.org/drawingml/2006/main" w="11430">
            <a:solidFill>
              <a:srgbClr val="A94D16"/>
            </a:solidFill>
          </a:ln>
        </p:spPr>
      </p:sp>
      <p:sp>
        <p:nvSpPr>
          <p:cNvPr id="15" name="loss-hatch-35.5">
            <a:extLst xmlns:a="http://schemas.openxmlformats.org/drawingml/2006/main">
              <a:ext uri="{FF2B5EF4-FFF2-40B4-BE49-F238E27FC236}">
                <a16:creationId xmlns:a16="http://schemas.microsoft.com/office/drawing/2014/main" id="{874B72D7-7930-4A78-A316-48C1FDE0B4DF}"/>
              </a:ext>
            </a:extLst>
          </p:cNvPr>
          <p:cNvSpPr>
            <a:spLocks xmlns:a="http://schemas.openxmlformats.org/drawingml/2006/main" noGrp="1"/>
          </p:cNvSpPr>
          <p:nvPr/>
        </p:nvSpPr>
        <p:spPr>
          <a:xfrm xmlns:a="http://schemas.openxmlformats.org/drawingml/2006/main">
            <a:off x="5178933" y="4446746"/>
            <a:ext cx="0" cy="379333"/>
          </a:xfrm>
          <a:prstGeom xmlns:a="http://schemas.openxmlformats.org/drawingml/2006/main" prst="line">
            <a:avLst/>
          </a:prstGeom>
          <a:ln xmlns:a="http://schemas.openxmlformats.org/drawingml/2006/main" w="11430">
            <a:solidFill>
              <a:srgbClr val="A94D16"/>
            </a:solidFill>
          </a:ln>
        </p:spPr>
      </p:sp>
      <p:sp>
        <p:nvSpPr>
          <p:cNvPr id="16" name="loss-hatch-37">
            <a:extLst xmlns:a="http://schemas.openxmlformats.org/drawingml/2006/main">
              <a:ext uri="{FF2B5EF4-FFF2-40B4-BE49-F238E27FC236}">
                <a16:creationId xmlns:a16="http://schemas.microsoft.com/office/drawing/2014/main" id="{AC841004-8E16-4709-990F-E502AD8F456E}"/>
              </a:ext>
            </a:extLst>
          </p:cNvPr>
          <p:cNvSpPr>
            <a:spLocks xmlns:a="http://schemas.openxmlformats.org/drawingml/2006/main" noGrp="1"/>
          </p:cNvSpPr>
          <p:nvPr/>
        </p:nvSpPr>
        <p:spPr>
          <a:xfrm xmlns:a="http://schemas.openxmlformats.org/drawingml/2006/main">
            <a:off x="5319522" y="4531043"/>
            <a:ext cx="0" cy="252889"/>
          </a:xfrm>
          <a:prstGeom xmlns:a="http://schemas.openxmlformats.org/drawingml/2006/main" prst="line">
            <a:avLst/>
          </a:prstGeom>
          <a:ln xmlns:a="http://schemas.openxmlformats.org/drawingml/2006/main" w="11430">
            <a:solidFill>
              <a:srgbClr val="A94D16"/>
            </a:solidFill>
          </a:ln>
        </p:spPr>
      </p:sp>
      <p:sp>
        <p:nvSpPr>
          <p:cNvPr id="17" name="loss-hatch-38.5">
            <a:extLst xmlns:a="http://schemas.openxmlformats.org/drawingml/2006/main">
              <a:ext uri="{FF2B5EF4-FFF2-40B4-BE49-F238E27FC236}">
                <a16:creationId xmlns:a16="http://schemas.microsoft.com/office/drawing/2014/main" id="{DEA8F0E8-399E-4013-8C12-724F2FBDCEC2}"/>
              </a:ext>
            </a:extLst>
          </p:cNvPr>
          <p:cNvSpPr>
            <a:spLocks xmlns:a="http://schemas.openxmlformats.org/drawingml/2006/main" noGrp="1"/>
          </p:cNvSpPr>
          <p:nvPr/>
        </p:nvSpPr>
        <p:spPr>
          <a:xfrm xmlns:a="http://schemas.openxmlformats.org/drawingml/2006/main">
            <a:off x="5460111" y="4615339"/>
            <a:ext cx="0" cy="126444"/>
          </a:xfrm>
          <a:prstGeom xmlns:a="http://schemas.openxmlformats.org/drawingml/2006/main" prst="line">
            <a:avLst/>
          </a:prstGeom>
          <a:ln xmlns:a="http://schemas.openxmlformats.org/drawingml/2006/main" w="11430">
            <a:solidFill>
              <a:srgbClr val="A94D16"/>
            </a:solidFill>
          </a:ln>
        </p:spPr>
      </p:sp>
      <p:sp>
        <p:nvSpPr>
          <p:cNvPr id="18" name="Welvaartsverlies">
            <a:extLst xmlns:a="http://schemas.openxmlformats.org/drawingml/2006/main">
              <a:ext uri="{FF2B5EF4-FFF2-40B4-BE49-F238E27FC236}">
                <a16:creationId xmlns:a16="http://schemas.microsoft.com/office/drawing/2014/main" id="{57B07624-2705-4816-A2DA-D54ED0A642FD}"/>
              </a:ext>
            </a:extLst>
          </p:cNvPr>
          <p:cNvSpPr>
            <a:spLocks xmlns:a="http://schemas.openxmlformats.org/drawingml/2006/main" noGrp="1"/>
          </p:cNvSpPr>
          <p:nvPr/>
        </p:nvSpPr>
        <p:spPr>
          <a:xfrm xmlns:a="http://schemas.openxmlformats.org/drawingml/2006/main">
            <a:off x="6350508" y="267652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94D16"/>
                </a:solidFill>
                <a:latin typeface="Arial"/>
                <a:ea typeface="Arial"/>
                <a:cs typeface="Arial"/>
              </a:defRPr>
            </a:pPr>
            <a:r>
              <a:rPr sz="2025" b="1">
                <a:solidFill>
                  <a:srgbClr val="A94D16"/>
                </a:solidFill>
                <a:latin typeface="Arial"/>
                <a:ea typeface="Arial"/>
                <a:cs typeface="Arial"/>
              </a:rPr>
              <a:t>Welvaartsverlies</a:t>
            </a:r>
          </a:p>
        </p:txBody>
      </p:sp>
      <p:sp>
        <p:nvSpPr>
          <p:cNvPr id="19" name="loss-leader">
            <a:extLst xmlns:a="http://schemas.openxmlformats.org/drawingml/2006/main">
              <a:ext uri="{FF2B5EF4-FFF2-40B4-BE49-F238E27FC236}">
                <a16:creationId xmlns:a16="http://schemas.microsoft.com/office/drawing/2014/main" id="{F9DD2612-3779-4FE8-8929-6B25D18E2E02}"/>
              </a:ext>
            </a:extLst>
          </p:cNvPr>
          <p:cNvSpPr>
            <a:spLocks xmlns:a="http://schemas.openxmlformats.org/drawingml/2006/main" noGrp="1"/>
          </p:cNvSpPr>
          <p:nvPr/>
        </p:nvSpPr>
        <p:spPr>
          <a:xfrm xmlns:a="http://schemas.openxmlformats.org/drawingml/2006/main" flipV="1">
            <a:off x="5225796" y="3126105"/>
            <a:ext cx="1124712" cy="1517333"/>
          </a:xfrm>
          <a:prstGeom xmlns:a="http://schemas.openxmlformats.org/drawingml/2006/main" prst="line">
            <a:avLst/>
          </a:prstGeom>
          <a:ln xmlns:a="http://schemas.openxmlformats.org/drawingml/2006/main" w="14288">
            <a:solidFill>
              <a:srgbClr val="A94D16"/>
            </a:solidFill>
          </a:ln>
        </p:spPr>
      </p:sp>
      <p:sp>
        <p:nvSpPr>
          <p:cNvPr id="20" name="Verschil in TS">
            <a:extLst xmlns:a="http://schemas.openxmlformats.org/drawingml/2006/main">
              <a:ext uri="{FF2B5EF4-FFF2-40B4-BE49-F238E27FC236}">
                <a16:creationId xmlns:a16="http://schemas.microsoft.com/office/drawing/2014/main" id="{925C9527-C5C3-437E-A9E0-33FC7D84BA67}"/>
              </a:ext>
            </a:extLst>
          </p:cNvPr>
          <p:cNvSpPr>
            <a:spLocks xmlns:a="http://schemas.openxmlformats.org/drawingml/2006/main" noGrp="1"/>
          </p:cNvSpPr>
          <p:nvPr/>
        </p:nvSpPr>
        <p:spPr>
          <a:xfrm xmlns:a="http://schemas.openxmlformats.org/drawingml/2006/main">
            <a:off x="10287000" y="21526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Verschil in TS</a:t>
            </a:r>
          </a:p>
        </p:txBody>
      </p:sp>
      <p:sp>
        <p:nvSpPr>
          <p:cNvPr id="21" name="1.200 − 1.125 = € 75&#10;&#10;Basis: 40 − 30 = 10&#10;huurfietsen&#10;Hoogte">
            <a:extLst xmlns:a="http://schemas.openxmlformats.org/drawingml/2006/main">
              <a:ext uri="{FF2B5EF4-FFF2-40B4-BE49-F238E27FC236}">
                <a16:creationId xmlns:a16="http://schemas.microsoft.com/office/drawing/2014/main" id="{F58DC38D-2D98-44CC-86DE-53BC76AF833C}"/>
              </a:ext>
            </a:extLst>
          </p:cNvPr>
          <p:cNvSpPr>
            <a:spLocks xmlns:a="http://schemas.openxmlformats.org/drawingml/2006/main" noGrp="1"/>
          </p:cNvSpPr>
          <p:nvPr/>
        </p:nvSpPr>
        <p:spPr>
          <a:xfrm xmlns:a="http://schemas.openxmlformats.org/drawingml/2006/main">
            <a:off x="10287000" y="306705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1.200 − 1.125 = € 75</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Basis: 40 − 30 = 10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huurfietsen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50 − 35 = € 15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huurfiets</a:t>
            </a:r>
          </a:p>
        </p:txBody>
      </p:sp>
      <p:sp>
        <p:nvSpPr>
          <p:cNvPr id="22" name="½ × 10 × 15 = € 75">
            <a:extLst xmlns:a="http://schemas.openxmlformats.org/drawingml/2006/main">
              <a:ext uri="{FF2B5EF4-FFF2-40B4-BE49-F238E27FC236}">
                <a16:creationId xmlns:a16="http://schemas.microsoft.com/office/drawing/2014/main" id="{7D865AD4-9CCC-4DC8-A834-55DEFD8A529D}"/>
              </a:ext>
            </a:extLst>
          </p:cNvPr>
          <p:cNvSpPr>
            <a:spLocks xmlns:a="http://schemas.openxmlformats.org/drawingml/2006/main" noGrp="1"/>
          </p:cNvSpPr>
          <p:nvPr/>
        </p:nvSpPr>
        <p:spPr>
          <a:xfrm xmlns:a="http://schemas.openxmlformats.org/drawingml/2006/main">
            <a:off x="10287000" y="6562725"/>
            <a:ext cx="4381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½ × 10 × 15 = € 75</a:t>
            </a:r>
          </a:p>
        </p:txBody>
      </p:sp>
    </p:spTree>
    <p:extLst>
      <p:ext uri="{BB962C8B-B14F-4D97-AF65-F5344CB8AC3E}">
        <p14:creationId xmlns:p14="http://schemas.microsoft.com/office/powerpoint/2010/main" val="16444469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5 · De mogelijke 31e transactie">
            <a:extLst xmlns:a="http://schemas.openxmlformats.org/drawingml/2006/main">
              <a:ext uri="{FF2B5EF4-FFF2-40B4-BE49-F238E27FC236}">
                <a16:creationId xmlns:a16="http://schemas.microsoft.com/office/drawing/2014/main" id="{2F358BA1-4B91-45BC-882D-378BA623E5F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3.5 · De mogelijke 31e transactie</a:t>
            </a:r>
          </a:p>
        </p:txBody>
      </p:sp>
      <p:sp>
        <p:nvSpPr>
          <p:cNvPr id="2" name="">
            <a:extLst xmlns:a="http://schemas.openxmlformats.org/drawingml/2006/main">
              <a:ext uri="{FF2B5EF4-FFF2-40B4-BE49-F238E27FC236}">
                <a16:creationId xmlns:a16="http://schemas.microsoft.com/office/drawing/2014/main" id="{F9F9F0D4-610D-45F7-8F85-5946F929784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013A63F-11FF-45F8-96B5-BD2D5614C7A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96C37485-A781-4BAA-BA0F-817439625E4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PS stijgt: € 400 naar € 525. TS daalt: € 1.200 naar € 1.125.">
            <a:extLst xmlns:a="http://schemas.openxmlformats.org/drawingml/2006/main">
              <a:ext uri="{FF2B5EF4-FFF2-40B4-BE49-F238E27FC236}">
                <a16:creationId xmlns:a16="http://schemas.microsoft.com/office/drawing/2014/main" id="{98D13A5D-9DA7-4D9F-AEF8-4FC8DAC8F4AE}"/>
              </a:ext>
            </a:extLst>
          </p:cNvPr>
          <p:cNvSpPr>
            <a:spLocks xmlns:a="http://schemas.openxmlformats.org/drawingml/2006/main" noGrp="1"/>
          </p:cNvSpPr>
          <p:nvPr/>
        </p:nvSpPr>
        <p:spPr>
          <a:xfrm xmlns:a="http://schemas.openxmlformats.org/drawingml/2006/main">
            <a:off x="571500" y="1781175"/>
            <a:ext cx="1409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PS stijgt: € 400 naar € 525. TS daalt: € 1.200 naar € 1.125.</a:t>
            </a:r>
          </a:p>
        </p:txBody>
      </p:sp>
      <p:graphicFrame>
        <p:nvGraphicFramePr>
          <p:cNvPr id="14" name=""/>
          <p:cNvGraphicFramePr/>
          <p:nvPr/>
        </p:nvGraphicFramePr>
        <p:xfrm>
          <a:off xmlns:a="http://schemas.openxmlformats.org/drawingml/2006/main" x="571500" y="3114675"/>
          <a:ext xmlns:a="http://schemas.openxmlformats.org/drawingml/2006/main" cx="14097000" cy="2352675"/>
        </p:xfrm>
        <a:graphic xmlns:a="http://schemas.openxmlformats.org/drawingml/2006/main">
          <a:graphicData uri="http://schemas.openxmlformats.org/drawingml/2006/table">
            <a:tbl>
              <a:tblPr/>
              <a:tblGrid>
                <a:gridCol w="10001250"/>
                <a:gridCol w="4095750"/>
              </a:tblGrid>
              <a:tr h="784225">
                <a:tc>
                  <a:txBody>
                    <a:bodyPr lIns="171450" tIns="95250" rIns="152400" bIns="95250"/>
                    <a:lstStyle/>
                    <a:p>
                      <a:r>
                        <a:rPr sz="2550" b="1">
                          <a:solidFill>
                            <a:srgbClr val="FFFFFF"/>
                          </a:solidFill>
                          <a:latin typeface="Arial"/>
                          <a:ea typeface="Arial"/>
                          <a:cs typeface="Arial"/>
                        </a:rPr>
                        <a:t>Wie gaat vooruit bij dezelfde prijs van € 45?</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Voordeel</a:t>
                      </a:r>
                    </a:p>
                  </a:txBody>
                  <a:tcPr marL="91440" marR="91440" marT="45720" marB="45720" anchor="ctr">
                    <a:solidFill>
                      <a:srgbClr val="183247"/>
                    </a:solidFill>
                  </a:tcPr>
                </a:tc>
              </a:tr>
              <a:tr h="784225">
                <a:tc>
                  <a:txBody>
                    <a:bodyPr lIns="171450" tIns="95250" rIns="152400" bIns="95250"/>
                    <a:lstStyle/>
                    <a:p>
                      <a:r>
                        <a:rPr sz="2550" b="0">
                          <a:solidFill>
                            <a:srgbClr val="183247"/>
                          </a:solidFill>
                          <a:latin typeface="Arial"/>
                          <a:ea typeface="Arial"/>
                          <a:cs typeface="Arial"/>
                        </a:rPr>
                        <a:t>Nieuwe huurder: betalingsbereidheid € 49</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49 − 45 = € 4</a:t>
                      </a:r>
                    </a:p>
                  </a:txBody>
                  <a:tcPr marL="91440" marR="91440" marT="45720" marB="45720" anchor="ctr">
                    <a:solidFill>
                      <a:srgbClr val="FFFFFF"/>
                    </a:solidFill>
                  </a:tcPr>
                </a:tc>
              </a:tr>
              <a:tr h="784225">
                <a:tc>
                  <a:txBody>
                    <a:bodyPr lIns="171450" tIns="95250" rIns="152400" bIns="95250"/>
                    <a:lstStyle/>
                    <a:p>
                      <a:r>
                        <a:rPr sz="2550" b="0">
                          <a:solidFill>
                            <a:srgbClr val="183247"/>
                          </a:solidFill>
                          <a:latin typeface="Arial"/>
                          <a:ea typeface="Arial"/>
                          <a:cs typeface="Arial"/>
                        </a:rPr>
                        <a:t>Nieuwe verhuurder: MK € 35,50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45 − 35,50 = € 9,50</a:t>
                      </a:r>
                    </a:p>
                  </a:txBody>
                  <a:tcPr marL="91440" marR="91440" marT="45720" marB="45720" anchor="ctr">
                    <a:solidFill>
                      <a:srgbClr val="EFF4F7"/>
                    </a:solidFill>
                  </a:tcPr>
                </a:tc>
              </a:tr>
            </a:tbl>
          </a:graphicData>
        </a:graphic>
      </p:graphicFrame>
      <p:sp>
        <p:nvSpPr>
          <p:cNvPr id="7" name="Haalbaar: technische ruimte en kosteloze verruiming.&#10;Niemand">
            <a:extLst xmlns:a="http://schemas.openxmlformats.org/drawingml/2006/main">
              <a:ext uri="{FF2B5EF4-FFF2-40B4-BE49-F238E27FC236}">
                <a16:creationId xmlns:a16="http://schemas.microsoft.com/office/drawing/2014/main" id="{832F42CB-ABBB-478A-AB08-4F634F02608A}"/>
              </a:ext>
            </a:extLst>
          </p:cNvPr>
          <p:cNvSpPr>
            <a:spLocks xmlns:a="http://schemas.openxmlformats.org/drawingml/2006/main" noGrp="1"/>
          </p:cNvSpPr>
          <p:nvPr/>
        </p:nvSpPr>
        <p:spPr>
          <a:xfrm xmlns:a="http://schemas.openxmlformats.org/drawingml/2006/main">
            <a:off x="571500" y="589597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Haalbaar: technische ruimte en kosteloze verruiming.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Niemand slechter af: prijs en bestaande transacties blijven gelijk.</a:t>
            </a:r>
          </a:p>
        </p:txBody>
      </p:sp>
      <p:sp>
        <p:nvSpPr>
          <p:cNvPr id="8" name="Een Paretoverbetering is mogelijk. De beperking is niet Pare">
            <a:extLst xmlns:a="http://schemas.openxmlformats.org/drawingml/2006/main">
              <a:ext uri="{FF2B5EF4-FFF2-40B4-BE49-F238E27FC236}">
                <a16:creationId xmlns:a16="http://schemas.microsoft.com/office/drawing/2014/main" id="{3FE9CB4F-44B3-4F6F-955E-F0E35FA3CE1A}"/>
              </a:ext>
            </a:extLst>
          </p:cNvPr>
          <p:cNvSpPr>
            <a:spLocks xmlns:a="http://schemas.openxmlformats.org/drawingml/2006/main" noGrp="1"/>
          </p:cNvSpPr>
          <p:nvPr/>
        </p:nvSpPr>
        <p:spPr>
          <a:xfrm xmlns:a="http://schemas.openxmlformats.org/drawingml/2006/main">
            <a:off x="571500" y="721995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Een Paretoverbetering is mogelijk. De beperking is niet Pareto-efficiënt.</a:t>
            </a:r>
          </a:p>
        </p:txBody>
      </p:sp>
    </p:spTree>
    <p:extLst>
      <p:ext uri="{BB962C8B-B14F-4D97-AF65-F5344CB8AC3E}">
        <p14:creationId xmlns:p14="http://schemas.microsoft.com/office/powerpoint/2010/main" val="179599800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3.6 · Efficiëntie en eerlijkheid">
            <a:extLst xmlns:a="http://schemas.openxmlformats.org/drawingml/2006/main">
              <a:ext uri="{FF2B5EF4-FFF2-40B4-BE49-F238E27FC236}">
                <a16:creationId xmlns:a16="http://schemas.microsoft.com/office/drawing/2014/main" id="{2703A4EC-C367-4E21-BA66-8087D532C2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3.6 · Efficiëntie en eerlijkheid</a:t>
            </a:r>
          </a:p>
        </p:txBody>
      </p:sp>
      <p:sp>
        <p:nvSpPr>
          <p:cNvPr id="2" name="">
            <a:extLst xmlns:a="http://schemas.openxmlformats.org/drawingml/2006/main">
              <a:ext uri="{FF2B5EF4-FFF2-40B4-BE49-F238E27FC236}">
                <a16:creationId xmlns:a16="http://schemas.microsoft.com/office/drawing/2014/main" id="{3267F5D2-F241-4806-A68D-B9D589D90DB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BEFE111-B40C-445C-A0E4-3654076AE0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 · Opgave 3 · Boekpagina 104–105</a:t>
            </a:r>
          </a:p>
        </p:txBody>
      </p:sp>
      <p:sp>
        <p:nvSpPr>
          <p:cNvPr id="4" name="slide-number">
            <a:extLst xmlns:a="http://schemas.openxmlformats.org/drawingml/2006/main">
              <a:ext uri="{FF2B5EF4-FFF2-40B4-BE49-F238E27FC236}">
                <a16:creationId xmlns:a16="http://schemas.microsoft.com/office/drawing/2014/main" id="{ECD9BECE-2601-4710-889F-CA157F60E9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124075"/>
          <a:ext xmlns:a="http://schemas.openxmlformats.org/drawingml/2006/main" cx="14097000" cy="3476625"/>
        </p:xfrm>
        <a:graphic xmlns:a="http://schemas.openxmlformats.org/drawingml/2006/main">
          <a:graphicData uri="http://schemas.openxmlformats.org/drawingml/2006/table">
            <a:tbl>
              <a:tblPr/>
              <a:tblGrid>
                <a:gridCol w="7048500"/>
                <a:gridCol w="7048500"/>
              </a:tblGrid>
              <a:tr h="869156">
                <a:tc>
                  <a:txBody>
                    <a:bodyPr lIns="171450" tIns="95250" rIns="152400" bIns="95250"/>
                    <a:lstStyle/>
                    <a:p>
                      <a:r>
                        <a:rPr sz="2550" b="1">
                          <a:solidFill>
                            <a:srgbClr val="FFFFFF"/>
                          </a:solidFill>
                          <a:latin typeface="Arial"/>
                          <a:ea typeface="Arial"/>
                          <a:cs typeface="Arial"/>
                        </a:rPr>
                        <a:t>De berekening laat zien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Een oordeel over eerlijkheid vraagt</a:t>
                      </a:r>
                    </a:p>
                  </a:txBody>
                  <a:tcPr marL="91440" marR="91440" marT="45720" marB="45720" anchor="ctr">
                    <a:solidFill>
                      <a:srgbClr val="183247"/>
                    </a:solidFill>
                  </a:tcPr>
                </a:tc>
              </a:tr>
              <a:tr h="869156">
                <a:tc>
                  <a:txBody>
                    <a:bodyPr lIns="171450" tIns="95250" rIns="152400" bIns="95250"/>
                    <a:lstStyle/>
                    <a:p>
                      <a:r>
                        <a:rPr sz="2550" b="0">
                          <a:solidFill>
                            <a:srgbClr val="183247"/>
                          </a:solidFill>
                          <a:latin typeface="Arial"/>
                          <a:ea typeface="Arial"/>
                          <a:cs typeface="Arial"/>
                        </a:rPr>
                        <a:t>Hoe groot CS, PS en TS zijn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Een norm voor een eerlijke verdeling</a:t>
                      </a:r>
                    </a:p>
                  </a:txBody>
                  <a:tcPr marL="91440" marR="91440" marT="45720" marB="45720" anchor="ctr">
                    <a:solidFill>
                      <a:srgbClr val="FFFFFF"/>
                    </a:solidFill>
                  </a:tcPr>
                </a:tc>
              </a:tr>
              <a:tr h="869156">
                <a:tc>
                  <a:txBody>
                    <a:bodyPr lIns="171450" tIns="95250" rIns="152400" bIns="95250"/>
                    <a:lstStyle/>
                    <a:p>
                      <a:r>
                        <a:rPr sz="2550" b="0">
                          <a:solidFill>
                            <a:srgbClr val="183247"/>
                          </a:solidFill>
                          <a:latin typeface="Arial"/>
                          <a:ea typeface="Arial"/>
                          <a:cs typeface="Arial"/>
                        </a:rPr>
                        <a:t>Welk voordeel door minder handel ontbreekt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Een afweging van belangen en waarden</a:t>
                      </a:r>
                    </a:p>
                  </a:txBody>
                  <a:tcPr marL="91440" marR="91440" marT="45720" marB="45720" anchor="ctr">
                    <a:solidFill>
                      <a:srgbClr val="EFF4F7"/>
                    </a:solidFill>
                  </a:tcPr>
                </a:tc>
              </a:tr>
              <a:tr h="869156">
                <a:tc>
                  <a:txBody>
                    <a:bodyPr lIns="171450" tIns="95250" rIns="152400" bIns="95250"/>
                    <a:lstStyle/>
                    <a:p>
                      <a:r>
                        <a:rPr sz="2550" b="0">
                          <a:solidFill>
                            <a:srgbClr val="183247"/>
                          </a:solidFill>
                          <a:latin typeface="Arial"/>
                          <a:ea typeface="Arial"/>
                          <a:cs typeface="Arial"/>
                        </a:rPr>
                        <a:t>Of een haalbare Paretoverbetering bestaat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Informatie over wie welk voordeel krijgt</a:t>
                      </a:r>
                    </a:p>
                  </a:txBody>
                  <a:tcPr marL="91440" marR="91440" marT="45720" marB="45720" anchor="ctr">
                    <a:solidFill>
                      <a:srgbClr val="FFFFFF"/>
                    </a:solidFill>
                  </a:tcPr>
                </a:tc>
              </a:tr>
            </a:tbl>
          </a:graphicData>
        </a:graphic>
      </p:graphicFrame>
      <p:sp>
        <p:nvSpPr>
          <p:cNvPr id="6" name="De efficiëntievergelijking bepaalt niet welke verdeling eerl">
            <a:extLst xmlns:a="http://schemas.openxmlformats.org/drawingml/2006/main">
              <a:ext uri="{FF2B5EF4-FFF2-40B4-BE49-F238E27FC236}">
                <a16:creationId xmlns:a16="http://schemas.microsoft.com/office/drawing/2014/main" id="{757849E5-EE52-4E6C-862A-11F63754B1B9}"/>
              </a:ext>
            </a:extLst>
          </p:cNvPr>
          <p:cNvSpPr>
            <a:spLocks xmlns:a="http://schemas.openxmlformats.org/drawingml/2006/main" noGrp="1"/>
          </p:cNvSpPr>
          <p:nvPr/>
        </p:nvSpPr>
        <p:spPr>
          <a:xfrm xmlns:a="http://schemas.openxmlformats.org/drawingml/2006/main">
            <a:off x="571500" y="622935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De efficiëntievergelijking bepaalt niet welke verdeling eerlijker is.</a:t>
            </a:r>
          </a:p>
        </p:txBody>
      </p:sp>
      <p:sp>
        <p:nvSpPr>
          <p:cNvPr id="7" name="Verbeter één ontbrekende stap of verklaring in je eigen antw">
            <a:extLst xmlns:a="http://schemas.openxmlformats.org/drawingml/2006/main">
              <a:ext uri="{FF2B5EF4-FFF2-40B4-BE49-F238E27FC236}">
                <a16:creationId xmlns:a16="http://schemas.microsoft.com/office/drawing/2014/main" id="{88CB9EEA-1ED9-48EA-A07C-3924E81E6B0E}"/>
              </a:ext>
            </a:extLst>
          </p:cNvPr>
          <p:cNvSpPr>
            <a:spLocks xmlns:a="http://schemas.openxmlformats.org/drawingml/2006/main" noGrp="1"/>
          </p:cNvSpPr>
          <p:nvPr/>
        </p:nvSpPr>
        <p:spPr>
          <a:xfrm xmlns:a="http://schemas.openxmlformats.org/drawingml/2006/main">
            <a:off x="571500" y="74199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Verbeter één ontbrekende stap of verklaring in je eigen antwoord.</a:t>
            </a:r>
          </a:p>
        </p:txBody>
      </p:sp>
    </p:spTree>
    <p:extLst>
      <p:ext uri="{BB962C8B-B14F-4D97-AF65-F5344CB8AC3E}">
        <p14:creationId xmlns:p14="http://schemas.microsoft.com/office/powerpoint/2010/main" val="18169218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2.3.4 Gemengde opgaven">
            <a:extLst xmlns:a="http://schemas.openxmlformats.org/drawingml/2006/main">
              <a:ext uri="{FF2B5EF4-FFF2-40B4-BE49-F238E27FC236}">
                <a16:creationId xmlns:a16="http://schemas.microsoft.com/office/drawing/2014/main" id="{35626A1C-CE02-4185-B3D2-252BE76D2F9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§2.3.4 Gemengde opgaven</a:t>
            </a:r>
          </a:p>
        </p:txBody>
      </p:sp>
      <p:sp>
        <p:nvSpPr>
          <p:cNvPr id="2" name="">
            <a:extLst xmlns:a="http://schemas.openxmlformats.org/drawingml/2006/main">
              <a:ext uri="{FF2B5EF4-FFF2-40B4-BE49-F238E27FC236}">
                <a16:creationId xmlns:a16="http://schemas.microsoft.com/office/drawing/2014/main" id="{5099E949-B10C-4BC4-8FC4-E094EAF4A6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3F6C44E-C6F4-42DD-9DE8-FEFC98A1D2E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§2.3.4 Gemengde opgaven</a:t>
            </a:r>
          </a:p>
        </p:txBody>
      </p:sp>
      <p:sp>
        <p:nvSpPr>
          <p:cNvPr id="4" name="slide-number">
            <a:extLst xmlns:a="http://schemas.openxmlformats.org/drawingml/2006/main">
              <a:ext uri="{FF2B5EF4-FFF2-40B4-BE49-F238E27FC236}">
                <a16:creationId xmlns:a16="http://schemas.microsoft.com/office/drawing/2014/main" id="{C547693E-E8C7-42EB-BC59-E93498E819B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hase">
            <a:extLst xmlns:a="http://schemas.openxmlformats.org/drawingml/2006/main">
              <a:ext uri="{FF2B5EF4-FFF2-40B4-BE49-F238E27FC236}">
                <a16:creationId xmlns:a16="http://schemas.microsoft.com/office/drawing/2014/main" id="{36313627-9815-4494-9F85-942A28050CE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5729E53-FFC9-4807-A5E7-FF0BF6E85B2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CABA049C-D981-4E6E-91A2-56F787CF480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CC37BD9-D3CB-4305-8233-728C6D24D65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79C80C0-6DB0-4A7C-96E7-B4D4DD29BC23}"/>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5B0C560-1902-4D9A-BE88-190905E91FD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0801082-9ED0-4FC5-B033-75398409C1F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FDCCBE08-66C1-43C4-A717-AA7BED10DECB}"/>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B4B8D687-AE8E-4393-9A03-F6C5360C03A3}"/>
              </a:ext>
            </a:extLst>
          </p:cNvPr>
          <p:cNvSpPr>
            <a:spLocks xmlns:a="http://schemas.openxmlformats.org/drawingml/2006/main" noGrp="1"/>
          </p:cNvSpPr>
          <p:nvPr/>
        </p:nvSpPr>
        <p:spPr>
          <a:xfrm xmlns:a="http://schemas.openxmlformats.org/drawingml/2006/main">
            <a:off x="571500" y="4248150"/>
            <a:ext cx="457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08B9BD3F-06C0-482B-BF95-C07588F65B46}"/>
              </a:ext>
            </a:extLst>
          </p:cNvPr>
          <p:cNvSpPr>
            <a:spLocks xmlns:a="http://schemas.openxmlformats.org/drawingml/2006/main" noGrp="1"/>
          </p:cNvSpPr>
          <p:nvPr/>
        </p:nvSpPr>
        <p:spPr>
          <a:xfrm xmlns:a="http://schemas.openxmlformats.org/drawingml/2006/main">
            <a:off x="1104900" y="4248150"/>
            <a:ext cx="74199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 stel vragen en kijk je antwoorden na.</a:t>
            </a:r>
          </a:p>
        </p:txBody>
      </p:sp>
      <p:sp>
        <p:nvSpPr>
          <p:cNvPr id="15" name="route-number-5">
            <a:extLst xmlns:a="http://schemas.openxmlformats.org/drawingml/2006/main">
              <a:ext uri="{FF2B5EF4-FFF2-40B4-BE49-F238E27FC236}">
                <a16:creationId xmlns:a16="http://schemas.microsoft.com/office/drawing/2014/main" id="{6CCFA66F-C646-47C4-88E6-B87152B5750E}"/>
              </a:ext>
            </a:extLst>
          </p:cNvPr>
          <p:cNvSpPr>
            <a:spLocks xmlns:a="http://schemas.openxmlformats.org/drawingml/2006/main" noGrp="1"/>
          </p:cNvSpPr>
          <p:nvPr/>
        </p:nvSpPr>
        <p:spPr>
          <a:xfrm xmlns:a="http://schemas.openxmlformats.org/drawingml/2006/main">
            <a:off x="571500" y="577215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8D1FBFA4-4B5F-402C-AB5B-5406E8F1E896}"/>
              </a:ext>
            </a:extLst>
          </p:cNvPr>
          <p:cNvSpPr>
            <a:spLocks xmlns:a="http://schemas.openxmlformats.org/drawingml/2006/main" noGrp="1"/>
          </p:cNvSpPr>
          <p:nvPr/>
        </p:nvSpPr>
        <p:spPr>
          <a:xfrm xmlns:a="http://schemas.openxmlformats.org/drawingml/2006/main">
            <a:off x="1104900" y="577215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0149550-A750-4147-A8F6-0A9F6545A932}"/>
              </a:ext>
            </a:extLst>
          </p:cNvPr>
          <p:cNvSpPr>
            <a:spLocks xmlns:a="http://schemas.openxmlformats.org/drawingml/2006/main" noGrp="1"/>
          </p:cNvSpPr>
          <p:nvPr/>
        </p:nvSpPr>
        <p:spPr>
          <a:xfrm xmlns:a="http://schemas.openxmlformats.org/drawingml/2006/main">
            <a:off x="571500" y="6667500"/>
            <a:ext cx="45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C328D772-B97A-41FF-9DE7-A9232961940D}"/>
              </a:ext>
            </a:extLst>
          </p:cNvPr>
          <p:cNvSpPr>
            <a:spLocks xmlns:a="http://schemas.openxmlformats.org/drawingml/2006/main" noGrp="1"/>
          </p:cNvSpPr>
          <p:nvPr/>
        </p:nvSpPr>
        <p:spPr>
          <a:xfrm xmlns:a="http://schemas.openxmlformats.org/drawingml/2006/main">
            <a:off x="1104900" y="6667500"/>
            <a:ext cx="7419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a:t>
            </a:r>
          </a:p>
        </p:txBody>
      </p:sp>
      <p:sp>
        <p:nvSpPr>
          <p:cNvPr id="19" name="route-number-7">
            <a:extLst xmlns:a="http://schemas.openxmlformats.org/drawingml/2006/main">
              <a:ext uri="{FF2B5EF4-FFF2-40B4-BE49-F238E27FC236}">
                <a16:creationId xmlns:a16="http://schemas.microsoft.com/office/drawing/2014/main" id="{C0E63495-7CD5-41F1-9352-786E731B06B6}"/>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A98F4F9E-D70F-47BD-8B77-F3E7FD1257E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7988939-3EFA-42F0-8839-F625132E543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DCC003E5-E236-4EA8-8668-B5829D9E5F2A}"/>
              </a:ext>
            </a:extLst>
          </p:cNvPr>
          <p:cNvSpPr>
            <a:spLocks xmlns:a="http://schemas.openxmlformats.org/drawingml/2006/main" noGrp="1"/>
          </p:cNvSpPr>
          <p:nvPr/>
        </p:nvSpPr>
        <p:spPr>
          <a:xfrm xmlns:a="http://schemas.openxmlformats.org/drawingml/2006/main">
            <a:off x="9258300" y="2324100"/>
            <a:ext cx="5381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Evenwicht en surplus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Welvaartsverlies bepalen.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Efficiëntie en eerlijkheid scheiden.</a:t>
            </a:r>
          </a:p>
        </p:txBody>
      </p:sp>
      <p:sp>
        <p:nvSpPr>
          <p:cNvPr id="23" name="">
            <a:extLst xmlns:a="http://schemas.openxmlformats.org/drawingml/2006/main">
              <a:ext uri="{FF2B5EF4-FFF2-40B4-BE49-F238E27FC236}">
                <a16:creationId xmlns:a16="http://schemas.microsoft.com/office/drawing/2014/main" id="{10258436-1201-4EFC-8F7E-8CF536667373}"/>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D730DE5-883B-4226-A831-4DCC7A147E2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06F172E-36FA-4A86-8752-A0BD9884C80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101 · Opgave 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Steun: theorie p. 82–84</a:t>
            </a:r>
          </a:p>
        </p:txBody>
      </p:sp>
      <p:sp>
        <p:nvSpPr>
          <p:cNvPr id="26" name="">
            <a:extLst xmlns:a="http://schemas.openxmlformats.org/drawingml/2006/main">
              <a:ext uri="{FF2B5EF4-FFF2-40B4-BE49-F238E27FC236}">
                <a16:creationId xmlns:a16="http://schemas.microsoft.com/office/drawing/2014/main" id="{05BB7AAA-2EFE-4605-833B-A79601F9D77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A77A135-04AF-4E60-AC13-69E79F05730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522F169-D48E-4BBD-8E5C-05C98152CDA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§2.3.4 · Opgaven 1, 2, 3, 4, 5, 6,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 = bonus · 5–7 = herhaling</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Verder: 2 · Doelopgave: 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942640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2026-10-01T06:38:23.7340000Z</dcterms:created>
  <dcterms:modified xsi:type="dcterms:W3CDTF">2026-10-01T06:38:23.7340000Z</dcterms:modified>
</coreProperties>
</file>