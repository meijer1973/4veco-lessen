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8.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9.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0.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1f5a7ed257498d" /><Relationship Type="http://schemas.openxmlformats.org/officeDocument/2006/relationships/extended-properties" Target="/docProps/app.xml" Id="R1cdf6a208cab4d05" /><Relationship Type="http://schemas.openxmlformats.org/officeDocument/2006/relationships/officeDocument" Target="/ppt/presentation.xml" Id="R15319b22430b45d6" /></Relationships>
</file>

<file path=ppt/presentation.xml><?xml version="1.0" encoding="utf-8"?>
<p:presentation xmlns:p="http://schemas.openxmlformats.org/presentationml/2006/main">
  <p:sldMasterIdLst>
    <p:sldMasterId xmlns:r="http://schemas.openxmlformats.org/officeDocument/2006/relationships" id="2147483648" r:id="R8fd1b76f9ab340ae"/>
  </p:sldMasterIdLst>
  <p:notesMasterIdLst>
    <p:notesMasterId xmlns:r="http://schemas.openxmlformats.org/officeDocument/2006/relationships" r:id="R0db430aaf8924010"/>
  </p:notesMasterIdLst>
  <p:sldIdLst>
    <p:sldId xmlns:r="http://schemas.openxmlformats.org/officeDocument/2006/relationships" id="256" r:id="R6cbdabd3dc1b4e48"/>
    <p:sldId xmlns:r="http://schemas.openxmlformats.org/officeDocument/2006/relationships" id="257" r:id="R0148e46b407748c7"/>
    <p:sldId xmlns:r="http://schemas.openxmlformats.org/officeDocument/2006/relationships" id="258" r:id="R48c5c3ef1b364f85"/>
    <p:sldId xmlns:r="http://schemas.openxmlformats.org/officeDocument/2006/relationships" id="259" r:id="R46c148a90794437f"/>
    <p:sldId xmlns:r="http://schemas.openxmlformats.org/officeDocument/2006/relationships" id="260" r:id="Rf29a8c331b274b20"/>
    <p:sldId xmlns:r="http://schemas.openxmlformats.org/officeDocument/2006/relationships" id="261" r:id="R8d8700967a3c4e35"/>
    <p:sldId xmlns:r="http://schemas.openxmlformats.org/officeDocument/2006/relationships" id="262" r:id="Rdf15a5899a184e6d"/>
    <p:sldId xmlns:r="http://schemas.openxmlformats.org/officeDocument/2006/relationships" id="263" r:id="R635edc33b8da4dbd"/>
    <p:sldId xmlns:r="http://schemas.openxmlformats.org/officeDocument/2006/relationships" id="264" r:id="R6571c6f3e2a64abb"/>
    <p:sldId xmlns:r="http://schemas.openxmlformats.org/officeDocument/2006/relationships" id="265" r:id="R3a529be8153349ba"/>
    <p:sldId xmlns:r="http://schemas.openxmlformats.org/officeDocument/2006/relationships" id="266" r:id="R72d04dd445224608"/>
    <p:sldId xmlns:r="http://schemas.openxmlformats.org/officeDocument/2006/relationships" id="267" r:id="Raeb18f271b7a411b"/>
    <p:sldId xmlns:r="http://schemas.openxmlformats.org/officeDocument/2006/relationships" id="268" r:id="R3245a9a6af3b4fb8"/>
    <p:sldId xmlns:r="http://schemas.openxmlformats.org/officeDocument/2006/relationships" id="269" r:id="Ra882c2e3b6f4449a"/>
    <p:sldId xmlns:r="http://schemas.openxmlformats.org/officeDocument/2006/relationships" id="270" r:id="R9392591c511c4cf5"/>
    <p:sldId xmlns:r="http://schemas.openxmlformats.org/officeDocument/2006/relationships" id="271" r:id="Rbcbe34f57d1e47d7"/>
    <p:sldId xmlns:r="http://schemas.openxmlformats.org/officeDocument/2006/relationships" id="272" r:id="Ra91d644b1ac84a95"/>
    <p:sldId xmlns:r="http://schemas.openxmlformats.org/officeDocument/2006/relationships" id="273" r:id="R5642a83b52084b26"/>
    <p:sldId xmlns:r="http://schemas.openxmlformats.org/officeDocument/2006/relationships" id="274" r:id="R00824e869fb94580"/>
    <p:sldId xmlns:r="http://schemas.openxmlformats.org/officeDocument/2006/relationships" id="275" r:id="R688bd24f47ac40bd"/>
    <p:sldId xmlns:r="http://schemas.openxmlformats.org/officeDocument/2006/relationships" id="276" r:id="R6b74b350f9344e02"/>
    <p:sldId xmlns:r="http://schemas.openxmlformats.org/officeDocument/2006/relationships" id="277" r:id="R303c0a9d56af452e"/>
    <p:sldId xmlns:r="http://schemas.openxmlformats.org/officeDocument/2006/relationships" id="278" r:id="R125cc9be29394fc9"/>
    <p:sldId xmlns:r="http://schemas.openxmlformats.org/officeDocument/2006/relationships" id="279" r:id="Rf4737338685642fb"/>
    <p:sldId xmlns:r="http://schemas.openxmlformats.org/officeDocument/2006/relationships" id="280" r:id="Ra6e8a22fad494896"/>
    <p:sldId xmlns:r="http://schemas.openxmlformats.org/officeDocument/2006/relationships" id="281" r:id="R9c3aeb5a56234a13"/>
    <p:sldId xmlns:r="http://schemas.openxmlformats.org/officeDocument/2006/relationships" id="282" r:id="R664f61c4bc1a4fcb"/>
    <p:sldId xmlns:r="http://schemas.openxmlformats.org/officeDocument/2006/relationships" id="283" r:id="R6dfdf3b5f60b446e"/>
    <p:sldId xmlns:r="http://schemas.openxmlformats.org/officeDocument/2006/relationships" id="284" r:id="R91f008946da74100"/>
    <p:sldId xmlns:r="http://schemas.openxmlformats.org/officeDocument/2006/relationships" id="285" r:id="R013c84810718418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174a64b89b4f48" /><Relationship Type="http://schemas.openxmlformats.org/officeDocument/2006/relationships/slideMaster" Target="/ppt/slideMasters/slideMaster1.xml" Id="R8fd1b76f9ab340ae" /><Relationship Type="http://schemas.openxmlformats.org/officeDocument/2006/relationships/notesMaster" Target="/ppt/notesMasters/notesMaster1.xml" Id="R0db430aaf8924010" /><Relationship Type="http://schemas.openxmlformats.org/officeDocument/2006/relationships/presProps" Target="/ppt/presProps.xml" Id="R823dba89da58458d" /><Relationship Type="http://schemas.openxmlformats.org/officeDocument/2006/relationships/tableStyles" Target="/ppt/tableStyles.xml" Id="R33bb4bd19a2b4950" /><Relationship Type="http://schemas.openxmlformats.org/officeDocument/2006/relationships/slide" Target="/ppt/slides/slide1.xml" Id="R6cbdabd3dc1b4e48" /><Relationship Type="http://schemas.openxmlformats.org/officeDocument/2006/relationships/slide" Target="/ppt/slides/slide2.xml" Id="R0148e46b407748c7" /><Relationship Type="http://schemas.openxmlformats.org/officeDocument/2006/relationships/slide" Target="/ppt/slides/slide3.xml" Id="R48c5c3ef1b364f85" /><Relationship Type="http://schemas.openxmlformats.org/officeDocument/2006/relationships/slide" Target="/ppt/slides/slide4.xml" Id="R46c148a90794437f" /><Relationship Type="http://schemas.openxmlformats.org/officeDocument/2006/relationships/slide" Target="/ppt/slides/slide5.xml" Id="Rf29a8c331b274b20" /><Relationship Type="http://schemas.openxmlformats.org/officeDocument/2006/relationships/slide" Target="/ppt/slides/slide6.xml" Id="R8d8700967a3c4e35" /><Relationship Type="http://schemas.openxmlformats.org/officeDocument/2006/relationships/slide" Target="/ppt/slides/slide7.xml" Id="Rdf15a5899a184e6d" /><Relationship Type="http://schemas.openxmlformats.org/officeDocument/2006/relationships/slide" Target="/ppt/slides/slide8.xml" Id="R635edc33b8da4dbd" /><Relationship Type="http://schemas.openxmlformats.org/officeDocument/2006/relationships/slide" Target="/ppt/slides/slide9.xml" Id="R6571c6f3e2a64abb" /><Relationship Type="http://schemas.openxmlformats.org/officeDocument/2006/relationships/slide" Target="/ppt/slides/slide10.xml" Id="R3a529be8153349ba" /><Relationship Type="http://schemas.openxmlformats.org/officeDocument/2006/relationships/slide" Target="/ppt/slides/slide11.xml" Id="R72d04dd445224608" /><Relationship Type="http://schemas.openxmlformats.org/officeDocument/2006/relationships/slide" Target="/ppt/slides/slide12.xml" Id="Raeb18f271b7a411b" /><Relationship Type="http://schemas.openxmlformats.org/officeDocument/2006/relationships/slide" Target="/ppt/slides/slide13.xml" Id="R3245a9a6af3b4fb8" /><Relationship Type="http://schemas.openxmlformats.org/officeDocument/2006/relationships/slide" Target="/ppt/slides/slide14.xml" Id="Ra882c2e3b6f4449a" /><Relationship Type="http://schemas.openxmlformats.org/officeDocument/2006/relationships/slide" Target="/ppt/slides/slide15.xml" Id="R9392591c511c4cf5" /><Relationship Type="http://schemas.openxmlformats.org/officeDocument/2006/relationships/slide" Target="/ppt/slides/slide16.xml" Id="Rbcbe34f57d1e47d7" /><Relationship Type="http://schemas.openxmlformats.org/officeDocument/2006/relationships/slide" Target="/ppt/slides/slide17.xml" Id="Ra91d644b1ac84a95" /><Relationship Type="http://schemas.openxmlformats.org/officeDocument/2006/relationships/slide" Target="/ppt/slides/slide18.xml" Id="R5642a83b52084b26" /><Relationship Type="http://schemas.openxmlformats.org/officeDocument/2006/relationships/slide" Target="/ppt/slides/slide19.xml" Id="R00824e869fb94580" /><Relationship Type="http://schemas.openxmlformats.org/officeDocument/2006/relationships/slide" Target="/ppt/slides/slide20.xml" Id="R688bd24f47ac40bd" /><Relationship Type="http://schemas.openxmlformats.org/officeDocument/2006/relationships/slide" Target="/ppt/slides/slide21.xml" Id="R6b74b350f9344e02" /><Relationship Type="http://schemas.openxmlformats.org/officeDocument/2006/relationships/slide" Target="/ppt/slides/slide22.xml" Id="R303c0a9d56af452e" /><Relationship Type="http://schemas.openxmlformats.org/officeDocument/2006/relationships/slide" Target="/ppt/slides/slide23.xml" Id="R125cc9be29394fc9" /><Relationship Type="http://schemas.openxmlformats.org/officeDocument/2006/relationships/slide" Target="/ppt/slides/slide24.xml" Id="Rf4737338685642fb" /><Relationship Type="http://schemas.openxmlformats.org/officeDocument/2006/relationships/slide" Target="/ppt/slides/slide25.xml" Id="Ra6e8a22fad494896" /><Relationship Type="http://schemas.openxmlformats.org/officeDocument/2006/relationships/slide" Target="/ppt/slides/slide26.xml" Id="R9c3aeb5a56234a13" /><Relationship Type="http://schemas.openxmlformats.org/officeDocument/2006/relationships/slide" Target="/ppt/slides/slide27.xml" Id="R664f61c4bc1a4fcb" /><Relationship Type="http://schemas.openxmlformats.org/officeDocument/2006/relationships/slide" Target="/ppt/slides/slide28.xml" Id="R6dfdf3b5f60b446e" /><Relationship Type="http://schemas.openxmlformats.org/officeDocument/2006/relationships/slide" Target="/ppt/slides/slide29.xml" Id="R91f008946da74100" /><Relationship Type="http://schemas.openxmlformats.org/officeDocument/2006/relationships/slide" Target="/ppt/slides/slide30.xml" Id="R013c8481071841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bcd8baac2545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a0a9a99e9d497f" /><Relationship Type="http://schemas.openxmlformats.org/officeDocument/2006/relationships/notesMaster" Target="/ppt/notesMasters/notesMaster1.xml" Id="Rff550d20ba514c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70cd61eedd4806" /><Relationship Type="http://schemas.openxmlformats.org/officeDocument/2006/relationships/notesMaster" Target="/ppt/notesMasters/notesMaster1.xml" Id="R64b845ccf2c546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460453d948482c" /><Relationship Type="http://schemas.openxmlformats.org/officeDocument/2006/relationships/notesMaster" Target="/ppt/notesMasters/notesMaster1.xml" Id="R6c0eaf6ebd0c49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e323fa9a0c4438" /><Relationship Type="http://schemas.openxmlformats.org/officeDocument/2006/relationships/notesMaster" Target="/ppt/notesMasters/notesMaster1.xml" Id="R1f89d3f9a2a045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d51bfaf89a4cae" /><Relationship Type="http://schemas.openxmlformats.org/officeDocument/2006/relationships/notesMaster" Target="/ppt/notesMasters/notesMaster1.xml" Id="Re4ffaac3a59345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3cc976a403438a" /><Relationship Type="http://schemas.openxmlformats.org/officeDocument/2006/relationships/notesMaster" Target="/ppt/notesMasters/notesMaster1.xml" Id="R1bbe50becc8a4b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edfb3ccefe4131" /><Relationship Type="http://schemas.openxmlformats.org/officeDocument/2006/relationships/notesMaster" Target="/ppt/notesMasters/notesMaster1.xml" Id="Rb715eb104f6c49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5fa836eed44d06" /><Relationship Type="http://schemas.openxmlformats.org/officeDocument/2006/relationships/notesMaster" Target="/ppt/notesMasters/notesMaster1.xml" Id="Re46d061e3fac43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f29ae14d31489d" /><Relationship Type="http://schemas.openxmlformats.org/officeDocument/2006/relationships/notesMaster" Target="/ppt/notesMasters/notesMaster1.xml" Id="Rda672192da5c4c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0a25b515f74638" /><Relationship Type="http://schemas.openxmlformats.org/officeDocument/2006/relationships/notesMaster" Target="/ppt/notesMasters/notesMaster1.xml" Id="R60726f4ccb6b49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e4949051f94b68" /><Relationship Type="http://schemas.openxmlformats.org/officeDocument/2006/relationships/notesMaster" Target="/ppt/notesMasters/notesMaster1.xml" Id="Rab660d875b7949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935fca6d8c4f1c" /><Relationship Type="http://schemas.openxmlformats.org/officeDocument/2006/relationships/notesMaster" Target="/ppt/notesMasters/notesMaster1.xml" Id="Rd84a2bd42fff47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b37cfeaf6f4373" /><Relationship Type="http://schemas.openxmlformats.org/officeDocument/2006/relationships/notesMaster" Target="/ppt/notesMasters/notesMaster1.xml" Id="R96eba62b8ec94c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fd8ee7cfd44dd9" /><Relationship Type="http://schemas.openxmlformats.org/officeDocument/2006/relationships/notesMaster" Target="/ppt/notesMasters/notesMaster1.xml" Id="Rb40dab9e976649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c637a7f2814541" /><Relationship Type="http://schemas.openxmlformats.org/officeDocument/2006/relationships/notesMaster" Target="/ppt/notesMasters/notesMaster1.xml" Id="R91d2e2f3f8d343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9dcecb55904448" /><Relationship Type="http://schemas.openxmlformats.org/officeDocument/2006/relationships/notesMaster" Target="/ppt/notesMasters/notesMaster1.xml" Id="Rd479d33cf7dd46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d7c556f0cf46e0" /><Relationship Type="http://schemas.openxmlformats.org/officeDocument/2006/relationships/notesMaster" Target="/ppt/notesMasters/notesMaster1.xml" Id="Rf0c6d20862ac4d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15f9d3db5464618" /><Relationship Type="http://schemas.openxmlformats.org/officeDocument/2006/relationships/notesMaster" Target="/ppt/notesMasters/notesMaster1.xml" Id="R6605206f496c414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54f38279614424" /><Relationship Type="http://schemas.openxmlformats.org/officeDocument/2006/relationships/notesMaster" Target="/ppt/notesMasters/notesMaster1.xml" Id="Re5bfdf4a03da4c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41f2263553941c4" /><Relationship Type="http://schemas.openxmlformats.org/officeDocument/2006/relationships/notesMaster" Target="/ppt/notesMasters/notesMaster1.xml" Id="R2e794e8b28a6477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ed91e6680546fa" /><Relationship Type="http://schemas.openxmlformats.org/officeDocument/2006/relationships/notesMaster" Target="/ppt/notesMasters/notesMaster1.xml" Id="Ra4673dbf5b034f1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0910588cea649f8" /><Relationship Type="http://schemas.openxmlformats.org/officeDocument/2006/relationships/notesMaster" Target="/ppt/notesMasters/notesMaster1.xml" Id="R1716f4f399454d4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c088480b974194" /><Relationship Type="http://schemas.openxmlformats.org/officeDocument/2006/relationships/notesMaster" Target="/ppt/notesMasters/notesMaster1.xml" Id="R0b345c6650ed41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d9cd632f574742" /><Relationship Type="http://schemas.openxmlformats.org/officeDocument/2006/relationships/notesMaster" Target="/ppt/notesMasters/notesMaster1.xml" Id="Rdda987c330b7466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f7cb1fa3ad646d5" /><Relationship Type="http://schemas.openxmlformats.org/officeDocument/2006/relationships/notesMaster" Target="/ppt/notesMasters/notesMaster1.xml" Id="R6be1c17e478a49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fd0d1f38564d8c" /><Relationship Type="http://schemas.openxmlformats.org/officeDocument/2006/relationships/notesMaster" Target="/ppt/notesMasters/notesMaster1.xml" Id="R19fc5745986642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fb7efb4d3f3447e" /><Relationship Type="http://schemas.openxmlformats.org/officeDocument/2006/relationships/notesMaster" Target="/ppt/notesMasters/notesMaster1.xml" Id="R9286f735597d45a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2c97f84b804b4e" /><Relationship Type="http://schemas.openxmlformats.org/officeDocument/2006/relationships/notesMaster" Target="/ppt/notesMasters/notesMaster1.xml" Id="R5a71578a501a406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5f54639a5b24380" /><Relationship Type="http://schemas.openxmlformats.org/officeDocument/2006/relationships/notesMaster" Target="/ppt/notesMasters/notesMaster1.xml" Id="Rbd81d92b897c494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70752182fff4eda" /><Relationship Type="http://schemas.openxmlformats.org/officeDocument/2006/relationships/notesMaster" Target="/ppt/notesMasters/notesMaster1.xml" Id="Rc8036efa85d940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dit overzicht staan tijdens startopdracht. Start 1–2 en basis 3 op p.97; basis 4 op p.98; zelfstandig 5 op p.99; doel 6 op p.100–101. Huiswerk 3,4,5,6 maken en nakijken. Bonus 7 en herhaling 8–9 zijn extra. Start 1 haalt de driehoeken uit §2.3.1 p.75 en §2.3.2 p.82–85 op. Start 2 vraagt het nieuwe Pareto-criterium: lees de definities en het onderscheid met een groter totaal op p.94. Noteer een eerste redenering en twijfel. Dit is ondersteund verkennen. Keer na de uitleg terug naar 2, vóór het basiswerk. Geen aanname dat dit al beheerst wordt. De volledige route kan extra lestijd vragen; er is geen gemeten 55-minutenbegroting.</a:t>
            </a:r>
          </a:p>
          <a:p xmlns:a="http://schemas.openxmlformats.org/drawingml/2006/main">
            <a:r>
              <a:rPr sz="1400"/>
              <a:t/>
            </a:r>
          </a:p>
          <a:p xmlns:a="http://schemas.openxmlformats.org/drawingml/2006/main">
            <a:r>
              <a:rPr sz="1400"/>
              <a:t>Vraag: Waar heb je een berekening nodig en waar een oordeel over afzonderlijke personen?</a:t>
            </a:r>
          </a:p>
          <a:p xmlns:a="http://schemas.openxmlformats.org/drawingml/2006/main">
            <a:r>
              <a:rPr sz="1400"/>
              <a:t/>
            </a:r>
          </a:p>
          <a:p xmlns:a="http://schemas.openxmlformats.org/drawingml/2006/main">
            <a:r>
              <a:rPr sz="1400"/>
              <a:t>Misvatting: Een stijgend totaal is nog geen Paretoverbetering.</a:t>
            </a:r>
          </a:p>
          <a:p xmlns:a="http://schemas.openxmlformats.org/drawingml/2006/main">
            <a:r>
              <a:rPr sz="1400"/>
              <a:t/>
            </a:r>
          </a:p>
          <a:p xmlns:a="http://schemas.openxmlformats.org/drawingml/2006/main">
            <a:r>
              <a:rPr sz="1400"/>
              <a:t>Overgang: Ga naar de volgende lesfase, of laat het huiswerk in de agenda noteren.</a:t>
            </a:r>
          </a:p>
          <a:p xmlns:a="http://schemas.openxmlformats.org/drawingml/2006/main">
            <a:r>
              <a:rPr sz="1400"/>
              <a:t/>
            </a:r>
          </a:p>
          <a:p xmlns:a="http://schemas.openxmlformats.org/drawingml/2006/main">
            <a:r>
              <a:rPr sz="1400"/>
              <a:t>Bron: Boek 2, chatuitgave 2026, revisie 1 oktober 2026, gedrukte pagina 91–101.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Haal de eerder onderwezen betekenissen op: individueel CS is betalingsbereidheid min prijs, individueel PS is prijs min MK. Doorlopende rechte lijnen leveren oppervlakten. Bij een driehoek: ½ × basis × hoogte. PS is niet automatisch winst, omdat vaste kosten nog niet zijn afgetrokken. Efficiëntie en eerlijkheid zijn verschillende oordelen.</a:t>
            </a:r>
          </a:p>
          <a:p xmlns:a="http://schemas.openxmlformats.org/drawingml/2006/main">
            <a:r>
              <a:rPr sz="1400"/>
              <a:t/>
            </a:r>
          </a:p>
          <a:p xmlns:a="http://schemas.openxmlformats.org/drawingml/2006/main">
            <a:r>
              <a:rPr sz="1400"/>
              <a:t>Vraag: Welk gebied hoort bij de kopers en welk bij de verkopers?</a:t>
            </a:r>
          </a:p>
          <a:p xmlns:a="http://schemas.openxmlformats.org/drawingml/2006/main">
            <a:r>
              <a:rPr sz="1400"/>
              <a:t/>
            </a:r>
          </a:p>
          <a:p xmlns:a="http://schemas.openxmlformats.org/drawingml/2006/main">
            <a:r>
              <a:rPr sz="1400"/>
              <a:t>Misvatting: Gebruik alleen echte transacties. Een getekende vraaglijn is geen optelsom van enkele losse kopers.</a:t>
            </a:r>
          </a:p>
          <a:p xmlns:a="http://schemas.openxmlformats.org/drawingml/2006/main">
            <a:r>
              <a:rPr sz="1400"/>
              <a:t/>
            </a:r>
          </a:p>
          <a:p xmlns:a="http://schemas.openxmlformats.org/drawingml/2006/main">
            <a:r>
              <a:rPr sz="1400"/>
              <a:t>Overgang: Introduceer een eigen model met één boekingsronde.</a:t>
            </a:r>
          </a:p>
          <a:p xmlns:a="http://schemas.openxmlformats.org/drawingml/2006/main">
            <a:r>
              <a:rPr sz="1400"/>
              <a:t/>
            </a:r>
          </a:p>
          <a:p xmlns:a="http://schemas.openxmlformats.org/drawingml/2006/main">
            <a:r>
              <a:rPr sz="1400"/>
              <a:t>Bron: Boek 2, chatuitgave 2026, revisie 1 oktober 2026, gedrukte pagina 75, 81–85, 91–94.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Eigen voorbeeld. De grens is een verruimbare boekingsregel, geen fysieke schaarste aan plaatsen. Eén boekingsronde; geen maand- of jaarbedragen. Alle bijbehorende aannames staan op de dia. In deze markt geldt aanbod = MK. De lijnen rangschikken de hoogste betalingsbereidheid en laagste MK vooraan.</a:t>
            </a:r>
          </a:p>
          <a:p xmlns:a="http://schemas.openxmlformats.org/drawingml/2006/main">
            <a:r>
              <a:rPr sz="1400"/>
              <a:t/>
            </a:r>
          </a:p>
          <a:p xmlns:a="http://schemas.openxmlformats.org/drawingml/2006/main">
            <a:r>
              <a:rPr sz="1400"/>
              <a:t>Vraag: Welke grens hoort bij het systeem en welke bij de technische mogelijkheden?</a:t>
            </a:r>
          </a:p>
          <a:p xmlns:a="http://schemas.openxmlformats.org/drawingml/2006/main">
            <a:r>
              <a:rPr sz="1400"/>
              <a:t/>
            </a:r>
          </a:p>
          <a:p xmlns:a="http://schemas.openxmlformats.org/drawingml/2006/main">
            <a:r>
              <a:rPr sz="1400"/>
              <a:t>Misvatting: Een boekingslimiet is hier niet hetzelfde als maximale productiecapaciteit.</a:t>
            </a:r>
          </a:p>
          <a:p xmlns:a="http://schemas.openxmlformats.org/drawingml/2006/main">
            <a:r>
              <a:rPr sz="1400"/>
              <a:t/>
            </a:r>
          </a:p>
          <a:p xmlns:a="http://schemas.openxmlformats.org/drawingml/2006/main">
            <a:r>
              <a:rPr sz="1400"/>
              <a:t>Overgang: Herhaal eerst het vrije evenwicht van dit eigen model.</a:t>
            </a:r>
          </a:p>
          <a:p xmlns:a="http://schemas.openxmlformats.org/drawingml/2006/main">
            <a:r>
              <a:rPr sz="1400"/>
              <a:t/>
            </a:r>
          </a:p>
          <a:p xmlns:a="http://schemas.openxmlformats.org/drawingml/2006/main">
            <a:r>
              <a:rPr sz="1400"/>
              <a:t>Bron: Boek 2, chatuitgave 2026, revisie 1 oktober 2026, gedrukte pagina 91–96.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Refresh de bekende rekenroute: gelijkstellen, Qe oplossen, Pe invullen. Controle Pe = 6 + 0,25×40 = 16. CS boven 16 tot V; PS onder 16 tot MK. Beide stoppen bij 40. Bij 40 zijn betalingsbereidheid en MK gelijk. Verder rechts kost een extra eenheid meer dan zij waard is. Daarom is TS in dit model maximaal 600.</a:t>
            </a:r>
          </a:p>
          <a:p xmlns:a="http://schemas.openxmlformats.org/drawingml/2006/main">
            <a:r>
              <a:rPr sz="1400"/>
              <a:t/>
            </a:r>
          </a:p>
          <a:p xmlns:a="http://schemas.openxmlformats.org/drawingml/2006/main">
            <a:r>
              <a:rPr sz="1400"/>
              <a:t>Vraag: Waarom eindigen de twee gebieden hier in een punt?</a:t>
            </a:r>
          </a:p>
          <a:p xmlns:a="http://schemas.openxmlformats.org/drawingml/2006/main">
            <a:r>
              <a:rPr sz="1400"/>
              <a:t/>
            </a:r>
          </a:p>
          <a:p xmlns:a="http://schemas.openxmlformats.org/drawingml/2006/main">
            <a:r>
              <a:rPr sz="1400"/>
              <a:t>Misvatting: De hoogte van CS is 20, niet de prijs 16. De hoogte van PS is 10.</a:t>
            </a:r>
          </a:p>
          <a:p xmlns:a="http://schemas.openxmlformats.org/drawingml/2006/main">
            <a:r>
              <a:rPr sz="1400"/>
              <a:t/>
            </a:r>
          </a:p>
          <a:p xmlns:a="http://schemas.openxmlformats.org/drawingml/2006/main">
            <a:r>
              <a:rPr sz="1400"/>
              <a:t>Overgang: Pas nu de boekingsregel toe.</a:t>
            </a:r>
          </a:p>
          <a:p xmlns:a="http://schemas.openxmlformats.org/drawingml/2006/main">
            <a:r>
              <a:rPr sz="1400"/>
              <a:t/>
            </a:r>
          </a:p>
          <a:p xmlns:a="http://schemas.openxmlformats.org/drawingml/2006/main">
            <a:r>
              <a:rPr sz="1400"/>
              <a:t>Bron: Boek 2, chatuitgave 2026, revisie 1 oktober 2026, gedrukte pagina 82–85.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Vul de regelprijs in beide functies in en isoleer Q. De gewenste hoeveelheden verschillen van werkelijk geboekte plaatsen. De limiet bindt: 24 is kleiner dan beide. Dankzij de toewijzingsregel mogen we de gebieden vanaf Q=0 gebruiken. Qv is de gevraagde hoeveelheid; Qa is de aangeboden hoeveelheid, net als in het boek.</a:t>
            </a:r>
          </a:p>
          <a:p xmlns:a="http://schemas.openxmlformats.org/drawingml/2006/main">
            <a:r>
              <a:rPr sz="1400"/>
              <a:t/>
            </a:r>
          </a:p>
          <a:p xmlns:a="http://schemas.openxmlformats.org/drawingml/2006/main">
            <a:r>
              <a:rPr sz="1400"/>
              <a:t>Vraag: Waarom rekenen we straks met 24 en niet met 36 of 48?</a:t>
            </a:r>
          </a:p>
          <a:p xmlns:a="http://schemas.openxmlformats.org/drawingml/2006/main">
            <a:r>
              <a:rPr sz="1400"/>
              <a:t/>
            </a:r>
          </a:p>
          <a:p xmlns:a="http://schemas.openxmlformats.org/drawingml/2006/main">
            <a:r>
              <a:rPr sz="1400"/>
              <a:t>Misvatting: Een prijs geeft gewenste handel. De extra regel kan die handel beperken.</a:t>
            </a:r>
          </a:p>
          <a:p xmlns:a="http://schemas.openxmlformats.org/drawingml/2006/main">
            <a:r>
              <a:rPr sz="1400"/>
              <a:t/>
            </a:r>
          </a:p>
          <a:p xmlns:a="http://schemas.openxmlformats.org/drawingml/2006/main">
            <a:r>
              <a:rPr sz="1400"/>
              <a:t>Overgang: Lees bij de werkelijke hoeveelheid de twee hoogten.</a:t>
            </a:r>
          </a:p>
          <a:p xmlns:a="http://schemas.openxmlformats.org/drawingml/2006/main">
            <a:r>
              <a:rPr sz="1400"/>
              <a:t/>
            </a:r>
          </a:p>
          <a:p xmlns:a="http://schemas.openxmlformats.org/drawingml/2006/main">
            <a:r>
              <a:rPr sz="1400"/>
              <a:t>Bron: Boek 2, chatuitgave 2026, revisie 1 oktober 2026, gedrukte pagina 91, 95.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Beide gebieden stoppen bij 24. De laatste koper heeft 24−18=6 euro voordeel, de laatste verkoper 18−12=6. De gebieden eindigen dus niet in een punt op de prijslijn. Bepaal eerst deze rechterrand voor je een oppervlak uitrekent.</a:t>
            </a:r>
          </a:p>
          <a:p xmlns:a="http://schemas.openxmlformats.org/drawingml/2006/main">
            <a:r>
              <a:rPr sz="1400"/>
              <a:t/>
            </a:r>
          </a:p>
          <a:p xmlns:a="http://schemas.openxmlformats.org/drawingml/2006/main">
            <a:r>
              <a:rPr sz="1400"/>
              <a:t>Vraag: Welke twee bedragen liggen bij Q=24 boven en onder de prijs?</a:t>
            </a:r>
          </a:p>
          <a:p xmlns:a="http://schemas.openxmlformats.org/drawingml/2006/main">
            <a:r>
              <a:rPr sz="1400"/>
              <a:t/>
            </a:r>
          </a:p>
          <a:p xmlns:a="http://schemas.openxmlformats.org/drawingml/2006/main">
            <a:r>
              <a:rPr sz="1400"/>
              <a:t>Misvatting: Alleen de formule ½×Q×hoogte gebruiken laat een rechthoek weg.</a:t>
            </a:r>
          </a:p>
          <a:p xmlns:a="http://schemas.openxmlformats.org/drawingml/2006/main">
            <a:r>
              <a:rPr sz="1400"/>
              <a:t/>
            </a:r>
          </a:p>
          <a:p xmlns:a="http://schemas.openxmlformats.org/drawingml/2006/main">
            <a:r>
              <a:rPr sz="1400"/>
              <a:t>Overgang: Splits eerst het consumentensurplus.</a:t>
            </a:r>
          </a:p>
          <a:p xmlns:a="http://schemas.openxmlformats.org/drawingml/2006/main">
            <a:r>
              <a:rPr sz="1400"/>
              <a:t/>
            </a:r>
          </a:p>
          <a:p xmlns:a="http://schemas.openxmlformats.org/drawingml/2006/main">
            <a:r>
              <a:rPr sz="1400"/>
              <a:t>Bron: Boek 2, chatuitgave 2026, revisie 1 oktober 2026, gedrukte pagina 92, 95.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horizontale hulplijn op 24 splitst het CS. Elke verkochte plaats levert minstens 6 euro kopersvoordeel: de rechthoek. De eerdere kopers willen meer dan 24 betalen: de driehoek daarboven. Basis beide 24 plaatsen; hoogten respectievelijk 6 en 12 euro per plaats.</a:t>
            </a:r>
          </a:p>
          <a:p xmlns:a="http://schemas.openxmlformats.org/drawingml/2006/main">
            <a:r>
              <a:rPr sz="1400"/>
              <a:t/>
            </a:r>
          </a:p>
          <a:p xmlns:a="http://schemas.openxmlformats.org/drawingml/2006/main">
            <a:r>
              <a:rPr sz="1400"/>
              <a:t>Vraag: Welk deel vergeet je als je alleen de driehoek neemt?</a:t>
            </a:r>
          </a:p>
          <a:p xmlns:a="http://schemas.openxmlformats.org/drawingml/2006/main">
            <a:r>
              <a:rPr sz="1400"/>
              <a:t/>
            </a:r>
          </a:p>
          <a:p xmlns:a="http://schemas.openxmlformats.org/drawingml/2006/main">
            <a:r>
              <a:rPr sz="1400"/>
              <a:t>Misvatting: Gebruik niet Qv=36 als basis. Er gaan maar 24 boekingen door.</a:t>
            </a:r>
          </a:p>
          <a:p xmlns:a="http://schemas.openxmlformats.org/drawingml/2006/main">
            <a:r>
              <a:rPr sz="1400"/>
              <a:t/>
            </a:r>
          </a:p>
          <a:p xmlns:a="http://schemas.openxmlformats.org/drawingml/2006/main">
            <a:r>
              <a:rPr sz="1400"/>
              <a:t>Overgang: Doe dezelfde opsplitsing voor de verkopers.</a:t>
            </a:r>
          </a:p>
          <a:p xmlns:a="http://schemas.openxmlformats.org/drawingml/2006/main">
            <a:r>
              <a:rPr sz="1400"/>
              <a:t/>
            </a:r>
          </a:p>
          <a:p xmlns:a="http://schemas.openxmlformats.org/drawingml/2006/main">
            <a:r>
              <a:rPr sz="1400"/>
              <a:t>Bron: Boek 2, chatuitgave 2026, revisie 1 oktober 2026, gedrukte pagina 92, 95.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hulplijn op 12 splitst PS. Alle verkopers krijgen minstens 6 euro boven hun MK, en verkopers links hebben nog lagere MK. De onderste driehoek telt dat extra voordeel. Basis 24 plaatsen; hoogten 6 en 6 euro per plaats. Onder de MK-lijn liggen kosten.</a:t>
            </a:r>
          </a:p>
          <a:p xmlns:a="http://schemas.openxmlformats.org/drawingml/2006/main">
            <a:r>
              <a:rPr sz="1400"/>
              <a:t/>
            </a:r>
          </a:p>
          <a:p xmlns:a="http://schemas.openxmlformats.org/drawingml/2006/main">
            <a:r>
              <a:rPr sz="1400"/>
              <a:t>Vraag: Waarom hoort het gebied onder de MK-lijn niet bij PS?</a:t>
            </a:r>
          </a:p>
          <a:p xmlns:a="http://schemas.openxmlformats.org/drawingml/2006/main">
            <a:r>
              <a:rPr sz="1400"/>
              <a:t/>
            </a:r>
          </a:p>
          <a:p xmlns:a="http://schemas.openxmlformats.org/drawingml/2006/main">
            <a:r>
              <a:rPr sz="1400"/>
              <a:t>Misvatting: P×Q is omzet, niet PS. PS is ook niet automatisch winst.</a:t>
            </a:r>
          </a:p>
          <a:p xmlns:a="http://schemas.openxmlformats.org/drawingml/2006/main">
            <a:r>
              <a:rPr sz="1400"/>
              <a:t/>
            </a:r>
          </a:p>
          <a:p xmlns:a="http://schemas.openxmlformats.org/drawingml/2006/main">
            <a:r>
              <a:rPr sz="1400"/>
              <a:t>Overgang: Tel CS en PS op en vergelijk met de vrije markt.</a:t>
            </a:r>
          </a:p>
          <a:p xmlns:a="http://schemas.openxmlformats.org/drawingml/2006/main">
            <a:r>
              <a:rPr sz="1400"/>
              <a:t/>
            </a:r>
          </a:p>
          <a:p xmlns:a="http://schemas.openxmlformats.org/drawingml/2006/main">
            <a:r>
              <a:rPr sz="1400"/>
              <a:t>Bron: Boek 2, chatuitgave 2026, revisie 1 oktober 2026, gedrukte pagina 92, 95.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Het oranje gebied ligt tussen vraag en MK, rechts van 24 en links van het vrije evenwicht bij 40. Hoekpunten (24;24), (40;16), (24;12). De horizontale afstand 16 en verticale afstand 12 leveren ½×16×12=96 euro. Het gemiste voordeel ontvangt niemand. Het model gebruikt continue gebieden, geen som van 16 afzonderlijke puntwaarden.</a:t>
            </a:r>
          </a:p>
          <a:p xmlns:a="http://schemas.openxmlformats.org/drawingml/2006/main">
            <a:r>
              <a:rPr sz="1400"/>
              <a:t/>
            </a:r>
          </a:p>
          <a:p xmlns:a="http://schemas.openxmlformats.org/drawingml/2006/main">
            <a:r>
              <a:rPr sz="1400"/>
              <a:t>Vraag: Waarom is de hoogte 24−12 en niet de prijs 18?</a:t>
            </a:r>
          </a:p>
          <a:p xmlns:a="http://schemas.openxmlformats.org/drawingml/2006/main">
            <a:r>
              <a:rPr sz="1400"/>
              <a:t/>
            </a:r>
          </a:p>
          <a:p xmlns:a="http://schemas.openxmlformats.org/drawingml/2006/main">
            <a:r>
              <a:rPr sz="1400"/>
              <a:t>Misvatting: De stijging van PS is een verdelingseffect, terwijl dit gebied verloren totaal surplus is.</a:t>
            </a:r>
          </a:p>
          <a:p xmlns:a="http://schemas.openxmlformats.org/drawingml/2006/main">
            <a:r>
              <a:rPr sz="1400"/>
              <a:t/>
            </a:r>
          </a:p>
          <a:p xmlns:a="http://schemas.openxmlformats.org/drawingml/2006/main">
            <a:r>
              <a:rPr sz="1400"/>
              <a:t>Overgang: Introduceer nu het criterium dat over afzonderlijke personen gaat.</a:t>
            </a:r>
          </a:p>
          <a:p xmlns:a="http://schemas.openxmlformats.org/drawingml/2006/main">
            <a:r>
              <a:rPr sz="1400"/>
              <a:t/>
            </a:r>
          </a:p>
          <a:p xmlns:a="http://schemas.openxmlformats.org/drawingml/2006/main">
            <a:r>
              <a:rPr sz="1400"/>
              <a:t>Bron: Boek 2, chatuitgave 2026, revisie 1 oktober 2026, gedrukte pagina 93, 96.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Benadruk de kwantoren: minstens één persoon beter en geen enkele slechter, én de verandering moet haalbaar zijn. Pareto-efficiënt gaat over het ontbreken van zo’n mogelijkheid binnen het model. Een stijgende som is op zichzelf onvoldoende.</a:t>
            </a:r>
          </a:p>
          <a:p xmlns:a="http://schemas.openxmlformats.org/drawingml/2006/main">
            <a:r>
              <a:rPr sz="1400"/>
              <a:t/>
            </a:r>
          </a:p>
          <a:p xmlns:a="http://schemas.openxmlformats.org/drawingml/2006/main">
            <a:r>
              <a:rPr sz="1400"/>
              <a:t>Vraag: Welke voorwaarde gaat over de uitvoerbaarheid?</a:t>
            </a:r>
          </a:p>
          <a:p xmlns:a="http://schemas.openxmlformats.org/drawingml/2006/main">
            <a:r>
              <a:rPr sz="1400"/>
              <a:t/>
            </a:r>
          </a:p>
          <a:p xmlns:a="http://schemas.openxmlformats.org/drawingml/2006/main">
            <a:r>
              <a:rPr sz="1400"/>
              <a:t>Misvatting: Een voorstel met winnaars en verliezers is niet zonder meer een Paretoverbetering. Neem compensatie niet stilzwijgend aan.</a:t>
            </a:r>
          </a:p>
          <a:p xmlns:a="http://schemas.openxmlformats.org/drawingml/2006/main">
            <a:r>
              <a:rPr sz="1400"/>
              <a:t/>
            </a:r>
          </a:p>
          <a:p xmlns:a="http://schemas.openxmlformats.org/drawingml/2006/main">
            <a:r>
              <a:rPr sz="1400"/>
              <a:t>Overgang: Toets één concrete extra rondvaartplaats.</a:t>
            </a:r>
          </a:p>
          <a:p xmlns:a="http://schemas.openxmlformats.org/drawingml/2006/main">
            <a:r>
              <a:rPr sz="1400"/>
              <a:t/>
            </a:r>
          </a:p>
          <a:p xmlns:a="http://schemas.openxmlformats.org/drawingml/2006/main">
            <a:r>
              <a:rPr sz="1400"/>
              <a:t>Bron: Boek 2, chatuitgave 2026, revisie 1 oktober 2026, gedrukte pagina 94.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koper en verkoper winnen bij dezelfde prijs 18. De technische ruimte is minstens 48 en de regel kan kosteloos worden verruimd; alle bestaande transacties en anderen blijven ongemoeid. Daarmee is één haalbare verbetering bewezen. De puntwaarden beschrijven deze mogelijke transactie, niet een exact integraalverschil over een heel productie-interval.</a:t>
            </a:r>
          </a:p>
          <a:p xmlns:a="http://schemas.openxmlformats.org/drawingml/2006/main">
            <a:r>
              <a:rPr sz="1400"/>
              <a:t/>
            </a:r>
          </a:p>
          <a:p xmlns:a="http://schemas.openxmlformats.org/drawingml/2006/main">
            <a:r>
              <a:rPr sz="1400"/>
              <a:t>Vraag: Welke aanname voorkomt dat iemand de kosten van verruiming draagt?</a:t>
            </a:r>
          </a:p>
          <a:p xmlns:a="http://schemas.openxmlformats.org/drawingml/2006/main">
            <a:r>
              <a:rPr sz="1400"/>
              <a:t/>
            </a:r>
          </a:p>
          <a:p xmlns:a="http://schemas.openxmlformats.org/drawingml/2006/main">
            <a:r>
              <a:rPr sz="1400"/>
              <a:t>Misvatting: Alleen betalingsbereidheid boven MK is niet het hele Pareto-bewijs.</a:t>
            </a:r>
          </a:p>
          <a:p xmlns:a="http://schemas.openxmlformats.org/drawingml/2006/main">
            <a:r>
              <a:rPr sz="1400"/>
              <a:t/>
            </a:r>
          </a:p>
          <a:p xmlns:a="http://schemas.openxmlformats.org/drawingml/2006/main">
            <a:r>
              <a:rPr sz="1400"/>
              <a:t>Overgang: Vergelijk een extra transactie met de hele overgang naar het vrije evenwicht.</a:t>
            </a:r>
          </a:p>
          <a:p xmlns:a="http://schemas.openxmlformats.org/drawingml/2006/main">
            <a:r>
              <a:rPr sz="1400"/>
              <a:t/>
            </a:r>
          </a:p>
          <a:p xmlns:a="http://schemas.openxmlformats.org/drawingml/2006/main">
            <a:r>
              <a:rPr sz="1400"/>
              <a:t>Bron: Boek 2, chatuitgave 2026, revisie 1 oktober 2026, gedrukte pagina 94, 96.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Bij de regel verliest de kopersgroep 112 en wint de verkopersgroep 16; TS daalt 96. De hele terugkeer naar de vrije markt verlaagt PS van 216 naar 200. Dat is dus niet automatisch een Paretoverbetering. De afzonderlijke 25e transactie bij prijs 18 was wel een geldig bewijs. Maximaal TS of afwezige Paretoverbeteringen schrijft niet voor wie hoeveel verdient.</a:t>
            </a:r>
          </a:p>
          <a:p xmlns:a="http://schemas.openxmlformats.org/drawingml/2006/main">
            <a:r>
              <a:rPr sz="1400"/>
              <a:t/>
            </a:r>
          </a:p>
          <a:p xmlns:a="http://schemas.openxmlformats.org/drawingml/2006/main">
            <a:r>
              <a:rPr sz="1400"/>
              <a:t>Vraag: Waarom is een groter TS onvoldoende om te zeggen dat iedereen wint?</a:t>
            </a:r>
          </a:p>
          <a:p xmlns:a="http://schemas.openxmlformats.org/drawingml/2006/main">
            <a:r>
              <a:rPr sz="1400"/>
              <a:t/>
            </a:r>
          </a:p>
          <a:p xmlns:a="http://schemas.openxmlformats.org/drawingml/2006/main">
            <a:r>
              <a:rPr sz="1400"/>
              <a:t>Misvatting: Efficiëntie is geen norm voor eerlijkheid. Groepssurplus kan bovendien individuele verschillen verbergen.</a:t>
            </a:r>
          </a:p>
          <a:p xmlns:a="http://schemas.openxmlformats.org/drawingml/2006/main">
            <a:r>
              <a:rPr sz="1400"/>
              <a:t/>
            </a:r>
          </a:p>
          <a:p xmlns:a="http://schemas.openxmlformats.org/drawingml/2006/main">
            <a:r>
              <a:rPr sz="1400"/>
              <a:t>Overgang: Herzie nu de verkende startopgave.</a:t>
            </a:r>
          </a:p>
          <a:p xmlns:a="http://schemas.openxmlformats.org/drawingml/2006/main">
            <a:r>
              <a:rPr sz="1400"/>
              <a:t/>
            </a:r>
          </a:p>
          <a:p xmlns:a="http://schemas.openxmlformats.org/drawingml/2006/main">
            <a:r>
              <a:rPr sz="1400"/>
              <a:t>Bron: Boek 2, chatuitgave 2026, revisie 1 oktober 2026, gedrukte pagina 93–94, 96.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Eigen context en gegevens: fictieve rondvaartplaatsen, één boekingsronde. Uitlegvoorbeeld, niet uit het boek. De boekpagina’s onderbouwen de methode, niet deze getallen.</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leerlingen eerst hun eigen redenering herzien. Antwoord na reacties: nee, B verliest 3 euro. Het gezamenlijke voordeel stijgt 8−3=5, maar niemand slechter af is geschonden. Dit is terugkoppeling op de al gemaakte verkennende start, geen uitwerking van nog te maken basis/zelfstandige opgaven.</a:t>
            </a:r>
          </a:p>
          <a:p xmlns:a="http://schemas.openxmlformats.org/drawingml/2006/main">
            <a:r>
              <a:rPr sz="1400"/>
              <a:t/>
            </a:r>
          </a:p>
          <a:p xmlns:a="http://schemas.openxmlformats.org/drawingml/2006/main">
            <a:r>
              <a:rPr sz="1400"/>
              <a:t>Vraag: Welke persoon verhindert hier de Pareto-conclusie?</a:t>
            </a:r>
          </a:p>
          <a:p xmlns:a="http://schemas.openxmlformats.org/drawingml/2006/main">
            <a:r>
              <a:rPr sz="1400"/>
              <a:t/>
            </a:r>
          </a:p>
          <a:p xmlns:a="http://schemas.openxmlformats.org/drawingml/2006/main">
            <a:r>
              <a:rPr sz="1400"/>
              <a:t>Misvatting: Het saldo +5 vervangt niet de toets per persoon.</a:t>
            </a:r>
          </a:p>
          <a:p xmlns:a="http://schemas.openxmlformats.org/drawingml/2006/main">
            <a:r>
              <a:rPr sz="1400"/>
              <a:t/>
            </a:r>
          </a:p>
          <a:p xmlns:a="http://schemas.openxmlformats.org/drawingml/2006/main">
            <a:r>
              <a:rPr sz="1400"/>
              <a:t>Overgang: Begin de basisopgaven 3–4; gebruik het overzicht.</a:t>
            </a:r>
          </a:p>
          <a:p xmlns:a="http://schemas.openxmlformats.org/drawingml/2006/main">
            <a:r>
              <a:rPr sz="1400"/>
              <a:t/>
            </a:r>
          </a:p>
          <a:p xmlns:a="http://schemas.openxmlformats.org/drawingml/2006/main">
            <a:r>
              <a:rPr sz="1400"/>
              <a:t>Bron: Boek 2, chatuitgave 2026, revisie 1 oktober 2026, gedrukte pagina 94, 97.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dit overzicht staan tijdens zelfstandig werken. Start 1–2 en basis 3 op p.97; basis 4 op p.98; zelfstandig 5 op p.99; doel 6 op p.100–101. Huiswerk 3,4,5,6 maken en nakijken. Bonus 7 en herhaling 8–9 zijn extra. Start 1 haalt de driehoeken uit §2.3.1 p.75 en §2.3.2 p.82–85 op. Start 2 vraagt het nieuwe Pareto-criterium: lees de definities en het onderscheid met een groter totaal op p.94. Noteer een eerste redenering en twijfel. Dit is ondersteund verkennen. Keer na de uitleg terug naar 2, vóór het basiswerk. Geen aanname dat dit al beheerst wordt. De volledige route kan extra lestijd vragen; er is geen gemeten 55-minutenbegroting.</a:t>
            </a:r>
          </a:p>
          <a:p xmlns:a="http://schemas.openxmlformats.org/drawingml/2006/main">
            <a:r>
              <a:rPr sz="1400"/>
              <a:t/>
            </a:r>
          </a:p>
          <a:p xmlns:a="http://schemas.openxmlformats.org/drawingml/2006/main">
            <a:r>
              <a:rPr sz="1400"/>
              <a:t>Vraag: Waar heb je een berekening nodig en waar een oordeel over afzonderlijke personen?</a:t>
            </a:r>
          </a:p>
          <a:p xmlns:a="http://schemas.openxmlformats.org/drawingml/2006/main">
            <a:r>
              <a:rPr sz="1400"/>
              <a:t/>
            </a:r>
          </a:p>
          <a:p xmlns:a="http://schemas.openxmlformats.org/drawingml/2006/main">
            <a:r>
              <a:rPr sz="1400"/>
              <a:t>Misvatting: Een stijgend totaal is nog geen Paretoverbetering.</a:t>
            </a:r>
          </a:p>
          <a:p xmlns:a="http://schemas.openxmlformats.org/drawingml/2006/main">
            <a:r>
              <a:rPr sz="1400"/>
              <a:t/>
            </a:r>
          </a:p>
          <a:p xmlns:a="http://schemas.openxmlformats.org/drawingml/2006/main">
            <a:r>
              <a:rPr sz="1400"/>
              <a:t>Overgang: Ga naar de volgende lesfase, of laat het huiswerk in de agenda noteren.</a:t>
            </a:r>
          </a:p>
          <a:p xmlns:a="http://schemas.openxmlformats.org/drawingml/2006/main">
            <a:r>
              <a:rPr sz="1400"/>
              <a:t/>
            </a:r>
          </a:p>
          <a:p xmlns:a="http://schemas.openxmlformats.org/drawingml/2006/main">
            <a:r>
              <a:rPr sz="1400"/>
              <a:t>Bron: Boek 2, chatuitgave 2026, revisie 1 oktober 2026, gedrukte pagina 91–101.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Dit zijn de echte gegevens van de doeloefening, nu met een andere markt dan het eigen rondvaartvoorbeeld. De volgende dia geeft alle details van de reserveringsregel. Toon daarna de basisgrafiek en alle deelvragen voordat de eerste uitwerking komt.</a:t>
            </a:r>
          </a:p>
          <a:p xmlns:a="http://schemas.openxmlformats.org/drawingml/2006/main">
            <a:r>
              <a:rPr sz="1400"/>
              <a:t/>
            </a:r>
          </a:p>
          <a:p xmlns:a="http://schemas.openxmlformats.org/drawingml/2006/main">
            <a:r>
              <a:rPr sz="1400"/>
              <a:t>Vraag: Welke markt en eenheden gebruiken we nu?</a:t>
            </a:r>
          </a:p>
          <a:p xmlns:a="http://schemas.openxmlformats.org/drawingml/2006/main">
            <a:r>
              <a:rPr sz="1400"/>
              <a:t/>
            </a:r>
          </a:p>
          <a:p xmlns:a="http://schemas.openxmlformats.org/drawingml/2006/main">
            <a:r>
              <a:rPr sz="1400"/>
              <a:t>Misvatting: Neem geen getallen uit het rondvaartvoorbeeld over.</a:t>
            </a:r>
          </a:p>
          <a:p xmlns:a="http://schemas.openxmlformats.org/drawingml/2006/main">
            <a:r>
              <a:rPr sz="1400"/>
              <a:t/>
            </a:r>
          </a:p>
          <a:p xmlns:a="http://schemas.openxmlformats.org/drawingml/2006/main">
            <a:r>
              <a:rPr sz="1400"/>
              <a:t>Overgang: Toon de reserveringsregel en toewijzing.</a:t>
            </a:r>
          </a:p>
          <a:p xmlns:a="http://schemas.openxmlformats.org/drawingml/2006/main">
            <a:r>
              <a:rPr sz="1400"/>
              <a:t/>
            </a:r>
          </a:p>
          <a:p xmlns:a="http://schemas.openxmlformats.org/drawingml/2006/main">
            <a:r>
              <a:rPr sz="1400"/>
              <a:t>Bron: Boek 2, chatuitgave 2026, revisie 1 oktober 2026, gedrukte pagina 100.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Alle aannames komen uit de boekcontext. Een hogere prijs en een boekingslimiet zijn gegevens, geen les over prijsbeleid. Er staat technisch minstens 60; er staat niet dat 80 transacties uitvoerbaar zijn. Voor Qa bij een prijs geldt wel de gegeven aanbodfunctie.</a:t>
            </a:r>
          </a:p>
          <a:p xmlns:a="http://schemas.openxmlformats.org/drawingml/2006/main">
            <a:r>
              <a:rPr sz="1400"/>
              <a:t/>
            </a:r>
          </a:p>
          <a:p xmlns:a="http://schemas.openxmlformats.org/drawingml/2006/main">
            <a:r>
              <a:rPr sz="1400"/>
              <a:t>Vraag: Wat bepaalt welke kopers en verkopers deelnemen?</a:t>
            </a:r>
          </a:p>
          <a:p xmlns:a="http://schemas.openxmlformats.org/drawingml/2006/main">
            <a:r>
              <a:rPr sz="1400"/>
              <a:t/>
            </a:r>
          </a:p>
          <a:p xmlns:a="http://schemas.openxmlformats.org/drawingml/2006/main">
            <a:r>
              <a:rPr sz="1400"/>
              <a:t>Misvatting: Bereken surplus niet voor willekeurig toegewezen kaartjes.</a:t>
            </a:r>
          </a:p>
          <a:p xmlns:a="http://schemas.openxmlformats.org/drawingml/2006/main">
            <a:r>
              <a:rPr sz="1400"/>
              <a:t/>
            </a:r>
          </a:p>
          <a:p xmlns:a="http://schemas.openxmlformats.org/drawingml/2006/main">
            <a:r>
              <a:rPr sz="1400"/>
              <a:t>Overgang: Bekijk de complete basisgrafiek.</a:t>
            </a:r>
          </a:p>
          <a:p xmlns:a="http://schemas.openxmlformats.org/drawingml/2006/main">
            <a:r>
              <a:rPr sz="1400"/>
              <a:t/>
            </a:r>
          </a:p>
          <a:p xmlns:a="http://schemas.openxmlformats.org/drawingml/2006/main">
            <a:r>
              <a:rPr sz="1400"/>
              <a:t>Bron: Boek 2, chatuitgave 2026, revisie 1 oktober 2026, gedrukte pagina 100.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Bewerkbare reconstructie van figuur 10: dezelfde assen 0–100 en 0–50, vraag, aanbod=MK, E=(60;20), P=25 en Q=40. Geen antwoordgebied gearceerd. Vergelijk de werkelijke handel met het gegeven vrije evenwicht. Gebruik bij surplus alleen transacties onder de regel.</a:t>
            </a:r>
          </a:p>
          <a:p xmlns:a="http://schemas.openxmlformats.org/drawingml/2006/main">
            <a:r>
              <a:rPr sz="1400"/>
              <a:t/>
            </a:r>
          </a:p>
          <a:p xmlns:a="http://schemas.openxmlformats.org/drawingml/2006/main">
            <a:r>
              <a:rPr sz="1400"/>
              <a:t>Vraag: Waar stopt de werkelijke handel op deze basisgrafiek?</a:t>
            </a:r>
          </a:p>
          <a:p xmlns:a="http://schemas.openxmlformats.org/drawingml/2006/main">
            <a:r>
              <a:rPr sz="1400"/>
              <a:t/>
            </a:r>
          </a:p>
          <a:p xmlns:a="http://schemas.openxmlformats.org/drawingml/2006/main">
            <a:r>
              <a:rPr sz="1400"/>
              <a:t>Misvatting: Het snijpunt met de prijslijn is nog niet het werkelijk verkochte aantal.</a:t>
            </a:r>
          </a:p>
          <a:p xmlns:a="http://schemas.openxmlformats.org/drawingml/2006/main">
            <a:r>
              <a:rPr sz="1400"/>
              <a:t/>
            </a:r>
          </a:p>
          <a:p xmlns:a="http://schemas.openxmlformats.org/drawingml/2006/main">
            <a:r>
              <a:rPr sz="1400"/>
              <a:t>Overgang: Toon a en b, daarna c tot en met f zonder antwoorden.</a:t>
            </a:r>
          </a:p>
          <a:p xmlns:a="http://schemas.openxmlformats.org/drawingml/2006/main">
            <a:r>
              <a:rPr sz="1400"/>
              <a:t/>
            </a:r>
          </a:p>
          <a:p xmlns:a="http://schemas.openxmlformats.org/drawingml/2006/main">
            <a:r>
              <a:rPr sz="1400"/>
              <a:t>Bron: Boek 2, chatuitgave 2026, revisie 1 oktober 2026, gedrukte pagina 100.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Volledige deelvragen a en b. Vraag b bevat zowel rekenen als werkelijk aantal en toewijzing. Geen oplossingen geven voordat ook f in beeld is geweest.</a:t>
            </a:r>
          </a:p>
          <a:p xmlns:a="http://schemas.openxmlformats.org/drawingml/2006/main">
            <a:r>
              <a:rPr sz="1400"/>
              <a:t/>
            </a:r>
          </a:p>
          <a:p xmlns:a="http://schemas.openxmlformats.org/drawingml/2006/main">
            <a:r>
              <a:rPr sz="1400"/>
              <a:t>Vraag: Welke vier elementen vraagt b?</a:t>
            </a:r>
          </a:p>
          <a:p xmlns:a="http://schemas.openxmlformats.org/drawingml/2006/main">
            <a:r>
              <a:rPr sz="1400"/>
              <a:t/>
            </a:r>
          </a:p>
          <a:p xmlns:a="http://schemas.openxmlformats.org/drawingml/2006/main">
            <a:r>
              <a:rPr sz="1400"/>
              <a:t>Misvatting: Alleen Qv en Qa noemen is onvolledig.</a:t>
            </a:r>
          </a:p>
          <a:p xmlns:a="http://schemas.openxmlformats.org/drawingml/2006/main">
            <a:r>
              <a:rPr sz="1400"/>
              <a:t/>
            </a:r>
          </a:p>
          <a:p xmlns:a="http://schemas.openxmlformats.org/drawingml/2006/main">
            <a:r>
              <a:rPr sz="1400"/>
              <a:t>Overgang: Toon c en d.</a:t>
            </a:r>
          </a:p>
          <a:p xmlns:a="http://schemas.openxmlformats.org/drawingml/2006/main">
            <a:r>
              <a:rPr sz="1400"/>
              <a:t/>
            </a:r>
          </a:p>
          <a:p xmlns:a="http://schemas.openxmlformats.org/drawingml/2006/main">
            <a:r>
              <a:rPr sz="1400"/>
              <a:t>Bron: Boek 2, chatuitgave 2026, revisie 1 oktober 2026, gedrukte pagina 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Volledige deelvragen c en d. Het boek geeft al de hoeveelheidsgrenzen van het verlies, maar leerlingen moeten gebied, hoogte en berekening onderbouwen.</a:t>
            </a:r>
          </a:p>
          <a:p xmlns:a="http://schemas.openxmlformats.org/drawingml/2006/main">
            <a:r>
              <a:rPr sz="1400"/>
              <a:t/>
            </a:r>
          </a:p>
          <a:p xmlns:a="http://schemas.openxmlformats.org/drawingml/2006/main">
            <a:r>
              <a:rPr sz="1400"/>
              <a:t>Vraag: Welke grafische handeling vraagt d naast het rekenen?</a:t>
            </a:r>
          </a:p>
          <a:p xmlns:a="http://schemas.openxmlformats.org/drawingml/2006/main">
            <a:r>
              <a:rPr sz="1400"/>
              <a:t/>
            </a:r>
          </a:p>
          <a:p xmlns:a="http://schemas.openxmlformats.org/drawingml/2006/main">
            <a:r>
              <a:rPr sz="1400"/>
              <a:t>Misvatting: Een verliesbedrag zonder gearceerd gebied, basis en hoogte is nog onvolledig.</a:t>
            </a:r>
          </a:p>
          <a:p xmlns:a="http://schemas.openxmlformats.org/drawingml/2006/main">
            <a:r>
              <a:rPr sz="1400"/>
              <a:t/>
            </a:r>
          </a:p>
          <a:p xmlns:a="http://schemas.openxmlformats.org/drawingml/2006/main">
            <a:r>
              <a:rPr sz="1400"/>
              <a:t>Overgang: Toon e en f.</a:t>
            </a:r>
          </a:p>
          <a:p xmlns:a="http://schemas.openxmlformats.org/drawingml/2006/main">
            <a:r>
              <a:rPr sz="1400"/>
              <a:t/>
            </a:r>
          </a:p>
          <a:p xmlns:a="http://schemas.openxmlformats.org/drawingml/2006/main">
            <a:r>
              <a:rPr sz="1400"/>
              <a:t>Bron: Boek 2, chatuitgave 2026, revisie 1 oktober 2026, gedrukte pagina 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Alle zes deelvragen zijn nu volledig beschikbaar, na de context en grafiek. Leerlingen hebben hun eigen werk erbij. Start pas hierna de stapsgewijze bespreking.</a:t>
            </a:r>
          </a:p>
          <a:p xmlns:a="http://schemas.openxmlformats.org/drawingml/2006/main">
            <a:r>
              <a:rPr sz="1400"/>
              <a:t/>
            </a:r>
          </a:p>
          <a:p xmlns:a="http://schemas.openxmlformats.org/drawingml/2006/main">
            <a:r>
              <a:rPr sz="1400"/>
              <a:t>Vraag: Welke aannames heb je naast de functies nodig bij e?</a:t>
            </a:r>
          </a:p>
          <a:p xmlns:a="http://schemas.openxmlformats.org/drawingml/2006/main">
            <a:r>
              <a:rPr sz="1400"/>
              <a:t/>
            </a:r>
          </a:p>
          <a:p xmlns:a="http://schemas.openxmlformats.org/drawingml/2006/main">
            <a:r>
              <a:rPr sz="1400"/>
              <a:t>Misvatting: Verwar een voordeel voor twee nieuwe partijen niet met een volledige controle op alle betrokkenen.</a:t>
            </a:r>
          </a:p>
          <a:p xmlns:a="http://schemas.openxmlformats.org/drawingml/2006/main">
            <a:r>
              <a:rPr sz="1400"/>
              <a:t/>
            </a:r>
          </a:p>
          <a:p xmlns:a="http://schemas.openxmlformats.org/drawingml/2006/main">
            <a:r>
              <a:rPr sz="1400"/>
              <a:t>Overgang: Begin de bespreking bij de definitie.</a:t>
            </a:r>
          </a:p>
          <a:p xmlns:a="http://schemas.openxmlformats.org/drawingml/2006/main">
            <a:r>
              <a:rPr sz="1400"/>
              <a:t/>
            </a:r>
          </a:p>
          <a:p xmlns:a="http://schemas.openxmlformats.org/drawingml/2006/main">
            <a:r>
              <a:rPr sz="1400"/>
              <a:t>Bron: Boek 2, chatuitgave 2026, revisie 1 oktober 2026, gedrukte pagina 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Modelantwoord a. Efficiëntie is het ontbreken van een mogelijkheid. Bij e gaan we juist één mogelijke extra transactie aanwijzen die niemand schaadt. De term herverdeling moet in het antwoord blijven staan, naast extra transactie.</a:t>
            </a:r>
          </a:p>
          <a:p xmlns:a="http://schemas.openxmlformats.org/drawingml/2006/main">
            <a:r>
              <a:rPr sz="1400"/>
              <a:t/>
            </a:r>
          </a:p>
          <a:p xmlns:a="http://schemas.openxmlformats.org/drawingml/2006/main">
            <a:r>
              <a:rPr sz="1400"/>
              <a:t>Vraag: Hoe kun je bewijzen dat een situatie niet Pareto-efficiënt is?</a:t>
            </a:r>
          </a:p>
          <a:p xmlns:a="http://schemas.openxmlformats.org/drawingml/2006/main">
            <a:r>
              <a:rPr sz="1400"/>
              <a:t/>
            </a:r>
          </a:p>
          <a:p xmlns:a="http://schemas.openxmlformats.org/drawingml/2006/main">
            <a:r>
              <a:rPr sz="1400"/>
              <a:t>Misvatting: Een maximaal totaal noemen is geen volledige definitie.</a:t>
            </a:r>
          </a:p>
          <a:p xmlns:a="http://schemas.openxmlformats.org/drawingml/2006/main">
            <a:r>
              <a:rPr sz="1400"/>
              <a:t/>
            </a:r>
          </a:p>
          <a:p xmlns:a="http://schemas.openxmlformats.org/drawingml/2006/main">
            <a:r>
              <a:rPr sz="1400"/>
              <a:t>Overgang: Bereken de twee gewenste hoeveelheden.</a:t>
            </a:r>
          </a:p>
          <a:p xmlns:a="http://schemas.openxmlformats.org/drawingml/2006/main">
            <a:r>
              <a:rPr sz="1400"/>
              <a:t/>
            </a:r>
          </a:p>
          <a:p xmlns:a="http://schemas.openxmlformats.org/drawingml/2006/main">
            <a:r>
              <a:rPr sz="1400"/>
              <a:t>Bron: Boek 2, chatuitgave 2026, revisie 1 oktober 2026, gedrukte pagina 94, 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Controleer de oplossingen door terug te rekenen: 50−0,5×50=25 en 5+0,25×80=25. De reserveringsregel beperkt tot 40, lager dan beide gewenste aantallen. Technische ruimte voor minstens 60 is voldoende voor 40 en voor de latere 41e transactie; de aanbodwens 80 is geen bewijs van 80 feitelijke transacties.</a:t>
            </a:r>
          </a:p>
          <a:p xmlns:a="http://schemas.openxmlformats.org/drawingml/2006/main">
            <a:r>
              <a:rPr sz="1400"/>
              <a:t/>
            </a:r>
          </a:p>
          <a:p xmlns:a="http://schemas.openxmlformats.org/drawingml/2006/main">
            <a:r>
              <a:rPr sz="1400"/>
              <a:t>Vraag: Welke Q gebruiken we als basis voor CS en PS?</a:t>
            </a:r>
          </a:p>
          <a:p xmlns:a="http://schemas.openxmlformats.org/drawingml/2006/main">
            <a:r>
              <a:rPr sz="1400"/>
              <a:t/>
            </a:r>
          </a:p>
          <a:p xmlns:a="http://schemas.openxmlformats.org/drawingml/2006/main">
            <a:r>
              <a:rPr sz="1400"/>
              <a:t>Misvatting: Gebruik Qv of Qa niet als de werkelijk verhandelde hoeveelheid.</a:t>
            </a:r>
          </a:p>
          <a:p xmlns:a="http://schemas.openxmlformats.org/drawingml/2006/main">
            <a:r>
              <a:rPr sz="1400"/>
              <a:t/>
            </a:r>
          </a:p>
          <a:p xmlns:a="http://schemas.openxmlformats.org/drawingml/2006/main">
            <a:r>
              <a:rPr sz="1400"/>
              <a:t>Overgang: Bereken de twee hoogten bij Q=40.</a:t>
            </a:r>
          </a:p>
          <a:p xmlns:a="http://schemas.openxmlformats.org/drawingml/2006/main">
            <a:r>
              <a:rPr sz="1400"/>
              <a:t/>
            </a:r>
          </a:p>
          <a:p xmlns:a="http://schemas.openxmlformats.org/drawingml/2006/main">
            <a:r>
              <a:rPr sz="1400"/>
              <a:t>Bron: Boek 2, chatuitgave 2026, revisie 1 oktober 2026, gedrukte pagina 100–101.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Werkelijke Q40 is de rechterrand van beide gebieden. Daar is betalingsbereidheid 30 en MK15. De prijs 25 bepaalt de verdeling. De laatste koper heeft nog 5 voordeel; de laatste verkoper 10. Daarom geen simpele driehoeken.</a:t>
            </a:r>
          </a:p>
          <a:p xmlns:a="http://schemas.openxmlformats.org/drawingml/2006/main">
            <a:r>
              <a:rPr sz="1400"/>
              <a:t/>
            </a:r>
          </a:p>
          <a:p xmlns:a="http://schemas.openxmlformats.org/drawingml/2006/main">
            <a:r>
              <a:rPr sz="1400"/>
              <a:t>Vraag: Waar komen de horizontale hulplijnen voor de twee splitsingen?</a:t>
            </a:r>
          </a:p>
          <a:p xmlns:a="http://schemas.openxmlformats.org/drawingml/2006/main">
            <a:r>
              <a:rPr sz="1400"/>
              <a:t/>
            </a:r>
          </a:p>
          <a:p xmlns:a="http://schemas.openxmlformats.org/drawingml/2006/main">
            <a:r>
              <a:rPr sz="1400"/>
              <a:t>Misvatting: De coördinaten zijn (Q;P), dus (40;30) en (40;15).</a:t>
            </a:r>
          </a:p>
          <a:p xmlns:a="http://schemas.openxmlformats.org/drawingml/2006/main">
            <a:r>
              <a:rPr sz="1400"/>
              <a:t/>
            </a:r>
          </a:p>
          <a:p xmlns:a="http://schemas.openxmlformats.org/drawingml/2006/main">
            <a:r>
              <a:rPr sz="1400"/>
              <a:t>Overgang: Bereken eerst het kopersgebied.</a:t>
            </a:r>
          </a:p>
          <a:p xmlns:a="http://schemas.openxmlformats.org/drawingml/2006/main">
            <a:r>
              <a:rPr sz="1400"/>
              <a:t/>
            </a:r>
          </a:p>
          <a:p xmlns:a="http://schemas.openxmlformats.org/drawingml/2006/main">
            <a:r>
              <a:rPr sz="1400"/>
              <a:t>Bron: Boek 2, chatuitgave 2026, revisie 1 oktober 2026, gedrukte pagina 100–101.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kopers met de hoogste betalingsbereidheid liggen vanaf nul tot 40 op V. De blauwe rechthoek geeft de minimale 5 euro voordeel voor alle 40; de driehoek de extra verschillen daarboven. Basis 40 kaartjes; hoogten 5 en 20 euro per kaartje. CS totaal in euro.</a:t>
            </a:r>
          </a:p>
          <a:p xmlns:a="http://schemas.openxmlformats.org/drawingml/2006/main">
            <a:r>
              <a:rPr sz="1400"/>
              <a:t/>
            </a:r>
          </a:p>
          <a:p xmlns:a="http://schemas.openxmlformats.org/drawingml/2006/main">
            <a:r>
              <a:rPr sz="1400"/>
              <a:t>Vraag: Waarom mag het gebied vanaf Q=0 worden gebruikt?</a:t>
            </a:r>
          </a:p>
          <a:p xmlns:a="http://schemas.openxmlformats.org/drawingml/2006/main">
            <a:r>
              <a:rPr sz="1400"/>
              <a:t/>
            </a:r>
          </a:p>
          <a:p xmlns:a="http://schemas.openxmlformats.org/drawingml/2006/main">
            <a:r>
              <a:rPr sz="1400"/>
              <a:t>Misvatting: Zonder de gegeven toewijzing aan hoogste betalingsbereidheden zou dit standaardgebied niet gerechtvaardigd zijn.</a:t>
            </a:r>
          </a:p>
          <a:p xmlns:a="http://schemas.openxmlformats.org/drawingml/2006/main">
            <a:r>
              <a:rPr sz="1400"/>
              <a:t/>
            </a:r>
          </a:p>
          <a:p xmlns:a="http://schemas.openxmlformats.org/drawingml/2006/main">
            <a:r>
              <a:rPr sz="1400"/>
              <a:t>Overgang: Bereken PS onder de prijslijn.</a:t>
            </a:r>
          </a:p>
          <a:p xmlns:a="http://schemas.openxmlformats.org/drawingml/2006/main">
            <a:r>
              <a:rPr sz="1400"/>
              <a:t/>
            </a:r>
          </a:p>
          <a:p xmlns:a="http://schemas.openxmlformats.org/drawingml/2006/main">
            <a:r>
              <a:rPr sz="1400"/>
              <a:t>Bron: Boek 2, chatuitgave 2026, revisie 1 oktober 2026, gedrukte pagina 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aanbieders met de laagste MK liggen links op A=MK. De rechthoek heeft basis40 en hoogte10; de driehoek ook basis40 en hoogte10. Het verschil in oppervlakten ontstaat door de factor ½. Het gebied onder MK zijn variabele kosten.</a:t>
            </a:r>
          </a:p>
          <a:p xmlns:a="http://schemas.openxmlformats.org/drawingml/2006/main">
            <a:r>
              <a:rPr sz="1400"/>
              <a:t/>
            </a:r>
          </a:p>
          <a:p xmlns:a="http://schemas.openxmlformats.org/drawingml/2006/main">
            <a:r>
              <a:rPr sz="1400"/>
              <a:t>Vraag: Waarom zijn de rechthoek en driehoek bij gelijke basis en hoogte niet even groot?</a:t>
            </a:r>
          </a:p>
          <a:p xmlns:a="http://schemas.openxmlformats.org/drawingml/2006/main">
            <a:r>
              <a:rPr sz="1400"/>
              <a:t/>
            </a:r>
          </a:p>
          <a:p xmlns:a="http://schemas.openxmlformats.org/drawingml/2006/main">
            <a:r>
              <a:rPr sz="1400"/>
              <a:t>Misvatting: Gebruik niet de vrije prijs20; ontvangen prijs is25.</a:t>
            </a:r>
          </a:p>
          <a:p xmlns:a="http://schemas.openxmlformats.org/drawingml/2006/main">
            <a:r>
              <a:rPr sz="1400"/>
              <a:t/>
            </a:r>
          </a:p>
          <a:p xmlns:a="http://schemas.openxmlformats.org/drawingml/2006/main">
            <a:r>
              <a:rPr sz="1400"/>
              <a:t>Overgang: Tel de twee surplusbedragen en vergelijk de totalen.</a:t>
            </a:r>
          </a:p>
          <a:p xmlns:a="http://schemas.openxmlformats.org/drawingml/2006/main">
            <a:r>
              <a:rPr sz="1400"/>
              <a:t/>
            </a:r>
          </a:p>
          <a:p xmlns:a="http://schemas.openxmlformats.org/drawingml/2006/main">
            <a:r>
              <a:rPr sz="1400"/>
              <a:t>Bron: Boek 2, chatuitgave 2026, revisie 1 oktober 2026, gedrukte pagina 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Vrij TS1350 is gegeven. Bij de regel CS600 plus PS600 is1200. Het verschil150 is verloren totaal voordeel. Niet alle daling van CS is verlies: een deel verschuift naar producenten.</a:t>
            </a:r>
          </a:p>
          <a:p xmlns:a="http://schemas.openxmlformats.org/drawingml/2006/main">
            <a:r>
              <a:rPr sz="1400"/>
              <a:t/>
            </a:r>
          </a:p>
          <a:p xmlns:a="http://schemas.openxmlformats.org/drawingml/2006/main">
            <a:r>
              <a:rPr sz="1400"/>
              <a:t>Vraag: Waarom vergelijken we de totalen en niet alleen CS?</a:t>
            </a:r>
          </a:p>
          <a:p xmlns:a="http://schemas.openxmlformats.org/drawingml/2006/main">
            <a:r>
              <a:rPr sz="1400"/>
              <a:t/>
            </a:r>
          </a:p>
          <a:p xmlns:a="http://schemas.openxmlformats.org/drawingml/2006/main">
            <a:r>
              <a:rPr sz="1400"/>
              <a:t>Misvatting: Surplus is in euro. Het verlies is niet euro per kaartje.</a:t>
            </a:r>
          </a:p>
          <a:p xmlns:a="http://schemas.openxmlformats.org/drawingml/2006/main">
            <a:r>
              <a:rPr sz="1400"/>
              <a:t/>
            </a:r>
          </a:p>
          <a:p xmlns:a="http://schemas.openxmlformats.org/drawingml/2006/main">
            <a:r>
              <a:rPr sz="1400"/>
              <a:t>Overgang: Controleer het bedrag met de juiste driehoek.</a:t>
            </a:r>
          </a:p>
          <a:p xmlns:a="http://schemas.openxmlformats.org/drawingml/2006/main">
            <a:r>
              <a:rPr sz="1400"/>
              <a:t/>
            </a:r>
          </a:p>
          <a:p xmlns:a="http://schemas.openxmlformats.org/drawingml/2006/main">
            <a:r>
              <a:rPr sz="1400"/>
              <a:t>Bron: Boek 2, chatuitgave 2026, revisie 1 oktober 2026, gedrukte pagina 100–101.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Het gearceerde oranje gebied ligt tussen Q40 en60, tussen V en A=MK. De gebruikte basis20 is de horizontale afstand; de bijbehorende hoogte15 is het verticale verschil bij Q40. Oppervlakte150 bevestigt de totaalsom. De prijs25−20 is nadrukkelijk niet de hoogte. Een hoekpunt ligt op het vrije evenwicht.</a:t>
            </a:r>
          </a:p>
          <a:p xmlns:a="http://schemas.openxmlformats.org/drawingml/2006/main">
            <a:r>
              <a:rPr sz="1400"/>
              <a:t/>
            </a:r>
          </a:p>
          <a:p xmlns:a="http://schemas.openxmlformats.org/drawingml/2006/main">
            <a:r>
              <a:rPr sz="1400"/>
              <a:t>Vraag: Wijs de horizontale basis en verticale hoogte aan.</a:t>
            </a:r>
          </a:p>
          <a:p xmlns:a="http://schemas.openxmlformats.org/drawingml/2006/main">
            <a:r>
              <a:rPr sz="1400"/>
              <a:t/>
            </a:r>
          </a:p>
          <a:p xmlns:a="http://schemas.openxmlformats.org/drawingml/2006/main">
            <a:r>
              <a:rPr sz="1400"/>
              <a:t>Misvatting: Gebruik niet de prijsstijging5 of de hele prijs25 als hoogte.</a:t>
            </a:r>
          </a:p>
          <a:p xmlns:a="http://schemas.openxmlformats.org/drawingml/2006/main">
            <a:r>
              <a:rPr sz="1400"/>
              <a:t/>
            </a:r>
          </a:p>
          <a:p xmlns:a="http://schemas.openxmlformats.org/drawingml/2006/main">
            <a:r>
              <a:rPr sz="1400"/>
              <a:t>Overgang: Toets nu de 41e transactie.</a:t>
            </a:r>
          </a:p>
          <a:p xmlns:a="http://schemas.openxmlformats.org/drawingml/2006/main">
            <a:r>
              <a:rPr sz="1400"/>
              <a:t/>
            </a:r>
          </a:p>
          <a:p xmlns:a="http://schemas.openxmlformats.org/drawingml/2006/main">
            <a:r>
              <a:rPr sz="1400"/>
              <a:t>Bron: Boek 2, chatuitgave 2026, revisie 1 oktober 2026, gedrukte pagina 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De extra koper wint4,50 en de verkoper9,75 bij dezelfde prijs25. Technische ruimte voor minstens60 omvat41. Kosteloze verruiming benadeelt niemand; de bestaande prijs en transacties blijven gelijk. Dat is één haalbare Paretoverbetering. De context modelleert geen gevolgen voor derden. De puntwaarden zijn bewijs voor wederzijds voordeel van die transactie; hun som14,25 is niet bedoeld als exact integraalverschil tussen40 en41.</a:t>
            </a:r>
          </a:p>
          <a:p xmlns:a="http://schemas.openxmlformats.org/drawingml/2006/main">
            <a:r>
              <a:rPr sz="1400"/>
              <a:t/>
            </a:r>
          </a:p>
          <a:p xmlns:a="http://schemas.openxmlformats.org/drawingml/2006/main">
            <a:r>
              <a:rPr sz="1400"/>
              <a:t>Vraag: Welke drie onderdelen maken samen dit bewijs?</a:t>
            </a:r>
          </a:p>
          <a:p xmlns:a="http://schemas.openxmlformats.org/drawingml/2006/main">
            <a:r>
              <a:rPr sz="1400"/>
              <a:t/>
            </a:r>
          </a:p>
          <a:p xmlns:a="http://schemas.openxmlformats.org/drawingml/2006/main">
            <a:r>
              <a:rPr sz="1400"/>
              <a:t>Misvatting: Niet beweren dat de hele overstap naar Q60 en P20 noodzakelijk iedereen helpt.</a:t>
            </a:r>
          </a:p>
          <a:p xmlns:a="http://schemas.openxmlformats.org/drawingml/2006/main">
            <a:r>
              <a:rPr sz="1400"/>
              <a:t/>
            </a:r>
          </a:p>
          <a:p xmlns:a="http://schemas.openxmlformats.org/drawingml/2006/main">
            <a:r>
              <a:rPr sz="1400"/>
              <a:t>Overgang: Scheid efficiëntie van het oordeel over verdeling.</a:t>
            </a:r>
          </a:p>
          <a:p xmlns:a="http://schemas.openxmlformats.org/drawingml/2006/main">
            <a:r>
              <a:rPr sz="1400"/>
              <a:t/>
            </a:r>
          </a:p>
          <a:p xmlns:a="http://schemas.openxmlformats.org/drawingml/2006/main">
            <a:r>
              <a:rPr sz="1400"/>
              <a:t>Bron: Boek 2, chatuitgave 2026, revisie 1 oktober 2026, gedrukte pagina 100–101.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Modelantwoord f: TS en efficiëntie leveren geen norm voor de verdeling. De vrije markt heeft hoger TS, maar PS450 is lager dan600 onder de regel; de hele overgang is niet automatisch een Paretoverbetering. Een efficiënte uitkomst kan nog ongelijk verdeeld zijn. Laat leerlingen één ontbrekende stap verbeteren: toewijzing, rechthoek, eenheid, verliesgebied of volledig Pareto-bewijs.</a:t>
            </a:r>
          </a:p>
          <a:p xmlns:a="http://schemas.openxmlformats.org/drawingml/2006/main">
            <a:r>
              <a:rPr sz="1400"/>
              <a:t/>
            </a:r>
          </a:p>
          <a:p xmlns:a="http://schemas.openxmlformats.org/drawingml/2006/main">
            <a:r>
              <a:rPr sz="1400"/>
              <a:t>Vraag: Welke aanvullende norm heb je nodig om een verdeling eerlijk te noemen?</a:t>
            </a:r>
          </a:p>
          <a:p xmlns:a="http://schemas.openxmlformats.org/drawingml/2006/main">
            <a:r>
              <a:rPr sz="1400"/>
              <a:t/>
            </a:r>
          </a:p>
          <a:p xmlns:a="http://schemas.openxmlformats.org/drawingml/2006/main">
            <a:r>
              <a:rPr sz="1400"/>
              <a:t>Misvatting: Een gelijk CS en PS bewijst evenmin eerlijkheid tussen personen.</a:t>
            </a:r>
          </a:p>
          <a:p xmlns:a="http://schemas.openxmlformats.org/drawingml/2006/main">
            <a:r>
              <a:rPr sz="1400"/>
              <a:t/>
            </a:r>
          </a:p>
          <a:p xmlns:a="http://schemas.openxmlformats.org/drawingml/2006/main">
            <a:r>
              <a:rPr sz="1400"/>
              <a:t>Overgang: Laat het huiswerk noteren; onvoltooide normale route gaat thuis of in een volgende les verder.</a:t>
            </a:r>
          </a:p>
          <a:p xmlns:a="http://schemas.openxmlformats.org/drawingml/2006/main">
            <a:r>
              <a:rPr sz="1400"/>
              <a:t/>
            </a:r>
          </a:p>
          <a:p xmlns:a="http://schemas.openxmlformats.org/drawingml/2006/main">
            <a:r>
              <a:rPr sz="1400"/>
              <a:t>Bron: Boek 2, chatuitgave 2026, revisie 1 oktober 2026, gedrukte pagina 94, 100–101.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Uitleg: Laat dit overzicht staan tijdens afsluiting / huiswerk. Start 1–2 en basis 3 op p.97; basis 4 op p.98; zelfstandig 5 op p.99; doel 6 op p.100–101. Huiswerk 3,4,5,6 maken en nakijken. Bonus 7 en herhaling 8–9 zijn extra. Start 1 haalt de driehoeken uit §2.3.1 p.75 en §2.3.2 p.82–85 op. Start 2 vraagt het nieuwe Pareto-criterium: lees de definities en het onderscheid met een groter totaal op p.94. Noteer een eerste redenering en twijfel. Dit is ondersteund verkennen. Keer na de uitleg terug naar 2, vóór het basiswerk. Geen aanname dat dit al beheerst wordt. De volledige route kan extra lestijd vragen; er is geen gemeten 55-minutenbegroting.</a:t>
            </a:r>
          </a:p>
          <a:p xmlns:a="http://schemas.openxmlformats.org/drawingml/2006/main">
            <a:r>
              <a:rPr sz="1400"/>
              <a:t/>
            </a:r>
          </a:p>
          <a:p xmlns:a="http://schemas.openxmlformats.org/drawingml/2006/main">
            <a:r>
              <a:rPr sz="1400"/>
              <a:t>Vraag: Waar heb je een berekening nodig en waar een oordeel over afzonderlijke personen?</a:t>
            </a:r>
          </a:p>
          <a:p xmlns:a="http://schemas.openxmlformats.org/drawingml/2006/main">
            <a:r>
              <a:rPr sz="1400"/>
              <a:t/>
            </a:r>
          </a:p>
          <a:p xmlns:a="http://schemas.openxmlformats.org/drawingml/2006/main">
            <a:r>
              <a:rPr sz="1400"/>
              <a:t>Misvatting: Een stijgend totaal is nog geen Paretoverbetering.</a:t>
            </a:r>
          </a:p>
          <a:p xmlns:a="http://schemas.openxmlformats.org/drawingml/2006/main">
            <a:r>
              <a:rPr sz="1400"/>
              <a:t/>
            </a:r>
          </a:p>
          <a:p xmlns:a="http://schemas.openxmlformats.org/drawingml/2006/main">
            <a:r>
              <a:rPr sz="1400"/>
              <a:t>Overgang: Ga naar de volgende lesfase, of laat het huiswerk in de agenda noteren.</a:t>
            </a:r>
          </a:p>
          <a:p xmlns:a="http://schemas.openxmlformats.org/drawingml/2006/main">
            <a:r>
              <a:rPr sz="1400"/>
              <a:t/>
            </a:r>
          </a:p>
          <a:p xmlns:a="http://schemas.openxmlformats.org/drawingml/2006/main">
            <a:r>
              <a:rPr sz="1400"/>
              <a:t>Bron: Boek 2, chatuitgave 2026, revisie 1 oktober 2026, gedrukte pagina 91–101.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https://github.com/meijer1973/4veco-lessen/blob/a8940a7a79e22857a3e306a91fe923c48c63e716/Boek%202%20-%20Kosten%2C%20opbrengsten%2C%20elasticiteit%20en%20surplus/edities/chat-2026/bronnen/H3/2.3%20Surplus%20en%20welvaart%20%E2%80%93%20antwoorden.md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765af0537342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2dfbe9aa224424" /><Relationship Type="http://schemas.openxmlformats.org/officeDocument/2006/relationships/slideLayout" Target="/ppt/slideLayouts/slideLayout1.xml" Id="R33a6bd91739148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a6bd91739148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119078828a417b" /><Relationship Type="http://schemas.openxmlformats.org/officeDocument/2006/relationships/notesSlide" Target="/ppt/notesSlides/notesSlide1.xml" Id="R175457417e2346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6a505bf1fe42d5" /><Relationship Type="http://schemas.openxmlformats.org/officeDocument/2006/relationships/notesSlide" Target="/ppt/notesSlides/notesSlide2.xml" Id="R200a44cdebac41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68795f08fc4a4c" /><Relationship Type="http://schemas.openxmlformats.org/officeDocument/2006/relationships/notesSlide" Target="/ppt/notesSlides/notesSlide3.xml" Id="Ra0b22a19e28948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91e4c9afdc4d44" /><Relationship Type="http://schemas.openxmlformats.org/officeDocument/2006/relationships/chart" Target="/ppt/slides/charts/chart1.xml" Id="Ra64544d3ba424cf8" /><Relationship Type="http://schemas.openxmlformats.org/officeDocument/2006/relationships/notesSlide" Target="/ppt/notesSlides/notesSlide4.xml" Id="R3e577963b3db46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9d9eb74f4845de" /><Relationship Type="http://schemas.openxmlformats.org/officeDocument/2006/relationships/notesSlide" Target="/ppt/notesSlides/notesSlide5.xml" Id="R74f012efc90841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6dd40770c9464e" /><Relationship Type="http://schemas.openxmlformats.org/officeDocument/2006/relationships/chart" Target="/ppt/slides/charts/chart2.xml" Id="Re31cc4196dd342e2" /><Relationship Type="http://schemas.openxmlformats.org/officeDocument/2006/relationships/notesSlide" Target="/ppt/notesSlides/notesSlide6.xml" Id="Rf0b6369391bd45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9ebfc9b5424ba7" /><Relationship Type="http://schemas.openxmlformats.org/officeDocument/2006/relationships/chart" Target="/ppt/slides/charts/chart3.xml" Id="R480781f7994c428d" /><Relationship Type="http://schemas.openxmlformats.org/officeDocument/2006/relationships/notesSlide" Target="/ppt/notesSlides/notesSlide7.xml" Id="Re926af8d4b1446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86a3a273554eb3" /><Relationship Type="http://schemas.openxmlformats.org/officeDocument/2006/relationships/chart" Target="/ppt/slides/charts/chart4.xml" Id="R8d128de8b36e48bd" /><Relationship Type="http://schemas.openxmlformats.org/officeDocument/2006/relationships/notesSlide" Target="/ppt/notesSlides/notesSlide8.xml" Id="R4b366a16dd3549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43ccf565354454" /><Relationship Type="http://schemas.openxmlformats.org/officeDocument/2006/relationships/chart" Target="/ppt/slides/charts/chart5.xml" Id="R936fb0f5893a4985" /><Relationship Type="http://schemas.openxmlformats.org/officeDocument/2006/relationships/notesSlide" Target="/ppt/notesSlides/notesSlide9.xml" Id="R494ee0e8528b4e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4cafffedad494c" /><Relationship Type="http://schemas.openxmlformats.org/officeDocument/2006/relationships/notesSlide" Target="/ppt/notesSlides/notesSlide10.xml" Id="R1ddac6e4a37f4f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c26f51f459447a4" /><Relationship Type="http://schemas.openxmlformats.org/officeDocument/2006/relationships/notesSlide" Target="/ppt/notesSlides/notesSlide11.xml" Id="R4a6acd639d684a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4c0cb1ea9f4779" /><Relationship Type="http://schemas.openxmlformats.org/officeDocument/2006/relationships/notesSlide" Target="/ppt/notesSlides/notesSlide12.xml" Id="R46ffce294b1c46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c4bf956e764149" /><Relationship Type="http://schemas.openxmlformats.org/officeDocument/2006/relationships/notesSlide" Target="/ppt/notesSlides/notesSlide13.xml" Id="R410ed07b496f49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5c01f2ad94d4768" /><Relationship Type="http://schemas.openxmlformats.org/officeDocument/2006/relationships/notesSlide" Target="/ppt/notesSlides/notesSlide14.xml" Id="R62968d57a36341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c34518920514a6d" /><Relationship Type="http://schemas.openxmlformats.org/officeDocument/2006/relationships/notesSlide" Target="/ppt/notesSlides/notesSlide15.xml" Id="R2961b75981c94f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f2bda560b240de" /><Relationship Type="http://schemas.openxmlformats.org/officeDocument/2006/relationships/notesSlide" Target="/ppt/notesSlides/notesSlide16.xml" Id="Raf56487900e34f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8e9af89e01c40bd" /><Relationship Type="http://schemas.openxmlformats.org/officeDocument/2006/relationships/chart" Target="/ppt/slides/charts/chart6.xml" Id="Rcb53554ece774404" /><Relationship Type="http://schemas.openxmlformats.org/officeDocument/2006/relationships/notesSlide" Target="/ppt/notesSlides/notesSlide17.xml" Id="R4b2be50220d84b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6e84859a98c42b0" /><Relationship Type="http://schemas.openxmlformats.org/officeDocument/2006/relationships/notesSlide" Target="/ppt/notesSlides/notesSlide18.xml" Id="R8a621ea745da42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8f0e7a9a7624502" /><Relationship Type="http://schemas.openxmlformats.org/officeDocument/2006/relationships/notesSlide" Target="/ppt/notesSlides/notesSlide19.xml" Id="R3e8b54fff730481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945224243f64d3e" /><Relationship Type="http://schemas.openxmlformats.org/officeDocument/2006/relationships/notesSlide" Target="/ppt/notesSlides/notesSlide20.xml" Id="R896444f352004c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00d0dae412481c" /><Relationship Type="http://schemas.openxmlformats.org/officeDocument/2006/relationships/notesSlide" Target="/ppt/notesSlides/notesSlide21.xml" Id="R888eda4725a840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031ba57609a43c1" /><Relationship Type="http://schemas.openxmlformats.org/officeDocument/2006/relationships/notesSlide" Target="/ppt/notesSlides/notesSlide22.xml" Id="R90d9954157a740d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9e5dd02633440a3" /><Relationship Type="http://schemas.openxmlformats.org/officeDocument/2006/relationships/chart" Target="/ppt/slides/charts/chart7.xml" Id="R6760bade573c491a" /><Relationship Type="http://schemas.openxmlformats.org/officeDocument/2006/relationships/notesSlide" Target="/ppt/notesSlides/notesSlide23.xml" Id="R76a5f788bcf048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d7a1c1ed8a34c2e" /><Relationship Type="http://schemas.openxmlformats.org/officeDocument/2006/relationships/chart" Target="/ppt/slides/charts/chart8.xml" Id="Rb750ad8c7f454b1f" /><Relationship Type="http://schemas.openxmlformats.org/officeDocument/2006/relationships/notesSlide" Target="/ppt/notesSlides/notesSlide24.xml" Id="R882bb5612ea44ba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c33f0b79cbf47c6" /><Relationship Type="http://schemas.openxmlformats.org/officeDocument/2006/relationships/chart" Target="/ppt/slides/charts/chart9.xml" Id="Rf6d89efe68fc432b" /><Relationship Type="http://schemas.openxmlformats.org/officeDocument/2006/relationships/notesSlide" Target="/ppt/notesSlides/notesSlide25.xml" Id="R0802e256496c43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a4d87173cd24468" /><Relationship Type="http://schemas.openxmlformats.org/officeDocument/2006/relationships/notesSlide" Target="/ppt/notesSlides/notesSlide26.xml" Id="Rb71ba70b874a480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b8aba5fa2ca4d62" /><Relationship Type="http://schemas.openxmlformats.org/officeDocument/2006/relationships/chart" Target="/ppt/slides/charts/chart10.xml" Id="Rc589963139ef488a" /><Relationship Type="http://schemas.openxmlformats.org/officeDocument/2006/relationships/notesSlide" Target="/ppt/notesSlides/notesSlide27.xml" Id="Rcf475c77fdaa41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3f31d1574c54035" /><Relationship Type="http://schemas.openxmlformats.org/officeDocument/2006/relationships/notesSlide" Target="/ppt/notesSlides/notesSlide28.xml" Id="R84d919ff8a09403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1442f1973e44b22" /><Relationship Type="http://schemas.openxmlformats.org/officeDocument/2006/relationships/notesSlide" Target="/ppt/notesSlides/notesSlide29.xml" Id="Rb7b47c3f42a5458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3b289fcd77c442c" /><Relationship Type="http://schemas.openxmlformats.org/officeDocument/2006/relationships/notesSlide" Target="/ppt/notesSlides/notesSlide30.xml" Id="R35ff9962f75146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36</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72</c:v>
                </c:pt>
              </c:numCache>
            </c:numRef>
          </c:xVal>
          <c:yVal>
            <c:numRef>
              <c:f>'Chart Data'!$D$2:$D$3</c:f>
              <c:numCache>
                <c:formatCode>0</c:formatCode>
                <c:ptCount val="2"/>
                <c:pt idx="0">
                  <c:v>6</c:v>
                </c:pt>
                <c:pt idx="1">
                  <c:v>24</c:v>
                </c:pt>
              </c:numCache>
            </c:numRef>
          </c:yVal>
          <c:smooth val="0"/>
        </c:ser>
        <c:ser>
          <c:idx val="2"/>
          <c:order val="2"/>
          <c:tx>
            <c:v>P = 16</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72</c:v>
                </c:pt>
              </c:numCache>
            </c:numRef>
          </c:xVal>
          <c:yVal>
            <c:numRef>
              <c:f>'Chart Data'!$F$2:$F$3</c:f>
              <c:numCache>
                <c:formatCode>0</c:formatCode>
                <c:ptCount val="2"/>
                <c:pt idx="0">
                  <c:v>16</c:v>
                </c:pt>
                <c:pt idx="1">
                  <c:v>16</c:v>
                </c:pt>
              </c:numCache>
            </c:numRef>
          </c:yVal>
          <c:smooth val="0"/>
        </c:ser>
        <c:ser>
          <c:idx val="3"/>
          <c:order val="3"/>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Data'!$G$2:$G$2</c:f>
              <c:numCache>
                <c:formatCode>General</c:formatCode>
                <c:ptCount val="1"/>
                <c:pt idx="0">
                  <c:v>40</c:v>
                </c:pt>
              </c:numCache>
            </c:numRef>
          </c:xVal>
          <c:yVal>
            <c:numRef>
              <c:f>'Chart Data'!$H$2:$H$2</c:f>
              <c:numCache>
                <c:formatCode>0</c:formatCode>
                <c:ptCount val="1"/>
                <c:pt idx="0">
                  <c:v>16</c:v>
                </c:pt>
              </c:numCache>
            </c:numRef>
          </c:yVal>
          <c:smooth val="0"/>
        </c:ser>
        <c:ser>
          <c:idx val="4"/>
          <c:order val="4"/>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Data'!$I$2:$I$2</c:f>
              <c:numCache>
                <c:formatCode>General</c:formatCode>
                <c:ptCount val="1"/>
                <c:pt idx="0">
                  <c:v>64.8</c:v>
                </c:pt>
              </c:numCache>
            </c:numRef>
          </c:xVal>
          <c:yVal>
            <c:numRef>
              <c:f>'Chart Data'!$J$2:$J$2</c:f>
              <c:numCache>
                <c:formatCode>0</c:formatCode>
                <c:ptCount val="1"/>
                <c:pt idx="0">
                  <c:v>3.6</c:v>
                </c:pt>
              </c:numCache>
            </c:numRef>
          </c:yVal>
          <c:smooth val="0"/>
        </c:ser>
        <c:ser>
          <c:idx val="5"/>
          <c:order val="5"/>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Data'!$K$2:$K$2</c:f>
              <c:numCache>
                <c:formatCode>General</c:formatCode>
                <c:ptCount val="1"/>
                <c:pt idx="0">
                  <c:v>62.64</c:v>
                </c:pt>
              </c:numCache>
            </c:numRef>
          </c:xVal>
          <c:yVal>
            <c:numRef>
              <c:f>'Chart Data'!$L$2:$L$2</c:f>
              <c:numCache>
                <c:formatCode>0</c:formatCode>
                <c:ptCount val="1"/>
                <c:pt idx="0">
                  <c:v>21.66</c:v>
                </c:pt>
              </c:numCache>
            </c:numRef>
          </c:yVal>
          <c:smooth val="0"/>
        </c:ser>
        <c:ser>
          <c:idx val="6"/>
          <c:order val="6"/>
          <c:tx>
            <c:v>P = 16</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16</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Data'!$M$2:$M$2</c:f>
              <c:numCache>
                <c:formatCode>General</c:formatCode>
                <c:ptCount val="1"/>
                <c:pt idx="0">
                  <c:v>63.36</c:v>
                </c:pt>
              </c:numCache>
            </c:numRef>
          </c:xVal>
          <c:yVal>
            <c:numRef>
              <c:f>'Chart Data'!$N$2:$N$2</c:f>
              <c:numCache>
                <c:formatCode>0</c:formatCode>
                <c:ptCount val="1"/>
                <c:pt idx="0">
                  <c:v>16</c:v>
                </c:pt>
              </c:numCache>
            </c:numRef>
          </c:yVal>
          <c:smooth val="0"/>
        </c:ser>
        <c:ser>
          <c:idx val="7"/>
          <c:order val="7"/>
          <c:tx>
            <c:v>CS</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ctr"/>
              <c:showLegendKey val="0"/>
              <c:showVal val="0"/>
              <c:showCatName val="0"/>
              <c:showSerName val="0"/>
              <c:showPercent val="0"/>
              <c:showBubbleSize val="0"/>
            </c:dLbl>
          </c:dLbls>
          <c:xVal>
            <c:numRef>
              <c:f>'Chart Data'!$O$2:$O$2</c:f>
              <c:numCache>
                <c:formatCode>General</c:formatCode>
                <c:ptCount val="1"/>
                <c:pt idx="0">
                  <c:v>12</c:v>
                </c:pt>
              </c:numCache>
            </c:numRef>
          </c:xVal>
          <c:yVal>
            <c:numRef>
              <c:f>'Chart Data'!$P$2:$P$2</c:f>
              <c:numCache>
                <c:formatCode>0</c:formatCode>
                <c:ptCount val="1"/>
                <c:pt idx="0">
                  <c:v>26</c:v>
                </c:pt>
              </c:numCache>
            </c:numRef>
          </c:yVal>
          <c:smooth val="0"/>
        </c:ser>
        <c:ser>
          <c:idx val="8"/>
          <c:order val="8"/>
          <c:tx>
            <c:v>PS</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PS</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ctr"/>
              <c:showLegendKey val="0"/>
              <c:showVal val="0"/>
              <c:showCatName val="0"/>
              <c:showSerName val="0"/>
              <c:showPercent val="0"/>
              <c:showBubbleSize val="0"/>
            </c:dLbl>
          </c:dLbls>
          <c:xVal>
            <c:numRef>
              <c:f>'Chart Data'!$Q$2:$Q$2</c:f>
              <c:numCache>
                <c:formatCode>General</c:formatCode>
                <c:ptCount val="1"/>
                <c:pt idx="0">
                  <c:v>12</c:v>
                </c:pt>
              </c:numCache>
            </c:numRef>
          </c:xVal>
          <c:yVal>
            <c:numRef>
              <c:f>'Chart Data'!$R$2:$R$2</c:f>
              <c:numCache>
                <c:formatCode>0</c:formatCode>
                <c:ptCount val="1"/>
                <c:pt idx="0">
                  <c:v>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plaats)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7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(plaatsen)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36</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72</c:v>
                </c:pt>
              </c:numCache>
            </c:numRef>
          </c:xVal>
          <c:yVal>
            <c:numRef>
              <c:f>'Chart Data'!$D$2:$D$3</c:f>
              <c:numCache>
                <c:formatCode>0</c:formatCode>
                <c:ptCount val="2"/>
                <c:pt idx="0">
                  <c:v>6</c:v>
                </c:pt>
                <c:pt idx="1">
                  <c:v>24</c:v>
                </c:pt>
              </c:numCache>
            </c:numRef>
          </c:yVal>
          <c:smooth val="0"/>
        </c:ser>
        <c:ser>
          <c:idx val="2"/>
          <c:order val="2"/>
          <c:tx>
            <c:v>P = 18</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72</c:v>
                </c:pt>
              </c:numCache>
            </c:numRef>
          </c:xVal>
          <c:yVal>
            <c:numRef>
              <c:f>'Chart Data'!$F$2:$F$3</c:f>
              <c:numCache>
                <c:formatCode>0</c:formatCode>
                <c:ptCount val="2"/>
                <c:pt idx="0">
                  <c:v>18</c:v>
                </c:pt>
                <c:pt idx="1">
                  <c:v>18</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24</c:v>
                </c:pt>
                <c:pt idx="1">
                  <c:v>24</c:v>
                </c:pt>
              </c:numCache>
            </c:numRef>
          </c:xVal>
          <c:yVal>
            <c:numRef>
              <c:f>'Chart Data'!$H$2:$H$3</c:f>
              <c:numCache>
                <c:formatCode>0</c:formatCode>
                <c:ptCount val="2"/>
                <c:pt idx="0">
                  <c:v>0</c:v>
                </c:pt>
                <c:pt idx="1">
                  <c:v>24</c:v>
                </c:pt>
              </c:numCache>
            </c:numRef>
          </c:yVal>
          <c:smooth val="0"/>
        </c:ser>
        <c:ser>
          <c:idx val="4"/>
          <c:order val="4"/>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Data'!$I$2:$I$2</c:f>
              <c:numCache>
                <c:formatCode>General</c:formatCode>
                <c:ptCount val="1"/>
                <c:pt idx="0">
                  <c:v>40</c:v>
                </c:pt>
              </c:numCache>
            </c:numRef>
          </c:xVal>
          <c:yVal>
            <c:numRef>
              <c:f>'Chart Data'!$J$2:$J$2</c:f>
              <c:numCache>
                <c:formatCode>0</c:formatCode>
                <c:ptCount val="1"/>
                <c:pt idx="0">
                  <c:v>16</c:v>
                </c:pt>
              </c:numCache>
            </c:numRef>
          </c:yVal>
          <c:smooth val="0"/>
        </c:ser>
        <c:ser>
          <c:idx val="5"/>
          <c:order val="5"/>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Data'!$K$2:$K$2</c:f>
              <c:numCache>
                <c:formatCode>General</c:formatCode>
                <c:ptCount val="1"/>
                <c:pt idx="0">
                  <c:v>64.8</c:v>
                </c:pt>
              </c:numCache>
            </c:numRef>
          </c:xVal>
          <c:yVal>
            <c:numRef>
              <c:f>'Chart Data'!$L$2:$L$2</c:f>
              <c:numCache>
                <c:formatCode>0</c:formatCode>
                <c:ptCount val="1"/>
                <c:pt idx="0">
                  <c:v>3.6</c:v>
                </c:pt>
              </c:numCache>
            </c:numRef>
          </c:yVal>
          <c:smooth val="0"/>
        </c:ser>
        <c:ser>
          <c:idx val="6"/>
          <c:order val="6"/>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62.64</c:v>
                </c:pt>
              </c:numCache>
            </c:numRef>
          </c:xVal>
          <c:yVal>
            <c:numRef>
              <c:f>'Chart Data'!$N$2:$N$2</c:f>
              <c:numCache>
                <c:formatCode>0</c:formatCode>
                <c:ptCount val="1"/>
                <c:pt idx="0">
                  <c:v>21.66</c:v>
                </c:pt>
              </c:numCache>
            </c:numRef>
          </c:yVal>
          <c:smooth val="0"/>
        </c:ser>
        <c:ser>
          <c:idx val="7"/>
          <c:order val="7"/>
          <c:tx>
            <c:v>P = 18</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18</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Data'!$O$2:$O$2</c:f>
              <c:numCache>
                <c:formatCode>General</c:formatCode>
                <c:ptCount val="1"/>
                <c:pt idx="0">
                  <c:v>63.36</c:v>
                </c:pt>
              </c:numCache>
            </c:numRef>
          </c:xVal>
          <c:yVal>
            <c:numRef>
              <c:f>'Chart Data'!$P$2:$P$2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plaats)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7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(plaatsen)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36</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72</c:v>
                </c:pt>
              </c:numCache>
            </c:numRef>
          </c:xVal>
          <c:yVal>
            <c:numRef>
              <c:f>'Chart Data'!$D$2:$D$3</c:f>
              <c:numCache>
                <c:formatCode>0</c:formatCode>
                <c:ptCount val="2"/>
                <c:pt idx="0">
                  <c:v>6</c:v>
                </c:pt>
                <c:pt idx="1">
                  <c:v>24</c:v>
                </c:pt>
              </c:numCache>
            </c:numRef>
          </c:yVal>
          <c:smooth val="0"/>
        </c:ser>
        <c:ser>
          <c:idx val="2"/>
          <c:order val="2"/>
          <c:tx>
            <c:v>P = 18</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72</c:v>
                </c:pt>
              </c:numCache>
            </c:numRef>
          </c:xVal>
          <c:yVal>
            <c:numRef>
              <c:f>'Chart Data'!$F$2:$F$3</c:f>
              <c:numCache>
                <c:formatCode>0</c:formatCode>
                <c:ptCount val="2"/>
                <c:pt idx="0">
                  <c:v>18</c:v>
                </c:pt>
                <c:pt idx="1">
                  <c:v>18</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24</c:v>
                </c:pt>
                <c:pt idx="1">
                  <c:v>24</c:v>
                </c:pt>
              </c:numCache>
            </c:numRef>
          </c:xVal>
          <c:yVal>
            <c:numRef>
              <c:f>'Chart Data'!$H$2:$H$3</c:f>
              <c:numCache>
                <c:formatCode>0</c:formatCode>
                <c:ptCount val="2"/>
                <c:pt idx="0">
                  <c:v>0</c:v>
                </c:pt>
                <c:pt idx="1">
                  <c:v>24</c:v>
                </c:pt>
              </c:numCache>
            </c:numRef>
          </c:yVal>
          <c:smooth val="0"/>
        </c:ser>
        <c:ser>
          <c:idx val="4"/>
          <c:order val="4"/>
          <c:tx>
            <c:v>Hulplijn betalingsbereidheid</c:v>
          </c:tx>
          <c:spPr>
            <a:ln xmlns:a="http://schemas.openxmlformats.org/drawingml/2006/main" w="19050">
              <a:solidFill>
                <a:srgbClr val="17658A"/>
              </a:solidFill>
              <a:prstDash val="dot"/>
            </a:ln>
          </c:spPr>
          <c:marker>
            <c:symbol val="none"/>
          </c:marker>
          <c:xVal>
            <c:numRef>
              <c:f>'Chart Data'!$I$2:$I$3</c:f>
              <c:numCache>
                <c:formatCode>General</c:formatCode>
                <c:ptCount val="2"/>
                <c:pt idx="0">
                  <c:v>0</c:v>
                </c:pt>
                <c:pt idx="1">
                  <c:v>24</c:v>
                </c:pt>
              </c:numCache>
            </c:numRef>
          </c:xVal>
          <c:yVal>
            <c:numRef>
              <c:f>'Chart Data'!$J$2:$J$3</c:f>
              <c:numCache>
                <c:formatCode>0</c:formatCode>
                <c:ptCount val="2"/>
                <c:pt idx="0">
                  <c:v>24</c:v>
                </c:pt>
                <c:pt idx="1">
                  <c:v>24</c:v>
                </c:pt>
              </c:numCache>
            </c:numRef>
          </c:yVal>
          <c:smooth val="0"/>
        </c:ser>
        <c:ser>
          <c:idx val="5"/>
          <c:order val="5"/>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Data'!$K$2:$K$2</c:f>
              <c:numCache>
                <c:formatCode>General</c:formatCode>
                <c:ptCount val="1"/>
                <c:pt idx="0">
                  <c:v>40</c:v>
                </c:pt>
              </c:numCache>
            </c:numRef>
          </c:xVal>
          <c:yVal>
            <c:numRef>
              <c:f>'Chart Data'!$L$2:$L$2</c:f>
              <c:numCache>
                <c:formatCode>0</c:formatCode>
                <c:ptCount val="1"/>
                <c:pt idx="0">
                  <c:v>16</c:v>
                </c:pt>
              </c:numCache>
            </c:numRef>
          </c:yVal>
          <c:smooth val="0"/>
        </c:ser>
        <c:ser>
          <c:idx val="6"/>
          <c:order val="6"/>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64.8</c:v>
                </c:pt>
              </c:numCache>
            </c:numRef>
          </c:xVal>
          <c:yVal>
            <c:numRef>
              <c:f>'Chart Data'!$N$2:$N$2</c:f>
              <c:numCache>
                <c:formatCode>0</c:formatCode>
                <c:ptCount val="1"/>
                <c:pt idx="0">
                  <c:v>3.6</c:v>
                </c:pt>
              </c:numCache>
            </c:numRef>
          </c:yVal>
          <c:smooth val="0"/>
        </c:ser>
        <c:ser>
          <c:idx val="7"/>
          <c:order val="7"/>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62.64</c:v>
                </c:pt>
              </c:numCache>
            </c:numRef>
          </c:xVal>
          <c:yVal>
            <c:numRef>
              <c:f>'Chart Data'!$P$2:$P$2</c:f>
              <c:numCache>
                <c:formatCode>0</c:formatCode>
                <c:ptCount val="1"/>
                <c:pt idx="0">
                  <c:v>21.66</c:v>
                </c:pt>
              </c:numCache>
            </c:numRef>
          </c:yVal>
          <c:smooth val="0"/>
        </c:ser>
        <c:ser>
          <c:idx val="8"/>
          <c:order val="8"/>
          <c:tx>
            <c:v>P = 18</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18</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Data'!$Q$2:$Q$2</c:f>
              <c:numCache>
                <c:formatCode>General</c:formatCode>
                <c:ptCount val="1"/>
                <c:pt idx="0">
                  <c:v>63.36</c:v>
                </c:pt>
              </c:numCache>
            </c:numRef>
          </c:xVal>
          <c:yVal>
            <c:numRef>
              <c:f>'Chart Data'!$R$2:$R$2</c:f>
              <c:numCache>
                <c:formatCode>0</c:formatCode>
                <c:ptCount val="1"/>
                <c:pt idx="0">
                  <c:v>18</c:v>
                </c:pt>
              </c:numCache>
            </c:numRef>
          </c:yVal>
          <c:smooth val="0"/>
        </c:ser>
        <c:ser>
          <c:idx val="9"/>
          <c:order val="9"/>
          <c:tx>
            <c:v>driehoek</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driehoek</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ctr"/>
              <c:showLegendKey val="0"/>
              <c:showVal val="0"/>
              <c:showCatName val="0"/>
              <c:showSerName val="0"/>
              <c:showPercent val="0"/>
              <c:showBubbleSize val="0"/>
            </c:dLbl>
          </c:dLbls>
          <c:xVal>
            <c:numRef>
              <c:f>'Chart Data'!$S$2:$S$2</c:f>
              <c:numCache>
                <c:formatCode>General</c:formatCode>
                <c:ptCount val="1"/>
                <c:pt idx="0">
                  <c:v>7.2</c:v>
                </c:pt>
              </c:numCache>
            </c:numRef>
          </c:xVal>
          <c:yVal>
            <c:numRef>
              <c:f>'Chart Data'!$T$2:$T$2</c:f>
              <c:numCache>
                <c:formatCode>0</c:formatCode>
                <c:ptCount val="1"/>
                <c:pt idx="0">
                  <c:v>27.6</c:v>
                </c:pt>
              </c:numCache>
            </c:numRef>
          </c:yVal>
          <c:smooth val="0"/>
        </c:ser>
        <c:ser>
          <c:idx val="10"/>
          <c:order val="10"/>
          <c:tx>
            <c:v>rechthoek</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rechthoek</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ctr"/>
              <c:showLegendKey val="0"/>
              <c:showVal val="0"/>
              <c:showCatName val="0"/>
              <c:showSerName val="0"/>
              <c:showPercent val="0"/>
              <c:showBubbleSize val="0"/>
            </c:dLbl>
          </c:dLbls>
          <c:xVal>
            <c:numRef>
              <c:f>'Chart Data'!$U$2:$U$2</c:f>
              <c:numCache>
                <c:formatCode>General</c:formatCode>
                <c:ptCount val="1"/>
                <c:pt idx="0">
                  <c:v>12</c:v>
                </c:pt>
              </c:numCache>
            </c:numRef>
          </c:xVal>
          <c:yVal>
            <c:numRef>
              <c:f>'Chart Data'!$V$2:$V$2</c:f>
              <c:numCache>
                <c:formatCode>0</c:formatCode>
                <c:ptCount val="1"/>
                <c:pt idx="0">
                  <c:v>21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plaats)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7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(plaatsen)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36</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72</c:v>
                </c:pt>
              </c:numCache>
            </c:numRef>
          </c:xVal>
          <c:yVal>
            <c:numRef>
              <c:f>'Chart Data'!$D$2:$D$3</c:f>
              <c:numCache>
                <c:formatCode>0</c:formatCode>
                <c:ptCount val="2"/>
                <c:pt idx="0">
                  <c:v>6</c:v>
                </c:pt>
                <c:pt idx="1">
                  <c:v>24</c:v>
                </c:pt>
              </c:numCache>
            </c:numRef>
          </c:yVal>
          <c:smooth val="0"/>
        </c:ser>
        <c:ser>
          <c:idx val="2"/>
          <c:order val="2"/>
          <c:tx>
            <c:v>P = 18</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72</c:v>
                </c:pt>
              </c:numCache>
            </c:numRef>
          </c:xVal>
          <c:yVal>
            <c:numRef>
              <c:f>'Chart Data'!$F$2:$F$3</c:f>
              <c:numCache>
                <c:formatCode>0</c:formatCode>
                <c:ptCount val="2"/>
                <c:pt idx="0">
                  <c:v>18</c:v>
                </c:pt>
                <c:pt idx="1">
                  <c:v>18</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24</c:v>
                </c:pt>
                <c:pt idx="1">
                  <c:v>24</c:v>
                </c:pt>
              </c:numCache>
            </c:numRef>
          </c:xVal>
          <c:yVal>
            <c:numRef>
              <c:f>'Chart Data'!$H$2:$H$3</c:f>
              <c:numCache>
                <c:formatCode>0</c:formatCode>
                <c:ptCount val="2"/>
                <c:pt idx="0">
                  <c:v>0</c:v>
                </c:pt>
                <c:pt idx="1">
                  <c:v>24</c:v>
                </c:pt>
              </c:numCache>
            </c:numRef>
          </c:yVal>
          <c:smooth val="0"/>
        </c:ser>
        <c:ser>
          <c:idx val="4"/>
          <c:order val="4"/>
          <c:tx>
            <c:v>Hulplijn MK</c:v>
          </c:tx>
          <c:spPr>
            <a:ln xmlns:a="http://schemas.openxmlformats.org/drawingml/2006/main" w="19050">
              <a:solidFill>
                <a:srgbClr val="20665B"/>
              </a:solidFill>
              <a:prstDash val="dot"/>
            </a:ln>
          </c:spPr>
          <c:marker>
            <c:symbol val="none"/>
          </c:marker>
          <c:xVal>
            <c:numRef>
              <c:f>'Chart Data'!$I$2:$I$3</c:f>
              <c:numCache>
                <c:formatCode>General</c:formatCode>
                <c:ptCount val="2"/>
                <c:pt idx="0">
                  <c:v>0</c:v>
                </c:pt>
                <c:pt idx="1">
                  <c:v>24</c:v>
                </c:pt>
              </c:numCache>
            </c:numRef>
          </c:xVal>
          <c:yVal>
            <c:numRef>
              <c:f>'Chart Data'!$J$2:$J$3</c:f>
              <c:numCache>
                <c:formatCode>0</c:formatCode>
                <c:ptCount val="2"/>
                <c:pt idx="0">
                  <c:v>12</c:v>
                </c:pt>
                <c:pt idx="1">
                  <c:v>12</c:v>
                </c:pt>
              </c:numCache>
            </c:numRef>
          </c:yVal>
          <c:smooth val="0"/>
        </c:ser>
        <c:ser>
          <c:idx val="5"/>
          <c:order val="5"/>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Data'!$K$2:$K$2</c:f>
              <c:numCache>
                <c:formatCode>General</c:formatCode>
                <c:ptCount val="1"/>
                <c:pt idx="0">
                  <c:v>40</c:v>
                </c:pt>
              </c:numCache>
            </c:numRef>
          </c:xVal>
          <c:yVal>
            <c:numRef>
              <c:f>'Chart Data'!$L$2:$L$2</c:f>
              <c:numCache>
                <c:formatCode>0</c:formatCode>
                <c:ptCount val="1"/>
                <c:pt idx="0">
                  <c:v>16</c:v>
                </c:pt>
              </c:numCache>
            </c:numRef>
          </c:yVal>
          <c:smooth val="0"/>
        </c:ser>
        <c:ser>
          <c:idx val="6"/>
          <c:order val="6"/>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64.8</c:v>
                </c:pt>
              </c:numCache>
            </c:numRef>
          </c:xVal>
          <c:yVal>
            <c:numRef>
              <c:f>'Chart Data'!$N$2:$N$2</c:f>
              <c:numCache>
                <c:formatCode>0</c:formatCode>
                <c:ptCount val="1"/>
                <c:pt idx="0">
                  <c:v>3.6</c:v>
                </c:pt>
              </c:numCache>
            </c:numRef>
          </c:yVal>
          <c:smooth val="0"/>
        </c:ser>
        <c:ser>
          <c:idx val="7"/>
          <c:order val="7"/>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62.64</c:v>
                </c:pt>
              </c:numCache>
            </c:numRef>
          </c:xVal>
          <c:yVal>
            <c:numRef>
              <c:f>'Chart Data'!$P$2:$P$2</c:f>
              <c:numCache>
                <c:formatCode>0</c:formatCode>
                <c:ptCount val="1"/>
                <c:pt idx="0">
                  <c:v>21.66</c:v>
                </c:pt>
              </c:numCache>
            </c:numRef>
          </c:yVal>
          <c:smooth val="0"/>
        </c:ser>
        <c:ser>
          <c:idx val="8"/>
          <c:order val="8"/>
          <c:tx>
            <c:v>P = 18</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18</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Data'!$Q$2:$Q$2</c:f>
              <c:numCache>
                <c:formatCode>General</c:formatCode>
                <c:ptCount val="1"/>
                <c:pt idx="0">
                  <c:v>63.36</c:v>
                </c:pt>
              </c:numCache>
            </c:numRef>
          </c:xVal>
          <c:yVal>
            <c:numRef>
              <c:f>'Chart Data'!$R$2:$R$2</c:f>
              <c:numCache>
                <c:formatCode>0</c:formatCode>
                <c:ptCount val="1"/>
                <c:pt idx="0">
                  <c:v>18</c:v>
                </c:pt>
              </c:numCache>
            </c:numRef>
          </c:yVal>
          <c:smooth val="0"/>
        </c:ser>
        <c:ser>
          <c:idx val="9"/>
          <c:order val="9"/>
          <c:tx>
            <c:v>rechthoek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rechthoek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ctr"/>
              <c:showLegendKey val="0"/>
              <c:showVal val="0"/>
              <c:showCatName val="0"/>
              <c:showSerName val="0"/>
              <c:showPercent val="0"/>
              <c:showBubbleSize val="0"/>
            </c:dLbl>
          </c:dLbls>
          <c:xVal>
            <c:numRef>
              <c:f>'Chart Data'!$S$2:$S$2</c:f>
              <c:numCache>
                <c:formatCode>General</c:formatCode>
                <c:ptCount val="1"/>
                <c:pt idx="0">
                  <c:v>12</c:v>
                </c:pt>
              </c:numCache>
            </c:numRef>
          </c:xVal>
          <c:yVal>
            <c:numRef>
              <c:f>'Chart Data'!$T$2:$T$2</c:f>
              <c:numCache>
                <c:formatCode>0</c:formatCode>
                <c:ptCount val="1"/>
                <c:pt idx="0">
                  <c:v>15</c:v>
                </c:pt>
              </c:numCache>
            </c:numRef>
          </c:yVal>
          <c:smooth val="0"/>
        </c:ser>
        <c:ser>
          <c:idx val="10"/>
          <c:order val="10"/>
          <c:tx>
            <c:v>driehoek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driehoek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ctr"/>
              <c:showLegendKey val="0"/>
              <c:showVal val="0"/>
              <c:showCatName val="0"/>
              <c:showSerName val="0"/>
              <c:showPercent val="0"/>
              <c:showBubbleSize val="0"/>
            </c:dLbl>
          </c:dLbls>
          <c:xVal>
            <c:numRef>
              <c:f>'Chart Data'!$U$2:$U$2</c:f>
              <c:numCache>
                <c:formatCode>General</c:formatCode>
                <c:ptCount val="1"/>
                <c:pt idx="0">
                  <c:v>7.92</c:v>
                </c:pt>
              </c:numCache>
            </c:numRef>
          </c:xVal>
          <c:yVal>
            <c:numRef>
              <c:f>'Chart Data'!$V$2:$V$2</c:f>
              <c:numCache>
                <c:formatCode>0</c:formatCode>
                <c:ptCount val="1"/>
                <c:pt idx="0">
                  <c:v>9.96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plaats)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7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(plaatsen)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72</c:v>
                </c:pt>
              </c:numCache>
            </c:numRef>
          </c:xVal>
          <c:yVal>
            <c:numRef>
              <c:f>'Chart Data'!$B$2:$B$3</c:f>
              <c:numCache>
                <c:formatCode>0</c:formatCode>
                <c:ptCount val="2"/>
                <c:pt idx="0">
                  <c:v>36</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72</c:v>
                </c:pt>
              </c:numCache>
            </c:numRef>
          </c:xVal>
          <c:yVal>
            <c:numRef>
              <c:f>'Chart Data'!$D$2:$D$3</c:f>
              <c:numCache>
                <c:formatCode>0</c:formatCode>
                <c:ptCount val="2"/>
                <c:pt idx="0">
                  <c:v>6</c:v>
                </c:pt>
                <c:pt idx="1">
                  <c:v>24</c:v>
                </c:pt>
              </c:numCache>
            </c:numRef>
          </c:yVal>
          <c:smooth val="0"/>
        </c:ser>
        <c:ser>
          <c:idx val="2"/>
          <c:order val="2"/>
          <c:tx>
            <c:v>P = 18</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72</c:v>
                </c:pt>
              </c:numCache>
            </c:numRef>
          </c:xVal>
          <c:yVal>
            <c:numRef>
              <c:f>'Chart Data'!$F$2:$F$3</c:f>
              <c:numCache>
                <c:formatCode>0</c:formatCode>
                <c:ptCount val="2"/>
                <c:pt idx="0">
                  <c:v>18</c:v>
                </c:pt>
                <c:pt idx="1">
                  <c:v>18</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24</c:v>
                </c:pt>
                <c:pt idx="1">
                  <c:v>24</c:v>
                </c:pt>
              </c:numCache>
            </c:numRef>
          </c:xVal>
          <c:yVal>
            <c:numRef>
              <c:f>'Chart Data'!$H$2:$H$3</c:f>
              <c:numCache>
                <c:formatCode>0</c:formatCode>
                <c:ptCount val="2"/>
                <c:pt idx="0">
                  <c:v>0</c:v>
                </c:pt>
                <c:pt idx="1">
                  <c:v>24</c:v>
                </c:pt>
              </c:numCache>
            </c:numRef>
          </c:yVal>
          <c:smooth val="0"/>
        </c:ser>
        <c:ser>
          <c:idx val="4"/>
          <c:order val="4"/>
          <c:tx>
            <c:v>Verliesgrens</c:v>
          </c:tx>
          <c:spPr>
            <a:ln xmlns:a="http://schemas.openxmlformats.org/drawingml/2006/main" w="28575">
              <a:solidFill>
                <a:srgbClr val="A94D16"/>
              </a:solidFill>
              <a:prstDash val="solid"/>
            </a:ln>
          </c:spPr>
          <c:marker>
            <c:symbol val="none"/>
          </c:marker>
          <c:xVal>
            <c:numRef>
              <c:f>'Chart Data'!$I$2:$I$5</c:f>
              <c:numCache>
                <c:formatCode>General</c:formatCode>
                <c:ptCount val="4"/>
                <c:pt idx="0">
                  <c:v>24</c:v>
                </c:pt>
                <c:pt idx="1">
                  <c:v>40</c:v>
                </c:pt>
                <c:pt idx="2">
                  <c:v>24</c:v>
                </c:pt>
                <c:pt idx="3">
                  <c:v>24</c:v>
                </c:pt>
              </c:numCache>
            </c:numRef>
          </c:xVal>
          <c:yVal>
            <c:numRef>
              <c:f>'Chart Data'!$J$2:$J$5</c:f>
              <c:numCache>
                <c:formatCode>0</c:formatCode>
                <c:ptCount val="4"/>
                <c:pt idx="0">
                  <c:v>24</c:v>
                </c:pt>
                <c:pt idx="1">
                  <c:v>16</c:v>
                </c:pt>
                <c:pt idx="2">
                  <c:v>12</c:v>
                </c:pt>
                <c:pt idx="3">
                  <c:v>24</c:v>
                </c:pt>
              </c:numCache>
            </c:numRef>
          </c:yVal>
          <c:smooth val="0"/>
        </c:ser>
        <c:ser>
          <c:idx val="5"/>
          <c:order val="5"/>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Data'!$K$2:$K$2</c:f>
              <c:numCache>
                <c:formatCode>General</c:formatCode>
                <c:ptCount val="1"/>
                <c:pt idx="0">
                  <c:v>40</c:v>
                </c:pt>
              </c:numCache>
            </c:numRef>
          </c:xVal>
          <c:yVal>
            <c:numRef>
              <c:f>'Chart Data'!$L$2:$L$2</c:f>
              <c:numCache>
                <c:formatCode>0</c:formatCode>
                <c:ptCount val="1"/>
                <c:pt idx="0">
                  <c:v>16</c:v>
                </c:pt>
              </c:numCache>
            </c:numRef>
          </c:yVal>
          <c:smooth val="0"/>
        </c:ser>
        <c:ser>
          <c:idx val="6"/>
          <c:order val="6"/>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64.8</c:v>
                </c:pt>
              </c:numCache>
            </c:numRef>
          </c:xVal>
          <c:yVal>
            <c:numRef>
              <c:f>'Chart Data'!$N$2:$N$2</c:f>
              <c:numCache>
                <c:formatCode>0</c:formatCode>
                <c:ptCount val="1"/>
                <c:pt idx="0">
                  <c:v>3.6</c:v>
                </c:pt>
              </c:numCache>
            </c:numRef>
          </c:yVal>
          <c:smooth val="0"/>
        </c:ser>
        <c:ser>
          <c:idx val="7"/>
          <c:order val="7"/>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62.64</c:v>
                </c:pt>
              </c:numCache>
            </c:numRef>
          </c:xVal>
          <c:yVal>
            <c:numRef>
              <c:f>'Chart Data'!$P$2:$P$2</c:f>
              <c:numCache>
                <c:formatCode>0</c:formatCode>
                <c:ptCount val="1"/>
                <c:pt idx="0">
                  <c:v>21.66</c:v>
                </c:pt>
              </c:numCache>
            </c:numRef>
          </c:yVal>
          <c:smooth val="0"/>
        </c:ser>
        <c:ser>
          <c:idx val="8"/>
          <c:order val="8"/>
          <c:tx>
            <c:v>P = 18</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18</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Data'!$Q$2:$Q$2</c:f>
              <c:numCache>
                <c:formatCode>General</c:formatCode>
                <c:ptCount val="1"/>
                <c:pt idx="0">
                  <c:v>63.36</c:v>
                </c:pt>
              </c:numCache>
            </c:numRef>
          </c:xVal>
          <c:yVal>
            <c:numRef>
              <c:f>'Chart Data'!$R$2:$R$2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plaats)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7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(plaatsen)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5</c:v>
                </c:pt>
                <c:pt idx="1">
                  <c:v>30</c:v>
                </c:pt>
              </c:numCache>
            </c:numRef>
          </c:yVal>
          <c:smooth val="0"/>
        </c:ser>
        <c:ser>
          <c:idx val="2"/>
          <c:order val="2"/>
          <c:tx>
            <c:v>P = 25</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25</c:v>
                </c:pt>
                <c:pt idx="1">
                  <c:v>25</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0</c:v>
                </c:pt>
                <c:pt idx="1">
                  <c:v>30</c:v>
                </c:pt>
              </c:numCache>
            </c:numRef>
          </c:yVal>
          <c:smooth val="0"/>
        </c:ser>
        <c:ser>
          <c:idx val="4"/>
          <c:order val="4"/>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Data'!$I$2:$I$2</c:f>
              <c:numCache>
                <c:formatCode>General</c:formatCode>
                <c:ptCount val="1"/>
                <c:pt idx="0">
                  <c:v>60</c:v>
                </c:pt>
              </c:numCache>
            </c:numRef>
          </c:xVal>
          <c:yVal>
            <c:numRef>
              <c:f>'Chart Data'!$J$2:$J$2</c:f>
              <c:numCache>
                <c:formatCode>0</c:formatCode>
                <c:ptCount val="1"/>
                <c:pt idx="0">
                  <c:v>20</c:v>
                </c:pt>
              </c:numCache>
            </c:numRef>
          </c:yVal>
          <c:smooth val="0"/>
        </c:ser>
        <c:ser>
          <c:idx val="5"/>
          <c:order val="5"/>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Data'!$K$2:$K$2</c:f>
              <c:numCache>
                <c:formatCode>General</c:formatCode>
                <c:ptCount val="1"/>
                <c:pt idx="0">
                  <c:v>90</c:v>
                </c:pt>
              </c:numCache>
            </c:numRef>
          </c:xVal>
          <c:yVal>
            <c:numRef>
              <c:f>'Chart Data'!$L$2:$L$2</c:f>
              <c:numCache>
                <c:formatCode>0</c:formatCode>
                <c:ptCount val="1"/>
                <c:pt idx="0">
                  <c:v>5</c:v>
                </c:pt>
              </c:numCache>
            </c:numRef>
          </c:yVal>
          <c:smooth val="0"/>
        </c:ser>
        <c:ser>
          <c:idx val="6"/>
          <c:order val="6"/>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87</c:v>
                </c:pt>
              </c:numCache>
            </c:numRef>
          </c:xVal>
          <c:yVal>
            <c:numRef>
              <c:f>'Chart Data'!$N$2:$N$2</c:f>
              <c:numCache>
                <c:formatCode>0</c:formatCode>
                <c:ptCount val="1"/>
                <c:pt idx="0">
                  <c:v>26.75</c:v>
                </c:pt>
              </c:numCache>
            </c:numRef>
          </c:yVal>
          <c:smooth val="0"/>
        </c:ser>
        <c:ser>
          <c:idx val="7"/>
          <c:order val="7"/>
          <c:tx>
            <c:v>P = 25</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25</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Data'!$O$2:$O$2</c:f>
              <c:numCache>
                <c:formatCode>General</c:formatCode>
                <c:ptCount val="1"/>
                <c:pt idx="0">
                  <c:v>88</c:v>
                </c:pt>
              </c:numCache>
            </c:numRef>
          </c:xVal>
          <c:yVal>
            <c:numRef>
              <c:f>'Chart Data'!$P$2:$P$2</c:f>
              <c:numCache>
                <c:formatCode>0</c:formatCode>
                <c:ptCount val="1"/>
                <c:pt idx="0">
                  <c:v>25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5</c:v>
                </c:pt>
                <c:pt idx="1">
                  <c:v>30</c:v>
                </c:pt>
              </c:numCache>
            </c:numRef>
          </c:yVal>
          <c:smooth val="0"/>
        </c:ser>
        <c:ser>
          <c:idx val="2"/>
          <c:order val="2"/>
          <c:tx>
            <c:v>P = 25</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25</c:v>
                </c:pt>
                <c:pt idx="1">
                  <c:v>25</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0</c:v>
                </c:pt>
                <c:pt idx="1">
                  <c:v>30</c:v>
                </c:pt>
              </c:numCache>
            </c:numRef>
          </c:yVal>
          <c:smooth val="0"/>
        </c:ser>
        <c:ser>
          <c:idx val="4"/>
          <c:order val="4"/>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Data'!$I$2:$I$2</c:f>
              <c:numCache>
                <c:formatCode>General</c:formatCode>
                <c:ptCount val="1"/>
                <c:pt idx="0">
                  <c:v>60</c:v>
                </c:pt>
              </c:numCache>
            </c:numRef>
          </c:xVal>
          <c:yVal>
            <c:numRef>
              <c:f>'Chart Data'!$J$2:$J$2</c:f>
              <c:numCache>
                <c:formatCode>0</c:formatCode>
                <c:ptCount val="1"/>
                <c:pt idx="0">
                  <c:v>20</c:v>
                </c:pt>
              </c:numCache>
            </c:numRef>
          </c:yVal>
          <c:smooth val="0"/>
        </c:ser>
        <c:ser>
          <c:idx val="5"/>
          <c:order val="5"/>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Data'!$K$2:$K$2</c:f>
              <c:numCache>
                <c:formatCode>General</c:formatCode>
                <c:ptCount val="1"/>
                <c:pt idx="0">
                  <c:v>90</c:v>
                </c:pt>
              </c:numCache>
            </c:numRef>
          </c:xVal>
          <c:yVal>
            <c:numRef>
              <c:f>'Chart Data'!$L$2:$L$2</c:f>
              <c:numCache>
                <c:formatCode>0</c:formatCode>
                <c:ptCount val="1"/>
                <c:pt idx="0">
                  <c:v>5</c:v>
                </c:pt>
              </c:numCache>
            </c:numRef>
          </c:yVal>
          <c:smooth val="0"/>
        </c:ser>
        <c:ser>
          <c:idx val="6"/>
          <c:order val="6"/>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87</c:v>
                </c:pt>
              </c:numCache>
            </c:numRef>
          </c:xVal>
          <c:yVal>
            <c:numRef>
              <c:f>'Chart Data'!$N$2:$N$2</c:f>
              <c:numCache>
                <c:formatCode>0</c:formatCode>
                <c:ptCount val="1"/>
                <c:pt idx="0">
                  <c:v>26.75</c:v>
                </c:pt>
              </c:numCache>
            </c:numRef>
          </c:yVal>
          <c:smooth val="0"/>
        </c:ser>
        <c:ser>
          <c:idx val="7"/>
          <c:order val="7"/>
          <c:tx>
            <c:v>P = 25</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25</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Data'!$O$2:$O$2</c:f>
              <c:numCache>
                <c:formatCode>General</c:formatCode>
                <c:ptCount val="1"/>
                <c:pt idx="0">
                  <c:v>88</c:v>
                </c:pt>
              </c:numCache>
            </c:numRef>
          </c:xVal>
          <c:yVal>
            <c:numRef>
              <c:f>'Chart Data'!$P$2:$P$2</c:f>
              <c:numCache>
                <c:formatCode>0</c:formatCode>
                <c:ptCount val="1"/>
                <c:pt idx="0">
                  <c:v>25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5</c:v>
                </c:pt>
                <c:pt idx="1">
                  <c:v>30</c:v>
                </c:pt>
              </c:numCache>
            </c:numRef>
          </c:yVal>
          <c:smooth val="0"/>
        </c:ser>
        <c:ser>
          <c:idx val="2"/>
          <c:order val="2"/>
          <c:tx>
            <c:v>P = 25</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25</c:v>
                </c:pt>
                <c:pt idx="1">
                  <c:v>25</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0</c:v>
                </c:pt>
                <c:pt idx="1">
                  <c:v>30</c:v>
                </c:pt>
              </c:numCache>
            </c:numRef>
          </c:yVal>
          <c:smooth val="0"/>
        </c:ser>
        <c:ser>
          <c:idx val="4"/>
          <c:order val="4"/>
          <c:tx>
            <c:v>Hulplijn betalingsbereidheid</c:v>
          </c:tx>
          <c:spPr>
            <a:ln xmlns:a="http://schemas.openxmlformats.org/drawingml/2006/main" w="19050">
              <a:solidFill>
                <a:srgbClr val="17658A"/>
              </a:solidFill>
              <a:prstDash val="dot"/>
            </a:ln>
          </c:spPr>
          <c:marker>
            <c:symbol val="none"/>
          </c:marker>
          <c:xVal>
            <c:numRef>
              <c:f>'Chart Data'!$I$2:$I$3</c:f>
              <c:numCache>
                <c:formatCode>General</c:formatCode>
                <c:ptCount val="2"/>
                <c:pt idx="0">
                  <c:v>0</c:v>
                </c:pt>
                <c:pt idx="1">
                  <c:v>40</c:v>
                </c:pt>
              </c:numCache>
            </c:numRef>
          </c:xVal>
          <c:yVal>
            <c:numRef>
              <c:f>'Chart Data'!$J$2:$J$3</c:f>
              <c:numCache>
                <c:formatCode>0</c:formatCode>
                <c:ptCount val="2"/>
                <c:pt idx="0">
                  <c:v>30</c:v>
                </c:pt>
                <c:pt idx="1">
                  <c:v>30</c:v>
                </c:pt>
              </c:numCache>
            </c:numRef>
          </c:yVal>
          <c:smooth val="0"/>
        </c:ser>
        <c:ser>
          <c:idx val="5"/>
          <c:order val="5"/>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Data'!$K$2:$K$2</c:f>
              <c:numCache>
                <c:formatCode>General</c:formatCode>
                <c:ptCount val="1"/>
                <c:pt idx="0">
                  <c:v>60</c:v>
                </c:pt>
              </c:numCache>
            </c:numRef>
          </c:xVal>
          <c:yVal>
            <c:numRef>
              <c:f>'Chart Data'!$L$2:$L$2</c:f>
              <c:numCache>
                <c:formatCode>0</c:formatCode>
                <c:ptCount val="1"/>
                <c:pt idx="0">
                  <c:v>20</c:v>
                </c:pt>
              </c:numCache>
            </c:numRef>
          </c:yVal>
          <c:smooth val="0"/>
        </c:ser>
        <c:ser>
          <c:idx val="6"/>
          <c:order val="6"/>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90</c:v>
                </c:pt>
              </c:numCache>
            </c:numRef>
          </c:xVal>
          <c:yVal>
            <c:numRef>
              <c:f>'Chart Data'!$N$2:$N$2</c:f>
              <c:numCache>
                <c:formatCode>0</c:formatCode>
                <c:ptCount val="1"/>
                <c:pt idx="0">
                  <c:v>5</c:v>
                </c:pt>
              </c:numCache>
            </c:numRef>
          </c:yVal>
          <c:smooth val="0"/>
        </c:ser>
        <c:ser>
          <c:idx val="7"/>
          <c:order val="7"/>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87</c:v>
                </c:pt>
              </c:numCache>
            </c:numRef>
          </c:xVal>
          <c:yVal>
            <c:numRef>
              <c:f>'Chart Data'!$P$2:$P$2</c:f>
              <c:numCache>
                <c:formatCode>0</c:formatCode>
                <c:ptCount val="1"/>
                <c:pt idx="0">
                  <c:v>26.75</c:v>
                </c:pt>
              </c:numCache>
            </c:numRef>
          </c:yVal>
          <c:smooth val="0"/>
        </c:ser>
        <c:ser>
          <c:idx val="8"/>
          <c:order val="8"/>
          <c:tx>
            <c:v>P = 25</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25</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Data'!$Q$2:$Q$2</c:f>
              <c:numCache>
                <c:formatCode>General</c:formatCode>
                <c:ptCount val="1"/>
                <c:pt idx="0">
                  <c:v>88</c:v>
                </c:pt>
              </c:numCache>
            </c:numRef>
          </c:xVal>
          <c:yVal>
            <c:numRef>
              <c:f>'Chart Data'!$R$2:$R$2</c:f>
              <c:numCache>
                <c:formatCode>0</c:formatCode>
                <c:ptCount val="1"/>
                <c:pt idx="0">
                  <c:v>25</c:v>
                </c:pt>
              </c:numCache>
            </c:numRef>
          </c:yVal>
          <c:smooth val="0"/>
        </c:ser>
        <c:ser>
          <c:idx val="9"/>
          <c:order val="9"/>
          <c:tx>
            <c:v>driehoek</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driehoek</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ctr"/>
              <c:showLegendKey val="0"/>
              <c:showVal val="0"/>
              <c:showCatName val="0"/>
              <c:showSerName val="0"/>
              <c:showPercent val="0"/>
              <c:showBubbleSize val="0"/>
            </c:dLbl>
          </c:dLbls>
          <c:xVal>
            <c:numRef>
              <c:f>'Chart Data'!$S$2:$S$2</c:f>
              <c:numCache>
                <c:formatCode>General</c:formatCode>
                <c:ptCount val="1"/>
                <c:pt idx="0">
                  <c:v>12</c:v>
                </c:pt>
              </c:numCache>
            </c:numRef>
          </c:xVal>
          <c:yVal>
            <c:numRef>
              <c:f>'Chart Data'!$T$2:$T$2</c:f>
              <c:numCache>
                <c:formatCode>0</c:formatCode>
                <c:ptCount val="1"/>
                <c:pt idx="0">
                  <c:v>36</c:v>
                </c:pt>
              </c:numCache>
            </c:numRef>
          </c:yVal>
          <c:smooth val="0"/>
        </c:ser>
        <c:ser>
          <c:idx val="10"/>
          <c:order val="10"/>
          <c:tx>
            <c:v>rechthoek</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rechthoek</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ctr"/>
              <c:showLegendKey val="0"/>
              <c:showVal val="0"/>
              <c:showCatName val="0"/>
              <c:showSerName val="0"/>
              <c:showPercent val="0"/>
              <c:showBubbleSize val="0"/>
            </c:dLbl>
          </c:dLbls>
          <c:xVal>
            <c:numRef>
              <c:f>'Chart Data'!$U$2:$U$2</c:f>
              <c:numCache>
                <c:formatCode>General</c:formatCode>
                <c:ptCount val="1"/>
                <c:pt idx="0">
                  <c:v>20</c:v>
                </c:pt>
              </c:numCache>
            </c:numRef>
          </c:xVal>
          <c:yVal>
            <c:numRef>
              <c:f>'Chart Data'!$V$2:$V$2</c:f>
              <c:numCache>
                <c:formatCode>0</c:formatCode>
                <c:ptCount val="1"/>
                <c:pt idx="0">
                  <c:v>27.5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5</c:v>
                </c:pt>
                <c:pt idx="1">
                  <c:v>30</c:v>
                </c:pt>
              </c:numCache>
            </c:numRef>
          </c:yVal>
          <c:smooth val="0"/>
        </c:ser>
        <c:ser>
          <c:idx val="2"/>
          <c:order val="2"/>
          <c:tx>
            <c:v>P = 25</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25</c:v>
                </c:pt>
                <c:pt idx="1">
                  <c:v>25</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0</c:v>
                </c:pt>
                <c:pt idx="1">
                  <c:v>30</c:v>
                </c:pt>
              </c:numCache>
            </c:numRef>
          </c:yVal>
          <c:smooth val="0"/>
        </c:ser>
        <c:ser>
          <c:idx val="4"/>
          <c:order val="4"/>
          <c:tx>
            <c:v>Hulplijn MK</c:v>
          </c:tx>
          <c:spPr>
            <a:ln xmlns:a="http://schemas.openxmlformats.org/drawingml/2006/main" w="19050">
              <a:solidFill>
                <a:srgbClr val="20665B"/>
              </a:solidFill>
              <a:prstDash val="dot"/>
            </a:ln>
          </c:spPr>
          <c:marker>
            <c:symbol val="none"/>
          </c:marker>
          <c:xVal>
            <c:numRef>
              <c:f>'Chart Data'!$I$2:$I$3</c:f>
              <c:numCache>
                <c:formatCode>General</c:formatCode>
                <c:ptCount val="2"/>
                <c:pt idx="0">
                  <c:v>0</c:v>
                </c:pt>
                <c:pt idx="1">
                  <c:v>40</c:v>
                </c:pt>
              </c:numCache>
            </c:numRef>
          </c:xVal>
          <c:yVal>
            <c:numRef>
              <c:f>'Chart Data'!$J$2:$J$3</c:f>
              <c:numCache>
                <c:formatCode>0</c:formatCode>
                <c:ptCount val="2"/>
                <c:pt idx="0">
                  <c:v>15</c:v>
                </c:pt>
                <c:pt idx="1">
                  <c:v>15</c:v>
                </c:pt>
              </c:numCache>
            </c:numRef>
          </c:yVal>
          <c:smooth val="0"/>
        </c:ser>
        <c:ser>
          <c:idx val="5"/>
          <c:order val="5"/>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Data'!$K$2:$K$2</c:f>
              <c:numCache>
                <c:formatCode>General</c:formatCode>
                <c:ptCount val="1"/>
                <c:pt idx="0">
                  <c:v>60</c:v>
                </c:pt>
              </c:numCache>
            </c:numRef>
          </c:xVal>
          <c:yVal>
            <c:numRef>
              <c:f>'Chart Data'!$L$2:$L$2</c:f>
              <c:numCache>
                <c:formatCode>0</c:formatCode>
                <c:ptCount val="1"/>
                <c:pt idx="0">
                  <c:v>20</c:v>
                </c:pt>
              </c:numCache>
            </c:numRef>
          </c:yVal>
          <c:smooth val="0"/>
        </c:ser>
        <c:ser>
          <c:idx val="6"/>
          <c:order val="6"/>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90</c:v>
                </c:pt>
              </c:numCache>
            </c:numRef>
          </c:xVal>
          <c:yVal>
            <c:numRef>
              <c:f>'Chart Data'!$N$2:$N$2</c:f>
              <c:numCache>
                <c:formatCode>0</c:formatCode>
                <c:ptCount val="1"/>
                <c:pt idx="0">
                  <c:v>5</c:v>
                </c:pt>
              </c:numCache>
            </c:numRef>
          </c:yVal>
          <c:smooth val="0"/>
        </c:ser>
        <c:ser>
          <c:idx val="7"/>
          <c:order val="7"/>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87</c:v>
                </c:pt>
              </c:numCache>
            </c:numRef>
          </c:xVal>
          <c:yVal>
            <c:numRef>
              <c:f>'Chart Data'!$P$2:$P$2</c:f>
              <c:numCache>
                <c:formatCode>0</c:formatCode>
                <c:ptCount val="1"/>
                <c:pt idx="0">
                  <c:v>26.75</c:v>
                </c:pt>
              </c:numCache>
            </c:numRef>
          </c:yVal>
          <c:smooth val="0"/>
        </c:ser>
        <c:ser>
          <c:idx val="8"/>
          <c:order val="8"/>
          <c:tx>
            <c:v>P = 25</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25</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Data'!$Q$2:$Q$2</c:f>
              <c:numCache>
                <c:formatCode>General</c:formatCode>
                <c:ptCount val="1"/>
                <c:pt idx="0">
                  <c:v>88</c:v>
                </c:pt>
              </c:numCache>
            </c:numRef>
          </c:xVal>
          <c:yVal>
            <c:numRef>
              <c:f>'Chart Data'!$R$2:$R$2</c:f>
              <c:numCache>
                <c:formatCode>0</c:formatCode>
                <c:ptCount val="1"/>
                <c:pt idx="0">
                  <c:v>25</c:v>
                </c:pt>
              </c:numCache>
            </c:numRef>
          </c:yVal>
          <c:smooth val="0"/>
        </c:ser>
        <c:ser>
          <c:idx val="9"/>
          <c:order val="9"/>
          <c:tx>
            <c:v>rechthoek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rechthoek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ctr"/>
              <c:showLegendKey val="0"/>
              <c:showVal val="0"/>
              <c:showCatName val="0"/>
              <c:showSerName val="0"/>
              <c:showPercent val="0"/>
              <c:showBubbleSize val="0"/>
            </c:dLbl>
          </c:dLbls>
          <c:xVal>
            <c:numRef>
              <c:f>'Chart Data'!$S$2:$S$2</c:f>
              <c:numCache>
                <c:formatCode>General</c:formatCode>
                <c:ptCount val="1"/>
                <c:pt idx="0">
                  <c:v>20</c:v>
                </c:pt>
              </c:numCache>
            </c:numRef>
          </c:xVal>
          <c:yVal>
            <c:numRef>
              <c:f>'Chart Data'!$T$2:$T$2</c:f>
              <c:numCache>
                <c:formatCode>0</c:formatCode>
                <c:ptCount val="1"/>
                <c:pt idx="0">
                  <c:v>20</c:v>
                </c:pt>
              </c:numCache>
            </c:numRef>
          </c:yVal>
          <c:smooth val="0"/>
        </c:ser>
        <c:ser>
          <c:idx val="10"/>
          <c:order val="10"/>
          <c:tx>
            <c:v>driehoek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driehoek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ctr"/>
              <c:showLegendKey val="0"/>
              <c:showVal val="0"/>
              <c:showCatName val="0"/>
              <c:showSerName val="0"/>
              <c:showPercent val="0"/>
              <c:showBubbleSize val="0"/>
            </c:dLbl>
          </c:dLbls>
          <c:xVal>
            <c:numRef>
              <c:f>'Chart Data'!$U$2:$U$2</c:f>
              <c:numCache>
                <c:formatCode>General</c:formatCode>
                <c:ptCount val="1"/>
                <c:pt idx="0">
                  <c:v>13.2</c:v>
                </c:pt>
              </c:numCache>
            </c:numRef>
          </c:xVal>
          <c:yVal>
            <c:numRef>
              <c:f>'Chart Data'!$V$2:$V$2</c:f>
              <c:numCache>
                <c:formatCode>0</c:formatCode>
                <c:ptCount val="1"/>
                <c:pt idx="0">
                  <c:v>11.6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6"/>
          <c:w val="0.84"/>
          <c:h val="0.82"/>
        </c:manualLayout>
      </c:layout>
      <c:scatterChart>
        <c:scatterStyle val="line"/>
        <c:ser>
          <c:idx val="0"/>
          <c:order val="0"/>
          <c:tx>
            <c:v>V</c:v>
          </c:tx>
          <c:spPr>
            <a:ln xmlns:a="http://schemas.openxmlformats.org/drawingml/2006/main" w="28575">
              <a:solidFill>
                <a:srgbClr val="17658A"/>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mooth val="0"/>
        </c:ser>
        <c:ser>
          <c:idx val="1"/>
          <c:order val="1"/>
          <c:tx>
            <c:v>A = MK</c:v>
          </c:tx>
          <c:spPr>
            <a:ln xmlns:a="http://schemas.openxmlformats.org/drawingml/2006/main" w="28575">
              <a:solidFill>
                <a:srgbClr val="20665B"/>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5</c:v>
                </c:pt>
                <c:pt idx="1">
                  <c:v>30</c:v>
                </c:pt>
              </c:numCache>
            </c:numRef>
          </c:yVal>
          <c:smooth val="0"/>
        </c:ser>
        <c:ser>
          <c:idx val="2"/>
          <c:order val="2"/>
          <c:tx>
            <c:v>P = 25</c:v>
          </c:tx>
          <c:spPr>
            <a:ln xmlns:a="http://schemas.openxmlformats.org/drawingml/2006/main" w="19050">
              <a:solidFill>
                <a:srgbClr val="183247"/>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25</c:v>
                </c:pt>
                <c:pt idx="1">
                  <c:v>25</c:v>
                </c:pt>
              </c:numCache>
            </c:numRef>
          </c:yVal>
          <c:smooth val="0"/>
        </c:ser>
        <c:ser>
          <c:idx val="3"/>
          <c:order val="3"/>
          <c:tx>
            <c:v>Boekingsgrens</c:v>
          </c:tx>
          <c:spPr>
            <a:ln xmlns:a="http://schemas.openxmlformats.org/drawingml/2006/main" w="19050">
              <a:solidFill>
                <a:srgbClr val="445B6B"/>
              </a:solidFill>
              <a:prstDash val="dash"/>
            </a: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0</c:v>
                </c:pt>
                <c:pt idx="1">
                  <c:v>30</c:v>
                </c:pt>
              </c:numCache>
            </c:numRef>
          </c:yVal>
          <c:smooth val="0"/>
        </c:ser>
        <c:ser>
          <c:idx val="4"/>
          <c:order val="4"/>
          <c:tx>
            <c:v>Verliesgrens</c:v>
          </c:tx>
          <c:spPr>
            <a:ln xmlns:a="http://schemas.openxmlformats.org/drawingml/2006/main" w="28575">
              <a:solidFill>
                <a:srgbClr val="A94D16"/>
              </a:solidFill>
              <a:prstDash val="solid"/>
            </a:ln>
          </c:spPr>
          <c:marker>
            <c:symbol val="none"/>
          </c:marker>
          <c:xVal>
            <c:numRef>
              <c:f>'Chart Data'!$I$2:$I$5</c:f>
              <c:numCache>
                <c:formatCode>General</c:formatCode>
                <c:ptCount val="4"/>
                <c:pt idx="0">
                  <c:v>40</c:v>
                </c:pt>
                <c:pt idx="1">
                  <c:v>60</c:v>
                </c:pt>
                <c:pt idx="2">
                  <c:v>40</c:v>
                </c:pt>
                <c:pt idx="3">
                  <c:v>40</c:v>
                </c:pt>
              </c:numCache>
            </c:numRef>
          </c:xVal>
          <c:yVal>
            <c:numRef>
              <c:f>'Chart Data'!$J$2:$J$5</c:f>
              <c:numCache>
                <c:formatCode>0</c:formatCode>
                <c:ptCount val="4"/>
                <c:pt idx="0">
                  <c:v>30</c:v>
                </c:pt>
                <c:pt idx="1">
                  <c:v>20</c:v>
                </c:pt>
                <c:pt idx="2">
                  <c:v>15</c:v>
                </c:pt>
                <c:pt idx="3">
                  <c:v>30</c:v>
                </c:pt>
              </c:numCache>
            </c:numRef>
          </c:yVal>
          <c:smooth val="0"/>
        </c:ser>
        <c:ser>
          <c:idx val="5"/>
          <c:order val="5"/>
          <c:tx>
            <c:v>E</c:v>
          </c:tx>
          <c:spPr>
            <a:ln xmlns:a="http://schemas.openxmlformats.org/drawingml/2006/main" w="0">
              <a:noFill/>
            </a:ln>
          </c:spPr>
          <c:marker>
            <c:symbol val="circl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Data'!$K$2:$K$2</c:f>
              <c:numCache>
                <c:formatCode>General</c:formatCode>
                <c:ptCount val="1"/>
                <c:pt idx="0">
                  <c:v>60</c:v>
                </c:pt>
              </c:numCache>
            </c:numRef>
          </c:xVal>
          <c:yVal>
            <c:numRef>
              <c:f>'Chart Data'!$L$2:$L$2</c:f>
              <c:numCache>
                <c:formatCode>0</c:formatCode>
                <c:ptCount val="1"/>
                <c:pt idx="0">
                  <c:v>20</c:v>
                </c:pt>
              </c:numCache>
            </c:numRef>
          </c:yVal>
          <c:smooth val="0"/>
        </c:ser>
        <c:ser>
          <c:idx val="6"/>
          <c:order val="6"/>
          <c:tx>
            <c:v>V</c:v>
          </c:tx>
          <c:spPr>
            <a:ln xmlns:a="http://schemas.openxmlformats.org/drawingml/2006/main" w="0">
              <a:noFill/>
            </a:ln>
          </c:spPr>
          <c:marker>
            <c:symbol val="none"/>
            <c:size val="7"/>
            <c:spPr>
              <a:solidFill xmlns:a="http://schemas.openxmlformats.org/drawingml/2006/main">
                <a:srgbClr val="17658A"/>
              </a:solidFill>
            </c:spPr>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90</c:v>
                </c:pt>
              </c:numCache>
            </c:numRef>
          </c:xVal>
          <c:yVal>
            <c:numRef>
              <c:f>'Chart Data'!$N$2:$N$2</c:f>
              <c:numCache>
                <c:formatCode>0</c:formatCode>
                <c:ptCount val="1"/>
                <c:pt idx="0">
                  <c:v>5</c:v>
                </c:pt>
              </c:numCache>
            </c:numRef>
          </c:yVal>
          <c:smooth val="0"/>
        </c:ser>
        <c:ser>
          <c:idx val="7"/>
          <c:order val="7"/>
          <c:tx>
            <c:v>A = MK</c:v>
          </c:tx>
          <c:spPr>
            <a:ln xmlns:a="http://schemas.openxmlformats.org/drawingml/2006/main" w="0">
              <a:noFill/>
            </a:ln>
          </c:spPr>
          <c:marker>
            <c:symbol val="none"/>
            <c:size val="7"/>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87</c:v>
                </c:pt>
              </c:numCache>
            </c:numRef>
          </c:xVal>
          <c:yVal>
            <c:numRef>
              <c:f>'Chart Data'!$P$2:$P$2</c:f>
              <c:numCache>
                <c:formatCode>0</c:formatCode>
                <c:ptCount val="1"/>
                <c:pt idx="0">
                  <c:v>26.75</c:v>
                </c:pt>
              </c:numCache>
            </c:numRef>
          </c:yVal>
          <c:smooth val="0"/>
        </c:ser>
        <c:ser>
          <c:idx val="8"/>
          <c:order val="8"/>
          <c:tx>
            <c:v>P = 25</c:v>
          </c:tx>
          <c:spPr>
            <a:ln xmlns:a="http://schemas.openxmlformats.org/drawingml/2006/main" w="0">
              <a:noFill/>
            </a:ln>
          </c:spPr>
          <c:marker>
            <c:symbol val="none"/>
            <c:size val="7"/>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P = 25</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b"/>
              <c:showLegendKey val="0"/>
              <c:showVal val="0"/>
              <c:showCatName val="0"/>
              <c:showSerName val="0"/>
              <c:showPercent val="0"/>
              <c:showBubbleSize val="0"/>
            </c:dLbl>
          </c:dLbls>
          <c:xVal>
            <c:numRef>
              <c:f>'Chart Data'!$Q$2:$Q$2</c:f>
              <c:numCache>
                <c:formatCode>General</c:formatCode>
                <c:ptCount val="1"/>
                <c:pt idx="0">
                  <c:v>88</c:v>
                </c:pt>
              </c:numCache>
            </c:numRef>
          </c:xVal>
          <c:yVal>
            <c:numRef>
              <c:f>'Chart Data'!$R$2:$R$2</c:f>
              <c:numCache>
                <c:formatCode>0</c:formatCode>
                <c:ptCount val="1"/>
                <c:pt idx="0">
                  <c:v>25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3 Pareto-efficiëntie en welvaartsverlies">
            <a:extLst xmlns:a="http://schemas.openxmlformats.org/drawingml/2006/main">
              <a:ext uri="{FF2B5EF4-FFF2-40B4-BE49-F238E27FC236}">
                <a16:creationId xmlns:a16="http://schemas.microsoft.com/office/drawing/2014/main" id="{B5A85F5F-8049-4D9F-B566-9260EF3A95C0}"/>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§2.3.3 Pareto-efficiëntie en welvaartsverlies</a:t>
            </a:r>
          </a:p>
        </p:txBody>
      </p:sp>
      <p:sp>
        <p:nvSpPr>
          <p:cNvPr id="2" name="">
            <a:extLst xmlns:a="http://schemas.openxmlformats.org/drawingml/2006/main">
              <a:ext uri="{FF2B5EF4-FFF2-40B4-BE49-F238E27FC236}">
                <a16:creationId xmlns:a16="http://schemas.microsoft.com/office/drawing/2014/main" id="{A845D476-505E-4415-9BE1-DE369AAFE0F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F2862AA4-F1F2-4DFC-8AD5-0D25A612A51A}"/>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1">
            <a:extLst xmlns:a="http://schemas.openxmlformats.org/drawingml/2006/main">
              <a:ext uri="{FF2B5EF4-FFF2-40B4-BE49-F238E27FC236}">
                <a16:creationId xmlns:a16="http://schemas.microsoft.com/office/drawing/2014/main" id="{4568BC3C-7711-4E8F-99A8-9A7ACE584E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2B624E6D-3696-4C86-ABB2-CC5135BBF24B}"/>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B78AE691-72F7-4EEF-8381-7DD2EE6D05F0}"/>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A297E61-C9CF-4A29-A6DE-8A4DB8EE9DA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239C69A6-3E80-472E-B6C4-2A56A57D3C53}"/>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27662A6-02F3-45D2-9C99-3467AC8F05C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FC25D38D-BE16-446C-9848-FAEB13785FD8}"/>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2D8B39F6-6E64-492C-8390-6CCA4210803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CBA4FC2-F38B-4C9E-800B-C16C8B80BF0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ED63BEB-45FD-4730-A5C9-83D7FBC0A1BF}"/>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DA0EDD87-77D5-4734-9409-8DF7CB2AE8E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F761FDD5-2E5C-4D6B-8A0F-E046D4BB3C3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D0C2242-8B6D-4C51-8F8A-EA11E6127A1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2A0C8D92-4F23-4764-9A5A-26CCA94619C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D093035-8498-4F83-8148-2D1A77D38B6E}"/>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6.</a:t>
            </a:r>
          </a:p>
        </p:txBody>
      </p:sp>
      <p:sp>
        <p:nvSpPr>
          <p:cNvPr id="19" name="route-number-7">
            <a:extLst xmlns:a="http://schemas.openxmlformats.org/drawingml/2006/main">
              <a:ext uri="{FF2B5EF4-FFF2-40B4-BE49-F238E27FC236}">
                <a16:creationId xmlns:a16="http://schemas.microsoft.com/office/drawing/2014/main" id="{BBCB292D-DA2B-4954-920D-B4C1BCFCBCA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94AC3DA-33D9-4C83-9EA1-8CFAC6637ED4}"/>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526193E-8CC9-4F97-B65D-4C91200A4B49}"/>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4124B43-750C-4071-9F2A-C7A11186395F}"/>
              </a:ext>
            </a:extLst>
          </p:cNvPr>
          <p:cNvSpPr>
            <a:spLocks xmlns:a="http://schemas.openxmlformats.org/drawingml/2006/main" noGrp="1"/>
          </p:cNvSpPr>
          <p:nvPr/>
        </p:nvSpPr>
        <p:spPr>
          <a:xfrm xmlns:a="http://schemas.openxmlformats.org/drawingml/2006/main">
            <a:off x="9258300" y="2324100"/>
            <a:ext cx="541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Werkelijke handel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Surplus en verlies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Pareto en eerlijkheid beoordelen.</a:t>
            </a:r>
          </a:p>
        </p:txBody>
      </p:sp>
      <p:sp>
        <p:nvSpPr>
          <p:cNvPr id="23" name="">
            <a:extLst xmlns:a="http://schemas.openxmlformats.org/drawingml/2006/main">
              <a:ext uri="{FF2B5EF4-FFF2-40B4-BE49-F238E27FC236}">
                <a16:creationId xmlns:a16="http://schemas.microsoft.com/office/drawing/2014/main" id="{FBE2CA67-A50C-4B17-A962-AE103D2CE777}"/>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BA0921C-43E2-4406-83F0-084FF2F2C8EA}"/>
              </a:ext>
            </a:extLst>
          </p:cNvPr>
          <p:cNvSpPr>
            <a:spLocks xmlns:a="http://schemas.openxmlformats.org/drawingml/2006/main" noGrp="1"/>
          </p:cNvSpPr>
          <p:nvPr/>
        </p:nvSpPr>
        <p:spPr>
          <a:xfrm xmlns:a="http://schemas.openxmlformats.org/drawingml/2006/main">
            <a:off x="9258300" y="38385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201408F-A7FB-4345-B304-41F01559AC58}"/>
              </a:ext>
            </a:extLst>
          </p:cNvPr>
          <p:cNvSpPr>
            <a:spLocks xmlns:a="http://schemas.openxmlformats.org/drawingml/2006/main" noGrp="1"/>
          </p:cNvSpPr>
          <p:nvPr/>
        </p:nvSpPr>
        <p:spPr>
          <a:xfrm xmlns:a="http://schemas.openxmlformats.org/drawingml/2006/main">
            <a:off x="9258300" y="4371975"/>
            <a:ext cx="5410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97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94</a:t>
            </a:r>
          </a:p>
        </p:txBody>
      </p:sp>
      <p:sp>
        <p:nvSpPr>
          <p:cNvPr id="26" name="">
            <a:extLst xmlns:a="http://schemas.openxmlformats.org/drawingml/2006/main">
              <a:ext uri="{FF2B5EF4-FFF2-40B4-BE49-F238E27FC236}">
                <a16:creationId xmlns:a16="http://schemas.microsoft.com/office/drawing/2014/main" id="{55EC9FAF-EA6B-4C84-ABE6-CA9F199F2486}"/>
              </a:ext>
            </a:extLst>
          </p:cNvPr>
          <p:cNvSpPr>
            <a:spLocks xmlns:a="http://schemas.openxmlformats.org/drawingml/2006/main" noGrp="1"/>
          </p:cNvSpPr>
          <p:nvPr/>
        </p:nvSpPr>
        <p:spPr>
          <a:xfrm xmlns:a="http://schemas.openxmlformats.org/drawingml/2006/main">
            <a:off x="9258300" y="55245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203943F-32A3-426A-B61B-5B54468E547F}"/>
              </a:ext>
            </a:extLst>
          </p:cNvPr>
          <p:cNvSpPr>
            <a:spLocks xmlns:a="http://schemas.openxmlformats.org/drawingml/2006/main" noGrp="1"/>
          </p:cNvSpPr>
          <p:nvPr/>
        </p:nvSpPr>
        <p:spPr>
          <a:xfrm xmlns:a="http://schemas.openxmlformats.org/drawingml/2006/main">
            <a:off x="9258300" y="58102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4601C7F-71C3-4C8A-B6C8-D598603EBA08}"/>
              </a:ext>
            </a:extLst>
          </p:cNvPr>
          <p:cNvSpPr>
            <a:spLocks xmlns:a="http://schemas.openxmlformats.org/drawingml/2006/main" noGrp="1"/>
          </p:cNvSpPr>
          <p:nvPr/>
        </p:nvSpPr>
        <p:spPr>
          <a:xfrm xmlns:a="http://schemas.openxmlformats.org/drawingml/2006/main">
            <a:off x="9258300" y="6372225"/>
            <a:ext cx="5410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§2.3.3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6</a:t>
            </a:r>
          </a:p>
        </p:txBody>
      </p:sp>
    </p:spTree>
    <p:extLst>
      <p:ext uri="{BB962C8B-B14F-4D97-AF65-F5344CB8AC3E}">
        <p14:creationId xmlns:p14="http://schemas.microsoft.com/office/powerpoint/2010/main" val="16049165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esdoelen en voorkennis">
            <a:extLst xmlns:a="http://schemas.openxmlformats.org/drawingml/2006/main">
              <a:ext uri="{FF2B5EF4-FFF2-40B4-BE49-F238E27FC236}">
                <a16:creationId xmlns:a16="http://schemas.microsoft.com/office/drawing/2014/main" id="{2EC55685-E826-405F-936B-4C9294F58166}"/>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Lesdoelen en voorkennis</a:t>
            </a:r>
          </a:p>
        </p:txBody>
      </p:sp>
      <p:sp>
        <p:nvSpPr>
          <p:cNvPr id="2" name="">
            <a:extLst xmlns:a="http://schemas.openxmlformats.org/drawingml/2006/main">
              <a:ext uri="{FF2B5EF4-FFF2-40B4-BE49-F238E27FC236}">
                <a16:creationId xmlns:a16="http://schemas.microsoft.com/office/drawing/2014/main" id="{D192A160-D240-4E3B-B31A-DB03AC4EEB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4111677F-6E69-4B77-8030-3F324FCA7B80}"/>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2">
            <a:extLst xmlns:a="http://schemas.openxmlformats.org/drawingml/2006/main">
              <a:ext uri="{FF2B5EF4-FFF2-40B4-BE49-F238E27FC236}">
                <a16:creationId xmlns:a16="http://schemas.microsoft.com/office/drawing/2014/main" id="{A4B13D75-7980-47BF-8AD5-E4C7D03FC07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3" name=""/>
          <p:cNvGraphicFramePr/>
          <p:nvPr/>
        </p:nvGraphicFramePr>
        <p:xfrm>
          <a:off xmlns:a="http://schemas.openxmlformats.org/drawingml/2006/main" x="571500" y="1952625"/>
          <a:ext xmlns:a="http://schemas.openxmlformats.org/drawingml/2006/main" cx="14097000" cy="3238500"/>
        </p:xfrm>
        <a:graphic xmlns:a="http://schemas.openxmlformats.org/drawingml/2006/main">
          <a:graphicData uri="http://schemas.openxmlformats.org/drawingml/2006/table">
            <a:tbl>
              <a:tblPr/>
              <a:tblGrid>
                <a:gridCol w="7905750"/>
                <a:gridCol w="6191250"/>
              </a:tblGrid>
              <a:tr h="809625">
                <a:tc>
                  <a:txBody>
                    <a:bodyPr lIns="152400" tIns="95250" rIns="133350" bIns="95250"/>
                    <a:lstStyle/>
                    <a:p>
                      <a:r>
                        <a:rPr sz="2475" b="1">
                          <a:solidFill>
                            <a:srgbClr val="FFFFFF"/>
                          </a:solidFill>
                          <a:latin typeface="Arial"/>
                          <a:ea typeface="Arial"/>
                          <a:cs typeface="Arial"/>
                        </a:rPr>
                        <a:t>Je leert</a:t>
                      </a:r>
                    </a:p>
                  </a:txBody>
                  <a:tcPr marL="91440" marR="91440" marT="45720" marB="45720" anchor="ctr">
                    <a:solidFill>
                      <a:srgbClr val="183247"/>
                    </a:solidFill>
                  </a:tcPr>
                </a:tc>
                <a:tc>
                  <a:txBody>
                    <a:bodyPr lIns="152400" tIns="95250" rIns="133350" bIns="95250"/>
                    <a:lstStyle/>
                    <a:p>
                      <a:r>
                        <a:rPr sz="2475" b="1">
                          <a:solidFill>
                            <a:srgbClr val="FFFFFF"/>
                          </a:solidFill>
                          <a:latin typeface="Arial"/>
                          <a:ea typeface="Arial"/>
                          <a:cs typeface="Arial"/>
                        </a:rPr>
                        <a:t>Je gebruikt al</a:t>
                      </a:r>
                    </a:p>
                  </a:txBody>
                  <a:tcPr marL="91440" marR="91440" marT="45720" marB="45720" anchor="ctr">
                    <a:solidFill>
                      <a:srgbClr val="183247"/>
                    </a:solidFill>
                  </a:tcPr>
                </a:tc>
              </a:tr>
              <a:tr h="809625">
                <a:tc>
                  <a:txBody>
                    <a:bodyPr lIns="152400" tIns="95250" rIns="133350" bIns="95250"/>
                    <a:lstStyle/>
                    <a:p>
                      <a:r>
                        <a:rPr sz="2475" b="0">
                          <a:solidFill>
                            <a:srgbClr val="183247"/>
                          </a:solidFill>
                          <a:latin typeface="Arial"/>
                          <a:ea typeface="Arial"/>
                          <a:cs typeface="Arial"/>
                        </a:rPr>
                        <a:t>Werkelijke handel en toewijzing bepalen</a:t>
                      </a:r>
                    </a:p>
                  </a:txBody>
                  <a:tcPr marL="91440" marR="91440" marT="45720" marB="45720" anchor="ctr">
                    <a:solidFill>
                      <a:srgbClr val="FFFFFF"/>
                    </a:solidFill>
                  </a:tcPr>
                </a:tc>
                <a:tc>
                  <a:txBody>
                    <a:bodyPr lIns="152400" tIns="95250" rIns="133350" bIns="95250"/>
                    <a:lstStyle/>
                    <a:p>
                      <a:r>
                        <a:rPr sz="2475" b="0">
                          <a:solidFill>
                            <a:srgbClr val="183247"/>
                          </a:solidFill>
                          <a:latin typeface="Arial"/>
                          <a:ea typeface="Arial"/>
                          <a:cs typeface="Arial"/>
                        </a:rPr>
                        <a:t>Functies invullen en Q berekenen</a:t>
                      </a:r>
                    </a:p>
                  </a:txBody>
                  <a:tcPr marL="91440" marR="91440" marT="45720" marB="45720" anchor="ctr">
                    <a:solidFill>
                      <a:srgbClr val="FFFFFF"/>
                    </a:solidFill>
                  </a:tcPr>
                </a:tc>
              </a:tr>
              <a:tr h="809625">
                <a:tc>
                  <a:txBody>
                    <a:bodyPr lIns="152400" tIns="95250" rIns="133350" bIns="95250"/>
                    <a:lstStyle/>
                    <a:p>
                      <a:r>
                        <a:rPr sz="2475" b="0">
                          <a:solidFill>
                            <a:srgbClr val="183247"/>
                          </a:solidFill>
                          <a:latin typeface="Arial"/>
                          <a:ea typeface="Arial"/>
                          <a:cs typeface="Arial"/>
                        </a:rPr>
                        <a:t>Afgekapt surplus en verlies berekenen</a:t>
                      </a:r>
                    </a:p>
                  </a:txBody>
                  <a:tcPr marL="91440" marR="91440" marT="45720" marB="45720" anchor="ctr">
                    <a:solidFill>
                      <a:srgbClr val="EFF4F7"/>
                    </a:solidFill>
                  </a:tcPr>
                </a:tc>
                <a:tc>
                  <a:txBody>
                    <a:bodyPr lIns="152400" tIns="95250" rIns="133350" bIns="95250"/>
                    <a:lstStyle/>
                    <a:p>
                      <a:r>
                        <a:rPr sz="2475" b="0">
                          <a:solidFill>
                            <a:srgbClr val="183247"/>
                          </a:solidFill>
                          <a:latin typeface="Arial"/>
                          <a:ea typeface="Arial"/>
                          <a:cs typeface="Arial"/>
                        </a:rPr>
                        <a:t>CS, PS en driehoeksoppervlakte</a:t>
                      </a:r>
                    </a:p>
                  </a:txBody>
                  <a:tcPr marL="91440" marR="91440" marT="45720" marB="45720" anchor="ctr">
                    <a:solidFill>
                      <a:srgbClr val="EFF4F7"/>
                    </a:solidFill>
                  </a:tcPr>
                </a:tc>
              </a:tr>
              <a:tr h="809625">
                <a:tc>
                  <a:txBody>
                    <a:bodyPr lIns="152400" tIns="95250" rIns="133350" bIns="95250"/>
                    <a:lstStyle/>
                    <a:p>
                      <a:r>
                        <a:rPr sz="2475" b="0">
                          <a:solidFill>
                            <a:srgbClr val="183247"/>
                          </a:solidFill>
                          <a:latin typeface="Arial"/>
                          <a:ea typeface="Arial"/>
                          <a:cs typeface="Arial"/>
                        </a:rPr>
                        <a:t>Een Paretoverbetering onderbouwen</a:t>
                      </a:r>
                    </a:p>
                  </a:txBody>
                  <a:tcPr marL="91440" marR="91440" marT="45720" marB="45720" anchor="ctr">
                    <a:solidFill>
                      <a:srgbClr val="FFFFFF"/>
                    </a:solidFill>
                  </a:tcPr>
                </a:tc>
                <a:tc>
                  <a:txBody>
                    <a:bodyPr lIns="152400" tIns="95250" rIns="133350" bIns="95250"/>
                    <a:lstStyle/>
                    <a:p>
                      <a:r>
                        <a:rPr sz="2475" b="0">
                          <a:solidFill>
                            <a:srgbClr val="183247"/>
                          </a:solidFill>
                          <a:latin typeface="Arial"/>
                          <a:ea typeface="Arial"/>
                          <a:cs typeface="Arial"/>
                        </a:rPr>
                        <a:t>Betalingsbereidheid en MK vergelijken</a:t>
                      </a:r>
                    </a:p>
                  </a:txBody>
                  <a:tcPr marL="91440" marR="91440" marT="45720" marB="45720" anchor="ctr">
                    <a:solidFill>
                      <a:srgbClr val="FFFFFF"/>
                    </a:solidFill>
                  </a:tcPr>
                </a:tc>
              </a:tr>
            </a:tbl>
          </a:graphicData>
        </a:graphic>
      </p:graphicFrame>
      <p:sp>
        <p:nvSpPr>
          <p:cNvPr id="6" name="CS: boven de prijs en onder de vraaglijn.">
            <a:extLst xmlns:a="http://schemas.openxmlformats.org/drawingml/2006/main">
              <a:ext uri="{FF2B5EF4-FFF2-40B4-BE49-F238E27FC236}">
                <a16:creationId xmlns:a16="http://schemas.microsoft.com/office/drawing/2014/main" id="{81698AB5-5DB2-49F5-A7DC-C2765F8EFD45}"/>
              </a:ext>
            </a:extLst>
          </p:cNvPr>
          <p:cNvSpPr>
            <a:spLocks xmlns:a="http://schemas.openxmlformats.org/drawingml/2006/main" noGrp="1"/>
          </p:cNvSpPr>
          <p:nvPr/>
        </p:nvSpPr>
        <p:spPr>
          <a:xfrm xmlns:a="http://schemas.openxmlformats.org/drawingml/2006/main">
            <a:off x="571500" y="57054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CS: boven de prijs en onder de vraaglijn.</a:t>
            </a:r>
          </a:p>
        </p:txBody>
      </p:sp>
      <p:sp>
        <p:nvSpPr>
          <p:cNvPr id="7" name="PS: onder de prijs en boven de MK-lijn. TS = CS + PS.">
            <a:extLst xmlns:a="http://schemas.openxmlformats.org/drawingml/2006/main">
              <a:ext uri="{FF2B5EF4-FFF2-40B4-BE49-F238E27FC236}">
                <a16:creationId xmlns:a16="http://schemas.microsoft.com/office/drawing/2014/main" id="{B5EE98A0-4A8D-4EF9-BA2C-F4B7AA4CEE08}"/>
              </a:ext>
            </a:extLst>
          </p:cNvPr>
          <p:cNvSpPr>
            <a:spLocks xmlns:a="http://schemas.openxmlformats.org/drawingml/2006/main" noGrp="1"/>
          </p:cNvSpPr>
          <p:nvPr/>
        </p:nvSpPr>
        <p:spPr>
          <a:xfrm xmlns:a="http://schemas.openxmlformats.org/drawingml/2006/main">
            <a:off x="571500" y="65151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PS: onder de prijs en boven de MK-lijn. TS = CS + PS.</a:t>
            </a:r>
          </a:p>
        </p:txBody>
      </p:sp>
      <p:sp>
        <p:nvSpPr>
          <p:cNvPr id="8" name="Eenheid: producten × euro per product = euro.">
            <a:extLst xmlns:a="http://schemas.openxmlformats.org/drawingml/2006/main">
              <a:ext uri="{FF2B5EF4-FFF2-40B4-BE49-F238E27FC236}">
                <a16:creationId xmlns:a16="http://schemas.microsoft.com/office/drawing/2014/main" id="{0C97B03E-0595-4AFF-A60A-26A452850BBC}"/>
              </a:ext>
            </a:extLst>
          </p:cNvPr>
          <p:cNvSpPr>
            <a:spLocks xmlns:a="http://schemas.openxmlformats.org/drawingml/2006/main" noGrp="1"/>
          </p:cNvSpPr>
          <p:nvPr/>
        </p:nvSpPr>
        <p:spPr>
          <a:xfrm xmlns:a="http://schemas.openxmlformats.org/drawingml/2006/main">
            <a:off x="571500" y="73342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Eenheid: producten × euro per product = euro.</a:t>
            </a:r>
          </a:p>
        </p:txBody>
      </p:sp>
    </p:spTree>
    <p:extLst>
      <p:ext uri="{BB962C8B-B14F-4D97-AF65-F5344CB8AC3E}">
        <p14:creationId xmlns:p14="http://schemas.microsoft.com/office/powerpoint/2010/main" val="6162585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ondvaartplaatsen: de markt en de boekingsregel">
            <a:extLst xmlns:a="http://schemas.openxmlformats.org/drawingml/2006/main">
              <a:ext uri="{FF2B5EF4-FFF2-40B4-BE49-F238E27FC236}">
                <a16:creationId xmlns:a16="http://schemas.microsoft.com/office/drawing/2014/main" id="{921B771F-9E23-4A61-B9CF-E38946C959D5}"/>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Rondvaartplaatsen: de markt en de boekingsregel</a:t>
            </a:r>
          </a:p>
        </p:txBody>
      </p:sp>
      <p:sp>
        <p:nvSpPr>
          <p:cNvPr id="2" name="">
            <a:extLst xmlns:a="http://schemas.openxmlformats.org/drawingml/2006/main">
              <a:ext uri="{FF2B5EF4-FFF2-40B4-BE49-F238E27FC236}">
                <a16:creationId xmlns:a16="http://schemas.microsoft.com/office/drawing/2014/main" id="{4159291E-A306-45D1-9524-DC74070AAB1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7B258840-5750-4BBB-BE12-31A74AFD0A64}"/>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3">
            <a:extLst xmlns:a="http://schemas.openxmlformats.org/drawingml/2006/main">
              <a:ext uri="{FF2B5EF4-FFF2-40B4-BE49-F238E27FC236}">
                <a16:creationId xmlns:a16="http://schemas.microsoft.com/office/drawing/2014/main" id="{9681DA79-E3DB-4013-AEE7-19DA88311A5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214C656A-8BFD-4AF2-9BBF-00D1E4DA0524}"/>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381250"/>
          <a:ext xmlns:a="http://schemas.openxmlformats.org/drawingml/2006/main" cx="14097000" cy="3190875"/>
        </p:xfrm>
        <a:graphic xmlns:a="http://schemas.openxmlformats.org/drawingml/2006/main">
          <a:graphicData uri="http://schemas.openxmlformats.org/drawingml/2006/table">
            <a:tbl>
              <a:tblPr/>
              <a:tblGrid>
                <a:gridCol w="7048500"/>
                <a:gridCol w="7048500"/>
              </a:tblGrid>
              <a:tr h="797719">
                <a:tc>
                  <a:txBody>
                    <a:bodyPr lIns="152400" tIns="95250" rIns="133350" bIns="95250"/>
                    <a:lstStyle/>
                    <a:p>
                      <a:r>
                        <a:rPr sz="2550" b="1">
                          <a:solidFill>
                            <a:srgbClr val="FFFFFF"/>
                          </a:solidFill>
                          <a:latin typeface="Arial"/>
                          <a:ea typeface="Arial"/>
                          <a:cs typeface="Arial"/>
                        </a:rPr>
                        <a:t>Markt in één boekingsronde</a:t>
                      </a:r>
                    </a:p>
                  </a:txBody>
                  <a:tcPr marL="91440" marR="91440" marT="45720" marB="45720" anchor="ctr">
                    <a:solidFill>
                      <a:srgbClr val="183247"/>
                    </a:solidFill>
                  </a:tcPr>
                </a:tc>
                <a:tc>
                  <a:txBody>
                    <a:bodyPr lIns="152400" tIns="95250" rIns="13335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r>
              <a:tr h="797719">
                <a:tc>
                  <a:txBody>
                    <a:bodyPr lIns="152400" tIns="95250" rIns="133350" bIns="95250"/>
                    <a:lstStyle/>
                    <a:p>
                      <a:r>
                        <a:rPr sz="2550" b="0">
                          <a:solidFill>
                            <a:srgbClr val="183247"/>
                          </a:solidFill>
                          <a:latin typeface="Arial"/>
                          <a:ea typeface="Arial"/>
                          <a:cs typeface="Arial"/>
                        </a:rPr>
                        <a:t>Vraag</a:t>
                      </a:r>
                    </a:p>
                  </a:txBody>
                  <a:tcPr marL="91440" marR="91440" marT="45720" marB="45720" anchor="ctr">
                    <a:solidFill>
                      <a:srgbClr val="FFFFFF"/>
                    </a:solidFill>
                  </a:tcPr>
                </a:tc>
                <a:tc>
                  <a:txBody>
                    <a:bodyPr lIns="152400" tIns="95250" rIns="133350" bIns="95250"/>
                    <a:lstStyle/>
                    <a:p>
                      <a:r>
                        <a:rPr sz="2550" b="0">
                          <a:solidFill>
                            <a:srgbClr val="183247"/>
                          </a:solidFill>
                          <a:latin typeface="Arial"/>
                          <a:ea typeface="Arial"/>
                          <a:cs typeface="Arial"/>
                        </a:rPr>
                        <a:t>P = 36 − 0,5Q</a:t>
                      </a:r>
                    </a:p>
                  </a:txBody>
                  <a:tcPr marL="91440" marR="91440" marT="45720" marB="45720" anchor="ctr">
                    <a:solidFill>
                      <a:srgbClr val="FFFFFF"/>
                    </a:solidFill>
                  </a:tcPr>
                </a:tc>
              </a:tr>
              <a:tr h="797719">
                <a:tc>
                  <a:txBody>
                    <a:bodyPr lIns="152400" tIns="95250" rIns="133350" bIns="95250"/>
                    <a:lstStyle/>
                    <a:p>
                      <a:r>
                        <a:rPr sz="2550" b="0">
                          <a:solidFill>
                            <a:srgbClr val="183247"/>
                          </a:solidFill>
                          <a:latin typeface="Arial"/>
                          <a:ea typeface="Arial"/>
                          <a:cs typeface="Arial"/>
                        </a:rPr>
                        <a:t>Aanbod = MK in dit model</a:t>
                      </a:r>
                    </a:p>
                  </a:txBody>
                  <a:tcPr marL="91440" marR="91440" marT="45720" marB="45720" anchor="ctr">
                    <a:solidFill>
                      <a:srgbClr val="EFF4F7"/>
                    </a:solidFill>
                  </a:tcPr>
                </a:tc>
                <a:tc>
                  <a:txBody>
                    <a:bodyPr lIns="152400" tIns="95250" rIns="133350" bIns="95250"/>
                    <a:lstStyle/>
                    <a:p>
                      <a:r>
                        <a:rPr sz="2550" b="0">
                          <a:solidFill>
                            <a:srgbClr val="183247"/>
                          </a:solidFill>
                          <a:latin typeface="Arial"/>
                          <a:ea typeface="Arial"/>
                          <a:cs typeface="Arial"/>
                        </a:rPr>
                        <a:t>P = 6 + 0,25Q</a:t>
                      </a:r>
                    </a:p>
                  </a:txBody>
                  <a:tcPr marL="91440" marR="91440" marT="45720" marB="45720" anchor="ctr">
                    <a:solidFill>
                      <a:srgbClr val="EFF4F7"/>
                    </a:solidFill>
                  </a:tcPr>
                </a:tc>
              </a:tr>
              <a:tr h="797719">
                <a:tc>
                  <a:txBody>
                    <a:bodyPr lIns="152400" tIns="95250" rIns="133350" bIns="95250"/>
                    <a:lstStyle/>
                    <a:p>
                      <a:r>
                        <a:rPr sz="2550" b="0">
                          <a:solidFill>
                            <a:srgbClr val="183247"/>
                          </a:solidFill>
                          <a:latin typeface="Arial"/>
                          <a:ea typeface="Arial"/>
                          <a:cs typeface="Arial"/>
                        </a:rPr>
                        <a:t>Reserveringsregel</a:t>
                      </a:r>
                    </a:p>
                  </a:txBody>
                  <a:tcPr marL="91440" marR="91440" marT="45720" marB="45720" anchor="ctr">
                    <a:solidFill>
                      <a:srgbClr val="FFFFFF"/>
                    </a:solidFill>
                  </a:tcPr>
                </a:tc>
                <a:tc>
                  <a:txBody>
                    <a:bodyPr lIns="152400" tIns="95250" rIns="133350" bIns="95250"/>
                    <a:lstStyle/>
                    <a:p>
                      <a:r>
                        <a:rPr sz="2550" b="0">
                          <a:solidFill>
                            <a:srgbClr val="183247"/>
                          </a:solidFill>
                          <a:latin typeface="Arial"/>
                          <a:ea typeface="Arial"/>
                          <a:cs typeface="Arial"/>
                        </a:rPr>
                        <a:t>P = € 18; maximaal 24 plaatsen</a:t>
                      </a:r>
                    </a:p>
                  </a:txBody>
                  <a:tcPr marL="91440" marR="91440" marT="45720" marB="45720" anchor="ctr">
                    <a:solidFill>
                      <a:srgbClr val="FFFFFF"/>
                    </a:solidFill>
                  </a:tcPr>
                </a:tc>
              </a:tr>
            </a:tbl>
          </a:graphicData>
        </a:graphic>
      </p:graphicFrame>
      <p:sp>
        <p:nvSpPr>
          <p:cNvPr id="7" name="P in euro per plaats. Q in plaatsen. Technisch zijn er minstens 4">
            <a:extLst xmlns:a="http://schemas.openxmlformats.org/drawingml/2006/main">
              <a:ext uri="{FF2B5EF4-FFF2-40B4-BE49-F238E27FC236}">
                <a16:creationId xmlns:a16="http://schemas.microsoft.com/office/drawing/2014/main" id="{91694964-0FC4-48A0-A44B-6E1AA0194734}"/>
              </a:ext>
            </a:extLst>
          </p:cNvPr>
          <p:cNvSpPr>
            <a:spLocks xmlns:a="http://schemas.openxmlformats.org/drawingml/2006/main" noGrp="1"/>
          </p:cNvSpPr>
          <p:nvPr/>
        </p:nvSpPr>
        <p:spPr>
          <a:xfrm xmlns:a="http://schemas.openxmlformats.org/drawingml/2006/main">
            <a:off x="571500" y="59055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in euro per plaats. Q in plaatsen. Technisch zijn er minstens 48 plaatsen.</a:t>
            </a:r>
          </a:p>
        </p:txBody>
      </p:sp>
      <p:sp>
        <p:nvSpPr>
          <p:cNvPr id="8" name="Kopers met de hoogste betalingsbereidheid kopen bij aanbieders me">
            <a:extLst xmlns:a="http://schemas.openxmlformats.org/drawingml/2006/main">
              <a:ext uri="{FF2B5EF4-FFF2-40B4-BE49-F238E27FC236}">
                <a16:creationId xmlns:a16="http://schemas.microsoft.com/office/drawing/2014/main" id="{27C6E2B4-F822-490D-A1DD-42F3453BE0FC}"/>
              </a:ext>
            </a:extLst>
          </p:cNvPr>
          <p:cNvSpPr>
            <a:spLocks xmlns:a="http://schemas.openxmlformats.org/drawingml/2006/main" noGrp="1"/>
          </p:cNvSpPr>
          <p:nvPr/>
        </p:nvSpPr>
        <p:spPr>
          <a:xfrm xmlns:a="http://schemas.openxmlformats.org/drawingml/2006/main">
            <a:off x="571500" y="6972300"/>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Kopers met de hoogste betalingsbereidheid kopen bij aanbieders met de laagste MK.</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Verruiming kost niets. Prijs, bestaande transacties en anderen blijven ongemoeid.</a:t>
            </a:r>
          </a:p>
        </p:txBody>
      </p:sp>
    </p:spTree>
    <p:extLst>
      <p:ext uri="{BB962C8B-B14F-4D97-AF65-F5344CB8AC3E}">
        <p14:creationId xmlns:p14="http://schemas.microsoft.com/office/powerpoint/2010/main" val="12646587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Vrij evenwicht: twee surplusdriehoeken">
            <a:extLst xmlns:a="http://schemas.openxmlformats.org/drawingml/2006/main">
              <a:ext uri="{FF2B5EF4-FFF2-40B4-BE49-F238E27FC236}">
                <a16:creationId xmlns:a16="http://schemas.microsoft.com/office/drawing/2014/main" id="{53473F8B-C6E3-445B-898B-3E10DB78041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Vrij evenwicht: twee surplusdriehoeken</a:t>
            </a:r>
          </a:p>
        </p:txBody>
      </p:sp>
      <p:sp>
        <p:nvSpPr>
          <p:cNvPr id="2" name="">
            <a:extLst xmlns:a="http://schemas.openxmlformats.org/drawingml/2006/main">
              <a:ext uri="{FF2B5EF4-FFF2-40B4-BE49-F238E27FC236}">
                <a16:creationId xmlns:a16="http://schemas.microsoft.com/office/drawing/2014/main" id="{83DE253C-D067-4D02-9F17-FCF1786907A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C67B0188-CFB7-49C2-9DC8-461B71F5DE13}"/>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4">
            <a:extLst xmlns:a="http://schemas.openxmlformats.org/drawingml/2006/main">
              <a:ext uri="{FF2B5EF4-FFF2-40B4-BE49-F238E27FC236}">
                <a16:creationId xmlns:a16="http://schemas.microsoft.com/office/drawing/2014/main" id="{8D0B75C5-2200-40DA-BF40-3E61C35BEA6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8C32D58C-6C16-47EB-B710-FE9A877E548F}"/>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CS vrije markt">
            <a:extLst xmlns:a="http://schemas.openxmlformats.org/drawingml/2006/main">
              <a:ext uri="{FF2B5EF4-FFF2-40B4-BE49-F238E27FC236}">
                <a16:creationId xmlns:a16="http://schemas.microsoft.com/office/drawing/2014/main" id="{EC67F77F-139A-46E8-B51E-EC7A78B04CCF}"/>
              </a:ext>
            </a:extLst>
          </p:cNvPr>
          <p:cNvSpPr>
            <a:spLocks xmlns:a="http://schemas.openxmlformats.org/drawingml/2006/main" noGrp="1"/>
          </p:cNvSpPr>
          <p:nvPr/>
        </p:nvSpPr>
        <p:spPr>
          <a:xfrm xmlns:a="http://schemas.openxmlformats.org/drawingml/2006/main">
            <a:off x="1657350" y="3213640"/>
            <a:ext cx="4222750" cy="2128361"/>
          </a:xfrm>
          <a:custGeom xmlns:a="http://schemas.openxmlformats.org/drawingml/2006/main">
            <a:pathLst>
              <a:path w="4222750" h="2128361">
                <a:moveTo>
                  <a:pt x="0" y="2128361"/>
                </a:moveTo>
                <a:lnTo>
                  <a:pt x="0" y="0"/>
                </a:lnTo>
                <a:lnTo>
                  <a:pt x="4222750" y="2128361"/>
                </a:lnTo>
                <a:close/>
              </a:path>
            </a:pathLst>
          </a:custGeom>
          <a:solidFill xmlns:a="http://schemas.openxmlformats.org/drawingml/2006/main">
            <a:srgbClr val="DCEAF3"/>
          </a:solidFill>
          <a:ln xmlns:a="http://schemas.openxmlformats.org/drawingml/2006/main" w="0">
            <a:noFill/>
          </a:ln>
        </p:spPr>
      </p:sp>
      <p:sp>
        <p:nvSpPr>
          <p:cNvPr id="7" name="PS vrije markt">
            <a:extLst xmlns:a="http://schemas.openxmlformats.org/drawingml/2006/main">
              <a:ext uri="{FF2B5EF4-FFF2-40B4-BE49-F238E27FC236}">
                <a16:creationId xmlns:a16="http://schemas.microsoft.com/office/drawing/2014/main" id="{BB1ACE76-EFC1-445B-98E4-245FB19AD864}"/>
              </a:ext>
            </a:extLst>
          </p:cNvPr>
          <p:cNvSpPr>
            <a:spLocks xmlns:a="http://schemas.openxmlformats.org/drawingml/2006/main" noGrp="1"/>
          </p:cNvSpPr>
          <p:nvPr/>
        </p:nvSpPr>
        <p:spPr>
          <a:xfrm xmlns:a="http://schemas.openxmlformats.org/drawingml/2006/main">
            <a:off x="1657350" y="5342001"/>
            <a:ext cx="4222750" cy="1064181"/>
          </a:xfrm>
          <a:custGeom xmlns:a="http://schemas.openxmlformats.org/drawingml/2006/main">
            <a:pathLst>
              <a:path w="4222750" h="1064181">
                <a:moveTo>
                  <a:pt x="0" y="1064181"/>
                </a:moveTo>
                <a:lnTo>
                  <a:pt x="0" y="0"/>
                </a:lnTo>
                <a:lnTo>
                  <a:pt x="4222750" y="0"/>
                </a:lnTo>
                <a:close/>
              </a:path>
            </a:pathLst>
          </a:custGeom>
          <a:solidFill xmlns:a="http://schemas.openxmlformats.org/drawingml/2006/main">
            <a:srgbClr val="DCEDE7"/>
          </a:solidFill>
          <a:ln xmlns:a="http://schemas.openxmlformats.org/drawingml/2006/main" w="0">
            <a:noFill/>
          </a:ln>
        </p:spPr>
      </p:sp>
      <p:graphicFrame>
        <p:nvGraphicFramePr>
          <p:cNvPr id="20"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a64544d3ba424cf8"/>
          </a:graphicData>
        </a:graphic>
      </p:graphicFrame>
      <p:sp>
        <p:nvSpPr>
          <p:cNvPr id="9" name="36 − 0,5Q = 6 + 0,25Q&#10;30 = 0,75Q&#10;Qe = 40; Pe = € 16">
            <a:extLst xmlns:a="http://schemas.openxmlformats.org/drawingml/2006/main">
              <a:ext uri="{FF2B5EF4-FFF2-40B4-BE49-F238E27FC236}">
                <a16:creationId xmlns:a16="http://schemas.microsoft.com/office/drawing/2014/main" id="{DE6B4DB6-4A86-41C6-962A-86C05DDB5F09}"/>
              </a:ext>
            </a:extLst>
          </p:cNvPr>
          <p:cNvSpPr>
            <a:spLocks xmlns:a="http://schemas.openxmlformats.org/drawingml/2006/main" noGrp="1"/>
          </p:cNvSpPr>
          <p:nvPr/>
        </p:nvSpPr>
        <p:spPr>
          <a:xfrm xmlns:a="http://schemas.openxmlformats.org/drawingml/2006/main">
            <a:off x="10001250" y="2495550"/>
            <a:ext cx="4667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36 − 0,5Q = 6 + 0,25Q</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30 = 0,75Q</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Qe = 40; Pe = € 16</a:t>
            </a:r>
          </a:p>
        </p:txBody>
      </p:sp>
      <p:sp>
        <p:nvSpPr>
          <p:cNvPr id="10" name="CS = ½ × 40 × (36 − 16)&#10;= € 400">
            <a:extLst xmlns:a="http://schemas.openxmlformats.org/drawingml/2006/main">
              <a:ext uri="{FF2B5EF4-FFF2-40B4-BE49-F238E27FC236}">
                <a16:creationId xmlns:a16="http://schemas.microsoft.com/office/drawing/2014/main" id="{0B714AC2-B095-4F0E-A501-DA8A40D4EBDE}"/>
              </a:ext>
            </a:extLst>
          </p:cNvPr>
          <p:cNvSpPr>
            <a:spLocks xmlns:a="http://schemas.openxmlformats.org/drawingml/2006/main" noGrp="1"/>
          </p:cNvSpPr>
          <p:nvPr/>
        </p:nvSpPr>
        <p:spPr>
          <a:xfrm xmlns:a="http://schemas.openxmlformats.org/drawingml/2006/main">
            <a:off x="10001250" y="4362450"/>
            <a:ext cx="4667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CS = ½ × 40 × (36 − 16)</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 € 400</a:t>
            </a:r>
          </a:p>
        </p:txBody>
      </p:sp>
      <p:sp>
        <p:nvSpPr>
          <p:cNvPr id="11" name="PS = ½ × 40 × (16 − 6)&#10;= € 200">
            <a:extLst xmlns:a="http://schemas.openxmlformats.org/drawingml/2006/main">
              <a:ext uri="{FF2B5EF4-FFF2-40B4-BE49-F238E27FC236}">
                <a16:creationId xmlns:a16="http://schemas.microsoft.com/office/drawing/2014/main" id="{B366BDAE-A736-4319-92DB-B4F44DAB0EE7}"/>
              </a:ext>
            </a:extLst>
          </p:cNvPr>
          <p:cNvSpPr>
            <a:spLocks xmlns:a="http://schemas.openxmlformats.org/drawingml/2006/main" noGrp="1"/>
          </p:cNvSpPr>
          <p:nvPr/>
        </p:nvSpPr>
        <p:spPr>
          <a:xfrm xmlns:a="http://schemas.openxmlformats.org/drawingml/2006/main">
            <a:off x="10001250" y="5734050"/>
            <a:ext cx="4667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PS = ½ × 40 × (16 − 6)</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 € 200</a:t>
            </a:r>
          </a:p>
        </p:txBody>
      </p:sp>
      <p:sp>
        <p:nvSpPr>
          <p:cNvPr id="12" name="TS = 400 + 200 = € 600">
            <a:extLst xmlns:a="http://schemas.openxmlformats.org/drawingml/2006/main">
              <a:ext uri="{FF2B5EF4-FFF2-40B4-BE49-F238E27FC236}">
                <a16:creationId xmlns:a16="http://schemas.microsoft.com/office/drawing/2014/main" id="{E87A7278-4486-4BAF-A772-BFE5E4A20B46}"/>
              </a:ext>
            </a:extLst>
          </p:cNvPr>
          <p:cNvSpPr>
            <a:spLocks xmlns:a="http://schemas.openxmlformats.org/drawingml/2006/main" noGrp="1"/>
          </p:cNvSpPr>
          <p:nvPr/>
        </p:nvSpPr>
        <p:spPr>
          <a:xfrm xmlns:a="http://schemas.openxmlformats.org/drawingml/2006/main">
            <a:off x="10001250" y="71818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TS = 400 + 200 = € 600</a:t>
            </a:r>
          </a:p>
        </p:txBody>
      </p:sp>
    </p:spTree>
    <p:extLst>
      <p:ext uri="{BB962C8B-B14F-4D97-AF65-F5344CB8AC3E}">
        <p14:creationId xmlns:p14="http://schemas.microsoft.com/office/powerpoint/2010/main" val="7743061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evraagd, aangeboden en werkelijk geboekt">
            <a:extLst xmlns:a="http://schemas.openxmlformats.org/drawingml/2006/main">
              <a:ext uri="{FF2B5EF4-FFF2-40B4-BE49-F238E27FC236}">
                <a16:creationId xmlns:a16="http://schemas.microsoft.com/office/drawing/2014/main" id="{1C8C5612-C131-4A5F-B987-01F81F49DEB4}"/>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Gevraagd, aangeboden en werkelijk geboekt</a:t>
            </a:r>
          </a:p>
        </p:txBody>
      </p:sp>
      <p:sp>
        <p:nvSpPr>
          <p:cNvPr id="2" name="">
            <a:extLst xmlns:a="http://schemas.openxmlformats.org/drawingml/2006/main">
              <a:ext uri="{FF2B5EF4-FFF2-40B4-BE49-F238E27FC236}">
                <a16:creationId xmlns:a16="http://schemas.microsoft.com/office/drawing/2014/main" id="{1FE430A7-8242-4BD2-9A9C-7BFCF8C59B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1970F822-71FA-41F2-B747-639C44D9D901}"/>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5">
            <a:extLst xmlns:a="http://schemas.openxmlformats.org/drawingml/2006/main">
              <a:ext uri="{FF2B5EF4-FFF2-40B4-BE49-F238E27FC236}">
                <a16:creationId xmlns:a16="http://schemas.microsoft.com/office/drawing/2014/main" id="{B45049E4-83DB-43BF-B527-76232A72DC8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3AD21A6C-CA6F-45BE-9736-A281B70AFEE6}"/>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447925"/>
          <a:ext xmlns:a="http://schemas.openxmlformats.org/drawingml/2006/main" cx="14097000" cy="3924300"/>
        </p:xfrm>
        <a:graphic xmlns:a="http://schemas.openxmlformats.org/drawingml/2006/main">
          <a:graphicData uri="http://schemas.openxmlformats.org/drawingml/2006/table">
            <a:tbl>
              <a:tblPr/>
              <a:tblGrid>
                <a:gridCol w="3333750"/>
                <a:gridCol w="6286500"/>
                <a:gridCol w="4476750"/>
              </a:tblGrid>
              <a:tr h="784860">
                <a:tc>
                  <a:txBody>
                    <a:bodyPr lIns="152400" tIns="95250" rIns="133350" bIns="95250"/>
                    <a:lstStyle/>
                    <a:p>
                      <a:r>
                        <a:rPr sz="2325" b="1">
                          <a:solidFill>
                            <a:srgbClr val="FFFFFF"/>
                          </a:solidFill>
                          <a:latin typeface="Arial"/>
                          <a:ea typeface="Arial"/>
                          <a:cs typeface="Arial"/>
                        </a:rPr>
                        <a:t>Bij P = € 18</a:t>
                      </a:r>
                    </a:p>
                  </a:txBody>
                  <a:tcPr marL="91440" marR="91440" marT="45720" marB="45720" anchor="ctr">
                    <a:solidFill>
                      <a:srgbClr val="183247"/>
                    </a:solidFill>
                  </a:tcPr>
                </a:tc>
                <a:tc>
                  <a:txBody>
                    <a:bodyPr lIns="152400" tIns="95250" rIns="133350" bIns="95250"/>
                    <a:lstStyle/>
                    <a:p>
                      <a:r>
                        <a:rPr sz="2325" b="1">
                          <a:solidFill>
                            <a:srgbClr val="FFFFFF"/>
                          </a:solidFill>
                          <a:latin typeface="Arial"/>
                          <a:ea typeface="Arial"/>
                          <a:cs typeface="Arial"/>
                        </a:rPr>
                        <a:t>Berekening of gegeven</a:t>
                      </a:r>
                    </a:p>
                  </a:txBody>
                  <a:tcPr marL="91440" marR="91440" marT="45720" marB="45720" anchor="ctr">
                    <a:solidFill>
                      <a:srgbClr val="183247"/>
                    </a:solidFill>
                  </a:tcPr>
                </a:tc>
                <a:tc>
                  <a:txBody>
                    <a:bodyPr lIns="152400" tIns="95250" rIns="133350" bIns="95250"/>
                    <a:lstStyle/>
                    <a:p>
                      <a:r>
                        <a:rPr sz="2325" b="1">
                          <a:solidFill>
                            <a:srgbClr val="FFFFFF"/>
                          </a:solidFill>
                          <a:latin typeface="Arial"/>
                          <a:ea typeface="Arial"/>
                          <a:cs typeface="Arial"/>
                        </a:rPr>
                        <a:t>Hoeveelheid</a:t>
                      </a:r>
                    </a:p>
                  </a:txBody>
                  <a:tcPr marL="91440" marR="91440" marT="45720" marB="45720" anchor="ctr">
                    <a:solidFill>
                      <a:srgbClr val="183247"/>
                    </a:solidFill>
                  </a:tcPr>
                </a:tc>
              </a:tr>
              <a:tr h="784860">
                <a:tc>
                  <a:txBody>
                    <a:bodyPr lIns="152400" tIns="95250" rIns="133350" bIns="95250"/>
                    <a:lstStyle/>
                    <a:p>
                      <a:r>
                        <a:rPr sz="2325" b="0">
                          <a:solidFill>
                            <a:srgbClr val="183247"/>
                          </a:solidFill>
                          <a:latin typeface="Arial"/>
                          <a:ea typeface="Arial"/>
                          <a:cs typeface="Arial"/>
                        </a:rPr>
                        <a:t>Vraag</a:t>
                      </a:r>
                    </a:p>
                  </a:txBody>
                  <a:tcPr marL="91440" marR="91440" marT="45720" marB="45720" anchor="ctr">
                    <a:solidFill>
                      <a:srgbClr val="FFFFFF"/>
                    </a:solidFill>
                  </a:tcPr>
                </a:tc>
                <a:tc>
                  <a:txBody>
                    <a:bodyPr lIns="152400" tIns="95250" rIns="133350" bIns="95250"/>
                    <a:lstStyle/>
                    <a:p>
                      <a:r>
                        <a:rPr sz="2325" b="0">
                          <a:solidFill>
                            <a:srgbClr val="183247"/>
                          </a:solidFill>
                          <a:latin typeface="Arial"/>
                          <a:ea typeface="Arial"/>
                          <a:cs typeface="Arial"/>
                        </a:rPr>
                        <a:t>18 = 36 − 0,5Qv; 0,5Qv = 18</a:t>
                      </a:r>
                    </a:p>
                  </a:txBody>
                  <a:tcPr marL="91440" marR="91440" marT="45720" marB="45720" anchor="ctr">
                    <a:solidFill>
                      <a:srgbClr val="FFFFFF"/>
                    </a:solidFill>
                  </a:tcPr>
                </a:tc>
                <a:tc>
                  <a:txBody>
                    <a:bodyPr lIns="152400" tIns="95250" rIns="133350" bIns="95250"/>
                    <a:lstStyle/>
                    <a:p>
                      <a:r>
                        <a:rPr sz="2325" b="0">
                          <a:solidFill>
                            <a:srgbClr val="183247"/>
                          </a:solidFill>
                          <a:latin typeface="Arial"/>
                          <a:ea typeface="Arial"/>
                          <a:cs typeface="Arial"/>
                        </a:rPr>
                        <a:t>Qv = 36 plaatsen</a:t>
                      </a:r>
                    </a:p>
                  </a:txBody>
                  <a:tcPr marL="91440" marR="91440" marT="45720" marB="45720" anchor="ctr">
                    <a:solidFill>
                      <a:srgbClr val="FFFFFF"/>
                    </a:solidFill>
                  </a:tcPr>
                </a:tc>
              </a:tr>
              <a:tr h="784860">
                <a:tc>
                  <a:txBody>
                    <a:bodyPr lIns="152400" tIns="95250" rIns="133350" bIns="95250"/>
                    <a:lstStyle/>
                    <a:p>
                      <a:r>
                        <a:rPr sz="2325" b="0">
                          <a:solidFill>
                            <a:srgbClr val="183247"/>
                          </a:solidFill>
                          <a:latin typeface="Arial"/>
                          <a:ea typeface="Arial"/>
                          <a:cs typeface="Arial"/>
                        </a:rPr>
                        <a:t>Aanbod</a:t>
                      </a:r>
                    </a:p>
                  </a:txBody>
                  <a:tcPr marL="91440" marR="91440" marT="45720" marB="45720" anchor="ctr">
                    <a:solidFill>
                      <a:srgbClr val="EFF4F7"/>
                    </a:solidFill>
                  </a:tcPr>
                </a:tc>
                <a:tc>
                  <a:txBody>
                    <a:bodyPr lIns="152400" tIns="95250" rIns="133350" bIns="95250"/>
                    <a:lstStyle/>
                    <a:p>
                      <a:r>
                        <a:rPr sz="2325" b="0">
                          <a:solidFill>
                            <a:srgbClr val="183247"/>
                          </a:solidFill>
                          <a:latin typeface="Arial"/>
                          <a:ea typeface="Arial"/>
                          <a:cs typeface="Arial"/>
                        </a:rPr>
                        <a:t>18 = 6 + 0,25Qa; 0,25Qa = 12</a:t>
                      </a:r>
                    </a:p>
                  </a:txBody>
                  <a:tcPr marL="91440" marR="91440" marT="45720" marB="45720" anchor="ctr">
                    <a:solidFill>
                      <a:srgbClr val="EFF4F7"/>
                    </a:solidFill>
                  </a:tcPr>
                </a:tc>
                <a:tc>
                  <a:txBody>
                    <a:bodyPr lIns="152400" tIns="95250" rIns="133350" bIns="95250"/>
                    <a:lstStyle/>
                    <a:p>
                      <a:r>
                        <a:rPr sz="2325" b="0">
                          <a:solidFill>
                            <a:srgbClr val="183247"/>
                          </a:solidFill>
                          <a:latin typeface="Arial"/>
                          <a:ea typeface="Arial"/>
                          <a:cs typeface="Arial"/>
                        </a:rPr>
                        <a:t>Qa = 48 plaatsen</a:t>
                      </a:r>
                    </a:p>
                  </a:txBody>
                  <a:tcPr marL="91440" marR="91440" marT="45720" marB="45720" anchor="ctr">
                    <a:solidFill>
                      <a:srgbClr val="EFF4F7"/>
                    </a:solidFill>
                  </a:tcPr>
                </a:tc>
              </a:tr>
              <a:tr h="784860">
                <a:tc>
                  <a:txBody>
                    <a:bodyPr lIns="152400" tIns="95250" rIns="133350" bIns="95250"/>
                    <a:lstStyle/>
                    <a:p>
                      <a:r>
                        <a:rPr sz="2325" b="0">
                          <a:solidFill>
                            <a:srgbClr val="183247"/>
                          </a:solidFill>
                          <a:latin typeface="Arial"/>
                          <a:ea typeface="Arial"/>
                          <a:cs typeface="Arial"/>
                        </a:rPr>
                        <a:t>Boekingsgrens</a:t>
                      </a:r>
                    </a:p>
                  </a:txBody>
                  <a:tcPr marL="91440" marR="91440" marT="45720" marB="45720" anchor="ctr">
                    <a:solidFill>
                      <a:srgbClr val="FFFFFF"/>
                    </a:solidFill>
                  </a:tcPr>
                </a:tc>
                <a:tc>
                  <a:txBody>
                    <a:bodyPr lIns="152400" tIns="95250" rIns="133350" bIns="95250"/>
                    <a:lstStyle/>
                    <a:p>
                      <a:r>
                        <a:rPr sz="2325" b="0">
                          <a:solidFill>
                            <a:srgbClr val="183247"/>
                          </a:solidFill>
                          <a:latin typeface="Arial"/>
                          <a:ea typeface="Arial"/>
                          <a:cs typeface="Arial"/>
                        </a:rPr>
                        <a:t>Maximaal 24 boekingen</a:t>
                      </a:r>
                    </a:p>
                  </a:txBody>
                  <a:tcPr marL="91440" marR="91440" marT="45720" marB="45720" anchor="ctr">
                    <a:solidFill>
                      <a:srgbClr val="FFFFFF"/>
                    </a:solidFill>
                  </a:tcPr>
                </a:tc>
                <a:tc>
                  <a:txBody>
                    <a:bodyPr lIns="152400" tIns="95250" rIns="133350" bIns="95250"/>
                    <a:lstStyle/>
                    <a:p>
                      <a:r>
                        <a:rPr sz="2325" b="0">
                          <a:solidFill>
                            <a:srgbClr val="183247"/>
                          </a:solidFill>
                          <a:latin typeface="Arial"/>
                          <a:ea typeface="Arial"/>
                          <a:cs typeface="Arial"/>
                        </a:rPr>
                        <a:t>24 plaatsen</a:t>
                      </a:r>
                    </a:p>
                  </a:txBody>
                  <a:tcPr marL="91440" marR="91440" marT="45720" marB="45720" anchor="ctr">
                    <a:solidFill>
                      <a:srgbClr val="FFFFFF"/>
                    </a:solidFill>
                  </a:tcPr>
                </a:tc>
              </a:tr>
              <a:tr h="784860">
                <a:tc>
                  <a:txBody>
                    <a:bodyPr lIns="152400" tIns="95250" rIns="133350" bIns="95250"/>
                    <a:lstStyle/>
                    <a:p>
                      <a:r>
                        <a:rPr sz="2325" b="0">
                          <a:solidFill>
                            <a:srgbClr val="183247"/>
                          </a:solidFill>
                          <a:latin typeface="Arial"/>
                          <a:ea typeface="Arial"/>
                          <a:cs typeface="Arial"/>
                        </a:rPr>
                        <a:t>Werkelijke handel</a:t>
                      </a:r>
                    </a:p>
                  </a:txBody>
                  <a:tcPr marL="91440" marR="91440" marT="45720" marB="45720" anchor="ctr">
                    <a:solidFill>
                      <a:srgbClr val="EFF4F7"/>
                    </a:solidFill>
                  </a:tcPr>
                </a:tc>
                <a:tc>
                  <a:txBody>
                    <a:bodyPr lIns="152400" tIns="95250" rIns="133350" bIns="95250"/>
                    <a:lstStyle/>
                    <a:p>
                      <a:r>
                        <a:rPr sz="2325" b="0">
                          <a:solidFill>
                            <a:srgbClr val="183247"/>
                          </a:solidFill>
                          <a:latin typeface="Arial"/>
                          <a:ea typeface="Arial"/>
                          <a:cs typeface="Arial"/>
                        </a:rPr>
                        <a:t>24 ligt onder 36 én 48</a:t>
                      </a:r>
                    </a:p>
                  </a:txBody>
                  <a:tcPr marL="91440" marR="91440" marT="45720" marB="45720" anchor="ctr">
                    <a:solidFill>
                      <a:srgbClr val="EFF4F7"/>
                    </a:solidFill>
                  </a:tcPr>
                </a:tc>
                <a:tc>
                  <a:txBody>
                    <a:bodyPr lIns="152400" tIns="95250" rIns="133350" bIns="95250"/>
                    <a:lstStyle/>
                    <a:p>
                      <a:r>
                        <a:rPr sz="2325" b="0">
                          <a:solidFill>
                            <a:srgbClr val="183247"/>
                          </a:solidFill>
                          <a:latin typeface="Arial"/>
                          <a:ea typeface="Arial"/>
                          <a:cs typeface="Arial"/>
                        </a:rPr>
                        <a:t>24 plaatsen</a:t>
                      </a:r>
                    </a:p>
                  </a:txBody>
                  <a:tcPr marL="91440" marR="91440" marT="45720" marB="45720" anchor="ctr">
                    <a:solidFill>
                      <a:srgbClr val="EFF4F7"/>
                    </a:solidFill>
                  </a:tcPr>
                </a:tc>
              </a:tr>
            </a:tbl>
          </a:graphicData>
        </a:graphic>
      </p:graphicFrame>
      <p:sp>
        <p:nvSpPr>
          <p:cNvPr id="7" name="De 24 kopers met de hoogste betalingsbereidheid kopen&#10;bij de aanb">
            <a:extLst xmlns:a="http://schemas.openxmlformats.org/drawingml/2006/main">
              <a:ext uri="{FF2B5EF4-FFF2-40B4-BE49-F238E27FC236}">
                <a16:creationId xmlns:a16="http://schemas.microsoft.com/office/drawing/2014/main" id="{9657CBFA-112E-43D0-96CF-8E397A170404}"/>
              </a:ext>
            </a:extLst>
          </p:cNvPr>
          <p:cNvSpPr>
            <a:spLocks xmlns:a="http://schemas.openxmlformats.org/drawingml/2006/main" noGrp="1"/>
          </p:cNvSpPr>
          <p:nvPr/>
        </p:nvSpPr>
        <p:spPr>
          <a:xfrm xmlns:a="http://schemas.openxmlformats.org/drawingml/2006/main">
            <a:off x="571500" y="69056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De 24 kopers met de hoogste betalingsbereidheid kopen</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bij de aanbieders met de laagste MK.</a:t>
            </a:r>
          </a:p>
        </p:txBody>
      </p:sp>
    </p:spTree>
    <p:extLst>
      <p:ext uri="{BB962C8B-B14F-4D97-AF65-F5344CB8AC3E}">
        <p14:creationId xmlns:p14="http://schemas.microsoft.com/office/powerpoint/2010/main" val="15387713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rechterrand van het surplus">
            <a:extLst xmlns:a="http://schemas.openxmlformats.org/drawingml/2006/main">
              <a:ext uri="{FF2B5EF4-FFF2-40B4-BE49-F238E27FC236}">
                <a16:creationId xmlns:a16="http://schemas.microsoft.com/office/drawing/2014/main" id="{88519118-E569-4896-8AD5-E5CDD9ABD21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rechterrand van het surplus</a:t>
            </a:r>
          </a:p>
        </p:txBody>
      </p:sp>
      <p:sp>
        <p:nvSpPr>
          <p:cNvPr id="2" name="">
            <a:extLst xmlns:a="http://schemas.openxmlformats.org/drawingml/2006/main">
              <a:ext uri="{FF2B5EF4-FFF2-40B4-BE49-F238E27FC236}">
                <a16:creationId xmlns:a16="http://schemas.microsoft.com/office/drawing/2014/main" id="{AD34BCFB-A142-4AC0-89CE-42F9C1E8225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9BA29D94-81AF-4066-B051-730D8B6BD3DD}"/>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6">
            <a:extLst xmlns:a="http://schemas.openxmlformats.org/drawingml/2006/main">
              <a:ext uri="{FF2B5EF4-FFF2-40B4-BE49-F238E27FC236}">
                <a16:creationId xmlns:a16="http://schemas.microsoft.com/office/drawing/2014/main" id="{5B3AC103-452A-456C-83D9-4C83BC0E850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5588427D-C128-425B-834C-B177C923AEC5}"/>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e31cc4196dd342e2"/>
          </a:graphicData>
        </a:graphic>
      </p:graphicFrame>
      <p:sp>
        <p:nvSpPr>
          <p:cNvPr id="7" name="Werkelijke Q = 24&#10;Betaalde prijs = € 18">
            <a:extLst xmlns:a="http://schemas.openxmlformats.org/drawingml/2006/main">
              <a:ext uri="{FF2B5EF4-FFF2-40B4-BE49-F238E27FC236}">
                <a16:creationId xmlns:a16="http://schemas.microsoft.com/office/drawing/2014/main" id="{C4EA8276-28B7-434C-882F-926AF8009C4F}"/>
              </a:ext>
            </a:extLst>
          </p:cNvPr>
          <p:cNvSpPr>
            <a:spLocks xmlns:a="http://schemas.openxmlformats.org/drawingml/2006/main" noGrp="1"/>
          </p:cNvSpPr>
          <p:nvPr/>
        </p:nvSpPr>
        <p:spPr>
          <a:xfrm xmlns:a="http://schemas.openxmlformats.org/drawingml/2006/main">
            <a:off x="10001250" y="2562225"/>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Werkelijke Q = 24</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Betaalde prijs = € 18</a:t>
            </a:r>
          </a:p>
        </p:txBody>
      </p:sp>
      <p:sp>
        <p:nvSpPr>
          <p:cNvPr id="8" name="Betalingsbereidheid&#10;36 − 0,5 × 24 = € 24">
            <a:extLst xmlns:a="http://schemas.openxmlformats.org/drawingml/2006/main">
              <a:ext uri="{FF2B5EF4-FFF2-40B4-BE49-F238E27FC236}">
                <a16:creationId xmlns:a16="http://schemas.microsoft.com/office/drawing/2014/main" id="{EBAE08C1-6F72-446B-A002-9A3117B43AD3}"/>
              </a:ext>
            </a:extLst>
          </p:cNvPr>
          <p:cNvSpPr>
            <a:spLocks xmlns:a="http://schemas.openxmlformats.org/drawingml/2006/main" noGrp="1"/>
          </p:cNvSpPr>
          <p:nvPr/>
        </p:nvSpPr>
        <p:spPr>
          <a:xfrm xmlns:a="http://schemas.openxmlformats.org/drawingml/2006/main">
            <a:off x="10001250" y="4114800"/>
            <a:ext cx="4667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Betalingsbereidheid</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36 − 0,5 × 24 = € 24</a:t>
            </a:r>
          </a:p>
        </p:txBody>
      </p:sp>
      <p:sp>
        <p:nvSpPr>
          <p:cNvPr id="9" name="Marginale kosten&#10;6 + 0,25 × 24 = € 12">
            <a:extLst xmlns:a="http://schemas.openxmlformats.org/drawingml/2006/main">
              <a:ext uri="{FF2B5EF4-FFF2-40B4-BE49-F238E27FC236}">
                <a16:creationId xmlns:a16="http://schemas.microsoft.com/office/drawing/2014/main" id="{776B9740-8387-42C1-8475-A9B8290CA778}"/>
              </a:ext>
            </a:extLst>
          </p:cNvPr>
          <p:cNvSpPr>
            <a:spLocks xmlns:a="http://schemas.openxmlformats.org/drawingml/2006/main" noGrp="1"/>
          </p:cNvSpPr>
          <p:nvPr/>
        </p:nvSpPr>
        <p:spPr>
          <a:xfrm xmlns:a="http://schemas.openxmlformats.org/drawingml/2006/main">
            <a:off x="10001250" y="56483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Marginale kosten</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6 + 0,25 × 24 = € 12</a:t>
            </a:r>
          </a:p>
        </p:txBody>
      </p:sp>
      <p:sp>
        <p:nvSpPr>
          <p:cNvPr id="10" name="Ook bij Q = 24 blijft voordeel over.">
            <a:extLst xmlns:a="http://schemas.openxmlformats.org/drawingml/2006/main">
              <a:ext uri="{FF2B5EF4-FFF2-40B4-BE49-F238E27FC236}">
                <a16:creationId xmlns:a16="http://schemas.microsoft.com/office/drawing/2014/main" id="{E96A3839-0E91-4520-98A8-B9341C00ABF1}"/>
              </a:ext>
            </a:extLst>
          </p:cNvPr>
          <p:cNvSpPr>
            <a:spLocks xmlns:a="http://schemas.openxmlformats.org/drawingml/2006/main" noGrp="1"/>
          </p:cNvSpPr>
          <p:nvPr/>
        </p:nvSpPr>
        <p:spPr>
          <a:xfrm xmlns:a="http://schemas.openxmlformats.org/drawingml/2006/main">
            <a:off x="10001250" y="7219950"/>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Ook bij Q = 24 blijft voordeel over.</a:t>
            </a:r>
          </a:p>
        </p:txBody>
      </p:sp>
    </p:spTree>
    <p:extLst>
      <p:ext uri="{BB962C8B-B14F-4D97-AF65-F5344CB8AC3E}">
        <p14:creationId xmlns:p14="http://schemas.microsoft.com/office/powerpoint/2010/main" val="16375672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S: rechthoek plus driehoek">
            <a:extLst xmlns:a="http://schemas.openxmlformats.org/drawingml/2006/main">
              <a:ext uri="{FF2B5EF4-FFF2-40B4-BE49-F238E27FC236}">
                <a16:creationId xmlns:a16="http://schemas.microsoft.com/office/drawing/2014/main" id="{30F20204-ECB0-4171-8148-0D63A0CDA29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CS: rechthoek plus driehoek</a:t>
            </a:r>
          </a:p>
        </p:txBody>
      </p:sp>
      <p:sp>
        <p:nvSpPr>
          <p:cNvPr id="2" name="">
            <a:extLst xmlns:a="http://schemas.openxmlformats.org/drawingml/2006/main">
              <a:ext uri="{FF2B5EF4-FFF2-40B4-BE49-F238E27FC236}">
                <a16:creationId xmlns:a16="http://schemas.microsoft.com/office/drawing/2014/main" id="{C920D643-310A-442D-9AA5-B6A29EC4D24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3E255563-CFF6-4B52-AA22-25C943C67C85}"/>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7">
            <a:extLst xmlns:a="http://schemas.openxmlformats.org/drawingml/2006/main">
              <a:ext uri="{FF2B5EF4-FFF2-40B4-BE49-F238E27FC236}">
                <a16:creationId xmlns:a16="http://schemas.microsoft.com/office/drawing/2014/main" id="{321D66D1-A7FA-4E70-A6AD-0FDD990C133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77BB792D-AD7E-4D9C-BCDE-D1A1266F6E50}"/>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CS rechthoek">
            <a:extLst xmlns:a="http://schemas.openxmlformats.org/drawingml/2006/main">
              <a:ext uri="{FF2B5EF4-FFF2-40B4-BE49-F238E27FC236}">
                <a16:creationId xmlns:a16="http://schemas.microsoft.com/office/drawing/2014/main" id="{F938C7FD-F28B-49B7-AD19-DF9148F82CF8}"/>
              </a:ext>
            </a:extLst>
          </p:cNvPr>
          <p:cNvSpPr>
            <a:spLocks xmlns:a="http://schemas.openxmlformats.org/drawingml/2006/main" noGrp="1"/>
          </p:cNvSpPr>
          <p:nvPr/>
        </p:nvSpPr>
        <p:spPr>
          <a:xfrm xmlns:a="http://schemas.openxmlformats.org/drawingml/2006/main">
            <a:off x="1657350" y="4490657"/>
            <a:ext cx="2533650" cy="638508"/>
          </a:xfrm>
          <a:custGeom xmlns:a="http://schemas.openxmlformats.org/drawingml/2006/main">
            <a:pathLst>
              <a:path w="2533650" h="638508">
                <a:moveTo>
                  <a:pt x="0" y="638508"/>
                </a:moveTo>
                <a:lnTo>
                  <a:pt x="2533650" y="638508"/>
                </a:lnTo>
                <a:lnTo>
                  <a:pt x="2533650" y="0"/>
                </a:lnTo>
                <a:lnTo>
                  <a:pt x="0" y="0"/>
                </a:lnTo>
                <a:close/>
              </a:path>
            </a:pathLst>
          </a:custGeom>
          <a:solidFill xmlns:a="http://schemas.openxmlformats.org/drawingml/2006/main">
            <a:srgbClr val="B6D7E8"/>
          </a:solidFill>
          <a:ln xmlns:a="http://schemas.openxmlformats.org/drawingml/2006/main" w="0">
            <a:noFill/>
          </a:ln>
        </p:spPr>
      </p:sp>
      <p:sp>
        <p:nvSpPr>
          <p:cNvPr id="7" name="CS driehoek">
            <a:extLst xmlns:a="http://schemas.openxmlformats.org/drawingml/2006/main">
              <a:ext uri="{FF2B5EF4-FFF2-40B4-BE49-F238E27FC236}">
                <a16:creationId xmlns:a16="http://schemas.microsoft.com/office/drawing/2014/main" id="{80FF63A5-0A5B-4044-9ABD-EF1CE2442A5C}"/>
              </a:ext>
            </a:extLst>
          </p:cNvPr>
          <p:cNvSpPr>
            <a:spLocks xmlns:a="http://schemas.openxmlformats.org/drawingml/2006/main" noGrp="1"/>
          </p:cNvSpPr>
          <p:nvPr/>
        </p:nvSpPr>
        <p:spPr>
          <a:xfrm xmlns:a="http://schemas.openxmlformats.org/drawingml/2006/main">
            <a:off x="1657350" y="3213640"/>
            <a:ext cx="2533650" cy="1277017"/>
          </a:xfrm>
          <a:custGeom xmlns:a="http://schemas.openxmlformats.org/drawingml/2006/main">
            <a:pathLst>
              <a:path w="2533650" h="1277017">
                <a:moveTo>
                  <a:pt x="0" y="1277017"/>
                </a:moveTo>
                <a:lnTo>
                  <a:pt x="0" y="0"/>
                </a:lnTo>
                <a:lnTo>
                  <a:pt x="2533650" y="1277017"/>
                </a:lnTo>
                <a:close/>
              </a:path>
            </a:pathLst>
          </a:custGeom>
          <a:solidFill xmlns:a="http://schemas.openxmlformats.org/drawingml/2006/main">
            <a:srgbClr val="E0EDF5"/>
          </a:solidFill>
          <a:ln xmlns:a="http://schemas.openxmlformats.org/drawingml/2006/main" w="0">
            <a:noFill/>
          </a:ln>
        </p:spPr>
      </p:sp>
      <p:graphicFrame>
        <p:nvGraphicFramePr>
          <p:cNvPr id="19"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480781f7994c428d"/>
          </a:graphicData>
        </a:graphic>
      </p:graphicFrame>
      <p:sp>
        <p:nvSpPr>
          <p:cNvPr id="9" name="Rechthoek&#10;24 × (24 − 18) = € 144">
            <a:extLst xmlns:a="http://schemas.openxmlformats.org/drawingml/2006/main">
              <a:ext uri="{FF2B5EF4-FFF2-40B4-BE49-F238E27FC236}">
                <a16:creationId xmlns:a16="http://schemas.microsoft.com/office/drawing/2014/main" id="{36DAD884-B0A1-42BB-930D-942F41F49172}"/>
              </a:ext>
            </a:extLst>
          </p:cNvPr>
          <p:cNvSpPr>
            <a:spLocks xmlns:a="http://schemas.openxmlformats.org/drawingml/2006/main" noGrp="1"/>
          </p:cNvSpPr>
          <p:nvPr/>
        </p:nvSpPr>
        <p:spPr>
          <a:xfrm xmlns:a="http://schemas.openxmlformats.org/drawingml/2006/main">
            <a:off x="10001250" y="26384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Rechthoek</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24 × (24 − 18) = € 144</a:t>
            </a:r>
          </a:p>
        </p:txBody>
      </p:sp>
      <p:sp>
        <p:nvSpPr>
          <p:cNvPr id="10" name="Driehoek&#10;½ × 24 × (36 − 24)&#10;= € 144">
            <a:extLst xmlns:a="http://schemas.openxmlformats.org/drawingml/2006/main">
              <a:ext uri="{FF2B5EF4-FFF2-40B4-BE49-F238E27FC236}">
                <a16:creationId xmlns:a16="http://schemas.microsoft.com/office/drawing/2014/main" id="{E90687BC-78E3-4E58-BDDB-0CFDDCEF4380}"/>
              </a:ext>
            </a:extLst>
          </p:cNvPr>
          <p:cNvSpPr>
            <a:spLocks xmlns:a="http://schemas.openxmlformats.org/drawingml/2006/main" noGrp="1"/>
          </p:cNvSpPr>
          <p:nvPr/>
        </p:nvSpPr>
        <p:spPr>
          <a:xfrm xmlns:a="http://schemas.openxmlformats.org/drawingml/2006/main">
            <a:off x="10001250" y="4219575"/>
            <a:ext cx="4667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Driehoek</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½ × 24 × (36 − 24)</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 € 144</a:t>
            </a:r>
          </a:p>
        </p:txBody>
      </p:sp>
      <p:sp>
        <p:nvSpPr>
          <p:cNvPr id="11" name="CS = 144 + 144&#10;= € 288">
            <a:extLst xmlns:a="http://schemas.openxmlformats.org/drawingml/2006/main">
              <a:ext uri="{FF2B5EF4-FFF2-40B4-BE49-F238E27FC236}">
                <a16:creationId xmlns:a16="http://schemas.microsoft.com/office/drawing/2014/main" id="{BB41E075-B256-4138-89FA-C55A85B3B869}"/>
              </a:ext>
            </a:extLst>
          </p:cNvPr>
          <p:cNvSpPr>
            <a:spLocks xmlns:a="http://schemas.openxmlformats.org/drawingml/2006/main" noGrp="1"/>
          </p:cNvSpPr>
          <p:nvPr/>
        </p:nvSpPr>
        <p:spPr>
          <a:xfrm xmlns:a="http://schemas.openxmlformats.org/drawingml/2006/main">
            <a:off x="10001250" y="62579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CS = 144 + 144</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 € 288</a:t>
            </a:r>
          </a:p>
        </p:txBody>
      </p:sp>
    </p:spTree>
    <p:extLst>
      <p:ext uri="{BB962C8B-B14F-4D97-AF65-F5344CB8AC3E}">
        <p14:creationId xmlns:p14="http://schemas.microsoft.com/office/powerpoint/2010/main" val="10993855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S: rechthoek plus driehoek">
            <a:extLst xmlns:a="http://schemas.openxmlformats.org/drawingml/2006/main">
              <a:ext uri="{FF2B5EF4-FFF2-40B4-BE49-F238E27FC236}">
                <a16:creationId xmlns:a16="http://schemas.microsoft.com/office/drawing/2014/main" id="{300181E3-3BB1-478B-B2BF-1F1EA510EEB8}"/>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PS: rechthoek plus driehoek</a:t>
            </a:r>
          </a:p>
        </p:txBody>
      </p:sp>
      <p:sp>
        <p:nvSpPr>
          <p:cNvPr id="2" name="">
            <a:extLst xmlns:a="http://schemas.openxmlformats.org/drawingml/2006/main">
              <a:ext uri="{FF2B5EF4-FFF2-40B4-BE49-F238E27FC236}">
                <a16:creationId xmlns:a16="http://schemas.microsoft.com/office/drawing/2014/main" id="{8D0592D5-4E44-4C3A-9A7F-6CEC68177AC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12356510-619B-426C-873F-1C36272924EF}"/>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8">
            <a:extLst xmlns:a="http://schemas.openxmlformats.org/drawingml/2006/main">
              <a:ext uri="{FF2B5EF4-FFF2-40B4-BE49-F238E27FC236}">
                <a16:creationId xmlns:a16="http://schemas.microsoft.com/office/drawing/2014/main" id="{2D53E0FA-9FB1-4595-94A7-E76BB63ADDF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18EE9B4B-CDFD-48A7-84F3-F318C7278FF1}"/>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PS rechthoek">
            <a:extLst xmlns:a="http://schemas.openxmlformats.org/drawingml/2006/main">
              <a:ext uri="{FF2B5EF4-FFF2-40B4-BE49-F238E27FC236}">
                <a16:creationId xmlns:a16="http://schemas.microsoft.com/office/drawing/2014/main" id="{DEDF7A70-743B-4327-9695-19EA0B722D2F}"/>
              </a:ext>
            </a:extLst>
          </p:cNvPr>
          <p:cNvSpPr>
            <a:spLocks xmlns:a="http://schemas.openxmlformats.org/drawingml/2006/main" noGrp="1"/>
          </p:cNvSpPr>
          <p:nvPr/>
        </p:nvSpPr>
        <p:spPr>
          <a:xfrm xmlns:a="http://schemas.openxmlformats.org/drawingml/2006/main">
            <a:off x="1657350" y="5129165"/>
            <a:ext cx="2533650" cy="638508"/>
          </a:xfrm>
          <a:custGeom xmlns:a="http://schemas.openxmlformats.org/drawingml/2006/main">
            <a:pathLst>
              <a:path w="2533650" h="638508">
                <a:moveTo>
                  <a:pt x="0" y="638508"/>
                </a:moveTo>
                <a:lnTo>
                  <a:pt x="2533650" y="638508"/>
                </a:lnTo>
                <a:lnTo>
                  <a:pt x="2533650" y="0"/>
                </a:lnTo>
                <a:lnTo>
                  <a:pt x="0" y="0"/>
                </a:lnTo>
                <a:close/>
              </a:path>
            </a:pathLst>
          </a:custGeom>
          <a:solidFill xmlns:a="http://schemas.openxmlformats.org/drawingml/2006/main">
            <a:srgbClr val="B9DED2"/>
          </a:solidFill>
          <a:ln xmlns:a="http://schemas.openxmlformats.org/drawingml/2006/main" w="0">
            <a:noFill/>
          </a:ln>
        </p:spPr>
      </p:sp>
      <p:sp>
        <p:nvSpPr>
          <p:cNvPr id="7" name="PS driehoek">
            <a:extLst xmlns:a="http://schemas.openxmlformats.org/drawingml/2006/main">
              <a:ext uri="{FF2B5EF4-FFF2-40B4-BE49-F238E27FC236}">
                <a16:creationId xmlns:a16="http://schemas.microsoft.com/office/drawing/2014/main" id="{4241A04D-7D54-46FA-831B-30AD8540DD00}"/>
              </a:ext>
            </a:extLst>
          </p:cNvPr>
          <p:cNvSpPr>
            <a:spLocks xmlns:a="http://schemas.openxmlformats.org/drawingml/2006/main" noGrp="1"/>
          </p:cNvSpPr>
          <p:nvPr/>
        </p:nvSpPr>
        <p:spPr>
          <a:xfrm xmlns:a="http://schemas.openxmlformats.org/drawingml/2006/main">
            <a:off x="1657350" y="5767673"/>
            <a:ext cx="2533650" cy="638508"/>
          </a:xfrm>
          <a:custGeom xmlns:a="http://schemas.openxmlformats.org/drawingml/2006/main">
            <a:pathLst>
              <a:path w="2533650" h="638508">
                <a:moveTo>
                  <a:pt x="0" y="638508"/>
                </a:moveTo>
                <a:lnTo>
                  <a:pt x="0" y="0"/>
                </a:lnTo>
                <a:lnTo>
                  <a:pt x="2533650" y="0"/>
                </a:lnTo>
                <a:close/>
              </a:path>
            </a:pathLst>
          </a:custGeom>
          <a:solidFill xmlns:a="http://schemas.openxmlformats.org/drawingml/2006/main">
            <a:srgbClr val="E2F0EA"/>
          </a:solidFill>
          <a:ln xmlns:a="http://schemas.openxmlformats.org/drawingml/2006/main" w="0">
            <a:noFill/>
          </a:ln>
        </p:spPr>
      </p:sp>
      <p:graphicFrame>
        <p:nvGraphicFramePr>
          <p:cNvPr id="19"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8d128de8b36e48bd"/>
          </a:graphicData>
        </a:graphic>
      </p:graphicFrame>
      <p:sp>
        <p:nvSpPr>
          <p:cNvPr id="9" name="Rechthoek&#10;24 × (18 − 12) = € 144">
            <a:extLst xmlns:a="http://schemas.openxmlformats.org/drawingml/2006/main">
              <a:ext uri="{FF2B5EF4-FFF2-40B4-BE49-F238E27FC236}">
                <a16:creationId xmlns:a16="http://schemas.microsoft.com/office/drawing/2014/main" id="{50D8CC72-9F01-48EF-8438-29F347BD8624}"/>
              </a:ext>
            </a:extLst>
          </p:cNvPr>
          <p:cNvSpPr>
            <a:spLocks xmlns:a="http://schemas.openxmlformats.org/drawingml/2006/main" noGrp="1"/>
          </p:cNvSpPr>
          <p:nvPr/>
        </p:nvSpPr>
        <p:spPr>
          <a:xfrm xmlns:a="http://schemas.openxmlformats.org/drawingml/2006/main">
            <a:off x="10001250" y="26384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Rechthoek</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24 × (18 − 12) = € 144</a:t>
            </a:r>
          </a:p>
        </p:txBody>
      </p:sp>
      <p:sp>
        <p:nvSpPr>
          <p:cNvPr id="10" name="Driehoek&#10;½ × 24 × (12 − 6)&#10;= € 72">
            <a:extLst xmlns:a="http://schemas.openxmlformats.org/drawingml/2006/main">
              <a:ext uri="{FF2B5EF4-FFF2-40B4-BE49-F238E27FC236}">
                <a16:creationId xmlns:a16="http://schemas.microsoft.com/office/drawing/2014/main" id="{962D188B-C1FF-44D1-AB61-A5EE9317D33C}"/>
              </a:ext>
            </a:extLst>
          </p:cNvPr>
          <p:cNvSpPr>
            <a:spLocks xmlns:a="http://schemas.openxmlformats.org/drawingml/2006/main" noGrp="1"/>
          </p:cNvSpPr>
          <p:nvPr/>
        </p:nvSpPr>
        <p:spPr>
          <a:xfrm xmlns:a="http://schemas.openxmlformats.org/drawingml/2006/main">
            <a:off x="10001250" y="4219575"/>
            <a:ext cx="4667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Driehoek</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½ × 24 × (12 − 6)</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 € 72</a:t>
            </a:r>
          </a:p>
        </p:txBody>
      </p:sp>
      <p:sp>
        <p:nvSpPr>
          <p:cNvPr id="11" name="PS = 144 + 72&#10;= € 216">
            <a:extLst xmlns:a="http://schemas.openxmlformats.org/drawingml/2006/main">
              <a:ext uri="{FF2B5EF4-FFF2-40B4-BE49-F238E27FC236}">
                <a16:creationId xmlns:a16="http://schemas.microsoft.com/office/drawing/2014/main" id="{F0024FB9-D5A6-4F8E-AA93-D92749F1FF4A}"/>
              </a:ext>
            </a:extLst>
          </p:cNvPr>
          <p:cNvSpPr>
            <a:spLocks xmlns:a="http://schemas.openxmlformats.org/drawingml/2006/main" noGrp="1"/>
          </p:cNvSpPr>
          <p:nvPr/>
        </p:nvSpPr>
        <p:spPr>
          <a:xfrm xmlns:a="http://schemas.openxmlformats.org/drawingml/2006/main">
            <a:off x="10001250" y="62579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PS = 144 + 72</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 € 216</a:t>
            </a:r>
          </a:p>
        </p:txBody>
      </p:sp>
    </p:spTree>
    <p:extLst>
      <p:ext uri="{BB962C8B-B14F-4D97-AF65-F5344CB8AC3E}">
        <p14:creationId xmlns:p14="http://schemas.microsoft.com/office/powerpoint/2010/main" val="415808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Welvaartsverlies: gemist gezamenlijk voordeel">
            <a:extLst xmlns:a="http://schemas.openxmlformats.org/drawingml/2006/main">
              <a:ext uri="{FF2B5EF4-FFF2-40B4-BE49-F238E27FC236}">
                <a16:creationId xmlns:a16="http://schemas.microsoft.com/office/drawing/2014/main" id="{A26821B3-833C-4F4E-AB25-815A1D1154E6}"/>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Welvaartsverlies: gemist gezamenlijk voordeel</a:t>
            </a:r>
          </a:p>
        </p:txBody>
      </p:sp>
      <p:sp>
        <p:nvSpPr>
          <p:cNvPr id="2" name="">
            <a:extLst xmlns:a="http://schemas.openxmlformats.org/drawingml/2006/main">
              <a:ext uri="{FF2B5EF4-FFF2-40B4-BE49-F238E27FC236}">
                <a16:creationId xmlns:a16="http://schemas.microsoft.com/office/drawing/2014/main" id="{633DBD94-4342-4801-883B-209D76BC2AA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759D1AFC-554B-4DBA-B4DE-EFEBE3CE8072}"/>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9">
            <a:extLst xmlns:a="http://schemas.openxmlformats.org/drawingml/2006/main">
              <a:ext uri="{FF2B5EF4-FFF2-40B4-BE49-F238E27FC236}">
                <a16:creationId xmlns:a16="http://schemas.microsoft.com/office/drawing/2014/main" id="{D6B574D3-ECCD-4C93-A965-B0012B42C9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047A3D77-F0DB-4CD4-A6E1-352E95B4554A}"/>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Welvaartsverlies">
            <a:extLst xmlns:a="http://schemas.openxmlformats.org/drawingml/2006/main">
              <a:ext uri="{FF2B5EF4-FFF2-40B4-BE49-F238E27FC236}">
                <a16:creationId xmlns:a16="http://schemas.microsoft.com/office/drawing/2014/main" id="{796E2576-9215-4CC9-9598-AA5CD25DE966}"/>
              </a:ext>
            </a:extLst>
          </p:cNvPr>
          <p:cNvSpPr>
            <a:spLocks xmlns:a="http://schemas.openxmlformats.org/drawingml/2006/main" noGrp="1"/>
          </p:cNvSpPr>
          <p:nvPr/>
        </p:nvSpPr>
        <p:spPr>
          <a:xfrm xmlns:a="http://schemas.openxmlformats.org/drawingml/2006/main">
            <a:off x="4191000" y="4490657"/>
            <a:ext cx="1689100" cy="1277017"/>
          </a:xfrm>
          <a:custGeom xmlns:a="http://schemas.openxmlformats.org/drawingml/2006/main">
            <a:pathLst>
              <a:path w="1689100" h="1277017">
                <a:moveTo>
                  <a:pt x="0" y="0"/>
                </a:moveTo>
                <a:lnTo>
                  <a:pt x="1689100" y="851344"/>
                </a:lnTo>
                <a:lnTo>
                  <a:pt x="0" y="1277017"/>
                </a:lnTo>
                <a:close/>
              </a:path>
            </a:pathLst>
          </a:custGeom>
          <a:solidFill xmlns:a="http://schemas.openxmlformats.org/drawingml/2006/main">
            <a:srgbClr val="F2D0A9"/>
          </a:solidFill>
          <a:ln xmlns:a="http://schemas.openxmlformats.org/drawingml/2006/main" w="0">
            <a:noFill/>
          </a:ln>
        </p:spPr>
      </p:sp>
      <p:graphicFrame>
        <p:nvGraphicFramePr>
          <p:cNvPr id="18"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936fb0f5893a4985"/>
          </a:graphicData>
        </a:graphic>
      </p:graphicFrame>
      <p:sp>
        <p:nvSpPr>
          <p:cNvPr id="8" name="Werkelijk TS&#10;288 + 216 = € 504">
            <a:extLst xmlns:a="http://schemas.openxmlformats.org/drawingml/2006/main">
              <a:ext uri="{FF2B5EF4-FFF2-40B4-BE49-F238E27FC236}">
                <a16:creationId xmlns:a16="http://schemas.microsoft.com/office/drawing/2014/main" id="{3782E72E-1547-4F7E-A7D5-C225B6C3EE0D}"/>
              </a:ext>
            </a:extLst>
          </p:cNvPr>
          <p:cNvSpPr>
            <a:spLocks xmlns:a="http://schemas.openxmlformats.org/drawingml/2006/main" noGrp="1"/>
          </p:cNvSpPr>
          <p:nvPr/>
        </p:nvSpPr>
        <p:spPr>
          <a:xfrm xmlns:a="http://schemas.openxmlformats.org/drawingml/2006/main">
            <a:off x="10001250" y="2495550"/>
            <a:ext cx="4667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Werkelijk TS</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288 + 216 = € 504</a:t>
            </a:r>
          </a:p>
        </p:txBody>
      </p:sp>
      <p:sp>
        <p:nvSpPr>
          <p:cNvPr id="9" name="Verlies&#10;600 − 504 = € 96">
            <a:extLst xmlns:a="http://schemas.openxmlformats.org/drawingml/2006/main">
              <a:ext uri="{FF2B5EF4-FFF2-40B4-BE49-F238E27FC236}">
                <a16:creationId xmlns:a16="http://schemas.microsoft.com/office/drawing/2014/main" id="{17329588-8BA8-498B-A316-4D24CC8BEF50}"/>
              </a:ext>
            </a:extLst>
          </p:cNvPr>
          <p:cNvSpPr>
            <a:spLocks xmlns:a="http://schemas.openxmlformats.org/drawingml/2006/main" noGrp="1"/>
          </p:cNvSpPr>
          <p:nvPr/>
        </p:nvSpPr>
        <p:spPr>
          <a:xfrm xmlns:a="http://schemas.openxmlformats.org/drawingml/2006/main">
            <a:off x="10001250" y="39719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Verlies</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600 − 504 = € 96</a:t>
            </a:r>
          </a:p>
        </p:txBody>
      </p:sp>
      <p:sp>
        <p:nvSpPr>
          <p:cNvPr id="10" name="Controle met de driehoek&#10;½ × (40 − 24) × (24 − 12)&#10;= ½ × 16 × 12 ">
            <a:extLst xmlns:a="http://schemas.openxmlformats.org/drawingml/2006/main">
              <a:ext uri="{FF2B5EF4-FFF2-40B4-BE49-F238E27FC236}">
                <a16:creationId xmlns:a16="http://schemas.microsoft.com/office/drawing/2014/main" id="{08B2269F-C734-4329-8FB2-E0D311BD5837}"/>
              </a:ext>
            </a:extLst>
          </p:cNvPr>
          <p:cNvSpPr>
            <a:spLocks xmlns:a="http://schemas.openxmlformats.org/drawingml/2006/main" noGrp="1"/>
          </p:cNvSpPr>
          <p:nvPr/>
        </p:nvSpPr>
        <p:spPr>
          <a:xfrm xmlns:a="http://schemas.openxmlformats.org/drawingml/2006/main">
            <a:off x="10001250" y="5514975"/>
            <a:ext cx="4667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Controle met de driehoek</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½ × (40 − 24) × (24 − 12)</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 ½ × 16 × 12 = € 96</a:t>
            </a:r>
          </a:p>
        </p:txBody>
      </p:sp>
      <p:sp>
        <p:nvSpPr>
          <p:cNvPr id="11" name="16 gemiste plaatsen; hoogte € 12 per plaats.">
            <a:extLst xmlns:a="http://schemas.openxmlformats.org/drawingml/2006/main">
              <a:ext uri="{FF2B5EF4-FFF2-40B4-BE49-F238E27FC236}">
                <a16:creationId xmlns:a16="http://schemas.microsoft.com/office/drawing/2014/main" id="{58858C12-E911-4342-B41B-79AD955A5DAB}"/>
              </a:ext>
            </a:extLst>
          </p:cNvPr>
          <p:cNvSpPr>
            <a:spLocks xmlns:a="http://schemas.openxmlformats.org/drawingml/2006/main" noGrp="1"/>
          </p:cNvSpPr>
          <p:nvPr/>
        </p:nvSpPr>
        <p:spPr>
          <a:xfrm xmlns:a="http://schemas.openxmlformats.org/drawingml/2006/main">
            <a:off x="10001250" y="7277100"/>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16 gemiste plaatsen; hoogte € 12 per plaats.</a:t>
            </a:r>
          </a:p>
        </p:txBody>
      </p:sp>
    </p:spTree>
    <p:extLst>
      <p:ext uri="{BB962C8B-B14F-4D97-AF65-F5344CB8AC3E}">
        <p14:creationId xmlns:p14="http://schemas.microsoft.com/office/powerpoint/2010/main" val="17443462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aretoverbetering en Pareto-efficiëntie">
            <a:extLst xmlns:a="http://schemas.openxmlformats.org/drawingml/2006/main">
              <a:ext uri="{FF2B5EF4-FFF2-40B4-BE49-F238E27FC236}">
                <a16:creationId xmlns:a16="http://schemas.microsoft.com/office/drawing/2014/main" id="{3C143F76-F59D-4A5E-AC62-A716A0FB11F3}"/>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Paretoverbetering en Pareto-efficiëntie</a:t>
            </a:r>
          </a:p>
        </p:txBody>
      </p:sp>
      <p:sp>
        <p:nvSpPr>
          <p:cNvPr id="2" name="">
            <a:extLst xmlns:a="http://schemas.openxmlformats.org/drawingml/2006/main">
              <a:ext uri="{FF2B5EF4-FFF2-40B4-BE49-F238E27FC236}">
                <a16:creationId xmlns:a16="http://schemas.microsoft.com/office/drawing/2014/main" id="{9224385B-7107-4CA5-9955-A208BF29FFF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167FBF1B-33C8-4828-86D0-517F16787C7F}"/>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10">
            <a:extLst xmlns:a="http://schemas.openxmlformats.org/drawingml/2006/main">
              <a:ext uri="{FF2B5EF4-FFF2-40B4-BE49-F238E27FC236}">
                <a16:creationId xmlns:a16="http://schemas.microsoft.com/office/drawing/2014/main" id="{717F963A-DF53-4BF9-8F0C-1137EB95BD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Paretoverbetering">
            <a:extLst xmlns:a="http://schemas.openxmlformats.org/drawingml/2006/main">
              <a:ext uri="{FF2B5EF4-FFF2-40B4-BE49-F238E27FC236}">
                <a16:creationId xmlns:a16="http://schemas.microsoft.com/office/drawing/2014/main" id="{FDFE9466-C0D4-4936-9AFC-2699F751E71F}"/>
              </a:ext>
            </a:extLst>
          </p:cNvPr>
          <p:cNvSpPr>
            <a:spLocks xmlns:a="http://schemas.openxmlformats.org/drawingml/2006/main" noGrp="1"/>
          </p:cNvSpPr>
          <p:nvPr/>
        </p:nvSpPr>
        <p:spPr>
          <a:xfrm xmlns:a="http://schemas.openxmlformats.org/drawingml/2006/main">
            <a:off x="571500" y="20955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Paretoverbetering</a:t>
            </a:r>
          </a:p>
        </p:txBody>
      </p:sp>
      <p:sp>
        <p:nvSpPr>
          <p:cNvPr id="6" name="Een haalbare verandering waarbij minstens één persoon&#10;erop voorui">
            <a:extLst xmlns:a="http://schemas.openxmlformats.org/drawingml/2006/main">
              <a:ext uri="{FF2B5EF4-FFF2-40B4-BE49-F238E27FC236}">
                <a16:creationId xmlns:a16="http://schemas.microsoft.com/office/drawing/2014/main" id="{1FCA03D4-E619-460F-A315-1435FC341B0B}"/>
              </a:ext>
            </a:extLst>
          </p:cNvPr>
          <p:cNvSpPr>
            <a:spLocks xmlns:a="http://schemas.openxmlformats.org/drawingml/2006/main" noGrp="1"/>
          </p:cNvSpPr>
          <p:nvPr/>
        </p:nvSpPr>
        <p:spPr>
          <a:xfrm xmlns:a="http://schemas.openxmlformats.org/drawingml/2006/main">
            <a:off x="571500" y="300990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Een haalbare verandering waarbij minstens één persoon</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erop vooruitgaat en niemand erop achteruitgaat.</a:t>
            </a:r>
          </a:p>
        </p:txBody>
      </p:sp>
      <p:sp>
        <p:nvSpPr>
          <p:cNvPr id="7" name="">
            <a:extLst xmlns:a="http://schemas.openxmlformats.org/drawingml/2006/main">
              <a:ext uri="{FF2B5EF4-FFF2-40B4-BE49-F238E27FC236}">
                <a16:creationId xmlns:a16="http://schemas.microsoft.com/office/drawing/2014/main" id="{F9A55AEE-D68C-4481-9392-E161896A88B2}"/>
              </a:ext>
            </a:extLst>
          </p:cNvPr>
          <p:cNvSpPr>
            <a:spLocks xmlns:a="http://schemas.openxmlformats.org/drawingml/2006/main" noGrp="1"/>
          </p:cNvSpPr>
          <p:nvPr/>
        </p:nvSpPr>
        <p:spPr>
          <a:xfrm xmlns:a="http://schemas.openxmlformats.org/drawingml/2006/main">
            <a:off x="571500" y="4752975"/>
            <a:ext cx="14097000" cy="0"/>
          </a:xfrm>
          <a:prstGeom xmlns:a="http://schemas.openxmlformats.org/drawingml/2006/main" prst="line">
            <a:avLst/>
          </a:prstGeom>
          <a:ln xmlns:a="http://schemas.openxmlformats.org/drawingml/2006/main" w="19050">
            <a:solidFill>
              <a:srgbClr val="C6D2DB"/>
            </a:solidFill>
          </a:ln>
        </p:spPr>
      </p:sp>
      <p:sp>
        <p:nvSpPr>
          <p:cNvPr id="8" name="Pareto-efficiëntie">
            <a:extLst xmlns:a="http://schemas.openxmlformats.org/drawingml/2006/main">
              <a:ext uri="{FF2B5EF4-FFF2-40B4-BE49-F238E27FC236}">
                <a16:creationId xmlns:a16="http://schemas.microsoft.com/office/drawing/2014/main" id="{80090ED2-F2C7-4606-B102-A5E4F4DB30D7}"/>
              </a:ext>
            </a:extLst>
          </p:cNvPr>
          <p:cNvSpPr>
            <a:spLocks xmlns:a="http://schemas.openxmlformats.org/drawingml/2006/main" noGrp="1"/>
          </p:cNvSpPr>
          <p:nvPr/>
        </p:nvSpPr>
        <p:spPr>
          <a:xfrm xmlns:a="http://schemas.openxmlformats.org/drawingml/2006/main">
            <a:off x="571500" y="52768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Pareto-efficiëntie</a:t>
            </a:r>
          </a:p>
        </p:txBody>
      </p:sp>
      <p:sp>
        <p:nvSpPr>
          <p:cNvPr id="9" name="Er is geen haalbare Paretoverbetering meer mogelijk.&#10;Ook een extr">
            <a:extLst xmlns:a="http://schemas.openxmlformats.org/drawingml/2006/main">
              <a:ext uri="{FF2B5EF4-FFF2-40B4-BE49-F238E27FC236}">
                <a16:creationId xmlns:a16="http://schemas.microsoft.com/office/drawing/2014/main" id="{A75F64E3-F6F4-496A-B762-77AA83141152}"/>
              </a:ext>
            </a:extLst>
          </p:cNvPr>
          <p:cNvSpPr>
            <a:spLocks xmlns:a="http://schemas.openxmlformats.org/drawingml/2006/main" noGrp="1"/>
          </p:cNvSpPr>
          <p:nvPr/>
        </p:nvSpPr>
        <p:spPr>
          <a:xfrm xmlns:a="http://schemas.openxmlformats.org/drawingml/2006/main">
            <a:off x="571500" y="624840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Er is geen haalbare Paretoverbetering meer mogelijk.</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Ook een extra transactie of herverdeling biedt die kans niet.</a:t>
            </a:r>
          </a:p>
        </p:txBody>
      </p:sp>
    </p:spTree>
    <p:extLst>
      <p:ext uri="{BB962C8B-B14F-4D97-AF65-F5344CB8AC3E}">
        <p14:creationId xmlns:p14="http://schemas.microsoft.com/office/powerpoint/2010/main" val="7694675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mogelijke 25e rondvaartplaats">
            <a:extLst xmlns:a="http://schemas.openxmlformats.org/drawingml/2006/main">
              <a:ext uri="{FF2B5EF4-FFF2-40B4-BE49-F238E27FC236}">
                <a16:creationId xmlns:a16="http://schemas.microsoft.com/office/drawing/2014/main" id="{4E6AE716-2A1D-4931-957A-8243D883459D}"/>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mogelijke 25e rondvaartplaats</a:t>
            </a:r>
          </a:p>
        </p:txBody>
      </p:sp>
      <p:sp>
        <p:nvSpPr>
          <p:cNvPr id="2" name="">
            <a:extLst xmlns:a="http://schemas.openxmlformats.org/drawingml/2006/main">
              <a:ext uri="{FF2B5EF4-FFF2-40B4-BE49-F238E27FC236}">
                <a16:creationId xmlns:a16="http://schemas.microsoft.com/office/drawing/2014/main" id="{BF96A47F-350E-45A1-9DE8-ED994152260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FF97FCA5-C4AA-494E-9F93-53856D7506A5}"/>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11">
            <a:extLst xmlns:a="http://schemas.openxmlformats.org/drawingml/2006/main">
              <a:ext uri="{FF2B5EF4-FFF2-40B4-BE49-F238E27FC236}">
                <a16:creationId xmlns:a16="http://schemas.microsoft.com/office/drawing/2014/main" id="{AFF9256F-C1B4-4E58-B351-4E2AA09DDE4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1089271F-3FFF-4F7A-92F0-E6AD8FD8FF3C}"/>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428875"/>
          <a:ext xmlns:a="http://schemas.openxmlformats.org/drawingml/2006/main" cx="14097000" cy="2752725"/>
        </p:xfrm>
        <a:graphic xmlns:a="http://schemas.openxmlformats.org/drawingml/2006/main">
          <a:graphicData uri="http://schemas.openxmlformats.org/drawingml/2006/table">
            <a:tbl>
              <a:tblPr/>
              <a:tblGrid>
                <a:gridCol w="7048500"/>
                <a:gridCol w="7048500"/>
              </a:tblGrid>
              <a:tr h="917575">
                <a:tc>
                  <a:txBody>
                    <a:bodyPr lIns="152400" tIns="95250" rIns="133350" bIns="95250"/>
                    <a:lstStyle/>
                    <a:p>
                      <a:r>
                        <a:rPr sz="2400" b="1">
                          <a:solidFill>
                            <a:srgbClr val="FFFFFF"/>
                          </a:solidFill>
                          <a:latin typeface="Arial"/>
                          <a:ea typeface="Arial"/>
                          <a:cs typeface="Arial"/>
                        </a:rPr>
                        <a:t>Nieuwe koper</a:t>
                      </a:r>
                    </a:p>
                  </a:txBody>
                  <a:tcPr marL="91440" marR="91440" marT="45720" marB="45720" anchor="ctr">
                    <a:solidFill>
                      <a:srgbClr val="183247"/>
                    </a:solidFill>
                  </a:tcPr>
                </a:tc>
                <a:tc>
                  <a:txBody>
                    <a:bodyPr lIns="152400" tIns="95250" rIns="133350" bIns="95250"/>
                    <a:lstStyle/>
                    <a:p>
                      <a:r>
                        <a:rPr sz="2400" b="1">
                          <a:solidFill>
                            <a:srgbClr val="FFFFFF"/>
                          </a:solidFill>
                          <a:latin typeface="Arial"/>
                          <a:ea typeface="Arial"/>
                          <a:cs typeface="Arial"/>
                        </a:rPr>
                        <a:t>Nieuwe verkoper</a:t>
                      </a:r>
                    </a:p>
                  </a:txBody>
                  <a:tcPr marL="91440" marR="91440" marT="45720" marB="45720" anchor="ctr">
                    <a:solidFill>
                      <a:srgbClr val="183247"/>
                    </a:solidFill>
                  </a:tcPr>
                </a:tc>
              </a:tr>
              <a:tr h="917575">
                <a:tc>
                  <a:txBody>
                    <a:bodyPr lIns="152400" tIns="95250" rIns="133350" bIns="95250"/>
                    <a:lstStyle/>
                    <a:p>
                      <a:r>
                        <a:rPr sz="2400" b="0">
                          <a:solidFill>
                            <a:srgbClr val="183247"/>
                          </a:solidFill>
                          <a:latin typeface="Arial"/>
                          <a:ea typeface="Arial"/>
                          <a:cs typeface="Arial"/>
                        </a:rPr>
                        <a:t>Betalingsbereidheid: 36 − 0,5 × 25 = € 23,50</a:t>
                      </a:r>
                    </a:p>
                  </a:txBody>
                  <a:tcPr marL="91440" marR="91440" marT="45720" marB="45720" anchor="ctr">
                    <a:solidFill>
                      <a:srgbClr val="FFFFFF"/>
                    </a:solidFill>
                  </a:tcPr>
                </a:tc>
                <a:tc>
                  <a:txBody>
                    <a:bodyPr lIns="152400" tIns="95250" rIns="133350" bIns="95250"/>
                    <a:lstStyle/>
                    <a:p>
                      <a:r>
                        <a:rPr sz="2400" b="0">
                          <a:solidFill>
                            <a:srgbClr val="183247"/>
                          </a:solidFill>
                          <a:latin typeface="Arial"/>
                          <a:ea typeface="Arial"/>
                          <a:cs typeface="Arial"/>
                        </a:rPr>
                        <a:t>MK: 6 + 0,25 × 25 = € 12,25</a:t>
                      </a:r>
                    </a:p>
                  </a:txBody>
                  <a:tcPr marL="91440" marR="91440" marT="45720" marB="45720" anchor="ctr">
                    <a:solidFill>
                      <a:srgbClr val="FFFFFF"/>
                    </a:solidFill>
                  </a:tcPr>
                </a:tc>
              </a:tr>
              <a:tr h="917575">
                <a:tc>
                  <a:txBody>
                    <a:bodyPr lIns="152400" tIns="95250" rIns="133350" bIns="95250"/>
                    <a:lstStyle/>
                    <a:p>
                      <a:r>
                        <a:rPr sz="2400" b="0">
                          <a:solidFill>
                            <a:srgbClr val="183247"/>
                          </a:solidFill>
                          <a:latin typeface="Arial"/>
                          <a:ea typeface="Arial"/>
                          <a:cs typeface="Arial"/>
                        </a:rPr>
                        <a:t>Voordeel: 23,50 − 18 = € 5,50</a:t>
                      </a:r>
                    </a:p>
                  </a:txBody>
                  <a:tcPr marL="91440" marR="91440" marT="45720" marB="45720" anchor="ctr">
                    <a:solidFill>
                      <a:srgbClr val="EFF4F7"/>
                    </a:solidFill>
                  </a:tcPr>
                </a:tc>
                <a:tc>
                  <a:txBody>
                    <a:bodyPr lIns="152400" tIns="95250" rIns="133350" bIns="95250"/>
                    <a:lstStyle/>
                    <a:p>
                      <a:r>
                        <a:rPr sz="2400" b="0">
                          <a:solidFill>
                            <a:srgbClr val="183247"/>
                          </a:solidFill>
                          <a:latin typeface="Arial"/>
                          <a:ea typeface="Arial"/>
                          <a:cs typeface="Arial"/>
                        </a:rPr>
                        <a:t>Voordeel: 18 − 12,25 = € 5,75</a:t>
                      </a:r>
                    </a:p>
                  </a:txBody>
                  <a:tcPr marL="91440" marR="91440" marT="45720" marB="45720" anchor="ctr">
                    <a:solidFill>
                      <a:srgbClr val="EFF4F7"/>
                    </a:solidFill>
                  </a:tcPr>
                </a:tc>
              </a:tr>
            </a:tbl>
          </a:graphicData>
        </a:graphic>
      </p:graphicFrame>
      <p:sp>
        <p:nvSpPr>
          <p:cNvPr id="7" name="Haalbaar: technische ruimte en kosteloze verruiming.">
            <a:extLst xmlns:a="http://schemas.openxmlformats.org/drawingml/2006/main">
              <a:ext uri="{FF2B5EF4-FFF2-40B4-BE49-F238E27FC236}">
                <a16:creationId xmlns:a16="http://schemas.microsoft.com/office/drawing/2014/main" id="{0CA25E44-CFEF-48A6-A545-0901D2282773}"/>
              </a:ext>
            </a:extLst>
          </p:cNvPr>
          <p:cNvSpPr>
            <a:spLocks xmlns:a="http://schemas.openxmlformats.org/drawingml/2006/main" noGrp="1"/>
          </p:cNvSpPr>
          <p:nvPr/>
        </p:nvSpPr>
        <p:spPr>
          <a:xfrm xmlns:a="http://schemas.openxmlformats.org/drawingml/2006/main">
            <a:off x="571500" y="568642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Haalbaar: technische ruimte en kosteloze verruiming.</a:t>
            </a:r>
          </a:p>
        </p:txBody>
      </p:sp>
      <p:sp>
        <p:nvSpPr>
          <p:cNvPr id="8" name="Niemand slechter af: prijs en bestaande transacties blijven gelij">
            <a:extLst xmlns:a="http://schemas.openxmlformats.org/drawingml/2006/main">
              <a:ext uri="{FF2B5EF4-FFF2-40B4-BE49-F238E27FC236}">
                <a16:creationId xmlns:a16="http://schemas.microsoft.com/office/drawing/2014/main" id="{BD62FEE5-89B7-4465-8505-14158A241622}"/>
              </a:ext>
            </a:extLst>
          </p:cNvPr>
          <p:cNvSpPr>
            <a:spLocks xmlns:a="http://schemas.openxmlformats.org/drawingml/2006/main" noGrp="1"/>
          </p:cNvSpPr>
          <p:nvPr/>
        </p:nvSpPr>
        <p:spPr>
          <a:xfrm xmlns:a="http://schemas.openxmlformats.org/drawingml/2006/main">
            <a:off x="571500" y="647700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Niemand slechter af: prijs en bestaande transacties blijven gelijk.</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Anderen ondervinden geen nadeel.</a:t>
            </a:r>
          </a:p>
        </p:txBody>
      </p:sp>
      <p:sp>
        <p:nvSpPr>
          <p:cNvPr id="9" name="Er is een Paretoverbetering. 24 boekingen zijn niet Pareto-effici">
            <a:extLst xmlns:a="http://schemas.openxmlformats.org/drawingml/2006/main">
              <a:ext uri="{FF2B5EF4-FFF2-40B4-BE49-F238E27FC236}">
                <a16:creationId xmlns:a16="http://schemas.microsoft.com/office/drawing/2014/main" id="{5588A75D-B9D0-461D-B35F-25AAB5B26DF3}"/>
              </a:ext>
            </a:extLst>
          </p:cNvPr>
          <p:cNvSpPr>
            <a:spLocks xmlns:a="http://schemas.openxmlformats.org/drawingml/2006/main" noGrp="1"/>
          </p:cNvSpPr>
          <p:nvPr/>
        </p:nvSpPr>
        <p:spPr>
          <a:xfrm xmlns:a="http://schemas.openxmlformats.org/drawingml/2006/main">
            <a:off x="571500" y="74771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Er is een Paretoverbetering. 24 boekingen zijn niet Pareto-efficiënt.</a:t>
            </a:r>
          </a:p>
        </p:txBody>
      </p:sp>
    </p:spTree>
    <p:extLst>
      <p:ext uri="{BB962C8B-B14F-4D97-AF65-F5344CB8AC3E}">
        <p14:creationId xmlns:p14="http://schemas.microsoft.com/office/powerpoint/2010/main" val="20136233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hoger totaal en de verdeling van voordeel">
            <a:extLst xmlns:a="http://schemas.openxmlformats.org/drawingml/2006/main">
              <a:ext uri="{FF2B5EF4-FFF2-40B4-BE49-F238E27FC236}">
                <a16:creationId xmlns:a16="http://schemas.microsoft.com/office/drawing/2014/main" id="{EF0ABCCF-9020-4DA1-BF5F-57BF7BC4EE8B}"/>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Een hoger totaal en de verdeling van voordeel</a:t>
            </a:r>
          </a:p>
        </p:txBody>
      </p:sp>
      <p:sp>
        <p:nvSpPr>
          <p:cNvPr id="2" name="">
            <a:extLst xmlns:a="http://schemas.openxmlformats.org/drawingml/2006/main">
              <a:ext uri="{FF2B5EF4-FFF2-40B4-BE49-F238E27FC236}">
                <a16:creationId xmlns:a16="http://schemas.microsoft.com/office/drawing/2014/main" id="{C821610D-A56C-4ED3-8867-F24AC82C570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7E159EF4-569C-4636-95A9-055DB3223A52}"/>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12">
            <a:extLst xmlns:a="http://schemas.openxmlformats.org/drawingml/2006/main">
              <a:ext uri="{FF2B5EF4-FFF2-40B4-BE49-F238E27FC236}">
                <a16:creationId xmlns:a16="http://schemas.microsoft.com/office/drawing/2014/main" id="{D40E1874-89F1-4935-AEE4-E77B235112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38819FE2-735D-40C8-9FCC-69BDE0BC072F}"/>
              </a:ext>
            </a:extLst>
          </p:cNvPr>
          <p:cNvSpPr>
            <a:spLocks xmlns:a="http://schemas.openxmlformats.org/drawingml/2006/main" noGrp="1"/>
          </p:cNvSpPr>
          <p:nvPr/>
        </p:nvSpPr>
        <p:spPr>
          <a:xfrm xmlns:a="http://schemas.openxmlformats.org/drawingml/2006/main">
            <a:off x="571500" y="16954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495550"/>
          <a:ext xmlns:a="http://schemas.openxmlformats.org/drawingml/2006/main" cx="14097000" cy="2590800"/>
        </p:xfrm>
        <a:graphic xmlns:a="http://schemas.openxmlformats.org/drawingml/2006/main">
          <a:graphicData uri="http://schemas.openxmlformats.org/drawingml/2006/table">
            <a:tbl>
              <a:tblPr/>
              <a:tblGrid>
                <a:gridCol w="6667500"/>
                <a:gridCol w="2476500"/>
                <a:gridCol w="2476500"/>
                <a:gridCol w="2476500"/>
              </a:tblGrid>
              <a:tr h="863600">
                <a:tc>
                  <a:txBody>
                    <a:bodyPr lIns="152400" tIns="95250" rIns="133350" bIns="95250"/>
                    <a:lstStyle/>
                    <a:p>
                      <a:r>
                        <a:rPr sz="2475" b="1">
                          <a:solidFill>
                            <a:srgbClr val="FFFFFF"/>
                          </a:solidFill>
                          <a:latin typeface="Arial"/>
                          <a:ea typeface="Arial"/>
                          <a:cs typeface="Arial"/>
                        </a:rPr>
                        <a:t>Rondvaartplaatsen</a:t>
                      </a:r>
                    </a:p>
                  </a:txBody>
                  <a:tcPr marL="91440" marR="91440" marT="45720" marB="45720" anchor="ctr">
                    <a:solidFill>
                      <a:srgbClr val="183247"/>
                    </a:solidFill>
                  </a:tcPr>
                </a:tc>
                <a:tc>
                  <a:txBody>
                    <a:bodyPr lIns="152400" tIns="95250" rIns="133350" bIns="95250"/>
                    <a:lstStyle/>
                    <a:p>
                      <a:r>
                        <a:rPr sz="2475" b="1">
                          <a:solidFill>
                            <a:srgbClr val="FFFFFF"/>
                          </a:solidFill>
                          <a:latin typeface="Arial"/>
                          <a:ea typeface="Arial"/>
                          <a:cs typeface="Arial"/>
                        </a:rPr>
                        <a:t>CS</a:t>
                      </a:r>
                    </a:p>
                  </a:txBody>
                  <a:tcPr marL="91440" marR="91440" marT="45720" marB="45720" anchor="ctr">
                    <a:solidFill>
                      <a:srgbClr val="183247"/>
                    </a:solidFill>
                  </a:tcPr>
                </a:tc>
                <a:tc>
                  <a:txBody>
                    <a:bodyPr lIns="152400" tIns="95250" rIns="133350" bIns="95250"/>
                    <a:lstStyle/>
                    <a:p>
                      <a:r>
                        <a:rPr sz="2475" b="1">
                          <a:solidFill>
                            <a:srgbClr val="FFFFFF"/>
                          </a:solidFill>
                          <a:latin typeface="Arial"/>
                          <a:ea typeface="Arial"/>
                          <a:cs typeface="Arial"/>
                        </a:rPr>
                        <a:t>PS</a:t>
                      </a:r>
                    </a:p>
                  </a:txBody>
                  <a:tcPr marL="91440" marR="91440" marT="45720" marB="45720" anchor="ctr">
                    <a:solidFill>
                      <a:srgbClr val="183247"/>
                    </a:solidFill>
                  </a:tcPr>
                </a:tc>
                <a:tc>
                  <a:txBody>
                    <a:bodyPr lIns="152400" tIns="95250" rIns="133350" bIns="95250"/>
                    <a:lstStyle/>
                    <a:p>
                      <a:r>
                        <a:rPr sz="2475" b="1">
                          <a:solidFill>
                            <a:srgbClr val="FFFFFF"/>
                          </a:solidFill>
                          <a:latin typeface="Arial"/>
                          <a:ea typeface="Arial"/>
                          <a:cs typeface="Arial"/>
                        </a:rPr>
                        <a:t>TS</a:t>
                      </a:r>
                    </a:p>
                  </a:txBody>
                  <a:tcPr marL="91440" marR="91440" marT="45720" marB="45720" anchor="ctr">
                    <a:solidFill>
                      <a:srgbClr val="183247"/>
                    </a:solidFill>
                  </a:tcPr>
                </a:tc>
              </a:tr>
              <a:tr h="863600">
                <a:tc>
                  <a:txBody>
                    <a:bodyPr lIns="152400" tIns="95250" rIns="133350" bIns="95250"/>
                    <a:lstStyle/>
                    <a:p>
                      <a:r>
                        <a:rPr sz="2475" b="0">
                          <a:solidFill>
                            <a:srgbClr val="183247"/>
                          </a:solidFill>
                          <a:latin typeface="Arial"/>
                          <a:ea typeface="Arial"/>
                          <a:cs typeface="Arial"/>
                        </a:rPr>
                        <a:t>Vrij: Q = 40; P = € 16</a:t>
                      </a:r>
                    </a:p>
                  </a:txBody>
                  <a:tcPr marL="91440" marR="91440" marT="45720" marB="45720" anchor="ctr">
                    <a:solidFill>
                      <a:srgbClr val="FFFFFF"/>
                    </a:solidFill>
                  </a:tcPr>
                </a:tc>
                <a:tc>
                  <a:txBody>
                    <a:bodyPr lIns="152400" tIns="95250" rIns="133350" bIns="95250"/>
                    <a:lstStyle/>
                    <a:p>
                      <a:r>
                        <a:rPr sz="2475" b="0">
                          <a:solidFill>
                            <a:srgbClr val="183247"/>
                          </a:solidFill>
                          <a:latin typeface="Arial"/>
                          <a:ea typeface="Arial"/>
                          <a:cs typeface="Arial"/>
                        </a:rPr>
                        <a:t>€ 400</a:t>
                      </a:r>
                    </a:p>
                  </a:txBody>
                  <a:tcPr marL="91440" marR="91440" marT="45720" marB="45720" anchor="ctr">
                    <a:solidFill>
                      <a:srgbClr val="FFFFFF"/>
                    </a:solidFill>
                  </a:tcPr>
                </a:tc>
                <a:tc>
                  <a:txBody>
                    <a:bodyPr lIns="152400" tIns="95250" rIns="133350" bIns="95250"/>
                    <a:lstStyle/>
                    <a:p>
                      <a:r>
                        <a:rPr sz="2475" b="0">
                          <a:solidFill>
                            <a:srgbClr val="183247"/>
                          </a:solidFill>
                          <a:latin typeface="Arial"/>
                          <a:ea typeface="Arial"/>
                          <a:cs typeface="Arial"/>
                        </a:rPr>
                        <a:t>€ 200</a:t>
                      </a:r>
                    </a:p>
                  </a:txBody>
                  <a:tcPr marL="91440" marR="91440" marT="45720" marB="45720" anchor="ctr">
                    <a:solidFill>
                      <a:srgbClr val="FFFFFF"/>
                    </a:solidFill>
                  </a:tcPr>
                </a:tc>
                <a:tc>
                  <a:txBody>
                    <a:bodyPr lIns="152400" tIns="95250" rIns="133350" bIns="95250"/>
                    <a:lstStyle/>
                    <a:p>
                      <a:r>
                        <a:rPr sz="2475" b="0">
                          <a:solidFill>
                            <a:srgbClr val="183247"/>
                          </a:solidFill>
                          <a:latin typeface="Arial"/>
                          <a:ea typeface="Arial"/>
                          <a:cs typeface="Arial"/>
                        </a:rPr>
                        <a:t>€ 600</a:t>
                      </a:r>
                    </a:p>
                  </a:txBody>
                  <a:tcPr marL="91440" marR="91440" marT="45720" marB="45720" anchor="ctr">
                    <a:solidFill>
                      <a:srgbClr val="FFFFFF"/>
                    </a:solidFill>
                  </a:tcPr>
                </a:tc>
              </a:tr>
              <a:tr h="863600">
                <a:tc>
                  <a:txBody>
                    <a:bodyPr lIns="152400" tIns="95250" rIns="133350" bIns="95250"/>
                    <a:lstStyle/>
                    <a:p>
                      <a:r>
                        <a:rPr sz="2475" b="0">
                          <a:solidFill>
                            <a:srgbClr val="183247"/>
                          </a:solidFill>
                          <a:latin typeface="Arial"/>
                          <a:ea typeface="Arial"/>
                          <a:cs typeface="Arial"/>
                        </a:rPr>
                        <a:t>Regel: Q = 24; P = € 18</a:t>
                      </a:r>
                    </a:p>
                  </a:txBody>
                  <a:tcPr marL="91440" marR="91440" marT="45720" marB="45720" anchor="ctr">
                    <a:solidFill>
                      <a:srgbClr val="EFF4F7"/>
                    </a:solidFill>
                  </a:tcPr>
                </a:tc>
                <a:tc>
                  <a:txBody>
                    <a:bodyPr lIns="152400" tIns="95250" rIns="133350" bIns="95250"/>
                    <a:lstStyle/>
                    <a:p>
                      <a:r>
                        <a:rPr sz="2475" b="0">
                          <a:solidFill>
                            <a:srgbClr val="183247"/>
                          </a:solidFill>
                          <a:latin typeface="Arial"/>
                          <a:ea typeface="Arial"/>
                          <a:cs typeface="Arial"/>
                        </a:rPr>
                        <a:t>€ 288</a:t>
                      </a:r>
                    </a:p>
                  </a:txBody>
                  <a:tcPr marL="91440" marR="91440" marT="45720" marB="45720" anchor="ctr">
                    <a:solidFill>
                      <a:srgbClr val="EFF4F7"/>
                    </a:solidFill>
                  </a:tcPr>
                </a:tc>
                <a:tc>
                  <a:txBody>
                    <a:bodyPr lIns="152400" tIns="95250" rIns="133350" bIns="95250"/>
                    <a:lstStyle/>
                    <a:p>
                      <a:r>
                        <a:rPr sz="2475" b="0">
                          <a:solidFill>
                            <a:srgbClr val="183247"/>
                          </a:solidFill>
                          <a:latin typeface="Arial"/>
                          <a:ea typeface="Arial"/>
                          <a:cs typeface="Arial"/>
                        </a:rPr>
                        <a:t>€ 216</a:t>
                      </a:r>
                    </a:p>
                  </a:txBody>
                  <a:tcPr marL="91440" marR="91440" marT="45720" marB="45720" anchor="ctr">
                    <a:solidFill>
                      <a:srgbClr val="EFF4F7"/>
                    </a:solidFill>
                  </a:tcPr>
                </a:tc>
                <a:tc>
                  <a:txBody>
                    <a:bodyPr lIns="152400" tIns="95250" rIns="133350" bIns="95250"/>
                    <a:lstStyle/>
                    <a:p>
                      <a:r>
                        <a:rPr sz="2475" b="0">
                          <a:solidFill>
                            <a:srgbClr val="183247"/>
                          </a:solidFill>
                          <a:latin typeface="Arial"/>
                          <a:ea typeface="Arial"/>
                          <a:cs typeface="Arial"/>
                        </a:rPr>
                        <a:t>€ 504</a:t>
                      </a:r>
                    </a:p>
                  </a:txBody>
                  <a:tcPr marL="91440" marR="91440" marT="45720" marB="45720" anchor="ctr">
                    <a:solidFill>
                      <a:srgbClr val="EFF4F7"/>
                    </a:solidFill>
                  </a:tcPr>
                </a:tc>
              </a:tr>
            </a:tbl>
          </a:graphicData>
        </a:graphic>
      </p:graphicFrame>
      <p:sp>
        <p:nvSpPr>
          <p:cNvPr id="7" name="Terug naar het vrije evenwicht vergroot TS, maar verlaagt PS.">
            <a:extLst xmlns:a="http://schemas.openxmlformats.org/drawingml/2006/main">
              <a:ext uri="{FF2B5EF4-FFF2-40B4-BE49-F238E27FC236}">
                <a16:creationId xmlns:a16="http://schemas.microsoft.com/office/drawing/2014/main" id="{80A38E04-4B71-4623-ADA4-E89F285965FD}"/>
              </a:ext>
            </a:extLst>
          </p:cNvPr>
          <p:cNvSpPr>
            <a:spLocks xmlns:a="http://schemas.openxmlformats.org/drawingml/2006/main" noGrp="1"/>
          </p:cNvSpPr>
          <p:nvPr/>
        </p:nvSpPr>
        <p:spPr>
          <a:xfrm xmlns:a="http://schemas.openxmlformats.org/drawingml/2006/main">
            <a:off x="571500" y="561022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Terug naar het vrije evenwicht vergroot TS, maar verlaagt PS.</a:t>
            </a:r>
          </a:p>
        </p:txBody>
      </p:sp>
      <p:sp>
        <p:nvSpPr>
          <p:cNvPr id="8" name="Een extra boeking tegen dezelfde prijs kan wél niemand schaden.">
            <a:extLst xmlns:a="http://schemas.openxmlformats.org/drawingml/2006/main">
              <a:ext uri="{FF2B5EF4-FFF2-40B4-BE49-F238E27FC236}">
                <a16:creationId xmlns:a16="http://schemas.microsoft.com/office/drawing/2014/main" id="{85922DB3-436F-47C1-BBD8-79F5CA7C7AC8}"/>
              </a:ext>
            </a:extLst>
          </p:cNvPr>
          <p:cNvSpPr>
            <a:spLocks xmlns:a="http://schemas.openxmlformats.org/drawingml/2006/main" noGrp="1"/>
          </p:cNvSpPr>
          <p:nvPr/>
        </p:nvSpPr>
        <p:spPr>
          <a:xfrm xmlns:a="http://schemas.openxmlformats.org/drawingml/2006/main">
            <a:off x="571500" y="66960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extra boeking tegen dezelfde prijs kan wél niemand schaden.</a:t>
            </a:r>
          </a:p>
        </p:txBody>
      </p:sp>
      <p:sp>
        <p:nvSpPr>
          <p:cNvPr id="9" name="Wat een eerlijke verdeling is, vraagt een apart waardeoordeel.">
            <a:extLst xmlns:a="http://schemas.openxmlformats.org/drawingml/2006/main">
              <a:ext uri="{FF2B5EF4-FFF2-40B4-BE49-F238E27FC236}">
                <a16:creationId xmlns:a16="http://schemas.microsoft.com/office/drawing/2014/main" id="{1BB8B367-786E-4502-936C-B112DF219D1B}"/>
              </a:ext>
            </a:extLst>
          </p:cNvPr>
          <p:cNvSpPr>
            <a:spLocks xmlns:a="http://schemas.openxmlformats.org/drawingml/2006/main" noGrp="1"/>
          </p:cNvSpPr>
          <p:nvPr/>
        </p:nvSpPr>
        <p:spPr>
          <a:xfrm xmlns:a="http://schemas.openxmlformats.org/drawingml/2006/main">
            <a:off x="571500" y="75247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Wat een eerlijke verdeling is, vraagt een apart waardeoordeel.</a:t>
            </a:r>
          </a:p>
        </p:txBody>
      </p:sp>
    </p:spTree>
    <p:extLst>
      <p:ext uri="{BB962C8B-B14F-4D97-AF65-F5344CB8AC3E}">
        <p14:creationId xmlns:p14="http://schemas.microsoft.com/office/powerpoint/2010/main" val="9460640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rug naar startopgave 2">
            <a:extLst xmlns:a="http://schemas.openxmlformats.org/drawingml/2006/main">
              <a:ext uri="{FF2B5EF4-FFF2-40B4-BE49-F238E27FC236}">
                <a16:creationId xmlns:a16="http://schemas.microsoft.com/office/drawing/2014/main" id="{8131B496-64F1-4943-ACC9-02B7DCA588B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Terug naar startopgave 2</a:t>
            </a:r>
          </a:p>
        </p:txBody>
      </p:sp>
      <p:sp>
        <p:nvSpPr>
          <p:cNvPr id="2" name="">
            <a:extLst xmlns:a="http://schemas.openxmlformats.org/drawingml/2006/main">
              <a:ext uri="{FF2B5EF4-FFF2-40B4-BE49-F238E27FC236}">
                <a16:creationId xmlns:a16="http://schemas.microsoft.com/office/drawing/2014/main" id="{ACC7D910-D93D-4521-B869-21A7C169E0F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Startopgave 2 · B">
            <a:extLst xmlns:a="http://schemas.openxmlformats.org/drawingml/2006/main">
              <a:ext uri="{FF2B5EF4-FFF2-40B4-BE49-F238E27FC236}">
                <a16:creationId xmlns:a16="http://schemas.microsoft.com/office/drawing/2014/main" id="{D4D67B9D-7032-4017-B429-4F11BF78817D}"/>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Startopgave 2 · Boekpagina 97</a:t>
            </a:r>
          </a:p>
        </p:txBody>
      </p:sp>
      <p:sp>
        <p:nvSpPr>
          <p:cNvPr id="4" name="13">
            <a:extLst xmlns:a="http://schemas.openxmlformats.org/drawingml/2006/main">
              <a:ext uri="{FF2B5EF4-FFF2-40B4-BE49-F238E27FC236}">
                <a16:creationId xmlns:a16="http://schemas.microsoft.com/office/drawing/2014/main" id="{B4C68A08-DD60-4D4A-BBE1-F9C0F396F7C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Koper A krijgt € 8 extra voordeel.&#10;Verkoper B krijgt € 3 minder v">
            <a:extLst xmlns:a="http://schemas.openxmlformats.org/drawingml/2006/main">
              <a:ext uri="{FF2B5EF4-FFF2-40B4-BE49-F238E27FC236}">
                <a16:creationId xmlns:a16="http://schemas.microsoft.com/office/drawing/2014/main" id="{647633A9-4425-4FAF-B9CF-EEB951BD2D47}"/>
              </a:ext>
            </a:extLst>
          </p:cNvPr>
          <p:cNvSpPr>
            <a:spLocks xmlns:a="http://schemas.openxmlformats.org/drawingml/2006/main" noGrp="1"/>
          </p:cNvSpPr>
          <p:nvPr/>
        </p:nvSpPr>
        <p:spPr>
          <a:xfrm xmlns:a="http://schemas.openxmlformats.org/drawingml/2006/main">
            <a:off x="571500" y="2257425"/>
            <a:ext cx="1409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Koper A krijgt € 8 extra voordeel.</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Verkoper B krijgt € 3 minder voordeel.</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Anderen merken niets.</a:t>
            </a:r>
          </a:p>
        </p:txBody>
      </p:sp>
      <p:sp>
        <p:nvSpPr>
          <p:cNvPr id="6" name="Is dit een Paretoverbetering? Licht toe.">
            <a:extLst xmlns:a="http://schemas.openxmlformats.org/drawingml/2006/main">
              <a:ext uri="{FF2B5EF4-FFF2-40B4-BE49-F238E27FC236}">
                <a16:creationId xmlns:a16="http://schemas.microsoft.com/office/drawing/2014/main" id="{255AC339-6F3F-4152-87B6-42D93177575A}"/>
              </a:ext>
            </a:extLst>
          </p:cNvPr>
          <p:cNvSpPr>
            <a:spLocks xmlns:a="http://schemas.openxmlformats.org/drawingml/2006/main" noGrp="1"/>
          </p:cNvSpPr>
          <p:nvPr/>
        </p:nvSpPr>
        <p:spPr>
          <a:xfrm xmlns:a="http://schemas.openxmlformats.org/drawingml/2006/main">
            <a:off x="571500" y="495300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Is dit een Paretoverbetering? Licht toe.</a:t>
            </a:r>
          </a:p>
        </p:txBody>
      </p:sp>
      <p:sp>
        <p:nvSpPr>
          <p:cNvPr id="7" name="Herzie je eerste antwoord. Gebruik alle voorwaarden uit de defini">
            <a:extLst xmlns:a="http://schemas.openxmlformats.org/drawingml/2006/main">
              <a:ext uri="{FF2B5EF4-FFF2-40B4-BE49-F238E27FC236}">
                <a16:creationId xmlns:a16="http://schemas.microsoft.com/office/drawing/2014/main" id="{8CFDACDC-442B-4C10-B7C4-5EC4367FB8D0}"/>
              </a:ext>
            </a:extLst>
          </p:cNvPr>
          <p:cNvSpPr>
            <a:spLocks xmlns:a="http://schemas.openxmlformats.org/drawingml/2006/main" noGrp="1"/>
          </p:cNvSpPr>
          <p:nvPr/>
        </p:nvSpPr>
        <p:spPr>
          <a:xfrm xmlns:a="http://schemas.openxmlformats.org/drawingml/2006/main">
            <a:off x="571500" y="6838950"/>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Herzie je eerste antwoord. Gebruik alle voorwaarden uit de definitie.</a:t>
            </a:r>
          </a:p>
        </p:txBody>
      </p:sp>
    </p:spTree>
    <p:extLst>
      <p:ext uri="{BB962C8B-B14F-4D97-AF65-F5344CB8AC3E}">
        <p14:creationId xmlns:p14="http://schemas.microsoft.com/office/powerpoint/2010/main" val="11754122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3 Pareto-efficiëntie en welvaartsverlies">
            <a:extLst xmlns:a="http://schemas.openxmlformats.org/drawingml/2006/main">
              <a:ext uri="{FF2B5EF4-FFF2-40B4-BE49-F238E27FC236}">
                <a16:creationId xmlns:a16="http://schemas.microsoft.com/office/drawing/2014/main" id="{40AA7E82-E4DC-47C9-95E1-E7BEF2A6E58D}"/>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§2.3.3 Pareto-efficiëntie en welvaartsverlies</a:t>
            </a:r>
          </a:p>
        </p:txBody>
      </p:sp>
      <p:sp>
        <p:nvSpPr>
          <p:cNvPr id="2" name="">
            <a:extLst xmlns:a="http://schemas.openxmlformats.org/drawingml/2006/main">
              <a:ext uri="{FF2B5EF4-FFF2-40B4-BE49-F238E27FC236}">
                <a16:creationId xmlns:a16="http://schemas.microsoft.com/office/drawing/2014/main" id="{B6CD4EA1-F31E-451C-9846-01D6F734A5A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47B483ED-4006-4108-A944-82B3A3BD17F7}"/>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14">
            <a:extLst xmlns:a="http://schemas.openxmlformats.org/drawingml/2006/main">
              <a:ext uri="{FF2B5EF4-FFF2-40B4-BE49-F238E27FC236}">
                <a16:creationId xmlns:a16="http://schemas.microsoft.com/office/drawing/2014/main" id="{E62350FD-F471-417C-AD23-ACFDF424E58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7E6EB2D2-31DC-46AE-85F8-31019063862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501BD388-2668-4EB7-9E64-3E6A93A759A5}"/>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A540572-CD6F-44E5-ACF9-0F011C85085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CFA119D0-D5E7-4FA4-BB2E-35103A2060BB}"/>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8F80026D-E7AF-4117-BECA-D703474862F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88C4F79-B916-46F2-8FEB-1A4E30A3F0BB}"/>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E2374C5-12E0-4108-9A71-B90AC5ED898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1A7D208-F1AC-4BEA-985D-EAD9CEA0093C}"/>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7F62C57-F605-4F98-B170-7D8C4AF0362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5D0AFF1-A52F-4705-901A-223106B5555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22295CBD-E497-424A-B64B-5FAEAAA64B5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E4323E0-3A46-4248-8817-07D5B29BCB39}"/>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D15E42F1-4EF8-4F72-BFD3-FB396549536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0296BEEB-28D8-4FC7-9AA5-684A5A236B4F}"/>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6.</a:t>
            </a:r>
          </a:p>
        </p:txBody>
      </p:sp>
      <p:sp>
        <p:nvSpPr>
          <p:cNvPr id="19" name="route-number-7">
            <a:extLst xmlns:a="http://schemas.openxmlformats.org/drawingml/2006/main">
              <a:ext uri="{FF2B5EF4-FFF2-40B4-BE49-F238E27FC236}">
                <a16:creationId xmlns:a16="http://schemas.microsoft.com/office/drawing/2014/main" id="{B82B42F5-04B5-49C5-A66D-756D0E1A3BA8}"/>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EC4F8A4-127C-4183-B3E6-FDE0657F3A88}"/>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ADEBC38-B28E-4A65-96AA-1BBA7F52859E}"/>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80CD3AB-2786-4251-967E-8AC9E32B75B8}"/>
              </a:ext>
            </a:extLst>
          </p:cNvPr>
          <p:cNvSpPr>
            <a:spLocks xmlns:a="http://schemas.openxmlformats.org/drawingml/2006/main" noGrp="1"/>
          </p:cNvSpPr>
          <p:nvPr/>
        </p:nvSpPr>
        <p:spPr>
          <a:xfrm xmlns:a="http://schemas.openxmlformats.org/drawingml/2006/main">
            <a:off x="9258300" y="2324100"/>
            <a:ext cx="541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Werkelijke handel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Surplus en verlies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Pareto en eerlijkheid beoordelen.</a:t>
            </a:r>
          </a:p>
        </p:txBody>
      </p:sp>
      <p:sp>
        <p:nvSpPr>
          <p:cNvPr id="23" name="">
            <a:extLst xmlns:a="http://schemas.openxmlformats.org/drawingml/2006/main">
              <a:ext uri="{FF2B5EF4-FFF2-40B4-BE49-F238E27FC236}">
                <a16:creationId xmlns:a16="http://schemas.microsoft.com/office/drawing/2014/main" id="{BA31C264-F954-4535-B81D-E4EAE865B293}"/>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D5D2AC3-DCA0-4AA2-8467-CD8758DFB61C}"/>
              </a:ext>
            </a:extLst>
          </p:cNvPr>
          <p:cNvSpPr>
            <a:spLocks xmlns:a="http://schemas.openxmlformats.org/drawingml/2006/main" noGrp="1"/>
          </p:cNvSpPr>
          <p:nvPr/>
        </p:nvSpPr>
        <p:spPr>
          <a:xfrm xmlns:a="http://schemas.openxmlformats.org/drawingml/2006/main">
            <a:off x="9258300" y="38385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3EB9307-E692-4DF3-8977-16921BE6FAB1}"/>
              </a:ext>
            </a:extLst>
          </p:cNvPr>
          <p:cNvSpPr>
            <a:spLocks xmlns:a="http://schemas.openxmlformats.org/drawingml/2006/main" noGrp="1"/>
          </p:cNvSpPr>
          <p:nvPr/>
        </p:nvSpPr>
        <p:spPr>
          <a:xfrm xmlns:a="http://schemas.openxmlformats.org/drawingml/2006/main">
            <a:off x="9258300" y="4371975"/>
            <a:ext cx="5410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97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94</a:t>
            </a:r>
          </a:p>
        </p:txBody>
      </p:sp>
      <p:sp>
        <p:nvSpPr>
          <p:cNvPr id="26" name="">
            <a:extLst xmlns:a="http://schemas.openxmlformats.org/drawingml/2006/main">
              <a:ext uri="{FF2B5EF4-FFF2-40B4-BE49-F238E27FC236}">
                <a16:creationId xmlns:a16="http://schemas.microsoft.com/office/drawing/2014/main" id="{005B8F75-CC69-4E36-8640-63A34FC463BE}"/>
              </a:ext>
            </a:extLst>
          </p:cNvPr>
          <p:cNvSpPr>
            <a:spLocks xmlns:a="http://schemas.openxmlformats.org/drawingml/2006/main" noGrp="1"/>
          </p:cNvSpPr>
          <p:nvPr/>
        </p:nvSpPr>
        <p:spPr>
          <a:xfrm xmlns:a="http://schemas.openxmlformats.org/drawingml/2006/main">
            <a:off x="9258300" y="55245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E80782C-FEF0-432E-9039-7AF9E93EBDDC}"/>
              </a:ext>
            </a:extLst>
          </p:cNvPr>
          <p:cNvSpPr>
            <a:spLocks xmlns:a="http://schemas.openxmlformats.org/drawingml/2006/main" noGrp="1"/>
          </p:cNvSpPr>
          <p:nvPr/>
        </p:nvSpPr>
        <p:spPr>
          <a:xfrm xmlns:a="http://schemas.openxmlformats.org/drawingml/2006/main">
            <a:off x="9258300" y="58102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6A7F458B-892C-4B6C-8247-E57246EEF09D}"/>
              </a:ext>
            </a:extLst>
          </p:cNvPr>
          <p:cNvSpPr>
            <a:spLocks xmlns:a="http://schemas.openxmlformats.org/drawingml/2006/main" noGrp="1"/>
          </p:cNvSpPr>
          <p:nvPr/>
        </p:nvSpPr>
        <p:spPr>
          <a:xfrm xmlns:a="http://schemas.openxmlformats.org/drawingml/2006/main">
            <a:off x="9258300" y="6372225"/>
            <a:ext cx="5410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§2.3.3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6</a:t>
            </a:r>
          </a:p>
        </p:txBody>
      </p:sp>
    </p:spTree>
    <p:extLst>
      <p:ext uri="{BB962C8B-B14F-4D97-AF65-F5344CB8AC3E}">
        <p14:creationId xmlns:p14="http://schemas.microsoft.com/office/powerpoint/2010/main" val="15424584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6: Concertkaartjes, de markt">
            <a:extLst xmlns:a="http://schemas.openxmlformats.org/drawingml/2006/main">
              <a:ext uri="{FF2B5EF4-FFF2-40B4-BE49-F238E27FC236}">
                <a16:creationId xmlns:a16="http://schemas.microsoft.com/office/drawing/2014/main" id="{E4A2D355-46B1-461B-B000-22BC3EE68B7C}"/>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 Concertkaartjes, de markt</a:t>
            </a:r>
          </a:p>
        </p:txBody>
      </p:sp>
      <p:sp>
        <p:nvSpPr>
          <p:cNvPr id="2" name="">
            <a:extLst xmlns:a="http://schemas.openxmlformats.org/drawingml/2006/main">
              <a:ext uri="{FF2B5EF4-FFF2-40B4-BE49-F238E27FC236}">
                <a16:creationId xmlns:a16="http://schemas.microsoft.com/office/drawing/2014/main" id="{402E8441-EA4B-4F33-A881-48C0DE1E610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229AB346-687A-41B0-8C45-A97DF84989C9}"/>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15">
            <a:extLst xmlns:a="http://schemas.openxmlformats.org/drawingml/2006/main">
              <a:ext uri="{FF2B5EF4-FFF2-40B4-BE49-F238E27FC236}">
                <a16:creationId xmlns:a16="http://schemas.microsoft.com/office/drawing/2014/main" id="{BC3EEA8C-9236-49F8-A3DF-A3B3FCA85A4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Gebruik opnieuw vraag P = 50 − 0,5Q&#10;en aanbod P = 5 + 0,25Q.">
            <a:extLst xmlns:a="http://schemas.openxmlformats.org/drawingml/2006/main">
              <a:ext uri="{FF2B5EF4-FFF2-40B4-BE49-F238E27FC236}">
                <a16:creationId xmlns:a16="http://schemas.microsoft.com/office/drawing/2014/main" id="{E066722F-28F7-4783-905D-BBFD7F9A324C}"/>
              </a:ext>
            </a:extLst>
          </p:cNvPr>
          <p:cNvSpPr>
            <a:spLocks xmlns:a="http://schemas.openxmlformats.org/drawingml/2006/main" noGrp="1"/>
          </p:cNvSpPr>
          <p:nvPr/>
        </p:nvSpPr>
        <p:spPr>
          <a:xfrm xmlns:a="http://schemas.openxmlformats.org/drawingml/2006/main">
            <a:off x="571500" y="205740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Gebruik opnieuw vraag P = 50 − 0,5Q</a:t>
            </a:r>
          </a:p>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en aanbod P = 5 + 0,25Q.</a:t>
            </a:r>
          </a:p>
        </p:txBody>
      </p:sp>
      <p:sp>
        <p:nvSpPr>
          <p:cNvPr id="6" name="P in euro per kaartje; Q in kaartjes.">
            <a:extLst xmlns:a="http://schemas.openxmlformats.org/drawingml/2006/main">
              <a:ext uri="{FF2B5EF4-FFF2-40B4-BE49-F238E27FC236}">
                <a16:creationId xmlns:a16="http://schemas.microsoft.com/office/drawing/2014/main" id="{6772A978-AC3A-4B15-B097-C881AEAE531E}"/>
              </a:ext>
            </a:extLst>
          </p:cNvPr>
          <p:cNvSpPr>
            <a:spLocks xmlns:a="http://schemas.openxmlformats.org/drawingml/2006/main" noGrp="1"/>
          </p:cNvSpPr>
          <p:nvPr/>
        </p:nvSpPr>
        <p:spPr>
          <a:xfrm xmlns:a="http://schemas.openxmlformats.org/drawingml/2006/main">
            <a:off x="571500" y="36671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 in euro per kaartje; Q in kaartjes.</a:t>
            </a:r>
          </a:p>
        </p:txBody>
      </p:sp>
      <p:graphicFrame>
        <p:nvGraphicFramePr>
          <p:cNvPr id="14" name=""/>
          <p:cNvGraphicFramePr/>
          <p:nvPr/>
        </p:nvGraphicFramePr>
        <p:xfrm>
          <a:off xmlns:a="http://schemas.openxmlformats.org/drawingml/2006/main" x="571500" y="4800600"/>
          <a:ext xmlns:a="http://schemas.openxmlformats.org/drawingml/2006/main" cx="14097000" cy="2543175"/>
        </p:xfrm>
        <a:graphic xmlns:a="http://schemas.openxmlformats.org/drawingml/2006/main">
          <a:graphicData uri="http://schemas.openxmlformats.org/drawingml/2006/table">
            <a:tbl>
              <a:tblPr/>
              <a:tblGrid>
                <a:gridCol w="6191250"/>
                <a:gridCol w="7905750"/>
              </a:tblGrid>
              <a:tr h="847725">
                <a:tc>
                  <a:txBody>
                    <a:bodyPr lIns="152400" tIns="95250" rIns="133350" bIns="95250"/>
                    <a:lstStyle/>
                    <a:p>
                      <a:r>
                        <a:rPr sz="2550" b="1">
                          <a:solidFill>
                            <a:srgbClr val="FFFFFF"/>
                          </a:solidFill>
                          <a:latin typeface="Arial"/>
                          <a:ea typeface="Arial"/>
                          <a:cs typeface="Arial"/>
                        </a:rPr>
                        <a:t>Vrij evenwicht</a:t>
                      </a:r>
                    </a:p>
                  </a:txBody>
                  <a:tcPr marL="91440" marR="91440" marT="45720" marB="45720" anchor="ctr">
                    <a:solidFill>
                      <a:srgbClr val="183247"/>
                    </a:solidFill>
                  </a:tcPr>
                </a:tc>
                <a:tc>
                  <a:txBody>
                    <a:bodyPr lIns="152400" tIns="95250" rIns="13335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r>
              <a:tr h="847725">
                <a:tc>
                  <a:txBody>
                    <a:bodyPr lIns="152400" tIns="95250" rIns="133350" bIns="95250"/>
                    <a:lstStyle/>
                    <a:p>
                      <a:r>
                        <a:rPr sz="2550" b="0">
                          <a:solidFill>
                            <a:srgbClr val="183247"/>
                          </a:solidFill>
                          <a:latin typeface="Arial"/>
                          <a:ea typeface="Arial"/>
                          <a:cs typeface="Arial"/>
                        </a:rPr>
                        <a:t>Hoeveelheid en prijs</a:t>
                      </a:r>
                    </a:p>
                  </a:txBody>
                  <a:tcPr marL="91440" marR="91440" marT="45720" marB="45720" anchor="ctr">
                    <a:solidFill>
                      <a:srgbClr val="FFFFFF"/>
                    </a:solidFill>
                  </a:tcPr>
                </a:tc>
                <a:tc>
                  <a:txBody>
                    <a:bodyPr lIns="152400" tIns="95250" rIns="133350" bIns="95250"/>
                    <a:lstStyle/>
                    <a:p>
                      <a:r>
                        <a:rPr sz="2550" b="0">
                          <a:solidFill>
                            <a:srgbClr val="183247"/>
                          </a:solidFill>
                          <a:latin typeface="Arial"/>
                          <a:ea typeface="Arial"/>
                          <a:cs typeface="Arial"/>
                        </a:rPr>
                        <a:t>Q = 60; P = € 20</a:t>
                      </a:r>
                    </a:p>
                  </a:txBody>
                  <a:tcPr marL="91440" marR="91440" marT="45720" marB="45720" anchor="ctr">
                    <a:solidFill>
                      <a:srgbClr val="FFFFFF"/>
                    </a:solidFill>
                  </a:tcPr>
                </a:tc>
              </a:tr>
              <a:tr h="847725">
                <a:tc>
                  <a:txBody>
                    <a:bodyPr lIns="152400" tIns="95250" rIns="133350" bIns="95250"/>
                    <a:lstStyle/>
                    <a:p>
                      <a:r>
                        <a:rPr sz="2550" b="0">
                          <a:solidFill>
                            <a:srgbClr val="183247"/>
                          </a:solidFill>
                          <a:latin typeface="Arial"/>
                          <a:ea typeface="Arial"/>
                          <a:cs typeface="Arial"/>
                        </a:rPr>
                        <a:t>Surplus</a:t>
                      </a:r>
                    </a:p>
                  </a:txBody>
                  <a:tcPr marL="91440" marR="91440" marT="45720" marB="45720" anchor="ctr">
                    <a:solidFill>
                      <a:srgbClr val="EFF4F7"/>
                    </a:solidFill>
                  </a:tcPr>
                </a:tc>
                <a:tc>
                  <a:txBody>
                    <a:bodyPr lIns="152400" tIns="95250" rIns="133350" bIns="95250"/>
                    <a:lstStyle/>
                    <a:p>
                      <a:r>
                        <a:rPr sz="2550" b="0">
                          <a:solidFill>
                            <a:srgbClr val="183247"/>
                          </a:solidFill>
                          <a:latin typeface="Arial"/>
                          <a:ea typeface="Arial"/>
                          <a:cs typeface="Arial"/>
                        </a:rPr>
                        <a:t>CS = € 900; PS = € 450; TS = € 1.350</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1408060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6: de reserveringsregel">
            <a:extLst xmlns:a="http://schemas.openxmlformats.org/drawingml/2006/main">
              <a:ext uri="{FF2B5EF4-FFF2-40B4-BE49-F238E27FC236}">
                <a16:creationId xmlns:a16="http://schemas.microsoft.com/office/drawing/2014/main" id="{3183473D-916D-4A01-AF82-BD543B77CBBE}"/>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 de reserveringsregel</a:t>
            </a:r>
          </a:p>
        </p:txBody>
      </p:sp>
      <p:sp>
        <p:nvSpPr>
          <p:cNvPr id="2" name="">
            <a:extLst xmlns:a="http://schemas.openxmlformats.org/drawingml/2006/main">
              <a:ext uri="{FF2B5EF4-FFF2-40B4-BE49-F238E27FC236}">
                <a16:creationId xmlns:a16="http://schemas.microsoft.com/office/drawing/2014/main" id="{05008E33-BBD5-45C1-A9F0-DCF934358B2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4AAD00AA-4A80-422E-B8C6-7D18E6718889}"/>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16">
            <a:extLst xmlns:a="http://schemas.openxmlformats.org/drawingml/2006/main">
              <a:ext uri="{FF2B5EF4-FFF2-40B4-BE49-F238E27FC236}">
                <a16:creationId xmlns:a16="http://schemas.microsoft.com/office/drawing/2014/main" id="{AB3954D0-59D6-496E-8012-8C61DA95B49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Een kosteloos verruimbare reserveringsregel zet de prijs op € 25&#10;">
            <a:extLst xmlns:a="http://schemas.openxmlformats.org/drawingml/2006/main">
              <a:ext uri="{FF2B5EF4-FFF2-40B4-BE49-F238E27FC236}">
                <a16:creationId xmlns:a16="http://schemas.microsoft.com/office/drawing/2014/main" id="{237A8F49-D417-44C1-AFA9-BC9E8CD8222C}"/>
              </a:ext>
            </a:extLst>
          </p:cNvPr>
          <p:cNvSpPr>
            <a:spLocks xmlns:a="http://schemas.openxmlformats.org/drawingml/2006/main" noGrp="1"/>
          </p:cNvSpPr>
          <p:nvPr/>
        </p:nvSpPr>
        <p:spPr>
          <a:xfrm xmlns:a="http://schemas.openxmlformats.org/drawingml/2006/main">
            <a:off x="571500" y="2076450"/>
            <a:ext cx="1409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Een kosteloos verruimbare reserveringsregel zet de prijs op € 25</a:t>
            </a:r>
          </a:p>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en beperkt boekingen tot 40 kaartjes.</a:t>
            </a:r>
          </a:p>
        </p:txBody>
      </p:sp>
      <p:sp>
        <p:nvSpPr>
          <p:cNvPr id="6" name="Het platform kan technisch minstens 60 transacties verwerken.">
            <a:extLst xmlns:a="http://schemas.openxmlformats.org/drawingml/2006/main">
              <a:ext uri="{FF2B5EF4-FFF2-40B4-BE49-F238E27FC236}">
                <a16:creationId xmlns:a16="http://schemas.microsoft.com/office/drawing/2014/main" id="{B60C3742-1A15-4E10-A38E-257B21E78CF1}"/>
              </a:ext>
            </a:extLst>
          </p:cNvPr>
          <p:cNvSpPr>
            <a:spLocks xmlns:a="http://schemas.openxmlformats.org/drawingml/2006/main" noGrp="1"/>
          </p:cNvSpPr>
          <p:nvPr/>
        </p:nvSpPr>
        <p:spPr>
          <a:xfrm xmlns:a="http://schemas.openxmlformats.org/drawingml/2006/main">
            <a:off x="571500" y="381952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Het platform kan technisch minstens 60 transacties verwerken.</a:t>
            </a:r>
          </a:p>
        </p:txBody>
      </p:sp>
      <p:sp>
        <p:nvSpPr>
          <p:cNvPr id="7" name="De 40 kaartjes gaan naar de vragers met de hoogste betalingsberei">
            <a:extLst xmlns:a="http://schemas.openxmlformats.org/drawingml/2006/main">
              <a:ext uri="{FF2B5EF4-FFF2-40B4-BE49-F238E27FC236}">
                <a16:creationId xmlns:a16="http://schemas.microsoft.com/office/drawing/2014/main" id="{EFBCBE05-DE39-4447-9C37-AEF65F8DEE1A}"/>
              </a:ext>
            </a:extLst>
          </p:cNvPr>
          <p:cNvSpPr>
            <a:spLocks xmlns:a="http://schemas.openxmlformats.org/drawingml/2006/main" noGrp="1"/>
          </p:cNvSpPr>
          <p:nvPr/>
        </p:nvSpPr>
        <p:spPr>
          <a:xfrm xmlns:a="http://schemas.openxmlformats.org/drawingml/2006/main">
            <a:off x="571500" y="4991100"/>
            <a:ext cx="14097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40 kaartjes gaan naar de vragers met de hoogste betalingsbereidheid.</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aanbieders met de laagste marginale kosten leveren de kaartjes.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Daardoor vinden precies 40 transacties plaats.</a:t>
            </a:r>
          </a:p>
        </p:txBody>
      </p:sp>
      <p:sp>
        <p:nvSpPr>
          <p:cNvPr id="8" name="Bij verruiming blijven de prijs en alle bestaande transacties ong">
            <a:extLst xmlns:a="http://schemas.openxmlformats.org/drawingml/2006/main">
              <a:ext uri="{FF2B5EF4-FFF2-40B4-BE49-F238E27FC236}">
                <a16:creationId xmlns:a16="http://schemas.microsoft.com/office/drawing/2014/main" id="{1256B80A-992E-43D8-A684-557610D8E7BC}"/>
              </a:ext>
            </a:extLst>
          </p:cNvPr>
          <p:cNvSpPr>
            <a:spLocks xmlns:a="http://schemas.openxmlformats.org/drawingml/2006/main" noGrp="1"/>
          </p:cNvSpPr>
          <p:nvPr/>
        </p:nvSpPr>
        <p:spPr>
          <a:xfrm xmlns:a="http://schemas.openxmlformats.org/drawingml/2006/main">
            <a:off x="571500" y="71056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Bij verruiming blijven de prijs en alle bestaande transacties ongewijzigd.</a:t>
            </a:r>
          </a:p>
        </p:txBody>
      </p:sp>
    </p:spTree>
    <p:extLst>
      <p:ext uri="{BB962C8B-B14F-4D97-AF65-F5344CB8AC3E}">
        <p14:creationId xmlns:p14="http://schemas.microsoft.com/office/powerpoint/2010/main" val="5030364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6: de basisgrafiek">
            <a:extLst xmlns:a="http://schemas.openxmlformats.org/drawingml/2006/main">
              <a:ext uri="{FF2B5EF4-FFF2-40B4-BE49-F238E27FC236}">
                <a16:creationId xmlns:a16="http://schemas.microsoft.com/office/drawing/2014/main" id="{E918C1F5-B3F2-432E-8CD7-D511B482DC96}"/>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 de basisgrafiek</a:t>
            </a:r>
          </a:p>
        </p:txBody>
      </p:sp>
      <p:sp>
        <p:nvSpPr>
          <p:cNvPr id="2" name="">
            <a:extLst xmlns:a="http://schemas.openxmlformats.org/drawingml/2006/main">
              <a:ext uri="{FF2B5EF4-FFF2-40B4-BE49-F238E27FC236}">
                <a16:creationId xmlns:a16="http://schemas.microsoft.com/office/drawing/2014/main" id="{EE289CEE-5804-4FB7-8945-5696ED30BDE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29A87381-0AD3-4C65-A8F1-E08A8F9B0D20}"/>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17">
            <a:extLst xmlns:a="http://schemas.openxmlformats.org/drawingml/2006/main">
              <a:ext uri="{FF2B5EF4-FFF2-40B4-BE49-F238E27FC236}">
                <a16:creationId xmlns:a16="http://schemas.microsoft.com/office/drawing/2014/main" id="{9F82600D-06FB-4E34-BDD8-A836916949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V: P = 50 − 0,5Q     A = MK: P = 5 + 0,25Q">
            <a:extLst xmlns:a="http://schemas.openxmlformats.org/drawingml/2006/main">
              <a:ext uri="{FF2B5EF4-FFF2-40B4-BE49-F238E27FC236}">
                <a16:creationId xmlns:a16="http://schemas.microsoft.com/office/drawing/2014/main" id="{17ED981B-0291-4D5A-85F9-B0BF1EC88846}"/>
              </a:ext>
            </a:extLst>
          </p:cNvPr>
          <p:cNvSpPr>
            <a:spLocks xmlns:a="http://schemas.openxmlformats.org/drawingml/2006/main" noGrp="1"/>
          </p:cNvSpPr>
          <p:nvPr/>
        </p:nvSpPr>
        <p:spPr>
          <a:xfrm xmlns:a="http://schemas.openxmlformats.org/drawingml/2006/main">
            <a:off x="571500" y="175260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 P = 50 − 0,5Q     A = MK: P = 5 + 0,25Q</a:t>
            </a:r>
          </a:p>
        </p:txBody>
      </p:sp>
      <p:graphicFrame>
        <p:nvGraphicFramePr>
          <p:cNvPr id="12" name="Chart"/>
          <p:cNvGraphicFramePr/>
          <p:nvPr/>
        </p:nvGraphicFramePr>
        <p:xfrm>
          <a:off xmlns:a="http://schemas.openxmlformats.org/drawingml/2006/main" x="571500" y="2476500"/>
          <a:ext xmlns:a="http://schemas.openxmlformats.org/drawingml/2006/main" cx="14097000" cy="5191125"/>
        </p:xfrm>
        <a:graphic xmlns:a="http://schemas.openxmlformats.org/drawingml/2006/main">
          <a:graphicData uri="http://schemas.openxmlformats.org/drawingml/2006/chart">
            <c:chart xmlns:r="http://schemas.openxmlformats.org/officeDocument/2006/relationships" xmlns:c="http://schemas.openxmlformats.org/drawingml/2006/chart" r:id="Rcb53554ece774404"/>
          </a:graphicData>
        </a:graphic>
      </p:graphicFrame>
    </p:spTree>
    <p:extLst>
      <p:ext uri="{BB962C8B-B14F-4D97-AF65-F5344CB8AC3E}">
        <p14:creationId xmlns:p14="http://schemas.microsoft.com/office/powerpoint/2010/main" val="7021665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6: vragen a en b">
            <a:extLst xmlns:a="http://schemas.openxmlformats.org/drawingml/2006/main">
              <a:ext uri="{FF2B5EF4-FFF2-40B4-BE49-F238E27FC236}">
                <a16:creationId xmlns:a16="http://schemas.microsoft.com/office/drawing/2014/main" id="{DFDEB924-781D-4F3B-8147-C61C698F50A5}"/>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 vragen a en b</a:t>
            </a:r>
          </a:p>
        </p:txBody>
      </p:sp>
      <p:sp>
        <p:nvSpPr>
          <p:cNvPr id="2" name="">
            <a:extLst xmlns:a="http://schemas.openxmlformats.org/drawingml/2006/main">
              <a:ext uri="{FF2B5EF4-FFF2-40B4-BE49-F238E27FC236}">
                <a16:creationId xmlns:a16="http://schemas.microsoft.com/office/drawing/2014/main" id="{8273A30C-1D0D-43EA-A427-846E21002A5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0D3C3A07-67FF-4F74-B88A-439D45326952}"/>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18">
            <a:extLst xmlns:a="http://schemas.openxmlformats.org/drawingml/2006/main">
              <a:ext uri="{FF2B5EF4-FFF2-40B4-BE49-F238E27FC236}">
                <a16:creationId xmlns:a16="http://schemas.microsoft.com/office/drawing/2014/main" id="{22E651DF-7E40-4333-A27D-41C700C924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a:extLst xmlns:a="http://schemas.openxmlformats.org/drawingml/2006/main">
              <a:ext uri="{FF2B5EF4-FFF2-40B4-BE49-F238E27FC236}">
                <a16:creationId xmlns:a16="http://schemas.microsoft.com/office/drawing/2014/main" id="{53969E76-C5A8-4854-A454-420D73203D50}"/>
              </a:ext>
            </a:extLst>
          </p:cNvPr>
          <p:cNvSpPr>
            <a:spLocks xmlns:a="http://schemas.openxmlformats.org/drawingml/2006/main" noGrp="1"/>
          </p:cNvSpPr>
          <p:nvPr/>
        </p:nvSpPr>
        <p:spPr>
          <a:xfrm xmlns:a="http://schemas.openxmlformats.org/drawingml/2006/main">
            <a:off x="571500" y="218122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a)</a:t>
            </a:r>
          </a:p>
        </p:txBody>
      </p:sp>
      <p:sp>
        <p:nvSpPr>
          <p:cNvPr id="6" name="Omschrijf Pareto-efficiëntie binnen dit marktmodel: wanneer kan g">
            <a:extLst xmlns:a="http://schemas.openxmlformats.org/drawingml/2006/main">
              <a:ext uri="{FF2B5EF4-FFF2-40B4-BE49-F238E27FC236}">
                <a16:creationId xmlns:a16="http://schemas.microsoft.com/office/drawing/2014/main" id="{120FA19F-8903-4AD9-9A3A-CABB6061C4D9}"/>
              </a:ext>
            </a:extLst>
          </p:cNvPr>
          <p:cNvSpPr>
            <a:spLocks xmlns:a="http://schemas.openxmlformats.org/drawingml/2006/main" noGrp="1"/>
          </p:cNvSpPr>
          <p:nvPr/>
        </p:nvSpPr>
        <p:spPr>
          <a:xfrm xmlns:a="http://schemas.openxmlformats.org/drawingml/2006/main">
            <a:off x="1952625" y="2181225"/>
            <a:ext cx="1271587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Omschrijf Pareto-efficiëntie binnen dit marktmodel: wanneer kan geen haalbare extra transactie of herverdeling iemand beter maken zonder iemand anders slechter te maken?</a:t>
            </a:r>
          </a:p>
        </p:txBody>
      </p:sp>
      <p:sp>
        <p:nvSpPr>
          <p:cNvPr id="7" name="">
            <a:extLst xmlns:a="http://schemas.openxmlformats.org/drawingml/2006/main">
              <a:ext uri="{FF2B5EF4-FFF2-40B4-BE49-F238E27FC236}">
                <a16:creationId xmlns:a16="http://schemas.microsoft.com/office/drawing/2014/main" id="{BEAC3479-E3BE-4559-9149-D0BC518A6E8B}"/>
              </a:ext>
            </a:extLst>
          </p:cNvPr>
          <p:cNvSpPr>
            <a:spLocks xmlns:a="http://schemas.openxmlformats.org/drawingml/2006/main" noGrp="1"/>
          </p:cNvSpPr>
          <p:nvPr/>
        </p:nvSpPr>
        <p:spPr>
          <a:xfrm xmlns:a="http://schemas.openxmlformats.org/drawingml/2006/main">
            <a:off x="571500" y="4781550"/>
            <a:ext cx="14097000" cy="0"/>
          </a:xfrm>
          <a:prstGeom xmlns:a="http://schemas.openxmlformats.org/drawingml/2006/main" prst="line">
            <a:avLst/>
          </a:prstGeom>
          <a:ln xmlns:a="http://schemas.openxmlformats.org/drawingml/2006/main" w="19050">
            <a:solidFill>
              <a:srgbClr val="C6D2DB"/>
            </a:solidFill>
          </a:ln>
        </p:spPr>
      </p:sp>
      <p:sp>
        <p:nvSpPr>
          <p:cNvPr id="8" name="b)">
            <a:extLst xmlns:a="http://schemas.openxmlformats.org/drawingml/2006/main">
              <a:ext uri="{FF2B5EF4-FFF2-40B4-BE49-F238E27FC236}">
                <a16:creationId xmlns:a16="http://schemas.microsoft.com/office/drawing/2014/main" id="{D0A92E6D-F449-4B20-B3E5-28E9A486B81B}"/>
              </a:ext>
            </a:extLst>
          </p:cNvPr>
          <p:cNvSpPr>
            <a:spLocks xmlns:a="http://schemas.openxmlformats.org/drawingml/2006/main" noGrp="1"/>
          </p:cNvSpPr>
          <p:nvPr/>
        </p:nvSpPr>
        <p:spPr>
          <a:xfrm xmlns:a="http://schemas.openxmlformats.org/drawingml/2006/main">
            <a:off x="571500" y="5238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b)</a:t>
            </a:r>
          </a:p>
        </p:txBody>
      </p:sp>
      <p:sp>
        <p:nvSpPr>
          <p:cNvPr id="9" name="Bereken bij P = € 25 de gevraagde hoeveelheid (Qv) en aangeboden ">
            <a:extLst xmlns:a="http://schemas.openxmlformats.org/drawingml/2006/main">
              <a:ext uri="{FF2B5EF4-FFF2-40B4-BE49-F238E27FC236}">
                <a16:creationId xmlns:a16="http://schemas.microsoft.com/office/drawing/2014/main" id="{2320B0C1-DE75-416C-9048-486F0894D0C9}"/>
              </a:ext>
            </a:extLst>
          </p:cNvPr>
          <p:cNvSpPr>
            <a:spLocks xmlns:a="http://schemas.openxmlformats.org/drawingml/2006/main" noGrp="1"/>
          </p:cNvSpPr>
          <p:nvPr/>
        </p:nvSpPr>
        <p:spPr>
          <a:xfrm xmlns:a="http://schemas.openxmlformats.org/drawingml/2006/main">
            <a:off x="1952625" y="5238750"/>
            <a:ext cx="1271587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bij P = € 25 de gevraagde hoeveelheid (Qv) en aangeboden hoeveelheid (Qa). Leg met de reserveringsregel uit waarom het werkelijke aantal transacties 40 is en welke vragers en aanbieders handelen.</a:t>
            </a:r>
          </a:p>
        </p:txBody>
      </p:sp>
    </p:spTree>
    <p:extLst>
      <p:ext uri="{BB962C8B-B14F-4D97-AF65-F5344CB8AC3E}">
        <p14:creationId xmlns:p14="http://schemas.microsoft.com/office/powerpoint/2010/main" val="199710758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6: vragen c en d">
            <a:extLst xmlns:a="http://schemas.openxmlformats.org/drawingml/2006/main">
              <a:ext uri="{FF2B5EF4-FFF2-40B4-BE49-F238E27FC236}">
                <a16:creationId xmlns:a16="http://schemas.microsoft.com/office/drawing/2014/main" id="{A470B791-36B8-4330-8D05-E5B0F75C31A1}"/>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 vragen c en d</a:t>
            </a:r>
          </a:p>
        </p:txBody>
      </p:sp>
      <p:sp>
        <p:nvSpPr>
          <p:cNvPr id="2" name="">
            <a:extLst xmlns:a="http://schemas.openxmlformats.org/drawingml/2006/main">
              <a:ext uri="{FF2B5EF4-FFF2-40B4-BE49-F238E27FC236}">
                <a16:creationId xmlns:a16="http://schemas.microsoft.com/office/drawing/2014/main" id="{7DC7B73C-768A-4C6B-84CE-8C75743106B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E9265053-0993-4282-87B2-2BC4A1B4101C}"/>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19">
            <a:extLst xmlns:a="http://schemas.openxmlformats.org/drawingml/2006/main">
              <a:ext uri="{FF2B5EF4-FFF2-40B4-BE49-F238E27FC236}">
                <a16:creationId xmlns:a16="http://schemas.microsoft.com/office/drawing/2014/main" id="{2532C591-1004-404E-A635-A64C4C21625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c)">
            <a:extLst xmlns:a="http://schemas.openxmlformats.org/drawingml/2006/main">
              <a:ext uri="{FF2B5EF4-FFF2-40B4-BE49-F238E27FC236}">
                <a16:creationId xmlns:a16="http://schemas.microsoft.com/office/drawing/2014/main" id="{B6C3B026-A741-4064-8714-2B2080A885D1}"/>
              </a:ext>
            </a:extLst>
          </p:cNvPr>
          <p:cNvSpPr>
            <a:spLocks xmlns:a="http://schemas.openxmlformats.org/drawingml/2006/main" noGrp="1"/>
          </p:cNvSpPr>
          <p:nvPr/>
        </p:nvSpPr>
        <p:spPr>
          <a:xfrm xmlns:a="http://schemas.openxmlformats.org/drawingml/2006/main">
            <a:off x="571500" y="21526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c)</a:t>
            </a:r>
          </a:p>
        </p:txBody>
      </p:sp>
      <p:sp>
        <p:nvSpPr>
          <p:cNvPr id="6" name="Bereken bij 40 transacties en P = € 25 het CS en PS. Splits elk o">
            <a:extLst xmlns:a="http://schemas.openxmlformats.org/drawingml/2006/main">
              <a:ext uri="{FF2B5EF4-FFF2-40B4-BE49-F238E27FC236}">
                <a16:creationId xmlns:a16="http://schemas.microsoft.com/office/drawing/2014/main" id="{49123AD1-483C-462A-88BF-8D3A1294518D}"/>
              </a:ext>
            </a:extLst>
          </p:cNvPr>
          <p:cNvSpPr>
            <a:spLocks xmlns:a="http://schemas.openxmlformats.org/drawingml/2006/main" noGrp="1"/>
          </p:cNvSpPr>
          <p:nvPr/>
        </p:nvSpPr>
        <p:spPr>
          <a:xfrm xmlns:a="http://schemas.openxmlformats.org/drawingml/2006/main">
            <a:off x="1952625" y="2152650"/>
            <a:ext cx="12715875"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bij 40 transacties en P = € 25 het CS en PS. Splits elk oppervlak zo nodig in een rechthoek en een driehoek; gebruik de allocatieregel.</a:t>
            </a:r>
          </a:p>
        </p:txBody>
      </p:sp>
      <p:sp>
        <p:nvSpPr>
          <p:cNvPr id="7" name="">
            <a:extLst xmlns:a="http://schemas.openxmlformats.org/drawingml/2006/main">
              <a:ext uri="{FF2B5EF4-FFF2-40B4-BE49-F238E27FC236}">
                <a16:creationId xmlns:a16="http://schemas.microsoft.com/office/drawing/2014/main" id="{D7FD9FBB-EC54-4CFF-BE27-731F6E275586}"/>
              </a:ext>
            </a:extLst>
          </p:cNvPr>
          <p:cNvSpPr>
            <a:spLocks xmlns:a="http://schemas.openxmlformats.org/drawingml/2006/main" noGrp="1"/>
          </p:cNvSpPr>
          <p:nvPr/>
        </p:nvSpPr>
        <p:spPr>
          <a:xfrm xmlns:a="http://schemas.openxmlformats.org/drawingml/2006/main">
            <a:off x="571500" y="4686300"/>
            <a:ext cx="14097000" cy="0"/>
          </a:xfrm>
          <a:prstGeom xmlns:a="http://schemas.openxmlformats.org/drawingml/2006/main" prst="line">
            <a:avLst/>
          </a:prstGeom>
          <a:ln xmlns:a="http://schemas.openxmlformats.org/drawingml/2006/main" w="19050">
            <a:solidFill>
              <a:srgbClr val="C6D2DB"/>
            </a:solidFill>
          </a:ln>
        </p:spPr>
      </p:sp>
      <p:sp>
        <p:nvSpPr>
          <p:cNvPr id="8" name="d)">
            <a:extLst xmlns:a="http://schemas.openxmlformats.org/drawingml/2006/main">
              <a:ext uri="{FF2B5EF4-FFF2-40B4-BE49-F238E27FC236}">
                <a16:creationId xmlns:a16="http://schemas.microsoft.com/office/drawing/2014/main" id="{7B736877-C863-4D5E-85F4-65E62F2D8D46}"/>
              </a:ext>
            </a:extLst>
          </p:cNvPr>
          <p:cNvSpPr>
            <a:spLocks xmlns:a="http://schemas.openxmlformats.org/drawingml/2006/main" noGrp="1"/>
          </p:cNvSpPr>
          <p:nvPr/>
        </p:nvSpPr>
        <p:spPr>
          <a:xfrm xmlns:a="http://schemas.openxmlformats.org/drawingml/2006/main">
            <a:off x="571500" y="517207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d)</a:t>
            </a:r>
          </a:p>
        </p:txBody>
      </p:sp>
      <p:sp>
        <p:nvSpPr>
          <p:cNvPr id="9" name="Bereken TS en het welvaartsverlies ten opzichte van het vrije eve">
            <a:extLst xmlns:a="http://schemas.openxmlformats.org/drawingml/2006/main">
              <a:ext uri="{FF2B5EF4-FFF2-40B4-BE49-F238E27FC236}">
                <a16:creationId xmlns:a16="http://schemas.microsoft.com/office/drawing/2014/main" id="{4D52AB77-1581-4829-A93A-F1B61798E6AB}"/>
              </a:ext>
            </a:extLst>
          </p:cNvPr>
          <p:cNvSpPr>
            <a:spLocks xmlns:a="http://schemas.openxmlformats.org/drawingml/2006/main" noGrp="1"/>
          </p:cNvSpPr>
          <p:nvPr/>
        </p:nvSpPr>
        <p:spPr>
          <a:xfrm xmlns:a="http://schemas.openxmlformats.org/drawingml/2006/main">
            <a:off x="1952625" y="5172075"/>
            <a:ext cx="12715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TS en het welvaartsverlies ten opzichte van het vrije evenwicht. Arceer het welvaartsverlies tussen Q = 40 en Q = 60 in de basisgrafiek en benoem basis en hoogte.</a:t>
            </a:r>
          </a:p>
        </p:txBody>
      </p:sp>
    </p:spTree>
    <p:extLst>
      <p:ext uri="{BB962C8B-B14F-4D97-AF65-F5344CB8AC3E}">
        <p14:creationId xmlns:p14="http://schemas.microsoft.com/office/powerpoint/2010/main" val="2722236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6: vragen e en f">
            <a:extLst xmlns:a="http://schemas.openxmlformats.org/drawingml/2006/main">
              <a:ext uri="{FF2B5EF4-FFF2-40B4-BE49-F238E27FC236}">
                <a16:creationId xmlns:a16="http://schemas.microsoft.com/office/drawing/2014/main" id="{9BCC509D-34D0-4AE8-96BC-DFF892821501}"/>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 vragen e en f</a:t>
            </a:r>
          </a:p>
        </p:txBody>
      </p:sp>
      <p:sp>
        <p:nvSpPr>
          <p:cNvPr id="2" name="">
            <a:extLst xmlns:a="http://schemas.openxmlformats.org/drawingml/2006/main">
              <a:ext uri="{FF2B5EF4-FFF2-40B4-BE49-F238E27FC236}">
                <a16:creationId xmlns:a16="http://schemas.microsoft.com/office/drawing/2014/main" id="{10EB984B-00B6-472F-8E49-72B04CADBD7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248FB7B3-46E3-4AD9-AA04-6466782DFF43}"/>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0">
            <a:extLst xmlns:a="http://schemas.openxmlformats.org/drawingml/2006/main">
              <a:ext uri="{FF2B5EF4-FFF2-40B4-BE49-F238E27FC236}">
                <a16:creationId xmlns:a16="http://schemas.microsoft.com/office/drawing/2014/main" id="{AA73C87A-0BB6-4F6E-BB1F-E1AED50946A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e)">
            <a:extLst xmlns:a="http://schemas.openxmlformats.org/drawingml/2006/main">
              <a:ext uri="{FF2B5EF4-FFF2-40B4-BE49-F238E27FC236}">
                <a16:creationId xmlns:a16="http://schemas.microsoft.com/office/drawing/2014/main" id="{7A5AF169-57F3-4E82-8BA5-D914B8E84559}"/>
              </a:ext>
            </a:extLst>
          </p:cNvPr>
          <p:cNvSpPr>
            <a:spLocks xmlns:a="http://schemas.openxmlformats.org/drawingml/2006/main" noGrp="1"/>
          </p:cNvSpPr>
          <p:nvPr/>
        </p:nvSpPr>
        <p:spPr>
          <a:xfrm xmlns:a="http://schemas.openxmlformats.org/drawingml/2006/main">
            <a:off x="571500" y="214312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e)</a:t>
            </a:r>
          </a:p>
        </p:txBody>
      </p:sp>
      <p:sp>
        <p:nvSpPr>
          <p:cNvPr id="6" name="Pas je definitie uit vraag a toe op de 41e transactie. Leg met be">
            <a:extLst xmlns:a="http://schemas.openxmlformats.org/drawingml/2006/main">
              <a:ext uri="{FF2B5EF4-FFF2-40B4-BE49-F238E27FC236}">
                <a16:creationId xmlns:a16="http://schemas.microsoft.com/office/drawing/2014/main" id="{B780E7C2-6B58-4C74-8A7D-AD4BD66193F1}"/>
              </a:ext>
            </a:extLst>
          </p:cNvPr>
          <p:cNvSpPr>
            <a:spLocks xmlns:a="http://schemas.openxmlformats.org/drawingml/2006/main" noGrp="1"/>
          </p:cNvSpPr>
          <p:nvPr/>
        </p:nvSpPr>
        <p:spPr>
          <a:xfrm xmlns:a="http://schemas.openxmlformats.org/drawingml/2006/main">
            <a:off x="1952625" y="2143125"/>
            <a:ext cx="12715875"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Pas je definitie uit vraag a toe op de 41e transactie. Leg met betalingsbereidheid, marginale kosten en de kosteloze verruiming uit waarom 40 transacties niet Pareto-efficiënt zijn.</a:t>
            </a:r>
          </a:p>
        </p:txBody>
      </p:sp>
      <p:sp>
        <p:nvSpPr>
          <p:cNvPr id="7" name="">
            <a:extLst xmlns:a="http://schemas.openxmlformats.org/drawingml/2006/main">
              <a:ext uri="{FF2B5EF4-FFF2-40B4-BE49-F238E27FC236}">
                <a16:creationId xmlns:a16="http://schemas.microsoft.com/office/drawing/2014/main" id="{F4FDAC8C-7161-446D-9F42-6C60159D9584}"/>
              </a:ext>
            </a:extLst>
          </p:cNvPr>
          <p:cNvSpPr>
            <a:spLocks xmlns:a="http://schemas.openxmlformats.org/drawingml/2006/main" noGrp="1"/>
          </p:cNvSpPr>
          <p:nvPr/>
        </p:nvSpPr>
        <p:spPr>
          <a:xfrm xmlns:a="http://schemas.openxmlformats.org/drawingml/2006/main">
            <a:off x="571500" y="4819650"/>
            <a:ext cx="14097000" cy="0"/>
          </a:xfrm>
          <a:prstGeom xmlns:a="http://schemas.openxmlformats.org/drawingml/2006/main" prst="line">
            <a:avLst/>
          </a:prstGeom>
          <a:ln xmlns:a="http://schemas.openxmlformats.org/drawingml/2006/main" w="19050">
            <a:solidFill>
              <a:srgbClr val="C6D2DB"/>
            </a:solidFill>
          </a:ln>
        </p:spPr>
      </p:sp>
      <p:sp>
        <p:nvSpPr>
          <p:cNvPr id="8" name="f)">
            <a:extLst xmlns:a="http://schemas.openxmlformats.org/drawingml/2006/main">
              <a:ext uri="{FF2B5EF4-FFF2-40B4-BE49-F238E27FC236}">
                <a16:creationId xmlns:a16="http://schemas.microsoft.com/office/drawing/2014/main" id="{DC5B6FA7-C5B9-4B6F-B4FC-AC6AD42F1ECF}"/>
              </a:ext>
            </a:extLst>
          </p:cNvPr>
          <p:cNvSpPr>
            <a:spLocks xmlns:a="http://schemas.openxmlformats.org/drawingml/2006/main" noGrp="1"/>
          </p:cNvSpPr>
          <p:nvPr/>
        </p:nvSpPr>
        <p:spPr>
          <a:xfrm xmlns:a="http://schemas.openxmlformats.org/drawingml/2006/main">
            <a:off x="571500" y="53149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f)</a:t>
            </a:r>
          </a:p>
        </p:txBody>
      </p:sp>
      <p:sp>
        <p:nvSpPr>
          <p:cNvPr id="9" name="Leg uit waarom een hoger TS of Pareto-efficiëntie niet automatisc">
            <a:extLst xmlns:a="http://schemas.openxmlformats.org/drawingml/2006/main">
              <a:ext uri="{FF2B5EF4-FFF2-40B4-BE49-F238E27FC236}">
                <a16:creationId xmlns:a16="http://schemas.microsoft.com/office/drawing/2014/main" id="{AB9E72D5-72CB-4ECA-B5DE-81DE0A3327DB}"/>
              </a:ext>
            </a:extLst>
          </p:cNvPr>
          <p:cNvSpPr>
            <a:spLocks xmlns:a="http://schemas.openxmlformats.org/drawingml/2006/main" noGrp="1"/>
          </p:cNvSpPr>
          <p:nvPr/>
        </p:nvSpPr>
        <p:spPr>
          <a:xfrm xmlns:a="http://schemas.openxmlformats.org/drawingml/2006/main">
            <a:off x="1952625" y="5314950"/>
            <a:ext cx="1271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Leg uit waarom een hoger TS of Pareto-efficiëntie niet automatisch betekent dat de verdeling eerlijk is.</a:t>
            </a:r>
          </a:p>
        </p:txBody>
      </p:sp>
    </p:spTree>
    <p:extLst>
      <p:ext uri="{BB962C8B-B14F-4D97-AF65-F5344CB8AC3E}">
        <p14:creationId xmlns:p14="http://schemas.microsoft.com/office/powerpoint/2010/main" val="851452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6a: Pareto-efficiëntie">
            <a:extLst xmlns:a="http://schemas.openxmlformats.org/drawingml/2006/main">
              <a:ext uri="{FF2B5EF4-FFF2-40B4-BE49-F238E27FC236}">
                <a16:creationId xmlns:a16="http://schemas.microsoft.com/office/drawing/2014/main" id="{0921BA2D-BDD9-4177-B3BE-D4AA57EF7B82}"/>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6a: Pareto-efficiëntie</a:t>
            </a:r>
          </a:p>
        </p:txBody>
      </p:sp>
      <p:sp>
        <p:nvSpPr>
          <p:cNvPr id="2" name="">
            <a:extLst xmlns:a="http://schemas.openxmlformats.org/drawingml/2006/main">
              <a:ext uri="{FF2B5EF4-FFF2-40B4-BE49-F238E27FC236}">
                <a16:creationId xmlns:a16="http://schemas.microsoft.com/office/drawing/2014/main" id="{39E37F2B-A1EA-4FEC-B006-CD3959B176E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3A76F86D-BD93-469E-B206-E08CB8C192E9}"/>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1">
            <a:extLst xmlns:a="http://schemas.openxmlformats.org/drawingml/2006/main">
              <a:ext uri="{FF2B5EF4-FFF2-40B4-BE49-F238E27FC236}">
                <a16:creationId xmlns:a16="http://schemas.microsoft.com/office/drawing/2014/main" id="{B750779E-094E-4682-92AC-3F938B6E250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Er is geen haalbare extra transactie of herverdeling&#10;die iemand b">
            <a:extLst xmlns:a="http://schemas.openxmlformats.org/drawingml/2006/main">
              <a:ext uri="{FF2B5EF4-FFF2-40B4-BE49-F238E27FC236}">
                <a16:creationId xmlns:a16="http://schemas.microsoft.com/office/drawing/2014/main" id="{D3F7298C-BB74-41A6-A9AE-4809175E876F}"/>
              </a:ext>
            </a:extLst>
          </p:cNvPr>
          <p:cNvSpPr>
            <a:spLocks xmlns:a="http://schemas.openxmlformats.org/drawingml/2006/main" noGrp="1"/>
          </p:cNvSpPr>
          <p:nvPr/>
        </p:nvSpPr>
        <p:spPr>
          <a:xfrm xmlns:a="http://schemas.openxmlformats.org/drawingml/2006/main">
            <a:off x="571500" y="2286000"/>
            <a:ext cx="14097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Er is geen haalbare extra transactie of herverdeling</a:t>
            </a:r>
          </a:p>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die iemand beter af maakt zonder iemand anders</a:t>
            </a:r>
          </a:p>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slechter af te maken.</a:t>
            </a:r>
          </a:p>
        </p:txBody>
      </p:sp>
      <p:sp>
        <p:nvSpPr>
          <p:cNvPr id="6" name="Dit geldt binnen de gegeven modelaannames.">
            <a:extLst xmlns:a="http://schemas.openxmlformats.org/drawingml/2006/main">
              <a:ext uri="{FF2B5EF4-FFF2-40B4-BE49-F238E27FC236}">
                <a16:creationId xmlns:a16="http://schemas.microsoft.com/office/drawing/2014/main" id="{C5F116DD-7CEC-4722-8AF4-866A99766808}"/>
              </a:ext>
            </a:extLst>
          </p:cNvPr>
          <p:cNvSpPr>
            <a:spLocks xmlns:a="http://schemas.openxmlformats.org/drawingml/2006/main" noGrp="1"/>
          </p:cNvSpPr>
          <p:nvPr/>
        </p:nvSpPr>
        <p:spPr>
          <a:xfrm xmlns:a="http://schemas.openxmlformats.org/drawingml/2006/main">
            <a:off x="571500" y="54483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Dit geldt binnen de gegeven modelaannames.</a:t>
            </a:r>
          </a:p>
        </p:txBody>
      </p:sp>
      <p:sp>
        <p:nvSpPr>
          <p:cNvPr id="7" name="Voor het tegendeel volstaat één concrete, haalbare Paretoverbeter">
            <a:extLst xmlns:a="http://schemas.openxmlformats.org/drawingml/2006/main">
              <a:ext uri="{FF2B5EF4-FFF2-40B4-BE49-F238E27FC236}">
                <a16:creationId xmlns:a16="http://schemas.microsoft.com/office/drawing/2014/main" id="{8F42F1CD-112F-4FDB-9E31-A07216BF8367}"/>
              </a:ext>
            </a:extLst>
          </p:cNvPr>
          <p:cNvSpPr>
            <a:spLocks xmlns:a="http://schemas.openxmlformats.org/drawingml/2006/main" noGrp="1"/>
          </p:cNvSpPr>
          <p:nvPr/>
        </p:nvSpPr>
        <p:spPr>
          <a:xfrm xmlns:a="http://schemas.openxmlformats.org/drawingml/2006/main">
            <a:off x="571500" y="687705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Voor het tegendeel volstaat één concrete, haalbare Paretoverbetering.</a:t>
            </a:r>
          </a:p>
        </p:txBody>
      </p:sp>
    </p:spTree>
    <p:extLst>
      <p:ext uri="{BB962C8B-B14F-4D97-AF65-F5344CB8AC3E}">
        <p14:creationId xmlns:p14="http://schemas.microsoft.com/office/powerpoint/2010/main" val="120188816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6b: hoeveelheden en toewijzing">
            <a:extLst xmlns:a="http://schemas.openxmlformats.org/drawingml/2006/main">
              <a:ext uri="{FF2B5EF4-FFF2-40B4-BE49-F238E27FC236}">
                <a16:creationId xmlns:a16="http://schemas.microsoft.com/office/drawing/2014/main" id="{6EC6FF3E-C417-48B3-A2B5-C610396C5A5D}"/>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6b: hoeveelheden en toewijzing</a:t>
            </a:r>
          </a:p>
        </p:txBody>
      </p:sp>
      <p:sp>
        <p:nvSpPr>
          <p:cNvPr id="2" name="">
            <a:extLst xmlns:a="http://schemas.openxmlformats.org/drawingml/2006/main">
              <a:ext uri="{FF2B5EF4-FFF2-40B4-BE49-F238E27FC236}">
                <a16:creationId xmlns:a16="http://schemas.microsoft.com/office/drawing/2014/main" id="{8219C47F-15F2-4841-A61C-6F5AF4EC31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081700E5-AD06-4CE7-B756-B57BED14CD7B}"/>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2">
            <a:extLst xmlns:a="http://schemas.openxmlformats.org/drawingml/2006/main">
              <a:ext uri="{FF2B5EF4-FFF2-40B4-BE49-F238E27FC236}">
                <a16:creationId xmlns:a16="http://schemas.microsoft.com/office/drawing/2014/main" id="{30227E35-4711-4BC8-B15F-3A350AEDAA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Vraag: 25 = 50 − 0,5Qv&#10;0,5Qv = 25; Qv = 50 kaartjes">
            <a:extLst xmlns:a="http://schemas.openxmlformats.org/drawingml/2006/main">
              <a:ext uri="{FF2B5EF4-FFF2-40B4-BE49-F238E27FC236}">
                <a16:creationId xmlns:a16="http://schemas.microsoft.com/office/drawing/2014/main" id="{B997B8C7-313E-46B7-8600-4D8A30DADC79}"/>
              </a:ext>
            </a:extLst>
          </p:cNvPr>
          <p:cNvSpPr>
            <a:spLocks xmlns:a="http://schemas.openxmlformats.org/drawingml/2006/main" noGrp="1"/>
          </p:cNvSpPr>
          <p:nvPr/>
        </p:nvSpPr>
        <p:spPr>
          <a:xfrm xmlns:a="http://schemas.openxmlformats.org/drawingml/2006/main">
            <a:off x="571500" y="207645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Vraag: 25 = 50 − 0,5Qv</a:t>
            </a:r>
          </a:p>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0,5Qv = 25; Qv = 50 kaartjes</a:t>
            </a:r>
          </a:p>
        </p:txBody>
      </p:sp>
      <p:sp>
        <p:nvSpPr>
          <p:cNvPr id="6" name="Aanbod: 25 = 5 + 0,25Qa&#10;0,25Qa = 20; Qa = 80 kaartjes">
            <a:extLst xmlns:a="http://schemas.openxmlformats.org/drawingml/2006/main">
              <a:ext uri="{FF2B5EF4-FFF2-40B4-BE49-F238E27FC236}">
                <a16:creationId xmlns:a16="http://schemas.microsoft.com/office/drawing/2014/main" id="{A965D4FE-4F86-452E-B7BB-76AE627D358D}"/>
              </a:ext>
            </a:extLst>
          </p:cNvPr>
          <p:cNvSpPr>
            <a:spLocks xmlns:a="http://schemas.openxmlformats.org/drawingml/2006/main" noGrp="1"/>
          </p:cNvSpPr>
          <p:nvPr/>
        </p:nvSpPr>
        <p:spPr>
          <a:xfrm xmlns:a="http://schemas.openxmlformats.org/drawingml/2006/main">
            <a:off x="571500" y="378142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Aanbod: 25 = 5 + 0,25Qa</a:t>
            </a:r>
          </a:p>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0,25Qa = 20; Qa = 80 kaartjes</a:t>
            </a:r>
          </a:p>
        </p:txBody>
      </p:sp>
      <p:sp>
        <p:nvSpPr>
          <p:cNvPr id="7" name="">
            <a:extLst xmlns:a="http://schemas.openxmlformats.org/drawingml/2006/main">
              <a:ext uri="{FF2B5EF4-FFF2-40B4-BE49-F238E27FC236}">
                <a16:creationId xmlns:a16="http://schemas.microsoft.com/office/drawing/2014/main" id="{857436A6-C276-4A67-8F38-6861C38DEAFB}"/>
              </a:ext>
            </a:extLst>
          </p:cNvPr>
          <p:cNvSpPr>
            <a:spLocks xmlns:a="http://schemas.openxmlformats.org/drawingml/2006/main" noGrp="1"/>
          </p:cNvSpPr>
          <p:nvPr/>
        </p:nvSpPr>
        <p:spPr>
          <a:xfrm xmlns:a="http://schemas.openxmlformats.org/drawingml/2006/main">
            <a:off x="571500" y="5448300"/>
            <a:ext cx="14097000" cy="0"/>
          </a:xfrm>
          <a:prstGeom xmlns:a="http://schemas.openxmlformats.org/drawingml/2006/main" prst="line">
            <a:avLst/>
          </a:prstGeom>
          <a:ln xmlns:a="http://schemas.openxmlformats.org/drawingml/2006/main" w="19050">
            <a:solidFill>
              <a:srgbClr val="C6D2DB"/>
            </a:solidFill>
          </a:ln>
        </p:spPr>
      </p:sp>
      <p:sp>
        <p:nvSpPr>
          <p:cNvPr id="8" name="40 &lt; 50 en 40 &lt; 80. De boekingsgrens bindt: 40 transacties.">
            <a:extLst xmlns:a="http://schemas.openxmlformats.org/drawingml/2006/main">
              <a:ext uri="{FF2B5EF4-FFF2-40B4-BE49-F238E27FC236}">
                <a16:creationId xmlns:a16="http://schemas.microsoft.com/office/drawing/2014/main" id="{2801514B-2C5A-4A84-A1A9-7A91F0D565E3}"/>
              </a:ext>
            </a:extLst>
          </p:cNvPr>
          <p:cNvSpPr>
            <a:spLocks xmlns:a="http://schemas.openxmlformats.org/drawingml/2006/main" noGrp="1"/>
          </p:cNvSpPr>
          <p:nvPr/>
        </p:nvSpPr>
        <p:spPr>
          <a:xfrm xmlns:a="http://schemas.openxmlformats.org/drawingml/2006/main">
            <a:off x="571500" y="591502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40 &lt; 50 en 40 &lt; 80. De boekingsgrens bindt: 40 transacties.</a:t>
            </a:r>
          </a:p>
        </p:txBody>
      </p:sp>
      <p:sp>
        <p:nvSpPr>
          <p:cNvPr id="9" name="Kopers met de hoogste betalingsbereidheid kopen&#10;bij aanbieders me">
            <a:extLst xmlns:a="http://schemas.openxmlformats.org/drawingml/2006/main">
              <a:ext uri="{FF2B5EF4-FFF2-40B4-BE49-F238E27FC236}">
                <a16:creationId xmlns:a16="http://schemas.microsoft.com/office/drawing/2014/main" id="{FF0679C5-FE29-4C61-8027-992FB044E0DB}"/>
              </a:ext>
            </a:extLst>
          </p:cNvPr>
          <p:cNvSpPr>
            <a:spLocks xmlns:a="http://schemas.openxmlformats.org/drawingml/2006/main" noGrp="1"/>
          </p:cNvSpPr>
          <p:nvPr/>
        </p:nvSpPr>
        <p:spPr>
          <a:xfrm xmlns:a="http://schemas.openxmlformats.org/drawingml/2006/main">
            <a:off x="571500" y="705802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Kopers met de hoogste betalingsbereidheid kopen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bij aanbieders met de laagste MK.</a:t>
            </a:r>
          </a:p>
        </p:txBody>
      </p:sp>
    </p:spTree>
    <p:extLst>
      <p:ext uri="{BB962C8B-B14F-4D97-AF65-F5344CB8AC3E}">
        <p14:creationId xmlns:p14="http://schemas.microsoft.com/office/powerpoint/2010/main" val="178540500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6c: de hoogten bij 40 transacties">
            <a:extLst xmlns:a="http://schemas.openxmlformats.org/drawingml/2006/main">
              <a:ext uri="{FF2B5EF4-FFF2-40B4-BE49-F238E27FC236}">
                <a16:creationId xmlns:a16="http://schemas.microsoft.com/office/drawing/2014/main" id="{8DB45C1F-88BD-49BB-AD02-9666DB3FED6B}"/>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6c: de hoogten bij 40 transacties</a:t>
            </a:r>
          </a:p>
        </p:txBody>
      </p:sp>
      <p:sp>
        <p:nvSpPr>
          <p:cNvPr id="2" name="">
            <a:extLst xmlns:a="http://schemas.openxmlformats.org/drawingml/2006/main">
              <a:ext uri="{FF2B5EF4-FFF2-40B4-BE49-F238E27FC236}">
                <a16:creationId xmlns:a16="http://schemas.microsoft.com/office/drawing/2014/main" id="{111E3466-E19A-4F46-AC43-3A23CBFC74E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CCF5D9AE-C918-4804-96CD-876F7C050873}"/>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3">
            <a:extLst xmlns:a="http://schemas.openxmlformats.org/drawingml/2006/main">
              <a:ext uri="{FF2B5EF4-FFF2-40B4-BE49-F238E27FC236}">
                <a16:creationId xmlns:a16="http://schemas.microsoft.com/office/drawing/2014/main" id="{A0AA9C63-1DE1-4D22-8B83-B1D41BDEB79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3"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6760bade573c491a"/>
          </a:graphicData>
        </a:graphic>
      </p:graphicFrame>
      <p:sp>
        <p:nvSpPr>
          <p:cNvPr id="6" name="Betalingsbereidheid&#10;50 − 0,5 × 40&#10;= € 30 per kaartje">
            <a:extLst xmlns:a="http://schemas.openxmlformats.org/drawingml/2006/main">
              <a:ext uri="{FF2B5EF4-FFF2-40B4-BE49-F238E27FC236}">
                <a16:creationId xmlns:a16="http://schemas.microsoft.com/office/drawing/2014/main" id="{5D4209D5-604B-4D54-B5F7-7BA2A2FAC716}"/>
              </a:ext>
            </a:extLst>
          </p:cNvPr>
          <p:cNvSpPr>
            <a:spLocks xmlns:a="http://schemas.openxmlformats.org/drawingml/2006/main" noGrp="1"/>
          </p:cNvSpPr>
          <p:nvPr/>
        </p:nvSpPr>
        <p:spPr>
          <a:xfrm xmlns:a="http://schemas.openxmlformats.org/drawingml/2006/main">
            <a:off x="10001250" y="2609850"/>
            <a:ext cx="4667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Betalingsbereidheid</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50 − 0,5 × 40</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 € 30 per kaartje</a:t>
            </a:r>
          </a:p>
        </p:txBody>
      </p:sp>
      <p:sp>
        <p:nvSpPr>
          <p:cNvPr id="7" name="Marginale kosten&#10;5 + 0,25 × 40&#10;= € 15 per kaartje">
            <a:extLst xmlns:a="http://schemas.openxmlformats.org/drawingml/2006/main">
              <a:ext uri="{FF2B5EF4-FFF2-40B4-BE49-F238E27FC236}">
                <a16:creationId xmlns:a16="http://schemas.microsoft.com/office/drawing/2014/main" id="{408A26D5-3CEE-4073-A054-EF535C5F3101}"/>
              </a:ext>
            </a:extLst>
          </p:cNvPr>
          <p:cNvSpPr>
            <a:spLocks xmlns:a="http://schemas.openxmlformats.org/drawingml/2006/main" noGrp="1"/>
          </p:cNvSpPr>
          <p:nvPr/>
        </p:nvSpPr>
        <p:spPr>
          <a:xfrm xmlns:a="http://schemas.openxmlformats.org/drawingml/2006/main">
            <a:off x="10001250" y="4686300"/>
            <a:ext cx="4667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Marginale kosten</a:t>
            </a:r>
          </a:p>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5 + 0,25 × 40</a:t>
            </a:r>
          </a:p>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 € 15 per kaartje</a:t>
            </a:r>
          </a:p>
        </p:txBody>
      </p:sp>
      <p:sp>
        <p:nvSpPr>
          <p:cNvPr id="8" name="De prijs ligt ertussen:&#10;€ 15 &lt; € 25 &lt; € 30.">
            <a:extLst xmlns:a="http://schemas.openxmlformats.org/drawingml/2006/main">
              <a:ext uri="{FF2B5EF4-FFF2-40B4-BE49-F238E27FC236}">
                <a16:creationId xmlns:a16="http://schemas.microsoft.com/office/drawing/2014/main" id="{98D8A425-C9A6-4DA0-BB74-8322E0F510E2}"/>
              </a:ext>
            </a:extLst>
          </p:cNvPr>
          <p:cNvSpPr>
            <a:spLocks xmlns:a="http://schemas.openxmlformats.org/drawingml/2006/main" noGrp="1"/>
          </p:cNvSpPr>
          <p:nvPr/>
        </p:nvSpPr>
        <p:spPr>
          <a:xfrm xmlns:a="http://schemas.openxmlformats.org/drawingml/2006/main">
            <a:off x="10001250" y="6838950"/>
            <a:ext cx="4667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De prijs ligt ertussen:</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€ 15 &lt; € 25 &lt; € 30.</a:t>
            </a:r>
          </a:p>
        </p:txBody>
      </p:sp>
    </p:spTree>
    <p:extLst>
      <p:ext uri="{BB962C8B-B14F-4D97-AF65-F5344CB8AC3E}">
        <p14:creationId xmlns:p14="http://schemas.microsoft.com/office/powerpoint/2010/main" val="1304602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6c: consumentensurplus">
            <a:extLst xmlns:a="http://schemas.openxmlformats.org/drawingml/2006/main">
              <a:ext uri="{FF2B5EF4-FFF2-40B4-BE49-F238E27FC236}">
                <a16:creationId xmlns:a16="http://schemas.microsoft.com/office/drawing/2014/main" id="{DE6EBEA3-BE5E-4E3B-9ACA-7073F1287408}"/>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6c: consumentensurplus</a:t>
            </a:r>
          </a:p>
        </p:txBody>
      </p:sp>
      <p:sp>
        <p:nvSpPr>
          <p:cNvPr id="2" name="">
            <a:extLst xmlns:a="http://schemas.openxmlformats.org/drawingml/2006/main">
              <a:ext uri="{FF2B5EF4-FFF2-40B4-BE49-F238E27FC236}">
                <a16:creationId xmlns:a16="http://schemas.microsoft.com/office/drawing/2014/main" id="{20570AA4-E510-4C09-8741-C91090F7751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3DEFF103-AD89-4C3A-ABBE-F9F60215F486}"/>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4">
            <a:extLst xmlns:a="http://schemas.openxmlformats.org/drawingml/2006/main">
              <a:ext uri="{FF2B5EF4-FFF2-40B4-BE49-F238E27FC236}">
                <a16:creationId xmlns:a16="http://schemas.microsoft.com/office/drawing/2014/main" id="{6E86E947-3206-44AC-800B-27270C38974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CS rechthoek">
            <a:extLst xmlns:a="http://schemas.openxmlformats.org/drawingml/2006/main">
              <a:ext uri="{FF2B5EF4-FFF2-40B4-BE49-F238E27FC236}">
                <a16:creationId xmlns:a16="http://schemas.microsoft.com/office/drawing/2014/main" id="{E5692B04-6960-4456-9A84-332958EDE9B6}"/>
              </a:ext>
            </a:extLst>
          </p:cNvPr>
          <p:cNvSpPr>
            <a:spLocks xmlns:a="http://schemas.openxmlformats.org/drawingml/2006/main" noGrp="1"/>
          </p:cNvSpPr>
          <p:nvPr/>
        </p:nvSpPr>
        <p:spPr>
          <a:xfrm xmlns:a="http://schemas.openxmlformats.org/drawingml/2006/main">
            <a:off x="1657350" y="4490657"/>
            <a:ext cx="3040380" cy="425672"/>
          </a:xfrm>
          <a:custGeom xmlns:a="http://schemas.openxmlformats.org/drawingml/2006/main">
            <a:pathLst>
              <a:path w="3040380" h="425672">
                <a:moveTo>
                  <a:pt x="0" y="425672"/>
                </a:moveTo>
                <a:lnTo>
                  <a:pt x="3040380" y="425672"/>
                </a:lnTo>
                <a:lnTo>
                  <a:pt x="3040380" y="0"/>
                </a:lnTo>
                <a:lnTo>
                  <a:pt x="0" y="0"/>
                </a:lnTo>
                <a:close/>
              </a:path>
            </a:pathLst>
          </a:custGeom>
          <a:solidFill xmlns:a="http://schemas.openxmlformats.org/drawingml/2006/main">
            <a:srgbClr val="B6D7E8"/>
          </a:solidFill>
          <a:ln xmlns:a="http://schemas.openxmlformats.org/drawingml/2006/main" w="0">
            <a:noFill/>
          </a:ln>
        </p:spPr>
      </p:sp>
      <p:sp>
        <p:nvSpPr>
          <p:cNvPr id="6" name="CS driehoek">
            <a:extLst xmlns:a="http://schemas.openxmlformats.org/drawingml/2006/main">
              <a:ext uri="{FF2B5EF4-FFF2-40B4-BE49-F238E27FC236}">
                <a16:creationId xmlns:a16="http://schemas.microsoft.com/office/drawing/2014/main" id="{52717CE8-A8EA-4AF3-9207-0C4C2F236BDA}"/>
              </a:ext>
            </a:extLst>
          </p:cNvPr>
          <p:cNvSpPr>
            <a:spLocks xmlns:a="http://schemas.openxmlformats.org/drawingml/2006/main" noGrp="1"/>
          </p:cNvSpPr>
          <p:nvPr/>
        </p:nvSpPr>
        <p:spPr>
          <a:xfrm xmlns:a="http://schemas.openxmlformats.org/drawingml/2006/main">
            <a:off x="1657350" y="2787968"/>
            <a:ext cx="3040380" cy="1702689"/>
          </a:xfrm>
          <a:custGeom xmlns:a="http://schemas.openxmlformats.org/drawingml/2006/main">
            <a:pathLst>
              <a:path w="3040380" h="1702689">
                <a:moveTo>
                  <a:pt x="0" y="1702689"/>
                </a:moveTo>
                <a:lnTo>
                  <a:pt x="0" y="0"/>
                </a:lnTo>
                <a:lnTo>
                  <a:pt x="3040380" y="1702689"/>
                </a:lnTo>
                <a:close/>
              </a:path>
            </a:pathLst>
          </a:custGeom>
          <a:solidFill xmlns:a="http://schemas.openxmlformats.org/drawingml/2006/main">
            <a:srgbClr val="E0EDF5"/>
          </a:solidFill>
          <a:ln xmlns:a="http://schemas.openxmlformats.org/drawingml/2006/main" w="0">
            <a:noFill/>
          </a:ln>
        </p:spPr>
      </p:sp>
      <p:graphicFrame>
        <p:nvGraphicFramePr>
          <p:cNvPr id="17"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b750ad8c7f454b1f"/>
          </a:graphicData>
        </a:graphic>
      </p:graphicFrame>
      <p:sp>
        <p:nvSpPr>
          <p:cNvPr id="8" name="Rechthoek&#10;40 × (30 − 25) = € 200">
            <a:extLst xmlns:a="http://schemas.openxmlformats.org/drawingml/2006/main">
              <a:ext uri="{FF2B5EF4-FFF2-40B4-BE49-F238E27FC236}">
                <a16:creationId xmlns:a16="http://schemas.microsoft.com/office/drawing/2014/main" id="{68431D8C-4C6A-4054-A3E4-D6F65B4B6199}"/>
              </a:ext>
            </a:extLst>
          </p:cNvPr>
          <p:cNvSpPr>
            <a:spLocks xmlns:a="http://schemas.openxmlformats.org/drawingml/2006/main" noGrp="1"/>
          </p:cNvSpPr>
          <p:nvPr/>
        </p:nvSpPr>
        <p:spPr>
          <a:xfrm xmlns:a="http://schemas.openxmlformats.org/drawingml/2006/main">
            <a:off x="10001250" y="2562225"/>
            <a:ext cx="4667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Rechthoek</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40 × (30 − 25) = € 200</a:t>
            </a:r>
          </a:p>
        </p:txBody>
      </p:sp>
      <p:sp>
        <p:nvSpPr>
          <p:cNvPr id="9" name="Driehoek&#10;½ × 40 × (50 − 30)&#10;= € 400">
            <a:extLst xmlns:a="http://schemas.openxmlformats.org/drawingml/2006/main">
              <a:ext uri="{FF2B5EF4-FFF2-40B4-BE49-F238E27FC236}">
                <a16:creationId xmlns:a16="http://schemas.microsoft.com/office/drawing/2014/main" id="{11D2FC4E-A152-4D9F-BB6A-9836D063E19E}"/>
              </a:ext>
            </a:extLst>
          </p:cNvPr>
          <p:cNvSpPr>
            <a:spLocks xmlns:a="http://schemas.openxmlformats.org/drawingml/2006/main" noGrp="1"/>
          </p:cNvSpPr>
          <p:nvPr/>
        </p:nvSpPr>
        <p:spPr>
          <a:xfrm xmlns:a="http://schemas.openxmlformats.org/drawingml/2006/main">
            <a:off x="10001250" y="4257675"/>
            <a:ext cx="4667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Driehoek</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½ × 40 × (50 − 30)</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 € 400</a:t>
            </a:r>
          </a:p>
        </p:txBody>
      </p:sp>
      <p:sp>
        <p:nvSpPr>
          <p:cNvPr id="10" name="CS = 200 + 400&#10;= € 600">
            <a:extLst xmlns:a="http://schemas.openxmlformats.org/drawingml/2006/main">
              <a:ext uri="{FF2B5EF4-FFF2-40B4-BE49-F238E27FC236}">
                <a16:creationId xmlns:a16="http://schemas.microsoft.com/office/drawing/2014/main" id="{6CBE6E3A-7A49-4EF1-8DAD-2F213DF9D2B9}"/>
              </a:ext>
            </a:extLst>
          </p:cNvPr>
          <p:cNvSpPr>
            <a:spLocks xmlns:a="http://schemas.openxmlformats.org/drawingml/2006/main" noGrp="1"/>
          </p:cNvSpPr>
          <p:nvPr/>
        </p:nvSpPr>
        <p:spPr>
          <a:xfrm xmlns:a="http://schemas.openxmlformats.org/drawingml/2006/main">
            <a:off x="10001250" y="6438900"/>
            <a:ext cx="4667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CS = 200 + 400</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 € 600</a:t>
            </a:r>
          </a:p>
        </p:txBody>
      </p:sp>
    </p:spTree>
    <p:extLst>
      <p:ext uri="{BB962C8B-B14F-4D97-AF65-F5344CB8AC3E}">
        <p14:creationId xmlns:p14="http://schemas.microsoft.com/office/powerpoint/2010/main" val="163162728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6c: producentensurplus">
            <a:extLst xmlns:a="http://schemas.openxmlformats.org/drawingml/2006/main">
              <a:ext uri="{FF2B5EF4-FFF2-40B4-BE49-F238E27FC236}">
                <a16:creationId xmlns:a16="http://schemas.microsoft.com/office/drawing/2014/main" id="{3AB08CBD-999A-4B58-B8FD-F9CBD43290AC}"/>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6c: producentensurplus</a:t>
            </a:r>
          </a:p>
        </p:txBody>
      </p:sp>
      <p:sp>
        <p:nvSpPr>
          <p:cNvPr id="2" name="">
            <a:extLst xmlns:a="http://schemas.openxmlformats.org/drawingml/2006/main">
              <a:ext uri="{FF2B5EF4-FFF2-40B4-BE49-F238E27FC236}">
                <a16:creationId xmlns:a16="http://schemas.microsoft.com/office/drawing/2014/main" id="{5993C34F-1CDE-490C-9072-CCAB233710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C6F8724B-93A5-4FDD-83B5-7B6555E456F3}"/>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5">
            <a:extLst xmlns:a="http://schemas.openxmlformats.org/drawingml/2006/main">
              <a:ext uri="{FF2B5EF4-FFF2-40B4-BE49-F238E27FC236}">
                <a16:creationId xmlns:a16="http://schemas.microsoft.com/office/drawing/2014/main" id="{B61689E6-5543-4399-A863-777C822736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S rechthoek">
            <a:extLst xmlns:a="http://schemas.openxmlformats.org/drawingml/2006/main">
              <a:ext uri="{FF2B5EF4-FFF2-40B4-BE49-F238E27FC236}">
                <a16:creationId xmlns:a16="http://schemas.microsoft.com/office/drawing/2014/main" id="{B40AF115-0C40-4B71-B5CF-812458A5D5BB}"/>
              </a:ext>
            </a:extLst>
          </p:cNvPr>
          <p:cNvSpPr>
            <a:spLocks xmlns:a="http://schemas.openxmlformats.org/drawingml/2006/main" noGrp="1"/>
          </p:cNvSpPr>
          <p:nvPr/>
        </p:nvSpPr>
        <p:spPr>
          <a:xfrm xmlns:a="http://schemas.openxmlformats.org/drawingml/2006/main">
            <a:off x="1657350" y="4916329"/>
            <a:ext cx="3040380" cy="851345"/>
          </a:xfrm>
          <a:custGeom xmlns:a="http://schemas.openxmlformats.org/drawingml/2006/main">
            <a:pathLst>
              <a:path w="3040380" h="851345">
                <a:moveTo>
                  <a:pt x="0" y="851345"/>
                </a:moveTo>
                <a:lnTo>
                  <a:pt x="3040380" y="851345"/>
                </a:lnTo>
                <a:lnTo>
                  <a:pt x="3040380" y="0"/>
                </a:lnTo>
                <a:lnTo>
                  <a:pt x="0" y="0"/>
                </a:lnTo>
                <a:close/>
              </a:path>
            </a:pathLst>
          </a:custGeom>
          <a:solidFill xmlns:a="http://schemas.openxmlformats.org/drawingml/2006/main">
            <a:srgbClr val="B9DED2"/>
          </a:solidFill>
          <a:ln xmlns:a="http://schemas.openxmlformats.org/drawingml/2006/main" w="0">
            <a:noFill/>
          </a:ln>
        </p:spPr>
      </p:sp>
      <p:sp>
        <p:nvSpPr>
          <p:cNvPr id="6" name="PS driehoek">
            <a:extLst xmlns:a="http://schemas.openxmlformats.org/drawingml/2006/main">
              <a:ext uri="{FF2B5EF4-FFF2-40B4-BE49-F238E27FC236}">
                <a16:creationId xmlns:a16="http://schemas.microsoft.com/office/drawing/2014/main" id="{F20C123E-C3E4-48E6-927B-4957DB5113C2}"/>
              </a:ext>
            </a:extLst>
          </p:cNvPr>
          <p:cNvSpPr>
            <a:spLocks xmlns:a="http://schemas.openxmlformats.org/drawingml/2006/main" noGrp="1"/>
          </p:cNvSpPr>
          <p:nvPr/>
        </p:nvSpPr>
        <p:spPr>
          <a:xfrm xmlns:a="http://schemas.openxmlformats.org/drawingml/2006/main">
            <a:off x="1657350" y="5767673"/>
            <a:ext cx="3040380" cy="851345"/>
          </a:xfrm>
          <a:custGeom xmlns:a="http://schemas.openxmlformats.org/drawingml/2006/main">
            <a:pathLst>
              <a:path w="3040380" h="851345">
                <a:moveTo>
                  <a:pt x="0" y="851345"/>
                </a:moveTo>
                <a:lnTo>
                  <a:pt x="0" y="0"/>
                </a:lnTo>
                <a:lnTo>
                  <a:pt x="3040380" y="0"/>
                </a:lnTo>
                <a:close/>
              </a:path>
            </a:pathLst>
          </a:custGeom>
          <a:solidFill xmlns:a="http://schemas.openxmlformats.org/drawingml/2006/main">
            <a:srgbClr val="E2F0EA"/>
          </a:solidFill>
          <a:ln xmlns:a="http://schemas.openxmlformats.org/drawingml/2006/main" w="0">
            <a:noFill/>
          </a:ln>
        </p:spPr>
      </p:sp>
      <p:graphicFrame>
        <p:nvGraphicFramePr>
          <p:cNvPr id="17"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f6d89efe68fc432b"/>
          </a:graphicData>
        </a:graphic>
      </p:graphicFrame>
      <p:sp>
        <p:nvSpPr>
          <p:cNvPr id="8" name="Rechthoek&#10;40 × (25 − 15) = € 400">
            <a:extLst xmlns:a="http://schemas.openxmlformats.org/drawingml/2006/main">
              <a:ext uri="{FF2B5EF4-FFF2-40B4-BE49-F238E27FC236}">
                <a16:creationId xmlns:a16="http://schemas.microsoft.com/office/drawing/2014/main" id="{E877AE6C-ACEF-4442-86DD-B61C1B2775AD}"/>
              </a:ext>
            </a:extLst>
          </p:cNvPr>
          <p:cNvSpPr>
            <a:spLocks xmlns:a="http://schemas.openxmlformats.org/drawingml/2006/main" noGrp="1"/>
          </p:cNvSpPr>
          <p:nvPr/>
        </p:nvSpPr>
        <p:spPr>
          <a:xfrm xmlns:a="http://schemas.openxmlformats.org/drawingml/2006/main">
            <a:off x="10001250" y="2562225"/>
            <a:ext cx="4667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Rechthoek</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40 × (25 − 15) = € 400</a:t>
            </a:r>
          </a:p>
        </p:txBody>
      </p:sp>
      <p:sp>
        <p:nvSpPr>
          <p:cNvPr id="9" name="Driehoek&#10;½ × 40 × (15 − 5)&#10;= € 200">
            <a:extLst xmlns:a="http://schemas.openxmlformats.org/drawingml/2006/main">
              <a:ext uri="{FF2B5EF4-FFF2-40B4-BE49-F238E27FC236}">
                <a16:creationId xmlns:a16="http://schemas.microsoft.com/office/drawing/2014/main" id="{FBF15890-8452-4CEE-8082-57B93EEB5ECE}"/>
              </a:ext>
            </a:extLst>
          </p:cNvPr>
          <p:cNvSpPr>
            <a:spLocks xmlns:a="http://schemas.openxmlformats.org/drawingml/2006/main" noGrp="1"/>
          </p:cNvSpPr>
          <p:nvPr/>
        </p:nvSpPr>
        <p:spPr>
          <a:xfrm xmlns:a="http://schemas.openxmlformats.org/drawingml/2006/main">
            <a:off x="10001250" y="4257675"/>
            <a:ext cx="4667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Driehoek</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½ × 40 × (15 − 5)</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 € 200</a:t>
            </a:r>
          </a:p>
        </p:txBody>
      </p:sp>
      <p:sp>
        <p:nvSpPr>
          <p:cNvPr id="10" name="PS = 400 + 200&#10;= € 600">
            <a:extLst xmlns:a="http://schemas.openxmlformats.org/drawingml/2006/main">
              <a:ext uri="{FF2B5EF4-FFF2-40B4-BE49-F238E27FC236}">
                <a16:creationId xmlns:a16="http://schemas.microsoft.com/office/drawing/2014/main" id="{15C83425-EC51-4B10-AF73-8EC20A7936A1}"/>
              </a:ext>
            </a:extLst>
          </p:cNvPr>
          <p:cNvSpPr>
            <a:spLocks xmlns:a="http://schemas.openxmlformats.org/drawingml/2006/main" noGrp="1"/>
          </p:cNvSpPr>
          <p:nvPr/>
        </p:nvSpPr>
        <p:spPr>
          <a:xfrm xmlns:a="http://schemas.openxmlformats.org/drawingml/2006/main">
            <a:off x="10001250" y="6438900"/>
            <a:ext cx="4667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PS = 400 + 200</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 € 600</a:t>
            </a:r>
          </a:p>
        </p:txBody>
      </p:sp>
    </p:spTree>
    <p:extLst>
      <p:ext uri="{BB962C8B-B14F-4D97-AF65-F5344CB8AC3E}">
        <p14:creationId xmlns:p14="http://schemas.microsoft.com/office/powerpoint/2010/main" val="199816451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6d: totaal surplus en welvaartsverlies">
            <a:extLst xmlns:a="http://schemas.openxmlformats.org/drawingml/2006/main">
              <a:ext uri="{FF2B5EF4-FFF2-40B4-BE49-F238E27FC236}">
                <a16:creationId xmlns:a16="http://schemas.microsoft.com/office/drawing/2014/main" id="{DCBEFF92-1708-4F8B-AA55-98A601C694F1}"/>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6d: totaal surplus en welvaartsverlies</a:t>
            </a:r>
          </a:p>
        </p:txBody>
      </p:sp>
      <p:sp>
        <p:nvSpPr>
          <p:cNvPr id="2" name="">
            <a:extLst xmlns:a="http://schemas.openxmlformats.org/drawingml/2006/main">
              <a:ext uri="{FF2B5EF4-FFF2-40B4-BE49-F238E27FC236}">
                <a16:creationId xmlns:a16="http://schemas.microsoft.com/office/drawing/2014/main" id="{3FA6EDBC-38DD-4EB7-84A8-BA43B3ED3F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90C9124D-F7C8-4234-B7A3-DA2CB1CB8C93}"/>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6">
            <a:extLst xmlns:a="http://schemas.openxmlformats.org/drawingml/2006/main">
              <a:ext uri="{FF2B5EF4-FFF2-40B4-BE49-F238E27FC236}">
                <a16:creationId xmlns:a16="http://schemas.microsoft.com/office/drawing/2014/main" id="{64AA06CB-BCB3-43BF-99BC-F11DD25D33D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TS = CS + PS">
            <a:extLst xmlns:a="http://schemas.openxmlformats.org/drawingml/2006/main">
              <a:ext uri="{FF2B5EF4-FFF2-40B4-BE49-F238E27FC236}">
                <a16:creationId xmlns:a16="http://schemas.microsoft.com/office/drawing/2014/main" id="{C4FAB72E-C835-4C89-AFB5-36065CBCA454}"/>
              </a:ext>
            </a:extLst>
          </p:cNvPr>
          <p:cNvSpPr>
            <a:spLocks xmlns:a="http://schemas.openxmlformats.org/drawingml/2006/main" noGrp="1"/>
          </p:cNvSpPr>
          <p:nvPr/>
        </p:nvSpPr>
        <p:spPr>
          <a:xfrm xmlns:a="http://schemas.openxmlformats.org/drawingml/2006/main">
            <a:off x="571500" y="20859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TS = CS + PS</a:t>
            </a:r>
          </a:p>
        </p:txBody>
      </p:sp>
      <p:sp>
        <p:nvSpPr>
          <p:cNvPr id="6" name="TS = 600 + 600 = € 1.200">
            <a:extLst xmlns:a="http://schemas.openxmlformats.org/drawingml/2006/main">
              <a:ext uri="{FF2B5EF4-FFF2-40B4-BE49-F238E27FC236}">
                <a16:creationId xmlns:a16="http://schemas.microsoft.com/office/drawing/2014/main" id="{041174D6-7C7D-4E67-8C59-9E7F664E0B42}"/>
              </a:ext>
            </a:extLst>
          </p:cNvPr>
          <p:cNvSpPr>
            <a:spLocks xmlns:a="http://schemas.openxmlformats.org/drawingml/2006/main" noGrp="1"/>
          </p:cNvSpPr>
          <p:nvPr/>
        </p:nvSpPr>
        <p:spPr>
          <a:xfrm xmlns:a="http://schemas.openxmlformats.org/drawingml/2006/main">
            <a:off x="571500" y="32099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TS = 600 + 600 = € 1.200</a:t>
            </a:r>
          </a:p>
        </p:txBody>
      </p:sp>
      <p:sp>
        <p:nvSpPr>
          <p:cNvPr id="7" name="">
            <a:extLst xmlns:a="http://schemas.openxmlformats.org/drawingml/2006/main">
              <a:ext uri="{FF2B5EF4-FFF2-40B4-BE49-F238E27FC236}">
                <a16:creationId xmlns:a16="http://schemas.microsoft.com/office/drawing/2014/main" id="{CB818F92-8B0F-484F-B800-8DD895D24D70}"/>
              </a:ext>
            </a:extLst>
          </p:cNvPr>
          <p:cNvSpPr>
            <a:spLocks xmlns:a="http://schemas.openxmlformats.org/drawingml/2006/main" noGrp="1"/>
          </p:cNvSpPr>
          <p:nvPr/>
        </p:nvSpPr>
        <p:spPr>
          <a:xfrm xmlns:a="http://schemas.openxmlformats.org/drawingml/2006/main">
            <a:off x="571500" y="4638675"/>
            <a:ext cx="14097000" cy="0"/>
          </a:xfrm>
          <a:prstGeom xmlns:a="http://schemas.openxmlformats.org/drawingml/2006/main" prst="line">
            <a:avLst/>
          </a:prstGeom>
          <a:ln xmlns:a="http://schemas.openxmlformats.org/drawingml/2006/main" w="19050">
            <a:solidFill>
              <a:srgbClr val="C6D2DB"/>
            </a:solidFill>
          </a:ln>
        </p:spPr>
      </p:sp>
      <p:sp>
        <p:nvSpPr>
          <p:cNvPr id="8" name="Welvaartsverlies = maximaal TS − werkelijk TS">
            <a:extLst xmlns:a="http://schemas.openxmlformats.org/drawingml/2006/main">
              <a:ext uri="{FF2B5EF4-FFF2-40B4-BE49-F238E27FC236}">
                <a16:creationId xmlns:a16="http://schemas.microsoft.com/office/drawing/2014/main" id="{57BC0CA9-7B71-4F81-9D97-92AB4A0ECF21}"/>
              </a:ext>
            </a:extLst>
          </p:cNvPr>
          <p:cNvSpPr>
            <a:spLocks xmlns:a="http://schemas.openxmlformats.org/drawingml/2006/main" noGrp="1"/>
          </p:cNvSpPr>
          <p:nvPr/>
        </p:nvSpPr>
        <p:spPr>
          <a:xfrm xmlns:a="http://schemas.openxmlformats.org/drawingml/2006/main">
            <a:off x="571500" y="519112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Welvaartsverlies = maximaal TS − werkelijk TS</a:t>
            </a:r>
          </a:p>
        </p:txBody>
      </p:sp>
      <p:sp>
        <p:nvSpPr>
          <p:cNvPr id="9" name="Welvaartsverlies = 1.350 − 1.200 = € 150">
            <a:extLst xmlns:a="http://schemas.openxmlformats.org/drawingml/2006/main">
              <a:ext uri="{FF2B5EF4-FFF2-40B4-BE49-F238E27FC236}">
                <a16:creationId xmlns:a16="http://schemas.microsoft.com/office/drawing/2014/main" id="{39BC4038-982C-408C-A396-F12DD44F222A}"/>
              </a:ext>
            </a:extLst>
          </p:cNvPr>
          <p:cNvSpPr>
            <a:spLocks xmlns:a="http://schemas.openxmlformats.org/drawingml/2006/main" noGrp="1"/>
          </p:cNvSpPr>
          <p:nvPr/>
        </p:nvSpPr>
        <p:spPr>
          <a:xfrm xmlns:a="http://schemas.openxmlformats.org/drawingml/2006/main">
            <a:off x="571500" y="638175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Welvaartsverlies = 1.350 − 1.200 = € 150</a:t>
            </a:r>
          </a:p>
        </p:txBody>
      </p:sp>
      <p:sp>
        <p:nvSpPr>
          <p:cNvPr id="10" name="Dit voordeel ontvangt niemand, omdat voordelige handel uitblijft.">
            <a:extLst xmlns:a="http://schemas.openxmlformats.org/drawingml/2006/main">
              <a:ext uri="{FF2B5EF4-FFF2-40B4-BE49-F238E27FC236}">
                <a16:creationId xmlns:a16="http://schemas.microsoft.com/office/drawing/2014/main" id="{C483749F-FE94-499A-A540-404E132141E1}"/>
              </a:ext>
            </a:extLst>
          </p:cNvPr>
          <p:cNvSpPr>
            <a:spLocks xmlns:a="http://schemas.openxmlformats.org/drawingml/2006/main" noGrp="1"/>
          </p:cNvSpPr>
          <p:nvPr/>
        </p:nvSpPr>
        <p:spPr>
          <a:xfrm xmlns:a="http://schemas.openxmlformats.org/drawingml/2006/main">
            <a:off x="571500" y="750570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Dit voordeel ontvangt niemand, omdat voordelige handel uitblijft.</a:t>
            </a:r>
          </a:p>
        </p:txBody>
      </p:sp>
    </p:spTree>
    <p:extLst>
      <p:ext uri="{BB962C8B-B14F-4D97-AF65-F5344CB8AC3E}">
        <p14:creationId xmlns:p14="http://schemas.microsoft.com/office/powerpoint/2010/main" val="96794428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6d: de verliesdriehoek">
            <a:extLst xmlns:a="http://schemas.openxmlformats.org/drawingml/2006/main">
              <a:ext uri="{FF2B5EF4-FFF2-40B4-BE49-F238E27FC236}">
                <a16:creationId xmlns:a16="http://schemas.microsoft.com/office/drawing/2014/main" id="{E3BA543E-4F78-4546-9F03-917713863228}"/>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6d: de verliesdriehoek</a:t>
            </a:r>
          </a:p>
        </p:txBody>
      </p:sp>
      <p:sp>
        <p:nvSpPr>
          <p:cNvPr id="2" name="">
            <a:extLst xmlns:a="http://schemas.openxmlformats.org/drawingml/2006/main">
              <a:ext uri="{FF2B5EF4-FFF2-40B4-BE49-F238E27FC236}">
                <a16:creationId xmlns:a16="http://schemas.microsoft.com/office/drawing/2014/main" id="{A074916F-34D6-496A-A3A6-146A21B3633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33D49A2B-EF2E-47BF-AC91-A00B4856D9BE}"/>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7">
            <a:extLst xmlns:a="http://schemas.openxmlformats.org/drawingml/2006/main">
              <a:ext uri="{FF2B5EF4-FFF2-40B4-BE49-F238E27FC236}">
                <a16:creationId xmlns:a16="http://schemas.microsoft.com/office/drawing/2014/main" id="{57932D12-DCCE-480B-B1A8-1D0941AB26E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Welvaartsverlies">
            <a:extLst xmlns:a="http://schemas.openxmlformats.org/drawingml/2006/main">
              <a:ext uri="{FF2B5EF4-FFF2-40B4-BE49-F238E27FC236}">
                <a16:creationId xmlns:a16="http://schemas.microsoft.com/office/drawing/2014/main" id="{263A0E43-1D8B-4146-A134-28C976FD1F7F}"/>
              </a:ext>
            </a:extLst>
          </p:cNvPr>
          <p:cNvSpPr>
            <a:spLocks xmlns:a="http://schemas.openxmlformats.org/drawingml/2006/main" noGrp="1"/>
          </p:cNvSpPr>
          <p:nvPr/>
        </p:nvSpPr>
        <p:spPr>
          <a:xfrm xmlns:a="http://schemas.openxmlformats.org/drawingml/2006/main">
            <a:off x="4697730" y="4490657"/>
            <a:ext cx="1520190" cy="1277017"/>
          </a:xfrm>
          <a:custGeom xmlns:a="http://schemas.openxmlformats.org/drawingml/2006/main">
            <a:pathLst>
              <a:path w="1520190" h="1277017">
                <a:moveTo>
                  <a:pt x="0" y="0"/>
                </a:moveTo>
                <a:lnTo>
                  <a:pt x="1520190" y="851344"/>
                </a:lnTo>
                <a:lnTo>
                  <a:pt x="0" y="1277017"/>
                </a:lnTo>
                <a:close/>
              </a:path>
            </a:pathLst>
          </a:custGeom>
          <a:solidFill xmlns:a="http://schemas.openxmlformats.org/drawingml/2006/main">
            <a:srgbClr val="F2D0A9"/>
          </a:solidFill>
          <a:ln xmlns:a="http://schemas.openxmlformats.org/drawingml/2006/main" w="0">
            <a:noFill/>
          </a:ln>
        </p:spPr>
      </p:sp>
      <p:graphicFrame>
        <p:nvGraphicFramePr>
          <p:cNvPr id="16" name="Chart"/>
          <p:cNvGraphicFramePr/>
          <p:nvPr/>
        </p:nvGraphicFramePr>
        <p:xfrm>
          <a:off xmlns:a="http://schemas.openxmlformats.org/drawingml/2006/main" x="571500" y="2476500"/>
          <a:ext xmlns:a="http://schemas.openxmlformats.org/drawingml/2006/main" cx="9048750" cy="5191125"/>
        </p:xfrm>
        <a:graphic xmlns:a="http://schemas.openxmlformats.org/drawingml/2006/main">
          <a:graphicData uri="http://schemas.openxmlformats.org/drawingml/2006/chart">
            <c:chart xmlns:r="http://schemas.openxmlformats.org/officeDocument/2006/relationships" xmlns:c="http://schemas.openxmlformats.org/drawingml/2006/chart" r:id="Rc589963139ef488a"/>
          </a:graphicData>
        </a:graphic>
      </p:graphicFrame>
      <p:sp>
        <p:nvSpPr>
          <p:cNvPr id="7" name="Hoekpunten&#10;(40; 30), (60; 20), (40; 15)">
            <a:extLst xmlns:a="http://schemas.openxmlformats.org/drawingml/2006/main">
              <a:ext uri="{FF2B5EF4-FFF2-40B4-BE49-F238E27FC236}">
                <a16:creationId xmlns:a16="http://schemas.microsoft.com/office/drawing/2014/main" id="{2E80D466-6906-4609-9122-23829F4744D8}"/>
              </a:ext>
            </a:extLst>
          </p:cNvPr>
          <p:cNvSpPr>
            <a:spLocks xmlns:a="http://schemas.openxmlformats.org/drawingml/2006/main" noGrp="1"/>
          </p:cNvSpPr>
          <p:nvPr/>
        </p:nvSpPr>
        <p:spPr>
          <a:xfrm xmlns:a="http://schemas.openxmlformats.org/drawingml/2006/main">
            <a:off x="10001250" y="2486025"/>
            <a:ext cx="4667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Hoekpunten</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(40; 30), (60; 20), (40; 15)</a:t>
            </a:r>
          </a:p>
        </p:txBody>
      </p:sp>
      <p:sp>
        <p:nvSpPr>
          <p:cNvPr id="8" name="Basis: 60 − 40 = 20 kaartjes&#10;Hoogte: 30 − 15&#10;= € 15 per kaartje">
            <a:extLst xmlns:a="http://schemas.openxmlformats.org/drawingml/2006/main">
              <a:ext uri="{FF2B5EF4-FFF2-40B4-BE49-F238E27FC236}">
                <a16:creationId xmlns:a16="http://schemas.microsoft.com/office/drawing/2014/main" id="{289E73FB-184F-4409-9FE8-B26BC07594DC}"/>
              </a:ext>
            </a:extLst>
          </p:cNvPr>
          <p:cNvSpPr>
            <a:spLocks xmlns:a="http://schemas.openxmlformats.org/drawingml/2006/main" noGrp="1"/>
          </p:cNvSpPr>
          <p:nvPr/>
        </p:nvSpPr>
        <p:spPr>
          <a:xfrm xmlns:a="http://schemas.openxmlformats.org/drawingml/2006/main">
            <a:off x="10001250" y="4019550"/>
            <a:ext cx="4667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Basis: 60 − 40 = 20 kaartjes</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Hoogte: 30 − 15</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 € 15 per kaartje</a:t>
            </a:r>
          </a:p>
        </p:txBody>
      </p:sp>
      <p:sp>
        <p:nvSpPr>
          <p:cNvPr id="9" name="½ × 20 × 15 = € 150">
            <a:extLst xmlns:a="http://schemas.openxmlformats.org/drawingml/2006/main">
              <a:ext uri="{FF2B5EF4-FFF2-40B4-BE49-F238E27FC236}">
                <a16:creationId xmlns:a16="http://schemas.microsoft.com/office/drawing/2014/main" id="{C2491E27-6DC8-44EC-9D51-B772CDCBF63E}"/>
              </a:ext>
            </a:extLst>
          </p:cNvPr>
          <p:cNvSpPr>
            <a:spLocks xmlns:a="http://schemas.openxmlformats.org/drawingml/2006/main" noGrp="1"/>
          </p:cNvSpPr>
          <p:nvPr/>
        </p:nvSpPr>
        <p:spPr>
          <a:xfrm xmlns:a="http://schemas.openxmlformats.org/drawingml/2006/main">
            <a:off x="10001250" y="6019800"/>
            <a:ext cx="4667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½ × 20 × 15 = € 150</a:t>
            </a:r>
          </a:p>
        </p:txBody>
      </p:sp>
      <p:sp>
        <p:nvSpPr>
          <p:cNvPr id="10" name="De hoogte is het verschil&#10;tussen betalingsbereidheid en MK.">
            <a:extLst xmlns:a="http://schemas.openxmlformats.org/drawingml/2006/main">
              <a:ext uri="{FF2B5EF4-FFF2-40B4-BE49-F238E27FC236}">
                <a16:creationId xmlns:a16="http://schemas.microsoft.com/office/drawing/2014/main" id="{322E4AD8-4358-4652-90AB-3676074756DD}"/>
              </a:ext>
            </a:extLst>
          </p:cNvPr>
          <p:cNvSpPr>
            <a:spLocks xmlns:a="http://schemas.openxmlformats.org/drawingml/2006/main" noGrp="1"/>
          </p:cNvSpPr>
          <p:nvPr/>
        </p:nvSpPr>
        <p:spPr>
          <a:xfrm xmlns:a="http://schemas.openxmlformats.org/drawingml/2006/main">
            <a:off x="10001250" y="708660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hoogte is het verschil</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tussen betalingsbereidheid en MK.</a:t>
            </a:r>
          </a:p>
        </p:txBody>
      </p:sp>
    </p:spTree>
    <p:extLst>
      <p:ext uri="{BB962C8B-B14F-4D97-AF65-F5344CB8AC3E}">
        <p14:creationId xmlns:p14="http://schemas.microsoft.com/office/powerpoint/2010/main" val="96362391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6e: de mogelijke 41e transactie">
            <a:extLst xmlns:a="http://schemas.openxmlformats.org/drawingml/2006/main">
              <a:ext uri="{FF2B5EF4-FFF2-40B4-BE49-F238E27FC236}">
                <a16:creationId xmlns:a16="http://schemas.microsoft.com/office/drawing/2014/main" id="{DAC95F19-E11F-426D-A90A-2FD42D8AB70E}"/>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6e: de mogelijke 41e transactie</a:t>
            </a:r>
          </a:p>
        </p:txBody>
      </p:sp>
      <p:sp>
        <p:nvSpPr>
          <p:cNvPr id="2" name="">
            <a:extLst xmlns:a="http://schemas.openxmlformats.org/drawingml/2006/main">
              <a:ext uri="{FF2B5EF4-FFF2-40B4-BE49-F238E27FC236}">
                <a16:creationId xmlns:a16="http://schemas.microsoft.com/office/drawing/2014/main" id="{57C158A8-BB64-4696-A013-F43607025C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6D35463C-2D80-4A55-BE20-ED60CDECB7F3}"/>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8">
            <a:extLst xmlns:a="http://schemas.openxmlformats.org/drawingml/2006/main">
              <a:ext uri="{FF2B5EF4-FFF2-40B4-BE49-F238E27FC236}">
                <a16:creationId xmlns:a16="http://schemas.microsoft.com/office/drawing/2014/main" id="{9176F422-D21C-4EC7-8B0F-21628F6DAB1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graphicFrame>
        <p:nvGraphicFramePr>
          <p:cNvPr id="13" name=""/>
          <p:cNvGraphicFramePr/>
          <p:nvPr/>
        </p:nvGraphicFramePr>
        <p:xfrm>
          <a:off xmlns:a="http://schemas.openxmlformats.org/drawingml/2006/main" x="571500" y="2114550"/>
          <a:ext xmlns:a="http://schemas.openxmlformats.org/drawingml/2006/main" cx="14097000" cy="2762250"/>
        </p:xfrm>
        <a:graphic xmlns:a="http://schemas.openxmlformats.org/drawingml/2006/main">
          <a:graphicData uri="http://schemas.openxmlformats.org/drawingml/2006/table">
            <a:tbl>
              <a:tblPr/>
              <a:tblGrid>
                <a:gridCol w="7048500"/>
                <a:gridCol w="7048500"/>
              </a:tblGrid>
              <a:tr h="920750">
                <a:tc>
                  <a:txBody>
                    <a:bodyPr lIns="152400" tIns="95250" rIns="133350" bIns="95250"/>
                    <a:lstStyle/>
                    <a:p>
                      <a:r>
                        <a:rPr sz="2400" b="1">
                          <a:solidFill>
                            <a:srgbClr val="FFFFFF"/>
                          </a:solidFill>
                          <a:latin typeface="Arial"/>
                          <a:ea typeface="Arial"/>
                          <a:cs typeface="Arial"/>
                        </a:rPr>
                        <a:t>Nieuwe koper</a:t>
                      </a:r>
                    </a:p>
                  </a:txBody>
                  <a:tcPr marL="91440" marR="91440" marT="45720" marB="45720" anchor="ctr">
                    <a:solidFill>
                      <a:srgbClr val="183247"/>
                    </a:solidFill>
                  </a:tcPr>
                </a:tc>
                <a:tc>
                  <a:txBody>
                    <a:bodyPr lIns="152400" tIns="95250" rIns="133350" bIns="95250"/>
                    <a:lstStyle/>
                    <a:p>
                      <a:r>
                        <a:rPr sz="2400" b="1">
                          <a:solidFill>
                            <a:srgbClr val="FFFFFF"/>
                          </a:solidFill>
                          <a:latin typeface="Arial"/>
                          <a:ea typeface="Arial"/>
                          <a:cs typeface="Arial"/>
                        </a:rPr>
                        <a:t>Nieuwe verkoper</a:t>
                      </a:r>
                    </a:p>
                  </a:txBody>
                  <a:tcPr marL="91440" marR="91440" marT="45720" marB="45720" anchor="ctr">
                    <a:solidFill>
                      <a:srgbClr val="183247"/>
                    </a:solidFill>
                  </a:tcPr>
                </a:tc>
              </a:tr>
              <a:tr h="920750">
                <a:tc>
                  <a:txBody>
                    <a:bodyPr lIns="152400" tIns="95250" rIns="133350" bIns="95250"/>
                    <a:lstStyle/>
                    <a:p>
                      <a:r>
                        <a:rPr sz="2400" b="0">
                          <a:solidFill>
                            <a:srgbClr val="183247"/>
                          </a:solidFill>
                          <a:latin typeface="Arial"/>
                          <a:ea typeface="Arial"/>
                          <a:cs typeface="Arial"/>
                        </a:rPr>
                        <a:t>Betalingsbereidheid: 50 − 0,5 × 41 = € 29,50</a:t>
                      </a:r>
                    </a:p>
                  </a:txBody>
                  <a:tcPr marL="91440" marR="91440" marT="45720" marB="45720" anchor="ctr">
                    <a:solidFill>
                      <a:srgbClr val="FFFFFF"/>
                    </a:solidFill>
                  </a:tcPr>
                </a:tc>
                <a:tc>
                  <a:txBody>
                    <a:bodyPr lIns="152400" tIns="95250" rIns="133350" bIns="95250"/>
                    <a:lstStyle/>
                    <a:p>
                      <a:r>
                        <a:rPr sz="2400" b="0">
                          <a:solidFill>
                            <a:srgbClr val="183247"/>
                          </a:solidFill>
                          <a:latin typeface="Arial"/>
                          <a:ea typeface="Arial"/>
                          <a:cs typeface="Arial"/>
                        </a:rPr>
                        <a:t>MK: 5 + 0,25 × 41 = € 15,25</a:t>
                      </a:r>
                    </a:p>
                  </a:txBody>
                  <a:tcPr marL="91440" marR="91440" marT="45720" marB="45720" anchor="ctr">
                    <a:solidFill>
                      <a:srgbClr val="FFFFFF"/>
                    </a:solidFill>
                  </a:tcPr>
                </a:tc>
              </a:tr>
              <a:tr h="920750">
                <a:tc>
                  <a:txBody>
                    <a:bodyPr lIns="152400" tIns="95250" rIns="133350" bIns="95250"/>
                    <a:lstStyle/>
                    <a:p>
                      <a:r>
                        <a:rPr sz="2400" b="0">
                          <a:solidFill>
                            <a:srgbClr val="183247"/>
                          </a:solidFill>
                          <a:latin typeface="Arial"/>
                          <a:ea typeface="Arial"/>
                          <a:cs typeface="Arial"/>
                        </a:rPr>
                        <a:t>Voordeel: 29,50 − 25 = € 4,50</a:t>
                      </a:r>
                    </a:p>
                  </a:txBody>
                  <a:tcPr marL="91440" marR="91440" marT="45720" marB="45720" anchor="ctr">
                    <a:solidFill>
                      <a:srgbClr val="EFF4F7"/>
                    </a:solidFill>
                  </a:tcPr>
                </a:tc>
                <a:tc>
                  <a:txBody>
                    <a:bodyPr lIns="152400" tIns="95250" rIns="133350" bIns="95250"/>
                    <a:lstStyle/>
                    <a:p>
                      <a:r>
                        <a:rPr sz="2400" b="0">
                          <a:solidFill>
                            <a:srgbClr val="183247"/>
                          </a:solidFill>
                          <a:latin typeface="Arial"/>
                          <a:ea typeface="Arial"/>
                          <a:cs typeface="Arial"/>
                        </a:rPr>
                        <a:t>Voordeel: 25 − 15,25 = € 9,75</a:t>
                      </a:r>
                    </a:p>
                  </a:txBody>
                  <a:tcPr marL="91440" marR="91440" marT="45720" marB="45720" anchor="ctr">
                    <a:solidFill>
                      <a:srgbClr val="EFF4F7"/>
                    </a:solidFill>
                  </a:tcPr>
                </a:tc>
              </a:tr>
            </a:tbl>
          </a:graphicData>
        </a:graphic>
      </p:graphicFrame>
      <p:sp>
        <p:nvSpPr>
          <p:cNvPr id="6" name="Haalbaar: minstens 60 transacties mogelijk; verruiming kost niets">
            <a:extLst xmlns:a="http://schemas.openxmlformats.org/drawingml/2006/main">
              <a:ext uri="{FF2B5EF4-FFF2-40B4-BE49-F238E27FC236}">
                <a16:creationId xmlns:a16="http://schemas.microsoft.com/office/drawing/2014/main" id="{02512B17-399F-4892-B355-5F63DED6606E}"/>
              </a:ext>
            </a:extLst>
          </p:cNvPr>
          <p:cNvSpPr>
            <a:spLocks xmlns:a="http://schemas.openxmlformats.org/drawingml/2006/main" noGrp="1"/>
          </p:cNvSpPr>
          <p:nvPr/>
        </p:nvSpPr>
        <p:spPr>
          <a:xfrm xmlns:a="http://schemas.openxmlformats.org/drawingml/2006/main">
            <a:off x="571500" y="5362575"/>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Haalbaar: minstens 60 transacties mogelijk; verruiming kost niets.</a:t>
            </a:r>
          </a:p>
        </p:txBody>
      </p:sp>
      <p:sp>
        <p:nvSpPr>
          <p:cNvPr id="7" name="Niemand slechter af: prijs en bestaande transacties blijven gelij">
            <a:extLst xmlns:a="http://schemas.openxmlformats.org/drawingml/2006/main">
              <a:ext uri="{FF2B5EF4-FFF2-40B4-BE49-F238E27FC236}">
                <a16:creationId xmlns:a16="http://schemas.microsoft.com/office/drawing/2014/main" id="{CF0644E6-1037-48A0-988B-185575037E36}"/>
              </a:ext>
            </a:extLst>
          </p:cNvPr>
          <p:cNvSpPr>
            <a:spLocks xmlns:a="http://schemas.openxmlformats.org/drawingml/2006/main" noGrp="1"/>
          </p:cNvSpPr>
          <p:nvPr/>
        </p:nvSpPr>
        <p:spPr>
          <a:xfrm xmlns:a="http://schemas.openxmlformats.org/drawingml/2006/main">
            <a:off x="571500" y="63912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Niemand slechter af: prijs en bestaande transacties blijven gelijk.</a:t>
            </a:r>
          </a:p>
        </p:txBody>
      </p:sp>
      <p:sp>
        <p:nvSpPr>
          <p:cNvPr id="8" name="Er is een Paretoverbetering. 40 transacties zijn niet Pareto-effi">
            <a:extLst xmlns:a="http://schemas.openxmlformats.org/drawingml/2006/main">
              <a:ext uri="{FF2B5EF4-FFF2-40B4-BE49-F238E27FC236}">
                <a16:creationId xmlns:a16="http://schemas.microsoft.com/office/drawing/2014/main" id="{D93991D3-3374-4556-A01A-E52B04C92B90}"/>
              </a:ext>
            </a:extLst>
          </p:cNvPr>
          <p:cNvSpPr>
            <a:spLocks xmlns:a="http://schemas.openxmlformats.org/drawingml/2006/main" noGrp="1"/>
          </p:cNvSpPr>
          <p:nvPr/>
        </p:nvSpPr>
        <p:spPr>
          <a:xfrm xmlns:a="http://schemas.openxmlformats.org/drawingml/2006/main">
            <a:off x="571500" y="745807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Er is een Paretoverbetering. 40 transacties zijn niet Pareto-efficiënt.</a:t>
            </a:r>
          </a:p>
        </p:txBody>
      </p:sp>
    </p:spTree>
    <p:extLst>
      <p:ext uri="{BB962C8B-B14F-4D97-AF65-F5344CB8AC3E}">
        <p14:creationId xmlns:p14="http://schemas.microsoft.com/office/powerpoint/2010/main" val="96648792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6f: efficiëntie en eerlijkheid">
            <a:extLst xmlns:a="http://schemas.openxmlformats.org/drawingml/2006/main">
              <a:ext uri="{FF2B5EF4-FFF2-40B4-BE49-F238E27FC236}">
                <a16:creationId xmlns:a16="http://schemas.microsoft.com/office/drawing/2014/main" id="{3967609F-852B-4926-BFE4-2E06E8FA4647}"/>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6f: efficiëntie en eerlijkheid</a:t>
            </a:r>
          </a:p>
        </p:txBody>
      </p:sp>
      <p:sp>
        <p:nvSpPr>
          <p:cNvPr id="2" name="">
            <a:extLst xmlns:a="http://schemas.openxmlformats.org/drawingml/2006/main">
              <a:ext uri="{FF2B5EF4-FFF2-40B4-BE49-F238E27FC236}">
                <a16:creationId xmlns:a16="http://schemas.microsoft.com/office/drawing/2014/main" id="{FEC26FC4-0ACD-4055-8869-3FD91B59FB0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 Opgave 6 · Boekpa">
            <a:extLst xmlns:a="http://schemas.openxmlformats.org/drawingml/2006/main">
              <a:ext uri="{FF2B5EF4-FFF2-40B4-BE49-F238E27FC236}">
                <a16:creationId xmlns:a16="http://schemas.microsoft.com/office/drawing/2014/main" id="{C3E73B0A-58BC-42A1-A1B6-9297AE250CD4}"/>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 · Opgave 6 · Boekpagina 100–101</a:t>
            </a:r>
          </a:p>
        </p:txBody>
      </p:sp>
      <p:sp>
        <p:nvSpPr>
          <p:cNvPr id="4" name="29">
            <a:extLst xmlns:a="http://schemas.openxmlformats.org/drawingml/2006/main">
              <a:ext uri="{FF2B5EF4-FFF2-40B4-BE49-F238E27FC236}">
                <a16:creationId xmlns:a16="http://schemas.microsoft.com/office/drawing/2014/main" id="{32B10C6F-699E-4A8C-B93F-442D06822C3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graphicFrame>
        <p:nvGraphicFramePr>
          <p:cNvPr id="13" name=""/>
          <p:cNvGraphicFramePr/>
          <p:nvPr/>
        </p:nvGraphicFramePr>
        <p:xfrm>
          <a:off xmlns:a="http://schemas.openxmlformats.org/drawingml/2006/main" x="571500" y="2047875"/>
          <a:ext xmlns:a="http://schemas.openxmlformats.org/drawingml/2006/main" cx="14097000" cy="2571750"/>
        </p:xfrm>
        <a:graphic xmlns:a="http://schemas.openxmlformats.org/drawingml/2006/main">
          <a:graphicData uri="http://schemas.openxmlformats.org/drawingml/2006/table">
            <a:tbl>
              <a:tblPr/>
              <a:tblGrid>
                <a:gridCol w="6667500"/>
                <a:gridCol w="2476500"/>
                <a:gridCol w="2476500"/>
                <a:gridCol w="2476500"/>
              </a:tblGrid>
              <a:tr h="857250">
                <a:tc>
                  <a:txBody>
                    <a:bodyPr lIns="152400" tIns="95250" rIns="133350" bIns="95250"/>
                    <a:lstStyle/>
                    <a:p>
                      <a:r>
                        <a:rPr sz="2550" b="1">
                          <a:solidFill>
                            <a:srgbClr val="FFFFFF"/>
                          </a:solidFill>
                          <a:latin typeface="Arial"/>
                          <a:ea typeface="Arial"/>
                          <a:cs typeface="Arial"/>
                        </a:rPr>
                        <a:t>Uitkomst</a:t>
                      </a:r>
                    </a:p>
                  </a:txBody>
                  <a:tcPr marL="91440" marR="91440" marT="45720" marB="45720" anchor="ctr">
                    <a:solidFill>
                      <a:srgbClr val="183247"/>
                    </a:solidFill>
                  </a:tcPr>
                </a:tc>
                <a:tc>
                  <a:txBody>
                    <a:bodyPr lIns="152400" tIns="95250" rIns="133350" bIns="95250"/>
                    <a:lstStyle/>
                    <a:p>
                      <a:r>
                        <a:rPr sz="2550" b="1">
                          <a:solidFill>
                            <a:srgbClr val="FFFFFF"/>
                          </a:solidFill>
                          <a:latin typeface="Arial"/>
                          <a:ea typeface="Arial"/>
                          <a:cs typeface="Arial"/>
                        </a:rPr>
                        <a:t>CS</a:t>
                      </a:r>
                    </a:p>
                  </a:txBody>
                  <a:tcPr marL="91440" marR="91440" marT="45720" marB="45720" anchor="ctr">
                    <a:solidFill>
                      <a:srgbClr val="183247"/>
                    </a:solidFill>
                  </a:tcPr>
                </a:tc>
                <a:tc>
                  <a:txBody>
                    <a:bodyPr lIns="152400" tIns="95250" rIns="133350" bIns="95250"/>
                    <a:lstStyle/>
                    <a:p>
                      <a:r>
                        <a:rPr sz="2550" b="1">
                          <a:solidFill>
                            <a:srgbClr val="FFFFFF"/>
                          </a:solidFill>
                          <a:latin typeface="Arial"/>
                          <a:ea typeface="Arial"/>
                          <a:cs typeface="Arial"/>
                        </a:rPr>
                        <a:t>PS</a:t>
                      </a:r>
                    </a:p>
                  </a:txBody>
                  <a:tcPr marL="91440" marR="91440" marT="45720" marB="45720" anchor="ctr">
                    <a:solidFill>
                      <a:srgbClr val="183247"/>
                    </a:solidFill>
                  </a:tcPr>
                </a:tc>
                <a:tc>
                  <a:txBody>
                    <a:bodyPr lIns="152400" tIns="95250" rIns="133350" bIns="95250"/>
                    <a:lstStyle/>
                    <a:p>
                      <a:r>
                        <a:rPr sz="2550" b="1">
                          <a:solidFill>
                            <a:srgbClr val="FFFFFF"/>
                          </a:solidFill>
                          <a:latin typeface="Arial"/>
                          <a:ea typeface="Arial"/>
                          <a:cs typeface="Arial"/>
                        </a:rPr>
                        <a:t>TS</a:t>
                      </a:r>
                    </a:p>
                  </a:txBody>
                  <a:tcPr marL="91440" marR="91440" marT="45720" marB="45720" anchor="ctr">
                    <a:solidFill>
                      <a:srgbClr val="183247"/>
                    </a:solidFill>
                  </a:tcPr>
                </a:tc>
              </a:tr>
              <a:tr h="857250">
                <a:tc>
                  <a:txBody>
                    <a:bodyPr lIns="152400" tIns="95250" rIns="133350" bIns="95250"/>
                    <a:lstStyle/>
                    <a:p>
                      <a:r>
                        <a:rPr sz="2550" b="0">
                          <a:solidFill>
                            <a:srgbClr val="183247"/>
                          </a:solidFill>
                          <a:latin typeface="Arial"/>
                          <a:ea typeface="Arial"/>
                          <a:cs typeface="Arial"/>
                        </a:rPr>
                        <a:t>Vrij evenwicht</a:t>
                      </a:r>
                    </a:p>
                  </a:txBody>
                  <a:tcPr marL="91440" marR="91440" marT="45720" marB="45720" anchor="ctr">
                    <a:solidFill>
                      <a:srgbClr val="FFFFFF"/>
                    </a:solidFill>
                  </a:tcPr>
                </a:tc>
                <a:tc>
                  <a:txBody>
                    <a:bodyPr lIns="152400" tIns="95250" rIns="133350" bIns="95250"/>
                    <a:lstStyle/>
                    <a:p>
                      <a:r>
                        <a:rPr sz="2550" b="0">
                          <a:solidFill>
                            <a:srgbClr val="183247"/>
                          </a:solidFill>
                          <a:latin typeface="Arial"/>
                          <a:ea typeface="Arial"/>
                          <a:cs typeface="Arial"/>
                        </a:rPr>
                        <a:t>€ 900</a:t>
                      </a:r>
                    </a:p>
                  </a:txBody>
                  <a:tcPr marL="91440" marR="91440" marT="45720" marB="45720" anchor="ctr">
                    <a:solidFill>
                      <a:srgbClr val="FFFFFF"/>
                    </a:solidFill>
                  </a:tcPr>
                </a:tc>
                <a:tc>
                  <a:txBody>
                    <a:bodyPr lIns="152400" tIns="95250" rIns="133350" bIns="95250"/>
                    <a:lstStyle/>
                    <a:p>
                      <a:r>
                        <a:rPr sz="2550" b="0">
                          <a:solidFill>
                            <a:srgbClr val="183247"/>
                          </a:solidFill>
                          <a:latin typeface="Arial"/>
                          <a:ea typeface="Arial"/>
                          <a:cs typeface="Arial"/>
                        </a:rPr>
                        <a:t>€ 450</a:t>
                      </a:r>
                    </a:p>
                  </a:txBody>
                  <a:tcPr marL="91440" marR="91440" marT="45720" marB="45720" anchor="ctr">
                    <a:solidFill>
                      <a:srgbClr val="FFFFFF"/>
                    </a:solidFill>
                  </a:tcPr>
                </a:tc>
                <a:tc>
                  <a:txBody>
                    <a:bodyPr lIns="152400" tIns="95250" rIns="133350" bIns="95250"/>
                    <a:lstStyle/>
                    <a:p>
                      <a:r>
                        <a:rPr sz="2550" b="0">
                          <a:solidFill>
                            <a:srgbClr val="183247"/>
                          </a:solidFill>
                          <a:latin typeface="Arial"/>
                          <a:ea typeface="Arial"/>
                          <a:cs typeface="Arial"/>
                        </a:rPr>
                        <a:t>€ 1.350</a:t>
                      </a:r>
                    </a:p>
                  </a:txBody>
                  <a:tcPr marL="91440" marR="91440" marT="45720" marB="45720" anchor="ctr">
                    <a:solidFill>
                      <a:srgbClr val="FFFFFF"/>
                    </a:solidFill>
                  </a:tcPr>
                </a:tc>
              </a:tr>
              <a:tr h="857250">
                <a:tc>
                  <a:txBody>
                    <a:bodyPr lIns="152400" tIns="95250" rIns="133350" bIns="95250"/>
                    <a:lstStyle/>
                    <a:p>
                      <a:r>
                        <a:rPr sz="2550" b="0">
                          <a:solidFill>
                            <a:srgbClr val="183247"/>
                          </a:solidFill>
                          <a:latin typeface="Arial"/>
                          <a:ea typeface="Arial"/>
                          <a:cs typeface="Arial"/>
                        </a:rPr>
                        <a:t>Reserveringsregel</a:t>
                      </a:r>
                    </a:p>
                  </a:txBody>
                  <a:tcPr marL="91440" marR="91440" marT="45720" marB="45720" anchor="ctr">
                    <a:solidFill>
                      <a:srgbClr val="EFF4F7"/>
                    </a:solidFill>
                  </a:tcPr>
                </a:tc>
                <a:tc>
                  <a:txBody>
                    <a:bodyPr lIns="152400" tIns="95250" rIns="133350" bIns="95250"/>
                    <a:lstStyle/>
                    <a:p>
                      <a:r>
                        <a:rPr sz="2550" b="0">
                          <a:solidFill>
                            <a:srgbClr val="183247"/>
                          </a:solidFill>
                          <a:latin typeface="Arial"/>
                          <a:ea typeface="Arial"/>
                          <a:cs typeface="Arial"/>
                        </a:rPr>
                        <a:t>€ 600</a:t>
                      </a:r>
                    </a:p>
                  </a:txBody>
                  <a:tcPr marL="91440" marR="91440" marT="45720" marB="45720" anchor="ctr">
                    <a:solidFill>
                      <a:srgbClr val="EFF4F7"/>
                    </a:solidFill>
                  </a:tcPr>
                </a:tc>
                <a:tc>
                  <a:txBody>
                    <a:bodyPr lIns="152400" tIns="95250" rIns="133350" bIns="95250"/>
                    <a:lstStyle/>
                    <a:p>
                      <a:r>
                        <a:rPr sz="2550" b="0">
                          <a:solidFill>
                            <a:srgbClr val="183247"/>
                          </a:solidFill>
                          <a:latin typeface="Arial"/>
                          <a:ea typeface="Arial"/>
                          <a:cs typeface="Arial"/>
                        </a:rPr>
                        <a:t>€ 600</a:t>
                      </a:r>
                    </a:p>
                  </a:txBody>
                  <a:tcPr marL="91440" marR="91440" marT="45720" marB="45720" anchor="ctr">
                    <a:solidFill>
                      <a:srgbClr val="EFF4F7"/>
                    </a:solidFill>
                  </a:tcPr>
                </a:tc>
                <a:tc>
                  <a:txBody>
                    <a:bodyPr lIns="152400" tIns="95250" rIns="133350" bIns="95250"/>
                    <a:lstStyle/>
                    <a:p>
                      <a:r>
                        <a:rPr sz="2550" b="0">
                          <a:solidFill>
                            <a:srgbClr val="183247"/>
                          </a:solidFill>
                          <a:latin typeface="Arial"/>
                          <a:ea typeface="Arial"/>
                          <a:cs typeface="Arial"/>
                        </a:rPr>
                        <a:t>€ 1.200</a:t>
                      </a:r>
                    </a:p>
                  </a:txBody>
                  <a:tcPr marL="91440" marR="91440" marT="45720" marB="45720" anchor="ctr">
                    <a:solidFill>
                      <a:srgbClr val="EFF4F7"/>
                    </a:solidFill>
                  </a:tcPr>
                </a:tc>
              </a:tr>
            </a:tbl>
          </a:graphicData>
        </a:graphic>
      </p:graphicFrame>
      <p:sp>
        <p:nvSpPr>
          <p:cNvPr id="6" name="Een groter TS zegt hoeveel voordeel er samen is.&#10;Pareto-efficiënt">
            <a:extLst xmlns:a="http://schemas.openxmlformats.org/drawingml/2006/main">
              <a:ext uri="{FF2B5EF4-FFF2-40B4-BE49-F238E27FC236}">
                <a16:creationId xmlns:a16="http://schemas.microsoft.com/office/drawing/2014/main" id="{BA912D18-2BD3-49DF-A2C5-E32965DC84D7}"/>
              </a:ext>
            </a:extLst>
          </p:cNvPr>
          <p:cNvSpPr>
            <a:spLocks xmlns:a="http://schemas.openxmlformats.org/drawingml/2006/main" noGrp="1"/>
          </p:cNvSpPr>
          <p:nvPr/>
        </p:nvSpPr>
        <p:spPr>
          <a:xfrm xmlns:a="http://schemas.openxmlformats.org/drawingml/2006/main">
            <a:off x="571500" y="518160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Een groter TS zegt hoeveel voordeel er samen is.</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Pareto-efficiëntie zegt of een verbetering zonder verliezers nog kan.</a:t>
            </a:r>
          </a:p>
        </p:txBody>
      </p:sp>
      <p:sp>
        <p:nvSpPr>
          <p:cNvPr id="7" name="Geen van beide bepaalt wie welk voordeel hoort te krijgen.">
            <a:extLst xmlns:a="http://schemas.openxmlformats.org/drawingml/2006/main">
              <a:ext uri="{FF2B5EF4-FFF2-40B4-BE49-F238E27FC236}">
                <a16:creationId xmlns:a16="http://schemas.microsoft.com/office/drawing/2014/main" id="{AC283140-3EA3-404D-BD82-658B249A7C86}"/>
              </a:ext>
            </a:extLst>
          </p:cNvPr>
          <p:cNvSpPr>
            <a:spLocks xmlns:a="http://schemas.openxmlformats.org/drawingml/2006/main" noGrp="1"/>
          </p:cNvSpPr>
          <p:nvPr/>
        </p:nvSpPr>
        <p:spPr>
          <a:xfrm xmlns:a="http://schemas.openxmlformats.org/drawingml/2006/main">
            <a:off x="571500" y="671512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Geen van beide bepaalt wie welk voordeel hoort te krijgen.</a:t>
            </a:r>
          </a:p>
        </p:txBody>
      </p:sp>
      <p:sp>
        <p:nvSpPr>
          <p:cNvPr id="8" name="Wat eerlijk is, vraagt een afzonderlijk waardeoordeel.">
            <a:extLst xmlns:a="http://schemas.openxmlformats.org/drawingml/2006/main">
              <a:ext uri="{FF2B5EF4-FFF2-40B4-BE49-F238E27FC236}">
                <a16:creationId xmlns:a16="http://schemas.microsoft.com/office/drawing/2014/main" id="{1BE47FBB-42AB-47DB-8CAC-561BDB937A5A}"/>
              </a:ext>
            </a:extLst>
          </p:cNvPr>
          <p:cNvSpPr>
            <a:spLocks xmlns:a="http://schemas.openxmlformats.org/drawingml/2006/main" noGrp="1"/>
          </p:cNvSpPr>
          <p:nvPr/>
        </p:nvSpPr>
        <p:spPr>
          <a:xfrm xmlns:a="http://schemas.openxmlformats.org/drawingml/2006/main">
            <a:off x="571500" y="7543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Wat eerlijk is, vraagt een afzonderlijk waardeoordeel.</a:t>
            </a:r>
          </a:p>
        </p:txBody>
      </p:sp>
    </p:spTree>
    <p:extLst>
      <p:ext uri="{BB962C8B-B14F-4D97-AF65-F5344CB8AC3E}">
        <p14:creationId xmlns:p14="http://schemas.microsoft.com/office/powerpoint/2010/main" val="38962615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3 Pareto-efficiëntie en welvaartsverlies">
            <a:extLst xmlns:a="http://schemas.openxmlformats.org/drawingml/2006/main">
              <a:ext uri="{FF2B5EF4-FFF2-40B4-BE49-F238E27FC236}">
                <a16:creationId xmlns:a16="http://schemas.microsoft.com/office/drawing/2014/main" id="{7DE06514-6301-4EF0-B189-E0A6E0197FE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Deze les: §2.3.3 Pareto-efficiëntie en welvaartsverlies</a:t>
            </a:r>
          </a:p>
        </p:txBody>
      </p:sp>
      <p:sp>
        <p:nvSpPr>
          <p:cNvPr id="2" name="">
            <a:extLst xmlns:a="http://schemas.openxmlformats.org/drawingml/2006/main">
              <a:ext uri="{FF2B5EF4-FFF2-40B4-BE49-F238E27FC236}">
                <a16:creationId xmlns:a16="http://schemas.microsoft.com/office/drawing/2014/main" id="{5E83432B-001F-4C67-B4AF-3B09CC9E27B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3 Pareto-efficiëntie en welvaartsverlies">
            <a:extLst xmlns:a="http://schemas.openxmlformats.org/drawingml/2006/main">
              <a:ext uri="{FF2B5EF4-FFF2-40B4-BE49-F238E27FC236}">
                <a16:creationId xmlns:a16="http://schemas.microsoft.com/office/drawing/2014/main" id="{BA181EC4-30A8-46F3-98D5-477B87681698}"/>
              </a:ext>
            </a:extLst>
          </p:cNvPr>
          <p:cNvSpPr>
            <a:spLocks xmlns:a="http://schemas.openxmlformats.org/drawingml/2006/main" noGrp="1"/>
          </p:cNvSpPr>
          <p:nvPr/>
        </p:nvSpPr>
        <p:spPr>
          <a:xfrm xmlns:a="http://schemas.openxmlformats.org/drawingml/2006/main">
            <a:off x="571500" y="8077200"/>
            <a:ext cx="1333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§2.3.3 Pareto-efficiëntie en welvaartsverlies</a:t>
            </a:r>
          </a:p>
        </p:txBody>
      </p:sp>
      <p:sp>
        <p:nvSpPr>
          <p:cNvPr id="4" name="30">
            <a:extLst xmlns:a="http://schemas.openxmlformats.org/drawingml/2006/main">
              <a:ext uri="{FF2B5EF4-FFF2-40B4-BE49-F238E27FC236}">
                <a16:creationId xmlns:a16="http://schemas.microsoft.com/office/drawing/2014/main" id="{886D15AD-0B2B-4F2E-80B9-446B187FC08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30</a:t>
            </a:r>
          </a:p>
        </p:txBody>
      </p:sp>
      <p:sp>
        <p:nvSpPr>
          <p:cNvPr id="5" name="phase">
            <a:extLst xmlns:a="http://schemas.openxmlformats.org/drawingml/2006/main">
              <a:ext uri="{FF2B5EF4-FFF2-40B4-BE49-F238E27FC236}">
                <a16:creationId xmlns:a16="http://schemas.microsoft.com/office/drawing/2014/main" id="{6B714975-9D71-4E81-A5F0-4FBEF99E360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7FA4BEC5-A92B-4338-98AE-7B65CCBD1B5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C55B50C-FEE1-4D58-B12E-DA7BA00DF6F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99ED3786-719A-44BE-836B-5E89D067BC2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2C85DBB-E1FC-4416-903F-EB2C952DCE8D}"/>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E6538F6-DDA4-4E87-B827-0D2283068776}"/>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2E8C2B85-D5D7-4CBB-A596-C76E6D0FCC3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C33C617-DB4F-4401-B9CC-BF9C2F5D21B4}"/>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B764DC0-C077-4E54-A1DB-BCDF86AF796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9F9B838-D0F1-4618-AE13-1CC68D043CFF}"/>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519281EF-B430-4253-BA45-07F4E2F8C78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58D8747-B1AD-4EEA-A22D-798CB0538989}"/>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BD40E3F-A831-498F-A8B3-2064A7BD3CD7}"/>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1FE276A-AAEE-4C69-AEC2-C489F8042ED1}"/>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6.</a:t>
            </a:r>
          </a:p>
        </p:txBody>
      </p:sp>
      <p:sp>
        <p:nvSpPr>
          <p:cNvPr id="19" name="route-number-7">
            <a:extLst xmlns:a="http://schemas.openxmlformats.org/drawingml/2006/main">
              <a:ext uri="{FF2B5EF4-FFF2-40B4-BE49-F238E27FC236}">
                <a16:creationId xmlns:a16="http://schemas.microsoft.com/office/drawing/2014/main" id="{83F08940-3E3B-45C5-870E-F300948A94D3}"/>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CD41D11A-9456-4052-BBA7-6118EC8E5FD6}"/>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855AFF8-68EA-40B5-B7A3-B150AD6E1169}"/>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D9BA552-EE24-4B87-8C85-48025A4AD036}"/>
              </a:ext>
            </a:extLst>
          </p:cNvPr>
          <p:cNvSpPr>
            <a:spLocks xmlns:a="http://schemas.openxmlformats.org/drawingml/2006/main" noGrp="1"/>
          </p:cNvSpPr>
          <p:nvPr/>
        </p:nvSpPr>
        <p:spPr>
          <a:xfrm xmlns:a="http://schemas.openxmlformats.org/drawingml/2006/main">
            <a:off x="9258300" y="2324100"/>
            <a:ext cx="541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Werkelijke handel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Surplus en verlies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Pareto en eerlijkheid beoordelen.</a:t>
            </a:r>
          </a:p>
        </p:txBody>
      </p:sp>
      <p:sp>
        <p:nvSpPr>
          <p:cNvPr id="23" name="">
            <a:extLst xmlns:a="http://schemas.openxmlformats.org/drawingml/2006/main">
              <a:ext uri="{FF2B5EF4-FFF2-40B4-BE49-F238E27FC236}">
                <a16:creationId xmlns:a16="http://schemas.microsoft.com/office/drawing/2014/main" id="{C26A876B-26C7-41ED-AA4F-979D587B6565}"/>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03698AA-E027-4C0B-B25E-EA6E55003D77}"/>
              </a:ext>
            </a:extLst>
          </p:cNvPr>
          <p:cNvSpPr>
            <a:spLocks xmlns:a="http://schemas.openxmlformats.org/drawingml/2006/main" noGrp="1"/>
          </p:cNvSpPr>
          <p:nvPr/>
        </p:nvSpPr>
        <p:spPr>
          <a:xfrm xmlns:a="http://schemas.openxmlformats.org/drawingml/2006/main">
            <a:off x="9258300" y="38385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B803C88-6C11-4F55-A6E9-DC725C205AED}"/>
              </a:ext>
            </a:extLst>
          </p:cNvPr>
          <p:cNvSpPr>
            <a:spLocks xmlns:a="http://schemas.openxmlformats.org/drawingml/2006/main" noGrp="1"/>
          </p:cNvSpPr>
          <p:nvPr/>
        </p:nvSpPr>
        <p:spPr>
          <a:xfrm xmlns:a="http://schemas.openxmlformats.org/drawingml/2006/main">
            <a:off x="9258300" y="4371975"/>
            <a:ext cx="5410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97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94</a:t>
            </a:r>
          </a:p>
        </p:txBody>
      </p:sp>
      <p:sp>
        <p:nvSpPr>
          <p:cNvPr id="26" name="">
            <a:extLst xmlns:a="http://schemas.openxmlformats.org/drawingml/2006/main">
              <a:ext uri="{FF2B5EF4-FFF2-40B4-BE49-F238E27FC236}">
                <a16:creationId xmlns:a16="http://schemas.microsoft.com/office/drawing/2014/main" id="{CFB665ED-7F5E-47BC-9681-C7B5D9CCE381}"/>
              </a:ext>
            </a:extLst>
          </p:cNvPr>
          <p:cNvSpPr>
            <a:spLocks xmlns:a="http://schemas.openxmlformats.org/drawingml/2006/main" noGrp="1"/>
          </p:cNvSpPr>
          <p:nvPr/>
        </p:nvSpPr>
        <p:spPr>
          <a:xfrm xmlns:a="http://schemas.openxmlformats.org/drawingml/2006/main">
            <a:off x="9258300" y="55245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78324738-4CDD-425D-A602-83AEC75BF88C}"/>
              </a:ext>
            </a:extLst>
          </p:cNvPr>
          <p:cNvSpPr>
            <a:spLocks xmlns:a="http://schemas.openxmlformats.org/drawingml/2006/main" noGrp="1"/>
          </p:cNvSpPr>
          <p:nvPr/>
        </p:nvSpPr>
        <p:spPr>
          <a:xfrm xmlns:a="http://schemas.openxmlformats.org/drawingml/2006/main">
            <a:off x="9258300" y="58102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3F8297D-6539-4F55-8049-8D18862A4711}"/>
              </a:ext>
            </a:extLst>
          </p:cNvPr>
          <p:cNvSpPr>
            <a:spLocks xmlns:a="http://schemas.openxmlformats.org/drawingml/2006/main" noGrp="1"/>
          </p:cNvSpPr>
          <p:nvPr/>
        </p:nvSpPr>
        <p:spPr>
          <a:xfrm xmlns:a="http://schemas.openxmlformats.org/drawingml/2006/main">
            <a:off x="9258300" y="6372225"/>
            <a:ext cx="5410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§2.3.3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6</a:t>
            </a:r>
          </a:p>
        </p:txBody>
      </p:sp>
    </p:spTree>
    <p:extLst>
      <p:ext uri="{BB962C8B-B14F-4D97-AF65-F5344CB8AC3E}">
        <p14:creationId xmlns:p14="http://schemas.microsoft.com/office/powerpoint/2010/main" val="903034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2026-10-01T11:44:36.1090000Z</dcterms:created>
  <dcterms:modified xsi:type="dcterms:W3CDTF">2026-10-01T11:44:36.1090000Z</dcterms:modified>
</coreProperties>
</file>