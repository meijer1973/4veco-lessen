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578ea7c386483b" /><Relationship Type="http://schemas.openxmlformats.org/officeDocument/2006/relationships/extended-properties" Target="/docProps/app.xml" Id="Rf4fb93163c6c4aad" /><Relationship Type="http://schemas.openxmlformats.org/officeDocument/2006/relationships/officeDocument" Target="/ppt/presentation.xml" Id="R3777c267b48b4b33" /></Relationships>
</file>

<file path=ppt/presentation.xml><?xml version="1.0" encoding="utf-8"?>
<p:presentation xmlns:p="http://schemas.openxmlformats.org/presentationml/2006/main">
  <p:sldMasterIdLst>
    <p:sldMasterId xmlns:r="http://schemas.openxmlformats.org/officeDocument/2006/relationships" id="2147483648" r:id="R652ce759430c4e2b"/>
  </p:sldMasterIdLst>
  <p:notesMasterIdLst>
    <p:notesMasterId xmlns:r="http://schemas.openxmlformats.org/officeDocument/2006/relationships" r:id="R2c19a764ce0644c7"/>
  </p:notesMasterIdLst>
  <p:sldIdLst>
    <p:sldId xmlns:r="http://schemas.openxmlformats.org/officeDocument/2006/relationships" id="256" r:id="Rf12debf315854548"/>
    <p:sldId xmlns:r="http://schemas.openxmlformats.org/officeDocument/2006/relationships" id="257" r:id="Re8631682b29642f6"/>
    <p:sldId xmlns:r="http://schemas.openxmlformats.org/officeDocument/2006/relationships" id="258" r:id="Rbe213ff9c9864abf"/>
    <p:sldId xmlns:r="http://schemas.openxmlformats.org/officeDocument/2006/relationships" id="259" r:id="R5af876105ef04b01"/>
    <p:sldId xmlns:r="http://schemas.openxmlformats.org/officeDocument/2006/relationships" id="260" r:id="R94976a91274344fa"/>
    <p:sldId xmlns:r="http://schemas.openxmlformats.org/officeDocument/2006/relationships" id="261" r:id="Rbb1e94454997445b"/>
    <p:sldId xmlns:r="http://schemas.openxmlformats.org/officeDocument/2006/relationships" id="262" r:id="Rdd72a5e505f94142"/>
    <p:sldId xmlns:r="http://schemas.openxmlformats.org/officeDocument/2006/relationships" id="263" r:id="R2b04324988ce473d"/>
    <p:sldId xmlns:r="http://schemas.openxmlformats.org/officeDocument/2006/relationships" id="264" r:id="R02b1fd074669452c"/>
    <p:sldId xmlns:r="http://schemas.openxmlformats.org/officeDocument/2006/relationships" id="265" r:id="Raeba2cb14eda4c94"/>
    <p:sldId xmlns:r="http://schemas.openxmlformats.org/officeDocument/2006/relationships" id="266" r:id="R9a8752c2fc744595"/>
    <p:sldId xmlns:r="http://schemas.openxmlformats.org/officeDocument/2006/relationships" id="267" r:id="R32f34fc2177e4f13"/>
    <p:sldId xmlns:r="http://schemas.openxmlformats.org/officeDocument/2006/relationships" id="268" r:id="R993fadb2e5f24f8b"/>
    <p:sldId xmlns:r="http://schemas.openxmlformats.org/officeDocument/2006/relationships" id="269" r:id="Rfe9484ad36ba47cc"/>
    <p:sldId xmlns:r="http://schemas.openxmlformats.org/officeDocument/2006/relationships" id="270" r:id="R131aed310fcd4f51"/>
    <p:sldId xmlns:r="http://schemas.openxmlformats.org/officeDocument/2006/relationships" id="271" r:id="Rba371cb62d4a4084"/>
    <p:sldId xmlns:r="http://schemas.openxmlformats.org/officeDocument/2006/relationships" id="272" r:id="R83676a7eef5a4ca1"/>
    <p:sldId xmlns:r="http://schemas.openxmlformats.org/officeDocument/2006/relationships" id="273" r:id="R5d90481966224a21"/>
    <p:sldId xmlns:r="http://schemas.openxmlformats.org/officeDocument/2006/relationships" id="274" r:id="Refb7124df2564b0a"/>
    <p:sldId xmlns:r="http://schemas.openxmlformats.org/officeDocument/2006/relationships" id="275" r:id="R61b3261f949f4fca"/>
    <p:sldId xmlns:r="http://schemas.openxmlformats.org/officeDocument/2006/relationships" id="276" r:id="R2dff528fe3c34858"/>
    <p:sldId xmlns:r="http://schemas.openxmlformats.org/officeDocument/2006/relationships" id="277" r:id="R7174db65049d4d64"/>
    <p:sldId xmlns:r="http://schemas.openxmlformats.org/officeDocument/2006/relationships" id="278" r:id="R8be2ac2036784a7d"/>
    <p:sldId xmlns:r="http://schemas.openxmlformats.org/officeDocument/2006/relationships" id="279" r:id="R510c13b80a334cdc"/>
    <p:sldId xmlns:r="http://schemas.openxmlformats.org/officeDocument/2006/relationships" id="280" r:id="R5a3d95c9cb5c47a8"/>
    <p:sldId xmlns:r="http://schemas.openxmlformats.org/officeDocument/2006/relationships" id="281" r:id="Rf7b972ad664647ab"/>
    <p:sldId xmlns:r="http://schemas.openxmlformats.org/officeDocument/2006/relationships" id="282" r:id="Rdc6704e9e24c47e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8b0efcf4c64a41" /><Relationship Type="http://schemas.openxmlformats.org/officeDocument/2006/relationships/slideMaster" Target="/ppt/slideMasters/slideMaster1.xml" Id="R652ce759430c4e2b" /><Relationship Type="http://schemas.openxmlformats.org/officeDocument/2006/relationships/notesMaster" Target="/ppt/notesMasters/notesMaster1.xml" Id="R2c19a764ce0644c7" /><Relationship Type="http://schemas.openxmlformats.org/officeDocument/2006/relationships/presProps" Target="/ppt/presProps.xml" Id="Rcff139ca056c455d" /><Relationship Type="http://schemas.openxmlformats.org/officeDocument/2006/relationships/tableStyles" Target="/ppt/tableStyles.xml" Id="Rbbf8969bfb6e48e1" /><Relationship Type="http://schemas.openxmlformats.org/officeDocument/2006/relationships/slide" Target="/ppt/slides/slide1.xml" Id="Rf12debf315854548" /><Relationship Type="http://schemas.openxmlformats.org/officeDocument/2006/relationships/slide" Target="/ppt/slides/slide2.xml" Id="Re8631682b29642f6" /><Relationship Type="http://schemas.openxmlformats.org/officeDocument/2006/relationships/slide" Target="/ppt/slides/slide3.xml" Id="Rbe213ff9c9864abf" /><Relationship Type="http://schemas.openxmlformats.org/officeDocument/2006/relationships/slide" Target="/ppt/slides/slide4.xml" Id="R5af876105ef04b01" /><Relationship Type="http://schemas.openxmlformats.org/officeDocument/2006/relationships/slide" Target="/ppt/slides/slide5.xml" Id="R94976a91274344fa" /><Relationship Type="http://schemas.openxmlformats.org/officeDocument/2006/relationships/slide" Target="/ppt/slides/slide6.xml" Id="Rbb1e94454997445b" /><Relationship Type="http://schemas.openxmlformats.org/officeDocument/2006/relationships/slide" Target="/ppt/slides/slide7.xml" Id="Rdd72a5e505f94142" /><Relationship Type="http://schemas.openxmlformats.org/officeDocument/2006/relationships/slide" Target="/ppt/slides/slide8.xml" Id="R2b04324988ce473d" /><Relationship Type="http://schemas.openxmlformats.org/officeDocument/2006/relationships/slide" Target="/ppt/slides/slide9.xml" Id="R02b1fd074669452c" /><Relationship Type="http://schemas.openxmlformats.org/officeDocument/2006/relationships/slide" Target="/ppt/slides/slide10.xml" Id="Raeba2cb14eda4c94" /><Relationship Type="http://schemas.openxmlformats.org/officeDocument/2006/relationships/slide" Target="/ppt/slides/slide11.xml" Id="R9a8752c2fc744595" /><Relationship Type="http://schemas.openxmlformats.org/officeDocument/2006/relationships/slide" Target="/ppt/slides/slide12.xml" Id="R32f34fc2177e4f13" /><Relationship Type="http://schemas.openxmlformats.org/officeDocument/2006/relationships/slide" Target="/ppt/slides/slide13.xml" Id="R993fadb2e5f24f8b" /><Relationship Type="http://schemas.openxmlformats.org/officeDocument/2006/relationships/slide" Target="/ppt/slides/slide14.xml" Id="Rfe9484ad36ba47cc" /><Relationship Type="http://schemas.openxmlformats.org/officeDocument/2006/relationships/slide" Target="/ppt/slides/slide15.xml" Id="R131aed310fcd4f51" /><Relationship Type="http://schemas.openxmlformats.org/officeDocument/2006/relationships/slide" Target="/ppt/slides/slide16.xml" Id="Rba371cb62d4a4084" /><Relationship Type="http://schemas.openxmlformats.org/officeDocument/2006/relationships/slide" Target="/ppt/slides/slide17.xml" Id="R83676a7eef5a4ca1" /><Relationship Type="http://schemas.openxmlformats.org/officeDocument/2006/relationships/slide" Target="/ppt/slides/slide18.xml" Id="R5d90481966224a21" /><Relationship Type="http://schemas.openxmlformats.org/officeDocument/2006/relationships/slide" Target="/ppt/slides/slide19.xml" Id="Refb7124df2564b0a" /><Relationship Type="http://schemas.openxmlformats.org/officeDocument/2006/relationships/slide" Target="/ppt/slides/slide20.xml" Id="R61b3261f949f4fca" /><Relationship Type="http://schemas.openxmlformats.org/officeDocument/2006/relationships/slide" Target="/ppt/slides/slide21.xml" Id="R2dff528fe3c34858" /><Relationship Type="http://schemas.openxmlformats.org/officeDocument/2006/relationships/slide" Target="/ppt/slides/slide22.xml" Id="R7174db65049d4d64" /><Relationship Type="http://schemas.openxmlformats.org/officeDocument/2006/relationships/slide" Target="/ppt/slides/slide23.xml" Id="R8be2ac2036784a7d" /><Relationship Type="http://schemas.openxmlformats.org/officeDocument/2006/relationships/slide" Target="/ppt/slides/slide24.xml" Id="R510c13b80a334cdc" /><Relationship Type="http://schemas.openxmlformats.org/officeDocument/2006/relationships/slide" Target="/ppt/slides/slide25.xml" Id="R5a3d95c9cb5c47a8" /><Relationship Type="http://schemas.openxmlformats.org/officeDocument/2006/relationships/slide" Target="/ppt/slides/slide26.xml" Id="Rf7b972ad664647ab" /><Relationship Type="http://schemas.openxmlformats.org/officeDocument/2006/relationships/slide" Target="/ppt/slides/slide27.xml" Id="Rdc6704e9e24c47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985f4f32864c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1bc788abb84d2e" /><Relationship Type="http://schemas.openxmlformats.org/officeDocument/2006/relationships/notesMaster" Target="/ppt/notesMasters/notesMaster1.xml" Id="Raf7a979b59c54a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7e8277854c47d3" /><Relationship Type="http://schemas.openxmlformats.org/officeDocument/2006/relationships/notesMaster" Target="/ppt/notesMasters/notesMaster1.xml" Id="R8b1f613067d544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3aa0f317544072" /><Relationship Type="http://schemas.openxmlformats.org/officeDocument/2006/relationships/notesMaster" Target="/ppt/notesMasters/notesMaster1.xml" Id="R189d1bc834a545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4a0e53827e41f5" /><Relationship Type="http://schemas.openxmlformats.org/officeDocument/2006/relationships/notesMaster" Target="/ppt/notesMasters/notesMaster1.xml" Id="Ref974dace4974e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e1b878d0f04c90" /><Relationship Type="http://schemas.openxmlformats.org/officeDocument/2006/relationships/notesMaster" Target="/ppt/notesMasters/notesMaster1.xml" Id="R8b3e84d847984a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567c2849cd4a59" /><Relationship Type="http://schemas.openxmlformats.org/officeDocument/2006/relationships/notesMaster" Target="/ppt/notesMasters/notesMaster1.xml" Id="Rc2f8f85d3474426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fd7c477d1e49a8" /><Relationship Type="http://schemas.openxmlformats.org/officeDocument/2006/relationships/notesMaster" Target="/ppt/notesMasters/notesMaster1.xml" Id="R33c67cbe1d1847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b5dee9bd0049ff" /><Relationship Type="http://schemas.openxmlformats.org/officeDocument/2006/relationships/notesMaster" Target="/ppt/notesMasters/notesMaster1.xml" Id="R0bfb8050367540a6"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286d63d59c4f6a" /><Relationship Type="http://schemas.openxmlformats.org/officeDocument/2006/relationships/notesMaster" Target="/ppt/notesMasters/notesMaster1.xml" Id="Rb10b6c6dedb6437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fdb6834afa34f06" /><Relationship Type="http://schemas.openxmlformats.org/officeDocument/2006/relationships/notesMaster" Target="/ppt/notesMasters/notesMaster1.xml" Id="R9e40f9a41e9f42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e875efa57f74071" /><Relationship Type="http://schemas.openxmlformats.org/officeDocument/2006/relationships/notesMaster" Target="/ppt/notesMasters/notesMaster1.xml" Id="R10fe9d9ff6e24ce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529e511645c4fb6" /><Relationship Type="http://schemas.openxmlformats.org/officeDocument/2006/relationships/notesMaster" Target="/ppt/notesMasters/notesMaster1.xml" Id="Rd9dfc2114f6f492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a94228070b24706" /><Relationship Type="http://schemas.openxmlformats.org/officeDocument/2006/relationships/notesMaster" Target="/ppt/notesMasters/notesMaster1.xml" Id="R7eae3e13f12b440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8981c75193a45c9" /><Relationship Type="http://schemas.openxmlformats.org/officeDocument/2006/relationships/notesMaster" Target="/ppt/notesMasters/notesMaster1.xml" Id="Raa72bd91f94f4b1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b47f02e18b34e93" /><Relationship Type="http://schemas.openxmlformats.org/officeDocument/2006/relationships/notesMaster" Target="/ppt/notesMasters/notesMaster1.xml" Id="R787ebe180dbb406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27d1139e8f74d22" /><Relationship Type="http://schemas.openxmlformats.org/officeDocument/2006/relationships/notesMaster" Target="/ppt/notesMasters/notesMaster1.xml" Id="R3b05164e22864b6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192c80bc9a64f6e" /><Relationship Type="http://schemas.openxmlformats.org/officeDocument/2006/relationships/notesMaster" Target="/ppt/notesMasters/notesMaster1.xml" Id="R2ad27b978ac1487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ea7863843724fe6" /><Relationship Type="http://schemas.openxmlformats.org/officeDocument/2006/relationships/notesMaster" Target="/ppt/notesMasters/notesMaster1.xml" Id="R7b1773eb84c4453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6a07a0119de4bba" /><Relationship Type="http://schemas.openxmlformats.org/officeDocument/2006/relationships/notesMaster" Target="/ppt/notesMasters/notesMaster1.xml" Id="R6edea0a4317f4d0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452a71f3c614738" /><Relationship Type="http://schemas.openxmlformats.org/officeDocument/2006/relationships/notesMaster" Target="/ppt/notesMasters/notesMaster1.xml" Id="Rd8908e8caf9d455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d5ec6b19ee24c76" /><Relationship Type="http://schemas.openxmlformats.org/officeDocument/2006/relationships/notesMaster" Target="/ppt/notesMasters/notesMaster1.xml" Id="R3f846c84fa794e2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41bd88054c6470a" /><Relationship Type="http://schemas.openxmlformats.org/officeDocument/2006/relationships/notesMaster" Target="/ppt/notesMasters/notesMaster1.xml" Id="R01d7f7f6f0334f2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acf2ef54be449b5" /><Relationship Type="http://schemas.openxmlformats.org/officeDocument/2006/relationships/notesMaster" Target="/ppt/notesMasters/notesMaster1.xml" Id="R81b72ef27bee474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e6dcf7013f84a1f" /><Relationship Type="http://schemas.openxmlformats.org/officeDocument/2006/relationships/notesMaster" Target="/ppt/notesMasters/notesMaster1.xml" Id="Rbc27126126084b6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96adfb9e9604d44" /><Relationship Type="http://schemas.openxmlformats.org/officeDocument/2006/relationships/notesMaster" Target="/ppt/notesMasters/notesMaster1.xml" Id="Rbd05152e67034de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6f7f37626c749a0" /><Relationship Type="http://schemas.openxmlformats.org/officeDocument/2006/relationships/notesMaster" Target="/ppt/notesMasters/notesMaster1.xml" Id="Rb0264374bb894a8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507a67ad26741a3" /><Relationship Type="http://schemas.openxmlformats.org/officeDocument/2006/relationships/notesMaster" Target="/ppt/notesMasters/notesMaster1.xml" Id="R0b49c1dce83d4e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eerdere kennis over kosten en winst heb je nodig?</a:t>
            </a:r>
          </a:p>
          <a:p xmlns:a="http://schemas.openxmlformats.org/drawingml/2006/main">
            <a:r>
              <a:rPr sz="1400"/>
              <a:t/>
            </a:r>
          </a:p>
          <a:p xmlns:a="http://schemas.openxmlformats.org/drawingml/2006/main">
            <a:r>
              <a:rPr sz="1400"/>
              <a:t>Uitleg: Laat het overzicht staan tijdens startopdracht. Start 1–2: pagina 24. Basis 3–4: pagina 24–25. Zelfstandig 5–6: pagina 25–26. Doel 7: pagina 27. Huiswerk 3, 4, 5, 6 en 7 maken en nakijken. Denkertje 8 en herhaling 9–10 zijn extra. De volledige route hoeft niet binnen één les af; plan vervolgwerktijd.</a:t>
            </a:r>
          </a:p>
          <a:p xmlns:a="http://schemas.openxmlformats.org/drawingml/2006/main">
            <a:r>
              <a:rPr sz="1400"/>
              <a:t/>
            </a:r>
          </a:p>
          <a:p xmlns:a="http://schemas.openxmlformats.org/drawingml/2006/main">
            <a:r>
              <a:rPr sz="1400"/>
              <a:t>Start en terugblik: Opgave 1 gebruikt TK uit §2.1.1, dia 4, en TO en winst uit §2.1.2, dia 3–4. MK en delen door de verandering in Q zijn nieuw. Lees bij opgave 2 de definitie en tabelstappen op p. 19–20. Laat leerlingen bij deze verkenning aanwijzen welke uitleg zij gebruiken en hun twijfel noteren. Verwacht de nieuwe bewerking nog niet zonder steun. Bij terugkeer naar dit overzicht vóór het basiswerk: laat leerlingen opgave 2 opnieuw proberen na de uitleg, bespreek hun redenering en geef zo nodig extra steun. Dit is een verkennende start, geen toets van al beheerste nieuwe leerstof.</a:t>
            </a:r>
          </a:p>
          <a:p xmlns:a="http://schemas.openxmlformats.org/drawingml/2006/main">
            <a:r>
              <a:rPr sz="1400"/>
              <a:t/>
            </a:r>
          </a:p>
          <a:p xmlns:a="http://schemas.openxmlformats.org/drawingml/2006/main">
            <a:r>
              <a:rPr sz="1400"/>
              <a:t>Misvatting: De MK-kolom beschrijft de stap vanaf de vorige rij. Gebruik de gedrukte boekpagina, niet de PDF-teller.</a:t>
            </a:r>
          </a:p>
          <a:p xmlns:a="http://schemas.openxmlformats.org/drawingml/2006/main">
            <a:r>
              <a:rPr sz="1400"/>
              <a:t/>
            </a:r>
          </a:p>
          <a:p xmlns:a="http://schemas.openxmlformats.org/drawingml/2006/main">
            <a:r>
              <a:rPr sz="1400"/>
              <a:t>Overgang: Ga door naar de volgende lesfase zodra de klas eraan toe is.</a:t>
            </a:r>
          </a:p>
          <a:p xmlns:a="http://schemas.openxmlformats.org/drawingml/2006/main">
            <a:r>
              <a:rPr sz="1400"/>
              <a:t/>
            </a:r>
          </a:p>
          <a:p xmlns:a="http://schemas.openxmlformats.org/drawingml/2006/main">
            <a:r>
              <a:rPr sz="1400"/>
              <a:t>Bron: leerlingenboek Boek 2, chatuitgave 2026, gedrukte pagina 24–27.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is het verschil tussen alle kosten en de kosten die erbij komen?</a:t>
            </a:r>
          </a:p>
          <a:p xmlns:a="http://schemas.openxmlformats.org/drawingml/2006/main">
            <a:r>
              <a:rPr sz="1400"/>
              <a:t/>
            </a:r>
          </a:p>
          <a:p xmlns:a="http://schemas.openxmlformats.org/drawingml/2006/main">
            <a:r>
              <a:rPr sz="1400"/>
              <a:t>Uitleg: Koppel de drie doelen aan de tabelopgaven. Een ondernemer moet weten wat een grotere productie aan extra kosten en opbrengst betekent. We rekenen met verschillen, zonder afgeleiden en zonder een winstmaximum te bepalen.</a:t>
            </a:r>
          </a:p>
          <a:p xmlns:a="http://schemas.openxmlformats.org/drawingml/2006/main">
            <a:r>
              <a:rPr sz="1400"/>
              <a:t/>
            </a:r>
          </a:p>
          <a:p xmlns:a="http://schemas.openxmlformats.org/drawingml/2006/main">
            <a:r>
              <a:rPr sz="1400"/>
              <a:t>Misvatting: Marginaal betekent niet gemiddeld over alle producten.</a:t>
            </a:r>
          </a:p>
          <a:p xmlns:a="http://schemas.openxmlformats.org/drawingml/2006/main">
            <a:r>
              <a:rPr sz="1400"/>
              <a:t/>
            </a:r>
          </a:p>
          <a:p xmlns:a="http://schemas.openxmlformats.org/drawingml/2006/main">
            <a:r>
              <a:rPr sz="1400"/>
              <a:t>Overgang: Introduceer eerst de twee marginale begrippen.</a:t>
            </a:r>
          </a:p>
          <a:p xmlns:a="http://schemas.openxmlformats.org/drawingml/2006/main">
            <a:r>
              <a:rPr sz="1400"/>
              <a:t/>
            </a:r>
          </a:p>
          <a:p xmlns:a="http://schemas.openxmlformats.org/drawingml/2006/main">
            <a:r>
              <a:rPr sz="1400"/>
              <a:t>Bron: leerlingenboek Boek 2, chatuitgave 2026, gedrukte pagina 19–23.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Waardoor deel je de extra totale kosten?</a:t>
            </a:r>
          </a:p>
          <a:p xmlns:a="http://schemas.openxmlformats.org/drawingml/2006/main">
            <a:r>
              <a:rPr sz="1400"/>
              <a:t/>
            </a:r>
          </a:p>
          <a:p xmlns:a="http://schemas.openxmlformats.org/drawingml/2006/main">
            <a:r>
              <a:rPr sz="1400"/>
              <a:t>Uitleg: Spreek delta uit en koppel het teken aan nieuw min oud. Bij een stap met meerdere producten deel je de totale verandering door het aantal extra producten. Het resultaat is een gemiddeld extra bedrag binnen die stap.</a:t>
            </a:r>
          </a:p>
          <a:p xmlns:a="http://schemas.openxmlformats.org/drawingml/2006/main">
            <a:r>
              <a:rPr sz="1400"/>
              <a:t/>
            </a:r>
          </a:p>
          <a:p xmlns:a="http://schemas.openxmlformats.org/drawingml/2006/main">
            <a:r>
              <a:rPr sz="1400"/>
              <a:t>Misvatting: ΔTK is nog geen MK. De noemer is ΔQ, niet de nieuwe Q.</a:t>
            </a:r>
          </a:p>
          <a:p xmlns:a="http://schemas.openxmlformats.org/drawingml/2006/main">
            <a:r>
              <a:rPr sz="1400"/>
              <a:t/>
            </a:r>
          </a:p>
          <a:p xmlns:a="http://schemas.openxmlformats.org/drawingml/2006/main">
            <a:r>
              <a:rPr sz="1400"/>
              <a:t>Overgang: Gebruik een eigen voorbeeld met ongelijke tabelstappen.</a:t>
            </a:r>
          </a:p>
          <a:p xmlns:a="http://schemas.openxmlformats.org/drawingml/2006/main">
            <a:r>
              <a:rPr sz="1400"/>
              <a:t/>
            </a:r>
          </a:p>
          <a:p xmlns:a="http://schemas.openxmlformats.org/drawingml/2006/main">
            <a:r>
              <a:rPr sz="1400"/>
              <a:t>Bron: leerlingenboek Boek 2, chatuitgave 2026, gedrukte pagina 19–20.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Hoeveel tassen komen er in elke stap bij?</a:t>
            </a:r>
          </a:p>
          <a:p xmlns:a="http://schemas.openxmlformats.org/drawingml/2006/main">
            <a:r>
              <a:rPr sz="1400"/>
              <a:t/>
            </a:r>
          </a:p>
          <a:p xmlns:a="http://schemas.openxmlformats.org/drawingml/2006/main">
            <a:r>
              <a:rPr sz="1400"/>
              <a:t>Uitleg: De vaste weekkosten zijn 72 euro; elke extra tas kost 4 euro aan materiaal en bedrukking. De verkoopprijs is 11 euro. Bij Q = 4: TK = 72 + 4 × 4 = 88 en TO = 11 × 4 = 44. Bij Q = 12: TK = 120 en TO = 132.</a:t>
            </a:r>
          </a:p>
          <a:p xmlns:a="http://schemas.openxmlformats.org/drawingml/2006/main">
            <a:r>
              <a:rPr sz="1400"/>
              <a:t/>
            </a:r>
          </a:p>
          <a:p xmlns:a="http://schemas.openxmlformats.org/drawingml/2006/main">
            <a:r>
              <a:rPr sz="1400"/>
              <a:t>Misvatting: De tabelstappen hoeven niet even groot te zijn.</a:t>
            </a:r>
          </a:p>
          <a:p xmlns:a="http://schemas.openxmlformats.org/drawingml/2006/main">
            <a:r>
              <a:rPr sz="1400"/>
              <a:t/>
            </a:r>
          </a:p>
          <a:p xmlns:a="http://schemas.openxmlformats.org/drawingml/2006/main">
            <a:r>
              <a:rPr sz="1400"/>
              <a:t>Overgang: Bereken eerst de winst binnen één rij.</a:t>
            </a:r>
          </a:p>
          <a:p xmlns:a="http://schemas.openxmlformats.org/drawingml/2006/main">
            <a:r>
              <a:rPr sz="1400"/>
              <a:t/>
            </a:r>
          </a:p>
          <a:p xmlns:a="http://schemas.openxmlformats.org/drawingml/2006/main">
            <a:r>
              <a:rPr sz="1400"/>
              <a:t>Bron: leerlingenboek Boek 2, chatuitgave 2026, gedrukte pagina 20, 22.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Uitlegvoorbeeld — niet uit het boek: TasDruk; TK = 72 + 4Q, TO = 11Q, Q = 0, 4, 12. Context en gegevens zijn voor deze les gemaakt.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kan er verlies zijn terwijl elke tas opbrengst geeft?</a:t>
            </a:r>
          </a:p>
          <a:p xmlns:a="http://schemas.openxmlformats.org/drawingml/2006/main">
            <a:r>
              <a:rPr sz="1400"/>
              <a:t/>
            </a:r>
          </a:p>
          <a:p xmlns:a="http://schemas.openxmlformats.org/drawingml/2006/main">
            <a:r>
              <a:rPr sz="1400"/>
              <a:t>Uitleg: Winst hoort bij één hoeveelheid. Trek bij Q = 4 de totale kosten 88 af van de totale opbrengst 44. De onderneming verliest 44 euro in die week. De tabel toont dezelfde aanpak bij nul en twaalf tassen.</a:t>
            </a:r>
          </a:p>
          <a:p xmlns:a="http://schemas.openxmlformats.org/drawingml/2006/main">
            <a:r>
              <a:rPr sz="1400"/>
              <a:t/>
            </a:r>
          </a:p>
          <a:p xmlns:a="http://schemas.openxmlformats.org/drawingml/2006/main">
            <a:r>
              <a:rPr sz="1400"/>
              <a:t>Misvatting: MO is geen winst. Alle kosten, inclusief de vaste kosten, tellen mee in winst.</a:t>
            </a:r>
          </a:p>
          <a:p xmlns:a="http://schemas.openxmlformats.org/drawingml/2006/main">
            <a:r>
              <a:rPr sz="1400"/>
              <a:t/>
            </a:r>
          </a:p>
          <a:p xmlns:a="http://schemas.openxmlformats.org/drawingml/2006/main">
            <a:r>
              <a:rPr sz="1400"/>
              <a:t>Overgang: Vergelijk nu twee rijen voor MK.</a:t>
            </a:r>
          </a:p>
          <a:p xmlns:a="http://schemas.openxmlformats.org/drawingml/2006/main">
            <a:r>
              <a:rPr sz="1400"/>
              <a:t/>
            </a:r>
          </a:p>
          <a:p xmlns:a="http://schemas.openxmlformats.org/drawingml/2006/main">
            <a:r>
              <a:rPr sz="1400"/>
              <a:t>Bron: leerlingenboek Boek 2, chatuitgave 2026, gedrukte pagina 22.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Uitlegvoorbeeld — niet uit het boek: TasDruk. Context en gegevens zijn voor deze les gemaakt.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deel je niet door twaalf?</a:t>
            </a:r>
          </a:p>
          <a:p xmlns:a="http://schemas.openxmlformats.org/drawingml/2006/main">
            <a:r>
              <a:rPr sz="1400"/>
              <a:t/>
            </a:r>
          </a:p>
          <a:p xmlns:a="http://schemas.openxmlformats.org/drawingml/2006/main">
            <a:r>
              <a:rPr sz="1400"/>
              <a:t>Uitleg: Gebruik exact dezelfde twee rijen in teller en noemer. Nieuw min oud geeft 32 euro extra kosten voor acht extra tassen. Delen geeft 4 euro per extra tas. De 72 euro vaste kosten zit in beide totalen en valt weg bij aftrekken.</a:t>
            </a:r>
          </a:p>
          <a:p xmlns:a="http://schemas.openxmlformats.org/drawingml/2006/main">
            <a:r>
              <a:rPr sz="1400"/>
              <a:t/>
            </a:r>
          </a:p>
          <a:p xmlns:a="http://schemas.openxmlformats.org/drawingml/2006/main">
            <a:r>
              <a:rPr sz="1400"/>
              <a:t>Misvatting: 32 is de totale kostenstijging; 12 is de nieuwe hoeveelheid. Geen van beide is het gezochte bedrag per extra tas.</a:t>
            </a:r>
          </a:p>
          <a:p xmlns:a="http://schemas.openxmlformats.org/drawingml/2006/main">
            <a:r>
              <a:rPr sz="1400"/>
              <a:t/>
            </a:r>
          </a:p>
          <a:p xmlns:a="http://schemas.openxmlformats.org/drawingml/2006/main">
            <a:r>
              <a:rPr sz="1400"/>
              <a:t>Overgang: Bereken de extra opbrengst over precies dezelfde stap.</a:t>
            </a:r>
          </a:p>
          <a:p xmlns:a="http://schemas.openxmlformats.org/drawingml/2006/main">
            <a:r>
              <a:rPr sz="1400"/>
              <a:t/>
            </a:r>
          </a:p>
          <a:p xmlns:a="http://schemas.openxmlformats.org/drawingml/2006/main">
            <a:r>
              <a:rPr sz="1400"/>
              <a:t>Bron: leerlingenboek Boek 2, chatuitgave 2026, gedrukte pagina 19–20.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Uitlegvoorbeeld — niet uit het boek: TasDruk. Context en gegevens zijn voor deze les gemaakt.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komt de uitkomst overeen met de verkoopprijs?</a:t>
            </a:r>
          </a:p>
          <a:p xmlns:a="http://schemas.openxmlformats.org/drawingml/2006/main">
            <a:r>
              <a:rPr sz="1400"/>
              <a:t/>
            </a:r>
          </a:p>
          <a:p xmlns:a="http://schemas.openxmlformats.org/drawingml/2006/main">
            <a:r>
              <a:rPr sz="1400"/>
              <a:t>Uitleg: De opbrengst stijgt 88 euro bij acht extra verkochte tassen. Iedere tas brengt dezelfde 11 euro op, dus MO blijft 11 euro. Dit geldt hier omdat de prijs vast is en alle geproduceerde tassen worden verkocht.</a:t>
            </a:r>
          </a:p>
          <a:p xmlns:a="http://schemas.openxmlformats.org/drawingml/2006/main">
            <a:r>
              <a:rPr sz="1400"/>
              <a:t/>
            </a:r>
          </a:p>
          <a:p xmlns:a="http://schemas.openxmlformats.org/drawingml/2006/main">
            <a:r>
              <a:rPr sz="1400"/>
              <a:t>Misvatting: Constante MO geldt niet zonder de aanname van een vaste prijs.</a:t>
            </a:r>
          </a:p>
          <a:p xmlns:a="http://schemas.openxmlformats.org/drawingml/2006/main">
            <a:r>
              <a:rPr sz="1400"/>
              <a:t/>
            </a:r>
          </a:p>
          <a:p xmlns:a="http://schemas.openxmlformats.org/drawingml/2006/main">
            <a:r>
              <a:rPr sz="1400"/>
              <a:t>Overgang: Zet de uitkomsten bij de laatste rij van elke stap.</a:t>
            </a:r>
          </a:p>
          <a:p xmlns:a="http://schemas.openxmlformats.org/drawingml/2006/main">
            <a:r>
              <a:rPr sz="1400"/>
              <a:t/>
            </a:r>
          </a:p>
          <a:p xmlns:a="http://schemas.openxmlformats.org/drawingml/2006/main">
            <a:r>
              <a:rPr sz="1400"/>
              <a:t>Bron: leerlingenboek Boek 2, chatuitgave 2026, gedrukte pagina 20, 22.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Uitlegvoorbeeld — niet uit het boek: TasDruk. Context en gegevens zijn voor deze les gemaakt.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zijn de marginale bedragen gelijk, ondanks de grotere tweede stap?</a:t>
            </a:r>
          </a:p>
          <a:p xmlns:a="http://schemas.openxmlformats.org/drawingml/2006/main">
            <a:r>
              <a:rPr sz="1400"/>
              <a:t/>
            </a:r>
          </a:p>
          <a:p xmlns:a="http://schemas.openxmlformats.org/drawingml/2006/main">
            <a:r>
              <a:rPr sz="1400"/>
              <a:t>Uitleg: De uitkomst bij twaalf beschrijft de hele stap van vier naar twaalf. Verdubbeling van ΔTK en ΔTO betekent hier geen verdubbeling van MK en MO, want ΔQ verdubbelt ook. Bij de eerste rij ontbreekt een vorige rij; het streepje is geen nul.</a:t>
            </a:r>
          </a:p>
          <a:p xmlns:a="http://schemas.openxmlformats.org/drawingml/2006/main">
            <a:r>
              <a:rPr sz="1400"/>
              <a:t/>
            </a:r>
          </a:p>
          <a:p xmlns:a="http://schemas.openxmlformats.org/drawingml/2006/main">
            <a:r>
              <a:rPr sz="1400"/>
              <a:t>Misvatting: De laatste rij is een notatieafspraak, geen bewering over alleen het laatste product.</a:t>
            </a:r>
          </a:p>
          <a:p xmlns:a="http://schemas.openxmlformats.org/drawingml/2006/main">
            <a:r>
              <a:rPr sz="1400"/>
              <a:t/>
            </a:r>
          </a:p>
          <a:p xmlns:a="http://schemas.openxmlformats.org/drawingml/2006/main">
            <a:r>
              <a:rPr sz="1400"/>
              <a:t>Overgang: Bekijk nu een onderneming met steeds grotere extra kosten.</a:t>
            </a:r>
          </a:p>
          <a:p xmlns:a="http://schemas.openxmlformats.org/drawingml/2006/main">
            <a:r>
              <a:rPr sz="1400"/>
              <a:t/>
            </a:r>
          </a:p>
          <a:p xmlns:a="http://schemas.openxmlformats.org/drawingml/2006/main">
            <a:r>
              <a:rPr sz="1400"/>
              <a:t>Bron: leerlingenboek Boek 2, chatuitgave 2026, gedrukte pagina 20.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Uitlegvoorbeeld — niet uit het boek: TasDruk. Context en gegevens zijn voor deze les gemaakt.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2 × 4² gelijk aan 32 en niet aan 64?</a:t>
            </a:r>
          </a:p>
          <a:p xmlns:a="http://schemas.openxmlformats.org/drawingml/2006/main">
            <a:r>
              <a:rPr sz="1400"/>
              <a:t/>
            </a:r>
          </a:p>
          <a:p xmlns:a="http://schemas.openxmlformats.org/drawingml/2006/main">
            <a:r>
              <a:rPr sz="1400"/>
              <a:t>Uitleg: Deze werkplaats maakt reliëftegels. Bij meer productie is steeds meer betaald werk nodig per extra tegel. De vaste werkplaatskosten blijven 32 euro per week. Kwadrateer eerst Q, vermenigvuldig daarna met 2 en tel 32 op.</a:t>
            </a:r>
          </a:p>
          <a:p xmlns:a="http://schemas.openxmlformats.org/drawingml/2006/main">
            <a:r>
              <a:rPr sz="1400"/>
              <a:t/>
            </a:r>
          </a:p>
          <a:p xmlns:a="http://schemas.openxmlformats.org/drawingml/2006/main">
            <a:r>
              <a:rPr sz="1400"/>
              <a:t>Misvatting: Q² is Q × Q. De constante kosten blijven hier gelijk; dat sluit stijgende marginale kosten niet uit.</a:t>
            </a:r>
          </a:p>
          <a:p xmlns:a="http://schemas.openxmlformats.org/drawingml/2006/main">
            <a:r>
              <a:rPr sz="1400"/>
              <a:t/>
            </a:r>
          </a:p>
          <a:p xmlns:a="http://schemas.openxmlformats.org/drawingml/2006/main">
            <a:r>
              <a:rPr sz="1400"/>
              <a:t>Overgang: Vergelijk de even grote groepen extra tegels.</a:t>
            </a:r>
          </a:p>
          <a:p xmlns:a="http://schemas.openxmlformats.org/drawingml/2006/main">
            <a:r>
              <a:rPr sz="1400"/>
              <a:t/>
            </a:r>
          </a:p>
          <a:p xmlns:a="http://schemas.openxmlformats.org/drawingml/2006/main">
            <a:r>
              <a:rPr sz="1400"/>
              <a:t>Bron: leerlingenboek Boek 2, chatuitgave 2026, gedrukte pagina 21, 23.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Uitlegvoorbeeld — niet uit het boek: Studio Reliëf; TK = 32 + 2Q², TO = 26Q, Q = 0, 2, 4, 6. Context en gegevens zijn voor deze les gemaakt.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stijgt MK terwijl de werkplaatskosten gelijk blijven?</a:t>
            </a:r>
          </a:p>
          <a:p xmlns:a="http://schemas.openxmlformats.org/drawingml/2006/main">
            <a:r>
              <a:rPr sz="1400"/>
              <a:t/>
            </a:r>
          </a:p>
          <a:p xmlns:a="http://schemas.openxmlformats.org/drawingml/2006/main">
            <a:r>
              <a:rPr sz="1400"/>
              <a:t>Uitleg: De groepen hebben allemaal twee tegels. Hun extra kosten zijn 8, 24 en 40 euro: steeds meer per extra tegel. MO blijft 26 door de vaste verkoopprijs. De vaste 32 euro valt bij elke aftrekking weg. De bedragen 4, 12 en 20 zijn gemiddelden over telkens twee extra tegels.</a:t>
            </a:r>
          </a:p>
          <a:p xmlns:a="http://schemas.openxmlformats.org/drawingml/2006/main">
            <a:r>
              <a:rPr sz="1400"/>
              <a:t/>
            </a:r>
          </a:p>
          <a:p xmlns:a="http://schemas.openxmlformats.org/drawingml/2006/main">
            <a:r>
              <a:rPr sz="1400"/>
              <a:t>Misvatting: Het zijn niet de afzonderlijke kosten van alleen tegel twee, vier of zes.</a:t>
            </a:r>
          </a:p>
          <a:p xmlns:a="http://schemas.openxmlformats.org/drawingml/2006/main">
            <a:r>
              <a:rPr sz="1400"/>
              <a:t/>
            </a:r>
          </a:p>
          <a:p xmlns:a="http://schemas.openxmlformats.org/drawingml/2006/main">
            <a:r>
              <a:rPr sz="1400"/>
              <a:t>Overgang: Vergelijk de laatste marginale uitkomst met het gemiddelde van alle tegels.</a:t>
            </a:r>
          </a:p>
          <a:p xmlns:a="http://schemas.openxmlformats.org/drawingml/2006/main">
            <a:r>
              <a:rPr sz="1400"/>
              <a:t/>
            </a:r>
          </a:p>
          <a:p xmlns:a="http://schemas.openxmlformats.org/drawingml/2006/main">
            <a:r>
              <a:rPr sz="1400"/>
              <a:t>Bron: leerlingenboek Boek 2, chatuitgave 2026, gedrukte pagina 21, 23.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Uitlegvoorbeeld — niet uit het boek: Studio Reliëf. Context en gegevens zijn voor deze les gemaakt.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mogen 17,33 en 20 verschillen?</a:t>
            </a:r>
          </a:p>
          <a:p xmlns:a="http://schemas.openxmlformats.org/drawingml/2006/main">
            <a:r>
              <a:rPr sz="1400"/>
              <a:t/>
            </a:r>
          </a:p>
          <a:p xmlns:a="http://schemas.openxmlformats.org/drawingml/2006/main">
            <a:r>
              <a:rPr sz="1400"/>
              <a:t>Uitleg: GTK verdeelt alle kosten over alle zes tegels. MK verdeelt alleen de extra kosten over de twee extra tegels. Voor een verdiepende vraag: tegel vijf voegt 18 euro toe en tegel zes 22 euro; hun gemiddelde is 20 euro. De intervaluitkomst zegt niet dat elke afzonderlijke tegel 20 euro extra kost.</a:t>
            </a:r>
          </a:p>
          <a:p xmlns:a="http://schemas.openxmlformats.org/drawingml/2006/main">
            <a:r>
              <a:rPr sz="1400"/>
              <a:t/>
            </a:r>
          </a:p>
          <a:p xmlns:a="http://schemas.openxmlformats.org/drawingml/2006/main">
            <a:r>
              <a:rPr sz="1400"/>
              <a:t>Misvatting: Een getal in de MK-kolom bij Q = 6 is niet GTK van alle zes tegels.</a:t>
            </a:r>
          </a:p>
          <a:p xmlns:a="http://schemas.openxmlformats.org/drawingml/2006/main">
            <a:r>
              <a:rPr sz="1400"/>
              <a:t/>
            </a:r>
          </a:p>
          <a:p xmlns:a="http://schemas.openxmlformats.org/drawingml/2006/main">
            <a:r>
              <a:rPr sz="1400"/>
              <a:t>Overgang: Laat leerlingen de betekenis in één zin oefenen.</a:t>
            </a:r>
          </a:p>
          <a:p xmlns:a="http://schemas.openxmlformats.org/drawingml/2006/main">
            <a:r>
              <a:rPr sz="1400"/>
              <a:t/>
            </a:r>
          </a:p>
          <a:p xmlns:a="http://schemas.openxmlformats.org/drawingml/2006/main">
            <a:r>
              <a:rPr sz="1400"/>
              <a:t>Bron: leerlingenboek Boek 2, chatuitgave 2026, gedrukte pagina 19, 21.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Uitlegvoorbeeld — niet uit het boek: Studio Reliëf. Context en gegevens zijn voor deze les gemaakt.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betekent “per extra tegel” in deze tabel?</a:t>
            </a:r>
          </a:p>
          <a:p xmlns:a="http://schemas.openxmlformats.org/drawingml/2006/main">
            <a:r>
              <a:rPr sz="1400"/>
              <a:t/>
            </a:r>
          </a:p>
          <a:p xmlns:a="http://schemas.openxmlformats.org/drawingml/2006/main">
            <a:r>
              <a:rPr sz="1400"/>
              <a:t>Uitleg: Laat leerlingen eerst zelf de uitspraak beoordelen. Vraag om de hoeveelheden vier en zes te noemen. De uitwerking volgt pas op de volgende dia. Dit is een korte controle, geen extra huiswerk.</a:t>
            </a:r>
          </a:p>
          <a:p xmlns:a="http://schemas.openxmlformats.org/drawingml/2006/main">
            <a:r>
              <a:rPr sz="1400"/>
              <a:t/>
            </a:r>
          </a:p>
          <a:p xmlns:a="http://schemas.openxmlformats.org/drawingml/2006/main">
            <a:r>
              <a:rPr sz="1400"/>
              <a:t>Misvatting: Niet de nieuwe totale hoeveelheid en niet alleen de laatste tegel gebruiken.</a:t>
            </a:r>
          </a:p>
          <a:p xmlns:a="http://schemas.openxmlformats.org/drawingml/2006/main">
            <a:r>
              <a:rPr sz="1400"/>
              <a:t/>
            </a:r>
          </a:p>
          <a:p xmlns:a="http://schemas.openxmlformats.org/drawingml/2006/main">
            <a:r>
              <a:rPr sz="1400"/>
              <a:t>Overgang: Bespreek de redeneringen en toon daarna het antwoord.</a:t>
            </a:r>
          </a:p>
          <a:p xmlns:a="http://schemas.openxmlformats.org/drawingml/2006/main">
            <a:r>
              <a:rPr sz="1400"/>
              <a:t/>
            </a:r>
          </a:p>
          <a:p xmlns:a="http://schemas.openxmlformats.org/drawingml/2006/main">
            <a:r>
              <a:rPr sz="1400"/>
              <a:t>Bron: leerlingenboek Boek 2, chatuitgave 2026, gedrukte pagina 19–21.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Uitlegvoorbeeld — niet uit het boek: Studio Reliëf. Context en gegevens zijn voor deze les gemaakt.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betekent “per extra tegel” in deze tabel?</a:t>
            </a:r>
          </a:p>
          <a:p xmlns:a="http://schemas.openxmlformats.org/drawingml/2006/main">
            <a:r>
              <a:rPr sz="1400"/>
              <a:t/>
            </a:r>
          </a:p>
          <a:p xmlns:a="http://schemas.openxmlformats.org/drawingml/2006/main">
            <a:r>
              <a:rPr sz="1400"/>
              <a:t>Uitleg: De uitspraak verwart het laatste tabelpunt met één afzonderlijk product. De MK van 20 is gebaseerd op 40 euro extra totale kosten en twee extra tegels.</a:t>
            </a:r>
          </a:p>
          <a:p xmlns:a="http://schemas.openxmlformats.org/drawingml/2006/main">
            <a:r>
              <a:rPr sz="1400"/>
              <a:t/>
            </a:r>
          </a:p>
          <a:p xmlns:a="http://schemas.openxmlformats.org/drawingml/2006/main">
            <a:r>
              <a:rPr sz="1400"/>
              <a:t>Misvatting: Niet de nieuwe totale hoeveelheid en niet alleen de laatste tegel gebruiken.</a:t>
            </a:r>
          </a:p>
          <a:p xmlns:a="http://schemas.openxmlformats.org/drawingml/2006/main">
            <a:r>
              <a:rPr sz="1400"/>
              <a:t/>
            </a:r>
          </a:p>
          <a:p xmlns:a="http://schemas.openxmlformats.org/drawingml/2006/main">
            <a:r>
              <a:rPr sz="1400"/>
              <a:t>Overgang: Laat de lesroute tijdens de oefenfase staan.</a:t>
            </a:r>
          </a:p>
          <a:p xmlns:a="http://schemas.openxmlformats.org/drawingml/2006/main">
            <a:r>
              <a:rPr sz="1400"/>
              <a:t/>
            </a:r>
          </a:p>
          <a:p xmlns:a="http://schemas.openxmlformats.org/drawingml/2006/main">
            <a:r>
              <a:rPr sz="1400"/>
              <a:t>Bron: leerlingenboek Boek 2, chatuitgave 2026, gedrukte pagina 19–21.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Uitlegvoorbeeld — niet uit het boek: Studio Reliëf. Context en gegevens zijn voor deze les gemaakt.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berekening of uitleg vraagt nog aandacht?</a:t>
            </a:r>
          </a:p>
          <a:p xmlns:a="http://schemas.openxmlformats.org/drawingml/2006/main">
            <a:r>
              <a:rPr sz="1400"/>
              <a:t/>
            </a:r>
          </a:p>
          <a:p xmlns:a="http://schemas.openxmlformats.org/drawingml/2006/main">
            <a:r>
              <a:rPr sz="1400"/>
              <a:t>Uitleg: Laat het overzicht staan tijdens zelfstandig werken. Start 1–2: pagina 24. Basis 3–4: pagina 24–25. Zelfstandig 5–6: pagina 25–26. Doel 7: pagina 27. Huiswerk 3, 4, 5, 6 en 7 maken en nakijken. Denkertje 8 en herhaling 9–10 zijn extra. De volledige route hoeft niet binnen één les af; plan vervolgwerktijd.</a:t>
            </a:r>
          </a:p>
          <a:p xmlns:a="http://schemas.openxmlformats.org/drawingml/2006/main">
            <a:r>
              <a:rPr sz="1400"/>
              <a:t/>
            </a:r>
          </a:p>
          <a:p xmlns:a="http://schemas.openxmlformats.org/drawingml/2006/main">
            <a:r>
              <a:rPr sz="1400"/>
              <a:t>Start en terugblik: Opgave 1 gebruikt TK uit §2.1.1, dia 4, en TO en winst uit §2.1.2, dia 3–4. MK en delen door de verandering in Q zijn nieuw. Lees bij opgave 2 de definitie en tabelstappen op p. 19–20. Laat leerlingen bij deze verkenning aanwijzen welke uitleg zij gebruiken en hun twijfel noteren. Verwacht de nieuwe bewerking nog niet zonder steun. Bij terugkeer naar dit overzicht vóór het basiswerk: laat leerlingen opgave 2 opnieuw proberen na de uitleg, bespreek hun redenering en geef zo nodig extra steun. Dit is een verkennende start, geen toets van al beheerste nieuwe leerstof.</a:t>
            </a:r>
          </a:p>
          <a:p xmlns:a="http://schemas.openxmlformats.org/drawingml/2006/main">
            <a:r>
              <a:rPr sz="1400"/>
              <a:t/>
            </a:r>
          </a:p>
          <a:p xmlns:a="http://schemas.openxmlformats.org/drawingml/2006/main">
            <a:r>
              <a:rPr sz="1400"/>
              <a:t>Misvatting: De MK-kolom beschrijft de stap vanaf de vorige rij. Gebruik de gedrukte boekpagina, niet de PDF-teller.</a:t>
            </a:r>
          </a:p>
          <a:p xmlns:a="http://schemas.openxmlformats.org/drawingml/2006/main">
            <a:r>
              <a:rPr sz="1400"/>
              <a:t/>
            </a:r>
          </a:p>
          <a:p xmlns:a="http://schemas.openxmlformats.org/drawingml/2006/main">
            <a:r>
              <a:rPr sz="1400"/>
              <a:t>Overgang: Ga door naar de volgende lesfase zodra de klas eraan toe is.</a:t>
            </a:r>
          </a:p>
          <a:p xmlns:a="http://schemas.openxmlformats.org/drawingml/2006/main">
            <a:r>
              <a:rPr sz="1400"/>
              <a:t/>
            </a:r>
          </a:p>
          <a:p xmlns:a="http://schemas.openxmlformats.org/drawingml/2006/main">
            <a:r>
              <a:rPr sz="1400"/>
              <a:t>Bron: leerlingenboek Boek 2, chatuitgave 2026, gedrukte pagina 24–27.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stappen zijn bij Linea en Curva verschillend van grootte?</a:t>
            </a:r>
          </a:p>
          <a:p xmlns:a="http://schemas.openxmlformats.org/drawingml/2006/main">
            <a:r>
              <a:rPr sz="1400"/>
              <a:t/>
            </a:r>
          </a:p>
          <a:p xmlns:a="http://schemas.openxmlformats.org/drawingml/2006/main">
            <a:r>
              <a:rPr sz="1400"/>
              <a:t>Uitleg: Begin deze bespreking nadat leerlingen de doelopgave hebben geprobeerd. Dit zijn de functies, prijs, capaciteiten, periode en algemene opdracht uit opgave 7. De volgende dia’s tonen beide invultabellen en alle vijf deelvragen voordat antwoorden worden onthuld.</a:t>
            </a:r>
          </a:p>
          <a:p xmlns:a="http://schemas.openxmlformats.org/drawingml/2006/main">
            <a:r>
              <a:rPr sz="1400"/>
              <a:t/>
            </a:r>
          </a:p>
          <a:p xmlns:a="http://schemas.openxmlformats.org/drawingml/2006/main">
            <a:r>
              <a:rPr sz="1400"/>
              <a:t>Misvatting: Curva en Linea hebben verschillende capaciteiten. Trek de tabellen niet verder door.</a:t>
            </a:r>
          </a:p>
          <a:p xmlns:a="http://schemas.openxmlformats.org/drawingml/2006/main">
            <a:r>
              <a:rPr sz="1400"/>
              <a:t/>
            </a:r>
          </a:p>
          <a:p xmlns:a="http://schemas.openxmlformats.org/drawingml/2006/main">
            <a:r>
              <a:rPr sz="1400"/>
              <a:t>Overgang: Toon de oorspronkelijke invultabel van Linea.</a:t>
            </a:r>
          </a:p>
          <a:p xmlns:a="http://schemas.openxmlformats.org/drawingml/2006/main">
            <a:r>
              <a:rPr sz="1400"/>
              <a:t/>
            </a:r>
          </a:p>
          <a:p xmlns:a="http://schemas.openxmlformats.org/drawingml/2006/main">
            <a:r>
              <a:rPr sz="1400"/>
              <a:t>Bron: leerlingenboek Boek 2, chatuitgave 2026, gedrukte pagina 27.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rijen gebruik je voor de eerste marginale berekening?</a:t>
            </a:r>
          </a:p>
          <a:p xmlns:a="http://schemas.openxmlformats.org/drawingml/2006/main">
            <a:r>
              <a:rPr sz="1400"/>
              <a:t/>
            </a:r>
          </a:p>
          <a:p xmlns:a="http://schemas.openxmlformats.org/drawingml/2006/main">
            <a:r>
              <a:rPr sz="1400"/>
              <a:t>Uitleg: Behoud alle gegeven waarden en lege cellen uit de Linea-tabel. De winstkolom moet nog worden ingevuld. Toon nog geen uitwerking.</a:t>
            </a:r>
          </a:p>
          <a:p xmlns:a="http://schemas.openxmlformats.org/drawingml/2006/main">
            <a:r>
              <a:rPr sz="1400"/>
              <a:t/>
            </a:r>
          </a:p>
          <a:p xmlns:a="http://schemas.openxmlformats.org/drawingml/2006/main">
            <a:r>
              <a:rPr sz="1400"/>
              <a:t>Misvatting: Een streepje bij Q = 0 betekent geen eerdere tabelrij, niet nul.</a:t>
            </a:r>
          </a:p>
          <a:p xmlns:a="http://schemas.openxmlformats.org/drawingml/2006/main">
            <a:r>
              <a:rPr sz="1400"/>
              <a:t/>
            </a:r>
          </a:p>
          <a:p xmlns:a="http://schemas.openxmlformats.org/drawingml/2006/main">
            <a:r>
              <a:rPr sz="1400"/>
              <a:t>Overgang: Toon ook de invultabel van Curva.</a:t>
            </a:r>
          </a:p>
          <a:p xmlns:a="http://schemas.openxmlformats.org/drawingml/2006/main">
            <a:r>
              <a:rPr sz="1400"/>
              <a:t/>
            </a:r>
          </a:p>
          <a:p xmlns:a="http://schemas.openxmlformats.org/drawingml/2006/main">
            <a:r>
              <a:rPr sz="1400"/>
              <a:t>Bron: leerlingenboek Boek 2, chatuitgave 2026, gedrukte pagina 27.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rijen gebruik je voor de eerste marginale berekening?</a:t>
            </a:r>
          </a:p>
          <a:p xmlns:a="http://schemas.openxmlformats.org/drawingml/2006/main">
            <a:r>
              <a:rPr sz="1400"/>
              <a:t/>
            </a:r>
          </a:p>
          <a:p xmlns:a="http://schemas.openxmlformats.org/drawingml/2006/main">
            <a:r>
              <a:rPr sz="1400"/>
              <a:t>Uitleg: Behoud alle gegeven waarden en lege cellen uit de Curva-tabel. De winstbedragen zijn hier al in de opgave gegeven. Toon nog geen uitwerking.</a:t>
            </a:r>
          </a:p>
          <a:p xmlns:a="http://schemas.openxmlformats.org/drawingml/2006/main">
            <a:r>
              <a:rPr sz="1400"/>
              <a:t/>
            </a:r>
          </a:p>
          <a:p xmlns:a="http://schemas.openxmlformats.org/drawingml/2006/main">
            <a:r>
              <a:rPr sz="1400"/>
              <a:t>Misvatting: Een streepje bij Q = 0 betekent geen eerdere tabelrij, niet nul.</a:t>
            </a:r>
          </a:p>
          <a:p xmlns:a="http://schemas.openxmlformats.org/drawingml/2006/main">
            <a:r>
              <a:rPr sz="1400"/>
              <a:t/>
            </a:r>
          </a:p>
          <a:p xmlns:a="http://schemas.openxmlformats.org/drawingml/2006/main">
            <a:r>
              <a:rPr sz="1400"/>
              <a:t>Overgang: Toon eerst alle deelvragen.</a:t>
            </a:r>
          </a:p>
          <a:p xmlns:a="http://schemas.openxmlformats.org/drawingml/2006/main">
            <a:r>
              <a:rPr sz="1400"/>
              <a:t/>
            </a:r>
          </a:p>
          <a:p xmlns:a="http://schemas.openxmlformats.org/drawingml/2006/main">
            <a:r>
              <a:rPr sz="1400"/>
              <a:t>Bron: leerlingenboek Boek 2, chatuitgave 2026, gedrukte pagina 27.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moet je naast de ingevulde cellen laten zien?</a:t>
            </a:r>
          </a:p>
          <a:p xmlns:a="http://schemas.openxmlformats.org/drawingml/2006/main">
            <a:r>
              <a:rPr sz="1400"/>
              <a:t/>
            </a:r>
          </a:p>
          <a:p xmlns:a="http://schemas.openxmlformats.org/drawingml/2006/main">
            <a:r>
              <a:rPr sz="1400"/>
              <a:t>Uitleg: Deze drie vragen horen bij Linea. Behoud de vraag naar de teller en noemer en de economische verklaring. Wacht nog met de uitwerking totdat ook d en e getoond zijn.</a:t>
            </a:r>
          </a:p>
          <a:p xmlns:a="http://schemas.openxmlformats.org/drawingml/2006/main">
            <a:r>
              <a:rPr sz="1400"/>
              <a:t/>
            </a:r>
          </a:p>
          <a:p xmlns:a="http://schemas.openxmlformats.org/drawingml/2006/main">
            <a:r>
              <a:rPr sz="1400"/>
              <a:t>Misvatting: Alleen een eindgetal is geen volledige berekening of verklaring.</a:t>
            </a:r>
          </a:p>
          <a:p xmlns:a="http://schemas.openxmlformats.org/drawingml/2006/main">
            <a:r>
              <a:rPr sz="1400"/>
              <a:t/>
            </a:r>
          </a:p>
          <a:p xmlns:a="http://schemas.openxmlformats.org/drawingml/2006/main">
            <a:r>
              <a:rPr sz="1400"/>
              <a:t>Overgang: Toon ook de Curva-vraag en de vergelijking.</a:t>
            </a:r>
          </a:p>
          <a:p xmlns:a="http://schemas.openxmlformats.org/drawingml/2006/main">
            <a:r>
              <a:rPr sz="1400"/>
              <a:t/>
            </a:r>
          </a:p>
          <a:p xmlns:a="http://schemas.openxmlformats.org/drawingml/2006/main">
            <a:r>
              <a:rPr sz="1400"/>
              <a:t>Bron: leerlingenboek Boek 2, chatuitgave 2026, gedrukte pagina 27.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dingen moet je bij e uitleggen?</a:t>
            </a:r>
          </a:p>
          <a:p xmlns:a="http://schemas.openxmlformats.org/drawingml/2006/main">
            <a:r>
              <a:rPr sz="1400"/>
              <a:t/>
            </a:r>
          </a:p>
          <a:p xmlns:a="http://schemas.openxmlformats.org/drawingml/2006/main">
            <a:r>
              <a:rPr sz="1400"/>
              <a:t>Uitleg: Nu zijn de volledige context, beide tabellen en alle vijf deelvragen beschikbaar. d vraagt alle drie MK-berekeningen en de eerste MO-berekening; e vraagt patronen én betekenis. De opdracht sluit een conclusie over het winstmaximum uit.</a:t>
            </a:r>
          </a:p>
          <a:p xmlns:a="http://schemas.openxmlformats.org/drawingml/2006/main">
            <a:r>
              <a:rPr sz="1400"/>
              <a:t/>
            </a:r>
          </a:p>
          <a:p xmlns:a="http://schemas.openxmlformats.org/drawingml/2006/main">
            <a:r>
              <a:rPr sz="1400"/>
              <a:t>Misvatting: Geen afgeleiden gebruiken en geen winstmaximum afleiden uit de tabel.</a:t>
            </a:r>
          </a:p>
          <a:p xmlns:a="http://schemas.openxmlformats.org/drawingml/2006/main">
            <a:r>
              <a:rPr sz="1400"/>
              <a:t/>
            </a:r>
          </a:p>
          <a:p xmlns:a="http://schemas.openxmlformats.org/drawingml/2006/main">
            <a:r>
              <a:rPr sz="1400"/>
              <a:t>Overgang: Begin de uitwerking met winst bij Linea.</a:t>
            </a:r>
          </a:p>
          <a:p xmlns:a="http://schemas.openxmlformats.org/drawingml/2006/main">
            <a:r>
              <a:rPr sz="1400"/>
              <a:t/>
            </a:r>
          </a:p>
          <a:p xmlns:a="http://schemas.openxmlformats.org/drawingml/2006/main">
            <a:r>
              <a:rPr sz="1400"/>
              <a:t>Bron: leerlingenboek Boek 2, chatuitgave 2026, gedrukte pagina 27.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het eerste winstbedrag niet nul?</a:t>
            </a:r>
          </a:p>
          <a:p xmlns:a="http://schemas.openxmlformats.org/drawingml/2006/main">
            <a:r>
              <a:rPr sz="1400"/>
              <a:t/>
            </a:r>
          </a:p>
          <a:p xmlns:a="http://schemas.openxmlformats.org/drawingml/2006/main">
            <a:r>
              <a:rPr sz="1400"/>
              <a:t>Uitleg: Gebruik de bedragen uit één rij. De winstbedragen zijn −200, −150, −100 en −50 euro per week. Bij nul productie zijn er toch 200 euro kosten. Bij dertig producten is het verlies nog 50 euro.</a:t>
            </a:r>
          </a:p>
          <a:p xmlns:a="http://schemas.openxmlformats.org/drawingml/2006/main">
            <a:r>
              <a:rPr sz="1400"/>
              <a:t/>
            </a:r>
          </a:p>
          <a:p xmlns:a="http://schemas.openxmlformats.org/drawingml/2006/main">
            <a:r>
              <a:rPr sz="1400"/>
              <a:t>Misvatting: Verlies schrijf je als negatieve winst of als positief verliesbedrag met het woord verlies.</a:t>
            </a:r>
          </a:p>
          <a:p xmlns:a="http://schemas.openxmlformats.org/drawingml/2006/main">
            <a:r>
              <a:rPr sz="1400"/>
              <a:t/>
            </a:r>
          </a:p>
          <a:p xmlns:a="http://schemas.openxmlformats.org/drawingml/2006/main">
            <a:r>
              <a:rPr sz="1400"/>
              <a:t>Overgang: Vergelijk de eerste twee rijen voor de marginale bedragen.</a:t>
            </a:r>
          </a:p>
          <a:p xmlns:a="http://schemas.openxmlformats.org/drawingml/2006/main">
            <a:r>
              <a:rPr sz="1400"/>
              <a:t/>
            </a:r>
          </a:p>
          <a:p xmlns:a="http://schemas.openxmlformats.org/drawingml/2006/main">
            <a:r>
              <a:rPr sz="1400"/>
              <a:t>Bron: leerlingenboek Boek 2, chatuitgave 2026, gedrukte pagina 27.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komen 230, 200, 10 en 0 vandaan?</a:t>
            </a:r>
          </a:p>
          <a:p xmlns:a="http://schemas.openxmlformats.org/drawingml/2006/main">
            <a:r>
              <a:rPr sz="1400"/>
              <a:t/>
            </a:r>
          </a:p>
          <a:p xmlns:a="http://schemas.openxmlformats.org/drawingml/2006/main">
            <a:r>
              <a:rPr sz="1400"/>
              <a:t>Uitleg: Laat eerst de teller en noemer ontstaan uit dezelfde twee rijen. De tien extra producten kosten samen 30 euro en leveren samen 80 euro op. Noteer de marginale uitkomsten bij Q = 10. Controle: 10 × 3 = 30 en 10 × 8 = 80.</a:t>
            </a:r>
          </a:p>
          <a:p xmlns:a="http://schemas.openxmlformats.org/drawingml/2006/main">
            <a:r>
              <a:rPr sz="1400"/>
              <a:t/>
            </a:r>
          </a:p>
          <a:p xmlns:a="http://schemas.openxmlformats.org/drawingml/2006/main">
            <a:r>
              <a:rPr sz="1400"/>
              <a:t>Misvatting: De 200 euro vaste kosten vallen weg bij het verschil, niet bij de totale winst.</a:t>
            </a:r>
          </a:p>
          <a:p xmlns:a="http://schemas.openxmlformats.org/drawingml/2006/main">
            <a:r>
              <a:rPr sz="1400"/>
              <a:t/>
            </a:r>
          </a:p>
          <a:p xmlns:a="http://schemas.openxmlformats.org/drawingml/2006/main">
            <a:r>
              <a:rPr sz="1400"/>
              <a:t>Overgang: Vul ook de volgende twee stappen in en verklaar MO.</a:t>
            </a:r>
          </a:p>
          <a:p xmlns:a="http://schemas.openxmlformats.org/drawingml/2006/main">
            <a:r>
              <a:rPr sz="1400"/>
              <a:t/>
            </a:r>
          </a:p>
          <a:p xmlns:a="http://schemas.openxmlformats.org/drawingml/2006/main">
            <a:r>
              <a:rPr sz="1400"/>
              <a:t>Bron: leerlingenboek Boek 2, chatuitgave 2026, gedrukte pagina 27.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verklaar je de constante MO zonder alleen naar de tabel te wijzen?</a:t>
            </a:r>
          </a:p>
          <a:p xmlns:a="http://schemas.openxmlformats.org/drawingml/2006/main">
            <a:r>
              <a:rPr sz="1400"/>
              <a:t/>
            </a:r>
          </a:p>
          <a:p xmlns:a="http://schemas.openxmlformats.org/drawingml/2006/main">
            <a:r>
              <a:rPr sz="1400"/>
              <a:t>Uitleg: Stap 10 naar 20: MK = (260 − 230) / (20 − 10) = 3 en MO = (160 − 80) / 10 = 8. Stap 20 naar 30: MK = (290 − 260) / (30 − 20) = 3 en MO = (240 − 160) / 10 = 8. Alle bedragen zijn euro per extra product. Iedere verkochte eenheid voegt 8 euro toe aan TO omdat TO = 8Q.</a:t>
            </a:r>
          </a:p>
          <a:p xmlns:a="http://schemas.openxmlformats.org/drawingml/2006/main">
            <a:r>
              <a:rPr sz="1400"/>
              <a:t/>
            </a:r>
          </a:p>
          <a:p xmlns:a="http://schemas.openxmlformats.org/drawingml/2006/main">
            <a:r>
              <a:rPr sz="1400"/>
              <a:t>Misvatting: Een vaste verkoopprijs verklaart MO; constante kosten verklaren MO niet.</a:t>
            </a:r>
          </a:p>
          <a:p xmlns:a="http://schemas.openxmlformats.org/drawingml/2006/main">
            <a:r>
              <a:rPr sz="1400"/>
              <a:t/>
            </a:r>
          </a:p>
          <a:p xmlns:a="http://schemas.openxmlformats.org/drawingml/2006/main">
            <a:r>
              <a:rPr sz="1400"/>
              <a:t>Overgang: Bereken nu Curva met de eigen stapgrootte.</a:t>
            </a:r>
          </a:p>
          <a:p xmlns:a="http://schemas.openxmlformats.org/drawingml/2006/main">
            <a:r>
              <a:rPr sz="1400"/>
              <a:t/>
            </a:r>
          </a:p>
          <a:p xmlns:a="http://schemas.openxmlformats.org/drawingml/2006/main">
            <a:r>
              <a:rPr sz="1400"/>
              <a:t>Bron: leerlingenboek Boek 2, chatuitgave 2026, gedrukte pagina 27.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delen we hier door vijf, terwijl Linea tien gebruikte?</a:t>
            </a:r>
          </a:p>
          <a:p xmlns:a="http://schemas.openxmlformats.org/drawingml/2006/main">
            <a:r>
              <a:rPr sz="1400"/>
              <a:t/>
            </a:r>
          </a:p>
          <a:p xmlns:a="http://schemas.openxmlformats.org/drawingml/2006/main">
            <a:r>
              <a:rPr sz="1400"/>
              <a:t>Uitleg: Iedere teller is een verschil van opeenvolgende TK-bedragen en iedere noemer is vijf. MK stijgt van 5 naar 15 naar 25 euro per extra product. Controleer door elke uitkomst met vijf te vermenigvuldigen; je krijgt de extra totale kosten terug.</a:t>
            </a:r>
          </a:p>
          <a:p xmlns:a="http://schemas.openxmlformats.org/drawingml/2006/main">
            <a:r>
              <a:rPr sz="1400"/>
              <a:t/>
            </a:r>
          </a:p>
          <a:p xmlns:a="http://schemas.openxmlformats.org/drawingml/2006/main">
            <a:r>
              <a:rPr sz="1400"/>
              <a:t>Misvatting: De € 125 is de extra totale kosten van de laatste vijf producten, niet MK.</a:t>
            </a:r>
          </a:p>
          <a:p xmlns:a="http://schemas.openxmlformats.org/drawingml/2006/main">
            <a:r>
              <a:rPr sz="1400"/>
              <a:t/>
            </a:r>
          </a:p>
          <a:p xmlns:a="http://schemas.openxmlformats.org/drawingml/2006/main">
            <a:r>
              <a:rPr sz="1400"/>
              <a:t>Overgang: Bereken de extra opbrengst met dezelfde stapgrootte.</a:t>
            </a:r>
          </a:p>
          <a:p xmlns:a="http://schemas.openxmlformats.org/drawingml/2006/main">
            <a:r>
              <a:rPr sz="1400"/>
              <a:t/>
            </a:r>
          </a:p>
          <a:p xmlns:a="http://schemas.openxmlformats.org/drawingml/2006/main">
            <a:r>
              <a:rPr sz="1400"/>
              <a:t>Bron: leerlingenboek Boek 2, chatuitgave 2026, gedrukte pagina 27.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groeit MO hier niet mee met MK?</a:t>
            </a:r>
          </a:p>
          <a:p xmlns:a="http://schemas.openxmlformats.org/drawingml/2006/main">
            <a:r>
              <a:rPr sz="1400"/>
              <a:t/>
            </a:r>
          </a:p>
          <a:p xmlns:a="http://schemas.openxmlformats.org/drawingml/2006/main">
            <a:r>
              <a:rPr sz="1400"/>
              <a:t>Uitleg: De eerste stap levert 150 euro extra opbrengst voor vijf producten. Curva verkoopt ieder product voor 30 euro. Bij de volgende stappen zijn de verschillen (300 − 150) / (10 − 5) en (450 − 300) / (15 − 10), beide 30.</a:t>
            </a:r>
          </a:p>
          <a:p xmlns:a="http://schemas.openxmlformats.org/drawingml/2006/main">
            <a:r>
              <a:rPr sz="1400"/>
              <a:t/>
            </a:r>
          </a:p>
          <a:p xmlns:a="http://schemas.openxmlformats.org/drawingml/2006/main">
            <a:r>
              <a:rPr sz="1400"/>
              <a:t>Misvatting: Kosten en verkoopprijs hebben verschillende oorzaken. Een hogere MK verandert in deze opgave de prijs niet.</a:t>
            </a:r>
          </a:p>
          <a:p xmlns:a="http://schemas.openxmlformats.org/drawingml/2006/main">
            <a:r>
              <a:rPr sz="1400"/>
              <a:t/>
            </a:r>
          </a:p>
          <a:p xmlns:a="http://schemas.openxmlformats.org/drawingml/2006/main">
            <a:r>
              <a:rPr sz="1400"/>
              <a:t>Overgang: Plaats alle uitkomsten in Curva’s tabel.</a:t>
            </a:r>
          </a:p>
          <a:p xmlns:a="http://schemas.openxmlformats.org/drawingml/2006/main">
            <a:r>
              <a:rPr sz="1400"/>
              <a:t/>
            </a:r>
          </a:p>
          <a:p xmlns:a="http://schemas.openxmlformats.org/drawingml/2006/main">
            <a:r>
              <a:rPr sz="1400"/>
              <a:t>Bron: leerlingenboek Boek 2, chatuitgave 2026, gedrukte pagina 27.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Over welke producten gaat de € 25 precies?</a:t>
            </a:r>
          </a:p>
          <a:p xmlns:a="http://schemas.openxmlformats.org/drawingml/2006/main">
            <a:r>
              <a:rPr sz="1400"/>
              <a:t/>
            </a:r>
          </a:p>
          <a:p xmlns:a="http://schemas.openxmlformats.org/drawingml/2006/main">
            <a:r>
              <a:rPr sz="1400"/>
              <a:t>Uitleg: Alle zes ontbrekende marginale cellen zijn nu ingevuld. De winstkolom was al gegeven en blijft gelijk. Lees de laatste MK-uitkomst als 25 euro per extra product gemiddeld over vijf extra producten.</a:t>
            </a:r>
          </a:p>
          <a:p xmlns:a="http://schemas.openxmlformats.org/drawingml/2006/main">
            <a:r>
              <a:rPr sz="1400"/>
              <a:t/>
            </a:r>
          </a:p>
          <a:p xmlns:a="http://schemas.openxmlformats.org/drawingml/2006/main">
            <a:r>
              <a:rPr sz="1400"/>
              <a:t>Misvatting: Het is niet het gemiddelde van alle vijftien producten en niet alleen de kosten van product vijftien.</a:t>
            </a:r>
          </a:p>
          <a:p xmlns:a="http://schemas.openxmlformats.org/drawingml/2006/main">
            <a:r>
              <a:rPr sz="1400"/>
              <a:t/>
            </a:r>
          </a:p>
          <a:p xmlns:a="http://schemas.openxmlformats.org/drawingml/2006/main">
            <a:r>
              <a:rPr sz="1400"/>
              <a:t>Overgang: Vergelijk de patronen en benoem de betekenis.</a:t>
            </a:r>
          </a:p>
          <a:p xmlns:a="http://schemas.openxmlformats.org/drawingml/2006/main">
            <a:r>
              <a:rPr sz="1400"/>
              <a:t/>
            </a:r>
          </a:p>
          <a:p xmlns:a="http://schemas.openxmlformats.org/drawingml/2006/main">
            <a:r>
              <a:rPr sz="1400"/>
              <a:t>Bron: leerlingenboek Boek 2, chatuitgave 2026, gedrukte pagina 27.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woorden mogen niet ontbreken bij een marginale uitkomst?</a:t>
            </a:r>
          </a:p>
          <a:p xmlns:a="http://schemas.openxmlformats.org/drawingml/2006/main">
            <a:r>
              <a:rPr sz="1400"/>
              <a:t/>
            </a:r>
          </a:p>
          <a:p xmlns:a="http://schemas.openxmlformats.org/drawingml/2006/main">
            <a:r>
              <a:rPr sz="1400"/>
              <a:t>Uitleg: Linea heeft constante MK, Curva stijgende MK. Een MK-uitkomst verdeelt de extra totale kosten over alle extra producten in de betreffende stap; MO doet hetzelfde met de extra opbrengst. De vaste prijzen verklaren de constante MO: 8 bij Linea en 30 bij Curva. Laat leerlingen hun antwoord controleren op berekening, eenheid, interval en verklaring. De opdracht vraagt geen winstmaximum; trek daar geen conclusie over.</a:t>
            </a:r>
          </a:p>
          <a:p xmlns:a="http://schemas.openxmlformats.org/drawingml/2006/main">
            <a:r>
              <a:rPr sz="1400"/>
              <a:t/>
            </a:r>
          </a:p>
          <a:p xmlns:a="http://schemas.openxmlformats.org/drawingml/2006/main">
            <a:r>
              <a:rPr sz="1400"/>
              <a:t>Misvatting: Per extra product binnen een stap is geen exact bedrag voor één afzonderlijk product en geen gemiddelde over de hele productie.</a:t>
            </a:r>
          </a:p>
          <a:p xmlns:a="http://schemas.openxmlformats.org/drawingml/2006/main">
            <a:r>
              <a:rPr sz="1400"/>
              <a:t/>
            </a:r>
          </a:p>
          <a:p xmlns:a="http://schemas.openxmlformats.org/drawingml/2006/main">
            <a:r>
              <a:rPr sz="1400"/>
              <a:t>Overgang: Keer terug naar de lesroute voor afsluiting en huiswerk.</a:t>
            </a:r>
          </a:p>
          <a:p xmlns:a="http://schemas.openxmlformats.org/drawingml/2006/main">
            <a:r>
              <a:rPr sz="1400"/>
              <a:t/>
            </a:r>
          </a:p>
          <a:p xmlns:a="http://schemas.openxmlformats.org/drawingml/2006/main">
            <a:r>
              <a:rPr sz="1400"/>
              <a:t>Bron: leerlingenboek Boek 2, chatuitgave 2026, gedrukte pagina 27.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berekening of uitleg vraagt nog aandacht?</a:t>
            </a:r>
          </a:p>
          <a:p xmlns:a="http://schemas.openxmlformats.org/drawingml/2006/main">
            <a:r>
              <a:rPr sz="1400"/>
              <a:t/>
            </a:r>
          </a:p>
          <a:p xmlns:a="http://schemas.openxmlformats.org/drawingml/2006/main">
            <a:r>
              <a:rPr sz="1400"/>
              <a:t>Uitleg: Laat het overzicht staan tijdens afsluiting / huiswerk. Start 1–2: pagina 24. Basis 3–4: pagina 24–25. Zelfstandig 5–6: pagina 25–26. Doel 7: pagina 27. Huiswerk 3, 4, 5, 6 en 7 maken en nakijken. Denkertje 8 en herhaling 9–10 zijn extra. De volledige route hoeft niet binnen één les af; plan vervolgwerktijd.</a:t>
            </a:r>
          </a:p>
          <a:p xmlns:a="http://schemas.openxmlformats.org/drawingml/2006/main">
            <a:r>
              <a:rPr sz="1400"/>
              <a:t/>
            </a:r>
          </a:p>
          <a:p xmlns:a="http://schemas.openxmlformats.org/drawingml/2006/main">
            <a:r>
              <a:rPr sz="1400"/>
              <a:t>Start en terugblik: Opgave 1 gebruikt TK uit §2.1.1, dia 4, en TO en winst uit §2.1.2, dia 3–4. MK en delen door de verandering in Q zijn nieuw. Lees bij opgave 2 de definitie en tabelstappen op p. 19–20. Laat leerlingen bij deze verkenning aanwijzen welke uitleg zij gebruiken en hun twijfel noteren. Verwacht de nieuwe bewerking nog niet zonder steun. Bij terugkeer naar dit overzicht vóór het basiswerk: laat leerlingen opgave 2 opnieuw proberen na de uitleg, bespreek hun redenering en geef zo nodig extra steun. Dit is een verkennende start, geen toets van al beheerste nieuwe leerstof.</a:t>
            </a:r>
          </a:p>
          <a:p xmlns:a="http://schemas.openxmlformats.org/drawingml/2006/main">
            <a:r>
              <a:rPr sz="1400"/>
              <a:t/>
            </a:r>
          </a:p>
          <a:p xmlns:a="http://schemas.openxmlformats.org/drawingml/2006/main">
            <a:r>
              <a:rPr sz="1400"/>
              <a:t>Misvatting: De MK-kolom beschrijft de stap vanaf de vorige rij. Gebruik de gedrukte boekpagina, niet de PDF-teller.</a:t>
            </a:r>
          </a:p>
          <a:p xmlns:a="http://schemas.openxmlformats.org/drawingml/2006/main">
            <a:r>
              <a:rPr sz="1400"/>
              <a:t/>
            </a:r>
          </a:p>
          <a:p xmlns:a="http://schemas.openxmlformats.org/drawingml/2006/main">
            <a:r>
              <a:rPr sz="1400"/>
              <a:t>Overgang: Laat leerlingen het huiswerk noteren.</a:t>
            </a:r>
          </a:p>
          <a:p xmlns:a="http://schemas.openxmlformats.org/drawingml/2006/main">
            <a:r>
              <a:rPr sz="1400"/>
              <a:t/>
            </a:r>
          </a:p>
          <a:p xmlns:a="http://schemas.openxmlformats.org/drawingml/2006/main">
            <a:r>
              <a:rPr sz="1400"/>
              <a:t>Bron: leerlingenboek Boek 2, chatuitgave 2026, gedrukte pagina 24–27.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https://github.com/meijer1973/4veco-lessen/blob/a8940a7a79e22857a3e306a91fe923c48c63e716/Boek%202%20-%20Kosten%2C%20opbrengsten%2C%20elasticiteit%20en%20surplus/edities/chat-2026/bronnen/H1/2.1%20Kosten%20en%20opbrengsten%20%E2%80%93%20antwoorden.md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3a77fd74d04d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49b20ce8f3461c" /><Relationship Type="http://schemas.openxmlformats.org/officeDocument/2006/relationships/slideLayout" Target="/ppt/slideLayouts/slideLayout1.xml" Id="Rce13a8df1d2a46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13a8df1d2a46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7a2258894c44bd" /><Relationship Type="http://schemas.openxmlformats.org/officeDocument/2006/relationships/notesSlide" Target="/ppt/notesSlides/notesSlide1.xml" Id="Ra206b160cba844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6bcc20c9a9b490a" /><Relationship Type="http://schemas.openxmlformats.org/officeDocument/2006/relationships/notesSlide" Target="/ppt/notesSlides/notesSlide2.xml" Id="Rcd03fe16a99146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53da52f9de24daa" /><Relationship Type="http://schemas.openxmlformats.org/officeDocument/2006/relationships/notesSlide" Target="/ppt/notesSlides/notesSlide3.xml" Id="Raac0a833de3341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05a6ba863b94a7f" /><Relationship Type="http://schemas.openxmlformats.org/officeDocument/2006/relationships/notesSlide" Target="/ppt/notesSlides/notesSlide4.xml" Id="Rf16ff0f2e9494a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2aa7bdce6aa4f31" /><Relationship Type="http://schemas.openxmlformats.org/officeDocument/2006/relationships/notesSlide" Target="/ppt/notesSlides/notesSlide5.xml" Id="Rcaa0a7cdecab4e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dfde543e0ca4366" /><Relationship Type="http://schemas.openxmlformats.org/officeDocument/2006/relationships/notesSlide" Target="/ppt/notesSlides/notesSlide6.xml" Id="R13dd2ba665fa48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b368e8688414149" /><Relationship Type="http://schemas.openxmlformats.org/officeDocument/2006/relationships/notesSlide" Target="/ppt/notesSlides/notesSlide7.xml" Id="Rba5320a844fc44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30fc56eea294a8f" /><Relationship Type="http://schemas.openxmlformats.org/officeDocument/2006/relationships/notesSlide" Target="/ppt/notesSlides/notesSlide8.xml" Id="Ra893509c249b47d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ecc66315a6943a0" /><Relationship Type="http://schemas.openxmlformats.org/officeDocument/2006/relationships/notesSlide" Target="/ppt/notesSlides/notesSlide9.xml" Id="R5d9cb18080b3463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c97596875bc46d2" /><Relationship Type="http://schemas.openxmlformats.org/officeDocument/2006/relationships/notesSlide" Target="/ppt/notesSlides/notesSlide10.xml" Id="R68b3f2dd4db54b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8c41c76a14c4014" /><Relationship Type="http://schemas.openxmlformats.org/officeDocument/2006/relationships/notesSlide" Target="/ppt/notesSlides/notesSlide11.xml" Id="R15b7532b2e6940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2a5875e7f7a4aa8" /><Relationship Type="http://schemas.openxmlformats.org/officeDocument/2006/relationships/notesSlide" Target="/ppt/notesSlides/notesSlide12.xml" Id="Re521783317284e6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b38f94d53e34833" /><Relationship Type="http://schemas.openxmlformats.org/officeDocument/2006/relationships/notesSlide" Target="/ppt/notesSlides/notesSlide13.xml" Id="R50ef00127c484ba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06311e365c643af" /><Relationship Type="http://schemas.openxmlformats.org/officeDocument/2006/relationships/notesSlide" Target="/ppt/notesSlides/notesSlide14.xml" Id="Rd0d2e7e9d3ef46c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909b74f8d134eb9" /><Relationship Type="http://schemas.openxmlformats.org/officeDocument/2006/relationships/notesSlide" Target="/ppt/notesSlides/notesSlide15.xml" Id="Rc3e6da5f29fa444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ccb445f64d14d90" /><Relationship Type="http://schemas.openxmlformats.org/officeDocument/2006/relationships/notesSlide" Target="/ppt/notesSlides/notesSlide16.xml" Id="R4a8f6ece979845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7189324faca4aa2" /><Relationship Type="http://schemas.openxmlformats.org/officeDocument/2006/relationships/notesSlide" Target="/ppt/notesSlides/notesSlide17.xml" Id="R7451df6f9d3440a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6f49ac5b9b648fb" /><Relationship Type="http://schemas.openxmlformats.org/officeDocument/2006/relationships/notesSlide" Target="/ppt/notesSlides/notesSlide18.xml" Id="Re9a63c4ce4df4bd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d4e4761160e4e60" /><Relationship Type="http://schemas.openxmlformats.org/officeDocument/2006/relationships/notesSlide" Target="/ppt/notesSlides/notesSlide19.xml" Id="R1607a14f9ddc492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2a3974cfd034f1e" /><Relationship Type="http://schemas.openxmlformats.org/officeDocument/2006/relationships/notesSlide" Target="/ppt/notesSlides/notesSlide20.xml" Id="R21842834c20c4c3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e3ee49429f24ec4" /><Relationship Type="http://schemas.openxmlformats.org/officeDocument/2006/relationships/notesSlide" Target="/ppt/notesSlides/notesSlide21.xml" Id="R046a33f10b3e43a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84ddb427ea64493" /><Relationship Type="http://schemas.openxmlformats.org/officeDocument/2006/relationships/notesSlide" Target="/ppt/notesSlides/notesSlide22.xml" Id="R3fad0ed8aeb143f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2179d09bd3a4dff" /><Relationship Type="http://schemas.openxmlformats.org/officeDocument/2006/relationships/notesSlide" Target="/ppt/notesSlides/notesSlide23.xml" Id="R7630aa68f378464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016ac1bbf474166" /><Relationship Type="http://schemas.openxmlformats.org/officeDocument/2006/relationships/notesSlide" Target="/ppt/notesSlides/notesSlide24.xml" Id="R4d5cbe7a8ff547c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747a434acb44674" /><Relationship Type="http://schemas.openxmlformats.org/officeDocument/2006/relationships/notesSlide" Target="/ppt/notesSlides/notesSlide25.xml" Id="Rea2d48b31cc0413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c4e7057f9e24758" /><Relationship Type="http://schemas.openxmlformats.org/officeDocument/2006/relationships/notesSlide" Target="/ppt/notesSlides/notesSlide26.xml" Id="Rae38102517724a2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dabc0a39fee4348" /><Relationship Type="http://schemas.openxmlformats.org/officeDocument/2006/relationships/notesSlide" Target="/ppt/notesSlides/notesSlide27.xml" Id="R6a2079df7ed84c8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1.3 Marginale kosten en marginale opbrengsten">
            <a:extLst xmlns:a="http://schemas.openxmlformats.org/drawingml/2006/main">
              <a:ext uri="{FF2B5EF4-FFF2-40B4-BE49-F238E27FC236}">
                <a16:creationId xmlns:a16="http://schemas.microsoft.com/office/drawing/2014/main" id="{2ACB1F82-D504-4CDC-A8CE-D257C04312D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§2.1.3 Marginale kosten en marginale opbrengsten</a:t>
            </a:r>
          </a:p>
        </p:txBody>
      </p:sp>
      <p:sp>
        <p:nvSpPr>
          <p:cNvPr id="2" name="">
            <a:extLst xmlns:a="http://schemas.openxmlformats.org/drawingml/2006/main">
              <a:ext uri="{FF2B5EF4-FFF2-40B4-BE49-F238E27FC236}">
                <a16:creationId xmlns:a16="http://schemas.microsoft.com/office/drawing/2014/main" id="{B77064CF-DCBD-40C6-B6ED-6B4BF29B836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Marginale kosten en marginale opbrengsten">
            <a:extLst xmlns:a="http://schemas.openxmlformats.org/drawingml/2006/main">
              <a:ext uri="{FF2B5EF4-FFF2-40B4-BE49-F238E27FC236}">
                <a16:creationId xmlns:a16="http://schemas.microsoft.com/office/drawing/2014/main" id="{C884383E-C5ED-485A-AC97-A994117454F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Marginale kosten en marginale opbrengsten</a:t>
            </a:r>
          </a:p>
        </p:txBody>
      </p:sp>
      <p:sp>
        <p:nvSpPr>
          <p:cNvPr id="4" name="slide-number">
            <a:extLst xmlns:a="http://schemas.openxmlformats.org/drawingml/2006/main">
              <a:ext uri="{FF2B5EF4-FFF2-40B4-BE49-F238E27FC236}">
                <a16:creationId xmlns:a16="http://schemas.microsoft.com/office/drawing/2014/main" id="{8B081A72-DB59-4497-801F-B1083A5CCEE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E76CD7F6-71C0-4A47-9BDE-4F8B939B945B}"/>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E17A7C4F-8090-47F3-90A2-018875126337}"/>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D22A6982-032F-4A26-95B1-E73924546EDE}"/>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52B983A3-CF1D-42FD-8E61-F5949CCB7F2E}"/>
              </a:ext>
            </a:extLst>
          </p:cNvPr>
          <p:cNvSpPr>
            <a:spLocks xmlns:a="http://schemas.openxmlformats.org/drawingml/2006/main" noGrp="1"/>
          </p:cNvSpPr>
          <p:nvPr/>
        </p:nvSpPr>
        <p:spPr>
          <a:xfrm xmlns:a="http://schemas.openxmlformats.org/drawingml/2006/main">
            <a:off x="1104900" y="2324100"/>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1096F9A9-BA2F-4052-8298-5F40AD0AB4D7}"/>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599B09C3-4DEB-4E2D-A4D8-78139F67575D}"/>
              </a:ext>
            </a:extLst>
          </p:cNvPr>
          <p:cNvSpPr>
            <a:spLocks xmlns:a="http://schemas.openxmlformats.org/drawingml/2006/main" noGrp="1"/>
          </p:cNvSpPr>
          <p:nvPr/>
        </p:nvSpPr>
        <p:spPr>
          <a:xfrm xmlns:a="http://schemas.openxmlformats.org/drawingml/2006/main">
            <a:off x="1104900" y="320040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6A30770E-029C-4FB6-A2A8-9DE458EC936A}"/>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CA17C12D-DC87-4D89-BE23-26FA5DB6AE86}"/>
              </a:ext>
            </a:extLst>
          </p:cNvPr>
          <p:cNvSpPr>
            <a:spLocks xmlns:a="http://schemas.openxmlformats.org/drawingml/2006/main" noGrp="1"/>
          </p:cNvSpPr>
          <p:nvPr/>
        </p:nvSpPr>
        <p:spPr>
          <a:xfrm xmlns:a="http://schemas.openxmlformats.org/drawingml/2006/main">
            <a:off x="1104900" y="37147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9A852035-A17F-4EDB-97EA-422DEBBE33E3}"/>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2E10BDF7-7DCE-4B62-85AA-6192B2541747}"/>
              </a:ext>
            </a:extLst>
          </p:cNvPr>
          <p:cNvSpPr>
            <a:spLocks xmlns:a="http://schemas.openxmlformats.org/drawingml/2006/main" noGrp="1"/>
          </p:cNvSpPr>
          <p:nvPr/>
        </p:nvSpPr>
        <p:spPr>
          <a:xfrm xmlns:a="http://schemas.openxmlformats.org/drawingml/2006/main">
            <a:off x="1104900" y="4248150"/>
            <a:ext cx="7524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B2559353-9EDE-496B-886B-D12898A1D12C}"/>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D9FB5346-42B6-43BB-9E05-E574FB863D3D}"/>
              </a:ext>
            </a:extLst>
          </p:cNvPr>
          <p:cNvSpPr>
            <a:spLocks xmlns:a="http://schemas.openxmlformats.org/drawingml/2006/main" noGrp="1"/>
          </p:cNvSpPr>
          <p:nvPr/>
        </p:nvSpPr>
        <p:spPr>
          <a:xfrm xmlns:a="http://schemas.openxmlformats.org/drawingml/2006/main">
            <a:off x="1104900" y="6057900"/>
            <a:ext cx="7524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CE9B8F0F-D1A3-48D1-B657-FB20AF38FC08}"/>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434773D8-DEFE-44CB-B520-665CD087DE3D}"/>
              </a:ext>
            </a:extLst>
          </p:cNvPr>
          <p:cNvSpPr>
            <a:spLocks xmlns:a="http://schemas.openxmlformats.org/drawingml/2006/main" noGrp="1"/>
          </p:cNvSpPr>
          <p:nvPr/>
        </p:nvSpPr>
        <p:spPr>
          <a:xfrm xmlns:a="http://schemas.openxmlformats.org/drawingml/2006/main">
            <a:off x="1104900" y="68199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452FBF28-6FAA-49C9-A60F-4C0BA05A357A}"/>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7FE879C0-FF9C-43A4-9B73-264A926260AD}"/>
              </a:ext>
            </a:extLst>
          </p:cNvPr>
          <p:cNvSpPr>
            <a:spLocks xmlns:a="http://schemas.openxmlformats.org/drawingml/2006/main" noGrp="1"/>
          </p:cNvSpPr>
          <p:nvPr/>
        </p:nvSpPr>
        <p:spPr>
          <a:xfrm xmlns:a="http://schemas.openxmlformats.org/drawingml/2006/main">
            <a:off x="1104900" y="7372350"/>
            <a:ext cx="752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2A5C9656-96FB-412E-900E-E8449CBFCBE9}"/>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31692FEE-88E5-4CB4-9986-E0C817662E11}"/>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Winst, MK en MO berekenen.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MK-patronen vergelijken.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Gemiddeld en marginaal uitleggen.</a:t>
            </a:r>
          </a:p>
        </p:txBody>
      </p:sp>
      <p:sp>
        <p:nvSpPr>
          <p:cNvPr id="23" name="">
            <a:extLst xmlns:a="http://schemas.openxmlformats.org/drawingml/2006/main">
              <a:ext uri="{FF2B5EF4-FFF2-40B4-BE49-F238E27FC236}">
                <a16:creationId xmlns:a16="http://schemas.microsoft.com/office/drawing/2014/main" id="{D399DBB8-F743-4CD1-89C6-CB0183D8B20F}"/>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C050184A-4F26-4A7A-8EFF-BB56C440E283}"/>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53772DA2-DD94-45CF-8A22-9CACED23639D}"/>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24 · Opgaven 1 en 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 verkennen, theorie p. 19–20</a:t>
            </a:r>
          </a:p>
        </p:txBody>
      </p:sp>
      <p:sp>
        <p:nvSpPr>
          <p:cNvPr id="26" name="">
            <a:extLst xmlns:a="http://schemas.openxmlformats.org/drawingml/2006/main">
              <a:ext uri="{FF2B5EF4-FFF2-40B4-BE49-F238E27FC236}">
                <a16:creationId xmlns:a16="http://schemas.microsoft.com/office/drawing/2014/main" id="{AE0B2100-48C6-455F-B607-9309382C0720}"/>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CCDC3069-09E2-4E60-929A-4FBF5DC11772}"/>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18C8ABC5-5920-4CCD-99A9-7C779388D97D}"/>
              </a:ext>
            </a:extLst>
          </p:cNvPr>
          <p:cNvSpPr>
            <a:spLocks xmlns:a="http://schemas.openxmlformats.org/drawingml/2006/main" noGrp="1"/>
          </p:cNvSpPr>
          <p:nvPr/>
        </p:nvSpPr>
        <p:spPr>
          <a:xfrm xmlns:a="http://schemas.openxmlformats.org/drawingml/2006/main">
            <a:off x="9258300" y="6191250"/>
            <a:ext cx="5381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§2.1.3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9688260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Wat kun je na deze les?">
            <a:extLst xmlns:a="http://schemas.openxmlformats.org/drawingml/2006/main">
              <a:ext uri="{FF2B5EF4-FFF2-40B4-BE49-F238E27FC236}">
                <a16:creationId xmlns:a16="http://schemas.microsoft.com/office/drawing/2014/main" id="{778D94F4-B26C-4DD5-8BE1-BC1D319A89C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Wat kun je na deze les?</a:t>
            </a:r>
          </a:p>
        </p:txBody>
      </p:sp>
      <p:sp>
        <p:nvSpPr>
          <p:cNvPr id="2" name="">
            <a:extLst xmlns:a="http://schemas.openxmlformats.org/drawingml/2006/main">
              <a:ext uri="{FF2B5EF4-FFF2-40B4-BE49-F238E27FC236}">
                <a16:creationId xmlns:a16="http://schemas.microsoft.com/office/drawing/2014/main" id="{5C8781F4-0FD4-485F-9CE4-379B30A529F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Marginale kosten en marginale opbrengsten">
            <a:extLst xmlns:a="http://schemas.openxmlformats.org/drawingml/2006/main">
              <a:ext uri="{FF2B5EF4-FFF2-40B4-BE49-F238E27FC236}">
                <a16:creationId xmlns:a16="http://schemas.microsoft.com/office/drawing/2014/main" id="{0DE7C968-FFAA-4B8E-87AD-9B8AA2BFD4C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Marginale kosten en marginale opbrengsten</a:t>
            </a:r>
          </a:p>
        </p:txBody>
      </p:sp>
      <p:sp>
        <p:nvSpPr>
          <p:cNvPr id="4" name="slide-number">
            <a:extLst xmlns:a="http://schemas.openxmlformats.org/drawingml/2006/main">
              <a:ext uri="{FF2B5EF4-FFF2-40B4-BE49-F238E27FC236}">
                <a16:creationId xmlns:a16="http://schemas.microsoft.com/office/drawing/2014/main" id="{BFBF259D-8A8C-4A0B-9117-83D3A6AE6DE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Berekenen">
            <a:extLst xmlns:a="http://schemas.openxmlformats.org/drawingml/2006/main">
              <a:ext uri="{FF2B5EF4-FFF2-40B4-BE49-F238E27FC236}">
                <a16:creationId xmlns:a16="http://schemas.microsoft.com/office/drawing/2014/main" id="{9B373628-5E5B-4131-A404-5DDCD50D3899}"/>
              </a:ext>
            </a:extLst>
          </p:cNvPr>
          <p:cNvSpPr>
            <a:spLocks xmlns:a="http://schemas.openxmlformats.org/drawingml/2006/main" noGrp="1"/>
          </p:cNvSpPr>
          <p:nvPr/>
        </p:nvSpPr>
        <p:spPr>
          <a:xfrm xmlns:a="http://schemas.openxmlformats.org/drawingml/2006/main">
            <a:off x="571500" y="2047875"/>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Berekenen</a:t>
            </a:r>
          </a:p>
        </p:txBody>
      </p:sp>
      <p:sp>
        <p:nvSpPr>
          <p:cNvPr id="6" name="Winst binnen één rij; MK en MO tussen twee rijen.">
            <a:extLst xmlns:a="http://schemas.openxmlformats.org/drawingml/2006/main">
              <a:ext uri="{FF2B5EF4-FFF2-40B4-BE49-F238E27FC236}">
                <a16:creationId xmlns:a16="http://schemas.microsoft.com/office/drawing/2014/main" id="{E6209088-D944-4AE8-B86C-E34E5EC4B0EA}"/>
              </a:ext>
            </a:extLst>
          </p:cNvPr>
          <p:cNvSpPr>
            <a:spLocks xmlns:a="http://schemas.openxmlformats.org/drawingml/2006/main" noGrp="1"/>
          </p:cNvSpPr>
          <p:nvPr/>
        </p:nvSpPr>
        <p:spPr>
          <a:xfrm xmlns:a="http://schemas.openxmlformats.org/drawingml/2006/main">
            <a:off x="5334000" y="2047875"/>
            <a:ext cx="9286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Winst binnen één rij; MK en MO tussen twee rijen.</a:t>
            </a:r>
          </a:p>
        </p:txBody>
      </p:sp>
      <p:sp>
        <p:nvSpPr>
          <p:cNvPr id="7" name="">
            <a:extLst xmlns:a="http://schemas.openxmlformats.org/drawingml/2006/main">
              <a:ext uri="{FF2B5EF4-FFF2-40B4-BE49-F238E27FC236}">
                <a16:creationId xmlns:a16="http://schemas.microsoft.com/office/drawing/2014/main" id="{9BA8AC75-45A3-4164-8D7A-2BFE2E4971AE}"/>
              </a:ext>
            </a:extLst>
          </p:cNvPr>
          <p:cNvSpPr>
            <a:spLocks xmlns:a="http://schemas.openxmlformats.org/drawingml/2006/main" noGrp="1"/>
          </p:cNvSpPr>
          <p:nvPr/>
        </p:nvSpPr>
        <p:spPr>
          <a:xfrm xmlns:a="http://schemas.openxmlformats.org/drawingml/2006/main">
            <a:off x="571500" y="3495675"/>
            <a:ext cx="14097000" cy="0"/>
          </a:xfrm>
          <a:prstGeom xmlns:a="http://schemas.openxmlformats.org/drawingml/2006/main" prst="line">
            <a:avLst/>
          </a:prstGeom>
          <a:ln xmlns:a="http://schemas.openxmlformats.org/drawingml/2006/main" w="19050">
            <a:solidFill>
              <a:srgbClr val="C6D2DB"/>
            </a:solidFill>
          </a:ln>
        </p:spPr>
      </p:sp>
      <p:sp>
        <p:nvSpPr>
          <p:cNvPr id="8" name="Vergelijken">
            <a:extLst xmlns:a="http://schemas.openxmlformats.org/drawingml/2006/main">
              <a:ext uri="{FF2B5EF4-FFF2-40B4-BE49-F238E27FC236}">
                <a16:creationId xmlns:a16="http://schemas.microsoft.com/office/drawing/2014/main" id="{2940D716-DCE4-444E-AE5A-5FA339D54C5B}"/>
              </a:ext>
            </a:extLst>
          </p:cNvPr>
          <p:cNvSpPr>
            <a:spLocks xmlns:a="http://schemas.openxmlformats.org/drawingml/2006/main" noGrp="1"/>
          </p:cNvSpPr>
          <p:nvPr/>
        </p:nvSpPr>
        <p:spPr>
          <a:xfrm xmlns:a="http://schemas.openxmlformats.org/drawingml/2006/main">
            <a:off x="571500" y="3895725"/>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Vergelijken</a:t>
            </a:r>
          </a:p>
        </p:txBody>
      </p:sp>
      <p:sp>
        <p:nvSpPr>
          <p:cNvPr id="9" name="Constante en stijgende MK herkennen; constante MO verklaren.">
            <a:extLst xmlns:a="http://schemas.openxmlformats.org/drawingml/2006/main">
              <a:ext uri="{FF2B5EF4-FFF2-40B4-BE49-F238E27FC236}">
                <a16:creationId xmlns:a16="http://schemas.microsoft.com/office/drawing/2014/main" id="{5B63545E-5695-47F7-8118-8A967133F2A8}"/>
              </a:ext>
            </a:extLst>
          </p:cNvPr>
          <p:cNvSpPr>
            <a:spLocks xmlns:a="http://schemas.openxmlformats.org/drawingml/2006/main" noGrp="1"/>
          </p:cNvSpPr>
          <p:nvPr/>
        </p:nvSpPr>
        <p:spPr>
          <a:xfrm xmlns:a="http://schemas.openxmlformats.org/drawingml/2006/main">
            <a:off x="5334000" y="3895725"/>
            <a:ext cx="9286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Constante en stijgende MK herkennen; constante MO verklaren.</a:t>
            </a:r>
          </a:p>
        </p:txBody>
      </p:sp>
      <p:sp>
        <p:nvSpPr>
          <p:cNvPr id="10" name="">
            <a:extLst xmlns:a="http://schemas.openxmlformats.org/drawingml/2006/main">
              <a:ext uri="{FF2B5EF4-FFF2-40B4-BE49-F238E27FC236}">
                <a16:creationId xmlns:a16="http://schemas.microsoft.com/office/drawing/2014/main" id="{8E1AEB2D-CD82-4BA8-9CA4-4E91A5CC62CE}"/>
              </a:ext>
            </a:extLst>
          </p:cNvPr>
          <p:cNvSpPr>
            <a:spLocks xmlns:a="http://schemas.openxmlformats.org/drawingml/2006/main" noGrp="1"/>
          </p:cNvSpPr>
          <p:nvPr/>
        </p:nvSpPr>
        <p:spPr>
          <a:xfrm xmlns:a="http://schemas.openxmlformats.org/drawingml/2006/main">
            <a:off x="571500" y="5343525"/>
            <a:ext cx="14097000" cy="0"/>
          </a:xfrm>
          <a:prstGeom xmlns:a="http://schemas.openxmlformats.org/drawingml/2006/main" prst="line">
            <a:avLst/>
          </a:prstGeom>
          <a:ln xmlns:a="http://schemas.openxmlformats.org/drawingml/2006/main" w="19050">
            <a:solidFill>
              <a:srgbClr val="C6D2DB"/>
            </a:solidFill>
          </a:ln>
        </p:spPr>
      </p:sp>
      <p:sp>
        <p:nvSpPr>
          <p:cNvPr id="11" name="Uitleggen">
            <a:extLst xmlns:a="http://schemas.openxmlformats.org/drawingml/2006/main">
              <a:ext uri="{FF2B5EF4-FFF2-40B4-BE49-F238E27FC236}">
                <a16:creationId xmlns:a16="http://schemas.microsoft.com/office/drawing/2014/main" id="{5570888C-5EBD-4C8D-8073-B1E719150DB3}"/>
              </a:ext>
            </a:extLst>
          </p:cNvPr>
          <p:cNvSpPr>
            <a:spLocks xmlns:a="http://schemas.openxmlformats.org/drawingml/2006/main" noGrp="1"/>
          </p:cNvSpPr>
          <p:nvPr/>
        </p:nvSpPr>
        <p:spPr>
          <a:xfrm xmlns:a="http://schemas.openxmlformats.org/drawingml/2006/main">
            <a:off x="571500" y="5743575"/>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Uitleggen</a:t>
            </a:r>
          </a:p>
        </p:txBody>
      </p:sp>
      <p:sp>
        <p:nvSpPr>
          <p:cNvPr id="12" name="De hele tabelstap en de eenheid noemen; gemiddeld van marginaal o">
            <a:extLst xmlns:a="http://schemas.openxmlformats.org/drawingml/2006/main">
              <a:ext uri="{FF2B5EF4-FFF2-40B4-BE49-F238E27FC236}">
                <a16:creationId xmlns:a16="http://schemas.microsoft.com/office/drawing/2014/main" id="{BE68BB55-676E-41EC-8524-94D82690C331}"/>
              </a:ext>
            </a:extLst>
          </p:cNvPr>
          <p:cNvSpPr>
            <a:spLocks xmlns:a="http://schemas.openxmlformats.org/drawingml/2006/main" noGrp="1"/>
          </p:cNvSpPr>
          <p:nvPr/>
        </p:nvSpPr>
        <p:spPr>
          <a:xfrm xmlns:a="http://schemas.openxmlformats.org/drawingml/2006/main">
            <a:off x="5334000" y="5743575"/>
            <a:ext cx="9286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De hele tabelstap en de eenheid noemen; gemiddeld van marginaal onderscheiden.</a:t>
            </a:r>
          </a:p>
        </p:txBody>
      </p:sp>
    </p:spTree>
    <p:extLst>
      <p:ext uri="{BB962C8B-B14F-4D97-AF65-F5344CB8AC3E}">
        <p14:creationId xmlns:p14="http://schemas.microsoft.com/office/powerpoint/2010/main" val="13375294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arginaal: het bedrag per extra product">
            <a:extLst xmlns:a="http://schemas.openxmlformats.org/drawingml/2006/main">
              <a:ext uri="{FF2B5EF4-FFF2-40B4-BE49-F238E27FC236}">
                <a16:creationId xmlns:a16="http://schemas.microsoft.com/office/drawing/2014/main" id="{76C91972-E3D1-4679-8B4A-E2767194F66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Marginaal: het bedrag per extra product</a:t>
            </a:r>
          </a:p>
        </p:txBody>
      </p:sp>
      <p:sp>
        <p:nvSpPr>
          <p:cNvPr id="2" name="">
            <a:extLst xmlns:a="http://schemas.openxmlformats.org/drawingml/2006/main">
              <a:ext uri="{FF2B5EF4-FFF2-40B4-BE49-F238E27FC236}">
                <a16:creationId xmlns:a16="http://schemas.microsoft.com/office/drawing/2014/main" id="{6FE645A1-650D-4806-B03E-A38B52F3BEA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Marginale kosten en marginale opbrengsten">
            <a:extLst xmlns:a="http://schemas.openxmlformats.org/drawingml/2006/main">
              <a:ext uri="{FF2B5EF4-FFF2-40B4-BE49-F238E27FC236}">
                <a16:creationId xmlns:a16="http://schemas.microsoft.com/office/drawing/2014/main" id="{D7120CFC-B415-4E36-B96C-F415270E428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Marginale kosten en marginale opbrengsten</a:t>
            </a:r>
          </a:p>
        </p:txBody>
      </p:sp>
      <p:sp>
        <p:nvSpPr>
          <p:cNvPr id="4" name="slide-number">
            <a:extLst xmlns:a="http://schemas.openxmlformats.org/drawingml/2006/main">
              <a:ext uri="{FF2B5EF4-FFF2-40B4-BE49-F238E27FC236}">
                <a16:creationId xmlns:a16="http://schemas.microsoft.com/office/drawing/2014/main" id="{FBFB5C5D-97D4-48A2-B70E-E6960461319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graphicFrame>
        <p:nvGraphicFramePr>
          <p:cNvPr id="12" name=""/>
          <p:cNvGraphicFramePr/>
          <p:nvPr/>
        </p:nvGraphicFramePr>
        <p:xfrm>
          <a:off xmlns:a="http://schemas.openxmlformats.org/drawingml/2006/main" x="571500" y="2124075"/>
          <a:ext xmlns:a="http://schemas.openxmlformats.org/drawingml/2006/main" cx="14097000" cy="3429000"/>
        </p:xfrm>
        <a:graphic xmlns:a="http://schemas.openxmlformats.org/drawingml/2006/main">
          <a:graphicData uri="http://schemas.openxmlformats.org/drawingml/2006/table">
            <a:tbl>
              <a:tblPr/>
              <a:tblGrid>
                <a:gridCol w="4572000"/>
                <a:gridCol w="4048125"/>
                <a:gridCol w="5476875"/>
              </a:tblGrid>
              <a:tr h="1143000">
                <a:tc>
                  <a:txBody>
                    <a:bodyPr lIns="152400" tIns="76200" rIns="133350" bIns="76200"/>
                    <a:lstStyle/>
                    <a:p>
                      <a:r>
                        <a:rPr sz="2625" b="1">
                          <a:solidFill>
                            <a:srgbClr val="FFFFFF"/>
                          </a:solidFill>
                          <a:latin typeface="Arial"/>
                          <a:ea typeface="Arial"/>
                          <a:cs typeface="Arial"/>
                        </a:rPr>
                        <a:t>Begrip</a:t>
                      </a:r>
                    </a:p>
                  </a:txBody>
                  <a:tcPr marL="91440" marR="91440" marT="45720" marB="45720" anchor="ctr">
                    <a:solidFill>
                      <a:srgbClr val="183247"/>
                    </a:solidFill>
                  </a:tcPr>
                </a:tc>
                <a:tc>
                  <a:txBody>
                    <a:bodyPr lIns="152400" tIns="76200" rIns="133350" bIns="76200"/>
                    <a:lstStyle/>
                    <a:p>
                      <a:r>
                        <a:rPr sz="2625" b="1">
                          <a:solidFill>
                            <a:srgbClr val="FFFFFF"/>
                          </a:solidFill>
                          <a:latin typeface="Arial"/>
                          <a:ea typeface="Arial"/>
                          <a:cs typeface="Arial"/>
                        </a:rPr>
                        <a:t>Berekening</a:t>
                      </a:r>
                    </a:p>
                  </a:txBody>
                  <a:tcPr marL="91440" marR="91440" marT="45720" marB="45720" anchor="ctr">
                    <a:solidFill>
                      <a:srgbClr val="183247"/>
                    </a:solidFill>
                  </a:tcPr>
                </a:tc>
                <a:tc>
                  <a:txBody>
                    <a:bodyPr lIns="152400" tIns="76200" rIns="133350" bIns="76200"/>
                    <a:lstStyle/>
                    <a:p>
                      <a:r>
                        <a:rPr sz="2625" b="1">
                          <a:solidFill>
                            <a:srgbClr val="FFFFFF"/>
                          </a:solidFill>
                          <a:latin typeface="Arial"/>
                          <a:ea typeface="Arial"/>
                          <a:cs typeface="Arial"/>
                        </a:rPr>
                        <a:t>Betekenis</a:t>
                      </a:r>
                    </a:p>
                  </a:txBody>
                  <a:tcPr marL="91440" marR="91440" marT="45720" marB="45720" anchor="ctr">
                    <a:solidFill>
                      <a:srgbClr val="183247"/>
                    </a:solidFill>
                  </a:tcPr>
                </a:tc>
              </a:tr>
              <a:tr h="1143000">
                <a:tc>
                  <a:txBody>
                    <a:bodyPr lIns="152400" tIns="76200" rIns="133350" bIns="76200"/>
                    <a:lstStyle/>
                    <a:p>
                      <a:r>
                        <a:rPr sz="2625" b="0">
                          <a:solidFill>
                            <a:srgbClr val="183247"/>
                          </a:solidFill>
                          <a:latin typeface="Arial"/>
                          <a:ea typeface="Arial"/>
                          <a:cs typeface="Arial"/>
                        </a:rPr>
                        <a:t>Marginale kosten (MK)</a:t>
                      </a:r>
                    </a:p>
                  </a:txBody>
                  <a:tcPr marL="91440" marR="91440" marT="45720" marB="45720" anchor="ctr">
                    <a:solidFill>
                      <a:srgbClr val="FFFFFF"/>
                    </a:solidFill>
                  </a:tcPr>
                </a:tc>
                <a:tc>
                  <a:txBody>
                    <a:bodyPr lIns="152400" tIns="76200" rIns="133350" bIns="76200"/>
                    <a:lstStyle/>
                    <a:p>
                      <a:r>
                        <a:rPr sz="2625" b="0">
                          <a:solidFill>
                            <a:srgbClr val="183247"/>
                          </a:solidFill>
                          <a:latin typeface="Arial"/>
                          <a:ea typeface="Arial"/>
                          <a:cs typeface="Arial"/>
                        </a:rPr>
                        <a:t>MK = ΔTK / ΔQ</a:t>
                      </a:r>
                    </a:p>
                  </a:txBody>
                  <a:tcPr marL="91440" marR="91440" marT="45720" marB="45720" anchor="ctr">
                    <a:solidFill>
                      <a:srgbClr val="FFFFFF"/>
                    </a:solidFill>
                  </a:tcPr>
                </a:tc>
                <a:tc>
                  <a:txBody>
                    <a:bodyPr lIns="152400" tIns="76200" rIns="133350" bIns="76200"/>
                    <a:lstStyle/>
                    <a:p>
                      <a:r>
                        <a:rPr sz="2625" b="0">
                          <a:solidFill>
                            <a:srgbClr val="183247"/>
                          </a:solidFill>
                          <a:latin typeface="Arial"/>
                          <a:ea typeface="Arial"/>
                          <a:cs typeface="Arial"/>
                        </a:rPr>
                        <a:t>Extra totale kosten per extra geproduceerd product</a:t>
                      </a:r>
                    </a:p>
                  </a:txBody>
                  <a:tcPr marL="91440" marR="91440" marT="45720" marB="45720" anchor="ctr">
                    <a:solidFill>
                      <a:srgbClr val="FFFFFF"/>
                    </a:solidFill>
                  </a:tcPr>
                </a:tc>
              </a:tr>
              <a:tr h="1143000">
                <a:tc>
                  <a:txBody>
                    <a:bodyPr lIns="152400" tIns="76200" rIns="133350" bIns="76200"/>
                    <a:lstStyle/>
                    <a:p>
                      <a:r>
                        <a:rPr sz="2625" b="0">
                          <a:solidFill>
                            <a:srgbClr val="183247"/>
                          </a:solidFill>
                          <a:latin typeface="Arial"/>
                          <a:ea typeface="Arial"/>
                          <a:cs typeface="Arial"/>
                        </a:rPr>
                        <a:t>Marginale opbrengsten (MO)</a:t>
                      </a:r>
                    </a:p>
                  </a:txBody>
                  <a:tcPr marL="91440" marR="91440" marT="45720" marB="45720" anchor="ctr">
                    <a:solidFill>
                      <a:srgbClr val="EFF4F7"/>
                    </a:solidFill>
                  </a:tcPr>
                </a:tc>
                <a:tc>
                  <a:txBody>
                    <a:bodyPr lIns="152400" tIns="76200" rIns="133350" bIns="76200"/>
                    <a:lstStyle/>
                    <a:p>
                      <a:r>
                        <a:rPr sz="2625" b="0">
                          <a:solidFill>
                            <a:srgbClr val="183247"/>
                          </a:solidFill>
                          <a:latin typeface="Arial"/>
                          <a:ea typeface="Arial"/>
                          <a:cs typeface="Arial"/>
                        </a:rPr>
                        <a:t>MO = ΔTO / ΔQ</a:t>
                      </a:r>
                    </a:p>
                  </a:txBody>
                  <a:tcPr marL="91440" marR="91440" marT="45720" marB="45720" anchor="ctr">
                    <a:solidFill>
                      <a:srgbClr val="EFF4F7"/>
                    </a:solidFill>
                  </a:tcPr>
                </a:tc>
                <a:tc>
                  <a:txBody>
                    <a:bodyPr lIns="152400" tIns="76200" rIns="133350" bIns="76200"/>
                    <a:lstStyle/>
                    <a:p>
                      <a:r>
                        <a:rPr sz="2625" b="0">
                          <a:solidFill>
                            <a:srgbClr val="183247"/>
                          </a:solidFill>
                          <a:latin typeface="Arial"/>
                          <a:ea typeface="Arial"/>
                          <a:cs typeface="Arial"/>
                        </a:rPr>
                        <a:t>Extra totale opbrengst per extra verkocht product</a:t>
                      </a:r>
                    </a:p>
                  </a:txBody>
                  <a:tcPr marL="91440" marR="91440" marT="45720" marB="45720" anchor="ctr">
                    <a:solidFill>
                      <a:srgbClr val="EFF4F7"/>
                    </a:solidFill>
                  </a:tcPr>
                </a:tc>
              </a:tr>
            </a:tbl>
          </a:graphicData>
        </a:graphic>
      </p:graphicFrame>
      <p:sp>
        <p:nvSpPr>
          <p:cNvPr id="6" name="Δ = verandering = nieuw − oud">
            <a:extLst xmlns:a="http://schemas.openxmlformats.org/drawingml/2006/main">
              <a:ext uri="{FF2B5EF4-FFF2-40B4-BE49-F238E27FC236}">
                <a16:creationId xmlns:a16="http://schemas.microsoft.com/office/drawing/2014/main" id="{309B895A-F0BC-45D2-8D2E-DB629E5BD61C}"/>
              </a:ext>
            </a:extLst>
          </p:cNvPr>
          <p:cNvSpPr>
            <a:spLocks xmlns:a="http://schemas.openxmlformats.org/drawingml/2006/main" noGrp="1"/>
          </p:cNvSpPr>
          <p:nvPr/>
        </p:nvSpPr>
        <p:spPr>
          <a:xfrm xmlns:a="http://schemas.openxmlformats.org/drawingml/2006/main">
            <a:off x="571500" y="60388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7658A"/>
                </a:solidFill>
                <a:latin typeface="Arial"/>
                <a:ea typeface="Arial"/>
                <a:cs typeface="Arial"/>
              </a:defRPr>
            </a:pPr>
            <a:r>
              <a:rPr sz="3525" b="1">
                <a:solidFill>
                  <a:srgbClr val="17658A"/>
                </a:solidFill>
                <a:latin typeface="Arial"/>
                <a:ea typeface="Arial"/>
                <a:cs typeface="Arial"/>
              </a:rPr>
              <a:t>Δ = verandering = nieuw − oud</a:t>
            </a:r>
          </a:p>
        </p:txBody>
      </p:sp>
      <p:sp>
        <p:nvSpPr>
          <p:cNvPr id="7" name="Dezelfde periode · dezelfde tabelstap">
            <a:extLst xmlns:a="http://schemas.openxmlformats.org/drawingml/2006/main">
              <a:ext uri="{FF2B5EF4-FFF2-40B4-BE49-F238E27FC236}">
                <a16:creationId xmlns:a16="http://schemas.microsoft.com/office/drawing/2014/main" id="{4206A6AD-B4DB-4837-A017-15E161A39EF7}"/>
              </a:ext>
            </a:extLst>
          </p:cNvPr>
          <p:cNvSpPr>
            <a:spLocks xmlns:a="http://schemas.openxmlformats.org/drawingml/2006/main" noGrp="1"/>
          </p:cNvSpPr>
          <p:nvPr/>
        </p:nvSpPr>
        <p:spPr>
          <a:xfrm xmlns:a="http://schemas.openxmlformats.org/drawingml/2006/main">
            <a:off x="571500" y="7172325"/>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Dezelfde periode · dezelfde tabelstap</a:t>
            </a:r>
          </a:p>
        </p:txBody>
      </p:sp>
    </p:spTree>
    <p:extLst>
      <p:ext uri="{BB962C8B-B14F-4D97-AF65-F5344CB8AC3E}">
        <p14:creationId xmlns:p14="http://schemas.microsoft.com/office/powerpoint/2010/main" val="14707774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asDruk · De gegevens">
            <a:extLst xmlns:a="http://schemas.openxmlformats.org/drawingml/2006/main">
              <a:ext uri="{FF2B5EF4-FFF2-40B4-BE49-F238E27FC236}">
                <a16:creationId xmlns:a16="http://schemas.microsoft.com/office/drawing/2014/main" id="{CCD12385-0BEC-49FB-B7B8-D8539EE570B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TasDruk · De gegevens</a:t>
            </a:r>
          </a:p>
        </p:txBody>
      </p:sp>
      <p:sp>
        <p:nvSpPr>
          <p:cNvPr id="2" name="">
            <a:extLst xmlns:a="http://schemas.openxmlformats.org/drawingml/2006/main">
              <a:ext uri="{FF2B5EF4-FFF2-40B4-BE49-F238E27FC236}">
                <a16:creationId xmlns:a16="http://schemas.microsoft.com/office/drawing/2014/main" id="{43682D8F-8C33-4031-8025-27B76E290B6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Marginale kosten en marginale opbrengsten">
            <a:extLst xmlns:a="http://schemas.openxmlformats.org/drawingml/2006/main">
              <a:ext uri="{FF2B5EF4-FFF2-40B4-BE49-F238E27FC236}">
                <a16:creationId xmlns:a16="http://schemas.microsoft.com/office/drawing/2014/main" id="{1162F9AB-B39C-430C-8023-ED83C45ADDA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Marginale kosten en marginale opbrengsten</a:t>
            </a:r>
          </a:p>
        </p:txBody>
      </p:sp>
      <p:sp>
        <p:nvSpPr>
          <p:cNvPr id="4" name="slide-number">
            <a:extLst xmlns:a="http://schemas.openxmlformats.org/drawingml/2006/main">
              <a:ext uri="{FF2B5EF4-FFF2-40B4-BE49-F238E27FC236}">
                <a16:creationId xmlns:a16="http://schemas.microsoft.com/office/drawing/2014/main" id="{331575EB-79A1-4DDA-9364-AA9EF117809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 TasDruk">
            <a:extLst xmlns:a="http://schemas.openxmlformats.org/drawingml/2006/main">
              <a:ext uri="{FF2B5EF4-FFF2-40B4-BE49-F238E27FC236}">
                <a16:creationId xmlns:a16="http://schemas.microsoft.com/office/drawing/2014/main" id="{8BEC2D85-37F9-4E20-86BF-1426EA484C0E}"/>
              </a:ext>
            </a:extLst>
          </p:cNvPr>
          <p:cNvSpPr>
            <a:spLocks xmlns:a="http://schemas.openxmlformats.org/drawingml/2006/main" noGrp="1"/>
          </p:cNvSpPr>
          <p:nvPr/>
        </p:nvSpPr>
        <p:spPr>
          <a:xfrm xmlns:a="http://schemas.openxmlformats.org/drawingml/2006/main">
            <a:off x="571500" y="16478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 · TasDruk</a:t>
            </a:r>
          </a:p>
        </p:txBody>
      </p:sp>
      <p:sp>
        <p:nvSpPr>
          <p:cNvPr id="6" name="Bedrukte tassen: TK = 72 + 4Q en TO = 11Q">
            <a:extLst xmlns:a="http://schemas.openxmlformats.org/drawingml/2006/main">
              <a:ext uri="{FF2B5EF4-FFF2-40B4-BE49-F238E27FC236}">
                <a16:creationId xmlns:a16="http://schemas.microsoft.com/office/drawing/2014/main" id="{69AB1835-D004-4EE1-922C-466B4E58C7B8}"/>
              </a:ext>
            </a:extLst>
          </p:cNvPr>
          <p:cNvSpPr>
            <a:spLocks xmlns:a="http://schemas.openxmlformats.org/drawingml/2006/main" noGrp="1"/>
          </p:cNvSpPr>
          <p:nvPr/>
        </p:nvSpPr>
        <p:spPr>
          <a:xfrm xmlns:a="http://schemas.openxmlformats.org/drawingml/2006/main">
            <a:off x="571500" y="2324100"/>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Bedrukte tassen: TK = 72 + 4Q en TO = 11Q</a:t>
            </a:r>
          </a:p>
        </p:txBody>
      </p:sp>
      <p:sp>
        <p:nvSpPr>
          <p:cNvPr id="7" name="Q: tassen per week. Capaciteit: 12. Alle tassen worden verkocht.">
            <a:extLst xmlns:a="http://schemas.openxmlformats.org/drawingml/2006/main">
              <a:ext uri="{FF2B5EF4-FFF2-40B4-BE49-F238E27FC236}">
                <a16:creationId xmlns:a16="http://schemas.microsoft.com/office/drawing/2014/main" id="{1A5E7460-1B0E-43EA-9BA3-6477E6F8C4E9}"/>
              </a:ext>
            </a:extLst>
          </p:cNvPr>
          <p:cNvSpPr>
            <a:spLocks xmlns:a="http://schemas.openxmlformats.org/drawingml/2006/main" noGrp="1"/>
          </p:cNvSpPr>
          <p:nvPr/>
        </p:nvSpPr>
        <p:spPr>
          <a:xfrm xmlns:a="http://schemas.openxmlformats.org/drawingml/2006/main">
            <a:off x="571500" y="3162300"/>
            <a:ext cx="1409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tassen per week. Capaciteit: 12. Alle tassen worden verkocht.</a:t>
            </a:r>
          </a:p>
        </p:txBody>
      </p:sp>
      <p:graphicFrame>
        <p:nvGraphicFramePr>
          <p:cNvPr id="17" name=""/>
          <p:cNvGraphicFramePr/>
          <p:nvPr/>
        </p:nvGraphicFramePr>
        <p:xfrm>
          <a:off xmlns:a="http://schemas.openxmlformats.org/drawingml/2006/main" x="571500" y="4219575"/>
          <a:ext xmlns:a="http://schemas.openxmlformats.org/drawingml/2006/main" cx="14097000" cy="2952750"/>
        </p:xfrm>
        <a:graphic xmlns:a="http://schemas.openxmlformats.org/drawingml/2006/main">
          <a:graphicData uri="http://schemas.openxmlformats.org/drawingml/2006/table">
            <a:tbl>
              <a:tblPr/>
              <a:tblGrid>
                <a:gridCol w="4667250"/>
                <a:gridCol w="4714875"/>
                <a:gridCol w="4714875"/>
              </a:tblGrid>
              <a:tr h="738188">
                <a:tc>
                  <a:txBody>
                    <a:bodyPr lIns="152400" tIns="76200" rIns="133350" bIns="76200"/>
                    <a:lstStyle/>
                    <a:p>
                      <a:r>
                        <a:rPr sz="2625" b="1">
                          <a:solidFill>
                            <a:srgbClr val="FFFFFF"/>
                          </a:solidFill>
                          <a:latin typeface="Arial"/>
                          <a:ea typeface="Arial"/>
                          <a:cs typeface="Arial"/>
                        </a:rPr>
                        <a:t>Q (tassen per week)</a:t>
                      </a:r>
                    </a:p>
                  </a:txBody>
                  <a:tcPr marL="91440" marR="91440" marT="45720" marB="45720" anchor="ctr">
                    <a:solidFill>
                      <a:srgbClr val="183247"/>
                    </a:solidFill>
                  </a:tcPr>
                </a:tc>
                <a:tc>
                  <a:txBody>
                    <a:bodyPr lIns="152400" tIns="76200" rIns="133350" bIns="76200"/>
                    <a:lstStyle/>
                    <a:p>
                      <a:r>
                        <a:rPr sz="2625" b="1">
                          <a:solidFill>
                            <a:srgbClr val="FFFFFF"/>
                          </a:solidFill>
                          <a:latin typeface="Arial"/>
                          <a:ea typeface="Arial"/>
                          <a:cs typeface="Arial"/>
                        </a:rPr>
                        <a:t>TK (€ per week)</a:t>
                      </a:r>
                    </a:p>
                  </a:txBody>
                  <a:tcPr marL="91440" marR="91440" marT="45720" marB="45720" anchor="ctr">
                    <a:solidFill>
                      <a:srgbClr val="183247"/>
                    </a:solidFill>
                  </a:tcPr>
                </a:tc>
                <a:tc>
                  <a:txBody>
                    <a:bodyPr lIns="152400" tIns="76200" rIns="133350" bIns="76200"/>
                    <a:lstStyle/>
                    <a:p>
                      <a:r>
                        <a:rPr sz="2625" b="1">
                          <a:solidFill>
                            <a:srgbClr val="FFFFFF"/>
                          </a:solidFill>
                          <a:latin typeface="Arial"/>
                          <a:ea typeface="Arial"/>
                          <a:cs typeface="Arial"/>
                        </a:rPr>
                        <a:t>TO (€ per week)</a:t>
                      </a:r>
                    </a:p>
                  </a:txBody>
                  <a:tcPr marL="91440" marR="91440" marT="45720" marB="45720" anchor="ctr">
                    <a:solidFill>
                      <a:srgbClr val="183247"/>
                    </a:solidFill>
                  </a:tcPr>
                </a:tc>
              </a:tr>
              <a:tr h="738188">
                <a:tc>
                  <a:txBody>
                    <a:bodyPr lIns="152400" tIns="76200" rIns="133350" bIns="76200"/>
                    <a:lstStyle/>
                    <a:p>
                      <a:r>
                        <a:rPr sz="2625" b="0">
                          <a:solidFill>
                            <a:srgbClr val="183247"/>
                          </a:solidFill>
                          <a:latin typeface="Arial"/>
                          <a:ea typeface="Arial"/>
                          <a:cs typeface="Arial"/>
                        </a:rPr>
                        <a:t>0</a:t>
                      </a:r>
                    </a:p>
                  </a:txBody>
                  <a:tcPr marL="91440" marR="91440" marT="45720" marB="45720" anchor="ctr">
                    <a:solidFill>
                      <a:srgbClr val="FFFFFF"/>
                    </a:solidFill>
                  </a:tcPr>
                </a:tc>
                <a:tc>
                  <a:txBody>
                    <a:bodyPr lIns="152400" tIns="76200" rIns="133350" bIns="76200"/>
                    <a:lstStyle/>
                    <a:p>
                      <a:r>
                        <a:rPr sz="2625" b="0">
                          <a:solidFill>
                            <a:srgbClr val="183247"/>
                          </a:solidFill>
                          <a:latin typeface="Arial"/>
                          <a:ea typeface="Arial"/>
                          <a:cs typeface="Arial"/>
                        </a:rPr>
                        <a:t>72</a:t>
                      </a:r>
                    </a:p>
                  </a:txBody>
                  <a:tcPr marL="91440" marR="91440" marT="45720" marB="45720" anchor="ctr">
                    <a:solidFill>
                      <a:srgbClr val="FFFFFF"/>
                    </a:solidFill>
                  </a:tcPr>
                </a:tc>
                <a:tc>
                  <a:txBody>
                    <a:bodyPr lIns="152400" tIns="76200" rIns="133350" bIns="76200"/>
                    <a:lstStyle/>
                    <a:p>
                      <a:r>
                        <a:rPr sz="2625" b="0">
                          <a:solidFill>
                            <a:srgbClr val="183247"/>
                          </a:solidFill>
                          <a:latin typeface="Arial"/>
                          <a:ea typeface="Arial"/>
                          <a:cs typeface="Arial"/>
                        </a:rPr>
                        <a:t>0</a:t>
                      </a:r>
                    </a:p>
                  </a:txBody>
                  <a:tcPr marL="91440" marR="91440" marT="45720" marB="45720" anchor="ctr">
                    <a:solidFill>
                      <a:srgbClr val="FFFFFF"/>
                    </a:solidFill>
                  </a:tcPr>
                </a:tc>
              </a:tr>
              <a:tr h="738188">
                <a:tc>
                  <a:txBody>
                    <a:bodyPr lIns="152400" tIns="76200" rIns="133350" bIns="76200"/>
                    <a:lstStyle/>
                    <a:p>
                      <a:r>
                        <a:rPr sz="2625" b="0">
                          <a:solidFill>
                            <a:srgbClr val="183247"/>
                          </a:solidFill>
                          <a:latin typeface="Arial"/>
                          <a:ea typeface="Arial"/>
                          <a:cs typeface="Arial"/>
                        </a:rPr>
                        <a:t>4</a:t>
                      </a:r>
                    </a:p>
                  </a:txBody>
                  <a:tcPr marL="91440" marR="91440" marT="45720" marB="45720" anchor="ctr">
                    <a:solidFill>
                      <a:srgbClr val="EFF4F7"/>
                    </a:solidFill>
                  </a:tcPr>
                </a:tc>
                <a:tc>
                  <a:txBody>
                    <a:bodyPr lIns="152400" tIns="76200" rIns="133350" bIns="76200"/>
                    <a:lstStyle/>
                    <a:p>
                      <a:r>
                        <a:rPr sz="2625" b="0">
                          <a:solidFill>
                            <a:srgbClr val="183247"/>
                          </a:solidFill>
                          <a:latin typeface="Arial"/>
                          <a:ea typeface="Arial"/>
                          <a:cs typeface="Arial"/>
                        </a:rPr>
                        <a:t>88</a:t>
                      </a:r>
                    </a:p>
                  </a:txBody>
                  <a:tcPr marL="91440" marR="91440" marT="45720" marB="45720" anchor="ctr">
                    <a:solidFill>
                      <a:srgbClr val="EFF4F7"/>
                    </a:solidFill>
                  </a:tcPr>
                </a:tc>
                <a:tc>
                  <a:txBody>
                    <a:bodyPr lIns="152400" tIns="76200" rIns="133350" bIns="76200"/>
                    <a:lstStyle/>
                    <a:p>
                      <a:r>
                        <a:rPr sz="2625" b="0">
                          <a:solidFill>
                            <a:srgbClr val="183247"/>
                          </a:solidFill>
                          <a:latin typeface="Arial"/>
                          <a:ea typeface="Arial"/>
                          <a:cs typeface="Arial"/>
                        </a:rPr>
                        <a:t>44</a:t>
                      </a:r>
                    </a:p>
                  </a:txBody>
                  <a:tcPr marL="91440" marR="91440" marT="45720" marB="45720" anchor="ctr">
                    <a:solidFill>
                      <a:srgbClr val="EFF4F7"/>
                    </a:solidFill>
                  </a:tcPr>
                </a:tc>
              </a:tr>
              <a:tr h="738188">
                <a:tc>
                  <a:txBody>
                    <a:bodyPr lIns="152400" tIns="76200" rIns="133350" bIns="76200"/>
                    <a:lstStyle/>
                    <a:p>
                      <a:r>
                        <a:rPr sz="2625" b="0">
                          <a:solidFill>
                            <a:srgbClr val="183247"/>
                          </a:solidFill>
                          <a:latin typeface="Arial"/>
                          <a:ea typeface="Arial"/>
                          <a:cs typeface="Arial"/>
                        </a:rPr>
                        <a:t>12</a:t>
                      </a:r>
                    </a:p>
                  </a:txBody>
                  <a:tcPr marL="91440" marR="91440" marT="45720" marB="45720" anchor="ctr">
                    <a:solidFill>
                      <a:srgbClr val="FFFFFF"/>
                    </a:solidFill>
                  </a:tcPr>
                </a:tc>
                <a:tc>
                  <a:txBody>
                    <a:bodyPr lIns="152400" tIns="76200" rIns="133350" bIns="76200"/>
                    <a:lstStyle/>
                    <a:p>
                      <a:r>
                        <a:rPr sz="2625" b="0">
                          <a:solidFill>
                            <a:srgbClr val="183247"/>
                          </a:solidFill>
                          <a:latin typeface="Arial"/>
                          <a:ea typeface="Arial"/>
                          <a:cs typeface="Arial"/>
                        </a:rPr>
                        <a:t>120</a:t>
                      </a:r>
                    </a:p>
                  </a:txBody>
                  <a:tcPr marL="91440" marR="91440" marT="45720" marB="45720" anchor="ctr">
                    <a:solidFill>
                      <a:srgbClr val="FFFFFF"/>
                    </a:solidFill>
                  </a:tcPr>
                </a:tc>
                <a:tc>
                  <a:txBody>
                    <a:bodyPr lIns="152400" tIns="76200" rIns="133350" bIns="76200"/>
                    <a:lstStyle/>
                    <a:p>
                      <a:r>
                        <a:rPr sz="2625" b="0">
                          <a:solidFill>
                            <a:srgbClr val="183247"/>
                          </a:solidFill>
                          <a:latin typeface="Arial"/>
                          <a:ea typeface="Arial"/>
                          <a:cs typeface="Arial"/>
                        </a:rPr>
                        <a:t>132</a:t>
                      </a:r>
                    </a:p>
                  </a:txBody>
                  <a:tcPr marL="91440" marR="91440" marT="45720" marB="45720" anchor="ctr">
                    <a:solidFill>
                      <a:srgbClr val="FFFFFF"/>
                    </a:solidFill>
                  </a:tcPr>
                </a:tc>
              </a:tr>
            </a:tbl>
          </a:graphicData>
        </a:graphic>
      </p:graphicFrame>
      <p:sp>
        <p:nvSpPr>
          <p:cNvPr id="9" name="Let op: eerst 4 extra tassen, daarna 8 extra tassen.">
            <a:extLst xmlns:a="http://schemas.openxmlformats.org/drawingml/2006/main">
              <a:ext uri="{FF2B5EF4-FFF2-40B4-BE49-F238E27FC236}">
                <a16:creationId xmlns:a16="http://schemas.microsoft.com/office/drawing/2014/main" id="{C5B0623C-4601-4D02-B812-61DDC045B66B}"/>
              </a:ext>
            </a:extLst>
          </p:cNvPr>
          <p:cNvSpPr>
            <a:spLocks xmlns:a="http://schemas.openxmlformats.org/drawingml/2006/main" noGrp="1"/>
          </p:cNvSpPr>
          <p:nvPr/>
        </p:nvSpPr>
        <p:spPr>
          <a:xfrm xmlns:a="http://schemas.openxmlformats.org/drawingml/2006/main">
            <a:off x="571500" y="748665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Let op: eerst 4 extra tassen, daarna 8 extra tassen.</a:t>
            </a:r>
          </a:p>
        </p:txBody>
      </p:sp>
    </p:spTree>
    <p:extLst>
      <p:ext uri="{BB962C8B-B14F-4D97-AF65-F5344CB8AC3E}">
        <p14:creationId xmlns:p14="http://schemas.microsoft.com/office/powerpoint/2010/main" val="16339755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Winst · Opbrengst min alle kosten">
            <a:extLst xmlns:a="http://schemas.openxmlformats.org/drawingml/2006/main">
              <a:ext uri="{FF2B5EF4-FFF2-40B4-BE49-F238E27FC236}">
                <a16:creationId xmlns:a16="http://schemas.microsoft.com/office/drawing/2014/main" id="{519D6ADF-19D4-42AF-899E-534D028E045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Winst · Opbrengst min alle kosten</a:t>
            </a:r>
          </a:p>
        </p:txBody>
      </p:sp>
      <p:sp>
        <p:nvSpPr>
          <p:cNvPr id="2" name="">
            <a:extLst xmlns:a="http://schemas.openxmlformats.org/drawingml/2006/main">
              <a:ext uri="{FF2B5EF4-FFF2-40B4-BE49-F238E27FC236}">
                <a16:creationId xmlns:a16="http://schemas.microsoft.com/office/drawing/2014/main" id="{A598681B-44FF-4455-8BA2-4AA8C6F812F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Marginale kosten en marginale opbrengsten">
            <a:extLst xmlns:a="http://schemas.openxmlformats.org/drawingml/2006/main">
              <a:ext uri="{FF2B5EF4-FFF2-40B4-BE49-F238E27FC236}">
                <a16:creationId xmlns:a16="http://schemas.microsoft.com/office/drawing/2014/main" id="{E989A7E0-E010-4E0E-A042-2333B3C78F4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Marginale kosten en marginale opbrengsten</a:t>
            </a:r>
          </a:p>
        </p:txBody>
      </p:sp>
      <p:sp>
        <p:nvSpPr>
          <p:cNvPr id="4" name="slide-number">
            <a:extLst xmlns:a="http://schemas.openxmlformats.org/drawingml/2006/main">
              <a:ext uri="{FF2B5EF4-FFF2-40B4-BE49-F238E27FC236}">
                <a16:creationId xmlns:a16="http://schemas.microsoft.com/office/drawing/2014/main" id="{178C54DE-263C-4938-96AF-BC28E3A7E27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 TasDruk">
            <a:extLst xmlns:a="http://schemas.openxmlformats.org/drawingml/2006/main">
              <a:ext uri="{FF2B5EF4-FFF2-40B4-BE49-F238E27FC236}">
                <a16:creationId xmlns:a16="http://schemas.microsoft.com/office/drawing/2014/main" id="{4A168ABA-96F9-4CEE-895D-4B4C26A18DAF}"/>
              </a:ext>
            </a:extLst>
          </p:cNvPr>
          <p:cNvSpPr>
            <a:spLocks xmlns:a="http://schemas.openxmlformats.org/drawingml/2006/main" noGrp="1"/>
          </p:cNvSpPr>
          <p:nvPr/>
        </p:nvSpPr>
        <p:spPr>
          <a:xfrm xmlns:a="http://schemas.openxmlformats.org/drawingml/2006/main">
            <a:off x="571500" y="16478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 · TasDruk</a:t>
            </a:r>
          </a:p>
        </p:txBody>
      </p:sp>
      <p:sp>
        <p:nvSpPr>
          <p:cNvPr id="6" name="Bij 4 tassen per week">
            <a:extLst xmlns:a="http://schemas.openxmlformats.org/drawingml/2006/main">
              <a:ext uri="{FF2B5EF4-FFF2-40B4-BE49-F238E27FC236}">
                <a16:creationId xmlns:a16="http://schemas.microsoft.com/office/drawing/2014/main" id="{6C8FF3C6-74EE-4D4B-AB25-463B674F3966}"/>
              </a:ext>
            </a:extLst>
          </p:cNvPr>
          <p:cNvSpPr>
            <a:spLocks xmlns:a="http://schemas.openxmlformats.org/drawingml/2006/main" noGrp="1"/>
          </p:cNvSpPr>
          <p:nvPr/>
        </p:nvSpPr>
        <p:spPr>
          <a:xfrm xmlns:a="http://schemas.openxmlformats.org/drawingml/2006/main">
            <a:off x="571500" y="24003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Bij 4 tassen per week</a:t>
            </a:r>
          </a:p>
        </p:txBody>
      </p:sp>
      <p:sp>
        <p:nvSpPr>
          <p:cNvPr id="7" name="Winst = TO − TK">
            <a:extLst xmlns:a="http://schemas.openxmlformats.org/drawingml/2006/main">
              <a:ext uri="{FF2B5EF4-FFF2-40B4-BE49-F238E27FC236}">
                <a16:creationId xmlns:a16="http://schemas.microsoft.com/office/drawing/2014/main" id="{97BD241C-451D-4BF7-A0E0-7B7368F6D97A}"/>
              </a:ext>
            </a:extLst>
          </p:cNvPr>
          <p:cNvSpPr>
            <a:spLocks xmlns:a="http://schemas.openxmlformats.org/drawingml/2006/main" noGrp="1"/>
          </p:cNvSpPr>
          <p:nvPr/>
        </p:nvSpPr>
        <p:spPr>
          <a:xfrm xmlns:a="http://schemas.openxmlformats.org/drawingml/2006/main">
            <a:off x="571500" y="338137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183247"/>
                </a:solidFill>
                <a:latin typeface="Arial"/>
                <a:ea typeface="Arial"/>
                <a:cs typeface="Arial"/>
              </a:defRPr>
            </a:pPr>
            <a:r>
              <a:rPr sz="4050" b="1">
                <a:solidFill>
                  <a:srgbClr val="183247"/>
                </a:solidFill>
                <a:latin typeface="Arial"/>
                <a:ea typeface="Arial"/>
                <a:cs typeface="Arial"/>
              </a:rPr>
              <a:t>Winst = TO − TK</a:t>
            </a:r>
          </a:p>
        </p:txBody>
      </p:sp>
      <p:sp>
        <p:nvSpPr>
          <p:cNvPr id="8" name="= 44 − 88 = −€ 44 per week">
            <a:extLst xmlns:a="http://schemas.openxmlformats.org/drawingml/2006/main">
              <a:ext uri="{FF2B5EF4-FFF2-40B4-BE49-F238E27FC236}">
                <a16:creationId xmlns:a16="http://schemas.microsoft.com/office/drawing/2014/main" id="{35681482-1C63-46A3-8CDD-B0866F1F0D4D}"/>
              </a:ext>
            </a:extLst>
          </p:cNvPr>
          <p:cNvSpPr>
            <a:spLocks xmlns:a="http://schemas.openxmlformats.org/drawingml/2006/main" noGrp="1"/>
          </p:cNvSpPr>
          <p:nvPr/>
        </p:nvSpPr>
        <p:spPr>
          <a:xfrm xmlns:a="http://schemas.openxmlformats.org/drawingml/2006/main">
            <a:off x="571500" y="437197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A94D16"/>
                </a:solidFill>
                <a:latin typeface="Arial"/>
                <a:ea typeface="Arial"/>
                <a:cs typeface="Arial"/>
              </a:defRPr>
            </a:pPr>
            <a:r>
              <a:rPr sz="3900" b="1">
                <a:solidFill>
                  <a:srgbClr val="A94D16"/>
                </a:solidFill>
                <a:latin typeface="Arial"/>
                <a:ea typeface="Arial"/>
                <a:cs typeface="Arial"/>
              </a:rPr>
              <a:t>= 44 − 88 = −€ 44 per week</a:t>
            </a:r>
          </a:p>
        </p:txBody>
      </p:sp>
      <p:graphicFrame>
        <p:nvGraphicFramePr>
          <p:cNvPr id="18" name=""/>
          <p:cNvGraphicFramePr/>
          <p:nvPr/>
        </p:nvGraphicFramePr>
        <p:xfrm>
          <a:off xmlns:a="http://schemas.openxmlformats.org/drawingml/2006/main" x="571500" y="5562600"/>
          <a:ext xmlns:a="http://schemas.openxmlformats.org/drawingml/2006/main" cx="14097000" cy="2324100"/>
        </p:xfrm>
        <a:graphic xmlns:a="http://schemas.openxmlformats.org/drawingml/2006/main">
          <a:graphicData uri="http://schemas.openxmlformats.org/drawingml/2006/table">
            <a:tbl>
              <a:tblPr/>
              <a:tblGrid>
                <a:gridCol w="3905250"/>
                <a:gridCol w="3333750"/>
                <a:gridCol w="3333750"/>
                <a:gridCol w="3524250"/>
              </a:tblGrid>
              <a:tr h="581025">
                <a:tc>
                  <a:txBody>
                    <a:bodyPr lIns="152400" tIns="76200" rIns="133350" bIns="76200"/>
                    <a:lstStyle/>
                    <a:p>
                      <a:r>
                        <a:rPr sz="2250" b="1">
                          <a:solidFill>
                            <a:srgbClr val="FFFFFF"/>
                          </a:solidFill>
                          <a:latin typeface="Arial"/>
                          <a:ea typeface="Arial"/>
                          <a:cs typeface="Arial"/>
                        </a:rPr>
                        <a:t>Q (tassen per week)</a:t>
                      </a:r>
                    </a:p>
                  </a:txBody>
                  <a:tcPr marL="91440" marR="91440" marT="45720" marB="45720" anchor="ctr">
                    <a:solidFill>
                      <a:srgbClr val="183247"/>
                    </a:solidFill>
                  </a:tcPr>
                </a:tc>
                <a:tc>
                  <a:txBody>
                    <a:bodyPr lIns="152400" tIns="76200" rIns="133350" bIns="76200"/>
                    <a:lstStyle/>
                    <a:p>
                      <a:r>
                        <a:rPr sz="2250" b="1">
                          <a:solidFill>
                            <a:srgbClr val="FFFFFF"/>
                          </a:solidFill>
                          <a:latin typeface="Arial"/>
                          <a:ea typeface="Arial"/>
                          <a:cs typeface="Arial"/>
                        </a:rPr>
                        <a:t>TO (€ per week)</a:t>
                      </a:r>
                    </a:p>
                  </a:txBody>
                  <a:tcPr marL="91440" marR="91440" marT="45720" marB="45720" anchor="ctr">
                    <a:solidFill>
                      <a:srgbClr val="183247"/>
                    </a:solidFill>
                  </a:tcPr>
                </a:tc>
                <a:tc>
                  <a:txBody>
                    <a:bodyPr lIns="152400" tIns="76200" rIns="133350" bIns="76200"/>
                    <a:lstStyle/>
                    <a:p>
                      <a:r>
                        <a:rPr sz="2250" b="1">
                          <a:solidFill>
                            <a:srgbClr val="FFFFFF"/>
                          </a:solidFill>
                          <a:latin typeface="Arial"/>
                          <a:ea typeface="Arial"/>
                          <a:cs typeface="Arial"/>
                        </a:rPr>
                        <a:t>TK (€ per week)</a:t>
                      </a:r>
                    </a:p>
                  </a:txBody>
                  <a:tcPr marL="91440" marR="91440" marT="45720" marB="45720" anchor="ctr">
                    <a:solidFill>
                      <a:srgbClr val="183247"/>
                    </a:solidFill>
                  </a:tcPr>
                </a:tc>
                <a:tc>
                  <a:txBody>
                    <a:bodyPr lIns="152400" tIns="76200" rIns="133350" bIns="76200"/>
                    <a:lstStyle/>
                    <a:p>
                      <a:r>
                        <a:rPr sz="2250" b="1">
                          <a:solidFill>
                            <a:srgbClr val="FFFFFF"/>
                          </a:solidFill>
                          <a:latin typeface="Arial"/>
                          <a:ea typeface="Arial"/>
                          <a:cs typeface="Arial"/>
                        </a:rPr>
                        <a:t>Winst (€ per week)</a:t>
                      </a:r>
                    </a:p>
                  </a:txBody>
                  <a:tcPr marL="91440" marR="91440" marT="45720" marB="45720" anchor="ctr">
                    <a:solidFill>
                      <a:srgbClr val="183247"/>
                    </a:solidFill>
                  </a:tcPr>
                </a:tc>
              </a:tr>
              <a:tr h="581025">
                <a:tc>
                  <a:txBody>
                    <a:bodyPr lIns="152400" tIns="76200" rIns="133350" bIns="76200"/>
                    <a:lstStyle/>
                    <a:p>
                      <a:r>
                        <a:rPr sz="2250" b="0">
                          <a:solidFill>
                            <a:srgbClr val="183247"/>
                          </a:solidFill>
                          <a:latin typeface="Arial"/>
                          <a:ea typeface="Arial"/>
                          <a:cs typeface="Arial"/>
                        </a:rPr>
                        <a:t>0</a:t>
                      </a:r>
                    </a:p>
                  </a:txBody>
                  <a:tcPr marL="91440" marR="91440" marT="45720" marB="45720" anchor="ctr">
                    <a:solidFill>
                      <a:srgbClr val="FFFFFF"/>
                    </a:solidFill>
                  </a:tcPr>
                </a:tc>
                <a:tc>
                  <a:txBody>
                    <a:bodyPr lIns="152400" tIns="76200" rIns="133350" bIns="76200"/>
                    <a:lstStyle/>
                    <a:p>
                      <a:r>
                        <a:rPr sz="2250" b="0">
                          <a:solidFill>
                            <a:srgbClr val="183247"/>
                          </a:solidFill>
                          <a:latin typeface="Arial"/>
                          <a:ea typeface="Arial"/>
                          <a:cs typeface="Arial"/>
                        </a:rPr>
                        <a:t>0</a:t>
                      </a:r>
                    </a:p>
                  </a:txBody>
                  <a:tcPr marL="91440" marR="91440" marT="45720" marB="45720" anchor="ctr">
                    <a:solidFill>
                      <a:srgbClr val="FFFFFF"/>
                    </a:solidFill>
                  </a:tcPr>
                </a:tc>
                <a:tc>
                  <a:txBody>
                    <a:bodyPr lIns="152400" tIns="76200" rIns="133350" bIns="76200"/>
                    <a:lstStyle/>
                    <a:p>
                      <a:r>
                        <a:rPr sz="2250" b="0">
                          <a:solidFill>
                            <a:srgbClr val="183247"/>
                          </a:solidFill>
                          <a:latin typeface="Arial"/>
                          <a:ea typeface="Arial"/>
                          <a:cs typeface="Arial"/>
                        </a:rPr>
                        <a:t>72</a:t>
                      </a:r>
                    </a:p>
                  </a:txBody>
                  <a:tcPr marL="91440" marR="91440" marT="45720" marB="45720" anchor="ctr">
                    <a:solidFill>
                      <a:srgbClr val="FFFFFF"/>
                    </a:solidFill>
                  </a:tcPr>
                </a:tc>
                <a:tc>
                  <a:txBody>
                    <a:bodyPr lIns="152400" tIns="76200" rIns="133350" bIns="76200"/>
                    <a:lstStyle/>
                    <a:p>
                      <a:r>
                        <a:rPr sz="2250" b="0">
                          <a:solidFill>
                            <a:srgbClr val="183247"/>
                          </a:solidFill>
                          <a:latin typeface="Arial"/>
                          <a:ea typeface="Arial"/>
                          <a:cs typeface="Arial"/>
                        </a:rPr>
                        <a:t>−72</a:t>
                      </a:r>
                    </a:p>
                  </a:txBody>
                  <a:tcPr marL="91440" marR="91440" marT="45720" marB="45720" anchor="ctr">
                    <a:solidFill>
                      <a:srgbClr val="FFFFFF"/>
                    </a:solidFill>
                  </a:tcPr>
                </a:tc>
              </a:tr>
              <a:tr h="581025">
                <a:tc>
                  <a:txBody>
                    <a:bodyPr lIns="152400" tIns="76200" rIns="133350" bIns="76200"/>
                    <a:lstStyle/>
                    <a:p>
                      <a:r>
                        <a:rPr sz="2250" b="0">
                          <a:solidFill>
                            <a:srgbClr val="183247"/>
                          </a:solidFill>
                          <a:latin typeface="Arial"/>
                          <a:ea typeface="Arial"/>
                          <a:cs typeface="Arial"/>
                        </a:rPr>
                        <a:t>4</a:t>
                      </a:r>
                    </a:p>
                  </a:txBody>
                  <a:tcPr marL="91440" marR="91440" marT="45720" marB="45720" anchor="ctr">
                    <a:solidFill>
                      <a:srgbClr val="EFF4F7"/>
                    </a:solidFill>
                  </a:tcPr>
                </a:tc>
                <a:tc>
                  <a:txBody>
                    <a:bodyPr lIns="152400" tIns="76200" rIns="133350" bIns="76200"/>
                    <a:lstStyle/>
                    <a:p>
                      <a:r>
                        <a:rPr sz="2250" b="0">
                          <a:solidFill>
                            <a:srgbClr val="183247"/>
                          </a:solidFill>
                          <a:latin typeface="Arial"/>
                          <a:ea typeface="Arial"/>
                          <a:cs typeface="Arial"/>
                        </a:rPr>
                        <a:t>44</a:t>
                      </a:r>
                    </a:p>
                  </a:txBody>
                  <a:tcPr marL="91440" marR="91440" marT="45720" marB="45720" anchor="ctr">
                    <a:solidFill>
                      <a:srgbClr val="EFF4F7"/>
                    </a:solidFill>
                  </a:tcPr>
                </a:tc>
                <a:tc>
                  <a:txBody>
                    <a:bodyPr lIns="152400" tIns="76200" rIns="133350" bIns="76200"/>
                    <a:lstStyle/>
                    <a:p>
                      <a:r>
                        <a:rPr sz="2250" b="0">
                          <a:solidFill>
                            <a:srgbClr val="183247"/>
                          </a:solidFill>
                          <a:latin typeface="Arial"/>
                          <a:ea typeface="Arial"/>
                          <a:cs typeface="Arial"/>
                        </a:rPr>
                        <a:t>88</a:t>
                      </a:r>
                    </a:p>
                  </a:txBody>
                  <a:tcPr marL="91440" marR="91440" marT="45720" marB="45720" anchor="ctr">
                    <a:solidFill>
                      <a:srgbClr val="EFF4F7"/>
                    </a:solidFill>
                  </a:tcPr>
                </a:tc>
                <a:tc>
                  <a:txBody>
                    <a:bodyPr lIns="152400" tIns="76200" rIns="133350" bIns="76200"/>
                    <a:lstStyle/>
                    <a:p>
                      <a:r>
                        <a:rPr sz="2250" b="0">
                          <a:solidFill>
                            <a:srgbClr val="183247"/>
                          </a:solidFill>
                          <a:latin typeface="Arial"/>
                          <a:ea typeface="Arial"/>
                          <a:cs typeface="Arial"/>
                        </a:rPr>
                        <a:t>−44</a:t>
                      </a:r>
                    </a:p>
                  </a:txBody>
                  <a:tcPr marL="91440" marR="91440" marT="45720" marB="45720" anchor="ctr">
                    <a:solidFill>
                      <a:srgbClr val="EFF4F7"/>
                    </a:solidFill>
                  </a:tcPr>
                </a:tc>
              </a:tr>
              <a:tr h="581025">
                <a:tc>
                  <a:txBody>
                    <a:bodyPr lIns="152400" tIns="76200" rIns="133350" bIns="76200"/>
                    <a:lstStyle/>
                    <a:p>
                      <a:r>
                        <a:rPr sz="2250" b="0">
                          <a:solidFill>
                            <a:srgbClr val="183247"/>
                          </a:solidFill>
                          <a:latin typeface="Arial"/>
                          <a:ea typeface="Arial"/>
                          <a:cs typeface="Arial"/>
                        </a:rPr>
                        <a:t>12</a:t>
                      </a:r>
                    </a:p>
                  </a:txBody>
                  <a:tcPr marL="91440" marR="91440" marT="45720" marB="45720" anchor="ctr">
                    <a:solidFill>
                      <a:srgbClr val="FFFFFF"/>
                    </a:solidFill>
                  </a:tcPr>
                </a:tc>
                <a:tc>
                  <a:txBody>
                    <a:bodyPr lIns="152400" tIns="76200" rIns="133350" bIns="76200"/>
                    <a:lstStyle/>
                    <a:p>
                      <a:r>
                        <a:rPr sz="2250" b="0">
                          <a:solidFill>
                            <a:srgbClr val="183247"/>
                          </a:solidFill>
                          <a:latin typeface="Arial"/>
                          <a:ea typeface="Arial"/>
                          <a:cs typeface="Arial"/>
                        </a:rPr>
                        <a:t>132</a:t>
                      </a:r>
                    </a:p>
                  </a:txBody>
                  <a:tcPr marL="91440" marR="91440" marT="45720" marB="45720" anchor="ctr">
                    <a:solidFill>
                      <a:srgbClr val="FFFFFF"/>
                    </a:solidFill>
                  </a:tcPr>
                </a:tc>
                <a:tc>
                  <a:txBody>
                    <a:bodyPr lIns="152400" tIns="76200" rIns="133350" bIns="76200"/>
                    <a:lstStyle/>
                    <a:p>
                      <a:r>
                        <a:rPr sz="2250" b="0">
                          <a:solidFill>
                            <a:srgbClr val="183247"/>
                          </a:solidFill>
                          <a:latin typeface="Arial"/>
                          <a:ea typeface="Arial"/>
                          <a:cs typeface="Arial"/>
                        </a:rPr>
                        <a:t>120</a:t>
                      </a:r>
                    </a:p>
                  </a:txBody>
                  <a:tcPr marL="91440" marR="91440" marT="45720" marB="45720" anchor="ctr">
                    <a:solidFill>
                      <a:srgbClr val="FFFFFF"/>
                    </a:solidFill>
                  </a:tcPr>
                </a:tc>
                <a:tc>
                  <a:txBody>
                    <a:bodyPr lIns="152400" tIns="76200" rIns="133350" bIns="76200"/>
                    <a:lstStyle/>
                    <a:p>
                      <a:r>
                        <a:rPr sz="2250" b="0">
                          <a:solidFill>
                            <a:srgbClr val="183247"/>
                          </a:solidFill>
                          <a:latin typeface="Arial"/>
                          <a:ea typeface="Arial"/>
                          <a:cs typeface="Arial"/>
                        </a:rPr>
                        <a:t>12</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4758309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MK · Eerst het verschil, dan delen">
            <a:extLst xmlns:a="http://schemas.openxmlformats.org/drawingml/2006/main">
              <a:ext uri="{FF2B5EF4-FFF2-40B4-BE49-F238E27FC236}">
                <a16:creationId xmlns:a16="http://schemas.microsoft.com/office/drawing/2014/main" id="{53CEA3A7-A668-4E86-8569-8DD17C2FCB0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MK · Eerst het verschil, dan delen</a:t>
            </a:r>
          </a:p>
        </p:txBody>
      </p:sp>
      <p:sp>
        <p:nvSpPr>
          <p:cNvPr id="2" name="">
            <a:extLst xmlns:a="http://schemas.openxmlformats.org/drawingml/2006/main">
              <a:ext uri="{FF2B5EF4-FFF2-40B4-BE49-F238E27FC236}">
                <a16:creationId xmlns:a16="http://schemas.microsoft.com/office/drawing/2014/main" id="{7D0CC3EB-94D4-4272-9CBD-9C37893D868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Marginale kosten en marginale opbrengsten">
            <a:extLst xmlns:a="http://schemas.openxmlformats.org/drawingml/2006/main">
              <a:ext uri="{FF2B5EF4-FFF2-40B4-BE49-F238E27FC236}">
                <a16:creationId xmlns:a16="http://schemas.microsoft.com/office/drawing/2014/main" id="{7EADBF4A-BE36-4F11-A8A9-5704211242E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Marginale kosten en marginale opbrengsten</a:t>
            </a:r>
          </a:p>
        </p:txBody>
      </p:sp>
      <p:sp>
        <p:nvSpPr>
          <p:cNvPr id="4" name="slide-number">
            <a:extLst xmlns:a="http://schemas.openxmlformats.org/drawingml/2006/main">
              <a:ext uri="{FF2B5EF4-FFF2-40B4-BE49-F238E27FC236}">
                <a16:creationId xmlns:a16="http://schemas.microsoft.com/office/drawing/2014/main" id="{5DCC09FD-CCD4-431D-9223-CE7678DFF49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 TasDruk">
            <a:extLst xmlns:a="http://schemas.openxmlformats.org/drawingml/2006/main">
              <a:ext uri="{FF2B5EF4-FFF2-40B4-BE49-F238E27FC236}">
                <a16:creationId xmlns:a16="http://schemas.microsoft.com/office/drawing/2014/main" id="{D5AC4A60-A416-4B96-9D33-24EED88437D6}"/>
              </a:ext>
            </a:extLst>
          </p:cNvPr>
          <p:cNvSpPr>
            <a:spLocks xmlns:a="http://schemas.openxmlformats.org/drawingml/2006/main" noGrp="1"/>
          </p:cNvSpPr>
          <p:nvPr/>
        </p:nvSpPr>
        <p:spPr>
          <a:xfrm xmlns:a="http://schemas.openxmlformats.org/drawingml/2006/main">
            <a:off x="571500" y="16478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 · TasDruk</a:t>
            </a:r>
          </a:p>
        </p:txBody>
      </p:sp>
      <p:graphicFrame>
        <p:nvGraphicFramePr>
          <p:cNvPr id="15" name=""/>
          <p:cNvGraphicFramePr/>
          <p:nvPr/>
        </p:nvGraphicFramePr>
        <p:xfrm>
          <a:off xmlns:a="http://schemas.openxmlformats.org/drawingml/2006/main" x="571500" y="2381250"/>
          <a:ext xmlns:a="http://schemas.openxmlformats.org/drawingml/2006/main" cx="14097000" cy="2676525"/>
        </p:xfrm>
        <a:graphic xmlns:a="http://schemas.openxmlformats.org/drawingml/2006/main">
          <a:graphicData uri="http://schemas.openxmlformats.org/drawingml/2006/table">
            <a:tbl>
              <a:tblPr/>
              <a:tblGrid>
                <a:gridCol w="5000625"/>
                <a:gridCol w="4572000"/>
                <a:gridCol w="4524375"/>
              </a:tblGrid>
              <a:tr h="892175">
                <a:tc>
                  <a:txBody>
                    <a:bodyPr lIns="152400" tIns="76200" rIns="133350" bIns="76200"/>
                    <a:lstStyle/>
                    <a:p>
                      <a:r>
                        <a:rPr sz="2700" b="1">
                          <a:solidFill>
                            <a:srgbClr val="FFFFFF"/>
                          </a:solidFill>
                          <a:latin typeface="Arial"/>
                          <a:ea typeface="Arial"/>
                          <a:cs typeface="Arial"/>
                        </a:rPr>
                        <a:t>Stap 4 → 12 tassen</a:t>
                      </a:r>
                    </a:p>
                  </a:txBody>
                  <a:tcPr marL="91440" marR="91440" marT="45720" marB="45720" anchor="ctr">
                    <a:solidFill>
                      <a:srgbClr val="183247"/>
                    </a:solidFill>
                  </a:tcPr>
                </a:tc>
                <a:tc>
                  <a:txBody>
                    <a:bodyPr lIns="152400" tIns="76200" rIns="133350" bIns="76200"/>
                    <a:lstStyle/>
                    <a:p>
                      <a:r>
                        <a:rPr sz="2700" b="1">
                          <a:solidFill>
                            <a:srgbClr val="FFFFFF"/>
                          </a:solidFill>
                          <a:latin typeface="Arial"/>
                          <a:ea typeface="Arial"/>
                          <a:cs typeface="Arial"/>
                        </a:rPr>
                        <a:t>Berekening</a:t>
                      </a:r>
                    </a:p>
                  </a:txBody>
                  <a:tcPr marL="91440" marR="91440" marT="45720" marB="45720" anchor="ctr">
                    <a:solidFill>
                      <a:srgbClr val="183247"/>
                    </a:solidFill>
                  </a:tcPr>
                </a:tc>
                <a:tc>
                  <a:txBody>
                    <a:bodyPr lIns="152400" tIns="76200" rIns="133350" bIns="76200"/>
                    <a:lstStyle/>
                    <a:p>
                      <a:r>
                        <a:rPr sz="2700" b="1">
                          <a:solidFill>
                            <a:srgbClr val="FFFFFF"/>
                          </a:solidFill>
                          <a:latin typeface="Arial"/>
                          <a:ea typeface="Arial"/>
                          <a:cs typeface="Arial"/>
                        </a:rPr>
                        <a:t>Verandering</a:t>
                      </a:r>
                    </a:p>
                  </a:txBody>
                  <a:tcPr marL="91440" marR="91440" marT="45720" marB="45720" anchor="ctr">
                    <a:solidFill>
                      <a:srgbClr val="183247"/>
                    </a:solidFill>
                  </a:tcPr>
                </a:tc>
              </a:tr>
              <a:tr h="892175">
                <a:tc>
                  <a:txBody>
                    <a:bodyPr lIns="152400" tIns="76200" rIns="133350" bIns="76200"/>
                    <a:lstStyle/>
                    <a:p>
                      <a:r>
                        <a:rPr sz="2700" b="0">
                          <a:solidFill>
                            <a:srgbClr val="183247"/>
                          </a:solidFill>
                          <a:latin typeface="Arial"/>
                          <a:ea typeface="Arial"/>
                          <a:cs typeface="Arial"/>
                        </a:rPr>
                        <a:t>Hoeveelheid</a:t>
                      </a:r>
                    </a:p>
                  </a:txBody>
                  <a:tcPr marL="91440" marR="91440" marT="45720" marB="45720" anchor="ctr">
                    <a:solidFill>
                      <a:srgbClr val="FFFFFF"/>
                    </a:solidFill>
                  </a:tcPr>
                </a:tc>
                <a:tc>
                  <a:txBody>
                    <a:bodyPr lIns="152400" tIns="76200" rIns="133350" bIns="76200"/>
                    <a:lstStyle/>
                    <a:p>
                      <a:r>
                        <a:rPr sz="2700" b="0">
                          <a:solidFill>
                            <a:srgbClr val="183247"/>
                          </a:solidFill>
                          <a:latin typeface="Arial"/>
                          <a:ea typeface="Arial"/>
                          <a:cs typeface="Arial"/>
                        </a:rPr>
                        <a:t>ΔQ = 12 − 4</a:t>
                      </a:r>
                    </a:p>
                  </a:txBody>
                  <a:tcPr marL="91440" marR="91440" marT="45720" marB="45720" anchor="ctr">
                    <a:solidFill>
                      <a:srgbClr val="FFFFFF"/>
                    </a:solidFill>
                  </a:tcPr>
                </a:tc>
                <a:tc>
                  <a:txBody>
                    <a:bodyPr lIns="152400" tIns="76200" rIns="133350" bIns="76200"/>
                    <a:lstStyle/>
                    <a:p>
                      <a:r>
                        <a:rPr sz="2700" b="0">
                          <a:solidFill>
                            <a:srgbClr val="183247"/>
                          </a:solidFill>
                          <a:latin typeface="Arial"/>
                          <a:ea typeface="Arial"/>
                          <a:cs typeface="Arial"/>
                        </a:rPr>
                        <a:t>8 extra tassen</a:t>
                      </a:r>
                    </a:p>
                  </a:txBody>
                  <a:tcPr marL="91440" marR="91440" marT="45720" marB="45720" anchor="ctr">
                    <a:solidFill>
                      <a:srgbClr val="FFFFFF"/>
                    </a:solidFill>
                  </a:tcPr>
                </a:tc>
              </a:tr>
              <a:tr h="892175">
                <a:tc>
                  <a:txBody>
                    <a:bodyPr lIns="152400" tIns="76200" rIns="133350" bIns="76200"/>
                    <a:lstStyle/>
                    <a:p>
                      <a:r>
                        <a:rPr sz="2700" b="0">
                          <a:solidFill>
                            <a:srgbClr val="183247"/>
                          </a:solidFill>
                          <a:latin typeface="Arial"/>
                          <a:ea typeface="Arial"/>
                          <a:cs typeface="Arial"/>
                        </a:rPr>
                        <a:t>Totale kosten</a:t>
                      </a:r>
                    </a:p>
                  </a:txBody>
                  <a:tcPr marL="91440" marR="91440" marT="45720" marB="45720" anchor="ctr">
                    <a:solidFill>
                      <a:srgbClr val="EFF4F7"/>
                    </a:solidFill>
                  </a:tcPr>
                </a:tc>
                <a:tc>
                  <a:txBody>
                    <a:bodyPr lIns="152400" tIns="76200" rIns="133350" bIns="76200"/>
                    <a:lstStyle/>
                    <a:p>
                      <a:r>
                        <a:rPr sz="2700" b="0">
                          <a:solidFill>
                            <a:srgbClr val="183247"/>
                          </a:solidFill>
                          <a:latin typeface="Arial"/>
                          <a:ea typeface="Arial"/>
                          <a:cs typeface="Arial"/>
                        </a:rPr>
                        <a:t>ΔTK = 120 − 88</a:t>
                      </a:r>
                    </a:p>
                  </a:txBody>
                  <a:tcPr marL="91440" marR="91440" marT="45720" marB="45720" anchor="ctr">
                    <a:solidFill>
                      <a:srgbClr val="EFF4F7"/>
                    </a:solidFill>
                  </a:tcPr>
                </a:tc>
                <a:tc>
                  <a:txBody>
                    <a:bodyPr lIns="152400" tIns="76200" rIns="133350" bIns="76200"/>
                    <a:lstStyle/>
                    <a:p>
                      <a:r>
                        <a:rPr sz="2700" b="0">
                          <a:solidFill>
                            <a:srgbClr val="183247"/>
                          </a:solidFill>
                          <a:latin typeface="Arial"/>
                          <a:ea typeface="Arial"/>
                          <a:cs typeface="Arial"/>
                        </a:rPr>
                        <a:t>€ 32 extra kosten</a:t>
                      </a:r>
                    </a:p>
                  </a:txBody>
                  <a:tcPr marL="91440" marR="91440" marT="45720" marB="45720" anchor="ctr">
                    <a:solidFill>
                      <a:srgbClr val="EFF4F7"/>
                    </a:solidFill>
                  </a:tcPr>
                </a:tc>
              </a:tr>
            </a:tbl>
          </a:graphicData>
        </a:graphic>
      </p:graphicFrame>
      <p:sp>
        <p:nvSpPr>
          <p:cNvPr id="7" name="MK = ΔTK / ΔQ = 32 / 8">
            <a:extLst xmlns:a="http://schemas.openxmlformats.org/drawingml/2006/main">
              <a:ext uri="{FF2B5EF4-FFF2-40B4-BE49-F238E27FC236}">
                <a16:creationId xmlns:a16="http://schemas.microsoft.com/office/drawing/2014/main" id="{CDFECD1C-B6BE-45C9-B9A2-C42D783CC687}"/>
              </a:ext>
            </a:extLst>
          </p:cNvPr>
          <p:cNvSpPr>
            <a:spLocks xmlns:a="http://schemas.openxmlformats.org/drawingml/2006/main" noGrp="1"/>
          </p:cNvSpPr>
          <p:nvPr/>
        </p:nvSpPr>
        <p:spPr>
          <a:xfrm xmlns:a="http://schemas.openxmlformats.org/drawingml/2006/main">
            <a:off x="571500" y="5553075"/>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A94D16"/>
                </a:solidFill>
                <a:latin typeface="Arial"/>
                <a:ea typeface="Arial"/>
                <a:cs typeface="Arial"/>
              </a:defRPr>
            </a:pPr>
            <a:r>
              <a:rPr sz="3750" b="1">
                <a:solidFill>
                  <a:srgbClr val="A94D16"/>
                </a:solidFill>
                <a:latin typeface="Arial"/>
                <a:ea typeface="Arial"/>
                <a:cs typeface="Arial"/>
              </a:rPr>
              <a:t>MK = ΔTK / ΔQ = 32 / 8</a:t>
            </a:r>
          </a:p>
        </p:txBody>
      </p:sp>
      <p:sp>
        <p:nvSpPr>
          <p:cNvPr id="8" name="= € 4 per extra tas in de stap 4 → 12">
            <a:extLst xmlns:a="http://schemas.openxmlformats.org/drawingml/2006/main">
              <a:ext uri="{FF2B5EF4-FFF2-40B4-BE49-F238E27FC236}">
                <a16:creationId xmlns:a16="http://schemas.microsoft.com/office/drawing/2014/main" id="{692F5ACE-A8CA-4BCC-96A0-A6AD6366314D}"/>
              </a:ext>
            </a:extLst>
          </p:cNvPr>
          <p:cNvSpPr>
            <a:spLocks xmlns:a="http://schemas.openxmlformats.org/drawingml/2006/main" noGrp="1"/>
          </p:cNvSpPr>
          <p:nvPr/>
        </p:nvSpPr>
        <p:spPr>
          <a:xfrm xmlns:a="http://schemas.openxmlformats.org/drawingml/2006/main">
            <a:off x="571500" y="655320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 € 4 per extra tas in de stap 4 → 12</a:t>
            </a:r>
          </a:p>
        </p:txBody>
      </p:sp>
      <p:sp>
        <p:nvSpPr>
          <p:cNvPr id="9" name="De acht extra tassen kosten samen € 32.">
            <a:extLst xmlns:a="http://schemas.openxmlformats.org/drawingml/2006/main">
              <a:ext uri="{FF2B5EF4-FFF2-40B4-BE49-F238E27FC236}">
                <a16:creationId xmlns:a16="http://schemas.microsoft.com/office/drawing/2014/main" id="{B1B64968-50C4-4E26-A888-AC7187C10688}"/>
              </a:ext>
            </a:extLst>
          </p:cNvPr>
          <p:cNvSpPr>
            <a:spLocks xmlns:a="http://schemas.openxmlformats.org/drawingml/2006/main" noGrp="1"/>
          </p:cNvSpPr>
          <p:nvPr/>
        </p:nvSpPr>
        <p:spPr>
          <a:xfrm xmlns:a="http://schemas.openxmlformats.org/drawingml/2006/main">
            <a:off x="571500" y="75152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De acht extra tassen kosten samen € 32.</a:t>
            </a:r>
          </a:p>
        </p:txBody>
      </p:sp>
    </p:spTree>
    <p:extLst>
      <p:ext uri="{BB962C8B-B14F-4D97-AF65-F5344CB8AC3E}">
        <p14:creationId xmlns:p14="http://schemas.microsoft.com/office/powerpoint/2010/main" val="98691970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 · De extra opbrengst per extra tas">
            <a:extLst xmlns:a="http://schemas.openxmlformats.org/drawingml/2006/main">
              <a:ext uri="{FF2B5EF4-FFF2-40B4-BE49-F238E27FC236}">
                <a16:creationId xmlns:a16="http://schemas.microsoft.com/office/drawing/2014/main" id="{B72558ED-C858-41B6-99BD-E096E02EA7D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MO · De extra opbrengst per extra tas</a:t>
            </a:r>
          </a:p>
        </p:txBody>
      </p:sp>
      <p:sp>
        <p:nvSpPr>
          <p:cNvPr id="2" name="">
            <a:extLst xmlns:a="http://schemas.openxmlformats.org/drawingml/2006/main">
              <a:ext uri="{FF2B5EF4-FFF2-40B4-BE49-F238E27FC236}">
                <a16:creationId xmlns:a16="http://schemas.microsoft.com/office/drawing/2014/main" id="{C7A8B8D7-0316-4507-A389-095D0A10185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Marginale kosten en marginale opbrengsten">
            <a:extLst xmlns:a="http://schemas.openxmlformats.org/drawingml/2006/main">
              <a:ext uri="{FF2B5EF4-FFF2-40B4-BE49-F238E27FC236}">
                <a16:creationId xmlns:a16="http://schemas.microsoft.com/office/drawing/2014/main" id="{B02557CB-62A3-48B5-A78D-CE1A06C4D92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Marginale kosten en marginale opbrengsten</a:t>
            </a:r>
          </a:p>
        </p:txBody>
      </p:sp>
      <p:sp>
        <p:nvSpPr>
          <p:cNvPr id="4" name="slide-number">
            <a:extLst xmlns:a="http://schemas.openxmlformats.org/drawingml/2006/main">
              <a:ext uri="{FF2B5EF4-FFF2-40B4-BE49-F238E27FC236}">
                <a16:creationId xmlns:a16="http://schemas.microsoft.com/office/drawing/2014/main" id="{4C645C40-4900-41AD-8EF4-FB942CBC92E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Uitlegvoorbeeld — niet uit het boek · TasDruk">
            <a:extLst xmlns:a="http://schemas.openxmlformats.org/drawingml/2006/main">
              <a:ext uri="{FF2B5EF4-FFF2-40B4-BE49-F238E27FC236}">
                <a16:creationId xmlns:a16="http://schemas.microsoft.com/office/drawing/2014/main" id="{3629D53B-3632-432C-86B7-7A8514905716}"/>
              </a:ext>
            </a:extLst>
          </p:cNvPr>
          <p:cNvSpPr>
            <a:spLocks xmlns:a="http://schemas.openxmlformats.org/drawingml/2006/main" noGrp="1"/>
          </p:cNvSpPr>
          <p:nvPr/>
        </p:nvSpPr>
        <p:spPr>
          <a:xfrm xmlns:a="http://schemas.openxmlformats.org/drawingml/2006/main">
            <a:off x="571500" y="16478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 · TasDruk</a:t>
            </a:r>
          </a:p>
        </p:txBody>
      </p:sp>
      <p:sp>
        <p:nvSpPr>
          <p:cNvPr id="6" name="Dezelfde stap: 4 → 12 tassen per week">
            <a:extLst xmlns:a="http://schemas.openxmlformats.org/drawingml/2006/main">
              <a:ext uri="{FF2B5EF4-FFF2-40B4-BE49-F238E27FC236}">
                <a16:creationId xmlns:a16="http://schemas.microsoft.com/office/drawing/2014/main" id="{1AE48C35-B3C4-4CF2-9EE4-D096B231913A}"/>
              </a:ext>
            </a:extLst>
          </p:cNvPr>
          <p:cNvSpPr>
            <a:spLocks xmlns:a="http://schemas.openxmlformats.org/drawingml/2006/main" noGrp="1"/>
          </p:cNvSpPr>
          <p:nvPr/>
        </p:nvSpPr>
        <p:spPr>
          <a:xfrm xmlns:a="http://schemas.openxmlformats.org/drawingml/2006/main">
            <a:off x="571500" y="238125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Dezelfde stap: 4 → 12 tassen per week</a:t>
            </a:r>
          </a:p>
        </p:txBody>
      </p:sp>
      <p:sp>
        <p:nvSpPr>
          <p:cNvPr id="7" name="ΔTO = 132 − 44 = € 88">
            <a:extLst xmlns:a="http://schemas.openxmlformats.org/drawingml/2006/main">
              <a:ext uri="{FF2B5EF4-FFF2-40B4-BE49-F238E27FC236}">
                <a16:creationId xmlns:a16="http://schemas.microsoft.com/office/drawing/2014/main" id="{98A89395-CFA7-4A95-89AA-BF15C4129854}"/>
              </a:ext>
            </a:extLst>
          </p:cNvPr>
          <p:cNvSpPr>
            <a:spLocks xmlns:a="http://schemas.openxmlformats.org/drawingml/2006/main" noGrp="1"/>
          </p:cNvSpPr>
          <p:nvPr/>
        </p:nvSpPr>
        <p:spPr>
          <a:xfrm xmlns:a="http://schemas.openxmlformats.org/drawingml/2006/main">
            <a:off x="571500" y="342900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0">
                <a:solidFill>
                  <a:srgbClr val="183247"/>
                </a:solidFill>
                <a:latin typeface="Arial"/>
                <a:ea typeface="Arial"/>
                <a:cs typeface="Arial"/>
              </a:defRPr>
            </a:pPr>
            <a:r>
              <a:rPr sz="3675" b="0">
                <a:solidFill>
                  <a:srgbClr val="183247"/>
                </a:solidFill>
                <a:latin typeface="Arial"/>
                <a:ea typeface="Arial"/>
                <a:cs typeface="Arial"/>
              </a:rPr>
              <a:t>ΔTO = 132 − 44 = € 88</a:t>
            </a:r>
          </a:p>
        </p:txBody>
      </p:sp>
      <p:sp>
        <p:nvSpPr>
          <p:cNvPr id="8" name="MO = ΔTO / ΔQ = 88 / 8">
            <a:extLst xmlns:a="http://schemas.openxmlformats.org/drawingml/2006/main">
              <a:ext uri="{FF2B5EF4-FFF2-40B4-BE49-F238E27FC236}">
                <a16:creationId xmlns:a16="http://schemas.microsoft.com/office/drawing/2014/main" id="{41BA30F1-6F3E-479B-B177-26AAE93B940F}"/>
              </a:ext>
            </a:extLst>
          </p:cNvPr>
          <p:cNvSpPr>
            <a:spLocks xmlns:a="http://schemas.openxmlformats.org/drawingml/2006/main" noGrp="1"/>
          </p:cNvSpPr>
          <p:nvPr/>
        </p:nvSpPr>
        <p:spPr>
          <a:xfrm xmlns:a="http://schemas.openxmlformats.org/drawingml/2006/main">
            <a:off x="571500" y="445770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MO = ΔTO / ΔQ = 88 / 8</a:t>
            </a:r>
          </a:p>
        </p:txBody>
      </p:sp>
      <p:sp>
        <p:nvSpPr>
          <p:cNvPr id="9" name="= € 11 per extra verkochte tas">
            <a:extLst xmlns:a="http://schemas.openxmlformats.org/drawingml/2006/main">
              <a:ext uri="{FF2B5EF4-FFF2-40B4-BE49-F238E27FC236}">
                <a16:creationId xmlns:a16="http://schemas.microsoft.com/office/drawing/2014/main" id="{8510D6EE-77BF-4B0C-9DFE-D0B1A1D7440B}"/>
              </a:ext>
            </a:extLst>
          </p:cNvPr>
          <p:cNvSpPr>
            <a:spLocks xmlns:a="http://schemas.openxmlformats.org/drawingml/2006/main" noGrp="1"/>
          </p:cNvSpPr>
          <p:nvPr/>
        </p:nvSpPr>
        <p:spPr>
          <a:xfrm xmlns:a="http://schemas.openxmlformats.org/drawingml/2006/main">
            <a:off x="571500" y="55054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7658A"/>
                </a:solidFill>
                <a:latin typeface="Arial"/>
                <a:ea typeface="Arial"/>
                <a:cs typeface="Arial"/>
              </a:defRPr>
            </a:pPr>
            <a:r>
              <a:rPr sz="3675" b="1">
                <a:solidFill>
                  <a:srgbClr val="17658A"/>
                </a:solidFill>
                <a:latin typeface="Arial"/>
                <a:ea typeface="Arial"/>
                <a:cs typeface="Arial"/>
              </a:rPr>
              <a:t>= € 11 per extra verkochte tas</a:t>
            </a:r>
          </a:p>
        </p:txBody>
      </p:sp>
      <p:sp>
        <p:nvSpPr>
          <p:cNvPr id="10" name="">
            <a:extLst xmlns:a="http://schemas.openxmlformats.org/drawingml/2006/main">
              <a:ext uri="{FF2B5EF4-FFF2-40B4-BE49-F238E27FC236}">
                <a16:creationId xmlns:a16="http://schemas.microsoft.com/office/drawing/2014/main" id="{B906F6C5-1CE6-4E75-BD95-FF24F5B01E6A}"/>
              </a:ext>
            </a:extLst>
          </p:cNvPr>
          <p:cNvSpPr>
            <a:spLocks xmlns:a="http://schemas.openxmlformats.org/drawingml/2006/main" noGrp="1"/>
          </p:cNvSpPr>
          <p:nvPr/>
        </p:nvSpPr>
        <p:spPr>
          <a:xfrm xmlns:a="http://schemas.openxmlformats.org/drawingml/2006/main">
            <a:off x="571500" y="6677025"/>
            <a:ext cx="14097000" cy="0"/>
          </a:xfrm>
          <a:prstGeom xmlns:a="http://schemas.openxmlformats.org/drawingml/2006/main" prst="line">
            <a:avLst/>
          </a:prstGeom>
          <a:ln xmlns:a="http://schemas.openxmlformats.org/drawingml/2006/main" w="19050">
            <a:solidFill>
              <a:srgbClr val="C6D2DB"/>
            </a:solidFill>
          </a:ln>
        </p:spPr>
      </p:sp>
      <p:sp>
        <p:nvSpPr>
          <p:cNvPr id="11" name="Vaste verkoopprijs → constante MO">
            <a:extLst xmlns:a="http://schemas.openxmlformats.org/drawingml/2006/main">
              <a:ext uri="{FF2B5EF4-FFF2-40B4-BE49-F238E27FC236}">
                <a16:creationId xmlns:a16="http://schemas.microsoft.com/office/drawing/2014/main" id="{62F1E180-94F8-4BA0-970B-682A3CC4D6AD}"/>
              </a:ext>
            </a:extLst>
          </p:cNvPr>
          <p:cNvSpPr>
            <a:spLocks xmlns:a="http://schemas.openxmlformats.org/drawingml/2006/main" noGrp="1"/>
          </p:cNvSpPr>
          <p:nvPr/>
        </p:nvSpPr>
        <p:spPr>
          <a:xfrm xmlns:a="http://schemas.openxmlformats.org/drawingml/2006/main">
            <a:off x="571500" y="705802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0665B"/>
                </a:solidFill>
                <a:latin typeface="Arial"/>
                <a:ea typeface="Arial"/>
                <a:cs typeface="Arial"/>
              </a:defRPr>
            </a:pPr>
            <a:r>
              <a:rPr sz="3300" b="1">
                <a:solidFill>
                  <a:srgbClr val="20665B"/>
                </a:solidFill>
                <a:latin typeface="Arial"/>
                <a:ea typeface="Arial"/>
                <a:cs typeface="Arial"/>
              </a:rPr>
              <a:t>Vaste verkoopprijs → constante MO</a:t>
            </a:r>
          </a:p>
        </p:txBody>
      </p:sp>
    </p:spTree>
    <p:extLst>
      <p:ext uri="{BB962C8B-B14F-4D97-AF65-F5344CB8AC3E}">
        <p14:creationId xmlns:p14="http://schemas.microsoft.com/office/powerpoint/2010/main" val="22131859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lke uitkomst hoort bij een tabelstap">
            <a:extLst xmlns:a="http://schemas.openxmlformats.org/drawingml/2006/main">
              <a:ext uri="{FF2B5EF4-FFF2-40B4-BE49-F238E27FC236}">
                <a16:creationId xmlns:a16="http://schemas.microsoft.com/office/drawing/2014/main" id="{A0FC3344-6525-458F-B38A-1BAB2A9BC0E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Elke uitkomst hoort bij een tabelstap</a:t>
            </a:r>
          </a:p>
        </p:txBody>
      </p:sp>
      <p:sp>
        <p:nvSpPr>
          <p:cNvPr id="2" name="">
            <a:extLst xmlns:a="http://schemas.openxmlformats.org/drawingml/2006/main">
              <a:ext uri="{FF2B5EF4-FFF2-40B4-BE49-F238E27FC236}">
                <a16:creationId xmlns:a16="http://schemas.microsoft.com/office/drawing/2014/main" id="{59E88A96-E4CF-4C44-BB73-E3FD0205FA2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Marginale kosten en marginale opbrengsten">
            <a:extLst xmlns:a="http://schemas.openxmlformats.org/drawingml/2006/main">
              <a:ext uri="{FF2B5EF4-FFF2-40B4-BE49-F238E27FC236}">
                <a16:creationId xmlns:a16="http://schemas.microsoft.com/office/drawing/2014/main" id="{41273416-D821-4321-AED9-9CEB273C968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Marginale kosten en marginale opbrengsten</a:t>
            </a:r>
          </a:p>
        </p:txBody>
      </p:sp>
      <p:sp>
        <p:nvSpPr>
          <p:cNvPr id="4" name="slide-number">
            <a:extLst xmlns:a="http://schemas.openxmlformats.org/drawingml/2006/main">
              <a:ext uri="{FF2B5EF4-FFF2-40B4-BE49-F238E27FC236}">
                <a16:creationId xmlns:a16="http://schemas.microsoft.com/office/drawing/2014/main" id="{1A21362B-243C-430F-91E4-C4003650C8A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Uitlegvoorbeeld — niet uit het boek · TasDruk">
            <a:extLst xmlns:a="http://schemas.openxmlformats.org/drawingml/2006/main">
              <a:ext uri="{FF2B5EF4-FFF2-40B4-BE49-F238E27FC236}">
                <a16:creationId xmlns:a16="http://schemas.microsoft.com/office/drawing/2014/main" id="{BB678A4D-63E5-4EEE-90EE-D92F636D4DE5}"/>
              </a:ext>
            </a:extLst>
          </p:cNvPr>
          <p:cNvSpPr>
            <a:spLocks xmlns:a="http://schemas.openxmlformats.org/drawingml/2006/main" noGrp="1"/>
          </p:cNvSpPr>
          <p:nvPr/>
        </p:nvSpPr>
        <p:spPr>
          <a:xfrm xmlns:a="http://schemas.openxmlformats.org/drawingml/2006/main">
            <a:off x="571500" y="16478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 · TasDruk</a:t>
            </a:r>
          </a:p>
        </p:txBody>
      </p:sp>
      <p:graphicFrame>
        <p:nvGraphicFramePr>
          <p:cNvPr id="14" name=""/>
          <p:cNvGraphicFramePr/>
          <p:nvPr/>
        </p:nvGraphicFramePr>
        <p:xfrm>
          <a:off xmlns:a="http://schemas.openxmlformats.org/drawingml/2006/main" x="571500" y="2476500"/>
          <a:ext xmlns:a="http://schemas.openxmlformats.org/drawingml/2006/main" cx="14097000" cy="3390900"/>
        </p:xfrm>
        <a:graphic xmlns:a="http://schemas.openxmlformats.org/drawingml/2006/main">
          <a:graphicData uri="http://schemas.openxmlformats.org/drawingml/2006/table">
            <a:tbl>
              <a:tblPr/>
              <a:tblGrid>
                <a:gridCol w="2619375"/>
                <a:gridCol w="3286125"/>
                <a:gridCol w="1333500"/>
                <a:gridCol w="3429000"/>
                <a:gridCol w="3429000"/>
              </a:tblGrid>
              <a:tr h="847725">
                <a:tc>
                  <a:txBody>
                    <a:bodyPr lIns="152400" tIns="76200" rIns="133350" bIns="76200"/>
                    <a:lstStyle/>
                    <a:p>
                      <a:r>
                        <a:rPr sz="2400" b="1">
                          <a:solidFill>
                            <a:srgbClr val="FFFFFF"/>
                          </a:solidFill>
                          <a:latin typeface="Arial"/>
                          <a:ea typeface="Arial"/>
                          <a:cs typeface="Arial"/>
                        </a:rPr>
                        <a:t>Laatste rij Q</a:t>
                      </a:r>
                    </a:p>
                  </a:txBody>
                  <a:tcPr marL="91440" marR="91440" marT="45720" marB="45720" anchor="ctr">
                    <a:solidFill>
                      <a:srgbClr val="183247"/>
                    </a:solidFill>
                  </a:tcPr>
                </a:tc>
                <a:tc>
                  <a:txBody>
                    <a:bodyPr lIns="152400" tIns="76200" rIns="133350" bIns="76200"/>
                    <a:lstStyle/>
                    <a:p>
                      <a:r>
                        <a:rPr sz="2400" b="1">
                          <a:solidFill>
                            <a:srgbClr val="FFFFFF"/>
                          </a:solidFill>
                          <a:latin typeface="Arial"/>
                          <a:ea typeface="Arial"/>
                          <a:cs typeface="Arial"/>
                        </a:rPr>
                        <a:t>Bijbehorende stap</a:t>
                      </a:r>
                    </a:p>
                  </a:txBody>
                  <a:tcPr marL="91440" marR="91440" marT="45720" marB="45720" anchor="ctr">
                    <a:solidFill>
                      <a:srgbClr val="183247"/>
                    </a:solidFill>
                  </a:tcPr>
                </a:tc>
                <a:tc>
                  <a:txBody>
                    <a:bodyPr lIns="152400" tIns="76200" rIns="133350" bIns="76200"/>
                    <a:lstStyle/>
                    <a:p>
                      <a:r>
                        <a:rPr sz="2400" b="1">
                          <a:solidFill>
                            <a:srgbClr val="FFFFFF"/>
                          </a:solidFill>
                          <a:latin typeface="Arial"/>
                          <a:ea typeface="Arial"/>
                          <a:cs typeface="Arial"/>
                        </a:rPr>
                        <a:t>ΔQ</a:t>
                      </a:r>
                    </a:p>
                  </a:txBody>
                  <a:tcPr marL="91440" marR="91440" marT="45720" marB="45720" anchor="ctr">
                    <a:solidFill>
                      <a:srgbClr val="183247"/>
                    </a:solidFill>
                  </a:tcPr>
                </a:tc>
                <a:tc>
                  <a:txBody>
                    <a:bodyPr lIns="152400" tIns="76200" rIns="133350" bIns="76200"/>
                    <a:lstStyle/>
                    <a:p>
                      <a:r>
                        <a:rPr sz="2400" b="1">
                          <a:solidFill>
                            <a:srgbClr val="FFFFFF"/>
                          </a:solidFill>
                          <a:latin typeface="Arial"/>
                          <a:ea typeface="Arial"/>
                          <a:cs typeface="Arial"/>
                        </a:rPr>
                        <a:t>MK (€ per extra tas)</a:t>
                      </a:r>
                    </a:p>
                  </a:txBody>
                  <a:tcPr marL="91440" marR="91440" marT="45720" marB="45720" anchor="ctr">
                    <a:solidFill>
                      <a:srgbClr val="183247"/>
                    </a:solidFill>
                  </a:tcPr>
                </a:tc>
                <a:tc>
                  <a:txBody>
                    <a:bodyPr lIns="152400" tIns="76200" rIns="133350" bIns="76200"/>
                    <a:lstStyle/>
                    <a:p>
                      <a:r>
                        <a:rPr sz="2400" b="1">
                          <a:solidFill>
                            <a:srgbClr val="FFFFFF"/>
                          </a:solidFill>
                          <a:latin typeface="Arial"/>
                          <a:ea typeface="Arial"/>
                          <a:cs typeface="Arial"/>
                        </a:rPr>
                        <a:t>MO (€ per extra tas)</a:t>
                      </a:r>
                    </a:p>
                  </a:txBody>
                  <a:tcPr marL="91440" marR="91440" marT="45720" marB="45720" anchor="ctr">
                    <a:solidFill>
                      <a:srgbClr val="183247"/>
                    </a:solidFill>
                  </a:tcPr>
                </a:tc>
              </a:tr>
              <a:tr h="847725">
                <a:tc>
                  <a:txBody>
                    <a:bodyPr lIns="152400" tIns="76200" rIns="133350" bIns="76200"/>
                    <a:lstStyle/>
                    <a:p>
                      <a:r>
                        <a:rPr sz="2400" b="0">
                          <a:solidFill>
                            <a:srgbClr val="183247"/>
                          </a:solidFill>
                          <a:latin typeface="Arial"/>
                          <a:ea typeface="Arial"/>
                          <a:cs typeface="Arial"/>
                        </a:rPr>
                        <a:t>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FFFFFF"/>
                    </a:solidFill>
                  </a:tcPr>
                </a:tc>
              </a:tr>
              <a:tr h="847725">
                <a:tc>
                  <a:txBody>
                    <a:bodyPr lIns="152400" tIns="76200" rIns="133350" bIns="76200"/>
                    <a:lstStyle/>
                    <a:p>
                      <a:r>
                        <a:rPr sz="2400" b="0">
                          <a:solidFill>
                            <a:srgbClr val="183247"/>
                          </a:solidFill>
                          <a:latin typeface="Arial"/>
                          <a:ea typeface="Arial"/>
                          <a:cs typeface="Arial"/>
                        </a:rPr>
                        <a:t>4</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0 → 4</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4</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16 / 4 = 4</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44 / 4 = 11</a:t>
                      </a:r>
                    </a:p>
                  </a:txBody>
                  <a:tcPr marL="91440" marR="91440" marT="45720" marB="45720" anchor="ctr">
                    <a:solidFill>
                      <a:srgbClr val="EFF4F7"/>
                    </a:solidFill>
                  </a:tcPr>
                </a:tc>
              </a:tr>
              <a:tr h="847725">
                <a:tc>
                  <a:txBody>
                    <a:bodyPr lIns="152400" tIns="76200" rIns="133350" bIns="76200"/>
                    <a:lstStyle/>
                    <a:p>
                      <a:r>
                        <a:rPr sz="2400" b="0">
                          <a:solidFill>
                            <a:srgbClr val="183247"/>
                          </a:solidFill>
                          <a:latin typeface="Arial"/>
                          <a:ea typeface="Arial"/>
                          <a:cs typeface="Arial"/>
                        </a:rPr>
                        <a:t>12</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4 → 12</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8</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32 / 8 = 4</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88 / 8 = 11</a:t>
                      </a:r>
                    </a:p>
                  </a:txBody>
                  <a:tcPr marL="91440" marR="91440" marT="45720" marB="45720" anchor="ctr">
                    <a:solidFill>
                      <a:srgbClr val="FFFFFF"/>
                    </a:solidFill>
                  </a:tcPr>
                </a:tc>
              </a:tr>
            </a:tbl>
          </a:graphicData>
        </a:graphic>
      </p:graphicFrame>
      <p:sp>
        <p:nvSpPr>
          <p:cNvPr id="7" name="Grotere stap, dezelfde MK en MO">
            <a:extLst xmlns:a="http://schemas.openxmlformats.org/drawingml/2006/main">
              <a:ext uri="{FF2B5EF4-FFF2-40B4-BE49-F238E27FC236}">
                <a16:creationId xmlns:a16="http://schemas.microsoft.com/office/drawing/2014/main" id="{D11A9C06-0778-42D9-BC9D-2482ED8987C3}"/>
              </a:ext>
            </a:extLst>
          </p:cNvPr>
          <p:cNvSpPr>
            <a:spLocks xmlns:a="http://schemas.openxmlformats.org/drawingml/2006/main" noGrp="1"/>
          </p:cNvSpPr>
          <p:nvPr/>
        </p:nvSpPr>
        <p:spPr>
          <a:xfrm xmlns:a="http://schemas.openxmlformats.org/drawingml/2006/main">
            <a:off x="571500" y="6305550"/>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665B"/>
                </a:solidFill>
                <a:latin typeface="Arial"/>
                <a:ea typeface="Arial"/>
                <a:cs typeface="Arial"/>
              </a:defRPr>
            </a:pPr>
            <a:r>
              <a:rPr sz="3375" b="1">
                <a:solidFill>
                  <a:srgbClr val="20665B"/>
                </a:solidFill>
                <a:latin typeface="Arial"/>
                <a:ea typeface="Arial"/>
                <a:cs typeface="Arial"/>
              </a:rPr>
              <a:t>Grotere stap, dezelfde MK en MO</a:t>
            </a:r>
          </a:p>
        </p:txBody>
      </p:sp>
      <p:sp>
        <p:nvSpPr>
          <p:cNvPr id="8" name="Bij de eerste rij: — betekent “geen vorige tabelrij”.">
            <a:extLst xmlns:a="http://schemas.openxmlformats.org/drawingml/2006/main">
              <a:ext uri="{FF2B5EF4-FFF2-40B4-BE49-F238E27FC236}">
                <a16:creationId xmlns:a16="http://schemas.microsoft.com/office/drawing/2014/main" id="{4E05FAA5-02C7-4F13-95A7-7104D99EAFA9}"/>
              </a:ext>
            </a:extLst>
          </p:cNvPr>
          <p:cNvSpPr>
            <a:spLocks xmlns:a="http://schemas.openxmlformats.org/drawingml/2006/main" noGrp="1"/>
          </p:cNvSpPr>
          <p:nvPr/>
        </p:nvSpPr>
        <p:spPr>
          <a:xfrm xmlns:a="http://schemas.openxmlformats.org/drawingml/2006/main">
            <a:off x="571500" y="73342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Bij de eerste rij: — betekent “geen vorige tabelrij”.</a:t>
            </a:r>
          </a:p>
        </p:txBody>
      </p:sp>
    </p:spTree>
    <p:extLst>
      <p:ext uri="{BB962C8B-B14F-4D97-AF65-F5344CB8AC3E}">
        <p14:creationId xmlns:p14="http://schemas.microsoft.com/office/powerpoint/2010/main" val="14937668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tudio Reliëf · Kosten die sneller stijgen">
            <a:extLst xmlns:a="http://schemas.openxmlformats.org/drawingml/2006/main">
              <a:ext uri="{FF2B5EF4-FFF2-40B4-BE49-F238E27FC236}">
                <a16:creationId xmlns:a16="http://schemas.microsoft.com/office/drawing/2014/main" id="{CF92B3A5-3973-439F-A63A-57B4C24CB99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Studio Reliëf · Kosten die sneller stijgen</a:t>
            </a:r>
          </a:p>
        </p:txBody>
      </p:sp>
      <p:sp>
        <p:nvSpPr>
          <p:cNvPr id="2" name="">
            <a:extLst xmlns:a="http://schemas.openxmlformats.org/drawingml/2006/main">
              <a:ext uri="{FF2B5EF4-FFF2-40B4-BE49-F238E27FC236}">
                <a16:creationId xmlns:a16="http://schemas.microsoft.com/office/drawing/2014/main" id="{7C1E9951-6941-47E2-B5DD-3ADF96B70C3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Marginale kosten en marginale opbrengsten">
            <a:extLst xmlns:a="http://schemas.openxmlformats.org/drawingml/2006/main">
              <a:ext uri="{FF2B5EF4-FFF2-40B4-BE49-F238E27FC236}">
                <a16:creationId xmlns:a16="http://schemas.microsoft.com/office/drawing/2014/main" id="{763CA078-345A-4088-9D94-2BCB008A846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Marginale kosten en marginale opbrengsten</a:t>
            </a:r>
          </a:p>
        </p:txBody>
      </p:sp>
      <p:sp>
        <p:nvSpPr>
          <p:cNvPr id="4" name="slide-number">
            <a:extLst xmlns:a="http://schemas.openxmlformats.org/drawingml/2006/main">
              <a:ext uri="{FF2B5EF4-FFF2-40B4-BE49-F238E27FC236}">
                <a16:creationId xmlns:a16="http://schemas.microsoft.com/office/drawing/2014/main" id="{DF3B0650-E8E2-4D15-8FBC-CBDDB85C218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 Studio Reliëf">
            <a:extLst xmlns:a="http://schemas.openxmlformats.org/drawingml/2006/main">
              <a:ext uri="{FF2B5EF4-FFF2-40B4-BE49-F238E27FC236}">
                <a16:creationId xmlns:a16="http://schemas.microsoft.com/office/drawing/2014/main" id="{9D027824-F91A-48BF-BE23-96CC24FC505F}"/>
              </a:ext>
            </a:extLst>
          </p:cNvPr>
          <p:cNvSpPr>
            <a:spLocks xmlns:a="http://schemas.openxmlformats.org/drawingml/2006/main" noGrp="1"/>
          </p:cNvSpPr>
          <p:nvPr/>
        </p:nvSpPr>
        <p:spPr>
          <a:xfrm xmlns:a="http://schemas.openxmlformats.org/drawingml/2006/main">
            <a:off x="571500" y="16478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 · Studio Reliëf</a:t>
            </a:r>
          </a:p>
        </p:txBody>
      </p:sp>
      <p:sp>
        <p:nvSpPr>
          <p:cNvPr id="6" name="TK = 32 + 2Q²     TO = 26Q">
            <a:extLst xmlns:a="http://schemas.openxmlformats.org/drawingml/2006/main">
              <a:ext uri="{FF2B5EF4-FFF2-40B4-BE49-F238E27FC236}">
                <a16:creationId xmlns:a16="http://schemas.microsoft.com/office/drawing/2014/main" id="{6F9D42E7-A6D8-4D27-B390-347FB871BBF4}"/>
              </a:ext>
            </a:extLst>
          </p:cNvPr>
          <p:cNvSpPr>
            <a:spLocks xmlns:a="http://schemas.openxmlformats.org/drawingml/2006/main" noGrp="1"/>
          </p:cNvSpPr>
          <p:nvPr/>
        </p:nvSpPr>
        <p:spPr>
          <a:xfrm xmlns:a="http://schemas.openxmlformats.org/drawingml/2006/main">
            <a:off x="571500" y="23622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TK = 32 + 2Q²     TO = 26Q</a:t>
            </a:r>
          </a:p>
        </p:txBody>
      </p:sp>
      <p:sp>
        <p:nvSpPr>
          <p:cNvPr id="7" name="Q: tegels per week. Capaciteit: 6. Alle tegels worden verkocht.">
            <a:extLst xmlns:a="http://schemas.openxmlformats.org/drawingml/2006/main">
              <a:ext uri="{FF2B5EF4-FFF2-40B4-BE49-F238E27FC236}">
                <a16:creationId xmlns:a16="http://schemas.microsoft.com/office/drawing/2014/main" id="{E1102B31-4099-47E4-8CD8-4B7607FC502E}"/>
              </a:ext>
            </a:extLst>
          </p:cNvPr>
          <p:cNvSpPr>
            <a:spLocks xmlns:a="http://schemas.openxmlformats.org/drawingml/2006/main" noGrp="1"/>
          </p:cNvSpPr>
          <p:nvPr/>
        </p:nvSpPr>
        <p:spPr>
          <a:xfrm xmlns:a="http://schemas.openxmlformats.org/drawingml/2006/main">
            <a:off x="571500" y="3190875"/>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tegels per week. Capaciteit: 6. Alle tegels worden verkocht.</a:t>
            </a:r>
          </a:p>
        </p:txBody>
      </p:sp>
      <p:graphicFrame>
        <p:nvGraphicFramePr>
          <p:cNvPr id="17" name=""/>
          <p:cNvGraphicFramePr/>
          <p:nvPr/>
        </p:nvGraphicFramePr>
        <p:xfrm>
          <a:off xmlns:a="http://schemas.openxmlformats.org/drawingml/2006/main" x="571500" y="4105275"/>
          <a:ext xmlns:a="http://schemas.openxmlformats.org/drawingml/2006/main" cx="14097000" cy="2857500"/>
        </p:xfrm>
        <a:graphic xmlns:a="http://schemas.openxmlformats.org/drawingml/2006/main">
          <a:graphicData uri="http://schemas.openxmlformats.org/drawingml/2006/table">
            <a:tbl>
              <a:tblPr/>
              <a:tblGrid>
                <a:gridCol w="4667250"/>
                <a:gridCol w="4714875"/>
                <a:gridCol w="4714875"/>
              </a:tblGrid>
              <a:tr h="571500">
                <a:tc>
                  <a:txBody>
                    <a:bodyPr lIns="152400" tIns="76200" rIns="133350" bIns="76200"/>
                    <a:lstStyle/>
                    <a:p>
                      <a:r>
                        <a:rPr sz="2475" b="1">
                          <a:solidFill>
                            <a:srgbClr val="FFFFFF"/>
                          </a:solidFill>
                          <a:latin typeface="Arial"/>
                          <a:ea typeface="Arial"/>
                          <a:cs typeface="Arial"/>
                        </a:rPr>
                        <a:t>Q (tegels per week)</a:t>
                      </a:r>
                    </a:p>
                  </a:txBody>
                  <a:tcPr marL="91440" marR="91440" marT="45720" marB="45720" anchor="ctr">
                    <a:solidFill>
                      <a:srgbClr val="183247"/>
                    </a:solidFill>
                  </a:tcPr>
                </a:tc>
                <a:tc>
                  <a:txBody>
                    <a:bodyPr lIns="152400" tIns="76200" rIns="133350" bIns="76200"/>
                    <a:lstStyle/>
                    <a:p>
                      <a:r>
                        <a:rPr sz="2475" b="1">
                          <a:solidFill>
                            <a:srgbClr val="FFFFFF"/>
                          </a:solidFill>
                          <a:latin typeface="Arial"/>
                          <a:ea typeface="Arial"/>
                          <a:cs typeface="Arial"/>
                        </a:rPr>
                        <a:t>TK (€ per week)</a:t>
                      </a:r>
                    </a:p>
                  </a:txBody>
                  <a:tcPr marL="91440" marR="91440" marT="45720" marB="45720" anchor="ctr">
                    <a:solidFill>
                      <a:srgbClr val="183247"/>
                    </a:solidFill>
                  </a:tcPr>
                </a:tc>
                <a:tc>
                  <a:txBody>
                    <a:bodyPr lIns="152400" tIns="76200" rIns="133350" bIns="76200"/>
                    <a:lstStyle/>
                    <a:p>
                      <a:r>
                        <a:rPr sz="2475" b="1">
                          <a:solidFill>
                            <a:srgbClr val="FFFFFF"/>
                          </a:solidFill>
                          <a:latin typeface="Arial"/>
                          <a:ea typeface="Arial"/>
                          <a:cs typeface="Arial"/>
                        </a:rPr>
                        <a:t>TO (€ per week)</a:t>
                      </a:r>
                    </a:p>
                  </a:txBody>
                  <a:tcPr marL="91440" marR="91440" marT="45720" marB="45720" anchor="ctr">
                    <a:solidFill>
                      <a:srgbClr val="183247"/>
                    </a:solidFill>
                  </a:tcPr>
                </a:tc>
              </a:tr>
              <a:tr h="571500">
                <a:tc>
                  <a:txBody>
                    <a:bodyPr lIns="152400" tIns="76200" rIns="133350" bIns="76200"/>
                    <a:lstStyle/>
                    <a:p>
                      <a:r>
                        <a:rPr sz="2475" b="0">
                          <a:solidFill>
                            <a:srgbClr val="183247"/>
                          </a:solidFill>
                          <a:latin typeface="Arial"/>
                          <a:ea typeface="Arial"/>
                          <a:cs typeface="Arial"/>
                        </a:rPr>
                        <a:t>0</a:t>
                      </a:r>
                    </a:p>
                  </a:txBody>
                  <a:tcPr marL="91440" marR="91440" marT="45720" marB="45720" anchor="ctr">
                    <a:solidFill>
                      <a:srgbClr val="FFFFFF"/>
                    </a:solidFill>
                  </a:tcPr>
                </a:tc>
                <a:tc>
                  <a:txBody>
                    <a:bodyPr lIns="152400" tIns="76200" rIns="133350" bIns="76200"/>
                    <a:lstStyle/>
                    <a:p>
                      <a:r>
                        <a:rPr sz="2475" b="0">
                          <a:solidFill>
                            <a:srgbClr val="183247"/>
                          </a:solidFill>
                          <a:latin typeface="Arial"/>
                          <a:ea typeface="Arial"/>
                          <a:cs typeface="Arial"/>
                        </a:rPr>
                        <a:t>32</a:t>
                      </a:r>
                    </a:p>
                  </a:txBody>
                  <a:tcPr marL="91440" marR="91440" marT="45720" marB="45720" anchor="ctr">
                    <a:solidFill>
                      <a:srgbClr val="FFFFFF"/>
                    </a:solidFill>
                  </a:tcPr>
                </a:tc>
                <a:tc>
                  <a:txBody>
                    <a:bodyPr lIns="152400" tIns="76200" rIns="133350" bIns="76200"/>
                    <a:lstStyle/>
                    <a:p>
                      <a:r>
                        <a:rPr sz="2475" b="0">
                          <a:solidFill>
                            <a:srgbClr val="183247"/>
                          </a:solidFill>
                          <a:latin typeface="Arial"/>
                          <a:ea typeface="Arial"/>
                          <a:cs typeface="Arial"/>
                        </a:rPr>
                        <a:t>0</a:t>
                      </a:r>
                    </a:p>
                  </a:txBody>
                  <a:tcPr marL="91440" marR="91440" marT="45720" marB="45720" anchor="ctr">
                    <a:solidFill>
                      <a:srgbClr val="FFFFFF"/>
                    </a:solidFill>
                  </a:tcPr>
                </a:tc>
              </a:tr>
              <a:tr h="571500">
                <a:tc>
                  <a:txBody>
                    <a:bodyPr lIns="152400" tIns="76200" rIns="133350" bIns="76200"/>
                    <a:lstStyle/>
                    <a:p>
                      <a:r>
                        <a:rPr sz="2475" b="0">
                          <a:solidFill>
                            <a:srgbClr val="183247"/>
                          </a:solidFill>
                          <a:latin typeface="Arial"/>
                          <a:ea typeface="Arial"/>
                          <a:cs typeface="Arial"/>
                        </a:rPr>
                        <a:t>2</a:t>
                      </a:r>
                    </a:p>
                  </a:txBody>
                  <a:tcPr marL="91440" marR="91440" marT="45720" marB="45720" anchor="ctr">
                    <a:solidFill>
                      <a:srgbClr val="EFF4F7"/>
                    </a:solidFill>
                  </a:tcPr>
                </a:tc>
                <a:tc>
                  <a:txBody>
                    <a:bodyPr lIns="152400" tIns="76200" rIns="133350" bIns="76200"/>
                    <a:lstStyle/>
                    <a:p>
                      <a:r>
                        <a:rPr sz="2475" b="0">
                          <a:solidFill>
                            <a:srgbClr val="183247"/>
                          </a:solidFill>
                          <a:latin typeface="Arial"/>
                          <a:ea typeface="Arial"/>
                          <a:cs typeface="Arial"/>
                        </a:rPr>
                        <a:t>40</a:t>
                      </a:r>
                    </a:p>
                  </a:txBody>
                  <a:tcPr marL="91440" marR="91440" marT="45720" marB="45720" anchor="ctr">
                    <a:solidFill>
                      <a:srgbClr val="EFF4F7"/>
                    </a:solidFill>
                  </a:tcPr>
                </a:tc>
                <a:tc>
                  <a:txBody>
                    <a:bodyPr lIns="152400" tIns="76200" rIns="133350" bIns="76200"/>
                    <a:lstStyle/>
                    <a:p>
                      <a:r>
                        <a:rPr sz="2475" b="0">
                          <a:solidFill>
                            <a:srgbClr val="183247"/>
                          </a:solidFill>
                          <a:latin typeface="Arial"/>
                          <a:ea typeface="Arial"/>
                          <a:cs typeface="Arial"/>
                        </a:rPr>
                        <a:t>52</a:t>
                      </a:r>
                    </a:p>
                  </a:txBody>
                  <a:tcPr marL="91440" marR="91440" marT="45720" marB="45720" anchor="ctr">
                    <a:solidFill>
                      <a:srgbClr val="EFF4F7"/>
                    </a:solidFill>
                  </a:tcPr>
                </a:tc>
              </a:tr>
              <a:tr h="571500">
                <a:tc>
                  <a:txBody>
                    <a:bodyPr lIns="152400" tIns="76200" rIns="133350" bIns="76200"/>
                    <a:lstStyle/>
                    <a:p>
                      <a:r>
                        <a:rPr sz="2475" b="0">
                          <a:solidFill>
                            <a:srgbClr val="183247"/>
                          </a:solidFill>
                          <a:latin typeface="Arial"/>
                          <a:ea typeface="Arial"/>
                          <a:cs typeface="Arial"/>
                        </a:rPr>
                        <a:t>4</a:t>
                      </a:r>
                    </a:p>
                  </a:txBody>
                  <a:tcPr marL="91440" marR="91440" marT="45720" marB="45720" anchor="ctr">
                    <a:solidFill>
                      <a:srgbClr val="FFFFFF"/>
                    </a:solidFill>
                  </a:tcPr>
                </a:tc>
                <a:tc>
                  <a:txBody>
                    <a:bodyPr lIns="152400" tIns="76200" rIns="133350" bIns="76200"/>
                    <a:lstStyle/>
                    <a:p>
                      <a:r>
                        <a:rPr sz="2475" b="0">
                          <a:solidFill>
                            <a:srgbClr val="183247"/>
                          </a:solidFill>
                          <a:latin typeface="Arial"/>
                          <a:ea typeface="Arial"/>
                          <a:cs typeface="Arial"/>
                        </a:rPr>
                        <a:t>64</a:t>
                      </a:r>
                    </a:p>
                  </a:txBody>
                  <a:tcPr marL="91440" marR="91440" marT="45720" marB="45720" anchor="ctr">
                    <a:solidFill>
                      <a:srgbClr val="FFFFFF"/>
                    </a:solidFill>
                  </a:tcPr>
                </a:tc>
                <a:tc>
                  <a:txBody>
                    <a:bodyPr lIns="152400" tIns="76200" rIns="133350" bIns="76200"/>
                    <a:lstStyle/>
                    <a:p>
                      <a:r>
                        <a:rPr sz="2475" b="0">
                          <a:solidFill>
                            <a:srgbClr val="183247"/>
                          </a:solidFill>
                          <a:latin typeface="Arial"/>
                          <a:ea typeface="Arial"/>
                          <a:cs typeface="Arial"/>
                        </a:rPr>
                        <a:t>104</a:t>
                      </a:r>
                    </a:p>
                  </a:txBody>
                  <a:tcPr marL="91440" marR="91440" marT="45720" marB="45720" anchor="ctr">
                    <a:solidFill>
                      <a:srgbClr val="FFFFFF"/>
                    </a:solidFill>
                  </a:tcPr>
                </a:tc>
              </a:tr>
              <a:tr h="571500">
                <a:tc>
                  <a:txBody>
                    <a:bodyPr lIns="152400" tIns="76200" rIns="133350" bIns="76200"/>
                    <a:lstStyle/>
                    <a:p>
                      <a:r>
                        <a:rPr sz="2475" b="0">
                          <a:solidFill>
                            <a:srgbClr val="183247"/>
                          </a:solidFill>
                          <a:latin typeface="Arial"/>
                          <a:ea typeface="Arial"/>
                          <a:cs typeface="Arial"/>
                        </a:rPr>
                        <a:t>6</a:t>
                      </a:r>
                    </a:p>
                  </a:txBody>
                  <a:tcPr marL="91440" marR="91440" marT="45720" marB="45720" anchor="ctr">
                    <a:solidFill>
                      <a:srgbClr val="EFF4F7"/>
                    </a:solidFill>
                  </a:tcPr>
                </a:tc>
                <a:tc>
                  <a:txBody>
                    <a:bodyPr lIns="152400" tIns="76200" rIns="133350" bIns="76200"/>
                    <a:lstStyle/>
                    <a:p>
                      <a:r>
                        <a:rPr sz="2475" b="0">
                          <a:solidFill>
                            <a:srgbClr val="183247"/>
                          </a:solidFill>
                          <a:latin typeface="Arial"/>
                          <a:ea typeface="Arial"/>
                          <a:cs typeface="Arial"/>
                        </a:rPr>
                        <a:t>104</a:t>
                      </a:r>
                    </a:p>
                  </a:txBody>
                  <a:tcPr marL="91440" marR="91440" marT="45720" marB="45720" anchor="ctr">
                    <a:solidFill>
                      <a:srgbClr val="EFF4F7"/>
                    </a:solidFill>
                  </a:tcPr>
                </a:tc>
                <a:tc>
                  <a:txBody>
                    <a:bodyPr lIns="152400" tIns="76200" rIns="133350" bIns="76200"/>
                    <a:lstStyle/>
                    <a:p>
                      <a:r>
                        <a:rPr sz="2475" b="0">
                          <a:solidFill>
                            <a:srgbClr val="183247"/>
                          </a:solidFill>
                          <a:latin typeface="Arial"/>
                          <a:ea typeface="Arial"/>
                          <a:cs typeface="Arial"/>
                        </a:rPr>
                        <a:t>156</a:t>
                      </a:r>
                    </a:p>
                  </a:txBody>
                  <a:tcPr marL="91440" marR="91440" marT="45720" marB="45720" anchor="ctr">
                    <a:solidFill>
                      <a:srgbClr val="EFF4F7"/>
                    </a:solidFill>
                  </a:tcPr>
                </a:tc>
              </a:tr>
            </a:tbl>
          </a:graphicData>
        </a:graphic>
      </p:graphicFrame>
      <p:sp>
        <p:nvSpPr>
          <p:cNvPr id="9" name="Bij Q = 4: TK = 32 + 2 × 4² = 32 + 32 = € 64">
            <a:extLst xmlns:a="http://schemas.openxmlformats.org/drawingml/2006/main">
              <a:ext uri="{FF2B5EF4-FFF2-40B4-BE49-F238E27FC236}">
                <a16:creationId xmlns:a16="http://schemas.microsoft.com/office/drawing/2014/main" id="{1BC9A228-1555-40F1-AD83-DEC486A96B34}"/>
              </a:ext>
            </a:extLst>
          </p:cNvPr>
          <p:cNvSpPr>
            <a:spLocks xmlns:a="http://schemas.openxmlformats.org/drawingml/2006/main" noGrp="1"/>
          </p:cNvSpPr>
          <p:nvPr/>
        </p:nvSpPr>
        <p:spPr>
          <a:xfrm xmlns:a="http://schemas.openxmlformats.org/drawingml/2006/main">
            <a:off x="571500" y="73056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Bij Q = 4: TK = 32 + 2 × 4² = 32 + 32 = € 64</a:t>
            </a:r>
          </a:p>
        </p:txBody>
      </p:sp>
    </p:spTree>
    <p:extLst>
      <p:ext uri="{BB962C8B-B14F-4D97-AF65-F5344CB8AC3E}">
        <p14:creationId xmlns:p14="http://schemas.microsoft.com/office/powerpoint/2010/main" val="104067323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ven grote stappen · Stijgende MK">
            <a:extLst xmlns:a="http://schemas.openxmlformats.org/drawingml/2006/main">
              <a:ext uri="{FF2B5EF4-FFF2-40B4-BE49-F238E27FC236}">
                <a16:creationId xmlns:a16="http://schemas.microsoft.com/office/drawing/2014/main" id="{60438D4F-A802-4A56-9398-DF280196DB2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Even grote stappen · Stijgende MK</a:t>
            </a:r>
          </a:p>
        </p:txBody>
      </p:sp>
      <p:sp>
        <p:nvSpPr>
          <p:cNvPr id="2" name="">
            <a:extLst xmlns:a="http://schemas.openxmlformats.org/drawingml/2006/main">
              <a:ext uri="{FF2B5EF4-FFF2-40B4-BE49-F238E27FC236}">
                <a16:creationId xmlns:a16="http://schemas.microsoft.com/office/drawing/2014/main" id="{05C48EFE-7EDE-4BD4-80C9-621E09E8E6D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Marginale kosten en marginale opbrengsten">
            <a:extLst xmlns:a="http://schemas.openxmlformats.org/drawingml/2006/main">
              <a:ext uri="{FF2B5EF4-FFF2-40B4-BE49-F238E27FC236}">
                <a16:creationId xmlns:a16="http://schemas.microsoft.com/office/drawing/2014/main" id="{48AB2E7E-F01F-4315-B0BC-21B84F1EC14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Marginale kosten en marginale opbrengsten</a:t>
            </a:r>
          </a:p>
        </p:txBody>
      </p:sp>
      <p:sp>
        <p:nvSpPr>
          <p:cNvPr id="4" name="slide-number">
            <a:extLst xmlns:a="http://schemas.openxmlformats.org/drawingml/2006/main">
              <a:ext uri="{FF2B5EF4-FFF2-40B4-BE49-F238E27FC236}">
                <a16:creationId xmlns:a16="http://schemas.microsoft.com/office/drawing/2014/main" id="{AEAC9D16-D85B-449E-AD16-2EED42FCCDC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Uitlegvoorbeeld — niet uit het boek · Studio Reliëf">
            <a:extLst xmlns:a="http://schemas.openxmlformats.org/drawingml/2006/main">
              <a:ext uri="{FF2B5EF4-FFF2-40B4-BE49-F238E27FC236}">
                <a16:creationId xmlns:a16="http://schemas.microsoft.com/office/drawing/2014/main" id="{96D86A66-94F0-4D23-B13E-B0456AADA1C8}"/>
              </a:ext>
            </a:extLst>
          </p:cNvPr>
          <p:cNvSpPr>
            <a:spLocks xmlns:a="http://schemas.openxmlformats.org/drawingml/2006/main" noGrp="1"/>
          </p:cNvSpPr>
          <p:nvPr/>
        </p:nvSpPr>
        <p:spPr>
          <a:xfrm xmlns:a="http://schemas.openxmlformats.org/drawingml/2006/main">
            <a:off x="571500" y="16478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 · Studio Reliëf</a:t>
            </a:r>
          </a:p>
        </p:txBody>
      </p:sp>
      <p:graphicFrame>
        <p:nvGraphicFramePr>
          <p:cNvPr id="14" name=""/>
          <p:cNvGraphicFramePr/>
          <p:nvPr/>
        </p:nvGraphicFramePr>
        <p:xfrm>
          <a:off xmlns:a="http://schemas.openxmlformats.org/drawingml/2006/main" x="571500" y="2333625"/>
          <a:ext xmlns:a="http://schemas.openxmlformats.org/drawingml/2006/main" cx="14097000" cy="3238500"/>
        </p:xfrm>
        <a:graphic xmlns:a="http://schemas.openxmlformats.org/drawingml/2006/main">
          <a:graphicData uri="http://schemas.openxmlformats.org/drawingml/2006/table">
            <a:tbl>
              <a:tblPr/>
              <a:tblGrid>
                <a:gridCol w="3524250"/>
                <a:gridCol w="6572250"/>
                <a:gridCol w="4000500"/>
              </a:tblGrid>
              <a:tr h="809625">
                <a:tc>
                  <a:txBody>
                    <a:bodyPr lIns="152400" tIns="76200" rIns="133350" bIns="76200"/>
                    <a:lstStyle/>
                    <a:p>
                      <a:r>
                        <a:rPr sz="2625" b="1">
                          <a:solidFill>
                            <a:srgbClr val="FFFFFF"/>
                          </a:solidFill>
                          <a:latin typeface="Arial"/>
                          <a:ea typeface="Arial"/>
                          <a:cs typeface="Arial"/>
                        </a:rPr>
                        <a:t>Stap (tegels)</a:t>
                      </a:r>
                    </a:p>
                  </a:txBody>
                  <a:tcPr marL="91440" marR="91440" marT="45720" marB="45720" anchor="ctr">
                    <a:solidFill>
                      <a:srgbClr val="183247"/>
                    </a:solidFill>
                  </a:tcPr>
                </a:tc>
                <a:tc>
                  <a:txBody>
                    <a:bodyPr lIns="152400" tIns="76200" rIns="133350" bIns="76200"/>
                    <a:lstStyle/>
                    <a:p>
                      <a:r>
                        <a:rPr sz="2625" b="1">
                          <a:solidFill>
                            <a:srgbClr val="FFFFFF"/>
                          </a:solidFill>
                          <a:latin typeface="Arial"/>
                          <a:ea typeface="Arial"/>
                          <a:cs typeface="Arial"/>
                        </a:rPr>
                        <a:t>MK = ΔTK / ΔQ</a:t>
                      </a:r>
                    </a:p>
                  </a:txBody>
                  <a:tcPr marL="91440" marR="91440" marT="45720" marB="45720" anchor="ctr">
                    <a:solidFill>
                      <a:srgbClr val="183247"/>
                    </a:solidFill>
                  </a:tcPr>
                </a:tc>
                <a:tc>
                  <a:txBody>
                    <a:bodyPr lIns="152400" tIns="76200" rIns="133350" bIns="76200"/>
                    <a:lstStyle/>
                    <a:p>
                      <a:r>
                        <a:rPr sz="2625" b="1">
                          <a:solidFill>
                            <a:srgbClr val="FFFFFF"/>
                          </a:solidFill>
                          <a:latin typeface="Arial"/>
                          <a:ea typeface="Arial"/>
                          <a:cs typeface="Arial"/>
                        </a:rPr>
                        <a:t>€ per extra tegel</a:t>
                      </a:r>
                    </a:p>
                  </a:txBody>
                  <a:tcPr marL="91440" marR="91440" marT="45720" marB="45720" anchor="ctr">
                    <a:solidFill>
                      <a:srgbClr val="183247"/>
                    </a:solidFill>
                  </a:tcPr>
                </a:tc>
              </a:tr>
              <a:tr h="809625">
                <a:tc>
                  <a:txBody>
                    <a:bodyPr lIns="152400" tIns="76200" rIns="133350" bIns="76200"/>
                    <a:lstStyle/>
                    <a:p>
                      <a:r>
                        <a:rPr sz="2625" b="0">
                          <a:solidFill>
                            <a:srgbClr val="183247"/>
                          </a:solidFill>
                          <a:latin typeface="Arial"/>
                          <a:ea typeface="Arial"/>
                          <a:cs typeface="Arial"/>
                        </a:rPr>
                        <a:t>0 → 2</a:t>
                      </a:r>
                    </a:p>
                  </a:txBody>
                  <a:tcPr marL="91440" marR="91440" marT="45720" marB="45720" anchor="ctr">
                    <a:solidFill>
                      <a:srgbClr val="FFFFFF"/>
                    </a:solidFill>
                  </a:tcPr>
                </a:tc>
                <a:tc>
                  <a:txBody>
                    <a:bodyPr lIns="152400" tIns="76200" rIns="133350" bIns="76200"/>
                    <a:lstStyle/>
                    <a:p>
                      <a:r>
                        <a:rPr sz="2625" b="0">
                          <a:solidFill>
                            <a:srgbClr val="183247"/>
                          </a:solidFill>
                          <a:latin typeface="Arial"/>
                          <a:ea typeface="Arial"/>
                          <a:cs typeface="Arial"/>
                        </a:rPr>
                        <a:t>(40 − 32) / (2 − 0)</a:t>
                      </a:r>
                    </a:p>
                  </a:txBody>
                  <a:tcPr marL="91440" marR="91440" marT="45720" marB="45720" anchor="ctr">
                    <a:solidFill>
                      <a:srgbClr val="FFFFFF"/>
                    </a:solidFill>
                  </a:tcPr>
                </a:tc>
                <a:tc>
                  <a:txBody>
                    <a:bodyPr lIns="152400" tIns="76200" rIns="133350" bIns="76200"/>
                    <a:lstStyle/>
                    <a:p>
                      <a:r>
                        <a:rPr sz="2625" b="0">
                          <a:solidFill>
                            <a:srgbClr val="183247"/>
                          </a:solidFill>
                          <a:latin typeface="Arial"/>
                          <a:ea typeface="Arial"/>
                          <a:cs typeface="Arial"/>
                        </a:rPr>
                        <a:t>8 / 2 = 4</a:t>
                      </a:r>
                    </a:p>
                  </a:txBody>
                  <a:tcPr marL="91440" marR="91440" marT="45720" marB="45720" anchor="ctr">
                    <a:solidFill>
                      <a:srgbClr val="FFFFFF"/>
                    </a:solidFill>
                  </a:tcPr>
                </a:tc>
              </a:tr>
              <a:tr h="809625">
                <a:tc>
                  <a:txBody>
                    <a:bodyPr lIns="152400" tIns="76200" rIns="133350" bIns="76200"/>
                    <a:lstStyle/>
                    <a:p>
                      <a:r>
                        <a:rPr sz="2625" b="0">
                          <a:solidFill>
                            <a:srgbClr val="183247"/>
                          </a:solidFill>
                          <a:latin typeface="Arial"/>
                          <a:ea typeface="Arial"/>
                          <a:cs typeface="Arial"/>
                        </a:rPr>
                        <a:t>2 → 4</a:t>
                      </a:r>
                    </a:p>
                  </a:txBody>
                  <a:tcPr marL="91440" marR="91440" marT="45720" marB="45720" anchor="ctr">
                    <a:solidFill>
                      <a:srgbClr val="EFF4F7"/>
                    </a:solidFill>
                  </a:tcPr>
                </a:tc>
                <a:tc>
                  <a:txBody>
                    <a:bodyPr lIns="152400" tIns="76200" rIns="133350" bIns="76200"/>
                    <a:lstStyle/>
                    <a:p>
                      <a:r>
                        <a:rPr sz="2625" b="0">
                          <a:solidFill>
                            <a:srgbClr val="183247"/>
                          </a:solidFill>
                          <a:latin typeface="Arial"/>
                          <a:ea typeface="Arial"/>
                          <a:cs typeface="Arial"/>
                        </a:rPr>
                        <a:t>(64 − 40) / (4 − 2)</a:t>
                      </a:r>
                    </a:p>
                  </a:txBody>
                  <a:tcPr marL="91440" marR="91440" marT="45720" marB="45720" anchor="ctr">
                    <a:solidFill>
                      <a:srgbClr val="EFF4F7"/>
                    </a:solidFill>
                  </a:tcPr>
                </a:tc>
                <a:tc>
                  <a:txBody>
                    <a:bodyPr lIns="152400" tIns="76200" rIns="133350" bIns="76200"/>
                    <a:lstStyle/>
                    <a:p>
                      <a:r>
                        <a:rPr sz="2625" b="0">
                          <a:solidFill>
                            <a:srgbClr val="183247"/>
                          </a:solidFill>
                          <a:latin typeface="Arial"/>
                          <a:ea typeface="Arial"/>
                          <a:cs typeface="Arial"/>
                        </a:rPr>
                        <a:t>24 / 2 = 12</a:t>
                      </a:r>
                    </a:p>
                  </a:txBody>
                  <a:tcPr marL="91440" marR="91440" marT="45720" marB="45720" anchor="ctr">
                    <a:solidFill>
                      <a:srgbClr val="EFF4F7"/>
                    </a:solidFill>
                  </a:tcPr>
                </a:tc>
              </a:tr>
              <a:tr h="809625">
                <a:tc>
                  <a:txBody>
                    <a:bodyPr lIns="152400" tIns="76200" rIns="133350" bIns="76200"/>
                    <a:lstStyle/>
                    <a:p>
                      <a:r>
                        <a:rPr sz="2625" b="0">
                          <a:solidFill>
                            <a:srgbClr val="183247"/>
                          </a:solidFill>
                          <a:latin typeface="Arial"/>
                          <a:ea typeface="Arial"/>
                          <a:cs typeface="Arial"/>
                        </a:rPr>
                        <a:t>4 → 6</a:t>
                      </a:r>
                    </a:p>
                  </a:txBody>
                  <a:tcPr marL="91440" marR="91440" marT="45720" marB="45720" anchor="ctr">
                    <a:solidFill>
                      <a:srgbClr val="FFFFFF"/>
                    </a:solidFill>
                  </a:tcPr>
                </a:tc>
                <a:tc>
                  <a:txBody>
                    <a:bodyPr lIns="152400" tIns="76200" rIns="133350" bIns="76200"/>
                    <a:lstStyle/>
                    <a:p>
                      <a:r>
                        <a:rPr sz="2625" b="0">
                          <a:solidFill>
                            <a:srgbClr val="183247"/>
                          </a:solidFill>
                          <a:latin typeface="Arial"/>
                          <a:ea typeface="Arial"/>
                          <a:cs typeface="Arial"/>
                        </a:rPr>
                        <a:t>(104 − 64) / (6 − 4)</a:t>
                      </a:r>
                    </a:p>
                  </a:txBody>
                  <a:tcPr marL="91440" marR="91440" marT="45720" marB="45720" anchor="ctr">
                    <a:solidFill>
                      <a:srgbClr val="FFFFFF"/>
                    </a:solidFill>
                  </a:tcPr>
                </a:tc>
                <a:tc>
                  <a:txBody>
                    <a:bodyPr lIns="152400" tIns="76200" rIns="133350" bIns="76200"/>
                    <a:lstStyle/>
                    <a:p>
                      <a:r>
                        <a:rPr sz="2625" b="0">
                          <a:solidFill>
                            <a:srgbClr val="183247"/>
                          </a:solidFill>
                          <a:latin typeface="Arial"/>
                          <a:ea typeface="Arial"/>
                          <a:cs typeface="Arial"/>
                        </a:rPr>
                        <a:t>40 / 2 = 20</a:t>
                      </a:r>
                    </a:p>
                  </a:txBody>
                  <a:tcPr marL="91440" marR="91440" marT="45720" marB="45720" anchor="ctr">
                    <a:solidFill>
                      <a:srgbClr val="FFFFFF"/>
                    </a:solidFill>
                  </a:tcPr>
                </a:tc>
              </a:tr>
            </a:tbl>
          </a:graphicData>
        </a:graphic>
      </p:graphicFrame>
      <p:sp>
        <p:nvSpPr>
          <p:cNvPr id="7" name="MK: € 4 → € 12 → € 20 per extra tegel">
            <a:extLst xmlns:a="http://schemas.openxmlformats.org/drawingml/2006/main">
              <a:ext uri="{FF2B5EF4-FFF2-40B4-BE49-F238E27FC236}">
                <a16:creationId xmlns:a16="http://schemas.microsoft.com/office/drawing/2014/main" id="{FEEE4844-5496-4919-B120-51388E7231C1}"/>
              </a:ext>
            </a:extLst>
          </p:cNvPr>
          <p:cNvSpPr>
            <a:spLocks xmlns:a="http://schemas.openxmlformats.org/drawingml/2006/main" noGrp="1"/>
          </p:cNvSpPr>
          <p:nvPr/>
        </p:nvSpPr>
        <p:spPr>
          <a:xfrm xmlns:a="http://schemas.openxmlformats.org/drawingml/2006/main">
            <a:off x="571500" y="594360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A94D16"/>
                </a:solidFill>
                <a:latin typeface="Arial"/>
                <a:ea typeface="Arial"/>
                <a:cs typeface="Arial"/>
              </a:defRPr>
            </a:pPr>
            <a:r>
              <a:rPr sz="3375" b="1">
                <a:solidFill>
                  <a:srgbClr val="A94D16"/>
                </a:solidFill>
                <a:latin typeface="Arial"/>
                <a:ea typeface="Arial"/>
                <a:cs typeface="Arial"/>
              </a:rPr>
              <a:t>MK: € 4 → € 12 → € 20 per extra tegel</a:t>
            </a:r>
          </a:p>
        </p:txBody>
      </p:sp>
      <p:sp>
        <p:nvSpPr>
          <p:cNvPr id="8" name="MO: steeds 52 / 2 = € 26 per extra tegel">
            <a:extLst xmlns:a="http://schemas.openxmlformats.org/drawingml/2006/main">
              <a:ext uri="{FF2B5EF4-FFF2-40B4-BE49-F238E27FC236}">
                <a16:creationId xmlns:a16="http://schemas.microsoft.com/office/drawing/2014/main" id="{0B0AF0B4-1194-4DC5-935E-9B70794A6422}"/>
              </a:ext>
            </a:extLst>
          </p:cNvPr>
          <p:cNvSpPr>
            <a:spLocks xmlns:a="http://schemas.openxmlformats.org/drawingml/2006/main" noGrp="1"/>
          </p:cNvSpPr>
          <p:nvPr/>
        </p:nvSpPr>
        <p:spPr>
          <a:xfrm xmlns:a="http://schemas.openxmlformats.org/drawingml/2006/main">
            <a:off x="571500" y="71056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MO: steeds 52 / 2 = € 26 per extra tegel</a:t>
            </a:r>
          </a:p>
        </p:txBody>
      </p:sp>
    </p:spTree>
    <p:extLst>
      <p:ext uri="{BB962C8B-B14F-4D97-AF65-F5344CB8AC3E}">
        <p14:creationId xmlns:p14="http://schemas.microsoft.com/office/powerpoint/2010/main" val="185422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GTK en MK · Alle tegels of extra tegels">
            <a:extLst xmlns:a="http://schemas.openxmlformats.org/drawingml/2006/main">
              <a:ext uri="{FF2B5EF4-FFF2-40B4-BE49-F238E27FC236}">
                <a16:creationId xmlns:a16="http://schemas.microsoft.com/office/drawing/2014/main" id="{78383B74-0D28-4856-B368-9E6D51C723F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GTK en MK · Alle tegels of extra tegels</a:t>
            </a:r>
          </a:p>
        </p:txBody>
      </p:sp>
      <p:sp>
        <p:nvSpPr>
          <p:cNvPr id="2" name="">
            <a:extLst xmlns:a="http://schemas.openxmlformats.org/drawingml/2006/main">
              <a:ext uri="{FF2B5EF4-FFF2-40B4-BE49-F238E27FC236}">
                <a16:creationId xmlns:a16="http://schemas.microsoft.com/office/drawing/2014/main" id="{88D95D16-A329-4892-AD7F-0EBE186922C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Marginale kosten en marginale opbrengsten">
            <a:extLst xmlns:a="http://schemas.openxmlformats.org/drawingml/2006/main">
              <a:ext uri="{FF2B5EF4-FFF2-40B4-BE49-F238E27FC236}">
                <a16:creationId xmlns:a16="http://schemas.microsoft.com/office/drawing/2014/main" id="{9A393A8C-2966-4F11-B516-593A4ADA793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Marginale kosten en marginale opbrengsten</a:t>
            </a:r>
          </a:p>
        </p:txBody>
      </p:sp>
      <p:sp>
        <p:nvSpPr>
          <p:cNvPr id="4" name="slide-number">
            <a:extLst xmlns:a="http://schemas.openxmlformats.org/drawingml/2006/main">
              <a:ext uri="{FF2B5EF4-FFF2-40B4-BE49-F238E27FC236}">
                <a16:creationId xmlns:a16="http://schemas.microsoft.com/office/drawing/2014/main" id="{53C75CA4-CEBE-4D11-AAC7-84073546897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 Studio Reliëf">
            <a:extLst xmlns:a="http://schemas.openxmlformats.org/drawingml/2006/main">
              <a:ext uri="{FF2B5EF4-FFF2-40B4-BE49-F238E27FC236}">
                <a16:creationId xmlns:a16="http://schemas.microsoft.com/office/drawing/2014/main" id="{05F6B418-8042-4613-9F6C-A1ECB5DA686A}"/>
              </a:ext>
            </a:extLst>
          </p:cNvPr>
          <p:cNvSpPr>
            <a:spLocks xmlns:a="http://schemas.openxmlformats.org/drawingml/2006/main" noGrp="1"/>
          </p:cNvSpPr>
          <p:nvPr/>
        </p:nvSpPr>
        <p:spPr>
          <a:xfrm xmlns:a="http://schemas.openxmlformats.org/drawingml/2006/main">
            <a:off x="571500" y="16478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 · Studio Reliëf</a:t>
            </a:r>
          </a:p>
        </p:txBody>
      </p:sp>
      <p:graphicFrame>
        <p:nvGraphicFramePr>
          <p:cNvPr id="13" name=""/>
          <p:cNvGraphicFramePr/>
          <p:nvPr/>
        </p:nvGraphicFramePr>
        <p:xfrm>
          <a:off xmlns:a="http://schemas.openxmlformats.org/drawingml/2006/main" x="571500" y="2514600"/>
          <a:ext xmlns:a="http://schemas.openxmlformats.org/drawingml/2006/main" cx="14097000" cy="4095750"/>
        </p:xfrm>
        <a:graphic xmlns:a="http://schemas.openxmlformats.org/drawingml/2006/main">
          <a:graphicData uri="http://schemas.openxmlformats.org/drawingml/2006/table">
            <a:tbl>
              <a:tblPr/>
              <a:tblGrid>
                <a:gridCol w="3190875"/>
                <a:gridCol w="5095875"/>
                <a:gridCol w="5810250"/>
              </a:tblGrid>
              <a:tr h="819150">
                <a:tc>
                  <a:txBody>
                    <a:bodyPr lIns="152400" tIns="76200" rIns="133350" bIns="76200"/>
                    <a:lstStyle/>
                    <a:p>
                      <a:r>
                        <a:rPr sz="2475" b="1">
                          <a:solidFill>
                            <a:srgbClr val="FFFFFF"/>
                          </a:solidFill>
                          <a:latin typeface="Arial"/>
                          <a:ea typeface="Arial"/>
                          <a:cs typeface="Arial"/>
                        </a:rPr>
                        <a:t/>
                      </a:r>
                    </a:p>
                  </a:txBody>
                  <a:tcPr marL="91440" marR="91440" marT="45720" marB="45720" anchor="ctr">
                    <a:solidFill>
                      <a:srgbClr val="183247"/>
                    </a:solidFill>
                  </a:tcPr>
                </a:tc>
                <a:tc>
                  <a:txBody>
                    <a:bodyPr lIns="152400" tIns="76200" rIns="133350" bIns="76200"/>
                    <a:lstStyle/>
                    <a:p>
                      <a:r>
                        <a:rPr sz="2475" b="1">
                          <a:solidFill>
                            <a:srgbClr val="FFFFFF"/>
                          </a:solidFill>
                          <a:latin typeface="Arial"/>
                          <a:ea typeface="Arial"/>
                          <a:cs typeface="Arial"/>
                        </a:rPr>
                        <a:t>GTK bij Q = 6</a:t>
                      </a:r>
                    </a:p>
                  </a:txBody>
                  <a:tcPr marL="91440" marR="91440" marT="45720" marB="45720" anchor="ctr">
                    <a:solidFill>
                      <a:srgbClr val="183247"/>
                    </a:solidFill>
                  </a:tcPr>
                </a:tc>
                <a:tc>
                  <a:txBody>
                    <a:bodyPr lIns="152400" tIns="76200" rIns="133350" bIns="76200"/>
                    <a:lstStyle/>
                    <a:p>
                      <a:r>
                        <a:rPr sz="2475" b="1">
                          <a:solidFill>
                            <a:srgbClr val="FFFFFF"/>
                          </a:solidFill>
                          <a:latin typeface="Arial"/>
                          <a:ea typeface="Arial"/>
                          <a:cs typeface="Arial"/>
                        </a:rPr>
                        <a:t>MK over de stap 4 → 6</a:t>
                      </a:r>
                    </a:p>
                  </a:txBody>
                  <a:tcPr marL="91440" marR="91440" marT="45720" marB="45720" anchor="ctr">
                    <a:solidFill>
                      <a:srgbClr val="183247"/>
                    </a:solidFill>
                  </a:tcPr>
                </a:tc>
              </a:tr>
              <a:tr h="819150">
                <a:tc>
                  <a:txBody>
                    <a:bodyPr lIns="152400" tIns="76200" rIns="133350" bIns="76200"/>
                    <a:lstStyle/>
                    <a:p>
                      <a:r>
                        <a:rPr sz="2475" b="0">
                          <a:solidFill>
                            <a:srgbClr val="183247"/>
                          </a:solidFill>
                          <a:latin typeface="Arial"/>
                          <a:ea typeface="Arial"/>
                          <a:cs typeface="Arial"/>
                        </a:rPr>
                        <a:t>Welke kosten?</a:t>
                      </a:r>
                    </a:p>
                  </a:txBody>
                  <a:tcPr marL="91440" marR="91440" marT="45720" marB="45720" anchor="ctr">
                    <a:solidFill>
                      <a:srgbClr val="FFFFFF"/>
                    </a:solidFill>
                  </a:tcPr>
                </a:tc>
                <a:tc>
                  <a:txBody>
                    <a:bodyPr lIns="152400" tIns="76200" rIns="133350" bIns="76200"/>
                    <a:lstStyle/>
                    <a:p>
                      <a:r>
                        <a:rPr sz="2475" b="0">
                          <a:solidFill>
                            <a:srgbClr val="183247"/>
                          </a:solidFill>
                          <a:latin typeface="Arial"/>
                          <a:ea typeface="Arial"/>
                          <a:cs typeface="Arial"/>
                        </a:rPr>
                        <a:t>Alle € 104</a:t>
                      </a:r>
                    </a:p>
                  </a:txBody>
                  <a:tcPr marL="91440" marR="91440" marT="45720" marB="45720" anchor="ctr">
                    <a:solidFill>
                      <a:srgbClr val="FFFFFF"/>
                    </a:solidFill>
                  </a:tcPr>
                </a:tc>
                <a:tc>
                  <a:txBody>
                    <a:bodyPr lIns="152400" tIns="76200" rIns="133350" bIns="76200"/>
                    <a:lstStyle/>
                    <a:p>
                      <a:r>
                        <a:rPr sz="2475" b="0">
                          <a:solidFill>
                            <a:srgbClr val="183247"/>
                          </a:solidFill>
                          <a:latin typeface="Arial"/>
                          <a:ea typeface="Arial"/>
                          <a:cs typeface="Arial"/>
                        </a:rPr>
                        <a:t>€ 104 − € 64 = € 40 extra</a:t>
                      </a:r>
                    </a:p>
                  </a:txBody>
                  <a:tcPr marL="91440" marR="91440" marT="45720" marB="45720" anchor="ctr">
                    <a:solidFill>
                      <a:srgbClr val="FFFFFF"/>
                    </a:solidFill>
                  </a:tcPr>
                </a:tc>
              </a:tr>
              <a:tr h="819150">
                <a:tc>
                  <a:txBody>
                    <a:bodyPr lIns="152400" tIns="76200" rIns="133350" bIns="76200"/>
                    <a:lstStyle/>
                    <a:p>
                      <a:r>
                        <a:rPr sz="2475" b="0">
                          <a:solidFill>
                            <a:srgbClr val="183247"/>
                          </a:solidFill>
                          <a:latin typeface="Arial"/>
                          <a:ea typeface="Arial"/>
                          <a:cs typeface="Arial"/>
                        </a:rPr>
                        <a:t>Welke tegels?</a:t>
                      </a:r>
                    </a:p>
                  </a:txBody>
                  <a:tcPr marL="91440" marR="91440" marT="45720" marB="45720" anchor="ctr">
                    <a:solidFill>
                      <a:srgbClr val="EFF4F7"/>
                    </a:solidFill>
                  </a:tcPr>
                </a:tc>
                <a:tc>
                  <a:txBody>
                    <a:bodyPr lIns="152400" tIns="76200" rIns="133350" bIns="76200"/>
                    <a:lstStyle/>
                    <a:p>
                      <a:r>
                        <a:rPr sz="2475" b="0">
                          <a:solidFill>
                            <a:srgbClr val="183247"/>
                          </a:solidFill>
                          <a:latin typeface="Arial"/>
                          <a:ea typeface="Arial"/>
                          <a:cs typeface="Arial"/>
                        </a:rPr>
                        <a:t>Alle 6 tegels</a:t>
                      </a:r>
                    </a:p>
                  </a:txBody>
                  <a:tcPr marL="91440" marR="91440" marT="45720" marB="45720" anchor="ctr">
                    <a:solidFill>
                      <a:srgbClr val="EFF4F7"/>
                    </a:solidFill>
                  </a:tcPr>
                </a:tc>
                <a:tc>
                  <a:txBody>
                    <a:bodyPr lIns="152400" tIns="76200" rIns="133350" bIns="76200"/>
                    <a:lstStyle/>
                    <a:p>
                      <a:r>
                        <a:rPr sz="2475" b="0">
                          <a:solidFill>
                            <a:srgbClr val="183247"/>
                          </a:solidFill>
                          <a:latin typeface="Arial"/>
                          <a:ea typeface="Arial"/>
                          <a:cs typeface="Arial"/>
                        </a:rPr>
                        <a:t>6 − 4 = 2 extra tegels</a:t>
                      </a:r>
                    </a:p>
                  </a:txBody>
                  <a:tcPr marL="91440" marR="91440" marT="45720" marB="45720" anchor="ctr">
                    <a:solidFill>
                      <a:srgbClr val="EFF4F7"/>
                    </a:solidFill>
                  </a:tcPr>
                </a:tc>
              </a:tr>
              <a:tr h="819150">
                <a:tc>
                  <a:txBody>
                    <a:bodyPr lIns="152400" tIns="76200" rIns="133350" bIns="76200"/>
                    <a:lstStyle/>
                    <a:p>
                      <a:r>
                        <a:rPr sz="2475" b="0">
                          <a:solidFill>
                            <a:srgbClr val="183247"/>
                          </a:solidFill>
                          <a:latin typeface="Arial"/>
                          <a:ea typeface="Arial"/>
                          <a:cs typeface="Arial"/>
                        </a:rPr>
                        <a:t>Berekening</a:t>
                      </a:r>
                    </a:p>
                  </a:txBody>
                  <a:tcPr marL="91440" marR="91440" marT="45720" marB="45720" anchor="ctr">
                    <a:solidFill>
                      <a:srgbClr val="FFFFFF"/>
                    </a:solidFill>
                  </a:tcPr>
                </a:tc>
                <a:tc>
                  <a:txBody>
                    <a:bodyPr lIns="152400" tIns="76200" rIns="133350" bIns="76200"/>
                    <a:lstStyle/>
                    <a:p>
                      <a:r>
                        <a:rPr sz="2475" b="0">
                          <a:solidFill>
                            <a:srgbClr val="183247"/>
                          </a:solidFill>
                          <a:latin typeface="Arial"/>
                          <a:ea typeface="Arial"/>
                          <a:cs typeface="Arial"/>
                        </a:rPr>
                        <a:t>104 / 6 ≈ € 17,33</a:t>
                      </a:r>
                    </a:p>
                  </a:txBody>
                  <a:tcPr marL="91440" marR="91440" marT="45720" marB="45720" anchor="ctr">
                    <a:solidFill>
                      <a:srgbClr val="FFFFFF"/>
                    </a:solidFill>
                  </a:tcPr>
                </a:tc>
                <a:tc>
                  <a:txBody>
                    <a:bodyPr lIns="152400" tIns="76200" rIns="133350" bIns="76200"/>
                    <a:lstStyle/>
                    <a:p>
                      <a:r>
                        <a:rPr sz="2475" b="0">
                          <a:solidFill>
                            <a:srgbClr val="183247"/>
                          </a:solidFill>
                          <a:latin typeface="Arial"/>
                          <a:ea typeface="Arial"/>
                          <a:cs typeface="Arial"/>
                        </a:rPr>
                        <a:t>40 / 2 = € 20</a:t>
                      </a:r>
                    </a:p>
                  </a:txBody>
                  <a:tcPr marL="91440" marR="91440" marT="45720" marB="45720" anchor="ctr">
                    <a:solidFill>
                      <a:srgbClr val="FFFFFF"/>
                    </a:solidFill>
                  </a:tcPr>
                </a:tc>
              </a:tr>
              <a:tr h="819150">
                <a:tc>
                  <a:txBody>
                    <a:bodyPr lIns="152400" tIns="76200" rIns="133350" bIns="76200"/>
                    <a:lstStyle/>
                    <a:p>
                      <a:r>
                        <a:rPr sz="2475" b="0">
                          <a:solidFill>
                            <a:srgbClr val="183247"/>
                          </a:solidFill>
                          <a:latin typeface="Arial"/>
                          <a:ea typeface="Arial"/>
                          <a:cs typeface="Arial"/>
                        </a:rPr>
                        <a:t>Betekenis</a:t>
                      </a:r>
                    </a:p>
                  </a:txBody>
                  <a:tcPr marL="91440" marR="91440" marT="45720" marB="45720" anchor="ctr">
                    <a:solidFill>
                      <a:srgbClr val="EFF4F7"/>
                    </a:solidFill>
                  </a:tcPr>
                </a:tc>
                <a:tc>
                  <a:txBody>
                    <a:bodyPr lIns="152400" tIns="76200" rIns="133350" bIns="76200"/>
                    <a:lstStyle/>
                    <a:p>
                      <a:r>
                        <a:rPr sz="2475" b="0">
                          <a:solidFill>
                            <a:srgbClr val="183247"/>
                          </a:solidFill>
                          <a:latin typeface="Arial"/>
                          <a:ea typeface="Arial"/>
                          <a:cs typeface="Arial"/>
                        </a:rPr>
                        <a:t>Gemiddeld per tegel</a:t>
                      </a:r>
                    </a:p>
                  </a:txBody>
                  <a:tcPr marL="91440" marR="91440" marT="45720" marB="45720" anchor="ctr">
                    <a:solidFill>
                      <a:srgbClr val="EFF4F7"/>
                    </a:solidFill>
                  </a:tcPr>
                </a:tc>
                <a:tc>
                  <a:txBody>
                    <a:bodyPr lIns="152400" tIns="76200" rIns="133350" bIns="76200"/>
                    <a:lstStyle/>
                    <a:p>
                      <a:r>
                        <a:rPr sz="2475" b="0">
                          <a:solidFill>
                            <a:srgbClr val="183247"/>
                          </a:solidFill>
                          <a:latin typeface="Arial"/>
                          <a:ea typeface="Arial"/>
                          <a:cs typeface="Arial"/>
                        </a:rPr>
                        <a:t>Per extra tegel in deze stap</a:t>
                      </a:r>
                    </a:p>
                  </a:txBody>
                  <a:tcPr marL="91440" marR="91440" marT="45720" marB="45720" anchor="ctr">
                    <a:solidFill>
                      <a:srgbClr val="EFF4F7"/>
                    </a:solidFill>
                  </a:tcPr>
                </a:tc>
              </a:tr>
            </a:tbl>
          </a:graphicData>
        </a:graphic>
      </p:graphicFrame>
      <p:sp>
        <p:nvSpPr>
          <p:cNvPr id="7" name="€ 20 per extra tegel: gemiddeld over de stap 4 → 6.">
            <a:extLst xmlns:a="http://schemas.openxmlformats.org/drawingml/2006/main">
              <a:ext uri="{FF2B5EF4-FFF2-40B4-BE49-F238E27FC236}">
                <a16:creationId xmlns:a16="http://schemas.microsoft.com/office/drawing/2014/main" id="{9E1BA1F1-DE48-417D-BC87-819A723D2BC3}"/>
              </a:ext>
            </a:extLst>
          </p:cNvPr>
          <p:cNvSpPr>
            <a:spLocks xmlns:a="http://schemas.openxmlformats.org/drawingml/2006/main" noGrp="1"/>
          </p:cNvSpPr>
          <p:nvPr/>
        </p:nvSpPr>
        <p:spPr>
          <a:xfrm xmlns:a="http://schemas.openxmlformats.org/drawingml/2006/main">
            <a:off x="571500" y="720090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€ 20 per extra tegel: gemiddeld over de stap 4 → 6.</a:t>
            </a:r>
          </a:p>
        </p:txBody>
      </p:sp>
    </p:spTree>
    <p:extLst>
      <p:ext uri="{BB962C8B-B14F-4D97-AF65-F5344CB8AC3E}">
        <p14:creationId xmlns:p14="http://schemas.microsoft.com/office/powerpoint/2010/main" val="7434098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orte controle · Welke betekenis klopt?">
            <a:extLst xmlns:a="http://schemas.openxmlformats.org/drawingml/2006/main">
              <a:ext uri="{FF2B5EF4-FFF2-40B4-BE49-F238E27FC236}">
                <a16:creationId xmlns:a16="http://schemas.microsoft.com/office/drawing/2014/main" id="{2AEBDA04-838E-4802-B2C9-E7D868CB051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controle · Welke betekenis klopt?</a:t>
            </a:r>
          </a:p>
        </p:txBody>
      </p:sp>
      <p:sp>
        <p:nvSpPr>
          <p:cNvPr id="2" name="">
            <a:extLst xmlns:a="http://schemas.openxmlformats.org/drawingml/2006/main">
              <a:ext uri="{FF2B5EF4-FFF2-40B4-BE49-F238E27FC236}">
                <a16:creationId xmlns:a16="http://schemas.microsoft.com/office/drawing/2014/main" id="{D4E415C8-F770-4BC3-A98A-C0DA1EF55D6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Marginale kosten en marginale opbrengsten">
            <a:extLst xmlns:a="http://schemas.openxmlformats.org/drawingml/2006/main">
              <a:ext uri="{FF2B5EF4-FFF2-40B4-BE49-F238E27FC236}">
                <a16:creationId xmlns:a16="http://schemas.microsoft.com/office/drawing/2014/main" id="{74A94523-3FAF-408F-AAE2-644BC1E56DF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Marginale kosten en marginale opbrengsten</a:t>
            </a:r>
          </a:p>
        </p:txBody>
      </p:sp>
      <p:sp>
        <p:nvSpPr>
          <p:cNvPr id="4" name="slide-number">
            <a:extLst xmlns:a="http://schemas.openxmlformats.org/drawingml/2006/main">
              <a:ext uri="{FF2B5EF4-FFF2-40B4-BE49-F238E27FC236}">
                <a16:creationId xmlns:a16="http://schemas.microsoft.com/office/drawing/2014/main" id="{A2B4D4D4-50CB-4D06-9FB3-A167BD422ED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Uitlegvoorbeeld — niet uit het boek · Studio Reliëf">
            <a:extLst xmlns:a="http://schemas.openxmlformats.org/drawingml/2006/main">
              <a:ext uri="{FF2B5EF4-FFF2-40B4-BE49-F238E27FC236}">
                <a16:creationId xmlns:a16="http://schemas.microsoft.com/office/drawing/2014/main" id="{8FD2D938-DB4D-447D-A663-9AFC35C198B5}"/>
              </a:ext>
            </a:extLst>
          </p:cNvPr>
          <p:cNvSpPr>
            <a:spLocks xmlns:a="http://schemas.openxmlformats.org/drawingml/2006/main" noGrp="1"/>
          </p:cNvSpPr>
          <p:nvPr/>
        </p:nvSpPr>
        <p:spPr>
          <a:xfrm xmlns:a="http://schemas.openxmlformats.org/drawingml/2006/main">
            <a:off x="571500" y="16478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 · Studio Reliëf</a:t>
            </a:r>
          </a:p>
        </p:txBody>
      </p:sp>
      <p:sp>
        <p:nvSpPr>
          <p:cNvPr id="6" name="Bij Q = 6 staat MK = € 20.">
            <a:extLst xmlns:a="http://schemas.openxmlformats.org/drawingml/2006/main">
              <a:ext uri="{FF2B5EF4-FFF2-40B4-BE49-F238E27FC236}">
                <a16:creationId xmlns:a16="http://schemas.microsoft.com/office/drawing/2014/main" id="{0B87198C-B1B8-46B1-95EB-632EB6BD2776}"/>
              </a:ext>
            </a:extLst>
          </p:cNvPr>
          <p:cNvSpPr>
            <a:spLocks xmlns:a="http://schemas.openxmlformats.org/drawingml/2006/main" noGrp="1"/>
          </p:cNvSpPr>
          <p:nvPr/>
        </p:nvSpPr>
        <p:spPr>
          <a:xfrm xmlns:a="http://schemas.openxmlformats.org/drawingml/2006/main">
            <a:off x="571500" y="2428875"/>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Bij Q = 6 staat MK = € 20.</a:t>
            </a:r>
          </a:p>
        </p:txBody>
      </p:sp>
      <p:sp>
        <p:nvSpPr>
          <p:cNvPr id="7" name="“Dus de zesde tegel kost precies € 20 extra.”">
            <a:extLst xmlns:a="http://schemas.openxmlformats.org/drawingml/2006/main">
              <a:ext uri="{FF2B5EF4-FFF2-40B4-BE49-F238E27FC236}">
                <a16:creationId xmlns:a16="http://schemas.microsoft.com/office/drawing/2014/main" id="{7650A042-D37F-4E38-A996-056CD3DB102C}"/>
              </a:ext>
            </a:extLst>
          </p:cNvPr>
          <p:cNvSpPr>
            <a:spLocks xmlns:a="http://schemas.openxmlformats.org/drawingml/2006/main" noGrp="1"/>
          </p:cNvSpPr>
          <p:nvPr/>
        </p:nvSpPr>
        <p:spPr>
          <a:xfrm xmlns:a="http://schemas.openxmlformats.org/drawingml/2006/main">
            <a:off x="571500" y="35433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“Dus de zesde tegel kost precies € 20 extra.”</a:t>
            </a:r>
          </a:p>
        </p:txBody>
      </p:sp>
      <p:sp>
        <p:nvSpPr>
          <p:cNvPr id="8" name="Klopt dit? Noem de stap, het extra totaal&#10;en het aantal extra teg">
            <a:extLst xmlns:a="http://schemas.openxmlformats.org/drawingml/2006/main">
              <a:ext uri="{FF2B5EF4-FFF2-40B4-BE49-F238E27FC236}">
                <a16:creationId xmlns:a16="http://schemas.microsoft.com/office/drawing/2014/main" id="{CB8FF010-A453-44D9-966F-CC20A84910D7}"/>
              </a:ext>
            </a:extLst>
          </p:cNvPr>
          <p:cNvSpPr>
            <a:spLocks xmlns:a="http://schemas.openxmlformats.org/drawingml/2006/main" noGrp="1"/>
          </p:cNvSpPr>
          <p:nvPr/>
        </p:nvSpPr>
        <p:spPr>
          <a:xfrm xmlns:a="http://schemas.openxmlformats.org/drawingml/2006/main">
            <a:off x="571500" y="5467350"/>
            <a:ext cx="14097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Klopt dit? Noem de stap, het extra totaal</a:t>
            </a:r>
          </a:p>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en het aantal extra tegels.</a:t>
            </a:r>
          </a:p>
        </p:txBody>
      </p:sp>
    </p:spTree>
    <p:extLst>
      <p:ext uri="{BB962C8B-B14F-4D97-AF65-F5344CB8AC3E}">
        <p14:creationId xmlns:p14="http://schemas.microsoft.com/office/powerpoint/2010/main" val="116767782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orte controle · Welke betekenis klopt?">
            <a:extLst xmlns:a="http://schemas.openxmlformats.org/drawingml/2006/main">
              <a:ext uri="{FF2B5EF4-FFF2-40B4-BE49-F238E27FC236}">
                <a16:creationId xmlns:a16="http://schemas.microsoft.com/office/drawing/2014/main" id="{DC3E56C7-45D9-46A2-B059-50E43EE45EB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controle · Welke betekenis klopt?</a:t>
            </a:r>
          </a:p>
        </p:txBody>
      </p:sp>
      <p:sp>
        <p:nvSpPr>
          <p:cNvPr id="2" name="">
            <a:extLst xmlns:a="http://schemas.openxmlformats.org/drawingml/2006/main">
              <a:ext uri="{FF2B5EF4-FFF2-40B4-BE49-F238E27FC236}">
                <a16:creationId xmlns:a16="http://schemas.microsoft.com/office/drawing/2014/main" id="{65C1FD84-B19C-47EB-83B4-DF5256BAB9C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Marginale kosten en marginale opbrengsten">
            <a:extLst xmlns:a="http://schemas.openxmlformats.org/drawingml/2006/main">
              <a:ext uri="{FF2B5EF4-FFF2-40B4-BE49-F238E27FC236}">
                <a16:creationId xmlns:a16="http://schemas.microsoft.com/office/drawing/2014/main" id="{7BF6DF4A-1758-474C-9376-E50984875E6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Marginale kosten en marginale opbrengsten</a:t>
            </a:r>
          </a:p>
        </p:txBody>
      </p:sp>
      <p:sp>
        <p:nvSpPr>
          <p:cNvPr id="4" name="slide-number">
            <a:extLst xmlns:a="http://schemas.openxmlformats.org/drawingml/2006/main">
              <a:ext uri="{FF2B5EF4-FFF2-40B4-BE49-F238E27FC236}">
                <a16:creationId xmlns:a16="http://schemas.microsoft.com/office/drawing/2014/main" id="{925E8B16-B268-47AF-BA6F-6E86C07565A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Uitlegvoorbeeld — niet uit het boek · Studio Reliëf">
            <a:extLst xmlns:a="http://schemas.openxmlformats.org/drawingml/2006/main">
              <a:ext uri="{FF2B5EF4-FFF2-40B4-BE49-F238E27FC236}">
                <a16:creationId xmlns:a16="http://schemas.microsoft.com/office/drawing/2014/main" id="{94352894-AE5C-467F-B21E-60B77369C315}"/>
              </a:ext>
            </a:extLst>
          </p:cNvPr>
          <p:cNvSpPr>
            <a:spLocks xmlns:a="http://schemas.openxmlformats.org/drawingml/2006/main" noGrp="1"/>
          </p:cNvSpPr>
          <p:nvPr/>
        </p:nvSpPr>
        <p:spPr>
          <a:xfrm xmlns:a="http://schemas.openxmlformats.org/drawingml/2006/main">
            <a:off x="571500" y="16478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 · Studio Reliëf</a:t>
            </a:r>
          </a:p>
        </p:txBody>
      </p:sp>
      <p:sp>
        <p:nvSpPr>
          <p:cNvPr id="6" name="Bij Q = 6 staat MK = € 20.">
            <a:extLst xmlns:a="http://schemas.openxmlformats.org/drawingml/2006/main">
              <a:ext uri="{FF2B5EF4-FFF2-40B4-BE49-F238E27FC236}">
                <a16:creationId xmlns:a16="http://schemas.microsoft.com/office/drawing/2014/main" id="{DB591588-1188-4469-ABA2-60BA4956A673}"/>
              </a:ext>
            </a:extLst>
          </p:cNvPr>
          <p:cNvSpPr>
            <a:spLocks xmlns:a="http://schemas.openxmlformats.org/drawingml/2006/main" noGrp="1"/>
          </p:cNvSpPr>
          <p:nvPr/>
        </p:nvSpPr>
        <p:spPr>
          <a:xfrm xmlns:a="http://schemas.openxmlformats.org/drawingml/2006/main">
            <a:off x="571500" y="2428875"/>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Bij Q = 6 staat MK = € 20.</a:t>
            </a:r>
          </a:p>
        </p:txBody>
      </p:sp>
      <p:sp>
        <p:nvSpPr>
          <p:cNvPr id="7" name="“Dus de zesde tegel kost precies € 20 extra.”">
            <a:extLst xmlns:a="http://schemas.openxmlformats.org/drawingml/2006/main">
              <a:ext uri="{FF2B5EF4-FFF2-40B4-BE49-F238E27FC236}">
                <a16:creationId xmlns:a16="http://schemas.microsoft.com/office/drawing/2014/main" id="{8A07D7F0-BF6E-4116-BFB2-6391E197D7E4}"/>
              </a:ext>
            </a:extLst>
          </p:cNvPr>
          <p:cNvSpPr>
            <a:spLocks xmlns:a="http://schemas.openxmlformats.org/drawingml/2006/main" noGrp="1"/>
          </p:cNvSpPr>
          <p:nvPr/>
        </p:nvSpPr>
        <p:spPr>
          <a:xfrm xmlns:a="http://schemas.openxmlformats.org/drawingml/2006/main">
            <a:off x="571500" y="35433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“Dus de zesde tegel kost precies € 20 extra.”</a:t>
            </a:r>
          </a:p>
        </p:txBody>
      </p:sp>
      <p:sp>
        <p:nvSpPr>
          <p:cNvPr id="8" name="Onjuist: de stap loopt van 4 naar 6 tegels.">
            <a:extLst xmlns:a="http://schemas.openxmlformats.org/drawingml/2006/main">
              <a:ext uri="{FF2B5EF4-FFF2-40B4-BE49-F238E27FC236}">
                <a16:creationId xmlns:a16="http://schemas.microsoft.com/office/drawing/2014/main" id="{4F56506E-1D89-46F6-BC54-2606A43EF718}"/>
              </a:ext>
            </a:extLst>
          </p:cNvPr>
          <p:cNvSpPr>
            <a:spLocks xmlns:a="http://schemas.openxmlformats.org/drawingml/2006/main" noGrp="1"/>
          </p:cNvSpPr>
          <p:nvPr/>
        </p:nvSpPr>
        <p:spPr>
          <a:xfrm xmlns:a="http://schemas.openxmlformats.org/drawingml/2006/main">
            <a:off x="571500" y="519112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Onjuist: de stap loopt van 4 naar 6 tegels.</a:t>
            </a:r>
          </a:p>
        </p:txBody>
      </p:sp>
      <p:sp>
        <p:nvSpPr>
          <p:cNvPr id="9" name="Samen € 40 extra kosten voor twee extra tegels:&#10;gemiddeld € 20 pe">
            <a:extLst xmlns:a="http://schemas.openxmlformats.org/drawingml/2006/main">
              <a:ext uri="{FF2B5EF4-FFF2-40B4-BE49-F238E27FC236}">
                <a16:creationId xmlns:a16="http://schemas.microsoft.com/office/drawing/2014/main" id="{798FC6E2-AE05-4524-8AEA-A7B578DC0336}"/>
              </a:ext>
            </a:extLst>
          </p:cNvPr>
          <p:cNvSpPr>
            <a:spLocks xmlns:a="http://schemas.openxmlformats.org/drawingml/2006/main" noGrp="1"/>
          </p:cNvSpPr>
          <p:nvPr/>
        </p:nvSpPr>
        <p:spPr>
          <a:xfrm xmlns:a="http://schemas.openxmlformats.org/drawingml/2006/main">
            <a:off x="571500" y="6343650"/>
            <a:ext cx="140970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Samen € 40 extra kosten voor twee extra tegels:</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gemiddeld € 20 per extra tegel in die stap.</a:t>
            </a:r>
          </a:p>
        </p:txBody>
      </p:sp>
    </p:spTree>
    <p:extLst>
      <p:ext uri="{BB962C8B-B14F-4D97-AF65-F5344CB8AC3E}">
        <p14:creationId xmlns:p14="http://schemas.microsoft.com/office/powerpoint/2010/main" val="158181023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1.3 Marginale kosten en marginale opbrengsten">
            <a:extLst xmlns:a="http://schemas.openxmlformats.org/drawingml/2006/main">
              <a:ext uri="{FF2B5EF4-FFF2-40B4-BE49-F238E27FC236}">
                <a16:creationId xmlns:a16="http://schemas.microsoft.com/office/drawing/2014/main" id="{9C5BBF0D-F4F1-4539-8491-826C5A584FC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§2.1.3 Marginale kosten en marginale opbrengsten</a:t>
            </a:r>
          </a:p>
        </p:txBody>
      </p:sp>
      <p:sp>
        <p:nvSpPr>
          <p:cNvPr id="2" name="">
            <a:extLst xmlns:a="http://schemas.openxmlformats.org/drawingml/2006/main">
              <a:ext uri="{FF2B5EF4-FFF2-40B4-BE49-F238E27FC236}">
                <a16:creationId xmlns:a16="http://schemas.microsoft.com/office/drawing/2014/main" id="{AAEFF431-AD02-43B8-8E70-45E16F85D68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Marginale kosten en marginale opbrengsten">
            <a:extLst xmlns:a="http://schemas.openxmlformats.org/drawingml/2006/main">
              <a:ext uri="{FF2B5EF4-FFF2-40B4-BE49-F238E27FC236}">
                <a16:creationId xmlns:a16="http://schemas.microsoft.com/office/drawing/2014/main" id="{C41510E0-F317-4681-B6D3-4F009E024E2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Marginale kosten en marginale opbrengsten</a:t>
            </a:r>
          </a:p>
        </p:txBody>
      </p:sp>
      <p:sp>
        <p:nvSpPr>
          <p:cNvPr id="4" name="slide-number">
            <a:extLst xmlns:a="http://schemas.openxmlformats.org/drawingml/2006/main">
              <a:ext uri="{FF2B5EF4-FFF2-40B4-BE49-F238E27FC236}">
                <a16:creationId xmlns:a16="http://schemas.microsoft.com/office/drawing/2014/main" id="{441E72C9-0EFD-45A1-B95F-BAEE85B78D6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phase">
            <a:extLst xmlns:a="http://schemas.openxmlformats.org/drawingml/2006/main">
              <a:ext uri="{FF2B5EF4-FFF2-40B4-BE49-F238E27FC236}">
                <a16:creationId xmlns:a16="http://schemas.microsoft.com/office/drawing/2014/main" id="{260303A1-40EB-4AC6-BBB6-3F74026765C7}"/>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98A30991-9176-4E50-816B-1A6E9D700891}"/>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0C08B9CE-A98E-45E5-9DA7-12E3E1E908A1}"/>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F94701D0-A6CC-49CF-B608-D8AEA1AF887C}"/>
              </a:ext>
            </a:extLst>
          </p:cNvPr>
          <p:cNvSpPr>
            <a:spLocks xmlns:a="http://schemas.openxmlformats.org/drawingml/2006/main" noGrp="1"/>
          </p:cNvSpPr>
          <p:nvPr/>
        </p:nvSpPr>
        <p:spPr>
          <a:xfrm xmlns:a="http://schemas.openxmlformats.org/drawingml/2006/main">
            <a:off x="1104900" y="2324100"/>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721DB479-0EEE-438C-9B55-56B47ADA00A7}"/>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8C809C38-CF69-4DCA-80D7-CFB68B70FA0F}"/>
              </a:ext>
            </a:extLst>
          </p:cNvPr>
          <p:cNvSpPr>
            <a:spLocks xmlns:a="http://schemas.openxmlformats.org/drawingml/2006/main" noGrp="1"/>
          </p:cNvSpPr>
          <p:nvPr/>
        </p:nvSpPr>
        <p:spPr>
          <a:xfrm xmlns:a="http://schemas.openxmlformats.org/drawingml/2006/main">
            <a:off x="1104900" y="320040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162861A5-4896-4F73-8CAB-E63FF7C64F7C}"/>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DA24E913-51E0-4BB1-88FE-1135D222D6F7}"/>
              </a:ext>
            </a:extLst>
          </p:cNvPr>
          <p:cNvSpPr>
            <a:spLocks xmlns:a="http://schemas.openxmlformats.org/drawingml/2006/main" noGrp="1"/>
          </p:cNvSpPr>
          <p:nvPr/>
        </p:nvSpPr>
        <p:spPr>
          <a:xfrm xmlns:a="http://schemas.openxmlformats.org/drawingml/2006/main">
            <a:off x="1104900" y="37147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7D7E32EA-8162-41A7-833A-E3650C0EA3F0}"/>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0E9313F0-7872-4C67-B15F-33D3ABE9EA0C}"/>
              </a:ext>
            </a:extLst>
          </p:cNvPr>
          <p:cNvSpPr>
            <a:spLocks xmlns:a="http://schemas.openxmlformats.org/drawingml/2006/main" noGrp="1"/>
          </p:cNvSpPr>
          <p:nvPr/>
        </p:nvSpPr>
        <p:spPr>
          <a:xfrm xmlns:a="http://schemas.openxmlformats.org/drawingml/2006/main">
            <a:off x="1104900" y="4248150"/>
            <a:ext cx="7524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84653A4E-A420-4960-A452-9EFC4585755B}"/>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D3183C29-0A8A-48CA-9DD8-34FB1A4D50E7}"/>
              </a:ext>
            </a:extLst>
          </p:cNvPr>
          <p:cNvSpPr>
            <a:spLocks xmlns:a="http://schemas.openxmlformats.org/drawingml/2006/main" noGrp="1"/>
          </p:cNvSpPr>
          <p:nvPr/>
        </p:nvSpPr>
        <p:spPr>
          <a:xfrm xmlns:a="http://schemas.openxmlformats.org/drawingml/2006/main">
            <a:off x="1104900" y="6057900"/>
            <a:ext cx="7524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A70AD0D2-9D49-4D91-AFF0-ACE3C661C65C}"/>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DEFA89C6-C5C1-4F47-8E34-AD522009CEA4}"/>
              </a:ext>
            </a:extLst>
          </p:cNvPr>
          <p:cNvSpPr>
            <a:spLocks xmlns:a="http://schemas.openxmlformats.org/drawingml/2006/main" noGrp="1"/>
          </p:cNvSpPr>
          <p:nvPr/>
        </p:nvSpPr>
        <p:spPr>
          <a:xfrm xmlns:a="http://schemas.openxmlformats.org/drawingml/2006/main">
            <a:off x="1104900" y="68199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3D7ECFF8-0A75-41D3-BD6F-B2333FDAF5DA}"/>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6904C05F-CF04-4945-A216-821C27748867}"/>
              </a:ext>
            </a:extLst>
          </p:cNvPr>
          <p:cNvSpPr>
            <a:spLocks xmlns:a="http://schemas.openxmlformats.org/drawingml/2006/main" noGrp="1"/>
          </p:cNvSpPr>
          <p:nvPr/>
        </p:nvSpPr>
        <p:spPr>
          <a:xfrm xmlns:a="http://schemas.openxmlformats.org/drawingml/2006/main">
            <a:off x="1104900" y="7372350"/>
            <a:ext cx="752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3CB8AB2E-EA5E-4D45-8DA0-CF57E820E9F1}"/>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64188C21-59D8-4FEF-9093-2BDEDCCDE8B8}"/>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Winst, MK en MO berekenen.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MK-patronen vergelijken.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Gemiddeld en marginaal uitleggen.</a:t>
            </a:r>
          </a:p>
        </p:txBody>
      </p:sp>
      <p:sp>
        <p:nvSpPr>
          <p:cNvPr id="23" name="">
            <a:extLst xmlns:a="http://schemas.openxmlformats.org/drawingml/2006/main">
              <a:ext uri="{FF2B5EF4-FFF2-40B4-BE49-F238E27FC236}">
                <a16:creationId xmlns:a16="http://schemas.microsoft.com/office/drawing/2014/main" id="{997423DB-B905-4777-B26E-FAA071AADA22}"/>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2D4A4F4F-38DE-472E-880F-6B2B2229B908}"/>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2FB73020-CD6D-4D78-B059-024E043D4647}"/>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24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theorie p. 19–20</a:t>
            </a:r>
          </a:p>
        </p:txBody>
      </p:sp>
      <p:sp>
        <p:nvSpPr>
          <p:cNvPr id="26" name="">
            <a:extLst xmlns:a="http://schemas.openxmlformats.org/drawingml/2006/main">
              <a:ext uri="{FF2B5EF4-FFF2-40B4-BE49-F238E27FC236}">
                <a16:creationId xmlns:a16="http://schemas.microsoft.com/office/drawing/2014/main" id="{C406F1A6-D1BE-46C8-BCF9-52680B898E64}"/>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45FA2F71-72D7-4181-A151-80304E3CA425}"/>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22C122D8-9C70-4478-8591-077DB01A6CC6}"/>
              </a:ext>
            </a:extLst>
          </p:cNvPr>
          <p:cNvSpPr>
            <a:spLocks xmlns:a="http://schemas.openxmlformats.org/drawingml/2006/main" noGrp="1"/>
          </p:cNvSpPr>
          <p:nvPr/>
        </p:nvSpPr>
        <p:spPr>
          <a:xfrm xmlns:a="http://schemas.openxmlformats.org/drawingml/2006/main">
            <a:off x="9258300" y="6191250"/>
            <a:ext cx="5381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§2.1.3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91338721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 · Linea en Curva">
            <a:extLst xmlns:a="http://schemas.openxmlformats.org/drawingml/2006/main">
              <a:ext uri="{FF2B5EF4-FFF2-40B4-BE49-F238E27FC236}">
                <a16:creationId xmlns:a16="http://schemas.microsoft.com/office/drawing/2014/main" id="{D8869596-B577-433D-8A1A-38EDF084E6E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 Linea en Curva</a:t>
            </a:r>
          </a:p>
        </p:txBody>
      </p:sp>
      <p:sp>
        <p:nvSpPr>
          <p:cNvPr id="2" name="">
            <a:extLst xmlns:a="http://schemas.openxmlformats.org/drawingml/2006/main">
              <a:ext uri="{FF2B5EF4-FFF2-40B4-BE49-F238E27FC236}">
                <a16:creationId xmlns:a16="http://schemas.microsoft.com/office/drawing/2014/main" id="{4B978C9F-F162-47FE-82B2-F818867DE82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 Opgave 7 · Linea en Curva · Boekpagina 27">
            <a:extLst xmlns:a="http://schemas.openxmlformats.org/drawingml/2006/main">
              <a:ext uri="{FF2B5EF4-FFF2-40B4-BE49-F238E27FC236}">
                <a16:creationId xmlns:a16="http://schemas.microsoft.com/office/drawing/2014/main" id="{A1EE2F1C-7746-48F9-9E05-220BD2ABC75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 Opgave 7 · Linea en Curva · Boekpagina 27</a:t>
            </a:r>
          </a:p>
        </p:txBody>
      </p:sp>
      <p:sp>
        <p:nvSpPr>
          <p:cNvPr id="4" name="slide-number">
            <a:extLst xmlns:a="http://schemas.openxmlformats.org/drawingml/2006/main">
              <a:ext uri="{FF2B5EF4-FFF2-40B4-BE49-F238E27FC236}">
                <a16:creationId xmlns:a16="http://schemas.microsoft.com/office/drawing/2014/main" id="{04978CC2-A13B-4DFA-8B21-45B5B6532A8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graphicFrame>
        <p:nvGraphicFramePr>
          <p:cNvPr id="12" name=""/>
          <p:cNvGraphicFramePr/>
          <p:nvPr/>
        </p:nvGraphicFramePr>
        <p:xfrm>
          <a:off xmlns:a="http://schemas.openxmlformats.org/drawingml/2006/main" x="571500" y="2076450"/>
          <a:ext xmlns:a="http://schemas.openxmlformats.org/drawingml/2006/main" cx="14097000" cy="2905125"/>
        </p:xfrm>
        <a:graphic xmlns:a="http://schemas.openxmlformats.org/drawingml/2006/main">
          <a:graphicData uri="http://schemas.openxmlformats.org/drawingml/2006/table">
            <a:tbl>
              <a:tblPr/>
              <a:tblGrid>
                <a:gridCol w="3000375"/>
                <a:gridCol w="6858000"/>
                <a:gridCol w="4238625"/>
              </a:tblGrid>
              <a:tr h="968375">
                <a:tc>
                  <a:txBody>
                    <a:bodyPr lIns="152400" tIns="76200" rIns="133350" bIns="76200"/>
                    <a:lstStyle/>
                    <a:p>
                      <a:r>
                        <a:rPr sz="2625" b="1">
                          <a:solidFill>
                            <a:srgbClr val="FFFFFF"/>
                          </a:solidFill>
                          <a:latin typeface="Arial"/>
                          <a:ea typeface="Arial"/>
                          <a:cs typeface="Arial"/>
                        </a:rPr>
                        <a:t>Onderneming</a:t>
                      </a:r>
                    </a:p>
                  </a:txBody>
                  <a:tcPr marL="91440" marR="91440" marT="45720" marB="45720" anchor="ctr">
                    <a:solidFill>
                      <a:srgbClr val="183247"/>
                    </a:solidFill>
                  </a:tcPr>
                </a:tc>
                <a:tc>
                  <a:txBody>
                    <a:bodyPr lIns="152400" tIns="76200" rIns="133350" bIns="76200"/>
                    <a:lstStyle/>
                    <a:p>
                      <a:r>
                        <a:rPr sz="2625" b="1">
                          <a:solidFill>
                            <a:srgbClr val="FFFFFF"/>
                          </a:solidFill>
                          <a:latin typeface="Arial"/>
                          <a:ea typeface="Arial"/>
                          <a:cs typeface="Arial"/>
                        </a:rPr>
                        <a:t>Kosten en opbrengsten</a:t>
                      </a:r>
                    </a:p>
                  </a:txBody>
                  <a:tcPr marL="91440" marR="91440" marT="45720" marB="45720" anchor="ctr">
                    <a:solidFill>
                      <a:srgbClr val="183247"/>
                    </a:solidFill>
                  </a:tcPr>
                </a:tc>
                <a:tc>
                  <a:txBody>
                    <a:bodyPr lIns="152400" tIns="76200" rIns="133350" bIns="76200"/>
                    <a:lstStyle/>
                    <a:p>
                      <a:r>
                        <a:rPr sz="2625" b="1">
                          <a:solidFill>
                            <a:srgbClr val="FFFFFF"/>
                          </a:solidFill>
                          <a:latin typeface="Arial"/>
                          <a:ea typeface="Arial"/>
                          <a:cs typeface="Arial"/>
                        </a:rPr>
                        <a:t>Capaciteit</a:t>
                      </a:r>
                    </a:p>
                  </a:txBody>
                  <a:tcPr marL="91440" marR="91440" marT="45720" marB="45720" anchor="ctr">
                    <a:solidFill>
                      <a:srgbClr val="183247"/>
                    </a:solidFill>
                  </a:tcPr>
                </a:tc>
              </a:tr>
              <a:tr h="968375">
                <a:tc>
                  <a:txBody>
                    <a:bodyPr lIns="152400" tIns="76200" rIns="133350" bIns="76200"/>
                    <a:lstStyle/>
                    <a:p>
                      <a:r>
                        <a:rPr sz="2625" b="0">
                          <a:solidFill>
                            <a:srgbClr val="183247"/>
                          </a:solidFill>
                          <a:latin typeface="Arial"/>
                          <a:ea typeface="Arial"/>
                          <a:cs typeface="Arial"/>
                        </a:rPr>
                        <a:t>Linea</a:t>
                      </a:r>
                    </a:p>
                  </a:txBody>
                  <a:tcPr marL="91440" marR="91440" marT="45720" marB="45720" anchor="ctr">
                    <a:solidFill>
                      <a:srgbClr val="FFFFFF"/>
                    </a:solidFill>
                  </a:tcPr>
                </a:tc>
                <a:tc>
                  <a:txBody>
                    <a:bodyPr lIns="152400" tIns="76200" rIns="133350" bIns="76200"/>
                    <a:lstStyle/>
                    <a:p>
                      <a:r>
                        <a:rPr sz="2625" b="0">
                          <a:solidFill>
                            <a:srgbClr val="183247"/>
                          </a:solidFill>
                          <a:latin typeface="Arial"/>
                          <a:ea typeface="Arial"/>
                          <a:cs typeface="Arial"/>
                        </a:rPr>
                        <a:t>TK = 200 + 3Q</a:t>
                      </a:r>
                    </a:p>
                    <a:p>
                      <a:r>
                        <a:rPr sz="2625" b="0">
                          <a:solidFill>
                            <a:srgbClr val="183247"/>
                          </a:solidFill>
                          <a:latin typeface="Arial"/>
                          <a:ea typeface="Arial"/>
                          <a:cs typeface="Arial"/>
                        </a:rPr>
                        <a:t>TO = 8Q</a:t>
                      </a:r>
                    </a:p>
                  </a:txBody>
                  <a:tcPr marL="91440" marR="91440" marT="45720" marB="45720" anchor="ctr">
                    <a:solidFill>
                      <a:srgbClr val="FFFFFF"/>
                    </a:solidFill>
                  </a:tcPr>
                </a:tc>
                <a:tc>
                  <a:txBody>
                    <a:bodyPr lIns="152400" tIns="76200" rIns="133350" bIns="76200"/>
                    <a:lstStyle/>
                    <a:p>
                      <a:r>
                        <a:rPr sz="2625" b="0">
                          <a:solidFill>
                            <a:srgbClr val="183247"/>
                          </a:solidFill>
                          <a:latin typeface="Arial"/>
                          <a:ea typeface="Arial"/>
                          <a:cs typeface="Arial"/>
                        </a:rPr>
                        <a:t>30 producten per week</a:t>
                      </a:r>
                    </a:p>
                  </a:txBody>
                  <a:tcPr marL="91440" marR="91440" marT="45720" marB="45720" anchor="ctr">
                    <a:solidFill>
                      <a:srgbClr val="FFFFFF"/>
                    </a:solidFill>
                  </a:tcPr>
                </a:tc>
              </a:tr>
              <a:tr h="968375">
                <a:tc>
                  <a:txBody>
                    <a:bodyPr lIns="152400" tIns="76200" rIns="133350" bIns="76200"/>
                    <a:lstStyle/>
                    <a:p>
                      <a:r>
                        <a:rPr sz="2625" b="0">
                          <a:solidFill>
                            <a:srgbClr val="183247"/>
                          </a:solidFill>
                          <a:latin typeface="Arial"/>
                          <a:ea typeface="Arial"/>
                          <a:cs typeface="Arial"/>
                        </a:rPr>
                        <a:t>Curva</a:t>
                      </a:r>
                    </a:p>
                  </a:txBody>
                  <a:tcPr marL="91440" marR="91440" marT="45720" marB="45720" anchor="ctr">
                    <a:solidFill>
                      <a:srgbClr val="EFF4F7"/>
                    </a:solidFill>
                  </a:tcPr>
                </a:tc>
                <a:tc>
                  <a:txBody>
                    <a:bodyPr lIns="152400" tIns="76200" rIns="133350" bIns="76200"/>
                    <a:lstStyle/>
                    <a:p>
                      <a:r>
                        <a:rPr sz="2625" b="0">
                          <a:solidFill>
                            <a:srgbClr val="183247"/>
                          </a:solidFill>
                          <a:latin typeface="Arial"/>
                          <a:ea typeface="Arial"/>
                          <a:cs typeface="Arial"/>
                        </a:rPr>
                        <a:t>TK = 100 + Q²</a:t>
                      </a:r>
                    </a:p>
                    <a:p>
                      <a:r>
                        <a:rPr sz="2625" b="0">
                          <a:solidFill>
                            <a:srgbClr val="183247"/>
                          </a:solidFill>
                          <a:latin typeface="Arial"/>
                          <a:ea typeface="Arial"/>
                          <a:cs typeface="Arial"/>
                        </a:rPr>
                        <a:t>€ 30 per product; TO = 30Q</a:t>
                      </a:r>
                    </a:p>
                  </a:txBody>
                  <a:tcPr marL="91440" marR="91440" marT="45720" marB="45720" anchor="ctr">
                    <a:solidFill>
                      <a:srgbClr val="EFF4F7"/>
                    </a:solidFill>
                  </a:tcPr>
                </a:tc>
                <a:tc>
                  <a:txBody>
                    <a:bodyPr lIns="152400" tIns="76200" rIns="133350" bIns="76200"/>
                    <a:lstStyle/>
                    <a:p>
                      <a:r>
                        <a:rPr sz="2625" b="0">
                          <a:solidFill>
                            <a:srgbClr val="183247"/>
                          </a:solidFill>
                          <a:latin typeface="Arial"/>
                          <a:ea typeface="Arial"/>
                          <a:cs typeface="Arial"/>
                        </a:rPr>
                        <a:t>15 producten per week</a:t>
                      </a:r>
                    </a:p>
                  </a:txBody>
                  <a:tcPr marL="91440" marR="91440" marT="45720" marB="45720" anchor="ctr">
                    <a:solidFill>
                      <a:srgbClr val="EFF4F7"/>
                    </a:solidFill>
                  </a:tcPr>
                </a:tc>
              </a:tr>
            </a:tbl>
          </a:graphicData>
        </a:graphic>
      </p:graphicFrame>
      <p:sp>
        <p:nvSpPr>
          <p:cNvPr id="6" name="Q: producten per week. Totale bedragen: euro per week.">
            <a:extLst xmlns:a="http://schemas.openxmlformats.org/drawingml/2006/main">
              <a:ext uri="{FF2B5EF4-FFF2-40B4-BE49-F238E27FC236}">
                <a16:creationId xmlns:a16="http://schemas.microsoft.com/office/drawing/2014/main" id="{72A4E2A2-52FA-4D8F-A8BA-CAEFBDAC93E8}"/>
              </a:ext>
            </a:extLst>
          </p:cNvPr>
          <p:cNvSpPr>
            <a:spLocks xmlns:a="http://schemas.openxmlformats.org/drawingml/2006/main" noGrp="1"/>
          </p:cNvSpPr>
          <p:nvPr/>
        </p:nvSpPr>
        <p:spPr>
          <a:xfrm xmlns:a="http://schemas.openxmlformats.org/drawingml/2006/main">
            <a:off x="571500" y="5391150"/>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Q: producten per week. Totale bedragen: euro per week.</a:t>
            </a:r>
          </a:p>
        </p:txBody>
      </p:sp>
      <p:sp>
        <p:nvSpPr>
          <p:cNvPr id="7" name="Bereken MK en MO per extra product over iedere tabelstap.&#10;Zet de ">
            <a:extLst xmlns:a="http://schemas.openxmlformats.org/drawingml/2006/main">
              <a:ext uri="{FF2B5EF4-FFF2-40B4-BE49-F238E27FC236}">
                <a16:creationId xmlns:a16="http://schemas.microsoft.com/office/drawing/2014/main" id="{BB993B5F-E851-4B84-9D0C-5E52E92B0607}"/>
              </a:ext>
            </a:extLst>
          </p:cNvPr>
          <p:cNvSpPr>
            <a:spLocks xmlns:a="http://schemas.openxmlformats.org/drawingml/2006/main" noGrp="1"/>
          </p:cNvSpPr>
          <p:nvPr/>
        </p:nvSpPr>
        <p:spPr>
          <a:xfrm xmlns:a="http://schemas.openxmlformats.org/drawingml/2006/main">
            <a:off x="571500" y="6448425"/>
            <a:ext cx="140970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Bereken MK en MO per extra product over iedere tabelstap.</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Zet de uitkomst bij de laatste rij van die stap.</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Gebruik geen afgeleiden.</a:t>
            </a:r>
          </a:p>
        </p:txBody>
      </p:sp>
    </p:spTree>
    <p:extLst>
      <p:ext uri="{BB962C8B-B14F-4D97-AF65-F5344CB8AC3E}">
        <p14:creationId xmlns:p14="http://schemas.microsoft.com/office/powerpoint/2010/main" val="77334323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 · Invultabel Linea">
            <a:extLst xmlns:a="http://schemas.openxmlformats.org/drawingml/2006/main">
              <a:ext uri="{FF2B5EF4-FFF2-40B4-BE49-F238E27FC236}">
                <a16:creationId xmlns:a16="http://schemas.microsoft.com/office/drawing/2014/main" id="{4566BC79-D2D1-49F2-B579-9099E9B47C4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 Invultabel Linea</a:t>
            </a:r>
          </a:p>
        </p:txBody>
      </p:sp>
      <p:sp>
        <p:nvSpPr>
          <p:cNvPr id="2" name="">
            <a:extLst xmlns:a="http://schemas.openxmlformats.org/drawingml/2006/main">
              <a:ext uri="{FF2B5EF4-FFF2-40B4-BE49-F238E27FC236}">
                <a16:creationId xmlns:a16="http://schemas.microsoft.com/office/drawing/2014/main" id="{26E7BAD4-6C8C-4103-A770-079E2AEC978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 Opgave 7 · Linea en Curva · Boekpagina 27">
            <a:extLst xmlns:a="http://schemas.openxmlformats.org/drawingml/2006/main">
              <a:ext uri="{FF2B5EF4-FFF2-40B4-BE49-F238E27FC236}">
                <a16:creationId xmlns:a16="http://schemas.microsoft.com/office/drawing/2014/main" id="{7D483E60-DFBF-4F90-914A-07C7F1855F9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 Opgave 7 · Linea en Curva · Boekpagina 27</a:t>
            </a:r>
          </a:p>
        </p:txBody>
      </p:sp>
      <p:sp>
        <p:nvSpPr>
          <p:cNvPr id="4" name="slide-number">
            <a:extLst xmlns:a="http://schemas.openxmlformats.org/drawingml/2006/main">
              <a:ext uri="{FF2B5EF4-FFF2-40B4-BE49-F238E27FC236}">
                <a16:creationId xmlns:a16="http://schemas.microsoft.com/office/drawing/2014/main" id="{AC0EC65D-7F37-4B4B-B1FA-72B3DCD2149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TK = 200 + 3Q     TO = 8Q">
            <a:extLst xmlns:a="http://schemas.openxmlformats.org/drawingml/2006/main">
              <a:ext uri="{FF2B5EF4-FFF2-40B4-BE49-F238E27FC236}">
                <a16:creationId xmlns:a16="http://schemas.microsoft.com/office/drawing/2014/main" id="{546E928C-077B-4B09-97CD-0E1F2D03C82B}"/>
              </a:ext>
            </a:extLst>
          </p:cNvPr>
          <p:cNvSpPr>
            <a:spLocks xmlns:a="http://schemas.openxmlformats.org/drawingml/2006/main" noGrp="1"/>
          </p:cNvSpPr>
          <p:nvPr/>
        </p:nvSpPr>
        <p:spPr>
          <a:xfrm xmlns:a="http://schemas.openxmlformats.org/drawingml/2006/main">
            <a:off x="571500" y="1895475"/>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658A"/>
                </a:solidFill>
                <a:latin typeface="Arial"/>
                <a:ea typeface="Arial"/>
                <a:cs typeface="Arial"/>
              </a:defRPr>
            </a:pPr>
            <a:r>
              <a:rPr sz="3375" b="1">
                <a:solidFill>
                  <a:srgbClr val="17658A"/>
                </a:solidFill>
                <a:latin typeface="Arial"/>
                <a:ea typeface="Arial"/>
                <a:cs typeface="Arial"/>
              </a:rPr>
              <a:t>TK = 200 + 3Q     TO = 8Q</a:t>
            </a:r>
          </a:p>
        </p:txBody>
      </p:sp>
      <p:sp>
        <p:nvSpPr>
          <p:cNvPr id="6" name="Q: producten per week · TK, TO en winst: euro per week">
            <a:extLst xmlns:a="http://schemas.openxmlformats.org/drawingml/2006/main">
              <a:ext uri="{FF2B5EF4-FFF2-40B4-BE49-F238E27FC236}">
                <a16:creationId xmlns:a16="http://schemas.microsoft.com/office/drawing/2014/main" id="{8B920756-E6F3-4210-ABEF-6450BBBFD3BE}"/>
              </a:ext>
            </a:extLst>
          </p:cNvPr>
          <p:cNvSpPr>
            <a:spLocks xmlns:a="http://schemas.openxmlformats.org/drawingml/2006/main" noGrp="1"/>
          </p:cNvSpPr>
          <p:nvPr/>
        </p:nvSpPr>
        <p:spPr>
          <a:xfrm xmlns:a="http://schemas.openxmlformats.org/drawingml/2006/main">
            <a:off x="571500" y="2809875"/>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Q: producten per week · TK, TO en winst: euro per week</a:t>
            </a:r>
          </a:p>
        </p:txBody>
      </p:sp>
      <p:graphicFrame>
        <p:nvGraphicFramePr>
          <p:cNvPr id="15" name=""/>
          <p:cNvGraphicFramePr/>
          <p:nvPr/>
        </p:nvGraphicFramePr>
        <p:xfrm>
          <a:off xmlns:a="http://schemas.openxmlformats.org/drawingml/2006/main" x="571500" y="3629025"/>
          <a:ext xmlns:a="http://schemas.openxmlformats.org/drawingml/2006/main" cx="14097000" cy="3457575"/>
        </p:xfrm>
        <a:graphic xmlns:a="http://schemas.openxmlformats.org/drawingml/2006/main">
          <a:graphicData uri="http://schemas.openxmlformats.org/drawingml/2006/table">
            <a:tbl>
              <a:tblPr/>
              <a:tblGrid>
                <a:gridCol w="1238250"/>
                <a:gridCol w="1905000"/>
                <a:gridCol w="1905000"/>
                <a:gridCol w="2571750"/>
                <a:gridCol w="3238500"/>
                <a:gridCol w="3238500"/>
              </a:tblGrid>
              <a:tr h="691515">
                <a:tc>
                  <a:txBody>
                    <a:bodyPr lIns="152400" tIns="76200" rIns="133350" bIns="76200"/>
                    <a:lstStyle/>
                    <a:p>
                      <a:r>
                        <a:rPr sz="2400" b="1">
                          <a:solidFill>
                            <a:srgbClr val="FFFFFF"/>
                          </a:solidFill>
                          <a:latin typeface="Arial"/>
                          <a:ea typeface="Arial"/>
                          <a:cs typeface="Arial"/>
                        </a:rPr>
                        <a:t>Q</a:t>
                      </a:r>
                    </a:p>
                  </a:txBody>
                  <a:tcPr marL="91440" marR="91440" marT="45720" marB="45720" anchor="ctr">
                    <a:solidFill>
                      <a:srgbClr val="183247"/>
                    </a:solidFill>
                  </a:tcPr>
                </a:tc>
                <a:tc>
                  <a:txBody>
                    <a:bodyPr lIns="152400" tIns="76200" rIns="133350" bIns="76200"/>
                    <a:lstStyle/>
                    <a:p>
                      <a:r>
                        <a:rPr sz="2400" b="1">
                          <a:solidFill>
                            <a:srgbClr val="FFFFFF"/>
                          </a:solidFill>
                          <a:latin typeface="Arial"/>
                          <a:ea typeface="Arial"/>
                          <a:cs typeface="Arial"/>
                        </a:rPr>
                        <a:t>TK (€)</a:t>
                      </a:r>
                    </a:p>
                  </a:txBody>
                  <a:tcPr marL="91440" marR="91440" marT="45720" marB="45720" anchor="ctr">
                    <a:solidFill>
                      <a:srgbClr val="183247"/>
                    </a:solidFill>
                  </a:tcPr>
                </a:tc>
                <a:tc>
                  <a:txBody>
                    <a:bodyPr lIns="152400" tIns="76200" rIns="133350" bIns="76200"/>
                    <a:lstStyle/>
                    <a:p>
                      <a:r>
                        <a:rPr sz="2400" b="1">
                          <a:solidFill>
                            <a:srgbClr val="FFFFFF"/>
                          </a:solidFill>
                          <a:latin typeface="Arial"/>
                          <a:ea typeface="Arial"/>
                          <a:cs typeface="Arial"/>
                        </a:rPr>
                        <a:t>TO (€)</a:t>
                      </a:r>
                    </a:p>
                  </a:txBody>
                  <a:tcPr marL="91440" marR="91440" marT="45720" marB="45720" anchor="ctr">
                    <a:solidFill>
                      <a:srgbClr val="183247"/>
                    </a:solidFill>
                  </a:tcPr>
                </a:tc>
                <a:tc>
                  <a:txBody>
                    <a:bodyPr lIns="152400" tIns="76200" rIns="133350" bIns="76200"/>
                    <a:lstStyle/>
                    <a:p>
                      <a:r>
                        <a:rPr sz="2400" b="1">
                          <a:solidFill>
                            <a:srgbClr val="FFFFFF"/>
                          </a:solidFill>
                          <a:latin typeface="Arial"/>
                          <a:ea typeface="Arial"/>
                          <a:cs typeface="Arial"/>
                        </a:rPr>
                        <a:t>Winst (€)</a:t>
                      </a:r>
                    </a:p>
                  </a:txBody>
                  <a:tcPr marL="91440" marR="91440" marT="45720" marB="45720" anchor="ctr">
                    <a:solidFill>
                      <a:srgbClr val="183247"/>
                    </a:solidFill>
                  </a:tcPr>
                </a:tc>
                <a:tc>
                  <a:txBody>
                    <a:bodyPr lIns="152400" tIns="76200" rIns="133350" bIns="76200"/>
                    <a:lstStyle/>
                    <a:p>
                      <a:r>
                        <a:rPr sz="2400" b="1">
                          <a:solidFill>
                            <a:srgbClr val="FFFFFF"/>
                          </a:solidFill>
                          <a:latin typeface="Arial"/>
                          <a:ea typeface="Arial"/>
                          <a:cs typeface="Arial"/>
                        </a:rPr>
                        <a:t>MK (€ per</a:t>
                      </a:r>
                    </a:p>
                    <a:p>
                      <a:r>
                        <a:rPr sz="2400" b="1">
                          <a:solidFill>
                            <a:srgbClr val="FFFFFF"/>
                          </a:solidFill>
                          <a:latin typeface="Arial"/>
                          <a:ea typeface="Arial"/>
                          <a:cs typeface="Arial"/>
                        </a:rPr>
                        <a:t>extra product)</a:t>
                      </a:r>
                    </a:p>
                  </a:txBody>
                  <a:tcPr marL="91440" marR="91440" marT="45720" marB="45720" anchor="ctr">
                    <a:solidFill>
                      <a:srgbClr val="183247"/>
                    </a:solidFill>
                  </a:tcPr>
                </a:tc>
                <a:tc>
                  <a:txBody>
                    <a:bodyPr lIns="152400" tIns="76200" rIns="133350" bIns="76200"/>
                    <a:lstStyle/>
                    <a:p>
                      <a:r>
                        <a:rPr sz="2400" b="1">
                          <a:solidFill>
                            <a:srgbClr val="FFFFFF"/>
                          </a:solidFill>
                          <a:latin typeface="Arial"/>
                          <a:ea typeface="Arial"/>
                          <a:cs typeface="Arial"/>
                        </a:rPr>
                        <a:t>MO (€ per</a:t>
                      </a:r>
                    </a:p>
                    <a:p>
                      <a:r>
                        <a:rPr sz="2400" b="1">
                          <a:solidFill>
                            <a:srgbClr val="FFFFFF"/>
                          </a:solidFill>
                          <a:latin typeface="Arial"/>
                          <a:ea typeface="Arial"/>
                          <a:cs typeface="Arial"/>
                        </a:rPr>
                        <a:t>extra product)</a:t>
                      </a:r>
                    </a:p>
                  </a:txBody>
                  <a:tcPr marL="91440" marR="91440" marT="45720" marB="45720" anchor="ctr">
                    <a:solidFill>
                      <a:srgbClr val="183247"/>
                    </a:solidFill>
                  </a:tcPr>
                </a:tc>
              </a:tr>
              <a:tr h="691515">
                <a:tc>
                  <a:txBody>
                    <a:bodyPr lIns="152400" tIns="76200" rIns="133350" bIns="76200"/>
                    <a:lstStyle/>
                    <a:p>
                      <a:r>
                        <a:rPr sz="2400" b="0">
                          <a:solidFill>
                            <a:srgbClr val="183247"/>
                          </a:solidFill>
                          <a:latin typeface="Arial"/>
                          <a:ea typeface="Arial"/>
                          <a:cs typeface="Arial"/>
                        </a:rPr>
                        <a:t>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200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FFFFFF"/>
                    </a:solidFill>
                  </a:tcPr>
                </a:tc>
              </a:tr>
              <a:tr h="691515">
                <a:tc>
                  <a:txBody>
                    <a:bodyPr lIns="152400" tIns="76200" rIns="133350" bIns="76200"/>
                    <a:lstStyle/>
                    <a:p>
                      <a:r>
                        <a:rPr sz="2400" b="0">
                          <a:solidFill>
                            <a:srgbClr val="183247"/>
                          </a:solidFill>
                          <a:latin typeface="Arial"/>
                          <a:ea typeface="Arial"/>
                          <a:cs typeface="Arial"/>
                        </a:rPr>
                        <a:t>10</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230</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80</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EFF4F7"/>
                    </a:solidFill>
                  </a:tcPr>
                </a:tc>
              </a:tr>
              <a:tr h="691515">
                <a:tc>
                  <a:txBody>
                    <a:bodyPr lIns="152400" tIns="76200" rIns="133350" bIns="76200"/>
                    <a:lstStyle/>
                    <a:p>
                      <a:r>
                        <a:rPr sz="2400" b="0">
                          <a:solidFill>
                            <a:srgbClr val="183247"/>
                          </a:solidFill>
                          <a:latin typeface="Arial"/>
                          <a:ea typeface="Arial"/>
                          <a:cs typeface="Arial"/>
                        </a:rPr>
                        <a:t>20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260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160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FFFFFF"/>
                    </a:solidFill>
                  </a:tcPr>
                </a:tc>
              </a:tr>
              <a:tr h="691515">
                <a:tc>
                  <a:txBody>
                    <a:bodyPr lIns="152400" tIns="76200" rIns="133350" bIns="76200"/>
                    <a:lstStyle/>
                    <a:p>
                      <a:r>
                        <a:rPr sz="2400" b="0">
                          <a:solidFill>
                            <a:srgbClr val="183247"/>
                          </a:solidFill>
                          <a:latin typeface="Arial"/>
                          <a:ea typeface="Arial"/>
                          <a:cs typeface="Arial"/>
                        </a:rPr>
                        <a:t>30</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290</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240</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EFF4F7"/>
                    </a:solidFill>
                  </a:tcPr>
                </a:tc>
              </a:tr>
            </a:tbl>
          </a:graphicData>
        </a:graphic>
      </p:graphicFrame>
      <p:sp>
        <p:nvSpPr>
          <p:cNvPr id="8" name="MK en MO: per extra product, vanaf de vorige tabelrij.">
            <a:extLst xmlns:a="http://schemas.openxmlformats.org/drawingml/2006/main">
              <a:ext uri="{FF2B5EF4-FFF2-40B4-BE49-F238E27FC236}">
                <a16:creationId xmlns:a16="http://schemas.microsoft.com/office/drawing/2014/main" id="{462EBB37-8170-451B-9588-E52B69AB26EE}"/>
              </a:ext>
            </a:extLst>
          </p:cNvPr>
          <p:cNvSpPr>
            <a:spLocks xmlns:a="http://schemas.openxmlformats.org/drawingml/2006/main" noGrp="1"/>
          </p:cNvSpPr>
          <p:nvPr/>
        </p:nvSpPr>
        <p:spPr>
          <a:xfrm xmlns:a="http://schemas.openxmlformats.org/drawingml/2006/main">
            <a:off x="571500" y="7496175"/>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MK en MO: per extra product, vanaf de vorige tabelrij.</a:t>
            </a:r>
          </a:p>
        </p:txBody>
      </p:sp>
    </p:spTree>
    <p:extLst>
      <p:ext uri="{BB962C8B-B14F-4D97-AF65-F5344CB8AC3E}">
        <p14:creationId xmlns:p14="http://schemas.microsoft.com/office/powerpoint/2010/main" val="70927492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 · Invultabel Curva">
            <a:extLst xmlns:a="http://schemas.openxmlformats.org/drawingml/2006/main">
              <a:ext uri="{FF2B5EF4-FFF2-40B4-BE49-F238E27FC236}">
                <a16:creationId xmlns:a16="http://schemas.microsoft.com/office/drawing/2014/main" id="{C2717AC0-9EF2-4267-B513-FF5E405A7EB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 Invultabel Curva</a:t>
            </a:r>
          </a:p>
        </p:txBody>
      </p:sp>
      <p:sp>
        <p:nvSpPr>
          <p:cNvPr id="2" name="">
            <a:extLst xmlns:a="http://schemas.openxmlformats.org/drawingml/2006/main">
              <a:ext uri="{FF2B5EF4-FFF2-40B4-BE49-F238E27FC236}">
                <a16:creationId xmlns:a16="http://schemas.microsoft.com/office/drawing/2014/main" id="{4B0382AC-673D-4BFC-B62C-08FE8592C13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 Opgave 7 · Linea en Curva · Boekpagina 27">
            <a:extLst xmlns:a="http://schemas.openxmlformats.org/drawingml/2006/main">
              <a:ext uri="{FF2B5EF4-FFF2-40B4-BE49-F238E27FC236}">
                <a16:creationId xmlns:a16="http://schemas.microsoft.com/office/drawing/2014/main" id="{E1F064EF-C756-458A-ACD9-FAA434AE194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 Opgave 7 · Linea en Curva · Boekpagina 27</a:t>
            </a:r>
          </a:p>
        </p:txBody>
      </p:sp>
      <p:sp>
        <p:nvSpPr>
          <p:cNvPr id="4" name="slide-number">
            <a:extLst xmlns:a="http://schemas.openxmlformats.org/drawingml/2006/main">
              <a:ext uri="{FF2B5EF4-FFF2-40B4-BE49-F238E27FC236}">
                <a16:creationId xmlns:a16="http://schemas.microsoft.com/office/drawing/2014/main" id="{A75676B7-F984-43F9-B3B4-0ECB776B719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TK = 100 + Q²     TO = 30Q">
            <a:extLst xmlns:a="http://schemas.openxmlformats.org/drawingml/2006/main">
              <a:ext uri="{FF2B5EF4-FFF2-40B4-BE49-F238E27FC236}">
                <a16:creationId xmlns:a16="http://schemas.microsoft.com/office/drawing/2014/main" id="{3B7C1391-989F-4600-A36E-E0227BE3BA03}"/>
              </a:ext>
            </a:extLst>
          </p:cNvPr>
          <p:cNvSpPr>
            <a:spLocks xmlns:a="http://schemas.openxmlformats.org/drawingml/2006/main" noGrp="1"/>
          </p:cNvSpPr>
          <p:nvPr/>
        </p:nvSpPr>
        <p:spPr>
          <a:xfrm xmlns:a="http://schemas.openxmlformats.org/drawingml/2006/main">
            <a:off x="571500" y="1895475"/>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658A"/>
                </a:solidFill>
                <a:latin typeface="Arial"/>
                <a:ea typeface="Arial"/>
                <a:cs typeface="Arial"/>
              </a:defRPr>
            </a:pPr>
            <a:r>
              <a:rPr sz="3375" b="1">
                <a:solidFill>
                  <a:srgbClr val="17658A"/>
                </a:solidFill>
                <a:latin typeface="Arial"/>
                <a:ea typeface="Arial"/>
                <a:cs typeface="Arial"/>
              </a:rPr>
              <a:t>TK = 100 + Q²     TO = 30Q</a:t>
            </a:r>
          </a:p>
        </p:txBody>
      </p:sp>
      <p:sp>
        <p:nvSpPr>
          <p:cNvPr id="6" name="Q: producten per week · TK, TO en winst: euro per week">
            <a:extLst xmlns:a="http://schemas.openxmlformats.org/drawingml/2006/main">
              <a:ext uri="{FF2B5EF4-FFF2-40B4-BE49-F238E27FC236}">
                <a16:creationId xmlns:a16="http://schemas.microsoft.com/office/drawing/2014/main" id="{ACDA105C-0643-4D55-BCF8-5920062C3799}"/>
              </a:ext>
            </a:extLst>
          </p:cNvPr>
          <p:cNvSpPr>
            <a:spLocks xmlns:a="http://schemas.openxmlformats.org/drawingml/2006/main" noGrp="1"/>
          </p:cNvSpPr>
          <p:nvPr/>
        </p:nvSpPr>
        <p:spPr>
          <a:xfrm xmlns:a="http://schemas.openxmlformats.org/drawingml/2006/main">
            <a:off x="571500" y="2809875"/>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Q: producten per week · TK, TO en winst: euro per week</a:t>
            </a:r>
          </a:p>
        </p:txBody>
      </p:sp>
      <p:graphicFrame>
        <p:nvGraphicFramePr>
          <p:cNvPr id="15" name=""/>
          <p:cNvGraphicFramePr/>
          <p:nvPr/>
        </p:nvGraphicFramePr>
        <p:xfrm>
          <a:off xmlns:a="http://schemas.openxmlformats.org/drawingml/2006/main" x="571500" y="3629025"/>
          <a:ext xmlns:a="http://schemas.openxmlformats.org/drawingml/2006/main" cx="14097000" cy="3457575"/>
        </p:xfrm>
        <a:graphic xmlns:a="http://schemas.openxmlformats.org/drawingml/2006/main">
          <a:graphicData uri="http://schemas.openxmlformats.org/drawingml/2006/table">
            <a:tbl>
              <a:tblPr/>
              <a:tblGrid>
                <a:gridCol w="1238250"/>
                <a:gridCol w="1905000"/>
                <a:gridCol w="1905000"/>
                <a:gridCol w="2571750"/>
                <a:gridCol w="3238500"/>
                <a:gridCol w="3238500"/>
              </a:tblGrid>
              <a:tr h="691515">
                <a:tc>
                  <a:txBody>
                    <a:bodyPr lIns="152400" tIns="76200" rIns="133350" bIns="76200"/>
                    <a:lstStyle/>
                    <a:p>
                      <a:r>
                        <a:rPr sz="2400" b="1">
                          <a:solidFill>
                            <a:srgbClr val="FFFFFF"/>
                          </a:solidFill>
                          <a:latin typeface="Arial"/>
                          <a:ea typeface="Arial"/>
                          <a:cs typeface="Arial"/>
                        </a:rPr>
                        <a:t>Q</a:t>
                      </a:r>
                    </a:p>
                  </a:txBody>
                  <a:tcPr marL="91440" marR="91440" marT="45720" marB="45720" anchor="ctr">
                    <a:solidFill>
                      <a:srgbClr val="183247"/>
                    </a:solidFill>
                  </a:tcPr>
                </a:tc>
                <a:tc>
                  <a:txBody>
                    <a:bodyPr lIns="152400" tIns="76200" rIns="133350" bIns="76200"/>
                    <a:lstStyle/>
                    <a:p>
                      <a:r>
                        <a:rPr sz="2400" b="1">
                          <a:solidFill>
                            <a:srgbClr val="FFFFFF"/>
                          </a:solidFill>
                          <a:latin typeface="Arial"/>
                          <a:ea typeface="Arial"/>
                          <a:cs typeface="Arial"/>
                        </a:rPr>
                        <a:t>TK (€)</a:t>
                      </a:r>
                    </a:p>
                  </a:txBody>
                  <a:tcPr marL="91440" marR="91440" marT="45720" marB="45720" anchor="ctr">
                    <a:solidFill>
                      <a:srgbClr val="183247"/>
                    </a:solidFill>
                  </a:tcPr>
                </a:tc>
                <a:tc>
                  <a:txBody>
                    <a:bodyPr lIns="152400" tIns="76200" rIns="133350" bIns="76200"/>
                    <a:lstStyle/>
                    <a:p>
                      <a:r>
                        <a:rPr sz="2400" b="1">
                          <a:solidFill>
                            <a:srgbClr val="FFFFFF"/>
                          </a:solidFill>
                          <a:latin typeface="Arial"/>
                          <a:ea typeface="Arial"/>
                          <a:cs typeface="Arial"/>
                        </a:rPr>
                        <a:t>TO (€)</a:t>
                      </a:r>
                    </a:p>
                  </a:txBody>
                  <a:tcPr marL="91440" marR="91440" marT="45720" marB="45720" anchor="ctr">
                    <a:solidFill>
                      <a:srgbClr val="183247"/>
                    </a:solidFill>
                  </a:tcPr>
                </a:tc>
                <a:tc>
                  <a:txBody>
                    <a:bodyPr lIns="152400" tIns="76200" rIns="133350" bIns="76200"/>
                    <a:lstStyle/>
                    <a:p>
                      <a:r>
                        <a:rPr sz="2400" b="1">
                          <a:solidFill>
                            <a:srgbClr val="FFFFFF"/>
                          </a:solidFill>
                          <a:latin typeface="Arial"/>
                          <a:ea typeface="Arial"/>
                          <a:cs typeface="Arial"/>
                        </a:rPr>
                        <a:t>Winst (€)</a:t>
                      </a:r>
                    </a:p>
                  </a:txBody>
                  <a:tcPr marL="91440" marR="91440" marT="45720" marB="45720" anchor="ctr">
                    <a:solidFill>
                      <a:srgbClr val="183247"/>
                    </a:solidFill>
                  </a:tcPr>
                </a:tc>
                <a:tc>
                  <a:txBody>
                    <a:bodyPr lIns="152400" tIns="76200" rIns="133350" bIns="76200"/>
                    <a:lstStyle/>
                    <a:p>
                      <a:r>
                        <a:rPr sz="2400" b="1">
                          <a:solidFill>
                            <a:srgbClr val="FFFFFF"/>
                          </a:solidFill>
                          <a:latin typeface="Arial"/>
                          <a:ea typeface="Arial"/>
                          <a:cs typeface="Arial"/>
                        </a:rPr>
                        <a:t>MK (€ per</a:t>
                      </a:r>
                    </a:p>
                    <a:p>
                      <a:r>
                        <a:rPr sz="2400" b="1">
                          <a:solidFill>
                            <a:srgbClr val="FFFFFF"/>
                          </a:solidFill>
                          <a:latin typeface="Arial"/>
                          <a:ea typeface="Arial"/>
                          <a:cs typeface="Arial"/>
                        </a:rPr>
                        <a:t>extra product)</a:t>
                      </a:r>
                    </a:p>
                  </a:txBody>
                  <a:tcPr marL="91440" marR="91440" marT="45720" marB="45720" anchor="ctr">
                    <a:solidFill>
                      <a:srgbClr val="183247"/>
                    </a:solidFill>
                  </a:tcPr>
                </a:tc>
                <a:tc>
                  <a:txBody>
                    <a:bodyPr lIns="152400" tIns="76200" rIns="133350" bIns="76200"/>
                    <a:lstStyle/>
                    <a:p>
                      <a:r>
                        <a:rPr sz="2400" b="1">
                          <a:solidFill>
                            <a:srgbClr val="FFFFFF"/>
                          </a:solidFill>
                          <a:latin typeface="Arial"/>
                          <a:ea typeface="Arial"/>
                          <a:cs typeface="Arial"/>
                        </a:rPr>
                        <a:t>MO (€ per</a:t>
                      </a:r>
                    </a:p>
                    <a:p>
                      <a:r>
                        <a:rPr sz="2400" b="1">
                          <a:solidFill>
                            <a:srgbClr val="FFFFFF"/>
                          </a:solidFill>
                          <a:latin typeface="Arial"/>
                          <a:ea typeface="Arial"/>
                          <a:cs typeface="Arial"/>
                        </a:rPr>
                        <a:t>extra product)</a:t>
                      </a:r>
                    </a:p>
                  </a:txBody>
                  <a:tcPr marL="91440" marR="91440" marT="45720" marB="45720" anchor="ctr">
                    <a:solidFill>
                      <a:srgbClr val="183247"/>
                    </a:solidFill>
                  </a:tcPr>
                </a:tc>
              </a:tr>
              <a:tr h="691515">
                <a:tc>
                  <a:txBody>
                    <a:bodyPr lIns="152400" tIns="76200" rIns="133350" bIns="76200"/>
                    <a:lstStyle/>
                    <a:p>
                      <a:r>
                        <a:rPr sz="2400" b="0">
                          <a:solidFill>
                            <a:srgbClr val="183247"/>
                          </a:solidFill>
                          <a:latin typeface="Arial"/>
                          <a:ea typeface="Arial"/>
                          <a:cs typeface="Arial"/>
                        </a:rPr>
                        <a:t>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100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−100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FFFFFF"/>
                    </a:solidFill>
                  </a:tcPr>
                </a:tc>
              </a:tr>
              <a:tr h="691515">
                <a:tc>
                  <a:txBody>
                    <a:bodyPr lIns="152400" tIns="76200" rIns="133350" bIns="76200"/>
                    <a:lstStyle/>
                    <a:p>
                      <a:r>
                        <a:rPr sz="2400" b="0">
                          <a:solidFill>
                            <a:srgbClr val="183247"/>
                          </a:solidFill>
                          <a:latin typeface="Arial"/>
                          <a:ea typeface="Arial"/>
                          <a:cs typeface="Arial"/>
                        </a:rPr>
                        <a:t>5</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125</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150</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25</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EFF4F7"/>
                    </a:solidFill>
                  </a:tcPr>
                </a:tc>
              </a:tr>
              <a:tr h="691515">
                <a:tc>
                  <a:txBody>
                    <a:bodyPr lIns="152400" tIns="76200" rIns="133350" bIns="76200"/>
                    <a:lstStyle/>
                    <a:p>
                      <a:r>
                        <a:rPr sz="2400" b="0">
                          <a:solidFill>
                            <a:srgbClr val="183247"/>
                          </a:solidFill>
                          <a:latin typeface="Arial"/>
                          <a:ea typeface="Arial"/>
                          <a:cs typeface="Arial"/>
                        </a:rPr>
                        <a:t>10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200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300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100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FFFFFF"/>
                    </a:solidFill>
                  </a:tcPr>
                </a:tc>
              </a:tr>
              <a:tr h="691515">
                <a:tc>
                  <a:txBody>
                    <a:bodyPr lIns="152400" tIns="76200" rIns="133350" bIns="76200"/>
                    <a:lstStyle/>
                    <a:p>
                      <a:r>
                        <a:rPr sz="2400" b="0">
                          <a:solidFill>
                            <a:srgbClr val="183247"/>
                          </a:solidFill>
                          <a:latin typeface="Arial"/>
                          <a:ea typeface="Arial"/>
                          <a:cs typeface="Arial"/>
                        </a:rPr>
                        <a:t>15</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325</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450</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125</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EFF4F7"/>
                    </a:solidFill>
                  </a:tcPr>
                </a:tc>
              </a:tr>
            </a:tbl>
          </a:graphicData>
        </a:graphic>
      </p:graphicFrame>
      <p:sp>
        <p:nvSpPr>
          <p:cNvPr id="8" name="MK en MO: per extra product, vanaf de vorige tabelrij.">
            <a:extLst xmlns:a="http://schemas.openxmlformats.org/drawingml/2006/main">
              <a:ext uri="{FF2B5EF4-FFF2-40B4-BE49-F238E27FC236}">
                <a16:creationId xmlns:a16="http://schemas.microsoft.com/office/drawing/2014/main" id="{33B86402-E4D2-4B43-9F5B-88B1B81DB301}"/>
              </a:ext>
            </a:extLst>
          </p:cNvPr>
          <p:cNvSpPr>
            <a:spLocks xmlns:a="http://schemas.openxmlformats.org/drawingml/2006/main" noGrp="1"/>
          </p:cNvSpPr>
          <p:nvPr/>
        </p:nvSpPr>
        <p:spPr>
          <a:xfrm xmlns:a="http://schemas.openxmlformats.org/drawingml/2006/main">
            <a:off x="571500" y="7496175"/>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MK en MO: per extra product, vanaf de vorige tabelrij.</a:t>
            </a:r>
          </a:p>
        </p:txBody>
      </p:sp>
    </p:spTree>
    <p:extLst>
      <p:ext uri="{BB962C8B-B14F-4D97-AF65-F5344CB8AC3E}">
        <p14:creationId xmlns:p14="http://schemas.microsoft.com/office/powerpoint/2010/main" val="184453088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7 · Deelvragen a, b en c">
            <a:extLst xmlns:a="http://schemas.openxmlformats.org/drawingml/2006/main">
              <a:ext uri="{FF2B5EF4-FFF2-40B4-BE49-F238E27FC236}">
                <a16:creationId xmlns:a16="http://schemas.microsoft.com/office/drawing/2014/main" id="{161FAA8B-E43F-4A4E-8082-F2CDBEFE2E3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 Deelvragen a, b en c</a:t>
            </a:r>
          </a:p>
        </p:txBody>
      </p:sp>
      <p:sp>
        <p:nvSpPr>
          <p:cNvPr id="2" name="">
            <a:extLst xmlns:a="http://schemas.openxmlformats.org/drawingml/2006/main">
              <a:ext uri="{FF2B5EF4-FFF2-40B4-BE49-F238E27FC236}">
                <a16:creationId xmlns:a16="http://schemas.microsoft.com/office/drawing/2014/main" id="{55C042B6-4187-4D83-946F-9BA2B3F501F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 Opgave 7 · Linea en Curva · Boekpagina 27">
            <a:extLst xmlns:a="http://schemas.openxmlformats.org/drawingml/2006/main">
              <a:ext uri="{FF2B5EF4-FFF2-40B4-BE49-F238E27FC236}">
                <a16:creationId xmlns:a16="http://schemas.microsoft.com/office/drawing/2014/main" id="{CF0EF694-8E89-4BD9-9B67-EBCF164CA3F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 Opgave 7 · Linea en Curva · Boekpagina 27</a:t>
            </a:r>
          </a:p>
        </p:txBody>
      </p:sp>
      <p:sp>
        <p:nvSpPr>
          <p:cNvPr id="4" name="slide-number">
            <a:extLst xmlns:a="http://schemas.openxmlformats.org/drawingml/2006/main">
              <a:ext uri="{FF2B5EF4-FFF2-40B4-BE49-F238E27FC236}">
                <a16:creationId xmlns:a16="http://schemas.microsoft.com/office/drawing/2014/main" id="{31B7B415-1022-42D3-AA3E-C3E99CEAC3B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a) Vul bij Linea de winstkolom in.">
            <a:extLst xmlns:a="http://schemas.openxmlformats.org/drawingml/2006/main">
              <a:ext uri="{FF2B5EF4-FFF2-40B4-BE49-F238E27FC236}">
                <a16:creationId xmlns:a16="http://schemas.microsoft.com/office/drawing/2014/main" id="{2CE1A38F-E78B-4B1A-BF11-44112A5B13F6}"/>
              </a:ext>
            </a:extLst>
          </p:cNvPr>
          <p:cNvSpPr>
            <a:spLocks xmlns:a="http://schemas.openxmlformats.org/drawingml/2006/main" noGrp="1"/>
          </p:cNvSpPr>
          <p:nvPr/>
        </p:nvSpPr>
        <p:spPr>
          <a:xfrm xmlns:a="http://schemas.openxmlformats.org/drawingml/2006/main">
            <a:off x="571500" y="2085975"/>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a) Vul bij Linea de winstkolom in.</a:t>
            </a:r>
          </a:p>
        </p:txBody>
      </p:sp>
      <p:sp>
        <p:nvSpPr>
          <p:cNvPr id="6" name="">
            <a:extLst xmlns:a="http://schemas.openxmlformats.org/drawingml/2006/main">
              <a:ext uri="{FF2B5EF4-FFF2-40B4-BE49-F238E27FC236}">
                <a16:creationId xmlns:a16="http://schemas.microsoft.com/office/drawing/2014/main" id="{650B7D1F-7DF9-483A-A386-92729AF328F7}"/>
              </a:ext>
            </a:extLst>
          </p:cNvPr>
          <p:cNvSpPr>
            <a:spLocks xmlns:a="http://schemas.openxmlformats.org/drawingml/2006/main" noGrp="1"/>
          </p:cNvSpPr>
          <p:nvPr/>
        </p:nvSpPr>
        <p:spPr>
          <a:xfrm xmlns:a="http://schemas.openxmlformats.org/drawingml/2006/main">
            <a:off x="571500" y="3238500"/>
            <a:ext cx="14097000" cy="0"/>
          </a:xfrm>
          <a:prstGeom xmlns:a="http://schemas.openxmlformats.org/drawingml/2006/main" prst="line">
            <a:avLst/>
          </a:prstGeom>
          <a:ln xmlns:a="http://schemas.openxmlformats.org/drawingml/2006/main" w="19050">
            <a:solidFill>
              <a:srgbClr val="C6D2DB"/>
            </a:solidFill>
          </a:ln>
        </p:spPr>
      </p:sp>
      <p:sp>
        <p:nvSpPr>
          <p:cNvPr id="7" name="b) Bereken voor Linea MK en MO over de eerste stap. Laat teller e">
            <a:extLst xmlns:a="http://schemas.openxmlformats.org/drawingml/2006/main">
              <a:ext uri="{FF2B5EF4-FFF2-40B4-BE49-F238E27FC236}">
                <a16:creationId xmlns:a16="http://schemas.microsoft.com/office/drawing/2014/main" id="{80A47434-02E0-4A29-96DD-1FF794C37E88}"/>
              </a:ext>
            </a:extLst>
          </p:cNvPr>
          <p:cNvSpPr>
            <a:spLocks xmlns:a="http://schemas.openxmlformats.org/drawingml/2006/main" noGrp="1"/>
          </p:cNvSpPr>
          <p:nvPr/>
        </p:nvSpPr>
        <p:spPr>
          <a:xfrm xmlns:a="http://schemas.openxmlformats.org/drawingml/2006/main">
            <a:off x="571500" y="3686175"/>
            <a:ext cx="1409700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b) Bereken voor Linea MK en MO over de eerste stap. Laat teller en noemer zien. Vul de MK- en MO-kolommen verder in bij Q = 10, 20 en 30.</a:t>
            </a:r>
          </a:p>
        </p:txBody>
      </p:sp>
      <p:sp>
        <p:nvSpPr>
          <p:cNvPr id="8" name="">
            <a:extLst xmlns:a="http://schemas.openxmlformats.org/drawingml/2006/main">
              <a:ext uri="{FF2B5EF4-FFF2-40B4-BE49-F238E27FC236}">
                <a16:creationId xmlns:a16="http://schemas.microsoft.com/office/drawing/2014/main" id="{A5A9F09B-E591-42F8-92F4-931B8265BC36}"/>
              </a:ext>
            </a:extLst>
          </p:cNvPr>
          <p:cNvSpPr>
            <a:spLocks xmlns:a="http://schemas.openxmlformats.org/drawingml/2006/main" noGrp="1"/>
          </p:cNvSpPr>
          <p:nvPr/>
        </p:nvSpPr>
        <p:spPr>
          <a:xfrm xmlns:a="http://schemas.openxmlformats.org/drawingml/2006/main">
            <a:off x="571500" y="6076950"/>
            <a:ext cx="14097000" cy="0"/>
          </a:xfrm>
          <a:prstGeom xmlns:a="http://schemas.openxmlformats.org/drawingml/2006/main" prst="line">
            <a:avLst/>
          </a:prstGeom>
          <a:ln xmlns:a="http://schemas.openxmlformats.org/drawingml/2006/main" w="19050">
            <a:solidFill>
              <a:srgbClr val="C6D2DB"/>
            </a:solidFill>
          </a:ln>
        </p:spPr>
      </p:sp>
      <p:sp>
        <p:nvSpPr>
          <p:cNvPr id="9" name="c) Leg uit waarom MO bij Linea constant is.">
            <a:extLst xmlns:a="http://schemas.openxmlformats.org/drawingml/2006/main">
              <a:ext uri="{FF2B5EF4-FFF2-40B4-BE49-F238E27FC236}">
                <a16:creationId xmlns:a16="http://schemas.microsoft.com/office/drawing/2014/main" id="{8DC97642-5B60-4B7F-AD37-3E40E530ACF8}"/>
              </a:ext>
            </a:extLst>
          </p:cNvPr>
          <p:cNvSpPr>
            <a:spLocks xmlns:a="http://schemas.openxmlformats.org/drawingml/2006/main" noGrp="1"/>
          </p:cNvSpPr>
          <p:nvPr/>
        </p:nvSpPr>
        <p:spPr>
          <a:xfrm xmlns:a="http://schemas.openxmlformats.org/drawingml/2006/main">
            <a:off x="571500" y="6686550"/>
            <a:ext cx="14097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c) Leg uit waarom MO bij Linea constant is.</a:t>
            </a:r>
          </a:p>
        </p:txBody>
      </p:sp>
    </p:spTree>
    <p:extLst>
      <p:ext uri="{BB962C8B-B14F-4D97-AF65-F5344CB8AC3E}">
        <p14:creationId xmlns:p14="http://schemas.microsoft.com/office/powerpoint/2010/main" val="174002745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 · Deelvragen d en e">
            <a:extLst xmlns:a="http://schemas.openxmlformats.org/drawingml/2006/main">
              <a:ext uri="{FF2B5EF4-FFF2-40B4-BE49-F238E27FC236}">
                <a16:creationId xmlns:a16="http://schemas.microsoft.com/office/drawing/2014/main" id="{DF631FFE-AA49-441D-84F7-1A480EF5178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 Deelvragen d en e</a:t>
            </a:r>
          </a:p>
        </p:txBody>
      </p:sp>
      <p:sp>
        <p:nvSpPr>
          <p:cNvPr id="2" name="">
            <a:extLst xmlns:a="http://schemas.openxmlformats.org/drawingml/2006/main">
              <a:ext uri="{FF2B5EF4-FFF2-40B4-BE49-F238E27FC236}">
                <a16:creationId xmlns:a16="http://schemas.microsoft.com/office/drawing/2014/main" id="{0E499E2D-0EAE-442A-9555-B3E65B6224D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 Opgave 7 · Linea en Curva · Boekpagina 27">
            <a:extLst xmlns:a="http://schemas.openxmlformats.org/drawingml/2006/main">
              <a:ext uri="{FF2B5EF4-FFF2-40B4-BE49-F238E27FC236}">
                <a16:creationId xmlns:a16="http://schemas.microsoft.com/office/drawing/2014/main" id="{EDB9CF05-EBD4-4642-9EDE-036A9D3EB5B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 Opgave 7 · Linea en Curva · Boekpagina 27</a:t>
            </a:r>
          </a:p>
        </p:txBody>
      </p:sp>
      <p:sp>
        <p:nvSpPr>
          <p:cNvPr id="4" name="slide-number">
            <a:extLst xmlns:a="http://schemas.openxmlformats.org/drawingml/2006/main">
              <a:ext uri="{FF2B5EF4-FFF2-40B4-BE49-F238E27FC236}">
                <a16:creationId xmlns:a16="http://schemas.microsoft.com/office/drawing/2014/main" id="{F612FC59-AEF9-4F4C-AAC2-4559CD335BE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d) Bereken voor Curva MK over de drie stappen en MO over de eerst">
            <a:extLst xmlns:a="http://schemas.openxmlformats.org/drawingml/2006/main">
              <a:ext uri="{FF2B5EF4-FFF2-40B4-BE49-F238E27FC236}">
                <a16:creationId xmlns:a16="http://schemas.microsoft.com/office/drawing/2014/main" id="{E61EB431-4805-4BF7-88B3-B9727B490667}"/>
              </a:ext>
            </a:extLst>
          </p:cNvPr>
          <p:cNvSpPr>
            <a:spLocks xmlns:a="http://schemas.openxmlformats.org/drawingml/2006/main" noGrp="1"/>
          </p:cNvSpPr>
          <p:nvPr/>
        </p:nvSpPr>
        <p:spPr>
          <a:xfrm xmlns:a="http://schemas.openxmlformats.org/drawingml/2006/main">
            <a:off x="571500" y="2286000"/>
            <a:ext cx="14097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d) Bereken voor Curva MK over de drie stappen en MO over de eerste stap. Vul alle lege MK- en MO-cellen in bij Q = 5, 10 en 15.</a:t>
            </a:r>
          </a:p>
        </p:txBody>
      </p:sp>
      <p:sp>
        <p:nvSpPr>
          <p:cNvPr id="6" name="">
            <a:extLst xmlns:a="http://schemas.openxmlformats.org/drawingml/2006/main">
              <a:ext uri="{FF2B5EF4-FFF2-40B4-BE49-F238E27FC236}">
                <a16:creationId xmlns:a16="http://schemas.microsoft.com/office/drawing/2014/main" id="{4AC807BD-C555-4698-AF90-77F10C0A1B83}"/>
              </a:ext>
            </a:extLst>
          </p:cNvPr>
          <p:cNvSpPr>
            <a:spLocks xmlns:a="http://schemas.openxmlformats.org/drawingml/2006/main" noGrp="1"/>
          </p:cNvSpPr>
          <p:nvPr/>
        </p:nvSpPr>
        <p:spPr>
          <a:xfrm xmlns:a="http://schemas.openxmlformats.org/drawingml/2006/main">
            <a:off x="571500" y="4676775"/>
            <a:ext cx="14097000" cy="0"/>
          </a:xfrm>
          <a:prstGeom xmlns:a="http://schemas.openxmlformats.org/drawingml/2006/main" prst="line">
            <a:avLst/>
          </a:prstGeom>
          <a:ln xmlns:a="http://schemas.openxmlformats.org/drawingml/2006/main" w="19050">
            <a:solidFill>
              <a:srgbClr val="C6D2DB"/>
            </a:solidFill>
          </a:ln>
        </p:spPr>
      </p:sp>
      <p:sp>
        <p:nvSpPr>
          <p:cNvPr id="7" name="e) Vergelijk de MK-patronen. Leg uit wat MK en MO per extra produ">
            <a:extLst xmlns:a="http://schemas.openxmlformats.org/drawingml/2006/main">
              <a:ext uri="{FF2B5EF4-FFF2-40B4-BE49-F238E27FC236}">
                <a16:creationId xmlns:a16="http://schemas.microsoft.com/office/drawing/2014/main" id="{58CA49E8-C345-4942-B9C4-D9DA456712D5}"/>
              </a:ext>
            </a:extLst>
          </p:cNvPr>
          <p:cNvSpPr>
            <a:spLocks xmlns:a="http://schemas.openxmlformats.org/drawingml/2006/main" noGrp="1"/>
          </p:cNvSpPr>
          <p:nvPr/>
        </p:nvSpPr>
        <p:spPr>
          <a:xfrm xmlns:a="http://schemas.openxmlformats.org/drawingml/2006/main">
            <a:off x="571500" y="5238750"/>
            <a:ext cx="14097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e) Vergelijk de MK-patronen. Leg uit wat MK en MO per extra product binnen een tabelstap betekenen. Trek geen conclusie over de hoeveelheid met maximale winst.</a:t>
            </a:r>
          </a:p>
        </p:txBody>
      </p:sp>
    </p:spTree>
    <p:extLst>
      <p:ext uri="{BB962C8B-B14F-4D97-AF65-F5344CB8AC3E}">
        <p14:creationId xmlns:p14="http://schemas.microsoft.com/office/powerpoint/2010/main" val="29837035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a · Winst bij Linea">
            <a:extLst xmlns:a="http://schemas.openxmlformats.org/drawingml/2006/main">
              <a:ext uri="{FF2B5EF4-FFF2-40B4-BE49-F238E27FC236}">
                <a16:creationId xmlns:a16="http://schemas.microsoft.com/office/drawing/2014/main" id="{67E64798-9E2A-4B92-A86C-32B72239287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7a · Winst bij Linea</a:t>
            </a:r>
          </a:p>
        </p:txBody>
      </p:sp>
      <p:sp>
        <p:nvSpPr>
          <p:cNvPr id="2" name="">
            <a:extLst xmlns:a="http://schemas.openxmlformats.org/drawingml/2006/main">
              <a:ext uri="{FF2B5EF4-FFF2-40B4-BE49-F238E27FC236}">
                <a16:creationId xmlns:a16="http://schemas.microsoft.com/office/drawing/2014/main" id="{A4E8E60C-4920-4F54-9620-D2510B63E58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 Opgave 7 · Linea en Curva · Boekpagina 27">
            <a:extLst xmlns:a="http://schemas.openxmlformats.org/drawingml/2006/main">
              <a:ext uri="{FF2B5EF4-FFF2-40B4-BE49-F238E27FC236}">
                <a16:creationId xmlns:a16="http://schemas.microsoft.com/office/drawing/2014/main" id="{506A6381-5F2A-4A88-B252-4A3CA820836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 Opgave 7 · Linea en Curva · Boekpagina 27</a:t>
            </a:r>
          </a:p>
        </p:txBody>
      </p:sp>
      <p:sp>
        <p:nvSpPr>
          <p:cNvPr id="4" name="slide-number">
            <a:extLst xmlns:a="http://schemas.openxmlformats.org/drawingml/2006/main">
              <a:ext uri="{FF2B5EF4-FFF2-40B4-BE49-F238E27FC236}">
                <a16:creationId xmlns:a16="http://schemas.microsoft.com/office/drawing/2014/main" id="{B4B467A3-823E-488B-A641-233FDC77BD9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Winst = TO − TK">
            <a:extLst xmlns:a="http://schemas.openxmlformats.org/drawingml/2006/main">
              <a:ext uri="{FF2B5EF4-FFF2-40B4-BE49-F238E27FC236}">
                <a16:creationId xmlns:a16="http://schemas.microsoft.com/office/drawing/2014/main" id="{D242604C-688E-4D04-95E6-C3B8E361B29E}"/>
              </a:ext>
            </a:extLst>
          </p:cNvPr>
          <p:cNvSpPr>
            <a:spLocks xmlns:a="http://schemas.openxmlformats.org/drawingml/2006/main" noGrp="1"/>
          </p:cNvSpPr>
          <p:nvPr/>
        </p:nvSpPr>
        <p:spPr>
          <a:xfrm xmlns:a="http://schemas.openxmlformats.org/drawingml/2006/main">
            <a:off x="571500" y="1933575"/>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7658A"/>
                </a:solidFill>
                <a:latin typeface="Arial"/>
                <a:ea typeface="Arial"/>
                <a:cs typeface="Arial"/>
              </a:defRPr>
            </a:pPr>
            <a:r>
              <a:rPr sz="3675" b="1">
                <a:solidFill>
                  <a:srgbClr val="17658A"/>
                </a:solidFill>
                <a:latin typeface="Arial"/>
                <a:ea typeface="Arial"/>
                <a:cs typeface="Arial"/>
              </a:rPr>
              <a:t>Winst = TO − TK</a:t>
            </a:r>
          </a:p>
        </p:txBody>
      </p:sp>
      <p:graphicFrame>
        <p:nvGraphicFramePr>
          <p:cNvPr id="13" name=""/>
          <p:cNvGraphicFramePr/>
          <p:nvPr/>
        </p:nvGraphicFramePr>
        <p:xfrm>
          <a:off xmlns:a="http://schemas.openxmlformats.org/drawingml/2006/main" x="571500" y="3124200"/>
          <a:ext xmlns:a="http://schemas.openxmlformats.org/drawingml/2006/main" cx="14097000" cy="3476625"/>
        </p:xfrm>
        <a:graphic xmlns:a="http://schemas.openxmlformats.org/drawingml/2006/main">
          <a:graphicData uri="http://schemas.openxmlformats.org/drawingml/2006/table">
            <a:tbl>
              <a:tblPr/>
              <a:tblGrid>
                <a:gridCol w="4762500"/>
                <a:gridCol w="4572000"/>
                <a:gridCol w="4762500"/>
              </a:tblGrid>
              <a:tr h="695325">
                <a:tc>
                  <a:txBody>
                    <a:bodyPr lIns="152400" tIns="76200" rIns="133350" bIns="76200"/>
                    <a:lstStyle/>
                    <a:p>
                      <a:r>
                        <a:rPr sz="2625" b="1">
                          <a:solidFill>
                            <a:srgbClr val="FFFFFF"/>
                          </a:solidFill>
                          <a:latin typeface="Arial"/>
                          <a:ea typeface="Arial"/>
                          <a:cs typeface="Arial"/>
                        </a:rPr>
                        <a:t>Q (producten per week)</a:t>
                      </a:r>
                    </a:p>
                  </a:txBody>
                  <a:tcPr marL="91440" marR="91440" marT="45720" marB="45720" anchor="ctr">
                    <a:solidFill>
                      <a:srgbClr val="183247"/>
                    </a:solidFill>
                  </a:tcPr>
                </a:tc>
                <a:tc>
                  <a:txBody>
                    <a:bodyPr lIns="152400" tIns="76200" rIns="133350" bIns="76200"/>
                    <a:lstStyle/>
                    <a:p>
                      <a:r>
                        <a:rPr sz="2625" b="1">
                          <a:solidFill>
                            <a:srgbClr val="FFFFFF"/>
                          </a:solidFill>
                          <a:latin typeface="Arial"/>
                          <a:ea typeface="Arial"/>
                          <a:cs typeface="Arial"/>
                        </a:rPr>
                        <a:t>Berekening</a:t>
                      </a:r>
                    </a:p>
                  </a:txBody>
                  <a:tcPr marL="91440" marR="91440" marT="45720" marB="45720" anchor="ctr">
                    <a:solidFill>
                      <a:srgbClr val="183247"/>
                    </a:solidFill>
                  </a:tcPr>
                </a:tc>
                <a:tc>
                  <a:txBody>
                    <a:bodyPr lIns="152400" tIns="76200" rIns="133350" bIns="76200"/>
                    <a:lstStyle/>
                    <a:p>
                      <a:r>
                        <a:rPr sz="2625" b="1">
                          <a:solidFill>
                            <a:srgbClr val="FFFFFF"/>
                          </a:solidFill>
                          <a:latin typeface="Arial"/>
                          <a:ea typeface="Arial"/>
                          <a:cs typeface="Arial"/>
                        </a:rPr>
                        <a:t>Winst (€ per week)</a:t>
                      </a:r>
                    </a:p>
                  </a:txBody>
                  <a:tcPr marL="91440" marR="91440" marT="45720" marB="45720" anchor="ctr">
                    <a:solidFill>
                      <a:srgbClr val="183247"/>
                    </a:solidFill>
                  </a:tcPr>
                </a:tc>
              </a:tr>
              <a:tr h="695325">
                <a:tc>
                  <a:txBody>
                    <a:bodyPr lIns="152400" tIns="76200" rIns="133350" bIns="76200"/>
                    <a:lstStyle/>
                    <a:p>
                      <a:r>
                        <a:rPr sz="2625" b="0">
                          <a:solidFill>
                            <a:srgbClr val="183247"/>
                          </a:solidFill>
                          <a:latin typeface="Arial"/>
                          <a:ea typeface="Arial"/>
                          <a:cs typeface="Arial"/>
                        </a:rPr>
                        <a:t>0</a:t>
                      </a:r>
                    </a:p>
                  </a:txBody>
                  <a:tcPr marL="91440" marR="91440" marT="45720" marB="45720" anchor="ctr">
                    <a:solidFill>
                      <a:srgbClr val="FFFFFF"/>
                    </a:solidFill>
                  </a:tcPr>
                </a:tc>
                <a:tc>
                  <a:txBody>
                    <a:bodyPr lIns="152400" tIns="76200" rIns="133350" bIns="76200"/>
                    <a:lstStyle/>
                    <a:p>
                      <a:r>
                        <a:rPr sz="2625" b="0">
                          <a:solidFill>
                            <a:srgbClr val="183247"/>
                          </a:solidFill>
                          <a:latin typeface="Arial"/>
                          <a:ea typeface="Arial"/>
                          <a:cs typeface="Arial"/>
                        </a:rPr>
                        <a:t>0 − 200</a:t>
                      </a:r>
                    </a:p>
                  </a:txBody>
                  <a:tcPr marL="91440" marR="91440" marT="45720" marB="45720" anchor="ctr">
                    <a:solidFill>
                      <a:srgbClr val="FFFFFF"/>
                    </a:solidFill>
                  </a:tcPr>
                </a:tc>
                <a:tc>
                  <a:txBody>
                    <a:bodyPr lIns="152400" tIns="76200" rIns="133350" bIns="76200"/>
                    <a:lstStyle/>
                    <a:p>
                      <a:r>
                        <a:rPr sz="2625" b="0">
                          <a:solidFill>
                            <a:srgbClr val="183247"/>
                          </a:solidFill>
                          <a:latin typeface="Arial"/>
                          <a:ea typeface="Arial"/>
                          <a:cs typeface="Arial"/>
                        </a:rPr>
                        <a:t>−200</a:t>
                      </a:r>
                    </a:p>
                  </a:txBody>
                  <a:tcPr marL="91440" marR="91440" marT="45720" marB="45720" anchor="ctr">
                    <a:solidFill>
                      <a:srgbClr val="FFFFFF"/>
                    </a:solidFill>
                  </a:tcPr>
                </a:tc>
              </a:tr>
              <a:tr h="695325">
                <a:tc>
                  <a:txBody>
                    <a:bodyPr lIns="152400" tIns="76200" rIns="133350" bIns="76200"/>
                    <a:lstStyle/>
                    <a:p>
                      <a:r>
                        <a:rPr sz="2625" b="0">
                          <a:solidFill>
                            <a:srgbClr val="183247"/>
                          </a:solidFill>
                          <a:latin typeface="Arial"/>
                          <a:ea typeface="Arial"/>
                          <a:cs typeface="Arial"/>
                        </a:rPr>
                        <a:t>10</a:t>
                      </a:r>
                    </a:p>
                  </a:txBody>
                  <a:tcPr marL="91440" marR="91440" marT="45720" marB="45720" anchor="ctr">
                    <a:solidFill>
                      <a:srgbClr val="EFF4F7"/>
                    </a:solidFill>
                  </a:tcPr>
                </a:tc>
                <a:tc>
                  <a:txBody>
                    <a:bodyPr lIns="152400" tIns="76200" rIns="133350" bIns="76200"/>
                    <a:lstStyle/>
                    <a:p>
                      <a:r>
                        <a:rPr sz="2625" b="0">
                          <a:solidFill>
                            <a:srgbClr val="183247"/>
                          </a:solidFill>
                          <a:latin typeface="Arial"/>
                          <a:ea typeface="Arial"/>
                          <a:cs typeface="Arial"/>
                        </a:rPr>
                        <a:t>80 − 230</a:t>
                      </a:r>
                    </a:p>
                  </a:txBody>
                  <a:tcPr marL="91440" marR="91440" marT="45720" marB="45720" anchor="ctr">
                    <a:solidFill>
                      <a:srgbClr val="EFF4F7"/>
                    </a:solidFill>
                  </a:tcPr>
                </a:tc>
                <a:tc>
                  <a:txBody>
                    <a:bodyPr lIns="152400" tIns="76200" rIns="133350" bIns="76200"/>
                    <a:lstStyle/>
                    <a:p>
                      <a:r>
                        <a:rPr sz="2625" b="0">
                          <a:solidFill>
                            <a:srgbClr val="183247"/>
                          </a:solidFill>
                          <a:latin typeface="Arial"/>
                          <a:ea typeface="Arial"/>
                          <a:cs typeface="Arial"/>
                        </a:rPr>
                        <a:t>−150</a:t>
                      </a:r>
                    </a:p>
                  </a:txBody>
                  <a:tcPr marL="91440" marR="91440" marT="45720" marB="45720" anchor="ctr">
                    <a:solidFill>
                      <a:srgbClr val="EFF4F7"/>
                    </a:solidFill>
                  </a:tcPr>
                </a:tc>
              </a:tr>
              <a:tr h="695325">
                <a:tc>
                  <a:txBody>
                    <a:bodyPr lIns="152400" tIns="76200" rIns="133350" bIns="76200"/>
                    <a:lstStyle/>
                    <a:p>
                      <a:r>
                        <a:rPr sz="2625" b="0">
                          <a:solidFill>
                            <a:srgbClr val="183247"/>
                          </a:solidFill>
                          <a:latin typeface="Arial"/>
                          <a:ea typeface="Arial"/>
                          <a:cs typeface="Arial"/>
                        </a:rPr>
                        <a:t>20</a:t>
                      </a:r>
                    </a:p>
                  </a:txBody>
                  <a:tcPr marL="91440" marR="91440" marT="45720" marB="45720" anchor="ctr">
                    <a:solidFill>
                      <a:srgbClr val="FFFFFF"/>
                    </a:solidFill>
                  </a:tcPr>
                </a:tc>
                <a:tc>
                  <a:txBody>
                    <a:bodyPr lIns="152400" tIns="76200" rIns="133350" bIns="76200"/>
                    <a:lstStyle/>
                    <a:p>
                      <a:r>
                        <a:rPr sz="2625" b="0">
                          <a:solidFill>
                            <a:srgbClr val="183247"/>
                          </a:solidFill>
                          <a:latin typeface="Arial"/>
                          <a:ea typeface="Arial"/>
                          <a:cs typeface="Arial"/>
                        </a:rPr>
                        <a:t>160 − 260</a:t>
                      </a:r>
                    </a:p>
                  </a:txBody>
                  <a:tcPr marL="91440" marR="91440" marT="45720" marB="45720" anchor="ctr">
                    <a:solidFill>
                      <a:srgbClr val="FFFFFF"/>
                    </a:solidFill>
                  </a:tcPr>
                </a:tc>
                <a:tc>
                  <a:txBody>
                    <a:bodyPr lIns="152400" tIns="76200" rIns="133350" bIns="76200"/>
                    <a:lstStyle/>
                    <a:p>
                      <a:r>
                        <a:rPr sz="2625" b="0">
                          <a:solidFill>
                            <a:srgbClr val="183247"/>
                          </a:solidFill>
                          <a:latin typeface="Arial"/>
                          <a:ea typeface="Arial"/>
                          <a:cs typeface="Arial"/>
                        </a:rPr>
                        <a:t>−100</a:t>
                      </a:r>
                    </a:p>
                  </a:txBody>
                  <a:tcPr marL="91440" marR="91440" marT="45720" marB="45720" anchor="ctr">
                    <a:solidFill>
                      <a:srgbClr val="FFFFFF"/>
                    </a:solidFill>
                  </a:tcPr>
                </a:tc>
              </a:tr>
              <a:tr h="695325">
                <a:tc>
                  <a:txBody>
                    <a:bodyPr lIns="152400" tIns="76200" rIns="133350" bIns="76200"/>
                    <a:lstStyle/>
                    <a:p>
                      <a:r>
                        <a:rPr sz="2625" b="0">
                          <a:solidFill>
                            <a:srgbClr val="183247"/>
                          </a:solidFill>
                          <a:latin typeface="Arial"/>
                          <a:ea typeface="Arial"/>
                          <a:cs typeface="Arial"/>
                        </a:rPr>
                        <a:t>30</a:t>
                      </a:r>
                    </a:p>
                  </a:txBody>
                  <a:tcPr marL="91440" marR="91440" marT="45720" marB="45720" anchor="ctr">
                    <a:solidFill>
                      <a:srgbClr val="EFF4F7"/>
                    </a:solidFill>
                  </a:tcPr>
                </a:tc>
                <a:tc>
                  <a:txBody>
                    <a:bodyPr lIns="152400" tIns="76200" rIns="133350" bIns="76200"/>
                    <a:lstStyle/>
                    <a:p>
                      <a:r>
                        <a:rPr sz="2625" b="0">
                          <a:solidFill>
                            <a:srgbClr val="183247"/>
                          </a:solidFill>
                          <a:latin typeface="Arial"/>
                          <a:ea typeface="Arial"/>
                          <a:cs typeface="Arial"/>
                        </a:rPr>
                        <a:t>240 − 290</a:t>
                      </a:r>
                    </a:p>
                  </a:txBody>
                  <a:tcPr marL="91440" marR="91440" marT="45720" marB="45720" anchor="ctr">
                    <a:solidFill>
                      <a:srgbClr val="EFF4F7"/>
                    </a:solidFill>
                  </a:tcPr>
                </a:tc>
                <a:tc>
                  <a:txBody>
                    <a:bodyPr lIns="152400" tIns="76200" rIns="133350" bIns="76200"/>
                    <a:lstStyle/>
                    <a:p>
                      <a:r>
                        <a:rPr sz="2625" b="0">
                          <a:solidFill>
                            <a:srgbClr val="183247"/>
                          </a:solidFill>
                          <a:latin typeface="Arial"/>
                          <a:ea typeface="Arial"/>
                          <a:cs typeface="Arial"/>
                        </a:rPr>
                        <a:t>−50</a:t>
                      </a:r>
                    </a:p>
                  </a:txBody>
                  <a:tcPr marL="91440" marR="91440" marT="45720" marB="45720" anchor="ctr">
                    <a:solidFill>
                      <a:srgbClr val="EFF4F7"/>
                    </a:solidFill>
                  </a:tcPr>
                </a:tc>
              </a:tr>
            </a:tbl>
          </a:graphicData>
        </a:graphic>
      </p:graphicFrame>
      <p:sp>
        <p:nvSpPr>
          <p:cNvPr id="7" name="In elke getoonde rij: TO &lt; TK, dus verlies.">
            <a:extLst xmlns:a="http://schemas.openxmlformats.org/drawingml/2006/main">
              <a:ext uri="{FF2B5EF4-FFF2-40B4-BE49-F238E27FC236}">
                <a16:creationId xmlns:a16="http://schemas.microsoft.com/office/drawing/2014/main" id="{EDB6C7C7-7E95-4351-8970-9E3C23F2BA83}"/>
              </a:ext>
            </a:extLst>
          </p:cNvPr>
          <p:cNvSpPr>
            <a:spLocks xmlns:a="http://schemas.openxmlformats.org/drawingml/2006/main" noGrp="1"/>
          </p:cNvSpPr>
          <p:nvPr/>
        </p:nvSpPr>
        <p:spPr>
          <a:xfrm xmlns:a="http://schemas.openxmlformats.org/drawingml/2006/main">
            <a:off x="571500" y="7134225"/>
            <a:ext cx="14097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In elke getoonde rij: TO &lt; TK, dus verlies.</a:t>
            </a:r>
          </a:p>
        </p:txBody>
      </p:sp>
    </p:spTree>
    <p:extLst>
      <p:ext uri="{BB962C8B-B14F-4D97-AF65-F5344CB8AC3E}">
        <p14:creationId xmlns:p14="http://schemas.microsoft.com/office/powerpoint/2010/main" val="206555880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Opgave 7b · Linea, stap 0 → 10">
            <a:extLst xmlns:a="http://schemas.openxmlformats.org/drawingml/2006/main">
              <a:ext uri="{FF2B5EF4-FFF2-40B4-BE49-F238E27FC236}">
                <a16:creationId xmlns:a16="http://schemas.microsoft.com/office/drawing/2014/main" id="{583253D1-F65E-4CBE-819F-9AAB341CCBA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7b · Linea, stap 0 → 10</a:t>
            </a:r>
          </a:p>
        </p:txBody>
      </p:sp>
      <p:sp>
        <p:nvSpPr>
          <p:cNvPr id="2" name="">
            <a:extLst xmlns:a="http://schemas.openxmlformats.org/drawingml/2006/main">
              <a:ext uri="{FF2B5EF4-FFF2-40B4-BE49-F238E27FC236}">
                <a16:creationId xmlns:a16="http://schemas.microsoft.com/office/drawing/2014/main" id="{0E95C3ED-8708-4C26-B0B1-C6E5625317A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 Opgave 7 · Linea en Curva · Boekpagina 27">
            <a:extLst xmlns:a="http://schemas.openxmlformats.org/drawingml/2006/main">
              <a:ext uri="{FF2B5EF4-FFF2-40B4-BE49-F238E27FC236}">
                <a16:creationId xmlns:a16="http://schemas.microsoft.com/office/drawing/2014/main" id="{CEB84A99-0E61-4A8B-BA35-57E0B522BFA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 Opgave 7 · Linea en Curva · Boekpagina 27</a:t>
            </a:r>
          </a:p>
        </p:txBody>
      </p:sp>
      <p:sp>
        <p:nvSpPr>
          <p:cNvPr id="4" name="slide-number">
            <a:extLst xmlns:a="http://schemas.openxmlformats.org/drawingml/2006/main">
              <a:ext uri="{FF2B5EF4-FFF2-40B4-BE49-F238E27FC236}">
                <a16:creationId xmlns:a16="http://schemas.microsoft.com/office/drawing/2014/main" id="{85748BD4-A2D3-4187-AD48-D9D06536CB6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ΔQ = 10 − 0 = 10 extra producten">
            <a:extLst xmlns:a="http://schemas.openxmlformats.org/drawingml/2006/main">
              <a:ext uri="{FF2B5EF4-FFF2-40B4-BE49-F238E27FC236}">
                <a16:creationId xmlns:a16="http://schemas.microsoft.com/office/drawing/2014/main" id="{285E113C-DD92-4B38-A616-C6361039C1D7}"/>
              </a:ext>
            </a:extLst>
          </p:cNvPr>
          <p:cNvSpPr>
            <a:spLocks xmlns:a="http://schemas.openxmlformats.org/drawingml/2006/main" noGrp="1"/>
          </p:cNvSpPr>
          <p:nvPr/>
        </p:nvSpPr>
        <p:spPr>
          <a:xfrm xmlns:a="http://schemas.openxmlformats.org/drawingml/2006/main">
            <a:off x="571500" y="1952625"/>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ΔQ = 10 − 0 = 10 extra producten</a:t>
            </a:r>
          </a:p>
        </p:txBody>
      </p:sp>
      <p:sp>
        <p:nvSpPr>
          <p:cNvPr id="6" name="MK = ΔTK / ΔQ">
            <a:extLst xmlns:a="http://schemas.openxmlformats.org/drawingml/2006/main">
              <a:ext uri="{FF2B5EF4-FFF2-40B4-BE49-F238E27FC236}">
                <a16:creationId xmlns:a16="http://schemas.microsoft.com/office/drawing/2014/main" id="{8C52CD36-F0AD-4067-8D55-6239B4FAA5CB}"/>
              </a:ext>
            </a:extLst>
          </p:cNvPr>
          <p:cNvSpPr>
            <a:spLocks xmlns:a="http://schemas.openxmlformats.org/drawingml/2006/main" noGrp="1"/>
          </p:cNvSpPr>
          <p:nvPr/>
        </p:nvSpPr>
        <p:spPr>
          <a:xfrm xmlns:a="http://schemas.openxmlformats.org/drawingml/2006/main">
            <a:off x="571500" y="3038475"/>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A94D16"/>
                </a:solidFill>
                <a:latin typeface="Arial"/>
                <a:ea typeface="Arial"/>
                <a:cs typeface="Arial"/>
              </a:defRPr>
            </a:pPr>
            <a:r>
              <a:rPr sz="3375" b="1">
                <a:solidFill>
                  <a:srgbClr val="A94D16"/>
                </a:solidFill>
                <a:latin typeface="Arial"/>
                <a:ea typeface="Arial"/>
                <a:cs typeface="Arial"/>
              </a:rPr>
              <a:t>MK = ΔTK / ΔQ</a:t>
            </a:r>
          </a:p>
        </p:txBody>
      </p:sp>
      <p:sp>
        <p:nvSpPr>
          <p:cNvPr id="7" name="= (230 − 200) / (10 − 0) = 30 / 10">
            <a:extLst xmlns:a="http://schemas.openxmlformats.org/drawingml/2006/main">
              <a:ext uri="{FF2B5EF4-FFF2-40B4-BE49-F238E27FC236}">
                <a16:creationId xmlns:a16="http://schemas.microsoft.com/office/drawing/2014/main" id="{88F283F5-4B3A-4F89-8356-E14B32151BE5}"/>
              </a:ext>
            </a:extLst>
          </p:cNvPr>
          <p:cNvSpPr>
            <a:spLocks xmlns:a="http://schemas.openxmlformats.org/drawingml/2006/main" noGrp="1"/>
          </p:cNvSpPr>
          <p:nvPr/>
        </p:nvSpPr>
        <p:spPr>
          <a:xfrm xmlns:a="http://schemas.openxmlformats.org/drawingml/2006/main">
            <a:off x="571500" y="3800475"/>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 (230 − 200) / (10 − 0) = 30 / 10</a:t>
            </a:r>
          </a:p>
        </p:txBody>
      </p:sp>
      <p:sp>
        <p:nvSpPr>
          <p:cNvPr id="8" name="= € 3 per extra product">
            <a:extLst xmlns:a="http://schemas.openxmlformats.org/drawingml/2006/main">
              <a:ext uri="{FF2B5EF4-FFF2-40B4-BE49-F238E27FC236}">
                <a16:creationId xmlns:a16="http://schemas.microsoft.com/office/drawing/2014/main" id="{3F485106-6E99-4D03-B056-57E126014274}"/>
              </a:ext>
            </a:extLst>
          </p:cNvPr>
          <p:cNvSpPr>
            <a:spLocks xmlns:a="http://schemas.openxmlformats.org/drawingml/2006/main" noGrp="1"/>
          </p:cNvSpPr>
          <p:nvPr/>
        </p:nvSpPr>
        <p:spPr>
          <a:xfrm xmlns:a="http://schemas.openxmlformats.org/drawingml/2006/main">
            <a:off x="571500" y="4552950"/>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A94D16"/>
                </a:solidFill>
                <a:latin typeface="Arial"/>
                <a:ea typeface="Arial"/>
                <a:cs typeface="Arial"/>
              </a:defRPr>
            </a:pPr>
            <a:r>
              <a:rPr sz="3300" b="1">
                <a:solidFill>
                  <a:srgbClr val="A94D16"/>
                </a:solidFill>
                <a:latin typeface="Arial"/>
                <a:ea typeface="Arial"/>
                <a:cs typeface="Arial"/>
              </a:rPr>
              <a:t>= € 3 per extra product</a:t>
            </a:r>
          </a:p>
        </p:txBody>
      </p:sp>
      <p:sp>
        <p:nvSpPr>
          <p:cNvPr id="9" name="">
            <a:extLst xmlns:a="http://schemas.openxmlformats.org/drawingml/2006/main">
              <a:ext uri="{FF2B5EF4-FFF2-40B4-BE49-F238E27FC236}">
                <a16:creationId xmlns:a16="http://schemas.microsoft.com/office/drawing/2014/main" id="{CC502A30-4A2F-4472-8DAB-E207826EFAD2}"/>
              </a:ext>
            </a:extLst>
          </p:cNvPr>
          <p:cNvSpPr>
            <a:spLocks xmlns:a="http://schemas.openxmlformats.org/drawingml/2006/main" noGrp="1"/>
          </p:cNvSpPr>
          <p:nvPr/>
        </p:nvSpPr>
        <p:spPr>
          <a:xfrm xmlns:a="http://schemas.openxmlformats.org/drawingml/2006/main">
            <a:off x="571500" y="5543550"/>
            <a:ext cx="14097000" cy="0"/>
          </a:xfrm>
          <a:prstGeom xmlns:a="http://schemas.openxmlformats.org/drawingml/2006/main" prst="line">
            <a:avLst/>
          </a:prstGeom>
          <a:ln xmlns:a="http://schemas.openxmlformats.org/drawingml/2006/main" w="19050">
            <a:solidFill>
              <a:srgbClr val="C6D2DB"/>
            </a:solidFill>
          </a:ln>
        </p:spPr>
      </p:sp>
      <p:sp>
        <p:nvSpPr>
          <p:cNvPr id="10" name="MO = ΔTO / ΔQ">
            <a:extLst xmlns:a="http://schemas.openxmlformats.org/drawingml/2006/main">
              <a:ext uri="{FF2B5EF4-FFF2-40B4-BE49-F238E27FC236}">
                <a16:creationId xmlns:a16="http://schemas.microsoft.com/office/drawing/2014/main" id="{FB5296EC-1C9B-4465-81BD-E27B37575A68}"/>
              </a:ext>
            </a:extLst>
          </p:cNvPr>
          <p:cNvSpPr>
            <a:spLocks xmlns:a="http://schemas.openxmlformats.org/drawingml/2006/main" noGrp="1"/>
          </p:cNvSpPr>
          <p:nvPr/>
        </p:nvSpPr>
        <p:spPr>
          <a:xfrm xmlns:a="http://schemas.openxmlformats.org/drawingml/2006/main">
            <a:off x="571500" y="59055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658A"/>
                </a:solidFill>
                <a:latin typeface="Arial"/>
                <a:ea typeface="Arial"/>
                <a:cs typeface="Arial"/>
              </a:defRPr>
            </a:pPr>
            <a:r>
              <a:rPr sz="3375" b="1">
                <a:solidFill>
                  <a:srgbClr val="17658A"/>
                </a:solidFill>
                <a:latin typeface="Arial"/>
                <a:ea typeface="Arial"/>
                <a:cs typeface="Arial"/>
              </a:rPr>
              <a:t>MO = ΔTO / ΔQ</a:t>
            </a:r>
          </a:p>
        </p:txBody>
      </p:sp>
      <p:sp>
        <p:nvSpPr>
          <p:cNvPr id="11" name="= (80 − 0) / (10 − 0) = € 8 per extra product">
            <a:extLst xmlns:a="http://schemas.openxmlformats.org/drawingml/2006/main">
              <a:ext uri="{FF2B5EF4-FFF2-40B4-BE49-F238E27FC236}">
                <a16:creationId xmlns:a16="http://schemas.microsoft.com/office/drawing/2014/main" id="{4AE24AE7-0421-401F-9079-695E0714C4D1}"/>
              </a:ext>
            </a:extLst>
          </p:cNvPr>
          <p:cNvSpPr>
            <a:spLocks xmlns:a="http://schemas.openxmlformats.org/drawingml/2006/main" noGrp="1"/>
          </p:cNvSpPr>
          <p:nvPr/>
        </p:nvSpPr>
        <p:spPr>
          <a:xfrm xmlns:a="http://schemas.openxmlformats.org/drawingml/2006/main">
            <a:off x="571500" y="6743700"/>
            <a:ext cx="1409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 (80 − 0) / (10 − 0) = € 8 per extra product</a:t>
            </a:r>
          </a:p>
        </p:txBody>
      </p:sp>
    </p:spTree>
    <p:extLst>
      <p:ext uri="{BB962C8B-B14F-4D97-AF65-F5344CB8AC3E}">
        <p14:creationId xmlns:p14="http://schemas.microsoft.com/office/powerpoint/2010/main" val="120966637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b–c · Linea volledig">
            <a:extLst xmlns:a="http://schemas.openxmlformats.org/drawingml/2006/main">
              <a:ext uri="{FF2B5EF4-FFF2-40B4-BE49-F238E27FC236}">
                <a16:creationId xmlns:a16="http://schemas.microsoft.com/office/drawing/2014/main" id="{728BFF6B-8EA1-409A-B445-2C5A7E341CD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7b–c · Linea volledig</a:t>
            </a:r>
          </a:p>
        </p:txBody>
      </p:sp>
      <p:sp>
        <p:nvSpPr>
          <p:cNvPr id="2" name="">
            <a:extLst xmlns:a="http://schemas.openxmlformats.org/drawingml/2006/main">
              <a:ext uri="{FF2B5EF4-FFF2-40B4-BE49-F238E27FC236}">
                <a16:creationId xmlns:a16="http://schemas.microsoft.com/office/drawing/2014/main" id="{387DA755-0C1B-4381-BFEE-46FFB793604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 Opgave 7 · Linea en Curva · Boekpagina 27">
            <a:extLst xmlns:a="http://schemas.openxmlformats.org/drawingml/2006/main">
              <a:ext uri="{FF2B5EF4-FFF2-40B4-BE49-F238E27FC236}">
                <a16:creationId xmlns:a16="http://schemas.microsoft.com/office/drawing/2014/main" id="{AAD3F994-3865-407F-BADB-00F116EDAA3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 Opgave 7 · Linea en Curva · Boekpagina 27</a:t>
            </a:r>
          </a:p>
        </p:txBody>
      </p:sp>
      <p:sp>
        <p:nvSpPr>
          <p:cNvPr id="4" name="slide-number">
            <a:extLst xmlns:a="http://schemas.openxmlformats.org/drawingml/2006/main">
              <a:ext uri="{FF2B5EF4-FFF2-40B4-BE49-F238E27FC236}">
                <a16:creationId xmlns:a16="http://schemas.microsoft.com/office/drawing/2014/main" id="{6D34ECFC-6DBA-4291-B7CA-59091368AE1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Q: producten per week · TK, TO en winst: euro per week">
            <a:extLst xmlns:a="http://schemas.openxmlformats.org/drawingml/2006/main">
              <a:ext uri="{FF2B5EF4-FFF2-40B4-BE49-F238E27FC236}">
                <a16:creationId xmlns:a16="http://schemas.microsoft.com/office/drawing/2014/main" id="{4AE6EADB-402D-4BA1-A059-7F9BF1A62412}"/>
              </a:ext>
            </a:extLst>
          </p:cNvPr>
          <p:cNvSpPr>
            <a:spLocks xmlns:a="http://schemas.openxmlformats.org/drawingml/2006/main" noGrp="1"/>
          </p:cNvSpPr>
          <p:nvPr/>
        </p:nvSpPr>
        <p:spPr>
          <a:xfrm xmlns:a="http://schemas.openxmlformats.org/drawingml/2006/main">
            <a:off x="571500" y="1857375"/>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Q: producten per week · TK, TO en winst: euro per week</a:t>
            </a:r>
          </a:p>
        </p:txBody>
      </p:sp>
      <p:graphicFrame>
        <p:nvGraphicFramePr>
          <p:cNvPr id="14" name=""/>
          <p:cNvGraphicFramePr/>
          <p:nvPr/>
        </p:nvGraphicFramePr>
        <p:xfrm>
          <a:off xmlns:a="http://schemas.openxmlformats.org/drawingml/2006/main" x="571500" y="2695575"/>
          <a:ext xmlns:a="http://schemas.openxmlformats.org/drawingml/2006/main" cx="14097000" cy="3400425"/>
        </p:xfrm>
        <a:graphic xmlns:a="http://schemas.openxmlformats.org/drawingml/2006/main">
          <a:graphicData uri="http://schemas.openxmlformats.org/drawingml/2006/table">
            <a:tbl>
              <a:tblPr/>
              <a:tblGrid>
                <a:gridCol w="1238250"/>
                <a:gridCol w="1905000"/>
                <a:gridCol w="1905000"/>
                <a:gridCol w="2571750"/>
                <a:gridCol w="3238500"/>
                <a:gridCol w="3238500"/>
              </a:tblGrid>
              <a:tr h="680085">
                <a:tc>
                  <a:txBody>
                    <a:bodyPr lIns="152400" tIns="76200" rIns="133350" bIns="76200"/>
                    <a:lstStyle/>
                    <a:p>
                      <a:r>
                        <a:rPr sz="2400" b="1">
                          <a:solidFill>
                            <a:srgbClr val="FFFFFF"/>
                          </a:solidFill>
                          <a:latin typeface="Arial"/>
                          <a:ea typeface="Arial"/>
                          <a:cs typeface="Arial"/>
                        </a:rPr>
                        <a:t>Q</a:t>
                      </a:r>
                    </a:p>
                  </a:txBody>
                  <a:tcPr marL="91440" marR="91440" marT="45720" marB="45720" anchor="ctr">
                    <a:solidFill>
                      <a:srgbClr val="183247"/>
                    </a:solidFill>
                  </a:tcPr>
                </a:tc>
                <a:tc>
                  <a:txBody>
                    <a:bodyPr lIns="152400" tIns="76200" rIns="133350" bIns="76200"/>
                    <a:lstStyle/>
                    <a:p>
                      <a:r>
                        <a:rPr sz="2400" b="1">
                          <a:solidFill>
                            <a:srgbClr val="FFFFFF"/>
                          </a:solidFill>
                          <a:latin typeface="Arial"/>
                          <a:ea typeface="Arial"/>
                          <a:cs typeface="Arial"/>
                        </a:rPr>
                        <a:t>TK (€)</a:t>
                      </a:r>
                    </a:p>
                  </a:txBody>
                  <a:tcPr marL="91440" marR="91440" marT="45720" marB="45720" anchor="ctr">
                    <a:solidFill>
                      <a:srgbClr val="183247"/>
                    </a:solidFill>
                  </a:tcPr>
                </a:tc>
                <a:tc>
                  <a:txBody>
                    <a:bodyPr lIns="152400" tIns="76200" rIns="133350" bIns="76200"/>
                    <a:lstStyle/>
                    <a:p>
                      <a:r>
                        <a:rPr sz="2400" b="1">
                          <a:solidFill>
                            <a:srgbClr val="FFFFFF"/>
                          </a:solidFill>
                          <a:latin typeface="Arial"/>
                          <a:ea typeface="Arial"/>
                          <a:cs typeface="Arial"/>
                        </a:rPr>
                        <a:t>TO (€)</a:t>
                      </a:r>
                    </a:p>
                  </a:txBody>
                  <a:tcPr marL="91440" marR="91440" marT="45720" marB="45720" anchor="ctr">
                    <a:solidFill>
                      <a:srgbClr val="183247"/>
                    </a:solidFill>
                  </a:tcPr>
                </a:tc>
                <a:tc>
                  <a:txBody>
                    <a:bodyPr lIns="152400" tIns="76200" rIns="133350" bIns="76200"/>
                    <a:lstStyle/>
                    <a:p>
                      <a:r>
                        <a:rPr sz="2400" b="1">
                          <a:solidFill>
                            <a:srgbClr val="FFFFFF"/>
                          </a:solidFill>
                          <a:latin typeface="Arial"/>
                          <a:ea typeface="Arial"/>
                          <a:cs typeface="Arial"/>
                        </a:rPr>
                        <a:t>Winst (€)</a:t>
                      </a:r>
                    </a:p>
                  </a:txBody>
                  <a:tcPr marL="91440" marR="91440" marT="45720" marB="45720" anchor="ctr">
                    <a:solidFill>
                      <a:srgbClr val="183247"/>
                    </a:solidFill>
                  </a:tcPr>
                </a:tc>
                <a:tc>
                  <a:txBody>
                    <a:bodyPr lIns="152400" tIns="76200" rIns="133350" bIns="76200"/>
                    <a:lstStyle/>
                    <a:p>
                      <a:r>
                        <a:rPr sz="2400" b="1">
                          <a:solidFill>
                            <a:srgbClr val="FFFFFF"/>
                          </a:solidFill>
                          <a:latin typeface="Arial"/>
                          <a:ea typeface="Arial"/>
                          <a:cs typeface="Arial"/>
                        </a:rPr>
                        <a:t>MK (€ per</a:t>
                      </a:r>
                    </a:p>
                    <a:p>
                      <a:r>
                        <a:rPr sz="2400" b="1">
                          <a:solidFill>
                            <a:srgbClr val="FFFFFF"/>
                          </a:solidFill>
                          <a:latin typeface="Arial"/>
                          <a:ea typeface="Arial"/>
                          <a:cs typeface="Arial"/>
                        </a:rPr>
                        <a:t>extra product)</a:t>
                      </a:r>
                    </a:p>
                  </a:txBody>
                  <a:tcPr marL="91440" marR="91440" marT="45720" marB="45720" anchor="ctr">
                    <a:solidFill>
                      <a:srgbClr val="183247"/>
                    </a:solidFill>
                  </a:tcPr>
                </a:tc>
                <a:tc>
                  <a:txBody>
                    <a:bodyPr lIns="152400" tIns="76200" rIns="133350" bIns="76200"/>
                    <a:lstStyle/>
                    <a:p>
                      <a:r>
                        <a:rPr sz="2400" b="1">
                          <a:solidFill>
                            <a:srgbClr val="FFFFFF"/>
                          </a:solidFill>
                          <a:latin typeface="Arial"/>
                          <a:ea typeface="Arial"/>
                          <a:cs typeface="Arial"/>
                        </a:rPr>
                        <a:t>MO (€ per</a:t>
                      </a:r>
                    </a:p>
                    <a:p>
                      <a:r>
                        <a:rPr sz="2400" b="1">
                          <a:solidFill>
                            <a:srgbClr val="FFFFFF"/>
                          </a:solidFill>
                          <a:latin typeface="Arial"/>
                          <a:ea typeface="Arial"/>
                          <a:cs typeface="Arial"/>
                        </a:rPr>
                        <a:t>extra product)</a:t>
                      </a:r>
                    </a:p>
                  </a:txBody>
                  <a:tcPr marL="91440" marR="91440" marT="45720" marB="45720" anchor="ctr">
                    <a:solidFill>
                      <a:srgbClr val="183247"/>
                    </a:solidFill>
                  </a:tcPr>
                </a:tc>
              </a:tr>
              <a:tr h="680085">
                <a:tc>
                  <a:txBody>
                    <a:bodyPr lIns="152400" tIns="76200" rIns="133350" bIns="76200"/>
                    <a:lstStyle/>
                    <a:p>
                      <a:r>
                        <a:rPr sz="2400" b="0">
                          <a:solidFill>
                            <a:srgbClr val="183247"/>
                          </a:solidFill>
                          <a:latin typeface="Arial"/>
                          <a:ea typeface="Arial"/>
                          <a:cs typeface="Arial"/>
                        </a:rPr>
                        <a:t>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200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−200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FFFFFF"/>
                    </a:solidFill>
                  </a:tcPr>
                </a:tc>
              </a:tr>
              <a:tr h="680085">
                <a:tc>
                  <a:txBody>
                    <a:bodyPr lIns="152400" tIns="76200" rIns="133350" bIns="76200"/>
                    <a:lstStyle/>
                    <a:p>
                      <a:r>
                        <a:rPr sz="2400" b="0">
                          <a:solidFill>
                            <a:srgbClr val="183247"/>
                          </a:solidFill>
                          <a:latin typeface="Arial"/>
                          <a:ea typeface="Arial"/>
                          <a:cs typeface="Arial"/>
                        </a:rPr>
                        <a:t>10</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230</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80</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−150</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3</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8</a:t>
                      </a:r>
                    </a:p>
                  </a:txBody>
                  <a:tcPr marL="91440" marR="91440" marT="45720" marB="45720" anchor="ctr">
                    <a:solidFill>
                      <a:srgbClr val="EFF4F7"/>
                    </a:solidFill>
                  </a:tcPr>
                </a:tc>
              </a:tr>
              <a:tr h="680085">
                <a:tc>
                  <a:txBody>
                    <a:bodyPr lIns="152400" tIns="76200" rIns="133350" bIns="76200"/>
                    <a:lstStyle/>
                    <a:p>
                      <a:r>
                        <a:rPr sz="2400" b="0">
                          <a:solidFill>
                            <a:srgbClr val="183247"/>
                          </a:solidFill>
                          <a:latin typeface="Arial"/>
                          <a:ea typeface="Arial"/>
                          <a:cs typeface="Arial"/>
                        </a:rPr>
                        <a:t>20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260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160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−100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3</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8</a:t>
                      </a:r>
                    </a:p>
                  </a:txBody>
                  <a:tcPr marL="91440" marR="91440" marT="45720" marB="45720" anchor="ctr">
                    <a:solidFill>
                      <a:srgbClr val="FFFFFF"/>
                    </a:solidFill>
                  </a:tcPr>
                </a:tc>
              </a:tr>
              <a:tr h="680085">
                <a:tc>
                  <a:txBody>
                    <a:bodyPr lIns="152400" tIns="76200" rIns="133350" bIns="76200"/>
                    <a:lstStyle/>
                    <a:p>
                      <a:r>
                        <a:rPr sz="2400" b="0">
                          <a:solidFill>
                            <a:srgbClr val="183247"/>
                          </a:solidFill>
                          <a:latin typeface="Arial"/>
                          <a:ea typeface="Arial"/>
                          <a:cs typeface="Arial"/>
                        </a:rPr>
                        <a:t>30</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290</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240</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−50</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3</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8</a:t>
                      </a:r>
                    </a:p>
                  </a:txBody>
                  <a:tcPr marL="91440" marR="91440" marT="45720" marB="45720" anchor="ctr">
                    <a:solidFill>
                      <a:srgbClr val="EFF4F7"/>
                    </a:solidFill>
                  </a:tcPr>
                </a:tc>
              </a:tr>
            </a:tbl>
          </a:graphicData>
        </a:graphic>
      </p:graphicFrame>
      <p:sp>
        <p:nvSpPr>
          <p:cNvPr id="7" name="Elke stap: MK = 30 / 10 = 3 en MO = 80 / 10 = 8">
            <a:extLst xmlns:a="http://schemas.openxmlformats.org/drawingml/2006/main">
              <a:ext uri="{FF2B5EF4-FFF2-40B4-BE49-F238E27FC236}">
                <a16:creationId xmlns:a16="http://schemas.microsoft.com/office/drawing/2014/main" id="{F7B9BBCC-D340-4BA2-8841-807C31D7F2B3}"/>
              </a:ext>
            </a:extLst>
          </p:cNvPr>
          <p:cNvSpPr>
            <a:spLocks xmlns:a="http://schemas.openxmlformats.org/drawingml/2006/main" noGrp="1"/>
          </p:cNvSpPr>
          <p:nvPr/>
        </p:nvSpPr>
        <p:spPr>
          <a:xfrm xmlns:a="http://schemas.openxmlformats.org/drawingml/2006/main">
            <a:off x="571500" y="65341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Elke stap: MK = 30 / 10 = 3 en MO = 80 / 10 = 8</a:t>
            </a:r>
          </a:p>
        </p:txBody>
      </p:sp>
      <p:sp>
        <p:nvSpPr>
          <p:cNvPr id="8" name="MO blijft € 8: ieder extra product wordt voor € 8 verkocht.">
            <a:extLst xmlns:a="http://schemas.openxmlformats.org/drawingml/2006/main">
              <a:ext uri="{FF2B5EF4-FFF2-40B4-BE49-F238E27FC236}">
                <a16:creationId xmlns:a16="http://schemas.microsoft.com/office/drawing/2014/main" id="{662EA9AE-4FEA-4510-975D-BD051F312B4C}"/>
              </a:ext>
            </a:extLst>
          </p:cNvPr>
          <p:cNvSpPr>
            <a:spLocks xmlns:a="http://schemas.openxmlformats.org/drawingml/2006/main" noGrp="1"/>
          </p:cNvSpPr>
          <p:nvPr/>
        </p:nvSpPr>
        <p:spPr>
          <a:xfrm xmlns:a="http://schemas.openxmlformats.org/drawingml/2006/main">
            <a:off x="571500" y="7353300"/>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MO blijft € 8: ieder extra product wordt voor € 8 verkocht.</a:t>
            </a:r>
          </a:p>
        </p:txBody>
      </p:sp>
    </p:spTree>
    <p:extLst>
      <p:ext uri="{BB962C8B-B14F-4D97-AF65-F5344CB8AC3E}">
        <p14:creationId xmlns:p14="http://schemas.microsoft.com/office/powerpoint/2010/main" val="29045510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d · Drie MK-berekeningen bij Curva">
            <a:extLst xmlns:a="http://schemas.openxmlformats.org/drawingml/2006/main">
              <a:ext uri="{FF2B5EF4-FFF2-40B4-BE49-F238E27FC236}">
                <a16:creationId xmlns:a16="http://schemas.microsoft.com/office/drawing/2014/main" id="{97B7498A-6F69-47AD-9598-7C6AE80426C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7d · Drie MK-berekeningen bij Curva</a:t>
            </a:r>
          </a:p>
        </p:txBody>
      </p:sp>
      <p:sp>
        <p:nvSpPr>
          <p:cNvPr id="2" name="">
            <a:extLst xmlns:a="http://schemas.openxmlformats.org/drawingml/2006/main">
              <a:ext uri="{FF2B5EF4-FFF2-40B4-BE49-F238E27FC236}">
                <a16:creationId xmlns:a16="http://schemas.microsoft.com/office/drawing/2014/main" id="{59B5FB04-8BB7-46A6-8CCB-A9B97EE26A9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 Opgave 7 · Linea en Curva · Boekpagina 27">
            <a:extLst xmlns:a="http://schemas.openxmlformats.org/drawingml/2006/main">
              <a:ext uri="{FF2B5EF4-FFF2-40B4-BE49-F238E27FC236}">
                <a16:creationId xmlns:a16="http://schemas.microsoft.com/office/drawing/2014/main" id="{196E0561-D7AC-4899-9492-B9208C0941D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 Opgave 7 · Linea en Curva · Boekpagina 27</a:t>
            </a:r>
          </a:p>
        </p:txBody>
      </p:sp>
      <p:sp>
        <p:nvSpPr>
          <p:cNvPr id="4" name="slide-number">
            <a:extLst xmlns:a="http://schemas.openxmlformats.org/drawingml/2006/main">
              <a:ext uri="{FF2B5EF4-FFF2-40B4-BE49-F238E27FC236}">
                <a16:creationId xmlns:a16="http://schemas.microsoft.com/office/drawing/2014/main" id="{17A33F1E-60F7-45A2-8F22-D2475098FD5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MK = ΔTK / ΔQ · elke stap bevat 5 extra producten">
            <a:extLst xmlns:a="http://schemas.openxmlformats.org/drawingml/2006/main">
              <a:ext uri="{FF2B5EF4-FFF2-40B4-BE49-F238E27FC236}">
                <a16:creationId xmlns:a16="http://schemas.microsoft.com/office/drawing/2014/main" id="{0AD58141-369B-4F42-8B8D-0C8D7E8A5723}"/>
              </a:ext>
            </a:extLst>
          </p:cNvPr>
          <p:cNvSpPr>
            <a:spLocks xmlns:a="http://schemas.openxmlformats.org/drawingml/2006/main" noGrp="1"/>
          </p:cNvSpPr>
          <p:nvPr/>
        </p:nvSpPr>
        <p:spPr>
          <a:xfrm xmlns:a="http://schemas.openxmlformats.org/drawingml/2006/main">
            <a:off x="571500" y="189547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MK = ΔTK / ΔQ · elke stap bevat 5 extra producten</a:t>
            </a:r>
          </a:p>
        </p:txBody>
      </p:sp>
      <p:graphicFrame>
        <p:nvGraphicFramePr>
          <p:cNvPr id="13" name=""/>
          <p:cNvGraphicFramePr/>
          <p:nvPr/>
        </p:nvGraphicFramePr>
        <p:xfrm>
          <a:off xmlns:a="http://schemas.openxmlformats.org/drawingml/2006/main" x="571500" y="3124200"/>
          <a:ext xmlns:a="http://schemas.openxmlformats.org/drawingml/2006/main" cx="14097000" cy="3314700"/>
        </p:xfrm>
        <a:graphic xmlns:a="http://schemas.openxmlformats.org/drawingml/2006/main">
          <a:graphicData uri="http://schemas.openxmlformats.org/drawingml/2006/table">
            <a:tbl>
              <a:tblPr/>
              <a:tblGrid>
                <a:gridCol w="2857500"/>
                <a:gridCol w="6667500"/>
                <a:gridCol w="4572000"/>
              </a:tblGrid>
              <a:tr h="828675">
                <a:tc>
                  <a:txBody>
                    <a:bodyPr lIns="152400" tIns="76200" rIns="133350" bIns="76200"/>
                    <a:lstStyle/>
                    <a:p>
                      <a:r>
                        <a:rPr sz="2550" b="1">
                          <a:solidFill>
                            <a:srgbClr val="FFFFFF"/>
                          </a:solidFill>
                          <a:latin typeface="Arial"/>
                          <a:ea typeface="Arial"/>
                          <a:cs typeface="Arial"/>
                        </a:rPr>
                        <a:t>Stap</a:t>
                      </a:r>
                    </a:p>
                  </a:txBody>
                  <a:tcPr marL="91440" marR="91440" marT="45720" marB="45720" anchor="ctr">
                    <a:solidFill>
                      <a:srgbClr val="183247"/>
                    </a:solidFill>
                  </a:tcPr>
                </a:tc>
                <a:tc>
                  <a:txBody>
                    <a:bodyPr lIns="152400" tIns="76200" rIns="133350" bIns="76200"/>
                    <a:lstStyle/>
                    <a:p>
                      <a:r>
                        <a:rPr sz="2550" b="1">
                          <a:solidFill>
                            <a:srgbClr val="FFFFFF"/>
                          </a:solidFill>
                          <a:latin typeface="Arial"/>
                          <a:ea typeface="Arial"/>
                          <a:cs typeface="Arial"/>
                        </a:rPr>
                        <a:t>Teller en noemer</a:t>
                      </a:r>
                    </a:p>
                  </a:txBody>
                  <a:tcPr marL="91440" marR="91440" marT="45720" marB="45720" anchor="ctr">
                    <a:solidFill>
                      <a:srgbClr val="183247"/>
                    </a:solidFill>
                  </a:tcPr>
                </a:tc>
                <a:tc>
                  <a:txBody>
                    <a:bodyPr lIns="152400" tIns="76200" rIns="133350" bIns="76200"/>
                    <a:lstStyle/>
                    <a:p>
                      <a:r>
                        <a:rPr sz="2550" b="1">
                          <a:solidFill>
                            <a:srgbClr val="FFFFFF"/>
                          </a:solidFill>
                          <a:latin typeface="Arial"/>
                          <a:ea typeface="Arial"/>
                          <a:cs typeface="Arial"/>
                        </a:rPr>
                        <a:t>MK (€ per extra product)</a:t>
                      </a:r>
                    </a:p>
                  </a:txBody>
                  <a:tcPr marL="91440" marR="91440" marT="45720" marB="45720" anchor="ctr">
                    <a:solidFill>
                      <a:srgbClr val="183247"/>
                    </a:solidFill>
                  </a:tcPr>
                </a:tc>
              </a:tr>
              <a:tr h="828675">
                <a:tc>
                  <a:txBody>
                    <a:bodyPr lIns="152400" tIns="76200" rIns="133350" bIns="76200"/>
                    <a:lstStyle/>
                    <a:p>
                      <a:r>
                        <a:rPr sz="2550" b="0">
                          <a:solidFill>
                            <a:srgbClr val="183247"/>
                          </a:solidFill>
                          <a:latin typeface="Arial"/>
                          <a:ea typeface="Arial"/>
                          <a:cs typeface="Arial"/>
                        </a:rPr>
                        <a:t>0 → 5</a:t>
                      </a:r>
                    </a:p>
                  </a:txBody>
                  <a:tcPr marL="91440" marR="91440" marT="45720" marB="45720" anchor="ctr">
                    <a:solidFill>
                      <a:srgbClr val="FFFFFF"/>
                    </a:solidFill>
                  </a:tcPr>
                </a:tc>
                <a:tc>
                  <a:txBody>
                    <a:bodyPr lIns="152400" tIns="76200" rIns="133350" bIns="76200"/>
                    <a:lstStyle/>
                    <a:p>
                      <a:r>
                        <a:rPr sz="2550" b="0">
                          <a:solidFill>
                            <a:srgbClr val="183247"/>
                          </a:solidFill>
                          <a:latin typeface="Arial"/>
                          <a:ea typeface="Arial"/>
                          <a:cs typeface="Arial"/>
                        </a:rPr>
                        <a:t>(125 − 100) / (5 − 0)</a:t>
                      </a:r>
                    </a:p>
                  </a:txBody>
                  <a:tcPr marL="91440" marR="91440" marT="45720" marB="45720" anchor="ctr">
                    <a:solidFill>
                      <a:srgbClr val="FFFFFF"/>
                    </a:solidFill>
                  </a:tcPr>
                </a:tc>
                <a:tc>
                  <a:txBody>
                    <a:bodyPr lIns="152400" tIns="76200" rIns="133350" bIns="76200"/>
                    <a:lstStyle/>
                    <a:p>
                      <a:r>
                        <a:rPr sz="2550" b="0">
                          <a:solidFill>
                            <a:srgbClr val="183247"/>
                          </a:solidFill>
                          <a:latin typeface="Arial"/>
                          <a:ea typeface="Arial"/>
                          <a:cs typeface="Arial"/>
                        </a:rPr>
                        <a:t>25 / 5 = 5</a:t>
                      </a:r>
                    </a:p>
                  </a:txBody>
                  <a:tcPr marL="91440" marR="91440" marT="45720" marB="45720" anchor="ctr">
                    <a:solidFill>
                      <a:srgbClr val="FFFFFF"/>
                    </a:solidFill>
                  </a:tcPr>
                </a:tc>
              </a:tr>
              <a:tr h="828675">
                <a:tc>
                  <a:txBody>
                    <a:bodyPr lIns="152400" tIns="76200" rIns="133350" bIns="76200"/>
                    <a:lstStyle/>
                    <a:p>
                      <a:r>
                        <a:rPr sz="2550" b="0">
                          <a:solidFill>
                            <a:srgbClr val="183247"/>
                          </a:solidFill>
                          <a:latin typeface="Arial"/>
                          <a:ea typeface="Arial"/>
                          <a:cs typeface="Arial"/>
                        </a:rPr>
                        <a:t>5 → 10</a:t>
                      </a:r>
                    </a:p>
                  </a:txBody>
                  <a:tcPr marL="91440" marR="91440" marT="45720" marB="45720" anchor="ctr">
                    <a:solidFill>
                      <a:srgbClr val="EFF4F7"/>
                    </a:solidFill>
                  </a:tcPr>
                </a:tc>
                <a:tc>
                  <a:txBody>
                    <a:bodyPr lIns="152400" tIns="76200" rIns="133350" bIns="76200"/>
                    <a:lstStyle/>
                    <a:p>
                      <a:r>
                        <a:rPr sz="2550" b="0">
                          <a:solidFill>
                            <a:srgbClr val="183247"/>
                          </a:solidFill>
                          <a:latin typeface="Arial"/>
                          <a:ea typeface="Arial"/>
                          <a:cs typeface="Arial"/>
                        </a:rPr>
                        <a:t>(200 − 125) / (10 − 5)</a:t>
                      </a:r>
                    </a:p>
                  </a:txBody>
                  <a:tcPr marL="91440" marR="91440" marT="45720" marB="45720" anchor="ctr">
                    <a:solidFill>
                      <a:srgbClr val="EFF4F7"/>
                    </a:solidFill>
                  </a:tcPr>
                </a:tc>
                <a:tc>
                  <a:txBody>
                    <a:bodyPr lIns="152400" tIns="76200" rIns="133350" bIns="76200"/>
                    <a:lstStyle/>
                    <a:p>
                      <a:r>
                        <a:rPr sz="2550" b="0">
                          <a:solidFill>
                            <a:srgbClr val="183247"/>
                          </a:solidFill>
                          <a:latin typeface="Arial"/>
                          <a:ea typeface="Arial"/>
                          <a:cs typeface="Arial"/>
                        </a:rPr>
                        <a:t>75 / 5 = 15</a:t>
                      </a:r>
                    </a:p>
                  </a:txBody>
                  <a:tcPr marL="91440" marR="91440" marT="45720" marB="45720" anchor="ctr">
                    <a:solidFill>
                      <a:srgbClr val="EFF4F7"/>
                    </a:solidFill>
                  </a:tcPr>
                </a:tc>
              </a:tr>
              <a:tr h="828675">
                <a:tc>
                  <a:txBody>
                    <a:bodyPr lIns="152400" tIns="76200" rIns="133350" bIns="76200"/>
                    <a:lstStyle/>
                    <a:p>
                      <a:r>
                        <a:rPr sz="2550" b="0">
                          <a:solidFill>
                            <a:srgbClr val="183247"/>
                          </a:solidFill>
                          <a:latin typeface="Arial"/>
                          <a:ea typeface="Arial"/>
                          <a:cs typeface="Arial"/>
                        </a:rPr>
                        <a:t>10 → 15</a:t>
                      </a:r>
                    </a:p>
                  </a:txBody>
                  <a:tcPr marL="91440" marR="91440" marT="45720" marB="45720" anchor="ctr">
                    <a:solidFill>
                      <a:srgbClr val="FFFFFF"/>
                    </a:solidFill>
                  </a:tcPr>
                </a:tc>
                <a:tc>
                  <a:txBody>
                    <a:bodyPr lIns="152400" tIns="76200" rIns="133350" bIns="76200"/>
                    <a:lstStyle/>
                    <a:p>
                      <a:r>
                        <a:rPr sz="2550" b="0">
                          <a:solidFill>
                            <a:srgbClr val="183247"/>
                          </a:solidFill>
                          <a:latin typeface="Arial"/>
                          <a:ea typeface="Arial"/>
                          <a:cs typeface="Arial"/>
                        </a:rPr>
                        <a:t>(325 − 200) / (15 − 10)</a:t>
                      </a:r>
                    </a:p>
                  </a:txBody>
                  <a:tcPr marL="91440" marR="91440" marT="45720" marB="45720" anchor="ctr">
                    <a:solidFill>
                      <a:srgbClr val="FFFFFF"/>
                    </a:solidFill>
                  </a:tcPr>
                </a:tc>
                <a:tc>
                  <a:txBody>
                    <a:bodyPr lIns="152400" tIns="76200" rIns="133350" bIns="76200"/>
                    <a:lstStyle/>
                    <a:p>
                      <a:r>
                        <a:rPr sz="2550" b="0">
                          <a:solidFill>
                            <a:srgbClr val="183247"/>
                          </a:solidFill>
                          <a:latin typeface="Arial"/>
                          <a:ea typeface="Arial"/>
                          <a:cs typeface="Arial"/>
                        </a:rPr>
                        <a:t>125 / 5 = 25</a:t>
                      </a:r>
                    </a:p>
                  </a:txBody>
                  <a:tcPr marL="91440" marR="91440" marT="45720" marB="45720" anchor="ctr">
                    <a:solidFill>
                      <a:srgbClr val="FFFFFF"/>
                    </a:solidFill>
                  </a:tcPr>
                </a:tc>
              </a:tr>
            </a:tbl>
          </a:graphicData>
        </a:graphic>
      </p:graphicFrame>
      <p:sp>
        <p:nvSpPr>
          <p:cNvPr id="7" name="Extra kosten per groep: € 25 → € 75 → € 125">
            <a:extLst xmlns:a="http://schemas.openxmlformats.org/drawingml/2006/main">
              <a:ext uri="{FF2B5EF4-FFF2-40B4-BE49-F238E27FC236}">
                <a16:creationId xmlns:a16="http://schemas.microsoft.com/office/drawing/2014/main" id="{07F87D90-8AC9-4B5B-A685-94BF24F93674}"/>
              </a:ext>
            </a:extLst>
          </p:cNvPr>
          <p:cNvSpPr>
            <a:spLocks xmlns:a="http://schemas.openxmlformats.org/drawingml/2006/main" noGrp="1"/>
          </p:cNvSpPr>
          <p:nvPr/>
        </p:nvSpPr>
        <p:spPr>
          <a:xfrm xmlns:a="http://schemas.openxmlformats.org/drawingml/2006/main">
            <a:off x="571500" y="7077075"/>
            <a:ext cx="14097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Extra kosten per groep: € 25 → € 75 → € 125</a:t>
            </a:r>
          </a:p>
        </p:txBody>
      </p:sp>
    </p:spTree>
    <p:extLst>
      <p:ext uri="{BB962C8B-B14F-4D97-AF65-F5344CB8AC3E}">
        <p14:creationId xmlns:p14="http://schemas.microsoft.com/office/powerpoint/2010/main" val="147612316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7d · MO bij Curva">
            <a:extLst xmlns:a="http://schemas.openxmlformats.org/drawingml/2006/main">
              <a:ext uri="{FF2B5EF4-FFF2-40B4-BE49-F238E27FC236}">
                <a16:creationId xmlns:a16="http://schemas.microsoft.com/office/drawing/2014/main" id="{A1D01019-664D-4C64-889D-075F642E53B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7d · MO bij Curva</a:t>
            </a:r>
          </a:p>
        </p:txBody>
      </p:sp>
      <p:sp>
        <p:nvSpPr>
          <p:cNvPr id="2" name="">
            <a:extLst xmlns:a="http://schemas.openxmlformats.org/drawingml/2006/main">
              <a:ext uri="{FF2B5EF4-FFF2-40B4-BE49-F238E27FC236}">
                <a16:creationId xmlns:a16="http://schemas.microsoft.com/office/drawing/2014/main" id="{0D6B99A3-F031-4EC9-95A5-76B7A3A3333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 Opgave 7 · Linea en Curva · Boekpagina 27">
            <a:extLst xmlns:a="http://schemas.openxmlformats.org/drawingml/2006/main">
              <a:ext uri="{FF2B5EF4-FFF2-40B4-BE49-F238E27FC236}">
                <a16:creationId xmlns:a16="http://schemas.microsoft.com/office/drawing/2014/main" id="{2DAF8141-698A-41BB-9710-22961BDCC6B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 Opgave 7 · Linea en Curva · Boekpagina 27</a:t>
            </a:r>
          </a:p>
        </p:txBody>
      </p:sp>
      <p:sp>
        <p:nvSpPr>
          <p:cNvPr id="4" name="slide-number">
            <a:extLst xmlns:a="http://schemas.openxmlformats.org/drawingml/2006/main">
              <a:ext uri="{FF2B5EF4-FFF2-40B4-BE49-F238E27FC236}">
                <a16:creationId xmlns:a16="http://schemas.microsoft.com/office/drawing/2014/main" id="{496954DF-331D-4370-B9E8-DF19330D6B0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sp>
        <p:nvSpPr>
          <p:cNvPr id="5" name="Eerste stap: 0 → 5 producten per week">
            <a:extLst xmlns:a="http://schemas.openxmlformats.org/drawingml/2006/main">
              <a:ext uri="{FF2B5EF4-FFF2-40B4-BE49-F238E27FC236}">
                <a16:creationId xmlns:a16="http://schemas.microsoft.com/office/drawing/2014/main" id="{516F2DEA-C17D-4D1B-8A40-C7D0E69AA017}"/>
              </a:ext>
            </a:extLst>
          </p:cNvPr>
          <p:cNvSpPr>
            <a:spLocks xmlns:a="http://schemas.openxmlformats.org/drawingml/2006/main" noGrp="1"/>
          </p:cNvSpPr>
          <p:nvPr/>
        </p:nvSpPr>
        <p:spPr>
          <a:xfrm xmlns:a="http://schemas.openxmlformats.org/drawingml/2006/main">
            <a:off x="571500" y="20383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Eerste stap: 0 → 5 producten per week</a:t>
            </a:r>
          </a:p>
        </p:txBody>
      </p:sp>
      <p:sp>
        <p:nvSpPr>
          <p:cNvPr id="6" name="MO = ΔTO / ΔQ">
            <a:extLst xmlns:a="http://schemas.openxmlformats.org/drawingml/2006/main">
              <a:ext uri="{FF2B5EF4-FFF2-40B4-BE49-F238E27FC236}">
                <a16:creationId xmlns:a16="http://schemas.microsoft.com/office/drawing/2014/main" id="{7B2A3702-4077-4B56-BEF2-4DF8656F85D9}"/>
              </a:ext>
            </a:extLst>
          </p:cNvPr>
          <p:cNvSpPr>
            <a:spLocks xmlns:a="http://schemas.openxmlformats.org/drawingml/2006/main" noGrp="1"/>
          </p:cNvSpPr>
          <p:nvPr/>
        </p:nvSpPr>
        <p:spPr>
          <a:xfrm xmlns:a="http://schemas.openxmlformats.org/drawingml/2006/main">
            <a:off x="571500" y="327660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7658A"/>
                </a:solidFill>
                <a:latin typeface="Arial"/>
                <a:ea typeface="Arial"/>
                <a:cs typeface="Arial"/>
              </a:defRPr>
            </a:pPr>
            <a:r>
              <a:rPr sz="3825" b="1">
                <a:solidFill>
                  <a:srgbClr val="17658A"/>
                </a:solidFill>
                <a:latin typeface="Arial"/>
                <a:ea typeface="Arial"/>
                <a:cs typeface="Arial"/>
              </a:rPr>
              <a:t>MO = ΔTO / ΔQ</a:t>
            </a:r>
          </a:p>
        </p:txBody>
      </p:sp>
      <p:sp>
        <p:nvSpPr>
          <p:cNvPr id="7" name="= (150 − 0) / (5 − 0) = 150 / 5">
            <a:extLst xmlns:a="http://schemas.openxmlformats.org/drawingml/2006/main">
              <a:ext uri="{FF2B5EF4-FFF2-40B4-BE49-F238E27FC236}">
                <a16:creationId xmlns:a16="http://schemas.microsoft.com/office/drawing/2014/main" id="{508DA86E-B4BD-4473-8A78-6C599658A82A}"/>
              </a:ext>
            </a:extLst>
          </p:cNvPr>
          <p:cNvSpPr>
            <a:spLocks xmlns:a="http://schemas.openxmlformats.org/drawingml/2006/main" noGrp="1"/>
          </p:cNvSpPr>
          <p:nvPr/>
        </p:nvSpPr>
        <p:spPr>
          <a:xfrm xmlns:a="http://schemas.openxmlformats.org/drawingml/2006/main">
            <a:off x="571500" y="426720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83247"/>
                </a:solidFill>
                <a:latin typeface="Arial"/>
                <a:ea typeface="Arial"/>
                <a:cs typeface="Arial"/>
              </a:defRPr>
            </a:pPr>
            <a:r>
              <a:rPr sz="3600" b="0">
                <a:solidFill>
                  <a:srgbClr val="183247"/>
                </a:solidFill>
                <a:latin typeface="Arial"/>
                <a:ea typeface="Arial"/>
                <a:cs typeface="Arial"/>
              </a:rPr>
              <a:t>= (150 − 0) / (5 − 0) = 150 / 5</a:t>
            </a:r>
          </a:p>
        </p:txBody>
      </p:sp>
      <p:sp>
        <p:nvSpPr>
          <p:cNvPr id="8" name="= € 30 per extra product">
            <a:extLst xmlns:a="http://schemas.openxmlformats.org/drawingml/2006/main">
              <a:ext uri="{FF2B5EF4-FFF2-40B4-BE49-F238E27FC236}">
                <a16:creationId xmlns:a16="http://schemas.microsoft.com/office/drawing/2014/main" id="{E1030BBA-DA55-4474-BBBD-9B12AB40C0BC}"/>
              </a:ext>
            </a:extLst>
          </p:cNvPr>
          <p:cNvSpPr>
            <a:spLocks xmlns:a="http://schemas.openxmlformats.org/drawingml/2006/main" noGrp="1"/>
          </p:cNvSpPr>
          <p:nvPr/>
        </p:nvSpPr>
        <p:spPr>
          <a:xfrm xmlns:a="http://schemas.openxmlformats.org/drawingml/2006/main">
            <a:off x="571500" y="525780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7658A"/>
                </a:solidFill>
                <a:latin typeface="Arial"/>
                <a:ea typeface="Arial"/>
                <a:cs typeface="Arial"/>
              </a:defRPr>
            </a:pPr>
            <a:r>
              <a:rPr sz="3825" b="1">
                <a:solidFill>
                  <a:srgbClr val="17658A"/>
                </a:solidFill>
                <a:latin typeface="Arial"/>
                <a:ea typeface="Arial"/>
                <a:cs typeface="Arial"/>
              </a:rPr>
              <a:t>= € 30 per extra product</a:t>
            </a:r>
          </a:p>
        </p:txBody>
      </p:sp>
      <p:sp>
        <p:nvSpPr>
          <p:cNvPr id="9" name="Ook in de volgende stappen: € 150 extra voor 5 extra producten.">
            <a:extLst xmlns:a="http://schemas.openxmlformats.org/drawingml/2006/main">
              <a:ext uri="{FF2B5EF4-FFF2-40B4-BE49-F238E27FC236}">
                <a16:creationId xmlns:a16="http://schemas.microsoft.com/office/drawing/2014/main" id="{710DEDF9-9B90-4605-A4C2-DC69E76EADBF}"/>
              </a:ext>
            </a:extLst>
          </p:cNvPr>
          <p:cNvSpPr>
            <a:spLocks xmlns:a="http://schemas.openxmlformats.org/drawingml/2006/main" noGrp="1"/>
          </p:cNvSpPr>
          <p:nvPr/>
        </p:nvSpPr>
        <p:spPr>
          <a:xfrm xmlns:a="http://schemas.openxmlformats.org/drawingml/2006/main">
            <a:off x="571500" y="6534150"/>
            <a:ext cx="1409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Ook in de volgende stappen: € 150 extra voor 5 extra producten.</a:t>
            </a:r>
          </a:p>
        </p:txBody>
      </p:sp>
    </p:spTree>
    <p:extLst>
      <p:ext uri="{BB962C8B-B14F-4D97-AF65-F5344CB8AC3E}">
        <p14:creationId xmlns:p14="http://schemas.microsoft.com/office/powerpoint/2010/main" val="90969596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d · Curva volledig">
            <a:extLst xmlns:a="http://schemas.openxmlformats.org/drawingml/2006/main">
              <a:ext uri="{FF2B5EF4-FFF2-40B4-BE49-F238E27FC236}">
                <a16:creationId xmlns:a16="http://schemas.microsoft.com/office/drawing/2014/main" id="{B034AA39-7F74-4F32-A816-696E9026934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7d · Curva volledig</a:t>
            </a:r>
          </a:p>
        </p:txBody>
      </p:sp>
      <p:sp>
        <p:nvSpPr>
          <p:cNvPr id="2" name="">
            <a:extLst xmlns:a="http://schemas.openxmlformats.org/drawingml/2006/main">
              <a:ext uri="{FF2B5EF4-FFF2-40B4-BE49-F238E27FC236}">
                <a16:creationId xmlns:a16="http://schemas.microsoft.com/office/drawing/2014/main" id="{32A18503-68CD-44E8-ABDD-06687B53C69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 Opgave 7 · Linea en Curva · Boekpagina 27">
            <a:extLst xmlns:a="http://schemas.openxmlformats.org/drawingml/2006/main">
              <a:ext uri="{FF2B5EF4-FFF2-40B4-BE49-F238E27FC236}">
                <a16:creationId xmlns:a16="http://schemas.microsoft.com/office/drawing/2014/main" id="{D15C89F2-85C7-471C-870B-12695471327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 Opgave 7 · Linea en Curva · Boekpagina 27</a:t>
            </a:r>
          </a:p>
        </p:txBody>
      </p:sp>
      <p:sp>
        <p:nvSpPr>
          <p:cNvPr id="4" name="slide-number">
            <a:extLst xmlns:a="http://schemas.openxmlformats.org/drawingml/2006/main">
              <a:ext uri="{FF2B5EF4-FFF2-40B4-BE49-F238E27FC236}">
                <a16:creationId xmlns:a16="http://schemas.microsoft.com/office/drawing/2014/main" id="{DC94192A-8506-43A1-9F42-BEC0C799E55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sp>
        <p:nvSpPr>
          <p:cNvPr id="5" name="Q: producten per week · TK, TO en winst: euro per week">
            <a:extLst xmlns:a="http://schemas.openxmlformats.org/drawingml/2006/main">
              <a:ext uri="{FF2B5EF4-FFF2-40B4-BE49-F238E27FC236}">
                <a16:creationId xmlns:a16="http://schemas.microsoft.com/office/drawing/2014/main" id="{20B466C5-73A2-4C54-B992-D341F9385996}"/>
              </a:ext>
            </a:extLst>
          </p:cNvPr>
          <p:cNvSpPr>
            <a:spLocks xmlns:a="http://schemas.openxmlformats.org/drawingml/2006/main" noGrp="1"/>
          </p:cNvSpPr>
          <p:nvPr/>
        </p:nvSpPr>
        <p:spPr>
          <a:xfrm xmlns:a="http://schemas.openxmlformats.org/drawingml/2006/main">
            <a:off x="571500" y="1895475"/>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Q: producten per week · TK, TO en winst: euro per week</a:t>
            </a:r>
          </a:p>
        </p:txBody>
      </p:sp>
      <p:graphicFrame>
        <p:nvGraphicFramePr>
          <p:cNvPr id="14" name=""/>
          <p:cNvGraphicFramePr/>
          <p:nvPr/>
        </p:nvGraphicFramePr>
        <p:xfrm>
          <a:off xmlns:a="http://schemas.openxmlformats.org/drawingml/2006/main" x="571500" y="2714625"/>
          <a:ext xmlns:a="http://schemas.openxmlformats.org/drawingml/2006/main" cx="14097000" cy="3400425"/>
        </p:xfrm>
        <a:graphic xmlns:a="http://schemas.openxmlformats.org/drawingml/2006/main">
          <a:graphicData uri="http://schemas.openxmlformats.org/drawingml/2006/table">
            <a:tbl>
              <a:tblPr/>
              <a:tblGrid>
                <a:gridCol w="1238250"/>
                <a:gridCol w="1905000"/>
                <a:gridCol w="1905000"/>
                <a:gridCol w="2571750"/>
                <a:gridCol w="3238500"/>
                <a:gridCol w="3238500"/>
              </a:tblGrid>
              <a:tr h="680085">
                <a:tc>
                  <a:txBody>
                    <a:bodyPr lIns="152400" tIns="76200" rIns="133350" bIns="76200"/>
                    <a:lstStyle/>
                    <a:p>
                      <a:r>
                        <a:rPr sz="2400" b="1">
                          <a:solidFill>
                            <a:srgbClr val="FFFFFF"/>
                          </a:solidFill>
                          <a:latin typeface="Arial"/>
                          <a:ea typeface="Arial"/>
                          <a:cs typeface="Arial"/>
                        </a:rPr>
                        <a:t>Q</a:t>
                      </a:r>
                    </a:p>
                  </a:txBody>
                  <a:tcPr marL="91440" marR="91440" marT="45720" marB="45720" anchor="ctr">
                    <a:solidFill>
                      <a:srgbClr val="183247"/>
                    </a:solidFill>
                  </a:tcPr>
                </a:tc>
                <a:tc>
                  <a:txBody>
                    <a:bodyPr lIns="152400" tIns="76200" rIns="133350" bIns="76200"/>
                    <a:lstStyle/>
                    <a:p>
                      <a:r>
                        <a:rPr sz="2400" b="1">
                          <a:solidFill>
                            <a:srgbClr val="FFFFFF"/>
                          </a:solidFill>
                          <a:latin typeface="Arial"/>
                          <a:ea typeface="Arial"/>
                          <a:cs typeface="Arial"/>
                        </a:rPr>
                        <a:t>TK (€)</a:t>
                      </a:r>
                    </a:p>
                  </a:txBody>
                  <a:tcPr marL="91440" marR="91440" marT="45720" marB="45720" anchor="ctr">
                    <a:solidFill>
                      <a:srgbClr val="183247"/>
                    </a:solidFill>
                  </a:tcPr>
                </a:tc>
                <a:tc>
                  <a:txBody>
                    <a:bodyPr lIns="152400" tIns="76200" rIns="133350" bIns="76200"/>
                    <a:lstStyle/>
                    <a:p>
                      <a:r>
                        <a:rPr sz="2400" b="1">
                          <a:solidFill>
                            <a:srgbClr val="FFFFFF"/>
                          </a:solidFill>
                          <a:latin typeface="Arial"/>
                          <a:ea typeface="Arial"/>
                          <a:cs typeface="Arial"/>
                        </a:rPr>
                        <a:t>TO (€)</a:t>
                      </a:r>
                    </a:p>
                  </a:txBody>
                  <a:tcPr marL="91440" marR="91440" marT="45720" marB="45720" anchor="ctr">
                    <a:solidFill>
                      <a:srgbClr val="183247"/>
                    </a:solidFill>
                  </a:tcPr>
                </a:tc>
                <a:tc>
                  <a:txBody>
                    <a:bodyPr lIns="152400" tIns="76200" rIns="133350" bIns="76200"/>
                    <a:lstStyle/>
                    <a:p>
                      <a:r>
                        <a:rPr sz="2400" b="1">
                          <a:solidFill>
                            <a:srgbClr val="FFFFFF"/>
                          </a:solidFill>
                          <a:latin typeface="Arial"/>
                          <a:ea typeface="Arial"/>
                          <a:cs typeface="Arial"/>
                        </a:rPr>
                        <a:t>Winst (€)</a:t>
                      </a:r>
                    </a:p>
                  </a:txBody>
                  <a:tcPr marL="91440" marR="91440" marT="45720" marB="45720" anchor="ctr">
                    <a:solidFill>
                      <a:srgbClr val="183247"/>
                    </a:solidFill>
                  </a:tcPr>
                </a:tc>
                <a:tc>
                  <a:txBody>
                    <a:bodyPr lIns="152400" tIns="76200" rIns="133350" bIns="76200"/>
                    <a:lstStyle/>
                    <a:p>
                      <a:r>
                        <a:rPr sz="2400" b="1">
                          <a:solidFill>
                            <a:srgbClr val="FFFFFF"/>
                          </a:solidFill>
                          <a:latin typeface="Arial"/>
                          <a:ea typeface="Arial"/>
                          <a:cs typeface="Arial"/>
                        </a:rPr>
                        <a:t>MK (€ per</a:t>
                      </a:r>
                    </a:p>
                    <a:p>
                      <a:r>
                        <a:rPr sz="2400" b="1">
                          <a:solidFill>
                            <a:srgbClr val="FFFFFF"/>
                          </a:solidFill>
                          <a:latin typeface="Arial"/>
                          <a:ea typeface="Arial"/>
                          <a:cs typeface="Arial"/>
                        </a:rPr>
                        <a:t>extra product)</a:t>
                      </a:r>
                    </a:p>
                  </a:txBody>
                  <a:tcPr marL="91440" marR="91440" marT="45720" marB="45720" anchor="ctr">
                    <a:solidFill>
                      <a:srgbClr val="183247"/>
                    </a:solidFill>
                  </a:tcPr>
                </a:tc>
                <a:tc>
                  <a:txBody>
                    <a:bodyPr lIns="152400" tIns="76200" rIns="133350" bIns="76200"/>
                    <a:lstStyle/>
                    <a:p>
                      <a:r>
                        <a:rPr sz="2400" b="1">
                          <a:solidFill>
                            <a:srgbClr val="FFFFFF"/>
                          </a:solidFill>
                          <a:latin typeface="Arial"/>
                          <a:ea typeface="Arial"/>
                          <a:cs typeface="Arial"/>
                        </a:rPr>
                        <a:t>MO (€ per</a:t>
                      </a:r>
                    </a:p>
                    <a:p>
                      <a:r>
                        <a:rPr sz="2400" b="1">
                          <a:solidFill>
                            <a:srgbClr val="FFFFFF"/>
                          </a:solidFill>
                          <a:latin typeface="Arial"/>
                          <a:ea typeface="Arial"/>
                          <a:cs typeface="Arial"/>
                        </a:rPr>
                        <a:t>extra product)</a:t>
                      </a:r>
                    </a:p>
                  </a:txBody>
                  <a:tcPr marL="91440" marR="91440" marT="45720" marB="45720" anchor="ctr">
                    <a:solidFill>
                      <a:srgbClr val="183247"/>
                    </a:solidFill>
                  </a:tcPr>
                </a:tc>
              </a:tr>
              <a:tr h="680085">
                <a:tc>
                  <a:txBody>
                    <a:bodyPr lIns="152400" tIns="76200" rIns="133350" bIns="76200"/>
                    <a:lstStyle/>
                    <a:p>
                      <a:r>
                        <a:rPr sz="2400" b="0">
                          <a:solidFill>
                            <a:srgbClr val="183247"/>
                          </a:solidFill>
                          <a:latin typeface="Arial"/>
                          <a:ea typeface="Arial"/>
                          <a:cs typeface="Arial"/>
                        </a:rPr>
                        <a:t>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100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−100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a:t>
                      </a:r>
                    </a:p>
                  </a:txBody>
                  <a:tcPr marL="91440" marR="91440" marT="45720" marB="45720" anchor="ctr">
                    <a:solidFill>
                      <a:srgbClr val="FFFFFF"/>
                    </a:solidFill>
                  </a:tcPr>
                </a:tc>
              </a:tr>
              <a:tr h="680085">
                <a:tc>
                  <a:txBody>
                    <a:bodyPr lIns="152400" tIns="76200" rIns="133350" bIns="76200"/>
                    <a:lstStyle/>
                    <a:p>
                      <a:r>
                        <a:rPr sz="2400" b="0">
                          <a:solidFill>
                            <a:srgbClr val="183247"/>
                          </a:solidFill>
                          <a:latin typeface="Arial"/>
                          <a:ea typeface="Arial"/>
                          <a:cs typeface="Arial"/>
                        </a:rPr>
                        <a:t>5</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125</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150</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25</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5</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30</a:t>
                      </a:r>
                    </a:p>
                  </a:txBody>
                  <a:tcPr marL="91440" marR="91440" marT="45720" marB="45720" anchor="ctr">
                    <a:solidFill>
                      <a:srgbClr val="EFF4F7"/>
                    </a:solidFill>
                  </a:tcPr>
                </a:tc>
              </a:tr>
              <a:tr h="680085">
                <a:tc>
                  <a:txBody>
                    <a:bodyPr lIns="152400" tIns="76200" rIns="133350" bIns="76200"/>
                    <a:lstStyle/>
                    <a:p>
                      <a:r>
                        <a:rPr sz="2400" b="0">
                          <a:solidFill>
                            <a:srgbClr val="183247"/>
                          </a:solidFill>
                          <a:latin typeface="Arial"/>
                          <a:ea typeface="Arial"/>
                          <a:cs typeface="Arial"/>
                        </a:rPr>
                        <a:t>10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200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300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100</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15</a:t>
                      </a:r>
                    </a:p>
                  </a:txBody>
                  <a:tcPr marL="91440" marR="91440" marT="45720" marB="45720" anchor="ctr">
                    <a:solidFill>
                      <a:srgbClr val="FFFFFF"/>
                    </a:solidFill>
                  </a:tcPr>
                </a:tc>
                <a:tc>
                  <a:txBody>
                    <a:bodyPr lIns="152400" tIns="76200" rIns="133350" bIns="76200"/>
                    <a:lstStyle/>
                    <a:p>
                      <a:r>
                        <a:rPr sz="2400" b="0">
                          <a:solidFill>
                            <a:srgbClr val="183247"/>
                          </a:solidFill>
                          <a:latin typeface="Arial"/>
                          <a:ea typeface="Arial"/>
                          <a:cs typeface="Arial"/>
                        </a:rPr>
                        <a:t>30</a:t>
                      </a:r>
                    </a:p>
                  </a:txBody>
                  <a:tcPr marL="91440" marR="91440" marT="45720" marB="45720" anchor="ctr">
                    <a:solidFill>
                      <a:srgbClr val="FFFFFF"/>
                    </a:solidFill>
                  </a:tcPr>
                </a:tc>
              </a:tr>
              <a:tr h="680085">
                <a:tc>
                  <a:txBody>
                    <a:bodyPr lIns="152400" tIns="76200" rIns="133350" bIns="76200"/>
                    <a:lstStyle/>
                    <a:p>
                      <a:r>
                        <a:rPr sz="2400" b="0">
                          <a:solidFill>
                            <a:srgbClr val="183247"/>
                          </a:solidFill>
                          <a:latin typeface="Arial"/>
                          <a:ea typeface="Arial"/>
                          <a:cs typeface="Arial"/>
                        </a:rPr>
                        <a:t>15</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325</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450</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125</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25</a:t>
                      </a:r>
                    </a:p>
                  </a:txBody>
                  <a:tcPr marL="91440" marR="91440" marT="45720" marB="45720" anchor="ctr">
                    <a:solidFill>
                      <a:srgbClr val="EFF4F7"/>
                    </a:solidFill>
                  </a:tcPr>
                </a:tc>
                <a:tc>
                  <a:txBody>
                    <a:bodyPr lIns="152400" tIns="76200" rIns="133350" bIns="76200"/>
                    <a:lstStyle/>
                    <a:p>
                      <a:r>
                        <a:rPr sz="2400" b="0">
                          <a:solidFill>
                            <a:srgbClr val="183247"/>
                          </a:solidFill>
                          <a:latin typeface="Arial"/>
                          <a:ea typeface="Arial"/>
                          <a:cs typeface="Arial"/>
                        </a:rPr>
                        <a:t>30</a:t>
                      </a:r>
                    </a:p>
                  </a:txBody>
                  <a:tcPr marL="91440" marR="91440" marT="45720" marB="45720" anchor="ctr">
                    <a:solidFill>
                      <a:srgbClr val="EFF4F7"/>
                    </a:solidFill>
                  </a:tcPr>
                </a:tc>
              </a:tr>
            </a:tbl>
          </a:graphicData>
        </a:graphic>
      </p:graphicFrame>
      <p:sp>
        <p:nvSpPr>
          <p:cNvPr id="7" name="Bij Q = 15 staat de uitkomst van de stap 10 → 15.">
            <a:extLst xmlns:a="http://schemas.openxmlformats.org/drawingml/2006/main">
              <a:ext uri="{FF2B5EF4-FFF2-40B4-BE49-F238E27FC236}">
                <a16:creationId xmlns:a16="http://schemas.microsoft.com/office/drawing/2014/main" id="{D7538208-B474-4718-A79B-06A4FDAB11F7}"/>
              </a:ext>
            </a:extLst>
          </p:cNvPr>
          <p:cNvSpPr>
            <a:spLocks xmlns:a="http://schemas.openxmlformats.org/drawingml/2006/main" noGrp="1"/>
          </p:cNvSpPr>
          <p:nvPr/>
        </p:nvSpPr>
        <p:spPr>
          <a:xfrm xmlns:a="http://schemas.openxmlformats.org/drawingml/2006/main">
            <a:off x="571500" y="6591300"/>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Bij Q = 15 staat de uitkomst van de stap 10 → 15.</a:t>
            </a:r>
          </a:p>
        </p:txBody>
      </p:sp>
      <p:sp>
        <p:nvSpPr>
          <p:cNvPr id="8" name="Controle: 5 × € 25 = € 125 extra kosten in die stap.">
            <a:extLst xmlns:a="http://schemas.openxmlformats.org/drawingml/2006/main">
              <a:ext uri="{FF2B5EF4-FFF2-40B4-BE49-F238E27FC236}">
                <a16:creationId xmlns:a16="http://schemas.microsoft.com/office/drawing/2014/main" id="{C5D8AD16-1362-4970-97D6-3CD9A19C7E21}"/>
              </a:ext>
            </a:extLst>
          </p:cNvPr>
          <p:cNvSpPr>
            <a:spLocks xmlns:a="http://schemas.openxmlformats.org/drawingml/2006/main" noGrp="1"/>
          </p:cNvSpPr>
          <p:nvPr/>
        </p:nvSpPr>
        <p:spPr>
          <a:xfrm xmlns:a="http://schemas.openxmlformats.org/drawingml/2006/main">
            <a:off x="571500" y="7400925"/>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Controle: 5 × € 25 = € 125 extra kosten in die stap.</a:t>
            </a:r>
          </a:p>
        </p:txBody>
      </p:sp>
    </p:spTree>
    <p:extLst>
      <p:ext uri="{BB962C8B-B14F-4D97-AF65-F5344CB8AC3E}">
        <p14:creationId xmlns:p14="http://schemas.microsoft.com/office/powerpoint/2010/main" val="213868985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e · Patronen en betekenis">
            <a:extLst xmlns:a="http://schemas.openxmlformats.org/drawingml/2006/main">
              <a:ext uri="{FF2B5EF4-FFF2-40B4-BE49-F238E27FC236}">
                <a16:creationId xmlns:a16="http://schemas.microsoft.com/office/drawing/2014/main" id="{B9012979-BF4A-45CA-B7D9-1A6C34F2294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7e · Patronen en betekenis</a:t>
            </a:r>
          </a:p>
        </p:txBody>
      </p:sp>
      <p:sp>
        <p:nvSpPr>
          <p:cNvPr id="2" name="">
            <a:extLst xmlns:a="http://schemas.openxmlformats.org/drawingml/2006/main">
              <a:ext uri="{FF2B5EF4-FFF2-40B4-BE49-F238E27FC236}">
                <a16:creationId xmlns:a16="http://schemas.microsoft.com/office/drawing/2014/main" id="{2619117C-C644-487D-A0A6-F11450917F2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 Opgave 7 · Linea en Curva · Boekpagina 27">
            <a:extLst xmlns:a="http://schemas.openxmlformats.org/drawingml/2006/main">
              <a:ext uri="{FF2B5EF4-FFF2-40B4-BE49-F238E27FC236}">
                <a16:creationId xmlns:a16="http://schemas.microsoft.com/office/drawing/2014/main" id="{E6B97FD0-0EDF-4AF3-81F6-A4F3461486D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 Opgave 7 · Linea en Curva · Boekpagina 27</a:t>
            </a:r>
          </a:p>
        </p:txBody>
      </p:sp>
      <p:sp>
        <p:nvSpPr>
          <p:cNvPr id="4" name="slide-number">
            <a:extLst xmlns:a="http://schemas.openxmlformats.org/drawingml/2006/main">
              <a:ext uri="{FF2B5EF4-FFF2-40B4-BE49-F238E27FC236}">
                <a16:creationId xmlns:a16="http://schemas.microsoft.com/office/drawing/2014/main" id="{61C45E29-1C78-456C-8898-429F6BE89E2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graphicFrame>
        <p:nvGraphicFramePr>
          <p:cNvPr id="13" name=""/>
          <p:cNvGraphicFramePr/>
          <p:nvPr/>
        </p:nvGraphicFramePr>
        <p:xfrm>
          <a:off xmlns:a="http://schemas.openxmlformats.org/drawingml/2006/main" x="571500" y="2114550"/>
          <a:ext xmlns:a="http://schemas.openxmlformats.org/drawingml/2006/main" cx="14097000" cy="2533650"/>
        </p:xfrm>
        <a:graphic xmlns:a="http://schemas.openxmlformats.org/drawingml/2006/main">
          <a:graphicData uri="http://schemas.openxmlformats.org/drawingml/2006/table">
            <a:tbl>
              <a:tblPr/>
              <a:tblGrid>
                <a:gridCol w="3667125"/>
                <a:gridCol w="5905500"/>
                <a:gridCol w="4524375"/>
              </a:tblGrid>
              <a:tr h="844550">
                <a:tc>
                  <a:txBody>
                    <a:bodyPr lIns="152400" tIns="76200" rIns="133350" bIns="76200"/>
                    <a:lstStyle/>
                    <a:p>
                      <a:r>
                        <a:rPr sz="2700" b="1">
                          <a:solidFill>
                            <a:srgbClr val="FFFFFF"/>
                          </a:solidFill>
                          <a:latin typeface="Arial"/>
                          <a:ea typeface="Arial"/>
                          <a:cs typeface="Arial"/>
                        </a:rPr>
                        <a:t>Onderneming</a:t>
                      </a:r>
                    </a:p>
                  </a:txBody>
                  <a:tcPr marL="91440" marR="91440" marT="45720" marB="45720" anchor="ctr">
                    <a:solidFill>
                      <a:srgbClr val="183247"/>
                    </a:solidFill>
                  </a:tcPr>
                </a:tc>
                <a:tc>
                  <a:txBody>
                    <a:bodyPr lIns="152400" tIns="76200" rIns="133350" bIns="76200"/>
                    <a:lstStyle/>
                    <a:p>
                      <a:r>
                        <a:rPr sz="2700" b="1">
                          <a:solidFill>
                            <a:srgbClr val="FFFFFF"/>
                          </a:solidFill>
                          <a:latin typeface="Arial"/>
                          <a:ea typeface="Arial"/>
                          <a:cs typeface="Arial"/>
                        </a:rPr>
                        <a:t>MK (€ per extra product)</a:t>
                      </a:r>
                    </a:p>
                  </a:txBody>
                  <a:tcPr marL="91440" marR="91440" marT="45720" marB="45720" anchor="ctr">
                    <a:solidFill>
                      <a:srgbClr val="183247"/>
                    </a:solidFill>
                  </a:tcPr>
                </a:tc>
                <a:tc>
                  <a:txBody>
                    <a:bodyPr lIns="152400" tIns="76200" rIns="133350" bIns="76200"/>
                    <a:lstStyle/>
                    <a:p>
                      <a:r>
                        <a:rPr sz="2700" b="1">
                          <a:solidFill>
                            <a:srgbClr val="FFFFFF"/>
                          </a:solidFill>
                          <a:latin typeface="Arial"/>
                          <a:ea typeface="Arial"/>
                          <a:cs typeface="Arial"/>
                        </a:rPr>
                        <a:t>Patroon</a:t>
                      </a:r>
                    </a:p>
                  </a:txBody>
                  <a:tcPr marL="91440" marR="91440" marT="45720" marB="45720" anchor="ctr">
                    <a:solidFill>
                      <a:srgbClr val="183247"/>
                    </a:solidFill>
                  </a:tcPr>
                </a:tc>
              </a:tr>
              <a:tr h="844550">
                <a:tc>
                  <a:txBody>
                    <a:bodyPr lIns="152400" tIns="76200" rIns="133350" bIns="76200"/>
                    <a:lstStyle/>
                    <a:p>
                      <a:r>
                        <a:rPr sz="2700" b="0">
                          <a:solidFill>
                            <a:srgbClr val="183247"/>
                          </a:solidFill>
                          <a:latin typeface="Arial"/>
                          <a:ea typeface="Arial"/>
                          <a:cs typeface="Arial"/>
                        </a:rPr>
                        <a:t>Linea</a:t>
                      </a:r>
                    </a:p>
                  </a:txBody>
                  <a:tcPr marL="91440" marR="91440" marT="45720" marB="45720" anchor="ctr">
                    <a:solidFill>
                      <a:srgbClr val="FFFFFF"/>
                    </a:solidFill>
                  </a:tcPr>
                </a:tc>
                <a:tc>
                  <a:txBody>
                    <a:bodyPr lIns="152400" tIns="76200" rIns="133350" bIns="76200"/>
                    <a:lstStyle/>
                    <a:p>
                      <a:r>
                        <a:rPr sz="2700" b="0">
                          <a:solidFill>
                            <a:srgbClr val="183247"/>
                          </a:solidFill>
                          <a:latin typeface="Arial"/>
                          <a:ea typeface="Arial"/>
                          <a:cs typeface="Arial"/>
                        </a:rPr>
                        <a:t>3 → 3 → 3</a:t>
                      </a:r>
                    </a:p>
                  </a:txBody>
                  <a:tcPr marL="91440" marR="91440" marT="45720" marB="45720" anchor="ctr">
                    <a:solidFill>
                      <a:srgbClr val="FFFFFF"/>
                    </a:solidFill>
                  </a:tcPr>
                </a:tc>
                <a:tc>
                  <a:txBody>
                    <a:bodyPr lIns="152400" tIns="76200" rIns="133350" bIns="76200"/>
                    <a:lstStyle/>
                    <a:p>
                      <a:r>
                        <a:rPr sz="2700" b="0">
                          <a:solidFill>
                            <a:srgbClr val="183247"/>
                          </a:solidFill>
                          <a:latin typeface="Arial"/>
                          <a:ea typeface="Arial"/>
                          <a:cs typeface="Arial"/>
                        </a:rPr>
                        <a:t>Constant</a:t>
                      </a:r>
                    </a:p>
                  </a:txBody>
                  <a:tcPr marL="91440" marR="91440" marT="45720" marB="45720" anchor="ctr">
                    <a:solidFill>
                      <a:srgbClr val="FFFFFF"/>
                    </a:solidFill>
                  </a:tcPr>
                </a:tc>
              </a:tr>
              <a:tr h="844550">
                <a:tc>
                  <a:txBody>
                    <a:bodyPr lIns="152400" tIns="76200" rIns="133350" bIns="76200"/>
                    <a:lstStyle/>
                    <a:p>
                      <a:r>
                        <a:rPr sz="2700" b="0">
                          <a:solidFill>
                            <a:srgbClr val="183247"/>
                          </a:solidFill>
                          <a:latin typeface="Arial"/>
                          <a:ea typeface="Arial"/>
                          <a:cs typeface="Arial"/>
                        </a:rPr>
                        <a:t>Curva</a:t>
                      </a:r>
                    </a:p>
                  </a:txBody>
                  <a:tcPr marL="91440" marR="91440" marT="45720" marB="45720" anchor="ctr">
                    <a:solidFill>
                      <a:srgbClr val="EFF4F7"/>
                    </a:solidFill>
                  </a:tcPr>
                </a:tc>
                <a:tc>
                  <a:txBody>
                    <a:bodyPr lIns="152400" tIns="76200" rIns="133350" bIns="76200"/>
                    <a:lstStyle/>
                    <a:p>
                      <a:r>
                        <a:rPr sz="2700" b="0">
                          <a:solidFill>
                            <a:srgbClr val="183247"/>
                          </a:solidFill>
                          <a:latin typeface="Arial"/>
                          <a:ea typeface="Arial"/>
                          <a:cs typeface="Arial"/>
                        </a:rPr>
                        <a:t>5 → 15 → 25</a:t>
                      </a:r>
                    </a:p>
                  </a:txBody>
                  <a:tcPr marL="91440" marR="91440" marT="45720" marB="45720" anchor="ctr">
                    <a:solidFill>
                      <a:srgbClr val="EFF4F7"/>
                    </a:solidFill>
                  </a:tcPr>
                </a:tc>
                <a:tc>
                  <a:txBody>
                    <a:bodyPr lIns="152400" tIns="76200" rIns="133350" bIns="76200"/>
                    <a:lstStyle/>
                    <a:p>
                      <a:r>
                        <a:rPr sz="2700" b="0">
                          <a:solidFill>
                            <a:srgbClr val="183247"/>
                          </a:solidFill>
                          <a:latin typeface="Arial"/>
                          <a:ea typeface="Arial"/>
                          <a:cs typeface="Arial"/>
                        </a:rPr>
                        <a:t>Stijgend</a:t>
                      </a:r>
                    </a:p>
                  </a:txBody>
                  <a:tcPr marL="91440" marR="91440" marT="45720" marB="45720" anchor="ctr">
                    <a:solidFill>
                      <a:srgbClr val="EFF4F7"/>
                    </a:solidFill>
                  </a:tcPr>
                </a:tc>
              </a:tr>
            </a:tbl>
          </a:graphicData>
        </a:graphic>
      </p:graphicFrame>
      <p:sp>
        <p:nvSpPr>
          <p:cNvPr id="6" name="MK: extra totale kosten / extra producten">
            <a:extLst xmlns:a="http://schemas.openxmlformats.org/drawingml/2006/main">
              <a:ext uri="{FF2B5EF4-FFF2-40B4-BE49-F238E27FC236}">
                <a16:creationId xmlns:a16="http://schemas.microsoft.com/office/drawing/2014/main" id="{AE0D42F0-87D7-4509-9B40-0BB5BB70F8F9}"/>
              </a:ext>
            </a:extLst>
          </p:cNvPr>
          <p:cNvSpPr>
            <a:spLocks xmlns:a="http://schemas.openxmlformats.org/drawingml/2006/main" noGrp="1"/>
          </p:cNvSpPr>
          <p:nvPr/>
        </p:nvSpPr>
        <p:spPr>
          <a:xfrm xmlns:a="http://schemas.openxmlformats.org/drawingml/2006/main">
            <a:off x="571500" y="5238750"/>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MK: extra totale kosten / extra producten</a:t>
            </a:r>
          </a:p>
        </p:txBody>
      </p:sp>
      <p:sp>
        <p:nvSpPr>
          <p:cNvPr id="7" name="MO: extra totale opbrengst / extra verkochte producten">
            <a:extLst xmlns:a="http://schemas.openxmlformats.org/drawingml/2006/main">
              <a:ext uri="{FF2B5EF4-FFF2-40B4-BE49-F238E27FC236}">
                <a16:creationId xmlns:a16="http://schemas.microsoft.com/office/drawing/2014/main" id="{9CCC4DA0-D886-4838-BABC-9AB56F09BCAB}"/>
              </a:ext>
            </a:extLst>
          </p:cNvPr>
          <p:cNvSpPr>
            <a:spLocks xmlns:a="http://schemas.openxmlformats.org/drawingml/2006/main" noGrp="1"/>
          </p:cNvSpPr>
          <p:nvPr/>
        </p:nvSpPr>
        <p:spPr>
          <a:xfrm xmlns:a="http://schemas.openxmlformats.org/drawingml/2006/main">
            <a:off x="571500" y="6229350"/>
            <a:ext cx="14097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MO: extra totale opbrengst / extra verkochte producten</a:t>
            </a:r>
          </a:p>
        </p:txBody>
      </p:sp>
      <p:sp>
        <p:nvSpPr>
          <p:cNvPr id="8" name="Beide uitkomsten beschrijven de hele genoemde tabelstap.">
            <a:extLst xmlns:a="http://schemas.openxmlformats.org/drawingml/2006/main">
              <a:ext uri="{FF2B5EF4-FFF2-40B4-BE49-F238E27FC236}">
                <a16:creationId xmlns:a16="http://schemas.microsoft.com/office/drawing/2014/main" id="{D7EF4BBA-DA21-4E6F-8F92-4E64D2CE1E4E}"/>
              </a:ext>
            </a:extLst>
          </p:cNvPr>
          <p:cNvSpPr>
            <a:spLocks xmlns:a="http://schemas.openxmlformats.org/drawingml/2006/main" noGrp="1"/>
          </p:cNvSpPr>
          <p:nvPr/>
        </p:nvSpPr>
        <p:spPr>
          <a:xfrm xmlns:a="http://schemas.openxmlformats.org/drawingml/2006/main">
            <a:off x="571500" y="741045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Beide uitkomsten beschrijven de hele genoemde tabelstap.</a:t>
            </a:r>
          </a:p>
        </p:txBody>
      </p:sp>
    </p:spTree>
    <p:extLst>
      <p:ext uri="{BB962C8B-B14F-4D97-AF65-F5344CB8AC3E}">
        <p14:creationId xmlns:p14="http://schemas.microsoft.com/office/powerpoint/2010/main" val="165494383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1.3 Marginale kosten en marginale opbrengsten">
            <a:extLst xmlns:a="http://schemas.openxmlformats.org/drawingml/2006/main">
              <a:ext uri="{FF2B5EF4-FFF2-40B4-BE49-F238E27FC236}">
                <a16:creationId xmlns:a16="http://schemas.microsoft.com/office/drawing/2014/main" id="{E073A284-EC7F-4ECE-A960-DBFD4370291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§2.1.3 Marginale kosten en marginale opbrengsten</a:t>
            </a:r>
          </a:p>
        </p:txBody>
      </p:sp>
      <p:sp>
        <p:nvSpPr>
          <p:cNvPr id="2" name="">
            <a:extLst xmlns:a="http://schemas.openxmlformats.org/drawingml/2006/main">
              <a:ext uri="{FF2B5EF4-FFF2-40B4-BE49-F238E27FC236}">
                <a16:creationId xmlns:a16="http://schemas.microsoft.com/office/drawing/2014/main" id="{1A96F562-9B15-4205-8C88-C1E81C8778E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3 Marginale kosten en marginale opbrengsten">
            <a:extLst xmlns:a="http://schemas.openxmlformats.org/drawingml/2006/main">
              <a:ext uri="{FF2B5EF4-FFF2-40B4-BE49-F238E27FC236}">
                <a16:creationId xmlns:a16="http://schemas.microsoft.com/office/drawing/2014/main" id="{199241CD-0EA9-406F-9FFE-996779C3CBD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§2.1.3 Marginale kosten en marginale opbrengsten</a:t>
            </a:r>
          </a:p>
        </p:txBody>
      </p:sp>
      <p:sp>
        <p:nvSpPr>
          <p:cNvPr id="4" name="slide-number">
            <a:extLst xmlns:a="http://schemas.openxmlformats.org/drawingml/2006/main">
              <a:ext uri="{FF2B5EF4-FFF2-40B4-BE49-F238E27FC236}">
                <a16:creationId xmlns:a16="http://schemas.microsoft.com/office/drawing/2014/main" id="{13D0FC39-FDC7-4CA6-9A44-2899A45BB68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27</a:t>
            </a:r>
          </a:p>
        </p:txBody>
      </p:sp>
      <p:sp>
        <p:nvSpPr>
          <p:cNvPr id="5" name="phase">
            <a:extLst xmlns:a="http://schemas.openxmlformats.org/drawingml/2006/main">
              <a:ext uri="{FF2B5EF4-FFF2-40B4-BE49-F238E27FC236}">
                <a16:creationId xmlns:a16="http://schemas.microsoft.com/office/drawing/2014/main" id="{918CAAB0-57F1-4971-88B7-AE3E831F3459}"/>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85F926D1-808C-444C-AEF1-0F29D4E4EE7F}"/>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1DA544A3-5056-4993-83CE-5A73579F8B30}"/>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D65BF8A2-59A2-452B-A89D-3E890F27622C}"/>
              </a:ext>
            </a:extLst>
          </p:cNvPr>
          <p:cNvSpPr>
            <a:spLocks xmlns:a="http://schemas.openxmlformats.org/drawingml/2006/main" noGrp="1"/>
          </p:cNvSpPr>
          <p:nvPr/>
        </p:nvSpPr>
        <p:spPr>
          <a:xfrm xmlns:a="http://schemas.openxmlformats.org/drawingml/2006/main">
            <a:off x="1104900" y="2324100"/>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4686E10C-F9EB-4845-8DB6-AB3EF0ACA365}"/>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54466F51-94B5-4BA1-80FD-491799FE4CD7}"/>
              </a:ext>
            </a:extLst>
          </p:cNvPr>
          <p:cNvSpPr>
            <a:spLocks xmlns:a="http://schemas.openxmlformats.org/drawingml/2006/main" noGrp="1"/>
          </p:cNvSpPr>
          <p:nvPr/>
        </p:nvSpPr>
        <p:spPr>
          <a:xfrm xmlns:a="http://schemas.openxmlformats.org/drawingml/2006/main">
            <a:off x="1104900" y="320040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54F1AC3D-410E-4593-A24B-943DA83387B1}"/>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A492B537-1D11-45AC-A963-C0DFFC5CC00D}"/>
              </a:ext>
            </a:extLst>
          </p:cNvPr>
          <p:cNvSpPr>
            <a:spLocks xmlns:a="http://schemas.openxmlformats.org/drawingml/2006/main" noGrp="1"/>
          </p:cNvSpPr>
          <p:nvPr/>
        </p:nvSpPr>
        <p:spPr>
          <a:xfrm xmlns:a="http://schemas.openxmlformats.org/drawingml/2006/main">
            <a:off x="1104900" y="37147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BC495334-D02A-4FBE-8991-99B838D3EE87}"/>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A4E40B2D-1C0E-462D-839B-CA9F1910F44C}"/>
              </a:ext>
            </a:extLst>
          </p:cNvPr>
          <p:cNvSpPr>
            <a:spLocks xmlns:a="http://schemas.openxmlformats.org/drawingml/2006/main" noGrp="1"/>
          </p:cNvSpPr>
          <p:nvPr/>
        </p:nvSpPr>
        <p:spPr>
          <a:xfrm xmlns:a="http://schemas.openxmlformats.org/drawingml/2006/main">
            <a:off x="1104900" y="4248150"/>
            <a:ext cx="7524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E6A14AFF-258C-4692-93AA-1222B36671E5}"/>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38BF5B1B-AF0F-40B5-B26F-3EA26B63542C}"/>
              </a:ext>
            </a:extLst>
          </p:cNvPr>
          <p:cNvSpPr>
            <a:spLocks xmlns:a="http://schemas.openxmlformats.org/drawingml/2006/main" noGrp="1"/>
          </p:cNvSpPr>
          <p:nvPr/>
        </p:nvSpPr>
        <p:spPr>
          <a:xfrm xmlns:a="http://schemas.openxmlformats.org/drawingml/2006/main">
            <a:off x="1104900" y="6057900"/>
            <a:ext cx="7524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31B8F58E-1E24-4107-9894-2BDCEA8E3868}"/>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E9E945A1-5791-40A1-9D0A-F2C089272B1E}"/>
              </a:ext>
            </a:extLst>
          </p:cNvPr>
          <p:cNvSpPr>
            <a:spLocks xmlns:a="http://schemas.openxmlformats.org/drawingml/2006/main" noGrp="1"/>
          </p:cNvSpPr>
          <p:nvPr/>
        </p:nvSpPr>
        <p:spPr>
          <a:xfrm xmlns:a="http://schemas.openxmlformats.org/drawingml/2006/main">
            <a:off x="1104900" y="68199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4FDA15D1-147B-40CC-B2F2-80430457AF50}"/>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38ACFED2-6889-48CD-A7A1-9F989361DB70}"/>
              </a:ext>
            </a:extLst>
          </p:cNvPr>
          <p:cNvSpPr>
            <a:spLocks xmlns:a="http://schemas.openxmlformats.org/drawingml/2006/main" noGrp="1"/>
          </p:cNvSpPr>
          <p:nvPr/>
        </p:nvSpPr>
        <p:spPr>
          <a:xfrm xmlns:a="http://schemas.openxmlformats.org/drawingml/2006/main">
            <a:off x="1104900" y="7372350"/>
            <a:ext cx="752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B0F57FB8-9BA3-49F3-B3F2-8DF5BF008C8A}"/>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E6B2F651-7F2D-4F04-97F1-535E6AE0697C}"/>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Winst, MK en MO berekenen.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MK-patronen vergelijken.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Gemiddeld en marginaal uitleggen.</a:t>
            </a:r>
          </a:p>
        </p:txBody>
      </p:sp>
      <p:sp>
        <p:nvSpPr>
          <p:cNvPr id="23" name="">
            <a:extLst xmlns:a="http://schemas.openxmlformats.org/drawingml/2006/main">
              <a:ext uri="{FF2B5EF4-FFF2-40B4-BE49-F238E27FC236}">
                <a16:creationId xmlns:a16="http://schemas.microsoft.com/office/drawing/2014/main" id="{65E6C384-372E-4307-8016-4D8CBD5EB15C}"/>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FD53C08D-F718-4A1C-BBC8-A85D93BCF167}"/>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A2DBA964-26D0-4A4F-8F73-B76CB78DDB27}"/>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24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theorie p. 19–20</a:t>
            </a:r>
          </a:p>
        </p:txBody>
      </p:sp>
      <p:sp>
        <p:nvSpPr>
          <p:cNvPr id="26" name="">
            <a:extLst xmlns:a="http://schemas.openxmlformats.org/drawingml/2006/main">
              <a:ext uri="{FF2B5EF4-FFF2-40B4-BE49-F238E27FC236}">
                <a16:creationId xmlns:a16="http://schemas.microsoft.com/office/drawing/2014/main" id="{C1D17FC2-7458-479B-9A0B-710866E809A6}"/>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A5A304D0-42E5-46B8-9030-5786E7B3EB32}"/>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BF3CC86D-43D7-426D-AA13-BA14E568A902}"/>
              </a:ext>
            </a:extLst>
          </p:cNvPr>
          <p:cNvSpPr>
            <a:spLocks xmlns:a="http://schemas.openxmlformats.org/drawingml/2006/main" noGrp="1"/>
          </p:cNvSpPr>
          <p:nvPr/>
        </p:nvSpPr>
        <p:spPr>
          <a:xfrm xmlns:a="http://schemas.openxmlformats.org/drawingml/2006/main">
            <a:off x="9258300" y="6191250"/>
            <a:ext cx="5381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§2.1.3</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3 en 4</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5 en 6</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11083921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2026-10-01T11:39:27.5050000Z</dcterms:created>
  <dcterms:modified xsi:type="dcterms:W3CDTF">2026-10-01T11:39:27.5050000Z</dcterms:modified>
</coreProperties>
</file>