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030e4a37763486f" /><Relationship Type="http://schemas.openxmlformats.org/officeDocument/2006/relationships/extended-properties" Target="/docProps/app.xml" Id="R787c38f49bd74dd0" /><Relationship Type="http://schemas.openxmlformats.org/officeDocument/2006/relationships/officeDocument" Target="/ppt/presentation.xml" Id="R3949b836ea9d40f4" /></Relationships>
</file>

<file path=ppt/presentation.xml><?xml version="1.0" encoding="utf-8"?>
<p:presentation xmlns:p="http://schemas.openxmlformats.org/presentationml/2006/main">
  <p:sldMasterIdLst>
    <p:sldMasterId xmlns:r="http://schemas.openxmlformats.org/officeDocument/2006/relationships" id="2147483648" r:id="R3be6c66c3f4d463f"/>
  </p:sldMasterIdLst>
  <p:notesMasterIdLst>
    <p:notesMasterId xmlns:r="http://schemas.openxmlformats.org/officeDocument/2006/relationships" r:id="R27713187235345c7"/>
  </p:notesMasterIdLst>
  <p:sldIdLst>
    <p:sldId xmlns:r="http://schemas.openxmlformats.org/officeDocument/2006/relationships" id="256" r:id="R9aa528a1adae4655"/>
    <p:sldId xmlns:r="http://schemas.openxmlformats.org/officeDocument/2006/relationships" id="257" r:id="R62bb0f6b95ec4d2b"/>
    <p:sldId xmlns:r="http://schemas.openxmlformats.org/officeDocument/2006/relationships" id="258" r:id="R3b4b9e4db3964029"/>
    <p:sldId xmlns:r="http://schemas.openxmlformats.org/officeDocument/2006/relationships" id="259" r:id="R33c59503af814d3e"/>
    <p:sldId xmlns:r="http://schemas.openxmlformats.org/officeDocument/2006/relationships" id="260" r:id="R023e0ab1870d44c8"/>
    <p:sldId xmlns:r="http://schemas.openxmlformats.org/officeDocument/2006/relationships" id="261" r:id="R3ffe88aaf1644ec5"/>
    <p:sldId xmlns:r="http://schemas.openxmlformats.org/officeDocument/2006/relationships" id="262" r:id="Rf5670c9252664bc0"/>
    <p:sldId xmlns:r="http://schemas.openxmlformats.org/officeDocument/2006/relationships" id="263" r:id="R4ee0577f3d804adb"/>
    <p:sldId xmlns:r="http://schemas.openxmlformats.org/officeDocument/2006/relationships" id="264" r:id="R02d78bb4e94645a7"/>
    <p:sldId xmlns:r="http://schemas.openxmlformats.org/officeDocument/2006/relationships" id="265" r:id="R8de919bc37e242c3"/>
    <p:sldId xmlns:r="http://schemas.openxmlformats.org/officeDocument/2006/relationships" id="266" r:id="Rd7eb99e0710c40d0"/>
    <p:sldId xmlns:r="http://schemas.openxmlformats.org/officeDocument/2006/relationships" id="267" r:id="R1e4fc1523efc4081"/>
    <p:sldId xmlns:r="http://schemas.openxmlformats.org/officeDocument/2006/relationships" id="268" r:id="R51e9a44acf354ef7"/>
    <p:sldId xmlns:r="http://schemas.openxmlformats.org/officeDocument/2006/relationships" id="269" r:id="Re817d3407e1143e6"/>
    <p:sldId xmlns:r="http://schemas.openxmlformats.org/officeDocument/2006/relationships" id="270" r:id="R5acf205a41814595"/>
    <p:sldId xmlns:r="http://schemas.openxmlformats.org/officeDocument/2006/relationships" id="271" r:id="Rf35d83f1695f4683"/>
    <p:sldId xmlns:r="http://schemas.openxmlformats.org/officeDocument/2006/relationships" id="272" r:id="R8f01f96bd6ca4b27"/>
    <p:sldId xmlns:r="http://schemas.openxmlformats.org/officeDocument/2006/relationships" id="273" r:id="R19a507cc448f4d64"/>
    <p:sldId xmlns:r="http://schemas.openxmlformats.org/officeDocument/2006/relationships" id="274" r:id="Rb658ee5281814d34"/>
    <p:sldId xmlns:r="http://schemas.openxmlformats.org/officeDocument/2006/relationships" id="275" r:id="R8b853ba3d3db4652"/>
    <p:sldId xmlns:r="http://schemas.openxmlformats.org/officeDocument/2006/relationships" id="276" r:id="R60b0ca6031434a48"/>
    <p:sldId xmlns:r="http://schemas.openxmlformats.org/officeDocument/2006/relationships" id="277" r:id="R340a2eafc25c488e"/>
    <p:sldId xmlns:r="http://schemas.openxmlformats.org/officeDocument/2006/relationships" id="278" r:id="R1a3a98762f7c45e0"/>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bf42bdcfc14ba5" /><Relationship Type="http://schemas.openxmlformats.org/officeDocument/2006/relationships/slideMaster" Target="/ppt/slideMasters/slideMaster1.xml" Id="R3be6c66c3f4d463f" /><Relationship Type="http://schemas.openxmlformats.org/officeDocument/2006/relationships/notesMaster" Target="/ppt/notesMasters/notesMaster1.xml" Id="R27713187235345c7" /><Relationship Type="http://schemas.openxmlformats.org/officeDocument/2006/relationships/presProps" Target="/ppt/presProps.xml" Id="R9d2c1ce6de61493d" /><Relationship Type="http://schemas.openxmlformats.org/officeDocument/2006/relationships/tableStyles" Target="/ppt/tableStyles.xml" Id="R458c4afedacb4f11" /><Relationship Type="http://schemas.openxmlformats.org/officeDocument/2006/relationships/slide" Target="/ppt/slides/slide1.xml" Id="R9aa528a1adae4655" /><Relationship Type="http://schemas.openxmlformats.org/officeDocument/2006/relationships/slide" Target="/ppt/slides/slide2.xml" Id="R62bb0f6b95ec4d2b" /><Relationship Type="http://schemas.openxmlformats.org/officeDocument/2006/relationships/slide" Target="/ppt/slides/slide3.xml" Id="R3b4b9e4db3964029" /><Relationship Type="http://schemas.openxmlformats.org/officeDocument/2006/relationships/slide" Target="/ppt/slides/slide4.xml" Id="R33c59503af814d3e" /><Relationship Type="http://schemas.openxmlformats.org/officeDocument/2006/relationships/slide" Target="/ppt/slides/slide5.xml" Id="R023e0ab1870d44c8" /><Relationship Type="http://schemas.openxmlformats.org/officeDocument/2006/relationships/slide" Target="/ppt/slides/slide6.xml" Id="R3ffe88aaf1644ec5" /><Relationship Type="http://schemas.openxmlformats.org/officeDocument/2006/relationships/slide" Target="/ppt/slides/slide7.xml" Id="Rf5670c9252664bc0" /><Relationship Type="http://schemas.openxmlformats.org/officeDocument/2006/relationships/slide" Target="/ppt/slides/slide8.xml" Id="R4ee0577f3d804adb" /><Relationship Type="http://schemas.openxmlformats.org/officeDocument/2006/relationships/slide" Target="/ppt/slides/slide9.xml" Id="R02d78bb4e94645a7" /><Relationship Type="http://schemas.openxmlformats.org/officeDocument/2006/relationships/slide" Target="/ppt/slides/slide10.xml" Id="R8de919bc37e242c3" /><Relationship Type="http://schemas.openxmlformats.org/officeDocument/2006/relationships/slide" Target="/ppt/slides/slide11.xml" Id="Rd7eb99e0710c40d0" /><Relationship Type="http://schemas.openxmlformats.org/officeDocument/2006/relationships/slide" Target="/ppt/slides/slide12.xml" Id="R1e4fc1523efc4081" /><Relationship Type="http://schemas.openxmlformats.org/officeDocument/2006/relationships/slide" Target="/ppt/slides/slide13.xml" Id="R51e9a44acf354ef7" /><Relationship Type="http://schemas.openxmlformats.org/officeDocument/2006/relationships/slide" Target="/ppt/slides/slide14.xml" Id="Re817d3407e1143e6" /><Relationship Type="http://schemas.openxmlformats.org/officeDocument/2006/relationships/slide" Target="/ppt/slides/slide15.xml" Id="R5acf205a41814595" /><Relationship Type="http://schemas.openxmlformats.org/officeDocument/2006/relationships/slide" Target="/ppt/slides/slide16.xml" Id="Rf35d83f1695f4683" /><Relationship Type="http://schemas.openxmlformats.org/officeDocument/2006/relationships/slide" Target="/ppt/slides/slide17.xml" Id="R8f01f96bd6ca4b27" /><Relationship Type="http://schemas.openxmlformats.org/officeDocument/2006/relationships/slide" Target="/ppt/slides/slide18.xml" Id="R19a507cc448f4d64" /><Relationship Type="http://schemas.openxmlformats.org/officeDocument/2006/relationships/slide" Target="/ppt/slides/slide19.xml" Id="Rb658ee5281814d34" /><Relationship Type="http://schemas.openxmlformats.org/officeDocument/2006/relationships/slide" Target="/ppt/slides/slide20.xml" Id="R8b853ba3d3db4652" /><Relationship Type="http://schemas.openxmlformats.org/officeDocument/2006/relationships/slide" Target="/ppt/slides/slide21.xml" Id="R60b0ca6031434a48" /><Relationship Type="http://schemas.openxmlformats.org/officeDocument/2006/relationships/slide" Target="/ppt/slides/slide22.xml" Id="R340a2eafc25c488e" /><Relationship Type="http://schemas.openxmlformats.org/officeDocument/2006/relationships/slide" Target="/ppt/slides/slide23.xml" Id="R1a3a98762f7c45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9b81b0fcf4448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d308504a8e4729" /><Relationship Type="http://schemas.openxmlformats.org/officeDocument/2006/relationships/notesMaster" Target="/ppt/notesMasters/notesMaster1.xml" Id="Rb51550fc496d4f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e9701fd0aa4ddc" /><Relationship Type="http://schemas.openxmlformats.org/officeDocument/2006/relationships/notesMaster" Target="/ppt/notesMasters/notesMaster1.xml" Id="R334fcf7ff5774a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0ba89c1fff4b1d" /><Relationship Type="http://schemas.openxmlformats.org/officeDocument/2006/relationships/notesMaster" Target="/ppt/notesMasters/notesMaster1.xml" Id="R88cec3b3fa594f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de48f4db2d41ac" /><Relationship Type="http://schemas.openxmlformats.org/officeDocument/2006/relationships/notesMaster" Target="/ppt/notesMasters/notesMaster1.xml" Id="Rbccf214f79a34e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2386acdbc84da2" /><Relationship Type="http://schemas.openxmlformats.org/officeDocument/2006/relationships/notesMaster" Target="/ppt/notesMasters/notesMaster1.xml" Id="Ra54963a4f470429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c9a84e5bb5407e" /><Relationship Type="http://schemas.openxmlformats.org/officeDocument/2006/relationships/notesMaster" Target="/ppt/notesMasters/notesMaster1.xml" Id="R1acc2a46d965462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e221d9dd8a4019" /><Relationship Type="http://schemas.openxmlformats.org/officeDocument/2006/relationships/notesMaster" Target="/ppt/notesMasters/notesMaster1.xml" Id="R816fcb13a64648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0353dd2da74f25" /><Relationship Type="http://schemas.openxmlformats.org/officeDocument/2006/relationships/notesMaster" Target="/ppt/notesMasters/notesMaster1.xml" Id="Ra547179bb3764a6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30c13a2673f419b" /><Relationship Type="http://schemas.openxmlformats.org/officeDocument/2006/relationships/notesMaster" Target="/ppt/notesMasters/notesMaster1.xml" Id="Raf5c2b89424842e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9f47155c05d446c" /><Relationship Type="http://schemas.openxmlformats.org/officeDocument/2006/relationships/notesMaster" Target="/ppt/notesMasters/notesMaster1.xml" Id="R20a3a6ae0db24ff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3ae548069e41a4" /><Relationship Type="http://schemas.openxmlformats.org/officeDocument/2006/relationships/notesMaster" Target="/ppt/notesMasters/notesMaster1.xml" Id="Rd2a419fd782043c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6bfa200468469a" /><Relationship Type="http://schemas.openxmlformats.org/officeDocument/2006/relationships/notesMaster" Target="/ppt/notesMasters/notesMaster1.xml" Id="Re609c5f22ded41f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aa25a4c34b84768" /><Relationship Type="http://schemas.openxmlformats.org/officeDocument/2006/relationships/notesMaster" Target="/ppt/notesMasters/notesMaster1.xml" Id="R9664562dbbc54a0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7c9e9d627e94867" /><Relationship Type="http://schemas.openxmlformats.org/officeDocument/2006/relationships/notesMaster" Target="/ppt/notesMasters/notesMaster1.xml" Id="R3ead22fd6934474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5d02595985740bf" /><Relationship Type="http://schemas.openxmlformats.org/officeDocument/2006/relationships/notesMaster" Target="/ppt/notesMasters/notesMaster1.xml" Id="R5de3dbdd7e7546e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a604e11e6654b07" /><Relationship Type="http://schemas.openxmlformats.org/officeDocument/2006/relationships/notesMaster" Target="/ppt/notesMasters/notesMaster1.xml" Id="Rf84e6140a253470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8c47d183f094aa6" /><Relationship Type="http://schemas.openxmlformats.org/officeDocument/2006/relationships/notesMaster" Target="/ppt/notesMasters/notesMaster1.xml" Id="R66e05532e4e8489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8230a8d48604a2e" /><Relationship Type="http://schemas.openxmlformats.org/officeDocument/2006/relationships/notesMaster" Target="/ppt/notesMasters/notesMaster1.xml" Id="R06ecc12b42d141d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b4738c5ae714704" /><Relationship Type="http://schemas.openxmlformats.org/officeDocument/2006/relationships/notesMaster" Target="/ppt/notesMasters/notesMaster1.xml" Id="R1bef8cdb3ec5436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d6ef7141c17494c" /><Relationship Type="http://schemas.openxmlformats.org/officeDocument/2006/relationships/notesMaster" Target="/ppt/notesMasters/notesMaster1.xml" Id="R1240f5293d264d9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f58a8094fe545e1" /><Relationship Type="http://schemas.openxmlformats.org/officeDocument/2006/relationships/notesMaster" Target="/ppt/notesMasters/notesMaster1.xml" Id="R848fbc68e3b9420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7306bb3ce154396" /><Relationship Type="http://schemas.openxmlformats.org/officeDocument/2006/relationships/notesMaster" Target="/ppt/notesMasters/notesMaster1.xml" Id="R0fb8a9fe567e4c3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18bcf4e65cc41ac" /><Relationship Type="http://schemas.openxmlformats.org/officeDocument/2006/relationships/notesMaster" Target="/ppt/notesMasters/notesMaster1.xml" Id="R78a4c510094e49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Bij welke vraag wil je straks hulp?</a:t>
            </a:r>
          </a:p>
          <a:p xmlns:a="http://schemas.openxmlformats.org/drawingml/2006/main">
            <a:r>
              <a:rPr sz="1400"/>
              <a:t/>
            </a:r>
          </a:p>
          <a:p xmlns:a="http://schemas.openxmlformats.org/drawingml/2006/main">
            <a:r>
              <a:rPr sz="1400"/>
              <a:t>Uitleg: Laat deze dia staan tijdens startopdracht. De docent heeft expliciet gekozen voor opgaven 1 en 2 als startopdracht. Opgaven 3 en 4 zijn basis, 5 en 6 zelfstandig, 7 doel. Huiswerk: 3, 4, 5, 6 en 7 maken en nakijken. Start 1–2 en basis 3 staan op pagina 6; basis 4 en zelfstandig 5–6 staan op pagina 7; doel 7 op pagina 8. De volledige oefenroute hoeft niet binnen één les af te zijn.</a:t>
            </a:r>
          </a:p>
          <a:p xmlns:a="http://schemas.openxmlformats.org/drawingml/2006/main">
            <a:r>
              <a:rPr sz="1400"/>
              <a:t/>
            </a:r>
          </a:p>
          <a:p xmlns:a="http://schemas.openxmlformats.org/drawingml/2006/main">
            <a:r>
              <a:rPr sz="1400"/>
              <a:t>Misvatting: Gebruik het gedrukte paginanummer: pagina 6 is de achtste fysieke pagina van het complete PDF-bestand.</a:t>
            </a:r>
          </a:p>
          <a:p xmlns:a="http://schemas.openxmlformats.org/drawingml/2006/main">
            <a:r>
              <a:rPr sz="1400"/>
              <a:t/>
            </a:r>
          </a:p>
          <a:p xmlns:a="http://schemas.openxmlformats.org/drawingml/2006/main">
            <a:r>
              <a:rPr sz="1400"/>
              <a:t>Overgang: Ga verder zodra de klas klaar is voor de volgende lesfase.</a:t>
            </a:r>
          </a:p>
          <a:p xmlns:a="http://schemas.openxmlformats.org/drawingml/2006/main">
            <a:r>
              <a:rPr sz="1400"/>
              <a:t/>
            </a:r>
          </a:p>
          <a:p xmlns:a="http://schemas.openxmlformats.org/drawingml/2006/main">
            <a:r>
              <a:rPr sz="1400"/>
              <a:t>Bron: leerlingenboek Boek 2, chatuitgave 2026, actuele revisie 21 september 2026, gedrukte pagina 6–8. https://github.com/meijer1973/4veco-lessen/blob/f6518f513d1f22f82922d4a8d3d3842c369b14f7/Boek%202%20-%20Kosten%2C%20opbrengsten%2C%20elasticiteit%20en%20surplus/edities/chat-2026/boek/Boek_2_Compleet.pdf</a:t>
            </a:r>
          </a:p>
          <a:p xmlns:a="http://schemas.openxmlformats.org/drawingml/2006/main">
            <a:r>
              <a:rPr sz="1400"/>
              <a:t>Antwoordmodel: https://github.com/meijer1973/4veco-lessen/blob/f6518f513d1f22f82922d4a8d3d3842c369b14f7/Boek%202%20-%20Kosten%2C%20opbrengsten%2C%20elasticiteit%20en%20surplus/edities/chat-2026/boek/Boek_2_Compleet_Antwoorden.pdf</a:t>
            </a:r>
          </a:p>
          <a:p xmlns:a="http://schemas.openxmlformats.org/drawingml/2006/main">
            <a:r>
              <a:rPr sz="1400"/>
              <a:t>Terminologie: het boek noemt 1–2 Startopgaven en 3–4 Begeleide inoefening. De docent heeft bovenstaande indeling bevestigd. Startantwoorden: 1a € 100; 1b € 5 per deelnemer. 2a huur € 600 in beide situaties, inkt € 100 respectievelijk € 200 per maand. 2b € 600 zijn TCK; GCK is € 1,20 respectievelijk € 0,60 per poster.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is het verschil tussen alles bij elkaar en per product?</a:t>
            </a:r>
          </a:p>
          <a:p xmlns:a="http://schemas.openxmlformats.org/drawingml/2006/main">
            <a:r>
              <a:rPr sz="1400"/>
              <a:t/>
            </a:r>
          </a:p>
          <a:p xmlns:a="http://schemas.openxmlformats.org/drawingml/2006/main">
            <a:r>
              <a:rPr sz="1400"/>
              <a:t>Uitleg: Koppel de doelen aan opgave 7. Leg afkortingen later stapsgewijs uit. Het gaat steeds om kosten in een bepaalde maand en binnen dezelfde capaciteit.</a:t>
            </a:r>
          </a:p>
          <a:p xmlns:a="http://schemas.openxmlformats.org/drawingml/2006/main">
            <a:r>
              <a:rPr sz="1400"/>
              <a:t/>
            </a:r>
          </a:p>
          <a:p xmlns:a="http://schemas.openxmlformats.org/drawingml/2006/main">
            <a:r>
              <a:rPr sz="1400"/>
              <a:t>Misvatting: Een totaalbedrag en een bedrag per product zijn verschillende grootheden.</a:t>
            </a:r>
          </a:p>
          <a:p xmlns:a="http://schemas.openxmlformats.org/drawingml/2006/main">
            <a:r>
              <a:rPr sz="1400"/>
              <a:t/>
            </a:r>
          </a:p>
          <a:p xmlns:a="http://schemas.openxmlformats.org/drawingml/2006/main">
            <a:r>
              <a:rPr sz="1400"/>
              <a:t>Overgang: Gebruik Fles &amp; Co uit de paragraaf als doorlopend uitlegvoorbeeld.</a:t>
            </a:r>
          </a:p>
          <a:p xmlns:a="http://schemas.openxmlformats.org/drawingml/2006/main">
            <a:r>
              <a:rPr sz="1400"/>
              <a:t/>
            </a:r>
          </a:p>
          <a:p xmlns:a="http://schemas.openxmlformats.org/drawingml/2006/main">
            <a:r>
              <a:rPr sz="1400"/>
              <a:t>Bron: leerlingenboek Boek 2, chatuitgave 2026, actuele revisie 21 september 2026, gedrukte pagina 2. https://github.com/meijer1973/4veco-lessen/blob/f6518f513d1f22f82922d4a8d3d3842c369b14f7/Boek%202%20-%20Kosten%2C%20opbrengsten%2C%20elasticiteit%20en%20surplus/edities/chat-2026/boek/Boek_2_Compleet.pdf</a:t>
            </a:r>
          </a:p>
          <a:p xmlns:a="http://schemas.openxmlformats.org/drawingml/2006/main">
            <a:r>
              <a:rPr sz="1400"/>
              <a:t>Antwoordmodel: https://github.com/meijer1973/4veco-lessen/blob/f6518f513d1f22f82922d4a8d3d3842c369b14f7/Boek%202%20-%20Kosten%2C%20opbrengsten%2C%20elasticiteit%20en%20surplus/edities/chat-2026/boek/Boek_2_Compleet_Antwoorden.pdf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kostenpost groeit mee als er meer flessen worden gemaakt?</a:t>
            </a:r>
          </a:p>
          <a:p xmlns:a="http://schemas.openxmlformats.org/drawingml/2006/main">
            <a:r>
              <a:rPr sz="1400"/>
              <a:t/>
            </a:r>
          </a:p>
          <a:p xmlns:a="http://schemas.openxmlformats.org/drawingml/2006/main">
            <a:r>
              <a:rPr sz="1400"/>
              <a:t>Uitleg: Constante kosten veranderen niet met de geproduceerde hoeveelheid binnen dezelfde periode en capaciteit. Variabele kosten veranderen wel. Productiecapaciteit is de maximale hoeveelheid met de beschikbare mensen en middelen in die periode. Bij nul productie blijft de huur verschuldigd.</a:t>
            </a:r>
          </a:p>
          <a:p xmlns:a="http://schemas.openxmlformats.org/drawingml/2006/main">
            <a:r>
              <a:rPr sz="1400"/>
              <a:t/>
            </a:r>
          </a:p>
          <a:p xmlns:a="http://schemas.openxmlformats.org/drawingml/2006/main">
            <a:r>
              <a:rPr sz="1400"/>
              <a:t>Misvatting: Het materiaalbedrag per fles is vast, maar het totale materiaalbedrag is variabel.</a:t>
            </a:r>
          </a:p>
          <a:p xmlns:a="http://schemas.openxmlformats.org/drawingml/2006/main">
            <a:r>
              <a:rPr sz="1400"/>
              <a:t/>
            </a:r>
          </a:p>
          <a:p xmlns:a="http://schemas.openxmlformats.org/drawingml/2006/main">
            <a:r>
              <a:rPr sz="1400"/>
              <a:t>Overgang: Vertaal de twee kostenposten naar functies.</a:t>
            </a:r>
          </a:p>
          <a:p xmlns:a="http://schemas.openxmlformats.org/drawingml/2006/main">
            <a:r>
              <a:rPr sz="1400"/>
              <a:t/>
            </a:r>
          </a:p>
          <a:p xmlns:a="http://schemas.openxmlformats.org/drawingml/2006/main">
            <a:r>
              <a:rPr sz="1400"/>
              <a:t>Bron: leerlingenboek Boek 2, chatuitgave 2026, actuele revisie 21 september 2026, gedrukte pagina 2. https://github.com/meijer1973/4veco-lessen/blob/f6518f513d1f22f82922d4a8d3d3842c369b14f7/Boek%202%20-%20Kosten%2C%20opbrengsten%2C%20elasticiteit%20en%20surplus/edities/chat-2026/boek/Boek_2_Compleet.pdf</a:t>
            </a:r>
          </a:p>
          <a:p xmlns:a="http://schemas.openxmlformats.org/drawingml/2006/main">
            <a:r>
              <a:rPr sz="1400"/>
              <a:t>Antwoordmodel: https://github.com/meijer1973/4veco-lessen/blob/f6518f513d1f22f82922d4a8d3d3842c369b14f7/Boek%202%20-%20Kosten%2C%20opbrengsten%2C%20elasticiteit%20en%20surplus/edities/chat-2026/boek/Boek_2_Compleet_Antwoorden.pdf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grootheid vermenigvuldig je met Q?</a:t>
            </a:r>
          </a:p>
          <a:p xmlns:a="http://schemas.openxmlformats.org/drawingml/2006/main">
            <a:r>
              <a:rPr sz="1400"/>
              <a:t/>
            </a:r>
          </a:p>
          <a:p xmlns:a="http://schemas.openxmlformats.org/drawingml/2006/main">
            <a:r>
              <a:rPr sz="1400"/>
              <a:t>Uitleg: Tel vaste maandbedragen op. Vermenigvuldig het bedrag per fles met Q. Tel beide totalen op voor TK. De functies gelden hier tot en met 600 flessen per maand. Bij 200 flessen: TVK = 2 × 200 = 400 en TK = 300 + 400 = 700 euro per maand.</a:t>
            </a:r>
          </a:p>
          <a:p xmlns:a="http://schemas.openxmlformats.org/drawingml/2006/main">
            <a:r>
              <a:rPr sz="1400"/>
              <a:t/>
            </a:r>
          </a:p>
          <a:p xmlns:a="http://schemas.openxmlformats.org/drawingml/2006/main">
            <a:r>
              <a:rPr sz="1400"/>
              <a:t>Misvatting: Vermenigvuldig de huur niet nog eens met het aantal flessen. € 2 is per fles; 2Q is het totale bedrag.</a:t>
            </a:r>
          </a:p>
          <a:p xmlns:a="http://schemas.openxmlformats.org/drawingml/2006/main">
            <a:r>
              <a:rPr sz="1400"/>
              <a:t/>
            </a:r>
          </a:p>
          <a:p xmlns:a="http://schemas.openxmlformats.org/drawingml/2006/main">
            <a:r>
              <a:rPr sz="1400"/>
              <a:t>Overgang: Lees eerst de twee afzonderlijke kostenlijnen.</a:t>
            </a:r>
          </a:p>
          <a:p xmlns:a="http://schemas.openxmlformats.org/drawingml/2006/main">
            <a:r>
              <a:rPr sz="1400"/>
              <a:t/>
            </a:r>
          </a:p>
          <a:p xmlns:a="http://schemas.openxmlformats.org/drawingml/2006/main">
            <a:r>
              <a:rPr sz="1400"/>
              <a:t>Bron: leerlingenboek Boek 2, chatuitgave 2026, actuele revisie 21 september 2026, gedrukte pagina 3. https://github.com/meijer1973/4veco-lessen/blob/f6518f513d1f22f82922d4a8d3d3842c369b14f7/Boek%202%20-%20Kosten%2C%20opbrengsten%2C%20elasticiteit%20en%20surplus/edities/chat-2026/boek/Boek_2_Compleet.pdf</a:t>
            </a:r>
          </a:p>
          <a:p xmlns:a="http://schemas.openxmlformats.org/drawingml/2006/main">
            <a:r>
              <a:rPr sz="1400"/>
              <a:t>Antwoordmodel: https://github.com/meijer1973/4veco-lessen/blob/f6518f513d1f22f82922d4a8d3d3842c369b14f7/Boek%202%20-%20Kosten%2C%20opbrengsten%2C%20elasticiteit%20en%20surplus/edities/chat-2026/boek/Boek_2_Compleet_Antwoorden.pdf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lijn begint bij nul en waarom?</a:t>
            </a:r>
          </a:p>
          <a:p xmlns:a="http://schemas.openxmlformats.org/drawingml/2006/main">
            <a:r>
              <a:rPr sz="1400"/>
              <a:t/>
            </a:r>
          </a:p>
          <a:p xmlns:a="http://schemas.openxmlformats.org/drawingml/2006/main">
            <a:r>
              <a:rPr sz="1400"/>
              <a:t>Uitleg: De horizontale as geeft flessen per maand, de verticale as euro per maand. TCK is horizontaal op 300. TVK stijgt met 2 euro per extra fles vanaf nul. De punten liggen exact op de functies. Laat leerlingen beide lijnen aanwijzen.</a:t>
            </a:r>
          </a:p>
          <a:p xmlns:a="http://schemas.openxmlformats.org/drawingml/2006/main">
            <a:r>
              <a:rPr sz="1400"/>
              <a:t/>
            </a:r>
          </a:p>
          <a:p xmlns:a="http://schemas.openxmlformats.org/drawingml/2006/main">
            <a:r>
              <a:rPr sz="1400"/>
              <a:t>Misvatting: Vergelijk geen totaalbedrag met euro per fles. Alle lijnen in deze grafiek zijn totalen.</a:t>
            </a:r>
          </a:p>
          <a:p xmlns:a="http://schemas.openxmlformats.org/drawingml/2006/main">
            <a:r>
              <a:rPr sz="1400"/>
              <a:t/>
            </a:r>
          </a:p>
          <a:p xmlns:a="http://schemas.openxmlformats.org/drawingml/2006/main">
            <a:r>
              <a:rPr sz="1400"/>
              <a:t>Overgang: Voeg TK toe op dezelfde assen en met dezelfde schaal.</a:t>
            </a:r>
          </a:p>
          <a:p xmlns:a="http://schemas.openxmlformats.org/drawingml/2006/main">
            <a:r>
              <a:rPr sz="1400"/>
              <a:t/>
            </a:r>
          </a:p>
          <a:p xmlns:a="http://schemas.openxmlformats.org/drawingml/2006/main">
            <a:r>
              <a:rPr sz="1400"/>
              <a:t>Bron: leerlingenboek Boek 2, chatuitgave 2026, actuele revisie 21 september 2026, gedrukte pagina 3. https://github.com/meijer1973/4veco-lessen/blob/f6518f513d1f22f82922d4a8d3d3842c369b14f7/Boek%202%20-%20Kosten%2C%20opbrengsten%2C%20elasticiteit%20en%20surplus/edities/chat-2026/boek/Boek_2_Compleet.pdf</a:t>
            </a:r>
          </a:p>
          <a:p xmlns:a="http://schemas.openxmlformats.org/drawingml/2006/main">
            <a:r>
              <a:rPr sz="1400"/>
              <a:t>Antwoordmodel: https://github.com/meijer1973/4veco-lessen/blob/f6518f513d1f22f82922d4a8d3d3842c369b14f7/Boek%202%20-%20Kosten%2C%20opbrengsten%2C%20elasticiteit%20en%20surplus/edities/chat-2026/boek/Boek_2_Compleet_Antwoorden.pdf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ligt TK overal € 300 boven TVK?</a:t>
            </a:r>
          </a:p>
          <a:p xmlns:a="http://schemas.openxmlformats.org/drawingml/2006/main">
            <a:r>
              <a:rPr sz="1400"/>
              <a:t/>
            </a:r>
          </a:p>
          <a:p xmlns:a="http://schemas.openxmlformats.org/drawingml/2006/main">
            <a:r>
              <a:rPr sz="1400"/>
              <a:t>Uitleg: De derde lijn is steeds de verticale som van TCK en TVK. Lees bij Q = 400 de bedragen af. De schaal is exact gelijk aan de vorige dia. Van 200 naar 400 flessen stijgt TK van 700 naar 1100 euro: TK verdubbelt niet.</a:t>
            </a:r>
          </a:p>
          <a:p xmlns:a="http://schemas.openxmlformats.org/drawingml/2006/main">
            <a:r>
              <a:rPr sz="1400"/>
              <a:t/>
            </a:r>
          </a:p>
          <a:p xmlns:a="http://schemas.openxmlformats.org/drawingml/2006/main">
            <a:r>
              <a:rPr sz="1400"/>
              <a:t>Misvatting: Vergelijk geen totaalbedrag met euro per fles. Alle lijnen in deze grafiek zijn totalen.</a:t>
            </a:r>
          </a:p>
          <a:p xmlns:a="http://schemas.openxmlformats.org/drawingml/2006/main">
            <a:r>
              <a:rPr sz="1400"/>
              <a:t/>
            </a:r>
          </a:p>
          <a:p xmlns:a="http://schemas.openxmlformats.org/drawingml/2006/main">
            <a:r>
              <a:rPr sz="1400"/>
              <a:t>Overgang: Ga van alle flessen samen naar één fles.</a:t>
            </a:r>
          </a:p>
          <a:p xmlns:a="http://schemas.openxmlformats.org/drawingml/2006/main">
            <a:r>
              <a:rPr sz="1400"/>
              <a:t/>
            </a:r>
          </a:p>
          <a:p xmlns:a="http://schemas.openxmlformats.org/drawingml/2006/main">
            <a:r>
              <a:rPr sz="1400"/>
              <a:t>Bron: leerlingenboek Boek 2, chatuitgave 2026, actuele revisie 21 september 2026, gedrukte pagina 3. https://github.com/meijer1973/4veco-lessen/blob/f6518f513d1f22f82922d4a8d3d3842c369b14f7/Boek%202%20-%20Kosten%2C%20opbrengsten%2C%20elasticiteit%20en%20surplus/edities/chat-2026/boek/Boek_2_Compleet.pdf</a:t>
            </a:r>
          </a:p>
          <a:p xmlns:a="http://schemas.openxmlformats.org/drawingml/2006/main">
            <a:r>
              <a:rPr sz="1400"/>
              <a:t>Antwoordmodel: https://github.com/meijer1973/4veco-lessen/blob/f6518f513d1f22f82922d4a8d3d3842c369b14f7/Boek%202%20-%20Kosten%2C%20opbrengsten%2C%20elasticiteit%20en%20surplus/edities/chat-2026/boek/Boek_2_Compleet_Antwoorden.pdf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verdeel je de maandhuur over alle flessen?</a:t>
            </a:r>
          </a:p>
          <a:p xmlns:a="http://schemas.openxmlformats.org/drawingml/2006/main">
            <a:r>
              <a:rPr sz="1400"/>
              <a:t/>
            </a:r>
          </a:p>
          <a:p xmlns:a="http://schemas.openxmlformats.org/drawingml/2006/main">
            <a:r>
              <a:rPr sz="1400"/>
              <a:t>Uitleg: Gemiddelde kosten verdelen een totaalbedrag over de geproduceerde eenheden. Benoem elke afkorting volledig. Voor Fles &amp; Co is GTK = 300 / Q + 2. GVK is in dit voorbeeld constant omdat het materiaalbedrag per fles constant is.</a:t>
            </a:r>
          </a:p>
          <a:p xmlns:a="http://schemas.openxmlformats.org/drawingml/2006/main">
            <a:r>
              <a:rPr sz="1400"/>
              <a:t/>
            </a:r>
          </a:p>
          <a:p xmlns:a="http://schemas.openxmlformats.org/drawingml/2006/main">
            <a:r>
              <a:rPr sz="1400"/>
              <a:t>Misvatting: Constante kosten betekent dat TCK gelijk blijft. GCK verandert juist met Q. Bij Q = 0 kun je geen gemiddelde berekenen.</a:t>
            </a:r>
          </a:p>
          <a:p xmlns:a="http://schemas.openxmlformats.org/drawingml/2006/main">
            <a:r>
              <a:rPr sz="1400"/>
              <a:t/>
            </a:r>
          </a:p>
          <a:p xmlns:a="http://schemas.openxmlformats.org/drawingml/2006/main">
            <a:r>
              <a:rPr sz="1400"/>
              <a:t>Overgang: Vul één productiehoeveelheid in.</a:t>
            </a:r>
          </a:p>
          <a:p xmlns:a="http://schemas.openxmlformats.org/drawingml/2006/main">
            <a:r>
              <a:rPr sz="1400"/>
              <a:t/>
            </a:r>
          </a:p>
          <a:p xmlns:a="http://schemas.openxmlformats.org/drawingml/2006/main">
            <a:r>
              <a:rPr sz="1400"/>
              <a:t>Bron: leerlingenboek Boek 2, chatuitgave 2026, actuele revisie 21 september 2026, gedrukte pagina 4. https://github.com/meijer1973/4veco-lessen/blob/f6518f513d1f22f82922d4a8d3d3842c369b14f7/Boek%202%20-%20Kosten%2C%20opbrengsten%2C%20elasticiteit%20en%20surplus/edities/chat-2026/boek/Boek_2_Compleet.pdf</a:t>
            </a:r>
          </a:p>
          <a:p xmlns:a="http://schemas.openxmlformats.org/drawingml/2006/main">
            <a:r>
              <a:rPr sz="1400"/>
              <a:t>Antwoordmodel: https://github.com/meijer1973/4veco-lessen/blob/f6518f513d1f22f82922d4a8d3d3842c369b14f7/Boek%202%20-%20Kosten%2C%20opbrengsten%2C%20elasticiteit%20en%20surplus/edities/chat-2026/boek/Boek_2_Compleet_Antwoorden.pdf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totaalbedrag hoort boven de breuk voor GTK?</a:t>
            </a:r>
          </a:p>
          <a:p xmlns:a="http://schemas.openxmlformats.org/drawingml/2006/main">
            <a:r>
              <a:rPr sz="1400"/>
              <a:t/>
            </a:r>
          </a:p>
          <a:p xmlns:a="http://schemas.openxmlformats.org/drawingml/2006/main">
            <a:r>
              <a:rPr sz="1400"/>
              <a:t>Uitleg: Herhaal hoe de totalen ontstaan: TVK = 2 × 200 = 400; TK = 300 + 400 = 700 euro per maand. Deel vervolgens elk passend totaal door 200. Lees de volledige eenheid mee.</a:t>
            </a:r>
          </a:p>
          <a:p xmlns:a="http://schemas.openxmlformats.org/drawingml/2006/main">
            <a:r>
              <a:rPr sz="1400"/>
              <a:t/>
            </a:r>
          </a:p>
          <a:p xmlns:a="http://schemas.openxmlformats.org/drawingml/2006/main">
            <a:r>
              <a:rPr sz="1400"/>
              <a:t>Misvatting: Deel voor GTK niet alleen de huur of alleen het materiaal door Q.</a:t>
            </a:r>
          </a:p>
          <a:p xmlns:a="http://schemas.openxmlformats.org/drawingml/2006/main">
            <a:r>
              <a:rPr sz="1400"/>
              <a:t/>
            </a:r>
          </a:p>
          <a:p xmlns:a="http://schemas.openxmlformats.org/drawingml/2006/main">
            <a:r>
              <a:rPr sz="1400"/>
              <a:t>Overgang: Vergelijk daarna 200 met 400 flessen.</a:t>
            </a:r>
          </a:p>
          <a:p xmlns:a="http://schemas.openxmlformats.org/drawingml/2006/main">
            <a:r>
              <a:rPr sz="1400"/>
              <a:t/>
            </a:r>
          </a:p>
          <a:p xmlns:a="http://schemas.openxmlformats.org/drawingml/2006/main">
            <a:r>
              <a:rPr sz="1400"/>
              <a:t>Bron: leerlingenboek Boek 2, chatuitgave 2026, actuele revisie 21 september 2026, gedrukte pagina 4. https://github.com/meijer1973/4veco-lessen/blob/f6518f513d1f22f82922d4a8d3d3842c369b14f7/Boek%202%20-%20Kosten%2C%20opbrengsten%2C%20elasticiteit%20en%20surplus/edities/chat-2026/boek/Boek_2_Compleet.pdf</a:t>
            </a:r>
          </a:p>
          <a:p xmlns:a="http://schemas.openxmlformats.org/drawingml/2006/main">
            <a:r>
              <a:rPr sz="1400"/>
              <a:t>Antwoordmodel: https://github.com/meijer1973/4veco-lessen/blob/f6518f513d1f22f82922d4a8d3d3842c369b14f7/Boek%202%20-%20Kosten%2C%20opbrengsten%2C%20elasticiteit%20en%20surplus/edities/chat-2026/boek/Boek_2_Compleet_Antwoorden.pdf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deel van GTK wordt kleiner?</a:t>
            </a:r>
          </a:p>
          <a:p xmlns:a="http://schemas.openxmlformats.org/drawingml/2006/main">
            <a:r>
              <a:rPr sz="1400"/>
              <a:t/>
            </a:r>
          </a:p>
          <a:p xmlns:a="http://schemas.openxmlformats.org/drawingml/2006/main">
            <a:r>
              <a:rPr sz="1400"/>
              <a:t>Uitleg: Bij 400 flessen: TVK = 800, TK = 1100 euro per maand. GCK = 300 / 400 = 0,75, GVK = 800 / 400 = 2 en GTK = 1100 / 400 = 2,75 euro per fles. Het constante deel per fles halveert, het variabele deel niet.</a:t>
            </a:r>
          </a:p>
          <a:p xmlns:a="http://schemas.openxmlformats.org/drawingml/2006/main">
            <a:r>
              <a:rPr sz="1400"/>
              <a:t/>
            </a:r>
          </a:p>
          <a:p xmlns:a="http://schemas.openxmlformats.org/drawingml/2006/main">
            <a:r>
              <a:rPr sz="1400"/>
              <a:t>Misvatting: GCK halveert bij een verdubbeling van Q binnen dezelfde capaciteit. Dat betekent niet dat GTK halveert. GVK hoeft in andere situaties niet gelijk te blijven.</a:t>
            </a:r>
          </a:p>
          <a:p xmlns:a="http://schemas.openxmlformats.org/drawingml/2006/main">
            <a:r>
              <a:rPr sz="1400"/>
              <a:t/>
            </a:r>
          </a:p>
          <a:p xmlns:a="http://schemas.openxmlformats.org/drawingml/2006/main">
            <a:r>
              <a:rPr sz="1400"/>
              <a:t>Overgang: Controleer met één korte uitspraak of het verschil tussen totaal en gemiddeld duidelijk is.</a:t>
            </a:r>
          </a:p>
          <a:p xmlns:a="http://schemas.openxmlformats.org/drawingml/2006/main">
            <a:r>
              <a:rPr sz="1400"/>
              <a:t/>
            </a:r>
          </a:p>
          <a:p xmlns:a="http://schemas.openxmlformats.org/drawingml/2006/main">
            <a:r>
              <a:rPr sz="1400"/>
              <a:t>Bron: leerlingenboek Boek 2, chatuitgave 2026, actuele revisie 21 september 2026, gedrukte pagina 4. https://github.com/meijer1973/4veco-lessen/blob/f6518f513d1f22f82922d4a8d3d3842c369b14f7/Boek%202%20-%20Kosten%2C%20opbrengsten%2C%20elasticiteit%20en%20surplus/edities/chat-2026/boek/Boek_2_Compleet.pdf</a:t>
            </a:r>
          </a:p>
          <a:p xmlns:a="http://schemas.openxmlformats.org/drawingml/2006/main">
            <a:r>
              <a:rPr sz="1400"/>
              <a:t>Antwoordmodel: https://github.com/meijer1973/4veco-lessen/blob/f6518f513d1f22f82922d4a8d3d3842c369b14f7/Boek%202%20-%20Kosten%2C%20opbrengsten%2C%20elasticiteit%20en%20surplus/edities/chat-2026/boek/Boek_2_Compleet_Antwoorden.pdf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verandert in totaal, en wat verandert per fles?</a:t>
            </a:r>
          </a:p>
          <a:p xmlns:a="http://schemas.openxmlformats.org/drawingml/2006/main">
            <a:r>
              <a:rPr sz="1400"/>
              <a:t/>
            </a:r>
          </a:p>
          <a:p xmlns:a="http://schemas.openxmlformats.org/drawingml/2006/main">
            <a:r>
              <a:rPr sz="1400"/>
              <a:t>Uitleg: Laat leerlingen kort individueel nadenken en dan hun redenering verwoorden. Het antwoord staat op de volgende dia. Dit is een begripscontrole op het uitlegvoorbeeld, geen nieuwe boekopgave.</a:t>
            </a:r>
          </a:p>
          <a:p xmlns:a="http://schemas.openxmlformats.org/drawingml/2006/main">
            <a:r>
              <a:rPr sz="1400"/>
              <a:t/>
            </a:r>
          </a:p>
          <a:p xmlns:a="http://schemas.openxmlformats.org/drawingml/2006/main">
            <a:r>
              <a:rPr sz="1400"/>
              <a:t>Misvatting: Zonder onderscheid tussen T en G lijken de conclusies tegenstrijdig.</a:t>
            </a:r>
          </a:p>
          <a:p xmlns:a="http://schemas.openxmlformats.org/drawingml/2006/main">
            <a:r>
              <a:rPr sz="1400"/>
              <a:t/>
            </a:r>
          </a:p>
          <a:p xmlns:a="http://schemas.openxmlformats.org/drawingml/2006/main">
            <a:r>
              <a:rPr sz="1400"/>
              <a:t>Overgang: Toon de twee berekeningen na de antwoorden van leerlingen.</a:t>
            </a:r>
          </a:p>
          <a:p xmlns:a="http://schemas.openxmlformats.org/drawingml/2006/main">
            <a:r>
              <a:rPr sz="1400"/>
              <a:t/>
            </a:r>
          </a:p>
          <a:p xmlns:a="http://schemas.openxmlformats.org/drawingml/2006/main">
            <a:r>
              <a:rPr sz="1400"/>
              <a:t>Bron: leerlingenboek Boek 2, chatuitgave 2026, actuele revisie 21 september 2026, gedrukte pagina 3–4. https://github.com/meijer1973/4veco-lessen/blob/f6518f513d1f22f82922d4a8d3d3842c369b14f7/Boek%202%20-%20Kosten%2C%20opbrengsten%2C%20elasticiteit%20en%20surplus/edities/chat-2026/boek/Boek_2_Compleet.pdf</a:t>
            </a:r>
          </a:p>
          <a:p xmlns:a="http://schemas.openxmlformats.org/drawingml/2006/main">
            <a:r>
              <a:rPr sz="1400"/>
              <a:t>Antwoordmodel: https://github.com/meijer1973/4veco-lessen/blob/f6518f513d1f22f82922d4a8d3d3842c369b14f7/Boek%202%20-%20Kosten%2C%20opbrengsten%2C%20elasticiteit%20en%20surplus/edities/chat-2026/boek/Boek_2_Compleet_Antwoorden.pdf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verandert in totaal, en wat verandert per fles?</a:t>
            </a:r>
          </a:p>
          <a:p xmlns:a="http://schemas.openxmlformats.org/drawingml/2006/main">
            <a:r>
              <a:rPr sz="1400"/>
              <a:t/>
            </a:r>
          </a:p>
          <a:p xmlns:a="http://schemas.openxmlformats.org/drawingml/2006/main">
            <a:r>
              <a:rPr sz="1400"/>
              <a:t>Uitleg: Beide delen van de uitspraak zijn onjuist. De huur blijft in totaal gelijk. Daardoor verdubbelt TK niet. Alleen de huur per fles halveert, het materiaal per fles blijft 2 euro.</a:t>
            </a:r>
          </a:p>
          <a:p xmlns:a="http://schemas.openxmlformats.org/drawingml/2006/main">
            <a:r>
              <a:rPr sz="1400"/>
              <a:t/>
            </a:r>
          </a:p>
          <a:p xmlns:a="http://schemas.openxmlformats.org/drawingml/2006/main">
            <a:r>
              <a:rPr sz="1400"/>
              <a:t>Misvatting: Zonder onderscheid tussen T en G lijken de conclusies tegenstrijdig.</a:t>
            </a:r>
          </a:p>
          <a:p xmlns:a="http://schemas.openxmlformats.org/drawingml/2006/main">
            <a:r>
              <a:rPr sz="1400"/>
              <a:t/>
            </a:r>
          </a:p>
          <a:p xmlns:a="http://schemas.openxmlformats.org/drawingml/2006/main">
            <a:r>
              <a:rPr sz="1400"/>
              <a:t>Overgang: Laat de overzichtsdia staan tijdens zelfstandig werken.</a:t>
            </a:r>
          </a:p>
          <a:p xmlns:a="http://schemas.openxmlformats.org/drawingml/2006/main">
            <a:r>
              <a:rPr sz="1400"/>
              <a:t/>
            </a:r>
          </a:p>
          <a:p xmlns:a="http://schemas.openxmlformats.org/drawingml/2006/main">
            <a:r>
              <a:rPr sz="1400"/>
              <a:t>Bron: leerlingenboek Boek 2, chatuitgave 2026, actuele revisie 21 september 2026, gedrukte pagina 3–4. https://github.com/meijer1973/4veco-lessen/blob/f6518f513d1f22f82922d4a8d3d3842c369b14f7/Boek%202%20-%20Kosten%2C%20opbrengsten%2C%20elasticiteit%20en%20surplus/edities/chat-2026/boek/Boek_2_Compleet.pdf</a:t>
            </a:r>
          </a:p>
          <a:p xmlns:a="http://schemas.openxmlformats.org/drawingml/2006/main">
            <a:r>
              <a:rPr sz="1400"/>
              <a:t>Antwoordmodel: https://github.com/meijer1973/4veco-lessen/blob/f6518f513d1f22f82922d4a8d3d3842c369b14f7/Boek%202%20-%20Kosten%2C%20opbrengsten%2C%20elasticiteit%20en%20surplus/edities/chat-2026/boek/Boek_2_Compleet_Antwoorden.pdf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ben je in de oefenroute?</a:t>
            </a:r>
          </a:p>
          <a:p xmlns:a="http://schemas.openxmlformats.org/drawingml/2006/main">
            <a:r>
              <a:rPr sz="1400"/>
              <a:t/>
            </a:r>
          </a:p>
          <a:p xmlns:a="http://schemas.openxmlformats.org/drawingml/2006/main">
            <a:r>
              <a:rPr sz="1400"/>
              <a:t>Uitleg: Laat deze dia staan tijdens zelfstandig werken. De docent heeft expliciet gekozen voor opgaven 1 en 2 als startopdracht. Opgaven 3 en 4 zijn basis, 5 en 6 zelfstandig, 7 doel. Huiswerk: 3, 4, 5, 6 en 7 maken en nakijken. Start 1–2 en basis 3 staan op pagina 6; basis 4 en zelfstandig 5–6 staan op pagina 7; doel 7 op pagina 8. De volledige oefenroute hoeft niet binnen één les af te zijn.</a:t>
            </a:r>
          </a:p>
          <a:p xmlns:a="http://schemas.openxmlformats.org/drawingml/2006/main">
            <a:r>
              <a:rPr sz="1400"/>
              <a:t/>
            </a:r>
          </a:p>
          <a:p xmlns:a="http://schemas.openxmlformats.org/drawingml/2006/main">
            <a:r>
              <a:rPr sz="1400"/>
              <a:t>Misvatting: Gebruik het gedrukte paginanummer: pagina 6 is de achtste fysieke pagina van het complete PDF-bestand.</a:t>
            </a:r>
          </a:p>
          <a:p xmlns:a="http://schemas.openxmlformats.org/drawingml/2006/main">
            <a:r>
              <a:rPr sz="1400"/>
              <a:t/>
            </a:r>
          </a:p>
          <a:p xmlns:a="http://schemas.openxmlformats.org/drawingml/2006/main">
            <a:r>
              <a:rPr sz="1400"/>
              <a:t>Overgang: Ga verder zodra de klas klaar is voor de volgende lesfase.</a:t>
            </a:r>
          </a:p>
          <a:p xmlns:a="http://schemas.openxmlformats.org/drawingml/2006/main">
            <a:r>
              <a:rPr sz="1400"/>
              <a:t/>
            </a:r>
          </a:p>
          <a:p xmlns:a="http://schemas.openxmlformats.org/drawingml/2006/main">
            <a:r>
              <a:rPr sz="1400"/>
              <a:t>Bron: leerlingenboek Boek 2, chatuitgave 2026, actuele revisie 21 september 2026, gedrukte pagina 6–8. https://github.com/meijer1973/4veco-lessen/blob/f6518f513d1f22f82922d4a8d3d3842c369b14f7/Boek%202%20-%20Kosten%2C%20opbrengsten%2C%20elasticiteit%20en%20surplus/edities/chat-2026/boek/Boek_2_Compleet.pdf</a:t>
            </a:r>
          </a:p>
          <a:p xmlns:a="http://schemas.openxmlformats.org/drawingml/2006/main">
            <a:r>
              <a:rPr sz="1400"/>
              <a:t>Antwoordmodel: https://github.com/meijer1973/4veco-lessen/blob/f6518f513d1f22f82922d4a8d3d3842c369b14f7/Boek%202%20-%20Kosten%2C%20opbrengsten%2C%20elasticiteit%20en%20surplus/edities/chat-2026/boek/Boek_2_Compleet_Antwoorden.pdf</a:t>
            </a:r>
          </a:p>
          <a:p xmlns:a="http://schemas.openxmlformats.org/drawingml/2006/main">
            <a:r>
              <a:rPr sz="1400"/>
              <a:t>Terminologie: het boek noemt 1–2 Startopgaven en 3–4 Begeleide inoefening. De docent heeft bovenstaande indeling bevestigd. Startantwoorden: 1a € 100; 1b € 5 per deelnemer. 2a huur € 600 in beide situaties, inkt € 100 respectievelijk € 200 per maand. 2b € 600 zijn TCK; GCK is € 1,20 respectievelijk € 0,60 per poster.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bedragen zijn per maand en welke per brood gegeven?</a:t>
            </a:r>
          </a:p>
          <a:p xmlns:a="http://schemas.openxmlformats.org/drawingml/2006/main">
            <a:r>
              <a:rPr sz="1400"/>
              <a:t/>
            </a:r>
          </a:p>
          <a:p xmlns:a="http://schemas.openxmlformats.org/drawingml/2006/main">
            <a:r>
              <a:rPr sz="1400"/>
              <a:t>Uitleg: Start de bespreking pas nadat leerlingen zelf de doelopgave hebben geprobeerd. Dit zijn de oorspronkelijke context en gegevens uit opgave 7. De volgende twee dia’s tonen alle deelvragen zonder uitwerking.</a:t>
            </a:r>
          </a:p>
          <a:p xmlns:a="http://schemas.openxmlformats.org/drawingml/2006/main">
            <a:r>
              <a:rPr sz="1400"/>
              <a:t/>
            </a:r>
          </a:p>
          <a:p xmlns:a="http://schemas.openxmlformats.org/drawingml/2006/main">
            <a:r>
              <a:rPr sz="1400"/>
              <a:t>Misvatting: De energiekosten bestaan uit twee verschillende onderdelen. Dezelfde rekening betekent niet hetzelfde kostenpatroon.</a:t>
            </a:r>
          </a:p>
          <a:p xmlns:a="http://schemas.openxmlformats.org/drawingml/2006/main">
            <a:r>
              <a:rPr sz="1400"/>
              <a:t/>
            </a:r>
          </a:p>
          <a:p xmlns:a="http://schemas.openxmlformats.org/drawingml/2006/main">
            <a:r>
              <a:rPr sz="1400"/>
              <a:t>Overgang: Toon eerst deelvragen a en b, daarna c tot en met e.</a:t>
            </a:r>
          </a:p>
          <a:p xmlns:a="http://schemas.openxmlformats.org/drawingml/2006/main">
            <a:r>
              <a:rPr sz="1400"/>
              <a:t/>
            </a:r>
          </a:p>
          <a:p xmlns:a="http://schemas.openxmlformats.org/drawingml/2006/main">
            <a:r>
              <a:rPr sz="1400"/>
              <a:t>Bron: leerlingenboek Boek 2, chatuitgave 2026, actuele revisie 21 september 2026, gedrukte pagina 8. https://github.com/meijer1973/4veco-lessen/blob/f6518f513d1f22f82922d4a8d3d3842c369b14f7/Boek%202%20-%20Kosten%2C%20opbrengsten%2C%20elasticiteit%20en%20surplus/edities/chat-2026/boek/Boek_2_Compleet.pdf</a:t>
            </a:r>
          </a:p>
          <a:p xmlns:a="http://schemas.openxmlformats.org/drawingml/2006/main">
            <a:r>
              <a:rPr sz="1400"/>
              <a:t>Antwoordmodel: https://github.com/meijer1973/4veco-lessen/blob/f6518f513d1f22f82922d4a8d3d3842c369b14f7/Boek%202%20-%20Kosten%2C%20opbrengsten%2C%20elasticiteit%20en%20surplus/edities/chat-2026/boek/Boek_2_Compleet_Antwoorden.pdf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moet je uitleg naar verwijzen als je een kostenpost constant noemt?</a:t>
            </a:r>
          </a:p>
          <a:p xmlns:a="http://schemas.openxmlformats.org/drawingml/2006/main">
            <a:r>
              <a:rPr sz="1400"/>
              <a:t/>
            </a:r>
          </a:p>
          <a:p xmlns:a="http://schemas.openxmlformats.org/drawingml/2006/main">
            <a:r>
              <a:rPr sz="1400"/>
              <a:t>Uitleg: Behoud de classificatietabel en alle lege cellen uit de boekopgave. Laat een leerling uitleggen wat bij Reden hoort, maar onthul de oplossing pas na de volgende vragendia.</a:t>
            </a:r>
          </a:p>
          <a:p xmlns:a="http://schemas.openxmlformats.org/drawingml/2006/main">
            <a:r>
              <a:rPr sz="1400"/>
              <a:t/>
            </a:r>
          </a:p>
          <a:p xmlns:a="http://schemas.openxmlformats.org/drawingml/2006/main">
            <a:r>
              <a:rPr sz="1400"/>
              <a:t>Misvatting: Alleen het label constant of variabel is geen volledige beantwoording van a.</a:t>
            </a:r>
          </a:p>
          <a:p xmlns:a="http://schemas.openxmlformats.org/drawingml/2006/main">
            <a:r>
              <a:rPr sz="1400"/>
              <a:t/>
            </a:r>
          </a:p>
          <a:p xmlns:a="http://schemas.openxmlformats.org/drawingml/2006/main">
            <a:r>
              <a:rPr sz="1400"/>
              <a:t>Overgang: Toon ook de reken- en vergelijkingsvragen.</a:t>
            </a:r>
          </a:p>
          <a:p xmlns:a="http://schemas.openxmlformats.org/drawingml/2006/main">
            <a:r>
              <a:rPr sz="1400"/>
              <a:t/>
            </a:r>
          </a:p>
          <a:p xmlns:a="http://schemas.openxmlformats.org/drawingml/2006/main">
            <a:r>
              <a:rPr sz="1400"/>
              <a:t>Bron: leerlingenboek Boek 2, chatuitgave 2026, actuele revisie 21 september 2026, gedrukte pagina 8. https://github.com/meijer1973/4veco-lessen/blob/f6518f513d1f22f82922d4a8d3d3842c369b14f7/Boek%202%20-%20Kosten%2C%20opbrengsten%2C%20elasticiteit%20en%20surplus/edities/chat-2026/boek/Boek_2_Compleet.pdf</a:t>
            </a:r>
          </a:p>
          <a:p xmlns:a="http://schemas.openxmlformats.org/drawingml/2006/main">
            <a:r>
              <a:rPr sz="1400"/>
              <a:t>Antwoordmodel: https://github.com/meijer1973/4veco-lessen/blob/f6518f513d1f22f82922d4a8d3d3842c369b14f7/Boek%202%20-%20Kosten%2C%20opbrengsten%2C%20elasticiteit%20en%20surplus/edities/chat-2026/boek/Boek_2_Compleet_Antwoorden.pdf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stappen vraagt deelvraag e?</a:t>
            </a:r>
          </a:p>
          <a:p xmlns:a="http://schemas.openxmlformats.org/drawingml/2006/main">
            <a:r>
              <a:rPr sz="1400"/>
              <a:t/>
            </a:r>
          </a:p>
          <a:p xmlns:a="http://schemas.openxmlformats.org/drawingml/2006/main">
            <a:r>
              <a:rPr sz="1400"/>
              <a:t>Uitleg: De deelvragen zijn inhoudelijk en qua gegevens ongewijzigd. Laat leerlingen hun eigen antwoorden erbij houden. Bij e zijn zowel de vergelijking van totalen als de verklaring van de gemiddelden nodig.</a:t>
            </a:r>
          </a:p>
          <a:p xmlns:a="http://schemas.openxmlformats.org/drawingml/2006/main">
            <a:r>
              <a:rPr sz="1400"/>
              <a:t/>
            </a:r>
          </a:p>
          <a:p xmlns:a="http://schemas.openxmlformats.org/drawingml/2006/main">
            <a:r>
              <a:rPr sz="1400"/>
              <a:t>Misvatting: Een rij uitkomsten zonder verklaring is niet voldoende bij e.</a:t>
            </a:r>
          </a:p>
          <a:p xmlns:a="http://schemas.openxmlformats.org/drawingml/2006/main">
            <a:r>
              <a:rPr sz="1400"/>
              <a:t/>
            </a:r>
          </a:p>
          <a:p xmlns:a="http://schemas.openxmlformats.org/drawingml/2006/main">
            <a:r>
              <a:rPr sz="1400"/>
              <a:t>Overgang: Begin de stapsgewijze bespreking bij de indeling.</a:t>
            </a:r>
          </a:p>
          <a:p xmlns:a="http://schemas.openxmlformats.org/drawingml/2006/main">
            <a:r>
              <a:rPr sz="1400"/>
              <a:t/>
            </a:r>
          </a:p>
          <a:p xmlns:a="http://schemas.openxmlformats.org/drawingml/2006/main">
            <a:r>
              <a:rPr sz="1400"/>
              <a:t>Bron: leerlingenboek Boek 2, chatuitgave 2026, actuele revisie 21 september 2026, gedrukte pagina 8. https://github.com/meijer1973/4veco-lessen/blob/f6518f513d1f22f82922d4a8d3d3842c369b14f7/Boek%202%20-%20Kosten%2C%20opbrengsten%2C%20elasticiteit%20en%20surplus/edities/chat-2026/boek/Boek_2_Compleet.pdf</a:t>
            </a:r>
          </a:p>
          <a:p xmlns:a="http://schemas.openxmlformats.org/drawingml/2006/main">
            <a:r>
              <a:rPr sz="1400"/>
              <a:t>Antwoordmodel: https://github.com/meijer1973/4veco-lessen/blob/f6518f513d1f22f82922d4a8d3d3842c369b14f7/Boek%202%20-%20Kosten%2C%20opbrengsten%2C%20elasticiteit%20en%20surplus/edities/chat-2026/boek/Boek_2_Compleet_Antwoorden.pdf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het abonnement constant en het verbruik variabel?</a:t>
            </a:r>
          </a:p>
          <a:p xmlns:a="http://schemas.openxmlformats.org/drawingml/2006/main">
            <a:r>
              <a:rPr sz="1400"/>
              <a:t/>
            </a:r>
          </a:p>
          <a:p xmlns:a="http://schemas.openxmlformats.org/drawingml/2006/main">
            <a:r>
              <a:rPr sz="1400"/>
              <a:t>Uitleg: Classificeer alle vier posten met een reden. Beoordeel het gedrag van het totale bedrag als Q verandert. De productie blijft in dezelfde maand binnen 1000 broden.</a:t>
            </a:r>
          </a:p>
          <a:p xmlns:a="http://schemas.openxmlformats.org/drawingml/2006/main">
            <a:r>
              <a:rPr sz="1400"/>
              <a:t/>
            </a:r>
          </a:p>
          <a:p xmlns:a="http://schemas.openxmlformats.org/drawingml/2006/main">
            <a:r>
              <a:rPr sz="1400"/>
              <a:t>Misvatting: Maandelijks betalen maakt verbruikskosten niet constant.</a:t>
            </a:r>
          </a:p>
          <a:p xmlns:a="http://schemas.openxmlformats.org/drawingml/2006/main">
            <a:r>
              <a:rPr sz="1400"/>
              <a:t/>
            </a:r>
          </a:p>
          <a:p xmlns:a="http://schemas.openxmlformats.org/drawingml/2006/main">
            <a:r>
              <a:rPr sz="1400"/>
              <a:t>Overgang: Tel eerst de vaste bedragen en vervolgens de bedragen per brood op.</a:t>
            </a:r>
          </a:p>
          <a:p xmlns:a="http://schemas.openxmlformats.org/drawingml/2006/main">
            <a:r>
              <a:rPr sz="1400"/>
              <a:t/>
            </a:r>
          </a:p>
          <a:p xmlns:a="http://schemas.openxmlformats.org/drawingml/2006/main">
            <a:r>
              <a:rPr sz="1400"/>
              <a:t>Bron: leerlingenboek Boek 2, chatuitgave 2026, actuele revisie 21 september 2026, gedrukte pagina 8. https://github.com/meijer1973/4veco-lessen/blob/f6518f513d1f22f82922d4a8d3d3842c369b14f7/Boek%202%20-%20Kosten%2C%20opbrengsten%2C%20elasticiteit%20en%20surplus/edities/chat-2026/boek/Boek_2_Compleet.pdf</a:t>
            </a:r>
          </a:p>
          <a:p xmlns:a="http://schemas.openxmlformats.org/drawingml/2006/main">
            <a:r>
              <a:rPr sz="1400"/>
              <a:t>Antwoordmodel: https://github.com/meijer1973/4veco-lessen/blob/f6518f513d1f22f82922d4a8d3d3842c369b14f7/Boek%202%20-%20Kosten%2C%20opbrengsten%2C%20elasticiteit%20en%20surplus/edities/chat-2026/boek/Boek_2_Compleet_Antwoorden.pdf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staat Q wel bij 0,80 maar niet bij 500?</a:t>
            </a:r>
          </a:p>
          <a:p xmlns:a="http://schemas.openxmlformats.org/drawingml/2006/main">
            <a:r>
              <a:rPr sz="1400"/>
              <a:t/>
            </a:r>
          </a:p>
          <a:p xmlns:a="http://schemas.openxmlformats.org/drawingml/2006/main">
            <a:r>
              <a:rPr sz="1400"/>
              <a:t>Uitleg: Vaste bedragen optellen geeft 500 euro per maand. De bedragen per brood optellen geeft 0,80 euro per brood. Vermenigvuldig 0,80 met de hoeveelheid en tel voor TK de 500 erbij.</a:t>
            </a:r>
          </a:p>
          <a:p xmlns:a="http://schemas.openxmlformats.org/drawingml/2006/main">
            <a:r>
              <a:rPr sz="1400"/>
              <a:t/>
            </a:r>
          </a:p>
          <a:p xmlns:a="http://schemas.openxmlformats.org/drawingml/2006/main">
            <a:r>
              <a:rPr sz="1400"/>
              <a:t>Misvatting: € 0,80 is GVK in deze opgave. TVK is 0,80Q en hangt af van de hoeveelheid.</a:t>
            </a:r>
          </a:p>
          <a:p xmlns:a="http://schemas.openxmlformats.org/drawingml/2006/main">
            <a:r>
              <a:rPr sz="1400"/>
              <a:t/>
            </a:r>
          </a:p>
          <a:p xmlns:a="http://schemas.openxmlformats.org/drawingml/2006/main">
            <a:r>
              <a:rPr sz="1400"/>
              <a:t>Overgang: Bereken nu eerst de totalen en vervolgens de gemiddelden bij 500 broden.</a:t>
            </a:r>
          </a:p>
          <a:p xmlns:a="http://schemas.openxmlformats.org/drawingml/2006/main">
            <a:r>
              <a:rPr sz="1400"/>
              <a:t/>
            </a:r>
          </a:p>
          <a:p xmlns:a="http://schemas.openxmlformats.org/drawingml/2006/main">
            <a:r>
              <a:rPr sz="1400"/>
              <a:t>Bron: leerlingenboek Boek 2, chatuitgave 2026, actuele revisie 21 september 2026, gedrukte pagina 8. https://github.com/meijer1973/4veco-lessen/blob/f6518f513d1f22f82922d4a8d3d3842c369b14f7/Boek%202%20-%20Kosten%2C%20opbrengsten%2C%20elasticiteit%20en%20surplus/edities/chat-2026/boek/Boek_2_Compleet.pdf</a:t>
            </a:r>
          </a:p>
          <a:p xmlns:a="http://schemas.openxmlformats.org/drawingml/2006/main">
            <a:r>
              <a:rPr sz="1400"/>
              <a:t>Antwoordmodel: https://github.com/meijer1973/4veco-lessen/blob/f6518f513d1f22f82922d4a8d3d3842c369b14f7/Boek%202%20-%20Kosten%2C%20opbrengsten%2C%20elasticiteit%20en%20surplus/edities/chat-2026/boek/Boek_2_Compleet_Antwoorden.pdf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eenheid schrijf je bij de gemiddelden?</a:t>
            </a:r>
          </a:p>
          <a:p xmlns:a="http://schemas.openxmlformats.org/drawingml/2006/main">
            <a:r>
              <a:rPr sz="1400"/>
              <a:t/>
            </a:r>
          </a:p>
          <a:p xmlns:a="http://schemas.openxmlformats.org/drawingml/2006/main">
            <a:r>
              <a:rPr sz="1400"/>
              <a:t>Uitleg: Laat zien dat GCK, GVK en GTK telkens een ander totaal door dezelfde 500 broden delen. Rekencontrole: GCK + GVK = GTK. De 500 broden passen binnen de capaciteit.</a:t>
            </a:r>
          </a:p>
          <a:p xmlns:a="http://schemas.openxmlformats.org/drawingml/2006/main">
            <a:r>
              <a:rPr sz="1400"/>
              <a:t/>
            </a:r>
          </a:p>
          <a:p xmlns:a="http://schemas.openxmlformats.org/drawingml/2006/main">
            <a:r>
              <a:rPr sz="1400"/>
              <a:t>Misvatting: Q = 1000 betekent in deze context niet duizend euro, maar duizend broden per maand.</a:t>
            </a:r>
          </a:p>
          <a:p xmlns:a="http://schemas.openxmlformats.org/drawingml/2006/main">
            <a:r>
              <a:rPr sz="1400"/>
              <a:t/>
            </a:r>
          </a:p>
          <a:p xmlns:a="http://schemas.openxmlformats.org/drawingml/2006/main">
            <a:r>
              <a:rPr sz="1400"/>
              <a:t>Overgang: Herhaal dezelfde berekening bij 1000 broden.</a:t>
            </a:r>
          </a:p>
          <a:p xmlns:a="http://schemas.openxmlformats.org/drawingml/2006/main">
            <a:r>
              <a:rPr sz="1400"/>
              <a:t/>
            </a:r>
          </a:p>
          <a:p xmlns:a="http://schemas.openxmlformats.org/drawingml/2006/main">
            <a:r>
              <a:rPr sz="1400"/>
              <a:t>Bron: leerlingenboek Boek 2, chatuitgave 2026, actuele revisie 21 september 2026, gedrukte pagina 8. https://github.com/meijer1973/4veco-lessen/blob/f6518f513d1f22f82922d4a8d3d3842c369b14f7/Boek%202%20-%20Kosten%2C%20opbrengsten%2C%20elasticiteit%20en%20surplus/edities/chat-2026/boek/Boek_2_Compleet.pdf</a:t>
            </a:r>
          </a:p>
          <a:p xmlns:a="http://schemas.openxmlformats.org/drawingml/2006/main">
            <a:r>
              <a:rPr sz="1400"/>
              <a:t>Antwoordmodel: https://github.com/meijer1973/4veco-lessen/blob/f6518f513d1f22f82922d4a8d3d3842c369b14f7/Boek%202%20-%20Kosten%2C%20opbrengsten%2C%20elasticiteit%20en%20surplus/edities/chat-2026/boek/Boek_2_Compleet_Antwoorden.pdf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eenheid schrijf je bij de gemiddelden?</a:t>
            </a:r>
          </a:p>
          <a:p xmlns:a="http://schemas.openxmlformats.org/drawingml/2006/main">
            <a:r>
              <a:rPr sz="1400"/>
              <a:t/>
            </a:r>
          </a:p>
          <a:p xmlns:a="http://schemas.openxmlformats.org/drawingml/2006/main">
            <a:r>
              <a:rPr sz="1400"/>
              <a:t>Uitleg: Laat zien dat GCK, GVK en GTK telkens een ander totaal door dezelfde 1.000 broden delen. Rekencontrole: GCK + GVK = GTK. De 1.000 broden passen binnen de capaciteit.</a:t>
            </a:r>
          </a:p>
          <a:p xmlns:a="http://schemas.openxmlformats.org/drawingml/2006/main">
            <a:r>
              <a:rPr sz="1400"/>
              <a:t/>
            </a:r>
          </a:p>
          <a:p xmlns:a="http://schemas.openxmlformats.org/drawingml/2006/main">
            <a:r>
              <a:rPr sz="1400"/>
              <a:t>Misvatting: Q = 1000 betekent in deze context niet duizend euro, maar duizend broden per maand.</a:t>
            </a:r>
          </a:p>
          <a:p xmlns:a="http://schemas.openxmlformats.org/drawingml/2006/main">
            <a:r>
              <a:rPr sz="1400"/>
              <a:t/>
            </a:r>
          </a:p>
          <a:p xmlns:a="http://schemas.openxmlformats.org/drawingml/2006/main">
            <a:r>
              <a:rPr sz="1400"/>
              <a:t>Overgang: Vergelijk eerst de totale bedragen bij beide hoeveelheden.</a:t>
            </a:r>
          </a:p>
          <a:p xmlns:a="http://schemas.openxmlformats.org/drawingml/2006/main">
            <a:r>
              <a:rPr sz="1400"/>
              <a:t/>
            </a:r>
          </a:p>
          <a:p xmlns:a="http://schemas.openxmlformats.org/drawingml/2006/main">
            <a:r>
              <a:rPr sz="1400"/>
              <a:t>Bron: leerlingenboek Boek 2, chatuitgave 2026, actuele revisie 21 september 2026, gedrukte pagina 8. https://github.com/meijer1973/4veco-lessen/blob/f6518f513d1f22f82922d4a8d3d3842c369b14f7/Boek%202%20-%20Kosten%2C%20opbrengsten%2C%20elasticiteit%20en%20surplus/edities/chat-2026/boek/Boek_2_Compleet.pdf</a:t>
            </a:r>
          </a:p>
          <a:p xmlns:a="http://schemas.openxmlformats.org/drawingml/2006/main">
            <a:r>
              <a:rPr sz="1400"/>
              <a:t>Antwoordmodel: https://github.com/meijer1973/4veco-lessen/blob/f6518f513d1f22f82922d4a8d3d3842c369b14f7/Boek%202%20-%20Kosten%2C%20opbrengsten%2C%20elasticiteit%20en%20surplus/edities/chat-2026/boek/Boek_2_Compleet_Antwoorden.pdf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deel van de 900 euro wordt bij verdubbeling van Q groter?</a:t>
            </a:r>
          </a:p>
          <a:p xmlns:a="http://schemas.openxmlformats.org/drawingml/2006/main">
            <a:r>
              <a:rPr sz="1400"/>
              <a:t/>
            </a:r>
          </a:p>
          <a:p xmlns:a="http://schemas.openxmlformats.org/drawingml/2006/main">
            <a:r>
              <a:rPr sz="1400"/>
              <a:t>Uitleg: Vergelijk dezelfde maand bij gelijkblijvende capaciteit. TCK blijven 500; TVK gaan van 400 naar 800; TK gaan van 900 naar 1300. Verdubbeld TK zou 1800 zijn, maar dat gebeurt niet.</a:t>
            </a:r>
          </a:p>
          <a:p xmlns:a="http://schemas.openxmlformats.org/drawingml/2006/main">
            <a:r>
              <a:rPr sz="1400"/>
              <a:t/>
            </a:r>
          </a:p>
          <a:p xmlns:a="http://schemas.openxmlformats.org/drawingml/2006/main">
            <a:r>
              <a:rPr sz="1400"/>
              <a:t>Misvatting: Het blijven betalen van vaste kosten betekent niet dat alle kosten vast zijn.</a:t>
            </a:r>
          </a:p>
          <a:p xmlns:a="http://schemas.openxmlformats.org/drawingml/2006/main">
            <a:r>
              <a:rPr sz="1400"/>
              <a:t/>
            </a:r>
          </a:p>
          <a:p xmlns:a="http://schemas.openxmlformats.org/drawingml/2006/main">
            <a:r>
              <a:rPr sz="1400"/>
              <a:t>Overgang: Gebruik deze totalen om de verandering per brood te verklaren.</a:t>
            </a:r>
          </a:p>
          <a:p xmlns:a="http://schemas.openxmlformats.org/drawingml/2006/main">
            <a:r>
              <a:rPr sz="1400"/>
              <a:t/>
            </a:r>
          </a:p>
          <a:p xmlns:a="http://schemas.openxmlformats.org/drawingml/2006/main">
            <a:r>
              <a:rPr sz="1400"/>
              <a:t>Bron: leerlingenboek Boek 2, chatuitgave 2026, actuele revisie 21 september 2026, gedrukte pagina 8. https://github.com/meijer1973/4veco-lessen/blob/f6518f513d1f22f82922d4a8d3d3842c369b14f7/Boek%202%20-%20Kosten%2C%20opbrengsten%2C%20elasticiteit%20en%20surplus/edities/chat-2026/boek/Boek_2_Compleet.pdf</a:t>
            </a:r>
          </a:p>
          <a:p xmlns:a="http://schemas.openxmlformats.org/drawingml/2006/main">
            <a:r>
              <a:rPr sz="1400"/>
              <a:t>Antwoordmodel: https://github.com/meijer1973/4veco-lessen/blob/f6518f513d1f22f82922d4a8d3d3842c369b14f7/Boek%202%20-%20Kosten%2C%20opbrengsten%2C%20elasticiteit%20en%20surplus/edities/chat-2026/boek/Boek_2_Compleet_Antwoorden.pdf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bedrag zou je krijgen als GTK wel zou halveren?</a:t>
            </a:r>
          </a:p>
          <a:p xmlns:a="http://schemas.openxmlformats.org/drawingml/2006/main">
            <a:r>
              <a:rPr sz="1400"/>
              <a:t/>
            </a:r>
          </a:p>
          <a:p xmlns:a="http://schemas.openxmlformats.org/drawingml/2006/main">
            <a:r>
              <a:rPr sz="1400"/>
              <a:t>Uitleg: Bouw de oorzaak-gevolgrelatie op: dezelfde totale constante kosten gedeeld door twee keer zoveel broden geeft een gehalveerde GCK. Per brood zijn nog steeds evenveel meel, verpakking en energie nodig tegen dezelfde kosten. GVK blijft dus gelijk. Daardoor daalt GTK van 1,80 naar 1,30 en niet naar 0,90 euro per brood.</a:t>
            </a:r>
          </a:p>
          <a:p xmlns:a="http://schemas.openxmlformats.org/drawingml/2006/main">
            <a:r>
              <a:rPr sz="1400"/>
              <a:t/>
            </a:r>
          </a:p>
          <a:p xmlns:a="http://schemas.openxmlformats.org/drawingml/2006/main">
            <a:r>
              <a:rPr sz="1400"/>
              <a:t>Misvatting: De conclusie geldt binnen de gegeven maand, capaciteit en vaste variabele kosten per brood.</a:t>
            </a:r>
          </a:p>
          <a:p xmlns:a="http://schemas.openxmlformats.org/drawingml/2006/main">
            <a:r>
              <a:rPr sz="1400"/>
              <a:t/>
            </a:r>
          </a:p>
          <a:p xmlns:a="http://schemas.openxmlformats.org/drawingml/2006/main">
            <a:r>
              <a:rPr sz="1400"/>
              <a:t>Overgang: Laat leerlingen één fout of ontbrekende verklaring verbeteren.</a:t>
            </a:r>
          </a:p>
          <a:p xmlns:a="http://schemas.openxmlformats.org/drawingml/2006/main">
            <a:r>
              <a:rPr sz="1400"/>
              <a:t/>
            </a:r>
          </a:p>
          <a:p xmlns:a="http://schemas.openxmlformats.org/drawingml/2006/main">
            <a:r>
              <a:rPr sz="1400"/>
              <a:t>Bron: leerlingenboek Boek 2, chatuitgave 2026, actuele revisie 21 september 2026, gedrukte pagina 8. https://github.com/meijer1973/4veco-lessen/blob/f6518f513d1f22f82922d4a8d3d3842c369b14f7/Boek%202%20-%20Kosten%2C%20opbrengsten%2C%20elasticiteit%20en%20surplus/edities/chat-2026/boek/Boek_2_Compleet.pdf</a:t>
            </a:r>
          </a:p>
          <a:p xmlns:a="http://schemas.openxmlformats.org/drawingml/2006/main">
            <a:r>
              <a:rPr sz="1400"/>
              <a:t>Antwoordmodel: https://github.com/meijer1973/4veco-lessen/blob/f6518f513d1f22f82922d4a8d3d3842c369b14f7/Boek%202%20-%20Kosten%2C%20opbrengsten%2C%20elasticiteit%20en%20surplus/edities/chat-2026/boek/Boek_2_Compleet_Antwoorden.pdf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ontbrak nog in jouw antwoord?</a:t>
            </a:r>
          </a:p>
          <a:p xmlns:a="http://schemas.openxmlformats.org/drawingml/2006/main">
            <a:r>
              <a:rPr sz="1400"/>
              <a:t/>
            </a:r>
          </a:p>
          <a:p xmlns:a="http://schemas.openxmlformats.org/drawingml/2006/main">
            <a:r>
              <a:rPr sz="1400"/>
              <a:t>Uitleg: Laat leerlingen hun eigen werk verbeteren. Volledige controle: TCK 500; TVK 0,80Q; TK 500 + 0,80Q. Bij 500 broden: 1,00; 0,80; 1,80 euro per brood. Bij 1000 broden: 0,50; 0,80; 1,30. Bij e moeten ook de totalen vergeleken zijn: 500/500, 400/800 en 900/1300 euro per maand.</a:t>
            </a:r>
          </a:p>
          <a:p xmlns:a="http://schemas.openxmlformats.org/drawingml/2006/main">
            <a:r>
              <a:rPr sz="1400"/>
              <a:t/>
            </a:r>
          </a:p>
          <a:p xmlns:a="http://schemas.openxmlformats.org/drawingml/2006/main">
            <a:r>
              <a:rPr sz="1400"/>
              <a:t>Misvatting: Een juist eindgetal zonder eenheid of gevraagde redenering is nog geen volledig antwoord.</a:t>
            </a:r>
          </a:p>
          <a:p xmlns:a="http://schemas.openxmlformats.org/drawingml/2006/main">
            <a:r>
              <a:rPr sz="1400"/>
              <a:t/>
            </a:r>
          </a:p>
          <a:p xmlns:a="http://schemas.openxmlformats.org/drawingml/2006/main">
            <a:r>
              <a:rPr sz="1400"/>
              <a:t>Overgang: Laat de laatste overzichtsdia staan en laat het huiswerk in de agenda zetten.</a:t>
            </a:r>
          </a:p>
          <a:p xmlns:a="http://schemas.openxmlformats.org/drawingml/2006/main">
            <a:r>
              <a:rPr sz="1400"/>
              <a:t/>
            </a:r>
          </a:p>
          <a:p xmlns:a="http://schemas.openxmlformats.org/drawingml/2006/main">
            <a:r>
              <a:rPr sz="1400"/>
              <a:t>Bron: leerlingenboek Boek 2, chatuitgave 2026, actuele revisie 21 september 2026, gedrukte pagina 8. https://github.com/meijer1973/4veco-lessen/blob/f6518f513d1f22f82922d4a8d3d3842c369b14f7/Boek%202%20-%20Kosten%2C%20opbrengsten%2C%20elasticiteit%20en%20surplus/edities/chat-2026/boek/Boek_2_Compleet.pdf</a:t>
            </a:r>
          </a:p>
          <a:p xmlns:a="http://schemas.openxmlformats.org/drawingml/2006/main">
            <a:r>
              <a:rPr sz="1400"/>
              <a:t>Antwoordmodel: https://github.com/meijer1973/4veco-lessen/blob/f6518f513d1f22f82922d4a8d3d3842c369b14f7/Boek%202%20-%20Kosten%2C%20opbrengsten%2C%20elasticiteit%20en%20surplus/edities/chat-2026/boek/Boek_2_Compleet_Antwoorden.pdf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ben je in de oefenroute?</a:t>
            </a:r>
          </a:p>
          <a:p xmlns:a="http://schemas.openxmlformats.org/drawingml/2006/main">
            <a:r>
              <a:rPr sz="1400"/>
              <a:t/>
            </a:r>
          </a:p>
          <a:p xmlns:a="http://schemas.openxmlformats.org/drawingml/2006/main">
            <a:r>
              <a:rPr sz="1400"/>
              <a:t>Uitleg: Laat deze dia staan tijdens afsluiting / huiswerk. De docent heeft expliciet gekozen voor opgaven 1 en 2 als startopdracht. Opgaven 3 en 4 zijn basis, 5 en 6 zelfstandig, 7 doel. Huiswerk: 3, 4, 5, 6 en 7 maken en nakijken. Start 1–2 en basis 3 staan op pagina 6; basis 4 en zelfstandig 5–6 staan op pagina 7; doel 7 op pagina 8. De volledige oefenroute hoeft niet binnen één les af te zijn.</a:t>
            </a:r>
          </a:p>
          <a:p xmlns:a="http://schemas.openxmlformats.org/drawingml/2006/main">
            <a:r>
              <a:rPr sz="1400"/>
              <a:t/>
            </a:r>
          </a:p>
          <a:p xmlns:a="http://schemas.openxmlformats.org/drawingml/2006/main">
            <a:r>
              <a:rPr sz="1400"/>
              <a:t>Misvatting: Gebruik het gedrukte paginanummer: pagina 6 is de achtste fysieke pagina van het complete PDF-bestand.</a:t>
            </a:r>
          </a:p>
          <a:p xmlns:a="http://schemas.openxmlformats.org/drawingml/2006/main">
            <a:r>
              <a:rPr sz="1400"/>
              <a:t/>
            </a:r>
          </a:p>
          <a:p xmlns:a="http://schemas.openxmlformats.org/drawingml/2006/main">
            <a:r>
              <a:rPr sz="1400"/>
              <a:t>Overgang: Laat leerlingen het huiswerk noteren.</a:t>
            </a:r>
          </a:p>
          <a:p xmlns:a="http://schemas.openxmlformats.org/drawingml/2006/main">
            <a:r>
              <a:rPr sz="1400"/>
              <a:t/>
            </a:r>
          </a:p>
          <a:p xmlns:a="http://schemas.openxmlformats.org/drawingml/2006/main">
            <a:r>
              <a:rPr sz="1400"/>
              <a:t>Bron: leerlingenboek Boek 2, chatuitgave 2026, actuele revisie 21 september 2026, gedrukte pagina 6–8. https://github.com/meijer1973/4veco-lessen/blob/f6518f513d1f22f82922d4a8d3d3842c369b14f7/Boek%202%20-%20Kosten%2C%20opbrengsten%2C%20elasticiteit%20en%20surplus/edities/chat-2026/boek/Boek_2_Compleet.pdf</a:t>
            </a:r>
          </a:p>
          <a:p xmlns:a="http://schemas.openxmlformats.org/drawingml/2006/main">
            <a:r>
              <a:rPr sz="1400"/>
              <a:t>Antwoordmodel: https://github.com/meijer1973/4veco-lessen/blob/f6518f513d1f22f82922d4a8d3d3842c369b14f7/Boek%202%20-%20Kosten%2C%20opbrengsten%2C%20elasticiteit%20en%20surplus/edities/chat-2026/boek/Boek_2_Compleet_Antwoorden.pdf</a:t>
            </a:r>
          </a:p>
          <a:p xmlns:a="http://schemas.openxmlformats.org/drawingml/2006/main">
            <a:r>
              <a:rPr sz="1400"/>
              <a:t>Terminologie: het boek noemt 1–2 Startopgaven en 3–4 Begeleide inoefening. De docent heeft bovenstaande indeling bevestigd. Startantwoorden: 1a € 100; 1b € 5 per deelnemer. 2a huur € 600 in beide situaties, inkt € 100 respectievelijk € 200 per maand. 2b € 600 zijn TCK; GCK is € 1,20 respectievelijk € 0,60 per poster.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aaed709f3f47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5a91650de645fd" /><Relationship Type="http://schemas.openxmlformats.org/officeDocument/2006/relationships/slideLayout" Target="/ppt/slideLayouts/slideLayout1.xml" Id="Rcab465cde5eb44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b465cde5eb44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9da1dd6b37844bb" /><Relationship Type="http://schemas.openxmlformats.org/officeDocument/2006/relationships/notesSlide" Target="/ppt/notesSlides/notesSlide1.xml" Id="Rad3b7d04ce5642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a2cdce1ed6c4299" /><Relationship Type="http://schemas.openxmlformats.org/officeDocument/2006/relationships/notesSlide" Target="/ppt/notesSlides/notesSlide2.xml" Id="R172799e1ad0045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3595b01f1794464" /><Relationship Type="http://schemas.openxmlformats.org/officeDocument/2006/relationships/notesSlide" Target="/ppt/notesSlides/notesSlide3.xml" Id="R35d6c50bee5240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94fb84568af4774" /><Relationship Type="http://schemas.openxmlformats.org/officeDocument/2006/relationships/notesSlide" Target="/ppt/notesSlides/notesSlide4.xml" Id="Ra8dc70c6b76746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6702fa38e594b7d" /><Relationship Type="http://schemas.openxmlformats.org/officeDocument/2006/relationships/chart" Target="/ppt/slides/charts/chart1.xml" Id="R7dc39b37d8154184" /><Relationship Type="http://schemas.openxmlformats.org/officeDocument/2006/relationships/notesSlide" Target="/ppt/notesSlides/notesSlide5.xml" Id="R9a44d374daca4cb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416e58198974717" /><Relationship Type="http://schemas.openxmlformats.org/officeDocument/2006/relationships/chart" Target="/ppt/slides/charts/chart2.xml" Id="R41ece709f0414556" /><Relationship Type="http://schemas.openxmlformats.org/officeDocument/2006/relationships/notesSlide" Target="/ppt/notesSlides/notesSlide6.xml" Id="R6f4c4bad795242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71d9a1023984127" /><Relationship Type="http://schemas.openxmlformats.org/officeDocument/2006/relationships/notesSlide" Target="/ppt/notesSlides/notesSlide7.xml" Id="R3172ca9ac6dd4bd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acf488e28a74108" /><Relationship Type="http://schemas.openxmlformats.org/officeDocument/2006/relationships/notesSlide" Target="/ppt/notesSlides/notesSlide8.xml" Id="R45fb4f8c4f6c494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a4679e810d141e1" /><Relationship Type="http://schemas.openxmlformats.org/officeDocument/2006/relationships/notesSlide" Target="/ppt/notesSlides/notesSlide9.xml" Id="R777f3a7d4d9a41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94aff6a24c24627" /><Relationship Type="http://schemas.openxmlformats.org/officeDocument/2006/relationships/notesSlide" Target="/ppt/notesSlides/notesSlide10.xml" Id="R0b2cc31846c043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7d5b98fc99f4d54" /><Relationship Type="http://schemas.openxmlformats.org/officeDocument/2006/relationships/notesSlide" Target="/ppt/notesSlides/notesSlide11.xml" Id="Rbec0b38a687e4a8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70a7f15998e4f8f" /><Relationship Type="http://schemas.openxmlformats.org/officeDocument/2006/relationships/notesSlide" Target="/ppt/notesSlides/notesSlide12.xml" Id="Rb75f7efd0dfc407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217a7ad1bc44821" /><Relationship Type="http://schemas.openxmlformats.org/officeDocument/2006/relationships/notesSlide" Target="/ppt/notesSlides/notesSlide13.xml" Id="R3729d15239f8493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fc732cf1c124c49" /><Relationship Type="http://schemas.openxmlformats.org/officeDocument/2006/relationships/notesSlide" Target="/ppt/notesSlides/notesSlide14.xml" Id="Re4d53b4052b041e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73bdc1131824ca1" /><Relationship Type="http://schemas.openxmlformats.org/officeDocument/2006/relationships/notesSlide" Target="/ppt/notesSlides/notesSlide15.xml" Id="R25cf6a7e24c747f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af977f6b8b44835" /><Relationship Type="http://schemas.openxmlformats.org/officeDocument/2006/relationships/notesSlide" Target="/ppt/notesSlides/notesSlide16.xml" Id="R34dcac944221467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28f8aa1dbe84aa6" /><Relationship Type="http://schemas.openxmlformats.org/officeDocument/2006/relationships/notesSlide" Target="/ppt/notesSlides/notesSlide17.xml" Id="R42bc2228099c4e8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d81c396e10f4c4b" /><Relationship Type="http://schemas.openxmlformats.org/officeDocument/2006/relationships/notesSlide" Target="/ppt/notesSlides/notesSlide18.xml" Id="R720e059d06b84cc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aaf4dca1ebe4d39" /><Relationship Type="http://schemas.openxmlformats.org/officeDocument/2006/relationships/notesSlide" Target="/ppt/notesSlides/notesSlide19.xml" Id="R29b0550bb4fd404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8722ff75f2a4992" /><Relationship Type="http://schemas.openxmlformats.org/officeDocument/2006/relationships/notesSlide" Target="/ppt/notesSlides/notesSlide20.xml" Id="R301118a41c8047f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de18aea7f014f8e" /><Relationship Type="http://schemas.openxmlformats.org/officeDocument/2006/relationships/notesSlide" Target="/ppt/notesSlides/notesSlide21.xml" Id="R6652e2bddaba46b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0065dbc68524c9b" /><Relationship Type="http://schemas.openxmlformats.org/officeDocument/2006/relationships/notesSlide" Target="/ppt/notesSlides/notesSlide22.xml" Id="R3c9ec9b1302e4f6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81004b6e21a44a5" /><Relationship Type="http://schemas.openxmlformats.org/officeDocument/2006/relationships/notesSlide" Target="/ppt/notesSlides/notesSlide23.xml" Id="R1471f0ed744543e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TCK = 300</c:v>
          </c:tx>
          <c:spPr>
            <a:ln xmlns:a="http://schemas.openxmlformats.org/drawingml/2006/main" w="38100">
              <a:solidFill>
                <a:srgbClr val="17658A"/>
              </a:solidFill>
              <a:prstDash val="dash"/>
            </a:ln>
          </c:spPr>
          <c:marker>
            <c:symbol val="square"/>
            <c:size val="7"/>
            <c:spPr>
              <a:solidFill xmlns:a="http://schemas.openxmlformats.org/drawingml/2006/main">
                <a:srgbClr val="17658A"/>
              </a:solidFill>
            </c:spPr>
          </c:marker>
          <c:xVal>
            <c:numRef>
              <c:f>'Chart Data'!$A$2:$A$5</c:f>
              <c:numCache>
                <c:formatCode>General</c:formatCode>
                <c:ptCount val="4"/>
                <c:pt idx="0">
                  <c:v>0</c:v>
                </c:pt>
                <c:pt idx="1">
                  <c:v>200</c:v>
                </c:pt>
                <c:pt idx="2">
                  <c:v>400</c:v>
                </c:pt>
                <c:pt idx="3">
                  <c:v>600</c:v>
                </c:pt>
              </c:numCache>
            </c:numRef>
          </c:xVal>
          <c:yVal>
            <c:numRef>
              <c:f>'Chart Data'!$B$2:$B$5</c:f>
              <c:numCache>
                <c:formatCode>#,##0</c:formatCode>
                <c:ptCount val="4"/>
                <c:pt idx="0">
                  <c:v>300</c:v>
                </c:pt>
                <c:pt idx="1">
                  <c:v>300</c:v>
                </c:pt>
                <c:pt idx="2">
                  <c:v>300</c:v>
                </c:pt>
                <c:pt idx="3">
                  <c:v>300</c:v>
                </c:pt>
              </c:numCache>
            </c:numRef>
          </c:yVal>
        </c:ser>
        <c:ser>
          <c:idx val="1"/>
          <c:order val="1"/>
          <c:tx>
            <c:v>TVK = 2Q</c:v>
          </c:tx>
          <c:spPr>
            <a:ln xmlns:a="http://schemas.openxmlformats.org/drawingml/2006/main" w="38100">
              <a:solidFill>
                <a:srgbClr val="20665B"/>
              </a:solidFill>
            </a:ln>
          </c:spPr>
          <c:marker>
            <c:symbol val="circle"/>
            <c:size val="7"/>
            <c:spPr>
              <a:solidFill xmlns:a="http://schemas.openxmlformats.org/drawingml/2006/main">
                <a:srgbClr val="20665B"/>
              </a:solidFill>
            </c:spPr>
          </c:marker>
          <c:xVal>
            <c:numRef>
              <c:f>'Chart Data'!$C$2:$C$5</c:f>
              <c:numCache>
                <c:formatCode>General</c:formatCode>
                <c:ptCount val="4"/>
                <c:pt idx="0">
                  <c:v>0</c:v>
                </c:pt>
                <c:pt idx="1">
                  <c:v>200</c:v>
                </c:pt>
                <c:pt idx="2">
                  <c:v>400</c:v>
                </c:pt>
                <c:pt idx="3">
                  <c:v>600</c:v>
                </c:pt>
              </c:numCache>
            </c:numRef>
          </c:xVal>
          <c:yVal>
            <c:numRef>
              <c:f>'Chart Data'!$D$2:$D$5</c:f>
              <c:numCache>
                <c:formatCode>#,##0</c:formatCode>
                <c:ptCount val="4"/>
                <c:pt idx="0">
                  <c:v>0</c:v>
                </c:pt>
                <c:pt idx="1">
                  <c:v>400</c:v>
                </c:pt>
                <c:pt idx="2">
                  <c:v>800</c:v>
                </c:pt>
                <c:pt idx="3">
                  <c:v>1200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50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Kosten (€ per maand)</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300"/>
      </c:valAx>
      <c:valAx>
        <c:axId val="48650112"/>
        <c:scaling>
          <c:orientation val="minMax"/>
          <c:max val="60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(flessen per maand)</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TCK = 300</c:v>
          </c:tx>
          <c:spPr>
            <a:ln xmlns:a="http://schemas.openxmlformats.org/drawingml/2006/main" w="38100">
              <a:solidFill>
                <a:srgbClr val="17658A"/>
              </a:solidFill>
              <a:prstDash val="dash"/>
            </a:ln>
          </c:spPr>
          <c:marker>
            <c:symbol val="square"/>
            <c:size val="7"/>
            <c:spPr>
              <a:solidFill xmlns:a="http://schemas.openxmlformats.org/drawingml/2006/main">
                <a:srgbClr val="17658A"/>
              </a:solidFill>
            </c:spPr>
          </c:marker>
          <c:xVal>
            <c:numRef>
              <c:f>'Chart Data'!$A$2:$A$5</c:f>
              <c:numCache>
                <c:formatCode>General</c:formatCode>
                <c:ptCount val="4"/>
                <c:pt idx="0">
                  <c:v>0</c:v>
                </c:pt>
                <c:pt idx="1">
                  <c:v>200</c:v>
                </c:pt>
                <c:pt idx="2">
                  <c:v>400</c:v>
                </c:pt>
                <c:pt idx="3">
                  <c:v>600</c:v>
                </c:pt>
              </c:numCache>
            </c:numRef>
          </c:xVal>
          <c:yVal>
            <c:numRef>
              <c:f>'Chart Data'!$B$2:$B$5</c:f>
              <c:numCache>
                <c:formatCode>#,##0</c:formatCode>
                <c:ptCount val="4"/>
                <c:pt idx="0">
                  <c:v>300</c:v>
                </c:pt>
                <c:pt idx="1">
                  <c:v>300</c:v>
                </c:pt>
                <c:pt idx="2">
                  <c:v>300</c:v>
                </c:pt>
                <c:pt idx="3">
                  <c:v>300</c:v>
                </c:pt>
              </c:numCache>
            </c:numRef>
          </c:yVal>
        </c:ser>
        <c:ser>
          <c:idx val="1"/>
          <c:order val="1"/>
          <c:tx>
            <c:v>TVK = 2Q</c:v>
          </c:tx>
          <c:spPr>
            <a:ln xmlns:a="http://schemas.openxmlformats.org/drawingml/2006/main" w="38100">
              <a:solidFill>
                <a:srgbClr val="20665B"/>
              </a:solidFill>
            </a:ln>
          </c:spPr>
          <c:marker>
            <c:symbol val="circle"/>
            <c:size val="7"/>
            <c:spPr>
              <a:solidFill xmlns:a="http://schemas.openxmlformats.org/drawingml/2006/main">
                <a:srgbClr val="20665B"/>
              </a:solidFill>
            </c:spPr>
          </c:marker>
          <c:xVal>
            <c:numRef>
              <c:f>'Chart Data'!$C$2:$C$5</c:f>
              <c:numCache>
                <c:formatCode>General</c:formatCode>
                <c:ptCount val="4"/>
                <c:pt idx="0">
                  <c:v>0</c:v>
                </c:pt>
                <c:pt idx="1">
                  <c:v>200</c:v>
                </c:pt>
                <c:pt idx="2">
                  <c:v>400</c:v>
                </c:pt>
                <c:pt idx="3">
                  <c:v>600</c:v>
                </c:pt>
              </c:numCache>
            </c:numRef>
          </c:xVal>
          <c:yVal>
            <c:numRef>
              <c:f>'Chart Data'!$D$2:$D$5</c:f>
              <c:numCache>
                <c:formatCode>#,##0</c:formatCode>
                <c:ptCount val="4"/>
                <c:pt idx="0">
                  <c:v>0</c:v>
                </c:pt>
                <c:pt idx="1">
                  <c:v>400</c:v>
                </c:pt>
                <c:pt idx="2">
                  <c:v>800</c:v>
                </c:pt>
                <c:pt idx="3">
                  <c:v>1200</c:v>
                </c:pt>
              </c:numCache>
            </c:numRef>
          </c:yVal>
        </c:ser>
        <c:ser>
          <c:idx val="2"/>
          <c:order val="2"/>
          <c:tx>
            <c:v>TK = 300 + 2Q</c:v>
          </c:tx>
          <c:spPr>
            <a:ln xmlns:a="http://schemas.openxmlformats.org/drawingml/2006/main" w="47625">
              <a:solidFill>
                <a:srgbClr val="A94D16"/>
              </a:solidFill>
            </a:ln>
          </c:spPr>
          <c:marker>
            <c:symbol val="triangle"/>
            <c:size val="8"/>
            <c:spPr>
              <a:solidFill xmlns:a="http://schemas.openxmlformats.org/drawingml/2006/main">
                <a:srgbClr val="A94D16"/>
              </a:solidFill>
            </c:spPr>
          </c:marker>
          <c:xVal>
            <c:numRef>
              <c:f>'Chart Data'!$E$2:$E$5</c:f>
              <c:numCache>
                <c:formatCode>General</c:formatCode>
                <c:ptCount val="4"/>
                <c:pt idx="0">
                  <c:v>0</c:v>
                </c:pt>
                <c:pt idx="1">
                  <c:v>200</c:v>
                </c:pt>
                <c:pt idx="2">
                  <c:v>400</c:v>
                </c:pt>
                <c:pt idx="3">
                  <c:v>600</c:v>
                </c:pt>
              </c:numCache>
            </c:numRef>
          </c:xVal>
          <c:yVal>
            <c:numRef>
              <c:f>'Chart Data'!$F$2:$F$5</c:f>
              <c:numCache>
                <c:formatCode>#,##0</c:formatCode>
                <c:ptCount val="4"/>
                <c:pt idx="0">
                  <c:v>300</c:v>
                </c:pt>
                <c:pt idx="1">
                  <c:v>700</c:v>
                </c:pt>
                <c:pt idx="2">
                  <c:v>1100</c:v>
                </c:pt>
                <c:pt idx="3">
                  <c:v>1500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50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Kosten (€ per maand)</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300"/>
      </c:valAx>
      <c:valAx>
        <c:axId val="48650112"/>
        <c:scaling>
          <c:orientation val="minMax"/>
          <c:max val="60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(flessen per maand)</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1.1 Kostenstructuren">
            <a:extLst xmlns:a="http://schemas.openxmlformats.org/drawingml/2006/main">
              <a:ext uri="{FF2B5EF4-FFF2-40B4-BE49-F238E27FC236}">
                <a16:creationId xmlns:a16="http://schemas.microsoft.com/office/drawing/2014/main" id="{B3AB244A-0A34-4D4D-A4DA-34BC58B83F4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§2.1.1 Kostenstructuren</a:t>
            </a:r>
          </a:p>
        </p:txBody>
      </p:sp>
      <p:sp>
        <p:nvSpPr>
          <p:cNvPr id="2" name="">
            <a:extLst xmlns:a="http://schemas.openxmlformats.org/drawingml/2006/main">
              <a:ext uri="{FF2B5EF4-FFF2-40B4-BE49-F238E27FC236}">
                <a16:creationId xmlns:a16="http://schemas.microsoft.com/office/drawing/2014/main" id="{FAA64E04-0ABB-40F2-8FE8-3D8EDB01AEB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1 Kostenstructuren">
            <a:extLst xmlns:a="http://schemas.openxmlformats.org/drawingml/2006/main">
              <a:ext uri="{FF2B5EF4-FFF2-40B4-BE49-F238E27FC236}">
                <a16:creationId xmlns:a16="http://schemas.microsoft.com/office/drawing/2014/main" id="{399939AF-6C55-4745-9F96-13BB5B9E152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§2.1.1 Kostenstructuren</a:t>
            </a:r>
          </a:p>
        </p:txBody>
      </p:sp>
      <p:sp>
        <p:nvSpPr>
          <p:cNvPr id="4" name="1">
            <a:extLst xmlns:a="http://schemas.openxmlformats.org/drawingml/2006/main">
              <a:ext uri="{FF2B5EF4-FFF2-40B4-BE49-F238E27FC236}">
                <a16:creationId xmlns:a16="http://schemas.microsoft.com/office/drawing/2014/main" id="{CBC1B141-3661-4310-B6C9-B0D1E5A9D04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95DE5170-0B1C-4A0F-BE6D-F7E74486CCBB}"/>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8C79C3D6-DBA3-4AFE-8A0D-595C37B09956}"/>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ECF5D03E-ADF3-4882-8085-77C426BBAFA3}"/>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3CB8659F-0FD7-458F-A269-E65EAB770680}"/>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52B72B83-7702-4968-B6F9-EF08298B4E5E}"/>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CF00A358-6868-45C4-98BD-72659C297A69}"/>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B683538F-D2DB-4B9F-A6F2-B35E3A7336D1}"/>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FC76EF9A-F633-4E03-A139-DD700AC446D7}"/>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60E6FD43-E9EC-4E31-BAA9-991DB6FFAED2}"/>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81486C3B-23EB-4B46-90C3-48EEB4A93B5A}"/>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AEA08F60-5F57-44F4-80B0-3439A79B7C08}"/>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0E0FC6F3-B701-44AF-AB39-A5D33407920D}"/>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997BA096-581E-4DBC-9750-C4EEEC35780E}"/>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D941DF7A-1D07-4402-B1B3-377678DBBD60}"/>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91A7B22B-6B82-4E99-AD0D-197FD1CBEAAC}"/>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0F9152E1-1E3A-4E15-803B-81005610E6F8}"/>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14973DFE-5100-4432-BB0E-343BC34E4E2F}"/>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DFF6092B-1CAD-484D-B47F-7FED78F2415A}"/>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Kosten indelen, functies opstellen,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gemiddelden berekenen 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veranderingen verklaren.</a:t>
            </a:r>
          </a:p>
        </p:txBody>
      </p:sp>
      <p:sp>
        <p:nvSpPr>
          <p:cNvPr id="23" name="">
            <a:extLst xmlns:a="http://schemas.openxmlformats.org/drawingml/2006/main">
              <a:ext uri="{FF2B5EF4-FFF2-40B4-BE49-F238E27FC236}">
                <a16:creationId xmlns:a16="http://schemas.microsoft.com/office/drawing/2014/main" id="{B91FDD66-9F04-47E5-B0B7-867342123476}"/>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9EFE9EC2-B02C-42D0-8CEF-536261E464C3}"/>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EC2BBE51-8ED9-4708-9BBC-9FF4D124EE8B}"/>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Pagina 6</a:t>
            </a:r>
          </a:p>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Opgaven 1 en 2</a:t>
            </a:r>
          </a:p>
        </p:txBody>
      </p:sp>
      <p:sp>
        <p:nvSpPr>
          <p:cNvPr id="26" name="">
            <a:extLst xmlns:a="http://schemas.openxmlformats.org/drawingml/2006/main">
              <a:ext uri="{FF2B5EF4-FFF2-40B4-BE49-F238E27FC236}">
                <a16:creationId xmlns:a16="http://schemas.microsoft.com/office/drawing/2014/main" id="{721D49D4-8261-4A74-BF14-8816970AD97E}"/>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68CF65E1-AADC-48C1-BEA2-DE2962FCF843}"/>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42152A15-33E6-4203-A528-0230C1DF9AF0}"/>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§2.1.1 Kostenstructuren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4379124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Wat kun je na deze les?">
            <a:extLst xmlns:a="http://schemas.openxmlformats.org/drawingml/2006/main">
              <a:ext uri="{FF2B5EF4-FFF2-40B4-BE49-F238E27FC236}">
                <a16:creationId xmlns:a16="http://schemas.microsoft.com/office/drawing/2014/main" id="{67D25EEA-133B-469C-9C21-A78D539CADB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Wat kun je na deze les?</a:t>
            </a:r>
          </a:p>
        </p:txBody>
      </p:sp>
      <p:sp>
        <p:nvSpPr>
          <p:cNvPr id="2" name="">
            <a:extLst xmlns:a="http://schemas.openxmlformats.org/drawingml/2006/main">
              <a:ext uri="{FF2B5EF4-FFF2-40B4-BE49-F238E27FC236}">
                <a16:creationId xmlns:a16="http://schemas.microsoft.com/office/drawing/2014/main" id="{57395119-1A52-4441-A608-32DDF7C9423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1 Kostenstructuren">
            <a:extLst xmlns:a="http://schemas.openxmlformats.org/drawingml/2006/main">
              <a:ext uri="{FF2B5EF4-FFF2-40B4-BE49-F238E27FC236}">
                <a16:creationId xmlns:a16="http://schemas.microsoft.com/office/drawing/2014/main" id="{AA1866C7-BF93-4F94-9695-8375551D445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§2.1.1 Kostenstructuren</a:t>
            </a:r>
          </a:p>
        </p:txBody>
      </p:sp>
      <p:sp>
        <p:nvSpPr>
          <p:cNvPr id="4" name="2">
            <a:extLst xmlns:a="http://schemas.openxmlformats.org/drawingml/2006/main">
              <a:ext uri="{FF2B5EF4-FFF2-40B4-BE49-F238E27FC236}">
                <a16:creationId xmlns:a16="http://schemas.microsoft.com/office/drawing/2014/main" id="{F3054E77-F58B-41F9-94A8-9C1C60BED38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Kosten indelen">
            <a:extLst xmlns:a="http://schemas.openxmlformats.org/drawingml/2006/main">
              <a:ext uri="{FF2B5EF4-FFF2-40B4-BE49-F238E27FC236}">
                <a16:creationId xmlns:a16="http://schemas.microsoft.com/office/drawing/2014/main" id="{DA2F413E-42FE-4838-A8D8-74375A463214}"/>
              </a:ext>
            </a:extLst>
          </p:cNvPr>
          <p:cNvSpPr>
            <a:spLocks xmlns:a="http://schemas.openxmlformats.org/drawingml/2006/main" noGrp="1"/>
          </p:cNvSpPr>
          <p:nvPr/>
        </p:nvSpPr>
        <p:spPr>
          <a:xfrm xmlns:a="http://schemas.openxmlformats.org/drawingml/2006/main">
            <a:off x="571500" y="1905000"/>
            <a:ext cx="571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Kosten indelen</a:t>
            </a:r>
          </a:p>
        </p:txBody>
      </p:sp>
      <p:sp>
        <p:nvSpPr>
          <p:cNvPr id="6" name="Je legt uit welke totale bedragen veranderen bij m">
            <a:extLst xmlns:a="http://schemas.openxmlformats.org/drawingml/2006/main">
              <a:ext uri="{FF2B5EF4-FFF2-40B4-BE49-F238E27FC236}">
                <a16:creationId xmlns:a16="http://schemas.microsoft.com/office/drawing/2014/main" id="{26E52718-8F3A-4979-87EF-5A97A50F8462}"/>
              </a:ext>
            </a:extLst>
          </p:cNvPr>
          <p:cNvSpPr>
            <a:spLocks xmlns:a="http://schemas.openxmlformats.org/drawingml/2006/main" noGrp="1"/>
          </p:cNvSpPr>
          <p:nvPr/>
        </p:nvSpPr>
        <p:spPr>
          <a:xfrm xmlns:a="http://schemas.openxmlformats.org/drawingml/2006/main">
            <a:off x="6619875" y="1905000"/>
            <a:ext cx="7810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Je legt uit welke totale bedragen veranderen bij meer productie.</a:t>
            </a:r>
          </a:p>
        </p:txBody>
      </p:sp>
      <p:sp>
        <p:nvSpPr>
          <p:cNvPr id="7" name="">
            <a:extLst xmlns:a="http://schemas.openxmlformats.org/drawingml/2006/main">
              <a:ext uri="{FF2B5EF4-FFF2-40B4-BE49-F238E27FC236}">
                <a16:creationId xmlns:a16="http://schemas.microsoft.com/office/drawing/2014/main" id="{8D78C250-C49F-48ED-9B7B-45E2ACDF0F20}"/>
              </a:ext>
            </a:extLst>
          </p:cNvPr>
          <p:cNvSpPr>
            <a:spLocks xmlns:a="http://schemas.openxmlformats.org/drawingml/2006/main" noGrp="1"/>
          </p:cNvSpPr>
          <p:nvPr/>
        </p:nvSpPr>
        <p:spPr>
          <a:xfrm xmlns:a="http://schemas.openxmlformats.org/drawingml/2006/main">
            <a:off x="571500" y="3028950"/>
            <a:ext cx="14097000" cy="0"/>
          </a:xfrm>
          <a:prstGeom xmlns:a="http://schemas.openxmlformats.org/drawingml/2006/main" prst="line">
            <a:avLst/>
          </a:prstGeom>
          <a:ln xmlns:a="http://schemas.openxmlformats.org/drawingml/2006/main" w="19050">
            <a:solidFill>
              <a:srgbClr val="C6D2DB"/>
            </a:solidFill>
          </a:ln>
        </p:spPr>
      </p:sp>
      <p:sp>
        <p:nvSpPr>
          <p:cNvPr id="8" name="Kostenfuncties opstellen">
            <a:extLst xmlns:a="http://schemas.openxmlformats.org/drawingml/2006/main">
              <a:ext uri="{FF2B5EF4-FFF2-40B4-BE49-F238E27FC236}">
                <a16:creationId xmlns:a16="http://schemas.microsoft.com/office/drawing/2014/main" id="{F45D795C-CB3D-4727-AB41-96B40D3B5DCE}"/>
              </a:ext>
            </a:extLst>
          </p:cNvPr>
          <p:cNvSpPr>
            <a:spLocks xmlns:a="http://schemas.openxmlformats.org/drawingml/2006/main" noGrp="1"/>
          </p:cNvSpPr>
          <p:nvPr/>
        </p:nvSpPr>
        <p:spPr>
          <a:xfrm xmlns:a="http://schemas.openxmlformats.org/drawingml/2006/main">
            <a:off x="571500" y="3295650"/>
            <a:ext cx="571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Kostenfuncties opstellen</a:t>
            </a:r>
          </a:p>
        </p:txBody>
      </p:sp>
      <p:sp>
        <p:nvSpPr>
          <p:cNvPr id="9" name="Je schrijft TCK, TVK en TK als functie van Q.">
            <a:extLst xmlns:a="http://schemas.openxmlformats.org/drawingml/2006/main">
              <a:ext uri="{FF2B5EF4-FFF2-40B4-BE49-F238E27FC236}">
                <a16:creationId xmlns:a16="http://schemas.microsoft.com/office/drawing/2014/main" id="{51439FE0-7E35-4DB5-A041-4594C5242632}"/>
              </a:ext>
            </a:extLst>
          </p:cNvPr>
          <p:cNvSpPr>
            <a:spLocks xmlns:a="http://schemas.openxmlformats.org/drawingml/2006/main" noGrp="1"/>
          </p:cNvSpPr>
          <p:nvPr/>
        </p:nvSpPr>
        <p:spPr>
          <a:xfrm xmlns:a="http://schemas.openxmlformats.org/drawingml/2006/main">
            <a:off x="6619875" y="3295650"/>
            <a:ext cx="7810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Je schrijft TCK, TVK en TK als functie van Q.</a:t>
            </a:r>
          </a:p>
        </p:txBody>
      </p:sp>
      <p:sp>
        <p:nvSpPr>
          <p:cNvPr id="10" name="">
            <a:extLst xmlns:a="http://schemas.openxmlformats.org/drawingml/2006/main">
              <a:ext uri="{FF2B5EF4-FFF2-40B4-BE49-F238E27FC236}">
                <a16:creationId xmlns:a16="http://schemas.microsoft.com/office/drawing/2014/main" id="{F75F3044-469C-4B34-A711-5447C543A293}"/>
              </a:ext>
            </a:extLst>
          </p:cNvPr>
          <p:cNvSpPr>
            <a:spLocks xmlns:a="http://schemas.openxmlformats.org/drawingml/2006/main" noGrp="1"/>
          </p:cNvSpPr>
          <p:nvPr/>
        </p:nvSpPr>
        <p:spPr>
          <a:xfrm xmlns:a="http://schemas.openxmlformats.org/drawingml/2006/main">
            <a:off x="571500" y="4419600"/>
            <a:ext cx="14097000" cy="0"/>
          </a:xfrm>
          <a:prstGeom xmlns:a="http://schemas.openxmlformats.org/drawingml/2006/main" prst="line">
            <a:avLst/>
          </a:prstGeom>
          <a:ln xmlns:a="http://schemas.openxmlformats.org/drawingml/2006/main" w="19050">
            <a:solidFill>
              <a:srgbClr val="C6D2DB"/>
            </a:solidFill>
          </a:ln>
        </p:spPr>
      </p:sp>
      <p:sp>
        <p:nvSpPr>
          <p:cNvPr id="11" name="Kosten per product berekenen">
            <a:extLst xmlns:a="http://schemas.openxmlformats.org/drawingml/2006/main">
              <a:ext uri="{FF2B5EF4-FFF2-40B4-BE49-F238E27FC236}">
                <a16:creationId xmlns:a16="http://schemas.microsoft.com/office/drawing/2014/main" id="{D93A4DB0-9064-47CC-B9C4-B3A497DADB81}"/>
              </a:ext>
            </a:extLst>
          </p:cNvPr>
          <p:cNvSpPr>
            <a:spLocks xmlns:a="http://schemas.openxmlformats.org/drawingml/2006/main" noGrp="1"/>
          </p:cNvSpPr>
          <p:nvPr/>
        </p:nvSpPr>
        <p:spPr>
          <a:xfrm xmlns:a="http://schemas.openxmlformats.org/drawingml/2006/main">
            <a:off x="571500" y="4686300"/>
            <a:ext cx="571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Kosten per product berekenen</a:t>
            </a:r>
          </a:p>
        </p:txBody>
      </p:sp>
      <p:sp>
        <p:nvSpPr>
          <p:cNvPr id="12" name="Je berekent GCK, GVK en GTK met de juiste eenheid.">
            <a:extLst xmlns:a="http://schemas.openxmlformats.org/drawingml/2006/main">
              <a:ext uri="{FF2B5EF4-FFF2-40B4-BE49-F238E27FC236}">
                <a16:creationId xmlns:a16="http://schemas.microsoft.com/office/drawing/2014/main" id="{9A0F646A-7874-4BD7-A4C1-419755FB44CE}"/>
              </a:ext>
            </a:extLst>
          </p:cNvPr>
          <p:cNvSpPr>
            <a:spLocks xmlns:a="http://schemas.openxmlformats.org/drawingml/2006/main" noGrp="1"/>
          </p:cNvSpPr>
          <p:nvPr/>
        </p:nvSpPr>
        <p:spPr>
          <a:xfrm xmlns:a="http://schemas.openxmlformats.org/drawingml/2006/main">
            <a:off x="6619875" y="4686300"/>
            <a:ext cx="7810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Je berekent GCK, GVK en GTK met de juiste eenheid.</a:t>
            </a:r>
          </a:p>
        </p:txBody>
      </p:sp>
      <p:sp>
        <p:nvSpPr>
          <p:cNvPr id="13" name="">
            <a:extLst xmlns:a="http://schemas.openxmlformats.org/drawingml/2006/main">
              <a:ext uri="{FF2B5EF4-FFF2-40B4-BE49-F238E27FC236}">
                <a16:creationId xmlns:a16="http://schemas.microsoft.com/office/drawing/2014/main" id="{441B4179-606F-4535-8D67-8B59D027F0EE}"/>
              </a:ext>
            </a:extLst>
          </p:cNvPr>
          <p:cNvSpPr>
            <a:spLocks xmlns:a="http://schemas.openxmlformats.org/drawingml/2006/main" noGrp="1"/>
          </p:cNvSpPr>
          <p:nvPr/>
        </p:nvSpPr>
        <p:spPr>
          <a:xfrm xmlns:a="http://schemas.openxmlformats.org/drawingml/2006/main">
            <a:off x="571500" y="5810250"/>
            <a:ext cx="14097000" cy="0"/>
          </a:xfrm>
          <a:prstGeom xmlns:a="http://schemas.openxmlformats.org/drawingml/2006/main" prst="line">
            <a:avLst/>
          </a:prstGeom>
          <a:ln xmlns:a="http://schemas.openxmlformats.org/drawingml/2006/main" w="19050">
            <a:solidFill>
              <a:srgbClr val="C6D2DB"/>
            </a:solidFill>
          </a:ln>
        </p:spPr>
      </p:sp>
      <p:sp>
        <p:nvSpPr>
          <p:cNvPr id="14" name="Een verandering verklaren">
            <a:extLst xmlns:a="http://schemas.openxmlformats.org/drawingml/2006/main">
              <a:ext uri="{FF2B5EF4-FFF2-40B4-BE49-F238E27FC236}">
                <a16:creationId xmlns:a16="http://schemas.microsoft.com/office/drawing/2014/main" id="{7BBEC662-6B55-47C8-8D14-30B695DAA496}"/>
              </a:ext>
            </a:extLst>
          </p:cNvPr>
          <p:cNvSpPr>
            <a:spLocks xmlns:a="http://schemas.openxmlformats.org/drawingml/2006/main" noGrp="1"/>
          </p:cNvSpPr>
          <p:nvPr/>
        </p:nvSpPr>
        <p:spPr>
          <a:xfrm xmlns:a="http://schemas.openxmlformats.org/drawingml/2006/main">
            <a:off x="571500" y="6076950"/>
            <a:ext cx="571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Een verandering verklaren</a:t>
            </a:r>
          </a:p>
        </p:txBody>
      </p:sp>
      <p:sp>
        <p:nvSpPr>
          <p:cNvPr id="15" name="Je legt uit waarom TK kan stijgen terwijl GTK daal">
            <a:extLst xmlns:a="http://schemas.openxmlformats.org/drawingml/2006/main">
              <a:ext uri="{FF2B5EF4-FFF2-40B4-BE49-F238E27FC236}">
                <a16:creationId xmlns:a16="http://schemas.microsoft.com/office/drawing/2014/main" id="{3E0A4EB4-D833-4A64-BBE1-C5307F710DB2}"/>
              </a:ext>
            </a:extLst>
          </p:cNvPr>
          <p:cNvSpPr>
            <a:spLocks xmlns:a="http://schemas.openxmlformats.org/drawingml/2006/main" noGrp="1"/>
          </p:cNvSpPr>
          <p:nvPr/>
        </p:nvSpPr>
        <p:spPr>
          <a:xfrm xmlns:a="http://schemas.openxmlformats.org/drawingml/2006/main">
            <a:off x="6619875" y="6076950"/>
            <a:ext cx="7810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Je legt uit waarom TK kan stijgen terwijl GTK daalt.</a:t>
            </a:r>
          </a:p>
        </p:txBody>
      </p:sp>
    </p:spTree>
    <p:extLst>
      <p:ext uri="{BB962C8B-B14F-4D97-AF65-F5344CB8AC3E}">
        <p14:creationId xmlns:p14="http://schemas.microsoft.com/office/powerpoint/2010/main" val="15216798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nstante en variabele kosten">
            <a:extLst xmlns:a="http://schemas.openxmlformats.org/drawingml/2006/main">
              <a:ext uri="{FF2B5EF4-FFF2-40B4-BE49-F238E27FC236}">
                <a16:creationId xmlns:a16="http://schemas.microsoft.com/office/drawing/2014/main" id="{32776765-06B3-468D-8857-494367C4552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Constante en variabele kosten</a:t>
            </a:r>
          </a:p>
        </p:txBody>
      </p:sp>
      <p:sp>
        <p:nvSpPr>
          <p:cNvPr id="2" name="">
            <a:extLst xmlns:a="http://schemas.openxmlformats.org/drawingml/2006/main">
              <a:ext uri="{FF2B5EF4-FFF2-40B4-BE49-F238E27FC236}">
                <a16:creationId xmlns:a16="http://schemas.microsoft.com/office/drawing/2014/main" id="{93E8B6AC-7138-45ED-B69C-10DC0F221D4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1 Kostenstructuren">
            <a:extLst xmlns:a="http://schemas.openxmlformats.org/drawingml/2006/main">
              <a:ext uri="{FF2B5EF4-FFF2-40B4-BE49-F238E27FC236}">
                <a16:creationId xmlns:a16="http://schemas.microsoft.com/office/drawing/2014/main" id="{3BEE0129-58AB-4853-B23E-5125C004D4F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§2.1.1 Kostenstructuren</a:t>
            </a:r>
          </a:p>
        </p:txBody>
      </p:sp>
      <p:sp>
        <p:nvSpPr>
          <p:cNvPr id="4" name="3">
            <a:extLst xmlns:a="http://schemas.openxmlformats.org/drawingml/2006/main">
              <a:ext uri="{FF2B5EF4-FFF2-40B4-BE49-F238E27FC236}">
                <a16:creationId xmlns:a16="http://schemas.microsoft.com/office/drawing/2014/main" id="{98F89560-8D9C-47A5-AE57-2B28A8FA8FE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Fles &amp; Co: dezelfde maand, maximaal 600 flessen">
            <a:extLst xmlns:a="http://schemas.openxmlformats.org/drawingml/2006/main">
              <a:ext uri="{FF2B5EF4-FFF2-40B4-BE49-F238E27FC236}">
                <a16:creationId xmlns:a16="http://schemas.microsoft.com/office/drawing/2014/main" id="{D56F9923-AD12-41FE-8080-E8054DEC8C3A}"/>
              </a:ext>
            </a:extLst>
          </p:cNvPr>
          <p:cNvSpPr>
            <a:spLocks xmlns:a="http://schemas.openxmlformats.org/drawingml/2006/main" noGrp="1"/>
          </p:cNvSpPr>
          <p:nvPr/>
        </p:nvSpPr>
        <p:spPr>
          <a:xfrm xmlns:a="http://schemas.openxmlformats.org/drawingml/2006/main">
            <a:off x="571500" y="1743075"/>
            <a:ext cx="1409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Fles &amp; Co: dezelfde maand, maximaal 600 flessen</a:t>
            </a:r>
          </a:p>
        </p:txBody>
      </p:sp>
      <p:graphicFrame>
        <p:nvGraphicFramePr>
          <p:cNvPr id="13" name=""/>
          <p:cNvGraphicFramePr/>
          <p:nvPr/>
        </p:nvGraphicFramePr>
        <p:xfrm>
          <a:off xmlns:a="http://schemas.openxmlformats.org/drawingml/2006/main" x="571500" y="2733675"/>
          <a:ext xmlns:a="http://schemas.openxmlformats.org/drawingml/2006/main" cx="14097000" cy="2876550"/>
        </p:xfrm>
        <a:graphic xmlns:a="http://schemas.openxmlformats.org/drawingml/2006/main">
          <a:graphicData uri="http://schemas.openxmlformats.org/drawingml/2006/table">
            <a:tbl>
              <a:tblPr/>
              <a:tblGrid>
                <a:gridCol w="5095875"/>
                <a:gridCol w="2619375"/>
                <a:gridCol w="2619375"/>
                <a:gridCol w="3762375"/>
              </a:tblGrid>
              <a:tr h="958850">
                <a:tc>
                  <a:txBody>
                    <a:bodyPr lIns="171450" tIns="95250" rIns="152400" bIns="95250"/>
                    <a:lstStyle/>
                    <a:p>
                      <a:r>
                        <a:rPr sz="2550" b="1">
                          <a:solidFill>
                            <a:srgbClr val="FFFFFF"/>
                          </a:solidFill>
                          <a:latin typeface="Arial"/>
                          <a:ea typeface="Arial"/>
                          <a:cs typeface="Arial"/>
                        </a:rPr>
                        <a:t>Kostenpost</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200 flessen</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400 flessen</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Soort kosten</a:t>
                      </a:r>
                    </a:p>
                  </a:txBody>
                  <a:tcPr marL="91440" marR="91440" marT="45720" marB="45720" anchor="ctr">
                    <a:solidFill>
                      <a:srgbClr val="183247"/>
                    </a:solidFill>
                  </a:tcPr>
                </a:tc>
              </a:tr>
              <a:tr h="958850">
                <a:tc>
                  <a:txBody>
                    <a:bodyPr lIns="171450" tIns="95250" rIns="152400" bIns="95250"/>
                    <a:lstStyle/>
                    <a:p>
                      <a:r>
                        <a:rPr sz="2550" b="0">
                          <a:solidFill>
                            <a:srgbClr val="183247"/>
                          </a:solidFill>
                          <a:latin typeface="Arial"/>
                          <a:ea typeface="Arial"/>
                          <a:cs typeface="Arial"/>
                        </a:rPr>
                        <a:t>Huur per maand</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€ 300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€ 300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Constant</a:t>
                      </a:r>
                    </a:p>
                  </a:txBody>
                  <a:tcPr marL="91440" marR="91440" marT="45720" marB="45720" anchor="ctr">
                    <a:solidFill>
                      <a:srgbClr val="FFFFFF"/>
                    </a:solidFill>
                  </a:tcPr>
                </a:tc>
              </a:tr>
              <a:tr h="958850">
                <a:tc>
                  <a:txBody>
                    <a:bodyPr lIns="171450" tIns="95250" rIns="152400" bIns="95250"/>
                    <a:lstStyle/>
                    <a:p>
                      <a:r>
                        <a:rPr sz="2550" b="0">
                          <a:solidFill>
                            <a:srgbClr val="183247"/>
                          </a:solidFill>
                          <a:latin typeface="Arial"/>
                          <a:ea typeface="Arial"/>
                          <a:cs typeface="Arial"/>
                        </a:rPr>
                        <a:t>Materiaal: € 2 per fles</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€ 400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€ 800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Variabel</a:t>
                      </a:r>
                    </a:p>
                  </a:txBody>
                  <a:tcPr marL="91440" marR="91440" marT="45720" marB="45720" anchor="ctr">
                    <a:solidFill>
                      <a:srgbClr val="EFF4F7"/>
                    </a:solidFill>
                  </a:tcPr>
                </a:tc>
              </a:tr>
            </a:tbl>
          </a:graphicData>
        </a:graphic>
      </p:graphicFrame>
      <p:sp>
        <p:nvSpPr>
          <p:cNvPr id="7" name="De indeling hangt af van het totale bedrag als Q v">
            <a:extLst xmlns:a="http://schemas.openxmlformats.org/drawingml/2006/main">
              <a:ext uri="{FF2B5EF4-FFF2-40B4-BE49-F238E27FC236}">
                <a16:creationId xmlns:a16="http://schemas.microsoft.com/office/drawing/2014/main" id="{678453DD-DC35-4EBC-9361-7B956952C5B3}"/>
              </a:ext>
            </a:extLst>
          </p:cNvPr>
          <p:cNvSpPr>
            <a:spLocks xmlns:a="http://schemas.openxmlformats.org/drawingml/2006/main" noGrp="1"/>
          </p:cNvSpPr>
          <p:nvPr/>
        </p:nvSpPr>
        <p:spPr>
          <a:xfrm xmlns:a="http://schemas.openxmlformats.org/drawingml/2006/main">
            <a:off x="571500" y="61912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De indeling hangt af van het totale bedrag als Q verandert.</a:t>
            </a:r>
          </a:p>
        </p:txBody>
      </p:sp>
    </p:spTree>
    <p:extLst>
      <p:ext uri="{BB962C8B-B14F-4D97-AF65-F5344CB8AC3E}">
        <p14:creationId xmlns:p14="http://schemas.microsoft.com/office/powerpoint/2010/main" val="8621464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Van kostenpost naar kostenfunctie">
            <a:extLst xmlns:a="http://schemas.openxmlformats.org/drawingml/2006/main">
              <a:ext uri="{FF2B5EF4-FFF2-40B4-BE49-F238E27FC236}">
                <a16:creationId xmlns:a16="http://schemas.microsoft.com/office/drawing/2014/main" id="{F70992EE-4F5D-4404-A326-7498994D789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Van kostenpost naar kostenfunctie</a:t>
            </a:r>
          </a:p>
        </p:txBody>
      </p:sp>
      <p:sp>
        <p:nvSpPr>
          <p:cNvPr id="2" name="">
            <a:extLst xmlns:a="http://schemas.openxmlformats.org/drawingml/2006/main">
              <a:ext uri="{FF2B5EF4-FFF2-40B4-BE49-F238E27FC236}">
                <a16:creationId xmlns:a16="http://schemas.microsoft.com/office/drawing/2014/main" id="{9380A957-5CD1-44BC-8DA3-F18CF417FE5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1 Kostenstructuren">
            <a:extLst xmlns:a="http://schemas.openxmlformats.org/drawingml/2006/main">
              <a:ext uri="{FF2B5EF4-FFF2-40B4-BE49-F238E27FC236}">
                <a16:creationId xmlns:a16="http://schemas.microsoft.com/office/drawing/2014/main" id="{5D530B08-4BBE-4630-87AC-044A0FA036E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§2.1.1 Kostenstructuren</a:t>
            </a:r>
          </a:p>
        </p:txBody>
      </p:sp>
      <p:sp>
        <p:nvSpPr>
          <p:cNvPr id="4" name="4">
            <a:extLst xmlns:a="http://schemas.openxmlformats.org/drawingml/2006/main">
              <a:ext uri="{FF2B5EF4-FFF2-40B4-BE49-F238E27FC236}">
                <a16:creationId xmlns:a16="http://schemas.microsoft.com/office/drawing/2014/main" id="{2F8E9B4D-0D82-4476-BCA3-F2E75FC622F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Q = aantal flessen per maand">
            <a:extLst xmlns:a="http://schemas.openxmlformats.org/drawingml/2006/main">
              <a:ext uri="{FF2B5EF4-FFF2-40B4-BE49-F238E27FC236}">
                <a16:creationId xmlns:a16="http://schemas.microsoft.com/office/drawing/2014/main" id="{563948DD-6036-4621-9BA4-841B133BAA4F}"/>
              </a:ext>
            </a:extLst>
          </p:cNvPr>
          <p:cNvSpPr>
            <a:spLocks xmlns:a="http://schemas.openxmlformats.org/drawingml/2006/main" noGrp="1"/>
          </p:cNvSpPr>
          <p:nvPr/>
        </p:nvSpPr>
        <p:spPr>
          <a:xfrm xmlns:a="http://schemas.openxmlformats.org/drawingml/2006/main">
            <a:off x="571500" y="180022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Q = aantal flessen per maand</a:t>
            </a:r>
          </a:p>
        </p:txBody>
      </p:sp>
      <p:sp>
        <p:nvSpPr>
          <p:cNvPr id="6" name="Totale constante kosten">
            <a:extLst xmlns:a="http://schemas.openxmlformats.org/drawingml/2006/main">
              <a:ext uri="{FF2B5EF4-FFF2-40B4-BE49-F238E27FC236}">
                <a16:creationId xmlns:a16="http://schemas.microsoft.com/office/drawing/2014/main" id="{D9D18AA5-3B3D-4CD0-B7C3-1C0C801573C5}"/>
              </a:ext>
            </a:extLst>
          </p:cNvPr>
          <p:cNvSpPr>
            <a:spLocks xmlns:a="http://schemas.openxmlformats.org/drawingml/2006/main" noGrp="1"/>
          </p:cNvSpPr>
          <p:nvPr/>
        </p:nvSpPr>
        <p:spPr>
          <a:xfrm xmlns:a="http://schemas.openxmlformats.org/drawingml/2006/main">
            <a:off x="571500" y="2762250"/>
            <a:ext cx="638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Totale constante kosten</a:t>
            </a:r>
          </a:p>
        </p:txBody>
      </p:sp>
      <p:sp>
        <p:nvSpPr>
          <p:cNvPr id="7" name="TCK = 300">
            <a:extLst xmlns:a="http://schemas.openxmlformats.org/drawingml/2006/main">
              <a:ext uri="{FF2B5EF4-FFF2-40B4-BE49-F238E27FC236}">
                <a16:creationId xmlns:a16="http://schemas.microsoft.com/office/drawing/2014/main" id="{93284734-480F-4342-8077-9A3DC1BA9A07}"/>
              </a:ext>
            </a:extLst>
          </p:cNvPr>
          <p:cNvSpPr>
            <a:spLocks xmlns:a="http://schemas.openxmlformats.org/drawingml/2006/main" noGrp="1"/>
          </p:cNvSpPr>
          <p:nvPr/>
        </p:nvSpPr>
        <p:spPr>
          <a:xfrm xmlns:a="http://schemas.openxmlformats.org/drawingml/2006/main">
            <a:off x="7191375" y="2762250"/>
            <a:ext cx="742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TCK = 300</a:t>
            </a:r>
          </a:p>
        </p:txBody>
      </p:sp>
      <p:sp>
        <p:nvSpPr>
          <p:cNvPr id="8" name="">
            <a:extLst xmlns:a="http://schemas.openxmlformats.org/drawingml/2006/main">
              <a:ext uri="{FF2B5EF4-FFF2-40B4-BE49-F238E27FC236}">
                <a16:creationId xmlns:a16="http://schemas.microsoft.com/office/drawing/2014/main" id="{58E54B71-1501-4FFE-916B-9553A9194C77}"/>
              </a:ext>
            </a:extLst>
          </p:cNvPr>
          <p:cNvSpPr>
            <a:spLocks xmlns:a="http://schemas.openxmlformats.org/drawingml/2006/main" noGrp="1"/>
          </p:cNvSpPr>
          <p:nvPr/>
        </p:nvSpPr>
        <p:spPr>
          <a:xfrm xmlns:a="http://schemas.openxmlformats.org/drawingml/2006/main">
            <a:off x="571500" y="3648075"/>
            <a:ext cx="14097000" cy="0"/>
          </a:xfrm>
          <a:prstGeom xmlns:a="http://schemas.openxmlformats.org/drawingml/2006/main" prst="line">
            <a:avLst/>
          </a:prstGeom>
          <a:ln xmlns:a="http://schemas.openxmlformats.org/drawingml/2006/main" w="19050">
            <a:solidFill>
              <a:srgbClr val="C6D2DB"/>
            </a:solidFill>
          </a:ln>
        </p:spPr>
      </p:sp>
      <p:sp>
        <p:nvSpPr>
          <p:cNvPr id="9" name="Totale variabele kosten">
            <a:extLst xmlns:a="http://schemas.openxmlformats.org/drawingml/2006/main">
              <a:ext uri="{FF2B5EF4-FFF2-40B4-BE49-F238E27FC236}">
                <a16:creationId xmlns:a16="http://schemas.microsoft.com/office/drawing/2014/main" id="{AFC855CA-05B3-4051-918B-1074F8C3614A}"/>
              </a:ext>
            </a:extLst>
          </p:cNvPr>
          <p:cNvSpPr>
            <a:spLocks xmlns:a="http://schemas.openxmlformats.org/drawingml/2006/main" noGrp="1"/>
          </p:cNvSpPr>
          <p:nvPr/>
        </p:nvSpPr>
        <p:spPr>
          <a:xfrm xmlns:a="http://schemas.openxmlformats.org/drawingml/2006/main">
            <a:off x="571500" y="4191000"/>
            <a:ext cx="638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Totale variabele kosten</a:t>
            </a:r>
          </a:p>
        </p:txBody>
      </p:sp>
      <p:sp>
        <p:nvSpPr>
          <p:cNvPr id="10" name="TVK = 2 × Q = 2Q">
            <a:extLst xmlns:a="http://schemas.openxmlformats.org/drawingml/2006/main">
              <a:ext uri="{FF2B5EF4-FFF2-40B4-BE49-F238E27FC236}">
                <a16:creationId xmlns:a16="http://schemas.microsoft.com/office/drawing/2014/main" id="{EEDB1F48-1C5E-4E69-B95E-944ACD7367B9}"/>
              </a:ext>
            </a:extLst>
          </p:cNvPr>
          <p:cNvSpPr>
            <a:spLocks xmlns:a="http://schemas.openxmlformats.org/drawingml/2006/main" noGrp="1"/>
          </p:cNvSpPr>
          <p:nvPr/>
        </p:nvSpPr>
        <p:spPr>
          <a:xfrm xmlns:a="http://schemas.openxmlformats.org/drawingml/2006/main">
            <a:off x="7191375" y="4191000"/>
            <a:ext cx="742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0665B"/>
                </a:solidFill>
                <a:latin typeface="Arial"/>
                <a:ea typeface="Arial"/>
                <a:cs typeface="Arial"/>
              </a:defRPr>
            </a:pPr>
            <a:r>
              <a:rPr sz="3000" b="1">
                <a:solidFill>
                  <a:srgbClr val="20665B"/>
                </a:solidFill>
                <a:latin typeface="Arial"/>
                <a:ea typeface="Arial"/>
                <a:cs typeface="Arial"/>
              </a:rPr>
              <a:t>TVK = 2 × Q = 2Q</a:t>
            </a:r>
          </a:p>
        </p:txBody>
      </p:sp>
      <p:sp>
        <p:nvSpPr>
          <p:cNvPr id="11" name="">
            <a:extLst xmlns:a="http://schemas.openxmlformats.org/drawingml/2006/main">
              <a:ext uri="{FF2B5EF4-FFF2-40B4-BE49-F238E27FC236}">
                <a16:creationId xmlns:a16="http://schemas.microsoft.com/office/drawing/2014/main" id="{E5948DEA-1E96-4BEF-B424-2299AA8D43E3}"/>
              </a:ext>
            </a:extLst>
          </p:cNvPr>
          <p:cNvSpPr>
            <a:spLocks xmlns:a="http://schemas.openxmlformats.org/drawingml/2006/main" noGrp="1"/>
          </p:cNvSpPr>
          <p:nvPr/>
        </p:nvSpPr>
        <p:spPr>
          <a:xfrm xmlns:a="http://schemas.openxmlformats.org/drawingml/2006/main">
            <a:off x="571500" y="5076825"/>
            <a:ext cx="14097000" cy="0"/>
          </a:xfrm>
          <a:prstGeom xmlns:a="http://schemas.openxmlformats.org/drawingml/2006/main" prst="line">
            <a:avLst/>
          </a:prstGeom>
          <a:ln xmlns:a="http://schemas.openxmlformats.org/drawingml/2006/main" w="19050">
            <a:solidFill>
              <a:srgbClr val="C6D2DB"/>
            </a:solidFill>
          </a:ln>
        </p:spPr>
      </p:sp>
      <p:sp>
        <p:nvSpPr>
          <p:cNvPr id="12" name="Totale kosten">
            <a:extLst xmlns:a="http://schemas.openxmlformats.org/drawingml/2006/main">
              <a:ext uri="{FF2B5EF4-FFF2-40B4-BE49-F238E27FC236}">
                <a16:creationId xmlns:a16="http://schemas.microsoft.com/office/drawing/2014/main" id="{35FCA3DA-D9D2-4450-BF0C-7D68BE84DD75}"/>
              </a:ext>
            </a:extLst>
          </p:cNvPr>
          <p:cNvSpPr>
            <a:spLocks xmlns:a="http://schemas.openxmlformats.org/drawingml/2006/main" noGrp="1"/>
          </p:cNvSpPr>
          <p:nvPr/>
        </p:nvSpPr>
        <p:spPr>
          <a:xfrm xmlns:a="http://schemas.openxmlformats.org/drawingml/2006/main">
            <a:off x="571500" y="5619750"/>
            <a:ext cx="638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Totale kosten</a:t>
            </a:r>
          </a:p>
        </p:txBody>
      </p:sp>
      <p:sp>
        <p:nvSpPr>
          <p:cNvPr id="13" name="TK = TCK + TVK = 300 + 2Q">
            <a:extLst xmlns:a="http://schemas.openxmlformats.org/drawingml/2006/main">
              <a:ext uri="{FF2B5EF4-FFF2-40B4-BE49-F238E27FC236}">
                <a16:creationId xmlns:a16="http://schemas.microsoft.com/office/drawing/2014/main" id="{1389C1D8-F3FA-4285-9289-5C00C4C8A44C}"/>
              </a:ext>
            </a:extLst>
          </p:cNvPr>
          <p:cNvSpPr>
            <a:spLocks xmlns:a="http://schemas.openxmlformats.org/drawingml/2006/main" noGrp="1"/>
          </p:cNvSpPr>
          <p:nvPr/>
        </p:nvSpPr>
        <p:spPr>
          <a:xfrm xmlns:a="http://schemas.openxmlformats.org/drawingml/2006/main">
            <a:off x="7191375" y="5619750"/>
            <a:ext cx="742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TK = TCK + TVK = 300 + 2Q</a:t>
            </a:r>
          </a:p>
        </p:txBody>
      </p:sp>
      <p:sp>
        <p:nvSpPr>
          <p:cNvPr id="14" name="">
            <a:extLst xmlns:a="http://schemas.openxmlformats.org/drawingml/2006/main">
              <a:ext uri="{FF2B5EF4-FFF2-40B4-BE49-F238E27FC236}">
                <a16:creationId xmlns:a16="http://schemas.microsoft.com/office/drawing/2014/main" id="{5CBA1394-F20B-4447-875F-5E921BAE3693}"/>
              </a:ext>
            </a:extLst>
          </p:cNvPr>
          <p:cNvSpPr>
            <a:spLocks xmlns:a="http://schemas.openxmlformats.org/drawingml/2006/main" noGrp="1"/>
          </p:cNvSpPr>
          <p:nvPr/>
        </p:nvSpPr>
        <p:spPr>
          <a:xfrm xmlns:a="http://schemas.openxmlformats.org/drawingml/2006/main">
            <a:off x="571500" y="6505575"/>
            <a:ext cx="14097000" cy="0"/>
          </a:xfrm>
          <a:prstGeom xmlns:a="http://schemas.openxmlformats.org/drawingml/2006/main" prst="line">
            <a:avLst/>
          </a:prstGeom>
          <a:ln xmlns:a="http://schemas.openxmlformats.org/drawingml/2006/main" w="19050">
            <a:solidFill>
              <a:srgbClr val="C6D2DB"/>
            </a:solidFill>
          </a:ln>
        </p:spPr>
      </p:sp>
      <p:sp>
        <p:nvSpPr>
          <p:cNvPr id="15" name="Totaal: € per maand">
            <a:extLst xmlns:a="http://schemas.openxmlformats.org/drawingml/2006/main">
              <a:ext uri="{FF2B5EF4-FFF2-40B4-BE49-F238E27FC236}">
                <a16:creationId xmlns:a16="http://schemas.microsoft.com/office/drawing/2014/main" id="{87731DED-AE21-492F-A0D3-6145AC315DDA}"/>
              </a:ext>
            </a:extLst>
          </p:cNvPr>
          <p:cNvSpPr>
            <a:spLocks xmlns:a="http://schemas.openxmlformats.org/drawingml/2006/main" noGrp="1"/>
          </p:cNvSpPr>
          <p:nvPr/>
        </p:nvSpPr>
        <p:spPr>
          <a:xfrm xmlns:a="http://schemas.openxmlformats.org/drawingml/2006/main">
            <a:off x="571500" y="7277100"/>
            <a:ext cx="1400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Totaal: € per maand</a:t>
            </a:r>
          </a:p>
        </p:txBody>
      </p:sp>
    </p:spTree>
    <p:extLst>
      <p:ext uri="{BB962C8B-B14F-4D97-AF65-F5344CB8AC3E}">
        <p14:creationId xmlns:p14="http://schemas.microsoft.com/office/powerpoint/2010/main" val="130220346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osten in een grafiek">
            <a:extLst xmlns:a="http://schemas.openxmlformats.org/drawingml/2006/main">
              <a:ext uri="{FF2B5EF4-FFF2-40B4-BE49-F238E27FC236}">
                <a16:creationId xmlns:a16="http://schemas.microsoft.com/office/drawing/2014/main" id="{72A79F98-2CF8-45A3-8249-6A476058B10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Kosten in een grafiek</a:t>
            </a:r>
          </a:p>
        </p:txBody>
      </p:sp>
      <p:sp>
        <p:nvSpPr>
          <p:cNvPr id="2" name="">
            <a:extLst xmlns:a="http://schemas.openxmlformats.org/drawingml/2006/main">
              <a:ext uri="{FF2B5EF4-FFF2-40B4-BE49-F238E27FC236}">
                <a16:creationId xmlns:a16="http://schemas.microsoft.com/office/drawing/2014/main" id="{122223D0-479A-4B16-9812-69CBA15FD4D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1 Kostenstructuren">
            <a:extLst xmlns:a="http://schemas.openxmlformats.org/drawingml/2006/main">
              <a:ext uri="{FF2B5EF4-FFF2-40B4-BE49-F238E27FC236}">
                <a16:creationId xmlns:a16="http://schemas.microsoft.com/office/drawing/2014/main" id="{3CCB35DA-246E-46F5-8680-702565DBC48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§2.1.1 Kostenstructuren</a:t>
            </a:r>
          </a:p>
        </p:txBody>
      </p:sp>
      <p:sp>
        <p:nvSpPr>
          <p:cNvPr id="4" name="5">
            <a:extLst xmlns:a="http://schemas.openxmlformats.org/drawingml/2006/main">
              <a:ext uri="{FF2B5EF4-FFF2-40B4-BE49-F238E27FC236}">
                <a16:creationId xmlns:a16="http://schemas.microsoft.com/office/drawing/2014/main" id="{804F7302-B1D8-4307-9694-B964348A986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Fles &amp; Co">
            <a:extLst xmlns:a="http://schemas.openxmlformats.org/drawingml/2006/main">
              <a:ext uri="{FF2B5EF4-FFF2-40B4-BE49-F238E27FC236}">
                <a16:creationId xmlns:a16="http://schemas.microsoft.com/office/drawing/2014/main" id="{737750BA-9733-46D4-AB61-E5F4E16AD98F}"/>
              </a:ext>
            </a:extLst>
          </p:cNvPr>
          <p:cNvSpPr>
            <a:spLocks xmlns:a="http://schemas.openxmlformats.org/drawingml/2006/main" noGrp="1"/>
          </p:cNvSpPr>
          <p:nvPr/>
        </p:nvSpPr>
        <p:spPr>
          <a:xfrm xmlns:a="http://schemas.openxmlformats.org/drawingml/2006/main">
            <a:off x="571500" y="173355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Fles &amp; Co</a:t>
            </a:r>
          </a:p>
        </p:txBody>
      </p:sp>
      <p:graphicFrame>
        <p:nvGraphicFramePr>
          <p:cNvPr id="15" name="Chart"/>
          <p:cNvGraphicFramePr/>
          <p:nvPr/>
        </p:nvGraphicFramePr>
        <p:xfrm>
          <a:off xmlns:a="http://schemas.openxmlformats.org/drawingml/2006/main" x="571500" y="2343150"/>
          <a:ext xmlns:a="http://schemas.openxmlformats.org/drawingml/2006/main" cx="9906000" cy="5295900"/>
        </p:xfrm>
        <a:graphic xmlns:a="http://schemas.openxmlformats.org/drawingml/2006/main">
          <a:graphicData uri="http://schemas.openxmlformats.org/drawingml/2006/chart">
            <c:chart xmlns:r="http://schemas.openxmlformats.org/officeDocument/2006/relationships" xmlns:c="http://schemas.openxmlformats.org/drawingml/2006/chart" r:id="R7dc39b37d8154184"/>
          </a:graphicData>
        </a:graphic>
      </p:graphicFrame>
      <p:sp>
        <p:nvSpPr>
          <p:cNvPr id="7" name="Wat zie je?">
            <a:extLst xmlns:a="http://schemas.openxmlformats.org/drawingml/2006/main">
              <a:ext uri="{FF2B5EF4-FFF2-40B4-BE49-F238E27FC236}">
                <a16:creationId xmlns:a16="http://schemas.microsoft.com/office/drawing/2014/main" id="{EBF8D8A2-F423-4C96-84A9-84C87BCE0A5A}"/>
              </a:ext>
            </a:extLst>
          </p:cNvPr>
          <p:cNvSpPr>
            <a:spLocks xmlns:a="http://schemas.openxmlformats.org/drawingml/2006/main" noGrp="1"/>
          </p:cNvSpPr>
          <p:nvPr/>
        </p:nvSpPr>
        <p:spPr>
          <a:xfrm xmlns:a="http://schemas.openxmlformats.org/drawingml/2006/main">
            <a:off x="10953750" y="2724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Wat zie je?</a:t>
            </a:r>
          </a:p>
        </p:txBody>
      </p:sp>
      <p:sp>
        <p:nvSpPr>
          <p:cNvPr id="8" name="TCK: horizontaal&#10;&#10;TVK: vanaf nul">
            <a:extLst xmlns:a="http://schemas.openxmlformats.org/drawingml/2006/main">
              <a:ext uri="{FF2B5EF4-FFF2-40B4-BE49-F238E27FC236}">
                <a16:creationId xmlns:a16="http://schemas.microsoft.com/office/drawing/2014/main" id="{CE339FDE-C4FC-4916-83CD-2B7156B946CA}"/>
              </a:ext>
            </a:extLst>
          </p:cNvPr>
          <p:cNvSpPr>
            <a:spLocks xmlns:a="http://schemas.openxmlformats.org/drawingml/2006/main" noGrp="1"/>
          </p:cNvSpPr>
          <p:nvPr/>
        </p:nvSpPr>
        <p:spPr>
          <a:xfrm xmlns:a="http://schemas.openxmlformats.org/drawingml/2006/main">
            <a:off x="10953750" y="3514725"/>
            <a:ext cx="37147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TCK: horizontaal</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TVK: vanaf nul</a:t>
            </a:r>
          </a:p>
        </p:txBody>
      </p:sp>
      <p:sp>
        <p:nvSpPr>
          <p:cNvPr id="9" name="Elke extra fles&#10;kost € 2 materiaal.">
            <a:extLst xmlns:a="http://schemas.openxmlformats.org/drawingml/2006/main">
              <a:ext uri="{FF2B5EF4-FFF2-40B4-BE49-F238E27FC236}">
                <a16:creationId xmlns:a16="http://schemas.microsoft.com/office/drawing/2014/main" id="{2E567668-4A37-48C1-BF0C-E0F351187286}"/>
              </a:ext>
            </a:extLst>
          </p:cNvPr>
          <p:cNvSpPr>
            <a:spLocks xmlns:a="http://schemas.openxmlformats.org/drawingml/2006/main" noGrp="1"/>
          </p:cNvSpPr>
          <p:nvPr/>
        </p:nvSpPr>
        <p:spPr>
          <a:xfrm xmlns:a="http://schemas.openxmlformats.org/drawingml/2006/main">
            <a:off x="10953750" y="5972175"/>
            <a:ext cx="37147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665B"/>
                </a:solidFill>
                <a:latin typeface="Arial"/>
                <a:ea typeface="Arial"/>
                <a:cs typeface="Arial"/>
              </a:defRPr>
            </a:pPr>
            <a:r>
              <a:rPr sz="2475" b="1">
                <a:solidFill>
                  <a:srgbClr val="20665B"/>
                </a:solidFill>
                <a:latin typeface="Arial"/>
                <a:ea typeface="Arial"/>
                <a:cs typeface="Arial"/>
              </a:rPr>
              <a:t>Elke extra fles</a:t>
            </a:r>
          </a:p>
          <a:p xmlns:a="http://schemas.openxmlformats.org/drawingml/2006/main">
            <a:pPr algn="l">
              <a:defRPr sz="2475" b="1">
                <a:solidFill>
                  <a:srgbClr val="20665B"/>
                </a:solidFill>
                <a:latin typeface="Arial"/>
                <a:ea typeface="Arial"/>
                <a:cs typeface="Arial"/>
              </a:defRPr>
            </a:pPr>
            <a:r>
              <a:rPr sz="2475" b="1">
                <a:solidFill>
                  <a:srgbClr val="20665B"/>
                </a:solidFill>
                <a:latin typeface="Arial"/>
                <a:ea typeface="Arial"/>
                <a:cs typeface="Arial"/>
              </a:rPr>
              <a:t>kost € 2 materiaal.</a:t>
            </a:r>
          </a:p>
        </p:txBody>
      </p:sp>
    </p:spTree>
    <p:extLst>
      <p:ext uri="{BB962C8B-B14F-4D97-AF65-F5344CB8AC3E}">
        <p14:creationId xmlns:p14="http://schemas.microsoft.com/office/powerpoint/2010/main" val="162186655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otale kosten zijn de som van beide">
            <a:extLst xmlns:a="http://schemas.openxmlformats.org/drawingml/2006/main">
              <a:ext uri="{FF2B5EF4-FFF2-40B4-BE49-F238E27FC236}">
                <a16:creationId xmlns:a16="http://schemas.microsoft.com/office/drawing/2014/main" id="{F8B2C821-940A-4865-BF46-C5FD9913815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Totale kosten zijn de som van beide</a:t>
            </a:r>
          </a:p>
        </p:txBody>
      </p:sp>
      <p:sp>
        <p:nvSpPr>
          <p:cNvPr id="2" name="">
            <a:extLst xmlns:a="http://schemas.openxmlformats.org/drawingml/2006/main">
              <a:ext uri="{FF2B5EF4-FFF2-40B4-BE49-F238E27FC236}">
                <a16:creationId xmlns:a16="http://schemas.microsoft.com/office/drawing/2014/main" id="{55DBACBF-EE06-4F8D-BA35-617A193FC92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1 Kostenstructuren">
            <a:extLst xmlns:a="http://schemas.openxmlformats.org/drawingml/2006/main">
              <a:ext uri="{FF2B5EF4-FFF2-40B4-BE49-F238E27FC236}">
                <a16:creationId xmlns:a16="http://schemas.microsoft.com/office/drawing/2014/main" id="{B1DCD3F3-FA01-4B8E-B59C-6A54C5FEF20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§2.1.1 Kostenstructuren</a:t>
            </a:r>
          </a:p>
        </p:txBody>
      </p:sp>
      <p:sp>
        <p:nvSpPr>
          <p:cNvPr id="4" name="6">
            <a:extLst xmlns:a="http://schemas.openxmlformats.org/drawingml/2006/main">
              <a:ext uri="{FF2B5EF4-FFF2-40B4-BE49-F238E27FC236}">
                <a16:creationId xmlns:a16="http://schemas.microsoft.com/office/drawing/2014/main" id="{D77E3C6D-5C5A-4FF9-BE17-2B7380DBEF4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Fles &amp; Co">
            <a:extLst xmlns:a="http://schemas.openxmlformats.org/drawingml/2006/main">
              <a:ext uri="{FF2B5EF4-FFF2-40B4-BE49-F238E27FC236}">
                <a16:creationId xmlns:a16="http://schemas.microsoft.com/office/drawing/2014/main" id="{D173B3F2-A6C5-4DCC-8B43-9E4794479CEE}"/>
              </a:ext>
            </a:extLst>
          </p:cNvPr>
          <p:cNvSpPr>
            <a:spLocks xmlns:a="http://schemas.openxmlformats.org/drawingml/2006/main" noGrp="1"/>
          </p:cNvSpPr>
          <p:nvPr/>
        </p:nvSpPr>
        <p:spPr>
          <a:xfrm xmlns:a="http://schemas.openxmlformats.org/drawingml/2006/main">
            <a:off x="571500" y="173355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Fles &amp; Co</a:t>
            </a:r>
          </a:p>
        </p:txBody>
      </p:sp>
      <p:graphicFrame>
        <p:nvGraphicFramePr>
          <p:cNvPr id="15" name="Chart"/>
          <p:cNvGraphicFramePr/>
          <p:nvPr/>
        </p:nvGraphicFramePr>
        <p:xfrm>
          <a:off xmlns:a="http://schemas.openxmlformats.org/drawingml/2006/main" x="571500" y="2343150"/>
          <a:ext xmlns:a="http://schemas.openxmlformats.org/drawingml/2006/main" cx="9906000" cy="5295900"/>
        </p:xfrm>
        <a:graphic xmlns:a="http://schemas.openxmlformats.org/drawingml/2006/main">
          <a:graphicData uri="http://schemas.openxmlformats.org/drawingml/2006/chart">
            <c:chart xmlns:r="http://schemas.openxmlformats.org/officeDocument/2006/relationships" xmlns:c="http://schemas.openxmlformats.org/drawingml/2006/chart" r:id="R41ece709f0414556"/>
          </a:graphicData>
        </a:graphic>
      </p:graphicFrame>
      <p:sp>
        <p:nvSpPr>
          <p:cNvPr id="7" name="Bij Q = 400">
            <a:extLst xmlns:a="http://schemas.openxmlformats.org/drawingml/2006/main">
              <a:ext uri="{FF2B5EF4-FFF2-40B4-BE49-F238E27FC236}">
                <a16:creationId xmlns:a16="http://schemas.microsoft.com/office/drawing/2014/main" id="{8D484C0B-3D3E-4F40-955A-E89EF000A124}"/>
              </a:ext>
            </a:extLst>
          </p:cNvPr>
          <p:cNvSpPr>
            <a:spLocks xmlns:a="http://schemas.openxmlformats.org/drawingml/2006/main" noGrp="1"/>
          </p:cNvSpPr>
          <p:nvPr/>
        </p:nvSpPr>
        <p:spPr>
          <a:xfrm xmlns:a="http://schemas.openxmlformats.org/drawingml/2006/main">
            <a:off x="10953750" y="2724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Bij Q = 400</a:t>
            </a:r>
          </a:p>
        </p:txBody>
      </p:sp>
      <p:sp>
        <p:nvSpPr>
          <p:cNvPr id="8" name="TVK = € 800&#10;TCK = € 300&#10;TK = € 1.100">
            <a:extLst xmlns:a="http://schemas.openxmlformats.org/drawingml/2006/main">
              <a:ext uri="{FF2B5EF4-FFF2-40B4-BE49-F238E27FC236}">
                <a16:creationId xmlns:a16="http://schemas.microsoft.com/office/drawing/2014/main" id="{866923F4-CD9A-4D56-995A-2166270FC618}"/>
              </a:ext>
            </a:extLst>
          </p:cNvPr>
          <p:cNvSpPr>
            <a:spLocks xmlns:a="http://schemas.openxmlformats.org/drawingml/2006/main" noGrp="1"/>
          </p:cNvSpPr>
          <p:nvPr/>
        </p:nvSpPr>
        <p:spPr>
          <a:xfrm xmlns:a="http://schemas.openxmlformats.org/drawingml/2006/main">
            <a:off x="10953750" y="3514725"/>
            <a:ext cx="37147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TVK = € 800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TCK = € 300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TK = € 1.100</a:t>
            </a:r>
          </a:p>
        </p:txBody>
      </p:sp>
      <p:sp>
        <p:nvSpPr>
          <p:cNvPr id="9" name="Het verschil tussen&#10;TK en TVK is&#10;steeds € 300.">
            <a:extLst xmlns:a="http://schemas.openxmlformats.org/drawingml/2006/main">
              <a:ext uri="{FF2B5EF4-FFF2-40B4-BE49-F238E27FC236}">
                <a16:creationId xmlns:a16="http://schemas.microsoft.com/office/drawing/2014/main" id="{C3870A9B-F785-46C4-982F-F02428335F1C}"/>
              </a:ext>
            </a:extLst>
          </p:cNvPr>
          <p:cNvSpPr>
            <a:spLocks xmlns:a="http://schemas.openxmlformats.org/drawingml/2006/main" noGrp="1"/>
          </p:cNvSpPr>
          <p:nvPr/>
        </p:nvSpPr>
        <p:spPr>
          <a:xfrm xmlns:a="http://schemas.openxmlformats.org/drawingml/2006/main">
            <a:off x="10953750" y="5972175"/>
            <a:ext cx="37147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A94D16"/>
                </a:solidFill>
                <a:latin typeface="Arial"/>
                <a:ea typeface="Arial"/>
                <a:cs typeface="Arial"/>
              </a:defRPr>
            </a:pPr>
            <a:r>
              <a:rPr sz="2475" b="1">
                <a:solidFill>
                  <a:srgbClr val="A94D16"/>
                </a:solidFill>
                <a:latin typeface="Arial"/>
                <a:ea typeface="Arial"/>
                <a:cs typeface="Arial"/>
              </a:rPr>
              <a:t>Het verschil tussen</a:t>
            </a:r>
          </a:p>
          <a:p xmlns:a="http://schemas.openxmlformats.org/drawingml/2006/main">
            <a:pPr algn="l">
              <a:defRPr sz="2475" b="1">
                <a:solidFill>
                  <a:srgbClr val="A94D16"/>
                </a:solidFill>
                <a:latin typeface="Arial"/>
                <a:ea typeface="Arial"/>
                <a:cs typeface="Arial"/>
              </a:defRPr>
            </a:pPr>
            <a:r>
              <a:rPr sz="2475" b="1">
                <a:solidFill>
                  <a:srgbClr val="A94D16"/>
                </a:solidFill>
                <a:latin typeface="Arial"/>
                <a:ea typeface="Arial"/>
                <a:cs typeface="Arial"/>
              </a:rPr>
              <a:t>TK en TVK is</a:t>
            </a:r>
          </a:p>
          <a:p xmlns:a="http://schemas.openxmlformats.org/drawingml/2006/main">
            <a:pPr algn="l">
              <a:defRPr sz="2475" b="1">
                <a:solidFill>
                  <a:srgbClr val="A94D16"/>
                </a:solidFill>
                <a:latin typeface="Arial"/>
                <a:ea typeface="Arial"/>
                <a:cs typeface="Arial"/>
              </a:defRPr>
            </a:pPr>
            <a:r>
              <a:rPr sz="2475" b="1">
                <a:solidFill>
                  <a:srgbClr val="A94D16"/>
                </a:solidFill>
                <a:latin typeface="Arial"/>
                <a:ea typeface="Arial"/>
                <a:cs typeface="Arial"/>
              </a:rPr>
              <a:t>steeds € 300.</a:t>
            </a:r>
          </a:p>
        </p:txBody>
      </p:sp>
    </p:spTree>
    <p:extLst>
      <p:ext uri="{BB962C8B-B14F-4D97-AF65-F5344CB8AC3E}">
        <p14:creationId xmlns:p14="http://schemas.microsoft.com/office/powerpoint/2010/main" val="61242728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emiddelde kosten: het bedrag per product">
            <a:extLst xmlns:a="http://schemas.openxmlformats.org/drawingml/2006/main">
              <a:ext uri="{FF2B5EF4-FFF2-40B4-BE49-F238E27FC236}">
                <a16:creationId xmlns:a16="http://schemas.microsoft.com/office/drawing/2014/main" id="{BBFBBEE6-A7A3-49E4-82C3-4EA1FDB4DFB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Gemiddelde kosten: het bedrag per product</a:t>
            </a:r>
          </a:p>
        </p:txBody>
      </p:sp>
      <p:sp>
        <p:nvSpPr>
          <p:cNvPr id="2" name="">
            <a:extLst xmlns:a="http://schemas.openxmlformats.org/drawingml/2006/main">
              <a:ext uri="{FF2B5EF4-FFF2-40B4-BE49-F238E27FC236}">
                <a16:creationId xmlns:a16="http://schemas.microsoft.com/office/drawing/2014/main" id="{09E4F484-180C-473D-9978-ABE1E1D63ED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1 Kostenstructuren">
            <a:extLst xmlns:a="http://schemas.openxmlformats.org/drawingml/2006/main">
              <a:ext uri="{FF2B5EF4-FFF2-40B4-BE49-F238E27FC236}">
                <a16:creationId xmlns:a16="http://schemas.microsoft.com/office/drawing/2014/main" id="{9EF3CC1A-C680-4F88-90F1-73F680C9C6B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§2.1.1 Kostenstructuren</a:t>
            </a:r>
          </a:p>
        </p:txBody>
      </p:sp>
      <p:sp>
        <p:nvSpPr>
          <p:cNvPr id="4" name="7">
            <a:extLst xmlns:a="http://schemas.openxmlformats.org/drawingml/2006/main">
              <a:ext uri="{FF2B5EF4-FFF2-40B4-BE49-F238E27FC236}">
                <a16:creationId xmlns:a16="http://schemas.microsoft.com/office/drawing/2014/main" id="{F62D81AA-E652-4EF3-8A97-912E3D739DA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Gemiddeld = het bijbehorende totaal delen door Q">
            <a:extLst xmlns:a="http://schemas.openxmlformats.org/drawingml/2006/main">
              <a:ext uri="{FF2B5EF4-FFF2-40B4-BE49-F238E27FC236}">
                <a16:creationId xmlns:a16="http://schemas.microsoft.com/office/drawing/2014/main" id="{1B12EC06-B816-4C4F-84E8-A2225BBBE01B}"/>
              </a:ext>
            </a:extLst>
          </p:cNvPr>
          <p:cNvSpPr>
            <a:spLocks xmlns:a="http://schemas.openxmlformats.org/drawingml/2006/main" noGrp="1"/>
          </p:cNvSpPr>
          <p:nvPr/>
        </p:nvSpPr>
        <p:spPr>
          <a:xfrm xmlns:a="http://schemas.openxmlformats.org/drawingml/2006/main">
            <a:off x="571500" y="1762125"/>
            <a:ext cx="14049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Gemiddeld = het bijbehorende totaal delen door Q</a:t>
            </a:r>
          </a:p>
        </p:txBody>
      </p:sp>
      <p:graphicFrame>
        <p:nvGraphicFramePr>
          <p:cNvPr id="14" name=""/>
          <p:cNvGraphicFramePr/>
          <p:nvPr/>
        </p:nvGraphicFramePr>
        <p:xfrm>
          <a:off xmlns:a="http://schemas.openxmlformats.org/drawingml/2006/main" x="571500" y="2714625"/>
          <a:ext xmlns:a="http://schemas.openxmlformats.org/drawingml/2006/main" cx="14097000" cy="3429000"/>
        </p:xfrm>
        <a:graphic xmlns:a="http://schemas.openxmlformats.org/drawingml/2006/main">
          <a:graphicData uri="http://schemas.openxmlformats.org/drawingml/2006/table">
            <a:tbl>
              <a:tblPr/>
              <a:tblGrid>
                <a:gridCol w="6381750"/>
                <a:gridCol w="3905250"/>
                <a:gridCol w="3810000"/>
              </a:tblGrid>
              <a:tr h="857250">
                <a:tc>
                  <a:txBody>
                    <a:bodyPr lIns="171450" tIns="95250" rIns="152400" bIns="95250"/>
                    <a:lstStyle/>
                    <a:p>
                      <a:r>
                        <a:rPr sz="2400" b="1">
                          <a:solidFill>
                            <a:srgbClr val="FFFFFF"/>
                          </a:solidFill>
                          <a:latin typeface="Arial"/>
                          <a:ea typeface="Arial"/>
                          <a:cs typeface="Arial"/>
                        </a:rPr>
                        <a:t>Gemiddelde kosten</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Formule</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Bij Fles &amp; Co</a:t>
                      </a:r>
                    </a:p>
                  </a:txBody>
                  <a:tcPr marL="91440" marR="91440" marT="45720" marB="45720" anchor="ctr">
                    <a:solidFill>
                      <a:srgbClr val="183247"/>
                    </a:solidFill>
                  </a:tcPr>
                </a:tc>
              </a:tr>
              <a:tr h="857250">
                <a:tc>
                  <a:txBody>
                    <a:bodyPr lIns="171450" tIns="95250" rIns="152400" bIns="95250"/>
                    <a:lstStyle/>
                    <a:p>
                      <a:r>
                        <a:rPr sz="2400" b="0">
                          <a:solidFill>
                            <a:srgbClr val="183247"/>
                          </a:solidFill>
                          <a:latin typeface="Arial"/>
                          <a:ea typeface="Arial"/>
                          <a:cs typeface="Arial"/>
                        </a:rPr>
                        <a:t>Gemiddelde constante kosten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GCK = TCK / Q</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300 / Q</a:t>
                      </a:r>
                    </a:p>
                  </a:txBody>
                  <a:tcPr marL="91440" marR="91440" marT="45720" marB="45720" anchor="ctr">
                    <a:solidFill>
                      <a:srgbClr val="FFFFFF"/>
                    </a:solidFill>
                  </a:tcPr>
                </a:tc>
              </a:tr>
              <a:tr h="857250">
                <a:tc>
                  <a:txBody>
                    <a:bodyPr lIns="171450" tIns="95250" rIns="152400" bIns="95250"/>
                    <a:lstStyle/>
                    <a:p>
                      <a:r>
                        <a:rPr sz="2400" b="0">
                          <a:solidFill>
                            <a:srgbClr val="183247"/>
                          </a:solidFill>
                          <a:latin typeface="Arial"/>
                          <a:ea typeface="Arial"/>
                          <a:cs typeface="Arial"/>
                        </a:rPr>
                        <a:t>Gemiddelde variabele kosten</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GVK = TVK / Q</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2Q / Q = 2</a:t>
                      </a:r>
                    </a:p>
                  </a:txBody>
                  <a:tcPr marL="91440" marR="91440" marT="45720" marB="45720" anchor="ctr">
                    <a:solidFill>
                      <a:srgbClr val="EFF4F7"/>
                    </a:solidFill>
                  </a:tcPr>
                </a:tc>
              </a:tr>
              <a:tr h="857250">
                <a:tc>
                  <a:txBody>
                    <a:bodyPr lIns="171450" tIns="95250" rIns="152400" bIns="95250"/>
                    <a:lstStyle/>
                    <a:p>
                      <a:r>
                        <a:rPr sz="2400" b="0">
                          <a:solidFill>
                            <a:srgbClr val="183247"/>
                          </a:solidFill>
                          <a:latin typeface="Arial"/>
                          <a:ea typeface="Arial"/>
                          <a:cs typeface="Arial"/>
                        </a:rPr>
                        <a:t>Gemiddelde totale kosten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GTK = TK / Q</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(300 + 2Q) / Q</a:t>
                      </a:r>
                    </a:p>
                  </a:txBody>
                  <a:tcPr marL="91440" marR="91440" marT="45720" marB="45720" anchor="ctr">
                    <a:solidFill>
                      <a:srgbClr val="FFFFFF"/>
                    </a:solidFill>
                  </a:tcPr>
                </a:tc>
              </a:tr>
            </a:tbl>
          </a:graphicData>
        </a:graphic>
      </p:graphicFrame>
      <p:sp>
        <p:nvSpPr>
          <p:cNvPr id="7" name="GTK = GCK + GVK">
            <a:extLst xmlns:a="http://schemas.openxmlformats.org/drawingml/2006/main">
              <a:ext uri="{FF2B5EF4-FFF2-40B4-BE49-F238E27FC236}">
                <a16:creationId xmlns:a16="http://schemas.microsoft.com/office/drawing/2014/main" id="{5EE927D9-87AF-45BD-A5D1-DC1E1116FC81}"/>
              </a:ext>
            </a:extLst>
          </p:cNvPr>
          <p:cNvSpPr>
            <a:spLocks xmlns:a="http://schemas.openxmlformats.org/drawingml/2006/main" noGrp="1"/>
          </p:cNvSpPr>
          <p:nvPr/>
        </p:nvSpPr>
        <p:spPr>
          <a:xfrm xmlns:a="http://schemas.openxmlformats.org/drawingml/2006/main">
            <a:off x="571500" y="6648450"/>
            <a:ext cx="828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A94D16"/>
                </a:solidFill>
                <a:latin typeface="Arial"/>
                <a:ea typeface="Arial"/>
                <a:cs typeface="Arial"/>
              </a:defRPr>
            </a:pPr>
            <a:r>
              <a:rPr sz="3300" b="1">
                <a:solidFill>
                  <a:srgbClr val="A94D16"/>
                </a:solidFill>
                <a:latin typeface="Arial"/>
                <a:ea typeface="Arial"/>
                <a:cs typeface="Arial"/>
              </a:rPr>
              <a:t>GTK = GCK + GVK</a:t>
            </a:r>
          </a:p>
        </p:txBody>
      </p:sp>
      <p:sp>
        <p:nvSpPr>
          <p:cNvPr id="8" name="€ per fles&#10;Alleen bij Q &gt; 0">
            <a:extLst xmlns:a="http://schemas.openxmlformats.org/drawingml/2006/main">
              <a:ext uri="{FF2B5EF4-FFF2-40B4-BE49-F238E27FC236}">
                <a16:creationId xmlns:a16="http://schemas.microsoft.com/office/drawing/2014/main" id="{57EEA467-6DD7-4D5F-AE07-C2B9873B95DC}"/>
              </a:ext>
            </a:extLst>
          </p:cNvPr>
          <p:cNvSpPr>
            <a:spLocks xmlns:a="http://schemas.openxmlformats.org/drawingml/2006/main" noGrp="1"/>
          </p:cNvSpPr>
          <p:nvPr/>
        </p:nvSpPr>
        <p:spPr>
          <a:xfrm xmlns:a="http://schemas.openxmlformats.org/drawingml/2006/main">
            <a:off x="10668000" y="6619875"/>
            <a:ext cx="4000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 per fles</a:t>
            </a:r>
          </a:p>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Alleen bij Q &gt; 0</a:t>
            </a:r>
          </a:p>
        </p:txBody>
      </p:sp>
    </p:spTree>
    <p:extLst>
      <p:ext uri="{BB962C8B-B14F-4D97-AF65-F5344CB8AC3E}">
        <p14:creationId xmlns:p14="http://schemas.microsoft.com/office/powerpoint/2010/main" val="36623478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Gemiddelde kosten bij 200 flessen">
            <a:extLst xmlns:a="http://schemas.openxmlformats.org/drawingml/2006/main">
              <a:ext uri="{FF2B5EF4-FFF2-40B4-BE49-F238E27FC236}">
                <a16:creationId xmlns:a16="http://schemas.microsoft.com/office/drawing/2014/main" id="{DDA3231B-F150-459C-8CE9-F7166B7C137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Gemiddelde kosten bij 200 flessen</a:t>
            </a:r>
          </a:p>
        </p:txBody>
      </p:sp>
      <p:sp>
        <p:nvSpPr>
          <p:cNvPr id="2" name="">
            <a:extLst xmlns:a="http://schemas.openxmlformats.org/drawingml/2006/main">
              <a:ext uri="{FF2B5EF4-FFF2-40B4-BE49-F238E27FC236}">
                <a16:creationId xmlns:a16="http://schemas.microsoft.com/office/drawing/2014/main" id="{D0B17D66-7655-4F35-A529-35740B5C6BA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1 Kostenstructuren">
            <a:extLst xmlns:a="http://schemas.openxmlformats.org/drawingml/2006/main">
              <a:ext uri="{FF2B5EF4-FFF2-40B4-BE49-F238E27FC236}">
                <a16:creationId xmlns:a16="http://schemas.microsoft.com/office/drawing/2014/main" id="{1891867C-3333-487A-BB83-4D7AD9D8111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§2.1.1 Kostenstructuren</a:t>
            </a:r>
          </a:p>
        </p:txBody>
      </p:sp>
      <p:sp>
        <p:nvSpPr>
          <p:cNvPr id="4" name="8">
            <a:extLst xmlns:a="http://schemas.openxmlformats.org/drawingml/2006/main">
              <a:ext uri="{FF2B5EF4-FFF2-40B4-BE49-F238E27FC236}">
                <a16:creationId xmlns:a16="http://schemas.microsoft.com/office/drawing/2014/main" id="{084C3143-43D6-4B76-8EA5-70E4AA952DF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Fles &amp; Co: TCK = € 300, TVK = € 400, TK = € 700 pe">
            <a:extLst xmlns:a="http://schemas.openxmlformats.org/drawingml/2006/main">
              <a:ext uri="{FF2B5EF4-FFF2-40B4-BE49-F238E27FC236}">
                <a16:creationId xmlns:a16="http://schemas.microsoft.com/office/drawing/2014/main" id="{CCB1ADF9-B1CC-4180-9862-687F8C5A2C56}"/>
              </a:ext>
            </a:extLst>
          </p:cNvPr>
          <p:cNvSpPr>
            <a:spLocks xmlns:a="http://schemas.openxmlformats.org/drawingml/2006/main" noGrp="1"/>
          </p:cNvSpPr>
          <p:nvPr/>
        </p:nvSpPr>
        <p:spPr>
          <a:xfrm xmlns:a="http://schemas.openxmlformats.org/drawingml/2006/main">
            <a:off x="571500" y="1762125"/>
            <a:ext cx="14049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Fles &amp; Co: TCK = € 300, TVK = € 400, TK = € 700 per maand</a:t>
            </a:r>
          </a:p>
        </p:txBody>
      </p:sp>
      <p:sp>
        <p:nvSpPr>
          <p:cNvPr id="6" name="GCK =">
            <a:extLst xmlns:a="http://schemas.openxmlformats.org/drawingml/2006/main">
              <a:ext uri="{FF2B5EF4-FFF2-40B4-BE49-F238E27FC236}">
                <a16:creationId xmlns:a16="http://schemas.microsoft.com/office/drawing/2014/main" id="{093F8175-77C9-4BD2-8833-E1285024564E}"/>
              </a:ext>
            </a:extLst>
          </p:cNvPr>
          <p:cNvSpPr>
            <a:spLocks xmlns:a="http://schemas.openxmlformats.org/drawingml/2006/main" noGrp="1"/>
          </p:cNvSpPr>
          <p:nvPr/>
        </p:nvSpPr>
        <p:spPr>
          <a:xfrm xmlns:a="http://schemas.openxmlformats.org/drawingml/2006/main">
            <a:off x="571500" y="3028950"/>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GCK =</a:t>
            </a:r>
          </a:p>
        </p:txBody>
      </p:sp>
      <p:sp>
        <p:nvSpPr>
          <p:cNvPr id="7" name="300 / 200">
            <a:extLst xmlns:a="http://schemas.openxmlformats.org/drawingml/2006/main">
              <a:ext uri="{FF2B5EF4-FFF2-40B4-BE49-F238E27FC236}">
                <a16:creationId xmlns:a16="http://schemas.microsoft.com/office/drawing/2014/main" id="{0CBC3191-052A-414C-895C-D33552B44E0F}"/>
              </a:ext>
            </a:extLst>
          </p:cNvPr>
          <p:cNvSpPr>
            <a:spLocks xmlns:a="http://schemas.openxmlformats.org/drawingml/2006/main" noGrp="1"/>
          </p:cNvSpPr>
          <p:nvPr/>
        </p:nvSpPr>
        <p:spPr>
          <a:xfrm xmlns:a="http://schemas.openxmlformats.org/drawingml/2006/main">
            <a:off x="2905125" y="302895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300 / 200</a:t>
            </a:r>
          </a:p>
        </p:txBody>
      </p:sp>
      <p:sp>
        <p:nvSpPr>
          <p:cNvPr id="8" name="= € 1,50 per fles">
            <a:extLst xmlns:a="http://schemas.openxmlformats.org/drawingml/2006/main">
              <a:ext uri="{FF2B5EF4-FFF2-40B4-BE49-F238E27FC236}">
                <a16:creationId xmlns:a16="http://schemas.microsoft.com/office/drawing/2014/main" id="{7BC3663C-040D-4D95-80A8-3B950D9E5681}"/>
              </a:ext>
            </a:extLst>
          </p:cNvPr>
          <p:cNvSpPr>
            <a:spLocks xmlns:a="http://schemas.openxmlformats.org/drawingml/2006/main" noGrp="1"/>
          </p:cNvSpPr>
          <p:nvPr/>
        </p:nvSpPr>
        <p:spPr>
          <a:xfrm xmlns:a="http://schemas.openxmlformats.org/drawingml/2006/main">
            <a:off x="7858125" y="3028950"/>
            <a:ext cx="676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 € 1,50 per fles</a:t>
            </a:r>
          </a:p>
        </p:txBody>
      </p:sp>
      <p:sp>
        <p:nvSpPr>
          <p:cNvPr id="9" name="GVK =">
            <a:extLst xmlns:a="http://schemas.openxmlformats.org/drawingml/2006/main">
              <a:ext uri="{FF2B5EF4-FFF2-40B4-BE49-F238E27FC236}">
                <a16:creationId xmlns:a16="http://schemas.microsoft.com/office/drawing/2014/main" id="{E4EA5AED-722C-469B-A4A6-1D8B5728ED2D}"/>
              </a:ext>
            </a:extLst>
          </p:cNvPr>
          <p:cNvSpPr>
            <a:spLocks xmlns:a="http://schemas.openxmlformats.org/drawingml/2006/main" noGrp="1"/>
          </p:cNvSpPr>
          <p:nvPr/>
        </p:nvSpPr>
        <p:spPr>
          <a:xfrm xmlns:a="http://schemas.openxmlformats.org/drawingml/2006/main">
            <a:off x="571500" y="4362450"/>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0665B"/>
                </a:solidFill>
                <a:latin typeface="Arial"/>
                <a:ea typeface="Arial"/>
                <a:cs typeface="Arial"/>
              </a:defRPr>
            </a:pPr>
            <a:r>
              <a:rPr sz="3450" b="1">
                <a:solidFill>
                  <a:srgbClr val="20665B"/>
                </a:solidFill>
                <a:latin typeface="Arial"/>
                <a:ea typeface="Arial"/>
                <a:cs typeface="Arial"/>
              </a:rPr>
              <a:t>GVK =</a:t>
            </a:r>
          </a:p>
        </p:txBody>
      </p:sp>
      <p:sp>
        <p:nvSpPr>
          <p:cNvPr id="10" name="400 / 200">
            <a:extLst xmlns:a="http://schemas.openxmlformats.org/drawingml/2006/main">
              <a:ext uri="{FF2B5EF4-FFF2-40B4-BE49-F238E27FC236}">
                <a16:creationId xmlns:a16="http://schemas.microsoft.com/office/drawing/2014/main" id="{0D109519-12A1-4586-8558-153F58CFB893}"/>
              </a:ext>
            </a:extLst>
          </p:cNvPr>
          <p:cNvSpPr>
            <a:spLocks xmlns:a="http://schemas.openxmlformats.org/drawingml/2006/main" noGrp="1"/>
          </p:cNvSpPr>
          <p:nvPr/>
        </p:nvSpPr>
        <p:spPr>
          <a:xfrm xmlns:a="http://schemas.openxmlformats.org/drawingml/2006/main">
            <a:off x="2905125" y="436245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400 / 200</a:t>
            </a:r>
          </a:p>
        </p:txBody>
      </p:sp>
      <p:sp>
        <p:nvSpPr>
          <p:cNvPr id="11" name="= € 2,00 per fles">
            <a:extLst xmlns:a="http://schemas.openxmlformats.org/drawingml/2006/main">
              <a:ext uri="{FF2B5EF4-FFF2-40B4-BE49-F238E27FC236}">
                <a16:creationId xmlns:a16="http://schemas.microsoft.com/office/drawing/2014/main" id="{0041F8AC-F8CC-4070-A4D7-46531A2AA2C8}"/>
              </a:ext>
            </a:extLst>
          </p:cNvPr>
          <p:cNvSpPr>
            <a:spLocks xmlns:a="http://schemas.openxmlformats.org/drawingml/2006/main" noGrp="1"/>
          </p:cNvSpPr>
          <p:nvPr/>
        </p:nvSpPr>
        <p:spPr>
          <a:xfrm xmlns:a="http://schemas.openxmlformats.org/drawingml/2006/main">
            <a:off x="7858125" y="4362450"/>
            <a:ext cx="676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 € 2,00 per fles</a:t>
            </a:r>
          </a:p>
        </p:txBody>
      </p:sp>
      <p:sp>
        <p:nvSpPr>
          <p:cNvPr id="12" name="GTK =">
            <a:extLst xmlns:a="http://schemas.openxmlformats.org/drawingml/2006/main">
              <a:ext uri="{FF2B5EF4-FFF2-40B4-BE49-F238E27FC236}">
                <a16:creationId xmlns:a16="http://schemas.microsoft.com/office/drawing/2014/main" id="{FDA0D3B1-542A-4E61-87A6-B427F6E093DD}"/>
              </a:ext>
            </a:extLst>
          </p:cNvPr>
          <p:cNvSpPr>
            <a:spLocks xmlns:a="http://schemas.openxmlformats.org/drawingml/2006/main" noGrp="1"/>
          </p:cNvSpPr>
          <p:nvPr/>
        </p:nvSpPr>
        <p:spPr>
          <a:xfrm xmlns:a="http://schemas.openxmlformats.org/drawingml/2006/main">
            <a:off x="571500" y="5695950"/>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A94D16"/>
                </a:solidFill>
                <a:latin typeface="Arial"/>
                <a:ea typeface="Arial"/>
                <a:cs typeface="Arial"/>
              </a:defRPr>
            </a:pPr>
            <a:r>
              <a:rPr sz="3450" b="1">
                <a:solidFill>
                  <a:srgbClr val="A94D16"/>
                </a:solidFill>
                <a:latin typeface="Arial"/>
                <a:ea typeface="Arial"/>
                <a:cs typeface="Arial"/>
              </a:rPr>
              <a:t>GTK =</a:t>
            </a:r>
          </a:p>
        </p:txBody>
      </p:sp>
      <p:sp>
        <p:nvSpPr>
          <p:cNvPr id="13" name="700 / 200">
            <a:extLst xmlns:a="http://schemas.openxmlformats.org/drawingml/2006/main">
              <a:ext uri="{FF2B5EF4-FFF2-40B4-BE49-F238E27FC236}">
                <a16:creationId xmlns:a16="http://schemas.microsoft.com/office/drawing/2014/main" id="{C3E849A5-F2FE-418B-A962-2B4362220165}"/>
              </a:ext>
            </a:extLst>
          </p:cNvPr>
          <p:cNvSpPr>
            <a:spLocks xmlns:a="http://schemas.openxmlformats.org/drawingml/2006/main" noGrp="1"/>
          </p:cNvSpPr>
          <p:nvPr/>
        </p:nvSpPr>
        <p:spPr>
          <a:xfrm xmlns:a="http://schemas.openxmlformats.org/drawingml/2006/main">
            <a:off x="2905125" y="569595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700 / 200</a:t>
            </a:r>
          </a:p>
        </p:txBody>
      </p:sp>
      <p:sp>
        <p:nvSpPr>
          <p:cNvPr id="14" name="= € 3,50 per fles">
            <a:extLst xmlns:a="http://schemas.openxmlformats.org/drawingml/2006/main">
              <a:ext uri="{FF2B5EF4-FFF2-40B4-BE49-F238E27FC236}">
                <a16:creationId xmlns:a16="http://schemas.microsoft.com/office/drawing/2014/main" id="{4BFF44F8-A320-4AA5-85D9-9F18213D3021}"/>
              </a:ext>
            </a:extLst>
          </p:cNvPr>
          <p:cNvSpPr>
            <a:spLocks xmlns:a="http://schemas.openxmlformats.org/drawingml/2006/main" noGrp="1"/>
          </p:cNvSpPr>
          <p:nvPr/>
        </p:nvSpPr>
        <p:spPr>
          <a:xfrm xmlns:a="http://schemas.openxmlformats.org/drawingml/2006/main">
            <a:off x="7858125" y="5695950"/>
            <a:ext cx="676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 € 3,50 per fles</a:t>
            </a:r>
          </a:p>
        </p:txBody>
      </p:sp>
      <p:sp>
        <p:nvSpPr>
          <p:cNvPr id="15" name="Controle: € 1,50 + € 2,00 = € 3,50 per fles">
            <a:extLst xmlns:a="http://schemas.openxmlformats.org/drawingml/2006/main">
              <a:ext uri="{FF2B5EF4-FFF2-40B4-BE49-F238E27FC236}">
                <a16:creationId xmlns:a16="http://schemas.microsoft.com/office/drawing/2014/main" id="{8ED4F9FA-54EE-42DC-9469-566F90520E96}"/>
              </a:ext>
            </a:extLst>
          </p:cNvPr>
          <p:cNvSpPr>
            <a:spLocks xmlns:a="http://schemas.openxmlformats.org/drawingml/2006/main" noGrp="1"/>
          </p:cNvSpPr>
          <p:nvPr/>
        </p:nvSpPr>
        <p:spPr>
          <a:xfrm xmlns:a="http://schemas.openxmlformats.org/drawingml/2006/main">
            <a:off x="571500" y="72961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Controle: € 1,50 + € 2,00 = € 3,50 per fles</a:t>
            </a:r>
          </a:p>
        </p:txBody>
      </p:sp>
    </p:spTree>
    <p:extLst>
      <p:ext uri="{BB962C8B-B14F-4D97-AF65-F5344CB8AC3E}">
        <p14:creationId xmlns:p14="http://schemas.microsoft.com/office/powerpoint/2010/main" val="9591705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Meer flessen, lagere kosten per fles">
            <a:extLst xmlns:a="http://schemas.openxmlformats.org/drawingml/2006/main">
              <a:ext uri="{FF2B5EF4-FFF2-40B4-BE49-F238E27FC236}">
                <a16:creationId xmlns:a16="http://schemas.microsoft.com/office/drawing/2014/main" id="{9B695D8F-37B3-48CE-B876-B943E798350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Meer flessen, lagere kosten per fles</a:t>
            </a:r>
          </a:p>
        </p:txBody>
      </p:sp>
      <p:sp>
        <p:nvSpPr>
          <p:cNvPr id="2" name="">
            <a:extLst xmlns:a="http://schemas.openxmlformats.org/drawingml/2006/main">
              <a:ext uri="{FF2B5EF4-FFF2-40B4-BE49-F238E27FC236}">
                <a16:creationId xmlns:a16="http://schemas.microsoft.com/office/drawing/2014/main" id="{83CC76BD-8757-4A65-94E4-18EEC43D1CE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1 Kostenstructuren">
            <a:extLst xmlns:a="http://schemas.openxmlformats.org/drawingml/2006/main">
              <a:ext uri="{FF2B5EF4-FFF2-40B4-BE49-F238E27FC236}">
                <a16:creationId xmlns:a16="http://schemas.microsoft.com/office/drawing/2014/main" id="{B9C88CEA-1D89-4B51-9095-0845CE9CFE8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§2.1.1 Kostenstructuren</a:t>
            </a:r>
          </a:p>
        </p:txBody>
      </p:sp>
      <p:sp>
        <p:nvSpPr>
          <p:cNvPr id="4" name="9">
            <a:extLst xmlns:a="http://schemas.openxmlformats.org/drawingml/2006/main">
              <a:ext uri="{FF2B5EF4-FFF2-40B4-BE49-F238E27FC236}">
                <a16:creationId xmlns:a16="http://schemas.microsoft.com/office/drawing/2014/main" id="{39ABCE53-3B85-48B3-BAF5-61987A4017F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graphicFrame>
        <p:nvGraphicFramePr>
          <p:cNvPr id="13" name=""/>
          <p:cNvGraphicFramePr/>
          <p:nvPr/>
        </p:nvGraphicFramePr>
        <p:xfrm>
          <a:off xmlns:a="http://schemas.openxmlformats.org/drawingml/2006/main" x="571500" y="2047875"/>
          <a:ext xmlns:a="http://schemas.openxmlformats.org/drawingml/2006/main" cx="14097000" cy="2667000"/>
        </p:xfrm>
        <a:graphic xmlns:a="http://schemas.openxmlformats.org/drawingml/2006/main">
          <a:graphicData uri="http://schemas.openxmlformats.org/drawingml/2006/table">
            <a:tbl>
              <a:tblPr/>
              <a:tblGrid>
                <a:gridCol w="4095750"/>
                <a:gridCol w="3333750"/>
                <a:gridCol w="3333750"/>
                <a:gridCol w="3333750"/>
              </a:tblGrid>
              <a:tr h="889000">
                <a:tc>
                  <a:txBody>
                    <a:bodyPr lIns="171450" tIns="95250" rIns="152400" bIns="95250"/>
                    <a:lstStyle/>
                    <a:p>
                      <a:r>
                        <a:rPr sz="2400" b="1">
                          <a:solidFill>
                            <a:srgbClr val="FFFFFF"/>
                          </a:solidFill>
                          <a:latin typeface="Arial"/>
                          <a:ea typeface="Arial"/>
                          <a:cs typeface="Arial"/>
                        </a:rPr>
                        <a:t>Q (flessen per maand)</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GCK (€ per fles)</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GVK (€ per fles)</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GTK (€ per fles)</a:t>
                      </a:r>
                    </a:p>
                  </a:txBody>
                  <a:tcPr marL="91440" marR="91440" marT="45720" marB="45720" anchor="ctr">
                    <a:solidFill>
                      <a:srgbClr val="183247"/>
                    </a:solidFill>
                  </a:tcPr>
                </a:tc>
              </a:tr>
              <a:tr h="889000">
                <a:tc>
                  <a:txBody>
                    <a:bodyPr lIns="171450" tIns="95250" rIns="152400" bIns="95250"/>
                    <a:lstStyle/>
                    <a:p>
                      <a:r>
                        <a:rPr sz="2400" b="0">
                          <a:solidFill>
                            <a:srgbClr val="183247"/>
                          </a:solidFill>
                          <a:latin typeface="Arial"/>
                          <a:ea typeface="Arial"/>
                          <a:cs typeface="Arial"/>
                        </a:rPr>
                        <a:t>200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1,50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2,00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3,50</a:t>
                      </a:r>
                    </a:p>
                  </a:txBody>
                  <a:tcPr marL="91440" marR="91440" marT="45720" marB="45720" anchor="ctr">
                    <a:solidFill>
                      <a:srgbClr val="FFFFFF"/>
                    </a:solidFill>
                  </a:tcPr>
                </a:tc>
              </a:tr>
              <a:tr h="889000">
                <a:tc>
                  <a:txBody>
                    <a:bodyPr lIns="171450" tIns="95250" rIns="152400" bIns="95250"/>
                    <a:lstStyle/>
                    <a:p>
                      <a:r>
                        <a:rPr sz="2400" b="0">
                          <a:solidFill>
                            <a:srgbClr val="183247"/>
                          </a:solidFill>
                          <a:latin typeface="Arial"/>
                          <a:ea typeface="Arial"/>
                          <a:cs typeface="Arial"/>
                        </a:rPr>
                        <a:t>400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0,75</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2,00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2,75</a:t>
                      </a:r>
                    </a:p>
                  </a:txBody>
                  <a:tcPr marL="91440" marR="91440" marT="45720" marB="45720" anchor="ctr">
                    <a:solidFill>
                      <a:srgbClr val="EFF4F7"/>
                    </a:solidFill>
                  </a:tcPr>
                </a:tc>
              </a:tr>
            </a:tbl>
          </a:graphicData>
        </a:graphic>
      </p:graphicFrame>
      <p:sp>
        <p:nvSpPr>
          <p:cNvPr id="6" name="Dezelfde € 300 huur over tweemaal zoveel flessen">
            <a:extLst xmlns:a="http://schemas.openxmlformats.org/drawingml/2006/main">
              <a:ext uri="{FF2B5EF4-FFF2-40B4-BE49-F238E27FC236}">
                <a16:creationId xmlns:a16="http://schemas.microsoft.com/office/drawing/2014/main" id="{EC548B0A-01B2-473D-A015-1F61FCCBE605}"/>
              </a:ext>
            </a:extLst>
          </p:cNvPr>
          <p:cNvSpPr>
            <a:spLocks xmlns:a="http://schemas.openxmlformats.org/drawingml/2006/main" noGrp="1"/>
          </p:cNvSpPr>
          <p:nvPr/>
        </p:nvSpPr>
        <p:spPr>
          <a:xfrm xmlns:a="http://schemas.openxmlformats.org/drawingml/2006/main">
            <a:off x="571500" y="5314950"/>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Dezelfde € 300 huur over tweemaal zoveel flessen</a:t>
            </a:r>
          </a:p>
        </p:txBody>
      </p:sp>
      <p:sp>
        <p:nvSpPr>
          <p:cNvPr id="7" name="GCK halveert. Het materiaal blijft € 2 per fles.">
            <a:extLst xmlns:a="http://schemas.openxmlformats.org/drawingml/2006/main">
              <a:ext uri="{FF2B5EF4-FFF2-40B4-BE49-F238E27FC236}">
                <a16:creationId xmlns:a16="http://schemas.microsoft.com/office/drawing/2014/main" id="{4A4DC835-BCA6-4617-A4CC-7337E9ECD840}"/>
              </a:ext>
            </a:extLst>
          </p:cNvPr>
          <p:cNvSpPr>
            <a:spLocks xmlns:a="http://schemas.openxmlformats.org/drawingml/2006/main" noGrp="1"/>
          </p:cNvSpPr>
          <p:nvPr/>
        </p:nvSpPr>
        <p:spPr>
          <a:xfrm xmlns:a="http://schemas.openxmlformats.org/drawingml/2006/main">
            <a:off x="571500" y="6381750"/>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GCK halveert. Het materiaal blijft € 2 per fles.</a:t>
            </a:r>
          </a:p>
        </p:txBody>
      </p:sp>
      <p:sp>
        <p:nvSpPr>
          <p:cNvPr id="8" name="Daarom daalt GTK, maar GTK halveert niet.">
            <a:extLst xmlns:a="http://schemas.openxmlformats.org/drawingml/2006/main">
              <a:ext uri="{FF2B5EF4-FFF2-40B4-BE49-F238E27FC236}">
                <a16:creationId xmlns:a16="http://schemas.microsoft.com/office/drawing/2014/main" id="{35E49991-B423-4F70-ADB3-994BEDBF5978}"/>
              </a:ext>
            </a:extLst>
          </p:cNvPr>
          <p:cNvSpPr>
            <a:spLocks xmlns:a="http://schemas.openxmlformats.org/drawingml/2006/main" noGrp="1"/>
          </p:cNvSpPr>
          <p:nvPr/>
        </p:nvSpPr>
        <p:spPr>
          <a:xfrm xmlns:a="http://schemas.openxmlformats.org/drawingml/2006/main">
            <a:off x="571500" y="7210425"/>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Daarom daalt GTK, maar GTK halveert niet.</a:t>
            </a:r>
          </a:p>
        </p:txBody>
      </p:sp>
    </p:spTree>
    <p:extLst>
      <p:ext uri="{BB962C8B-B14F-4D97-AF65-F5344CB8AC3E}">
        <p14:creationId xmlns:p14="http://schemas.microsoft.com/office/powerpoint/2010/main" val="139470899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Korte controle">
            <a:extLst xmlns:a="http://schemas.openxmlformats.org/drawingml/2006/main">
              <a:ext uri="{FF2B5EF4-FFF2-40B4-BE49-F238E27FC236}">
                <a16:creationId xmlns:a16="http://schemas.microsoft.com/office/drawing/2014/main" id="{F661F010-D2EA-418C-9D7E-FE256A20381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controle</a:t>
            </a:r>
          </a:p>
        </p:txBody>
      </p:sp>
      <p:sp>
        <p:nvSpPr>
          <p:cNvPr id="2" name="">
            <a:extLst xmlns:a="http://schemas.openxmlformats.org/drawingml/2006/main">
              <a:ext uri="{FF2B5EF4-FFF2-40B4-BE49-F238E27FC236}">
                <a16:creationId xmlns:a16="http://schemas.microsoft.com/office/drawing/2014/main" id="{0CF2863E-D263-41A2-B036-AE6EF9B65A7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1 Kostenstructuren">
            <a:extLst xmlns:a="http://schemas.openxmlformats.org/drawingml/2006/main">
              <a:ext uri="{FF2B5EF4-FFF2-40B4-BE49-F238E27FC236}">
                <a16:creationId xmlns:a16="http://schemas.microsoft.com/office/drawing/2014/main" id="{73505CB7-F227-4277-AB00-C98671EE0A7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§2.1.1 Kostenstructuren</a:t>
            </a:r>
          </a:p>
        </p:txBody>
      </p:sp>
      <p:sp>
        <p:nvSpPr>
          <p:cNvPr id="4" name="10">
            <a:extLst xmlns:a="http://schemas.openxmlformats.org/drawingml/2006/main">
              <a:ext uri="{FF2B5EF4-FFF2-40B4-BE49-F238E27FC236}">
                <a16:creationId xmlns:a16="http://schemas.microsoft.com/office/drawing/2014/main" id="{C1B2CB5B-36BD-4302-A520-F768686DF54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Bij Fles &amp; Co verdubbelt Q van 200 naar 400 flesse">
            <a:extLst xmlns:a="http://schemas.openxmlformats.org/drawingml/2006/main">
              <a:ext uri="{FF2B5EF4-FFF2-40B4-BE49-F238E27FC236}">
                <a16:creationId xmlns:a16="http://schemas.microsoft.com/office/drawing/2014/main" id="{A4208E61-D3C6-4EF5-B510-FFA9C9CBC986}"/>
              </a:ext>
            </a:extLst>
          </p:cNvPr>
          <p:cNvSpPr>
            <a:spLocks xmlns:a="http://schemas.openxmlformats.org/drawingml/2006/main" noGrp="1"/>
          </p:cNvSpPr>
          <p:nvPr/>
        </p:nvSpPr>
        <p:spPr>
          <a:xfrm xmlns:a="http://schemas.openxmlformats.org/drawingml/2006/main">
            <a:off x="571500" y="189547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Bij Fles &amp; Co verdubbelt Q van 200 naar 400 flessen.</a:t>
            </a:r>
          </a:p>
        </p:txBody>
      </p:sp>
      <p:sp>
        <p:nvSpPr>
          <p:cNvPr id="6" name="“Dan verdubbelt TK en halveert GTK.”">
            <a:extLst xmlns:a="http://schemas.openxmlformats.org/drawingml/2006/main">
              <a:ext uri="{FF2B5EF4-FFF2-40B4-BE49-F238E27FC236}">
                <a16:creationId xmlns:a16="http://schemas.microsoft.com/office/drawing/2014/main" id="{45F486A2-39B6-4E49-9B08-3A6F3DE6FB6F}"/>
              </a:ext>
            </a:extLst>
          </p:cNvPr>
          <p:cNvSpPr>
            <a:spLocks xmlns:a="http://schemas.openxmlformats.org/drawingml/2006/main" noGrp="1"/>
          </p:cNvSpPr>
          <p:nvPr/>
        </p:nvSpPr>
        <p:spPr>
          <a:xfrm xmlns:a="http://schemas.openxmlformats.org/drawingml/2006/main">
            <a:off x="571500" y="3305175"/>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58A"/>
                </a:solidFill>
                <a:latin typeface="Arial"/>
                <a:ea typeface="Arial"/>
                <a:cs typeface="Arial"/>
              </a:defRPr>
            </a:pPr>
            <a:r>
              <a:rPr sz="3900" b="1">
                <a:solidFill>
                  <a:srgbClr val="17658A"/>
                </a:solidFill>
                <a:latin typeface="Arial"/>
                <a:ea typeface="Arial"/>
                <a:cs typeface="Arial"/>
              </a:rPr>
              <a:t>“Dan verdubbelt TK en halveert GTK.”</a:t>
            </a:r>
          </a:p>
        </p:txBody>
      </p:sp>
      <p:sp>
        <p:nvSpPr>
          <p:cNvPr id="7" name="Klopt deze uitspraak?&#10;Gebruik de huur en de materi">
            <a:extLst xmlns:a="http://schemas.openxmlformats.org/drawingml/2006/main">
              <a:ext uri="{FF2B5EF4-FFF2-40B4-BE49-F238E27FC236}">
                <a16:creationId xmlns:a16="http://schemas.microsoft.com/office/drawing/2014/main" id="{050525F1-69A0-4E92-9F6B-63B9013A8DB9}"/>
              </a:ext>
            </a:extLst>
          </p:cNvPr>
          <p:cNvSpPr>
            <a:spLocks xmlns:a="http://schemas.openxmlformats.org/drawingml/2006/main" noGrp="1"/>
          </p:cNvSpPr>
          <p:nvPr/>
        </p:nvSpPr>
        <p:spPr>
          <a:xfrm xmlns:a="http://schemas.openxmlformats.org/drawingml/2006/main">
            <a:off x="571500" y="5314950"/>
            <a:ext cx="1409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Klopt deze uitspraak?</a:t>
            </a:r>
          </a:p>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Gebruik de huur en de materiaalkosten in je uitleg.</a:t>
            </a:r>
          </a:p>
        </p:txBody>
      </p:sp>
    </p:spTree>
    <p:extLst>
      <p:ext uri="{BB962C8B-B14F-4D97-AF65-F5344CB8AC3E}">
        <p14:creationId xmlns:p14="http://schemas.microsoft.com/office/powerpoint/2010/main" val="114179900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orte controle">
            <a:extLst xmlns:a="http://schemas.openxmlformats.org/drawingml/2006/main">
              <a:ext uri="{FF2B5EF4-FFF2-40B4-BE49-F238E27FC236}">
                <a16:creationId xmlns:a16="http://schemas.microsoft.com/office/drawing/2014/main" id="{50BDFE68-83C4-4F67-8544-C0ACA2AA336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controle</a:t>
            </a:r>
          </a:p>
        </p:txBody>
      </p:sp>
      <p:sp>
        <p:nvSpPr>
          <p:cNvPr id="2" name="">
            <a:extLst xmlns:a="http://schemas.openxmlformats.org/drawingml/2006/main">
              <a:ext uri="{FF2B5EF4-FFF2-40B4-BE49-F238E27FC236}">
                <a16:creationId xmlns:a16="http://schemas.microsoft.com/office/drawing/2014/main" id="{61C8A345-D7C4-4AEB-A452-6A757C55939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1 Kostenstructuren">
            <a:extLst xmlns:a="http://schemas.openxmlformats.org/drawingml/2006/main">
              <a:ext uri="{FF2B5EF4-FFF2-40B4-BE49-F238E27FC236}">
                <a16:creationId xmlns:a16="http://schemas.microsoft.com/office/drawing/2014/main" id="{2A9759D1-5816-4085-89DB-14E9F8EEC7F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§2.1.1 Kostenstructuren</a:t>
            </a:r>
          </a:p>
        </p:txBody>
      </p:sp>
      <p:sp>
        <p:nvSpPr>
          <p:cNvPr id="4" name="11">
            <a:extLst xmlns:a="http://schemas.openxmlformats.org/drawingml/2006/main">
              <a:ext uri="{FF2B5EF4-FFF2-40B4-BE49-F238E27FC236}">
                <a16:creationId xmlns:a16="http://schemas.microsoft.com/office/drawing/2014/main" id="{7218FB07-7ECA-4029-878F-D85F7F78865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Bij Fles &amp; Co verdubbelt Q van 200 naar 400 flesse">
            <a:extLst xmlns:a="http://schemas.openxmlformats.org/drawingml/2006/main">
              <a:ext uri="{FF2B5EF4-FFF2-40B4-BE49-F238E27FC236}">
                <a16:creationId xmlns:a16="http://schemas.microsoft.com/office/drawing/2014/main" id="{2AF5E61C-5BE8-4475-8715-4A069D13BB75}"/>
              </a:ext>
            </a:extLst>
          </p:cNvPr>
          <p:cNvSpPr>
            <a:spLocks xmlns:a="http://schemas.openxmlformats.org/drawingml/2006/main" noGrp="1"/>
          </p:cNvSpPr>
          <p:nvPr/>
        </p:nvSpPr>
        <p:spPr>
          <a:xfrm xmlns:a="http://schemas.openxmlformats.org/drawingml/2006/main">
            <a:off x="571500" y="189547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Bij Fles &amp; Co verdubbelt Q van 200 naar 400 flessen.</a:t>
            </a:r>
          </a:p>
        </p:txBody>
      </p:sp>
      <p:sp>
        <p:nvSpPr>
          <p:cNvPr id="6" name="“Dan verdubbelt TK en halveert GTK.”">
            <a:extLst xmlns:a="http://schemas.openxmlformats.org/drawingml/2006/main">
              <a:ext uri="{FF2B5EF4-FFF2-40B4-BE49-F238E27FC236}">
                <a16:creationId xmlns:a16="http://schemas.microsoft.com/office/drawing/2014/main" id="{C77EBC0E-F615-4CDB-AC49-737B24FE66BF}"/>
              </a:ext>
            </a:extLst>
          </p:cNvPr>
          <p:cNvSpPr>
            <a:spLocks xmlns:a="http://schemas.openxmlformats.org/drawingml/2006/main" noGrp="1"/>
          </p:cNvSpPr>
          <p:nvPr/>
        </p:nvSpPr>
        <p:spPr>
          <a:xfrm xmlns:a="http://schemas.openxmlformats.org/drawingml/2006/main">
            <a:off x="571500" y="3305175"/>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58A"/>
                </a:solidFill>
                <a:latin typeface="Arial"/>
                <a:ea typeface="Arial"/>
                <a:cs typeface="Arial"/>
              </a:defRPr>
            </a:pPr>
            <a:r>
              <a:rPr sz="3900" b="1">
                <a:solidFill>
                  <a:srgbClr val="17658A"/>
                </a:solidFill>
                <a:latin typeface="Arial"/>
                <a:ea typeface="Arial"/>
                <a:cs typeface="Arial"/>
              </a:rPr>
              <a:t>“Dan verdubbelt TK en halveert GTK.”</a:t>
            </a:r>
          </a:p>
        </p:txBody>
      </p:sp>
      <p:graphicFrame>
        <p:nvGraphicFramePr>
          <p:cNvPr id="15" name=""/>
          <p:cNvGraphicFramePr/>
          <p:nvPr/>
        </p:nvGraphicFramePr>
        <p:xfrm>
          <a:off xmlns:a="http://schemas.openxmlformats.org/drawingml/2006/main" x="571500" y="4848225"/>
          <a:ext xmlns:a="http://schemas.openxmlformats.org/drawingml/2006/main" cx="14097000" cy="2133600"/>
        </p:xfrm>
        <a:graphic xmlns:a="http://schemas.openxmlformats.org/drawingml/2006/main">
          <a:graphicData uri="http://schemas.openxmlformats.org/drawingml/2006/table">
            <a:tbl>
              <a:tblPr/>
              <a:tblGrid>
                <a:gridCol w="6858000"/>
                <a:gridCol w="3619500"/>
                <a:gridCol w="3619500"/>
              </a:tblGrid>
              <a:tr h="711200">
                <a:tc>
                  <a:txBody>
                    <a:bodyPr lIns="171450" tIns="95250" rIns="152400" bIns="95250"/>
                    <a:lstStyle/>
                    <a:p>
                      <a:r>
                        <a:rPr sz="2400" b="1">
                          <a:solidFill>
                            <a:srgbClr val="FFFFFF"/>
                          </a:solidFill>
                          <a:latin typeface="Arial"/>
                          <a:ea typeface="Arial"/>
                          <a:cs typeface="Arial"/>
                        </a:rPr>
                        <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200 flessen</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400 flessen</a:t>
                      </a:r>
                    </a:p>
                  </a:txBody>
                  <a:tcPr marL="91440" marR="91440" marT="45720" marB="45720" anchor="ctr">
                    <a:solidFill>
                      <a:srgbClr val="183247"/>
                    </a:solidFill>
                  </a:tcPr>
                </a:tc>
              </a:tr>
              <a:tr h="711200">
                <a:tc>
                  <a:txBody>
                    <a:bodyPr lIns="171450" tIns="95250" rIns="152400" bIns="95250"/>
                    <a:lstStyle/>
                    <a:p>
                      <a:r>
                        <a:rPr sz="2400" b="0">
                          <a:solidFill>
                            <a:srgbClr val="183247"/>
                          </a:solidFill>
                          <a:latin typeface="Arial"/>
                          <a:ea typeface="Arial"/>
                          <a:cs typeface="Arial"/>
                        </a:rPr>
                        <a:t>TK (€ per maand)</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700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1.100</a:t>
                      </a:r>
                    </a:p>
                  </a:txBody>
                  <a:tcPr marL="91440" marR="91440" marT="45720" marB="45720" anchor="ctr">
                    <a:solidFill>
                      <a:srgbClr val="FFFFFF"/>
                    </a:solidFill>
                  </a:tcPr>
                </a:tc>
              </a:tr>
              <a:tr h="711200">
                <a:tc>
                  <a:txBody>
                    <a:bodyPr lIns="171450" tIns="95250" rIns="152400" bIns="95250"/>
                    <a:lstStyle/>
                    <a:p>
                      <a:r>
                        <a:rPr sz="2400" b="0">
                          <a:solidFill>
                            <a:srgbClr val="183247"/>
                          </a:solidFill>
                          <a:latin typeface="Arial"/>
                          <a:ea typeface="Arial"/>
                          <a:cs typeface="Arial"/>
                        </a:rPr>
                        <a:t>GTK (€ per fles)</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3,50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2,75</a:t>
                      </a:r>
                    </a:p>
                  </a:txBody>
                  <a:tcPr marL="91440" marR="91440" marT="45720" marB="45720" anchor="ctr">
                    <a:solidFill>
                      <a:srgbClr val="EFF4F7"/>
                    </a:solidFill>
                  </a:tcPr>
                </a:tc>
              </a:tr>
            </a:tbl>
          </a:graphicData>
        </a:graphic>
      </p:graphicFrame>
      <p:sp>
        <p:nvSpPr>
          <p:cNvPr id="8" name="Alleen TVK verdubbelt en GCK halveert.">
            <a:extLst xmlns:a="http://schemas.openxmlformats.org/drawingml/2006/main">
              <a:ext uri="{FF2B5EF4-FFF2-40B4-BE49-F238E27FC236}">
                <a16:creationId xmlns:a16="http://schemas.microsoft.com/office/drawing/2014/main" id="{FE5095CB-4FBF-4F15-A1C9-25C6161E18BD}"/>
              </a:ext>
            </a:extLst>
          </p:cNvPr>
          <p:cNvSpPr>
            <a:spLocks xmlns:a="http://schemas.openxmlformats.org/drawingml/2006/main" noGrp="1"/>
          </p:cNvSpPr>
          <p:nvPr/>
        </p:nvSpPr>
        <p:spPr>
          <a:xfrm xmlns:a="http://schemas.openxmlformats.org/drawingml/2006/main">
            <a:off x="571500" y="7391400"/>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Alleen TVK verdubbelt en GCK halveert.</a:t>
            </a:r>
          </a:p>
        </p:txBody>
      </p:sp>
    </p:spTree>
    <p:extLst>
      <p:ext uri="{BB962C8B-B14F-4D97-AF65-F5344CB8AC3E}">
        <p14:creationId xmlns:p14="http://schemas.microsoft.com/office/powerpoint/2010/main" val="173419414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1.1 Kostenstructuren">
            <a:extLst xmlns:a="http://schemas.openxmlformats.org/drawingml/2006/main">
              <a:ext uri="{FF2B5EF4-FFF2-40B4-BE49-F238E27FC236}">
                <a16:creationId xmlns:a16="http://schemas.microsoft.com/office/drawing/2014/main" id="{656CC02E-FBF7-457B-A668-F8AAD49108C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§2.1.1 Kostenstructuren</a:t>
            </a:r>
          </a:p>
        </p:txBody>
      </p:sp>
      <p:sp>
        <p:nvSpPr>
          <p:cNvPr id="2" name="">
            <a:extLst xmlns:a="http://schemas.openxmlformats.org/drawingml/2006/main">
              <a:ext uri="{FF2B5EF4-FFF2-40B4-BE49-F238E27FC236}">
                <a16:creationId xmlns:a16="http://schemas.microsoft.com/office/drawing/2014/main" id="{F0CF52F2-2D3D-4AE0-AA64-D1FCCA15C0E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1 Kostenstructuren">
            <a:extLst xmlns:a="http://schemas.openxmlformats.org/drawingml/2006/main">
              <a:ext uri="{FF2B5EF4-FFF2-40B4-BE49-F238E27FC236}">
                <a16:creationId xmlns:a16="http://schemas.microsoft.com/office/drawing/2014/main" id="{85FC574D-B8E7-4ECA-9997-315977912DE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§2.1.1 Kostenstructuren</a:t>
            </a:r>
          </a:p>
        </p:txBody>
      </p:sp>
      <p:sp>
        <p:nvSpPr>
          <p:cNvPr id="4" name="12">
            <a:extLst xmlns:a="http://schemas.openxmlformats.org/drawingml/2006/main">
              <a:ext uri="{FF2B5EF4-FFF2-40B4-BE49-F238E27FC236}">
                <a16:creationId xmlns:a16="http://schemas.microsoft.com/office/drawing/2014/main" id="{53C9E189-BAB8-4544-AAF5-9C72215885B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phase">
            <a:extLst xmlns:a="http://schemas.openxmlformats.org/drawingml/2006/main">
              <a:ext uri="{FF2B5EF4-FFF2-40B4-BE49-F238E27FC236}">
                <a16:creationId xmlns:a16="http://schemas.microsoft.com/office/drawing/2014/main" id="{F0217DB1-24CD-49C3-A20D-23E9DC417363}"/>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7C396E81-00F1-418B-8035-3EBE8E55EE0E}"/>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18536316-5E11-44DF-90BF-D6E1FC1A2E48}"/>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835EA30F-32B2-4F06-AB34-D96BDE771AC4}"/>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15F5FFC0-A070-4D20-A229-E620BBBE7EA9}"/>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ABBE1C7A-9137-4FCB-863D-A0ECB897B4B4}"/>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9348FCC6-CC2C-4B21-A4BE-D46E38EC0752}"/>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6E504DC0-8F18-40E2-9167-C8880B67DB7E}"/>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7AC7ABE6-02A3-4753-9073-578BEA6644D4}"/>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B05C4770-B393-4AC8-AFB4-F4E8A0D9FFA5}"/>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17511640-54DB-42C9-9DCC-59715081AA82}"/>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3D78F0D6-3881-4B43-AE91-E20B9271EBB4}"/>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6BD2EFAC-4723-4FD5-A0E9-AA26326B58B1}"/>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64DB4E4A-7107-4967-8D08-6A51158C04CC}"/>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DDD639E5-2054-4C42-B0E7-DF5E6AF4AF34}"/>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8DECB584-189C-43EC-87EB-2644263C9209}"/>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5DF84407-3262-437B-AB29-2E55F2F71ABC}"/>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84174CFB-3C0D-46F0-B027-35B92ADD47F7}"/>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Kosten indelen, functies opstellen,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gemiddelden berekenen 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veranderingen verklaren.</a:t>
            </a:r>
          </a:p>
        </p:txBody>
      </p:sp>
      <p:sp>
        <p:nvSpPr>
          <p:cNvPr id="23" name="">
            <a:extLst xmlns:a="http://schemas.openxmlformats.org/drawingml/2006/main">
              <a:ext uri="{FF2B5EF4-FFF2-40B4-BE49-F238E27FC236}">
                <a16:creationId xmlns:a16="http://schemas.microsoft.com/office/drawing/2014/main" id="{35C9657D-A752-4DCC-9011-F1FA441A7CC4}"/>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C1258DBD-0295-4207-AC2F-6F5FBCCB72A7}"/>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9F640089-BA9D-4E1B-9177-ED81878C8D0D}"/>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Pagina 6</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Opgaven 1 en 2</a:t>
            </a:r>
          </a:p>
        </p:txBody>
      </p:sp>
      <p:sp>
        <p:nvSpPr>
          <p:cNvPr id="26" name="">
            <a:extLst xmlns:a="http://schemas.openxmlformats.org/drawingml/2006/main">
              <a:ext uri="{FF2B5EF4-FFF2-40B4-BE49-F238E27FC236}">
                <a16:creationId xmlns:a16="http://schemas.microsoft.com/office/drawing/2014/main" id="{859E410B-A7F4-4D80-AA40-E257B71952B2}"/>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B6A9B1D7-E3BC-46CE-B627-51214ED7B4B7}"/>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9CE3D60B-639B-46AF-944C-4031DECBE0FC}"/>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§2.1.1 Kostenstructuren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84525315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 · Bakkerij De Korenaar">
            <a:extLst xmlns:a="http://schemas.openxmlformats.org/drawingml/2006/main">
              <a:ext uri="{FF2B5EF4-FFF2-40B4-BE49-F238E27FC236}">
                <a16:creationId xmlns:a16="http://schemas.microsoft.com/office/drawing/2014/main" id="{0C9CF166-5172-4101-84A0-7E04F538C28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 Bakkerij De Korenaar</a:t>
            </a:r>
          </a:p>
        </p:txBody>
      </p:sp>
      <p:sp>
        <p:nvSpPr>
          <p:cNvPr id="2" name="">
            <a:extLst xmlns:a="http://schemas.openxmlformats.org/drawingml/2006/main">
              <a:ext uri="{FF2B5EF4-FFF2-40B4-BE49-F238E27FC236}">
                <a16:creationId xmlns:a16="http://schemas.microsoft.com/office/drawing/2014/main" id="{93CF05D2-948A-4A5E-A17F-47EFD731FDC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1 Kostenstructuren · Opgave 7 · Boekpagina 8">
            <a:extLst xmlns:a="http://schemas.openxmlformats.org/drawingml/2006/main">
              <a:ext uri="{FF2B5EF4-FFF2-40B4-BE49-F238E27FC236}">
                <a16:creationId xmlns:a16="http://schemas.microsoft.com/office/drawing/2014/main" id="{C4106C64-E890-4C52-8413-DF11391762D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§2.1.1 Kostenstructuren · Opgave 7 · Boekpagina 8</a:t>
            </a:r>
          </a:p>
        </p:txBody>
      </p:sp>
      <p:sp>
        <p:nvSpPr>
          <p:cNvPr id="4" name="13">
            <a:extLst xmlns:a="http://schemas.openxmlformats.org/drawingml/2006/main">
              <a:ext uri="{FF2B5EF4-FFF2-40B4-BE49-F238E27FC236}">
                <a16:creationId xmlns:a16="http://schemas.microsoft.com/office/drawing/2014/main" id="{E5C608BD-C5DA-42DD-9609-313660E87A5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Maximaal 1.000 broden per maand. Deze maand blijve">
            <a:extLst xmlns:a="http://schemas.openxmlformats.org/drawingml/2006/main">
              <a:ext uri="{FF2B5EF4-FFF2-40B4-BE49-F238E27FC236}">
                <a16:creationId xmlns:a16="http://schemas.microsoft.com/office/drawing/2014/main" id="{93929265-62F7-42BF-B09A-60439FDDBFAC}"/>
              </a:ext>
            </a:extLst>
          </p:cNvPr>
          <p:cNvSpPr>
            <a:spLocks xmlns:a="http://schemas.openxmlformats.org/drawingml/2006/main" noGrp="1"/>
          </p:cNvSpPr>
          <p:nvPr/>
        </p:nvSpPr>
        <p:spPr>
          <a:xfrm xmlns:a="http://schemas.openxmlformats.org/drawingml/2006/main">
            <a:off x="571500" y="1809750"/>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Maximaal 1.000 broden per maand. Deze maand blijven de ruimte en ovens hetzelfde.</a:t>
            </a:r>
          </a:p>
        </p:txBody>
      </p:sp>
      <p:sp>
        <p:nvSpPr>
          <p:cNvPr id="6" name="Tot en met die capaciteit gelden de volgende koste">
            <a:extLst xmlns:a="http://schemas.openxmlformats.org/drawingml/2006/main">
              <a:ext uri="{FF2B5EF4-FFF2-40B4-BE49-F238E27FC236}">
                <a16:creationId xmlns:a16="http://schemas.microsoft.com/office/drawing/2014/main" id="{B348E266-0792-47DB-869A-21076DB47D0D}"/>
              </a:ext>
            </a:extLst>
          </p:cNvPr>
          <p:cNvSpPr>
            <a:spLocks xmlns:a="http://schemas.openxmlformats.org/drawingml/2006/main" noGrp="1"/>
          </p:cNvSpPr>
          <p:nvPr/>
        </p:nvSpPr>
        <p:spPr>
          <a:xfrm xmlns:a="http://schemas.openxmlformats.org/drawingml/2006/main">
            <a:off x="571500" y="2914650"/>
            <a:ext cx="1409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Tot en met die capaciteit gelden de volgende kosten:</a:t>
            </a:r>
          </a:p>
        </p:txBody>
      </p:sp>
      <p:graphicFrame>
        <p:nvGraphicFramePr>
          <p:cNvPr id="15" name=""/>
          <p:cNvGraphicFramePr/>
          <p:nvPr/>
        </p:nvGraphicFramePr>
        <p:xfrm>
          <a:off xmlns:a="http://schemas.openxmlformats.org/drawingml/2006/main" x="571500" y="3752850"/>
          <a:ext xmlns:a="http://schemas.openxmlformats.org/drawingml/2006/main" cx="14097000" cy="3190875"/>
        </p:xfrm>
        <a:graphic xmlns:a="http://schemas.openxmlformats.org/drawingml/2006/main">
          <a:graphicData uri="http://schemas.openxmlformats.org/drawingml/2006/table">
            <a:tbl>
              <a:tblPr/>
              <a:tblGrid>
                <a:gridCol w="9810750"/>
                <a:gridCol w="4286250"/>
              </a:tblGrid>
              <a:tr h="638175">
                <a:tc>
                  <a:txBody>
                    <a:bodyPr lIns="171450" tIns="95250" rIns="152400" bIns="95250"/>
                    <a:lstStyle/>
                    <a:p>
                      <a:r>
                        <a:rPr sz="2400" b="1">
                          <a:solidFill>
                            <a:srgbClr val="FFFFFF"/>
                          </a:solidFill>
                          <a:latin typeface="Arial"/>
                          <a:ea typeface="Arial"/>
                          <a:cs typeface="Arial"/>
                        </a:rPr>
                        <a:t>Kostenpost</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Bedrag</a:t>
                      </a:r>
                    </a:p>
                  </a:txBody>
                  <a:tcPr marL="91440" marR="91440" marT="45720" marB="45720" anchor="ctr">
                    <a:solidFill>
                      <a:srgbClr val="183247"/>
                    </a:solidFill>
                  </a:tcPr>
                </a:tc>
              </a:tr>
              <a:tr h="638175">
                <a:tc>
                  <a:txBody>
                    <a:bodyPr lIns="171450" tIns="95250" rIns="152400" bIns="95250"/>
                    <a:lstStyle/>
                    <a:p>
                      <a:r>
                        <a:rPr sz="2400" b="0">
                          <a:solidFill>
                            <a:srgbClr val="183247"/>
                          </a:solidFill>
                          <a:latin typeface="Arial"/>
                          <a:ea typeface="Arial"/>
                          <a:cs typeface="Arial"/>
                        </a:rPr>
                        <a:t>Huur en verzekering samen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€ 440 per maand</a:t>
                      </a:r>
                    </a:p>
                  </a:txBody>
                  <a:tcPr marL="91440" marR="91440" marT="45720" marB="45720" anchor="ctr">
                    <a:solidFill>
                      <a:srgbClr val="FFFFFF"/>
                    </a:solidFill>
                  </a:tcPr>
                </a:tc>
              </a:tr>
              <a:tr h="638175">
                <a:tc>
                  <a:txBody>
                    <a:bodyPr lIns="171450" tIns="95250" rIns="152400" bIns="95250"/>
                    <a:lstStyle/>
                    <a:p>
                      <a:r>
                        <a:rPr sz="2400" b="0">
                          <a:solidFill>
                            <a:srgbClr val="183247"/>
                          </a:solidFill>
                          <a:latin typeface="Arial"/>
                          <a:ea typeface="Arial"/>
                          <a:cs typeface="Arial"/>
                        </a:rPr>
                        <a:t>Netaansluiting en energieabonnement samen</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€ 60 per maand</a:t>
                      </a:r>
                    </a:p>
                  </a:txBody>
                  <a:tcPr marL="91440" marR="91440" marT="45720" marB="45720" anchor="ctr">
                    <a:solidFill>
                      <a:srgbClr val="EFF4F7"/>
                    </a:solidFill>
                  </a:tcPr>
                </a:tc>
              </a:tr>
              <a:tr h="638175">
                <a:tc>
                  <a:txBody>
                    <a:bodyPr lIns="171450" tIns="95250" rIns="152400" bIns="95250"/>
                    <a:lstStyle/>
                    <a:p>
                      <a:r>
                        <a:rPr sz="2400" b="0">
                          <a:solidFill>
                            <a:srgbClr val="183247"/>
                          </a:solidFill>
                          <a:latin typeface="Arial"/>
                          <a:ea typeface="Arial"/>
                          <a:cs typeface="Arial"/>
                        </a:rPr>
                        <a:t>Meel en verpakking samen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€ 0,70 per brood</a:t>
                      </a:r>
                    </a:p>
                  </a:txBody>
                  <a:tcPr marL="91440" marR="91440" marT="45720" marB="45720" anchor="ctr">
                    <a:solidFill>
                      <a:srgbClr val="FFFFFF"/>
                    </a:solidFill>
                  </a:tcPr>
                </a:tc>
              </a:tr>
              <a:tr h="638175">
                <a:tc>
                  <a:txBody>
                    <a:bodyPr lIns="171450" tIns="95250" rIns="152400" bIns="95250"/>
                    <a:lstStyle/>
                    <a:p>
                      <a:r>
                        <a:rPr sz="2400" b="0">
                          <a:solidFill>
                            <a:srgbClr val="183247"/>
                          </a:solidFill>
                          <a:latin typeface="Arial"/>
                          <a:ea typeface="Arial"/>
                          <a:cs typeface="Arial"/>
                        </a:rPr>
                        <a:t>Elektriciteitsverbruik van de ovens</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€ 0,10 per brood</a:t>
                      </a:r>
                    </a:p>
                  </a:txBody>
                  <a:tcPr marL="91440" marR="91440" marT="45720" marB="45720" anchor="ctr">
                    <a:solidFill>
                      <a:srgbClr val="EFF4F7"/>
                    </a:solidFill>
                  </a:tcPr>
                </a:tc>
              </a:tr>
            </a:tbl>
          </a:graphicData>
        </a:graphic>
      </p:graphicFrame>
      <p:sp>
        <p:nvSpPr>
          <p:cNvPr id="8" name="Q is het aantal broden per maand.">
            <a:extLst xmlns:a="http://schemas.openxmlformats.org/drawingml/2006/main">
              <a:ext uri="{FF2B5EF4-FFF2-40B4-BE49-F238E27FC236}">
                <a16:creationId xmlns:a16="http://schemas.microsoft.com/office/drawing/2014/main" id="{D6A612A6-74A0-43F8-8B6C-295830D589F9}"/>
              </a:ext>
            </a:extLst>
          </p:cNvPr>
          <p:cNvSpPr>
            <a:spLocks xmlns:a="http://schemas.openxmlformats.org/drawingml/2006/main" noGrp="1"/>
          </p:cNvSpPr>
          <p:nvPr/>
        </p:nvSpPr>
        <p:spPr>
          <a:xfrm xmlns:a="http://schemas.openxmlformats.org/drawingml/2006/main">
            <a:off x="571500" y="7362825"/>
            <a:ext cx="1409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Q is het aantal broden per maand.</a:t>
            </a:r>
          </a:p>
        </p:txBody>
      </p:sp>
    </p:spTree>
    <p:extLst>
      <p:ext uri="{BB962C8B-B14F-4D97-AF65-F5344CB8AC3E}">
        <p14:creationId xmlns:p14="http://schemas.microsoft.com/office/powerpoint/2010/main" val="68181810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 · Deelvragen a en b">
            <a:extLst xmlns:a="http://schemas.openxmlformats.org/drawingml/2006/main">
              <a:ext uri="{FF2B5EF4-FFF2-40B4-BE49-F238E27FC236}">
                <a16:creationId xmlns:a16="http://schemas.microsoft.com/office/drawing/2014/main" id="{7383D234-DB8E-4D31-87EA-E6851CAF87F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 Deelvragen a en b</a:t>
            </a:r>
          </a:p>
        </p:txBody>
      </p:sp>
      <p:sp>
        <p:nvSpPr>
          <p:cNvPr id="2" name="">
            <a:extLst xmlns:a="http://schemas.openxmlformats.org/drawingml/2006/main">
              <a:ext uri="{FF2B5EF4-FFF2-40B4-BE49-F238E27FC236}">
                <a16:creationId xmlns:a16="http://schemas.microsoft.com/office/drawing/2014/main" id="{5265DCF2-4A6B-4DBE-A925-63762BB0335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1 Kostenstructuren · Opgave 7 · Boekpagina 8">
            <a:extLst xmlns:a="http://schemas.openxmlformats.org/drawingml/2006/main">
              <a:ext uri="{FF2B5EF4-FFF2-40B4-BE49-F238E27FC236}">
                <a16:creationId xmlns:a16="http://schemas.microsoft.com/office/drawing/2014/main" id="{9279FCBF-9B7C-417A-A1A2-5AD13ACFFE5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§2.1.1 Kostenstructuren · Opgave 7 · Boekpagina 8</a:t>
            </a:r>
          </a:p>
        </p:txBody>
      </p:sp>
      <p:sp>
        <p:nvSpPr>
          <p:cNvPr id="4" name="14">
            <a:extLst xmlns:a="http://schemas.openxmlformats.org/drawingml/2006/main">
              <a:ext uri="{FF2B5EF4-FFF2-40B4-BE49-F238E27FC236}">
                <a16:creationId xmlns:a16="http://schemas.microsoft.com/office/drawing/2014/main" id="{D6758A59-DA4E-419B-94D0-3721B1B45D6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a) Neem de classificatietabel over en vul alle leg">
            <a:extLst xmlns:a="http://schemas.openxmlformats.org/drawingml/2006/main">
              <a:ext uri="{FF2B5EF4-FFF2-40B4-BE49-F238E27FC236}">
                <a16:creationId xmlns:a16="http://schemas.microsoft.com/office/drawing/2014/main" id="{55BFDBED-6E48-4B56-9F26-3D9B30E55225}"/>
              </a:ext>
            </a:extLst>
          </p:cNvPr>
          <p:cNvSpPr>
            <a:spLocks xmlns:a="http://schemas.openxmlformats.org/drawingml/2006/main" noGrp="1"/>
          </p:cNvSpPr>
          <p:nvPr/>
        </p:nvSpPr>
        <p:spPr>
          <a:xfrm xmlns:a="http://schemas.openxmlformats.org/drawingml/2006/main">
            <a:off x="571500" y="1762125"/>
            <a:ext cx="1409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a) Neem de classificatietabel over en vul alle lege cellen in. Geef telkens aan hoe het totale bedrag reageert op een verandering van Q.</a:t>
            </a:r>
          </a:p>
        </p:txBody>
      </p:sp>
      <p:graphicFrame>
        <p:nvGraphicFramePr>
          <p:cNvPr id="13" name=""/>
          <p:cNvGraphicFramePr/>
          <p:nvPr/>
        </p:nvGraphicFramePr>
        <p:xfrm>
          <a:off xmlns:a="http://schemas.openxmlformats.org/drawingml/2006/main" x="571500" y="3448050"/>
          <a:ext xmlns:a="http://schemas.openxmlformats.org/drawingml/2006/main" cx="14097000" cy="3095625"/>
        </p:xfrm>
        <a:graphic xmlns:a="http://schemas.openxmlformats.org/drawingml/2006/main">
          <a:graphicData uri="http://schemas.openxmlformats.org/drawingml/2006/table">
            <a:tbl>
              <a:tblPr/>
              <a:tblGrid>
                <a:gridCol w="6477000"/>
                <a:gridCol w="4238625"/>
                <a:gridCol w="3381375"/>
              </a:tblGrid>
              <a:tr h="619125">
                <a:tc>
                  <a:txBody>
                    <a:bodyPr lIns="171450" tIns="95250" rIns="152400" bIns="95250"/>
                    <a:lstStyle/>
                    <a:p>
                      <a:r>
                        <a:rPr sz="2250" b="1">
                          <a:solidFill>
                            <a:srgbClr val="FFFFFF"/>
                          </a:solidFill>
                          <a:latin typeface="Arial"/>
                          <a:ea typeface="Arial"/>
                          <a:cs typeface="Arial"/>
                        </a:rPr>
                        <a:t>Kostenpost</a:t>
                      </a:r>
                    </a:p>
                  </a:txBody>
                  <a:tcPr marL="91440" marR="91440" marT="45720" marB="45720" anchor="ctr">
                    <a:solidFill>
                      <a:srgbClr val="183247"/>
                    </a:solidFill>
                  </a:tcPr>
                </a:tc>
                <a:tc>
                  <a:txBody>
                    <a:bodyPr lIns="171450" tIns="95250" rIns="152400" bIns="95250"/>
                    <a:lstStyle/>
                    <a:p>
                      <a:r>
                        <a:rPr sz="2250" b="1">
                          <a:solidFill>
                            <a:srgbClr val="FFFFFF"/>
                          </a:solidFill>
                          <a:latin typeface="Arial"/>
                          <a:ea typeface="Arial"/>
                          <a:cs typeface="Arial"/>
                        </a:rPr>
                        <a:t>Constant of variabel?</a:t>
                      </a:r>
                    </a:p>
                  </a:txBody>
                  <a:tcPr marL="91440" marR="91440" marT="45720" marB="45720" anchor="ctr">
                    <a:solidFill>
                      <a:srgbClr val="183247"/>
                    </a:solidFill>
                  </a:tcPr>
                </a:tc>
                <a:tc>
                  <a:txBody>
                    <a:bodyPr lIns="171450" tIns="95250" rIns="152400" bIns="95250"/>
                    <a:lstStyle/>
                    <a:p>
                      <a:r>
                        <a:rPr sz="2250" b="1">
                          <a:solidFill>
                            <a:srgbClr val="FFFFFF"/>
                          </a:solidFill>
                          <a:latin typeface="Arial"/>
                          <a:ea typeface="Arial"/>
                          <a:cs typeface="Arial"/>
                        </a:rPr>
                        <a:t>Reden</a:t>
                      </a:r>
                    </a:p>
                  </a:txBody>
                  <a:tcPr marL="91440" marR="91440" marT="45720" marB="45720" anchor="ctr">
                    <a:solidFill>
                      <a:srgbClr val="183247"/>
                    </a:solidFill>
                  </a:tcPr>
                </a:tc>
              </a:tr>
              <a:tr h="619125">
                <a:tc>
                  <a:txBody>
                    <a:bodyPr lIns="171450" tIns="95250" rIns="152400" bIns="95250"/>
                    <a:lstStyle/>
                    <a:p>
                      <a:r>
                        <a:rPr sz="2250" b="0">
                          <a:solidFill>
                            <a:srgbClr val="183247"/>
                          </a:solidFill>
                          <a:latin typeface="Arial"/>
                          <a:ea typeface="Arial"/>
                          <a:cs typeface="Arial"/>
                        </a:rPr>
                        <a:t>Huur en verzekering</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a:t>
                      </a:r>
                    </a:p>
                  </a:txBody>
                  <a:tcPr marL="91440" marR="91440" marT="45720" marB="45720" anchor="ctr">
                    <a:solidFill>
                      <a:srgbClr val="FFFFFF"/>
                    </a:solidFill>
                  </a:tcPr>
                </a:tc>
              </a:tr>
              <a:tr h="619125">
                <a:tc>
                  <a:txBody>
                    <a:bodyPr lIns="171450" tIns="95250" rIns="152400" bIns="95250"/>
                    <a:lstStyle/>
                    <a:p>
                      <a:r>
                        <a:rPr sz="2250" b="0">
                          <a:solidFill>
                            <a:srgbClr val="183247"/>
                          </a:solidFill>
                          <a:latin typeface="Arial"/>
                          <a:ea typeface="Arial"/>
                          <a:cs typeface="Arial"/>
                        </a:rPr>
                        <a:t>Netaansluiting en abonnement</a:t>
                      </a:r>
                    </a:p>
                  </a:txBody>
                  <a:tcPr marL="91440" marR="91440" marT="45720" marB="45720" anchor="ctr">
                    <a:solidFill>
                      <a:srgbClr val="EFF4F7"/>
                    </a:solidFill>
                  </a:tcPr>
                </a:tc>
                <a:tc>
                  <a:txBody>
                    <a:bodyPr lIns="171450" tIns="95250" rIns="152400" bIns="95250"/>
                    <a:lstStyle/>
                    <a:p>
                      <a:r>
                        <a:rPr sz="2250" b="0">
                          <a:solidFill>
                            <a:srgbClr val="183247"/>
                          </a:solidFill>
                          <a:latin typeface="Arial"/>
                          <a:ea typeface="Arial"/>
                          <a:cs typeface="Arial"/>
                        </a:rPr>
                        <a:t>…</a:t>
                      </a:r>
                    </a:p>
                  </a:txBody>
                  <a:tcPr marL="91440" marR="91440" marT="45720" marB="45720" anchor="ctr">
                    <a:solidFill>
                      <a:srgbClr val="EFF4F7"/>
                    </a:solidFill>
                  </a:tcPr>
                </a:tc>
                <a:tc>
                  <a:txBody>
                    <a:bodyPr lIns="171450" tIns="95250" rIns="152400" bIns="95250"/>
                    <a:lstStyle/>
                    <a:p>
                      <a:r>
                        <a:rPr sz="2250" b="0">
                          <a:solidFill>
                            <a:srgbClr val="183247"/>
                          </a:solidFill>
                          <a:latin typeface="Arial"/>
                          <a:ea typeface="Arial"/>
                          <a:cs typeface="Arial"/>
                        </a:rPr>
                        <a:t>…</a:t>
                      </a:r>
                    </a:p>
                  </a:txBody>
                  <a:tcPr marL="91440" marR="91440" marT="45720" marB="45720" anchor="ctr">
                    <a:solidFill>
                      <a:srgbClr val="EFF4F7"/>
                    </a:solidFill>
                  </a:tcPr>
                </a:tc>
              </a:tr>
              <a:tr h="619125">
                <a:tc>
                  <a:txBody>
                    <a:bodyPr lIns="171450" tIns="95250" rIns="152400" bIns="95250"/>
                    <a:lstStyle/>
                    <a:p>
                      <a:r>
                        <a:rPr sz="2250" b="0">
                          <a:solidFill>
                            <a:srgbClr val="183247"/>
                          </a:solidFill>
                          <a:latin typeface="Arial"/>
                          <a:ea typeface="Arial"/>
                          <a:cs typeface="Arial"/>
                        </a:rPr>
                        <a:t>Meel en verpakking</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a:t>
                      </a:r>
                    </a:p>
                  </a:txBody>
                  <a:tcPr marL="91440" marR="91440" marT="45720" marB="45720" anchor="ctr">
                    <a:solidFill>
                      <a:srgbClr val="FFFFFF"/>
                    </a:solidFill>
                  </a:tcPr>
                </a:tc>
              </a:tr>
              <a:tr h="619125">
                <a:tc>
                  <a:txBody>
                    <a:bodyPr lIns="171450" tIns="95250" rIns="152400" bIns="95250"/>
                    <a:lstStyle/>
                    <a:p>
                      <a:r>
                        <a:rPr sz="2250" b="0">
                          <a:solidFill>
                            <a:srgbClr val="183247"/>
                          </a:solidFill>
                          <a:latin typeface="Arial"/>
                          <a:ea typeface="Arial"/>
                          <a:cs typeface="Arial"/>
                        </a:rPr>
                        <a:t>Elektriciteitsverbruik ovens</a:t>
                      </a:r>
                    </a:p>
                  </a:txBody>
                  <a:tcPr marL="91440" marR="91440" marT="45720" marB="45720" anchor="ctr">
                    <a:solidFill>
                      <a:srgbClr val="EFF4F7"/>
                    </a:solidFill>
                  </a:tcPr>
                </a:tc>
                <a:tc>
                  <a:txBody>
                    <a:bodyPr lIns="171450" tIns="95250" rIns="152400" bIns="95250"/>
                    <a:lstStyle/>
                    <a:p>
                      <a:r>
                        <a:rPr sz="2250" b="0">
                          <a:solidFill>
                            <a:srgbClr val="183247"/>
                          </a:solidFill>
                          <a:latin typeface="Arial"/>
                          <a:ea typeface="Arial"/>
                          <a:cs typeface="Arial"/>
                        </a:rPr>
                        <a:t>…</a:t>
                      </a:r>
                    </a:p>
                  </a:txBody>
                  <a:tcPr marL="91440" marR="91440" marT="45720" marB="45720" anchor="ctr">
                    <a:solidFill>
                      <a:srgbClr val="EFF4F7"/>
                    </a:solidFill>
                  </a:tcPr>
                </a:tc>
                <a:tc>
                  <a:txBody>
                    <a:bodyPr lIns="171450" tIns="95250" rIns="152400" bIns="95250"/>
                    <a:lstStyle/>
                    <a:p>
                      <a:r>
                        <a:rPr sz="2250" b="0">
                          <a:solidFill>
                            <a:srgbClr val="183247"/>
                          </a:solidFill>
                          <a:latin typeface="Arial"/>
                          <a:ea typeface="Arial"/>
                          <a:cs typeface="Arial"/>
                        </a:rPr>
                        <a:t>…</a:t>
                      </a:r>
                    </a:p>
                  </a:txBody>
                  <a:tcPr marL="91440" marR="91440" marT="45720" marB="45720" anchor="ctr">
                    <a:solidFill>
                      <a:srgbClr val="EFF4F7"/>
                    </a:solidFill>
                  </a:tcPr>
                </a:tc>
              </a:tr>
            </a:tbl>
          </a:graphicData>
        </a:graphic>
      </p:graphicFrame>
      <p:sp>
        <p:nvSpPr>
          <p:cNvPr id="7" name="b) Stel de functies voor TCK, TVK en TK op.">
            <a:extLst xmlns:a="http://schemas.openxmlformats.org/drawingml/2006/main">
              <a:ext uri="{FF2B5EF4-FFF2-40B4-BE49-F238E27FC236}">
                <a16:creationId xmlns:a16="http://schemas.microsoft.com/office/drawing/2014/main" id="{BB31B459-6515-46B8-BEAA-AB21535638A6}"/>
              </a:ext>
            </a:extLst>
          </p:cNvPr>
          <p:cNvSpPr>
            <a:spLocks xmlns:a="http://schemas.openxmlformats.org/drawingml/2006/main" noGrp="1"/>
          </p:cNvSpPr>
          <p:nvPr/>
        </p:nvSpPr>
        <p:spPr>
          <a:xfrm xmlns:a="http://schemas.openxmlformats.org/drawingml/2006/main">
            <a:off x="571500" y="7124700"/>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b) Stel de functies voor TCK, TVK en TK op.</a:t>
            </a:r>
          </a:p>
        </p:txBody>
      </p:sp>
    </p:spTree>
    <p:extLst>
      <p:ext uri="{BB962C8B-B14F-4D97-AF65-F5344CB8AC3E}">
        <p14:creationId xmlns:p14="http://schemas.microsoft.com/office/powerpoint/2010/main" val="87043233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7 · Deelvragen c, d en e">
            <a:extLst xmlns:a="http://schemas.openxmlformats.org/drawingml/2006/main">
              <a:ext uri="{FF2B5EF4-FFF2-40B4-BE49-F238E27FC236}">
                <a16:creationId xmlns:a16="http://schemas.microsoft.com/office/drawing/2014/main" id="{CB7C1D8A-82B2-44A6-A316-91A7B077055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 Deelvragen c, d en e</a:t>
            </a:r>
          </a:p>
        </p:txBody>
      </p:sp>
      <p:sp>
        <p:nvSpPr>
          <p:cNvPr id="2" name="">
            <a:extLst xmlns:a="http://schemas.openxmlformats.org/drawingml/2006/main">
              <a:ext uri="{FF2B5EF4-FFF2-40B4-BE49-F238E27FC236}">
                <a16:creationId xmlns:a16="http://schemas.microsoft.com/office/drawing/2014/main" id="{4D5F27AE-07B6-431C-8536-57050F03655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1 Kostenstructuren · Opgave 7 · Boekpagina 8">
            <a:extLst xmlns:a="http://schemas.openxmlformats.org/drawingml/2006/main">
              <a:ext uri="{FF2B5EF4-FFF2-40B4-BE49-F238E27FC236}">
                <a16:creationId xmlns:a16="http://schemas.microsoft.com/office/drawing/2014/main" id="{901FCE7B-6FFA-48BA-95BA-504D4014A45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§2.1.1 Kostenstructuren · Opgave 7 · Boekpagina 8</a:t>
            </a:r>
          </a:p>
        </p:txBody>
      </p:sp>
      <p:sp>
        <p:nvSpPr>
          <p:cNvPr id="4" name="15">
            <a:extLst xmlns:a="http://schemas.openxmlformats.org/drawingml/2006/main">
              <a:ext uri="{FF2B5EF4-FFF2-40B4-BE49-F238E27FC236}">
                <a16:creationId xmlns:a16="http://schemas.microsoft.com/office/drawing/2014/main" id="{2B393FB3-7A0F-4D56-B714-7CF7A90CEDE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c) Bereken bij Q = 500 de GCK, GVK en GTK.&#10;Noteer ">
            <a:extLst xmlns:a="http://schemas.openxmlformats.org/drawingml/2006/main">
              <a:ext uri="{FF2B5EF4-FFF2-40B4-BE49-F238E27FC236}">
                <a16:creationId xmlns:a16="http://schemas.microsoft.com/office/drawing/2014/main" id="{47C704C0-0B8C-4DB8-9536-D7FE895AB3B5}"/>
              </a:ext>
            </a:extLst>
          </p:cNvPr>
          <p:cNvSpPr>
            <a:spLocks xmlns:a="http://schemas.openxmlformats.org/drawingml/2006/main" noGrp="1"/>
          </p:cNvSpPr>
          <p:nvPr/>
        </p:nvSpPr>
        <p:spPr>
          <a:xfrm xmlns:a="http://schemas.openxmlformats.org/drawingml/2006/main">
            <a:off x="571500" y="1857375"/>
            <a:ext cx="1409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c) Bereken bij Q = 500 de GCK, GVK en GTK.</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Noteer de volledige eenheden.</a:t>
            </a:r>
          </a:p>
        </p:txBody>
      </p:sp>
      <p:sp>
        <p:nvSpPr>
          <p:cNvPr id="6" name="">
            <a:extLst xmlns:a="http://schemas.openxmlformats.org/drawingml/2006/main">
              <a:ext uri="{FF2B5EF4-FFF2-40B4-BE49-F238E27FC236}">
                <a16:creationId xmlns:a16="http://schemas.microsoft.com/office/drawing/2014/main" id="{23988F1A-4322-4A16-9226-86E176832D48}"/>
              </a:ext>
            </a:extLst>
          </p:cNvPr>
          <p:cNvSpPr>
            <a:spLocks xmlns:a="http://schemas.openxmlformats.org/drawingml/2006/main" noGrp="1"/>
          </p:cNvSpPr>
          <p:nvPr/>
        </p:nvSpPr>
        <p:spPr>
          <a:xfrm xmlns:a="http://schemas.openxmlformats.org/drawingml/2006/main">
            <a:off x="571500" y="3257550"/>
            <a:ext cx="14097000" cy="0"/>
          </a:xfrm>
          <a:prstGeom xmlns:a="http://schemas.openxmlformats.org/drawingml/2006/main" prst="line">
            <a:avLst/>
          </a:prstGeom>
          <a:ln xmlns:a="http://schemas.openxmlformats.org/drawingml/2006/main" w="19050">
            <a:solidFill>
              <a:srgbClr val="C6D2DB"/>
            </a:solidFill>
          </a:ln>
        </p:spPr>
      </p:sp>
      <p:sp>
        <p:nvSpPr>
          <p:cNvPr id="7" name="d) Bereken bij Q = 1.000 de GCK, GVK en GTK.&#10;Notee">
            <a:extLst xmlns:a="http://schemas.openxmlformats.org/drawingml/2006/main">
              <a:ext uri="{FF2B5EF4-FFF2-40B4-BE49-F238E27FC236}">
                <a16:creationId xmlns:a16="http://schemas.microsoft.com/office/drawing/2014/main" id="{CC12CBC5-861F-40C6-890A-63089F3D0FB2}"/>
              </a:ext>
            </a:extLst>
          </p:cNvPr>
          <p:cNvSpPr>
            <a:spLocks xmlns:a="http://schemas.openxmlformats.org/drawingml/2006/main" noGrp="1"/>
          </p:cNvSpPr>
          <p:nvPr/>
        </p:nvSpPr>
        <p:spPr>
          <a:xfrm xmlns:a="http://schemas.openxmlformats.org/drawingml/2006/main">
            <a:off x="571500" y="3667125"/>
            <a:ext cx="1409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d) Bereken bij Q = 1.000 de GCK, GVK en GTK.</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Noteer de volledige eenheden.</a:t>
            </a:r>
          </a:p>
        </p:txBody>
      </p:sp>
      <p:sp>
        <p:nvSpPr>
          <p:cNvPr id="8" name="">
            <a:extLst xmlns:a="http://schemas.openxmlformats.org/drawingml/2006/main">
              <a:ext uri="{FF2B5EF4-FFF2-40B4-BE49-F238E27FC236}">
                <a16:creationId xmlns:a16="http://schemas.microsoft.com/office/drawing/2014/main" id="{32310BF9-A0CA-4200-BCB4-547B25ECA9AE}"/>
              </a:ext>
            </a:extLst>
          </p:cNvPr>
          <p:cNvSpPr>
            <a:spLocks xmlns:a="http://schemas.openxmlformats.org/drawingml/2006/main" noGrp="1"/>
          </p:cNvSpPr>
          <p:nvPr/>
        </p:nvSpPr>
        <p:spPr>
          <a:xfrm xmlns:a="http://schemas.openxmlformats.org/drawingml/2006/main">
            <a:off x="571500" y="5095875"/>
            <a:ext cx="14097000" cy="0"/>
          </a:xfrm>
          <a:prstGeom xmlns:a="http://schemas.openxmlformats.org/drawingml/2006/main" prst="line">
            <a:avLst/>
          </a:prstGeom>
          <a:ln xmlns:a="http://schemas.openxmlformats.org/drawingml/2006/main" w="19050">
            <a:solidFill>
              <a:srgbClr val="C6D2DB"/>
            </a:solidFill>
          </a:ln>
        </p:spPr>
      </p:sp>
      <p:sp>
        <p:nvSpPr>
          <p:cNvPr id="9" name="e) Vergelijk eerst TCK, TVK en TK bij beide hoevee">
            <a:extLst xmlns:a="http://schemas.openxmlformats.org/drawingml/2006/main">
              <a:ext uri="{FF2B5EF4-FFF2-40B4-BE49-F238E27FC236}">
                <a16:creationId xmlns:a16="http://schemas.microsoft.com/office/drawing/2014/main" id="{A446FA8C-63D5-4229-AC7B-DB0E3C40E47C}"/>
              </a:ext>
            </a:extLst>
          </p:cNvPr>
          <p:cNvSpPr>
            <a:spLocks xmlns:a="http://schemas.openxmlformats.org/drawingml/2006/main" noGrp="1"/>
          </p:cNvSpPr>
          <p:nvPr/>
        </p:nvSpPr>
        <p:spPr>
          <a:xfrm xmlns:a="http://schemas.openxmlformats.org/drawingml/2006/main">
            <a:off x="571500" y="5543550"/>
            <a:ext cx="1409700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e) Vergelijk eerst TCK, TVK en TK bij beide hoeveelheden. Leg daarna met je uitkomsten uit waarom GCK halveert, GVK gelijk blijft en GTK niet halveert als Q verdubbelt. Je vergelijkt dezelfde maand en dezelfde productiecapaciteit.</a:t>
            </a:r>
          </a:p>
        </p:txBody>
      </p:sp>
    </p:spTree>
    <p:extLst>
      <p:ext uri="{BB962C8B-B14F-4D97-AF65-F5344CB8AC3E}">
        <p14:creationId xmlns:p14="http://schemas.microsoft.com/office/powerpoint/2010/main" val="123949686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7a · Kosten indelen">
            <a:extLst xmlns:a="http://schemas.openxmlformats.org/drawingml/2006/main">
              <a:ext uri="{FF2B5EF4-FFF2-40B4-BE49-F238E27FC236}">
                <a16:creationId xmlns:a16="http://schemas.microsoft.com/office/drawing/2014/main" id="{658DB59A-7273-4394-B293-4A2A36F3255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7a · Kosten indelen</a:t>
            </a:r>
          </a:p>
        </p:txBody>
      </p:sp>
      <p:sp>
        <p:nvSpPr>
          <p:cNvPr id="2" name="">
            <a:extLst xmlns:a="http://schemas.openxmlformats.org/drawingml/2006/main">
              <a:ext uri="{FF2B5EF4-FFF2-40B4-BE49-F238E27FC236}">
                <a16:creationId xmlns:a16="http://schemas.microsoft.com/office/drawing/2014/main" id="{4B567772-8736-4FCE-B530-39D50113681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1 Kostenstructuren · Opgave 7 · Boekpagina 8">
            <a:extLst xmlns:a="http://schemas.openxmlformats.org/drawingml/2006/main">
              <a:ext uri="{FF2B5EF4-FFF2-40B4-BE49-F238E27FC236}">
                <a16:creationId xmlns:a16="http://schemas.microsoft.com/office/drawing/2014/main" id="{8B7F099D-A34A-4D5E-BC34-A23631C032C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§2.1.1 Kostenstructuren · Opgave 7 · Boekpagina 8</a:t>
            </a:r>
          </a:p>
        </p:txBody>
      </p:sp>
      <p:sp>
        <p:nvSpPr>
          <p:cNvPr id="4" name="16">
            <a:extLst xmlns:a="http://schemas.openxmlformats.org/drawingml/2006/main">
              <a:ext uri="{FF2B5EF4-FFF2-40B4-BE49-F238E27FC236}">
                <a16:creationId xmlns:a16="http://schemas.microsoft.com/office/drawing/2014/main" id="{78D51B67-DB56-4319-A087-0937DC41580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graphicFrame>
        <p:nvGraphicFramePr>
          <p:cNvPr id="11" name=""/>
          <p:cNvGraphicFramePr/>
          <p:nvPr/>
        </p:nvGraphicFramePr>
        <p:xfrm>
          <a:off xmlns:a="http://schemas.openxmlformats.org/drawingml/2006/main" x="571500" y="2009775"/>
          <a:ext xmlns:a="http://schemas.openxmlformats.org/drawingml/2006/main" cx="14097000" cy="4572000"/>
        </p:xfrm>
        <a:graphic xmlns:a="http://schemas.openxmlformats.org/drawingml/2006/main">
          <a:graphicData uri="http://schemas.openxmlformats.org/drawingml/2006/table">
            <a:tbl>
              <a:tblPr/>
              <a:tblGrid>
                <a:gridCol w="5524500"/>
                <a:gridCol w="2381250"/>
                <a:gridCol w="6191250"/>
              </a:tblGrid>
              <a:tr h="914400">
                <a:tc>
                  <a:txBody>
                    <a:bodyPr lIns="171450" tIns="95250" rIns="152400" bIns="95250"/>
                    <a:lstStyle/>
                    <a:p>
                      <a:r>
                        <a:rPr sz="2400" b="1">
                          <a:solidFill>
                            <a:srgbClr val="FFFFFF"/>
                          </a:solidFill>
                          <a:latin typeface="Arial"/>
                          <a:ea typeface="Arial"/>
                          <a:cs typeface="Arial"/>
                        </a:rPr>
                        <a:t>Kostenpost</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Soort</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Reden bij meer broden</a:t>
                      </a:r>
                    </a:p>
                  </a:txBody>
                  <a:tcPr marL="91440" marR="91440" marT="45720" marB="45720" anchor="ctr">
                    <a:solidFill>
                      <a:srgbClr val="183247"/>
                    </a:solidFill>
                  </a:tcPr>
                </a:tc>
              </a:tr>
              <a:tr h="914400">
                <a:tc>
                  <a:txBody>
                    <a:bodyPr lIns="171450" tIns="95250" rIns="152400" bIns="95250"/>
                    <a:lstStyle/>
                    <a:p>
                      <a:r>
                        <a:rPr sz="2400" b="0">
                          <a:solidFill>
                            <a:srgbClr val="183247"/>
                          </a:solidFill>
                          <a:latin typeface="Arial"/>
                          <a:ea typeface="Arial"/>
                          <a:cs typeface="Arial"/>
                        </a:rPr>
                        <a:t>Huur en verzekering</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Constant</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Het maandbedrag blijft € 440.</a:t>
                      </a:r>
                    </a:p>
                  </a:txBody>
                  <a:tcPr marL="91440" marR="91440" marT="45720" marB="45720" anchor="ctr">
                    <a:solidFill>
                      <a:srgbClr val="FFFFFF"/>
                    </a:solidFill>
                  </a:tcPr>
                </a:tc>
              </a:tr>
              <a:tr h="914400">
                <a:tc>
                  <a:txBody>
                    <a:bodyPr lIns="171450" tIns="95250" rIns="152400" bIns="95250"/>
                    <a:lstStyle/>
                    <a:p>
                      <a:r>
                        <a:rPr sz="2400" b="0">
                          <a:solidFill>
                            <a:srgbClr val="183247"/>
                          </a:solidFill>
                          <a:latin typeface="Arial"/>
                          <a:ea typeface="Arial"/>
                          <a:cs typeface="Arial"/>
                        </a:rPr>
                        <a:t>Netaansluiting en abonnement</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Constant</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Het maandbedrag blijft € 60.</a:t>
                      </a:r>
                    </a:p>
                  </a:txBody>
                  <a:tcPr marL="91440" marR="91440" marT="45720" marB="45720" anchor="ctr">
                    <a:solidFill>
                      <a:srgbClr val="EFF4F7"/>
                    </a:solidFill>
                  </a:tcPr>
                </a:tc>
              </a:tr>
              <a:tr h="914400">
                <a:tc>
                  <a:txBody>
                    <a:bodyPr lIns="171450" tIns="95250" rIns="152400" bIns="95250"/>
                    <a:lstStyle/>
                    <a:p>
                      <a:r>
                        <a:rPr sz="2400" b="0">
                          <a:solidFill>
                            <a:srgbClr val="183247"/>
                          </a:solidFill>
                          <a:latin typeface="Arial"/>
                          <a:ea typeface="Arial"/>
                          <a:cs typeface="Arial"/>
                        </a:rPr>
                        <a:t>Meel en verpakking</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Variabel</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Het totaal stijgt met € 0,70 per extra brood.</a:t>
                      </a:r>
                    </a:p>
                  </a:txBody>
                  <a:tcPr marL="91440" marR="91440" marT="45720" marB="45720" anchor="ctr">
                    <a:solidFill>
                      <a:srgbClr val="FFFFFF"/>
                    </a:solidFill>
                  </a:tcPr>
                </a:tc>
              </a:tr>
              <a:tr h="914400">
                <a:tc>
                  <a:txBody>
                    <a:bodyPr lIns="171450" tIns="95250" rIns="152400" bIns="95250"/>
                    <a:lstStyle/>
                    <a:p>
                      <a:r>
                        <a:rPr sz="2400" b="0">
                          <a:solidFill>
                            <a:srgbClr val="183247"/>
                          </a:solidFill>
                          <a:latin typeface="Arial"/>
                          <a:ea typeface="Arial"/>
                          <a:cs typeface="Arial"/>
                        </a:rPr>
                        <a:t>Elektriciteitsverbruik ovens</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Variabel</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Het totaal stijgt met € 0,10 per extra brood.</a:t>
                      </a:r>
                    </a:p>
                  </a:txBody>
                  <a:tcPr marL="91440" marR="91440" marT="45720" marB="45720" anchor="ctr">
                    <a:solidFill>
                      <a:srgbClr val="EFF4F7"/>
                    </a:solidFill>
                  </a:tcPr>
                </a:tc>
              </a:tr>
            </a:tbl>
          </a:graphicData>
        </a:graphic>
      </p:graphicFrame>
      <p:sp>
        <p:nvSpPr>
          <p:cNvPr id="6" name="Eén energierekening kan constante én variabele kos">
            <a:extLst xmlns:a="http://schemas.openxmlformats.org/drawingml/2006/main">
              <a:ext uri="{FF2B5EF4-FFF2-40B4-BE49-F238E27FC236}">
                <a16:creationId xmlns:a16="http://schemas.microsoft.com/office/drawing/2014/main" id="{6C4F9C51-9857-4AE0-8E37-F96253D93BB6}"/>
              </a:ext>
            </a:extLst>
          </p:cNvPr>
          <p:cNvSpPr>
            <a:spLocks xmlns:a="http://schemas.openxmlformats.org/drawingml/2006/main" noGrp="1"/>
          </p:cNvSpPr>
          <p:nvPr/>
        </p:nvSpPr>
        <p:spPr>
          <a:xfrm xmlns:a="http://schemas.openxmlformats.org/drawingml/2006/main">
            <a:off x="571500" y="7067550"/>
            <a:ext cx="14097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Eén energierekening kan constante én variabele kosten bevatten.</a:t>
            </a:r>
          </a:p>
        </p:txBody>
      </p:sp>
    </p:spTree>
    <p:extLst>
      <p:ext uri="{BB962C8B-B14F-4D97-AF65-F5344CB8AC3E}">
        <p14:creationId xmlns:p14="http://schemas.microsoft.com/office/powerpoint/2010/main" val="138704004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pgave 7b · De kostenfuncties">
            <a:extLst xmlns:a="http://schemas.openxmlformats.org/drawingml/2006/main">
              <a:ext uri="{FF2B5EF4-FFF2-40B4-BE49-F238E27FC236}">
                <a16:creationId xmlns:a16="http://schemas.microsoft.com/office/drawing/2014/main" id="{8DCD6855-4290-427F-BECB-9653D64657E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7b · De kostenfuncties</a:t>
            </a:r>
          </a:p>
        </p:txBody>
      </p:sp>
      <p:sp>
        <p:nvSpPr>
          <p:cNvPr id="2" name="">
            <a:extLst xmlns:a="http://schemas.openxmlformats.org/drawingml/2006/main">
              <a:ext uri="{FF2B5EF4-FFF2-40B4-BE49-F238E27FC236}">
                <a16:creationId xmlns:a16="http://schemas.microsoft.com/office/drawing/2014/main" id="{F22EB90C-AC43-470F-B964-BC478FA6EA8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1 Kostenstructuren · Opgave 7 · Boekpagina 8">
            <a:extLst xmlns:a="http://schemas.openxmlformats.org/drawingml/2006/main">
              <a:ext uri="{FF2B5EF4-FFF2-40B4-BE49-F238E27FC236}">
                <a16:creationId xmlns:a16="http://schemas.microsoft.com/office/drawing/2014/main" id="{1DB61F45-A3FD-457C-9AA3-763A960C8EB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§2.1.1 Kostenstructuren · Opgave 7 · Boekpagina 8</a:t>
            </a:r>
          </a:p>
        </p:txBody>
      </p:sp>
      <p:sp>
        <p:nvSpPr>
          <p:cNvPr id="4" name="17">
            <a:extLst xmlns:a="http://schemas.openxmlformats.org/drawingml/2006/main">
              <a:ext uri="{FF2B5EF4-FFF2-40B4-BE49-F238E27FC236}">
                <a16:creationId xmlns:a16="http://schemas.microsoft.com/office/drawing/2014/main" id="{2FAF8BC3-3205-4199-A873-60F21541FBE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Vaste maandbedragen">
            <a:extLst xmlns:a="http://schemas.openxmlformats.org/drawingml/2006/main">
              <a:ext uri="{FF2B5EF4-FFF2-40B4-BE49-F238E27FC236}">
                <a16:creationId xmlns:a16="http://schemas.microsoft.com/office/drawing/2014/main" id="{02BF207C-0250-406B-BF19-ACC65CE248AD}"/>
              </a:ext>
            </a:extLst>
          </p:cNvPr>
          <p:cNvSpPr>
            <a:spLocks xmlns:a="http://schemas.openxmlformats.org/drawingml/2006/main" noGrp="1"/>
          </p:cNvSpPr>
          <p:nvPr/>
        </p:nvSpPr>
        <p:spPr>
          <a:xfrm xmlns:a="http://schemas.openxmlformats.org/drawingml/2006/main">
            <a:off x="571500" y="1885950"/>
            <a:ext cx="590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Vaste maandbedragen</a:t>
            </a:r>
          </a:p>
        </p:txBody>
      </p:sp>
      <p:sp>
        <p:nvSpPr>
          <p:cNvPr id="6" name="TCK = 440 + 60 = 500">
            <a:extLst xmlns:a="http://schemas.openxmlformats.org/drawingml/2006/main">
              <a:ext uri="{FF2B5EF4-FFF2-40B4-BE49-F238E27FC236}">
                <a16:creationId xmlns:a16="http://schemas.microsoft.com/office/drawing/2014/main" id="{E73BC1A8-01CF-40CA-BD21-F672C23A4D57}"/>
              </a:ext>
            </a:extLst>
          </p:cNvPr>
          <p:cNvSpPr>
            <a:spLocks xmlns:a="http://schemas.openxmlformats.org/drawingml/2006/main" noGrp="1"/>
          </p:cNvSpPr>
          <p:nvPr/>
        </p:nvSpPr>
        <p:spPr>
          <a:xfrm xmlns:a="http://schemas.openxmlformats.org/drawingml/2006/main">
            <a:off x="571500" y="2562225"/>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83247"/>
                </a:solidFill>
                <a:latin typeface="Arial"/>
                <a:ea typeface="Arial"/>
                <a:cs typeface="Arial"/>
              </a:defRPr>
            </a:pPr>
            <a:r>
              <a:rPr sz="3600" b="1">
                <a:solidFill>
                  <a:srgbClr val="183247"/>
                </a:solidFill>
                <a:latin typeface="Arial"/>
                <a:ea typeface="Arial"/>
                <a:cs typeface="Arial"/>
              </a:rPr>
              <a:t>TCK = 440 + 60 = 500</a:t>
            </a:r>
          </a:p>
        </p:txBody>
      </p:sp>
      <p:sp>
        <p:nvSpPr>
          <p:cNvPr id="7" name="Variabele kosten per brood">
            <a:extLst xmlns:a="http://schemas.openxmlformats.org/drawingml/2006/main">
              <a:ext uri="{FF2B5EF4-FFF2-40B4-BE49-F238E27FC236}">
                <a16:creationId xmlns:a16="http://schemas.microsoft.com/office/drawing/2014/main" id="{5E3D0497-3945-4BF3-8C8F-755AF7F417F8}"/>
              </a:ext>
            </a:extLst>
          </p:cNvPr>
          <p:cNvSpPr>
            <a:spLocks xmlns:a="http://schemas.openxmlformats.org/drawingml/2006/main" noGrp="1"/>
          </p:cNvSpPr>
          <p:nvPr/>
        </p:nvSpPr>
        <p:spPr>
          <a:xfrm xmlns:a="http://schemas.openxmlformats.org/drawingml/2006/main">
            <a:off x="571500" y="3676650"/>
            <a:ext cx="1400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665B"/>
                </a:solidFill>
                <a:latin typeface="Arial"/>
                <a:ea typeface="Arial"/>
                <a:cs typeface="Arial"/>
              </a:defRPr>
            </a:pPr>
            <a:r>
              <a:rPr sz="2475" b="1">
                <a:solidFill>
                  <a:srgbClr val="20665B"/>
                </a:solidFill>
                <a:latin typeface="Arial"/>
                <a:ea typeface="Arial"/>
                <a:cs typeface="Arial"/>
              </a:rPr>
              <a:t>Variabele kosten per brood</a:t>
            </a:r>
          </a:p>
        </p:txBody>
      </p:sp>
      <p:sp>
        <p:nvSpPr>
          <p:cNvPr id="8" name="€ 0,70 + € 0,10 = € 0,80 per brood">
            <a:extLst xmlns:a="http://schemas.openxmlformats.org/drawingml/2006/main">
              <a:ext uri="{FF2B5EF4-FFF2-40B4-BE49-F238E27FC236}">
                <a16:creationId xmlns:a16="http://schemas.microsoft.com/office/drawing/2014/main" id="{5BA92327-BB5E-461B-9F3A-60E110998AF8}"/>
              </a:ext>
            </a:extLst>
          </p:cNvPr>
          <p:cNvSpPr>
            <a:spLocks xmlns:a="http://schemas.openxmlformats.org/drawingml/2006/main" noGrp="1"/>
          </p:cNvSpPr>
          <p:nvPr/>
        </p:nvSpPr>
        <p:spPr>
          <a:xfrm xmlns:a="http://schemas.openxmlformats.org/drawingml/2006/main">
            <a:off x="571500" y="426720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€ 0,70 + € 0,10 = € 0,80 per brood</a:t>
            </a:r>
          </a:p>
        </p:txBody>
      </p:sp>
      <p:sp>
        <p:nvSpPr>
          <p:cNvPr id="9" name="TVK = 0,80Q">
            <a:extLst xmlns:a="http://schemas.openxmlformats.org/drawingml/2006/main">
              <a:ext uri="{FF2B5EF4-FFF2-40B4-BE49-F238E27FC236}">
                <a16:creationId xmlns:a16="http://schemas.microsoft.com/office/drawing/2014/main" id="{9661524E-7483-4CFA-AFBE-53F3442ED5E5}"/>
              </a:ext>
            </a:extLst>
          </p:cNvPr>
          <p:cNvSpPr>
            <a:spLocks xmlns:a="http://schemas.openxmlformats.org/drawingml/2006/main" noGrp="1"/>
          </p:cNvSpPr>
          <p:nvPr/>
        </p:nvSpPr>
        <p:spPr>
          <a:xfrm xmlns:a="http://schemas.openxmlformats.org/drawingml/2006/main">
            <a:off x="571500" y="5133975"/>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TVK = 0,80Q</a:t>
            </a:r>
          </a:p>
        </p:txBody>
      </p:sp>
      <p:sp>
        <p:nvSpPr>
          <p:cNvPr id="10" name="">
            <a:extLst xmlns:a="http://schemas.openxmlformats.org/drawingml/2006/main">
              <a:ext uri="{FF2B5EF4-FFF2-40B4-BE49-F238E27FC236}">
                <a16:creationId xmlns:a16="http://schemas.microsoft.com/office/drawing/2014/main" id="{288B21EF-CDB4-416F-935C-B0C00E4358BF}"/>
              </a:ext>
            </a:extLst>
          </p:cNvPr>
          <p:cNvSpPr>
            <a:spLocks xmlns:a="http://schemas.openxmlformats.org/drawingml/2006/main" noGrp="1"/>
          </p:cNvSpPr>
          <p:nvPr/>
        </p:nvSpPr>
        <p:spPr>
          <a:xfrm xmlns:a="http://schemas.openxmlformats.org/drawingml/2006/main">
            <a:off x="571500" y="6143625"/>
            <a:ext cx="14097000" cy="0"/>
          </a:xfrm>
          <a:prstGeom xmlns:a="http://schemas.openxmlformats.org/drawingml/2006/main" prst="line">
            <a:avLst/>
          </a:prstGeom>
          <a:ln xmlns:a="http://schemas.openxmlformats.org/drawingml/2006/main" w="19050">
            <a:solidFill>
              <a:srgbClr val="C6D2DB"/>
            </a:solidFill>
          </a:ln>
        </p:spPr>
      </p:sp>
      <p:sp>
        <p:nvSpPr>
          <p:cNvPr id="11" name="TK = TCK + TVK = 500 + 0,80Q">
            <a:extLst xmlns:a="http://schemas.openxmlformats.org/drawingml/2006/main">
              <a:ext uri="{FF2B5EF4-FFF2-40B4-BE49-F238E27FC236}">
                <a16:creationId xmlns:a16="http://schemas.microsoft.com/office/drawing/2014/main" id="{7A2BD3C1-63C5-4ECE-8ECB-5541136A1EF1}"/>
              </a:ext>
            </a:extLst>
          </p:cNvPr>
          <p:cNvSpPr>
            <a:spLocks xmlns:a="http://schemas.openxmlformats.org/drawingml/2006/main" noGrp="1"/>
          </p:cNvSpPr>
          <p:nvPr/>
        </p:nvSpPr>
        <p:spPr>
          <a:xfrm xmlns:a="http://schemas.openxmlformats.org/drawingml/2006/main">
            <a:off x="571500" y="659130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A94D16"/>
                </a:solidFill>
                <a:latin typeface="Arial"/>
                <a:ea typeface="Arial"/>
                <a:cs typeface="Arial"/>
              </a:defRPr>
            </a:pPr>
            <a:r>
              <a:rPr sz="3600" b="1">
                <a:solidFill>
                  <a:srgbClr val="A94D16"/>
                </a:solidFill>
                <a:latin typeface="Arial"/>
                <a:ea typeface="Arial"/>
                <a:cs typeface="Arial"/>
              </a:rPr>
              <a:t>TK = TCK + TVK = 500 + 0,80Q</a:t>
            </a:r>
          </a:p>
        </p:txBody>
      </p:sp>
      <p:sp>
        <p:nvSpPr>
          <p:cNvPr id="12" name="TCK, TVK en TK: € per maand. Q: broden per maand, ">
            <a:extLst xmlns:a="http://schemas.openxmlformats.org/drawingml/2006/main">
              <a:ext uri="{FF2B5EF4-FFF2-40B4-BE49-F238E27FC236}">
                <a16:creationId xmlns:a16="http://schemas.microsoft.com/office/drawing/2014/main" id="{EA4B59E7-1BD6-4806-A6C7-B14E638FD4D5}"/>
              </a:ext>
            </a:extLst>
          </p:cNvPr>
          <p:cNvSpPr>
            <a:spLocks xmlns:a="http://schemas.openxmlformats.org/drawingml/2006/main" noGrp="1"/>
          </p:cNvSpPr>
          <p:nvPr/>
        </p:nvSpPr>
        <p:spPr>
          <a:xfrm xmlns:a="http://schemas.openxmlformats.org/drawingml/2006/main">
            <a:off x="571500" y="7524750"/>
            <a:ext cx="1409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83247"/>
                </a:solidFill>
                <a:latin typeface="Arial"/>
                <a:ea typeface="Arial"/>
                <a:cs typeface="Arial"/>
              </a:defRPr>
            </a:pPr>
            <a:r>
              <a:rPr sz="2175" b="0">
                <a:solidFill>
                  <a:srgbClr val="183247"/>
                </a:solidFill>
                <a:latin typeface="Arial"/>
                <a:ea typeface="Arial"/>
                <a:cs typeface="Arial"/>
              </a:rPr>
              <a:t>TCK, TVK en TK: € per maand. Q: broden per maand, tot en met 1.000.</a:t>
            </a:r>
          </a:p>
        </p:txBody>
      </p:sp>
    </p:spTree>
    <p:extLst>
      <p:ext uri="{BB962C8B-B14F-4D97-AF65-F5344CB8AC3E}">
        <p14:creationId xmlns:p14="http://schemas.microsoft.com/office/powerpoint/2010/main" val="177448623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7c · 500 broden">
            <a:extLst xmlns:a="http://schemas.openxmlformats.org/drawingml/2006/main">
              <a:ext uri="{FF2B5EF4-FFF2-40B4-BE49-F238E27FC236}">
                <a16:creationId xmlns:a16="http://schemas.microsoft.com/office/drawing/2014/main" id="{4EB780A7-D432-4783-9135-1BCF69D093E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7c · 500 broden</a:t>
            </a:r>
          </a:p>
        </p:txBody>
      </p:sp>
      <p:sp>
        <p:nvSpPr>
          <p:cNvPr id="2" name="">
            <a:extLst xmlns:a="http://schemas.openxmlformats.org/drawingml/2006/main">
              <a:ext uri="{FF2B5EF4-FFF2-40B4-BE49-F238E27FC236}">
                <a16:creationId xmlns:a16="http://schemas.microsoft.com/office/drawing/2014/main" id="{53ED463E-2E43-47DE-B70E-C9B9791A0C3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1 Kostenstructuren · Opgave 7 · Boekpagina 8">
            <a:extLst xmlns:a="http://schemas.openxmlformats.org/drawingml/2006/main">
              <a:ext uri="{FF2B5EF4-FFF2-40B4-BE49-F238E27FC236}">
                <a16:creationId xmlns:a16="http://schemas.microsoft.com/office/drawing/2014/main" id="{8FA42FB9-4D39-462A-A95E-3A65C7BEA65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§2.1.1 Kostenstructuren · Opgave 7 · Boekpagina 8</a:t>
            </a:r>
          </a:p>
        </p:txBody>
      </p:sp>
      <p:sp>
        <p:nvSpPr>
          <p:cNvPr id="4" name="18">
            <a:extLst xmlns:a="http://schemas.openxmlformats.org/drawingml/2006/main">
              <a:ext uri="{FF2B5EF4-FFF2-40B4-BE49-F238E27FC236}">
                <a16:creationId xmlns:a16="http://schemas.microsoft.com/office/drawing/2014/main" id="{3B7D3D65-49C1-4CEF-8E85-0501271D210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Eerst de totalen (€ per maand)">
            <a:extLst xmlns:a="http://schemas.openxmlformats.org/drawingml/2006/main">
              <a:ext uri="{FF2B5EF4-FFF2-40B4-BE49-F238E27FC236}">
                <a16:creationId xmlns:a16="http://schemas.microsoft.com/office/drawing/2014/main" id="{D265CE36-B416-4A6F-A767-D00AEB80D393}"/>
              </a:ext>
            </a:extLst>
          </p:cNvPr>
          <p:cNvSpPr>
            <a:spLocks xmlns:a="http://schemas.openxmlformats.org/drawingml/2006/main" noGrp="1"/>
          </p:cNvSpPr>
          <p:nvPr/>
        </p:nvSpPr>
        <p:spPr>
          <a:xfrm xmlns:a="http://schemas.openxmlformats.org/drawingml/2006/main">
            <a:off x="571500" y="1790700"/>
            <a:ext cx="1400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Eerst de totalen (€ per maand)</a:t>
            </a:r>
          </a:p>
        </p:txBody>
      </p:sp>
      <p:sp>
        <p:nvSpPr>
          <p:cNvPr id="6" name="TCK = € 500&#10;TVK = 0,80 × 500 = € 400&#10;TK = 500 + 40">
            <a:extLst xmlns:a="http://schemas.openxmlformats.org/drawingml/2006/main">
              <a:ext uri="{FF2B5EF4-FFF2-40B4-BE49-F238E27FC236}">
                <a16:creationId xmlns:a16="http://schemas.microsoft.com/office/drawing/2014/main" id="{DB006B1A-8BFE-4570-977A-BD58B5C9F42D}"/>
              </a:ext>
            </a:extLst>
          </p:cNvPr>
          <p:cNvSpPr>
            <a:spLocks xmlns:a="http://schemas.openxmlformats.org/drawingml/2006/main" noGrp="1"/>
          </p:cNvSpPr>
          <p:nvPr/>
        </p:nvSpPr>
        <p:spPr>
          <a:xfrm xmlns:a="http://schemas.openxmlformats.org/drawingml/2006/main">
            <a:off x="571500" y="2571750"/>
            <a:ext cx="1409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TCK = € 500</a:t>
            </a:r>
          </a:p>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TVK = 0,80 × 500 = € 400</a:t>
            </a:r>
          </a:p>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TK = 500 + 400 = € 900</a:t>
            </a:r>
          </a:p>
        </p:txBody>
      </p:sp>
      <p:sp>
        <p:nvSpPr>
          <p:cNvPr id="7" name="">
            <a:extLst xmlns:a="http://schemas.openxmlformats.org/drawingml/2006/main">
              <a:ext uri="{FF2B5EF4-FFF2-40B4-BE49-F238E27FC236}">
                <a16:creationId xmlns:a16="http://schemas.microsoft.com/office/drawing/2014/main" id="{CC100EBA-707E-40D9-A13F-6B324C916414}"/>
              </a:ext>
            </a:extLst>
          </p:cNvPr>
          <p:cNvSpPr>
            <a:spLocks xmlns:a="http://schemas.openxmlformats.org/drawingml/2006/main" noGrp="1"/>
          </p:cNvSpPr>
          <p:nvPr/>
        </p:nvSpPr>
        <p:spPr>
          <a:xfrm xmlns:a="http://schemas.openxmlformats.org/drawingml/2006/main">
            <a:off x="571500" y="4705350"/>
            <a:ext cx="14097000" cy="0"/>
          </a:xfrm>
          <a:prstGeom xmlns:a="http://schemas.openxmlformats.org/drawingml/2006/main" prst="line">
            <a:avLst/>
          </a:prstGeom>
          <a:ln xmlns:a="http://schemas.openxmlformats.org/drawingml/2006/main" w="19050">
            <a:solidFill>
              <a:srgbClr val="C6D2DB"/>
            </a:solidFill>
          </a:ln>
        </p:spPr>
      </p:sp>
      <p:sp>
        <p:nvSpPr>
          <p:cNvPr id="8" name="Daarna delen door het aantal broden">
            <a:extLst xmlns:a="http://schemas.openxmlformats.org/drawingml/2006/main">
              <a:ext uri="{FF2B5EF4-FFF2-40B4-BE49-F238E27FC236}">
                <a16:creationId xmlns:a16="http://schemas.microsoft.com/office/drawing/2014/main" id="{8DCB5660-EC40-4F13-9454-5B49D5C3811B}"/>
              </a:ext>
            </a:extLst>
          </p:cNvPr>
          <p:cNvSpPr>
            <a:spLocks xmlns:a="http://schemas.openxmlformats.org/drawingml/2006/main" noGrp="1"/>
          </p:cNvSpPr>
          <p:nvPr/>
        </p:nvSpPr>
        <p:spPr>
          <a:xfrm xmlns:a="http://schemas.openxmlformats.org/drawingml/2006/main">
            <a:off x="571500" y="5067300"/>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Daarna delen door het aantal broden</a:t>
            </a:r>
          </a:p>
        </p:txBody>
      </p:sp>
      <p:sp>
        <p:nvSpPr>
          <p:cNvPr id="9" name="GCK = 500 / 500 = € 1,00 per brood&#10;GVK = 400 / 500">
            <a:extLst xmlns:a="http://schemas.openxmlformats.org/drawingml/2006/main">
              <a:ext uri="{FF2B5EF4-FFF2-40B4-BE49-F238E27FC236}">
                <a16:creationId xmlns:a16="http://schemas.microsoft.com/office/drawing/2014/main" id="{F46C3AFA-0AD4-47D0-B44E-6647897FDC14}"/>
              </a:ext>
            </a:extLst>
          </p:cNvPr>
          <p:cNvSpPr>
            <a:spLocks xmlns:a="http://schemas.openxmlformats.org/drawingml/2006/main" noGrp="1"/>
          </p:cNvSpPr>
          <p:nvPr/>
        </p:nvSpPr>
        <p:spPr>
          <a:xfrm xmlns:a="http://schemas.openxmlformats.org/drawingml/2006/main">
            <a:off x="571500" y="5829300"/>
            <a:ext cx="140970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GCK = 500 / 500 = € 1,00 per brood</a:t>
            </a:r>
          </a:p>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GVK = 400 / 500 = € 0,80 per brood</a:t>
            </a:r>
          </a:p>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GTK = 900 / 500 = € 1,80 per brood</a:t>
            </a:r>
          </a:p>
        </p:txBody>
      </p:sp>
    </p:spTree>
    <p:extLst>
      <p:ext uri="{BB962C8B-B14F-4D97-AF65-F5344CB8AC3E}">
        <p14:creationId xmlns:p14="http://schemas.microsoft.com/office/powerpoint/2010/main" val="139204117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7d · 1.000 broden">
            <a:extLst xmlns:a="http://schemas.openxmlformats.org/drawingml/2006/main">
              <a:ext uri="{FF2B5EF4-FFF2-40B4-BE49-F238E27FC236}">
                <a16:creationId xmlns:a16="http://schemas.microsoft.com/office/drawing/2014/main" id="{F6E6EC66-ECAC-41DD-8DC7-412D7DBD09D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7d · 1.000 broden</a:t>
            </a:r>
          </a:p>
        </p:txBody>
      </p:sp>
      <p:sp>
        <p:nvSpPr>
          <p:cNvPr id="2" name="">
            <a:extLst xmlns:a="http://schemas.openxmlformats.org/drawingml/2006/main">
              <a:ext uri="{FF2B5EF4-FFF2-40B4-BE49-F238E27FC236}">
                <a16:creationId xmlns:a16="http://schemas.microsoft.com/office/drawing/2014/main" id="{1ACBEF4C-B50F-4527-8DC4-18BB6876565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1 Kostenstructuren · Opgave 7 · Boekpagina 8">
            <a:extLst xmlns:a="http://schemas.openxmlformats.org/drawingml/2006/main">
              <a:ext uri="{FF2B5EF4-FFF2-40B4-BE49-F238E27FC236}">
                <a16:creationId xmlns:a16="http://schemas.microsoft.com/office/drawing/2014/main" id="{2FFDF0AA-BE79-4B15-804A-53A22C47AD9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§2.1.1 Kostenstructuren · Opgave 7 · Boekpagina 8</a:t>
            </a:r>
          </a:p>
        </p:txBody>
      </p:sp>
      <p:sp>
        <p:nvSpPr>
          <p:cNvPr id="4" name="19">
            <a:extLst xmlns:a="http://schemas.openxmlformats.org/drawingml/2006/main">
              <a:ext uri="{FF2B5EF4-FFF2-40B4-BE49-F238E27FC236}">
                <a16:creationId xmlns:a16="http://schemas.microsoft.com/office/drawing/2014/main" id="{D331D085-3CD9-4894-9E4A-1140A66B3A9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Eerst de totalen (€ per maand)">
            <a:extLst xmlns:a="http://schemas.openxmlformats.org/drawingml/2006/main">
              <a:ext uri="{FF2B5EF4-FFF2-40B4-BE49-F238E27FC236}">
                <a16:creationId xmlns:a16="http://schemas.microsoft.com/office/drawing/2014/main" id="{B3AFBC48-F82F-4E5C-B11A-C2D8A66E84E3}"/>
              </a:ext>
            </a:extLst>
          </p:cNvPr>
          <p:cNvSpPr>
            <a:spLocks xmlns:a="http://schemas.openxmlformats.org/drawingml/2006/main" noGrp="1"/>
          </p:cNvSpPr>
          <p:nvPr/>
        </p:nvSpPr>
        <p:spPr>
          <a:xfrm xmlns:a="http://schemas.openxmlformats.org/drawingml/2006/main">
            <a:off x="571500" y="1790700"/>
            <a:ext cx="1400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Eerst de totalen (€ per maand)</a:t>
            </a:r>
          </a:p>
        </p:txBody>
      </p:sp>
      <p:sp>
        <p:nvSpPr>
          <p:cNvPr id="6" name="TCK = € 500&#10;TVK = 0,80 × 1.000 = € 800&#10;TK = 500 + ">
            <a:extLst xmlns:a="http://schemas.openxmlformats.org/drawingml/2006/main">
              <a:ext uri="{FF2B5EF4-FFF2-40B4-BE49-F238E27FC236}">
                <a16:creationId xmlns:a16="http://schemas.microsoft.com/office/drawing/2014/main" id="{DFA1E9E1-814E-46B6-9EBF-9D45CC0D26C1}"/>
              </a:ext>
            </a:extLst>
          </p:cNvPr>
          <p:cNvSpPr>
            <a:spLocks xmlns:a="http://schemas.openxmlformats.org/drawingml/2006/main" noGrp="1"/>
          </p:cNvSpPr>
          <p:nvPr/>
        </p:nvSpPr>
        <p:spPr>
          <a:xfrm xmlns:a="http://schemas.openxmlformats.org/drawingml/2006/main">
            <a:off x="571500" y="2571750"/>
            <a:ext cx="1409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TCK = € 500</a:t>
            </a:r>
          </a:p>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TVK = 0,80 × 1.000 = € 800</a:t>
            </a:r>
          </a:p>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TK = 500 + 800 = € 1.300</a:t>
            </a:r>
          </a:p>
        </p:txBody>
      </p:sp>
      <p:sp>
        <p:nvSpPr>
          <p:cNvPr id="7" name="">
            <a:extLst xmlns:a="http://schemas.openxmlformats.org/drawingml/2006/main">
              <a:ext uri="{FF2B5EF4-FFF2-40B4-BE49-F238E27FC236}">
                <a16:creationId xmlns:a16="http://schemas.microsoft.com/office/drawing/2014/main" id="{43EF8C03-770D-4448-8371-8D7402E04EA7}"/>
              </a:ext>
            </a:extLst>
          </p:cNvPr>
          <p:cNvSpPr>
            <a:spLocks xmlns:a="http://schemas.openxmlformats.org/drawingml/2006/main" noGrp="1"/>
          </p:cNvSpPr>
          <p:nvPr/>
        </p:nvSpPr>
        <p:spPr>
          <a:xfrm xmlns:a="http://schemas.openxmlformats.org/drawingml/2006/main">
            <a:off x="571500" y="4705350"/>
            <a:ext cx="14097000" cy="0"/>
          </a:xfrm>
          <a:prstGeom xmlns:a="http://schemas.openxmlformats.org/drawingml/2006/main" prst="line">
            <a:avLst/>
          </a:prstGeom>
          <a:ln xmlns:a="http://schemas.openxmlformats.org/drawingml/2006/main" w="19050">
            <a:solidFill>
              <a:srgbClr val="C6D2DB"/>
            </a:solidFill>
          </a:ln>
        </p:spPr>
      </p:sp>
      <p:sp>
        <p:nvSpPr>
          <p:cNvPr id="8" name="Daarna delen door het aantal broden">
            <a:extLst xmlns:a="http://schemas.openxmlformats.org/drawingml/2006/main">
              <a:ext uri="{FF2B5EF4-FFF2-40B4-BE49-F238E27FC236}">
                <a16:creationId xmlns:a16="http://schemas.microsoft.com/office/drawing/2014/main" id="{36961A81-5975-4606-B0D8-860026E9D03C}"/>
              </a:ext>
            </a:extLst>
          </p:cNvPr>
          <p:cNvSpPr>
            <a:spLocks xmlns:a="http://schemas.openxmlformats.org/drawingml/2006/main" noGrp="1"/>
          </p:cNvSpPr>
          <p:nvPr/>
        </p:nvSpPr>
        <p:spPr>
          <a:xfrm xmlns:a="http://schemas.openxmlformats.org/drawingml/2006/main">
            <a:off x="571500" y="5067300"/>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Daarna delen door het aantal broden</a:t>
            </a:r>
          </a:p>
        </p:txBody>
      </p:sp>
      <p:sp>
        <p:nvSpPr>
          <p:cNvPr id="9" name="GCK = 500 / 1.000 = € 0,50 per brood&#10;GVK = 800 / 1">
            <a:extLst xmlns:a="http://schemas.openxmlformats.org/drawingml/2006/main">
              <a:ext uri="{FF2B5EF4-FFF2-40B4-BE49-F238E27FC236}">
                <a16:creationId xmlns:a16="http://schemas.microsoft.com/office/drawing/2014/main" id="{20BE043E-0474-4A6D-A237-331ACDC612B0}"/>
              </a:ext>
            </a:extLst>
          </p:cNvPr>
          <p:cNvSpPr>
            <a:spLocks xmlns:a="http://schemas.openxmlformats.org/drawingml/2006/main" noGrp="1"/>
          </p:cNvSpPr>
          <p:nvPr/>
        </p:nvSpPr>
        <p:spPr>
          <a:xfrm xmlns:a="http://schemas.openxmlformats.org/drawingml/2006/main">
            <a:off x="571500" y="5829300"/>
            <a:ext cx="140970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GCK = 500 / 1.000 = € 0,50 per brood</a:t>
            </a:r>
          </a:p>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GVK = 800 / 1.000 = € 0,80 per brood</a:t>
            </a:r>
          </a:p>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GTK = 1.300 / 1.000 = € 1,30 per brood</a:t>
            </a:r>
          </a:p>
        </p:txBody>
      </p:sp>
    </p:spTree>
    <p:extLst>
      <p:ext uri="{BB962C8B-B14F-4D97-AF65-F5344CB8AC3E}">
        <p14:creationId xmlns:p14="http://schemas.microsoft.com/office/powerpoint/2010/main" val="130376471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Opgave 7e · Eerst de totalen vergelijken">
            <a:extLst xmlns:a="http://schemas.openxmlformats.org/drawingml/2006/main">
              <a:ext uri="{FF2B5EF4-FFF2-40B4-BE49-F238E27FC236}">
                <a16:creationId xmlns:a16="http://schemas.microsoft.com/office/drawing/2014/main" id="{E12B8549-D19B-4D81-840B-A45439D8E05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7e · Eerst de totalen vergelijken</a:t>
            </a:r>
          </a:p>
        </p:txBody>
      </p:sp>
      <p:sp>
        <p:nvSpPr>
          <p:cNvPr id="2" name="">
            <a:extLst xmlns:a="http://schemas.openxmlformats.org/drawingml/2006/main">
              <a:ext uri="{FF2B5EF4-FFF2-40B4-BE49-F238E27FC236}">
                <a16:creationId xmlns:a16="http://schemas.microsoft.com/office/drawing/2014/main" id="{36A2EB8F-82F4-4EC1-A10C-9A5094A8799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1 Kostenstructuren · Opgave 7 · Boekpagina 8">
            <a:extLst xmlns:a="http://schemas.openxmlformats.org/drawingml/2006/main">
              <a:ext uri="{FF2B5EF4-FFF2-40B4-BE49-F238E27FC236}">
                <a16:creationId xmlns:a16="http://schemas.microsoft.com/office/drawing/2014/main" id="{103056D1-CF81-4997-B2CB-1FBAAD3DC32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§2.1.1 Kostenstructuren · Opgave 7 · Boekpagina 8</a:t>
            </a:r>
          </a:p>
        </p:txBody>
      </p:sp>
      <p:sp>
        <p:nvSpPr>
          <p:cNvPr id="4" name="20">
            <a:extLst xmlns:a="http://schemas.openxmlformats.org/drawingml/2006/main">
              <a:ext uri="{FF2B5EF4-FFF2-40B4-BE49-F238E27FC236}">
                <a16:creationId xmlns:a16="http://schemas.microsoft.com/office/drawing/2014/main" id="{F1875DB3-9ED1-4419-825E-46721E1B5C0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graphicFrame>
        <p:nvGraphicFramePr>
          <p:cNvPr id="16" name=""/>
          <p:cNvGraphicFramePr/>
          <p:nvPr/>
        </p:nvGraphicFramePr>
        <p:xfrm>
          <a:off xmlns:a="http://schemas.openxmlformats.org/drawingml/2006/main" x="571500" y="2114550"/>
          <a:ext xmlns:a="http://schemas.openxmlformats.org/drawingml/2006/main" cx="14097000" cy="2695575"/>
        </p:xfrm>
        <a:graphic xmlns:a="http://schemas.openxmlformats.org/drawingml/2006/main">
          <a:graphicData uri="http://schemas.openxmlformats.org/drawingml/2006/table">
            <a:tbl>
              <a:tblPr/>
              <a:tblGrid>
                <a:gridCol w="4095750"/>
                <a:gridCol w="3333750"/>
                <a:gridCol w="3333750"/>
                <a:gridCol w="3333750"/>
              </a:tblGrid>
              <a:tr h="898525">
                <a:tc>
                  <a:txBody>
                    <a:bodyPr lIns="171450" tIns="95250" rIns="152400" bIns="95250"/>
                    <a:lstStyle/>
                    <a:p>
                      <a:r>
                        <a:rPr sz="2325" b="1">
                          <a:solidFill>
                            <a:srgbClr val="FFFFFF"/>
                          </a:solidFill>
                          <a:latin typeface="Arial"/>
                          <a:ea typeface="Arial"/>
                          <a:cs typeface="Arial"/>
                        </a:rPr>
                        <a:t>Q (broden per maand)</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TCK (€ per maand)</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TVK (€ per maand)</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TK (€ per maand)</a:t>
                      </a:r>
                    </a:p>
                  </a:txBody>
                  <a:tcPr marL="91440" marR="91440" marT="45720" marB="45720" anchor="ctr">
                    <a:solidFill>
                      <a:srgbClr val="183247"/>
                    </a:solidFill>
                  </a:tcPr>
                </a:tc>
              </a:tr>
              <a:tr h="898525">
                <a:tc>
                  <a:txBody>
                    <a:bodyPr lIns="171450" tIns="95250" rIns="152400" bIns="95250"/>
                    <a:lstStyle/>
                    <a:p>
                      <a:r>
                        <a:rPr sz="2325" b="0">
                          <a:solidFill>
                            <a:srgbClr val="183247"/>
                          </a:solidFill>
                          <a:latin typeface="Arial"/>
                          <a:ea typeface="Arial"/>
                          <a:cs typeface="Arial"/>
                        </a:rPr>
                        <a:t>500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500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400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900</a:t>
                      </a:r>
                    </a:p>
                  </a:txBody>
                  <a:tcPr marL="91440" marR="91440" marT="45720" marB="45720" anchor="ctr">
                    <a:solidFill>
                      <a:srgbClr val="FFFFFF"/>
                    </a:solidFill>
                  </a:tcPr>
                </a:tc>
              </a:tr>
              <a:tr h="898525">
                <a:tc>
                  <a:txBody>
                    <a:bodyPr lIns="171450" tIns="95250" rIns="152400" bIns="95250"/>
                    <a:lstStyle/>
                    <a:p>
                      <a:r>
                        <a:rPr sz="2325" b="0">
                          <a:solidFill>
                            <a:srgbClr val="183247"/>
                          </a:solidFill>
                          <a:latin typeface="Arial"/>
                          <a:ea typeface="Arial"/>
                          <a:cs typeface="Arial"/>
                        </a:rPr>
                        <a:t>1.000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500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800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1.300</a:t>
                      </a:r>
                    </a:p>
                  </a:txBody>
                  <a:tcPr marL="91440" marR="91440" marT="45720" marB="45720" anchor="ctr">
                    <a:solidFill>
                      <a:srgbClr val="EFF4F7"/>
                    </a:solidFill>
                  </a:tcPr>
                </a:tc>
              </a:tr>
            </a:tbl>
          </a:graphicData>
        </a:graphic>
      </p:graphicFrame>
      <p:sp>
        <p:nvSpPr>
          <p:cNvPr id="6" name="TCK blijft gelijk">
            <a:extLst xmlns:a="http://schemas.openxmlformats.org/drawingml/2006/main">
              <a:ext uri="{FF2B5EF4-FFF2-40B4-BE49-F238E27FC236}">
                <a16:creationId xmlns:a16="http://schemas.microsoft.com/office/drawing/2014/main" id="{D633364F-41EA-437E-B350-67569437E403}"/>
              </a:ext>
            </a:extLst>
          </p:cNvPr>
          <p:cNvSpPr>
            <a:spLocks xmlns:a="http://schemas.openxmlformats.org/drawingml/2006/main" noGrp="1"/>
          </p:cNvSpPr>
          <p:nvPr/>
        </p:nvSpPr>
        <p:spPr>
          <a:xfrm xmlns:a="http://schemas.openxmlformats.org/drawingml/2006/main">
            <a:off x="571500" y="5343525"/>
            <a:ext cx="614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TCK blijft gelijk</a:t>
            </a:r>
          </a:p>
        </p:txBody>
      </p:sp>
      <p:sp>
        <p:nvSpPr>
          <p:cNvPr id="7" name="De ruimte en ovens blijven hetzelfde.">
            <a:extLst xmlns:a="http://schemas.openxmlformats.org/drawingml/2006/main">
              <a:ext uri="{FF2B5EF4-FFF2-40B4-BE49-F238E27FC236}">
                <a16:creationId xmlns:a16="http://schemas.microsoft.com/office/drawing/2014/main" id="{657C57C5-073C-4035-884D-6FDC62729516}"/>
              </a:ext>
            </a:extLst>
          </p:cNvPr>
          <p:cNvSpPr>
            <a:spLocks xmlns:a="http://schemas.openxmlformats.org/drawingml/2006/main" noGrp="1"/>
          </p:cNvSpPr>
          <p:nvPr/>
        </p:nvSpPr>
        <p:spPr>
          <a:xfrm xmlns:a="http://schemas.openxmlformats.org/drawingml/2006/main">
            <a:off x="7210425" y="5343525"/>
            <a:ext cx="742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De ruimte en ovens blijven hetzelfde.</a:t>
            </a:r>
          </a:p>
        </p:txBody>
      </p:sp>
      <p:sp>
        <p:nvSpPr>
          <p:cNvPr id="8" name="TVK verdubbelt">
            <a:extLst xmlns:a="http://schemas.openxmlformats.org/drawingml/2006/main">
              <a:ext uri="{FF2B5EF4-FFF2-40B4-BE49-F238E27FC236}">
                <a16:creationId xmlns:a16="http://schemas.microsoft.com/office/drawing/2014/main" id="{384C7960-9936-4188-971C-1DBC37ED84B8}"/>
              </a:ext>
            </a:extLst>
          </p:cNvPr>
          <p:cNvSpPr>
            <a:spLocks xmlns:a="http://schemas.openxmlformats.org/drawingml/2006/main" noGrp="1"/>
          </p:cNvSpPr>
          <p:nvPr/>
        </p:nvSpPr>
        <p:spPr>
          <a:xfrm xmlns:a="http://schemas.openxmlformats.org/drawingml/2006/main">
            <a:off x="571500" y="6191250"/>
            <a:ext cx="614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TVK verdubbelt</a:t>
            </a:r>
          </a:p>
        </p:txBody>
      </p:sp>
      <p:sp>
        <p:nvSpPr>
          <p:cNvPr id="9" name="Tweemaal zoveel broden vragen tweemaal zoveel vari">
            <a:extLst xmlns:a="http://schemas.openxmlformats.org/drawingml/2006/main">
              <a:ext uri="{FF2B5EF4-FFF2-40B4-BE49-F238E27FC236}">
                <a16:creationId xmlns:a16="http://schemas.microsoft.com/office/drawing/2014/main" id="{39BC94F1-20C2-480F-BEFA-166FF9B82D00}"/>
              </a:ext>
            </a:extLst>
          </p:cNvPr>
          <p:cNvSpPr>
            <a:spLocks xmlns:a="http://schemas.openxmlformats.org/drawingml/2006/main" noGrp="1"/>
          </p:cNvSpPr>
          <p:nvPr/>
        </p:nvSpPr>
        <p:spPr>
          <a:xfrm xmlns:a="http://schemas.openxmlformats.org/drawingml/2006/main">
            <a:off x="7210425" y="6191250"/>
            <a:ext cx="742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Tweemaal zoveel broden vragen tweemaal zoveel variabele kosten.</a:t>
            </a:r>
          </a:p>
        </p:txBody>
      </p:sp>
      <p:sp>
        <p:nvSpPr>
          <p:cNvPr id="10" name="TK stijgt, maar verdubbelt niet">
            <a:extLst xmlns:a="http://schemas.openxmlformats.org/drawingml/2006/main">
              <a:ext uri="{FF2B5EF4-FFF2-40B4-BE49-F238E27FC236}">
                <a16:creationId xmlns:a16="http://schemas.microsoft.com/office/drawing/2014/main" id="{5C280592-0333-49B7-AA15-685A2A3BABE2}"/>
              </a:ext>
            </a:extLst>
          </p:cNvPr>
          <p:cNvSpPr>
            <a:spLocks xmlns:a="http://schemas.openxmlformats.org/drawingml/2006/main" noGrp="1"/>
          </p:cNvSpPr>
          <p:nvPr/>
        </p:nvSpPr>
        <p:spPr>
          <a:xfrm xmlns:a="http://schemas.openxmlformats.org/drawingml/2006/main">
            <a:off x="571500" y="7038975"/>
            <a:ext cx="614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TK stijgt, maar verdubbelt niet</a:t>
            </a:r>
          </a:p>
        </p:txBody>
      </p:sp>
      <p:sp>
        <p:nvSpPr>
          <p:cNvPr id="11" name="Alleen het variabele deel verdubbelt.">
            <a:extLst xmlns:a="http://schemas.openxmlformats.org/drawingml/2006/main">
              <a:ext uri="{FF2B5EF4-FFF2-40B4-BE49-F238E27FC236}">
                <a16:creationId xmlns:a16="http://schemas.microsoft.com/office/drawing/2014/main" id="{55EB9EEF-154C-4788-8058-20201CCEF7AD}"/>
              </a:ext>
            </a:extLst>
          </p:cNvPr>
          <p:cNvSpPr>
            <a:spLocks xmlns:a="http://schemas.openxmlformats.org/drawingml/2006/main" noGrp="1"/>
          </p:cNvSpPr>
          <p:nvPr/>
        </p:nvSpPr>
        <p:spPr>
          <a:xfrm xmlns:a="http://schemas.openxmlformats.org/drawingml/2006/main">
            <a:off x="7210425" y="7038975"/>
            <a:ext cx="742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Alleen het variabele deel verdubbelt.</a:t>
            </a:r>
          </a:p>
        </p:txBody>
      </p:sp>
    </p:spTree>
    <p:extLst>
      <p:ext uri="{BB962C8B-B14F-4D97-AF65-F5344CB8AC3E}">
        <p14:creationId xmlns:p14="http://schemas.microsoft.com/office/powerpoint/2010/main" val="86152175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e · Waarom halveert GTK niet?">
            <a:extLst xmlns:a="http://schemas.openxmlformats.org/drawingml/2006/main">
              <a:ext uri="{FF2B5EF4-FFF2-40B4-BE49-F238E27FC236}">
                <a16:creationId xmlns:a16="http://schemas.microsoft.com/office/drawing/2014/main" id="{D1721A77-FD2C-433A-A9E0-38A866793D0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7e · Waarom halveert GTK niet?</a:t>
            </a:r>
          </a:p>
        </p:txBody>
      </p:sp>
      <p:sp>
        <p:nvSpPr>
          <p:cNvPr id="2" name="">
            <a:extLst xmlns:a="http://schemas.openxmlformats.org/drawingml/2006/main">
              <a:ext uri="{FF2B5EF4-FFF2-40B4-BE49-F238E27FC236}">
                <a16:creationId xmlns:a16="http://schemas.microsoft.com/office/drawing/2014/main" id="{7BD887FB-E1B3-4F7F-9AFD-2BBC71AEC56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1 Kostenstructuren · Opgave 7 · Boekpagina 8">
            <a:extLst xmlns:a="http://schemas.openxmlformats.org/drawingml/2006/main">
              <a:ext uri="{FF2B5EF4-FFF2-40B4-BE49-F238E27FC236}">
                <a16:creationId xmlns:a16="http://schemas.microsoft.com/office/drawing/2014/main" id="{8F94FC8D-6C34-4CC5-85C8-16CBA89ADEA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§2.1.1 Kostenstructuren · Opgave 7 · Boekpagina 8</a:t>
            </a:r>
          </a:p>
        </p:txBody>
      </p:sp>
      <p:sp>
        <p:nvSpPr>
          <p:cNvPr id="4" name="21">
            <a:extLst xmlns:a="http://schemas.openxmlformats.org/drawingml/2006/main">
              <a:ext uri="{FF2B5EF4-FFF2-40B4-BE49-F238E27FC236}">
                <a16:creationId xmlns:a16="http://schemas.microsoft.com/office/drawing/2014/main" id="{EB02FEF2-4604-41F7-8792-932D0D1A8CF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graphicFrame>
        <p:nvGraphicFramePr>
          <p:cNvPr id="13" name=""/>
          <p:cNvGraphicFramePr/>
          <p:nvPr/>
        </p:nvGraphicFramePr>
        <p:xfrm>
          <a:off xmlns:a="http://schemas.openxmlformats.org/drawingml/2006/main" x="571500" y="2076450"/>
          <a:ext xmlns:a="http://schemas.openxmlformats.org/drawingml/2006/main" cx="14097000" cy="2686050"/>
        </p:xfrm>
        <a:graphic xmlns:a="http://schemas.openxmlformats.org/drawingml/2006/main">
          <a:graphicData uri="http://schemas.openxmlformats.org/drawingml/2006/table">
            <a:tbl>
              <a:tblPr/>
              <a:tblGrid>
                <a:gridCol w="4095750"/>
                <a:gridCol w="3333750"/>
                <a:gridCol w="3333750"/>
                <a:gridCol w="3333750"/>
              </a:tblGrid>
              <a:tr h="895350">
                <a:tc>
                  <a:txBody>
                    <a:bodyPr lIns="171450" tIns="95250" rIns="152400" bIns="95250"/>
                    <a:lstStyle/>
                    <a:p>
                      <a:r>
                        <a:rPr sz="2325" b="1">
                          <a:solidFill>
                            <a:srgbClr val="FFFFFF"/>
                          </a:solidFill>
                          <a:latin typeface="Arial"/>
                          <a:ea typeface="Arial"/>
                          <a:cs typeface="Arial"/>
                        </a:rPr>
                        <a:t>Q (broden per maand)</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GCK (€ per brood)</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GVK (€ per brood)</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GTK (€ per brood)</a:t>
                      </a:r>
                    </a:p>
                  </a:txBody>
                  <a:tcPr marL="91440" marR="91440" marT="45720" marB="45720" anchor="ctr">
                    <a:solidFill>
                      <a:srgbClr val="183247"/>
                    </a:solidFill>
                  </a:tcPr>
                </a:tc>
              </a:tr>
              <a:tr h="895350">
                <a:tc>
                  <a:txBody>
                    <a:bodyPr lIns="171450" tIns="95250" rIns="152400" bIns="95250"/>
                    <a:lstStyle/>
                    <a:p>
                      <a:r>
                        <a:rPr sz="2325" b="0">
                          <a:solidFill>
                            <a:srgbClr val="183247"/>
                          </a:solidFill>
                          <a:latin typeface="Arial"/>
                          <a:ea typeface="Arial"/>
                          <a:cs typeface="Arial"/>
                        </a:rPr>
                        <a:t>500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1,00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0,80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1,80</a:t>
                      </a:r>
                    </a:p>
                  </a:txBody>
                  <a:tcPr marL="91440" marR="91440" marT="45720" marB="45720" anchor="ctr">
                    <a:solidFill>
                      <a:srgbClr val="FFFFFF"/>
                    </a:solidFill>
                  </a:tcPr>
                </a:tc>
              </a:tr>
              <a:tr h="895350">
                <a:tc>
                  <a:txBody>
                    <a:bodyPr lIns="171450" tIns="95250" rIns="152400" bIns="95250"/>
                    <a:lstStyle/>
                    <a:p>
                      <a:r>
                        <a:rPr sz="2325" b="0">
                          <a:solidFill>
                            <a:srgbClr val="183247"/>
                          </a:solidFill>
                          <a:latin typeface="Arial"/>
                          <a:ea typeface="Arial"/>
                          <a:cs typeface="Arial"/>
                        </a:rPr>
                        <a:t>1.000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0,50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0,80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1,30</a:t>
                      </a:r>
                    </a:p>
                  </a:txBody>
                  <a:tcPr marL="91440" marR="91440" marT="45720" marB="45720" anchor="ctr">
                    <a:solidFill>
                      <a:srgbClr val="EFF4F7"/>
                    </a:solidFill>
                  </a:tcPr>
                </a:tc>
              </a:tr>
            </a:tbl>
          </a:graphicData>
        </a:graphic>
      </p:graphicFrame>
      <p:sp>
        <p:nvSpPr>
          <p:cNvPr id="6" name="Dezelfde € 500 wordt over tweemaal zoveel broden v">
            <a:extLst xmlns:a="http://schemas.openxmlformats.org/drawingml/2006/main">
              <a:ext uri="{FF2B5EF4-FFF2-40B4-BE49-F238E27FC236}">
                <a16:creationId xmlns:a16="http://schemas.microsoft.com/office/drawing/2014/main" id="{DBCBED5D-1832-4044-82F0-20A6934309DF}"/>
              </a:ext>
            </a:extLst>
          </p:cNvPr>
          <p:cNvSpPr>
            <a:spLocks xmlns:a="http://schemas.openxmlformats.org/drawingml/2006/main" noGrp="1"/>
          </p:cNvSpPr>
          <p:nvPr/>
        </p:nvSpPr>
        <p:spPr>
          <a:xfrm xmlns:a="http://schemas.openxmlformats.org/drawingml/2006/main">
            <a:off x="571500" y="525780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Dezelfde € 500 wordt over tweemaal zoveel broden verdeeld.</a:t>
            </a:r>
          </a:p>
        </p:txBody>
      </p:sp>
      <p:sp>
        <p:nvSpPr>
          <p:cNvPr id="7" name="GCK halveert. GVK blijft € 0,80 per brood.">
            <a:extLst xmlns:a="http://schemas.openxmlformats.org/drawingml/2006/main">
              <a:ext uri="{FF2B5EF4-FFF2-40B4-BE49-F238E27FC236}">
                <a16:creationId xmlns:a16="http://schemas.microsoft.com/office/drawing/2014/main" id="{B4DF4141-834F-4136-8B7E-1EE0EFB966FB}"/>
              </a:ext>
            </a:extLst>
          </p:cNvPr>
          <p:cNvSpPr>
            <a:spLocks xmlns:a="http://schemas.openxmlformats.org/drawingml/2006/main" noGrp="1"/>
          </p:cNvSpPr>
          <p:nvPr/>
        </p:nvSpPr>
        <p:spPr>
          <a:xfrm xmlns:a="http://schemas.openxmlformats.org/drawingml/2006/main">
            <a:off x="571500" y="62960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GCK halveert. GVK blijft € 0,80 per brood.</a:t>
            </a:r>
          </a:p>
        </p:txBody>
      </p:sp>
      <p:sp>
        <p:nvSpPr>
          <p:cNvPr id="8" name="Alleen het vaste deel van GTK halveert: € 0,50 + €">
            <a:extLst xmlns:a="http://schemas.openxmlformats.org/drawingml/2006/main">
              <a:ext uri="{FF2B5EF4-FFF2-40B4-BE49-F238E27FC236}">
                <a16:creationId xmlns:a16="http://schemas.microsoft.com/office/drawing/2014/main" id="{7BC4E93C-7013-49AE-A5AC-842088CE01C9}"/>
              </a:ext>
            </a:extLst>
          </p:cNvPr>
          <p:cNvSpPr>
            <a:spLocks xmlns:a="http://schemas.openxmlformats.org/drawingml/2006/main" noGrp="1"/>
          </p:cNvSpPr>
          <p:nvPr/>
        </p:nvSpPr>
        <p:spPr>
          <a:xfrm xmlns:a="http://schemas.openxmlformats.org/drawingml/2006/main">
            <a:off x="571500" y="7162800"/>
            <a:ext cx="14097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A94D16"/>
                </a:solidFill>
                <a:latin typeface="Arial"/>
                <a:ea typeface="Arial"/>
                <a:cs typeface="Arial"/>
              </a:defRPr>
            </a:pPr>
            <a:r>
              <a:rPr sz="2775" b="1">
                <a:solidFill>
                  <a:srgbClr val="A94D16"/>
                </a:solidFill>
                <a:latin typeface="Arial"/>
                <a:ea typeface="Arial"/>
                <a:cs typeface="Arial"/>
              </a:rPr>
              <a:t>Alleen het vaste deel van GTK halveert: € 0,50 + € 0,80 = € 1,30.</a:t>
            </a:r>
          </a:p>
        </p:txBody>
      </p:sp>
    </p:spTree>
    <p:extLst>
      <p:ext uri="{BB962C8B-B14F-4D97-AF65-F5344CB8AC3E}">
        <p14:creationId xmlns:p14="http://schemas.microsoft.com/office/powerpoint/2010/main" val="126123889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Antwoordcontrole bij opgave 7">
            <a:extLst xmlns:a="http://schemas.openxmlformats.org/drawingml/2006/main">
              <a:ext uri="{FF2B5EF4-FFF2-40B4-BE49-F238E27FC236}">
                <a16:creationId xmlns:a16="http://schemas.microsoft.com/office/drawing/2014/main" id="{A5AA3D13-9B46-435E-BF28-BF8F39359A1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Antwoordcontrole bij opgave 7</a:t>
            </a:r>
          </a:p>
        </p:txBody>
      </p:sp>
      <p:sp>
        <p:nvSpPr>
          <p:cNvPr id="2" name="">
            <a:extLst xmlns:a="http://schemas.openxmlformats.org/drawingml/2006/main">
              <a:ext uri="{FF2B5EF4-FFF2-40B4-BE49-F238E27FC236}">
                <a16:creationId xmlns:a16="http://schemas.microsoft.com/office/drawing/2014/main" id="{575049F3-827E-4D7B-A655-D310DA61090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1 Kostenstructuren">
            <a:extLst xmlns:a="http://schemas.openxmlformats.org/drawingml/2006/main">
              <a:ext uri="{FF2B5EF4-FFF2-40B4-BE49-F238E27FC236}">
                <a16:creationId xmlns:a16="http://schemas.microsoft.com/office/drawing/2014/main" id="{3A30A2D5-49C7-4BE8-A573-2F381DD6340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§2.1.1 Kostenstructuren</a:t>
            </a:r>
          </a:p>
        </p:txBody>
      </p:sp>
      <p:sp>
        <p:nvSpPr>
          <p:cNvPr id="4" name="22">
            <a:extLst xmlns:a="http://schemas.openxmlformats.org/drawingml/2006/main">
              <a:ext uri="{FF2B5EF4-FFF2-40B4-BE49-F238E27FC236}">
                <a16:creationId xmlns:a16="http://schemas.microsoft.com/office/drawing/2014/main" id="{70850C72-70F0-4A1C-B000-1A2753700F1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Indeling">
            <a:extLst xmlns:a="http://schemas.openxmlformats.org/drawingml/2006/main">
              <a:ext uri="{FF2B5EF4-FFF2-40B4-BE49-F238E27FC236}">
                <a16:creationId xmlns:a16="http://schemas.microsoft.com/office/drawing/2014/main" id="{BB350AC7-E0D9-42FB-B6B3-0A03D0F8D554}"/>
              </a:ext>
            </a:extLst>
          </p:cNvPr>
          <p:cNvSpPr>
            <a:spLocks xmlns:a="http://schemas.openxmlformats.org/drawingml/2006/main" noGrp="1"/>
          </p:cNvSpPr>
          <p:nvPr/>
        </p:nvSpPr>
        <p:spPr>
          <a:xfrm xmlns:a="http://schemas.openxmlformats.org/drawingml/2006/main">
            <a:off x="571500" y="1981200"/>
            <a:ext cx="4048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Indeling</a:t>
            </a:r>
          </a:p>
        </p:txBody>
      </p:sp>
      <p:sp>
        <p:nvSpPr>
          <p:cNvPr id="6" name="Alle vier kostenposten hebben een soort én een red">
            <a:extLst xmlns:a="http://schemas.openxmlformats.org/drawingml/2006/main">
              <a:ext uri="{FF2B5EF4-FFF2-40B4-BE49-F238E27FC236}">
                <a16:creationId xmlns:a16="http://schemas.microsoft.com/office/drawing/2014/main" id="{D31E7831-A5DF-4A29-9F73-8FC32EF43AE4}"/>
              </a:ext>
            </a:extLst>
          </p:cNvPr>
          <p:cNvSpPr>
            <a:spLocks xmlns:a="http://schemas.openxmlformats.org/drawingml/2006/main" noGrp="1"/>
          </p:cNvSpPr>
          <p:nvPr/>
        </p:nvSpPr>
        <p:spPr>
          <a:xfrm xmlns:a="http://schemas.openxmlformats.org/drawingml/2006/main">
            <a:off x="5095875" y="1981200"/>
            <a:ext cx="9525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Alle vier kostenposten hebben een soort én een reden.</a:t>
            </a:r>
          </a:p>
        </p:txBody>
      </p:sp>
      <p:sp>
        <p:nvSpPr>
          <p:cNvPr id="7" name="Berekeningen">
            <a:extLst xmlns:a="http://schemas.openxmlformats.org/drawingml/2006/main">
              <a:ext uri="{FF2B5EF4-FFF2-40B4-BE49-F238E27FC236}">
                <a16:creationId xmlns:a16="http://schemas.microsoft.com/office/drawing/2014/main" id="{1D265D39-265B-49D0-8D80-AEB4DC87C1B5}"/>
              </a:ext>
            </a:extLst>
          </p:cNvPr>
          <p:cNvSpPr>
            <a:spLocks xmlns:a="http://schemas.openxmlformats.org/drawingml/2006/main" noGrp="1"/>
          </p:cNvSpPr>
          <p:nvPr/>
        </p:nvSpPr>
        <p:spPr>
          <a:xfrm xmlns:a="http://schemas.openxmlformats.org/drawingml/2006/main">
            <a:off x="571500" y="3305175"/>
            <a:ext cx="4048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Berekeningen</a:t>
            </a:r>
          </a:p>
        </p:txBody>
      </p:sp>
      <p:sp>
        <p:nvSpPr>
          <p:cNvPr id="8" name="500 + 0,80Q levert TK in euro per maand.">
            <a:extLst xmlns:a="http://schemas.openxmlformats.org/drawingml/2006/main">
              <a:ext uri="{FF2B5EF4-FFF2-40B4-BE49-F238E27FC236}">
                <a16:creationId xmlns:a16="http://schemas.microsoft.com/office/drawing/2014/main" id="{3877719D-8F3C-422F-9C55-7EB89A97B6EA}"/>
              </a:ext>
            </a:extLst>
          </p:cNvPr>
          <p:cNvSpPr>
            <a:spLocks xmlns:a="http://schemas.openxmlformats.org/drawingml/2006/main" noGrp="1"/>
          </p:cNvSpPr>
          <p:nvPr/>
        </p:nvSpPr>
        <p:spPr>
          <a:xfrm xmlns:a="http://schemas.openxmlformats.org/drawingml/2006/main">
            <a:off x="5095875" y="3305175"/>
            <a:ext cx="9525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500 + 0,80Q levert TK in euro per maand.</a:t>
            </a:r>
          </a:p>
        </p:txBody>
      </p:sp>
      <p:sp>
        <p:nvSpPr>
          <p:cNvPr id="9" name="Eenheden">
            <a:extLst xmlns:a="http://schemas.openxmlformats.org/drawingml/2006/main">
              <a:ext uri="{FF2B5EF4-FFF2-40B4-BE49-F238E27FC236}">
                <a16:creationId xmlns:a16="http://schemas.microsoft.com/office/drawing/2014/main" id="{1B7B9491-9110-4C0D-BB5F-181D5FAF7EE5}"/>
              </a:ext>
            </a:extLst>
          </p:cNvPr>
          <p:cNvSpPr>
            <a:spLocks xmlns:a="http://schemas.openxmlformats.org/drawingml/2006/main" noGrp="1"/>
          </p:cNvSpPr>
          <p:nvPr/>
        </p:nvSpPr>
        <p:spPr>
          <a:xfrm xmlns:a="http://schemas.openxmlformats.org/drawingml/2006/main">
            <a:off x="571500" y="4629150"/>
            <a:ext cx="4048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Eenheden</a:t>
            </a:r>
          </a:p>
        </p:txBody>
      </p:sp>
      <p:sp>
        <p:nvSpPr>
          <p:cNvPr id="10" name="GCK, GVK en GTK staan in euro per brood.">
            <a:extLst xmlns:a="http://schemas.openxmlformats.org/drawingml/2006/main">
              <a:ext uri="{FF2B5EF4-FFF2-40B4-BE49-F238E27FC236}">
                <a16:creationId xmlns:a16="http://schemas.microsoft.com/office/drawing/2014/main" id="{212FED1A-37CC-4024-BEBD-34828258A10E}"/>
              </a:ext>
            </a:extLst>
          </p:cNvPr>
          <p:cNvSpPr>
            <a:spLocks xmlns:a="http://schemas.openxmlformats.org/drawingml/2006/main" noGrp="1"/>
          </p:cNvSpPr>
          <p:nvPr/>
        </p:nvSpPr>
        <p:spPr>
          <a:xfrm xmlns:a="http://schemas.openxmlformats.org/drawingml/2006/main">
            <a:off x="5095875" y="4629150"/>
            <a:ext cx="9525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GCK, GVK en GTK staan in euro per brood.</a:t>
            </a:r>
          </a:p>
        </p:txBody>
      </p:sp>
      <p:sp>
        <p:nvSpPr>
          <p:cNvPr id="11" name="Verklaring">
            <a:extLst xmlns:a="http://schemas.openxmlformats.org/drawingml/2006/main">
              <a:ext uri="{FF2B5EF4-FFF2-40B4-BE49-F238E27FC236}">
                <a16:creationId xmlns:a16="http://schemas.microsoft.com/office/drawing/2014/main" id="{4CCFC630-93B4-489D-8DDB-07F7A4618CE1}"/>
              </a:ext>
            </a:extLst>
          </p:cNvPr>
          <p:cNvSpPr>
            <a:spLocks xmlns:a="http://schemas.openxmlformats.org/drawingml/2006/main" noGrp="1"/>
          </p:cNvSpPr>
          <p:nvPr/>
        </p:nvSpPr>
        <p:spPr>
          <a:xfrm xmlns:a="http://schemas.openxmlformats.org/drawingml/2006/main">
            <a:off x="571500" y="5953125"/>
            <a:ext cx="4048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Verklaring</a:t>
            </a:r>
          </a:p>
        </p:txBody>
      </p:sp>
      <p:sp>
        <p:nvSpPr>
          <p:cNvPr id="12" name="Je verklaart waarom alleen GCK halveert.">
            <a:extLst xmlns:a="http://schemas.openxmlformats.org/drawingml/2006/main">
              <a:ext uri="{FF2B5EF4-FFF2-40B4-BE49-F238E27FC236}">
                <a16:creationId xmlns:a16="http://schemas.microsoft.com/office/drawing/2014/main" id="{56990D33-46A0-455B-B577-2BCA70BA1FA9}"/>
              </a:ext>
            </a:extLst>
          </p:cNvPr>
          <p:cNvSpPr>
            <a:spLocks xmlns:a="http://schemas.openxmlformats.org/drawingml/2006/main" noGrp="1"/>
          </p:cNvSpPr>
          <p:nvPr/>
        </p:nvSpPr>
        <p:spPr>
          <a:xfrm xmlns:a="http://schemas.openxmlformats.org/drawingml/2006/main">
            <a:off x="5095875" y="5953125"/>
            <a:ext cx="9525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Je verklaart waarom alleen GCK halveert.</a:t>
            </a:r>
          </a:p>
        </p:txBody>
      </p:sp>
      <p:sp>
        <p:nvSpPr>
          <p:cNvPr id="13" name="Verbeter één ontbrekende stap of onjuiste uitleg i">
            <a:extLst xmlns:a="http://schemas.openxmlformats.org/drawingml/2006/main">
              <a:ext uri="{FF2B5EF4-FFF2-40B4-BE49-F238E27FC236}">
                <a16:creationId xmlns:a16="http://schemas.microsoft.com/office/drawing/2014/main" id="{241F8617-FA74-4A88-B316-40AD7B9D5CFB}"/>
              </a:ext>
            </a:extLst>
          </p:cNvPr>
          <p:cNvSpPr>
            <a:spLocks xmlns:a="http://schemas.openxmlformats.org/drawingml/2006/main" noGrp="1"/>
          </p:cNvSpPr>
          <p:nvPr/>
        </p:nvSpPr>
        <p:spPr>
          <a:xfrm xmlns:a="http://schemas.openxmlformats.org/drawingml/2006/main">
            <a:off x="571500" y="7467600"/>
            <a:ext cx="1409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Verbeter één ontbrekende stap of onjuiste uitleg in je eigen antwoord.</a:t>
            </a:r>
          </a:p>
        </p:txBody>
      </p:sp>
    </p:spTree>
    <p:extLst>
      <p:ext uri="{BB962C8B-B14F-4D97-AF65-F5344CB8AC3E}">
        <p14:creationId xmlns:p14="http://schemas.microsoft.com/office/powerpoint/2010/main" val="34448559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1.1 Kostenstructuren">
            <a:extLst xmlns:a="http://schemas.openxmlformats.org/drawingml/2006/main">
              <a:ext uri="{FF2B5EF4-FFF2-40B4-BE49-F238E27FC236}">
                <a16:creationId xmlns:a16="http://schemas.microsoft.com/office/drawing/2014/main" id="{681A20F7-06F3-4DBC-B2F6-7949E881993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§2.1.1 Kostenstructuren</a:t>
            </a:r>
          </a:p>
        </p:txBody>
      </p:sp>
      <p:sp>
        <p:nvSpPr>
          <p:cNvPr id="2" name="">
            <a:extLst xmlns:a="http://schemas.openxmlformats.org/drawingml/2006/main">
              <a:ext uri="{FF2B5EF4-FFF2-40B4-BE49-F238E27FC236}">
                <a16:creationId xmlns:a16="http://schemas.microsoft.com/office/drawing/2014/main" id="{2A66589F-5742-4CE5-885F-89789F488FE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1 Kostenstructuren">
            <a:extLst xmlns:a="http://schemas.openxmlformats.org/drawingml/2006/main">
              <a:ext uri="{FF2B5EF4-FFF2-40B4-BE49-F238E27FC236}">
                <a16:creationId xmlns:a16="http://schemas.microsoft.com/office/drawing/2014/main" id="{6B1466D8-EB86-48D5-94EA-89F007183C8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§2.1.1 Kostenstructuren</a:t>
            </a:r>
          </a:p>
        </p:txBody>
      </p:sp>
      <p:sp>
        <p:nvSpPr>
          <p:cNvPr id="4" name="23">
            <a:extLst xmlns:a="http://schemas.openxmlformats.org/drawingml/2006/main">
              <a:ext uri="{FF2B5EF4-FFF2-40B4-BE49-F238E27FC236}">
                <a16:creationId xmlns:a16="http://schemas.microsoft.com/office/drawing/2014/main" id="{C4714ACE-9075-4629-B97B-40ACDF06262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phase">
            <a:extLst xmlns:a="http://schemas.openxmlformats.org/drawingml/2006/main">
              <a:ext uri="{FF2B5EF4-FFF2-40B4-BE49-F238E27FC236}">
                <a16:creationId xmlns:a16="http://schemas.microsoft.com/office/drawing/2014/main" id="{2C9E3BB3-007E-42E4-BE4F-5321E348013A}"/>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C8217F5D-557E-4252-91A7-013D9E73A161}"/>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1E97A439-F487-49B4-B8D7-05671E0FF277}"/>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30389A28-672A-4972-9E4D-9BFD9DF4377F}"/>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DB13C6E3-F2B2-4E14-AFC6-338A55E617E4}"/>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73C62689-A994-4475-8FC3-44F62FEAB577}"/>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E23EAFC2-B024-4672-B028-4C1920DAEE63}"/>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F8834B45-2C2F-4999-9C0B-6505D1B92C95}"/>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A98AD91C-428A-4742-B6AD-1808A90B023D}"/>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4DCBE837-FD74-4A38-ACCE-D81F5D92F474}"/>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D4576EE1-4B0C-41D5-8EA2-08ED19606042}"/>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41E58B91-99FC-4EC9-8380-69DA9C2EB9CB}"/>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C280E839-CAB7-4145-A06A-EE7647AB7BB3}"/>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2272B9D9-E390-4308-B1F9-49FF077C2B95}"/>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65784F20-7A2E-4F6F-8E06-6C433CEAF762}"/>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8AFC6BD6-C463-44D5-9B02-9BE4475E2843}"/>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26A425E8-D918-4B5D-A278-F6039F3E619F}"/>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5635101A-CE05-4FBF-9DE2-4A42F32AAFAD}"/>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Kosten indelen, functies opstellen,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gemiddelden berekenen 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veranderingen verklaren.</a:t>
            </a:r>
          </a:p>
        </p:txBody>
      </p:sp>
      <p:sp>
        <p:nvSpPr>
          <p:cNvPr id="23" name="">
            <a:extLst xmlns:a="http://schemas.openxmlformats.org/drawingml/2006/main">
              <a:ext uri="{FF2B5EF4-FFF2-40B4-BE49-F238E27FC236}">
                <a16:creationId xmlns:a16="http://schemas.microsoft.com/office/drawing/2014/main" id="{34F21D7D-D982-4F5D-B5D7-DF7A6839B43A}"/>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486B929C-DD52-4012-A395-698E83D721D5}"/>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4D3CD428-EAFC-4FAD-9826-5C2E6FE786CE}"/>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Pagina 6</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Opgaven 1 en 2</a:t>
            </a:r>
          </a:p>
        </p:txBody>
      </p:sp>
      <p:sp>
        <p:nvSpPr>
          <p:cNvPr id="26" name="">
            <a:extLst xmlns:a="http://schemas.openxmlformats.org/drawingml/2006/main">
              <a:ext uri="{FF2B5EF4-FFF2-40B4-BE49-F238E27FC236}">
                <a16:creationId xmlns:a16="http://schemas.microsoft.com/office/drawing/2014/main" id="{A00ED713-89A0-44BD-BABC-F4FA50C47617}"/>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B5A2CFE5-B6E8-416D-9129-CA9FAC2A2620}"/>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D9301EAE-9CC4-4E06-B389-C6E347D24CAB}"/>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§2.1.1 Kostenstructuren</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3 en 4</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5 en 6</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7</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3200278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2026-09-27T10:30:41.4890000Z</dcterms:created>
  <dcterms:modified xsi:type="dcterms:W3CDTF">2026-09-27T10:30:41.4890000Z</dcterms:modified>
</coreProperties>
</file>