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3.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c5654d6aa5f460e" /><Relationship Type="http://schemas.openxmlformats.org/officeDocument/2006/relationships/extended-properties" Target="/docProps/app.xml" Id="Rb017f5aae14547ba" /><Relationship Type="http://schemas.openxmlformats.org/officeDocument/2006/relationships/officeDocument" Target="/ppt/presentation.xml" Id="Rae1f5dbf70d24037" /></Relationships>
</file>

<file path=ppt/presentation.xml><?xml version="1.0" encoding="utf-8"?>
<p:presentation xmlns:p="http://schemas.openxmlformats.org/presentationml/2006/main">
  <p:sldMasterIdLst>
    <p:sldMasterId xmlns:r="http://schemas.openxmlformats.org/officeDocument/2006/relationships" id="2147483648" r:id="Rfd712c8e9de34154"/>
  </p:sldMasterIdLst>
  <p:notesMasterIdLst>
    <p:notesMasterId xmlns:r="http://schemas.openxmlformats.org/officeDocument/2006/relationships" r:id="Rea81d637666c4041"/>
  </p:notesMasterIdLst>
  <p:sldIdLst>
    <p:sldId xmlns:r="http://schemas.openxmlformats.org/officeDocument/2006/relationships" id="256" r:id="Rffe2cad3765c435d"/>
    <p:sldId xmlns:r="http://schemas.openxmlformats.org/officeDocument/2006/relationships" id="257" r:id="R9b2b9fd8f58f41d6"/>
    <p:sldId xmlns:r="http://schemas.openxmlformats.org/officeDocument/2006/relationships" id="258" r:id="R0f04d3452ec842dd"/>
    <p:sldId xmlns:r="http://schemas.openxmlformats.org/officeDocument/2006/relationships" id="259" r:id="Rbe753175c4284bb7"/>
    <p:sldId xmlns:r="http://schemas.openxmlformats.org/officeDocument/2006/relationships" id="260" r:id="Rd2ca5f616cef4d2e"/>
    <p:sldId xmlns:r="http://schemas.openxmlformats.org/officeDocument/2006/relationships" id="261" r:id="Rb7e07320d76c45f6"/>
    <p:sldId xmlns:r="http://schemas.openxmlformats.org/officeDocument/2006/relationships" id="262" r:id="R8b7133e207664062"/>
    <p:sldId xmlns:r="http://schemas.openxmlformats.org/officeDocument/2006/relationships" id="263" r:id="R255f6ba4c50649ca"/>
    <p:sldId xmlns:r="http://schemas.openxmlformats.org/officeDocument/2006/relationships" id="264" r:id="Re2e53ff01b7943a4"/>
    <p:sldId xmlns:r="http://schemas.openxmlformats.org/officeDocument/2006/relationships" id="265" r:id="R1d1235fe67f9445c"/>
    <p:sldId xmlns:r="http://schemas.openxmlformats.org/officeDocument/2006/relationships" id="266" r:id="Rd2adb8974b034d07"/>
    <p:sldId xmlns:r="http://schemas.openxmlformats.org/officeDocument/2006/relationships" id="267" r:id="R4cfb27d5978e43b9"/>
    <p:sldId xmlns:r="http://schemas.openxmlformats.org/officeDocument/2006/relationships" id="268" r:id="R1b1461da14ef4c9f"/>
    <p:sldId xmlns:r="http://schemas.openxmlformats.org/officeDocument/2006/relationships" id="269" r:id="R5c7ebc243d7c4cfd"/>
    <p:sldId xmlns:r="http://schemas.openxmlformats.org/officeDocument/2006/relationships" id="270" r:id="R853a620a6ee54fed"/>
    <p:sldId xmlns:r="http://schemas.openxmlformats.org/officeDocument/2006/relationships" id="271" r:id="R873da0ed67c44b14"/>
    <p:sldId xmlns:r="http://schemas.openxmlformats.org/officeDocument/2006/relationships" id="272" r:id="Re824aa17030d459c"/>
    <p:sldId xmlns:r="http://schemas.openxmlformats.org/officeDocument/2006/relationships" id="273" r:id="R65cc5c34dde84f62"/>
    <p:sldId xmlns:r="http://schemas.openxmlformats.org/officeDocument/2006/relationships" id="274" r:id="Rc7f184392f8f47c0"/>
    <p:sldId xmlns:r="http://schemas.openxmlformats.org/officeDocument/2006/relationships" id="275" r:id="R7b5411dde60d4349"/>
    <p:sldId xmlns:r="http://schemas.openxmlformats.org/officeDocument/2006/relationships" id="276" r:id="R523a33b4c65e4d7a"/>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ff910bcdfa64f1e" /><Relationship Type="http://schemas.openxmlformats.org/officeDocument/2006/relationships/slideMaster" Target="/ppt/slideMasters/slideMaster1.xml" Id="Rfd712c8e9de34154" /><Relationship Type="http://schemas.openxmlformats.org/officeDocument/2006/relationships/notesMaster" Target="/ppt/notesMasters/notesMaster1.xml" Id="Rea81d637666c4041" /><Relationship Type="http://schemas.openxmlformats.org/officeDocument/2006/relationships/presProps" Target="/ppt/presProps.xml" Id="Rb97a14e7e05d4e91" /><Relationship Type="http://schemas.openxmlformats.org/officeDocument/2006/relationships/tableStyles" Target="/ppt/tableStyles.xml" Id="Ra60678fdc29748c0" /><Relationship Type="http://schemas.openxmlformats.org/officeDocument/2006/relationships/slide" Target="/ppt/slides/slide1.xml" Id="Rffe2cad3765c435d" /><Relationship Type="http://schemas.openxmlformats.org/officeDocument/2006/relationships/slide" Target="/ppt/slides/slide2.xml" Id="R9b2b9fd8f58f41d6" /><Relationship Type="http://schemas.openxmlformats.org/officeDocument/2006/relationships/slide" Target="/ppt/slides/slide3.xml" Id="R0f04d3452ec842dd" /><Relationship Type="http://schemas.openxmlformats.org/officeDocument/2006/relationships/slide" Target="/ppt/slides/slide4.xml" Id="Rbe753175c4284bb7" /><Relationship Type="http://schemas.openxmlformats.org/officeDocument/2006/relationships/slide" Target="/ppt/slides/slide5.xml" Id="Rd2ca5f616cef4d2e" /><Relationship Type="http://schemas.openxmlformats.org/officeDocument/2006/relationships/slide" Target="/ppt/slides/slide6.xml" Id="Rb7e07320d76c45f6" /><Relationship Type="http://schemas.openxmlformats.org/officeDocument/2006/relationships/slide" Target="/ppt/slides/slide7.xml" Id="R8b7133e207664062" /><Relationship Type="http://schemas.openxmlformats.org/officeDocument/2006/relationships/slide" Target="/ppt/slides/slide8.xml" Id="R255f6ba4c50649ca" /><Relationship Type="http://schemas.openxmlformats.org/officeDocument/2006/relationships/slide" Target="/ppt/slides/slide9.xml" Id="Re2e53ff01b7943a4" /><Relationship Type="http://schemas.openxmlformats.org/officeDocument/2006/relationships/slide" Target="/ppt/slides/slide10.xml" Id="R1d1235fe67f9445c" /><Relationship Type="http://schemas.openxmlformats.org/officeDocument/2006/relationships/slide" Target="/ppt/slides/slide11.xml" Id="Rd2adb8974b034d07" /><Relationship Type="http://schemas.openxmlformats.org/officeDocument/2006/relationships/slide" Target="/ppt/slides/slide12.xml" Id="R4cfb27d5978e43b9" /><Relationship Type="http://schemas.openxmlformats.org/officeDocument/2006/relationships/slide" Target="/ppt/slides/slide13.xml" Id="R1b1461da14ef4c9f" /><Relationship Type="http://schemas.openxmlformats.org/officeDocument/2006/relationships/slide" Target="/ppt/slides/slide14.xml" Id="R5c7ebc243d7c4cfd" /><Relationship Type="http://schemas.openxmlformats.org/officeDocument/2006/relationships/slide" Target="/ppt/slides/slide15.xml" Id="R853a620a6ee54fed" /><Relationship Type="http://schemas.openxmlformats.org/officeDocument/2006/relationships/slide" Target="/ppt/slides/slide16.xml" Id="R873da0ed67c44b14" /><Relationship Type="http://schemas.openxmlformats.org/officeDocument/2006/relationships/slide" Target="/ppt/slides/slide17.xml" Id="Re824aa17030d459c" /><Relationship Type="http://schemas.openxmlformats.org/officeDocument/2006/relationships/slide" Target="/ppt/slides/slide18.xml" Id="R65cc5c34dde84f62" /><Relationship Type="http://schemas.openxmlformats.org/officeDocument/2006/relationships/slide" Target="/ppt/slides/slide19.xml" Id="Rc7f184392f8f47c0" /><Relationship Type="http://schemas.openxmlformats.org/officeDocument/2006/relationships/slide" Target="/ppt/slides/slide20.xml" Id="R7b5411dde60d4349" /><Relationship Type="http://schemas.openxmlformats.org/officeDocument/2006/relationships/slide" Target="/ppt/slides/slide21.xml" Id="R523a33b4c65e4d7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cc99dca4ff34a3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05cd0e142bc4c8d" /><Relationship Type="http://schemas.openxmlformats.org/officeDocument/2006/relationships/notesMaster" Target="/ppt/notesMasters/notesMaster1.xml" Id="R2035d61c1efc4ee3" /></Relationships>
</file>

<file path=ppt/notesSlides/_rels/notesSlide2.xml.rels>&#65279;<?xml version="1.0" encoding="utf-8"?><Relationships xmlns="http://schemas.openxmlformats.org/package/2006/relationships"><Relationship Type="http://schemas.openxmlformats.org/officeDocument/2006/relationships/slide" Target="/ppt/slides/slide2.xml" Id="R631721b78cec4410" /><Relationship Type="http://schemas.openxmlformats.org/officeDocument/2006/relationships/notesMaster" Target="/ppt/notesMasters/notesMaster1.xml" Id="R19ad2c7c618e47f8" /></Relationships>
</file>

<file path=ppt/notesSlides/_rels/notesSlide3.xml.rels>&#65279;<?xml version="1.0" encoding="utf-8"?><Relationships xmlns="http://schemas.openxmlformats.org/package/2006/relationships"><Relationship Type="http://schemas.openxmlformats.org/officeDocument/2006/relationships/slide" Target="/ppt/slides/slide3.xml" Id="R5f311d604f4d403b" /><Relationship Type="http://schemas.openxmlformats.org/officeDocument/2006/relationships/notesMaster" Target="/ppt/notesMasters/notesMaster1.xml" Id="R1ae860882f4b4696"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750772f595441e" /><Relationship Type="http://schemas.openxmlformats.org/officeDocument/2006/relationships/notesMaster" Target="/ppt/notesMasters/notesMaster1.xml" Id="Rb7eab7a8107544fe" /></Relationships>
</file>

<file path=ppt/notesSlides/_rels/notesSlide5.xml.rels>&#65279;<?xml version="1.0" encoding="utf-8"?><Relationships xmlns="http://schemas.openxmlformats.org/package/2006/relationships"><Relationship Type="http://schemas.openxmlformats.org/officeDocument/2006/relationships/slide" Target="/ppt/slides/slide5.xml" Id="Raa3388fc7d07472e" /><Relationship Type="http://schemas.openxmlformats.org/officeDocument/2006/relationships/notesMaster" Target="/ppt/notesMasters/notesMaster1.xml" Id="Rdec597156e4f4459" /></Relationships>
</file>

<file path=ppt/notesSlides/_rels/notesSlide6.xml.rels>&#65279;<?xml version="1.0" encoding="utf-8"?><Relationships xmlns="http://schemas.openxmlformats.org/package/2006/relationships"><Relationship Type="http://schemas.openxmlformats.org/officeDocument/2006/relationships/slide" Target="/ppt/slides/slide6.xml" Id="R62d027b167624c93" /><Relationship Type="http://schemas.openxmlformats.org/officeDocument/2006/relationships/notesMaster" Target="/ppt/notesMasters/notesMaster1.xml" Id="R4c369bad88a0436b" /></Relationships>
</file>

<file path=ppt/notesSlides/_rels/notesSlide7.xml.rels>&#65279;<?xml version="1.0" encoding="utf-8"?><Relationships xmlns="http://schemas.openxmlformats.org/package/2006/relationships"><Relationship Type="http://schemas.openxmlformats.org/officeDocument/2006/relationships/slide" Target="/ppt/slides/slide7.xml" Id="Rfb7ca8b005734aaa" /><Relationship Type="http://schemas.openxmlformats.org/officeDocument/2006/relationships/notesMaster" Target="/ppt/notesMasters/notesMaster1.xml" Id="R2993dd3374cf46b5" /></Relationships>
</file>

<file path=ppt/notesSlides/_rels/notesSlide8.xml.rels>&#65279;<?xml version="1.0" encoding="utf-8"?><Relationships xmlns="http://schemas.openxmlformats.org/package/2006/relationships"><Relationship Type="http://schemas.openxmlformats.org/officeDocument/2006/relationships/slide" Target="/ppt/slides/slide8.xml" Id="R53edf826a3164741" /><Relationship Type="http://schemas.openxmlformats.org/officeDocument/2006/relationships/notesMaster" Target="/ppt/notesMasters/notesMaster1.xml" Id="R44c6fcb17b5441a6" /></Relationships>
</file>

<file path=ppt/notesSlides/_rels/notesSlide9.xml.rels>&#65279;<?xml version="1.0" encoding="utf-8"?><Relationships xmlns="http://schemas.openxmlformats.org/package/2006/relationships"><Relationship Type="http://schemas.openxmlformats.org/officeDocument/2006/relationships/slide" Target="/ppt/slides/slide9.xml" Id="R551d434e200b4ee6" /><Relationship Type="http://schemas.openxmlformats.org/officeDocument/2006/relationships/notesMaster" Target="/ppt/notesMasters/notesMaster1.xml" Id="R04e8304b6bf14d9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db43d24de354f42" /><Relationship Type="http://schemas.openxmlformats.org/officeDocument/2006/relationships/notesMaster" Target="/ppt/notesMasters/notesMaster1.xml" Id="R466db5bd9333490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f254c99bdf8498e" /><Relationship Type="http://schemas.openxmlformats.org/officeDocument/2006/relationships/notesMaster" Target="/ppt/notesMasters/notesMaster1.xml" Id="Reb89b20161f7422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8f86e95f17440f4" /><Relationship Type="http://schemas.openxmlformats.org/officeDocument/2006/relationships/notesMaster" Target="/ppt/notesMasters/notesMaster1.xml" Id="R8b4c6db909454d0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6fe946726c54dc0" /><Relationship Type="http://schemas.openxmlformats.org/officeDocument/2006/relationships/notesMaster" Target="/ppt/notesMasters/notesMaster1.xml" Id="Rda1bc956e98140f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ba5eb0982794964" /><Relationship Type="http://schemas.openxmlformats.org/officeDocument/2006/relationships/notesMaster" Target="/ppt/notesMasters/notesMaster1.xml" Id="Rd8e8d77436fd457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730f0695e7540f5" /><Relationship Type="http://schemas.openxmlformats.org/officeDocument/2006/relationships/notesMaster" Target="/ppt/notesMasters/notesMaster1.xml" Id="R2df7208e5fd64d4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5a5a6f045b24c10" /><Relationship Type="http://schemas.openxmlformats.org/officeDocument/2006/relationships/notesMaster" Target="/ppt/notesMasters/notesMaster1.xml" Id="R7e393d1be08a4b7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d4394b4140547fb" /><Relationship Type="http://schemas.openxmlformats.org/officeDocument/2006/relationships/notesMaster" Target="/ppt/notesMasters/notesMaster1.xml" Id="R1690d99035654f5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8a0debacaaa4055" /><Relationship Type="http://schemas.openxmlformats.org/officeDocument/2006/relationships/notesMaster" Target="/ppt/notesMasters/notesMaster1.xml" Id="R4c30f3d7c6ee4d5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f723120032b4668" /><Relationship Type="http://schemas.openxmlformats.org/officeDocument/2006/relationships/notesMaster" Target="/ppt/notesMasters/notesMaster1.xml" Id="R178629f96cea48c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3d20de7122e4d1f" /><Relationship Type="http://schemas.openxmlformats.org/officeDocument/2006/relationships/notesMaster" Target="/ppt/notesMasters/notesMaster1.xml" Id="Re9ec60a0cbc144a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46740a47f3f44f1" /><Relationship Type="http://schemas.openxmlformats.org/officeDocument/2006/relationships/notesMaster" Target="/ppt/notesMasters/notesMaster1.xml" Id="R3394ff11a67a41e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grootheid wordt bij de startvraag gevraagd?</a:t>
            </a:r>
          </a:p>
          <a:p xmlns:a="http://schemas.openxmlformats.org/drawingml/2006/main">
            <a:r>
              <a:rPr sz="1400"/>
              <a:t/>
            </a:r>
          </a:p>
          <a:p xmlns:a="http://schemas.openxmlformats.org/drawingml/2006/main">
            <a:r>
              <a:rPr sz="1400"/>
              <a:t>Uitleg: Laat dit overzicht staan tijdens startopdracht. Start: opgave 1 op gedrukte pagina 29 (fysieke PDF-pagina 31). Er is geen afzonderlijke basis-/begeleide sectie. De route is 1–4 zelfstandig combineren, doel 5 SmoothBox (bronnen p. 32, vragen p. 33), 6 Bonus/Denkertje en 7 Herhaling (p. 34). Conform de gemengde-opgavenroute is huiswerk 1 tot en met 7 maken en nakijken, inclusief de herkenbare bonus- en herhalingslabels. Laat de docent ondersteuning geven waar nodig; er is geen nieuwe theorie. De hele route hoeft niet binnen één les af te zijn.</a:t>
            </a:r>
          </a:p>
          <a:p xmlns:a="http://schemas.openxmlformats.org/drawingml/2006/main">
            <a:r>
              <a:rPr sz="1400"/>
              <a:t/>
            </a:r>
          </a:p>
          <a:p xmlns:a="http://schemas.openxmlformats.org/drawingml/2006/main">
            <a:r>
              <a:rPr sz="1400"/>
              <a:t>Misvatting: De bron noemt geen aparte basisopgaven. Verzin daarvoor geen nieuwe indeling.</a:t>
            </a:r>
          </a:p>
          <a:p xmlns:a="http://schemas.openxmlformats.org/drawingml/2006/main">
            <a:r>
              <a:rPr sz="1400"/>
              <a:t/>
            </a:r>
          </a:p>
          <a:p xmlns:a="http://schemas.openxmlformats.org/drawingml/2006/main">
            <a:r>
              <a:rPr sz="1400"/>
              <a:t>Overgang: Ga naar de volgende lesfase als de klas eraan toe is.</a:t>
            </a:r>
          </a:p>
          <a:p xmlns:a="http://schemas.openxmlformats.org/drawingml/2006/main">
            <a:r>
              <a:rPr sz="1400"/>
              <a:t/>
            </a:r>
          </a:p>
          <a:p xmlns:a="http://schemas.openxmlformats.org/drawingml/2006/main">
            <a:r>
              <a:rPr sz="1400"/>
              <a:t>Bron: Leerlingenboek Boek 2, chatuitgave 2026, gedrukte pagina 29–34.</a:t>
            </a:r>
          </a:p>
          <a:p xmlns:a="http://schemas.openxmlformats.org/drawingml/2006/main">
            <a:r>
              <a:rPr sz="1400"/>
              <a:t>https://github.com/meijer1973/4veco-lessen/blob/08d7fd27830b5c42d1dbebc7fcb73b882b4d67a4/Boek%202%20-%20Kosten%2C%20opbrengsten%2C%20elasticiteit%20en%20surplus/edities/chat-2026/boek/Boek_2_Compleet.pdf</a:t>
            </a:r>
          </a:p>
          <a:p xmlns:a="http://schemas.openxmlformats.org/drawingml/2006/main">
            <a:r>
              <a:rPr sz="1400"/>
              <a:t>Antwoordmodel bij de echte boekopgaven: https://github.com/meijer1973/4veco-lessen/blob/08d7fd27830b5c42d1dbebc7fcb73b882b4d67a4/Boek%202%20-%20Kosten%2C%20opbrengsten%2C%20elasticiteit%20en%20surplus/edities/chat-2026/boek/Boek_2_Compleet_Antwoorden.pdf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woorden in de vraag maken duidelijk of je een totaal of een bedrag per extra product zoekt?</a:t>
            </a:r>
          </a:p>
          <a:p xmlns:a="http://schemas.openxmlformats.org/drawingml/2006/main">
            <a:r>
              <a:rPr sz="1400"/>
              <a:t/>
            </a:r>
          </a:p>
          <a:p xmlns:a="http://schemas.openxmlformats.org/drawingml/2006/main">
            <a:r>
              <a:rPr sz="1400"/>
              <a:t>Uitleg: Haal de methoden uit §§2.1.1–2.1.3 kort op. Δ betekent verandering tussen twee hoeveelheden. Een totaal, gemiddelde en marginaal bedrag beantwoorden verschillende vragen. Bij GTK moet Q positief zijn. Benoem de relevante bron, periode en capaciteit voordat leerlingen een formule kiezen. Lesdoelen: bronselectie, combineren van kosten en opbrengsten, tabellen en grafieken verbinden, en conclusies onderbouwen binnen de gegevens.</a:t>
            </a:r>
          </a:p>
          <a:p xmlns:a="http://schemas.openxmlformats.org/drawingml/2006/main">
            <a:r>
              <a:rPr sz="1400"/>
              <a:t/>
            </a:r>
          </a:p>
          <a:p xmlns:a="http://schemas.openxmlformats.org/drawingml/2006/main">
            <a:r>
              <a:rPr sz="1400"/>
              <a:t>Misvatting: Een kostenverschil is nog geen MK als de stap uit meer dan één product bestaat.</a:t>
            </a:r>
          </a:p>
          <a:p xmlns:a="http://schemas.openxmlformats.org/drawingml/2006/main">
            <a:r>
              <a:rPr sz="1400"/>
              <a:t/>
            </a:r>
          </a:p>
          <a:p xmlns:a="http://schemas.openxmlformats.org/drawingml/2006/main">
            <a:r>
              <a:rPr sz="1400"/>
              <a:t>Overgang: Gebruik nu een apart klein uitlegvoorbeeld om de keuzes te laten zien.</a:t>
            </a:r>
          </a:p>
          <a:p xmlns:a="http://schemas.openxmlformats.org/drawingml/2006/main">
            <a:r>
              <a:rPr sz="1400"/>
              <a:t/>
            </a:r>
          </a:p>
          <a:p xmlns:a="http://schemas.openxmlformats.org/drawingml/2006/main">
            <a:r>
              <a:rPr sz="1400"/>
              <a:t>Bron: Leerlingenboek Boek 2, chatuitgave 2026, gedrukte pagina 29.</a:t>
            </a:r>
          </a:p>
          <a:p xmlns:a="http://schemas.openxmlformats.org/drawingml/2006/main">
            <a:r>
              <a:rPr sz="1400"/>
              <a:t>https://github.com/meijer1973/4veco-lessen/blob/08d7fd27830b5c42d1dbebc7fcb73b882b4d67a4/Boek%202%20-%20Kosten%2C%20opbrengsten%2C%20elasticiteit%20en%20surplus/edities/chat-2026/boek/Boek_2_Compleet.pdf</a:t>
            </a:r>
          </a:p>
          <a:p xmlns:a="http://schemas.openxmlformats.org/drawingml/2006/main">
            <a:r>
              <a:rPr sz="1400"/>
              <a:t>Antwoordmodel bij de echte boekopgaven: https://github.com/meijer1973/4veco-lessen/blob/08d7fd27830b5c42d1dbebc7fcb73b882b4d67a4/Boek%202%20-%20Kosten%2C%20opbrengsten%2C%20elasticiteit%20en%20surplus/edities/chat-2026/boek/Boek_2_Compleet_Antwoorden.pdf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gegeven vermenigvuldig je met Q, en welk gegeven niet?</a:t>
            </a:r>
          </a:p>
          <a:p xmlns:a="http://schemas.openxmlformats.org/drawingml/2006/main">
            <a:r>
              <a:rPr sz="1400"/>
              <a:t/>
            </a:r>
          </a:p>
          <a:p xmlns:a="http://schemas.openxmlformats.org/drawingml/2006/main">
            <a:r>
              <a:rPr sz="1400"/>
              <a:t>Uitleg: Dit is een eigen uitlegvoorbeeld, geen toegewezen boekopgave. De vaste dagkosten veranderen niet met Q; de totale materiaalkosten zijn 1,20Q. Werk de eerste rij hardop uit: TK = 96 + 1,20 × 80 = 192; TO = 3,60 × 80 = 288; winst = 288 − 192 = 96 euro per dag. De tweede rij ondersteunt de volgende vergelijking. Alle gemaakte badges worden verkocht binnen dezelfde dag en capaciteit.</a:t>
            </a:r>
          </a:p>
          <a:p xmlns:a="http://schemas.openxmlformats.org/drawingml/2006/main">
            <a:r>
              <a:rPr sz="1400"/>
              <a:t/>
            </a:r>
          </a:p>
          <a:p xmlns:a="http://schemas.openxmlformats.org/drawingml/2006/main">
            <a:r>
              <a:rPr sz="1400"/>
              <a:t>Misvatting: € 1,20 per badge is niet de totale kostenfunctie: de vaste dagkosten horen er ook bij.</a:t>
            </a:r>
          </a:p>
          <a:p xmlns:a="http://schemas.openxmlformats.org/drawingml/2006/main">
            <a:r>
              <a:rPr sz="1400"/>
              <a:t/>
            </a:r>
          </a:p>
          <a:p xmlns:a="http://schemas.openxmlformats.org/drawingml/2006/main">
            <a:r>
              <a:rPr sz="1400"/>
              <a:t>Overgang: Vergelijk gemiddeld per badge met per extra badge.</a:t>
            </a:r>
          </a:p>
          <a:p xmlns:a="http://schemas.openxmlformats.org/drawingml/2006/main">
            <a:r>
              <a:rPr sz="1400"/>
              <a:t/>
            </a:r>
          </a:p>
          <a:p xmlns:a="http://schemas.openxmlformats.org/drawingml/2006/main">
            <a:r>
              <a:rPr sz="1400"/>
              <a:t>Bron: Eigen uitlegvoorbeeld: Badgebalie op een verenigingsdag. Context en alle getallen zijn voor deze les gemaakt, niet afkomstig uit een boekopgave. Methode: §§2.1.1–2.1.3, gedrukte pagina's 2–5, 11–13 en 20–22; §2.1.4 pagina 29 voor de antwoordaanpak..</a:t>
            </a:r>
          </a:p>
          <a:p xmlns:a="http://schemas.openxmlformats.org/drawingml/2006/main">
            <a:r>
              <a:rPr sz="1400"/>
              <a:t>https://github.com/meijer1973/4veco-lessen/blob/08d7fd27830b5c42d1dbebc7fcb73b882b4d67a4/Boek%202%20-%20Kosten%2C%20opbrengsten%2C%20elasticiteit%20en%20surplus/edities/chat-2026/boek/Boek_2_Compleet.pdf</a:t>
            </a:r>
          </a:p>
          <a:p xmlns:a="http://schemas.openxmlformats.org/drawingml/2006/main">
            <a:r>
              <a:rPr sz="1400"/>
              <a:t>Antwoordmodel bij de echte boekopgaven: https://github.com/meijer1973/4veco-lessen/blob/08d7fd27830b5c42d1dbebc7fcb73b882b4d67a4/Boek%202%20-%20Kosten%2C%20opbrengsten%2C%20elasticiteit%20en%20surplus/edities/chat-2026/boek/Boek_2_Compleet_Antwoorden.pdf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zijn € 2,40 GTK en € 1,20 MK allebei juist?</a:t>
            </a:r>
          </a:p>
          <a:p xmlns:a="http://schemas.openxmlformats.org/drawingml/2006/main">
            <a:r>
              <a:rPr sz="1400"/>
              <a:t/>
            </a:r>
          </a:p>
          <a:p xmlns:a="http://schemas.openxmlformats.org/drawingml/2006/main">
            <a:r>
              <a:rPr sz="1400"/>
              <a:t>Uitleg: GTK verdeelt alle 192 euro over alle 80 badges. MK en MO gaan alleen over de verschillen tussen 80 en 100. Teller MK = 24 euro extra kosten; noemer = 20 extra badges. Teller MO = 72 euro extra opbrengst. De extra winst is 48 euro per dag. Controle met vorige dia: 144 − 96 = 48. Als een tabel wisselende kostenverschillen geeft, reken je iedere stap afzonderlijk uit; een bedrag uit een andere situatie mag die tabel niet vervangen.</a:t>
            </a:r>
          </a:p>
          <a:p xmlns:a="http://schemas.openxmlformats.org/drawingml/2006/main">
            <a:r>
              <a:rPr sz="1400"/>
              <a:t/>
            </a:r>
          </a:p>
          <a:p xmlns:a="http://schemas.openxmlformats.org/drawingml/2006/main">
            <a:r>
              <a:rPr sz="1400"/>
              <a:t>Misvatting: Deel voor MK niet TK door Q: dat geeft GTK. Een vaste verkoopprijs garandeert alleen gelijke MO, niet gelijke extra winst als MK verschilt.</a:t>
            </a:r>
          </a:p>
          <a:p xmlns:a="http://schemas.openxmlformats.org/drawingml/2006/main">
            <a:r>
              <a:rPr sz="1400"/>
              <a:t/>
            </a:r>
          </a:p>
          <a:p xmlns:a="http://schemas.openxmlformats.org/drawingml/2006/main">
            <a:r>
              <a:rPr sz="1400"/>
              <a:t>Overgang: Koppel de totale bedragen aan de grafiek.</a:t>
            </a:r>
          </a:p>
          <a:p xmlns:a="http://schemas.openxmlformats.org/drawingml/2006/main">
            <a:r>
              <a:rPr sz="1400"/>
              <a:t/>
            </a:r>
          </a:p>
          <a:p xmlns:a="http://schemas.openxmlformats.org/drawingml/2006/main">
            <a:r>
              <a:rPr sz="1400"/>
              <a:t>Bron: Eigen uitlegvoorbeeld: Badgebalie op een verenigingsdag. Context en alle getallen zijn voor deze les gemaakt, niet afkomstig uit een boekopgave. Methode: §§2.1.1–2.1.3, gedrukte pagina's 2–5, 11–13 en 20–22; §2.1.4 pagina 29 voor de antwoordaanpak..</a:t>
            </a:r>
          </a:p>
          <a:p xmlns:a="http://schemas.openxmlformats.org/drawingml/2006/main">
            <a:r>
              <a:rPr sz="1400"/>
              <a:t>https://github.com/meijer1973/4veco-lessen/blob/08d7fd27830b5c42d1dbebc7fcb73b882b4d67a4/Boek%202%20-%20Kosten%2C%20opbrengsten%2C%20elasticiteit%20en%20surplus/edities/chat-2026/boek/Boek_2_Compleet.pdf</a:t>
            </a:r>
          </a:p>
          <a:p xmlns:a="http://schemas.openxmlformats.org/drawingml/2006/main">
            <a:r>
              <a:rPr sz="1400"/>
              <a:t>Antwoordmodel bij de echte boekopgaven: https://github.com/meijer1973/4veco-lessen/blob/08d7fd27830b5c42d1dbebc7fcb73b882b4d67a4/Boek%202%20-%20Kosten%2C%20opbrengsten%2C%20elasticiteit%20en%20surplus/edities/chat-2026/boek/Boek_2_Compleet_Antwoorden.pdf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meet je winst verticaal bij één hoeveelheid?</a:t>
            </a:r>
          </a:p>
          <a:p xmlns:a="http://schemas.openxmlformats.org/drawingml/2006/main">
            <a:r>
              <a:rPr sz="1400"/>
              <a:t/>
            </a:r>
          </a:p>
          <a:p xmlns:a="http://schemas.openxmlformats.org/drawingml/2006/main">
            <a:r>
              <a:rPr sz="1400"/>
              <a:t>Uitleg: Los TO = TK op: 2,40Q = 96, dus 40 badges. Controle: TO = 3,60 × 40 = 144 en TK = 96 + 1,20 × 40 = 144 euro per dag. Het snijpunt is (40; 144). Bij 80 badges is de verticale afstand 288 − 192 = 96 euro winst per dag. De functies stoppen bij 120 badges; de as loopt alleen voor de labels verder. Positieve winst bij meer dan 40 tot en met 120 badges; bij gehele aantallen 41–120. Korte begripscheck: betekent break-even een lege kassa? Nee, de opbrengst is 144 euro.</a:t>
            </a:r>
          </a:p>
          <a:p xmlns:a="http://schemas.openxmlformats.org/drawingml/2006/main">
            <a:r>
              <a:rPr sz="1400"/>
              <a:t/>
            </a:r>
          </a:p>
          <a:p xmlns:a="http://schemas.openxmlformats.org/drawingml/2006/main">
            <a:r>
              <a:rPr sz="1400"/>
              <a:t>Misvatting: De verticale as bevat al totale eurobedragen. Een oppervlakte tussen deze lijnen geeft geen winstbedrag.</a:t>
            </a:r>
          </a:p>
          <a:p xmlns:a="http://schemas.openxmlformats.org/drawingml/2006/main">
            <a:r>
              <a:rPr sz="1400"/>
              <a:t/>
            </a:r>
          </a:p>
          <a:p xmlns:a="http://schemas.openxmlformats.org/drawingml/2006/main">
            <a:r>
              <a:rPr sz="1400"/>
              <a:t>Overgang: Laat nu de gemengde boekopgaven maken; de bespreking gebruikt daarna de echte SmoothBox-opgave.</a:t>
            </a:r>
          </a:p>
          <a:p xmlns:a="http://schemas.openxmlformats.org/drawingml/2006/main">
            <a:r>
              <a:rPr sz="1400"/>
              <a:t/>
            </a:r>
          </a:p>
          <a:p xmlns:a="http://schemas.openxmlformats.org/drawingml/2006/main">
            <a:r>
              <a:rPr sz="1400"/>
              <a:t>Bron: Eigen uitlegvoorbeeld: Badgebalie op een verenigingsdag. Context en alle getallen zijn voor deze les gemaakt, niet afkomstig uit een boekopgave. Methode: §§2.1.1–2.1.3, gedrukte pagina's 2–5, 11–13 en 20–22; §2.1.4 pagina 29 voor de antwoordaanpak..</a:t>
            </a:r>
          </a:p>
          <a:p xmlns:a="http://schemas.openxmlformats.org/drawingml/2006/main">
            <a:r>
              <a:rPr sz="1400"/>
              <a:t>https://github.com/meijer1973/4veco-lessen/blob/08d7fd27830b5c42d1dbebc7fcb73b882b4d67a4/Boek%202%20-%20Kosten%2C%20opbrengsten%2C%20elasticiteit%20en%20surplus/edities/chat-2026/boek/Boek_2_Compleet.pdf</a:t>
            </a:r>
          </a:p>
          <a:p xmlns:a="http://schemas.openxmlformats.org/drawingml/2006/main">
            <a:r>
              <a:rPr sz="1400"/>
              <a:t>Antwoordmodel bij de echte boekopgaven: https://github.com/meijer1973/4veco-lessen/blob/08d7fd27830b5c42d1dbebc7fcb73b882b4d67a4/Boek%202%20-%20Kosten%2C%20opbrengsten%2C%20elasticiteit%20en%20surplus/edities/chat-2026/boek/Boek_2_Compleet_Antwoorden.pdf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berekening of verklaring wil je nog verbeteren?</a:t>
            </a:r>
          </a:p>
          <a:p xmlns:a="http://schemas.openxmlformats.org/drawingml/2006/main">
            <a:r>
              <a:rPr sz="1400"/>
              <a:t/>
            </a:r>
          </a:p>
          <a:p xmlns:a="http://schemas.openxmlformats.org/drawingml/2006/main">
            <a:r>
              <a:rPr sz="1400"/>
              <a:t>Uitleg: Laat dit overzicht staan tijdens zelfstandig werken. Start: opgave 1 op gedrukte pagina 29 (fysieke PDF-pagina 31). Er is geen afzonderlijke basis-/begeleide sectie. De route is 1–4 zelfstandig combineren, doel 5 SmoothBox (bronnen p. 32, vragen p. 33), 6 Bonus/Denkertje en 7 Herhaling (p. 34). Conform de gemengde-opgavenroute is huiswerk 1 tot en met 7 maken en nakijken, inclusief de herkenbare bonus- en herhalingslabels. Laat de docent ondersteuning geven waar nodig; er is geen nieuwe theorie. De hele route hoeft niet binnen één les af te zijn.</a:t>
            </a:r>
          </a:p>
          <a:p xmlns:a="http://schemas.openxmlformats.org/drawingml/2006/main">
            <a:r>
              <a:rPr sz="1400"/>
              <a:t/>
            </a:r>
          </a:p>
          <a:p xmlns:a="http://schemas.openxmlformats.org/drawingml/2006/main">
            <a:r>
              <a:rPr sz="1400"/>
              <a:t>Misvatting: De bron noemt geen aparte basisopgaven. Verzin daarvoor geen nieuwe indeling.</a:t>
            </a:r>
          </a:p>
          <a:p xmlns:a="http://schemas.openxmlformats.org/drawingml/2006/main">
            <a:r>
              <a:rPr sz="1400"/>
              <a:t/>
            </a:r>
          </a:p>
          <a:p xmlns:a="http://schemas.openxmlformats.org/drawingml/2006/main">
            <a:r>
              <a:rPr sz="1400"/>
              <a:t>Overgang: Ga naar de volgende lesfase als de klas eraan toe is.</a:t>
            </a:r>
          </a:p>
          <a:p xmlns:a="http://schemas.openxmlformats.org/drawingml/2006/main">
            <a:r>
              <a:rPr sz="1400"/>
              <a:t/>
            </a:r>
          </a:p>
          <a:p xmlns:a="http://schemas.openxmlformats.org/drawingml/2006/main">
            <a:r>
              <a:rPr sz="1400"/>
              <a:t>Bron: Leerlingenboek Boek 2, chatuitgave 2026, gedrukte pagina 29–34.</a:t>
            </a:r>
          </a:p>
          <a:p xmlns:a="http://schemas.openxmlformats.org/drawingml/2006/main">
            <a:r>
              <a:rPr sz="1400"/>
              <a:t>https://github.com/meijer1973/4veco-lessen/blob/08d7fd27830b5c42d1dbebc7fcb73b882b4d67a4/Boek%202%20-%20Kosten%2C%20opbrengsten%2C%20elasticiteit%20en%20surplus/edities/chat-2026/boek/Boek_2_Compleet.pdf</a:t>
            </a:r>
          </a:p>
          <a:p xmlns:a="http://schemas.openxmlformats.org/drawingml/2006/main">
            <a:r>
              <a:rPr sz="1400"/>
              <a:t>Antwoordmodel bij de echte boekopgaven: https://github.com/meijer1973/4veco-lessen/blob/08d7fd27830b5c42d1dbebc7fcb73b882b4d67a4/Boek%202%20-%20Kosten%2C%20opbrengsten%2C%20elasticiteit%20en%20surplus/edities/chat-2026/boek/Boek_2_Compleet_Antwoorden.pdf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dag hoort bij bron A?</a:t>
            </a:r>
          </a:p>
          <a:p xmlns:a="http://schemas.openxmlformats.org/drawingml/2006/main">
            <a:r>
              <a:rPr sz="1400"/>
              <a:t/>
            </a:r>
          </a:p>
          <a:p xmlns:a="http://schemas.openxmlformats.org/drawingml/2006/main">
            <a:r>
              <a:rPr sz="1400"/>
              <a:t>Uitleg: Begin de bespreking nadat leerlingen doelopgave 5 zelf hebben geprobeerd. Deze context en bron A komen uit de echte SmoothBox-opgave. Doel 5 is gekozen omdat het de hoofdstukbewerkingen combineert. Toon eerst alle bronnen en a–f, zonder oplossingen.</a:t>
            </a:r>
          </a:p>
          <a:p xmlns:a="http://schemas.openxmlformats.org/drawingml/2006/main">
            <a:r>
              <a:rPr sz="1400"/>
              <a:t/>
            </a:r>
          </a:p>
          <a:p xmlns:a="http://schemas.openxmlformats.org/drawingml/2006/main">
            <a:r>
              <a:rPr sz="1400"/>
              <a:t>Misvatting: Het bezoekcijfer is geen gegeven verkoophoeveelheid. Bewaar de uitwerking tot na alle vragen.</a:t>
            </a:r>
          </a:p>
          <a:p xmlns:a="http://schemas.openxmlformats.org/drawingml/2006/main">
            <a:r>
              <a:rPr sz="1400"/>
              <a:t/>
            </a:r>
          </a:p>
          <a:p xmlns:a="http://schemas.openxmlformats.org/drawingml/2006/main">
            <a:r>
              <a:rPr sz="1400"/>
              <a:t>Overgang: Toon ook het andere dagmenu en de tabel.</a:t>
            </a:r>
          </a:p>
          <a:p xmlns:a="http://schemas.openxmlformats.org/drawingml/2006/main">
            <a:r>
              <a:rPr sz="1400"/>
              <a:t/>
            </a:r>
          </a:p>
          <a:p xmlns:a="http://schemas.openxmlformats.org/drawingml/2006/main">
            <a:r>
              <a:rPr sz="1400"/>
              <a:t>Bron: Leerlingenboek Boek 2, chatuitgave 2026, gedrukte pagina 32.</a:t>
            </a:r>
          </a:p>
          <a:p xmlns:a="http://schemas.openxmlformats.org/drawingml/2006/main">
            <a:r>
              <a:rPr sz="1400"/>
              <a:t>https://github.com/meijer1973/4veco-lessen/blob/08d7fd27830b5c42d1dbebc7fcb73b882b4d67a4/Boek%202%20-%20Kosten%2C%20opbrengsten%2C%20elasticiteit%20en%20surplus/edities/chat-2026/boek/Boek_2_Compleet.pdf</a:t>
            </a:r>
          </a:p>
          <a:p xmlns:a="http://schemas.openxmlformats.org/drawingml/2006/main">
            <a:r>
              <a:rPr sz="1400"/>
              <a:t>Antwoordmodel bij de echte boekopgaven: https://github.com/meijer1973/4veco-lessen/blob/08d7fd27830b5c42d1dbebc7fcb73b882b4d67a4/Boek%202%20-%20Kosten%2C%20opbrengsten%2C%20elasticiteit%20en%20surplus/edities/chat-2026/boek/Boek_2_Compleet_Antwoorden.pdf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is de eenheid van 2.900 in de tabel?</a:t>
            </a:r>
          </a:p>
          <a:p xmlns:a="http://schemas.openxmlformats.org/drawingml/2006/main">
            <a:r>
              <a:rPr sz="1400"/>
              <a:t/>
            </a:r>
          </a:p>
          <a:p xmlns:a="http://schemas.openxmlformats.org/drawingml/2006/main">
            <a:r>
              <a:rPr sz="1400"/>
              <a:t>Uitleg: Bron B is een ander menu op zaterdag, bij dezelfde capaciteit en dezelfde totale constante kosten. Behoud alle vier rijen. De tabel geeft totale bedragen; de marginale bedragen moeten nog worden berekend.</a:t>
            </a:r>
          </a:p>
          <a:p xmlns:a="http://schemas.openxmlformats.org/drawingml/2006/main">
            <a:r>
              <a:rPr sz="1400"/>
              <a:t/>
            </a:r>
          </a:p>
          <a:p xmlns:a="http://schemas.openxmlformats.org/drawingml/2006/main">
            <a:r>
              <a:rPr sz="1400"/>
              <a:t>Misvatting: Gebruik niet de vrijdagkostenfunctie voor zaterdag. Er is geen nieuwe vaste kostensprong of uitbreiding van capaciteit.</a:t>
            </a:r>
          </a:p>
          <a:p xmlns:a="http://schemas.openxmlformats.org/drawingml/2006/main">
            <a:r>
              <a:rPr sz="1400"/>
              <a:t/>
            </a:r>
          </a:p>
          <a:p xmlns:a="http://schemas.openxmlformats.org/drawingml/2006/main">
            <a:r>
              <a:rPr sz="1400"/>
              <a:t>Overgang: Toon bron C en vervolgens alle deelvragen.</a:t>
            </a:r>
          </a:p>
          <a:p xmlns:a="http://schemas.openxmlformats.org/drawingml/2006/main">
            <a:r>
              <a:rPr sz="1400"/>
              <a:t/>
            </a:r>
          </a:p>
          <a:p xmlns:a="http://schemas.openxmlformats.org/drawingml/2006/main">
            <a:r>
              <a:rPr sz="1400"/>
              <a:t>Bron: Leerlingenboek Boek 2, chatuitgave 2026, gedrukte pagina 32.</a:t>
            </a:r>
          </a:p>
          <a:p xmlns:a="http://schemas.openxmlformats.org/drawingml/2006/main">
            <a:r>
              <a:rPr sz="1400"/>
              <a:t>https://github.com/meijer1973/4veco-lessen/blob/08d7fd27830b5c42d1dbebc7fcb73b882b4d67a4/Boek%202%20-%20Kosten%2C%20opbrengsten%2C%20elasticiteit%20en%20surplus/edities/chat-2026/boek/Boek_2_Compleet.pdf</a:t>
            </a:r>
          </a:p>
          <a:p xmlns:a="http://schemas.openxmlformats.org/drawingml/2006/main">
            <a:r>
              <a:rPr sz="1400"/>
              <a:t>Antwoordmodel bij de echte boekopgaven: https://github.com/meijer1973/4veco-lessen/blob/08d7fd27830b5c42d1dbebc7fcb73b882b4d67a4/Boek%202%20-%20Kosten%2C%20opbrengsten%2C%20elasticiteit%20en%20surplus/edities/chat-2026/boek/Boek_2_Compleet_Antwoorden.pdf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kostengegevens zijn voor zaterdag daadwerkelijk bekend?</a:t>
            </a:r>
          </a:p>
          <a:p xmlns:a="http://schemas.openxmlformats.org/drawingml/2006/main">
            <a:r>
              <a:rPr sz="1400"/>
              <a:t/>
            </a:r>
          </a:p>
          <a:p xmlns:a="http://schemas.openxmlformats.org/drawingml/2006/main">
            <a:r>
              <a:rPr sz="1400"/>
              <a:t>Uitleg: Dit is de basisgrafiek uit bron C, opnieuw opgebouwd met bewerkbare XY-reeksen. TO geldt voor beide dagen; TK vrijdag loopt van Q = 0 tot en met 1000; TK zaterdag bevat alleen de gegeven punten bij 700, 800, 900 en 1000. De as loopt voor de labels verder dan de capaciteit; de reeksen niet. De leerling moet break-even en de gevraagde markeringen zelf toevoegen. De grafiek bevat hier nog geen antwoordmarkeringen.</a:t>
            </a:r>
          </a:p>
          <a:p xmlns:a="http://schemas.openxmlformats.org/drawingml/2006/main">
            <a:r>
              <a:rPr sz="1400"/>
              <a:t/>
            </a:r>
          </a:p>
          <a:p xmlns:a="http://schemas.openxmlformats.org/drawingml/2006/main">
            <a:r>
              <a:rPr sz="1400"/>
              <a:t>Misvatting: Trek de zaterdagreeks niet door naar onbekende hoeveelheden.</a:t>
            </a:r>
          </a:p>
          <a:p xmlns:a="http://schemas.openxmlformats.org/drawingml/2006/main">
            <a:r>
              <a:rPr sz="1400"/>
              <a:t/>
            </a:r>
          </a:p>
          <a:p xmlns:a="http://schemas.openxmlformats.org/drawingml/2006/main">
            <a:r>
              <a:rPr sz="1400"/>
              <a:t>Overgang: Toon alle vragen voordat de antwoorden verschijnen.</a:t>
            </a:r>
          </a:p>
          <a:p xmlns:a="http://schemas.openxmlformats.org/drawingml/2006/main">
            <a:r>
              <a:rPr sz="1400"/>
              <a:t/>
            </a:r>
          </a:p>
          <a:p xmlns:a="http://schemas.openxmlformats.org/drawingml/2006/main">
            <a:r>
              <a:rPr sz="1400"/>
              <a:t>Bron: Leerlingenboek Boek 2, chatuitgave 2026, gedrukte pagina 32.</a:t>
            </a:r>
          </a:p>
          <a:p xmlns:a="http://schemas.openxmlformats.org/drawingml/2006/main">
            <a:r>
              <a:rPr sz="1400"/>
              <a:t>https://github.com/meijer1973/4veco-lessen/blob/08d7fd27830b5c42d1dbebc7fcb73b882b4d67a4/Boek%202%20-%20Kosten%2C%20opbrengsten%2C%20elasticiteit%20en%20surplus/edities/chat-2026/boek/Boek_2_Compleet.pdf</a:t>
            </a:r>
          </a:p>
          <a:p xmlns:a="http://schemas.openxmlformats.org/drawingml/2006/main">
            <a:r>
              <a:rPr sz="1400"/>
              <a:t>Antwoordmodel bij de echte boekopgaven: https://github.com/meijer1973/4veco-lessen/blob/08d7fd27830b5c42d1dbebc7fcb73b882b4d67a4/Boek%202%20-%20Kosten%2C%20opbrengsten%2C%20elasticiteit%20en%20surplus/edities/chat-2026/boek/Boek_2_Compleet_Antwoorden.pdf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bron hoort bij a tot en met c?</a:t>
            </a:r>
          </a:p>
          <a:p xmlns:a="http://schemas.openxmlformats.org/drawingml/2006/main">
            <a:r>
              <a:rPr sz="1400"/>
              <a:t/>
            </a:r>
          </a:p>
          <a:p xmlns:a="http://schemas.openxmlformats.org/drawingml/2006/main">
            <a:r>
              <a:rPr sz="1400"/>
              <a:t>Uitleg: Deze drie vragen gebruiken vrijdag. Alle onderdelen zijn letterlijk behouden. Wacht met het onthullen van oplossingen totdat ook d, e en f zijn getoond.</a:t>
            </a:r>
          </a:p>
          <a:p xmlns:a="http://schemas.openxmlformats.org/drawingml/2006/main">
            <a:r>
              <a:rPr sz="1400"/>
              <a:t/>
            </a:r>
          </a:p>
          <a:p xmlns:a="http://schemas.openxmlformats.org/drawingml/2006/main">
            <a:r>
              <a:rPr sz="1400"/>
              <a:t>Misvatting: Een juist getal zonder gevraagde verklaring of volledige eenheid is niet het volledige antwoord.</a:t>
            </a:r>
          </a:p>
          <a:p xmlns:a="http://schemas.openxmlformats.org/drawingml/2006/main">
            <a:r>
              <a:rPr sz="1400"/>
              <a:t/>
            </a:r>
          </a:p>
          <a:p xmlns:a="http://schemas.openxmlformats.org/drawingml/2006/main">
            <a:r>
              <a:rPr sz="1400"/>
              <a:t>Overgang: Toon vraag d voor de zaterdagstappen.</a:t>
            </a:r>
          </a:p>
          <a:p xmlns:a="http://schemas.openxmlformats.org/drawingml/2006/main">
            <a:r>
              <a:rPr sz="1400"/>
              <a:t/>
            </a:r>
          </a:p>
          <a:p xmlns:a="http://schemas.openxmlformats.org/drawingml/2006/main">
            <a:r>
              <a:rPr sz="1400"/>
              <a:t>Bron: Leerlingenboek Boek 2, chatuitgave 2026, gedrukte pagina 33.</a:t>
            </a:r>
          </a:p>
          <a:p xmlns:a="http://schemas.openxmlformats.org/drawingml/2006/main">
            <a:r>
              <a:rPr sz="1400"/>
              <a:t>https://github.com/meijer1973/4veco-lessen/blob/08d7fd27830b5c42d1dbebc7fcb73b882b4d67a4/Boek%202%20-%20Kosten%2C%20opbrengsten%2C%20elasticiteit%20en%20surplus/edities/chat-2026/boek/Boek_2_Compleet.pdf</a:t>
            </a:r>
          </a:p>
          <a:p xmlns:a="http://schemas.openxmlformats.org/drawingml/2006/main">
            <a:r>
              <a:rPr sz="1400"/>
              <a:t>Antwoordmodel bij de echte boekopgaven: https://github.com/meijer1973/4veco-lessen/blob/08d7fd27830b5c42d1dbebc7fcb73b882b4d67a4/Boek%202%20-%20Kosten%2C%20opbrengsten%2C%20elasticiteit%20en%20surplus/edities/chat-2026/boek/Boek_2_Compleet_Antwoorden.pdf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rijen gebruik je voor de eerste stap?</a:t>
            </a:r>
          </a:p>
          <a:p xmlns:a="http://schemas.openxmlformats.org/drawingml/2006/main">
            <a:r>
              <a:rPr sz="1400"/>
              <a:t/>
            </a:r>
          </a:p>
          <a:p xmlns:a="http://schemas.openxmlformats.org/drawingml/2006/main">
            <a:r>
              <a:rPr sz="1400"/>
              <a:t>Uitleg: Vraag d vraagt drie afzonderlijke MK- en drie MO-berekeningen. De lege tabel biedt schrijfruimte zonder oplossingen. Het bronblad blijft in het boek beschikbaar.</a:t>
            </a:r>
          </a:p>
          <a:p xmlns:a="http://schemas.openxmlformats.org/drawingml/2006/main">
            <a:r>
              <a:rPr sz="1400"/>
              <a:t/>
            </a:r>
          </a:p>
          <a:p xmlns:a="http://schemas.openxmlformats.org/drawingml/2006/main">
            <a:r>
              <a:rPr sz="1400"/>
              <a:t>Misvatting: De teller en noemer horen bij dezelfde stap; het totale kostenbedrag bij de eindhoeveelheid is niet de teller.</a:t>
            </a:r>
          </a:p>
          <a:p xmlns:a="http://schemas.openxmlformats.org/drawingml/2006/main">
            <a:r>
              <a:rPr sz="1400"/>
              <a:t/>
            </a:r>
          </a:p>
          <a:p xmlns:a="http://schemas.openxmlformats.org/drawingml/2006/main">
            <a:r>
              <a:rPr sz="1400"/>
              <a:t>Overgang: Toon de volledige grafiekvraag.</a:t>
            </a:r>
          </a:p>
          <a:p xmlns:a="http://schemas.openxmlformats.org/drawingml/2006/main">
            <a:r>
              <a:rPr sz="1400"/>
              <a:t/>
            </a:r>
          </a:p>
          <a:p xmlns:a="http://schemas.openxmlformats.org/drawingml/2006/main">
            <a:r>
              <a:rPr sz="1400"/>
              <a:t>Bron: Leerlingenboek Boek 2, chatuitgave 2026, gedrukte pagina 33.</a:t>
            </a:r>
          </a:p>
          <a:p xmlns:a="http://schemas.openxmlformats.org/drawingml/2006/main">
            <a:r>
              <a:rPr sz="1400"/>
              <a:t>https://github.com/meijer1973/4veco-lessen/blob/08d7fd27830b5c42d1dbebc7fcb73b882b4d67a4/Boek%202%20-%20Kosten%2C%20opbrengsten%2C%20elasticiteit%20en%20surplus/edities/chat-2026/boek/Boek_2_Compleet.pdf</a:t>
            </a:r>
          </a:p>
          <a:p xmlns:a="http://schemas.openxmlformats.org/drawingml/2006/main">
            <a:r>
              <a:rPr sz="1400"/>
              <a:t>Antwoordmodel bij de echte boekopgaven: https://github.com/meijer1973/4veco-lessen/blob/08d7fd27830b5c42d1dbebc7fcb73b882b4d67a4/Boek%202%20-%20Kosten%2C%20opbrengsten%2C%20elasticiteit%20en%20surplus/edities/chat-2026/boek/Boek_2_Compleet_Antwoorden.pdf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vraagt de vraag zowel een dag als hoeveelheden?</a:t>
            </a:r>
          </a:p>
          <a:p xmlns:a="http://schemas.openxmlformats.org/drawingml/2006/main">
            <a:r>
              <a:rPr sz="1400"/>
              <a:t/>
            </a:r>
          </a:p>
          <a:p xmlns:a="http://schemas.openxmlformats.org/drawingml/2006/main">
            <a:r>
              <a:rPr sz="1400"/>
              <a:t>Uitleg: Vraag e omvat drie onderdelen: snijpunt markeren, vrijdaghoeveelheden met positieve winst noemen, en de groei per extra lunchbox vergelijken met alle drie zaterdagstappen. Deze dia geeft nog geen oplossingen.</a:t>
            </a:r>
          </a:p>
          <a:p xmlns:a="http://schemas.openxmlformats.org/drawingml/2006/main">
            <a:r>
              <a:rPr sz="1400"/>
              <a:t/>
            </a:r>
          </a:p>
          <a:p xmlns:a="http://schemas.openxmlformats.org/drawingml/2006/main">
            <a:r>
              <a:rPr sz="1400"/>
              <a:t>Misvatting: Vergelijk niet alleen de totale winst bij één Q: gevraagd is de groei per extra lunchbox.</a:t>
            </a:r>
          </a:p>
          <a:p xmlns:a="http://schemas.openxmlformats.org/drawingml/2006/main">
            <a:r>
              <a:rPr sz="1400"/>
              <a:t/>
            </a:r>
          </a:p>
          <a:p xmlns:a="http://schemas.openxmlformats.org/drawingml/2006/main">
            <a:r>
              <a:rPr sz="1400"/>
              <a:t>Overgang: Toon de laatste vraag voordat de bespreking van antwoorden begint.</a:t>
            </a:r>
          </a:p>
          <a:p xmlns:a="http://schemas.openxmlformats.org/drawingml/2006/main">
            <a:r>
              <a:rPr sz="1400"/>
              <a:t/>
            </a:r>
          </a:p>
          <a:p xmlns:a="http://schemas.openxmlformats.org/drawingml/2006/main">
            <a:r>
              <a:rPr sz="1400"/>
              <a:t>Bron: Leerlingenboek Boek 2, chatuitgave 2026, gedrukte pagina 33.</a:t>
            </a:r>
          </a:p>
          <a:p xmlns:a="http://schemas.openxmlformats.org/drawingml/2006/main">
            <a:r>
              <a:rPr sz="1400"/>
              <a:t>https://github.com/meijer1973/4veco-lessen/blob/08d7fd27830b5c42d1dbebc7fcb73b882b4d67a4/Boek%202%20-%20Kosten%2C%20opbrengsten%2C%20elasticiteit%20en%20surplus/edities/chat-2026/boek/Boek_2_Compleet.pdf</a:t>
            </a:r>
          </a:p>
          <a:p xmlns:a="http://schemas.openxmlformats.org/drawingml/2006/main">
            <a:r>
              <a:rPr sz="1400"/>
              <a:t>Antwoordmodel bij de echte boekopgaven: https://github.com/meijer1973/4veco-lessen/blob/08d7fd27830b5c42d1dbebc7fcb73b882b4d67a4/Boek%202%20-%20Kosten%2C%20opbrengsten%2C%20elasticiteit%20en%20surplus/edities/chat-2026/boek/Boek_2_Compleet_Antwoorden.pdf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veranderingen bepalen de extra winst?</a:t>
            </a:r>
          </a:p>
          <a:p xmlns:a="http://schemas.openxmlformats.org/drawingml/2006/main">
            <a:r>
              <a:rPr sz="1400"/>
              <a:t/>
            </a:r>
          </a:p>
          <a:p xmlns:a="http://schemas.openxmlformats.org/drawingml/2006/main">
            <a:r>
              <a:rPr sz="1400"/>
              <a:t>Uitleg: Alle bronnen en alle zes vragen zijn nu getoond. De slotzin herinnert aan de afbakening uit het boek. Het is niet nodig de werkelijke verkoop of een winstmaximaliserende hoeveelheid te voorspellen. Start hierna pas de antwoordbespreking.</a:t>
            </a:r>
          </a:p>
          <a:p xmlns:a="http://schemas.openxmlformats.org/drawingml/2006/main">
            <a:r>
              <a:rPr sz="1400"/>
              <a:t/>
            </a:r>
          </a:p>
          <a:p xmlns:a="http://schemas.openxmlformats.org/drawingml/2006/main">
            <a:r>
              <a:rPr sz="1400"/>
              <a:t>Misvatting: Een vaste verkoopprijs zegt op zichzelf niets over de verandering in kosten.</a:t>
            </a:r>
          </a:p>
          <a:p xmlns:a="http://schemas.openxmlformats.org/drawingml/2006/main">
            <a:r>
              <a:rPr sz="1400"/>
              <a:t/>
            </a:r>
          </a:p>
          <a:p xmlns:a="http://schemas.openxmlformats.org/drawingml/2006/main">
            <a:r>
              <a:rPr sz="1400"/>
              <a:t>Overgang: Begin bij de bronselectie van a.</a:t>
            </a:r>
          </a:p>
          <a:p xmlns:a="http://schemas.openxmlformats.org/drawingml/2006/main">
            <a:r>
              <a:rPr sz="1400"/>
              <a:t/>
            </a:r>
          </a:p>
          <a:p xmlns:a="http://schemas.openxmlformats.org/drawingml/2006/main">
            <a:r>
              <a:rPr sz="1400"/>
              <a:t>Bron: Leerlingenboek Boek 2, chatuitgave 2026, gedrukte pagina 33.</a:t>
            </a:r>
          </a:p>
          <a:p xmlns:a="http://schemas.openxmlformats.org/drawingml/2006/main">
            <a:r>
              <a:rPr sz="1400"/>
              <a:t>https://github.com/meijer1973/4veco-lessen/blob/08d7fd27830b5c42d1dbebc7fcb73b882b4d67a4/Boek%202%20-%20Kosten%2C%20opbrengsten%2C%20elasticiteit%20en%20surplus/edities/chat-2026/boek/Boek_2_Compleet.pdf</a:t>
            </a:r>
          </a:p>
          <a:p xmlns:a="http://schemas.openxmlformats.org/drawingml/2006/main">
            <a:r>
              <a:rPr sz="1400"/>
              <a:t>Antwoordmodel bij de echte boekopgaven: https://github.com/meijer1973/4veco-lessen/blob/08d7fd27830b5c42d1dbebc7fcb73b882b4d67a4/Boek%202%20-%20Kosten%2C%20opbrengsten%2C%20elasticiteit%20en%20surplus/edities/chat-2026/boek/Boek_2_Compleet_Antwoorden.pdf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kan het bedrag per lunchbox vast zijn terwijl totale variabele kosten veranderen?</a:t>
            </a:r>
          </a:p>
          <a:p xmlns:a="http://schemas.openxmlformats.org/drawingml/2006/main">
            <a:r>
              <a:rPr sz="1400"/>
              <a:t/>
            </a:r>
          </a:p>
          <a:p xmlns:a="http://schemas.openxmlformats.org/drawingml/2006/main">
            <a:r>
              <a:rPr sz="1400"/>
              <a:t>Uitleg: Selecteer uit bron A TCK = 1200 euro per dag en variabele kosten 2 euro per lunchbox; de prijs 5 euro per lunchbox staat in de gezamenlijke context. TCK blijft 1200 als Q verandert. TVK = 2Q verandert wel. Het bezoekcijfer is niet nodig om TK en TO op te stellen, omdat het geen gegarandeerde afzet is.</a:t>
            </a:r>
          </a:p>
          <a:p xmlns:a="http://schemas.openxmlformats.org/drawingml/2006/main">
            <a:r>
              <a:rPr sz="1400"/>
              <a:t/>
            </a:r>
          </a:p>
          <a:p xmlns:a="http://schemas.openxmlformats.org/drawingml/2006/main">
            <a:r>
              <a:rPr sz="1400"/>
              <a:t>Misvatting: Verwar een vast bedrag per product niet met totale constante kosten.</a:t>
            </a:r>
          </a:p>
          <a:p xmlns:a="http://schemas.openxmlformats.org/drawingml/2006/main">
            <a:r>
              <a:rPr sz="1400"/>
              <a:t/>
            </a:r>
          </a:p>
          <a:p xmlns:a="http://schemas.openxmlformats.org/drawingml/2006/main">
            <a:r>
              <a:rPr sz="1400"/>
              <a:t>Overgang: Stel de functies op en vind de break-even-afzet.</a:t>
            </a:r>
          </a:p>
          <a:p xmlns:a="http://schemas.openxmlformats.org/drawingml/2006/main">
            <a:r>
              <a:rPr sz="1400"/>
              <a:t/>
            </a:r>
          </a:p>
          <a:p xmlns:a="http://schemas.openxmlformats.org/drawingml/2006/main">
            <a:r>
              <a:rPr sz="1400"/>
              <a:t>Bron: Leerlingenboek Boek 2, chatuitgave 2026, gedrukte pagina 32–33.</a:t>
            </a:r>
          </a:p>
          <a:p xmlns:a="http://schemas.openxmlformats.org/drawingml/2006/main">
            <a:r>
              <a:rPr sz="1400"/>
              <a:t>https://github.com/meijer1973/4veco-lessen/blob/08d7fd27830b5c42d1dbebc7fcb73b882b4d67a4/Boek%202%20-%20Kosten%2C%20opbrengsten%2C%20elasticiteit%20en%20surplus/edities/chat-2026/boek/Boek_2_Compleet.pdf</a:t>
            </a:r>
          </a:p>
          <a:p xmlns:a="http://schemas.openxmlformats.org/drawingml/2006/main">
            <a:r>
              <a:rPr sz="1400"/>
              <a:t>Antwoordmodel bij de echte boekopgaven: https://github.com/meijer1973/4veco-lessen/blob/08d7fd27830b5c42d1dbebc7fcb73b882b4d67a4/Boek%202%20-%20Kosten%2C%20opbrengsten%2C%20elasticiteit%20en%20surplus/edities/chat-2026/boek/Boek_2_Compleet_Antwoorden.pdf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tel je bij TK wel 1.200 op en bij TO niet?</a:t>
            </a:r>
          </a:p>
          <a:p xmlns:a="http://schemas.openxmlformats.org/drawingml/2006/main">
            <a:r>
              <a:rPr sz="1400"/>
              <a:t/>
            </a:r>
          </a:p>
          <a:p xmlns:a="http://schemas.openxmlformats.org/drawingml/2006/main">
            <a:r>
              <a:rPr sz="1400"/>
              <a:t>Uitleg: De functies gelden voor vrijdag tot en met 1000 lunchboxen per dag. Trek 2Q aan beide kanten af en deel door 3. De break-even-afzet is precies 400, een haalbaar geheel aantal onder de capaciteit. Bij 400 is TO gelijk aan TK: beide 2000 euro per dag. Break-even betekent nul winst, geen nulopbrengst.</a:t>
            </a:r>
          </a:p>
          <a:p xmlns:a="http://schemas.openxmlformats.org/drawingml/2006/main">
            <a:r>
              <a:rPr sz="1400"/>
              <a:t/>
            </a:r>
          </a:p>
          <a:p xmlns:a="http://schemas.openxmlformats.org/drawingml/2006/main">
            <a:r>
              <a:rPr sz="1400"/>
              <a:t>Misvatting: Gebruik niet 4.000 bezoekers als Q.</a:t>
            </a:r>
          </a:p>
          <a:p xmlns:a="http://schemas.openxmlformats.org/drawingml/2006/main">
            <a:r>
              <a:rPr sz="1400"/>
              <a:t/>
            </a:r>
          </a:p>
          <a:p xmlns:a="http://schemas.openxmlformats.org/drawingml/2006/main">
            <a:r>
              <a:rPr sz="1400"/>
              <a:t>Overgang: Bereken vervolgens het totale resultaat en de gemiddelde kosten bij 700.</a:t>
            </a:r>
          </a:p>
          <a:p xmlns:a="http://schemas.openxmlformats.org/drawingml/2006/main">
            <a:r>
              <a:rPr sz="1400"/>
              <a:t/>
            </a:r>
          </a:p>
          <a:p xmlns:a="http://schemas.openxmlformats.org/drawingml/2006/main">
            <a:r>
              <a:rPr sz="1400"/>
              <a:t>Bron: Leerlingenboek Boek 2, chatuitgave 2026, gedrukte pagina 32–33.</a:t>
            </a:r>
          </a:p>
          <a:p xmlns:a="http://schemas.openxmlformats.org/drawingml/2006/main">
            <a:r>
              <a:rPr sz="1400"/>
              <a:t>https://github.com/meijer1973/4veco-lessen/blob/08d7fd27830b5c42d1dbebc7fcb73b882b4d67a4/Boek%202%20-%20Kosten%2C%20opbrengsten%2C%20elasticiteit%20en%20surplus/edities/chat-2026/boek/Boek_2_Compleet.pdf</a:t>
            </a:r>
          </a:p>
          <a:p xmlns:a="http://schemas.openxmlformats.org/drawingml/2006/main">
            <a:r>
              <a:rPr sz="1400"/>
              <a:t>Antwoordmodel bij de echte boekopgaven: https://github.com/meijer1973/4veco-lessen/blob/08d7fd27830b5c42d1dbebc7fcb73b882b4d67a4/Boek%202%20-%20Kosten%2C%20opbrengsten%2C%20elasticiteit%20en%20surplus/edities/chat-2026/boek/Boek_2_Compleet_Antwoorden.pdf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uitkomst gaat over de hele dag en welke over één lunchbox?</a:t>
            </a:r>
          </a:p>
          <a:p xmlns:a="http://schemas.openxmlformats.org/drawingml/2006/main">
            <a:r>
              <a:rPr sz="1400"/>
              <a:t/>
            </a:r>
          </a:p>
          <a:p xmlns:a="http://schemas.openxmlformats.org/drawingml/2006/main">
            <a:r>
              <a:rPr sz="1400"/>
              <a:t>Uitleg: Alle berekeningen zijn voor vrijdag. Bereken eerst de totalen, dan winst en GTK. GTK is 26/7 euro per lunchbox; rond alleen het eindbedrag af op centen. Economische betekenis: na betaling van alle kosten blijft op deze dag 900 euro over; gemiddeld kost een lunchbox ongeveer 3,71 euro. Controle: (5 − 2600/700) × 700 = 900 exact.</a:t>
            </a:r>
          </a:p>
          <a:p xmlns:a="http://schemas.openxmlformats.org/drawingml/2006/main">
            <a:r>
              <a:rPr sz="1400"/>
              <a:t/>
            </a:r>
          </a:p>
          <a:p xmlns:a="http://schemas.openxmlformats.org/drawingml/2006/main">
            <a:r>
              <a:rPr sz="1400"/>
              <a:t>Misvatting: € 900 per lunchbox is een verkeerde eenheid; € 3,71 per dag eveneens.</a:t>
            </a:r>
          </a:p>
          <a:p xmlns:a="http://schemas.openxmlformats.org/drawingml/2006/main">
            <a:r>
              <a:rPr sz="1400"/>
              <a:t/>
            </a:r>
          </a:p>
          <a:p xmlns:a="http://schemas.openxmlformats.org/drawingml/2006/main">
            <a:r>
              <a:rPr sz="1400"/>
              <a:t>Overgang: Wissel voor d bewust naar zaterdag en bron B.</a:t>
            </a:r>
          </a:p>
          <a:p xmlns:a="http://schemas.openxmlformats.org/drawingml/2006/main">
            <a:r>
              <a:rPr sz="1400"/>
              <a:t/>
            </a:r>
          </a:p>
          <a:p xmlns:a="http://schemas.openxmlformats.org/drawingml/2006/main">
            <a:r>
              <a:rPr sz="1400"/>
              <a:t>Bron: Leerlingenboek Boek 2, chatuitgave 2026, gedrukte pagina 32–33.</a:t>
            </a:r>
          </a:p>
          <a:p xmlns:a="http://schemas.openxmlformats.org/drawingml/2006/main">
            <a:r>
              <a:rPr sz="1400"/>
              <a:t>https://github.com/meijer1973/4veco-lessen/blob/08d7fd27830b5c42d1dbebc7fcb73b882b4d67a4/Boek%202%20-%20Kosten%2C%20opbrengsten%2C%20elasticiteit%20en%20surplus/edities/chat-2026/boek/Boek_2_Compleet.pdf</a:t>
            </a:r>
          </a:p>
          <a:p xmlns:a="http://schemas.openxmlformats.org/drawingml/2006/main">
            <a:r>
              <a:rPr sz="1400"/>
              <a:t>Antwoordmodel bij de echte boekopgaven: https://github.com/meijer1973/4veco-lessen/blob/08d7fd27830b5c42d1dbebc7fcb73b882b4d67a4/Boek%202%20-%20Kosten%2C%20opbrengsten%2C%20elasticiteit%20en%20surplus/edities/chat-2026/boek/Boek_2_Compleet_Antwoorden.pdf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de eerste MK € 3 en niet € 300?</a:t>
            </a:r>
          </a:p>
          <a:p xmlns:a="http://schemas.openxmlformats.org/drawingml/2006/main">
            <a:r>
              <a:rPr sz="1400"/>
              <a:t/>
            </a:r>
          </a:p>
          <a:p xmlns:a="http://schemas.openxmlformats.org/drawingml/2006/main">
            <a:r>
              <a:rPr sz="1400"/>
              <a:t>Uitleg: Gebruik uitsluitend bron B voor zaterdag. Laat bij elke MK zowel teller als noemer zien. ΔQ is telkens 100 lunchboxen. Extra kosten zijn 300, 350 en 400 euro per dag; extra opbrengst is telkens 500 euro per dag. Delen door 100 geeft de marginale bedragen uit de tabel. TCK blijft 1200: de grotere kostenstappen komen van het andere menu en meer betaald werk per extra lunchbox.</a:t>
            </a:r>
          </a:p>
          <a:p xmlns:a="http://schemas.openxmlformats.org/drawingml/2006/main">
            <a:r>
              <a:rPr sz="1400"/>
              <a:t/>
            </a:r>
          </a:p>
          <a:p xmlns:a="http://schemas.openxmlformats.org/drawingml/2006/main">
            <a:r>
              <a:rPr sz="1400"/>
              <a:t>Misvatting: € 2 per lunchbox uit bron A hoort bij vrijdag. Dat bedrag vervangt de zaterdagtabel niet.</a:t>
            </a:r>
          </a:p>
          <a:p xmlns:a="http://schemas.openxmlformats.org/drawingml/2006/main">
            <a:r>
              <a:rPr sz="1400"/>
              <a:t/>
            </a:r>
          </a:p>
          <a:p xmlns:a="http://schemas.openxmlformats.org/drawingml/2006/main">
            <a:r>
              <a:rPr sz="1400"/>
              <a:t>Overgang: Gebruik het snijpunt en de marginale verschillen voor de grafiekvraag.</a:t>
            </a:r>
          </a:p>
          <a:p xmlns:a="http://schemas.openxmlformats.org/drawingml/2006/main">
            <a:r>
              <a:rPr sz="1400"/>
              <a:t/>
            </a:r>
          </a:p>
          <a:p xmlns:a="http://schemas.openxmlformats.org/drawingml/2006/main">
            <a:r>
              <a:rPr sz="1400"/>
              <a:t>Bron: Leerlingenboek Boek 2, chatuitgave 2026, gedrukte pagina 32–33.</a:t>
            </a:r>
          </a:p>
          <a:p xmlns:a="http://schemas.openxmlformats.org/drawingml/2006/main">
            <a:r>
              <a:rPr sz="1400"/>
              <a:t>https://github.com/meijer1973/4veco-lessen/blob/08d7fd27830b5c42d1dbebc7fcb73b882b4d67a4/Boek%202%20-%20Kosten%2C%20opbrengsten%2C%20elasticiteit%20en%20surplus/edities/chat-2026/boek/Boek_2_Compleet.pdf</a:t>
            </a:r>
          </a:p>
          <a:p xmlns:a="http://schemas.openxmlformats.org/drawingml/2006/main">
            <a:r>
              <a:rPr sz="1400"/>
              <a:t>Antwoordmodel bij de echte boekopgaven: https://github.com/meijer1973/4veco-lessen/blob/08d7fd27830b5c42d1dbebc7fcb73b882b4d67a4/Boek%202%20-%20Kosten%2C%20opbrengsten%2C%20elasticiteit%20en%20surplus/edities/chat-2026/boek/Boek_2_Compleet_Antwoorden.pdf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hoort Q = 400 niet bij positieve winst?</a:t>
            </a:r>
          </a:p>
          <a:p xmlns:a="http://schemas.openxmlformats.org/drawingml/2006/main">
            <a:r>
              <a:rPr sz="1400"/>
              <a:t/>
            </a:r>
          </a:p>
          <a:p xmlns:a="http://schemas.openxmlformats.org/drawingml/2006/main">
            <a:r>
              <a:rPr sz="1400"/>
              <a:t>Uitleg: Het break-evenpunt ligt precies bij Q 400 en 2000 euro per dag. Rechts van 400 ligt TO boven TK vrijdag, tot en met de capaciteit van 1000. Bij hele lunchboxen: 401 tot en met 1000. De positieve verticale afstand bij Q700 is 3500 − 2600 = 900 euro per dag. De volledige TO- en vrijdagkostenlijn zijn getekend; zaterdag blijft beperkt tot de vier gegeven punten. De volgende dia vergelijkt de groei per extra lunchbox.</a:t>
            </a:r>
          </a:p>
          <a:p xmlns:a="http://schemas.openxmlformats.org/drawingml/2006/main">
            <a:r>
              <a:rPr sz="1400"/>
              <a:t/>
            </a:r>
          </a:p>
          <a:p xmlns:a="http://schemas.openxmlformats.org/drawingml/2006/main">
            <a:r>
              <a:rPr sz="1400"/>
              <a:t>Misvatting: Een positieve winstafstand is een verticaal verschil in totale eurobedragen, geen oppervlakte.</a:t>
            </a:r>
          </a:p>
          <a:p xmlns:a="http://schemas.openxmlformats.org/drawingml/2006/main">
            <a:r>
              <a:rPr sz="1400"/>
              <a:t/>
            </a:r>
          </a:p>
          <a:p xmlns:a="http://schemas.openxmlformats.org/drawingml/2006/main">
            <a:r>
              <a:rPr sz="1400"/>
              <a:t>Overgang: Vergelijk MO − MK voor vrijdag met elk van de drie zaterdagstappen.</a:t>
            </a:r>
          </a:p>
          <a:p xmlns:a="http://schemas.openxmlformats.org/drawingml/2006/main">
            <a:r>
              <a:rPr sz="1400"/>
              <a:t/>
            </a:r>
          </a:p>
          <a:p xmlns:a="http://schemas.openxmlformats.org/drawingml/2006/main">
            <a:r>
              <a:rPr sz="1400"/>
              <a:t>Bron: Leerlingenboek Boek 2, chatuitgave 2026, gedrukte pagina 32–33.</a:t>
            </a:r>
          </a:p>
          <a:p xmlns:a="http://schemas.openxmlformats.org/drawingml/2006/main">
            <a:r>
              <a:rPr sz="1400"/>
              <a:t>https://github.com/meijer1973/4veco-lessen/blob/08d7fd27830b5c42d1dbebc7fcb73b882b4d67a4/Boek%202%20-%20Kosten%2C%20opbrengsten%2C%20elasticiteit%20en%20surplus/edities/chat-2026/boek/Boek_2_Compleet.pdf</a:t>
            </a:r>
          </a:p>
          <a:p xmlns:a="http://schemas.openxmlformats.org/drawingml/2006/main">
            <a:r>
              <a:rPr sz="1400"/>
              <a:t>Antwoordmodel bij de echte boekopgaven: https://github.com/meijer1973/4veco-lessen/blob/08d7fd27830b5c42d1dbebc7fcb73b882b4d67a4/Boek%202%20-%20Kosten%2C%20opbrengsten%2C%20elasticiteit%20en%20surplus/edities/chat-2026/boek/Boek_2_Compleet_Antwoorden.pdf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betekent de grootste totale winst niet automatisch de grootste winstgroei per extra lunchbox?</a:t>
            </a:r>
          </a:p>
          <a:p xmlns:a="http://schemas.openxmlformats.org/drawingml/2006/main">
            <a:r>
              <a:rPr sz="1400"/>
              <a:t/>
            </a:r>
          </a:p>
          <a:p xmlns:a="http://schemas.openxmlformats.org/drawingml/2006/main">
            <a:r>
              <a:rPr sz="1400"/>
              <a:t>Uitleg: Vrijdag is MO − MK = 5 − 2 = 3 euro per extra lunchbox. Zaterdag is dit achtereenvolgens 2, 1,50 en 1. De vrijdagwinstafstand is positief bij meer dan 400 tot en met 1000 lunchboxen per dag en groeit daar sneller dan in alle drie gegeven zaterdagstappen. De vrijdagwaarde 3 geldt ook elders binnen het model, maar de vraag gaat over positieve winstafstand. Voor zaterdag zijn de stapuitkomsten gemiddelden over de gegeven stappen; onbekende hoeveelheden of andere menu’s vallen buiten deze vergelijking.</a:t>
            </a:r>
          </a:p>
          <a:p xmlns:a="http://schemas.openxmlformats.org/drawingml/2006/main">
            <a:r>
              <a:rPr sz="1400"/>
              <a:t/>
            </a:r>
          </a:p>
          <a:p xmlns:a="http://schemas.openxmlformats.org/drawingml/2006/main">
            <a:r>
              <a:rPr sz="1400"/>
              <a:t>Misvatting: Geen extrapolatie van zaterdag buiten 700–1000 en geen conclusie over een wereldwijd winstmaximum.</a:t>
            </a:r>
          </a:p>
          <a:p xmlns:a="http://schemas.openxmlformats.org/drawingml/2006/main">
            <a:r>
              <a:rPr sz="1400"/>
              <a:t/>
            </a:r>
          </a:p>
          <a:p xmlns:a="http://schemas.openxmlformats.org/drawingml/2006/main">
            <a:r>
              <a:rPr sz="1400"/>
              <a:t>Overgang: Vertaal de bedragen per extra box naar de hele groepen van honderd.</a:t>
            </a:r>
          </a:p>
          <a:p xmlns:a="http://schemas.openxmlformats.org/drawingml/2006/main">
            <a:r>
              <a:rPr sz="1400"/>
              <a:t/>
            </a:r>
          </a:p>
          <a:p xmlns:a="http://schemas.openxmlformats.org/drawingml/2006/main">
            <a:r>
              <a:rPr sz="1400"/>
              <a:t>Bron: Leerlingenboek Boek 2, chatuitgave 2026, gedrukte pagina 32–33.</a:t>
            </a:r>
          </a:p>
          <a:p xmlns:a="http://schemas.openxmlformats.org/drawingml/2006/main">
            <a:r>
              <a:rPr sz="1400"/>
              <a:t>https://github.com/meijer1973/4veco-lessen/blob/08d7fd27830b5c42d1dbebc7fcb73b882b4d67a4/Boek%202%20-%20Kosten%2C%20opbrengsten%2C%20elasticiteit%20en%20surplus/edities/chat-2026/boek/Boek_2_Compleet.pdf</a:t>
            </a:r>
          </a:p>
          <a:p xmlns:a="http://schemas.openxmlformats.org/drawingml/2006/main">
            <a:r>
              <a:rPr sz="1400"/>
              <a:t>Antwoordmodel bij de echte boekopgaven: https://github.com/meijer1973/4veco-lessen/blob/08d7fd27830b5c42d1dbebc7fcb73b882b4d67a4/Boek%202%20-%20Kosten%2C%20opbrengsten%2C%20elasticiteit%20en%20surplus/edities/chat-2026/boek/Boek_2_Compleet_Antwoorden.pdf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deel van de uitspraak is wel waar, en welk deel niet?</a:t>
            </a:r>
          </a:p>
          <a:p xmlns:a="http://schemas.openxmlformats.org/drawingml/2006/main">
            <a:r>
              <a:rPr sz="1400"/>
              <a:t/>
            </a:r>
          </a:p>
          <a:p xmlns:a="http://schemas.openxmlformats.org/drawingml/2006/main">
            <a:r>
              <a:rPr sz="1400"/>
              <a:t>Uitleg: Elke extra groep bestaat uit 100 lunchboxen. Extra winst is 500 − 300 = 200, daarna 500 − 350 = 150 en vervolgens 500 − 400 = 100 euro per dag. Controle met totale zaterdagwinsten: bij Q700 900, Q800 1100, Q900 1250, Q1000 1350 euro per dag. De verschillen zijn 200, 150 en 100. Een vaste prijs maakt de extra omzet bij even grote groepen gelijk. Doordat MK stijgt, daalt de extra winst per groep. Laat leerlingen een ontbrekende eenheid, teller/noemer of onderbouwing in hun eigen antwoord verbeteren.</a:t>
            </a:r>
          </a:p>
          <a:p xmlns:a="http://schemas.openxmlformats.org/drawingml/2006/main">
            <a:r>
              <a:rPr sz="1400"/>
              <a:t/>
            </a:r>
          </a:p>
          <a:p xmlns:a="http://schemas.openxmlformats.org/drawingml/2006/main">
            <a:r>
              <a:rPr sz="1400"/>
              <a:t>Misvatting: Gelijke extra omzet is niet hetzelfde als gelijke extra winst.</a:t>
            </a:r>
          </a:p>
          <a:p xmlns:a="http://schemas.openxmlformats.org/drawingml/2006/main">
            <a:r>
              <a:rPr sz="1400"/>
              <a:t/>
            </a:r>
          </a:p>
          <a:p xmlns:a="http://schemas.openxmlformats.org/drawingml/2006/main">
            <a:r>
              <a:rPr sz="1400"/>
              <a:t>Overgang: Laat het laatste overzicht staan voor de huiswerkafsluiting.</a:t>
            </a:r>
          </a:p>
          <a:p xmlns:a="http://schemas.openxmlformats.org/drawingml/2006/main">
            <a:r>
              <a:rPr sz="1400"/>
              <a:t/>
            </a:r>
          </a:p>
          <a:p xmlns:a="http://schemas.openxmlformats.org/drawingml/2006/main">
            <a:r>
              <a:rPr sz="1400"/>
              <a:t>Bron: Leerlingenboek Boek 2, chatuitgave 2026, gedrukte pagina 32–33.</a:t>
            </a:r>
          </a:p>
          <a:p xmlns:a="http://schemas.openxmlformats.org/drawingml/2006/main">
            <a:r>
              <a:rPr sz="1400"/>
              <a:t>https://github.com/meijer1973/4veco-lessen/blob/08d7fd27830b5c42d1dbebc7fcb73b882b4d67a4/Boek%202%20-%20Kosten%2C%20opbrengsten%2C%20elasticiteit%20en%20surplus/edities/chat-2026/boek/Boek_2_Compleet.pdf</a:t>
            </a:r>
          </a:p>
          <a:p xmlns:a="http://schemas.openxmlformats.org/drawingml/2006/main">
            <a:r>
              <a:rPr sz="1400"/>
              <a:t>Antwoordmodel bij de echte boekopgaven: https://github.com/meijer1973/4veco-lessen/blob/08d7fd27830b5c42d1dbebc7fcb73b882b4d67a4/Boek%202%20-%20Kosten%2C%20opbrengsten%2C%20elasticiteit%20en%20surplus/edities/chat-2026/boek/Boek_2_Compleet_Antwoorden.pdf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berekening of verklaring wil je nog verbeteren?</a:t>
            </a:r>
          </a:p>
          <a:p xmlns:a="http://schemas.openxmlformats.org/drawingml/2006/main">
            <a:r>
              <a:rPr sz="1400"/>
              <a:t/>
            </a:r>
          </a:p>
          <a:p xmlns:a="http://schemas.openxmlformats.org/drawingml/2006/main">
            <a:r>
              <a:rPr sz="1400"/>
              <a:t>Uitleg: Laat dit overzicht staan tijdens afsluiting / huiswerk. Start: opgave 1 op gedrukte pagina 29 (fysieke PDF-pagina 31). Er is geen afzonderlijke basis-/begeleide sectie. De route is 1–4 zelfstandig combineren, doel 5 SmoothBox (bronnen p. 32, vragen p. 33), 6 Bonus/Denkertje en 7 Herhaling (p. 34). Conform de gemengde-opgavenroute is huiswerk 1 tot en met 7 maken en nakijken, inclusief de herkenbare bonus- en herhalingslabels. Laat de docent ondersteuning geven waar nodig; er is geen nieuwe theorie. De hele route hoeft niet binnen één les af te zijn.</a:t>
            </a:r>
          </a:p>
          <a:p xmlns:a="http://schemas.openxmlformats.org/drawingml/2006/main">
            <a:r>
              <a:rPr sz="1400"/>
              <a:t/>
            </a:r>
          </a:p>
          <a:p xmlns:a="http://schemas.openxmlformats.org/drawingml/2006/main">
            <a:r>
              <a:rPr sz="1400"/>
              <a:t>Misvatting: De bron noemt geen aparte basisopgaven. Verzin daarvoor geen nieuwe indeling.</a:t>
            </a:r>
          </a:p>
          <a:p xmlns:a="http://schemas.openxmlformats.org/drawingml/2006/main">
            <a:r>
              <a:rPr sz="1400"/>
              <a:t/>
            </a:r>
          </a:p>
          <a:p xmlns:a="http://schemas.openxmlformats.org/drawingml/2006/main">
            <a:r>
              <a:rPr sz="1400"/>
              <a:t>Overgang: Laat de klas het huiswerk in de agenda noteren.</a:t>
            </a:r>
          </a:p>
          <a:p xmlns:a="http://schemas.openxmlformats.org/drawingml/2006/main">
            <a:r>
              <a:rPr sz="1400"/>
              <a:t/>
            </a:r>
          </a:p>
          <a:p xmlns:a="http://schemas.openxmlformats.org/drawingml/2006/main">
            <a:r>
              <a:rPr sz="1400"/>
              <a:t>Bron: Leerlingenboek Boek 2, chatuitgave 2026, gedrukte pagina 29–34.</a:t>
            </a:r>
          </a:p>
          <a:p xmlns:a="http://schemas.openxmlformats.org/drawingml/2006/main">
            <a:r>
              <a:rPr sz="1400"/>
              <a:t>https://github.com/meijer1973/4veco-lessen/blob/08d7fd27830b5c42d1dbebc7fcb73b882b4d67a4/Boek%202%20-%20Kosten%2C%20opbrengsten%2C%20elasticiteit%20en%20surplus/edities/chat-2026/boek/Boek_2_Compleet.pdf</a:t>
            </a:r>
          </a:p>
          <a:p xmlns:a="http://schemas.openxmlformats.org/drawingml/2006/main">
            <a:r>
              <a:rPr sz="1400"/>
              <a:t>Antwoordmodel bij de echte boekopgaven: https://github.com/meijer1973/4veco-lessen/blob/08d7fd27830b5c42d1dbebc7fcb73b882b4d67a4/Boek%202%20-%20Kosten%2C%20opbrengsten%2C%20elasticiteit%20en%20surplus/edities/chat-2026/boek/Boek_2_Compleet_Antwoorden.pdf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23d99ee97be4ad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47d4ac6a8db45df" /><Relationship Type="http://schemas.openxmlformats.org/officeDocument/2006/relationships/slideLayout" Target="/ppt/slideLayouts/slideLayout1.xml" Id="Redc5226f391d496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dc5226f391d496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cea6062ea07425a" /><Relationship Type="http://schemas.openxmlformats.org/officeDocument/2006/relationships/notesSlide" Target="/ppt/notesSlides/notesSlide1.xml" Id="Rb7164614411f44c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ba936a8fc844878" /><Relationship Type="http://schemas.openxmlformats.org/officeDocument/2006/relationships/notesSlide" Target="/ppt/notesSlides/notesSlide2.xml" Id="R4bb737866687413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fa12eec56e4404e" /><Relationship Type="http://schemas.openxmlformats.org/officeDocument/2006/relationships/notesSlide" Target="/ppt/notesSlides/notesSlide3.xml" Id="Ra67b918dacc34e0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f733d85c1b54a29" /><Relationship Type="http://schemas.openxmlformats.org/officeDocument/2006/relationships/notesSlide" Target="/ppt/notesSlides/notesSlide4.xml" Id="Rf82d6083d79d466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bf4e5499b2e4249" /><Relationship Type="http://schemas.openxmlformats.org/officeDocument/2006/relationships/chart" Target="/ppt/slides/charts/chart1.xml" Id="Rde91803e0b054919" /><Relationship Type="http://schemas.openxmlformats.org/officeDocument/2006/relationships/notesSlide" Target="/ppt/notesSlides/notesSlide5.xml" Id="R52f358ed486d4f9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d77b932336c497e" /><Relationship Type="http://schemas.openxmlformats.org/officeDocument/2006/relationships/notesSlide" Target="/ppt/notesSlides/notesSlide6.xml" Id="R06c15c4fa281471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2ce15926dd648eb" /><Relationship Type="http://schemas.openxmlformats.org/officeDocument/2006/relationships/notesSlide" Target="/ppt/notesSlides/notesSlide7.xml" Id="Ra8acb95fa1fb4fc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ae749773152414f" /><Relationship Type="http://schemas.openxmlformats.org/officeDocument/2006/relationships/notesSlide" Target="/ppt/notesSlides/notesSlide8.xml" Id="R96b198686c1c4ae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846219cad304d7c" /><Relationship Type="http://schemas.openxmlformats.org/officeDocument/2006/relationships/chart" Target="/ppt/slides/charts/chart2.xml" Id="R00896a55945b4c44" /><Relationship Type="http://schemas.openxmlformats.org/officeDocument/2006/relationships/notesSlide" Target="/ppt/notesSlides/notesSlide9.xml" Id="Re4a6c7c129ca452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7de337f35ab4c3a" /><Relationship Type="http://schemas.openxmlformats.org/officeDocument/2006/relationships/notesSlide" Target="/ppt/notesSlides/notesSlide10.xml" Id="R1c5297c36a3b45d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d8eab9f3c9348e8" /><Relationship Type="http://schemas.openxmlformats.org/officeDocument/2006/relationships/notesSlide" Target="/ppt/notesSlides/notesSlide11.xml" Id="Ra3743b4d89c44cb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33bdaa8e9d24b85" /><Relationship Type="http://schemas.openxmlformats.org/officeDocument/2006/relationships/notesSlide" Target="/ppt/notesSlides/notesSlide12.xml" Id="Re734a555c28d42b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4dabb839584433e" /><Relationship Type="http://schemas.openxmlformats.org/officeDocument/2006/relationships/notesSlide" Target="/ppt/notesSlides/notesSlide13.xml" Id="Ra5fa2f71e5d143d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323a2a4ebdd4f43" /><Relationship Type="http://schemas.openxmlformats.org/officeDocument/2006/relationships/notesSlide" Target="/ppt/notesSlides/notesSlide14.xml" Id="R011c5d34d68f420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d23a9c3208d4a64" /><Relationship Type="http://schemas.openxmlformats.org/officeDocument/2006/relationships/notesSlide" Target="/ppt/notesSlides/notesSlide15.xml" Id="R30d6487a7eae45d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21ada7de5244662" /><Relationship Type="http://schemas.openxmlformats.org/officeDocument/2006/relationships/notesSlide" Target="/ppt/notesSlides/notesSlide16.xml" Id="Ra068c075aded43e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54eae5437ca45e7" /><Relationship Type="http://schemas.openxmlformats.org/officeDocument/2006/relationships/notesSlide" Target="/ppt/notesSlides/notesSlide17.xml" Id="Rfb470df30dd842a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f7b643941d24cfd" /><Relationship Type="http://schemas.openxmlformats.org/officeDocument/2006/relationships/chart" Target="/ppt/slides/charts/chart3.xml" Id="R5112d703c33a48b0" /><Relationship Type="http://schemas.openxmlformats.org/officeDocument/2006/relationships/notesSlide" Target="/ppt/notesSlides/notesSlide18.xml" Id="R1cf726fcbbb9483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fa9f85017104f77" /><Relationship Type="http://schemas.openxmlformats.org/officeDocument/2006/relationships/notesSlide" Target="/ppt/notesSlides/notesSlide19.xml" Id="Rb5893702760a405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4a4a36d96c14535" /><Relationship Type="http://schemas.openxmlformats.org/officeDocument/2006/relationships/notesSlide" Target="/ppt/notesSlides/notesSlide20.xml" Id="R60719de90ad64b0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07fb70040854635" /><Relationship Type="http://schemas.openxmlformats.org/officeDocument/2006/relationships/notesSlide" Target="/ppt/notesSlides/notesSlide21.xml" Id="Rc226e3abee5e4e5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ser>
          <c:idx val="0"/>
          <c:order val="0"/>
          <c:tx>
            <c:v>TO</c:v>
          </c:tx>
          <c:spPr>
            <a:ln xmlns:a="http://schemas.openxmlformats.org/drawingml/2006/main" w="38100">
              <a:solidFill>
                <a:srgbClr val="17658A"/>
              </a:solidFill>
              <a:prstDash val="solid"/>
            </a:ln>
          </c:spPr>
          <c:marker>
            <c:symbol val="none"/>
            <c:size val="9"/>
            <c:spPr>
              <a:solidFill xmlns:a="http://schemas.openxmlformats.org/drawingml/2006/main">
                <a:srgbClr val="17658A"/>
              </a:solidFill>
            </c:spPr>
          </c:marker>
          <c:dLbls>
            <c:dLbl>
              <c:idx val="0"/>
              <c:delete val="1"/>
            </c:dLbl>
            <c:dLbl>
              <c:idx val="1"/>
              <c:dLblPos val="r"/>
              <c:showLegendKey val="0"/>
              <c:showVal val="0"/>
              <c:showCatName val="0"/>
              <c:showSerName val="1"/>
            </c:dLbl>
            <c:txPr>
              <ns0:bodyPr xmlns:ns0="http://schemas.openxmlformats.org/drawingml/2006/main"/>
              <ns1:lstStyle xmlns:ns1="http://schemas.openxmlformats.org/drawingml/2006/main"/>
              <ns2:p xmlns:ns2="http://schemas.openxmlformats.org/drawingml/2006/main">
                <ns2:pPr>
                  <ns2:defRPr sz="2100" b="1">
                    <ns2:solidFill>
                      <ns2:srgbClr val="17658A"/>
                    </ns2:solidFill>
                    <ns2:latin typeface="Arial"/>
                  </ns2:defRPr>
                </ns2:pPr>
                <ns2:endParaRPr lang="nl-NL"/>
              </ns2:p>
            </c:txPr>
            <c:showLegendKey val="0"/>
            <c:showVal val="0"/>
            <c:showCatName val="0"/>
            <c:showSerName val="0"/>
            <c:showPercent val="0"/>
            <c:showBubbleSize val="0"/>
            <c:showLeaderLines val="0"/>
          </c:dLbls>
          <c:xVal>
            <c:numRef>
              <c:f>'Chart Data'!$A$2:$A$3</c:f>
              <c:numCache>
                <c:formatCode>General</c:formatCode>
                <c:ptCount val="2"/>
                <c:pt idx="0">
                  <c:v>0</c:v>
                </c:pt>
                <c:pt idx="1">
                  <c:v>120</c:v>
                </c:pt>
              </c:numCache>
            </c:numRef>
          </c:xVal>
          <c:yVal>
            <c:numRef>
              <c:f>'Chart Data'!$B$2:$B$3</c:f>
              <c:numCache>
                <c:formatCode>#,##0</c:formatCode>
                <c:ptCount val="2"/>
                <c:pt idx="0">
                  <c:v>0</c:v>
                </c:pt>
                <c:pt idx="1">
                  <c:v>432</c:v>
                </c:pt>
              </c:numCache>
            </c:numRef>
          </c:yVal>
        </c:ser>
        <c:ser>
          <c:idx val="1"/>
          <c:order val="1"/>
          <c:tx>
            <c:v>TK</c:v>
          </c:tx>
          <c:spPr>
            <a:ln xmlns:a="http://schemas.openxmlformats.org/drawingml/2006/main" w="38100">
              <a:solidFill>
                <a:srgbClr val="A94D16"/>
              </a:solidFill>
              <a:prstDash val="dash"/>
            </a:ln>
          </c:spPr>
          <c:marker>
            <c:symbol val="none"/>
            <c:size val="9"/>
            <c:spPr>
              <a:solidFill xmlns:a="http://schemas.openxmlformats.org/drawingml/2006/main">
                <a:srgbClr val="A94D16"/>
              </a:solidFill>
            </c:spPr>
          </c:marker>
          <c:dLbls>
            <c:dLbl>
              <c:idx val="0"/>
              <c:delete val="1"/>
            </c:dLbl>
            <c:dLbl>
              <c:idx val="1"/>
              <c:dLblPos val="r"/>
              <c:showLegendKey val="0"/>
              <c:showVal val="0"/>
              <c:showCatName val="0"/>
              <c:showSerName val="1"/>
            </c:dLbl>
            <c:txPr>
              <ns3:bodyPr xmlns:ns3="http://schemas.openxmlformats.org/drawingml/2006/main"/>
              <ns4:lstStyle xmlns:ns4="http://schemas.openxmlformats.org/drawingml/2006/main"/>
              <ns5:p xmlns:ns5="http://schemas.openxmlformats.org/drawingml/2006/main">
                <ns5:pPr>
                  <ns5:defRPr sz="2100" b="1">
                    <ns5:solidFill>
                      <ns5:srgbClr val="A94D16"/>
                    </ns5:solidFill>
                    <ns5:latin typeface="Arial"/>
                  </ns5:defRPr>
                </ns5:pPr>
                <ns5:endParaRPr lang="nl-NL"/>
              </ns5:p>
            </c:txPr>
            <c:showLegendKey val="0"/>
            <c:showVal val="0"/>
            <c:showCatName val="0"/>
            <c:showSerName val="0"/>
            <c:showPercent val="0"/>
            <c:showBubbleSize val="0"/>
            <c:showLeaderLines val="0"/>
          </c:dLbls>
          <c:xVal>
            <c:numRef>
              <c:f>'Chart Data'!$C$2:$C$3</c:f>
              <c:numCache>
                <c:formatCode>General</c:formatCode>
                <c:ptCount val="2"/>
                <c:pt idx="0">
                  <c:v>0</c:v>
                </c:pt>
                <c:pt idx="1">
                  <c:v>120</c:v>
                </c:pt>
              </c:numCache>
            </c:numRef>
          </c:xVal>
          <c:yVal>
            <c:numRef>
              <c:f>'Chart Data'!$D$2:$D$3</c:f>
              <c:numCache>
                <c:formatCode>#,##0</c:formatCode>
                <c:ptCount val="2"/>
                <c:pt idx="0">
                  <c:v>96</c:v>
                </c:pt>
                <c:pt idx="1">
                  <c:v>240</c:v>
                </c:pt>
              </c:numCache>
            </c:numRef>
          </c:yVal>
        </c:ser>
        <c:ser>
          <c:idx val="2"/>
          <c:order val="2"/>
          <c:tx>
            <c:v>Break-even</c:v>
          </c:tx>
          <c:spPr>
            <a:ln xmlns:a="http://schemas.openxmlformats.org/drawingml/2006/main" w="0">
              <a:solidFill>
                <a:srgbClr val="183247"/>
              </a:solidFill>
              <a:prstDash val="solid"/>
            </a:ln>
          </c:spPr>
          <c:marker>
            <c:symbol val="diamond"/>
            <c:size val="9"/>
            <c:spPr>
              <a:solidFill xmlns:a="http://schemas.openxmlformats.org/drawingml/2006/main">
                <a:srgbClr val="183247"/>
              </a:solidFill>
            </c:spPr>
          </c:marker>
          <c:xVal>
            <c:numRef>
              <c:f>'Chart Data'!$E$2:$E$2</c:f>
              <c:numCache>
                <c:formatCode>General</c:formatCode>
                <c:ptCount val="1"/>
                <c:pt idx="0">
                  <c:v>40</c:v>
                </c:pt>
              </c:numCache>
            </c:numRef>
          </c:xVal>
          <c:yVal>
            <c:numRef>
              <c:f>'Chart Data'!$F$2:$F$2</c:f>
              <c:numCache>
                <c:formatCode>#,##0</c:formatCode>
                <c:ptCount val="1"/>
                <c:pt idx="0">
                  <c:v>144</c:v>
                </c:pt>
              </c:numCache>
            </c:numRef>
          </c:yVal>
        </c:ser>
        <c:ser>
          <c:idx val="3"/>
          <c:order val="3"/>
          <c:tx>
            <c:v>Winstafstand</c:v>
          </c:tx>
          <c:spPr>
            <a:ln xmlns:a="http://schemas.openxmlformats.org/drawingml/2006/main" w="66675">
              <a:solidFill>
                <a:srgbClr val="20665B"/>
              </a:solidFill>
              <a:prstDash val="solid"/>
            </a:ln>
          </c:spPr>
          <c:marker>
            <c:symbol val="none"/>
            <c:size val="9"/>
            <c:spPr>
              <a:solidFill xmlns:a="http://schemas.openxmlformats.org/drawingml/2006/main">
                <a:srgbClr val="20665B"/>
              </a:solidFill>
            </c:spPr>
          </c:marker>
          <c:xVal>
            <c:numRef>
              <c:f>'Chart Data'!$G$2:$G$3</c:f>
              <c:numCache>
                <c:formatCode>General</c:formatCode>
                <c:ptCount val="2"/>
                <c:pt idx="0">
                  <c:v>80</c:v>
                </c:pt>
                <c:pt idx="1">
                  <c:v>80</c:v>
                </c:pt>
              </c:numCache>
            </c:numRef>
          </c:xVal>
          <c:yVal>
            <c:numRef>
              <c:f>'Chart Data'!$H$2:$H$3</c:f>
              <c:numCache>
                <c:formatCode>#,##0</c:formatCode>
                <c:ptCount val="2"/>
                <c:pt idx="0">
                  <c:v>192</c:v>
                </c:pt>
                <c:pt idx="1">
                  <c:v>288</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TO en TK (€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0"/>
      </c:valAx>
      <c:valAx>
        <c:axId val="48650112"/>
        <c:scaling>
          <c:orientation val="minMax"/>
          <c:max val="15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(badges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Marker"/>
        <c:ser>
          <c:idx val="0"/>
          <c:order val="0"/>
          <c:tx>
            <c:v>TO</c:v>
          </c:tx>
          <c:spPr>
            <a:ln xmlns:a="http://schemas.openxmlformats.org/drawingml/2006/main" w="38100">
              <a:solidFill>
                <a:srgbClr val="17658A"/>
              </a:solidFill>
              <a:prstDash val="solid"/>
            </a:ln>
          </c:spPr>
          <c:marker>
            <c:symbol val="none"/>
            <c:size val="9"/>
            <c:spPr>
              <a:solidFill xmlns:a="http://schemas.openxmlformats.org/drawingml/2006/main">
                <a:srgbClr val="17658A"/>
              </a:solidFill>
            </c:spPr>
          </c:marker>
          <c:dLbls>
            <c:dLbl>
              <c:idx val="0"/>
              <c:delete val="1"/>
            </c:dLbl>
            <c:dLbl>
              <c:idx val="1"/>
              <c:dLblPos val="r"/>
              <c:showLegendKey val="0"/>
              <c:showVal val="0"/>
              <c:showCatName val="0"/>
              <c:showSerName val="1"/>
            </c:dLbl>
            <c:txPr>
              <ns0:bodyPr xmlns:ns0="http://schemas.openxmlformats.org/drawingml/2006/main"/>
              <ns1:lstStyle xmlns:ns1="http://schemas.openxmlformats.org/drawingml/2006/main"/>
              <ns2:p xmlns:ns2="http://schemas.openxmlformats.org/drawingml/2006/main">
                <ns2:pPr>
                  <ns2:defRPr sz="2100" b="1">
                    <ns2:solidFill>
                      <ns2:srgbClr val="17658A"/>
                    </ns2:solidFill>
                    <ns2:latin typeface="Arial"/>
                  </ns2:defRPr>
                </ns2:pPr>
                <ns2:endParaRPr lang="nl-NL"/>
              </ns2:p>
            </c:txPr>
            <c:showLegendKey val="0"/>
            <c:showVal val="0"/>
            <c:showCatName val="0"/>
            <c:showSerName val="0"/>
            <c:showPercent val="0"/>
            <c:showBubbleSize val="0"/>
            <c:showLeaderLines val="0"/>
          </c:dLbls>
          <c:xVal>
            <c:numRef>
              <c:f>'Chart Data'!$A$2:$A$3</c:f>
              <c:numCache>
                <c:formatCode>General</c:formatCode>
                <c:ptCount val="2"/>
                <c:pt idx="0">
                  <c:v>0</c:v>
                </c:pt>
                <c:pt idx="1">
                  <c:v>1000</c:v>
                </c:pt>
              </c:numCache>
            </c:numRef>
          </c:xVal>
          <c:yVal>
            <c:numRef>
              <c:f>'Chart Data'!$B$2:$B$3</c:f>
              <c:numCache>
                <c:formatCode>#,##0</c:formatCode>
                <c:ptCount val="2"/>
                <c:pt idx="0">
                  <c:v>0</c:v>
                </c:pt>
                <c:pt idx="1">
                  <c:v>5000</c:v>
                </c:pt>
              </c:numCache>
            </c:numRef>
          </c:yVal>
        </c:ser>
        <c:ser>
          <c:idx val="1"/>
          <c:order val="1"/>
          <c:tx>
            <c:v>TK vrijdag</c:v>
          </c:tx>
          <c:spPr>
            <a:ln xmlns:a="http://schemas.openxmlformats.org/drawingml/2006/main" w="38100">
              <a:solidFill>
                <a:srgbClr val="A94D16"/>
              </a:solidFill>
              <a:prstDash val="dash"/>
            </a:ln>
          </c:spPr>
          <c:marker>
            <c:symbol val="none"/>
            <c:size val="9"/>
            <c:spPr>
              <a:solidFill xmlns:a="http://schemas.openxmlformats.org/drawingml/2006/main">
                <a:srgbClr val="A94D16"/>
              </a:solidFill>
            </c:spPr>
          </c:marker>
          <c:dLbls>
            <c:dLbl>
              <c:idx val="0"/>
              <c:delete val="1"/>
            </c:dLbl>
            <c:dLbl>
              <c:idx val="1"/>
              <c:dLblPos val="r"/>
              <c:showLegendKey val="0"/>
              <c:showVal val="0"/>
              <c:showCatName val="0"/>
              <c:showSerName val="1"/>
            </c:dLbl>
            <c:txPr>
              <ns3:bodyPr xmlns:ns3="http://schemas.openxmlformats.org/drawingml/2006/main"/>
              <ns4:lstStyle xmlns:ns4="http://schemas.openxmlformats.org/drawingml/2006/main"/>
              <ns5:p xmlns:ns5="http://schemas.openxmlformats.org/drawingml/2006/main">
                <ns5:pPr>
                  <ns5:defRPr sz="2100" b="1">
                    <ns5:solidFill>
                      <ns5:srgbClr val="A94D16"/>
                    </ns5:solidFill>
                    <ns5:latin typeface="Arial"/>
                  </ns5:defRPr>
                </ns5:pPr>
                <ns5:endParaRPr lang="nl-NL"/>
              </ns5:p>
            </c:txPr>
            <c:showLegendKey val="0"/>
            <c:showVal val="0"/>
            <c:showCatName val="0"/>
            <c:showSerName val="0"/>
            <c:showPercent val="0"/>
            <c:showBubbleSize val="0"/>
            <c:showLeaderLines val="0"/>
          </c:dLbls>
          <c:xVal>
            <c:numRef>
              <c:f>'Chart Data'!$C$2:$C$3</c:f>
              <c:numCache>
                <c:formatCode>General</c:formatCode>
                <c:ptCount val="2"/>
                <c:pt idx="0">
                  <c:v>0</c:v>
                </c:pt>
                <c:pt idx="1">
                  <c:v>1000</c:v>
                </c:pt>
              </c:numCache>
            </c:numRef>
          </c:xVal>
          <c:yVal>
            <c:numRef>
              <c:f>'Chart Data'!$D$2:$D$3</c:f>
              <c:numCache>
                <c:formatCode>#,##0</c:formatCode>
                <c:ptCount val="2"/>
                <c:pt idx="0">
                  <c:v>1200</c:v>
                </c:pt>
                <c:pt idx="1">
                  <c:v>3200</c:v>
                </c:pt>
              </c:numCache>
            </c:numRef>
          </c:yVal>
        </c:ser>
        <c:ser>
          <c:idx val="2"/>
          <c:order val="2"/>
          <c:tx>
            <c:v>TK zaterdag</c:v>
          </c:tx>
          <c:spPr>
            <a:ln xmlns:a="http://schemas.openxmlformats.org/drawingml/2006/main" w="38100">
              <a:solidFill>
                <a:srgbClr val="20665B"/>
              </a:solidFill>
              <a:prstDash val="dot"/>
            </a:ln>
          </c:spPr>
          <c:marker>
            <c:symbol val="circle"/>
            <c:size val="9"/>
            <c:spPr>
              <a:solidFill xmlns:a="http://schemas.openxmlformats.org/drawingml/2006/main">
                <a:srgbClr val="20665B"/>
              </a:solidFill>
            </c:spPr>
          </c:marker>
          <c:dLbls>
            <c:dLbl>
              <c:idx val="0"/>
              <c:delete val="1"/>
            </c:dLbl>
            <c:dLbl>
              <c:idx val="1"/>
              <c:delete val="1"/>
            </c:dLbl>
            <c:dLbl>
              <c:idx val="2"/>
              <c:delete val="1"/>
            </c:dLbl>
            <c:dLbl>
              <c:idx val="3"/>
              <c:dLblPos val="r"/>
              <c:showLegendKey val="0"/>
              <c:showVal val="0"/>
              <c:showCatName val="0"/>
              <c:showSerName val="1"/>
            </c:dLbl>
            <c:txPr>
              <ns6:bodyPr xmlns:ns6="http://schemas.openxmlformats.org/drawingml/2006/main"/>
              <ns7:lstStyle xmlns:ns7="http://schemas.openxmlformats.org/drawingml/2006/main"/>
              <ns8:p xmlns:ns8="http://schemas.openxmlformats.org/drawingml/2006/main">
                <ns8:pPr>
                  <ns8:defRPr sz="2100" b="1">
                    <ns8:solidFill>
                      <ns8:srgbClr val="20665B"/>
                    </ns8:solidFill>
                    <ns8:latin typeface="Arial"/>
                  </ns8:defRPr>
                </ns8:pPr>
                <ns8:endParaRPr lang="nl-NL"/>
              </ns8:p>
            </c:txPr>
            <c:showLegendKey val="0"/>
            <c:showVal val="0"/>
            <c:showCatName val="0"/>
            <c:showSerName val="0"/>
            <c:showPercent val="0"/>
            <c:showBubbleSize val="0"/>
            <c:showLeaderLines val="0"/>
          </c:dLbls>
          <c:xVal>
            <c:numRef>
              <c:f>'Chart Data'!$E$2:$E$5</c:f>
              <c:numCache>
                <c:formatCode>General</c:formatCode>
                <c:ptCount val="4"/>
                <c:pt idx="0">
                  <c:v>700</c:v>
                </c:pt>
                <c:pt idx="1">
                  <c:v>800</c:v>
                </c:pt>
                <c:pt idx="2">
                  <c:v>900</c:v>
                </c:pt>
                <c:pt idx="3">
                  <c:v>1000</c:v>
                </c:pt>
              </c:numCache>
            </c:numRef>
          </c:xVal>
          <c:yVal>
            <c:numRef>
              <c:f>'Chart Data'!$F$2:$F$5</c:f>
              <c:numCache>
                <c:formatCode>#,##0</c:formatCode>
                <c:ptCount val="4"/>
                <c:pt idx="0">
                  <c:v>2600</c:v>
                </c:pt>
                <c:pt idx="1">
                  <c:v>2900</c:v>
                </c:pt>
                <c:pt idx="2">
                  <c:v>3250</c:v>
                </c:pt>
                <c:pt idx="3">
                  <c:v>3650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5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TO en TK (€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00"/>
      </c:valAx>
      <c:valAx>
        <c:axId val="48650112"/>
        <c:scaling>
          <c:orientation val="minMax"/>
          <c:max val="135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(lunchboxen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Marker"/>
        <c:ser>
          <c:idx val="0"/>
          <c:order val="0"/>
          <c:tx>
            <c:v>TO</c:v>
          </c:tx>
          <c:spPr>
            <a:ln xmlns:a="http://schemas.openxmlformats.org/drawingml/2006/main" w="38100">
              <a:solidFill>
                <a:srgbClr val="17658A"/>
              </a:solidFill>
              <a:prstDash val="solid"/>
            </a:ln>
          </c:spPr>
          <c:marker>
            <c:symbol val="none"/>
            <c:size val="9"/>
            <c:spPr>
              <a:solidFill xmlns:a="http://schemas.openxmlformats.org/drawingml/2006/main">
                <a:srgbClr val="17658A"/>
              </a:solidFill>
            </c:spPr>
          </c:marker>
          <c:dLbls>
            <c:dLbl>
              <c:idx val="0"/>
              <c:delete val="1"/>
            </c:dLbl>
            <c:dLbl>
              <c:idx val="1"/>
              <c:dLblPos val="r"/>
              <c:showLegendKey val="0"/>
              <c:showVal val="0"/>
              <c:showCatName val="0"/>
              <c:showSerName val="1"/>
            </c:dLbl>
            <c:txPr>
              <ns0:bodyPr xmlns:ns0="http://schemas.openxmlformats.org/drawingml/2006/main"/>
              <ns1:lstStyle xmlns:ns1="http://schemas.openxmlformats.org/drawingml/2006/main"/>
              <ns2:p xmlns:ns2="http://schemas.openxmlformats.org/drawingml/2006/main">
                <ns2:pPr>
                  <ns2:defRPr sz="2100" b="1">
                    <ns2:solidFill>
                      <ns2:srgbClr val="17658A"/>
                    </ns2:solidFill>
                    <ns2:latin typeface="Arial"/>
                  </ns2:defRPr>
                </ns2:pPr>
                <ns2:endParaRPr lang="nl-NL"/>
              </ns2:p>
            </c:txPr>
            <c:showLegendKey val="0"/>
            <c:showVal val="0"/>
            <c:showCatName val="0"/>
            <c:showSerName val="0"/>
            <c:showPercent val="0"/>
            <c:showBubbleSize val="0"/>
            <c:showLeaderLines val="0"/>
          </c:dLbls>
          <c:xVal>
            <c:numRef>
              <c:f>'Chart Data'!$A$2:$A$3</c:f>
              <c:numCache>
                <c:formatCode>General</c:formatCode>
                <c:ptCount val="2"/>
                <c:pt idx="0">
                  <c:v>0</c:v>
                </c:pt>
                <c:pt idx="1">
                  <c:v>1000</c:v>
                </c:pt>
              </c:numCache>
            </c:numRef>
          </c:xVal>
          <c:yVal>
            <c:numRef>
              <c:f>'Chart Data'!$B$2:$B$3</c:f>
              <c:numCache>
                <c:formatCode>#,##0</c:formatCode>
                <c:ptCount val="2"/>
                <c:pt idx="0">
                  <c:v>0</c:v>
                </c:pt>
                <c:pt idx="1">
                  <c:v>5000</c:v>
                </c:pt>
              </c:numCache>
            </c:numRef>
          </c:yVal>
        </c:ser>
        <c:ser>
          <c:idx val="1"/>
          <c:order val="1"/>
          <c:tx>
            <c:v>TK vrijdag</c:v>
          </c:tx>
          <c:spPr>
            <a:ln xmlns:a="http://schemas.openxmlformats.org/drawingml/2006/main" w="38100">
              <a:solidFill>
                <a:srgbClr val="A94D16"/>
              </a:solidFill>
              <a:prstDash val="dash"/>
            </a:ln>
          </c:spPr>
          <c:marker>
            <c:symbol val="none"/>
            <c:size val="9"/>
            <c:spPr>
              <a:solidFill xmlns:a="http://schemas.openxmlformats.org/drawingml/2006/main">
                <a:srgbClr val="A94D16"/>
              </a:solidFill>
            </c:spPr>
          </c:marker>
          <c:dLbls>
            <c:dLbl>
              <c:idx val="0"/>
              <c:delete val="1"/>
            </c:dLbl>
            <c:dLbl>
              <c:idx val="1"/>
              <c:dLblPos val="r"/>
              <c:showLegendKey val="0"/>
              <c:showVal val="0"/>
              <c:showCatName val="0"/>
              <c:showSerName val="1"/>
            </c:dLbl>
            <c:txPr>
              <ns3:bodyPr xmlns:ns3="http://schemas.openxmlformats.org/drawingml/2006/main"/>
              <ns4:lstStyle xmlns:ns4="http://schemas.openxmlformats.org/drawingml/2006/main"/>
              <ns5:p xmlns:ns5="http://schemas.openxmlformats.org/drawingml/2006/main">
                <ns5:pPr>
                  <ns5:defRPr sz="2100" b="1">
                    <ns5:solidFill>
                      <ns5:srgbClr val="A94D16"/>
                    </ns5:solidFill>
                    <ns5:latin typeface="Arial"/>
                  </ns5:defRPr>
                </ns5:pPr>
                <ns5:endParaRPr lang="nl-NL"/>
              </ns5:p>
            </c:txPr>
            <c:showLegendKey val="0"/>
            <c:showVal val="0"/>
            <c:showCatName val="0"/>
            <c:showSerName val="0"/>
            <c:showPercent val="0"/>
            <c:showBubbleSize val="0"/>
            <c:showLeaderLines val="0"/>
          </c:dLbls>
          <c:xVal>
            <c:numRef>
              <c:f>'Chart Data'!$C$2:$C$3</c:f>
              <c:numCache>
                <c:formatCode>General</c:formatCode>
                <c:ptCount val="2"/>
                <c:pt idx="0">
                  <c:v>0</c:v>
                </c:pt>
                <c:pt idx="1">
                  <c:v>1000</c:v>
                </c:pt>
              </c:numCache>
            </c:numRef>
          </c:xVal>
          <c:yVal>
            <c:numRef>
              <c:f>'Chart Data'!$D$2:$D$3</c:f>
              <c:numCache>
                <c:formatCode>#,##0</c:formatCode>
                <c:ptCount val="2"/>
                <c:pt idx="0">
                  <c:v>1200</c:v>
                </c:pt>
                <c:pt idx="1">
                  <c:v>3200</c:v>
                </c:pt>
              </c:numCache>
            </c:numRef>
          </c:yVal>
        </c:ser>
        <c:ser>
          <c:idx val="2"/>
          <c:order val="2"/>
          <c:tx>
            <c:v>TK zaterdag</c:v>
          </c:tx>
          <c:spPr>
            <a:ln xmlns:a="http://schemas.openxmlformats.org/drawingml/2006/main" w="38100">
              <a:solidFill>
                <a:srgbClr val="20665B"/>
              </a:solidFill>
              <a:prstDash val="dot"/>
            </a:ln>
          </c:spPr>
          <c:marker>
            <c:symbol val="circle"/>
            <c:size val="9"/>
            <c:spPr>
              <a:solidFill xmlns:a="http://schemas.openxmlformats.org/drawingml/2006/main">
                <a:srgbClr val="20665B"/>
              </a:solidFill>
            </c:spPr>
          </c:marker>
          <c:dLbls>
            <c:dLbl>
              <c:idx val="0"/>
              <c:delete val="1"/>
            </c:dLbl>
            <c:dLbl>
              <c:idx val="1"/>
              <c:delete val="1"/>
            </c:dLbl>
            <c:dLbl>
              <c:idx val="2"/>
              <c:delete val="1"/>
            </c:dLbl>
            <c:dLbl>
              <c:idx val="3"/>
              <c:dLblPos val="r"/>
              <c:showLegendKey val="0"/>
              <c:showVal val="0"/>
              <c:showCatName val="0"/>
              <c:showSerName val="1"/>
            </c:dLbl>
            <c:txPr>
              <ns6:bodyPr xmlns:ns6="http://schemas.openxmlformats.org/drawingml/2006/main"/>
              <ns7:lstStyle xmlns:ns7="http://schemas.openxmlformats.org/drawingml/2006/main"/>
              <ns8:p xmlns:ns8="http://schemas.openxmlformats.org/drawingml/2006/main">
                <ns8:pPr>
                  <ns8:defRPr sz="2100" b="1">
                    <ns8:solidFill>
                      <ns8:srgbClr val="20665B"/>
                    </ns8:solidFill>
                    <ns8:latin typeface="Arial"/>
                  </ns8:defRPr>
                </ns8:pPr>
                <ns8:endParaRPr lang="nl-NL"/>
              </ns8:p>
            </c:txPr>
            <c:showLegendKey val="0"/>
            <c:showVal val="0"/>
            <c:showCatName val="0"/>
            <c:showSerName val="0"/>
            <c:showPercent val="0"/>
            <c:showBubbleSize val="0"/>
            <c:showLeaderLines val="0"/>
          </c:dLbls>
          <c:xVal>
            <c:numRef>
              <c:f>'Chart Data'!$E$2:$E$5</c:f>
              <c:numCache>
                <c:formatCode>General</c:formatCode>
                <c:ptCount val="4"/>
                <c:pt idx="0">
                  <c:v>700</c:v>
                </c:pt>
                <c:pt idx="1">
                  <c:v>800</c:v>
                </c:pt>
                <c:pt idx="2">
                  <c:v>900</c:v>
                </c:pt>
                <c:pt idx="3">
                  <c:v>1000</c:v>
                </c:pt>
              </c:numCache>
            </c:numRef>
          </c:xVal>
          <c:yVal>
            <c:numRef>
              <c:f>'Chart Data'!$F$2:$F$5</c:f>
              <c:numCache>
                <c:formatCode>#,##0</c:formatCode>
                <c:ptCount val="4"/>
                <c:pt idx="0">
                  <c:v>2600</c:v>
                </c:pt>
                <c:pt idx="1">
                  <c:v>2900</c:v>
                </c:pt>
                <c:pt idx="2">
                  <c:v>3250</c:v>
                </c:pt>
                <c:pt idx="3">
                  <c:v>3650</c:v>
                </c:pt>
              </c:numCache>
            </c:numRef>
          </c:yVal>
        </c:ser>
        <c:ser>
          <c:idx val="3"/>
          <c:order val="3"/>
          <c:tx>
            <c:v>Break-even</c:v>
          </c:tx>
          <c:spPr>
            <a:ln xmlns:a="http://schemas.openxmlformats.org/drawingml/2006/main" w="0">
              <a:solidFill>
                <a:srgbClr val="183247"/>
              </a:solidFill>
              <a:prstDash val="solid"/>
            </a:ln>
          </c:spPr>
          <c:marker>
            <c:symbol val="diamond"/>
            <c:size val="9"/>
            <c:spPr>
              <a:solidFill xmlns:a="http://schemas.openxmlformats.org/drawingml/2006/main">
                <a:srgbClr val="183247"/>
              </a:solidFill>
            </c:spPr>
          </c:marker>
          <c:xVal>
            <c:numRef>
              <c:f>'Chart Data'!$G$2:$G$2</c:f>
              <c:numCache>
                <c:formatCode>General</c:formatCode>
                <c:ptCount val="1"/>
                <c:pt idx="0">
                  <c:v>400</c:v>
                </c:pt>
              </c:numCache>
            </c:numRef>
          </c:xVal>
          <c:yVal>
            <c:numRef>
              <c:f>'Chart Data'!$H$2:$H$2</c:f>
              <c:numCache>
                <c:formatCode>#,##0</c:formatCode>
                <c:ptCount val="1"/>
                <c:pt idx="0">
                  <c:v>2000</c:v>
                </c:pt>
              </c:numCache>
            </c:numRef>
          </c:yVal>
        </c:ser>
        <c:ser>
          <c:idx val="4"/>
          <c:order val="4"/>
          <c:tx>
            <c:v>Winst vrijdag</c:v>
          </c:tx>
          <c:spPr>
            <a:ln xmlns:a="http://schemas.openxmlformats.org/drawingml/2006/main" w="66675">
              <a:solidFill>
                <a:srgbClr val="20665B"/>
              </a:solidFill>
              <a:prstDash val="solid"/>
            </a:ln>
          </c:spPr>
          <c:marker>
            <c:symbol val="none"/>
            <c:size val="9"/>
            <c:spPr>
              <a:solidFill xmlns:a="http://schemas.openxmlformats.org/drawingml/2006/main">
                <a:srgbClr val="20665B"/>
              </a:solidFill>
            </c:spPr>
          </c:marker>
          <c:xVal>
            <c:numRef>
              <c:f>'Chart Data'!$I$2:$I$3</c:f>
              <c:numCache>
                <c:formatCode>General</c:formatCode>
                <c:ptCount val="2"/>
                <c:pt idx="0">
                  <c:v>700</c:v>
                </c:pt>
                <c:pt idx="1">
                  <c:v>700</c:v>
                </c:pt>
              </c:numCache>
            </c:numRef>
          </c:xVal>
          <c:yVal>
            <c:numRef>
              <c:f>'Chart Data'!$J$2:$J$3</c:f>
              <c:numCache>
                <c:formatCode>#,##0</c:formatCode>
                <c:ptCount val="2"/>
                <c:pt idx="0">
                  <c:v>2600</c:v>
                </c:pt>
                <c:pt idx="1">
                  <c:v>3500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5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TO en TK (€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00"/>
      </c:valAx>
      <c:valAx>
        <c:axId val="48650112"/>
        <c:scaling>
          <c:orientation val="minMax"/>
          <c:max val="135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(lunchboxen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4 Gemengde opgaven">
            <a:extLst xmlns:a="http://schemas.openxmlformats.org/drawingml/2006/main">
              <a:ext uri="{FF2B5EF4-FFF2-40B4-BE49-F238E27FC236}">
                <a16:creationId xmlns:a16="http://schemas.microsoft.com/office/drawing/2014/main" id="{1A360EDD-BCB6-43CF-93EF-B0F51B2BB72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§2.1.4 Gemengde opgaven</a:t>
            </a:r>
          </a:p>
        </p:txBody>
      </p:sp>
      <p:sp>
        <p:nvSpPr>
          <p:cNvPr id="2" name="">
            <a:extLst xmlns:a="http://schemas.openxmlformats.org/drawingml/2006/main">
              <a:ext uri="{FF2B5EF4-FFF2-40B4-BE49-F238E27FC236}">
                <a16:creationId xmlns:a16="http://schemas.microsoft.com/office/drawing/2014/main" id="{2A299C76-5F89-4BC8-941C-98308AF4025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a:extLst xmlns:a="http://schemas.openxmlformats.org/drawingml/2006/main">
              <a:ext uri="{FF2B5EF4-FFF2-40B4-BE49-F238E27FC236}">
                <a16:creationId xmlns:a16="http://schemas.microsoft.com/office/drawing/2014/main" id="{87EED401-5C94-4EED-BCA0-47AA872FA35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a:t>
            </a:r>
          </a:p>
        </p:txBody>
      </p:sp>
      <p:sp>
        <p:nvSpPr>
          <p:cNvPr id="4" name="1">
            <a:extLst xmlns:a="http://schemas.openxmlformats.org/drawingml/2006/main">
              <a:ext uri="{FF2B5EF4-FFF2-40B4-BE49-F238E27FC236}">
                <a16:creationId xmlns:a16="http://schemas.microsoft.com/office/drawing/2014/main" id="{756C2526-10C4-4217-A0B6-18BE75166DA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FB3605AB-E567-4287-AAD4-E31EDF53DA1B}"/>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B15B4CA7-6922-4DBF-971B-4FFB6E15EC0A}"/>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3B716083-D974-49DF-A288-DC6C259D2E4A}"/>
              </a:ext>
            </a:extLst>
          </p:cNvPr>
          <p:cNvSpPr>
            <a:spLocks xmlns:a="http://schemas.openxmlformats.org/drawingml/2006/main" noGrp="1"/>
          </p:cNvSpPr>
          <p:nvPr/>
        </p:nvSpPr>
        <p:spPr>
          <a:xfrm xmlns:a="http://schemas.openxmlformats.org/drawingml/2006/main">
            <a:off x="571500" y="2324100"/>
            <a:ext cx="4572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347AEFA5-F01F-4DEE-B355-AE79CCEA6207}"/>
              </a:ext>
            </a:extLst>
          </p:cNvPr>
          <p:cNvSpPr>
            <a:spLocks xmlns:a="http://schemas.openxmlformats.org/drawingml/2006/main" noGrp="1"/>
          </p:cNvSpPr>
          <p:nvPr/>
        </p:nvSpPr>
        <p:spPr>
          <a:xfrm xmlns:a="http://schemas.openxmlformats.org/drawingml/2006/main">
            <a:off x="1104900" y="2324100"/>
            <a:ext cx="74199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pen en rekenmachine.</a:t>
            </a:r>
          </a:p>
        </p:txBody>
      </p:sp>
      <p:sp>
        <p:nvSpPr>
          <p:cNvPr id="9" name="route-number-2">
            <a:extLst xmlns:a="http://schemas.openxmlformats.org/drawingml/2006/main">
              <a:ext uri="{FF2B5EF4-FFF2-40B4-BE49-F238E27FC236}">
                <a16:creationId xmlns:a16="http://schemas.microsoft.com/office/drawing/2014/main" id="{FBC8166C-1AAE-4D8E-A720-095399573AE1}"/>
              </a:ext>
            </a:extLst>
          </p:cNvPr>
          <p:cNvSpPr>
            <a:spLocks xmlns:a="http://schemas.openxmlformats.org/drawingml/2006/main" noGrp="1"/>
          </p:cNvSpPr>
          <p:nvPr/>
        </p:nvSpPr>
        <p:spPr>
          <a:xfrm xmlns:a="http://schemas.openxmlformats.org/drawingml/2006/main">
            <a:off x="571500" y="3257550"/>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F62666E8-D27F-4970-AF45-2FEA04BF04B0}"/>
              </a:ext>
            </a:extLst>
          </p:cNvPr>
          <p:cNvSpPr>
            <a:spLocks xmlns:a="http://schemas.openxmlformats.org/drawingml/2006/main" noGrp="1"/>
          </p:cNvSpPr>
          <p:nvPr/>
        </p:nvSpPr>
        <p:spPr>
          <a:xfrm xmlns:a="http://schemas.openxmlformats.org/drawingml/2006/main">
            <a:off x="1104900" y="3257550"/>
            <a:ext cx="74199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04FB74BC-C296-4A1B-905F-696E4EDD3198}"/>
              </a:ext>
            </a:extLst>
          </p:cNvPr>
          <p:cNvSpPr>
            <a:spLocks xmlns:a="http://schemas.openxmlformats.org/drawingml/2006/main" noGrp="1"/>
          </p:cNvSpPr>
          <p:nvPr/>
        </p:nvSpPr>
        <p:spPr>
          <a:xfrm xmlns:a="http://schemas.openxmlformats.org/drawingml/2006/main">
            <a:off x="571500" y="3829050"/>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A76FEF98-18DA-4035-93E3-053B088859E1}"/>
              </a:ext>
            </a:extLst>
          </p:cNvPr>
          <p:cNvSpPr>
            <a:spLocks xmlns:a="http://schemas.openxmlformats.org/drawingml/2006/main" noGrp="1"/>
          </p:cNvSpPr>
          <p:nvPr/>
        </p:nvSpPr>
        <p:spPr>
          <a:xfrm xmlns:a="http://schemas.openxmlformats.org/drawingml/2006/main">
            <a:off x="1104900" y="3829050"/>
            <a:ext cx="74199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3" name="route-number-4">
            <a:extLst xmlns:a="http://schemas.openxmlformats.org/drawingml/2006/main">
              <a:ext uri="{FF2B5EF4-FFF2-40B4-BE49-F238E27FC236}">
                <a16:creationId xmlns:a16="http://schemas.microsoft.com/office/drawing/2014/main" id="{D4F4465B-33EF-4769-9712-F2E6B8E4DC3A}"/>
              </a:ext>
            </a:extLst>
          </p:cNvPr>
          <p:cNvSpPr>
            <a:spLocks xmlns:a="http://schemas.openxmlformats.org/drawingml/2006/main" noGrp="1"/>
          </p:cNvSpPr>
          <p:nvPr/>
        </p:nvSpPr>
        <p:spPr>
          <a:xfrm xmlns:a="http://schemas.openxmlformats.org/drawingml/2006/main">
            <a:off x="571500" y="4438650"/>
            <a:ext cx="4572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BA94260B-C983-4A24-8509-BBE4C2B94C78}"/>
              </a:ext>
            </a:extLst>
          </p:cNvPr>
          <p:cNvSpPr>
            <a:spLocks xmlns:a="http://schemas.openxmlformats.org/drawingml/2006/main" noGrp="1"/>
          </p:cNvSpPr>
          <p:nvPr/>
        </p:nvSpPr>
        <p:spPr>
          <a:xfrm xmlns:a="http://schemas.openxmlformats.org/drawingml/2006/main">
            <a:off x="1104900" y="4438650"/>
            <a:ext cx="741997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Werk verder aan de gemengde opgaven, stel vragen en kijk je antwoorden na.</a:t>
            </a:r>
          </a:p>
        </p:txBody>
      </p:sp>
      <p:sp>
        <p:nvSpPr>
          <p:cNvPr id="15" name="route-number-5">
            <a:extLst xmlns:a="http://schemas.openxmlformats.org/drawingml/2006/main">
              <a:ext uri="{FF2B5EF4-FFF2-40B4-BE49-F238E27FC236}">
                <a16:creationId xmlns:a16="http://schemas.microsoft.com/office/drawing/2014/main" id="{A14EEE3E-F0E9-427F-9BB9-7D3C154B7FD7}"/>
              </a:ext>
            </a:extLst>
          </p:cNvPr>
          <p:cNvSpPr>
            <a:spLocks xmlns:a="http://schemas.openxmlformats.org/drawingml/2006/main" noGrp="1"/>
          </p:cNvSpPr>
          <p:nvPr/>
        </p:nvSpPr>
        <p:spPr>
          <a:xfrm xmlns:a="http://schemas.openxmlformats.org/drawingml/2006/main">
            <a:off x="571500" y="5715000"/>
            <a:ext cx="457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A9D3DAE7-FCC6-4DD2-A691-0603E176DE6E}"/>
              </a:ext>
            </a:extLst>
          </p:cNvPr>
          <p:cNvSpPr>
            <a:spLocks xmlns:a="http://schemas.openxmlformats.org/drawingml/2006/main" noGrp="1"/>
          </p:cNvSpPr>
          <p:nvPr/>
        </p:nvSpPr>
        <p:spPr>
          <a:xfrm xmlns:a="http://schemas.openxmlformats.org/drawingml/2006/main">
            <a:off x="1104900" y="5715000"/>
            <a:ext cx="74199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64B7F1C7-7F8E-448E-A506-4E88597C6571}"/>
              </a:ext>
            </a:extLst>
          </p:cNvPr>
          <p:cNvSpPr>
            <a:spLocks xmlns:a="http://schemas.openxmlformats.org/drawingml/2006/main" noGrp="1"/>
          </p:cNvSpPr>
          <p:nvPr/>
        </p:nvSpPr>
        <p:spPr>
          <a:xfrm xmlns:a="http://schemas.openxmlformats.org/drawingml/2006/main">
            <a:off x="571500" y="65151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4E888FC5-0838-4591-A6E4-789FEA8199E6}"/>
              </a:ext>
            </a:extLst>
          </p:cNvPr>
          <p:cNvSpPr>
            <a:spLocks xmlns:a="http://schemas.openxmlformats.org/drawingml/2006/main" noGrp="1"/>
          </p:cNvSpPr>
          <p:nvPr/>
        </p:nvSpPr>
        <p:spPr>
          <a:xfrm xmlns:a="http://schemas.openxmlformats.org/drawingml/2006/main">
            <a:off x="1104900" y="65151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5.</a:t>
            </a:r>
          </a:p>
        </p:txBody>
      </p:sp>
      <p:sp>
        <p:nvSpPr>
          <p:cNvPr id="19" name="route-number-7">
            <a:extLst xmlns:a="http://schemas.openxmlformats.org/drawingml/2006/main">
              <a:ext uri="{FF2B5EF4-FFF2-40B4-BE49-F238E27FC236}">
                <a16:creationId xmlns:a16="http://schemas.microsoft.com/office/drawing/2014/main" id="{10E803DA-E69F-4FF4-8E00-AF29DCA1A779}"/>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B69A659D-A509-44BA-B9D2-675E7CE3263C}"/>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A231763E-C339-4FBD-817B-BE2B1B03D6AC}"/>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D65AB3ED-56BB-45ED-AB5E-1E2CA33B464A}"/>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Bron en grootheid kiezen;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rekenen en grafieken verbinden;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uitspraken onderbouwen.</a:t>
            </a:r>
          </a:p>
        </p:txBody>
      </p:sp>
      <p:sp>
        <p:nvSpPr>
          <p:cNvPr id="23" name="">
            <a:extLst xmlns:a="http://schemas.openxmlformats.org/drawingml/2006/main">
              <a:ext uri="{FF2B5EF4-FFF2-40B4-BE49-F238E27FC236}">
                <a16:creationId xmlns:a16="http://schemas.microsoft.com/office/drawing/2014/main" id="{4EC6830E-8DE9-47CB-986A-A7D0C0139E34}"/>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C9A46F62-5678-4A49-9ADD-0E4189A48169}"/>
              </a:ext>
            </a:extLst>
          </p:cNvPr>
          <p:cNvSpPr>
            <a:spLocks xmlns:a="http://schemas.openxmlformats.org/drawingml/2006/main" noGrp="1"/>
          </p:cNvSpPr>
          <p:nvPr/>
        </p:nvSpPr>
        <p:spPr>
          <a:xfrm xmlns:a="http://schemas.openxmlformats.org/drawingml/2006/main">
            <a:off x="9258300" y="38100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BAFA68F4-93E4-4A7A-B923-6B3B723AE44F}"/>
              </a:ext>
            </a:extLst>
          </p:cNvPr>
          <p:cNvSpPr>
            <a:spLocks xmlns:a="http://schemas.openxmlformats.org/drawingml/2006/main" noGrp="1"/>
          </p:cNvSpPr>
          <p:nvPr/>
        </p:nvSpPr>
        <p:spPr>
          <a:xfrm xmlns:a="http://schemas.openxmlformats.org/drawingml/2006/main">
            <a:off x="9258300" y="4305300"/>
            <a:ext cx="5381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Pagina 29</a:t>
            </a:r>
          </a:p>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Opgave 1</a:t>
            </a:r>
          </a:p>
        </p:txBody>
      </p:sp>
      <p:sp>
        <p:nvSpPr>
          <p:cNvPr id="26" name="">
            <a:extLst xmlns:a="http://schemas.openxmlformats.org/drawingml/2006/main">
              <a:ext uri="{FF2B5EF4-FFF2-40B4-BE49-F238E27FC236}">
                <a16:creationId xmlns:a16="http://schemas.microsoft.com/office/drawing/2014/main" id="{77ACCB5F-00B9-433B-A992-4E53B91409EC}"/>
              </a:ext>
            </a:extLst>
          </p:cNvPr>
          <p:cNvSpPr>
            <a:spLocks xmlns:a="http://schemas.openxmlformats.org/drawingml/2006/main" noGrp="1"/>
          </p:cNvSpPr>
          <p:nvPr/>
        </p:nvSpPr>
        <p:spPr>
          <a:xfrm xmlns:a="http://schemas.openxmlformats.org/drawingml/2006/main">
            <a:off x="9258300" y="525780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F78E22A5-C5B1-4EC1-85AC-82E20CE02BD9}"/>
              </a:ext>
            </a:extLst>
          </p:cNvPr>
          <p:cNvSpPr>
            <a:spLocks xmlns:a="http://schemas.openxmlformats.org/drawingml/2006/main" noGrp="1"/>
          </p:cNvSpPr>
          <p:nvPr/>
        </p:nvSpPr>
        <p:spPr>
          <a:xfrm xmlns:a="http://schemas.openxmlformats.org/drawingml/2006/main">
            <a:off x="9258300" y="54959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3BD1703A-4FD7-49F3-A3F2-D38C9DA6072C}"/>
              </a:ext>
            </a:extLst>
          </p:cNvPr>
          <p:cNvSpPr>
            <a:spLocks xmlns:a="http://schemas.openxmlformats.org/drawingml/2006/main" noGrp="1"/>
          </p:cNvSpPr>
          <p:nvPr/>
        </p:nvSpPr>
        <p:spPr>
          <a:xfrm xmlns:a="http://schemas.openxmlformats.org/drawingml/2006/main">
            <a:off x="9258300" y="6019800"/>
            <a:ext cx="5381625"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§2.1.4 · Opgaven 1 t/m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1 t/m 4 · Doel: 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6: Bonus / Denkertje</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7: Herhaling</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6317898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De gevraagde grootheid">
            <a:extLst xmlns:a="http://schemas.openxmlformats.org/drawingml/2006/main">
              <a:ext uri="{FF2B5EF4-FFF2-40B4-BE49-F238E27FC236}">
                <a16:creationId xmlns:a16="http://schemas.microsoft.com/office/drawing/2014/main" id="{4FA7D325-E103-4EA8-BDD6-1C556682487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gevraagde grootheid</a:t>
            </a:r>
          </a:p>
        </p:txBody>
      </p:sp>
      <p:sp>
        <p:nvSpPr>
          <p:cNvPr id="2" name="">
            <a:extLst xmlns:a="http://schemas.openxmlformats.org/drawingml/2006/main">
              <a:ext uri="{FF2B5EF4-FFF2-40B4-BE49-F238E27FC236}">
                <a16:creationId xmlns:a16="http://schemas.microsoft.com/office/drawing/2014/main" id="{439680F8-700F-44EE-882E-D6CA0F0214F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a:extLst xmlns:a="http://schemas.openxmlformats.org/drawingml/2006/main">
              <a:ext uri="{FF2B5EF4-FFF2-40B4-BE49-F238E27FC236}">
                <a16:creationId xmlns:a16="http://schemas.microsoft.com/office/drawing/2014/main" id="{AA5D97EB-26F6-47A2-88C9-E51E10C279C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a:t>
            </a:r>
          </a:p>
        </p:txBody>
      </p:sp>
      <p:sp>
        <p:nvSpPr>
          <p:cNvPr id="4" name="2">
            <a:extLst xmlns:a="http://schemas.openxmlformats.org/drawingml/2006/main">
              <a:ext uri="{FF2B5EF4-FFF2-40B4-BE49-F238E27FC236}">
                <a16:creationId xmlns:a16="http://schemas.microsoft.com/office/drawing/2014/main" id="{CD30FBDB-312C-4730-90D3-78D824D3850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graphicFrame>
        <p:nvGraphicFramePr>
          <p:cNvPr id="12" name=""/>
          <p:cNvGraphicFramePr/>
          <p:nvPr/>
        </p:nvGraphicFramePr>
        <p:xfrm>
          <a:off xmlns:a="http://schemas.openxmlformats.org/drawingml/2006/main" x="571500" y="1905000"/>
          <a:ext xmlns:a="http://schemas.openxmlformats.org/drawingml/2006/main" cx="14097000" cy="4219575"/>
        </p:xfrm>
        <a:graphic xmlns:a="http://schemas.openxmlformats.org/drawingml/2006/main">
          <a:graphicData uri="http://schemas.openxmlformats.org/drawingml/2006/table">
            <a:tbl>
              <a:tblPr/>
              <a:tblGrid>
                <a:gridCol w="4286250"/>
                <a:gridCol w="6048375"/>
                <a:gridCol w="3762375"/>
              </a:tblGrid>
              <a:tr h="843915">
                <a:tc>
                  <a:txBody>
                    <a:bodyPr lIns="171450" tIns="95250" rIns="152400" bIns="95250"/>
                    <a:lstStyle/>
                    <a:p>
                      <a:r>
                        <a:rPr sz="2325" b="1">
                          <a:solidFill>
                            <a:srgbClr val="FFFFFF"/>
                          </a:solidFill>
                          <a:latin typeface="Arial"/>
                          <a:ea typeface="Arial"/>
                          <a:cs typeface="Arial"/>
                        </a:rPr>
                        <a:t>De vraag gaat over…</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Aanpak</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Eenheid</a:t>
                      </a:r>
                    </a:p>
                  </a:txBody>
                  <a:tcPr marL="91440" marR="91440" marT="45720" marB="45720" anchor="ctr">
                    <a:solidFill>
                      <a:srgbClr val="183247"/>
                    </a:solidFill>
                  </a:tcPr>
                </a:tc>
              </a:tr>
              <a:tr h="843915">
                <a:tc>
                  <a:txBody>
                    <a:bodyPr lIns="171450" tIns="95250" rIns="152400" bIns="95250"/>
                    <a:lstStyle/>
                    <a:p>
                      <a:r>
                        <a:rPr sz="2325" b="0">
                          <a:solidFill>
                            <a:srgbClr val="183247"/>
                          </a:solidFill>
                          <a:latin typeface="Arial"/>
                          <a:ea typeface="Arial"/>
                          <a:cs typeface="Arial"/>
                        </a:rPr>
                        <a:t>Alle producten samen</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TK, TO; winst = TO − TK</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 per periode</a:t>
                      </a:r>
                    </a:p>
                  </a:txBody>
                  <a:tcPr marL="91440" marR="91440" marT="45720" marB="45720" anchor="ctr">
                    <a:solidFill>
                      <a:srgbClr val="FFFFFF"/>
                    </a:solidFill>
                  </a:tcPr>
                </a:tc>
              </a:tr>
              <a:tr h="843915">
                <a:tc>
                  <a:txBody>
                    <a:bodyPr lIns="171450" tIns="95250" rIns="152400" bIns="95250"/>
                    <a:lstStyle/>
                    <a:p>
                      <a:r>
                        <a:rPr sz="2325" b="0">
                          <a:solidFill>
                            <a:srgbClr val="183247"/>
                          </a:solidFill>
                          <a:latin typeface="Arial"/>
                          <a:ea typeface="Arial"/>
                          <a:cs typeface="Arial"/>
                        </a:rPr>
                        <a:t>Gemiddeld per product</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GTK = TK / Q</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 per product</a:t>
                      </a:r>
                    </a:p>
                  </a:txBody>
                  <a:tcPr marL="91440" marR="91440" marT="45720" marB="45720" anchor="ctr">
                    <a:solidFill>
                      <a:srgbClr val="EFF4F7"/>
                    </a:solidFill>
                  </a:tcPr>
                </a:tc>
              </a:tr>
              <a:tr h="843915">
                <a:tc>
                  <a:txBody>
                    <a:bodyPr lIns="171450" tIns="95250" rIns="152400" bIns="95250"/>
                    <a:lstStyle/>
                    <a:p>
                      <a:r>
                        <a:rPr sz="2325" b="0">
                          <a:solidFill>
                            <a:srgbClr val="183247"/>
                          </a:solidFill>
                          <a:latin typeface="Arial"/>
                          <a:ea typeface="Arial"/>
                          <a:cs typeface="Arial"/>
                        </a:rPr>
                        <a:t>Een extra groep producten</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MK = ΔTK / ΔQ; MO = ΔTO / ΔQ</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 per extra product</a:t>
                      </a:r>
                    </a:p>
                  </a:txBody>
                  <a:tcPr marL="91440" marR="91440" marT="45720" marB="45720" anchor="ctr">
                    <a:solidFill>
                      <a:srgbClr val="FFFFFF"/>
                    </a:solidFill>
                  </a:tcPr>
                </a:tc>
              </a:tr>
              <a:tr h="843915">
                <a:tc>
                  <a:txBody>
                    <a:bodyPr lIns="171450" tIns="95250" rIns="152400" bIns="95250"/>
                    <a:lstStyle/>
                    <a:p>
                      <a:r>
                        <a:rPr sz="2325" b="0">
                          <a:solidFill>
                            <a:srgbClr val="183247"/>
                          </a:solidFill>
                          <a:latin typeface="Arial"/>
                          <a:ea typeface="Arial"/>
                          <a:cs typeface="Arial"/>
                        </a:rPr>
                        <a:t>Geen winst en geen verlies</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TO = TK oplossen</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Q: aantal producten</a:t>
                      </a:r>
                    </a:p>
                  </a:txBody>
                  <a:tcPr marL="91440" marR="91440" marT="45720" marB="45720" anchor="ctr">
                    <a:solidFill>
                      <a:srgbClr val="EFF4F7"/>
                    </a:solidFill>
                  </a:tcPr>
                </a:tc>
              </a:tr>
            </a:tbl>
          </a:graphicData>
        </a:graphic>
      </p:graphicFrame>
      <p:sp>
        <p:nvSpPr>
          <p:cNvPr id="6" name="Eerst de juiste bron en periode, dan de berekening.">
            <a:extLst xmlns:a="http://schemas.openxmlformats.org/drawingml/2006/main">
              <a:ext uri="{FF2B5EF4-FFF2-40B4-BE49-F238E27FC236}">
                <a16:creationId xmlns:a16="http://schemas.microsoft.com/office/drawing/2014/main" id="{879CA8F6-418E-4510-8BA9-DD542A8A414C}"/>
              </a:ext>
            </a:extLst>
          </p:cNvPr>
          <p:cNvSpPr>
            <a:spLocks xmlns:a="http://schemas.openxmlformats.org/drawingml/2006/main" noGrp="1"/>
          </p:cNvSpPr>
          <p:nvPr/>
        </p:nvSpPr>
        <p:spPr>
          <a:xfrm xmlns:a="http://schemas.openxmlformats.org/drawingml/2006/main">
            <a:off x="571500" y="6638925"/>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Eerst de juiste bron en periode, dan de berekening.</a:t>
            </a:r>
          </a:p>
        </p:txBody>
      </p:sp>
      <p:sp>
        <p:nvSpPr>
          <p:cNvPr id="7" name="Uitkomst → economische betekenis → conclusie">
            <a:extLst xmlns:a="http://schemas.openxmlformats.org/drawingml/2006/main">
              <a:ext uri="{FF2B5EF4-FFF2-40B4-BE49-F238E27FC236}">
                <a16:creationId xmlns:a16="http://schemas.microsoft.com/office/drawing/2014/main" id="{847EA2DC-CF7F-4465-BEB7-83915A4A990C}"/>
              </a:ext>
            </a:extLst>
          </p:cNvPr>
          <p:cNvSpPr>
            <a:spLocks xmlns:a="http://schemas.openxmlformats.org/drawingml/2006/main" noGrp="1"/>
          </p:cNvSpPr>
          <p:nvPr/>
        </p:nvSpPr>
        <p:spPr>
          <a:xfrm xmlns:a="http://schemas.openxmlformats.org/drawingml/2006/main">
            <a:off x="571500" y="7448550"/>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Uitkomst → economische betekenis → conclusie</a:t>
            </a:r>
          </a:p>
        </p:txBody>
      </p:sp>
    </p:spTree>
    <p:extLst>
      <p:ext uri="{BB962C8B-B14F-4D97-AF65-F5344CB8AC3E}">
        <p14:creationId xmlns:p14="http://schemas.microsoft.com/office/powerpoint/2010/main" val="123298139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Uitlegvoorbeeld · Badgebalie">
            <a:extLst xmlns:a="http://schemas.openxmlformats.org/drawingml/2006/main">
              <a:ext uri="{FF2B5EF4-FFF2-40B4-BE49-F238E27FC236}">
                <a16:creationId xmlns:a16="http://schemas.microsoft.com/office/drawing/2014/main" id="{157A5EE3-F84D-4B81-B42A-0BFE37235D8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Uitlegvoorbeeld · Badgebalie</a:t>
            </a:r>
          </a:p>
        </p:txBody>
      </p:sp>
      <p:sp>
        <p:nvSpPr>
          <p:cNvPr id="2" name="">
            <a:extLst xmlns:a="http://schemas.openxmlformats.org/drawingml/2006/main">
              <a:ext uri="{FF2B5EF4-FFF2-40B4-BE49-F238E27FC236}">
                <a16:creationId xmlns:a16="http://schemas.microsoft.com/office/drawing/2014/main" id="{3743BD1F-F513-4968-A497-A4FB4E3B1A9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B61A8074-7DB0-4AD2-8C77-C66AF309E99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3">
            <a:extLst xmlns:a="http://schemas.openxmlformats.org/drawingml/2006/main">
              <a:ext uri="{FF2B5EF4-FFF2-40B4-BE49-F238E27FC236}">
                <a16:creationId xmlns:a16="http://schemas.microsoft.com/office/drawing/2014/main" id="{AD5FF1EF-522C-4585-841F-08B88F8C12E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Eén verenigingsdag · maximaal 120 badges · alles wordt verko">
            <a:extLst xmlns:a="http://schemas.openxmlformats.org/drawingml/2006/main">
              <a:ext uri="{FF2B5EF4-FFF2-40B4-BE49-F238E27FC236}">
                <a16:creationId xmlns:a16="http://schemas.microsoft.com/office/drawing/2014/main" id="{BCB0395B-8651-47FF-BC35-F6E323719614}"/>
              </a:ext>
            </a:extLst>
          </p:cNvPr>
          <p:cNvSpPr>
            <a:spLocks xmlns:a="http://schemas.openxmlformats.org/drawingml/2006/main" noGrp="1"/>
          </p:cNvSpPr>
          <p:nvPr/>
        </p:nvSpPr>
        <p:spPr>
          <a:xfrm xmlns:a="http://schemas.openxmlformats.org/drawingml/2006/main">
            <a:off x="571500" y="1762125"/>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Eén verenigingsdag · maximaal 120 badges · alles wordt verkocht</a:t>
            </a:r>
          </a:p>
        </p:txBody>
      </p:sp>
      <p:sp>
        <p:nvSpPr>
          <p:cNvPr id="6" name="Vaste kosten: € 96 per dag · Materiaal: € 1,20 per badge&#10;Ver">
            <a:extLst xmlns:a="http://schemas.openxmlformats.org/drawingml/2006/main">
              <a:ext uri="{FF2B5EF4-FFF2-40B4-BE49-F238E27FC236}">
                <a16:creationId xmlns:a16="http://schemas.microsoft.com/office/drawing/2014/main" id="{8ECA8052-97B0-4F14-8FD1-225BCA2AF62D}"/>
              </a:ext>
            </a:extLst>
          </p:cNvPr>
          <p:cNvSpPr>
            <a:spLocks xmlns:a="http://schemas.openxmlformats.org/drawingml/2006/main" noGrp="1"/>
          </p:cNvSpPr>
          <p:nvPr/>
        </p:nvSpPr>
        <p:spPr>
          <a:xfrm xmlns:a="http://schemas.openxmlformats.org/drawingml/2006/main">
            <a:off x="571500" y="2524125"/>
            <a:ext cx="1409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Vaste kosten: € 96 per dag · Materiaal: € 1,20 per badge</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Verkoopprijs: € 3,60 per badge</a:t>
            </a:r>
          </a:p>
        </p:txBody>
      </p:sp>
      <p:sp>
        <p:nvSpPr>
          <p:cNvPr id="7" name="TK = 96 + 1,20Q          TO = 3,60Q">
            <a:extLst xmlns:a="http://schemas.openxmlformats.org/drawingml/2006/main">
              <a:ext uri="{FF2B5EF4-FFF2-40B4-BE49-F238E27FC236}">
                <a16:creationId xmlns:a16="http://schemas.microsoft.com/office/drawing/2014/main" id="{76C2B55A-3F1C-4ED4-AC01-D6D763DD60D7}"/>
              </a:ext>
            </a:extLst>
          </p:cNvPr>
          <p:cNvSpPr>
            <a:spLocks xmlns:a="http://schemas.openxmlformats.org/drawingml/2006/main" noGrp="1"/>
          </p:cNvSpPr>
          <p:nvPr/>
        </p:nvSpPr>
        <p:spPr>
          <a:xfrm xmlns:a="http://schemas.openxmlformats.org/drawingml/2006/main">
            <a:off x="571500" y="3838575"/>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TK = 96 + 1,20Q          TO = 3,60Q</a:t>
            </a:r>
          </a:p>
        </p:txBody>
      </p:sp>
      <p:graphicFrame>
        <p:nvGraphicFramePr>
          <p:cNvPr id="16" name=""/>
          <p:cNvGraphicFramePr/>
          <p:nvPr/>
        </p:nvGraphicFramePr>
        <p:xfrm>
          <a:off xmlns:a="http://schemas.openxmlformats.org/drawingml/2006/main" x="571500" y="4810125"/>
          <a:ext xmlns:a="http://schemas.openxmlformats.org/drawingml/2006/main" cx="14097000" cy="2714625"/>
        </p:xfrm>
        <a:graphic xmlns:a="http://schemas.openxmlformats.org/drawingml/2006/main">
          <a:graphicData uri="http://schemas.openxmlformats.org/drawingml/2006/table">
            <a:tbl>
              <a:tblPr/>
              <a:tblGrid>
                <a:gridCol w="3286125"/>
                <a:gridCol w="3810000"/>
                <a:gridCol w="3476625"/>
                <a:gridCol w="3524250"/>
              </a:tblGrid>
              <a:tr h="904875">
                <a:tc>
                  <a:txBody>
                    <a:bodyPr lIns="171450" tIns="95250" rIns="152400" bIns="95250"/>
                    <a:lstStyle/>
                    <a:p>
                      <a:r>
                        <a:rPr sz="2325" b="1">
                          <a:solidFill>
                            <a:srgbClr val="FFFFFF"/>
                          </a:solidFill>
                          <a:latin typeface="Arial"/>
                          <a:ea typeface="Arial"/>
                          <a:cs typeface="Arial"/>
                        </a:rPr>
                        <a:t>Q (badges per dag)</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TK (€ per dag)</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TO (€ per dag)</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Winst (€ per dag)</a:t>
                      </a:r>
                    </a:p>
                  </a:txBody>
                  <a:tcPr marL="91440" marR="91440" marT="45720" marB="45720" anchor="ctr">
                    <a:solidFill>
                      <a:srgbClr val="183247"/>
                    </a:solidFill>
                  </a:tcPr>
                </a:tc>
              </a:tr>
              <a:tr h="904875">
                <a:tc>
                  <a:txBody>
                    <a:bodyPr lIns="171450" tIns="95250" rIns="152400" bIns="95250"/>
                    <a:lstStyle/>
                    <a:p>
                      <a:r>
                        <a:rPr sz="2325" b="0">
                          <a:solidFill>
                            <a:srgbClr val="183247"/>
                          </a:solidFill>
                          <a:latin typeface="Arial"/>
                          <a:ea typeface="Arial"/>
                          <a:cs typeface="Arial"/>
                        </a:rPr>
                        <a:t>80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96 + 1,20 × 80 = 192</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3,60 × 80 = 288</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288 − 192 = 96</a:t>
                      </a:r>
                    </a:p>
                  </a:txBody>
                  <a:tcPr marL="91440" marR="91440" marT="45720" marB="45720" anchor="ctr">
                    <a:solidFill>
                      <a:srgbClr val="FFFFFF"/>
                    </a:solidFill>
                  </a:tcPr>
                </a:tc>
              </a:tr>
              <a:tr h="904875">
                <a:tc>
                  <a:txBody>
                    <a:bodyPr lIns="171450" tIns="95250" rIns="152400" bIns="95250"/>
                    <a:lstStyle/>
                    <a:p>
                      <a:r>
                        <a:rPr sz="2325" b="0">
                          <a:solidFill>
                            <a:srgbClr val="183247"/>
                          </a:solidFill>
                          <a:latin typeface="Arial"/>
                          <a:ea typeface="Arial"/>
                          <a:cs typeface="Arial"/>
                        </a:rPr>
                        <a:t>100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96 + 1,20 × 100 = 216</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3,60 × 100 = 360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360 − 216 = 144</a:t>
                      </a:r>
                    </a:p>
                  </a:txBody>
                  <a:tcPr marL="91440" marR="91440" marT="45720" marB="45720" anchor="ctr">
                    <a:solidFill>
                      <a:srgbClr val="EFF4F7"/>
                    </a:solidFill>
                  </a:tcPr>
                </a:tc>
              </a:tr>
            </a:tbl>
          </a:graphicData>
        </a:graphic>
      </p:graphicFrame>
    </p:spTree>
    <p:extLst>
      <p:ext uri="{BB962C8B-B14F-4D97-AF65-F5344CB8AC3E}">
        <p14:creationId xmlns:p14="http://schemas.microsoft.com/office/powerpoint/2010/main" val="188092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Uitlegvoorbeeld · Gemiddeld en marginaal">
            <a:extLst xmlns:a="http://schemas.openxmlformats.org/drawingml/2006/main">
              <a:ext uri="{FF2B5EF4-FFF2-40B4-BE49-F238E27FC236}">
                <a16:creationId xmlns:a16="http://schemas.microsoft.com/office/drawing/2014/main" id="{5FB79AAF-5717-4B2B-9070-84485DB7745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Uitlegvoorbeeld · Gemiddeld en marginaal</a:t>
            </a:r>
          </a:p>
        </p:txBody>
      </p:sp>
      <p:sp>
        <p:nvSpPr>
          <p:cNvPr id="2" name="">
            <a:extLst xmlns:a="http://schemas.openxmlformats.org/drawingml/2006/main">
              <a:ext uri="{FF2B5EF4-FFF2-40B4-BE49-F238E27FC236}">
                <a16:creationId xmlns:a16="http://schemas.microsoft.com/office/drawing/2014/main" id="{B77E46CD-3542-434B-AC79-3688F4CB739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9406FCB7-F67E-4384-8B5A-91B14755873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4">
            <a:extLst xmlns:a="http://schemas.openxmlformats.org/drawingml/2006/main">
              <a:ext uri="{FF2B5EF4-FFF2-40B4-BE49-F238E27FC236}">
                <a16:creationId xmlns:a16="http://schemas.microsoft.com/office/drawing/2014/main" id="{42AA8EAB-127F-495D-9D57-909F57ABFCB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Bij 80 badges: TK = € 192 per dag">
            <a:extLst xmlns:a="http://schemas.openxmlformats.org/drawingml/2006/main">
              <a:ext uri="{FF2B5EF4-FFF2-40B4-BE49-F238E27FC236}">
                <a16:creationId xmlns:a16="http://schemas.microsoft.com/office/drawing/2014/main" id="{2CB73E14-6278-4CCD-A0DE-925BF42100DF}"/>
              </a:ext>
            </a:extLst>
          </p:cNvPr>
          <p:cNvSpPr>
            <a:spLocks xmlns:a="http://schemas.openxmlformats.org/drawingml/2006/main" noGrp="1"/>
          </p:cNvSpPr>
          <p:nvPr/>
        </p:nvSpPr>
        <p:spPr>
          <a:xfrm xmlns:a="http://schemas.openxmlformats.org/drawingml/2006/main">
            <a:off x="571500" y="1809750"/>
            <a:ext cx="1409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Bij 80 badges: TK = € 192 per dag</a:t>
            </a:r>
          </a:p>
        </p:txBody>
      </p:sp>
      <p:sp>
        <p:nvSpPr>
          <p:cNvPr id="6" name="GTK = TK / Q = 192 / 80 = € 2,40 per badge">
            <a:extLst xmlns:a="http://schemas.openxmlformats.org/drawingml/2006/main">
              <a:ext uri="{FF2B5EF4-FFF2-40B4-BE49-F238E27FC236}">
                <a16:creationId xmlns:a16="http://schemas.microsoft.com/office/drawing/2014/main" id="{59808B3A-F0A8-4C08-A044-A2C36816E346}"/>
              </a:ext>
            </a:extLst>
          </p:cNvPr>
          <p:cNvSpPr>
            <a:spLocks xmlns:a="http://schemas.openxmlformats.org/drawingml/2006/main" noGrp="1"/>
          </p:cNvSpPr>
          <p:nvPr/>
        </p:nvSpPr>
        <p:spPr>
          <a:xfrm xmlns:a="http://schemas.openxmlformats.org/drawingml/2006/main">
            <a:off x="571500" y="25717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GTK = TK / Q = 192 / 80 = € 2,40 per badge</a:t>
            </a:r>
          </a:p>
        </p:txBody>
      </p:sp>
      <p:sp>
        <p:nvSpPr>
          <p:cNvPr id="7" name="">
            <a:extLst xmlns:a="http://schemas.openxmlformats.org/drawingml/2006/main">
              <a:ext uri="{FF2B5EF4-FFF2-40B4-BE49-F238E27FC236}">
                <a16:creationId xmlns:a16="http://schemas.microsoft.com/office/drawing/2014/main" id="{384421EA-2F5A-4218-B4BD-35FABF363069}"/>
              </a:ext>
            </a:extLst>
          </p:cNvPr>
          <p:cNvSpPr>
            <a:spLocks xmlns:a="http://schemas.openxmlformats.org/drawingml/2006/main" noGrp="1"/>
          </p:cNvSpPr>
          <p:nvPr/>
        </p:nvSpPr>
        <p:spPr>
          <a:xfrm xmlns:a="http://schemas.openxmlformats.org/drawingml/2006/main">
            <a:off x="571500" y="3667125"/>
            <a:ext cx="14097000" cy="0"/>
          </a:xfrm>
          <a:prstGeom xmlns:a="http://schemas.openxmlformats.org/drawingml/2006/main" prst="line">
            <a:avLst/>
          </a:prstGeom>
          <a:ln xmlns:a="http://schemas.openxmlformats.org/drawingml/2006/main" w="19050">
            <a:solidFill>
              <a:srgbClr val="C6D2DB"/>
            </a:solidFill>
          </a:ln>
        </p:spPr>
      </p:sp>
      <p:sp>
        <p:nvSpPr>
          <p:cNvPr id="8" name="Stap van 80 naar 100 badges: ΔQ = 20 badges">
            <a:extLst xmlns:a="http://schemas.openxmlformats.org/drawingml/2006/main">
              <a:ext uri="{FF2B5EF4-FFF2-40B4-BE49-F238E27FC236}">
                <a16:creationId xmlns:a16="http://schemas.microsoft.com/office/drawing/2014/main" id="{18B949FB-6A69-4976-B89B-443F4B66392E}"/>
              </a:ext>
            </a:extLst>
          </p:cNvPr>
          <p:cNvSpPr>
            <a:spLocks xmlns:a="http://schemas.openxmlformats.org/drawingml/2006/main" noGrp="1"/>
          </p:cNvSpPr>
          <p:nvPr/>
        </p:nvSpPr>
        <p:spPr>
          <a:xfrm xmlns:a="http://schemas.openxmlformats.org/drawingml/2006/main">
            <a:off x="571500" y="4019550"/>
            <a:ext cx="14097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Stap van 80 naar 100 badges: ΔQ = 20 badges</a:t>
            </a:r>
          </a:p>
        </p:txBody>
      </p:sp>
      <p:sp>
        <p:nvSpPr>
          <p:cNvPr id="9" name="MK = (216 − 192) / 20 = € 1,20 per extra badge&#10;MO = (360 − 2">
            <a:extLst xmlns:a="http://schemas.openxmlformats.org/drawingml/2006/main">
              <a:ext uri="{FF2B5EF4-FFF2-40B4-BE49-F238E27FC236}">
                <a16:creationId xmlns:a16="http://schemas.microsoft.com/office/drawing/2014/main" id="{91DFFE68-BDD7-4728-B54E-B4228BA0E160}"/>
              </a:ext>
            </a:extLst>
          </p:cNvPr>
          <p:cNvSpPr>
            <a:spLocks xmlns:a="http://schemas.openxmlformats.org/drawingml/2006/main" noGrp="1"/>
          </p:cNvSpPr>
          <p:nvPr/>
        </p:nvSpPr>
        <p:spPr>
          <a:xfrm xmlns:a="http://schemas.openxmlformats.org/drawingml/2006/main">
            <a:off x="571500" y="4876800"/>
            <a:ext cx="140970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MK = (216 − 192) / 20 = € 1,20 per extra badge</a:t>
            </a:r>
          </a:p>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MO = (360 − 288) / 20 = € 3,60 per extra badge</a:t>
            </a:r>
          </a:p>
        </p:txBody>
      </p:sp>
      <p:sp>
        <p:nvSpPr>
          <p:cNvPr id="10" name="Extra winst = (3,60 − 1,20) × 20 = € 48 per dag">
            <a:extLst xmlns:a="http://schemas.openxmlformats.org/drawingml/2006/main">
              <a:ext uri="{FF2B5EF4-FFF2-40B4-BE49-F238E27FC236}">
                <a16:creationId xmlns:a16="http://schemas.microsoft.com/office/drawing/2014/main" id="{5E3B673B-8235-4EC0-9E10-A35AAF56F65B}"/>
              </a:ext>
            </a:extLst>
          </p:cNvPr>
          <p:cNvSpPr>
            <a:spLocks xmlns:a="http://schemas.openxmlformats.org/drawingml/2006/main" noGrp="1"/>
          </p:cNvSpPr>
          <p:nvPr/>
        </p:nvSpPr>
        <p:spPr>
          <a:xfrm xmlns:a="http://schemas.openxmlformats.org/drawingml/2006/main">
            <a:off x="571500" y="6934200"/>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20665B"/>
                </a:solidFill>
                <a:latin typeface="Arial"/>
                <a:ea typeface="Arial"/>
                <a:cs typeface="Arial"/>
              </a:defRPr>
            </a:pPr>
            <a:r>
              <a:rPr sz="3075" b="1">
                <a:solidFill>
                  <a:srgbClr val="20665B"/>
                </a:solidFill>
                <a:latin typeface="Arial"/>
                <a:ea typeface="Arial"/>
                <a:cs typeface="Arial"/>
              </a:rPr>
              <a:t>Extra winst = (3,60 − 1,20) × 20 = € 48 per dag</a:t>
            </a:r>
          </a:p>
        </p:txBody>
      </p:sp>
    </p:spTree>
    <p:extLst>
      <p:ext uri="{BB962C8B-B14F-4D97-AF65-F5344CB8AC3E}">
        <p14:creationId xmlns:p14="http://schemas.microsoft.com/office/powerpoint/2010/main" val="46228087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Uitlegvoorbeeld · Break-even en winst">
            <a:extLst xmlns:a="http://schemas.openxmlformats.org/drawingml/2006/main">
              <a:ext uri="{FF2B5EF4-FFF2-40B4-BE49-F238E27FC236}">
                <a16:creationId xmlns:a16="http://schemas.microsoft.com/office/drawing/2014/main" id="{85922B90-256B-43EA-B435-2BCD02F7EE1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Uitlegvoorbeeld · Break-even en winst</a:t>
            </a:r>
          </a:p>
        </p:txBody>
      </p:sp>
      <p:sp>
        <p:nvSpPr>
          <p:cNvPr id="2" name="">
            <a:extLst xmlns:a="http://schemas.openxmlformats.org/drawingml/2006/main">
              <a:ext uri="{FF2B5EF4-FFF2-40B4-BE49-F238E27FC236}">
                <a16:creationId xmlns:a16="http://schemas.microsoft.com/office/drawing/2014/main" id="{043728D0-C53B-4EA9-827C-EBFD7953729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F16A2EBE-99AA-432C-8667-BD144317493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5">
            <a:extLst xmlns:a="http://schemas.openxmlformats.org/drawingml/2006/main">
              <a:ext uri="{FF2B5EF4-FFF2-40B4-BE49-F238E27FC236}">
                <a16:creationId xmlns:a16="http://schemas.microsoft.com/office/drawing/2014/main" id="{3254B20F-C5D6-48A9-BFC9-964F1B05B73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3,60Q = 96 + 1,20Q   →   2,40Q = 96   →   Q = 40">
            <a:extLst xmlns:a="http://schemas.openxmlformats.org/drawingml/2006/main">
              <a:ext uri="{FF2B5EF4-FFF2-40B4-BE49-F238E27FC236}">
                <a16:creationId xmlns:a16="http://schemas.microsoft.com/office/drawing/2014/main" id="{479B797E-0D6E-4B4F-AF50-0FC797D77692}"/>
              </a:ext>
            </a:extLst>
          </p:cNvPr>
          <p:cNvSpPr>
            <a:spLocks xmlns:a="http://schemas.openxmlformats.org/drawingml/2006/main" noGrp="1"/>
          </p:cNvSpPr>
          <p:nvPr/>
        </p:nvSpPr>
        <p:spPr>
          <a:xfrm xmlns:a="http://schemas.openxmlformats.org/drawingml/2006/main">
            <a:off x="571500" y="170497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3,60Q = 96 + 1,20Q   →   2,40Q = 96   →   Q = 40</a:t>
            </a:r>
          </a:p>
        </p:txBody>
      </p:sp>
      <p:graphicFrame>
        <p:nvGraphicFramePr>
          <p:cNvPr id="16" name="Chart"/>
          <p:cNvGraphicFramePr/>
          <p:nvPr/>
        </p:nvGraphicFramePr>
        <p:xfrm>
          <a:off xmlns:a="http://schemas.openxmlformats.org/drawingml/2006/main" x="571500" y="2190750"/>
          <a:ext xmlns:a="http://schemas.openxmlformats.org/drawingml/2006/main" cx="10572750" cy="5591175"/>
        </p:xfrm>
        <a:graphic xmlns:a="http://schemas.openxmlformats.org/drawingml/2006/main">
          <a:graphicData uri="http://schemas.openxmlformats.org/drawingml/2006/chart">
            <c:chart xmlns:r="http://schemas.openxmlformats.org/officeDocument/2006/relationships" xmlns:c="http://schemas.openxmlformats.org/drawingml/2006/chart" r:id="Rde91803e0b054919"/>
          </a:graphicData>
        </a:graphic>
      </p:graphicFrame>
      <p:sp>
        <p:nvSpPr>
          <p:cNvPr id="7" name="Break-even">
            <a:extLst xmlns:a="http://schemas.openxmlformats.org/drawingml/2006/main">
              <a:ext uri="{FF2B5EF4-FFF2-40B4-BE49-F238E27FC236}">
                <a16:creationId xmlns:a16="http://schemas.microsoft.com/office/drawing/2014/main" id="{F0A89930-868C-4E2F-9917-2D109CDD10E5}"/>
              </a:ext>
            </a:extLst>
          </p:cNvPr>
          <p:cNvSpPr>
            <a:spLocks xmlns:a="http://schemas.openxmlformats.org/drawingml/2006/main" noGrp="1"/>
          </p:cNvSpPr>
          <p:nvPr/>
        </p:nvSpPr>
        <p:spPr>
          <a:xfrm xmlns:a="http://schemas.openxmlformats.org/drawingml/2006/main">
            <a:off x="11525250" y="273367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Break-even</a:t>
            </a:r>
          </a:p>
        </p:txBody>
      </p:sp>
      <p:sp>
        <p:nvSpPr>
          <p:cNvPr id="8" name="40 badges&#10;TO = TK = € 144">
            <a:extLst xmlns:a="http://schemas.openxmlformats.org/drawingml/2006/main">
              <a:ext uri="{FF2B5EF4-FFF2-40B4-BE49-F238E27FC236}">
                <a16:creationId xmlns:a16="http://schemas.microsoft.com/office/drawing/2014/main" id="{0F955F1D-96A4-4210-9D9F-0EB266D770ED}"/>
              </a:ext>
            </a:extLst>
          </p:cNvPr>
          <p:cNvSpPr>
            <a:spLocks xmlns:a="http://schemas.openxmlformats.org/drawingml/2006/main" noGrp="1"/>
          </p:cNvSpPr>
          <p:nvPr/>
        </p:nvSpPr>
        <p:spPr>
          <a:xfrm xmlns:a="http://schemas.openxmlformats.org/drawingml/2006/main">
            <a:off x="11525250" y="3409950"/>
            <a:ext cx="31432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40 badges</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TO = TK = € 144</a:t>
            </a:r>
          </a:p>
        </p:txBody>
      </p:sp>
      <p:sp>
        <p:nvSpPr>
          <p:cNvPr id="9" name="Bij 80 badges">
            <a:extLst xmlns:a="http://schemas.openxmlformats.org/drawingml/2006/main">
              <a:ext uri="{FF2B5EF4-FFF2-40B4-BE49-F238E27FC236}">
                <a16:creationId xmlns:a16="http://schemas.microsoft.com/office/drawing/2014/main" id="{F71AC7A0-3F83-4F7E-B984-06AC2346DFC6}"/>
              </a:ext>
            </a:extLst>
          </p:cNvPr>
          <p:cNvSpPr>
            <a:spLocks xmlns:a="http://schemas.openxmlformats.org/drawingml/2006/main" noGrp="1"/>
          </p:cNvSpPr>
          <p:nvPr/>
        </p:nvSpPr>
        <p:spPr>
          <a:xfrm xmlns:a="http://schemas.openxmlformats.org/drawingml/2006/main">
            <a:off x="11525250" y="5048250"/>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20665B"/>
                </a:solidFill>
                <a:latin typeface="Arial"/>
                <a:ea typeface="Arial"/>
                <a:cs typeface="Arial"/>
              </a:defRPr>
            </a:pPr>
            <a:r>
              <a:rPr sz="2625" b="1">
                <a:solidFill>
                  <a:srgbClr val="20665B"/>
                </a:solidFill>
                <a:latin typeface="Arial"/>
                <a:ea typeface="Arial"/>
                <a:cs typeface="Arial"/>
              </a:rPr>
              <a:t>Bij 80 badges</a:t>
            </a:r>
          </a:p>
        </p:txBody>
      </p:sp>
      <p:sp>
        <p:nvSpPr>
          <p:cNvPr id="10" name="€ 288 − € 192&#10;= € 96 winst&#10;per dag">
            <a:extLst xmlns:a="http://schemas.openxmlformats.org/drawingml/2006/main">
              <a:ext uri="{FF2B5EF4-FFF2-40B4-BE49-F238E27FC236}">
                <a16:creationId xmlns:a16="http://schemas.microsoft.com/office/drawing/2014/main" id="{E807B2AE-D146-4204-902C-0818768908D2}"/>
              </a:ext>
            </a:extLst>
          </p:cNvPr>
          <p:cNvSpPr>
            <a:spLocks xmlns:a="http://schemas.openxmlformats.org/drawingml/2006/main" noGrp="1"/>
          </p:cNvSpPr>
          <p:nvPr/>
        </p:nvSpPr>
        <p:spPr>
          <a:xfrm xmlns:a="http://schemas.openxmlformats.org/drawingml/2006/main">
            <a:off x="11525250" y="5791200"/>
            <a:ext cx="3143250" cy="1533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€ 288 − € 192</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 € 96 winst</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per dag</a:t>
            </a:r>
          </a:p>
        </p:txBody>
      </p:sp>
    </p:spTree>
    <p:extLst>
      <p:ext uri="{BB962C8B-B14F-4D97-AF65-F5344CB8AC3E}">
        <p14:creationId xmlns:p14="http://schemas.microsoft.com/office/powerpoint/2010/main" val="144651100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4 Gemengde opgaven">
            <a:extLst xmlns:a="http://schemas.openxmlformats.org/drawingml/2006/main">
              <a:ext uri="{FF2B5EF4-FFF2-40B4-BE49-F238E27FC236}">
                <a16:creationId xmlns:a16="http://schemas.microsoft.com/office/drawing/2014/main" id="{BE6C20C5-455F-4805-A500-C0684239243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§2.1.4 Gemengde opgaven</a:t>
            </a:r>
          </a:p>
        </p:txBody>
      </p:sp>
      <p:sp>
        <p:nvSpPr>
          <p:cNvPr id="2" name="">
            <a:extLst xmlns:a="http://schemas.openxmlformats.org/drawingml/2006/main">
              <a:ext uri="{FF2B5EF4-FFF2-40B4-BE49-F238E27FC236}">
                <a16:creationId xmlns:a16="http://schemas.microsoft.com/office/drawing/2014/main" id="{740D76AB-FFD7-4C47-9A48-7A828C4C593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a:extLst xmlns:a="http://schemas.openxmlformats.org/drawingml/2006/main">
              <a:ext uri="{FF2B5EF4-FFF2-40B4-BE49-F238E27FC236}">
                <a16:creationId xmlns:a16="http://schemas.microsoft.com/office/drawing/2014/main" id="{80CFBA04-FFE6-4FC1-89C6-C21DBD9BFAD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a:t>
            </a:r>
          </a:p>
        </p:txBody>
      </p:sp>
      <p:sp>
        <p:nvSpPr>
          <p:cNvPr id="4" name="6">
            <a:extLst xmlns:a="http://schemas.openxmlformats.org/drawingml/2006/main">
              <a:ext uri="{FF2B5EF4-FFF2-40B4-BE49-F238E27FC236}">
                <a16:creationId xmlns:a16="http://schemas.microsoft.com/office/drawing/2014/main" id="{43FD3881-8649-4B78-8555-74E2D591928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phase">
            <a:extLst xmlns:a="http://schemas.openxmlformats.org/drawingml/2006/main">
              <a:ext uri="{FF2B5EF4-FFF2-40B4-BE49-F238E27FC236}">
                <a16:creationId xmlns:a16="http://schemas.microsoft.com/office/drawing/2014/main" id="{42717445-60F2-4B37-87FE-6A82F943D9E5}"/>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C26ED6A7-5CFF-4010-96EA-2311ABD74520}"/>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939F91B4-8D31-4073-B80A-72D1A7289EC8}"/>
              </a:ext>
            </a:extLst>
          </p:cNvPr>
          <p:cNvSpPr>
            <a:spLocks xmlns:a="http://schemas.openxmlformats.org/drawingml/2006/main" noGrp="1"/>
          </p:cNvSpPr>
          <p:nvPr/>
        </p:nvSpPr>
        <p:spPr>
          <a:xfrm xmlns:a="http://schemas.openxmlformats.org/drawingml/2006/main">
            <a:off x="571500" y="2324100"/>
            <a:ext cx="4572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4D25C530-544A-4206-B408-FE40A7084845}"/>
              </a:ext>
            </a:extLst>
          </p:cNvPr>
          <p:cNvSpPr>
            <a:spLocks xmlns:a="http://schemas.openxmlformats.org/drawingml/2006/main" noGrp="1"/>
          </p:cNvSpPr>
          <p:nvPr/>
        </p:nvSpPr>
        <p:spPr>
          <a:xfrm xmlns:a="http://schemas.openxmlformats.org/drawingml/2006/main">
            <a:off x="1104900" y="2324100"/>
            <a:ext cx="74199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pen en rekenmachine.</a:t>
            </a:r>
          </a:p>
        </p:txBody>
      </p:sp>
      <p:sp>
        <p:nvSpPr>
          <p:cNvPr id="9" name="route-number-2">
            <a:extLst xmlns:a="http://schemas.openxmlformats.org/drawingml/2006/main">
              <a:ext uri="{FF2B5EF4-FFF2-40B4-BE49-F238E27FC236}">
                <a16:creationId xmlns:a16="http://schemas.microsoft.com/office/drawing/2014/main" id="{BA9DD817-67AE-4AA8-9055-1B80F0C1B641}"/>
              </a:ext>
            </a:extLst>
          </p:cNvPr>
          <p:cNvSpPr>
            <a:spLocks xmlns:a="http://schemas.openxmlformats.org/drawingml/2006/main" noGrp="1"/>
          </p:cNvSpPr>
          <p:nvPr/>
        </p:nvSpPr>
        <p:spPr>
          <a:xfrm xmlns:a="http://schemas.openxmlformats.org/drawingml/2006/main">
            <a:off x="571500" y="3257550"/>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B98FF881-78B9-4414-AF53-3654FBB412D5}"/>
              </a:ext>
            </a:extLst>
          </p:cNvPr>
          <p:cNvSpPr>
            <a:spLocks xmlns:a="http://schemas.openxmlformats.org/drawingml/2006/main" noGrp="1"/>
          </p:cNvSpPr>
          <p:nvPr/>
        </p:nvSpPr>
        <p:spPr>
          <a:xfrm xmlns:a="http://schemas.openxmlformats.org/drawingml/2006/main">
            <a:off x="1104900" y="3257550"/>
            <a:ext cx="74199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1F82D156-2CCF-4399-8EA3-EEA4C728C6AD}"/>
              </a:ext>
            </a:extLst>
          </p:cNvPr>
          <p:cNvSpPr>
            <a:spLocks xmlns:a="http://schemas.openxmlformats.org/drawingml/2006/main" noGrp="1"/>
          </p:cNvSpPr>
          <p:nvPr/>
        </p:nvSpPr>
        <p:spPr>
          <a:xfrm xmlns:a="http://schemas.openxmlformats.org/drawingml/2006/main">
            <a:off x="571500" y="3829050"/>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9E0B371A-DD1A-4348-B3E8-998F9D949E1F}"/>
              </a:ext>
            </a:extLst>
          </p:cNvPr>
          <p:cNvSpPr>
            <a:spLocks xmlns:a="http://schemas.openxmlformats.org/drawingml/2006/main" noGrp="1"/>
          </p:cNvSpPr>
          <p:nvPr/>
        </p:nvSpPr>
        <p:spPr>
          <a:xfrm xmlns:a="http://schemas.openxmlformats.org/drawingml/2006/main">
            <a:off x="1104900" y="3829050"/>
            <a:ext cx="74199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3" name="route-number-4">
            <a:extLst xmlns:a="http://schemas.openxmlformats.org/drawingml/2006/main">
              <a:ext uri="{FF2B5EF4-FFF2-40B4-BE49-F238E27FC236}">
                <a16:creationId xmlns:a16="http://schemas.microsoft.com/office/drawing/2014/main" id="{50456FAA-5BDF-4BAB-BB0A-4241FC03FF65}"/>
              </a:ext>
            </a:extLst>
          </p:cNvPr>
          <p:cNvSpPr>
            <a:spLocks xmlns:a="http://schemas.openxmlformats.org/drawingml/2006/main" noGrp="1"/>
          </p:cNvSpPr>
          <p:nvPr/>
        </p:nvSpPr>
        <p:spPr>
          <a:xfrm xmlns:a="http://schemas.openxmlformats.org/drawingml/2006/main">
            <a:off x="571500" y="4438650"/>
            <a:ext cx="4572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407AE87E-0BBC-4A22-A651-C8BF3D96F694}"/>
              </a:ext>
            </a:extLst>
          </p:cNvPr>
          <p:cNvSpPr>
            <a:spLocks xmlns:a="http://schemas.openxmlformats.org/drawingml/2006/main" noGrp="1"/>
          </p:cNvSpPr>
          <p:nvPr/>
        </p:nvSpPr>
        <p:spPr>
          <a:xfrm xmlns:a="http://schemas.openxmlformats.org/drawingml/2006/main">
            <a:off x="1104900" y="4438650"/>
            <a:ext cx="741997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Werk verder aan de gemengde opgaven, stel vragen en kijk je antwoorden na.</a:t>
            </a:r>
          </a:p>
        </p:txBody>
      </p:sp>
      <p:sp>
        <p:nvSpPr>
          <p:cNvPr id="15" name="route-number-5">
            <a:extLst xmlns:a="http://schemas.openxmlformats.org/drawingml/2006/main">
              <a:ext uri="{FF2B5EF4-FFF2-40B4-BE49-F238E27FC236}">
                <a16:creationId xmlns:a16="http://schemas.microsoft.com/office/drawing/2014/main" id="{45A31954-8EE5-44FF-B058-DB3C40EDAE77}"/>
              </a:ext>
            </a:extLst>
          </p:cNvPr>
          <p:cNvSpPr>
            <a:spLocks xmlns:a="http://schemas.openxmlformats.org/drawingml/2006/main" noGrp="1"/>
          </p:cNvSpPr>
          <p:nvPr/>
        </p:nvSpPr>
        <p:spPr>
          <a:xfrm xmlns:a="http://schemas.openxmlformats.org/drawingml/2006/main">
            <a:off x="571500" y="5715000"/>
            <a:ext cx="457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A020CB8A-5FE5-4DC9-92FF-61169193B61A}"/>
              </a:ext>
            </a:extLst>
          </p:cNvPr>
          <p:cNvSpPr>
            <a:spLocks xmlns:a="http://schemas.openxmlformats.org/drawingml/2006/main" noGrp="1"/>
          </p:cNvSpPr>
          <p:nvPr/>
        </p:nvSpPr>
        <p:spPr>
          <a:xfrm xmlns:a="http://schemas.openxmlformats.org/drawingml/2006/main">
            <a:off x="1104900" y="5715000"/>
            <a:ext cx="74199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0CA7112F-EA12-40CD-8B5A-33974D1F31F8}"/>
              </a:ext>
            </a:extLst>
          </p:cNvPr>
          <p:cNvSpPr>
            <a:spLocks xmlns:a="http://schemas.openxmlformats.org/drawingml/2006/main" noGrp="1"/>
          </p:cNvSpPr>
          <p:nvPr/>
        </p:nvSpPr>
        <p:spPr>
          <a:xfrm xmlns:a="http://schemas.openxmlformats.org/drawingml/2006/main">
            <a:off x="571500" y="65151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55ECFB1E-7926-454D-B2CA-1672A428A82D}"/>
              </a:ext>
            </a:extLst>
          </p:cNvPr>
          <p:cNvSpPr>
            <a:spLocks xmlns:a="http://schemas.openxmlformats.org/drawingml/2006/main" noGrp="1"/>
          </p:cNvSpPr>
          <p:nvPr/>
        </p:nvSpPr>
        <p:spPr>
          <a:xfrm xmlns:a="http://schemas.openxmlformats.org/drawingml/2006/main">
            <a:off x="1104900" y="65151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5.</a:t>
            </a:r>
          </a:p>
        </p:txBody>
      </p:sp>
      <p:sp>
        <p:nvSpPr>
          <p:cNvPr id="19" name="route-number-7">
            <a:extLst xmlns:a="http://schemas.openxmlformats.org/drawingml/2006/main">
              <a:ext uri="{FF2B5EF4-FFF2-40B4-BE49-F238E27FC236}">
                <a16:creationId xmlns:a16="http://schemas.microsoft.com/office/drawing/2014/main" id="{F59FCDE3-C077-427F-A0E8-031321E40EDA}"/>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964F10A0-29BD-4BFC-97DB-2FE99E96C9C7}"/>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332B6760-6007-4EDF-8B96-4481356F0989}"/>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367FEFAC-7FF8-488F-9331-F791419B04E1}"/>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Bron en grootheid kiezen;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rekenen en grafieken verbinden;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uitspraken onderbouwen.</a:t>
            </a:r>
          </a:p>
        </p:txBody>
      </p:sp>
      <p:sp>
        <p:nvSpPr>
          <p:cNvPr id="23" name="">
            <a:extLst xmlns:a="http://schemas.openxmlformats.org/drawingml/2006/main">
              <a:ext uri="{FF2B5EF4-FFF2-40B4-BE49-F238E27FC236}">
                <a16:creationId xmlns:a16="http://schemas.microsoft.com/office/drawing/2014/main" id="{523B7A83-6728-4E0C-BA7A-4496D568261D}"/>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E9521E96-7404-4C97-9F90-8E0534B87025}"/>
              </a:ext>
            </a:extLst>
          </p:cNvPr>
          <p:cNvSpPr>
            <a:spLocks xmlns:a="http://schemas.openxmlformats.org/drawingml/2006/main" noGrp="1"/>
          </p:cNvSpPr>
          <p:nvPr/>
        </p:nvSpPr>
        <p:spPr>
          <a:xfrm xmlns:a="http://schemas.openxmlformats.org/drawingml/2006/main">
            <a:off x="9258300" y="38100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1F869043-B0B6-4917-BA9F-027C2855ECD4}"/>
              </a:ext>
            </a:extLst>
          </p:cNvPr>
          <p:cNvSpPr>
            <a:spLocks xmlns:a="http://schemas.openxmlformats.org/drawingml/2006/main" noGrp="1"/>
          </p:cNvSpPr>
          <p:nvPr/>
        </p:nvSpPr>
        <p:spPr>
          <a:xfrm xmlns:a="http://schemas.openxmlformats.org/drawingml/2006/main">
            <a:off x="9258300" y="4305300"/>
            <a:ext cx="5381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Pagina 29</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Opgave 1</a:t>
            </a:r>
          </a:p>
        </p:txBody>
      </p:sp>
      <p:sp>
        <p:nvSpPr>
          <p:cNvPr id="26" name="">
            <a:extLst xmlns:a="http://schemas.openxmlformats.org/drawingml/2006/main">
              <a:ext uri="{FF2B5EF4-FFF2-40B4-BE49-F238E27FC236}">
                <a16:creationId xmlns:a16="http://schemas.microsoft.com/office/drawing/2014/main" id="{344D346A-D340-42D3-B547-0B94CE3F560A}"/>
              </a:ext>
            </a:extLst>
          </p:cNvPr>
          <p:cNvSpPr>
            <a:spLocks xmlns:a="http://schemas.openxmlformats.org/drawingml/2006/main" noGrp="1"/>
          </p:cNvSpPr>
          <p:nvPr/>
        </p:nvSpPr>
        <p:spPr>
          <a:xfrm xmlns:a="http://schemas.openxmlformats.org/drawingml/2006/main">
            <a:off x="9258300" y="525780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D8D9CBEB-1096-432F-962C-D06D2FBC95EB}"/>
              </a:ext>
            </a:extLst>
          </p:cNvPr>
          <p:cNvSpPr>
            <a:spLocks xmlns:a="http://schemas.openxmlformats.org/drawingml/2006/main" noGrp="1"/>
          </p:cNvSpPr>
          <p:nvPr/>
        </p:nvSpPr>
        <p:spPr>
          <a:xfrm xmlns:a="http://schemas.openxmlformats.org/drawingml/2006/main">
            <a:off x="9258300" y="54959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FCBF7ADA-16D6-4F9F-9010-EA765EF0FC31}"/>
              </a:ext>
            </a:extLst>
          </p:cNvPr>
          <p:cNvSpPr>
            <a:spLocks xmlns:a="http://schemas.openxmlformats.org/drawingml/2006/main" noGrp="1"/>
          </p:cNvSpPr>
          <p:nvPr/>
        </p:nvSpPr>
        <p:spPr>
          <a:xfrm xmlns:a="http://schemas.openxmlformats.org/drawingml/2006/main">
            <a:off x="9258300" y="6019800"/>
            <a:ext cx="5381625"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§2.1.4 · Opgaven 1 t/m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1 t/m 4 · Doel: 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6: Bonus / Denkertje</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7: Herhaling</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66550344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5 · SmoothBox op het schoolfestival">
            <a:extLst xmlns:a="http://schemas.openxmlformats.org/drawingml/2006/main">
              <a:ext uri="{FF2B5EF4-FFF2-40B4-BE49-F238E27FC236}">
                <a16:creationId xmlns:a16="http://schemas.microsoft.com/office/drawing/2014/main" id="{0BA59930-7F34-4D21-9370-1B6E2398711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SmoothBox op het schoolfestival</a:t>
            </a:r>
          </a:p>
        </p:txBody>
      </p:sp>
      <p:sp>
        <p:nvSpPr>
          <p:cNvPr id="2" name="">
            <a:extLst xmlns:a="http://schemas.openxmlformats.org/drawingml/2006/main">
              <a:ext uri="{FF2B5EF4-FFF2-40B4-BE49-F238E27FC236}">
                <a16:creationId xmlns:a16="http://schemas.microsoft.com/office/drawing/2014/main" id="{7BE5A875-C878-45DD-AB95-60313BF2FEF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D19625E6-0555-4CE3-A3A8-A348951DBC3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7">
            <a:extLst xmlns:a="http://schemas.openxmlformats.org/drawingml/2006/main">
              <a:ext uri="{FF2B5EF4-FFF2-40B4-BE49-F238E27FC236}">
                <a16:creationId xmlns:a16="http://schemas.microsoft.com/office/drawing/2014/main" id="{3E9F40B2-5CD0-4B64-86F4-A065A2ACBB2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SmoothBox verkoopt lunchboxen op twee festivaldagen.">
            <a:extLst xmlns:a="http://schemas.openxmlformats.org/drawingml/2006/main">
              <a:ext uri="{FF2B5EF4-FFF2-40B4-BE49-F238E27FC236}">
                <a16:creationId xmlns:a16="http://schemas.microsoft.com/office/drawing/2014/main" id="{015E9ADE-9955-4A2E-B032-DA7CDB2BE629}"/>
              </a:ext>
            </a:extLst>
          </p:cNvPr>
          <p:cNvSpPr>
            <a:spLocks xmlns:a="http://schemas.openxmlformats.org/drawingml/2006/main" noGrp="1"/>
          </p:cNvSpPr>
          <p:nvPr/>
        </p:nvSpPr>
        <p:spPr>
          <a:xfrm xmlns:a="http://schemas.openxmlformats.org/drawingml/2006/main">
            <a:off x="571500" y="176212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SmoothBox verkoopt lunchboxen op twee festivaldagen.</a:t>
            </a:r>
          </a:p>
        </p:txBody>
      </p:sp>
      <p:sp>
        <p:nvSpPr>
          <p:cNvPr id="6" name="De capaciteit is op beide dagen 1.000 lunchboxen per dag.&#10;Al">
            <a:extLst xmlns:a="http://schemas.openxmlformats.org/drawingml/2006/main">
              <a:ext uri="{FF2B5EF4-FFF2-40B4-BE49-F238E27FC236}">
                <a16:creationId xmlns:a16="http://schemas.microsoft.com/office/drawing/2014/main" id="{F594996C-81EB-48FD-AA7E-68183BE637D2}"/>
              </a:ext>
            </a:extLst>
          </p:cNvPr>
          <p:cNvSpPr>
            <a:spLocks xmlns:a="http://schemas.openxmlformats.org/drawingml/2006/main" noGrp="1"/>
          </p:cNvSpPr>
          <p:nvPr/>
        </p:nvSpPr>
        <p:spPr>
          <a:xfrm xmlns:a="http://schemas.openxmlformats.org/drawingml/2006/main">
            <a:off x="571500" y="2667000"/>
            <a:ext cx="1409700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De capaciteit is op beide dagen 1.000 lunchboxen per dag.</a:t>
            </a:r>
          </a:p>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Alle gemaakte lunchboxen worden voor € 5 per stuk verkocht.</a:t>
            </a:r>
          </a:p>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Gebruik het juiste dagmenu bij elke vraag.</a:t>
            </a:r>
          </a:p>
        </p:txBody>
      </p:sp>
      <p:sp>
        <p:nvSpPr>
          <p:cNvPr id="7" name="">
            <a:extLst xmlns:a="http://schemas.openxmlformats.org/drawingml/2006/main">
              <a:ext uri="{FF2B5EF4-FFF2-40B4-BE49-F238E27FC236}">
                <a16:creationId xmlns:a16="http://schemas.microsoft.com/office/drawing/2014/main" id="{7467FB0A-ACC5-442B-9BF8-0052D64BA100}"/>
              </a:ext>
            </a:extLst>
          </p:cNvPr>
          <p:cNvSpPr>
            <a:spLocks xmlns:a="http://schemas.openxmlformats.org/drawingml/2006/main" noGrp="1"/>
          </p:cNvSpPr>
          <p:nvPr/>
        </p:nvSpPr>
        <p:spPr>
          <a:xfrm xmlns:a="http://schemas.openxmlformats.org/drawingml/2006/main">
            <a:off x="571500" y="4810125"/>
            <a:ext cx="14097000" cy="0"/>
          </a:xfrm>
          <a:prstGeom xmlns:a="http://schemas.openxmlformats.org/drawingml/2006/main" prst="line">
            <a:avLst/>
          </a:prstGeom>
          <a:ln xmlns:a="http://schemas.openxmlformats.org/drawingml/2006/main" w="19050">
            <a:solidFill>
              <a:srgbClr val="C6D2DB"/>
            </a:solidFill>
          </a:ln>
        </p:spPr>
      </p:sp>
      <p:sp>
        <p:nvSpPr>
          <p:cNvPr id="8" name="Bron A · Vrijdag: het gewone menu">
            <a:extLst xmlns:a="http://schemas.openxmlformats.org/drawingml/2006/main">
              <a:ext uri="{FF2B5EF4-FFF2-40B4-BE49-F238E27FC236}">
                <a16:creationId xmlns:a16="http://schemas.microsoft.com/office/drawing/2014/main" id="{D6BF2B45-90CB-4D77-84D9-5A3362C83768}"/>
              </a:ext>
            </a:extLst>
          </p:cNvPr>
          <p:cNvSpPr>
            <a:spLocks xmlns:a="http://schemas.openxmlformats.org/drawingml/2006/main" noGrp="1"/>
          </p:cNvSpPr>
          <p:nvPr/>
        </p:nvSpPr>
        <p:spPr>
          <a:xfrm xmlns:a="http://schemas.openxmlformats.org/drawingml/2006/main">
            <a:off x="571500" y="525780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A94D16"/>
                </a:solidFill>
                <a:latin typeface="Arial"/>
                <a:ea typeface="Arial"/>
                <a:cs typeface="Arial"/>
              </a:defRPr>
            </a:pPr>
            <a:r>
              <a:rPr sz="3000" b="1">
                <a:solidFill>
                  <a:srgbClr val="A94D16"/>
                </a:solidFill>
                <a:latin typeface="Arial"/>
                <a:ea typeface="Arial"/>
                <a:cs typeface="Arial"/>
              </a:rPr>
              <a:t>Bron A · Vrijdag: het gewone menu</a:t>
            </a:r>
          </a:p>
        </p:txBody>
      </p:sp>
      <p:sp>
        <p:nvSpPr>
          <p:cNvPr id="9" name="De totale constante kosten zijn € 1.200 per dag. De variabel">
            <a:extLst xmlns:a="http://schemas.openxmlformats.org/drawingml/2006/main">
              <a:ext uri="{FF2B5EF4-FFF2-40B4-BE49-F238E27FC236}">
                <a16:creationId xmlns:a16="http://schemas.microsoft.com/office/drawing/2014/main" id="{F3C09160-B21A-452B-8DEF-4FF5D26CC39A}"/>
              </a:ext>
            </a:extLst>
          </p:cNvPr>
          <p:cNvSpPr>
            <a:spLocks xmlns:a="http://schemas.openxmlformats.org/drawingml/2006/main" noGrp="1"/>
          </p:cNvSpPr>
          <p:nvPr/>
        </p:nvSpPr>
        <p:spPr>
          <a:xfrm xmlns:a="http://schemas.openxmlformats.org/drawingml/2006/main">
            <a:off x="571500" y="6096000"/>
            <a:ext cx="140970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De totale constante kosten zijn € 1.200 per dag. De variabele kosten zijn € 2 per lunchbox. Deze bedragen gelden tot en met de capaciteit. Er worden 4.000 festivalbezoekers verwacht.</a:t>
            </a:r>
          </a:p>
        </p:txBody>
      </p:sp>
    </p:spTree>
    <p:extLst>
      <p:ext uri="{BB962C8B-B14F-4D97-AF65-F5344CB8AC3E}">
        <p14:creationId xmlns:p14="http://schemas.microsoft.com/office/powerpoint/2010/main" val="7117437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5 · Bron B: zaterdag">
            <a:extLst xmlns:a="http://schemas.openxmlformats.org/drawingml/2006/main">
              <a:ext uri="{FF2B5EF4-FFF2-40B4-BE49-F238E27FC236}">
                <a16:creationId xmlns:a16="http://schemas.microsoft.com/office/drawing/2014/main" id="{51AE9B8D-0323-43F9-8B33-7CA884735E1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Bron B: zaterdag</a:t>
            </a:r>
          </a:p>
        </p:txBody>
      </p:sp>
      <p:sp>
        <p:nvSpPr>
          <p:cNvPr id="2" name="">
            <a:extLst xmlns:a="http://schemas.openxmlformats.org/drawingml/2006/main">
              <a:ext uri="{FF2B5EF4-FFF2-40B4-BE49-F238E27FC236}">
                <a16:creationId xmlns:a16="http://schemas.microsoft.com/office/drawing/2014/main" id="{9A9311C9-61B9-45FC-B31B-698B498F211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69B91F9C-83E1-4FB1-8903-0A40802C67A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8">
            <a:extLst xmlns:a="http://schemas.openxmlformats.org/drawingml/2006/main">
              <a:ext uri="{FF2B5EF4-FFF2-40B4-BE49-F238E27FC236}">
                <a16:creationId xmlns:a16="http://schemas.microsoft.com/office/drawing/2014/main" id="{908E1A52-56B6-427E-8945-C260C7639E3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De constante kosten blijven € 1.200 per dag. Dit menu vraagt">
            <a:extLst xmlns:a="http://schemas.openxmlformats.org/drawingml/2006/main">
              <a:ext uri="{FF2B5EF4-FFF2-40B4-BE49-F238E27FC236}">
                <a16:creationId xmlns:a16="http://schemas.microsoft.com/office/drawing/2014/main" id="{98CFB805-A467-4624-892A-AE1862825041}"/>
              </a:ext>
            </a:extLst>
          </p:cNvPr>
          <p:cNvSpPr>
            <a:spLocks xmlns:a="http://schemas.openxmlformats.org/drawingml/2006/main" noGrp="1"/>
          </p:cNvSpPr>
          <p:nvPr/>
        </p:nvSpPr>
        <p:spPr>
          <a:xfrm xmlns:a="http://schemas.openxmlformats.org/drawingml/2006/main">
            <a:off x="571500" y="1762125"/>
            <a:ext cx="14097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De constante kosten blijven € 1.200 per dag. Dit menu vraagt bij meer productie</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steeds meer betaald werk per extra lunchbox. De variabele kosten per lunchbox</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zijn daarom niet steeds gelijk.</a:t>
            </a:r>
          </a:p>
        </p:txBody>
      </p:sp>
      <p:sp>
        <p:nvSpPr>
          <p:cNvPr id="6" name="Gebruik voor zaterdag deze totale bedragen, niet de € 2 uit ">
            <a:extLst xmlns:a="http://schemas.openxmlformats.org/drawingml/2006/main">
              <a:ext uri="{FF2B5EF4-FFF2-40B4-BE49-F238E27FC236}">
                <a16:creationId xmlns:a16="http://schemas.microsoft.com/office/drawing/2014/main" id="{24676E42-4626-4ED7-9BB3-8B12DC6AFB60}"/>
              </a:ext>
            </a:extLst>
          </p:cNvPr>
          <p:cNvSpPr>
            <a:spLocks xmlns:a="http://schemas.openxmlformats.org/drawingml/2006/main" noGrp="1"/>
          </p:cNvSpPr>
          <p:nvPr/>
        </p:nvSpPr>
        <p:spPr>
          <a:xfrm xmlns:a="http://schemas.openxmlformats.org/drawingml/2006/main">
            <a:off x="571500" y="3648075"/>
            <a:ext cx="14097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Gebruik voor zaterdag deze totale bedragen, niet de € 2 uit bron A.</a:t>
            </a:r>
          </a:p>
        </p:txBody>
      </p:sp>
      <p:graphicFrame>
        <p:nvGraphicFramePr>
          <p:cNvPr id="14" name=""/>
          <p:cNvGraphicFramePr/>
          <p:nvPr/>
        </p:nvGraphicFramePr>
        <p:xfrm>
          <a:off xmlns:a="http://schemas.openxmlformats.org/drawingml/2006/main" x="571500" y="4762500"/>
          <a:ext xmlns:a="http://schemas.openxmlformats.org/drawingml/2006/main" cx="14097000" cy="2943225"/>
        </p:xfrm>
        <a:graphic xmlns:a="http://schemas.openxmlformats.org/drawingml/2006/main">
          <a:graphicData uri="http://schemas.openxmlformats.org/drawingml/2006/table">
            <a:tbl>
              <a:tblPr/>
              <a:tblGrid>
                <a:gridCol w="4762500"/>
                <a:gridCol w="4667250"/>
                <a:gridCol w="4667250"/>
              </a:tblGrid>
              <a:tr h="588645">
                <a:tc>
                  <a:txBody>
                    <a:bodyPr lIns="171450" tIns="95250" rIns="152400" bIns="95250"/>
                    <a:lstStyle/>
                    <a:p>
                      <a:r>
                        <a:rPr sz="2400" b="1">
                          <a:solidFill>
                            <a:srgbClr val="FFFFFF"/>
                          </a:solidFill>
                          <a:latin typeface="Arial"/>
                          <a:ea typeface="Arial"/>
                          <a:cs typeface="Arial"/>
                        </a:rPr>
                        <a:t>Q (lunchboxen per dag)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TK zaterdag (€ per dag)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TO zaterdag (€ per dag)</a:t>
                      </a:r>
                    </a:p>
                  </a:txBody>
                  <a:tcPr marL="91440" marR="91440" marT="45720" marB="45720" anchor="ctr">
                    <a:solidFill>
                      <a:srgbClr val="183247"/>
                    </a:solidFill>
                  </a:tcPr>
                </a:tc>
              </a:tr>
              <a:tr h="588645">
                <a:tc>
                  <a:txBody>
                    <a:bodyPr lIns="171450" tIns="95250" rIns="152400" bIns="95250"/>
                    <a:lstStyle/>
                    <a:p>
                      <a:r>
                        <a:rPr sz="2400" b="0">
                          <a:solidFill>
                            <a:srgbClr val="183247"/>
                          </a:solidFill>
                          <a:latin typeface="Arial"/>
                          <a:ea typeface="Arial"/>
                          <a:cs typeface="Arial"/>
                        </a:rPr>
                        <a:t>700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2.600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3.500</a:t>
                      </a:r>
                    </a:p>
                  </a:txBody>
                  <a:tcPr marL="91440" marR="91440" marT="45720" marB="45720" anchor="ctr">
                    <a:solidFill>
                      <a:srgbClr val="FFFFFF"/>
                    </a:solidFill>
                  </a:tcPr>
                </a:tc>
              </a:tr>
              <a:tr h="588645">
                <a:tc>
                  <a:txBody>
                    <a:bodyPr lIns="171450" tIns="95250" rIns="152400" bIns="95250"/>
                    <a:lstStyle/>
                    <a:p>
                      <a:r>
                        <a:rPr sz="2400" b="0">
                          <a:solidFill>
                            <a:srgbClr val="183247"/>
                          </a:solidFill>
                          <a:latin typeface="Arial"/>
                          <a:ea typeface="Arial"/>
                          <a:cs typeface="Arial"/>
                        </a:rPr>
                        <a:t>800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2.900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4.000</a:t>
                      </a:r>
                    </a:p>
                  </a:txBody>
                  <a:tcPr marL="91440" marR="91440" marT="45720" marB="45720" anchor="ctr">
                    <a:solidFill>
                      <a:srgbClr val="EFF4F7"/>
                    </a:solidFill>
                  </a:tcPr>
                </a:tc>
              </a:tr>
              <a:tr h="588645">
                <a:tc>
                  <a:txBody>
                    <a:bodyPr lIns="171450" tIns="95250" rIns="152400" bIns="95250"/>
                    <a:lstStyle/>
                    <a:p>
                      <a:r>
                        <a:rPr sz="2400" b="0">
                          <a:solidFill>
                            <a:srgbClr val="183247"/>
                          </a:solidFill>
                          <a:latin typeface="Arial"/>
                          <a:ea typeface="Arial"/>
                          <a:cs typeface="Arial"/>
                        </a:rPr>
                        <a:t>900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3.250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4.500</a:t>
                      </a:r>
                    </a:p>
                  </a:txBody>
                  <a:tcPr marL="91440" marR="91440" marT="45720" marB="45720" anchor="ctr">
                    <a:solidFill>
                      <a:srgbClr val="FFFFFF"/>
                    </a:solidFill>
                  </a:tcPr>
                </a:tc>
              </a:tr>
              <a:tr h="588645">
                <a:tc>
                  <a:txBody>
                    <a:bodyPr lIns="171450" tIns="95250" rIns="152400" bIns="95250"/>
                    <a:lstStyle/>
                    <a:p>
                      <a:r>
                        <a:rPr sz="2400" b="0">
                          <a:solidFill>
                            <a:srgbClr val="183247"/>
                          </a:solidFill>
                          <a:latin typeface="Arial"/>
                          <a:ea typeface="Arial"/>
                          <a:cs typeface="Arial"/>
                        </a:rPr>
                        <a:t>1.000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3.650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5.000</a:t>
                      </a:r>
                    </a:p>
                  </a:txBody>
                  <a:tcPr marL="91440" marR="91440" marT="45720" marB="45720" anchor="ctr">
                    <a:solidFill>
                      <a:srgbClr val="EFF4F7"/>
                    </a:solidFill>
                  </a:tcPr>
                </a:tc>
              </a:tr>
            </a:tbl>
          </a:graphicData>
        </a:graphic>
      </p:graphicFrame>
    </p:spTree>
    <p:extLst>
      <p:ext uri="{BB962C8B-B14F-4D97-AF65-F5344CB8AC3E}">
        <p14:creationId xmlns:p14="http://schemas.microsoft.com/office/powerpoint/2010/main" val="198703044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5 · Bron C: basisgrafiek">
            <a:extLst xmlns:a="http://schemas.openxmlformats.org/drawingml/2006/main">
              <a:ext uri="{FF2B5EF4-FFF2-40B4-BE49-F238E27FC236}">
                <a16:creationId xmlns:a16="http://schemas.microsoft.com/office/drawing/2014/main" id="{0C08A0B6-41F8-441A-9238-6F8E2694E58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Bron C: basisgrafiek</a:t>
            </a:r>
          </a:p>
        </p:txBody>
      </p:sp>
      <p:sp>
        <p:nvSpPr>
          <p:cNvPr id="2" name="">
            <a:extLst xmlns:a="http://schemas.openxmlformats.org/drawingml/2006/main">
              <a:ext uri="{FF2B5EF4-FFF2-40B4-BE49-F238E27FC236}">
                <a16:creationId xmlns:a16="http://schemas.microsoft.com/office/drawing/2014/main" id="{0BD05620-798D-410B-B187-B7241BE9AFD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8A241C01-3A35-47D1-8D6B-EC3F9BD010B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9">
            <a:extLst xmlns:a="http://schemas.openxmlformats.org/drawingml/2006/main">
              <a:ext uri="{FF2B5EF4-FFF2-40B4-BE49-F238E27FC236}">
                <a16:creationId xmlns:a16="http://schemas.microsoft.com/office/drawing/2014/main" id="{12EFE2A1-7490-4B88-9AB9-BA5ABF3C552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SmoothBox: twee festivaldagen, twee menu’s">
            <a:extLst xmlns:a="http://schemas.openxmlformats.org/drawingml/2006/main">
              <a:ext uri="{FF2B5EF4-FFF2-40B4-BE49-F238E27FC236}">
                <a16:creationId xmlns:a16="http://schemas.microsoft.com/office/drawing/2014/main" id="{14F81895-08E7-4D92-A81C-1BC582B0A4E8}"/>
              </a:ext>
            </a:extLst>
          </p:cNvPr>
          <p:cNvSpPr>
            <a:spLocks xmlns:a="http://schemas.openxmlformats.org/drawingml/2006/main" noGrp="1"/>
          </p:cNvSpPr>
          <p:nvPr/>
        </p:nvSpPr>
        <p:spPr>
          <a:xfrm xmlns:a="http://schemas.openxmlformats.org/drawingml/2006/main">
            <a:off x="571500" y="1714500"/>
            <a:ext cx="1409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SmoothBox: twee festivaldagen, twee menu’s</a:t>
            </a:r>
          </a:p>
        </p:txBody>
      </p:sp>
      <p:graphicFrame>
        <p:nvGraphicFramePr>
          <p:cNvPr id="16" name="Chart"/>
          <p:cNvGraphicFramePr/>
          <p:nvPr/>
        </p:nvGraphicFramePr>
        <p:xfrm>
          <a:off xmlns:a="http://schemas.openxmlformats.org/drawingml/2006/main" x="571500" y="2190750"/>
          <a:ext xmlns:a="http://schemas.openxmlformats.org/drawingml/2006/main" cx="10572750" cy="5591175"/>
        </p:xfrm>
        <a:graphic xmlns:a="http://schemas.openxmlformats.org/drawingml/2006/main">
          <a:graphicData uri="http://schemas.openxmlformats.org/drawingml/2006/chart">
            <c:chart xmlns:r="http://schemas.openxmlformats.org/officeDocument/2006/relationships" xmlns:c="http://schemas.openxmlformats.org/drawingml/2006/chart" r:id="R00896a55945b4c44"/>
          </a:graphicData>
        </a:graphic>
      </p:graphicFrame>
      <p:sp>
        <p:nvSpPr>
          <p:cNvPr id="7" name="Capaciteit">
            <a:extLst xmlns:a="http://schemas.openxmlformats.org/drawingml/2006/main">
              <a:ext uri="{FF2B5EF4-FFF2-40B4-BE49-F238E27FC236}">
                <a16:creationId xmlns:a16="http://schemas.microsoft.com/office/drawing/2014/main" id="{2B29401D-D1B4-4A81-A59D-9819E6E4F7C2}"/>
              </a:ext>
            </a:extLst>
          </p:cNvPr>
          <p:cNvSpPr>
            <a:spLocks xmlns:a="http://schemas.openxmlformats.org/drawingml/2006/main" noGrp="1"/>
          </p:cNvSpPr>
          <p:nvPr/>
        </p:nvSpPr>
        <p:spPr>
          <a:xfrm xmlns:a="http://schemas.openxmlformats.org/drawingml/2006/main">
            <a:off x="11525250" y="2857500"/>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Capaciteit</a:t>
            </a:r>
          </a:p>
        </p:txBody>
      </p:sp>
      <p:sp>
        <p:nvSpPr>
          <p:cNvPr id="8" name="1.000 lunchboxen&#10;per dag">
            <a:extLst xmlns:a="http://schemas.openxmlformats.org/drawingml/2006/main">
              <a:ext uri="{FF2B5EF4-FFF2-40B4-BE49-F238E27FC236}">
                <a16:creationId xmlns:a16="http://schemas.microsoft.com/office/drawing/2014/main" id="{58FD2AC8-322C-46CE-8104-EC62C9AB19F0}"/>
              </a:ext>
            </a:extLst>
          </p:cNvPr>
          <p:cNvSpPr>
            <a:spLocks xmlns:a="http://schemas.openxmlformats.org/drawingml/2006/main" noGrp="1"/>
          </p:cNvSpPr>
          <p:nvPr/>
        </p:nvSpPr>
        <p:spPr>
          <a:xfrm xmlns:a="http://schemas.openxmlformats.org/drawingml/2006/main">
            <a:off x="11525250" y="3619500"/>
            <a:ext cx="31432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1.000 lunchboxen</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per dag</a:t>
            </a:r>
          </a:p>
        </p:txBody>
      </p:sp>
      <p:sp>
        <p:nvSpPr>
          <p:cNvPr id="9" name="Zaterdag:">
            <a:extLst xmlns:a="http://schemas.openxmlformats.org/drawingml/2006/main">
              <a:ext uri="{FF2B5EF4-FFF2-40B4-BE49-F238E27FC236}">
                <a16:creationId xmlns:a16="http://schemas.microsoft.com/office/drawing/2014/main" id="{488368CD-AB53-4B8E-8300-D05256A90C97}"/>
              </a:ext>
            </a:extLst>
          </p:cNvPr>
          <p:cNvSpPr>
            <a:spLocks xmlns:a="http://schemas.openxmlformats.org/drawingml/2006/main" noGrp="1"/>
          </p:cNvSpPr>
          <p:nvPr/>
        </p:nvSpPr>
        <p:spPr>
          <a:xfrm xmlns:a="http://schemas.openxmlformats.org/drawingml/2006/main">
            <a:off x="11525250" y="5257800"/>
            <a:ext cx="314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20665B"/>
                </a:solidFill>
                <a:latin typeface="Arial"/>
                <a:ea typeface="Arial"/>
                <a:cs typeface="Arial"/>
              </a:defRPr>
            </a:pPr>
            <a:r>
              <a:rPr sz="2550" b="1">
                <a:solidFill>
                  <a:srgbClr val="20665B"/>
                </a:solidFill>
                <a:latin typeface="Arial"/>
                <a:ea typeface="Arial"/>
                <a:cs typeface="Arial"/>
              </a:rPr>
              <a:t>Zaterdag:</a:t>
            </a:r>
          </a:p>
        </p:txBody>
      </p:sp>
      <p:sp>
        <p:nvSpPr>
          <p:cNvPr id="10" name="alleen de punten&#10;uit bron B&#10;verbonden">
            <a:extLst xmlns:a="http://schemas.openxmlformats.org/drawingml/2006/main">
              <a:ext uri="{FF2B5EF4-FFF2-40B4-BE49-F238E27FC236}">
                <a16:creationId xmlns:a16="http://schemas.microsoft.com/office/drawing/2014/main" id="{A60DB71C-05BA-4562-B740-A484486795E1}"/>
              </a:ext>
            </a:extLst>
          </p:cNvPr>
          <p:cNvSpPr>
            <a:spLocks xmlns:a="http://schemas.openxmlformats.org/drawingml/2006/main" noGrp="1"/>
          </p:cNvSpPr>
          <p:nvPr/>
        </p:nvSpPr>
        <p:spPr>
          <a:xfrm xmlns:a="http://schemas.openxmlformats.org/drawingml/2006/main">
            <a:off x="11525250" y="5915025"/>
            <a:ext cx="3143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alleen de punten</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uit bron B</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verbonden</a:t>
            </a:r>
          </a:p>
        </p:txBody>
      </p:sp>
    </p:spTree>
    <p:extLst>
      <p:ext uri="{BB962C8B-B14F-4D97-AF65-F5344CB8AC3E}">
        <p14:creationId xmlns:p14="http://schemas.microsoft.com/office/powerpoint/2010/main" val="83701389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5 · Vragen a, b en c">
            <a:extLst xmlns:a="http://schemas.openxmlformats.org/drawingml/2006/main">
              <a:ext uri="{FF2B5EF4-FFF2-40B4-BE49-F238E27FC236}">
                <a16:creationId xmlns:a16="http://schemas.microsoft.com/office/drawing/2014/main" id="{9A8141C8-DBD3-4F0C-9713-311CACBB3F6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Vragen a, b en c</a:t>
            </a:r>
          </a:p>
        </p:txBody>
      </p:sp>
      <p:sp>
        <p:nvSpPr>
          <p:cNvPr id="2" name="">
            <a:extLst xmlns:a="http://schemas.openxmlformats.org/drawingml/2006/main">
              <a:ext uri="{FF2B5EF4-FFF2-40B4-BE49-F238E27FC236}">
                <a16:creationId xmlns:a16="http://schemas.microsoft.com/office/drawing/2014/main" id="{7FD05352-ADB4-4305-93E7-50050579F56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D925018B-9AE9-4ADB-91E1-E1A333F2632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10">
            <a:extLst xmlns:a="http://schemas.openxmlformats.org/drawingml/2006/main">
              <a:ext uri="{FF2B5EF4-FFF2-40B4-BE49-F238E27FC236}">
                <a16:creationId xmlns:a16="http://schemas.microsoft.com/office/drawing/2014/main" id="{D86C3173-24F2-4C93-A54C-64E64B64390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Gebruik het bronblad. Q is het aantal lunchboxen per dag.">
            <a:extLst xmlns:a="http://schemas.openxmlformats.org/drawingml/2006/main">
              <a:ext uri="{FF2B5EF4-FFF2-40B4-BE49-F238E27FC236}">
                <a16:creationId xmlns:a16="http://schemas.microsoft.com/office/drawing/2014/main" id="{D529A91F-0985-47F7-AD46-669E0D282100}"/>
              </a:ext>
            </a:extLst>
          </p:cNvPr>
          <p:cNvSpPr>
            <a:spLocks xmlns:a="http://schemas.openxmlformats.org/drawingml/2006/main" noGrp="1"/>
          </p:cNvSpPr>
          <p:nvPr/>
        </p:nvSpPr>
        <p:spPr>
          <a:xfrm xmlns:a="http://schemas.openxmlformats.org/drawingml/2006/main">
            <a:off x="571500" y="1752600"/>
            <a:ext cx="1409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Gebruik het bronblad. Q is het aantal lunchboxen per dag.</a:t>
            </a:r>
          </a:p>
        </p:txBody>
      </p:sp>
      <p:sp>
        <p:nvSpPr>
          <p:cNvPr id="6" name="a) Selecteer uit bron A de constante kosten, de variabele ko">
            <a:extLst xmlns:a="http://schemas.openxmlformats.org/drawingml/2006/main">
              <a:ext uri="{FF2B5EF4-FFF2-40B4-BE49-F238E27FC236}">
                <a16:creationId xmlns:a16="http://schemas.microsoft.com/office/drawing/2014/main" id="{EF675995-068C-46DA-89AC-6ECE27452ABC}"/>
              </a:ext>
            </a:extLst>
          </p:cNvPr>
          <p:cNvSpPr>
            <a:spLocks xmlns:a="http://schemas.openxmlformats.org/drawingml/2006/main" noGrp="1"/>
          </p:cNvSpPr>
          <p:nvPr/>
        </p:nvSpPr>
        <p:spPr>
          <a:xfrm xmlns:a="http://schemas.openxmlformats.org/drawingml/2006/main">
            <a:off x="571500" y="2590800"/>
            <a:ext cx="14097000" cy="2038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a) Selecteer uit bron A de constante kosten, de variabele kosten per lunchbox en</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de verkoopprijs. Leg uit welke totale kosten met Q veranderen en welke gelijk</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blijven. Noem ook het gegeven dat je niet nodig hebt voor TK en TO.</a:t>
            </a:r>
          </a:p>
        </p:txBody>
      </p:sp>
      <p:sp>
        <p:nvSpPr>
          <p:cNvPr id="7" name="">
            <a:extLst xmlns:a="http://schemas.openxmlformats.org/drawingml/2006/main">
              <a:ext uri="{FF2B5EF4-FFF2-40B4-BE49-F238E27FC236}">
                <a16:creationId xmlns:a16="http://schemas.microsoft.com/office/drawing/2014/main" id="{F3E3896C-393E-4EB0-95C0-0229460A2C9A}"/>
              </a:ext>
            </a:extLst>
          </p:cNvPr>
          <p:cNvSpPr>
            <a:spLocks xmlns:a="http://schemas.openxmlformats.org/drawingml/2006/main" noGrp="1"/>
          </p:cNvSpPr>
          <p:nvPr/>
        </p:nvSpPr>
        <p:spPr>
          <a:xfrm xmlns:a="http://schemas.openxmlformats.org/drawingml/2006/main">
            <a:off x="571500" y="4905375"/>
            <a:ext cx="14097000" cy="0"/>
          </a:xfrm>
          <a:prstGeom xmlns:a="http://schemas.openxmlformats.org/drawingml/2006/main" prst="line">
            <a:avLst/>
          </a:prstGeom>
          <a:ln xmlns:a="http://schemas.openxmlformats.org/drawingml/2006/main" w="19050">
            <a:solidFill>
              <a:srgbClr val="C6D2DB"/>
            </a:solidFill>
          </a:ln>
        </p:spPr>
      </p:sp>
      <p:sp>
        <p:nvSpPr>
          <p:cNvPr id="8" name="b) Stel voor vrijdag de functies voor TK en TO op. Bereken d">
            <a:extLst xmlns:a="http://schemas.openxmlformats.org/drawingml/2006/main">
              <a:ext uri="{FF2B5EF4-FFF2-40B4-BE49-F238E27FC236}">
                <a16:creationId xmlns:a16="http://schemas.microsoft.com/office/drawing/2014/main" id="{9A4731F1-4BA7-45BB-98E7-A10308C0E216}"/>
              </a:ext>
            </a:extLst>
          </p:cNvPr>
          <p:cNvSpPr>
            <a:spLocks xmlns:a="http://schemas.openxmlformats.org/drawingml/2006/main" noGrp="1"/>
          </p:cNvSpPr>
          <p:nvPr/>
        </p:nvSpPr>
        <p:spPr>
          <a:xfrm xmlns:a="http://schemas.openxmlformats.org/drawingml/2006/main">
            <a:off x="571500" y="5219700"/>
            <a:ext cx="1409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 Stel voor vrijdag de functies voor TK en TO op. Bereken de break-even-afzet.</a:t>
            </a:r>
          </a:p>
        </p:txBody>
      </p:sp>
      <p:sp>
        <p:nvSpPr>
          <p:cNvPr id="9" name="">
            <a:extLst xmlns:a="http://schemas.openxmlformats.org/drawingml/2006/main">
              <a:ext uri="{FF2B5EF4-FFF2-40B4-BE49-F238E27FC236}">
                <a16:creationId xmlns:a16="http://schemas.microsoft.com/office/drawing/2014/main" id="{AFE36EB4-1130-4CA6-94AA-0B28937BCA75}"/>
              </a:ext>
            </a:extLst>
          </p:cNvPr>
          <p:cNvSpPr>
            <a:spLocks xmlns:a="http://schemas.openxmlformats.org/drawingml/2006/main" noGrp="1"/>
          </p:cNvSpPr>
          <p:nvPr/>
        </p:nvSpPr>
        <p:spPr>
          <a:xfrm xmlns:a="http://schemas.openxmlformats.org/drawingml/2006/main">
            <a:off x="571500" y="6505575"/>
            <a:ext cx="14097000" cy="0"/>
          </a:xfrm>
          <a:prstGeom xmlns:a="http://schemas.openxmlformats.org/drawingml/2006/main" prst="line">
            <a:avLst/>
          </a:prstGeom>
          <a:ln xmlns:a="http://schemas.openxmlformats.org/drawingml/2006/main" w="19050">
            <a:solidFill>
              <a:srgbClr val="C6D2DB"/>
            </a:solidFill>
          </a:ln>
        </p:spPr>
      </p:sp>
      <p:sp>
        <p:nvSpPr>
          <p:cNvPr id="10" name="c) Bereken voor vrijdag bij Q = 700 de winst en GTK. Noteer ">
            <a:extLst xmlns:a="http://schemas.openxmlformats.org/drawingml/2006/main">
              <a:ext uri="{FF2B5EF4-FFF2-40B4-BE49-F238E27FC236}">
                <a16:creationId xmlns:a16="http://schemas.microsoft.com/office/drawing/2014/main" id="{D9C5DCB5-5B6D-4121-9BC8-B46CAA280714}"/>
              </a:ext>
            </a:extLst>
          </p:cNvPr>
          <p:cNvSpPr>
            <a:spLocks xmlns:a="http://schemas.openxmlformats.org/drawingml/2006/main" noGrp="1"/>
          </p:cNvSpPr>
          <p:nvPr/>
        </p:nvSpPr>
        <p:spPr>
          <a:xfrm xmlns:a="http://schemas.openxmlformats.org/drawingml/2006/main">
            <a:off x="571500" y="6858000"/>
            <a:ext cx="14097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c) Bereken voor vrijdag bij Q = 700 de winst en GTK. Noteer de volledige eenheden.</a:t>
            </a:r>
          </a:p>
        </p:txBody>
      </p:sp>
    </p:spTree>
    <p:extLst>
      <p:ext uri="{BB962C8B-B14F-4D97-AF65-F5344CB8AC3E}">
        <p14:creationId xmlns:p14="http://schemas.microsoft.com/office/powerpoint/2010/main" val="57881492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pgave 5 · Vraag d">
            <a:extLst xmlns:a="http://schemas.openxmlformats.org/drawingml/2006/main">
              <a:ext uri="{FF2B5EF4-FFF2-40B4-BE49-F238E27FC236}">
                <a16:creationId xmlns:a16="http://schemas.microsoft.com/office/drawing/2014/main" id="{1E767FC6-2F0B-4BF6-B424-217EBBF411E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Vraag d</a:t>
            </a:r>
          </a:p>
        </p:txBody>
      </p:sp>
      <p:sp>
        <p:nvSpPr>
          <p:cNvPr id="2" name="">
            <a:extLst xmlns:a="http://schemas.openxmlformats.org/drawingml/2006/main">
              <a:ext uri="{FF2B5EF4-FFF2-40B4-BE49-F238E27FC236}">
                <a16:creationId xmlns:a16="http://schemas.microsoft.com/office/drawing/2014/main" id="{5ED583AC-439B-4832-A1FB-76BEDC52D6B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6C15CDF9-B98E-4D96-B7BC-030657BF82E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11">
            <a:extLst xmlns:a="http://schemas.openxmlformats.org/drawingml/2006/main">
              <a:ext uri="{FF2B5EF4-FFF2-40B4-BE49-F238E27FC236}">
                <a16:creationId xmlns:a16="http://schemas.microsoft.com/office/drawing/2014/main" id="{C5DE88D2-08DD-487D-A570-347FD3BA99C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d) Bereken met bron B voor elk van de drie stappen op zaterd">
            <a:extLst xmlns:a="http://schemas.openxmlformats.org/drawingml/2006/main">
              <a:ext uri="{FF2B5EF4-FFF2-40B4-BE49-F238E27FC236}">
                <a16:creationId xmlns:a16="http://schemas.microsoft.com/office/drawing/2014/main" id="{3D12613F-5D50-4114-B6BF-07B9F02B5681}"/>
              </a:ext>
            </a:extLst>
          </p:cNvPr>
          <p:cNvSpPr>
            <a:spLocks xmlns:a="http://schemas.openxmlformats.org/drawingml/2006/main" noGrp="1"/>
          </p:cNvSpPr>
          <p:nvPr/>
        </p:nvSpPr>
        <p:spPr>
          <a:xfrm xmlns:a="http://schemas.openxmlformats.org/drawingml/2006/main">
            <a:off x="571500" y="1857375"/>
            <a:ext cx="140970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d) Bereken met bron B voor elk van de drie stappen op zaterdag MK en MO per extra lunchbox. Laat bij iedere MK-berekening teller en noemer zien.</a:t>
            </a:r>
          </a:p>
        </p:txBody>
      </p:sp>
      <p:graphicFrame>
        <p:nvGraphicFramePr>
          <p:cNvPr id="12" name=""/>
          <p:cNvGraphicFramePr/>
          <p:nvPr/>
        </p:nvGraphicFramePr>
        <p:xfrm>
          <a:off xmlns:a="http://schemas.openxmlformats.org/drawingml/2006/main" x="571500" y="4095750"/>
          <a:ext xmlns:a="http://schemas.openxmlformats.org/drawingml/2006/main" cx="14097000" cy="3286125"/>
        </p:xfrm>
        <a:graphic xmlns:a="http://schemas.openxmlformats.org/drawingml/2006/main">
          <a:graphicData uri="http://schemas.openxmlformats.org/drawingml/2006/table">
            <a:tbl>
              <a:tblPr/>
              <a:tblGrid>
                <a:gridCol w="3905250"/>
                <a:gridCol w="5095875"/>
                <a:gridCol w="5095875"/>
              </a:tblGrid>
              <a:tr h="821531">
                <a:tc>
                  <a:txBody>
                    <a:bodyPr lIns="171450" tIns="95250" rIns="152400" bIns="95250"/>
                    <a:lstStyle/>
                    <a:p>
                      <a:r>
                        <a:rPr sz="2400" b="1">
                          <a:solidFill>
                            <a:srgbClr val="FFFFFF"/>
                          </a:solidFill>
                          <a:latin typeface="Arial"/>
                          <a:ea typeface="Arial"/>
                          <a:cs typeface="Arial"/>
                        </a:rPr>
                        <a:t>Stap op zaterdag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MK (€ per extra lunchbox)</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MO (€ per extra lunchbox)</a:t>
                      </a:r>
                    </a:p>
                  </a:txBody>
                  <a:tcPr marL="91440" marR="91440" marT="45720" marB="45720" anchor="ctr">
                    <a:solidFill>
                      <a:srgbClr val="183247"/>
                    </a:solidFill>
                  </a:tcPr>
                </a:tc>
              </a:tr>
              <a:tr h="821531">
                <a:tc>
                  <a:txBody>
                    <a:bodyPr lIns="171450" tIns="95250" rIns="152400" bIns="95250"/>
                    <a:lstStyle/>
                    <a:p>
                      <a:r>
                        <a:rPr sz="2400" b="0">
                          <a:solidFill>
                            <a:srgbClr val="183247"/>
                          </a:solidFill>
                          <a:latin typeface="Arial"/>
                          <a:ea typeface="Arial"/>
                          <a:cs typeface="Arial"/>
                        </a:rPr>
                        <a:t>700 → 800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a:t>
                      </a:r>
                    </a:p>
                  </a:txBody>
                  <a:tcPr marL="91440" marR="91440" marT="45720" marB="45720" anchor="ctr">
                    <a:solidFill>
                      <a:srgbClr val="FFFFFF"/>
                    </a:solidFill>
                  </a:tcPr>
                </a:tc>
              </a:tr>
              <a:tr h="821531">
                <a:tc>
                  <a:txBody>
                    <a:bodyPr lIns="171450" tIns="95250" rIns="152400" bIns="95250"/>
                    <a:lstStyle/>
                    <a:p>
                      <a:r>
                        <a:rPr sz="2400" b="0">
                          <a:solidFill>
                            <a:srgbClr val="183247"/>
                          </a:solidFill>
                          <a:latin typeface="Arial"/>
                          <a:ea typeface="Arial"/>
                          <a:cs typeface="Arial"/>
                        </a:rPr>
                        <a:t>800 → 900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a:t>
                      </a:r>
                    </a:p>
                  </a:txBody>
                  <a:tcPr marL="91440" marR="91440" marT="45720" marB="45720" anchor="ctr">
                    <a:solidFill>
                      <a:srgbClr val="EFF4F7"/>
                    </a:solidFill>
                  </a:tcPr>
                </a:tc>
              </a:tr>
              <a:tr h="821531">
                <a:tc>
                  <a:txBody>
                    <a:bodyPr lIns="171450" tIns="95250" rIns="152400" bIns="95250"/>
                    <a:lstStyle/>
                    <a:p>
                      <a:r>
                        <a:rPr sz="2400" b="0">
                          <a:solidFill>
                            <a:srgbClr val="183247"/>
                          </a:solidFill>
                          <a:latin typeface="Arial"/>
                          <a:ea typeface="Arial"/>
                          <a:cs typeface="Arial"/>
                        </a:rPr>
                        <a:t>900 → 1.000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101923823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5 · Vraag e">
            <a:extLst xmlns:a="http://schemas.openxmlformats.org/drawingml/2006/main">
              <a:ext uri="{FF2B5EF4-FFF2-40B4-BE49-F238E27FC236}">
                <a16:creationId xmlns:a16="http://schemas.microsoft.com/office/drawing/2014/main" id="{FF422DA7-AC70-4F28-B7A1-63D9BE2563F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Vraag e</a:t>
            </a:r>
          </a:p>
        </p:txBody>
      </p:sp>
      <p:sp>
        <p:nvSpPr>
          <p:cNvPr id="2" name="">
            <a:extLst xmlns:a="http://schemas.openxmlformats.org/drawingml/2006/main">
              <a:ext uri="{FF2B5EF4-FFF2-40B4-BE49-F238E27FC236}">
                <a16:creationId xmlns:a16="http://schemas.microsoft.com/office/drawing/2014/main" id="{373795E6-8E15-4038-822C-382F9B8062A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F361DCF6-1290-4D63-9430-AC02BE1C9F3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12">
            <a:extLst xmlns:a="http://schemas.openxmlformats.org/drawingml/2006/main">
              <a:ext uri="{FF2B5EF4-FFF2-40B4-BE49-F238E27FC236}">
                <a16:creationId xmlns:a16="http://schemas.microsoft.com/office/drawing/2014/main" id="{9AED844F-E784-4D56-9CAB-32AADFA3EB8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e) Markeer in bron C het break-evenpunt van vrijdag. Geef oo">
            <a:extLst xmlns:a="http://schemas.openxmlformats.org/drawingml/2006/main">
              <a:ext uri="{FF2B5EF4-FFF2-40B4-BE49-F238E27FC236}">
                <a16:creationId xmlns:a16="http://schemas.microsoft.com/office/drawing/2014/main" id="{BB708085-6182-431C-859C-78C9EFE07654}"/>
              </a:ext>
            </a:extLst>
          </p:cNvPr>
          <p:cNvSpPr>
            <a:spLocks xmlns:a="http://schemas.openxmlformats.org/drawingml/2006/main" noGrp="1"/>
          </p:cNvSpPr>
          <p:nvPr/>
        </p:nvSpPr>
        <p:spPr>
          <a:xfrm xmlns:a="http://schemas.openxmlformats.org/drawingml/2006/main">
            <a:off x="571500" y="1914525"/>
            <a:ext cx="14097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e) Markeer in bron C het break-evenpunt van vrijdag. Geef ook aan voor welke vrijdaghoeveelheden de verticale winstafstand positief is.</a:t>
            </a:r>
          </a:p>
        </p:txBody>
      </p:sp>
      <p:sp>
        <p:nvSpPr>
          <p:cNvPr id="6" name="Vergelijk de groei van die winstafstand per extra lunchbox o">
            <a:extLst xmlns:a="http://schemas.openxmlformats.org/drawingml/2006/main">
              <a:ext uri="{FF2B5EF4-FFF2-40B4-BE49-F238E27FC236}">
                <a16:creationId xmlns:a16="http://schemas.microsoft.com/office/drawing/2014/main" id="{36507941-63C3-4D11-9E23-785D0B4F2DDF}"/>
              </a:ext>
            </a:extLst>
          </p:cNvPr>
          <p:cNvSpPr>
            <a:spLocks xmlns:a="http://schemas.openxmlformats.org/drawingml/2006/main" noGrp="1"/>
          </p:cNvSpPr>
          <p:nvPr/>
        </p:nvSpPr>
        <p:spPr>
          <a:xfrm xmlns:a="http://schemas.openxmlformats.org/drawingml/2006/main">
            <a:off x="571500" y="3952875"/>
            <a:ext cx="140970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Vergelijk de groei van die winstafstand per extra lunchbox op vrijdag met de drie zaterdagstappen.</a:t>
            </a:r>
          </a:p>
        </p:txBody>
      </p:sp>
      <p:sp>
        <p:nvSpPr>
          <p:cNvPr id="7" name="Op welke dag en bij welke hoeveelheden groeit de positieve w">
            <a:extLst xmlns:a="http://schemas.openxmlformats.org/drawingml/2006/main">
              <a:ext uri="{FF2B5EF4-FFF2-40B4-BE49-F238E27FC236}">
                <a16:creationId xmlns:a16="http://schemas.microsoft.com/office/drawing/2014/main" id="{E4797767-AA20-4954-AC45-84553B21CE6D}"/>
              </a:ext>
            </a:extLst>
          </p:cNvPr>
          <p:cNvSpPr>
            <a:spLocks xmlns:a="http://schemas.openxmlformats.org/drawingml/2006/main" noGrp="1"/>
          </p:cNvSpPr>
          <p:nvPr/>
        </p:nvSpPr>
        <p:spPr>
          <a:xfrm xmlns:a="http://schemas.openxmlformats.org/drawingml/2006/main">
            <a:off x="571500" y="5781675"/>
            <a:ext cx="1409700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Op welke dag en bij welke hoeveelheden groeit de positieve winstafstand het snelst? Onderbouw met MK en MO.</a:t>
            </a:r>
          </a:p>
        </p:txBody>
      </p:sp>
    </p:spTree>
    <p:extLst>
      <p:ext uri="{BB962C8B-B14F-4D97-AF65-F5344CB8AC3E}">
        <p14:creationId xmlns:p14="http://schemas.microsoft.com/office/powerpoint/2010/main" val="102430701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5 · Vraag f">
            <a:extLst xmlns:a="http://schemas.openxmlformats.org/drawingml/2006/main">
              <a:ext uri="{FF2B5EF4-FFF2-40B4-BE49-F238E27FC236}">
                <a16:creationId xmlns:a16="http://schemas.microsoft.com/office/drawing/2014/main" id="{C933CCEB-EEA1-451E-8DB2-7503C109A98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Vraag f</a:t>
            </a:r>
          </a:p>
        </p:txBody>
      </p:sp>
      <p:sp>
        <p:nvSpPr>
          <p:cNvPr id="2" name="">
            <a:extLst xmlns:a="http://schemas.openxmlformats.org/drawingml/2006/main">
              <a:ext uri="{FF2B5EF4-FFF2-40B4-BE49-F238E27FC236}">
                <a16:creationId xmlns:a16="http://schemas.microsoft.com/office/drawing/2014/main" id="{00ABB8C4-E170-44F6-9DCB-D74434B14EB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DE3F7FF4-3F7C-43CF-9460-34CBAAB2D79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13">
            <a:extLst xmlns:a="http://schemas.openxmlformats.org/drawingml/2006/main">
              <a:ext uri="{FF2B5EF4-FFF2-40B4-BE49-F238E27FC236}">
                <a16:creationId xmlns:a16="http://schemas.microsoft.com/office/drawing/2014/main" id="{DCCAE21A-37C5-487C-8614-F3072CDE1E5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f) Een leerling zegt:">
            <a:extLst xmlns:a="http://schemas.openxmlformats.org/drawingml/2006/main">
              <a:ext uri="{FF2B5EF4-FFF2-40B4-BE49-F238E27FC236}">
                <a16:creationId xmlns:a16="http://schemas.microsoft.com/office/drawing/2014/main" id="{B0176377-B342-4232-8136-F27EF87CF7EC}"/>
              </a:ext>
            </a:extLst>
          </p:cNvPr>
          <p:cNvSpPr>
            <a:spLocks xmlns:a="http://schemas.openxmlformats.org/drawingml/2006/main" noGrp="1"/>
          </p:cNvSpPr>
          <p:nvPr/>
        </p:nvSpPr>
        <p:spPr>
          <a:xfrm xmlns:a="http://schemas.openxmlformats.org/drawingml/2006/main">
            <a:off x="571500" y="188595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f) Een leerling zegt:</a:t>
            </a:r>
          </a:p>
        </p:txBody>
      </p:sp>
      <p:sp>
        <p:nvSpPr>
          <p:cNvPr id="6" name="“Door de vaste verkoopprijs leveren alle extra groepen van h">
            <a:extLst xmlns:a="http://schemas.openxmlformats.org/drawingml/2006/main">
              <a:ext uri="{FF2B5EF4-FFF2-40B4-BE49-F238E27FC236}">
                <a16:creationId xmlns:a16="http://schemas.microsoft.com/office/drawing/2014/main" id="{AEFF441C-3F4C-4E88-B029-127C97D739E5}"/>
              </a:ext>
            </a:extLst>
          </p:cNvPr>
          <p:cNvSpPr>
            <a:spLocks xmlns:a="http://schemas.openxmlformats.org/drawingml/2006/main" noGrp="1"/>
          </p:cNvSpPr>
          <p:nvPr/>
        </p:nvSpPr>
        <p:spPr>
          <a:xfrm xmlns:a="http://schemas.openxmlformats.org/drawingml/2006/main">
            <a:off x="571500" y="3028950"/>
            <a:ext cx="14097000" cy="1533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658A"/>
                </a:solidFill>
                <a:latin typeface="Arial"/>
                <a:ea typeface="Arial"/>
                <a:cs typeface="Arial"/>
              </a:defRPr>
            </a:pPr>
            <a:r>
              <a:rPr sz="3450" b="1">
                <a:solidFill>
                  <a:srgbClr val="17658A"/>
                </a:solidFill>
                <a:latin typeface="Arial"/>
                <a:ea typeface="Arial"/>
                <a:cs typeface="Arial"/>
              </a:rPr>
              <a:t>“Door de vaste verkoopprijs leveren alle extra groepen van honderd lunchboxen evenveel extra winst op.”</a:t>
            </a:r>
          </a:p>
        </p:txBody>
      </p:sp>
      <p:sp>
        <p:nvSpPr>
          <p:cNvPr id="7" name="Beoordeel de uitspraak met de drie zaterdagstappen. Bereken ">
            <a:extLst xmlns:a="http://schemas.openxmlformats.org/drawingml/2006/main">
              <a:ext uri="{FF2B5EF4-FFF2-40B4-BE49-F238E27FC236}">
                <a16:creationId xmlns:a16="http://schemas.microsoft.com/office/drawing/2014/main" id="{DFED0482-5DB9-4637-A0B1-BFD9ADB6C080}"/>
              </a:ext>
            </a:extLst>
          </p:cNvPr>
          <p:cNvSpPr>
            <a:spLocks xmlns:a="http://schemas.openxmlformats.org/drawingml/2006/main" noGrp="1"/>
          </p:cNvSpPr>
          <p:nvPr/>
        </p:nvSpPr>
        <p:spPr>
          <a:xfrm xmlns:a="http://schemas.openxmlformats.org/drawingml/2006/main">
            <a:off x="571500" y="5238750"/>
            <a:ext cx="14097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Beoordeel de uitspraak met de drie zaterdagstappen. Bereken daarbij de extra winst per groep.</a:t>
            </a:r>
          </a:p>
        </p:txBody>
      </p:sp>
      <p:sp>
        <p:nvSpPr>
          <p:cNvPr id="8" name="Houd je conclusie bij de gegeven hoeveelheden en menu’s.">
            <a:extLst xmlns:a="http://schemas.openxmlformats.org/drawingml/2006/main">
              <a:ext uri="{FF2B5EF4-FFF2-40B4-BE49-F238E27FC236}">
                <a16:creationId xmlns:a16="http://schemas.microsoft.com/office/drawing/2014/main" id="{5B0B1EAD-6FB1-4E31-85ED-C02E90314E0E}"/>
              </a:ext>
            </a:extLst>
          </p:cNvPr>
          <p:cNvSpPr>
            <a:spLocks xmlns:a="http://schemas.openxmlformats.org/drawingml/2006/main" noGrp="1"/>
          </p:cNvSpPr>
          <p:nvPr/>
        </p:nvSpPr>
        <p:spPr>
          <a:xfrm xmlns:a="http://schemas.openxmlformats.org/drawingml/2006/main">
            <a:off x="571500" y="7181850"/>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Houd je conclusie bij de gegeven hoeveelheden en menu’s.</a:t>
            </a:r>
          </a:p>
        </p:txBody>
      </p:sp>
    </p:spTree>
    <p:extLst>
      <p:ext uri="{BB962C8B-B14F-4D97-AF65-F5344CB8AC3E}">
        <p14:creationId xmlns:p14="http://schemas.microsoft.com/office/powerpoint/2010/main" val="70873327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pgave 5a · De gegevens voor vrijdag">
            <a:extLst xmlns:a="http://schemas.openxmlformats.org/drawingml/2006/main">
              <a:ext uri="{FF2B5EF4-FFF2-40B4-BE49-F238E27FC236}">
                <a16:creationId xmlns:a16="http://schemas.microsoft.com/office/drawing/2014/main" id="{F58D2E4C-7360-48F6-B699-A2BBB528243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5a · De gegevens voor vrijdag</a:t>
            </a:r>
          </a:p>
        </p:txBody>
      </p:sp>
      <p:sp>
        <p:nvSpPr>
          <p:cNvPr id="2" name="">
            <a:extLst xmlns:a="http://schemas.openxmlformats.org/drawingml/2006/main">
              <a:ext uri="{FF2B5EF4-FFF2-40B4-BE49-F238E27FC236}">
                <a16:creationId xmlns:a16="http://schemas.microsoft.com/office/drawing/2014/main" id="{36BC91E4-BB1E-4A0B-9AC0-72B2BCFB504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94CD1718-9C2F-45C5-9834-84F64469E0F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14">
            <a:extLst xmlns:a="http://schemas.openxmlformats.org/drawingml/2006/main">
              <a:ext uri="{FF2B5EF4-FFF2-40B4-BE49-F238E27FC236}">
                <a16:creationId xmlns:a16="http://schemas.microsoft.com/office/drawing/2014/main" id="{3147FDB5-B9CB-4EC4-8B65-6AB3D0FE1B5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graphicFrame>
        <p:nvGraphicFramePr>
          <p:cNvPr id="11" name=""/>
          <p:cNvGraphicFramePr/>
          <p:nvPr/>
        </p:nvGraphicFramePr>
        <p:xfrm>
          <a:off xmlns:a="http://schemas.openxmlformats.org/drawingml/2006/main" x="571500" y="1981200"/>
          <a:ext xmlns:a="http://schemas.openxmlformats.org/drawingml/2006/main" cx="14097000" cy="4181475"/>
        </p:xfrm>
        <a:graphic xmlns:a="http://schemas.openxmlformats.org/drawingml/2006/main">
          <a:graphicData uri="http://schemas.openxmlformats.org/drawingml/2006/table">
            <a:tbl>
              <a:tblPr/>
              <a:tblGrid>
                <a:gridCol w="4286250"/>
                <a:gridCol w="9810750"/>
              </a:tblGrid>
              <a:tr h="836295">
                <a:tc>
                  <a:txBody>
                    <a:bodyPr lIns="171450" tIns="95250" rIns="152400" bIns="95250"/>
                    <a:lstStyle/>
                    <a:p>
                      <a:r>
                        <a:rPr sz="2550" b="1">
                          <a:solidFill>
                            <a:srgbClr val="FFFFFF"/>
                          </a:solidFill>
                          <a:latin typeface="Arial"/>
                          <a:ea typeface="Arial"/>
                          <a:cs typeface="Arial"/>
                        </a:rPr>
                        <a:t>Gegeven</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Betekenis</a:t>
                      </a:r>
                    </a:p>
                  </a:txBody>
                  <a:tcPr marL="91440" marR="91440" marT="45720" marB="45720" anchor="ctr">
                    <a:solidFill>
                      <a:srgbClr val="183247"/>
                    </a:solidFill>
                  </a:tcPr>
                </a:tc>
              </a:tr>
              <a:tr h="836295">
                <a:tc>
                  <a:txBody>
                    <a:bodyPr lIns="171450" tIns="95250" rIns="152400" bIns="95250"/>
                    <a:lstStyle/>
                    <a:p>
                      <a:r>
                        <a:rPr sz="2550" b="0">
                          <a:solidFill>
                            <a:srgbClr val="183247"/>
                          </a:solidFill>
                          <a:latin typeface="Arial"/>
                          <a:ea typeface="Arial"/>
                          <a:cs typeface="Arial"/>
                        </a:rPr>
                        <a:t>€ 1.200 per dag</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TCK: het totaal blijft gelijk als Q verandert.</a:t>
                      </a:r>
                    </a:p>
                  </a:txBody>
                  <a:tcPr marL="91440" marR="91440" marT="45720" marB="45720" anchor="ctr">
                    <a:solidFill>
                      <a:srgbClr val="FFFFFF"/>
                    </a:solidFill>
                  </a:tcPr>
                </a:tc>
              </a:tr>
              <a:tr h="836295">
                <a:tc>
                  <a:txBody>
                    <a:bodyPr lIns="171450" tIns="95250" rIns="152400" bIns="95250"/>
                    <a:lstStyle/>
                    <a:p>
                      <a:r>
                        <a:rPr sz="2550" b="0">
                          <a:solidFill>
                            <a:srgbClr val="183247"/>
                          </a:solidFill>
                          <a:latin typeface="Arial"/>
                          <a:ea typeface="Arial"/>
                          <a:cs typeface="Arial"/>
                        </a:rPr>
                        <a:t>€ 2 per lunchbox</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Variabele kosten per box; TVK = 2Q verandert met Q.</a:t>
                      </a:r>
                    </a:p>
                  </a:txBody>
                  <a:tcPr marL="91440" marR="91440" marT="45720" marB="45720" anchor="ctr">
                    <a:solidFill>
                      <a:srgbClr val="EFF4F7"/>
                    </a:solidFill>
                  </a:tcPr>
                </a:tc>
              </a:tr>
              <a:tr h="836295">
                <a:tc>
                  <a:txBody>
                    <a:bodyPr lIns="171450" tIns="95250" rIns="152400" bIns="95250"/>
                    <a:lstStyle/>
                    <a:p>
                      <a:r>
                        <a:rPr sz="2550" b="0">
                          <a:solidFill>
                            <a:srgbClr val="183247"/>
                          </a:solidFill>
                          <a:latin typeface="Arial"/>
                          <a:ea typeface="Arial"/>
                          <a:cs typeface="Arial"/>
                        </a:rPr>
                        <a:t>€ 5 per lunchbox</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Verkoopprijs P. Alle lunchboxen worden verkocht.</a:t>
                      </a:r>
                    </a:p>
                  </a:txBody>
                  <a:tcPr marL="91440" marR="91440" marT="45720" marB="45720" anchor="ctr">
                    <a:solidFill>
                      <a:srgbClr val="FFFFFF"/>
                    </a:solidFill>
                  </a:tcPr>
                </a:tc>
              </a:tr>
              <a:tr h="836295">
                <a:tc>
                  <a:txBody>
                    <a:bodyPr lIns="171450" tIns="95250" rIns="152400" bIns="95250"/>
                    <a:lstStyle/>
                    <a:p>
                      <a:r>
                        <a:rPr sz="2550" b="0">
                          <a:solidFill>
                            <a:srgbClr val="183247"/>
                          </a:solidFill>
                          <a:latin typeface="Arial"/>
                          <a:ea typeface="Arial"/>
                          <a:cs typeface="Arial"/>
                        </a:rPr>
                        <a:t>4.000 verwachte bezoekers</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Niet nodig om TK en TO op te stellen.</a:t>
                      </a:r>
                    </a:p>
                  </a:txBody>
                  <a:tcPr marL="91440" marR="91440" marT="45720" marB="45720" anchor="ctr">
                    <a:solidFill>
                      <a:srgbClr val="EFF4F7"/>
                    </a:solidFill>
                  </a:tcPr>
                </a:tc>
              </a:tr>
            </a:tbl>
          </a:graphicData>
        </a:graphic>
      </p:graphicFrame>
      <p:sp>
        <p:nvSpPr>
          <p:cNvPr id="6" name="Bezoekers zijn niet automatisch kopers.">
            <a:extLst xmlns:a="http://schemas.openxmlformats.org/drawingml/2006/main">
              <a:ext uri="{FF2B5EF4-FFF2-40B4-BE49-F238E27FC236}">
                <a16:creationId xmlns:a16="http://schemas.microsoft.com/office/drawing/2014/main" id="{1BC161FA-CA60-43E5-9C20-7F424147F973}"/>
              </a:ext>
            </a:extLst>
          </p:cNvPr>
          <p:cNvSpPr>
            <a:spLocks xmlns:a="http://schemas.openxmlformats.org/drawingml/2006/main" noGrp="1"/>
          </p:cNvSpPr>
          <p:nvPr/>
        </p:nvSpPr>
        <p:spPr>
          <a:xfrm xmlns:a="http://schemas.openxmlformats.org/drawingml/2006/main">
            <a:off x="571500" y="6781800"/>
            <a:ext cx="14097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Bezoekers zijn niet automatisch kopers.</a:t>
            </a:r>
          </a:p>
        </p:txBody>
      </p:sp>
    </p:spTree>
    <p:extLst>
      <p:ext uri="{BB962C8B-B14F-4D97-AF65-F5344CB8AC3E}">
        <p14:creationId xmlns:p14="http://schemas.microsoft.com/office/powerpoint/2010/main" val="74422002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Opgave 5b · Vrijdag: functies en break-even">
            <a:extLst xmlns:a="http://schemas.openxmlformats.org/drawingml/2006/main">
              <a:ext uri="{FF2B5EF4-FFF2-40B4-BE49-F238E27FC236}">
                <a16:creationId xmlns:a16="http://schemas.microsoft.com/office/drawing/2014/main" id="{9B9109DA-1809-4307-8D1E-98EB55772FB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5b · Vrijdag: functies en break-even</a:t>
            </a:r>
          </a:p>
        </p:txBody>
      </p:sp>
      <p:sp>
        <p:nvSpPr>
          <p:cNvPr id="2" name="">
            <a:extLst xmlns:a="http://schemas.openxmlformats.org/drawingml/2006/main">
              <a:ext uri="{FF2B5EF4-FFF2-40B4-BE49-F238E27FC236}">
                <a16:creationId xmlns:a16="http://schemas.microsoft.com/office/drawing/2014/main" id="{FCD5BB8E-93F3-4D31-B582-55B33036A4A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E5A3A777-BD48-4426-B6F7-D32A451C2AC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15">
            <a:extLst xmlns:a="http://schemas.openxmlformats.org/drawingml/2006/main">
              <a:ext uri="{FF2B5EF4-FFF2-40B4-BE49-F238E27FC236}">
                <a16:creationId xmlns:a16="http://schemas.microsoft.com/office/drawing/2014/main" id="{952F1DF0-868B-4292-BA40-2096DADCD8A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TK = 1.200 + 2Q          TO = 5Q">
            <a:extLst xmlns:a="http://schemas.openxmlformats.org/drawingml/2006/main">
              <a:ext uri="{FF2B5EF4-FFF2-40B4-BE49-F238E27FC236}">
                <a16:creationId xmlns:a16="http://schemas.microsoft.com/office/drawing/2014/main" id="{12FA7AD6-6FF7-427E-A94D-257CA4BCE1B7}"/>
              </a:ext>
            </a:extLst>
          </p:cNvPr>
          <p:cNvSpPr>
            <a:spLocks xmlns:a="http://schemas.openxmlformats.org/drawingml/2006/main" noGrp="1"/>
          </p:cNvSpPr>
          <p:nvPr/>
        </p:nvSpPr>
        <p:spPr>
          <a:xfrm xmlns:a="http://schemas.openxmlformats.org/drawingml/2006/main">
            <a:off x="571500" y="1809750"/>
            <a:ext cx="14097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658A"/>
                </a:solidFill>
                <a:latin typeface="Arial"/>
                <a:ea typeface="Arial"/>
                <a:cs typeface="Arial"/>
              </a:defRPr>
            </a:pPr>
            <a:r>
              <a:rPr sz="3600" b="1">
                <a:solidFill>
                  <a:srgbClr val="17658A"/>
                </a:solidFill>
                <a:latin typeface="Arial"/>
                <a:ea typeface="Arial"/>
                <a:cs typeface="Arial"/>
              </a:rPr>
              <a:t>TK = 1.200 + 2Q          TO = 5Q</a:t>
            </a:r>
          </a:p>
        </p:txBody>
      </p:sp>
      <p:sp>
        <p:nvSpPr>
          <p:cNvPr id="6" name="€ per dag · 0 ≤ Q ≤ 1.000 lunchboxen per dag">
            <a:extLst xmlns:a="http://schemas.openxmlformats.org/drawingml/2006/main">
              <a:ext uri="{FF2B5EF4-FFF2-40B4-BE49-F238E27FC236}">
                <a16:creationId xmlns:a16="http://schemas.microsoft.com/office/drawing/2014/main" id="{C263C8AD-0E3F-4C72-8562-73923B51DBBC}"/>
              </a:ext>
            </a:extLst>
          </p:cNvPr>
          <p:cNvSpPr>
            <a:spLocks xmlns:a="http://schemas.openxmlformats.org/drawingml/2006/main" noGrp="1"/>
          </p:cNvSpPr>
          <p:nvPr/>
        </p:nvSpPr>
        <p:spPr>
          <a:xfrm xmlns:a="http://schemas.openxmlformats.org/drawingml/2006/main">
            <a:off x="571500" y="2762250"/>
            <a:ext cx="1409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 per dag · 0 ≤ Q ≤ 1.000 lunchboxen per dag</a:t>
            </a:r>
          </a:p>
        </p:txBody>
      </p:sp>
      <p:sp>
        <p:nvSpPr>
          <p:cNvPr id="7" name="">
            <a:extLst xmlns:a="http://schemas.openxmlformats.org/drawingml/2006/main">
              <a:ext uri="{FF2B5EF4-FFF2-40B4-BE49-F238E27FC236}">
                <a16:creationId xmlns:a16="http://schemas.microsoft.com/office/drawing/2014/main" id="{A7F20F19-9BCF-4EE3-9BAC-92BE92D9294D}"/>
              </a:ext>
            </a:extLst>
          </p:cNvPr>
          <p:cNvSpPr>
            <a:spLocks xmlns:a="http://schemas.openxmlformats.org/drawingml/2006/main" noGrp="1"/>
          </p:cNvSpPr>
          <p:nvPr/>
        </p:nvSpPr>
        <p:spPr>
          <a:xfrm xmlns:a="http://schemas.openxmlformats.org/drawingml/2006/main">
            <a:off x="571500" y="3514725"/>
            <a:ext cx="14097000" cy="0"/>
          </a:xfrm>
          <a:prstGeom xmlns:a="http://schemas.openxmlformats.org/drawingml/2006/main" prst="line">
            <a:avLst/>
          </a:prstGeom>
          <a:ln xmlns:a="http://schemas.openxmlformats.org/drawingml/2006/main" w="19050">
            <a:solidFill>
              <a:srgbClr val="C6D2DB"/>
            </a:solidFill>
          </a:ln>
        </p:spPr>
      </p:sp>
      <p:sp>
        <p:nvSpPr>
          <p:cNvPr id="8" name="TO = TK&#10;5Q = 1.200 + 2Q&#10;3Q = 1.200&#10;Q = 400 lunchboxen per da">
            <a:extLst xmlns:a="http://schemas.openxmlformats.org/drawingml/2006/main">
              <a:ext uri="{FF2B5EF4-FFF2-40B4-BE49-F238E27FC236}">
                <a16:creationId xmlns:a16="http://schemas.microsoft.com/office/drawing/2014/main" id="{3AAB8384-8788-4951-BF1E-88FE000A1CA5}"/>
              </a:ext>
            </a:extLst>
          </p:cNvPr>
          <p:cNvSpPr>
            <a:spLocks xmlns:a="http://schemas.openxmlformats.org/drawingml/2006/main" noGrp="1"/>
          </p:cNvSpPr>
          <p:nvPr/>
        </p:nvSpPr>
        <p:spPr>
          <a:xfrm xmlns:a="http://schemas.openxmlformats.org/drawingml/2006/main">
            <a:off x="571500" y="3971925"/>
            <a:ext cx="9001125" cy="2543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TO = TK</a:t>
            </a:r>
          </a:p>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5Q = 1.200 + 2Q</a:t>
            </a:r>
          </a:p>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3Q = 1.200</a:t>
            </a:r>
          </a:p>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Q = 400 lunchboxen per dag</a:t>
            </a:r>
          </a:p>
        </p:txBody>
      </p:sp>
      <p:sp>
        <p:nvSpPr>
          <p:cNvPr id="9" name="Controle">
            <a:extLst xmlns:a="http://schemas.openxmlformats.org/drawingml/2006/main">
              <a:ext uri="{FF2B5EF4-FFF2-40B4-BE49-F238E27FC236}">
                <a16:creationId xmlns:a16="http://schemas.microsoft.com/office/drawing/2014/main" id="{53C979E3-813D-4299-ADEF-2730AD941B0E}"/>
              </a:ext>
            </a:extLst>
          </p:cNvPr>
          <p:cNvSpPr>
            <a:spLocks xmlns:a="http://schemas.openxmlformats.org/drawingml/2006/main" noGrp="1"/>
          </p:cNvSpPr>
          <p:nvPr/>
        </p:nvSpPr>
        <p:spPr>
          <a:xfrm xmlns:a="http://schemas.openxmlformats.org/drawingml/2006/main">
            <a:off x="10096500" y="4076700"/>
            <a:ext cx="4572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Controle</a:t>
            </a:r>
          </a:p>
        </p:txBody>
      </p:sp>
      <p:sp>
        <p:nvSpPr>
          <p:cNvPr id="10" name="TO = 5 × 400&#10;= € 2.000 per dag&#10;&#10;TK = 1.200 + 800&#10;= € 2.000 p">
            <a:extLst xmlns:a="http://schemas.openxmlformats.org/drawingml/2006/main">
              <a:ext uri="{FF2B5EF4-FFF2-40B4-BE49-F238E27FC236}">
                <a16:creationId xmlns:a16="http://schemas.microsoft.com/office/drawing/2014/main" id="{9ACD9F12-EC86-48FA-9775-687E959AC3CA}"/>
              </a:ext>
            </a:extLst>
          </p:cNvPr>
          <p:cNvSpPr>
            <a:spLocks xmlns:a="http://schemas.openxmlformats.org/drawingml/2006/main" noGrp="1"/>
          </p:cNvSpPr>
          <p:nvPr/>
        </p:nvSpPr>
        <p:spPr>
          <a:xfrm xmlns:a="http://schemas.openxmlformats.org/drawingml/2006/main">
            <a:off x="10096500" y="4857750"/>
            <a:ext cx="4572000" cy="2314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TO = 5 × 400</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 € 2.000 per dag</a:t>
            </a:r>
          </a:p>
          <a:p xmlns:a="http://schemas.openxmlformats.org/drawingml/2006/main">
            <a:r>
              <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TK = 1.200 + 800</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 € 2.000 per dag</a:t>
            </a:r>
          </a:p>
        </p:txBody>
      </p:sp>
      <p:sp>
        <p:nvSpPr>
          <p:cNvPr id="11" name="Break-even: de winst is € 0 per dag.">
            <a:extLst xmlns:a="http://schemas.openxmlformats.org/drawingml/2006/main">
              <a:ext uri="{FF2B5EF4-FFF2-40B4-BE49-F238E27FC236}">
                <a16:creationId xmlns:a16="http://schemas.microsoft.com/office/drawing/2014/main" id="{CE627712-FCB5-4FAA-A985-3EEFF8BB42E0}"/>
              </a:ext>
            </a:extLst>
          </p:cNvPr>
          <p:cNvSpPr>
            <a:spLocks xmlns:a="http://schemas.openxmlformats.org/drawingml/2006/main" noGrp="1"/>
          </p:cNvSpPr>
          <p:nvPr/>
        </p:nvSpPr>
        <p:spPr>
          <a:xfrm xmlns:a="http://schemas.openxmlformats.org/drawingml/2006/main">
            <a:off x="571500" y="7191375"/>
            <a:ext cx="9239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A94D16"/>
                </a:solidFill>
                <a:latin typeface="Arial"/>
                <a:ea typeface="Arial"/>
                <a:cs typeface="Arial"/>
              </a:defRPr>
            </a:pPr>
            <a:r>
              <a:rPr sz="2775" b="1">
                <a:solidFill>
                  <a:srgbClr val="A94D16"/>
                </a:solidFill>
                <a:latin typeface="Arial"/>
                <a:ea typeface="Arial"/>
                <a:cs typeface="Arial"/>
              </a:rPr>
              <a:t>Break-even: de winst is € 0 per dag.</a:t>
            </a:r>
          </a:p>
        </p:txBody>
      </p:sp>
    </p:spTree>
    <p:extLst>
      <p:ext uri="{BB962C8B-B14F-4D97-AF65-F5344CB8AC3E}">
        <p14:creationId xmlns:p14="http://schemas.microsoft.com/office/powerpoint/2010/main" val="174666057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5c · Vrijdag bij 700 lunchboxen">
            <a:extLst xmlns:a="http://schemas.openxmlformats.org/drawingml/2006/main">
              <a:ext uri="{FF2B5EF4-FFF2-40B4-BE49-F238E27FC236}">
                <a16:creationId xmlns:a16="http://schemas.microsoft.com/office/drawing/2014/main" id="{9C4CEA5B-3D1B-4648-8DBA-FF0DD90889A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5c · Vrijdag bij 700 lunchboxen</a:t>
            </a:r>
          </a:p>
        </p:txBody>
      </p:sp>
      <p:sp>
        <p:nvSpPr>
          <p:cNvPr id="2" name="">
            <a:extLst xmlns:a="http://schemas.openxmlformats.org/drawingml/2006/main">
              <a:ext uri="{FF2B5EF4-FFF2-40B4-BE49-F238E27FC236}">
                <a16:creationId xmlns:a16="http://schemas.microsoft.com/office/drawing/2014/main" id="{3AD42F2E-1171-408E-8953-822207123A7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9D8B271F-EC0D-485A-A61E-A84DC65E253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16">
            <a:extLst xmlns:a="http://schemas.openxmlformats.org/drawingml/2006/main">
              <a:ext uri="{FF2B5EF4-FFF2-40B4-BE49-F238E27FC236}">
                <a16:creationId xmlns:a16="http://schemas.microsoft.com/office/drawing/2014/main" id="{D12BFC8F-5210-4A61-A5F1-7960DB6BA55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TK = 1.200 + 2 × 700 = € 2.600 per dag&#10;TO = 5 × 700 = € 3.50">
            <a:extLst xmlns:a="http://schemas.openxmlformats.org/drawingml/2006/main">
              <a:ext uri="{FF2B5EF4-FFF2-40B4-BE49-F238E27FC236}">
                <a16:creationId xmlns:a16="http://schemas.microsoft.com/office/drawing/2014/main" id="{9925DA38-C0C0-4156-A02B-05A73161B1D9}"/>
              </a:ext>
            </a:extLst>
          </p:cNvPr>
          <p:cNvSpPr>
            <a:spLocks xmlns:a="http://schemas.openxmlformats.org/drawingml/2006/main" noGrp="1"/>
          </p:cNvSpPr>
          <p:nvPr/>
        </p:nvSpPr>
        <p:spPr>
          <a:xfrm xmlns:a="http://schemas.openxmlformats.org/drawingml/2006/main">
            <a:off x="571500" y="1943100"/>
            <a:ext cx="140970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TK = 1.200 + 2 × 700 = € 2.600 per dag</a:t>
            </a:r>
          </a:p>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TO = 5 × 700 = € 3.500 per dag</a:t>
            </a:r>
          </a:p>
        </p:txBody>
      </p:sp>
      <p:sp>
        <p:nvSpPr>
          <p:cNvPr id="6" name="">
            <a:extLst xmlns:a="http://schemas.openxmlformats.org/drawingml/2006/main">
              <a:ext uri="{FF2B5EF4-FFF2-40B4-BE49-F238E27FC236}">
                <a16:creationId xmlns:a16="http://schemas.microsoft.com/office/drawing/2014/main" id="{20F1DF99-BAC9-4784-9E4D-277D8F14668B}"/>
              </a:ext>
            </a:extLst>
          </p:cNvPr>
          <p:cNvSpPr>
            <a:spLocks xmlns:a="http://schemas.openxmlformats.org/drawingml/2006/main" noGrp="1"/>
          </p:cNvSpPr>
          <p:nvPr/>
        </p:nvSpPr>
        <p:spPr>
          <a:xfrm xmlns:a="http://schemas.openxmlformats.org/drawingml/2006/main">
            <a:off x="571500" y="3886200"/>
            <a:ext cx="14097000" cy="0"/>
          </a:xfrm>
          <a:prstGeom xmlns:a="http://schemas.openxmlformats.org/drawingml/2006/main" prst="line">
            <a:avLst/>
          </a:prstGeom>
          <a:ln xmlns:a="http://schemas.openxmlformats.org/drawingml/2006/main" w="19050">
            <a:solidFill>
              <a:srgbClr val="C6D2DB"/>
            </a:solidFill>
          </a:ln>
        </p:spPr>
      </p:sp>
      <p:sp>
        <p:nvSpPr>
          <p:cNvPr id="7" name="Winst = TO − TK&#10;= 3.500 − 2.600 = € 900 per dag">
            <a:extLst xmlns:a="http://schemas.openxmlformats.org/drawingml/2006/main">
              <a:ext uri="{FF2B5EF4-FFF2-40B4-BE49-F238E27FC236}">
                <a16:creationId xmlns:a16="http://schemas.microsoft.com/office/drawing/2014/main" id="{60344129-FB5C-4154-AC53-D42036E6316F}"/>
              </a:ext>
            </a:extLst>
          </p:cNvPr>
          <p:cNvSpPr>
            <a:spLocks xmlns:a="http://schemas.openxmlformats.org/drawingml/2006/main" noGrp="1"/>
          </p:cNvSpPr>
          <p:nvPr/>
        </p:nvSpPr>
        <p:spPr>
          <a:xfrm xmlns:a="http://schemas.openxmlformats.org/drawingml/2006/main">
            <a:off x="571500" y="4362450"/>
            <a:ext cx="14097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20665B"/>
                </a:solidFill>
                <a:latin typeface="Arial"/>
                <a:ea typeface="Arial"/>
                <a:cs typeface="Arial"/>
              </a:defRPr>
            </a:pPr>
            <a:r>
              <a:rPr sz="3300" b="1">
                <a:solidFill>
                  <a:srgbClr val="20665B"/>
                </a:solidFill>
                <a:latin typeface="Arial"/>
                <a:ea typeface="Arial"/>
                <a:cs typeface="Arial"/>
              </a:rPr>
              <a:t>Winst = TO − TK</a:t>
            </a:r>
          </a:p>
          <a:p xmlns:a="http://schemas.openxmlformats.org/drawingml/2006/main">
            <a:pPr algn="l">
              <a:defRPr sz="3300" b="1">
                <a:solidFill>
                  <a:srgbClr val="20665B"/>
                </a:solidFill>
                <a:latin typeface="Arial"/>
                <a:ea typeface="Arial"/>
                <a:cs typeface="Arial"/>
              </a:defRPr>
            </a:pPr>
            <a:r>
              <a:rPr sz="3300" b="1">
                <a:solidFill>
                  <a:srgbClr val="20665B"/>
                </a:solidFill>
                <a:latin typeface="Arial"/>
                <a:ea typeface="Arial"/>
                <a:cs typeface="Arial"/>
              </a:rPr>
              <a:t>= 3.500 − 2.600 = € 900 per dag</a:t>
            </a:r>
          </a:p>
        </p:txBody>
      </p:sp>
      <p:sp>
        <p:nvSpPr>
          <p:cNvPr id="8" name="GTK = TK / Q&#10;= 2.600 / 700 ≈ € 3,71 per lunchbox">
            <a:extLst xmlns:a="http://schemas.openxmlformats.org/drawingml/2006/main">
              <a:ext uri="{FF2B5EF4-FFF2-40B4-BE49-F238E27FC236}">
                <a16:creationId xmlns:a16="http://schemas.microsoft.com/office/drawing/2014/main" id="{59B5CA1C-4823-475C-9049-AACF3EA47A03}"/>
              </a:ext>
            </a:extLst>
          </p:cNvPr>
          <p:cNvSpPr>
            <a:spLocks xmlns:a="http://schemas.openxmlformats.org/drawingml/2006/main" noGrp="1"/>
          </p:cNvSpPr>
          <p:nvPr/>
        </p:nvSpPr>
        <p:spPr>
          <a:xfrm xmlns:a="http://schemas.openxmlformats.org/drawingml/2006/main">
            <a:off x="571500" y="6324600"/>
            <a:ext cx="140970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A94D16"/>
                </a:solidFill>
                <a:latin typeface="Arial"/>
                <a:ea typeface="Arial"/>
                <a:cs typeface="Arial"/>
              </a:defRPr>
            </a:pPr>
            <a:r>
              <a:rPr sz="3300" b="1">
                <a:solidFill>
                  <a:srgbClr val="A94D16"/>
                </a:solidFill>
                <a:latin typeface="Arial"/>
                <a:ea typeface="Arial"/>
                <a:cs typeface="Arial"/>
              </a:rPr>
              <a:t>GTK = TK / Q</a:t>
            </a:r>
          </a:p>
          <a:p xmlns:a="http://schemas.openxmlformats.org/drawingml/2006/main">
            <a:pPr algn="l">
              <a:defRPr sz="3300" b="1">
                <a:solidFill>
                  <a:srgbClr val="A94D16"/>
                </a:solidFill>
                <a:latin typeface="Arial"/>
                <a:ea typeface="Arial"/>
                <a:cs typeface="Arial"/>
              </a:defRPr>
            </a:pPr>
            <a:r>
              <a:rPr sz="3300" b="1">
                <a:solidFill>
                  <a:srgbClr val="A94D16"/>
                </a:solidFill>
                <a:latin typeface="Arial"/>
                <a:ea typeface="Arial"/>
                <a:cs typeface="Arial"/>
              </a:rPr>
              <a:t>= 2.600 / 700 ≈ € 3,71 per lunchbox</a:t>
            </a:r>
          </a:p>
        </p:txBody>
      </p:sp>
    </p:spTree>
    <p:extLst>
      <p:ext uri="{BB962C8B-B14F-4D97-AF65-F5344CB8AC3E}">
        <p14:creationId xmlns:p14="http://schemas.microsoft.com/office/powerpoint/2010/main" val="147827541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5d · De drie zaterdagstappen">
            <a:extLst xmlns:a="http://schemas.openxmlformats.org/drawingml/2006/main">
              <a:ext uri="{FF2B5EF4-FFF2-40B4-BE49-F238E27FC236}">
                <a16:creationId xmlns:a16="http://schemas.microsoft.com/office/drawing/2014/main" id="{416B37AF-67EE-4A9A-8A8B-3B8BD6672D9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5d · De drie zaterdagstappen</a:t>
            </a:r>
          </a:p>
        </p:txBody>
      </p:sp>
      <p:sp>
        <p:nvSpPr>
          <p:cNvPr id="2" name="">
            <a:extLst xmlns:a="http://schemas.openxmlformats.org/drawingml/2006/main">
              <a:ext uri="{FF2B5EF4-FFF2-40B4-BE49-F238E27FC236}">
                <a16:creationId xmlns:a16="http://schemas.microsoft.com/office/drawing/2014/main" id="{B7DADE9E-BFEC-4C7B-8C0C-BB0A45B2262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6906EF8B-5778-4FCC-A3BD-F5DA05E78E5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17">
            <a:extLst xmlns:a="http://schemas.openxmlformats.org/drawingml/2006/main">
              <a:ext uri="{FF2B5EF4-FFF2-40B4-BE49-F238E27FC236}">
                <a16:creationId xmlns:a16="http://schemas.microsoft.com/office/drawing/2014/main" id="{EB63C4B0-F1FC-4FD4-BFCE-B9D2C204A09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MK = ΔTK / ΔQ          MO = ΔTO / ΔQ">
            <a:extLst xmlns:a="http://schemas.openxmlformats.org/drawingml/2006/main">
              <a:ext uri="{FF2B5EF4-FFF2-40B4-BE49-F238E27FC236}">
                <a16:creationId xmlns:a16="http://schemas.microsoft.com/office/drawing/2014/main" id="{2AA25C0F-1A14-4A93-9849-07370B3BDF08}"/>
              </a:ext>
            </a:extLst>
          </p:cNvPr>
          <p:cNvSpPr>
            <a:spLocks xmlns:a="http://schemas.openxmlformats.org/drawingml/2006/main" noGrp="1"/>
          </p:cNvSpPr>
          <p:nvPr/>
        </p:nvSpPr>
        <p:spPr>
          <a:xfrm xmlns:a="http://schemas.openxmlformats.org/drawingml/2006/main">
            <a:off x="571500" y="179070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MK = ΔTK / ΔQ          MO = ΔTO / ΔQ</a:t>
            </a:r>
          </a:p>
        </p:txBody>
      </p:sp>
      <p:graphicFrame>
        <p:nvGraphicFramePr>
          <p:cNvPr id="13" name=""/>
          <p:cNvGraphicFramePr/>
          <p:nvPr/>
        </p:nvGraphicFramePr>
        <p:xfrm>
          <a:off xmlns:a="http://schemas.openxmlformats.org/drawingml/2006/main" x="571500" y="2781300"/>
          <a:ext xmlns:a="http://schemas.openxmlformats.org/drawingml/2006/main" cx="14097000" cy="3905250"/>
        </p:xfrm>
        <a:graphic xmlns:a="http://schemas.openxmlformats.org/drawingml/2006/main">
          <a:graphicData uri="http://schemas.openxmlformats.org/drawingml/2006/table">
            <a:tbl>
              <a:tblPr/>
              <a:tblGrid>
                <a:gridCol w="2762250"/>
                <a:gridCol w="6048375"/>
                <a:gridCol w="5286375"/>
              </a:tblGrid>
              <a:tr h="976313">
                <a:tc>
                  <a:txBody>
                    <a:bodyPr lIns="171450" tIns="95250" rIns="152400" bIns="95250"/>
                    <a:lstStyle/>
                    <a:p>
                      <a:r>
                        <a:rPr sz="2325" b="1">
                          <a:solidFill>
                            <a:srgbClr val="FFFFFF"/>
                          </a:solidFill>
                          <a:latin typeface="Arial"/>
                          <a:ea typeface="Arial"/>
                          <a:cs typeface="Arial"/>
                        </a:rPr>
                        <a:t>Stap</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MK (€ per extra lunchbox)</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MO (€ per extra lunchbox)</a:t>
                      </a:r>
                    </a:p>
                  </a:txBody>
                  <a:tcPr marL="91440" marR="91440" marT="45720" marB="45720" anchor="ctr">
                    <a:solidFill>
                      <a:srgbClr val="183247"/>
                    </a:solidFill>
                  </a:tcPr>
                </a:tc>
              </a:tr>
              <a:tr h="976313">
                <a:tc>
                  <a:txBody>
                    <a:bodyPr lIns="171450" tIns="95250" rIns="152400" bIns="95250"/>
                    <a:lstStyle/>
                    <a:p>
                      <a:r>
                        <a:rPr sz="2325" b="0">
                          <a:solidFill>
                            <a:srgbClr val="183247"/>
                          </a:solidFill>
                          <a:latin typeface="Arial"/>
                          <a:ea typeface="Arial"/>
                          <a:cs typeface="Arial"/>
                        </a:rPr>
                        <a:t>700 → 800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(2.900 − 2.600) / (800 − 700)</a:t>
                      </a:r>
                    </a:p>
                    <a:p>
                      <a:r>
                        <a:rPr sz="2325" b="0">
                          <a:solidFill>
                            <a:srgbClr val="183247"/>
                          </a:solidFill>
                          <a:latin typeface="Arial"/>
                          <a:ea typeface="Arial"/>
                          <a:cs typeface="Arial"/>
                        </a:rPr>
                        <a:t>= 300 / 100 = 3,00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(4.000 − 3.500) / 100</a:t>
                      </a:r>
                    </a:p>
                    <a:p>
                      <a:r>
                        <a:rPr sz="2325" b="0">
                          <a:solidFill>
                            <a:srgbClr val="183247"/>
                          </a:solidFill>
                          <a:latin typeface="Arial"/>
                          <a:ea typeface="Arial"/>
                          <a:cs typeface="Arial"/>
                        </a:rPr>
                        <a:t>= 500 / 100 = 5,00</a:t>
                      </a:r>
                    </a:p>
                  </a:txBody>
                  <a:tcPr marL="91440" marR="91440" marT="45720" marB="45720" anchor="ctr">
                    <a:solidFill>
                      <a:srgbClr val="FFFFFF"/>
                    </a:solidFill>
                  </a:tcPr>
                </a:tc>
              </a:tr>
              <a:tr h="976313">
                <a:tc>
                  <a:txBody>
                    <a:bodyPr lIns="171450" tIns="95250" rIns="152400" bIns="95250"/>
                    <a:lstStyle/>
                    <a:p>
                      <a:r>
                        <a:rPr sz="2325" b="0">
                          <a:solidFill>
                            <a:srgbClr val="183247"/>
                          </a:solidFill>
                          <a:latin typeface="Arial"/>
                          <a:ea typeface="Arial"/>
                          <a:cs typeface="Arial"/>
                        </a:rPr>
                        <a:t>800 → 900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(3.250 − 2.900) / (900 − 800)</a:t>
                      </a:r>
                    </a:p>
                    <a:p>
                      <a:r>
                        <a:rPr sz="2325" b="0">
                          <a:solidFill>
                            <a:srgbClr val="183247"/>
                          </a:solidFill>
                          <a:latin typeface="Arial"/>
                          <a:ea typeface="Arial"/>
                          <a:cs typeface="Arial"/>
                        </a:rPr>
                        <a:t>= 350 / 100 = 3,50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(4.500 − 4.000) / 100</a:t>
                      </a:r>
                    </a:p>
                    <a:p>
                      <a:r>
                        <a:rPr sz="2325" b="0">
                          <a:solidFill>
                            <a:srgbClr val="183247"/>
                          </a:solidFill>
                          <a:latin typeface="Arial"/>
                          <a:ea typeface="Arial"/>
                          <a:cs typeface="Arial"/>
                        </a:rPr>
                        <a:t>= 500 / 100 = 5,00</a:t>
                      </a:r>
                    </a:p>
                  </a:txBody>
                  <a:tcPr marL="91440" marR="91440" marT="45720" marB="45720" anchor="ctr">
                    <a:solidFill>
                      <a:srgbClr val="EFF4F7"/>
                    </a:solidFill>
                  </a:tcPr>
                </a:tc>
              </a:tr>
              <a:tr h="976313">
                <a:tc>
                  <a:txBody>
                    <a:bodyPr lIns="171450" tIns="95250" rIns="152400" bIns="95250"/>
                    <a:lstStyle/>
                    <a:p>
                      <a:r>
                        <a:rPr sz="2325" b="0">
                          <a:solidFill>
                            <a:srgbClr val="183247"/>
                          </a:solidFill>
                          <a:latin typeface="Arial"/>
                          <a:ea typeface="Arial"/>
                          <a:cs typeface="Arial"/>
                        </a:rPr>
                        <a:t>900 → 1.000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(3.650 − 3.250) / (1.000 − 900)</a:t>
                      </a:r>
                    </a:p>
                    <a:p>
                      <a:r>
                        <a:rPr sz="2325" b="0">
                          <a:solidFill>
                            <a:srgbClr val="183247"/>
                          </a:solidFill>
                          <a:latin typeface="Arial"/>
                          <a:ea typeface="Arial"/>
                          <a:cs typeface="Arial"/>
                        </a:rPr>
                        <a:t>= 400 / 100 = 4,00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(5.000 − 4.500) / 100</a:t>
                      </a:r>
                    </a:p>
                    <a:p>
                      <a:r>
                        <a:rPr sz="2325" b="0">
                          <a:solidFill>
                            <a:srgbClr val="183247"/>
                          </a:solidFill>
                          <a:latin typeface="Arial"/>
                          <a:ea typeface="Arial"/>
                          <a:cs typeface="Arial"/>
                        </a:rPr>
                        <a:t>= 500 / 100 = 5,00</a:t>
                      </a:r>
                    </a:p>
                  </a:txBody>
                  <a:tcPr marL="91440" marR="91440" marT="45720" marB="45720" anchor="ctr">
                    <a:solidFill>
                      <a:srgbClr val="FFFFFF"/>
                    </a:solidFill>
                  </a:tcPr>
                </a:tc>
              </a:tr>
            </a:tbl>
          </a:graphicData>
        </a:graphic>
      </p:graphicFrame>
      <p:sp>
        <p:nvSpPr>
          <p:cNvPr id="7" name="Extra kosten per box stijgen; extra opbrengst per box blijft">
            <a:extLst xmlns:a="http://schemas.openxmlformats.org/drawingml/2006/main">
              <a:ext uri="{FF2B5EF4-FFF2-40B4-BE49-F238E27FC236}">
                <a16:creationId xmlns:a16="http://schemas.microsoft.com/office/drawing/2014/main" id="{FDF9D5E3-540D-4B97-AD04-0045E67D8D52}"/>
              </a:ext>
            </a:extLst>
          </p:cNvPr>
          <p:cNvSpPr>
            <a:spLocks xmlns:a="http://schemas.openxmlformats.org/drawingml/2006/main" noGrp="1"/>
          </p:cNvSpPr>
          <p:nvPr/>
        </p:nvSpPr>
        <p:spPr>
          <a:xfrm xmlns:a="http://schemas.openxmlformats.org/drawingml/2006/main">
            <a:off x="571500" y="713422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Extra kosten per box stijgen; extra opbrengst per box blijft € 5.</a:t>
            </a:r>
          </a:p>
        </p:txBody>
      </p:sp>
    </p:spTree>
    <p:extLst>
      <p:ext uri="{BB962C8B-B14F-4D97-AF65-F5344CB8AC3E}">
        <p14:creationId xmlns:p14="http://schemas.microsoft.com/office/powerpoint/2010/main" val="163402272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5e · Vrijdag: positieve winst">
            <a:extLst xmlns:a="http://schemas.openxmlformats.org/drawingml/2006/main">
              <a:ext uri="{FF2B5EF4-FFF2-40B4-BE49-F238E27FC236}">
                <a16:creationId xmlns:a16="http://schemas.microsoft.com/office/drawing/2014/main" id="{BCB966A3-B539-402A-94AC-AB256FB0E0A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5e · Vrijdag: positieve winst</a:t>
            </a:r>
          </a:p>
        </p:txBody>
      </p:sp>
      <p:sp>
        <p:nvSpPr>
          <p:cNvPr id="2" name="">
            <a:extLst xmlns:a="http://schemas.openxmlformats.org/drawingml/2006/main">
              <a:ext uri="{FF2B5EF4-FFF2-40B4-BE49-F238E27FC236}">
                <a16:creationId xmlns:a16="http://schemas.microsoft.com/office/drawing/2014/main" id="{9609BD19-EA66-427B-9BD6-6EE9FD4242E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A3AE3447-B97D-4EC7-9C0E-8FF40ED593C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18">
            <a:extLst xmlns:a="http://schemas.openxmlformats.org/drawingml/2006/main">
              <a:ext uri="{FF2B5EF4-FFF2-40B4-BE49-F238E27FC236}">
                <a16:creationId xmlns:a16="http://schemas.microsoft.com/office/drawing/2014/main" id="{5B5F7B01-EBD5-47B1-82A5-C3D88DDDB54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Break-even: (400; 2.000)">
            <a:extLst xmlns:a="http://schemas.openxmlformats.org/drawingml/2006/main">
              <a:ext uri="{FF2B5EF4-FFF2-40B4-BE49-F238E27FC236}">
                <a16:creationId xmlns:a16="http://schemas.microsoft.com/office/drawing/2014/main" id="{A64D187A-BA8C-42A1-9A6D-AA50DB20215B}"/>
              </a:ext>
            </a:extLst>
          </p:cNvPr>
          <p:cNvSpPr>
            <a:spLocks xmlns:a="http://schemas.openxmlformats.org/drawingml/2006/main" noGrp="1"/>
          </p:cNvSpPr>
          <p:nvPr/>
        </p:nvSpPr>
        <p:spPr>
          <a:xfrm xmlns:a="http://schemas.openxmlformats.org/drawingml/2006/main">
            <a:off x="571500" y="1714500"/>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Break-even: (400; 2.000)</a:t>
            </a:r>
          </a:p>
        </p:txBody>
      </p:sp>
      <p:graphicFrame>
        <p:nvGraphicFramePr>
          <p:cNvPr id="15" name="Chart"/>
          <p:cNvGraphicFramePr/>
          <p:nvPr/>
        </p:nvGraphicFramePr>
        <p:xfrm>
          <a:off xmlns:a="http://schemas.openxmlformats.org/drawingml/2006/main" x="571500" y="2190750"/>
          <a:ext xmlns:a="http://schemas.openxmlformats.org/drawingml/2006/main" cx="10572750" cy="5591175"/>
        </p:xfrm>
        <a:graphic xmlns:a="http://schemas.openxmlformats.org/drawingml/2006/main">
          <a:graphicData uri="http://schemas.openxmlformats.org/drawingml/2006/chart">
            <c:chart xmlns:r="http://schemas.openxmlformats.org/officeDocument/2006/relationships" xmlns:c="http://schemas.openxmlformats.org/drawingml/2006/chart" r:id="R5112d703c33a48b0"/>
          </a:graphicData>
        </a:graphic>
      </p:graphicFrame>
      <p:sp>
        <p:nvSpPr>
          <p:cNvPr id="7" name="TO &gt; TK vrijdag">
            <a:extLst xmlns:a="http://schemas.openxmlformats.org/drawingml/2006/main">
              <a:ext uri="{FF2B5EF4-FFF2-40B4-BE49-F238E27FC236}">
                <a16:creationId xmlns:a16="http://schemas.microsoft.com/office/drawing/2014/main" id="{60D45C0B-2413-454C-955B-8C58C8397FAD}"/>
              </a:ext>
            </a:extLst>
          </p:cNvPr>
          <p:cNvSpPr>
            <a:spLocks xmlns:a="http://schemas.openxmlformats.org/drawingml/2006/main" noGrp="1"/>
          </p:cNvSpPr>
          <p:nvPr/>
        </p:nvSpPr>
        <p:spPr>
          <a:xfrm xmlns:a="http://schemas.openxmlformats.org/drawingml/2006/main">
            <a:off x="11525250" y="2781300"/>
            <a:ext cx="3143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94D16"/>
                </a:solidFill>
                <a:latin typeface="Arial"/>
                <a:ea typeface="Arial"/>
                <a:cs typeface="Arial"/>
              </a:defRPr>
            </a:pPr>
            <a:r>
              <a:rPr sz="2625" b="1">
                <a:solidFill>
                  <a:srgbClr val="A94D16"/>
                </a:solidFill>
                <a:latin typeface="Arial"/>
                <a:ea typeface="Arial"/>
                <a:cs typeface="Arial"/>
              </a:rPr>
              <a:t>TO &gt; TK vrijdag</a:t>
            </a:r>
          </a:p>
        </p:txBody>
      </p:sp>
      <p:sp>
        <p:nvSpPr>
          <p:cNvPr id="8" name="400 &lt; Q ≤ 1.000&#10;&#10;Gehele aantallen:&#10;401 t/m 1.000&#10;lunchboxen ">
            <a:extLst xmlns:a="http://schemas.openxmlformats.org/drawingml/2006/main">
              <a:ext uri="{FF2B5EF4-FFF2-40B4-BE49-F238E27FC236}">
                <a16:creationId xmlns:a16="http://schemas.microsoft.com/office/drawing/2014/main" id="{1AC6F00C-756E-4951-9927-983E48F4A26F}"/>
              </a:ext>
            </a:extLst>
          </p:cNvPr>
          <p:cNvSpPr>
            <a:spLocks xmlns:a="http://schemas.openxmlformats.org/drawingml/2006/main" noGrp="1"/>
          </p:cNvSpPr>
          <p:nvPr/>
        </p:nvSpPr>
        <p:spPr>
          <a:xfrm xmlns:a="http://schemas.openxmlformats.org/drawingml/2006/main">
            <a:off x="11525250" y="3857625"/>
            <a:ext cx="3143250" cy="2390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400 &lt; Q ≤ 1.000</a:t>
            </a:r>
          </a:p>
          <a:p xmlns:a="http://schemas.openxmlformats.org/drawingml/2006/main">
            <a:r>
              <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Gehele aantallen: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401 t/m 1.000</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lunchboxen per dag</a:t>
            </a:r>
          </a:p>
        </p:txBody>
      </p:sp>
      <p:sp>
        <p:nvSpPr>
          <p:cNvPr id="9" name="Bij Q = 700:&#10;€ 900 winst">
            <a:extLst xmlns:a="http://schemas.openxmlformats.org/drawingml/2006/main">
              <a:ext uri="{FF2B5EF4-FFF2-40B4-BE49-F238E27FC236}">
                <a16:creationId xmlns:a16="http://schemas.microsoft.com/office/drawing/2014/main" id="{5C21ACFC-955B-4127-B917-06A57B04F1D3}"/>
              </a:ext>
            </a:extLst>
          </p:cNvPr>
          <p:cNvSpPr>
            <a:spLocks xmlns:a="http://schemas.openxmlformats.org/drawingml/2006/main" noGrp="1"/>
          </p:cNvSpPr>
          <p:nvPr/>
        </p:nvSpPr>
        <p:spPr>
          <a:xfrm xmlns:a="http://schemas.openxmlformats.org/drawingml/2006/main">
            <a:off x="11525250" y="6677025"/>
            <a:ext cx="31432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20665B"/>
                </a:solidFill>
                <a:latin typeface="Arial"/>
                <a:ea typeface="Arial"/>
                <a:cs typeface="Arial"/>
              </a:defRPr>
            </a:pPr>
            <a:r>
              <a:rPr sz="2325" b="1">
                <a:solidFill>
                  <a:srgbClr val="20665B"/>
                </a:solidFill>
                <a:latin typeface="Arial"/>
                <a:ea typeface="Arial"/>
                <a:cs typeface="Arial"/>
              </a:rPr>
              <a:t>Bij Q = 700:</a:t>
            </a:r>
          </a:p>
          <a:p xmlns:a="http://schemas.openxmlformats.org/drawingml/2006/main">
            <a:pPr algn="l">
              <a:defRPr sz="2325" b="1">
                <a:solidFill>
                  <a:srgbClr val="20665B"/>
                </a:solidFill>
                <a:latin typeface="Arial"/>
                <a:ea typeface="Arial"/>
                <a:cs typeface="Arial"/>
              </a:defRPr>
            </a:pPr>
            <a:r>
              <a:rPr sz="2325" b="1">
                <a:solidFill>
                  <a:srgbClr val="20665B"/>
                </a:solidFill>
                <a:latin typeface="Arial"/>
                <a:ea typeface="Arial"/>
                <a:cs typeface="Arial"/>
              </a:rPr>
              <a:t>€ 900 winst</a:t>
            </a:r>
          </a:p>
        </p:txBody>
      </p:sp>
    </p:spTree>
    <p:extLst>
      <p:ext uri="{BB962C8B-B14F-4D97-AF65-F5344CB8AC3E}">
        <p14:creationId xmlns:p14="http://schemas.microsoft.com/office/powerpoint/2010/main" val="184688119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5e · Groei per extra lunchbox">
            <a:extLst xmlns:a="http://schemas.openxmlformats.org/drawingml/2006/main">
              <a:ext uri="{FF2B5EF4-FFF2-40B4-BE49-F238E27FC236}">
                <a16:creationId xmlns:a16="http://schemas.microsoft.com/office/drawing/2014/main" id="{A3D43738-AAD5-4AA6-875A-3E1AE128C7C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5e · Groei per extra lunchbox</a:t>
            </a:r>
          </a:p>
        </p:txBody>
      </p:sp>
      <p:sp>
        <p:nvSpPr>
          <p:cNvPr id="2" name="">
            <a:extLst xmlns:a="http://schemas.openxmlformats.org/drawingml/2006/main">
              <a:ext uri="{FF2B5EF4-FFF2-40B4-BE49-F238E27FC236}">
                <a16:creationId xmlns:a16="http://schemas.microsoft.com/office/drawing/2014/main" id="{8E8E5A0A-3CF4-46C6-8CC7-7502DB2202B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4486A2BA-AC3C-4C8A-86C8-6E10128EFC4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19">
            <a:extLst xmlns:a="http://schemas.openxmlformats.org/drawingml/2006/main">
              <a:ext uri="{FF2B5EF4-FFF2-40B4-BE49-F238E27FC236}">
                <a16:creationId xmlns:a16="http://schemas.microsoft.com/office/drawing/2014/main" id="{E5B7736C-20FC-4A72-8442-9B0C96B615D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graphicFrame>
        <p:nvGraphicFramePr>
          <p:cNvPr id="12" name=""/>
          <p:cNvGraphicFramePr/>
          <p:nvPr/>
        </p:nvGraphicFramePr>
        <p:xfrm>
          <a:off xmlns:a="http://schemas.openxmlformats.org/drawingml/2006/main" x="571500" y="1962150"/>
          <a:ext xmlns:a="http://schemas.openxmlformats.org/drawingml/2006/main" cx="14097000" cy="3857625"/>
        </p:xfrm>
        <a:graphic xmlns:a="http://schemas.openxmlformats.org/drawingml/2006/main">
          <a:graphicData uri="http://schemas.openxmlformats.org/drawingml/2006/table">
            <a:tbl>
              <a:tblPr/>
              <a:tblGrid>
                <a:gridCol w="6096000"/>
                <a:gridCol w="2667000"/>
                <a:gridCol w="2667000"/>
                <a:gridCol w="2667000"/>
              </a:tblGrid>
              <a:tr h="771525">
                <a:tc>
                  <a:txBody>
                    <a:bodyPr lIns="171450" tIns="95250" rIns="152400" bIns="95250"/>
                    <a:lstStyle/>
                    <a:p>
                      <a:r>
                        <a:rPr sz="2475" b="1">
                          <a:solidFill>
                            <a:srgbClr val="FFFFFF"/>
                          </a:solidFill>
                          <a:latin typeface="Arial"/>
                          <a:ea typeface="Arial"/>
                          <a:cs typeface="Arial"/>
                        </a:rPr>
                        <a:t>Dag / hoeveelheid</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MO</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MK</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MO − MK</a:t>
                      </a:r>
                    </a:p>
                  </a:txBody>
                  <a:tcPr marL="91440" marR="91440" marT="45720" marB="45720" anchor="ctr">
                    <a:solidFill>
                      <a:srgbClr val="183247"/>
                    </a:solidFill>
                  </a:tcPr>
                </a:tc>
              </a:tr>
              <a:tr h="771525">
                <a:tc>
                  <a:txBody>
                    <a:bodyPr lIns="171450" tIns="95250" rIns="152400" bIns="95250"/>
                    <a:lstStyle/>
                    <a:p>
                      <a:r>
                        <a:rPr sz="2475" b="0">
                          <a:solidFill>
                            <a:srgbClr val="183247"/>
                          </a:solidFill>
                          <a:latin typeface="Arial"/>
                          <a:ea typeface="Arial"/>
                          <a:cs typeface="Arial"/>
                        </a:rPr>
                        <a:t>Vrijdag: 400 &lt; Q ≤ 1.000</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€ 5,00</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€ 2,00</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€ 3,00</a:t>
                      </a:r>
                    </a:p>
                  </a:txBody>
                  <a:tcPr marL="91440" marR="91440" marT="45720" marB="45720" anchor="ctr">
                    <a:solidFill>
                      <a:srgbClr val="FFFFFF"/>
                    </a:solidFill>
                  </a:tcPr>
                </a:tc>
              </a:tr>
              <a:tr h="771525">
                <a:tc>
                  <a:txBody>
                    <a:bodyPr lIns="171450" tIns="95250" rIns="152400" bIns="95250"/>
                    <a:lstStyle/>
                    <a:p>
                      <a:r>
                        <a:rPr sz="2475" b="0">
                          <a:solidFill>
                            <a:srgbClr val="183247"/>
                          </a:solidFill>
                          <a:latin typeface="Arial"/>
                          <a:ea typeface="Arial"/>
                          <a:cs typeface="Arial"/>
                        </a:rPr>
                        <a:t>Zaterdag: 700 → 800</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€ 5,00</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€ 3,00</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€ 2,00</a:t>
                      </a:r>
                    </a:p>
                  </a:txBody>
                  <a:tcPr marL="91440" marR="91440" marT="45720" marB="45720" anchor="ctr">
                    <a:solidFill>
                      <a:srgbClr val="EFF4F7"/>
                    </a:solidFill>
                  </a:tcPr>
                </a:tc>
              </a:tr>
              <a:tr h="771525">
                <a:tc>
                  <a:txBody>
                    <a:bodyPr lIns="171450" tIns="95250" rIns="152400" bIns="95250"/>
                    <a:lstStyle/>
                    <a:p>
                      <a:r>
                        <a:rPr sz="2475" b="0">
                          <a:solidFill>
                            <a:srgbClr val="183247"/>
                          </a:solidFill>
                          <a:latin typeface="Arial"/>
                          <a:ea typeface="Arial"/>
                          <a:cs typeface="Arial"/>
                        </a:rPr>
                        <a:t>Zaterdag: 800 → 900</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€ 5,00</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€ 3,50</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€ 1,50</a:t>
                      </a:r>
                    </a:p>
                  </a:txBody>
                  <a:tcPr marL="91440" marR="91440" marT="45720" marB="45720" anchor="ctr">
                    <a:solidFill>
                      <a:srgbClr val="FFFFFF"/>
                    </a:solidFill>
                  </a:tcPr>
                </a:tc>
              </a:tr>
              <a:tr h="771525">
                <a:tc>
                  <a:txBody>
                    <a:bodyPr lIns="171450" tIns="95250" rIns="152400" bIns="95250"/>
                    <a:lstStyle/>
                    <a:p>
                      <a:r>
                        <a:rPr sz="2475" b="0">
                          <a:solidFill>
                            <a:srgbClr val="183247"/>
                          </a:solidFill>
                          <a:latin typeface="Arial"/>
                          <a:ea typeface="Arial"/>
                          <a:cs typeface="Arial"/>
                        </a:rPr>
                        <a:t>Zaterdag: 900 → 1.000</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€ 5,00</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€ 4,00</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€ 1,00</a:t>
                      </a:r>
                    </a:p>
                  </a:txBody>
                  <a:tcPr marL="91440" marR="91440" marT="45720" marB="45720" anchor="ctr">
                    <a:solidFill>
                      <a:srgbClr val="EFF4F7"/>
                    </a:solidFill>
                  </a:tcPr>
                </a:tc>
              </a:tr>
            </a:tbl>
          </a:graphicData>
        </a:graphic>
      </p:graphicFrame>
      <p:sp>
        <p:nvSpPr>
          <p:cNvPr id="6" name="Alle bedragen: € per extra lunchbox">
            <a:extLst xmlns:a="http://schemas.openxmlformats.org/drawingml/2006/main">
              <a:ext uri="{FF2B5EF4-FFF2-40B4-BE49-F238E27FC236}">
                <a16:creationId xmlns:a16="http://schemas.microsoft.com/office/drawing/2014/main" id="{6E1E70E9-DAB9-4C8B-A4C7-4006C9EBF169}"/>
              </a:ext>
            </a:extLst>
          </p:cNvPr>
          <p:cNvSpPr>
            <a:spLocks xmlns:a="http://schemas.openxmlformats.org/drawingml/2006/main" noGrp="1"/>
          </p:cNvSpPr>
          <p:nvPr/>
        </p:nvSpPr>
        <p:spPr>
          <a:xfrm xmlns:a="http://schemas.openxmlformats.org/drawingml/2006/main">
            <a:off x="571500" y="6134100"/>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445B6B"/>
                </a:solidFill>
                <a:latin typeface="Arial"/>
                <a:ea typeface="Arial"/>
                <a:cs typeface="Arial"/>
              </a:defRPr>
            </a:pPr>
            <a:r>
              <a:rPr sz="2325" b="0">
                <a:solidFill>
                  <a:srgbClr val="445B6B"/>
                </a:solidFill>
                <a:latin typeface="Arial"/>
                <a:ea typeface="Arial"/>
                <a:cs typeface="Arial"/>
              </a:rPr>
              <a:t>Alle bedragen: € per extra lunchbox</a:t>
            </a:r>
          </a:p>
        </p:txBody>
      </p:sp>
      <p:sp>
        <p:nvSpPr>
          <p:cNvPr id="7" name="Op vrijdag bij 400 &lt; Q ≤ 1.000 groeit de positieve&#10;winstafst">
            <a:extLst xmlns:a="http://schemas.openxmlformats.org/drawingml/2006/main">
              <a:ext uri="{FF2B5EF4-FFF2-40B4-BE49-F238E27FC236}">
                <a16:creationId xmlns:a16="http://schemas.microsoft.com/office/drawing/2014/main" id="{F7C47931-3C3E-4472-AE66-2478A1A7120B}"/>
              </a:ext>
            </a:extLst>
          </p:cNvPr>
          <p:cNvSpPr>
            <a:spLocks xmlns:a="http://schemas.openxmlformats.org/drawingml/2006/main" noGrp="1"/>
          </p:cNvSpPr>
          <p:nvPr/>
        </p:nvSpPr>
        <p:spPr>
          <a:xfrm xmlns:a="http://schemas.openxmlformats.org/drawingml/2006/main">
            <a:off x="571500" y="6896100"/>
            <a:ext cx="14097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Op vrijdag bij 400 &lt; Q ≤ 1.000 groeit de positieve</a:t>
            </a:r>
          </a:p>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winstafstand het snelst: € 3 per extra lunchbox.</a:t>
            </a:r>
          </a:p>
        </p:txBody>
      </p:sp>
    </p:spTree>
    <p:extLst>
      <p:ext uri="{BB962C8B-B14F-4D97-AF65-F5344CB8AC3E}">
        <p14:creationId xmlns:p14="http://schemas.microsoft.com/office/powerpoint/2010/main" val="67558894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5f · Extra omzet is niet extra winst">
            <a:extLst xmlns:a="http://schemas.openxmlformats.org/drawingml/2006/main">
              <a:ext uri="{FF2B5EF4-FFF2-40B4-BE49-F238E27FC236}">
                <a16:creationId xmlns:a16="http://schemas.microsoft.com/office/drawing/2014/main" id="{14FDAF3A-0F64-4B09-835F-82307A150F0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5f · Extra omzet is niet extra winst</a:t>
            </a:r>
          </a:p>
        </p:txBody>
      </p:sp>
      <p:sp>
        <p:nvSpPr>
          <p:cNvPr id="2" name="">
            <a:extLst xmlns:a="http://schemas.openxmlformats.org/drawingml/2006/main">
              <a:ext uri="{FF2B5EF4-FFF2-40B4-BE49-F238E27FC236}">
                <a16:creationId xmlns:a16="http://schemas.microsoft.com/office/drawing/2014/main" id="{D2A618E9-374B-47FC-9621-02EF83265CC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2BC3BBE0-35C2-4936-8CE6-D9AB3DA431B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20">
            <a:extLst xmlns:a="http://schemas.openxmlformats.org/drawingml/2006/main">
              <a:ext uri="{FF2B5EF4-FFF2-40B4-BE49-F238E27FC236}">
                <a16:creationId xmlns:a16="http://schemas.microsoft.com/office/drawing/2014/main" id="{4BA213DC-35AA-459F-83EC-A83CA42D0D3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Extra winst = ΔTO − ΔTK = (MO − MK) × ΔQ">
            <a:extLst xmlns:a="http://schemas.openxmlformats.org/drawingml/2006/main">
              <a:ext uri="{FF2B5EF4-FFF2-40B4-BE49-F238E27FC236}">
                <a16:creationId xmlns:a16="http://schemas.microsoft.com/office/drawing/2014/main" id="{61EBAB38-D6D7-4F9C-BA51-5BC838E5317F}"/>
              </a:ext>
            </a:extLst>
          </p:cNvPr>
          <p:cNvSpPr>
            <a:spLocks xmlns:a="http://schemas.openxmlformats.org/drawingml/2006/main" noGrp="1"/>
          </p:cNvSpPr>
          <p:nvPr/>
        </p:nvSpPr>
        <p:spPr>
          <a:xfrm xmlns:a="http://schemas.openxmlformats.org/drawingml/2006/main">
            <a:off x="571500" y="1752600"/>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Extra winst = ΔTO − ΔTK = (MO − MK) × ΔQ</a:t>
            </a:r>
          </a:p>
        </p:txBody>
      </p:sp>
      <p:graphicFrame>
        <p:nvGraphicFramePr>
          <p:cNvPr id="14" name=""/>
          <p:cNvGraphicFramePr/>
          <p:nvPr/>
        </p:nvGraphicFramePr>
        <p:xfrm>
          <a:off xmlns:a="http://schemas.openxmlformats.org/drawingml/2006/main" x="571500" y="2857500"/>
          <a:ext xmlns:a="http://schemas.openxmlformats.org/drawingml/2006/main" cx="14097000" cy="3324225"/>
        </p:xfrm>
        <a:graphic xmlns:a="http://schemas.openxmlformats.org/drawingml/2006/main">
          <a:graphicData uri="http://schemas.openxmlformats.org/drawingml/2006/table">
            <a:tbl>
              <a:tblPr/>
              <a:tblGrid>
                <a:gridCol w="3333750"/>
                <a:gridCol w="3048000"/>
                <a:gridCol w="3048000"/>
                <a:gridCol w="4667250"/>
              </a:tblGrid>
              <a:tr h="831056">
                <a:tc>
                  <a:txBody>
                    <a:bodyPr lIns="171450" tIns="95250" rIns="152400" bIns="95250"/>
                    <a:lstStyle/>
                    <a:p>
                      <a:r>
                        <a:rPr sz="2325" b="1">
                          <a:solidFill>
                            <a:srgbClr val="FFFFFF"/>
                          </a:solidFill>
                          <a:latin typeface="Arial"/>
                          <a:ea typeface="Arial"/>
                          <a:cs typeface="Arial"/>
                        </a:rPr>
                        <a:t>Zaterdagstap</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Extra TO (€ per dag)</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Extra TK (€ per dag)</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Extra winst (€ per dag)</a:t>
                      </a:r>
                    </a:p>
                  </a:txBody>
                  <a:tcPr marL="91440" marR="91440" marT="45720" marB="45720" anchor="ctr">
                    <a:solidFill>
                      <a:srgbClr val="183247"/>
                    </a:solidFill>
                  </a:tcPr>
                </a:tc>
              </a:tr>
              <a:tr h="831056">
                <a:tc>
                  <a:txBody>
                    <a:bodyPr lIns="171450" tIns="95250" rIns="152400" bIns="95250"/>
                    <a:lstStyle/>
                    <a:p>
                      <a:r>
                        <a:rPr sz="2325" b="0">
                          <a:solidFill>
                            <a:srgbClr val="183247"/>
                          </a:solidFill>
                          <a:latin typeface="Arial"/>
                          <a:ea typeface="Arial"/>
                          <a:cs typeface="Arial"/>
                        </a:rPr>
                        <a:t>700 → 800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500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300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(5 − 3) × 100 = 200</a:t>
                      </a:r>
                    </a:p>
                  </a:txBody>
                  <a:tcPr marL="91440" marR="91440" marT="45720" marB="45720" anchor="ctr">
                    <a:solidFill>
                      <a:srgbClr val="FFFFFF"/>
                    </a:solidFill>
                  </a:tcPr>
                </a:tc>
              </a:tr>
              <a:tr h="831056">
                <a:tc>
                  <a:txBody>
                    <a:bodyPr lIns="171450" tIns="95250" rIns="152400" bIns="95250"/>
                    <a:lstStyle/>
                    <a:p>
                      <a:r>
                        <a:rPr sz="2325" b="0">
                          <a:solidFill>
                            <a:srgbClr val="183247"/>
                          </a:solidFill>
                          <a:latin typeface="Arial"/>
                          <a:ea typeface="Arial"/>
                          <a:cs typeface="Arial"/>
                        </a:rPr>
                        <a:t>800 → 900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500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350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(5 − 3,50) × 100 = 150</a:t>
                      </a:r>
                    </a:p>
                  </a:txBody>
                  <a:tcPr marL="91440" marR="91440" marT="45720" marB="45720" anchor="ctr">
                    <a:solidFill>
                      <a:srgbClr val="EFF4F7"/>
                    </a:solidFill>
                  </a:tcPr>
                </a:tc>
              </a:tr>
              <a:tr h="831056">
                <a:tc>
                  <a:txBody>
                    <a:bodyPr lIns="171450" tIns="95250" rIns="152400" bIns="95250"/>
                    <a:lstStyle/>
                    <a:p>
                      <a:r>
                        <a:rPr sz="2325" b="0">
                          <a:solidFill>
                            <a:srgbClr val="183247"/>
                          </a:solidFill>
                          <a:latin typeface="Arial"/>
                          <a:ea typeface="Arial"/>
                          <a:cs typeface="Arial"/>
                        </a:rPr>
                        <a:t>900 → 1.000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500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400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(5 − 4) × 100 = 100</a:t>
                      </a:r>
                    </a:p>
                  </a:txBody>
                  <a:tcPr marL="91440" marR="91440" marT="45720" marB="45720" anchor="ctr">
                    <a:solidFill>
                      <a:srgbClr val="FFFFFF"/>
                    </a:solidFill>
                  </a:tcPr>
                </a:tc>
              </a:tr>
            </a:tbl>
          </a:graphicData>
        </a:graphic>
      </p:graphicFrame>
      <p:sp>
        <p:nvSpPr>
          <p:cNvPr id="7" name="De uitspraak is onjuist.">
            <a:extLst xmlns:a="http://schemas.openxmlformats.org/drawingml/2006/main">
              <a:ext uri="{FF2B5EF4-FFF2-40B4-BE49-F238E27FC236}">
                <a16:creationId xmlns:a16="http://schemas.microsoft.com/office/drawing/2014/main" id="{78163D4E-0A12-483D-ABEF-551BDE0D6E75}"/>
              </a:ext>
            </a:extLst>
          </p:cNvPr>
          <p:cNvSpPr>
            <a:spLocks xmlns:a="http://schemas.openxmlformats.org/drawingml/2006/main" noGrp="1"/>
          </p:cNvSpPr>
          <p:nvPr/>
        </p:nvSpPr>
        <p:spPr>
          <a:xfrm xmlns:a="http://schemas.openxmlformats.org/drawingml/2006/main">
            <a:off x="571500" y="6600825"/>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A94D16"/>
                </a:solidFill>
                <a:latin typeface="Arial"/>
                <a:ea typeface="Arial"/>
                <a:cs typeface="Arial"/>
              </a:defRPr>
            </a:pPr>
            <a:r>
              <a:rPr sz="3075" b="1">
                <a:solidFill>
                  <a:srgbClr val="A94D16"/>
                </a:solidFill>
                <a:latin typeface="Arial"/>
                <a:ea typeface="Arial"/>
                <a:cs typeface="Arial"/>
              </a:rPr>
              <a:t>De uitspraak is onjuist.</a:t>
            </a:r>
          </a:p>
        </p:txBody>
      </p:sp>
      <p:sp>
        <p:nvSpPr>
          <p:cNvPr id="8" name="Elke groep brengt € 500 extra op, maar kost steeds meer.">
            <a:extLst xmlns:a="http://schemas.openxmlformats.org/drawingml/2006/main">
              <a:ext uri="{FF2B5EF4-FFF2-40B4-BE49-F238E27FC236}">
                <a16:creationId xmlns:a16="http://schemas.microsoft.com/office/drawing/2014/main" id="{440D85E4-B7D8-4C2B-8695-7E14B2FBD546}"/>
              </a:ext>
            </a:extLst>
          </p:cNvPr>
          <p:cNvSpPr>
            <a:spLocks xmlns:a="http://schemas.openxmlformats.org/drawingml/2006/main" noGrp="1"/>
          </p:cNvSpPr>
          <p:nvPr/>
        </p:nvSpPr>
        <p:spPr>
          <a:xfrm xmlns:a="http://schemas.openxmlformats.org/drawingml/2006/main">
            <a:off x="571500" y="7353300"/>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Elke groep brengt € 500 extra op, maar kost steeds meer.</a:t>
            </a:r>
          </a:p>
        </p:txBody>
      </p:sp>
    </p:spTree>
    <p:extLst>
      <p:ext uri="{BB962C8B-B14F-4D97-AF65-F5344CB8AC3E}">
        <p14:creationId xmlns:p14="http://schemas.microsoft.com/office/powerpoint/2010/main" val="143198800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4 Gemengde opgaven">
            <a:extLst xmlns:a="http://schemas.openxmlformats.org/drawingml/2006/main">
              <a:ext uri="{FF2B5EF4-FFF2-40B4-BE49-F238E27FC236}">
                <a16:creationId xmlns:a16="http://schemas.microsoft.com/office/drawing/2014/main" id="{CD2D8340-A8A8-4E4F-B55F-AE6F7828B9C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§2.1.4 Gemengde opgaven</a:t>
            </a:r>
          </a:p>
        </p:txBody>
      </p:sp>
      <p:sp>
        <p:nvSpPr>
          <p:cNvPr id="2" name="">
            <a:extLst xmlns:a="http://schemas.openxmlformats.org/drawingml/2006/main">
              <a:ext uri="{FF2B5EF4-FFF2-40B4-BE49-F238E27FC236}">
                <a16:creationId xmlns:a16="http://schemas.microsoft.com/office/drawing/2014/main" id="{67164575-C6EB-4B29-981B-A320D3C9592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a:extLst xmlns:a="http://schemas.openxmlformats.org/drawingml/2006/main">
              <a:ext uri="{FF2B5EF4-FFF2-40B4-BE49-F238E27FC236}">
                <a16:creationId xmlns:a16="http://schemas.microsoft.com/office/drawing/2014/main" id="{81A47BC0-3E8D-4FDC-99FA-D34771B3A33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a:t>
            </a:r>
          </a:p>
        </p:txBody>
      </p:sp>
      <p:sp>
        <p:nvSpPr>
          <p:cNvPr id="4" name="21">
            <a:extLst xmlns:a="http://schemas.openxmlformats.org/drawingml/2006/main">
              <a:ext uri="{FF2B5EF4-FFF2-40B4-BE49-F238E27FC236}">
                <a16:creationId xmlns:a16="http://schemas.microsoft.com/office/drawing/2014/main" id="{0C53E0F7-6141-4F72-9532-4F5A850F9AF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phase">
            <a:extLst xmlns:a="http://schemas.openxmlformats.org/drawingml/2006/main">
              <a:ext uri="{FF2B5EF4-FFF2-40B4-BE49-F238E27FC236}">
                <a16:creationId xmlns:a16="http://schemas.microsoft.com/office/drawing/2014/main" id="{0E3D4741-36BD-4409-96F1-CC604D6E857B}"/>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87DF7C57-24CE-4E47-B9A7-9635893ADFD0}"/>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80E34460-06C6-483F-9C00-29ABCB6D8068}"/>
              </a:ext>
            </a:extLst>
          </p:cNvPr>
          <p:cNvSpPr>
            <a:spLocks xmlns:a="http://schemas.openxmlformats.org/drawingml/2006/main" noGrp="1"/>
          </p:cNvSpPr>
          <p:nvPr/>
        </p:nvSpPr>
        <p:spPr>
          <a:xfrm xmlns:a="http://schemas.openxmlformats.org/drawingml/2006/main">
            <a:off x="571500" y="2324100"/>
            <a:ext cx="4572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B422D429-B5F5-45E0-A3FD-F2958C4D4B18}"/>
              </a:ext>
            </a:extLst>
          </p:cNvPr>
          <p:cNvSpPr>
            <a:spLocks xmlns:a="http://schemas.openxmlformats.org/drawingml/2006/main" noGrp="1"/>
          </p:cNvSpPr>
          <p:nvPr/>
        </p:nvSpPr>
        <p:spPr>
          <a:xfrm xmlns:a="http://schemas.openxmlformats.org/drawingml/2006/main">
            <a:off x="1104900" y="2324100"/>
            <a:ext cx="74199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pen en rekenmachine.</a:t>
            </a:r>
          </a:p>
        </p:txBody>
      </p:sp>
      <p:sp>
        <p:nvSpPr>
          <p:cNvPr id="9" name="route-number-2">
            <a:extLst xmlns:a="http://schemas.openxmlformats.org/drawingml/2006/main">
              <a:ext uri="{FF2B5EF4-FFF2-40B4-BE49-F238E27FC236}">
                <a16:creationId xmlns:a16="http://schemas.microsoft.com/office/drawing/2014/main" id="{DC8C1DB6-4F05-48A1-9E31-E38596DD99C5}"/>
              </a:ext>
            </a:extLst>
          </p:cNvPr>
          <p:cNvSpPr>
            <a:spLocks xmlns:a="http://schemas.openxmlformats.org/drawingml/2006/main" noGrp="1"/>
          </p:cNvSpPr>
          <p:nvPr/>
        </p:nvSpPr>
        <p:spPr>
          <a:xfrm xmlns:a="http://schemas.openxmlformats.org/drawingml/2006/main">
            <a:off x="571500" y="3257550"/>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95F0F3A8-DDB7-42FF-964A-BD00AF919944}"/>
              </a:ext>
            </a:extLst>
          </p:cNvPr>
          <p:cNvSpPr>
            <a:spLocks xmlns:a="http://schemas.openxmlformats.org/drawingml/2006/main" noGrp="1"/>
          </p:cNvSpPr>
          <p:nvPr/>
        </p:nvSpPr>
        <p:spPr>
          <a:xfrm xmlns:a="http://schemas.openxmlformats.org/drawingml/2006/main">
            <a:off x="1104900" y="3257550"/>
            <a:ext cx="74199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D88C91F8-DB4B-4F26-866A-19C206F58161}"/>
              </a:ext>
            </a:extLst>
          </p:cNvPr>
          <p:cNvSpPr>
            <a:spLocks xmlns:a="http://schemas.openxmlformats.org/drawingml/2006/main" noGrp="1"/>
          </p:cNvSpPr>
          <p:nvPr/>
        </p:nvSpPr>
        <p:spPr>
          <a:xfrm xmlns:a="http://schemas.openxmlformats.org/drawingml/2006/main">
            <a:off x="571500" y="3829050"/>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6E7744D1-4FBB-4CE0-9E2C-EFAFAA8718C8}"/>
              </a:ext>
            </a:extLst>
          </p:cNvPr>
          <p:cNvSpPr>
            <a:spLocks xmlns:a="http://schemas.openxmlformats.org/drawingml/2006/main" noGrp="1"/>
          </p:cNvSpPr>
          <p:nvPr/>
        </p:nvSpPr>
        <p:spPr>
          <a:xfrm xmlns:a="http://schemas.openxmlformats.org/drawingml/2006/main">
            <a:off x="1104900" y="3829050"/>
            <a:ext cx="74199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3" name="route-number-4">
            <a:extLst xmlns:a="http://schemas.openxmlformats.org/drawingml/2006/main">
              <a:ext uri="{FF2B5EF4-FFF2-40B4-BE49-F238E27FC236}">
                <a16:creationId xmlns:a16="http://schemas.microsoft.com/office/drawing/2014/main" id="{89325EFC-3A53-4922-B0C4-33071B00BED6}"/>
              </a:ext>
            </a:extLst>
          </p:cNvPr>
          <p:cNvSpPr>
            <a:spLocks xmlns:a="http://schemas.openxmlformats.org/drawingml/2006/main" noGrp="1"/>
          </p:cNvSpPr>
          <p:nvPr/>
        </p:nvSpPr>
        <p:spPr>
          <a:xfrm xmlns:a="http://schemas.openxmlformats.org/drawingml/2006/main">
            <a:off x="571500" y="4438650"/>
            <a:ext cx="4572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A5978508-37D1-461F-8968-0ABE9FE3F218}"/>
              </a:ext>
            </a:extLst>
          </p:cNvPr>
          <p:cNvSpPr>
            <a:spLocks xmlns:a="http://schemas.openxmlformats.org/drawingml/2006/main" noGrp="1"/>
          </p:cNvSpPr>
          <p:nvPr/>
        </p:nvSpPr>
        <p:spPr>
          <a:xfrm xmlns:a="http://schemas.openxmlformats.org/drawingml/2006/main">
            <a:off x="1104900" y="4438650"/>
            <a:ext cx="741997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Werk verder aan de gemengde opgaven, stel vragen en kijk je antwoorden na.</a:t>
            </a:r>
          </a:p>
        </p:txBody>
      </p:sp>
      <p:sp>
        <p:nvSpPr>
          <p:cNvPr id="15" name="route-number-5">
            <a:extLst xmlns:a="http://schemas.openxmlformats.org/drawingml/2006/main">
              <a:ext uri="{FF2B5EF4-FFF2-40B4-BE49-F238E27FC236}">
                <a16:creationId xmlns:a16="http://schemas.microsoft.com/office/drawing/2014/main" id="{F2A63C2E-F60F-42D6-ADD0-32FCF8E1D09C}"/>
              </a:ext>
            </a:extLst>
          </p:cNvPr>
          <p:cNvSpPr>
            <a:spLocks xmlns:a="http://schemas.openxmlformats.org/drawingml/2006/main" noGrp="1"/>
          </p:cNvSpPr>
          <p:nvPr/>
        </p:nvSpPr>
        <p:spPr>
          <a:xfrm xmlns:a="http://schemas.openxmlformats.org/drawingml/2006/main">
            <a:off x="571500" y="5715000"/>
            <a:ext cx="457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4CA34909-A3EA-4788-B62A-FD05BC1C7265}"/>
              </a:ext>
            </a:extLst>
          </p:cNvPr>
          <p:cNvSpPr>
            <a:spLocks xmlns:a="http://schemas.openxmlformats.org/drawingml/2006/main" noGrp="1"/>
          </p:cNvSpPr>
          <p:nvPr/>
        </p:nvSpPr>
        <p:spPr>
          <a:xfrm xmlns:a="http://schemas.openxmlformats.org/drawingml/2006/main">
            <a:off x="1104900" y="5715000"/>
            <a:ext cx="74199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F7A6768B-80C0-41B8-8369-C3C5407BFE77}"/>
              </a:ext>
            </a:extLst>
          </p:cNvPr>
          <p:cNvSpPr>
            <a:spLocks xmlns:a="http://schemas.openxmlformats.org/drawingml/2006/main" noGrp="1"/>
          </p:cNvSpPr>
          <p:nvPr/>
        </p:nvSpPr>
        <p:spPr>
          <a:xfrm xmlns:a="http://schemas.openxmlformats.org/drawingml/2006/main">
            <a:off x="571500" y="65151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CB38B0EC-3862-4780-B650-AED69EBD1D00}"/>
              </a:ext>
            </a:extLst>
          </p:cNvPr>
          <p:cNvSpPr>
            <a:spLocks xmlns:a="http://schemas.openxmlformats.org/drawingml/2006/main" noGrp="1"/>
          </p:cNvSpPr>
          <p:nvPr/>
        </p:nvSpPr>
        <p:spPr>
          <a:xfrm xmlns:a="http://schemas.openxmlformats.org/drawingml/2006/main">
            <a:off x="1104900" y="65151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5.</a:t>
            </a:r>
          </a:p>
        </p:txBody>
      </p:sp>
      <p:sp>
        <p:nvSpPr>
          <p:cNvPr id="19" name="route-number-7">
            <a:extLst xmlns:a="http://schemas.openxmlformats.org/drawingml/2006/main">
              <a:ext uri="{FF2B5EF4-FFF2-40B4-BE49-F238E27FC236}">
                <a16:creationId xmlns:a16="http://schemas.microsoft.com/office/drawing/2014/main" id="{0B2FB14D-D09A-444E-80A8-070BB57D6761}"/>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4C125921-0D59-440E-899C-690C06ED5CBF}"/>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55D63E22-4919-42E8-BD8B-7058560CF0A3}"/>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6107E2E3-FAB1-4E0E-8A17-87F559EDD99C}"/>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Bron en grootheid kiezen;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rekenen en grafieken verbinden;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uitspraken onderbouwen.</a:t>
            </a:r>
          </a:p>
        </p:txBody>
      </p:sp>
      <p:sp>
        <p:nvSpPr>
          <p:cNvPr id="23" name="">
            <a:extLst xmlns:a="http://schemas.openxmlformats.org/drawingml/2006/main">
              <a:ext uri="{FF2B5EF4-FFF2-40B4-BE49-F238E27FC236}">
                <a16:creationId xmlns:a16="http://schemas.microsoft.com/office/drawing/2014/main" id="{F76D75F4-3F03-4DE0-A274-8BF7665B5913}"/>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476D12BB-18C6-42F7-8176-F50D5DAC5129}"/>
              </a:ext>
            </a:extLst>
          </p:cNvPr>
          <p:cNvSpPr>
            <a:spLocks xmlns:a="http://schemas.openxmlformats.org/drawingml/2006/main" noGrp="1"/>
          </p:cNvSpPr>
          <p:nvPr/>
        </p:nvSpPr>
        <p:spPr>
          <a:xfrm xmlns:a="http://schemas.openxmlformats.org/drawingml/2006/main">
            <a:off x="9258300" y="38100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0CDB7DFA-7A71-47DF-BE2D-5D5096E5FC26}"/>
              </a:ext>
            </a:extLst>
          </p:cNvPr>
          <p:cNvSpPr>
            <a:spLocks xmlns:a="http://schemas.openxmlformats.org/drawingml/2006/main" noGrp="1"/>
          </p:cNvSpPr>
          <p:nvPr/>
        </p:nvSpPr>
        <p:spPr>
          <a:xfrm xmlns:a="http://schemas.openxmlformats.org/drawingml/2006/main">
            <a:off x="9258300" y="4305300"/>
            <a:ext cx="5381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Pagina 29</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Opgave 1</a:t>
            </a:r>
          </a:p>
        </p:txBody>
      </p:sp>
      <p:sp>
        <p:nvSpPr>
          <p:cNvPr id="26" name="">
            <a:extLst xmlns:a="http://schemas.openxmlformats.org/drawingml/2006/main">
              <a:ext uri="{FF2B5EF4-FFF2-40B4-BE49-F238E27FC236}">
                <a16:creationId xmlns:a16="http://schemas.microsoft.com/office/drawing/2014/main" id="{92C5C14F-ABAA-471D-A685-D6929A7A139F}"/>
              </a:ext>
            </a:extLst>
          </p:cNvPr>
          <p:cNvSpPr>
            <a:spLocks xmlns:a="http://schemas.openxmlformats.org/drawingml/2006/main" noGrp="1"/>
          </p:cNvSpPr>
          <p:nvPr/>
        </p:nvSpPr>
        <p:spPr>
          <a:xfrm xmlns:a="http://schemas.openxmlformats.org/drawingml/2006/main">
            <a:off x="9258300" y="525780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10E20F6C-046D-48B2-87F6-46CD9A3DCA2B}"/>
              </a:ext>
            </a:extLst>
          </p:cNvPr>
          <p:cNvSpPr>
            <a:spLocks xmlns:a="http://schemas.openxmlformats.org/drawingml/2006/main" noGrp="1"/>
          </p:cNvSpPr>
          <p:nvPr/>
        </p:nvSpPr>
        <p:spPr>
          <a:xfrm xmlns:a="http://schemas.openxmlformats.org/drawingml/2006/main">
            <a:off x="9258300" y="54959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6B11DB11-D06F-41A5-9133-90041C742116}"/>
              </a:ext>
            </a:extLst>
          </p:cNvPr>
          <p:cNvSpPr>
            <a:spLocks xmlns:a="http://schemas.openxmlformats.org/drawingml/2006/main" noGrp="1"/>
          </p:cNvSpPr>
          <p:nvPr/>
        </p:nvSpPr>
        <p:spPr>
          <a:xfrm xmlns:a="http://schemas.openxmlformats.org/drawingml/2006/main">
            <a:off x="9258300" y="6019800"/>
            <a:ext cx="5381625"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§2.1.4 · Opgaven 1 t/m 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Zelfstandig: 1 t/m 4 · Doel: 5</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 Bonus / Denkertje</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 Herhaling</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12659313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2026-09-28T12:47:41.5950000Z</dcterms:created>
  <dcterms:modified xsi:type="dcterms:W3CDTF">2026-09-28T12:47:41.5950000Z</dcterms:modified>
</coreProperties>
</file>