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4.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aae03ad1ce847c2" /><Relationship Type="http://schemas.openxmlformats.org/officeDocument/2006/relationships/extended-properties" Target="/docProps/app.xml" Id="R0fe124089a1143b1" /><Relationship Type="http://schemas.openxmlformats.org/officeDocument/2006/relationships/officeDocument" Target="/ppt/presentation.xml" Id="R07defdce6c734cf5" /></Relationships>
</file>

<file path=ppt/presentation.xml><?xml version="1.0" encoding="utf-8"?>
<p:presentation xmlns:p="http://schemas.openxmlformats.org/presentationml/2006/main">
  <p:sldMasterIdLst>
    <p:sldMasterId xmlns:r="http://schemas.openxmlformats.org/officeDocument/2006/relationships" id="2147483648" r:id="Rff6c2153c6ea4ad9"/>
  </p:sldMasterIdLst>
  <p:notesMasterIdLst>
    <p:notesMasterId xmlns:r="http://schemas.openxmlformats.org/officeDocument/2006/relationships" r:id="R5f2191f8a4cc4b77"/>
  </p:notesMasterIdLst>
  <p:sldIdLst>
    <p:sldId xmlns:r="http://schemas.openxmlformats.org/officeDocument/2006/relationships" id="256" r:id="Rd2a3b7ce96bd4ace"/>
    <p:sldId xmlns:r="http://schemas.openxmlformats.org/officeDocument/2006/relationships" id="257" r:id="R18c87ffce60c4f29"/>
    <p:sldId xmlns:r="http://schemas.openxmlformats.org/officeDocument/2006/relationships" id="258" r:id="Rdc93bb5ecb6043f2"/>
    <p:sldId xmlns:r="http://schemas.openxmlformats.org/officeDocument/2006/relationships" id="259" r:id="R50a053fce0824b55"/>
    <p:sldId xmlns:r="http://schemas.openxmlformats.org/officeDocument/2006/relationships" id="260" r:id="Re5020da9d1194286"/>
    <p:sldId xmlns:r="http://schemas.openxmlformats.org/officeDocument/2006/relationships" id="261" r:id="R74e1d8bc57464069"/>
    <p:sldId xmlns:r="http://schemas.openxmlformats.org/officeDocument/2006/relationships" id="262" r:id="Re8790dfd5e67444a"/>
    <p:sldId xmlns:r="http://schemas.openxmlformats.org/officeDocument/2006/relationships" id="263" r:id="Rb14776a8e84645be"/>
    <p:sldId xmlns:r="http://schemas.openxmlformats.org/officeDocument/2006/relationships" id="264" r:id="R9131d4572e9849d4"/>
    <p:sldId xmlns:r="http://schemas.openxmlformats.org/officeDocument/2006/relationships" id="265" r:id="R4a907b665abb479b"/>
    <p:sldId xmlns:r="http://schemas.openxmlformats.org/officeDocument/2006/relationships" id="266" r:id="R2dfed7cc828d41b5"/>
    <p:sldId xmlns:r="http://schemas.openxmlformats.org/officeDocument/2006/relationships" id="267" r:id="R8e2bb81b792a48e2"/>
    <p:sldId xmlns:r="http://schemas.openxmlformats.org/officeDocument/2006/relationships" id="268" r:id="R78ed3a76cd64443b"/>
    <p:sldId xmlns:r="http://schemas.openxmlformats.org/officeDocument/2006/relationships" id="269" r:id="R470c125284b24703"/>
    <p:sldId xmlns:r="http://schemas.openxmlformats.org/officeDocument/2006/relationships" id="270" r:id="R978fbb65fcdd45bb"/>
    <p:sldId xmlns:r="http://schemas.openxmlformats.org/officeDocument/2006/relationships" id="271" r:id="Rde9d128bfefc4da9"/>
    <p:sldId xmlns:r="http://schemas.openxmlformats.org/officeDocument/2006/relationships" id="272" r:id="R866e769625be42b6"/>
    <p:sldId xmlns:r="http://schemas.openxmlformats.org/officeDocument/2006/relationships" id="273" r:id="Rdc8544ce638d4551"/>
    <p:sldId xmlns:r="http://schemas.openxmlformats.org/officeDocument/2006/relationships" id="274" r:id="R29d4f6b53ee3437f"/>
    <p:sldId xmlns:r="http://schemas.openxmlformats.org/officeDocument/2006/relationships" id="275" r:id="R993f3c5d0cb54ef3"/>
    <p:sldId xmlns:r="http://schemas.openxmlformats.org/officeDocument/2006/relationships" id="276" r:id="R094157aa2b324dbf"/>
    <p:sldId xmlns:r="http://schemas.openxmlformats.org/officeDocument/2006/relationships" id="277" r:id="Rb2e4e8eb6be045b9"/>
    <p:sldId xmlns:r="http://schemas.openxmlformats.org/officeDocument/2006/relationships" id="278" r:id="R60897df33b8d4b3a"/>
    <p:sldId xmlns:r="http://schemas.openxmlformats.org/officeDocument/2006/relationships" id="279" r:id="R0872a9b1acf44813"/>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560aa483314876" /><Relationship Type="http://schemas.openxmlformats.org/officeDocument/2006/relationships/slideMaster" Target="/ppt/slideMasters/slideMaster1.xml" Id="Rff6c2153c6ea4ad9" /><Relationship Type="http://schemas.openxmlformats.org/officeDocument/2006/relationships/notesMaster" Target="/ppt/notesMasters/notesMaster1.xml" Id="R5f2191f8a4cc4b77" /><Relationship Type="http://schemas.openxmlformats.org/officeDocument/2006/relationships/presProps" Target="/ppt/presProps.xml" Id="Raf42d7b04a844bd8" /><Relationship Type="http://schemas.openxmlformats.org/officeDocument/2006/relationships/tableStyles" Target="/ppt/tableStyles.xml" Id="Ra7a5a220a83841f8" /><Relationship Type="http://schemas.openxmlformats.org/officeDocument/2006/relationships/slide" Target="/ppt/slides/slide1.xml" Id="Rd2a3b7ce96bd4ace" /><Relationship Type="http://schemas.openxmlformats.org/officeDocument/2006/relationships/slide" Target="/ppt/slides/slide2.xml" Id="R18c87ffce60c4f29" /><Relationship Type="http://schemas.openxmlformats.org/officeDocument/2006/relationships/slide" Target="/ppt/slides/slide3.xml" Id="Rdc93bb5ecb6043f2" /><Relationship Type="http://schemas.openxmlformats.org/officeDocument/2006/relationships/slide" Target="/ppt/slides/slide4.xml" Id="R50a053fce0824b55" /><Relationship Type="http://schemas.openxmlformats.org/officeDocument/2006/relationships/slide" Target="/ppt/slides/slide5.xml" Id="Re5020da9d1194286" /><Relationship Type="http://schemas.openxmlformats.org/officeDocument/2006/relationships/slide" Target="/ppt/slides/slide6.xml" Id="R74e1d8bc57464069" /><Relationship Type="http://schemas.openxmlformats.org/officeDocument/2006/relationships/slide" Target="/ppt/slides/slide7.xml" Id="Re8790dfd5e67444a" /><Relationship Type="http://schemas.openxmlformats.org/officeDocument/2006/relationships/slide" Target="/ppt/slides/slide8.xml" Id="Rb14776a8e84645be" /><Relationship Type="http://schemas.openxmlformats.org/officeDocument/2006/relationships/slide" Target="/ppt/slides/slide9.xml" Id="R9131d4572e9849d4" /><Relationship Type="http://schemas.openxmlformats.org/officeDocument/2006/relationships/slide" Target="/ppt/slides/slide10.xml" Id="R4a907b665abb479b" /><Relationship Type="http://schemas.openxmlformats.org/officeDocument/2006/relationships/slide" Target="/ppt/slides/slide11.xml" Id="R2dfed7cc828d41b5" /><Relationship Type="http://schemas.openxmlformats.org/officeDocument/2006/relationships/slide" Target="/ppt/slides/slide12.xml" Id="R8e2bb81b792a48e2" /><Relationship Type="http://schemas.openxmlformats.org/officeDocument/2006/relationships/slide" Target="/ppt/slides/slide13.xml" Id="R78ed3a76cd64443b" /><Relationship Type="http://schemas.openxmlformats.org/officeDocument/2006/relationships/slide" Target="/ppt/slides/slide14.xml" Id="R470c125284b24703" /><Relationship Type="http://schemas.openxmlformats.org/officeDocument/2006/relationships/slide" Target="/ppt/slides/slide15.xml" Id="R978fbb65fcdd45bb" /><Relationship Type="http://schemas.openxmlformats.org/officeDocument/2006/relationships/slide" Target="/ppt/slides/slide16.xml" Id="Rde9d128bfefc4da9" /><Relationship Type="http://schemas.openxmlformats.org/officeDocument/2006/relationships/slide" Target="/ppt/slides/slide17.xml" Id="R866e769625be42b6" /><Relationship Type="http://schemas.openxmlformats.org/officeDocument/2006/relationships/slide" Target="/ppt/slides/slide18.xml" Id="Rdc8544ce638d4551" /><Relationship Type="http://schemas.openxmlformats.org/officeDocument/2006/relationships/slide" Target="/ppt/slides/slide19.xml" Id="R29d4f6b53ee3437f" /><Relationship Type="http://schemas.openxmlformats.org/officeDocument/2006/relationships/slide" Target="/ppt/slides/slide20.xml" Id="R993f3c5d0cb54ef3" /><Relationship Type="http://schemas.openxmlformats.org/officeDocument/2006/relationships/slide" Target="/ppt/slides/slide21.xml" Id="R094157aa2b324dbf" /><Relationship Type="http://schemas.openxmlformats.org/officeDocument/2006/relationships/slide" Target="/ppt/slides/slide22.xml" Id="Rb2e4e8eb6be045b9" /><Relationship Type="http://schemas.openxmlformats.org/officeDocument/2006/relationships/slide" Target="/ppt/slides/slide23.xml" Id="R60897df33b8d4b3a" /><Relationship Type="http://schemas.openxmlformats.org/officeDocument/2006/relationships/slide" Target="/ppt/slides/slide24.xml" Id="R0872a9b1acf448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3984549b0d48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abe974f44d4920" /><Relationship Type="http://schemas.openxmlformats.org/officeDocument/2006/relationships/notesMaster" Target="/ppt/notesMasters/notesMaster1.xml" Id="Rba3c3ba1c9f84d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cc3ccab2664fd4" /><Relationship Type="http://schemas.openxmlformats.org/officeDocument/2006/relationships/notesMaster" Target="/ppt/notesMasters/notesMaster1.xml" Id="R9365e4ae2eef4e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84381af7c54708" /><Relationship Type="http://schemas.openxmlformats.org/officeDocument/2006/relationships/notesMaster" Target="/ppt/notesMasters/notesMaster1.xml" Id="R97bedc827a7f49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d87950e3b34a46" /><Relationship Type="http://schemas.openxmlformats.org/officeDocument/2006/relationships/notesMaster" Target="/ppt/notesMasters/notesMaster1.xml" Id="R92ab8d14913f4d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c13c0219054c5e" /><Relationship Type="http://schemas.openxmlformats.org/officeDocument/2006/relationships/notesMaster" Target="/ppt/notesMasters/notesMaster1.xml" Id="Rc2b18ab49a1947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298c4e475349ee" /><Relationship Type="http://schemas.openxmlformats.org/officeDocument/2006/relationships/notesMaster" Target="/ppt/notesMasters/notesMaster1.xml" Id="R5a4e5af3a6034d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6f777f219c4aef" /><Relationship Type="http://schemas.openxmlformats.org/officeDocument/2006/relationships/notesMaster" Target="/ppt/notesMasters/notesMaster1.xml" Id="Rddf7e9a5a9924a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9351cfba8440fe" /><Relationship Type="http://schemas.openxmlformats.org/officeDocument/2006/relationships/notesMaster" Target="/ppt/notesMasters/notesMaster1.xml" Id="Rc28fc888862d419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b87b2c94bf49c8" /><Relationship Type="http://schemas.openxmlformats.org/officeDocument/2006/relationships/notesMaster" Target="/ppt/notesMasters/notesMaster1.xml" Id="R076dcf45201b4b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c699837783446f" /><Relationship Type="http://schemas.openxmlformats.org/officeDocument/2006/relationships/notesMaster" Target="/ppt/notesMasters/notesMaster1.xml" Id="R578c5568b2bf4b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b697db485b4394" /><Relationship Type="http://schemas.openxmlformats.org/officeDocument/2006/relationships/notesMaster" Target="/ppt/notesMasters/notesMaster1.xml" Id="R803be5e64ef544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573128dd38442c" /><Relationship Type="http://schemas.openxmlformats.org/officeDocument/2006/relationships/notesMaster" Target="/ppt/notesMasters/notesMaster1.xml" Id="Ree32dce89e224c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1b72ddcb93248e9" /><Relationship Type="http://schemas.openxmlformats.org/officeDocument/2006/relationships/notesMaster" Target="/ppt/notesMasters/notesMaster1.xml" Id="R6663cc00eb054c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56dad2053ab444c" /><Relationship Type="http://schemas.openxmlformats.org/officeDocument/2006/relationships/notesMaster" Target="/ppt/notesMasters/notesMaster1.xml" Id="R0b1da4e79010461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3a9cf33f38f4bf4" /><Relationship Type="http://schemas.openxmlformats.org/officeDocument/2006/relationships/notesMaster" Target="/ppt/notesMasters/notesMaster1.xml" Id="Ra9684ea6ae22499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4fac8a87e174c36" /><Relationship Type="http://schemas.openxmlformats.org/officeDocument/2006/relationships/notesMaster" Target="/ppt/notesMasters/notesMaster1.xml" Id="R92a92b8b5970487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49ccf4030bc4a58" /><Relationship Type="http://schemas.openxmlformats.org/officeDocument/2006/relationships/notesMaster" Target="/ppt/notesMasters/notesMaster1.xml" Id="R63b805dc58a6463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0936ffb4b4c4fc2" /><Relationship Type="http://schemas.openxmlformats.org/officeDocument/2006/relationships/notesMaster" Target="/ppt/notesMasters/notesMaster1.xml" Id="Rb6c1d2d90e1e4dc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9d519bd23be460b" /><Relationship Type="http://schemas.openxmlformats.org/officeDocument/2006/relationships/notesMaster" Target="/ppt/notesMasters/notesMaster1.xml" Id="R59330f75c75a43d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30a5f35f0744725" /><Relationship Type="http://schemas.openxmlformats.org/officeDocument/2006/relationships/notesMaster" Target="/ppt/notesMasters/notesMaster1.xml" Id="Rf94f2b6379f4425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36cb41cb029427d" /><Relationship Type="http://schemas.openxmlformats.org/officeDocument/2006/relationships/notesMaster" Target="/ppt/notesMasters/notesMaster1.xml" Id="Rf30a67c1faf0482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cc8a1b67e824708" /><Relationship Type="http://schemas.openxmlformats.org/officeDocument/2006/relationships/notesMaster" Target="/ppt/notesMasters/notesMaster1.xml" Id="Rf92487329f8a4cc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21cac514cc14743" /><Relationship Type="http://schemas.openxmlformats.org/officeDocument/2006/relationships/notesMaster" Target="/ppt/notesMasters/notesMaster1.xml" Id="R7d6b91c689364b4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b439a37bdbb48f6" /><Relationship Type="http://schemas.openxmlformats.org/officeDocument/2006/relationships/notesMaster" Target="/ppt/notesMasters/notesMaster1.xml" Id="R72a0b01e0ba74c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vraagt opgave 1?</a:t>
            </a:r>
          </a:p>
          <a:p xmlns:a="http://schemas.openxmlformats.org/drawingml/2006/main">
            <a:r>
              <a:rPr sz="1400"/>
              <a:t/>
            </a:r>
          </a:p>
          <a:p xmlns:a="http://schemas.openxmlformats.org/drawingml/2006/main">
            <a:r>
              <a:rPr sz="1400"/>
              <a:t>Uitleg: Laat deze dia staan tijdens startopdracht. Start met opgave 1 op pagina 29. Deze gemengde paragraaf heeft geen afzonderlijke begeleide basissectie. Leerlingen werken met 1–4 naar doel 5 op pagina 32–33. Bespreek SmoothBox omdat deze echte doeloefening bronselectie, functies, break-even, GTK, marginale verschillen en grafiekinterpretatie samenbrengt. De klasopdracht/huiswerkopdracht is alle opgaven 1, 2, 3, 4, 5, 6 en 7 maken en nakijken, met behoud van het boeklabel bonus/denkertje bij 6 en herhaling bij 7. In de algemene docentenroute zijn 6 en 7 aanvullend; deze presentatie volgt de classroom-afspraak om alle gemengde opgaven als huiswerk te noemen. Begroot indien nodig vervolgwerktijd.</a:t>
            </a:r>
          </a:p>
          <a:p xmlns:a="http://schemas.openxmlformats.org/drawingml/2006/main">
            <a:r>
              <a:rPr sz="1400"/>
              <a:t/>
            </a:r>
          </a:p>
          <a:p xmlns:a="http://schemas.openxmlformats.org/drawingml/2006/main">
            <a:r>
              <a:rPr sz="1400"/>
              <a:t>Misvatting: Verwar bezoekers niet met verkochte producten. Het startpaginanummer is het gedrukte nummer 29, niet PDF-pagina 31.</a:t>
            </a:r>
          </a:p>
          <a:p xmlns:a="http://schemas.openxmlformats.org/drawingml/2006/main">
            <a:r>
              <a:rPr sz="1400"/>
              <a:t/>
            </a:r>
          </a:p>
          <a:p xmlns:a="http://schemas.openxmlformats.org/drawingml/2006/main">
            <a:r>
              <a:rPr sz="1400"/>
              <a:t>Overgang: Ga door naar de volgende lesfase wanneer de klas daaraan toe is.</a:t>
            </a:r>
          </a:p>
          <a:p xmlns:a="http://schemas.openxmlformats.org/drawingml/2006/main">
            <a:r>
              <a:rPr sz="1400"/>
              <a:t/>
            </a:r>
          </a:p>
          <a:p xmlns:a="http://schemas.openxmlformats.org/drawingml/2006/main">
            <a:r>
              <a:rPr sz="1400"/>
              <a:t>Bron: leerlingenboek Boek 2, chatuitgave 2026, revisie 21 september 2026, gedrukte pagina 29–34.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zie je of een vraag een totaal of een bedrag per product verlangt?</a:t>
            </a:r>
          </a:p>
          <a:p xmlns:a="http://schemas.openxmlformats.org/drawingml/2006/main">
            <a:r>
              <a:rPr sz="1400"/>
              <a:t/>
            </a:r>
          </a:p>
          <a:p xmlns:a="http://schemas.openxmlformats.org/drawingml/2006/main">
            <a:r>
              <a:rPr sz="1400"/>
              <a:t>Uitleg: Er komt geen nieuwe theorie bij. Haal de aanpak uit de voorgaande paragrafen terug. Bij SmoothBox kies je straks per vraag de juiste dag en bron. Een verklaring moet zeggen wat de berekende verandering betekent. De lesdoelen zijn relevante gegevens kiezen, kosten en opbrengsten combineren, een tabel met een grafiek verbinden en een uitspraak onderbouwen.</a:t>
            </a:r>
          </a:p>
          <a:p xmlns:a="http://schemas.openxmlformats.org/drawingml/2006/main">
            <a:r>
              <a:rPr sz="1400"/>
              <a:t/>
            </a:r>
          </a:p>
          <a:p xmlns:a="http://schemas.openxmlformats.org/drawingml/2006/main">
            <a:r>
              <a:rPr sz="1400"/>
              <a:t>Misvatting: Dezelfde formule op alle vragen toepassen werkt niet.</a:t>
            </a:r>
          </a:p>
          <a:p xmlns:a="http://schemas.openxmlformats.org/drawingml/2006/main">
            <a:r>
              <a:rPr sz="1400"/>
              <a:t/>
            </a:r>
          </a:p>
          <a:p xmlns:a="http://schemas.openxmlformats.org/drawingml/2006/main">
            <a:r>
              <a:rPr sz="1400"/>
              <a:t>Overgang: Demonstreer de aanpak met het aparte FietsWas-voorbeeld. Eventuele feedback op de al gemaakte startopdracht kiest de docent afzonderlijk.</a:t>
            </a:r>
          </a:p>
          <a:p xmlns:a="http://schemas.openxmlformats.org/drawingml/2006/main">
            <a:r>
              <a:rPr sz="1400"/>
              <a:t/>
            </a:r>
          </a:p>
          <a:p xmlns:a="http://schemas.openxmlformats.org/drawingml/2006/main">
            <a:r>
              <a:rPr sz="1400"/>
              <a:t>Bron: leerlingenboek Boek 2, chatuitgave 2026, revisie 21 september 2026, gedrukte pagina 29–33.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totaal verandert als er meer fietsen worden gewassen?</a:t>
            </a:r>
          </a:p>
          <a:p xmlns:a="http://schemas.openxmlformats.org/drawingml/2006/main">
            <a:r>
              <a:rPr sz="1400"/>
              <a:t/>
            </a:r>
          </a:p>
          <a:p xmlns:a="http://schemas.openxmlformats.org/drawingml/2006/main">
            <a:r>
              <a:rPr sz="1400"/>
              <a:t>Uitleg: FietsWas is een apart, zelfgemaakt voorbeeld. De constante kosten zijn 36 euro per dag. De variabele kosten zijn 2 euro per gewassen fiets. Alle gewassen fietsen worden betaald tegen 5 euro. Daardoor zijn TK = 36 + 2Q en TO = 5Q, binnen maximaal 40 fietsen per dag.</a:t>
            </a:r>
          </a:p>
          <a:p xmlns:a="http://schemas.openxmlformats.org/drawingml/2006/main">
            <a:r>
              <a:rPr sz="1400"/>
              <a:t/>
            </a:r>
          </a:p>
          <a:p xmlns:a="http://schemas.openxmlformats.org/drawingml/2006/main">
            <a:r>
              <a:rPr sz="1400"/>
              <a:t>Misvatting: Een vast bedrag per fiets betekent geen constante totale kosten.</a:t>
            </a:r>
          </a:p>
          <a:p xmlns:a="http://schemas.openxmlformats.org/drawingml/2006/main">
            <a:r>
              <a:rPr sz="1400"/>
              <a:t/>
            </a:r>
          </a:p>
          <a:p xmlns:a="http://schemas.openxmlformats.org/drawingml/2006/main">
            <a:r>
              <a:rPr sz="1400"/>
              <a:t>Overgang: Vergelijk totale winst en gemiddelde kosten bij twintig fietsen.</a:t>
            </a:r>
          </a:p>
          <a:p xmlns:a="http://schemas.openxmlformats.org/drawingml/2006/main">
            <a:r>
              <a:rPr sz="1400"/>
              <a:t/>
            </a:r>
          </a:p>
          <a:p xmlns:a="http://schemas.openxmlformats.org/drawingml/2006/main">
            <a:r>
              <a:rPr sz="1400"/>
              <a:t>Bron: Zelfgemaakt uitlegvoorbeeld FietsWas, niet uit het boek. Context en getallen zijn voor deze uitleg gekozen en vormen geen boekopgave of huiswerk. De onderliggende methoden sluiten aan bij Boek 2, chatuitgave 2026, §2.1.1–2.1.3: kostenfuncties, totale/gemiddelde bedragen, break-even en marginale veranderingen. https://github.com/meijer1973/4veco-lessen/blob/08d7fd27830b5c42d1dbebc7fcb73b882b4d67a4/Boek%202%20-%20Kosten%2C%20opbrengsten%2C%20elasticiteit%20en%20surplus/edities/chat-2026/boek/Boek_2_Compleet.pdf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deel je bij GTK door twintig en bij winst niet?</a:t>
            </a:r>
          </a:p>
          <a:p xmlns:a="http://schemas.openxmlformats.org/drawingml/2006/main">
            <a:r>
              <a:rPr sz="1400"/>
              <a:t/>
            </a:r>
          </a:p>
          <a:p xmlns:a="http://schemas.openxmlformats.org/drawingml/2006/main">
            <a:r>
              <a:rPr sz="1400"/>
              <a:t>Uitleg: Trek twee totalen af om de winst van 24 euro per dag te vinden. Deel de totale kosten van 76 euro door twintig fietsen om GTK van 3,80 euro per fiets te vinden. Benoem het verschil in bewerking en eenheid.</a:t>
            </a:r>
          </a:p>
          <a:p xmlns:a="http://schemas.openxmlformats.org/drawingml/2006/main">
            <a:r>
              <a:rPr sz="1400"/>
              <a:t/>
            </a:r>
          </a:p>
          <a:p xmlns:a="http://schemas.openxmlformats.org/drawingml/2006/main">
            <a:r>
              <a:rPr sz="1400"/>
              <a:t>Misvatting: 24 euro is de totale dagwinst, niet de winst per fiets.</a:t>
            </a:r>
          </a:p>
          <a:p xmlns:a="http://schemas.openxmlformats.org/drawingml/2006/main">
            <a:r>
              <a:rPr sz="1400"/>
              <a:t/>
            </a:r>
          </a:p>
          <a:p xmlns:a="http://schemas.openxmlformats.org/drawingml/2006/main">
            <a:r>
              <a:rPr sz="1400"/>
              <a:t>Overgang: Zoek waar de totale opbrengst precies alle kosten dekt.</a:t>
            </a:r>
          </a:p>
          <a:p xmlns:a="http://schemas.openxmlformats.org/drawingml/2006/main">
            <a:r>
              <a:rPr sz="1400"/>
              <a:t/>
            </a:r>
          </a:p>
          <a:p xmlns:a="http://schemas.openxmlformats.org/drawingml/2006/main">
            <a:r>
              <a:rPr sz="1400"/>
              <a:t>Bron: Zelfgemaakt uitlegvoorbeeld FietsWas, niet uit het boek. Context en getallen zijn voor deze uitleg gekozen en vormen geen boekopgave of huiswerk. De onderliggende methoden sluiten aan bij Boek 2, chatuitgave 2026, §2.1.1–2.1.3: kostenfuncties, totale/gemiddelde bedragen, break-even en marginale veranderingen. https://github.com/meijer1973/4veco-lessen/blob/08d7fd27830b5c42d1dbebc7fcb73b882b4d67a4/Boek%202%20-%20Kosten%2C%20opbrengsten%2C%20elasticiteit%20en%20surplus/edities/chat-2026/boek/Boek_2_Compleet.pdf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coördinaten horen bij dit break-evenpunt?</a:t>
            </a:r>
          </a:p>
          <a:p xmlns:a="http://schemas.openxmlformats.org/drawingml/2006/main">
            <a:r>
              <a:rPr sz="1400"/>
              <a:t/>
            </a:r>
          </a:p>
          <a:p xmlns:a="http://schemas.openxmlformats.org/drawingml/2006/main">
            <a:r>
              <a:rPr sz="1400"/>
              <a:t>Uitleg: Bij twaalf fietsen: TO = 5 × 12 = 60 en TK = 36 + 2 × 12 = 60 euro per dag. Twaalf is een geheel aantal binnen de capaciteit. Het grafiekpunt wordt (12; 60). Winst nul betekent dat de opbrengst de kosten precies dekt.</a:t>
            </a:r>
          </a:p>
          <a:p xmlns:a="http://schemas.openxmlformats.org/drawingml/2006/main">
            <a:r>
              <a:rPr sz="1400"/>
              <a:t/>
            </a:r>
          </a:p>
          <a:p xmlns:a="http://schemas.openxmlformats.org/drawingml/2006/main">
            <a:r>
              <a:rPr sz="1400"/>
              <a:t>Misvatting: Twaalf is een hoeveelheid fietsen, zestig is een totaalbedrag in euro per dag.</a:t>
            </a:r>
          </a:p>
          <a:p xmlns:a="http://schemas.openxmlformats.org/drawingml/2006/main">
            <a:r>
              <a:rPr sz="1400"/>
              <a:t/>
            </a:r>
          </a:p>
          <a:p xmlns:a="http://schemas.openxmlformats.org/drawingml/2006/main">
            <a:r>
              <a:rPr sz="1400"/>
              <a:t>Overgang: Bereken nu de verandering als er vijf fietsen bijkomen.</a:t>
            </a:r>
          </a:p>
          <a:p xmlns:a="http://schemas.openxmlformats.org/drawingml/2006/main">
            <a:r>
              <a:rPr sz="1400"/>
              <a:t/>
            </a:r>
          </a:p>
          <a:p xmlns:a="http://schemas.openxmlformats.org/drawingml/2006/main">
            <a:r>
              <a:rPr sz="1400"/>
              <a:t>Bron: Zelfgemaakt uitlegvoorbeeld FietsWas, niet uit het boek. Context en getallen zijn voor deze uitleg gekozen en vormen geen boekopgave of huiswerk. De onderliggende methoden sluiten aan bij Boek 2, chatuitgave 2026, §2.1.1–2.1.3: kostenfuncties, totale/gemiddelde bedragen, break-even en marginale veranderingen. https://github.com/meijer1973/4veco-lessen/blob/08d7fd27830b5c42d1dbebc7fcb73b882b4d67a4/Boek%202%20-%20Kosten%2C%20opbrengsten%2C%20elasticiteit%20en%20surplus/edities/chat-2026/boek/Boek_2_Compleet.pdf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deel je door vijf en niet door vijfentwintig?</a:t>
            </a:r>
          </a:p>
          <a:p xmlns:a="http://schemas.openxmlformats.org/drawingml/2006/main">
            <a:r>
              <a:rPr sz="1400"/>
              <a:t/>
            </a:r>
          </a:p>
          <a:p xmlns:a="http://schemas.openxmlformats.org/drawingml/2006/main">
            <a:r>
              <a:rPr sz="1400"/>
              <a:t>Uitleg: De extra kosten zijn 10 euro en de extra opbrengst 25 euro voor vijf extra fietsen. Deel elk verschil door ΔQ = 5. In dit voorbeeld blijft MK gelijk door de functie TK = 36 + 2Q. Bij een andere kostentabel bereken je MK opnieuw voor iedere stap; neem niet automatisch een vast bedrag aan.</a:t>
            </a:r>
          </a:p>
          <a:p xmlns:a="http://schemas.openxmlformats.org/drawingml/2006/main">
            <a:r>
              <a:rPr sz="1400"/>
              <a:t/>
            </a:r>
          </a:p>
          <a:p xmlns:a="http://schemas.openxmlformats.org/drawingml/2006/main">
            <a:r>
              <a:rPr sz="1400"/>
              <a:t>Misvatting: MK is ΔTK / ΔQ. GTK is TK / Q. Dat zijn andere vragen.</a:t>
            </a:r>
          </a:p>
          <a:p xmlns:a="http://schemas.openxmlformats.org/drawingml/2006/main">
            <a:r>
              <a:rPr sz="1400"/>
              <a:t/>
            </a:r>
          </a:p>
          <a:p xmlns:a="http://schemas.openxmlformats.org/drawingml/2006/main">
            <a:r>
              <a:rPr sz="1400"/>
              <a:t>Overgang: Verbind de eerder berekende totalen met de grafiek.</a:t>
            </a:r>
          </a:p>
          <a:p xmlns:a="http://schemas.openxmlformats.org/drawingml/2006/main">
            <a:r>
              <a:rPr sz="1400"/>
              <a:t/>
            </a:r>
          </a:p>
          <a:p xmlns:a="http://schemas.openxmlformats.org/drawingml/2006/main">
            <a:r>
              <a:rPr sz="1400"/>
              <a:t>Bron: Zelfgemaakt uitlegvoorbeeld FietsWas, niet uit het boek. Context en getallen zijn voor deze uitleg gekozen en vormen geen boekopgave of huiswerk. De onderliggende methoden sluiten aan bij Boek 2, chatuitgave 2026, §2.1.1–2.1.3: kostenfuncties, totale/gemiddelde bedragen, break-even en marginale veranderingen. https://github.com/meijer1973/4veco-lessen/blob/08d7fd27830b5c42d1dbebc7fcb73b882b4d67a4/Boek%202%20-%20Kosten%2C%20opbrengsten%2C%20elasticiteit%20en%20surplus/edities/chat-2026/boek/Boek_2_Compleet.pdf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winst hier een verticale afstand?</a:t>
            </a:r>
          </a:p>
          <a:p xmlns:a="http://schemas.openxmlformats.org/drawingml/2006/main">
            <a:r>
              <a:rPr sz="1400"/>
              <a:t/>
            </a:r>
          </a:p>
          <a:p xmlns:a="http://schemas.openxmlformats.org/drawingml/2006/main">
            <a:r>
              <a:rPr sz="1400"/>
              <a:t>Uitleg: Het break-evenpunt ligt bij (12; 60). De hulplijnen wijzen naar dezelfde aswaarden. Bij Q = 20 loopt het verticale winstlijnstuk van 76 naar 100 euro per dag: 24 euro. Beide functielijnen stoppen bij de capaciteit van veertig fietsen per dag. De verdere asruimte is voor leesbare labels.</a:t>
            </a:r>
          </a:p>
          <a:p xmlns:a="http://schemas.openxmlformats.org/drawingml/2006/main">
            <a:r>
              <a:rPr sz="1400"/>
              <a:t/>
            </a:r>
          </a:p>
          <a:p xmlns:a="http://schemas.openxmlformats.org/drawingml/2006/main">
            <a:r>
              <a:rPr sz="1400"/>
              <a:t>Misvatting: De verticale as geeft al totale bedragen. Lees twee lijnhoogten bij dezelfde hoeveelheid; een oppervlakte is hier geen winst.</a:t>
            </a:r>
          </a:p>
          <a:p xmlns:a="http://schemas.openxmlformats.org/drawingml/2006/main">
            <a:r>
              <a:rPr sz="1400"/>
              <a:t/>
            </a:r>
          </a:p>
          <a:p xmlns:a="http://schemas.openxmlformats.org/drawingml/2006/main">
            <a:r>
              <a:rPr sz="1400"/>
              <a:t>Overgang: Laat nu het overzicht staan. Leerlingen kiezen en gebruiken de methoden zelf bij de toegewezen boekopgaven.</a:t>
            </a:r>
          </a:p>
          <a:p xmlns:a="http://schemas.openxmlformats.org/drawingml/2006/main">
            <a:r>
              <a:rPr sz="1400"/>
              <a:t/>
            </a:r>
          </a:p>
          <a:p xmlns:a="http://schemas.openxmlformats.org/drawingml/2006/main">
            <a:r>
              <a:rPr sz="1400"/>
              <a:t>Bron: Zelfgemaakt uitlegvoorbeeld FietsWas, niet uit het boek. Context en getallen zijn voor deze uitleg gekozen en vormen geen boekopgave of huiswerk. De onderliggende methoden sluiten aan bij Boek 2, chatuitgave 2026, §2.1.1–2.1.3: kostenfuncties, totale/gemiddelde bedragen, break-even en marginale veranderingen. https://github.com/meijer1973/4veco-lessen/blob/08d7fd27830b5c42d1dbebc7fcb73b882b4d67a4/Boek%202%20-%20Kosten%2C%20opbrengsten%2C%20elasticiteit%20en%20surplus/edities/chat-2026/boek/Boek_2_Compleet.pdf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Bij welke stap wil je hulp?</a:t>
            </a:r>
          </a:p>
          <a:p xmlns:a="http://schemas.openxmlformats.org/drawingml/2006/main">
            <a:r>
              <a:rPr sz="1400"/>
              <a:t/>
            </a:r>
          </a:p>
          <a:p xmlns:a="http://schemas.openxmlformats.org/drawingml/2006/main">
            <a:r>
              <a:rPr sz="1400"/>
              <a:t>Uitleg: Laat deze dia staan tijdens zelfstandig werken. Start met opgave 1 op pagina 29. Deze gemengde paragraaf heeft geen afzonderlijke begeleide basissectie. Leerlingen werken met 1–4 naar doel 5 op pagina 32–33. Bespreek SmoothBox omdat deze echte doeloefening bronselectie, functies, break-even, GTK, marginale verschillen en grafiekinterpretatie samenbrengt. De klasopdracht/huiswerkopdracht is alle opgaven 1, 2, 3, 4, 5, 6 en 7 maken en nakijken, met behoud van het boeklabel bonus/denkertje bij 6 en herhaling bij 7. In de algemene docentenroute zijn 6 en 7 aanvullend; deze presentatie volgt de classroom-afspraak om alle gemengde opgaven als huiswerk te noemen. Begroot indien nodig vervolgwerktijd.</a:t>
            </a:r>
          </a:p>
          <a:p xmlns:a="http://schemas.openxmlformats.org/drawingml/2006/main">
            <a:r>
              <a:rPr sz="1400"/>
              <a:t/>
            </a:r>
          </a:p>
          <a:p xmlns:a="http://schemas.openxmlformats.org/drawingml/2006/main">
            <a:r>
              <a:rPr sz="1400"/>
              <a:t>Misvatting: Verwar bezoekers niet met verkochte producten. Het startpaginanummer is het gedrukte nummer 29, niet PDF-pagina 31.</a:t>
            </a:r>
          </a:p>
          <a:p xmlns:a="http://schemas.openxmlformats.org/drawingml/2006/main">
            <a:r>
              <a:rPr sz="1400"/>
              <a:t/>
            </a:r>
          </a:p>
          <a:p xmlns:a="http://schemas.openxmlformats.org/drawingml/2006/main">
            <a:r>
              <a:rPr sz="1400"/>
              <a:t>Overgang: Ga door naar de volgende lesfase wanneer de klas daaraan toe is.</a:t>
            </a:r>
          </a:p>
          <a:p xmlns:a="http://schemas.openxmlformats.org/drawingml/2006/main">
            <a:r>
              <a:rPr sz="1400"/>
              <a:t/>
            </a:r>
          </a:p>
          <a:p xmlns:a="http://schemas.openxmlformats.org/drawingml/2006/main">
            <a:r>
              <a:rPr sz="1400"/>
              <a:t>Bron: leerlingenboek Boek 2, chatuitgave 2026, revisie 21 september 2026, gedrukte pagina 29–34.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menu hoort bij bron A?</a:t>
            </a:r>
          </a:p>
          <a:p xmlns:a="http://schemas.openxmlformats.org/drawingml/2006/main">
            <a:r>
              <a:rPr sz="1400"/>
              <a:t/>
            </a:r>
          </a:p>
          <a:p xmlns:a="http://schemas.openxmlformats.org/drawingml/2006/main">
            <a:r>
              <a:rPr sz="1400"/>
              <a:t>Uitleg: Begin de bespreking nadat leerlingen de doeloefening hebben geprobeerd. Laat eerst alle bronnen en alle zes deelvragen zien, zonder antwoorden. Deze bedragen gelden op vrijdag tot en met de capaciteit. Q is het aantal lunchboxen per dag.</a:t>
            </a:r>
          </a:p>
          <a:p xmlns:a="http://schemas.openxmlformats.org/drawingml/2006/main">
            <a:r>
              <a:rPr sz="1400"/>
              <a:t/>
            </a:r>
          </a:p>
          <a:p xmlns:a="http://schemas.openxmlformats.org/drawingml/2006/main">
            <a:r>
              <a:rPr sz="1400"/>
              <a:t>Misvatting: Dezelfde verkoopprijs op beide dagen betekent niet dat de kosten gelijk zijn.</a:t>
            </a:r>
          </a:p>
          <a:p xmlns:a="http://schemas.openxmlformats.org/drawingml/2006/main">
            <a:r>
              <a:rPr sz="1400"/>
              <a:t/>
            </a:r>
          </a:p>
          <a:p xmlns:a="http://schemas.openxmlformats.org/drawingml/2006/main">
            <a:r>
              <a:rPr sz="1400"/>
              <a:t>Overgang: Toon bron B van zaterdag.</a:t>
            </a:r>
          </a:p>
          <a:p xmlns:a="http://schemas.openxmlformats.org/drawingml/2006/main">
            <a:r>
              <a:rPr sz="1400"/>
              <a:t/>
            </a:r>
          </a:p>
          <a:p xmlns:a="http://schemas.openxmlformats.org/drawingml/2006/main">
            <a:r>
              <a:rPr sz="1400"/>
              <a:t>Bron: leerlingenboek Boek 2, chatuitgave 2026, revisie 21 september 2026, gedrukte pagina 32.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geeft je de totale zaterdagkosten?</a:t>
            </a:r>
          </a:p>
          <a:p xmlns:a="http://schemas.openxmlformats.org/drawingml/2006/main">
            <a:r>
              <a:rPr sz="1400"/>
              <a:t/>
            </a:r>
          </a:p>
          <a:p xmlns:a="http://schemas.openxmlformats.org/drawingml/2006/main">
            <a:r>
              <a:rPr sz="1400"/>
              <a:t>Uitleg: Lees de zaterdagtabel letterlijk. De constante kosten blijven 1200 euro per dag. De tabel beschrijft een ander menu met stijgende extra arbeidskosten. Beide dagen hebben dezelfde capaciteit van 1000.</a:t>
            </a:r>
          </a:p>
          <a:p xmlns:a="http://schemas.openxmlformats.org/drawingml/2006/main">
            <a:r>
              <a:rPr sz="1400"/>
              <a:t/>
            </a:r>
          </a:p>
          <a:p xmlns:a="http://schemas.openxmlformats.org/drawingml/2006/main">
            <a:r>
              <a:rPr sz="1400"/>
              <a:t>Misvatting: Gebruik de vrijdagfunctie niet voor zaterdag. Trek de zaterdagtabel niet door naar onbekende hoeveelheden.</a:t>
            </a:r>
          </a:p>
          <a:p xmlns:a="http://schemas.openxmlformats.org/drawingml/2006/main">
            <a:r>
              <a:rPr sz="1400"/>
              <a:t/>
            </a:r>
          </a:p>
          <a:p xmlns:a="http://schemas.openxmlformats.org/drawingml/2006/main">
            <a:r>
              <a:rPr sz="1400"/>
              <a:t>Overgang: Toon de bijbehorende basisgrafiek.</a:t>
            </a:r>
          </a:p>
          <a:p xmlns:a="http://schemas.openxmlformats.org/drawingml/2006/main">
            <a:r>
              <a:rPr sz="1400"/>
              <a:t/>
            </a:r>
          </a:p>
          <a:p xmlns:a="http://schemas.openxmlformats.org/drawingml/2006/main">
            <a:r>
              <a:rPr sz="1400"/>
              <a:t>Bron: leerlingenboek Boek 2, chatuitgave 2026, revisie 21 september 2026, gedrukte pagina 32.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lijnen horen bij welke dag?</a:t>
            </a:r>
          </a:p>
          <a:p xmlns:a="http://schemas.openxmlformats.org/drawingml/2006/main">
            <a:r>
              <a:rPr sz="1400"/>
              <a:t/>
            </a:r>
          </a:p>
          <a:p xmlns:a="http://schemas.openxmlformats.org/drawingml/2006/main">
            <a:r>
              <a:rPr sz="1400"/>
              <a:t>Uitleg: De basisgrafiek bevat TO voor beide dagen, de volledige vrijdagkostenlijn en alleen de vier gegeven zaterdagpunten verbonden. De curves stoppen bij 1000. Break-even en winstmarkering ontbreken hier bewust: die zijn gevraagd. De verdere asruimte is alleen voor leesbare labels.</a:t>
            </a:r>
          </a:p>
          <a:p xmlns:a="http://schemas.openxmlformats.org/drawingml/2006/main">
            <a:r>
              <a:rPr sz="1400"/>
              <a:t/>
            </a:r>
          </a:p>
          <a:p xmlns:a="http://schemas.openxmlformats.org/drawingml/2006/main">
            <a:r>
              <a:rPr sz="1400"/>
              <a:t>Misvatting: Alleen gegeven zaterdagpunten verbinden. Winst is een verticale afstand, geen oppervlakte.</a:t>
            </a:r>
          </a:p>
          <a:p xmlns:a="http://schemas.openxmlformats.org/drawingml/2006/main">
            <a:r>
              <a:rPr sz="1400"/>
              <a:t/>
            </a:r>
          </a:p>
          <a:p xmlns:a="http://schemas.openxmlformats.org/drawingml/2006/main">
            <a:r>
              <a:rPr sz="1400"/>
              <a:t>Overgang: Toon nu alle deelvragen voordat je de antwoorden bespreekt.</a:t>
            </a:r>
          </a:p>
          <a:p xmlns:a="http://schemas.openxmlformats.org/drawingml/2006/main">
            <a:r>
              <a:rPr sz="1400"/>
              <a:t/>
            </a:r>
          </a:p>
          <a:p xmlns:a="http://schemas.openxmlformats.org/drawingml/2006/main">
            <a:r>
              <a:rPr sz="1400"/>
              <a:t>Bron: leerlingenboek Boek 2, chatuitgave 2026, revisie 21 september 2026, gedrukte pagina 32.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hoort bij deze drie vragen?</a:t>
            </a:r>
          </a:p>
          <a:p xmlns:a="http://schemas.openxmlformats.org/drawingml/2006/main">
            <a:r>
              <a:rPr sz="1400"/>
              <a:t/>
            </a:r>
          </a:p>
          <a:p xmlns:a="http://schemas.openxmlformats.org/drawingml/2006/main">
            <a:r>
              <a:rPr sz="1400"/>
              <a:t>Uitleg: Lees de vragen letterlijk. Gebruik bij a, b en c vrijdag, bron A. Laat de leerlingen hun eigen uitwerking erbij houden. Bespreek nog geen uitkomsten.</a:t>
            </a:r>
          </a:p>
          <a:p xmlns:a="http://schemas.openxmlformats.org/drawingml/2006/main">
            <a:r>
              <a:rPr sz="1400"/>
              <a:t/>
            </a:r>
          </a:p>
          <a:p xmlns:a="http://schemas.openxmlformats.org/drawingml/2006/main">
            <a:r>
              <a:rPr sz="1400"/>
              <a:t>Misvatting: Bij GTK wordt om per lunchbox gevraagd, bij winst om een totaal per dag.</a:t>
            </a:r>
          </a:p>
          <a:p xmlns:a="http://schemas.openxmlformats.org/drawingml/2006/main">
            <a:r>
              <a:rPr sz="1400"/>
              <a:t/>
            </a:r>
          </a:p>
          <a:p xmlns:a="http://schemas.openxmlformats.org/drawingml/2006/main">
            <a:r>
              <a:rPr sz="1400"/>
              <a:t>Overgang: Toon vraag d en daarna e en f.</a:t>
            </a:r>
          </a:p>
          <a:p xmlns:a="http://schemas.openxmlformats.org/drawingml/2006/main">
            <a:r>
              <a:rPr sz="1400"/>
              <a:t/>
            </a:r>
          </a:p>
          <a:p xmlns:a="http://schemas.openxmlformats.org/drawingml/2006/main">
            <a:r>
              <a:rPr sz="1400"/>
              <a:t>Bron: leerlingenboek Boek 2, chatuitgave 2026, revisie 21 september 2026, gedrukte pagina 33.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rijen gebruik je voor iedere stap?</a:t>
            </a:r>
          </a:p>
          <a:p xmlns:a="http://schemas.openxmlformats.org/drawingml/2006/main">
            <a:r>
              <a:rPr sz="1400"/>
              <a:t/>
            </a:r>
          </a:p>
          <a:p xmlns:a="http://schemas.openxmlformats.org/drawingml/2006/main">
            <a:r>
              <a:rPr sz="1400"/>
              <a:t>Uitleg: De drie stappen moeten alle drie worden uitgewerkt. De tabel herhaalt alleen de hoeveelheden uit de bron en geeft nog geen marginale antwoorden. Vraag ook MO per extra lunchbox.</a:t>
            </a:r>
          </a:p>
          <a:p xmlns:a="http://schemas.openxmlformats.org/drawingml/2006/main">
            <a:r>
              <a:rPr sz="1400"/>
              <a:t/>
            </a:r>
          </a:p>
          <a:p xmlns:a="http://schemas.openxmlformats.org/drawingml/2006/main">
            <a:r>
              <a:rPr sz="1400"/>
              <a:t>Misvatting: Het verschil tussen de totale kosten is nog niet MK per extra lunchbox.</a:t>
            </a:r>
          </a:p>
          <a:p xmlns:a="http://schemas.openxmlformats.org/drawingml/2006/main">
            <a:r>
              <a:rPr sz="1400"/>
              <a:t/>
            </a:r>
          </a:p>
          <a:p xmlns:a="http://schemas.openxmlformats.org/drawingml/2006/main">
            <a:r>
              <a:rPr sz="1400"/>
              <a:t>Overgang: Toon ook de grafiekvraag en de uitspraak.</a:t>
            </a:r>
          </a:p>
          <a:p xmlns:a="http://schemas.openxmlformats.org/drawingml/2006/main">
            <a:r>
              <a:rPr sz="1400"/>
              <a:t/>
            </a:r>
          </a:p>
          <a:p xmlns:a="http://schemas.openxmlformats.org/drawingml/2006/main">
            <a:r>
              <a:rPr sz="1400"/>
              <a:t>Bron: leerlingenboek Boek 2, chatuitgave 2026, revisie 21 september 2026, gedrukte pagina 33.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vergelijking moet je bij e maken, en welke bij f?</a:t>
            </a:r>
          </a:p>
          <a:p xmlns:a="http://schemas.openxmlformats.org/drawingml/2006/main">
            <a:r>
              <a:rPr sz="1400"/>
              <a:t/>
            </a:r>
          </a:p>
          <a:p xmlns:a="http://schemas.openxmlformats.org/drawingml/2006/main">
            <a:r>
              <a:rPr sz="1400"/>
              <a:t>Uitleg: Nu zijn alle context, gegevens en deelvragen zonder oplossing getoond. Bij e vergelijk je beide dagen. Bij f gebruik je zaterdag. De uitspraak moet met alle drie de extra winsten beoordeeld worden. Er wordt geen winstmaximaliserende productie gevraagd.</a:t>
            </a:r>
          </a:p>
          <a:p xmlns:a="http://schemas.openxmlformats.org/drawingml/2006/main">
            <a:r>
              <a:rPr sz="1400"/>
              <a:t/>
            </a:r>
          </a:p>
          <a:p xmlns:a="http://schemas.openxmlformats.org/drawingml/2006/main">
            <a:r>
              <a:rPr sz="1400"/>
              <a:t>Misvatting: Een grotere winst is iets anders dan een snellere groei van de winst.</a:t>
            </a:r>
          </a:p>
          <a:p xmlns:a="http://schemas.openxmlformats.org/drawingml/2006/main">
            <a:r>
              <a:rPr sz="1400"/>
              <a:t/>
            </a:r>
          </a:p>
          <a:p xmlns:a="http://schemas.openxmlformats.org/drawingml/2006/main">
            <a:r>
              <a:rPr sz="1400"/>
              <a:t>Overgang: Start pas nu de stapsgewijze bespreking van de antwoorden.</a:t>
            </a:r>
          </a:p>
          <a:p xmlns:a="http://schemas.openxmlformats.org/drawingml/2006/main">
            <a:r>
              <a:rPr sz="1400"/>
              <a:t/>
            </a:r>
          </a:p>
          <a:p xmlns:a="http://schemas.openxmlformats.org/drawingml/2006/main">
            <a:r>
              <a:rPr sz="1400"/>
              <a:t>Bron: leerlingenboek Boek 2, chatuitgave 2026, revisie 21 september 2026, gedrukte pagina 33.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tel je de constante kosten alleen bij TK op?</a:t>
            </a:r>
          </a:p>
          <a:p xmlns:a="http://schemas.openxmlformats.org/drawingml/2006/main">
            <a:r>
              <a:rPr sz="1400"/>
              <a:t/>
            </a:r>
          </a:p>
          <a:p xmlns:a="http://schemas.openxmlformats.org/drawingml/2006/main">
            <a:r>
              <a:rPr sz="1400"/>
              <a:t>Uitleg: Kies de constante kosten, variabele kosten per lunchbox en de prijs uit bron A en de algemene context. TCK blijven 1200 euro, TVK = 2Q groeit mee. Alle gemaakte lunchboxen worden verkocht voor 5 euro, dus TO = 5Q. Bezoekers zijn geen gegarandeerde kopers.</a:t>
            </a:r>
          </a:p>
          <a:p xmlns:a="http://schemas.openxmlformats.org/drawingml/2006/main">
            <a:r>
              <a:rPr sz="1400"/>
              <a:t/>
            </a:r>
          </a:p>
          <a:p xmlns:a="http://schemas.openxmlformats.org/drawingml/2006/main">
            <a:r>
              <a:rPr sz="1400"/>
              <a:t>Misvatting: 2 euro per lunchbox is niet TVK in euro per dag.</a:t>
            </a:r>
          </a:p>
          <a:p xmlns:a="http://schemas.openxmlformats.org/drawingml/2006/main">
            <a:r>
              <a:rPr sz="1400"/>
              <a:t/>
            </a:r>
          </a:p>
          <a:p xmlns:a="http://schemas.openxmlformats.org/drawingml/2006/main">
            <a:r>
              <a:rPr sz="1400"/>
              <a:t>Overgang: Los TO = TK op.</a:t>
            </a:r>
          </a:p>
          <a:p xmlns:a="http://schemas.openxmlformats.org/drawingml/2006/main">
            <a:r>
              <a:rPr sz="1400"/>
              <a:t/>
            </a:r>
          </a:p>
          <a:p xmlns:a="http://schemas.openxmlformats.org/drawingml/2006/main">
            <a:r>
              <a:rPr sz="1400"/>
              <a:t>Bron: leerlingenboek Boek 2, chatuitgave 2026, revisie 21 september 2026, gedrukte pagina 32–33.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zijn de twee coördinaten van het break-evenpunt?</a:t>
            </a:r>
          </a:p>
          <a:p xmlns:a="http://schemas.openxmlformats.org/drawingml/2006/main">
            <a:r>
              <a:rPr sz="1400"/>
              <a:t/>
            </a:r>
          </a:p>
          <a:p xmlns:a="http://schemas.openxmlformats.org/drawingml/2006/main">
            <a:r>
              <a:rPr sz="1400"/>
              <a:t>Uitleg: De break-even-afzet is 400 lunchboxen per dag. Dit is een geheel aantal en past binnen de capaciteit van 1000. Controleer beide functies: beide geven 2000 euro per dag. Gebruik straks de coördinaten (400; 2000).</a:t>
            </a:r>
          </a:p>
          <a:p xmlns:a="http://schemas.openxmlformats.org/drawingml/2006/main">
            <a:r>
              <a:rPr sz="1400"/>
              <a:t/>
            </a:r>
          </a:p>
          <a:p xmlns:a="http://schemas.openxmlformats.org/drawingml/2006/main">
            <a:r>
              <a:rPr sz="1400"/>
              <a:t>Misvatting: 400 is de hoeveelheid, niet het eurobedrag.</a:t>
            </a:r>
          </a:p>
          <a:p xmlns:a="http://schemas.openxmlformats.org/drawingml/2006/main">
            <a:r>
              <a:rPr sz="1400"/>
              <a:t/>
            </a:r>
          </a:p>
          <a:p xmlns:a="http://schemas.openxmlformats.org/drawingml/2006/main">
            <a:r>
              <a:rPr sz="1400"/>
              <a:t>Overgang: Bereken nu winst en GTK bij 700.</a:t>
            </a:r>
          </a:p>
          <a:p xmlns:a="http://schemas.openxmlformats.org/drawingml/2006/main">
            <a:r>
              <a:rPr sz="1400"/>
              <a:t/>
            </a:r>
          </a:p>
          <a:p xmlns:a="http://schemas.openxmlformats.org/drawingml/2006/main">
            <a:r>
              <a:rPr sz="1400"/>
              <a:t>Bron: leerlingenboek Boek 2, chatuitgave 2026, revisie 21 september 2026, gedrukte pagina 33.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uitkomst is een totaal en welke is per lunchbox?</a:t>
            </a:r>
          </a:p>
          <a:p xmlns:a="http://schemas.openxmlformats.org/drawingml/2006/main">
            <a:r>
              <a:rPr sz="1400"/>
              <a:t/>
            </a:r>
          </a:p>
          <a:p xmlns:a="http://schemas.openxmlformats.org/drawingml/2006/main">
            <a:r>
              <a:rPr sz="1400"/>
              <a:t>Uitleg: Winst is de totale opbrengst min alle kosten. GTK verdeelt de totale kosten over alle 700 lunchboxen. Rond GTK pas bij de uitkomst af op centen. Controle: winst plus kosten is 900 + 2600 = 3500 euro per dag.</a:t>
            </a:r>
          </a:p>
          <a:p xmlns:a="http://schemas.openxmlformats.org/drawingml/2006/main">
            <a:r>
              <a:rPr sz="1400"/>
              <a:t/>
            </a:r>
          </a:p>
          <a:p xmlns:a="http://schemas.openxmlformats.org/drawingml/2006/main">
            <a:r>
              <a:rPr sz="1400"/>
              <a:t>Misvatting: Winst is niet 900 euro per lunchbox. Gebruik vrijdag voor deze vraag.</a:t>
            </a:r>
          </a:p>
          <a:p xmlns:a="http://schemas.openxmlformats.org/drawingml/2006/main">
            <a:r>
              <a:rPr sz="1400"/>
              <a:t/>
            </a:r>
          </a:p>
          <a:p xmlns:a="http://schemas.openxmlformats.org/drawingml/2006/main">
            <a:r>
              <a:rPr sz="1400"/>
              <a:t>Overgang: Gebruik voor d de zaterdagtabel.</a:t>
            </a:r>
          </a:p>
          <a:p xmlns:a="http://schemas.openxmlformats.org/drawingml/2006/main">
            <a:r>
              <a:rPr sz="1400"/>
              <a:t/>
            </a:r>
          </a:p>
          <a:p xmlns:a="http://schemas.openxmlformats.org/drawingml/2006/main">
            <a:r>
              <a:rPr sz="1400"/>
              <a:t>Bron: leerlingenboek Boek 2, chatuitgave 2026, revisie 21 september 2026, gedrukte pagina 33.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verandert MK terwijl TCK gelijk blijven?</a:t>
            </a:r>
          </a:p>
          <a:p xmlns:a="http://schemas.openxmlformats.org/drawingml/2006/main">
            <a:r>
              <a:rPr sz="1400"/>
              <a:t/>
            </a:r>
          </a:p>
          <a:p xmlns:a="http://schemas.openxmlformats.org/drawingml/2006/main">
            <a:r>
              <a:rPr sz="1400"/>
              <a:t>Uitleg: Elke stap bevat honderd extra lunchboxen. De kostenverschillen zijn 300, 350 en 400 euro. Deel elk verschil door 100: MK is 3, 3,50 en 4 euro per extra lunchbox. De opbrengstverschillen zijn steeds 500, dus MO steeds 5. Het gaat om gemiddelde marginale bedragen binnen elke tabelstap, niet om afgeleiden.</a:t>
            </a:r>
          </a:p>
          <a:p xmlns:a="http://schemas.openxmlformats.org/drawingml/2006/main">
            <a:r>
              <a:rPr sz="1400"/>
              <a:t/>
            </a:r>
          </a:p>
          <a:p xmlns:a="http://schemas.openxmlformats.org/drawingml/2006/main">
            <a:r>
              <a:rPr sz="1400"/>
              <a:t>Misvatting: Hogere marginale kosten maken de totale constante kosten niet hoger.</a:t>
            </a:r>
          </a:p>
          <a:p xmlns:a="http://schemas.openxmlformats.org/drawingml/2006/main">
            <a:r>
              <a:rPr sz="1400"/>
              <a:t/>
            </a:r>
          </a:p>
          <a:p xmlns:a="http://schemas.openxmlformats.org/drawingml/2006/main">
            <a:r>
              <a:rPr sz="1400"/>
              <a:t>Overgang: Verbind de berekeningen met de grafiek.</a:t>
            </a:r>
          </a:p>
          <a:p xmlns:a="http://schemas.openxmlformats.org/drawingml/2006/main">
            <a:r>
              <a:rPr sz="1400"/>
              <a:t/>
            </a:r>
          </a:p>
          <a:p xmlns:a="http://schemas.openxmlformats.org/drawingml/2006/main">
            <a:r>
              <a:rPr sz="1400"/>
              <a:t>Bron: leerlingenboek Boek 2, chatuitgave 2026, revisie 21 september 2026, gedrukte pagina 32–33.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begint positieve winst pas rechts van 400?</a:t>
            </a:r>
          </a:p>
          <a:p xmlns:a="http://schemas.openxmlformats.org/drawingml/2006/main">
            <a:r>
              <a:rPr sz="1400"/>
              <a:t/>
            </a:r>
          </a:p>
          <a:p xmlns:a="http://schemas.openxmlformats.org/drawingml/2006/main">
            <a:r>
              <a:rPr sz="1400"/>
              <a:t>Uitleg: Markeer (400; 2000). Vrijdag is TO boven TK bij 400 &lt; Q ≤ 1000. Bij gehele lunchboxen zijn dat 401 tot en met 1000 per dag. Het punt bij 400 zelf hoort niet bij positieve winst. Beide dagen en alle drie curves blijven zichtbaar; over ongegeven zaterdaghoeveelheden trekken we geen conclusie.</a:t>
            </a:r>
          </a:p>
          <a:p xmlns:a="http://schemas.openxmlformats.org/drawingml/2006/main">
            <a:r>
              <a:rPr sz="1400"/>
              <a:t/>
            </a:r>
          </a:p>
          <a:p xmlns:a="http://schemas.openxmlformats.org/drawingml/2006/main">
            <a:r>
              <a:rPr sz="1400"/>
              <a:t>Misvatting: Alleen gegeven zaterdagpunten verbinden. Winst is een verticale afstand, geen oppervlakte.</a:t>
            </a:r>
          </a:p>
          <a:p xmlns:a="http://schemas.openxmlformats.org/drawingml/2006/main">
            <a:r>
              <a:rPr sz="1400"/>
              <a:t/>
            </a:r>
          </a:p>
          <a:p xmlns:a="http://schemas.openxmlformats.org/drawingml/2006/main">
            <a:r>
              <a:rPr sz="1400"/>
              <a:t>Overgang: Bekijk de verticale winstafstand bij 700.</a:t>
            </a:r>
          </a:p>
          <a:p xmlns:a="http://schemas.openxmlformats.org/drawingml/2006/main">
            <a:r>
              <a:rPr sz="1400"/>
              <a:t/>
            </a:r>
          </a:p>
          <a:p xmlns:a="http://schemas.openxmlformats.org/drawingml/2006/main">
            <a:r>
              <a:rPr sz="1400"/>
              <a:t>Bron: leerlingenboek Boek 2, chatuitgave 2026, revisie 21 september 2026, gedrukte pagina 32–33.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Kunnen twee dagen dezelfde winst hebben en toch verschillende winstgroei?</a:t>
            </a:r>
          </a:p>
          <a:p xmlns:a="http://schemas.openxmlformats.org/drawingml/2006/main">
            <a:r>
              <a:rPr sz="1400"/>
              <a:t/>
            </a:r>
          </a:p>
          <a:p xmlns:a="http://schemas.openxmlformats.org/drawingml/2006/main">
            <a:r>
              <a:rPr sz="1400"/>
              <a:t>Uitleg: Het verticale lijnstuk bij 700 loopt van 2600 naar 3500 euro per dag. Het verschil is 900. Op deze hoeveelheid vallen de kostenpunten van beide dagen samen. Een gelijk winstniveau bij 700 betekent niet dat de winst daarna even snel groeit.</a:t>
            </a:r>
          </a:p>
          <a:p xmlns:a="http://schemas.openxmlformats.org/drawingml/2006/main">
            <a:r>
              <a:rPr sz="1400"/>
              <a:t/>
            </a:r>
          </a:p>
          <a:p xmlns:a="http://schemas.openxmlformats.org/drawingml/2006/main">
            <a:r>
              <a:rPr sz="1400"/>
              <a:t>Misvatting: Alleen gegeven zaterdagpunten verbinden. Winst is een verticale afstand, geen oppervlakte.</a:t>
            </a:r>
          </a:p>
          <a:p xmlns:a="http://schemas.openxmlformats.org/drawingml/2006/main">
            <a:r>
              <a:rPr sz="1400"/>
              <a:t/>
            </a:r>
          </a:p>
          <a:p xmlns:a="http://schemas.openxmlformats.org/drawingml/2006/main">
            <a:r>
              <a:rPr sz="1400"/>
              <a:t>Overgang: Vergelijk nu de groei per extra lunchbox.</a:t>
            </a:r>
          </a:p>
          <a:p xmlns:a="http://schemas.openxmlformats.org/drawingml/2006/main">
            <a:r>
              <a:rPr sz="1400"/>
              <a:t/>
            </a:r>
          </a:p>
          <a:p xmlns:a="http://schemas.openxmlformats.org/drawingml/2006/main">
            <a:r>
              <a:rPr sz="1400"/>
              <a:t>Bron: leerlingenboek Boek 2, chatuitgave 2026, revisie 21 september 2026, gedrukte pagina 32–33.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vergelijk je niet alleen de winst bij één Q?</a:t>
            </a:r>
          </a:p>
          <a:p xmlns:a="http://schemas.openxmlformats.org/drawingml/2006/main">
            <a:r>
              <a:rPr sz="1400"/>
              <a:t/>
            </a:r>
          </a:p>
          <a:p xmlns:a="http://schemas.openxmlformats.org/drawingml/2006/main">
            <a:r>
              <a:rPr sz="1400"/>
              <a:t>Uitleg: Vergelijk per extra lunchbox. Op vrijdag blijft het verschil 3 euro binnen de capaciteit. Voor positieve winst moet Q bovendien boven 400 liggen. Alle drie de gegeven zaterdagstappen zijn positief maar groeien met 2, 1,50 en 1 euro per extra lunchbox. Bij hele producten luidt het vrijdaggebied 401 tot en met 1000. Dit is alleen een vergelijking met de drie gegeven zaterdagstappen.</a:t>
            </a:r>
          </a:p>
          <a:p xmlns:a="http://schemas.openxmlformats.org/drawingml/2006/main">
            <a:r>
              <a:rPr sz="1400"/>
              <a:t/>
            </a:r>
          </a:p>
          <a:p xmlns:a="http://schemas.openxmlformats.org/drawingml/2006/main">
            <a:r>
              <a:rPr sz="1400"/>
              <a:t>Misvatting: Geen uitspraak over ongegeven zaterdaghoeveelheden of over de maximale winst buiten de capaciteit.</a:t>
            </a:r>
          </a:p>
          <a:p xmlns:a="http://schemas.openxmlformats.org/drawingml/2006/main">
            <a:r>
              <a:rPr sz="1400"/>
              <a:t/>
            </a:r>
          </a:p>
          <a:p xmlns:a="http://schemas.openxmlformats.org/drawingml/2006/main">
            <a:r>
              <a:rPr sz="1400"/>
              <a:t>Overgang: Bereken nu de extra winst per hele groep van honderd.</a:t>
            </a:r>
          </a:p>
          <a:p xmlns:a="http://schemas.openxmlformats.org/drawingml/2006/main">
            <a:r>
              <a:rPr sz="1400"/>
              <a:t/>
            </a:r>
          </a:p>
          <a:p xmlns:a="http://schemas.openxmlformats.org/drawingml/2006/main">
            <a:r>
              <a:rPr sz="1400"/>
              <a:t>Bron: leerlingenboek Boek 2, chatuitgave 2026, revisie 21 september 2026, gedrukte pagina 33.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kant van de winstberekening negeert de uitspraak?</a:t>
            </a:r>
          </a:p>
          <a:p xmlns:a="http://schemas.openxmlformats.org/drawingml/2006/main">
            <a:r>
              <a:rPr sz="1400"/>
              <a:t/>
            </a:r>
          </a:p>
          <a:p xmlns:a="http://schemas.openxmlformats.org/drawingml/2006/main">
            <a:r>
              <a:rPr sz="1400"/>
              <a:t>Uitleg: De extra opbrengst per honderd blijft 500 euro. De extra kosten stijgen van 300 naar 350 naar 400. Daarom daalt de extra winst van 200 naar 150 naar 100 euro per dag. Controle via winstniveaus: bij 700 is winst 900; bij 800 1100; bij 900 1250; bij 1000 1350. Hun verschillen zijn dezelfde drie bedragen.</a:t>
            </a:r>
          </a:p>
          <a:p xmlns:a="http://schemas.openxmlformats.org/drawingml/2006/main">
            <a:r>
              <a:rPr sz="1400"/>
              <a:t/>
            </a:r>
          </a:p>
          <a:p xmlns:a="http://schemas.openxmlformats.org/drawingml/2006/main">
            <a:r>
              <a:rPr sz="1400"/>
              <a:t>Misvatting: Extra omzet is geen extra winst. 200, 150 en 100 zijn totaalbedragen voor een groep, niet per lunchbox.</a:t>
            </a:r>
          </a:p>
          <a:p xmlns:a="http://schemas.openxmlformats.org/drawingml/2006/main">
            <a:r>
              <a:rPr sz="1400"/>
              <a:t/>
            </a:r>
          </a:p>
          <a:p xmlns:a="http://schemas.openxmlformats.org/drawingml/2006/main">
            <a:r>
              <a:rPr sz="1400"/>
              <a:t>Overgang: Laat leerlingen een ontbrekende stap in hun eigen antwoord verbeteren.</a:t>
            </a:r>
          </a:p>
          <a:p xmlns:a="http://schemas.openxmlformats.org/drawingml/2006/main">
            <a:r>
              <a:rPr sz="1400"/>
              <a:t/>
            </a:r>
          </a:p>
          <a:p xmlns:a="http://schemas.openxmlformats.org/drawingml/2006/main">
            <a:r>
              <a:rPr sz="1400"/>
              <a:t>Bron: leerlingenboek Boek 2, chatuitgave 2026, revisie 21 september 2026, gedrukte pagina 33.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verbetering maakt jouw antwoord controleerbaar?</a:t>
            </a:r>
          </a:p>
          <a:p xmlns:a="http://schemas.openxmlformats.org/drawingml/2006/main">
            <a:r>
              <a:rPr sz="1400"/>
              <a:t/>
            </a:r>
          </a:p>
          <a:p xmlns:a="http://schemas.openxmlformats.org/drawingml/2006/main">
            <a:r>
              <a:rPr sz="1400"/>
              <a:t>Uitleg: Laat leerlingen zelf controleren of a tot en met f volledig zijn. Kijk vooral naar de bronkeuze op zaterdag, de teller én noemer bij MK en de vergelijking per extra lunchbox bij e. Vraag een berekening plus economische betekenis.</a:t>
            </a:r>
          </a:p>
          <a:p xmlns:a="http://schemas.openxmlformats.org/drawingml/2006/main">
            <a:r>
              <a:rPr sz="1400"/>
              <a:t/>
            </a:r>
          </a:p>
          <a:p xmlns:a="http://schemas.openxmlformats.org/drawingml/2006/main">
            <a:r>
              <a:rPr sz="1400"/>
              <a:t>Misvatting: Juiste losse getallen zonder vergelijking of verklaring beantwoorden e en f niet volledig.</a:t>
            </a:r>
          </a:p>
          <a:p xmlns:a="http://schemas.openxmlformats.org/drawingml/2006/main">
            <a:r>
              <a:rPr sz="1400"/>
              <a:t/>
            </a:r>
          </a:p>
          <a:p xmlns:a="http://schemas.openxmlformats.org/drawingml/2006/main">
            <a:r>
              <a:rPr sz="1400"/>
              <a:t>Overgang: Laat het afsluitende overzicht staan.</a:t>
            </a:r>
          </a:p>
          <a:p xmlns:a="http://schemas.openxmlformats.org/drawingml/2006/main">
            <a:r>
              <a:rPr sz="1400"/>
              <a:t/>
            </a:r>
          </a:p>
          <a:p xmlns:a="http://schemas.openxmlformats.org/drawingml/2006/main">
            <a:r>
              <a:rPr sz="1400"/>
              <a:t>Bron: leerlingenboek Boek 2, chatuitgave 2026, revisie 21 september 2026, gedrukte pagina 32–33.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Bij welke stap wil je hulp?</a:t>
            </a:r>
          </a:p>
          <a:p xmlns:a="http://schemas.openxmlformats.org/drawingml/2006/main">
            <a:r>
              <a:rPr sz="1400"/>
              <a:t/>
            </a:r>
          </a:p>
          <a:p xmlns:a="http://schemas.openxmlformats.org/drawingml/2006/main">
            <a:r>
              <a:rPr sz="1400"/>
              <a:t>Uitleg: Laat deze dia staan tijdens afsluiting / huiswerk. Start met opgave 1 op pagina 29. Deze gemengde paragraaf heeft geen afzonderlijke begeleide basissectie. Leerlingen werken met 1–4 naar doel 5 op pagina 32–33. Bespreek SmoothBox omdat deze echte doeloefening bronselectie, functies, break-even, GTK, marginale verschillen en grafiekinterpretatie samenbrengt. De klasopdracht/huiswerkopdracht is alle opgaven 1, 2, 3, 4, 5, 6 en 7 maken en nakijken, met behoud van het boeklabel bonus/denkertje bij 6 en herhaling bij 7. In de algemene docentenroute zijn 6 en 7 aanvullend; deze presentatie volgt de classroom-afspraak om alle gemengde opgaven als huiswerk te noemen. Begroot indien nodig vervolgwerktijd.</a:t>
            </a:r>
          </a:p>
          <a:p xmlns:a="http://schemas.openxmlformats.org/drawingml/2006/main">
            <a:r>
              <a:rPr sz="1400"/>
              <a:t/>
            </a:r>
          </a:p>
          <a:p xmlns:a="http://schemas.openxmlformats.org/drawingml/2006/main">
            <a:r>
              <a:rPr sz="1400"/>
              <a:t>Misvatting: Verwar bezoekers niet met verkochte producten. Het startpaginanummer is het gedrukte nummer 29, niet PDF-pagina 31.</a:t>
            </a:r>
          </a:p>
          <a:p xmlns:a="http://schemas.openxmlformats.org/drawingml/2006/main">
            <a:r>
              <a:rPr sz="1400"/>
              <a:t/>
            </a:r>
          </a:p>
          <a:p xmlns:a="http://schemas.openxmlformats.org/drawingml/2006/main">
            <a:r>
              <a:rPr sz="1400"/>
              <a:t>Overgang: Laat leerlingen het huiswerk in de agenda zetten.</a:t>
            </a:r>
          </a:p>
          <a:p xmlns:a="http://schemas.openxmlformats.org/drawingml/2006/main">
            <a:r>
              <a:rPr sz="1400"/>
              <a:t/>
            </a:r>
          </a:p>
          <a:p xmlns:a="http://schemas.openxmlformats.org/drawingml/2006/main">
            <a:r>
              <a:rPr sz="1400"/>
              <a:t>Bron: leerlingenboek Boek 2, chatuitgave 2026, revisie 21 september 2026, gedrukte pagina 29–34. https://github.com/meijer1973/4veco-lessen/blob/08d7fd27830b5c42d1dbebc7fcb73b882b4d67a4/Boek%202%20-%20Kosten%2C%20opbrengsten%2C%20elasticiteit%20en%20surplus/edities/chat-2026/boek/Boek_2_Compleet.pdf</a:t>
            </a:r>
          </a:p>
          <a:p xmlns:a="http://schemas.openxmlformats.org/drawingml/2006/main">
            <a:r>
              <a:rPr sz="1400"/>
              <a:t>Antwoordmodel: https://github.com/meijer1973/4veco-lessen/blob/08d7fd27830b5c42d1dbebc7fcb73b882b4d67a4/Boek%202%20-%20Kosten%2C%20opbrengsten%2C%20elasticiteit%20en%20surplus/edities/chat-2026/bronnen/H1/2.1%20Kosten%20en%20opbrengsten%20%E2%80%93%20antwoorden.md</a:t>
            </a:r>
          </a:p>
          <a:p xmlns:a="http://schemas.openxmlformats.org/drawingml/2006/main">
            <a:r>
              <a:rPr sz="1400"/>
              <a:t>Docentenroute: https://github.com/meijer1973/4veco-lessen/blob/08d7fd27830b5c42d1dbebc7fcb73b882b4d67a4/Boek%202%20-%20Kosten%2C%20opbrengsten%2C%20elasticiteit%20en%20surplus/edities/chat-2026/bronnen/H1/Docenten_en_bouwverantwoording.md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d55f9b88474e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5c82d217f244b9" /><Relationship Type="http://schemas.openxmlformats.org/officeDocument/2006/relationships/slideLayout" Target="/ppt/slideLayouts/slideLayout1.xml" Id="R7d45daaccb8243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45daaccb8243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dd173e321a4160" /><Relationship Type="http://schemas.openxmlformats.org/officeDocument/2006/relationships/notesSlide" Target="/ppt/notesSlides/notesSlide1.xml" Id="Rd03d698ce30b44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a99c7b05c8e419d" /><Relationship Type="http://schemas.openxmlformats.org/officeDocument/2006/relationships/notesSlide" Target="/ppt/notesSlides/notesSlide2.xml" Id="R680c68f12fb144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067bfbef2348e3" /><Relationship Type="http://schemas.openxmlformats.org/officeDocument/2006/relationships/notesSlide" Target="/ppt/notesSlides/notesSlide3.xml" Id="R5bd16890388f45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1a4f5c33ffd4f6f" /><Relationship Type="http://schemas.openxmlformats.org/officeDocument/2006/relationships/notesSlide" Target="/ppt/notesSlides/notesSlide4.xml" Id="Raa8484a9d81d4a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79ca70ecf8949f8" /><Relationship Type="http://schemas.openxmlformats.org/officeDocument/2006/relationships/notesSlide" Target="/ppt/notesSlides/notesSlide5.xml" Id="Rf233feebbb7c42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dd910d1d894948" /><Relationship Type="http://schemas.openxmlformats.org/officeDocument/2006/relationships/notesSlide" Target="/ppt/notesSlides/notesSlide6.xml" Id="Rc41481f5529549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1cd0dbc7ef4635" /><Relationship Type="http://schemas.openxmlformats.org/officeDocument/2006/relationships/chart" Target="/ppt/slides/charts/chart1.xml" Id="R8a54b48c6bda4d8c" /><Relationship Type="http://schemas.openxmlformats.org/officeDocument/2006/relationships/notesSlide" Target="/ppt/notesSlides/notesSlide7.xml" Id="R8728b6934f404e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89bcf0e6cb9446c" /><Relationship Type="http://schemas.openxmlformats.org/officeDocument/2006/relationships/notesSlide" Target="/ppt/notesSlides/notesSlide8.xml" Id="Ra86421bb1f3d4f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b381f62ac040f8" /><Relationship Type="http://schemas.openxmlformats.org/officeDocument/2006/relationships/notesSlide" Target="/ppt/notesSlides/notesSlide9.xml" Id="R0516c4393ac946f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2792bb2e7664b11" /><Relationship Type="http://schemas.openxmlformats.org/officeDocument/2006/relationships/notesSlide" Target="/ppt/notesSlides/notesSlide10.xml" Id="Rf05719504cc64f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ead6246ec32406e" /><Relationship Type="http://schemas.openxmlformats.org/officeDocument/2006/relationships/chart" Target="/ppt/slides/charts/chart2.xml" Id="R27a35bc128c44032" /><Relationship Type="http://schemas.openxmlformats.org/officeDocument/2006/relationships/notesSlide" Target="/ppt/notesSlides/notesSlide11.xml" Id="R5d0aa4c12bf24a6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8dd20b6b242413f" /><Relationship Type="http://schemas.openxmlformats.org/officeDocument/2006/relationships/notesSlide" Target="/ppt/notesSlides/notesSlide12.xml" Id="Rcfda2a4405f34d0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2f79918bd28438f" /><Relationship Type="http://schemas.openxmlformats.org/officeDocument/2006/relationships/notesSlide" Target="/ppt/notesSlides/notesSlide13.xml" Id="R7a4346d2c99645e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bc8c5e1468c4d0f" /><Relationship Type="http://schemas.openxmlformats.org/officeDocument/2006/relationships/notesSlide" Target="/ppt/notesSlides/notesSlide14.xml" Id="R04b3576494a844e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4776488f1d54b49" /><Relationship Type="http://schemas.openxmlformats.org/officeDocument/2006/relationships/notesSlide" Target="/ppt/notesSlides/notesSlide15.xml" Id="Rd8be28cc27474b4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fb7774835c24689" /><Relationship Type="http://schemas.openxmlformats.org/officeDocument/2006/relationships/notesSlide" Target="/ppt/notesSlides/notesSlide16.xml" Id="Rc898c265974f495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d07a4b331864403" /><Relationship Type="http://schemas.openxmlformats.org/officeDocument/2006/relationships/notesSlide" Target="/ppt/notesSlides/notesSlide17.xml" Id="R5432b67b80f4436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2bfbeae24ce448a" /><Relationship Type="http://schemas.openxmlformats.org/officeDocument/2006/relationships/notesSlide" Target="/ppt/notesSlides/notesSlide18.xml" Id="Re1d878e65d114fa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3ab24aa7d09487c" /><Relationship Type="http://schemas.openxmlformats.org/officeDocument/2006/relationships/chart" Target="/ppt/slides/charts/chart3.xml" Id="Rc624bbc4718d43dd" /><Relationship Type="http://schemas.openxmlformats.org/officeDocument/2006/relationships/notesSlide" Target="/ppt/notesSlides/notesSlide19.xml" Id="R4311d22ed99d427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e278c0647ac4568" /><Relationship Type="http://schemas.openxmlformats.org/officeDocument/2006/relationships/chart" Target="/ppt/slides/charts/chart4.xml" Id="R25cb0ff2c4c94feb" /><Relationship Type="http://schemas.openxmlformats.org/officeDocument/2006/relationships/notesSlide" Target="/ppt/notesSlides/notesSlide20.xml" Id="R49e7b8099cca48c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27a2376354e4f65" /><Relationship Type="http://schemas.openxmlformats.org/officeDocument/2006/relationships/notesSlide" Target="/ppt/notesSlides/notesSlide21.xml" Id="Rebaadeaf93b0489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988b4cf57304cda" /><Relationship Type="http://schemas.openxmlformats.org/officeDocument/2006/relationships/notesSlide" Target="/ppt/notesSlides/notesSlide22.xml" Id="Ra5dab6d7d8264f6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4f850d8313a4abd" /><Relationship Type="http://schemas.openxmlformats.org/officeDocument/2006/relationships/notesSlide" Target="/ppt/notesSlides/notesSlide23.xml" Id="R06b13d07dfde4c7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60631b8db954078" /><Relationship Type="http://schemas.openxmlformats.org/officeDocument/2006/relationships/notesSlide" Target="/ppt/notesSlides/notesSlide24.xml" Id="R57d0b5b9c98a460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TO</c:v>
          </c:tx>
          <c:spPr>
            <a:ln xmlns:a="http://schemas.openxmlformats.org/drawingml/2006/main" w="38100">
              <a:solidFill>
                <a:srgbClr val="17658A"/>
              </a:solidFill>
              <a:prstDash val="solid"/>
            </a:ln>
          </c:spPr>
          <c:marker>
            <c:symbol val="none"/>
            <c:size val="9"/>
            <c:spPr>
              <a:solidFill xmlns:a="http://schemas.openxmlformats.org/drawingml/2006/main">
                <a:srgbClr val="17658A"/>
              </a:solidFill>
            </c:spPr>
          </c:marker>
          <c:dLbls>
            <c:dLbl>
              <c:idx val="0"/>
              <c:delete val="1"/>
            </c:dLbl>
            <c:dLbl>
              <c:idx val="1"/>
              <c:dLblPos val="r"/>
              <c:showLegendKey val="0"/>
              <c:showVal val="0"/>
              <c:showCatName val="0"/>
              <c:showSerName val="1"/>
            </c:dLbl>
            <c:txPr>
              <ns0:bodyPr xmlns:ns0="http://schemas.openxmlformats.org/drawingml/2006/main"/>
              <ns1:lstStyle xmlns:ns1="http://schemas.openxmlformats.org/drawingml/2006/main"/>
              <ns2:p xmlns:ns2="http://schemas.openxmlformats.org/drawingml/2006/main">
                <ns2:pPr>
                  <ns2:defRPr sz="2025" b="1">
                    <ns2:solidFill>
                      <ns2:srgbClr val="17658A"/>
                    </ns2:solidFill>
                    <ns2:latin typeface="Arial"/>
                  </ns2:defRPr>
                </ns2:pPr>
                <ns2:endParaRPr lang="nl-NL"/>
              </ns2:p>
            </c:txPr>
            <c:showLegendKey val="0"/>
            <c:showVal val="0"/>
            <c:showCatName val="0"/>
            <c:showSerName val="0"/>
            <c:showPercent val="0"/>
            <c:showBubbleSize val="0"/>
            <c:showLeaderLines val="0"/>
          </c:dLbls>
          <c:xVal>
            <c:numRef>
              <c:f>'Chart Data'!$A$2:$A$3</c:f>
              <c:numCache>
                <c:formatCode>General</c:formatCode>
                <c:ptCount val="2"/>
                <c:pt idx="0">
                  <c:v>0</c:v>
                </c:pt>
                <c:pt idx="1">
                  <c:v>40</c:v>
                </c:pt>
              </c:numCache>
            </c:numRef>
          </c:xVal>
          <c:yVal>
            <c:numRef>
              <c:f>'Chart Data'!$B$2:$B$3</c:f>
              <c:numCache>
                <c:formatCode>#,##0</c:formatCode>
                <c:ptCount val="2"/>
                <c:pt idx="0">
                  <c:v>0</c:v>
                </c:pt>
                <c:pt idx="1">
                  <c:v>200</c:v>
                </c:pt>
              </c:numCache>
            </c:numRef>
          </c:yVal>
        </c:ser>
        <c:ser>
          <c:idx val="1"/>
          <c:order val="1"/>
          <c:tx>
            <c:v>TK</c:v>
          </c:tx>
          <c:spPr>
            <a:ln xmlns:a="http://schemas.openxmlformats.org/drawingml/2006/main" w="38100">
              <a:solidFill>
                <a:srgbClr val="A94D16"/>
              </a:solidFill>
              <a:prstDash val="dash"/>
            </a:ln>
          </c:spPr>
          <c:marker>
            <c:symbol val="none"/>
            <c:size val="9"/>
            <c:spPr>
              <a:solidFill xmlns:a="http://schemas.openxmlformats.org/drawingml/2006/main">
                <a:srgbClr val="A94D16"/>
              </a:solidFill>
            </c:spPr>
          </c:marker>
          <c:dLbls>
            <c:dLbl>
              <c:idx val="0"/>
              <c:delete val="1"/>
            </c:dLbl>
            <c:dLbl>
              <c:idx val="1"/>
              <c:dLblPos val="r"/>
              <c:showLegendKey val="0"/>
              <c:showVal val="0"/>
              <c:showCatName val="0"/>
              <c:showSerName val="1"/>
            </c:dLbl>
            <c:txPr>
              <ns3:bodyPr xmlns:ns3="http://schemas.openxmlformats.org/drawingml/2006/main"/>
              <ns4:lstStyle xmlns:ns4="http://schemas.openxmlformats.org/drawingml/2006/main"/>
              <ns5:p xmlns:ns5="http://schemas.openxmlformats.org/drawingml/2006/main">
                <ns5:pPr>
                  <ns5:defRPr sz="2025" b="1">
                    <ns5:solidFill>
                      <ns5:srgbClr val="A94D16"/>
                    </ns5:solidFill>
                    <ns5:latin typeface="Arial"/>
                  </ns5:defRPr>
                </ns5:pPr>
                <ns5:endParaRPr lang="nl-NL"/>
              </ns5:p>
            </c:txPr>
            <c:showLegendKey val="0"/>
            <c:showVal val="0"/>
            <c:showCatName val="0"/>
            <c:showSerName val="0"/>
            <c:showPercent val="0"/>
            <c:showBubbleSize val="0"/>
            <c:showLeaderLines val="0"/>
          </c:dLbls>
          <c:xVal>
            <c:numRef>
              <c:f>'Chart Data'!$C$2:$C$3</c:f>
              <c:numCache>
                <c:formatCode>General</c:formatCode>
                <c:ptCount val="2"/>
                <c:pt idx="0">
                  <c:v>0</c:v>
                </c:pt>
                <c:pt idx="1">
                  <c:v>40</c:v>
                </c:pt>
              </c:numCache>
            </c:numRef>
          </c:xVal>
          <c:yVal>
            <c:numRef>
              <c:f>'Chart Data'!$D$2:$D$3</c:f>
              <c:numCache>
                <c:formatCode>#,##0</c:formatCode>
                <c:ptCount val="2"/>
                <c:pt idx="0">
                  <c:v>36</c:v>
                </c:pt>
                <c:pt idx="1">
                  <c:v>116</c:v>
                </c:pt>
              </c:numCache>
            </c:numRef>
          </c:yVal>
        </c:ser>
        <c:ser>
          <c:idx val="2"/>
          <c:order val="2"/>
          <c:tx>
            <c:v>Break-even</c:v>
          </c:tx>
          <c:spPr>
            <a:ln xmlns:a="http://schemas.openxmlformats.org/drawingml/2006/main" w="0">
              <a:solidFill>
                <a:srgbClr val="183247"/>
              </a:solidFill>
              <a:prstDash val="solid"/>
            </a:ln>
          </c:spPr>
          <c:marker>
            <c:symbol val="diamond"/>
            <c:size val="9"/>
            <c:spPr>
              <a:solidFill xmlns:a="http://schemas.openxmlformats.org/drawingml/2006/main">
                <a:srgbClr val="183247"/>
              </a:solidFill>
            </c:spPr>
          </c:marker>
          <c:xVal>
            <c:numRef>
              <c:f>'Chart Data'!$E$2:$E$2</c:f>
              <c:numCache>
                <c:formatCode>General</c:formatCode>
                <c:ptCount val="1"/>
                <c:pt idx="0">
                  <c:v>12</c:v>
                </c:pt>
              </c:numCache>
            </c:numRef>
          </c:xVal>
          <c:yVal>
            <c:numRef>
              <c:f>'Chart Data'!$F$2:$F$2</c:f>
              <c:numCache>
                <c:formatCode>#,##0</c:formatCode>
                <c:ptCount val="1"/>
                <c:pt idx="0">
                  <c:v>60</c:v>
                </c:pt>
              </c:numCache>
            </c:numRef>
          </c:yVal>
        </c:ser>
        <c:ser>
          <c:idx val="3"/>
          <c:order val="3"/>
          <c:tx>
            <c:v>Hulplijn Q</c:v>
          </c:tx>
          <c:spPr>
            <a:ln xmlns:a="http://schemas.openxmlformats.org/drawingml/2006/main" w="19050">
              <a:solidFill>
                <a:srgbClr val="445B6B"/>
              </a:solidFill>
              <a:prstDash val="dash"/>
            </a:ln>
          </c:spPr>
          <c:marker>
            <c:symbol val="none"/>
            <c:size val="9"/>
            <c:spPr>
              <a:solidFill xmlns:a="http://schemas.openxmlformats.org/drawingml/2006/main">
                <a:srgbClr val="445B6B"/>
              </a:solidFill>
            </c:spPr>
          </c:marker>
          <c:xVal>
            <c:numRef>
              <c:f>'Chart Data'!$G$2:$G$3</c:f>
              <c:numCache>
                <c:formatCode>General</c:formatCode>
                <c:ptCount val="2"/>
                <c:pt idx="0">
                  <c:v>12</c:v>
                </c:pt>
                <c:pt idx="1">
                  <c:v>12</c:v>
                </c:pt>
              </c:numCache>
            </c:numRef>
          </c:xVal>
          <c:yVal>
            <c:numRef>
              <c:f>'Chart Data'!$H$2:$H$3</c:f>
              <c:numCache>
                <c:formatCode>#,##0</c:formatCode>
                <c:ptCount val="2"/>
                <c:pt idx="0">
                  <c:v>0</c:v>
                </c:pt>
                <c:pt idx="1">
                  <c:v>60</c:v>
                </c:pt>
              </c:numCache>
            </c:numRef>
          </c:yVal>
        </c:ser>
        <c:ser>
          <c:idx val="4"/>
          <c:order val="4"/>
          <c:tx>
            <c:v>Hulplijn bedrag</c:v>
          </c:tx>
          <c:spPr>
            <a:ln xmlns:a="http://schemas.openxmlformats.org/drawingml/2006/main" w="19050">
              <a:solidFill>
                <a:srgbClr val="445B6B"/>
              </a:solidFill>
              <a:prstDash val="dash"/>
            </a:ln>
          </c:spPr>
          <c:marker>
            <c:symbol val="none"/>
            <c:size val="9"/>
            <c:spPr>
              <a:solidFill xmlns:a="http://schemas.openxmlformats.org/drawingml/2006/main">
                <a:srgbClr val="445B6B"/>
              </a:solidFill>
            </c:spPr>
          </c:marker>
          <c:xVal>
            <c:numRef>
              <c:f>'Chart Data'!$I$2:$I$3</c:f>
              <c:numCache>
                <c:formatCode>General</c:formatCode>
                <c:ptCount val="2"/>
                <c:pt idx="0">
                  <c:v>0</c:v>
                </c:pt>
                <c:pt idx="1">
                  <c:v>12</c:v>
                </c:pt>
              </c:numCache>
            </c:numRef>
          </c:xVal>
          <c:yVal>
            <c:numRef>
              <c:f>'Chart Data'!$J$2:$J$3</c:f>
              <c:numCache>
                <c:formatCode>#,##0</c:formatCode>
                <c:ptCount val="2"/>
                <c:pt idx="0">
                  <c:v>60</c:v>
                </c:pt>
                <c:pt idx="1">
                  <c:v>60</c:v>
                </c:pt>
              </c:numCache>
            </c:numRef>
          </c:yVal>
        </c:ser>
        <c:ser>
          <c:idx val="5"/>
          <c:order val="5"/>
          <c:tx>
            <c:v>Winstafstand</c:v>
          </c:tx>
          <c:spPr>
            <a:ln xmlns:a="http://schemas.openxmlformats.org/drawingml/2006/main" w="66675">
              <a:solidFill>
                <a:srgbClr val="20665B"/>
              </a:solidFill>
              <a:prstDash val="solid"/>
            </a:ln>
          </c:spPr>
          <c:marker>
            <c:symbol val="none"/>
            <c:size val="9"/>
            <c:spPr>
              <a:solidFill xmlns:a="http://schemas.openxmlformats.org/drawingml/2006/main">
                <a:srgbClr val="20665B"/>
              </a:solidFill>
            </c:spPr>
          </c:marker>
          <c:xVal>
            <c:numRef>
              <c:f>'Chart Data'!$K$2:$K$3</c:f>
              <c:numCache>
                <c:formatCode>General</c:formatCode>
                <c:ptCount val="2"/>
                <c:pt idx="0">
                  <c:v>20</c:v>
                </c:pt>
                <c:pt idx="1">
                  <c:v>20</c:v>
                </c:pt>
              </c:numCache>
            </c:numRef>
          </c:xVal>
          <c:yVal>
            <c:numRef>
              <c:f>'Chart Data'!$L$2:$L$3</c:f>
              <c:numCache>
                <c:formatCode>#,##0</c:formatCode>
                <c:ptCount val="2"/>
                <c:pt idx="0">
                  <c:v>76</c:v>
                </c:pt>
                <c:pt idx="1">
                  <c:v>100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2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TO en TK (€ per 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40"/>
      </c:valAx>
      <c:valAx>
        <c:axId val="48650112"/>
        <c:scaling>
          <c:orientation val="minMax"/>
          <c:max val="5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(fietsen per 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TO</c:v>
          </c:tx>
          <c:spPr>
            <a:ln xmlns:a="http://schemas.openxmlformats.org/drawingml/2006/main" w="38100">
              <a:solidFill>
                <a:srgbClr val="17658A"/>
              </a:solidFill>
              <a:prstDash val="solid"/>
            </a:ln>
          </c:spPr>
          <c:marker>
            <c:symbol val="none"/>
            <c:size val="9"/>
            <c:spPr>
              <a:solidFill xmlns:a="http://schemas.openxmlformats.org/drawingml/2006/main">
                <a:srgbClr val="17658A"/>
              </a:solidFill>
            </c:spPr>
          </c:marker>
          <c:dLbls>
            <c:dLbl>
              <c:idx val="0"/>
              <c:delete val="1"/>
            </c:dLbl>
            <c:dLbl>
              <c:idx val="1"/>
              <c:dLblPos val="r"/>
              <c:showLegendKey val="0"/>
              <c:showVal val="0"/>
              <c:showCatName val="0"/>
              <c:showSerName val="1"/>
            </c:dLbl>
            <c:txPr>
              <ns0:bodyPr xmlns:ns0="http://schemas.openxmlformats.org/drawingml/2006/main"/>
              <ns1:lstStyle xmlns:ns1="http://schemas.openxmlformats.org/drawingml/2006/main"/>
              <ns2:p xmlns:ns2="http://schemas.openxmlformats.org/drawingml/2006/main">
                <ns2:pPr>
                  <ns2:defRPr sz="2025" b="1">
                    <ns2:solidFill>
                      <ns2:srgbClr val="17658A"/>
                    </ns2:solidFill>
                    <ns2:latin typeface="Arial"/>
                  </ns2:defRPr>
                </ns2:pPr>
                <ns2:endParaRPr lang="nl-NL"/>
              </ns2:p>
            </c:txPr>
            <c:showLegendKey val="0"/>
            <c:showVal val="0"/>
            <c:showCatName val="0"/>
            <c:showSerName val="0"/>
            <c:showPercent val="0"/>
            <c:showBubbleSize val="0"/>
            <c:showLeaderLines val="0"/>
          </c:dLbls>
          <c:xVal>
            <c:numRef>
              <c:f>'Chart Data'!$A$2:$A$3</c:f>
              <c:numCache>
                <c:formatCode>General</c:formatCode>
                <c:ptCount val="2"/>
                <c:pt idx="0">
                  <c:v>0</c:v>
                </c:pt>
                <c:pt idx="1">
                  <c:v>1000</c:v>
                </c:pt>
              </c:numCache>
            </c:numRef>
          </c:xVal>
          <c:yVal>
            <c:numRef>
              <c:f>'Chart Data'!$B$2:$B$3</c:f>
              <c:numCache>
                <c:formatCode>#,##0</c:formatCode>
                <c:ptCount val="2"/>
                <c:pt idx="0">
                  <c:v>0</c:v>
                </c:pt>
                <c:pt idx="1">
                  <c:v>5000</c:v>
                </c:pt>
              </c:numCache>
            </c:numRef>
          </c:yVal>
        </c:ser>
        <c:ser>
          <c:idx val="1"/>
          <c:order val="1"/>
          <c:tx>
            <c:v>TK vrijdag</c:v>
          </c:tx>
          <c:spPr>
            <a:ln xmlns:a="http://schemas.openxmlformats.org/drawingml/2006/main" w="38100">
              <a:solidFill>
                <a:srgbClr val="A94D16"/>
              </a:solidFill>
              <a:prstDash val="dash"/>
            </a:ln>
          </c:spPr>
          <c:marker>
            <c:symbol val="none"/>
            <c:size val="9"/>
            <c:spPr>
              <a:solidFill xmlns:a="http://schemas.openxmlformats.org/drawingml/2006/main">
                <a:srgbClr val="A94D16"/>
              </a:solidFill>
            </c:spPr>
          </c:marker>
          <c:dLbls>
            <c:dLbl>
              <c:idx val="0"/>
              <c:delete val="1"/>
            </c:dLbl>
            <c:dLbl>
              <c:idx val="1"/>
              <c:dLblPos val="r"/>
              <c:showLegendKey val="0"/>
              <c:showVal val="0"/>
              <c:showCatName val="0"/>
              <c:showSerName val="1"/>
            </c:dLbl>
            <c:txPr>
              <ns3:bodyPr xmlns:ns3="http://schemas.openxmlformats.org/drawingml/2006/main"/>
              <ns4:lstStyle xmlns:ns4="http://schemas.openxmlformats.org/drawingml/2006/main"/>
              <ns5:p xmlns:ns5="http://schemas.openxmlformats.org/drawingml/2006/main">
                <ns5:pPr>
                  <ns5:defRPr sz="2025" b="1">
                    <ns5:solidFill>
                      <ns5:srgbClr val="A94D16"/>
                    </ns5:solidFill>
                    <ns5:latin typeface="Arial"/>
                  </ns5:defRPr>
                </ns5:pPr>
                <ns5:endParaRPr lang="nl-NL"/>
              </ns5:p>
            </c:txPr>
            <c:showLegendKey val="0"/>
            <c:showVal val="0"/>
            <c:showCatName val="0"/>
            <c:showSerName val="0"/>
            <c:showPercent val="0"/>
            <c:showBubbleSize val="0"/>
            <c:showLeaderLines val="0"/>
          </c:dLbls>
          <c:xVal>
            <c:numRef>
              <c:f>'Chart Data'!$C$2:$C$3</c:f>
              <c:numCache>
                <c:formatCode>General</c:formatCode>
                <c:ptCount val="2"/>
                <c:pt idx="0">
                  <c:v>0</c:v>
                </c:pt>
                <c:pt idx="1">
                  <c:v>1000</c:v>
                </c:pt>
              </c:numCache>
            </c:numRef>
          </c:xVal>
          <c:yVal>
            <c:numRef>
              <c:f>'Chart Data'!$D$2:$D$3</c:f>
              <c:numCache>
                <c:formatCode>#,##0</c:formatCode>
                <c:ptCount val="2"/>
                <c:pt idx="0">
                  <c:v>1200</c:v>
                </c:pt>
                <c:pt idx="1">
                  <c:v>3200</c:v>
                </c:pt>
              </c:numCache>
            </c:numRef>
          </c:yVal>
        </c:ser>
        <c:ser>
          <c:idx val="2"/>
          <c:order val="2"/>
          <c:tx>
            <c:v>TK zaterdag</c:v>
          </c:tx>
          <c:spPr>
            <a:ln xmlns:a="http://schemas.openxmlformats.org/drawingml/2006/main" w="38100">
              <a:solidFill>
                <a:srgbClr val="20665B"/>
              </a:solidFill>
              <a:prstDash val="dot"/>
            </a:ln>
          </c:spPr>
          <c:marker>
            <c:symbol val="circle"/>
            <c:size val="9"/>
            <c:spPr>
              <a:solidFill xmlns:a="http://schemas.openxmlformats.org/drawingml/2006/main">
                <a:srgbClr val="20665B"/>
              </a:solidFill>
            </c:spPr>
          </c:marker>
          <c:dLbls>
            <c:dLbl>
              <c:idx val="0"/>
              <c:delete val="1"/>
            </c:dLbl>
            <c:dLbl>
              <c:idx val="1"/>
              <c:delete val="1"/>
            </c:dLbl>
            <c:dLbl>
              <c:idx val="2"/>
              <c:delete val="1"/>
            </c:dLbl>
            <c:dLbl>
              <c:idx val="3"/>
              <c:dLblPos val="r"/>
              <c:showLegendKey val="0"/>
              <c:showVal val="0"/>
              <c:showCatName val="0"/>
              <c:showSerName val="1"/>
            </c:dLbl>
            <c:txPr>
              <ns6:bodyPr xmlns:ns6="http://schemas.openxmlformats.org/drawingml/2006/main"/>
              <ns7:lstStyle xmlns:ns7="http://schemas.openxmlformats.org/drawingml/2006/main"/>
              <ns8:p xmlns:ns8="http://schemas.openxmlformats.org/drawingml/2006/main">
                <ns8:pPr>
                  <ns8:defRPr sz="2025" b="1">
                    <ns8:solidFill>
                      <ns8:srgbClr val="20665B"/>
                    </ns8:solidFill>
                    <ns8:latin typeface="Arial"/>
                  </ns8:defRPr>
                </ns8:pPr>
                <ns8:endParaRPr lang="nl-NL"/>
              </ns8:p>
            </c:txPr>
            <c:showLegendKey val="0"/>
            <c:showVal val="0"/>
            <c:showCatName val="0"/>
            <c:showSerName val="0"/>
            <c:showPercent val="0"/>
            <c:showBubbleSize val="0"/>
            <c:showLeaderLines val="0"/>
          </c:dLbls>
          <c:xVal>
            <c:numRef>
              <c:f>'Chart Data'!$E$2:$E$5</c:f>
              <c:numCache>
                <c:formatCode>General</c:formatCode>
                <c:ptCount val="4"/>
                <c:pt idx="0">
                  <c:v>700</c:v>
                </c:pt>
                <c:pt idx="1">
                  <c:v>800</c:v>
                </c:pt>
                <c:pt idx="2">
                  <c:v>900</c:v>
                </c:pt>
                <c:pt idx="3">
                  <c:v>1000</c:v>
                </c:pt>
              </c:numCache>
            </c:numRef>
          </c:xVal>
          <c:yVal>
            <c:numRef>
              <c:f>'Chart Data'!$F$2:$F$5</c:f>
              <c:numCache>
                <c:formatCode>#,##0</c:formatCode>
                <c:ptCount val="4"/>
                <c:pt idx="0">
                  <c:v>2600</c:v>
                </c:pt>
                <c:pt idx="1">
                  <c:v>2900</c:v>
                </c:pt>
                <c:pt idx="2">
                  <c:v>3250</c:v>
                </c:pt>
                <c:pt idx="3">
                  <c:v>3650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TO en TK (€ per 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00"/>
      </c:valAx>
      <c:valAx>
        <c:axId val="48650112"/>
        <c:scaling>
          <c:orientation val="minMax"/>
          <c:max val="12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(lunchboxen per 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TO</c:v>
          </c:tx>
          <c:spPr>
            <a:ln xmlns:a="http://schemas.openxmlformats.org/drawingml/2006/main" w="38100">
              <a:solidFill>
                <a:srgbClr val="17658A"/>
              </a:solidFill>
              <a:prstDash val="solid"/>
            </a:ln>
          </c:spPr>
          <c:marker>
            <c:symbol val="none"/>
            <c:size val="9"/>
            <c:spPr>
              <a:solidFill xmlns:a="http://schemas.openxmlformats.org/drawingml/2006/main">
                <a:srgbClr val="17658A"/>
              </a:solidFill>
            </c:spPr>
          </c:marker>
          <c:dLbls>
            <c:dLbl>
              <c:idx val="0"/>
              <c:delete val="1"/>
            </c:dLbl>
            <c:dLbl>
              <c:idx val="1"/>
              <c:dLblPos val="r"/>
              <c:showLegendKey val="0"/>
              <c:showVal val="0"/>
              <c:showCatName val="0"/>
              <c:showSerName val="1"/>
            </c:dLbl>
            <c:txPr>
              <ns0:bodyPr xmlns:ns0="http://schemas.openxmlformats.org/drawingml/2006/main"/>
              <ns1:lstStyle xmlns:ns1="http://schemas.openxmlformats.org/drawingml/2006/main"/>
              <ns2:p xmlns:ns2="http://schemas.openxmlformats.org/drawingml/2006/main">
                <ns2:pPr>
                  <ns2:defRPr sz="2025" b="1">
                    <ns2:solidFill>
                      <ns2:srgbClr val="17658A"/>
                    </ns2:solidFill>
                    <ns2:latin typeface="Arial"/>
                  </ns2:defRPr>
                </ns2:pPr>
                <ns2:endParaRPr lang="nl-NL"/>
              </ns2:p>
            </c:txPr>
            <c:showLegendKey val="0"/>
            <c:showVal val="0"/>
            <c:showCatName val="0"/>
            <c:showSerName val="0"/>
            <c:showPercent val="0"/>
            <c:showBubbleSize val="0"/>
            <c:showLeaderLines val="0"/>
          </c:dLbls>
          <c:xVal>
            <c:numRef>
              <c:f>'Chart Data'!$A$2:$A$3</c:f>
              <c:numCache>
                <c:formatCode>General</c:formatCode>
                <c:ptCount val="2"/>
                <c:pt idx="0">
                  <c:v>0</c:v>
                </c:pt>
                <c:pt idx="1">
                  <c:v>1000</c:v>
                </c:pt>
              </c:numCache>
            </c:numRef>
          </c:xVal>
          <c:yVal>
            <c:numRef>
              <c:f>'Chart Data'!$B$2:$B$3</c:f>
              <c:numCache>
                <c:formatCode>#,##0</c:formatCode>
                <c:ptCount val="2"/>
                <c:pt idx="0">
                  <c:v>0</c:v>
                </c:pt>
                <c:pt idx="1">
                  <c:v>5000</c:v>
                </c:pt>
              </c:numCache>
            </c:numRef>
          </c:yVal>
        </c:ser>
        <c:ser>
          <c:idx val="1"/>
          <c:order val="1"/>
          <c:tx>
            <c:v>TK vrijdag</c:v>
          </c:tx>
          <c:spPr>
            <a:ln xmlns:a="http://schemas.openxmlformats.org/drawingml/2006/main" w="38100">
              <a:solidFill>
                <a:srgbClr val="A94D16"/>
              </a:solidFill>
              <a:prstDash val="dash"/>
            </a:ln>
          </c:spPr>
          <c:marker>
            <c:symbol val="none"/>
            <c:size val="9"/>
            <c:spPr>
              <a:solidFill xmlns:a="http://schemas.openxmlformats.org/drawingml/2006/main">
                <a:srgbClr val="A94D16"/>
              </a:solidFill>
            </c:spPr>
          </c:marker>
          <c:dLbls>
            <c:dLbl>
              <c:idx val="0"/>
              <c:delete val="1"/>
            </c:dLbl>
            <c:dLbl>
              <c:idx val="1"/>
              <c:dLblPos val="r"/>
              <c:showLegendKey val="0"/>
              <c:showVal val="0"/>
              <c:showCatName val="0"/>
              <c:showSerName val="1"/>
            </c:dLbl>
            <c:txPr>
              <ns3:bodyPr xmlns:ns3="http://schemas.openxmlformats.org/drawingml/2006/main"/>
              <ns4:lstStyle xmlns:ns4="http://schemas.openxmlformats.org/drawingml/2006/main"/>
              <ns5:p xmlns:ns5="http://schemas.openxmlformats.org/drawingml/2006/main">
                <ns5:pPr>
                  <ns5:defRPr sz="2025" b="1">
                    <ns5:solidFill>
                      <ns5:srgbClr val="A94D16"/>
                    </ns5:solidFill>
                    <ns5:latin typeface="Arial"/>
                  </ns5:defRPr>
                </ns5:pPr>
                <ns5:endParaRPr lang="nl-NL"/>
              </ns5:p>
            </c:txPr>
            <c:showLegendKey val="0"/>
            <c:showVal val="0"/>
            <c:showCatName val="0"/>
            <c:showSerName val="0"/>
            <c:showPercent val="0"/>
            <c:showBubbleSize val="0"/>
            <c:showLeaderLines val="0"/>
          </c:dLbls>
          <c:xVal>
            <c:numRef>
              <c:f>'Chart Data'!$C$2:$C$3</c:f>
              <c:numCache>
                <c:formatCode>General</c:formatCode>
                <c:ptCount val="2"/>
                <c:pt idx="0">
                  <c:v>0</c:v>
                </c:pt>
                <c:pt idx="1">
                  <c:v>1000</c:v>
                </c:pt>
              </c:numCache>
            </c:numRef>
          </c:xVal>
          <c:yVal>
            <c:numRef>
              <c:f>'Chart Data'!$D$2:$D$3</c:f>
              <c:numCache>
                <c:formatCode>#,##0</c:formatCode>
                <c:ptCount val="2"/>
                <c:pt idx="0">
                  <c:v>1200</c:v>
                </c:pt>
                <c:pt idx="1">
                  <c:v>3200</c:v>
                </c:pt>
              </c:numCache>
            </c:numRef>
          </c:yVal>
        </c:ser>
        <c:ser>
          <c:idx val="2"/>
          <c:order val="2"/>
          <c:tx>
            <c:v>TK zaterdag</c:v>
          </c:tx>
          <c:spPr>
            <a:ln xmlns:a="http://schemas.openxmlformats.org/drawingml/2006/main" w="38100">
              <a:solidFill>
                <a:srgbClr val="20665B"/>
              </a:solidFill>
              <a:prstDash val="dot"/>
            </a:ln>
          </c:spPr>
          <c:marker>
            <c:symbol val="circle"/>
            <c:size val="9"/>
            <c:spPr>
              <a:solidFill xmlns:a="http://schemas.openxmlformats.org/drawingml/2006/main">
                <a:srgbClr val="20665B"/>
              </a:solidFill>
            </c:spPr>
          </c:marker>
          <c:dLbls>
            <c:dLbl>
              <c:idx val="0"/>
              <c:delete val="1"/>
            </c:dLbl>
            <c:dLbl>
              <c:idx val="1"/>
              <c:delete val="1"/>
            </c:dLbl>
            <c:dLbl>
              <c:idx val="2"/>
              <c:delete val="1"/>
            </c:dLbl>
            <c:dLbl>
              <c:idx val="3"/>
              <c:dLblPos val="r"/>
              <c:showLegendKey val="0"/>
              <c:showVal val="0"/>
              <c:showCatName val="0"/>
              <c:showSerName val="1"/>
            </c:dLbl>
            <c:txPr>
              <ns6:bodyPr xmlns:ns6="http://schemas.openxmlformats.org/drawingml/2006/main"/>
              <ns7:lstStyle xmlns:ns7="http://schemas.openxmlformats.org/drawingml/2006/main"/>
              <ns8:p xmlns:ns8="http://schemas.openxmlformats.org/drawingml/2006/main">
                <ns8:pPr>
                  <ns8:defRPr sz="2025" b="1">
                    <ns8:solidFill>
                      <ns8:srgbClr val="20665B"/>
                    </ns8:solidFill>
                    <ns8:latin typeface="Arial"/>
                  </ns8:defRPr>
                </ns8:pPr>
                <ns8:endParaRPr lang="nl-NL"/>
              </ns8:p>
            </c:txPr>
            <c:showLegendKey val="0"/>
            <c:showVal val="0"/>
            <c:showCatName val="0"/>
            <c:showSerName val="0"/>
            <c:showPercent val="0"/>
            <c:showBubbleSize val="0"/>
            <c:showLeaderLines val="0"/>
          </c:dLbls>
          <c:xVal>
            <c:numRef>
              <c:f>'Chart Data'!$E$2:$E$5</c:f>
              <c:numCache>
                <c:formatCode>General</c:formatCode>
                <c:ptCount val="4"/>
                <c:pt idx="0">
                  <c:v>700</c:v>
                </c:pt>
                <c:pt idx="1">
                  <c:v>800</c:v>
                </c:pt>
                <c:pt idx="2">
                  <c:v>900</c:v>
                </c:pt>
                <c:pt idx="3">
                  <c:v>1000</c:v>
                </c:pt>
              </c:numCache>
            </c:numRef>
          </c:xVal>
          <c:yVal>
            <c:numRef>
              <c:f>'Chart Data'!$F$2:$F$5</c:f>
              <c:numCache>
                <c:formatCode>#,##0</c:formatCode>
                <c:ptCount val="4"/>
                <c:pt idx="0">
                  <c:v>2600</c:v>
                </c:pt>
                <c:pt idx="1">
                  <c:v>2900</c:v>
                </c:pt>
                <c:pt idx="2">
                  <c:v>3250</c:v>
                </c:pt>
                <c:pt idx="3">
                  <c:v>3650</c:v>
                </c:pt>
              </c:numCache>
            </c:numRef>
          </c:yVal>
        </c:ser>
        <c:ser>
          <c:idx val="3"/>
          <c:order val="3"/>
          <c:tx>
            <c:v>Break-even</c:v>
          </c:tx>
          <c:spPr>
            <a:ln xmlns:a="http://schemas.openxmlformats.org/drawingml/2006/main" w="0">
              <a:solidFill>
                <a:srgbClr val="183247"/>
              </a:solidFill>
              <a:prstDash val="solid"/>
            </a:ln>
          </c:spPr>
          <c:marker>
            <c:symbol val="diamond"/>
            <c:size val="9"/>
            <c:spPr>
              <a:solidFill xmlns:a="http://schemas.openxmlformats.org/drawingml/2006/main">
                <a:srgbClr val="183247"/>
              </a:solidFill>
            </c:spPr>
          </c:marker>
          <c:xVal>
            <c:numRef>
              <c:f>'Chart Data'!$G$2:$G$2</c:f>
              <c:numCache>
                <c:formatCode>General</c:formatCode>
                <c:ptCount val="1"/>
                <c:pt idx="0">
                  <c:v>400</c:v>
                </c:pt>
              </c:numCache>
            </c:numRef>
          </c:xVal>
          <c:yVal>
            <c:numRef>
              <c:f>'Chart Data'!$H$2:$H$2</c:f>
              <c:numCache>
                <c:formatCode>#,##0</c:formatCode>
                <c:ptCount val="1"/>
                <c:pt idx="0">
                  <c:v>2000</c:v>
                </c:pt>
              </c:numCache>
            </c:numRef>
          </c:yVal>
        </c:ser>
        <c:ser>
          <c:idx val="4"/>
          <c:order val="4"/>
          <c:tx>
            <c:v>Hulplijn Q</c:v>
          </c:tx>
          <c:spPr>
            <a:ln xmlns:a="http://schemas.openxmlformats.org/drawingml/2006/main" w="19050">
              <a:solidFill>
                <a:srgbClr val="445B6B"/>
              </a:solidFill>
              <a:prstDash val="dash"/>
            </a:ln>
          </c:spPr>
          <c:marker>
            <c:symbol val="none"/>
            <c:size val="9"/>
            <c:spPr>
              <a:solidFill xmlns:a="http://schemas.openxmlformats.org/drawingml/2006/main">
                <a:srgbClr val="445B6B"/>
              </a:solidFill>
            </c:spPr>
          </c:marker>
          <c:xVal>
            <c:numRef>
              <c:f>'Chart Data'!$I$2:$I$3</c:f>
              <c:numCache>
                <c:formatCode>General</c:formatCode>
                <c:ptCount val="2"/>
                <c:pt idx="0">
                  <c:v>400</c:v>
                </c:pt>
                <c:pt idx="1">
                  <c:v>400</c:v>
                </c:pt>
              </c:numCache>
            </c:numRef>
          </c:xVal>
          <c:yVal>
            <c:numRef>
              <c:f>'Chart Data'!$J$2:$J$3</c:f>
              <c:numCache>
                <c:formatCode>#,##0</c:formatCode>
                <c:ptCount val="2"/>
                <c:pt idx="0">
                  <c:v>0</c:v>
                </c:pt>
                <c:pt idx="1">
                  <c:v>2000</c:v>
                </c:pt>
              </c:numCache>
            </c:numRef>
          </c:yVal>
        </c:ser>
        <c:ser>
          <c:idx val="5"/>
          <c:order val="5"/>
          <c:tx>
            <c:v>Hulplijn bedrag</c:v>
          </c:tx>
          <c:spPr>
            <a:ln xmlns:a="http://schemas.openxmlformats.org/drawingml/2006/main" w="19050">
              <a:solidFill>
                <a:srgbClr val="445B6B"/>
              </a:solidFill>
              <a:prstDash val="dash"/>
            </a:ln>
          </c:spPr>
          <c:marker>
            <c:symbol val="none"/>
            <c:size val="9"/>
            <c:spPr>
              <a:solidFill xmlns:a="http://schemas.openxmlformats.org/drawingml/2006/main">
                <a:srgbClr val="445B6B"/>
              </a:solidFill>
            </c:spPr>
          </c:marker>
          <c:xVal>
            <c:numRef>
              <c:f>'Chart Data'!$K$2:$K$3</c:f>
              <c:numCache>
                <c:formatCode>General</c:formatCode>
                <c:ptCount val="2"/>
                <c:pt idx="0">
                  <c:v>0</c:v>
                </c:pt>
                <c:pt idx="1">
                  <c:v>400</c:v>
                </c:pt>
              </c:numCache>
            </c:numRef>
          </c:xVal>
          <c:yVal>
            <c:numRef>
              <c:f>'Chart Data'!$L$2:$L$3</c:f>
              <c:numCache>
                <c:formatCode>#,##0</c:formatCode>
                <c:ptCount val="2"/>
                <c:pt idx="0">
                  <c:v>2000</c:v>
                </c:pt>
                <c:pt idx="1">
                  <c:v>2000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TO en TK (€ per 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00"/>
      </c:valAx>
      <c:valAx>
        <c:axId val="48650112"/>
        <c:scaling>
          <c:orientation val="minMax"/>
          <c:max val="12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(lunchboxen per 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TO</c:v>
          </c:tx>
          <c:spPr>
            <a:ln xmlns:a="http://schemas.openxmlformats.org/drawingml/2006/main" w="38100">
              <a:solidFill>
                <a:srgbClr val="17658A"/>
              </a:solidFill>
              <a:prstDash val="solid"/>
            </a:ln>
          </c:spPr>
          <c:marker>
            <c:symbol val="none"/>
            <c:size val="9"/>
            <c:spPr>
              <a:solidFill xmlns:a="http://schemas.openxmlformats.org/drawingml/2006/main">
                <a:srgbClr val="17658A"/>
              </a:solidFill>
            </c:spPr>
          </c:marker>
          <c:dLbls>
            <c:dLbl>
              <c:idx val="0"/>
              <c:delete val="1"/>
            </c:dLbl>
            <c:dLbl>
              <c:idx val="1"/>
              <c:dLblPos val="r"/>
              <c:showLegendKey val="0"/>
              <c:showVal val="0"/>
              <c:showCatName val="0"/>
              <c:showSerName val="1"/>
            </c:dLbl>
            <c:txPr>
              <ns0:bodyPr xmlns:ns0="http://schemas.openxmlformats.org/drawingml/2006/main"/>
              <ns1:lstStyle xmlns:ns1="http://schemas.openxmlformats.org/drawingml/2006/main"/>
              <ns2:p xmlns:ns2="http://schemas.openxmlformats.org/drawingml/2006/main">
                <ns2:pPr>
                  <ns2:defRPr sz="2025" b="1">
                    <ns2:solidFill>
                      <ns2:srgbClr val="17658A"/>
                    </ns2:solidFill>
                    <ns2:latin typeface="Arial"/>
                  </ns2:defRPr>
                </ns2:pPr>
                <ns2:endParaRPr lang="nl-NL"/>
              </ns2:p>
            </c:txPr>
            <c:showLegendKey val="0"/>
            <c:showVal val="0"/>
            <c:showCatName val="0"/>
            <c:showSerName val="0"/>
            <c:showPercent val="0"/>
            <c:showBubbleSize val="0"/>
            <c:showLeaderLines val="0"/>
          </c:dLbls>
          <c:xVal>
            <c:numRef>
              <c:f>'Chart Data'!$A$2:$A$3</c:f>
              <c:numCache>
                <c:formatCode>General</c:formatCode>
                <c:ptCount val="2"/>
                <c:pt idx="0">
                  <c:v>0</c:v>
                </c:pt>
                <c:pt idx="1">
                  <c:v>1000</c:v>
                </c:pt>
              </c:numCache>
            </c:numRef>
          </c:xVal>
          <c:yVal>
            <c:numRef>
              <c:f>'Chart Data'!$B$2:$B$3</c:f>
              <c:numCache>
                <c:formatCode>#,##0</c:formatCode>
                <c:ptCount val="2"/>
                <c:pt idx="0">
                  <c:v>0</c:v>
                </c:pt>
                <c:pt idx="1">
                  <c:v>5000</c:v>
                </c:pt>
              </c:numCache>
            </c:numRef>
          </c:yVal>
        </c:ser>
        <c:ser>
          <c:idx val="1"/>
          <c:order val="1"/>
          <c:tx>
            <c:v>TK vrijdag</c:v>
          </c:tx>
          <c:spPr>
            <a:ln xmlns:a="http://schemas.openxmlformats.org/drawingml/2006/main" w="38100">
              <a:solidFill>
                <a:srgbClr val="A94D16"/>
              </a:solidFill>
              <a:prstDash val="dash"/>
            </a:ln>
          </c:spPr>
          <c:marker>
            <c:symbol val="none"/>
            <c:size val="9"/>
            <c:spPr>
              <a:solidFill xmlns:a="http://schemas.openxmlformats.org/drawingml/2006/main">
                <a:srgbClr val="A94D16"/>
              </a:solidFill>
            </c:spPr>
          </c:marker>
          <c:dLbls>
            <c:dLbl>
              <c:idx val="0"/>
              <c:delete val="1"/>
            </c:dLbl>
            <c:dLbl>
              <c:idx val="1"/>
              <c:dLblPos val="r"/>
              <c:showLegendKey val="0"/>
              <c:showVal val="0"/>
              <c:showCatName val="0"/>
              <c:showSerName val="1"/>
            </c:dLbl>
            <c:txPr>
              <ns3:bodyPr xmlns:ns3="http://schemas.openxmlformats.org/drawingml/2006/main"/>
              <ns4:lstStyle xmlns:ns4="http://schemas.openxmlformats.org/drawingml/2006/main"/>
              <ns5:p xmlns:ns5="http://schemas.openxmlformats.org/drawingml/2006/main">
                <ns5:pPr>
                  <ns5:defRPr sz="2025" b="1">
                    <ns5:solidFill>
                      <ns5:srgbClr val="A94D16"/>
                    </ns5:solidFill>
                    <ns5:latin typeface="Arial"/>
                  </ns5:defRPr>
                </ns5:pPr>
                <ns5:endParaRPr lang="nl-NL"/>
              </ns5:p>
            </c:txPr>
            <c:showLegendKey val="0"/>
            <c:showVal val="0"/>
            <c:showCatName val="0"/>
            <c:showSerName val="0"/>
            <c:showPercent val="0"/>
            <c:showBubbleSize val="0"/>
            <c:showLeaderLines val="0"/>
          </c:dLbls>
          <c:xVal>
            <c:numRef>
              <c:f>'Chart Data'!$C$2:$C$3</c:f>
              <c:numCache>
                <c:formatCode>General</c:formatCode>
                <c:ptCount val="2"/>
                <c:pt idx="0">
                  <c:v>0</c:v>
                </c:pt>
                <c:pt idx="1">
                  <c:v>1000</c:v>
                </c:pt>
              </c:numCache>
            </c:numRef>
          </c:xVal>
          <c:yVal>
            <c:numRef>
              <c:f>'Chart Data'!$D$2:$D$3</c:f>
              <c:numCache>
                <c:formatCode>#,##0</c:formatCode>
                <c:ptCount val="2"/>
                <c:pt idx="0">
                  <c:v>1200</c:v>
                </c:pt>
                <c:pt idx="1">
                  <c:v>3200</c:v>
                </c:pt>
              </c:numCache>
            </c:numRef>
          </c:yVal>
        </c:ser>
        <c:ser>
          <c:idx val="2"/>
          <c:order val="2"/>
          <c:tx>
            <c:v>TK zaterdag</c:v>
          </c:tx>
          <c:spPr>
            <a:ln xmlns:a="http://schemas.openxmlformats.org/drawingml/2006/main" w="38100">
              <a:solidFill>
                <a:srgbClr val="20665B"/>
              </a:solidFill>
              <a:prstDash val="dot"/>
            </a:ln>
          </c:spPr>
          <c:marker>
            <c:symbol val="circle"/>
            <c:size val="9"/>
            <c:spPr>
              <a:solidFill xmlns:a="http://schemas.openxmlformats.org/drawingml/2006/main">
                <a:srgbClr val="20665B"/>
              </a:solidFill>
            </c:spPr>
          </c:marker>
          <c:dLbls>
            <c:dLbl>
              <c:idx val="0"/>
              <c:delete val="1"/>
            </c:dLbl>
            <c:dLbl>
              <c:idx val="1"/>
              <c:delete val="1"/>
            </c:dLbl>
            <c:dLbl>
              <c:idx val="2"/>
              <c:delete val="1"/>
            </c:dLbl>
            <c:dLbl>
              <c:idx val="3"/>
              <c:dLblPos val="r"/>
              <c:showLegendKey val="0"/>
              <c:showVal val="0"/>
              <c:showCatName val="0"/>
              <c:showSerName val="1"/>
            </c:dLbl>
            <c:txPr>
              <ns6:bodyPr xmlns:ns6="http://schemas.openxmlformats.org/drawingml/2006/main"/>
              <ns7:lstStyle xmlns:ns7="http://schemas.openxmlformats.org/drawingml/2006/main"/>
              <ns8:p xmlns:ns8="http://schemas.openxmlformats.org/drawingml/2006/main">
                <ns8:pPr>
                  <ns8:defRPr sz="2025" b="1">
                    <ns8:solidFill>
                      <ns8:srgbClr val="20665B"/>
                    </ns8:solidFill>
                    <ns8:latin typeface="Arial"/>
                  </ns8:defRPr>
                </ns8:pPr>
                <ns8:endParaRPr lang="nl-NL"/>
              </ns8:p>
            </c:txPr>
            <c:showLegendKey val="0"/>
            <c:showVal val="0"/>
            <c:showCatName val="0"/>
            <c:showSerName val="0"/>
            <c:showPercent val="0"/>
            <c:showBubbleSize val="0"/>
            <c:showLeaderLines val="0"/>
          </c:dLbls>
          <c:xVal>
            <c:numRef>
              <c:f>'Chart Data'!$E$2:$E$5</c:f>
              <c:numCache>
                <c:formatCode>General</c:formatCode>
                <c:ptCount val="4"/>
                <c:pt idx="0">
                  <c:v>700</c:v>
                </c:pt>
                <c:pt idx="1">
                  <c:v>800</c:v>
                </c:pt>
                <c:pt idx="2">
                  <c:v>900</c:v>
                </c:pt>
                <c:pt idx="3">
                  <c:v>1000</c:v>
                </c:pt>
              </c:numCache>
            </c:numRef>
          </c:xVal>
          <c:yVal>
            <c:numRef>
              <c:f>'Chart Data'!$F$2:$F$5</c:f>
              <c:numCache>
                <c:formatCode>#,##0</c:formatCode>
                <c:ptCount val="4"/>
                <c:pt idx="0">
                  <c:v>2600</c:v>
                </c:pt>
                <c:pt idx="1">
                  <c:v>2900</c:v>
                </c:pt>
                <c:pt idx="2">
                  <c:v>3250</c:v>
                </c:pt>
                <c:pt idx="3">
                  <c:v>3650</c:v>
                </c:pt>
              </c:numCache>
            </c:numRef>
          </c:yVal>
        </c:ser>
        <c:ser>
          <c:idx val="3"/>
          <c:order val="3"/>
          <c:tx>
            <c:v>Break-even</c:v>
          </c:tx>
          <c:spPr>
            <a:ln xmlns:a="http://schemas.openxmlformats.org/drawingml/2006/main" w="0">
              <a:solidFill>
                <a:srgbClr val="183247"/>
              </a:solidFill>
              <a:prstDash val="solid"/>
            </a:ln>
          </c:spPr>
          <c:marker>
            <c:symbol val="diamond"/>
            <c:size val="9"/>
            <c:spPr>
              <a:solidFill xmlns:a="http://schemas.openxmlformats.org/drawingml/2006/main">
                <a:srgbClr val="183247"/>
              </a:solidFill>
            </c:spPr>
          </c:marker>
          <c:xVal>
            <c:numRef>
              <c:f>'Chart Data'!$G$2:$G$2</c:f>
              <c:numCache>
                <c:formatCode>General</c:formatCode>
                <c:ptCount val="1"/>
                <c:pt idx="0">
                  <c:v>400</c:v>
                </c:pt>
              </c:numCache>
            </c:numRef>
          </c:xVal>
          <c:yVal>
            <c:numRef>
              <c:f>'Chart Data'!$H$2:$H$2</c:f>
              <c:numCache>
                <c:formatCode>#,##0</c:formatCode>
                <c:ptCount val="1"/>
                <c:pt idx="0">
                  <c:v>2000</c:v>
                </c:pt>
              </c:numCache>
            </c:numRef>
          </c:yVal>
        </c:ser>
        <c:ser>
          <c:idx val="4"/>
          <c:order val="4"/>
          <c:tx>
            <c:v>Hulplijn Q</c:v>
          </c:tx>
          <c:spPr>
            <a:ln xmlns:a="http://schemas.openxmlformats.org/drawingml/2006/main" w="19050">
              <a:solidFill>
                <a:srgbClr val="445B6B"/>
              </a:solidFill>
              <a:prstDash val="dash"/>
            </a:ln>
          </c:spPr>
          <c:marker>
            <c:symbol val="none"/>
            <c:size val="9"/>
            <c:spPr>
              <a:solidFill xmlns:a="http://schemas.openxmlformats.org/drawingml/2006/main">
                <a:srgbClr val="445B6B"/>
              </a:solidFill>
            </c:spPr>
          </c:marker>
          <c:xVal>
            <c:numRef>
              <c:f>'Chart Data'!$I$2:$I$3</c:f>
              <c:numCache>
                <c:formatCode>General</c:formatCode>
                <c:ptCount val="2"/>
                <c:pt idx="0">
                  <c:v>400</c:v>
                </c:pt>
                <c:pt idx="1">
                  <c:v>400</c:v>
                </c:pt>
              </c:numCache>
            </c:numRef>
          </c:xVal>
          <c:yVal>
            <c:numRef>
              <c:f>'Chart Data'!$J$2:$J$3</c:f>
              <c:numCache>
                <c:formatCode>#,##0</c:formatCode>
                <c:ptCount val="2"/>
                <c:pt idx="0">
                  <c:v>0</c:v>
                </c:pt>
                <c:pt idx="1">
                  <c:v>2000</c:v>
                </c:pt>
              </c:numCache>
            </c:numRef>
          </c:yVal>
        </c:ser>
        <c:ser>
          <c:idx val="5"/>
          <c:order val="5"/>
          <c:tx>
            <c:v>Hulplijn bedrag</c:v>
          </c:tx>
          <c:spPr>
            <a:ln xmlns:a="http://schemas.openxmlformats.org/drawingml/2006/main" w="19050">
              <a:solidFill>
                <a:srgbClr val="445B6B"/>
              </a:solidFill>
              <a:prstDash val="dash"/>
            </a:ln>
          </c:spPr>
          <c:marker>
            <c:symbol val="none"/>
            <c:size val="9"/>
            <c:spPr>
              <a:solidFill xmlns:a="http://schemas.openxmlformats.org/drawingml/2006/main">
                <a:srgbClr val="445B6B"/>
              </a:solidFill>
            </c:spPr>
          </c:marker>
          <c:xVal>
            <c:numRef>
              <c:f>'Chart Data'!$K$2:$K$3</c:f>
              <c:numCache>
                <c:formatCode>General</c:formatCode>
                <c:ptCount val="2"/>
                <c:pt idx="0">
                  <c:v>0</c:v>
                </c:pt>
                <c:pt idx="1">
                  <c:v>400</c:v>
                </c:pt>
              </c:numCache>
            </c:numRef>
          </c:xVal>
          <c:yVal>
            <c:numRef>
              <c:f>'Chart Data'!$L$2:$L$3</c:f>
              <c:numCache>
                <c:formatCode>#,##0</c:formatCode>
                <c:ptCount val="2"/>
                <c:pt idx="0">
                  <c:v>2000</c:v>
                </c:pt>
                <c:pt idx="1">
                  <c:v>2000</c:v>
                </c:pt>
              </c:numCache>
            </c:numRef>
          </c:yVal>
        </c:ser>
        <c:ser>
          <c:idx val="6"/>
          <c:order val="6"/>
          <c:tx>
            <c:v>Winstafstand</c:v>
          </c:tx>
          <c:spPr>
            <a:ln xmlns:a="http://schemas.openxmlformats.org/drawingml/2006/main" w="66675">
              <a:solidFill>
                <a:srgbClr val="183247"/>
              </a:solidFill>
              <a:prstDash val="solid"/>
            </a:ln>
          </c:spPr>
          <c:marker>
            <c:symbol val="none"/>
            <c:size val="9"/>
            <c:spPr>
              <a:solidFill xmlns:a="http://schemas.openxmlformats.org/drawingml/2006/main">
                <a:srgbClr val="183247"/>
              </a:solidFill>
            </c:spPr>
          </c:marker>
          <c:xVal>
            <c:numRef>
              <c:f>'Chart Data'!$M$2:$M$3</c:f>
              <c:numCache>
                <c:formatCode>General</c:formatCode>
                <c:ptCount val="2"/>
                <c:pt idx="0">
                  <c:v>700</c:v>
                </c:pt>
                <c:pt idx="1">
                  <c:v>700</c:v>
                </c:pt>
              </c:numCache>
            </c:numRef>
          </c:xVal>
          <c:yVal>
            <c:numRef>
              <c:f>'Chart Data'!$N$2:$N$3</c:f>
              <c:numCache>
                <c:formatCode>#,##0</c:formatCode>
                <c:ptCount val="2"/>
                <c:pt idx="0">
                  <c:v>2600</c:v>
                </c:pt>
                <c:pt idx="1">
                  <c:v>3500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0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TO en TK (€ per 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00"/>
      </c:valAx>
      <c:valAx>
        <c:axId val="48650112"/>
        <c:scaling>
          <c:orientation val="minMax"/>
          <c:max val="12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(lunchboxen per dag)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1.4 Gemengde opgaven">
            <a:extLst xmlns:a="http://schemas.openxmlformats.org/drawingml/2006/main">
              <a:ext uri="{FF2B5EF4-FFF2-40B4-BE49-F238E27FC236}">
                <a16:creationId xmlns:a16="http://schemas.microsoft.com/office/drawing/2014/main" id="{72A1D38C-B3FF-4F64-AAB5-F8CBA0C99A6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§2.1.4 Gemengde opgaven</a:t>
            </a:r>
          </a:p>
        </p:txBody>
      </p:sp>
      <p:sp>
        <p:nvSpPr>
          <p:cNvPr id="2" name="">
            <a:extLst xmlns:a="http://schemas.openxmlformats.org/drawingml/2006/main">
              <a:ext uri="{FF2B5EF4-FFF2-40B4-BE49-F238E27FC236}">
                <a16:creationId xmlns:a16="http://schemas.microsoft.com/office/drawing/2014/main" id="{B0EC3F88-F20D-4920-ACBF-422FE0FE532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a:extLst xmlns:a="http://schemas.openxmlformats.org/drawingml/2006/main">
              <a:ext uri="{FF2B5EF4-FFF2-40B4-BE49-F238E27FC236}">
                <a16:creationId xmlns:a16="http://schemas.microsoft.com/office/drawing/2014/main" id="{BC0DB0D8-45A5-481B-8704-3FB29CF9B8A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a:t>
            </a:r>
          </a:p>
        </p:txBody>
      </p:sp>
      <p:sp>
        <p:nvSpPr>
          <p:cNvPr id="4" name="slide-number">
            <a:extLst xmlns:a="http://schemas.openxmlformats.org/drawingml/2006/main">
              <a:ext uri="{FF2B5EF4-FFF2-40B4-BE49-F238E27FC236}">
                <a16:creationId xmlns:a16="http://schemas.microsoft.com/office/drawing/2014/main" id="{81565F62-B731-4ADF-B3D7-AAFB4C8E205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96FCD981-45D0-463E-B687-4DADDEF41F3C}"/>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013D681A-BDC6-4F05-8B52-C028B14A7F7E}"/>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7B5BA49E-614C-41AD-B0B2-404725261BBC}"/>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9B22F823-BCF4-493A-9C72-F363790EC78C}"/>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7C275BE4-C272-4513-8588-6DC01E73BCF1}"/>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FCB4FFAC-DD8E-41A2-BD5C-B2CDFA896775}"/>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E88BA9E1-8263-41C7-9E8B-8512A3CBDD38}"/>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578D0313-DEFD-4067-AD3B-DBA4B4CDB731}"/>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F7924C07-92B2-49E5-9CB2-E5FF714F0DEE}"/>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8CB1A4C8-BBDD-4CB0-B313-31A88A5E71FD}"/>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D7FC547F-66E9-4D01-92BE-71BB04F8AD00}"/>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8CC3380F-3294-4BD1-901C-10CBF0D32193}"/>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1EEC6CBD-D2B6-4A3B-BD3B-2873EC968803}"/>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CBAB530A-7704-4BCD-AD21-91A0256ECF76}"/>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5.</a:t>
            </a:r>
          </a:p>
        </p:txBody>
      </p:sp>
      <p:sp>
        <p:nvSpPr>
          <p:cNvPr id="19" name="route-number-7">
            <a:extLst xmlns:a="http://schemas.openxmlformats.org/drawingml/2006/main">
              <a:ext uri="{FF2B5EF4-FFF2-40B4-BE49-F238E27FC236}">
                <a16:creationId xmlns:a16="http://schemas.microsoft.com/office/drawing/2014/main" id="{AF6DF4AE-F84E-4292-B4E0-1541B6731C9E}"/>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3174D751-7219-4FCA-8E92-1AB3F858C61C}"/>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6C4FC1F6-123E-4678-BCDE-C2D7EAC7B809}"/>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9FD67723-67D6-40D1-AB29-C8B6B51337DA}"/>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Gegevens kiezen en combineren.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Tabel en grafiek verbinden.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Een uitspraak onderbouwen.</a:t>
            </a:r>
          </a:p>
        </p:txBody>
      </p:sp>
      <p:sp>
        <p:nvSpPr>
          <p:cNvPr id="23" name="">
            <a:extLst xmlns:a="http://schemas.openxmlformats.org/drawingml/2006/main">
              <a:ext uri="{FF2B5EF4-FFF2-40B4-BE49-F238E27FC236}">
                <a16:creationId xmlns:a16="http://schemas.microsoft.com/office/drawing/2014/main" id="{E8D553D9-F1D3-4968-A8DE-52C138DA5CC7}"/>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ECFF315E-CB1C-4F53-A3FA-F4E138005A05}"/>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3C553764-B12D-4463-B125-0727F6714C0E}"/>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Pagina 29</a:t>
            </a:r>
          </a:p>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Opgave 1</a:t>
            </a:r>
          </a:p>
        </p:txBody>
      </p:sp>
      <p:sp>
        <p:nvSpPr>
          <p:cNvPr id="26" name="">
            <a:extLst xmlns:a="http://schemas.openxmlformats.org/drawingml/2006/main">
              <a:ext uri="{FF2B5EF4-FFF2-40B4-BE49-F238E27FC236}">
                <a16:creationId xmlns:a16="http://schemas.microsoft.com/office/drawing/2014/main" id="{47B164D3-FF5F-442A-937C-387C365DFAC8}"/>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DFEA7990-D2E7-4D0F-84F0-8AE6C9EFC878}"/>
              </a:ext>
            </a:extLst>
          </p:cNvPr>
          <p:cNvSpPr>
            <a:spLocks xmlns:a="http://schemas.openxmlformats.org/drawingml/2006/main" noGrp="1"/>
          </p:cNvSpPr>
          <p:nvPr/>
        </p:nvSpPr>
        <p:spPr>
          <a:xfrm xmlns:a="http://schemas.openxmlformats.org/drawingml/2006/main">
            <a:off x="9258300" y="56292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0C7D6C4C-680F-4C62-904C-E8B3C325E4B0}"/>
              </a:ext>
            </a:extLst>
          </p:cNvPr>
          <p:cNvSpPr>
            <a:spLocks xmlns:a="http://schemas.openxmlformats.org/drawingml/2006/main" noGrp="1"/>
          </p:cNvSpPr>
          <p:nvPr/>
        </p:nvSpPr>
        <p:spPr>
          <a:xfrm xmlns:a="http://schemas.openxmlformats.org/drawingml/2006/main">
            <a:off x="9258300" y="61912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§2.1.4 · Opgaven 1–7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Gemengd: 1–4 · Doel: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Bonus / denkertje: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Herhaling: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8622827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De aanpak bij gemengde opgaven">
            <a:extLst xmlns:a="http://schemas.openxmlformats.org/drawingml/2006/main">
              <a:ext uri="{FF2B5EF4-FFF2-40B4-BE49-F238E27FC236}">
                <a16:creationId xmlns:a16="http://schemas.microsoft.com/office/drawing/2014/main" id="{CC8E654A-FA58-431B-98B2-AF9C31FF96D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aanpak bij gemengde opgaven</a:t>
            </a:r>
          </a:p>
        </p:txBody>
      </p:sp>
      <p:sp>
        <p:nvSpPr>
          <p:cNvPr id="2" name="">
            <a:extLst xmlns:a="http://schemas.openxmlformats.org/drawingml/2006/main">
              <a:ext uri="{FF2B5EF4-FFF2-40B4-BE49-F238E27FC236}">
                <a16:creationId xmlns:a16="http://schemas.microsoft.com/office/drawing/2014/main" id="{90D9AA64-3FB0-4C25-A412-7446E6067DC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a:extLst xmlns:a="http://schemas.openxmlformats.org/drawingml/2006/main">
              <a:ext uri="{FF2B5EF4-FFF2-40B4-BE49-F238E27FC236}">
                <a16:creationId xmlns:a16="http://schemas.microsoft.com/office/drawing/2014/main" id="{ADC53D17-6DA2-42B4-BC64-691587B0CBD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a:t>
            </a:r>
          </a:p>
        </p:txBody>
      </p:sp>
      <p:sp>
        <p:nvSpPr>
          <p:cNvPr id="4" name="slide-number">
            <a:extLst xmlns:a="http://schemas.openxmlformats.org/drawingml/2006/main">
              <a:ext uri="{FF2B5EF4-FFF2-40B4-BE49-F238E27FC236}">
                <a16:creationId xmlns:a16="http://schemas.microsoft.com/office/drawing/2014/main" id="{66309D4D-CEF2-4DD6-A55F-8E296C347CC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Gegevens kiezen">
            <a:extLst xmlns:a="http://schemas.openxmlformats.org/drawingml/2006/main">
              <a:ext uri="{FF2B5EF4-FFF2-40B4-BE49-F238E27FC236}">
                <a16:creationId xmlns:a16="http://schemas.microsoft.com/office/drawing/2014/main" id="{4A630CAA-583C-4B48-8C6A-FA7E0E58AA3D}"/>
              </a:ext>
            </a:extLst>
          </p:cNvPr>
          <p:cNvSpPr>
            <a:spLocks xmlns:a="http://schemas.openxmlformats.org/drawingml/2006/main" noGrp="1"/>
          </p:cNvSpPr>
          <p:nvPr/>
        </p:nvSpPr>
        <p:spPr>
          <a:xfrm xmlns:a="http://schemas.openxmlformats.org/drawingml/2006/main">
            <a:off x="571500" y="195262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Gegevens kiezen</a:t>
            </a:r>
          </a:p>
        </p:txBody>
      </p:sp>
      <p:sp>
        <p:nvSpPr>
          <p:cNvPr id="6" name="Welke dag, hoeveelheid, periode en eenheid?">
            <a:extLst xmlns:a="http://schemas.openxmlformats.org/drawingml/2006/main">
              <a:ext uri="{FF2B5EF4-FFF2-40B4-BE49-F238E27FC236}">
                <a16:creationId xmlns:a16="http://schemas.microsoft.com/office/drawing/2014/main" id="{A6A6CEBE-2BA3-485C-A74B-257734DE4C62}"/>
              </a:ext>
            </a:extLst>
          </p:cNvPr>
          <p:cNvSpPr>
            <a:spLocks xmlns:a="http://schemas.openxmlformats.org/drawingml/2006/main" noGrp="1"/>
          </p:cNvSpPr>
          <p:nvPr/>
        </p:nvSpPr>
        <p:spPr>
          <a:xfrm xmlns:a="http://schemas.openxmlformats.org/drawingml/2006/main">
            <a:off x="6429375" y="1952625"/>
            <a:ext cx="8191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Welke dag, hoeveelheid, periode en eenheid?</a:t>
            </a:r>
          </a:p>
        </p:txBody>
      </p:sp>
      <p:sp>
        <p:nvSpPr>
          <p:cNvPr id="7" name="">
            <a:extLst xmlns:a="http://schemas.openxmlformats.org/drawingml/2006/main">
              <a:ext uri="{FF2B5EF4-FFF2-40B4-BE49-F238E27FC236}">
                <a16:creationId xmlns:a16="http://schemas.microsoft.com/office/drawing/2014/main" id="{BFE2319E-1E10-4A6F-B29D-88FE52D2C309}"/>
              </a:ext>
            </a:extLst>
          </p:cNvPr>
          <p:cNvSpPr>
            <a:spLocks xmlns:a="http://schemas.openxmlformats.org/drawingml/2006/main" noGrp="1"/>
          </p:cNvSpPr>
          <p:nvPr/>
        </p:nvSpPr>
        <p:spPr>
          <a:xfrm xmlns:a="http://schemas.openxmlformats.org/drawingml/2006/main">
            <a:off x="571500" y="3086100"/>
            <a:ext cx="14097000" cy="0"/>
          </a:xfrm>
          <a:prstGeom xmlns:a="http://schemas.openxmlformats.org/drawingml/2006/main" prst="line">
            <a:avLst/>
          </a:prstGeom>
          <a:ln xmlns:a="http://schemas.openxmlformats.org/drawingml/2006/main" w="19050">
            <a:solidFill>
              <a:srgbClr val="C6D2DB"/>
            </a:solidFill>
          </a:ln>
        </p:spPr>
      </p:sp>
      <p:sp>
        <p:nvSpPr>
          <p:cNvPr id="8" name="Bewerking kiezen">
            <a:extLst xmlns:a="http://schemas.openxmlformats.org/drawingml/2006/main">
              <a:ext uri="{FF2B5EF4-FFF2-40B4-BE49-F238E27FC236}">
                <a16:creationId xmlns:a16="http://schemas.microsoft.com/office/drawing/2014/main" id="{296E44D4-4225-42D5-8A55-04DA6E47E981}"/>
              </a:ext>
            </a:extLst>
          </p:cNvPr>
          <p:cNvSpPr>
            <a:spLocks xmlns:a="http://schemas.openxmlformats.org/drawingml/2006/main" noGrp="1"/>
          </p:cNvSpPr>
          <p:nvPr/>
        </p:nvSpPr>
        <p:spPr>
          <a:xfrm xmlns:a="http://schemas.openxmlformats.org/drawingml/2006/main">
            <a:off x="571500" y="336232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Bewerking kiezen</a:t>
            </a:r>
          </a:p>
        </p:txBody>
      </p:sp>
      <p:sp>
        <p:nvSpPr>
          <p:cNvPr id="9" name="Totaal, per product of per extra product?">
            <a:extLst xmlns:a="http://schemas.openxmlformats.org/drawingml/2006/main">
              <a:ext uri="{FF2B5EF4-FFF2-40B4-BE49-F238E27FC236}">
                <a16:creationId xmlns:a16="http://schemas.microsoft.com/office/drawing/2014/main" id="{98066C95-9F55-43C7-844A-B16BAE357F0E}"/>
              </a:ext>
            </a:extLst>
          </p:cNvPr>
          <p:cNvSpPr>
            <a:spLocks xmlns:a="http://schemas.openxmlformats.org/drawingml/2006/main" noGrp="1"/>
          </p:cNvSpPr>
          <p:nvPr/>
        </p:nvSpPr>
        <p:spPr>
          <a:xfrm xmlns:a="http://schemas.openxmlformats.org/drawingml/2006/main">
            <a:off x="6429375" y="3362325"/>
            <a:ext cx="8191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Totaal, per product of per extra product?</a:t>
            </a:r>
          </a:p>
        </p:txBody>
      </p:sp>
      <p:sp>
        <p:nvSpPr>
          <p:cNvPr id="10" name="">
            <a:extLst xmlns:a="http://schemas.openxmlformats.org/drawingml/2006/main">
              <a:ext uri="{FF2B5EF4-FFF2-40B4-BE49-F238E27FC236}">
                <a16:creationId xmlns:a16="http://schemas.microsoft.com/office/drawing/2014/main" id="{98FFABAD-FFBF-409F-B8F4-DC6974245688}"/>
              </a:ext>
            </a:extLst>
          </p:cNvPr>
          <p:cNvSpPr>
            <a:spLocks xmlns:a="http://schemas.openxmlformats.org/drawingml/2006/main" noGrp="1"/>
          </p:cNvSpPr>
          <p:nvPr/>
        </p:nvSpPr>
        <p:spPr>
          <a:xfrm xmlns:a="http://schemas.openxmlformats.org/drawingml/2006/main">
            <a:off x="571500" y="4495800"/>
            <a:ext cx="14097000" cy="0"/>
          </a:xfrm>
          <a:prstGeom xmlns:a="http://schemas.openxmlformats.org/drawingml/2006/main" prst="line">
            <a:avLst/>
          </a:prstGeom>
          <a:ln xmlns:a="http://schemas.openxmlformats.org/drawingml/2006/main" w="19050">
            <a:solidFill>
              <a:srgbClr val="C6D2DB"/>
            </a:solidFill>
          </a:ln>
        </p:spPr>
      </p:sp>
      <p:sp>
        <p:nvSpPr>
          <p:cNvPr id="11" name="Tabel en grafiek">
            <a:extLst xmlns:a="http://schemas.openxmlformats.org/drawingml/2006/main">
              <a:ext uri="{FF2B5EF4-FFF2-40B4-BE49-F238E27FC236}">
                <a16:creationId xmlns:a16="http://schemas.microsoft.com/office/drawing/2014/main" id="{8A194129-0E80-416B-A75E-FA81CBDD13EF}"/>
              </a:ext>
            </a:extLst>
          </p:cNvPr>
          <p:cNvSpPr>
            <a:spLocks xmlns:a="http://schemas.openxmlformats.org/drawingml/2006/main" noGrp="1"/>
          </p:cNvSpPr>
          <p:nvPr/>
        </p:nvSpPr>
        <p:spPr>
          <a:xfrm xmlns:a="http://schemas.openxmlformats.org/drawingml/2006/main">
            <a:off x="571500" y="477202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Tabel en grafiek</a:t>
            </a:r>
          </a:p>
        </p:txBody>
      </p:sp>
      <p:sp>
        <p:nvSpPr>
          <p:cNvPr id="12" name="Tabelwaarden en lijnhoogten beschrijven dezelfde bedragen.">
            <a:extLst xmlns:a="http://schemas.openxmlformats.org/drawingml/2006/main">
              <a:ext uri="{FF2B5EF4-FFF2-40B4-BE49-F238E27FC236}">
                <a16:creationId xmlns:a16="http://schemas.microsoft.com/office/drawing/2014/main" id="{4E7C4DF9-5CBA-42B0-87B3-E25843CA46BE}"/>
              </a:ext>
            </a:extLst>
          </p:cNvPr>
          <p:cNvSpPr>
            <a:spLocks xmlns:a="http://schemas.openxmlformats.org/drawingml/2006/main" noGrp="1"/>
          </p:cNvSpPr>
          <p:nvPr/>
        </p:nvSpPr>
        <p:spPr>
          <a:xfrm xmlns:a="http://schemas.openxmlformats.org/drawingml/2006/main">
            <a:off x="6429375" y="4772025"/>
            <a:ext cx="8191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Tabelwaarden en lijnhoogten beschrijven dezelfde bedragen.</a:t>
            </a:r>
          </a:p>
        </p:txBody>
      </p:sp>
      <p:sp>
        <p:nvSpPr>
          <p:cNvPr id="13" name="">
            <a:extLst xmlns:a="http://schemas.openxmlformats.org/drawingml/2006/main">
              <a:ext uri="{FF2B5EF4-FFF2-40B4-BE49-F238E27FC236}">
                <a16:creationId xmlns:a16="http://schemas.microsoft.com/office/drawing/2014/main" id="{18306B27-9AA9-45C3-9EA7-50523DBA440B}"/>
              </a:ext>
            </a:extLst>
          </p:cNvPr>
          <p:cNvSpPr>
            <a:spLocks xmlns:a="http://schemas.openxmlformats.org/drawingml/2006/main" noGrp="1"/>
          </p:cNvSpPr>
          <p:nvPr/>
        </p:nvSpPr>
        <p:spPr>
          <a:xfrm xmlns:a="http://schemas.openxmlformats.org/drawingml/2006/main">
            <a:off x="571500" y="5905500"/>
            <a:ext cx="14097000" cy="0"/>
          </a:xfrm>
          <a:prstGeom xmlns:a="http://schemas.openxmlformats.org/drawingml/2006/main" prst="line">
            <a:avLst/>
          </a:prstGeom>
          <a:ln xmlns:a="http://schemas.openxmlformats.org/drawingml/2006/main" w="19050">
            <a:solidFill>
              <a:srgbClr val="C6D2DB"/>
            </a:solidFill>
          </a:ln>
        </p:spPr>
      </p:sp>
      <p:sp>
        <p:nvSpPr>
          <p:cNvPr id="14" name="Uitspraak beoordelen">
            <a:extLst xmlns:a="http://schemas.openxmlformats.org/drawingml/2006/main">
              <a:ext uri="{FF2B5EF4-FFF2-40B4-BE49-F238E27FC236}">
                <a16:creationId xmlns:a16="http://schemas.microsoft.com/office/drawing/2014/main" id="{82F4CA18-C8C0-4965-94E3-7D102744404A}"/>
              </a:ext>
            </a:extLst>
          </p:cNvPr>
          <p:cNvSpPr>
            <a:spLocks xmlns:a="http://schemas.openxmlformats.org/drawingml/2006/main" noGrp="1"/>
          </p:cNvSpPr>
          <p:nvPr/>
        </p:nvSpPr>
        <p:spPr>
          <a:xfrm xmlns:a="http://schemas.openxmlformats.org/drawingml/2006/main">
            <a:off x="571500" y="618172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Uitspraak beoordelen</a:t>
            </a:r>
          </a:p>
        </p:txBody>
      </p:sp>
      <p:sp>
        <p:nvSpPr>
          <p:cNvPr id="15" name="Berekening, economische betekenis en conclusie.">
            <a:extLst xmlns:a="http://schemas.openxmlformats.org/drawingml/2006/main">
              <a:ext uri="{FF2B5EF4-FFF2-40B4-BE49-F238E27FC236}">
                <a16:creationId xmlns:a16="http://schemas.microsoft.com/office/drawing/2014/main" id="{7CC78BFF-F754-4DF1-AD00-BDD8F788E723}"/>
              </a:ext>
            </a:extLst>
          </p:cNvPr>
          <p:cNvSpPr>
            <a:spLocks xmlns:a="http://schemas.openxmlformats.org/drawingml/2006/main" noGrp="1"/>
          </p:cNvSpPr>
          <p:nvPr/>
        </p:nvSpPr>
        <p:spPr>
          <a:xfrm xmlns:a="http://schemas.openxmlformats.org/drawingml/2006/main">
            <a:off x="6429375" y="6181725"/>
            <a:ext cx="8191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Berekening, economische betekenis en conclusie.</a:t>
            </a:r>
          </a:p>
        </p:txBody>
      </p:sp>
    </p:spTree>
    <p:extLst>
      <p:ext uri="{BB962C8B-B14F-4D97-AF65-F5344CB8AC3E}">
        <p14:creationId xmlns:p14="http://schemas.microsoft.com/office/powerpoint/2010/main" val="7016262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FietsWas: gegevens en functies">
            <a:extLst xmlns:a="http://schemas.openxmlformats.org/drawingml/2006/main">
              <a:ext uri="{FF2B5EF4-FFF2-40B4-BE49-F238E27FC236}">
                <a16:creationId xmlns:a16="http://schemas.microsoft.com/office/drawing/2014/main" id="{C3BC5820-585F-447A-9D05-AB613F31F22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FietsWas: gegevens en functies</a:t>
            </a:r>
          </a:p>
        </p:txBody>
      </p:sp>
      <p:sp>
        <p:nvSpPr>
          <p:cNvPr id="2" name="">
            <a:extLst xmlns:a="http://schemas.openxmlformats.org/drawingml/2006/main">
              <a:ext uri="{FF2B5EF4-FFF2-40B4-BE49-F238E27FC236}">
                <a16:creationId xmlns:a16="http://schemas.microsoft.com/office/drawing/2014/main" id="{260C6F50-FA1E-4E65-BE42-37A01CB87DF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Uitlegvoorbeeld — niet uit het boe">
            <a:extLst xmlns:a="http://schemas.openxmlformats.org/drawingml/2006/main">
              <a:ext uri="{FF2B5EF4-FFF2-40B4-BE49-F238E27FC236}">
                <a16:creationId xmlns:a16="http://schemas.microsoft.com/office/drawing/2014/main" id="{7020F351-4166-4706-AA41-8A5FC85E2E4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Uitlegvoorbeeld — niet uit het boek</a:t>
            </a:r>
          </a:p>
        </p:txBody>
      </p:sp>
      <p:sp>
        <p:nvSpPr>
          <p:cNvPr id="4" name="slide-number">
            <a:extLst xmlns:a="http://schemas.openxmlformats.org/drawingml/2006/main">
              <a:ext uri="{FF2B5EF4-FFF2-40B4-BE49-F238E27FC236}">
                <a16:creationId xmlns:a16="http://schemas.microsoft.com/office/drawing/2014/main" id="{38D2559F-7FD6-45AC-985E-1AA65EBA38E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Fietsen wassen · Maximaal 40 fietsen per dag">
            <a:extLst xmlns:a="http://schemas.openxmlformats.org/drawingml/2006/main">
              <a:ext uri="{FF2B5EF4-FFF2-40B4-BE49-F238E27FC236}">
                <a16:creationId xmlns:a16="http://schemas.microsoft.com/office/drawing/2014/main" id="{FB3E0E84-147F-45BF-90A6-0436AC97DF82}"/>
              </a:ext>
            </a:extLst>
          </p:cNvPr>
          <p:cNvSpPr>
            <a:spLocks xmlns:a="http://schemas.openxmlformats.org/drawingml/2006/main" noGrp="1"/>
          </p:cNvSpPr>
          <p:nvPr/>
        </p:nvSpPr>
        <p:spPr>
          <a:xfrm xmlns:a="http://schemas.openxmlformats.org/drawingml/2006/main">
            <a:off x="571500" y="17907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Fietsen wassen · Maximaal 40 fietsen per dag</a:t>
            </a:r>
          </a:p>
        </p:txBody>
      </p:sp>
      <p:graphicFrame>
        <p:nvGraphicFramePr>
          <p:cNvPr id="15" name=""/>
          <p:cNvGraphicFramePr/>
          <p:nvPr/>
        </p:nvGraphicFramePr>
        <p:xfrm>
          <a:off xmlns:a="http://schemas.openxmlformats.org/drawingml/2006/main" x="571500" y="2781300"/>
          <a:ext xmlns:a="http://schemas.openxmlformats.org/drawingml/2006/main" cx="14097000" cy="3219450"/>
        </p:xfrm>
        <a:graphic xmlns:a="http://schemas.openxmlformats.org/drawingml/2006/main">
          <a:graphicData uri="http://schemas.openxmlformats.org/drawingml/2006/table">
            <a:tbl>
              <a:tblPr/>
              <a:tblGrid>
                <a:gridCol w="7429500"/>
                <a:gridCol w="6667500"/>
              </a:tblGrid>
              <a:tr h="804863">
                <a:tc>
                  <a:txBody>
                    <a:bodyPr lIns="171450" tIns="95250" rIns="152400" bIns="95250"/>
                    <a:lstStyle/>
                    <a:p>
                      <a:r>
                        <a:rPr sz="2400" b="1">
                          <a:solidFill>
                            <a:srgbClr val="FFFFFF"/>
                          </a:solidFill>
                          <a:latin typeface="Arial"/>
                          <a:ea typeface="Arial"/>
                          <a:cs typeface="Arial"/>
                        </a:rPr>
                        <a:t>Gegeven in dit uitlegvoorbeeld</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Betekenis</a:t>
                      </a:r>
                    </a:p>
                  </a:txBody>
                  <a:tcPr marL="91440" marR="91440" marT="45720" marB="45720" anchor="ctr">
                    <a:solidFill>
                      <a:srgbClr val="183247"/>
                    </a:solidFill>
                  </a:tcPr>
                </a:tc>
              </a:tr>
              <a:tr h="804863">
                <a:tc>
                  <a:txBody>
                    <a:bodyPr lIns="171450" tIns="95250" rIns="152400" bIns="95250"/>
                    <a:lstStyle/>
                    <a:p>
                      <a:r>
                        <a:rPr sz="2400" b="0">
                          <a:solidFill>
                            <a:srgbClr val="183247"/>
                          </a:solidFill>
                          <a:latin typeface="Arial"/>
                          <a:ea typeface="Arial"/>
                          <a:cs typeface="Arial"/>
                        </a:rPr>
                        <a:t>Vaste kosten: € 36 per dag</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TCK blijft € 36 per dag</a:t>
                      </a:r>
                    </a:p>
                  </a:txBody>
                  <a:tcPr marL="91440" marR="91440" marT="45720" marB="45720" anchor="ctr">
                    <a:solidFill>
                      <a:srgbClr val="FFFFFF"/>
                    </a:solidFill>
                  </a:tcPr>
                </a:tc>
              </a:tr>
              <a:tr h="804863">
                <a:tc>
                  <a:txBody>
                    <a:bodyPr lIns="171450" tIns="95250" rIns="152400" bIns="95250"/>
                    <a:lstStyle/>
                    <a:p>
                      <a:r>
                        <a:rPr sz="2400" b="0">
                          <a:solidFill>
                            <a:srgbClr val="183247"/>
                          </a:solidFill>
                          <a:latin typeface="Arial"/>
                          <a:ea typeface="Arial"/>
                          <a:cs typeface="Arial"/>
                        </a:rPr>
                        <a:t>Variabele kosten: € 2 per fiets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TVK = 2Q per dag</a:t>
                      </a:r>
                    </a:p>
                  </a:txBody>
                  <a:tcPr marL="91440" marR="91440" marT="45720" marB="45720" anchor="ctr">
                    <a:solidFill>
                      <a:srgbClr val="EFF4F7"/>
                    </a:solidFill>
                  </a:tcPr>
                </a:tc>
              </a:tr>
              <a:tr h="804863">
                <a:tc>
                  <a:txBody>
                    <a:bodyPr lIns="171450" tIns="95250" rIns="152400" bIns="95250"/>
                    <a:lstStyle/>
                    <a:p>
                      <a:r>
                        <a:rPr sz="2400" b="0">
                          <a:solidFill>
                            <a:srgbClr val="183247"/>
                          </a:solidFill>
                          <a:latin typeface="Arial"/>
                          <a:ea typeface="Arial"/>
                          <a:cs typeface="Arial"/>
                        </a:rPr>
                        <a:t>Prijs: € 5 per fiets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Elke gewassen fiets wordt betaald</a:t>
                      </a:r>
                    </a:p>
                  </a:txBody>
                  <a:tcPr marL="91440" marR="91440" marT="45720" marB="45720" anchor="ctr">
                    <a:solidFill>
                      <a:srgbClr val="FFFFFF"/>
                    </a:solidFill>
                  </a:tcPr>
                </a:tc>
              </a:tr>
            </a:tbl>
          </a:graphicData>
        </a:graphic>
      </p:graphicFrame>
      <p:sp>
        <p:nvSpPr>
          <p:cNvPr id="7" name="TK = 36 + 2Q">
            <a:extLst xmlns:a="http://schemas.openxmlformats.org/drawingml/2006/main">
              <a:ext uri="{FF2B5EF4-FFF2-40B4-BE49-F238E27FC236}">
                <a16:creationId xmlns:a16="http://schemas.microsoft.com/office/drawing/2014/main" id="{C0E51C36-62D3-4EE5-AF02-DEBC8AA2461E}"/>
              </a:ext>
            </a:extLst>
          </p:cNvPr>
          <p:cNvSpPr>
            <a:spLocks xmlns:a="http://schemas.openxmlformats.org/drawingml/2006/main" noGrp="1"/>
          </p:cNvSpPr>
          <p:nvPr/>
        </p:nvSpPr>
        <p:spPr>
          <a:xfrm xmlns:a="http://schemas.openxmlformats.org/drawingml/2006/main">
            <a:off x="571500" y="6419850"/>
            <a:ext cx="666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A94D16"/>
                </a:solidFill>
                <a:latin typeface="Arial"/>
                <a:ea typeface="Arial"/>
                <a:cs typeface="Arial"/>
              </a:defRPr>
            </a:pPr>
            <a:r>
              <a:rPr sz="3375" b="1">
                <a:solidFill>
                  <a:srgbClr val="A94D16"/>
                </a:solidFill>
                <a:latin typeface="Arial"/>
                <a:ea typeface="Arial"/>
                <a:cs typeface="Arial"/>
              </a:rPr>
              <a:t>TK = 36 + 2Q</a:t>
            </a:r>
          </a:p>
        </p:txBody>
      </p:sp>
      <p:sp>
        <p:nvSpPr>
          <p:cNvPr id="8" name="TO = 5Q">
            <a:extLst xmlns:a="http://schemas.openxmlformats.org/drawingml/2006/main">
              <a:ext uri="{FF2B5EF4-FFF2-40B4-BE49-F238E27FC236}">
                <a16:creationId xmlns:a16="http://schemas.microsoft.com/office/drawing/2014/main" id="{66D81B3A-EC6F-4DF8-859F-7DB1972210C1}"/>
              </a:ext>
            </a:extLst>
          </p:cNvPr>
          <p:cNvSpPr>
            <a:spLocks xmlns:a="http://schemas.openxmlformats.org/drawingml/2006/main" noGrp="1"/>
          </p:cNvSpPr>
          <p:nvPr/>
        </p:nvSpPr>
        <p:spPr>
          <a:xfrm xmlns:a="http://schemas.openxmlformats.org/drawingml/2006/main">
            <a:off x="8096250" y="6419850"/>
            <a:ext cx="6572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TO = 5Q</a:t>
            </a:r>
          </a:p>
        </p:txBody>
      </p:sp>
      <p:sp>
        <p:nvSpPr>
          <p:cNvPr id="9" name="Q: fietsen per dag · 0 ≤ Q ≤ 40 · Totalen: € per dag">
            <a:extLst xmlns:a="http://schemas.openxmlformats.org/drawingml/2006/main">
              <a:ext uri="{FF2B5EF4-FFF2-40B4-BE49-F238E27FC236}">
                <a16:creationId xmlns:a16="http://schemas.microsoft.com/office/drawing/2014/main" id="{109A435A-FBC7-42AB-87C0-0246625D2E51}"/>
              </a:ext>
            </a:extLst>
          </p:cNvPr>
          <p:cNvSpPr>
            <a:spLocks xmlns:a="http://schemas.openxmlformats.org/drawingml/2006/main" noGrp="1"/>
          </p:cNvSpPr>
          <p:nvPr/>
        </p:nvSpPr>
        <p:spPr>
          <a:xfrm xmlns:a="http://schemas.openxmlformats.org/drawingml/2006/main">
            <a:off x="571500" y="7448550"/>
            <a:ext cx="1409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fietsen per dag · 0 ≤ Q ≤ 40 · Totalen: € per dag</a:t>
            </a:r>
          </a:p>
        </p:txBody>
      </p:sp>
    </p:spTree>
    <p:extLst>
      <p:ext uri="{BB962C8B-B14F-4D97-AF65-F5344CB8AC3E}">
        <p14:creationId xmlns:p14="http://schemas.microsoft.com/office/powerpoint/2010/main" val="10096230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ietsWas: totaal en per fiets">
            <a:extLst xmlns:a="http://schemas.openxmlformats.org/drawingml/2006/main">
              <a:ext uri="{FF2B5EF4-FFF2-40B4-BE49-F238E27FC236}">
                <a16:creationId xmlns:a16="http://schemas.microsoft.com/office/drawing/2014/main" id="{803963D9-32AD-4B12-B0F1-4C08B3C04C1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FietsWas: totaal en per fiets</a:t>
            </a:r>
          </a:p>
        </p:txBody>
      </p:sp>
      <p:sp>
        <p:nvSpPr>
          <p:cNvPr id="2" name="">
            <a:extLst xmlns:a="http://schemas.openxmlformats.org/drawingml/2006/main">
              <a:ext uri="{FF2B5EF4-FFF2-40B4-BE49-F238E27FC236}">
                <a16:creationId xmlns:a16="http://schemas.microsoft.com/office/drawing/2014/main" id="{02C603F4-4ADC-40CD-936A-F0B2E15506F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Uitlegvoorbeeld — niet uit het boe">
            <a:extLst xmlns:a="http://schemas.openxmlformats.org/drawingml/2006/main">
              <a:ext uri="{FF2B5EF4-FFF2-40B4-BE49-F238E27FC236}">
                <a16:creationId xmlns:a16="http://schemas.microsoft.com/office/drawing/2014/main" id="{8F8A0C9E-C347-449A-8F8B-DF3CDD81488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Uitlegvoorbeeld — niet uit het boek</a:t>
            </a:r>
          </a:p>
        </p:txBody>
      </p:sp>
      <p:sp>
        <p:nvSpPr>
          <p:cNvPr id="4" name="slide-number">
            <a:extLst xmlns:a="http://schemas.openxmlformats.org/drawingml/2006/main">
              <a:ext uri="{FF2B5EF4-FFF2-40B4-BE49-F238E27FC236}">
                <a16:creationId xmlns:a16="http://schemas.microsoft.com/office/drawing/2014/main" id="{9F195DC0-753B-4BB0-88FF-1F698200D85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Bij Q = 20 fietsen per dag">
            <a:extLst xmlns:a="http://schemas.openxmlformats.org/drawingml/2006/main">
              <a:ext uri="{FF2B5EF4-FFF2-40B4-BE49-F238E27FC236}">
                <a16:creationId xmlns:a16="http://schemas.microsoft.com/office/drawing/2014/main" id="{C63AEC49-7443-4364-B223-9AF5F0D17AB2}"/>
              </a:ext>
            </a:extLst>
          </p:cNvPr>
          <p:cNvSpPr>
            <a:spLocks xmlns:a="http://schemas.openxmlformats.org/drawingml/2006/main" noGrp="1"/>
          </p:cNvSpPr>
          <p:nvPr/>
        </p:nvSpPr>
        <p:spPr>
          <a:xfrm xmlns:a="http://schemas.openxmlformats.org/drawingml/2006/main">
            <a:off x="571500" y="188595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Bij Q = 20 fietsen per dag</a:t>
            </a:r>
          </a:p>
        </p:txBody>
      </p:sp>
      <p:graphicFrame>
        <p:nvGraphicFramePr>
          <p:cNvPr id="13" name=""/>
          <p:cNvGraphicFramePr/>
          <p:nvPr/>
        </p:nvGraphicFramePr>
        <p:xfrm>
          <a:off xmlns:a="http://schemas.openxmlformats.org/drawingml/2006/main" x="571500" y="2847975"/>
          <a:ext xmlns:a="http://schemas.openxmlformats.org/drawingml/2006/main" cx="14097000" cy="3876675"/>
        </p:xfrm>
        <a:graphic xmlns:a="http://schemas.openxmlformats.org/drawingml/2006/main">
          <a:graphicData uri="http://schemas.openxmlformats.org/drawingml/2006/table">
            <a:tbl>
              <a:tblPr/>
              <a:tblGrid>
                <a:gridCol w="4572000"/>
                <a:gridCol w="4476750"/>
                <a:gridCol w="5048250"/>
              </a:tblGrid>
              <a:tr h="775335">
                <a:tc>
                  <a:txBody>
                    <a:bodyPr lIns="171450" tIns="95250" rIns="152400" bIns="95250"/>
                    <a:lstStyle/>
                    <a:p>
                      <a:r>
                        <a:rPr sz="2400"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Uitkomst</a:t>
                      </a:r>
                    </a:p>
                  </a:txBody>
                  <a:tcPr marL="91440" marR="91440" marT="45720" marB="45720" anchor="ctr">
                    <a:solidFill>
                      <a:srgbClr val="183247"/>
                    </a:solidFill>
                  </a:tcPr>
                </a:tc>
              </a:tr>
              <a:tr h="775335">
                <a:tc>
                  <a:txBody>
                    <a:bodyPr lIns="171450" tIns="95250" rIns="152400" bIns="95250"/>
                    <a:lstStyle/>
                    <a:p>
                      <a:r>
                        <a:rPr sz="2400" b="0">
                          <a:solidFill>
                            <a:srgbClr val="183247"/>
                          </a:solidFill>
                          <a:latin typeface="Arial"/>
                          <a:ea typeface="Arial"/>
                          <a:cs typeface="Arial"/>
                        </a:rPr>
                        <a:t>TK</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36 + 2 × 20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€ 76 per dag</a:t>
                      </a:r>
                    </a:p>
                  </a:txBody>
                  <a:tcPr marL="91440" marR="91440" marT="45720" marB="45720" anchor="ctr">
                    <a:solidFill>
                      <a:srgbClr val="FFFFFF"/>
                    </a:solidFill>
                  </a:tcPr>
                </a:tc>
              </a:tr>
              <a:tr h="775335">
                <a:tc>
                  <a:txBody>
                    <a:bodyPr lIns="171450" tIns="95250" rIns="152400" bIns="95250"/>
                    <a:lstStyle/>
                    <a:p>
                      <a:r>
                        <a:rPr sz="2400" b="0">
                          <a:solidFill>
                            <a:srgbClr val="183247"/>
                          </a:solidFill>
                          <a:latin typeface="Arial"/>
                          <a:ea typeface="Arial"/>
                          <a:cs typeface="Arial"/>
                        </a:rPr>
                        <a:t>TO</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5 × 20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€ 100 per dag</a:t>
                      </a:r>
                    </a:p>
                  </a:txBody>
                  <a:tcPr marL="91440" marR="91440" marT="45720" marB="45720" anchor="ctr">
                    <a:solidFill>
                      <a:srgbClr val="EFF4F7"/>
                    </a:solidFill>
                  </a:tcPr>
                </a:tc>
              </a:tr>
              <a:tr h="775335">
                <a:tc>
                  <a:txBody>
                    <a:bodyPr lIns="171450" tIns="95250" rIns="152400" bIns="95250"/>
                    <a:lstStyle/>
                    <a:p>
                      <a:r>
                        <a:rPr sz="2400" b="0">
                          <a:solidFill>
                            <a:srgbClr val="183247"/>
                          </a:solidFill>
                          <a:latin typeface="Arial"/>
                          <a:ea typeface="Arial"/>
                          <a:cs typeface="Arial"/>
                        </a:rPr>
                        <a:t>Winst = TO − TK</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100 − 76</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€ 24 per dag</a:t>
                      </a:r>
                    </a:p>
                  </a:txBody>
                  <a:tcPr marL="91440" marR="91440" marT="45720" marB="45720" anchor="ctr">
                    <a:solidFill>
                      <a:srgbClr val="FFFFFF"/>
                    </a:solidFill>
                  </a:tcPr>
                </a:tc>
              </a:tr>
              <a:tr h="775335">
                <a:tc>
                  <a:txBody>
                    <a:bodyPr lIns="171450" tIns="95250" rIns="152400" bIns="95250"/>
                    <a:lstStyle/>
                    <a:p>
                      <a:r>
                        <a:rPr sz="2400" b="0">
                          <a:solidFill>
                            <a:srgbClr val="183247"/>
                          </a:solidFill>
                          <a:latin typeface="Arial"/>
                          <a:ea typeface="Arial"/>
                          <a:cs typeface="Arial"/>
                        </a:rPr>
                        <a:t>GTK = TK / Q</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76 / 20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€ 3,80 per fiets</a:t>
                      </a:r>
                    </a:p>
                  </a:txBody>
                  <a:tcPr marL="91440" marR="91440" marT="45720" marB="45720" anchor="ctr">
                    <a:solidFill>
                      <a:srgbClr val="EFF4F7"/>
                    </a:solidFill>
                  </a:tcPr>
                </a:tc>
              </a:tr>
            </a:tbl>
          </a:graphicData>
        </a:graphic>
      </p:graphicFrame>
      <p:sp>
        <p:nvSpPr>
          <p:cNvPr id="7" name="Winst: verschil tussen totalen. GTK: kosten per fiets.">
            <a:extLst xmlns:a="http://schemas.openxmlformats.org/drawingml/2006/main">
              <a:ext uri="{FF2B5EF4-FFF2-40B4-BE49-F238E27FC236}">
                <a16:creationId xmlns:a16="http://schemas.microsoft.com/office/drawing/2014/main" id="{AC7DF3F7-154F-477E-874A-95AC2386D826}"/>
              </a:ext>
            </a:extLst>
          </p:cNvPr>
          <p:cNvSpPr>
            <a:spLocks xmlns:a="http://schemas.openxmlformats.org/drawingml/2006/main" noGrp="1"/>
          </p:cNvSpPr>
          <p:nvPr/>
        </p:nvSpPr>
        <p:spPr>
          <a:xfrm xmlns:a="http://schemas.openxmlformats.org/drawingml/2006/main">
            <a:off x="571500" y="7296150"/>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Winst: verschil tussen totalen. GTK: kosten per fiets.</a:t>
            </a:r>
          </a:p>
        </p:txBody>
      </p:sp>
    </p:spTree>
    <p:extLst>
      <p:ext uri="{BB962C8B-B14F-4D97-AF65-F5344CB8AC3E}">
        <p14:creationId xmlns:p14="http://schemas.microsoft.com/office/powerpoint/2010/main" val="18455498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FietsWas: break-even">
            <a:extLst xmlns:a="http://schemas.openxmlformats.org/drawingml/2006/main">
              <a:ext uri="{FF2B5EF4-FFF2-40B4-BE49-F238E27FC236}">
                <a16:creationId xmlns:a16="http://schemas.microsoft.com/office/drawing/2014/main" id="{96C1308C-B92B-4AEB-B08C-BCC4A247B83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FietsWas: break-even</a:t>
            </a:r>
          </a:p>
        </p:txBody>
      </p:sp>
      <p:sp>
        <p:nvSpPr>
          <p:cNvPr id="2" name="">
            <a:extLst xmlns:a="http://schemas.openxmlformats.org/drawingml/2006/main">
              <a:ext uri="{FF2B5EF4-FFF2-40B4-BE49-F238E27FC236}">
                <a16:creationId xmlns:a16="http://schemas.microsoft.com/office/drawing/2014/main" id="{730EB23F-1B9E-4C30-806E-067F98A22DD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Uitlegvoorbeeld — niet uit het boe">
            <a:extLst xmlns:a="http://schemas.openxmlformats.org/drawingml/2006/main">
              <a:ext uri="{FF2B5EF4-FFF2-40B4-BE49-F238E27FC236}">
                <a16:creationId xmlns:a16="http://schemas.microsoft.com/office/drawing/2014/main" id="{F52C7347-AE2D-45DD-A6FF-D792E796EF9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Uitlegvoorbeeld — niet uit het boek</a:t>
            </a:r>
          </a:p>
        </p:txBody>
      </p:sp>
      <p:sp>
        <p:nvSpPr>
          <p:cNvPr id="4" name="slide-number">
            <a:extLst xmlns:a="http://schemas.openxmlformats.org/drawingml/2006/main">
              <a:ext uri="{FF2B5EF4-FFF2-40B4-BE49-F238E27FC236}">
                <a16:creationId xmlns:a16="http://schemas.microsoft.com/office/drawing/2014/main" id="{07131D79-8BEA-4343-8CF0-87E9152E61E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TO = TK">
            <a:extLst xmlns:a="http://schemas.openxmlformats.org/drawingml/2006/main">
              <a:ext uri="{FF2B5EF4-FFF2-40B4-BE49-F238E27FC236}">
                <a16:creationId xmlns:a16="http://schemas.microsoft.com/office/drawing/2014/main" id="{AAE03145-97A7-44EE-8EE8-7517B459502C}"/>
              </a:ext>
            </a:extLst>
          </p:cNvPr>
          <p:cNvSpPr>
            <a:spLocks xmlns:a="http://schemas.openxmlformats.org/drawingml/2006/main" noGrp="1"/>
          </p:cNvSpPr>
          <p:nvPr/>
        </p:nvSpPr>
        <p:spPr>
          <a:xfrm xmlns:a="http://schemas.openxmlformats.org/drawingml/2006/main">
            <a:off x="571500" y="1943100"/>
            <a:ext cx="904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TO = TK</a:t>
            </a:r>
          </a:p>
        </p:txBody>
      </p:sp>
      <p:sp>
        <p:nvSpPr>
          <p:cNvPr id="6" name="Opbrengst dekt alle kosten">
            <a:extLst xmlns:a="http://schemas.openxmlformats.org/drawingml/2006/main">
              <a:ext uri="{FF2B5EF4-FFF2-40B4-BE49-F238E27FC236}">
                <a16:creationId xmlns:a16="http://schemas.microsoft.com/office/drawing/2014/main" id="{FC1A0685-87FF-48C3-A8D8-821B4B69F9B8}"/>
              </a:ext>
            </a:extLst>
          </p:cNvPr>
          <p:cNvSpPr>
            <a:spLocks xmlns:a="http://schemas.openxmlformats.org/drawingml/2006/main" noGrp="1"/>
          </p:cNvSpPr>
          <p:nvPr/>
        </p:nvSpPr>
        <p:spPr>
          <a:xfrm xmlns:a="http://schemas.openxmlformats.org/drawingml/2006/main">
            <a:off x="10096500" y="2009775"/>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Opbrengst dekt alle kosten</a:t>
            </a:r>
          </a:p>
        </p:txBody>
      </p:sp>
      <p:sp>
        <p:nvSpPr>
          <p:cNvPr id="7" name="5Q = 36 + 2Q">
            <a:extLst xmlns:a="http://schemas.openxmlformats.org/drawingml/2006/main">
              <a:ext uri="{FF2B5EF4-FFF2-40B4-BE49-F238E27FC236}">
                <a16:creationId xmlns:a16="http://schemas.microsoft.com/office/drawing/2014/main" id="{E0A5EAA8-83AA-461E-88C2-C1C901E618EA}"/>
              </a:ext>
            </a:extLst>
          </p:cNvPr>
          <p:cNvSpPr>
            <a:spLocks xmlns:a="http://schemas.openxmlformats.org/drawingml/2006/main" noGrp="1"/>
          </p:cNvSpPr>
          <p:nvPr/>
        </p:nvSpPr>
        <p:spPr>
          <a:xfrm xmlns:a="http://schemas.openxmlformats.org/drawingml/2006/main">
            <a:off x="571500" y="3190875"/>
            <a:ext cx="904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5Q = 36 + 2Q</a:t>
            </a:r>
          </a:p>
        </p:txBody>
      </p:sp>
      <p:sp>
        <p:nvSpPr>
          <p:cNvPr id="8" name="Functies invullen">
            <a:extLst xmlns:a="http://schemas.openxmlformats.org/drawingml/2006/main">
              <a:ext uri="{FF2B5EF4-FFF2-40B4-BE49-F238E27FC236}">
                <a16:creationId xmlns:a16="http://schemas.microsoft.com/office/drawing/2014/main" id="{2E52048D-B921-4B94-922D-D58A2A91DD47}"/>
              </a:ext>
            </a:extLst>
          </p:cNvPr>
          <p:cNvSpPr>
            <a:spLocks xmlns:a="http://schemas.openxmlformats.org/drawingml/2006/main" noGrp="1"/>
          </p:cNvSpPr>
          <p:nvPr/>
        </p:nvSpPr>
        <p:spPr>
          <a:xfrm xmlns:a="http://schemas.openxmlformats.org/drawingml/2006/main">
            <a:off x="10096500" y="32575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Functies invullen</a:t>
            </a:r>
          </a:p>
        </p:txBody>
      </p:sp>
      <p:sp>
        <p:nvSpPr>
          <p:cNvPr id="9" name="3Q = 36">
            <a:extLst xmlns:a="http://schemas.openxmlformats.org/drawingml/2006/main">
              <a:ext uri="{FF2B5EF4-FFF2-40B4-BE49-F238E27FC236}">
                <a16:creationId xmlns:a16="http://schemas.microsoft.com/office/drawing/2014/main" id="{75C7FDD2-C543-47DC-8746-F90616ECE86C}"/>
              </a:ext>
            </a:extLst>
          </p:cNvPr>
          <p:cNvSpPr>
            <a:spLocks xmlns:a="http://schemas.openxmlformats.org/drawingml/2006/main" noGrp="1"/>
          </p:cNvSpPr>
          <p:nvPr/>
        </p:nvSpPr>
        <p:spPr>
          <a:xfrm xmlns:a="http://schemas.openxmlformats.org/drawingml/2006/main">
            <a:off x="571500" y="4438650"/>
            <a:ext cx="904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3Q = 36</a:t>
            </a:r>
          </a:p>
        </p:txBody>
      </p:sp>
      <p:sp>
        <p:nvSpPr>
          <p:cNvPr id="10" name="Aan beide kanten 2Q aftrekken">
            <a:extLst xmlns:a="http://schemas.openxmlformats.org/drawingml/2006/main">
              <a:ext uri="{FF2B5EF4-FFF2-40B4-BE49-F238E27FC236}">
                <a16:creationId xmlns:a16="http://schemas.microsoft.com/office/drawing/2014/main" id="{E13E4942-293B-471C-8766-83337936D79C}"/>
              </a:ext>
            </a:extLst>
          </p:cNvPr>
          <p:cNvSpPr>
            <a:spLocks xmlns:a="http://schemas.openxmlformats.org/drawingml/2006/main" noGrp="1"/>
          </p:cNvSpPr>
          <p:nvPr/>
        </p:nvSpPr>
        <p:spPr>
          <a:xfrm xmlns:a="http://schemas.openxmlformats.org/drawingml/2006/main">
            <a:off x="10096500" y="4505325"/>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Aan beide kanten 2Q aftrekken</a:t>
            </a:r>
          </a:p>
        </p:txBody>
      </p:sp>
      <p:sp>
        <p:nvSpPr>
          <p:cNvPr id="11" name="Q = 36 / 3 = 12">
            <a:extLst xmlns:a="http://schemas.openxmlformats.org/drawingml/2006/main">
              <a:ext uri="{FF2B5EF4-FFF2-40B4-BE49-F238E27FC236}">
                <a16:creationId xmlns:a16="http://schemas.microsoft.com/office/drawing/2014/main" id="{9BB42723-6DFA-45A8-9C94-7EA5D73EFD33}"/>
              </a:ext>
            </a:extLst>
          </p:cNvPr>
          <p:cNvSpPr>
            <a:spLocks xmlns:a="http://schemas.openxmlformats.org/drawingml/2006/main" noGrp="1"/>
          </p:cNvSpPr>
          <p:nvPr/>
        </p:nvSpPr>
        <p:spPr>
          <a:xfrm xmlns:a="http://schemas.openxmlformats.org/drawingml/2006/main">
            <a:off x="571500" y="5686425"/>
            <a:ext cx="904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0665B"/>
                </a:solidFill>
                <a:latin typeface="Arial"/>
                <a:ea typeface="Arial"/>
                <a:cs typeface="Arial"/>
              </a:defRPr>
            </a:pPr>
            <a:r>
              <a:rPr sz="3150" b="1">
                <a:solidFill>
                  <a:srgbClr val="20665B"/>
                </a:solidFill>
                <a:latin typeface="Arial"/>
                <a:ea typeface="Arial"/>
                <a:cs typeface="Arial"/>
              </a:rPr>
              <a:t>Q = 36 / 3 = 12</a:t>
            </a:r>
          </a:p>
        </p:txBody>
      </p:sp>
      <p:sp>
        <p:nvSpPr>
          <p:cNvPr id="12" name="Fietsen per dag">
            <a:extLst xmlns:a="http://schemas.openxmlformats.org/drawingml/2006/main">
              <a:ext uri="{FF2B5EF4-FFF2-40B4-BE49-F238E27FC236}">
                <a16:creationId xmlns:a16="http://schemas.microsoft.com/office/drawing/2014/main" id="{6758AFCC-CB6C-4501-B3B3-13CE5D4A579B}"/>
              </a:ext>
            </a:extLst>
          </p:cNvPr>
          <p:cNvSpPr>
            <a:spLocks xmlns:a="http://schemas.openxmlformats.org/drawingml/2006/main" noGrp="1"/>
          </p:cNvSpPr>
          <p:nvPr/>
        </p:nvSpPr>
        <p:spPr>
          <a:xfrm xmlns:a="http://schemas.openxmlformats.org/drawingml/2006/main">
            <a:off x="10096500" y="575310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Fietsen per dag</a:t>
            </a:r>
          </a:p>
        </p:txBody>
      </p:sp>
      <p:sp>
        <p:nvSpPr>
          <p:cNvPr id="13" name="Controle: TO = TK = € 60 per dag. Winst = € 0.">
            <a:extLst xmlns:a="http://schemas.openxmlformats.org/drawingml/2006/main">
              <a:ext uri="{FF2B5EF4-FFF2-40B4-BE49-F238E27FC236}">
                <a16:creationId xmlns:a16="http://schemas.microsoft.com/office/drawing/2014/main" id="{8EF038A8-C929-429B-A7B1-32192F056A86}"/>
              </a:ext>
            </a:extLst>
          </p:cNvPr>
          <p:cNvSpPr>
            <a:spLocks xmlns:a="http://schemas.openxmlformats.org/drawingml/2006/main" noGrp="1"/>
          </p:cNvSpPr>
          <p:nvPr/>
        </p:nvSpPr>
        <p:spPr>
          <a:xfrm xmlns:a="http://schemas.openxmlformats.org/drawingml/2006/main">
            <a:off x="571500" y="72961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Controle: TO = TK = € 60 per dag. Winst = € 0.</a:t>
            </a:r>
          </a:p>
        </p:txBody>
      </p:sp>
    </p:spTree>
    <p:extLst>
      <p:ext uri="{BB962C8B-B14F-4D97-AF65-F5344CB8AC3E}">
        <p14:creationId xmlns:p14="http://schemas.microsoft.com/office/powerpoint/2010/main" val="14552294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FietsWas: marginale bedragen">
            <a:extLst xmlns:a="http://schemas.openxmlformats.org/drawingml/2006/main">
              <a:ext uri="{FF2B5EF4-FFF2-40B4-BE49-F238E27FC236}">
                <a16:creationId xmlns:a16="http://schemas.microsoft.com/office/drawing/2014/main" id="{87284370-9DD6-4FBD-BE31-D8CCEE96F5A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FietsWas: marginale bedragen</a:t>
            </a:r>
          </a:p>
        </p:txBody>
      </p:sp>
      <p:sp>
        <p:nvSpPr>
          <p:cNvPr id="2" name="">
            <a:extLst xmlns:a="http://schemas.openxmlformats.org/drawingml/2006/main">
              <a:ext uri="{FF2B5EF4-FFF2-40B4-BE49-F238E27FC236}">
                <a16:creationId xmlns:a16="http://schemas.microsoft.com/office/drawing/2014/main" id="{593F9A6B-9F95-43CF-B574-F9A98F17A7C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Uitlegvoorbeeld — niet uit het boe">
            <a:extLst xmlns:a="http://schemas.openxmlformats.org/drawingml/2006/main">
              <a:ext uri="{FF2B5EF4-FFF2-40B4-BE49-F238E27FC236}">
                <a16:creationId xmlns:a16="http://schemas.microsoft.com/office/drawing/2014/main" id="{E7DC9FB1-6125-447A-8971-C78A10B9726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Uitlegvoorbeeld — niet uit het boek</a:t>
            </a:r>
          </a:p>
        </p:txBody>
      </p:sp>
      <p:sp>
        <p:nvSpPr>
          <p:cNvPr id="4" name="slide-number">
            <a:extLst xmlns:a="http://schemas.openxmlformats.org/drawingml/2006/main">
              <a:ext uri="{FF2B5EF4-FFF2-40B4-BE49-F238E27FC236}">
                <a16:creationId xmlns:a16="http://schemas.microsoft.com/office/drawing/2014/main" id="{685C09E6-A49F-476F-95BC-1F7A9164C36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Van 20 naar 25 fietsen per dag">
            <a:extLst xmlns:a="http://schemas.openxmlformats.org/drawingml/2006/main">
              <a:ext uri="{FF2B5EF4-FFF2-40B4-BE49-F238E27FC236}">
                <a16:creationId xmlns:a16="http://schemas.microsoft.com/office/drawing/2014/main" id="{C420B95E-E4DF-4472-999B-B4BA0F691D6C}"/>
              </a:ext>
            </a:extLst>
          </p:cNvPr>
          <p:cNvSpPr>
            <a:spLocks xmlns:a="http://schemas.openxmlformats.org/drawingml/2006/main" noGrp="1"/>
          </p:cNvSpPr>
          <p:nvPr/>
        </p:nvSpPr>
        <p:spPr>
          <a:xfrm xmlns:a="http://schemas.openxmlformats.org/drawingml/2006/main">
            <a:off x="571500" y="1790700"/>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Van 20 naar 25 fietsen per dag</a:t>
            </a:r>
          </a:p>
        </p:txBody>
      </p:sp>
      <p:graphicFrame>
        <p:nvGraphicFramePr>
          <p:cNvPr id="15" name=""/>
          <p:cNvGraphicFramePr/>
          <p:nvPr/>
        </p:nvGraphicFramePr>
        <p:xfrm>
          <a:off xmlns:a="http://schemas.openxmlformats.org/drawingml/2006/main" x="571500" y="2628900"/>
          <a:ext xmlns:a="http://schemas.openxmlformats.org/drawingml/2006/main" cx="14097000" cy="2171700"/>
        </p:xfrm>
        <a:graphic xmlns:a="http://schemas.openxmlformats.org/drawingml/2006/main">
          <a:graphicData uri="http://schemas.openxmlformats.org/drawingml/2006/table">
            <a:tbl>
              <a:tblPr/>
              <a:tblGrid>
                <a:gridCol w="4953000"/>
                <a:gridCol w="4572000"/>
                <a:gridCol w="4572000"/>
              </a:tblGrid>
              <a:tr h="723900">
                <a:tc>
                  <a:txBody>
                    <a:bodyPr lIns="171450" tIns="95250" rIns="152400" bIns="95250"/>
                    <a:lstStyle/>
                    <a:p>
                      <a:r>
                        <a:rPr sz="2400" b="1">
                          <a:solidFill>
                            <a:srgbClr val="FFFFFF"/>
                          </a:solidFill>
                          <a:latin typeface="Arial"/>
                          <a:ea typeface="Arial"/>
                          <a:cs typeface="Arial"/>
                        </a:rPr>
                        <a:t>Q (fietsen per dag)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TK (€ per dag)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TO (€ per dag)</a:t>
                      </a:r>
                    </a:p>
                  </a:txBody>
                  <a:tcPr marL="91440" marR="91440" marT="45720" marB="45720" anchor="ctr">
                    <a:solidFill>
                      <a:srgbClr val="183247"/>
                    </a:solidFill>
                  </a:tcPr>
                </a:tc>
              </a:tr>
              <a:tr h="723900">
                <a:tc>
                  <a:txBody>
                    <a:bodyPr lIns="171450" tIns="95250" rIns="152400" bIns="95250"/>
                    <a:lstStyle/>
                    <a:p>
                      <a:r>
                        <a:rPr sz="2400" b="0">
                          <a:solidFill>
                            <a:srgbClr val="183247"/>
                          </a:solidFill>
                          <a:latin typeface="Arial"/>
                          <a:ea typeface="Arial"/>
                          <a:cs typeface="Arial"/>
                        </a:rPr>
                        <a:t>20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76</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100</a:t>
                      </a:r>
                    </a:p>
                  </a:txBody>
                  <a:tcPr marL="91440" marR="91440" marT="45720" marB="45720" anchor="ctr">
                    <a:solidFill>
                      <a:srgbClr val="FFFFFF"/>
                    </a:solidFill>
                  </a:tcPr>
                </a:tc>
              </a:tr>
              <a:tr h="723900">
                <a:tc>
                  <a:txBody>
                    <a:bodyPr lIns="171450" tIns="95250" rIns="152400" bIns="95250"/>
                    <a:lstStyle/>
                    <a:p>
                      <a:r>
                        <a:rPr sz="2400" b="0">
                          <a:solidFill>
                            <a:srgbClr val="183247"/>
                          </a:solidFill>
                          <a:latin typeface="Arial"/>
                          <a:ea typeface="Arial"/>
                          <a:cs typeface="Arial"/>
                        </a:rPr>
                        <a:t>25</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86</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125</a:t>
                      </a:r>
                    </a:p>
                  </a:txBody>
                  <a:tcPr marL="91440" marR="91440" marT="45720" marB="45720" anchor="ctr">
                    <a:solidFill>
                      <a:srgbClr val="EFF4F7"/>
                    </a:solidFill>
                  </a:tcPr>
                </a:tc>
              </a:tr>
            </a:tbl>
          </a:graphicData>
        </a:graphic>
      </p:graphicFrame>
      <p:sp>
        <p:nvSpPr>
          <p:cNvPr id="7" name="MK = ΔTK / ΔQ = (86 − 76) / (25 − 20) = € 2">
            <a:extLst xmlns:a="http://schemas.openxmlformats.org/drawingml/2006/main">
              <a:ext uri="{FF2B5EF4-FFF2-40B4-BE49-F238E27FC236}">
                <a16:creationId xmlns:a16="http://schemas.microsoft.com/office/drawing/2014/main" id="{234B5252-A82E-4CE5-8617-591BA33092B4}"/>
              </a:ext>
            </a:extLst>
          </p:cNvPr>
          <p:cNvSpPr>
            <a:spLocks xmlns:a="http://schemas.openxmlformats.org/drawingml/2006/main" noGrp="1"/>
          </p:cNvSpPr>
          <p:nvPr/>
        </p:nvSpPr>
        <p:spPr>
          <a:xfrm xmlns:a="http://schemas.openxmlformats.org/drawingml/2006/main">
            <a:off x="571500" y="534352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MK = ΔTK / ΔQ = (86 − 76) / (25 − 20) = € 2</a:t>
            </a:r>
          </a:p>
        </p:txBody>
      </p:sp>
      <p:sp>
        <p:nvSpPr>
          <p:cNvPr id="8" name="MO = ΔTO / ΔQ = (125 − 100) / (25 − 20) = € 5">
            <a:extLst xmlns:a="http://schemas.openxmlformats.org/drawingml/2006/main">
              <a:ext uri="{FF2B5EF4-FFF2-40B4-BE49-F238E27FC236}">
                <a16:creationId xmlns:a16="http://schemas.microsoft.com/office/drawing/2014/main" id="{A5657A78-55D0-4A9C-97D5-7FDF71352C70}"/>
              </a:ext>
            </a:extLst>
          </p:cNvPr>
          <p:cNvSpPr>
            <a:spLocks xmlns:a="http://schemas.openxmlformats.org/drawingml/2006/main" noGrp="1"/>
          </p:cNvSpPr>
          <p:nvPr/>
        </p:nvSpPr>
        <p:spPr>
          <a:xfrm xmlns:a="http://schemas.openxmlformats.org/drawingml/2006/main">
            <a:off x="571500" y="625792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MO = ΔTO / ΔQ = (125 − 100) / (25 − 20) = € 5</a:t>
            </a:r>
          </a:p>
        </p:txBody>
      </p:sp>
      <p:sp>
        <p:nvSpPr>
          <p:cNvPr id="9" name="Deel door de 5 extra fietsen. Bedragen: € per extra fiets.">
            <a:extLst xmlns:a="http://schemas.openxmlformats.org/drawingml/2006/main">
              <a:ext uri="{FF2B5EF4-FFF2-40B4-BE49-F238E27FC236}">
                <a16:creationId xmlns:a16="http://schemas.microsoft.com/office/drawing/2014/main" id="{947AC13C-9CA1-47F7-876C-68984CC41AE0}"/>
              </a:ext>
            </a:extLst>
          </p:cNvPr>
          <p:cNvSpPr>
            <a:spLocks xmlns:a="http://schemas.openxmlformats.org/drawingml/2006/main" noGrp="1"/>
          </p:cNvSpPr>
          <p:nvPr/>
        </p:nvSpPr>
        <p:spPr>
          <a:xfrm xmlns:a="http://schemas.openxmlformats.org/drawingml/2006/main">
            <a:off x="571500" y="7372350"/>
            <a:ext cx="1409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Deel door de 5 extra fietsen. Bedragen: € per extra fiets.</a:t>
            </a:r>
          </a:p>
        </p:txBody>
      </p:sp>
    </p:spTree>
    <p:extLst>
      <p:ext uri="{BB962C8B-B14F-4D97-AF65-F5344CB8AC3E}">
        <p14:creationId xmlns:p14="http://schemas.microsoft.com/office/powerpoint/2010/main" val="148250592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FietsWas: break-even en winst in de grafiek">
            <a:extLst xmlns:a="http://schemas.openxmlformats.org/drawingml/2006/main">
              <a:ext uri="{FF2B5EF4-FFF2-40B4-BE49-F238E27FC236}">
                <a16:creationId xmlns:a16="http://schemas.microsoft.com/office/drawing/2014/main" id="{938A015C-CCC4-4AAE-BA8B-F8745D60E51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FietsWas: break-even en winst in de grafiek</a:t>
            </a:r>
          </a:p>
        </p:txBody>
      </p:sp>
      <p:sp>
        <p:nvSpPr>
          <p:cNvPr id="2" name="">
            <a:extLst xmlns:a="http://schemas.openxmlformats.org/drawingml/2006/main">
              <a:ext uri="{FF2B5EF4-FFF2-40B4-BE49-F238E27FC236}">
                <a16:creationId xmlns:a16="http://schemas.microsoft.com/office/drawing/2014/main" id="{B6BAEED5-A631-434E-A630-6DCBCE2FDB3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Uitlegvoorbeeld — niet uit het boe">
            <a:extLst xmlns:a="http://schemas.openxmlformats.org/drawingml/2006/main">
              <a:ext uri="{FF2B5EF4-FFF2-40B4-BE49-F238E27FC236}">
                <a16:creationId xmlns:a16="http://schemas.microsoft.com/office/drawing/2014/main" id="{37625C63-1A34-4593-906F-662414E9184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Uitlegvoorbeeld — niet uit het boek</a:t>
            </a:r>
          </a:p>
        </p:txBody>
      </p:sp>
      <p:sp>
        <p:nvSpPr>
          <p:cNvPr id="4" name="slide-number">
            <a:extLst xmlns:a="http://schemas.openxmlformats.org/drawingml/2006/main">
              <a:ext uri="{FF2B5EF4-FFF2-40B4-BE49-F238E27FC236}">
                <a16:creationId xmlns:a16="http://schemas.microsoft.com/office/drawing/2014/main" id="{FCA1B2B4-EB41-4261-8E6C-E37095DC4C3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graphicFrame>
        <p:nvGraphicFramePr>
          <p:cNvPr id="14" name="Chart"/>
          <p:cNvGraphicFramePr/>
          <p:nvPr/>
        </p:nvGraphicFramePr>
        <p:xfrm>
          <a:off xmlns:a="http://schemas.openxmlformats.org/drawingml/2006/main" x="571500" y="1981200"/>
          <a:ext xmlns:a="http://schemas.openxmlformats.org/drawingml/2006/main" cx="10287000" cy="5848350"/>
        </p:xfrm>
        <a:graphic xmlns:a="http://schemas.openxmlformats.org/drawingml/2006/main">
          <a:graphicData uri="http://schemas.openxmlformats.org/drawingml/2006/chart">
            <c:chart xmlns:r="http://schemas.openxmlformats.org/officeDocument/2006/relationships" xmlns:c="http://schemas.openxmlformats.org/drawingml/2006/chart" r:id="R8a54b48c6bda4d8c"/>
          </a:graphicData>
        </a:graphic>
      </p:graphicFrame>
      <p:sp>
        <p:nvSpPr>
          <p:cNvPr id="6" name="Break-even:&#10;(12; 60)">
            <a:extLst xmlns:a="http://schemas.openxmlformats.org/drawingml/2006/main">
              <a:ext uri="{FF2B5EF4-FFF2-40B4-BE49-F238E27FC236}">
                <a16:creationId xmlns:a16="http://schemas.microsoft.com/office/drawing/2014/main" id="{7A260FC7-D189-4DA4-8AB6-EF9C3DDED7CB}"/>
              </a:ext>
            </a:extLst>
          </p:cNvPr>
          <p:cNvSpPr>
            <a:spLocks xmlns:a="http://schemas.openxmlformats.org/drawingml/2006/main" noGrp="1"/>
          </p:cNvSpPr>
          <p:nvPr/>
        </p:nvSpPr>
        <p:spPr>
          <a:xfrm xmlns:a="http://schemas.openxmlformats.org/drawingml/2006/main">
            <a:off x="11334750" y="2219325"/>
            <a:ext cx="333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Break-even:</a:t>
            </a:r>
          </a:p>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(12; 60)</a:t>
            </a:r>
          </a:p>
        </p:txBody>
      </p:sp>
      <p:sp>
        <p:nvSpPr>
          <p:cNvPr id="7" name="Bij Q = 20:&#10;TO = € 100&#10;TK = € 76">
            <a:extLst xmlns:a="http://schemas.openxmlformats.org/drawingml/2006/main">
              <a:ext uri="{FF2B5EF4-FFF2-40B4-BE49-F238E27FC236}">
                <a16:creationId xmlns:a16="http://schemas.microsoft.com/office/drawing/2014/main" id="{B3279F62-FA85-4B0C-8E0E-A5C3D370A1AD}"/>
              </a:ext>
            </a:extLst>
          </p:cNvPr>
          <p:cNvSpPr>
            <a:spLocks xmlns:a="http://schemas.openxmlformats.org/drawingml/2006/main" noGrp="1"/>
          </p:cNvSpPr>
          <p:nvPr/>
        </p:nvSpPr>
        <p:spPr>
          <a:xfrm xmlns:a="http://schemas.openxmlformats.org/drawingml/2006/main">
            <a:off x="11334750" y="3581400"/>
            <a:ext cx="333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Bij Q = 20: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TO = € 100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TK = € 76</a:t>
            </a:r>
          </a:p>
        </p:txBody>
      </p:sp>
      <p:sp>
        <p:nvSpPr>
          <p:cNvPr id="8" name="Winst = € 24&#10;per dag">
            <a:extLst xmlns:a="http://schemas.openxmlformats.org/drawingml/2006/main">
              <a:ext uri="{FF2B5EF4-FFF2-40B4-BE49-F238E27FC236}">
                <a16:creationId xmlns:a16="http://schemas.microsoft.com/office/drawing/2014/main" id="{65E0DC26-B78A-42D5-AD3F-6DE7D2931B19}"/>
              </a:ext>
            </a:extLst>
          </p:cNvPr>
          <p:cNvSpPr>
            <a:spLocks xmlns:a="http://schemas.openxmlformats.org/drawingml/2006/main" noGrp="1"/>
          </p:cNvSpPr>
          <p:nvPr/>
        </p:nvSpPr>
        <p:spPr>
          <a:xfrm xmlns:a="http://schemas.openxmlformats.org/drawingml/2006/main">
            <a:off x="11334750" y="5410200"/>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Winst = € 24</a:t>
            </a:r>
          </a:p>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per dag</a:t>
            </a:r>
          </a:p>
        </p:txBody>
      </p:sp>
      <p:sp>
        <p:nvSpPr>
          <p:cNvPr id="9" name="Capaciteit:&#10;40 fietsen per dag">
            <a:extLst xmlns:a="http://schemas.openxmlformats.org/drawingml/2006/main">
              <a:ext uri="{FF2B5EF4-FFF2-40B4-BE49-F238E27FC236}">
                <a16:creationId xmlns:a16="http://schemas.microsoft.com/office/drawing/2014/main" id="{85E414E1-C92A-4079-86A9-8EC39A9DDD2B}"/>
              </a:ext>
            </a:extLst>
          </p:cNvPr>
          <p:cNvSpPr>
            <a:spLocks xmlns:a="http://schemas.openxmlformats.org/drawingml/2006/main" noGrp="1"/>
          </p:cNvSpPr>
          <p:nvPr/>
        </p:nvSpPr>
        <p:spPr>
          <a:xfrm xmlns:a="http://schemas.openxmlformats.org/drawingml/2006/main">
            <a:off x="11334750" y="691515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Capaciteit:</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40 fietsen per dag</a:t>
            </a:r>
          </a:p>
        </p:txBody>
      </p:sp>
    </p:spTree>
    <p:extLst>
      <p:ext uri="{BB962C8B-B14F-4D97-AF65-F5344CB8AC3E}">
        <p14:creationId xmlns:p14="http://schemas.microsoft.com/office/powerpoint/2010/main" val="13651752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1.4 Gemengde opgaven">
            <a:extLst xmlns:a="http://schemas.openxmlformats.org/drawingml/2006/main">
              <a:ext uri="{FF2B5EF4-FFF2-40B4-BE49-F238E27FC236}">
                <a16:creationId xmlns:a16="http://schemas.microsoft.com/office/drawing/2014/main" id="{E891D6C8-5780-4136-9633-E7C29F57847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§2.1.4 Gemengde opgaven</a:t>
            </a:r>
          </a:p>
        </p:txBody>
      </p:sp>
      <p:sp>
        <p:nvSpPr>
          <p:cNvPr id="2" name="">
            <a:extLst xmlns:a="http://schemas.openxmlformats.org/drawingml/2006/main">
              <a:ext uri="{FF2B5EF4-FFF2-40B4-BE49-F238E27FC236}">
                <a16:creationId xmlns:a16="http://schemas.microsoft.com/office/drawing/2014/main" id="{9F80653E-D916-4B7C-8F8F-87B04014B75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a:extLst xmlns:a="http://schemas.openxmlformats.org/drawingml/2006/main">
              <a:ext uri="{FF2B5EF4-FFF2-40B4-BE49-F238E27FC236}">
                <a16:creationId xmlns:a16="http://schemas.microsoft.com/office/drawing/2014/main" id="{FE59196E-A839-4019-8BAC-DA225E865F4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a:t>
            </a:r>
          </a:p>
        </p:txBody>
      </p:sp>
      <p:sp>
        <p:nvSpPr>
          <p:cNvPr id="4" name="slide-number">
            <a:extLst xmlns:a="http://schemas.openxmlformats.org/drawingml/2006/main">
              <a:ext uri="{FF2B5EF4-FFF2-40B4-BE49-F238E27FC236}">
                <a16:creationId xmlns:a16="http://schemas.microsoft.com/office/drawing/2014/main" id="{1F0A0999-EEAE-4DEE-9B1F-17BB1AB26F3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phase">
            <a:extLst xmlns:a="http://schemas.openxmlformats.org/drawingml/2006/main">
              <a:ext uri="{FF2B5EF4-FFF2-40B4-BE49-F238E27FC236}">
                <a16:creationId xmlns:a16="http://schemas.microsoft.com/office/drawing/2014/main" id="{42926869-A6AF-4225-A831-532CA627C683}"/>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B0AD8E24-4CA7-409A-80FF-AE7EFEBACAF8}"/>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55C77D9E-F28D-4327-A8F6-D16C3E7F32B8}"/>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A88B7AE7-F2DF-4BDA-AAA5-6E4A7E678546}"/>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DB5D2B54-F665-40EC-B293-EDAFAFA9F80E}"/>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25ACE029-DA14-4EF4-A390-EC939BF7382C}"/>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061CCD82-790B-4BE7-B942-1329F171C171}"/>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656097EA-DF00-48E2-A12B-89C8A7017348}"/>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C7EFE596-2829-48C4-8C91-0000345BB1AC}"/>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ACD718E1-658D-4EE4-A141-E61EC4BB7848}"/>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5C9AE63C-2FDB-4F4C-A5EB-ABC08C864D8F}"/>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9B395BF2-9AA1-4F78-8ECD-19C1961C2DB2}"/>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1B5EC767-EB30-407A-A5A8-70891875002E}"/>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212DDCB4-64A2-4184-B2A9-BFA5D3369F0D}"/>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5.</a:t>
            </a:r>
          </a:p>
        </p:txBody>
      </p:sp>
      <p:sp>
        <p:nvSpPr>
          <p:cNvPr id="19" name="route-number-7">
            <a:extLst xmlns:a="http://schemas.openxmlformats.org/drawingml/2006/main">
              <a:ext uri="{FF2B5EF4-FFF2-40B4-BE49-F238E27FC236}">
                <a16:creationId xmlns:a16="http://schemas.microsoft.com/office/drawing/2014/main" id="{A92165A2-B72D-449B-99B6-32A48CED34AB}"/>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404C48E0-D51E-4537-84F9-F46A44CCE06A}"/>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47C83DF2-B93B-41CF-8CB2-F08E72A8D1F2}"/>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176F7D8F-9F23-480A-91E4-79CE6FCDC975}"/>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Gegevens kiezen en combineren.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Tabel en grafiek verbinden.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Een uitspraak onderbouwen.</a:t>
            </a:r>
          </a:p>
        </p:txBody>
      </p:sp>
      <p:sp>
        <p:nvSpPr>
          <p:cNvPr id="23" name="">
            <a:extLst xmlns:a="http://schemas.openxmlformats.org/drawingml/2006/main">
              <a:ext uri="{FF2B5EF4-FFF2-40B4-BE49-F238E27FC236}">
                <a16:creationId xmlns:a16="http://schemas.microsoft.com/office/drawing/2014/main" id="{E27BDD01-4FB0-4EA9-9E4F-6AD2E40C2AFD}"/>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FD61B115-994F-40D5-A59F-2A39AEE781FC}"/>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ABFAA1B7-DA64-4AAE-B224-F628723957CD}"/>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Pagina 29</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Opgave 1</a:t>
            </a:r>
          </a:p>
        </p:txBody>
      </p:sp>
      <p:sp>
        <p:nvSpPr>
          <p:cNvPr id="26" name="">
            <a:extLst xmlns:a="http://schemas.openxmlformats.org/drawingml/2006/main">
              <a:ext uri="{FF2B5EF4-FFF2-40B4-BE49-F238E27FC236}">
                <a16:creationId xmlns:a16="http://schemas.microsoft.com/office/drawing/2014/main" id="{E23647E1-6344-491E-85BE-1305C914AF0A}"/>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DD55CB86-9258-4072-ACA2-253A528961D0}"/>
              </a:ext>
            </a:extLst>
          </p:cNvPr>
          <p:cNvSpPr>
            <a:spLocks xmlns:a="http://schemas.openxmlformats.org/drawingml/2006/main" noGrp="1"/>
          </p:cNvSpPr>
          <p:nvPr/>
        </p:nvSpPr>
        <p:spPr>
          <a:xfrm xmlns:a="http://schemas.openxmlformats.org/drawingml/2006/main">
            <a:off x="9258300" y="56292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E9C26179-DA3E-45C1-B96C-96624979E8CA}"/>
              </a:ext>
            </a:extLst>
          </p:cNvPr>
          <p:cNvSpPr>
            <a:spLocks xmlns:a="http://schemas.openxmlformats.org/drawingml/2006/main" noGrp="1"/>
          </p:cNvSpPr>
          <p:nvPr/>
        </p:nvSpPr>
        <p:spPr>
          <a:xfrm xmlns:a="http://schemas.openxmlformats.org/drawingml/2006/main">
            <a:off x="9258300" y="61912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§2.1.4 · Opgaven 1–7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Gemengd: 1–4 · Doel: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Bonus / denkertje: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Herhaling: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3685325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5 · SmoothBox">
            <a:extLst xmlns:a="http://schemas.openxmlformats.org/drawingml/2006/main">
              <a:ext uri="{FF2B5EF4-FFF2-40B4-BE49-F238E27FC236}">
                <a16:creationId xmlns:a16="http://schemas.microsoft.com/office/drawing/2014/main" id="{D5C6C587-05FB-4F4B-A96D-1C59A2F31D6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 · SmoothBox</a:t>
            </a:r>
          </a:p>
        </p:txBody>
      </p:sp>
      <p:sp>
        <p:nvSpPr>
          <p:cNvPr id="2" name="">
            <a:extLst xmlns:a="http://schemas.openxmlformats.org/drawingml/2006/main">
              <a:ext uri="{FF2B5EF4-FFF2-40B4-BE49-F238E27FC236}">
                <a16:creationId xmlns:a16="http://schemas.microsoft.com/office/drawing/2014/main" id="{66EDFB57-7168-4D73-8022-7E2348D64CD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Opgave 5 · Boekpagina 32–33">
            <a:extLst xmlns:a="http://schemas.openxmlformats.org/drawingml/2006/main">
              <a:ext uri="{FF2B5EF4-FFF2-40B4-BE49-F238E27FC236}">
                <a16:creationId xmlns:a16="http://schemas.microsoft.com/office/drawing/2014/main" id="{38E802E2-D117-4ADC-ADAF-84E4D51FB8A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Opgave 5 · Boekpagina 32–33</a:t>
            </a:r>
          </a:p>
        </p:txBody>
      </p:sp>
      <p:sp>
        <p:nvSpPr>
          <p:cNvPr id="4" name="slide-number">
            <a:extLst xmlns:a="http://schemas.openxmlformats.org/drawingml/2006/main">
              <a:ext uri="{FF2B5EF4-FFF2-40B4-BE49-F238E27FC236}">
                <a16:creationId xmlns:a16="http://schemas.microsoft.com/office/drawing/2014/main" id="{A4BB6332-7C0C-4E6B-8E04-32346CF5711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Twee festivaldagen · Maximaal 1.000 lunchboxen per dag">
            <a:extLst xmlns:a="http://schemas.openxmlformats.org/drawingml/2006/main">
              <a:ext uri="{FF2B5EF4-FFF2-40B4-BE49-F238E27FC236}">
                <a16:creationId xmlns:a16="http://schemas.microsoft.com/office/drawing/2014/main" id="{09A65ED5-2816-4B7D-BFA5-41602B7B29CE}"/>
              </a:ext>
            </a:extLst>
          </p:cNvPr>
          <p:cNvSpPr>
            <a:spLocks xmlns:a="http://schemas.openxmlformats.org/drawingml/2006/main" noGrp="1"/>
          </p:cNvSpPr>
          <p:nvPr/>
        </p:nvSpPr>
        <p:spPr>
          <a:xfrm xmlns:a="http://schemas.openxmlformats.org/drawingml/2006/main">
            <a:off x="571500" y="1781175"/>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Twee festivaldagen · Maximaal 1.000 lunchboxen per dag</a:t>
            </a:r>
          </a:p>
        </p:txBody>
      </p:sp>
      <p:sp>
        <p:nvSpPr>
          <p:cNvPr id="6" name="Alle gemaakte lunchboxen worden voor € 5 per stuk verkocht. ">
            <a:extLst xmlns:a="http://schemas.openxmlformats.org/drawingml/2006/main">
              <a:ext uri="{FF2B5EF4-FFF2-40B4-BE49-F238E27FC236}">
                <a16:creationId xmlns:a16="http://schemas.microsoft.com/office/drawing/2014/main" id="{60A1133E-767C-4543-8BAF-4EA255761EC6}"/>
              </a:ext>
            </a:extLst>
          </p:cNvPr>
          <p:cNvSpPr>
            <a:spLocks xmlns:a="http://schemas.openxmlformats.org/drawingml/2006/main" noGrp="1"/>
          </p:cNvSpPr>
          <p:nvPr/>
        </p:nvSpPr>
        <p:spPr>
          <a:xfrm xmlns:a="http://schemas.openxmlformats.org/drawingml/2006/main">
            <a:off x="571500" y="2828925"/>
            <a:ext cx="1409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Alle gemaakte lunchboxen worden voor € 5 per stuk verkocht. Gebruik bij elke vraag het juiste dagmenu.</a:t>
            </a:r>
          </a:p>
        </p:txBody>
      </p:sp>
      <p:sp>
        <p:nvSpPr>
          <p:cNvPr id="7" name="Bron A · Vrijdag: het gewone menu">
            <a:extLst xmlns:a="http://schemas.openxmlformats.org/drawingml/2006/main">
              <a:ext uri="{FF2B5EF4-FFF2-40B4-BE49-F238E27FC236}">
                <a16:creationId xmlns:a16="http://schemas.microsoft.com/office/drawing/2014/main" id="{3EFFD584-726F-46C6-93A6-ECD1FBAF7F72}"/>
              </a:ext>
            </a:extLst>
          </p:cNvPr>
          <p:cNvSpPr>
            <a:spLocks xmlns:a="http://schemas.openxmlformats.org/drawingml/2006/main" noGrp="1"/>
          </p:cNvSpPr>
          <p:nvPr/>
        </p:nvSpPr>
        <p:spPr>
          <a:xfrm xmlns:a="http://schemas.openxmlformats.org/drawingml/2006/main">
            <a:off x="571500" y="428625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Bron A · Vrijdag: het gewone menu</a:t>
            </a:r>
          </a:p>
        </p:txBody>
      </p:sp>
      <p:graphicFrame>
        <p:nvGraphicFramePr>
          <p:cNvPr id="16" name=""/>
          <p:cNvGraphicFramePr/>
          <p:nvPr/>
        </p:nvGraphicFramePr>
        <p:xfrm>
          <a:off xmlns:a="http://schemas.openxmlformats.org/drawingml/2006/main" x="571500" y="5181600"/>
          <a:ext xmlns:a="http://schemas.openxmlformats.org/drawingml/2006/main" cx="14097000" cy="2438400"/>
        </p:xfrm>
        <a:graphic xmlns:a="http://schemas.openxmlformats.org/drawingml/2006/main">
          <a:graphicData uri="http://schemas.openxmlformats.org/drawingml/2006/table">
            <a:tbl>
              <a:tblPr/>
              <a:tblGrid>
                <a:gridCol w="8953500"/>
                <a:gridCol w="5143500"/>
              </a:tblGrid>
              <a:tr h="609600">
                <a:tc>
                  <a:txBody>
                    <a:bodyPr lIns="171450" tIns="95250" rIns="152400" bIns="95250"/>
                    <a:lstStyle/>
                    <a:p>
                      <a:r>
                        <a:rPr sz="2400" b="1">
                          <a:solidFill>
                            <a:srgbClr val="FFFFFF"/>
                          </a:solidFill>
                          <a:latin typeface="Arial"/>
                          <a:ea typeface="Arial"/>
                          <a:cs typeface="Arial"/>
                        </a:rPr>
                        <a:t>Gegeven</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Vrijdag</a:t>
                      </a:r>
                    </a:p>
                  </a:txBody>
                  <a:tcPr marL="91440" marR="91440" marT="45720" marB="45720" anchor="ctr">
                    <a:solidFill>
                      <a:srgbClr val="183247"/>
                    </a:solidFill>
                  </a:tcPr>
                </a:tc>
              </a:tr>
              <a:tr h="609600">
                <a:tc>
                  <a:txBody>
                    <a:bodyPr lIns="171450" tIns="95250" rIns="152400" bIns="95250"/>
                    <a:lstStyle/>
                    <a:p>
                      <a:r>
                        <a:rPr sz="2400" b="0">
                          <a:solidFill>
                            <a:srgbClr val="183247"/>
                          </a:solidFill>
                          <a:latin typeface="Arial"/>
                          <a:ea typeface="Arial"/>
                          <a:cs typeface="Arial"/>
                        </a:rPr>
                        <a:t>Totale constante kosten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€ 1.200 per dag</a:t>
                      </a:r>
                    </a:p>
                  </a:txBody>
                  <a:tcPr marL="91440" marR="91440" marT="45720" marB="45720" anchor="ctr">
                    <a:solidFill>
                      <a:srgbClr val="FFFFFF"/>
                    </a:solidFill>
                  </a:tcPr>
                </a:tc>
              </a:tr>
              <a:tr h="609600">
                <a:tc>
                  <a:txBody>
                    <a:bodyPr lIns="171450" tIns="95250" rIns="152400" bIns="95250"/>
                    <a:lstStyle/>
                    <a:p>
                      <a:r>
                        <a:rPr sz="2400" b="0">
                          <a:solidFill>
                            <a:srgbClr val="183247"/>
                          </a:solidFill>
                          <a:latin typeface="Arial"/>
                          <a:ea typeface="Arial"/>
                          <a:cs typeface="Arial"/>
                        </a:rPr>
                        <a:t>Variabele kosten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€ 2 per lunchbox</a:t>
                      </a:r>
                    </a:p>
                  </a:txBody>
                  <a:tcPr marL="91440" marR="91440" marT="45720" marB="45720" anchor="ctr">
                    <a:solidFill>
                      <a:srgbClr val="EFF4F7"/>
                    </a:solidFill>
                  </a:tcPr>
                </a:tc>
              </a:tr>
              <a:tr h="609600">
                <a:tc>
                  <a:txBody>
                    <a:bodyPr lIns="171450" tIns="95250" rIns="152400" bIns="95250"/>
                    <a:lstStyle/>
                    <a:p>
                      <a:r>
                        <a:rPr sz="2400" b="0">
                          <a:solidFill>
                            <a:srgbClr val="183247"/>
                          </a:solidFill>
                          <a:latin typeface="Arial"/>
                          <a:ea typeface="Arial"/>
                          <a:cs typeface="Arial"/>
                        </a:rPr>
                        <a:t>Verwachte festivalbezoekers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4.000</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7684393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5 · Bron B: zaterdag">
            <a:extLst xmlns:a="http://schemas.openxmlformats.org/drawingml/2006/main">
              <a:ext uri="{FF2B5EF4-FFF2-40B4-BE49-F238E27FC236}">
                <a16:creationId xmlns:a16="http://schemas.microsoft.com/office/drawing/2014/main" id="{173F48D0-5C7D-4745-BED1-7037B33B1AF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 · Bron B: zaterdag</a:t>
            </a:r>
          </a:p>
        </p:txBody>
      </p:sp>
      <p:sp>
        <p:nvSpPr>
          <p:cNvPr id="2" name="">
            <a:extLst xmlns:a="http://schemas.openxmlformats.org/drawingml/2006/main">
              <a:ext uri="{FF2B5EF4-FFF2-40B4-BE49-F238E27FC236}">
                <a16:creationId xmlns:a16="http://schemas.microsoft.com/office/drawing/2014/main" id="{272610D8-A996-4206-B8DA-3F65DA09C00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Opgave 5 · Boekpagina 32–33">
            <a:extLst xmlns:a="http://schemas.openxmlformats.org/drawingml/2006/main">
              <a:ext uri="{FF2B5EF4-FFF2-40B4-BE49-F238E27FC236}">
                <a16:creationId xmlns:a16="http://schemas.microsoft.com/office/drawing/2014/main" id="{D32A7B48-141D-46F8-AC3E-AB745CC79B8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Opgave 5 · Boekpagina 32–33</a:t>
            </a:r>
          </a:p>
        </p:txBody>
      </p:sp>
      <p:sp>
        <p:nvSpPr>
          <p:cNvPr id="4" name="slide-number">
            <a:extLst xmlns:a="http://schemas.openxmlformats.org/drawingml/2006/main">
              <a:ext uri="{FF2B5EF4-FFF2-40B4-BE49-F238E27FC236}">
                <a16:creationId xmlns:a16="http://schemas.microsoft.com/office/drawing/2014/main" id="{1FB81E08-B9E5-447D-B4E1-4C3399D33F0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Een ander menu · Constante kosten: € 1.200 per dag">
            <a:extLst xmlns:a="http://schemas.openxmlformats.org/drawingml/2006/main">
              <a:ext uri="{FF2B5EF4-FFF2-40B4-BE49-F238E27FC236}">
                <a16:creationId xmlns:a16="http://schemas.microsoft.com/office/drawing/2014/main" id="{1C490873-FA77-4408-9903-924C852F4146}"/>
              </a:ext>
            </a:extLst>
          </p:cNvPr>
          <p:cNvSpPr>
            <a:spLocks xmlns:a="http://schemas.openxmlformats.org/drawingml/2006/main" noGrp="1"/>
          </p:cNvSpPr>
          <p:nvPr/>
        </p:nvSpPr>
        <p:spPr>
          <a:xfrm xmlns:a="http://schemas.openxmlformats.org/drawingml/2006/main">
            <a:off x="571500" y="17907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Een ander menu · Constante kosten: € 1.200 per dag</a:t>
            </a:r>
          </a:p>
        </p:txBody>
      </p:sp>
      <p:sp>
        <p:nvSpPr>
          <p:cNvPr id="6" name="Meer productie vraagt steeds meer betaald werk per extra lun">
            <a:extLst xmlns:a="http://schemas.openxmlformats.org/drawingml/2006/main">
              <a:ext uri="{FF2B5EF4-FFF2-40B4-BE49-F238E27FC236}">
                <a16:creationId xmlns:a16="http://schemas.microsoft.com/office/drawing/2014/main" id="{074C9412-B09C-4782-B3CE-71AAAC46F6CD}"/>
              </a:ext>
            </a:extLst>
          </p:cNvPr>
          <p:cNvSpPr>
            <a:spLocks xmlns:a="http://schemas.openxmlformats.org/drawingml/2006/main" noGrp="1"/>
          </p:cNvSpPr>
          <p:nvPr/>
        </p:nvSpPr>
        <p:spPr>
          <a:xfrm xmlns:a="http://schemas.openxmlformats.org/drawingml/2006/main">
            <a:off x="571500" y="26289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Meer productie vraagt steeds meer betaald werk per extra lunchbox. De variabele kosten per lunchbox zijn niet steeds gelijk.</a:t>
            </a:r>
          </a:p>
        </p:txBody>
      </p:sp>
      <p:graphicFrame>
        <p:nvGraphicFramePr>
          <p:cNvPr id="15" name=""/>
          <p:cNvGraphicFramePr/>
          <p:nvPr/>
        </p:nvGraphicFramePr>
        <p:xfrm>
          <a:off xmlns:a="http://schemas.openxmlformats.org/drawingml/2006/main" x="571500" y="4010025"/>
          <a:ext xmlns:a="http://schemas.openxmlformats.org/drawingml/2006/main" cx="14097000" cy="3209925"/>
        </p:xfrm>
        <a:graphic xmlns:a="http://schemas.openxmlformats.org/drawingml/2006/main">
          <a:graphicData uri="http://schemas.openxmlformats.org/drawingml/2006/table">
            <a:tbl>
              <a:tblPr/>
              <a:tblGrid>
                <a:gridCol w="4762500"/>
                <a:gridCol w="4667250"/>
                <a:gridCol w="4667250"/>
              </a:tblGrid>
              <a:tr h="641985">
                <a:tc>
                  <a:txBody>
                    <a:bodyPr lIns="171450" tIns="95250" rIns="152400" bIns="95250"/>
                    <a:lstStyle/>
                    <a:p>
                      <a:r>
                        <a:rPr sz="2325" b="1">
                          <a:solidFill>
                            <a:srgbClr val="FFFFFF"/>
                          </a:solidFill>
                          <a:latin typeface="Arial"/>
                          <a:ea typeface="Arial"/>
                          <a:cs typeface="Arial"/>
                        </a:rPr>
                        <a:t>Q (lunchboxen per dag)</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TK zaterdag (€ per dag)</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TO zaterdag (€ per dag)</a:t>
                      </a:r>
                    </a:p>
                  </a:txBody>
                  <a:tcPr marL="91440" marR="91440" marT="45720" marB="45720" anchor="ctr">
                    <a:solidFill>
                      <a:srgbClr val="183247"/>
                    </a:solidFill>
                  </a:tcPr>
                </a:tc>
              </a:tr>
              <a:tr h="641985">
                <a:tc>
                  <a:txBody>
                    <a:bodyPr lIns="171450" tIns="95250" rIns="152400" bIns="95250"/>
                    <a:lstStyle/>
                    <a:p>
                      <a:r>
                        <a:rPr sz="2325" b="0">
                          <a:solidFill>
                            <a:srgbClr val="183247"/>
                          </a:solidFill>
                          <a:latin typeface="Arial"/>
                          <a:ea typeface="Arial"/>
                          <a:cs typeface="Arial"/>
                        </a:rPr>
                        <a:t>700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2.600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3.500</a:t>
                      </a:r>
                    </a:p>
                  </a:txBody>
                  <a:tcPr marL="91440" marR="91440" marT="45720" marB="45720" anchor="ctr">
                    <a:solidFill>
                      <a:srgbClr val="FFFFFF"/>
                    </a:solidFill>
                  </a:tcPr>
                </a:tc>
              </a:tr>
              <a:tr h="641985">
                <a:tc>
                  <a:txBody>
                    <a:bodyPr lIns="171450" tIns="95250" rIns="152400" bIns="95250"/>
                    <a:lstStyle/>
                    <a:p>
                      <a:r>
                        <a:rPr sz="2325" b="0">
                          <a:solidFill>
                            <a:srgbClr val="183247"/>
                          </a:solidFill>
                          <a:latin typeface="Arial"/>
                          <a:ea typeface="Arial"/>
                          <a:cs typeface="Arial"/>
                        </a:rPr>
                        <a:t>800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2.900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4.000</a:t>
                      </a:r>
                    </a:p>
                  </a:txBody>
                  <a:tcPr marL="91440" marR="91440" marT="45720" marB="45720" anchor="ctr">
                    <a:solidFill>
                      <a:srgbClr val="EFF4F7"/>
                    </a:solidFill>
                  </a:tcPr>
                </a:tc>
              </a:tr>
              <a:tr h="641985">
                <a:tc>
                  <a:txBody>
                    <a:bodyPr lIns="171450" tIns="95250" rIns="152400" bIns="95250"/>
                    <a:lstStyle/>
                    <a:p>
                      <a:r>
                        <a:rPr sz="2325" b="0">
                          <a:solidFill>
                            <a:srgbClr val="183247"/>
                          </a:solidFill>
                          <a:latin typeface="Arial"/>
                          <a:ea typeface="Arial"/>
                          <a:cs typeface="Arial"/>
                        </a:rPr>
                        <a:t>900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3.250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4.500</a:t>
                      </a:r>
                    </a:p>
                  </a:txBody>
                  <a:tcPr marL="91440" marR="91440" marT="45720" marB="45720" anchor="ctr">
                    <a:solidFill>
                      <a:srgbClr val="FFFFFF"/>
                    </a:solidFill>
                  </a:tcPr>
                </a:tc>
              </a:tr>
              <a:tr h="641985">
                <a:tc>
                  <a:txBody>
                    <a:bodyPr lIns="171450" tIns="95250" rIns="152400" bIns="95250"/>
                    <a:lstStyle/>
                    <a:p>
                      <a:r>
                        <a:rPr sz="2325" b="0">
                          <a:solidFill>
                            <a:srgbClr val="183247"/>
                          </a:solidFill>
                          <a:latin typeface="Arial"/>
                          <a:ea typeface="Arial"/>
                          <a:cs typeface="Arial"/>
                        </a:rPr>
                        <a:t>1.000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3.650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5.000</a:t>
                      </a:r>
                    </a:p>
                  </a:txBody>
                  <a:tcPr marL="91440" marR="91440" marT="45720" marB="45720" anchor="ctr">
                    <a:solidFill>
                      <a:srgbClr val="EFF4F7"/>
                    </a:solidFill>
                  </a:tcPr>
                </a:tc>
              </a:tr>
            </a:tbl>
          </a:graphicData>
        </a:graphic>
      </p:graphicFrame>
      <p:sp>
        <p:nvSpPr>
          <p:cNvPr id="8" name="Gebruik voor zaterdag deze totalen, niet de € 2 uit bron A.">
            <a:extLst xmlns:a="http://schemas.openxmlformats.org/drawingml/2006/main">
              <a:ext uri="{FF2B5EF4-FFF2-40B4-BE49-F238E27FC236}">
                <a16:creationId xmlns:a16="http://schemas.microsoft.com/office/drawing/2014/main" id="{8CEFE1C6-F569-469A-8855-2D3EF1473C8D}"/>
              </a:ext>
            </a:extLst>
          </p:cNvPr>
          <p:cNvSpPr>
            <a:spLocks xmlns:a="http://schemas.openxmlformats.org/drawingml/2006/main" noGrp="1"/>
          </p:cNvSpPr>
          <p:nvPr/>
        </p:nvSpPr>
        <p:spPr>
          <a:xfrm xmlns:a="http://schemas.openxmlformats.org/drawingml/2006/main">
            <a:off x="571500" y="7467600"/>
            <a:ext cx="14097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Gebruik voor zaterdag deze totalen, niet de € 2 uit bron A.</a:t>
            </a:r>
          </a:p>
        </p:txBody>
      </p:sp>
    </p:spTree>
    <p:extLst>
      <p:ext uri="{BB962C8B-B14F-4D97-AF65-F5344CB8AC3E}">
        <p14:creationId xmlns:p14="http://schemas.microsoft.com/office/powerpoint/2010/main" val="157746387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5 · Bron C: basisgrafiek">
            <a:extLst xmlns:a="http://schemas.openxmlformats.org/drawingml/2006/main">
              <a:ext uri="{FF2B5EF4-FFF2-40B4-BE49-F238E27FC236}">
                <a16:creationId xmlns:a16="http://schemas.microsoft.com/office/drawing/2014/main" id="{6B2509CA-931A-4F66-8402-63B81BB69B2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 · Bron C: basisgrafiek</a:t>
            </a:r>
          </a:p>
        </p:txBody>
      </p:sp>
      <p:sp>
        <p:nvSpPr>
          <p:cNvPr id="2" name="">
            <a:extLst xmlns:a="http://schemas.openxmlformats.org/drawingml/2006/main">
              <a:ext uri="{FF2B5EF4-FFF2-40B4-BE49-F238E27FC236}">
                <a16:creationId xmlns:a16="http://schemas.microsoft.com/office/drawing/2014/main" id="{BB30C0B5-14D8-42C2-9B9B-4EFAAF0BDB3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Opgave 5 · Boekpagina 32–33">
            <a:extLst xmlns:a="http://schemas.openxmlformats.org/drawingml/2006/main">
              <a:ext uri="{FF2B5EF4-FFF2-40B4-BE49-F238E27FC236}">
                <a16:creationId xmlns:a16="http://schemas.microsoft.com/office/drawing/2014/main" id="{CA78C48C-66E2-4956-BBC2-828ADF2D332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Opgave 5 · Boekpagina 32–33</a:t>
            </a:r>
          </a:p>
        </p:txBody>
      </p:sp>
      <p:sp>
        <p:nvSpPr>
          <p:cNvPr id="4" name="slide-number">
            <a:extLst xmlns:a="http://schemas.openxmlformats.org/drawingml/2006/main">
              <a:ext uri="{FF2B5EF4-FFF2-40B4-BE49-F238E27FC236}">
                <a16:creationId xmlns:a16="http://schemas.microsoft.com/office/drawing/2014/main" id="{611EC637-0A86-43D2-AA1C-0B8E9869CBB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graphicFrame>
        <p:nvGraphicFramePr>
          <p:cNvPr id="13" name="Chart"/>
          <p:cNvGraphicFramePr/>
          <p:nvPr/>
        </p:nvGraphicFramePr>
        <p:xfrm>
          <a:off xmlns:a="http://schemas.openxmlformats.org/drawingml/2006/main" x="571500" y="1981200"/>
          <a:ext xmlns:a="http://schemas.openxmlformats.org/drawingml/2006/main" cx="10287000" cy="5848350"/>
        </p:xfrm>
        <a:graphic xmlns:a="http://schemas.openxmlformats.org/drawingml/2006/main">
          <a:graphicData uri="http://schemas.openxmlformats.org/drawingml/2006/chart">
            <c:chart xmlns:r="http://schemas.openxmlformats.org/officeDocument/2006/relationships" xmlns:c="http://schemas.openxmlformats.org/drawingml/2006/chart" r:id="R27a35bc128c44032"/>
          </a:graphicData>
        </a:graphic>
      </p:graphicFrame>
      <p:sp>
        <p:nvSpPr>
          <p:cNvPr id="6" name="Beide dagen">
            <a:extLst xmlns:a="http://schemas.openxmlformats.org/drawingml/2006/main">
              <a:ext uri="{FF2B5EF4-FFF2-40B4-BE49-F238E27FC236}">
                <a16:creationId xmlns:a16="http://schemas.microsoft.com/office/drawing/2014/main" id="{57F8CE55-34CA-467B-A201-4F56A7E3C753}"/>
              </a:ext>
            </a:extLst>
          </p:cNvPr>
          <p:cNvSpPr>
            <a:spLocks xmlns:a="http://schemas.openxmlformats.org/drawingml/2006/main" noGrp="1"/>
          </p:cNvSpPr>
          <p:nvPr/>
        </p:nvSpPr>
        <p:spPr>
          <a:xfrm xmlns:a="http://schemas.openxmlformats.org/drawingml/2006/main">
            <a:off x="11334750" y="22002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Beide dagen</a:t>
            </a:r>
          </a:p>
        </p:txBody>
      </p:sp>
      <p:sp>
        <p:nvSpPr>
          <p:cNvPr id="7" name="Capaciteit:&#10;1.000 lunchboxen&#10;per dag">
            <a:extLst xmlns:a="http://schemas.openxmlformats.org/drawingml/2006/main">
              <a:ext uri="{FF2B5EF4-FFF2-40B4-BE49-F238E27FC236}">
                <a16:creationId xmlns:a16="http://schemas.microsoft.com/office/drawing/2014/main" id="{FFE1DE2C-0692-47C2-88E1-D9D4F0BCC869}"/>
              </a:ext>
            </a:extLst>
          </p:cNvPr>
          <p:cNvSpPr>
            <a:spLocks xmlns:a="http://schemas.openxmlformats.org/drawingml/2006/main" noGrp="1"/>
          </p:cNvSpPr>
          <p:nvPr/>
        </p:nvSpPr>
        <p:spPr>
          <a:xfrm xmlns:a="http://schemas.openxmlformats.org/drawingml/2006/main">
            <a:off x="11334750" y="3171825"/>
            <a:ext cx="3333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658A"/>
                </a:solidFill>
                <a:latin typeface="Arial"/>
                <a:ea typeface="Arial"/>
                <a:cs typeface="Arial"/>
              </a:defRPr>
            </a:pPr>
            <a:r>
              <a:rPr sz="2325" b="1">
                <a:solidFill>
                  <a:srgbClr val="17658A"/>
                </a:solidFill>
                <a:latin typeface="Arial"/>
                <a:ea typeface="Arial"/>
                <a:cs typeface="Arial"/>
              </a:rPr>
              <a:t>Capaciteit:</a:t>
            </a:r>
          </a:p>
          <a:p xmlns:a="http://schemas.openxmlformats.org/drawingml/2006/main">
            <a:pPr algn="l">
              <a:defRPr sz="2325" b="1">
                <a:solidFill>
                  <a:srgbClr val="17658A"/>
                </a:solidFill>
                <a:latin typeface="Arial"/>
                <a:ea typeface="Arial"/>
                <a:cs typeface="Arial"/>
              </a:defRPr>
            </a:pPr>
            <a:r>
              <a:rPr sz="2325" b="1">
                <a:solidFill>
                  <a:srgbClr val="17658A"/>
                </a:solidFill>
                <a:latin typeface="Arial"/>
                <a:ea typeface="Arial"/>
                <a:cs typeface="Arial"/>
              </a:rPr>
              <a:t>1.000 lunchboxen</a:t>
            </a:r>
          </a:p>
          <a:p xmlns:a="http://schemas.openxmlformats.org/drawingml/2006/main">
            <a:pPr algn="l">
              <a:defRPr sz="2325" b="1">
                <a:solidFill>
                  <a:srgbClr val="17658A"/>
                </a:solidFill>
                <a:latin typeface="Arial"/>
                <a:ea typeface="Arial"/>
                <a:cs typeface="Arial"/>
              </a:defRPr>
            </a:pPr>
            <a:r>
              <a:rPr sz="2325" b="1">
                <a:solidFill>
                  <a:srgbClr val="17658A"/>
                </a:solidFill>
                <a:latin typeface="Arial"/>
                <a:ea typeface="Arial"/>
                <a:cs typeface="Arial"/>
              </a:rPr>
              <a:t>per dag</a:t>
            </a:r>
          </a:p>
        </p:txBody>
      </p:sp>
      <p:sp>
        <p:nvSpPr>
          <p:cNvPr id="8" name="Zaterdag:&#10;alleen de vier&#10;tabelpunten">
            <a:extLst xmlns:a="http://schemas.openxmlformats.org/drawingml/2006/main">
              <a:ext uri="{FF2B5EF4-FFF2-40B4-BE49-F238E27FC236}">
                <a16:creationId xmlns:a16="http://schemas.microsoft.com/office/drawing/2014/main" id="{853477C1-BE07-44FD-8D3D-0B73759767CD}"/>
              </a:ext>
            </a:extLst>
          </p:cNvPr>
          <p:cNvSpPr>
            <a:spLocks xmlns:a="http://schemas.openxmlformats.org/drawingml/2006/main" noGrp="1"/>
          </p:cNvSpPr>
          <p:nvPr/>
        </p:nvSpPr>
        <p:spPr>
          <a:xfrm xmlns:a="http://schemas.openxmlformats.org/drawingml/2006/main">
            <a:off x="11334750" y="5400675"/>
            <a:ext cx="3333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0665B"/>
                </a:solidFill>
                <a:latin typeface="Arial"/>
                <a:ea typeface="Arial"/>
                <a:cs typeface="Arial"/>
              </a:defRPr>
            </a:pPr>
            <a:r>
              <a:rPr sz="2325" b="1">
                <a:solidFill>
                  <a:srgbClr val="20665B"/>
                </a:solidFill>
                <a:latin typeface="Arial"/>
                <a:ea typeface="Arial"/>
                <a:cs typeface="Arial"/>
              </a:rPr>
              <a:t>Zaterdag:</a:t>
            </a:r>
          </a:p>
          <a:p xmlns:a="http://schemas.openxmlformats.org/drawingml/2006/main">
            <a:pPr algn="l">
              <a:defRPr sz="2325" b="1">
                <a:solidFill>
                  <a:srgbClr val="20665B"/>
                </a:solidFill>
                <a:latin typeface="Arial"/>
                <a:ea typeface="Arial"/>
                <a:cs typeface="Arial"/>
              </a:defRPr>
            </a:pPr>
            <a:r>
              <a:rPr sz="2325" b="1">
                <a:solidFill>
                  <a:srgbClr val="20665B"/>
                </a:solidFill>
                <a:latin typeface="Arial"/>
                <a:ea typeface="Arial"/>
                <a:cs typeface="Arial"/>
              </a:rPr>
              <a:t>alleen de vier</a:t>
            </a:r>
          </a:p>
          <a:p xmlns:a="http://schemas.openxmlformats.org/drawingml/2006/main">
            <a:pPr algn="l">
              <a:defRPr sz="2325" b="1">
                <a:solidFill>
                  <a:srgbClr val="20665B"/>
                </a:solidFill>
                <a:latin typeface="Arial"/>
                <a:ea typeface="Arial"/>
                <a:cs typeface="Arial"/>
              </a:defRPr>
            </a:pPr>
            <a:r>
              <a:rPr sz="2325" b="1">
                <a:solidFill>
                  <a:srgbClr val="20665B"/>
                </a:solidFill>
                <a:latin typeface="Arial"/>
                <a:ea typeface="Arial"/>
                <a:cs typeface="Arial"/>
              </a:rPr>
              <a:t>tabelpunten</a:t>
            </a:r>
          </a:p>
        </p:txBody>
      </p:sp>
    </p:spTree>
    <p:extLst>
      <p:ext uri="{BB962C8B-B14F-4D97-AF65-F5344CB8AC3E}">
        <p14:creationId xmlns:p14="http://schemas.microsoft.com/office/powerpoint/2010/main" val="141754259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5 · Vragen a, b en c">
            <a:extLst xmlns:a="http://schemas.openxmlformats.org/drawingml/2006/main">
              <a:ext uri="{FF2B5EF4-FFF2-40B4-BE49-F238E27FC236}">
                <a16:creationId xmlns:a16="http://schemas.microsoft.com/office/drawing/2014/main" id="{805E8B0A-7F71-4A05-A8B3-51B3164AF15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 · Vragen a, b en c</a:t>
            </a:r>
          </a:p>
        </p:txBody>
      </p:sp>
      <p:sp>
        <p:nvSpPr>
          <p:cNvPr id="2" name="">
            <a:extLst xmlns:a="http://schemas.openxmlformats.org/drawingml/2006/main">
              <a:ext uri="{FF2B5EF4-FFF2-40B4-BE49-F238E27FC236}">
                <a16:creationId xmlns:a16="http://schemas.microsoft.com/office/drawing/2014/main" id="{268DA750-CCC0-43FD-9BAA-A0C9C97F404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Opgave 5 · Boekpagina 32–33">
            <a:extLst xmlns:a="http://schemas.openxmlformats.org/drawingml/2006/main">
              <a:ext uri="{FF2B5EF4-FFF2-40B4-BE49-F238E27FC236}">
                <a16:creationId xmlns:a16="http://schemas.microsoft.com/office/drawing/2014/main" id="{51A86287-163E-4AC4-96F6-C55EB9A0C68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Opgave 5 · Boekpagina 32–33</a:t>
            </a:r>
          </a:p>
        </p:txBody>
      </p:sp>
      <p:sp>
        <p:nvSpPr>
          <p:cNvPr id="4" name="slide-number">
            <a:extLst xmlns:a="http://schemas.openxmlformats.org/drawingml/2006/main">
              <a:ext uri="{FF2B5EF4-FFF2-40B4-BE49-F238E27FC236}">
                <a16:creationId xmlns:a16="http://schemas.microsoft.com/office/drawing/2014/main" id="{F75C0E3E-3226-4B93-9A9D-E5C2080E86F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a)">
            <a:extLst xmlns:a="http://schemas.openxmlformats.org/drawingml/2006/main">
              <a:ext uri="{FF2B5EF4-FFF2-40B4-BE49-F238E27FC236}">
                <a16:creationId xmlns:a16="http://schemas.microsoft.com/office/drawing/2014/main" id="{B6F6DCB4-C806-48CE-B9D1-178A31524295}"/>
              </a:ext>
            </a:extLst>
          </p:cNvPr>
          <p:cNvSpPr>
            <a:spLocks xmlns:a="http://schemas.openxmlformats.org/drawingml/2006/main" noGrp="1"/>
          </p:cNvSpPr>
          <p:nvPr/>
        </p:nvSpPr>
        <p:spPr>
          <a:xfrm xmlns:a="http://schemas.openxmlformats.org/drawingml/2006/main">
            <a:off x="571500" y="195262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a)</a:t>
            </a:r>
          </a:p>
        </p:txBody>
      </p:sp>
      <p:sp>
        <p:nvSpPr>
          <p:cNvPr id="6" name="Selecteer uit bron A de constante kosten, de variabele koste">
            <a:extLst xmlns:a="http://schemas.openxmlformats.org/drawingml/2006/main">
              <a:ext uri="{FF2B5EF4-FFF2-40B4-BE49-F238E27FC236}">
                <a16:creationId xmlns:a16="http://schemas.microsoft.com/office/drawing/2014/main" id="{FCA6F89F-0696-4CE1-9194-75237E3ECD0E}"/>
              </a:ext>
            </a:extLst>
          </p:cNvPr>
          <p:cNvSpPr>
            <a:spLocks xmlns:a="http://schemas.openxmlformats.org/drawingml/2006/main" noGrp="1"/>
          </p:cNvSpPr>
          <p:nvPr/>
        </p:nvSpPr>
        <p:spPr>
          <a:xfrm xmlns:a="http://schemas.openxmlformats.org/drawingml/2006/main">
            <a:off x="1438275" y="1952625"/>
            <a:ext cx="13230225" cy="2314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Selecteer uit bron A de constante kosten, de variabele kosten per lunchbox en de verkoopprijs. Leg uit welke totale kosten met Q veranderen en welke gelijk blijven. Noem ook het gegeven dat je niet nodig hebt voor TK en TO.</a:t>
            </a:r>
          </a:p>
        </p:txBody>
      </p:sp>
      <p:sp>
        <p:nvSpPr>
          <p:cNvPr id="7" name="b)">
            <a:extLst xmlns:a="http://schemas.openxmlformats.org/drawingml/2006/main">
              <a:ext uri="{FF2B5EF4-FFF2-40B4-BE49-F238E27FC236}">
                <a16:creationId xmlns:a16="http://schemas.microsoft.com/office/drawing/2014/main" id="{BA016F1F-374A-49D3-A0DB-2607E0C28E2B}"/>
              </a:ext>
            </a:extLst>
          </p:cNvPr>
          <p:cNvSpPr>
            <a:spLocks xmlns:a="http://schemas.openxmlformats.org/drawingml/2006/main" noGrp="1"/>
          </p:cNvSpPr>
          <p:nvPr/>
        </p:nvSpPr>
        <p:spPr>
          <a:xfrm xmlns:a="http://schemas.openxmlformats.org/drawingml/2006/main">
            <a:off x="571500" y="469582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b)</a:t>
            </a:r>
          </a:p>
        </p:txBody>
      </p:sp>
      <p:sp>
        <p:nvSpPr>
          <p:cNvPr id="8" name="Stel voor vrijdag de functies voor TK en TO op. Bereken de b">
            <a:extLst xmlns:a="http://schemas.openxmlformats.org/drawingml/2006/main">
              <a:ext uri="{FF2B5EF4-FFF2-40B4-BE49-F238E27FC236}">
                <a16:creationId xmlns:a16="http://schemas.microsoft.com/office/drawing/2014/main" id="{1F510DA6-AFBC-4E6F-9D2B-7753B726B9AD}"/>
              </a:ext>
            </a:extLst>
          </p:cNvPr>
          <p:cNvSpPr>
            <a:spLocks xmlns:a="http://schemas.openxmlformats.org/drawingml/2006/main" noGrp="1"/>
          </p:cNvSpPr>
          <p:nvPr/>
        </p:nvSpPr>
        <p:spPr>
          <a:xfrm xmlns:a="http://schemas.openxmlformats.org/drawingml/2006/main">
            <a:off x="1438275" y="4695825"/>
            <a:ext cx="132302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Stel voor vrijdag de functies voor TK en TO op. Bereken de break-even-afzet.</a:t>
            </a:r>
          </a:p>
        </p:txBody>
      </p:sp>
      <p:sp>
        <p:nvSpPr>
          <p:cNvPr id="9" name="c)">
            <a:extLst xmlns:a="http://schemas.openxmlformats.org/drawingml/2006/main">
              <a:ext uri="{FF2B5EF4-FFF2-40B4-BE49-F238E27FC236}">
                <a16:creationId xmlns:a16="http://schemas.microsoft.com/office/drawing/2014/main" id="{DAF4836B-A8FD-4E20-894D-69FAB484FC68}"/>
              </a:ext>
            </a:extLst>
          </p:cNvPr>
          <p:cNvSpPr>
            <a:spLocks xmlns:a="http://schemas.openxmlformats.org/drawingml/2006/main" noGrp="1"/>
          </p:cNvSpPr>
          <p:nvPr/>
        </p:nvSpPr>
        <p:spPr>
          <a:xfrm xmlns:a="http://schemas.openxmlformats.org/drawingml/2006/main">
            <a:off x="571500" y="62865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c)</a:t>
            </a:r>
          </a:p>
        </p:txBody>
      </p:sp>
      <p:sp>
        <p:nvSpPr>
          <p:cNvPr id="10" name="Bereken voor vrijdag bij Q = 700 de winst en GTK. Noteer de ">
            <a:extLst xmlns:a="http://schemas.openxmlformats.org/drawingml/2006/main">
              <a:ext uri="{FF2B5EF4-FFF2-40B4-BE49-F238E27FC236}">
                <a16:creationId xmlns:a16="http://schemas.microsoft.com/office/drawing/2014/main" id="{889CDAF5-08EE-4CCB-9BF3-465F79E46540}"/>
              </a:ext>
            </a:extLst>
          </p:cNvPr>
          <p:cNvSpPr>
            <a:spLocks xmlns:a="http://schemas.openxmlformats.org/drawingml/2006/main" noGrp="1"/>
          </p:cNvSpPr>
          <p:nvPr/>
        </p:nvSpPr>
        <p:spPr>
          <a:xfrm xmlns:a="http://schemas.openxmlformats.org/drawingml/2006/main">
            <a:off x="1438275" y="6286500"/>
            <a:ext cx="132302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Bereken voor vrijdag bij Q = 700 de winst en GTK. Noteer de volledige eenheden.</a:t>
            </a:r>
          </a:p>
        </p:txBody>
      </p:sp>
    </p:spTree>
    <p:extLst>
      <p:ext uri="{BB962C8B-B14F-4D97-AF65-F5344CB8AC3E}">
        <p14:creationId xmlns:p14="http://schemas.microsoft.com/office/powerpoint/2010/main" val="45417091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5 · Vraag d">
            <a:extLst xmlns:a="http://schemas.openxmlformats.org/drawingml/2006/main">
              <a:ext uri="{FF2B5EF4-FFF2-40B4-BE49-F238E27FC236}">
                <a16:creationId xmlns:a16="http://schemas.microsoft.com/office/drawing/2014/main" id="{75468EDB-3D0D-4201-BDAD-D34E0022BF1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 · Vraag d</a:t>
            </a:r>
          </a:p>
        </p:txBody>
      </p:sp>
      <p:sp>
        <p:nvSpPr>
          <p:cNvPr id="2" name="">
            <a:extLst xmlns:a="http://schemas.openxmlformats.org/drawingml/2006/main">
              <a:ext uri="{FF2B5EF4-FFF2-40B4-BE49-F238E27FC236}">
                <a16:creationId xmlns:a16="http://schemas.microsoft.com/office/drawing/2014/main" id="{8754E394-EC5B-4774-8CE3-EC58808156A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Opgave 5 · Boekpagina 32–33">
            <a:extLst xmlns:a="http://schemas.openxmlformats.org/drawingml/2006/main">
              <a:ext uri="{FF2B5EF4-FFF2-40B4-BE49-F238E27FC236}">
                <a16:creationId xmlns:a16="http://schemas.microsoft.com/office/drawing/2014/main" id="{1BE8A749-27B9-46D1-A53A-1F64B73BF55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Opgave 5 · Boekpagina 32–33</a:t>
            </a:r>
          </a:p>
        </p:txBody>
      </p:sp>
      <p:sp>
        <p:nvSpPr>
          <p:cNvPr id="4" name="slide-number">
            <a:extLst xmlns:a="http://schemas.openxmlformats.org/drawingml/2006/main">
              <a:ext uri="{FF2B5EF4-FFF2-40B4-BE49-F238E27FC236}">
                <a16:creationId xmlns:a16="http://schemas.microsoft.com/office/drawing/2014/main" id="{5D50C6C3-BDF5-4B35-9D7A-CDA92D6997D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d) Bereken met bron B voor elk van de drie stappen op zaterd">
            <a:extLst xmlns:a="http://schemas.openxmlformats.org/drawingml/2006/main">
              <a:ext uri="{FF2B5EF4-FFF2-40B4-BE49-F238E27FC236}">
                <a16:creationId xmlns:a16="http://schemas.microsoft.com/office/drawing/2014/main" id="{58A3265E-0297-4FD3-80CD-DB7A14557107}"/>
              </a:ext>
            </a:extLst>
          </p:cNvPr>
          <p:cNvSpPr>
            <a:spLocks xmlns:a="http://schemas.openxmlformats.org/drawingml/2006/main" noGrp="1"/>
          </p:cNvSpPr>
          <p:nvPr/>
        </p:nvSpPr>
        <p:spPr>
          <a:xfrm xmlns:a="http://schemas.openxmlformats.org/drawingml/2006/main">
            <a:off x="571500" y="1962150"/>
            <a:ext cx="14097000"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d) Bereken met bron B voor elk van de drie stappen op zaterdag MK en MO per extra lunchbox. Laat bij iedere MK-berekening teller en noemer zien.</a:t>
            </a:r>
          </a:p>
        </p:txBody>
      </p:sp>
      <p:graphicFrame>
        <p:nvGraphicFramePr>
          <p:cNvPr id="12" name=""/>
          <p:cNvGraphicFramePr/>
          <p:nvPr/>
        </p:nvGraphicFramePr>
        <p:xfrm>
          <a:off xmlns:a="http://schemas.openxmlformats.org/drawingml/2006/main" x="571500" y="4505325"/>
          <a:ext xmlns:a="http://schemas.openxmlformats.org/drawingml/2006/main" cx="14097000" cy="3009900"/>
        </p:xfrm>
        <a:graphic xmlns:a="http://schemas.openxmlformats.org/drawingml/2006/main">
          <a:graphicData uri="http://schemas.openxmlformats.org/drawingml/2006/table">
            <a:tbl>
              <a:tblPr/>
              <a:tblGrid>
                <a:gridCol w="7429500"/>
                <a:gridCol w="3333750"/>
                <a:gridCol w="3333750"/>
              </a:tblGrid>
              <a:tr h="752475">
                <a:tc>
                  <a:txBody>
                    <a:bodyPr lIns="171450" tIns="95250" rIns="152400" bIns="95250"/>
                    <a:lstStyle/>
                    <a:p>
                      <a:r>
                        <a:rPr sz="2550" b="1">
                          <a:solidFill>
                            <a:srgbClr val="FFFFFF"/>
                          </a:solidFill>
                          <a:latin typeface="Arial"/>
                          <a:ea typeface="Arial"/>
                          <a:cs typeface="Arial"/>
                        </a:rPr>
                        <a:t>Stap op zaterdag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Van Q</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Naar Q</a:t>
                      </a:r>
                    </a:p>
                  </a:txBody>
                  <a:tcPr marL="91440" marR="91440" marT="45720" marB="45720" anchor="ctr">
                    <a:solidFill>
                      <a:srgbClr val="183247"/>
                    </a:solidFill>
                  </a:tcPr>
                </a:tc>
              </a:tr>
              <a:tr h="752475">
                <a:tc>
                  <a:txBody>
                    <a:bodyPr lIns="171450" tIns="95250" rIns="152400" bIns="95250"/>
                    <a:lstStyle/>
                    <a:p>
                      <a:r>
                        <a:rPr sz="2550" b="0">
                          <a:solidFill>
                            <a:srgbClr val="183247"/>
                          </a:solidFill>
                          <a:latin typeface="Arial"/>
                          <a:ea typeface="Arial"/>
                          <a:cs typeface="Arial"/>
                        </a:rPr>
                        <a:t>Eerste stap</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700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800</a:t>
                      </a:r>
                    </a:p>
                  </a:txBody>
                  <a:tcPr marL="91440" marR="91440" marT="45720" marB="45720" anchor="ctr">
                    <a:solidFill>
                      <a:srgbClr val="FFFFFF"/>
                    </a:solidFill>
                  </a:tcPr>
                </a:tc>
              </a:tr>
              <a:tr h="752475">
                <a:tc>
                  <a:txBody>
                    <a:bodyPr lIns="171450" tIns="95250" rIns="152400" bIns="95250"/>
                    <a:lstStyle/>
                    <a:p>
                      <a:r>
                        <a:rPr sz="2550" b="0">
                          <a:solidFill>
                            <a:srgbClr val="183247"/>
                          </a:solidFill>
                          <a:latin typeface="Arial"/>
                          <a:ea typeface="Arial"/>
                          <a:cs typeface="Arial"/>
                        </a:rPr>
                        <a:t>Tweede stap</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800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900</a:t>
                      </a:r>
                    </a:p>
                  </a:txBody>
                  <a:tcPr marL="91440" marR="91440" marT="45720" marB="45720" anchor="ctr">
                    <a:solidFill>
                      <a:srgbClr val="EFF4F7"/>
                    </a:solidFill>
                  </a:tcPr>
                </a:tc>
              </a:tr>
              <a:tr h="752475">
                <a:tc>
                  <a:txBody>
                    <a:bodyPr lIns="171450" tIns="95250" rIns="152400" bIns="95250"/>
                    <a:lstStyle/>
                    <a:p>
                      <a:r>
                        <a:rPr sz="2550" b="0">
                          <a:solidFill>
                            <a:srgbClr val="183247"/>
                          </a:solidFill>
                          <a:latin typeface="Arial"/>
                          <a:ea typeface="Arial"/>
                          <a:cs typeface="Arial"/>
                        </a:rPr>
                        <a:t>Derde stap</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900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1.000</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89665816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5 · Vragen e en f">
            <a:extLst xmlns:a="http://schemas.openxmlformats.org/drawingml/2006/main">
              <a:ext uri="{FF2B5EF4-FFF2-40B4-BE49-F238E27FC236}">
                <a16:creationId xmlns:a16="http://schemas.microsoft.com/office/drawing/2014/main" id="{39637C6E-AF76-41F6-8EC5-DC604F639B2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 · Vragen e en f</a:t>
            </a:r>
          </a:p>
        </p:txBody>
      </p:sp>
      <p:sp>
        <p:nvSpPr>
          <p:cNvPr id="2" name="">
            <a:extLst xmlns:a="http://schemas.openxmlformats.org/drawingml/2006/main">
              <a:ext uri="{FF2B5EF4-FFF2-40B4-BE49-F238E27FC236}">
                <a16:creationId xmlns:a16="http://schemas.microsoft.com/office/drawing/2014/main" id="{C125F85F-4DAB-475C-B961-68F7B8F4607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Opgave 5 · Boekpagina 32–33">
            <a:extLst xmlns:a="http://schemas.openxmlformats.org/drawingml/2006/main">
              <a:ext uri="{FF2B5EF4-FFF2-40B4-BE49-F238E27FC236}">
                <a16:creationId xmlns:a16="http://schemas.microsoft.com/office/drawing/2014/main" id="{060F9526-9628-4A0C-BA8E-2046722A70F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Opgave 5 · Boekpagina 32–33</a:t>
            </a:r>
          </a:p>
        </p:txBody>
      </p:sp>
      <p:sp>
        <p:nvSpPr>
          <p:cNvPr id="4" name="slide-number">
            <a:extLst xmlns:a="http://schemas.openxmlformats.org/drawingml/2006/main">
              <a:ext uri="{FF2B5EF4-FFF2-40B4-BE49-F238E27FC236}">
                <a16:creationId xmlns:a16="http://schemas.microsoft.com/office/drawing/2014/main" id="{9D1E5325-52DD-4059-B204-914A8B79701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e)">
            <a:extLst xmlns:a="http://schemas.openxmlformats.org/drawingml/2006/main">
              <a:ext uri="{FF2B5EF4-FFF2-40B4-BE49-F238E27FC236}">
                <a16:creationId xmlns:a16="http://schemas.microsoft.com/office/drawing/2014/main" id="{D97E692D-73C4-408A-93EA-D27E2E10DFDE}"/>
              </a:ext>
            </a:extLst>
          </p:cNvPr>
          <p:cNvSpPr>
            <a:spLocks xmlns:a="http://schemas.openxmlformats.org/drawingml/2006/main" noGrp="1"/>
          </p:cNvSpPr>
          <p:nvPr/>
        </p:nvSpPr>
        <p:spPr>
          <a:xfrm xmlns:a="http://schemas.openxmlformats.org/drawingml/2006/main">
            <a:off x="571500" y="193357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e)</a:t>
            </a:r>
          </a:p>
        </p:txBody>
      </p:sp>
      <p:sp>
        <p:nvSpPr>
          <p:cNvPr id="6" name="Markeer in bron C het break-evenpunt van vrijdag. Geef ook a">
            <a:extLst xmlns:a="http://schemas.openxmlformats.org/drawingml/2006/main">
              <a:ext uri="{FF2B5EF4-FFF2-40B4-BE49-F238E27FC236}">
                <a16:creationId xmlns:a16="http://schemas.microsoft.com/office/drawing/2014/main" id="{C01A23E7-A04F-43AB-8F35-5FDFAB1BC481}"/>
              </a:ext>
            </a:extLst>
          </p:cNvPr>
          <p:cNvSpPr>
            <a:spLocks xmlns:a="http://schemas.openxmlformats.org/drawingml/2006/main" noGrp="1"/>
          </p:cNvSpPr>
          <p:nvPr/>
        </p:nvSpPr>
        <p:spPr>
          <a:xfrm xmlns:a="http://schemas.openxmlformats.org/drawingml/2006/main">
            <a:off x="1438275" y="1933575"/>
            <a:ext cx="132302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Markeer in bron C het break-evenpunt van vrijdag. Geef ook aan voor welke vrijdaghoeveelheden de verticale winstafstand positief is. Vergelijk de groei van die winstafstand per extra lunchbox op vrijdag met de drie zaterdagstappen. Op welke dag en bij welke hoeveelheden groeit de positieve winstafstand het snelst? Onderbouw met MK en MO.</a:t>
            </a:r>
          </a:p>
        </p:txBody>
      </p:sp>
      <p:sp>
        <p:nvSpPr>
          <p:cNvPr id="7" name="">
            <a:extLst xmlns:a="http://schemas.openxmlformats.org/drawingml/2006/main">
              <a:ext uri="{FF2B5EF4-FFF2-40B4-BE49-F238E27FC236}">
                <a16:creationId xmlns:a16="http://schemas.microsoft.com/office/drawing/2014/main" id="{96FDEF77-044D-4104-AF2B-88801D0F65B2}"/>
              </a:ext>
            </a:extLst>
          </p:cNvPr>
          <p:cNvSpPr>
            <a:spLocks xmlns:a="http://schemas.openxmlformats.org/drawingml/2006/main" noGrp="1"/>
          </p:cNvSpPr>
          <p:nvPr/>
        </p:nvSpPr>
        <p:spPr>
          <a:xfrm xmlns:a="http://schemas.openxmlformats.org/drawingml/2006/main">
            <a:off x="571500" y="5353050"/>
            <a:ext cx="14097000" cy="0"/>
          </a:xfrm>
          <a:prstGeom xmlns:a="http://schemas.openxmlformats.org/drawingml/2006/main" prst="line">
            <a:avLst/>
          </a:prstGeom>
          <a:ln xmlns:a="http://schemas.openxmlformats.org/drawingml/2006/main" w="19050">
            <a:solidFill>
              <a:srgbClr val="C6D2DB"/>
            </a:solidFill>
          </a:ln>
        </p:spPr>
      </p:sp>
      <p:sp>
        <p:nvSpPr>
          <p:cNvPr id="8" name="f)">
            <a:extLst xmlns:a="http://schemas.openxmlformats.org/drawingml/2006/main">
              <a:ext uri="{FF2B5EF4-FFF2-40B4-BE49-F238E27FC236}">
                <a16:creationId xmlns:a16="http://schemas.microsoft.com/office/drawing/2014/main" id="{F61F98CB-81D4-4D92-8E7F-E690A56F80DB}"/>
              </a:ext>
            </a:extLst>
          </p:cNvPr>
          <p:cNvSpPr>
            <a:spLocks xmlns:a="http://schemas.openxmlformats.org/drawingml/2006/main" noGrp="1"/>
          </p:cNvSpPr>
          <p:nvPr/>
        </p:nvSpPr>
        <p:spPr>
          <a:xfrm xmlns:a="http://schemas.openxmlformats.org/drawingml/2006/main">
            <a:off x="571500" y="578167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f)</a:t>
            </a:r>
          </a:p>
        </p:txBody>
      </p:sp>
      <p:sp>
        <p:nvSpPr>
          <p:cNvPr id="9" name="Een leerling zegt: “Door de vaste verkoopprijs leveren alle ">
            <a:extLst xmlns:a="http://schemas.openxmlformats.org/drawingml/2006/main">
              <a:ext uri="{FF2B5EF4-FFF2-40B4-BE49-F238E27FC236}">
                <a16:creationId xmlns:a16="http://schemas.microsoft.com/office/drawing/2014/main" id="{BDE0D898-7B0C-44D9-A092-0B3526E803CF}"/>
              </a:ext>
            </a:extLst>
          </p:cNvPr>
          <p:cNvSpPr>
            <a:spLocks xmlns:a="http://schemas.openxmlformats.org/drawingml/2006/main" noGrp="1"/>
          </p:cNvSpPr>
          <p:nvPr/>
        </p:nvSpPr>
        <p:spPr>
          <a:xfrm xmlns:a="http://schemas.openxmlformats.org/drawingml/2006/main">
            <a:off x="1438275" y="5781675"/>
            <a:ext cx="13230225"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Een leerling zegt: “Door de vaste verkoopprijs leveren alle extra groepen van honderd lunchboxen evenveel extra winst op.” Beoordeel de uitspraak met de drie zaterdagstappen. Bereken daarbij de extra winst per groep.</a:t>
            </a:r>
          </a:p>
        </p:txBody>
      </p:sp>
    </p:spTree>
    <p:extLst>
      <p:ext uri="{BB962C8B-B14F-4D97-AF65-F5344CB8AC3E}">
        <p14:creationId xmlns:p14="http://schemas.microsoft.com/office/powerpoint/2010/main" val="67682177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5a–b · Vrijdag: gegevens en functies">
            <a:extLst xmlns:a="http://schemas.openxmlformats.org/drawingml/2006/main">
              <a:ext uri="{FF2B5EF4-FFF2-40B4-BE49-F238E27FC236}">
                <a16:creationId xmlns:a16="http://schemas.microsoft.com/office/drawing/2014/main" id="{A3E6A448-B5FE-4B0E-975D-6950DBE94F0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5a–b · Vrijdag: gegevens en functies</a:t>
            </a:r>
          </a:p>
        </p:txBody>
      </p:sp>
      <p:sp>
        <p:nvSpPr>
          <p:cNvPr id="2" name="">
            <a:extLst xmlns:a="http://schemas.openxmlformats.org/drawingml/2006/main">
              <a:ext uri="{FF2B5EF4-FFF2-40B4-BE49-F238E27FC236}">
                <a16:creationId xmlns:a16="http://schemas.microsoft.com/office/drawing/2014/main" id="{D9B9A085-3467-4671-8490-37F06BC10C2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Opgave 5 · Boekpagina 32–33">
            <a:extLst xmlns:a="http://schemas.openxmlformats.org/drawingml/2006/main">
              <a:ext uri="{FF2B5EF4-FFF2-40B4-BE49-F238E27FC236}">
                <a16:creationId xmlns:a16="http://schemas.microsoft.com/office/drawing/2014/main" id="{FA72038A-D5D9-40E8-BC66-9CE21209158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Opgave 5 · Boekpagina 32–33</a:t>
            </a:r>
          </a:p>
        </p:txBody>
      </p:sp>
      <p:sp>
        <p:nvSpPr>
          <p:cNvPr id="4" name="slide-number">
            <a:extLst xmlns:a="http://schemas.openxmlformats.org/drawingml/2006/main">
              <a:ext uri="{FF2B5EF4-FFF2-40B4-BE49-F238E27FC236}">
                <a16:creationId xmlns:a16="http://schemas.microsoft.com/office/drawing/2014/main" id="{5BCD1CF1-077B-44B9-8825-C79B884AB85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graphicFrame>
        <p:nvGraphicFramePr>
          <p:cNvPr id="14" name=""/>
          <p:cNvGraphicFramePr/>
          <p:nvPr/>
        </p:nvGraphicFramePr>
        <p:xfrm>
          <a:off xmlns:a="http://schemas.openxmlformats.org/drawingml/2006/main" x="571500" y="2000250"/>
          <a:ext xmlns:a="http://schemas.openxmlformats.org/drawingml/2006/main" cx="14097000" cy="3133725"/>
        </p:xfrm>
        <a:graphic xmlns:a="http://schemas.openxmlformats.org/drawingml/2006/main">
          <a:graphicData uri="http://schemas.openxmlformats.org/drawingml/2006/table">
            <a:tbl>
              <a:tblPr/>
              <a:tblGrid>
                <a:gridCol w="3810000"/>
                <a:gridCol w="5143500"/>
                <a:gridCol w="5143500"/>
              </a:tblGrid>
              <a:tr h="783431">
                <a:tc>
                  <a:txBody>
                    <a:bodyPr lIns="171450" tIns="95250" rIns="152400" bIns="95250"/>
                    <a:lstStyle/>
                    <a:p>
                      <a:r>
                        <a:rPr sz="2400"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Vrijdag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Reactie op Q</a:t>
                      </a:r>
                    </a:p>
                  </a:txBody>
                  <a:tcPr marL="91440" marR="91440" marT="45720" marB="45720" anchor="ctr">
                    <a:solidFill>
                      <a:srgbClr val="183247"/>
                    </a:solidFill>
                  </a:tcPr>
                </a:tc>
              </a:tr>
              <a:tr h="783431">
                <a:tc>
                  <a:txBody>
                    <a:bodyPr lIns="171450" tIns="95250" rIns="152400" bIns="95250"/>
                    <a:lstStyle/>
                    <a:p>
                      <a:r>
                        <a:rPr sz="2400" b="0">
                          <a:solidFill>
                            <a:srgbClr val="183247"/>
                          </a:solidFill>
                          <a:latin typeface="Arial"/>
                          <a:ea typeface="Arial"/>
                          <a:cs typeface="Arial"/>
                        </a:rPr>
                        <a:t>TCK</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€ 1.200 per dag</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Blijft gelijk</a:t>
                      </a:r>
                    </a:p>
                  </a:txBody>
                  <a:tcPr marL="91440" marR="91440" marT="45720" marB="45720" anchor="ctr">
                    <a:solidFill>
                      <a:srgbClr val="FFFFFF"/>
                    </a:solidFill>
                  </a:tcPr>
                </a:tc>
              </a:tr>
              <a:tr h="783431">
                <a:tc>
                  <a:txBody>
                    <a:bodyPr lIns="171450" tIns="95250" rIns="152400" bIns="95250"/>
                    <a:lstStyle/>
                    <a:p>
                      <a:r>
                        <a:rPr sz="2400" b="0">
                          <a:solidFill>
                            <a:srgbClr val="183247"/>
                          </a:solidFill>
                          <a:latin typeface="Arial"/>
                          <a:ea typeface="Arial"/>
                          <a:cs typeface="Arial"/>
                        </a:rPr>
                        <a:t>TVK</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€ 2 per lunchbox × Q</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Verandert met Q</a:t>
                      </a:r>
                    </a:p>
                  </a:txBody>
                  <a:tcPr marL="91440" marR="91440" marT="45720" marB="45720" anchor="ctr">
                    <a:solidFill>
                      <a:srgbClr val="EFF4F7"/>
                    </a:solidFill>
                  </a:tcPr>
                </a:tc>
              </a:tr>
              <a:tr h="783431">
                <a:tc>
                  <a:txBody>
                    <a:bodyPr lIns="171450" tIns="95250" rIns="152400" bIns="95250"/>
                    <a:lstStyle/>
                    <a:p>
                      <a:r>
                        <a:rPr sz="2400" b="0">
                          <a:solidFill>
                            <a:srgbClr val="183247"/>
                          </a:solidFill>
                          <a:latin typeface="Arial"/>
                          <a:ea typeface="Arial"/>
                          <a:cs typeface="Arial"/>
                        </a:rPr>
                        <a:t>Verkoopprijs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€ 5 per lunchbox</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Blijft gelijk</a:t>
                      </a:r>
                    </a:p>
                  </a:txBody>
                  <a:tcPr marL="91440" marR="91440" marT="45720" marB="45720" anchor="ctr">
                    <a:solidFill>
                      <a:srgbClr val="FFFFFF"/>
                    </a:solidFill>
                  </a:tcPr>
                </a:tc>
              </a:tr>
            </a:tbl>
          </a:graphicData>
        </a:graphic>
      </p:graphicFrame>
      <p:sp>
        <p:nvSpPr>
          <p:cNvPr id="6" name="TK = 1.200 + 2Q">
            <a:extLst xmlns:a="http://schemas.openxmlformats.org/drawingml/2006/main">
              <a:ext uri="{FF2B5EF4-FFF2-40B4-BE49-F238E27FC236}">
                <a16:creationId xmlns:a16="http://schemas.microsoft.com/office/drawing/2014/main" id="{6D857565-BFF6-44EA-ACE0-A5624E0594D2}"/>
              </a:ext>
            </a:extLst>
          </p:cNvPr>
          <p:cNvSpPr>
            <a:spLocks xmlns:a="http://schemas.openxmlformats.org/drawingml/2006/main" noGrp="1"/>
          </p:cNvSpPr>
          <p:nvPr/>
        </p:nvSpPr>
        <p:spPr>
          <a:xfrm xmlns:a="http://schemas.openxmlformats.org/drawingml/2006/main">
            <a:off x="571500" y="5657850"/>
            <a:ext cx="714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A94D16"/>
                </a:solidFill>
                <a:latin typeface="Arial"/>
                <a:ea typeface="Arial"/>
                <a:cs typeface="Arial"/>
              </a:defRPr>
            </a:pPr>
            <a:r>
              <a:rPr sz="3375" b="1">
                <a:solidFill>
                  <a:srgbClr val="A94D16"/>
                </a:solidFill>
                <a:latin typeface="Arial"/>
                <a:ea typeface="Arial"/>
                <a:cs typeface="Arial"/>
              </a:rPr>
              <a:t>TK = 1.200 + 2Q</a:t>
            </a:r>
          </a:p>
        </p:txBody>
      </p:sp>
      <p:sp>
        <p:nvSpPr>
          <p:cNvPr id="7" name="TO = 5Q">
            <a:extLst xmlns:a="http://schemas.openxmlformats.org/drawingml/2006/main">
              <a:ext uri="{FF2B5EF4-FFF2-40B4-BE49-F238E27FC236}">
                <a16:creationId xmlns:a16="http://schemas.microsoft.com/office/drawing/2014/main" id="{708A850A-12B4-41C7-9A76-52FDCDB59694}"/>
              </a:ext>
            </a:extLst>
          </p:cNvPr>
          <p:cNvSpPr>
            <a:spLocks xmlns:a="http://schemas.openxmlformats.org/drawingml/2006/main" noGrp="1"/>
          </p:cNvSpPr>
          <p:nvPr/>
        </p:nvSpPr>
        <p:spPr>
          <a:xfrm xmlns:a="http://schemas.openxmlformats.org/drawingml/2006/main">
            <a:off x="8524875" y="5657850"/>
            <a:ext cx="614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TO = 5Q</a:t>
            </a:r>
          </a:p>
        </p:txBody>
      </p:sp>
      <p:sp>
        <p:nvSpPr>
          <p:cNvPr id="8" name="Totalen in € per dag · 0 ≤ Q ≤ 1.000 lunchboxen per dag">
            <a:extLst xmlns:a="http://schemas.openxmlformats.org/drawingml/2006/main">
              <a:ext uri="{FF2B5EF4-FFF2-40B4-BE49-F238E27FC236}">
                <a16:creationId xmlns:a16="http://schemas.microsoft.com/office/drawing/2014/main" id="{F950D34B-941C-4D93-9351-B7089D5A23FA}"/>
              </a:ext>
            </a:extLst>
          </p:cNvPr>
          <p:cNvSpPr>
            <a:spLocks xmlns:a="http://schemas.openxmlformats.org/drawingml/2006/main" noGrp="1"/>
          </p:cNvSpPr>
          <p:nvPr/>
        </p:nvSpPr>
        <p:spPr>
          <a:xfrm xmlns:a="http://schemas.openxmlformats.org/drawingml/2006/main">
            <a:off x="571500" y="66103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Totalen in € per dag · 0 ≤ Q ≤ 1.000 lunchboxen per dag</a:t>
            </a:r>
          </a:p>
        </p:txBody>
      </p:sp>
      <p:sp>
        <p:nvSpPr>
          <p:cNvPr id="9" name="4.000 bezoekers is niet nodig voor TK en TO.">
            <a:extLst xmlns:a="http://schemas.openxmlformats.org/drawingml/2006/main">
              <a:ext uri="{FF2B5EF4-FFF2-40B4-BE49-F238E27FC236}">
                <a16:creationId xmlns:a16="http://schemas.microsoft.com/office/drawing/2014/main" id="{034134B5-D415-45D6-8F6F-25B8160485D5}"/>
              </a:ext>
            </a:extLst>
          </p:cNvPr>
          <p:cNvSpPr>
            <a:spLocks xmlns:a="http://schemas.openxmlformats.org/drawingml/2006/main" noGrp="1"/>
          </p:cNvSpPr>
          <p:nvPr/>
        </p:nvSpPr>
        <p:spPr>
          <a:xfrm xmlns:a="http://schemas.openxmlformats.org/drawingml/2006/main">
            <a:off x="571500" y="7429500"/>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4.000 bezoekers is niet nodig voor TK en TO.</a:t>
            </a:r>
          </a:p>
        </p:txBody>
      </p:sp>
    </p:spTree>
    <p:extLst>
      <p:ext uri="{BB962C8B-B14F-4D97-AF65-F5344CB8AC3E}">
        <p14:creationId xmlns:p14="http://schemas.microsoft.com/office/powerpoint/2010/main" val="52672717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Opgave 5b · De break-even-afzet">
            <a:extLst xmlns:a="http://schemas.openxmlformats.org/drawingml/2006/main">
              <a:ext uri="{FF2B5EF4-FFF2-40B4-BE49-F238E27FC236}">
                <a16:creationId xmlns:a16="http://schemas.microsoft.com/office/drawing/2014/main" id="{A142731B-0C6E-4AB8-A6AA-40FF44C6FB2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5b · De break-even-afzet</a:t>
            </a:r>
          </a:p>
        </p:txBody>
      </p:sp>
      <p:sp>
        <p:nvSpPr>
          <p:cNvPr id="2" name="">
            <a:extLst xmlns:a="http://schemas.openxmlformats.org/drawingml/2006/main">
              <a:ext uri="{FF2B5EF4-FFF2-40B4-BE49-F238E27FC236}">
                <a16:creationId xmlns:a16="http://schemas.microsoft.com/office/drawing/2014/main" id="{78FE59CF-AE55-42CF-93BD-BBC1B9DCE6B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Opgave 5 · Boekpagina 32–33">
            <a:extLst xmlns:a="http://schemas.openxmlformats.org/drawingml/2006/main">
              <a:ext uri="{FF2B5EF4-FFF2-40B4-BE49-F238E27FC236}">
                <a16:creationId xmlns:a16="http://schemas.microsoft.com/office/drawing/2014/main" id="{04F0608F-2E1E-4E32-AEB6-48440264A80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Opgave 5 · Boekpagina 32–33</a:t>
            </a:r>
          </a:p>
        </p:txBody>
      </p:sp>
      <p:sp>
        <p:nvSpPr>
          <p:cNvPr id="4" name="slide-number">
            <a:extLst xmlns:a="http://schemas.openxmlformats.org/drawingml/2006/main">
              <a:ext uri="{FF2B5EF4-FFF2-40B4-BE49-F238E27FC236}">
                <a16:creationId xmlns:a16="http://schemas.microsoft.com/office/drawing/2014/main" id="{2214BB2F-21C0-4042-B43E-D0F2AD5F6A8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TO = TK">
            <a:extLst xmlns:a="http://schemas.openxmlformats.org/drawingml/2006/main">
              <a:ext uri="{FF2B5EF4-FFF2-40B4-BE49-F238E27FC236}">
                <a16:creationId xmlns:a16="http://schemas.microsoft.com/office/drawing/2014/main" id="{3B1E123D-386E-4414-8634-CBCE1C60D952}"/>
              </a:ext>
            </a:extLst>
          </p:cNvPr>
          <p:cNvSpPr>
            <a:spLocks xmlns:a="http://schemas.openxmlformats.org/drawingml/2006/main" noGrp="1"/>
          </p:cNvSpPr>
          <p:nvPr/>
        </p:nvSpPr>
        <p:spPr>
          <a:xfrm xmlns:a="http://schemas.openxmlformats.org/drawingml/2006/main">
            <a:off x="571500" y="1981200"/>
            <a:ext cx="881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TO = TK</a:t>
            </a:r>
          </a:p>
        </p:txBody>
      </p:sp>
      <p:sp>
        <p:nvSpPr>
          <p:cNvPr id="6" name="Opbrengst dekt alle kosten">
            <a:extLst xmlns:a="http://schemas.openxmlformats.org/drawingml/2006/main">
              <a:ext uri="{FF2B5EF4-FFF2-40B4-BE49-F238E27FC236}">
                <a16:creationId xmlns:a16="http://schemas.microsoft.com/office/drawing/2014/main" id="{33D0240E-4EF2-4378-A743-D74EDE391655}"/>
              </a:ext>
            </a:extLst>
          </p:cNvPr>
          <p:cNvSpPr>
            <a:spLocks xmlns:a="http://schemas.openxmlformats.org/drawingml/2006/main" noGrp="1"/>
          </p:cNvSpPr>
          <p:nvPr/>
        </p:nvSpPr>
        <p:spPr>
          <a:xfrm xmlns:a="http://schemas.openxmlformats.org/drawingml/2006/main">
            <a:off x="9858375" y="2047875"/>
            <a:ext cx="4810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Opbrengst dekt alle kosten</a:t>
            </a:r>
          </a:p>
        </p:txBody>
      </p:sp>
      <p:sp>
        <p:nvSpPr>
          <p:cNvPr id="7" name="5Q = 1.200 + 2Q">
            <a:extLst xmlns:a="http://schemas.openxmlformats.org/drawingml/2006/main">
              <a:ext uri="{FF2B5EF4-FFF2-40B4-BE49-F238E27FC236}">
                <a16:creationId xmlns:a16="http://schemas.microsoft.com/office/drawing/2014/main" id="{5FFF7466-62FA-433A-83B3-7659749A298C}"/>
              </a:ext>
            </a:extLst>
          </p:cNvPr>
          <p:cNvSpPr>
            <a:spLocks xmlns:a="http://schemas.openxmlformats.org/drawingml/2006/main" noGrp="1"/>
          </p:cNvSpPr>
          <p:nvPr/>
        </p:nvSpPr>
        <p:spPr>
          <a:xfrm xmlns:a="http://schemas.openxmlformats.org/drawingml/2006/main">
            <a:off x="571500" y="3238500"/>
            <a:ext cx="881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5Q = 1.200 + 2Q</a:t>
            </a:r>
          </a:p>
        </p:txBody>
      </p:sp>
      <p:sp>
        <p:nvSpPr>
          <p:cNvPr id="8" name="Functies invullen">
            <a:extLst xmlns:a="http://schemas.openxmlformats.org/drawingml/2006/main">
              <a:ext uri="{FF2B5EF4-FFF2-40B4-BE49-F238E27FC236}">
                <a16:creationId xmlns:a16="http://schemas.microsoft.com/office/drawing/2014/main" id="{8F0BEBF2-0586-4BDD-B111-81250C5DA57D}"/>
              </a:ext>
            </a:extLst>
          </p:cNvPr>
          <p:cNvSpPr>
            <a:spLocks xmlns:a="http://schemas.openxmlformats.org/drawingml/2006/main" noGrp="1"/>
          </p:cNvSpPr>
          <p:nvPr/>
        </p:nvSpPr>
        <p:spPr>
          <a:xfrm xmlns:a="http://schemas.openxmlformats.org/drawingml/2006/main">
            <a:off x="9858375" y="3305175"/>
            <a:ext cx="4810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Functies invullen</a:t>
            </a:r>
          </a:p>
        </p:txBody>
      </p:sp>
      <p:sp>
        <p:nvSpPr>
          <p:cNvPr id="9" name="3Q = 1.200">
            <a:extLst xmlns:a="http://schemas.openxmlformats.org/drawingml/2006/main">
              <a:ext uri="{FF2B5EF4-FFF2-40B4-BE49-F238E27FC236}">
                <a16:creationId xmlns:a16="http://schemas.microsoft.com/office/drawing/2014/main" id="{E4F76C9D-B991-4449-BE5F-723A2E4DC0B8}"/>
              </a:ext>
            </a:extLst>
          </p:cNvPr>
          <p:cNvSpPr>
            <a:spLocks xmlns:a="http://schemas.openxmlformats.org/drawingml/2006/main" noGrp="1"/>
          </p:cNvSpPr>
          <p:nvPr/>
        </p:nvSpPr>
        <p:spPr>
          <a:xfrm xmlns:a="http://schemas.openxmlformats.org/drawingml/2006/main">
            <a:off x="571500" y="4495800"/>
            <a:ext cx="881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3Q = 1.200</a:t>
            </a:r>
          </a:p>
        </p:txBody>
      </p:sp>
      <p:sp>
        <p:nvSpPr>
          <p:cNvPr id="10" name="Aan beide kanten 2Q aftrekken">
            <a:extLst xmlns:a="http://schemas.openxmlformats.org/drawingml/2006/main">
              <a:ext uri="{FF2B5EF4-FFF2-40B4-BE49-F238E27FC236}">
                <a16:creationId xmlns:a16="http://schemas.microsoft.com/office/drawing/2014/main" id="{A5CAD3AA-F53E-4E1A-B320-38CDBD45C71F}"/>
              </a:ext>
            </a:extLst>
          </p:cNvPr>
          <p:cNvSpPr>
            <a:spLocks xmlns:a="http://schemas.openxmlformats.org/drawingml/2006/main" noGrp="1"/>
          </p:cNvSpPr>
          <p:nvPr/>
        </p:nvSpPr>
        <p:spPr>
          <a:xfrm xmlns:a="http://schemas.openxmlformats.org/drawingml/2006/main">
            <a:off x="9858375" y="4562475"/>
            <a:ext cx="4810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Aan beide kanten 2Q aftrekken</a:t>
            </a:r>
          </a:p>
        </p:txBody>
      </p:sp>
      <p:sp>
        <p:nvSpPr>
          <p:cNvPr id="11" name="Q = 1.200 / 3 = 400">
            <a:extLst xmlns:a="http://schemas.openxmlformats.org/drawingml/2006/main">
              <a:ext uri="{FF2B5EF4-FFF2-40B4-BE49-F238E27FC236}">
                <a16:creationId xmlns:a16="http://schemas.microsoft.com/office/drawing/2014/main" id="{851EDB28-EAEB-485D-B0E9-524067662F2A}"/>
              </a:ext>
            </a:extLst>
          </p:cNvPr>
          <p:cNvSpPr>
            <a:spLocks xmlns:a="http://schemas.openxmlformats.org/drawingml/2006/main" noGrp="1"/>
          </p:cNvSpPr>
          <p:nvPr/>
        </p:nvSpPr>
        <p:spPr>
          <a:xfrm xmlns:a="http://schemas.openxmlformats.org/drawingml/2006/main">
            <a:off x="571500" y="5753100"/>
            <a:ext cx="881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665B"/>
                </a:solidFill>
                <a:latin typeface="Arial"/>
                <a:ea typeface="Arial"/>
                <a:cs typeface="Arial"/>
              </a:defRPr>
            </a:pPr>
            <a:r>
              <a:rPr sz="3375" b="1">
                <a:solidFill>
                  <a:srgbClr val="20665B"/>
                </a:solidFill>
                <a:latin typeface="Arial"/>
                <a:ea typeface="Arial"/>
                <a:cs typeface="Arial"/>
              </a:rPr>
              <a:t>Q = 1.200 / 3 = 400</a:t>
            </a:r>
          </a:p>
        </p:txBody>
      </p:sp>
      <p:sp>
        <p:nvSpPr>
          <p:cNvPr id="12" name="Lunchboxen per dag">
            <a:extLst xmlns:a="http://schemas.openxmlformats.org/drawingml/2006/main">
              <a:ext uri="{FF2B5EF4-FFF2-40B4-BE49-F238E27FC236}">
                <a16:creationId xmlns:a16="http://schemas.microsoft.com/office/drawing/2014/main" id="{0E08E1AF-9D88-495E-910B-9A539015A3F0}"/>
              </a:ext>
            </a:extLst>
          </p:cNvPr>
          <p:cNvSpPr>
            <a:spLocks xmlns:a="http://schemas.openxmlformats.org/drawingml/2006/main" noGrp="1"/>
          </p:cNvSpPr>
          <p:nvPr/>
        </p:nvSpPr>
        <p:spPr>
          <a:xfrm xmlns:a="http://schemas.openxmlformats.org/drawingml/2006/main">
            <a:off x="9858375" y="5819775"/>
            <a:ext cx="4810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Lunchboxen per dag</a:t>
            </a:r>
          </a:p>
        </p:txBody>
      </p:sp>
      <p:sp>
        <p:nvSpPr>
          <p:cNvPr id="13" name="Controle: TO = 5 × 400 = € 2.000 per dag">
            <a:extLst xmlns:a="http://schemas.openxmlformats.org/drawingml/2006/main">
              <a:ext uri="{FF2B5EF4-FFF2-40B4-BE49-F238E27FC236}">
                <a16:creationId xmlns:a16="http://schemas.microsoft.com/office/drawing/2014/main" id="{178502E4-B291-45C1-AFCD-840D0713BDF9}"/>
              </a:ext>
            </a:extLst>
          </p:cNvPr>
          <p:cNvSpPr>
            <a:spLocks xmlns:a="http://schemas.openxmlformats.org/drawingml/2006/main" noGrp="1"/>
          </p:cNvSpPr>
          <p:nvPr/>
        </p:nvSpPr>
        <p:spPr>
          <a:xfrm xmlns:a="http://schemas.openxmlformats.org/drawingml/2006/main">
            <a:off x="571500" y="7143750"/>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Controle: TO = 5 × 400 = € 2.000 per dag</a:t>
            </a:r>
          </a:p>
        </p:txBody>
      </p:sp>
      <p:sp>
        <p:nvSpPr>
          <p:cNvPr id="14" name="TK = 1.200 + 2 × 400 = € 2.000 per dag. Winst = € 0.">
            <a:extLst xmlns:a="http://schemas.openxmlformats.org/drawingml/2006/main">
              <a:ext uri="{FF2B5EF4-FFF2-40B4-BE49-F238E27FC236}">
                <a16:creationId xmlns:a16="http://schemas.microsoft.com/office/drawing/2014/main" id="{BF1F71CD-B22E-415E-994E-56FBAB065D29}"/>
              </a:ext>
            </a:extLst>
          </p:cNvPr>
          <p:cNvSpPr>
            <a:spLocks xmlns:a="http://schemas.openxmlformats.org/drawingml/2006/main" noGrp="1"/>
          </p:cNvSpPr>
          <p:nvPr/>
        </p:nvSpPr>
        <p:spPr>
          <a:xfrm xmlns:a="http://schemas.openxmlformats.org/drawingml/2006/main">
            <a:off x="571500" y="76009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TK = 1.200 + 2 × 400 = € 2.000 per dag. Winst = € 0.</a:t>
            </a:r>
          </a:p>
        </p:txBody>
      </p:sp>
    </p:spTree>
    <p:extLst>
      <p:ext uri="{BB962C8B-B14F-4D97-AF65-F5344CB8AC3E}">
        <p14:creationId xmlns:p14="http://schemas.microsoft.com/office/powerpoint/2010/main" val="104496947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5c · Vrijdag bij 700 lunchboxen">
            <a:extLst xmlns:a="http://schemas.openxmlformats.org/drawingml/2006/main">
              <a:ext uri="{FF2B5EF4-FFF2-40B4-BE49-F238E27FC236}">
                <a16:creationId xmlns:a16="http://schemas.microsoft.com/office/drawing/2014/main" id="{115E5094-5135-48A1-B321-46C52E4EE84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5c · Vrijdag bij 700 lunchboxen</a:t>
            </a:r>
          </a:p>
        </p:txBody>
      </p:sp>
      <p:sp>
        <p:nvSpPr>
          <p:cNvPr id="2" name="">
            <a:extLst xmlns:a="http://schemas.openxmlformats.org/drawingml/2006/main">
              <a:ext uri="{FF2B5EF4-FFF2-40B4-BE49-F238E27FC236}">
                <a16:creationId xmlns:a16="http://schemas.microsoft.com/office/drawing/2014/main" id="{8D716639-F3AC-4D56-A02D-FAD9FD372AF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Opgave 5 · Boekpagina 32–33">
            <a:extLst xmlns:a="http://schemas.openxmlformats.org/drawingml/2006/main">
              <a:ext uri="{FF2B5EF4-FFF2-40B4-BE49-F238E27FC236}">
                <a16:creationId xmlns:a16="http://schemas.microsoft.com/office/drawing/2014/main" id="{019185CC-93E8-4F9B-BF5B-FBC2F101C21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Opgave 5 · Boekpagina 32–33</a:t>
            </a:r>
          </a:p>
        </p:txBody>
      </p:sp>
      <p:sp>
        <p:nvSpPr>
          <p:cNvPr id="4" name="slide-number">
            <a:extLst xmlns:a="http://schemas.openxmlformats.org/drawingml/2006/main">
              <a:ext uri="{FF2B5EF4-FFF2-40B4-BE49-F238E27FC236}">
                <a16:creationId xmlns:a16="http://schemas.microsoft.com/office/drawing/2014/main" id="{FAD7507A-9A86-456D-BDB8-55EA9B19A65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TK = 1.200 + 2 × 700 = € 2.600 per dag">
            <a:extLst xmlns:a="http://schemas.openxmlformats.org/drawingml/2006/main">
              <a:ext uri="{FF2B5EF4-FFF2-40B4-BE49-F238E27FC236}">
                <a16:creationId xmlns:a16="http://schemas.microsoft.com/office/drawing/2014/main" id="{26CA2967-6B65-4C02-BD1B-7188F57FF5B9}"/>
              </a:ext>
            </a:extLst>
          </p:cNvPr>
          <p:cNvSpPr>
            <a:spLocks xmlns:a="http://schemas.openxmlformats.org/drawingml/2006/main" noGrp="1"/>
          </p:cNvSpPr>
          <p:nvPr/>
        </p:nvSpPr>
        <p:spPr>
          <a:xfrm xmlns:a="http://schemas.openxmlformats.org/drawingml/2006/main">
            <a:off x="571500" y="205740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A94D16"/>
                </a:solidFill>
                <a:latin typeface="Arial"/>
                <a:ea typeface="Arial"/>
                <a:cs typeface="Arial"/>
              </a:defRPr>
            </a:pPr>
            <a:r>
              <a:rPr sz="3300" b="1">
                <a:solidFill>
                  <a:srgbClr val="A94D16"/>
                </a:solidFill>
                <a:latin typeface="Arial"/>
                <a:ea typeface="Arial"/>
                <a:cs typeface="Arial"/>
              </a:rPr>
              <a:t>TK = 1.200 + 2 × 700 = € 2.600 per dag</a:t>
            </a:r>
          </a:p>
        </p:txBody>
      </p:sp>
      <p:sp>
        <p:nvSpPr>
          <p:cNvPr id="6" name="TO = 5 × 700 = € 3.500 per dag">
            <a:extLst xmlns:a="http://schemas.openxmlformats.org/drawingml/2006/main">
              <a:ext uri="{FF2B5EF4-FFF2-40B4-BE49-F238E27FC236}">
                <a16:creationId xmlns:a16="http://schemas.microsoft.com/office/drawing/2014/main" id="{E632BAFF-48CB-4F23-A465-5F2B02B72735}"/>
              </a:ext>
            </a:extLst>
          </p:cNvPr>
          <p:cNvSpPr>
            <a:spLocks xmlns:a="http://schemas.openxmlformats.org/drawingml/2006/main" noGrp="1"/>
          </p:cNvSpPr>
          <p:nvPr/>
        </p:nvSpPr>
        <p:spPr>
          <a:xfrm xmlns:a="http://schemas.openxmlformats.org/drawingml/2006/main">
            <a:off x="571500" y="3171825"/>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TO = 5 × 700 = € 3.500 per dag</a:t>
            </a:r>
          </a:p>
        </p:txBody>
      </p:sp>
      <p:sp>
        <p:nvSpPr>
          <p:cNvPr id="7" name="">
            <a:extLst xmlns:a="http://schemas.openxmlformats.org/drawingml/2006/main">
              <a:ext uri="{FF2B5EF4-FFF2-40B4-BE49-F238E27FC236}">
                <a16:creationId xmlns:a16="http://schemas.microsoft.com/office/drawing/2014/main" id="{6A97BB48-FCC7-4029-A771-89F6C1CEDEBB}"/>
              </a:ext>
            </a:extLst>
          </p:cNvPr>
          <p:cNvSpPr>
            <a:spLocks xmlns:a="http://schemas.openxmlformats.org/drawingml/2006/main" noGrp="1"/>
          </p:cNvSpPr>
          <p:nvPr/>
        </p:nvSpPr>
        <p:spPr>
          <a:xfrm xmlns:a="http://schemas.openxmlformats.org/drawingml/2006/main">
            <a:off x="571500" y="4371975"/>
            <a:ext cx="14097000" cy="0"/>
          </a:xfrm>
          <a:prstGeom xmlns:a="http://schemas.openxmlformats.org/drawingml/2006/main" prst="line">
            <a:avLst/>
          </a:prstGeom>
          <a:ln xmlns:a="http://schemas.openxmlformats.org/drawingml/2006/main" w="19050">
            <a:solidFill>
              <a:srgbClr val="C6D2DB"/>
            </a:solidFill>
          </a:ln>
        </p:spPr>
      </p:sp>
      <p:sp>
        <p:nvSpPr>
          <p:cNvPr id="8" name="Winst = TO − TK = 3.500 − 2.600">
            <a:extLst xmlns:a="http://schemas.openxmlformats.org/drawingml/2006/main">
              <a:ext uri="{FF2B5EF4-FFF2-40B4-BE49-F238E27FC236}">
                <a16:creationId xmlns:a16="http://schemas.microsoft.com/office/drawing/2014/main" id="{EA313D9E-D504-4CDA-82D2-0928B395930F}"/>
              </a:ext>
            </a:extLst>
          </p:cNvPr>
          <p:cNvSpPr>
            <a:spLocks xmlns:a="http://schemas.openxmlformats.org/drawingml/2006/main" noGrp="1"/>
          </p:cNvSpPr>
          <p:nvPr/>
        </p:nvSpPr>
        <p:spPr>
          <a:xfrm xmlns:a="http://schemas.openxmlformats.org/drawingml/2006/main">
            <a:off x="571500" y="4895850"/>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Winst = TO − TK = 3.500 − 2.600</a:t>
            </a:r>
          </a:p>
        </p:txBody>
      </p:sp>
      <p:sp>
        <p:nvSpPr>
          <p:cNvPr id="9" name="= € 900 per dag">
            <a:extLst xmlns:a="http://schemas.openxmlformats.org/drawingml/2006/main">
              <a:ext uri="{FF2B5EF4-FFF2-40B4-BE49-F238E27FC236}">
                <a16:creationId xmlns:a16="http://schemas.microsoft.com/office/drawing/2014/main" id="{C39DCD71-EA38-4D8F-BAE7-8831B73055CA}"/>
              </a:ext>
            </a:extLst>
          </p:cNvPr>
          <p:cNvSpPr>
            <a:spLocks xmlns:a="http://schemas.openxmlformats.org/drawingml/2006/main" noGrp="1"/>
          </p:cNvSpPr>
          <p:nvPr/>
        </p:nvSpPr>
        <p:spPr>
          <a:xfrm xmlns:a="http://schemas.openxmlformats.org/drawingml/2006/main">
            <a:off x="571500" y="5591175"/>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665B"/>
                </a:solidFill>
                <a:latin typeface="Arial"/>
                <a:ea typeface="Arial"/>
                <a:cs typeface="Arial"/>
              </a:defRPr>
            </a:pPr>
            <a:r>
              <a:rPr sz="3375" b="1">
                <a:solidFill>
                  <a:srgbClr val="20665B"/>
                </a:solidFill>
                <a:latin typeface="Arial"/>
                <a:ea typeface="Arial"/>
                <a:cs typeface="Arial"/>
              </a:rPr>
              <a:t>= € 900 per dag</a:t>
            </a:r>
          </a:p>
        </p:txBody>
      </p:sp>
      <p:sp>
        <p:nvSpPr>
          <p:cNvPr id="10" name="GTK = TK / Q = 2.600 / 700 ≈ € 3,71 per lunchbox">
            <a:extLst xmlns:a="http://schemas.openxmlformats.org/drawingml/2006/main">
              <a:ext uri="{FF2B5EF4-FFF2-40B4-BE49-F238E27FC236}">
                <a16:creationId xmlns:a16="http://schemas.microsoft.com/office/drawing/2014/main" id="{323AAF3C-79E0-4250-A23A-363EE8AEFC18}"/>
              </a:ext>
            </a:extLst>
          </p:cNvPr>
          <p:cNvSpPr>
            <a:spLocks xmlns:a="http://schemas.openxmlformats.org/drawingml/2006/main" noGrp="1"/>
          </p:cNvSpPr>
          <p:nvPr/>
        </p:nvSpPr>
        <p:spPr>
          <a:xfrm xmlns:a="http://schemas.openxmlformats.org/drawingml/2006/main">
            <a:off x="571500" y="7000875"/>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GTK = TK / Q = 2.600 / 700 ≈ € 3,71 per lunchbox</a:t>
            </a:r>
          </a:p>
        </p:txBody>
      </p:sp>
    </p:spTree>
    <p:extLst>
      <p:ext uri="{BB962C8B-B14F-4D97-AF65-F5344CB8AC3E}">
        <p14:creationId xmlns:p14="http://schemas.microsoft.com/office/powerpoint/2010/main" val="144910445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5d · MK en MO op zaterdag">
            <a:extLst xmlns:a="http://schemas.openxmlformats.org/drawingml/2006/main">
              <a:ext uri="{FF2B5EF4-FFF2-40B4-BE49-F238E27FC236}">
                <a16:creationId xmlns:a16="http://schemas.microsoft.com/office/drawing/2014/main" id="{05D3AED9-B2A6-405B-943C-F1CFEC492A1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5d · MK en MO op zaterdag</a:t>
            </a:r>
          </a:p>
        </p:txBody>
      </p:sp>
      <p:sp>
        <p:nvSpPr>
          <p:cNvPr id="2" name="">
            <a:extLst xmlns:a="http://schemas.openxmlformats.org/drawingml/2006/main">
              <a:ext uri="{FF2B5EF4-FFF2-40B4-BE49-F238E27FC236}">
                <a16:creationId xmlns:a16="http://schemas.microsoft.com/office/drawing/2014/main" id="{3804EE23-B99F-44E9-B498-F6C105A9927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Opgave 5 · Boekpagina 32–33">
            <a:extLst xmlns:a="http://schemas.openxmlformats.org/drawingml/2006/main">
              <a:ext uri="{FF2B5EF4-FFF2-40B4-BE49-F238E27FC236}">
                <a16:creationId xmlns:a16="http://schemas.microsoft.com/office/drawing/2014/main" id="{9524D79E-8639-4031-BFC8-D89BABF4997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Opgave 5 · Boekpagina 32–33</a:t>
            </a:r>
          </a:p>
        </p:txBody>
      </p:sp>
      <p:sp>
        <p:nvSpPr>
          <p:cNvPr id="4" name="slide-number">
            <a:extLst xmlns:a="http://schemas.openxmlformats.org/drawingml/2006/main">
              <a:ext uri="{FF2B5EF4-FFF2-40B4-BE49-F238E27FC236}">
                <a16:creationId xmlns:a16="http://schemas.microsoft.com/office/drawing/2014/main" id="{AD971604-AF26-4948-AE23-439F65DB307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MK = ΔTK / ΔQ     MO = ΔTO / ΔQ">
            <a:extLst xmlns:a="http://schemas.openxmlformats.org/drawingml/2006/main">
              <a:ext uri="{FF2B5EF4-FFF2-40B4-BE49-F238E27FC236}">
                <a16:creationId xmlns:a16="http://schemas.microsoft.com/office/drawing/2014/main" id="{BCECA4A9-9F9D-49DC-9F68-891AD949A3D1}"/>
              </a:ext>
            </a:extLst>
          </p:cNvPr>
          <p:cNvSpPr>
            <a:spLocks xmlns:a="http://schemas.openxmlformats.org/drawingml/2006/main" noGrp="1"/>
          </p:cNvSpPr>
          <p:nvPr/>
        </p:nvSpPr>
        <p:spPr>
          <a:xfrm xmlns:a="http://schemas.openxmlformats.org/drawingml/2006/main">
            <a:off x="571500" y="1752600"/>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MK = ΔTK / ΔQ     MO = ΔTO / ΔQ</a:t>
            </a:r>
          </a:p>
        </p:txBody>
      </p:sp>
      <p:graphicFrame>
        <p:nvGraphicFramePr>
          <p:cNvPr id="13" name=""/>
          <p:cNvGraphicFramePr/>
          <p:nvPr/>
        </p:nvGraphicFramePr>
        <p:xfrm>
          <a:off xmlns:a="http://schemas.openxmlformats.org/drawingml/2006/main" x="571500" y="2828925"/>
          <a:ext xmlns:a="http://schemas.openxmlformats.org/drawingml/2006/main" cx="14097000" cy="4191000"/>
        </p:xfrm>
        <a:graphic xmlns:a="http://schemas.openxmlformats.org/drawingml/2006/main">
          <a:graphicData uri="http://schemas.openxmlformats.org/drawingml/2006/table">
            <a:tbl>
              <a:tblPr/>
              <a:tblGrid>
                <a:gridCol w="3619500"/>
                <a:gridCol w="5238750"/>
                <a:gridCol w="5238750"/>
              </a:tblGrid>
              <a:tr h="1047750">
                <a:tc>
                  <a:txBody>
                    <a:bodyPr lIns="171450" tIns="95250" rIns="152400" bIns="95250"/>
                    <a:lstStyle/>
                    <a:p>
                      <a:r>
                        <a:rPr sz="2250" b="1">
                          <a:solidFill>
                            <a:srgbClr val="FFFFFF"/>
                          </a:solidFill>
                          <a:latin typeface="Arial"/>
                          <a:ea typeface="Arial"/>
                          <a:cs typeface="Arial"/>
                        </a:rPr>
                        <a:t>Stap (lunchboxen)</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MK (€ per extra lunchbox)</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MO (€ per extra lunchbox)</a:t>
                      </a:r>
                    </a:p>
                  </a:txBody>
                  <a:tcPr marL="91440" marR="91440" marT="45720" marB="45720" anchor="ctr">
                    <a:solidFill>
                      <a:srgbClr val="183247"/>
                    </a:solidFill>
                  </a:tcPr>
                </a:tc>
              </a:tr>
              <a:tr h="1047750">
                <a:tc>
                  <a:txBody>
                    <a:bodyPr lIns="171450" tIns="95250" rIns="152400" bIns="95250"/>
                    <a:lstStyle/>
                    <a:p>
                      <a:r>
                        <a:rPr sz="2250" b="0">
                          <a:solidFill>
                            <a:srgbClr val="183247"/>
                          </a:solidFill>
                          <a:latin typeface="Arial"/>
                          <a:ea typeface="Arial"/>
                          <a:cs typeface="Arial"/>
                        </a:rPr>
                        <a:t>700 naar 800</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(2.900 − 2.600) /</a:t>
                      </a:r>
                    </a:p>
                    <a:p>
                      <a:r>
                        <a:rPr sz="2250" b="0">
                          <a:solidFill>
                            <a:srgbClr val="183247"/>
                          </a:solidFill>
                          <a:latin typeface="Arial"/>
                          <a:ea typeface="Arial"/>
                          <a:cs typeface="Arial"/>
                        </a:rPr>
                        <a:t>(800 − 700) = 3,00</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(4.000 − 3.500) /</a:t>
                      </a:r>
                    </a:p>
                    <a:p>
                      <a:r>
                        <a:rPr sz="2250" b="0">
                          <a:solidFill>
                            <a:srgbClr val="183247"/>
                          </a:solidFill>
                          <a:latin typeface="Arial"/>
                          <a:ea typeface="Arial"/>
                          <a:cs typeface="Arial"/>
                        </a:rPr>
                        <a:t>(800 − 700) = 5,00</a:t>
                      </a:r>
                    </a:p>
                  </a:txBody>
                  <a:tcPr marL="91440" marR="91440" marT="45720" marB="45720" anchor="ctr">
                    <a:solidFill>
                      <a:srgbClr val="FFFFFF"/>
                    </a:solidFill>
                  </a:tcPr>
                </a:tc>
              </a:tr>
              <a:tr h="1047750">
                <a:tc>
                  <a:txBody>
                    <a:bodyPr lIns="171450" tIns="95250" rIns="152400" bIns="95250"/>
                    <a:lstStyle/>
                    <a:p>
                      <a:r>
                        <a:rPr sz="2250" b="0">
                          <a:solidFill>
                            <a:srgbClr val="183247"/>
                          </a:solidFill>
                          <a:latin typeface="Arial"/>
                          <a:ea typeface="Arial"/>
                          <a:cs typeface="Arial"/>
                        </a:rPr>
                        <a:t>800 naar 900</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(3.250 − 2.900) /</a:t>
                      </a:r>
                    </a:p>
                    <a:p>
                      <a:r>
                        <a:rPr sz="2250" b="0">
                          <a:solidFill>
                            <a:srgbClr val="183247"/>
                          </a:solidFill>
                          <a:latin typeface="Arial"/>
                          <a:ea typeface="Arial"/>
                          <a:cs typeface="Arial"/>
                        </a:rPr>
                        <a:t>(900 − 800) = 3,50</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(4.500 − 4.000) /</a:t>
                      </a:r>
                    </a:p>
                    <a:p>
                      <a:r>
                        <a:rPr sz="2250" b="0">
                          <a:solidFill>
                            <a:srgbClr val="183247"/>
                          </a:solidFill>
                          <a:latin typeface="Arial"/>
                          <a:ea typeface="Arial"/>
                          <a:cs typeface="Arial"/>
                        </a:rPr>
                        <a:t>(900 − 800) = 5,00</a:t>
                      </a:r>
                    </a:p>
                  </a:txBody>
                  <a:tcPr marL="91440" marR="91440" marT="45720" marB="45720" anchor="ctr">
                    <a:solidFill>
                      <a:srgbClr val="EFF4F7"/>
                    </a:solidFill>
                  </a:tcPr>
                </a:tc>
              </a:tr>
              <a:tr h="1047750">
                <a:tc>
                  <a:txBody>
                    <a:bodyPr lIns="171450" tIns="95250" rIns="152400" bIns="95250"/>
                    <a:lstStyle/>
                    <a:p>
                      <a:r>
                        <a:rPr sz="2250" b="0">
                          <a:solidFill>
                            <a:srgbClr val="183247"/>
                          </a:solidFill>
                          <a:latin typeface="Arial"/>
                          <a:ea typeface="Arial"/>
                          <a:cs typeface="Arial"/>
                        </a:rPr>
                        <a:t>900 naar 1.000</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(3.650 − 3.250) /</a:t>
                      </a:r>
                    </a:p>
                    <a:p>
                      <a:r>
                        <a:rPr sz="2250" b="0">
                          <a:solidFill>
                            <a:srgbClr val="183247"/>
                          </a:solidFill>
                          <a:latin typeface="Arial"/>
                          <a:ea typeface="Arial"/>
                          <a:cs typeface="Arial"/>
                        </a:rPr>
                        <a:t>(1.000 − 900) = 4,00</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(5.000 − 4.500) /</a:t>
                      </a:r>
                    </a:p>
                    <a:p>
                      <a:r>
                        <a:rPr sz="2250" b="0">
                          <a:solidFill>
                            <a:srgbClr val="183247"/>
                          </a:solidFill>
                          <a:latin typeface="Arial"/>
                          <a:ea typeface="Arial"/>
                          <a:cs typeface="Arial"/>
                        </a:rPr>
                        <a:t>(1.000 − 900) = 5,00</a:t>
                      </a:r>
                    </a:p>
                  </a:txBody>
                  <a:tcPr marL="91440" marR="91440" marT="45720" marB="45720" anchor="ctr">
                    <a:solidFill>
                      <a:srgbClr val="FFFFFF"/>
                    </a:solidFill>
                  </a:tcPr>
                </a:tc>
              </a:tr>
            </a:tbl>
          </a:graphicData>
        </a:graphic>
      </p:graphicFrame>
      <p:sp>
        <p:nvSpPr>
          <p:cNvPr id="7" name="De extra kosten per lunchbox stijgen.&#10;De extra opbrengst bli">
            <a:extLst xmlns:a="http://schemas.openxmlformats.org/drawingml/2006/main">
              <a:ext uri="{FF2B5EF4-FFF2-40B4-BE49-F238E27FC236}">
                <a16:creationId xmlns:a16="http://schemas.microsoft.com/office/drawing/2014/main" id="{168684C9-43B1-40B4-91CB-07E37D7E9891}"/>
              </a:ext>
            </a:extLst>
          </p:cNvPr>
          <p:cNvSpPr>
            <a:spLocks xmlns:a="http://schemas.openxmlformats.org/drawingml/2006/main" noGrp="1"/>
          </p:cNvSpPr>
          <p:nvPr/>
        </p:nvSpPr>
        <p:spPr>
          <a:xfrm xmlns:a="http://schemas.openxmlformats.org/drawingml/2006/main">
            <a:off x="571500" y="71437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De extra kosten per lunchbox stijgen.</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De extra opbrengst blijft € 5.</a:t>
            </a:r>
          </a:p>
        </p:txBody>
      </p:sp>
    </p:spTree>
    <p:extLst>
      <p:ext uri="{BB962C8B-B14F-4D97-AF65-F5344CB8AC3E}">
        <p14:creationId xmlns:p14="http://schemas.microsoft.com/office/powerpoint/2010/main" val="181800320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5e · Break-even en positieve winst">
            <a:extLst xmlns:a="http://schemas.openxmlformats.org/drawingml/2006/main">
              <a:ext uri="{FF2B5EF4-FFF2-40B4-BE49-F238E27FC236}">
                <a16:creationId xmlns:a16="http://schemas.microsoft.com/office/drawing/2014/main" id="{6BA8C003-A872-4B9B-A1F0-E787EDA1EF2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5e · Break-even en positieve winst</a:t>
            </a:r>
          </a:p>
        </p:txBody>
      </p:sp>
      <p:sp>
        <p:nvSpPr>
          <p:cNvPr id="2" name="">
            <a:extLst xmlns:a="http://schemas.openxmlformats.org/drawingml/2006/main">
              <a:ext uri="{FF2B5EF4-FFF2-40B4-BE49-F238E27FC236}">
                <a16:creationId xmlns:a16="http://schemas.microsoft.com/office/drawing/2014/main" id="{28089100-808A-4FF9-B288-814BB67BBC6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Opgave 5 · Boekpagina 32–33">
            <a:extLst xmlns:a="http://schemas.openxmlformats.org/drawingml/2006/main">
              <a:ext uri="{FF2B5EF4-FFF2-40B4-BE49-F238E27FC236}">
                <a16:creationId xmlns:a16="http://schemas.microsoft.com/office/drawing/2014/main" id="{EB238C9A-9887-4C0A-BFBA-CDBEEF56F1C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Opgave 5 · Boekpagina 32–33</a:t>
            </a:r>
          </a:p>
        </p:txBody>
      </p:sp>
      <p:sp>
        <p:nvSpPr>
          <p:cNvPr id="4" name="slide-number">
            <a:extLst xmlns:a="http://schemas.openxmlformats.org/drawingml/2006/main">
              <a:ext uri="{FF2B5EF4-FFF2-40B4-BE49-F238E27FC236}">
                <a16:creationId xmlns:a16="http://schemas.microsoft.com/office/drawing/2014/main" id="{F5B7D3A7-C976-4B11-8B3B-DACF5D8B976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graphicFrame>
        <p:nvGraphicFramePr>
          <p:cNvPr id="13" name="Chart"/>
          <p:cNvGraphicFramePr/>
          <p:nvPr/>
        </p:nvGraphicFramePr>
        <p:xfrm>
          <a:off xmlns:a="http://schemas.openxmlformats.org/drawingml/2006/main" x="571500" y="1981200"/>
          <a:ext xmlns:a="http://schemas.openxmlformats.org/drawingml/2006/main" cx="10287000" cy="5848350"/>
        </p:xfrm>
        <a:graphic xmlns:a="http://schemas.openxmlformats.org/drawingml/2006/main">
          <a:graphicData uri="http://schemas.openxmlformats.org/drawingml/2006/chart">
            <c:chart xmlns:r="http://schemas.openxmlformats.org/officeDocument/2006/relationships" xmlns:c="http://schemas.openxmlformats.org/drawingml/2006/chart" r:id="Rc624bbc4718d43dd"/>
          </a:graphicData>
        </a:graphic>
      </p:graphicFrame>
      <p:sp>
        <p:nvSpPr>
          <p:cNvPr id="6" name="Vrijdag">
            <a:extLst xmlns:a="http://schemas.openxmlformats.org/drawingml/2006/main">
              <a:ext uri="{FF2B5EF4-FFF2-40B4-BE49-F238E27FC236}">
                <a16:creationId xmlns:a16="http://schemas.microsoft.com/office/drawing/2014/main" id="{DEC81F26-8319-45F3-88CE-1A76EB1326B4}"/>
              </a:ext>
            </a:extLst>
          </p:cNvPr>
          <p:cNvSpPr>
            <a:spLocks xmlns:a="http://schemas.openxmlformats.org/drawingml/2006/main" noGrp="1"/>
          </p:cNvSpPr>
          <p:nvPr/>
        </p:nvSpPr>
        <p:spPr>
          <a:xfrm xmlns:a="http://schemas.openxmlformats.org/drawingml/2006/main">
            <a:off x="11334750" y="22002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Vrijdag</a:t>
            </a:r>
          </a:p>
        </p:txBody>
      </p:sp>
      <p:sp>
        <p:nvSpPr>
          <p:cNvPr id="7" name="Break-even:&#10;(400; 2.000)">
            <a:extLst xmlns:a="http://schemas.openxmlformats.org/drawingml/2006/main">
              <a:ext uri="{FF2B5EF4-FFF2-40B4-BE49-F238E27FC236}">
                <a16:creationId xmlns:a16="http://schemas.microsoft.com/office/drawing/2014/main" id="{38675BF7-4F60-4B6C-9851-6FF2C17F0671}"/>
              </a:ext>
            </a:extLst>
          </p:cNvPr>
          <p:cNvSpPr>
            <a:spLocks xmlns:a="http://schemas.openxmlformats.org/drawingml/2006/main" noGrp="1"/>
          </p:cNvSpPr>
          <p:nvPr/>
        </p:nvSpPr>
        <p:spPr>
          <a:xfrm xmlns:a="http://schemas.openxmlformats.org/drawingml/2006/main">
            <a:off x="11334750" y="3171825"/>
            <a:ext cx="3333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658A"/>
                </a:solidFill>
                <a:latin typeface="Arial"/>
                <a:ea typeface="Arial"/>
                <a:cs typeface="Arial"/>
              </a:defRPr>
            </a:pPr>
            <a:r>
              <a:rPr sz="2325" b="1">
                <a:solidFill>
                  <a:srgbClr val="17658A"/>
                </a:solidFill>
                <a:latin typeface="Arial"/>
                <a:ea typeface="Arial"/>
                <a:cs typeface="Arial"/>
              </a:rPr>
              <a:t>Break-even:</a:t>
            </a:r>
          </a:p>
          <a:p xmlns:a="http://schemas.openxmlformats.org/drawingml/2006/main">
            <a:pPr algn="l">
              <a:defRPr sz="2325" b="1">
                <a:solidFill>
                  <a:srgbClr val="17658A"/>
                </a:solidFill>
                <a:latin typeface="Arial"/>
                <a:ea typeface="Arial"/>
                <a:cs typeface="Arial"/>
              </a:defRPr>
            </a:pPr>
            <a:r>
              <a:rPr sz="2325" b="1">
                <a:solidFill>
                  <a:srgbClr val="17658A"/>
                </a:solidFill>
                <a:latin typeface="Arial"/>
                <a:ea typeface="Arial"/>
                <a:cs typeface="Arial"/>
              </a:rPr>
              <a:t>(400; 2.000)</a:t>
            </a:r>
          </a:p>
        </p:txBody>
      </p:sp>
      <p:sp>
        <p:nvSpPr>
          <p:cNvPr id="8" name="Positieve winst:&#10;400 &lt; Q ≤ 1.000&#10;&#10;Gehele aantallen:&#10;401 t/m ">
            <a:extLst xmlns:a="http://schemas.openxmlformats.org/drawingml/2006/main">
              <a:ext uri="{FF2B5EF4-FFF2-40B4-BE49-F238E27FC236}">
                <a16:creationId xmlns:a16="http://schemas.microsoft.com/office/drawing/2014/main" id="{1482AAD6-C07F-458D-B995-C9F03232B156}"/>
              </a:ext>
            </a:extLst>
          </p:cNvPr>
          <p:cNvSpPr>
            <a:spLocks xmlns:a="http://schemas.openxmlformats.org/drawingml/2006/main" noGrp="1"/>
          </p:cNvSpPr>
          <p:nvPr/>
        </p:nvSpPr>
        <p:spPr>
          <a:xfrm xmlns:a="http://schemas.openxmlformats.org/drawingml/2006/main">
            <a:off x="11334750" y="5400675"/>
            <a:ext cx="3333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Positieve winst:</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400 &lt; Q ≤ 1.000</a:t>
            </a:r>
          </a:p>
          <a:p xmlns:a="http://schemas.openxmlformats.org/drawingml/2006/main">
            <a:r>
              <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Gehele aantallen:</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401 t/m 1.000</a:t>
            </a:r>
          </a:p>
        </p:txBody>
      </p:sp>
    </p:spTree>
    <p:extLst>
      <p:ext uri="{BB962C8B-B14F-4D97-AF65-F5344CB8AC3E}">
        <p14:creationId xmlns:p14="http://schemas.microsoft.com/office/powerpoint/2010/main" val="112571800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5e · De winstafstand bij 700">
            <a:extLst xmlns:a="http://schemas.openxmlformats.org/drawingml/2006/main">
              <a:ext uri="{FF2B5EF4-FFF2-40B4-BE49-F238E27FC236}">
                <a16:creationId xmlns:a16="http://schemas.microsoft.com/office/drawing/2014/main" id="{266EDC12-08BD-484D-B78D-C6D1B1CE816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5e · De winstafstand bij 700</a:t>
            </a:r>
          </a:p>
        </p:txBody>
      </p:sp>
      <p:sp>
        <p:nvSpPr>
          <p:cNvPr id="2" name="">
            <a:extLst xmlns:a="http://schemas.openxmlformats.org/drawingml/2006/main">
              <a:ext uri="{FF2B5EF4-FFF2-40B4-BE49-F238E27FC236}">
                <a16:creationId xmlns:a16="http://schemas.microsoft.com/office/drawing/2014/main" id="{8C53B5D8-92FE-4CC1-B77A-618C5CDD2D4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Opgave 5 · Boekpagina 32–33">
            <a:extLst xmlns:a="http://schemas.openxmlformats.org/drawingml/2006/main">
              <a:ext uri="{FF2B5EF4-FFF2-40B4-BE49-F238E27FC236}">
                <a16:creationId xmlns:a16="http://schemas.microsoft.com/office/drawing/2014/main" id="{6B8D2B0B-4396-4A98-9854-241A686E5AD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Opgave 5 · Boekpagina 32–33</a:t>
            </a:r>
          </a:p>
        </p:txBody>
      </p:sp>
      <p:sp>
        <p:nvSpPr>
          <p:cNvPr id="4" name="slide-number">
            <a:extLst xmlns:a="http://schemas.openxmlformats.org/drawingml/2006/main">
              <a:ext uri="{FF2B5EF4-FFF2-40B4-BE49-F238E27FC236}">
                <a16:creationId xmlns:a16="http://schemas.microsoft.com/office/drawing/2014/main" id="{C2350D1C-B51C-46E0-BCED-B4F6FB1A50D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graphicFrame>
        <p:nvGraphicFramePr>
          <p:cNvPr id="13" name="Chart"/>
          <p:cNvGraphicFramePr/>
          <p:nvPr/>
        </p:nvGraphicFramePr>
        <p:xfrm>
          <a:off xmlns:a="http://schemas.openxmlformats.org/drawingml/2006/main" x="571500" y="1981200"/>
          <a:ext xmlns:a="http://schemas.openxmlformats.org/drawingml/2006/main" cx="10287000" cy="5848350"/>
        </p:xfrm>
        <a:graphic xmlns:a="http://schemas.openxmlformats.org/drawingml/2006/main">
          <a:graphicData uri="http://schemas.openxmlformats.org/drawingml/2006/chart">
            <c:chart xmlns:r="http://schemas.openxmlformats.org/officeDocument/2006/relationships" xmlns:c="http://schemas.openxmlformats.org/drawingml/2006/chart" r:id="R25cb0ff2c4c94feb"/>
          </a:graphicData>
        </a:graphic>
      </p:graphicFrame>
      <p:sp>
        <p:nvSpPr>
          <p:cNvPr id="6" name="Bij Q = 700">
            <a:extLst xmlns:a="http://schemas.openxmlformats.org/drawingml/2006/main">
              <a:ext uri="{FF2B5EF4-FFF2-40B4-BE49-F238E27FC236}">
                <a16:creationId xmlns:a16="http://schemas.microsoft.com/office/drawing/2014/main" id="{8F600145-8F8C-4F33-9F2C-4D2490934A10}"/>
              </a:ext>
            </a:extLst>
          </p:cNvPr>
          <p:cNvSpPr>
            <a:spLocks xmlns:a="http://schemas.openxmlformats.org/drawingml/2006/main" noGrp="1"/>
          </p:cNvSpPr>
          <p:nvPr/>
        </p:nvSpPr>
        <p:spPr>
          <a:xfrm xmlns:a="http://schemas.openxmlformats.org/drawingml/2006/main">
            <a:off x="11334750" y="22002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Bij Q = 700</a:t>
            </a:r>
          </a:p>
        </p:txBody>
      </p:sp>
      <p:sp>
        <p:nvSpPr>
          <p:cNvPr id="7" name="TO = € 3.500&#10;TK = € 2.600">
            <a:extLst xmlns:a="http://schemas.openxmlformats.org/drawingml/2006/main">
              <a:ext uri="{FF2B5EF4-FFF2-40B4-BE49-F238E27FC236}">
                <a16:creationId xmlns:a16="http://schemas.microsoft.com/office/drawing/2014/main" id="{EAB5A674-8FCC-469D-95CA-E763986D133B}"/>
              </a:ext>
            </a:extLst>
          </p:cNvPr>
          <p:cNvSpPr>
            <a:spLocks xmlns:a="http://schemas.openxmlformats.org/drawingml/2006/main" noGrp="1"/>
          </p:cNvSpPr>
          <p:nvPr/>
        </p:nvSpPr>
        <p:spPr>
          <a:xfrm xmlns:a="http://schemas.openxmlformats.org/drawingml/2006/main">
            <a:off x="11334750" y="3171825"/>
            <a:ext cx="3333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658A"/>
                </a:solidFill>
                <a:latin typeface="Arial"/>
                <a:ea typeface="Arial"/>
                <a:cs typeface="Arial"/>
              </a:defRPr>
            </a:pPr>
            <a:r>
              <a:rPr sz="2325" b="1">
                <a:solidFill>
                  <a:srgbClr val="17658A"/>
                </a:solidFill>
                <a:latin typeface="Arial"/>
                <a:ea typeface="Arial"/>
                <a:cs typeface="Arial"/>
              </a:rPr>
              <a:t>TO = € 3.500</a:t>
            </a:r>
          </a:p>
          <a:p xmlns:a="http://schemas.openxmlformats.org/drawingml/2006/main">
            <a:pPr algn="l">
              <a:defRPr sz="2325" b="1">
                <a:solidFill>
                  <a:srgbClr val="17658A"/>
                </a:solidFill>
                <a:latin typeface="Arial"/>
                <a:ea typeface="Arial"/>
                <a:cs typeface="Arial"/>
              </a:defRPr>
            </a:pPr>
            <a:r>
              <a:rPr sz="2325" b="1">
                <a:solidFill>
                  <a:srgbClr val="17658A"/>
                </a:solidFill>
                <a:latin typeface="Arial"/>
                <a:ea typeface="Arial"/>
                <a:cs typeface="Arial"/>
              </a:rPr>
              <a:t>TK = € 2.600</a:t>
            </a:r>
          </a:p>
        </p:txBody>
      </p:sp>
      <p:sp>
        <p:nvSpPr>
          <p:cNvPr id="8" name="Verticale afstand:&#10;€ 900 per dag&#10;&#10;Op beide dagen&#10;bij deze Q.">
            <a:extLst xmlns:a="http://schemas.openxmlformats.org/drawingml/2006/main">
              <a:ext uri="{FF2B5EF4-FFF2-40B4-BE49-F238E27FC236}">
                <a16:creationId xmlns:a16="http://schemas.microsoft.com/office/drawing/2014/main" id="{84326130-B6E2-4DD6-8ED5-EAF631F6B2D9}"/>
              </a:ext>
            </a:extLst>
          </p:cNvPr>
          <p:cNvSpPr>
            <a:spLocks xmlns:a="http://schemas.openxmlformats.org/drawingml/2006/main" noGrp="1"/>
          </p:cNvSpPr>
          <p:nvPr/>
        </p:nvSpPr>
        <p:spPr>
          <a:xfrm xmlns:a="http://schemas.openxmlformats.org/drawingml/2006/main">
            <a:off x="11334750" y="5400675"/>
            <a:ext cx="3333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0665B"/>
                </a:solidFill>
                <a:latin typeface="Arial"/>
                <a:ea typeface="Arial"/>
                <a:cs typeface="Arial"/>
              </a:defRPr>
            </a:pPr>
            <a:r>
              <a:rPr sz="2325" b="1">
                <a:solidFill>
                  <a:srgbClr val="20665B"/>
                </a:solidFill>
                <a:latin typeface="Arial"/>
                <a:ea typeface="Arial"/>
                <a:cs typeface="Arial"/>
              </a:rPr>
              <a:t>Verticale afstand:</a:t>
            </a:r>
          </a:p>
          <a:p xmlns:a="http://schemas.openxmlformats.org/drawingml/2006/main">
            <a:pPr algn="l">
              <a:defRPr sz="2325" b="1">
                <a:solidFill>
                  <a:srgbClr val="20665B"/>
                </a:solidFill>
                <a:latin typeface="Arial"/>
                <a:ea typeface="Arial"/>
                <a:cs typeface="Arial"/>
              </a:defRPr>
            </a:pPr>
            <a:r>
              <a:rPr sz="2325" b="1">
                <a:solidFill>
                  <a:srgbClr val="20665B"/>
                </a:solidFill>
                <a:latin typeface="Arial"/>
                <a:ea typeface="Arial"/>
                <a:cs typeface="Arial"/>
              </a:rPr>
              <a:t>€ 900 per dag</a:t>
            </a:r>
          </a:p>
          <a:p xmlns:a="http://schemas.openxmlformats.org/drawingml/2006/main">
            <a:r>
              <a:t/>
            </a:r>
          </a:p>
          <a:p xmlns:a="http://schemas.openxmlformats.org/drawingml/2006/main">
            <a:pPr algn="l">
              <a:defRPr sz="2325" b="1">
                <a:solidFill>
                  <a:srgbClr val="20665B"/>
                </a:solidFill>
                <a:latin typeface="Arial"/>
                <a:ea typeface="Arial"/>
                <a:cs typeface="Arial"/>
              </a:defRPr>
            </a:pPr>
            <a:r>
              <a:rPr sz="2325" b="1">
                <a:solidFill>
                  <a:srgbClr val="20665B"/>
                </a:solidFill>
                <a:latin typeface="Arial"/>
                <a:ea typeface="Arial"/>
                <a:cs typeface="Arial"/>
              </a:rPr>
              <a:t>Op beide dagen</a:t>
            </a:r>
          </a:p>
          <a:p xmlns:a="http://schemas.openxmlformats.org/drawingml/2006/main">
            <a:pPr algn="l">
              <a:defRPr sz="2325" b="1">
                <a:solidFill>
                  <a:srgbClr val="20665B"/>
                </a:solidFill>
                <a:latin typeface="Arial"/>
                <a:ea typeface="Arial"/>
                <a:cs typeface="Arial"/>
              </a:defRPr>
            </a:pPr>
            <a:r>
              <a:rPr sz="2325" b="1">
                <a:solidFill>
                  <a:srgbClr val="20665B"/>
                </a:solidFill>
                <a:latin typeface="Arial"/>
                <a:ea typeface="Arial"/>
                <a:cs typeface="Arial"/>
              </a:rPr>
              <a:t>bij deze Q.</a:t>
            </a:r>
          </a:p>
        </p:txBody>
      </p:sp>
    </p:spTree>
    <p:extLst>
      <p:ext uri="{BB962C8B-B14F-4D97-AF65-F5344CB8AC3E}">
        <p14:creationId xmlns:p14="http://schemas.microsoft.com/office/powerpoint/2010/main" val="42229386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5e · Waar groeit de winst sneller?">
            <a:extLst xmlns:a="http://schemas.openxmlformats.org/drawingml/2006/main">
              <a:ext uri="{FF2B5EF4-FFF2-40B4-BE49-F238E27FC236}">
                <a16:creationId xmlns:a16="http://schemas.microsoft.com/office/drawing/2014/main" id="{6F87E968-CA1E-4E54-954E-D6AB2661A1B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5e · Waar groeit de winst sneller?</a:t>
            </a:r>
          </a:p>
        </p:txBody>
      </p:sp>
      <p:sp>
        <p:nvSpPr>
          <p:cNvPr id="2" name="">
            <a:extLst xmlns:a="http://schemas.openxmlformats.org/drawingml/2006/main">
              <a:ext uri="{FF2B5EF4-FFF2-40B4-BE49-F238E27FC236}">
                <a16:creationId xmlns:a16="http://schemas.microsoft.com/office/drawing/2014/main" id="{F0039BBA-F9E2-4944-879D-474087B07D3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Opgave 5 · Boekpagina 32–33">
            <a:extLst xmlns:a="http://schemas.openxmlformats.org/drawingml/2006/main">
              <a:ext uri="{FF2B5EF4-FFF2-40B4-BE49-F238E27FC236}">
                <a16:creationId xmlns:a16="http://schemas.microsoft.com/office/drawing/2014/main" id="{0F22DF52-16E2-4152-9AD8-3F72C22D777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Opgave 5 · Boekpagina 32–33</a:t>
            </a:r>
          </a:p>
        </p:txBody>
      </p:sp>
      <p:sp>
        <p:nvSpPr>
          <p:cNvPr id="4" name="slide-number">
            <a:extLst xmlns:a="http://schemas.openxmlformats.org/drawingml/2006/main">
              <a:ext uri="{FF2B5EF4-FFF2-40B4-BE49-F238E27FC236}">
                <a16:creationId xmlns:a16="http://schemas.microsoft.com/office/drawing/2014/main" id="{F88CAD0F-6003-42E0-8A1B-6F8C9CD5AC0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Groei van de winst per extra lunchbox = MO − MK">
            <a:extLst xmlns:a="http://schemas.openxmlformats.org/drawingml/2006/main">
              <a:ext uri="{FF2B5EF4-FFF2-40B4-BE49-F238E27FC236}">
                <a16:creationId xmlns:a16="http://schemas.microsoft.com/office/drawing/2014/main" id="{4072592B-B463-40DC-8353-F6AF6FFFE663}"/>
              </a:ext>
            </a:extLst>
          </p:cNvPr>
          <p:cNvSpPr>
            <a:spLocks xmlns:a="http://schemas.openxmlformats.org/drawingml/2006/main" noGrp="1"/>
          </p:cNvSpPr>
          <p:nvPr/>
        </p:nvSpPr>
        <p:spPr>
          <a:xfrm xmlns:a="http://schemas.openxmlformats.org/drawingml/2006/main">
            <a:off x="571500" y="17907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Groei van de winst per extra lunchbox = MO − MK</a:t>
            </a:r>
          </a:p>
        </p:txBody>
      </p:sp>
      <p:graphicFrame>
        <p:nvGraphicFramePr>
          <p:cNvPr id="13" name=""/>
          <p:cNvGraphicFramePr/>
          <p:nvPr/>
        </p:nvGraphicFramePr>
        <p:xfrm>
          <a:off xmlns:a="http://schemas.openxmlformats.org/drawingml/2006/main" x="571500" y="3038475"/>
          <a:ext xmlns:a="http://schemas.openxmlformats.org/drawingml/2006/main" cx="14097000" cy="3343275"/>
        </p:xfrm>
        <a:graphic xmlns:a="http://schemas.openxmlformats.org/drawingml/2006/main">
          <a:graphicData uri="http://schemas.openxmlformats.org/drawingml/2006/table">
            <a:tbl>
              <a:tblPr/>
              <a:tblGrid>
                <a:gridCol w="6477000"/>
                <a:gridCol w="2571750"/>
                <a:gridCol w="5048250"/>
              </a:tblGrid>
              <a:tr h="668655">
                <a:tc>
                  <a:txBody>
                    <a:bodyPr lIns="171450" tIns="95250" rIns="152400" bIns="95250"/>
                    <a:lstStyle/>
                    <a:p>
                      <a:r>
                        <a:rPr sz="2325" b="1">
                          <a:solidFill>
                            <a:srgbClr val="FFFFFF"/>
                          </a:solidFill>
                          <a:latin typeface="Arial"/>
                          <a:ea typeface="Arial"/>
                          <a:cs typeface="Arial"/>
                        </a:rPr>
                        <a:t>Dag en hoeveelheid</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MO − MK</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Winstgroei per extra lunchbox</a:t>
                      </a:r>
                    </a:p>
                  </a:txBody>
                  <a:tcPr marL="91440" marR="91440" marT="45720" marB="45720" anchor="ctr">
                    <a:solidFill>
                      <a:srgbClr val="183247"/>
                    </a:solidFill>
                  </a:tcPr>
                </a:tc>
              </a:tr>
              <a:tr h="668655">
                <a:tc>
                  <a:txBody>
                    <a:bodyPr lIns="171450" tIns="95250" rIns="152400" bIns="95250"/>
                    <a:lstStyle/>
                    <a:p>
                      <a:r>
                        <a:rPr sz="2325" b="0">
                          <a:solidFill>
                            <a:srgbClr val="183247"/>
                          </a:solidFill>
                          <a:latin typeface="Arial"/>
                          <a:ea typeface="Arial"/>
                          <a:cs typeface="Arial"/>
                        </a:rPr>
                        <a:t>Vrijdag: 400 &lt; Q ≤ 1.000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5 − 2</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€ 3,00</a:t>
                      </a:r>
                    </a:p>
                  </a:txBody>
                  <a:tcPr marL="91440" marR="91440" marT="45720" marB="45720" anchor="ctr">
                    <a:solidFill>
                      <a:srgbClr val="FFFFFF"/>
                    </a:solidFill>
                  </a:tcPr>
                </a:tc>
              </a:tr>
              <a:tr h="668655">
                <a:tc>
                  <a:txBody>
                    <a:bodyPr lIns="171450" tIns="95250" rIns="152400" bIns="95250"/>
                    <a:lstStyle/>
                    <a:p>
                      <a:r>
                        <a:rPr sz="2325" b="0">
                          <a:solidFill>
                            <a:srgbClr val="183247"/>
                          </a:solidFill>
                          <a:latin typeface="Arial"/>
                          <a:ea typeface="Arial"/>
                          <a:cs typeface="Arial"/>
                        </a:rPr>
                        <a:t>Zaterdag: 700 naar 800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5 − 3</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€ 2,00</a:t>
                      </a:r>
                    </a:p>
                  </a:txBody>
                  <a:tcPr marL="91440" marR="91440" marT="45720" marB="45720" anchor="ctr">
                    <a:solidFill>
                      <a:srgbClr val="EFF4F7"/>
                    </a:solidFill>
                  </a:tcPr>
                </a:tc>
              </a:tr>
              <a:tr h="668655">
                <a:tc>
                  <a:txBody>
                    <a:bodyPr lIns="171450" tIns="95250" rIns="152400" bIns="95250"/>
                    <a:lstStyle/>
                    <a:p>
                      <a:r>
                        <a:rPr sz="2325" b="0">
                          <a:solidFill>
                            <a:srgbClr val="183247"/>
                          </a:solidFill>
                          <a:latin typeface="Arial"/>
                          <a:ea typeface="Arial"/>
                          <a:cs typeface="Arial"/>
                        </a:rPr>
                        <a:t>Zaterdag: 800 naar 900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5 − 3,50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€ 1,50</a:t>
                      </a:r>
                    </a:p>
                  </a:txBody>
                  <a:tcPr marL="91440" marR="91440" marT="45720" marB="45720" anchor="ctr">
                    <a:solidFill>
                      <a:srgbClr val="FFFFFF"/>
                    </a:solidFill>
                  </a:tcPr>
                </a:tc>
              </a:tr>
              <a:tr h="668655">
                <a:tc>
                  <a:txBody>
                    <a:bodyPr lIns="171450" tIns="95250" rIns="152400" bIns="95250"/>
                    <a:lstStyle/>
                    <a:p>
                      <a:r>
                        <a:rPr sz="2325" b="0">
                          <a:solidFill>
                            <a:srgbClr val="183247"/>
                          </a:solidFill>
                          <a:latin typeface="Arial"/>
                          <a:ea typeface="Arial"/>
                          <a:cs typeface="Arial"/>
                        </a:rPr>
                        <a:t>Zaterdag: 900 naar 1.000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5 − 4</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€ 1,00</a:t>
                      </a:r>
                    </a:p>
                  </a:txBody>
                  <a:tcPr marL="91440" marR="91440" marT="45720" marB="45720" anchor="ctr">
                    <a:solidFill>
                      <a:srgbClr val="EFF4F7"/>
                    </a:solidFill>
                  </a:tcPr>
                </a:tc>
              </a:tr>
            </a:tbl>
          </a:graphicData>
        </a:graphic>
      </p:graphicFrame>
      <p:sp>
        <p:nvSpPr>
          <p:cNvPr id="7" name="Vrijdag groeit de positieve winstafstand het snelst:&#10;meer da">
            <a:extLst xmlns:a="http://schemas.openxmlformats.org/drawingml/2006/main">
              <a:ext uri="{FF2B5EF4-FFF2-40B4-BE49-F238E27FC236}">
                <a16:creationId xmlns:a16="http://schemas.microsoft.com/office/drawing/2014/main" id="{F56EBDD8-0F40-424F-805A-E4502E1ABFFE}"/>
              </a:ext>
            </a:extLst>
          </p:cNvPr>
          <p:cNvSpPr>
            <a:spLocks xmlns:a="http://schemas.openxmlformats.org/drawingml/2006/main" noGrp="1"/>
          </p:cNvSpPr>
          <p:nvPr/>
        </p:nvSpPr>
        <p:spPr>
          <a:xfrm xmlns:a="http://schemas.openxmlformats.org/drawingml/2006/main">
            <a:off x="571500" y="6800850"/>
            <a:ext cx="14097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Vrijdag groeit de positieve winstafstand het snelst:</a:t>
            </a:r>
          </a:p>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meer dan 400 tot en met 1.000 lunchboxen per dag.</a:t>
            </a:r>
          </a:p>
        </p:txBody>
      </p:sp>
    </p:spTree>
    <p:extLst>
      <p:ext uri="{BB962C8B-B14F-4D97-AF65-F5344CB8AC3E}">
        <p14:creationId xmlns:p14="http://schemas.microsoft.com/office/powerpoint/2010/main" val="201315593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5f · Gelijke extra omzet, andere winst">
            <a:extLst xmlns:a="http://schemas.openxmlformats.org/drawingml/2006/main">
              <a:ext uri="{FF2B5EF4-FFF2-40B4-BE49-F238E27FC236}">
                <a16:creationId xmlns:a16="http://schemas.microsoft.com/office/drawing/2014/main" id="{B2FFBF3B-E4D3-412D-9DC9-804592102BC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5f · Gelijke extra omzet, andere winst</a:t>
            </a:r>
          </a:p>
        </p:txBody>
      </p:sp>
      <p:sp>
        <p:nvSpPr>
          <p:cNvPr id="2" name="">
            <a:extLst xmlns:a="http://schemas.openxmlformats.org/drawingml/2006/main">
              <a:ext uri="{FF2B5EF4-FFF2-40B4-BE49-F238E27FC236}">
                <a16:creationId xmlns:a16="http://schemas.microsoft.com/office/drawing/2014/main" id="{0762C89E-70AE-4714-9B68-C92AF471572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 Opgave 5 · Boekpagina 32–33">
            <a:extLst xmlns:a="http://schemas.openxmlformats.org/drawingml/2006/main">
              <a:ext uri="{FF2B5EF4-FFF2-40B4-BE49-F238E27FC236}">
                <a16:creationId xmlns:a16="http://schemas.microsoft.com/office/drawing/2014/main" id="{B25040FE-1A56-4537-940A-BFC5FFFEF3B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 · Opgave 5 · Boekpagina 32–33</a:t>
            </a:r>
          </a:p>
        </p:txBody>
      </p:sp>
      <p:sp>
        <p:nvSpPr>
          <p:cNvPr id="4" name="slide-number">
            <a:extLst xmlns:a="http://schemas.openxmlformats.org/drawingml/2006/main">
              <a:ext uri="{FF2B5EF4-FFF2-40B4-BE49-F238E27FC236}">
                <a16:creationId xmlns:a16="http://schemas.microsoft.com/office/drawing/2014/main" id="{C4B85904-1589-4EF6-92DB-4A83A5F2EBF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Extra winst = ΔTO − ΔTK = (MO − MK) × ΔQ">
            <a:extLst xmlns:a="http://schemas.openxmlformats.org/drawingml/2006/main">
              <a:ext uri="{FF2B5EF4-FFF2-40B4-BE49-F238E27FC236}">
                <a16:creationId xmlns:a16="http://schemas.microsoft.com/office/drawing/2014/main" id="{BA2B8FF8-B82C-4066-B5DA-C503D62ED1D6}"/>
              </a:ext>
            </a:extLst>
          </p:cNvPr>
          <p:cNvSpPr>
            <a:spLocks xmlns:a="http://schemas.openxmlformats.org/drawingml/2006/main" noGrp="1"/>
          </p:cNvSpPr>
          <p:nvPr/>
        </p:nvSpPr>
        <p:spPr>
          <a:xfrm xmlns:a="http://schemas.openxmlformats.org/drawingml/2006/main">
            <a:off x="571500" y="179070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Extra winst = ΔTO − ΔTK = (MO − MK) × ΔQ</a:t>
            </a:r>
          </a:p>
        </p:txBody>
      </p:sp>
      <p:graphicFrame>
        <p:nvGraphicFramePr>
          <p:cNvPr id="14" name=""/>
          <p:cNvGraphicFramePr/>
          <p:nvPr/>
        </p:nvGraphicFramePr>
        <p:xfrm>
          <a:off xmlns:a="http://schemas.openxmlformats.org/drawingml/2006/main" x="571500" y="2971800"/>
          <a:ext xmlns:a="http://schemas.openxmlformats.org/drawingml/2006/main" cx="14097000" cy="3333750"/>
        </p:xfrm>
        <a:graphic xmlns:a="http://schemas.openxmlformats.org/drawingml/2006/main">
          <a:graphicData uri="http://schemas.openxmlformats.org/drawingml/2006/table">
            <a:tbl>
              <a:tblPr/>
              <a:tblGrid>
                <a:gridCol w="3810000"/>
                <a:gridCol w="6477000"/>
                <a:gridCol w="3810000"/>
              </a:tblGrid>
              <a:tr h="833438">
                <a:tc>
                  <a:txBody>
                    <a:bodyPr lIns="171450" tIns="95250" rIns="152400" bIns="95250"/>
                    <a:lstStyle/>
                    <a:p>
                      <a:r>
                        <a:rPr sz="2325" b="1">
                          <a:solidFill>
                            <a:srgbClr val="FFFFFF"/>
                          </a:solidFill>
                          <a:latin typeface="Arial"/>
                          <a:ea typeface="Arial"/>
                          <a:cs typeface="Arial"/>
                        </a:rPr>
                        <a:t>Stap op zaterdag</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Berekening extra winst</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Extra winst per dag</a:t>
                      </a:r>
                    </a:p>
                  </a:txBody>
                  <a:tcPr marL="91440" marR="91440" marT="45720" marB="45720" anchor="ctr">
                    <a:solidFill>
                      <a:srgbClr val="183247"/>
                    </a:solidFill>
                  </a:tcPr>
                </a:tc>
              </a:tr>
              <a:tr h="833438">
                <a:tc>
                  <a:txBody>
                    <a:bodyPr lIns="171450" tIns="95250" rIns="152400" bIns="95250"/>
                    <a:lstStyle/>
                    <a:p>
                      <a:r>
                        <a:rPr sz="2325" b="0">
                          <a:solidFill>
                            <a:srgbClr val="183247"/>
                          </a:solidFill>
                          <a:latin typeface="Arial"/>
                          <a:ea typeface="Arial"/>
                          <a:cs typeface="Arial"/>
                        </a:rPr>
                        <a:t>700 naar 800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500 − 300 = (5 − 3) × 100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€ 200</a:t>
                      </a:r>
                    </a:p>
                  </a:txBody>
                  <a:tcPr marL="91440" marR="91440" marT="45720" marB="45720" anchor="ctr">
                    <a:solidFill>
                      <a:srgbClr val="FFFFFF"/>
                    </a:solidFill>
                  </a:tcPr>
                </a:tc>
              </a:tr>
              <a:tr h="833438">
                <a:tc>
                  <a:txBody>
                    <a:bodyPr lIns="171450" tIns="95250" rIns="152400" bIns="95250"/>
                    <a:lstStyle/>
                    <a:p>
                      <a:r>
                        <a:rPr sz="2325" b="0">
                          <a:solidFill>
                            <a:srgbClr val="183247"/>
                          </a:solidFill>
                          <a:latin typeface="Arial"/>
                          <a:ea typeface="Arial"/>
                          <a:cs typeface="Arial"/>
                        </a:rPr>
                        <a:t>800 naar 900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500 − 350 = (5 − 3,50) × 100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€ 150</a:t>
                      </a:r>
                    </a:p>
                  </a:txBody>
                  <a:tcPr marL="91440" marR="91440" marT="45720" marB="45720" anchor="ctr">
                    <a:solidFill>
                      <a:srgbClr val="EFF4F7"/>
                    </a:solidFill>
                  </a:tcPr>
                </a:tc>
              </a:tr>
              <a:tr h="833438">
                <a:tc>
                  <a:txBody>
                    <a:bodyPr lIns="171450" tIns="95250" rIns="152400" bIns="95250"/>
                    <a:lstStyle/>
                    <a:p>
                      <a:r>
                        <a:rPr sz="2325" b="0">
                          <a:solidFill>
                            <a:srgbClr val="183247"/>
                          </a:solidFill>
                          <a:latin typeface="Arial"/>
                          <a:ea typeface="Arial"/>
                          <a:cs typeface="Arial"/>
                        </a:rPr>
                        <a:t>900 naar 1.000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500 − 400 = (5 − 4) × 100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€ 100</a:t>
                      </a:r>
                    </a:p>
                  </a:txBody>
                  <a:tcPr marL="91440" marR="91440" marT="45720" marB="45720" anchor="ctr">
                    <a:solidFill>
                      <a:srgbClr val="FFFFFF"/>
                    </a:solidFill>
                  </a:tcPr>
                </a:tc>
              </a:tr>
            </a:tbl>
          </a:graphicData>
        </a:graphic>
      </p:graphicFrame>
      <p:sp>
        <p:nvSpPr>
          <p:cNvPr id="7" name="De uitspraak is onjuist.">
            <a:extLst xmlns:a="http://schemas.openxmlformats.org/drawingml/2006/main">
              <a:ext uri="{FF2B5EF4-FFF2-40B4-BE49-F238E27FC236}">
                <a16:creationId xmlns:a16="http://schemas.microsoft.com/office/drawing/2014/main" id="{D8036ACD-10B1-40DD-946C-D62C5C249600}"/>
              </a:ext>
            </a:extLst>
          </p:cNvPr>
          <p:cNvSpPr>
            <a:spLocks xmlns:a="http://schemas.openxmlformats.org/drawingml/2006/main" noGrp="1"/>
          </p:cNvSpPr>
          <p:nvPr/>
        </p:nvSpPr>
        <p:spPr>
          <a:xfrm xmlns:a="http://schemas.openxmlformats.org/drawingml/2006/main">
            <a:off x="571500" y="67437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De uitspraak is onjuist.</a:t>
            </a:r>
          </a:p>
        </p:txBody>
      </p:sp>
      <p:sp>
        <p:nvSpPr>
          <p:cNvPr id="8" name="Elke groep levert € 500 extra omzet, maar vraagt meer extra ">
            <a:extLst xmlns:a="http://schemas.openxmlformats.org/drawingml/2006/main">
              <a:ext uri="{FF2B5EF4-FFF2-40B4-BE49-F238E27FC236}">
                <a16:creationId xmlns:a16="http://schemas.microsoft.com/office/drawing/2014/main" id="{1BFD89FE-09A6-43F7-99D8-A4F73728D772}"/>
              </a:ext>
            </a:extLst>
          </p:cNvPr>
          <p:cNvSpPr>
            <a:spLocks xmlns:a="http://schemas.openxmlformats.org/drawingml/2006/main" noGrp="1"/>
          </p:cNvSpPr>
          <p:nvPr/>
        </p:nvSpPr>
        <p:spPr>
          <a:xfrm xmlns:a="http://schemas.openxmlformats.org/drawingml/2006/main">
            <a:off x="571500" y="7477125"/>
            <a:ext cx="14097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Elke groep levert € 500 extra omzet, maar vraagt meer extra kosten.</a:t>
            </a:r>
          </a:p>
        </p:txBody>
      </p:sp>
    </p:spTree>
    <p:extLst>
      <p:ext uri="{BB962C8B-B14F-4D97-AF65-F5344CB8AC3E}">
        <p14:creationId xmlns:p14="http://schemas.microsoft.com/office/powerpoint/2010/main" val="50825673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ntwoordcontrole bij SmoothBox">
            <a:extLst xmlns:a="http://schemas.openxmlformats.org/drawingml/2006/main">
              <a:ext uri="{FF2B5EF4-FFF2-40B4-BE49-F238E27FC236}">
                <a16:creationId xmlns:a16="http://schemas.microsoft.com/office/drawing/2014/main" id="{91E716E5-C38E-4484-8ADE-99EFA42725A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Antwoordcontrole bij SmoothBox</a:t>
            </a:r>
          </a:p>
        </p:txBody>
      </p:sp>
      <p:sp>
        <p:nvSpPr>
          <p:cNvPr id="2" name="">
            <a:extLst xmlns:a="http://schemas.openxmlformats.org/drawingml/2006/main">
              <a:ext uri="{FF2B5EF4-FFF2-40B4-BE49-F238E27FC236}">
                <a16:creationId xmlns:a16="http://schemas.microsoft.com/office/drawing/2014/main" id="{009CF18B-8F0A-477F-B0D2-2BBDEA10161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a:extLst xmlns:a="http://schemas.openxmlformats.org/drawingml/2006/main">
              <a:ext uri="{FF2B5EF4-FFF2-40B4-BE49-F238E27FC236}">
                <a16:creationId xmlns:a16="http://schemas.microsoft.com/office/drawing/2014/main" id="{2311E7CB-8F91-4972-B9B5-EB54EA70458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a:t>
            </a:r>
          </a:p>
        </p:txBody>
      </p:sp>
      <p:sp>
        <p:nvSpPr>
          <p:cNvPr id="4" name="slide-number">
            <a:extLst xmlns:a="http://schemas.openxmlformats.org/drawingml/2006/main">
              <a:ext uri="{FF2B5EF4-FFF2-40B4-BE49-F238E27FC236}">
                <a16:creationId xmlns:a16="http://schemas.microsoft.com/office/drawing/2014/main" id="{8383B30A-3697-498C-8160-854D4C6A3C8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Bron en eenheid">
            <a:extLst xmlns:a="http://schemas.openxmlformats.org/drawingml/2006/main">
              <a:ext uri="{FF2B5EF4-FFF2-40B4-BE49-F238E27FC236}">
                <a16:creationId xmlns:a16="http://schemas.microsoft.com/office/drawing/2014/main" id="{35B59E8E-AF3E-47FE-8E0A-494A62FB290A}"/>
              </a:ext>
            </a:extLst>
          </p:cNvPr>
          <p:cNvSpPr>
            <a:spLocks xmlns:a="http://schemas.openxmlformats.org/drawingml/2006/main" noGrp="1"/>
          </p:cNvSpPr>
          <p:nvPr/>
        </p:nvSpPr>
        <p:spPr>
          <a:xfrm xmlns:a="http://schemas.openxmlformats.org/drawingml/2006/main">
            <a:off x="571500" y="192405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Bron en eenheid</a:t>
            </a:r>
          </a:p>
        </p:txBody>
      </p:sp>
      <p:sp>
        <p:nvSpPr>
          <p:cNvPr id="6" name="Vrijdag bij a–c, zaterdag bij d en f, beide dagen bij e.">
            <a:extLst xmlns:a="http://schemas.openxmlformats.org/drawingml/2006/main">
              <a:ext uri="{FF2B5EF4-FFF2-40B4-BE49-F238E27FC236}">
                <a16:creationId xmlns:a16="http://schemas.microsoft.com/office/drawing/2014/main" id="{C9DD9427-05D7-4BC6-A92C-80B378E2F2F2}"/>
              </a:ext>
            </a:extLst>
          </p:cNvPr>
          <p:cNvSpPr>
            <a:spLocks xmlns:a="http://schemas.openxmlformats.org/drawingml/2006/main" noGrp="1"/>
          </p:cNvSpPr>
          <p:nvPr/>
        </p:nvSpPr>
        <p:spPr>
          <a:xfrm xmlns:a="http://schemas.openxmlformats.org/drawingml/2006/main">
            <a:off x="5667375" y="1924050"/>
            <a:ext cx="8953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Vrijdag bij a–c, zaterdag bij d en f, beide dagen bij e.</a:t>
            </a:r>
          </a:p>
        </p:txBody>
      </p:sp>
      <p:sp>
        <p:nvSpPr>
          <p:cNvPr id="7" name="Berekeningen">
            <a:extLst xmlns:a="http://schemas.openxmlformats.org/drawingml/2006/main">
              <a:ext uri="{FF2B5EF4-FFF2-40B4-BE49-F238E27FC236}">
                <a16:creationId xmlns:a16="http://schemas.microsoft.com/office/drawing/2014/main" id="{7C075E41-4BC9-47BD-8AEA-ED6DA30845C1}"/>
              </a:ext>
            </a:extLst>
          </p:cNvPr>
          <p:cNvSpPr>
            <a:spLocks xmlns:a="http://schemas.openxmlformats.org/drawingml/2006/main" noGrp="1"/>
          </p:cNvSpPr>
          <p:nvPr/>
        </p:nvSpPr>
        <p:spPr>
          <a:xfrm xmlns:a="http://schemas.openxmlformats.org/drawingml/2006/main">
            <a:off x="571500" y="329565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Berekeningen</a:t>
            </a:r>
          </a:p>
        </p:txBody>
      </p:sp>
      <p:sp>
        <p:nvSpPr>
          <p:cNvPr id="8" name="Formule, ingevulde getallen en volledige eenheid.">
            <a:extLst xmlns:a="http://schemas.openxmlformats.org/drawingml/2006/main">
              <a:ext uri="{FF2B5EF4-FFF2-40B4-BE49-F238E27FC236}">
                <a16:creationId xmlns:a16="http://schemas.microsoft.com/office/drawing/2014/main" id="{9EFB0F42-677B-4398-98C6-DB6A84A01F31}"/>
              </a:ext>
            </a:extLst>
          </p:cNvPr>
          <p:cNvSpPr>
            <a:spLocks xmlns:a="http://schemas.openxmlformats.org/drawingml/2006/main" noGrp="1"/>
          </p:cNvSpPr>
          <p:nvPr/>
        </p:nvSpPr>
        <p:spPr>
          <a:xfrm xmlns:a="http://schemas.openxmlformats.org/drawingml/2006/main">
            <a:off x="5667375" y="3295650"/>
            <a:ext cx="8953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Formule, ingevulde getallen en volledige eenheid.</a:t>
            </a:r>
          </a:p>
        </p:txBody>
      </p:sp>
      <p:sp>
        <p:nvSpPr>
          <p:cNvPr id="9" name="Grafiek">
            <a:extLst xmlns:a="http://schemas.openxmlformats.org/drawingml/2006/main">
              <a:ext uri="{FF2B5EF4-FFF2-40B4-BE49-F238E27FC236}">
                <a16:creationId xmlns:a16="http://schemas.microsoft.com/office/drawing/2014/main" id="{4E04F38E-CC58-42EE-8720-35625A952754}"/>
              </a:ext>
            </a:extLst>
          </p:cNvPr>
          <p:cNvSpPr>
            <a:spLocks xmlns:a="http://schemas.openxmlformats.org/drawingml/2006/main" noGrp="1"/>
          </p:cNvSpPr>
          <p:nvPr/>
        </p:nvSpPr>
        <p:spPr>
          <a:xfrm xmlns:a="http://schemas.openxmlformats.org/drawingml/2006/main">
            <a:off x="571500" y="466725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Grafiek</a:t>
            </a:r>
          </a:p>
        </p:txBody>
      </p:sp>
      <p:sp>
        <p:nvSpPr>
          <p:cNvPr id="10" name="(400; 2.000), positieve winst en de groei per extra lunchbox">
            <a:extLst xmlns:a="http://schemas.openxmlformats.org/drawingml/2006/main">
              <a:ext uri="{FF2B5EF4-FFF2-40B4-BE49-F238E27FC236}">
                <a16:creationId xmlns:a16="http://schemas.microsoft.com/office/drawing/2014/main" id="{B9DF8572-8368-44FF-8C46-C91C1B293EBA}"/>
              </a:ext>
            </a:extLst>
          </p:cNvPr>
          <p:cNvSpPr>
            <a:spLocks xmlns:a="http://schemas.openxmlformats.org/drawingml/2006/main" noGrp="1"/>
          </p:cNvSpPr>
          <p:nvPr/>
        </p:nvSpPr>
        <p:spPr>
          <a:xfrm xmlns:a="http://schemas.openxmlformats.org/drawingml/2006/main">
            <a:off x="5667375" y="4667250"/>
            <a:ext cx="8953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(400; 2.000), positieve winst en de groei per extra lunchbox.</a:t>
            </a:r>
          </a:p>
        </p:txBody>
      </p:sp>
      <p:sp>
        <p:nvSpPr>
          <p:cNvPr id="11" name="Redenering">
            <a:extLst xmlns:a="http://schemas.openxmlformats.org/drawingml/2006/main">
              <a:ext uri="{FF2B5EF4-FFF2-40B4-BE49-F238E27FC236}">
                <a16:creationId xmlns:a16="http://schemas.microsoft.com/office/drawing/2014/main" id="{CF66546D-3438-4037-9291-41C655EAF91F}"/>
              </a:ext>
            </a:extLst>
          </p:cNvPr>
          <p:cNvSpPr>
            <a:spLocks xmlns:a="http://schemas.openxmlformats.org/drawingml/2006/main" noGrp="1"/>
          </p:cNvSpPr>
          <p:nvPr/>
        </p:nvSpPr>
        <p:spPr>
          <a:xfrm xmlns:a="http://schemas.openxmlformats.org/drawingml/2006/main">
            <a:off x="571500" y="603885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Redenering</a:t>
            </a:r>
          </a:p>
        </p:txBody>
      </p:sp>
      <p:sp>
        <p:nvSpPr>
          <p:cNvPr id="12" name="Gelijke extra omzet geeft bij stijgende MK minder extra wins">
            <a:extLst xmlns:a="http://schemas.openxmlformats.org/drawingml/2006/main">
              <a:ext uri="{FF2B5EF4-FFF2-40B4-BE49-F238E27FC236}">
                <a16:creationId xmlns:a16="http://schemas.microsoft.com/office/drawing/2014/main" id="{AAA857A5-5B55-4EEC-AEED-A144DC117771}"/>
              </a:ext>
            </a:extLst>
          </p:cNvPr>
          <p:cNvSpPr>
            <a:spLocks xmlns:a="http://schemas.openxmlformats.org/drawingml/2006/main" noGrp="1"/>
          </p:cNvSpPr>
          <p:nvPr/>
        </p:nvSpPr>
        <p:spPr>
          <a:xfrm xmlns:a="http://schemas.openxmlformats.org/drawingml/2006/main">
            <a:off x="5667375" y="6038850"/>
            <a:ext cx="8953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Gelijke extra omzet geeft bij stijgende MK minder extra winst.</a:t>
            </a:r>
          </a:p>
        </p:txBody>
      </p:sp>
      <p:sp>
        <p:nvSpPr>
          <p:cNvPr id="13" name="Verbeter één ontbrekende stap of uitleg in je eigen antwoord">
            <a:extLst xmlns:a="http://schemas.openxmlformats.org/drawingml/2006/main">
              <a:ext uri="{FF2B5EF4-FFF2-40B4-BE49-F238E27FC236}">
                <a16:creationId xmlns:a16="http://schemas.microsoft.com/office/drawing/2014/main" id="{362D0F70-4CAF-4FAC-8906-8989C154C60B}"/>
              </a:ext>
            </a:extLst>
          </p:cNvPr>
          <p:cNvSpPr>
            <a:spLocks xmlns:a="http://schemas.openxmlformats.org/drawingml/2006/main" noGrp="1"/>
          </p:cNvSpPr>
          <p:nvPr/>
        </p:nvSpPr>
        <p:spPr>
          <a:xfrm xmlns:a="http://schemas.openxmlformats.org/drawingml/2006/main">
            <a:off x="571500" y="7505700"/>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Verbeter één ontbrekende stap of uitleg in je eigen antwoord.</a:t>
            </a:r>
          </a:p>
        </p:txBody>
      </p:sp>
    </p:spTree>
    <p:extLst>
      <p:ext uri="{BB962C8B-B14F-4D97-AF65-F5344CB8AC3E}">
        <p14:creationId xmlns:p14="http://schemas.microsoft.com/office/powerpoint/2010/main" val="25608980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1.4 Gemengde opgaven">
            <a:extLst xmlns:a="http://schemas.openxmlformats.org/drawingml/2006/main">
              <a:ext uri="{FF2B5EF4-FFF2-40B4-BE49-F238E27FC236}">
                <a16:creationId xmlns:a16="http://schemas.microsoft.com/office/drawing/2014/main" id="{67814A60-1E0B-4CFA-80C1-020D9EF7E07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§2.1.4 Gemengde opgaven</a:t>
            </a:r>
          </a:p>
        </p:txBody>
      </p:sp>
      <p:sp>
        <p:nvSpPr>
          <p:cNvPr id="2" name="">
            <a:extLst xmlns:a="http://schemas.openxmlformats.org/drawingml/2006/main">
              <a:ext uri="{FF2B5EF4-FFF2-40B4-BE49-F238E27FC236}">
                <a16:creationId xmlns:a16="http://schemas.microsoft.com/office/drawing/2014/main" id="{81F8F05C-9C57-4029-A827-BC6577FA8A3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2.1.4 Gemengde opgaven">
            <a:extLst xmlns:a="http://schemas.openxmlformats.org/drawingml/2006/main">
              <a:ext uri="{FF2B5EF4-FFF2-40B4-BE49-F238E27FC236}">
                <a16:creationId xmlns:a16="http://schemas.microsoft.com/office/drawing/2014/main" id="{576B899C-EFA4-4C4D-B281-981F8B3954E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§2.1.4 Gemengde opgaven</a:t>
            </a:r>
          </a:p>
        </p:txBody>
      </p:sp>
      <p:sp>
        <p:nvSpPr>
          <p:cNvPr id="4" name="slide-number">
            <a:extLst xmlns:a="http://schemas.openxmlformats.org/drawingml/2006/main">
              <a:ext uri="{FF2B5EF4-FFF2-40B4-BE49-F238E27FC236}">
                <a16:creationId xmlns:a16="http://schemas.microsoft.com/office/drawing/2014/main" id="{75543036-1EB1-4D37-9FC3-B715BF5E9E1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phase">
            <a:extLst xmlns:a="http://schemas.openxmlformats.org/drawingml/2006/main">
              <a:ext uri="{FF2B5EF4-FFF2-40B4-BE49-F238E27FC236}">
                <a16:creationId xmlns:a16="http://schemas.microsoft.com/office/drawing/2014/main" id="{5987B3C5-43C7-4630-A340-36BB971E9A3D}"/>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8B9DC60F-ED53-4CC9-86CB-0D0E1827CB2C}"/>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D052B550-0A9F-4668-B3AF-53037F31BA41}"/>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09E7B10F-82A1-43E5-BEF3-62E21A740EFE}"/>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74233559-0FCB-4A0D-8171-25AA6329115E}"/>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DC0A3E14-40DD-48FD-937A-D50174BA92D4}"/>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27FCDBBB-0A0E-4106-9049-5A164220D218}"/>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528548D2-0010-4251-889F-57566B9E0BE7}"/>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25DF8009-FA72-4619-B7F8-E1AB0529C931}"/>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4D8FE108-411B-4405-8B01-B64591832320}"/>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985F5FFE-6FCC-427A-825E-59D1DCB3AC63}"/>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DF330B68-CA87-4D08-BB1E-CF338F76ED0B}"/>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37635C45-62FD-402A-8E71-5248E2FF4835}"/>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6B74C009-ED0C-4A82-BF98-AB1B3E8EA5D4}"/>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5.</a:t>
            </a:r>
          </a:p>
        </p:txBody>
      </p:sp>
      <p:sp>
        <p:nvSpPr>
          <p:cNvPr id="19" name="route-number-7">
            <a:extLst xmlns:a="http://schemas.openxmlformats.org/drawingml/2006/main">
              <a:ext uri="{FF2B5EF4-FFF2-40B4-BE49-F238E27FC236}">
                <a16:creationId xmlns:a16="http://schemas.microsoft.com/office/drawing/2014/main" id="{7D8862DB-9265-4004-BC27-37CC7C58F4D5}"/>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019BB245-D4C6-4856-84E9-6B75BCCB577C}"/>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2A662EE7-AE16-4D20-976A-750591C74BB3}"/>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AC7610A2-9B11-4F38-81A9-58DAA8F7CE5B}"/>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Gegevens kiezen en combineren.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Tabel en grafiek verbinden.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Een uitspraak onderbouwen.</a:t>
            </a:r>
          </a:p>
        </p:txBody>
      </p:sp>
      <p:sp>
        <p:nvSpPr>
          <p:cNvPr id="23" name="">
            <a:extLst xmlns:a="http://schemas.openxmlformats.org/drawingml/2006/main">
              <a:ext uri="{FF2B5EF4-FFF2-40B4-BE49-F238E27FC236}">
                <a16:creationId xmlns:a16="http://schemas.microsoft.com/office/drawing/2014/main" id="{5F8DA40E-0C20-4F10-B3F6-329586156CC6}"/>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9F122483-D4AA-4D77-A3C9-61F79A6E715F}"/>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AFE3E056-E370-4EA5-91EF-0786D6AD6906}"/>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Pagina 29</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Opgave 1</a:t>
            </a:r>
          </a:p>
        </p:txBody>
      </p:sp>
      <p:sp>
        <p:nvSpPr>
          <p:cNvPr id="26" name="">
            <a:extLst xmlns:a="http://schemas.openxmlformats.org/drawingml/2006/main">
              <a:ext uri="{FF2B5EF4-FFF2-40B4-BE49-F238E27FC236}">
                <a16:creationId xmlns:a16="http://schemas.microsoft.com/office/drawing/2014/main" id="{CBB02504-C67D-49E0-B527-E927CF952E84}"/>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C6D68496-A8AA-42A1-B312-F6933D9CA9A3}"/>
              </a:ext>
            </a:extLst>
          </p:cNvPr>
          <p:cNvSpPr>
            <a:spLocks xmlns:a="http://schemas.openxmlformats.org/drawingml/2006/main" noGrp="1"/>
          </p:cNvSpPr>
          <p:nvPr/>
        </p:nvSpPr>
        <p:spPr>
          <a:xfrm xmlns:a="http://schemas.openxmlformats.org/drawingml/2006/main">
            <a:off x="9258300" y="56292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F6398E10-C6A9-4D95-860F-AF533B69D51D}"/>
              </a:ext>
            </a:extLst>
          </p:cNvPr>
          <p:cNvSpPr>
            <a:spLocks xmlns:a="http://schemas.openxmlformats.org/drawingml/2006/main" noGrp="1"/>
          </p:cNvSpPr>
          <p:nvPr/>
        </p:nvSpPr>
        <p:spPr>
          <a:xfrm xmlns:a="http://schemas.openxmlformats.org/drawingml/2006/main">
            <a:off x="9258300" y="61912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§2.1.4 · Opgaven 1–7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Gemengd: 1–4 · Doel: 5</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Bonus / denkertje: 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Herhaling: 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11175205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2026-09-28T12:33:30.1890000Z</dcterms:created>
  <dcterms:modified xsi:type="dcterms:W3CDTF">2026-09-28T12:33:30.1890000Z</dcterms:modified>
</coreProperties>
</file>