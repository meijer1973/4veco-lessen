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slides/charts/chart1.xml" ContentType="application/vnd.openxmlformats-officedocument.drawingml.chart+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slides/charts/chart2.xml" ContentType="application/vnd.openxmlformats-officedocument.drawingml.chart+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slides/charts/chart3.xml" ContentType="application/vnd.openxmlformats-officedocument.drawingml.chart+xml"/>
  <Override PartName="/ppt/notesSlides/notesSlide19.xml" ContentType="application/vnd.openxmlformats-officedocument.presentationml.notesSlide+xml"/>
  <Override PartName="/ppt/slides/slide20.xml" ContentType="application/vnd.openxmlformats-officedocument.presentationml.slide+xml"/>
  <Override PartName="/ppt/slides/charts/chart4.xml" ContentType="application/vnd.openxmlformats-officedocument.drawingml.chart+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2a412fb46d764c6a" /><Relationship Type="http://schemas.openxmlformats.org/officeDocument/2006/relationships/extended-properties" Target="/docProps/app.xml" Id="Rd0455e8dc4f94cdb" /><Relationship Type="http://schemas.openxmlformats.org/officeDocument/2006/relationships/officeDocument" Target="/ppt/presentation.xml" Id="R04d39ff3ae674f3a" /></Relationships>
</file>

<file path=ppt/presentation.xml><?xml version="1.0" encoding="utf-8"?>
<p:presentation xmlns:p="http://schemas.openxmlformats.org/presentationml/2006/main">
  <p:sldMasterIdLst>
    <p:sldMasterId xmlns:r="http://schemas.openxmlformats.org/officeDocument/2006/relationships" id="2147483648" r:id="Rf74d3cbe5d034b4a"/>
  </p:sldMasterIdLst>
  <p:notesMasterIdLst>
    <p:notesMasterId xmlns:r="http://schemas.openxmlformats.org/officeDocument/2006/relationships" r:id="Rb0d97689d10e4a23"/>
  </p:notesMasterIdLst>
  <p:sldIdLst>
    <p:sldId xmlns:r="http://schemas.openxmlformats.org/officeDocument/2006/relationships" id="256" r:id="Rbb4842db50fa4e0c"/>
    <p:sldId xmlns:r="http://schemas.openxmlformats.org/officeDocument/2006/relationships" id="257" r:id="Rf414dc63a8f247b5"/>
    <p:sldId xmlns:r="http://schemas.openxmlformats.org/officeDocument/2006/relationships" id="258" r:id="Rd81ecdea910e4f52"/>
    <p:sldId xmlns:r="http://schemas.openxmlformats.org/officeDocument/2006/relationships" id="259" r:id="Rbe3c32ba981942e1"/>
    <p:sldId xmlns:r="http://schemas.openxmlformats.org/officeDocument/2006/relationships" id="260" r:id="Rfbdb06175e634c22"/>
    <p:sldId xmlns:r="http://schemas.openxmlformats.org/officeDocument/2006/relationships" id="261" r:id="R655a7e0106ff4433"/>
    <p:sldId xmlns:r="http://schemas.openxmlformats.org/officeDocument/2006/relationships" id="262" r:id="R5e4e32a009c54bc2"/>
    <p:sldId xmlns:r="http://schemas.openxmlformats.org/officeDocument/2006/relationships" id="263" r:id="Re144d6a876e14129"/>
    <p:sldId xmlns:r="http://schemas.openxmlformats.org/officeDocument/2006/relationships" id="264" r:id="Rcbabca595e9c4c8c"/>
    <p:sldId xmlns:r="http://schemas.openxmlformats.org/officeDocument/2006/relationships" id="265" r:id="R85e46b3cf0734d88"/>
    <p:sldId xmlns:r="http://schemas.openxmlformats.org/officeDocument/2006/relationships" id="266" r:id="Rba091534a3e14176"/>
    <p:sldId xmlns:r="http://schemas.openxmlformats.org/officeDocument/2006/relationships" id="267" r:id="R8c690ebd1aa34a47"/>
    <p:sldId xmlns:r="http://schemas.openxmlformats.org/officeDocument/2006/relationships" id="268" r:id="Rffa1857c63da4ea2"/>
    <p:sldId xmlns:r="http://schemas.openxmlformats.org/officeDocument/2006/relationships" id="269" r:id="R4df2e763bca743bd"/>
    <p:sldId xmlns:r="http://schemas.openxmlformats.org/officeDocument/2006/relationships" id="270" r:id="Rfbe8ba1aa4b24232"/>
    <p:sldId xmlns:r="http://schemas.openxmlformats.org/officeDocument/2006/relationships" id="271" r:id="R18ebdb06a26e4f94"/>
    <p:sldId xmlns:r="http://schemas.openxmlformats.org/officeDocument/2006/relationships" id="272" r:id="Raf311d5f58584285"/>
    <p:sldId xmlns:r="http://schemas.openxmlformats.org/officeDocument/2006/relationships" id="273" r:id="R0f3379b0c0c54322"/>
    <p:sldId xmlns:r="http://schemas.openxmlformats.org/officeDocument/2006/relationships" id="274" r:id="R7e85645e8bef414d"/>
    <p:sldId xmlns:r="http://schemas.openxmlformats.org/officeDocument/2006/relationships" id="275" r:id="R74a212352579490c"/>
    <p:sldId xmlns:r="http://schemas.openxmlformats.org/officeDocument/2006/relationships" id="276" r:id="R1b96ab31d7ff46cb"/>
    <p:sldId xmlns:r="http://schemas.openxmlformats.org/officeDocument/2006/relationships" id="277" r:id="R461e34fc40a04a8d"/>
    <p:sldId xmlns:r="http://schemas.openxmlformats.org/officeDocument/2006/relationships" id="278" r:id="R0e078532c8204812"/>
    <p:sldId xmlns:r="http://schemas.openxmlformats.org/officeDocument/2006/relationships" id="279" r:id="Re2d4c3b0801f49eb"/>
  </p:sldIdLst>
  <p:sldSz cx="15240000" cy="8572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56fe990e32849a8" /><Relationship Type="http://schemas.openxmlformats.org/officeDocument/2006/relationships/slideMaster" Target="/ppt/slideMasters/slideMaster1.xml" Id="Rf74d3cbe5d034b4a" /><Relationship Type="http://schemas.openxmlformats.org/officeDocument/2006/relationships/notesMaster" Target="/ppt/notesMasters/notesMaster1.xml" Id="Rb0d97689d10e4a23" /><Relationship Type="http://schemas.openxmlformats.org/officeDocument/2006/relationships/presProps" Target="/ppt/presProps.xml" Id="Rf685e5fe4b91481f" /><Relationship Type="http://schemas.openxmlformats.org/officeDocument/2006/relationships/tableStyles" Target="/ppt/tableStyles.xml" Id="Rbb204b902be049db" /><Relationship Type="http://schemas.openxmlformats.org/officeDocument/2006/relationships/slide" Target="/ppt/slides/slide1.xml" Id="Rbb4842db50fa4e0c" /><Relationship Type="http://schemas.openxmlformats.org/officeDocument/2006/relationships/slide" Target="/ppt/slides/slide2.xml" Id="Rf414dc63a8f247b5" /><Relationship Type="http://schemas.openxmlformats.org/officeDocument/2006/relationships/slide" Target="/ppt/slides/slide3.xml" Id="Rd81ecdea910e4f52" /><Relationship Type="http://schemas.openxmlformats.org/officeDocument/2006/relationships/slide" Target="/ppt/slides/slide4.xml" Id="Rbe3c32ba981942e1" /><Relationship Type="http://schemas.openxmlformats.org/officeDocument/2006/relationships/slide" Target="/ppt/slides/slide5.xml" Id="Rfbdb06175e634c22" /><Relationship Type="http://schemas.openxmlformats.org/officeDocument/2006/relationships/slide" Target="/ppt/slides/slide6.xml" Id="R655a7e0106ff4433" /><Relationship Type="http://schemas.openxmlformats.org/officeDocument/2006/relationships/slide" Target="/ppt/slides/slide7.xml" Id="R5e4e32a009c54bc2" /><Relationship Type="http://schemas.openxmlformats.org/officeDocument/2006/relationships/slide" Target="/ppt/slides/slide8.xml" Id="Re144d6a876e14129" /><Relationship Type="http://schemas.openxmlformats.org/officeDocument/2006/relationships/slide" Target="/ppt/slides/slide9.xml" Id="Rcbabca595e9c4c8c" /><Relationship Type="http://schemas.openxmlformats.org/officeDocument/2006/relationships/slide" Target="/ppt/slides/slide10.xml" Id="R85e46b3cf0734d88" /><Relationship Type="http://schemas.openxmlformats.org/officeDocument/2006/relationships/slide" Target="/ppt/slides/slide11.xml" Id="Rba091534a3e14176" /><Relationship Type="http://schemas.openxmlformats.org/officeDocument/2006/relationships/slide" Target="/ppt/slides/slide12.xml" Id="R8c690ebd1aa34a47" /><Relationship Type="http://schemas.openxmlformats.org/officeDocument/2006/relationships/slide" Target="/ppt/slides/slide13.xml" Id="Rffa1857c63da4ea2" /><Relationship Type="http://schemas.openxmlformats.org/officeDocument/2006/relationships/slide" Target="/ppt/slides/slide14.xml" Id="R4df2e763bca743bd" /><Relationship Type="http://schemas.openxmlformats.org/officeDocument/2006/relationships/slide" Target="/ppt/slides/slide15.xml" Id="Rfbe8ba1aa4b24232" /><Relationship Type="http://schemas.openxmlformats.org/officeDocument/2006/relationships/slide" Target="/ppt/slides/slide16.xml" Id="R18ebdb06a26e4f94" /><Relationship Type="http://schemas.openxmlformats.org/officeDocument/2006/relationships/slide" Target="/ppt/slides/slide17.xml" Id="Raf311d5f58584285" /><Relationship Type="http://schemas.openxmlformats.org/officeDocument/2006/relationships/slide" Target="/ppt/slides/slide18.xml" Id="R0f3379b0c0c54322" /><Relationship Type="http://schemas.openxmlformats.org/officeDocument/2006/relationships/slide" Target="/ppt/slides/slide19.xml" Id="R7e85645e8bef414d" /><Relationship Type="http://schemas.openxmlformats.org/officeDocument/2006/relationships/slide" Target="/ppt/slides/slide20.xml" Id="R74a212352579490c" /><Relationship Type="http://schemas.openxmlformats.org/officeDocument/2006/relationships/slide" Target="/ppt/slides/slide21.xml" Id="R1b96ab31d7ff46cb" /><Relationship Type="http://schemas.openxmlformats.org/officeDocument/2006/relationships/slide" Target="/ppt/slides/slide22.xml" Id="R461e34fc40a04a8d" /><Relationship Type="http://schemas.openxmlformats.org/officeDocument/2006/relationships/slide" Target="/ppt/slides/slide23.xml" Id="R0e078532c8204812" /><Relationship Type="http://schemas.openxmlformats.org/officeDocument/2006/relationships/slide" Target="/ppt/slides/slide24.xml" Id="Re2d4c3b0801f49e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efaf69546c74bb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4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cb02430a3c14ac3" /><Relationship Type="http://schemas.openxmlformats.org/officeDocument/2006/relationships/notesMaster" Target="/ppt/notesMasters/notesMaster1.xml" Id="R8474b45d960a4046" /></Relationships>
</file>

<file path=ppt/notesSlides/_rels/notesSlide2.xml.rels>&#65279;<?xml version="1.0" encoding="utf-8"?><Relationships xmlns="http://schemas.openxmlformats.org/package/2006/relationships"><Relationship Type="http://schemas.openxmlformats.org/officeDocument/2006/relationships/slide" Target="/ppt/slides/slide2.xml" Id="Re951ab354db048f0" /><Relationship Type="http://schemas.openxmlformats.org/officeDocument/2006/relationships/notesMaster" Target="/ppt/notesMasters/notesMaster1.xml" Id="R8d40fdec32cf40f7" /></Relationships>
</file>

<file path=ppt/notesSlides/_rels/notesSlide3.xml.rels>&#65279;<?xml version="1.0" encoding="utf-8"?><Relationships xmlns="http://schemas.openxmlformats.org/package/2006/relationships"><Relationship Type="http://schemas.openxmlformats.org/officeDocument/2006/relationships/slide" Target="/ppt/slides/slide3.xml" Id="R50e6b5396679415c" /><Relationship Type="http://schemas.openxmlformats.org/officeDocument/2006/relationships/notesMaster" Target="/ppt/notesMasters/notesMaster1.xml" Id="R2f8d49ab9e4e4b46" /></Relationships>
</file>

<file path=ppt/notesSlides/_rels/notesSlide4.xml.rels>&#65279;<?xml version="1.0" encoding="utf-8"?><Relationships xmlns="http://schemas.openxmlformats.org/package/2006/relationships"><Relationship Type="http://schemas.openxmlformats.org/officeDocument/2006/relationships/slide" Target="/ppt/slides/slide4.xml" Id="R661eb24d57774793" /><Relationship Type="http://schemas.openxmlformats.org/officeDocument/2006/relationships/notesMaster" Target="/ppt/notesMasters/notesMaster1.xml" Id="Rd5359d74284d4426" /></Relationships>
</file>

<file path=ppt/notesSlides/_rels/notesSlide5.xml.rels>&#65279;<?xml version="1.0" encoding="utf-8"?><Relationships xmlns="http://schemas.openxmlformats.org/package/2006/relationships"><Relationship Type="http://schemas.openxmlformats.org/officeDocument/2006/relationships/slide" Target="/ppt/slides/slide5.xml" Id="R2c95eb69140f4f5d" /><Relationship Type="http://schemas.openxmlformats.org/officeDocument/2006/relationships/notesMaster" Target="/ppt/notesMasters/notesMaster1.xml" Id="R137d6af34d664a62" /></Relationships>
</file>

<file path=ppt/notesSlides/_rels/notesSlide6.xml.rels>&#65279;<?xml version="1.0" encoding="utf-8"?><Relationships xmlns="http://schemas.openxmlformats.org/package/2006/relationships"><Relationship Type="http://schemas.openxmlformats.org/officeDocument/2006/relationships/slide" Target="/ppt/slides/slide6.xml" Id="R7af8ca2307ae4f8b" /><Relationship Type="http://schemas.openxmlformats.org/officeDocument/2006/relationships/notesMaster" Target="/ppt/notesMasters/notesMaster1.xml" Id="R9263c7d80b1c4e2e" /></Relationships>
</file>

<file path=ppt/notesSlides/_rels/notesSlide7.xml.rels>&#65279;<?xml version="1.0" encoding="utf-8"?><Relationships xmlns="http://schemas.openxmlformats.org/package/2006/relationships"><Relationship Type="http://schemas.openxmlformats.org/officeDocument/2006/relationships/slide" Target="/ppt/slides/slide7.xml" Id="R1b8faba5ca7e4791" /><Relationship Type="http://schemas.openxmlformats.org/officeDocument/2006/relationships/notesMaster" Target="/ppt/notesMasters/notesMaster1.xml" Id="Rc2c7e6734fa64873" /></Relationships>
</file>

<file path=ppt/notesSlides/_rels/notesSlide8.xml.rels>&#65279;<?xml version="1.0" encoding="utf-8"?><Relationships xmlns="http://schemas.openxmlformats.org/package/2006/relationships"><Relationship Type="http://schemas.openxmlformats.org/officeDocument/2006/relationships/slide" Target="/ppt/slides/slide8.xml" Id="R8be8cd2f91ef4243" /><Relationship Type="http://schemas.openxmlformats.org/officeDocument/2006/relationships/notesMaster" Target="/ppt/notesMasters/notesMaster1.xml" Id="R561b995cca6e47d6" /></Relationships>
</file>

<file path=ppt/notesSlides/_rels/notesSlide9.xml.rels>&#65279;<?xml version="1.0" encoding="utf-8"?><Relationships xmlns="http://schemas.openxmlformats.org/package/2006/relationships"><Relationship Type="http://schemas.openxmlformats.org/officeDocument/2006/relationships/slide" Target="/ppt/slides/slide9.xml" Id="R30b88d615520420c" /><Relationship Type="http://schemas.openxmlformats.org/officeDocument/2006/relationships/notesMaster" Target="/ppt/notesMasters/notesMaster1.xml" Id="R343f1c5727b84f48"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2f988a020974292" /><Relationship Type="http://schemas.openxmlformats.org/officeDocument/2006/relationships/notesMaster" Target="/ppt/notesMasters/notesMaster1.xml" Id="R6493c54d3d8b4d70"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6e7ef969b9fb4e21" /><Relationship Type="http://schemas.openxmlformats.org/officeDocument/2006/relationships/notesMaster" Target="/ppt/notesMasters/notesMaster1.xml" Id="R1238ac8530db4da1"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8259c2ccc392463c" /><Relationship Type="http://schemas.openxmlformats.org/officeDocument/2006/relationships/notesMaster" Target="/ppt/notesMasters/notesMaster1.xml" Id="R033b5b6293cf431e"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acc68e85364b401b" /><Relationship Type="http://schemas.openxmlformats.org/officeDocument/2006/relationships/notesMaster" Target="/ppt/notesMasters/notesMaster1.xml" Id="R5e3df1dfb4234ac0"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f23b701655cf4dfe" /><Relationship Type="http://schemas.openxmlformats.org/officeDocument/2006/relationships/notesMaster" Target="/ppt/notesMasters/notesMaster1.xml" Id="R75d6db49bd2548bc"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6f3b8475b4fe4961" /><Relationship Type="http://schemas.openxmlformats.org/officeDocument/2006/relationships/notesMaster" Target="/ppt/notesMasters/notesMaster1.xml" Id="Raf1b0e3774d045c4"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5025fe4972064de8" /><Relationship Type="http://schemas.openxmlformats.org/officeDocument/2006/relationships/notesMaster" Target="/ppt/notesMasters/notesMaster1.xml" Id="Rafaa6f48e447496e"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d5d3be2ab54f41cd" /><Relationship Type="http://schemas.openxmlformats.org/officeDocument/2006/relationships/notesMaster" Target="/ppt/notesMasters/notesMaster1.xml" Id="R7c75f8111341435d"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1c24ba08d7d64b19" /><Relationship Type="http://schemas.openxmlformats.org/officeDocument/2006/relationships/notesMaster" Target="/ppt/notesMasters/notesMaster1.xml" Id="R33cc9e2a12c547f6"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0a2f357ddc91488a" /><Relationship Type="http://schemas.openxmlformats.org/officeDocument/2006/relationships/notesMaster" Target="/ppt/notesMasters/notesMaster1.xml" Id="Re9a07e5c93744d83"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3f80d1e90d0a45de" /><Relationship Type="http://schemas.openxmlformats.org/officeDocument/2006/relationships/notesMaster" Target="/ppt/notesMasters/notesMaster1.xml" Id="R53fea1d985c24c0b"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b80f5653d5d348a5" /><Relationship Type="http://schemas.openxmlformats.org/officeDocument/2006/relationships/notesMaster" Target="/ppt/notesMasters/notesMaster1.xml" Id="R7fd5e36b688144aa"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6fdb36c0a6a3420f" /><Relationship Type="http://schemas.openxmlformats.org/officeDocument/2006/relationships/notesMaster" Target="/ppt/notesMasters/notesMaster1.xml" Id="R4099687d68a44210"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c2fda52e14434f08" /><Relationship Type="http://schemas.openxmlformats.org/officeDocument/2006/relationships/notesMaster" Target="/ppt/notesMasters/notesMaster1.xml" Id="R1581b929489e404e"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8a1af5e2faf94c8a" /><Relationship Type="http://schemas.openxmlformats.org/officeDocument/2006/relationships/notesMaster" Target="/ppt/notesMasters/notesMaster1.xml" Id="Rfa747f84757948a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grootheid vraagt opgave 1?</a:t>
            </a:r>
          </a:p>
          <a:p xmlns:a="http://schemas.openxmlformats.org/drawingml/2006/main">
            <a:r>
              <a:rPr sz="1400"/>
              <a:t/>
            </a:r>
          </a:p>
          <a:p xmlns:a="http://schemas.openxmlformats.org/drawingml/2006/main">
            <a:r>
              <a:rPr sz="1400"/>
              <a:t>Uitleg: Laat deze dia staan tijdens startopdracht. Start met opgave 1 op pagina 29. Deze gemengde paragraaf heeft geen afzonderlijke begeleide basissectie. Leerlingen werken met 1–4 naar doel 5 op pagina 32–33. Bespreek SmoothBox omdat deze echte doeloefening bronselectie, functies, break-even, GTK, marginale verschillen en grafiekinterpretatie samenbrengt. De klasopdracht/huiswerkopdracht is alle opgaven 1, 2, 3, 4, 5, 6 en 7 maken en nakijken, met behoud van het boeklabel bonus/denkertje bij 6 en herhaling bij 7. In de algemene docentenroute zijn 6 en 7 aanvullend; deze presentatie volgt de classroom-afspraak om alle gemengde opgaven als huiswerk te noemen. Begroot indien nodig vervolgwerktijd.</a:t>
            </a:r>
          </a:p>
          <a:p xmlns:a="http://schemas.openxmlformats.org/drawingml/2006/main">
            <a:r>
              <a:rPr sz="1400"/>
              <a:t/>
            </a:r>
          </a:p>
          <a:p xmlns:a="http://schemas.openxmlformats.org/drawingml/2006/main">
            <a:r>
              <a:rPr sz="1400"/>
              <a:t>Misvatting: Verwar bezoekers niet met verkochte producten. Het startpaginanummer is het gedrukte nummer 29, niet PDF-pagina 31.</a:t>
            </a:r>
          </a:p>
          <a:p xmlns:a="http://schemas.openxmlformats.org/drawingml/2006/main">
            <a:r>
              <a:rPr sz="1400"/>
              <a:t/>
            </a:r>
          </a:p>
          <a:p xmlns:a="http://schemas.openxmlformats.org/drawingml/2006/main">
            <a:r>
              <a:rPr sz="1400"/>
              <a:t>Overgang: Ga door naar de volgende lesfase wanneer de klas daaraan toe is.</a:t>
            </a:r>
          </a:p>
          <a:p xmlns:a="http://schemas.openxmlformats.org/drawingml/2006/main">
            <a:r>
              <a:rPr sz="1400"/>
              <a:t/>
            </a:r>
          </a:p>
          <a:p xmlns:a="http://schemas.openxmlformats.org/drawingml/2006/main">
            <a:r>
              <a:rPr sz="1400"/>
              <a:t>Bron: leerlingenboek Boek 2, chatuitgave 2026, revisie 21 september 2026, gedrukte pagina 29–34. https://github.com/meijer1973/4veco-lessen/blob/08d7fd27830b5c42d1dbebc7fcb73b882b4d67a4/Boek%202%20-%20Kosten%2C%20opbrengsten%2C%20elasticiteit%20en%20surplus/edities/chat-2026/boek/Boek_2_Compleet.pdf</a:t>
            </a:r>
          </a:p>
          <a:p xmlns:a="http://schemas.openxmlformats.org/drawingml/2006/main">
            <a:r>
              <a:rPr sz="1400"/>
              <a:t>Antwoordmodel: https://github.com/meijer1973/4veco-lessen/blob/08d7fd27830b5c42d1dbebc7fcb73b882b4d67a4/Boek%202%20-%20Kosten%2C%20opbrengsten%2C%20elasticiteit%20en%20surplus/edities/chat-2026/bronnen/H1/2.1%20Kosten%20en%20opbrengsten%20%E2%80%93%20antwoorden.md</a:t>
            </a:r>
          </a:p>
          <a:p xmlns:a="http://schemas.openxmlformats.org/drawingml/2006/main">
            <a:r>
              <a:rPr sz="1400"/>
              <a:t>Docentenroute: https://github.com/meijer1973/4veco-lessen/blob/08d7fd27830b5c42d1dbebc7fcb73b882b4d67a4/Boek%202%20-%20Kosten%2C%20opbrengsten%2C%20elasticiteit%20en%20surplus/edities/chat-2026/bronnen/H1/Docenten_en_bouwverantwoording.md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Hoe zie je of een vraag een totaal of een bedrag per product verlangt?</a:t>
            </a:r>
          </a:p>
          <a:p xmlns:a="http://schemas.openxmlformats.org/drawingml/2006/main">
            <a:r>
              <a:rPr sz="1400"/>
              <a:t/>
            </a:r>
          </a:p>
          <a:p xmlns:a="http://schemas.openxmlformats.org/drawingml/2006/main">
            <a:r>
              <a:rPr sz="1400"/>
              <a:t>Uitleg: Er komt geen nieuwe theorie bij. Haal de aanpak uit de voorgaande paragrafen terug. Bij SmoothBox kies je straks per vraag de juiste dag en bron. Een verklaring moet zeggen wat de berekende verandering betekent. De lesdoelen zijn relevante gegevens kiezen, kosten en opbrengsten combineren, een tabel met een grafiek verbinden en een uitspraak onderbouwen.</a:t>
            </a:r>
          </a:p>
          <a:p xmlns:a="http://schemas.openxmlformats.org/drawingml/2006/main">
            <a:r>
              <a:rPr sz="1400"/>
              <a:t/>
            </a:r>
          </a:p>
          <a:p xmlns:a="http://schemas.openxmlformats.org/drawingml/2006/main">
            <a:r>
              <a:rPr sz="1400"/>
              <a:t>Misvatting: Dezelfde formule op alle vragen toepassen werkt niet.</a:t>
            </a:r>
          </a:p>
          <a:p xmlns:a="http://schemas.openxmlformats.org/drawingml/2006/main">
            <a:r>
              <a:rPr sz="1400"/>
              <a:t/>
            </a:r>
          </a:p>
          <a:p xmlns:a="http://schemas.openxmlformats.org/drawingml/2006/main">
            <a:r>
              <a:rPr sz="1400"/>
              <a:t>Overgang: Gebruik de startopgave als kort uitgewerkt voorbeeld.</a:t>
            </a:r>
          </a:p>
          <a:p xmlns:a="http://schemas.openxmlformats.org/drawingml/2006/main">
            <a:r>
              <a:rPr sz="1400"/>
              <a:t/>
            </a:r>
          </a:p>
          <a:p xmlns:a="http://schemas.openxmlformats.org/drawingml/2006/main">
            <a:r>
              <a:rPr sz="1400"/>
              <a:t>Bron: leerlingenboek Boek 2, chatuitgave 2026, revisie 21 september 2026, gedrukte pagina 29–33. https://github.com/meijer1973/4veco-lessen/blob/08d7fd27830b5c42d1dbebc7fcb73b882b4d67a4/Boek%202%20-%20Kosten%2C%20opbrengsten%2C%20elasticiteit%20en%20surplus/edities/chat-2026/boek/Boek_2_Compleet.pdf</a:t>
            </a:r>
          </a:p>
          <a:p xmlns:a="http://schemas.openxmlformats.org/drawingml/2006/main">
            <a:r>
              <a:rPr sz="1400"/>
              <a:t>Antwoordmodel: https://github.com/meijer1973/4veco-lessen/blob/08d7fd27830b5c42d1dbebc7fcb73b882b4d67a4/Boek%202%20-%20Kosten%2C%20opbrengsten%2C%20elasticiteit%20en%20surplus/edities/chat-2026/bronnen/H1/2.1%20Kosten%20en%20opbrengsten%20%E2%80%93%20antwoorden.md</a:t>
            </a:r>
          </a:p>
          <a:p xmlns:a="http://schemas.openxmlformats.org/drawingml/2006/main">
            <a:r>
              <a:rPr sz="1400"/>
              <a:t>Docentenroute: https://github.com/meijer1973/4veco-lessen/blob/08d7fd27830b5c42d1dbebc7fcb73b882b4d67a4/Boek%202%20-%20Kosten%2C%20opbrengsten%2C%20elasticiteit%20en%20surplus/edities/chat-2026/bronnen/H1/Docenten_en_bouwverantwoording.md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bedragen veranderen in totaal als er meer shirts komen?</a:t>
            </a:r>
          </a:p>
          <a:p xmlns:a="http://schemas.openxmlformats.org/drawingml/2006/main">
            <a:r>
              <a:rPr sz="1400"/>
              <a:t/>
            </a:r>
          </a:p>
          <a:p xmlns:a="http://schemas.openxmlformats.org/drawingml/2006/main">
            <a:r>
              <a:rPr sz="1400"/>
              <a:t>Uitleg: Na de startopdracht: tel de vaste bedragen en de variabele bedragen per shirt apart op. Q is het aantal gemaakte én verkochte shirts voor dit feest. TK en TO staan in euro voor het schoolfeest, geldig tot en met 300 shirts. De bezoekverwachting heb je niet nodig om de functies te maken.</a:t>
            </a:r>
          </a:p>
          <a:p xmlns:a="http://schemas.openxmlformats.org/drawingml/2006/main">
            <a:r>
              <a:rPr sz="1400"/>
              <a:t/>
            </a:r>
          </a:p>
          <a:p xmlns:a="http://schemas.openxmlformats.org/drawingml/2006/main">
            <a:r>
              <a:rPr sz="1400"/>
              <a:t>Misvatting: Een vast bedrag per shirt betekent geen constante totale kosten.</a:t>
            </a:r>
          </a:p>
          <a:p xmlns:a="http://schemas.openxmlformats.org/drawingml/2006/main">
            <a:r>
              <a:rPr sz="1400"/>
              <a:t/>
            </a:r>
          </a:p>
          <a:p xmlns:a="http://schemas.openxmlformats.org/drawingml/2006/main">
            <a:r>
              <a:rPr sz="1400"/>
              <a:t>Overgang: Vul de gevraagde hoeveelheid in.</a:t>
            </a:r>
          </a:p>
          <a:p xmlns:a="http://schemas.openxmlformats.org/drawingml/2006/main">
            <a:r>
              <a:rPr sz="1400"/>
              <a:t/>
            </a:r>
          </a:p>
          <a:p xmlns:a="http://schemas.openxmlformats.org/drawingml/2006/main">
            <a:r>
              <a:rPr sz="1400"/>
              <a:t>Bron: leerlingenboek Boek 2, chatuitgave 2026, revisie 21 september 2026, gedrukte pagina 29. https://github.com/meijer1973/4veco-lessen/blob/08d7fd27830b5c42d1dbebc7fcb73b882b4d67a4/Boek%202%20-%20Kosten%2C%20opbrengsten%2C%20elasticiteit%20en%20surplus/edities/chat-2026/boek/Boek_2_Compleet.pdf</a:t>
            </a:r>
          </a:p>
          <a:p xmlns:a="http://schemas.openxmlformats.org/drawingml/2006/main">
            <a:r>
              <a:rPr sz="1400"/>
              <a:t>Antwoordmodel: https://github.com/meijer1973/4veco-lessen/blob/08d7fd27830b5c42d1dbebc7fcb73b882b4d67a4/Boek%202%20-%20Kosten%2C%20opbrengsten%2C%20elasticiteit%20en%20surplus/edities/chat-2026/bronnen/H1/2.1%20Kosten%20en%20opbrengsten%20%E2%80%93%20antwoorden.md</a:t>
            </a:r>
          </a:p>
          <a:p xmlns:a="http://schemas.openxmlformats.org/drawingml/2006/main">
            <a:r>
              <a:rPr sz="1400"/>
              <a:t>Docentenroute: https://github.com/meijer1973/4veco-lessen/blob/08d7fd27830b5c42d1dbebc7fcb73b882b4d67a4/Boek%202%20-%20Kosten%2C%20opbrengsten%2C%20elasticiteit%20en%20surplus/edities/chat-2026/bronnen/H1/Docenten_en_bouwverantwoording.md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deel je bij GTK wel door 150 en bij winst niet?</a:t>
            </a:r>
          </a:p>
          <a:p xmlns:a="http://schemas.openxmlformats.org/drawingml/2006/main">
            <a:r>
              <a:rPr sz="1400"/>
              <a:t/>
            </a:r>
          </a:p>
          <a:p xmlns:a="http://schemas.openxmlformats.org/drawingml/2006/main">
            <a:r>
              <a:rPr sz="1400"/>
              <a:t>Uitleg: Werk steeds via formule, invullen en uitkomst met eenheid. De winst van 300 euro hoort bij alle 150 shirts samen. De gemiddelde totale kosten verdelen 1350 euro over 150 shirts.</a:t>
            </a:r>
          </a:p>
          <a:p xmlns:a="http://schemas.openxmlformats.org/drawingml/2006/main">
            <a:r>
              <a:rPr sz="1400"/>
              <a:t/>
            </a:r>
          </a:p>
          <a:p xmlns:a="http://schemas.openxmlformats.org/drawingml/2006/main">
            <a:r>
              <a:rPr sz="1400"/>
              <a:t>Misvatting: Eenheid euro per shirt hoort niet bij totale winst.</a:t>
            </a:r>
          </a:p>
          <a:p xmlns:a="http://schemas.openxmlformats.org/drawingml/2006/main">
            <a:r>
              <a:rPr sz="1400"/>
              <a:t/>
            </a:r>
          </a:p>
          <a:p xmlns:a="http://schemas.openxmlformats.org/drawingml/2006/main">
            <a:r>
              <a:rPr sz="1400"/>
              <a:t>Overgang: Zoek vervolgens waar de totale opbrengst alle kosten dekt.</a:t>
            </a:r>
          </a:p>
          <a:p xmlns:a="http://schemas.openxmlformats.org/drawingml/2006/main">
            <a:r>
              <a:rPr sz="1400"/>
              <a:t/>
            </a:r>
          </a:p>
          <a:p xmlns:a="http://schemas.openxmlformats.org/drawingml/2006/main">
            <a:r>
              <a:rPr sz="1400"/>
              <a:t>Bron: leerlingenboek Boek 2, chatuitgave 2026, revisie 21 september 2026, gedrukte pagina 29. https://github.com/meijer1973/4veco-lessen/blob/08d7fd27830b5c42d1dbebc7fcb73b882b4d67a4/Boek%202%20-%20Kosten%2C%20opbrengsten%2C%20elasticiteit%20en%20surplus/edities/chat-2026/boek/Boek_2_Compleet.pdf</a:t>
            </a:r>
          </a:p>
          <a:p xmlns:a="http://schemas.openxmlformats.org/drawingml/2006/main">
            <a:r>
              <a:rPr sz="1400"/>
              <a:t>Antwoordmodel: https://github.com/meijer1973/4veco-lessen/blob/08d7fd27830b5c42d1dbebc7fcb73b882b4d67a4/Boek%202%20-%20Kosten%2C%20opbrengsten%2C%20elasticiteit%20en%20surplus/edities/chat-2026/bronnen/H1/2.1%20Kosten%20en%20opbrengsten%20%E2%80%93%20antwoorden.md</a:t>
            </a:r>
          </a:p>
          <a:p xmlns:a="http://schemas.openxmlformats.org/drawingml/2006/main">
            <a:r>
              <a:rPr sz="1400"/>
              <a:t>Docentenroute: https://github.com/meijer1973/4veco-lessen/blob/08d7fd27830b5c42d1dbebc7fcb73b882b4d67a4/Boek%202%20-%20Kosten%2C%20opbrengsten%2C%20elasticiteit%20en%20surplus/edities/chat-2026/bronnen/H1/Docenten_en_bouwverantwoording.md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Is break-even hetzelfde als geen verkoopopbrengst?</a:t>
            </a:r>
          </a:p>
          <a:p xmlns:a="http://schemas.openxmlformats.org/drawingml/2006/main">
            <a:r>
              <a:rPr sz="1400"/>
              <a:t/>
            </a:r>
          </a:p>
          <a:p xmlns:a="http://schemas.openxmlformats.org/drawingml/2006/main">
            <a:r>
              <a:rPr sz="1400"/>
              <a:t>Uitleg: Bij 100 shirts: TO = 11 × 100 = 1100; TK = 600 + 5 × 100 = 1100 euro. De uitkomst past binnen 300 shirts capaciteit. De kassa is niet leeg: er is 1100 euro verkoopopbrengst, maar die dekt precies de kosten.</a:t>
            </a:r>
          </a:p>
          <a:p xmlns:a="http://schemas.openxmlformats.org/drawingml/2006/main">
            <a:r>
              <a:rPr sz="1400"/>
              <a:t/>
            </a:r>
          </a:p>
          <a:p xmlns:a="http://schemas.openxmlformats.org/drawingml/2006/main">
            <a:r>
              <a:rPr sz="1400"/>
              <a:t>Misvatting: Winst nul betekent niet dat TO nul is.</a:t>
            </a:r>
          </a:p>
          <a:p xmlns:a="http://schemas.openxmlformats.org/drawingml/2006/main">
            <a:r>
              <a:rPr sz="1400"/>
              <a:t/>
            </a:r>
          </a:p>
          <a:p xmlns:a="http://schemas.openxmlformats.org/drawingml/2006/main">
            <a:r>
              <a:rPr sz="1400"/>
              <a:t>Overgang: Herhaal kort de marginale rekenstap uit een tabel.</a:t>
            </a:r>
          </a:p>
          <a:p xmlns:a="http://schemas.openxmlformats.org/drawingml/2006/main">
            <a:r>
              <a:rPr sz="1400"/>
              <a:t/>
            </a:r>
          </a:p>
          <a:p xmlns:a="http://schemas.openxmlformats.org/drawingml/2006/main">
            <a:r>
              <a:rPr sz="1400"/>
              <a:t>Bron: leerlingenboek Boek 2, chatuitgave 2026, revisie 21 september 2026, gedrukte pagina 29. https://github.com/meijer1973/4veco-lessen/blob/08d7fd27830b5c42d1dbebc7fcb73b882b4d67a4/Boek%202%20-%20Kosten%2C%20opbrengsten%2C%20elasticiteit%20en%20surplus/edities/chat-2026/boek/Boek_2_Compleet.pdf</a:t>
            </a:r>
          </a:p>
          <a:p xmlns:a="http://schemas.openxmlformats.org/drawingml/2006/main">
            <a:r>
              <a:rPr sz="1400"/>
              <a:t>Antwoordmodel: https://github.com/meijer1973/4veco-lessen/blob/08d7fd27830b5c42d1dbebc7fcb73b882b4d67a4/Boek%202%20-%20Kosten%2C%20opbrengsten%2C%20elasticiteit%20en%20surplus/edities/chat-2026/bronnen/H1/2.1%20Kosten%20en%20opbrengsten%20%E2%80%93%20antwoorden.md</a:t>
            </a:r>
          </a:p>
          <a:p xmlns:a="http://schemas.openxmlformats.org/drawingml/2006/main">
            <a:r>
              <a:rPr sz="1400"/>
              <a:t>Docentenroute: https://github.com/meijer1973/4veco-lessen/blob/08d7fd27830b5c42d1dbebc7fcb73b882b4d67a4/Boek%202%20-%20Kosten%2C%20opbrengsten%2C%20elasticiteit%20en%20surplus/edities/chat-2026/bronnen/H1/Docenten_en_bouwverantwoording.md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deel je door tien en niet door twintig?</a:t>
            </a:r>
          </a:p>
          <a:p xmlns:a="http://schemas.openxmlformats.org/drawingml/2006/main">
            <a:r>
              <a:rPr sz="1400"/>
              <a:t/>
            </a:r>
          </a:p>
          <a:p xmlns:a="http://schemas.openxmlformats.org/drawingml/2006/main">
            <a:r>
              <a:rPr sz="1400"/>
              <a:t>Uitleg: De teller is het verschil tussen de totale bedragen, de noemer het verschil tussen de hoeveelheden. Δ betekent verandering. Bij een groep van tien gaat het om het gemiddelde extra bedrag per extra beurt binnen die stap. Dit is korte herhaling van §2.1.3 met één echte tabelstap, geen nieuwe theorie. De capaciteit van SkateService is 30 beurten per week.</a:t>
            </a:r>
          </a:p>
          <a:p xmlns:a="http://schemas.openxmlformats.org/drawingml/2006/main">
            <a:r>
              <a:rPr sz="1400"/>
              <a:t/>
            </a:r>
          </a:p>
          <a:p xmlns:a="http://schemas.openxmlformats.org/drawingml/2006/main">
            <a:r>
              <a:rPr sz="1400"/>
              <a:t>Misvatting: MK is niet TK / Q. Dat laatste is GTK.</a:t>
            </a:r>
          </a:p>
          <a:p xmlns:a="http://schemas.openxmlformats.org/drawingml/2006/main">
            <a:r>
              <a:rPr sz="1400"/>
              <a:t/>
            </a:r>
          </a:p>
          <a:p xmlns:a="http://schemas.openxmlformats.org/drawingml/2006/main">
            <a:r>
              <a:rPr sz="1400"/>
              <a:t>Overgang: Verbind vervolgens totalen met een grafiek.</a:t>
            </a:r>
          </a:p>
          <a:p xmlns:a="http://schemas.openxmlformats.org/drawingml/2006/main">
            <a:r>
              <a:rPr sz="1400"/>
              <a:t/>
            </a:r>
          </a:p>
          <a:p xmlns:a="http://schemas.openxmlformats.org/drawingml/2006/main">
            <a:r>
              <a:rPr sz="1400"/>
              <a:t>Bron: leerlingenboek Boek 2, chatuitgave 2026, revisie 21 september 2026, gedrukte pagina 31. https://github.com/meijer1973/4veco-lessen/blob/08d7fd27830b5c42d1dbebc7fcb73b882b4d67a4/Boek%202%20-%20Kosten%2C%20opbrengsten%2C%20elasticiteit%20en%20surplus/edities/chat-2026/boek/Boek_2_Compleet.pdf</a:t>
            </a:r>
          </a:p>
          <a:p xmlns:a="http://schemas.openxmlformats.org/drawingml/2006/main">
            <a:r>
              <a:rPr sz="1400"/>
              <a:t>Antwoordmodel: https://github.com/meijer1973/4veco-lessen/blob/08d7fd27830b5c42d1dbebc7fcb73b882b4d67a4/Boek%202%20-%20Kosten%2C%20opbrengsten%2C%20elasticiteit%20en%20surplus/edities/chat-2026/bronnen/H1/2.1%20Kosten%20en%20opbrengsten%20%E2%80%93%20antwoorden.md</a:t>
            </a:r>
          </a:p>
          <a:p xmlns:a="http://schemas.openxmlformats.org/drawingml/2006/main">
            <a:r>
              <a:rPr sz="1400"/>
              <a:t>Docentenroute: https://github.com/meijer1973/4veco-lessen/blob/08d7fd27830b5c42d1dbebc7fcb73b882b4d67a4/Boek%202%20-%20Kosten%2C%20opbrengsten%2C%20elasticiteit%20en%20surplus/edities/chat-2026/bronnen/H1/Docenten_en_bouwverantwoording.md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kun je hier geen driehoek als winst inkleuren?</a:t>
            </a:r>
          </a:p>
          <a:p xmlns:a="http://schemas.openxmlformats.org/drawingml/2006/main">
            <a:r>
              <a:rPr sz="1400"/>
              <a:t/>
            </a:r>
          </a:p>
          <a:p xmlns:a="http://schemas.openxmlformats.org/drawingml/2006/main">
            <a:r>
              <a:rPr sz="1400"/>
              <a:t>Uitleg: Dit is de grafiek van FotoFun uit opgave 2 met het verticale antwoordlijnstuk bij Q = 90. De volledige TK-lijn loopt van (0; 240) tot (120; 480), TO van (0; 0) tot (120; 720). De capaciteit is 120 foto’s. Lees bij dezelfde Q twee hoogten: 540 en 420 euro. Hun verschil is 120 euro winst. Dit bereidt de grafiekbewerking van SmoothBox voor.</a:t>
            </a:r>
          </a:p>
          <a:p xmlns:a="http://schemas.openxmlformats.org/drawingml/2006/main">
            <a:r>
              <a:rPr sz="1400"/>
              <a:t/>
            </a:r>
          </a:p>
          <a:p xmlns:a="http://schemas.openxmlformats.org/drawingml/2006/main">
            <a:r>
              <a:rPr sz="1400"/>
              <a:t>Misvatting: De verticale as bevat al totale eurobedragen. Een oppervlakte vermenigvuldigt ook met hoeveelheid.</a:t>
            </a:r>
          </a:p>
          <a:p xmlns:a="http://schemas.openxmlformats.org/drawingml/2006/main">
            <a:r>
              <a:rPr sz="1400"/>
              <a:t/>
            </a:r>
          </a:p>
          <a:p xmlns:a="http://schemas.openxmlformats.org/drawingml/2006/main">
            <a:r>
              <a:rPr sz="1400"/>
              <a:t>Overgang: Laat het overzicht staan tijdens zelfstandig werken.</a:t>
            </a:r>
          </a:p>
          <a:p xmlns:a="http://schemas.openxmlformats.org/drawingml/2006/main">
            <a:r>
              <a:rPr sz="1400"/>
              <a:t/>
            </a:r>
          </a:p>
          <a:p xmlns:a="http://schemas.openxmlformats.org/drawingml/2006/main">
            <a:r>
              <a:rPr sz="1400"/>
              <a:t>Bron: leerlingenboek Boek 2, chatuitgave 2026, revisie 21 september 2026, gedrukte pagina 30. https://github.com/meijer1973/4veco-lessen/blob/08d7fd27830b5c42d1dbebc7fcb73b882b4d67a4/Boek%202%20-%20Kosten%2C%20opbrengsten%2C%20elasticiteit%20en%20surplus/edities/chat-2026/boek/Boek_2_Compleet.pdf</a:t>
            </a:r>
          </a:p>
          <a:p xmlns:a="http://schemas.openxmlformats.org/drawingml/2006/main">
            <a:r>
              <a:rPr sz="1400"/>
              <a:t>Antwoordmodel: https://github.com/meijer1973/4veco-lessen/blob/08d7fd27830b5c42d1dbebc7fcb73b882b4d67a4/Boek%202%20-%20Kosten%2C%20opbrengsten%2C%20elasticiteit%20en%20surplus/edities/chat-2026/bronnen/H1/2.1%20Kosten%20en%20opbrengsten%20%E2%80%93%20antwoorden.md</a:t>
            </a:r>
          </a:p>
          <a:p xmlns:a="http://schemas.openxmlformats.org/drawingml/2006/main">
            <a:r>
              <a:rPr sz="1400"/>
              <a:t>Docentenroute: https://github.com/meijer1973/4veco-lessen/blob/08d7fd27830b5c42d1dbebc7fcb73b882b4d67a4/Boek%202%20-%20Kosten%2C%20opbrengsten%2C%20elasticiteit%20en%20surplus/edities/chat-2026/bronnen/H1/Docenten_en_bouwverantwoording.md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Bij welke stap wil je hulp?</a:t>
            </a:r>
          </a:p>
          <a:p xmlns:a="http://schemas.openxmlformats.org/drawingml/2006/main">
            <a:r>
              <a:rPr sz="1400"/>
              <a:t/>
            </a:r>
          </a:p>
          <a:p xmlns:a="http://schemas.openxmlformats.org/drawingml/2006/main">
            <a:r>
              <a:rPr sz="1400"/>
              <a:t>Uitleg: Laat deze dia staan tijdens zelfstandig werken. Start met opgave 1 op pagina 29. Deze gemengde paragraaf heeft geen afzonderlijke begeleide basissectie. Leerlingen werken met 1–4 naar doel 5 op pagina 32–33. Bespreek SmoothBox omdat deze echte doeloefening bronselectie, functies, break-even, GTK, marginale verschillen en grafiekinterpretatie samenbrengt. De klasopdracht/huiswerkopdracht is alle opgaven 1, 2, 3, 4, 5, 6 en 7 maken en nakijken, met behoud van het boeklabel bonus/denkertje bij 6 en herhaling bij 7. In de algemene docentenroute zijn 6 en 7 aanvullend; deze presentatie volgt de classroom-afspraak om alle gemengde opgaven als huiswerk te noemen. Begroot indien nodig vervolgwerktijd.</a:t>
            </a:r>
          </a:p>
          <a:p xmlns:a="http://schemas.openxmlformats.org/drawingml/2006/main">
            <a:r>
              <a:rPr sz="1400"/>
              <a:t/>
            </a:r>
          </a:p>
          <a:p xmlns:a="http://schemas.openxmlformats.org/drawingml/2006/main">
            <a:r>
              <a:rPr sz="1400"/>
              <a:t>Misvatting: Verwar bezoekers niet met verkochte producten. Het startpaginanummer is het gedrukte nummer 29, niet PDF-pagina 31.</a:t>
            </a:r>
          </a:p>
          <a:p xmlns:a="http://schemas.openxmlformats.org/drawingml/2006/main">
            <a:r>
              <a:rPr sz="1400"/>
              <a:t/>
            </a:r>
          </a:p>
          <a:p xmlns:a="http://schemas.openxmlformats.org/drawingml/2006/main">
            <a:r>
              <a:rPr sz="1400"/>
              <a:t>Overgang: Ga door naar de volgende lesfase wanneer de klas daaraan toe is.</a:t>
            </a:r>
          </a:p>
          <a:p xmlns:a="http://schemas.openxmlformats.org/drawingml/2006/main">
            <a:r>
              <a:rPr sz="1400"/>
              <a:t/>
            </a:r>
          </a:p>
          <a:p xmlns:a="http://schemas.openxmlformats.org/drawingml/2006/main">
            <a:r>
              <a:rPr sz="1400"/>
              <a:t>Bron: leerlingenboek Boek 2, chatuitgave 2026, revisie 21 september 2026, gedrukte pagina 29–34. https://github.com/meijer1973/4veco-lessen/blob/08d7fd27830b5c42d1dbebc7fcb73b882b4d67a4/Boek%202%20-%20Kosten%2C%20opbrengsten%2C%20elasticiteit%20en%20surplus/edities/chat-2026/boek/Boek_2_Compleet.pdf</a:t>
            </a:r>
          </a:p>
          <a:p xmlns:a="http://schemas.openxmlformats.org/drawingml/2006/main">
            <a:r>
              <a:rPr sz="1400"/>
              <a:t>Antwoordmodel: https://github.com/meijer1973/4veco-lessen/blob/08d7fd27830b5c42d1dbebc7fcb73b882b4d67a4/Boek%202%20-%20Kosten%2C%20opbrengsten%2C%20elasticiteit%20en%20surplus/edities/chat-2026/bronnen/H1/2.1%20Kosten%20en%20opbrengsten%20%E2%80%93%20antwoorden.md</a:t>
            </a:r>
          </a:p>
          <a:p xmlns:a="http://schemas.openxmlformats.org/drawingml/2006/main">
            <a:r>
              <a:rPr sz="1400"/>
              <a:t>Docentenroute: https://github.com/meijer1973/4veco-lessen/blob/08d7fd27830b5c42d1dbebc7fcb73b882b4d67a4/Boek%202%20-%20Kosten%2C%20opbrengsten%2C%20elasticiteit%20en%20surplus/edities/chat-2026/bronnen/H1/Docenten_en_bouwverantwoording.md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 menu hoort bij bron A?</a:t>
            </a:r>
          </a:p>
          <a:p xmlns:a="http://schemas.openxmlformats.org/drawingml/2006/main">
            <a:r>
              <a:rPr sz="1400"/>
              <a:t/>
            </a:r>
          </a:p>
          <a:p xmlns:a="http://schemas.openxmlformats.org/drawingml/2006/main">
            <a:r>
              <a:rPr sz="1400"/>
              <a:t>Uitleg: Begin de bespreking nadat leerlingen de doeloefening hebben geprobeerd. Laat eerst alle bronnen en alle zes deelvragen zien, zonder antwoorden. Deze bedragen gelden op vrijdag tot en met de capaciteit. Q is het aantal lunchboxen per dag.</a:t>
            </a:r>
          </a:p>
          <a:p xmlns:a="http://schemas.openxmlformats.org/drawingml/2006/main">
            <a:r>
              <a:rPr sz="1400"/>
              <a:t/>
            </a:r>
          </a:p>
          <a:p xmlns:a="http://schemas.openxmlformats.org/drawingml/2006/main">
            <a:r>
              <a:rPr sz="1400"/>
              <a:t>Misvatting: Dezelfde verkoopprijs op beide dagen betekent niet dat de kosten gelijk zijn.</a:t>
            </a:r>
          </a:p>
          <a:p xmlns:a="http://schemas.openxmlformats.org/drawingml/2006/main">
            <a:r>
              <a:rPr sz="1400"/>
              <a:t/>
            </a:r>
          </a:p>
          <a:p xmlns:a="http://schemas.openxmlformats.org/drawingml/2006/main">
            <a:r>
              <a:rPr sz="1400"/>
              <a:t>Overgang: Toon bron B van zaterdag.</a:t>
            </a:r>
          </a:p>
          <a:p xmlns:a="http://schemas.openxmlformats.org/drawingml/2006/main">
            <a:r>
              <a:rPr sz="1400"/>
              <a:t/>
            </a:r>
          </a:p>
          <a:p xmlns:a="http://schemas.openxmlformats.org/drawingml/2006/main">
            <a:r>
              <a:rPr sz="1400"/>
              <a:t>Bron: leerlingenboek Boek 2, chatuitgave 2026, revisie 21 september 2026, gedrukte pagina 32. https://github.com/meijer1973/4veco-lessen/blob/08d7fd27830b5c42d1dbebc7fcb73b882b4d67a4/Boek%202%20-%20Kosten%2C%20opbrengsten%2C%20elasticiteit%20en%20surplus/edities/chat-2026/boek/Boek_2_Compleet.pdf</a:t>
            </a:r>
          </a:p>
          <a:p xmlns:a="http://schemas.openxmlformats.org/drawingml/2006/main">
            <a:r>
              <a:rPr sz="1400"/>
              <a:t>Antwoordmodel: https://github.com/meijer1973/4veco-lessen/blob/08d7fd27830b5c42d1dbebc7fcb73b882b4d67a4/Boek%202%20-%20Kosten%2C%20opbrengsten%2C%20elasticiteit%20en%20surplus/edities/chat-2026/bronnen/H1/2.1%20Kosten%20en%20opbrengsten%20%E2%80%93%20antwoorden.md</a:t>
            </a:r>
          </a:p>
          <a:p xmlns:a="http://schemas.openxmlformats.org/drawingml/2006/main">
            <a:r>
              <a:rPr sz="1400"/>
              <a:t>Docentenroute: https://github.com/meijer1973/4veco-lessen/blob/08d7fd27830b5c42d1dbebc7fcb73b882b4d67a4/Boek%202%20-%20Kosten%2C%20opbrengsten%2C%20elasticiteit%20en%20surplus/edities/chat-2026/bronnen/H1/Docenten_en_bouwverantwoording.md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bron geeft je de totale zaterdagkosten?</a:t>
            </a:r>
          </a:p>
          <a:p xmlns:a="http://schemas.openxmlformats.org/drawingml/2006/main">
            <a:r>
              <a:rPr sz="1400"/>
              <a:t/>
            </a:r>
          </a:p>
          <a:p xmlns:a="http://schemas.openxmlformats.org/drawingml/2006/main">
            <a:r>
              <a:rPr sz="1400"/>
              <a:t>Uitleg: Lees de zaterdagtabel letterlijk. De constante kosten blijven 1200 euro per dag. De tabel beschrijft een ander menu met stijgende extra arbeidskosten. Beide dagen hebben dezelfde capaciteit van 1000.</a:t>
            </a:r>
          </a:p>
          <a:p xmlns:a="http://schemas.openxmlformats.org/drawingml/2006/main">
            <a:r>
              <a:rPr sz="1400"/>
              <a:t/>
            </a:r>
          </a:p>
          <a:p xmlns:a="http://schemas.openxmlformats.org/drawingml/2006/main">
            <a:r>
              <a:rPr sz="1400"/>
              <a:t>Misvatting: Gebruik de vrijdagfunctie niet voor zaterdag. Trek de zaterdagtabel niet door naar onbekende hoeveelheden.</a:t>
            </a:r>
          </a:p>
          <a:p xmlns:a="http://schemas.openxmlformats.org/drawingml/2006/main">
            <a:r>
              <a:rPr sz="1400"/>
              <a:t/>
            </a:r>
          </a:p>
          <a:p xmlns:a="http://schemas.openxmlformats.org/drawingml/2006/main">
            <a:r>
              <a:rPr sz="1400"/>
              <a:t>Overgang: Toon de bijbehorende basisgrafiek.</a:t>
            </a:r>
          </a:p>
          <a:p xmlns:a="http://schemas.openxmlformats.org/drawingml/2006/main">
            <a:r>
              <a:rPr sz="1400"/>
              <a:t/>
            </a:r>
          </a:p>
          <a:p xmlns:a="http://schemas.openxmlformats.org/drawingml/2006/main">
            <a:r>
              <a:rPr sz="1400"/>
              <a:t>Bron: leerlingenboek Boek 2, chatuitgave 2026, revisie 21 september 2026, gedrukte pagina 32. https://github.com/meijer1973/4veco-lessen/blob/08d7fd27830b5c42d1dbebc7fcb73b882b4d67a4/Boek%202%20-%20Kosten%2C%20opbrengsten%2C%20elasticiteit%20en%20surplus/edities/chat-2026/boek/Boek_2_Compleet.pdf</a:t>
            </a:r>
          </a:p>
          <a:p xmlns:a="http://schemas.openxmlformats.org/drawingml/2006/main">
            <a:r>
              <a:rPr sz="1400"/>
              <a:t>Antwoordmodel: https://github.com/meijer1973/4veco-lessen/blob/08d7fd27830b5c42d1dbebc7fcb73b882b4d67a4/Boek%202%20-%20Kosten%2C%20opbrengsten%2C%20elasticiteit%20en%20surplus/edities/chat-2026/bronnen/H1/2.1%20Kosten%20en%20opbrengsten%20%E2%80%93%20antwoorden.md</a:t>
            </a:r>
          </a:p>
          <a:p xmlns:a="http://schemas.openxmlformats.org/drawingml/2006/main">
            <a:r>
              <a:rPr sz="1400"/>
              <a:t>Docentenroute: https://github.com/meijer1973/4veco-lessen/blob/08d7fd27830b5c42d1dbebc7fcb73b882b4d67a4/Boek%202%20-%20Kosten%2C%20opbrengsten%2C%20elasticiteit%20en%20surplus/edities/chat-2026/bronnen/H1/Docenten_en_bouwverantwoording.md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lijnen horen bij welke dag?</a:t>
            </a:r>
          </a:p>
          <a:p xmlns:a="http://schemas.openxmlformats.org/drawingml/2006/main">
            <a:r>
              <a:rPr sz="1400"/>
              <a:t/>
            </a:r>
          </a:p>
          <a:p xmlns:a="http://schemas.openxmlformats.org/drawingml/2006/main">
            <a:r>
              <a:rPr sz="1400"/>
              <a:t>Uitleg: De basisgrafiek bevat TO voor beide dagen, de volledige vrijdagkostenlijn en alleen de vier gegeven zaterdagpunten verbonden. De curves stoppen bij 1000. Break-even en winstmarkering ontbreken hier bewust: die zijn gevraagd. De verdere asruimte is alleen voor leesbare labels.</a:t>
            </a:r>
          </a:p>
          <a:p xmlns:a="http://schemas.openxmlformats.org/drawingml/2006/main">
            <a:r>
              <a:rPr sz="1400"/>
              <a:t/>
            </a:r>
          </a:p>
          <a:p xmlns:a="http://schemas.openxmlformats.org/drawingml/2006/main">
            <a:r>
              <a:rPr sz="1400"/>
              <a:t>Misvatting: Alleen gegeven zaterdagpunten verbinden. Winst is een verticale afstand, geen oppervlakte.</a:t>
            </a:r>
          </a:p>
          <a:p xmlns:a="http://schemas.openxmlformats.org/drawingml/2006/main">
            <a:r>
              <a:rPr sz="1400"/>
              <a:t/>
            </a:r>
          </a:p>
          <a:p xmlns:a="http://schemas.openxmlformats.org/drawingml/2006/main">
            <a:r>
              <a:rPr sz="1400"/>
              <a:t>Overgang: Toon nu alle deelvragen voordat je de antwoorden bespreekt.</a:t>
            </a:r>
          </a:p>
          <a:p xmlns:a="http://schemas.openxmlformats.org/drawingml/2006/main">
            <a:r>
              <a:rPr sz="1400"/>
              <a:t/>
            </a:r>
          </a:p>
          <a:p xmlns:a="http://schemas.openxmlformats.org/drawingml/2006/main">
            <a:r>
              <a:rPr sz="1400"/>
              <a:t>Bron: leerlingenboek Boek 2, chatuitgave 2026, revisie 21 september 2026, gedrukte pagina 32. https://github.com/meijer1973/4veco-lessen/blob/08d7fd27830b5c42d1dbebc7fcb73b882b4d67a4/Boek%202%20-%20Kosten%2C%20opbrengsten%2C%20elasticiteit%20en%20surplus/edities/chat-2026/boek/Boek_2_Compleet.pdf</a:t>
            </a:r>
          </a:p>
          <a:p xmlns:a="http://schemas.openxmlformats.org/drawingml/2006/main">
            <a:r>
              <a:rPr sz="1400"/>
              <a:t>Antwoordmodel: https://github.com/meijer1973/4veco-lessen/blob/08d7fd27830b5c42d1dbebc7fcb73b882b4d67a4/Boek%202%20-%20Kosten%2C%20opbrengsten%2C%20elasticiteit%20en%20surplus/edities/chat-2026/bronnen/H1/2.1%20Kosten%20en%20opbrengsten%20%E2%80%93%20antwoorden.md</a:t>
            </a:r>
          </a:p>
          <a:p xmlns:a="http://schemas.openxmlformats.org/drawingml/2006/main">
            <a:r>
              <a:rPr sz="1400"/>
              <a:t>Docentenroute: https://github.com/meijer1973/4veco-lessen/blob/08d7fd27830b5c42d1dbebc7fcb73b882b4d67a4/Boek%202%20-%20Kosten%2C%20opbrengsten%2C%20elasticiteit%20en%20surplus/edities/chat-2026/bronnen/H1/Docenten_en_bouwverantwoording.md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bron hoort bij deze drie vragen?</a:t>
            </a:r>
          </a:p>
          <a:p xmlns:a="http://schemas.openxmlformats.org/drawingml/2006/main">
            <a:r>
              <a:rPr sz="1400"/>
              <a:t/>
            </a:r>
          </a:p>
          <a:p xmlns:a="http://schemas.openxmlformats.org/drawingml/2006/main">
            <a:r>
              <a:rPr sz="1400"/>
              <a:t>Uitleg: Lees de vragen letterlijk. Gebruik bij a, b en c vrijdag, bron A. Laat de leerlingen hun eigen uitwerking erbij houden. Bespreek nog geen uitkomsten.</a:t>
            </a:r>
          </a:p>
          <a:p xmlns:a="http://schemas.openxmlformats.org/drawingml/2006/main">
            <a:r>
              <a:rPr sz="1400"/>
              <a:t/>
            </a:r>
          </a:p>
          <a:p xmlns:a="http://schemas.openxmlformats.org/drawingml/2006/main">
            <a:r>
              <a:rPr sz="1400"/>
              <a:t>Misvatting: Bij GTK wordt om per lunchbox gevraagd, bij winst om een totaal per dag.</a:t>
            </a:r>
          </a:p>
          <a:p xmlns:a="http://schemas.openxmlformats.org/drawingml/2006/main">
            <a:r>
              <a:rPr sz="1400"/>
              <a:t/>
            </a:r>
          </a:p>
          <a:p xmlns:a="http://schemas.openxmlformats.org/drawingml/2006/main">
            <a:r>
              <a:rPr sz="1400"/>
              <a:t>Overgang: Toon vraag d en daarna e en f.</a:t>
            </a:r>
          </a:p>
          <a:p xmlns:a="http://schemas.openxmlformats.org/drawingml/2006/main">
            <a:r>
              <a:rPr sz="1400"/>
              <a:t/>
            </a:r>
          </a:p>
          <a:p xmlns:a="http://schemas.openxmlformats.org/drawingml/2006/main">
            <a:r>
              <a:rPr sz="1400"/>
              <a:t>Bron: leerlingenboek Boek 2, chatuitgave 2026, revisie 21 september 2026, gedrukte pagina 33. https://github.com/meijer1973/4veco-lessen/blob/08d7fd27830b5c42d1dbebc7fcb73b882b4d67a4/Boek%202%20-%20Kosten%2C%20opbrengsten%2C%20elasticiteit%20en%20surplus/edities/chat-2026/boek/Boek_2_Compleet.pdf</a:t>
            </a:r>
          </a:p>
          <a:p xmlns:a="http://schemas.openxmlformats.org/drawingml/2006/main">
            <a:r>
              <a:rPr sz="1400"/>
              <a:t>Antwoordmodel: https://github.com/meijer1973/4veco-lessen/blob/08d7fd27830b5c42d1dbebc7fcb73b882b4d67a4/Boek%202%20-%20Kosten%2C%20opbrengsten%2C%20elasticiteit%20en%20surplus/edities/chat-2026/bronnen/H1/2.1%20Kosten%20en%20opbrengsten%20%E2%80%93%20antwoorden.md</a:t>
            </a:r>
          </a:p>
          <a:p xmlns:a="http://schemas.openxmlformats.org/drawingml/2006/main">
            <a:r>
              <a:rPr sz="1400"/>
              <a:t>Docentenroute: https://github.com/meijer1973/4veco-lessen/blob/08d7fd27830b5c42d1dbebc7fcb73b882b4d67a4/Boek%202%20-%20Kosten%2C%20opbrengsten%2C%20elasticiteit%20en%20surplus/edities/chat-2026/bronnen/H1/Docenten_en_bouwverantwoording.md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twee rijen gebruik je voor iedere stap?</a:t>
            </a:r>
          </a:p>
          <a:p xmlns:a="http://schemas.openxmlformats.org/drawingml/2006/main">
            <a:r>
              <a:rPr sz="1400"/>
              <a:t/>
            </a:r>
          </a:p>
          <a:p xmlns:a="http://schemas.openxmlformats.org/drawingml/2006/main">
            <a:r>
              <a:rPr sz="1400"/>
              <a:t>Uitleg: De drie stappen moeten alle drie worden uitgewerkt. De tabel herhaalt alleen de hoeveelheden uit de bron en geeft nog geen marginale antwoorden. Vraag ook MO per extra lunchbox.</a:t>
            </a:r>
          </a:p>
          <a:p xmlns:a="http://schemas.openxmlformats.org/drawingml/2006/main">
            <a:r>
              <a:rPr sz="1400"/>
              <a:t/>
            </a:r>
          </a:p>
          <a:p xmlns:a="http://schemas.openxmlformats.org/drawingml/2006/main">
            <a:r>
              <a:rPr sz="1400"/>
              <a:t>Misvatting: Het verschil tussen de totale kosten is nog niet MK per extra lunchbox.</a:t>
            </a:r>
          </a:p>
          <a:p xmlns:a="http://schemas.openxmlformats.org/drawingml/2006/main">
            <a:r>
              <a:rPr sz="1400"/>
              <a:t/>
            </a:r>
          </a:p>
          <a:p xmlns:a="http://schemas.openxmlformats.org/drawingml/2006/main">
            <a:r>
              <a:rPr sz="1400"/>
              <a:t>Overgang: Toon ook de grafiekvraag en de uitspraak.</a:t>
            </a:r>
          </a:p>
          <a:p xmlns:a="http://schemas.openxmlformats.org/drawingml/2006/main">
            <a:r>
              <a:rPr sz="1400"/>
              <a:t/>
            </a:r>
          </a:p>
          <a:p xmlns:a="http://schemas.openxmlformats.org/drawingml/2006/main">
            <a:r>
              <a:rPr sz="1400"/>
              <a:t>Bron: leerlingenboek Boek 2, chatuitgave 2026, revisie 21 september 2026, gedrukte pagina 33. https://github.com/meijer1973/4veco-lessen/blob/08d7fd27830b5c42d1dbebc7fcb73b882b4d67a4/Boek%202%20-%20Kosten%2C%20opbrengsten%2C%20elasticiteit%20en%20surplus/edities/chat-2026/boek/Boek_2_Compleet.pdf</a:t>
            </a:r>
          </a:p>
          <a:p xmlns:a="http://schemas.openxmlformats.org/drawingml/2006/main">
            <a:r>
              <a:rPr sz="1400"/>
              <a:t>Antwoordmodel: https://github.com/meijer1973/4veco-lessen/blob/08d7fd27830b5c42d1dbebc7fcb73b882b4d67a4/Boek%202%20-%20Kosten%2C%20opbrengsten%2C%20elasticiteit%20en%20surplus/edities/chat-2026/bronnen/H1/2.1%20Kosten%20en%20opbrengsten%20%E2%80%93%20antwoorden.md</a:t>
            </a:r>
          </a:p>
          <a:p xmlns:a="http://schemas.openxmlformats.org/drawingml/2006/main">
            <a:r>
              <a:rPr sz="1400"/>
              <a:t>Docentenroute: https://github.com/meijer1973/4veco-lessen/blob/08d7fd27830b5c42d1dbebc7fcb73b882b4d67a4/Boek%202%20-%20Kosten%2C%20opbrengsten%2C%20elasticiteit%20en%20surplus/edities/chat-2026/bronnen/H1/Docenten_en_bouwverantwoording.md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vergelijking moet je bij e maken, en welke bij f?</a:t>
            </a:r>
          </a:p>
          <a:p xmlns:a="http://schemas.openxmlformats.org/drawingml/2006/main">
            <a:r>
              <a:rPr sz="1400"/>
              <a:t/>
            </a:r>
          </a:p>
          <a:p xmlns:a="http://schemas.openxmlformats.org/drawingml/2006/main">
            <a:r>
              <a:rPr sz="1400"/>
              <a:t>Uitleg: Nu zijn alle context, gegevens en deelvragen zonder oplossing getoond. Bij e vergelijk je beide dagen. Bij f gebruik je zaterdag. De uitspraak moet met alle drie de extra winsten beoordeeld worden. Er wordt geen winstmaximaliserende productie gevraagd.</a:t>
            </a:r>
          </a:p>
          <a:p xmlns:a="http://schemas.openxmlformats.org/drawingml/2006/main">
            <a:r>
              <a:rPr sz="1400"/>
              <a:t/>
            </a:r>
          </a:p>
          <a:p xmlns:a="http://schemas.openxmlformats.org/drawingml/2006/main">
            <a:r>
              <a:rPr sz="1400"/>
              <a:t>Misvatting: Een grotere winst is iets anders dan een snellere groei van de winst.</a:t>
            </a:r>
          </a:p>
          <a:p xmlns:a="http://schemas.openxmlformats.org/drawingml/2006/main">
            <a:r>
              <a:rPr sz="1400"/>
              <a:t/>
            </a:r>
          </a:p>
          <a:p xmlns:a="http://schemas.openxmlformats.org/drawingml/2006/main">
            <a:r>
              <a:rPr sz="1400"/>
              <a:t>Overgang: Start pas nu de stapsgewijze bespreking van de antwoorden.</a:t>
            </a:r>
          </a:p>
          <a:p xmlns:a="http://schemas.openxmlformats.org/drawingml/2006/main">
            <a:r>
              <a:rPr sz="1400"/>
              <a:t/>
            </a:r>
          </a:p>
          <a:p xmlns:a="http://schemas.openxmlformats.org/drawingml/2006/main">
            <a:r>
              <a:rPr sz="1400"/>
              <a:t>Bron: leerlingenboek Boek 2, chatuitgave 2026, revisie 21 september 2026, gedrukte pagina 33. https://github.com/meijer1973/4veco-lessen/blob/08d7fd27830b5c42d1dbebc7fcb73b882b4d67a4/Boek%202%20-%20Kosten%2C%20opbrengsten%2C%20elasticiteit%20en%20surplus/edities/chat-2026/boek/Boek_2_Compleet.pdf</a:t>
            </a:r>
          </a:p>
          <a:p xmlns:a="http://schemas.openxmlformats.org/drawingml/2006/main">
            <a:r>
              <a:rPr sz="1400"/>
              <a:t>Antwoordmodel: https://github.com/meijer1973/4veco-lessen/blob/08d7fd27830b5c42d1dbebc7fcb73b882b4d67a4/Boek%202%20-%20Kosten%2C%20opbrengsten%2C%20elasticiteit%20en%20surplus/edities/chat-2026/bronnen/H1/2.1%20Kosten%20en%20opbrengsten%20%E2%80%93%20antwoorden.md</a:t>
            </a:r>
          </a:p>
          <a:p xmlns:a="http://schemas.openxmlformats.org/drawingml/2006/main">
            <a:r>
              <a:rPr sz="1400"/>
              <a:t>Docentenroute: https://github.com/meijer1973/4veco-lessen/blob/08d7fd27830b5c42d1dbebc7fcb73b882b4d67a4/Boek%202%20-%20Kosten%2C%20opbrengsten%2C%20elasticiteit%20en%20surplus/edities/chat-2026/bronnen/H1/Docenten_en_bouwverantwoording.md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tel je de constante kosten alleen bij TK op?</a:t>
            </a:r>
          </a:p>
          <a:p xmlns:a="http://schemas.openxmlformats.org/drawingml/2006/main">
            <a:r>
              <a:rPr sz="1400"/>
              <a:t/>
            </a:r>
          </a:p>
          <a:p xmlns:a="http://schemas.openxmlformats.org/drawingml/2006/main">
            <a:r>
              <a:rPr sz="1400"/>
              <a:t>Uitleg: Kies de constante kosten, variabele kosten per lunchbox en de prijs uit bron A en de algemene context. TCK blijven 1200 euro, TVK = 2Q groeit mee. Alle gemaakte lunchboxen worden verkocht voor 5 euro, dus TO = 5Q. Bezoekers zijn geen gegarandeerde kopers.</a:t>
            </a:r>
          </a:p>
          <a:p xmlns:a="http://schemas.openxmlformats.org/drawingml/2006/main">
            <a:r>
              <a:rPr sz="1400"/>
              <a:t/>
            </a:r>
          </a:p>
          <a:p xmlns:a="http://schemas.openxmlformats.org/drawingml/2006/main">
            <a:r>
              <a:rPr sz="1400"/>
              <a:t>Misvatting: 2 euro per lunchbox is niet TVK in euro per dag.</a:t>
            </a:r>
          </a:p>
          <a:p xmlns:a="http://schemas.openxmlformats.org/drawingml/2006/main">
            <a:r>
              <a:rPr sz="1400"/>
              <a:t/>
            </a:r>
          </a:p>
          <a:p xmlns:a="http://schemas.openxmlformats.org/drawingml/2006/main">
            <a:r>
              <a:rPr sz="1400"/>
              <a:t>Overgang: Los TO = TK op.</a:t>
            </a:r>
          </a:p>
          <a:p xmlns:a="http://schemas.openxmlformats.org/drawingml/2006/main">
            <a:r>
              <a:rPr sz="1400"/>
              <a:t/>
            </a:r>
          </a:p>
          <a:p xmlns:a="http://schemas.openxmlformats.org/drawingml/2006/main">
            <a:r>
              <a:rPr sz="1400"/>
              <a:t>Bron: leerlingenboek Boek 2, chatuitgave 2026, revisie 21 september 2026, gedrukte pagina 32–33. https://github.com/meijer1973/4veco-lessen/blob/08d7fd27830b5c42d1dbebc7fcb73b882b4d67a4/Boek%202%20-%20Kosten%2C%20opbrengsten%2C%20elasticiteit%20en%20surplus/edities/chat-2026/boek/Boek_2_Compleet.pdf</a:t>
            </a:r>
          </a:p>
          <a:p xmlns:a="http://schemas.openxmlformats.org/drawingml/2006/main">
            <a:r>
              <a:rPr sz="1400"/>
              <a:t>Antwoordmodel: https://github.com/meijer1973/4veco-lessen/blob/08d7fd27830b5c42d1dbebc7fcb73b882b4d67a4/Boek%202%20-%20Kosten%2C%20opbrengsten%2C%20elasticiteit%20en%20surplus/edities/chat-2026/bronnen/H1/2.1%20Kosten%20en%20opbrengsten%20%E2%80%93%20antwoorden.md</a:t>
            </a:r>
          </a:p>
          <a:p xmlns:a="http://schemas.openxmlformats.org/drawingml/2006/main">
            <a:r>
              <a:rPr sz="1400"/>
              <a:t>Docentenroute: https://github.com/meijer1973/4veco-lessen/blob/08d7fd27830b5c42d1dbebc7fcb73b882b4d67a4/Boek%202%20-%20Kosten%2C%20opbrengsten%2C%20elasticiteit%20en%20surplus/edities/chat-2026/bronnen/H1/Docenten_en_bouwverantwoording.md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Wat zijn de twee coördinaten van het break-evenpunt?</a:t>
            </a:r>
          </a:p>
          <a:p xmlns:a="http://schemas.openxmlformats.org/drawingml/2006/main">
            <a:r>
              <a:rPr sz="1400"/>
              <a:t/>
            </a:r>
          </a:p>
          <a:p xmlns:a="http://schemas.openxmlformats.org/drawingml/2006/main">
            <a:r>
              <a:rPr sz="1400"/>
              <a:t>Uitleg: De break-even-afzet is 400 lunchboxen per dag. Dit is een geheel aantal en past binnen de capaciteit van 1000. Controleer beide functies: beide geven 2000 euro per dag. Gebruik straks de coördinaten (400; 2000).</a:t>
            </a:r>
          </a:p>
          <a:p xmlns:a="http://schemas.openxmlformats.org/drawingml/2006/main">
            <a:r>
              <a:rPr sz="1400"/>
              <a:t/>
            </a:r>
          </a:p>
          <a:p xmlns:a="http://schemas.openxmlformats.org/drawingml/2006/main">
            <a:r>
              <a:rPr sz="1400"/>
              <a:t>Misvatting: 400 is de hoeveelheid, niet het eurobedrag.</a:t>
            </a:r>
          </a:p>
          <a:p xmlns:a="http://schemas.openxmlformats.org/drawingml/2006/main">
            <a:r>
              <a:rPr sz="1400"/>
              <a:t/>
            </a:r>
          </a:p>
          <a:p xmlns:a="http://schemas.openxmlformats.org/drawingml/2006/main">
            <a:r>
              <a:rPr sz="1400"/>
              <a:t>Overgang: Bereken nu winst en GTK bij 700.</a:t>
            </a:r>
          </a:p>
          <a:p xmlns:a="http://schemas.openxmlformats.org/drawingml/2006/main">
            <a:r>
              <a:rPr sz="1400"/>
              <a:t/>
            </a:r>
          </a:p>
          <a:p xmlns:a="http://schemas.openxmlformats.org/drawingml/2006/main">
            <a:r>
              <a:rPr sz="1400"/>
              <a:t>Bron: leerlingenboek Boek 2, chatuitgave 2026, revisie 21 september 2026, gedrukte pagina 33. https://github.com/meijer1973/4veco-lessen/blob/08d7fd27830b5c42d1dbebc7fcb73b882b4d67a4/Boek%202%20-%20Kosten%2C%20opbrengsten%2C%20elasticiteit%20en%20surplus/edities/chat-2026/boek/Boek_2_Compleet.pdf</a:t>
            </a:r>
          </a:p>
          <a:p xmlns:a="http://schemas.openxmlformats.org/drawingml/2006/main">
            <a:r>
              <a:rPr sz="1400"/>
              <a:t>Antwoordmodel: https://github.com/meijer1973/4veco-lessen/blob/08d7fd27830b5c42d1dbebc7fcb73b882b4d67a4/Boek%202%20-%20Kosten%2C%20opbrengsten%2C%20elasticiteit%20en%20surplus/edities/chat-2026/bronnen/H1/2.1%20Kosten%20en%20opbrengsten%20%E2%80%93%20antwoorden.md</a:t>
            </a:r>
          </a:p>
          <a:p xmlns:a="http://schemas.openxmlformats.org/drawingml/2006/main">
            <a:r>
              <a:rPr sz="1400"/>
              <a:t>Docentenroute: https://github.com/meijer1973/4veco-lessen/blob/08d7fd27830b5c42d1dbebc7fcb73b882b4d67a4/Boek%202%20-%20Kosten%2C%20opbrengsten%2C%20elasticiteit%20en%20surplus/edities/chat-2026/bronnen/H1/Docenten_en_bouwverantwoording.md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uitkomst is een totaal en welke is per lunchbox?</a:t>
            </a:r>
          </a:p>
          <a:p xmlns:a="http://schemas.openxmlformats.org/drawingml/2006/main">
            <a:r>
              <a:rPr sz="1400"/>
              <a:t/>
            </a:r>
          </a:p>
          <a:p xmlns:a="http://schemas.openxmlformats.org/drawingml/2006/main">
            <a:r>
              <a:rPr sz="1400"/>
              <a:t>Uitleg: Winst is de totale opbrengst min alle kosten. GTK verdeelt de totale kosten over alle 700 lunchboxen. Rond GTK pas bij de uitkomst af op centen. Controle: winst plus kosten is 900 + 2600 = 3500 euro per dag.</a:t>
            </a:r>
          </a:p>
          <a:p xmlns:a="http://schemas.openxmlformats.org/drawingml/2006/main">
            <a:r>
              <a:rPr sz="1400"/>
              <a:t/>
            </a:r>
          </a:p>
          <a:p xmlns:a="http://schemas.openxmlformats.org/drawingml/2006/main">
            <a:r>
              <a:rPr sz="1400"/>
              <a:t>Misvatting: Winst is niet 900 euro per lunchbox. Gebruik vrijdag voor deze vraag.</a:t>
            </a:r>
          </a:p>
          <a:p xmlns:a="http://schemas.openxmlformats.org/drawingml/2006/main">
            <a:r>
              <a:rPr sz="1400"/>
              <a:t/>
            </a:r>
          </a:p>
          <a:p xmlns:a="http://schemas.openxmlformats.org/drawingml/2006/main">
            <a:r>
              <a:rPr sz="1400"/>
              <a:t>Overgang: Gebruik voor d de zaterdagtabel.</a:t>
            </a:r>
          </a:p>
          <a:p xmlns:a="http://schemas.openxmlformats.org/drawingml/2006/main">
            <a:r>
              <a:rPr sz="1400"/>
              <a:t/>
            </a:r>
          </a:p>
          <a:p xmlns:a="http://schemas.openxmlformats.org/drawingml/2006/main">
            <a:r>
              <a:rPr sz="1400"/>
              <a:t>Bron: leerlingenboek Boek 2, chatuitgave 2026, revisie 21 september 2026, gedrukte pagina 33. https://github.com/meijer1973/4veco-lessen/blob/08d7fd27830b5c42d1dbebc7fcb73b882b4d67a4/Boek%202%20-%20Kosten%2C%20opbrengsten%2C%20elasticiteit%20en%20surplus/edities/chat-2026/boek/Boek_2_Compleet.pdf</a:t>
            </a:r>
          </a:p>
          <a:p xmlns:a="http://schemas.openxmlformats.org/drawingml/2006/main">
            <a:r>
              <a:rPr sz="1400"/>
              <a:t>Antwoordmodel: https://github.com/meijer1973/4veco-lessen/blob/08d7fd27830b5c42d1dbebc7fcb73b882b4d67a4/Boek%202%20-%20Kosten%2C%20opbrengsten%2C%20elasticiteit%20en%20surplus/edities/chat-2026/bronnen/H1/2.1%20Kosten%20en%20opbrengsten%20%E2%80%93%20antwoorden.md</a:t>
            </a:r>
          </a:p>
          <a:p xmlns:a="http://schemas.openxmlformats.org/drawingml/2006/main">
            <a:r>
              <a:rPr sz="1400"/>
              <a:t>Docentenroute: https://github.com/meijer1973/4veco-lessen/blob/08d7fd27830b5c42d1dbebc7fcb73b882b4d67a4/Boek%202%20-%20Kosten%2C%20opbrengsten%2C%20elasticiteit%20en%20surplus/edities/chat-2026/bronnen/H1/Docenten_en_bouwverantwoording.md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verandert MK terwijl TCK gelijk blijven?</a:t>
            </a:r>
          </a:p>
          <a:p xmlns:a="http://schemas.openxmlformats.org/drawingml/2006/main">
            <a:r>
              <a:rPr sz="1400"/>
              <a:t/>
            </a:r>
          </a:p>
          <a:p xmlns:a="http://schemas.openxmlformats.org/drawingml/2006/main">
            <a:r>
              <a:rPr sz="1400"/>
              <a:t>Uitleg: Elke stap bevat honderd extra lunchboxen. De kostenverschillen zijn 300, 350 en 400 euro. Deel elk verschil door 100: MK is 3, 3,50 en 4 euro per extra lunchbox. De opbrengstverschillen zijn steeds 500, dus MO steeds 5. Het gaat om gemiddelde marginale bedragen binnen elke tabelstap, niet om afgeleiden.</a:t>
            </a:r>
          </a:p>
          <a:p xmlns:a="http://schemas.openxmlformats.org/drawingml/2006/main">
            <a:r>
              <a:rPr sz="1400"/>
              <a:t/>
            </a:r>
          </a:p>
          <a:p xmlns:a="http://schemas.openxmlformats.org/drawingml/2006/main">
            <a:r>
              <a:rPr sz="1400"/>
              <a:t>Misvatting: Hogere marginale kosten maken de totale constante kosten niet hoger.</a:t>
            </a:r>
          </a:p>
          <a:p xmlns:a="http://schemas.openxmlformats.org/drawingml/2006/main">
            <a:r>
              <a:rPr sz="1400"/>
              <a:t/>
            </a:r>
          </a:p>
          <a:p xmlns:a="http://schemas.openxmlformats.org/drawingml/2006/main">
            <a:r>
              <a:rPr sz="1400"/>
              <a:t>Overgang: Verbind de berekeningen met de grafiek.</a:t>
            </a:r>
          </a:p>
          <a:p xmlns:a="http://schemas.openxmlformats.org/drawingml/2006/main">
            <a:r>
              <a:rPr sz="1400"/>
              <a:t/>
            </a:r>
          </a:p>
          <a:p xmlns:a="http://schemas.openxmlformats.org/drawingml/2006/main">
            <a:r>
              <a:rPr sz="1400"/>
              <a:t>Bron: leerlingenboek Boek 2, chatuitgave 2026, revisie 21 september 2026, gedrukte pagina 32–33. https://github.com/meijer1973/4veco-lessen/blob/08d7fd27830b5c42d1dbebc7fcb73b882b4d67a4/Boek%202%20-%20Kosten%2C%20opbrengsten%2C%20elasticiteit%20en%20surplus/edities/chat-2026/boek/Boek_2_Compleet.pdf</a:t>
            </a:r>
          </a:p>
          <a:p xmlns:a="http://schemas.openxmlformats.org/drawingml/2006/main">
            <a:r>
              <a:rPr sz="1400"/>
              <a:t>Antwoordmodel: https://github.com/meijer1973/4veco-lessen/blob/08d7fd27830b5c42d1dbebc7fcb73b882b4d67a4/Boek%202%20-%20Kosten%2C%20opbrengsten%2C%20elasticiteit%20en%20surplus/edities/chat-2026/bronnen/H1/2.1%20Kosten%20en%20opbrengsten%20%E2%80%93%20antwoorden.md</a:t>
            </a:r>
          </a:p>
          <a:p xmlns:a="http://schemas.openxmlformats.org/drawingml/2006/main">
            <a:r>
              <a:rPr sz="1400"/>
              <a:t>Docentenroute: https://github.com/meijer1973/4veco-lessen/blob/08d7fd27830b5c42d1dbebc7fcb73b882b4d67a4/Boek%202%20-%20Kosten%2C%20opbrengsten%2C%20elasticiteit%20en%20surplus/edities/chat-2026/bronnen/H1/Docenten_en_bouwverantwoording.md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begint positieve winst pas rechts van 400?</a:t>
            </a:r>
          </a:p>
          <a:p xmlns:a="http://schemas.openxmlformats.org/drawingml/2006/main">
            <a:r>
              <a:rPr sz="1400"/>
              <a:t/>
            </a:r>
          </a:p>
          <a:p xmlns:a="http://schemas.openxmlformats.org/drawingml/2006/main">
            <a:r>
              <a:rPr sz="1400"/>
              <a:t>Uitleg: Markeer (400; 2000). Vrijdag is TO boven TK bij 400 &lt; Q ≤ 1000. Bij gehele lunchboxen zijn dat 401 tot en met 1000 per dag. Het punt bij 400 zelf hoort niet bij positieve winst. Beide dagen en alle drie curves blijven zichtbaar; over ongegeven zaterdaghoeveelheden trekken we geen conclusie.</a:t>
            </a:r>
          </a:p>
          <a:p xmlns:a="http://schemas.openxmlformats.org/drawingml/2006/main">
            <a:r>
              <a:rPr sz="1400"/>
              <a:t/>
            </a:r>
          </a:p>
          <a:p xmlns:a="http://schemas.openxmlformats.org/drawingml/2006/main">
            <a:r>
              <a:rPr sz="1400"/>
              <a:t>Misvatting: Alleen gegeven zaterdagpunten verbinden. Winst is een verticale afstand, geen oppervlakte.</a:t>
            </a:r>
          </a:p>
          <a:p xmlns:a="http://schemas.openxmlformats.org/drawingml/2006/main">
            <a:r>
              <a:rPr sz="1400"/>
              <a:t/>
            </a:r>
          </a:p>
          <a:p xmlns:a="http://schemas.openxmlformats.org/drawingml/2006/main">
            <a:r>
              <a:rPr sz="1400"/>
              <a:t>Overgang: Bekijk de verticale winstafstand bij 700.</a:t>
            </a:r>
          </a:p>
          <a:p xmlns:a="http://schemas.openxmlformats.org/drawingml/2006/main">
            <a:r>
              <a:rPr sz="1400"/>
              <a:t/>
            </a:r>
          </a:p>
          <a:p xmlns:a="http://schemas.openxmlformats.org/drawingml/2006/main">
            <a:r>
              <a:rPr sz="1400"/>
              <a:t>Bron: leerlingenboek Boek 2, chatuitgave 2026, revisie 21 september 2026, gedrukte pagina 32–33. https://github.com/meijer1973/4veco-lessen/blob/08d7fd27830b5c42d1dbebc7fcb73b882b4d67a4/Boek%202%20-%20Kosten%2C%20opbrengsten%2C%20elasticiteit%20en%20surplus/edities/chat-2026/boek/Boek_2_Compleet.pdf</a:t>
            </a:r>
          </a:p>
          <a:p xmlns:a="http://schemas.openxmlformats.org/drawingml/2006/main">
            <a:r>
              <a:rPr sz="1400"/>
              <a:t>Antwoordmodel: https://github.com/meijer1973/4veco-lessen/blob/08d7fd27830b5c42d1dbebc7fcb73b882b4d67a4/Boek%202%20-%20Kosten%2C%20opbrengsten%2C%20elasticiteit%20en%20surplus/edities/chat-2026/bronnen/H1/2.1%20Kosten%20en%20opbrengsten%20%E2%80%93%20antwoorden.md</a:t>
            </a:r>
          </a:p>
          <a:p xmlns:a="http://schemas.openxmlformats.org/drawingml/2006/main">
            <a:r>
              <a:rPr sz="1400"/>
              <a:t>Docentenroute: https://github.com/meijer1973/4veco-lessen/blob/08d7fd27830b5c42d1dbebc7fcb73b882b4d67a4/Boek%202%20-%20Kosten%2C%20opbrengsten%2C%20elasticiteit%20en%20surplus/edities/chat-2026/bronnen/H1/Docenten_en_bouwverantwoording.md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Kunnen twee dagen dezelfde winst hebben en toch verschillende winstgroei?</a:t>
            </a:r>
          </a:p>
          <a:p xmlns:a="http://schemas.openxmlformats.org/drawingml/2006/main">
            <a:r>
              <a:rPr sz="1400"/>
              <a:t/>
            </a:r>
          </a:p>
          <a:p xmlns:a="http://schemas.openxmlformats.org/drawingml/2006/main">
            <a:r>
              <a:rPr sz="1400"/>
              <a:t>Uitleg: Het verticale lijnstuk bij 700 loopt van 2600 naar 3500 euro per dag. Het verschil is 900. Op deze hoeveelheid vallen de kostenpunten van beide dagen samen. Een gelijk winstniveau bij 700 betekent niet dat de winst daarna even snel groeit.</a:t>
            </a:r>
          </a:p>
          <a:p xmlns:a="http://schemas.openxmlformats.org/drawingml/2006/main">
            <a:r>
              <a:rPr sz="1400"/>
              <a:t/>
            </a:r>
          </a:p>
          <a:p xmlns:a="http://schemas.openxmlformats.org/drawingml/2006/main">
            <a:r>
              <a:rPr sz="1400"/>
              <a:t>Misvatting: Alleen gegeven zaterdagpunten verbinden. Winst is een verticale afstand, geen oppervlakte.</a:t>
            </a:r>
          </a:p>
          <a:p xmlns:a="http://schemas.openxmlformats.org/drawingml/2006/main">
            <a:r>
              <a:rPr sz="1400"/>
              <a:t/>
            </a:r>
          </a:p>
          <a:p xmlns:a="http://schemas.openxmlformats.org/drawingml/2006/main">
            <a:r>
              <a:rPr sz="1400"/>
              <a:t>Overgang: Vergelijk nu de groei per extra lunchbox.</a:t>
            </a:r>
          </a:p>
          <a:p xmlns:a="http://schemas.openxmlformats.org/drawingml/2006/main">
            <a:r>
              <a:rPr sz="1400"/>
              <a:t/>
            </a:r>
          </a:p>
          <a:p xmlns:a="http://schemas.openxmlformats.org/drawingml/2006/main">
            <a:r>
              <a:rPr sz="1400"/>
              <a:t>Bron: leerlingenboek Boek 2, chatuitgave 2026, revisie 21 september 2026, gedrukte pagina 32–33. https://github.com/meijer1973/4veco-lessen/blob/08d7fd27830b5c42d1dbebc7fcb73b882b4d67a4/Boek%202%20-%20Kosten%2C%20opbrengsten%2C%20elasticiteit%20en%20surplus/edities/chat-2026/boek/Boek_2_Compleet.pdf</a:t>
            </a:r>
          </a:p>
          <a:p xmlns:a="http://schemas.openxmlformats.org/drawingml/2006/main">
            <a:r>
              <a:rPr sz="1400"/>
              <a:t>Antwoordmodel: https://github.com/meijer1973/4veco-lessen/blob/08d7fd27830b5c42d1dbebc7fcb73b882b4d67a4/Boek%202%20-%20Kosten%2C%20opbrengsten%2C%20elasticiteit%20en%20surplus/edities/chat-2026/bronnen/H1/2.1%20Kosten%20en%20opbrengsten%20%E2%80%93%20antwoorden.md</a:t>
            </a:r>
          </a:p>
          <a:p xmlns:a="http://schemas.openxmlformats.org/drawingml/2006/main">
            <a:r>
              <a:rPr sz="1400"/>
              <a:t>Docentenroute: https://github.com/meijer1973/4veco-lessen/blob/08d7fd27830b5c42d1dbebc7fcb73b882b4d67a4/Boek%202%20-%20Kosten%2C%20opbrengsten%2C%20elasticiteit%20en%20surplus/edities/chat-2026/bronnen/H1/Docenten_en_bouwverantwoording.md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vergelijk je niet alleen de winst bij één Q?</a:t>
            </a:r>
          </a:p>
          <a:p xmlns:a="http://schemas.openxmlformats.org/drawingml/2006/main">
            <a:r>
              <a:rPr sz="1400"/>
              <a:t/>
            </a:r>
          </a:p>
          <a:p xmlns:a="http://schemas.openxmlformats.org/drawingml/2006/main">
            <a:r>
              <a:rPr sz="1400"/>
              <a:t>Uitleg: Vergelijk per extra lunchbox. Op vrijdag blijft het verschil 3 euro binnen de capaciteit. Voor positieve winst moet Q bovendien boven 400 liggen. Alle drie de gegeven zaterdagstappen zijn positief maar groeien met 2, 1,50 en 1 euro per extra lunchbox. Bij hele producten luidt het vrijdaggebied 401 tot en met 1000. Dit is alleen een vergelijking met de drie gegeven zaterdagstappen.</a:t>
            </a:r>
          </a:p>
          <a:p xmlns:a="http://schemas.openxmlformats.org/drawingml/2006/main">
            <a:r>
              <a:rPr sz="1400"/>
              <a:t/>
            </a:r>
          </a:p>
          <a:p xmlns:a="http://schemas.openxmlformats.org/drawingml/2006/main">
            <a:r>
              <a:rPr sz="1400"/>
              <a:t>Misvatting: Geen uitspraak over ongegeven zaterdaghoeveelheden of over de maximale winst buiten de capaciteit.</a:t>
            </a:r>
          </a:p>
          <a:p xmlns:a="http://schemas.openxmlformats.org/drawingml/2006/main">
            <a:r>
              <a:rPr sz="1400"/>
              <a:t/>
            </a:r>
          </a:p>
          <a:p xmlns:a="http://schemas.openxmlformats.org/drawingml/2006/main">
            <a:r>
              <a:rPr sz="1400"/>
              <a:t>Overgang: Bereken nu de extra winst per hele groep van honderd.</a:t>
            </a:r>
          </a:p>
          <a:p xmlns:a="http://schemas.openxmlformats.org/drawingml/2006/main">
            <a:r>
              <a:rPr sz="1400"/>
              <a:t/>
            </a:r>
          </a:p>
          <a:p xmlns:a="http://schemas.openxmlformats.org/drawingml/2006/main">
            <a:r>
              <a:rPr sz="1400"/>
              <a:t>Bron: leerlingenboek Boek 2, chatuitgave 2026, revisie 21 september 2026, gedrukte pagina 33. https://github.com/meijer1973/4veco-lessen/blob/08d7fd27830b5c42d1dbebc7fcb73b882b4d67a4/Boek%202%20-%20Kosten%2C%20opbrengsten%2C%20elasticiteit%20en%20surplus/edities/chat-2026/boek/Boek_2_Compleet.pdf</a:t>
            </a:r>
          </a:p>
          <a:p xmlns:a="http://schemas.openxmlformats.org/drawingml/2006/main">
            <a:r>
              <a:rPr sz="1400"/>
              <a:t>Antwoordmodel: https://github.com/meijer1973/4veco-lessen/blob/08d7fd27830b5c42d1dbebc7fcb73b882b4d67a4/Boek%202%20-%20Kosten%2C%20opbrengsten%2C%20elasticiteit%20en%20surplus/edities/chat-2026/bronnen/H1/2.1%20Kosten%20en%20opbrengsten%20%E2%80%93%20antwoorden.md</a:t>
            </a:r>
          </a:p>
          <a:p xmlns:a="http://schemas.openxmlformats.org/drawingml/2006/main">
            <a:r>
              <a:rPr sz="1400"/>
              <a:t>Docentenroute: https://github.com/meijer1973/4veco-lessen/blob/08d7fd27830b5c42d1dbebc7fcb73b882b4d67a4/Boek%202%20-%20Kosten%2C%20opbrengsten%2C%20elasticiteit%20en%20surplus/edities/chat-2026/bronnen/H1/Docenten_en_bouwverantwoording.md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kant van de winstberekening negeert de uitspraak?</a:t>
            </a:r>
          </a:p>
          <a:p xmlns:a="http://schemas.openxmlformats.org/drawingml/2006/main">
            <a:r>
              <a:rPr sz="1400"/>
              <a:t/>
            </a:r>
          </a:p>
          <a:p xmlns:a="http://schemas.openxmlformats.org/drawingml/2006/main">
            <a:r>
              <a:rPr sz="1400"/>
              <a:t>Uitleg: De extra opbrengst per honderd blijft 500 euro. De extra kosten stijgen van 300 naar 350 naar 400. Daarom daalt de extra winst van 200 naar 150 naar 100 euro per dag. Controle via winstniveaus: bij 700 is winst 900; bij 800 1100; bij 900 1250; bij 1000 1350. Hun verschillen zijn dezelfde drie bedragen.</a:t>
            </a:r>
          </a:p>
          <a:p xmlns:a="http://schemas.openxmlformats.org/drawingml/2006/main">
            <a:r>
              <a:rPr sz="1400"/>
              <a:t/>
            </a:r>
          </a:p>
          <a:p xmlns:a="http://schemas.openxmlformats.org/drawingml/2006/main">
            <a:r>
              <a:rPr sz="1400"/>
              <a:t>Misvatting: Extra omzet is geen extra winst. 200, 150 en 100 zijn totaalbedragen voor een groep, niet per lunchbox.</a:t>
            </a:r>
          </a:p>
          <a:p xmlns:a="http://schemas.openxmlformats.org/drawingml/2006/main">
            <a:r>
              <a:rPr sz="1400"/>
              <a:t/>
            </a:r>
          </a:p>
          <a:p xmlns:a="http://schemas.openxmlformats.org/drawingml/2006/main">
            <a:r>
              <a:rPr sz="1400"/>
              <a:t>Overgang: Laat leerlingen een ontbrekende stap in hun eigen antwoord verbeteren.</a:t>
            </a:r>
          </a:p>
          <a:p xmlns:a="http://schemas.openxmlformats.org/drawingml/2006/main">
            <a:r>
              <a:rPr sz="1400"/>
              <a:t/>
            </a:r>
          </a:p>
          <a:p xmlns:a="http://schemas.openxmlformats.org/drawingml/2006/main">
            <a:r>
              <a:rPr sz="1400"/>
              <a:t>Bron: leerlingenboek Boek 2, chatuitgave 2026, revisie 21 september 2026, gedrukte pagina 33. https://github.com/meijer1973/4veco-lessen/blob/08d7fd27830b5c42d1dbebc7fcb73b882b4d67a4/Boek%202%20-%20Kosten%2C%20opbrengsten%2C%20elasticiteit%20en%20surplus/edities/chat-2026/boek/Boek_2_Compleet.pdf</a:t>
            </a:r>
          </a:p>
          <a:p xmlns:a="http://schemas.openxmlformats.org/drawingml/2006/main">
            <a:r>
              <a:rPr sz="1400"/>
              <a:t>Antwoordmodel: https://github.com/meijer1973/4veco-lessen/blob/08d7fd27830b5c42d1dbebc7fcb73b882b4d67a4/Boek%202%20-%20Kosten%2C%20opbrengsten%2C%20elasticiteit%20en%20surplus/edities/chat-2026/bronnen/H1/2.1%20Kosten%20en%20opbrengsten%20%E2%80%93%20antwoorden.md</a:t>
            </a:r>
          </a:p>
          <a:p xmlns:a="http://schemas.openxmlformats.org/drawingml/2006/main">
            <a:r>
              <a:rPr sz="1400"/>
              <a:t>Docentenroute: https://github.com/meijer1973/4veco-lessen/blob/08d7fd27830b5c42d1dbebc7fcb73b882b4d67a4/Boek%202%20-%20Kosten%2C%20opbrengsten%2C%20elasticiteit%20en%20surplus/edities/chat-2026/bronnen/H1/Docenten_en_bouwverantwoording.md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verbetering maakt jouw antwoord controleerbaar?</a:t>
            </a:r>
          </a:p>
          <a:p xmlns:a="http://schemas.openxmlformats.org/drawingml/2006/main">
            <a:r>
              <a:rPr sz="1400"/>
              <a:t/>
            </a:r>
          </a:p>
          <a:p xmlns:a="http://schemas.openxmlformats.org/drawingml/2006/main">
            <a:r>
              <a:rPr sz="1400"/>
              <a:t>Uitleg: Laat leerlingen zelf controleren of a tot en met f volledig zijn. Kijk vooral naar de bronkeuze op zaterdag, de teller én noemer bij MK en de vergelijking per extra lunchbox bij e. Vraag een berekening plus economische betekenis.</a:t>
            </a:r>
          </a:p>
          <a:p xmlns:a="http://schemas.openxmlformats.org/drawingml/2006/main">
            <a:r>
              <a:rPr sz="1400"/>
              <a:t/>
            </a:r>
          </a:p>
          <a:p xmlns:a="http://schemas.openxmlformats.org/drawingml/2006/main">
            <a:r>
              <a:rPr sz="1400"/>
              <a:t>Misvatting: Juiste losse getallen zonder vergelijking of verklaring beantwoorden e en f niet volledig.</a:t>
            </a:r>
          </a:p>
          <a:p xmlns:a="http://schemas.openxmlformats.org/drawingml/2006/main">
            <a:r>
              <a:rPr sz="1400"/>
              <a:t/>
            </a:r>
          </a:p>
          <a:p xmlns:a="http://schemas.openxmlformats.org/drawingml/2006/main">
            <a:r>
              <a:rPr sz="1400"/>
              <a:t>Overgang: Laat het afsluitende overzicht staan.</a:t>
            </a:r>
          </a:p>
          <a:p xmlns:a="http://schemas.openxmlformats.org/drawingml/2006/main">
            <a:r>
              <a:rPr sz="1400"/>
              <a:t/>
            </a:r>
          </a:p>
          <a:p xmlns:a="http://schemas.openxmlformats.org/drawingml/2006/main">
            <a:r>
              <a:rPr sz="1400"/>
              <a:t>Bron: leerlingenboek Boek 2, chatuitgave 2026, revisie 21 september 2026, gedrukte pagina 32–33. https://github.com/meijer1973/4veco-lessen/blob/08d7fd27830b5c42d1dbebc7fcb73b882b4d67a4/Boek%202%20-%20Kosten%2C%20opbrengsten%2C%20elasticiteit%20en%20surplus/edities/chat-2026/boek/Boek_2_Compleet.pdf</a:t>
            </a:r>
          </a:p>
          <a:p xmlns:a="http://schemas.openxmlformats.org/drawingml/2006/main">
            <a:r>
              <a:rPr sz="1400"/>
              <a:t>Antwoordmodel: https://github.com/meijer1973/4veco-lessen/blob/08d7fd27830b5c42d1dbebc7fcb73b882b4d67a4/Boek%202%20-%20Kosten%2C%20opbrengsten%2C%20elasticiteit%20en%20surplus/edities/chat-2026/bronnen/H1/2.1%20Kosten%20en%20opbrengsten%20%E2%80%93%20antwoorden.md</a:t>
            </a:r>
          </a:p>
          <a:p xmlns:a="http://schemas.openxmlformats.org/drawingml/2006/main">
            <a:r>
              <a:rPr sz="1400"/>
              <a:t>Docentenroute: https://github.com/meijer1973/4veco-lessen/blob/08d7fd27830b5c42d1dbebc7fcb73b882b4d67a4/Boek%202%20-%20Kosten%2C%20opbrengsten%2C%20elasticiteit%20en%20surplus/edities/chat-2026/bronnen/H1/Docenten_en_bouwverantwoording.md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Bij welke stap wil je hulp?</a:t>
            </a:r>
          </a:p>
          <a:p xmlns:a="http://schemas.openxmlformats.org/drawingml/2006/main">
            <a:r>
              <a:rPr sz="1400"/>
              <a:t/>
            </a:r>
          </a:p>
          <a:p xmlns:a="http://schemas.openxmlformats.org/drawingml/2006/main">
            <a:r>
              <a:rPr sz="1400"/>
              <a:t>Uitleg: Laat deze dia staan tijdens afsluiting / huiswerk. Start met opgave 1 op pagina 29. Deze gemengde paragraaf heeft geen afzonderlijke begeleide basissectie. Leerlingen werken met 1–4 naar doel 5 op pagina 32–33. Bespreek SmoothBox omdat deze echte doeloefening bronselectie, functies, break-even, GTK, marginale verschillen en grafiekinterpretatie samenbrengt. De klasopdracht/huiswerkopdracht is alle opgaven 1, 2, 3, 4, 5, 6 en 7 maken en nakijken, met behoud van het boeklabel bonus/denkertje bij 6 en herhaling bij 7. In de algemene docentenroute zijn 6 en 7 aanvullend; deze presentatie volgt de classroom-afspraak om alle gemengde opgaven als huiswerk te noemen. Begroot indien nodig vervolgwerktijd.</a:t>
            </a:r>
          </a:p>
          <a:p xmlns:a="http://schemas.openxmlformats.org/drawingml/2006/main">
            <a:r>
              <a:rPr sz="1400"/>
              <a:t/>
            </a:r>
          </a:p>
          <a:p xmlns:a="http://schemas.openxmlformats.org/drawingml/2006/main">
            <a:r>
              <a:rPr sz="1400"/>
              <a:t>Misvatting: Verwar bezoekers niet met verkochte producten. Het startpaginanummer is het gedrukte nummer 29, niet PDF-pagina 31.</a:t>
            </a:r>
          </a:p>
          <a:p xmlns:a="http://schemas.openxmlformats.org/drawingml/2006/main">
            <a:r>
              <a:rPr sz="1400"/>
              <a:t/>
            </a:r>
          </a:p>
          <a:p xmlns:a="http://schemas.openxmlformats.org/drawingml/2006/main">
            <a:r>
              <a:rPr sz="1400"/>
              <a:t>Overgang: Laat leerlingen het huiswerk in de agenda zetten.</a:t>
            </a:r>
          </a:p>
          <a:p xmlns:a="http://schemas.openxmlformats.org/drawingml/2006/main">
            <a:r>
              <a:rPr sz="1400"/>
              <a:t/>
            </a:r>
          </a:p>
          <a:p xmlns:a="http://schemas.openxmlformats.org/drawingml/2006/main">
            <a:r>
              <a:rPr sz="1400"/>
              <a:t>Bron: leerlingenboek Boek 2, chatuitgave 2026, revisie 21 september 2026, gedrukte pagina 29–34. https://github.com/meijer1973/4veco-lessen/blob/08d7fd27830b5c42d1dbebc7fcb73b882b4d67a4/Boek%202%20-%20Kosten%2C%20opbrengsten%2C%20elasticiteit%20en%20surplus/edities/chat-2026/boek/Boek_2_Compleet.pdf</a:t>
            </a:r>
          </a:p>
          <a:p xmlns:a="http://schemas.openxmlformats.org/drawingml/2006/main">
            <a:r>
              <a:rPr sz="1400"/>
              <a:t>Antwoordmodel: https://github.com/meijer1973/4veco-lessen/blob/08d7fd27830b5c42d1dbebc7fcb73b882b4d67a4/Boek%202%20-%20Kosten%2C%20opbrengsten%2C%20elasticiteit%20en%20surplus/edities/chat-2026/bronnen/H1/2.1%20Kosten%20en%20opbrengsten%20%E2%80%93%20antwoorden.md</a:t>
            </a:r>
          </a:p>
          <a:p xmlns:a="http://schemas.openxmlformats.org/drawingml/2006/main">
            <a:r>
              <a:rPr sz="1400"/>
              <a:t>Docentenroute: https://github.com/meijer1973/4veco-lessen/blob/08d7fd27830b5c42d1dbebc7fcb73b882b4d67a4/Boek%202%20-%20Kosten%2C%20opbrengsten%2C%20elasticiteit%20en%20surplus/edities/chat-2026/bronnen/H1/Docenten_en_bouwverantwoording.md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c16469fed7d4de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efe87a7c4594f30" /><Relationship Type="http://schemas.openxmlformats.org/officeDocument/2006/relationships/slideLayout" Target="/ppt/slideLayouts/slideLayout1.xml" Id="R12dacd225e4c49b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2dacd225e4c49b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9b0500d3d0c44377" /><Relationship Type="http://schemas.openxmlformats.org/officeDocument/2006/relationships/notesSlide" Target="/ppt/notesSlides/notesSlide1.xml" Id="R9f9b949cd983442d"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5f45fae28c424e96" /><Relationship Type="http://schemas.openxmlformats.org/officeDocument/2006/relationships/notesSlide" Target="/ppt/notesSlides/notesSlide2.xml" Id="Rfa70470da56847ac"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2adb4105796341a4" /><Relationship Type="http://schemas.openxmlformats.org/officeDocument/2006/relationships/notesSlide" Target="/ppt/notesSlides/notesSlide3.xml" Id="Rde80e1a582164c87"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7bf2c49cf5894437" /><Relationship Type="http://schemas.openxmlformats.org/officeDocument/2006/relationships/notesSlide" Target="/ppt/notesSlides/notesSlide4.xml" Id="R35a5fd4aa42b47f1"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ff933d77528b4b2b" /><Relationship Type="http://schemas.openxmlformats.org/officeDocument/2006/relationships/notesSlide" Target="/ppt/notesSlides/notesSlide5.xml" Id="R3ca21a95b3db49df"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e703c90c53c4436f" /><Relationship Type="http://schemas.openxmlformats.org/officeDocument/2006/relationships/notesSlide" Target="/ppt/notesSlides/notesSlide6.xml" Id="R8549ad14665f43ae"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768f02d4450246db" /><Relationship Type="http://schemas.openxmlformats.org/officeDocument/2006/relationships/chart" Target="/ppt/slides/charts/chart1.xml" Id="Rd71d6a5492d14315" /><Relationship Type="http://schemas.openxmlformats.org/officeDocument/2006/relationships/notesSlide" Target="/ppt/notesSlides/notesSlide7.xml" Id="R6ef72e5d499847f1"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3807e052f49841df" /><Relationship Type="http://schemas.openxmlformats.org/officeDocument/2006/relationships/notesSlide" Target="/ppt/notesSlides/notesSlide8.xml" Id="R27ded19a74034d6a"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ab33a14d28e043c2" /><Relationship Type="http://schemas.openxmlformats.org/officeDocument/2006/relationships/notesSlide" Target="/ppt/notesSlides/notesSlide9.xml" Id="R395da12d5a664cb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c33e0af557b448b8" /><Relationship Type="http://schemas.openxmlformats.org/officeDocument/2006/relationships/notesSlide" Target="/ppt/notesSlides/notesSlide10.xml" Id="R10db91c88f5f43d2"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4f23222d6ec9464f" /><Relationship Type="http://schemas.openxmlformats.org/officeDocument/2006/relationships/chart" Target="/ppt/slides/charts/chart2.xml" Id="Re22a9b13520e4985" /><Relationship Type="http://schemas.openxmlformats.org/officeDocument/2006/relationships/notesSlide" Target="/ppt/notesSlides/notesSlide11.xml" Id="Rb1ec4050d9bd4d1b"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db13ff2b896c493c" /><Relationship Type="http://schemas.openxmlformats.org/officeDocument/2006/relationships/notesSlide" Target="/ppt/notesSlides/notesSlide12.xml" Id="Rdc4756fd39c6457d"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73b1af3597d544d6" /><Relationship Type="http://schemas.openxmlformats.org/officeDocument/2006/relationships/notesSlide" Target="/ppt/notesSlides/notesSlide13.xml" Id="R99ff108729fd4ed3"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5b68d4d005134edc" /><Relationship Type="http://schemas.openxmlformats.org/officeDocument/2006/relationships/notesSlide" Target="/ppt/notesSlides/notesSlide14.xml" Id="R6cb6a57de6b24a88"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ede5c67a72b84424" /><Relationship Type="http://schemas.openxmlformats.org/officeDocument/2006/relationships/notesSlide" Target="/ppt/notesSlides/notesSlide15.xml" Id="R2ea4b43202144706"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488f20569ba14574" /><Relationship Type="http://schemas.openxmlformats.org/officeDocument/2006/relationships/notesSlide" Target="/ppt/notesSlides/notesSlide16.xml" Id="R828decbba2b24b02"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ff1a3c231fab49ef" /><Relationship Type="http://schemas.openxmlformats.org/officeDocument/2006/relationships/notesSlide" Target="/ppt/notesSlides/notesSlide17.xml" Id="R77b0552695dc469e"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243289c86eb042a2" /><Relationship Type="http://schemas.openxmlformats.org/officeDocument/2006/relationships/notesSlide" Target="/ppt/notesSlides/notesSlide18.xml" Id="R1f587d8b19a14dc0"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ab3650585c184344" /><Relationship Type="http://schemas.openxmlformats.org/officeDocument/2006/relationships/chart" Target="/ppt/slides/charts/chart3.xml" Id="R87bc9cc240f94bdc" /><Relationship Type="http://schemas.openxmlformats.org/officeDocument/2006/relationships/notesSlide" Target="/ppt/notesSlides/notesSlide19.xml" Id="R0b1cb4a52fda4fd2"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20f4610f86b14f01" /><Relationship Type="http://schemas.openxmlformats.org/officeDocument/2006/relationships/chart" Target="/ppt/slides/charts/chart4.xml" Id="R0707b678350c4a8e" /><Relationship Type="http://schemas.openxmlformats.org/officeDocument/2006/relationships/notesSlide" Target="/ppt/notesSlides/notesSlide20.xml" Id="R7242e9f5c2ed4161"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050faa5592d041ad" /><Relationship Type="http://schemas.openxmlformats.org/officeDocument/2006/relationships/notesSlide" Target="/ppt/notesSlides/notesSlide21.xml" Id="R3f0876caaa2c40b3"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0a8ab7eb826847e1" /><Relationship Type="http://schemas.openxmlformats.org/officeDocument/2006/relationships/notesSlide" Target="/ppt/notesSlides/notesSlide22.xml" Id="R24c9d20781f8427d"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175c3245591c4260" /><Relationship Type="http://schemas.openxmlformats.org/officeDocument/2006/relationships/notesSlide" Target="/ppt/notesSlides/notesSlide23.xml" Id="R7ccf8ebdf9264940"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4ff81976336840ef" /><Relationship Type="http://schemas.openxmlformats.org/officeDocument/2006/relationships/notesSlide" Target="/ppt/notesSlides/notesSlide24.xml" Id="R4a1a1837e3244419"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_rels/chart4.xml.rels><Relationships xmlns="http://schemas.openxmlformats.org/package/2006/relationships"><Relationship Id="rIdChartSnapshot1" Type="http://schemas.openxmlformats.org/officeDocument/2006/relationships/package" Target="../../embeddings/chart-data-snapshot-004.xlsx"/></Relationships>
</file>

<file path=ppt/slides/charts/chart1.xml><?xml version="1.0" encoding="utf-8"?>
<c:chartSpace xmlns:c="http://schemas.openxmlformats.org/drawingml/2006/chart" xmlns:r="http://schemas.openxmlformats.org/officeDocument/2006/relationships">
  <c:lang val="en-US"/>
  <c:chart>
    <c:plotArea>
      <c:scatterChart>
        <c:scatterStyle val="lineMarker"/>
        <c:ser>
          <c:idx val="0"/>
          <c:order val="0"/>
          <c:tx>
            <c:v>TO</c:v>
          </c:tx>
          <c:spPr>
            <a:ln xmlns:a="http://schemas.openxmlformats.org/drawingml/2006/main" w="38100">
              <a:solidFill>
                <a:srgbClr val="17658A"/>
              </a:solidFill>
              <a:prstDash val="solid"/>
            </a:ln>
          </c:spPr>
          <c:marker>
            <c:symbol val="none"/>
            <c:size val="9"/>
            <c:spPr>
              <a:solidFill xmlns:a="http://schemas.openxmlformats.org/drawingml/2006/main">
                <a:srgbClr val="17658A"/>
              </a:solidFill>
            </c:spPr>
          </c:marker>
          <c:dLbls>
            <c:dLbl>
              <c:idx val="0"/>
              <c:delete val="1"/>
            </c:dLbl>
            <c:dLbl>
              <c:idx val="1"/>
              <c:dLblPos val="r"/>
              <c:showLegendKey val="0"/>
              <c:showVal val="0"/>
              <c:showCatName val="0"/>
              <c:showSerName val="1"/>
            </c:dLbl>
            <c:txPr>
              <ns0:bodyPr xmlns:ns0="http://schemas.openxmlformats.org/drawingml/2006/main"/>
              <ns1:lstStyle xmlns:ns1="http://schemas.openxmlformats.org/drawingml/2006/main"/>
              <ns2:p xmlns:ns2="http://schemas.openxmlformats.org/drawingml/2006/main">
                <ns2:pPr>
                  <ns2:defRPr sz="2025" b="1">
                    <ns2:solidFill>
                      <ns2:srgbClr val="17658A"/>
                    </ns2:solidFill>
                    <ns2:latin typeface="Arial"/>
                  </ns2:defRPr>
                </ns2:pPr>
                <ns2:endParaRPr lang="nl-NL"/>
              </ns2:p>
            </c:txPr>
            <c:showLegendKey val="0"/>
            <c:showVal val="0"/>
            <c:showCatName val="0"/>
            <c:showSerName val="0"/>
            <c:showPercent val="0"/>
            <c:showBubbleSize val="0"/>
            <c:showLeaderLines val="0"/>
          </c:dLbls>
          <c:xVal>
            <c:numRef>
              <c:f>'Chart Data'!$A$2:$A$3</c:f>
              <c:numCache>
                <c:formatCode>General</c:formatCode>
                <c:ptCount val="2"/>
                <c:pt idx="0">
                  <c:v>0</c:v>
                </c:pt>
                <c:pt idx="1">
                  <c:v>120</c:v>
                </c:pt>
              </c:numCache>
            </c:numRef>
          </c:xVal>
          <c:yVal>
            <c:numRef>
              <c:f>'Chart Data'!$B$2:$B$3</c:f>
              <c:numCache>
                <c:formatCode>#,##0</c:formatCode>
                <c:ptCount val="2"/>
                <c:pt idx="0">
                  <c:v>0</c:v>
                </c:pt>
                <c:pt idx="1">
                  <c:v>720</c:v>
                </c:pt>
              </c:numCache>
            </c:numRef>
          </c:yVal>
        </c:ser>
        <c:ser>
          <c:idx val="1"/>
          <c:order val="1"/>
          <c:tx>
            <c:v>TK</c:v>
          </c:tx>
          <c:spPr>
            <a:ln xmlns:a="http://schemas.openxmlformats.org/drawingml/2006/main" w="38100">
              <a:solidFill>
                <a:srgbClr val="A94D16"/>
              </a:solidFill>
              <a:prstDash val="dash"/>
            </a:ln>
          </c:spPr>
          <c:marker>
            <c:symbol val="none"/>
            <c:size val="9"/>
            <c:spPr>
              <a:solidFill xmlns:a="http://schemas.openxmlformats.org/drawingml/2006/main">
                <a:srgbClr val="A94D16"/>
              </a:solidFill>
            </c:spPr>
          </c:marker>
          <c:dLbls>
            <c:dLbl>
              <c:idx val="0"/>
              <c:delete val="1"/>
            </c:dLbl>
            <c:dLbl>
              <c:idx val="1"/>
              <c:dLblPos val="r"/>
              <c:showLegendKey val="0"/>
              <c:showVal val="0"/>
              <c:showCatName val="0"/>
              <c:showSerName val="1"/>
            </c:dLbl>
            <c:txPr>
              <ns3:bodyPr xmlns:ns3="http://schemas.openxmlformats.org/drawingml/2006/main"/>
              <ns4:lstStyle xmlns:ns4="http://schemas.openxmlformats.org/drawingml/2006/main"/>
              <ns5:p xmlns:ns5="http://schemas.openxmlformats.org/drawingml/2006/main">
                <ns5:pPr>
                  <ns5:defRPr sz="2025" b="1">
                    <ns5:solidFill>
                      <ns5:srgbClr val="A94D16"/>
                    </ns5:solidFill>
                    <ns5:latin typeface="Arial"/>
                  </ns5:defRPr>
                </ns5:pPr>
                <ns5:endParaRPr lang="nl-NL"/>
              </ns5:p>
            </c:txPr>
            <c:showLegendKey val="0"/>
            <c:showVal val="0"/>
            <c:showCatName val="0"/>
            <c:showSerName val="0"/>
            <c:showPercent val="0"/>
            <c:showBubbleSize val="0"/>
            <c:showLeaderLines val="0"/>
          </c:dLbls>
          <c:xVal>
            <c:numRef>
              <c:f>'Chart Data'!$C$2:$C$3</c:f>
              <c:numCache>
                <c:formatCode>General</c:formatCode>
                <c:ptCount val="2"/>
                <c:pt idx="0">
                  <c:v>0</c:v>
                </c:pt>
                <c:pt idx="1">
                  <c:v>120</c:v>
                </c:pt>
              </c:numCache>
            </c:numRef>
          </c:xVal>
          <c:yVal>
            <c:numRef>
              <c:f>'Chart Data'!$D$2:$D$3</c:f>
              <c:numCache>
                <c:formatCode>#,##0</c:formatCode>
                <c:ptCount val="2"/>
                <c:pt idx="0">
                  <c:v>240</c:v>
                </c:pt>
                <c:pt idx="1">
                  <c:v>480</c:v>
                </c:pt>
              </c:numCache>
            </c:numRef>
          </c:yVal>
        </c:ser>
        <c:ser>
          <c:idx val="2"/>
          <c:order val="2"/>
          <c:tx>
            <c:v>Winstafstand</c:v>
          </c:tx>
          <c:spPr>
            <a:ln xmlns:a="http://schemas.openxmlformats.org/drawingml/2006/main" w="66675">
              <a:solidFill>
                <a:srgbClr val="20665B"/>
              </a:solidFill>
              <a:prstDash val="solid"/>
            </a:ln>
          </c:spPr>
          <c:marker>
            <c:symbol val="none"/>
            <c:size val="9"/>
            <c:spPr>
              <a:solidFill xmlns:a="http://schemas.openxmlformats.org/drawingml/2006/main">
                <a:srgbClr val="20665B"/>
              </a:solidFill>
            </c:spPr>
          </c:marker>
          <c:xVal>
            <c:numRef>
              <c:f>'Chart Data'!$E$2:$E$3</c:f>
              <c:numCache>
                <c:formatCode>General</c:formatCode>
                <c:ptCount val="2"/>
                <c:pt idx="0">
                  <c:v>90</c:v>
                </c:pt>
                <c:pt idx="1">
                  <c:v>90</c:v>
                </c:pt>
              </c:numCache>
            </c:numRef>
          </c:xVal>
          <c:yVal>
            <c:numRef>
              <c:f>'Chart Data'!$F$2:$F$3</c:f>
              <c:numCache>
                <c:formatCode>#,##0</c:formatCode>
                <c:ptCount val="2"/>
                <c:pt idx="0">
                  <c:v>420</c:v>
                </c:pt>
                <c:pt idx="1">
                  <c:v>540</c:v>
                </c:pt>
              </c:numCache>
            </c:numRef>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800"/>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875">
                    <a:solidFill>
                      <a:srgbClr val="183247"/>
                    </a:solidFill>
                    <a:latin typeface="Arial"/>
                    <a:ea typeface="Arial"/>
                    <a:cs typeface="Arial"/>
                  </a:rPr>
                  <a:t>TO en TK (€ per feest)</a:t>
                </a:r>
              </a:p>
            </c:rich>
          </c:tx>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50112"/>
        <c:majorUnit val="200"/>
      </c:valAx>
      <c:valAx>
        <c:axId val="48650112"/>
        <c:scaling>
          <c:orientation val="minMax"/>
          <c:max val="150"/>
          <c:min val="0"/>
        </c:scaling>
        <c:delete val="0"/>
        <c:axPos val="b"/>
        <c:title>
          <c:tx>
            <c:rich>
              <a:bodyPr xmlns:a="http://schemas.openxmlformats.org/drawingml/2006/main"/>
              <a:lstStyle xmlns:a="http://schemas.openxmlformats.org/drawingml/2006/main"/>
              <a:p xmlns:a="http://schemas.openxmlformats.org/drawingml/2006/main">
                <a:r>
                  <a:rPr sz="1875">
                    <a:solidFill>
                      <a:srgbClr val="183247"/>
                    </a:solidFill>
                    <a:latin typeface="Arial"/>
                    <a:ea typeface="Arial"/>
                    <a:cs typeface="Arial"/>
                  </a:rPr>
                  <a:t>Q (foto’s per feest)</a:t>
                </a:r>
              </a:p>
            </c:rich>
          </c:tx>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72768"/>
        <c:majorUnit val="3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scatterChart>
        <c:scatterStyle val="lineMarker"/>
        <c:ser>
          <c:idx val="0"/>
          <c:order val="0"/>
          <c:tx>
            <c:v>TO</c:v>
          </c:tx>
          <c:spPr>
            <a:ln xmlns:a="http://schemas.openxmlformats.org/drawingml/2006/main" w="38100">
              <a:solidFill>
                <a:srgbClr val="17658A"/>
              </a:solidFill>
              <a:prstDash val="solid"/>
            </a:ln>
          </c:spPr>
          <c:marker>
            <c:symbol val="none"/>
            <c:size val="9"/>
            <c:spPr>
              <a:solidFill xmlns:a="http://schemas.openxmlformats.org/drawingml/2006/main">
                <a:srgbClr val="17658A"/>
              </a:solidFill>
            </c:spPr>
          </c:marker>
          <c:dLbls>
            <c:dLbl>
              <c:idx val="0"/>
              <c:delete val="1"/>
            </c:dLbl>
            <c:dLbl>
              <c:idx val="1"/>
              <c:dLblPos val="r"/>
              <c:showLegendKey val="0"/>
              <c:showVal val="0"/>
              <c:showCatName val="0"/>
              <c:showSerName val="1"/>
            </c:dLbl>
            <c:txPr>
              <ns0:bodyPr xmlns:ns0="http://schemas.openxmlformats.org/drawingml/2006/main"/>
              <ns1:lstStyle xmlns:ns1="http://schemas.openxmlformats.org/drawingml/2006/main"/>
              <ns2:p xmlns:ns2="http://schemas.openxmlformats.org/drawingml/2006/main">
                <ns2:pPr>
                  <ns2:defRPr sz="2025" b="1">
                    <ns2:solidFill>
                      <ns2:srgbClr val="17658A"/>
                    </ns2:solidFill>
                    <ns2:latin typeface="Arial"/>
                  </ns2:defRPr>
                </ns2:pPr>
                <ns2:endParaRPr lang="nl-NL"/>
              </ns2:p>
            </c:txPr>
            <c:showLegendKey val="0"/>
            <c:showVal val="0"/>
            <c:showCatName val="0"/>
            <c:showSerName val="0"/>
            <c:showPercent val="0"/>
            <c:showBubbleSize val="0"/>
            <c:showLeaderLines val="0"/>
          </c:dLbls>
          <c:xVal>
            <c:numRef>
              <c:f>'Chart Data'!$A$2:$A$3</c:f>
              <c:numCache>
                <c:formatCode>General</c:formatCode>
                <c:ptCount val="2"/>
                <c:pt idx="0">
                  <c:v>0</c:v>
                </c:pt>
                <c:pt idx="1">
                  <c:v>1000</c:v>
                </c:pt>
              </c:numCache>
            </c:numRef>
          </c:xVal>
          <c:yVal>
            <c:numRef>
              <c:f>'Chart Data'!$B$2:$B$3</c:f>
              <c:numCache>
                <c:formatCode>#,##0</c:formatCode>
                <c:ptCount val="2"/>
                <c:pt idx="0">
                  <c:v>0</c:v>
                </c:pt>
                <c:pt idx="1">
                  <c:v>5000</c:v>
                </c:pt>
              </c:numCache>
            </c:numRef>
          </c:yVal>
        </c:ser>
        <c:ser>
          <c:idx val="1"/>
          <c:order val="1"/>
          <c:tx>
            <c:v>TK vrijdag</c:v>
          </c:tx>
          <c:spPr>
            <a:ln xmlns:a="http://schemas.openxmlformats.org/drawingml/2006/main" w="38100">
              <a:solidFill>
                <a:srgbClr val="A94D16"/>
              </a:solidFill>
              <a:prstDash val="dash"/>
            </a:ln>
          </c:spPr>
          <c:marker>
            <c:symbol val="none"/>
            <c:size val="9"/>
            <c:spPr>
              <a:solidFill xmlns:a="http://schemas.openxmlformats.org/drawingml/2006/main">
                <a:srgbClr val="A94D16"/>
              </a:solidFill>
            </c:spPr>
          </c:marker>
          <c:dLbls>
            <c:dLbl>
              <c:idx val="0"/>
              <c:delete val="1"/>
            </c:dLbl>
            <c:dLbl>
              <c:idx val="1"/>
              <c:dLblPos val="r"/>
              <c:showLegendKey val="0"/>
              <c:showVal val="0"/>
              <c:showCatName val="0"/>
              <c:showSerName val="1"/>
            </c:dLbl>
            <c:txPr>
              <ns3:bodyPr xmlns:ns3="http://schemas.openxmlformats.org/drawingml/2006/main"/>
              <ns4:lstStyle xmlns:ns4="http://schemas.openxmlformats.org/drawingml/2006/main"/>
              <ns5:p xmlns:ns5="http://schemas.openxmlformats.org/drawingml/2006/main">
                <ns5:pPr>
                  <ns5:defRPr sz="2025" b="1">
                    <ns5:solidFill>
                      <ns5:srgbClr val="A94D16"/>
                    </ns5:solidFill>
                    <ns5:latin typeface="Arial"/>
                  </ns5:defRPr>
                </ns5:pPr>
                <ns5:endParaRPr lang="nl-NL"/>
              </ns5:p>
            </c:txPr>
            <c:showLegendKey val="0"/>
            <c:showVal val="0"/>
            <c:showCatName val="0"/>
            <c:showSerName val="0"/>
            <c:showPercent val="0"/>
            <c:showBubbleSize val="0"/>
            <c:showLeaderLines val="0"/>
          </c:dLbls>
          <c:xVal>
            <c:numRef>
              <c:f>'Chart Data'!$C$2:$C$3</c:f>
              <c:numCache>
                <c:formatCode>General</c:formatCode>
                <c:ptCount val="2"/>
                <c:pt idx="0">
                  <c:v>0</c:v>
                </c:pt>
                <c:pt idx="1">
                  <c:v>1000</c:v>
                </c:pt>
              </c:numCache>
            </c:numRef>
          </c:xVal>
          <c:yVal>
            <c:numRef>
              <c:f>'Chart Data'!$D$2:$D$3</c:f>
              <c:numCache>
                <c:formatCode>#,##0</c:formatCode>
                <c:ptCount val="2"/>
                <c:pt idx="0">
                  <c:v>1200</c:v>
                </c:pt>
                <c:pt idx="1">
                  <c:v>3200</c:v>
                </c:pt>
              </c:numCache>
            </c:numRef>
          </c:yVal>
        </c:ser>
        <c:ser>
          <c:idx val="2"/>
          <c:order val="2"/>
          <c:tx>
            <c:v>TK zaterdag</c:v>
          </c:tx>
          <c:spPr>
            <a:ln xmlns:a="http://schemas.openxmlformats.org/drawingml/2006/main" w="38100">
              <a:solidFill>
                <a:srgbClr val="20665B"/>
              </a:solidFill>
              <a:prstDash val="dot"/>
            </a:ln>
          </c:spPr>
          <c:marker>
            <c:symbol val="circle"/>
            <c:size val="9"/>
            <c:spPr>
              <a:solidFill xmlns:a="http://schemas.openxmlformats.org/drawingml/2006/main">
                <a:srgbClr val="20665B"/>
              </a:solidFill>
            </c:spPr>
          </c:marker>
          <c:dLbls>
            <c:dLbl>
              <c:idx val="0"/>
              <c:delete val="1"/>
            </c:dLbl>
            <c:dLbl>
              <c:idx val="1"/>
              <c:delete val="1"/>
            </c:dLbl>
            <c:dLbl>
              <c:idx val="2"/>
              <c:delete val="1"/>
            </c:dLbl>
            <c:dLbl>
              <c:idx val="3"/>
              <c:dLblPos val="r"/>
              <c:showLegendKey val="0"/>
              <c:showVal val="0"/>
              <c:showCatName val="0"/>
              <c:showSerName val="1"/>
            </c:dLbl>
            <c:txPr>
              <ns6:bodyPr xmlns:ns6="http://schemas.openxmlformats.org/drawingml/2006/main"/>
              <ns7:lstStyle xmlns:ns7="http://schemas.openxmlformats.org/drawingml/2006/main"/>
              <ns8:p xmlns:ns8="http://schemas.openxmlformats.org/drawingml/2006/main">
                <ns8:pPr>
                  <ns8:defRPr sz="2025" b="1">
                    <ns8:solidFill>
                      <ns8:srgbClr val="20665B"/>
                    </ns8:solidFill>
                    <ns8:latin typeface="Arial"/>
                  </ns8:defRPr>
                </ns8:pPr>
                <ns8:endParaRPr lang="nl-NL"/>
              </ns8:p>
            </c:txPr>
            <c:showLegendKey val="0"/>
            <c:showVal val="0"/>
            <c:showCatName val="0"/>
            <c:showSerName val="0"/>
            <c:showPercent val="0"/>
            <c:showBubbleSize val="0"/>
            <c:showLeaderLines val="0"/>
          </c:dLbls>
          <c:xVal>
            <c:numRef>
              <c:f>'Chart Data'!$E$2:$E$5</c:f>
              <c:numCache>
                <c:formatCode>General</c:formatCode>
                <c:ptCount val="4"/>
                <c:pt idx="0">
                  <c:v>700</c:v>
                </c:pt>
                <c:pt idx="1">
                  <c:v>800</c:v>
                </c:pt>
                <c:pt idx="2">
                  <c:v>900</c:v>
                </c:pt>
                <c:pt idx="3">
                  <c:v>1000</c:v>
                </c:pt>
              </c:numCache>
            </c:numRef>
          </c:xVal>
          <c:yVal>
            <c:numRef>
              <c:f>'Chart Data'!$F$2:$F$5</c:f>
              <c:numCache>
                <c:formatCode>#,##0</c:formatCode>
                <c:ptCount val="4"/>
                <c:pt idx="0">
                  <c:v>2600</c:v>
                </c:pt>
                <c:pt idx="1">
                  <c:v>2900</c:v>
                </c:pt>
                <c:pt idx="2">
                  <c:v>3250</c:v>
                </c:pt>
                <c:pt idx="3">
                  <c:v>3650</c:v>
                </c:pt>
              </c:numCache>
            </c:numRef>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5500"/>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875">
                    <a:solidFill>
                      <a:srgbClr val="183247"/>
                    </a:solidFill>
                    <a:latin typeface="Arial"/>
                    <a:ea typeface="Arial"/>
                    <a:cs typeface="Arial"/>
                  </a:rPr>
                  <a:t>TO en TK (€ per dag)</a:t>
                </a:r>
              </a:p>
            </c:rich>
          </c:tx>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50112"/>
        <c:majorUnit val="1000"/>
      </c:valAx>
      <c:valAx>
        <c:axId val="48650112"/>
        <c:scaling>
          <c:orientation val="minMax"/>
          <c:max val="1200"/>
          <c:min val="0"/>
        </c:scaling>
        <c:delete val="0"/>
        <c:axPos val="b"/>
        <c:title>
          <c:tx>
            <c:rich>
              <a:bodyPr xmlns:a="http://schemas.openxmlformats.org/drawingml/2006/main"/>
              <a:lstStyle xmlns:a="http://schemas.openxmlformats.org/drawingml/2006/main"/>
              <a:p xmlns:a="http://schemas.openxmlformats.org/drawingml/2006/main">
                <a:r>
                  <a:rPr sz="1875">
                    <a:solidFill>
                      <a:srgbClr val="183247"/>
                    </a:solidFill>
                    <a:latin typeface="Arial"/>
                    <a:ea typeface="Arial"/>
                    <a:cs typeface="Arial"/>
                  </a:rPr>
                  <a:t>Q (lunchboxen per dag)</a:t>
                </a:r>
              </a:p>
            </c:rich>
          </c:tx>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72768"/>
        <c:majorUnit val="20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scatterChart>
        <c:scatterStyle val="lineMarker"/>
        <c:ser>
          <c:idx val="0"/>
          <c:order val="0"/>
          <c:tx>
            <c:v>TO</c:v>
          </c:tx>
          <c:spPr>
            <a:ln xmlns:a="http://schemas.openxmlformats.org/drawingml/2006/main" w="38100">
              <a:solidFill>
                <a:srgbClr val="17658A"/>
              </a:solidFill>
              <a:prstDash val="solid"/>
            </a:ln>
          </c:spPr>
          <c:marker>
            <c:symbol val="none"/>
            <c:size val="9"/>
            <c:spPr>
              <a:solidFill xmlns:a="http://schemas.openxmlformats.org/drawingml/2006/main">
                <a:srgbClr val="17658A"/>
              </a:solidFill>
            </c:spPr>
          </c:marker>
          <c:dLbls>
            <c:dLbl>
              <c:idx val="0"/>
              <c:delete val="1"/>
            </c:dLbl>
            <c:dLbl>
              <c:idx val="1"/>
              <c:dLblPos val="r"/>
              <c:showLegendKey val="0"/>
              <c:showVal val="0"/>
              <c:showCatName val="0"/>
              <c:showSerName val="1"/>
            </c:dLbl>
            <c:txPr>
              <ns0:bodyPr xmlns:ns0="http://schemas.openxmlformats.org/drawingml/2006/main"/>
              <ns1:lstStyle xmlns:ns1="http://schemas.openxmlformats.org/drawingml/2006/main"/>
              <ns2:p xmlns:ns2="http://schemas.openxmlformats.org/drawingml/2006/main">
                <ns2:pPr>
                  <ns2:defRPr sz="2025" b="1">
                    <ns2:solidFill>
                      <ns2:srgbClr val="17658A"/>
                    </ns2:solidFill>
                    <ns2:latin typeface="Arial"/>
                  </ns2:defRPr>
                </ns2:pPr>
                <ns2:endParaRPr lang="nl-NL"/>
              </ns2:p>
            </c:txPr>
            <c:showLegendKey val="0"/>
            <c:showVal val="0"/>
            <c:showCatName val="0"/>
            <c:showSerName val="0"/>
            <c:showPercent val="0"/>
            <c:showBubbleSize val="0"/>
            <c:showLeaderLines val="0"/>
          </c:dLbls>
          <c:xVal>
            <c:numRef>
              <c:f>'Chart Data'!$A$2:$A$3</c:f>
              <c:numCache>
                <c:formatCode>General</c:formatCode>
                <c:ptCount val="2"/>
                <c:pt idx="0">
                  <c:v>0</c:v>
                </c:pt>
                <c:pt idx="1">
                  <c:v>1000</c:v>
                </c:pt>
              </c:numCache>
            </c:numRef>
          </c:xVal>
          <c:yVal>
            <c:numRef>
              <c:f>'Chart Data'!$B$2:$B$3</c:f>
              <c:numCache>
                <c:formatCode>#,##0</c:formatCode>
                <c:ptCount val="2"/>
                <c:pt idx="0">
                  <c:v>0</c:v>
                </c:pt>
                <c:pt idx="1">
                  <c:v>5000</c:v>
                </c:pt>
              </c:numCache>
            </c:numRef>
          </c:yVal>
        </c:ser>
        <c:ser>
          <c:idx val="1"/>
          <c:order val="1"/>
          <c:tx>
            <c:v>TK vrijdag</c:v>
          </c:tx>
          <c:spPr>
            <a:ln xmlns:a="http://schemas.openxmlformats.org/drawingml/2006/main" w="38100">
              <a:solidFill>
                <a:srgbClr val="A94D16"/>
              </a:solidFill>
              <a:prstDash val="dash"/>
            </a:ln>
          </c:spPr>
          <c:marker>
            <c:symbol val="none"/>
            <c:size val="9"/>
            <c:spPr>
              <a:solidFill xmlns:a="http://schemas.openxmlformats.org/drawingml/2006/main">
                <a:srgbClr val="A94D16"/>
              </a:solidFill>
            </c:spPr>
          </c:marker>
          <c:dLbls>
            <c:dLbl>
              <c:idx val="0"/>
              <c:delete val="1"/>
            </c:dLbl>
            <c:dLbl>
              <c:idx val="1"/>
              <c:dLblPos val="r"/>
              <c:showLegendKey val="0"/>
              <c:showVal val="0"/>
              <c:showCatName val="0"/>
              <c:showSerName val="1"/>
            </c:dLbl>
            <c:txPr>
              <ns3:bodyPr xmlns:ns3="http://schemas.openxmlformats.org/drawingml/2006/main"/>
              <ns4:lstStyle xmlns:ns4="http://schemas.openxmlformats.org/drawingml/2006/main"/>
              <ns5:p xmlns:ns5="http://schemas.openxmlformats.org/drawingml/2006/main">
                <ns5:pPr>
                  <ns5:defRPr sz="2025" b="1">
                    <ns5:solidFill>
                      <ns5:srgbClr val="A94D16"/>
                    </ns5:solidFill>
                    <ns5:latin typeface="Arial"/>
                  </ns5:defRPr>
                </ns5:pPr>
                <ns5:endParaRPr lang="nl-NL"/>
              </ns5:p>
            </c:txPr>
            <c:showLegendKey val="0"/>
            <c:showVal val="0"/>
            <c:showCatName val="0"/>
            <c:showSerName val="0"/>
            <c:showPercent val="0"/>
            <c:showBubbleSize val="0"/>
            <c:showLeaderLines val="0"/>
          </c:dLbls>
          <c:xVal>
            <c:numRef>
              <c:f>'Chart Data'!$C$2:$C$3</c:f>
              <c:numCache>
                <c:formatCode>General</c:formatCode>
                <c:ptCount val="2"/>
                <c:pt idx="0">
                  <c:v>0</c:v>
                </c:pt>
                <c:pt idx="1">
                  <c:v>1000</c:v>
                </c:pt>
              </c:numCache>
            </c:numRef>
          </c:xVal>
          <c:yVal>
            <c:numRef>
              <c:f>'Chart Data'!$D$2:$D$3</c:f>
              <c:numCache>
                <c:formatCode>#,##0</c:formatCode>
                <c:ptCount val="2"/>
                <c:pt idx="0">
                  <c:v>1200</c:v>
                </c:pt>
                <c:pt idx="1">
                  <c:v>3200</c:v>
                </c:pt>
              </c:numCache>
            </c:numRef>
          </c:yVal>
        </c:ser>
        <c:ser>
          <c:idx val="2"/>
          <c:order val="2"/>
          <c:tx>
            <c:v>TK zaterdag</c:v>
          </c:tx>
          <c:spPr>
            <a:ln xmlns:a="http://schemas.openxmlformats.org/drawingml/2006/main" w="38100">
              <a:solidFill>
                <a:srgbClr val="20665B"/>
              </a:solidFill>
              <a:prstDash val="dot"/>
            </a:ln>
          </c:spPr>
          <c:marker>
            <c:symbol val="circle"/>
            <c:size val="9"/>
            <c:spPr>
              <a:solidFill xmlns:a="http://schemas.openxmlformats.org/drawingml/2006/main">
                <a:srgbClr val="20665B"/>
              </a:solidFill>
            </c:spPr>
          </c:marker>
          <c:dLbls>
            <c:dLbl>
              <c:idx val="0"/>
              <c:delete val="1"/>
            </c:dLbl>
            <c:dLbl>
              <c:idx val="1"/>
              <c:delete val="1"/>
            </c:dLbl>
            <c:dLbl>
              <c:idx val="2"/>
              <c:delete val="1"/>
            </c:dLbl>
            <c:dLbl>
              <c:idx val="3"/>
              <c:dLblPos val="r"/>
              <c:showLegendKey val="0"/>
              <c:showVal val="0"/>
              <c:showCatName val="0"/>
              <c:showSerName val="1"/>
            </c:dLbl>
            <c:txPr>
              <ns6:bodyPr xmlns:ns6="http://schemas.openxmlformats.org/drawingml/2006/main"/>
              <ns7:lstStyle xmlns:ns7="http://schemas.openxmlformats.org/drawingml/2006/main"/>
              <ns8:p xmlns:ns8="http://schemas.openxmlformats.org/drawingml/2006/main">
                <ns8:pPr>
                  <ns8:defRPr sz="2025" b="1">
                    <ns8:solidFill>
                      <ns8:srgbClr val="20665B"/>
                    </ns8:solidFill>
                    <ns8:latin typeface="Arial"/>
                  </ns8:defRPr>
                </ns8:pPr>
                <ns8:endParaRPr lang="nl-NL"/>
              </ns8:p>
            </c:txPr>
            <c:showLegendKey val="0"/>
            <c:showVal val="0"/>
            <c:showCatName val="0"/>
            <c:showSerName val="0"/>
            <c:showPercent val="0"/>
            <c:showBubbleSize val="0"/>
            <c:showLeaderLines val="0"/>
          </c:dLbls>
          <c:xVal>
            <c:numRef>
              <c:f>'Chart Data'!$E$2:$E$5</c:f>
              <c:numCache>
                <c:formatCode>General</c:formatCode>
                <c:ptCount val="4"/>
                <c:pt idx="0">
                  <c:v>700</c:v>
                </c:pt>
                <c:pt idx="1">
                  <c:v>800</c:v>
                </c:pt>
                <c:pt idx="2">
                  <c:v>900</c:v>
                </c:pt>
                <c:pt idx="3">
                  <c:v>1000</c:v>
                </c:pt>
              </c:numCache>
            </c:numRef>
          </c:xVal>
          <c:yVal>
            <c:numRef>
              <c:f>'Chart Data'!$F$2:$F$5</c:f>
              <c:numCache>
                <c:formatCode>#,##0</c:formatCode>
                <c:ptCount val="4"/>
                <c:pt idx="0">
                  <c:v>2600</c:v>
                </c:pt>
                <c:pt idx="1">
                  <c:v>2900</c:v>
                </c:pt>
                <c:pt idx="2">
                  <c:v>3250</c:v>
                </c:pt>
                <c:pt idx="3">
                  <c:v>3650</c:v>
                </c:pt>
              </c:numCache>
            </c:numRef>
          </c:yVal>
        </c:ser>
        <c:ser>
          <c:idx val="3"/>
          <c:order val="3"/>
          <c:tx>
            <c:v>Break-even</c:v>
          </c:tx>
          <c:spPr>
            <a:ln xmlns:a="http://schemas.openxmlformats.org/drawingml/2006/main" w="0">
              <a:solidFill>
                <a:srgbClr val="183247"/>
              </a:solidFill>
              <a:prstDash val="solid"/>
            </a:ln>
          </c:spPr>
          <c:marker>
            <c:symbol val="diamond"/>
            <c:size val="9"/>
            <c:spPr>
              <a:solidFill xmlns:a="http://schemas.openxmlformats.org/drawingml/2006/main">
                <a:srgbClr val="183247"/>
              </a:solidFill>
            </c:spPr>
          </c:marker>
          <c:xVal>
            <c:numRef>
              <c:f>'Chart Data'!$G$2:$G$2</c:f>
              <c:numCache>
                <c:formatCode>General</c:formatCode>
                <c:ptCount val="1"/>
                <c:pt idx="0">
                  <c:v>400</c:v>
                </c:pt>
              </c:numCache>
            </c:numRef>
          </c:xVal>
          <c:yVal>
            <c:numRef>
              <c:f>'Chart Data'!$H$2:$H$2</c:f>
              <c:numCache>
                <c:formatCode>#,##0</c:formatCode>
                <c:ptCount val="1"/>
                <c:pt idx="0">
                  <c:v>2000</c:v>
                </c:pt>
              </c:numCache>
            </c:numRef>
          </c:yVal>
        </c:ser>
        <c:ser>
          <c:idx val="4"/>
          <c:order val="4"/>
          <c:tx>
            <c:v>Hulplijn Q</c:v>
          </c:tx>
          <c:spPr>
            <a:ln xmlns:a="http://schemas.openxmlformats.org/drawingml/2006/main" w="19050">
              <a:solidFill>
                <a:srgbClr val="445B6B"/>
              </a:solidFill>
              <a:prstDash val="dash"/>
            </a:ln>
          </c:spPr>
          <c:marker>
            <c:symbol val="none"/>
            <c:size val="9"/>
            <c:spPr>
              <a:solidFill xmlns:a="http://schemas.openxmlformats.org/drawingml/2006/main">
                <a:srgbClr val="445B6B"/>
              </a:solidFill>
            </c:spPr>
          </c:marker>
          <c:xVal>
            <c:numRef>
              <c:f>'Chart Data'!$I$2:$I$3</c:f>
              <c:numCache>
                <c:formatCode>General</c:formatCode>
                <c:ptCount val="2"/>
                <c:pt idx="0">
                  <c:v>400</c:v>
                </c:pt>
                <c:pt idx="1">
                  <c:v>400</c:v>
                </c:pt>
              </c:numCache>
            </c:numRef>
          </c:xVal>
          <c:yVal>
            <c:numRef>
              <c:f>'Chart Data'!$J$2:$J$3</c:f>
              <c:numCache>
                <c:formatCode>#,##0</c:formatCode>
                <c:ptCount val="2"/>
                <c:pt idx="0">
                  <c:v>0</c:v>
                </c:pt>
                <c:pt idx="1">
                  <c:v>2000</c:v>
                </c:pt>
              </c:numCache>
            </c:numRef>
          </c:yVal>
        </c:ser>
        <c:ser>
          <c:idx val="5"/>
          <c:order val="5"/>
          <c:tx>
            <c:v>Hulplijn bedrag</c:v>
          </c:tx>
          <c:spPr>
            <a:ln xmlns:a="http://schemas.openxmlformats.org/drawingml/2006/main" w="19050">
              <a:solidFill>
                <a:srgbClr val="445B6B"/>
              </a:solidFill>
              <a:prstDash val="dash"/>
            </a:ln>
          </c:spPr>
          <c:marker>
            <c:symbol val="none"/>
            <c:size val="9"/>
            <c:spPr>
              <a:solidFill xmlns:a="http://schemas.openxmlformats.org/drawingml/2006/main">
                <a:srgbClr val="445B6B"/>
              </a:solidFill>
            </c:spPr>
          </c:marker>
          <c:xVal>
            <c:numRef>
              <c:f>'Chart Data'!$K$2:$K$3</c:f>
              <c:numCache>
                <c:formatCode>General</c:formatCode>
                <c:ptCount val="2"/>
                <c:pt idx="0">
                  <c:v>0</c:v>
                </c:pt>
                <c:pt idx="1">
                  <c:v>400</c:v>
                </c:pt>
              </c:numCache>
            </c:numRef>
          </c:xVal>
          <c:yVal>
            <c:numRef>
              <c:f>'Chart Data'!$L$2:$L$3</c:f>
              <c:numCache>
                <c:formatCode>#,##0</c:formatCode>
                <c:ptCount val="2"/>
                <c:pt idx="0">
                  <c:v>2000</c:v>
                </c:pt>
                <c:pt idx="1">
                  <c:v>2000</c:v>
                </c:pt>
              </c:numCache>
            </c:numRef>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5500"/>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875">
                    <a:solidFill>
                      <a:srgbClr val="183247"/>
                    </a:solidFill>
                    <a:latin typeface="Arial"/>
                    <a:ea typeface="Arial"/>
                    <a:cs typeface="Arial"/>
                  </a:rPr>
                  <a:t>TO en TK (€ per dag)</a:t>
                </a:r>
              </a:p>
            </c:rich>
          </c:tx>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50112"/>
        <c:majorUnit val="1000"/>
      </c:valAx>
      <c:valAx>
        <c:axId val="48650112"/>
        <c:scaling>
          <c:orientation val="minMax"/>
          <c:max val="1200"/>
          <c:min val="0"/>
        </c:scaling>
        <c:delete val="0"/>
        <c:axPos val="b"/>
        <c:title>
          <c:tx>
            <c:rich>
              <a:bodyPr xmlns:a="http://schemas.openxmlformats.org/drawingml/2006/main"/>
              <a:lstStyle xmlns:a="http://schemas.openxmlformats.org/drawingml/2006/main"/>
              <a:p xmlns:a="http://schemas.openxmlformats.org/drawingml/2006/main">
                <a:r>
                  <a:rPr sz="1875">
                    <a:solidFill>
                      <a:srgbClr val="183247"/>
                    </a:solidFill>
                    <a:latin typeface="Arial"/>
                    <a:ea typeface="Arial"/>
                    <a:cs typeface="Arial"/>
                  </a:rPr>
                  <a:t>Q (lunchboxen per dag)</a:t>
                </a:r>
              </a:p>
            </c:rich>
          </c:tx>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72768"/>
        <c:majorUnit val="20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4.xml><?xml version="1.0" encoding="utf-8"?>
<c:chartSpace xmlns:c="http://schemas.openxmlformats.org/drawingml/2006/chart" xmlns:r="http://schemas.openxmlformats.org/officeDocument/2006/relationships">
  <c:lang val="en-US"/>
  <c:chart>
    <c:plotArea>
      <c:scatterChart>
        <c:scatterStyle val="lineMarker"/>
        <c:ser>
          <c:idx val="0"/>
          <c:order val="0"/>
          <c:tx>
            <c:v>TO</c:v>
          </c:tx>
          <c:spPr>
            <a:ln xmlns:a="http://schemas.openxmlformats.org/drawingml/2006/main" w="38100">
              <a:solidFill>
                <a:srgbClr val="17658A"/>
              </a:solidFill>
              <a:prstDash val="solid"/>
            </a:ln>
          </c:spPr>
          <c:marker>
            <c:symbol val="none"/>
            <c:size val="9"/>
            <c:spPr>
              <a:solidFill xmlns:a="http://schemas.openxmlformats.org/drawingml/2006/main">
                <a:srgbClr val="17658A"/>
              </a:solidFill>
            </c:spPr>
          </c:marker>
          <c:dLbls>
            <c:dLbl>
              <c:idx val="0"/>
              <c:delete val="1"/>
            </c:dLbl>
            <c:dLbl>
              <c:idx val="1"/>
              <c:dLblPos val="r"/>
              <c:showLegendKey val="0"/>
              <c:showVal val="0"/>
              <c:showCatName val="0"/>
              <c:showSerName val="1"/>
            </c:dLbl>
            <c:txPr>
              <ns0:bodyPr xmlns:ns0="http://schemas.openxmlformats.org/drawingml/2006/main"/>
              <ns1:lstStyle xmlns:ns1="http://schemas.openxmlformats.org/drawingml/2006/main"/>
              <ns2:p xmlns:ns2="http://schemas.openxmlformats.org/drawingml/2006/main">
                <ns2:pPr>
                  <ns2:defRPr sz="2025" b="1">
                    <ns2:solidFill>
                      <ns2:srgbClr val="17658A"/>
                    </ns2:solidFill>
                    <ns2:latin typeface="Arial"/>
                  </ns2:defRPr>
                </ns2:pPr>
                <ns2:endParaRPr lang="nl-NL"/>
              </ns2:p>
            </c:txPr>
            <c:showLegendKey val="0"/>
            <c:showVal val="0"/>
            <c:showCatName val="0"/>
            <c:showSerName val="0"/>
            <c:showPercent val="0"/>
            <c:showBubbleSize val="0"/>
            <c:showLeaderLines val="0"/>
          </c:dLbls>
          <c:xVal>
            <c:numRef>
              <c:f>'Chart Data'!$A$2:$A$3</c:f>
              <c:numCache>
                <c:formatCode>General</c:formatCode>
                <c:ptCount val="2"/>
                <c:pt idx="0">
                  <c:v>0</c:v>
                </c:pt>
                <c:pt idx="1">
                  <c:v>1000</c:v>
                </c:pt>
              </c:numCache>
            </c:numRef>
          </c:xVal>
          <c:yVal>
            <c:numRef>
              <c:f>'Chart Data'!$B$2:$B$3</c:f>
              <c:numCache>
                <c:formatCode>#,##0</c:formatCode>
                <c:ptCount val="2"/>
                <c:pt idx="0">
                  <c:v>0</c:v>
                </c:pt>
                <c:pt idx="1">
                  <c:v>5000</c:v>
                </c:pt>
              </c:numCache>
            </c:numRef>
          </c:yVal>
        </c:ser>
        <c:ser>
          <c:idx val="1"/>
          <c:order val="1"/>
          <c:tx>
            <c:v>TK vrijdag</c:v>
          </c:tx>
          <c:spPr>
            <a:ln xmlns:a="http://schemas.openxmlformats.org/drawingml/2006/main" w="38100">
              <a:solidFill>
                <a:srgbClr val="A94D16"/>
              </a:solidFill>
              <a:prstDash val="dash"/>
            </a:ln>
          </c:spPr>
          <c:marker>
            <c:symbol val="none"/>
            <c:size val="9"/>
            <c:spPr>
              <a:solidFill xmlns:a="http://schemas.openxmlformats.org/drawingml/2006/main">
                <a:srgbClr val="A94D16"/>
              </a:solidFill>
            </c:spPr>
          </c:marker>
          <c:dLbls>
            <c:dLbl>
              <c:idx val="0"/>
              <c:delete val="1"/>
            </c:dLbl>
            <c:dLbl>
              <c:idx val="1"/>
              <c:dLblPos val="r"/>
              <c:showLegendKey val="0"/>
              <c:showVal val="0"/>
              <c:showCatName val="0"/>
              <c:showSerName val="1"/>
            </c:dLbl>
            <c:txPr>
              <ns3:bodyPr xmlns:ns3="http://schemas.openxmlformats.org/drawingml/2006/main"/>
              <ns4:lstStyle xmlns:ns4="http://schemas.openxmlformats.org/drawingml/2006/main"/>
              <ns5:p xmlns:ns5="http://schemas.openxmlformats.org/drawingml/2006/main">
                <ns5:pPr>
                  <ns5:defRPr sz="2025" b="1">
                    <ns5:solidFill>
                      <ns5:srgbClr val="A94D16"/>
                    </ns5:solidFill>
                    <ns5:latin typeface="Arial"/>
                  </ns5:defRPr>
                </ns5:pPr>
                <ns5:endParaRPr lang="nl-NL"/>
              </ns5:p>
            </c:txPr>
            <c:showLegendKey val="0"/>
            <c:showVal val="0"/>
            <c:showCatName val="0"/>
            <c:showSerName val="0"/>
            <c:showPercent val="0"/>
            <c:showBubbleSize val="0"/>
            <c:showLeaderLines val="0"/>
          </c:dLbls>
          <c:xVal>
            <c:numRef>
              <c:f>'Chart Data'!$C$2:$C$3</c:f>
              <c:numCache>
                <c:formatCode>General</c:formatCode>
                <c:ptCount val="2"/>
                <c:pt idx="0">
                  <c:v>0</c:v>
                </c:pt>
                <c:pt idx="1">
                  <c:v>1000</c:v>
                </c:pt>
              </c:numCache>
            </c:numRef>
          </c:xVal>
          <c:yVal>
            <c:numRef>
              <c:f>'Chart Data'!$D$2:$D$3</c:f>
              <c:numCache>
                <c:formatCode>#,##0</c:formatCode>
                <c:ptCount val="2"/>
                <c:pt idx="0">
                  <c:v>1200</c:v>
                </c:pt>
                <c:pt idx="1">
                  <c:v>3200</c:v>
                </c:pt>
              </c:numCache>
            </c:numRef>
          </c:yVal>
        </c:ser>
        <c:ser>
          <c:idx val="2"/>
          <c:order val="2"/>
          <c:tx>
            <c:v>TK zaterdag</c:v>
          </c:tx>
          <c:spPr>
            <a:ln xmlns:a="http://schemas.openxmlformats.org/drawingml/2006/main" w="38100">
              <a:solidFill>
                <a:srgbClr val="20665B"/>
              </a:solidFill>
              <a:prstDash val="dot"/>
            </a:ln>
          </c:spPr>
          <c:marker>
            <c:symbol val="circle"/>
            <c:size val="9"/>
            <c:spPr>
              <a:solidFill xmlns:a="http://schemas.openxmlformats.org/drawingml/2006/main">
                <a:srgbClr val="20665B"/>
              </a:solidFill>
            </c:spPr>
          </c:marker>
          <c:dLbls>
            <c:dLbl>
              <c:idx val="0"/>
              <c:delete val="1"/>
            </c:dLbl>
            <c:dLbl>
              <c:idx val="1"/>
              <c:delete val="1"/>
            </c:dLbl>
            <c:dLbl>
              <c:idx val="2"/>
              <c:delete val="1"/>
            </c:dLbl>
            <c:dLbl>
              <c:idx val="3"/>
              <c:dLblPos val="r"/>
              <c:showLegendKey val="0"/>
              <c:showVal val="0"/>
              <c:showCatName val="0"/>
              <c:showSerName val="1"/>
            </c:dLbl>
            <c:txPr>
              <ns6:bodyPr xmlns:ns6="http://schemas.openxmlformats.org/drawingml/2006/main"/>
              <ns7:lstStyle xmlns:ns7="http://schemas.openxmlformats.org/drawingml/2006/main"/>
              <ns8:p xmlns:ns8="http://schemas.openxmlformats.org/drawingml/2006/main">
                <ns8:pPr>
                  <ns8:defRPr sz="2025" b="1">
                    <ns8:solidFill>
                      <ns8:srgbClr val="20665B"/>
                    </ns8:solidFill>
                    <ns8:latin typeface="Arial"/>
                  </ns8:defRPr>
                </ns8:pPr>
                <ns8:endParaRPr lang="nl-NL"/>
              </ns8:p>
            </c:txPr>
            <c:showLegendKey val="0"/>
            <c:showVal val="0"/>
            <c:showCatName val="0"/>
            <c:showSerName val="0"/>
            <c:showPercent val="0"/>
            <c:showBubbleSize val="0"/>
            <c:showLeaderLines val="0"/>
          </c:dLbls>
          <c:xVal>
            <c:numRef>
              <c:f>'Chart Data'!$E$2:$E$5</c:f>
              <c:numCache>
                <c:formatCode>General</c:formatCode>
                <c:ptCount val="4"/>
                <c:pt idx="0">
                  <c:v>700</c:v>
                </c:pt>
                <c:pt idx="1">
                  <c:v>800</c:v>
                </c:pt>
                <c:pt idx="2">
                  <c:v>900</c:v>
                </c:pt>
                <c:pt idx="3">
                  <c:v>1000</c:v>
                </c:pt>
              </c:numCache>
            </c:numRef>
          </c:xVal>
          <c:yVal>
            <c:numRef>
              <c:f>'Chart Data'!$F$2:$F$5</c:f>
              <c:numCache>
                <c:formatCode>#,##0</c:formatCode>
                <c:ptCount val="4"/>
                <c:pt idx="0">
                  <c:v>2600</c:v>
                </c:pt>
                <c:pt idx="1">
                  <c:v>2900</c:v>
                </c:pt>
                <c:pt idx="2">
                  <c:v>3250</c:v>
                </c:pt>
                <c:pt idx="3">
                  <c:v>3650</c:v>
                </c:pt>
              </c:numCache>
            </c:numRef>
          </c:yVal>
        </c:ser>
        <c:ser>
          <c:idx val="3"/>
          <c:order val="3"/>
          <c:tx>
            <c:v>Break-even</c:v>
          </c:tx>
          <c:spPr>
            <a:ln xmlns:a="http://schemas.openxmlformats.org/drawingml/2006/main" w="0">
              <a:solidFill>
                <a:srgbClr val="183247"/>
              </a:solidFill>
              <a:prstDash val="solid"/>
            </a:ln>
          </c:spPr>
          <c:marker>
            <c:symbol val="diamond"/>
            <c:size val="9"/>
            <c:spPr>
              <a:solidFill xmlns:a="http://schemas.openxmlformats.org/drawingml/2006/main">
                <a:srgbClr val="183247"/>
              </a:solidFill>
            </c:spPr>
          </c:marker>
          <c:xVal>
            <c:numRef>
              <c:f>'Chart Data'!$G$2:$G$2</c:f>
              <c:numCache>
                <c:formatCode>General</c:formatCode>
                <c:ptCount val="1"/>
                <c:pt idx="0">
                  <c:v>400</c:v>
                </c:pt>
              </c:numCache>
            </c:numRef>
          </c:xVal>
          <c:yVal>
            <c:numRef>
              <c:f>'Chart Data'!$H$2:$H$2</c:f>
              <c:numCache>
                <c:formatCode>#,##0</c:formatCode>
                <c:ptCount val="1"/>
                <c:pt idx="0">
                  <c:v>2000</c:v>
                </c:pt>
              </c:numCache>
            </c:numRef>
          </c:yVal>
        </c:ser>
        <c:ser>
          <c:idx val="4"/>
          <c:order val="4"/>
          <c:tx>
            <c:v>Hulplijn Q</c:v>
          </c:tx>
          <c:spPr>
            <a:ln xmlns:a="http://schemas.openxmlformats.org/drawingml/2006/main" w="19050">
              <a:solidFill>
                <a:srgbClr val="445B6B"/>
              </a:solidFill>
              <a:prstDash val="dash"/>
            </a:ln>
          </c:spPr>
          <c:marker>
            <c:symbol val="none"/>
            <c:size val="9"/>
            <c:spPr>
              <a:solidFill xmlns:a="http://schemas.openxmlformats.org/drawingml/2006/main">
                <a:srgbClr val="445B6B"/>
              </a:solidFill>
            </c:spPr>
          </c:marker>
          <c:xVal>
            <c:numRef>
              <c:f>'Chart Data'!$I$2:$I$3</c:f>
              <c:numCache>
                <c:formatCode>General</c:formatCode>
                <c:ptCount val="2"/>
                <c:pt idx="0">
                  <c:v>400</c:v>
                </c:pt>
                <c:pt idx="1">
                  <c:v>400</c:v>
                </c:pt>
              </c:numCache>
            </c:numRef>
          </c:xVal>
          <c:yVal>
            <c:numRef>
              <c:f>'Chart Data'!$J$2:$J$3</c:f>
              <c:numCache>
                <c:formatCode>#,##0</c:formatCode>
                <c:ptCount val="2"/>
                <c:pt idx="0">
                  <c:v>0</c:v>
                </c:pt>
                <c:pt idx="1">
                  <c:v>2000</c:v>
                </c:pt>
              </c:numCache>
            </c:numRef>
          </c:yVal>
        </c:ser>
        <c:ser>
          <c:idx val="5"/>
          <c:order val="5"/>
          <c:tx>
            <c:v>Hulplijn bedrag</c:v>
          </c:tx>
          <c:spPr>
            <a:ln xmlns:a="http://schemas.openxmlformats.org/drawingml/2006/main" w="19050">
              <a:solidFill>
                <a:srgbClr val="445B6B"/>
              </a:solidFill>
              <a:prstDash val="dash"/>
            </a:ln>
          </c:spPr>
          <c:marker>
            <c:symbol val="none"/>
            <c:size val="9"/>
            <c:spPr>
              <a:solidFill xmlns:a="http://schemas.openxmlformats.org/drawingml/2006/main">
                <a:srgbClr val="445B6B"/>
              </a:solidFill>
            </c:spPr>
          </c:marker>
          <c:xVal>
            <c:numRef>
              <c:f>'Chart Data'!$K$2:$K$3</c:f>
              <c:numCache>
                <c:formatCode>General</c:formatCode>
                <c:ptCount val="2"/>
                <c:pt idx="0">
                  <c:v>0</c:v>
                </c:pt>
                <c:pt idx="1">
                  <c:v>400</c:v>
                </c:pt>
              </c:numCache>
            </c:numRef>
          </c:xVal>
          <c:yVal>
            <c:numRef>
              <c:f>'Chart Data'!$L$2:$L$3</c:f>
              <c:numCache>
                <c:formatCode>#,##0</c:formatCode>
                <c:ptCount val="2"/>
                <c:pt idx="0">
                  <c:v>2000</c:v>
                </c:pt>
                <c:pt idx="1">
                  <c:v>2000</c:v>
                </c:pt>
              </c:numCache>
            </c:numRef>
          </c:yVal>
        </c:ser>
        <c:ser>
          <c:idx val="6"/>
          <c:order val="6"/>
          <c:tx>
            <c:v>Winstafstand</c:v>
          </c:tx>
          <c:spPr>
            <a:ln xmlns:a="http://schemas.openxmlformats.org/drawingml/2006/main" w="66675">
              <a:solidFill>
                <a:srgbClr val="183247"/>
              </a:solidFill>
              <a:prstDash val="solid"/>
            </a:ln>
          </c:spPr>
          <c:marker>
            <c:symbol val="none"/>
            <c:size val="9"/>
            <c:spPr>
              <a:solidFill xmlns:a="http://schemas.openxmlformats.org/drawingml/2006/main">
                <a:srgbClr val="183247"/>
              </a:solidFill>
            </c:spPr>
          </c:marker>
          <c:xVal>
            <c:numRef>
              <c:f>'Chart Data'!$M$2:$M$3</c:f>
              <c:numCache>
                <c:formatCode>General</c:formatCode>
                <c:ptCount val="2"/>
                <c:pt idx="0">
                  <c:v>700</c:v>
                </c:pt>
                <c:pt idx="1">
                  <c:v>700</c:v>
                </c:pt>
              </c:numCache>
            </c:numRef>
          </c:xVal>
          <c:yVal>
            <c:numRef>
              <c:f>'Chart Data'!$N$2:$N$3</c:f>
              <c:numCache>
                <c:formatCode>#,##0</c:formatCode>
                <c:ptCount val="2"/>
                <c:pt idx="0">
                  <c:v>2600</c:v>
                </c:pt>
                <c:pt idx="1">
                  <c:v>3500</c:v>
                </c:pt>
              </c:numCache>
            </c:numRef>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5500"/>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875">
                    <a:solidFill>
                      <a:srgbClr val="183247"/>
                    </a:solidFill>
                    <a:latin typeface="Arial"/>
                    <a:ea typeface="Arial"/>
                    <a:cs typeface="Arial"/>
                  </a:rPr>
                  <a:t>TO en TK (€ per dag)</a:t>
                </a:r>
              </a:p>
            </c:rich>
          </c:tx>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50112"/>
        <c:majorUnit val="1000"/>
      </c:valAx>
      <c:valAx>
        <c:axId val="48650112"/>
        <c:scaling>
          <c:orientation val="minMax"/>
          <c:max val="1200"/>
          <c:min val="0"/>
        </c:scaling>
        <c:delete val="0"/>
        <c:axPos val="b"/>
        <c:title>
          <c:tx>
            <c:rich>
              <a:bodyPr xmlns:a="http://schemas.openxmlformats.org/drawingml/2006/main"/>
              <a:lstStyle xmlns:a="http://schemas.openxmlformats.org/drawingml/2006/main"/>
              <a:p xmlns:a="http://schemas.openxmlformats.org/drawingml/2006/main">
                <a:r>
                  <a:rPr sz="1875">
                    <a:solidFill>
                      <a:srgbClr val="183247"/>
                    </a:solidFill>
                    <a:latin typeface="Arial"/>
                    <a:ea typeface="Arial"/>
                    <a:cs typeface="Arial"/>
                  </a:rPr>
                  <a:t>Q (lunchboxen per dag)</a:t>
                </a:r>
              </a:p>
            </c:rich>
          </c:tx>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72768"/>
        <c:majorUnit val="20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Deze les: §2.1.4 Gemengde opgaven">
            <a:extLst xmlns:a="http://schemas.openxmlformats.org/drawingml/2006/main">
              <a:ext uri="{FF2B5EF4-FFF2-40B4-BE49-F238E27FC236}">
                <a16:creationId xmlns:a16="http://schemas.microsoft.com/office/drawing/2014/main" id="{4E9982B4-C6C7-49C9-9011-DCCB0175613D}"/>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Deze les: §2.1.4 Gemengde opgaven</a:t>
            </a:r>
          </a:p>
        </p:txBody>
      </p:sp>
      <p:sp>
        <p:nvSpPr>
          <p:cNvPr id="2" name="">
            <a:extLst xmlns:a="http://schemas.openxmlformats.org/drawingml/2006/main">
              <a:ext uri="{FF2B5EF4-FFF2-40B4-BE49-F238E27FC236}">
                <a16:creationId xmlns:a16="http://schemas.microsoft.com/office/drawing/2014/main" id="{359FAB36-2DE1-4A6E-BE13-88CDDB3532C4}"/>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4 Gemengde opgaven">
            <a:extLst xmlns:a="http://schemas.openxmlformats.org/drawingml/2006/main">
              <a:ext uri="{FF2B5EF4-FFF2-40B4-BE49-F238E27FC236}">
                <a16:creationId xmlns:a16="http://schemas.microsoft.com/office/drawing/2014/main" id="{EC7ABA3C-46E1-4761-ACCD-EB42784DB35E}"/>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§2.1.4 Gemengde opgaven</a:t>
            </a:r>
          </a:p>
        </p:txBody>
      </p:sp>
      <p:sp>
        <p:nvSpPr>
          <p:cNvPr id="4" name="slide-number">
            <a:extLst xmlns:a="http://schemas.openxmlformats.org/drawingml/2006/main">
              <a:ext uri="{FF2B5EF4-FFF2-40B4-BE49-F238E27FC236}">
                <a16:creationId xmlns:a16="http://schemas.microsoft.com/office/drawing/2014/main" id="{30392EE1-FB8C-4CC4-883B-27241F21A756}"/>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a:t>
            </a:r>
          </a:p>
        </p:txBody>
      </p:sp>
      <p:sp>
        <p:nvSpPr>
          <p:cNvPr id="5" name="phase">
            <a:extLst xmlns:a="http://schemas.openxmlformats.org/drawingml/2006/main">
              <a:ext uri="{FF2B5EF4-FFF2-40B4-BE49-F238E27FC236}">
                <a16:creationId xmlns:a16="http://schemas.microsoft.com/office/drawing/2014/main" id="{ECFD8657-A0CC-45EC-9A37-1D611EE922D1}"/>
              </a:ext>
            </a:extLst>
          </p:cNvPr>
          <p:cNvSpPr>
            <a:spLocks xmlns:a="http://schemas.openxmlformats.org/drawingml/2006/main" noGrp="1"/>
          </p:cNvSpPr>
          <p:nvPr/>
        </p:nvSpPr>
        <p:spPr>
          <a:xfrm xmlns:a="http://schemas.openxmlformats.org/drawingml/2006/main">
            <a:off x="571500" y="1066800"/>
            <a:ext cx="13811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Nu: Startopdracht</a:t>
            </a:r>
          </a:p>
        </p:txBody>
      </p:sp>
      <p:sp>
        <p:nvSpPr>
          <p:cNvPr id="6" name="Lesroute">
            <a:extLst xmlns:a="http://schemas.openxmlformats.org/drawingml/2006/main">
              <a:ext uri="{FF2B5EF4-FFF2-40B4-BE49-F238E27FC236}">
                <a16:creationId xmlns:a16="http://schemas.microsoft.com/office/drawing/2014/main" id="{D39358AE-3652-4C1C-ACC0-E09B2F4B5EB3}"/>
              </a:ext>
            </a:extLst>
          </p:cNvPr>
          <p:cNvSpPr>
            <a:spLocks xmlns:a="http://schemas.openxmlformats.org/drawingml/2006/main" noGrp="1"/>
          </p:cNvSpPr>
          <p:nvPr/>
        </p:nvSpPr>
        <p:spPr>
          <a:xfrm xmlns:a="http://schemas.openxmlformats.org/drawingml/2006/main">
            <a:off x="571500" y="1762125"/>
            <a:ext cx="7953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Lesroute</a:t>
            </a:r>
          </a:p>
        </p:txBody>
      </p:sp>
      <p:sp>
        <p:nvSpPr>
          <p:cNvPr id="7" name="route-number-1">
            <a:extLst xmlns:a="http://schemas.openxmlformats.org/drawingml/2006/main">
              <a:ext uri="{FF2B5EF4-FFF2-40B4-BE49-F238E27FC236}">
                <a16:creationId xmlns:a16="http://schemas.microsoft.com/office/drawing/2014/main" id="{485A78A7-523E-49C9-AB09-36888549235F}"/>
              </a:ext>
            </a:extLst>
          </p:cNvPr>
          <p:cNvSpPr>
            <a:spLocks xmlns:a="http://schemas.openxmlformats.org/drawingml/2006/main" noGrp="1"/>
          </p:cNvSpPr>
          <p:nvPr/>
        </p:nvSpPr>
        <p:spPr>
          <a:xfrm xmlns:a="http://schemas.openxmlformats.org/drawingml/2006/main">
            <a:off x="571500" y="2324100"/>
            <a:ext cx="4572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1.</a:t>
            </a:r>
          </a:p>
        </p:txBody>
      </p:sp>
      <p:sp>
        <p:nvSpPr>
          <p:cNvPr id="8" name="route-1">
            <a:extLst xmlns:a="http://schemas.openxmlformats.org/drawingml/2006/main">
              <a:ext uri="{FF2B5EF4-FFF2-40B4-BE49-F238E27FC236}">
                <a16:creationId xmlns:a16="http://schemas.microsoft.com/office/drawing/2014/main" id="{92412A59-8BD7-474F-B74D-15FF3235BD2B}"/>
              </a:ext>
            </a:extLst>
          </p:cNvPr>
          <p:cNvSpPr>
            <a:spLocks xmlns:a="http://schemas.openxmlformats.org/drawingml/2006/main" noGrp="1"/>
          </p:cNvSpPr>
          <p:nvPr/>
        </p:nvSpPr>
        <p:spPr>
          <a:xfrm xmlns:a="http://schemas.openxmlformats.org/drawingml/2006/main">
            <a:off x="1104900" y="2324100"/>
            <a:ext cx="741997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Jas in de kluis of aan de kapstok. Pak agenda, schrift, pen en rekenmachine.</a:t>
            </a:r>
          </a:p>
        </p:txBody>
      </p:sp>
      <p:sp>
        <p:nvSpPr>
          <p:cNvPr id="9" name="route-number-2">
            <a:extLst xmlns:a="http://schemas.openxmlformats.org/drawingml/2006/main">
              <a:ext uri="{FF2B5EF4-FFF2-40B4-BE49-F238E27FC236}">
                <a16:creationId xmlns:a16="http://schemas.microsoft.com/office/drawing/2014/main" id="{DD29F55F-666A-44E7-925B-79649F71AB5E}"/>
              </a:ext>
            </a:extLst>
          </p:cNvPr>
          <p:cNvSpPr>
            <a:spLocks xmlns:a="http://schemas.openxmlformats.org/drawingml/2006/main" noGrp="1"/>
          </p:cNvSpPr>
          <p:nvPr/>
        </p:nvSpPr>
        <p:spPr>
          <a:xfrm xmlns:a="http://schemas.openxmlformats.org/drawingml/2006/main">
            <a:off x="571500" y="320040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2.</a:t>
            </a:r>
          </a:p>
        </p:txBody>
      </p:sp>
      <p:sp>
        <p:nvSpPr>
          <p:cNvPr id="10" name="route-2">
            <a:extLst xmlns:a="http://schemas.openxmlformats.org/drawingml/2006/main">
              <a:ext uri="{FF2B5EF4-FFF2-40B4-BE49-F238E27FC236}">
                <a16:creationId xmlns:a16="http://schemas.microsoft.com/office/drawing/2014/main" id="{BFB2EDC5-9A8D-4BB4-8100-7F424F03343F}"/>
              </a:ext>
            </a:extLst>
          </p:cNvPr>
          <p:cNvSpPr>
            <a:spLocks xmlns:a="http://schemas.openxmlformats.org/drawingml/2006/main" noGrp="1"/>
          </p:cNvSpPr>
          <p:nvPr/>
        </p:nvSpPr>
        <p:spPr>
          <a:xfrm xmlns:a="http://schemas.openxmlformats.org/drawingml/2006/main">
            <a:off x="1104900" y="320040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Maak de startopdracht.</a:t>
            </a:r>
          </a:p>
        </p:txBody>
      </p:sp>
      <p:sp>
        <p:nvSpPr>
          <p:cNvPr id="11" name="route-number-3">
            <a:extLst xmlns:a="http://schemas.openxmlformats.org/drawingml/2006/main">
              <a:ext uri="{FF2B5EF4-FFF2-40B4-BE49-F238E27FC236}">
                <a16:creationId xmlns:a16="http://schemas.microsoft.com/office/drawing/2014/main" id="{651FFA1D-075F-4E9A-81EE-7A5B290149EE}"/>
              </a:ext>
            </a:extLst>
          </p:cNvPr>
          <p:cNvSpPr>
            <a:spLocks xmlns:a="http://schemas.openxmlformats.org/drawingml/2006/main" noGrp="1"/>
          </p:cNvSpPr>
          <p:nvPr/>
        </p:nvSpPr>
        <p:spPr>
          <a:xfrm xmlns:a="http://schemas.openxmlformats.org/drawingml/2006/main">
            <a:off x="571500" y="371475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3.</a:t>
            </a:r>
          </a:p>
        </p:txBody>
      </p:sp>
      <p:sp>
        <p:nvSpPr>
          <p:cNvPr id="12" name="route-3">
            <a:extLst xmlns:a="http://schemas.openxmlformats.org/drawingml/2006/main">
              <a:ext uri="{FF2B5EF4-FFF2-40B4-BE49-F238E27FC236}">
                <a16:creationId xmlns:a16="http://schemas.microsoft.com/office/drawing/2014/main" id="{D4031F1B-4351-46AA-9E61-805822637225}"/>
              </a:ext>
            </a:extLst>
          </p:cNvPr>
          <p:cNvSpPr>
            <a:spLocks xmlns:a="http://schemas.openxmlformats.org/drawingml/2006/main" noGrp="1"/>
          </p:cNvSpPr>
          <p:nvPr/>
        </p:nvSpPr>
        <p:spPr>
          <a:xfrm xmlns:a="http://schemas.openxmlformats.org/drawingml/2006/main">
            <a:off x="1104900" y="371475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Korte herhaling en aanpak.</a:t>
            </a:r>
          </a:p>
        </p:txBody>
      </p:sp>
      <p:sp>
        <p:nvSpPr>
          <p:cNvPr id="13" name="route-number-4">
            <a:extLst xmlns:a="http://schemas.openxmlformats.org/drawingml/2006/main">
              <a:ext uri="{FF2B5EF4-FFF2-40B4-BE49-F238E27FC236}">
                <a16:creationId xmlns:a16="http://schemas.microsoft.com/office/drawing/2014/main" id="{1DD3E0F8-F08C-4995-9436-711D93FFBFDE}"/>
              </a:ext>
            </a:extLst>
          </p:cNvPr>
          <p:cNvSpPr>
            <a:spLocks xmlns:a="http://schemas.openxmlformats.org/drawingml/2006/main" noGrp="1"/>
          </p:cNvSpPr>
          <p:nvPr/>
        </p:nvSpPr>
        <p:spPr>
          <a:xfrm xmlns:a="http://schemas.openxmlformats.org/drawingml/2006/main">
            <a:off x="571500" y="4248150"/>
            <a:ext cx="45720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4.</a:t>
            </a:r>
          </a:p>
        </p:txBody>
      </p:sp>
      <p:sp>
        <p:nvSpPr>
          <p:cNvPr id="14" name="route-4">
            <a:extLst xmlns:a="http://schemas.openxmlformats.org/drawingml/2006/main">
              <a:ext uri="{FF2B5EF4-FFF2-40B4-BE49-F238E27FC236}">
                <a16:creationId xmlns:a16="http://schemas.microsoft.com/office/drawing/2014/main" id="{4EFE5F5B-ED53-446B-A62B-6D3D5B3184D0}"/>
              </a:ext>
            </a:extLst>
          </p:cNvPr>
          <p:cNvSpPr>
            <a:spLocks xmlns:a="http://schemas.openxmlformats.org/drawingml/2006/main" noGrp="1"/>
          </p:cNvSpPr>
          <p:nvPr/>
        </p:nvSpPr>
        <p:spPr>
          <a:xfrm xmlns:a="http://schemas.openxmlformats.org/drawingml/2006/main">
            <a:off x="1104900" y="4248150"/>
            <a:ext cx="7419975"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Werk verder aan de gemengde opgaven, stel vragen en kijk je antwoorden na.</a:t>
            </a:r>
          </a:p>
        </p:txBody>
      </p:sp>
      <p:sp>
        <p:nvSpPr>
          <p:cNvPr id="15" name="route-number-5">
            <a:extLst xmlns:a="http://schemas.openxmlformats.org/drawingml/2006/main">
              <a:ext uri="{FF2B5EF4-FFF2-40B4-BE49-F238E27FC236}">
                <a16:creationId xmlns:a16="http://schemas.microsoft.com/office/drawing/2014/main" id="{74C2F8C1-23F3-4D5B-9AE9-A99CF1122188}"/>
              </a:ext>
            </a:extLst>
          </p:cNvPr>
          <p:cNvSpPr>
            <a:spLocks xmlns:a="http://schemas.openxmlformats.org/drawingml/2006/main" noGrp="1"/>
          </p:cNvSpPr>
          <p:nvPr/>
        </p:nvSpPr>
        <p:spPr>
          <a:xfrm xmlns:a="http://schemas.openxmlformats.org/drawingml/2006/main">
            <a:off x="571500" y="6057900"/>
            <a:ext cx="4572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5.</a:t>
            </a:r>
          </a:p>
        </p:txBody>
      </p:sp>
      <p:sp>
        <p:nvSpPr>
          <p:cNvPr id="16" name="route-5">
            <a:extLst xmlns:a="http://schemas.openxmlformats.org/drawingml/2006/main">
              <a:ext uri="{FF2B5EF4-FFF2-40B4-BE49-F238E27FC236}">
                <a16:creationId xmlns:a16="http://schemas.microsoft.com/office/drawing/2014/main" id="{8E5C68AF-4CCA-46A7-81AF-0C6A2FBBB583}"/>
              </a:ext>
            </a:extLst>
          </p:cNvPr>
          <p:cNvSpPr>
            <a:spLocks xmlns:a="http://schemas.openxmlformats.org/drawingml/2006/main" noGrp="1"/>
          </p:cNvSpPr>
          <p:nvPr/>
        </p:nvSpPr>
        <p:spPr>
          <a:xfrm xmlns:a="http://schemas.openxmlformats.org/drawingml/2006/main">
            <a:off x="1104900" y="6057900"/>
            <a:ext cx="741997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Klaar? Werk aan een ander vak. Geen devices.</a:t>
            </a:r>
          </a:p>
        </p:txBody>
      </p:sp>
      <p:sp>
        <p:nvSpPr>
          <p:cNvPr id="17" name="route-number-6">
            <a:extLst xmlns:a="http://schemas.openxmlformats.org/drawingml/2006/main">
              <a:ext uri="{FF2B5EF4-FFF2-40B4-BE49-F238E27FC236}">
                <a16:creationId xmlns:a16="http://schemas.microsoft.com/office/drawing/2014/main" id="{8623B76A-4F0B-4C83-AB12-DD8AFC6FAE5B}"/>
              </a:ext>
            </a:extLst>
          </p:cNvPr>
          <p:cNvSpPr>
            <a:spLocks xmlns:a="http://schemas.openxmlformats.org/drawingml/2006/main" noGrp="1"/>
          </p:cNvSpPr>
          <p:nvPr/>
        </p:nvSpPr>
        <p:spPr>
          <a:xfrm xmlns:a="http://schemas.openxmlformats.org/drawingml/2006/main">
            <a:off x="571500" y="6819900"/>
            <a:ext cx="4572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6.</a:t>
            </a:r>
          </a:p>
        </p:txBody>
      </p:sp>
      <p:sp>
        <p:nvSpPr>
          <p:cNvPr id="18" name="route-6">
            <a:extLst xmlns:a="http://schemas.openxmlformats.org/drawingml/2006/main">
              <a:ext uri="{FF2B5EF4-FFF2-40B4-BE49-F238E27FC236}">
                <a16:creationId xmlns:a16="http://schemas.microsoft.com/office/drawing/2014/main" id="{45834228-CAC9-4D81-B602-A49D4608DAAC}"/>
              </a:ext>
            </a:extLst>
          </p:cNvPr>
          <p:cNvSpPr>
            <a:spLocks xmlns:a="http://schemas.openxmlformats.org/drawingml/2006/main" noGrp="1"/>
          </p:cNvSpPr>
          <p:nvPr/>
        </p:nvSpPr>
        <p:spPr>
          <a:xfrm xmlns:a="http://schemas.openxmlformats.org/drawingml/2006/main">
            <a:off x="1104900" y="6819900"/>
            <a:ext cx="74199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Bespreken van de doelopgave: opgave 5.</a:t>
            </a:r>
          </a:p>
        </p:txBody>
      </p:sp>
      <p:sp>
        <p:nvSpPr>
          <p:cNvPr id="19" name="route-number-7">
            <a:extLst xmlns:a="http://schemas.openxmlformats.org/drawingml/2006/main">
              <a:ext uri="{FF2B5EF4-FFF2-40B4-BE49-F238E27FC236}">
                <a16:creationId xmlns:a16="http://schemas.microsoft.com/office/drawing/2014/main" id="{62EA6A57-B8C6-4A08-AE2A-529C068B95E8}"/>
              </a:ext>
            </a:extLst>
          </p:cNvPr>
          <p:cNvSpPr>
            <a:spLocks xmlns:a="http://schemas.openxmlformats.org/drawingml/2006/main" noGrp="1"/>
          </p:cNvSpPr>
          <p:nvPr/>
        </p:nvSpPr>
        <p:spPr>
          <a:xfrm xmlns:a="http://schemas.openxmlformats.org/drawingml/2006/main">
            <a:off x="571500" y="7372350"/>
            <a:ext cx="457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7.</a:t>
            </a:r>
          </a:p>
        </p:txBody>
      </p:sp>
      <p:sp>
        <p:nvSpPr>
          <p:cNvPr id="20" name="route-7">
            <a:extLst xmlns:a="http://schemas.openxmlformats.org/drawingml/2006/main">
              <a:ext uri="{FF2B5EF4-FFF2-40B4-BE49-F238E27FC236}">
                <a16:creationId xmlns:a16="http://schemas.microsoft.com/office/drawing/2014/main" id="{98F69E05-78E1-4606-8B12-1767377F68CE}"/>
              </a:ext>
            </a:extLst>
          </p:cNvPr>
          <p:cNvSpPr>
            <a:spLocks xmlns:a="http://schemas.openxmlformats.org/drawingml/2006/main" noGrp="1"/>
          </p:cNvSpPr>
          <p:nvPr/>
        </p:nvSpPr>
        <p:spPr>
          <a:xfrm xmlns:a="http://schemas.openxmlformats.org/drawingml/2006/main">
            <a:off x="1104900" y="7372350"/>
            <a:ext cx="74199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Zet je huiswerk in je agenda.</a:t>
            </a:r>
          </a:p>
        </p:txBody>
      </p:sp>
      <p:sp>
        <p:nvSpPr>
          <p:cNvPr id="21" name="Lesdoelen">
            <a:extLst xmlns:a="http://schemas.openxmlformats.org/drawingml/2006/main">
              <a:ext uri="{FF2B5EF4-FFF2-40B4-BE49-F238E27FC236}">
                <a16:creationId xmlns:a16="http://schemas.microsoft.com/office/drawing/2014/main" id="{CF27FB1B-C22D-49B0-A291-EE48D065123D}"/>
              </a:ext>
            </a:extLst>
          </p:cNvPr>
          <p:cNvSpPr>
            <a:spLocks xmlns:a="http://schemas.openxmlformats.org/drawingml/2006/main" noGrp="1"/>
          </p:cNvSpPr>
          <p:nvPr/>
        </p:nvSpPr>
        <p:spPr>
          <a:xfrm xmlns:a="http://schemas.openxmlformats.org/drawingml/2006/main">
            <a:off x="9258300" y="176212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Lesdoelen</a:t>
            </a:r>
          </a:p>
        </p:txBody>
      </p:sp>
      <p:sp>
        <p:nvSpPr>
          <p:cNvPr id="22" name="overview-goals">
            <a:extLst xmlns:a="http://schemas.openxmlformats.org/drawingml/2006/main">
              <a:ext uri="{FF2B5EF4-FFF2-40B4-BE49-F238E27FC236}">
                <a16:creationId xmlns:a16="http://schemas.microsoft.com/office/drawing/2014/main" id="{7315D047-D869-45FE-A89A-1674630395FC}"/>
              </a:ext>
            </a:extLst>
          </p:cNvPr>
          <p:cNvSpPr>
            <a:spLocks xmlns:a="http://schemas.openxmlformats.org/drawingml/2006/main" noGrp="1"/>
          </p:cNvSpPr>
          <p:nvPr/>
        </p:nvSpPr>
        <p:spPr>
          <a:xfrm xmlns:a="http://schemas.openxmlformats.org/drawingml/2006/main">
            <a:off x="9258300" y="2324100"/>
            <a:ext cx="5381625"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Gegevens kiezen en combineren.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Tabel en grafiek verbinden.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Een uitspraak onderbouwen.</a:t>
            </a:r>
          </a:p>
        </p:txBody>
      </p:sp>
      <p:sp>
        <p:nvSpPr>
          <p:cNvPr id="23" name="">
            <a:extLst xmlns:a="http://schemas.openxmlformats.org/drawingml/2006/main">
              <a:ext uri="{FF2B5EF4-FFF2-40B4-BE49-F238E27FC236}">
                <a16:creationId xmlns:a16="http://schemas.microsoft.com/office/drawing/2014/main" id="{DDA9B3FA-2F2E-45AB-BA04-98FDAF7AB485}"/>
              </a:ext>
            </a:extLst>
          </p:cNvPr>
          <p:cNvSpPr>
            <a:spLocks xmlns:a="http://schemas.openxmlformats.org/drawingml/2006/main" noGrp="1"/>
          </p:cNvSpPr>
          <p:nvPr/>
        </p:nvSpPr>
        <p:spPr>
          <a:xfrm xmlns:a="http://schemas.openxmlformats.org/drawingml/2006/main">
            <a:off x="9258300" y="3562350"/>
            <a:ext cx="5410200" cy="0"/>
          </a:xfrm>
          <a:prstGeom xmlns:a="http://schemas.openxmlformats.org/drawingml/2006/main" prst="line">
            <a:avLst/>
          </a:prstGeom>
          <a:ln xmlns:a="http://schemas.openxmlformats.org/drawingml/2006/main" w="19050">
            <a:solidFill>
              <a:srgbClr val="C6D2DB"/>
            </a:solidFill>
          </a:ln>
        </p:spPr>
      </p:sp>
      <p:sp>
        <p:nvSpPr>
          <p:cNvPr id="24" name="Startopdracht">
            <a:extLst xmlns:a="http://schemas.openxmlformats.org/drawingml/2006/main">
              <a:ext uri="{FF2B5EF4-FFF2-40B4-BE49-F238E27FC236}">
                <a16:creationId xmlns:a16="http://schemas.microsoft.com/office/drawing/2014/main" id="{B908EEAE-551F-4ACE-8E97-B48C10B1DFD0}"/>
              </a:ext>
            </a:extLst>
          </p:cNvPr>
          <p:cNvSpPr>
            <a:spLocks xmlns:a="http://schemas.openxmlformats.org/drawingml/2006/main" noGrp="1"/>
          </p:cNvSpPr>
          <p:nvPr/>
        </p:nvSpPr>
        <p:spPr>
          <a:xfrm xmlns:a="http://schemas.openxmlformats.org/drawingml/2006/main">
            <a:off x="9258300" y="383857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Startopdracht</a:t>
            </a:r>
          </a:p>
        </p:txBody>
      </p:sp>
      <p:sp>
        <p:nvSpPr>
          <p:cNvPr id="25" name="overview-start">
            <a:extLst xmlns:a="http://schemas.openxmlformats.org/drawingml/2006/main">
              <a:ext uri="{FF2B5EF4-FFF2-40B4-BE49-F238E27FC236}">
                <a16:creationId xmlns:a16="http://schemas.microsoft.com/office/drawing/2014/main" id="{70880168-E3E9-4D76-A76C-C55427CF16C0}"/>
              </a:ext>
            </a:extLst>
          </p:cNvPr>
          <p:cNvSpPr>
            <a:spLocks xmlns:a="http://schemas.openxmlformats.org/drawingml/2006/main" noGrp="1"/>
          </p:cNvSpPr>
          <p:nvPr/>
        </p:nvSpPr>
        <p:spPr>
          <a:xfrm xmlns:a="http://schemas.openxmlformats.org/drawingml/2006/main">
            <a:off x="9258300" y="4371975"/>
            <a:ext cx="53816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1">
                <a:solidFill>
                  <a:srgbClr val="183247"/>
                </a:solidFill>
                <a:latin typeface="Arial"/>
                <a:ea typeface="Arial"/>
                <a:cs typeface="Arial"/>
              </a:defRPr>
            </a:pPr>
            <a:r>
              <a:rPr sz="2475" b="1">
                <a:solidFill>
                  <a:srgbClr val="183247"/>
                </a:solidFill>
                <a:latin typeface="Arial"/>
                <a:ea typeface="Arial"/>
                <a:cs typeface="Arial"/>
              </a:rPr>
              <a:t>Pagina 29</a:t>
            </a:r>
          </a:p>
          <a:p xmlns:a="http://schemas.openxmlformats.org/drawingml/2006/main">
            <a:pPr algn="l">
              <a:defRPr sz="2475" b="1">
                <a:solidFill>
                  <a:srgbClr val="183247"/>
                </a:solidFill>
                <a:latin typeface="Arial"/>
                <a:ea typeface="Arial"/>
                <a:cs typeface="Arial"/>
              </a:defRPr>
            </a:pPr>
            <a:r>
              <a:rPr sz="2475" b="1">
                <a:solidFill>
                  <a:srgbClr val="183247"/>
                </a:solidFill>
                <a:latin typeface="Arial"/>
                <a:ea typeface="Arial"/>
                <a:cs typeface="Arial"/>
              </a:rPr>
              <a:t>Opgave 1</a:t>
            </a:r>
          </a:p>
        </p:txBody>
      </p:sp>
      <p:sp>
        <p:nvSpPr>
          <p:cNvPr id="26" name="">
            <a:extLst xmlns:a="http://schemas.openxmlformats.org/drawingml/2006/main">
              <a:ext uri="{FF2B5EF4-FFF2-40B4-BE49-F238E27FC236}">
                <a16:creationId xmlns:a16="http://schemas.microsoft.com/office/drawing/2014/main" id="{AFE57552-A7B2-4DA0-9C7E-3E8D72294F0C}"/>
              </a:ext>
            </a:extLst>
          </p:cNvPr>
          <p:cNvSpPr>
            <a:spLocks xmlns:a="http://schemas.openxmlformats.org/drawingml/2006/main" noGrp="1"/>
          </p:cNvSpPr>
          <p:nvPr/>
        </p:nvSpPr>
        <p:spPr>
          <a:xfrm xmlns:a="http://schemas.openxmlformats.org/drawingml/2006/main">
            <a:off x="9258300" y="5429250"/>
            <a:ext cx="5410200" cy="0"/>
          </a:xfrm>
          <a:prstGeom xmlns:a="http://schemas.openxmlformats.org/drawingml/2006/main" prst="line">
            <a:avLst/>
          </a:prstGeom>
          <a:ln xmlns:a="http://schemas.openxmlformats.org/drawingml/2006/main" w="19050">
            <a:solidFill>
              <a:srgbClr val="C6D2DB"/>
            </a:solidFill>
          </a:ln>
        </p:spPr>
      </p:sp>
      <p:sp>
        <p:nvSpPr>
          <p:cNvPr id="27" name="Huiswerk">
            <a:extLst xmlns:a="http://schemas.openxmlformats.org/drawingml/2006/main">
              <a:ext uri="{FF2B5EF4-FFF2-40B4-BE49-F238E27FC236}">
                <a16:creationId xmlns:a16="http://schemas.microsoft.com/office/drawing/2014/main" id="{D6487D24-2F55-415B-AEF1-F520F126E8A4}"/>
              </a:ext>
            </a:extLst>
          </p:cNvPr>
          <p:cNvSpPr>
            <a:spLocks xmlns:a="http://schemas.openxmlformats.org/drawingml/2006/main" noGrp="1"/>
          </p:cNvSpPr>
          <p:nvPr/>
        </p:nvSpPr>
        <p:spPr>
          <a:xfrm xmlns:a="http://schemas.openxmlformats.org/drawingml/2006/main">
            <a:off x="9258300" y="562927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Huiswerk</a:t>
            </a:r>
          </a:p>
        </p:txBody>
      </p:sp>
      <p:sp>
        <p:nvSpPr>
          <p:cNvPr id="28" name="overview-homework">
            <a:extLst xmlns:a="http://schemas.openxmlformats.org/drawingml/2006/main">
              <a:ext uri="{FF2B5EF4-FFF2-40B4-BE49-F238E27FC236}">
                <a16:creationId xmlns:a16="http://schemas.microsoft.com/office/drawing/2014/main" id="{E0716F66-205A-4832-BD21-BAA03038479A}"/>
              </a:ext>
            </a:extLst>
          </p:cNvPr>
          <p:cNvSpPr>
            <a:spLocks xmlns:a="http://schemas.openxmlformats.org/drawingml/2006/main" noGrp="1"/>
          </p:cNvSpPr>
          <p:nvPr/>
        </p:nvSpPr>
        <p:spPr>
          <a:xfrm xmlns:a="http://schemas.openxmlformats.org/drawingml/2006/main">
            <a:off x="9258300" y="6191250"/>
            <a:ext cx="5381625" cy="1752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§2.1.4 · Opgaven 1–7</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Gemengd: 1–4 · Doel: 5</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Bonus / denkertje: 6</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Herhaling: 7</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Maken en nakijken</a:t>
            </a:r>
          </a:p>
        </p:txBody>
      </p:sp>
    </p:spTree>
    <p:extLst>
      <p:ext uri="{BB962C8B-B14F-4D97-AF65-F5344CB8AC3E}">
        <p14:creationId xmlns:p14="http://schemas.microsoft.com/office/powerpoint/2010/main" val="724293105"/>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De aanpak bij gemengde opgaven">
            <a:extLst xmlns:a="http://schemas.openxmlformats.org/drawingml/2006/main">
              <a:ext uri="{FF2B5EF4-FFF2-40B4-BE49-F238E27FC236}">
                <a16:creationId xmlns:a16="http://schemas.microsoft.com/office/drawing/2014/main" id="{BA92E401-704C-4384-B120-817F9D51EC96}"/>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De aanpak bij gemengde opgaven</a:t>
            </a:r>
          </a:p>
        </p:txBody>
      </p:sp>
      <p:sp>
        <p:nvSpPr>
          <p:cNvPr id="2" name="">
            <a:extLst xmlns:a="http://schemas.openxmlformats.org/drawingml/2006/main">
              <a:ext uri="{FF2B5EF4-FFF2-40B4-BE49-F238E27FC236}">
                <a16:creationId xmlns:a16="http://schemas.microsoft.com/office/drawing/2014/main" id="{9EF13353-3CD6-4C88-A981-8AF6760F6312}"/>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4 Gemengde opgaven">
            <a:extLst xmlns:a="http://schemas.openxmlformats.org/drawingml/2006/main">
              <a:ext uri="{FF2B5EF4-FFF2-40B4-BE49-F238E27FC236}">
                <a16:creationId xmlns:a16="http://schemas.microsoft.com/office/drawing/2014/main" id="{9D7EE9AC-73C5-42F6-B3E7-33E4C4FE0E0D}"/>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§2.1.4 Gemengde opgaven</a:t>
            </a:r>
          </a:p>
        </p:txBody>
      </p:sp>
      <p:sp>
        <p:nvSpPr>
          <p:cNvPr id="4" name="slide-number">
            <a:extLst xmlns:a="http://schemas.openxmlformats.org/drawingml/2006/main">
              <a:ext uri="{FF2B5EF4-FFF2-40B4-BE49-F238E27FC236}">
                <a16:creationId xmlns:a16="http://schemas.microsoft.com/office/drawing/2014/main" id="{9B014601-A0F7-4767-82D4-D3A82DC40D7F}"/>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a:t>
            </a:r>
          </a:p>
        </p:txBody>
      </p:sp>
      <p:sp>
        <p:nvSpPr>
          <p:cNvPr id="5" name="Gegevens kiezen">
            <a:extLst xmlns:a="http://schemas.openxmlformats.org/drawingml/2006/main">
              <a:ext uri="{FF2B5EF4-FFF2-40B4-BE49-F238E27FC236}">
                <a16:creationId xmlns:a16="http://schemas.microsoft.com/office/drawing/2014/main" id="{ECA5CBB8-5B6E-4BA4-A501-7FFC7DDB88D2}"/>
              </a:ext>
            </a:extLst>
          </p:cNvPr>
          <p:cNvSpPr>
            <a:spLocks xmlns:a="http://schemas.openxmlformats.org/drawingml/2006/main" noGrp="1"/>
          </p:cNvSpPr>
          <p:nvPr/>
        </p:nvSpPr>
        <p:spPr>
          <a:xfrm xmlns:a="http://schemas.openxmlformats.org/drawingml/2006/main">
            <a:off x="571500" y="1952625"/>
            <a:ext cx="5238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Gegevens kiezen</a:t>
            </a:r>
          </a:p>
        </p:txBody>
      </p:sp>
      <p:sp>
        <p:nvSpPr>
          <p:cNvPr id="6" name="Welke dag, hoeveelheid, periode en eenheid?">
            <a:extLst xmlns:a="http://schemas.openxmlformats.org/drawingml/2006/main">
              <a:ext uri="{FF2B5EF4-FFF2-40B4-BE49-F238E27FC236}">
                <a16:creationId xmlns:a16="http://schemas.microsoft.com/office/drawing/2014/main" id="{0395DFEC-FCAD-41A9-9F86-76B29C5EA549}"/>
              </a:ext>
            </a:extLst>
          </p:cNvPr>
          <p:cNvSpPr>
            <a:spLocks xmlns:a="http://schemas.openxmlformats.org/drawingml/2006/main" noGrp="1"/>
          </p:cNvSpPr>
          <p:nvPr/>
        </p:nvSpPr>
        <p:spPr>
          <a:xfrm xmlns:a="http://schemas.openxmlformats.org/drawingml/2006/main">
            <a:off x="6429375" y="1952625"/>
            <a:ext cx="81915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Welke dag, hoeveelheid, periode en eenheid?</a:t>
            </a:r>
          </a:p>
        </p:txBody>
      </p:sp>
      <p:sp>
        <p:nvSpPr>
          <p:cNvPr id="7" name="">
            <a:extLst xmlns:a="http://schemas.openxmlformats.org/drawingml/2006/main">
              <a:ext uri="{FF2B5EF4-FFF2-40B4-BE49-F238E27FC236}">
                <a16:creationId xmlns:a16="http://schemas.microsoft.com/office/drawing/2014/main" id="{55A68440-2E08-4180-AA97-819006E37B8D}"/>
              </a:ext>
            </a:extLst>
          </p:cNvPr>
          <p:cNvSpPr>
            <a:spLocks xmlns:a="http://schemas.openxmlformats.org/drawingml/2006/main" noGrp="1"/>
          </p:cNvSpPr>
          <p:nvPr/>
        </p:nvSpPr>
        <p:spPr>
          <a:xfrm xmlns:a="http://schemas.openxmlformats.org/drawingml/2006/main">
            <a:off x="571500" y="3086100"/>
            <a:ext cx="14097000" cy="0"/>
          </a:xfrm>
          <a:prstGeom xmlns:a="http://schemas.openxmlformats.org/drawingml/2006/main" prst="line">
            <a:avLst/>
          </a:prstGeom>
          <a:ln xmlns:a="http://schemas.openxmlformats.org/drawingml/2006/main" w="19050">
            <a:solidFill>
              <a:srgbClr val="C6D2DB"/>
            </a:solidFill>
          </a:ln>
        </p:spPr>
      </p:sp>
      <p:sp>
        <p:nvSpPr>
          <p:cNvPr id="8" name="Bewerking kiezen">
            <a:extLst xmlns:a="http://schemas.openxmlformats.org/drawingml/2006/main">
              <a:ext uri="{FF2B5EF4-FFF2-40B4-BE49-F238E27FC236}">
                <a16:creationId xmlns:a16="http://schemas.microsoft.com/office/drawing/2014/main" id="{BAED19B4-0E69-4CB1-B024-764A2A0780FB}"/>
              </a:ext>
            </a:extLst>
          </p:cNvPr>
          <p:cNvSpPr>
            <a:spLocks xmlns:a="http://schemas.openxmlformats.org/drawingml/2006/main" noGrp="1"/>
          </p:cNvSpPr>
          <p:nvPr/>
        </p:nvSpPr>
        <p:spPr>
          <a:xfrm xmlns:a="http://schemas.openxmlformats.org/drawingml/2006/main">
            <a:off x="571500" y="3362325"/>
            <a:ext cx="5238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Bewerking kiezen</a:t>
            </a:r>
          </a:p>
        </p:txBody>
      </p:sp>
      <p:sp>
        <p:nvSpPr>
          <p:cNvPr id="9" name="Totaal, per product of per extra product?">
            <a:extLst xmlns:a="http://schemas.openxmlformats.org/drawingml/2006/main">
              <a:ext uri="{FF2B5EF4-FFF2-40B4-BE49-F238E27FC236}">
                <a16:creationId xmlns:a16="http://schemas.microsoft.com/office/drawing/2014/main" id="{61D0CE58-E277-4B98-8223-462BB16B7C70}"/>
              </a:ext>
            </a:extLst>
          </p:cNvPr>
          <p:cNvSpPr>
            <a:spLocks xmlns:a="http://schemas.openxmlformats.org/drawingml/2006/main" noGrp="1"/>
          </p:cNvSpPr>
          <p:nvPr/>
        </p:nvSpPr>
        <p:spPr>
          <a:xfrm xmlns:a="http://schemas.openxmlformats.org/drawingml/2006/main">
            <a:off x="6429375" y="3362325"/>
            <a:ext cx="81915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Totaal, per product of per extra product?</a:t>
            </a:r>
          </a:p>
        </p:txBody>
      </p:sp>
      <p:sp>
        <p:nvSpPr>
          <p:cNvPr id="10" name="">
            <a:extLst xmlns:a="http://schemas.openxmlformats.org/drawingml/2006/main">
              <a:ext uri="{FF2B5EF4-FFF2-40B4-BE49-F238E27FC236}">
                <a16:creationId xmlns:a16="http://schemas.microsoft.com/office/drawing/2014/main" id="{52638F73-2239-4A70-B39F-AE0AD4BE28CA}"/>
              </a:ext>
            </a:extLst>
          </p:cNvPr>
          <p:cNvSpPr>
            <a:spLocks xmlns:a="http://schemas.openxmlformats.org/drawingml/2006/main" noGrp="1"/>
          </p:cNvSpPr>
          <p:nvPr/>
        </p:nvSpPr>
        <p:spPr>
          <a:xfrm xmlns:a="http://schemas.openxmlformats.org/drawingml/2006/main">
            <a:off x="571500" y="4495800"/>
            <a:ext cx="14097000" cy="0"/>
          </a:xfrm>
          <a:prstGeom xmlns:a="http://schemas.openxmlformats.org/drawingml/2006/main" prst="line">
            <a:avLst/>
          </a:prstGeom>
          <a:ln xmlns:a="http://schemas.openxmlformats.org/drawingml/2006/main" w="19050">
            <a:solidFill>
              <a:srgbClr val="C6D2DB"/>
            </a:solidFill>
          </a:ln>
        </p:spPr>
      </p:sp>
      <p:sp>
        <p:nvSpPr>
          <p:cNvPr id="11" name="Tabel en grafiek">
            <a:extLst xmlns:a="http://schemas.openxmlformats.org/drawingml/2006/main">
              <a:ext uri="{FF2B5EF4-FFF2-40B4-BE49-F238E27FC236}">
                <a16:creationId xmlns:a16="http://schemas.microsoft.com/office/drawing/2014/main" id="{C4B8AD70-4819-46BB-AC6B-DAC95CFF25C6}"/>
              </a:ext>
            </a:extLst>
          </p:cNvPr>
          <p:cNvSpPr>
            <a:spLocks xmlns:a="http://schemas.openxmlformats.org/drawingml/2006/main" noGrp="1"/>
          </p:cNvSpPr>
          <p:nvPr/>
        </p:nvSpPr>
        <p:spPr>
          <a:xfrm xmlns:a="http://schemas.openxmlformats.org/drawingml/2006/main">
            <a:off x="571500" y="4772025"/>
            <a:ext cx="5238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Tabel en grafiek</a:t>
            </a:r>
          </a:p>
        </p:txBody>
      </p:sp>
      <p:sp>
        <p:nvSpPr>
          <p:cNvPr id="12" name="Tabelwaarden en lijnhoogten beschrijven dezelfde bedragen.">
            <a:extLst xmlns:a="http://schemas.openxmlformats.org/drawingml/2006/main">
              <a:ext uri="{FF2B5EF4-FFF2-40B4-BE49-F238E27FC236}">
                <a16:creationId xmlns:a16="http://schemas.microsoft.com/office/drawing/2014/main" id="{17D39DFC-3BE0-423E-BE21-B64425D7D6AA}"/>
              </a:ext>
            </a:extLst>
          </p:cNvPr>
          <p:cNvSpPr>
            <a:spLocks xmlns:a="http://schemas.openxmlformats.org/drawingml/2006/main" noGrp="1"/>
          </p:cNvSpPr>
          <p:nvPr/>
        </p:nvSpPr>
        <p:spPr>
          <a:xfrm xmlns:a="http://schemas.openxmlformats.org/drawingml/2006/main">
            <a:off x="6429375" y="4772025"/>
            <a:ext cx="81915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Tabelwaarden en lijnhoogten beschrijven dezelfde bedragen.</a:t>
            </a:r>
          </a:p>
        </p:txBody>
      </p:sp>
      <p:sp>
        <p:nvSpPr>
          <p:cNvPr id="13" name="">
            <a:extLst xmlns:a="http://schemas.openxmlformats.org/drawingml/2006/main">
              <a:ext uri="{FF2B5EF4-FFF2-40B4-BE49-F238E27FC236}">
                <a16:creationId xmlns:a16="http://schemas.microsoft.com/office/drawing/2014/main" id="{33A6DBAD-6DE1-4C8F-9612-B3CFD9C5C9B1}"/>
              </a:ext>
            </a:extLst>
          </p:cNvPr>
          <p:cNvSpPr>
            <a:spLocks xmlns:a="http://schemas.openxmlformats.org/drawingml/2006/main" noGrp="1"/>
          </p:cNvSpPr>
          <p:nvPr/>
        </p:nvSpPr>
        <p:spPr>
          <a:xfrm xmlns:a="http://schemas.openxmlformats.org/drawingml/2006/main">
            <a:off x="571500" y="5905500"/>
            <a:ext cx="14097000" cy="0"/>
          </a:xfrm>
          <a:prstGeom xmlns:a="http://schemas.openxmlformats.org/drawingml/2006/main" prst="line">
            <a:avLst/>
          </a:prstGeom>
          <a:ln xmlns:a="http://schemas.openxmlformats.org/drawingml/2006/main" w="19050">
            <a:solidFill>
              <a:srgbClr val="C6D2DB"/>
            </a:solidFill>
          </a:ln>
        </p:spPr>
      </p:sp>
      <p:sp>
        <p:nvSpPr>
          <p:cNvPr id="14" name="Uitspraak beoordelen">
            <a:extLst xmlns:a="http://schemas.openxmlformats.org/drawingml/2006/main">
              <a:ext uri="{FF2B5EF4-FFF2-40B4-BE49-F238E27FC236}">
                <a16:creationId xmlns:a16="http://schemas.microsoft.com/office/drawing/2014/main" id="{22852191-CE79-4564-AB87-5261D286EF7C}"/>
              </a:ext>
            </a:extLst>
          </p:cNvPr>
          <p:cNvSpPr>
            <a:spLocks xmlns:a="http://schemas.openxmlformats.org/drawingml/2006/main" noGrp="1"/>
          </p:cNvSpPr>
          <p:nvPr/>
        </p:nvSpPr>
        <p:spPr>
          <a:xfrm xmlns:a="http://schemas.openxmlformats.org/drawingml/2006/main">
            <a:off x="571500" y="6181725"/>
            <a:ext cx="5238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Uitspraak beoordelen</a:t>
            </a:r>
          </a:p>
        </p:txBody>
      </p:sp>
      <p:sp>
        <p:nvSpPr>
          <p:cNvPr id="15" name="Berekening, economische betekenis en conclusie.">
            <a:extLst xmlns:a="http://schemas.openxmlformats.org/drawingml/2006/main">
              <a:ext uri="{FF2B5EF4-FFF2-40B4-BE49-F238E27FC236}">
                <a16:creationId xmlns:a16="http://schemas.microsoft.com/office/drawing/2014/main" id="{146CD573-0B1B-4D3A-AAF0-44545265E7AE}"/>
              </a:ext>
            </a:extLst>
          </p:cNvPr>
          <p:cNvSpPr>
            <a:spLocks xmlns:a="http://schemas.openxmlformats.org/drawingml/2006/main" noGrp="1"/>
          </p:cNvSpPr>
          <p:nvPr/>
        </p:nvSpPr>
        <p:spPr>
          <a:xfrm xmlns:a="http://schemas.openxmlformats.org/drawingml/2006/main">
            <a:off x="6429375" y="6181725"/>
            <a:ext cx="81915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Berekening, economische betekenis en conclusie.</a:t>
            </a:r>
          </a:p>
        </p:txBody>
      </p:sp>
    </p:spTree>
    <p:extLst>
      <p:ext uri="{BB962C8B-B14F-4D97-AF65-F5344CB8AC3E}">
        <p14:creationId xmlns:p14="http://schemas.microsoft.com/office/powerpoint/2010/main" val="64376959"/>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ShirtSprint: gegevens en functies">
            <a:extLst xmlns:a="http://schemas.openxmlformats.org/drawingml/2006/main">
              <a:ext uri="{FF2B5EF4-FFF2-40B4-BE49-F238E27FC236}">
                <a16:creationId xmlns:a16="http://schemas.microsoft.com/office/drawing/2014/main" id="{E243EFC9-FE11-422B-A1B2-59D9FDD6DC3D}"/>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ShirtSprint: gegevens en functies</a:t>
            </a:r>
          </a:p>
        </p:txBody>
      </p:sp>
      <p:sp>
        <p:nvSpPr>
          <p:cNvPr id="2" name="">
            <a:extLst xmlns:a="http://schemas.openxmlformats.org/drawingml/2006/main">
              <a:ext uri="{FF2B5EF4-FFF2-40B4-BE49-F238E27FC236}">
                <a16:creationId xmlns:a16="http://schemas.microsoft.com/office/drawing/2014/main" id="{CE23A31D-3D99-43C3-AFF5-B8CA3DFDDD33}"/>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4 Gemengde opgaven">
            <a:extLst xmlns:a="http://schemas.openxmlformats.org/drawingml/2006/main">
              <a:ext uri="{FF2B5EF4-FFF2-40B4-BE49-F238E27FC236}">
                <a16:creationId xmlns:a16="http://schemas.microsoft.com/office/drawing/2014/main" id="{868CD5DA-3FFD-451E-8AFF-91AED275263A}"/>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§2.1.4 Gemengde opgaven</a:t>
            </a:r>
          </a:p>
        </p:txBody>
      </p:sp>
      <p:sp>
        <p:nvSpPr>
          <p:cNvPr id="4" name="slide-number">
            <a:extLst xmlns:a="http://schemas.openxmlformats.org/drawingml/2006/main">
              <a:ext uri="{FF2B5EF4-FFF2-40B4-BE49-F238E27FC236}">
                <a16:creationId xmlns:a16="http://schemas.microsoft.com/office/drawing/2014/main" id="{B2CC08A1-A0CF-4647-BBDB-9B369FADE9AA}"/>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3</a:t>
            </a:r>
          </a:p>
        </p:txBody>
      </p:sp>
      <p:sp>
        <p:nvSpPr>
          <p:cNvPr id="5" name="Opgave 1 · Eén schoolfeest, maximaal 300 shirts">
            <a:extLst xmlns:a="http://schemas.openxmlformats.org/drawingml/2006/main">
              <a:ext uri="{FF2B5EF4-FFF2-40B4-BE49-F238E27FC236}">
                <a16:creationId xmlns:a16="http://schemas.microsoft.com/office/drawing/2014/main" id="{B9257580-E147-4C9F-ACF4-EC75DBAE81F8}"/>
              </a:ext>
            </a:extLst>
          </p:cNvPr>
          <p:cNvSpPr>
            <a:spLocks xmlns:a="http://schemas.openxmlformats.org/drawingml/2006/main" noGrp="1"/>
          </p:cNvSpPr>
          <p:nvPr/>
        </p:nvSpPr>
        <p:spPr>
          <a:xfrm xmlns:a="http://schemas.openxmlformats.org/drawingml/2006/main">
            <a:off x="571500" y="1790700"/>
            <a:ext cx="14097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7658A"/>
                </a:solidFill>
                <a:latin typeface="Arial"/>
                <a:ea typeface="Arial"/>
                <a:cs typeface="Arial"/>
              </a:defRPr>
            </a:pPr>
            <a:r>
              <a:rPr sz="2700" b="1">
                <a:solidFill>
                  <a:srgbClr val="17658A"/>
                </a:solidFill>
                <a:latin typeface="Arial"/>
                <a:ea typeface="Arial"/>
                <a:cs typeface="Arial"/>
              </a:rPr>
              <a:t>Opgave 1 · Eén schoolfeest, maximaal 300 shirts</a:t>
            </a:r>
          </a:p>
        </p:txBody>
      </p:sp>
      <p:graphicFrame>
        <p:nvGraphicFramePr>
          <p:cNvPr id="15" name=""/>
          <p:cNvGraphicFramePr/>
          <p:nvPr/>
        </p:nvGraphicFramePr>
        <p:xfrm>
          <a:off xmlns:a="http://schemas.openxmlformats.org/drawingml/2006/main" x="571500" y="2781300"/>
          <a:ext xmlns:a="http://schemas.openxmlformats.org/drawingml/2006/main" cx="14097000" cy="3219450"/>
        </p:xfrm>
        <a:graphic xmlns:a="http://schemas.openxmlformats.org/drawingml/2006/main">
          <a:graphicData uri="http://schemas.openxmlformats.org/drawingml/2006/table">
            <a:tbl>
              <a:tblPr/>
              <a:tblGrid>
                <a:gridCol w="7429500"/>
                <a:gridCol w="6667500"/>
              </a:tblGrid>
              <a:tr h="804863">
                <a:tc>
                  <a:txBody>
                    <a:bodyPr lIns="171450" tIns="95250" rIns="152400" bIns="95250"/>
                    <a:lstStyle/>
                    <a:p>
                      <a:r>
                        <a:rPr sz="2400" b="1">
                          <a:solidFill>
                            <a:srgbClr val="FFFFFF"/>
                          </a:solidFill>
                          <a:latin typeface="Arial"/>
                          <a:ea typeface="Arial"/>
                          <a:cs typeface="Arial"/>
                        </a:rPr>
                        <a:t>Gegeven uit de bron</a:t>
                      </a:r>
                    </a:p>
                  </a:txBody>
                  <a:tcPr marL="91440" marR="91440" marT="45720" marB="45720" anchor="ctr">
                    <a:solidFill>
                      <a:srgbClr val="183247"/>
                    </a:solidFill>
                  </a:tcPr>
                </a:tc>
                <a:tc>
                  <a:txBody>
                    <a:bodyPr lIns="171450" tIns="95250" rIns="152400" bIns="95250"/>
                    <a:lstStyle/>
                    <a:p>
                      <a:r>
                        <a:rPr sz="2400" b="1">
                          <a:solidFill>
                            <a:srgbClr val="FFFFFF"/>
                          </a:solidFill>
                          <a:latin typeface="Arial"/>
                          <a:ea typeface="Arial"/>
                          <a:cs typeface="Arial"/>
                        </a:rPr>
                        <a:t>Bewerking</a:t>
                      </a:r>
                    </a:p>
                  </a:txBody>
                  <a:tcPr marL="91440" marR="91440" marT="45720" marB="45720" anchor="ctr">
                    <a:solidFill>
                      <a:srgbClr val="183247"/>
                    </a:solidFill>
                  </a:tcPr>
                </a:tc>
              </a:tr>
              <a:tr h="804863">
                <a:tc>
                  <a:txBody>
                    <a:bodyPr lIns="171450" tIns="95250" rIns="152400" bIns="95250"/>
                    <a:lstStyle/>
                    <a:p>
                      <a:r>
                        <a:rPr sz="2400" b="0">
                          <a:solidFill>
                            <a:srgbClr val="183247"/>
                          </a:solidFill>
                          <a:latin typeface="Arial"/>
                          <a:ea typeface="Arial"/>
                          <a:cs typeface="Arial"/>
                        </a:rPr>
                        <a:t>Kraam € 480 + vergunning € 120</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TCK = € 600 voor het schoolfeest</a:t>
                      </a:r>
                    </a:p>
                  </a:txBody>
                  <a:tcPr marL="91440" marR="91440" marT="45720" marB="45720" anchor="ctr">
                    <a:solidFill>
                      <a:srgbClr val="FFFFFF"/>
                    </a:solidFill>
                  </a:tcPr>
                </a:tc>
              </a:tr>
              <a:tr h="804863">
                <a:tc>
                  <a:txBody>
                    <a:bodyPr lIns="171450" tIns="95250" rIns="152400" bIns="95250"/>
                    <a:lstStyle/>
                    <a:p>
                      <a:r>
                        <a:rPr sz="2400" b="0">
                          <a:solidFill>
                            <a:srgbClr val="183247"/>
                          </a:solidFill>
                          <a:latin typeface="Arial"/>
                          <a:ea typeface="Arial"/>
                          <a:cs typeface="Arial"/>
                        </a:rPr>
                        <a:t>Shirt € 4 + bedrukking/verpakking € 1</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€ 5 per shirt</a:t>
                      </a:r>
                    </a:p>
                  </a:txBody>
                  <a:tcPr marL="91440" marR="91440" marT="45720" marB="45720" anchor="ctr">
                    <a:solidFill>
                      <a:srgbClr val="EFF4F7"/>
                    </a:solidFill>
                  </a:tcPr>
                </a:tc>
              </a:tr>
              <a:tr h="804863">
                <a:tc>
                  <a:txBody>
                    <a:bodyPr lIns="171450" tIns="95250" rIns="152400" bIns="95250"/>
                    <a:lstStyle/>
                    <a:p>
                      <a:r>
                        <a:rPr sz="2400" b="0">
                          <a:solidFill>
                            <a:srgbClr val="183247"/>
                          </a:solidFill>
                          <a:latin typeface="Arial"/>
                          <a:ea typeface="Arial"/>
                          <a:cs typeface="Arial"/>
                        </a:rPr>
                        <a:t>Verkoopprijs € 11 per shirt</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TO = 11Q</a:t>
                      </a:r>
                    </a:p>
                  </a:txBody>
                  <a:tcPr marL="91440" marR="91440" marT="45720" marB="45720" anchor="ctr">
                    <a:solidFill>
                      <a:srgbClr val="FFFFFF"/>
                    </a:solidFill>
                  </a:tcPr>
                </a:tc>
              </a:tr>
            </a:tbl>
          </a:graphicData>
        </a:graphic>
      </p:graphicFrame>
      <p:sp>
        <p:nvSpPr>
          <p:cNvPr id="7" name="TK = 600 + 5Q">
            <a:extLst xmlns:a="http://schemas.openxmlformats.org/drawingml/2006/main">
              <a:ext uri="{FF2B5EF4-FFF2-40B4-BE49-F238E27FC236}">
                <a16:creationId xmlns:a16="http://schemas.microsoft.com/office/drawing/2014/main" id="{8463AD9E-E455-4E12-9C3F-C0A204E0C57E}"/>
              </a:ext>
            </a:extLst>
          </p:cNvPr>
          <p:cNvSpPr>
            <a:spLocks xmlns:a="http://schemas.openxmlformats.org/drawingml/2006/main" noGrp="1"/>
          </p:cNvSpPr>
          <p:nvPr/>
        </p:nvSpPr>
        <p:spPr>
          <a:xfrm xmlns:a="http://schemas.openxmlformats.org/drawingml/2006/main">
            <a:off x="571500" y="6419850"/>
            <a:ext cx="66675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A94D16"/>
                </a:solidFill>
                <a:latin typeface="Arial"/>
                <a:ea typeface="Arial"/>
                <a:cs typeface="Arial"/>
              </a:defRPr>
            </a:pPr>
            <a:r>
              <a:rPr sz="3375" b="1">
                <a:solidFill>
                  <a:srgbClr val="A94D16"/>
                </a:solidFill>
                <a:latin typeface="Arial"/>
                <a:ea typeface="Arial"/>
                <a:cs typeface="Arial"/>
              </a:rPr>
              <a:t>TK = 600 + 5Q</a:t>
            </a:r>
          </a:p>
        </p:txBody>
      </p:sp>
      <p:sp>
        <p:nvSpPr>
          <p:cNvPr id="8" name="TO = 11Q">
            <a:extLst xmlns:a="http://schemas.openxmlformats.org/drawingml/2006/main">
              <a:ext uri="{FF2B5EF4-FFF2-40B4-BE49-F238E27FC236}">
                <a16:creationId xmlns:a16="http://schemas.microsoft.com/office/drawing/2014/main" id="{441A1AB8-32D1-4C81-A004-ECFCF9D904E3}"/>
              </a:ext>
            </a:extLst>
          </p:cNvPr>
          <p:cNvSpPr>
            <a:spLocks xmlns:a="http://schemas.openxmlformats.org/drawingml/2006/main" noGrp="1"/>
          </p:cNvSpPr>
          <p:nvPr/>
        </p:nvSpPr>
        <p:spPr>
          <a:xfrm xmlns:a="http://schemas.openxmlformats.org/drawingml/2006/main">
            <a:off x="8096250" y="6419850"/>
            <a:ext cx="6572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17658A"/>
                </a:solidFill>
                <a:latin typeface="Arial"/>
                <a:ea typeface="Arial"/>
                <a:cs typeface="Arial"/>
              </a:defRPr>
            </a:pPr>
            <a:r>
              <a:rPr sz="3375" b="1">
                <a:solidFill>
                  <a:srgbClr val="17658A"/>
                </a:solidFill>
                <a:latin typeface="Arial"/>
                <a:ea typeface="Arial"/>
                <a:cs typeface="Arial"/>
              </a:rPr>
              <a:t>TO = 11Q</a:t>
            </a:r>
          </a:p>
        </p:txBody>
      </p:sp>
      <p:sp>
        <p:nvSpPr>
          <p:cNvPr id="9" name="600 bezoekers is geen gegarandeerde afzet.">
            <a:extLst xmlns:a="http://schemas.openxmlformats.org/drawingml/2006/main">
              <a:ext uri="{FF2B5EF4-FFF2-40B4-BE49-F238E27FC236}">
                <a16:creationId xmlns:a16="http://schemas.microsoft.com/office/drawing/2014/main" id="{E2ACBEC4-1027-4D44-9876-5DB84605B498}"/>
              </a:ext>
            </a:extLst>
          </p:cNvPr>
          <p:cNvSpPr>
            <a:spLocks xmlns:a="http://schemas.openxmlformats.org/drawingml/2006/main" noGrp="1"/>
          </p:cNvSpPr>
          <p:nvPr/>
        </p:nvSpPr>
        <p:spPr>
          <a:xfrm xmlns:a="http://schemas.openxmlformats.org/drawingml/2006/main">
            <a:off x="571500" y="7448550"/>
            <a:ext cx="14097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600 bezoekers is geen gegarandeerde afzet.</a:t>
            </a:r>
          </a:p>
        </p:txBody>
      </p:sp>
    </p:spTree>
    <p:extLst>
      <p:ext uri="{BB962C8B-B14F-4D97-AF65-F5344CB8AC3E}">
        <p14:creationId xmlns:p14="http://schemas.microsoft.com/office/powerpoint/2010/main" val="1521471715"/>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ShirtSprint: totaal en per shirt">
            <a:extLst xmlns:a="http://schemas.openxmlformats.org/drawingml/2006/main">
              <a:ext uri="{FF2B5EF4-FFF2-40B4-BE49-F238E27FC236}">
                <a16:creationId xmlns:a16="http://schemas.microsoft.com/office/drawing/2014/main" id="{B854ACA1-37A6-45B6-A3BD-C862EB53CBE2}"/>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ShirtSprint: totaal en per shirt</a:t>
            </a:r>
          </a:p>
        </p:txBody>
      </p:sp>
      <p:sp>
        <p:nvSpPr>
          <p:cNvPr id="2" name="">
            <a:extLst xmlns:a="http://schemas.openxmlformats.org/drawingml/2006/main">
              <a:ext uri="{FF2B5EF4-FFF2-40B4-BE49-F238E27FC236}">
                <a16:creationId xmlns:a16="http://schemas.microsoft.com/office/drawing/2014/main" id="{E2A394F9-DE9D-4E79-86EF-BCAA73830DB0}"/>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4 Gemengde opgaven">
            <a:extLst xmlns:a="http://schemas.openxmlformats.org/drawingml/2006/main">
              <a:ext uri="{FF2B5EF4-FFF2-40B4-BE49-F238E27FC236}">
                <a16:creationId xmlns:a16="http://schemas.microsoft.com/office/drawing/2014/main" id="{7355EA8E-D221-4D76-AA69-7F4311C44B77}"/>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§2.1.4 Gemengde opgaven</a:t>
            </a:r>
          </a:p>
        </p:txBody>
      </p:sp>
      <p:sp>
        <p:nvSpPr>
          <p:cNvPr id="4" name="slide-number">
            <a:extLst xmlns:a="http://schemas.openxmlformats.org/drawingml/2006/main">
              <a:ext uri="{FF2B5EF4-FFF2-40B4-BE49-F238E27FC236}">
                <a16:creationId xmlns:a16="http://schemas.microsoft.com/office/drawing/2014/main" id="{20E55686-6A9E-467D-99F5-46DD7205492B}"/>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4</a:t>
            </a:r>
          </a:p>
        </p:txBody>
      </p:sp>
      <p:sp>
        <p:nvSpPr>
          <p:cNvPr id="5" name="Bij Q = 150 shirts">
            <a:extLst xmlns:a="http://schemas.openxmlformats.org/drawingml/2006/main">
              <a:ext uri="{FF2B5EF4-FFF2-40B4-BE49-F238E27FC236}">
                <a16:creationId xmlns:a16="http://schemas.microsoft.com/office/drawing/2014/main" id="{4B27E18C-A120-4173-9E6D-CA5BEB1E2DA0}"/>
              </a:ext>
            </a:extLst>
          </p:cNvPr>
          <p:cNvSpPr>
            <a:spLocks xmlns:a="http://schemas.openxmlformats.org/drawingml/2006/main" noGrp="1"/>
          </p:cNvSpPr>
          <p:nvPr/>
        </p:nvSpPr>
        <p:spPr>
          <a:xfrm xmlns:a="http://schemas.openxmlformats.org/drawingml/2006/main">
            <a:off x="571500" y="1885950"/>
            <a:ext cx="14097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17658A"/>
                </a:solidFill>
                <a:latin typeface="Arial"/>
                <a:ea typeface="Arial"/>
                <a:cs typeface="Arial"/>
              </a:defRPr>
            </a:pPr>
            <a:r>
              <a:rPr sz="2850" b="1">
                <a:solidFill>
                  <a:srgbClr val="17658A"/>
                </a:solidFill>
                <a:latin typeface="Arial"/>
                <a:ea typeface="Arial"/>
                <a:cs typeface="Arial"/>
              </a:rPr>
              <a:t>Bij Q = 150 shirts</a:t>
            </a:r>
          </a:p>
        </p:txBody>
      </p:sp>
      <p:graphicFrame>
        <p:nvGraphicFramePr>
          <p:cNvPr id="13" name=""/>
          <p:cNvGraphicFramePr/>
          <p:nvPr/>
        </p:nvGraphicFramePr>
        <p:xfrm>
          <a:off xmlns:a="http://schemas.openxmlformats.org/drawingml/2006/main" x="571500" y="2847975"/>
          <a:ext xmlns:a="http://schemas.openxmlformats.org/drawingml/2006/main" cx="14097000" cy="3876675"/>
        </p:xfrm>
        <a:graphic xmlns:a="http://schemas.openxmlformats.org/drawingml/2006/main">
          <a:graphicData uri="http://schemas.openxmlformats.org/drawingml/2006/table">
            <a:tbl>
              <a:tblPr/>
              <a:tblGrid>
                <a:gridCol w="4572000"/>
                <a:gridCol w="4476750"/>
                <a:gridCol w="5048250"/>
              </a:tblGrid>
              <a:tr h="775335">
                <a:tc>
                  <a:txBody>
                    <a:bodyPr lIns="171450" tIns="95250" rIns="152400" bIns="95250"/>
                    <a:lstStyle/>
                    <a:p>
                      <a:r>
                        <a:rPr sz="2400" b="1">
                          <a:solidFill>
                            <a:srgbClr val="FFFFFF"/>
                          </a:solidFill>
                          <a:latin typeface="Arial"/>
                          <a:ea typeface="Arial"/>
                          <a:cs typeface="Arial"/>
                        </a:rPr>
                        <a:t>Grootheid</a:t>
                      </a:r>
                    </a:p>
                  </a:txBody>
                  <a:tcPr marL="91440" marR="91440" marT="45720" marB="45720" anchor="ctr">
                    <a:solidFill>
                      <a:srgbClr val="183247"/>
                    </a:solidFill>
                  </a:tcPr>
                </a:tc>
                <a:tc>
                  <a:txBody>
                    <a:bodyPr lIns="171450" tIns="95250" rIns="152400" bIns="95250"/>
                    <a:lstStyle/>
                    <a:p>
                      <a:r>
                        <a:rPr sz="2400" b="1">
                          <a:solidFill>
                            <a:srgbClr val="FFFFFF"/>
                          </a:solidFill>
                          <a:latin typeface="Arial"/>
                          <a:ea typeface="Arial"/>
                          <a:cs typeface="Arial"/>
                        </a:rPr>
                        <a:t>Berekening</a:t>
                      </a:r>
                    </a:p>
                  </a:txBody>
                  <a:tcPr marL="91440" marR="91440" marT="45720" marB="45720" anchor="ctr">
                    <a:solidFill>
                      <a:srgbClr val="183247"/>
                    </a:solidFill>
                  </a:tcPr>
                </a:tc>
                <a:tc>
                  <a:txBody>
                    <a:bodyPr lIns="171450" tIns="95250" rIns="152400" bIns="95250"/>
                    <a:lstStyle/>
                    <a:p>
                      <a:r>
                        <a:rPr sz="2400" b="1">
                          <a:solidFill>
                            <a:srgbClr val="FFFFFF"/>
                          </a:solidFill>
                          <a:latin typeface="Arial"/>
                          <a:ea typeface="Arial"/>
                          <a:cs typeface="Arial"/>
                        </a:rPr>
                        <a:t>Uitkomst</a:t>
                      </a:r>
                    </a:p>
                  </a:txBody>
                  <a:tcPr marL="91440" marR="91440" marT="45720" marB="45720" anchor="ctr">
                    <a:solidFill>
                      <a:srgbClr val="183247"/>
                    </a:solidFill>
                  </a:tcPr>
                </a:tc>
              </a:tr>
              <a:tr h="775335">
                <a:tc>
                  <a:txBody>
                    <a:bodyPr lIns="171450" tIns="95250" rIns="152400" bIns="95250"/>
                    <a:lstStyle/>
                    <a:p>
                      <a:r>
                        <a:rPr sz="2400" b="0">
                          <a:solidFill>
                            <a:srgbClr val="183247"/>
                          </a:solidFill>
                          <a:latin typeface="Arial"/>
                          <a:ea typeface="Arial"/>
                          <a:cs typeface="Arial"/>
                        </a:rPr>
                        <a:t>TK</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600 + 5 × 150</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€ 1.350 voor het feest</a:t>
                      </a:r>
                    </a:p>
                  </a:txBody>
                  <a:tcPr marL="91440" marR="91440" marT="45720" marB="45720" anchor="ctr">
                    <a:solidFill>
                      <a:srgbClr val="FFFFFF"/>
                    </a:solidFill>
                  </a:tcPr>
                </a:tc>
              </a:tr>
              <a:tr h="775335">
                <a:tc>
                  <a:txBody>
                    <a:bodyPr lIns="171450" tIns="95250" rIns="152400" bIns="95250"/>
                    <a:lstStyle/>
                    <a:p>
                      <a:r>
                        <a:rPr sz="2400" b="0">
                          <a:solidFill>
                            <a:srgbClr val="183247"/>
                          </a:solidFill>
                          <a:latin typeface="Arial"/>
                          <a:ea typeface="Arial"/>
                          <a:cs typeface="Arial"/>
                        </a:rPr>
                        <a:t>TO</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11 × 150</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€ 1.650 voor het feest</a:t>
                      </a:r>
                    </a:p>
                  </a:txBody>
                  <a:tcPr marL="91440" marR="91440" marT="45720" marB="45720" anchor="ctr">
                    <a:solidFill>
                      <a:srgbClr val="EFF4F7"/>
                    </a:solidFill>
                  </a:tcPr>
                </a:tc>
              </a:tr>
              <a:tr h="775335">
                <a:tc>
                  <a:txBody>
                    <a:bodyPr lIns="171450" tIns="95250" rIns="152400" bIns="95250"/>
                    <a:lstStyle/>
                    <a:p>
                      <a:r>
                        <a:rPr sz="2400" b="0">
                          <a:solidFill>
                            <a:srgbClr val="183247"/>
                          </a:solidFill>
                          <a:latin typeface="Arial"/>
                          <a:ea typeface="Arial"/>
                          <a:cs typeface="Arial"/>
                        </a:rPr>
                        <a:t>Winst = TO − TK</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1.650 − 1.350</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€ 300 voor het feest</a:t>
                      </a:r>
                    </a:p>
                  </a:txBody>
                  <a:tcPr marL="91440" marR="91440" marT="45720" marB="45720" anchor="ctr">
                    <a:solidFill>
                      <a:srgbClr val="FFFFFF"/>
                    </a:solidFill>
                  </a:tcPr>
                </a:tc>
              </a:tr>
              <a:tr h="775335">
                <a:tc>
                  <a:txBody>
                    <a:bodyPr lIns="171450" tIns="95250" rIns="152400" bIns="95250"/>
                    <a:lstStyle/>
                    <a:p>
                      <a:r>
                        <a:rPr sz="2400" b="0">
                          <a:solidFill>
                            <a:srgbClr val="183247"/>
                          </a:solidFill>
                          <a:latin typeface="Arial"/>
                          <a:ea typeface="Arial"/>
                          <a:cs typeface="Arial"/>
                        </a:rPr>
                        <a:t>GTK = TK / Q</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1.350 / 150</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€ 9 per shirt</a:t>
                      </a:r>
                    </a:p>
                  </a:txBody>
                  <a:tcPr marL="91440" marR="91440" marT="45720" marB="45720" anchor="ctr">
                    <a:solidFill>
                      <a:srgbClr val="EFF4F7"/>
                    </a:solidFill>
                  </a:tcPr>
                </a:tc>
              </a:tr>
            </a:tbl>
          </a:graphicData>
        </a:graphic>
      </p:graphicFrame>
      <p:sp>
        <p:nvSpPr>
          <p:cNvPr id="7" name="Winst is een totaalverschil. GTK is een bedrag per shirt.">
            <a:extLst xmlns:a="http://schemas.openxmlformats.org/drawingml/2006/main">
              <a:ext uri="{FF2B5EF4-FFF2-40B4-BE49-F238E27FC236}">
                <a16:creationId xmlns:a16="http://schemas.microsoft.com/office/drawing/2014/main" id="{1CABE0AA-CE04-43C5-88D7-FCC8594A37D3}"/>
              </a:ext>
            </a:extLst>
          </p:cNvPr>
          <p:cNvSpPr>
            <a:spLocks xmlns:a="http://schemas.openxmlformats.org/drawingml/2006/main" noGrp="1"/>
          </p:cNvSpPr>
          <p:nvPr/>
        </p:nvSpPr>
        <p:spPr>
          <a:xfrm xmlns:a="http://schemas.openxmlformats.org/drawingml/2006/main">
            <a:off x="571500" y="7296150"/>
            <a:ext cx="14097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183247"/>
                </a:solidFill>
                <a:latin typeface="Arial"/>
                <a:ea typeface="Arial"/>
                <a:cs typeface="Arial"/>
              </a:defRPr>
            </a:pPr>
            <a:r>
              <a:rPr sz="2775" b="1">
                <a:solidFill>
                  <a:srgbClr val="183247"/>
                </a:solidFill>
                <a:latin typeface="Arial"/>
                <a:ea typeface="Arial"/>
                <a:cs typeface="Arial"/>
              </a:rPr>
              <a:t>Winst is een totaalverschil. GTK is een bedrag per shirt.</a:t>
            </a:r>
          </a:p>
        </p:txBody>
      </p:sp>
    </p:spTree>
    <p:extLst>
      <p:ext uri="{BB962C8B-B14F-4D97-AF65-F5344CB8AC3E}">
        <p14:creationId xmlns:p14="http://schemas.microsoft.com/office/powerpoint/2010/main" val="1137698100"/>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ShirtSprint: break-even">
            <a:extLst xmlns:a="http://schemas.openxmlformats.org/drawingml/2006/main">
              <a:ext uri="{FF2B5EF4-FFF2-40B4-BE49-F238E27FC236}">
                <a16:creationId xmlns:a16="http://schemas.microsoft.com/office/drawing/2014/main" id="{4034F66B-3580-4AED-B4E5-49E967A94B34}"/>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ShirtSprint: break-even</a:t>
            </a:r>
          </a:p>
        </p:txBody>
      </p:sp>
      <p:sp>
        <p:nvSpPr>
          <p:cNvPr id="2" name="">
            <a:extLst xmlns:a="http://schemas.openxmlformats.org/drawingml/2006/main">
              <a:ext uri="{FF2B5EF4-FFF2-40B4-BE49-F238E27FC236}">
                <a16:creationId xmlns:a16="http://schemas.microsoft.com/office/drawing/2014/main" id="{EA1EA760-B677-4399-99B7-573BDFA012F0}"/>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4 Gemengde opgaven">
            <a:extLst xmlns:a="http://schemas.openxmlformats.org/drawingml/2006/main">
              <a:ext uri="{FF2B5EF4-FFF2-40B4-BE49-F238E27FC236}">
                <a16:creationId xmlns:a16="http://schemas.microsoft.com/office/drawing/2014/main" id="{5381825E-B7BC-4324-B281-9267E9028DED}"/>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§2.1.4 Gemengde opgaven</a:t>
            </a:r>
          </a:p>
        </p:txBody>
      </p:sp>
      <p:sp>
        <p:nvSpPr>
          <p:cNvPr id="4" name="slide-number">
            <a:extLst xmlns:a="http://schemas.openxmlformats.org/drawingml/2006/main">
              <a:ext uri="{FF2B5EF4-FFF2-40B4-BE49-F238E27FC236}">
                <a16:creationId xmlns:a16="http://schemas.microsoft.com/office/drawing/2014/main" id="{20772BC7-5F8E-4986-863E-998A684D6CAF}"/>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5</a:t>
            </a:r>
          </a:p>
        </p:txBody>
      </p:sp>
      <p:sp>
        <p:nvSpPr>
          <p:cNvPr id="5" name="TO = TK">
            <a:extLst xmlns:a="http://schemas.openxmlformats.org/drawingml/2006/main">
              <a:ext uri="{FF2B5EF4-FFF2-40B4-BE49-F238E27FC236}">
                <a16:creationId xmlns:a16="http://schemas.microsoft.com/office/drawing/2014/main" id="{E74E7CDB-C14B-4CFE-9E62-66B91A7E285B}"/>
              </a:ext>
            </a:extLst>
          </p:cNvPr>
          <p:cNvSpPr>
            <a:spLocks xmlns:a="http://schemas.openxmlformats.org/drawingml/2006/main" noGrp="1"/>
          </p:cNvSpPr>
          <p:nvPr/>
        </p:nvSpPr>
        <p:spPr>
          <a:xfrm xmlns:a="http://schemas.openxmlformats.org/drawingml/2006/main">
            <a:off x="571500" y="1943100"/>
            <a:ext cx="9048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183247"/>
                </a:solidFill>
                <a:latin typeface="Arial"/>
                <a:ea typeface="Arial"/>
                <a:cs typeface="Arial"/>
              </a:defRPr>
            </a:pPr>
            <a:r>
              <a:rPr sz="3150" b="1">
                <a:solidFill>
                  <a:srgbClr val="183247"/>
                </a:solidFill>
                <a:latin typeface="Arial"/>
                <a:ea typeface="Arial"/>
                <a:cs typeface="Arial"/>
              </a:rPr>
              <a:t>TO = TK</a:t>
            </a:r>
          </a:p>
        </p:txBody>
      </p:sp>
      <p:sp>
        <p:nvSpPr>
          <p:cNvPr id="6" name="Opbrengst dekt alle kosten">
            <a:extLst xmlns:a="http://schemas.openxmlformats.org/drawingml/2006/main">
              <a:ext uri="{FF2B5EF4-FFF2-40B4-BE49-F238E27FC236}">
                <a16:creationId xmlns:a16="http://schemas.microsoft.com/office/drawing/2014/main" id="{64E2A61B-63B5-4EDB-9D7D-EC391D0567E6}"/>
              </a:ext>
            </a:extLst>
          </p:cNvPr>
          <p:cNvSpPr>
            <a:spLocks xmlns:a="http://schemas.openxmlformats.org/drawingml/2006/main" noGrp="1"/>
          </p:cNvSpPr>
          <p:nvPr/>
        </p:nvSpPr>
        <p:spPr>
          <a:xfrm xmlns:a="http://schemas.openxmlformats.org/drawingml/2006/main">
            <a:off x="10096500" y="2009775"/>
            <a:ext cx="4572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Opbrengst dekt alle kosten</a:t>
            </a:r>
          </a:p>
        </p:txBody>
      </p:sp>
      <p:sp>
        <p:nvSpPr>
          <p:cNvPr id="7" name="11Q = 600 + 5Q">
            <a:extLst xmlns:a="http://schemas.openxmlformats.org/drawingml/2006/main">
              <a:ext uri="{FF2B5EF4-FFF2-40B4-BE49-F238E27FC236}">
                <a16:creationId xmlns:a16="http://schemas.microsoft.com/office/drawing/2014/main" id="{56A03CEB-502A-4F87-BD21-6D07AF1F66EA}"/>
              </a:ext>
            </a:extLst>
          </p:cNvPr>
          <p:cNvSpPr>
            <a:spLocks xmlns:a="http://schemas.openxmlformats.org/drawingml/2006/main" noGrp="1"/>
          </p:cNvSpPr>
          <p:nvPr/>
        </p:nvSpPr>
        <p:spPr>
          <a:xfrm xmlns:a="http://schemas.openxmlformats.org/drawingml/2006/main">
            <a:off x="571500" y="3190875"/>
            <a:ext cx="9048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183247"/>
                </a:solidFill>
                <a:latin typeface="Arial"/>
                <a:ea typeface="Arial"/>
                <a:cs typeface="Arial"/>
              </a:defRPr>
            </a:pPr>
            <a:r>
              <a:rPr sz="3150" b="1">
                <a:solidFill>
                  <a:srgbClr val="183247"/>
                </a:solidFill>
                <a:latin typeface="Arial"/>
                <a:ea typeface="Arial"/>
                <a:cs typeface="Arial"/>
              </a:rPr>
              <a:t>11Q = 600 + 5Q</a:t>
            </a:r>
          </a:p>
        </p:txBody>
      </p:sp>
      <p:sp>
        <p:nvSpPr>
          <p:cNvPr id="8" name="Functies invullen">
            <a:extLst xmlns:a="http://schemas.openxmlformats.org/drawingml/2006/main">
              <a:ext uri="{FF2B5EF4-FFF2-40B4-BE49-F238E27FC236}">
                <a16:creationId xmlns:a16="http://schemas.microsoft.com/office/drawing/2014/main" id="{9906F149-9193-4301-BD93-F2AC238D0F63}"/>
              </a:ext>
            </a:extLst>
          </p:cNvPr>
          <p:cNvSpPr>
            <a:spLocks xmlns:a="http://schemas.openxmlformats.org/drawingml/2006/main" noGrp="1"/>
          </p:cNvSpPr>
          <p:nvPr/>
        </p:nvSpPr>
        <p:spPr>
          <a:xfrm xmlns:a="http://schemas.openxmlformats.org/drawingml/2006/main">
            <a:off x="10096500" y="3257550"/>
            <a:ext cx="4572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Functies invullen</a:t>
            </a:r>
          </a:p>
        </p:txBody>
      </p:sp>
      <p:sp>
        <p:nvSpPr>
          <p:cNvPr id="9" name="6Q = 600">
            <a:extLst xmlns:a="http://schemas.openxmlformats.org/drawingml/2006/main">
              <a:ext uri="{FF2B5EF4-FFF2-40B4-BE49-F238E27FC236}">
                <a16:creationId xmlns:a16="http://schemas.microsoft.com/office/drawing/2014/main" id="{9A7BC7F5-3BCA-48D1-9212-65BBC0B01936}"/>
              </a:ext>
            </a:extLst>
          </p:cNvPr>
          <p:cNvSpPr>
            <a:spLocks xmlns:a="http://schemas.openxmlformats.org/drawingml/2006/main" noGrp="1"/>
          </p:cNvSpPr>
          <p:nvPr/>
        </p:nvSpPr>
        <p:spPr>
          <a:xfrm xmlns:a="http://schemas.openxmlformats.org/drawingml/2006/main">
            <a:off x="571500" y="4438650"/>
            <a:ext cx="9048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183247"/>
                </a:solidFill>
                <a:latin typeface="Arial"/>
                <a:ea typeface="Arial"/>
                <a:cs typeface="Arial"/>
              </a:defRPr>
            </a:pPr>
            <a:r>
              <a:rPr sz="3150" b="1">
                <a:solidFill>
                  <a:srgbClr val="183247"/>
                </a:solidFill>
                <a:latin typeface="Arial"/>
                <a:ea typeface="Arial"/>
                <a:cs typeface="Arial"/>
              </a:rPr>
              <a:t>6Q = 600</a:t>
            </a:r>
          </a:p>
        </p:txBody>
      </p:sp>
      <p:sp>
        <p:nvSpPr>
          <p:cNvPr id="10" name="Aan beide kanten 5Q aftrekken">
            <a:extLst xmlns:a="http://schemas.openxmlformats.org/drawingml/2006/main">
              <a:ext uri="{FF2B5EF4-FFF2-40B4-BE49-F238E27FC236}">
                <a16:creationId xmlns:a16="http://schemas.microsoft.com/office/drawing/2014/main" id="{D96F5BF2-E710-4516-A0DF-CC9C9317F147}"/>
              </a:ext>
            </a:extLst>
          </p:cNvPr>
          <p:cNvSpPr>
            <a:spLocks xmlns:a="http://schemas.openxmlformats.org/drawingml/2006/main" noGrp="1"/>
          </p:cNvSpPr>
          <p:nvPr/>
        </p:nvSpPr>
        <p:spPr>
          <a:xfrm xmlns:a="http://schemas.openxmlformats.org/drawingml/2006/main">
            <a:off x="10096500" y="4505325"/>
            <a:ext cx="4572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Aan beide kanten 5Q aftrekken</a:t>
            </a:r>
          </a:p>
        </p:txBody>
      </p:sp>
      <p:sp>
        <p:nvSpPr>
          <p:cNvPr id="11" name="Q = 600 / 6 = 100 shirts">
            <a:extLst xmlns:a="http://schemas.openxmlformats.org/drawingml/2006/main">
              <a:ext uri="{FF2B5EF4-FFF2-40B4-BE49-F238E27FC236}">
                <a16:creationId xmlns:a16="http://schemas.microsoft.com/office/drawing/2014/main" id="{9B6E874C-AFA0-434C-9D1B-C9D4FE5B9DA0}"/>
              </a:ext>
            </a:extLst>
          </p:cNvPr>
          <p:cNvSpPr>
            <a:spLocks xmlns:a="http://schemas.openxmlformats.org/drawingml/2006/main" noGrp="1"/>
          </p:cNvSpPr>
          <p:nvPr/>
        </p:nvSpPr>
        <p:spPr>
          <a:xfrm xmlns:a="http://schemas.openxmlformats.org/drawingml/2006/main">
            <a:off x="571500" y="5686425"/>
            <a:ext cx="9048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20665B"/>
                </a:solidFill>
                <a:latin typeface="Arial"/>
                <a:ea typeface="Arial"/>
                <a:cs typeface="Arial"/>
              </a:defRPr>
            </a:pPr>
            <a:r>
              <a:rPr sz="3150" b="1">
                <a:solidFill>
                  <a:srgbClr val="20665B"/>
                </a:solidFill>
                <a:latin typeface="Arial"/>
                <a:ea typeface="Arial"/>
                <a:cs typeface="Arial"/>
              </a:rPr>
              <a:t>Q = 600 / 6 = 100 shirts</a:t>
            </a:r>
          </a:p>
        </p:txBody>
      </p:sp>
      <p:sp>
        <p:nvSpPr>
          <p:cNvPr id="12" name="Delen door 6">
            <a:extLst xmlns:a="http://schemas.openxmlformats.org/drawingml/2006/main">
              <a:ext uri="{FF2B5EF4-FFF2-40B4-BE49-F238E27FC236}">
                <a16:creationId xmlns:a16="http://schemas.microsoft.com/office/drawing/2014/main" id="{DA7965EE-6ED2-4A1F-A963-E4F69AC2826E}"/>
              </a:ext>
            </a:extLst>
          </p:cNvPr>
          <p:cNvSpPr>
            <a:spLocks xmlns:a="http://schemas.openxmlformats.org/drawingml/2006/main" noGrp="1"/>
          </p:cNvSpPr>
          <p:nvPr/>
        </p:nvSpPr>
        <p:spPr>
          <a:xfrm xmlns:a="http://schemas.openxmlformats.org/drawingml/2006/main">
            <a:off x="10096500" y="5753100"/>
            <a:ext cx="4572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Delen door 6</a:t>
            </a:r>
          </a:p>
        </p:txBody>
      </p:sp>
      <p:sp>
        <p:nvSpPr>
          <p:cNvPr id="13" name="Controle: TO = TK = € 1.100 voor het feest. Winst = € 0.">
            <a:extLst xmlns:a="http://schemas.openxmlformats.org/drawingml/2006/main">
              <a:ext uri="{FF2B5EF4-FFF2-40B4-BE49-F238E27FC236}">
                <a16:creationId xmlns:a16="http://schemas.microsoft.com/office/drawing/2014/main" id="{27672A5D-D9E6-47F8-AE80-A11C030A9610}"/>
              </a:ext>
            </a:extLst>
          </p:cNvPr>
          <p:cNvSpPr>
            <a:spLocks xmlns:a="http://schemas.openxmlformats.org/drawingml/2006/main" noGrp="1"/>
          </p:cNvSpPr>
          <p:nvPr/>
        </p:nvSpPr>
        <p:spPr>
          <a:xfrm xmlns:a="http://schemas.openxmlformats.org/drawingml/2006/main">
            <a:off x="571500" y="7296150"/>
            <a:ext cx="14097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7658A"/>
                </a:solidFill>
                <a:latin typeface="Arial"/>
                <a:ea typeface="Arial"/>
                <a:cs typeface="Arial"/>
              </a:defRPr>
            </a:pPr>
            <a:r>
              <a:rPr sz="2700" b="1">
                <a:solidFill>
                  <a:srgbClr val="17658A"/>
                </a:solidFill>
                <a:latin typeface="Arial"/>
                <a:ea typeface="Arial"/>
                <a:cs typeface="Arial"/>
              </a:rPr>
              <a:t>Controle: TO = TK = € 1.100 voor het feest. Winst = € 0.</a:t>
            </a:r>
          </a:p>
        </p:txBody>
      </p:sp>
    </p:spTree>
    <p:extLst>
      <p:ext uri="{BB962C8B-B14F-4D97-AF65-F5344CB8AC3E}">
        <p14:creationId xmlns:p14="http://schemas.microsoft.com/office/powerpoint/2010/main" val="1583722893"/>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Marginale bedragen: verschillen delen">
            <a:extLst xmlns:a="http://schemas.openxmlformats.org/drawingml/2006/main">
              <a:ext uri="{FF2B5EF4-FFF2-40B4-BE49-F238E27FC236}">
                <a16:creationId xmlns:a16="http://schemas.microsoft.com/office/drawing/2014/main" id="{0E425B46-0059-4A60-A869-FA028E9267AD}"/>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Marginale bedragen: verschillen delen</a:t>
            </a:r>
          </a:p>
        </p:txBody>
      </p:sp>
      <p:sp>
        <p:nvSpPr>
          <p:cNvPr id="2" name="">
            <a:extLst xmlns:a="http://schemas.openxmlformats.org/drawingml/2006/main">
              <a:ext uri="{FF2B5EF4-FFF2-40B4-BE49-F238E27FC236}">
                <a16:creationId xmlns:a16="http://schemas.microsoft.com/office/drawing/2014/main" id="{7C1BFB91-F0B0-4B36-941A-712BFEA29A98}"/>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4 Gemengde opgaven">
            <a:extLst xmlns:a="http://schemas.openxmlformats.org/drawingml/2006/main">
              <a:ext uri="{FF2B5EF4-FFF2-40B4-BE49-F238E27FC236}">
                <a16:creationId xmlns:a16="http://schemas.microsoft.com/office/drawing/2014/main" id="{9CEB01D9-541B-4992-8E22-19FBAA05CF82}"/>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§2.1.4 Gemengde opgaven</a:t>
            </a:r>
          </a:p>
        </p:txBody>
      </p:sp>
      <p:sp>
        <p:nvSpPr>
          <p:cNvPr id="4" name="slide-number">
            <a:extLst xmlns:a="http://schemas.openxmlformats.org/drawingml/2006/main">
              <a:ext uri="{FF2B5EF4-FFF2-40B4-BE49-F238E27FC236}">
                <a16:creationId xmlns:a16="http://schemas.microsoft.com/office/drawing/2014/main" id="{768CDF2A-B757-417D-AEC9-32AFC5E3B91D}"/>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6</a:t>
            </a:r>
          </a:p>
        </p:txBody>
      </p:sp>
      <p:sp>
        <p:nvSpPr>
          <p:cNvPr id="5" name="SkateService · Opgave 4 · Eén stap uit de tabel">
            <a:extLst xmlns:a="http://schemas.openxmlformats.org/drawingml/2006/main">
              <a:ext uri="{FF2B5EF4-FFF2-40B4-BE49-F238E27FC236}">
                <a16:creationId xmlns:a16="http://schemas.microsoft.com/office/drawing/2014/main" id="{F64A6336-575A-44C3-A59A-EB9F07E6C667}"/>
              </a:ext>
            </a:extLst>
          </p:cNvPr>
          <p:cNvSpPr>
            <a:spLocks xmlns:a="http://schemas.openxmlformats.org/drawingml/2006/main" noGrp="1"/>
          </p:cNvSpPr>
          <p:nvPr/>
        </p:nvSpPr>
        <p:spPr>
          <a:xfrm xmlns:a="http://schemas.openxmlformats.org/drawingml/2006/main">
            <a:off x="571500" y="1790700"/>
            <a:ext cx="140970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7658A"/>
                </a:solidFill>
                <a:latin typeface="Arial"/>
                <a:ea typeface="Arial"/>
                <a:cs typeface="Arial"/>
              </a:defRPr>
            </a:pPr>
            <a:r>
              <a:rPr sz="2700" b="1">
                <a:solidFill>
                  <a:srgbClr val="17658A"/>
                </a:solidFill>
                <a:latin typeface="Arial"/>
                <a:ea typeface="Arial"/>
                <a:cs typeface="Arial"/>
              </a:rPr>
              <a:t>SkateService · Opgave 4 · Eén stap uit de tabel</a:t>
            </a:r>
          </a:p>
        </p:txBody>
      </p:sp>
      <p:graphicFrame>
        <p:nvGraphicFramePr>
          <p:cNvPr id="15" name=""/>
          <p:cNvGraphicFramePr/>
          <p:nvPr/>
        </p:nvGraphicFramePr>
        <p:xfrm>
          <a:off xmlns:a="http://schemas.openxmlformats.org/drawingml/2006/main" x="571500" y="2628900"/>
          <a:ext xmlns:a="http://schemas.openxmlformats.org/drawingml/2006/main" cx="14097000" cy="2171700"/>
        </p:xfrm>
        <a:graphic xmlns:a="http://schemas.openxmlformats.org/drawingml/2006/main">
          <a:graphicData uri="http://schemas.openxmlformats.org/drawingml/2006/table">
            <a:tbl>
              <a:tblPr/>
              <a:tblGrid>
                <a:gridCol w="4953000"/>
                <a:gridCol w="4572000"/>
                <a:gridCol w="4572000"/>
              </a:tblGrid>
              <a:tr h="723900">
                <a:tc>
                  <a:txBody>
                    <a:bodyPr lIns="171450" tIns="95250" rIns="152400" bIns="95250"/>
                    <a:lstStyle/>
                    <a:p>
                      <a:r>
                        <a:rPr sz="2400" b="1">
                          <a:solidFill>
                            <a:srgbClr val="FFFFFF"/>
                          </a:solidFill>
                          <a:latin typeface="Arial"/>
                          <a:ea typeface="Arial"/>
                          <a:cs typeface="Arial"/>
                        </a:rPr>
                        <a:t>Q (beurten per week)</a:t>
                      </a:r>
                    </a:p>
                  </a:txBody>
                  <a:tcPr marL="91440" marR="91440" marT="45720" marB="45720" anchor="ctr">
                    <a:solidFill>
                      <a:srgbClr val="183247"/>
                    </a:solidFill>
                  </a:tcPr>
                </a:tc>
                <a:tc>
                  <a:txBody>
                    <a:bodyPr lIns="171450" tIns="95250" rIns="152400" bIns="95250"/>
                    <a:lstStyle/>
                    <a:p>
                      <a:r>
                        <a:rPr sz="2400" b="1">
                          <a:solidFill>
                            <a:srgbClr val="FFFFFF"/>
                          </a:solidFill>
                          <a:latin typeface="Arial"/>
                          <a:ea typeface="Arial"/>
                          <a:cs typeface="Arial"/>
                        </a:rPr>
                        <a:t>TK (€ per week)</a:t>
                      </a:r>
                    </a:p>
                  </a:txBody>
                  <a:tcPr marL="91440" marR="91440" marT="45720" marB="45720" anchor="ctr">
                    <a:solidFill>
                      <a:srgbClr val="183247"/>
                    </a:solidFill>
                  </a:tcPr>
                </a:tc>
                <a:tc>
                  <a:txBody>
                    <a:bodyPr lIns="171450" tIns="95250" rIns="152400" bIns="95250"/>
                    <a:lstStyle/>
                    <a:p>
                      <a:r>
                        <a:rPr sz="2400" b="1">
                          <a:solidFill>
                            <a:srgbClr val="FFFFFF"/>
                          </a:solidFill>
                          <a:latin typeface="Arial"/>
                          <a:ea typeface="Arial"/>
                          <a:cs typeface="Arial"/>
                        </a:rPr>
                        <a:t>TO (€ per week)</a:t>
                      </a:r>
                    </a:p>
                  </a:txBody>
                  <a:tcPr marL="91440" marR="91440" marT="45720" marB="45720" anchor="ctr">
                    <a:solidFill>
                      <a:srgbClr val="183247"/>
                    </a:solidFill>
                  </a:tcPr>
                </a:tc>
              </a:tr>
              <a:tr h="723900">
                <a:tc>
                  <a:txBody>
                    <a:bodyPr lIns="171450" tIns="95250" rIns="152400" bIns="95250"/>
                    <a:lstStyle/>
                    <a:p>
                      <a:r>
                        <a:rPr sz="2400" b="0">
                          <a:solidFill>
                            <a:srgbClr val="183247"/>
                          </a:solidFill>
                          <a:latin typeface="Arial"/>
                          <a:ea typeface="Arial"/>
                          <a:cs typeface="Arial"/>
                        </a:rPr>
                        <a:t>10</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260</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400</a:t>
                      </a:r>
                    </a:p>
                  </a:txBody>
                  <a:tcPr marL="91440" marR="91440" marT="45720" marB="45720" anchor="ctr">
                    <a:solidFill>
                      <a:srgbClr val="FFFFFF"/>
                    </a:solidFill>
                  </a:tcPr>
                </a:tc>
              </a:tr>
              <a:tr h="723900">
                <a:tc>
                  <a:txBody>
                    <a:bodyPr lIns="171450" tIns="95250" rIns="152400" bIns="95250"/>
                    <a:lstStyle/>
                    <a:p>
                      <a:r>
                        <a:rPr sz="2400" b="0">
                          <a:solidFill>
                            <a:srgbClr val="183247"/>
                          </a:solidFill>
                          <a:latin typeface="Arial"/>
                          <a:ea typeface="Arial"/>
                          <a:cs typeface="Arial"/>
                        </a:rPr>
                        <a:t>20</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320</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800</a:t>
                      </a:r>
                    </a:p>
                  </a:txBody>
                  <a:tcPr marL="91440" marR="91440" marT="45720" marB="45720" anchor="ctr">
                    <a:solidFill>
                      <a:srgbClr val="EFF4F7"/>
                    </a:solidFill>
                  </a:tcPr>
                </a:tc>
              </a:tr>
            </a:tbl>
          </a:graphicData>
        </a:graphic>
      </p:graphicFrame>
      <p:sp>
        <p:nvSpPr>
          <p:cNvPr id="7" name="MK = ΔTK / ΔQ = (320 − 260) / (20 − 10) = € 6">
            <a:extLst xmlns:a="http://schemas.openxmlformats.org/drawingml/2006/main">
              <a:ext uri="{FF2B5EF4-FFF2-40B4-BE49-F238E27FC236}">
                <a16:creationId xmlns:a16="http://schemas.microsoft.com/office/drawing/2014/main" id="{C3AA1D5F-F90B-43E6-95D4-4973830D9AF8}"/>
              </a:ext>
            </a:extLst>
          </p:cNvPr>
          <p:cNvSpPr>
            <a:spLocks xmlns:a="http://schemas.openxmlformats.org/drawingml/2006/main" noGrp="1"/>
          </p:cNvSpPr>
          <p:nvPr/>
        </p:nvSpPr>
        <p:spPr>
          <a:xfrm xmlns:a="http://schemas.openxmlformats.org/drawingml/2006/main">
            <a:off x="571500" y="5343525"/>
            <a:ext cx="14097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A94D16"/>
                </a:solidFill>
                <a:latin typeface="Arial"/>
                <a:ea typeface="Arial"/>
                <a:cs typeface="Arial"/>
              </a:defRPr>
            </a:pPr>
            <a:r>
              <a:rPr sz="2850" b="1">
                <a:solidFill>
                  <a:srgbClr val="A94D16"/>
                </a:solidFill>
                <a:latin typeface="Arial"/>
                <a:ea typeface="Arial"/>
                <a:cs typeface="Arial"/>
              </a:rPr>
              <a:t>MK = ΔTK / ΔQ = (320 − 260) / (20 − 10) = € 6</a:t>
            </a:r>
          </a:p>
        </p:txBody>
      </p:sp>
      <p:sp>
        <p:nvSpPr>
          <p:cNvPr id="8" name="MO = ΔTO / ΔQ = (800 − 400) / (20 − 10) = € 40">
            <a:extLst xmlns:a="http://schemas.openxmlformats.org/drawingml/2006/main">
              <a:ext uri="{FF2B5EF4-FFF2-40B4-BE49-F238E27FC236}">
                <a16:creationId xmlns:a16="http://schemas.microsoft.com/office/drawing/2014/main" id="{6078B20F-8928-47AF-802D-C4BA8D7986A4}"/>
              </a:ext>
            </a:extLst>
          </p:cNvPr>
          <p:cNvSpPr>
            <a:spLocks xmlns:a="http://schemas.openxmlformats.org/drawingml/2006/main" noGrp="1"/>
          </p:cNvSpPr>
          <p:nvPr/>
        </p:nvSpPr>
        <p:spPr>
          <a:xfrm xmlns:a="http://schemas.openxmlformats.org/drawingml/2006/main">
            <a:off x="571500" y="6257925"/>
            <a:ext cx="14097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17658A"/>
                </a:solidFill>
                <a:latin typeface="Arial"/>
                <a:ea typeface="Arial"/>
                <a:cs typeface="Arial"/>
              </a:defRPr>
            </a:pPr>
            <a:r>
              <a:rPr sz="2850" b="1">
                <a:solidFill>
                  <a:srgbClr val="17658A"/>
                </a:solidFill>
                <a:latin typeface="Arial"/>
                <a:ea typeface="Arial"/>
                <a:cs typeface="Arial"/>
              </a:rPr>
              <a:t>MO = ΔTO / ΔQ = (800 − 400) / (20 − 10) = € 40</a:t>
            </a:r>
          </a:p>
        </p:txBody>
      </p:sp>
      <p:sp>
        <p:nvSpPr>
          <p:cNvPr id="9" name="Beide bedragen zijn per extra onderhoudsbeurt.">
            <a:extLst xmlns:a="http://schemas.openxmlformats.org/drawingml/2006/main">
              <a:ext uri="{FF2B5EF4-FFF2-40B4-BE49-F238E27FC236}">
                <a16:creationId xmlns:a16="http://schemas.microsoft.com/office/drawing/2014/main" id="{46A9B29C-4B4E-4098-B355-239258884224}"/>
              </a:ext>
            </a:extLst>
          </p:cNvPr>
          <p:cNvSpPr>
            <a:spLocks xmlns:a="http://schemas.openxmlformats.org/drawingml/2006/main" noGrp="1"/>
          </p:cNvSpPr>
          <p:nvPr/>
        </p:nvSpPr>
        <p:spPr>
          <a:xfrm xmlns:a="http://schemas.openxmlformats.org/drawingml/2006/main">
            <a:off x="571500" y="7372350"/>
            <a:ext cx="14097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Beide bedragen zijn per extra onderhoudsbeurt.</a:t>
            </a:r>
          </a:p>
        </p:txBody>
      </p:sp>
    </p:spTree>
    <p:extLst>
      <p:ext uri="{BB962C8B-B14F-4D97-AF65-F5344CB8AC3E}">
        <p14:creationId xmlns:p14="http://schemas.microsoft.com/office/powerpoint/2010/main" val="2120659910"/>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FotoFun: winst is een verticale afstand">
            <a:extLst xmlns:a="http://schemas.openxmlformats.org/drawingml/2006/main">
              <a:ext uri="{FF2B5EF4-FFF2-40B4-BE49-F238E27FC236}">
                <a16:creationId xmlns:a16="http://schemas.microsoft.com/office/drawing/2014/main" id="{2D2012B4-389F-49B9-BA6C-DFF209ACE62C}"/>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FotoFun: winst is een verticale afstand</a:t>
            </a:r>
          </a:p>
        </p:txBody>
      </p:sp>
      <p:sp>
        <p:nvSpPr>
          <p:cNvPr id="2" name="">
            <a:extLst xmlns:a="http://schemas.openxmlformats.org/drawingml/2006/main">
              <a:ext uri="{FF2B5EF4-FFF2-40B4-BE49-F238E27FC236}">
                <a16:creationId xmlns:a16="http://schemas.microsoft.com/office/drawing/2014/main" id="{11F22E4F-76ED-486D-B10F-44BBF769A8AE}"/>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4 Gemengde opgaven">
            <a:extLst xmlns:a="http://schemas.openxmlformats.org/drawingml/2006/main">
              <a:ext uri="{FF2B5EF4-FFF2-40B4-BE49-F238E27FC236}">
                <a16:creationId xmlns:a16="http://schemas.microsoft.com/office/drawing/2014/main" id="{7D084F96-9687-4ADE-97F0-5CBBA7BEA81C}"/>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§2.1.4 Gemengde opgaven</a:t>
            </a:r>
          </a:p>
        </p:txBody>
      </p:sp>
      <p:sp>
        <p:nvSpPr>
          <p:cNvPr id="4" name="slide-number">
            <a:extLst xmlns:a="http://schemas.openxmlformats.org/drawingml/2006/main">
              <a:ext uri="{FF2B5EF4-FFF2-40B4-BE49-F238E27FC236}">
                <a16:creationId xmlns:a16="http://schemas.microsoft.com/office/drawing/2014/main" id="{A6F82DC7-DC73-4EA6-A9A0-5C18E14D598B}"/>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7</a:t>
            </a:r>
          </a:p>
        </p:txBody>
      </p:sp>
      <p:graphicFrame>
        <p:nvGraphicFramePr>
          <p:cNvPr id="14" name="Chart"/>
          <p:cNvGraphicFramePr/>
          <p:nvPr/>
        </p:nvGraphicFramePr>
        <p:xfrm>
          <a:off xmlns:a="http://schemas.openxmlformats.org/drawingml/2006/main" x="571500" y="1981200"/>
          <a:ext xmlns:a="http://schemas.openxmlformats.org/drawingml/2006/main" cx="10287000" cy="5848350"/>
        </p:xfrm>
        <a:graphic xmlns:a="http://schemas.openxmlformats.org/drawingml/2006/main">
          <a:graphicData uri="http://schemas.openxmlformats.org/drawingml/2006/chart">
            <c:chart xmlns:r="http://schemas.openxmlformats.org/officeDocument/2006/relationships" xmlns:c="http://schemas.openxmlformats.org/drawingml/2006/chart" r:id="Rd71d6a5492d14315"/>
          </a:graphicData>
        </a:graphic>
      </p:graphicFrame>
      <p:sp>
        <p:nvSpPr>
          <p:cNvPr id="6" name="Bij Q = 90">
            <a:extLst xmlns:a="http://schemas.openxmlformats.org/drawingml/2006/main">
              <a:ext uri="{FF2B5EF4-FFF2-40B4-BE49-F238E27FC236}">
                <a16:creationId xmlns:a16="http://schemas.microsoft.com/office/drawing/2014/main" id="{42CA32CF-F719-4699-B6B7-B04F9817D262}"/>
              </a:ext>
            </a:extLst>
          </p:cNvPr>
          <p:cNvSpPr>
            <a:spLocks xmlns:a="http://schemas.openxmlformats.org/drawingml/2006/main" noGrp="1"/>
          </p:cNvSpPr>
          <p:nvPr/>
        </p:nvSpPr>
        <p:spPr>
          <a:xfrm xmlns:a="http://schemas.openxmlformats.org/drawingml/2006/main">
            <a:off x="11334750" y="2219325"/>
            <a:ext cx="333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Bij Q = 90</a:t>
            </a:r>
          </a:p>
        </p:txBody>
      </p:sp>
      <p:sp>
        <p:nvSpPr>
          <p:cNvPr id="7" name="TO = € 540&#10;TK = € 420">
            <a:extLst xmlns:a="http://schemas.openxmlformats.org/drawingml/2006/main">
              <a:ext uri="{FF2B5EF4-FFF2-40B4-BE49-F238E27FC236}">
                <a16:creationId xmlns:a16="http://schemas.microsoft.com/office/drawing/2014/main" id="{3828C7E7-8934-4D48-A886-6C90DF3A6FBE}"/>
              </a:ext>
            </a:extLst>
          </p:cNvPr>
          <p:cNvSpPr>
            <a:spLocks xmlns:a="http://schemas.openxmlformats.org/drawingml/2006/main" noGrp="1"/>
          </p:cNvSpPr>
          <p:nvPr/>
        </p:nvSpPr>
        <p:spPr>
          <a:xfrm xmlns:a="http://schemas.openxmlformats.org/drawingml/2006/main">
            <a:off x="11334750" y="3248025"/>
            <a:ext cx="33337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TO = € 540</a:t>
            </a:r>
          </a:p>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TK = € 420</a:t>
            </a:r>
          </a:p>
        </p:txBody>
      </p:sp>
      <p:sp>
        <p:nvSpPr>
          <p:cNvPr id="8" name="Winst = € 120&#10;per feest">
            <a:extLst xmlns:a="http://schemas.openxmlformats.org/drawingml/2006/main">
              <a:ext uri="{FF2B5EF4-FFF2-40B4-BE49-F238E27FC236}">
                <a16:creationId xmlns:a16="http://schemas.microsoft.com/office/drawing/2014/main" id="{726BC9C8-6F0A-4AE5-8DC4-EA47CD0166F5}"/>
              </a:ext>
            </a:extLst>
          </p:cNvPr>
          <p:cNvSpPr>
            <a:spLocks xmlns:a="http://schemas.openxmlformats.org/drawingml/2006/main" noGrp="1"/>
          </p:cNvSpPr>
          <p:nvPr/>
        </p:nvSpPr>
        <p:spPr>
          <a:xfrm xmlns:a="http://schemas.openxmlformats.org/drawingml/2006/main">
            <a:off x="11334750" y="4848225"/>
            <a:ext cx="33337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20665B"/>
                </a:solidFill>
                <a:latin typeface="Arial"/>
                <a:ea typeface="Arial"/>
                <a:cs typeface="Arial"/>
              </a:defRPr>
            </a:pPr>
            <a:r>
              <a:rPr sz="2700" b="1">
                <a:solidFill>
                  <a:srgbClr val="20665B"/>
                </a:solidFill>
                <a:latin typeface="Arial"/>
                <a:ea typeface="Arial"/>
                <a:cs typeface="Arial"/>
              </a:rPr>
              <a:t>Winst = € 120</a:t>
            </a:r>
          </a:p>
          <a:p xmlns:a="http://schemas.openxmlformats.org/drawingml/2006/main">
            <a:pPr algn="l">
              <a:defRPr sz="2700" b="1">
                <a:solidFill>
                  <a:srgbClr val="20665B"/>
                </a:solidFill>
                <a:latin typeface="Arial"/>
                <a:ea typeface="Arial"/>
                <a:cs typeface="Arial"/>
              </a:defRPr>
            </a:pPr>
            <a:r>
              <a:rPr sz="2700" b="1">
                <a:solidFill>
                  <a:srgbClr val="20665B"/>
                </a:solidFill>
                <a:latin typeface="Arial"/>
                <a:ea typeface="Arial"/>
                <a:cs typeface="Arial"/>
              </a:rPr>
              <a:t>per feest</a:t>
            </a:r>
          </a:p>
        </p:txBody>
      </p:sp>
      <p:sp>
        <p:nvSpPr>
          <p:cNvPr id="9" name="Dezelfde Q,&#10;twee lijnhoogten.">
            <a:extLst xmlns:a="http://schemas.openxmlformats.org/drawingml/2006/main">
              <a:ext uri="{FF2B5EF4-FFF2-40B4-BE49-F238E27FC236}">
                <a16:creationId xmlns:a16="http://schemas.microsoft.com/office/drawing/2014/main" id="{118E2654-4A2E-4461-9916-15E08A4B3150}"/>
              </a:ext>
            </a:extLst>
          </p:cNvPr>
          <p:cNvSpPr>
            <a:spLocks xmlns:a="http://schemas.openxmlformats.org/drawingml/2006/main" noGrp="1"/>
          </p:cNvSpPr>
          <p:nvPr/>
        </p:nvSpPr>
        <p:spPr>
          <a:xfrm xmlns:a="http://schemas.openxmlformats.org/drawingml/2006/main">
            <a:off x="11334750" y="6753225"/>
            <a:ext cx="33337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Dezelfde Q,</a:t>
            </a:r>
          </a:p>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twee lijnhoogten.</a:t>
            </a:r>
          </a:p>
        </p:txBody>
      </p:sp>
    </p:spTree>
    <p:extLst>
      <p:ext uri="{BB962C8B-B14F-4D97-AF65-F5344CB8AC3E}">
        <p14:creationId xmlns:p14="http://schemas.microsoft.com/office/powerpoint/2010/main" val="1732259981"/>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Deze les: §2.1.4 Gemengde opgaven">
            <a:extLst xmlns:a="http://schemas.openxmlformats.org/drawingml/2006/main">
              <a:ext uri="{FF2B5EF4-FFF2-40B4-BE49-F238E27FC236}">
                <a16:creationId xmlns:a16="http://schemas.microsoft.com/office/drawing/2014/main" id="{A8FEACF7-8D75-4907-95C6-D0C1FA8A479C}"/>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Deze les: §2.1.4 Gemengde opgaven</a:t>
            </a:r>
          </a:p>
        </p:txBody>
      </p:sp>
      <p:sp>
        <p:nvSpPr>
          <p:cNvPr id="2" name="">
            <a:extLst xmlns:a="http://schemas.openxmlformats.org/drawingml/2006/main">
              <a:ext uri="{FF2B5EF4-FFF2-40B4-BE49-F238E27FC236}">
                <a16:creationId xmlns:a16="http://schemas.microsoft.com/office/drawing/2014/main" id="{8B9544A5-F305-4E5F-97CB-D27953A6477B}"/>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4 Gemengde opgaven">
            <a:extLst xmlns:a="http://schemas.openxmlformats.org/drawingml/2006/main">
              <a:ext uri="{FF2B5EF4-FFF2-40B4-BE49-F238E27FC236}">
                <a16:creationId xmlns:a16="http://schemas.microsoft.com/office/drawing/2014/main" id="{EA8C21F8-B75E-4802-94D7-EAA9AB59E218}"/>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§2.1.4 Gemengde opgaven</a:t>
            </a:r>
          </a:p>
        </p:txBody>
      </p:sp>
      <p:sp>
        <p:nvSpPr>
          <p:cNvPr id="4" name="slide-number">
            <a:extLst xmlns:a="http://schemas.openxmlformats.org/drawingml/2006/main">
              <a:ext uri="{FF2B5EF4-FFF2-40B4-BE49-F238E27FC236}">
                <a16:creationId xmlns:a16="http://schemas.microsoft.com/office/drawing/2014/main" id="{E8E971BA-7EDD-4FA4-B67C-77051FA1FA9B}"/>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8</a:t>
            </a:r>
          </a:p>
        </p:txBody>
      </p:sp>
      <p:sp>
        <p:nvSpPr>
          <p:cNvPr id="5" name="phase">
            <a:extLst xmlns:a="http://schemas.openxmlformats.org/drawingml/2006/main">
              <a:ext uri="{FF2B5EF4-FFF2-40B4-BE49-F238E27FC236}">
                <a16:creationId xmlns:a16="http://schemas.microsoft.com/office/drawing/2014/main" id="{463B04E0-83C8-4899-A996-BF11910FCA22}"/>
              </a:ext>
            </a:extLst>
          </p:cNvPr>
          <p:cNvSpPr>
            <a:spLocks xmlns:a="http://schemas.openxmlformats.org/drawingml/2006/main" noGrp="1"/>
          </p:cNvSpPr>
          <p:nvPr/>
        </p:nvSpPr>
        <p:spPr>
          <a:xfrm xmlns:a="http://schemas.openxmlformats.org/drawingml/2006/main">
            <a:off x="571500" y="1066800"/>
            <a:ext cx="13811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Nu: Zelfstandig werken</a:t>
            </a:r>
          </a:p>
        </p:txBody>
      </p:sp>
      <p:sp>
        <p:nvSpPr>
          <p:cNvPr id="6" name="Lesroute">
            <a:extLst xmlns:a="http://schemas.openxmlformats.org/drawingml/2006/main">
              <a:ext uri="{FF2B5EF4-FFF2-40B4-BE49-F238E27FC236}">
                <a16:creationId xmlns:a16="http://schemas.microsoft.com/office/drawing/2014/main" id="{CCE152F7-7F33-41A0-A3D3-92054E8B9C7F}"/>
              </a:ext>
            </a:extLst>
          </p:cNvPr>
          <p:cNvSpPr>
            <a:spLocks xmlns:a="http://schemas.openxmlformats.org/drawingml/2006/main" noGrp="1"/>
          </p:cNvSpPr>
          <p:nvPr/>
        </p:nvSpPr>
        <p:spPr>
          <a:xfrm xmlns:a="http://schemas.openxmlformats.org/drawingml/2006/main">
            <a:off x="571500" y="1762125"/>
            <a:ext cx="7953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Lesroute</a:t>
            </a:r>
          </a:p>
        </p:txBody>
      </p:sp>
      <p:sp>
        <p:nvSpPr>
          <p:cNvPr id="7" name="route-number-1">
            <a:extLst xmlns:a="http://schemas.openxmlformats.org/drawingml/2006/main">
              <a:ext uri="{FF2B5EF4-FFF2-40B4-BE49-F238E27FC236}">
                <a16:creationId xmlns:a16="http://schemas.microsoft.com/office/drawing/2014/main" id="{6B934F3B-CAD0-4865-BF22-1525F3D7959A}"/>
              </a:ext>
            </a:extLst>
          </p:cNvPr>
          <p:cNvSpPr>
            <a:spLocks xmlns:a="http://schemas.openxmlformats.org/drawingml/2006/main" noGrp="1"/>
          </p:cNvSpPr>
          <p:nvPr/>
        </p:nvSpPr>
        <p:spPr>
          <a:xfrm xmlns:a="http://schemas.openxmlformats.org/drawingml/2006/main">
            <a:off x="571500" y="2324100"/>
            <a:ext cx="4572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1.</a:t>
            </a:r>
          </a:p>
        </p:txBody>
      </p:sp>
      <p:sp>
        <p:nvSpPr>
          <p:cNvPr id="8" name="route-1">
            <a:extLst xmlns:a="http://schemas.openxmlformats.org/drawingml/2006/main">
              <a:ext uri="{FF2B5EF4-FFF2-40B4-BE49-F238E27FC236}">
                <a16:creationId xmlns:a16="http://schemas.microsoft.com/office/drawing/2014/main" id="{28C7970D-8818-40EC-A59E-69E02D047B2B}"/>
              </a:ext>
            </a:extLst>
          </p:cNvPr>
          <p:cNvSpPr>
            <a:spLocks xmlns:a="http://schemas.openxmlformats.org/drawingml/2006/main" noGrp="1"/>
          </p:cNvSpPr>
          <p:nvPr/>
        </p:nvSpPr>
        <p:spPr>
          <a:xfrm xmlns:a="http://schemas.openxmlformats.org/drawingml/2006/main">
            <a:off x="1104900" y="2324100"/>
            <a:ext cx="741997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Jas in de kluis of aan de kapstok. Pak agenda, schrift, pen en rekenmachine.</a:t>
            </a:r>
          </a:p>
        </p:txBody>
      </p:sp>
      <p:sp>
        <p:nvSpPr>
          <p:cNvPr id="9" name="route-number-2">
            <a:extLst xmlns:a="http://schemas.openxmlformats.org/drawingml/2006/main">
              <a:ext uri="{FF2B5EF4-FFF2-40B4-BE49-F238E27FC236}">
                <a16:creationId xmlns:a16="http://schemas.microsoft.com/office/drawing/2014/main" id="{2589826B-0914-4477-858B-69C77D70EC76}"/>
              </a:ext>
            </a:extLst>
          </p:cNvPr>
          <p:cNvSpPr>
            <a:spLocks xmlns:a="http://schemas.openxmlformats.org/drawingml/2006/main" noGrp="1"/>
          </p:cNvSpPr>
          <p:nvPr/>
        </p:nvSpPr>
        <p:spPr>
          <a:xfrm xmlns:a="http://schemas.openxmlformats.org/drawingml/2006/main">
            <a:off x="571500" y="320040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2.</a:t>
            </a:r>
          </a:p>
        </p:txBody>
      </p:sp>
      <p:sp>
        <p:nvSpPr>
          <p:cNvPr id="10" name="route-2">
            <a:extLst xmlns:a="http://schemas.openxmlformats.org/drawingml/2006/main">
              <a:ext uri="{FF2B5EF4-FFF2-40B4-BE49-F238E27FC236}">
                <a16:creationId xmlns:a16="http://schemas.microsoft.com/office/drawing/2014/main" id="{55892546-41CC-4509-ADCE-899DE94D9CCA}"/>
              </a:ext>
            </a:extLst>
          </p:cNvPr>
          <p:cNvSpPr>
            <a:spLocks xmlns:a="http://schemas.openxmlformats.org/drawingml/2006/main" noGrp="1"/>
          </p:cNvSpPr>
          <p:nvPr/>
        </p:nvSpPr>
        <p:spPr>
          <a:xfrm xmlns:a="http://schemas.openxmlformats.org/drawingml/2006/main">
            <a:off x="1104900" y="320040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Maak de startopdracht.</a:t>
            </a:r>
          </a:p>
        </p:txBody>
      </p:sp>
      <p:sp>
        <p:nvSpPr>
          <p:cNvPr id="11" name="route-number-3">
            <a:extLst xmlns:a="http://schemas.openxmlformats.org/drawingml/2006/main">
              <a:ext uri="{FF2B5EF4-FFF2-40B4-BE49-F238E27FC236}">
                <a16:creationId xmlns:a16="http://schemas.microsoft.com/office/drawing/2014/main" id="{E44CF8EA-FBAE-402D-B92C-2463D224341E}"/>
              </a:ext>
            </a:extLst>
          </p:cNvPr>
          <p:cNvSpPr>
            <a:spLocks xmlns:a="http://schemas.openxmlformats.org/drawingml/2006/main" noGrp="1"/>
          </p:cNvSpPr>
          <p:nvPr/>
        </p:nvSpPr>
        <p:spPr>
          <a:xfrm xmlns:a="http://schemas.openxmlformats.org/drawingml/2006/main">
            <a:off x="571500" y="371475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3.</a:t>
            </a:r>
          </a:p>
        </p:txBody>
      </p:sp>
      <p:sp>
        <p:nvSpPr>
          <p:cNvPr id="12" name="route-3">
            <a:extLst xmlns:a="http://schemas.openxmlformats.org/drawingml/2006/main">
              <a:ext uri="{FF2B5EF4-FFF2-40B4-BE49-F238E27FC236}">
                <a16:creationId xmlns:a16="http://schemas.microsoft.com/office/drawing/2014/main" id="{6E0E32D6-ED7A-48FE-A700-6BA8844AF3F9}"/>
              </a:ext>
            </a:extLst>
          </p:cNvPr>
          <p:cNvSpPr>
            <a:spLocks xmlns:a="http://schemas.openxmlformats.org/drawingml/2006/main" noGrp="1"/>
          </p:cNvSpPr>
          <p:nvPr/>
        </p:nvSpPr>
        <p:spPr>
          <a:xfrm xmlns:a="http://schemas.openxmlformats.org/drawingml/2006/main">
            <a:off x="1104900" y="371475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Korte herhaling en aanpak.</a:t>
            </a:r>
          </a:p>
        </p:txBody>
      </p:sp>
      <p:sp>
        <p:nvSpPr>
          <p:cNvPr id="13" name="route-number-4">
            <a:extLst xmlns:a="http://schemas.openxmlformats.org/drawingml/2006/main">
              <a:ext uri="{FF2B5EF4-FFF2-40B4-BE49-F238E27FC236}">
                <a16:creationId xmlns:a16="http://schemas.microsoft.com/office/drawing/2014/main" id="{FA4D6843-E6A3-4A9A-ADB3-D5C703E91741}"/>
              </a:ext>
            </a:extLst>
          </p:cNvPr>
          <p:cNvSpPr>
            <a:spLocks xmlns:a="http://schemas.openxmlformats.org/drawingml/2006/main" noGrp="1"/>
          </p:cNvSpPr>
          <p:nvPr/>
        </p:nvSpPr>
        <p:spPr>
          <a:xfrm xmlns:a="http://schemas.openxmlformats.org/drawingml/2006/main">
            <a:off x="571500" y="4248150"/>
            <a:ext cx="45720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4.</a:t>
            </a:r>
          </a:p>
        </p:txBody>
      </p:sp>
      <p:sp>
        <p:nvSpPr>
          <p:cNvPr id="14" name="route-4">
            <a:extLst xmlns:a="http://schemas.openxmlformats.org/drawingml/2006/main">
              <a:ext uri="{FF2B5EF4-FFF2-40B4-BE49-F238E27FC236}">
                <a16:creationId xmlns:a16="http://schemas.microsoft.com/office/drawing/2014/main" id="{B236B009-E917-41D9-8143-E25DF38F0C3B}"/>
              </a:ext>
            </a:extLst>
          </p:cNvPr>
          <p:cNvSpPr>
            <a:spLocks xmlns:a="http://schemas.openxmlformats.org/drawingml/2006/main" noGrp="1"/>
          </p:cNvSpPr>
          <p:nvPr/>
        </p:nvSpPr>
        <p:spPr>
          <a:xfrm xmlns:a="http://schemas.openxmlformats.org/drawingml/2006/main">
            <a:off x="1104900" y="4248150"/>
            <a:ext cx="7419975"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Werk verder aan de gemengde opgaven, stel vragen en kijk je antwoorden na.</a:t>
            </a:r>
          </a:p>
        </p:txBody>
      </p:sp>
      <p:sp>
        <p:nvSpPr>
          <p:cNvPr id="15" name="route-number-5">
            <a:extLst xmlns:a="http://schemas.openxmlformats.org/drawingml/2006/main">
              <a:ext uri="{FF2B5EF4-FFF2-40B4-BE49-F238E27FC236}">
                <a16:creationId xmlns:a16="http://schemas.microsoft.com/office/drawing/2014/main" id="{1A5A3058-75E0-4385-8C0C-4B1AB47A5A9E}"/>
              </a:ext>
            </a:extLst>
          </p:cNvPr>
          <p:cNvSpPr>
            <a:spLocks xmlns:a="http://schemas.openxmlformats.org/drawingml/2006/main" noGrp="1"/>
          </p:cNvSpPr>
          <p:nvPr/>
        </p:nvSpPr>
        <p:spPr>
          <a:xfrm xmlns:a="http://schemas.openxmlformats.org/drawingml/2006/main">
            <a:off x="571500" y="6057900"/>
            <a:ext cx="4572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5.</a:t>
            </a:r>
          </a:p>
        </p:txBody>
      </p:sp>
      <p:sp>
        <p:nvSpPr>
          <p:cNvPr id="16" name="route-5">
            <a:extLst xmlns:a="http://schemas.openxmlformats.org/drawingml/2006/main">
              <a:ext uri="{FF2B5EF4-FFF2-40B4-BE49-F238E27FC236}">
                <a16:creationId xmlns:a16="http://schemas.microsoft.com/office/drawing/2014/main" id="{8B8409B0-2FFB-414B-B7A7-C319F3D38C2B}"/>
              </a:ext>
            </a:extLst>
          </p:cNvPr>
          <p:cNvSpPr>
            <a:spLocks xmlns:a="http://schemas.openxmlformats.org/drawingml/2006/main" noGrp="1"/>
          </p:cNvSpPr>
          <p:nvPr/>
        </p:nvSpPr>
        <p:spPr>
          <a:xfrm xmlns:a="http://schemas.openxmlformats.org/drawingml/2006/main">
            <a:off x="1104900" y="6057900"/>
            <a:ext cx="741997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Klaar? Werk aan een ander vak. Geen devices.</a:t>
            </a:r>
          </a:p>
        </p:txBody>
      </p:sp>
      <p:sp>
        <p:nvSpPr>
          <p:cNvPr id="17" name="route-number-6">
            <a:extLst xmlns:a="http://schemas.openxmlformats.org/drawingml/2006/main">
              <a:ext uri="{FF2B5EF4-FFF2-40B4-BE49-F238E27FC236}">
                <a16:creationId xmlns:a16="http://schemas.microsoft.com/office/drawing/2014/main" id="{9C68D6F6-5DD5-4EA7-AD98-C48CC7EDDFDC}"/>
              </a:ext>
            </a:extLst>
          </p:cNvPr>
          <p:cNvSpPr>
            <a:spLocks xmlns:a="http://schemas.openxmlformats.org/drawingml/2006/main" noGrp="1"/>
          </p:cNvSpPr>
          <p:nvPr/>
        </p:nvSpPr>
        <p:spPr>
          <a:xfrm xmlns:a="http://schemas.openxmlformats.org/drawingml/2006/main">
            <a:off x="571500" y="6819900"/>
            <a:ext cx="4572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6.</a:t>
            </a:r>
          </a:p>
        </p:txBody>
      </p:sp>
      <p:sp>
        <p:nvSpPr>
          <p:cNvPr id="18" name="route-6">
            <a:extLst xmlns:a="http://schemas.openxmlformats.org/drawingml/2006/main">
              <a:ext uri="{FF2B5EF4-FFF2-40B4-BE49-F238E27FC236}">
                <a16:creationId xmlns:a16="http://schemas.microsoft.com/office/drawing/2014/main" id="{772D52B8-875C-411F-A24E-B9C5B2DECA52}"/>
              </a:ext>
            </a:extLst>
          </p:cNvPr>
          <p:cNvSpPr>
            <a:spLocks xmlns:a="http://schemas.openxmlformats.org/drawingml/2006/main" noGrp="1"/>
          </p:cNvSpPr>
          <p:nvPr/>
        </p:nvSpPr>
        <p:spPr>
          <a:xfrm xmlns:a="http://schemas.openxmlformats.org/drawingml/2006/main">
            <a:off x="1104900" y="6819900"/>
            <a:ext cx="74199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Bespreken van de doelopgave: opgave 5.</a:t>
            </a:r>
          </a:p>
        </p:txBody>
      </p:sp>
      <p:sp>
        <p:nvSpPr>
          <p:cNvPr id="19" name="route-number-7">
            <a:extLst xmlns:a="http://schemas.openxmlformats.org/drawingml/2006/main">
              <a:ext uri="{FF2B5EF4-FFF2-40B4-BE49-F238E27FC236}">
                <a16:creationId xmlns:a16="http://schemas.microsoft.com/office/drawing/2014/main" id="{9E345E33-9555-406E-9275-0AFE32312257}"/>
              </a:ext>
            </a:extLst>
          </p:cNvPr>
          <p:cNvSpPr>
            <a:spLocks xmlns:a="http://schemas.openxmlformats.org/drawingml/2006/main" noGrp="1"/>
          </p:cNvSpPr>
          <p:nvPr/>
        </p:nvSpPr>
        <p:spPr>
          <a:xfrm xmlns:a="http://schemas.openxmlformats.org/drawingml/2006/main">
            <a:off x="571500" y="7372350"/>
            <a:ext cx="457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7.</a:t>
            </a:r>
          </a:p>
        </p:txBody>
      </p:sp>
      <p:sp>
        <p:nvSpPr>
          <p:cNvPr id="20" name="route-7">
            <a:extLst xmlns:a="http://schemas.openxmlformats.org/drawingml/2006/main">
              <a:ext uri="{FF2B5EF4-FFF2-40B4-BE49-F238E27FC236}">
                <a16:creationId xmlns:a16="http://schemas.microsoft.com/office/drawing/2014/main" id="{E7347526-452F-4F51-8418-3615ECFE0C0F}"/>
              </a:ext>
            </a:extLst>
          </p:cNvPr>
          <p:cNvSpPr>
            <a:spLocks xmlns:a="http://schemas.openxmlformats.org/drawingml/2006/main" noGrp="1"/>
          </p:cNvSpPr>
          <p:nvPr/>
        </p:nvSpPr>
        <p:spPr>
          <a:xfrm xmlns:a="http://schemas.openxmlformats.org/drawingml/2006/main">
            <a:off x="1104900" y="7372350"/>
            <a:ext cx="74199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Zet je huiswerk in je agenda.</a:t>
            </a:r>
          </a:p>
        </p:txBody>
      </p:sp>
      <p:sp>
        <p:nvSpPr>
          <p:cNvPr id="21" name="Lesdoelen">
            <a:extLst xmlns:a="http://schemas.openxmlformats.org/drawingml/2006/main">
              <a:ext uri="{FF2B5EF4-FFF2-40B4-BE49-F238E27FC236}">
                <a16:creationId xmlns:a16="http://schemas.microsoft.com/office/drawing/2014/main" id="{269368DD-F3D9-4740-8819-725345CC14CB}"/>
              </a:ext>
            </a:extLst>
          </p:cNvPr>
          <p:cNvSpPr>
            <a:spLocks xmlns:a="http://schemas.openxmlformats.org/drawingml/2006/main" noGrp="1"/>
          </p:cNvSpPr>
          <p:nvPr/>
        </p:nvSpPr>
        <p:spPr>
          <a:xfrm xmlns:a="http://schemas.openxmlformats.org/drawingml/2006/main">
            <a:off x="9258300" y="176212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Lesdoelen</a:t>
            </a:r>
          </a:p>
        </p:txBody>
      </p:sp>
      <p:sp>
        <p:nvSpPr>
          <p:cNvPr id="22" name="overview-goals">
            <a:extLst xmlns:a="http://schemas.openxmlformats.org/drawingml/2006/main">
              <a:ext uri="{FF2B5EF4-FFF2-40B4-BE49-F238E27FC236}">
                <a16:creationId xmlns:a16="http://schemas.microsoft.com/office/drawing/2014/main" id="{21794FAA-74F5-484F-8581-ADE6B6CFB3C0}"/>
              </a:ext>
            </a:extLst>
          </p:cNvPr>
          <p:cNvSpPr>
            <a:spLocks xmlns:a="http://schemas.openxmlformats.org/drawingml/2006/main" noGrp="1"/>
          </p:cNvSpPr>
          <p:nvPr/>
        </p:nvSpPr>
        <p:spPr>
          <a:xfrm xmlns:a="http://schemas.openxmlformats.org/drawingml/2006/main">
            <a:off x="9258300" y="2324100"/>
            <a:ext cx="5381625"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Gegevens kiezen en combineren.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Tabel en grafiek verbinden.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Een uitspraak onderbouwen.</a:t>
            </a:r>
          </a:p>
        </p:txBody>
      </p:sp>
      <p:sp>
        <p:nvSpPr>
          <p:cNvPr id="23" name="">
            <a:extLst xmlns:a="http://schemas.openxmlformats.org/drawingml/2006/main">
              <a:ext uri="{FF2B5EF4-FFF2-40B4-BE49-F238E27FC236}">
                <a16:creationId xmlns:a16="http://schemas.microsoft.com/office/drawing/2014/main" id="{1278FFB4-FFFA-4F18-B0B7-12F6EC7FEE22}"/>
              </a:ext>
            </a:extLst>
          </p:cNvPr>
          <p:cNvSpPr>
            <a:spLocks xmlns:a="http://schemas.openxmlformats.org/drawingml/2006/main" noGrp="1"/>
          </p:cNvSpPr>
          <p:nvPr/>
        </p:nvSpPr>
        <p:spPr>
          <a:xfrm xmlns:a="http://schemas.openxmlformats.org/drawingml/2006/main">
            <a:off x="9258300" y="3562350"/>
            <a:ext cx="5410200" cy="0"/>
          </a:xfrm>
          <a:prstGeom xmlns:a="http://schemas.openxmlformats.org/drawingml/2006/main" prst="line">
            <a:avLst/>
          </a:prstGeom>
          <a:ln xmlns:a="http://schemas.openxmlformats.org/drawingml/2006/main" w="19050">
            <a:solidFill>
              <a:srgbClr val="C6D2DB"/>
            </a:solidFill>
          </a:ln>
        </p:spPr>
      </p:sp>
      <p:sp>
        <p:nvSpPr>
          <p:cNvPr id="24" name="Startopdracht">
            <a:extLst xmlns:a="http://schemas.openxmlformats.org/drawingml/2006/main">
              <a:ext uri="{FF2B5EF4-FFF2-40B4-BE49-F238E27FC236}">
                <a16:creationId xmlns:a16="http://schemas.microsoft.com/office/drawing/2014/main" id="{185D8102-63C1-4EB3-879F-AA823F50DC26}"/>
              </a:ext>
            </a:extLst>
          </p:cNvPr>
          <p:cNvSpPr>
            <a:spLocks xmlns:a="http://schemas.openxmlformats.org/drawingml/2006/main" noGrp="1"/>
          </p:cNvSpPr>
          <p:nvPr/>
        </p:nvSpPr>
        <p:spPr>
          <a:xfrm xmlns:a="http://schemas.openxmlformats.org/drawingml/2006/main">
            <a:off x="9258300" y="383857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Startopdracht</a:t>
            </a:r>
          </a:p>
        </p:txBody>
      </p:sp>
      <p:sp>
        <p:nvSpPr>
          <p:cNvPr id="25" name="overview-start">
            <a:extLst xmlns:a="http://schemas.openxmlformats.org/drawingml/2006/main">
              <a:ext uri="{FF2B5EF4-FFF2-40B4-BE49-F238E27FC236}">
                <a16:creationId xmlns:a16="http://schemas.microsoft.com/office/drawing/2014/main" id="{A81374DB-3BC5-48AC-B404-A2494D34AAC5}"/>
              </a:ext>
            </a:extLst>
          </p:cNvPr>
          <p:cNvSpPr>
            <a:spLocks xmlns:a="http://schemas.openxmlformats.org/drawingml/2006/main" noGrp="1"/>
          </p:cNvSpPr>
          <p:nvPr/>
        </p:nvSpPr>
        <p:spPr>
          <a:xfrm xmlns:a="http://schemas.openxmlformats.org/drawingml/2006/main">
            <a:off x="9258300" y="4371975"/>
            <a:ext cx="53816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Pagina 29</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Opgave 1</a:t>
            </a:r>
          </a:p>
        </p:txBody>
      </p:sp>
      <p:sp>
        <p:nvSpPr>
          <p:cNvPr id="26" name="">
            <a:extLst xmlns:a="http://schemas.openxmlformats.org/drawingml/2006/main">
              <a:ext uri="{FF2B5EF4-FFF2-40B4-BE49-F238E27FC236}">
                <a16:creationId xmlns:a16="http://schemas.microsoft.com/office/drawing/2014/main" id="{231E2732-9408-4930-A660-B10FCBE1DCEF}"/>
              </a:ext>
            </a:extLst>
          </p:cNvPr>
          <p:cNvSpPr>
            <a:spLocks xmlns:a="http://schemas.openxmlformats.org/drawingml/2006/main" noGrp="1"/>
          </p:cNvSpPr>
          <p:nvPr/>
        </p:nvSpPr>
        <p:spPr>
          <a:xfrm xmlns:a="http://schemas.openxmlformats.org/drawingml/2006/main">
            <a:off x="9258300" y="5429250"/>
            <a:ext cx="5410200" cy="0"/>
          </a:xfrm>
          <a:prstGeom xmlns:a="http://schemas.openxmlformats.org/drawingml/2006/main" prst="line">
            <a:avLst/>
          </a:prstGeom>
          <a:ln xmlns:a="http://schemas.openxmlformats.org/drawingml/2006/main" w="19050">
            <a:solidFill>
              <a:srgbClr val="C6D2DB"/>
            </a:solidFill>
          </a:ln>
        </p:spPr>
      </p:sp>
      <p:sp>
        <p:nvSpPr>
          <p:cNvPr id="27" name="Huiswerk">
            <a:extLst xmlns:a="http://schemas.openxmlformats.org/drawingml/2006/main">
              <a:ext uri="{FF2B5EF4-FFF2-40B4-BE49-F238E27FC236}">
                <a16:creationId xmlns:a16="http://schemas.microsoft.com/office/drawing/2014/main" id="{BD6FA132-3995-4DD2-85DB-037DDB7B2D04}"/>
              </a:ext>
            </a:extLst>
          </p:cNvPr>
          <p:cNvSpPr>
            <a:spLocks xmlns:a="http://schemas.openxmlformats.org/drawingml/2006/main" noGrp="1"/>
          </p:cNvSpPr>
          <p:nvPr/>
        </p:nvSpPr>
        <p:spPr>
          <a:xfrm xmlns:a="http://schemas.openxmlformats.org/drawingml/2006/main">
            <a:off x="9258300" y="562927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Huiswerk</a:t>
            </a:r>
          </a:p>
        </p:txBody>
      </p:sp>
      <p:sp>
        <p:nvSpPr>
          <p:cNvPr id="28" name="overview-homework">
            <a:extLst xmlns:a="http://schemas.openxmlformats.org/drawingml/2006/main">
              <a:ext uri="{FF2B5EF4-FFF2-40B4-BE49-F238E27FC236}">
                <a16:creationId xmlns:a16="http://schemas.microsoft.com/office/drawing/2014/main" id="{5AA8D026-290E-45E4-8700-52C02209475E}"/>
              </a:ext>
            </a:extLst>
          </p:cNvPr>
          <p:cNvSpPr>
            <a:spLocks xmlns:a="http://schemas.openxmlformats.org/drawingml/2006/main" noGrp="1"/>
          </p:cNvSpPr>
          <p:nvPr/>
        </p:nvSpPr>
        <p:spPr>
          <a:xfrm xmlns:a="http://schemas.openxmlformats.org/drawingml/2006/main">
            <a:off x="9258300" y="6191250"/>
            <a:ext cx="5381625" cy="1752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§2.1.4 · Opgaven 1–7</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Gemengd: 1–4 · Doel: 5</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Bonus / denkertje: 6</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Herhaling: 7</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Maken en nakijken</a:t>
            </a:r>
          </a:p>
        </p:txBody>
      </p:sp>
    </p:spTree>
    <p:extLst>
      <p:ext uri="{BB962C8B-B14F-4D97-AF65-F5344CB8AC3E}">
        <p14:creationId xmlns:p14="http://schemas.microsoft.com/office/powerpoint/2010/main" val="849523286"/>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Opgave 5 · SmoothBox">
            <a:extLst xmlns:a="http://schemas.openxmlformats.org/drawingml/2006/main">
              <a:ext uri="{FF2B5EF4-FFF2-40B4-BE49-F238E27FC236}">
                <a16:creationId xmlns:a16="http://schemas.microsoft.com/office/drawing/2014/main" id="{F5EAC701-F168-46CD-8234-5D289C529D02}"/>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5 · SmoothBox</a:t>
            </a:r>
          </a:p>
        </p:txBody>
      </p:sp>
      <p:sp>
        <p:nvSpPr>
          <p:cNvPr id="2" name="">
            <a:extLst xmlns:a="http://schemas.openxmlformats.org/drawingml/2006/main">
              <a:ext uri="{FF2B5EF4-FFF2-40B4-BE49-F238E27FC236}">
                <a16:creationId xmlns:a16="http://schemas.microsoft.com/office/drawing/2014/main" id="{F84119AA-BEF1-4709-9021-9BBD98D493FD}"/>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4 Gemengde opgaven · Opgave 5 · Boekpagina 32–33">
            <a:extLst xmlns:a="http://schemas.openxmlformats.org/drawingml/2006/main">
              <a:ext uri="{FF2B5EF4-FFF2-40B4-BE49-F238E27FC236}">
                <a16:creationId xmlns:a16="http://schemas.microsoft.com/office/drawing/2014/main" id="{74E5307D-FD7F-49E1-AC15-5699C788B501}"/>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§2.1.4 Gemengde opgaven · Opgave 5 · Boekpagina 32–33</a:t>
            </a:r>
          </a:p>
        </p:txBody>
      </p:sp>
      <p:sp>
        <p:nvSpPr>
          <p:cNvPr id="4" name="slide-number">
            <a:extLst xmlns:a="http://schemas.openxmlformats.org/drawingml/2006/main">
              <a:ext uri="{FF2B5EF4-FFF2-40B4-BE49-F238E27FC236}">
                <a16:creationId xmlns:a16="http://schemas.microsoft.com/office/drawing/2014/main" id="{9F287EE4-E769-42F9-B0CE-7AFDEFE16547}"/>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9</a:t>
            </a:r>
          </a:p>
        </p:txBody>
      </p:sp>
      <p:sp>
        <p:nvSpPr>
          <p:cNvPr id="5" name="Twee festivaldagen · Maximaal 1.000 lunchboxen per dag">
            <a:extLst xmlns:a="http://schemas.openxmlformats.org/drawingml/2006/main">
              <a:ext uri="{FF2B5EF4-FFF2-40B4-BE49-F238E27FC236}">
                <a16:creationId xmlns:a16="http://schemas.microsoft.com/office/drawing/2014/main" id="{681EC735-5650-463C-82C8-A8DBB0868E15}"/>
              </a:ext>
            </a:extLst>
          </p:cNvPr>
          <p:cNvSpPr>
            <a:spLocks xmlns:a="http://schemas.openxmlformats.org/drawingml/2006/main" noGrp="1"/>
          </p:cNvSpPr>
          <p:nvPr/>
        </p:nvSpPr>
        <p:spPr>
          <a:xfrm xmlns:a="http://schemas.openxmlformats.org/drawingml/2006/main">
            <a:off x="571500" y="1781175"/>
            <a:ext cx="140970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Twee festivaldagen · Maximaal 1.000 lunchboxen per dag</a:t>
            </a:r>
          </a:p>
        </p:txBody>
      </p:sp>
      <p:sp>
        <p:nvSpPr>
          <p:cNvPr id="6" name="Alle gemaakte lunchboxen worden voor € 5 per stuk verkocht. ">
            <a:extLst xmlns:a="http://schemas.openxmlformats.org/drawingml/2006/main">
              <a:ext uri="{FF2B5EF4-FFF2-40B4-BE49-F238E27FC236}">
                <a16:creationId xmlns:a16="http://schemas.microsoft.com/office/drawing/2014/main" id="{CC64EB83-091C-4A7A-9437-55CF850CAE64}"/>
              </a:ext>
            </a:extLst>
          </p:cNvPr>
          <p:cNvSpPr>
            <a:spLocks xmlns:a="http://schemas.openxmlformats.org/drawingml/2006/main" noGrp="1"/>
          </p:cNvSpPr>
          <p:nvPr/>
        </p:nvSpPr>
        <p:spPr>
          <a:xfrm xmlns:a="http://schemas.openxmlformats.org/drawingml/2006/main">
            <a:off x="571500" y="2828925"/>
            <a:ext cx="140970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0">
                <a:solidFill>
                  <a:srgbClr val="183247"/>
                </a:solidFill>
                <a:latin typeface="Arial"/>
                <a:ea typeface="Arial"/>
                <a:cs typeface="Arial"/>
              </a:defRPr>
            </a:pPr>
            <a:r>
              <a:rPr sz="2775" b="0">
                <a:solidFill>
                  <a:srgbClr val="183247"/>
                </a:solidFill>
                <a:latin typeface="Arial"/>
                <a:ea typeface="Arial"/>
                <a:cs typeface="Arial"/>
              </a:rPr>
              <a:t>Alle gemaakte lunchboxen worden voor € 5 per stuk verkocht. Gebruik bij elke vraag het juiste dagmenu.</a:t>
            </a:r>
          </a:p>
        </p:txBody>
      </p:sp>
      <p:sp>
        <p:nvSpPr>
          <p:cNvPr id="7" name="Bron A · Vrijdag: het gewone menu">
            <a:extLst xmlns:a="http://schemas.openxmlformats.org/drawingml/2006/main">
              <a:ext uri="{FF2B5EF4-FFF2-40B4-BE49-F238E27FC236}">
                <a16:creationId xmlns:a16="http://schemas.microsoft.com/office/drawing/2014/main" id="{F471F391-BAB7-4A4F-A4EC-072707054173}"/>
              </a:ext>
            </a:extLst>
          </p:cNvPr>
          <p:cNvSpPr>
            <a:spLocks xmlns:a="http://schemas.openxmlformats.org/drawingml/2006/main" noGrp="1"/>
          </p:cNvSpPr>
          <p:nvPr/>
        </p:nvSpPr>
        <p:spPr>
          <a:xfrm xmlns:a="http://schemas.openxmlformats.org/drawingml/2006/main">
            <a:off x="571500" y="4286250"/>
            <a:ext cx="14097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1">
                <a:solidFill>
                  <a:srgbClr val="183247"/>
                </a:solidFill>
                <a:latin typeface="Arial"/>
                <a:ea typeface="Arial"/>
                <a:cs typeface="Arial"/>
              </a:defRPr>
            </a:pPr>
            <a:r>
              <a:rPr sz="3075" b="1">
                <a:solidFill>
                  <a:srgbClr val="183247"/>
                </a:solidFill>
                <a:latin typeface="Arial"/>
                <a:ea typeface="Arial"/>
                <a:cs typeface="Arial"/>
              </a:rPr>
              <a:t>Bron A · Vrijdag: het gewone menu</a:t>
            </a:r>
          </a:p>
        </p:txBody>
      </p:sp>
      <p:graphicFrame>
        <p:nvGraphicFramePr>
          <p:cNvPr id="16" name=""/>
          <p:cNvGraphicFramePr/>
          <p:nvPr/>
        </p:nvGraphicFramePr>
        <p:xfrm>
          <a:off xmlns:a="http://schemas.openxmlformats.org/drawingml/2006/main" x="571500" y="5181600"/>
          <a:ext xmlns:a="http://schemas.openxmlformats.org/drawingml/2006/main" cx="14097000" cy="2438400"/>
        </p:xfrm>
        <a:graphic xmlns:a="http://schemas.openxmlformats.org/drawingml/2006/main">
          <a:graphicData uri="http://schemas.openxmlformats.org/drawingml/2006/table">
            <a:tbl>
              <a:tblPr/>
              <a:tblGrid>
                <a:gridCol w="8953500"/>
                <a:gridCol w="5143500"/>
              </a:tblGrid>
              <a:tr h="609600">
                <a:tc>
                  <a:txBody>
                    <a:bodyPr lIns="171450" tIns="95250" rIns="152400" bIns="95250"/>
                    <a:lstStyle/>
                    <a:p>
                      <a:r>
                        <a:rPr sz="2400" b="1">
                          <a:solidFill>
                            <a:srgbClr val="FFFFFF"/>
                          </a:solidFill>
                          <a:latin typeface="Arial"/>
                          <a:ea typeface="Arial"/>
                          <a:cs typeface="Arial"/>
                        </a:rPr>
                        <a:t>Gegeven</a:t>
                      </a:r>
                    </a:p>
                  </a:txBody>
                  <a:tcPr marL="91440" marR="91440" marT="45720" marB="45720" anchor="ctr">
                    <a:solidFill>
                      <a:srgbClr val="183247"/>
                    </a:solidFill>
                  </a:tcPr>
                </a:tc>
                <a:tc>
                  <a:txBody>
                    <a:bodyPr lIns="171450" tIns="95250" rIns="152400" bIns="95250"/>
                    <a:lstStyle/>
                    <a:p>
                      <a:r>
                        <a:rPr sz="2400" b="1">
                          <a:solidFill>
                            <a:srgbClr val="FFFFFF"/>
                          </a:solidFill>
                          <a:latin typeface="Arial"/>
                          <a:ea typeface="Arial"/>
                          <a:cs typeface="Arial"/>
                        </a:rPr>
                        <a:t>Vrijdag</a:t>
                      </a:r>
                    </a:p>
                  </a:txBody>
                  <a:tcPr marL="91440" marR="91440" marT="45720" marB="45720" anchor="ctr">
                    <a:solidFill>
                      <a:srgbClr val="183247"/>
                    </a:solidFill>
                  </a:tcPr>
                </a:tc>
              </a:tr>
              <a:tr h="609600">
                <a:tc>
                  <a:txBody>
                    <a:bodyPr lIns="171450" tIns="95250" rIns="152400" bIns="95250"/>
                    <a:lstStyle/>
                    <a:p>
                      <a:r>
                        <a:rPr sz="2400" b="0">
                          <a:solidFill>
                            <a:srgbClr val="183247"/>
                          </a:solidFill>
                          <a:latin typeface="Arial"/>
                          <a:ea typeface="Arial"/>
                          <a:cs typeface="Arial"/>
                        </a:rPr>
                        <a:t>Totale constante kosten</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€ 1.200 per dag</a:t>
                      </a:r>
                    </a:p>
                  </a:txBody>
                  <a:tcPr marL="91440" marR="91440" marT="45720" marB="45720" anchor="ctr">
                    <a:solidFill>
                      <a:srgbClr val="FFFFFF"/>
                    </a:solidFill>
                  </a:tcPr>
                </a:tc>
              </a:tr>
              <a:tr h="609600">
                <a:tc>
                  <a:txBody>
                    <a:bodyPr lIns="171450" tIns="95250" rIns="152400" bIns="95250"/>
                    <a:lstStyle/>
                    <a:p>
                      <a:r>
                        <a:rPr sz="2400" b="0">
                          <a:solidFill>
                            <a:srgbClr val="183247"/>
                          </a:solidFill>
                          <a:latin typeface="Arial"/>
                          <a:ea typeface="Arial"/>
                          <a:cs typeface="Arial"/>
                        </a:rPr>
                        <a:t>Variabele kosten</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€ 2 per lunchbox</a:t>
                      </a:r>
                    </a:p>
                  </a:txBody>
                  <a:tcPr marL="91440" marR="91440" marT="45720" marB="45720" anchor="ctr">
                    <a:solidFill>
                      <a:srgbClr val="EFF4F7"/>
                    </a:solidFill>
                  </a:tcPr>
                </a:tc>
              </a:tr>
              <a:tr h="609600">
                <a:tc>
                  <a:txBody>
                    <a:bodyPr lIns="171450" tIns="95250" rIns="152400" bIns="95250"/>
                    <a:lstStyle/>
                    <a:p>
                      <a:r>
                        <a:rPr sz="2400" b="0">
                          <a:solidFill>
                            <a:srgbClr val="183247"/>
                          </a:solidFill>
                          <a:latin typeface="Arial"/>
                          <a:ea typeface="Arial"/>
                          <a:cs typeface="Arial"/>
                        </a:rPr>
                        <a:t>Verwachte festivalbezoekers</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4.000</a:t>
                      </a:r>
                    </a:p>
                  </a:txBody>
                  <a:tcPr marL="91440" marR="91440" marT="45720" marB="45720" anchor="ctr">
                    <a:solidFill>
                      <a:srgbClr val="FFFFFF"/>
                    </a:solidFill>
                  </a:tcPr>
                </a:tc>
              </a:tr>
            </a:tbl>
          </a:graphicData>
        </a:graphic>
      </p:graphicFrame>
    </p:spTree>
    <p:extLst>
      <p:ext uri="{BB962C8B-B14F-4D97-AF65-F5344CB8AC3E}">
        <p14:creationId xmlns:p14="http://schemas.microsoft.com/office/powerpoint/2010/main" val="1245276223"/>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Opgave 5 · Bron B: zaterdag">
            <a:extLst xmlns:a="http://schemas.openxmlformats.org/drawingml/2006/main">
              <a:ext uri="{FF2B5EF4-FFF2-40B4-BE49-F238E27FC236}">
                <a16:creationId xmlns:a16="http://schemas.microsoft.com/office/drawing/2014/main" id="{2609EAAE-57F2-4573-987B-3F7388FA8A99}"/>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5 · Bron B: zaterdag</a:t>
            </a:r>
          </a:p>
        </p:txBody>
      </p:sp>
      <p:sp>
        <p:nvSpPr>
          <p:cNvPr id="2" name="">
            <a:extLst xmlns:a="http://schemas.openxmlformats.org/drawingml/2006/main">
              <a:ext uri="{FF2B5EF4-FFF2-40B4-BE49-F238E27FC236}">
                <a16:creationId xmlns:a16="http://schemas.microsoft.com/office/drawing/2014/main" id="{598E4208-3445-450E-80A1-037B9DE17367}"/>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4 Gemengde opgaven · Opgave 5 · Boekpagina 32–33">
            <a:extLst xmlns:a="http://schemas.openxmlformats.org/drawingml/2006/main">
              <a:ext uri="{FF2B5EF4-FFF2-40B4-BE49-F238E27FC236}">
                <a16:creationId xmlns:a16="http://schemas.microsoft.com/office/drawing/2014/main" id="{3B043C7F-081F-49B2-BDF6-852F20D8B377}"/>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§2.1.4 Gemengde opgaven · Opgave 5 · Boekpagina 32–33</a:t>
            </a:r>
          </a:p>
        </p:txBody>
      </p:sp>
      <p:sp>
        <p:nvSpPr>
          <p:cNvPr id="4" name="slide-number">
            <a:extLst xmlns:a="http://schemas.openxmlformats.org/drawingml/2006/main">
              <a:ext uri="{FF2B5EF4-FFF2-40B4-BE49-F238E27FC236}">
                <a16:creationId xmlns:a16="http://schemas.microsoft.com/office/drawing/2014/main" id="{B245A0C5-B8FE-467A-BF39-F4A88B138F00}"/>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10</a:t>
            </a:r>
          </a:p>
        </p:txBody>
      </p:sp>
      <p:sp>
        <p:nvSpPr>
          <p:cNvPr id="5" name="Een ander menu · Constante kosten: € 1.200 per dag">
            <a:extLst xmlns:a="http://schemas.openxmlformats.org/drawingml/2006/main">
              <a:ext uri="{FF2B5EF4-FFF2-40B4-BE49-F238E27FC236}">
                <a16:creationId xmlns:a16="http://schemas.microsoft.com/office/drawing/2014/main" id="{CD9C098A-86C9-4982-8537-FBD0BB0DC21A}"/>
              </a:ext>
            </a:extLst>
          </p:cNvPr>
          <p:cNvSpPr>
            <a:spLocks xmlns:a="http://schemas.openxmlformats.org/drawingml/2006/main" noGrp="1"/>
          </p:cNvSpPr>
          <p:nvPr/>
        </p:nvSpPr>
        <p:spPr>
          <a:xfrm xmlns:a="http://schemas.openxmlformats.org/drawingml/2006/main">
            <a:off x="571500" y="1790700"/>
            <a:ext cx="1409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20665B"/>
                </a:solidFill>
                <a:latin typeface="Arial"/>
                <a:ea typeface="Arial"/>
                <a:cs typeface="Arial"/>
              </a:defRPr>
            </a:pPr>
            <a:r>
              <a:rPr sz="2775" b="1">
                <a:solidFill>
                  <a:srgbClr val="20665B"/>
                </a:solidFill>
                <a:latin typeface="Arial"/>
                <a:ea typeface="Arial"/>
                <a:cs typeface="Arial"/>
              </a:rPr>
              <a:t>Een ander menu · Constante kosten: € 1.200 per dag</a:t>
            </a:r>
          </a:p>
        </p:txBody>
      </p:sp>
      <p:sp>
        <p:nvSpPr>
          <p:cNvPr id="6" name="Meer productie vraagt steeds meer betaald werk per extra lun">
            <a:extLst xmlns:a="http://schemas.openxmlformats.org/drawingml/2006/main">
              <a:ext uri="{FF2B5EF4-FFF2-40B4-BE49-F238E27FC236}">
                <a16:creationId xmlns:a16="http://schemas.microsoft.com/office/drawing/2014/main" id="{A82C85D6-EE82-44D2-ACAF-A9A12BC63359}"/>
              </a:ext>
            </a:extLst>
          </p:cNvPr>
          <p:cNvSpPr>
            <a:spLocks xmlns:a="http://schemas.openxmlformats.org/drawingml/2006/main" noGrp="1"/>
          </p:cNvSpPr>
          <p:nvPr/>
        </p:nvSpPr>
        <p:spPr>
          <a:xfrm xmlns:a="http://schemas.openxmlformats.org/drawingml/2006/main">
            <a:off x="571500" y="2628900"/>
            <a:ext cx="14097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0">
                <a:solidFill>
                  <a:srgbClr val="183247"/>
                </a:solidFill>
                <a:latin typeface="Arial"/>
                <a:ea typeface="Arial"/>
                <a:cs typeface="Arial"/>
              </a:defRPr>
            </a:pPr>
            <a:r>
              <a:rPr sz="2625" b="0">
                <a:solidFill>
                  <a:srgbClr val="183247"/>
                </a:solidFill>
                <a:latin typeface="Arial"/>
                <a:ea typeface="Arial"/>
                <a:cs typeface="Arial"/>
              </a:rPr>
              <a:t>Meer productie vraagt steeds meer betaald werk per extra lunchbox. De variabele kosten per lunchbox zijn niet steeds gelijk.</a:t>
            </a:r>
          </a:p>
        </p:txBody>
      </p:sp>
      <p:graphicFrame>
        <p:nvGraphicFramePr>
          <p:cNvPr id="15" name=""/>
          <p:cNvGraphicFramePr/>
          <p:nvPr/>
        </p:nvGraphicFramePr>
        <p:xfrm>
          <a:off xmlns:a="http://schemas.openxmlformats.org/drawingml/2006/main" x="571500" y="4010025"/>
          <a:ext xmlns:a="http://schemas.openxmlformats.org/drawingml/2006/main" cx="14097000" cy="3209925"/>
        </p:xfrm>
        <a:graphic xmlns:a="http://schemas.openxmlformats.org/drawingml/2006/main">
          <a:graphicData uri="http://schemas.openxmlformats.org/drawingml/2006/table">
            <a:tbl>
              <a:tblPr/>
              <a:tblGrid>
                <a:gridCol w="4762500"/>
                <a:gridCol w="4667250"/>
                <a:gridCol w="4667250"/>
              </a:tblGrid>
              <a:tr h="641985">
                <a:tc>
                  <a:txBody>
                    <a:bodyPr lIns="171450" tIns="95250" rIns="152400" bIns="95250"/>
                    <a:lstStyle/>
                    <a:p>
                      <a:r>
                        <a:rPr sz="2325" b="1">
                          <a:solidFill>
                            <a:srgbClr val="FFFFFF"/>
                          </a:solidFill>
                          <a:latin typeface="Arial"/>
                          <a:ea typeface="Arial"/>
                          <a:cs typeface="Arial"/>
                        </a:rPr>
                        <a:t>Q (lunchboxen per dag)</a:t>
                      </a:r>
                    </a:p>
                  </a:txBody>
                  <a:tcPr marL="91440" marR="91440" marT="45720" marB="45720" anchor="ctr">
                    <a:solidFill>
                      <a:srgbClr val="183247"/>
                    </a:solidFill>
                  </a:tcPr>
                </a:tc>
                <a:tc>
                  <a:txBody>
                    <a:bodyPr lIns="171450" tIns="95250" rIns="152400" bIns="95250"/>
                    <a:lstStyle/>
                    <a:p>
                      <a:r>
                        <a:rPr sz="2325" b="1">
                          <a:solidFill>
                            <a:srgbClr val="FFFFFF"/>
                          </a:solidFill>
                          <a:latin typeface="Arial"/>
                          <a:ea typeface="Arial"/>
                          <a:cs typeface="Arial"/>
                        </a:rPr>
                        <a:t>TK zaterdag (€ per dag)</a:t>
                      </a:r>
                    </a:p>
                  </a:txBody>
                  <a:tcPr marL="91440" marR="91440" marT="45720" marB="45720" anchor="ctr">
                    <a:solidFill>
                      <a:srgbClr val="183247"/>
                    </a:solidFill>
                  </a:tcPr>
                </a:tc>
                <a:tc>
                  <a:txBody>
                    <a:bodyPr lIns="171450" tIns="95250" rIns="152400" bIns="95250"/>
                    <a:lstStyle/>
                    <a:p>
                      <a:r>
                        <a:rPr sz="2325" b="1">
                          <a:solidFill>
                            <a:srgbClr val="FFFFFF"/>
                          </a:solidFill>
                          <a:latin typeface="Arial"/>
                          <a:ea typeface="Arial"/>
                          <a:cs typeface="Arial"/>
                        </a:rPr>
                        <a:t>TO zaterdag (€ per dag)</a:t>
                      </a:r>
                    </a:p>
                  </a:txBody>
                  <a:tcPr marL="91440" marR="91440" marT="45720" marB="45720" anchor="ctr">
                    <a:solidFill>
                      <a:srgbClr val="183247"/>
                    </a:solidFill>
                  </a:tcPr>
                </a:tc>
              </a:tr>
              <a:tr h="641985">
                <a:tc>
                  <a:txBody>
                    <a:bodyPr lIns="171450" tIns="95250" rIns="152400" bIns="95250"/>
                    <a:lstStyle/>
                    <a:p>
                      <a:r>
                        <a:rPr sz="2325" b="0">
                          <a:solidFill>
                            <a:srgbClr val="183247"/>
                          </a:solidFill>
                          <a:latin typeface="Arial"/>
                          <a:ea typeface="Arial"/>
                          <a:cs typeface="Arial"/>
                        </a:rPr>
                        <a:t>700</a:t>
                      </a:r>
                    </a:p>
                  </a:txBody>
                  <a:tcPr marL="91440" marR="91440" marT="45720" marB="45720" anchor="ctr">
                    <a:solidFill>
                      <a:srgbClr val="FFFFFF"/>
                    </a:solidFill>
                  </a:tcPr>
                </a:tc>
                <a:tc>
                  <a:txBody>
                    <a:bodyPr lIns="171450" tIns="95250" rIns="152400" bIns="95250"/>
                    <a:lstStyle/>
                    <a:p>
                      <a:r>
                        <a:rPr sz="2325" b="0">
                          <a:solidFill>
                            <a:srgbClr val="183247"/>
                          </a:solidFill>
                          <a:latin typeface="Arial"/>
                          <a:ea typeface="Arial"/>
                          <a:cs typeface="Arial"/>
                        </a:rPr>
                        <a:t>2.600</a:t>
                      </a:r>
                    </a:p>
                  </a:txBody>
                  <a:tcPr marL="91440" marR="91440" marT="45720" marB="45720" anchor="ctr">
                    <a:solidFill>
                      <a:srgbClr val="FFFFFF"/>
                    </a:solidFill>
                  </a:tcPr>
                </a:tc>
                <a:tc>
                  <a:txBody>
                    <a:bodyPr lIns="171450" tIns="95250" rIns="152400" bIns="95250"/>
                    <a:lstStyle/>
                    <a:p>
                      <a:r>
                        <a:rPr sz="2325" b="0">
                          <a:solidFill>
                            <a:srgbClr val="183247"/>
                          </a:solidFill>
                          <a:latin typeface="Arial"/>
                          <a:ea typeface="Arial"/>
                          <a:cs typeface="Arial"/>
                        </a:rPr>
                        <a:t>3.500</a:t>
                      </a:r>
                    </a:p>
                  </a:txBody>
                  <a:tcPr marL="91440" marR="91440" marT="45720" marB="45720" anchor="ctr">
                    <a:solidFill>
                      <a:srgbClr val="FFFFFF"/>
                    </a:solidFill>
                  </a:tcPr>
                </a:tc>
              </a:tr>
              <a:tr h="641985">
                <a:tc>
                  <a:txBody>
                    <a:bodyPr lIns="171450" tIns="95250" rIns="152400" bIns="95250"/>
                    <a:lstStyle/>
                    <a:p>
                      <a:r>
                        <a:rPr sz="2325" b="0">
                          <a:solidFill>
                            <a:srgbClr val="183247"/>
                          </a:solidFill>
                          <a:latin typeface="Arial"/>
                          <a:ea typeface="Arial"/>
                          <a:cs typeface="Arial"/>
                        </a:rPr>
                        <a:t>800</a:t>
                      </a:r>
                    </a:p>
                  </a:txBody>
                  <a:tcPr marL="91440" marR="91440" marT="45720" marB="45720" anchor="ctr">
                    <a:solidFill>
                      <a:srgbClr val="EFF4F7"/>
                    </a:solidFill>
                  </a:tcPr>
                </a:tc>
                <a:tc>
                  <a:txBody>
                    <a:bodyPr lIns="171450" tIns="95250" rIns="152400" bIns="95250"/>
                    <a:lstStyle/>
                    <a:p>
                      <a:r>
                        <a:rPr sz="2325" b="0">
                          <a:solidFill>
                            <a:srgbClr val="183247"/>
                          </a:solidFill>
                          <a:latin typeface="Arial"/>
                          <a:ea typeface="Arial"/>
                          <a:cs typeface="Arial"/>
                        </a:rPr>
                        <a:t>2.900</a:t>
                      </a:r>
                    </a:p>
                  </a:txBody>
                  <a:tcPr marL="91440" marR="91440" marT="45720" marB="45720" anchor="ctr">
                    <a:solidFill>
                      <a:srgbClr val="EFF4F7"/>
                    </a:solidFill>
                  </a:tcPr>
                </a:tc>
                <a:tc>
                  <a:txBody>
                    <a:bodyPr lIns="171450" tIns="95250" rIns="152400" bIns="95250"/>
                    <a:lstStyle/>
                    <a:p>
                      <a:r>
                        <a:rPr sz="2325" b="0">
                          <a:solidFill>
                            <a:srgbClr val="183247"/>
                          </a:solidFill>
                          <a:latin typeface="Arial"/>
                          <a:ea typeface="Arial"/>
                          <a:cs typeface="Arial"/>
                        </a:rPr>
                        <a:t>4.000</a:t>
                      </a:r>
                    </a:p>
                  </a:txBody>
                  <a:tcPr marL="91440" marR="91440" marT="45720" marB="45720" anchor="ctr">
                    <a:solidFill>
                      <a:srgbClr val="EFF4F7"/>
                    </a:solidFill>
                  </a:tcPr>
                </a:tc>
              </a:tr>
              <a:tr h="641985">
                <a:tc>
                  <a:txBody>
                    <a:bodyPr lIns="171450" tIns="95250" rIns="152400" bIns="95250"/>
                    <a:lstStyle/>
                    <a:p>
                      <a:r>
                        <a:rPr sz="2325" b="0">
                          <a:solidFill>
                            <a:srgbClr val="183247"/>
                          </a:solidFill>
                          <a:latin typeface="Arial"/>
                          <a:ea typeface="Arial"/>
                          <a:cs typeface="Arial"/>
                        </a:rPr>
                        <a:t>900</a:t>
                      </a:r>
                    </a:p>
                  </a:txBody>
                  <a:tcPr marL="91440" marR="91440" marT="45720" marB="45720" anchor="ctr">
                    <a:solidFill>
                      <a:srgbClr val="FFFFFF"/>
                    </a:solidFill>
                  </a:tcPr>
                </a:tc>
                <a:tc>
                  <a:txBody>
                    <a:bodyPr lIns="171450" tIns="95250" rIns="152400" bIns="95250"/>
                    <a:lstStyle/>
                    <a:p>
                      <a:r>
                        <a:rPr sz="2325" b="0">
                          <a:solidFill>
                            <a:srgbClr val="183247"/>
                          </a:solidFill>
                          <a:latin typeface="Arial"/>
                          <a:ea typeface="Arial"/>
                          <a:cs typeface="Arial"/>
                        </a:rPr>
                        <a:t>3.250</a:t>
                      </a:r>
                    </a:p>
                  </a:txBody>
                  <a:tcPr marL="91440" marR="91440" marT="45720" marB="45720" anchor="ctr">
                    <a:solidFill>
                      <a:srgbClr val="FFFFFF"/>
                    </a:solidFill>
                  </a:tcPr>
                </a:tc>
                <a:tc>
                  <a:txBody>
                    <a:bodyPr lIns="171450" tIns="95250" rIns="152400" bIns="95250"/>
                    <a:lstStyle/>
                    <a:p>
                      <a:r>
                        <a:rPr sz="2325" b="0">
                          <a:solidFill>
                            <a:srgbClr val="183247"/>
                          </a:solidFill>
                          <a:latin typeface="Arial"/>
                          <a:ea typeface="Arial"/>
                          <a:cs typeface="Arial"/>
                        </a:rPr>
                        <a:t>4.500</a:t>
                      </a:r>
                    </a:p>
                  </a:txBody>
                  <a:tcPr marL="91440" marR="91440" marT="45720" marB="45720" anchor="ctr">
                    <a:solidFill>
                      <a:srgbClr val="FFFFFF"/>
                    </a:solidFill>
                  </a:tcPr>
                </a:tc>
              </a:tr>
              <a:tr h="641985">
                <a:tc>
                  <a:txBody>
                    <a:bodyPr lIns="171450" tIns="95250" rIns="152400" bIns="95250"/>
                    <a:lstStyle/>
                    <a:p>
                      <a:r>
                        <a:rPr sz="2325" b="0">
                          <a:solidFill>
                            <a:srgbClr val="183247"/>
                          </a:solidFill>
                          <a:latin typeface="Arial"/>
                          <a:ea typeface="Arial"/>
                          <a:cs typeface="Arial"/>
                        </a:rPr>
                        <a:t>1.000</a:t>
                      </a:r>
                    </a:p>
                  </a:txBody>
                  <a:tcPr marL="91440" marR="91440" marT="45720" marB="45720" anchor="ctr">
                    <a:solidFill>
                      <a:srgbClr val="EFF4F7"/>
                    </a:solidFill>
                  </a:tcPr>
                </a:tc>
                <a:tc>
                  <a:txBody>
                    <a:bodyPr lIns="171450" tIns="95250" rIns="152400" bIns="95250"/>
                    <a:lstStyle/>
                    <a:p>
                      <a:r>
                        <a:rPr sz="2325" b="0">
                          <a:solidFill>
                            <a:srgbClr val="183247"/>
                          </a:solidFill>
                          <a:latin typeface="Arial"/>
                          <a:ea typeface="Arial"/>
                          <a:cs typeface="Arial"/>
                        </a:rPr>
                        <a:t>3.650</a:t>
                      </a:r>
                    </a:p>
                  </a:txBody>
                  <a:tcPr marL="91440" marR="91440" marT="45720" marB="45720" anchor="ctr">
                    <a:solidFill>
                      <a:srgbClr val="EFF4F7"/>
                    </a:solidFill>
                  </a:tcPr>
                </a:tc>
                <a:tc>
                  <a:txBody>
                    <a:bodyPr lIns="171450" tIns="95250" rIns="152400" bIns="95250"/>
                    <a:lstStyle/>
                    <a:p>
                      <a:r>
                        <a:rPr sz="2325" b="0">
                          <a:solidFill>
                            <a:srgbClr val="183247"/>
                          </a:solidFill>
                          <a:latin typeface="Arial"/>
                          <a:ea typeface="Arial"/>
                          <a:cs typeface="Arial"/>
                        </a:rPr>
                        <a:t>5.000</a:t>
                      </a:r>
                    </a:p>
                  </a:txBody>
                  <a:tcPr marL="91440" marR="91440" marT="45720" marB="45720" anchor="ctr">
                    <a:solidFill>
                      <a:srgbClr val="EFF4F7"/>
                    </a:solidFill>
                  </a:tcPr>
                </a:tc>
              </a:tr>
            </a:tbl>
          </a:graphicData>
        </a:graphic>
      </p:graphicFrame>
      <p:sp>
        <p:nvSpPr>
          <p:cNvPr id="8" name="Gebruik voor zaterdag deze totalen, niet de € 2 uit bron A.">
            <a:extLst xmlns:a="http://schemas.openxmlformats.org/drawingml/2006/main">
              <a:ext uri="{FF2B5EF4-FFF2-40B4-BE49-F238E27FC236}">
                <a16:creationId xmlns:a16="http://schemas.microsoft.com/office/drawing/2014/main" id="{9A0D3871-B3C9-45B0-8741-DBC90B5C063F}"/>
              </a:ext>
            </a:extLst>
          </p:cNvPr>
          <p:cNvSpPr>
            <a:spLocks xmlns:a="http://schemas.openxmlformats.org/drawingml/2006/main" noGrp="1"/>
          </p:cNvSpPr>
          <p:nvPr/>
        </p:nvSpPr>
        <p:spPr>
          <a:xfrm xmlns:a="http://schemas.openxmlformats.org/drawingml/2006/main">
            <a:off x="571500" y="7467600"/>
            <a:ext cx="140970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183247"/>
                </a:solidFill>
                <a:latin typeface="Arial"/>
                <a:ea typeface="Arial"/>
                <a:cs typeface="Arial"/>
              </a:defRPr>
            </a:pPr>
            <a:r>
              <a:rPr sz="2400" b="1">
                <a:solidFill>
                  <a:srgbClr val="183247"/>
                </a:solidFill>
                <a:latin typeface="Arial"/>
                <a:ea typeface="Arial"/>
                <a:cs typeface="Arial"/>
              </a:rPr>
              <a:t>Gebruik voor zaterdag deze totalen, niet de € 2 uit bron A.</a:t>
            </a:r>
          </a:p>
        </p:txBody>
      </p:sp>
    </p:spTree>
    <p:extLst>
      <p:ext uri="{BB962C8B-B14F-4D97-AF65-F5344CB8AC3E}">
        <p14:creationId xmlns:p14="http://schemas.microsoft.com/office/powerpoint/2010/main" val="1601444687"/>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Opgave 5 · Bron C: basisgrafiek">
            <a:extLst xmlns:a="http://schemas.openxmlformats.org/drawingml/2006/main">
              <a:ext uri="{FF2B5EF4-FFF2-40B4-BE49-F238E27FC236}">
                <a16:creationId xmlns:a16="http://schemas.microsoft.com/office/drawing/2014/main" id="{3BB87475-865D-48F8-9725-96E9247BC75C}"/>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5 · Bron C: basisgrafiek</a:t>
            </a:r>
          </a:p>
        </p:txBody>
      </p:sp>
      <p:sp>
        <p:nvSpPr>
          <p:cNvPr id="2" name="">
            <a:extLst xmlns:a="http://schemas.openxmlformats.org/drawingml/2006/main">
              <a:ext uri="{FF2B5EF4-FFF2-40B4-BE49-F238E27FC236}">
                <a16:creationId xmlns:a16="http://schemas.microsoft.com/office/drawing/2014/main" id="{559ED423-EB7E-4DDC-95A2-3FEDEBC03367}"/>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4 Gemengde opgaven · Opgave 5 · Boekpagina 32–33">
            <a:extLst xmlns:a="http://schemas.openxmlformats.org/drawingml/2006/main">
              <a:ext uri="{FF2B5EF4-FFF2-40B4-BE49-F238E27FC236}">
                <a16:creationId xmlns:a16="http://schemas.microsoft.com/office/drawing/2014/main" id="{C5EAE263-05EE-441E-BBCD-141CF1B1A415}"/>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§2.1.4 Gemengde opgaven · Opgave 5 · Boekpagina 32–33</a:t>
            </a:r>
          </a:p>
        </p:txBody>
      </p:sp>
      <p:sp>
        <p:nvSpPr>
          <p:cNvPr id="4" name="slide-number">
            <a:extLst xmlns:a="http://schemas.openxmlformats.org/drawingml/2006/main">
              <a:ext uri="{FF2B5EF4-FFF2-40B4-BE49-F238E27FC236}">
                <a16:creationId xmlns:a16="http://schemas.microsoft.com/office/drawing/2014/main" id="{2A3E5BF2-06E4-4962-AAF5-538C7DBE286E}"/>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11</a:t>
            </a:r>
          </a:p>
        </p:txBody>
      </p:sp>
      <p:graphicFrame>
        <p:nvGraphicFramePr>
          <p:cNvPr id="13" name="Chart"/>
          <p:cNvGraphicFramePr/>
          <p:nvPr/>
        </p:nvGraphicFramePr>
        <p:xfrm>
          <a:off xmlns:a="http://schemas.openxmlformats.org/drawingml/2006/main" x="571500" y="1981200"/>
          <a:ext xmlns:a="http://schemas.openxmlformats.org/drawingml/2006/main" cx="10287000" cy="5848350"/>
        </p:xfrm>
        <a:graphic xmlns:a="http://schemas.openxmlformats.org/drawingml/2006/main">
          <a:graphicData uri="http://schemas.openxmlformats.org/drawingml/2006/chart">
            <c:chart xmlns:r="http://schemas.openxmlformats.org/officeDocument/2006/relationships" xmlns:c="http://schemas.openxmlformats.org/drawingml/2006/chart" r:id="Re22a9b13520e4985"/>
          </a:graphicData>
        </a:graphic>
      </p:graphicFrame>
      <p:sp>
        <p:nvSpPr>
          <p:cNvPr id="6" name="Beide dagen">
            <a:extLst xmlns:a="http://schemas.openxmlformats.org/drawingml/2006/main">
              <a:ext uri="{FF2B5EF4-FFF2-40B4-BE49-F238E27FC236}">
                <a16:creationId xmlns:a16="http://schemas.microsoft.com/office/drawing/2014/main" id="{6CDEE7CB-77EC-4848-B3B1-7731828ABCB9}"/>
              </a:ext>
            </a:extLst>
          </p:cNvPr>
          <p:cNvSpPr>
            <a:spLocks xmlns:a="http://schemas.openxmlformats.org/drawingml/2006/main" noGrp="1"/>
          </p:cNvSpPr>
          <p:nvPr/>
        </p:nvSpPr>
        <p:spPr>
          <a:xfrm xmlns:a="http://schemas.openxmlformats.org/drawingml/2006/main">
            <a:off x="11334750" y="2200275"/>
            <a:ext cx="3333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Beide dagen</a:t>
            </a:r>
          </a:p>
        </p:txBody>
      </p:sp>
      <p:sp>
        <p:nvSpPr>
          <p:cNvPr id="7" name="Capaciteit:&#10;1.000 lunchboxen&#10;per dag">
            <a:extLst xmlns:a="http://schemas.openxmlformats.org/drawingml/2006/main">
              <a:ext uri="{FF2B5EF4-FFF2-40B4-BE49-F238E27FC236}">
                <a16:creationId xmlns:a16="http://schemas.microsoft.com/office/drawing/2014/main" id="{502132D6-3578-4F6E-8813-F8AD718E8A34}"/>
              </a:ext>
            </a:extLst>
          </p:cNvPr>
          <p:cNvSpPr>
            <a:spLocks xmlns:a="http://schemas.openxmlformats.org/drawingml/2006/main" noGrp="1"/>
          </p:cNvSpPr>
          <p:nvPr/>
        </p:nvSpPr>
        <p:spPr>
          <a:xfrm xmlns:a="http://schemas.openxmlformats.org/drawingml/2006/main">
            <a:off x="11334750" y="3171825"/>
            <a:ext cx="333375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17658A"/>
                </a:solidFill>
                <a:latin typeface="Arial"/>
                <a:ea typeface="Arial"/>
                <a:cs typeface="Arial"/>
              </a:defRPr>
            </a:pPr>
            <a:r>
              <a:rPr sz="2325" b="1">
                <a:solidFill>
                  <a:srgbClr val="17658A"/>
                </a:solidFill>
                <a:latin typeface="Arial"/>
                <a:ea typeface="Arial"/>
                <a:cs typeface="Arial"/>
              </a:rPr>
              <a:t>Capaciteit:</a:t>
            </a:r>
          </a:p>
          <a:p xmlns:a="http://schemas.openxmlformats.org/drawingml/2006/main">
            <a:pPr algn="l">
              <a:defRPr sz="2325" b="1">
                <a:solidFill>
                  <a:srgbClr val="17658A"/>
                </a:solidFill>
                <a:latin typeface="Arial"/>
                <a:ea typeface="Arial"/>
                <a:cs typeface="Arial"/>
              </a:defRPr>
            </a:pPr>
            <a:r>
              <a:rPr sz="2325" b="1">
                <a:solidFill>
                  <a:srgbClr val="17658A"/>
                </a:solidFill>
                <a:latin typeface="Arial"/>
                <a:ea typeface="Arial"/>
                <a:cs typeface="Arial"/>
              </a:rPr>
              <a:t>1.000 lunchboxen</a:t>
            </a:r>
          </a:p>
          <a:p xmlns:a="http://schemas.openxmlformats.org/drawingml/2006/main">
            <a:pPr algn="l">
              <a:defRPr sz="2325" b="1">
                <a:solidFill>
                  <a:srgbClr val="17658A"/>
                </a:solidFill>
                <a:latin typeface="Arial"/>
                <a:ea typeface="Arial"/>
                <a:cs typeface="Arial"/>
              </a:defRPr>
            </a:pPr>
            <a:r>
              <a:rPr sz="2325" b="1">
                <a:solidFill>
                  <a:srgbClr val="17658A"/>
                </a:solidFill>
                <a:latin typeface="Arial"/>
                <a:ea typeface="Arial"/>
                <a:cs typeface="Arial"/>
              </a:rPr>
              <a:t>per dag</a:t>
            </a:r>
          </a:p>
        </p:txBody>
      </p:sp>
      <p:sp>
        <p:nvSpPr>
          <p:cNvPr id="8" name="Zaterdag:&#10;alleen de vier&#10;tabelpunten">
            <a:extLst xmlns:a="http://schemas.openxmlformats.org/drawingml/2006/main">
              <a:ext uri="{FF2B5EF4-FFF2-40B4-BE49-F238E27FC236}">
                <a16:creationId xmlns:a16="http://schemas.microsoft.com/office/drawing/2014/main" id="{C8B9C319-7097-4976-A84E-26B0023357BF}"/>
              </a:ext>
            </a:extLst>
          </p:cNvPr>
          <p:cNvSpPr>
            <a:spLocks xmlns:a="http://schemas.openxmlformats.org/drawingml/2006/main" noGrp="1"/>
          </p:cNvSpPr>
          <p:nvPr/>
        </p:nvSpPr>
        <p:spPr>
          <a:xfrm xmlns:a="http://schemas.openxmlformats.org/drawingml/2006/main">
            <a:off x="11334750" y="5400675"/>
            <a:ext cx="3333750"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20665B"/>
                </a:solidFill>
                <a:latin typeface="Arial"/>
                <a:ea typeface="Arial"/>
                <a:cs typeface="Arial"/>
              </a:defRPr>
            </a:pPr>
            <a:r>
              <a:rPr sz="2325" b="1">
                <a:solidFill>
                  <a:srgbClr val="20665B"/>
                </a:solidFill>
                <a:latin typeface="Arial"/>
                <a:ea typeface="Arial"/>
                <a:cs typeface="Arial"/>
              </a:rPr>
              <a:t>Zaterdag:</a:t>
            </a:r>
          </a:p>
          <a:p xmlns:a="http://schemas.openxmlformats.org/drawingml/2006/main">
            <a:pPr algn="l">
              <a:defRPr sz="2325" b="1">
                <a:solidFill>
                  <a:srgbClr val="20665B"/>
                </a:solidFill>
                <a:latin typeface="Arial"/>
                <a:ea typeface="Arial"/>
                <a:cs typeface="Arial"/>
              </a:defRPr>
            </a:pPr>
            <a:r>
              <a:rPr sz="2325" b="1">
                <a:solidFill>
                  <a:srgbClr val="20665B"/>
                </a:solidFill>
                <a:latin typeface="Arial"/>
                <a:ea typeface="Arial"/>
                <a:cs typeface="Arial"/>
              </a:rPr>
              <a:t>alleen de vier</a:t>
            </a:r>
          </a:p>
          <a:p xmlns:a="http://schemas.openxmlformats.org/drawingml/2006/main">
            <a:pPr algn="l">
              <a:defRPr sz="2325" b="1">
                <a:solidFill>
                  <a:srgbClr val="20665B"/>
                </a:solidFill>
                <a:latin typeface="Arial"/>
                <a:ea typeface="Arial"/>
                <a:cs typeface="Arial"/>
              </a:defRPr>
            </a:pPr>
            <a:r>
              <a:rPr sz="2325" b="1">
                <a:solidFill>
                  <a:srgbClr val="20665B"/>
                </a:solidFill>
                <a:latin typeface="Arial"/>
                <a:ea typeface="Arial"/>
                <a:cs typeface="Arial"/>
              </a:rPr>
              <a:t>tabelpunten</a:t>
            </a:r>
          </a:p>
        </p:txBody>
      </p:sp>
    </p:spTree>
    <p:extLst>
      <p:ext uri="{BB962C8B-B14F-4D97-AF65-F5344CB8AC3E}">
        <p14:creationId xmlns:p14="http://schemas.microsoft.com/office/powerpoint/2010/main" val="1374418824"/>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Opgave 5 · Vragen a, b en c">
            <a:extLst xmlns:a="http://schemas.openxmlformats.org/drawingml/2006/main">
              <a:ext uri="{FF2B5EF4-FFF2-40B4-BE49-F238E27FC236}">
                <a16:creationId xmlns:a16="http://schemas.microsoft.com/office/drawing/2014/main" id="{D483E299-5800-440E-BFE4-75BF07F79F1F}"/>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5 · Vragen a, b en c</a:t>
            </a:r>
          </a:p>
        </p:txBody>
      </p:sp>
      <p:sp>
        <p:nvSpPr>
          <p:cNvPr id="2" name="">
            <a:extLst xmlns:a="http://schemas.openxmlformats.org/drawingml/2006/main">
              <a:ext uri="{FF2B5EF4-FFF2-40B4-BE49-F238E27FC236}">
                <a16:creationId xmlns:a16="http://schemas.microsoft.com/office/drawing/2014/main" id="{26AE1547-8F51-48FA-AB25-D2956E13835D}"/>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4 Gemengde opgaven · Opgave 5 · Boekpagina 32–33">
            <a:extLst xmlns:a="http://schemas.openxmlformats.org/drawingml/2006/main">
              <a:ext uri="{FF2B5EF4-FFF2-40B4-BE49-F238E27FC236}">
                <a16:creationId xmlns:a16="http://schemas.microsoft.com/office/drawing/2014/main" id="{B2A873F9-B3EA-4DAF-BDBE-A9BF9BF13905}"/>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§2.1.4 Gemengde opgaven · Opgave 5 · Boekpagina 32–33</a:t>
            </a:r>
          </a:p>
        </p:txBody>
      </p:sp>
      <p:sp>
        <p:nvSpPr>
          <p:cNvPr id="4" name="slide-number">
            <a:extLst xmlns:a="http://schemas.openxmlformats.org/drawingml/2006/main">
              <a:ext uri="{FF2B5EF4-FFF2-40B4-BE49-F238E27FC236}">
                <a16:creationId xmlns:a16="http://schemas.microsoft.com/office/drawing/2014/main" id="{F43083BD-2B16-474E-9F3B-F89829936FB7}"/>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12</a:t>
            </a:r>
          </a:p>
        </p:txBody>
      </p:sp>
      <p:sp>
        <p:nvSpPr>
          <p:cNvPr id="5" name="a)">
            <a:extLst xmlns:a="http://schemas.openxmlformats.org/drawingml/2006/main">
              <a:ext uri="{FF2B5EF4-FFF2-40B4-BE49-F238E27FC236}">
                <a16:creationId xmlns:a16="http://schemas.microsoft.com/office/drawing/2014/main" id="{9C4F7B86-84BA-430B-89D9-123601BECCA5}"/>
              </a:ext>
            </a:extLst>
          </p:cNvPr>
          <p:cNvSpPr>
            <a:spLocks xmlns:a="http://schemas.openxmlformats.org/drawingml/2006/main" noGrp="1"/>
          </p:cNvSpPr>
          <p:nvPr/>
        </p:nvSpPr>
        <p:spPr>
          <a:xfrm xmlns:a="http://schemas.openxmlformats.org/drawingml/2006/main">
            <a:off x="571500" y="1952625"/>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a)</a:t>
            </a:r>
          </a:p>
        </p:txBody>
      </p:sp>
      <p:sp>
        <p:nvSpPr>
          <p:cNvPr id="6" name="Selecteer uit bron A de constante kosten, de variabele koste">
            <a:extLst xmlns:a="http://schemas.openxmlformats.org/drawingml/2006/main">
              <a:ext uri="{FF2B5EF4-FFF2-40B4-BE49-F238E27FC236}">
                <a16:creationId xmlns:a16="http://schemas.microsoft.com/office/drawing/2014/main" id="{AC43C1DE-8638-454A-9D43-D22A34B42FE5}"/>
              </a:ext>
            </a:extLst>
          </p:cNvPr>
          <p:cNvSpPr>
            <a:spLocks xmlns:a="http://schemas.openxmlformats.org/drawingml/2006/main" noGrp="1"/>
          </p:cNvSpPr>
          <p:nvPr/>
        </p:nvSpPr>
        <p:spPr>
          <a:xfrm xmlns:a="http://schemas.openxmlformats.org/drawingml/2006/main">
            <a:off x="1438275" y="1952625"/>
            <a:ext cx="13230225" cy="2314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0">
                <a:solidFill>
                  <a:srgbClr val="183247"/>
                </a:solidFill>
                <a:latin typeface="Arial"/>
                <a:ea typeface="Arial"/>
                <a:cs typeface="Arial"/>
              </a:defRPr>
            </a:pPr>
            <a:r>
              <a:rPr sz="2775" b="0">
                <a:solidFill>
                  <a:srgbClr val="183247"/>
                </a:solidFill>
                <a:latin typeface="Arial"/>
                <a:ea typeface="Arial"/>
                <a:cs typeface="Arial"/>
              </a:rPr>
              <a:t>Selecteer uit bron A de constante kosten, de variabele kosten per lunchbox en de verkoopprijs. Leg uit welke totale kosten met Q veranderen en welke gelijk blijven. Noem ook het gegeven dat je niet nodig hebt voor TK en TO.</a:t>
            </a:r>
          </a:p>
        </p:txBody>
      </p:sp>
      <p:sp>
        <p:nvSpPr>
          <p:cNvPr id="7" name="b)">
            <a:extLst xmlns:a="http://schemas.openxmlformats.org/drawingml/2006/main">
              <a:ext uri="{FF2B5EF4-FFF2-40B4-BE49-F238E27FC236}">
                <a16:creationId xmlns:a16="http://schemas.microsoft.com/office/drawing/2014/main" id="{F7A06448-DEDA-4F8F-985D-B9D3A763CCD6}"/>
              </a:ext>
            </a:extLst>
          </p:cNvPr>
          <p:cNvSpPr>
            <a:spLocks xmlns:a="http://schemas.openxmlformats.org/drawingml/2006/main" noGrp="1"/>
          </p:cNvSpPr>
          <p:nvPr/>
        </p:nvSpPr>
        <p:spPr>
          <a:xfrm xmlns:a="http://schemas.openxmlformats.org/drawingml/2006/main">
            <a:off x="571500" y="4695825"/>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b)</a:t>
            </a:r>
          </a:p>
        </p:txBody>
      </p:sp>
      <p:sp>
        <p:nvSpPr>
          <p:cNvPr id="8" name="Stel voor vrijdag de functies voor TK en TO op. Bereken de b">
            <a:extLst xmlns:a="http://schemas.openxmlformats.org/drawingml/2006/main">
              <a:ext uri="{FF2B5EF4-FFF2-40B4-BE49-F238E27FC236}">
                <a16:creationId xmlns:a16="http://schemas.microsoft.com/office/drawing/2014/main" id="{DFF59FDA-36A7-4D7A-ACFB-610250D71530}"/>
              </a:ext>
            </a:extLst>
          </p:cNvPr>
          <p:cNvSpPr>
            <a:spLocks xmlns:a="http://schemas.openxmlformats.org/drawingml/2006/main" noGrp="1"/>
          </p:cNvSpPr>
          <p:nvPr/>
        </p:nvSpPr>
        <p:spPr>
          <a:xfrm xmlns:a="http://schemas.openxmlformats.org/drawingml/2006/main">
            <a:off x="1438275" y="4695825"/>
            <a:ext cx="13230225"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0">
                <a:solidFill>
                  <a:srgbClr val="183247"/>
                </a:solidFill>
                <a:latin typeface="Arial"/>
                <a:ea typeface="Arial"/>
                <a:cs typeface="Arial"/>
              </a:defRPr>
            </a:pPr>
            <a:r>
              <a:rPr sz="2775" b="0">
                <a:solidFill>
                  <a:srgbClr val="183247"/>
                </a:solidFill>
                <a:latin typeface="Arial"/>
                <a:ea typeface="Arial"/>
                <a:cs typeface="Arial"/>
              </a:rPr>
              <a:t>Stel voor vrijdag de functies voor TK en TO op. Bereken de break-even-afzet.</a:t>
            </a:r>
          </a:p>
        </p:txBody>
      </p:sp>
      <p:sp>
        <p:nvSpPr>
          <p:cNvPr id="9" name="c)">
            <a:extLst xmlns:a="http://schemas.openxmlformats.org/drawingml/2006/main">
              <a:ext uri="{FF2B5EF4-FFF2-40B4-BE49-F238E27FC236}">
                <a16:creationId xmlns:a16="http://schemas.microsoft.com/office/drawing/2014/main" id="{AE0BEBDB-6D6B-42D7-BA69-C98455F5986B}"/>
              </a:ext>
            </a:extLst>
          </p:cNvPr>
          <p:cNvSpPr>
            <a:spLocks xmlns:a="http://schemas.openxmlformats.org/drawingml/2006/main" noGrp="1"/>
          </p:cNvSpPr>
          <p:nvPr/>
        </p:nvSpPr>
        <p:spPr>
          <a:xfrm xmlns:a="http://schemas.openxmlformats.org/drawingml/2006/main">
            <a:off x="571500" y="628650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c)</a:t>
            </a:r>
          </a:p>
        </p:txBody>
      </p:sp>
      <p:sp>
        <p:nvSpPr>
          <p:cNvPr id="10" name="Bereken voor vrijdag bij Q = 700 de winst en GTK. Noteer de ">
            <a:extLst xmlns:a="http://schemas.openxmlformats.org/drawingml/2006/main">
              <a:ext uri="{FF2B5EF4-FFF2-40B4-BE49-F238E27FC236}">
                <a16:creationId xmlns:a16="http://schemas.microsoft.com/office/drawing/2014/main" id="{C8FC4698-72CB-4681-8C10-DD4D7F2054F5}"/>
              </a:ext>
            </a:extLst>
          </p:cNvPr>
          <p:cNvSpPr>
            <a:spLocks xmlns:a="http://schemas.openxmlformats.org/drawingml/2006/main" noGrp="1"/>
          </p:cNvSpPr>
          <p:nvPr/>
        </p:nvSpPr>
        <p:spPr>
          <a:xfrm xmlns:a="http://schemas.openxmlformats.org/drawingml/2006/main">
            <a:off x="1438275" y="6286500"/>
            <a:ext cx="13230225"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0">
                <a:solidFill>
                  <a:srgbClr val="183247"/>
                </a:solidFill>
                <a:latin typeface="Arial"/>
                <a:ea typeface="Arial"/>
                <a:cs typeface="Arial"/>
              </a:defRPr>
            </a:pPr>
            <a:r>
              <a:rPr sz="2775" b="0">
                <a:solidFill>
                  <a:srgbClr val="183247"/>
                </a:solidFill>
                <a:latin typeface="Arial"/>
                <a:ea typeface="Arial"/>
                <a:cs typeface="Arial"/>
              </a:rPr>
              <a:t>Bereken voor vrijdag bij Q = 700 de winst en GTK. Noteer de volledige eenheden.</a:t>
            </a:r>
          </a:p>
        </p:txBody>
      </p:sp>
    </p:spTree>
    <p:extLst>
      <p:ext uri="{BB962C8B-B14F-4D97-AF65-F5344CB8AC3E}">
        <p14:creationId xmlns:p14="http://schemas.microsoft.com/office/powerpoint/2010/main" val="51609883"/>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Opgave 5 · Vraag d">
            <a:extLst xmlns:a="http://schemas.openxmlformats.org/drawingml/2006/main">
              <a:ext uri="{FF2B5EF4-FFF2-40B4-BE49-F238E27FC236}">
                <a16:creationId xmlns:a16="http://schemas.microsoft.com/office/drawing/2014/main" id="{493C69F0-BF93-4605-BDEA-E862AF34D066}"/>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5 · Vraag d</a:t>
            </a:r>
          </a:p>
        </p:txBody>
      </p:sp>
      <p:sp>
        <p:nvSpPr>
          <p:cNvPr id="2" name="">
            <a:extLst xmlns:a="http://schemas.openxmlformats.org/drawingml/2006/main">
              <a:ext uri="{FF2B5EF4-FFF2-40B4-BE49-F238E27FC236}">
                <a16:creationId xmlns:a16="http://schemas.microsoft.com/office/drawing/2014/main" id="{CA69669E-B8C7-449A-A45B-499F20447D1E}"/>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4 Gemengde opgaven · Opgave 5 · Boekpagina 32–33">
            <a:extLst xmlns:a="http://schemas.openxmlformats.org/drawingml/2006/main">
              <a:ext uri="{FF2B5EF4-FFF2-40B4-BE49-F238E27FC236}">
                <a16:creationId xmlns:a16="http://schemas.microsoft.com/office/drawing/2014/main" id="{A1DE052D-6D2C-4CD8-85E9-3BBC211D83A2}"/>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§2.1.4 Gemengde opgaven · Opgave 5 · Boekpagina 32–33</a:t>
            </a:r>
          </a:p>
        </p:txBody>
      </p:sp>
      <p:sp>
        <p:nvSpPr>
          <p:cNvPr id="4" name="slide-number">
            <a:extLst xmlns:a="http://schemas.openxmlformats.org/drawingml/2006/main">
              <a:ext uri="{FF2B5EF4-FFF2-40B4-BE49-F238E27FC236}">
                <a16:creationId xmlns:a16="http://schemas.microsoft.com/office/drawing/2014/main" id="{FCF743B7-9A9D-4AAD-A3C6-D26C571EBC4A}"/>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13</a:t>
            </a:r>
          </a:p>
        </p:txBody>
      </p:sp>
      <p:sp>
        <p:nvSpPr>
          <p:cNvPr id="5" name="d) Bereken met bron B voor elk van de drie stappen op zaterd">
            <a:extLst xmlns:a="http://schemas.openxmlformats.org/drawingml/2006/main">
              <a:ext uri="{FF2B5EF4-FFF2-40B4-BE49-F238E27FC236}">
                <a16:creationId xmlns:a16="http://schemas.microsoft.com/office/drawing/2014/main" id="{E686ABAE-FA9A-4D9E-909D-2018FEA3FD74}"/>
              </a:ext>
            </a:extLst>
          </p:cNvPr>
          <p:cNvSpPr>
            <a:spLocks xmlns:a="http://schemas.openxmlformats.org/drawingml/2006/main" noGrp="1"/>
          </p:cNvSpPr>
          <p:nvPr/>
        </p:nvSpPr>
        <p:spPr>
          <a:xfrm xmlns:a="http://schemas.openxmlformats.org/drawingml/2006/main">
            <a:off x="571500" y="1962150"/>
            <a:ext cx="14097000" cy="1971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0">
                <a:solidFill>
                  <a:srgbClr val="183247"/>
                </a:solidFill>
                <a:latin typeface="Arial"/>
                <a:ea typeface="Arial"/>
                <a:cs typeface="Arial"/>
              </a:defRPr>
            </a:pPr>
            <a:r>
              <a:rPr sz="3075" b="0">
                <a:solidFill>
                  <a:srgbClr val="183247"/>
                </a:solidFill>
                <a:latin typeface="Arial"/>
                <a:ea typeface="Arial"/>
                <a:cs typeface="Arial"/>
              </a:rPr>
              <a:t>d) Bereken met bron B voor elk van de drie stappen op zaterdag MK en MO per extra lunchbox. Laat bij iedere MK-berekening teller en noemer zien.</a:t>
            </a:r>
          </a:p>
        </p:txBody>
      </p:sp>
      <p:graphicFrame>
        <p:nvGraphicFramePr>
          <p:cNvPr id="12" name=""/>
          <p:cNvGraphicFramePr/>
          <p:nvPr/>
        </p:nvGraphicFramePr>
        <p:xfrm>
          <a:off xmlns:a="http://schemas.openxmlformats.org/drawingml/2006/main" x="571500" y="4505325"/>
          <a:ext xmlns:a="http://schemas.openxmlformats.org/drawingml/2006/main" cx="14097000" cy="3009900"/>
        </p:xfrm>
        <a:graphic xmlns:a="http://schemas.openxmlformats.org/drawingml/2006/main">
          <a:graphicData uri="http://schemas.openxmlformats.org/drawingml/2006/table">
            <a:tbl>
              <a:tblPr/>
              <a:tblGrid>
                <a:gridCol w="7429500"/>
                <a:gridCol w="3333750"/>
                <a:gridCol w="3333750"/>
              </a:tblGrid>
              <a:tr h="752475">
                <a:tc>
                  <a:txBody>
                    <a:bodyPr lIns="171450" tIns="95250" rIns="152400" bIns="95250"/>
                    <a:lstStyle/>
                    <a:p>
                      <a:r>
                        <a:rPr sz="2550" b="1">
                          <a:solidFill>
                            <a:srgbClr val="FFFFFF"/>
                          </a:solidFill>
                          <a:latin typeface="Arial"/>
                          <a:ea typeface="Arial"/>
                          <a:cs typeface="Arial"/>
                        </a:rPr>
                        <a:t>Stap op zaterdag</a:t>
                      </a:r>
                    </a:p>
                  </a:txBody>
                  <a:tcPr marL="91440" marR="91440" marT="45720" marB="45720" anchor="ctr">
                    <a:solidFill>
                      <a:srgbClr val="183247"/>
                    </a:solidFill>
                  </a:tcPr>
                </a:tc>
                <a:tc>
                  <a:txBody>
                    <a:bodyPr lIns="171450" tIns="95250" rIns="152400" bIns="95250"/>
                    <a:lstStyle/>
                    <a:p>
                      <a:r>
                        <a:rPr sz="2550" b="1">
                          <a:solidFill>
                            <a:srgbClr val="FFFFFF"/>
                          </a:solidFill>
                          <a:latin typeface="Arial"/>
                          <a:ea typeface="Arial"/>
                          <a:cs typeface="Arial"/>
                        </a:rPr>
                        <a:t>Van Q</a:t>
                      </a:r>
                    </a:p>
                  </a:txBody>
                  <a:tcPr marL="91440" marR="91440" marT="45720" marB="45720" anchor="ctr">
                    <a:solidFill>
                      <a:srgbClr val="183247"/>
                    </a:solidFill>
                  </a:tcPr>
                </a:tc>
                <a:tc>
                  <a:txBody>
                    <a:bodyPr lIns="171450" tIns="95250" rIns="152400" bIns="95250"/>
                    <a:lstStyle/>
                    <a:p>
                      <a:r>
                        <a:rPr sz="2550" b="1">
                          <a:solidFill>
                            <a:srgbClr val="FFFFFF"/>
                          </a:solidFill>
                          <a:latin typeface="Arial"/>
                          <a:ea typeface="Arial"/>
                          <a:cs typeface="Arial"/>
                        </a:rPr>
                        <a:t>Naar Q</a:t>
                      </a:r>
                    </a:p>
                  </a:txBody>
                  <a:tcPr marL="91440" marR="91440" marT="45720" marB="45720" anchor="ctr">
                    <a:solidFill>
                      <a:srgbClr val="183247"/>
                    </a:solidFill>
                  </a:tcPr>
                </a:tc>
              </a:tr>
              <a:tr h="752475">
                <a:tc>
                  <a:txBody>
                    <a:bodyPr lIns="171450" tIns="95250" rIns="152400" bIns="95250"/>
                    <a:lstStyle/>
                    <a:p>
                      <a:r>
                        <a:rPr sz="2550" b="0">
                          <a:solidFill>
                            <a:srgbClr val="183247"/>
                          </a:solidFill>
                          <a:latin typeface="Arial"/>
                          <a:ea typeface="Arial"/>
                          <a:cs typeface="Arial"/>
                        </a:rPr>
                        <a:t>Eerste stap</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700</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800</a:t>
                      </a:r>
                    </a:p>
                  </a:txBody>
                  <a:tcPr marL="91440" marR="91440" marT="45720" marB="45720" anchor="ctr">
                    <a:solidFill>
                      <a:srgbClr val="FFFFFF"/>
                    </a:solidFill>
                  </a:tcPr>
                </a:tc>
              </a:tr>
              <a:tr h="752475">
                <a:tc>
                  <a:txBody>
                    <a:bodyPr lIns="171450" tIns="95250" rIns="152400" bIns="95250"/>
                    <a:lstStyle/>
                    <a:p>
                      <a:r>
                        <a:rPr sz="2550" b="0">
                          <a:solidFill>
                            <a:srgbClr val="183247"/>
                          </a:solidFill>
                          <a:latin typeface="Arial"/>
                          <a:ea typeface="Arial"/>
                          <a:cs typeface="Arial"/>
                        </a:rPr>
                        <a:t>Tweede stap</a:t>
                      </a:r>
                    </a:p>
                  </a:txBody>
                  <a:tcPr marL="91440" marR="91440" marT="45720" marB="45720" anchor="ctr">
                    <a:solidFill>
                      <a:srgbClr val="EFF4F7"/>
                    </a:solidFill>
                  </a:tcPr>
                </a:tc>
                <a:tc>
                  <a:txBody>
                    <a:bodyPr lIns="171450" tIns="95250" rIns="152400" bIns="95250"/>
                    <a:lstStyle/>
                    <a:p>
                      <a:r>
                        <a:rPr sz="2550" b="0">
                          <a:solidFill>
                            <a:srgbClr val="183247"/>
                          </a:solidFill>
                          <a:latin typeface="Arial"/>
                          <a:ea typeface="Arial"/>
                          <a:cs typeface="Arial"/>
                        </a:rPr>
                        <a:t>800</a:t>
                      </a:r>
                    </a:p>
                  </a:txBody>
                  <a:tcPr marL="91440" marR="91440" marT="45720" marB="45720" anchor="ctr">
                    <a:solidFill>
                      <a:srgbClr val="EFF4F7"/>
                    </a:solidFill>
                  </a:tcPr>
                </a:tc>
                <a:tc>
                  <a:txBody>
                    <a:bodyPr lIns="171450" tIns="95250" rIns="152400" bIns="95250"/>
                    <a:lstStyle/>
                    <a:p>
                      <a:r>
                        <a:rPr sz="2550" b="0">
                          <a:solidFill>
                            <a:srgbClr val="183247"/>
                          </a:solidFill>
                          <a:latin typeface="Arial"/>
                          <a:ea typeface="Arial"/>
                          <a:cs typeface="Arial"/>
                        </a:rPr>
                        <a:t>900</a:t>
                      </a:r>
                    </a:p>
                  </a:txBody>
                  <a:tcPr marL="91440" marR="91440" marT="45720" marB="45720" anchor="ctr">
                    <a:solidFill>
                      <a:srgbClr val="EFF4F7"/>
                    </a:solidFill>
                  </a:tcPr>
                </a:tc>
              </a:tr>
              <a:tr h="752475">
                <a:tc>
                  <a:txBody>
                    <a:bodyPr lIns="171450" tIns="95250" rIns="152400" bIns="95250"/>
                    <a:lstStyle/>
                    <a:p>
                      <a:r>
                        <a:rPr sz="2550" b="0">
                          <a:solidFill>
                            <a:srgbClr val="183247"/>
                          </a:solidFill>
                          <a:latin typeface="Arial"/>
                          <a:ea typeface="Arial"/>
                          <a:cs typeface="Arial"/>
                        </a:rPr>
                        <a:t>Derde stap</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900</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1.000</a:t>
                      </a:r>
                    </a:p>
                  </a:txBody>
                  <a:tcPr marL="91440" marR="91440" marT="45720" marB="45720" anchor="ctr">
                    <a:solidFill>
                      <a:srgbClr val="FFFFFF"/>
                    </a:solidFill>
                  </a:tcPr>
                </a:tc>
              </a:tr>
            </a:tbl>
          </a:graphicData>
        </a:graphic>
      </p:graphicFrame>
    </p:spTree>
    <p:extLst>
      <p:ext uri="{BB962C8B-B14F-4D97-AF65-F5344CB8AC3E}">
        <p14:creationId xmlns:p14="http://schemas.microsoft.com/office/powerpoint/2010/main" val="82686124"/>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Opgave 5 · Vragen e en f">
            <a:extLst xmlns:a="http://schemas.openxmlformats.org/drawingml/2006/main">
              <a:ext uri="{FF2B5EF4-FFF2-40B4-BE49-F238E27FC236}">
                <a16:creationId xmlns:a16="http://schemas.microsoft.com/office/drawing/2014/main" id="{3616B021-D650-4CDC-B2D8-FE29CE3B9B9E}"/>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5 · Vragen e en f</a:t>
            </a:r>
          </a:p>
        </p:txBody>
      </p:sp>
      <p:sp>
        <p:nvSpPr>
          <p:cNvPr id="2" name="">
            <a:extLst xmlns:a="http://schemas.openxmlformats.org/drawingml/2006/main">
              <a:ext uri="{FF2B5EF4-FFF2-40B4-BE49-F238E27FC236}">
                <a16:creationId xmlns:a16="http://schemas.microsoft.com/office/drawing/2014/main" id="{C7A16EF3-EF41-4933-BC89-DC8EBDA69D1B}"/>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4 Gemengde opgaven · Opgave 5 · Boekpagina 32–33">
            <a:extLst xmlns:a="http://schemas.openxmlformats.org/drawingml/2006/main">
              <a:ext uri="{FF2B5EF4-FFF2-40B4-BE49-F238E27FC236}">
                <a16:creationId xmlns:a16="http://schemas.microsoft.com/office/drawing/2014/main" id="{08891B32-1013-4E02-B1DA-475C94802DA1}"/>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§2.1.4 Gemengde opgaven · Opgave 5 · Boekpagina 32–33</a:t>
            </a:r>
          </a:p>
        </p:txBody>
      </p:sp>
      <p:sp>
        <p:nvSpPr>
          <p:cNvPr id="4" name="slide-number">
            <a:extLst xmlns:a="http://schemas.openxmlformats.org/drawingml/2006/main">
              <a:ext uri="{FF2B5EF4-FFF2-40B4-BE49-F238E27FC236}">
                <a16:creationId xmlns:a16="http://schemas.microsoft.com/office/drawing/2014/main" id="{1647DEB7-1AF5-4D99-8760-456349E1FAC8}"/>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14</a:t>
            </a:r>
          </a:p>
        </p:txBody>
      </p:sp>
      <p:sp>
        <p:nvSpPr>
          <p:cNvPr id="5" name="e)">
            <a:extLst xmlns:a="http://schemas.openxmlformats.org/drawingml/2006/main">
              <a:ext uri="{FF2B5EF4-FFF2-40B4-BE49-F238E27FC236}">
                <a16:creationId xmlns:a16="http://schemas.microsoft.com/office/drawing/2014/main" id="{7CF5902B-8ABD-47E6-8FC4-AA5716698278}"/>
              </a:ext>
            </a:extLst>
          </p:cNvPr>
          <p:cNvSpPr>
            <a:spLocks xmlns:a="http://schemas.openxmlformats.org/drawingml/2006/main" noGrp="1"/>
          </p:cNvSpPr>
          <p:nvPr/>
        </p:nvSpPr>
        <p:spPr>
          <a:xfrm xmlns:a="http://schemas.openxmlformats.org/drawingml/2006/main">
            <a:off x="571500" y="1933575"/>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e)</a:t>
            </a:r>
          </a:p>
        </p:txBody>
      </p:sp>
      <p:sp>
        <p:nvSpPr>
          <p:cNvPr id="6" name="Markeer in bron C het break-evenpunt van vrijdag. Geef ook a">
            <a:extLst xmlns:a="http://schemas.openxmlformats.org/drawingml/2006/main">
              <a:ext uri="{FF2B5EF4-FFF2-40B4-BE49-F238E27FC236}">
                <a16:creationId xmlns:a16="http://schemas.microsoft.com/office/drawing/2014/main" id="{08484AF2-6C88-42EC-9269-2E58EA464446}"/>
              </a:ext>
            </a:extLst>
          </p:cNvPr>
          <p:cNvSpPr>
            <a:spLocks xmlns:a="http://schemas.openxmlformats.org/drawingml/2006/main" noGrp="1"/>
          </p:cNvSpPr>
          <p:nvPr/>
        </p:nvSpPr>
        <p:spPr>
          <a:xfrm xmlns:a="http://schemas.openxmlformats.org/drawingml/2006/main">
            <a:off x="1438275" y="1933575"/>
            <a:ext cx="132302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Markeer in bron C het break-evenpunt van vrijdag. Geef ook aan voor welke vrijdaghoeveelheden de verticale winstafstand positief is. Vergelijk de groei van die winstafstand per extra lunchbox op vrijdag met de drie zaterdagstappen. Op welke dag en bij welke hoeveelheden groeit de positieve winstafstand het snelst? Onderbouw met MK en MO.</a:t>
            </a:r>
          </a:p>
        </p:txBody>
      </p:sp>
      <p:sp>
        <p:nvSpPr>
          <p:cNvPr id="7" name="">
            <a:extLst xmlns:a="http://schemas.openxmlformats.org/drawingml/2006/main">
              <a:ext uri="{FF2B5EF4-FFF2-40B4-BE49-F238E27FC236}">
                <a16:creationId xmlns:a16="http://schemas.microsoft.com/office/drawing/2014/main" id="{A972C562-7874-4A1F-A422-C1F9E446E532}"/>
              </a:ext>
            </a:extLst>
          </p:cNvPr>
          <p:cNvSpPr>
            <a:spLocks xmlns:a="http://schemas.openxmlformats.org/drawingml/2006/main" noGrp="1"/>
          </p:cNvSpPr>
          <p:nvPr/>
        </p:nvSpPr>
        <p:spPr>
          <a:xfrm xmlns:a="http://schemas.openxmlformats.org/drawingml/2006/main">
            <a:off x="571500" y="5353050"/>
            <a:ext cx="14097000" cy="0"/>
          </a:xfrm>
          <a:prstGeom xmlns:a="http://schemas.openxmlformats.org/drawingml/2006/main" prst="line">
            <a:avLst/>
          </a:prstGeom>
          <a:ln xmlns:a="http://schemas.openxmlformats.org/drawingml/2006/main" w="19050">
            <a:solidFill>
              <a:srgbClr val="C6D2DB"/>
            </a:solidFill>
          </a:ln>
        </p:spPr>
      </p:sp>
      <p:sp>
        <p:nvSpPr>
          <p:cNvPr id="8" name="f)">
            <a:extLst xmlns:a="http://schemas.openxmlformats.org/drawingml/2006/main">
              <a:ext uri="{FF2B5EF4-FFF2-40B4-BE49-F238E27FC236}">
                <a16:creationId xmlns:a16="http://schemas.microsoft.com/office/drawing/2014/main" id="{623BC712-42C5-4312-8258-1F29ECA6F808}"/>
              </a:ext>
            </a:extLst>
          </p:cNvPr>
          <p:cNvSpPr>
            <a:spLocks xmlns:a="http://schemas.openxmlformats.org/drawingml/2006/main" noGrp="1"/>
          </p:cNvSpPr>
          <p:nvPr/>
        </p:nvSpPr>
        <p:spPr>
          <a:xfrm xmlns:a="http://schemas.openxmlformats.org/drawingml/2006/main">
            <a:off x="571500" y="5781675"/>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f)</a:t>
            </a:r>
          </a:p>
        </p:txBody>
      </p:sp>
      <p:sp>
        <p:nvSpPr>
          <p:cNvPr id="9" name="Een leerling zegt: “Door de vaste verkoopprijs leveren alle ">
            <a:extLst xmlns:a="http://schemas.openxmlformats.org/drawingml/2006/main">
              <a:ext uri="{FF2B5EF4-FFF2-40B4-BE49-F238E27FC236}">
                <a16:creationId xmlns:a16="http://schemas.microsoft.com/office/drawing/2014/main" id="{C26AAF01-005C-444E-93FE-3825E6EF082D}"/>
              </a:ext>
            </a:extLst>
          </p:cNvPr>
          <p:cNvSpPr>
            <a:spLocks xmlns:a="http://schemas.openxmlformats.org/drawingml/2006/main" noGrp="1"/>
          </p:cNvSpPr>
          <p:nvPr/>
        </p:nvSpPr>
        <p:spPr>
          <a:xfrm xmlns:a="http://schemas.openxmlformats.org/drawingml/2006/main">
            <a:off x="1438275" y="5781675"/>
            <a:ext cx="13230225" cy="1962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Een leerling zegt: “Door de vaste verkoopprijs leveren alle extra groepen van honderd lunchboxen evenveel extra winst op.” Beoordeel de uitspraak met de drie zaterdagstappen. Bereken daarbij de extra winst per groep.</a:t>
            </a:r>
          </a:p>
        </p:txBody>
      </p:sp>
    </p:spTree>
    <p:extLst>
      <p:ext uri="{BB962C8B-B14F-4D97-AF65-F5344CB8AC3E}">
        <p14:creationId xmlns:p14="http://schemas.microsoft.com/office/powerpoint/2010/main" val="1775522779"/>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Opgave 5a–b · Vrijdag: gegevens en functies">
            <a:extLst xmlns:a="http://schemas.openxmlformats.org/drawingml/2006/main">
              <a:ext uri="{FF2B5EF4-FFF2-40B4-BE49-F238E27FC236}">
                <a16:creationId xmlns:a16="http://schemas.microsoft.com/office/drawing/2014/main" id="{63875403-1AD1-4404-9C36-B1A9ECFD30F5}"/>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5a–b · Vrijdag: gegevens en functies</a:t>
            </a:r>
          </a:p>
        </p:txBody>
      </p:sp>
      <p:sp>
        <p:nvSpPr>
          <p:cNvPr id="2" name="">
            <a:extLst xmlns:a="http://schemas.openxmlformats.org/drawingml/2006/main">
              <a:ext uri="{FF2B5EF4-FFF2-40B4-BE49-F238E27FC236}">
                <a16:creationId xmlns:a16="http://schemas.microsoft.com/office/drawing/2014/main" id="{EA099AB8-4909-474E-B44C-E3E19A1E990C}"/>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4 Gemengde opgaven · Opgave 5 · Boekpagina 32–33">
            <a:extLst xmlns:a="http://schemas.openxmlformats.org/drawingml/2006/main">
              <a:ext uri="{FF2B5EF4-FFF2-40B4-BE49-F238E27FC236}">
                <a16:creationId xmlns:a16="http://schemas.microsoft.com/office/drawing/2014/main" id="{71FCF5EB-8182-4F35-83E5-7B2B506F4075}"/>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§2.1.4 Gemengde opgaven · Opgave 5 · Boekpagina 32–33</a:t>
            </a:r>
          </a:p>
        </p:txBody>
      </p:sp>
      <p:sp>
        <p:nvSpPr>
          <p:cNvPr id="4" name="slide-number">
            <a:extLst xmlns:a="http://schemas.openxmlformats.org/drawingml/2006/main">
              <a:ext uri="{FF2B5EF4-FFF2-40B4-BE49-F238E27FC236}">
                <a16:creationId xmlns:a16="http://schemas.microsoft.com/office/drawing/2014/main" id="{03DF2F50-0EC3-4711-B1D0-AD90F990062B}"/>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15</a:t>
            </a:r>
          </a:p>
        </p:txBody>
      </p:sp>
      <p:graphicFrame>
        <p:nvGraphicFramePr>
          <p:cNvPr id="14" name=""/>
          <p:cNvGraphicFramePr/>
          <p:nvPr/>
        </p:nvGraphicFramePr>
        <p:xfrm>
          <a:off xmlns:a="http://schemas.openxmlformats.org/drawingml/2006/main" x="571500" y="2000250"/>
          <a:ext xmlns:a="http://schemas.openxmlformats.org/drawingml/2006/main" cx="14097000" cy="3133725"/>
        </p:xfrm>
        <a:graphic xmlns:a="http://schemas.openxmlformats.org/drawingml/2006/main">
          <a:graphicData uri="http://schemas.openxmlformats.org/drawingml/2006/table">
            <a:tbl>
              <a:tblPr/>
              <a:tblGrid>
                <a:gridCol w="3810000"/>
                <a:gridCol w="5143500"/>
                <a:gridCol w="5143500"/>
              </a:tblGrid>
              <a:tr h="783431">
                <a:tc>
                  <a:txBody>
                    <a:bodyPr lIns="171450" tIns="95250" rIns="152400" bIns="95250"/>
                    <a:lstStyle/>
                    <a:p>
                      <a:r>
                        <a:rPr sz="2400" b="1">
                          <a:solidFill>
                            <a:srgbClr val="FFFFFF"/>
                          </a:solidFill>
                          <a:latin typeface="Arial"/>
                          <a:ea typeface="Arial"/>
                          <a:cs typeface="Arial"/>
                        </a:rPr>
                        <a:t>Grootheid</a:t>
                      </a:r>
                    </a:p>
                  </a:txBody>
                  <a:tcPr marL="91440" marR="91440" marT="45720" marB="45720" anchor="ctr">
                    <a:solidFill>
                      <a:srgbClr val="183247"/>
                    </a:solidFill>
                  </a:tcPr>
                </a:tc>
                <a:tc>
                  <a:txBody>
                    <a:bodyPr lIns="171450" tIns="95250" rIns="152400" bIns="95250"/>
                    <a:lstStyle/>
                    <a:p>
                      <a:r>
                        <a:rPr sz="2400" b="1">
                          <a:solidFill>
                            <a:srgbClr val="FFFFFF"/>
                          </a:solidFill>
                          <a:latin typeface="Arial"/>
                          <a:ea typeface="Arial"/>
                          <a:cs typeface="Arial"/>
                        </a:rPr>
                        <a:t>Vrijdag</a:t>
                      </a:r>
                    </a:p>
                  </a:txBody>
                  <a:tcPr marL="91440" marR="91440" marT="45720" marB="45720" anchor="ctr">
                    <a:solidFill>
                      <a:srgbClr val="183247"/>
                    </a:solidFill>
                  </a:tcPr>
                </a:tc>
                <a:tc>
                  <a:txBody>
                    <a:bodyPr lIns="171450" tIns="95250" rIns="152400" bIns="95250"/>
                    <a:lstStyle/>
                    <a:p>
                      <a:r>
                        <a:rPr sz="2400" b="1">
                          <a:solidFill>
                            <a:srgbClr val="FFFFFF"/>
                          </a:solidFill>
                          <a:latin typeface="Arial"/>
                          <a:ea typeface="Arial"/>
                          <a:cs typeface="Arial"/>
                        </a:rPr>
                        <a:t>Reactie op Q</a:t>
                      </a:r>
                    </a:p>
                  </a:txBody>
                  <a:tcPr marL="91440" marR="91440" marT="45720" marB="45720" anchor="ctr">
                    <a:solidFill>
                      <a:srgbClr val="183247"/>
                    </a:solidFill>
                  </a:tcPr>
                </a:tc>
              </a:tr>
              <a:tr h="783431">
                <a:tc>
                  <a:txBody>
                    <a:bodyPr lIns="171450" tIns="95250" rIns="152400" bIns="95250"/>
                    <a:lstStyle/>
                    <a:p>
                      <a:r>
                        <a:rPr sz="2400" b="0">
                          <a:solidFill>
                            <a:srgbClr val="183247"/>
                          </a:solidFill>
                          <a:latin typeface="Arial"/>
                          <a:ea typeface="Arial"/>
                          <a:cs typeface="Arial"/>
                        </a:rPr>
                        <a:t>TCK</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€ 1.200 per dag</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Blijft gelijk</a:t>
                      </a:r>
                    </a:p>
                  </a:txBody>
                  <a:tcPr marL="91440" marR="91440" marT="45720" marB="45720" anchor="ctr">
                    <a:solidFill>
                      <a:srgbClr val="FFFFFF"/>
                    </a:solidFill>
                  </a:tcPr>
                </a:tc>
              </a:tr>
              <a:tr h="783431">
                <a:tc>
                  <a:txBody>
                    <a:bodyPr lIns="171450" tIns="95250" rIns="152400" bIns="95250"/>
                    <a:lstStyle/>
                    <a:p>
                      <a:r>
                        <a:rPr sz="2400" b="0">
                          <a:solidFill>
                            <a:srgbClr val="183247"/>
                          </a:solidFill>
                          <a:latin typeface="Arial"/>
                          <a:ea typeface="Arial"/>
                          <a:cs typeface="Arial"/>
                        </a:rPr>
                        <a:t>TVK</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€ 2 per lunchbox × Q</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Verandert met Q</a:t>
                      </a:r>
                    </a:p>
                  </a:txBody>
                  <a:tcPr marL="91440" marR="91440" marT="45720" marB="45720" anchor="ctr">
                    <a:solidFill>
                      <a:srgbClr val="EFF4F7"/>
                    </a:solidFill>
                  </a:tcPr>
                </a:tc>
              </a:tr>
              <a:tr h="783431">
                <a:tc>
                  <a:txBody>
                    <a:bodyPr lIns="171450" tIns="95250" rIns="152400" bIns="95250"/>
                    <a:lstStyle/>
                    <a:p>
                      <a:r>
                        <a:rPr sz="2400" b="0">
                          <a:solidFill>
                            <a:srgbClr val="183247"/>
                          </a:solidFill>
                          <a:latin typeface="Arial"/>
                          <a:ea typeface="Arial"/>
                          <a:cs typeface="Arial"/>
                        </a:rPr>
                        <a:t>Verkoopprijs</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€ 5 per lunchbox</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Blijft gelijk</a:t>
                      </a:r>
                    </a:p>
                  </a:txBody>
                  <a:tcPr marL="91440" marR="91440" marT="45720" marB="45720" anchor="ctr">
                    <a:solidFill>
                      <a:srgbClr val="FFFFFF"/>
                    </a:solidFill>
                  </a:tcPr>
                </a:tc>
              </a:tr>
            </a:tbl>
          </a:graphicData>
        </a:graphic>
      </p:graphicFrame>
      <p:sp>
        <p:nvSpPr>
          <p:cNvPr id="6" name="TK = 1.200 + 2Q">
            <a:extLst xmlns:a="http://schemas.openxmlformats.org/drawingml/2006/main">
              <a:ext uri="{FF2B5EF4-FFF2-40B4-BE49-F238E27FC236}">
                <a16:creationId xmlns:a16="http://schemas.microsoft.com/office/drawing/2014/main" id="{C847C023-D46A-47DA-8C91-3D00AA154326}"/>
              </a:ext>
            </a:extLst>
          </p:cNvPr>
          <p:cNvSpPr>
            <a:spLocks xmlns:a="http://schemas.openxmlformats.org/drawingml/2006/main" noGrp="1"/>
          </p:cNvSpPr>
          <p:nvPr/>
        </p:nvSpPr>
        <p:spPr>
          <a:xfrm xmlns:a="http://schemas.openxmlformats.org/drawingml/2006/main">
            <a:off x="571500" y="5657850"/>
            <a:ext cx="714375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A94D16"/>
                </a:solidFill>
                <a:latin typeface="Arial"/>
                <a:ea typeface="Arial"/>
                <a:cs typeface="Arial"/>
              </a:defRPr>
            </a:pPr>
            <a:r>
              <a:rPr sz="3375" b="1">
                <a:solidFill>
                  <a:srgbClr val="A94D16"/>
                </a:solidFill>
                <a:latin typeface="Arial"/>
                <a:ea typeface="Arial"/>
                <a:cs typeface="Arial"/>
              </a:rPr>
              <a:t>TK = 1.200 + 2Q</a:t>
            </a:r>
          </a:p>
        </p:txBody>
      </p:sp>
      <p:sp>
        <p:nvSpPr>
          <p:cNvPr id="7" name="TO = 5Q">
            <a:extLst xmlns:a="http://schemas.openxmlformats.org/drawingml/2006/main">
              <a:ext uri="{FF2B5EF4-FFF2-40B4-BE49-F238E27FC236}">
                <a16:creationId xmlns:a16="http://schemas.microsoft.com/office/drawing/2014/main" id="{AC7068BF-C9D7-4A89-AA41-116E779D75EF}"/>
              </a:ext>
            </a:extLst>
          </p:cNvPr>
          <p:cNvSpPr>
            <a:spLocks xmlns:a="http://schemas.openxmlformats.org/drawingml/2006/main" noGrp="1"/>
          </p:cNvSpPr>
          <p:nvPr/>
        </p:nvSpPr>
        <p:spPr>
          <a:xfrm xmlns:a="http://schemas.openxmlformats.org/drawingml/2006/main">
            <a:off x="8524875" y="5657850"/>
            <a:ext cx="614362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17658A"/>
                </a:solidFill>
                <a:latin typeface="Arial"/>
                <a:ea typeface="Arial"/>
                <a:cs typeface="Arial"/>
              </a:defRPr>
            </a:pPr>
            <a:r>
              <a:rPr sz="3375" b="1">
                <a:solidFill>
                  <a:srgbClr val="17658A"/>
                </a:solidFill>
                <a:latin typeface="Arial"/>
                <a:ea typeface="Arial"/>
                <a:cs typeface="Arial"/>
              </a:rPr>
              <a:t>TO = 5Q</a:t>
            </a:r>
          </a:p>
        </p:txBody>
      </p:sp>
      <p:sp>
        <p:nvSpPr>
          <p:cNvPr id="8" name="Totalen in € per dag · 0 ≤ Q ≤ 1.000 lunchboxen per dag">
            <a:extLst xmlns:a="http://schemas.openxmlformats.org/drawingml/2006/main">
              <a:ext uri="{FF2B5EF4-FFF2-40B4-BE49-F238E27FC236}">
                <a16:creationId xmlns:a16="http://schemas.microsoft.com/office/drawing/2014/main" id="{60622874-F68A-4DCC-AE92-B56E67520614}"/>
              </a:ext>
            </a:extLst>
          </p:cNvPr>
          <p:cNvSpPr>
            <a:spLocks xmlns:a="http://schemas.openxmlformats.org/drawingml/2006/main" noGrp="1"/>
          </p:cNvSpPr>
          <p:nvPr/>
        </p:nvSpPr>
        <p:spPr>
          <a:xfrm xmlns:a="http://schemas.openxmlformats.org/drawingml/2006/main">
            <a:off x="571500" y="6610350"/>
            <a:ext cx="1409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Totalen in € per dag · 0 ≤ Q ≤ 1.000 lunchboxen per dag</a:t>
            </a:r>
          </a:p>
        </p:txBody>
      </p:sp>
      <p:sp>
        <p:nvSpPr>
          <p:cNvPr id="9" name="4.000 bezoekers is niet nodig voor TK en TO.">
            <a:extLst xmlns:a="http://schemas.openxmlformats.org/drawingml/2006/main">
              <a:ext uri="{FF2B5EF4-FFF2-40B4-BE49-F238E27FC236}">
                <a16:creationId xmlns:a16="http://schemas.microsoft.com/office/drawing/2014/main" id="{64743B06-6A37-4C80-9947-7D9C0C957011}"/>
              </a:ext>
            </a:extLst>
          </p:cNvPr>
          <p:cNvSpPr>
            <a:spLocks xmlns:a="http://schemas.openxmlformats.org/drawingml/2006/main" noGrp="1"/>
          </p:cNvSpPr>
          <p:nvPr/>
        </p:nvSpPr>
        <p:spPr>
          <a:xfrm xmlns:a="http://schemas.openxmlformats.org/drawingml/2006/main">
            <a:off x="571500" y="7429500"/>
            <a:ext cx="14097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4.000 bezoekers is niet nodig voor TK en TO.</a:t>
            </a:r>
          </a:p>
        </p:txBody>
      </p:sp>
    </p:spTree>
    <p:extLst>
      <p:ext uri="{BB962C8B-B14F-4D97-AF65-F5344CB8AC3E}">
        <p14:creationId xmlns:p14="http://schemas.microsoft.com/office/powerpoint/2010/main" val="477818082"/>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Opgave 5b · De break-even-afzet">
            <a:extLst xmlns:a="http://schemas.openxmlformats.org/drawingml/2006/main">
              <a:ext uri="{FF2B5EF4-FFF2-40B4-BE49-F238E27FC236}">
                <a16:creationId xmlns:a16="http://schemas.microsoft.com/office/drawing/2014/main" id="{37B29224-5259-4005-AF2C-4891A707FE34}"/>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5b · De break-even-afzet</a:t>
            </a:r>
          </a:p>
        </p:txBody>
      </p:sp>
      <p:sp>
        <p:nvSpPr>
          <p:cNvPr id="2" name="">
            <a:extLst xmlns:a="http://schemas.openxmlformats.org/drawingml/2006/main">
              <a:ext uri="{FF2B5EF4-FFF2-40B4-BE49-F238E27FC236}">
                <a16:creationId xmlns:a16="http://schemas.microsoft.com/office/drawing/2014/main" id="{7CB14226-A2E6-4B77-BC0E-152BCC547FDE}"/>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4 Gemengde opgaven · Opgave 5 · Boekpagina 32–33">
            <a:extLst xmlns:a="http://schemas.openxmlformats.org/drawingml/2006/main">
              <a:ext uri="{FF2B5EF4-FFF2-40B4-BE49-F238E27FC236}">
                <a16:creationId xmlns:a16="http://schemas.microsoft.com/office/drawing/2014/main" id="{8D0C26D5-86A3-4770-A786-5CF551E65BBB}"/>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§2.1.4 Gemengde opgaven · Opgave 5 · Boekpagina 32–33</a:t>
            </a:r>
          </a:p>
        </p:txBody>
      </p:sp>
      <p:sp>
        <p:nvSpPr>
          <p:cNvPr id="4" name="slide-number">
            <a:extLst xmlns:a="http://schemas.openxmlformats.org/drawingml/2006/main">
              <a:ext uri="{FF2B5EF4-FFF2-40B4-BE49-F238E27FC236}">
                <a16:creationId xmlns:a16="http://schemas.microsoft.com/office/drawing/2014/main" id="{CFB8AB24-85C0-4CA9-8090-DD0981C8AB1B}"/>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16</a:t>
            </a:r>
          </a:p>
        </p:txBody>
      </p:sp>
      <p:sp>
        <p:nvSpPr>
          <p:cNvPr id="5" name="TO = TK">
            <a:extLst xmlns:a="http://schemas.openxmlformats.org/drawingml/2006/main">
              <a:ext uri="{FF2B5EF4-FFF2-40B4-BE49-F238E27FC236}">
                <a16:creationId xmlns:a16="http://schemas.microsoft.com/office/drawing/2014/main" id="{ABB46614-CB8F-4961-B8E0-A332DA592EFD}"/>
              </a:ext>
            </a:extLst>
          </p:cNvPr>
          <p:cNvSpPr>
            <a:spLocks xmlns:a="http://schemas.openxmlformats.org/drawingml/2006/main" noGrp="1"/>
          </p:cNvSpPr>
          <p:nvPr/>
        </p:nvSpPr>
        <p:spPr>
          <a:xfrm xmlns:a="http://schemas.openxmlformats.org/drawingml/2006/main">
            <a:off x="571500" y="1981200"/>
            <a:ext cx="881062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183247"/>
                </a:solidFill>
                <a:latin typeface="Arial"/>
                <a:ea typeface="Arial"/>
                <a:cs typeface="Arial"/>
              </a:defRPr>
            </a:pPr>
            <a:r>
              <a:rPr sz="3375" b="1">
                <a:solidFill>
                  <a:srgbClr val="183247"/>
                </a:solidFill>
                <a:latin typeface="Arial"/>
                <a:ea typeface="Arial"/>
                <a:cs typeface="Arial"/>
              </a:rPr>
              <a:t>TO = TK</a:t>
            </a:r>
          </a:p>
        </p:txBody>
      </p:sp>
      <p:sp>
        <p:nvSpPr>
          <p:cNvPr id="6" name="Opbrengst dekt alle kosten">
            <a:extLst xmlns:a="http://schemas.openxmlformats.org/drawingml/2006/main">
              <a:ext uri="{FF2B5EF4-FFF2-40B4-BE49-F238E27FC236}">
                <a16:creationId xmlns:a16="http://schemas.microsoft.com/office/drawing/2014/main" id="{E21AF8D3-4D98-42E1-BE33-850A66306AAE}"/>
              </a:ext>
            </a:extLst>
          </p:cNvPr>
          <p:cNvSpPr>
            <a:spLocks xmlns:a="http://schemas.openxmlformats.org/drawingml/2006/main" noGrp="1"/>
          </p:cNvSpPr>
          <p:nvPr/>
        </p:nvSpPr>
        <p:spPr>
          <a:xfrm xmlns:a="http://schemas.openxmlformats.org/drawingml/2006/main">
            <a:off x="9858375" y="2047875"/>
            <a:ext cx="481012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Opbrengst dekt alle kosten</a:t>
            </a:r>
          </a:p>
        </p:txBody>
      </p:sp>
      <p:sp>
        <p:nvSpPr>
          <p:cNvPr id="7" name="5Q = 1.200 + 2Q">
            <a:extLst xmlns:a="http://schemas.openxmlformats.org/drawingml/2006/main">
              <a:ext uri="{FF2B5EF4-FFF2-40B4-BE49-F238E27FC236}">
                <a16:creationId xmlns:a16="http://schemas.microsoft.com/office/drawing/2014/main" id="{5109DF82-6D98-4820-A3E1-1BE3F66982A5}"/>
              </a:ext>
            </a:extLst>
          </p:cNvPr>
          <p:cNvSpPr>
            <a:spLocks xmlns:a="http://schemas.openxmlformats.org/drawingml/2006/main" noGrp="1"/>
          </p:cNvSpPr>
          <p:nvPr/>
        </p:nvSpPr>
        <p:spPr>
          <a:xfrm xmlns:a="http://schemas.openxmlformats.org/drawingml/2006/main">
            <a:off x="571500" y="3238500"/>
            <a:ext cx="881062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183247"/>
                </a:solidFill>
                <a:latin typeface="Arial"/>
                <a:ea typeface="Arial"/>
                <a:cs typeface="Arial"/>
              </a:defRPr>
            </a:pPr>
            <a:r>
              <a:rPr sz="3375" b="1">
                <a:solidFill>
                  <a:srgbClr val="183247"/>
                </a:solidFill>
                <a:latin typeface="Arial"/>
                <a:ea typeface="Arial"/>
                <a:cs typeface="Arial"/>
              </a:rPr>
              <a:t>5Q = 1.200 + 2Q</a:t>
            </a:r>
          </a:p>
        </p:txBody>
      </p:sp>
      <p:sp>
        <p:nvSpPr>
          <p:cNvPr id="8" name="Functies invullen">
            <a:extLst xmlns:a="http://schemas.openxmlformats.org/drawingml/2006/main">
              <a:ext uri="{FF2B5EF4-FFF2-40B4-BE49-F238E27FC236}">
                <a16:creationId xmlns:a16="http://schemas.microsoft.com/office/drawing/2014/main" id="{E355D26E-0EBE-4160-9E7A-B3844039E25D}"/>
              </a:ext>
            </a:extLst>
          </p:cNvPr>
          <p:cNvSpPr>
            <a:spLocks xmlns:a="http://schemas.openxmlformats.org/drawingml/2006/main" noGrp="1"/>
          </p:cNvSpPr>
          <p:nvPr/>
        </p:nvSpPr>
        <p:spPr>
          <a:xfrm xmlns:a="http://schemas.openxmlformats.org/drawingml/2006/main">
            <a:off x="9858375" y="3305175"/>
            <a:ext cx="481012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Functies invullen</a:t>
            </a:r>
          </a:p>
        </p:txBody>
      </p:sp>
      <p:sp>
        <p:nvSpPr>
          <p:cNvPr id="9" name="3Q = 1.200">
            <a:extLst xmlns:a="http://schemas.openxmlformats.org/drawingml/2006/main">
              <a:ext uri="{FF2B5EF4-FFF2-40B4-BE49-F238E27FC236}">
                <a16:creationId xmlns:a16="http://schemas.microsoft.com/office/drawing/2014/main" id="{2D3FD35F-DD0F-474A-85E8-151D3C43F467}"/>
              </a:ext>
            </a:extLst>
          </p:cNvPr>
          <p:cNvSpPr>
            <a:spLocks xmlns:a="http://schemas.openxmlformats.org/drawingml/2006/main" noGrp="1"/>
          </p:cNvSpPr>
          <p:nvPr/>
        </p:nvSpPr>
        <p:spPr>
          <a:xfrm xmlns:a="http://schemas.openxmlformats.org/drawingml/2006/main">
            <a:off x="571500" y="4495800"/>
            <a:ext cx="881062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183247"/>
                </a:solidFill>
                <a:latin typeface="Arial"/>
                <a:ea typeface="Arial"/>
                <a:cs typeface="Arial"/>
              </a:defRPr>
            </a:pPr>
            <a:r>
              <a:rPr sz="3375" b="1">
                <a:solidFill>
                  <a:srgbClr val="183247"/>
                </a:solidFill>
                <a:latin typeface="Arial"/>
                <a:ea typeface="Arial"/>
                <a:cs typeface="Arial"/>
              </a:rPr>
              <a:t>3Q = 1.200</a:t>
            </a:r>
          </a:p>
        </p:txBody>
      </p:sp>
      <p:sp>
        <p:nvSpPr>
          <p:cNvPr id="10" name="Aan beide kanten 2Q aftrekken">
            <a:extLst xmlns:a="http://schemas.openxmlformats.org/drawingml/2006/main">
              <a:ext uri="{FF2B5EF4-FFF2-40B4-BE49-F238E27FC236}">
                <a16:creationId xmlns:a16="http://schemas.microsoft.com/office/drawing/2014/main" id="{BB43F602-64D4-4B1A-B052-278D19839DDD}"/>
              </a:ext>
            </a:extLst>
          </p:cNvPr>
          <p:cNvSpPr>
            <a:spLocks xmlns:a="http://schemas.openxmlformats.org/drawingml/2006/main" noGrp="1"/>
          </p:cNvSpPr>
          <p:nvPr/>
        </p:nvSpPr>
        <p:spPr>
          <a:xfrm xmlns:a="http://schemas.openxmlformats.org/drawingml/2006/main">
            <a:off x="9858375" y="4562475"/>
            <a:ext cx="481012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Aan beide kanten 2Q aftrekken</a:t>
            </a:r>
          </a:p>
        </p:txBody>
      </p:sp>
      <p:sp>
        <p:nvSpPr>
          <p:cNvPr id="11" name="Q = 1.200 / 3 = 400">
            <a:extLst xmlns:a="http://schemas.openxmlformats.org/drawingml/2006/main">
              <a:ext uri="{FF2B5EF4-FFF2-40B4-BE49-F238E27FC236}">
                <a16:creationId xmlns:a16="http://schemas.microsoft.com/office/drawing/2014/main" id="{9F702C60-9018-455C-A4CD-772681602542}"/>
              </a:ext>
            </a:extLst>
          </p:cNvPr>
          <p:cNvSpPr>
            <a:spLocks xmlns:a="http://schemas.openxmlformats.org/drawingml/2006/main" noGrp="1"/>
          </p:cNvSpPr>
          <p:nvPr/>
        </p:nvSpPr>
        <p:spPr>
          <a:xfrm xmlns:a="http://schemas.openxmlformats.org/drawingml/2006/main">
            <a:off x="571500" y="5753100"/>
            <a:ext cx="881062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20665B"/>
                </a:solidFill>
                <a:latin typeface="Arial"/>
                <a:ea typeface="Arial"/>
                <a:cs typeface="Arial"/>
              </a:defRPr>
            </a:pPr>
            <a:r>
              <a:rPr sz="3375" b="1">
                <a:solidFill>
                  <a:srgbClr val="20665B"/>
                </a:solidFill>
                <a:latin typeface="Arial"/>
                <a:ea typeface="Arial"/>
                <a:cs typeface="Arial"/>
              </a:rPr>
              <a:t>Q = 1.200 / 3 = 400</a:t>
            </a:r>
          </a:p>
        </p:txBody>
      </p:sp>
      <p:sp>
        <p:nvSpPr>
          <p:cNvPr id="12" name="Lunchboxen per dag">
            <a:extLst xmlns:a="http://schemas.openxmlformats.org/drawingml/2006/main">
              <a:ext uri="{FF2B5EF4-FFF2-40B4-BE49-F238E27FC236}">
                <a16:creationId xmlns:a16="http://schemas.microsoft.com/office/drawing/2014/main" id="{19A332F5-BF56-45D7-92DC-5B8B7099C379}"/>
              </a:ext>
            </a:extLst>
          </p:cNvPr>
          <p:cNvSpPr>
            <a:spLocks xmlns:a="http://schemas.openxmlformats.org/drawingml/2006/main" noGrp="1"/>
          </p:cNvSpPr>
          <p:nvPr/>
        </p:nvSpPr>
        <p:spPr>
          <a:xfrm xmlns:a="http://schemas.openxmlformats.org/drawingml/2006/main">
            <a:off x="9858375" y="5819775"/>
            <a:ext cx="481012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Lunchboxen per dag</a:t>
            </a:r>
          </a:p>
        </p:txBody>
      </p:sp>
      <p:sp>
        <p:nvSpPr>
          <p:cNvPr id="13" name="Controle: TO = 5 × 400 = € 2.000 per dag">
            <a:extLst xmlns:a="http://schemas.openxmlformats.org/drawingml/2006/main">
              <a:ext uri="{FF2B5EF4-FFF2-40B4-BE49-F238E27FC236}">
                <a16:creationId xmlns:a16="http://schemas.microsoft.com/office/drawing/2014/main" id="{8E50A144-A7AD-46B9-97A8-2DDDFCE00553}"/>
              </a:ext>
            </a:extLst>
          </p:cNvPr>
          <p:cNvSpPr>
            <a:spLocks xmlns:a="http://schemas.openxmlformats.org/drawingml/2006/main" noGrp="1"/>
          </p:cNvSpPr>
          <p:nvPr/>
        </p:nvSpPr>
        <p:spPr>
          <a:xfrm xmlns:a="http://schemas.openxmlformats.org/drawingml/2006/main">
            <a:off x="571500" y="7143750"/>
            <a:ext cx="14097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17658A"/>
                </a:solidFill>
                <a:latin typeface="Arial"/>
                <a:ea typeface="Arial"/>
                <a:cs typeface="Arial"/>
              </a:defRPr>
            </a:pPr>
            <a:r>
              <a:rPr sz="2550" b="1">
                <a:solidFill>
                  <a:srgbClr val="17658A"/>
                </a:solidFill>
                <a:latin typeface="Arial"/>
                <a:ea typeface="Arial"/>
                <a:cs typeface="Arial"/>
              </a:rPr>
              <a:t>Controle: TO = 5 × 400 = € 2.000 per dag</a:t>
            </a:r>
          </a:p>
        </p:txBody>
      </p:sp>
      <p:sp>
        <p:nvSpPr>
          <p:cNvPr id="14" name="TK = 1.200 + 2 × 400 = € 2.000 per dag. Winst = € 0.">
            <a:extLst xmlns:a="http://schemas.openxmlformats.org/drawingml/2006/main">
              <a:ext uri="{FF2B5EF4-FFF2-40B4-BE49-F238E27FC236}">
                <a16:creationId xmlns:a16="http://schemas.microsoft.com/office/drawing/2014/main" id="{4C760BD6-5A7B-436F-98D7-4FD5DAB87C27}"/>
              </a:ext>
            </a:extLst>
          </p:cNvPr>
          <p:cNvSpPr>
            <a:spLocks xmlns:a="http://schemas.openxmlformats.org/drawingml/2006/main" noGrp="1"/>
          </p:cNvSpPr>
          <p:nvPr/>
        </p:nvSpPr>
        <p:spPr>
          <a:xfrm xmlns:a="http://schemas.openxmlformats.org/drawingml/2006/main">
            <a:off x="571500" y="7600950"/>
            <a:ext cx="14097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TK = 1.200 + 2 × 400 = € 2.000 per dag. Winst = € 0.</a:t>
            </a:r>
          </a:p>
        </p:txBody>
      </p:sp>
    </p:spTree>
    <p:extLst>
      <p:ext uri="{BB962C8B-B14F-4D97-AF65-F5344CB8AC3E}">
        <p14:creationId xmlns:p14="http://schemas.microsoft.com/office/powerpoint/2010/main" val="793295441"/>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Opgave 5c · Vrijdag bij 700 lunchboxen">
            <a:extLst xmlns:a="http://schemas.openxmlformats.org/drawingml/2006/main">
              <a:ext uri="{FF2B5EF4-FFF2-40B4-BE49-F238E27FC236}">
                <a16:creationId xmlns:a16="http://schemas.microsoft.com/office/drawing/2014/main" id="{F036399F-A8EA-4C49-8D5D-54CBCFA4C1A2}"/>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5c · Vrijdag bij 700 lunchboxen</a:t>
            </a:r>
          </a:p>
        </p:txBody>
      </p:sp>
      <p:sp>
        <p:nvSpPr>
          <p:cNvPr id="2" name="">
            <a:extLst xmlns:a="http://schemas.openxmlformats.org/drawingml/2006/main">
              <a:ext uri="{FF2B5EF4-FFF2-40B4-BE49-F238E27FC236}">
                <a16:creationId xmlns:a16="http://schemas.microsoft.com/office/drawing/2014/main" id="{8D380D32-F9BE-4C3F-ABAF-4914FF9B606F}"/>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4 Gemengde opgaven · Opgave 5 · Boekpagina 32–33">
            <a:extLst xmlns:a="http://schemas.openxmlformats.org/drawingml/2006/main">
              <a:ext uri="{FF2B5EF4-FFF2-40B4-BE49-F238E27FC236}">
                <a16:creationId xmlns:a16="http://schemas.microsoft.com/office/drawing/2014/main" id="{73F6B6EF-159E-4EDB-819D-3575BFB8207F}"/>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§2.1.4 Gemengde opgaven · Opgave 5 · Boekpagina 32–33</a:t>
            </a:r>
          </a:p>
        </p:txBody>
      </p:sp>
      <p:sp>
        <p:nvSpPr>
          <p:cNvPr id="4" name="slide-number">
            <a:extLst xmlns:a="http://schemas.openxmlformats.org/drawingml/2006/main">
              <a:ext uri="{FF2B5EF4-FFF2-40B4-BE49-F238E27FC236}">
                <a16:creationId xmlns:a16="http://schemas.microsoft.com/office/drawing/2014/main" id="{102EFAE2-A35E-4880-B2D5-4779B611363C}"/>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17</a:t>
            </a:r>
          </a:p>
        </p:txBody>
      </p:sp>
      <p:sp>
        <p:nvSpPr>
          <p:cNvPr id="5" name="TK = 1.200 + 2 × 700 = € 2.600 per dag">
            <a:extLst xmlns:a="http://schemas.openxmlformats.org/drawingml/2006/main">
              <a:ext uri="{FF2B5EF4-FFF2-40B4-BE49-F238E27FC236}">
                <a16:creationId xmlns:a16="http://schemas.microsoft.com/office/drawing/2014/main" id="{0B8DED40-2B0C-4C50-A80C-4117A1F68C82}"/>
              </a:ext>
            </a:extLst>
          </p:cNvPr>
          <p:cNvSpPr>
            <a:spLocks xmlns:a="http://schemas.openxmlformats.org/drawingml/2006/main" noGrp="1"/>
          </p:cNvSpPr>
          <p:nvPr/>
        </p:nvSpPr>
        <p:spPr>
          <a:xfrm xmlns:a="http://schemas.openxmlformats.org/drawingml/2006/main">
            <a:off x="571500" y="2057400"/>
            <a:ext cx="14097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A94D16"/>
                </a:solidFill>
                <a:latin typeface="Arial"/>
                <a:ea typeface="Arial"/>
                <a:cs typeface="Arial"/>
              </a:defRPr>
            </a:pPr>
            <a:r>
              <a:rPr sz="3300" b="1">
                <a:solidFill>
                  <a:srgbClr val="A94D16"/>
                </a:solidFill>
                <a:latin typeface="Arial"/>
                <a:ea typeface="Arial"/>
                <a:cs typeface="Arial"/>
              </a:rPr>
              <a:t>TK = 1.200 + 2 × 700 = € 2.600 per dag</a:t>
            </a:r>
          </a:p>
        </p:txBody>
      </p:sp>
      <p:sp>
        <p:nvSpPr>
          <p:cNvPr id="6" name="TO = 5 × 700 = € 3.500 per dag">
            <a:extLst xmlns:a="http://schemas.openxmlformats.org/drawingml/2006/main">
              <a:ext uri="{FF2B5EF4-FFF2-40B4-BE49-F238E27FC236}">
                <a16:creationId xmlns:a16="http://schemas.microsoft.com/office/drawing/2014/main" id="{AA9D52EF-9E20-4AF9-BA3A-FF8EA2C1282B}"/>
              </a:ext>
            </a:extLst>
          </p:cNvPr>
          <p:cNvSpPr>
            <a:spLocks xmlns:a="http://schemas.openxmlformats.org/drawingml/2006/main" noGrp="1"/>
          </p:cNvSpPr>
          <p:nvPr/>
        </p:nvSpPr>
        <p:spPr>
          <a:xfrm xmlns:a="http://schemas.openxmlformats.org/drawingml/2006/main">
            <a:off x="571500" y="3171825"/>
            <a:ext cx="14097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17658A"/>
                </a:solidFill>
                <a:latin typeface="Arial"/>
                <a:ea typeface="Arial"/>
                <a:cs typeface="Arial"/>
              </a:defRPr>
            </a:pPr>
            <a:r>
              <a:rPr sz="3300" b="1">
                <a:solidFill>
                  <a:srgbClr val="17658A"/>
                </a:solidFill>
                <a:latin typeface="Arial"/>
                <a:ea typeface="Arial"/>
                <a:cs typeface="Arial"/>
              </a:rPr>
              <a:t>TO = 5 × 700 = € 3.500 per dag</a:t>
            </a:r>
          </a:p>
        </p:txBody>
      </p:sp>
      <p:sp>
        <p:nvSpPr>
          <p:cNvPr id="7" name="">
            <a:extLst xmlns:a="http://schemas.openxmlformats.org/drawingml/2006/main">
              <a:ext uri="{FF2B5EF4-FFF2-40B4-BE49-F238E27FC236}">
                <a16:creationId xmlns:a16="http://schemas.microsoft.com/office/drawing/2014/main" id="{E7F594A9-97A3-4979-ADEE-32AF4AC3E89C}"/>
              </a:ext>
            </a:extLst>
          </p:cNvPr>
          <p:cNvSpPr>
            <a:spLocks xmlns:a="http://schemas.openxmlformats.org/drawingml/2006/main" noGrp="1"/>
          </p:cNvSpPr>
          <p:nvPr/>
        </p:nvSpPr>
        <p:spPr>
          <a:xfrm xmlns:a="http://schemas.openxmlformats.org/drawingml/2006/main">
            <a:off x="571500" y="4371975"/>
            <a:ext cx="14097000" cy="0"/>
          </a:xfrm>
          <a:prstGeom xmlns:a="http://schemas.openxmlformats.org/drawingml/2006/main" prst="line">
            <a:avLst/>
          </a:prstGeom>
          <a:ln xmlns:a="http://schemas.openxmlformats.org/drawingml/2006/main" w="19050">
            <a:solidFill>
              <a:srgbClr val="C6D2DB"/>
            </a:solidFill>
          </a:ln>
        </p:spPr>
      </p:sp>
      <p:sp>
        <p:nvSpPr>
          <p:cNvPr id="8" name="Winst = TO − TK = 3.500 − 2.600">
            <a:extLst xmlns:a="http://schemas.openxmlformats.org/drawingml/2006/main">
              <a:ext uri="{FF2B5EF4-FFF2-40B4-BE49-F238E27FC236}">
                <a16:creationId xmlns:a16="http://schemas.microsoft.com/office/drawing/2014/main" id="{2B537BC6-444E-4E5C-BBFA-3ED86D2BB710}"/>
              </a:ext>
            </a:extLst>
          </p:cNvPr>
          <p:cNvSpPr>
            <a:spLocks xmlns:a="http://schemas.openxmlformats.org/drawingml/2006/main" noGrp="1"/>
          </p:cNvSpPr>
          <p:nvPr/>
        </p:nvSpPr>
        <p:spPr>
          <a:xfrm xmlns:a="http://schemas.openxmlformats.org/drawingml/2006/main">
            <a:off x="571500" y="4895850"/>
            <a:ext cx="140970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0">
                <a:solidFill>
                  <a:srgbClr val="183247"/>
                </a:solidFill>
                <a:latin typeface="Arial"/>
                <a:ea typeface="Arial"/>
                <a:cs typeface="Arial"/>
              </a:defRPr>
            </a:pPr>
            <a:r>
              <a:rPr sz="3075" b="0">
                <a:solidFill>
                  <a:srgbClr val="183247"/>
                </a:solidFill>
                <a:latin typeface="Arial"/>
                <a:ea typeface="Arial"/>
                <a:cs typeface="Arial"/>
              </a:rPr>
              <a:t>Winst = TO − TK = 3.500 − 2.600</a:t>
            </a:r>
          </a:p>
        </p:txBody>
      </p:sp>
      <p:sp>
        <p:nvSpPr>
          <p:cNvPr id="9" name="= € 900 per dag">
            <a:extLst xmlns:a="http://schemas.openxmlformats.org/drawingml/2006/main">
              <a:ext uri="{FF2B5EF4-FFF2-40B4-BE49-F238E27FC236}">
                <a16:creationId xmlns:a16="http://schemas.microsoft.com/office/drawing/2014/main" id="{F56EBB7A-648E-41EE-93F0-3FDDB19B2E36}"/>
              </a:ext>
            </a:extLst>
          </p:cNvPr>
          <p:cNvSpPr>
            <a:spLocks xmlns:a="http://schemas.openxmlformats.org/drawingml/2006/main" noGrp="1"/>
          </p:cNvSpPr>
          <p:nvPr/>
        </p:nvSpPr>
        <p:spPr>
          <a:xfrm xmlns:a="http://schemas.openxmlformats.org/drawingml/2006/main">
            <a:off x="571500" y="5591175"/>
            <a:ext cx="14097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20665B"/>
                </a:solidFill>
                <a:latin typeface="Arial"/>
                <a:ea typeface="Arial"/>
                <a:cs typeface="Arial"/>
              </a:defRPr>
            </a:pPr>
            <a:r>
              <a:rPr sz="3375" b="1">
                <a:solidFill>
                  <a:srgbClr val="20665B"/>
                </a:solidFill>
                <a:latin typeface="Arial"/>
                <a:ea typeface="Arial"/>
                <a:cs typeface="Arial"/>
              </a:rPr>
              <a:t>= € 900 per dag</a:t>
            </a:r>
          </a:p>
        </p:txBody>
      </p:sp>
      <p:sp>
        <p:nvSpPr>
          <p:cNvPr id="10" name="GTK = TK / Q = 2.600 / 700 ≈ € 3,71 per lunchbox">
            <a:extLst xmlns:a="http://schemas.openxmlformats.org/drawingml/2006/main">
              <a:ext uri="{FF2B5EF4-FFF2-40B4-BE49-F238E27FC236}">
                <a16:creationId xmlns:a16="http://schemas.microsoft.com/office/drawing/2014/main" id="{BE20410B-4D23-4F9B-AAA6-58C93272180F}"/>
              </a:ext>
            </a:extLst>
          </p:cNvPr>
          <p:cNvSpPr>
            <a:spLocks xmlns:a="http://schemas.openxmlformats.org/drawingml/2006/main" noGrp="1"/>
          </p:cNvSpPr>
          <p:nvPr/>
        </p:nvSpPr>
        <p:spPr>
          <a:xfrm xmlns:a="http://schemas.openxmlformats.org/drawingml/2006/main">
            <a:off x="571500" y="7000875"/>
            <a:ext cx="14097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83247"/>
                </a:solidFill>
                <a:latin typeface="Arial"/>
                <a:ea typeface="Arial"/>
                <a:cs typeface="Arial"/>
              </a:defRPr>
            </a:pPr>
            <a:r>
              <a:rPr sz="3000" b="1">
                <a:solidFill>
                  <a:srgbClr val="183247"/>
                </a:solidFill>
                <a:latin typeface="Arial"/>
                <a:ea typeface="Arial"/>
                <a:cs typeface="Arial"/>
              </a:rPr>
              <a:t>GTK = TK / Q = 2.600 / 700 ≈ € 3,71 per lunchbox</a:t>
            </a:r>
          </a:p>
        </p:txBody>
      </p:sp>
    </p:spTree>
    <p:extLst>
      <p:ext uri="{BB962C8B-B14F-4D97-AF65-F5344CB8AC3E}">
        <p14:creationId xmlns:p14="http://schemas.microsoft.com/office/powerpoint/2010/main" val="1708808147"/>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Opgave 5d · MK en MO op zaterdag">
            <a:extLst xmlns:a="http://schemas.openxmlformats.org/drawingml/2006/main">
              <a:ext uri="{FF2B5EF4-FFF2-40B4-BE49-F238E27FC236}">
                <a16:creationId xmlns:a16="http://schemas.microsoft.com/office/drawing/2014/main" id="{4C743F35-035C-452B-A432-BEF9D94D5609}"/>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5d · MK en MO op zaterdag</a:t>
            </a:r>
          </a:p>
        </p:txBody>
      </p:sp>
      <p:sp>
        <p:nvSpPr>
          <p:cNvPr id="2" name="">
            <a:extLst xmlns:a="http://schemas.openxmlformats.org/drawingml/2006/main">
              <a:ext uri="{FF2B5EF4-FFF2-40B4-BE49-F238E27FC236}">
                <a16:creationId xmlns:a16="http://schemas.microsoft.com/office/drawing/2014/main" id="{D905B639-E43D-42A2-82ED-CBF726DC8203}"/>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4 Gemengde opgaven · Opgave 5 · Boekpagina 32–33">
            <a:extLst xmlns:a="http://schemas.openxmlformats.org/drawingml/2006/main">
              <a:ext uri="{FF2B5EF4-FFF2-40B4-BE49-F238E27FC236}">
                <a16:creationId xmlns:a16="http://schemas.microsoft.com/office/drawing/2014/main" id="{FF12082C-5204-4CD0-A99F-383E7410CC3F}"/>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§2.1.4 Gemengde opgaven · Opgave 5 · Boekpagina 32–33</a:t>
            </a:r>
          </a:p>
        </p:txBody>
      </p:sp>
      <p:sp>
        <p:nvSpPr>
          <p:cNvPr id="4" name="slide-number">
            <a:extLst xmlns:a="http://schemas.openxmlformats.org/drawingml/2006/main">
              <a:ext uri="{FF2B5EF4-FFF2-40B4-BE49-F238E27FC236}">
                <a16:creationId xmlns:a16="http://schemas.microsoft.com/office/drawing/2014/main" id="{FF1B1669-B278-4406-95E8-F967ACA730A4}"/>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18</a:t>
            </a:r>
          </a:p>
        </p:txBody>
      </p:sp>
      <p:sp>
        <p:nvSpPr>
          <p:cNvPr id="5" name="MK = ΔTK / ΔQ     MO = ΔTO / ΔQ">
            <a:extLst xmlns:a="http://schemas.openxmlformats.org/drawingml/2006/main">
              <a:ext uri="{FF2B5EF4-FFF2-40B4-BE49-F238E27FC236}">
                <a16:creationId xmlns:a16="http://schemas.microsoft.com/office/drawing/2014/main" id="{0DFE9CD0-0599-4AAC-A0BD-8CC5A61E2037}"/>
              </a:ext>
            </a:extLst>
          </p:cNvPr>
          <p:cNvSpPr>
            <a:spLocks xmlns:a="http://schemas.openxmlformats.org/drawingml/2006/main" noGrp="1"/>
          </p:cNvSpPr>
          <p:nvPr/>
        </p:nvSpPr>
        <p:spPr>
          <a:xfrm xmlns:a="http://schemas.openxmlformats.org/drawingml/2006/main">
            <a:off x="571500" y="1752600"/>
            <a:ext cx="14097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1">
                <a:solidFill>
                  <a:srgbClr val="17658A"/>
                </a:solidFill>
                <a:latin typeface="Arial"/>
                <a:ea typeface="Arial"/>
                <a:cs typeface="Arial"/>
              </a:defRPr>
            </a:pPr>
            <a:r>
              <a:rPr sz="3075" b="1">
                <a:solidFill>
                  <a:srgbClr val="17658A"/>
                </a:solidFill>
                <a:latin typeface="Arial"/>
                <a:ea typeface="Arial"/>
                <a:cs typeface="Arial"/>
              </a:rPr>
              <a:t>MK = ΔTK / ΔQ     MO = ΔTO / ΔQ</a:t>
            </a:r>
          </a:p>
        </p:txBody>
      </p:sp>
      <p:graphicFrame>
        <p:nvGraphicFramePr>
          <p:cNvPr id="13" name=""/>
          <p:cNvGraphicFramePr/>
          <p:nvPr/>
        </p:nvGraphicFramePr>
        <p:xfrm>
          <a:off xmlns:a="http://schemas.openxmlformats.org/drawingml/2006/main" x="571500" y="2828925"/>
          <a:ext xmlns:a="http://schemas.openxmlformats.org/drawingml/2006/main" cx="14097000" cy="4191000"/>
        </p:xfrm>
        <a:graphic xmlns:a="http://schemas.openxmlformats.org/drawingml/2006/main">
          <a:graphicData uri="http://schemas.openxmlformats.org/drawingml/2006/table">
            <a:tbl>
              <a:tblPr/>
              <a:tblGrid>
                <a:gridCol w="3619500"/>
                <a:gridCol w="5238750"/>
                <a:gridCol w="5238750"/>
              </a:tblGrid>
              <a:tr h="1047750">
                <a:tc>
                  <a:txBody>
                    <a:bodyPr lIns="171450" tIns="95250" rIns="152400" bIns="95250"/>
                    <a:lstStyle/>
                    <a:p>
                      <a:r>
                        <a:rPr sz="2250" b="1">
                          <a:solidFill>
                            <a:srgbClr val="FFFFFF"/>
                          </a:solidFill>
                          <a:latin typeface="Arial"/>
                          <a:ea typeface="Arial"/>
                          <a:cs typeface="Arial"/>
                        </a:rPr>
                        <a:t>Stap (lunchboxen)</a:t>
                      </a:r>
                    </a:p>
                  </a:txBody>
                  <a:tcPr marL="91440" marR="91440" marT="45720" marB="45720" anchor="ctr">
                    <a:solidFill>
                      <a:srgbClr val="183247"/>
                    </a:solidFill>
                  </a:tcPr>
                </a:tc>
                <a:tc>
                  <a:txBody>
                    <a:bodyPr lIns="171450" tIns="95250" rIns="152400" bIns="95250"/>
                    <a:lstStyle/>
                    <a:p>
                      <a:r>
                        <a:rPr sz="2250" b="1">
                          <a:solidFill>
                            <a:srgbClr val="FFFFFF"/>
                          </a:solidFill>
                          <a:latin typeface="Arial"/>
                          <a:ea typeface="Arial"/>
                          <a:cs typeface="Arial"/>
                        </a:rPr>
                        <a:t>MK (€ per extra lunchbox)</a:t>
                      </a:r>
                    </a:p>
                  </a:txBody>
                  <a:tcPr marL="91440" marR="91440" marT="45720" marB="45720" anchor="ctr">
                    <a:solidFill>
                      <a:srgbClr val="183247"/>
                    </a:solidFill>
                  </a:tcPr>
                </a:tc>
                <a:tc>
                  <a:txBody>
                    <a:bodyPr lIns="171450" tIns="95250" rIns="152400" bIns="95250"/>
                    <a:lstStyle/>
                    <a:p>
                      <a:r>
                        <a:rPr sz="2250" b="1">
                          <a:solidFill>
                            <a:srgbClr val="FFFFFF"/>
                          </a:solidFill>
                          <a:latin typeface="Arial"/>
                          <a:ea typeface="Arial"/>
                          <a:cs typeface="Arial"/>
                        </a:rPr>
                        <a:t>MO (€ per extra lunchbox)</a:t>
                      </a:r>
                    </a:p>
                  </a:txBody>
                  <a:tcPr marL="91440" marR="91440" marT="45720" marB="45720" anchor="ctr">
                    <a:solidFill>
                      <a:srgbClr val="183247"/>
                    </a:solidFill>
                  </a:tcPr>
                </a:tc>
              </a:tr>
              <a:tr h="1047750">
                <a:tc>
                  <a:txBody>
                    <a:bodyPr lIns="171450" tIns="95250" rIns="152400" bIns="95250"/>
                    <a:lstStyle/>
                    <a:p>
                      <a:r>
                        <a:rPr sz="2250" b="0">
                          <a:solidFill>
                            <a:srgbClr val="183247"/>
                          </a:solidFill>
                          <a:latin typeface="Arial"/>
                          <a:ea typeface="Arial"/>
                          <a:cs typeface="Arial"/>
                        </a:rPr>
                        <a:t>700 naar 800</a:t>
                      </a:r>
                    </a:p>
                  </a:txBody>
                  <a:tcPr marL="91440" marR="91440" marT="45720" marB="45720" anchor="ctr">
                    <a:solidFill>
                      <a:srgbClr val="FFFFFF"/>
                    </a:solidFill>
                  </a:tcPr>
                </a:tc>
                <a:tc>
                  <a:txBody>
                    <a:bodyPr lIns="171450" tIns="95250" rIns="152400" bIns="95250"/>
                    <a:lstStyle/>
                    <a:p>
                      <a:r>
                        <a:rPr sz="2250" b="0">
                          <a:solidFill>
                            <a:srgbClr val="183247"/>
                          </a:solidFill>
                          <a:latin typeface="Arial"/>
                          <a:ea typeface="Arial"/>
                          <a:cs typeface="Arial"/>
                        </a:rPr>
                        <a:t>(2.900 − 2.600) /</a:t>
                      </a:r>
                    </a:p>
                    <a:p>
                      <a:r>
                        <a:rPr sz="2250" b="0">
                          <a:solidFill>
                            <a:srgbClr val="183247"/>
                          </a:solidFill>
                          <a:latin typeface="Arial"/>
                          <a:ea typeface="Arial"/>
                          <a:cs typeface="Arial"/>
                        </a:rPr>
                        <a:t>(800 − 700) = 3,00</a:t>
                      </a:r>
                    </a:p>
                  </a:txBody>
                  <a:tcPr marL="91440" marR="91440" marT="45720" marB="45720" anchor="ctr">
                    <a:solidFill>
                      <a:srgbClr val="FFFFFF"/>
                    </a:solidFill>
                  </a:tcPr>
                </a:tc>
                <a:tc>
                  <a:txBody>
                    <a:bodyPr lIns="171450" tIns="95250" rIns="152400" bIns="95250"/>
                    <a:lstStyle/>
                    <a:p>
                      <a:r>
                        <a:rPr sz="2250" b="0">
                          <a:solidFill>
                            <a:srgbClr val="183247"/>
                          </a:solidFill>
                          <a:latin typeface="Arial"/>
                          <a:ea typeface="Arial"/>
                          <a:cs typeface="Arial"/>
                        </a:rPr>
                        <a:t>(4.000 − 3.500) /</a:t>
                      </a:r>
                    </a:p>
                    <a:p>
                      <a:r>
                        <a:rPr sz="2250" b="0">
                          <a:solidFill>
                            <a:srgbClr val="183247"/>
                          </a:solidFill>
                          <a:latin typeface="Arial"/>
                          <a:ea typeface="Arial"/>
                          <a:cs typeface="Arial"/>
                        </a:rPr>
                        <a:t>(800 − 700) = 5,00</a:t>
                      </a:r>
                    </a:p>
                  </a:txBody>
                  <a:tcPr marL="91440" marR="91440" marT="45720" marB="45720" anchor="ctr">
                    <a:solidFill>
                      <a:srgbClr val="FFFFFF"/>
                    </a:solidFill>
                  </a:tcPr>
                </a:tc>
              </a:tr>
              <a:tr h="1047750">
                <a:tc>
                  <a:txBody>
                    <a:bodyPr lIns="171450" tIns="95250" rIns="152400" bIns="95250"/>
                    <a:lstStyle/>
                    <a:p>
                      <a:r>
                        <a:rPr sz="2250" b="0">
                          <a:solidFill>
                            <a:srgbClr val="183247"/>
                          </a:solidFill>
                          <a:latin typeface="Arial"/>
                          <a:ea typeface="Arial"/>
                          <a:cs typeface="Arial"/>
                        </a:rPr>
                        <a:t>800 naar 900</a:t>
                      </a:r>
                    </a:p>
                  </a:txBody>
                  <a:tcPr marL="91440" marR="91440" marT="45720" marB="45720" anchor="ctr">
                    <a:solidFill>
                      <a:srgbClr val="EFF4F7"/>
                    </a:solidFill>
                  </a:tcPr>
                </a:tc>
                <a:tc>
                  <a:txBody>
                    <a:bodyPr lIns="171450" tIns="95250" rIns="152400" bIns="95250"/>
                    <a:lstStyle/>
                    <a:p>
                      <a:r>
                        <a:rPr sz="2250" b="0">
                          <a:solidFill>
                            <a:srgbClr val="183247"/>
                          </a:solidFill>
                          <a:latin typeface="Arial"/>
                          <a:ea typeface="Arial"/>
                          <a:cs typeface="Arial"/>
                        </a:rPr>
                        <a:t>(3.250 − 2.900) /</a:t>
                      </a:r>
                    </a:p>
                    <a:p>
                      <a:r>
                        <a:rPr sz="2250" b="0">
                          <a:solidFill>
                            <a:srgbClr val="183247"/>
                          </a:solidFill>
                          <a:latin typeface="Arial"/>
                          <a:ea typeface="Arial"/>
                          <a:cs typeface="Arial"/>
                        </a:rPr>
                        <a:t>(900 − 800) = 3,50</a:t>
                      </a:r>
                    </a:p>
                  </a:txBody>
                  <a:tcPr marL="91440" marR="91440" marT="45720" marB="45720" anchor="ctr">
                    <a:solidFill>
                      <a:srgbClr val="EFF4F7"/>
                    </a:solidFill>
                  </a:tcPr>
                </a:tc>
                <a:tc>
                  <a:txBody>
                    <a:bodyPr lIns="171450" tIns="95250" rIns="152400" bIns="95250"/>
                    <a:lstStyle/>
                    <a:p>
                      <a:r>
                        <a:rPr sz="2250" b="0">
                          <a:solidFill>
                            <a:srgbClr val="183247"/>
                          </a:solidFill>
                          <a:latin typeface="Arial"/>
                          <a:ea typeface="Arial"/>
                          <a:cs typeface="Arial"/>
                        </a:rPr>
                        <a:t>(4.500 − 4.000) /</a:t>
                      </a:r>
                    </a:p>
                    <a:p>
                      <a:r>
                        <a:rPr sz="2250" b="0">
                          <a:solidFill>
                            <a:srgbClr val="183247"/>
                          </a:solidFill>
                          <a:latin typeface="Arial"/>
                          <a:ea typeface="Arial"/>
                          <a:cs typeface="Arial"/>
                        </a:rPr>
                        <a:t>(900 − 800) = 5,00</a:t>
                      </a:r>
                    </a:p>
                  </a:txBody>
                  <a:tcPr marL="91440" marR="91440" marT="45720" marB="45720" anchor="ctr">
                    <a:solidFill>
                      <a:srgbClr val="EFF4F7"/>
                    </a:solidFill>
                  </a:tcPr>
                </a:tc>
              </a:tr>
              <a:tr h="1047750">
                <a:tc>
                  <a:txBody>
                    <a:bodyPr lIns="171450" tIns="95250" rIns="152400" bIns="95250"/>
                    <a:lstStyle/>
                    <a:p>
                      <a:r>
                        <a:rPr sz="2250" b="0">
                          <a:solidFill>
                            <a:srgbClr val="183247"/>
                          </a:solidFill>
                          <a:latin typeface="Arial"/>
                          <a:ea typeface="Arial"/>
                          <a:cs typeface="Arial"/>
                        </a:rPr>
                        <a:t>900 naar 1.000</a:t>
                      </a:r>
                    </a:p>
                  </a:txBody>
                  <a:tcPr marL="91440" marR="91440" marT="45720" marB="45720" anchor="ctr">
                    <a:solidFill>
                      <a:srgbClr val="FFFFFF"/>
                    </a:solidFill>
                  </a:tcPr>
                </a:tc>
                <a:tc>
                  <a:txBody>
                    <a:bodyPr lIns="171450" tIns="95250" rIns="152400" bIns="95250"/>
                    <a:lstStyle/>
                    <a:p>
                      <a:r>
                        <a:rPr sz="2250" b="0">
                          <a:solidFill>
                            <a:srgbClr val="183247"/>
                          </a:solidFill>
                          <a:latin typeface="Arial"/>
                          <a:ea typeface="Arial"/>
                          <a:cs typeface="Arial"/>
                        </a:rPr>
                        <a:t>(3.650 − 3.250) /</a:t>
                      </a:r>
                    </a:p>
                    <a:p>
                      <a:r>
                        <a:rPr sz="2250" b="0">
                          <a:solidFill>
                            <a:srgbClr val="183247"/>
                          </a:solidFill>
                          <a:latin typeface="Arial"/>
                          <a:ea typeface="Arial"/>
                          <a:cs typeface="Arial"/>
                        </a:rPr>
                        <a:t>(1.000 − 900) = 4,00</a:t>
                      </a:r>
                    </a:p>
                  </a:txBody>
                  <a:tcPr marL="91440" marR="91440" marT="45720" marB="45720" anchor="ctr">
                    <a:solidFill>
                      <a:srgbClr val="FFFFFF"/>
                    </a:solidFill>
                  </a:tcPr>
                </a:tc>
                <a:tc>
                  <a:txBody>
                    <a:bodyPr lIns="171450" tIns="95250" rIns="152400" bIns="95250"/>
                    <a:lstStyle/>
                    <a:p>
                      <a:r>
                        <a:rPr sz="2250" b="0">
                          <a:solidFill>
                            <a:srgbClr val="183247"/>
                          </a:solidFill>
                          <a:latin typeface="Arial"/>
                          <a:ea typeface="Arial"/>
                          <a:cs typeface="Arial"/>
                        </a:rPr>
                        <a:t>(5.000 − 4.500) /</a:t>
                      </a:r>
                    </a:p>
                    <a:p>
                      <a:r>
                        <a:rPr sz="2250" b="0">
                          <a:solidFill>
                            <a:srgbClr val="183247"/>
                          </a:solidFill>
                          <a:latin typeface="Arial"/>
                          <a:ea typeface="Arial"/>
                          <a:cs typeface="Arial"/>
                        </a:rPr>
                        <a:t>(1.000 − 900) = 5,00</a:t>
                      </a:r>
                    </a:p>
                  </a:txBody>
                  <a:tcPr marL="91440" marR="91440" marT="45720" marB="45720" anchor="ctr">
                    <a:solidFill>
                      <a:srgbClr val="FFFFFF"/>
                    </a:solidFill>
                  </a:tcPr>
                </a:tc>
              </a:tr>
            </a:tbl>
          </a:graphicData>
        </a:graphic>
      </p:graphicFrame>
      <p:sp>
        <p:nvSpPr>
          <p:cNvPr id="7" name="De extra kosten per lunchbox stijgen.&#10;De extra opbrengst bli">
            <a:extLst xmlns:a="http://schemas.openxmlformats.org/drawingml/2006/main">
              <a:ext uri="{FF2B5EF4-FFF2-40B4-BE49-F238E27FC236}">
                <a16:creationId xmlns:a16="http://schemas.microsoft.com/office/drawing/2014/main" id="{B88A368F-006E-48D2-9920-CEB8C05D059D}"/>
              </a:ext>
            </a:extLst>
          </p:cNvPr>
          <p:cNvSpPr>
            <a:spLocks xmlns:a="http://schemas.openxmlformats.org/drawingml/2006/main" noGrp="1"/>
          </p:cNvSpPr>
          <p:nvPr/>
        </p:nvSpPr>
        <p:spPr>
          <a:xfrm xmlns:a="http://schemas.openxmlformats.org/drawingml/2006/main">
            <a:off x="571500" y="7143750"/>
            <a:ext cx="1409700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183247"/>
                </a:solidFill>
                <a:latin typeface="Arial"/>
                <a:ea typeface="Arial"/>
                <a:cs typeface="Arial"/>
              </a:defRPr>
            </a:pPr>
            <a:r>
              <a:rPr sz="2550" b="1">
                <a:solidFill>
                  <a:srgbClr val="183247"/>
                </a:solidFill>
                <a:latin typeface="Arial"/>
                <a:ea typeface="Arial"/>
                <a:cs typeface="Arial"/>
              </a:rPr>
              <a:t>De extra kosten per lunchbox stijgen.</a:t>
            </a:r>
          </a:p>
          <a:p xmlns:a="http://schemas.openxmlformats.org/drawingml/2006/main">
            <a:pPr algn="l">
              <a:defRPr sz="2550" b="1">
                <a:solidFill>
                  <a:srgbClr val="183247"/>
                </a:solidFill>
                <a:latin typeface="Arial"/>
                <a:ea typeface="Arial"/>
                <a:cs typeface="Arial"/>
              </a:defRPr>
            </a:pPr>
            <a:r>
              <a:rPr sz="2550" b="1">
                <a:solidFill>
                  <a:srgbClr val="183247"/>
                </a:solidFill>
                <a:latin typeface="Arial"/>
                <a:ea typeface="Arial"/>
                <a:cs typeface="Arial"/>
              </a:rPr>
              <a:t>De extra opbrengst blijft € 5.</a:t>
            </a:r>
          </a:p>
        </p:txBody>
      </p:sp>
    </p:spTree>
    <p:extLst>
      <p:ext uri="{BB962C8B-B14F-4D97-AF65-F5344CB8AC3E}">
        <p14:creationId xmlns:p14="http://schemas.microsoft.com/office/powerpoint/2010/main" val="508061609"/>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Opgave 5e · Break-even en positieve winst">
            <a:extLst xmlns:a="http://schemas.openxmlformats.org/drawingml/2006/main">
              <a:ext uri="{FF2B5EF4-FFF2-40B4-BE49-F238E27FC236}">
                <a16:creationId xmlns:a16="http://schemas.microsoft.com/office/drawing/2014/main" id="{33A8942C-1DAA-4A85-9E7A-EC6A89B05D42}"/>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5e · Break-even en positieve winst</a:t>
            </a:r>
          </a:p>
        </p:txBody>
      </p:sp>
      <p:sp>
        <p:nvSpPr>
          <p:cNvPr id="2" name="">
            <a:extLst xmlns:a="http://schemas.openxmlformats.org/drawingml/2006/main">
              <a:ext uri="{FF2B5EF4-FFF2-40B4-BE49-F238E27FC236}">
                <a16:creationId xmlns:a16="http://schemas.microsoft.com/office/drawing/2014/main" id="{126A52A7-5757-4BC6-A0B7-DD43CB05D371}"/>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4 Gemengde opgaven · Opgave 5 · Boekpagina 32–33">
            <a:extLst xmlns:a="http://schemas.openxmlformats.org/drawingml/2006/main">
              <a:ext uri="{FF2B5EF4-FFF2-40B4-BE49-F238E27FC236}">
                <a16:creationId xmlns:a16="http://schemas.microsoft.com/office/drawing/2014/main" id="{6DF265A4-714E-4269-BEE5-32D7F325B1FC}"/>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§2.1.4 Gemengde opgaven · Opgave 5 · Boekpagina 32–33</a:t>
            </a:r>
          </a:p>
        </p:txBody>
      </p:sp>
      <p:sp>
        <p:nvSpPr>
          <p:cNvPr id="4" name="slide-number">
            <a:extLst xmlns:a="http://schemas.openxmlformats.org/drawingml/2006/main">
              <a:ext uri="{FF2B5EF4-FFF2-40B4-BE49-F238E27FC236}">
                <a16:creationId xmlns:a16="http://schemas.microsoft.com/office/drawing/2014/main" id="{2F2F7763-FB52-4BDD-BEC6-D791713D2E41}"/>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19</a:t>
            </a:r>
          </a:p>
        </p:txBody>
      </p:sp>
      <p:graphicFrame>
        <p:nvGraphicFramePr>
          <p:cNvPr id="13" name="Chart"/>
          <p:cNvGraphicFramePr/>
          <p:nvPr/>
        </p:nvGraphicFramePr>
        <p:xfrm>
          <a:off xmlns:a="http://schemas.openxmlformats.org/drawingml/2006/main" x="571500" y="1981200"/>
          <a:ext xmlns:a="http://schemas.openxmlformats.org/drawingml/2006/main" cx="10287000" cy="5848350"/>
        </p:xfrm>
        <a:graphic xmlns:a="http://schemas.openxmlformats.org/drawingml/2006/main">
          <a:graphicData uri="http://schemas.openxmlformats.org/drawingml/2006/chart">
            <c:chart xmlns:r="http://schemas.openxmlformats.org/officeDocument/2006/relationships" xmlns:c="http://schemas.openxmlformats.org/drawingml/2006/chart" r:id="R87bc9cc240f94bdc"/>
          </a:graphicData>
        </a:graphic>
      </p:graphicFrame>
      <p:sp>
        <p:nvSpPr>
          <p:cNvPr id="6" name="Vrijdag">
            <a:extLst xmlns:a="http://schemas.openxmlformats.org/drawingml/2006/main">
              <a:ext uri="{FF2B5EF4-FFF2-40B4-BE49-F238E27FC236}">
                <a16:creationId xmlns:a16="http://schemas.microsoft.com/office/drawing/2014/main" id="{4A1C4A58-665B-42DD-990D-43EBE058429D}"/>
              </a:ext>
            </a:extLst>
          </p:cNvPr>
          <p:cNvSpPr>
            <a:spLocks xmlns:a="http://schemas.openxmlformats.org/drawingml/2006/main" noGrp="1"/>
          </p:cNvSpPr>
          <p:nvPr/>
        </p:nvSpPr>
        <p:spPr>
          <a:xfrm xmlns:a="http://schemas.openxmlformats.org/drawingml/2006/main">
            <a:off x="11334750" y="2200275"/>
            <a:ext cx="3333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Vrijdag</a:t>
            </a:r>
          </a:p>
        </p:txBody>
      </p:sp>
      <p:sp>
        <p:nvSpPr>
          <p:cNvPr id="7" name="Break-even:&#10;(400; 2.000)">
            <a:extLst xmlns:a="http://schemas.openxmlformats.org/drawingml/2006/main">
              <a:ext uri="{FF2B5EF4-FFF2-40B4-BE49-F238E27FC236}">
                <a16:creationId xmlns:a16="http://schemas.microsoft.com/office/drawing/2014/main" id="{8D9FBDC6-A79C-4FEF-ABB1-F39E6AC944CE}"/>
              </a:ext>
            </a:extLst>
          </p:cNvPr>
          <p:cNvSpPr>
            <a:spLocks xmlns:a="http://schemas.openxmlformats.org/drawingml/2006/main" noGrp="1"/>
          </p:cNvSpPr>
          <p:nvPr/>
        </p:nvSpPr>
        <p:spPr>
          <a:xfrm xmlns:a="http://schemas.openxmlformats.org/drawingml/2006/main">
            <a:off x="11334750" y="3171825"/>
            <a:ext cx="333375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17658A"/>
                </a:solidFill>
                <a:latin typeface="Arial"/>
                <a:ea typeface="Arial"/>
                <a:cs typeface="Arial"/>
              </a:defRPr>
            </a:pPr>
            <a:r>
              <a:rPr sz="2325" b="1">
                <a:solidFill>
                  <a:srgbClr val="17658A"/>
                </a:solidFill>
                <a:latin typeface="Arial"/>
                <a:ea typeface="Arial"/>
                <a:cs typeface="Arial"/>
              </a:rPr>
              <a:t>Break-even:</a:t>
            </a:r>
          </a:p>
          <a:p xmlns:a="http://schemas.openxmlformats.org/drawingml/2006/main">
            <a:pPr algn="l">
              <a:defRPr sz="2325" b="1">
                <a:solidFill>
                  <a:srgbClr val="17658A"/>
                </a:solidFill>
                <a:latin typeface="Arial"/>
                <a:ea typeface="Arial"/>
                <a:cs typeface="Arial"/>
              </a:defRPr>
            </a:pPr>
            <a:r>
              <a:rPr sz="2325" b="1">
                <a:solidFill>
                  <a:srgbClr val="17658A"/>
                </a:solidFill>
                <a:latin typeface="Arial"/>
                <a:ea typeface="Arial"/>
                <a:cs typeface="Arial"/>
              </a:rPr>
              <a:t>(400; 2.000)</a:t>
            </a:r>
          </a:p>
        </p:txBody>
      </p:sp>
      <p:sp>
        <p:nvSpPr>
          <p:cNvPr id="8" name="Positieve winst:&#10;400 &lt; Q ≤ 1.000&#10;&#10;Gehele aantallen:&#10;401 t/m ">
            <a:extLst xmlns:a="http://schemas.openxmlformats.org/drawingml/2006/main">
              <a:ext uri="{FF2B5EF4-FFF2-40B4-BE49-F238E27FC236}">
                <a16:creationId xmlns:a16="http://schemas.microsoft.com/office/drawing/2014/main" id="{F2E701CF-6A6C-480B-A7D4-54DE80064756}"/>
              </a:ext>
            </a:extLst>
          </p:cNvPr>
          <p:cNvSpPr>
            <a:spLocks xmlns:a="http://schemas.openxmlformats.org/drawingml/2006/main" noGrp="1"/>
          </p:cNvSpPr>
          <p:nvPr/>
        </p:nvSpPr>
        <p:spPr>
          <a:xfrm xmlns:a="http://schemas.openxmlformats.org/drawingml/2006/main">
            <a:off x="11334750" y="5400675"/>
            <a:ext cx="3333750"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A94D16"/>
                </a:solidFill>
                <a:latin typeface="Arial"/>
                <a:ea typeface="Arial"/>
                <a:cs typeface="Arial"/>
              </a:defRPr>
            </a:pPr>
            <a:r>
              <a:rPr sz="2325" b="1">
                <a:solidFill>
                  <a:srgbClr val="A94D16"/>
                </a:solidFill>
                <a:latin typeface="Arial"/>
                <a:ea typeface="Arial"/>
                <a:cs typeface="Arial"/>
              </a:rPr>
              <a:t>Positieve winst:</a:t>
            </a:r>
          </a:p>
          <a:p xmlns:a="http://schemas.openxmlformats.org/drawingml/2006/main">
            <a:pPr algn="l">
              <a:defRPr sz="2325" b="1">
                <a:solidFill>
                  <a:srgbClr val="A94D16"/>
                </a:solidFill>
                <a:latin typeface="Arial"/>
                <a:ea typeface="Arial"/>
                <a:cs typeface="Arial"/>
              </a:defRPr>
            </a:pPr>
            <a:r>
              <a:rPr sz="2325" b="1">
                <a:solidFill>
                  <a:srgbClr val="A94D16"/>
                </a:solidFill>
                <a:latin typeface="Arial"/>
                <a:ea typeface="Arial"/>
                <a:cs typeface="Arial"/>
              </a:rPr>
              <a:t>400 &lt; Q ≤ 1.000</a:t>
            </a:r>
          </a:p>
          <a:p xmlns:a="http://schemas.openxmlformats.org/drawingml/2006/main">
            <a:r>
              <a:t/>
            </a:r>
          </a:p>
          <a:p xmlns:a="http://schemas.openxmlformats.org/drawingml/2006/main">
            <a:pPr algn="l">
              <a:defRPr sz="2325" b="1">
                <a:solidFill>
                  <a:srgbClr val="A94D16"/>
                </a:solidFill>
                <a:latin typeface="Arial"/>
                <a:ea typeface="Arial"/>
                <a:cs typeface="Arial"/>
              </a:defRPr>
            </a:pPr>
            <a:r>
              <a:rPr sz="2325" b="1">
                <a:solidFill>
                  <a:srgbClr val="A94D16"/>
                </a:solidFill>
                <a:latin typeface="Arial"/>
                <a:ea typeface="Arial"/>
                <a:cs typeface="Arial"/>
              </a:rPr>
              <a:t>Gehele aantallen:</a:t>
            </a:r>
          </a:p>
          <a:p xmlns:a="http://schemas.openxmlformats.org/drawingml/2006/main">
            <a:pPr algn="l">
              <a:defRPr sz="2325" b="1">
                <a:solidFill>
                  <a:srgbClr val="A94D16"/>
                </a:solidFill>
                <a:latin typeface="Arial"/>
                <a:ea typeface="Arial"/>
                <a:cs typeface="Arial"/>
              </a:defRPr>
            </a:pPr>
            <a:r>
              <a:rPr sz="2325" b="1">
                <a:solidFill>
                  <a:srgbClr val="A94D16"/>
                </a:solidFill>
                <a:latin typeface="Arial"/>
                <a:ea typeface="Arial"/>
                <a:cs typeface="Arial"/>
              </a:rPr>
              <a:t>401 t/m 1.000</a:t>
            </a:r>
          </a:p>
        </p:txBody>
      </p:sp>
    </p:spTree>
    <p:extLst>
      <p:ext uri="{BB962C8B-B14F-4D97-AF65-F5344CB8AC3E}">
        <p14:creationId xmlns:p14="http://schemas.microsoft.com/office/powerpoint/2010/main" val="1470743127"/>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Opgave 5e · De winstafstand bij 700">
            <a:extLst xmlns:a="http://schemas.openxmlformats.org/drawingml/2006/main">
              <a:ext uri="{FF2B5EF4-FFF2-40B4-BE49-F238E27FC236}">
                <a16:creationId xmlns:a16="http://schemas.microsoft.com/office/drawing/2014/main" id="{3C087D02-4647-4635-8C24-A841F06F05DC}"/>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5e · De winstafstand bij 700</a:t>
            </a:r>
          </a:p>
        </p:txBody>
      </p:sp>
      <p:sp>
        <p:nvSpPr>
          <p:cNvPr id="2" name="">
            <a:extLst xmlns:a="http://schemas.openxmlformats.org/drawingml/2006/main">
              <a:ext uri="{FF2B5EF4-FFF2-40B4-BE49-F238E27FC236}">
                <a16:creationId xmlns:a16="http://schemas.microsoft.com/office/drawing/2014/main" id="{9F385BD1-93B0-4113-83AE-BE212843CFB0}"/>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4 Gemengde opgaven · Opgave 5 · Boekpagina 32–33">
            <a:extLst xmlns:a="http://schemas.openxmlformats.org/drawingml/2006/main">
              <a:ext uri="{FF2B5EF4-FFF2-40B4-BE49-F238E27FC236}">
                <a16:creationId xmlns:a16="http://schemas.microsoft.com/office/drawing/2014/main" id="{90D6434F-4555-40D9-A3FA-0807F931C86A}"/>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§2.1.4 Gemengde opgaven · Opgave 5 · Boekpagina 32–33</a:t>
            </a:r>
          </a:p>
        </p:txBody>
      </p:sp>
      <p:sp>
        <p:nvSpPr>
          <p:cNvPr id="4" name="slide-number">
            <a:extLst xmlns:a="http://schemas.openxmlformats.org/drawingml/2006/main">
              <a:ext uri="{FF2B5EF4-FFF2-40B4-BE49-F238E27FC236}">
                <a16:creationId xmlns:a16="http://schemas.microsoft.com/office/drawing/2014/main" id="{4762A74E-D881-4401-BCC7-E6F98309A5BC}"/>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20</a:t>
            </a:r>
          </a:p>
        </p:txBody>
      </p:sp>
      <p:graphicFrame>
        <p:nvGraphicFramePr>
          <p:cNvPr id="13" name="Chart"/>
          <p:cNvGraphicFramePr/>
          <p:nvPr/>
        </p:nvGraphicFramePr>
        <p:xfrm>
          <a:off xmlns:a="http://schemas.openxmlformats.org/drawingml/2006/main" x="571500" y="1981200"/>
          <a:ext xmlns:a="http://schemas.openxmlformats.org/drawingml/2006/main" cx="10287000" cy="5848350"/>
        </p:xfrm>
        <a:graphic xmlns:a="http://schemas.openxmlformats.org/drawingml/2006/main">
          <a:graphicData uri="http://schemas.openxmlformats.org/drawingml/2006/chart">
            <c:chart xmlns:r="http://schemas.openxmlformats.org/officeDocument/2006/relationships" xmlns:c="http://schemas.openxmlformats.org/drawingml/2006/chart" r:id="R0707b678350c4a8e"/>
          </a:graphicData>
        </a:graphic>
      </p:graphicFrame>
      <p:sp>
        <p:nvSpPr>
          <p:cNvPr id="6" name="Bij Q = 700">
            <a:extLst xmlns:a="http://schemas.openxmlformats.org/drawingml/2006/main">
              <a:ext uri="{FF2B5EF4-FFF2-40B4-BE49-F238E27FC236}">
                <a16:creationId xmlns:a16="http://schemas.microsoft.com/office/drawing/2014/main" id="{622D200B-C6F2-4478-87FF-48651182953D}"/>
              </a:ext>
            </a:extLst>
          </p:cNvPr>
          <p:cNvSpPr>
            <a:spLocks xmlns:a="http://schemas.openxmlformats.org/drawingml/2006/main" noGrp="1"/>
          </p:cNvSpPr>
          <p:nvPr/>
        </p:nvSpPr>
        <p:spPr>
          <a:xfrm xmlns:a="http://schemas.openxmlformats.org/drawingml/2006/main">
            <a:off x="11334750" y="2200275"/>
            <a:ext cx="3333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Bij Q = 700</a:t>
            </a:r>
          </a:p>
        </p:txBody>
      </p:sp>
      <p:sp>
        <p:nvSpPr>
          <p:cNvPr id="7" name="TO = € 3.500&#10;TK = € 2.600">
            <a:extLst xmlns:a="http://schemas.openxmlformats.org/drawingml/2006/main">
              <a:ext uri="{FF2B5EF4-FFF2-40B4-BE49-F238E27FC236}">
                <a16:creationId xmlns:a16="http://schemas.microsoft.com/office/drawing/2014/main" id="{A6272D42-5DA4-4878-809A-20995C0653C4}"/>
              </a:ext>
            </a:extLst>
          </p:cNvPr>
          <p:cNvSpPr>
            <a:spLocks xmlns:a="http://schemas.openxmlformats.org/drawingml/2006/main" noGrp="1"/>
          </p:cNvSpPr>
          <p:nvPr/>
        </p:nvSpPr>
        <p:spPr>
          <a:xfrm xmlns:a="http://schemas.openxmlformats.org/drawingml/2006/main">
            <a:off x="11334750" y="3171825"/>
            <a:ext cx="333375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17658A"/>
                </a:solidFill>
                <a:latin typeface="Arial"/>
                <a:ea typeface="Arial"/>
                <a:cs typeface="Arial"/>
              </a:defRPr>
            </a:pPr>
            <a:r>
              <a:rPr sz="2325" b="1">
                <a:solidFill>
                  <a:srgbClr val="17658A"/>
                </a:solidFill>
                <a:latin typeface="Arial"/>
                <a:ea typeface="Arial"/>
                <a:cs typeface="Arial"/>
              </a:rPr>
              <a:t>TO = € 3.500</a:t>
            </a:r>
          </a:p>
          <a:p xmlns:a="http://schemas.openxmlformats.org/drawingml/2006/main">
            <a:pPr algn="l">
              <a:defRPr sz="2325" b="1">
                <a:solidFill>
                  <a:srgbClr val="17658A"/>
                </a:solidFill>
                <a:latin typeface="Arial"/>
                <a:ea typeface="Arial"/>
                <a:cs typeface="Arial"/>
              </a:defRPr>
            </a:pPr>
            <a:r>
              <a:rPr sz="2325" b="1">
                <a:solidFill>
                  <a:srgbClr val="17658A"/>
                </a:solidFill>
                <a:latin typeface="Arial"/>
                <a:ea typeface="Arial"/>
                <a:cs typeface="Arial"/>
              </a:rPr>
              <a:t>TK = € 2.600</a:t>
            </a:r>
          </a:p>
        </p:txBody>
      </p:sp>
      <p:sp>
        <p:nvSpPr>
          <p:cNvPr id="8" name="Verticale afstand:&#10;€ 900 per dag&#10;&#10;Op beide dagen&#10;bij deze Q.">
            <a:extLst xmlns:a="http://schemas.openxmlformats.org/drawingml/2006/main">
              <a:ext uri="{FF2B5EF4-FFF2-40B4-BE49-F238E27FC236}">
                <a16:creationId xmlns:a16="http://schemas.microsoft.com/office/drawing/2014/main" id="{F0F7E97B-AED0-432D-92B9-02C4A1EA6039}"/>
              </a:ext>
            </a:extLst>
          </p:cNvPr>
          <p:cNvSpPr>
            <a:spLocks xmlns:a="http://schemas.openxmlformats.org/drawingml/2006/main" noGrp="1"/>
          </p:cNvSpPr>
          <p:nvPr/>
        </p:nvSpPr>
        <p:spPr>
          <a:xfrm xmlns:a="http://schemas.openxmlformats.org/drawingml/2006/main">
            <a:off x="11334750" y="5400675"/>
            <a:ext cx="3333750"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20665B"/>
                </a:solidFill>
                <a:latin typeface="Arial"/>
                <a:ea typeface="Arial"/>
                <a:cs typeface="Arial"/>
              </a:defRPr>
            </a:pPr>
            <a:r>
              <a:rPr sz="2325" b="1">
                <a:solidFill>
                  <a:srgbClr val="20665B"/>
                </a:solidFill>
                <a:latin typeface="Arial"/>
                <a:ea typeface="Arial"/>
                <a:cs typeface="Arial"/>
              </a:rPr>
              <a:t>Verticale afstand:</a:t>
            </a:r>
          </a:p>
          <a:p xmlns:a="http://schemas.openxmlformats.org/drawingml/2006/main">
            <a:pPr algn="l">
              <a:defRPr sz="2325" b="1">
                <a:solidFill>
                  <a:srgbClr val="20665B"/>
                </a:solidFill>
                <a:latin typeface="Arial"/>
                <a:ea typeface="Arial"/>
                <a:cs typeface="Arial"/>
              </a:defRPr>
            </a:pPr>
            <a:r>
              <a:rPr sz="2325" b="1">
                <a:solidFill>
                  <a:srgbClr val="20665B"/>
                </a:solidFill>
                <a:latin typeface="Arial"/>
                <a:ea typeface="Arial"/>
                <a:cs typeface="Arial"/>
              </a:rPr>
              <a:t>€ 900 per dag</a:t>
            </a:r>
          </a:p>
          <a:p xmlns:a="http://schemas.openxmlformats.org/drawingml/2006/main">
            <a:r>
              <a:t/>
            </a:r>
          </a:p>
          <a:p xmlns:a="http://schemas.openxmlformats.org/drawingml/2006/main">
            <a:pPr algn="l">
              <a:defRPr sz="2325" b="1">
                <a:solidFill>
                  <a:srgbClr val="20665B"/>
                </a:solidFill>
                <a:latin typeface="Arial"/>
                <a:ea typeface="Arial"/>
                <a:cs typeface="Arial"/>
              </a:defRPr>
            </a:pPr>
            <a:r>
              <a:rPr sz="2325" b="1">
                <a:solidFill>
                  <a:srgbClr val="20665B"/>
                </a:solidFill>
                <a:latin typeface="Arial"/>
                <a:ea typeface="Arial"/>
                <a:cs typeface="Arial"/>
              </a:rPr>
              <a:t>Op beide dagen</a:t>
            </a:r>
          </a:p>
          <a:p xmlns:a="http://schemas.openxmlformats.org/drawingml/2006/main">
            <a:pPr algn="l">
              <a:defRPr sz="2325" b="1">
                <a:solidFill>
                  <a:srgbClr val="20665B"/>
                </a:solidFill>
                <a:latin typeface="Arial"/>
                <a:ea typeface="Arial"/>
                <a:cs typeface="Arial"/>
              </a:defRPr>
            </a:pPr>
            <a:r>
              <a:rPr sz="2325" b="1">
                <a:solidFill>
                  <a:srgbClr val="20665B"/>
                </a:solidFill>
                <a:latin typeface="Arial"/>
                <a:ea typeface="Arial"/>
                <a:cs typeface="Arial"/>
              </a:rPr>
              <a:t>bij deze Q.</a:t>
            </a:r>
          </a:p>
        </p:txBody>
      </p:sp>
    </p:spTree>
    <p:extLst>
      <p:ext uri="{BB962C8B-B14F-4D97-AF65-F5344CB8AC3E}">
        <p14:creationId xmlns:p14="http://schemas.microsoft.com/office/powerpoint/2010/main" val="829586672"/>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Opgave 5e · Waar groeit de winst sneller?">
            <a:extLst xmlns:a="http://schemas.openxmlformats.org/drawingml/2006/main">
              <a:ext uri="{FF2B5EF4-FFF2-40B4-BE49-F238E27FC236}">
                <a16:creationId xmlns:a16="http://schemas.microsoft.com/office/drawing/2014/main" id="{85FAFD0D-3915-4421-B908-0734C869FC07}"/>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5e · Waar groeit de winst sneller?</a:t>
            </a:r>
          </a:p>
        </p:txBody>
      </p:sp>
      <p:sp>
        <p:nvSpPr>
          <p:cNvPr id="2" name="">
            <a:extLst xmlns:a="http://schemas.openxmlformats.org/drawingml/2006/main">
              <a:ext uri="{FF2B5EF4-FFF2-40B4-BE49-F238E27FC236}">
                <a16:creationId xmlns:a16="http://schemas.microsoft.com/office/drawing/2014/main" id="{14579825-FFC2-42AE-86B1-84C55BB2C13F}"/>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4 Gemengde opgaven · Opgave 5 · Boekpagina 32–33">
            <a:extLst xmlns:a="http://schemas.openxmlformats.org/drawingml/2006/main">
              <a:ext uri="{FF2B5EF4-FFF2-40B4-BE49-F238E27FC236}">
                <a16:creationId xmlns:a16="http://schemas.microsoft.com/office/drawing/2014/main" id="{491D544E-85CC-4C96-8325-2BCE942838B5}"/>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§2.1.4 Gemengde opgaven · Opgave 5 · Boekpagina 32–33</a:t>
            </a:r>
          </a:p>
        </p:txBody>
      </p:sp>
      <p:sp>
        <p:nvSpPr>
          <p:cNvPr id="4" name="slide-number">
            <a:extLst xmlns:a="http://schemas.openxmlformats.org/drawingml/2006/main">
              <a:ext uri="{FF2B5EF4-FFF2-40B4-BE49-F238E27FC236}">
                <a16:creationId xmlns:a16="http://schemas.microsoft.com/office/drawing/2014/main" id="{DA17DFF1-CD73-4EC6-850E-BF1CB5B70B76}"/>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21</a:t>
            </a:r>
          </a:p>
        </p:txBody>
      </p:sp>
      <p:sp>
        <p:nvSpPr>
          <p:cNvPr id="5" name="Groei van de winst per extra lunchbox = MO − MK">
            <a:extLst xmlns:a="http://schemas.openxmlformats.org/drawingml/2006/main">
              <a:ext uri="{FF2B5EF4-FFF2-40B4-BE49-F238E27FC236}">
                <a16:creationId xmlns:a16="http://schemas.microsoft.com/office/drawing/2014/main" id="{2B699841-EDC3-42C9-915C-BD3F3DAEEF59}"/>
              </a:ext>
            </a:extLst>
          </p:cNvPr>
          <p:cNvSpPr>
            <a:spLocks xmlns:a="http://schemas.openxmlformats.org/drawingml/2006/main" noGrp="1"/>
          </p:cNvSpPr>
          <p:nvPr/>
        </p:nvSpPr>
        <p:spPr>
          <a:xfrm xmlns:a="http://schemas.openxmlformats.org/drawingml/2006/main">
            <a:off x="571500" y="1790700"/>
            <a:ext cx="14097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7658A"/>
                </a:solidFill>
                <a:latin typeface="Arial"/>
                <a:ea typeface="Arial"/>
                <a:cs typeface="Arial"/>
              </a:defRPr>
            </a:pPr>
            <a:r>
              <a:rPr sz="3000" b="1">
                <a:solidFill>
                  <a:srgbClr val="17658A"/>
                </a:solidFill>
                <a:latin typeface="Arial"/>
                <a:ea typeface="Arial"/>
                <a:cs typeface="Arial"/>
              </a:rPr>
              <a:t>Groei van de winst per extra lunchbox = MO − MK</a:t>
            </a:r>
          </a:p>
        </p:txBody>
      </p:sp>
      <p:graphicFrame>
        <p:nvGraphicFramePr>
          <p:cNvPr id="13" name=""/>
          <p:cNvGraphicFramePr/>
          <p:nvPr/>
        </p:nvGraphicFramePr>
        <p:xfrm>
          <a:off xmlns:a="http://schemas.openxmlformats.org/drawingml/2006/main" x="571500" y="3038475"/>
          <a:ext xmlns:a="http://schemas.openxmlformats.org/drawingml/2006/main" cx="14097000" cy="3343275"/>
        </p:xfrm>
        <a:graphic xmlns:a="http://schemas.openxmlformats.org/drawingml/2006/main">
          <a:graphicData uri="http://schemas.openxmlformats.org/drawingml/2006/table">
            <a:tbl>
              <a:tblPr/>
              <a:tblGrid>
                <a:gridCol w="6477000"/>
                <a:gridCol w="2571750"/>
                <a:gridCol w="5048250"/>
              </a:tblGrid>
              <a:tr h="668655">
                <a:tc>
                  <a:txBody>
                    <a:bodyPr lIns="171450" tIns="95250" rIns="152400" bIns="95250"/>
                    <a:lstStyle/>
                    <a:p>
                      <a:r>
                        <a:rPr sz="2325" b="1">
                          <a:solidFill>
                            <a:srgbClr val="FFFFFF"/>
                          </a:solidFill>
                          <a:latin typeface="Arial"/>
                          <a:ea typeface="Arial"/>
                          <a:cs typeface="Arial"/>
                        </a:rPr>
                        <a:t>Dag en hoeveelheid</a:t>
                      </a:r>
                    </a:p>
                  </a:txBody>
                  <a:tcPr marL="91440" marR="91440" marT="45720" marB="45720" anchor="ctr">
                    <a:solidFill>
                      <a:srgbClr val="183247"/>
                    </a:solidFill>
                  </a:tcPr>
                </a:tc>
                <a:tc>
                  <a:txBody>
                    <a:bodyPr lIns="171450" tIns="95250" rIns="152400" bIns="95250"/>
                    <a:lstStyle/>
                    <a:p>
                      <a:r>
                        <a:rPr sz="2325" b="1">
                          <a:solidFill>
                            <a:srgbClr val="FFFFFF"/>
                          </a:solidFill>
                          <a:latin typeface="Arial"/>
                          <a:ea typeface="Arial"/>
                          <a:cs typeface="Arial"/>
                        </a:rPr>
                        <a:t>MO − MK</a:t>
                      </a:r>
                    </a:p>
                  </a:txBody>
                  <a:tcPr marL="91440" marR="91440" marT="45720" marB="45720" anchor="ctr">
                    <a:solidFill>
                      <a:srgbClr val="183247"/>
                    </a:solidFill>
                  </a:tcPr>
                </a:tc>
                <a:tc>
                  <a:txBody>
                    <a:bodyPr lIns="171450" tIns="95250" rIns="152400" bIns="95250"/>
                    <a:lstStyle/>
                    <a:p>
                      <a:r>
                        <a:rPr sz="2325" b="1">
                          <a:solidFill>
                            <a:srgbClr val="FFFFFF"/>
                          </a:solidFill>
                          <a:latin typeface="Arial"/>
                          <a:ea typeface="Arial"/>
                          <a:cs typeface="Arial"/>
                        </a:rPr>
                        <a:t>Winstgroei per extra lunchbox</a:t>
                      </a:r>
                    </a:p>
                  </a:txBody>
                  <a:tcPr marL="91440" marR="91440" marT="45720" marB="45720" anchor="ctr">
                    <a:solidFill>
                      <a:srgbClr val="183247"/>
                    </a:solidFill>
                  </a:tcPr>
                </a:tc>
              </a:tr>
              <a:tr h="668655">
                <a:tc>
                  <a:txBody>
                    <a:bodyPr lIns="171450" tIns="95250" rIns="152400" bIns="95250"/>
                    <a:lstStyle/>
                    <a:p>
                      <a:r>
                        <a:rPr sz="2325" b="0">
                          <a:solidFill>
                            <a:srgbClr val="183247"/>
                          </a:solidFill>
                          <a:latin typeface="Arial"/>
                          <a:ea typeface="Arial"/>
                          <a:cs typeface="Arial"/>
                        </a:rPr>
                        <a:t>Vrijdag: 400 &lt; Q ≤ 1.000</a:t>
                      </a:r>
                    </a:p>
                  </a:txBody>
                  <a:tcPr marL="91440" marR="91440" marT="45720" marB="45720" anchor="ctr">
                    <a:solidFill>
                      <a:srgbClr val="FFFFFF"/>
                    </a:solidFill>
                  </a:tcPr>
                </a:tc>
                <a:tc>
                  <a:txBody>
                    <a:bodyPr lIns="171450" tIns="95250" rIns="152400" bIns="95250"/>
                    <a:lstStyle/>
                    <a:p>
                      <a:r>
                        <a:rPr sz="2325" b="0">
                          <a:solidFill>
                            <a:srgbClr val="183247"/>
                          </a:solidFill>
                          <a:latin typeface="Arial"/>
                          <a:ea typeface="Arial"/>
                          <a:cs typeface="Arial"/>
                        </a:rPr>
                        <a:t>5 − 2</a:t>
                      </a:r>
                    </a:p>
                  </a:txBody>
                  <a:tcPr marL="91440" marR="91440" marT="45720" marB="45720" anchor="ctr">
                    <a:solidFill>
                      <a:srgbClr val="FFFFFF"/>
                    </a:solidFill>
                  </a:tcPr>
                </a:tc>
                <a:tc>
                  <a:txBody>
                    <a:bodyPr lIns="171450" tIns="95250" rIns="152400" bIns="95250"/>
                    <a:lstStyle/>
                    <a:p>
                      <a:r>
                        <a:rPr sz="2325" b="0">
                          <a:solidFill>
                            <a:srgbClr val="183247"/>
                          </a:solidFill>
                          <a:latin typeface="Arial"/>
                          <a:ea typeface="Arial"/>
                          <a:cs typeface="Arial"/>
                        </a:rPr>
                        <a:t>€ 3,00</a:t>
                      </a:r>
                    </a:p>
                  </a:txBody>
                  <a:tcPr marL="91440" marR="91440" marT="45720" marB="45720" anchor="ctr">
                    <a:solidFill>
                      <a:srgbClr val="FFFFFF"/>
                    </a:solidFill>
                  </a:tcPr>
                </a:tc>
              </a:tr>
              <a:tr h="668655">
                <a:tc>
                  <a:txBody>
                    <a:bodyPr lIns="171450" tIns="95250" rIns="152400" bIns="95250"/>
                    <a:lstStyle/>
                    <a:p>
                      <a:r>
                        <a:rPr sz="2325" b="0">
                          <a:solidFill>
                            <a:srgbClr val="183247"/>
                          </a:solidFill>
                          <a:latin typeface="Arial"/>
                          <a:ea typeface="Arial"/>
                          <a:cs typeface="Arial"/>
                        </a:rPr>
                        <a:t>Zaterdag: 700 naar 800</a:t>
                      </a:r>
                    </a:p>
                  </a:txBody>
                  <a:tcPr marL="91440" marR="91440" marT="45720" marB="45720" anchor="ctr">
                    <a:solidFill>
                      <a:srgbClr val="EFF4F7"/>
                    </a:solidFill>
                  </a:tcPr>
                </a:tc>
                <a:tc>
                  <a:txBody>
                    <a:bodyPr lIns="171450" tIns="95250" rIns="152400" bIns="95250"/>
                    <a:lstStyle/>
                    <a:p>
                      <a:r>
                        <a:rPr sz="2325" b="0">
                          <a:solidFill>
                            <a:srgbClr val="183247"/>
                          </a:solidFill>
                          <a:latin typeface="Arial"/>
                          <a:ea typeface="Arial"/>
                          <a:cs typeface="Arial"/>
                        </a:rPr>
                        <a:t>5 − 3</a:t>
                      </a:r>
                    </a:p>
                  </a:txBody>
                  <a:tcPr marL="91440" marR="91440" marT="45720" marB="45720" anchor="ctr">
                    <a:solidFill>
                      <a:srgbClr val="EFF4F7"/>
                    </a:solidFill>
                  </a:tcPr>
                </a:tc>
                <a:tc>
                  <a:txBody>
                    <a:bodyPr lIns="171450" tIns="95250" rIns="152400" bIns="95250"/>
                    <a:lstStyle/>
                    <a:p>
                      <a:r>
                        <a:rPr sz="2325" b="0">
                          <a:solidFill>
                            <a:srgbClr val="183247"/>
                          </a:solidFill>
                          <a:latin typeface="Arial"/>
                          <a:ea typeface="Arial"/>
                          <a:cs typeface="Arial"/>
                        </a:rPr>
                        <a:t>€ 2,00</a:t>
                      </a:r>
                    </a:p>
                  </a:txBody>
                  <a:tcPr marL="91440" marR="91440" marT="45720" marB="45720" anchor="ctr">
                    <a:solidFill>
                      <a:srgbClr val="EFF4F7"/>
                    </a:solidFill>
                  </a:tcPr>
                </a:tc>
              </a:tr>
              <a:tr h="668655">
                <a:tc>
                  <a:txBody>
                    <a:bodyPr lIns="171450" tIns="95250" rIns="152400" bIns="95250"/>
                    <a:lstStyle/>
                    <a:p>
                      <a:r>
                        <a:rPr sz="2325" b="0">
                          <a:solidFill>
                            <a:srgbClr val="183247"/>
                          </a:solidFill>
                          <a:latin typeface="Arial"/>
                          <a:ea typeface="Arial"/>
                          <a:cs typeface="Arial"/>
                        </a:rPr>
                        <a:t>Zaterdag: 800 naar 900</a:t>
                      </a:r>
                    </a:p>
                  </a:txBody>
                  <a:tcPr marL="91440" marR="91440" marT="45720" marB="45720" anchor="ctr">
                    <a:solidFill>
                      <a:srgbClr val="FFFFFF"/>
                    </a:solidFill>
                  </a:tcPr>
                </a:tc>
                <a:tc>
                  <a:txBody>
                    <a:bodyPr lIns="171450" tIns="95250" rIns="152400" bIns="95250"/>
                    <a:lstStyle/>
                    <a:p>
                      <a:r>
                        <a:rPr sz="2325" b="0">
                          <a:solidFill>
                            <a:srgbClr val="183247"/>
                          </a:solidFill>
                          <a:latin typeface="Arial"/>
                          <a:ea typeface="Arial"/>
                          <a:cs typeface="Arial"/>
                        </a:rPr>
                        <a:t>5 − 3,50</a:t>
                      </a:r>
                    </a:p>
                  </a:txBody>
                  <a:tcPr marL="91440" marR="91440" marT="45720" marB="45720" anchor="ctr">
                    <a:solidFill>
                      <a:srgbClr val="FFFFFF"/>
                    </a:solidFill>
                  </a:tcPr>
                </a:tc>
                <a:tc>
                  <a:txBody>
                    <a:bodyPr lIns="171450" tIns="95250" rIns="152400" bIns="95250"/>
                    <a:lstStyle/>
                    <a:p>
                      <a:r>
                        <a:rPr sz="2325" b="0">
                          <a:solidFill>
                            <a:srgbClr val="183247"/>
                          </a:solidFill>
                          <a:latin typeface="Arial"/>
                          <a:ea typeface="Arial"/>
                          <a:cs typeface="Arial"/>
                        </a:rPr>
                        <a:t>€ 1,50</a:t>
                      </a:r>
                    </a:p>
                  </a:txBody>
                  <a:tcPr marL="91440" marR="91440" marT="45720" marB="45720" anchor="ctr">
                    <a:solidFill>
                      <a:srgbClr val="FFFFFF"/>
                    </a:solidFill>
                  </a:tcPr>
                </a:tc>
              </a:tr>
              <a:tr h="668655">
                <a:tc>
                  <a:txBody>
                    <a:bodyPr lIns="171450" tIns="95250" rIns="152400" bIns="95250"/>
                    <a:lstStyle/>
                    <a:p>
                      <a:r>
                        <a:rPr sz="2325" b="0">
                          <a:solidFill>
                            <a:srgbClr val="183247"/>
                          </a:solidFill>
                          <a:latin typeface="Arial"/>
                          <a:ea typeface="Arial"/>
                          <a:cs typeface="Arial"/>
                        </a:rPr>
                        <a:t>Zaterdag: 900 naar 1.000</a:t>
                      </a:r>
                    </a:p>
                  </a:txBody>
                  <a:tcPr marL="91440" marR="91440" marT="45720" marB="45720" anchor="ctr">
                    <a:solidFill>
                      <a:srgbClr val="EFF4F7"/>
                    </a:solidFill>
                  </a:tcPr>
                </a:tc>
                <a:tc>
                  <a:txBody>
                    <a:bodyPr lIns="171450" tIns="95250" rIns="152400" bIns="95250"/>
                    <a:lstStyle/>
                    <a:p>
                      <a:r>
                        <a:rPr sz="2325" b="0">
                          <a:solidFill>
                            <a:srgbClr val="183247"/>
                          </a:solidFill>
                          <a:latin typeface="Arial"/>
                          <a:ea typeface="Arial"/>
                          <a:cs typeface="Arial"/>
                        </a:rPr>
                        <a:t>5 − 4</a:t>
                      </a:r>
                    </a:p>
                  </a:txBody>
                  <a:tcPr marL="91440" marR="91440" marT="45720" marB="45720" anchor="ctr">
                    <a:solidFill>
                      <a:srgbClr val="EFF4F7"/>
                    </a:solidFill>
                  </a:tcPr>
                </a:tc>
                <a:tc>
                  <a:txBody>
                    <a:bodyPr lIns="171450" tIns="95250" rIns="152400" bIns="95250"/>
                    <a:lstStyle/>
                    <a:p>
                      <a:r>
                        <a:rPr sz="2325" b="0">
                          <a:solidFill>
                            <a:srgbClr val="183247"/>
                          </a:solidFill>
                          <a:latin typeface="Arial"/>
                          <a:ea typeface="Arial"/>
                          <a:cs typeface="Arial"/>
                        </a:rPr>
                        <a:t>€ 1,00</a:t>
                      </a:r>
                    </a:p>
                  </a:txBody>
                  <a:tcPr marL="91440" marR="91440" marT="45720" marB="45720" anchor="ctr">
                    <a:solidFill>
                      <a:srgbClr val="EFF4F7"/>
                    </a:solidFill>
                  </a:tcPr>
                </a:tc>
              </a:tr>
            </a:tbl>
          </a:graphicData>
        </a:graphic>
      </p:graphicFrame>
      <p:sp>
        <p:nvSpPr>
          <p:cNvPr id="7" name="Vrijdag groeit de positieve winstafstand het snelst:&#10;meer da">
            <a:extLst xmlns:a="http://schemas.openxmlformats.org/drawingml/2006/main">
              <a:ext uri="{FF2B5EF4-FFF2-40B4-BE49-F238E27FC236}">
                <a16:creationId xmlns:a16="http://schemas.microsoft.com/office/drawing/2014/main" id="{C2516D4D-5740-4290-8900-F9D2A687B8A5}"/>
              </a:ext>
            </a:extLst>
          </p:cNvPr>
          <p:cNvSpPr>
            <a:spLocks xmlns:a="http://schemas.openxmlformats.org/drawingml/2006/main" noGrp="1"/>
          </p:cNvSpPr>
          <p:nvPr/>
        </p:nvSpPr>
        <p:spPr>
          <a:xfrm xmlns:a="http://schemas.openxmlformats.org/drawingml/2006/main">
            <a:off x="571500" y="6800850"/>
            <a:ext cx="1409700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A94D16"/>
                </a:solidFill>
                <a:latin typeface="Arial"/>
                <a:ea typeface="Arial"/>
                <a:cs typeface="Arial"/>
              </a:defRPr>
            </a:pPr>
            <a:r>
              <a:rPr sz="2925" b="1">
                <a:solidFill>
                  <a:srgbClr val="A94D16"/>
                </a:solidFill>
                <a:latin typeface="Arial"/>
                <a:ea typeface="Arial"/>
                <a:cs typeface="Arial"/>
              </a:rPr>
              <a:t>Vrijdag groeit de positieve winstafstand het snelst:</a:t>
            </a:r>
          </a:p>
          <a:p xmlns:a="http://schemas.openxmlformats.org/drawingml/2006/main">
            <a:pPr algn="l">
              <a:defRPr sz="2925" b="1">
                <a:solidFill>
                  <a:srgbClr val="A94D16"/>
                </a:solidFill>
                <a:latin typeface="Arial"/>
                <a:ea typeface="Arial"/>
                <a:cs typeface="Arial"/>
              </a:defRPr>
            </a:pPr>
            <a:r>
              <a:rPr sz="2925" b="1">
                <a:solidFill>
                  <a:srgbClr val="A94D16"/>
                </a:solidFill>
                <a:latin typeface="Arial"/>
                <a:ea typeface="Arial"/>
                <a:cs typeface="Arial"/>
              </a:rPr>
              <a:t>meer dan 400 tot en met 1.000 lunchboxen per dag.</a:t>
            </a:r>
          </a:p>
        </p:txBody>
      </p:sp>
    </p:spTree>
    <p:extLst>
      <p:ext uri="{BB962C8B-B14F-4D97-AF65-F5344CB8AC3E}">
        <p14:creationId xmlns:p14="http://schemas.microsoft.com/office/powerpoint/2010/main" val="1409090153"/>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Opgave 5f · Gelijke extra omzet, andere winst">
            <a:extLst xmlns:a="http://schemas.openxmlformats.org/drawingml/2006/main">
              <a:ext uri="{FF2B5EF4-FFF2-40B4-BE49-F238E27FC236}">
                <a16:creationId xmlns:a16="http://schemas.microsoft.com/office/drawing/2014/main" id="{124B6DBF-4152-42E7-82F2-7FA9854FA3B8}"/>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5f · Gelijke extra omzet, andere winst</a:t>
            </a:r>
          </a:p>
        </p:txBody>
      </p:sp>
      <p:sp>
        <p:nvSpPr>
          <p:cNvPr id="2" name="">
            <a:extLst xmlns:a="http://schemas.openxmlformats.org/drawingml/2006/main">
              <a:ext uri="{FF2B5EF4-FFF2-40B4-BE49-F238E27FC236}">
                <a16:creationId xmlns:a16="http://schemas.microsoft.com/office/drawing/2014/main" id="{90ACE923-B3B0-45B1-A0F0-88CBEC580445}"/>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4 Gemengde opgaven · Opgave 5 · Boekpagina 32–33">
            <a:extLst xmlns:a="http://schemas.openxmlformats.org/drawingml/2006/main">
              <a:ext uri="{FF2B5EF4-FFF2-40B4-BE49-F238E27FC236}">
                <a16:creationId xmlns:a16="http://schemas.microsoft.com/office/drawing/2014/main" id="{5F4B5961-B586-4295-8863-7634AC7B2A73}"/>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§2.1.4 Gemengde opgaven · Opgave 5 · Boekpagina 32–33</a:t>
            </a:r>
          </a:p>
        </p:txBody>
      </p:sp>
      <p:sp>
        <p:nvSpPr>
          <p:cNvPr id="4" name="slide-number">
            <a:extLst xmlns:a="http://schemas.openxmlformats.org/drawingml/2006/main">
              <a:ext uri="{FF2B5EF4-FFF2-40B4-BE49-F238E27FC236}">
                <a16:creationId xmlns:a16="http://schemas.microsoft.com/office/drawing/2014/main" id="{CF6E3913-E69C-459D-8DA2-9C312F320F5B}"/>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22</a:t>
            </a:r>
          </a:p>
        </p:txBody>
      </p:sp>
      <p:sp>
        <p:nvSpPr>
          <p:cNvPr id="5" name="Extra winst = ΔTO − ΔTK = (MO − MK) × ΔQ">
            <a:extLst xmlns:a="http://schemas.openxmlformats.org/drawingml/2006/main">
              <a:ext uri="{FF2B5EF4-FFF2-40B4-BE49-F238E27FC236}">
                <a16:creationId xmlns:a16="http://schemas.microsoft.com/office/drawing/2014/main" id="{2DE130A0-D338-46ED-9837-A87785172A79}"/>
              </a:ext>
            </a:extLst>
          </p:cNvPr>
          <p:cNvSpPr>
            <a:spLocks xmlns:a="http://schemas.openxmlformats.org/drawingml/2006/main" noGrp="1"/>
          </p:cNvSpPr>
          <p:nvPr/>
        </p:nvSpPr>
        <p:spPr>
          <a:xfrm xmlns:a="http://schemas.openxmlformats.org/drawingml/2006/main">
            <a:off x="571500" y="1790700"/>
            <a:ext cx="14097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7658A"/>
                </a:solidFill>
                <a:latin typeface="Arial"/>
                <a:ea typeface="Arial"/>
                <a:cs typeface="Arial"/>
              </a:defRPr>
            </a:pPr>
            <a:r>
              <a:rPr sz="3000" b="1">
                <a:solidFill>
                  <a:srgbClr val="17658A"/>
                </a:solidFill>
                <a:latin typeface="Arial"/>
                <a:ea typeface="Arial"/>
                <a:cs typeface="Arial"/>
              </a:rPr>
              <a:t>Extra winst = ΔTO − ΔTK = (MO − MK) × ΔQ</a:t>
            </a:r>
          </a:p>
        </p:txBody>
      </p:sp>
      <p:graphicFrame>
        <p:nvGraphicFramePr>
          <p:cNvPr id="14" name=""/>
          <p:cNvGraphicFramePr/>
          <p:nvPr/>
        </p:nvGraphicFramePr>
        <p:xfrm>
          <a:off xmlns:a="http://schemas.openxmlformats.org/drawingml/2006/main" x="571500" y="2971800"/>
          <a:ext xmlns:a="http://schemas.openxmlformats.org/drawingml/2006/main" cx="14097000" cy="3333750"/>
        </p:xfrm>
        <a:graphic xmlns:a="http://schemas.openxmlformats.org/drawingml/2006/main">
          <a:graphicData uri="http://schemas.openxmlformats.org/drawingml/2006/table">
            <a:tbl>
              <a:tblPr/>
              <a:tblGrid>
                <a:gridCol w="3810000"/>
                <a:gridCol w="6477000"/>
                <a:gridCol w="3810000"/>
              </a:tblGrid>
              <a:tr h="833438">
                <a:tc>
                  <a:txBody>
                    <a:bodyPr lIns="171450" tIns="95250" rIns="152400" bIns="95250"/>
                    <a:lstStyle/>
                    <a:p>
                      <a:r>
                        <a:rPr sz="2325" b="1">
                          <a:solidFill>
                            <a:srgbClr val="FFFFFF"/>
                          </a:solidFill>
                          <a:latin typeface="Arial"/>
                          <a:ea typeface="Arial"/>
                          <a:cs typeface="Arial"/>
                        </a:rPr>
                        <a:t>Stap op zaterdag</a:t>
                      </a:r>
                    </a:p>
                  </a:txBody>
                  <a:tcPr marL="91440" marR="91440" marT="45720" marB="45720" anchor="ctr">
                    <a:solidFill>
                      <a:srgbClr val="183247"/>
                    </a:solidFill>
                  </a:tcPr>
                </a:tc>
                <a:tc>
                  <a:txBody>
                    <a:bodyPr lIns="171450" tIns="95250" rIns="152400" bIns="95250"/>
                    <a:lstStyle/>
                    <a:p>
                      <a:r>
                        <a:rPr sz="2325" b="1">
                          <a:solidFill>
                            <a:srgbClr val="FFFFFF"/>
                          </a:solidFill>
                          <a:latin typeface="Arial"/>
                          <a:ea typeface="Arial"/>
                          <a:cs typeface="Arial"/>
                        </a:rPr>
                        <a:t>Berekening extra winst</a:t>
                      </a:r>
                    </a:p>
                  </a:txBody>
                  <a:tcPr marL="91440" marR="91440" marT="45720" marB="45720" anchor="ctr">
                    <a:solidFill>
                      <a:srgbClr val="183247"/>
                    </a:solidFill>
                  </a:tcPr>
                </a:tc>
                <a:tc>
                  <a:txBody>
                    <a:bodyPr lIns="171450" tIns="95250" rIns="152400" bIns="95250"/>
                    <a:lstStyle/>
                    <a:p>
                      <a:r>
                        <a:rPr sz="2325" b="1">
                          <a:solidFill>
                            <a:srgbClr val="FFFFFF"/>
                          </a:solidFill>
                          <a:latin typeface="Arial"/>
                          <a:ea typeface="Arial"/>
                          <a:cs typeface="Arial"/>
                        </a:rPr>
                        <a:t>Extra winst per dag</a:t>
                      </a:r>
                    </a:p>
                  </a:txBody>
                  <a:tcPr marL="91440" marR="91440" marT="45720" marB="45720" anchor="ctr">
                    <a:solidFill>
                      <a:srgbClr val="183247"/>
                    </a:solidFill>
                  </a:tcPr>
                </a:tc>
              </a:tr>
              <a:tr h="833438">
                <a:tc>
                  <a:txBody>
                    <a:bodyPr lIns="171450" tIns="95250" rIns="152400" bIns="95250"/>
                    <a:lstStyle/>
                    <a:p>
                      <a:r>
                        <a:rPr sz="2325" b="0">
                          <a:solidFill>
                            <a:srgbClr val="183247"/>
                          </a:solidFill>
                          <a:latin typeface="Arial"/>
                          <a:ea typeface="Arial"/>
                          <a:cs typeface="Arial"/>
                        </a:rPr>
                        <a:t>700 naar 800</a:t>
                      </a:r>
                    </a:p>
                  </a:txBody>
                  <a:tcPr marL="91440" marR="91440" marT="45720" marB="45720" anchor="ctr">
                    <a:solidFill>
                      <a:srgbClr val="FFFFFF"/>
                    </a:solidFill>
                  </a:tcPr>
                </a:tc>
                <a:tc>
                  <a:txBody>
                    <a:bodyPr lIns="171450" tIns="95250" rIns="152400" bIns="95250"/>
                    <a:lstStyle/>
                    <a:p>
                      <a:r>
                        <a:rPr sz="2325" b="0">
                          <a:solidFill>
                            <a:srgbClr val="183247"/>
                          </a:solidFill>
                          <a:latin typeface="Arial"/>
                          <a:ea typeface="Arial"/>
                          <a:cs typeface="Arial"/>
                        </a:rPr>
                        <a:t>500 − 300 = (5 − 3) × 100</a:t>
                      </a:r>
                    </a:p>
                  </a:txBody>
                  <a:tcPr marL="91440" marR="91440" marT="45720" marB="45720" anchor="ctr">
                    <a:solidFill>
                      <a:srgbClr val="FFFFFF"/>
                    </a:solidFill>
                  </a:tcPr>
                </a:tc>
                <a:tc>
                  <a:txBody>
                    <a:bodyPr lIns="171450" tIns="95250" rIns="152400" bIns="95250"/>
                    <a:lstStyle/>
                    <a:p>
                      <a:r>
                        <a:rPr sz="2325" b="0">
                          <a:solidFill>
                            <a:srgbClr val="183247"/>
                          </a:solidFill>
                          <a:latin typeface="Arial"/>
                          <a:ea typeface="Arial"/>
                          <a:cs typeface="Arial"/>
                        </a:rPr>
                        <a:t>€ 200</a:t>
                      </a:r>
                    </a:p>
                  </a:txBody>
                  <a:tcPr marL="91440" marR="91440" marT="45720" marB="45720" anchor="ctr">
                    <a:solidFill>
                      <a:srgbClr val="FFFFFF"/>
                    </a:solidFill>
                  </a:tcPr>
                </a:tc>
              </a:tr>
              <a:tr h="833438">
                <a:tc>
                  <a:txBody>
                    <a:bodyPr lIns="171450" tIns="95250" rIns="152400" bIns="95250"/>
                    <a:lstStyle/>
                    <a:p>
                      <a:r>
                        <a:rPr sz="2325" b="0">
                          <a:solidFill>
                            <a:srgbClr val="183247"/>
                          </a:solidFill>
                          <a:latin typeface="Arial"/>
                          <a:ea typeface="Arial"/>
                          <a:cs typeface="Arial"/>
                        </a:rPr>
                        <a:t>800 naar 900</a:t>
                      </a:r>
                    </a:p>
                  </a:txBody>
                  <a:tcPr marL="91440" marR="91440" marT="45720" marB="45720" anchor="ctr">
                    <a:solidFill>
                      <a:srgbClr val="EFF4F7"/>
                    </a:solidFill>
                  </a:tcPr>
                </a:tc>
                <a:tc>
                  <a:txBody>
                    <a:bodyPr lIns="171450" tIns="95250" rIns="152400" bIns="95250"/>
                    <a:lstStyle/>
                    <a:p>
                      <a:r>
                        <a:rPr sz="2325" b="0">
                          <a:solidFill>
                            <a:srgbClr val="183247"/>
                          </a:solidFill>
                          <a:latin typeface="Arial"/>
                          <a:ea typeface="Arial"/>
                          <a:cs typeface="Arial"/>
                        </a:rPr>
                        <a:t>500 − 350 = (5 − 3,50) × 100</a:t>
                      </a:r>
                    </a:p>
                  </a:txBody>
                  <a:tcPr marL="91440" marR="91440" marT="45720" marB="45720" anchor="ctr">
                    <a:solidFill>
                      <a:srgbClr val="EFF4F7"/>
                    </a:solidFill>
                  </a:tcPr>
                </a:tc>
                <a:tc>
                  <a:txBody>
                    <a:bodyPr lIns="171450" tIns="95250" rIns="152400" bIns="95250"/>
                    <a:lstStyle/>
                    <a:p>
                      <a:r>
                        <a:rPr sz="2325" b="0">
                          <a:solidFill>
                            <a:srgbClr val="183247"/>
                          </a:solidFill>
                          <a:latin typeface="Arial"/>
                          <a:ea typeface="Arial"/>
                          <a:cs typeface="Arial"/>
                        </a:rPr>
                        <a:t>€ 150</a:t>
                      </a:r>
                    </a:p>
                  </a:txBody>
                  <a:tcPr marL="91440" marR="91440" marT="45720" marB="45720" anchor="ctr">
                    <a:solidFill>
                      <a:srgbClr val="EFF4F7"/>
                    </a:solidFill>
                  </a:tcPr>
                </a:tc>
              </a:tr>
              <a:tr h="833438">
                <a:tc>
                  <a:txBody>
                    <a:bodyPr lIns="171450" tIns="95250" rIns="152400" bIns="95250"/>
                    <a:lstStyle/>
                    <a:p>
                      <a:r>
                        <a:rPr sz="2325" b="0">
                          <a:solidFill>
                            <a:srgbClr val="183247"/>
                          </a:solidFill>
                          <a:latin typeface="Arial"/>
                          <a:ea typeface="Arial"/>
                          <a:cs typeface="Arial"/>
                        </a:rPr>
                        <a:t>900 naar 1.000</a:t>
                      </a:r>
                    </a:p>
                  </a:txBody>
                  <a:tcPr marL="91440" marR="91440" marT="45720" marB="45720" anchor="ctr">
                    <a:solidFill>
                      <a:srgbClr val="FFFFFF"/>
                    </a:solidFill>
                  </a:tcPr>
                </a:tc>
                <a:tc>
                  <a:txBody>
                    <a:bodyPr lIns="171450" tIns="95250" rIns="152400" bIns="95250"/>
                    <a:lstStyle/>
                    <a:p>
                      <a:r>
                        <a:rPr sz="2325" b="0">
                          <a:solidFill>
                            <a:srgbClr val="183247"/>
                          </a:solidFill>
                          <a:latin typeface="Arial"/>
                          <a:ea typeface="Arial"/>
                          <a:cs typeface="Arial"/>
                        </a:rPr>
                        <a:t>500 − 400 = (5 − 4) × 100</a:t>
                      </a:r>
                    </a:p>
                  </a:txBody>
                  <a:tcPr marL="91440" marR="91440" marT="45720" marB="45720" anchor="ctr">
                    <a:solidFill>
                      <a:srgbClr val="FFFFFF"/>
                    </a:solidFill>
                  </a:tcPr>
                </a:tc>
                <a:tc>
                  <a:txBody>
                    <a:bodyPr lIns="171450" tIns="95250" rIns="152400" bIns="95250"/>
                    <a:lstStyle/>
                    <a:p>
                      <a:r>
                        <a:rPr sz="2325" b="0">
                          <a:solidFill>
                            <a:srgbClr val="183247"/>
                          </a:solidFill>
                          <a:latin typeface="Arial"/>
                          <a:ea typeface="Arial"/>
                          <a:cs typeface="Arial"/>
                        </a:rPr>
                        <a:t>€ 100</a:t>
                      </a:r>
                    </a:p>
                  </a:txBody>
                  <a:tcPr marL="91440" marR="91440" marT="45720" marB="45720" anchor="ctr">
                    <a:solidFill>
                      <a:srgbClr val="FFFFFF"/>
                    </a:solidFill>
                  </a:tcPr>
                </a:tc>
              </a:tr>
            </a:tbl>
          </a:graphicData>
        </a:graphic>
      </p:graphicFrame>
      <p:sp>
        <p:nvSpPr>
          <p:cNvPr id="7" name="De uitspraak is onjuist.">
            <a:extLst xmlns:a="http://schemas.openxmlformats.org/drawingml/2006/main">
              <a:ext uri="{FF2B5EF4-FFF2-40B4-BE49-F238E27FC236}">
                <a16:creationId xmlns:a16="http://schemas.microsoft.com/office/drawing/2014/main" id="{26C3F684-996E-40E2-BD0E-9C1B8CE71E83}"/>
              </a:ext>
            </a:extLst>
          </p:cNvPr>
          <p:cNvSpPr>
            <a:spLocks xmlns:a="http://schemas.openxmlformats.org/drawingml/2006/main" noGrp="1"/>
          </p:cNvSpPr>
          <p:nvPr/>
        </p:nvSpPr>
        <p:spPr>
          <a:xfrm xmlns:a="http://schemas.openxmlformats.org/drawingml/2006/main">
            <a:off x="571500" y="6743700"/>
            <a:ext cx="14097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A94D16"/>
                </a:solidFill>
                <a:latin typeface="Arial"/>
                <a:ea typeface="Arial"/>
                <a:cs typeface="Arial"/>
              </a:defRPr>
            </a:pPr>
            <a:r>
              <a:rPr sz="3225" b="1">
                <a:solidFill>
                  <a:srgbClr val="A94D16"/>
                </a:solidFill>
                <a:latin typeface="Arial"/>
                <a:ea typeface="Arial"/>
                <a:cs typeface="Arial"/>
              </a:rPr>
              <a:t>De uitspraak is onjuist.</a:t>
            </a:r>
          </a:p>
        </p:txBody>
      </p:sp>
      <p:sp>
        <p:nvSpPr>
          <p:cNvPr id="8" name="Elke groep levert € 500 extra omzet, maar vraagt meer extra ">
            <a:extLst xmlns:a="http://schemas.openxmlformats.org/drawingml/2006/main">
              <a:ext uri="{FF2B5EF4-FFF2-40B4-BE49-F238E27FC236}">
                <a16:creationId xmlns:a16="http://schemas.microsoft.com/office/drawing/2014/main" id="{C352BF85-E64E-416C-9406-6750A604650C}"/>
              </a:ext>
            </a:extLst>
          </p:cNvPr>
          <p:cNvSpPr>
            <a:spLocks xmlns:a="http://schemas.openxmlformats.org/drawingml/2006/main" noGrp="1"/>
          </p:cNvSpPr>
          <p:nvPr/>
        </p:nvSpPr>
        <p:spPr>
          <a:xfrm xmlns:a="http://schemas.openxmlformats.org/drawingml/2006/main">
            <a:off x="571500" y="7477125"/>
            <a:ext cx="140970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Elke groep levert € 500 extra omzet, maar vraagt meer extra kosten.</a:t>
            </a:r>
          </a:p>
        </p:txBody>
      </p:sp>
    </p:spTree>
    <p:extLst>
      <p:ext uri="{BB962C8B-B14F-4D97-AF65-F5344CB8AC3E}">
        <p14:creationId xmlns:p14="http://schemas.microsoft.com/office/powerpoint/2010/main" val="98488270"/>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Antwoordcontrole bij SmoothBox">
            <a:extLst xmlns:a="http://schemas.openxmlformats.org/drawingml/2006/main">
              <a:ext uri="{FF2B5EF4-FFF2-40B4-BE49-F238E27FC236}">
                <a16:creationId xmlns:a16="http://schemas.microsoft.com/office/drawing/2014/main" id="{64DB0DB5-E9FE-47F4-8FBE-CEE26CE919C9}"/>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Antwoordcontrole bij SmoothBox</a:t>
            </a:r>
          </a:p>
        </p:txBody>
      </p:sp>
      <p:sp>
        <p:nvSpPr>
          <p:cNvPr id="2" name="">
            <a:extLst xmlns:a="http://schemas.openxmlformats.org/drawingml/2006/main">
              <a:ext uri="{FF2B5EF4-FFF2-40B4-BE49-F238E27FC236}">
                <a16:creationId xmlns:a16="http://schemas.microsoft.com/office/drawing/2014/main" id="{8F36BC34-55C9-41FB-8B74-1E630024B0F7}"/>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4 Gemengde opgaven">
            <a:extLst xmlns:a="http://schemas.openxmlformats.org/drawingml/2006/main">
              <a:ext uri="{FF2B5EF4-FFF2-40B4-BE49-F238E27FC236}">
                <a16:creationId xmlns:a16="http://schemas.microsoft.com/office/drawing/2014/main" id="{7135A40F-C335-45EB-8FBA-B1A2ADB773B8}"/>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§2.1.4 Gemengde opgaven</a:t>
            </a:r>
          </a:p>
        </p:txBody>
      </p:sp>
      <p:sp>
        <p:nvSpPr>
          <p:cNvPr id="4" name="slide-number">
            <a:extLst xmlns:a="http://schemas.openxmlformats.org/drawingml/2006/main">
              <a:ext uri="{FF2B5EF4-FFF2-40B4-BE49-F238E27FC236}">
                <a16:creationId xmlns:a16="http://schemas.microsoft.com/office/drawing/2014/main" id="{A551405A-4C72-4A86-9FF6-7B0470C4981E}"/>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23</a:t>
            </a:r>
          </a:p>
        </p:txBody>
      </p:sp>
      <p:sp>
        <p:nvSpPr>
          <p:cNvPr id="5" name="Bron en eenheid">
            <a:extLst xmlns:a="http://schemas.openxmlformats.org/drawingml/2006/main">
              <a:ext uri="{FF2B5EF4-FFF2-40B4-BE49-F238E27FC236}">
                <a16:creationId xmlns:a16="http://schemas.microsoft.com/office/drawing/2014/main" id="{15D99EDB-E936-490C-8C92-D71550A53390}"/>
              </a:ext>
            </a:extLst>
          </p:cNvPr>
          <p:cNvSpPr>
            <a:spLocks xmlns:a="http://schemas.openxmlformats.org/drawingml/2006/main" noGrp="1"/>
          </p:cNvSpPr>
          <p:nvPr/>
        </p:nvSpPr>
        <p:spPr>
          <a:xfrm xmlns:a="http://schemas.openxmlformats.org/drawingml/2006/main">
            <a:off x="571500" y="1924050"/>
            <a:ext cx="4572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17658A"/>
                </a:solidFill>
                <a:latin typeface="Arial"/>
                <a:ea typeface="Arial"/>
                <a:cs typeface="Arial"/>
              </a:defRPr>
            </a:pPr>
            <a:r>
              <a:rPr sz="2850" b="1">
                <a:solidFill>
                  <a:srgbClr val="17658A"/>
                </a:solidFill>
                <a:latin typeface="Arial"/>
                <a:ea typeface="Arial"/>
                <a:cs typeface="Arial"/>
              </a:rPr>
              <a:t>Bron en eenheid</a:t>
            </a:r>
          </a:p>
        </p:txBody>
      </p:sp>
      <p:sp>
        <p:nvSpPr>
          <p:cNvPr id="6" name="Vrijdag bij a–c, zaterdag bij d en f, beide dagen bij e.">
            <a:extLst xmlns:a="http://schemas.openxmlformats.org/drawingml/2006/main">
              <a:ext uri="{FF2B5EF4-FFF2-40B4-BE49-F238E27FC236}">
                <a16:creationId xmlns:a16="http://schemas.microsoft.com/office/drawing/2014/main" id="{311CC2F1-B9AD-4F2D-A336-6D1DB0477CCA}"/>
              </a:ext>
            </a:extLst>
          </p:cNvPr>
          <p:cNvSpPr>
            <a:spLocks xmlns:a="http://schemas.openxmlformats.org/drawingml/2006/main" noGrp="1"/>
          </p:cNvSpPr>
          <p:nvPr/>
        </p:nvSpPr>
        <p:spPr>
          <a:xfrm xmlns:a="http://schemas.openxmlformats.org/drawingml/2006/main">
            <a:off x="5667375" y="1924050"/>
            <a:ext cx="89535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Vrijdag bij a–c, zaterdag bij d en f, beide dagen bij e.</a:t>
            </a:r>
          </a:p>
        </p:txBody>
      </p:sp>
      <p:sp>
        <p:nvSpPr>
          <p:cNvPr id="7" name="Berekeningen">
            <a:extLst xmlns:a="http://schemas.openxmlformats.org/drawingml/2006/main">
              <a:ext uri="{FF2B5EF4-FFF2-40B4-BE49-F238E27FC236}">
                <a16:creationId xmlns:a16="http://schemas.microsoft.com/office/drawing/2014/main" id="{6C1E83B8-96E1-4B48-8921-54E6A2DA2FB0}"/>
              </a:ext>
            </a:extLst>
          </p:cNvPr>
          <p:cNvSpPr>
            <a:spLocks xmlns:a="http://schemas.openxmlformats.org/drawingml/2006/main" noGrp="1"/>
          </p:cNvSpPr>
          <p:nvPr/>
        </p:nvSpPr>
        <p:spPr>
          <a:xfrm xmlns:a="http://schemas.openxmlformats.org/drawingml/2006/main">
            <a:off x="571500" y="3295650"/>
            <a:ext cx="4572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17658A"/>
                </a:solidFill>
                <a:latin typeface="Arial"/>
                <a:ea typeface="Arial"/>
                <a:cs typeface="Arial"/>
              </a:defRPr>
            </a:pPr>
            <a:r>
              <a:rPr sz="2850" b="1">
                <a:solidFill>
                  <a:srgbClr val="17658A"/>
                </a:solidFill>
                <a:latin typeface="Arial"/>
                <a:ea typeface="Arial"/>
                <a:cs typeface="Arial"/>
              </a:rPr>
              <a:t>Berekeningen</a:t>
            </a:r>
          </a:p>
        </p:txBody>
      </p:sp>
      <p:sp>
        <p:nvSpPr>
          <p:cNvPr id="8" name="Formule, ingevulde getallen en volledige eenheid.">
            <a:extLst xmlns:a="http://schemas.openxmlformats.org/drawingml/2006/main">
              <a:ext uri="{FF2B5EF4-FFF2-40B4-BE49-F238E27FC236}">
                <a16:creationId xmlns:a16="http://schemas.microsoft.com/office/drawing/2014/main" id="{ED20679E-1F8A-46AB-A66A-AE636FE9AAD5}"/>
              </a:ext>
            </a:extLst>
          </p:cNvPr>
          <p:cNvSpPr>
            <a:spLocks xmlns:a="http://schemas.openxmlformats.org/drawingml/2006/main" noGrp="1"/>
          </p:cNvSpPr>
          <p:nvPr/>
        </p:nvSpPr>
        <p:spPr>
          <a:xfrm xmlns:a="http://schemas.openxmlformats.org/drawingml/2006/main">
            <a:off x="5667375" y="3295650"/>
            <a:ext cx="89535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Formule, ingevulde getallen en volledige eenheid.</a:t>
            </a:r>
          </a:p>
        </p:txBody>
      </p:sp>
      <p:sp>
        <p:nvSpPr>
          <p:cNvPr id="9" name="Grafiek">
            <a:extLst xmlns:a="http://schemas.openxmlformats.org/drawingml/2006/main">
              <a:ext uri="{FF2B5EF4-FFF2-40B4-BE49-F238E27FC236}">
                <a16:creationId xmlns:a16="http://schemas.microsoft.com/office/drawing/2014/main" id="{D2319455-1CD3-4310-BB21-96D34C6D2171}"/>
              </a:ext>
            </a:extLst>
          </p:cNvPr>
          <p:cNvSpPr>
            <a:spLocks xmlns:a="http://schemas.openxmlformats.org/drawingml/2006/main" noGrp="1"/>
          </p:cNvSpPr>
          <p:nvPr/>
        </p:nvSpPr>
        <p:spPr>
          <a:xfrm xmlns:a="http://schemas.openxmlformats.org/drawingml/2006/main">
            <a:off x="571500" y="4667250"/>
            <a:ext cx="4572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17658A"/>
                </a:solidFill>
                <a:latin typeface="Arial"/>
                <a:ea typeface="Arial"/>
                <a:cs typeface="Arial"/>
              </a:defRPr>
            </a:pPr>
            <a:r>
              <a:rPr sz="2850" b="1">
                <a:solidFill>
                  <a:srgbClr val="17658A"/>
                </a:solidFill>
                <a:latin typeface="Arial"/>
                <a:ea typeface="Arial"/>
                <a:cs typeface="Arial"/>
              </a:rPr>
              <a:t>Grafiek</a:t>
            </a:r>
          </a:p>
        </p:txBody>
      </p:sp>
      <p:sp>
        <p:nvSpPr>
          <p:cNvPr id="10" name="(400; 2.000), positieve winst en de groei per extra lunchbox">
            <a:extLst xmlns:a="http://schemas.openxmlformats.org/drawingml/2006/main">
              <a:ext uri="{FF2B5EF4-FFF2-40B4-BE49-F238E27FC236}">
                <a16:creationId xmlns:a16="http://schemas.microsoft.com/office/drawing/2014/main" id="{7659E108-9610-4C16-BD20-20D825569CB3}"/>
              </a:ext>
            </a:extLst>
          </p:cNvPr>
          <p:cNvSpPr>
            <a:spLocks xmlns:a="http://schemas.openxmlformats.org/drawingml/2006/main" noGrp="1"/>
          </p:cNvSpPr>
          <p:nvPr/>
        </p:nvSpPr>
        <p:spPr>
          <a:xfrm xmlns:a="http://schemas.openxmlformats.org/drawingml/2006/main">
            <a:off x="5667375" y="4667250"/>
            <a:ext cx="89535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(400; 2.000), positieve winst en de groei per extra lunchbox.</a:t>
            </a:r>
          </a:p>
        </p:txBody>
      </p:sp>
      <p:sp>
        <p:nvSpPr>
          <p:cNvPr id="11" name="Redenering">
            <a:extLst xmlns:a="http://schemas.openxmlformats.org/drawingml/2006/main">
              <a:ext uri="{FF2B5EF4-FFF2-40B4-BE49-F238E27FC236}">
                <a16:creationId xmlns:a16="http://schemas.microsoft.com/office/drawing/2014/main" id="{A6FD9DA5-9C91-4B8C-BE0C-3FC09D0E3B22}"/>
              </a:ext>
            </a:extLst>
          </p:cNvPr>
          <p:cNvSpPr>
            <a:spLocks xmlns:a="http://schemas.openxmlformats.org/drawingml/2006/main" noGrp="1"/>
          </p:cNvSpPr>
          <p:nvPr/>
        </p:nvSpPr>
        <p:spPr>
          <a:xfrm xmlns:a="http://schemas.openxmlformats.org/drawingml/2006/main">
            <a:off x="571500" y="6038850"/>
            <a:ext cx="4572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17658A"/>
                </a:solidFill>
                <a:latin typeface="Arial"/>
                <a:ea typeface="Arial"/>
                <a:cs typeface="Arial"/>
              </a:defRPr>
            </a:pPr>
            <a:r>
              <a:rPr sz="2850" b="1">
                <a:solidFill>
                  <a:srgbClr val="17658A"/>
                </a:solidFill>
                <a:latin typeface="Arial"/>
                <a:ea typeface="Arial"/>
                <a:cs typeface="Arial"/>
              </a:rPr>
              <a:t>Redenering</a:t>
            </a:r>
          </a:p>
        </p:txBody>
      </p:sp>
      <p:sp>
        <p:nvSpPr>
          <p:cNvPr id="12" name="Gelijke extra omzet geeft bij stijgende MK minder extra wins">
            <a:extLst xmlns:a="http://schemas.openxmlformats.org/drawingml/2006/main">
              <a:ext uri="{FF2B5EF4-FFF2-40B4-BE49-F238E27FC236}">
                <a16:creationId xmlns:a16="http://schemas.microsoft.com/office/drawing/2014/main" id="{0470B660-073D-417B-B289-1FA69775AB37}"/>
              </a:ext>
            </a:extLst>
          </p:cNvPr>
          <p:cNvSpPr>
            <a:spLocks xmlns:a="http://schemas.openxmlformats.org/drawingml/2006/main" noGrp="1"/>
          </p:cNvSpPr>
          <p:nvPr/>
        </p:nvSpPr>
        <p:spPr>
          <a:xfrm xmlns:a="http://schemas.openxmlformats.org/drawingml/2006/main">
            <a:off x="5667375" y="6038850"/>
            <a:ext cx="89535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Gelijke extra omzet geeft bij stijgende MK minder extra winst.</a:t>
            </a:r>
          </a:p>
        </p:txBody>
      </p:sp>
      <p:sp>
        <p:nvSpPr>
          <p:cNvPr id="13" name="Verbeter één ontbrekende stap of uitleg in je eigen antwoord">
            <a:extLst xmlns:a="http://schemas.openxmlformats.org/drawingml/2006/main">
              <a:ext uri="{FF2B5EF4-FFF2-40B4-BE49-F238E27FC236}">
                <a16:creationId xmlns:a16="http://schemas.microsoft.com/office/drawing/2014/main" id="{F97AE78A-9138-4255-86B1-581B7D384DB9}"/>
              </a:ext>
            </a:extLst>
          </p:cNvPr>
          <p:cNvSpPr>
            <a:spLocks xmlns:a="http://schemas.openxmlformats.org/drawingml/2006/main" noGrp="1"/>
          </p:cNvSpPr>
          <p:nvPr/>
        </p:nvSpPr>
        <p:spPr>
          <a:xfrm xmlns:a="http://schemas.openxmlformats.org/drawingml/2006/main">
            <a:off x="571500" y="7505700"/>
            <a:ext cx="14097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183247"/>
                </a:solidFill>
                <a:latin typeface="Arial"/>
                <a:ea typeface="Arial"/>
                <a:cs typeface="Arial"/>
              </a:defRPr>
            </a:pPr>
            <a:r>
              <a:rPr sz="2400" b="1">
                <a:solidFill>
                  <a:srgbClr val="183247"/>
                </a:solidFill>
                <a:latin typeface="Arial"/>
                <a:ea typeface="Arial"/>
                <a:cs typeface="Arial"/>
              </a:rPr>
              <a:t>Verbeter één ontbrekende stap of uitleg in je eigen antwoord.</a:t>
            </a:r>
          </a:p>
        </p:txBody>
      </p:sp>
    </p:spTree>
    <p:extLst>
      <p:ext uri="{BB962C8B-B14F-4D97-AF65-F5344CB8AC3E}">
        <p14:creationId xmlns:p14="http://schemas.microsoft.com/office/powerpoint/2010/main" val="799628786"/>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Deze les: §2.1.4 Gemengde opgaven">
            <a:extLst xmlns:a="http://schemas.openxmlformats.org/drawingml/2006/main">
              <a:ext uri="{FF2B5EF4-FFF2-40B4-BE49-F238E27FC236}">
                <a16:creationId xmlns:a16="http://schemas.microsoft.com/office/drawing/2014/main" id="{0F53A0DA-5D80-4748-A11D-3518A2E17143}"/>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Deze les: §2.1.4 Gemengde opgaven</a:t>
            </a:r>
          </a:p>
        </p:txBody>
      </p:sp>
      <p:sp>
        <p:nvSpPr>
          <p:cNvPr id="2" name="">
            <a:extLst xmlns:a="http://schemas.openxmlformats.org/drawingml/2006/main">
              <a:ext uri="{FF2B5EF4-FFF2-40B4-BE49-F238E27FC236}">
                <a16:creationId xmlns:a16="http://schemas.microsoft.com/office/drawing/2014/main" id="{F3389199-D5E9-4099-B75A-236B5D10B058}"/>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4 Gemengde opgaven">
            <a:extLst xmlns:a="http://schemas.openxmlformats.org/drawingml/2006/main">
              <a:ext uri="{FF2B5EF4-FFF2-40B4-BE49-F238E27FC236}">
                <a16:creationId xmlns:a16="http://schemas.microsoft.com/office/drawing/2014/main" id="{711C4A59-C1E9-455E-B23B-0E936E4987AA}"/>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§2.1.4 Gemengde opgaven</a:t>
            </a:r>
          </a:p>
        </p:txBody>
      </p:sp>
      <p:sp>
        <p:nvSpPr>
          <p:cNvPr id="4" name="slide-number">
            <a:extLst xmlns:a="http://schemas.openxmlformats.org/drawingml/2006/main">
              <a:ext uri="{FF2B5EF4-FFF2-40B4-BE49-F238E27FC236}">
                <a16:creationId xmlns:a16="http://schemas.microsoft.com/office/drawing/2014/main" id="{0ECE9E12-C3EF-4028-B978-CC244942BBA7}"/>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24</a:t>
            </a:r>
          </a:p>
        </p:txBody>
      </p:sp>
      <p:sp>
        <p:nvSpPr>
          <p:cNvPr id="5" name="phase">
            <a:extLst xmlns:a="http://schemas.openxmlformats.org/drawingml/2006/main">
              <a:ext uri="{FF2B5EF4-FFF2-40B4-BE49-F238E27FC236}">
                <a16:creationId xmlns:a16="http://schemas.microsoft.com/office/drawing/2014/main" id="{2A3046B4-26D4-47C7-A764-A3B5D130FAB8}"/>
              </a:ext>
            </a:extLst>
          </p:cNvPr>
          <p:cNvSpPr>
            <a:spLocks xmlns:a="http://schemas.openxmlformats.org/drawingml/2006/main" noGrp="1"/>
          </p:cNvSpPr>
          <p:nvPr/>
        </p:nvSpPr>
        <p:spPr>
          <a:xfrm xmlns:a="http://schemas.openxmlformats.org/drawingml/2006/main">
            <a:off x="571500" y="1066800"/>
            <a:ext cx="13811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Nu: Afsluiting / huiswerk</a:t>
            </a:r>
          </a:p>
        </p:txBody>
      </p:sp>
      <p:sp>
        <p:nvSpPr>
          <p:cNvPr id="6" name="Lesroute">
            <a:extLst xmlns:a="http://schemas.openxmlformats.org/drawingml/2006/main">
              <a:ext uri="{FF2B5EF4-FFF2-40B4-BE49-F238E27FC236}">
                <a16:creationId xmlns:a16="http://schemas.microsoft.com/office/drawing/2014/main" id="{6B2EA2C7-73AF-474D-96EF-ABD4E26B4E1A}"/>
              </a:ext>
            </a:extLst>
          </p:cNvPr>
          <p:cNvSpPr>
            <a:spLocks xmlns:a="http://schemas.openxmlformats.org/drawingml/2006/main" noGrp="1"/>
          </p:cNvSpPr>
          <p:nvPr/>
        </p:nvSpPr>
        <p:spPr>
          <a:xfrm xmlns:a="http://schemas.openxmlformats.org/drawingml/2006/main">
            <a:off x="571500" y="1762125"/>
            <a:ext cx="7953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Lesroute</a:t>
            </a:r>
          </a:p>
        </p:txBody>
      </p:sp>
      <p:sp>
        <p:nvSpPr>
          <p:cNvPr id="7" name="route-number-1">
            <a:extLst xmlns:a="http://schemas.openxmlformats.org/drawingml/2006/main">
              <a:ext uri="{FF2B5EF4-FFF2-40B4-BE49-F238E27FC236}">
                <a16:creationId xmlns:a16="http://schemas.microsoft.com/office/drawing/2014/main" id="{5F502E17-BC32-4928-9FA4-EDEF0DC67948}"/>
              </a:ext>
            </a:extLst>
          </p:cNvPr>
          <p:cNvSpPr>
            <a:spLocks xmlns:a="http://schemas.openxmlformats.org/drawingml/2006/main" noGrp="1"/>
          </p:cNvSpPr>
          <p:nvPr/>
        </p:nvSpPr>
        <p:spPr>
          <a:xfrm xmlns:a="http://schemas.openxmlformats.org/drawingml/2006/main">
            <a:off x="571500" y="2324100"/>
            <a:ext cx="4572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1.</a:t>
            </a:r>
          </a:p>
        </p:txBody>
      </p:sp>
      <p:sp>
        <p:nvSpPr>
          <p:cNvPr id="8" name="route-1">
            <a:extLst xmlns:a="http://schemas.openxmlformats.org/drawingml/2006/main">
              <a:ext uri="{FF2B5EF4-FFF2-40B4-BE49-F238E27FC236}">
                <a16:creationId xmlns:a16="http://schemas.microsoft.com/office/drawing/2014/main" id="{8CD1B814-8373-4BF6-9714-6DFCAA779379}"/>
              </a:ext>
            </a:extLst>
          </p:cNvPr>
          <p:cNvSpPr>
            <a:spLocks xmlns:a="http://schemas.openxmlformats.org/drawingml/2006/main" noGrp="1"/>
          </p:cNvSpPr>
          <p:nvPr/>
        </p:nvSpPr>
        <p:spPr>
          <a:xfrm xmlns:a="http://schemas.openxmlformats.org/drawingml/2006/main">
            <a:off x="1104900" y="2324100"/>
            <a:ext cx="741997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Jas in de kluis of aan de kapstok. Pak agenda, schrift, pen en rekenmachine.</a:t>
            </a:r>
          </a:p>
        </p:txBody>
      </p:sp>
      <p:sp>
        <p:nvSpPr>
          <p:cNvPr id="9" name="route-number-2">
            <a:extLst xmlns:a="http://schemas.openxmlformats.org/drawingml/2006/main">
              <a:ext uri="{FF2B5EF4-FFF2-40B4-BE49-F238E27FC236}">
                <a16:creationId xmlns:a16="http://schemas.microsoft.com/office/drawing/2014/main" id="{906852B6-AF8A-4083-A68B-CFAE8990BF16}"/>
              </a:ext>
            </a:extLst>
          </p:cNvPr>
          <p:cNvSpPr>
            <a:spLocks xmlns:a="http://schemas.openxmlformats.org/drawingml/2006/main" noGrp="1"/>
          </p:cNvSpPr>
          <p:nvPr/>
        </p:nvSpPr>
        <p:spPr>
          <a:xfrm xmlns:a="http://schemas.openxmlformats.org/drawingml/2006/main">
            <a:off x="571500" y="320040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2.</a:t>
            </a:r>
          </a:p>
        </p:txBody>
      </p:sp>
      <p:sp>
        <p:nvSpPr>
          <p:cNvPr id="10" name="route-2">
            <a:extLst xmlns:a="http://schemas.openxmlformats.org/drawingml/2006/main">
              <a:ext uri="{FF2B5EF4-FFF2-40B4-BE49-F238E27FC236}">
                <a16:creationId xmlns:a16="http://schemas.microsoft.com/office/drawing/2014/main" id="{8AD27CE1-90F1-4D04-9F33-11794771BE0D}"/>
              </a:ext>
            </a:extLst>
          </p:cNvPr>
          <p:cNvSpPr>
            <a:spLocks xmlns:a="http://schemas.openxmlformats.org/drawingml/2006/main" noGrp="1"/>
          </p:cNvSpPr>
          <p:nvPr/>
        </p:nvSpPr>
        <p:spPr>
          <a:xfrm xmlns:a="http://schemas.openxmlformats.org/drawingml/2006/main">
            <a:off x="1104900" y="320040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Maak de startopdracht.</a:t>
            </a:r>
          </a:p>
        </p:txBody>
      </p:sp>
      <p:sp>
        <p:nvSpPr>
          <p:cNvPr id="11" name="route-number-3">
            <a:extLst xmlns:a="http://schemas.openxmlformats.org/drawingml/2006/main">
              <a:ext uri="{FF2B5EF4-FFF2-40B4-BE49-F238E27FC236}">
                <a16:creationId xmlns:a16="http://schemas.microsoft.com/office/drawing/2014/main" id="{59017B74-7752-407A-9447-5231B4B1DA88}"/>
              </a:ext>
            </a:extLst>
          </p:cNvPr>
          <p:cNvSpPr>
            <a:spLocks xmlns:a="http://schemas.openxmlformats.org/drawingml/2006/main" noGrp="1"/>
          </p:cNvSpPr>
          <p:nvPr/>
        </p:nvSpPr>
        <p:spPr>
          <a:xfrm xmlns:a="http://schemas.openxmlformats.org/drawingml/2006/main">
            <a:off x="571500" y="371475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3.</a:t>
            </a:r>
          </a:p>
        </p:txBody>
      </p:sp>
      <p:sp>
        <p:nvSpPr>
          <p:cNvPr id="12" name="route-3">
            <a:extLst xmlns:a="http://schemas.openxmlformats.org/drawingml/2006/main">
              <a:ext uri="{FF2B5EF4-FFF2-40B4-BE49-F238E27FC236}">
                <a16:creationId xmlns:a16="http://schemas.microsoft.com/office/drawing/2014/main" id="{82D947AF-1A85-4ECB-BD9F-22DCF3731809}"/>
              </a:ext>
            </a:extLst>
          </p:cNvPr>
          <p:cNvSpPr>
            <a:spLocks xmlns:a="http://schemas.openxmlformats.org/drawingml/2006/main" noGrp="1"/>
          </p:cNvSpPr>
          <p:nvPr/>
        </p:nvSpPr>
        <p:spPr>
          <a:xfrm xmlns:a="http://schemas.openxmlformats.org/drawingml/2006/main">
            <a:off x="1104900" y="371475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Korte herhaling en aanpak.</a:t>
            </a:r>
          </a:p>
        </p:txBody>
      </p:sp>
      <p:sp>
        <p:nvSpPr>
          <p:cNvPr id="13" name="route-number-4">
            <a:extLst xmlns:a="http://schemas.openxmlformats.org/drawingml/2006/main">
              <a:ext uri="{FF2B5EF4-FFF2-40B4-BE49-F238E27FC236}">
                <a16:creationId xmlns:a16="http://schemas.microsoft.com/office/drawing/2014/main" id="{FF15AE3C-F471-43DF-8CA7-82CDD0544E65}"/>
              </a:ext>
            </a:extLst>
          </p:cNvPr>
          <p:cNvSpPr>
            <a:spLocks xmlns:a="http://schemas.openxmlformats.org/drawingml/2006/main" noGrp="1"/>
          </p:cNvSpPr>
          <p:nvPr/>
        </p:nvSpPr>
        <p:spPr>
          <a:xfrm xmlns:a="http://schemas.openxmlformats.org/drawingml/2006/main">
            <a:off x="571500" y="4248150"/>
            <a:ext cx="45720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4.</a:t>
            </a:r>
          </a:p>
        </p:txBody>
      </p:sp>
      <p:sp>
        <p:nvSpPr>
          <p:cNvPr id="14" name="route-4">
            <a:extLst xmlns:a="http://schemas.openxmlformats.org/drawingml/2006/main">
              <a:ext uri="{FF2B5EF4-FFF2-40B4-BE49-F238E27FC236}">
                <a16:creationId xmlns:a16="http://schemas.microsoft.com/office/drawing/2014/main" id="{BAA1D938-F83F-4F6B-ADBC-6CBE382D695F}"/>
              </a:ext>
            </a:extLst>
          </p:cNvPr>
          <p:cNvSpPr>
            <a:spLocks xmlns:a="http://schemas.openxmlformats.org/drawingml/2006/main" noGrp="1"/>
          </p:cNvSpPr>
          <p:nvPr/>
        </p:nvSpPr>
        <p:spPr>
          <a:xfrm xmlns:a="http://schemas.openxmlformats.org/drawingml/2006/main">
            <a:off x="1104900" y="4248150"/>
            <a:ext cx="7419975"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Werk verder aan de gemengde opgaven, stel vragen en kijk je antwoorden na.</a:t>
            </a:r>
          </a:p>
        </p:txBody>
      </p:sp>
      <p:sp>
        <p:nvSpPr>
          <p:cNvPr id="15" name="route-number-5">
            <a:extLst xmlns:a="http://schemas.openxmlformats.org/drawingml/2006/main">
              <a:ext uri="{FF2B5EF4-FFF2-40B4-BE49-F238E27FC236}">
                <a16:creationId xmlns:a16="http://schemas.microsoft.com/office/drawing/2014/main" id="{598D401C-BB5D-40E4-B3D0-7CF3373C4782}"/>
              </a:ext>
            </a:extLst>
          </p:cNvPr>
          <p:cNvSpPr>
            <a:spLocks xmlns:a="http://schemas.openxmlformats.org/drawingml/2006/main" noGrp="1"/>
          </p:cNvSpPr>
          <p:nvPr/>
        </p:nvSpPr>
        <p:spPr>
          <a:xfrm xmlns:a="http://schemas.openxmlformats.org/drawingml/2006/main">
            <a:off x="571500" y="6057900"/>
            <a:ext cx="4572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5.</a:t>
            </a:r>
          </a:p>
        </p:txBody>
      </p:sp>
      <p:sp>
        <p:nvSpPr>
          <p:cNvPr id="16" name="route-5">
            <a:extLst xmlns:a="http://schemas.openxmlformats.org/drawingml/2006/main">
              <a:ext uri="{FF2B5EF4-FFF2-40B4-BE49-F238E27FC236}">
                <a16:creationId xmlns:a16="http://schemas.microsoft.com/office/drawing/2014/main" id="{8163719D-C3B4-4D73-B350-4E6B9C37D5AF}"/>
              </a:ext>
            </a:extLst>
          </p:cNvPr>
          <p:cNvSpPr>
            <a:spLocks xmlns:a="http://schemas.openxmlformats.org/drawingml/2006/main" noGrp="1"/>
          </p:cNvSpPr>
          <p:nvPr/>
        </p:nvSpPr>
        <p:spPr>
          <a:xfrm xmlns:a="http://schemas.openxmlformats.org/drawingml/2006/main">
            <a:off x="1104900" y="6057900"/>
            <a:ext cx="741997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Klaar? Werk aan een ander vak. Geen devices.</a:t>
            </a:r>
          </a:p>
        </p:txBody>
      </p:sp>
      <p:sp>
        <p:nvSpPr>
          <p:cNvPr id="17" name="route-number-6">
            <a:extLst xmlns:a="http://schemas.openxmlformats.org/drawingml/2006/main">
              <a:ext uri="{FF2B5EF4-FFF2-40B4-BE49-F238E27FC236}">
                <a16:creationId xmlns:a16="http://schemas.microsoft.com/office/drawing/2014/main" id="{935A788B-2DA3-415B-B745-14D75AE2D3F9}"/>
              </a:ext>
            </a:extLst>
          </p:cNvPr>
          <p:cNvSpPr>
            <a:spLocks xmlns:a="http://schemas.openxmlformats.org/drawingml/2006/main" noGrp="1"/>
          </p:cNvSpPr>
          <p:nvPr/>
        </p:nvSpPr>
        <p:spPr>
          <a:xfrm xmlns:a="http://schemas.openxmlformats.org/drawingml/2006/main">
            <a:off x="571500" y="6819900"/>
            <a:ext cx="4572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6.</a:t>
            </a:r>
          </a:p>
        </p:txBody>
      </p:sp>
      <p:sp>
        <p:nvSpPr>
          <p:cNvPr id="18" name="route-6">
            <a:extLst xmlns:a="http://schemas.openxmlformats.org/drawingml/2006/main">
              <a:ext uri="{FF2B5EF4-FFF2-40B4-BE49-F238E27FC236}">
                <a16:creationId xmlns:a16="http://schemas.microsoft.com/office/drawing/2014/main" id="{ACF931CB-8B17-4E49-8A81-D8C9528A14C5}"/>
              </a:ext>
            </a:extLst>
          </p:cNvPr>
          <p:cNvSpPr>
            <a:spLocks xmlns:a="http://schemas.openxmlformats.org/drawingml/2006/main" noGrp="1"/>
          </p:cNvSpPr>
          <p:nvPr/>
        </p:nvSpPr>
        <p:spPr>
          <a:xfrm xmlns:a="http://schemas.openxmlformats.org/drawingml/2006/main">
            <a:off x="1104900" y="6819900"/>
            <a:ext cx="74199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Bespreken van de doelopgave: opgave 5.</a:t>
            </a:r>
          </a:p>
        </p:txBody>
      </p:sp>
      <p:sp>
        <p:nvSpPr>
          <p:cNvPr id="19" name="route-number-7">
            <a:extLst xmlns:a="http://schemas.openxmlformats.org/drawingml/2006/main">
              <a:ext uri="{FF2B5EF4-FFF2-40B4-BE49-F238E27FC236}">
                <a16:creationId xmlns:a16="http://schemas.microsoft.com/office/drawing/2014/main" id="{F9B71F73-CF43-4943-864D-D06188B348D9}"/>
              </a:ext>
            </a:extLst>
          </p:cNvPr>
          <p:cNvSpPr>
            <a:spLocks xmlns:a="http://schemas.openxmlformats.org/drawingml/2006/main" noGrp="1"/>
          </p:cNvSpPr>
          <p:nvPr/>
        </p:nvSpPr>
        <p:spPr>
          <a:xfrm xmlns:a="http://schemas.openxmlformats.org/drawingml/2006/main">
            <a:off x="571500" y="7372350"/>
            <a:ext cx="457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7.</a:t>
            </a:r>
          </a:p>
        </p:txBody>
      </p:sp>
      <p:sp>
        <p:nvSpPr>
          <p:cNvPr id="20" name="route-7">
            <a:extLst xmlns:a="http://schemas.openxmlformats.org/drawingml/2006/main">
              <a:ext uri="{FF2B5EF4-FFF2-40B4-BE49-F238E27FC236}">
                <a16:creationId xmlns:a16="http://schemas.microsoft.com/office/drawing/2014/main" id="{DB77EFEF-F152-4DE8-85CA-C6F1011EBE39}"/>
              </a:ext>
            </a:extLst>
          </p:cNvPr>
          <p:cNvSpPr>
            <a:spLocks xmlns:a="http://schemas.openxmlformats.org/drawingml/2006/main" noGrp="1"/>
          </p:cNvSpPr>
          <p:nvPr/>
        </p:nvSpPr>
        <p:spPr>
          <a:xfrm xmlns:a="http://schemas.openxmlformats.org/drawingml/2006/main">
            <a:off x="1104900" y="7372350"/>
            <a:ext cx="74199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Zet je huiswerk in je agenda.</a:t>
            </a:r>
          </a:p>
        </p:txBody>
      </p:sp>
      <p:sp>
        <p:nvSpPr>
          <p:cNvPr id="21" name="Lesdoelen">
            <a:extLst xmlns:a="http://schemas.openxmlformats.org/drawingml/2006/main">
              <a:ext uri="{FF2B5EF4-FFF2-40B4-BE49-F238E27FC236}">
                <a16:creationId xmlns:a16="http://schemas.microsoft.com/office/drawing/2014/main" id="{5CA97971-C0D7-40F2-A811-44D874D1FCE9}"/>
              </a:ext>
            </a:extLst>
          </p:cNvPr>
          <p:cNvSpPr>
            <a:spLocks xmlns:a="http://schemas.openxmlformats.org/drawingml/2006/main" noGrp="1"/>
          </p:cNvSpPr>
          <p:nvPr/>
        </p:nvSpPr>
        <p:spPr>
          <a:xfrm xmlns:a="http://schemas.openxmlformats.org/drawingml/2006/main">
            <a:off x="9258300" y="176212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Lesdoelen</a:t>
            </a:r>
          </a:p>
        </p:txBody>
      </p:sp>
      <p:sp>
        <p:nvSpPr>
          <p:cNvPr id="22" name="overview-goals">
            <a:extLst xmlns:a="http://schemas.openxmlformats.org/drawingml/2006/main">
              <a:ext uri="{FF2B5EF4-FFF2-40B4-BE49-F238E27FC236}">
                <a16:creationId xmlns:a16="http://schemas.microsoft.com/office/drawing/2014/main" id="{FC2B9EC2-0696-442F-A759-F005FCD54819}"/>
              </a:ext>
            </a:extLst>
          </p:cNvPr>
          <p:cNvSpPr>
            <a:spLocks xmlns:a="http://schemas.openxmlformats.org/drawingml/2006/main" noGrp="1"/>
          </p:cNvSpPr>
          <p:nvPr/>
        </p:nvSpPr>
        <p:spPr>
          <a:xfrm xmlns:a="http://schemas.openxmlformats.org/drawingml/2006/main">
            <a:off x="9258300" y="2324100"/>
            <a:ext cx="5381625"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Gegevens kiezen en combineren.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Tabel en grafiek verbinden.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Een uitspraak onderbouwen.</a:t>
            </a:r>
          </a:p>
        </p:txBody>
      </p:sp>
      <p:sp>
        <p:nvSpPr>
          <p:cNvPr id="23" name="">
            <a:extLst xmlns:a="http://schemas.openxmlformats.org/drawingml/2006/main">
              <a:ext uri="{FF2B5EF4-FFF2-40B4-BE49-F238E27FC236}">
                <a16:creationId xmlns:a16="http://schemas.microsoft.com/office/drawing/2014/main" id="{B53D3D4A-DE34-4A33-8A29-F9CC1E1CEBE7}"/>
              </a:ext>
            </a:extLst>
          </p:cNvPr>
          <p:cNvSpPr>
            <a:spLocks xmlns:a="http://schemas.openxmlformats.org/drawingml/2006/main" noGrp="1"/>
          </p:cNvSpPr>
          <p:nvPr/>
        </p:nvSpPr>
        <p:spPr>
          <a:xfrm xmlns:a="http://schemas.openxmlformats.org/drawingml/2006/main">
            <a:off x="9258300" y="3562350"/>
            <a:ext cx="5410200" cy="0"/>
          </a:xfrm>
          <a:prstGeom xmlns:a="http://schemas.openxmlformats.org/drawingml/2006/main" prst="line">
            <a:avLst/>
          </a:prstGeom>
          <a:ln xmlns:a="http://schemas.openxmlformats.org/drawingml/2006/main" w="19050">
            <a:solidFill>
              <a:srgbClr val="C6D2DB"/>
            </a:solidFill>
          </a:ln>
        </p:spPr>
      </p:sp>
      <p:sp>
        <p:nvSpPr>
          <p:cNvPr id="24" name="Startopdracht">
            <a:extLst xmlns:a="http://schemas.openxmlformats.org/drawingml/2006/main">
              <a:ext uri="{FF2B5EF4-FFF2-40B4-BE49-F238E27FC236}">
                <a16:creationId xmlns:a16="http://schemas.microsoft.com/office/drawing/2014/main" id="{2EC88739-F2AA-4B96-94C2-A4CA4E4CD296}"/>
              </a:ext>
            </a:extLst>
          </p:cNvPr>
          <p:cNvSpPr>
            <a:spLocks xmlns:a="http://schemas.openxmlformats.org/drawingml/2006/main" noGrp="1"/>
          </p:cNvSpPr>
          <p:nvPr/>
        </p:nvSpPr>
        <p:spPr>
          <a:xfrm xmlns:a="http://schemas.openxmlformats.org/drawingml/2006/main">
            <a:off x="9258300" y="383857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Startopdracht</a:t>
            </a:r>
          </a:p>
        </p:txBody>
      </p:sp>
      <p:sp>
        <p:nvSpPr>
          <p:cNvPr id="25" name="overview-start">
            <a:extLst xmlns:a="http://schemas.openxmlformats.org/drawingml/2006/main">
              <a:ext uri="{FF2B5EF4-FFF2-40B4-BE49-F238E27FC236}">
                <a16:creationId xmlns:a16="http://schemas.microsoft.com/office/drawing/2014/main" id="{021D8468-8B33-437B-92FE-2A9FE785BFBC}"/>
              </a:ext>
            </a:extLst>
          </p:cNvPr>
          <p:cNvSpPr>
            <a:spLocks xmlns:a="http://schemas.openxmlformats.org/drawingml/2006/main" noGrp="1"/>
          </p:cNvSpPr>
          <p:nvPr/>
        </p:nvSpPr>
        <p:spPr>
          <a:xfrm xmlns:a="http://schemas.openxmlformats.org/drawingml/2006/main">
            <a:off x="9258300" y="4371975"/>
            <a:ext cx="53816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Pagina 29</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Opgave 1</a:t>
            </a:r>
          </a:p>
        </p:txBody>
      </p:sp>
      <p:sp>
        <p:nvSpPr>
          <p:cNvPr id="26" name="">
            <a:extLst xmlns:a="http://schemas.openxmlformats.org/drawingml/2006/main">
              <a:ext uri="{FF2B5EF4-FFF2-40B4-BE49-F238E27FC236}">
                <a16:creationId xmlns:a16="http://schemas.microsoft.com/office/drawing/2014/main" id="{D78A9C7A-3271-4721-8658-10F5252E55C0}"/>
              </a:ext>
            </a:extLst>
          </p:cNvPr>
          <p:cNvSpPr>
            <a:spLocks xmlns:a="http://schemas.openxmlformats.org/drawingml/2006/main" noGrp="1"/>
          </p:cNvSpPr>
          <p:nvPr/>
        </p:nvSpPr>
        <p:spPr>
          <a:xfrm xmlns:a="http://schemas.openxmlformats.org/drawingml/2006/main">
            <a:off x="9258300" y="5429250"/>
            <a:ext cx="5410200" cy="0"/>
          </a:xfrm>
          <a:prstGeom xmlns:a="http://schemas.openxmlformats.org/drawingml/2006/main" prst="line">
            <a:avLst/>
          </a:prstGeom>
          <a:ln xmlns:a="http://schemas.openxmlformats.org/drawingml/2006/main" w="19050">
            <a:solidFill>
              <a:srgbClr val="C6D2DB"/>
            </a:solidFill>
          </a:ln>
        </p:spPr>
      </p:sp>
      <p:sp>
        <p:nvSpPr>
          <p:cNvPr id="27" name="Huiswerk">
            <a:extLst xmlns:a="http://schemas.openxmlformats.org/drawingml/2006/main">
              <a:ext uri="{FF2B5EF4-FFF2-40B4-BE49-F238E27FC236}">
                <a16:creationId xmlns:a16="http://schemas.microsoft.com/office/drawing/2014/main" id="{6508EEA0-0040-4BA2-9508-27D756662759}"/>
              </a:ext>
            </a:extLst>
          </p:cNvPr>
          <p:cNvSpPr>
            <a:spLocks xmlns:a="http://schemas.openxmlformats.org/drawingml/2006/main" noGrp="1"/>
          </p:cNvSpPr>
          <p:nvPr/>
        </p:nvSpPr>
        <p:spPr>
          <a:xfrm xmlns:a="http://schemas.openxmlformats.org/drawingml/2006/main">
            <a:off x="9258300" y="562927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Huiswerk</a:t>
            </a:r>
          </a:p>
        </p:txBody>
      </p:sp>
      <p:sp>
        <p:nvSpPr>
          <p:cNvPr id="28" name="overview-homework">
            <a:extLst xmlns:a="http://schemas.openxmlformats.org/drawingml/2006/main">
              <a:ext uri="{FF2B5EF4-FFF2-40B4-BE49-F238E27FC236}">
                <a16:creationId xmlns:a16="http://schemas.microsoft.com/office/drawing/2014/main" id="{FB17B022-0872-4A27-9125-DF54F281E2A1}"/>
              </a:ext>
            </a:extLst>
          </p:cNvPr>
          <p:cNvSpPr>
            <a:spLocks xmlns:a="http://schemas.openxmlformats.org/drawingml/2006/main" noGrp="1"/>
          </p:cNvSpPr>
          <p:nvPr/>
        </p:nvSpPr>
        <p:spPr>
          <a:xfrm xmlns:a="http://schemas.openxmlformats.org/drawingml/2006/main">
            <a:off x="9258300" y="6191250"/>
            <a:ext cx="5381625" cy="1752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§2.1.4 · Opgaven 1–7</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Gemengd: 1–4 · Doel: 5</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Bonus / denkertje: 6</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Herhaling: 7</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Maken en nakijken</a:t>
            </a:r>
          </a:p>
        </p:txBody>
      </p:sp>
    </p:spTree>
    <p:extLst>
      <p:ext uri="{BB962C8B-B14F-4D97-AF65-F5344CB8AC3E}">
        <p14:creationId xmlns:p14="http://schemas.microsoft.com/office/powerpoint/2010/main" val="161969474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2026-09-28T10:31:48.1380000Z</dcterms:created>
  <dcterms:modified xsi:type="dcterms:W3CDTF">2026-09-28T10:31:48.1380000Z</dcterms:modified>
</coreProperties>
</file>