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6.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9e7fd3db6e34341" /><Relationship Type="http://schemas.openxmlformats.org/officeDocument/2006/relationships/extended-properties" Target="/docProps/app.xml" Id="Rcc50221df5e249fc" /><Relationship Type="http://schemas.openxmlformats.org/officeDocument/2006/relationships/officeDocument" Target="/ppt/presentation.xml" Id="R39fa0305f27e43c7" /></Relationships>
</file>

<file path=ppt/presentation.xml><?xml version="1.0" encoding="utf-8"?>
<p:presentation xmlns:p="http://schemas.openxmlformats.org/presentationml/2006/main">
  <p:sldMasterIdLst>
    <p:sldMasterId xmlns:r="http://schemas.openxmlformats.org/officeDocument/2006/relationships" id="2147483648" r:id="R74b1dd10572c4bbe"/>
  </p:sldMasterIdLst>
  <p:notesMasterIdLst>
    <p:notesMasterId xmlns:r="http://schemas.openxmlformats.org/officeDocument/2006/relationships" r:id="R26155a9c91124184"/>
  </p:notesMasterIdLst>
  <p:sldIdLst>
    <p:sldId xmlns:r="http://schemas.openxmlformats.org/officeDocument/2006/relationships" id="256" r:id="R4551aefc37c84dbf"/>
    <p:sldId xmlns:r="http://schemas.openxmlformats.org/officeDocument/2006/relationships" id="257" r:id="R3c0ec8140ef244a6"/>
    <p:sldId xmlns:r="http://schemas.openxmlformats.org/officeDocument/2006/relationships" id="258" r:id="Rb9bd591a8ebd4fbb"/>
    <p:sldId xmlns:r="http://schemas.openxmlformats.org/officeDocument/2006/relationships" id="259" r:id="R71c94e5847294876"/>
    <p:sldId xmlns:r="http://schemas.openxmlformats.org/officeDocument/2006/relationships" id="260" r:id="Rbb8fb765cfd0462c"/>
    <p:sldId xmlns:r="http://schemas.openxmlformats.org/officeDocument/2006/relationships" id="261" r:id="Re59d24128d4e4279"/>
    <p:sldId xmlns:r="http://schemas.openxmlformats.org/officeDocument/2006/relationships" id="262" r:id="Rd26cddfc1baa48ed"/>
    <p:sldId xmlns:r="http://schemas.openxmlformats.org/officeDocument/2006/relationships" id="263" r:id="R74810d8965a64229"/>
    <p:sldId xmlns:r="http://schemas.openxmlformats.org/officeDocument/2006/relationships" id="264" r:id="R3107403dbbc34553"/>
    <p:sldId xmlns:r="http://schemas.openxmlformats.org/officeDocument/2006/relationships" id="265" r:id="R16e8c6c09b574567"/>
    <p:sldId xmlns:r="http://schemas.openxmlformats.org/officeDocument/2006/relationships" id="266" r:id="Rc7c14b0ed5984e0d"/>
    <p:sldId xmlns:r="http://schemas.openxmlformats.org/officeDocument/2006/relationships" id="267" r:id="Ra5546da56ae543ef"/>
    <p:sldId xmlns:r="http://schemas.openxmlformats.org/officeDocument/2006/relationships" id="268" r:id="R2f0cedb9692240ca"/>
    <p:sldId xmlns:r="http://schemas.openxmlformats.org/officeDocument/2006/relationships" id="269" r:id="R711a7ffc10ed4726"/>
    <p:sldId xmlns:r="http://schemas.openxmlformats.org/officeDocument/2006/relationships" id="270" r:id="R200083a5ff5247ad"/>
    <p:sldId xmlns:r="http://schemas.openxmlformats.org/officeDocument/2006/relationships" id="271" r:id="Re4d166acc4c5442c"/>
    <p:sldId xmlns:r="http://schemas.openxmlformats.org/officeDocument/2006/relationships" id="272" r:id="Ra02c4065366e42f2"/>
    <p:sldId xmlns:r="http://schemas.openxmlformats.org/officeDocument/2006/relationships" id="273" r:id="R9a8ff622164f4d75"/>
    <p:sldId xmlns:r="http://schemas.openxmlformats.org/officeDocument/2006/relationships" id="274" r:id="Ra1b3e1807b98412b"/>
    <p:sldId xmlns:r="http://schemas.openxmlformats.org/officeDocument/2006/relationships" id="275" r:id="R974b82b01c8c4d0a"/>
    <p:sldId xmlns:r="http://schemas.openxmlformats.org/officeDocument/2006/relationships" id="276" r:id="R24677d348e164063"/>
    <p:sldId xmlns:r="http://schemas.openxmlformats.org/officeDocument/2006/relationships" id="277" r:id="R0fb1414351cc4932"/>
    <p:sldId xmlns:r="http://schemas.openxmlformats.org/officeDocument/2006/relationships" id="278" r:id="R837dfbbf5a3b4630"/>
    <p:sldId xmlns:r="http://schemas.openxmlformats.org/officeDocument/2006/relationships" id="279" r:id="Rb08a73c00fe74428"/>
    <p:sldId xmlns:r="http://schemas.openxmlformats.org/officeDocument/2006/relationships" id="280" r:id="Rc44b792fc7024ba5"/>
    <p:sldId xmlns:r="http://schemas.openxmlformats.org/officeDocument/2006/relationships" id="281" r:id="Rffb439727bad4b93"/>
    <p:sldId xmlns:r="http://schemas.openxmlformats.org/officeDocument/2006/relationships" id="282" r:id="Rb198f736310140d0"/>
    <p:sldId xmlns:r="http://schemas.openxmlformats.org/officeDocument/2006/relationships" id="283" r:id="R22503e3f1d5748b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40bd13f13c4569" /><Relationship Type="http://schemas.openxmlformats.org/officeDocument/2006/relationships/slideMaster" Target="/ppt/slideMasters/slideMaster1.xml" Id="R74b1dd10572c4bbe" /><Relationship Type="http://schemas.openxmlformats.org/officeDocument/2006/relationships/notesMaster" Target="/ppt/notesMasters/notesMaster1.xml" Id="R26155a9c91124184" /><Relationship Type="http://schemas.openxmlformats.org/officeDocument/2006/relationships/presProps" Target="/ppt/presProps.xml" Id="R0d85d20133c24cea" /><Relationship Type="http://schemas.openxmlformats.org/officeDocument/2006/relationships/tableStyles" Target="/ppt/tableStyles.xml" Id="R50abf57d125d495d" /><Relationship Type="http://schemas.openxmlformats.org/officeDocument/2006/relationships/slide" Target="/ppt/slides/slide1.xml" Id="R4551aefc37c84dbf" /><Relationship Type="http://schemas.openxmlformats.org/officeDocument/2006/relationships/slide" Target="/ppt/slides/slide2.xml" Id="R3c0ec8140ef244a6" /><Relationship Type="http://schemas.openxmlformats.org/officeDocument/2006/relationships/slide" Target="/ppt/slides/slide3.xml" Id="Rb9bd591a8ebd4fbb" /><Relationship Type="http://schemas.openxmlformats.org/officeDocument/2006/relationships/slide" Target="/ppt/slides/slide4.xml" Id="R71c94e5847294876" /><Relationship Type="http://schemas.openxmlformats.org/officeDocument/2006/relationships/slide" Target="/ppt/slides/slide5.xml" Id="Rbb8fb765cfd0462c" /><Relationship Type="http://schemas.openxmlformats.org/officeDocument/2006/relationships/slide" Target="/ppt/slides/slide6.xml" Id="Re59d24128d4e4279" /><Relationship Type="http://schemas.openxmlformats.org/officeDocument/2006/relationships/slide" Target="/ppt/slides/slide7.xml" Id="Rd26cddfc1baa48ed" /><Relationship Type="http://schemas.openxmlformats.org/officeDocument/2006/relationships/slide" Target="/ppt/slides/slide8.xml" Id="R74810d8965a64229" /><Relationship Type="http://schemas.openxmlformats.org/officeDocument/2006/relationships/slide" Target="/ppt/slides/slide9.xml" Id="R3107403dbbc34553" /><Relationship Type="http://schemas.openxmlformats.org/officeDocument/2006/relationships/slide" Target="/ppt/slides/slide10.xml" Id="R16e8c6c09b574567" /><Relationship Type="http://schemas.openxmlformats.org/officeDocument/2006/relationships/slide" Target="/ppt/slides/slide11.xml" Id="Rc7c14b0ed5984e0d" /><Relationship Type="http://schemas.openxmlformats.org/officeDocument/2006/relationships/slide" Target="/ppt/slides/slide12.xml" Id="Ra5546da56ae543ef" /><Relationship Type="http://schemas.openxmlformats.org/officeDocument/2006/relationships/slide" Target="/ppt/slides/slide13.xml" Id="R2f0cedb9692240ca" /><Relationship Type="http://schemas.openxmlformats.org/officeDocument/2006/relationships/slide" Target="/ppt/slides/slide14.xml" Id="R711a7ffc10ed4726" /><Relationship Type="http://schemas.openxmlformats.org/officeDocument/2006/relationships/slide" Target="/ppt/slides/slide15.xml" Id="R200083a5ff5247ad" /><Relationship Type="http://schemas.openxmlformats.org/officeDocument/2006/relationships/slide" Target="/ppt/slides/slide16.xml" Id="Re4d166acc4c5442c" /><Relationship Type="http://schemas.openxmlformats.org/officeDocument/2006/relationships/slide" Target="/ppt/slides/slide17.xml" Id="Ra02c4065366e42f2" /><Relationship Type="http://schemas.openxmlformats.org/officeDocument/2006/relationships/slide" Target="/ppt/slides/slide18.xml" Id="R9a8ff622164f4d75" /><Relationship Type="http://schemas.openxmlformats.org/officeDocument/2006/relationships/slide" Target="/ppt/slides/slide19.xml" Id="Ra1b3e1807b98412b" /><Relationship Type="http://schemas.openxmlformats.org/officeDocument/2006/relationships/slide" Target="/ppt/slides/slide20.xml" Id="R974b82b01c8c4d0a" /><Relationship Type="http://schemas.openxmlformats.org/officeDocument/2006/relationships/slide" Target="/ppt/slides/slide21.xml" Id="R24677d348e164063" /><Relationship Type="http://schemas.openxmlformats.org/officeDocument/2006/relationships/slide" Target="/ppt/slides/slide22.xml" Id="R0fb1414351cc4932" /><Relationship Type="http://schemas.openxmlformats.org/officeDocument/2006/relationships/slide" Target="/ppt/slides/slide23.xml" Id="R837dfbbf5a3b4630" /><Relationship Type="http://schemas.openxmlformats.org/officeDocument/2006/relationships/slide" Target="/ppt/slides/slide24.xml" Id="Rb08a73c00fe74428" /><Relationship Type="http://schemas.openxmlformats.org/officeDocument/2006/relationships/slide" Target="/ppt/slides/slide25.xml" Id="Rc44b792fc7024ba5" /><Relationship Type="http://schemas.openxmlformats.org/officeDocument/2006/relationships/slide" Target="/ppt/slides/slide26.xml" Id="Rffb439727bad4b93" /><Relationship Type="http://schemas.openxmlformats.org/officeDocument/2006/relationships/slide" Target="/ppt/slides/slide27.xml" Id="Rb198f736310140d0" /><Relationship Type="http://schemas.openxmlformats.org/officeDocument/2006/relationships/slide" Target="/ppt/slides/slide28.xml" Id="R22503e3f1d5748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935bfae77f4a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b93f177c1040e6" /><Relationship Type="http://schemas.openxmlformats.org/officeDocument/2006/relationships/notesMaster" Target="/ppt/notesMasters/notesMaster1.xml" Id="R2c86f2cff05844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3ff9b74269493f" /><Relationship Type="http://schemas.openxmlformats.org/officeDocument/2006/relationships/notesMaster" Target="/ppt/notesMasters/notesMaster1.xml" Id="Rca863558e47142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560a8f65524c76" /><Relationship Type="http://schemas.openxmlformats.org/officeDocument/2006/relationships/notesMaster" Target="/ppt/notesMasters/notesMaster1.xml" Id="R585f19a42bf340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9ab5d785f244f2" /><Relationship Type="http://schemas.openxmlformats.org/officeDocument/2006/relationships/notesMaster" Target="/ppt/notesMasters/notesMaster1.xml" Id="R42a17c2b8cd148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255eb8e4f64445" /><Relationship Type="http://schemas.openxmlformats.org/officeDocument/2006/relationships/notesMaster" Target="/ppt/notesMasters/notesMaster1.xml" Id="R0f668dcbcb7f48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310870150e490e" /><Relationship Type="http://schemas.openxmlformats.org/officeDocument/2006/relationships/notesMaster" Target="/ppt/notesMasters/notesMaster1.xml" Id="R63deeed777984b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eff9a549f14c15" /><Relationship Type="http://schemas.openxmlformats.org/officeDocument/2006/relationships/notesMaster" Target="/ppt/notesMasters/notesMaster1.xml" Id="Rde9049de357649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298a1a7ce64ab9" /><Relationship Type="http://schemas.openxmlformats.org/officeDocument/2006/relationships/notesMaster" Target="/ppt/notesMasters/notesMaster1.xml" Id="R6a4c777c06d249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83bfdda251419e" /><Relationship Type="http://schemas.openxmlformats.org/officeDocument/2006/relationships/notesMaster" Target="/ppt/notesMasters/notesMaster1.xml" Id="R053e1594fddb4e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78982baea144a6" /><Relationship Type="http://schemas.openxmlformats.org/officeDocument/2006/relationships/notesMaster" Target="/ppt/notesMasters/notesMaster1.xml" Id="R7e2267b774d148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5828cc5a9f4757" /><Relationship Type="http://schemas.openxmlformats.org/officeDocument/2006/relationships/notesMaster" Target="/ppt/notesMasters/notesMaster1.xml" Id="R22273da171b14a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61720110194d17" /><Relationship Type="http://schemas.openxmlformats.org/officeDocument/2006/relationships/notesMaster" Target="/ppt/notesMasters/notesMaster1.xml" Id="R0f8ca781636747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8e44560dc74c5a" /><Relationship Type="http://schemas.openxmlformats.org/officeDocument/2006/relationships/notesMaster" Target="/ppt/notesMasters/notesMaster1.xml" Id="R0ec39b26b5d14e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e3c4fb42974bfa" /><Relationship Type="http://schemas.openxmlformats.org/officeDocument/2006/relationships/notesMaster" Target="/ppt/notesMasters/notesMaster1.xml" Id="Rc7c4f2c456a445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dbdd128ab8489f" /><Relationship Type="http://schemas.openxmlformats.org/officeDocument/2006/relationships/notesMaster" Target="/ppt/notesMasters/notesMaster1.xml" Id="R92961e6fcc574e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f235c50305443b" /><Relationship Type="http://schemas.openxmlformats.org/officeDocument/2006/relationships/notesMaster" Target="/ppt/notesMasters/notesMaster1.xml" Id="R181f7fa374e74a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2a1435b29948a8" /><Relationship Type="http://schemas.openxmlformats.org/officeDocument/2006/relationships/notesMaster" Target="/ppt/notesMasters/notesMaster1.xml" Id="Rd8315549d45a46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ad84924d47416e" /><Relationship Type="http://schemas.openxmlformats.org/officeDocument/2006/relationships/notesMaster" Target="/ppt/notesMasters/notesMaster1.xml" Id="Rc63ac91e21dc43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73e96e15964553" /><Relationship Type="http://schemas.openxmlformats.org/officeDocument/2006/relationships/notesMaster" Target="/ppt/notesMasters/notesMaster1.xml" Id="R38c9a7c11de34a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24a352f11c4d45" /><Relationship Type="http://schemas.openxmlformats.org/officeDocument/2006/relationships/notesMaster" Target="/ppt/notesMasters/notesMaster1.xml" Id="Rd75a895e2dbb4d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b4fa668bf94254" /><Relationship Type="http://schemas.openxmlformats.org/officeDocument/2006/relationships/notesMaster" Target="/ppt/notesMasters/notesMaster1.xml" Id="R04b03206c3354f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ac7184083a453c" /><Relationship Type="http://schemas.openxmlformats.org/officeDocument/2006/relationships/notesMaster" Target="/ppt/notesMasters/notesMaster1.xml" Id="R5ed133072faf48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d74bed90974f5c" /><Relationship Type="http://schemas.openxmlformats.org/officeDocument/2006/relationships/notesMaster" Target="/ppt/notesMasters/notesMaster1.xml" Id="Ree0d7cb8259347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3cb0b912494f16" /><Relationship Type="http://schemas.openxmlformats.org/officeDocument/2006/relationships/notesMaster" Target="/ppt/notesMasters/notesMaster1.xml" Id="Ra78cecfab07b4d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ccab67f57840d7" /><Relationship Type="http://schemas.openxmlformats.org/officeDocument/2006/relationships/notesMaster" Target="/ppt/notesMasters/notesMaster1.xml" Id="R6265be4fc73a4aa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2b7e805f584531" /><Relationship Type="http://schemas.openxmlformats.org/officeDocument/2006/relationships/notesMaster" Target="/ppt/notesMasters/notesMaster1.xml" Id="R2bce4f309ba047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599bf1e70e4f78" /><Relationship Type="http://schemas.openxmlformats.org/officeDocument/2006/relationships/notesMaster" Target="/ppt/notesMasters/notesMaster1.xml" Id="Re005fa4ec68041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b45e0e59b24e67" /><Relationship Type="http://schemas.openxmlformats.org/officeDocument/2006/relationships/notesMaster" Target="/ppt/notesMasters/notesMaster1.xml" Id="R432b4d02981543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kostenkennis kun je bij de start gebruiken?</a:t>
            </a:r>
          </a:p>
          <a:p xmlns:a="http://schemas.openxmlformats.org/drawingml/2006/main">
            <a:r>
              <a:rPr sz="1400"/>
              <a:t/>
            </a:r>
          </a:p>
          <a:p xmlns:a="http://schemas.openxmlformats.org/drawingml/2006/main">
            <a:r>
              <a:rPr sz="1400"/>
              <a:t>Uitleg: Laat deze dia staan tijdens startopdracht. Start: 1 en 2 op pagina 14. Basis: alle begeleide opgaven 3, 4 en 5 op pagina 14–16. Zelfstandig: 6 en 7 op pagina 16. Doel: 8 op pagina 17. Huiswerk: opgaven 3, 4, 5, 6, 7 en 8 maken en nakijken. Bonus 9 en herhaling 10–11 zijn extra. Plan vervolgwerktijd als de volledige route meer dan één les vraagt.</a:t>
            </a:r>
          </a:p>
          <a:p xmlns:a="http://schemas.openxmlformats.org/drawingml/2006/main">
            <a:r>
              <a:rPr sz="1400"/>
              <a:t/>
            </a:r>
          </a:p>
          <a:p xmlns:a="http://schemas.openxmlformats.org/drawingml/2006/main">
            <a:r>
              <a:rPr sz="1400"/>
              <a:t>Start en terugblik: Opgave 1 gebruikt de kostenfuncties en gemiddelde kosten uit §2.1.1, dia 4 en 7–9. TO, GO en winst zijn nieuwe formele begrippen. Lees voor opgave 2 de betekenis en formules op p. 10–11.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Het gedrukte paginanummer 14 staat op fysieke PDF-pagina 16. Omzet is nog geen winst.</a:t>
            </a:r>
          </a:p>
          <a:p xmlns:a="http://schemas.openxmlformats.org/drawingml/2006/main">
            <a:r>
              <a:rPr sz="1400"/>
              <a:t/>
            </a:r>
          </a:p>
          <a:p xmlns:a="http://schemas.openxmlformats.org/drawingml/2006/main">
            <a:r>
              <a:rPr sz="1400"/>
              <a:t>Overgang: Ga door naar de volgende lesfase zodra dat past bij de klas.</a:t>
            </a:r>
          </a:p>
          <a:p xmlns:a="http://schemas.openxmlformats.org/drawingml/2006/main">
            <a:r>
              <a:rPr sz="1400"/>
              <a:t/>
            </a:r>
          </a:p>
          <a:p xmlns:a="http://schemas.openxmlformats.org/drawingml/2006/main">
            <a:r>
              <a:rPr sz="1400"/>
              <a:t>Bron: leerlingenboek Boek 2, chatuitgave 2026, revisie 21 september 2026, gedrukte pagina 14–17.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Startantwoorden: 1a TK = 180 + 3 × 40 = € 300 per week en GTK = 300 / 40 = € 7,50 per badge. 1b TCK = € 180 per week en variabel € 3 per badge. 2a TO = 4 × 80 = € 320 voor de activiteit; GO = 320 / 80 = € 4 per kaart; winst = 320 − 250 = € 70. 2b De € 320 is omzet; de kosten moeten er nog 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behalve de opbrengst weten om winst te bepalen?</a:t>
            </a:r>
          </a:p>
          <a:p xmlns:a="http://schemas.openxmlformats.org/drawingml/2006/main">
            <a:r>
              <a:rPr sz="1400"/>
              <a:t/>
            </a:r>
          </a:p>
          <a:p xmlns:a="http://schemas.openxmlformats.org/drawingml/2006/main">
            <a:r>
              <a:rPr sz="1400"/>
              <a:t>Uitleg: Koppel elk doel aan opgave 8. De kostenfunctie uit §2.1.1 is het vertrekpunt. Alle geproduceerde producten worden verkocht, tenzij een opgave anders zegt. Vergelijk steeds dezelfde periode en blijf binnen de capaciteit.</a:t>
            </a:r>
          </a:p>
          <a:p xmlns:a="http://schemas.openxmlformats.org/drawingml/2006/main">
            <a:r>
              <a:rPr sz="1400"/>
              <a:t/>
            </a:r>
          </a:p>
          <a:p xmlns:a="http://schemas.openxmlformats.org/drawingml/2006/main">
            <a:r>
              <a:rPr sz="1400"/>
              <a:t>Misvatting: Een hoog verkoopbedrag garandeert geen winst.</a:t>
            </a:r>
          </a:p>
          <a:p xmlns:a="http://schemas.openxmlformats.org/drawingml/2006/main">
            <a:r>
              <a:rPr sz="1400"/>
              <a:t/>
            </a:r>
          </a:p>
          <a:p xmlns:a="http://schemas.openxmlformats.org/drawingml/2006/main">
            <a:r>
              <a:rPr sz="1400"/>
              <a:t>Overgang: Gebruik WafelWagen als doorlopend voorbeeld.</a:t>
            </a:r>
          </a:p>
          <a:p xmlns:a="http://schemas.openxmlformats.org/drawingml/2006/main">
            <a:r>
              <a:rPr sz="1400"/>
              <a:t/>
            </a:r>
          </a:p>
          <a:p xmlns:a="http://schemas.openxmlformats.org/drawingml/2006/main">
            <a:r>
              <a:rPr sz="1400"/>
              <a:t>Bron: leerlingenboek Boek 2, chatuitgave 2026, revisie 21 september 2026, gedrukte pagina 10–13.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bij tweemaal zoveel verkochte wafels?</a:t>
            </a:r>
          </a:p>
          <a:p xmlns:a="http://schemas.openxmlformats.org/drawingml/2006/main">
            <a:r>
              <a:rPr sz="1400"/>
              <a:t/>
            </a:r>
          </a:p>
          <a:p xmlns:a="http://schemas.openxmlformats.org/drawingml/2006/main">
            <a:r>
              <a:rPr sz="1400"/>
              <a:t>Uitleg: Opbrengst is het verkoopbedrag, ook omzet genoemd. P is euro per wafel en Q wafels per dag. Vermenigvuldigen geeft TO in euro per dag. Delen door Q geeft GO in euro per wafel. Iedere verkochte wafel brengt dezelfde € 5 op, dus GO blijft gelijk bij meer verkopen. Alle gemaakte wafels worden verkocht.</a:t>
            </a:r>
          </a:p>
          <a:p xmlns:a="http://schemas.openxmlformats.org/drawingml/2006/main">
            <a:r>
              <a:rPr sz="1400"/>
              <a:t/>
            </a:r>
          </a:p>
          <a:p xmlns:a="http://schemas.openxmlformats.org/drawingml/2006/main">
            <a:r>
              <a:rPr sz="1400"/>
              <a:t>Misvatting: Bij Q = 0 kun je GO niet berekenen. TO en GO hebben verschillende eenheden.</a:t>
            </a:r>
          </a:p>
          <a:p xmlns:a="http://schemas.openxmlformats.org/drawingml/2006/main">
            <a:r>
              <a:rPr sz="1400"/>
              <a:t/>
            </a:r>
          </a:p>
          <a:p xmlns:a="http://schemas.openxmlformats.org/drawingml/2006/main">
            <a:r>
              <a:rPr sz="1400"/>
              <a:t>Overgang: Trek vervolgens alle kosten af van de opbrengst.</a:t>
            </a:r>
          </a:p>
          <a:p xmlns:a="http://schemas.openxmlformats.org/drawingml/2006/main">
            <a:r>
              <a:rPr sz="1400"/>
              <a:t/>
            </a:r>
          </a:p>
          <a:p xmlns:a="http://schemas.openxmlformats.org/drawingml/2006/main">
            <a:r>
              <a:rPr sz="1400"/>
              <a:t>Bron: leerlingenboek Boek 2, chatuitgave 2026, revisie 21 september 2026, gedrukte pagina 10,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naast de ingrediënten ook de kraamkosten af?</a:t>
            </a:r>
          </a:p>
          <a:p xmlns:a="http://schemas.openxmlformats.org/drawingml/2006/main">
            <a:r>
              <a:rPr sz="1400"/>
              <a:t/>
            </a:r>
          </a:p>
          <a:p xmlns:a="http://schemas.openxmlformats.org/drawingml/2006/main">
            <a:r>
              <a:rPr sz="1400"/>
              <a:t>Uitleg: De kraam kost € 250 per dag. Ingrediënten en verpakking kosten € 2 per wafel. Bij 50 wafels zijn de kosten hoger dan de opbrengst: € 100 verlies. Bij 100 wafels blijft € 50 winst over. Bij Q = 0 is TO nul maar TK € 250, dus verlies € 250.</a:t>
            </a:r>
          </a:p>
          <a:p xmlns:a="http://schemas.openxmlformats.org/drawingml/2006/main">
            <a:r>
              <a:rPr sz="1400"/>
              <a:t/>
            </a:r>
          </a:p>
          <a:p xmlns:a="http://schemas.openxmlformats.org/drawingml/2006/main">
            <a:r>
              <a:rPr sz="1400"/>
              <a:t>Misvatting: Vergeet de constante kosten niet. Een minteken bij winst betekent een verliesbedrag.</a:t>
            </a:r>
          </a:p>
          <a:p xmlns:a="http://schemas.openxmlformats.org/drawingml/2006/main">
            <a:r>
              <a:rPr sz="1400"/>
              <a:t/>
            </a:r>
          </a:p>
          <a:p xmlns:a="http://schemas.openxmlformats.org/drawingml/2006/main">
            <a:r>
              <a:rPr sz="1400"/>
              <a:t>Overgang: Zoek de hoeveelheid waarbij beide totalen gelijk zijn.</a:t>
            </a:r>
          </a:p>
          <a:p xmlns:a="http://schemas.openxmlformats.org/drawingml/2006/main">
            <a:r>
              <a:rPr sz="1400"/>
              <a:t/>
            </a:r>
          </a:p>
          <a:p xmlns:a="http://schemas.openxmlformats.org/drawingml/2006/main">
            <a:r>
              <a:rPr sz="1400"/>
              <a:t>Bron: leerlingenboek Boek 2, chatuitgave 2026, revisie 21 september 2026, gedrukte pagina 11,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TO en TK nul als de winst nul is?</a:t>
            </a:r>
          </a:p>
          <a:p xmlns:a="http://schemas.openxmlformats.org/drawingml/2006/main">
            <a:r>
              <a:rPr sz="1400"/>
              <a:t/>
            </a:r>
          </a:p>
          <a:p xmlns:a="http://schemas.openxmlformats.org/drawingml/2006/main">
            <a:r>
              <a:rPr sz="1400"/>
              <a:t>Uitleg: Break-even betekent geen winst en geen verlies. TO en TK kunnen allebei positief zijn. Deel beide totalen door dezelfde positieve hoeveelheid om GO = GTK te krijgen. Omdat de prijs vast is, is GO = P.</a:t>
            </a:r>
          </a:p>
          <a:p xmlns:a="http://schemas.openxmlformats.org/drawingml/2006/main">
            <a:r>
              <a:rPr sz="1400"/>
              <a:t/>
            </a:r>
          </a:p>
          <a:p xmlns:a="http://schemas.openxmlformats.org/drawingml/2006/main">
            <a:r>
              <a:rPr sz="1400"/>
              <a:t>Misvatting: Winst nul is niet hetzelfde als geen verkoop.</a:t>
            </a:r>
          </a:p>
          <a:p xmlns:a="http://schemas.openxmlformats.org/drawingml/2006/main">
            <a:r>
              <a:rPr sz="1400"/>
              <a:t/>
            </a:r>
          </a:p>
          <a:p xmlns:a="http://schemas.openxmlformats.org/drawingml/2006/main">
            <a:r>
              <a:rPr sz="1400"/>
              <a:t>Overgang: Bereken de break-even-afzet van WafelWagen.</a:t>
            </a:r>
          </a:p>
          <a:p xmlns:a="http://schemas.openxmlformats.org/drawingml/2006/main">
            <a:r>
              <a:rPr sz="1400"/>
              <a:t/>
            </a:r>
          </a:p>
          <a:p xmlns:a="http://schemas.openxmlformats.org/drawingml/2006/main">
            <a:r>
              <a:rPr sz="1400"/>
              <a:t>Bron: leerlingenboek Boek 2, chatuitgave 2026, revisie 21 september 2026, gedrukte pagina 11.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doe je aan beide kanten van de vergelijking?</a:t>
            </a:r>
          </a:p>
          <a:p xmlns:a="http://schemas.openxmlformats.org/drawingml/2006/main">
            <a:r>
              <a:rPr sz="1400"/>
              <a:t/>
            </a:r>
          </a:p>
          <a:p xmlns:a="http://schemas.openxmlformats.org/drawingml/2006/main">
            <a:r>
              <a:rPr sz="1400"/>
              <a:t>Uitleg: Werk met de ongeronde Q = 250 / 3. TO = 5 × (250 / 3) = 416,666… en TK = 250 + 2 × (250 / 3) = 416,666… euro per dag. Het snijpunt is dus ongeveer (83,33; 416,67).</a:t>
            </a:r>
          </a:p>
          <a:p xmlns:a="http://schemas.openxmlformats.org/drawingml/2006/main">
            <a:r>
              <a:rPr sz="1400"/>
              <a:t/>
            </a:r>
          </a:p>
          <a:p xmlns:a="http://schemas.openxmlformats.org/drawingml/2006/main">
            <a:r>
              <a:rPr sz="1400"/>
              <a:t>Misvatting: Rond de hoeveelheid niet tussendoor af als je de opbrengst in het snijpunt berekent.</a:t>
            </a:r>
          </a:p>
          <a:p xmlns:a="http://schemas.openxmlformats.org/drawingml/2006/main">
            <a:r>
              <a:rPr sz="1400"/>
              <a:t/>
            </a:r>
          </a:p>
          <a:p xmlns:a="http://schemas.openxmlformats.org/drawingml/2006/main">
            <a:r>
              <a:rPr sz="1400"/>
              <a:t>Overgang: Controleer nu wat mogelijk is met hele wafels.</a:t>
            </a:r>
          </a:p>
          <a:p xmlns:a="http://schemas.openxmlformats.org/drawingml/2006/main">
            <a:r>
              <a:rPr sz="1400"/>
              <a:t/>
            </a:r>
          </a:p>
          <a:p xmlns:a="http://schemas.openxmlformats.org/drawingml/2006/main">
            <a:r>
              <a:rPr sz="1400"/>
              <a:t>Bron: leerlingenboek Boek 2, chatuitgave 2026, revisie 21 september 2026, gedrukte pagina 11,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afronden naar 83 hier geen bruikbaar antwoord?</a:t>
            </a:r>
          </a:p>
          <a:p xmlns:a="http://schemas.openxmlformats.org/drawingml/2006/main">
            <a:r>
              <a:rPr sz="1400"/>
              <a:t/>
            </a:r>
          </a:p>
          <a:p xmlns:a="http://schemas.openxmlformats.org/drawingml/2006/main">
            <a:r>
              <a:rPr sz="1400"/>
              <a:t>Uitleg: Het model heeft een doorlopende hoeveelheid, echte wafels zijn heel. De winst stijgt hier bij elke extra wafel met € 3. Daarom controleer je het gehele aantal onder en boven de grens. 83 geeft verlies, 84 geeft winst. Het eerste gehele aantal zonder verlies is 84 en ligt binnen de capaciteit.</a:t>
            </a:r>
          </a:p>
          <a:p xmlns:a="http://schemas.openxmlformats.org/drawingml/2006/main">
            <a:r>
              <a:rPr sz="1400"/>
              <a:t/>
            </a:r>
          </a:p>
          <a:p xmlns:a="http://schemas.openxmlformats.org/drawingml/2006/main">
            <a:r>
              <a:rPr sz="1400"/>
              <a:t>Misvatting: Bij 84 is de winst niet exact nul. Noem het eerste gehele aantal zonder verlies apart van de modelgrens.</a:t>
            </a:r>
          </a:p>
          <a:p xmlns:a="http://schemas.openxmlformats.org/drawingml/2006/main">
            <a:r>
              <a:rPr sz="1400"/>
              <a:t/>
            </a:r>
          </a:p>
          <a:p xmlns:a="http://schemas.openxmlformats.org/drawingml/2006/main">
            <a:r>
              <a:rPr sz="1400"/>
              <a:t>Overgang: Zet de functies daarna om in grafiekpunten.</a:t>
            </a:r>
          </a:p>
          <a:p xmlns:a="http://schemas.openxmlformats.org/drawingml/2006/main">
            <a:r>
              <a:rPr sz="1400"/>
              <a:t/>
            </a:r>
          </a:p>
          <a:p xmlns:a="http://schemas.openxmlformats.org/drawingml/2006/main">
            <a:r>
              <a:rPr sz="1400"/>
              <a:t>Bron: leerlingenboek Boek 2, chatuitgave 2026, revisie 21 september 2026, gedrukte pagina 11,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begint TK als er geen wafels worden verkocht?</a:t>
            </a:r>
          </a:p>
          <a:p xmlns:a="http://schemas.openxmlformats.org/drawingml/2006/main">
            <a:r>
              <a:rPr sz="1400"/>
              <a:t/>
            </a:r>
          </a:p>
          <a:p xmlns:a="http://schemas.openxmlformats.org/drawingml/2006/main">
            <a:r>
              <a:rPr sz="1400"/>
              <a:t>Uitleg: Vul voor iedere lijn twee verschillende hoeveelheden in. Kies daarna een regelmatige schaal en zet eerst de assen en punten neer. Trek de rechte lijnen tot de capaciteit van 150 wafels. De as mag voor labels verder lopen, de functies niet.</a:t>
            </a:r>
          </a:p>
          <a:p xmlns:a="http://schemas.openxmlformats.org/drawingml/2006/main">
            <a:r>
              <a:rPr sz="1400"/>
              <a:t/>
            </a:r>
          </a:p>
          <a:p xmlns:a="http://schemas.openxmlformats.org/drawingml/2006/main">
            <a:r>
              <a:rPr sz="1400"/>
              <a:t>Misvatting: Wissel de coördinaten niet om: eerst hoeveelheid, dan totaalbedrag.</a:t>
            </a:r>
          </a:p>
          <a:p xmlns:a="http://schemas.openxmlformats.org/drawingml/2006/main">
            <a:r>
              <a:rPr sz="1400"/>
              <a:t/>
            </a:r>
          </a:p>
          <a:p xmlns:a="http://schemas.openxmlformats.org/drawingml/2006/main">
            <a:r>
              <a:rPr sz="1400"/>
              <a:t>Overgang: Teken eerst TK, daarna TO en het snijpunt.</a:t>
            </a:r>
          </a:p>
          <a:p xmlns:a="http://schemas.openxmlformats.org/drawingml/2006/main">
            <a:r>
              <a:rPr sz="1400"/>
              <a:t/>
            </a:r>
          </a:p>
          <a:p xmlns:a="http://schemas.openxmlformats.org/drawingml/2006/main">
            <a:r>
              <a:rPr sz="1400"/>
              <a:t>Bron: leerlingenboek Boek 2, chatuitgave 2026, revisie 21 september 2026, gedrukte pagina 12–13.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TK boven nul?</a:t>
            </a:r>
          </a:p>
          <a:p xmlns:a="http://schemas.openxmlformats.org/drawingml/2006/main">
            <a:r>
              <a:rPr sz="1400"/>
              <a:t/>
            </a:r>
          </a:p>
          <a:p xmlns:a="http://schemas.openxmlformats.org/drawingml/2006/main">
            <a:r>
              <a:rPr sz="1400"/>
              <a:t>Uitleg: Teken TK door (0; 250) en (150; 550). De lijn stopt bij de capaciteit van 150 wafels per dag. De assen gebruiken een regelmatige schaal en beginnen bij nul.</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Voeg de opbrengstenlijn toe op dezelfde assen.</a:t>
            </a:r>
          </a:p>
          <a:p xmlns:a="http://schemas.openxmlformats.org/drawingml/2006/main">
            <a:r>
              <a:rPr sz="1400"/>
              <a:t/>
            </a:r>
          </a:p>
          <a:p xmlns:a="http://schemas.openxmlformats.org/drawingml/2006/main">
            <a:r>
              <a:rPr sz="1400"/>
              <a:t>Bron: leerlingenboek Boek 2, chatuitgave 2026, revisie 21 september 2026, gedrukte pagina 12–13.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zijn beide totale bedragen gelijk?</a:t>
            </a:r>
          </a:p>
          <a:p xmlns:a="http://schemas.openxmlformats.org/drawingml/2006/main">
            <a:r>
              <a:rPr sz="1400"/>
              <a:t/>
            </a:r>
          </a:p>
          <a:p xmlns:a="http://schemas.openxmlformats.org/drawingml/2006/main">
            <a:r>
              <a:rPr sz="1400"/>
              <a:t>Uitleg: Voeg TO toe door (0; 0) en (150; 750). Markeer het exacte snijpunt met de berekende Q = 250 / (5 − 2); rond alleen het label af tot 83,33. De bijbehorende TO en TK zijn ongeveer € 416,67 per dag. Links ligt TO onder TK, rechts erboven, tot de capaciteit.</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Lees vervolgens beide lijnhoogten bij één hoeveelheid.</a:t>
            </a:r>
          </a:p>
          <a:p xmlns:a="http://schemas.openxmlformats.org/drawingml/2006/main">
            <a:r>
              <a:rPr sz="1400"/>
              <a:t/>
            </a:r>
          </a:p>
          <a:p xmlns:a="http://schemas.openxmlformats.org/drawingml/2006/main">
            <a:r>
              <a:rPr sz="1400"/>
              <a:t>Bron: leerlingenboek Boek 2, chatuitgave 2026, revisie 21 september 2026, gedrukte pagina 12–13.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geeft dit lijnstuk winst weer?</a:t>
            </a:r>
          </a:p>
          <a:p xmlns:a="http://schemas.openxmlformats.org/drawingml/2006/main">
            <a:r>
              <a:rPr sz="1400"/>
              <a:t/>
            </a:r>
          </a:p>
          <a:p xmlns:a="http://schemas.openxmlformats.org/drawingml/2006/main">
            <a:r>
              <a:rPr sz="1400"/>
              <a:t>Uitleg: Lees beide bedragen bij dezelfde Q = 100 af. Het verticale lijnstuk loopt van TK = 450 tot TO = 500 euro per dag. Het verschil is 50 euro winst per dag. Bij Q = 50 loopt het verlieslijnstuk van 250 tot 350: € 100 verlies per dag.</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Controleer kort het begrip voordat leerlingen gaan oefenen.</a:t>
            </a:r>
          </a:p>
          <a:p xmlns:a="http://schemas.openxmlformats.org/drawingml/2006/main">
            <a:r>
              <a:rPr sz="1400"/>
              <a:t/>
            </a:r>
          </a:p>
          <a:p xmlns:a="http://schemas.openxmlformats.org/drawingml/2006/main">
            <a:r>
              <a:rPr sz="1400"/>
              <a:t>Bron: leerlingenboek Boek 2, chatuitgave 2026, revisie 21 september 2026, gedrukte pagina 12–13.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winst nul en geen verlies?</a:t>
            </a:r>
          </a:p>
          <a:p xmlns:a="http://schemas.openxmlformats.org/drawingml/2006/main">
            <a:r>
              <a:rPr sz="1400"/>
              <a:t/>
            </a:r>
          </a:p>
          <a:p xmlns:a="http://schemas.openxmlformats.org/drawingml/2006/main">
            <a:r>
              <a:rPr sz="1400"/>
              <a:t>Uitleg: Laat leerlingen eerst individueel kiezen en daarna hun berekening uitleggen. Onthul de uitkomst pas op de volgende dia. Dit is een korte begripscontrole op het boekvoorbeeld.</a:t>
            </a:r>
          </a:p>
          <a:p xmlns:a="http://schemas.openxmlformats.org/drawingml/2006/main">
            <a:r>
              <a:rPr sz="1400"/>
              <a:t/>
            </a:r>
          </a:p>
          <a:p xmlns:a="http://schemas.openxmlformats.org/drawingml/2006/main">
            <a:r>
              <a:rPr sz="1400"/>
              <a:t>Misvatting: Rond de modelgrens niet af en noem dat daarna exact break-even.</a:t>
            </a:r>
          </a:p>
          <a:p xmlns:a="http://schemas.openxmlformats.org/drawingml/2006/main">
            <a:r>
              <a:rPr sz="1400"/>
              <a:t/>
            </a:r>
          </a:p>
          <a:p xmlns:a="http://schemas.openxmlformats.org/drawingml/2006/main">
            <a:r>
              <a:rPr sz="1400"/>
              <a:t>Overgang: Toon de berekeningen nadat leerlingen hebben geantwoord.</a:t>
            </a:r>
          </a:p>
          <a:p xmlns:a="http://schemas.openxmlformats.org/drawingml/2006/main">
            <a:r>
              <a:rPr sz="1400"/>
              <a:t/>
            </a:r>
          </a:p>
          <a:p xmlns:a="http://schemas.openxmlformats.org/drawingml/2006/main">
            <a:r>
              <a:rPr sz="1400"/>
              <a:t>Bron: leerlingenboek Boek 2, chatuitgave 2026, revisie 21 september 2026, gedrukte pagina 11,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winst nul en geen verlies?</a:t>
            </a:r>
          </a:p>
          <a:p xmlns:a="http://schemas.openxmlformats.org/drawingml/2006/main">
            <a:r>
              <a:rPr sz="1400"/>
              <a:t/>
            </a:r>
          </a:p>
          <a:p xmlns:a="http://schemas.openxmlformats.org/drawingml/2006/main">
            <a:r>
              <a:rPr sz="1400"/>
              <a:t>Uitleg: De uitspraak klopt niet. Bij 84 wafels is er € 2 winst. Exact break-even ligt bij Q = 250 / 3. 84 is wel het eerste gehele aantal zonder verlies.</a:t>
            </a:r>
          </a:p>
          <a:p xmlns:a="http://schemas.openxmlformats.org/drawingml/2006/main">
            <a:r>
              <a:rPr sz="1400"/>
              <a:t/>
            </a:r>
          </a:p>
          <a:p xmlns:a="http://schemas.openxmlformats.org/drawingml/2006/main">
            <a:r>
              <a:rPr sz="1400"/>
              <a:t>Misvatting: Rond de modelgrens niet af en noem dat daarna exact break-even.</a:t>
            </a:r>
          </a:p>
          <a:p xmlns:a="http://schemas.openxmlformats.org/drawingml/2006/main">
            <a:r>
              <a:rPr sz="1400"/>
              <a:t/>
            </a:r>
          </a:p>
          <a:p xmlns:a="http://schemas.openxmlformats.org/drawingml/2006/main">
            <a:r>
              <a:rPr sz="1400"/>
              <a:t>Overgang: Laat de overzichtsdia staan tijdens het werken.</a:t>
            </a:r>
          </a:p>
          <a:p xmlns:a="http://schemas.openxmlformats.org/drawingml/2006/main">
            <a:r>
              <a:rPr sz="1400"/>
              <a:t/>
            </a:r>
          </a:p>
          <a:p xmlns:a="http://schemas.openxmlformats.org/drawingml/2006/main">
            <a:r>
              <a:rPr sz="1400"/>
              <a:t>Bron: leerlingenboek Boek 2, chatuitgave 2026, revisie 21 september 2026, gedrukte pagina 11, 13.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opgave ben je en welke stap vraagt hulp?</a:t>
            </a:r>
          </a:p>
          <a:p xmlns:a="http://schemas.openxmlformats.org/drawingml/2006/main">
            <a:r>
              <a:rPr sz="1400"/>
              <a:t/>
            </a:r>
          </a:p>
          <a:p xmlns:a="http://schemas.openxmlformats.org/drawingml/2006/main">
            <a:r>
              <a:rPr sz="1400"/>
              <a:t>Uitleg: Laat deze dia staan tijdens zelfstandig werken. Start: 1 en 2 op pagina 14. Basis: alle begeleide opgaven 3, 4 en 5 op pagina 14–16. Zelfstandig: 6 en 7 op pagina 16. Doel: 8 op pagina 17. Huiswerk: opgaven 3, 4, 5, 6, 7 en 8 maken en nakijken. Bonus 9 en herhaling 10–11 zijn extra. Plan vervolgwerktijd als de volledige route meer dan één les vraagt.</a:t>
            </a:r>
          </a:p>
          <a:p xmlns:a="http://schemas.openxmlformats.org/drawingml/2006/main">
            <a:r>
              <a:rPr sz="1400"/>
              <a:t/>
            </a:r>
          </a:p>
          <a:p xmlns:a="http://schemas.openxmlformats.org/drawingml/2006/main">
            <a:r>
              <a:rPr sz="1400"/>
              <a:t>Start en terugblik: Opgave 1 gebruikt de kostenfuncties en gemiddelde kosten uit §2.1.1, dia 4 en 7–9. TO, GO en winst zijn nieuwe formele begrippen. Lees voor opgave 2 de betekenis en formules op p. 10–11.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Het gedrukte paginanummer 14 staat op fysieke PDF-pagina 16. Omzet is nog geen winst.</a:t>
            </a:r>
          </a:p>
          <a:p xmlns:a="http://schemas.openxmlformats.org/drawingml/2006/main">
            <a:r>
              <a:rPr sz="1400"/>
              <a:t/>
            </a:r>
          </a:p>
          <a:p xmlns:a="http://schemas.openxmlformats.org/drawingml/2006/main">
            <a:r>
              <a:rPr sz="1400"/>
              <a:t>Overgang: Ga door naar de volgende lesfase zodra dat past bij de klas.</a:t>
            </a:r>
          </a:p>
          <a:p xmlns:a="http://schemas.openxmlformats.org/drawingml/2006/main">
            <a:r>
              <a:rPr sz="1400"/>
              <a:t/>
            </a:r>
          </a:p>
          <a:p xmlns:a="http://schemas.openxmlformats.org/drawingml/2006/main">
            <a:r>
              <a:rPr sz="1400"/>
              <a:t>Bron: leerlingenboek Boek 2, chatuitgave 2026, revisie 21 september 2026, gedrukte pagina 14–17.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Startantwoorden: 1a TK = 180 + 3 × 40 = € 300 per week en GTK = 300 / 40 = € 7,50 per badge. 1b TCK = € 180 per week en variabel € 3 per badge. 2a TO = 4 × 80 = € 320 voor de activiteit; GO = 320 / 80 = € 4 per kaart; winst = 320 − 250 = € 70. 2b De € 320 is omzet; de kosten moeten er nog 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en eenheden staan in de gegevens?</a:t>
            </a:r>
          </a:p>
          <a:p xmlns:a="http://schemas.openxmlformats.org/drawingml/2006/main">
            <a:r>
              <a:rPr sz="1400"/>
              <a:t/>
            </a:r>
          </a:p>
          <a:p xmlns:a="http://schemas.openxmlformats.org/drawingml/2006/main">
            <a:r>
              <a:rPr sz="1400"/>
              <a:t>Uitleg: Start de bespreking nadat leerlingen opgave 8 zelf geprobeerd hebben. Deze gegevens komen volledig uit de doelopgave. Alle broden worden verkocht. Laat eerst alle deelvragen zien voordat je een uitwerking toont.</a:t>
            </a:r>
          </a:p>
          <a:p xmlns:a="http://schemas.openxmlformats.org/drawingml/2006/main">
            <a:r>
              <a:rPr sz="1400"/>
              <a:t/>
            </a:r>
          </a:p>
          <a:p xmlns:a="http://schemas.openxmlformats.org/drawingml/2006/main">
            <a:r>
              <a:rPr sz="1400"/>
              <a:t>Misvatting: De vaste prijs is een bedrag per brood; TK is een totaal per maand.</a:t>
            </a:r>
          </a:p>
          <a:p xmlns:a="http://schemas.openxmlformats.org/drawingml/2006/main">
            <a:r>
              <a:rPr sz="1400"/>
              <a:t/>
            </a:r>
          </a:p>
          <a:p xmlns:a="http://schemas.openxmlformats.org/drawingml/2006/main">
            <a:r>
              <a:rPr sz="1400"/>
              <a:t>Overgang: Toon de eerste twee deelvragen.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verklaring vraagt deelvraag a naast de formule?</a:t>
            </a:r>
          </a:p>
          <a:p xmlns:a="http://schemas.openxmlformats.org/drawingml/2006/main">
            <a:r>
              <a:rPr sz="1400"/>
              <a:t/>
            </a:r>
          </a:p>
          <a:p xmlns:a="http://schemas.openxmlformats.org/drawingml/2006/main">
            <a:r>
              <a:rPr sz="1400"/>
              <a:t>Uitleg: Toon deze deelvragen zonder antwoorden. Laat leerlingen hun schrift erbij houden. Bij a hoort behalve de functie ook een verklaring; bij b horen twee berekeningen met eenheden.</a:t>
            </a:r>
          </a:p>
          <a:p xmlns:a="http://schemas.openxmlformats.org/drawingml/2006/main">
            <a:r>
              <a:rPr sz="1400"/>
              <a:t/>
            </a:r>
          </a:p>
          <a:p xmlns:a="http://schemas.openxmlformats.org/drawingml/2006/main">
            <a:r>
              <a:rPr sz="1400"/>
              <a:t>Misvatting: Alleen een eindbedrag zonder berekening en eenheid is geen volledige uitwerking.</a:t>
            </a:r>
          </a:p>
          <a:p xmlns:a="http://schemas.openxmlformats.org/drawingml/2006/main">
            <a:r>
              <a:rPr sz="1400"/>
              <a:t/>
            </a:r>
          </a:p>
          <a:p xmlns:a="http://schemas.openxmlformats.org/drawingml/2006/main">
            <a:r>
              <a:rPr sz="1400"/>
              <a:t>Overgang: Toon ook c en d voordat je antwoorden bespreekt.</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moeten zichtbaar zijn in je grafiek?</a:t>
            </a:r>
          </a:p>
          <a:p xmlns:a="http://schemas.openxmlformats.org/drawingml/2006/main">
            <a:r>
              <a:rPr sz="1400"/>
              <a:t/>
            </a:r>
          </a:p>
          <a:p xmlns:a="http://schemas.openxmlformats.org/drawingml/2006/main">
            <a:r>
              <a:rPr sz="1400"/>
              <a:t>Uitleg: Dit zijn de volledige deelvragen c en d. De € 200 is al gegeven in de oorspronkelijke vraag d, dus laat dit staan. Er zijn nog geen antwoordberekeningen getoond. Bij c zijn zowel de modelgrens als het eerste gehele aantal gevraagd.</a:t>
            </a:r>
          </a:p>
          <a:p xmlns:a="http://schemas.openxmlformats.org/drawingml/2006/main">
            <a:r>
              <a:rPr sz="1400"/>
              <a:t/>
            </a:r>
          </a:p>
          <a:p xmlns:a="http://schemas.openxmlformats.org/drawingml/2006/main">
            <a:r>
              <a:rPr sz="1400"/>
              <a:t>Misvatting: Winst als oppervlakte is hier onjuist. Ook assen, eenheden en de verlieszone horen bij het antwoord.</a:t>
            </a:r>
          </a:p>
          <a:p xmlns:a="http://schemas.openxmlformats.org/drawingml/2006/main">
            <a:r>
              <a:rPr sz="1400"/>
              <a:t/>
            </a:r>
          </a:p>
          <a:p xmlns:a="http://schemas.openxmlformats.org/drawingml/2006/main">
            <a:r>
              <a:rPr sz="1400"/>
              <a:t>Overgang: Begin de uitwerking bij TO en GO.</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stijgt GO niet als er meer broden worden verkocht?</a:t>
            </a:r>
          </a:p>
          <a:p xmlns:a="http://schemas.openxmlformats.org/drawingml/2006/main">
            <a:r>
              <a:rPr sz="1400"/>
              <a:t/>
            </a:r>
          </a:p>
          <a:p xmlns:a="http://schemas.openxmlformats.org/drawingml/2006/main">
            <a:r>
              <a:rPr sz="1400"/>
              <a:t>Uitleg: Vermenigvuldig de prijs per brood met het aantal verkochte broden per maand. Deel voor GO de totale opbrengst door Q. Omdat ieder brood dezelfde € 1,50 opbrengt, is de gemiddelde opbrengst diezelfde prijs.</a:t>
            </a:r>
          </a:p>
          <a:p xmlns:a="http://schemas.openxmlformats.org/drawingml/2006/main">
            <a:r>
              <a:rPr sz="1400"/>
              <a:t/>
            </a:r>
          </a:p>
          <a:p xmlns:a="http://schemas.openxmlformats.org/drawingml/2006/main">
            <a:r>
              <a:rPr sz="1400"/>
              <a:t>Misvatting: Bij Q = 0 is GO niet gedefinieerd. De eenheid van GO is euro per brood.</a:t>
            </a:r>
          </a:p>
          <a:p xmlns:a="http://schemas.openxmlformats.org/drawingml/2006/main">
            <a:r>
              <a:rPr sz="1400"/>
              <a:t/>
            </a:r>
          </a:p>
          <a:p xmlns:a="http://schemas.openxmlformats.org/drawingml/2006/main">
            <a:r>
              <a:rPr sz="1400"/>
              <a:t>Overgang: Bereken winst door TO en TK bij dezelfde Q in te vullen.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trek je van welk bedrag af?</a:t>
            </a:r>
          </a:p>
          <a:p xmlns:a="http://schemas.openxmlformats.org/drawingml/2006/main">
            <a:r>
              <a:rPr sz="1400"/>
              <a:t/>
            </a:r>
          </a:p>
          <a:p xmlns:a="http://schemas.openxmlformats.org/drawingml/2006/main">
            <a:r>
              <a:rPr sz="1400"/>
              <a:t>Uitleg: Vul 500 in beide functies in. TO = 750, TK = 500 + 400 = 900 en de winst is −150 euro per maand. Het minteken betekent € 150 verlies.</a:t>
            </a:r>
          </a:p>
          <a:p xmlns:a="http://schemas.openxmlformats.org/drawingml/2006/main">
            <a:r>
              <a:rPr sz="1400"/>
              <a:t/>
            </a:r>
          </a:p>
          <a:p xmlns:a="http://schemas.openxmlformats.org/drawingml/2006/main">
            <a:r>
              <a:rPr sz="1400"/>
              <a:t>Misvatting: Trek alle kosten af, inclusief de 500 euro vaste kosten.</a:t>
            </a:r>
          </a:p>
          <a:p xmlns:a="http://schemas.openxmlformats.org/drawingml/2006/main">
            <a:r>
              <a:rPr sz="1400"/>
              <a:t/>
            </a:r>
          </a:p>
          <a:p xmlns:a="http://schemas.openxmlformats.org/drawingml/2006/main">
            <a:r>
              <a:rPr sz="1400"/>
              <a:t>Overgang: Herhaal deze stappen voor 1000 broden.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trek je van welk bedrag af?</a:t>
            </a:r>
          </a:p>
          <a:p xmlns:a="http://schemas.openxmlformats.org/drawingml/2006/main">
            <a:r>
              <a:rPr sz="1400"/>
              <a:t/>
            </a:r>
          </a:p>
          <a:p xmlns:a="http://schemas.openxmlformats.org/drawingml/2006/main">
            <a:r>
              <a:rPr sz="1400"/>
              <a:t>Uitleg: Vul 1000 in beide functies in. De opbrengst is 1500, de kosten zijn 500 + 800 = 1300 en de winst is 200 euro per maand. De capaciteit is precies bereikt.</a:t>
            </a:r>
          </a:p>
          <a:p xmlns:a="http://schemas.openxmlformats.org/drawingml/2006/main">
            <a:r>
              <a:rPr sz="1400"/>
              <a:t/>
            </a:r>
          </a:p>
          <a:p xmlns:a="http://schemas.openxmlformats.org/drawingml/2006/main">
            <a:r>
              <a:rPr sz="1400"/>
              <a:t>Misvatting: Trek alle kosten af, inclusief de 500 euro vaste kosten.</a:t>
            </a:r>
          </a:p>
          <a:p xmlns:a="http://schemas.openxmlformats.org/drawingml/2006/main">
            <a:r>
              <a:rPr sz="1400"/>
              <a:t/>
            </a:r>
          </a:p>
          <a:p xmlns:a="http://schemas.openxmlformats.org/drawingml/2006/main">
            <a:r>
              <a:rPr sz="1400"/>
              <a:t>Overgang: Bereken nu de hoeveelheid waarbij het resultaat precies nul is.</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bij de opbrengstberekening de ongeronde Q?</a:t>
            </a:r>
          </a:p>
          <a:p xmlns:a="http://schemas.openxmlformats.org/drawingml/2006/main">
            <a:r>
              <a:rPr sz="1400"/>
              <a:t/>
            </a:r>
          </a:p>
          <a:p xmlns:a="http://schemas.openxmlformats.org/drawingml/2006/main">
            <a:r>
              <a:rPr sz="1400"/>
              <a:t>Uitleg: De exacte hoeveelheid is 500 / 0,70 = 5000 / 7. De prijs is € 1,50, dus TO = 1,50 × (500 / 0,70) = € 1071,428571… per maand. Substitutie in TK geeft hetzelfde bedrag. Rond pas het getoonde snijpunt af tot (714,29; 1071,43).</a:t>
            </a:r>
          </a:p>
          <a:p xmlns:a="http://schemas.openxmlformats.org/drawingml/2006/main">
            <a:r>
              <a:rPr sz="1400"/>
              <a:t/>
            </a:r>
          </a:p>
          <a:p xmlns:a="http://schemas.openxmlformats.org/drawingml/2006/main">
            <a:r>
              <a:rPr sz="1400"/>
              <a:t>Misvatting: De lijnberekening levert geen geheel verkoopbaar brood op.</a:t>
            </a:r>
          </a:p>
          <a:p xmlns:a="http://schemas.openxmlformats.org/drawingml/2006/main">
            <a:r>
              <a:rPr sz="1400"/>
              <a:t/>
            </a:r>
          </a:p>
          <a:p xmlns:a="http://schemas.openxmlformats.org/drawingml/2006/main">
            <a:r>
              <a:rPr sz="1400"/>
              <a:t>Overgang: Controleer de twee omliggende gehele aantallen.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714 ondanks afronding niet voldoende?</a:t>
            </a:r>
          </a:p>
          <a:p xmlns:a="http://schemas.openxmlformats.org/drawingml/2006/main">
            <a:r>
              <a:rPr sz="1400"/>
              <a:t/>
            </a:r>
          </a:p>
          <a:p xmlns:a="http://schemas.openxmlformats.org/drawingml/2006/main">
            <a:r>
              <a:rPr sz="1400"/>
              <a:t>Uitleg: Vereenvoudig TO − TK tot 0,70Q − 500. De winst neemt hier toe met Q. Bij 714 broden ontstaat nog € 0,20 verlies. Bij 715 ontstaat € 0,50 winst. Het eerste gehele aantal zonder verlies is daarom 715, binnen de capaciteit van 1000.</a:t>
            </a:r>
          </a:p>
          <a:p xmlns:a="http://schemas.openxmlformats.org/drawingml/2006/main">
            <a:r>
              <a:rPr sz="1400"/>
              <a:t/>
            </a:r>
          </a:p>
          <a:p xmlns:a="http://schemas.openxmlformats.org/drawingml/2006/main">
            <a:r>
              <a:rPr sz="1400"/>
              <a:t>Misvatting: 715 broden is niet exact break-even: de winst is € 0,50.</a:t>
            </a:r>
          </a:p>
          <a:p xmlns:a="http://schemas.openxmlformats.org/drawingml/2006/main">
            <a:r>
              <a:rPr sz="1400"/>
              <a:t/>
            </a:r>
          </a:p>
          <a:p xmlns:a="http://schemas.openxmlformats.org/drawingml/2006/main">
            <a:r>
              <a:rPr sz="1400"/>
              <a:t>Overgang: Bereid de grafiek voor met twee punten per lijn.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eerdere berekeningen kun je voor de grafiek hergebruiken?</a:t>
            </a:r>
          </a:p>
          <a:p xmlns:a="http://schemas.openxmlformats.org/drawingml/2006/main">
            <a:r>
              <a:rPr sz="1400"/>
              <a:t/>
            </a:r>
          </a:p>
          <a:p xmlns:a="http://schemas.openxmlformats.org/drawingml/2006/main">
            <a:r>
              <a:rPr sz="1400"/>
              <a:t>Uitleg: Bereken eerst twee punten per lijn en kies een regelmatige schaal. Gebruik de eerdere totalen bij Q = 1000 als tweede punt. De kostenlijn begint bij 500, de opbrengstenlijn bij nul.</a:t>
            </a:r>
          </a:p>
          <a:p xmlns:a="http://schemas.openxmlformats.org/drawingml/2006/main">
            <a:r>
              <a:rPr sz="1400"/>
              <a:t/>
            </a:r>
          </a:p>
          <a:p xmlns:a="http://schemas.openxmlformats.org/drawingml/2006/main">
            <a:r>
              <a:rPr sz="1400"/>
              <a:t>Misvatting: Een lijn moet zowel een naam als de juiste coördinaten hebben.</a:t>
            </a:r>
          </a:p>
          <a:p xmlns:a="http://schemas.openxmlformats.org/drawingml/2006/main">
            <a:r>
              <a:rPr sz="1400"/>
              <a:t/>
            </a:r>
          </a:p>
          <a:p xmlns:a="http://schemas.openxmlformats.org/drawingml/2006/main">
            <a:r>
              <a:rPr sz="1400"/>
              <a:t>Overgang: Teken eerst de kostenlijn.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TK boven nul?</a:t>
            </a:r>
          </a:p>
          <a:p xmlns:a="http://schemas.openxmlformats.org/drawingml/2006/main">
            <a:r>
              <a:rPr sz="1400"/>
              <a:t/>
            </a:r>
          </a:p>
          <a:p xmlns:a="http://schemas.openxmlformats.org/drawingml/2006/main">
            <a:r>
              <a:rPr sz="1400"/>
              <a:t>Uitleg: Teken TK door (0; 500) en (1000; 1300). De lijn stopt bij de capaciteit van 1000 broden per maand. De assen gebruiken een regelmatige schaal en beginnen bij nul.</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Voeg de opbrengstenlijn toe op dezelfde assen.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zijn beide totale bedragen gelijk?</a:t>
            </a:r>
          </a:p>
          <a:p xmlns:a="http://schemas.openxmlformats.org/drawingml/2006/main">
            <a:r>
              <a:rPr sz="1400"/>
              <a:t/>
            </a:r>
          </a:p>
          <a:p xmlns:a="http://schemas.openxmlformats.org/drawingml/2006/main">
            <a:r>
              <a:rPr sz="1400"/>
              <a:t>Uitleg: Voeg TO toe door (0; 0) en (1000; 1500). Markeer het exacte snijpunt met de berekende Q = 500 / (1.5 − 0.8); rond alleen het label af tot 714,29. De bijbehorende TO en TK zijn ongeveer € 1.071,43 per maand. Links ligt TO onder TK, rechts erboven, tot de capaciteit.</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Lees vervolgens beide lijnhoogten bij één hoeveelheid.</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geeft dit lijnstuk winst weer?</a:t>
            </a:r>
          </a:p>
          <a:p xmlns:a="http://schemas.openxmlformats.org/drawingml/2006/main">
            <a:r>
              <a:rPr sz="1400"/>
              <a:t/>
            </a:r>
          </a:p>
          <a:p xmlns:a="http://schemas.openxmlformats.org/drawingml/2006/main">
            <a:r>
              <a:rPr sz="1400"/>
              <a:t>Uitleg: Lees beide bedragen bij dezelfde Q = 1000 af. Het verticale lijnstuk loopt van TK = 1300 tot TO = 1500 euro per maand. Het verschil is 200 euro winst per maand. De winstzone ligt rechts van het snijpunt tot en met 1000 broden.</a:t>
            </a:r>
          </a:p>
          <a:p xmlns:a="http://schemas.openxmlformats.org/drawingml/2006/main">
            <a:r>
              <a:rPr sz="1400"/>
              <a:t/>
            </a:r>
          </a:p>
          <a:p xmlns:a="http://schemas.openxmlformats.org/drawingml/2006/main">
            <a:r>
              <a:rPr sz="1400"/>
              <a:t>Misvatting: Een oppervlakte tussen TO en TK is geen winstbedrag. De verticale as bevat al totale bedragen. De assen lopen voor labels iets verder door, de functies stoppen bij de capaciteit.</a:t>
            </a:r>
          </a:p>
          <a:p xmlns:a="http://schemas.openxmlformats.org/drawingml/2006/main">
            <a:r>
              <a:rPr sz="1400"/>
              <a:t/>
            </a:r>
          </a:p>
          <a:p xmlns:a="http://schemas.openxmlformats.org/drawingml/2006/main">
            <a:r>
              <a:rPr sz="1400"/>
              <a:t>Overgang: Controleer je eigen antwoord met alle gevraagde onderdelen.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verklaring moet je nog aanvullen?</a:t>
            </a:r>
          </a:p>
          <a:p xmlns:a="http://schemas.openxmlformats.org/drawingml/2006/main">
            <a:r>
              <a:rPr sz="1400"/>
              <a:t/>
            </a:r>
          </a:p>
          <a:p xmlns:a="http://schemas.openxmlformats.org/drawingml/2006/main">
            <a:r>
              <a:rPr sz="1400"/>
              <a:t>Uitleg: Laat leerlingen controleren of hun antwoord alle vier de onderdelen bevat. Bij c hoort de controle 714 geeft −0,20 en 715 geeft +0,50 euro per maand. Bij d hoort het snijpunt (714,29; 1071,43) en de verticale afstand van 1300 tot 1500 bij Q = 1000. De functies gelden tot de capaciteit.</a:t>
            </a:r>
          </a:p>
          <a:p xmlns:a="http://schemas.openxmlformats.org/drawingml/2006/main">
            <a:r>
              <a:rPr sz="1400"/>
              <a:t/>
            </a:r>
          </a:p>
          <a:p xmlns:a="http://schemas.openxmlformats.org/drawingml/2006/main">
            <a:r>
              <a:rPr sz="1400"/>
              <a:t>Misvatting: Een correct eindgetal vervangt de gevraagde redenering of grafiek niet.</a:t>
            </a:r>
          </a:p>
          <a:p xmlns:a="http://schemas.openxmlformats.org/drawingml/2006/main">
            <a:r>
              <a:rPr sz="1400"/>
              <a:t/>
            </a:r>
          </a:p>
          <a:p xmlns:a="http://schemas.openxmlformats.org/drawingml/2006/main">
            <a:r>
              <a:rPr sz="1400"/>
              <a:t>Overgang: Laat het afsluitende overzicht staan en laat het huiswerk noteren.</a:t>
            </a:r>
          </a:p>
          <a:p xmlns:a="http://schemas.openxmlformats.org/drawingml/2006/main">
            <a:r>
              <a:rPr sz="1400"/>
              <a:t/>
            </a:r>
          </a:p>
          <a:p xmlns:a="http://schemas.openxmlformats.org/drawingml/2006/main">
            <a:r>
              <a:rPr sz="1400"/>
              <a:t>Bron: leerlingenboek Boek 2, chatuitgave 2026, revisie 21 september 2026, gedrukte pagina 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opgave ben je en welke stap vraagt hulp?</a:t>
            </a:r>
          </a:p>
          <a:p xmlns:a="http://schemas.openxmlformats.org/drawingml/2006/main">
            <a:r>
              <a:rPr sz="1400"/>
              <a:t/>
            </a:r>
          </a:p>
          <a:p xmlns:a="http://schemas.openxmlformats.org/drawingml/2006/main">
            <a:r>
              <a:rPr sz="1400"/>
              <a:t>Uitleg: Laat deze dia staan tijdens afsluiting / huiswerk. Start: 1 en 2 op pagina 14. Basis: alle begeleide opgaven 3, 4 en 5 op pagina 14–16. Zelfstandig: 6 en 7 op pagina 16. Doel: 8 op pagina 17. Huiswerk: opgaven 3, 4, 5, 6, 7 en 8 maken en nakijken. Bonus 9 en herhaling 10–11 zijn extra. Plan vervolgwerktijd als de volledige route meer dan één les vraagt.</a:t>
            </a:r>
          </a:p>
          <a:p xmlns:a="http://schemas.openxmlformats.org/drawingml/2006/main">
            <a:r>
              <a:rPr sz="1400"/>
              <a:t/>
            </a:r>
          </a:p>
          <a:p xmlns:a="http://schemas.openxmlformats.org/drawingml/2006/main">
            <a:r>
              <a:rPr sz="1400"/>
              <a:t>Start en terugblik: Opgave 1 gebruikt de kostenfuncties en gemiddelde kosten uit §2.1.1, dia 4 en 7–9. TO, GO en winst zijn nieuwe formele begrippen. Lees voor opgave 2 de betekenis en formules op p. 10–11.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Het gedrukte paginanummer 14 staat op fysieke PDF-pagina 16. Omzet is nog geen winst.</a:t>
            </a:r>
          </a:p>
          <a:p xmlns:a="http://schemas.openxmlformats.org/drawingml/2006/main">
            <a:r>
              <a:rPr sz="1400"/>
              <a:t/>
            </a:r>
          </a:p>
          <a:p xmlns:a="http://schemas.openxmlformats.org/drawingml/2006/main">
            <a:r>
              <a:rPr sz="1400"/>
              <a:t>Overgang: Laat het huiswerk in de agenda noteren.</a:t>
            </a:r>
          </a:p>
          <a:p xmlns:a="http://schemas.openxmlformats.org/drawingml/2006/main">
            <a:r>
              <a:rPr sz="1400"/>
              <a:t/>
            </a:r>
          </a:p>
          <a:p xmlns:a="http://schemas.openxmlformats.org/drawingml/2006/main">
            <a:r>
              <a:rPr sz="1400"/>
              <a:t>Bron: leerlingenboek Boek 2, chatuitgave 2026, revisie 21 september 2026, gedrukte pagina 14–17. https://github.com/meijer1973/4veco-lessen/blob/ba79232a2c59d28b9013c9ac53661b0613e8027f/Boek%202%20-%20Kosten%2C%20opbrengsten%2C%20elasticiteit%20en%20surplus/edities/chat-2026/boek/Boek_2_Compleet.pdf</a:t>
            </a:r>
          </a:p>
          <a:p xmlns:a="http://schemas.openxmlformats.org/drawingml/2006/main">
            <a:r>
              <a:rPr sz="1400"/>
              <a:t>Antwoordmodel: https://github.com/meijer1973/4veco-lessen/blob/ba79232a2c59d28b9013c9ac53661b0613e8027f/Boek%202%20-%20Kosten%2C%20opbrengsten%2C%20elasticiteit%20en%20surplus/edities/chat-2026/bronnen/H1/2.1%20Kosten%20en%20opbrengsten%20%E2%80%93%20antwoorden.md</a:t>
            </a:r>
          </a:p>
          <a:p xmlns:a="http://schemas.openxmlformats.org/drawingml/2006/main">
            <a:r>
              <a:rPr sz="1400"/>
              <a:t>Startantwoorden: 1a TK = 180 + 3 × 40 = € 300 per week en GTK = 300 / 40 = € 7,50 per badge. 1b TCK = € 180 per week en variabel € 3 per badge. 2a TO = 4 × 80 = € 320 voor de activiteit; GO = 320 / 80 = € 4 per kaart; winst = 320 − 250 = € 70. 2b De € 320 is omzet; de kosten moeten er nog 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3e54f7d68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912721fdbf4833" /><Relationship Type="http://schemas.openxmlformats.org/officeDocument/2006/relationships/slideLayout" Target="/ppt/slideLayouts/slideLayout1.xml" Id="Ra6b5292e206d45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b5292e206d45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8f42a5c4394966" /><Relationship Type="http://schemas.openxmlformats.org/officeDocument/2006/relationships/notesSlide" Target="/ppt/notesSlides/notesSlide1.xml" Id="R4a54776f769f43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c4612830564a78" /><Relationship Type="http://schemas.openxmlformats.org/officeDocument/2006/relationships/notesSlide" Target="/ppt/notesSlides/notesSlide2.xml" Id="Rfdab61fbf69d49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75b0880bc34d66" /><Relationship Type="http://schemas.openxmlformats.org/officeDocument/2006/relationships/notesSlide" Target="/ppt/notesSlides/notesSlide3.xml" Id="R4846c273af2144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150352164c4c41" /><Relationship Type="http://schemas.openxmlformats.org/officeDocument/2006/relationships/notesSlide" Target="/ppt/notesSlides/notesSlide4.xml" Id="R9f0ca43daee141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7d2aeb62c94985" /><Relationship Type="http://schemas.openxmlformats.org/officeDocument/2006/relationships/notesSlide" Target="/ppt/notesSlides/notesSlide5.xml" Id="Rb441d389b02f4b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3335497138495a" /><Relationship Type="http://schemas.openxmlformats.org/officeDocument/2006/relationships/notesSlide" Target="/ppt/notesSlides/notesSlide6.xml" Id="R5dfc91b8058b4d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f3f945054b4cda" /><Relationship Type="http://schemas.openxmlformats.org/officeDocument/2006/relationships/notesSlide" Target="/ppt/notesSlides/notesSlide7.xml" Id="R8ea45d23ba2e4e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651ec8eb2c493d" /><Relationship Type="http://schemas.openxmlformats.org/officeDocument/2006/relationships/notesSlide" Target="/ppt/notesSlides/notesSlide8.xml" Id="R67b7e7df282048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7917b6293c46d5" /><Relationship Type="http://schemas.openxmlformats.org/officeDocument/2006/relationships/chart" Target="/ppt/slides/charts/chart1.xml" Id="R021e7c9a78ac47b8" /><Relationship Type="http://schemas.openxmlformats.org/officeDocument/2006/relationships/notesSlide" Target="/ppt/notesSlides/notesSlide9.xml" Id="Rf47a25425a2d45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d58b04f40b4e18" /><Relationship Type="http://schemas.openxmlformats.org/officeDocument/2006/relationships/chart" Target="/ppt/slides/charts/chart2.xml" Id="R3fd031c70237407f" /><Relationship Type="http://schemas.openxmlformats.org/officeDocument/2006/relationships/notesSlide" Target="/ppt/notesSlides/notesSlide10.xml" Id="Rf9012f081cf244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59ef3c0344483a" /><Relationship Type="http://schemas.openxmlformats.org/officeDocument/2006/relationships/chart" Target="/ppt/slides/charts/chart3.xml" Id="R911596b180dd489e" /><Relationship Type="http://schemas.openxmlformats.org/officeDocument/2006/relationships/notesSlide" Target="/ppt/notesSlides/notesSlide11.xml" Id="R76128e116f8740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e2b1ff5ed84ac4" /><Relationship Type="http://schemas.openxmlformats.org/officeDocument/2006/relationships/notesSlide" Target="/ppt/notesSlides/notesSlide12.xml" Id="Rcc9765da72484c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e3de1066844090" /><Relationship Type="http://schemas.openxmlformats.org/officeDocument/2006/relationships/notesSlide" Target="/ppt/notesSlides/notesSlide13.xml" Id="R1defe701aa0440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22292b5acc4183" /><Relationship Type="http://schemas.openxmlformats.org/officeDocument/2006/relationships/notesSlide" Target="/ppt/notesSlides/notesSlide14.xml" Id="R37a08dfaaa8047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5d6e84930744e6" /><Relationship Type="http://schemas.openxmlformats.org/officeDocument/2006/relationships/notesSlide" Target="/ppt/notesSlides/notesSlide15.xml" Id="R555f8fa5e39848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bfe5dd98c242a7" /><Relationship Type="http://schemas.openxmlformats.org/officeDocument/2006/relationships/notesSlide" Target="/ppt/notesSlides/notesSlide16.xml" Id="R5b84de85a96948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26cbd191174273" /><Relationship Type="http://schemas.openxmlformats.org/officeDocument/2006/relationships/notesSlide" Target="/ppt/notesSlides/notesSlide17.xml" Id="R70e293c60c0942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acc2bd134e04bb5" /><Relationship Type="http://schemas.openxmlformats.org/officeDocument/2006/relationships/notesSlide" Target="/ppt/notesSlides/notesSlide18.xml" Id="Ra510f68407e34b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7f74f5777b2475e" /><Relationship Type="http://schemas.openxmlformats.org/officeDocument/2006/relationships/notesSlide" Target="/ppt/notesSlides/notesSlide19.xml" Id="R6fbcc133302b4c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0ba31d5a021470e" /><Relationship Type="http://schemas.openxmlformats.org/officeDocument/2006/relationships/notesSlide" Target="/ppt/notesSlides/notesSlide20.xml" Id="R17ce9a185e6c4c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b7c1101d7e148eb" /><Relationship Type="http://schemas.openxmlformats.org/officeDocument/2006/relationships/notesSlide" Target="/ppt/notesSlides/notesSlide21.xml" Id="R912e7128a32b49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e6a505c331d4ead" /><Relationship Type="http://schemas.openxmlformats.org/officeDocument/2006/relationships/notesSlide" Target="/ppt/notesSlides/notesSlide22.xml" Id="R8a1d2e18619243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f31aed2d9d84e9c" /><Relationship Type="http://schemas.openxmlformats.org/officeDocument/2006/relationships/notesSlide" Target="/ppt/notesSlides/notesSlide23.xml" Id="R5e52858d517a4f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a5ba20fce254e2a" /><Relationship Type="http://schemas.openxmlformats.org/officeDocument/2006/relationships/chart" Target="/ppt/slides/charts/chart4.xml" Id="Re522a6636771479d" /><Relationship Type="http://schemas.openxmlformats.org/officeDocument/2006/relationships/notesSlide" Target="/ppt/notesSlides/notesSlide24.xml" Id="R9004b65fc8c64ac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79bd95a61bf46ad" /><Relationship Type="http://schemas.openxmlformats.org/officeDocument/2006/relationships/chart" Target="/ppt/slides/charts/chart5.xml" Id="Rbe5c9ce5b2f64de0" /><Relationship Type="http://schemas.openxmlformats.org/officeDocument/2006/relationships/notesSlide" Target="/ppt/notesSlides/notesSlide25.xml" Id="R99cfe03501fc42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cc2d303d81b4a09" /><Relationship Type="http://schemas.openxmlformats.org/officeDocument/2006/relationships/chart" Target="/ppt/slides/charts/chart6.xml" Id="Rcf7066f31bff4ce7" /><Relationship Type="http://schemas.openxmlformats.org/officeDocument/2006/relationships/notesSlide" Target="/ppt/notesSlides/notesSlide26.xml" Id="Rc056f56de74d49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1066154530c433e" /><Relationship Type="http://schemas.openxmlformats.org/officeDocument/2006/relationships/notesSlide" Target="/ppt/notesSlides/notesSlide27.xml" Id="R15f7f558cbfa43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3cf13baac34afb" /><Relationship Type="http://schemas.openxmlformats.org/officeDocument/2006/relationships/notesSlide" Target="/ppt/notesSlides/notesSlide28.xml" Id="R43aa0f486bf449f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150</c:v>
                </c:pt>
              </c:numCache>
            </c:numRef>
          </c:xVal>
          <c:yVal>
            <c:numRef>
              <c:f>'Chart Data'!$B$2:$B$3</c:f>
              <c:numCache>
                <c:formatCode>#,##0</c:formatCode>
                <c:ptCount val="2"/>
                <c:pt idx="0">
                  <c:v>250</c:v>
                </c:pt>
                <c:pt idx="1">
                  <c:v>550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0"/>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(wafels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150</c:v>
                </c:pt>
              </c:numCache>
            </c:numRef>
          </c:xVal>
          <c:yVal>
            <c:numRef>
              <c:f>'Chart Data'!$B$2:$B$3</c:f>
              <c:numCache>
                <c:formatCode>#,##0</c:formatCode>
                <c:ptCount val="2"/>
                <c:pt idx="0">
                  <c:v>250</c:v>
                </c:pt>
                <c:pt idx="1">
                  <c:v>550</c:v>
                </c:pt>
              </c:numCache>
            </c:numRef>
          </c:yVal>
        </c:ser>
        <c:ser>
          <c:idx val="1"/>
          <c:order val="1"/>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7658A"/>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150</c:v>
                </c:pt>
              </c:numCache>
            </c:numRef>
          </c:xVal>
          <c:yVal>
            <c:numRef>
              <c:f>'Chart Data'!$D$2:$D$3</c:f>
              <c:numCache>
                <c:formatCode>#,##0</c:formatCode>
                <c:ptCount val="2"/>
                <c:pt idx="0">
                  <c:v>0</c:v>
                </c:pt>
                <c:pt idx="1">
                  <c:v>750</c:v>
                </c:pt>
              </c:numCache>
            </c:numRef>
          </c:yVal>
        </c:ser>
        <c:ser>
          <c:idx val="2"/>
          <c:order val="2"/>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Data'!$E$2:$E$2</c:f>
              <c:numCache>
                <c:formatCode>General</c:formatCode>
                <c:ptCount val="1"/>
                <c:pt idx="0">
                  <c:v>83.333333333333</c:v>
                </c:pt>
              </c:numCache>
            </c:numRef>
          </c:xVal>
          <c:yVal>
            <c:numRef>
              <c:f>'Chart Data'!$F$2:$F$2</c:f>
              <c:numCache>
                <c:formatCode>#,##0</c:formatCode>
                <c:ptCount val="1"/>
                <c:pt idx="0">
                  <c:v>416.66666666667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0"/>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(wafels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150</c:v>
                </c:pt>
              </c:numCache>
            </c:numRef>
          </c:xVal>
          <c:yVal>
            <c:numRef>
              <c:f>'Chart Data'!$B$2:$B$3</c:f>
              <c:numCache>
                <c:formatCode>#,##0</c:formatCode>
                <c:ptCount val="2"/>
                <c:pt idx="0">
                  <c:v>250</c:v>
                </c:pt>
                <c:pt idx="1">
                  <c:v>550</c:v>
                </c:pt>
              </c:numCache>
            </c:numRef>
          </c:yVal>
        </c:ser>
        <c:ser>
          <c:idx val="1"/>
          <c:order val="1"/>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7658A"/>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150</c:v>
                </c:pt>
              </c:numCache>
            </c:numRef>
          </c:xVal>
          <c:yVal>
            <c:numRef>
              <c:f>'Chart Data'!$D$2:$D$3</c:f>
              <c:numCache>
                <c:formatCode>#,##0</c:formatCode>
                <c:ptCount val="2"/>
                <c:pt idx="0">
                  <c:v>0</c:v>
                </c:pt>
                <c:pt idx="1">
                  <c:v>750</c:v>
                </c:pt>
              </c:numCache>
            </c:numRef>
          </c:yVal>
        </c:ser>
        <c:ser>
          <c:idx val="2"/>
          <c:order val="2"/>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Data'!$E$2:$E$2</c:f>
              <c:numCache>
                <c:formatCode>General</c:formatCode>
                <c:ptCount val="1"/>
                <c:pt idx="0">
                  <c:v>83.333333333333</c:v>
                </c:pt>
              </c:numCache>
            </c:numRef>
          </c:xVal>
          <c:yVal>
            <c:numRef>
              <c:f>'Chart Data'!$F$2:$F$2</c:f>
              <c:numCache>
                <c:formatCode>#,##0</c:formatCode>
                <c:ptCount val="1"/>
                <c:pt idx="0">
                  <c:v>416.66666666667</c:v>
                </c:pt>
              </c:numCache>
            </c:numRef>
          </c:yVal>
        </c:ser>
        <c:ser>
          <c:idx val="3"/>
          <c:order val="3"/>
          <c:tx>
            <c:v>Winstafstand</c:v>
          </c:tx>
          <c:spPr>
            <a:ln xmlns:a="http://schemas.openxmlformats.org/drawingml/2006/main" w="66675">
              <a:solidFill>
                <a:srgbClr val="20665B"/>
              </a:solidFill>
              <a:prstDash val="solid"/>
            </a:ln>
          </c:spPr>
          <c:marker>
            <c:symbol val="none"/>
            <c:size val="9"/>
            <c:spPr>
              <a:solidFill xmlns:a="http://schemas.openxmlformats.org/drawingml/2006/main">
                <a:srgbClr val="20665B"/>
              </a:solidFill>
            </c:spPr>
          </c:marker>
          <c:xVal>
            <c:numRef>
              <c:f>'Chart Data'!$G$2:$G$3</c:f>
              <c:numCache>
                <c:formatCode>General</c:formatCode>
                <c:ptCount val="2"/>
                <c:pt idx="0">
                  <c:v>100</c:v>
                </c:pt>
                <c:pt idx="1">
                  <c:v>100</c:v>
                </c:pt>
              </c:numCache>
            </c:numRef>
          </c:xVal>
          <c:yVal>
            <c:numRef>
              <c:f>'Chart Data'!$H$2:$H$3</c:f>
              <c:numCache>
                <c:formatCode>#,##0</c:formatCode>
                <c:ptCount val="2"/>
                <c:pt idx="0">
                  <c:v>450</c:v>
                </c:pt>
                <c:pt idx="1">
                  <c:v>500</c:v>
                </c:pt>
              </c:numCache>
            </c:numRef>
          </c:yVal>
        </c:ser>
        <c:ser>
          <c:idx val="4"/>
          <c:order val="4"/>
          <c:tx>
            <c:v>Verliesafstand</c:v>
          </c:tx>
          <c:spPr>
            <a:ln xmlns:a="http://schemas.openxmlformats.org/drawingml/2006/main" w="66675">
              <a:solidFill>
                <a:srgbClr val="A94D16"/>
              </a:solidFill>
              <a:prstDash val="solid"/>
            </a:ln>
          </c:spPr>
          <c:marker>
            <c:symbol val="none"/>
            <c:size val="9"/>
            <c:spPr>
              <a:solidFill xmlns:a="http://schemas.openxmlformats.org/drawingml/2006/main">
                <a:srgbClr val="A94D16"/>
              </a:solidFill>
            </c:spPr>
          </c:marker>
          <c:xVal>
            <c:numRef>
              <c:f>'Chart Data'!$I$2:$I$3</c:f>
              <c:numCache>
                <c:formatCode>General</c:formatCode>
                <c:ptCount val="2"/>
                <c:pt idx="0">
                  <c:v>50</c:v>
                </c:pt>
                <c:pt idx="1">
                  <c:v>50</c:v>
                </c:pt>
              </c:numCache>
            </c:numRef>
          </c:xVal>
          <c:yVal>
            <c:numRef>
              <c:f>'Chart Data'!$J$2:$J$3</c:f>
              <c:numCache>
                <c:formatCode>#,##0</c:formatCode>
                <c:ptCount val="2"/>
                <c:pt idx="0">
                  <c:v>250</c:v>
                </c:pt>
                <c:pt idx="1">
                  <c:v>350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0"/>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(wafels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500</c:v>
                </c:pt>
                <c:pt idx="1">
                  <c:v>1300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3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(broden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500</c:v>
                </c:pt>
                <c:pt idx="1">
                  <c:v>1300</c:v>
                </c:pt>
              </c:numCache>
            </c:numRef>
          </c:yVal>
        </c:ser>
        <c:ser>
          <c:idx val="1"/>
          <c:order val="1"/>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7658A"/>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1000</c:v>
                </c:pt>
              </c:numCache>
            </c:numRef>
          </c:xVal>
          <c:yVal>
            <c:numRef>
              <c:f>'Chart Data'!$D$2:$D$3</c:f>
              <c:numCache>
                <c:formatCode>#,##0</c:formatCode>
                <c:ptCount val="2"/>
                <c:pt idx="0">
                  <c:v>0</c:v>
                </c:pt>
                <c:pt idx="1">
                  <c:v>1500</c:v>
                </c:pt>
              </c:numCache>
            </c:numRef>
          </c:yVal>
        </c:ser>
        <c:ser>
          <c:idx val="2"/>
          <c:order val="2"/>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Data'!$E$2:$E$2</c:f>
              <c:numCache>
                <c:formatCode>General</c:formatCode>
                <c:ptCount val="1"/>
                <c:pt idx="0">
                  <c:v>714.28571428571</c:v>
                </c:pt>
              </c:numCache>
            </c:numRef>
          </c:xVal>
          <c:yVal>
            <c:numRef>
              <c:f>'Chart Data'!$F$2:$F$2</c:f>
              <c:numCache>
                <c:formatCode>#,##0</c:formatCode>
                <c:ptCount val="1"/>
                <c:pt idx="0">
                  <c:v>1071.4285714286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3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(broden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TK</c:v>
          </c:tx>
          <c:spPr>
            <a:ln xmlns:a="http://schemas.openxmlformats.org/drawingml/2006/main" w="38100">
              <a:solidFill>
                <a:srgbClr val="A94D16"/>
              </a:solidFill>
              <a:prstDash val="solid"/>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A94D16"/>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500</c:v>
                </c:pt>
                <c:pt idx="1">
                  <c:v>1300</c:v>
                </c:pt>
              </c:numCache>
            </c:numRef>
          </c:yVal>
        </c:ser>
        <c:ser>
          <c:idx val="1"/>
          <c:order val="1"/>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7658A"/>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1000</c:v>
                </c:pt>
              </c:numCache>
            </c:numRef>
          </c:xVal>
          <c:yVal>
            <c:numRef>
              <c:f>'Chart Data'!$D$2:$D$3</c:f>
              <c:numCache>
                <c:formatCode>#,##0</c:formatCode>
                <c:ptCount val="2"/>
                <c:pt idx="0">
                  <c:v>0</c:v>
                </c:pt>
                <c:pt idx="1">
                  <c:v>1500</c:v>
                </c:pt>
              </c:numCache>
            </c:numRef>
          </c:yVal>
        </c:ser>
        <c:ser>
          <c:idx val="2"/>
          <c:order val="2"/>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Data'!$E$2:$E$2</c:f>
              <c:numCache>
                <c:formatCode>General</c:formatCode>
                <c:ptCount val="1"/>
                <c:pt idx="0">
                  <c:v>714.28571428571</c:v>
                </c:pt>
              </c:numCache>
            </c:numRef>
          </c:xVal>
          <c:yVal>
            <c:numRef>
              <c:f>'Chart Data'!$F$2:$F$2</c:f>
              <c:numCache>
                <c:formatCode>#,##0</c:formatCode>
                <c:ptCount val="1"/>
                <c:pt idx="0">
                  <c:v>1071.4285714286</c:v>
                </c:pt>
              </c:numCache>
            </c:numRef>
          </c:yVal>
        </c:ser>
        <c:ser>
          <c:idx val="3"/>
          <c:order val="3"/>
          <c:tx>
            <c:v>Winstafstand</c:v>
          </c:tx>
          <c:spPr>
            <a:ln xmlns:a="http://schemas.openxmlformats.org/drawingml/2006/main" w="66675">
              <a:solidFill>
                <a:srgbClr val="20665B"/>
              </a:solidFill>
              <a:prstDash val="solid"/>
            </a:ln>
          </c:spPr>
          <c:marker>
            <c:symbol val="none"/>
            <c:size val="9"/>
            <c:spPr>
              <a:solidFill xmlns:a="http://schemas.openxmlformats.org/drawingml/2006/main">
                <a:srgbClr val="20665B"/>
              </a:solidFill>
            </c:spPr>
          </c:marker>
          <c:xVal>
            <c:numRef>
              <c:f>'Chart Data'!$G$2:$G$3</c:f>
              <c:numCache>
                <c:formatCode>General</c:formatCode>
                <c:ptCount val="2"/>
                <c:pt idx="0">
                  <c:v>1000</c:v>
                </c:pt>
                <c:pt idx="1">
                  <c:v>1000</c:v>
                </c:pt>
              </c:numCache>
            </c:numRef>
          </c:xVal>
          <c:yVal>
            <c:numRef>
              <c:f>'Chart Data'!$H$2:$H$3</c:f>
              <c:numCache>
                <c:formatCode>#,##0</c:formatCode>
                <c:ptCount val="2"/>
                <c:pt idx="0">
                  <c:v>1300</c:v>
                </c:pt>
                <c:pt idx="1">
                  <c:v>1500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3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(broden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2 Opbrengsten, winst en break-even">
            <a:extLst xmlns:a="http://schemas.openxmlformats.org/drawingml/2006/main">
              <a:ext uri="{FF2B5EF4-FFF2-40B4-BE49-F238E27FC236}">
                <a16:creationId xmlns:a16="http://schemas.microsoft.com/office/drawing/2014/main" id="{FC49CDE6-4E1C-4195-A059-F97598B222C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§2.1.2 Opbrengsten, winst en break-even</a:t>
            </a:r>
          </a:p>
        </p:txBody>
      </p:sp>
      <p:sp>
        <p:nvSpPr>
          <p:cNvPr id="2" name="">
            <a:extLst xmlns:a="http://schemas.openxmlformats.org/drawingml/2006/main">
              <a:ext uri="{FF2B5EF4-FFF2-40B4-BE49-F238E27FC236}">
                <a16:creationId xmlns:a16="http://schemas.microsoft.com/office/drawing/2014/main" id="{E3C75D04-8AB8-46AE-9265-0C65F111240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F0977787-B454-4D6D-857D-0A04448FFC5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
            <a:extLst xmlns:a="http://schemas.openxmlformats.org/drawingml/2006/main">
              <a:ext uri="{FF2B5EF4-FFF2-40B4-BE49-F238E27FC236}">
                <a16:creationId xmlns:a16="http://schemas.microsoft.com/office/drawing/2014/main" id="{E3E2CFDD-EB4E-4443-B60B-3D43B0FFAF3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20341A39-E76C-426E-B148-7CCC369E1902}"/>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1D2D1DD1-2724-4469-8CFE-E409BA70D74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168889F-835B-42E1-A7FC-3346D874A80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F4936A56-10AE-403B-BFE7-354585366B84}"/>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6C64A2E-E2C2-4FCC-BA01-2F7B2CF174B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2BB806B-2158-4F6F-AC13-030C63CE2B8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57F65D76-2049-4D12-9D0B-1F50B0A48CB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1EBCDB4-43B3-49F4-B00C-45C1F1363F7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039B1EB8-1336-4FFF-8CBD-6237E4E7ABC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2F7C80B-D516-436E-831A-78AA85E2D8A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D8FA938-37F8-4C13-83FF-AE6CBAA6FB5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6FEEF37-7191-4831-B4E7-2C23A19268F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35105A2-9343-4F03-9EEA-822B2C597AC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36EECB6E-30D5-4BD2-A65A-BBEF7AF326D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32C76BA8-D124-4209-9B16-D99BAA5BD92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809C486-BC09-45C6-9351-09364D5FD6D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DFEFB0D-7B2E-4C98-B21F-C00340E8DAD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E402966-B09C-4A7C-BA3D-772F6F75D7F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 GO en winst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Break-even en hele aantallen.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TK, TO en winst tekenen.</a:t>
            </a:r>
          </a:p>
        </p:txBody>
      </p:sp>
      <p:sp>
        <p:nvSpPr>
          <p:cNvPr id="23" name="">
            <a:extLst xmlns:a="http://schemas.openxmlformats.org/drawingml/2006/main">
              <a:ext uri="{FF2B5EF4-FFF2-40B4-BE49-F238E27FC236}">
                <a16:creationId xmlns:a16="http://schemas.microsoft.com/office/drawing/2014/main" id="{DA88C55F-2C36-49FA-80B1-59D9D2CC195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288DF6D-D4B7-4C1D-8C4D-C86E01B908E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E16580E-B91C-47A5-9B58-C798C57C31A8}"/>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14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10–11</a:t>
            </a:r>
          </a:p>
        </p:txBody>
      </p:sp>
      <p:sp>
        <p:nvSpPr>
          <p:cNvPr id="26" name="">
            <a:extLst xmlns:a="http://schemas.openxmlformats.org/drawingml/2006/main">
              <a:ext uri="{FF2B5EF4-FFF2-40B4-BE49-F238E27FC236}">
                <a16:creationId xmlns:a16="http://schemas.microsoft.com/office/drawing/2014/main" id="{0F4E1A07-DC20-4875-87B1-4F4E74D68405}"/>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34A1B08-F586-4604-AC48-A2471611AA20}"/>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4B2E990-4208-4593-91CE-DA6271F77494}"/>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759315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5459F838-C9BB-4D2D-AAD4-71C6ED7AEB5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6BB7F196-798F-495C-90D3-2AF18FBBA4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7BA57DE6-8C35-4F50-A448-687A967578D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2">
            <a:extLst xmlns:a="http://schemas.openxmlformats.org/drawingml/2006/main">
              <a:ext uri="{FF2B5EF4-FFF2-40B4-BE49-F238E27FC236}">
                <a16:creationId xmlns:a16="http://schemas.microsoft.com/office/drawing/2014/main" id="{2C61C44F-0203-4B7D-BE4A-446FF9B4D8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Opbrengsten en winst">
            <a:extLst xmlns:a="http://schemas.openxmlformats.org/drawingml/2006/main">
              <a:ext uri="{FF2B5EF4-FFF2-40B4-BE49-F238E27FC236}">
                <a16:creationId xmlns:a16="http://schemas.microsoft.com/office/drawing/2014/main" id="{7592BDEC-58AB-4A1B-8002-8191A3D43BBE}"/>
              </a:ext>
            </a:extLst>
          </p:cNvPr>
          <p:cNvSpPr>
            <a:spLocks xmlns:a="http://schemas.openxmlformats.org/drawingml/2006/main" noGrp="1"/>
          </p:cNvSpPr>
          <p:nvPr/>
        </p:nvSpPr>
        <p:spPr>
          <a:xfrm xmlns:a="http://schemas.openxmlformats.org/drawingml/2006/main">
            <a:off x="571500" y="209550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Opbrengsten en winst</a:t>
            </a:r>
          </a:p>
        </p:txBody>
      </p:sp>
      <p:sp>
        <p:nvSpPr>
          <p:cNvPr id="6" name="TO en GO berekenen, GO = P verklaren en kosten aftrekken.">
            <a:extLst xmlns:a="http://schemas.openxmlformats.org/drawingml/2006/main">
              <a:ext uri="{FF2B5EF4-FFF2-40B4-BE49-F238E27FC236}">
                <a16:creationId xmlns:a16="http://schemas.microsoft.com/office/drawing/2014/main" id="{9063C2B7-7B62-480A-8B49-D57FF8260B47}"/>
              </a:ext>
            </a:extLst>
          </p:cNvPr>
          <p:cNvSpPr>
            <a:spLocks xmlns:a="http://schemas.openxmlformats.org/drawingml/2006/main" noGrp="1"/>
          </p:cNvSpPr>
          <p:nvPr/>
        </p:nvSpPr>
        <p:spPr>
          <a:xfrm xmlns:a="http://schemas.openxmlformats.org/drawingml/2006/main">
            <a:off x="6524625" y="209550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TO en GO berekenen, GO = P verklaren en kosten aftrekken.</a:t>
            </a:r>
          </a:p>
        </p:txBody>
      </p:sp>
      <p:sp>
        <p:nvSpPr>
          <p:cNvPr id="7" name="">
            <a:extLst xmlns:a="http://schemas.openxmlformats.org/drawingml/2006/main">
              <a:ext uri="{FF2B5EF4-FFF2-40B4-BE49-F238E27FC236}">
                <a16:creationId xmlns:a16="http://schemas.microsoft.com/office/drawing/2014/main" id="{C2886075-D053-4F6A-8F76-60D9E261E28C}"/>
              </a:ext>
            </a:extLst>
          </p:cNvPr>
          <p:cNvSpPr>
            <a:spLocks xmlns:a="http://schemas.openxmlformats.org/drawingml/2006/main" noGrp="1"/>
          </p:cNvSpPr>
          <p:nvPr/>
        </p:nvSpPr>
        <p:spPr>
          <a:xfrm xmlns:a="http://schemas.openxmlformats.org/drawingml/2006/main">
            <a:off x="571500" y="3552825"/>
            <a:ext cx="14097000" cy="0"/>
          </a:xfrm>
          <a:prstGeom xmlns:a="http://schemas.openxmlformats.org/drawingml/2006/main" prst="line">
            <a:avLst/>
          </a:prstGeom>
          <a:ln xmlns:a="http://schemas.openxmlformats.org/drawingml/2006/main" w="19050">
            <a:solidFill>
              <a:srgbClr val="C6D2DB"/>
            </a:solidFill>
          </a:ln>
        </p:spPr>
      </p:sp>
      <p:sp>
        <p:nvSpPr>
          <p:cNvPr id="8" name="Break-even">
            <a:extLst xmlns:a="http://schemas.openxmlformats.org/drawingml/2006/main">
              <a:ext uri="{FF2B5EF4-FFF2-40B4-BE49-F238E27FC236}">
                <a16:creationId xmlns:a16="http://schemas.microsoft.com/office/drawing/2014/main" id="{743A11B3-CBF1-4EC2-86A4-934A5CD55143}"/>
              </a:ext>
            </a:extLst>
          </p:cNvPr>
          <p:cNvSpPr>
            <a:spLocks xmlns:a="http://schemas.openxmlformats.org/drawingml/2006/main" noGrp="1"/>
          </p:cNvSpPr>
          <p:nvPr/>
        </p:nvSpPr>
        <p:spPr>
          <a:xfrm xmlns:a="http://schemas.openxmlformats.org/drawingml/2006/main">
            <a:off x="571500" y="39528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Break-even</a:t>
            </a:r>
          </a:p>
        </p:txBody>
      </p:sp>
      <p:sp>
        <p:nvSpPr>
          <p:cNvPr id="9" name="TO = TK oplossen en de uitkomst vertalen naar hele producten">
            <a:extLst xmlns:a="http://schemas.openxmlformats.org/drawingml/2006/main">
              <a:ext uri="{FF2B5EF4-FFF2-40B4-BE49-F238E27FC236}">
                <a16:creationId xmlns:a16="http://schemas.microsoft.com/office/drawing/2014/main" id="{848BAB96-454D-4BFB-A54A-9F11A152B54F}"/>
              </a:ext>
            </a:extLst>
          </p:cNvPr>
          <p:cNvSpPr>
            <a:spLocks xmlns:a="http://schemas.openxmlformats.org/drawingml/2006/main" noGrp="1"/>
          </p:cNvSpPr>
          <p:nvPr/>
        </p:nvSpPr>
        <p:spPr>
          <a:xfrm xmlns:a="http://schemas.openxmlformats.org/drawingml/2006/main">
            <a:off x="6524625" y="3952875"/>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TO = TK oplossen en de uitkomst vertalen naar hele producten.</a:t>
            </a:r>
          </a:p>
        </p:txBody>
      </p:sp>
      <p:sp>
        <p:nvSpPr>
          <p:cNvPr id="10" name="">
            <a:extLst xmlns:a="http://schemas.openxmlformats.org/drawingml/2006/main">
              <a:ext uri="{FF2B5EF4-FFF2-40B4-BE49-F238E27FC236}">
                <a16:creationId xmlns:a16="http://schemas.microsoft.com/office/drawing/2014/main" id="{CE3F9099-74BB-4E8A-AEC8-88450F4043A4}"/>
              </a:ext>
            </a:extLst>
          </p:cNvPr>
          <p:cNvSpPr>
            <a:spLocks xmlns:a="http://schemas.openxmlformats.org/drawingml/2006/main" noGrp="1"/>
          </p:cNvSpPr>
          <p:nvPr/>
        </p:nvSpPr>
        <p:spPr>
          <a:xfrm xmlns:a="http://schemas.openxmlformats.org/drawingml/2006/main">
            <a:off x="571500" y="5410200"/>
            <a:ext cx="14097000" cy="0"/>
          </a:xfrm>
          <a:prstGeom xmlns:a="http://schemas.openxmlformats.org/drawingml/2006/main" prst="line">
            <a:avLst/>
          </a:prstGeom>
          <a:ln xmlns:a="http://schemas.openxmlformats.org/drawingml/2006/main" w="19050">
            <a:solidFill>
              <a:srgbClr val="C6D2DB"/>
            </a:solidFill>
          </a:ln>
        </p:spPr>
      </p:sp>
      <p:sp>
        <p:nvSpPr>
          <p:cNvPr id="11" name="Tekenen en aflezen">
            <a:extLst xmlns:a="http://schemas.openxmlformats.org/drawingml/2006/main">
              <a:ext uri="{FF2B5EF4-FFF2-40B4-BE49-F238E27FC236}">
                <a16:creationId xmlns:a16="http://schemas.microsoft.com/office/drawing/2014/main" id="{15EA414D-3D7F-4DFA-BC3E-DC457C2B030C}"/>
              </a:ext>
            </a:extLst>
          </p:cNvPr>
          <p:cNvSpPr>
            <a:spLocks xmlns:a="http://schemas.openxmlformats.org/drawingml/2006/main" noGrp="1"/>
          </p:cNvSpPr>
          <p:nvPr/>
        </p:nvSpPr>
        <p:spPr>
          <a:xfrm xmlns:a="http://schemas.openxmlformats.org/drawingml/2006/main">
            <a:off x="571500" y="581025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Tekenen en aflezen</a:t>
            </a:r>
          </a:p>
        </p:txBody>
      </p:sp>
      <p:sp>
        <p:nvSpPr>
          <p:cNvPr id="12" name="TK en TO tekenen, het snijpunt markeren&#10;en winst als vertica">
            <a:extLst xmlns:a="http://schemas.openxmlformats.org/drawingml/2006/main">
              <a:ext uri="{FF2B5EF4-FFF2-40B4-BE49-F238E27FC236}">
                <a16:creationId xmlns:a16="http://schemas.microsoft.com/office/drawing/2014/main" id="{2F6CACDB-3108-434E-8CEB-1E47189FF512}"/>
              </a:ext>
            </a:extLst>
          </p:cNvPr>
          <p:cNvSpPr>
            <a:spLocks xmlns:a="http://schemas.openxmlformats.org/drawingml/2006/main" noGrp="1"/>
          </p:cNvSpPr>
          <p:nvPr/>
        </p:nvSpPr>
        <p:spPr>
          <a:xfrm xmlns:a="http://schemas.openxmlformats.org/drawingml/2006/main">
            <a:off x="6524625" y="58102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TK en TO tekenen, het snijpunt markeren</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en winst als verticale afstand tonen.</a:t>
            </a:r>
          </a:p>
        </p:txBody>
      </p:sp>
    </p:spTree>
    <p:extLst>
      <p:ext uri="{BB962C8B-B14F-4D97-AF65-F5344CB8AC3E}">
        <p14:creationId xmlns:p14="http://schemas.microsoft.com/office/powerpoint/2010/main" val="2549517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afelWagen: opbrengst totaal en per wafel">
            <a:extLst xmlns:a="http://schemas.openxmlformats.org/drawingml/2006/main">
              <a:ext uri="{FF2B5EF4-FFF2-40B4-BE49-F238E27FC236}">
                <a16:creationId xmlns:a16="http://schemas.microsoft.com/office/drawing/2014/main" id="{8C5690E2-8277-46BE-927D-D669FD15C4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WafelWagen: opbrengst totaal en per wafel</a:t>
            </a:r>
          </a:p>
        </p:txBody>
      </p:sp>
      <p:sp>
        <p:nvSpPr>
          <p:cNvPr id="2" name="">
            <a:extLst xmlns:a="http://schemas.openxmlformats.org/drawingml/2006/main">
              <a:ext uri="{FF2B5EF4-FFF2-40B4-BE49-F238E27FC236}">
                <a16:creationId xmlns:a16="http://schemas.microsoft.com/office/drawing/2014/main" id="{4516DB3E-26BE-4D22-A669-46F651FCA2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42B84E9C-3EEA-4F18-837F-4462DD2A3C2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3">
            <a:extLst xmlns:a="http://schemas.openxmlformats.org/drawingml/2006/main">
              <a:ext uri="{FF2B5EF4-FFF2-40B4-BE49-F238E27FC236}">
                <a16:creationId xmlns:a16="http://schemas.microsoft.com/office/drawing/2014/main" id="{D5917822-59D9-45BD-8D4A-8D54E2AFE49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aste prijs: € 5 per wafel. Capaciteit: 150 wafels per dag.">
            <a:extLst xmlns:a="http://schemas.openxmlformats.org/drawingml/2006/main">
              <a:ext uri="{FF2B5EF4-FFF2-40B4-BE49-F238E27FC236}">
                <a16:creationId xmlns:a16="http://schemas.microsoft.com/office/drawing/2014/main" id="{90F5D552-51C0-4538-95BC-72EAE7ECBB71}"/>
              </a:ext>
            </a:extLst>
          </p:cNvPr>
          <p:cNvSpPr>
            <a:spLocks xmlns:a="http://schemas.openxmlformats.org/drawingml/2006/main" noGrp="1"/>
          </p:cNvSpPr>
          <p:nvPr/>
        </p:nvSpPr>
        <p:spPr>
          <a:xfrm xmlns:a="http://schemas.openxmlformats.org/drawingml/2006/main">
            <a:off x="571500" y="18288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Vaste prijs: € 5 per wafel. Capaciteit: 150 wafels per dag.</a:t>
            </a:r>
          </a:p>
        </p:txBody>
      </p:sp>
      <p:graphicFrame>
        <p:nvGraphicFramePr>
          <p:cNvPr id="14" name=""/>
          <p:cNvGraphicFramePr/>
          <p:nvPr/>
        </p:nvGraphicFramePr>
        <p:xfrm>
          <a:off xmlns:a="http://schemas.openxmlformats.org/drawingml/2006/main" x="571500" y="3000375"/>
          <a:ext xmlns:a="http://schemas.openxmlformats.org/drawingml/2006/main" cx="14097000" cy="2952750"/>
        </p:xfrm>
        <a:graphic xmlns:a="http://schemas.openxmlformats.org/drawingml/2006/main">
          <a:graphicData uri="http://schemas.openxmlformats.org/drawingml/2006/table">
            <a:tbl>
              <a:tblPr/>
              <a:tblGrid>
                <a:gridCol w="4286250"/>
                <a:gridCol w="4572000"/>
                <a:gridCol w="5238750"/>
              </a:tblGrid>
              <a:tr h="984250">
                <a:tc>
                  <a:txBody>
                    <a:bodyPr lIns="171450" tIns="95250" rIns="152400" bIns="95250"/>
                    <a:lstStyle/>
                    <a:p>
                      <a:r>
                        <a:rPr sz="2400" b="1">
                          <a:solidFill>
                            <a:srgbClr val="FFFFFF"/>
                          </a:solidFill>
                          <a:latin typeface="Arial"/>
                          <a:ea typeface="Arial"/>
                          <a:cs typeface="Arial"/>
                        </a:rPr>
                        <a:t>Q (wafels per 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TO = 5Q (€ per 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GO = TO / Q (€ per wafel)</a:t>
                      </a:r>
                    </a:p>
                  </a:txBody>
                  <a:tcPr marL="91440" marR="91440" marT="45720" marB="45720" anchor="ctr">
                    <a:solidFill>
                      <a:srgbClr val="183247"/>
                    </a:solidFill>
                  </a:tcPr>
                </a:tc>
              </a:tr>
              <a:tr h="984250">
                <a:tc>
                  <a:txBody>
                    <a:bodyPr lIns="171450" tIns="95250" rIns="152400" bIns="95250"/>
                    <a:lstStyle/>
                    <a:p>
                      <a:r>
                        <a:rPr sz="2400"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5 × 50 = 250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250 / 50 = 5</a:t>
                      </a:r>
                    </a:p>
                  </a:txBody>
                  <a:tcPr marL="91440" marR="91440" marT="45720" marB="45720" anchor="ctr">
                    <a:solidFill>
                      <a:srgbClr val="FFFFFF"/>
                    </a:solidFill>
                  </a:tcPr>
                </a:tc>
              </a:tr>
              <a:tr h="984250">
                <a:tc>
                  <a:txBody>
                    <a:bodyPr lIns="171450" tIns="95250" rIns="152400" bIns="95250"/>
                    <a:lstStyle/>
                    <a:p>
                      <a:r>
                        <a:rPr sz="2400" b="0">
                          <a:solidFill>
                            <a:srgbClr val="183247"/>
                          </a:solidFill>
                          <a:latin typeface="Arial"/>
                          <a:ea typeface="Arial"/>
                          <a:cs typeface="Arial"/>
                        </a:rPr>
                        <a:t>100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 × 100 = 500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500 / 100 = 5</a:t>
                      </a:r>
                    </a:p>
                  </a:txBody>
                  <a:tcPr marL="91440" marR="91440" marT="45720" marB="45720" anchor="ctr">
                    <a:solidFill>
                      <a:srgbClr val="EFF4F7"/>
                    </a:solidFill>
                  </a:tcPr>
                </a:tc>
              </a:tr>
            </a:tbl>
          </a:graphicData>
        </a:graphic>
      </p:graphicFrame>
      <p:sp>
        <p:nvSpPr>
          <p:cNvPr id="7" name="TO = P × Q">
            <a:extLst xmlns:a="http://schemas.openxmlformats.org/drawingml/2006/main">
              <a:ext uri="{FF2B5EF4-FFF2-40B4-BE49-F238E27FC236}">
                <a16:creationId xmlns:a16="http://schemas.microsoft.com/office/drawing/2014/main" id="{1F4A5ABE-386D-4CB2-B9D4-2D2EBDB31045}"/>
              </a:ext>
            </a:extLst>
          </p:cNvPr>
          <p:cNvSpPr>
            <a:spLocks xmlns:a="http://schemas.openxmlformats.org/drawingml/2006/main" noGrp="1"/>
          </p:cNvSpPr>
          <p:nvPr/>
        </p:nvSpPr>
        <p:spPr>
          <a:xfrm xmlns:a="http://schemas.openxmlformats.org/drawingml/2006/main">
            <a:off x="571500" y="6657975"/>
            <a:ext cx="5810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TO = P × Q</a:t>
            </a:r>
          </a:p>
        </p:txBody>
      </p:sp>
      <p:sp>
        <p:nvSpPr>
          <p:cNvPr id="8" name="GO = P bij Q &gt; 0">
            <a:extLst xmlns:a="http://schemas.openxmlformats.org/drawingml/2006/main">
              <a:ext uri="{FF2B5EF4-FFF2-40B4-BE49-F238E27FC236}">
                <a16:creationId xmlns:a16="http://schemas.microsoft.com/office/drawing/2014/main" id="{1EB021A9-17E7-4BBC-A03E-E8EC701EB670}"/>
              </a:ext>
            </a:extLst>
          </p:cNvPr>
          <p:cNvSpPr>
            <a:spLocks xmlns:a="http://schemas.openxmlformats.org/drawingml/2006/main" noGrp="1"/>
          </p:cNvSpPr>
          <p:nvPr/>
        </p:nvSpPr>
        <p:spPr>
          <a:xfrm xmlns:a="http://schemas.openxmlformats.org/drawingml/2006/main">
            <a:off x="7715250" y="6657975"/>
            <a:ext cx="695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GO = P bij Q &gt; 0</a:t>
            </a:r>
          </a:p>
        </p:txBody>
      </p:sp>
    </p:spTree>
    <p:extLst>
      <p:ext uri="{BB962C8B-B14F-4D97-AF65-F5344CB8AC3E}">
        <p14:creationId xmlns:p14="http://schemas.microsoft.com/office/powerpoint/2010/main" val="20041035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inst: opbrengst na aftrek van alle kosten">
            <a:extLst xmlns:a="http://schemas.openxmlformats.org/drawingml/2006/main">
              <a:ext uri="{FF2B5EF4-FFF2-40B4-BE49-F238E27FC236}">
                <a16:creationId xmlns:a16="http://schemas.microsoft.com/office/drawing/2014/main" id="{F849B747-05DC-46C7-BFA6-AE4CD21CE46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Winst: opbrengst na aftrek van alle kosten</a:t>
            </a:r>
          </a:p>
        </p:txBody>
      </p:sp>
      <p:sp>
        <p:nvSpPr>
          <p:cNvPr id="2" name="">
            <a:extLst xmlns:a="http://schemas.openxmlformats.org/drawingml/2006/main">
              <a:ext uri="{FF2B5EF4-FFF2-40B4-BE49-F238E27FC236}">
                <a16:creationId xmlns:a16="http://schemas.microsoft.com/office/drawing/2014/main" id="{747427A0-E5D0-46CD-A81C-49639F5456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907A3F98-8418-4344-B1FB-589F9F6EC02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4">
            <a:extLst xmlns:a="http://schemas.openxmlformats.org/drawingml/2006/main">
              <a:ext uri="{FF2B5EF4-FFF2-40B4-BE49-F238E27FC236}">
                <a16:creationId xmlns:a16="http://schemas.microsoft.com/office/drawing/2014/main" id="{8E3A09A3-A85A-442D-8DE3-52DF63A18A3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WafelWagen: TO = 5Q en TK = 250 + 2Q">
            <a:extLst xmlns:a="http://schemas.openxmlformats.org/drawingml/2006/main">
              <a:ext uri="{FF2B5EF4-FFF2-40B4-BE49-F238E27FC236}">
                <a16:creationId xmlns:a16="http://schemas.microsoft.com/office/drawing/2014/main" id="{A8BDF310-4EF5-4D67-9726-42C8DC8D5B57}"/>
              </a:ext>
            </a:extLst>
          </p:cNvPr>
          <p:cNvSpPr>
            <a:spLocks xmlns:a="http://schemas.openxmlformats.org/drawingml/2006/main" noGrp="1"/>
          </p:cNvSpPr>
          <p:nvPr/>
        </p:nvSpPr>
        <p:spPr>
          <a:xfrm xmlns:a="http://schemas.openxmlformats.org/drawingml/2006/main">
            <a:off x="571500" y="1809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WafelWagen: TO = 5Q en TK = 250 + 2Q</a:t>
            </a:r>
          </a:p>
        </p:txBody>
      </p:sp>
      <p:graphicFrame>
        <p:nvGraphicFramePr>
          <p:cNvPr id="14" name=""/>
          <p:cNvGraphicFramePr/>
          <p:nvPr/>
        </p:nvGraphicFramePr>
        <p:xfrm>
          <a:off xmlns:a="http://schemas.openxmlformats.org/drawingml/2006/main" x="571500" y="2914650"/>
          <a:ext xmlns:a="http://schemas.openxmlformats.org/drawingml/2006/main" cx="14097000" cy="3048000"/>
        </p:xfrm>
        <a:graphic xmlns:a="http://schemas.openxmlformats.org/drawingml/2006/main">
          <a:graphicData uri="http://schemas.openxmlformats.org/drawingml/2006/table">
            <a:tbl>
              <a:tblPr/>
              <a:tblGrid>
                <a:gridCol w="2952750"/>
                <a:gridCol w="3238500"/>
                <a:gridCol w="4048125"/>
                <a:gridCol w="3857625"/>
              </a:tblGrid>
              <a:tr h="1016000">
                <a:tc>
                  <a:txBody>
                    <a:bodyPr lIns="171450" tIns="95250" rIns="152400" bIns="95250"/>
                    <a:lstStyle/>
                    <a:p>
                      <a:r>
                        <a:rPr sz="2325" b="1">
                          <a:solidFill>
                            <a:srgbClr val="FFFFFF"/>
                          </a:solidFill>
                          <a:latin typeface="Arial"/>
                          <a:ea typeface="Arial"/>
                          <a:cs typeface="Arial"/>
                        </a:rPr>
                        <a:t>Q (wafels/dag)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TO (€ per 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TK (€ per 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Winst (€ per dag)</a:t>
                      </a:r>
                    </a:p>
                  </a:txBody>
                  <a:tcPr marL="91440" marR="91440" marT="45720" marB="45720" anchor="ctr">
                    <a:solidFill>
                      <a:srgbClr val="183247"/>
                    </a:solidFill>
                  </a:tcPr>
                </a:tc>
              </a:tr>
              <a:tr h="1016000">
                <a:tc>
                  <a:txBody>
                    <a:bodyPr lIns="171450" tIns="95250" rIns="152400" bIns="95250"/>
                    <a:lstStyle/>
                    <a:p>
                      <a:r>
                        <a:rPr sz="2325"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 × 50 = 250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250 + 2 × 50 = 350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250 − 350 = −100</a:t>
                      </a:r>
                    </a:p>
                  </a:txBody>
                  <a:tcPr marL="91440" marR="91440" marT="45720" marB="45720" anchor="ctr">
                    <a:solidFill>
                      <a:srgbClr val="FFFFFF"/>
                    </a:solidFill>
                  </a:tcPr>
                </a:tc>
              </a:tr>
              <a:tr h="1016000">
                <a:tc>
                  <a:txBody>
                    <a:bodyPr lIns="171450" tIns="95250" rIns="152400" bIns="95250"/>
                    <a:lstStyle/>
                    <a:p>
                      <a:r>
                        <a:rPr sz="2325" b="0">
                          <a:solidFill>
                            <a:srgbClr val="183247"/>
                          </a:solidFill>
                          <a:latin typeface="Arial"/>
                          <a:ea typeface="Arial"/>
                          <a:cs typeface="Arial"/>
                        </a:rPr>
                        <a:t>100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 × 100 = 500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250 + 2 × 100 = 450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500 − 450 = 50</a:t>
                      </a:r>
                    </a:p>
                  </a:txBody>
                  <a:tcPr marL="91440" marR="91440" marT="45720" marB="45720" anchor="ctr">
                    <a:solidFill>
                      <a:srgbClr val="EFF4F7"/>
                    </a:solidFill>
                  </a:tcPr>
                </a:tc>
              </a:tr>
            </a:tbl>
          </a:graphicData>
        </a:graphic>
      </p:graphicFrame>
      <p:sp>
        <p:nvSpPr>
          <p:cNvPr id="7" name="Winst = TO − TK">
            <a:extLst xmlns:a="http://schemas.openxmlformats.org/drawingml/2006/main">
              <a:ext uri="{FF2B5EF4-FFF2-40B4-BE49-F238E27FC236}">
                <a16:creationId xmlns:a16="http://schemas.microsoft.com/office/drawing/2014/main" id="{6A5D5B0C-EBFC-4EF0-AEAD-4CD7143ECC30}"/>
              </a:ext>
            </a:extLst>
          </p:cNvPr>
          <p:cNvSpPr>
            <a:spLocks xmlns:a="http://schemas.openxmlformats.org/drawingml/2006/main" noGrp="1"/>
          </p:cNvSpPr>
          <p:nvPr/>
        </p:nvSpPr>
        <p:spPr>
          <a:xfrm xmlns:a="http://schemas.openxmlformats.org/drawingml/2006/main">
            <a:off x="571500" y="661987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Winst = TO − TK</a:t>
            </a:r>
          </a:p>
        </p:txBody>
      </p:sp>
      <p:sp>
        <p:nvSpPr>
          <p:cNvPr id="8" name="Negatieve winst = verlies">
            <a:extLst xmlns:a="http://schemas.openxmlformats.org/drawingml/2006/main">
              <a:ext uri="{FF2B5EF4-FFF2-40B4-BE49-F238E27FC236}">
                <a16:creationId xmlns:a16="http://schemas.microsoft.com/office/drawing/2014/main" id="{1B054501-E6A6-4AC5-80C2-CA31DE59B928}"/>
              </a:ext>
            </a:extLst>
          </p:cNvPr>
          <p:cNvSpPr>
            <a:spLocks xmlns:a="http://schemas.openxmlformats.org/drawingml/2006/main" noGrp="1"/>
          </p:cNvSpPr>
          <p:nvPr/>
        </p:nvSpPr>
        <p:spPr>
          <a:xfrm xmlns:a="http://schemas.openxmlformats.org/drawingml/2006/main">
            <a:off x="8239125" y="6715125"/>
            <a:ext cx="6429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Negatieve winst = verlies</a:t>
            </a:r>
          </a:p>
        </p:txBody>
      </p:sp>
    </p:spTree>
    <p:extLst>
      <p:ext uri="{BB962C8B-B14F-4D97-AF65-F5344CB8AC3E}">
        <p14:creationId xmlns:p14="http://schemas.microsoft.com/office/powerpoint/2010/main" val="11223023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reak-even: de opbrengst dekt alle kosten">
            <a:extLst xmlns:a="http://schemas.openxmlformats.org/drawingml/2006/main">
              <a:ext uri="{FF2B5EF4-FFF2-40B4-BE49-F238E27FC236}">
                <a16:creationId xmlns:a16="http://schemas.microsoft.com/office/drawing/2014/main" id="{F50E0FB4-4653-422C-B5AF-41F811A4CA1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Break-even: de opbrengst dekt alle kosten</a:t>
            </a:r>
          </a:p>
        </p:txBody>
      </p:sp>
      <p:sp>
        <p:nvSpPr>
          <p:cNvPr id="2" name="">
            <a:extLst xmlns:a="http://schemas.openxmlformats.org/drawingml/2006/main">
              <a:ext uri="{FF2B5EF4-FFF2-40B4-BE49-F238E27FC236}">
                <a16:creationId xmlns:a16="http://schemas.microsoft.com/office/drawing/2014/main" id="{F196E2C1-AB74-41C2-B5D5-C322FE1122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45740E58-38AB-4768-9A4F-E7CB7C4D158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5">
            <a:extLst xmlns:a="http://schemas.openxmlformats.org/drawingml/2006/main">
              <a:ext uri="{FF2B5EF4-FFF2-40B4-BE49-F238E27FC236}">
                <a16:creationId xmlns:a16="http://schemas.microsoft.com/office/drawing/2014/main" id="{220133CE-3207-4F37-BDAB-D98E60538E5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Alle producten samen">
            <a:extLst xmlns:a="http://schemas.openxmlformats.org/drawingml/2006/main">
              <a:ext uri="{FF2B5EF4-FFF2-40B4-BE49-F238E27FC236}">
                <a16:creationId xmlns:a16="http://schemas.microsoft.com/office/drawing/2014/main" id="{98A927A0-1AD9-4F91-8A1F-B394398F95BB}"/>
              </a:ext>
            </a:extLst>
          </p:cNvPr>
          <p:cNvSpPr>
            <a:spLocks xmlns:a="http://schemas.openxmlformats.org/drawingml/2006/main" noGrp="1"/>
          </p:cNvSpPr>
          <p:nvPr/>
        </p:nvSpPr>
        <p:spPr>
          <a:xfrm xmlns:a="http://schemas.openxmlformats.org/drawingml/2006/main">
            <a:off x="571500" y="20955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Alle producten samen</a:t>
            </a:r>
          </a:p>
        </p:txBody>
      </p:sp>
      <p:sp>
        <p:nvSpPr>
          <p:cNvPr id="6" name="TO = TK">
            <a:extLst xmlns:a="http://schemas.openxmlformats.org/drawingml/2006/main">
              <a:ext uri="{FF2B5EF4-FFF2-40B4-BE49-F238E27FC236}">
                <a16:creationId xmlns:a16="http://schemas.microsoft.com/office/drawing/2014/main" id="{B1AB1AE1-F13C-4874-88C7-D63943EE37DB}"/>
              </a:ext>
            </a:extLst>
          </p:cNvPr>
          <p:cNvSpPr>
            <a:spLocks xmlns:a="http://schemas.openxmlformats.org/drawingml/2006/main" noGrp="1"/>
          </p:cNvSpPr>
          <p:nvPr/>
        </p:nvSpPr>
        <p:spPr>
          <a:xfrm xmlns:a="http://schemas.openxmlformats.org/drawingml/2006/main">
            <a:off x="571500" y="3114675"/>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183247"/>
                </a:solidFill>
                <a:latin typeface="Arial"/>
                <a:ea typeface="Arial"/>
                <a:cs typeface="Arial"/>
              </a:defRPr>
            </a:pPr>
            <a:r>
              <a:rPr sz="5100" b="1">
                <a:solidFill>
                  <a:srgbClr val="183247"/>
                </a:solidFill>
                <a:latin typeface="Arial"/>
                <a:ea typeface="Arial"/>
                <a:cs typeface="Arial"/>
              </a:rPr>
              <a:t>TO = TK</a:t>
            </a:r>
          </a:p>
        </p:txBody>
      </p:sp>
      <p:sp>
        <p:nvSpPr>
          <p:cNvPr id="7" name="Winst = 0">
            <a:extLst xmlns:a="http://schemas.openxmlformats.org/drawingml/2006/main">
              <a:ext uri="{FF2B5EF4-FFF2-40B4-BE49-F238E27FC236}">
                <a16:creationId xmlns:a16="http://schemas.microsoft.com/office/drawing/2014/main" id="{F2E3C5DE-2538-48FA-AE38-DD8B5CFE31C1}"/>
              </a:ext>
            </a:extLst>
          </p:cNvPr>
          <p:cNvSpPr>
            <a:spLocks xmlns:a="http://schemas.openxmlformats.org/drawingml/2006/main" noGrp="1"/>
          </p:cNvSpPr>
          <p:nvPr/>
        </p:nvSpPr>
        <p:spPr>
          <a:xfrm xmlns:a="http://schemas.openxmlformats.org/drawingml/2006/main">
            <a:off x="571500" y="454342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Winst = 0</a:t>
            </a:r>
          </a:p>
        </p:txBody>
      </p:sp>
      <p:sp>
        <p:nvSpPr>
          <p:cNvPr id="8" name="Per product, bij Q &gt; 0">
            <a:extLst xmlns:a="http://schemas.openxmlformats.org/drawingml/2006/main">
              <a:ext uri="{FF2B5EF4-FFF2-40B4-BE49-F238E27FC236}">
                <a16:creationId xmlns:a16="http://schemas.microsoft.com/office/drawing/2014/main" id="{D409232B-63EF-4CB8-8010-8F2EFA2C794F}"/>
              </a:ext>
            </a:extLst>
          </p:cNvPr>
          <p:cNvSpPr>
            <a:spLocks xmlns:a="http://schemas.openxmlformats.org/drawingml/2006/main" noGrp="1"/>
          </p:cNvSpPr>
          <p:nvPr/>
        </p:nvSpPr>
        <p:spPr>
          <a:xfrm xmlns:a="http://schemas.openxmlformats.org/drawingml/2006/main">
            <a:off x="7858125" y="20955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Per product, bij Q &gt; 0</a:t>
            </a:r>
          </a:p>
        </p:txBody>
      </p:sp>
      <p:sp>
        <p:nvSpPr>
          <p:cNvPr id="9" name="TO / Q = TK / Q">
            <a:extLst xmlns:a="http://schemas.openxmlformats.org/drawingml/2006/main">
              <a:ext uri="{FF2B5EF4-FFF2-40B4-BE49-F238E27FC236}">
                <a16:creationId xmlns:a16="http://schemas.microsoft.com/office/drawing/2014/main" id="{D7D70F8C-DBA8-4676-89D8-716F08A94163}"/>
              </a:ext>
            </a:extLst>
          </p:cNvPr>
          <p:cNvSpPr>
            <a:spLocks xmlns:a="http://schemas.openxmlformats.org/drawingml/2006/main" noGrp="1"/>
          </p:cNvSpPr>
          <p:nvPr/>
        </p:nvSpPr>
        <p:spPr>
          <a:xfrm xmlns:a="http://schemas.openxmlformats.org/drawingml/2006/main">
            <a:off x="7858125" y="3114675"/>
            <a:ext cx="676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TO / Q = TK / Q</a:t>
            </a:r>
          </a:p>
        </p:txBody>
      </p:sp>
      <p:sp>
        <p:nvSpPr>
          <p:cNvPr id="10" name="GO = GTK">
            <a:extLst xmlns:a="http://schemas.openxmlformats.org/drawingml/2006/main">
              <a:ext uri="{FF2B5EF4-FFF2-40B4-BE49-F238E27FC236}">
                <a16:creationId xmlns:a16="http://schemas.microsoft.com/office/drawing/2014/main" id="{D32CB1BE-B92C-4852-BAE8-10E6B34973B2}"/>
              </a:ext>
            </a:extLst>
          </p:cNvPr>
          <p:cNvSpPr>
            <a:spLocks xmlns:a="http://schemas.openxmlformats.org/drawingml/2006/main" noGrp="1"/>
          </p:cNvSpPr>
          <p:nvPr/>
        </p:nvSpPr>
        <p:spPr>
          <a:xfrm xmlns:a="http://schemas.openxmlformats.org/drawingml/2006/main">
            <a:off x="7858125" y="4543425"/>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GO = GTK</a:t>
            </a:r>
          </a:p>
        </p:txBody>
      </p:sp>
      <p:sp>
        <p:nvSpPr>
          <p:cNvPr id="11" name="">
            <a:extLst xmlns:a="http://schemas.openxmlformats.org/drawingml/2006/main">
              <a:ext uri="{FF2B5EF4-FFF2-40B4-BE49-F238E27FC236}">
                <a16:creationId xmlns:a16="http://schemas.microsoft.com/office/drawing/2014/main" id="{202D1F85-EF10-472D-989F-917435E261B1}"/>
              </a:ext>
            </a:extLst>
          </p:cNvPr>
          <p:cNvSpPr>
            <a:spLocks xmlns:a="http://schemas.openxmlformats.org/drawingml/2006/main" noGrp="1"/>
          </p:cNvSpPr>
          <p:nvPr/>
        </p:nvSpPr>
        <p:spPr>
          <a:xfrm xmlns:a="http://schemas.openxmlformats.org/drawingml/2006/main">
            <a:off x="571500" y="6010275"/>
            <a:ext cx="14097000" cy="0"/>
          </a:xfrm>
          <a:prstGeom xmlns:a="http://schemas.openxmlformats.org/drawingml/2006/main" prst="line">
            <a:avLst/>
          </a:prstGeom>
          <a:ln xmlns:a="http://schemas.openxmlformats.org/drawingml/2006/main" w="19050">
            <a:solidFill>
              <a:srgbClr val="C6D2DB"/>
            </a:solidFill>
          </a:ln>
        </p:spPr>
      </p:sp>
      <p:sp>
        <p:nvSpPr>
          <p:cNvPr id="12" name="Bij een vaste prijs geldt hier ook P = GTK.">
            <a:extLst xmlns:a="http://schemas.openxmlformats.org/drawingml/2006/main">
              <a:ext uri="{FF2B5EF4-FFF2-40B4-BE49-F238E27FC236}">
                <a16:creationId xmlns:a16="http://schemas.microsoft.com/office/drawing/2014/main" id="{77FDBEAF-910F-403E-86E2-B960866C07B4}"/>
              </a:ext>
            </a:extLst>
          </p:cNvPr>
          <p:cNvSpPr>
            <a:spLocks xmlns:a="http://schemas.openxmlformats.org/drawingml/2006/main" noGrp="1"/>
          </p:cNvSpPr>
          <p:nvPr/>
        </p:nvSpPr>
        <p:spPr>
          <a:xfrm xmlns:a="http://schemas.openxmlformats.org/drawingml/2006/main">
            <a:off x="571500" y="65722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Bij een vaste prijs geldt hier ook P = GTK.</a:t>
            </a:r>
          </a:p>
        </p:txBody>
      </p:sp>
    </p:spTree>
    <p:extLst>
      <p:ext uri="{BB962C8B-B14F-4D97-AF65-F5344CB8AC3E}">
        <p14:creationId xmlns:p14="http://schemas.microsoft.com/office/powerpoint/2010/main" val="12258472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WafelWagen: break-even berekenen">
            <a:extLst xmlns:a="http://schemas.openxmlformats.org/drawingml/2006/main">
              <a:ext uri="{FF2B5EF4-FFF2-40B4-BE49-F238E27FC236}">
                <a16:creationId xmlns:a16="http://schemas.microsoft.com/office/drawing/2014/main" id="{2C0EAD17-1AEE-4B78-9636-460BFD767E2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WafelWagen: break-even berekenen</a:t>
            </a:r>
          </a:p>
        </p:txBody>
      </p:sp>
      <p:sp>
        <p:nvSpPr>
          <p:cNvPr id="2" name="">
            <a:extLst xmlns:a="http://schemas.openxmlformats.org/drawingml/2006/main">
              <a:ext uri="{FF2B5EF4-FFF2-40B4-BE49-F238E27FC236}">
                <a16:creationId xmlns:a16="http://schemas.microsoft.com/office/drawing/2014/main" id="{CEA02AC5-F4BC-467A-8EEF-C7CE75AC23C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1F8D75B8-3532-4080-A6BF-D06C5000199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6">
            <a:extLst xmlns:a="http://schemas.openxmlformats.org/drawingml/2006/main">
              <a:ext uri="{FF2B5EF4-FFF2-40B4-BE49-F238E27FC236}">
                <a16:creationId xmlns:a16="http://schemas.microsoft.com/office/drawing/2014/main" id="{E8D1A974-9C7B-43ED-ABF4-7FE1E1F8EE8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TO = TK">
            <a:extLst xmlns:a="http://schemas.openxmlformats.org/drawingml/2006/main">
              <a:ext uri="{FF2B5EF4-FFF2-40B4-BE49-F238E27FC236}">
                <a16:creationId xmlns:a16="http://schemas.microsoft.com/office/drawing/2014/main" id="{1F6F9A2D-7C08-49C5-A575-DA93D0449E86}"/>
              </a:ext>
            </a:extLst>
          </p:cNvPr>
          <p:cNvSpPr>
            <a:spLocks xmlns:a="http://schemas.openxmlformats.org/drawingml/2006/main" noGrp="1"/>
          </p:cNvSpPr>
          <p:nvPr/>
        </p:nvSpPr>
        <p:spPr>
          <a:xfrm xmlns:a="http://schemas.openxmlformats.org/drawingml/2006/main">
            <a:off x="571500" y="2047875"/>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TO = TK</a:t>
            </a:r>
          </a:p>
        </p:txBody>
      </p:sp>
      <p:sp>
        <p:nvSpPr>
          <p:cNvPr id="6" name="Opbrengst gelijk aan kosten">
            <a:extLst xmlns:a="http://schemas.openxmlformats.org/drawingml/2006/main">
              <a:ext uri="{FF2B5EF4-FFF2-40B4-BE49-F238E27FC236}">
                <a16:creationId xmlns:a16="http://schemas.microsoft.com/office/drawing/2014/main" id="{420EB196-723A-496C-8875-A1C56EE7FB7F}"/>
              </a:ext>
            </a:extLst>
          </p:cNvPr>
          <p:cNvSpPr>
            <a:spLocks xmlns:a="http://schemas.openxmlformats.org/drawingml/2006/main" noGrp="1"/>
          </p:cNvSpPr>
          <p:nvPr/>
        </p:nvSpPr>
        <p:spPr>
          <a:xfrm xmlns:a="http://schemas.openxmlformats.org/drawingml/2006/main">
            <a:off x="9715500" y="21050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Opbrengst gelijk aan kosten</a:t>
            </a:r>
          </a:p>
        </p:txBody>
      </p:sp>
      <p:sp>
        <p:nvSpPr>
          <p:cNvPr id="7" name="5Q = 250 + 2Q">
            <a:extLst xmlns:a="http://schemas.openxmlformats.org/drawingml/2006/main">
              <a:ext uri="{FF2B5EF4-FFF2-40B4-BE49-F238E27FC236}">
                <a16:creationId xmlns:a16="http://schemas.microsoft.com/office/drawing/2014/main" id="{B3CDE248-3E5E-4087-8835-18A3F9EABC25}"/>
              </a:ext>
            </a:extLst>
          </p:cNvPr>
          <p:cNvSpPr>
            <a:spLocks xmlns:a="http://schemas.openxmlformats.org/drawingml/2006/main" noGrp="1"/>
          </p:cNvSpPr>
          <p:nvPr/>
        </p:nvSpPr>
        <p:spPr>
          <a:xfrm xmlns:a="http://schemas.openxmlformats.org/drawingml/2006/main">
            <a:off x="571500" y="333375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5Q = 250 + 2Q</a:t>
            </a:r>
          </a:p>
        </p:txBody>
      </p:sp>
      <p:sp>
        <p:nvSpPr>
          <p:cNvPr id="8" name="Functies invullen">
            <a:extLst xmlns:a="http://schemas.openxmlformats.org/drawingml/2006/main">
              <a:ext uri="{FF2B5EF4-FFF2-40B4-BE49-F238E27FC236}">
                <a16:creationId xmlns:a16="http://schemas.microsoft.com/office/drawing/2014/main" id="{02FE985A-19F6-41E2-B01E-5B97A7A8AD3D}"/>
              </a:ext>
            </a:extLst>
          </p:cNvPr>
          <p:cNvSpPr>
            <a:spLocks xmlns:a="http://schemas.openxmlformats.org/drawingml/2006/main" noGrp="1"/>
          </p:cNvSpPr>
          <p:nvPr/>
        </p:nvSpPr>
        <p:spPr>
          <a:xfrm xmlns:a="http://schemas.openxmlformats.org/drawingml/2006/main">
            <a:off x="9715500" y="3390900"/>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Functies invullen</a:t>
            </a:r>
          </a:p>
        </p:txBody>
      </p:sp>
      <p:sp>
        <p:nvSpPr>
          <p:cNvPr id="9" name="3Q = 250">
            <a:extLst xmlns:a="http://schemas.openxmlformats.org/drawingml/2006/main">
              <a:ext uri="{FF2B5EF4-FFF2-40B4-BE49-F238E27FC236}">
                <a16:creationId xmlns:a16="http://schemas.microsoft.com/office/drawing/2014/main" id="{D64E72CB-0EB4-44D2-BC6F-A7250DD8CC8A}"/>
              </a:ext>
            </a:extLst>
          </p:cNvPr>
          <p:cNvSpPr>
            <a:spLocks xmlns:a="http://schemas.openxmlformats.org/drawingml/2006/main" noGrp="1"/>
          </p:cNvSpPr>
          <p:nvPr/>
        </p:nvSpPr>
        <p:spPr>
          <a:xfrm xmlns:a="http://schemas.openxmlformats.org/drawingml/2006/main">
            <a:off x="571500" y="4619625"/>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3Q = 250</a:t>
            </a:r>
          </a:p>
        </p:txBody>
      </p:sp>
      <p:sp>
        <p:nvSpPr>
          <p:cNvPr id="10" name="Aan beide kanten 2Q aftrekken">
            <a:extLst xmlns:a="http://schemas.openxmlformats.org/drawingml/2006/main">
              <a:ext uri="{FF2B5EF4-FFF2-40B4-BE49-F238E27FC236}">
                <a16:creationId xmlns:a16="http://schemas.microsoft.com/office/drawing/2014/main" id="{6F945EC2-C880-438D-8EDE-0D6CA592278A}"/>
              </a:ext>
            </a:extLst>
          </p:cNvPr>
          <p:cNvSpPr>
            <a:spLocks xmlns:a="http://schemas.openxmlformats.org/drawingml/2006/main" noGrp="1"/>
          </p:cNvSpPr>
          <p:nvPr/>
        </p:nvSpPr>
        <p:spPr>
          <a:xfrm xmlns:a="http://schemas.openxmlformats.org/drawingml/2006/main">
            <a:off x="9715500" y="46767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Aan beide kanten 2Q aftrekken</a:t>
            </a:r>
          </a:p>
        </p:txBody>
      </p:sp>
      <p:sp>
        <p:nvSpPr>
          <p:cNvPr id="11" name="Q = 250 / 3 = 83,333…">
            <a:extLst xmlns:a="http://schemas.openxmlformats.org/drawingml/2006/main">
              <a:ext uri="{FF2B5EF4-FFF2-40B4-BE49-F238E27FC236}">
                <a16:creationId xmlns:a16="http://schemas.microsoft.com/office/drawing/2014/main" id="{E6B2AA05-6E63-4912-B7A6-B1872FC8FE35}"/>
              </a:ext>
            </a:extLst>
          </p:cNvPr>
          <p:cNvSpPr>
            <a:spLocks xmlns:a="http://schemas.openxmlformats.org/drawingml/2006/main" noGrp="1"/>
          </p:cNvSpPr>
          <p:nvPr/>
        </p:nvSpPr>
        <p:spPr>
          <a:xfrm xmlns:a="http://schemas.openxmlformats.org/drawingml/2006/main">
            <a:off x="571500" y="59055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Q = 250 / 3 = 83,333…</a:t>
            </a:r>
          </a:p>
        </p:txBody>
      </p:sp>
      <p:sp>
        <p:nvSpPr>
          <p:cNvPr id="12" name="Delen door 3">
            <a:extLst xmlns:a="http://schemas.openxmlformats.org/drawingml/2006/main">
              <a:ext uri="{FF2B5EF4-FFF2-40B4-BE49-F238E27FC236}">
                <a16:creationId xmlns:a16="http://schemas.microsoft.com/office/drawing/2014/main" id="{F5A11345-E6CE-4984-8D5C-B10562C48C36}"/>
              </a:ext>
            </a:extLst>
          </p:cNvPr>
          <p:cNvSpPr>
            <a:spLocks xmlns:a="http://schemas.openxmlformats.org/drawingml/2006/main" noGrp="1"/>
          </p:cNvSpPr>
          <p:nvPr/>
        </p:nvSpPr>
        <p:spPr>
          <a:xfrm xmlns:a="http://schemas.openxmlformats.org/drawingml/2006/main">
            <a:off x="9715500" y="5962650"/>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Delen door 3</a:t>
            </a:r>
          </a:p>
        </p:txBody>
      </p:sp>
      <p:sp>
        <p:nvSpPr>
          <p:cNvPr id="13" name="Snijpunt: Q ≈ 83,33 wafels per dag">
            <a:extLst xmlns:a="http://schemas.openxmlformats.org/drawingml/2006/main">
              <a:ext uri="{FF2B5EF4-FFF2-40B4-BE49-F238E27FC236}">
                <a16:creationId xmlns:a16="http://schemas.microsoft.com/office/drawing/2014/main" id="{940EAD68-E0F1-4F88-AE53-96FC2EEAE9B5}"/>
              </a:ext>
            </a:extLst>
          </p:cNvPr>
          <p:cNvSpPr>
            <a:spLocks xmlns:a="http://schemas.openxmlformats.org/drawingml/2006/main" noGrp="1"/>
          </p:cNvSpPr>
          <p:nvPr/>
        </p:nvSpPr>
        <p:spPr>
          <a:xfrm xmlns:a="http://schemas.openxmlformats.org/drawingml/2006/main">
            <a:off x="571500" y="741997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Snijpunt: Q ≈ 83,33 wafels per dag</a:t>
            </a:r>
          </a:p>
        </p:txBody>
      </p:sp>
    </p:spTree>
    <p:extLst>
      <p:ext uri="{BB962C8B-B14F-4D97-AF65-F5344CB8AC3E}">
        <p14:creationId xmlns:p14="http://schemas.microsoft.com/office/powerpoint/2010/main" val="10205092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le wafels: het eerste aantal zonder verlies">
            <a:extLst xmlns:a="http://schemas.openxmlformats.org/drawingml/2006/main">
              <a:ext uri="{FF2B5EF4-FFF2-40B4-BE49-F238E27FC236}">
                <a16:creationId xmlns:a16="http://schemas.microsoft.com/office/drawing/2014/main" id="{A1CB931B-3F59-435C-88EB-32C730A12F1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Hele wafels: het eerste aantal zonder verlies</a:t>
            </a:r>
          </a:p>
        </p:txBody>
      </p:sp>
      <p:sp>
        <p:nvSpPr>
          <p:cNvPr id="2" name="">
            <a:extLst xmlns:a="http://schemas.openxmlformats.org/drawingml/2006/main">
              <a:ext uri="{FF2B5EF4-FFF2-40B4-BE49-F238E27FC236}">
                <a16:creationId xmlns:a16="http://schemas.microsoft.com/office/drawing/2014/main" id="{0C778F8B-85AC-4996-A3FF-DED851D42B0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BCE70FDB-4B7B-48DC-A844-02BCA39198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7">
            <a:extLst xmlns:a="http://schemas.openxmlformats.org/drawingml/2006/main">
              <a:ext uri="{FF2B5EF4-FFF2-40B4-BE49-F238E27FC236}">
                <a16:creationId xmlns:a16="http://schemas.microsoft.com/office/drawing/2014/main" id="{6C555CE5-4A33-4B56-A9AB-A4298EF5A44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De berekende grens ligt tussen 83 en 84 wafels per dag.">
            <a:extLst xmlns:a="http://schemas.openxmlformats.org/drawingml/2006/main">
              <a:ext uri="{FF2B5EF4-FFF2-40B4-BE49-F238E27FC236}">
                <a16:creationId xmlns:a16="http://schemas.microsoft.com/office/drawing/2014/main" id="{C6E998E0-4212-48F6-BC34-0DC0D56B4B78}"/>
              </a:ext>
            </a:extLst>
          </p:cNvPr>
          <p:cNvSpPr>
            <a:spLocks xmlns:a="http://schemas.openxmlformats.org/drawingml/2006/main" noGrp="1"/>
          </p:cNvSpPr>
          <p:nvPr/>
        </p:nvSpPr>
        <p:spPr>
          <a:xfrm xmlns:a="http://schemas.openxmlformats.org/drawingml/2006/main">
            <a:off x="571500" y="18002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berekende grens ligt tussen 83 en 84 wafels per dag.</a:t>
            </a:r>
          </a:p>
        </p:txBody>
      </p:sp>
      <p:graphicFrame>
        <p:nvGraphicFramePr>
          <p:cNvPr id="14" name=""/>
          <p:cNvGraphicFramePr/>
          <p:nvPr/>
        </p:nvGraphicFramePr>
        <p:xfrm>
          <a:off xmlns:a="http://schemas.openxmlformats.org/drawingml/2006/main" x="571500" y="3105150"/>
          <a:ext xmlns:a="http://schemas.openxmlformats.org/drawingml/2006/main" cx="14097000" cy="2809875"/>
        </p:xfrm>
        <a:graphic xmlns:a="http://schemas.openxmlformats.org/drawingml/2006/main">
          <a:graphicData uri="http://schemas.openxmlformats.org/drawingml/2006/table">
            <a:tbl>
              <a:tblPr/>
              <a:tblGrid>
                <a:gridCol w="3714750"/>
                <a:gridCol w="3429000"/>
                <a:gridCol w="3429000"/>
                <a:gridCol w="3524250"/>
              </a:tblGrid>
              <a:tr h="936625">
                <a:tc>
                  <a:txBody>
                    <a:bodyPr lIns="171450" tIns="95250" rIns="152400" bIns="95250"/>
                    <a:lstStyle/>
                    <a:p>
                      <a:r>
                        <a:rPr sz="2475" b="1">
                          <a:solidFill>
                            <a:srgbClr val="FFFFFF"/>
                          </a:solidFill>
                          <a:latin typeface="Arial"/>
                          <a:ea typeface="Arial"/>
                          <a:cs typeface="Arial"/>
                        </a:rPr>
                        <a:t>Q (wafels/dag)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TO (€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TK (€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Winst (€ per dag)</a:t>
                      </a:r>
                    </a:p>
                  </a:txBody>
                  <a:tcPr marL="91440" marR="91440" marT="45720" marB="45720" anchor="ctr">
                    <a:solidFill>
                      <a:srgbClr val="183247"/>
                    </a:solidFill>
                  </a:tcPr>
                </a:tc>
              </a:tr>
              <a:tr h="936625">
                <a:tc>
                  <a:txBody>
                    <a:bodyPr lIns="171450" tIns="95250" rIns="152400" bIns="95250"/>
                    <a:lstStyle/>
                    <a:p>
                      <a:r>
                        <a:rPr sz="2475" b="0">
                          <a:solidFill>
                            <a:srgbClr val="183247"/>
                          </a:solidFill>
                          <a:latin typeface="Arial"/>
                          <a:ea typeface="Arial"/>
                          <a:cs typeface="Arial"/>
                        </a:rPr>
                        <a:t>83</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415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416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a:t>
                      </a:r>
                    </a:p>
                  </a:txBody>
                  <a:tcPr marL="91440" marR="91440" marT="45720" marB="45720" anchor="ctr">
                    <a:solidFill>
                      <a:srgbClr val="FFFFFF"/>
                    </a:solidFill>
                  </a:tcPr>
                </a:tc>
              </a:tr>
              <a:tr h="936625">
                <a:tc>
                  <a:txBody>
                    <a:bodyPr lIns="171450" tIns="95250" rIns="152400" bIns="95250"/>
                    <a:lstStyle/>
                    <a:p>
                      <a:r>
                        <a:rPr sz="2475" b="0">
                          <a:solidFill>
                            <a:srgbClr val="183247"/>
                          </a:solidFill>
                          <a:latin typeface="Arial"/>
                          <a:ea typeface="Arial"/>
                          <a:cs typeface="Arial"/>
                        </a:rPr>
                        <a:t>84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420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418</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a:t>
                      </a:r>
                    </a:p>
                  </a:txBody>
                  <a:tcPr marL="91440" marR="91440" marT="45720" marB="45720" anchor="ctr">
                    <a:solidFill>
                      <a:srgbClr val="EFF4F7"/>
                    </a:solidFill>
                  </a:tcPr>
                </a:tc>
              </a:tr>
            </a:tbl>
          </a:graphicData>
        </a:graphic>
      </p:graphicFrame>
      <p:sp>
        <p:nvSpPr>
          <p:cNvPr id="7" name="84 wafels: € 2 winst per dag">
            <a:extLst xmlns:a="http://schemas.openxmlformats.org/drawingml/2006/main">
              <a:ext uri="{FF2B5EF4-FFF2-40B4-BE49-F238E27FC236}">
                <a16:creationId xmlns:a16="http://schemas.microsoft.com/office/drawing/2014/main" id="{54800DDA-8755-4D16-9D0A-FA832BA03FB9}"/>
              </a:ext>
            </a:extLst>
          </p:cNvPr>
          <p:cNvSpPr>
            <a:spLocks xmlns:a="http://schemas.openxmlformats.org/drawingml/2006/main" noGrp="1"/>
          </p:cNvSpPr>
          <p:nvPr/>
        </p:nvSpPr>
        <p:spPr>
          <a:xfrm xmlns:a="http://schemas.openxmlformats.org/drawingml/2006/main">
            <a:off x="571500" y="64579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84 wafels: € 2 winst per dag</a:t>
            </a:r>
          </a:p>
        </p:txBody>
      </p:sp>
      <p:sp>
        <p:nvSpPr>
          <p:cNvPr id="8" name="84 past binnen de capaciteit van 150 wafels per dag.">
            <a:extLst xmlns:a="http://schemas.openxmlformats.org/drawingml/2006/main">
              <a:ext uri="{FF2B5EF4-FFF2-40B4-BE49-F238E27FC236}">
                <a16:creationId xmlns:a16="http://schemas.microsoft.com/office/drawing/2014/main" id="{63F682D6-F5AF-470E-946F-CADF9F83A498}"/>
              </a:ext>
            </a:extLst>
          </p:cNvPr>
          <p:cNvSpPr>
            <a:spLocks xmlns:a="http://schemas.openxmlformats.org/drawingml/2006/main" noGrp="1"/>
          </p:cNvSpPr>
          <p:nvPr/>
        </p:nvSpPr>
        <p:spPr>
          <a:xfrm xmlns:a="http://schemas.openxmlformats.org/drawingml/2006/main">
            <a:off x="571500" y="747712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84 past binnen de capaciteit van 150 wafels per dag.</a:t>
            </a:r>
          </a:p>
        </p:txBody>
      </p:sp>
    </p:spTree>
    <p:extLst>
      <p:ext uri="{BB962C8B-B14F-4D97-AF65-F5344CB8AC3E}">
        <p14:creationId xmlns:p14="http://schemas.microsoft.com/office/powerpoint/2010/main" val="5494980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punten bepalen iedere rechte lijn">
            <a:extLst xmlns:a="http://schemas.openxmlformats.org/drawingml/2006/main">
              <a:ext uri="{FF2B5EF4-FFF2-40B4-BE49-F238E27FC236}">
                <a16:creationId xmlns:a16="http://schemas.microsoft.com/office/drawing/2014/main" id="{8CE3E3FE-A96B-4ABE-8DB7-DB6697BB296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Twee punten bepalen iedere rechte lijn</a:t>
            </a:r>
          </a:p>
        </p:txBody>
      </p:sp>
      <p:sp>
        <p:nvSpPr>
          <p:cNvPr id="2" name="">
            <a:extLst xmlns:a="http://schemas.openxmlformats.org/drawingml/2006/main">
              <a:ext uri="{FF2B5EF4-FFF2-40B4-BE49-F238E27FC236}">
                <a16:creationId xmlns:a16="http://schemas.microsoft.com/office/drawing/2014/main" id="{995AF81D-225A-4825-9A8E-1588442978F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53C809CE-6905-4F1C-AC76-996030BADD4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8">
            <a:extLst xmlns:a="http://schemas.openxmlformats.org/drawingml/2006/main">
              <a:ext uri="{FF2B5EF4-FFF2-40B4-BE49-F238E27FC236}">
                <a16:creationId xmlns:a16="http://schemas.microsoft.com/office/drawing/2014/main" id="{662FB6CA-4903-48BB-90A8-824E9A918F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WafelWagen: een punt is (Q; bedrag).">
            <a:extLst xmlns:a="http://schemas.openxmlformats.org/drawingml/2006/main">
              <a:ext uri="{FF2B5EF4-FFF2-40B4-BE49-F238E27FC236}">
                <a16:creationId xmlns:a16="http://schemas.microsoft.com/office/drawing/2014/main" id="{9084B4E3-34B5-4DD8-9603-B60545324F76}"/>
              </a:ext>
            </a:extLst>
          </p:cNvPr>
          <p:cNvSpPr>
            <a:spLocks xmlns:a="http://schemas.openxmlformats.org/drawingml/2006/main" noGrp="1"/>
          </p:cNvSpPr>
          <p:nvPr/>
        </p:nvSpPr>
        <p:spPr>
          <a:xfrm xmlns:a="http://schemas.openxmlformats.org/drawingml/2006/main">
            <a:off x="571500" y="1809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WafelWagen: een punt is (Q; bedrag).</a:t>
            </a:r>
          </a:p>
        </p:txBody>
      </p:sp>
      <p:graphicFrame>
        <p:nvGraphicFramePr>
          <p:cNvPr id="14" name=""/>
          <p:cNvGraphicFramePr/>
          <p:nvPr/>
        </p:nvGraphicFramePr>
        <p:xfrm>
          <a:off xmlns:a="http://schemas.openxmlformats.org/drawingml/2006/main" x="571500" y="3067050"/>
          <a:ext xmlns:a="http://schemas.openxmlformats.org/drawingml/2006/main" cx="14097000" cy="2809875"/>
        </p:xfrm>
        <a:graphic xmlns:a="http://schemas.openxmlformats.org/drawingml/2006/main">
          <a:graphicData uri="http://schemas.openxmlformats.org/drawingml/2006/table">
            <a:tbl>
              <a:tblPr/>
              <a:tblGrid>
                <a:gridCol w="6096000"/>
                <a:gridCol w="4000500"/>
                <a:gridCol w="4000500"/>
              </a:tblGrid>
              <a:tr h="936625">
                <a:tc>
                  <a:txBody>
                    <a:bodyPr lIns="171450" tIns="95250" rIns="152400" bIns="95250"/>
                    <a:lstStyle/>
                    <a:p>
                      <a:r>
                        <a:rPr sz="2625" b="1">
                          <a:solidFill>
                            <a:srgbClr val="FFFFFF"/>
                          </a:solidFill>
                          <a:latin typeface="Arial"/>
                          <a:ea typeface="Arial"/>
                          <a:cs typeface="Arial"/>
                        </a:rPr>
                        <a:t>Lijn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Punt bij Q = 0</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Punt bij Q = 100</a:t>
                      </a:r>
                    </a:p>
                  </a:txBody>
                  <a:tcPr marL="91440" marR="91440" marT="45720" marB="45720" anchor="ctr">
                    <a:solidFill>
                      <a:srgbClr val="183247"/>
                    </a:solidFill>
                  </a:tcPr>
                </a:tc>
              </a:tr>
              <a:tr h="936625">
                <a:tc>
                  <a:txBody>
                    <a:bodyPr lIns="171450" tIns="95250" rIns="152400" bIns="95250"/>
                    <a:lstStyle/>
                    <a:p>
                      <a:r>
                        <a:rPr sz="2625" b="0">
                          <a:solidFill>
                            <a:srgbClr val="183247"/>
                          </a:solidFill>
                          <a:latin typeface="Arial"/>
                          <a:ea typeface="Arial"/>
                          <a:cs typeface="Arial"/>
                        </a:rPr>
                        <a:t>TK = 250 + 2Q</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 250)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(100; 450)</a:t>
                      </a:r>
                    </a:p>
                  </a:txBody>
                  <a:tcPr marL="91440" marR="91440" marT="45720" marB="45720" anchor="ctr">
                    <a:solidFill>
                      <a:srgbClr val="FFFFFF"/>
                    </a:solidFill>
                  </a:tcPr>
                </a:tc>
              </a:tr>
              <a:tr h="936625">
                <a:tc>
                  <a:txBody>
                    <a:bodyPr lIns="171450" tIns="95250" rIns="152400" bIns="95250"/>
                    <a:lstStyle/>
                    <a:p>
                      <a:r>
                        <a:rPr sz="2625" b="0">
                          <a:solidFill>
                            <a:srgbClr val="183247"/>
                          </a:solidFill>
                          <a:latin typeface="Arial"/>
                          <a:ea typeface="Arial"/>
                          <a:cs typeface="Arial"/>
                        </a:rPr>
                        <a:t>TO = 5Q</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(0; 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(100; 500)</a:t>
                      </a:r>
                    </a:p>
                  </a:txBody>
                  <a:tcPr marL="91440" marR="91440" marT="45720" marB="45720" anchor="ctr">
                    <a:solidFill>
                      <a:srgbClr val="EFF4F7"/>
                    </a:solidFill>
                  </a:tcPr>
                </a:tc>
              </a:tr>
            </a:tbl>
          </a:graphicData>
        </a:graphic>
      </p:graphicFrame>
      <p:sp>
        <p:nvSpPr>
          <p:cNvPr id="7" name="Horizontaal: Q, wafels per dag">
            <a:extLst xmlns:a="http://schemas.openxmlformats.org/drawingml/2006/main">
              <a:ext uri="{FF2B5EF4-FFF2-40B4-BE49-F238E27FC236}">
                <a16:creationId xmlns:a16="http://schemas.microsoft.com/office/drawing/2014/main" id="{27B88A64-558E-408D-8CCC-6302D3AA9EB9}"/>
              </a:ext>
            </a:extLst>
          </p:cNvPr>
          <p:cNvSpPr>
            <a:spLocks xmlns:a="http://schemas.openxmlformats.org/drawingml/2006/main" noGrp="1"/>
          </p:cNvSpPr>
          <p:nvPr/>
        </p:nvSpPr>
        <p:spPr>
          <a:xfrm xmlns:a="http://schemas.openxmlformats.org/drawingml/2006/main">
            <a:off x="571500" y="65436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Horizontaal: Q, wafels per dag</a:t>
            </a:r>
          </a:p>
        </p:txBody>
      </p:sp>
      <p:sp>
        <p:nvSpPr>
          <p:cNvPr id="8" name="Verticaal: TO en TK, euro per dag">
            <a:extLst xmlns:a="http://schemas.openxmlformats.org/drawingml/2006/main">
              <a:ext uri="{FF2B5EF4-FFF2-40B4-BE49-F238E27FC236}">
                <a16:creationId xmlns:a16="http://schemas.microsoft.com/office/drawing/2014/main" id="{698095E4-591B-42CD-A5C6-2162A0495451}"/>
              </a:ext>
            </a:extLst>
          </p:cNvPr>
          <p:cNvSpPr>
            <a:spLocks xmlns:a="http://schemas.openxmlformats.org/drawingml/2006/main" noGrp="1"/>
          </p:cNvSpPr>
          <p:nvPr/>
        </p:nvSpPr>
        <p:spPr>
          <a:xfrm xmlns:a="http://schemas.openxmlformats.org/drawingml/2006/main">
            <a:off x="571500" y="73342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Verticaal: TO en TK, euro per dag</a:t>
            </a:r>
          </a:p>
        </p:txBody>
      </p:sp>
    </p:spTree>
    <p:extLst>
      <p:ext uri="{BB962C8B-B14F-4D97-AF65-F5344CB8AC3E}">
        <p14:creationId xmlns:p14="http://schemas.microsoft.com/office/powerpoint/2010/main" val="17194477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afelWagen: de kostenlijn">
            <a:extLst xmlns:a="http://schemas.openxmlformats.org/drawingml/2006/main">
              <a:ext uri="{FF2B5EF4-FFF2-40B4-BE49-F238E27FC236}">
                <a16:creationId xmlns:a16="http://schemas.microsoft.com/office/drawing/2014/main" id="{AFAF3279-F793-404F-8FE6-2069525DE55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WafelWagen: de kostenlijn</a:t>
            </a:r>
          </a:p>
        </p:txBody>
      </p:sp>
      <p:sp>
        <p:nvSpPr>
          <p:cNvPr id="2" name="">
            <a:extLst xmlns:a="http://schemas.openxmlformats.org/drawingml/2006/main">
              <a:ext uri="{FF2B5EF4-FFF2-40B4-BE49-F238E27FC236}">
                <a16:creationId xmlns:a16="http://schemas.microsoft.com/office/drawing/2014/main" id="{44E17150-9DDA-4D22-B8BD-AF21EA1567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F15800F3-26E8-4DD7-9363-DF2D2E893C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9">
            <a:extLst xmlns:a="http://schemas.openxmlformats.org/drawingml/2006/main">
              <a:ext uri="{FF2B5EF4-FFF2-40B4-BE49-F238E27FC236}">
                <a16:creationId xmlns:a16="http://schemas.microsoft.com/office/drawing/2014/main" id="{7BD34B80-F99E-4F96-8CC8-3E967083AB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021e7c9a78ac47b8"/>
          </a:graphicData>
        </a:graphic>
      </p:graphicFrame>
      <p:sp>
        <p:nvSpPr>
          <p:cNvPr id="6" name="TK = 250 + 2Q">
            <a:extLst xmlns:a="http://schemas.openxmlformats.org/drawingml/2006/main">
              <a:ext uri="{FF2B5EF4-FFF2-40B4-BE49-F238E27FC236}">
                <a16:creationId xmlns:a16="http://schemas.microsoft.com/office/drawing/2014/main" id="{E4FC04FC-FD0E-4F63-8E68-6799E49C090C}"/>
              </a:ext>
            </a:extLst>
          </p:cNvPr>
          <p:cNvSpPr>
            <a:spLocks xmlns:a="http://schemas.openxmlformats.org/drawingml/2006/main" noGrp="1"/>
          </p:cNvSpPr>
          <p:nvPr/>
        </p:nvSpPr>
        <p:spPr>
          <a:xfrm xmlns:a="http://schemas.openxmlformats.org/drawingml/2006/main">
            <a:off x="10858500" y="24003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TK = 250 + 2Q</a:t>
            </a:r>
          </a:p>
        </p:txBody>
      </p:sp>
      <p:sp>
        <p:nvSpPr>
          <p:cNvPr id="7" name="Bij Q = 0:&#10;€ 250 kosten.">
            <a:extLst xmlns:a="http://schemas.openxmlformats.org/drawingml/2006/main">
              <a:ext uri="{FF2B5EF4-FFF2-40B4-BE49-F238E27FC236}">
                <a16:creationId xmlns:a16="http://schemas.microsoft.com/office/drawing/2014/main" id="{59A6CB11-27A7-46D0-8C0F-766AECCF724F}"/>
              </a:ext>
            </a:extLst>
          </p:cNvPr>
          <p:cNvSpPr>
            <a:spLocks xmlns:a="http://schemas.openxmlformats.org/drawingml/2006/main" noGrp="1"/>
          </p:cNvSpPr>
          <p:nvPr/>
        </p:nvSpPr>
        <p:spPr>
          <a:xfrm xmlns:a="http://schemas.openxmlformats.org/drawingml/2006/main">
            <a:off x="10858500" y="3695700"/>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€ 250 kosten.</a:t>
            </a:r>
          </a:p>
        </p:txBody>
      </p:sp>
      <p:sp>
        <p:nvSpPr>
          <p:cNvPr id="8" name="Capaciteit:&#10;150 wafels&#10;per dag">
            <a:extLst xmlns:a="http://schemas.openxmlformats.org/drawingml/2006/main">
              <a:ext uri="{FF2B5EF4-FFF2-40B4-BE49-F238E27FC236}">
                <a16:creationId xmlns:a16="http://schemas.microsoft.com/office/drawing/2014/main" id="{22B9504A-9B0A-455C-BF2E-8A2DB34DD8C3}"/>
              </a:ext>
            </a:extLst>
          </p:cNvPr>
          <p:cNvSpPr>
            <a:spLocks xmlns:a="http://schemas.openxmlformats.org/drawingml/2006/main" noGrp="1"/>
          </p:cNvSpPr>
          <p:nvPr/>
        </p:nvSpPr>
        <p:spPr>
          <a:xfrm xmlns:a="http://schemas.openxmlformats.org/drawingml/2006/main">
            <a:off x="10858500" y="5991225"/>
            <a:ext cx="38100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Capaciteit:</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150 wafels</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per dag</a:t>
            </a:r>
          </a:p>
        </p:txBody>
      </p:sp>
    </p:spTree>
    <p:extLst>
      <p:ext uri="{BB962C8B-B14F-4D97-AF65-F5344CB8AC3E}">
        <p14:creationId xmlns:p14="http://schemas.microsoft.com/office/powerpoint/2010/main" val="5223942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afelWagen: opbrengst en break-even">
            <a:extLst xmlns:a="http://schemas.openxmlformats.org/drawingml/2006/main">
              <a:ext uri="{FF2B5EF4-FFF2-40B4-BE49-F238E27FC236}">
                <a16:creationId xmlns:a16="http://schemas.microsoft.com/office/drawing/2014/main" id="{AD8FA54D-131E-42E5-880E-950B1DD6FB3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WafelWagen: opbrengst en break-even</a:t>
            </a:r>
          </a:p>
        </p:txBody>
      </p:sp>
      <p:sp>
        <p:nvSpPr>
          <p:cNvPr id="2" name="">
            <a:extLst xmlns:a="http://schemas.openxmlformats.org/drawingml/2006/main">
              <a:ext uri="{FF2B5EF4-FFF2-40B4-BE49-F238E27FC236}">
                <a16:creationId xmlns:a16="http://schemas.microsoft.com/office/drawing/2014/main" id="{D2927D41-5F6B-4425-8574-22E3538C7A2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9D63CA3E-AA1D-41A2-84EA-878391DA87D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0">
            <a:extLst xmlns:a="http://schemas.openxmlformats.org/drawingml/2006/main">
              <a:ext uri="{FF2B5EF4-FFF2-40B4-BE49-F238E27FC236}">
                <a16:creationId xmlns:a16="http://schemas.microsoft.com/office/drawing/2014/main" id="{617104F9-3429-4BB8-A1D8-0CA5A03266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3fd031c70237407f"/>
          </a:graphicData>
        </a:graphic>
      </p:graphicFrame>
      <p:sp>
        <p:nvSpPr>
          <p:cNvPr id="6" name="Break-even">
            <a:extLst xmlns:a="http://schemas.openxmlformats.org/drawingml/2006/main">
              <a:ext uri="{FF2B5EF4-FFF2-40B4-BE49-F238E27FC236}">
                <a16:creationId xmlns:a16="http://schemas.microsoft.com/office/drawing/2014/main" id="{1FB4914F-204A-47CF-A701-F53FD80D8EF3}"/>
              </a:ext>
            </a:extLst>
          </p:cNvPr>
          <p:cNvSpPr>
            <a:spLocks xmlns:a="http://schemas.openxmlformats.org/drawingml/2006/main" noGrp="1"/>
          </p:cNvSpPr>
          <p:nvPr/>
        </p:nvSpPr>
        <p:spPr>
          <a:xfrm xmlns:a="http://schemas.openxmlformats.org/drawingml/2006/main">
            <a:off x="10858500" y="24003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Break-even</a:t>
            </a:r>
          </a:p>
        </p:txBody>
      </p:sp>
      <p:sp>
        <p:nvSpPr>
          <p:cNvPr id="7" name="Q ≈ 83,33&#10;TO = TK&#10;≈ € 416,67">
            <a:extLst xmlns:a="http://schemas.openxmlformats.org/drawingml/2006/main">
              <a:ext uri="{FF2B5EF4-FFF2-40B4-BE49-F238E27FC236}">
                <a16:creationId xmlns:a16="http://schemas.microsoft.com/office/drawing/2014/main" id="{7F144421-E35E-47AB-AEC1-545026A4480D}"/>
              </a:ext>
            </a:extLst>
          </p:cNvPr>
          <p:cNvSpPr>
            <a:spLocks xmlns:a="http://schemas.openxmlformats.org/drawingml/2006/main" noGrp="1"/>
          </p:cNvSpPr>
          <p:nvPr/>
        </p:nvSpPr>
        <p:spPr>
          <a:xfrm xmlns:a="http://schemas.openxmlformats.org/drawingml/2006/main">
            <a:off x="10858500" y="331470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83,33</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 = TK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€ 416,67</a:t>
            </a:r>
          </a:p>
        </p:txBody>
      </p:sp>
      <p:sp>
        <p:nvSpPr>
          <p:cNvPr id="8" name="Links: verlies&#10;TO &lt; TK&#10;&#10;Rechts: winst&#10;TO &gt; TK">
            <a:extLst xmlns:a="http://schemas.openxmlformats.org/drawingml/2006/main">
              <a:ext uri="{FF2B5EF4-FFF2-40B4-BE49-F238E27FC236}">
                <a16:creationId xmlns:a16="http://schemas.microsoft.com/office/drawing/2014/main" id="{F2CA39D8-836B-478C-9F18-F60252ECFC9D}"/>
              </a:ext>
            </a:extLst>
          </p:cNvPr>
          <p:cNvSpPr>
            <a:spLocks xmlns:a="http://schemas.openxmlformats.org/drawingml/2006/main" noGrp="1"/>
          </p:cNvSpPr>
          <p:nvPr/>
        </p:nvSpPr>
        <p:spPr>
          <a:xfrm xmlns:a="http://schemas.openxmlformats.org/drawingml/2006/main">
            <a:off x="10858500" y="5610225"/>
            <a:ext cx="381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Links: verlies</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TO &lt; TK</a:t>
            </a:r>
          </a:p>
          <a:p xmlns:a="http://schemas.openxmlformats.org/drawingml/2006/main">
            <a:r>
              <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Rechts: winst</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TO &gt; TK</a:t>
            </a:r>
          </a:p>
        </p:txBody>
      </p:sp>
    </p:spTree>
    <p:extLst>
      <p:ext uri="{BB962C8B-B14F-4D97-AF65-F5344CB8AC3E}">
        <p14:creationId xmlns:p14="http://schemas.microsoft.com/office/powerpoint/2010/main" val="3427875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afelWagen: winst en verlies aflezen">
            <a:extLst xmlns:a="http://schemas.openxmlformats.org/drawingml/2006/main">
              <a:ext uri="{FF2B5EF4-FFF2-40B4-BE49-F238E27FC236}">
                <a16:creationId xmlns:a16="http://schemas.microsoft.com/office/drawing/2014/main" id="{AA73B4F9-E095-4D9E-9B1A-3CB2A16CA1E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WafelWagen: winst en verlies aflezen</a:t>
            </a:r>
          </a:p>
        </p:txBody>
      </p:sp>
      <p:sp>
        <p:nvSpPr>
          <p:cNvPr id="2" name="">
            <a:extLst xmlns:a="http://schemas.openxmlformats.org/drawingml/2006/main">
              <a:ext uri="{FF2B5EF4-FFF2-40B4-BE49-F238E27FC236}">
                <a16:creationId xmlns:a16="http://schemas.microsoft.com/office/drawing/2014/main" id="{F65073D2-9B38-4635-9F60-083556C727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BCD2779C-554B-4F83-8ADC-66BE2D17DAA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1">
            <a:extLst xmlns:a="http://schemas.openxmlformats.org/drawingml/2006/main">
              <a:ext uri="{FF2B5EF4-FFF2-40B4-BE49-F238E27FC236}">
                <a16:creationId xmlns:a16="http://schemas.microsoft.com/office/drawing/2014/main" id="{C358FDA3-7DDD-4904-99F3-74461A06FE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911596b180dd489e"/>
          </a:graphicData>
        </a:graphic>
      </p:graphicFrame>
      <p:sp>
        <p:nvSpPr>
          <p:cNvPr id="6" name="Bij Q = 100">
            <a:extLst xmlns:a="http://schemas.openxmlformats.org/drawingml/2006/main">
              <a:ext uri="{FF2B5EF4-FFF2-40B4-BE49-F238E27FC236}">
                <a16:creationId xmlns:a16="http://schemas.microsoft.com/office/drawing/2014/main" id="{66631E29-AE83-4D12-A2B7-0485CE5A717D}"/>
              </a:ext>
            </a:extLst>
          </p:cNvPr>
          <p:cNvSpPr>
            <a:spLocks xmlns:a="http://schemas.openxmlformats.org/drawingml/2006/main" noGrp="1"/>
          </p:cNvSpPr>
          <p:nvPr/>
        </p:nvSpPr>
        <p:spPr>
          <a:xfrm xmlns:a="http://schemas.openxmlformats.org/drawingml/2006/main">
            <a:off x="10858500" y="2400300"/>
            <a:ext cx="3810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Bij Q = 100</a:t>
            </a:r>
          </a:p>
        </p:txBody>
      </p:sp>
      <p:sp>
        <p:nvSpPr>
          <p:cNvPr id="7" name="TO = € 500&#10;TK = € 450&#10;Winst = € 50">
            <a:extLst xmlns:a="http://schemas.openxmlformats.org/drawingml/2006/main">
              <a:ext uri="{FF2B5EF4-FFF2-40B4-BE49-F238E27FC236}">
                <a16:creationId xmlns:a16="http://schemas.microsoft.com/office/drawing/2014/main" id="{6B88BEB8-8C02-476E-87E9-C9184A3CE3C7}"/>
              </a:ext>
            </a:extLst>
          </p:cNvPr>
          <p:cNvSpPr>
            <a:spLocks xmlns:a="http://schemas.openxmlformats.org/drawingml/2006/main" noGrp="1"/>
          </p:cNvSpPr>
          <p:nvPr/>
        </p:nvSpPr>
        <p:spPr>
          <a:xfrm xmlns:a="http://schemas.openxmlformats.org/drawingml/2006/main">
            <a:off x="10858500" y="3248025"/>
            <a:ext cx="3810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TO = € 500</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TK = € 450</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Winst = € 50</a:t>
            </a:r>
          </a:p>
        </p:txBody>
      </p:sp>
      <p:sp>
        <p:nvSpPr>
          <p:cNvPr id="8" name="Bij Q = 50:&#10;€ 250 − € 350&#10;= −€ 100 per dag.">
            <a:extLst xmlns:a="http://schemas.openxmlformats.org/drawingml/2006/main">
              <a:ext uri="{FF2B5EF4-FFF2-40B4-BE49-F238E27FC236}">
                <a16:creationId xmlns:a16="http://schemas.microsoft.com/office/drawing/2014/main" id="{31C9E123-1FCA-43B7-AAA3-B83438C08EF9}"/>
              </a:ext>
            </a:extLst>
          </p:cNvPr>
          <p:cNvSpPr>
            <a:spLocks xmlns:a="http://schemas.openxmlformats.org/drawingml/2006/main" noGrp="1"/>
          </p:cNvSpPr>
          <p:nvPr/>
        </p:nvSpPr>
        <p:spPr>
          <a:xfrm xmlns:a="http://schemas.openxmlformats.org/drawingml/2006/main">
            <a:off x="10858500" y="5800725"/>
            <a:ext cx="3810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Bij Q = 50: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€ 250 − € 350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 −€ 100 per dag.</a:t>
            </a:r>
          </a:p>
        </p:txBody>
      </p:sp>
    </p:spTree>
    <p:extLst>
      <p:ext uri="{BB962C8B-B14F-4D97-AF65-F5344CB8AC3E}">
        <p14:creationId xmlns:p14="http://schemas.microsoft.com/office/powerpoint/2010/main" val="7555354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Korte controle: 84 wafels">
            <a:extLst xmlns:a="http://schemas.openxmlformats.org/drawingml/2006/main">
              <a:ext uri="{FF2B5EF4-FFF2-40B4-BE49-F238E27FC236}">
                <a16:creationId xmlns:a16="http://schemas.microsoft.com/office/drawing/2014/main" id="{90FFF796-2310-47E2-9009-F3B4F0DEA17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84 wafels</a:t>
            </a:r>
          </a:p>
        </p:txBody>
      </p:sp>
      <p:sp>
        <p:nvSpPr>
          <p:cNvPr id="2" name="">
            <a:extLst xmlns:a="http://schemas.openxmlformats.org/drawingml/2006/main">
              <a:ext uri="{FF2B5EF4-FFF2-40B4-BE49-F238E27FC236}">
                <a16:creationId xmlns:a16="http://schemas.microsoft.com/office/drawing/2014/main" id="{1492638A-32F0-479F-81F7-B0F52DCD0D6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76E6F673-A4CB-4738-BBB9-D1004D52E73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2">
            <a:extLst xmlns:a="http://schemas.openxmlformats.org/drawingml/2006/main">
              <a:ext uri="{FF2B5EF4-FFF2-40B4-BE49-F238E27FC236}">
                <a16:creationId xmlns:a16="http://schemas.microsoft.com/office/drawing/2014/main" id="{76D7B728-B96B-47E2-8CA4-B111BF84980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Bij 84 wafels is WafelWagen precies break-even.”">
            <a:extLst xmlns:a="http://schemas.openxmlformats.org/drawingml/2006/main">
              <a:ext uri="{FF2B5EF4-FFF2-40B4-BE49-F238E27FC236}">
                <a16:creationId xmlns:a16="http://schemas.microsoft.com/office/drawing/2014/main" id="{03D5B004-258E-4712-BBF0-35C5637D6DEF}"/>
              </a:ext>
            </a:extLst>
          </p:cNvPr>
          <p:cNvSpPr>
            <a:spLocks xmlns:a="http://schemas.openxmlformats.org/drawingml/2006/main" noGrp="1"/>
          </p:cNvSpPr>
          <p:nvPr/>
        </p:nvSpPr>
        <p:spPr>
          <a:xfrm xmlns:a="http://schemas.openxmlformats.org/drawingml/2006/main">
            <a:off x="571500" y="2047875"/>
            <a:ext cx="1409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“Bij 84 wafels is WafelWagen precies break-even.”</a:t>
            </a:r>
          </a:p>
        </p:txBody>
      </p:sp>
      <p:sp>
        <p:nvSpPr>
          <p:cNvPr id="6" name="Klopt dit?&#10;Gebruik TO en TK om je antwoord uit te leggen.">
            <a:extLst xmlns:a="http://schemas.openxmlformats.org/drawingml/2006/main">
              <a:ext uri="{FF2B5EF4-FFF2-40B4-BE49-F238E27FC236}">
                <a16:creationId xmlns:a16="http://schemas.microsoft.com/office/drawing/2014/main" id="{FFFF4D5E-DE64-4DDA-A71F-9920E926CB27}"/>
              </a:ext>
            </a:extLst>
          </p:cNvPr>
          <p:cNvSpPr>
            <a:spLocks xmlns:a="http://schemas.openxmlformats.org/drawingml/2006/main" noGrp="1"/>
          </p:cNvSpPr>
          <p:nvPr/>
        </p:nvSpPr>
        <p:spPr>
          <a:xfrm xmlns:a="http://schemas.openxmlformats.org/drawingml/2006/main">
            <a:off x="571500" y="461962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Klopt dit?</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Gebruik TO en TK om je antwoord uit te leggen.</a:t>
            </a:r>
          </a:p>
        </p:txBody>
      </p:sp>
    </p:spTree>
    <p:extLst>
      <p:ext uri="{BB962C8B-B14F-4D97-AF65-F5344CB8AC3E}">
        <p14:creationId xmlns:p14="http://schemas.microsoft.com/office/powerpoint/2010/main" val="1191774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ontrole: 84 wafels">
            <a:extLst xmlns:a="http://schemas.openxmlformats.org/drawingml/2006/main">
              <a:ext uri="{FF2B5EF4-FFF2-40B4-BE49-F238E27FC236}">
                <a16:creationId xmlns:a16="http://schemas.microsoft.com/office/drawing/2014/main" id="{135AEF4E-F965-4B78-B61B-3722B892ED9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84 wafels</a:t>
            </a:r>
          </a:p>
        </p:txBody>
      </p:sp>
      <p:sp>
        <p:nvSpPr>
          <p:cNvPr id="2" name="">
            <a:extLst xmlns:a="http://schemas.openxmlformats.org/drawingml/2006/main">
              <a:ext uri="{FF2B5EF4-FFF2-40B4-BE49-F238E27FC236}">
                <a16:creationId xmlns:a16="http://schemas.microsoft.com/office/drawing/2014/main" id="{E22D3773-8A66-42E8-B821-925F6C6CCB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DC550D16-05F7-4540-BC52-768DBE0F241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3">
            <a:extLst xmlns:a="http://schemas.openxmlformats.org/drawingml/2006/main">
              <a:ext uri="{FF2B5EF4-FFF2-40B4-BE49-F238E27FC236}">
                <a16:creationId xmlns:a16="http://schemas.microsoft.com/office/drawing/2014/main" id="{D279382D-8153-4390-9FE8-46560DAAB8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Bij 84 wafels is WafelWagen precies break-even.”">
            <a:extLst xmlns:a="http://schemas.openxmlformats.org/drawingml/2006/main">
              <a:ext uri="{FF2B5EF4-FFF2-40B4-BE49-F238E27FC236}">
                <a16:creationId xmlns:a16="http://schemas.microsoft.com/office/drawing/2014/main" id="{17FEF159-95EA-4087-BC56-FE0CD2945246}"/>
              </a:ext>
            </a:extLst>
          </p:cNvPr>
          <p:cNvSpPr>
            <a:spLocks xmlns:a="http://schemas.openxmlformats.org/drawingml/2006/main" noGrp="1"/>
          </p:cNvSpPr>
          <p:nvPr/>
        </p:nvSpPr>
        <p:spPr>
          <a:xfrm xmlns:a="http://schemas.openxmlformats.org/drawingml/2006/main">
            <a:off x="571500" y="2047875"/>
            <a:ext cx="1409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“Bij 84 wafels is WafelWagen precies break-even.”</a:t>
            </a:r>
          </a:p>
        </p:txBody>
      </p:sp>
      <p:sp>
        <p:nvSpPr>
          <p:cNvPr id="6" name="TO = 5 × 84 = € 420 per dag">
            <a:extLst xmlns:a="http://schemas.openxmlformats.org/drawingml/2006/main">
              <a:ext uri="{FF2B5EF4-FFF2-40B4-BE49-F238E27FC236}">
                <a16:creationId xmlns:a16="http://schemas.microsoft.com/office/drawing/2014/main" id="{63FA3B58-35E1-4A3B-A0FE-571D20325F11}"/>
              </a:ext>
            </a:extLst>
          </p:cNvPr>
          <p:cNvSpPr>
            <a:spLocks xmlns:a="http://schemas.openxmlformats.org/drawingml/2006/main" noGrp="1"/>
          </p:cNvSpPr>
          <p:nvPr/>
        </p:nvSpPr>
        <p:spPr>
          <a:xfrm xmlns:a="http://schemas.openxmlformats.org/drawingml/2006/main">
            <a:off x="571500" y="42005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TO = 5 × 84 = € 420 per dag</a:t>
            </a:r>
          </a:p>
        </p:txBody>
      </p:sp>
      <p:sp>
        <p:nvSpPr>
          <p:cNvPr id="7" name="TK = 250 + 2 × 84 = € 418 per dag">
            <a:extLst xmlns:a="http://schemas.openxmlformats.org/drawingml/2006/main">
              <a:ext uri="{FF2B5EF4-FFF2-40B4-BE49-F238E27FC236}">
                <a16:creationId xmlns:a16="http://schemas.microsoft.com/office/drawing/2014/main" id="{1E7E19CD-D752-4DE2-A225-F017B4ED1843}"/>
              </a:ext>
            </a:extLst>
          </p:cNvPr>
          <p:cNvSpPr>
            <a:spLocks xmlns:a="http://schemas.openxmlformats.org/drawingml/2006/main" noGrp="1"/>
          </p:cNvSpPr>
          <p:nvPr/>
        </p:nvSpPr>
        <p:spPr>
          <a:xfrm xmlns:a="http://schemas.openxmlformats.org/drawingml/2006/main">
            <a:off x="571500" y="52673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TK = 250 + 2 × 84 = € 418 per dag</a:t>
            </a:r>
          </a:p>
        </p:txBody>
      </p:sp>
      <p:sp>
        <p:nvSpPr>
          <p:cNvPr id="8" name="Winst = € 2 per dag">
            <a:extLst xmlns:a="http://schemas.openxmlformats.org/drawingml/2006/main">
              <a:ext uri="{FF2B5EF4-FFF2-40B4-BE49-F238E27FC236}">
                <a16:creationId xmlns:a16="http://schemas.microsoft.com/office/drawing/2014/main" id="{1D88081D-F853-4C40-885A-8D5F62DF0651}"/>
              </a:ext>
            </a:extLst>
          </p:cNvPr>
          <p:cNvSpPr>
            <a:spLocks xmlns:a="http://schemas.openxmlformats.org/drawingml/2006/main" noGrp="1"/>
          </p:cNvSpPr>
          <p:nvPr/>
        </p:nvSpPr>
        <p:spPr>
          <a:xfrm xmlns:a="http://schemas.openxmlformats.org/drawingml/2006/main">
            <a:off x="571500" y="650557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Winst = € 2 per dag</a:t>
            </a:r>
          </a:p>
        </p:txBody>
      </p:sp>
      <p:sp>
        <p:nvSpPr>
          <p:cNvPr id="9" name="84 is het eerste gehele aantal zonder verlies.">
            <a:extLst xmlns:a="http://schemas.openxmlformats.org/drawingml/2006/main">
              <a:ext uri="{FF2B5EF4-FFF2-40B4-BE49-F238E27FC236}">
                <a16:creationId xmlns:a16="http://schemas.microsoft.com/office/drawing/2014/main" id="{B208BC7B-AB95-4AFE-BB88-E2A522BBB8E2}"/>
              </a:ext>
            </a:extLst>
          </p:cNvPr>
          <p:cNvSpPr>
            <a:spLocks xmlns:a="http://schemas.openxmlformats.org/drawingml/2006/main" noGrp="1"/>
          </p:cNvSpPr>
          <p:nvPr/>
        </p:nvSpPr>
        <p:spPr>
          <a:xfrm xmlns:a="http://schemas.openxmlformats.org/drawingml/2006/main">
            <a:off x="571500" y="75152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84 is het eerste gehele aantal zonder verlies.</a:t>
            </a:r>
          </a:p>
        </p:txBody>
      </p:sp>
    </p:spTree>
    <p:extLst>
      <p:ext uri="{BB962C8B-B14F-4D97-AF65-F5344CB8AC3E}">
        <p14:creationId xmlns:p14="http://schemas.microsoft.com/office/powerpoint/2010/main" val="3777868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2 Opbrengsten, winst en break-even">
            <a:extLst xmlns:a="http://schemas.openxmlformats.org/drawingml/2006/main">
              <a:ext uri="{FF2B5EF4-FFF2-40B4-BE49-F238E27FC236}">
                <a16:creationId xmlns:a16="http://schemas.microsoft.com/office/drawing/2014/main" id="{0737142D-AF07-4A58-A5D9-A8FE0125056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§2.1.2 Opbrengsten, winst en break-even</a:t>
            </a:r>
          </a:p>
        </p:txBody>
      </p:sp>
      <p:sp>
        <p:nvSpPr>
          <p:cNvPr id="2" name="">
            <a:extLst xmlns:a="http://schemas.openxmlformats.org/drawingml/2006/main">
              <a:ext uri="{FF2B5EF4-FFF2-40B4-BE49-F238E27FC236}">
                <a16:creationId xmlns:a16="http://schemas.microsoft.com/office/drawing/2014/main" id="{C23E558E-74FB-4D2E-8263-A53F78BE99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16D09E93-B4B9-4552-AA4D-D1D84A30DAE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14">
            <a:extLst xmlns:a="http://schemas.openxmlformats.org/drawingml/2006/main">
              <a:ext uri="{FF2B5EF4-FFF2-40B4-BE49-F238E27FC236}">
                <a16:creationId xmlns:a16="http://schemas.microsoft.com/office/drawing/2014/main" id="{5D23C887-037D-4A35-BA4C-FF8DD0204DC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35C997F4-C4C8-4062-B038-B4B9A81B07D6}"/>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C87B0365-230D-4785-B97B-4F2088645A7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9C2EC83-54B7-434E-A9A0-7878F6EBDEF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EFBD0E99-8670-4868-B018-261893ABC2D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F47E2CE-3850-4BB0-93FB-3E89DCE1881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C38F328-7798-4997-A7F4-12EC98DFA256}"/>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8519F22-95AE-4238-A0CC-16003FB75D1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AEEFD8B-FA1A-463C-AB29-E7D269553638}"/>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812E469-4CAA-4DB8-BB4C-E34232E7946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514B486A-084E-4901-A975-26F595EA785E}"/>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D14B34C-04D5-438A-A012-ACDA6829A7B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25981E4-EB70-4B23-84AD-9E1DC6B45A66}"/>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008BDEC-3113-4DE4-B781-9261C7E1606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698EF97-B997-4363-9DFD-1D52AE783E7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93FD16F0-64DB-4010-8EBA-FC9D7882019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01E1F51-E97A-4BB6-9B7D-9E109BF2A407}"/>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7DDF4D0-F1A5-40CD-82A1-3F33CF5245B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682C4A5-A79F-40AC-BD10-00F7893D180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 GO en winst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Break-even en hele aantallen.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TK, TO en winst tekenen.</a:t>
            </a:r>
          </a:p>
        </p:txBody>
      </p:sp>
      <p:sp>
        <p:nvSpPr>
          <p:cNvPr id="23" name="">
            <a:extLst xmlns:a="http://schemas.openxmlformats.org/drawingml/2006/main">
              <a:ext uri="{FF2B5EF4-FFF2-40B4-BE49-F238E27FC236}">
                <a16:creationId xmlns:a16="http://schemas.microsoft.com/office/drawing/2014/main" id="{1CD9AD1C-47F9-4B52-A4A9-57982762654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523E932-1A86-4317-9BA6-1DE92759D1B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004E716-AB05-411E-8F71-0A0B7A080B18}"/>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14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10–11</a:t>
            </a:r>
          </a:p>
        </p:txBody>
      </p:sp>
      <p:sp>
        <p:nvSpPr>
          <p:cNvPr id="26" name="">
            <a:extLst xmlns:a="http://schemas.openxmlformats.org/drawingml/2006/main">
              <a:ext uri="{FF2B5EF4-FFF2-40B4-BE49-F238E27FC236}">
                <a16:creationId xmlns:a16="http://schemas.microsoft.com/office/drawing/2014/main" id="{B66A3B9B-CC41-4B3B-AB89-E0E41D3BB92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A362967-8284-4992-A81D-3BF074F5002B}"/>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6E988BE-9803-4BF2-9D18-0815D85AF244}"/>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360867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 · Bakkerij De Korenaar">
            <a:extLst xmlns:a="http://schemas.openxmlformats.org/drawingml/2006/main">
              <a:ext uri="{FF2B5EF4-FFF2-40B4-BE49-F238E27FC236}">
                <a16:creationId xmlns:a16="http://schemas.microsoft.com/office/drawing/2014/main" id="{961F0DA8-5951-4BAD-8037-4876549C5AD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Bakkerij De Korenaar</a:t>
            </a:r>
          </a:p>
        </p:txBody>
      </p:sp>
      <p:sp>
        <p:nvSpPr>
          <p:cNvPr id="2" name="">
            <a:extLst xmlns:a="http://schemas.openxmlformats.org/drawingml/2006/main">
              <a:ext uri="{FF2B5EF4-FFF2-40B4-BE49-F238E27FC236}">
                <a16:creationId xmlns:a16="http://schemas.microsoft.com/office/drawing/2014/main" id="{87A89637-6426-4969-98F3-CF77E6575E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370FAC39-6437-4777-8737-897A030D12B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15">
            <a:extLst xmlns:a="http://schemas.openxmlformats.org/drawingml/2006/main">
              <a:ext uri="{FF2B5EF4-FFF2-40B4-BE49-F238E27FC236}">
                <a16:creationId xmlns:a16="http://schemas.microsoft.com/office/drawing/2014/main" id="{800C7E93-021F-4C86-8EFE-729173DCC05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De Korenaar heeft de kostenfunctie TK = 500 + 0,80Q.">
            <a:extLst xmlns:a="http://schemas.openxmlformats.org/drawingml/2006/main">
              <a:ext uri="{FF2B5EF4-FFF2-40B4-BE49-F238E27FC236}">
                <a16:creationId xmlns:a16="http://schemas.microsoft.com/office/drawing/2014/main" id="{B561085E-206C-45E8-BABD-B0266D1913FB}"/>
              </a:ext>
            </a:extLst>
          </p:cNvPr>
          <p:cNvSpPr>
            <a:spLocks xmlns:a="http://schemas.openxmlformats.org/drawingml/2006/main" noGrp="1"/>
          </p:cNvSpPr>
          <p:nvPr/>
        </p:nvSpPr>
        <p:spPr>
          <a:xfrm xmlns:a="http://schemas.openxmlformats.org/drawingml/2006/main">
            <a:off x="571500" y="19812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 Korenaar heeft de kostenfunctie TK = 500 + 0,80Q.</a:t>
            </a:r>
          </a:p>
        </p:txBody>
      </p:sp>
      <p:sp>
        <p:nvSpPr>
          <p:cNvPr id="6" name="Ieder brood wordt verkocht voor een vaste prijs van € 1,50.">
            <a:extLst xmlns:a="http://schemas.openxmlformats.org/drawingml/2006/main">
              <a:ext uri="{FF2B5EF4-FFF2-40B4-BE49-F238E27FC236}">
                <a16:creationId xmlns:a16="http://schemas.microsoft.com/office/drawing/2014/main" id="{D9C9A816-1593-4C0A-B410-E6FAAB3ADD64}"/>
              </a:ext>
            </a:extLst>
          </p:cNvPr>
          <p:cNvSpPr>
            <a:spLocks xmlns:a="http://schemas.openxmlformats.org/drawingml/2006/main" noGrp="1"/>
          </p:cNvSpPr>
          <p:nvPr/>
        </p:nvSpPr>
        <p:spPr>
          <a:xfrm xmlns:a="http://schemas.openxmlformats.org/drawingml/2006/main">
            <a:off x="571500" y="33813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Ieder brood wordt verkocht voor een vaste prijs van € 1,50.</a:t>
            </a:r>
          </a:p>
        </p:txBody>
      </p:sp>
      <p:sp>
        <p:nvSpPr>
          <p:cNvPr id="7" name="De capaciteit is 1.000 broden per maand.">
            <a:extLst xmlns:a="http://schemas.openxmlformats.org/drawingml/2006/main">
              <a:ext uri="{FF2B5EF4-FFF2-40B4-BE49-F238E27FC236}">
                <a16:creationId xmlns:a16="http://schemas.microsoft.com/office/drawing/2014/main" id="{9C3713ED-5F5D-488C-B562-DE0D07AE0519}"/>
              </a:ext>
            </a:extLst>
          </p:cNvPr>
          <p:cNvSpPr>
            <a:spLocks xmlns:a="http://schemas.openxmlformats.org/drawingml/2006/main" noGrp="1"/>
          </p:cNvSpPr>
          <p:nvPr/>
        </p:nvSpPr>
        <p:spPr>
          <a:xfrm xmlns:a="http://schemas.openxmlformats.org/drawingml/2006/main">
            <a:off x="571500" y="48387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capaciteit is 1.000 broden per maand.</a:t>
            </a:r>
          </a:p>
        </p:txBody>
      </p:sp>
      <p:sp>
        <p:nvSpPr>
          <p:cNvPr id="8" name="">
            <a:extLst xmlns:a="http://schemas.openxmlformats.org/drawingml/2006/main">
              <a:ext uri="{FF2B5EF4-FFF2-40B4-BE49-F238E27FC236}">
                <a16:creationId xmlns:a16="http://schemas.microsoft.com/office/drawing/2014/main" id="{B4EE34A2-660E-495D-9A04-F32862AA90B9}"/>
              </a:ext>
            </a:extLst>
          </p:cNvPr>
          <p:cNvSpPr>
            <a:spLocks xmlns:a="http://schemas.openxmlformats.org/drawingml/2006/main" noGrp="1"/>
          </p:cNvSpPr>
          <p:nvPr/>
        </p:nvSpPr>
        <p:spPr>
          <a:xfrm xmlns:a="http://schemas.openxmlformats.org/drawingml/2006/main">
            <a:off x="571500" y="5991225"/>
            <a:ext cx="14097000" cy="0"/>
          </a:xfrm>
          <a:prstGeom xmlns:a="http://schemas.openxmlformats.org/drawingml/2006/main" prst="line">
            <a:avLst/>
          </a:prstGeom>
          <a:ln xmlns:a="http://schemas.openxmlformats.org/drawingml/2006/main" w="19050">
            <a:solidFill>
              <a:srgbClr val="C6D2DB"/>
            </a:solidFill>
          </a:ln>
        </p:spPr>
      </p:sp>
      <p:sp>
        <p:nvSpPr>
          <p:cNvPr id="9" name="Q is het aantal broden per maand.&#10;Totale bedragen zijn in eu">
            <a:extLst xmlns:a="http://schemas.openxmlformats.org/drawingml/2006/main">
              <a:ext uri="{FF2B5EF4-FFF2-40B4-BE49-F238E27FC236}">
                <a16:creationId xmlns:a16="http://schemas.microsoft.com/office/drawing/2014/main" id="{6F78AC77-5F93-4ADD-86BE-2A24B5E19C10}"/>
              </a:ext>
            </a:extLst>
          </p:cNvPr>
          <p:cNvSpPr>
            <a:spLocks xmlns:a="http://schemas.openxmlformats.org/drawingml/2006/main" noGrp="1"/>
          </p:cNvSpPr>
          <p:nvPr/>
        </p:nvSpPr>
        <p:spPr>
          <a:xfrm xmlns:a="http://schemas.openxmlformats.org/drawingml/2006/main">
            <a:off x="571500" y="651510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 is het aantal broden per maand.</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Totale bedragen zijn in euro per maand.</a:t>
            </a:r>
          </a:p>
        </p:txBody>
      </p:sp>
    </p:spTree>
    <p:extLst>
      <p:ext uri="{BB962C8B-B14F-4D97-AF65-F5344CB8AC3E}">
        <p14:creationId xmlns:p14="http://schemas.microsoft.com/office/powerpoint/2010/main" val="2864643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 · Deelvragen a en b">
            <a:extLst xmlns:a="http://schemas.openxmlformats.org/drawingml/2006/main">
              <a:ext uri="{FF2B5EF4-FFF2-40B4-BE49-F238E27FC236}">
                <a16:creationId xmlns:a16="http://schemas.microsoft.com/office/drawing/2014/main" id="{0702EAD6-B56D-46CE-8703-731FD6642E3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Deelvragen a en b</a:t>
            </a:r>
          </a:p>
        </p:txBody>
      </p:sp>
      <p:sp>
        <p:nvSpPr>
          <p:cNvPr id="2" name="">
            <a:extLst xmlns:a="http://schemas.openxmlformats.org/drawingml/2006/main">
              <a:ext uri="{FF2B5EF4-FFF2-40B4-BE49-F238E27FC236}">
                <a16:creationId xmlns:a16="http://schemas.microsoft.com/office/drawing/2014/main" id="{4822B4A9-11A1-43C8-94E4-A59F792599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D014C7CD-206C-4131-BD95-E32F7D6C5F8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16">
            <a:extLst xmlns:a="http://schemas.openxmlformats.org/drawingml/2006/main">
              <a:ext uri="{FF2B5EF4-FFF2-40B4-BE49-F238E27FC236}">
                <a16:creationId xmlns:a16="http://schemas.microsoft.com/office/drawing/2014/main" id="{22687AA6-F0F7-47F1-9E6A-C7C2EBA1FC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 Stel de functie voor TO op.&#10;Leg voor Q &gt; 0 uit waarom GO ">
            <a:extLst xmlns:a="http://schemas.openxmlformats.org/drawingml/2006/main">
              <a:ext uri="{FF2B5EF4-FFF2-40B4-BE49-F238E27FC236}">
                <a16:creationId xmlns:a16="http://schemas.microsoft.com/office/drawing/2014/main" id="{DDBCA0EA-21C6-43F8-8522-DC96E76A44C9}"/>
              </a:ext>
            </a:extLst>
          </p:cNvPr>
          <p:cNvSpPr>
            <a:spLocks xmlns:a="http://schemas.openxmlformats.org/drawingml/2006/main" noGrp="1"/>
          </p:cNvSpPr>
          <p:nvPr/>
        </p:nvSpPr>
        <p:spPr>
          <a:xfrm xmlns:a="http://schemas.openxmlformats.org/drawingml/2006/main">
            <a:off x="571500" y="2190750"/>
            <a:ext cx="14097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 Stel de functie voor TO op.</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Leg voor Q &gt; 0 uit waarom GO hier gelijk is aan de prijs.</a:t>
            </a:r>
          </a:p>
        </p:txBody>
      </p:sp>
      <p:sp>
        <p:nvSpPr>
          <p:cNvPr id="6" name="">
            <a:extLst xmlns:a="http://schemas.openxmlformats.org/drawingml/2006/main">
              <a:ext uri="{FF2B5EF4-FFF2-40B4-BE49-F238E27FC236}">
                <a16:creationId xmlns:a16="http://schemas.microsoft.com/office/drawing/2014/main" id="{3F204E9E-1D48-4A51-B20A-A84BFF7691D9}"/>
              </a:ext>
            </a:extLst>
          </p:cNvPr>
          <p:cNvSpPr>
            <a:spLocks xmlns:a="http://schemas.openxmlformats.org/drawingml/2006/main" noGrp="1"/>
          </p:cNvSpPr>
          <p:nvPr/>
        </p:nvSpPr>
        <p:spPr>
          <a:xfrm xmlns:a="http://schemas.openxmlformats.org/drawingml/2006/main">
            <a:off x="571500" y="4486275"/>
            <a:ext cx="14097000" cy="0"/>
          </a:xfrm>
          <a:prstGeom xmlns:a="http://schemas.openxmlformats.org/drawingml/2006/main" prst="line">
            <a:avLst/>
          </a:prstGeom>
          <a:ln xmlns:a="http://schemas.openxmlformats.org/drawingml/2006/main" w="19050">
            <a:solidFill>
              <a:srgbClr val="C6D2DB"/>
            </a:solidFill>
          </a:ln>
        </p:spPr>
      </p:sp>
      <p:sp>
        <p:nvSpPr>
          <p:cNvPr id="7" name="b) Bereken de winst bij Q = 500 en bij Q = 1.000.">
            <a:extLst xmlns:a="http://schemas.openxmlformats.org/drawingml/2006/main">
              <a:ext uri="{FF2B5EF4-FFF2-40B4-BE49-F238E27FC236}">
                <a16:creationId xmlns:a16="http://schemas.microsoft.com/office/drawing/2014/main" id="{BBE4AB93-F1BE-46D4-A1A8-465EFAC85BB5}"/>
              </a:ext>
            </a:extLst>
          </p:cNvPr>
          <p:cNvSpPr>
            <a:spLocks xmlns:a="http://schemas.openxmlformats.org/drawingml/2006/main" noGrp="1"/>
          </p:cNvSpPr>
          <p:nvPr/>
        </p:nvSpPr>
        <p:spPr>
          <a:xfrm xmlns:a="http://schemas.openxmlformats.org/drawingml/2006/main">
            <a:off x="571500" y="5172075"/>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b) Bereken de winst bij Q = 500 en bij Q = 1.000.</a:t>
            </a:r>
          </a:p>
        </p:txBody>
      </p:sp>
    </p:spTree>
    <p:extLst>
      <p:ext uri="{BB962C8B-B14F-4D97-AF65-F5344CB8AC3E}">
        <p14:creationId xmlns:p14="http://schemas.microsoft.com/office/powerpoint/2010/main" val="2083922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 · Deelvragen c en d">
            <a:extLst xmlns:a="http://schemas.openxmlformats.org/drawingml/2006/main">
              <a:ext uri="{FF2B5EF4-FFF2-40B4-BE49-F238E27FC236}">
                <a16:creationId xmlns:a16="http://schemas.microsoft.com/office/drawing/2014/main" id="{81849280-2A3A-478F-B885-34FDB9DD069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Deelvragen c en d</a:t>
            </a:r>
          </a:p>
        </p:txBody>
      </p:sp>
      <p:sp>
        <p:nvSpPr>
          <p:cNvPr id="2" name="">
            <a:extLst xmlns:a="http://schemas.openxmlformats.org/drawingml/2006/main">
              <a:ext uri="{FF2B5EF4-FFF2-40B4-BE49-F238E27FC236}">
                <a16:creationId xmlns:a16="http://schemas.microsoft.com/office/drawing/2014/main" id="{33A90AB9-7BE6-4B2F-AD41-F9B959917C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7C23F34A-1137-478E-B908-F95A5F45601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17">
            <a:extLst xmlns:a="http://schemas.openxmlformats.org/drawingml/2006/main">
              <a:ext uri="{FF2B5EF4-FFF2-40B4-BE49-F238E27FC236}">
                <a16:creationId xmlns:a16="http://schemas.microsoft.com/office/drawing/2014/main" id="{B009DF0D-8F41-4C34-8FD8-BF6B8470FA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c) Los algebraïsch TO = TK op. Noteer zowel de break-even-af">
            <a:extLst xmlns:a="http://schemas.openxmlformats.org/drawingml/2006/main">
              <a:ext uri="{FF2B5EF4-FFF2-40B4-BE49-F238E27FC236}">
                <a16:creationId xmlns:a16="http://schemas.microsoft.com/office/drawing/2014/main" id="{084CB6B2-6665-42D4-A28F-431168CE89A4}"/>
              </a:ext>
            </a:extLst>
          </p:cNvPr>
          <p:cNvSpPr>
            <a:spLocks xmlns:a="http://schemas.openxmlformats.org/drawingml/2006/main" noGrp="1"/>
          </p:cNvSpPr>
          <p:nvPr/>
        </p:nvSpPr>
        <p:spPr>
          <a:xfrm xmlns:a="http://schemas.openxmlformats.org/drawingml/2006/main">
            <a:off x="571500" y="1876425"/>
            <a:ext cx="14097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 Los algebraïsch TO = TK op. Noteer zowel de break-even-afzet volgens de rechte lijnen als het eerste gehele aantal broden waarbij geen verlies ontstaat.</a:t>
            </a:r>
          </a:p>
        </p:txBody>
      </p:sp>
      <p:sp>
        <p:nvSpPr>
          <p:cNvPr id="6" name="">
            <a:extLst xmlns:a="http://schemas.openxmlformats.org/drawingml/2006/main">
              <a:ext uri="{FF2B5EF4-FFF2-40B4-BE49-F238E27FC236}">
                <a16:creationId xmlns:a16="http://schemas.microsoft.com/office/drawing/2014/main" id="{DB072827-E26F-4AFD-B6D8-39B0592A6B23}"/>
              </a:ext>
            </a:extLst>
          </p:cNvPr>
          <p:cNvSpPr>
            <a:spLocks xmlns:a="http://schemas.openxmlformats.org/drawingml/2006/main" noGrp="1"/>
          </p:cNvSpPr>
          <p:nvPr/>
        </p:nvSpPr>
        <p:spPr>
          <a:xfrm xmlns:a="http://schemas.openxmlformats.org/drawingml/2006/main">
            <a:off x="571500" y="4257675"/>
            <a:ext cx="14097000" cy="0"/>
          </a:xfrm>
          <a:prstGeom xmlns:a="http://schemas.openxmlformats.org/drawingml/2006/main" prst="line">
            <a:avLst/>
          </a:prstGeom>
          <a:ln xmlns:a="http://schemas.openxmlformats.org/drawingml/2006/main" w="19050">
            <a:solidFill>
              <a:srgbClr val="C6D2DB"/>
            </a:solidFill>
          </a:ln>
        </p:spPr>
      </p:sp>
      <p:sp>
        <p:nvSpPr>
          <p:cNvPr id="7" name="d) Teken TK en TO in één assenstelsel. Benoem beide assen me">
            <a:extLst xmlns:a="http://schemas.openxmlformats.org/drawingml/2006/main">
              <a:ext uri="{FF2B5EF4-FFF2-40B4-BE49-F238E27FC236}">
                <a16:creationId xmlns:a16="http://schemas.microsoft.com/office/drawing/2014/main" id="{997DAEDC-F60B-490B-8817-31CC758C61AE}"/>
              </a:ext>
            </a:extLst>
          </p:cNvPr>
          <p:cNvSpPr>
            <a:spLocks xmlns:a="http://schemas.openxmlformats.org/drawingml/2006/main" noGrp="1"/>
          </p:cNvSpPr>
          <p:nvPr/>
        </p:nvSpPr>
        <p:spPr>
          <a:xfrm xmlns:a="http://schemas.openxmlformats.org/drawingml/2006/main">
            <a:off x="571500" y="4752975"/>
            <a:ext cx="1409700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 Teken TK en TO in één assenstelsel. Benoem beide assen met grootheid en eenheid. Markeer het break-evenpunt en geef aan waar winst en waar verlies ontstaat. Geef bij Q = 1.000 de winst van € 200 weer als verticale afstand. Kleur geen oppervlakte als winst.</a:t>
            </a:r>
          </a:p>
        </p:txBody>
      </p:sp>
    </p:spTree>
    <p:extLst>
      <p:ext uri="{BB962C8B-B14F-4D97-AF65-F5344CB8AC3E}">
        <p14:creationId xmlns:p14="http://schemas.microsoft.com/office/powerpoint/2010/main" val="14222135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a · TO en GO">
            <a:extLst xmlns:a="http://schemas.openxmlformats.org/drawingml/2006/main">
              <a:ext uri="{FF2B5EF4-FFF2-40B4-BE49-F238E27FC236}">
                <a16:creationId xmlns:a16="http://schemas.microsoft.com/office/drawing/2014/main" id="{14C6B6DE-E775-4AC3-A55A-927510A5B84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8a · TO en GO</a:t>
            </a:r>
          </a:p>
        </p:txBody>
      </p:sp>
      <p:sp>
        <p:nvSpPr>
          <p:cNvPr id="2" name="">
            <a:extLst xmlns:a="http://schemas.openxmlformats.org/drawingml/2006/main">
              <a:ext uri="{FF2B5EF4-FFF2-40B4-BE49-F238E27FC236}">
                <a16:creationId xmlns:a16="http://schemas.microsoft.com/office/drawing/2014/main" id="{0F73DA0C-E88B-4F61-A770-CE0CBA8B81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E76E92F6-3222-4E1A-8BE1-B57D5EEE22F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18">
            <a:extLst xmlns:a="http://schemas.openxmlformats.org/drawingml/2006/main">
              <a:ext uri="{FF2B5EF4-FFF2-40B4-BE49-F238E27FC236}">
                <a16:creationId xmlns:a16="http://schemas.microsoft.com/office/drawing/2014/main" id="{01C6E534-DAAF-437C-BE8A-6F24D1C71CD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TO = P × Q = 1,50Q">
            <a:extLst xmlns:a="http://schemas.openxmlformats.org/drawingml/2006/main">
              <a:ext uri="{FF2B5EF4-FFF2-40B4-BE49-F238E27FC236}">
                <a16:creationId xmlns:a16="http://schemas.microsoft.com/office/drawing/2014/main" id="{4EC023B0-D55B-42FB-8726-C0A58C1F003A}"/>
              </a:ext>
            </a:extLst>
          </p:cNvPr>
          <p:cNvSpPr>
            <a:spLocks xmlns:a="http://schemas.openxmlformats.org/drawingml/2006/main" noGrp="1"/>
          </p:cNvSpPr>
          <p:nvPr/>
        </p:nvSpPr>
        <p:spPr>
          <a:xfrm xmlns:a="http://schemas.openxmlformats.org/drawingml/2006/main">
            <a:off x="571500" y="20859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7658A"/>
                </a:solidFill>
                <a:latin typeface="Arial"/>
                <a:ea typeface="Arial"/>
                <a:cs typeface="Arial"/>
              </a:defRPr>
            </a:pPr>
            <a:r>
              <a:rPr sz="4050" b="1">
                <a:solidFill>
                  <a:srgbClr val="17658A"/>
                </a:solidFill>
                <a:latin typeface="Arial"/>
                <a:ea typeface="Arial"/>
                <a:cs typeface="Arial"/>
              </a:rPr>
              <a:t>TO = P × Q = 1,50Q</a:t>
            </a:r>
          </a:p>
        </p:txBody>
      </p:sp>
      <p:sp>
        <p:nvSpPr>
          <p:cNvPr id="6" name="Totale opbrengst in euro per maand">
            <a:extLst xmlns:a="http://schemas.openxmlformats.org/drawingml/2006/main">
              <a:ext uri="{FF2B5EF4-FFF2-40B4-BE49-F238E27FC236}">
                <a16:creationId xmlns:a16="http://schemas.microsoft.com/office/drawing/2014/main" id="{A7F7B655-037C-458C-9AB3-8540FB42E2F2}"/>
              </a:ext>
            </a:extLst>
          </p:cNvPr>
          <p:cNvSpPr>
            <a:spLocks xmlns:a="http://schemas.openxmlformats.org/drawingml/2006/main" noGrp="1"/>
          </p:cNvSpPr>
          <p:nvPr/>
        </p:nvSpPr>
        <p:spPr>
          <a:xfrm xmlns:a="http://schemas.openxmlformats.org/drawingml/2006/main">
            <a:off x="571500" y="30670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Totale opbrengst in euro per maand</a:t>
            </a:r>
          </a:p>
        </p:txBody>
      </p:sp>
      <p:sp>
        <p:nvSpPr>
          <p:cNvPr id="7" name="">
            <a:extLst xmlns:a="http://schemas.openxmlformats.org/drawingml/2006/main">
              <a:ext uri="{FF2B5EF4-FFF2-40B4-BE49-F238E27FC236}">
                <a16:creationId xmlns:a16="http://schemas.microsoft.com/office/drawing/2014/main" id="{A5623898-34EF-4EF8-A7D1-4EEF1CCAB774}"/>
              </a:ext>
            </a:extLst>
          </p:cNvPr>
          <p:cNvSpPr>
            <a:spLocks xmlns:a="http://schemas.openxmlformats.org/drawingml/2006/main" noGrp="1"/>
          </p:cNvSpPr>
          <p:nvPr/>
        </p:nvSpPr>
        <p:spPr>
          <a:xfrm xmlns:a="http://schemas.openxmlformats.org/drawingml/2006/main">
            <a:off x="571500" y="4152900"/>
            <a:ext cx="14097000" cy="0"/>
          </a:xfrm>
          <a:prstGeom xmlns:a="http://schemas.openxmlformats.org/drawingml/2006/main" prst="line">
            <a:avLst/>
          </a:prstGeom>
          <a:ln xmlns:a="http://schemas.openxmlformats.org/drawingml/2006/main" w="19050">
            <a:solidFill>
              <a:srgbClr val="C6D2DB"/>
            </a:solidFill>
          </a:ln>
        </p:spPr>
      </p:sp>
      <p:sp>
        <p:nvSpPr>
          <p:cNvPr id="8" name="GO = TO / Q = 1,50Q / Q = € 1,50 per brood">
            <a:extLst xmlns:a="http://schemas.openxmlformats.org/drawingml/2006/main">
              <a:ext uri="{FF2B5EF4-FFF2-40B4-BE49-F238E27FC236}">
                <a16:creationId xmlns:a16="http://schemas.microsoft.com/office/drawing/2014/main" id="{376C351B-A789-426A-932B-3B5DB4CDB777}"/>
              </a:ext>
            </a:extLst>
          </p:cNvPr>
          <p:cNvSpPr>
            <a:spLocks xmlns:a="http://schemas.openxmlformats.org/drawingml/2006/main" noGrp="1"/>
          </p:cNvSpPr>
          <p:nvPr/>
        </p:nvSpPr>
        <p:spPr>
          <a:xfrm xmlns:a="http://schemas.openxmlformats.org/drawingml/2006/main">
            <a:off x="571500" y="4695825"/>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GO = TO / Q = 1,50Q / Q = € 1,50 per brood</a:t>
            </a:r>
          </a:p>
        </p:txBody>
      </p:sp>
      <p:sp>
        <p:nvSpPr>
          <p:cNvPr id="9" name="Bij Q &gt; 0. Ieder brood brengt dezelfde prijs op.">
            <a:extLst xmlns:a="http://schemas.openxmlformats.org/drawingml/2006/main">
              <a:ext uri="{FF2B5EF4-FFF2-40B4-BE49-F238E27FC236}">
                <a16:creationId xmlns:a16="http://schemas.microsoft.com/office/drawing/2014/main" id="{970F4BF6-47AE-4171-8896-824BB9A6EC33}"/>
              </a:ext>
            </a:extLst>
          </p:cNvPr>
          <p:cNvSpPr>
            <a:spLocks xmlns:a="http://schemas.openxmlformats.org/drawingml/2006/main" noGrp="1"/>
          </p:cNvSpPr>
          <p:nvPr/>
        </p:nvSpPr>
        <p:spPr>
          <a:xfrm xmlns:a="http://schemas.openxmlformats.org/drawingml/2006/main">
            <a:off x="571500" y="6638925"/>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Bij Q &gt; 0. Ieder brood brengt dezelfde prijs op.</a:t>
            </a:r>
          </a:p>
        </p:txBody>
      </p:sp>
    </p:spTree>
    <p:extLst>
      <p:ext uri="{BB962C8B-B14F-4D97-AF65-F5344CB8AC3E}">
        <p14:creationId xmlns:p14="http://schemas.microsoft.com/office/powerpoint/2010/main" val="1862775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b · 500 broden">
            <a:extLst xmlns:a="http://schemas.openxmlformats.org/drawingml/2006/main">
              <a:ext uri="{FF2B5EF4-FFF2-40B4-BE49-F238E27FC236}">
                <a16:creationId xmlns:a16="http://schemas.microsoft.com/office/drawing/2014/main" id="{8E9D34F6-A1BF-43CD-A7E3-62E09C4DEF8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500 broden</a:t>
            </a:r>
          </a:p>
        </p:txBody>
      </p:sp>
      <p:sp>
        <p:nvSpPr>
          <p:cNvPr id="2" name="">
            <a:extLst xmlns:a="http://schemas.openxmlformats.org/drawingml/2006/main">
              <a:ext uri="{FF2B5EF4-FFF2-40B4-BE49-F238E27FC236}">
                <a16:creationId xmlns:a16="http://schemas.microsoft.com/office/drawing/2014/main" id="{BB52E9FA-3AAD-49E5-B904-410B5FEC1B9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2FB99C62-D3F0-489C-9A70-86619AFBE8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19">
            <a:extLst xmlns:a="http://schemas.openxmlformats.org/drawingml/2006/main">
              <a:ext uri="{FF2B5EF4-FFF2-40B4-BE49-F238E27FC236}">
                <a16:creationId xmlns:a16="http://schemas.microsoft.com/office/drawing/2014/main" id="{7091B35D-6F8E-4538-8427-60AD4843EF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Q = 500 broden per maand">
            <a:extLst xmlns:a="http://schemas.openxmlformats.org/drawingml/2006/main">
              <a:ext uri="{FF2B5EF4-FFF2-40B4-BE49-F238E27FC236}">
                <a16:creationId xmlns:a16="http://schemas.microsoft.com/office/drawing/2014/main" id="{E9FF006B-D860-4586-A511-62AFB4829900}"/>
              </a:ext>
            </a:extLst>
          </p:cNvPr>
          <p:cNvSpPr>
            <a:spLocks xmlns:a="http://schemas.openxmlformats.org/drawingml/2006/main" noGrp="1"/>
          </p:cNvSpPr>
          <p:nvPr/>
        </p:nvSpPr>
        <p:spPr>
          <a:xfrm xmlns:a="http://schemas.openxmlformats.org/drawingml/2006/main">
            <a:off x="571500" y="18478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Q = 500 broden per maand</a:t>
            </a:r>
          </a:p>
        </p:txBody>
      </p:sp>
      <p:sp>
        <p:nvSpPr>
          <p:cNvPr id="6" name="TO = 1,50 × 500 = € 750">
            <a:extLst xmlns:a="http://schemas.openxmlformats.org/drawingml/2006/main">
              <a:ext uri="{FF2B5EF4-FFF2-40B4-BE49-F238E27FC236}">
                <a16:creationId xmlns:a16="http://schemas.microsoft.com/office/drawing/2014/main" id="{AADCCFC3-D434-4518-939F-6690ED8E2616}"/>
              </a:ext>
            </a:extLst>
          </p:cNvPr>
          <p:cNvSpPr>
            <a:spLocks xmlns:a="http://schemas.openxmlformats.org/drawingml/2006/main" noGrp="1"/>
          </p:cNvSpPr>
          <p:nvPr/>
        </p:nvSpPr>
        <p:spPr>
          <a:xfrm xmlns:a="http://schemas.openxmlformats.org/drawingml/2006/main">
            <a:off x="571500" y="30956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TO = 1,50 × 500 = € 750</a:t>
            </a:r>
          </a:p>
        </p:txBody>
      </p:sp>
      <p:sp>
        <p:nvSpPr>
          <p:cNvPr id="7" name="TK = 500 + 0,80 × 500 = € 900">
            <a:extLst xmlns:a="http://schemas.openxmlformats.org/drawingml/2006/main">
              <a:ext uri="{FF2B5EF4-FFF2-40B4-BE49-F238E27FC236}">
                <a16:creationId xmlns:a16="http://schemas.microsoft.com/office/drawing/2014/main" id="{BAE6EC25-0B38-4A5C-B0EF-21177C9B0543}"/>
              </a:ext>
            </a:extLst>
          </p:cNvPr>
          <p:cNvSpPr>
            <a:spLocks xmlns:a="http://schemas.openxmlformats.org/drawingml/2006/main" noGrp="1"/>
          </p:cNvSpPr>
          <p:nvPr/>
        </p:nvSpPr>
        <p:spPr>
          <a:xfrm xmlns:a="http://schemas.openxmlformats.org/drawingml/2006/main">
            <a:off x="571500" y="44481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TK = 500 + 0,80 × 500 = € 900</a:t>
            </a:r>
          </a:p>
        </p:txBody>
      </p:sp>
      <p:sp>
        <p:nvSpPr>
          <p:cNvPr id="8" name="">
            <a:extLst xmlns:a="http://schemas.openxmlformats.org/drawingml/2006/main">
              <a:ext uri="{FF2B5EF4-FFF2-40B4-BE49-F238E27FC236}">
                <a16:creationId xmlns:a16="http://schemas.microsoft.com/office/drawing/2014/main" id="{EAF8CBE5-9A80-488E-ABEE-C4004FEA7B69}"/>
              </a:ext>
            </a:extLst>
          </p:cNvPr>
          <p:cNvSpPr>
            <a:spLocks xmlns:a="http://schemas.openxmlformats.org/drawingml/2006/main" noGrp="1"/>
          </p:cNvSpPr>
          <p:nvPr/>
        </p:nvSpPr>
        <p:spPr>
          <a:xfrm xmlns:a="http://schemas.openxmlformats.org/drawingml/2006/main">
            <a:off x="571500" y="5724525"/>
            <a:ext cx="14097000" cy="0"/>
          </a:xfrm>
          <a:prstGeom xmlns:a="http://schemas.openxmlformats.org/drawingml/2006/main" prst="line">
            <a:avLst/>
          </a:prstGeom>
          <a:ln xmlns:a="http://schemas.openxmlformats.org/drawingml/2006/main" w="19050">
            <a:solidFill>
              <a:srgbClr val="C6D2DB"/>
            </a:solidFill>
          </a:ln>
        </p:spPr>
      </p:sp>
      <p:sp>
        <p:nvSpPr>
          <p:cNvPr id="9" name="Winst = 750 − 900 = −€ 150 per maand">
            <a:extLst xmlns:a="http://schemas.openxmlformats.org/drawingml/2006/main">
              <a:ext uri="{FF2B5EF4-FFF2-40B4-BE49-F238E27FC236}">
                <a16:creationId xmlns:a16="http://schemas.microsoft.com/office/drawing/2014/main" id="{F15D3397-5FE7-4613-B59A-DA357AA1DAFA}"/>
              </a:ext>
            </a:extLst>
          </p:cNvPr>
          <p:cNvSpPr>
            <a:spLocks xmlns:a="http://schemas.openxmlformats.org/drawingml/2006/main" noGrp="1"/>
          </p:cNvSpPr>
          <p:nvPr/>
        </p:nvSpPr>
        <p:spPr>
          <a:xfrm xmlns:a="http://schemas.openxmlformats.org/drawingml/2006/main">
            <a:off x="571500" y="62579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Winst = 750 − 900 = −€ 150 per maand</a:t>
            </a:r>
          </a:p>
        </p:txBody>
      </p:sp>
      <p:sp>
        <p:nvSpPr>
          <p:cNvPr id="10" name="De opbrengst dekt niet alle kosten: € 150 verlies.">
            <a:extLst xmlns:a="http://schemas.openxmlformats.org/drawingml/2006/main">
              <a:ext uri="{FF2B5EF4-FFF2-40B4-BE49-F238E27FC236}">
                <a16:creationId xmlns:a16="http://schemas.microsoft.com/office/drawing/2014/main" id="{97CC551F-8B30-44EE-8BB9-23683E133BD4}"/>
              </a:ext>
            </a:extLst>
          </p:cNvPr>
          <p:cNvSpPr>
            <a:spLocks xmlns:a="http://schemas.openxmlformats.org/drawingml/2006/main" noGrp="1"/>
          </p:cNvSpPr>
          <p:nvPr/>
        </p:nvSpPr>
        <p:spPr>
          <a:xfrm xmlns:a="http://schemas.openxmlformats.org/drawingml/2006/main">
            <a:off x="571500" y="74390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opbrengst dekt niet alle kosten: € 150 verlies.</a:t>
            </a:r>
          </a:p>
        </p:txBody>
      </p:sp>
    </p:spTree>
    <p:extLst>
      <p:ext uri="{BB962C8B-B14F-4D97-AF65-F5344CB8AC3E}">
        <p14:creationId xmlns:p14="http://schemas.microsoft.com/office/powerpoint/2010/main" val="21332107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b · 1.000 broden">
            <a:extLst xmlns:a="http://schemas.openxmlformats.org/drawingml/2006/main">
              <a:ext uri="{FF2B5EF4-FFF2-40B4-BE49-F238E27FC236}">
                <a16:creationId xmlns:a16="http://schemas.microsoft.com/office/drawing/2014/main" id="{FB27234C-CD75-4C15-8B51-9359B4DB9C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1.000 broden</a:t>
            </a:r>
          </a:p>
        </p:txBody>
      </p:sp>
      <p:sp>
        <p:nvSpPr>
          <p:cNvPr id="2" name="">
            <a:extLst xmlns:a="http://schemas.openxmlformats.org/drawingml/2006/main">
              <a:ext uri="{FF2B5EF4-FFF2-40B4-BE49-F238E27FC236}">
                <a16:creationId xmlns:a16="http://schemas.microsoft.com/office/drawing/2014/main" id="{D917C1E2-41FD-40B9-9B9B-14372C1B9BF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CC65587A-8C84-41C3-B061-D25EA348B2C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0">
            <a:extLst xmlns:a="http://schemas.openxmlformats.org/drawingml/2006/main">
              <a:ext uri="{FF2B5EF4-FFF2-40B4-BE49-F238E27FC236}">
                <a16:creationId xmlns:a16="http://schemas.microsoft.com/office/drawing/2014/main" id="{E7A9558B-0B1C-4EC0-9C49-3A4F74800A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Q = 1.000 broden per maand">
            <a:extLst xmlns:a="http://schemas.openxmlformats.org/drawingml/2006/main">
              <a:ext uri="{FF2B5EF4-FFF2-40B4-BE49-F238E27FC236}">
                <a16:creationId xmlns:a16="http://schemas.microsoft.com/office/drawing/2014/main" id="{23CB2D5C-B632-4847-9472-741285D8D503}"/>
              </a:ext>
            </a:extLst>
          </p:cNvPr>
          <p:cNvSpPr>
            <a:spLocks xmlns:a="http://schemas.openxmlformats.org/drawingml/2006/main" noGrp="1"/>
          </p:cNvSpPr>
          <p:nvPr/>
        </p:nvSpPr>
        <p:spPr>
          <a:xfrm xmlns:a="http://schemas.openxmlformats.org/drawingml/2006/main">
            <a:off x="571500" y="18478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Q = 1.000 broden per maand</a:t>
            </a:r>
          </a:p>
        </p:txBody>
      </p:sp>
      <p:sp>
        <p:nvSpPr>
          <p:cNvPr id="6" name="TO = 1,50 × 1.000 = € 1.500">
            <a:extLst xmlns:a="http://schemas.openxmlformats.org/drawingml/2006/main">
              <a:ext uri="{FF2B5EF4-FFF2-40B4-BE49-F238E27FC236}">
                <a16:creationId xmlns:a16="http://schemas.microsoft.com/office/drawing/2014/main" id="{7164573D-02E3-4FBF-8F47-76BA0B54407A}"/>
              </a:ext>
            </a:extLst>
          </p:cNvPr>
          <p:cNvSpPr>
            <a:spLocks xmlns:a="http://schemas.openxmlformats.org/drawingml/2006/main" noGrp="1"/>
          </p:cNvSpPr>
          <p:nvPr/>
        </p:nvSpPr>
        <p:spPr>
          <a:xfrm xmlns:a="http://schemas.openxmlformats.org/drawingml/2006/main">
            <a:off x="571500" y="30956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TO = 1,50 × 1.000 = € 1.500</a:t>
            </a:r>
          </a:p>
        </p:txBody>
      </p:sp>
      <p:sp>
        <p:nvSpPr>
          <p:cNvPr id="7" name="TK = 500 + 0,80 × 1.000 = € 1.300">
            <a:extLst xmlns:a="http://schemas.openxmlformats.org/drawingml/2006/main">
              <a:ext uri="{FF2B5EF4-FFF2-40B4-BE49-F238E27FC236}">
                <a16:creationId xmlns:a16="http://schemas.microsoft.com/office/drawing/2014/main" id="{1DAA4FB2-CDE8-4EC0-AA60-91125DB857B2}"/>
              </a:ext>
            </a:extLst>
          </p:cNvPr>
          <p:cNvSpPr>
            <a:spLocks xmlns:a="http://schemas.openxmlformats.org/drawingml/2006/main" noGrp="1"/>
          </p:cNvSpPr>
          <p:nvPr/>
        </p:nvSpPr>
        <p:spPr>
          <a:xfrm xmlns:a="http://schemas.openxmlformats.org/drawingml/2006/main">
            <a:off x="571500" y="44481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TK = 500 + 0,80 × 1.000 = € 1.300</a:t>
            </a:r>
          </a:p>
        </p:txBody>
      </p:sp>
      <p:sp>
        <p:nvSpPr>
          <p:cNvPr id="8" name="">
            <a:extLst xmlns:a="http://schemas.openxmlformats.org/drawingml/2006/main">
              <a:ext uri="{FF2B5EF4-FFF2-40B4-BE49-F238E27FC236}">
                <a16:creationId xmlns:a16="http://schemas.microsoft.com/office/drawing/2014/main" id="{45EB6C05-8706-4D95-B7B1-AF46C90BBA7A}"/>
              </a:ext>
            </a:extLst>
          </p:cNvPr>
          <p:cNvSpPr>
            <a:spLocks xmlns:a="http://schemas.openxmlformats.org/drawingml/2006/main" noGrp="1"/>
          </p:cNvSpPr>
          <p:nvPr/>
        </p:nvSpPr>
        <p:spPr>
          <a:xfrm xmlns:a="http://schemas.openxmlformats.org/drawingml/2006/main">
            <a:off x="571500" y="5724525"/>
            <a:ext cx="14097000" cy="0"/>
          </a:xfrm>
          <a:prstGeom xmlns:a="http://schemas.openxmlformats.org/drawingml/2006/main" prst="line">
            <a:avLst/>
          </a:prstGeom>
          <a:ln xmlns:a="http://schemas.openxmlformats.org/drawingml/2006/main" w="19050">
            <a:solidFill>
              <a:srgbClr val="C6D2DB"/>
            </a:solidFill>
          </a:ln>
        </p:spPr>
      </p:sp>
      <p:sp>
        <p:nvSpPr>
          <p:cNvPr id="9" name="Winst = 1.500 − 1.300 = € 200 per maand">
            <a:extLst xmlns:a="http://schemas.openxmlformats.org/drawingml/2006/main">
              <a:ext uri="{FF2B5EF4-FFF2-40B4-BE49-F238E27FC236}">
                <a16:creationId xmlns:a16="http://schemas.microsoft.com/office/drawing/2014/main" id="{8B7F9E48-52B7-420B-96C6-D37581237AE4}"/>
              </a:ext>
            </a:extLst>
          </p:cNvPr>
          <p:cNvSpPr>
            <a:spLocks xmlns:a="http://schemas.openxmlformats.org/drawingml/2006/main" noGrp="1"/>
          </p:cNvSpPr>
          <p:nvPr/>
        </p:nvSpPr>
        <p:spPr>
          <a:xfrm xmlns:a="http://schemas.openxmlformats.org/drawingml/2006/main">
            <a:off x="571500" y="62579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Winst = 1.500 − 1.300 = € 200 per maand</a:t>
            </a:r>
          </a:p>
        </p:txBody>
      </p:sp>
      <p:sp>
        <p:nvSpPr>
          <p:cNvPr id="10" name="De opbrengst dekt alle kosten en laat € 200 over.">
            <a:extLst xmlns:a="http://schemas.openxmlformats.org/drawingml/2006/main">
              <a:ext uri="{FF2B5EF4-FFF2-40B4-BE49-F238E27FC236}">
                <a16:creationId xmlns:a16="http://schemas.microsoft.com/office/drawing/2014/main" id="{EFB37D3B-1F5F-4BCD-9387-5CC693EAA93A}"/>
              </a:ext>
            </a:extLst>
          </p:cNvPr>
          <p:cNvSpPr>
            <a:spLocks xmlns:a="http://schemas.openxmlformats.org/drawingml/2006/main" noGrp="1"/>
          </p:cNvSpPr>
          <p:nvPr/>
        </p:nvSpPr>
        <p:spPr>
          <a:xfrm xmlns:a="http://schemas.openxmlformats.org/drawingml/2006/main">
            <a:off x="571500" y="74390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opbrengst dekt alle kosten en laat € 200 over.</a:t>
            </a:r>
          </a:p>
        </p:txBody>
      </p:sp>
    </p:spTree>
    <p:extLst>
      <p:ext uri="{BB962C8B-B14F-4D97-AF65-F5344CB8AC3E}">
        <p14:creationId xmlns:p14="http://schemas.microsoft.com/office/powerpoint/2010/main" val="127762134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8c · De exacte break-evengrens">
            <a:extLst xmlns:a="http://schemas.openxmlformats.org/drawingml/2006/main">
              <a:ext uri="{FF2B5EF4-FFF2-40B4-BE49-F238E27FC236}">
                <a16:creationId xmlns:a16="http://schemas.microsoft.com/office/drawing/2014/main" id="{2F440E4E-FB10-45FA-86B0-10ACD027563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De exacte break-evengrens</a:t>
            </a:r>
          </a:p>
        </p:txBody>
      </p:sp>
      <p:sp>
        <p:nvSpPr>
          <p:cNvPr id="2" name="">
            <a:extLst xmlns:a="http://schemas.openxmlformats.org/drawingml/2006/main">
              <a:ext uri="{FF2B5EF4-FFF2-40B4-BE49-F238E27FC236}">
                <a16:creationId xmlns:a16="http://schemas.microsoft.com/office/drawing/2014/main" id="{B1D42498-CB63-49D3-94DF-33021A2669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FF137DDE-5B0D-4D05-B35B-0E472DB6B9D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1">
            <a:extLst xmlns:a="http://schemas.openxmlformats.org/drawingml/2006/main">
              <a:ext uri="{FF2B5EF4-FFF2-40B4-BE49-F238E27FC236}">
                <a16:creationId xmlns:a16="http://schemas.microsoft.com/office/drawing/2014/main" id="{EBC6F3DD-0CD3-47BD-8482-7147B9B7B2B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TO = TK">
            <a:extLst xmlns:a="http://schemas.openxmlformats.org/drawingml/2006/main">
              <a:ext uri="{FF2B5EF4-FFF2-40B4-BE49-F238E27FC236}">
                <a16:creationId xmlns:a16="http://schemas.microsoft.com/office/drawing/2014/main" id="{864B491B-C182-4D5F-B530-6B70F73A6B71}"/>
              </a:ext>
            </a:extLst>
          </p:cNvPr>
          <p:cNvSpPr>
            <a:spLocks xmlns:a="http://schemas.openxmlformats.org/drawingml/2006/main" noGrp="1"/>
          </p:cNvSpPr>
          <p:nvPr/>
        </p:nvSpPr>
        <p:spPr>
          <a:xfrm xmlns:a="http://schemas.openxmlformats.org/drawingml/2006/main">
            <a:off x="571500" y="2000250"/>
            <a:ext cx="952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TO = TK</a:t>
            </a:r>
          </a:p>
        </p:txBody>
      </p:sp>
      <p:sp>
        <p:nvSpPr>
          <p:cNvPr id="6" name="Opbrengst gelijk aan kosten">
            <a:extLst xmlns:a="http://schemas.openxmlformats.org/drawingml/2006/main">
              <a:ext uri="{FF2B5EF4-FFF2-40B4-BE49-F238E27FC236}">
                <a16:creationId xmlns:a16="http://schemas.microsoft.com/office/drawing/2014/main" id="{447A0C1F-3F16-41C0-82AD-AEDD19616DD9}"/>
              </a:ext>
            </a:extLst>
          </p:cNvPr>
          <p:cNvSpPr>
            <a:spLocks xmlns:a="http://schemas.openxmlformats.org/drawingml/2006/main" noGrp="1"/>
          </p:cNvSpPr>
          <p:nvPr/>
        </p:nvSpPr>
        <p:spPr>
          <a:xfrm xmlns:a="http://schemas.openxmlformats.org/drawingml/2006/main">
            <a:off x="10477500" y="20478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Opbrengst gelijk aan kosten</a:t>
            </a:r>
          </a:p>
        </p:txBody>
      </p:sp>
      <p:sp>
        <p:nvSpPr>
          <p:cNvPr id="7" name="1,50Q = 500 + 0,80Q">
            <a:extLst xmlns:a="http://schemas.openxmlformats.org/drawingml/2006/main">
              <a:ext uri="{FF2B5EF4-FFF2-40B4-BE49-F238E27FC236}">
                <a16:creationId xmlns:a16="http://schemas.microsoft.com/office/drawing/2014/main" id="{6C8467E6-3422-4811-8EA8-98C48BDD13EF}"/>
              </a:ext>
            </a:extLst>
          </p:cNvPr>
          <p:cNvSpPr>
            <a:spLocks xmlns:a="http://schemas.openxmlformats.org/drawingml/2006/main" noGrp="1"/>
          </p:cNvSpPr>
          <p:nvPr/>
        </p:nvSpPr>
        <p:spPr>
          <a:xfrm xmlns:a="http://schemas.openxmlformats.org/drawingml/2006/main">
            <a:off x="571500" y="3276600"/>
            <a:ext cx="952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1,50Q = 500 + 0,80Q</a:t>
            </a:r>
          </a:p>
        </p:txBody>
      </p:sp>
      <p:sp>
        <p:nvSpPr>
          <p:cNvPr id="8" name="Functies invullen">
            <a:extLst xmlns:a="http://schemas.openxmlformats.org/drawingml/2006/main">
              <a:ext uri="{FF2B5EF4-FFF2-40B4-BE49-F238E27FC236}">
                <a16:creationId xmlns:a16="http://schemas.microsoft.com/office/drawing/2014/main" id="{E7611424-5A36-4A23-9A66-F091EE86E8A2}"/>
              </a:ext>
            </a:extLst>
          </p:cNvPr>
          <p:cNvSpPr>
            <a:spLocks xmlns:a="http://schemas.openxmlformats.org/drawingml/2006/main" noGrp="1"/>
          </p:cNvSpPr>
          <p:nvPr/>
        </p:nvSpPr>
        <p:spPr>
          <a:xfrm xmlns:a="http://schemas.openxmlformats.org/drawingml/2006/main">
            <a:off x="10477500" y="332422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Functies invullen</a:t>
            </a:r>
          </a:p>
        </p:txBody>
      </p:sp>
      <p:sp>
        <p:nvSpPr>
          <p:cNvPr id="9" name="0,70Q = 500">
            <a:extLst xmlns:a="http://schemas.openxmlformats.org/drawingml/2006/main">
              <a:ext uri="{FF2B5EF4-FFF2-40B4-BE49-F238E27FC236}">
                <a16:creationId xmlns:a16="http://schemas.microsoft.com/office/drawing/2014/main" id="{9F0275E4-A538-42D4-9E1F-E90A4977C8C8}"/>
              </a:ext>
            </a:extLst>
          </p:cNvPr>
          <p:cNvSpPr>
            <a:spLocks xmlns:a="http://schemas.openxmlformats.org/drawingml/2006/main" noGrp="1"/>
          </p:cNvSpPr>
          <p:nvPr/>
        </p:nvSpPr>
        <p:spPr>
          <a:xfrm xmlns:a="http://schemas.openxmlformats.org/drawingml/2006/main">
            <a:off x="571500" y="4552950"/>
            <a:ext cx="952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0,70Q = 500</a:t>
            </a:r>
          </a:p>
        </p:txBody>
      </p:sp>
      <p:sp>
        <p:nvSpPr>
          <p:cNvPr id="10" name="Aan beide kanten 0,80Q aftrekken">
            <a:extLst xmlns:a="http://schemas.openxmlformats.org/drawingml/2006/main">
              <a:ext uri="{FF2B5EF4-FFF2-40B4-BE49-F238E27FC236}">
                <a16:creationId xmlns:a16="http://schemas.microsoft.com/office/drawing/2014/main" id="{C38BEDC0-D258-43ED-90FB-C1FC476B4343}"/>
              </a:ext>
            </a:extLst>
          </p:cNvPr>
          <p:cNvSpPr>
            <a:spLocks xmlns:a="http://schemas.openxmlformats.org/drawingml/2006/main" noGrp="1"/>
          </p:cNvSpPr>
          <p:nvPr/>
        </p:nvSpPr>
        <p:spPr>
          <a:xfrm xmlns:a="http://schemas.openxmlformats.org/drawingml/2006/main">
            <a:off x="10477500" y="46005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Aan beide kanten 0,80Q aftrekken</a:t>
            </a:r>
          </a:p>
        </p:txBody>
      </p:sp>
      <p:sp>
        <p:nvSpPr>
          <p:cNvPr id="11" name="Q = 500 / 0,70 = 714,285714…">
            <a:extLst xmlns:a="http://schemas.openxmlformats.org/drawingml/2006/main">
              <a:ext uri="{FF2B5EF4-FFF2-40B4-BE49-F238E27FC236}">
                <a16:creationId xmlns:a16="http://schemas.microsoft.com/office/drawing/2014/main" id="{0029FBBB-2431-4436-B533-4B5365B0906E}"/>
              </a:ext>
            </a:extLst>
          </p:cNvPr>
          <p:cNvSpPr>
            <a:spLocks xmlns:a="http://schemas.openxmlformats.org/drawingml/2006/main" noGrp="1"/>
          </p:cNvSpPr>
          <p:nvPr/>
        </p:nvSpPr>
        <p:spPr>
          <a:xfrm xmlns:a="http://schemas.openxmlformats.org/drawingml/2006/main">
            <a:off x="571500" y="5829300"/>
            <a:ext cx="952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Q = 500 / 0,70 = 714,285714…</a:t>
            </a:r>
          </a:p>
        </p:txBody>
      </p:sp>
      <p:sp>
        <p:nvSpPr>
          <p:cNvPr id="12" name="Delen door 0,70">
            <a:extLst xmlns:a="http://schemas.openxmlformats.org/drawingml/2006/main">
              <a:ext uri="{FF2B5EF4-FFF2-40B4-BE49-F238E27FC236}">
                <a16:creationId xmlns:a16="http://schemas.microsoft.com/office/drawing/2014/main" id="{D8475D0B-0AC3-4045-9093-4CA0973437D3}"/>
              </a:ext>
            </a:extLst>
          </p:cNvPr>
          <p:cNvSpPr>
            <a:spLocks xmlns:a="http://schemas.openxmlformats.org/drawingml/2006/main" noGrp="1"/>
          </p:cNvSpPr>
          <p:nvPr/>
        </p:nvSpPr>
        <p:spPr>
          <a:xfrm xmlns:a="http://schemas.openxmlformats.org/drawingml/2006/main">
            <a:off x="10477500" y="587692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Delen door 0,70</a:t>
            </a:r>
          </a:p>
        </p:txBody>
      </p:sp>
      <p:sp>
        <p:nvSpPr>
          <p:cNvPr id="13" name="Volgens de rechte lijnen: ongeveer 714,29 broden per maand">
            <a:extLst xmlns:a="http://schemas.openxmlformats.org/drawingml/2006/main">
              <a:ext uri="{FF2B5EF4-FFF2-40B4-BE49-F238E27FC236}">
                <a16:creationId xmlns:a16="http://schemas.microsoft.com/office/drawing/2014/main" id="{FE609EB2-4507-4AA3-937B-B61FDCCD0CB5}"/>
              </a:ext>
            </a:extLst>
          </p:cNvPr>
          <p:cNvSpPr>
            <a:spLocks xmlns:a="http://schemas.openxmlformats.org/drawingml/2006/main" noGrp="1"/>
          </p:cNvSpPr>
          <p:nvPr/>
        </p:nvSpPr>
        <p:spPr>
          <a:xfrm xmlns:a="http://schemas.openxmlformats.org/drawingml/2006/main">
            <a:off x="571500" y="74295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Volgens de rechte lijnen: ongeveer 714,29 broden per maand</a:t>
            </a:r>
          </a:p>
        </p:txBody>
      </p:sp>
    </p:spTree>
    <p:extLst>
      <p:ext uri="{BB962C8B-B14F-4D97-AF65-F5344CB8AC3E}">
        <p14:creationId xmlns:p14="http://schemas.microsoft.com/office/powerpoint/2010/main" val="2835447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c · Het eerste gehele aantal">
            <a:extLst xmlns:a="http://schemas.openxmlformats.org/drawingml/2006/main">
              <a:ext uri="{FF2B5EF4-FFF2-40B4-BE49-F238E27FC236}">
                <a16:creationId xmlns:a16="http://schemas.microsoft.com/office/drawing/2014/main" id="{10DF8E35-614B-4C18-84B5-BF6E7764050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Het eerste gehele aantal</a:t>
            </a:r>
          </a:p>
        </p:txBody>
      </p:sp>
      <p:sp>
        <p:nvSpPr>
          <p:cNvPr id="2" name="">
            <a:extLst xmlns:a="http://schemas.openxmlformats.org/drawingml/2006/main">
              <a:ext uri="{FF2B5EF4-FFF2-40B4-BE49-F238E27FC236}">
                <a16:creationId xmlns:a16="http://schemas.microsoft.com/office/drawing/2014/main" id="{B8097A31-7273-4274-A6AE-D77BED512C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34B88BC3-3723-45D1-BB5B-D1D563C9588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2">
            <a:extLst xmlns:a="http://schemas.openxmlformats.org/drawingml/2006/main">
              <a:ext uri="{FF2B5EF4-FFF2-40B4-BE49-F238E27FC236}">
                <a16:creationId xmlns:a16="http://schemas.microsoft.com/office/drawing/2014/main" id="{0F7FA01B-7E23-4439-B402-B0E11C99074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Winst = TO − TK = 0,70Q − 500">
            <a:extLst xmlns:a="http://schemas.openxmlformats.org/drawingml/2006/main">
              <a:ext uri="{FF2B5EF4-FFF2-40B4-BE49-F238E27FC236}">
                <a16:creationId xmlns:a16="http://schemas.microsoft.com/office/drawing/2014/main" id="{62164D40-1AFC-46F9-9E6C-111E822D3D51}"/>
              </a:ext>
            </a:extLst>
          </p:cNvPr>
          <p:cNvSpPr>
            <a:spLocks xmlns:a="http://schemas.openxmlformats.org/drawingml/2006/main" noGrp="1"/>
          </p:cNvSpPr>
          <p:nvPr/>
        </p:nvSpPr>
        <p:spPr>
          <a:xfrm xmlns:a="http://schemas.openxmlformats.org/drawingml/2006/main">
            <a:off x="571500" y="18573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Winst = TO − TK = 0,70Q − 500</a:t>
            </a:r>
          </a:p>
        </p:txBody>
      </p:sp>
      <p:graphicFrame>
        <p:nvGraphicFramePr>
          <p:cNvPr id="14" name=""/>
          <p:cNvGraphicFramePr/>
          <p:nvPr/>
        </p:nvGraphicFramePr>
        <p:xfrm>
          <a:off xmlns:a="http://schemas.openxmlformats.org/drawingml/2006/main" x="571500" y="3124200"/>
          <a:ext xmlns:a="http://schemas.openxmlformats.org/drawingml/2006/main" cx="14097000" cy="2819400"/>
        </p:xfrm>
        <a:graphic xmlns:a="http://schemas.openxmlformats.org/drawingml/2006/main">
          <a:graphicData uri="http://schemas.openxmlformats.org/drawingml/2006/table">
            <a:tbl>
              <a:tblPr/>
              <a:tblGrid>
                <a:gridCol w="4191000"/>
                <a:gridCol w="5619750"/>
                <a:gridCol w="4286250"/>
              </a:tblGrid>
              <a:tr h="939800">
                <a:tc>
                  <a:txBody>
                    <a:bodyPr lIns="171450" tIns="95250" rIns="152400" bIns="95250"/>
                    <a:lstStyle/>
                    <a:p>
                      <a:r>
                        <a:rPr sz="2550" b="1">
                          <a:solidFill>
                            <a:srgbClr val="FFFFFF"/>
                          </a:solidFill>
                          <a:latin typeface="Arial"/>
                          <a:ea typeface="Arial"/>
                          <a:cs typeface="Arial"/>
                        </a:rPr>
                        <a:t>Q (broden per maand)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 winst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Resultaat per maand</a:t>
                      </a:r>
                    </a:p>
                  </a:txBody>
                  <a:tcPr marL="91440" marR="91440" marT="45720" marB="45720" anchor="ctr">
                    <a:solidFill>
                      <a:srgbClr val="183247"/>
                    </a:solidFill>
                  </a:tcPr>
                </a:tc>
              </a:tr>
              <a:tr h="939800">
                <a:tc>
                  <a:txBody>
                    <a:bodyPr lIns="171450" tIns="95250" rIns="152400" bIns="95250"/>
                    <a:lstStyle/>
                    <a:p>
                      <a:r>
                        <a:rPr sz="2550" b="0">
                          <a:solidFill>
                            <a:srgbClr val="183247"/>
                          </a:solidFill>
                          <a:latin typeface="Arial"/>
                          <a:ea typeface="Arial"/>
                          <a:cs typeface="Arial"/>
                        </a:rPr>
                        <a:t>714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0,70 × 714 − 500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−€ 0,20</a:t>
                      </a:r>
                    </a:p>
                  </a:txBody>
                  <a:tcPr marL="91440" marR="91440" marT="45720" marB="45720" anchor="ctr">
                    <a:solidFill>
                      <a:srgbClr val="FFFFFF"/>
                    </a:solidFill>
                  </a:tcPr>
                </a:tc>
              </a:tr>
              <a:tr h="939800">
                <a:tc>
                  <a:txBody>
                    <a:bodyPr lIns="171450" tIns="95250" rIns="152400" bIns="95250"/>
                    <a:lstStyle/>
                    <a:p>
                      <a:r>
                        <a:rPr sz="2550" b="0">
                          <a:solidFill>
                            <a:srgbClr val="183247"/>
                          </a:solidFill>
                          <a:latin typeface="Arial"/>
                          <a:ea typeface="Arial"/>
                          <a:cs typeface="Arial"/>
                        </a:rPr>
                        <a:t>715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0,70 × 715 − 500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+€ 0,50</a:t>
                      </a:r>
                    </a:p>
                  </a:txBody>
                  <a:tcPr marL="91440" marR="91440" marT="45720" marB="45720" anchor="ctr">
                    <a:solidFill>
                      <a:srgbClr val="EFF4F7"/>
                    </a:solidFill>
                  </a:tcPr>
                </a:tc>
              </a:tr>
            </a:tbl>
          </a:graphicData>
        </a:graphic>
      </p:graphicFrame>
      <p:sp>
        <p:nvSpPr>
          <p:cNvPr id="7" name="715 broden per maand: het eerste aantal zonder verlies">
            <a:extLst xmlns:a="http://schemas.openxmlformats.org/drawingml/2006/main">
              <a:ext uri="{FF2B5EF4-FFF2-40B4-BE49-F238E27FC236}">
                <a16:creationId xmlns:a16="http://schemas.microsoft.com/office/drawing/2014/main" id="{3FE60080-96F1-41C1-B012-8430F1B0C447}"/>
              </a:ext>
            </a:extLst>
          </p:cNvPr>
          <p:cNvSpPr>
            <a:spLocks xmlns:a="http://schemas.openxmlformats.org/drawingml/2006/main" noGrp="1"/>
          </p:cNvSpPr>
          <p:nvPr/>
        </p:nvSpPr>
        <p:spPr>
          <a:xfrm xmlns:a="http://schemas.openxmlformats.org/drawingml/2006/main">
            <a:off x="571500" y="646747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715 broden per maand: het eerste aantal zonder verlies</a:t>
            </a:r>
          </a:p>
        </p:txBody>
      </p:sp>
      <p:sp>
        <p:nvSpPr>
          <p:cNvPr id="8" name="715 ≤ 1.000, dus dit past binnen de capaciteit.">
            <a:extLst xmlns:a="http://schemas.openxmlformats.org/drawingml/2006/main">
              <a:ext uri="{FF2B5EF4-FFF2-40B4-BE49-F238E27FC236}">
                <a16:creationId xmlns:a16="http://schemas.microsoft.com/office/drawing/2014/main" id="{4405C2C4-590E-4755-ACDB-E02987F554FC}"/>
              </a:ext>
            </a:extLst>
          </p:cNvPr>
          <p:cNvSpPr>
            <a:spLocks xmlns:a="http://schemas.openxmlformats.org/drawingml/2006/main" noGrp="1"/>
          </p:cNvSpPr>
          <p:nvPr/>
        </p:nvSpPr>
        <p:spPr>
          <a:xfrm xmlns:a="http://schemas.openxmlformats.org/drawingml/2006/main">
            <a:off x="571500" y="750570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715 ≤ 1.000, dus dit past binnen de capaciteit.</a:t>
            </a:r>
          </a:p>
        </p:txBody>
      </p:sp>
    </p:spTree>
    <p:extLst>
      <p:ext uri="{BB962C8B-B14F-4D97-AF65-F5344CB8AC3E}">
        <p14:creationId xmlns:p14="http://schemas.microsoft.com/office/powerpoint/2010/main" val="11176722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d · Punten voor de grafiek">
            <a:extLst xmlns:a="http://schemas.openxmlformats.org/drawingml/2006/main">
              <a:ext uri="{FF2B5EF4-FFF2-40B4-BE49-F238E27FC236}">
                <a16:creationId xmlns:a16="http://schemas.microsoft.com/office/drawing/2014/main" id="{A6396AA5-CE5F-4878-8D88-FFC9802EF28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Punten voor de grafiek</a:t>
            </a:r>
          </a:p>
        </p:txBody>
      </p:sp>
      <p:sp>
        <p:nvSpPr>
          <p:cNvPr id="2" name="">
            <a:extLst xmlns:a="http://schemas.openxmlformats.org/drawingml/2006/main">
              <a:ext uri="{FF2B5EF4-FFF2-40B4-BE49-F238E27FC236}">
                <a16:creationId xmlns:a16="http://schemas.microsoft.com/office/drawing/2014/main" id="{0A7C7EBC-6C33-4EDE-8D4C-51BA50524C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0290C391-1051-468E-AC6B-BEBE9006CDF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3">
            <a:extLst xmlns:a="http://schemas.openxmlformats.org/drawingml/2006/main">
              <a:ext uri="{FF2B5EF4-FFF2-40B4-BE49-F238E27FC236}">
                <a16:creationId xmlns:a16="http://schemas.microsoft.com/office/drawing/2014/main" id="{9A6627EF-8B88-4047-96BD-7029A967C14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
          <p:cNvGraphicFramePr/>
          <p:nvPr/>
        </p:nvGraphicFramePr>
        <p:xfrm>
          <a:off xmlns:a="http://schemas.openxmlformats.org/drawingml/2006/main" x="571500" y="2190750"/>
          <a:ext xmlns:a="http://schemas.openxmlformats.org/drawingml/2006/main" cx="14097000" cy="2952750"/>
        </p:xfrm>
        <a:graphic xmlns:a="http://schemas.openxmlformats.org/drawingml/2006/main">
          <a:graphicData uri="http://schemas.openxmlformats.org/drawingml/2006/table">
            <a:tbl>
              <a:tblPr/>
              <a:tblGrid>
                <a:gridCol w="6191250"/>
                <a:gridCol w="3524250"/>
                <a:gridCol w="4381500"/>
              </a:tblGrid>
              <a:tr h="984250">
                <a:tc>
                  <a:txBody>
                    <a:bodyPr lIns="171450" tIns="95250" rIns="152400" bIns="95250"/>
                    <a:lstStyle/>
                    <a:p>
                      <a:r>
                        <a:rPr sz="2550" b="1">
                          <a:solidFill>
                            <a:srgbClr val="FFFFFF"/>
                          </a:solidFill>
                          <a:latin typeface="Arial"/>
                          <a:ea typeface="Arial"/>
                          <a:cs typeface="Arial"/>
                        </a:rPr>
                        <a:t>Lijn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 Q = 0</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 Q = 1.000</a:t>
                      </a:r>
                    </a:p>
                  </a:txBody>
                  <a:tcPr marL="91440" marR="91440" marT="45720" marB="45720" anchor="ctr">
                    <a:solidFill>
                      <a:srgbClr val="183247"/>
                    </a:solidFill>
                  </a:tcPr>
                </a:tc>
              </a:tr>
              <a:tr h="984250">
                <a:tc>
                  <a:txBody>
                    <a:bodyPr lIns="171450" tIns="95250" rIns="152400" bIns="95250"/>
                    <a:lstStyle/>
                    <a:p>
                      <a:r>
                        <a:rPr sz="2550" b="0">
                          <a:solidFill>
                            <a:srgbClr val="183247"/>
                          </a:solidFill>
                          <a:latin typeface="Arial"/>
                          <a:ea typeface="Arial"/>
                          <a:cs typeface="Arial"/>
                        </a:rPr>
                        <a:t>TK = 500 + 0,80Q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 500)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(1.000; 1.300)</a:t>
                      </a:r>
                    </a:p>
                  </a:txBody>
                  <a:tcPr marL="91440" marR="91440" marT="45720" marB="45720" anchor="ctr">
                    <a:solidFill>
                      <a:srgbClr val="FFFFFF"/>
                    </a:solidFill>
                  </a:tcPr>
                </a:tc>
              </a:tr>
              <a:tr h="984250">
                <a:tc>
                  <a:txBody>
                    <a:bodyPr lIns="171450" tIns="95250" rIns="152400" bIns="95250"/>
                    <a:lstStyle/>
                    <a:p>
                      <a:r>
                        <a:rPr sz="2550" b="0">
                          <a:solidFill>
                            <a:srgbClr val="183247"/>
                          </a:solidFill>
                          <a:latin typeface="Arial"/>
                          <a:ea typeface="Arial"/>
                          <a:cs typeface="Arial"/>
                        </a:rPr>
                        <a:t>TO = 1,50Q</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 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(1.000; 1.500)</a:t>
                      </a:r>
                    </a:p>
                  </a:txBody>
                  <a:tcPr marL="91440" marR="91440" marT="45720" marB="45720" anchor="ctr">
                    <a:solidFill>
                      <a:srgbClr val="EFF4F7"/>
                    </a:solidFill>
                  </a:tcPr>
                </a:tc>
              </a:tr>
            </a:tbl>
          </a:graphicData>
        </a:graphic>
      </p:graphicFrame>
      <p:sp>
        <p:nvSpPr>
          <p:cNvPr id="6" name="Horizontaal: Q, broden per maand">
            <a:extLst xmlns:a="http://schemas.openxmlformats.org/drawingml/2006/main">
              <a:ext uri="{FF2B5EF4-FFF2-40B4-BE49-F238E27FC236}">
                <a16:creationId xmlns:a16="http://schemas.microsoft.com/office/drawing/2014/main" id="{8302E549-D92E-4DC1-8314-50AA4F41AAD0}"/>
              </a:ext>
            </a:extLst>
          </p:cNvPr>
          <p:cNvSpPr>
            <a:spLocks xmlns:a="http://schemas.openxmlformats.org/drawingml/2006/main" noGrp="1"/>
          </p:cNvSpPr>
          <p:nvPr/>
        </p:nvSpPr>
        <p:spPr>
          <a:xfrm xmlns:a="http://schemas.openxmlformats.org/drawingml/2006/main">
            <a:off x="571500" y="57721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Horizontaal: Q, broden per maand</a:t>
            </a:r>
          </a:p>
        </p:txBody>
      </p:sp>
      <p:sp>
        <p:nvSpPr>
          <p:cNvPr id="7" name="Verticaal: TO en TK, euro per maand">
            <a:extLst xmlns:a="http://schemas.openxmlformats.org/drawingml/2006/main">
              <a:ext uri="{FF2B5EF4-FFF2-40B4-BE49-F238E27FC236}">
                <a16:creationId xmlns:a16="http://schemas.microsoft.com/office/drawing/2014/main" id="{2A2B5183-7EC1-4D4D-8CEE-E74852327A3F}"/>
              </a:ext>
            </a:extLst>
          </p:cNvPr>
          <p:cNvSpPr>
            <a:spLocks xmlns:a="http://schemas.openxmlformats.org/drawingml/2006/main" noGrp="1"/>
          </p:cNvSpPr>
          <p:nvPr/>
        </p:nvSpPr>
        <p:spPr>
          <a:xfrm xmlns:a="http://schemas.openxmlformats.org/drawingml/2006/main">
            <a:off x="571500" y="65341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Verticaal: TO en TK, euro per maand</a:t>
            </a:r>
          </a:p>
        </p:txBody>
      </p:sp>
      <p:sp>
        <p:nvSpPr>
          <p:cNvPr id="8" name="De lijnen stoppen bij 1.000 broden per maand.">
            <a:extLst xmlns:a="http://schemas.openxmlformats.org/drawingml/2006/main">
              <a:ext uri="{FF2B5EF4-FFF2-40B4-BE49-F238E27FC236}">
                <a16:creationId xmlns:a16="http://schemas.microsoft.com/office/drawing/2014/main" id="{827066B4-B252-40DA-B0BE-DC4A0766D3DA}"/>
              </a:ext>
            </a:extLst>
          </p:cNvPr>
          <p:cNvSpPr>
            <a:spLocks xmlns:a="http://schemas.openxmlformats.org/drawingml/2006/main" noGrp="1"/>
          </p:cNvSpPr>
          <p:nvPr/>
        </p:nvSpPr>
        <p:spPr>
          <a:xfrm xmlns:a="http://schemas.openxmlformats.org/drawingml/2006/main">
            <a:off x="571500" y="744855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7658A"/>
                </a:solidFill>
                <a:latin typeface="Arial"/>
                <a:ea typeface="Arial"/>
                <a:cs typeface="Arial"/>
              </a:defRPr>
            </a:pPr>
            <a:r>
              <a:rPr sz="2550" b="0">
                <a:solidFill>
                  <a:srgbClr val="17658A"/>
                </a:solidFill>
                <a:latin typeface="Arial"/>
                <a:ea typeface="Arial"/>
                <a:cs typeface="Arial"/>
              </a:rPr>
              <a:t>De lijnen stoppen bij 1.000 broden per maand.</a:t>
            </a:r>
          </a:p>
        </p:txBody>
      </p:sp>
    </p:spTree>
    <p:extLst>
      <p:ext uri="{BB962C8B-B14F-4D97-AF65-F5344CB8AC3E}">
        <p14:creationId xmlns:p14="http://schemas.microsoft.com/office/powerpoint/2010/main" val="15198980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d · Eerst TK">
            <a:extLst xmlns:a="http://schemas.openxmlformats.org/drawingml/2006/main">
              <a:ext uri="{FF2B5EF4-FFF2-40B4-BE49-F238E27FC236}">
                <a16:creationId xmlns:a16="http://schemas.microsoft.com/office/drawing/2014/main" id="{86C62981-3111-4143-A164-A60DB82B18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Eerst TK</a:t>
            </a:r>
          </a:p>
        </p:txBody>
      </p:sp>
      <p:sp>
        <p:nvSpPr>
          <p:cNvPr id="2" name="">
            <a:extLst xmlns:a="http://schemas.openxmlformats.org/drawingml/2006/main">
              <a:ext uri="{FF2B5EF4-FFF2-40B4-BE49-F238E27FC236}">
                <a16:creationId xmlns:a16="http://schemas.microsoft.com/office/drawing/2014/main" id="{26DF6338-62F3-4B0F-8559-30D361AE73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A372F630-1281-41D3-AA9D-C47BDA570AA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4">
            <a:extLst xmlns:a="http://schemas.openxmlformats.org/drawingml/2006/main">
              <a:ext uri="{FF2B5EF4-FFF2-40B4-BE49-F238E27FC236}">
                <a16:creationId xmlns:a16="http://schemas.microsoft.com/office/drawing/2014/main" id="{11908978-9293-4470-8867-8F5B368FE3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e522a6636771479d"/>
          </a:graphicData>
        </a:graphic>
      </p:graphicFrame>
      <p:sp>
        <p:nvSpPr>
          <p:cNvPr id="6" name="TK = 500 + 0,80Q">
            <a:extLst xmlns:a="http://schemas.openxmlformats.org/drawingml/2006/main">
              <a:ext uri="{FF2B5EF4-FFF2-40B4-BE49-F238E27FC236}">
                <a16:creationId xmlns:a16="http://schemas.microsoft.com/office/drawing/2014/main" id="{40276F02-4F75-4962-8E40-C70240F2E544}"/>
              </a:ext>
            </a:extLst>
          </p:cNvPr>
          <p:cNvSpPr>
            <a:spLocks xmlns:a="http://schemas.openxmlformats.org/drawingml/2006/main" noGrp="1"/>
          </p:cNvSpPr>
          <p:nvPr/>
        </p:nvSpPr>
        <p:spPr>
          <a:xfrm xmlns:a="http://schemas.openxmlformats.org/drawingml/2006/main">
            <a:off x="10858500" y="24003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TK = 500 + 0,80Q</a:t>
            </a:r>
          </a:p>
        </p:txBody>
      </p:sp>
      <p:sp>
        <p:nvSpPr>
          <p:cNvPr id="7" name="Bij Q = 0:&#10;€ 500 kosten.">
            <a:extLst xmlns:a="http://schemas.openxmlformats.org/drawingml/2006/main">
              <a:ext uri="{FF2B5EF4-FFF2-40B4-BE49-F238E27FC236}">
                <a16:creationId xmlns:a16="http://schemas.microsoft.com/office/drawing/2014/main" id="{8325661A-2E4B-4D88-86A7-2BB52EAE21FB}"/>
              </a:ext>
            </a:extLst>
          </p:cNvPr>
          <p:cNvSpPr>
            <a:spLocks xmlns:a="http://schemas.openxmlformats.org/drawingml/2006/main" noGrp="1"/>
          </p:cNvSpPr>
          <p:nvPr/>
        </p:nvSpPr>
        <p:spPr>
          <a:xfrm xmlns:a="http://schemas.openxmlformats.org/drawingml/2006/main">
            <a:off x="10858500" y="3695700"/>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€ 500 kosten.</a:t>
            </a:r>
          </a:p>
        </p:txBody>
      </p:sp>
      <p:sp>
        <p:nvSpPr>
          <p:cNvPr id="8" name="Capaciteit:&#10;1.000 broden&#10;per maand">
            <a:extLst xmlns:a="http://schemas.openxmlformats.org/drawingml/2006/main">
              <a:ext uri="{FF2B5EF4-FFF2-40B4-BE49-F238E27FC236}">
                <a16:creationId xmlns:a16="http://schemas.microsoft.com/office/drawing/2014/main" id="{626B9C06-9DC1-434E-96C2-5F148D382C8C}"/>
              </a:ext>
            </a:extLst>
          </p:cNvPr>
          <p:cNvSpPr>
            <a:spLocks xmlns:a="http://schemas.openxmlformats.org/drawingml/2006/main" noGrp="1"/>
          </p:cNvSpPr>
          <p:nvPr/>
        </p:nvSpPr>
        <p:spPr>
          <a:xfrm xmlns:a="http://schemas.openxmlformats.org/drawingml/2006/main">
            <a:off x="10858500" y="5991225"/>
            <a:ext cx="38100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Capaciteit:</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1.000 broden</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per maand</a:t>
            </a:r>
          </a:p>
        </p:txBody>
      </p:sp>
    </p:spTree>
    <p:extLst>
      <p:ext uri="{BB962C8B-B14F-4D97-AF65-F5344CB8AC3E}">
        <p14:creationId xmlns:p14="http://schemas.microsoft.com/office/powerpoint/2010/main" val="11685317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d · TO en het snijpunt">
            <a:extLst xmlns:a="http://schemas.openxmlformats.org/drawingml/2006/main">
              <a:ext uri="{FF2B5EF4-FFF2-40B4-BE49-F238E27FC236}">
                <a16:creationId xmlns:a16="http://schemas.microsoft.com/office/drawing/2014/main" id="{F980DAB2-89EB-47B7-8317-E135CE0D24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TO en het snijpunt</a:t>
            </a:r>
          </a:p>
        </p:txBody>
      </p:sp>
      <p:sp>
        <p:nvSpPr>
          <p:cNvPr id="2" name="">
            <a:extLst xmlns:a="http://schemas.openxmlformats.org/drawingml/2006/main">
              <a:ext uri="{FF2B5EF4-FFF2-40B4-BE49-F238E27FC236}">
                <a16:creationId xmlns:a16="http://schemas.microsoft.com/office/drawing/2014/main" id="{5B30B2DF-4930-493F-8900-C4E2D23405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180BFAF9-2E4A-4E24-8673-92801EE4BF0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5">
            <a:extLst xmlns:a="http://schemas.openxmlformats.org/drawingml/2006/main">
              <a:ext uri="{FF2B5EF4-FFF2-40B4-BE49-F238E27FC236}">
                <a16:creationId xmlns:a16="http://schemas.microsoft.com/office/drawing/2014/main" id="{179546A5-7454-49DB-A81E-C8DC3CBAC99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be5c9ce5b2f64de0"/>
          </a:graphicData>
        </a:graphic>
      </p:graphicFrame>
      <p:sp>
        <p:nvSpPr>
          <p:cNvPr id="6" name="Break-even">
            <a:extLst xmlns:a="http://schemas.openxmlformats.org/drawingml/2006/main">
              <a:ext uri="{FF2B5EF4-FFF2-40B4-BE49-F238E27FC236}">
                <a16:creationId xmlns:a16="http://schemas.microsoft.com/office/drawing/2014/main" id="{8569B8A7-6703-4C5B-B088-02B0CB706D8D}"/>
              </a:ext>
            </a:extLst>
          </p:cNvPr>
          <p:cNvSpPr>
            <a:spLocks xmlns:a="http://schemas.openxmlformats.org/drawingml/2006/main" noGrp="1"/>
          </p:cNvSpPr>
          <p:nvPr/>
        </p:nvSpPr>
        <p:spPr>
          <a:xfrm xmlns:a="http://schemas.openxmlformats.org/drawingml/2006/main">
            <a:off x="10858500" y="24003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Break-even</a:t>
            </a:r>
          </a:p>
        </p:txBody>
      </p:sp>
      <p:sp>
        <p:nvSpPr>
          <p:cNvPr id="7" name="Q ≈ 714,29&#10;TO = TK&#10;≈ € 1.071,43">
            <a:extLst xmlns:a="http://schemas.openxmlformats.org/drawingml/2006/main">
              <a:ext uri="{FF2B5EF4-FFF2-40B4-BE49-F238E27FC236}">
                <a16:creationId xmlns:a16="http://schemas.microsoft.com/office/drawing/2014/main" id="{B465B078-BB54-474C-A90E-DB565B17B167}"/>
              </a:ext>
            </a:extLst>
          </p:cNvPr>
          <p:cNvSpPr>
            <a:spLocks xmlns:a="http://schemas.openxmlformats.org/drawingml/2006/main" noGrp="1"/>
          </p:cNvSpPr>
          <p:nvPr/>
        </p:nvSpPr>
        <p:spPr>
          <a:xfrm xmlns:a="http://schemas.openxmlformats.org/drawingml/2006/main">
            <a:off x="10858500" y="331470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714,29</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 = TK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€ 1.071,43</a:t>
            </a:r>
          </a:p>
        </p:txBody>
      </p:sp>
      <p:sp>
        <p:nvSpPr>
          <p:cNvPr id="8" name="Links: verlies&#10;TO &lt; TK&#10;&#10;Rechts: winst&#10;TO &gt; TK">
            <a:extLst xmlns:a="http://schemas.openxmlformats.org/drawingml/2006/main">
              <a:ext uri="{FF2B5EF4-FFF2-40B4-BE49-F238E27FC236}">
                <a16:creationId xmlns:a16="http://schemas.microsoft.com/office/drawing/2014/main" id="{97D77AD1-68E4-4ADF-B333-A36A9E294C9B}"/>
              </a:ext>
            </a:extLst>
          </p:cNvPr>
          <p:cNvSpPr>
            <a:spLocks xmlns:a="http://schemas.openxmlformats.org/drawingml/2006/main" noGrp="1"/>
          </p:cNvSpPr>
          <p:nvPr/>
        </p:nvSpPr>
        <p:spPr>
          <a:xfrm xmlns:a="http://schemas.openxmlformats.org/drawingml/2006/main">
            <a:off x="10858500" y="5610225"/>
            <a:ext cx="381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Links: verlies</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TO &lt; TK</a:t>
            </a:r>
          </a:p>
          <a:p xmlns:a="http://schemas.openxmlformats.org/drawingml/2006/main">
            <a:r>
              <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Rechts: winst</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TO &gt; TK</a:t>
            </a:r>
          </a:p>
        </p:txBody>
      </p:sp>
    </p:spTree>
    <p:extLst>
      <p:ext uri="{BB962C8B-B14F-4D97-AF65-F5344CB8AC3E}">
        <p14:creationId xmlns:p14="http://schemas.microsoft.com/office/powerpoint/2010/main" val="6142073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d · Winst als verticale afstand">
            <a:extLst xmlns:a="http://schemas.openxmlformats.org/drawingml/2006/main">
              <a:ext uri="{FF2B5EF4-FFF2-40B4-BE49-F238E27FC236}">
                <a16:creationId xmlns:a16="http://schemas.microsoft.com/office/drawing/2014/main" id="{70534C71-CCDE-4711-8313-3418D0B11C4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Winst als verticale afstand</a:t>
            </a:r>
          </a:p>
        </p:txBody>
      </p:sp>
      <p:sp>
        <p:nvSpPr>
          <p:cNvPr id="2" name="">
            <a:extLst xmlns:a="http://schemas.openxmlformats.org/drawingml/2006/main">
              <a:ext uri="{FF2B5EF4-FFF2-40B4-BE49-F238E27FC236}">
                <a16:creationId xmlns:a16="http://schemas.microsoft.com/office/drawing/2014/main" id="{DC736C7B-C7A8-4CD2-B2B9-9F624E1933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 Opgave 8 · Boekpag">
            <a:extLst xmlns:a="http://schemas.openxmlformats.org/drawingml/2006/main">
              <a:ext uri="{FF2B5EF4-FFF2-40B4-BE49-F238E27FC236}">
                <a16:creationId xmlns:a16="http://schemas.microsoft.com/office/drawing/2014/main" id="{9E19F069-70A7-4747-80A4-A5BE1DBDB62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 · Opgave 8 · Boekpagina 17</a:t>
            </a:r>
          </a:p>
        </p:txBody>
      </p:sp>
      <p:sp>
        <p:nvSpPr>
          <p:cNvPr id="4" name="26">
            <a:extLst xmlns:a="http://schemas.openxmlformats.org/drawingml/2006/main">
              <a:ext uri="{FF2B5EF4-FFF2-40B4-BE49-F238E27FC236}">
                <a16:creationId xmlns:a16="http://schemas.microsoft.com/office/drawing/2014/main" id="{E937D918-8D86-4B0A-BE2A-3170AE8EFC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571500" y="2000250"/>
          <a:ext xmlns:a="http://schemas.openxmlformats.org/drawingml/2006/main" cx="9906000" cy="5762625"/>
        </p:xfrm>
        <a:graphic xmlns:a="http://schemas.openxmlformats.org/drawingml/2006/main">
          <a:graphicData uri="http://schemas.openxmlformats.org/drawingml/2006/chart">
            <c:chart xmlns:r="http://schemas.openxmlformats.org/officeDocument/2006/relationships" xmlns:c="http://schemas.openxmlformats.org/drawingml/2006/chart" r:id="Rcf7066f31bff4ce7"/>
          </a:graphicData>
        </a:graphic>
      </p:graphicFrame>
      <p:sp>
        <p:nvSpPr>
          <p:cNvPr id="6" name="Bij Q = 1.000">
            <a:extLst xmlns:a="http://schemas.openxmlformats.org/drawingml/2006/main">
              <a:ext uri="{FF2B5EF4-FFF2-40B4-BE49-F238E27FC236}">
                <a16:creationId xmlns:a16="http://schemas.microsoft.com/office/drawing/2014/main" id="{AB560EA4-225D-49D8-A714-306FC4BE1B81}"/>
              </a:ext>
            </a:extLst>
          </p:cNvPr>
          <p:cNvSpPr>
            <a:spLocks xmlns:a="http://schemas.openxmlformats.org/drawingml/2006/main" noGrp="1"/>
          </p:cNvSpPr>
          <p:nvPr/>
        </p:nvSpPr>
        <p:spPr>
          <a:xfrm xmlns:a="http://schemas.openxmlformats.org/drawingml/2006/main">
            <a:off x="10858500" y="2400300"/>
            <a:ext cx="3810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Bij Q = 1.000</a:t>
            </a:r>
          </a:p>
        </p:txBody>
      </p:sp>
      <p:sp>
        <p:nvSpPr>
          <p:cNvPr id="7" name="TO = € 1.500&#10;TK = € 1.300&#10;Winst = € 200">
            <a:extLst xmlns:a="http://schemas.openxmlformats.org/drawingml/2006/main">
              <a:ext uri="{FF2B5EF4-FFF2-40B4-BE49-F238E27FC236}">
                <a16:creationId xmlns:a16="http://schemas.microsoft.com/office/drawing/2014/main" id="{B3577A87-DDFC-463C-B2F0-181D09A4325C}"/>
              </a:ext>
            </a:extLst>
          </p:cNvPr>
          <p:cNvSpPr>
            <a:spLocks xmlns:a="http://schemas.openxmlformats.org/drawingml/2006/main" noGrp="1"/>
          </p:cNvSpPr>
          <p:nvPr/>
        </p:nvSpPr>
        <p:spPr>
          <a:xfrm xmlns:a="http://schemas.openxmlformats.org/drawingml/2006/main">
            <a:off x="10858500" y="3248025"/>
            <a:ext cx="3810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TO = € 1.500</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TK = € 1.300</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Winst = € 200</a:t>
            </a:r>
          </a:p>
        </p:txBody>
      </p:sp>
      <p:sp>
        <p:nvSpPr>
          <p:cNvPr id="8" name="Per maand.&#10;De verticale afstand&#10;is TO − TK.">
            <a:extLst xmlns:a="http://schemas.openxmlformats.org/drawingml/2006/main">
              <a:ext uri="{FF2B5EF4-FFF2-40B4-BE49-F238E27FC236}">
                <a16:creationId xmlns:a16="http://schemas.microsoft.com/office/drawing/2014/main" id="{40404194-35FD-47D7-A0CE-BB9F37F3D569}"/>
              </a:ext>
            </a:extLst>
          </p:cNvPr>
          <p:cNvSpPr>
            <a:spLocks xmlns:a="http://schemas.openxmlformats.org/drawingml/2006/main" noGrp="1"/>
          </p:cNvSpPr>
          <p:nvPr/>
        </p:nvSpPr>
        <p:spPr>
          <a:xfrm xmlns:a="http://schemas.openxmlformats.org/drawingml/2006/main">
            <a:off x="10858500" y="5800725"/>
            <a:ext cx="3810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Per maand.</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verticale afstand</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is TO − TK.</a:t>
            </a:r>
          </a:p>
        </p:txBody>
      </p:sp>
    </p:spTree>
    <p:extLst>
      <p:ext uri="{BB962C8B-B14F-4D97-AF65-F5344CB8AC3E}">
        <p14:creationId xmlns:p14="http://schemas.microsoft.com/office/powerpoint/2010/main" val="14057992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8">
            <a:extLst xmlns:a="http://schemas.openxmlformats.org/drawingml/2006/main">
              <a:ext uri="{FF2B5EF4-FFF2-40B4-BE49-F238E27FC236}">
                <a16:creationId xmlns:a16="http://schemas.microsoft.com/office/drawing/2014/main" id="{8D4B572F-B39E-4849-9CE9-2129C8DEFE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8</a:t>
            </a:r>
          </a:p>
        </p:txBody>
      </p:sp>
      <p:sp>
        <p:nvSpPr>
          <p:cNvPr id="2" name="">
            <a:extLst xmlns:a="http://schemas.openxmlformats.org/drawingml/2006/main">
              <a:ext uri="{FF2B5EF4-FFF2-40B4-BE49-F238E27FC236}">
                <a16:creationId xmlns:a16="http://schemas.microsoft.com/office/drawing/2014/main" id="{BDE9167C-368E-4564-822C-6649F80367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6A951624-43EB-4E48-897E-F693549A9FE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27">
            <a:extLst xmlns:a="http://schemas.openxmlformats.org/drawingml/2006/main">
              <a:ext uri="{FF2B5EF4-FFF2-40B4-BE49-F238E27FC236}">
                <a16:creationId xmlns:a16="http://schemas.microsoft.com/office/drawing/2014/main" id="{59A83D72-FD3F-43A5-8A70-6AF70A59FDA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a · Opbrengsten">
            <a:extLst xmlns:a="http://schemas.openxmlformats.org/drawingml/2006/main">
              <a:ext uri="{FF2B5EF4-FFF2-40B4-BE49-F238E27FC236}">
                <a16:creationId xmlns:a16="http://schemas.microsoft.com/office/drawing/2014/main" id="{EEC106FD-B86F-44C4-B199-7507B1AF9B40}"/>
              </a:ext>
            </a:extLst>
          </p:cNvPr>
          <p:cNvSpPr>
            <a:spLocks xmlns:a="http://schemas.openxmlformats.org/drawingml/2006/main" noGrp="1"/>
          </p:cNvSpPr>
          <p:nvPr/>
        </p:nvSpPr>
        <p:spPr>
          <a:xfrm xmlns:a="http://schemas.openxmlformats.org/drawingml/2006/main">
            <a:off x="571500" y="20002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 · Opbrengsten</a:t>
            </a:r>
          </a:p>
        </p:txBody>
      </p:sp>
      <p:sp>
        <p:nvSpPr>
          <p:cNvPr id="6" name="TO = 1,50Q en GO = € 1,50 per brood, met verklaring.">
            <a:extLst xmlns:a="http://schemas.openxmlformats.org/drawingml/2006/main">
              <a:ext uri="{FF2B5EF4-FFF2-40B4-BE49-F238E27FC236}">
                <a16:creationId xmlns:a16="http://schemas.microsoft.com/office/drawing/2014/main" id="{99D098E1-BF77-4074-8536-363E1D3F71D5}"/>
              </a:ext>
            </a:extLst>
          </p:cNvPr>
          <p:cNvSpPr>
            <a:spLocks xmlns:a="http://schemas.openxmlformats.org/drawingml/2006/main" noGrp="1"/>
          </p:cNvSpPr>
          <p:nvPr/>
        </p:nvSpPr>
        <p:spPr>
          <a:xfrm xmlns:a="http://schemas.openxmlformats.org/drawingml/2006/main">
            <a:off x="5476875" y="2000250"/>
            <a:ext cx="914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TO = 1,50Q en GO = € 1,50 per brood, met verklaring.</a:t>
            </a:r>
          </a:p>
        </p:txBody>
      </p:sp>
      <p:sp>
        <p:nvSpPr>
          <p:cNvPr id="7" name="b · Winst">
            <a:extLst xmlns:a="http://schemas.openxmlformats.org/drawingml/2006/main">
              <a:ext uri="{FF2B5EF4-FFF2-40B4-BE49-F238E27FC236}">
                <a16:creationId xmlns:a16="http://schemas.microsoft.com/office/drawing/2014/main" id="{244098D0-8EE1-40B3-A6EE-1D595180E247}"/>
              </a:ext>
            </a:extLst>
          </p:cNvPr>
          <p:cNvSpPr>
            <a:spLocks xmlns:a="http://schemas.openxmlformats.org/drawingml/2006/main" noGrp="1"/>
          </p:cNvSpPr>
          <p:nvPr/>
        </p:nvSpPr>
        <p:spPr>
          <a:xfrm xmlns:a="http://schemas.openxmlformats.org/drawingml/2006/main">
            <a:off x="571500" y="33528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 · Winst</a:t>
            </a:r>
          </a:p>
        </p:txBody>
      </p:sp>
      <p:sp>
        <p:nvSpPr>
          <p:cNvPr id="8" name="Bij 500: −€ 150. Bij 1.000: +€ 200 per maand.">
            <a:extLst xmlns:a="http://schemas.openxmlformats.org/drawingml/2006/main">
              <a:ext uri="{FF2B5EF4-FFF2-40B4-BE49-F238E27FC236}">
                <a16:creationId xmlns:a16="http://schemas.microsoft.com/office/drawing/2014/main" id="{0065B59B-0F1C-4647-9047-8F255C392262}"/>
              </a:ext>
            </a:extLst>
          </p:cNvPr>
          <p:cNvSpPr>
            <a:spLocks xmlns:a="http://schemas.openxmlformats.org/drawingml/2006/main" noGrp="1"/>
          </p:cNvSpPr>
          <p:nvPr/>
        </p:nvSpPr>
        <p:spPr>
          <a:xfrm xmlns:a="http://schemas.openxmlformats.org/drawingml/2006/main">
            <a:off x="5476875" y="3352800"/>
            <a:ext cx="914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500: −€ 150. Bij 1.000: +€ 200 per maand.</a:t>
            </a:r>
          </a:p>
        </p:txBody>
      </p:sp>
      <p:sp>
        <p:nvSpPr>
          <p:cNvPr id="9" name="c · Break-even">
            <a:extLst xmlns:a="http://schemas.openxmlformats.org/drawingml/2006/main">
              <a:ext uri="{FF2B5EF4-FFF2-40B4-BE49-F238E27FC236}">
                <a16:creationId xmlns:a16="http://schemas.microsoft.com/office/drawing/2014/main" id="{4F526467-68C2-47E7-A0BD-E68CBAC5A109}"/>
              </a:ext>
            </a:extLst>
          </p:cNvPr>
          <p:cNvSpPr>
            <a:spLocks xmlns:a="http://schemas.openxmlformats.org/drawingml/2006/main" noGrp="1"/>
          </p:cNvSpPr>
          <p:nvPr/>
        </p:nvSpPr>
        <p:spPr>
          <a:xfrm xmlns:a="http://schemas.openxmlformats.org/drawingml/2006/main">
            <a:off x="571500" y="47053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 · Break-even</a:t>
            </a:r>
          </a:p>
        </p:txBody>
      </p:sp>
      <p:sp>
        <p:nvSpPr>
          <p:cNvPr id="10" name="Modelgrens ≈ 714,29. Eerste gehele aantal: 715 broden.">
            <a:extLst xmlns:a="http://schemas.openxmlformats.org/drawingml/2006/main">
              <a:ext uri="{FF2B5EF4-FFF2-40B4-BE49-F238E27FC236}">
                <a16:creationId xmlns:a16="http://schemas.microsoft.com/office/drawing/2014/main" id="{4B732574-74BA-4D0C-84A7-40080732257E}"/>
              </a:ext>
            </a:extLst>
          </p:cNvPr>
          <p:cNvSpPr>
            <a:spLocks xmlns:a="http://schemas.openxmlformats.org/drawingml/2006/main" noGrp="1"/>
          </p:cNvSpPr>
          <p:nvPr/>
        </p:nvSpPr>
        <p:spPr>
          <a:xfrm xmlns:a="http://schemas.openxmlformats.org/drawingml/2006/main">
            <a:off x="5476875" y="4705350"/>
            <a:ext cx="914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Modelgrens ≈ 714,29. Eerste gehele aantal: 715 broden.</a:t>
            </a:r>
          </a:p>
        </p:txBody>
      </p:sp>
      <p:sp>
        <p:nvSpPr>
          <p:cNvPr id="11" name="d · Grafiek">
            <a:extLst xmlns:a="http://schemas.openxmlformats.org/drawingml/2006/main">
              <a:ext uri="{FF2B5EF4-FFF2-40B4-BE49-F238E27FC236}">
                <a16:creationId xmlns:a16="http://schemas.microsoft.com/office/drawing/2014/main" id="{B8912DCB-431F-46D6-8C4F-FBFFAF4B68F1}"/>
              </a:ext>
            </a:extLst>
          </p:cNvPr>
          <p:cNvSpPr>
            <a:spLocks xmlns:a="http://schemas.openxmlformats.org/drawingml/2006/main" noGrp="1"/>
          </p:cNvSpPr>
          <p:nvPr/>
        </p:nvSpPr>
        <p:spPr>
          <a:xfrm xmlns:a="http://schemas.openxmlformats.org/drawingml/2006/main">
            <a:off x="571500" y="60579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d · Grafiek</a:t>
            </a:r>
          </a:p>
        </p:txBody>
      </p:sp>
      <p:sp>
        <p:nvSpPr>
          <p:cNvPr id="12" name="Assen, lijnen, snijpunt, winst/verlies en verticale € 200.">
            <a:extLst xmlns:a="http://schemas.openxmlformats.org/drawingml/2006/main">
              <a:ext uri="{FF2B5EF4-FFF2-40B4-BE49-F238E27FC236}">
                <a16:creationId xmlns:a16="http://schemas.microsoft.com/office/drawing/2014/main" id="{520BAC86-D28A-4827-B517-40414B7B26A2}"/>
              </a:ext>
            </a:extLst>
          </p:cNvPr>
          <p:cNvSpPr>
            <a:spLocks xmlns:a="http://schemas.openxmlformats.org/drawingml/2006/main" noGrp="1"/>
          </p:cNvSpPr>
          <p:nvPr/>
        </p:nvSpPr>
        <p:spPr>
          <a:xfrm xmlns:a="http://schemas.openxmlformats.org/drawingml/2006/main">
            <a:off x="5476875" y="6057900"/>
            <a:ext cx="914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Assen, lijnen, snijpunt, winst/verlies en verticale € 200.</a:t>
            </a:r>
          </a:p>
        </p:txBody>
      </p:sp>
      <p:sp>
        <p:nvSpPr>
          <p:cNvPr id="13" name="Verbeter één ontbrekende stap of uitleg in je eigen antwoord">
            <a:extLst xmlns:a="http://schemas.openxmlformats.org/drawingml/2006/main">
              <a:ext uri="{FF2B5EF4-FFF2-40B4-BE49-F238E27FC236}">
                <a16:creationId xmlns:a16="http://schemas.microsoft.com/office/drawing/2014/main" id="{54DE5A52-7A5D-4B09-B5AF-C2FEDF20D4FE}"/>
              </a:ext>
            </a:extLst>
          </p:cNvPr>
          <p:cNvSpPr>
            <a:spLocks xmlns:a="http://schemas.openxmlformats.org/drawingml/2006/main" noGrp="1"/>
          </p:cNvSpPr>
          <p:nvPr/>
        </p:nvSpPr>
        <p:spPr>
          <a:xfrm xmlns:a="http://schemas.openxmlformats.org/drawingml/2006/main">
            <a:off x="571500" y="753427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één ontbrekende stap of uitleg in je eigen antwoord.</a:t>
            </a:r>
          </a:p>
        </p:txBody>
      </p:sp>
    </p:spTree>
    <p:extLst>
      <p:ext uri="{BB962C8B-B14F-4D97-AF65-F5344CB8AC3E}">
        <p14:creationId xmlns:p14="http://schemas.microsoft.com/office/powerpoint/2010/main" val="10989784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2 Opbrengsten, winst en break-even">
            <a:extLst xmlns:a="http://schemas.openxmlformats.org/drawingml/2006/main">
              <a:ext uri="{FF2B5EF4-FFF2-40B4-BE49-F238E27FC236}">
                <a16:creationId xmlns:a16="http://schemas.microsoft.com/office/drawing/2014/main" id="{72E2A262-CC67-4B7F-B1E3-F7ACF1C70B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§2.1.2 Opbrengsten, winst en break-even</a:t>
            </a:r>
          </a:p>
        </p:txBody>
      </p:sp>
      <p:sp>
        <p:nvSpPr>
          <p:cNvPr id="2" name="">
            <a:extLst xmlns:a="http://schemas.openxmlformats.org/drawingml/2006/main">
              <a:ext uri="{FF2B5EF4-FFF2-40B4-BE49-F238E27FC236}">
                <a16:creationId xmlns:a16="http://schemas.microsoft.com/office/drawing/2014/main" id="{31200CAD-3E9F-4E0A-AFB8-2A8BC49DD91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2 Opbrengsten, winst en break-even">
            <a:extLst xmlns:a="http://schemas.openxmlformats.org/drawingml/2006/main">
              <a:ext uri="{FF2B5EF4-FFF2-40B4-BE49-F238E27FC236}">
                <a16:creationId xmlns:a16="http://schemas.microsoft.com/office/drawing/2014/main" id="{028252D3-2539-41B6-8251-B98D18B5186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§2.1.2 Opbrengsten, winst en break-even</a:t>
            </a:r>
          </a:p>
        </p:txBody>
      </p:sp>
      <p:sp>
        <p:nvSpPr>
          <p:cNvPr id="4" name="28">
            <a:extLst xmlns:a="http://schemas.openxmlformats.org/drawingml/2006/main">
              <a:ext uri="{FF2B5EF4-FFF2-40B4-BE49-F238E27FC236}">
                <a16:creationId xmlns:a16="http://schemas.microsoft.com/office/drawing/2014/main" id="{3F99C472-A14A-404B-924A-B986E917BB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phase">
            <a:extLst xmlns:a="http://schemas.openxmlformats.org/drawingml/2006/main">
              <a:ext uri="{FF2B5EF4-FFF2-40B4-BE49-F238E27FC236}">
                <a16:creationId xmlns:a16="http://schemas.microsoft.com/office/drawing/2014/main" id="{FBD87839-8E6E-4179-9212-DF7DFD53727F}"/>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B0977FE4-ACB4-42E6-B0DB-8E00454F095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7EE3F40-E853-4295-B9C3-AF59CA6D6D0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E3F15EB-DDBD-47A2-9DB0-8416E618B128}"/>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3437325-B5A3-49C0-B006-F0AF38BD9EB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BFEC224-9BB4-4102-910C-FAC4FEB0F5F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AD364FA-29C9-4B16-96E1-6DCFD4A2CD1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F69FDAE-FE33-4779-96EC-023D3E674B9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65D0FEC-E36E-4DD8-AEBB-31CB9C22F42B}"/>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3AD78BB-F7E7-4FFA-B93C-9E36448D8F19}"/>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C1795B0-9BD0-4077-9311-641FD5B5697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40D8A9F-C8BE-46D2-8A80-868FFAFDF0D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4A970CC-D2DF-43FF-A52E-5686456AA87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6C1C4C4-0300-4AA9-A444-7189CA154B3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DE9793FF-2EC6-4AE6-AF2F-EE96969766E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A5576CA-BE83-4A36-8EAE-30BBB0BA272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FB3F242-1BA2-45DC-9694-A1EA4197A10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8ADB7C7-8B49-4891-8E4A-D5755C46D17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 GO en winst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Break-even en hele aantallen.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TK, TO en winst tekenen.</a:t>
            </a:r>
          </a:p>
        </p:txBody>
      </p:sp>
      <p:sp>
        <p:nvSpPr>
          <p:cNvPr id="23" name="">
            <a:extLst xmlns:a="http://schemas.openxmlformats.org/drawingml/2006/main">
              <a:ext uri="{FF2B5EF4-FFF2-40B4-BE49-F238E27FC236}">
                <a16:creationId xmlns:a16="http://schemas.microsoft.com/office/drawing/2014/main" id="{316C2C6F-B76A-459C-A93D-4C214DB979E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3E505DB-F172-4C9B-A684-CD55127F932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FFF22CA-38D8-4D38-ADF5-29E9CF4B0B57}"/>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14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10–11</a:t>
            </a:r>
          </a:p>
        </p:txBody>
      </p:sp>
      <p:sp>
        <p:nvSpPr>
          <p:cNvPr id="26" name="">
            <a:extLst xmlns:a="http://schemas.openxmlformats.org/drawingml/2006/main">
              <a:ext uri="{FF2B5EF4-FFF2-40B4-BE49-F238E27FC236}">
                <a16:creationId xmlns:a16="http://schemas.microsoft.com/office/drawing/2014/main" id="{D6913B03-199B-4DF5-B0B8-484DD9DD342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6BEB97D-AE97-42AC-8D7C-A95FADA86522}"/>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EC7137E-27C1-4923-96DE-7D5DDF3FC3D2}"/>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§2.1.2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4 en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6 en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212843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2026-09-29T11:10:06.0870000Z</dcterms:created>
  <dcterms:modified xsi:type="dcterms:W3CDTF">2026-09-29T11:10:06.0870000Z</dcterms:modified>
</coreProperties>
</file>