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da04f34aca048a4" /><Relationship Type="http://schemas.openxmlformats.org/officeDocument/2006/relationships/extended-properties" Target="/docProps/app.xml" Id="Re56890497ca44150" /><Relationship Type="http://schemas.openxmlformats.org/officeDocument/2006/relationships/officeDocument" Target="/ppt/presentation.xml" Id="R74c112ba30364312" /></Relationships>
</file>

<file path=ppt/presentation.xml><?xml version="1.0" encoding="utf-8"?>
<p:presentation xmlns:p="http://schemas.openxmlformats.org/presentationml/2006/main">
  <p:sldMasterIdLst>
    <p:sldMasterId xmlns:r="http://schemas.openxmlformats.org/officeDocument/2006/relationships" id="2147483648" r:id="R6566428d86644395"/>
  </p:sldMasterIdLst>
  <p:notesMasterIdLst>
    <p:notesMasterId xmlns:r="http://schemas.openxmlformats.org/officeDocument/2006/relationships" r:id="R834deb05467f4213"/>
  </p:notesMasterIdLst>
  <p:sldIdLst>
    <p:sldId xmlns:r="http://schemas.openxmlformats.org/officeDocument/2006/relationships" id="256" r:id="Re0c31cdbb86c4e7e"/>
    <p:sldId xmlns:r="http://schemas.openxmlformats.org/officeDocument/2006/relationships" id="257" r:id="Rd21bd3bbfa6b49d0"/>
    <p:sldId xmlns:r="http://schemas.openxmlformats.org/officeDocument/2006/relationships" id="258" r:id="Rd21bd0952e9943ed"/>
    <p:sldId xmlns:r="http://schemas.openxmlformats.org/officeDocument/2006/relationships" id="259" r:id="R7489a4f82d0b4a2f"/>
    <p:sldId xmlns:r="http://schemas.openxmlformats.org/officeDocument/2006/relationships" id="260" r:id="R3afacb47d5b54190"/>
    <p:sldId xmlns:r="http://schemas.openxmlformats.org/officeDocument/2006/relationships" id="261" r:id="Ra10448fa282e4b1a"/>
    <p:sldId xmlns:r="http://schemas.openxmlformats.org/officeDocument/2006/relationships" id="262" r:id="R94a5f2c70a2d4760"/>
    <p:sldId xmlns:r="http://schemas.openxmlformats.org/officeDocument/2006/relationships" id="263" r:id="Rb6a7dc183f584078"/>
    <p:sldId xmlns:r="http://schemas.openxmlformats.org/officeDocument/2006/relationships" id="264" r:id="R620eb4d540174a1f"/>
    <p:sldId xmlns:r="http://schemas.openxmlformats.org/officeDocument/2006/relationships" id="265" r:id="R07413fbad4ae4f34"/>
    <p:sldId xmlns:r="http://schemas.openxmlformats.org/officeDocument/2006/relationships" id="266" r:id="R87e7e726dc6c4931"/>
    <p:sldId xmlns:r="http://schemas.openxmlformats.org/officeDocument/2006/relationships" id="267" r:id="Rc476f99d81ab465d"/>
    <p:sldId xmlns:r="http://schemas.openxmlformats.org/officeDocument/2006/relationships" id="268" r:id="Rd0eaa7628d5f46db"/>
    <p:sldId xmlns:r="http://schemas.openxmlformats.org/officeDocument/2006/relationships" id="269" r:id="Rb5b9cb7201194ae8"/>
    <p:sldId xmlns:r="http://schemas.openxmlformats.org/officeDocument/2006/relationships" id="270" r:id="Rdae3df86aa1b4648"/>
    <p:sldId xmlns:r="http://schemas.openxmlformats.org/officeDocument/2006/relationships" id="271" r:id="R0f5b5c6615b14e6a"/>
    <p:sldId xmlns:r="http://schemas.openxmlformats.org/officeDocument/2006/relationships" id="272" r:id="R3aafc8959e2443b3"/>
    <p:sldId xmlns:r="http://schemas.openxmlformats.org/officeDocument/2006/relationships" id="273" r:id="Rc5d6289b0164429d"/>
    <p:sldId xmlns:r="http://schemas.openxmlformats.org/officeDocument/2006/relationships" id="274" r:id="Rfe1868f750b24286"/>
    <p:sldId xmlns:r="http://schemas.openxmlformats.org/officeDocument/2006/relationships" id="275" r:id="R2de4e77ed79b4298"/>
    <p:sldId xmlns:r="http://schemas.openxmlformats.org/officeDocument/2006/relationships" id="276" r:id="R333cad8d29c84446"/>
    <p:sldId xmlns:r="http://schemas.openxmlformats.org/officeDocument/2006/relationships" id="277" r:id="R285994bdd3f94539"/>
    <p:sldId xmlns:r="http://schemas.openxmlformats.org/officeDocument/2006/relationships" id="278" r:id="R956354a04fc845fd"/>
    <p:sldId xmlns:r="http://schemas.openxmlformats.org/officeDocument/2006/relationships" id="279" r:id="R51496568543e442a"/>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88cc049e644319" /><Relationship Type="http://schemas.openxmlformats.org/officeDocument/2006/relationships/slideMaster" Target="/ppt/slideMasters/slideMaster1.xml" Id="R6566428d86644395" /><Relationship Type="http://schemas.openxmlformats.org/officeDocument/2006/relationships/notesMaster" Target="/ppt/notesMasters/notesMaster1.xml" Id="R834deb05467f4213" /><Relationship Type="http://schemas.openxmlformats.org/officeDocument/2006/relationships/presProps" Target="/ppt/presProps.xml" Id="Rd2c3d5a9111741d2" /><Relationship Type="http://schemas.openxmlformats.org/officeDocument/2006/relationships/tableStyles" Target="/ppt/tableStyles.xml" Id="R29249475decb4263" /><Relationship Type="http://schemas.openxmlformats.org/officeDocument/2006/relationships/slide" Target="/ppt/slides/slide1.xml" Id="Re0c31cdbb86c4e7e" /><Relationship Type="http://schemas.openxmlformats.org/officeDocument/2006/relationships/slide" Target="/ppt/slides/slide2.xml" Id="Rd21bd3bbfa6b49d0" /><Relationship Type="http://schemas.openxmlformats.org/officeDocument/2006/relationships/slide" Target="/ppt/slides/slide3.xml" Id="Rd21bd0952e9943ed" /><Relationship Type="http://schemas.openxmlformats.org/officeDocument/2006/relationships/slide" Target="/ppt/slides/slide4.xml" Id="R7489a4f82d0b4a2f" /><Relationship Type="http://schemas.openxmlformats.org/officeDocument/2006/relationships/slide" Target="/ppt/slides/slide5.xml" Id="R3afacb47d5b54190" /><Relationship Type="http://schemas.openxmlformats.org/officeDocument/2006/relationships/slide" Target="/ppt/slides/slide6.xml" Id="Ra10448fa282e4b1a" /><Relationship Type="http://schemas.openxmlformats.org/officeDocument/2006/relationships/slide" Target="/ppt/slides/slide7.xml" Id="R94a5f2c70a2d4760" /><Relationship Type="http://schemas.openxmlformats.org/officeDocument/2006/relationships/slide" Target="/ppt/slides/slide8.xml" Id="Rb6a7dc183f584078" /><Relationship Type="http://schemas.openxmlformats.org/officeDocument/2006/relationships/slide" Target="/ppt/slides/slide9.xml" Id="R620eb4d540174a1f" /><Relationship Type="http://schemas.openxmlformats.org/officeDocument/2006/relationships/slide" Target="/ppt/slides/slide10.xml" Id="R07413fbad4ae4f34" /><Relationship Type="http://schemas.openxmlformats.org/officeDocument/2006/relationships/slide" Target="/ppt/slides/slide11.xml" Id="R87e7e726dc6c4931" /><Relationship Type="http://schemas.openxmlformats.org/officeDocument/2006/relationships/slide" Target="/ppt/slides/slide12.xml" Id="Rc476f99d81ab465d" /><Relationship Type="http://schemas.openxmlformats.org/officeDocument/2006/relationships/slide" Target="/ppt/slides/slide13.xml" Id="Rd0eaa7628d5f46db" /><Relationship Type="http://schemas.openxmlformats.org/officeDocument/2006/relationships/slide" Target="/ppt/slides/slide14.xml" Id="Rb5b9cb7201194ae8" /><Relationship Type="http://schemas.openxmlformats.org/officeDocument/2006/relationships/slide" Target="/ppt/slides/slide15.xml" Id="Rdae3df86aa1b4648" /><Relationship Type="http://schemas.openxmlformats.org/officeDocument/2006/relationships/slide" Target="/ppt/slides/slide16.xml" Id="R0f5b5c6615b14e6a" /><Relationship Type="http://schemas.openxmlformats.org/officeDocument/2006/relationships/slide" Target="/ppt/slides/slide17.xml" Id="R3aafc8959e2443b3" /><Relationship Type="http://schemas.openxmlformats.org/officeDocument/2006/relationships/slide" Target="/ppt/slides/slide18.xml" Id="Rc5d6289b0164429d" /><Relationship Type="http://schemas.openxmlformats.org/officeDocument/2006/relationships/slide" Target="/ppt/slides/slide19.xml" Id="Rfe1868f750b24286" /><Relationship Type="http://schemas.openxmlformats.org/officeDocument/2006/relationships/slide" Target="/ppt/slides/slide20.xml" Id="R2de4e77ed79b4298" /><Relationship Type="http://schemas.openxmlformats.org/officeDocument/2006/relationships/slide" Target="/ppt/slides/slide21.xml" Id="R333cad8d29c84446" /><Relationship Type="http://schemas.openxmlformats.org/officeDocument/2006/relationships/slide" Target="/ppt/slides/slide22.xml" Id="R285994bdd3f94539" /><Relationship Type="http://schemas.openxmlformats.org/officeDocument/2006/relationships/slide" Target="/ppt/slides/slide23.xml" Id="R956354a04fc845fd" /><Relationship Type="http://schemas.openxmlformats.org/officeDocument/2006/relationships/slide" Target="/ppt/slides/slide24.xml" Id="R51496568543e44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7ba70e511644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4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abc8df0354449e" /><Relationship Type="http://schemas.openxmlformats.org/officeDocument/2006/relationships/notesMaster" Target="/ppt/notesMasters/notesMaster1.xml" Id="R6bbc92a5096d4a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812529f1b0b4329" /><Relationship Type="http://schemas.openxmlformats.org/officeDocument/2006/relationships/notesMaster" Target="/ppt/notesMasters/notesMaster1.xml" Id="R1fa4314149e44ec1" /></Relationships>
</file>

<file path=ppt/notesSlides/_rels/notesSlide3.xml.rels>&#65279;<?xml version="1.0" encoding="utf-8"?><Relationships xmlns="http://schemas.openxmlformats.org/package/2006/relationships"><Relationship Type="http://schemas.openxmlformats.org/officeDocument/2006/relationships/slide" Target="/ppt/slides/slide3.xml" Id="R6789627d03ab4d7c" /><Relationship Type="http://schemas.openxmlformats.org/officeDocument/2006/relationships/notesMaster" Target="/ppt/notesMasters/notesMaster1.xml" Id="R96c07a8724db43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054a0c8df7e24b47" /><Relationship Type="http://schemas.openxmlformats.org/officeDocument/2006/relationships/notesMaster" Target="/ppt/notesMasters/notesMaster1.xml" Id="R7856ce63f7794b7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5720a4454745d5" /><Relationship Type="http://schemas.openxmlformats.org/officeDocument/2006/relationships/notesMaster" Target="/ppt/notesMasters/notesMaster1.xml" Id="R8a7b3d1bd8fe45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7941ead02d442f" /><Relationship Type="http://schemas.openxmlformats.org/officeDocument/2006/relationships/notesMaster" Target="/ppt/notesMasters/notesMaster1.xml" Id="R3bb972ca97b54cd9" /></Relationships>
</file>

<file path=ppt/notesSlides/_rels/notesSlide7.xml.rels>&#65279;<?xml version="1.0" encoding="utf-8"?><Relationships xmlns="http://schemas.openxmlformats.org/package/2006/relationships"><Relationship Type="http://schemas.openxmlformats.org/officeDocument/2006/relationships/slide" Target="/ppt/slides/slide7.xml" Id="R46c7687e5015467a" /><Relationship Type="http://schemas.openxmlformats.org/officeDocument/2006/relationships/notesMaster" Target="/ppt/notesMasters/notesMaster1.xml" Id="R89e7103cb0c94e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4a5e1d90854467" /><Relationship Type="http://schemas.openxmlformats.org/officeDocument/2006/relationships/notesMaster" Target="/ppt/notesMasters/notesMaster1.xml" Id="Rab9ffa191ba8435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51569e91cd54f78" /><Relationship Type="http://schemas.openxmlformats.org/officeDocument/2006/relationships/notesMaster" Target="/ppt/notesMasters/notesMaster1.xml" Id="R1bb3579f8ca548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d9ad3718ade4331" /><Relationship Type="http://schemas.openxmlformats.org/officeDocument/2006/relationships/notesMaster" Target="/ppt/notesMasters/notesMaster1.xml" Id="Rb0f975bc23d542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bda441387d4586" /><Relationship Type="http://schemas.openxmlformats.org/officeDocument/2006/relationships/notesMaster" Target="/ppt/notesMasters/notesMaster1.xml" Id="R075aad3ca8fe4ee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35b3c807ba54053" /><Relationship Type="http://schemas.openxmlformats.org/officeDocument/2006/relationships/notesMaster" Target="/ppt/notesMasters/notesMaster1.xml" Id="Rd6273e7be0bb46a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2ee5d22ef5444b3" /><Relationship Type="http://schemas.openxmlformats.org/officeDocument/2006/relationships/notesMaster" Target="/ppt/notesMasters/notesMaster1.xml" Id="R58279eb56f08413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520396878e145c0" /><Relationship Type="http://schemas.openxmlformats.org/officeDocument/2006/relationships/notesMaster" Target="/ppt/notesMasters/notesMaster1.xml" Id="R123a00d5351c4ae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71dfa7fad7d42a7" /><Relationship Type="http://schemas.openxmlformats.org/officeDocument/2006/relationships/notesMaster" Target="/ppt/notesMasters/notesMaster1.xml" Id="R36d4a342233b469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69e54b668744c38" /><Relationship Type="http://schemas.openxmlformats.org/officeDocument/2006/relationships/notesMaster" Target="/ppt/notesMasters/notesMaster1.xml" Id="R85157b0741b7413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b460423b48e46cd" /><Relationship Type="http://schemas.openxmlformats.org/officeDocument/2006/relationships/notesMaster" Target="/ppt/notesMasters/notesMaster1.xml" Id="Re49ff718e8114ce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740bfb4427f4e5b" /><Relationship Type="http://schemas.openxmlformats.org/officeDocument/2006/relationships/notesMaster" Target="/ppt/notesMasters/notesMaster1.xml" Id="Rb8d164f97b164b4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e611e56696ce4fa4" /><Relationship Type="http://schemas.openxmlformats.org/officeDocument/2006/relationships/notesMaster" Target="/ppt/notesMasters/notesMaster1.xml" Id="R171d709a5106486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e9241cdc1cd497f" /><Relationship Type="http://schemas.openxmlformats.org/officeDocument/2006/relationships/notesMaster" Target="/ppt/notesMasters/notesMaster1.xml" Id="Rf3ca9a22ab4b4b1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12a168c344045bf" /><Relationship Type="http://schemas.openxmlformats.org/officeDocument/2006/relationships/notesMaster" Target="/ppt/notesMasters/notesMaster1.xml" Id="R02c864bc14714eb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a22bc5c2cba34d0f" /><Relationship Type="http://schemas.openxmlformats.org/officeDocument/2006/relationships/notesMaster" Target="/ppt/notesMasters/notesMaster1.xml" Id="R5cef862cb94f413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1b65b8826b042a6" /><Relationship Type="http://schemas.openxmlformats.org/officeDocument/2006/relationships/notesMaster" Target="/ppt/notesMasters/notesMaster1.xml" Id="R3dd37e27fd31403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cd50bff339148a5" /><Relationship Type="http://schemas.openxmlformats.org/officeDocument/2006/relationships/notesMaster" Target="/ppt/notesMasters/notesMaster1.xml" Id="Re20963f2ac584e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bedrag gaat over alle productie en welk bedrag over een kleine uitbreiding?</a:t>
            </a:r>
          </a:p>
          <a:p xmlns:a="http://schemas.openxmlformats.org/drawingml/2006/main">
            <a:r>
              <a:rPr sz="1400"/>
              <a:t/>
            </a:r>
          </a:p>
          <a:p xmlns:a="http://schemas.openxmlformats.org/drawingml/2006/main">
            <a:r>
              <a:rPr sz="1400"/>
              <a:t>Uitleg: Laat deze dia staan tijdens startopdracht. Start 11–12 staat op boekpagina 65; basis 13 op 65 en 14 op 66; zelfstandig 15–16 op 66; doel 17 op 67. Huiswerk is 13, 14, 15, 16 en 17 maken en nakijken. Bonus 18 en herhaling 19 zijn extra. Opgave 11 haalt ΔTK/Δq en eenheden op uit §2.1.3. Opgave 12 geeft de MK-functie al, maar de puntbetekenis is nieuw: laat leerlingen p. 62–64 als steun gebruiken, beide gegeven functies invullen en hun twijfel noteren. Verwacht nog geen zelfstandige beheersing van de afgeleide. Voor het basiswerk keren leerlingen terug naar 12 en verbeteren zij de betekenis met de zojuist gegeven uitleg. Plan zo nodig over meer lessen; de docentgids adviseert voorlopig twee lessen van 55 minuten, zonder gemeten fit.</a:t>
            </a:r>
          </a:p>
          <a:p xmlns:a="http://schemas.openxmlformats.org/drawingml/2006/main">
            <a:r>
              <a:rPr sz="1400"/>
              <a:t/>
            </a:r>
          </a:p>
          <a:p xmlns:a="http://schemas.openxmlformats.org/drawingml/2006/main">
            <a:r>
              <a:rPr sz="1400"/>
              <a:t>Misvatting: De hoofdstukhandleiding gebruikt lokale pagina 13 voor de start; de complete leerlinguitgave heeft hier gedrukte pagina 65.</a:t>
            </a:r>
          </a:p>
          <a:p xmlns:a="http://schemas.openxmlformats.org/drawingml/2006/main">
            <a:r>
              <a:rPr sz="1400"/>
              <a:t/>
            </a:r>
          </a:p>
          <a:p xmlns:a="http://schemas.openxmlformats.org/drawingml/2006/main">
            <a:r>
              <a:rPr sz="1400"/>
              <a:t>Overgang: Ga naar de volgende lesfase als de klas daaraan toe is.</a:t>
            </a:r>
          </a:p>
          <a:p xmlns:a="http://schemas.openxmlformats.org/drawingml/2006/main">
            <a:r>
              <a:rPr sz="1400"/>
              <a:t/>
            </a:r>
          </a:p>
          <a:p xmlns:a="http://schemas.openxmlformats.org/drawingml/2006/main">
            <a:r>
              <a:rPr sz="1400"/>
              <a:t>Bron: Boek 3, editie books34-v3, gedrukte boekpagina 62–67.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Docentroute: https://github.com/meijer1973/4veco-lessen/blob/9b8304d5031cafac936a56281e144573a25fbbc9/edities/books34-v3/books/book-3/chapters/3.2/Docenteninformatie.md. Terugkoppeling start indien nodig: 11a ΔTK = € 70 per week, Δq = 10 kg per week, gemiddelde = € 7 per kg; 12a TK(20) = € 120 per week, MK(20) = € 6 per kg. Deze antwoorden staan niet op de openingsdia.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kostenmaat heb je nodig voor een heel kleine uitbreiding?</a:t>
            </a:r>
          </a:p>
          <a:p xmlns:a="http://schemas.openxmlformats.org/drawingml/2006/main">
            <a:r>
              <a:rPr sz="1400"/>
              <a:t/>
            </a:r>
          </a:p>
          <a:p xmlns:a="http://schemas.openxmlformats.org/drawingml/2006/main">
            <a:r>
              <a:rPr sz="1400"/>
              <a:t>Uitleg: Koppel de doelen aan 17a–e. MK is een bedrag per kg, TK een totaal per week. De beperkte afgeleide is het nieuwe gereedschap. Productie kiezen via een marginale opbrengstvergelijking hoort bij §3.2.3.</a:t>
            </a:r>
          </a:p>
          <a:p xmlns:a="http://schemas.openxmlformats.org/drawingml/2006/main">
            <a:r>
              <a:rPr sz="1400"/>
              <a:t/>
            </a:r>
          </a:p>
          <a:p xmlns:a="http://schemas.openxmlformats.org/drawingml/2006/main">
            <a:r>
              <a:rPr sz="1400"/>
              <a:t>Misvatting: Afleiden betekent hier de verandering bepalen, niet TK door q delen.</a:t>
            </a:r>
          </a:p>
          <a:p xmlns:a="http://schemas.openxmlformats.org/drawingml/2006/main">
            <a:r>
              <a:rPr sz="1400"/>
              <a:t/>
            </a:r>
          </a:p>
          <a:p xmlns:a="http://schemas.openxmlformats.org/drawingml/2006/main">
            <a:r>
              <a:rPr sz="1400"/>
              <a:t>Overgang: Introduceer een afzonderlijk uitlegvoorbeeld.</a:t>
            </a:r>
          </a:p>
          <a:p xmlns:a="http://schemas.openxmlformats.org/drawingml/2006/main">
            <a:r>
              <a:rPr sz="1400"/>
              <a:t/>
            </a:r>
          </a:p>
          <a:p xmlns:a="http://schemas.openxmlformats.org/drawingml/2006/main">
            <a:r>
              <a:rPr sz="1400"/>
              <a:t>Bron: Boek 3, editie books34-v3, gedrukte boekpagina 62–64.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term verandert niet als Nova iets meer mengt?</a:t>
            </a:r>
          </a:p>
          <a:p xmlns:a="http://schemas.openxmlformats.org/drawingml/2006/main">
            <a:r>
              <a:rPr sz="1400"/>
              <a:t/>
            </a:r>
          </a:p>
          <a:p xmlns:a="http://schemas.openxmlformats.org/drawingml/2006/main">
            <a:r>
              <a:rPr sz="1400"/>
              <a:t>Uitleg: Nova mengt cacao. Het kostenmodel en de naam zijn zelfgemaakt. De productie ligt tussen 0 en 60 kg per week en mag doorlopen tussen gehele kilogrammen. De € 75 blijft deze week verschuldigd, ook bij nul productie. De overige termen veranderen met q. Gebruik steeds kleine q voor één onderneming.</a:t>
            </a:r>
          </a:p>
          <a:p xmlns:a="http://schemas.openxmlformats.org/drawingml/2006/main">
            <a:r>
              <a:rPr sz="1400"/>
              <a:t/>
            </a:r>
          </a:p>
          <a:p xmlns:a="http://schemas.openxmlformats.org/drawingml/2006/main">
            <a:r>
              <a:rPr sz="1400"/>
              <a:t>Misvatting: De capaciteit is een modelgrens. Trek geen conclusies buiten 60 kg.</a:t>
            </a:r>
          </a:p>
          <a:p xmlns:a="http://schemas.openxmlformats.org/drawingml/2006/main">
            <a:r>
              <a:rPr sz="1400"/>
              <a:t/>
            </a:r>
          </a:p>
          <a:p xmlns:a="http://schemas.openxmlformats.org/drawingml/2006/main">
            <a:r>
              <a:rPr sz="1400"/>
              <a:t>Overgang: Bekijk wat de afgeleide met elke soort term doet.</a:t>
            </a:r>
          </a:p>
          <a:p xmlns:a="http://schemas.openxmlformats.org/drawingml/2006/main">
            <a:r>
              <a:rPr sz="1400"/>
              <a:t/>
            </a:r>
          </a:p>
          <a:p xmlns:a="http://schemas.openxmlformats.org/drawingml/2006/main">
            <a:r>
              <a:rPr sz="1400"/>
              <a:t>Bron: Boek 3, editie books34-v3, gedrukte boekpagina 62–64.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Cacaomenger Nova en alle voorbeeldgetallen zijn voor deze presentatie gemaakt. De boekverwijzing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blijft van bq over?</a:t>
            </a:r>
          </a:p>
          <a:p xmlns:a="http://schemas.openxmlformats.org/drawingml/2006/main">
            <a:r>
              <a:rPr sz="1400"/>
              <a:t/>
            </a:r>
          </a:p>
          <a:p xmlns:a="http://schemas.openxmlformats.org/drawingml/2006/main">
            <a:r>
              <a:rPr sz="1400"/>
              <a:t>Uitleg: a, b en c zijn de getallen in de gegeven kostenfunctie. Differentieer elke term apart en tel de bijdragen op. De afgeleide geeft de verandering op één punt, in euro per kg. De constante draagt nul bij omdat een uitbreiding dat bedrag niet verandert. Dit hoofdstuk vraagt alleen deze drie soorten termen.</a:t>
            </a:r>
          </a:p>
          <a:p xmlns:a="http://schemas.openxmlformats.org/drawingml/2006/main">
            <a:r>
              <a:rPr sz="1400"/>
              <a:t/>
            </a:r>
          </a:p>
          <a:p xmlns:a="http://schemas.openxmlformats.org/drawingml/2006/main">
            <a:r>
              <a:rPr sz="1400"/>
              <a:t>Misvatting: Laat de exponent niet staan bij de q-term en neem c niet over in MK. Deel ook niet de gehele TK door q; dat zou GTK geven.</a:t>
            </a:r>
          </a:p>
          <a:p xmlns:a="http://schemas.openxmlformats.org/drawingml/2006/main">
            <a:r>
              <a:rPr sz="1400"/>
              <a:t/>
            </a:r>
          </a:p>
          <a:p xmlns:a="http://schemas.openxmlformats.org/drawingml/2006/main">
            <a:r>
              <a:rPr sz="1400"/>
              <a:t>Overgang: Pas deze regel toe op de functie van Nova.</a:t>
            </a:r>
          </a:p>
          <a:p xmlns:a="http://schemas.openxmlformats.org/drawingml/2006/main">
            <a:r>
              <a:rPr sz="1400"/>
              <a:t/>
            </a:r>
          </a:p>
          <a:p xmlns:a="http://schemas.openxmlformats.org/drawingml/2006/main">
            <a:r>
              <a:rPr sz="1400"/>
              <a:t>Bron: Boek 3, editie books34-v3, gedrukte boekpagina 63.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de bijdrage van 75 nul?</a:t>
            </a:r>
          </a:p>
          <a:p xmlns:a="http://schemas.openxmlformats.org/drawingml/2006/main">
            <a:r>
              <a:rPr sz="1400"/>
              <a:t/>
            </a:r>
          </a:p>
          <a:p xmlns:a="http://schemas.openxmlformats.org/drawingml/2006/main">
            <a:r>
              <a:rPr sz="1400"/>
              <a:t>Uitleg: De kwadratische term geeft 0,30q. De lineaire term geeft 5. De constante term geeft nul. Tel op tot MK = 0,30q + 5. Controleer eerst de functie voordat je een hoeveelheid invult.</a:t>
            </a:r>
          </a:p>
          <a:p xmlns:a="http://schemas.openxmlformats.org/drawingml/2006/main">
            <a:r>
              <a:rPr sz="1400"/>
              <a:t/>
            </a:r>
          </a:p>
          <a:p xmlns:a="http://schemas.openxmlformats.org/drawingml/2006/main">
            <a:r>
              <a:rPr sz="1400"/>
              <a:t>Misvatting: De € 75 is niet kwijtgescholden: hij blijft in TK, alleen niet in MK.</a:t>
            </a:r>
          </a:p>
          <a:p xmlns:a="http://schemas.openxmlformats.org/drawingml/2006/main">
            <a:r>
              <a:rPr sz="1400"/>
              <a:t/>
            </a:r>
          </a:p>
          <a:p xmlns:a="http://schemas.openxmlformats.org/drawingml/2006/main">
            <a:r>
              <a:rPr sz="1400"/>
              <a:t>Overgang: Vul nu een productie in de nieuwe MK-functie in.</a:t>
            </a:r>
          </a:p>
          <a:p xmlns:a="http://schemas.openxmlformats.org/drawingml/2006/main">
            <a:r>
              <a:rPr sz="1400"/>
              <a:t/>
            </a:r>
          </a:p>
          <a:p xmlns:a="http://schemas.openxmlformats.org/drawingml/2006/main">
            <a:r>
              <a:rPr sz="1400"/>
              <a:t>Bron: Boek 3, editie books34-v3, gedrukte boekpagina 63–64.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Cacaomenger Nova en alle voorbeeldgetallen zijn voor deze presentatie gemaakt. De boekverwijzing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eenheid hoort bij dit bedrag?</a:t>
            </a:r>
          </a:p>
          <a:p xmlns:a="http://schemas.openxmlformats.org/drawingml/2006/main">
            <a:r>
              <a:rPr sz="1400"/>
              <a:t/>
            </a:r>
          </a:p>
          <a:p xmlns:a="http://schemas.openxmlformats.org/drawingml/2006/main">
            <a:r>
              <a:rPr sz="1400"/>
              <a:t>Uitleg: MK bij 10 is 8 euro per kg. De afgeleide is een veranderingssnelheid op dat ene productieniveau. Bij een heel kleine uitbreiding benader je de extra totale kosten met 8 euro per kg maal de kleine hoeveelheid. Het is geen totale weekrekening en ook niet exact de kosten van één hele volgende kilogram.</a:t>
            </a:r>
          </a:p>
          <a:p xmlns:a="http://schemas.openxmlformats.org/drawingml/2006/main">
            <a:r>
              <a:rPr sz="1400"/>
              <a:t/>
            </a:r>
          </a:p>
          <a:p xmlns:a="http://schemas.openxmlformats.org/drawingml/2006/main">
            <a:r>
              <a:rPr sz="1400"/>
              <a:t>Misvatting: Een hele extra kg kan bij stijgende MK iets meer kosten dan de puntwaarde.</a:t>
            </a:r>
          </a:p>
          <a:p xmlns:a="http://schemas.openxmlformats.org/drawingml/2006/main">
            <a:r>
              <a:rPr sz="1400"/>
              <a:t/>
            </a:r>
          </a:p>
          <a:p xmlns:a="http://schemas.openxmlformats.org/drawingml/2006/main">
            <a:r>
              <a:rPr sz="1400"/>
              <a:t>Overgang: Bereken vervolgens TK bij twee productiehoeveelheden.</a:t>
            </a:r>
          </a:p>
          <a:p xmlns:a="http://schemas.openxmlformats.org/drawingml/2006/main">
            <a:r>
              <a:rPr sz="1400"/>
              <a:t/>
            </a:r>
          </a:p>
          <a:p xmlns:a="http://schemas.openxmlformats.org/drawingml/2006/main">
            <a:r>
              <a:rPr sz="1400"/>
              <a:t>Bron: Boek 3, editie books34-v3, gedrukte boekpagina 62–64.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Cacaomenger Nova en alle voorbeeldgetallen zijn voor deze presentatie gemaakt. De boekverwijzing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betekent het getal 140?</a:t>
            </a:r>
          </a:p>
          <a:p xmlns:a="http://schemas.openxmlformats.org/drawingml/2006/main">
            <a:r>
              <a:rPr sz="1400"/>
              <a:t/>
            </a:r>
          </a:p>
          <a:p xmlns:a="http://schemas.openxmlformats.org/drawingml/2006/main">
            <a:r>
              <a:rPr sz="1400"/>
              <a:t>Uitleg: Bij 10: 0,15 × 100 + 50 + 75 = 140 euro per week. Bij 30: 0,15 × 900 + 150 + 75 = 360 euro per week. Beide hoeveelheden vallen binnen de capaciteit van 60. Herstel indien nodig invullen en kwadrateren voordat de klas met verschillen rekent.</a:t>
            </a:r>
          </a:p>
          <a:p xmlns:a="http://schemas.openxmlformats.org/drawingml/2006/main">
            <a:r>
              <a:rPr sz="1400"/>
              <a:t/>
            </a:r>
          </a:p>
          <a:p xmlns:a="http://schemas.openxmlformats.org/drawingml/2006/main">
            <a:r>
              <a:rPr sz="1400"/>
              <a:t>Misvatting: (0,15 × 10)² is niet 0,15 × 10². Gebruik de kwadratische term correct.</a:t>
            </a:r>
          </a:p>
          <a:p xmlns:a="http://schemas.openxmlformats.org/drawingml/2006/main">
            <a:r>
              <a:rPr sz="1400"/>
              <a:t/>
            </a:r>
          </a:p>
          <a:p xmlns:a="http://schemas.openxmlformats.org/drawingml/2006/main">
            <a:r>
              <a:rPr sz="1400"/>
              <a:t>Overgang: Bereken hoeveel kosten en hoeveel kg erbij komen.</a:t>
            </a:r>
          </a:p>
          <a:p xmlns:a="http://schemas.openxmlformats.org/drawingml/2006/main">
            <a:r>
              <a:rPr sz="1400"/>
              <a:t/>
            </a:r>
          </a:p>
          <a:p xmlns:a="http://schemas.openxmlformats.org/drawingml/2006/main">
            <a:r>
              <a:rPr sz="1400"/>
              <a:t>Bron: Boek 3, editie books34-v3, gedrukte boekpagina 64.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Cacaomenger Nova en alle voorbeeldgetallen zijn voor deze presentatie gemaakt. De boekverwijzing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Door welke hoeveelheid deel je de extra totale kosten?</a:t>
            </a:r>
          </a:p>
          <a:p xmlns:a="http://schemas.openxmlformats.org/drawingml/2006/main">
            <a:r>
              <a:rPr sz="1400"/>
              <a:t/>
            </a:r>
          </a:p>
          <a:p xmlns:a="http://schemas.openxmlformats.org/drawingml/2006/main">
            <a:r>
              <a:rPr sz="1400"/>
              <a:t>Uitleg: Haal de tabelmethode uit Boek 2 §2.1.3 op. Trek de twee totale kostenbedragen af en deel door de toename van q. Deel dus door 20, niet door eindhoeveelheid 30. De weken in teller en noemer vallen weg: euro per kg blijft.</a:t>
            </a:r>
          </a:p>
          <a:p xmlns:a="http://schemas.openxmlformats.org/drawingml/2006/main">
            <a:r>
              <a:rPr sz="1400"/>
              <a:t/>
            </a:r>
          </a:p>
          <a:p xmlns:a="http://schemas.openxmlformats.org/drawingml/2006/main">
            <a:r>
              <a:rPr sz="1400"/>
              <a:t>Misvatting: € 220 per week is ΔTK. Het is nog geen bedrag per kg.</a:t>
            </a:r>
          </a:p>
          <a:p xmlns:a="http://schemas.openxmlformats.org/drawingml/2006/main">
            <a:r>
              <a:rPr sz="1400"/>
              <a:t/>
            </a:r>
          </a:p>
          <a:p xmlns:a="http://schemas.openxmlformats.org/drawingml/2006/main">
            <a:r>
              <a:rPr sz="1400"/>
              <a:t>Overgang: Vergelijk de verschillende veranderingen naast elkaar.</a:t>
            </a:r>
          </a:p>
          <a:p xmlns:a="http://schemas.openxmlformats.org/drawingml/2006/main">
            <a:r>
              <a:rPr sz="1400"/>
              <a:t/>
            </a:r>
          </a:p>
          <a:p xmlns:a="http://schemas.openxmlformats.org/drawingml/2006/main">
            <a:r>
              <a:rPr sz="1400"/>
              <a:t>Bron: Boek 3, editie books34-v3, gedrukte boekpagina 62, 64.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Cacaomenger Nova en alle voorbeeldgetallen zijn voor deze presentatie gemaakt. De boekverwijzing onderbouwt alleen de methode.</a:t>
            </a:r>
          </a:p>
          <a:p xmlns:a="http://schemas.openxmlformats.org/drawingml/2006/main">
            <a:r>
              <a:rPr sz="1400"/>
              <a:t>Voorkennis: Boek 2 chat-2026, §2.1.3, gedrukte p. 19–20, definitie en uitgewerkte tabelstap ΔTK/ΔQ. In Boek 3 gebruikt één onderneming kleine 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is € 11 niet de puntwaarde bij q = 10?</a:t>
            </a:r>
          </a:p>
          <a:p xmlns:a="http://schemas.openxmlformats.org/drawingml/2006/main">
            <a:r>
              <a:rPr sz="1400"/>
              <a:t/>
            </a:r>
          </a:p>
          <a:p xmlns:a="http://schemas.openxmlformats.org/drawingml/2006/main">
            <a:r>
              <a:rPr sz="1400"/>
              <a:t>Uitleg: Op q = 10 is MK 8. Op q = 30 is MK = 0,30 × 30 + 5 = 14. De gemiddelde extra kosten over de tussenliggende 20 kg zijn 11. Ter controle van de hele kilogram: TK(11) = 0,15 × 121 + 55 + 75 = 148,15; TK(10) = 140, dus 8,15 extra voor die kg. Toon de laatste rij pas in de mondelinge uitleg nadat de eerste twee duidelijk zijn. Het gaat om verschillende veranderingen, dus verschillende uitkomsten kunnen tegelijk kloppen.</a:t>
            </a:r>
          </a:p>
          <a:p xmlns:a="http://schemas.openxmlformats.org/drawingml/2006/main">
            <a:r>
              <a:rPr sz="1400"/>
              <a:t/>
            </a:r>
          </a:p>
          <a:p xmlns:a="http://schemas.openxmlformats.org/drawingml/2006/main">
            <a:r>
              <a:rPr sz="1400"/>
              <a:t>Misvatting: Gebruik een tabelgemiddelde niet als exacte afgeleide aan het eind van de stap.</a:t>
            </a:r>
          </a:p>
          <a:p xmlns:a="http://schemas.openxmlformats.org/drawingml/2006/main">
            <a:r>
              <a:rPr sz="1400"/>
              <a:t/>
            </a:r>
          </a:p>
          <a:p xmlns:a="http://schemas.openxmlformats.org/drawingml/2006/main">
            <a:r>
              <a:rPr sz="1400"/>
              <a:t>Overgang: Onderzoek daarna welke kostenverandering MK raakt.</a:t>
            </a:r>
          </a:p>
          <a:p xmlns:a="http://schemas.openxmlformats.org/drawingml/2006/main">
            <a:r>
              <a:rPr sz="1400"/>
              <a:t/>
            </a:r>
          </a:p>
          <a:p xmlns:a="http://schemas.openxmlformats.org/drawingml/2006/main">
            <a:r>
              <a:rPr sz="1400"/>
              <a:t>Bron: Boek 3, editie books34-v3, gedrukte boekpagina 62–64.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Cacaomenger Nova en alle voorbeeldgetallen zijn voor deze presentatie gemaakt. De boekverwijzing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moet Nova nog steeds betalen?</a:t>
            </a:r>
          </a:p>
          <a:p xmlns:a="http://schemas.openxmlformats.org/drawingml/2006/main">
            <a:r>
              <a:rPr sz="1400"/>
              <a:t/>
            </a:r>
          </a:p>
          <a:p xmlns:a="http://schemas.openxmlformats.org/drawingml/2006/main">
            <a:r>
              <a:rPr sz="1400"/>
              <a:t>Uitleg: Houd periode en capaciteit gelijk. TK nieuw = 0,15q² + 5q + 125. Bij 10 is dat 15 + 50 + 125 = 190. Beide MK-functies zijn 0,30q + 5. De extra 50 euro hangt niet af van q en verandert daarom niet bij een kleine uitbreiding. Bij gelijke opbrengst is de winst wel 50 euro lager.</a:t>
            </a:r>
          </a:p>
          <a:p xmlns:a="http://schemas.openxmlformats.org/drawingml/2006/main">
            <a:r>
              <a:rPr sz="1400"/>
              <a:t/>
            </a:r>
          </a:p>
          <a:p xmlns:a="http://schemas.openxmlformats.org/drawingml/2006/main">
            <a:r>
              <a:rPr sz="1400"/>
              <a:t>Misvatting: Constante kosten verdwijnen alleen uit de afgeleide, niet uit TK of de winst.</a:t>
            </a:r>
          </a:p>
          <a:p xmlns:a="http://schemas.openxmlformats.org/drawingml/2006/main">
            <a:r>
              <a:rPr sz="1400"/>
              <a:t/>
            </a:r>
          </a:p>
          <a:p xmlns:a="http://schemas.openxmlformats.org/drawingml/2006/main">
            <a:r>
              <a:rPr sz="1400"/>
              <a:t>Overgang: Vergelijk dit met een verandering van de lineaire variabele kosten.</a:t>
            </a:r>
          </a:p>
          <a:p xmlns:a="http://schemas.openxmlformats.org/drawingml/2006/main">
            <a:r>
              <a:rPr sz="1400"/>
              <a:t/>
            </a:r>
          </a:p>
          <a:p xmlns:a="http://schemas.openxmlformats.org/drawingml/2006/main">
            <a:r>
              <a:rPr sz="1400"/>
              <a:t>Bron: Boek 3, editie books34-v3, gedrukte boekpagina 63–64.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Cacaomenger Nova en alle voorbeeldgetallen zijn voor deze presentatie gemaakt. De boekverwijzing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verschilt de toename van TK van de toename van MK?</a:t>
            </a:r>
          </a:p>
          <a:p xmlns:a="http://schemas.openxmlformats.org/drawingml/2006/main">
            <a:r>
              <a:rPr sz="1400"/>
              <a:t/>
            </a:r>
          </a:p>
          <a:p xmlns:a="http://schemas.openxmlformats.org/drawingml/2006/main">
            <a:r>
              <a:rPr sz="1400"/>
              <a:t>Uitleg: Dit is een nieuw, afzonderlijk scenario: de constante kosten zijn weer 75. Het verschil tussen de twee TK-functies is q euro per week, bij 10 dus 10 euro. De afgeleide van die extra q is 1. Daardoor neemt MK bij elke q met 1 euro per kg toe. Dit bereidt het onderscheid in basisopgave 14 voor zonder de boekopgave uit te werken.</a:t>
            </a:r>
          </a:p>
          <a:p xmlns:a="http://schemas.openxmlformats.org/drawingml/2006/main">
            <a:r>
              <a:rPr sz="1400"/>
              <a:t/>
            </a:r>
          </a:p>
          <a:p xmlns:a="http://schemas.openxmlformats.org/drawingml/2006/main">
            <a:r>
              <a:rPr sz="1400"/>
              <a:t>Misvatting: Tel niet de vaste-kostenschok van de vorige dia op bij dit afzonderlijke plan.</a:t>
            </a:r>
          </a:p>
          <a:p xmlns:a="http://schemas.openxmlformats.org/drawingml/2006/main">
            <a:r>
              <a:rPr sz="1400"/>
              <a:t/>
            </a:r>
          </a:p>
          <a:p xmlns:a="http://schemas.openxmlformats.org/drawingml/2006/main">
            <a:r>
              <a:rPr sz="1400"/>
              <a:t>Overgang: Controleer of leerlingen de twee oorzaken uit elkaar houden.</a:t>
            </a:r>
          </a:p>
          <a:p xmlns:a="http://schemas.openxmlformats.org/drawingml/2006/main">
            <a:r>
              <a:rPr sz="1400"/>
              <a:t/>
            </a:r>
          </a:p>
          <a:p xmlns:a="http://schemas.openxmlformats.org/drawingml/2006/main">
            <a:r>
              <a:rPr sz="1400"/>
              <a:t>Bron: Boek 3, editie books34-v3, gedrukte boekpagina 63, 66.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Cacaomenger Nova en alle voorbeeldgetallen zijn voor deze presentatie gemaakt. De boekverwijzing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plan kun je gebruiken om de uitspraak te beoordelen?</a:t>
            </a:r>
          </a:p>
          <a:p xmlns:a="http://schemas.openxmlformats.org/drawingml/2006/main">
            <a:r>
              <a:rPr sz="1400"/>
              <a:t/>
            </a:r>
          </a:p>
          <a:p xmlns:a="http://schemas.openxmlformats.org/drawingml/2006/main">
            <a:r>
              <a:rPr sz="1400"/>
              <a:t>Uitleg: Laat iedereen eerst een oordeel met reden formuleren. Gebruik de twee afzonderlijke veranderingen uit het uitlegvoorbeeld, geen toegewezen boekopgave. Een leerling moet de vaste-kostenvariant kunnen noemen als tegenvoorbeeld.</a:t>
            </a:r>
          </a:p>
          <a:p xmlns:a="http://schemas.openxmlformats.org/drawingml/2006/main">
            <a:r>
              <a:rPr sz="1400"/>
              <a:t/>
            </a:r>
          </a:p>
          <a:p xmlns:a="http://schemas.openxmlformats.org/drawingml/2006/main">
            <a:r>
              <a:rPr sz="1400"/>
              <a:t>Misvatting: TK en MK hebben verschillende betekenissen en eenheden.</a:t>
            </a:r>
          </a:p>
          <a:p xmlns:a="http://schemas.openxmlformats.org/drawingml/2006/main">
            <a:r>
              <a:rPr sz="1400"/>
              <a:t/>
            </a:r>
          </a:p>
          <a:p xmlns:a="http://schemas.openxmlformats.org/drawingml/2006/main">
            <a:r>
              <a:rPr sz="1400"/>
              <a:t>Overgang: Laat de verklaring zien na de reacties.</a:t>
            </a:r>
          </a:p>
          <a:p xmlns:a="http://schemas.openxmlformats.org/drawingml/2006/main">
            <a:r>
              <a:rPr sz="1400"/>
              <a:t/>
            </a:r>
          </a:p>
          <a:p xmlns:a="http://schemas.openxmlformats.org/drawingml/2006/main">
            <a:r>
              <a:rPr sz="1400"/>
              <a:t>Bron: Boek 3, editie books34-v3, gedrukte boekpagina 63–64, 66.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Cacaomenger Nova en alle voorbeeldgetallen zijn voor deze presentatie gemaakt. De boekverwijzing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term moet je bekijken voordat je iets over MK zegt?</a:t>
            </a:r>
          </a:p>
          <a:p xmlns:a="http://schemas.openxmlformats.org/drawingml/2006/main">
            <a:r>
              <a:rPr sz="1400"/>
              <a:t/>
            </a:r>
          </a:p>
          <a:p xmlns:a="http://schemas.openxmlformats.org/drawingml/2006/main">
            <a:r>
              <a:rPr sz="1400"/>
              <a:t>Uitleg: Hogere vaste kosten zijn het tegenvoorbeeld. Een gelijkblijvend totaalbedrag verandert de kleine extra kosten niet. Een hogere lineaire variabele-kostenterm doet dat wel. Bij dezelfde opbrengst verlaagt elke kostenstijging de winst; gelijke MK zegt niets over gelijkheid van totale kosten.</a:t>
            </a:r>
          </a:p>
          <a:p xmlns:a="http://schemas.openxmlformats.org/drawingml/2006/main">
            <a:r>
              <a:rPr sz="1400"/>
              <a:t/>
            </a:r>
          </a:p>
          <a:p xmlns:a="http://schemas.openxmlformats.org/drawingml/2006/main">
            <a:r>
              <a:rPr sz="1400"/>
              <a:t>Misvatting: Verwar de verandering bij dezelfde q niet met een productiestap.</a:t>
            </a:r>
          </a:p>
          <a:p xmlns:a="http://schemas.openxmlformats.org/drawingml/2006/main">
            <a:r>
              <a:rPr sz="1400"/>
              <a:t/>
            </a:r>
          </a:p>
          <a:p xmlns:a="http://schemas.openxmlformats.org/drawingml/2006/main">
            <a:r>
              <a:rPr sz="1400"/>
              <a:t>Overgang: Keer terug naar start 12 en begin daarna aan basis 13–14.</a:t>
            </a:r>
          </a:p>
          <a:p xmlns:a="http://schemas.openxmlformats.org/drawingml/2006/main">
            <a:r>
              <a:rPr sz="1400"/>
              <a:t/>
            </a:r>
          </a:p>
          <a:p xmlns:a="http://schemas.openxmlformats.org/drawingml/2006/main">
            <a:r>
              <a:rPr sz="1400"/>
              <a:t>Bron: Boek 3, editie books34-v3, gedrukte boekpagina 63–64, 66.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Uitlegvoorbeeld — niet uit het boek. Context Cacaomenger Nova en alle voorbeeldgetallen zijn voor deze presentatie gemaakt. De boekverwijzing onderbouwt alleen de methode.</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of uitleg vraagt nog hulp?</a:t>
            </a:r>
          </a:p>
          <a:p xmlns:a="http://schemas.openxmlformats.org/drawingml/2006/main">
            <a:r>
              <a:rPr sz="1400"/>
              <a:t/>
            </a:r>
          </a:p>
          <a:p xmlns:a="http://schemas.openxmlformats.org/drawingml/2006/main">
            <a:r>
              <a:rPr sz="1400"/>
              <a:t>Uitleg: Laat deze dia staan tijdens zelfstandig werken. Start 11–12 staat op boekpagina 65; basis 13 op 65 en 14 op 66; zelfstandig 15–16 op 66; doel 17 op 67. Huiswerk is 13, 14, 15, 16 en 17 maken en nakijken. Bonus 18 en herhaling 19 zijn extra. Opgave 11 haalt ΔTK/Δq en eenheden op uit §2.1.3. Opgave 12 geeft de MK-functie al, maar de puntbetekenis is nieuw: laat leerlingen p. 62–64 als steun gebruiken, beide gegeven functies invullen en hun twijfel noteren. Verwacht nog geen zelfstandige beheersing van de afgeleide. Voor het basiswerk keren leerlingen terug naar 12 en verbeteren zij de betekenis met de zojuist gegeven uitleg. Plan zo nodig over meer lessen; de docentgids adviseert voorlopig twee lessen van 55 minuten, zonder gemeten fit.</a:t>
            </a:r>
          </a:p>
          <a:p xmlns:a="http://schemas.openxmlformats.org/drawingml/2006/main">
            <a:r>
              <a:rPr sz="1400"/>
              <a:t/>
            </a:r>
          </a:p>
          <a:p xmlns:a="http://schemas.openxmlformats.org/drawingml/2006/main">
            <a:r>
              <a:rPr sz="1400"/>
              <a:t>Misvatting: De hoofdstukhandleiding gebruikt lokale pagina 13 voor de start; de complete leerlinguitgave heeft hier gedrukte pagina 65.</a:t>
            </a:r>
          </a:p>
          <a:p xmlns:a="http://schemas.openxmlformats.org/drawingml/2006/main">
            <a:r>
              <a:rPr sz="1400"/>
              <a:t/>
            </a:r>
          </a:p>
          <a:p xmlns:a="http://schemas.openxmlformats.org/drawingml/2006/main">
            <a:r>
              <a:rPr sz="1400"/>
              <a:t>Overgang: Ga naar de volgende lesfase als de klas daaraan toe is.</a:t>
            </a:r>
          </a:p>
          <a:p xmlns:a="http://schemas.openxmlformats.org/drawingml/2006/main">
            <a:r>
              <a:rPr sz="1400"/>
              <a:t/>
            </a:r>
          </a:p>
          <a:p xmlns:a="http://schemas.openxmlformats.org/drawingml/2006/main">
            <a:r>
              <a:rPr sz="1400"/>
              <a:t>Bron: Boek 3, editie books34-v3, gedrukte boekpagina 62–67.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Docentroute: https://github.com/meijer1973/4veco-lessen/blob/9b8304d5031cafac936a56281e144573a25fbbc9/edities/books34-v3/books/book-3/chapters/3.2/Docenteninformatie.md. Terugkoppeling start indien nodig: 11a ΔTK = € 70 per week, Δq = 10 kg per week, gemiddelde = € 7 per kg; 12a TK(20) = € 120 per week, MK(20) = € 6 per kg. Deze antwoorden staan niet op de openingsdia.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grootheden en grenzen zijn gegeven?</a:t>
            </a:r>
          </a:p>
          <a:p xmlns:a="http://schemas.openxmlformats.org/drawingml/2006/main">
            <a:r>
              <a:rPr sz="1400"/>
              <a:t/>
            </a:r>
          </a:p>
          <a:p xmlns:a="http://schemas.openxmlformats.org/drawingml/2006/main">
            <a:r>
              <a:rPr sz="1400"/>
              <a:t>Uitleg: Bespreek het doel pas nadat leerlingen het hebben geprobeerd. Dit is de volledige context van de echte boekopgave, met de oorspronkelijke functie en capaciteit. Er is geen doelgrafiek of aanvullende tabel. De volgende twee dia’s tonen samen alle vijf deelvragen, nog zonder uitwerkingen.</a:t>
            </a:r>
          </a:p>
          <a:p xmlns:a="http://schemas.openxmlformats.org/drawingml/2006/main">
            <a:r>
              <a:rPr sz="1400"/>
              <a:t/>
            </a:r>
          </a:p>
          <a:p xmlns:a="http://schemas.openxmlformats.org/drawingml/2006/main">
            <a:r>
              <a:rPr sz="1400"/>
              <a:t>Misvatting: Gebruik nu de gegevens van Zadenverpakker; die van Nova horen bij het uitlegvoorbeeld.</a:t>
            </a:r>
          </a:p>
          <a:p xmlns:a="http://schemas.openxmlformats.org/drawingml/2006/main">
            <a:r>
              <a:rPr sz="1400"/>
              <a:t/>
            </a:r>
          </a:p>
          <a:p xmlns:a="http://schemas.openxmlformats.org/drawingml/2006/main">
            <a:r>
              <a:rPr sz="1400"/>
              <a:t>Overgang: Toon eerst a tot en met c en daarna d en e.</a:t>
            </a:r>
          </a:p>
          <a:p xmlns:a="http://schemas.openxmlformats.org/drawingml/2006/main">
            <a:r>
              <a:rPr sz="1400"/>
              <a:t/>
            </a:r>
          </a:p>
          <a:p xmlns:a="http://schemas.openxmlformats.org/drawingml/2006/main">
            <a:r>
              <a:rPr sz="1400"/>
              <a:t>Bron: Boek 3, editie books34-v3, gedrukte boekpagina 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vraag vraagt een puntwaarde en welke een tabelstap?</a:t>
            </a:r>
          </a:p>
          <a:p xmlns:a="http://schemas.openxmlformats.org/drawingml/2006/main">
            <a:r>
              <a:rPr sz="1400"/>
              <a:t/>
            </a:r>
          </a:p>
          <a:p xmlns:a="http://schemas.openxmlformats.org/drawingml/2006/main">
            <a:r>
              <a:rPr sz="1400"/>
              <a:t>Uitleg: Lees alle drie vragen. Laat de leerlingen aangeven welke functie of methode elke vraag vereist, maar onthul nog geen oplossing. Deze vragen zijn letterlijk overgenomen uit de huidige leerlingtekst. De context blijft op de voorgaande dia beschikbaar.</a:t>
            </a:r>
          </a:p>
          <a:p xmlns:a="http://schemas.openxmlformats.org/drawingml/2006/main">
            <a:r>
              <a:rPr sz="1400"/>
              <a:t/>
            </a:r>
          </a:p>
          <a:p xmlns:a="http://schemas.openxmlformats.org/drawingml/2006/main">
            <a:r>
              <a:rPr sz="1400"/>
              <a:t>Misvatting: Een correct bedrag alleen beantwoordt b niet: eenheid en betekenis zijn ook gevraagd.</a:t>
            </a:r>
          </a:p>
          <a:p xmlns:a="http://schemas.openxmlformats.org/drawingml/2006/main">
            <a:r>
              <a:rPr sz="1400"/>
              <a:t/>
            </a:r>
          </a:p>
          <a:p xmlns:a="http://schemas.openxmlformats.org/drawingml/2006/main">
            <a:r>
              <a:rPr sz="1400"/>
              <a:t>Overgang: Toon d en e voordat de uitwerking begint.</a:t>
            </a:r>
          </a:p>
          <a:p xmlns:a="http://schemas.openxmlformats.org/drawingml/2006/main">
            <a:r>
              <a:rPr sz="1400"/>
              <a:t/>
            </a:r>
          </a:p>
          <a:p xmlns:a="http://schemas.openxmlformats.org/drawingml/2006/main">
            <a:r>
              <a:rPr sz="1400"/>
              <a:t>Bron: Boek 3, editie books34-v3, gedrukte boekpagina 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Wat moet je naast rekenen bij d en e uitleggen?</a:t>
            </a:r>
          </a:p>
          <a:p xmlns:a="http://schemas.openxmlformats.org/drawingml/2006/main">
            <a:r>
              <a:rPr sz="1400"/>
              <a:t/>
            </a:r>
          </a:p>
          <a:p xmlns:a="http://schemas.openxmlformats.org/drawingml/2006/main">
            <a:r>
              <a:rPr sz="1400"/>
              <a:t>Uitleg: Nu zijn de volledige context en alle vijf vragen beschikbaar. Vraag eerst naar de redeneerstap die d van c onderscheidt. De docent kan naar eerdere dia’s teruggaan; de antwoorden volgen pas hierna.</a:t>
            </a:r>
          </a:p>
          <a:p xmlns:a="http://schemas.openxmlformats.org/drawingml/2006/main">
            <a:r>
              <a:rPr sz="1400"/>
              <a:t/>
            </a:r>
          </a:p>
          <a:p xmlns:a="http://schemas.openxmlformats.org/drawingml/2006/main">
            <a:r>
              <a:rPr sz="1400"/>
              <a:t>Misvatting: “Dat zijn andere getallen” is geen economische verklaring.</a:t>
            </a:r>
          </a:p>
          <a:p xmlns:a="http://schemas.openxmlformats.org/drawingml/2006/main">
            <a:r>
              <a:rPr sz="1400"/>
              <a:t/>
            </a:r>
          </a:p>
          <a:p xmlns:a="http://schemas.openxmlformats.org/drawingml/2006/main">
            <a:r>
              <a:rPr sz="1400"/>
              <a:t>Overgang: Begin de uitwerking bij het afleiden per term.</a:t>
            </a:r>
          </a:p>
          <a:p xmlns:a="http://schemas.openxmlformats.org/drawingml/2006/main">
            <a:r>
              <a:rPr sz="1400"/>
              <a:t/>
            </a:r>
          </a:p>
          <a:p xmlns:a="http://schemas.openxmlformats.org/drawingml/2006/main">
            <a:r>
              <a:rPr sz="1400"/>
              <a:t>Bron: Boek 3, editie books34-v3, gedrukte boekpagina 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 staat de 400 nog wel in?</a:t>
            </a:r>
          </a:p>
          <a:p xmlns:a="http://schemas.openxmlformats.org/drawingml/2006/main">
            <a:r>
              <a:rPr sz="1400"/>
              <a:t/>
            </a:r>
          </a:p>
          <a:p xmlns:a="http://schemas.openxmlformats.org/drawingml/2006/main">
            <a:r>
              <a:rPr sz="1400"/>
              <a:t>Uitleg: Laat elke bijdrage benoemen: 0,04q² geeft 0,08q; 4q geeft 4; 400 geeft 0. Tel deze op. Dit dekt alle per-termhandelingen in vraag a.</a:t>
            </a:r>
          </a:p>
          <a:p xmlns:a="http://schemas.openxmlformats.org/drawingml/2006/main">
            <a:r>
              <a:rPr sz="1400"/>
              <a:t/>
            </a:r>
          </a:p>
          <a:p xmlns:a="http://schemas.openxmlformats.org/drawingml/2006/main">
            <a:r>
              <a:rPr sz="1400"/>
              <a:t>Misvatting: Constante kosten leveren nul in MK maar blijven onderdeel van TK.</a:t>
            </a:r>
          </a:p>
          <a:p xmlns:a="http://schemas.openxmlformats.org/drawingml/2006/main">
            <a:r>
              <a:rPr sz="1400"/>
              <a:t/>
            </a:r>
          </a:p>
          <a:p xmlns:a="http://schemas.openxmlformats.org/drawingml/2006/main">
            <a:r>
              <a:rPr sz="1400"/>
              <a:t>Overgang: Vul 100 in de afgeleide in.</a:t>
            </a:r>
          </a:p>
          <a:p xmlns:a="http://schemas.openxmlformats.org/drawingml/2006/main">
            <a:r>
              <a:rPr sz="1400"/>
              <a:t/>
            </a:r>
          </a:p>
          <a:p xmlns:a="http://schemas.openxmlformats.org/drawingml/2006/main">
            <a:r>
              <a:rPr sz="1400"/>
              <a:t>Bron: Boek 3, editie books34-v3, gedrukte boekpagina 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schrijf je euro per kg en niet euro per week?</a:t>
            </a:r>
          </a:p>
          <a:p xmlns:a="http://schemas.openxmlformats.org/drawingml/2006/main">
            <a:r>
              <a:rPr sz="1400"/>
              <a:t/>
            </a:r>
          </a:p>
          <a:p xmlns:a="http://schemas.openxmlformats.org/drawingml/2006/main">
            <a:r>
              <a:rPr sz="1400"/>
              <a:t>Uitleg: 0,08 maal 100 is 8; plus 4 geeft 12 euro per kg. Dit is een puntwaarde voor een zeer kleine uitbreiding rond 100 kg in het doorlopende model. Het gaat niet om de totale kosten van alle 100 kg en niet exact om de volledige volgende kg. 100 ligt binnen de capaciteit van 200.</a:t>
            </a:r>
          </a:p>
          <a:p xmlns:a="http://schemas.openxmlformats.org/drawingml/2006/main">
            <a:r>
              <a:rPr sz="1400"/>
              <a:t/>
            </a:r>
          </a:p>
          <a:p xmlns:a="http://schemas.openxmlformats.org/drawingml/2006/main">
            <a:r>
              <a:rPr sz="1400"/>
              <a:t>Misvatting: Verwar MK(100) niet met TK(100) of GTK(100).</a:t>
            </a:r>
          </a:p>
          <a:p xmlns:a="http://schemas.openxmlformats.org/drawingml/2006/main">
            <a:r>
              <a:rPr sz="1400"/>
              <a:t/>
            </a:r>
          </a:p>
          <a:p xmlns:a="http://schemas.openxmlformats.org/drawingml/2006/main">
            <a:r>
              <a:rPr sz="1400"/>
              <a:t>Overgang: Bereken nu TK aan beide kanten van de gevraagde tabelstap.</a:t>
            </a:r>
          </a:p>
          <a:p xmlns:a="http://schemas.openxmlformats.org/drawingml/2006/main">
            <a:r>
              <a:rPr sz="1400"/>
              <a:t/>
            </a:r>
          </a:p>
          <a:p xmlns:a="http://schemas.openxmlformats.org/drawingml/2006/main">
            <a:r>
              <a:rPr sz="1400"/>
              <a:t>Bron: Boek 3, editie books34-v3, gedrukte boekpagina 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Waarom tel je ook bij 150 kg de 400 op?</a:t>
            </a:r>
          </a:p>
          <a:p xmlns:a="http://schemas.openxmlformats.org/drawingml/2006/main">
            <a:r>
              <a:rPr sz="1400"/>
              <a:t/>
            </a:r>
          </a:p>
          <a:p xmlns:a="http://schemas.openxmlformats.org/drawingml/2006/main">
            <a:r>
              <a:rPr sz="1400"/>
              <a:t>Uitleg: 100² is 10.000 en 150² is 22.500. Vermenigvuldig pas daarna met 0,04. Beide productiehoeveelheden blijven onder de capaciteit van 200. De vaste kosten 400 komen in beide totalen voor.</a:t>
            </a:r>
          </a:p>
          <a:p xmlns:a="http://schemas.openxmlformats.org/drawingml/2006/main">
            <a:r>
              <a:rPr sz="1400"/>
              <a:t/>
            </a:r>
          </a:p>
          <a:p xmlns:a="http://schemas.openxmlformats.org/drawingml/2006/main">
            <a:r>
              <a:rPr sz="1400"/>
              <a:t>Misvatting: Gebruik voor totale kosten de oorspronkelijke TK-functie, niet de MK-functie.</a:t>
            </a:r>
          </a:p>
          <a:p xmlns:a="http://schemas.openxmlformats.org/drawingml/2006/main">
            <a:r>
              <a:rPr sz="1400"/>
              <a:t/>
            </a:r>
          </a:p>
          <a:p xmlns:a="http://schemas.openxmlformats.org/drawingml/2006/main">
            <a:r>
              <a:rPr sz="1400"/>
              <a:t>Overgang: Gebruik de twee totalen om de gemiddelde extra kosten te bepalen.</a:t>
            </a:r>
          </a:p>
          <a:p xmlns:a="http://schemas.openxmlformats.org/drawingml/2006/main">
            <a:r>
              <a:rPr sz="1400"/>
              <a:t/>
            </a:r>
          </a:p>
          <a:p xmlns:a="http://schemas.openxmlformats.org/drawingml/2006/main">
            <a:r>
              <a:rPr sz="1400"/>
              <a:t>Bron: Boek 3, editie books34-v3, gedrukte boekpagina 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 getal hoort in de noemer?</a:t>
            </a:r>
          </a:p>
          <a:p xmlns:a="http://schemas.openxmlformats.org/drawingml/2006/main">
            <a:r>
              <a:rPr sz="1400"/>
              <a:t/>
            </a:r>
          </a:p>
          <a:p xmlns:a="http://schemas.openxmlformats.org/drawingml/2006/main">
            <a:r>
              <a:rPr sz="1400"/>
              <a:t>Uitleg: Bereken beide verschillen, deel 700 door 50 en geef de eenheid. De uitkomst is gemiddeld over de volledige stap van 100 naar 150 kg. De omgekeerde vermenigvuldiging controleert het kostenverschil.</a:t>
            </a:r>
          </a:p>
          <a:p xmlns:a="http://schemas.openxmlformats.org/drawingml/2006/main">
            <a:r>
              <a:rPr sz="1400"/>
              <a:t/>
            </a:r>
          </a:p>
          <a:p xmlns:a="http://schemas.openxmlformats.org/drawingml/2006/main">
            <a:r>
              <a:rPr sz="1400"/>
              <a:t>Misvatting: Deel niet door 150. Dat is de eindproductie, niet de productietoename.</a:t>
            </a:r>
          </a:p>
          <a:p xmlns:a="http://schemas.openxmlformats.org/drawingml/2006/main">
            <a:r>
              <a:rPr sz="1400"/>
              <a:t/>
            </a:r>
          </a:p>
          <a:p xmlns:a="http://schemas.openxmlformats.org/drawingml/2006/main">
            <a:r>
              <a:rPr sz="1400"/>
              <a:t>Overgang: Verklaar waarom 14 en 12 tegelijk juist kunnen zijn.</a:t>
            </a:r>
          </a:p>
          <a:p xmlns:a="http://schemas.openxmlformats.org/drawingml/2006/main">
            <a:r>
              <a:rPr sz="1400"/>
              <a:t/>
            </a:r>
          </a:p>
          <a:p xmlns:a="http://schemas.openxmlformats.org/drawingml/2006/main">
            <a:r>
              <a:rPr sz="1400"/>
              <a:t>Bron: Boek 3, editie books34-v3, gedrukte boekpagina 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verandering hoort bij ieder bedrag?</a:t>
            </a:r>
          </a:p>
          <a:p xmlns:a="http://schemas.openxmlformats.org/drawingml/2006/main">
            <a:r>
              <a:rPr sz="1400"/>
              <a:t/>
            </a:r>
          </a:p>
          <a:p xmlns:a="http://schemas.openxmlformats.org/drawingml/2006/main">
            <a:r>
              <a:rPr sz="1400"/>
              <a:t>Uitleg: De 12 is de afgeleide bij 100. De 14 is gemiddeld over 50 extra kg. De marginale kosten nemen toe met q: bij 150 is MK = 0,08 × 150 + 4 = 16. Daardoor bevat de stap ook duurdere productie dan bij het begin en is het gemiddelde hoger. De eindwaarde 16 is een extra controle, niet een andere methode die de verschillenberekening vervangt.</a:t>
            </a:r>
          </a:p>
          <a:p xmlns:a="http://schemas.openxmlformats.org/drawingml/2006/main">
            <a:r>
              <a:rPr sz="1400"/>
              <a:t/>
            </a:r>
          </a:p>
          <a:p xmlns:a="http://schemas.openxmlformats.org/drawingml/2006/main">
            <a:r>
              <a:rPr sz="1400"/>
              <a:t>Misvatting: € 14 is niet de exacte puntwaarde bij 150. Neem bij willekeurige modellen niet automatisch het gemiddelde van de eindwaarden.</a:t>
            </a:r>
          </a:p>
          <a:p xmlns:a="http://schemas.openxmlformats.org/drawingml/2006/main">
            <a:r>
              <a:rPr sz="1400"/>
              <a:t/>
            </a:r>
          </a:p>
          <a:p xmlns:a="http://schemas.openxmlformats.org/drawingml/2006/main">
            <a:r>
              <a:rPr sz="1400"/>
              <a:t>Overgang: Bekijk de laatste vraag bij dezelfde productie van 100 kg.</a:t>
            </a:r>
          </a:p>
          <a:p xmlns:a="http://schemas.openxmlformats.org/drawingml/2006/main">
            <a:r>
              <a:rPr sz="1400"/>
              <a:t/>
            </a:r>
          </a:p>
          <a:p xmlns:a="http://schemas.openxmlformats.org/drawingml/2006/main">
            <a:r>
              <a:rPr sz="1400"/>
              <a:t>Bron: Boek 3, editie books34-v3, gedrukte boekpagina 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kosten blijven in TK staan terwijl ze niets bijdragen aan MK?</a:t>
            </a:r>
          </a:p>
          <a:p xmlns:a="http://schemas.openxmlformats.org/drawingml/2006/main">
            <a:r>
              <a:rPr sz="1400"/>
              <a:t/>
            </a:r>
          </a:p>
          <a:p xmlns:a="http://schemas.openxmlformats.org/drawingml/2006/main">
            <a:r>
              <a:rPr sz="1400"/>
              <a:t>Uitleg: De constante wordt 500. TK bij 100 is 1300, dus 100 euro meer dan voorheen. De afgeleide van 500 is net als die van 400 nul, daarom blijft MK dezelfde functie en bij 100 nog steeds 12 euro per kg. De constante kosten blijven in deze week binnen dezelfde capaciteit gelijk. Laat leerlingen hun eigen antwoord op eenheid en verklaring controleren en één ontbrekende stap verbeteren.</a:t>
            </a:r>
          </a:p>
          <a:p xmlns:a="http://schemas.openxmlformats.org/drawingml/2006/main">
            <a:r>
              <a:rPr sz="1400"/>
              <a:t/>
            </a:r>
          </a:p>
          <a:p xmlns:a="http://schemas.openxmlformats.org/drawingml/2006/main">
            <a:r>
              <a:rPr sz="1400"/>
              <a:t>Misvatting: Gelijke MK betekent niet gelijke TK of gelijke winst. Bij gelijke opbrengst is de winst nu 100 euro lager.</a:t>
            </a:r>
          </a:p>
          <a:p xmlns:a="http://schemas.openxmlformats.org/drawingml/2006/main">
            <a:r>
              <a:rPr sz="1400"/>
              <a:t/>
            </a:r>
          </a:p>
          <a:p xmlns:a="http://schemas.openxmlformats.org/drawingml/2006/main">
            <a:r>
              <a:rPr sz="1400"/>
              <a:t>Overgang: Laat de afsluitende overzichtsdia staan voor het huiswerk.</a:t>
            </a:r>
          </a:p>
          <a:p xmlns:a="http://schemas.openxmlformats.org/drawingml/2006/main">
            <a:r>
              <a:rPr sz="1400"/>
              <a:t/>
            </a:r>
          </a:p>
          <a:p xmlns:a="http://schemas.openxmlformats.org/drawingml/2006/main">
            <a:r>
              <a:rPr sz="1400"/>
              <a:t>Bron: Boek 3, editie books34-v3, gedrukte boekpagina 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400"/>
              <a:t>Vraag: Welke stap of uitleg vraagt nog hulp?</a:t>
            </a:r>
          </a:p>
          <a:p xmlns:a="http://schemas.openxmlformats.org/drawingml/2006/main">
            <a:r>
              <a:rPr sz="1400"/>
              <a:t/>
            </a:r>
          </a:p>
          <a:p xmlns:a="http://schemas.openxmlformats.org/drawingml/2006/main">
            <a:r>
              <a:rPr sz="1400"/>
              <a:t>Uitleg: Laat deze dia staan tijdens afsluiting / huiswerk. Start 11–12 staat op boekpagina 65; basis 13 op 65 en 14 op 66; zelfstandig 15–16 op 66; doel 17 op 67. Huiswerk is 13, 14, 15, 16 en 17 maken en nakijken. Bonus 18 en herhaling 19 zijn extra. Opgave 11 haalt ΔTK/Δq en eenheden op uit §2.1.3. Opgave 12 geeft de MK-functie al, maar de puntbetekenis is nieuw: laat leerlingen p. 62–64 als steun gebruiken, beide gegeven functies invullen en hun twijfel noteren. Verwacht nog geen zelfstandige beheersing van de afgeleide. Voor het basiswerk keren leerlingen terug naar 12 en verbeteren zij de betekenis met de zojuist gegeven uitleg. Plan zo nodig over meer lessen; de docentgids adviseert voorlopig twee lessen van 55 minuten, zonder gemeten fit.</a:t>
            </a:r>
          </a:p>
          <a:p xmlns:a="http://schemas.openxmlformats.org/drawingml/2006/main">
            <a:r>
              <a:rPr sz="1400"/>
              <a:t/>
            </a:r>
          </a:p>
          <a:p xmlns:a="http://schemas.openxmlformats.org/drawingml/2006/main">
            <a:r>
              <a:rPr sz="1400"/>
              <a:t>Misvatting: De hoofdstukhandleiding gebruikt lokale pagina 13 voor de start; de complete leerlinguitgave heeft hier gedrukte pagina 65.</a:t>
            </a:r>
          </a:p>
          <a:p xmlns:a="http://schemas.openxmlformats.org/drawingml/2006/main">
            <a:r>
              <a:rPr sz="1400"/>
              <a:t/>
            </a:r>
          </a:p>
          <a:p xmlns:a="http://schemas.openxmlformats.org/drawingml/2006/main">
            <a:r>
              <a:rPr sz="1400"/>
              <a:t>Overgang: Laat het huiswerk in de agenda zetten. In §3.2.3 volgt de productie kiezen.</a:t>
            </a:r>
          </a:p>
          <a:p xmlns:a="http://schemas.openxmlformats.org/drawingml/2006/main">
            <a:r>
              <a:rPr sz="1400"/>
              <a:t/>
            </a:r>
          </a:p>
          <a:p xmlns:a="http://schemas.openxmlformats.org/drawingml/2006/main">
            <a:r>
              <a:rPr sz="1400"/>
              <a:t>Bron: Boek 3, editie books34-v3, gedrukte boekpagina 62–67. https://github.com/meijer1973/4veco-lessen/blob/9b8304d5031cafac936a56281e144573a25fbbc9/edities/books34-v3/books/book-3/output/Boek_3_Compleet_v3.pdf</a:t>
            </a:r>
          </a:p>
          <a:p xmlns:a="http://schemas.openxmlformats.org/drawingml/2006/main">
            <a:r>
              <a:rPr sz="1400"/>
              <a:t>Methode en leerlingtekst: https://github.com/meijer1973/4veco-lessen/blob/9b8304d5031cafac936a56281e144573a25fbbc9/edities/books34-v3/books/book-3/chapters/3.2/3.2.2%20manuscript.md</a:t>
            </a:r>
          </a:p>
          <a:p xmlns:a="http://schemas.openxmlformats.org/drawingml/2006/main">
            <a:r>
              <a:rPr sz="1400"/>
              <a:t>Antwoordmodel: https://github.com/meijer1973/4veco-lessen/blob/9b8304d5031cafac936a56281e144573a25fbbc9/edities/books34-v3/books/book-3/chapters/3.2/Antwoorden.md</a:t>
            </a:r>
          </a:p>
          <a:p xmlns:a="http://schemas.openxmlformats.org/drawingml/2006/main">
            <a:r>
              <a:rPr sz="1400"/>
              <a:t/>
            </a:r>
          </a:p>
          <a:p xmlns:a="http://schemas.openxmlformats.org/drawingml/2006/main">
            <a:r>
              <a:rPr sz="1400"/>
              <a:t>Docentroute: https://github.com/meijer1973/4veco-lessen/blob/9b8304d5031cafac936a56281e144573a25fbbc9/edities/books34-v3/books/book-3/chapters/3.2/Docenteninformatie.md. Terugkoppeling start indien nodig: 11a ΔTK = € 70 per week, Δq = 10 kg per week, gemiddelde = € 7 per kg; 12a TK(20) = € 120 per week, MK(20) = € 6 per kg. Deze antwoorden staan niet op de openingsdia.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99b41d4ce4c434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c52dd9f2413413e" /><Relationship Type="http://schemas.openxmlformats.org/officeDocument/2006/relationships/slideLayout" Target="/ppt/slideLayouts/slideLayout1.xml" Id="Rd7a787d24d664e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7a787d24d664e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ab9601d889140bf" /><Relationship Type="http://schemas.openxmlformats.org/officeDocument/2006/relationships/notesSlide" Target="/ppt/notesSlides/notesSlide1.xml" Id="Reb73506d0e4e47d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8e0d6b095b416a" /><Relationship Type="http://schemas.openxmlformats.org/officeDocument/2006/relationships/notesSlide" Target="/ppt/notesSlides/notesSlide2.xml" Id="R870e901c776240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506954d7854ac3" /><Relationship Type="http://schemas.openxmlformats.org/officeDocument/2006/relationships/notesSlide" Target="/ppt/notesSlides/notesSlide3.xml" Id="R1fc3488418c0480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401a6b209b24f72" /><Relationship Type="http://schemas.openxmlformats.org/officeDocument/2006/relationships/notesSlide" Target="/ppt/notesSlides/notesSlide4.xml" Id="R4f497bb73bd343e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4cf9d4bef3a4b7e" /><Relationship Type="http://schemas.openxmlformats.org/officeDocument/2006/relationships/notesSlide" Target="/ppt/notesSlides/notesSlide5.xml" Id="R7201aff8e1484d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a8ac9f2db2d4a09" /><Relationship Type="http://schemas.openxmlformats.org/officeDocument/2006/relationships/notesSlide" Target="/ppt/notesSlides/notesSlide6.xml" Id="R4b14a9f838ed4c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6f474895c014653" /><Relationship Type="http://schemas.openxmlformats.org/officeDocument/2006/relationships/notesSlide" Target="/ppt/notesSlides/notesSlide7.xml" Id="R509083be24a645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88896542bfa4ac5" /><Relationship Type="http://schemas.openxmlformats.org/officeDocument/2006/relationships/notesSlide" Target="/ppt/notesSlides/notesSlide8.xml" Id="R04a169e6157f43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900ea3a4a434418" /><Relationship Type="http://schemas.openxmlformats.org/officeDocument/2006/relationships/notesSlide" Target="/ppt/notesSlides/notesSlide9.xml" Id="R5d768dca39c147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57794feff3f4246" /><Relationship Type="http://schemas.openxmlformats.org/officeDocument/2006/relationships/notesSlide" Target="/ppt/notesSlides/notesSlide10.xml" Id="Rc9a0023dbb364ee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ed53d5d0c0e4042" /><Relationship Type="http://schemas.openxmlformats.org/officeDocument/2006/relationships/notesSlide" Target="/ppt/notesSlides/notesSlide11.xml" Id="R6473c80e1cf0419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5fe3ee8b9a34c3b" /><Relationship Type="http://schemas.openxmlformats.org/officeDocument/2006/relationships/notesSlide" Target="/ppt/notesSlides/notesSlide12.xml" Id="R61904f807b0d4b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b080ee6269241fc" /><Relationship Type="http://schemas.openxmlformats.org/officeDocument/2006/relationships/notesSlide" Target="/ppt/notesSlides/notesSlide13.xml" Id="R58dcf4630d814d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6c87836b4b34bf6" /><Relationship Type="http://schemas.openxmlformats.org/officeDocument/2006/relationships/notesSlide" Target="/ppt/notesSlides/notesSlide14.xml" Id="Rb2adf3e696ef459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798e412d83c4a88" /><Relationship Type="http://schemas.openxmlformats.org/officeDocument/2006/relationships/notesSlide" Target="/ppt/notesSlides/notesSlide15.xml" Id="Re9d112cd6edc494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57891a550a74fb2" /><Relationship Type="http://schemas.openxmlformats.org/officeDocument/2006/relationships/notesSlide" Target="/ppt/notesSlides/notesSlide16.xml" Id="R1949e2831c514b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31fbbe0e4b8c4941" /><Relationship Type="http://schemas.openxmlformats.org/officeDocument/2006/relationships/notesSlide" Target="/ppt/notesSlides/notesSlide17.xml" Id="Rfff3199e448248d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3278e88d5d24afc" /><Relationship Type="http://schemas.openxmlformats.org/officeDocument/2006/relationships/notesSlide" Target="/ppt/notesSlides/notesSlide18.xml" Id="R9f4b2e2db4ec484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cef3cfab4a434a6f" /><Relationship Type="http://schemas.openxmlformats.org/officeDocument/2006/relationships/notesSlide" Target="/ppt/notesSlides/notesSlide19.xml" Id="R1f6594ec62aa42c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374f53794494810" /><Relationship Type="http://schemas.openxmlformats.org/officeDocument/2006/relationships/notesSlide" Target="/ppt/notesSlides/notesSlide20.xml" Id="R31bebfad3b1a44e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c22d4f503c634c2f" /><Relationship Type="http://schemas.openxmlformats.org/officeDocument/2006/relationships/notesSlide" Target="/ppt/notesSlides/notesSlide21.xml" Id="R9f638996d8e04eba"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2f914af7ba734fe3" /><Relationship Type="http://schemas.openxmlformats.org/officeDocument/2006/relationships/notesSlide" Target="/ppt/notesSlides/notesSlide22.xml" Id="Rbac701061bdc4c3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e68116b81d24e95" /><Relationship Type="http://schemas.openxmlformats.org/officeDocument/2006/relationships/notesSlide" Target="/ppt/notesSlides/notesSlide23.xml" Id="R0b19f6557cb34b15"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ac6f0383da44609" /><Relationship Type="http://schemas.openxmlformats.org/officeDocument/2006/relationships/notesSlide" Target="/ppt/notesSlides/notesSlide24.xml" Id="R395d5468fc3d4cf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2.2 Marginale kosten en de afgeleide">
            <a:extLst xmlns:a="http://schemas.openxmlformats.org/drawingml/2006/main">
              <a:ext uri="{FF2B5EF4-FFF2-40B4-BE49-F238E27FC236}">
                <a16:creationId xmlns:a16="http://schemas.microsoft.com/office/drawing/2014/main" id="{D85FF094-9812-446F-B97E-389B1E451B24}"/>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§3.2.2 Marginale kosten en de afgeleide</a:t>
            </a:r>
          </a:p>
        </p:txBody>
      </p:sp>
      <p:sp>
        <p:nvSpPr>
          <p:cNvPr id="2" name="">
            <a:extLst xmlns:a="http://schemas.openxmlformats.org/drawingml/2006/main">
              <a:ext uri="{FF2B5EF4-FFF2-40B4-BE49-F238E27FC236}">
                <a16:creationId xmlns:a16="http://schemas.microsoft.com/office/drawing/2014/main" id="{3E804CCF-6EAC-4633-AE0C-293EF53539B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8057928D-4261-40F7-B65D-15815F060CB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1">
            <a:extLst xmlns:a="http://schemas.openxmlformats.org/drawingml/2006/main">
              <a:ext uri="{FF2B5EF4-FFF2-40B4-BE49-F238E27FC236}">
                <a16:creationId xmlns:a16="http://schemas.microsoft.com/office/drawing/2014/main" id="{28EB4A39-8368-43F7-A669-32B88E80CC3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a:t>
            </a:r>
          </a:p>
        </p:txBody>
      </p:sp>
      <p:sp>
        <p:nvSpPr>
          <p:cNvPr id="5" name="phase">
            <a:extLst xmlns:a="http://schemas.openxmlformats.org/drawingml/2006/main">
              <a:ext uri="{FF2B5EF4-FFF2-40B4-BE49-F238E27FC236}">
                <a16:creationId xmlns:a16="http://schemas.microsoft.com/office/drawing/2014/main" id="{BFA8AD06-38A7-4E54-9B8B-A3E852087AF9}"/>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Startopdracht</a:t>
            </a:r>
          </a:p>
        </p:txBody>
      </p:sp>
      <p:sp>
        <p:nvSpPr>
          <p:cNvPr id="6" name="Lesroute">
            <a:extLst xmlns:a="http://schemas.openxmlformats.org/drawingml/2006/main">
              <a:ext uri="{FF2B5EF4-FFF2-40B4-BE49-F238E27FC236}">
                <a16:creationId xmlns:a16="http://schemas.microsoft.com/office/drawing/2014/main" id="{73162D0B-159E-45B2-AF32-75296D47F6EC}"/>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5ED1868F-E32D-4C96-850C-3D3E1EF19F4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D242F881-78E7-4F66-978E-BAF7A17EBB1D}"/>
              </a:ext>
            </a:extLst>
          </p:cNvPr>
          <p:cNvSpPr>
            <a:spLocks xmlns:a="http://schemas.openxmlformats.org/drawingml/2006/main" noGrp="1"/>
          </p:cNvSpPr>
          <p:nvPr/>
        </p:nvSpPr>
        <p:spPr>
          <a:xfrm xmlns:a="http://schemas.openxmlformats.org/drawingml/2006/main">
            <a:off x="1104900" y="2324100"/>
            <a:ext cx="7515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353215C1-DCAA-431C-958B-5F05904DB51E}"/>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E94802E6-B04F-4F02-A0F0-D6C10C2BDA06}"/>
              </a:ext>
            </a:extLst>
          </p:cNvPr>
          <p:cNvSpPr>
            <a:spLocks xmlns:a="http://schemas.openxmlformats.org/drawingml/2006/main" noGrp="1"/>
          </p:cNvSpPr>
          <p:nvPr/>
        </p:nvSpPr>
        <p:spPr>
          <a:xfrm xmlns:a="http://schemas.openxmlformats.org/drawingml/2006/main">
            <a:off x="1104900" y="320040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67EC82BF-F48A-481D-9AEC-EC6A6E32710F}"/>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7856AA38-9D1C-4E29-B282-AC8A9EE888D7}"/>
              </a:ext>
            </a:extLst>
          </p:cNvPr>
          <p:cNvSpPr>
            <a:spLocks xmlns:a="http://schemas.openxmlformats.org/drawingml/2006/main" noGrp="1"/>
          </p:cNvSpPr>
          <p:nvPr/>
        </p:nvSpPr>
        <p:spPr>
          <a:xfrm xmlns:a="http://schemas.openxmlformats.org/drawingml/2006/main">
            <a:off x="1104900" y="371475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EEF9EFCF-AF04-4C9D-BD82-370390523F8C}"/>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BCF48A24-F4B9-4F96-A043-2512E7C6CA19}"/>
              </a:ext>
            </a:extLst>
          </p:cNvPr>
          <p:cNvSpPr>
            <a:spLocks xmlns:a="http://schemas.openxmlformats.org/drawingml/2006/main" noGrp="1"/>
          </p:cNvSpPr>
          <p:nvPr/>
        </p:nvSpPr>
        <p:spPr>
          <a:xfrm xmlns:a="http://schemas.openxmlformats.org/drawingml/2006/main">
            <a:off x="1104900" y="4248150"/>
            <a:ext cx="75152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7B31BEED-CA36-47DD-B4B8-4293E86A9379}"/>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5B504B1C-8E94-4132-B5C6-EE7244F0F98B}"/>
              </a:ext>
            </a:extLst>
          </p:cNvPr>
          <p:cNvSpPr>
            <a:spLocks xmlns:a="http://schemas.openxmlformats.org/drawingml/2006/main" noGrp="1"/>
          </p:cNvSpPr>
          <p:nvPr/>
        </p:nvSpPr>
        <p:spPr>
          <a:xfrm xmlns:a="http://schemas.openxmlformats.org/drawingml/2006/main">
            <a:off x="1104900" y="6057900"/>
            <a:ext cx="75152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3A03F38C-D1AD-4374-A176-95671FCB786A}"/>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0614889C-9C6B-4444-AF89-0CC4B6D1E3E6}"/>
              </a:ext>
            </a:extLst>
          </p:cNvPr>
          <p:cNvSpPr>
            <a:spLocks xmlns:a="http://schemas.openxmlformats.org/drawingml/2006/main" noGrp="1"/>
          </p:cNvSpPr>
          <p:nvPr/>
        </p:nvSpPr>
        <p:spPr>
          <a:xfrm xmlns:a="http://schemas.openxmlformats.org/drawingml/2006/main">
            <a:off x="1104900" y="6819900"/>
            <a:ext cx="7515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17.</a:t>
            </a:r>
          </a:p>
        </p:txBody>
      </p:sp>
      <p:sp>
        <p:nvSpPr>
          <p:cNvPr id="19" name="route-number-7">
            <a:extLst xmlns:a="http://schemas.openxmlformats.org/drawingml/2006/main">
              <a:ext uri="{FF2B5EF4-FFF2-40B4-BE49-F238E27FC236}">
                <a16:creationId xmlns:a16="http://schemas.microsoft.com/office/drawing/2014/main" id="{513155EC-2B76-4E33-A2E9-7F959754D1A1}"/>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5D6386AD-DC67-4C84-A214-737A094566EE}"/>
              </a:ext>
            </a:extLst>
          </p:cNvPr>
          <p:cNvSpPr>
            <a:spLocks xmlns:a="http://schemas.openxmlformats.org/drawingml/2006/main" noGrp="1"/>
          </p:cNvSpPr>
          <p:nvPr/>
        </p:nvSpPr>
        <p:spPr>
          <a:xfrm xmlns:a="http://schemas.openxmlformats.org/drawingml/2006/main">
            <a:off x="1104900" y="7372350"/>
            <a:ext cx="7515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4A90F483-0AC1-4390-87E2-7A7F3E4788A2}"/>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B7D4DB26-6B94-4BD6-BA59-226A7EBD067F}"/>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MK afleiden en uitleggen.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Punt en tabelstap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Kostenveranderingen verklaren.</a:t>
            </a:r>
          </a:p>
        </p:txBody>
      </p:sp>
      <p:sp>
        <p:nvSpPr>
          <p:cNvPr id="23" name="">
            <a:extLst xmlns:a="http://schemas.openxmlformats.org/drawingml/2006/main">
              <a:ext uri="{FF2B5EF4-FFF2-40B4-BE49-F238E27FC236}">
                <a16:creationId xmlns:a16="http://schemas.microsoft.com/office/drawing/2014/main" id="{397AA4BF-DCBB-433A-9C45-412259647D86}"/>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F9FBCF0E-6048-4408-9D4F-F0E06EAFDDB6}"/>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291F4079-3B53-4790-ABB4-E3E30680A28A}"/>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Pagina 65 · Opgaven 11 en 12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12: verkennen, theorie p. 62–64</a:t>
            </a:r>
          </a:p>
        </p:txBody>
      </p:sp>
      <p:sp>
        <p:nvSpPr>
          <p:cNvPr id="26" name="">
            <a:extLst xmlns:a="http://schemas.openxmlformats.org/drawingml/2006/main">
              <a:ext uri="{FF2B5EF4-FFF2-40B4-BE49-F238E27FC236}">
                <a16:creationId xmlns:a16="http://schemas.microsoft.com/office/drawing/2014/main" id="{BAEC9623-7B48-416A-99E8-890DA0DDA36A}"/>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4589CFF1-01A6-4C00-99A9-5CC12DBAE505}"/>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5A35C5A8-6E3D-46D7-A7DC-043261EFCDDE}"/>
              </a:ext>
            </a:extLst>
          </p:cNvPr>
          <p:cNvSpPr>
            <a:spLocks xmlns:a="http://schemas.openxmlformats.org/drawingml/2006/main" noGrp="1"/>
          </p:cNvSpPr>
          <p:nvPr/>
        </p:nvSpPr>
        <p:spPr>
          <a:xfrm xmlns:a="http://schemas.openxmlformats.org/drawingml/2006/main">
            <a:off x="9258300" y="6229350"/>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13 en 14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15 en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198514523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Wat kun je na deze les?">
            <a:extLst xmlns:a="http://schemas.openxmlformats.org/drawingml/2006/main">
              <a:ext uri="{FF2B5EF4-FFF2-40B4-BE49-F238E27FC236}">
                <a16:creationId xmlns:a16="http://schemas.microsoft.com/office/drawing/2014/main" id="{AB8F199E-1D21-4465-9ED0-817AAB4DCBBC}"/>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Wat kun je na deze les?</a:t>
            </a:r>
          </a:p>
        </p:txBody>
      </p:sp>
      <p:sp>
        <p:nvSpPr>
          <p:cNvPr id="2" name="">
            <a:extLst xmlns:a="http://schemas.openxmlformats.org/drawingml/2006/main">
              <a:ext uri="{FF2B5EF4-FFF2-40B4-BE49-F238E27FC236}">
                <a16:creationId xmlns:a16="http://schemas.microsoft.com/office/drawing/2014/main" id="{B6650779-4DB9-45EB-81A3-54827A8CADE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0B76D6AD-3A04-4D2A-8C2C-7D7D1EC0811C}"/>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2">
            <a:extLst xmlns:a="http://schemas.openxmlformats.org/drawingml/2006/main">
              <a:ext uri="{FF2B5EF4-FFF2-40B4-BE49-F238E27FC236}">
                <a16:creationId xmlns:a16="http://schemas.microsoft.com/office/drawing/2014/main" id="{9ACB56B6-5085-4E77-8AA3-8C81BC926D2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a:t>
            </a:r>
          </a:p>
        </p:txBody>
      </p:sp>
      <p:sp>
        <p:nvSpPr>
          <p:cNvPr id="5" name="Een functie afleiden">
            <a:extLst xmlns:a="http://schemas.openxmlformats.org/drawingml/2006/main">
              <a:ext uri="{FF2B5EF4-FFF2-40B4-BE49-F238E27FC236}">
                <a16:creationId xmlns:a16="http://schemas.microsoft.com/office/drawing/2014/main" id="{2B99B42D-9970-402E-9242-0424BF756253}"/>
              </a:ext>
            </a:extLst>
          </p:cNvPr>
          <p:cNvSpPr>
            <a:spLocks xmlns:a="http://schemas.openxmlformats.org/drawingml/2006/main" noGrp="1"/>
          </p:cNvSpPr>
          <p:nvPr/>
        </p:nvSpPr>
        <p:spPr>
          <a:xfrm xmlns:a="http://schemas.openxmlformats.org/drawingml/2006/main">
            <a:off x="571500" y="219075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Een functie afleiden</a:t>
            </a:r>
          </a:p>
        </p:txBody>
      </p:sp>
      <p:sp>
        <p:nvSpPr>
          <p:cNvPr id="6" name="Van TK met q², q en een getal naar MK.">
            <a:extLst xmlns:a="http://schemas.openxmlformats.org/drawingml/2006/main">
              <a:ext uri="{FF2B5EF4-FFF2-40B4-BE49-F238E27FC236}">
                <a16:creationId xmlns:a16="http://schemas.microsoft.com/office/drawing/2014/main" id="{D375A7CC-B8BA-4977-8176-EEB3D54C8554}"/>
              </a:ext>
            </a:extLst>
          </p:cNvPr>
          <p:cNvSpPr>
            <a:spLocks xmlns:a="http://schemas.openxmlformats.org/drawingml/2006/main" noGrp="1"/>
          </p:cNvSpPr>
          <p:nvPr/>
        </p:nvSpPr>
        <p:spPr>
          <a:xfrm xmlns:a="http://schemas.openxmlformats.org/drawingml/2006/main">
            <a:off x="6858000" y="2190750"/>
            <a:ext cx="7715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Van TK met q², q en een getal naar MK.</a:t>
            </a:r>
          </a:p>
        </p:txBody>
      </p:sp>
      <p:sp>
        <p:nvSpPr>
          <p:cNvPr id="7" name="">
            <a:extLst xmlns:a="http://schemas.openxmlformats.org/drawingml/2006/main">
              <a:ext uri="{FF2B5EF4-FFF2-40B4-BE49-F238E27FC236}">
                <a16:creationId xmlns:a16="http://schemas.microsoft.com/office/drawing/2014/main" id="{2A888658-F0CC-4A4E-B722-FEEA47B09CAE}"/>
              </a:ext>
            </a:extLst>
          </p:cNvPr>
          <p:cNvSpPr>
            <a:spLocks xmlns:a="http://schemas.openxmlformats.org/drawingml/2006/main" noGrp="1"/>
          </p:cNvSpPr>
          <p:nvPr/>
        </p:nvSpPr>
        <p:spPr>
          <a:xfrm xmlns:a="http://schemas.openxmlformats.org/drawingml/2006/main">
            <a:off x="571500" y="3486150"/>
            <a:ext cx="14097000" cy="0"/>
          </a:xfrm>
          <a:prstGeom xmlns:a="http://schemas.openxmlformats.org/drawingml/2006/main" prst="line">
            <a:avLst/>
          </a:prstGeom>
          <a:ln xmlns:a="http://schemas.openxmlformats.org/drawingml/2006/main" w="19050">
            <a:solidFill>
              <a:srgbClr val="C6D2DB"/>
            </a:solidFill>
          </a:ln>
        </p:spPr>
      </p:sp>
      <p:sp>
        <p:nvSpPr>
          <p:cNvPr id="8" name="Een bedrag uitleggen">
            <a:extLst xmlns:a="http://schemas.openxmlformats.org/drawingml/2006/main">
              <a:ext uri="{FF2B5EF4-FFF2-40B4-BE49-F238E27FC236}">
                <a16:creationId xmlns:a16="http://schemas.microsoft.com/office/drawing/2014/main" id="{0045CFD7-1038-4E9C-AF6B-4E39D71E281D}"/>
              </a:ext>
            </a:extLst>
          </p:cNvPr>
          <p:cNvSpPr>
            <a:spLocks xmlns:a="http://schemas.openxmlformats.org/drawingml/2006/main" noGrp="1"/>
          </p:cNvSpPr>
          <p:nvPr/>
        </p:nvSpPr>
        <p:spPr>
          <a:xfrm xmlns:a="http://schemas.openxmlformats.org/drawingml/2006/main">
            <a:off x="571500" y="397192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Een bedrag uitleggen</a:t>
            </a:r>
          </a:p>
        </p:txBody>
      </p:sp>
      <p:sp>
        <p:nvSpPr>
          <p:cNvPr id="9" name="MK op één punt vergelijken met een tabelstap.">
            <a:extLst xmlns:a="http://schemas.openxmlformats.org/drawingml/2006/main">
              <a:ext uri="{FF2B5EF4-FFF2-40B4-BE49-F238E27FC236}">
                <a16:creationId xmlns:a16="http://schemas.microsoft.com/office/drawing/2014/main" id="{2F7DF811-219B-4A3D-AA9F-4FBF69A622C9}"/>
              </a:ext>
            </a:extLst>
          </p:cNvPr>
          <p:cNvSpPr>
            <a:spLocks xmlns:a="http://schemas.openxmlformats.org/drawingml/2006/main" noGrp="1"/>
          </p:cNvSpPr>
          <p:nvPr/>
        </p:nvSpPr>
        <p:spPr>
          <a:xfrm xmlns:a="http://schemas.openxmlformats.org/drawingml/2006/main">
            <a:off x="6858000" y="3971925"/>
            <a:ext cx="7715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MK op één punt vergelijken met een tabelstap.</a:t>
            </a:r>
          </a:p>
        </p:txBody>
      </p:sp>
      <p:sp>
        <p:nvSpPr>
          <p:cNvPr id="10" name="">
            <a:extLst xmlns:a="http://schemas.openxmlformats.org/drawingml/2006/main">
              <a:ext uri="{FF2B5EF4-FFF2-40B4-BE49-F238E27FC236}">
                <a16:creationId xmlns:a16="http://schemas.microsoft.com/office/drawing/2014/main" id="{5376E93E-1AA9-45FD-8670-6492DDF7C196}"/>
              </a:ext>
            </a:extLst>
          </p:cNvPr>
          <p:cNvSpPr>
            <a:spLocks xmlns:a="http://schemas.openxmlformats.org/drawingml/2006/main" noGrp="1"/>
          </p:cNvSpPr>
          <p:nvPr/>
        </p:nvSpPr>
        <p:spPr>
          <a:xfrm xmlns:a="http://schemas.openxmlformats.org/drawingml/2006/main">
            <a:off x="571500" y="5267325"/>
            <a:ext cx="14097000" cy="0"/>
          </a:xfrm>
          <a:prstGeom xmlns:a="http://schemas.openxmlformats.org/drawingml/2006/main" prst="line">
            <a:avLst/>
          </a:prstGeom>
          <a:ln xmlns:a="http://schemas.openxmlformats.org/drawingml/2006/main" w="19050">
            <a:solidFill>
              <a:srgbClr val="C6D2DB"/>
            </a:solidFill>
          </a:ln>
        </p:spPr>
      </p:sp>
      <p:sp>
        <p:nvSpPr>
          <p:cNvPr id="11" name="Een kostenverandering verklaren">
            <a:extLst xmlns:a="http://schemas.openxmlformats.org/drawingml/2006/main">
              <a:ext uri="{FF2B5EF4-FFF2-40B4-BE49-F238E27FC236}">
                <a16:creationId xmlns:a16="http://schemas.microsoft.com/office/drawing/2014/main" id="{84D3A295-CA67-44BE-8285-34B4A3A9348F}"/>
              </a:ext>
            </a:extLst>
          </p:cNvPr>
          <p:cNvSpPr>
            <a:spLocks xmlns:a="http://schemas.openxmlformats.org/drawingml/2006/main" noGrp="1"/>
          </p:cNvSpPr>
          <p:nvPr/>
        </p:nvSpPr>
        <p:spPr>
          <a:xfrm xmlns:a="http://schemas.openxmlformats.org/drawingml/2006/main">
            <a:off x="571500" y="575310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7658A"/>
                </a:solidFill>
                <a:latin typeface="Arial"/>
                <a:ea typeface="Arial"/>
                <a:cs typeface="Arial"/>
              </a:defRPr>
            </a:pPr>
            <a:r>
              <a:rPr sz="2925" b="1">
                <a:solidFill>
                  <a:srgbClr val="17658A"/>
                </a:solidFill>
                <a:latin typeface="Arial"/>
                <a:ea typeface="Arial"/>
                <a:cs typeface="Arial"/>
              </a:rPr>
              <a:t>Een kostenverandering verklaren</a:t>
            </a:r>
          </a:p>
        </p:txBody>
      </p:sp>
      <p:sp>
        <p:nvSpPr>
          <p:cNvPr id="12" name="Wat verandert in TK? Wat verandert in MK?">
            <a:extLst xmlns:a="http://schemas.openxmlformats.org/drawingml/2006/main">
              <a:ext uri="{FF2B5EF4-FFF2-40B4-BE49-F238E27FC236}">
                <a16:creationId xmlns:a16="http://schemas.microsoft.com/office/drawing/2014/main" id="{D272EC51-83C9-49FD-8EE2-5C41B7D42EE3}"/>
              </a:ext>
            </a:extLst>
          </p:cNvPr>
          <p:cNvSpPr>
            <a:spLocks xmlns:a="http://schemas.openxmlformats.org/drawingml/2006/main" noGrp="1"/>
          </p:cNvSpPr>
          <p:nvPr/>
        </p:nvSpPr>
        <p:spPr>
          <a:xfrm xmlns:a="http://schemas.openxmlformats.org/drawingml/2006/main">
            <a:off x="6858000" y="5753100"/>
            <a:ext cx="7715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0">
                <a:solidFill>
                  <a:srgbClr val="183247"/>
                </a:solidFill>
                <a:latin typeface="Arial"/>
                <a:ea typeface="Arial"/>
                <a:cs typeface="Arial"/>
              </a:defRPr>
            </a:pPr>
            <a:r>
              <a:rPr sz="2775" b="0">
                <a:solidFill>
                  <a:srgbClr val="183247"/>
                </a:solidFill>
                <a:latin typeface="Arial"/>
                <a:ea typeface="Arial"/>
                <a:cs typeface="Arial"/>
              </a:rPr>
              <a:t>Wat verandert in TK? Wat verandert in MK?</a:t>
            </a:r>
          </a:p>
        </p:txBody>
      </p:sp>
    </p:spTree>
    <p:extLst>
      <p:ext uri="{BB962C8B-B14F-4D97-AF65-F5344CB8AC3E}">
        <p14:creationId xmlns:p14="http://schemas.microsoft.com/office/powerpoint/2010/main" val="13083028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Een kostenfunctie voor Nova">
            <a:extLst xmlns:a="http://schemas.openxmlformats.org/drawingml/2006/main">
              <a:ext uri="{FF2B5EF4-FFF2-40B4-BE49-F238E27FC236}">
                <a16:creationId xmlns:a16="http://schemas.microsoft.com/office/drawing/2014/main" id="{C96385E9-FD5F-4FE7-AA5E-DCF759A79603}"/>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kostenfunctie voor Nova</a:t>
            </a:r>
          </a:p>
        </p:txBody>
      </p:sp>
      <p:sp>
        <p:nvSpPr>
          <p:cNvPr id="2" name="">
            <a:extLst xmlns:a="http://schemas.openxmlformats.org/drawingml/2006/main">
              <a:ext uri="{FF2B5EF4-FFF2-40B4-BE49-F238E27FC236}">
                <a16:creationId xmlns:a16="http://schemas.microsoft.com/office/drawing/2014/main" id="{76942AA7-A442-4A3C-A96B-B81F23C11B20}"/>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0ABD0BF0-7EC1-436E-B26A-2AFDE9708C0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3">
            <a:extLst xmlns:a="http://schemas.openxmlformats.org/drawingml/2006/main">
              <a:ext uri="{FF2B5EF4-FFF2-40B4-BE49-F238E27FC236}">
                <a16:creationId xmlns:a16="http://schemas.microsoft.com/office/drawing/2014/main" id="{AC99D47E-929C-4F00-A2BF-27BB61583BE6}"/>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3</a:t>
            </a:r>
          </a:p>
        </p:txBody>
      </p:sp>
      <p:sp>
        <p:nvSpPr>
          <p:cNvPr id="5" name="Uitlegvoorbeeld — niet uit het boek">
            <a:extLst xmlns:a="http://schemas.openxmlformats.org/drawingml/2006/main">
              <a:ext uri="{FF2B5EF4-FFF2-40B4-BE49-F238E27FC236}">
                <a16:creationId xmlns:a16="http://schemas.microsoft.com/office/drawing/2014/main" id="{094CFEFD-9A7A-44CE-9505-F7851AA8E57C}"/>
              </a:ext>
            </a:extLst>
          </p:cNvPr>
          <p:cNvSpPr>
            <a:spLocks xmlns:a="http://schemas.openxmlformats.org/drawingml/2006/main" noGrp="1"/>
          </p:cNvSpPr>
          <p:nvPr/>
        </p:nvSpPr>
        <p:spPr>
          <a:xfrm xmlns:a="http://schemas.openxmlformats.org/drawingml/2006/main">
            <a:off x="571500" y="17240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TK = 0,15q² + 5q + 75">
            <a:extLst xmlns:a="http://schemas.openxmlformats.org/drawingml/2006/main">
              <a:ext uri="{FF2B5EF4-FFF2-40B4-BE49-F238E27FC236}">
                <a16:creationId xmlns:a16="http://schemas.microsoft.com/office/drawing/2014/main" id="{26B10007-196F-45EF-A522-C4A84AE34A31}"/>
              </a:ext>
            </a:extLst>
          </p:cNvPr>
          <p:cNvSpPr>
            <a:spLocks xmlns:a="http://schemas.openxmlformats.org/drawingml/2006/main" noGrp="1"/>
          </p:cNvSpPr>
          <p:nvPr/>
        </p:nvSpPr>
        <p:spPr>
          <a:xfrm xmlns:a="http://schemas.openxmlformats.org/drawingml/2006/main">
            <a:off x="571500" y="28575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7658A"/>
                </a:solidFill>
                <a:latin typeface="Arial"/>
                <a:ea typeface="Arial"/>
                <a:cs typeface="Arial"/>
              </a:defRPr>
            </a:pPr>
            <a:r>
              <a:rPr sz="4500" b="1">
                <a:solidFill>
                  <a:srgbClr val="17658A"/>
                </a:solidFill>
                <a:latin typeface="Arial"/>
                <a:ea typeface="Arial"/>
                <a:cs typeface="Arial"/>
              </a:rPr>
              <a:t>TK = 0,15q² + 5q + 75</a:t>
            </a:r>
          </a:p>
        </p:txBody>
      </p:sp>
      <p:graphicFrame>
        <p:nvGraphicFramePr>
          <p:cNvPr id="15" name=""/>
          <p:cNvGraphicFramePr/>
          <p:nvPr/>
        </p:nvGraphicFramePr>
        <p:xfrm>
          <a:off xmlns:a="http://schemas.openxmlformats.org/drawingml/2006/main" x="571500" y="4429125"/>
          <a:ext xmlns:a="http://schemas.openxmlformats.org/drawingml/2006/main" cx="14097000" cy="2819400"/>
        </p:xfrm>
        <a:graphic xmlns:a="http://schemas.openxmlformats.org/drawingml/2006/main">
          <a:graphicData uri="http://schemas.openxmlformats.org/drawingml/2006/table">
            <a:tbl>
              <a:tblPr/>
              <a:tblGrid>
                <a:gridCol w="6191250"/>
                <a:gridCol w="7905750"/>
              </a:tblGrid>
              <a:tr h="704850">
                <a:tc>
                  <a:txBody>
                    <a:bodyPr lIns="171450" tIns="95250" rIns="152400" bIns="95250"/>
                    <a:lstStyle/>
                    <a:p>
                      <a:r>
                        <a:rPr sz="2475" b="1">
                          <a:solidFill>
                            <a:srgbClr val="FFFFFF"/>
                          </a:solidFill>
                          <a:latin typeface="Arial"/>
                          <a:ea typeface="Arial"/>
                          <a:cs typeface="Arial"/>
                        </a:rPr>
                        <a:t>Grootheid of voorwaarde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Betekenis</a:t>
                      </a:r>
                    </a:p>
                  </a:txBody>
                  <a:tcPr marL="91440" marR="91440" marT="45720" marB="45720" anchor="ctr">
                    <a:solidFill>
                      <a:srgbClr val="183247"/>
                    </a:solidFill>
                  </a:tcPr>
                </a:tc>
              </a:tr>
              <a:tr h="704850">
                <a:tc>
                  <a:txBody>
                    <a:bodyPr lIns="171450" tIns="95250" rIns="152400" bIns="95250"/>
                    <a:lstStyle/>
                    <a:p>
                      <a:r>
                        <a:rPr sz="2475" b="0">
                          <a:solidFill>
                            <a:srgbClr val="183247"/>
                          </a:solidFill>
                          <a:latin typeface="Arial"/>
                          <a:ea typeface="Arial"/>
                          <a:cs typeface="Arial"/>
                        </a:rPr>
                        <a:t>q</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kg cacaomengsel per week</a:t>
                      </a:r>
                    </a:p>
                  </a:txBody>
                  <a:tcPr marL="91440" marR="91440" marT="45720" marB="45720" anchor="ctr">
                    <a:solidFill>
                      <a:srgbClr val="FFFFFF"/>
                    </a:solidFill>
                  </a:tcPr>
                </a:tc>
              </a:tr>
              <a:tr h="704850">
                <a:tc>
                  <a:txBody>
                    <a:bodyPr lIns="171450" tIns="95250" rIns="152400" bIns="95250"/>
                    <a:lstStyle/>
                    <a:p>
                      <a:r>
                        <a:rPr sz="2475" b="0">
                          <a:solidFill>
                            <a:srgbClr val="183247"/>
                          </a:solidFill>
                          <a:latin typeface="Arial"/>
                          <a:ea typeface="Arial"/>
                          <a:cs typeface="Arial"/>
                        </a:rPr>
                        <a:t>TK</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euro per week</a:t>
                      </a:r>
                    </a:p>
                  </a:txBody>
                  <a:tcPr marL="91440" marR="91440" marT="45720" marB="45720" anchor="ctr">
                    <a:solidFill>
                      <a:srgbClr val="EFF4F7"/>
                    </a:solidFill>
                  </a:tcPr>
                </a:tc>
              </a:tr>
              <a:tr h="704850">
                <a:tc>
                  <a:txBody>
                    <a:bodyPr lIns="171450" tIns="95250" rIns="152400" bIns="95250"/>
                    <a:lstStyle/>
                    <a:p>
                      <a:r>
                        <a:rPr sz="2475" b="0">
                          <a:solidFill>
                            <a:srgbClr val="183247"/>
                          </a:solidFill>
                          <a:latin typeface="Arial"/>
                          <a:ea typeface="Arial"/>
                          <a:cs typeface="Arial"/>
                        </a:rPr>
                        <a:t>Productiecapaciteit</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60 kg per week</a:t>
                      </a:r>
                    </a:p>
                  </a:txBody>
                  <a:tcPr marL="91440" marR="91440" marT="45720" marB="45720" anchor="ctr">
                    <a:solidFill>
                      <a:srgbClr val="FFFFFF"/>
                    </a:solidFill>
                  </a:tcPr>
                </a:tc>
              </a:tr>
            </a:tbl>
          </a:graphicData>
        </a:graphic>
      </p:graphicFrame>
      <p:sp>
        <p:nvSpPr>
          <p:cNvPr id="8" name="Ook delen van een kg zijn mogelijk. De € 75 blijft deze week">
            <a:extLst xmlns:a="http://schemas.openxmlformats.org/drawingml/2006/main">
              <a:ext uri="{FF2B5EF4-FFF2-40B4-BE49-F238E27FC236}">
                <a16:creationId xmlns:a16="http://schemas.microsoft.com/office/drawing/2014/main" id="{FFFCB945-FEF1-4574-8126-0BCC6DB3262E}"/>
              </a:ext>
            </a:extLst>
          </p:cNvPr>
          <p:cNvSpPr>
            <a:spLocks xmlns:a="http://schemas.openxmlformats.org/drawingml/2006/main" noGrp="1"/>
          </p:cNvSpPr>
          <p:nvPr/>
        </p:nvSpPr>
        <p:spPr>
          <a:xfrm xmlns:a="http://schemas.openxmlformats.org/drawingml/2006/main">
            <a:off x="571500" y="7448550"/>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3247"/>
                </a:solidFill>
                <a:latin typeface="Arial"/>
                <a:ea typeface="Arial"/>
                <a:cs typeface="Arial"/>
              </a:defRPr>
            </a:pPr>
            <a:r>
              <a:rPr sz="2400" b="1">
                <a:solidFill>
                  <a:srgbClr val="183247"/>
                </a:solidFill>
                <a:latin typeface="Arial"/>
                <a:ea typeface="Arial"/>
                <a:cs typeface="Arial"/>
              </a:rPr>
              <a:t>Ook delen van een kg zijn mogelijk. De € 75 blijft deze week gelijk.</a:t>
            </a:r>
          </a:p>
        </p:txBody>
      </p:sp>
    </p:spTree>
    <p:extLst>
      <p:ext uri="{BB962C8B-B14F-4D97-AF65-F5344CB8AC3E}">
        <p14:creationId xmlns:p14="http://schemas.microsoft.com/office/powerpoint/2010/main" val="3420350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De beperkte regel voor de afgeleide">
            <a:extLst xmlns:a="http://schemas.openxmlformats.org/drawingml/2006/main">
              <a:ext uri="{FF2B5EF4-FFF2-40B4-BE49-F238E27FC236}">
                <a16:creationId xmlns:a16="http://schemas.microsoft.com/office/drawing/2014/main" id="{CEE29058-E762-4CA9-BAD4-08E3E04B0111}"/>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beperkte regel voor de afgeleide</a:t>
            </a:r>
          </a:p>
        </p:txBody>
      </p:sp>
      <p:sp>
        <p:nvSpPr>
          <p:cNvPr id="2" name="">
            <a:extLst xmlns:a="http://schemas.openxmlformats.org/drawingml/2006/main">
              <a:ext uri="{FF2B5EF4-FFF2-40B4-BE49-F238E27FC236}">
                <a16:creationId xmlns:a16="http://schemas.microsoft.com/office/drawing/2014/main" id="{2AB0C739-7C3D-459F-AAA5-523B8F724687}"/>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694440E9-CDCC-4611-9C42-19F616C9464B}"/>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4">
            <a:extLst xmlns:a="http://schemas.openxmlformats.org/drawingml/2006/main">
              <a:ext uri="{FF2B5EF4-FFF2-40B4-BE49-F238E27FC236}">
                <a16:creationId xmlns:a16="http://schemas.microsoft.com/office/drawing/2014/main" id="{CD6BB323-456B-4CA7-8715-17DF35244BE3}"/>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4</a:t>
            </a:r>
          </a:p>
        </p:txBody>
      </p:sp>
      <p:sp>
        <p:nvSpPr>
          <p:cNvPr id="5" name="TK = aq² + bq + c">
            <a:extLst xmlns:a="http://schemas.openxmlformats.org/drawingml/2006/main">
              <a:ext uri="{FF2B5EF4-FFF2-40B4-BE49-F238E27FC236}">
                <a16:creationId xmlns:a16="http://schemas.microsoft.com/office/drawing/2014/main" id="{E71BFFC5-9171-45FE-983B-1B3AD09A52D0}"/>
              </a:ext>
            </a:extLst>
          </p:cNvPr>
          <p:cNvSpPr>
            <a:spLocks xmlns:a="http://schemas.openxmlformats.org/drawingml/2006/main" noGrp="1"/>
          </p:cNvSpPr>
          <p:nvPr/>
        </p:nvSpPr>
        <p:spPr>
          <a:xfrm xmlns:a="http://schemas.openxmlformats.org/drawingml/2006/main">
            <a:off x="571500" y="19526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TK = aq² + bq + c</a:t>
            </a:r>
          </a:p>
        </p:txBody>
      </p:sp>
      <p:graphicFrame>
        <p:nvGraphicFramePr>
          <p:cNvPr id="13" name=""/>
          <p:cNvGraphicFramePr/>
          <p:nvPr/>
        </p:nvGraphicFramePr>
        <p:xfrm>
          <a:off xmlns:a="http://schemas.openxmlformats.org/drawingml/2006/main" x="571500" y="3190875"/>
          <a:ext xmlns:a="http://schemas.openxmlformats.org/drawingml/2006/main" cx="14097000" cy="3209925"/>
        </p:xfrm>
        <a:graphic xmlns:a="http://schemas.openxmlformats.org/drawingml/2006/main">
          <a:graphicData uri="http://schemas.openxmlformats.org/drawingml/2006/table">
            <a:tbl>
              <a:tblPr/>
              <a:tblGrid>
                <a:gridCol w="3429000"/>
                <a:gridCol w="6667500"/>
                <a:gridCol w="4000500"/>
              </a:tblGrid>
              <a:tr h="802481">
                <a:tc>
                  <a:txBody>
                    <a:bodyPr lIns="171450" tIns="95250" rIns="152400" bIns="95250"/>
                    <a:lstStyle/>
                    <a:p>
                      <a:r>
                        <a:rPr sz="2550" b="1">
                          <a:solidFill>
                            <a:srgbClr val="FFFFFF"/>
                          </a:solidFill>
                          <a:latin typeface="Arial"/>
                          <a:ea typeface="Arial"/>
                          <a:cs typeface="Arial"/>
                        </a:rPr>
                        <a:t>Term in TK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Bewerking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Bijdrage aan MK</a:t>
                      </a:r>
                    </a:p>
                  </a:txBody>
                  <a:tcPr marL="91440" marR="91440" marT="45720" marB="45720" anchor="ctr">
                    <a:solidFill>
                      <a:srgbClr val="183247"/>
                    </a:solidFill>
                  </a:tcPr>
                </a:tc>
              </a:tr>
              <a:tr h="802481">
                <a:tc>
                  <a:txBody>
                    <a:bodyPr lIns="171450" tIns="95250" rIns="152400" bIns="95250"/>
                    <a:lstStyle/>
                    <a:p>
                      <a:r>
                        <a:rPr sz="2550" b="0">
                          <a:solidFill>
                            <a:srgbClr val="183247"/>
                          </a:solidFill>
                          <a:latin typeface="Arial"/>
                          <a:ea typeface="Arial"/>
                          <a:cs typeface="Arial"/>
                        </a:rPr>
                        <a:t>aq²</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 × a; q² wordt q</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2aq</a:t>
                      </a:r>
                    </a:p>
                  </a:txBody>
                  <a:tcPr marL="91440" marR="91440" marT="45720" marB="45720" anchor="ctr">
                    <a:solidFill>
                      <a:srgbClr val="FFFFFF"/>
                    </a:solidFill>
                  </a:tcPr>
                </a:tc>
              </a:tr>
              <a:tr h="802481">
                <a:tc>
                  <a:txBody>
                    <a:bodyPr lIns="171450" tIns="95250" rIns="152400" bIns="95250"/>
                    <a:lstStyle/>
                    <a:p>
                      <a:r>
                        <a:rPr sz="2550" b="0">
                          <a:solidFill>
                            <a:srgbClr val="183247"/>
                          </a:solidFill>
                          <a:latin typeface="Arial"/>
                          <a:ea typeface="Arial"/>
                          <a:cs typeface="Arial"/>
                        </a:rPr>
                        <a:t>bq</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De bijdrage per extra kg is b</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b</a:t>
                      </a:r>
                    </a:p>
                  </a:txBody>
                  <a:tcPr marL="91440" marR="91440" marT="45720" marB="45720" anchor="ctr">
                    <a:solidFill>
                      <a:srgbClr val="EFF4F7"/>
                    </a:solidFill>
                  </a:tcPr>
                </a:tc>
              </a:tr>
              <a:tr h="802481">
                <a:tc>
                  <a:txBody>
                    <a:bodyPr lIns="171450" tIns="95250" rIns="152400" bIns="95250"/>
                    <a:lstStyle/>
                    <a:p>
                      <a:r>
                        <a:rPr sz="2550" b="0">
                          <a:solidFill>
                            <a:srgbClr val="183247"/>
                          </a:solidFill>
                          <a:latin typeface="Arial"/>
                          <a:ea typeface="Arial"/>
                          <a:cs typeface="Arial"/>
                        </a:rPr>
                        <a:t>c</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Verandert niet als q verandert</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a:t>
                      </a:r>
                    </a:p>
                  </a:txBody>
                  <a:tcPr marL="91440" marR="91440" marT="45720" marB="45720" anchor="ctr">
                    <a:solidFill>
                      <a:srgbClr val="FFFFFF"/>
                    </a:solidFill>
                  </a:tcPr>
                </a:tc>
              </a:tr>
            </a:tbl>
          </a:graphicData>
        </a:graphic>
      </p:graphicFrame>
      <p:sp>
        <p:nvSpPr>
          <p:cNvPr id="7" name="MK = 2aq + b">
            <a:extLst xmlns:a="http://schemas.openxmlformats.org/drawingml/2006/main">
              <a:ext uri="{FF2B5EF4-FFF2-40B4-BE49-F238E27FC236}">
                <a16:creationId xmlns:a16="http://schemas.microsoft.com/office/drawing/2014/main" id="{C0458153-04FF-4119-B738-8E4A4994362C}"/>
              </a:ext>
            </a:extLst>
          </p:cNvPr>
          <p:cNvSpPr>
            <a:spLocks xmlns:a="http://schemas.openxmlformats.org/drawingml/2006/main" noGrp="1"/>
          </p:cNvSpPr>
          <p:nvPr/>
        </p:nvSpPr>
        <p:spPr>
          <a:xfrm xmlns:a="http://schemas.openxmlformats.org/drawingml/2006/main">
            <a:off x="571500" y="68961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A94D16"/>
                </a:solidFill>
                <a:latin typeface="Arial"/>
                <a:ea typeface="Arial"/>
                <a:cs typeface="Arial"/>
              </a:defRPr>
            </a:pPr>
            <a:r>
              <a:rPr sz="4050" b="1">
                <a:solidFill>
                  <a:srgbClr val="A94D16"/>
                </a:solidFill>
                <a:latin typeface="Arial"/>
                <a:ea typeface="Arial"/>
                <a:cs typeface="Arial"/>
              </a:rPr>
              <a:t>MK = 2aq + b</a:t>
            </a:r>
          </a:p>
        </p:txBody>
      </p:sp>
    </p:spTree>
    <p:extLst>
      <p:ext uri="{BB962C8B-B14F-4D97-AF65-F5344CB8AC3E}">
        <p14:creationId xmlns:p14="http://schemas.microsoft.com/office/powerpoint/2010/main" val="80688870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ova: term voor term afleiden">
            <a:extLst xmlns:a="http://schemas.openxmlformats.org/drawingml/2006/main">
              <a:ext uri="{FF2B5EF4-FFF2-40B4-BE49-F238E27FC236}">
                <a16:creationId xmlns:a16="http://schemas.microsoft.com/office/drawing/2014/main" id="{B9A44670-57B9-4518-8ED4-8ED0186832B8}"/>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Nova: term voor term afleiden</a:t>
            </a:r>
          </a:p>
        </p:txBody>
      </p:sp>
      <p:sp>
        <p:nvSpPr>
          <p:cNvPr id="2" name="">
            <a:extLst xmlns:a="http://schemas.openxmlformats.org/drawingml/2006/main">
              <a:ext uri="{FF2B5EF4-FFF2-40B4-BE49-F238E27FC236}">
                <a16:creationId xmlns:a16="http://schemas.microsoft.com/office/drawing/2014/main" id="{4901B29E-AEBF-4273-ADC8-2150D990D38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C287504C-F5BF-4E16-8AA1-ED46828AB3D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5">
            <a:extLst xmlns:a="http://schemas.openxmlformats.org/drawingml/2006/main">
              <a:ext uri="{FF2B5EF4-FFF2-40B4-BE49-F238E27FC236}">
                <a16:creationId xmlns:a16="http://schemas.microsoft.com/office/drawing/2014/main" id="{0D9850AF-1E6D-4C84-9BC6-C16B5F8DC01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5</a:t>
            </a:r>
          </a:p>
        </p:txBody>
      </p:sp>
      <p:sp>
        <p:nvSpPr>
          <p:cNvPr id="5" name="Uitlegvoorbeeld — niet uit het boek">
            <a:extLst xmlns:a="http://schemas.openxmlformats.org/drawingml/2006/main">
              <a:ext uri="{FF2B5EF4-FFF2-40B4-BE49-F238E27FC236}">
                <a16:creationId xmlns:a16="http://schemas.microsoft.com/office/drawing/2014/main" id="{A3752980-187B-4A27-ACAD-287AB30043E4}"/>
              </a:ext>
            </a:extLst>
          </p:cNvPr>
          <p:cNvSpPr>
            <a:spLocks xmlns:a="http://schemas.openxmlformats.org/drawingml/2006/main" noGrp="1"/>
          </p:cNvSpPr>
          <p:nvPr/>
        </p:nvSpPr>
        <p:spPr>
          <a:xfrm xmlns:a="http://schemas.openxmlformats.org/drawingml/2006/main">
            <a:off x="571500" y="17240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TK = 0,15q² + 5q + 75">
            <a:extLst xmlns:a="http://schemas.openxmlformats.org/drawingml/2006/main">
              <a:ext uri="{FF2B5EF4-FFF2-40B4-BE49-F238E27FC236}">
                <a16:creationId xmlns:a16="http://schemas.microsoft.com/office/drawing/2014/main" id="{C8B03A0D-FF17-43FD-8601-CCF183B42535}"/>
              </a:ext>
            </a:extLst>
          </p:cNvPr>
          <p:cNvSpPr>
            <a:spLocks xmlns:a="http://schemas.openxmlformats.org/drawingml/2006/main" noGrp="1"/>
          </p:cNvSpPr>
          <p:nvPr/>
        </p:nvSpPr>
        <p:spPr>
          <a:xfrm xmlns:a="http://schemas.openxmlformats.org/drawingml/2006/main">
            <a:off x="571500" y="24288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183247"/>
                </a:solidFill>
                <a:latin typeface="Arial"/>
                <a:ea typeface="Arial"/>
                <a:cs typeface="Arial"/>
              </a:defRPr>
            </a:pPr>
            <a:r>
              <a:rPr sz="3600" b="1">
                <a:solidFill>
                  <a:srgbClr val="183247"/>
                </a:solidFill>
                <a:latin typeface="Arial"/>
                <a:ea typeface="Arial"/>
                <a:cs typeface="Arial"/>
              </a:rPr>
              <a:t>TK = 0,15q² + 5q + 75</a:t>
            </a:r>
          </a:p>
        </p:txBody>
      </p:sp>
      <p:graphicFrame>
        <p:nvGraphicFramePr>
          <p:cNvPr id="15" name=""/>
          <p:cNvGraphicFramePr/>
          <p:nvPr/>
        </p:nvGraphicFramePr>
        <p:xfrm>
          <a:off xmlns:a="http://schemas.openxmlformats.org/drawingml/2006/main" x="571500" y="3524250"/>
          <a:ext xmlns:a="http://schemas.openxmlformats.org/drawingml/2006/main" cx="14097000" cy="3000375"/>
        </p:xfrm>
        <a:graphic xmlns:a="http://schemas.openxmlformats.org/drawingml/2006/main">
          <a:graphicData uri="http://schemas.openxmlformats.org/drawingml/2006/table">
            <a:tbl>
              <a:tblPr/>
              <a:tblGrid>
                <a:gridCol w="3429000"/>
                <a:gridCol w="6667500"/>
                <a:gridCol w="4000500"/>
              </a:tblGrid>
              <a:tr h="750094">
                <a:tc>
                  <a:txBody>
                    <a:bodyPr lIns="171450" tIns="95250" rIns="152400" bIns="95250"/>
                    <a:lstStyle/>
                    <a:p>
                      <a:r>
                        <a:rPr sz="2550" b="1">
                          <a:solidFill>
                            <a:srgbClr val="FFFFFF"/>
                          </a:solidFill>
                          <a:latin typeface="Arial"/>
                          <a:ea typeface="Arial"/>
                          <a:cs typeface="Arial"/>
                        </a:rPr>
                        <a:t>Term in TK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Bewerking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Bijdrage aan MK</a:t>
                      </a:r>
                    </a:p>
                  </a:txBody>
                  <a:tcPr marL="91440" marR="91440" marT="45720" marB="45720" anchor="ctr">
                    <a:solidFill>
                      <a:srgbClr val="183247"/>
                    </a:solidFill>
                  </a:tcPr>
                </a:tc>
              </a:tr>
              <a:tr h="750094">
                <a:tc>
                  <a:txBody>
                    <a:bodyPr lIns="171450" tIns="95250" rIns="152400" bIns="95250"/>
                    <a:lstStyle/>
                    <a:p>
                      <a:r>
                        <a:rPr sz="2550" b="0">
                          <a:solidFill>
                            <a:srgbClr val="183247"/>
                          </a:solidFill>
                          <a:latin typeface="Arial"/>
                          <a:ea typeface="Arial"/>
                          <a:cs typeface="Arial"/>
                        </a:rPr>
                        <a:t>0,15q²</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2 × 0,15 × q</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0,30q</a:t>
                      </a:r>
                    </a:p>
                  </a:txBody>
                  <a:tcPr marL="91440" marR="91440" marT="45720" marB="45720" anchor="ctr">
                    <a:solidFill>
                      <a:srgbClr val="FFFFFF"/>
                    </a:solidFill>
                  </a:tcPr>
                </a:tc>
              </a:tr>
              <a:tr h="750094">
                <a:tc>
                  <a:txBody>
                    <a:bodyPr lIns="171450" tIns="95250" rIns="152400" bIns="95250"/>
                    <a:lstStyle/>
                    <a:p>
                      <a:r>
                        <a:rPr sz="2550" b="0">
                          <a:solidFill>
                            <a:srgbClr val="183247"/>
                          </a:solidFill>
                          <a:latin typeface="Arial"/>
                          <a:ea typeface="Arial"/>
                          <a:cs typeface="Arial"/>
                        </a:rPr>
                        <a:t>5q</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5 per extra kg</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5</a:t>
                      </a:r>
                    </a:p>
                  </a:txBody>
                  <a:tcPr marL="91440" marR="91440" marT="45720" marB="45720" anchor="ctr">
                    <a:solidFill>
                      <a:srgbClr val="EFF4F7"/>
                    </a:solidFill>
                  </a:tcPr>
                </a:tc>
              </a:tr>
              <a:tr h="750094">
                <a:tc>
                  <a:txBody>
                    <a:bodyPr lIns="171450" tIns="95250" rIns="152400" bIns="95250"/>
                    <a:lstStyle/>
                    <a:p>
                      <a:r>
                        <a:rPr sz="2550" b="0">
                          <a:solidFill>
                            <a:srgbClr val="183247"/>
                          </a:solidFill>
                          <a:latin typeface="Arial"/>
                          <a:ea typeface="Arial"/>
                          <a:cs typeface="Arial"/>
                        </a:rPr>
                        <a:t>75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Geen verandering door meer q</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a:t>
                      </a:r>
                    </a:p>
                  </a:txBody>
                  <a:tcPr marL="91440" marR="91440" marT="45720" marB="45720" anchor="ctr">
                    <a:solidFill>
                      <a:srgbClr val="FFFFFF"/>
                    </a:solidFill>
                  </a:tcPr>
                </a:tc>
              </a:tr>
            </a:tbl>
          </a:graphicData>
        </a:graphic>
      </p:graphicFrame>
      <p:sp>
        <p:nvSpPr>
          <p:cNvPr id="8" name="MK = 0,30q + 5">
            <a:extLst xmlns:a="http://schemas.openxmlformats.org/drawingml/2006/main">
              <a:ext uri="{FF2B5EF4-FFF2-40B4-BE49-F238E27FC236}">
                <a16:creationId xmlns:a16="http://schemas.microsoft.com/office/drawing/2014/main" id="{97001609-5A1A-464A-82F3-853CC355D234}"/>
              </a:ext>
            </a:extLst>
          </p:cNvPr>
          <p:cNvSpPr>
            <a:spLocks xmlns:a="http://schemas.openxmlformats.org/drawingml/2006/main" noGrp="1"/>
          </p:cNvSpPr>
          <p:nvPr/>
        </p:nvSpPr>
        <p:spPr>
          <a:xfrm xmlns:a="http://schemas.openxmlformats.org/drawingml/2006/main">
            <a:off x="571500" y="70294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1">
                <a:solidFill>
                  <a:srgbClr val="A94D16"/>
                </a:solidFill>
                <a:latin typeface="Arial"/>
                <a:ea typeface="Arial"/>
                <a:cs typeface="Arial"/>
              </a:defRPr>
            </a:pPr>
            <a:r>
              <a:rPr sz="4050" b="1">
                <a:solidFill>
                  <a:srgbClr val="A94D16"/>
                </a:solidFill>
                <a:latin typeface="Arial"/>
                <a:ea typeface="Arial"/>
                <a:cs typeface="Arial"/>
              </a:rPr>
              <a:t>MK = 0,30q + 5</a:t>
            </a:r>
          </a:p>
        </p:txBody>
      </p:sp>
    </p:spTree>
    <p:extLst>
      <p:ext uri="{BB962C8B-B14F-4D97-AF65-F5344CB8AC3E}">
        <p14:creationId xmlns:p14="http://schemas.microsoft.com/office/powerpoint/2010/main" val="5073990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De puntwaarde bij q = 10">
            <a:extLst xmlns:a="http://schemas.openxmlformats.org/drawingml/2006/main">
              <a:ext uri="{FF2B5EF4-FFF2-40B4-BE49-F238E27FC236}">
                <a16:creationId xmlns:a16="http://schemas.microsoft.com/office/drawing/2014/main" id="{490E71A6-AF5B-46EA-A981-B4995E4C99D5}"/>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puntwaarde bij q = 10</a:t>
            </a:r>
          </a:p>
        </p:txBody>
      </p:sp>
      <p:sp>
        <p:nvSpPr>
          <p:cNvPr id="2" name="">
            <a:extLst xmlns:a="http://schemas.openxmlformats.org/drawingml/2006/main">
              <a:ext uri="{FF2B5EF4-FFF2-40B4-BE49-F238E27FC236}">
                <a16:creationId xmlns:a16="http://schemas.microsoft.com/office/drawing/2014/main" id="{16C48892-FCC0-482B-9738-54971FFCD54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3D129465-949C-4F2C-8AB2-CD4F363FDCC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6">
            <a:extLst xmlns:a="http://schemas.openxmlformats.org/drawingml/2006/main">
              <a:ext uri="{FF2B5EF4-FFF2-40B4-BE49-F238E27FC236}">
                <a16:creationId xmlns:a16="http://schemas.microsoft.com/office/drawing/2014/main" id="{E84F907E-F24A-4DD0-AB5B-A114ED8628D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6</a:t>
            </a:r>
          </a:p>
        </p:txBody>
      </p:sp>
      <p:sp>
        <p:nvSpPr>
          <p:cNvPr id="5" name="Uitlegvoorbeeld — niet uit het boek">
            <a:extLst xmlns:a="http://schemas.openxmlformats.org/drawingml/2006/main">
              <a:ext uri="{FF2B5EF4-FFF2-40B4-BE49-F238E27FC236}">
                <a16:creationId xmlns:a16="http://schemas.microsoft.com/office/drawing/2014/main" id="{9EC839E3-76D9-4895-AF7C-392ADE94E6AB}"/>
              </a:ext>
            </a:extLst>
          </p:cNvPr>
          <p:cNvSpPr>
            <a:spLocks xmlns:a="http://schemas.openxmlformats.org/drawingml/2006/main" noGrp="1"/>
          </p:cNvSpPr>
          <p:nvPr/>
        </p:nvSpPr>
        <p:spPr>
          <a:xfrm xmlns:a="http://schemas.openxmlformats.org/drawingml/2006/main">
            <a:off x="571500" y="17240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MK = 0,30q + 5">
            <a:extLst xmlns:a="http://schemas.openxmlformats.org/drawingml/2006/main">
              <a:ext uri="{FF2B5EF4-FFF2-40B4-BE49-F238E27FC236}">
                <a16:creationId xmlns:a16="http://schemas.microsoft.com/office/drawing/2014/main" id="{91842599-CD80-409C-BC24-A8091D99E584}"/>
              </a:ext>
            </a:extLst>
          </p:cNvPr>
          <p:cNvSpPr>
            <a:spLocks xmlns:a="http://schemas.openxmlformats.org/drawingml/2006/main" noGrp="1"/>
          </p:cNvSpPr>
          <p:nvPr/>
        </p:nvSpPr>
        <p:spPr>
          <a:xfrm xmlns:a="http://schemas.openxmlformats.org/drawingml/2006/main">
            <a:off x="571500" y="24765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MK = 0,30q + 5</a:t>
            </a:r>
          </a:p>
        </p:txBody>
      </p:sp>
      <p:sp>
        <p:nvSpPr>
          <p:cNvPr id="7" name="MK(10) = 0,30 × 10 + 5">
            <a:extLst xmlns:a="http://schemas.openxmlformats.org/drawingml/2006/main">
              <a:ext uri="{FF2B5EF4-FFF2-40B4-BE49-F238E27FC236}">
                <a16:creationId xmlns:a16="http://schemas.microsoft.com/office/drawing/2014/main" id="{4072C0D4-5876-4C6F-BC1F-B1FC51DC5086}"/>
              </a:ext>
            </a:extLst>
          </p:cNvPr>
          <p:cNvSpPr>
            <a:spLocks xmlns:a="http://schemas.openxmlformats.org/drawingml/2006/main" noGrp="1"/>
          </p:cNvSpPr>
          <p:nvPr/>
        </p:nvSpPr>
        <p:spPr>
          <a:xfrm xmlns:a="http://schemas.openxmlformats.org/drawingml/2006/main">
            <a:off x="571500" y="36671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MK(10) = 0,30 × 10 + 5</a:t>
            </a:r>
          </a:p>
        </p:txBody>
      </p:sp>
      <p:sp>
        <p:nvSpPr>
          <p:cNvPr id="8" name="= € 8 per kg">
            <a:extLst xmlns:a="http://schemas.openxmlformats.org/drawingml/2006/main">
              <a:ext uri="{FF2B5EF4-FFF2-40B4-BE49-F238E27FC236}">
                <a16:creationId xmlns:a16="http://schemas.microsoft.com/office/drawing/2014/main" id="{F55C3124-B666-4064-9628-56F0ACDD5C34}"/>
              </a:ext>
            </a:extLst>
          </p:cNvPr>
          <p:cNvSpPr>
            <a:spLocks xmlns:a="http://schemas.openxmlformats.org/drawingml/2006/main" noGrp="1"/>
          </p:cNvSpPr>
          <p:nvPr/>
        </p:nvSpPr>
        <p:spPr>
          <a:xfrm xmlns:a="http://schemas.openxmlformats.org/drawingml/2006/main">
            <a:off x="571500" y="49815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A94D16"/>
                </a:solidFill>
                <a:latin typeface="Arial"/>
                <a:ea typeface="Arial"/>
                <a:cs typeface="Arial"/>
              </a:defRPr>
            </a:pPr>
            <a:r>
              <a:rPr sz="4950" b="1">
                <a:solidFill>
                  <a:srgbClr val="A94D16"/>
                </a:solidFill>
                <a:latin typeface="Arial"/>
                <a:ea typeface="Arial"/>
                <a:cs typeface="Arial"/>
              </a:rPr>
              <a:t>= € 8 per kg</a:t>
            </a:r>
          </a:p>
        </p:txBody>
      </p:sp>
      <p:sp>
        <p:nvSpPr>
          <p:cNvPr id="9" name="Bij een zeer kleine uitbreiding rond 10 kg per week.">
            <a:extLst xmlns:a="http://schemas.openxmlformats.org/drawingml/2006/main">
              <a:ext uri="{FF2B5EF4-FFF2-40B4-BE49-F238E27FC236}">
                <a16:creationId xmlns:a16="http://schemas.microsoft.com/office/drawing/2014/main" id="{F8203582-3081-44F8-BB57-FE1776533D52}"/>
              </a:ext>
            </a:extLst>
          </p:cNvPr>
          <p:cNvSpPr>
            <a:spLocks xmlns:a="http://schemas.openxmlformats.org/drawingml/2006/main" noGrp="1"/>
          </p:cNvSpPr>
          <p:nvPr/>
        </p:nvSpPr>
        <p:spPr>
          <a:xfrm xmlns:a="http://schemas.openxmlformats.org/drawingml/2006/main">
            <a:off x="571500" y="6724650"/>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Bij een zeer kleine uitbreiding rond 10 kg per week.</a:t>
            </a:r>
          </a:p>
        </p:txBody>
      </p:sp>
    </p:spTree>
    <p:extLst>
      <p:ext uri="{BB962C8B-B14F-4D97-AF65-F5344CB8AC3E}">
        <p14:creationId xmlns:p14="http://schemas.microsoft.com/office/powerpoint/2010/main" val="40928599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e totale kosten bij 10 en 30 kg">
            <a:extLst xmlns:a="http://schemas.openxmlformats.org/drawingml/2006/main">
              <a:ext uri="{FF2B5EF4-FFF2-40B4-BE49-F238E27FC236}">
                <a16:creationId xmlns:a16="http://schemas.microsoft.com/office/drawing/2014/main" id="{CCDE4798-C544-4CF7-886E-8F15D33559C9}"/>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De totale kosten bij 10 en 30 kg</a:t>
            </a:r>
          </a:p>
        </p:txBody>
      </p:sp>
      <p:sp>
        <p:nvSpPr>
          <p:cNvPr id="2" name="">
            <a:extLst xmlns:a="http://schemas.openxmlformats.org/drawingml/2006/main">
              <a:ext uri="{FF2B5EF4-FFF2-40B4-BE49-F238E27FC236}">
                <a16:creationId xmlns:a16="http://schemas.microsoft.com/office/drawing/2014/main" id="{7D74F669-831D-4FC0-AFFB-E58B25EC313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F7DCDAF0-979F-4D36-ACAA-5048F08CB108}"/>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7">
            <a:extLst xmlns:a="http://schemas.openxmlformats.org/drawingml/2006/main">
              <a:ext uri="{FF2B5EF4-FFF2-40B4-BE49-F238E27FC236}">
                <a16:creationId xmlns:a16="http://schemas.microsoft.com/office/drawing/2014/main" id="{74EFA03E-27AE-448C-B1B3-D8AD5748E1F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7</a:t>
            </a:r>
          </a:p>
        </p:txBody>
      </p:sp>
      <p:sp>
        <p:nvSpPr>
          <p:cNvPr id="5" name="Uitlegvoorbeeld — niet uit het boek">
            <a:extLst xmlns:a="http://schemas.openxmlformats.org/drawingml/2006/main">
              <a:ext uri="{FF2B5EF4-FFF2-40B4-BE49-F238E27FC236}">
                <a16:creationId xmlns:a16="http://schemas.microsoft.com/office/drawing/2014/main" id="{8E6F7181-DE32-402F-88EF-A680FEACFFAB}"/>
              </a:ext>
            </a:extLst>
          </p:cNvPr>
          <p:cNvSpPr>
            <a:spLocks xmlns:a="http://schemas.openxmlformats.org/drawingml/2006/main" noGrp="1"/>
          </p:cNvSpPr>
          <p:nvPr/>
        </p:nvSpPr>
        <p:spPr>
          <a:xfrm xmlns:a="http://schemas.openxmlformats.org/drawingml/2006/main">
            <a:off x="571500" y="17240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TK = 0,15q² + 5q + 75">
            <a:extLst xmlns:a="http://schemas.openxmlformats.org/drawingml/2006/main">
              <a:ext uri="{FF2B5EF4-FFF2-40B4-BE49-F238E27FC236}">
                <a16:creationId xmlns:a16="http://schemas.microsoft.com/office/drawing/2014/main" id="{6ECACA21-C9D2-4036-9DF0-E5D46E2AF54B}"/>
              </a:ext>
            </a:extLst>
          </p:cNvPr>
          <p:cNvSpPr>
            <a:spLocks xmlns:a="http://schemas.openxmlformats.org/drawingml/2006/main" noGrp="1"/>
          </p:cNvSpPr>
          <p:nvPr/>
        </p:nvSpPr>
        <p:spPr>
          <a:xfrm xmlns:a="http://schemas.openxmlformats.org/drawingml/2006/main">
            <a:off x="571500" y="243840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TK = 0,15q² + 5q + 75</a:t>
            </a:r>
          </a:p>
        </p:txBody>
      </p:sp>
      <p:graphicFrame>
        <p:nvGraphicFramePr>
          <p:cNvPr id="15" name=""/>
          <p:cNvGraphicFramePr/>
          <p:nvPr/>
        </p:nvGraphicFramePr>
        <p:xfrm>
          <a:off xmlns:a="http://schemas.openxmlformats.org/drawingml/2006/main" x="571500" y="3524250"/>
          <a:ext xmlns:a="http://schemas.openxmlformats.org/drawingml/2006/main" cx="14097000" cy="2619375"/>
        </p:xfrm>
        <a:graphic xmlns:a="http://schemas.openxmlformats.org/drawingml/2006/main">
          <a:graphicData uri="http://schemas.openxmlformats.org/drawingml/2006/table">
            <a:tbl>
              <a:tblPr/>
              <a:tblGrid>
                <a:gridCol w="3714750"/>
                <a:gridCol w="6381750"/>
                <a:gridCol w="4000500"/>
              </a:tblGrid>
              <a:tr h="873125">
                <a:tc>
                  <a:txBody>
                    <a:bodyPr lIns="171450" tIns="95250" rIns="152400" bIns="95250"/>
                    <a:lstStyle/>
                    <a:p>
                      <a:r>
                        <a:rPr sz="2550" b="1">
                          <a:solidFill>
                            <a:srgbClr val="FFFFFF"/>
                          </a:solidFill>
                          <a:latin typeface="Arial"/>
                          <a:ea typeface="Arial"/>
                          <a:cs typeface="Arial"/>
                        </a:rPr>
                        <a:t>q (kg per week)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Invullen in TK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TK (€ per week)</a:t>
                      </a:r>
                    </a:p>
                  </a:txBody>
                  <a:tcPr marL="91440" marR="91440" marT="45720" marB="45720" anchor="ctr">
                    <a:solidFill>
                      <a:srgbClr val="183247"/>
                    </a:solidFill>
                  </a:tcPr>
                </a:tc>
              </a:tr>
              <a:tr h="873125">
                <a:tc>
                  <a:txBody>
                    <a:bodyPr lIns="171450" tIns="95250" rIns="152400" bIns="95250"/>
                    <a:lstStyle/>
                    <a:p>
                      <a:r>
                        <a:rPr sz="2550" b="0">
                          <a:solidFill>
                            <a:srgbClr val="183247"/>
                          </a:solidFill>
                          <a:latin typeface="Arial"/>
                          <a:ea typeface="Arial"/>
                          <a:cs typeface="Arial"/>
                        </a:rPr>
                        <a:t>10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0,15 × 10² + 5 × 10 + 75</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140</a:t>
                      </a:r>
                    </a:p>
                  </a:txBody>
                  <a:tcPr marL="91440" marR="91440" marT="45720" marB="45720" anchor="ctr">
                    <a:solidFill>
                      <a:srgbClr val="FFFFFF"/>
                    </a:solidFill>
                  </a:tcPr>
                </a:tc>
              </a:tr>
              <a:tr h="873125">
                <a:tc>
                  <a:txBody>
                    <a:bodyPr lIns="171450" tIns="95250" rIns="152400" bIns="95250"/>
                    <a:lstStyle/>
                    <a:p>
                      <a:r>
                        <a:rPr sz="2550" b="0">
                          <a:solidFill>
                            <a:srgbClr val="183247"/>
                          </a:solidFill>
                          <a:latin typeface="Arial"/>
                          <a:ea typeface="Arial"/>
                          <a:cs typeface="Arial"/>
                        </a:rPr>
                        <a:t>30</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0,15 × 30² + 5 × 30 + 75</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360</a:t>
                      </a:r>
                    </a:p>
                  </a:txBody>
                  <a:tcPr marL="91440" marR="91440" marT="45720" marB="45720" anchor="ctr">
                    <a:solidFill>
                      <a:srgbClr val="EFF4F7"/>
                    </a:solidFill>
                  </a:tcPr>
                </a:tc>
              </a:tr>
            </a:tbl>
          </a:graphicData>
        </a:graphic>
      </p:graphicFrame>
      <p:sp>
        <p:nvSpPr>
          <p:cNvPr id="8" name="Eerst kwadrateren, dan vermenigvuldigen en optellen.">
            <a:extLst xmlns:a="http://schemas.openxmlformats.org/drawingml/2006/main">
              <a:ext uri="{FF2B5EF4-FFF2-40B4-BE49-F238E27FC236}">
                <a16:creationId xmlns:a16="http://schemas.microsoft.com/office/drawing/2014/main" id="{9A364393-43C1-4D0F-BC9F-2D733AD8B4C9}"/>
              </a:ext>
            </a:extLst>
          </p:cNvPr>
          <p:cNvSpPr>
            <a:spLocks xmlns:a="http://schemas.openxmlformats.org/drawingml/2006/main" noGrp="1"/>
          </p:cNvSpPr>
          <p:nvPr/>
        </p:nvSpPr>
        <p:spPr>
          <a:xfrm xmlns:a="http://schemas.openxmlformats.org/drawingml/2006/main">
            <a:off x="571500" y="68103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658A"/>
                </a:solidFill>
                <a:latin typeface="Arial"/>
                <a:ea typeface="Arial"/>
                <a:cs typeface="Arial"/>
              </a:defRPr>
            </a:pPr>
            <a:r>
              <a:rPr sz="3000" b="1">
                <a:solidFill>
                  <a:srgbClr val="17658A"/>
                </a:solidFill>
                <a:latin typeface="Arial"/>
                <a:ea typeface="Arial"/>
                <a:cs typeface="Arial"/>
              </a:rPr>
              <a:t>Eerst kwadrateren, dan vermenigvuldigen en optellen.</a:t>
            </a:r>
          </a:p>
        </p:txBody>
      </p:sp>
    </p:spTree>
    <p:extLst>
      <p:ext uri="{BB962C8B-B14F-4D97-AF65-F5344CB8AC3E}">
        <p14:creationId xmlns:p14="http://schemas.microsoft.com/office/powerpoint/2010/main" val="92565513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Gemiddelde extra kosten over 10–30 kg">
            <a:extLst xmlns:a="http://schemas.openxmlformats.org/drawingml/2006/main">
              <a:ext uri="{FF2B5EF4-FFF2-40B4-BE49-F238E27FC236}">
                <a16:creationId xmlns:a16="http://schemas.microsoft.com/office/drawing/2014/main" id="{C6F21C62-3E02-42FF-A99E-8173764D6121}"/>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Gemiddelde extra kosten over 10–30 kg</a:t>
            </a:r>
          </a:p>
        </p:txBody>
      </p:sp>
      <p:sp>
        <p:nvSpPr>
          <p:cNvPr id="2" name="">
            <a:extLst xmlns:a="http://schemas.openxmlformats.org/drawingml/2006/main">
              <a:ext uri="{FF2B5EF4-FFF2-40B4-BE49-F238E27FC236}">
                <a16:creationId xmlns:a16="http://schemas.microsoft.com/office/drawing/2014/main" id="{A52BA772-FCE6-4141-90FC-214F77A1960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2DAC72B2-2E55-42A3-AFC6-0169ECC24C0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8">
            <a:extLst xmlns:a="http://schemas.openxmlformats.org/drawingml/2006/main">
              <a:ext uri="{FF2B5EF4-FFF2-40B4-BE49-F238E27FC236}">
                <a16:creationId xmlns:a16="http://schemas.microsoft.com/office/drawing/2014/main" id="{92868FE4-44D8-465C-8484-F8D8FBD9929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8</a:t>
            </a:r>
          </a:p>
        </p:txBody>
      </p:sp>
      <p:sp>
        <p:nvSpPr>
          <p:cNvPr id="5" name="Uitlegvoorbeeld — niet uit het boek">
            <a:extLst xmlns:a="http://schemas.openxmlformats.org/drawingml/2006/main">
              <a:ext uri="{FF2B5EF4-FFF2-40B4-BE49-F238E27FC236}">
                <a16:creationId xmlns:a16="http://schemas.microsoft.com/office/drawing/2014/main" id="{C941E0CA-4576-42A1-8A1B-358A7535EA86}"/>
              </a:ext>
            </a:extLst>
          </p:cNvPr>
          <p:cNvSpPr>
            <a:spLocks xmlns:a="http://schemas.openxmlformats.org/drawingml/2006/main" noGrp="1"/>
          </p:cNvSpPr>
          <p:nvPr/>
        </p:nvSpPr>
        <p:spPr>
          <a:xfrm xmlns:a="http://schemas.openxmlformats.org/drawingml/2006/main">
            <a:off x="571500" y="17240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ΔTK = 360 − 140 = € 220 per week">
            <a:extLst xmlns:a="http://schemas.openxmlformats.org/drawingml/2006/main">
              <a:ext uri="{FF2B5EF4-FFF2-40B4-BE49-F238E27FC236}">
                <a16:creationId xmlns:a16="http://schemas.microsoft.com/office/drawing/2014/main" id="{734B2AE9-ABA9-414B-871F-E4A04A646687}"/>
              </a:ext>
            </a:extLst>
          </p:cNvPr>
          <p:cNvSpPr>
            <a:spLocks xmlns:a="http://schemas.openxmlformats.org/drawingml/2006/main" noGrp="1"/>
          </p:cNvSpPr>
          <p:nvPr/>
        </p:nvSpPr>
        <p:spPr>
          <a:xfrm xmlns:a="http://schemas.openxmlformats.org/drawingml/2006/main">
            <a:off x="571500" y="25717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ΔTK = 360 − 140 = € 220 per week</a:t>
            </a:r>
          </a:p>
        </p:txBody>
      </p:sp>
      <p:sp>
        <p:nvSpPr>
          <p:cNvPr id="7" name="Δq = 30 − 10 = 20 kg per week">
            <a:extLst xmlns:a="http://schemas.openxmlformats.org/drawingml/2006/main">
              <a:ext uri="{FF2B5EF4-FFF2-40B4-BE49-F238E27FC236}">
                <a16:creationId xmlns:a16="http://schemas.microsoft.com/office/drawing/2014/main" id="{0E9419FE-6760-4075-9226-7815C9429FEE}"/>
              </a:ext>
            </a:extLst>
          </p:cNvPr>
          <p:cNvSpPr>
            <a:spLocks xmlns:a="http://schemas.openxmlformats.org/drawingml/2006/main" noGrp="1"/>
          </p:cNvSpPr>
          <p:nvPr/>
        </p:nvSpPr>
        <p:spPr>
          <a:xfrm xmlns:a="http://schemas.openxmlformats.org/drawingml/2006/main">
            <a:off x="571500" y="37147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Δq = 30 − 10 = 20 kg per week</a:t>
            </a:r>
          </a:p>
        </p:txBody>
      </p:sp>
      <p:sp>
        <p:nvSpPr>
          <p:cNvPr id="8" name="">
            <a:extLst xmlns:a="http://schemas.openxmlformats.org/drawingml/2006/main">
              <a:ext uri="{FF2B5EF4-FFF2-40B4-BE49-F238E27FC236}">
                <a16:creationId xmlns:a16="http://schemas.microsoft.com/office/drawing/2014/main" id="{E0520F31-7408-484A-9259-5A5725094883}"/>
              </a:ext>
            </a:extLst>
          </p:cNvPr>
          <p:cNvSpPr>
            <a:spLocks xmlns:a="http://schemas.openxmlformats.org/drawingml/2006/main" noGrp="1"/>
          </p:cNvSpPr>
          <p:nvPr/>
        </p:nvSpPr>
        <p:spPr>
          <a:xfrm xmlns:a="http://schemas.openxmlformats.org/drawingml/2006/main">
            <a:off x="571500" y="4810125"/>
            <a:ext cx="14097000" cy="0"/>
          </a:xfrm>
          <a:prstGeom xmlns:a="http://schemas.openxmlformats.org/drawingml/2006/main" prst="line">
            <a:avLst/>
          </a:prstGeom>
          <a:ln xmlns:a="http://schemas.openxmlformats.org/drawingml/2006/main" w="19050">
            <a:solidFill>
              <a:srgbClr val="C6D2DB"/>
            </a:solidFill>
          </a:ln>
        </p:spPr>
      </p:sp>
      <p:sp>
        <p:nvSpPr>
          <p:cNvPr id="9" name="ΔTK / Δq = 220 / 20 = € 11 per extra kg">
            <a:extLst xmlns:a="http://schemas.openxmlformats.org/drawingml/2006/main">
              <a:ext uri="{FF2B5EF4-FFF2-40B4-BE49-F238E27FC236}">
                <a16:creationId xmlns:a16="http://schemas.microsoft.com/office/drawing/2014/main" id="{A8F10ADA-DD03-4526-8FD0-E6D0E98EEDB9}"/>
              </a:ext>
            </a:extLst>
          </p:cNvPr>
          <p:cNvSpPr>
            <a:spLocks xmlns:a="http://schemas.openxmlformats.org/drawingml/2006/main" noGrp="1"/>
          </p:cNvSpPr>
          <p:nvPr/>
        </p:nvSpPr>
        <p:spPr>
          <a:xfrm xmlns:a="http://schemas.openxmlformats.org/drawingml/2006/main">
            <a:off x="571500" y="53149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ΔTK / Δq = 220 / 20 = € 11 per extra kg</a:t>
            </a:r>
          </a:p>
        </p:txBody>
      </p:sp>
      <p:sp>
        <p:nvSpPr>
          <p:cNvPr id="10" name="Het gemiddelde over de hele stap van 20 extra kg.">
            <a:extLst xmlns:a="http://schemas.openxmlformats.org/drawingml/2006/main">
              <a:ext uri="{FF2B5EF4-FFF2-40B4-BE49-F238E27FC236}">
                <a16:creationId xmlns:a16="http://schemas.microsoft.com/office/drawing/2014/main" id="{2A479803-734D-4BCD-8C20-47D06F646C14}"/>
              </a:ext>
            </a:extLst>
          </p:cNvPr>
          <p:cNvSpPr>
            <a:spLocks xmlns:a="http://schemas.openxmlformats.org/drawingml/2006/main" noGrp="1"/>
          </p:cNvSpPr>
          <p:nvPr/>
        </p:nvSpPr>
        <p:spPr>
          <a:xfrm xmlns:a="http://schemas.openxmlformats.org/drawingml/2006/main">
            <a:off x="571500" y="7019925"/>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Het gemiddelde over de hele stap van 20 extra kg.</a:t>
            </a:r>
          </a:p>
        </p:txBody>
      </p:sp>
    </p:spTree>
    <p:extLst>
      <p:ext uri="{BB962C8B-B14F-4D97-AF65-F5344CB8AC3E}">
        <p14:creationId xmlns:p14="http://schemas.microsoft.com/office/powerpoint/2010/main" val="126959405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Een puntwaarde en twee verschillende stappen">
            <a:extLst xmlns:a="http://schemas.openxmlformats.org/drawingml/2006/main">
              <a:ext uri="{FF2B5EF4-FFF2-40B4-BE49-F238E27FC236}">
                <a16:creationId xmlns:a16="http://schemas.microsoft.com/office/drawing/2014/main" id="{D6D99C92-1121-4DC8-BFDC-261FA62CC2CE}"/>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Een puntwaarde en twee verschillende stappen</a:t>
            </a:r>
          </a:p>
        </p:txBody>
      </p:sp>
      <p:sp>
        <p:nvSpPr>
          <p:cNvPr id="2" name="">
            <a:extLst xmlns:a="http://schemas.openxmlformats.org/drawingml/2006/main">
              <a:ext uri="{FF2B5EF4-FFF2-40B4-BE49-F238E27FC236}">
                <a16:creationId xmlns:a16="http://schemas.microsoft.com/office/drawing/2014/main" id="{3D57BCD2-52C1-4BD9-AAFF-0597B0FCE0D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E3D49698-A7B9-4D91-A4A5-835E687FBC0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9">
            <a:extLst xmlns:a="http://schemas.openxmlformats.org/drawingml/2006/main">
              <a:ext uri="{FF2B5EF4-FFF2-40B4-BE49-F238E27FC236}">
                <a16:creationId xmlns:a16="http://schemas.microsoft.com/office/drawing/2014/main" id="{D08CC0B1-2270-4798-8763-A97AFD58F60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9</a:t>
            </a:r>
          </a:p>
        </p:txBody>
      </p:sp>
      <p:sp>
        <p:nvSpPr>
          <p:cNvPr id="5" name="Uitlegvoorbeeld — niet uit het boek">
            <a:extLst xmlns:a="http://schemas.openxmlformats.org/drawingml/2006/main">
              <a:ext uri="{FF2B5EF4-FFF2-40B4-BE49-F238E27FC236}">
                <a16:creationId xmlns:a16="http://schemas.microsoft.com/office/drawing/2014/main" id="{F9A7394A-1641-4A4E-9177-1E7617BC331E}"/>
              </a:ext>
            </a:extLst>
          </p:cNvPr>
          <p:cNvSpPr>
            <a:spLocks xmlns:a="http://schemas.openxmlformats.org/drawingml/2006/main" noGrp="1"/>
          </p:cNvSpPr>
          <p:nvPr/>
        </p:nvSpPr>
        <p:spPr>
          <a:xfrm xmlns:a="http://schemas.openxmlformats.org/drawingml/2006/main">
            <a:off x="571500" y="17240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771775"/>
          <a:ext xmlns:a="http://schemas.openxmlformats.org/drawingml/2006/main" cx="14097000" cy="3505200"/>
        </p:xfrm>
        <a:graphic xmlns:a="http://schemas.openxmlformats.org/drawingml/2006/main">
          <a:graphicData uri="http://schemas.openxmlformats.org/drawingml/2006/table">
            <a:tbl>
              <a:tblPr/>
              <a:tblGrid>
                <a:gridCol w="3905250"/>
                <a:gridCol w="6000750"/>
                <a:gridCol w="4191000"/>
              </a:tblGrid>
              <a:tr h="876300">
                <a:tc>
                  <a:txBody>
                    <a:bodyPr lIns="171450" tIns="95250" rIns="152400" bIns="95250"/>
                    <a:lstStyle/>
                    <a:p>
                      <a:r>
                        <a:rPr sz="2475" b="1">
                          <a:solidFill>
                            <a:srgbClr val="FFFFFF"/>
                          </a:solidFill>
                          <a:latin typeface="Arial"/>
                          <a:ea typeface="Arial"/>
                          <a:cs typeface="Arial"/>
                        </a:rPr>
                        <a:t>Plaats of stap</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Wat meet je?</a:t>
                      </a:r>
                    </a:p>
                  </a:txBody>
                  <a:tcPr marL="91440" marR="91440" marT="45720" marB="45720" anchor="ctr">
                    <a:solidFill>
                      <a:srgbClr val="183247"/>
                    </a:solidFill>
                  </a:tcPr>
                </a:tc>
                <a:tc>
                  <a:txBody>
                    <a:bodyPr lIns="171450" tIns="95250" rIns="152400" bIns="95250"/>
                    <a:lstStyle/>
                    <a:p>
                      <a:r>
                        <a:rPr sz="2475" b="1">
                          <a:solidFill>
                            <a:srgbClr val="FFFFFF"/>
                          </a:solidFill>
                          <a:latin typeface="Arial"/>
                          <a:ea typeface="Arial"/>
                          <a:cs typeface="Arial"/>
                        </a:rPr>
                        <a:t>Uitkomst</a:t>
                      </a:r>
                    </a:p>
                  </a:txBody>
                  <a:tcPr marL="91440" marR="91440" marT="45720" marB="45720" anchor="ctr">
                    <a:solidFill>
                      <a:srgbClr val="183247"/>
                    </a:solidFill>
                  </a:tcPr>
                </a:tc>
              </a:tr>
              <a:tr h="876300">
                <a:tc>
                  <a:txBody>
                    <a:bodyPr lIns="171450" tIns="95250" rIns="152400" bIns="95250"/>
                    <a:lstStyle/>
                    <a:p>
                      <a:r>
                        <a:rPr sz="2475" b="0">
                          <a:solidFill>
                            <a:srgbClr val="183247"/>
                          </a:solidFill>
                          <a:latin typeface="Arial"/>
                          <a:ea typeface="Arial"/>
                          <a:cs typeface="Arial"/>
                        </a:rPr>
                        <a:t>Op q = 10</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Puntwaarde van MK</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€ 8 per kg</a:t>
                      </a:r>
                    </a:p>
                  </a:txBody>
                  <a:tcPr marL="91440" marR="91440" marT="45720" marB="45720" anchor="ctr">
                    <a:solidFill>
                      <a:srgbClr val="FFFFFF"/>
                    </a:solidFill>
                  </a:tcPr>
                </a:tc>
              </a:tr>
              <a:tr h="876300">
                <a:tc>
                  <a:txBody>
                    <a:bodyPr lIns="171450" tIns="95250" rIns="152400" bIns="95250"/>
                    <a:lstStyle/>
                    <a:p>
                      <a:r>
                        <a:rPr sz="2475" b="0">
                          <a:solidFill>
                            <a:srgbClr val="183247"/>
                          </a:solidFill>
                          <a:latin typeface="Arial"/>
                          <a:ea typeface="Arial"/>
                          <a:cs typeface="Arial"/>
                        </a:rPr>
                        <a:t>Van 10 naar 30 kg</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Gemiddeld over 20 extra kg</a:t>
                      </a:r>
                    </a:p>
                  </a:txBody>
                  <a:tcPr marL="91440" marR="91440" marT="45720" marB="45720" anchor="ctr">
                    <a:solidFill>
                      <a:srgbClr val="EFF4F7"/>
                    </a:solidFill>
                  </a:tcPr>
                </a:tc>
                <a:tc>
                  <a:txBody>
                    <a:bodyPr lIns="171450" tIns="95250" rIns="152400" bIns="95250"/>
                    <a:lstStyle/>
                    <a:p>
                      <a:r>
                        <a:rPr sz="2475" b="0">
                          <a:solidFill>
                            <a:srgbClr val="183247"/>
                          </a:solidFill>
                          <a:latin typeface="Arial"/>
                          <a:ea typeface="Arial"/>
                          <a:cs typeface="Arial"/>
                        </a:rPr>
                        <a:t>€ 11 per kg</a:t>
                      </a:r>
                    </a:p>
                  </a:txBody>
                  <a:tcPr marL="91440" marR="91440" marT="45720" marB="45720" anchor="ctr">
                    <a:solidFill>
                      <a:srgbClr val="EFF4F7"/>
                    </a:solidFill>
                  </a:tcPr>
                </a:tc>
              </a:tr>
              <a:tr h="876300">
                <a:tc>
                  <a:txBody>
                    <a:bodyPr lIns="171450" tIns="95250" rIns="152400" bIns="95250"/>
                    <a:lstStyle/>
                    <a:p>
                      <a:r>
                        <a:rPr sz="2475" b="0">
                          <a:solidFill>
                            <a:srgbClr val="183247"/>
                          </a:solidFill>
                          <a:latin typeface="Arial"/>
                          <a:ea typeface="Arial"/>
                          <a:cs typeface="Arial"/>
                        </a:rPr>
                        <a:t>Van 10 naar 11 kg</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Exacte extra totale kosten</a:t>
                      </a:r>
                    </a:p>
                  </a:txBody>
                  <a:tcPr marL="91440" marR="91440" marT="45720" marB="45720" anchor="ctr">
                    <a:solidFill>
                      <a:srgbClr val="FFFFFF"/>
                    </a:solidFill>
                  </a:tcPr>
                </a:tc>
                <a:tc>
                  <a:txBody>
                    <a:bodyPr lIns="171450" tIns="95250" rIns="152400" bIns="95250"/>
                    <a:lstStyle/>
                    <a:p>
                      <a:r>
                        <a:rPr sz="2475" b="0">
                          <a:solidFill>
                            <a:srgbClr val="183247"/>
                          </a:solidFill>
                          <a:latin typeface="Arial"/>
                          <a:ea typeface="Arial"/>
                          <a:cs typeface="Arial"/>
                        </a:rPr>
                        <a:t>€ 8,15 voor die kg</a:t>
                      </a:r>
                    </a:p>
                  </a:txBody>
                  <a:tcPr marL="91440" marR="91440" marT="45720" marB="45720" anchor="ctr">
                    <a:solidFill>
                      <a:srgbClr val="FFFFFF"/>
                    </a:solidFill>
                  </a:tcPr>
                </a:tc>
              </a:tr>
            </a:tbl>
          </a:graphicData>
        </a:graphic>
      </p:graphicFrame>
      <p:sp>
        <p:nvSpPr>
          <p:cNvPr id="7" name="MK stijgt: een langere stap bevat ook duurdere extra kg.">
            <a:extLst xmlns:a="http://schemas.openxmlformats.org/drawingml/2006/main">
              <a:ext uri="{FF2B5EF4-FFF2-40B4-BE49-F238E27FC236}">
                <a16:creationId xmlns:a16="http://schemas.microsoft.com/office/drawing/2014/main" id="{4FB7A8AB-9806-4F1B-AD9A-9B3CC5E898E3}"/>
              </a:ext>
            </a:extLst>
          </p:cNvPr>
          <p:cNvSpPr>
            <a:spLocks xmlns:a="http://schemas.openxmlformats.org/drawingml/2006/main" noGrp="1"/>
          </p:cNvSpPr>
          <p:nvPr/>
        </p:nvSpPr>
        <p:spPr>
          <a:xfrm xmlns:a="http://schemas.openxmlformats.org/drawingml/2006/main">
            <a:off x="571500" y="684847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A94D16"/>
                </a:solidFill>
                <a:latin typeface="Arial"/>
                <a:ea typeface="Arial"/>
                <a:cs typeface="Arial"/>
              </a:defRPr>
            </a:pPr>
            <a:r>
              <a:rPr sz="3000" b="1">
                <a:solidFill>
                  <a:srgbClr val="A94D16"/>
                </a:solidFill>
                <a:latin typeface="Arial"/>
                <a:ea typeface="Arial"/>
                <a:cs typeface="Arial"/>
              </a:rPr>
              <a:t>MK stijgt: een langere stap bevat ook duurdere extra kg.</a:t>
            </a:r>
          </a:p>
        </p:txBody>
      </p:sp>
    </p:spTree>
    <p:extLst>
      <p:ext uri="{BB962C8B-B14F-4D97-AF65-F5344CB8AC3E}">
        <p14:creationId xmlns:p14="http://schemas.microsoft.com/office/powerpoint/2010/main" val="131144534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lleen de constante kosten stijgen">
            <a:extLst xmlns:a="http://schemas.openxmlformats.org/drawingml/2006/main">
              <a:ext uri="{FF2B5EF4-FFF2-40B4-BE49-F238E27FC236}">
                <a16:creationId xmlns:a16="http://schemas.microsoft.com/office/drawing/2014/main" id="{D9A6F49D-2CB6-4E81-B3C0-D731F9F90FF7}"/>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Alleen de constante kosten stijgen</a:t>
            </a:r>
          </a:p>
        </p:txBody>
      </p:sp>
      <p:sp>
        <p:nvSpPr>
          <p:cNvPr id="2" name="">
            <a:extLst xmlns:a="http://schemas.openxmlformats.org/drawingml/2006/main">
              <a:ext uri="{FF2B5EF4-FFF2-40B4-BE49-F238E27FC236}">
                <a16:creationId xmlns:a16="http://schemas.microsoft.com/office/drawing/2014/main" id="{2B229377-85C4-4131-BE68-030A9C7641B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524264C6-DC0E-409D-ADF4-36BB7C3D9F9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10">
            <a:extLst xmlns:a="http://schemas.openxmlformats.org/drawingml/2006/main">
              <a:ext uri="{FF2B5EF4-FFF2-40B4-BE49-F238E27FC236}">
                <a16:creationId xmlns:a16="http://schemas.microsoft.com/office/drawing/2014/main" id="{5032403F-FBD3-4A03-BBBD-910C4180FB5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10</a:t>
            </a:r>
          </a:p>
        </p:txBody>
      </p:sp>
      <p:sp>
        <p:nvSpPr>
          <p:cNvPr id="5" name="Uitlegvoorbeeld — niet uit het boek">
            <a:extLst xmlns:a="http://schemas.openxmlformats.org/drawingml/2006/main">
              <a:ext uri="{FF2B5EF4-FFF2-40B4-BE49-F238E27FC236}">
                <a16:creationId xmlns:a16="http://schemas.microsoft.com/office/drawing/2014/main" id="{2C34258A-9DFA-4AA9-9751-37BD7E5568B4}"/>
              </a:ext>
            </a:extLst>
          </p:cNvPr>
          <p:cNvSpPr>
            <a:spLocks xmlns:a="http://schemas.openxmlformats.org/drawingml/2006/main" noGrp="1"/>
          </p:cNvSpPr>
          <p:nvPr/>
        </p:nvSpPr>
        <p:spPr>
          <a:xfrm xmlns:a="http://schemas.openxmlformats.org/drawingml/2006/main">
            <a:off x="571500" y="17240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Nova: de constante kosten stijgen van € 75 naar € 125 per we">
            <a:extLst xmlns:a="http://schemas.openxmlformats.org/drawingml/2006/main">
              <a:ext uri="{FF2B5EF4-FFF2-40B4-BE49-F238E27FC236}">
                <a16:creationId xmlns:a16="http://schemas.microsoft.com/office/drawing/2014/main" id="{4373B9F5-8B09-4280-AF40-CBA45EC1F787}"/>
              </a:ext>
            </a:extLst>
          </p:cNvPr>
          <p:cNvSpPr>
            <a:spLocks xmlns:a="http://schemas.openxmlformats.org/drawingml/2006/main" noGrp="1"/>
          </p:cNvSpPr>
          <p:nvPr/>
        </p:nvSpPr>
        <p:spPr>
          <a:xfrm xmlns:a="http://schemas.openxmlformats.org/drawingml/2006/main">
            <a:off x="571500" y="2409825"/>
            <a:ext cx="14097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Nova: de constante kosten stijgen van € 75 naar € 125 per week.</a:t>
            </a:r>
          </a:p>
        </p:txBody>
      </p:sp>
      <p:graphicFrame>
        <p:nvGraphicFramePr>
          <p:cNvPr id="15" name=""/>
          <p:cNvGraphicFramePr/>
          <p:nvPr/>
        </p:nvGraphicFramePr>
        <p:xfrm>
          <a:off xmlns:a="http://schemas.openxmlformats.org/drawingml/2006/main" x="571500" y="3752850"/>
          <a:ext xmlns:a="http://schemas.openxmlformats.org/drawingml/2006/main" cx="14097000" cy="2667000"/>
        </p:xfrm>
        <a:graphic xmlns:a="http://schemas.openxmlformats.org/drawingml/2006/main">
          <a:graphicData uri="http://schemas.openxmlformats.org/drawingml/2006/table">
            <a:tbl>
              <a:tblPr/>
              <a:tblGrid>
                <a:gridCol w="7048500"/>
                <a:gridCol w="3524250"/>
                <a:gridCol w="3524250"/>
              </a:tblGrid>
              <a:tr h="889000">
                <a:tc>
                  <a:txBody>
                    <a:bodyPr lIns="171450" tIns="95250" rIns="152400" bIns="95250"/>
                    <a:lstStyle/>
                    <a:p>
                      <a:r>
                        <a:rPr sz="2700" b="1">
                          <a:solidFill>
                            <a:srgbClr val="FFFFFF"/>
                          </a:solidFill>
                          <a:latin typeface="Arial"/>
                          <a:ea typeface="Arial"/>
                          <a:cs typeface="Arial"/>
                        </a:rPr>
                        <a:t>Bij dezelfde q = 10</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Oud</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Nieuw</a:t>
                      </a:r>
                    </a:p>
                  </a:txBody>
                  <a:tcPr marL="91440" marR="91440" marT="45720" marB="45720" anchor="ctr">
                    <a:solidFill>
                      <a:srgbClr val="183247"/>
                    </a:solidFill>
                  </a:tcPr>
                </a:tc>
              </a:tr>
              <a:tr h="889000">
                <a:tc>
                  <a:txBody>
                    <a:bodyPr lIns="171450" tIns="95250" rIns="152400" bIns="95250"/>
                    <a:lstStyle/>
                    <a:p>
                      <a:r>
                        <a:rPr sz="2700" b="0">
                          <a:solidFill>
                            <a:srgbClr val="183247"/>
                          </a:solidFill>
                          <a:latin typeface="Arial"/>
                          <a:ea typeface="Arial"/>
                          <a:cs typeface="Arial"/>
                        </a:rPr>
                        <a:t>TK (€ per week)</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140</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190</a:t>
                      </a:r>
                    </a:p>
                  </a:txBody>
                  <a:tcPr marL="91440" marR="91440" marT="45720" marB="45720" anchor="ctr">
                    <a:solidFill>
                      <a:srgbClr val="FFFFFF"/>
                    </a:solidFill>
                  </a:tcPr>
                </a:tc>
              </a:tr>
              <a:tr h="889000">
                <a:tc>
                  <a:txBody>
                    <a:bodyPr lIns="171450" tIns="95250" rIns="152400" bIns="95250"/>
                    <a:lstStyle/>
                    <a:p>
                      <a:r>
                        <a:rPr sz="2700" b="0">
                          <a:solidFill>
                            <a:srgbClr val="183247"/>
                          </a:solidFill>
                          <a:latin typeface="Arial"/>
                          <a:ea typeface="Arial"/>
                          <a:cs typeface="Arial"/>
                        </a:rPr>
                        <a:t>MK (€ per kg)</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8</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8</a:t>
                      </a:r>
                    </a:p>
                  </a:txBody>
                  <a:tcPr marL="91440" marR="91440" marT="45720" marB="45720" anchor="ctr">
                    <a:solidFill>
                      <a:srgbClr val="EFF4F7"/>
                    </a:solidFill>
                  </a:tcPr>
                </a:tc>
              </a:tr>
            </a:tbl>
          </a:graphicData>
        </a:graphic>
      </p:graphicFrame>
      <p:sp>
        <p:nvSpPr>
          <p:cNvPr id="8" name="TK stijgt overal € 50. MK blijft 0,30q + 5.">
            <a:extLst xmlns:a="http://schemas.openxmlformats.org/drawingml/2006/main">
              <a:ext uri="{FF2B5EF4-FFF2-40B4-BE49-F238E27FC236}">
                <a16:creationId xmlns:a16="http://schemas.microsoft.com/office/drawing/2014/main" id="{9C90A9EB-D250-42EB-9C66-FE659CFD311C}"/>
              </a:ext>
            </a:extLst>
          </p:cNvPr>
          <p:cNvSpPr>
            <a:spLocks xmlns:a="http://schemas.openxmlformats.org/drawingml/2006/main" noGrp="1"/>
          </p:cNvSpPr>
          <p:nvPr/>
        </p:nvSpPr>
        <p:spPr>
          <a:xfrm xmlns:a="http://schemas.openxmlformats.org/drawingml/2006/main">
            <a:off x="571500" y="694372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A94D16"/>
                </a:solidFill>
                <a:latin typeface="Arial"/>
                <a:ea typeface="Arial"/>
                <a:cs typeface="Arial"/>
              </a:defRPr>
            </a:pPr>
            <a:r>
              <a:rPr sz="3300" b="1">
                <a:solidFill>
                  <a:srgbClr val="A94D16"/>
                </a:solidFill>
                <a:latin typeface="Arial"/>
                <a:ea typeface="Arial"/>
                <a:cs typeface="Arial"/>
              </a:rPr>
              <a:t>TK stijgt overal € 50. MK blijft 0,30q + 5.</a:t>
            </a:r>
          </a:p>
        </p:txBody>
      </p:sp>
    </p:spTree>
    <p:extLst>
      <p:ext uri="{BB962C8B-B14F-4D97-AF65-F5344CB8AC3E}">
        <p14:creationId xmlns:p14="http://schemas.microsoft.com/office/powerpoint/2010/main" val="10778676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lleen de lineaire variabele kosten stijgen">
            <a:extLst xmlns:a="http://schemas.openxmlformats.org/drawingml/2006/main">
              <a:ext uri="{FF2B5EF4-FFF2-40B4-BE49-F238E27FC236}">
                <a16:creationId xmlns:a16="http://schemas.microsoft.com/office/drawing/2014/main" id="{35BCE89D-20A1-4493-A84C-63A8F60226D6}"/>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Alleen de lineaire variabele kosten stijgen</a:t>
            </a:r>
          </a:p>
        </p:txBody>
      </p:sp>
      <p:sp>
        <p:nvSpPr>
          <p:cNvPr id="2" name="">
            <a:extLst xmlns:a="http://schemas.openxmlformats.org/drawingml/2006/main">
              <a:ext uri="{FF2B5EF4-FFF2-40B4-BE49-F238E27FC236}">
                <a16:creationId xmlns:a16="http://schemas.microsoft.com/office/drawing/2014/main" id="{452ED1D7-3B2E-435E-AF4A-94532E611BD8}"/>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6A90978E-4DC0-4665-A465-8F87DF7B56A1}"/>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11">
            <a:extLst xmlns:a="http://schemas.openxmlformats.org/drawingml/2006/main">
              <a:ext uri="{FF2B5EF4-FFF2-40B4-BE49-F238E27FC236}">
                <a16:creationId xmlns:a16="http://schemas.microsoft.com/office/drawing/2014/main" id="{90CF022B-B81C-47AC-A9E0-3640487682D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11</a:t>
            </a:r>
          </a:p>
        </p:txBody>
      </p:sp>
      <p:sp>
        <p:nvSpPr>
          <p:cNvPr id="5" name="Uitlegvoorbeeld — niet uit het boek">
            <a:extLst xmlns:a="http://schemas.openxmlformats.org/drawingml/2006/main">
              <a:ext uri="{FF2B5EF4-FFF2-40B4-BE49-F238E27FC236}">
                <a16:creationId xmlns:a16="http://schemas.microsoft.com/office/drawing/2014/main" id="{839BB321-912F-435E-99C8-7B7AB3923732}"/>
              </a:ext>
            </a:extLst>
          </p:cNvPr>
          <p:cNvSpPr>
            <a:spLocks xmlns:a="http://schemas.openxmlformats.org/drawingml/2006/main" noGrp="1"/>
          </p:cNvSpPr>
          <p:nvPr/>
        </p:nvSpPr>
        <p:spPr>
          <a:xfrm xmlns:a="http://schemas.openxmlformats.org/drawingml/2006/main">
            <a:off x="571500" y="17240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Terug naar het oorspronkelijke model. Nu verandert 5q in 6q.">
            <a:extLst xmlns:a="http://schemas.openxmlformats.org/drawingml/2006/main">
              <a:ext uri="{FF2B5EF4-FFF2-40B4-BE49-F238E27FC236}">
                <a16:creationId xmlns:a16="http://schemas.microsoft.com/office/drawing/2014/main" id="{58A6E853-0C06-4CC2-A9AD-E637B0E3B4CC}"/>
              </a:ext>
            </a:extLst>
          </p:cNvPr>
          <p:cNvSpPr>
            <a:spLocks xmlns:a="http://schemas.openxmlformats.org/drawingml/2006/main" noGrp="1"/>
          </p:cNvSpPr>
          <p:nvPr/>
        </p:nvSpPr>
        <p:spPr>
          <a:xfrm xmlns:a="http://schemas.openxmlformats.org/drawingml/2006/main">
            <a:off x="571500" y="2409825"/>
            <a:ext cx="14097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Terug naar het oorspronkelijke model. Nu verandert 5q in 6q.</a:t>
            </a:r>
          </a:p>
        </p:txBody>
      </p:sp>
      <p:graphicFrame>
        <p:nvGraphicFramePr>
          <p:cNvPr id="15" name=""/>
          <p:cNvGraphicFramePr/>
          <p:nvPr/>
        </p:nvGraphicFramePr>
        <p:xfrm>
          <a:off xmlns:a="http://schemas.openxmlformats.org/drawingml/2006/main" x="571500" y="3762375"/>
          <a:ext xmlns:a="http://schemas.openxmlformats.org/drawingml/2006/main" cx="14097000" cy="2638425"/>
        </p:xfrm>
        <a:graphic xmlns:a="http://schemas.openxmlformats.org/drawingml/2006/main">
          <a:graphicData uri="http://schemas.openxmlformats.org/drawingml/2006/table">
            <a:tbl>
              <a:tblPr/>
              <a:tblGrid>
                <a:gridCol w="2476500"/>
                <a:gridCol w="5810250"/>
                <a:gridCol w="5810250"/>
              </a:tblGrid>
              <a:tr h="879475">
                <a:tc>
                  <a:txBody>
                    <a:bodyPr lIns="171450" tIns="95250" rIns="152400" bIns="95250"/>
                    <a:lstStyle/>
                    <a:p>
                      <a:r>
                        <a:rPr sz="2700" b="1">
                          <a:solidFill>
                            <a:srgbClr val="FFFFFF"/>
                          </a:solidFill>
                          <a:latin typeface="Arial"/>
                          <a:ea typeface="Arial"/>
                          <a:cs typeface="Arial"/>
                        </a:rPr>
                        <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Oorspronkelijk</a:t>
                      </a:r>
                    </a:p>
                  </a:txBody>
                  <a:tcPr marL="91440" marR="91440" marT="45720" marB="45720" anchor="ctr">
                    <a:solidFill>
                      <a:srgbClr val="183247"/>
                    </a:solidFill>
                  </a:tcPr>
                </a:tc>
                <a:tc>
                  <a:txBody>
                    <a:bodyPr lIns="171450" tIns="95250" rIns="152400" bIns="95250"/>
                    <a:lstStyle/>
                    <a:p>
                      <a:r>
                        <a:rPr sz="2700" b="1">
                          <a:solidFill>
                            <a:srgbClr val="FFFFFF"/>
                          </a:solidFill>
                          <a:latin typeface="Arial"/>
                          <a:ea typeface="Arial"/>
                          <a:cs typeface="Arial"/>
                        </a:rPr>
                        <a:t>Nieuw plan</a:t>
                      </a:r>
                    </a:p>
                  </a:txBody>
                  <a:tcPr marL="91440" marR="91440" marT="45720" marB="45720" anchor="ctr">
                    <a:solidFill>
                      <a:srgbClr val="183247"/>
                    </a:solidFill>
                  </a:tcPr>
                </a:tc>
              </a:tr>
              <a:tr h="879475">
                <a:tc>
                  <a:txBody>
                    <a:bodyPr lIns="171450" tIns="95250" rIns="152400" bIns="95250"/>
                    <a:lstStyle/>
                    <a:p>
                      <a:r>
                        <a:rPr sz="2700" b="0">
                          <a:solidFill>
                            <a:srgbClr val="183247"/>
                          </a:solidFill>
                          <a:latin typeface="Arial"/>
                          <a:ea typeface="Arial"/>
                          <a:cs typeface="Arial"/>
                        </a:rPr>
                        <a:t>TK</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0,15q² + 5q + 75</a:t>
                      </a:r>
                    </a:p>
                  </a:txBody>
                  <a:tcPr marL="91440" marR="91440" marT="45720" marB="45720" anchor="ctr">
                    <a:solidFill>
                      <a:srgbClr val="FFFFFF"/>
                    </a:solidFill>
                  </a:tcPr>
                </a:tc>
                <a:tc>
                  <a:txBody>
                    <a:bodyPr lIns="171450" tIns="95250" rIns="152400" bIns="95250"/>
                    <a:lstStyle/>
                    <a:p>
                      <a:r>
                        <a:rPr sz="2700" b="0">
                          <a:solidFill>
                            <a:srgbClr val="183247"/>
                          </a:solidFill>
                          <a:latin typeface="Arial"/>
                          <a:ea typeface="Arial"/>
                          <a:cs typeface="Arial"/>
                        </a:rPr>
                        <a:t>0,15q² + 6q + 75</a:t>
                      </a:r>
                    </a:p>
                  </a:txBody>
                  <a:tcPr marL="91440" marR="91440" marT="45720" marB="45720" anchor="ctr">
                    <a:solidFill>
                      <a:srgbClr val="FFFFFF"/>
                    </a:solidFill>
                  </a:tcPr>
                </a:tc>
              </a:tr>
              <a:tr h="879475">
                <a:tc>
                  <a:txBody>
                    <a:bodyPr lIns="171450" tIns="95250" rIns="152400" bIns="95250"/>
                    <a:lstStyle/>
                    <a:p>
                      <a:r>
                        <a:rPr sz="2700" b="0">
                          <a:solidFill>
                            <a:srgbClr val="183247"/>
                          </a:solidFill>
                          <a:latin typeface="Arial"/>
                          <a:ea typeface="Arial"/>
                          <a:cs typeface="Arial"/>
                        </a:rPr>
                        <a:t>MK</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0,30q + 5</a:t>
                      </a:r>
                    </a:p>
                  </a:txBody>
                  <a:tcPr marL="91440" marR="91440" marT="45720" marB="45720" anchor="ctr">
                    <a:solidFill>
                      <a:srgbClr val="EFF4F7"/>
                    </a:solidFill>
                  </a:tcPr>
                </a:tc>
                <a:tc>
                  <a:txBody>
                    <a:bodyPr lIns="171450" tIns="95250" rIns="152400" bIns="95250"/>
                    <a:lstStyle/>
                    <a:p>
                      <a:r>
                        <a:rPr sz="2700" b="0">
                          <a:solidFill>
                            <a:srgbClr val="183247"/>
                          </a:solidFill>
                          <a:latin typeface="Arial"/>
                          <a:ea typeface="Arial"/>
                          <a:cs typeface="Arial"/>
                        </a:rPr>
                        <a:t>0,30q + 6</a:t>
                      </a:r>
                    </a:p>
                  </a:txBody>
                  <a:tcPr marL="91440" marR="91440" marT="45720" marB="45720" anchor="ctr">
                    <a:solidFill>
                      <a:srgbClr val="EFF4F7"/>
                    </a:solidFill>
                  </a:tcPr>
                </a:tc>
              </a:tr>
            </a:tbl>
          </a:graphicData>
        </a:graphic>
      </p:graphicFrame>
      <p:sp>
        <p:nvSpPr>
          <p:cNvPr id="8" name="Bij q = 10: TK + € 10 per week, MK + € 1 per kg.">
            <a:extLst xmlns:a="http://schemas.openxmlformats.org/drawingml/2006/main">
              <a:ext uri="{FF2B5EF4-FFF2-40B4-BE49-F238E27FC236}">
                <a16:creationId xmlns:a16="http://schemas.microsoft.com/office/drawing/2014/main" id="{CA48E231-236A-4702-96E6-079851863E73}"/>
              </a:ext>
            </a:extLst>
          </p:cNvPr>
          <p:cNvSpPr>
            <a:spLocks xmlns:a="http://schemas.openxmlformats.org/drawingml/2006/main" noGrp="1"/>
          </p:cNvSpPr>
          <p:nvPr/>
        </p:nvSpPr>
        <p:spPr>
          <a:xfrm xmlns:a="http://schemas.openxmlformats.org/drawingml/2006/main">
            <a:off x="571500" y="7000875"/>
            <a:ext cx="14097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20665B"/>
                </a:solidFill>
                <a:latin typeface="Arial"/>
                <a:ea typeface="Arial"/>
                <a:cs typeface="Arial"/>
              </a:defRPr>
            </a:pPr>
            <a:r>
              <a:rPr sz="3000" b="1">
                <a:solidFill>
                  <a:srgbClr val="20665B"/>
                </a:solidFill>
                <a:latin typeface="Arial"/>
                <a:ea typeface="Arial"/>
                <a:cs typeface="Arial"/>
              </a:rPr>
              <a:t>Bij q = 10: TK + € 10 per week, MK + € 1 per kg.</a:t>
            </a:r>
          </a:p>
        </p:txBody>
      </p:sp>
    </p:spTree>
    <p:extLst>
      <p:ext uri="{BB962C8B-B14F-4D97-AF65-F5344CB8AC3E}">
        <p14:creationId xmlns:p14="http://schemas.microsoft.com/office/powerpoint/2010/main" val="30309816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Korte controle">
            <a:extLst xmlns:a="http://schemas.openxmlformats.org/drawingml/2006/main">
              <a:ext uri="{FF2B5EF4-FFF2-40B4-BE49-F238E27FC236}">
                <a16:creationId xmlns:a16="http://schemas.microsoft.com/office/drawing/2014/main" id="{926ABB51-5133-45A6-B0CD-2541FA2E7051}"/>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Korte controle</a:t>
            </a:r>
          </a:p>
        </p:txBody>
      </p:sp>
      <p:sp>
        <p:nvSpPr>
          <p:cNvPr id="2" name="">
            <a:extLst xmlns:a="http://schemas.openxmlformats.org/drawingml/2006/main">
              <a:ext uri="{FF2B5EF4-FFF2-40B4-BE49-F238E27FC236}">
                <a16:creationId xmlns:a16="http://schemas.microsoft.com/office/drawing/2014/main" id="{9CB53CD0-EC7D-4E1A-8AE9-3BCD3939F196}"/>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18B07FA1-382C-4485-A432-951DDAFD0C1E}"/>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12">
            <a:extLst xmlns:a="http://schemas.openxmlformats.org/drawingml/2006/main">
              <a:ext uri="{FF2B5EF4-FFF2-40B4-BE49-F238E27FC236}">
                <a16:creationId xmlns:a16="http://schemas.microsoft.com/office/drawing/2014/main" id="{347A6BFA-E9ED-49E1-82E2-9715068C4DCB}"/>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12</a:t>
            </a:r>
          </a:p>
        </p:txBody>
      </p:sp>
      <p:sp>
        <p:nvSpPr>
          <p:cNvPr id="5" name="Uitlegvoorbeeld — niet uit het boek">
            <a:extLst xmlns:a="http://schemas.openxmlformats.org/drawingml/2006/main">
              <a:ext uri="{FF2B5EF4-FFF2-40B4-BE49-F238E27FC236}">
                <a16:creationId xmlns:a16="http://schemas.microsoft.com/office/drawing/2014/main" id="{3A757F14-9FED-43C2-9810-B39EB3D84287}"/>
              </a:ext>
            </a:extLst>
          </p:cNvPr>
          <p:cNvSpPr>
            <a:spLocks xmlns:a="http://schemas.openxmlformats.org/drawingml/2006/main" noGrp="1"/>
          </p:cNvSpPr>
          <p:nvPr/>
        </p:nvSpPr>
        <p:spPr>
          <a:xfrm xmlns:a="http://schemas.openxmlformats.org/drawingml/2006/main">
            <a:off x="571500" y="17240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sp>
        <p:nvSpPr>
          <p:cNvPr id="6" name="“Hogere TK betekent altijd hogere MK.”">
            <a:extLst xmlns:a="http://schemas.openxmlformats.org/drawingml/2006/main">
              <a:ext uri="{FF2B5EF4-FFF2-40B4-BE49-F238E27FC236}">
                <a16:creationId xmlns:a16="http://schemas.microsoft.com/office/drawing/2014/main" id="{1E0141E1-60A1-47E2-BBA4-29BCCDD4EABA}"/>
              </a:ext>
            </a:extLst>
          </p:cNvPr>
          <p:cNvSpPr>
            <a:spLocks xmlns:a="http://schemas.openxmlformats.org/drawingml/2006/main" noGrp="1"/>
          </p:cNvSpPr>
          <p:nvPr/>
        </p:nvSpPr>
        <p:spPr>
          <a:xfrm xmlns:a="http://schemas.openxmlformats.org/drawingml/2006/main">
            <a:off x="571500" y="300037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7658A"/>
                </a:solidFill>
                <a:latin typeface="Arial"/>
                <a:ea typeface="Arial"/>
                <a:cs typeface="Arial"/>
              </a:defRPr>
            </a:pPr>
            <a:r>
              <a:rPr sz="3900" b="1">
                <a:solidFill>
                  <a:srgbClr val="17658A"/>
                </a:solidFill>
                <a:latin typeface="Arial"/>
                <a:ea typeface="Arial"/>
                <a:cs typeface="Arial"/>
              </a:rPr>
              <a:t>“Hogere TK betekent altijd hogere MK.”</a:t>
            </a:r>
          </a:p>
        </p:txBody>
      </p:sp>
      <p:sp>
        <p:nvSpPr>
          <p:cNvPr id="7" name="Klopt dit bij Nova?&#10;Gebruik één van de twee kostenveranderin">
            <a:extLst xmlns:a="http://schemas.openxmlformats.org/drawingml/2006/main">
              <a:ext uri="{FF2B5EF4-FFF2-40B4-BE49-F238E27FC236}">
                <a16:creationId xmlns:a16="http://schemas.microsoft.com/office/drawing/2014/main" id="{C79BDF90-61A5-48FF-BCAF-D96B019F149A}"/>
              </a:ext>
            </a:extLst>
          </p:cNvPr>
          <p:cNvSpPr>
            <a:spLocks xmlns:a="http://schemas.openxmlformats.org/drawingml/2006/main" noGrp="1"/>
          </p:cNvSpPr>
          <p:nvPr/>
        </p:nvSpPr>
        <p:spPr>
          <a:xfrm xmlns:a="http://schemas.openxmlformats.org/drawingml/2006/main">
            <a:off x="571500" y="5105400"/>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Klopt dit bij Nova?</a:t>
            </a:r>
          </a:p>
          <a:p xmlns:a="http://schemas.openxmlformats.org/drawingml/2006/main">
            <a:pPr algn="l">
              <a:defRPr sz="3225" b="0">
                <a:solidFill>
                  <a:srgbClr val="183247"/>
                </a:solidFill>
                <a:latin typeface="Arial"/>
                <a:ea typeface="Arial"/>
                <a:cs typeface="Arial"/>
              </a:defRPr>
            </a:pPr>
            <a:r>
              <a:rPr sz="3225" b="0">
                <a:solidFill>
                  <a:srgbClr val="183247"/>
                </a:solidFill>
                <a:latin typeface="Arial"/>
                <a:ea typeface="Arial"/>
                <a:cs typeface="Arial"/>
              </a:rPr>
              <a:t>Gebruik één van de twee kostenveranderingen.</a:t>
            </a:r>
          </a:p>
        </p:txBody>
      </p:sp>
    </p:spTree>
    <p:extLst>
      <p:ext uri="{BB962C8B-B14F-4D97-AF65-F5344CB8AC3E}">
        <p14:creationId xmlns:p14="http://schemas.microsoft.com/office/powerpoint/2010/main" val="2803370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Waarom die uitspraak niet altijd klopt">
            <a:extLst xmlns:a="http://schemas.openxmlformats.org/drawingml/2006/main">
              <a:ext uri="{FF2B5EF4-FFF2-40B4-BE49-F238E27FC236}">
                <a16:creationId xmlns:a16="http://schemas.microsoft.com/office/drawing/2014/main" id="{804EA3BC-215E-4285-AA79-AF6799EABA4E}"/>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Waarom die uitspraak niet altijd klopt</a:t>
            </a:r>
          </a:p>
        </p:txBody>
      </p:sp>
      <p:sp>
        <p:nvSpPr>
          <p:cNvPr id="2" name="">
            <a:extLst xmlns:a="http://schemas.openxmlformats.org/drawingml/2006/main">
              <a:ext uri="{FF2B5EF4-FFF2-40B4-BE49-F238E27FC236}">
                <a16:creationId xmlns:a16="http://schemas.microsoft.com/office/drawing/2014/main" id="{BEFE382D-6AA6-4AF8-8AC0-579679D98034}"/>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7C556228-6169-4916-8C9D-261A685AEC8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13">
            <a:extLst xmlns:a="http://schemas.openxmlformats.org/drawingml/2006/main">
              <a:ext uri="{FF2B5EF4-FFF2-40B4-BE49-F238E27FC236}">
                <a16:creationId xmlns:a16="http://schemas.microsoft.com/office/drawing/2014/main" id="{0425F8E1-CC13-4637-ABC0-4BE3E573EA6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13</a:t>
            </a:r>
          </a:p>
        </p:txBody>
      </p:sp>
      <p:sp>
        <p:nvSpPr>
          <p:cNvPr id="5" name="Uitlegvoorbeeld — niet uit het boek">
            <a:extLst xmlns:a="http://schemas.openxmlformats.org/drawingml/2006/main">
              <a:ext uri="{FF2B5EF4-FFF2-40B4-BE49-F238E27FC236}">
                <a16:creationId xmlns:a16="http://schemas.microsoft.com/office/drawing/2014/main" id="{E7BAF7B3-7959-468C-B5AB-4005FA10293E}"/>
              </a:ext>
            </a:extLst>
          </p:cNvPr>
          <p:cNvSpPr>
            <a:spLocks xmlns:a="http://schemas.openxmlformats.org/drawingml/2006/main" noGrp="1"/>
          </p:cNvSpPr>
          <p:nvPr/>
        </p:nvSpPr>
        <p:spPr>
          <a:xfrm xmlns:a="http://schemas.openxmlformats.org/drawingml/2006/main">
            <a:off x="571500" y="1724025"/>
            <a:ext cx="1409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Uitlegvoorbeeld — niet uit het boek</a:t>
            </a:r>
          </a:p>
        </p:txBody>
      </p:sp>
      <p:graphicFrame>
        <p:nvGraphicFramePr>
          <p:cNvPr id="13" name=""/>
          <p:cNvGraphicFramePr/>
          <p:nvPr/>
        </p:nvGraphicFramePr>
        <p:xfrm>
          <a:off xmlns:a="http://schemas.openxmlformats.org/drawingml/2006/main" x="571500" y="2828925"/>
          <a:ext xmlns:a="http://schemas.openxmlformats.org/drawingml/2006/main" cx="14097000" cy="2933700"/>
        </p:xfrm>
        <a:graphic xmlns:a="http://schemas.openxmlformats.org/drawingml/2006/main">
          <a:graphicData uri="http://schemas.openxmlformats.org/drawingml/2006/table">
            <a:tbl>
              <a:tblPr/>
              <a:tblGrid>
                <a:gridCol w="5810250"/>
                <a:gridCol w="4191000"/>
                <a:gridCol w="4095750"/>
              </a:tblGrid>
              <a:tr h="977900">
                <a:tc>
                  <a:txBody>
                    <a:bodyPr lIns="171450" tIns="95250" rIns="152400" bIns="95250"/>
                    <a:lstStyle/>
                    <a:p>
                      <a:r>
                        <a:rPr sz="2550" b="1">
                          <a:solidFill>
                            <a:srgbClr val="FFFFFF"/>
                          </a:solidFill>
                          <a:latin typeface="Arial"/>
                          <a:ea typeface="Arial"/>
                          <a:cs typeface="Arial"/>
                        </a:rPr>
                        <a:t>Verandering bij Nova</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Effect op TK</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Effect op MK</a:t>
                      </a:r>
                    </a:p>
                  </a:txBody>
                  <a:tcPr marL="91440" marR="91440" marT="45720" marB="45720" anchor="ctr">
                    <a:solidFill>
                      <a:srgbClr val="183247"/>
                    </a:solidFill>
                  </a:tcPr>
                </a:tc>
              </a:tr>
              <a:tr h="977900">
                <a:tc>
                  <a:txBody>
                    <a:bodyPr lIns="171450" tIns="95250" rIns="152400" bIns="95250"/>
                    <a:lstStyle/>
                    <a:p>
                      <a:r>
                        <a:rPr sz="2550" b="0">
                          <a:solidFill>
                            <a:srgbClr val="183247"/>
                          </a:solidFill>
                          <a:latin typeface="Arial"/>
                          <a:ea typeface="Arial"/>
                          <a:cs typeface="Arial"/>
                        </a:rPr>
                        <a:t>Alleen constant: + € 50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 € 50 per week</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Geen verandering</a:t>
                      </a:r>
                    </a:p>
                  </a:txBody>
                  <a:tcPr marL="91440" marR="91440" marT="45720" marB="45720" anchor="ctr">
                    <a:solidFill>
                      <a:srgbClr val="FFFFFF"/>
                    </a:solidFill>
                  </a:tcPr>
                </a:tc>
              </a:tr>
              <a:tr h="977900">
                <a:tc>
                  <a:txBody>
                    <a:bodyPr lIns="171450" tIns="95250" rIns="152400" bIns="95250"/>
                    <a:lstStyle/>
                    <a:p>
                      <a:r>
                        <a:rPr sz="2550" b="0">
                          <a:solidFill>
                            <a:srgbClr val="183247"/>
                          </a:solidFill>
                          <a:latin typeface="Arial"/>
                          <a:ea typeface="Arial"/>
                          <a:cs typeface="Arial"/>
                        </a:rPr>
                        <a:t>Alleen lineair: + 1q</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q euro per week</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 € 1 per kg</a:t>
                      </a:r>
                    </a:p>
                  </a:txBody>
                  <a:tcPr marL="91440" marR="91440" marT="45720" marB="45720" anchor="ctr">
                    <a:solidFill>
                      <a:srgbClr val="EFF4F7"/>
                    </a:solidFill>
                  </a:tcPr>
                </a:tc>
              </a:tr>
            </a:tbl>
          </a:graphicData>
        </a:graphic>
      </p:graphicFrame>
      <p:sp>
        <p:nvSpPr>
          <p:cNvPr id="7" name="De oorzaak van de kostenstijging bepaalt het effect op MK.">
            <a:extLst xmlns:a="http://schemas.openxmlformats.org/drawingml/2006/main">
              <a:ext uri="{FF2B5EF4-FFF2-40B4-BE49-F238E27FC236}">
                <a16:creationId xmlns:a16="http://schemas.microsoft.com/office/drawing/2014/main" id="{7254B533-2929-42DD-BE7A-3F1DC62931C9}"/>
              </a:ext>
            </a:extLst>
          </p:cNvPr>
          <p:cNvSpPr>
            <a:spLocks xmlns:a="http://schemas.openxmlformats.org/drawingml/2006/main" noGrp="1"/>
          </p:cNvSpPr>
          <p:nvPr/>
        </p:nvSpPr>
        <p:spPr>
          <a:xfrm xmlns:a="http://schemas.openxmlformats.org/drawingml/2006/main">
            <a:off x="571500" y="6591300"/>
            <a:ext cx="14097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De oorzaak van de kostenstijging bepaalt het effect op MK.</a:t>
            </a:r>
          </a:p>
        </p:txBody>
      </p:sp>
    </p:spTree>
    <p:extLst>
      <p:ext uri="{BB962C8B-B14F-4D97-AF65-F5344CB8AC3E}">
        <p14:creationId xmlns:p14="http://schemas.microsoft.com/office/powerpoint/2010/main" val="15860691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2.2 Marginale kosten en de afgeleide">
            <a:extLst xmlns:a="http://schemas.openxmlformats.org/drawingml/2006/main">
              <a:ext uri="{FF2B5EF4-FFF2-40B4-BE49-F238E27FC236}">
                <a16:creationId xmlns:a16="http://schemas.microsoft.com/office/drawing/2014/main" id="{7C8AA631-5320-4223-9C70-73E7D2E98691}"/>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§3.2.2 Marginale kosten en de afgeleide</a:t>
            </a:r>
          </a:p>
        </p:txBody>
      </p:sp>
      <p:sp>
        <p:nvSpPr>
          <p:cNvPr id="2" name="">
            <a:extLst xmlns:a="http://schemas.openxmlformats.org/drawingml/2006/main">
              <a:ext uri="{FF2B5EF4-FFF2-40B4-BE49-F238E27FC236}">
                <a16:creationId xmlns:a16="http://schemas.microsoft.com/office/drawing/2014/main" id="{FA67B9BE-7FF0-45A2-A998-68C1D4E8F92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89A06BBA-54C7-40DD-AB11-215105F8A1A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14">
            <a:extLst xmlns:a="http://schemas.openxmlformats.org/drawingml/2006/main">
              <a:ext uri="{FF2B5EF4-FFF2-40B4-BE49-F238E27FC236}">
                <a16:creationId xmlns:a16="http://schemas.microsoft.com/office/drawing/2014/main" id="{BDDC750D-2B57-46CA-A9DB-090930DC470E}"/>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14</a:t>
            </a:r>
          </a:p>
        </p:txBody>
      </p:sp>
      <p:sp>
        <p:nvSpPr>
          <p:cNvPr id="5" name="phase">
            <a:extLst xmlns:a="http://schemas.openxmlformats.org/drawingml/2006/main">
              <a:ext uri="{FF2B5EF4-FFF2-40B4-BE49-F238E27FC236}">
                <a16:creationId xmlns:a16="http://schemas.microsoft.com/office/drawing/2014/main" id="{7DBBE3FC-502D-4AF4-9832-38147305C121}"/>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Zelfstandig werken</a:t>
            </a:r>
          </a:p>
        </p:txBody>
      </p:sp>
      <p:sp>
        <p:nvSpPr>
          <p:cNvPr id="6" name="Lesroute">
            <a:extLst xmlns:a="http://schemas.openxmlformats.org/drawingml/2006/main">
              <a:ext uri="{FF2B5EF4-FFF2-40B4-BE49-F238E27FC236}">
                <a16:creationId xmlns:a16="http://schemas.microsoft.com/office/drawing/2014/main" id="{19165088-6C53-415C-B11D-12690EC4015D}"/>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3D748286-326E-46F5-B1E3-77CF44813C1B}"/>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7B3998AB-0F7B-4310-9CA3-79CB14536912}"/>
              </a:ext>
            </a:extLst>
          </p:cNvPr>
          <p:cNvSpPr>
            <a:spLocks xmlns:a="http://schemas.openxmlformats.org/drawingml/2006/main" noGrp="1"/>
          </p:cNvSpPr>
          <p:nvPr/>
        </p:nvSpPr>
        <p:spPr>
          <a:xfrm xmlns:a="http://schemas.openxmlformats.org/drawingml/2006/main">
            <a:off x="1104900" y="2324100"/>
            <a:ext cx="7515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10D55255-7D32-4784-A830-66F78C5EC519}"/>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ED5C1E5A-08C6-484B-8B00-E2BCF3AF5B58}"/>
              </a:ext>
            </a:extLst>
          </p:cNvPr>
          <p:cNvSpPr>
            <a:spLocks xmlns:a="http://schemas.openxmlformats.org/drawingml/2006/main" noGrp="1"/>
          </p:cNvSpPr>
          <p:nvPr/>
        </p:nvSpPr>
        <p:spPr>
          <a:xfrm xmlns:a="http://schemas.openxmlformats.org/drawingml/2006/main">
            <a:off x="1104900" y="320040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1DF2780E-CD0F-4241-B881-8F42D7375CB4}"/>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2C4CE96D-CFF5-4D1D-B413-50F01EF2A493}"/>
              </a:ext>
            </a:extLst>
          </p:cNvPr>
          <p:cNvSpPr>
            <a:spLocks xmlns:a="http://schemas.openxmlformats.org/drawingml/2006/main" noGrp="1"/>
          </p:cNvSpPr>
          <p:nvPr/>
        </p:nvSpPr>
        <p:spPr>
          <a:xfrm xmlns:a="http://schemas.openxmlformats.org/drawingml/2006/main">
            <a:off x="1104900" y="371475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6649818C-589B-4684-B318-B6F8D4916C6D}"/>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EAE80990-B511-408E-B7F6-8E54AB4724FE}"/>
              </a:ext>
            </a:extLst>
          </p:cNvPr>
          <p:cNvSpPr>
            <a:spLocks xmlns:a="http://schemas.openxmlformats.org/drawingml/2006/main" noGrp="1"/>
          </p:cNvSpPr>
          <p:nvPr/>
        </p:nvSpPr>
        <p:spPr>
          <a:xfrm xmlns:a="http://schemas.openxmlformats.org/drawingml/2006/main">
            <a:off x="1104900" y="4248150"/>
            <a:ext cx="75152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AB157555-D44B-419A-B991-D36A40D2AE44}"/>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73859224-352E-4DB6-B156-6CFF5AA79F03}"/>
              </a:ext>
            </a:extLst>
          </p:cNvPr>
          <p:cNvSpPr>
            <a:spLocks xmlns:a="http://schemas.openxmlformats.org/drawingml/2006/main" noGrp="1"/>
          </p:cNvSpPr>
          <p:nvPr/>
        </p:nvSpPr>
        <p:spPr>
          <a:xfrm xmlns:a="http://schemas.openxmlformats.org/drawingml/2006/main">
            <a:off x="1104900" y="6057900"/>
            <a:ext cx="75152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3B7D5FB8-47C4-4AE7-B0AB-1B8514BA14B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8F3DFE19-1747-4E9A-A834-18074CCB20D0}"/>
              </a:ext>
            </a:extLst>
          </p:cNvPr>
          <p:cNvSpPr>
            <a:spLocks xmlns:a="http://schemas.openxmlformats.org/drawingml/2006/main" noGrp="1"/>
          </p:cNvSpPr>
          <p:nvPr/>
        </p:nvSpPr>
        <p:spPr>
          <a:xfrm xmlns:a="http://schemas.openxmlformats.org/drawingml/2006/main">
            <a:off x="1104900" y="6819900"/>
            <a:ext cx="7515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17.</a:t>
            </a:r>
          </a:p>
        </p:txBody>
      </p:sp>
      <p:sp>
        <p:nvSpPr>
          <p:cNvPr id="19" name="route-number-7">
            <a:extLst xmlns:a="http://schemas.openxmlformats.org/drawingml/2006/main">
              <a:ext uri="{FF2B5EF4-FFF2-40B4-BE49-F238E27FC236}">
                <a16:creationId xmlns:a16="http://schemas.microsoft.com/office/drawing/2014/main" id="{FD710E75-AD7F-477B-BF95-1BB837EDD06D}"/>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EC780BAB-6A74-454A-A475-7549841D6D89}"/>
              </a:ext>
            </a:extLst>
          </p:cNvPr>
          <p:cNvSpPr>
            <a:spLocks xmlns:a="http://schemas.openxmlformats.org/drawingml/2006/main" noGrp="1"/>
          </p:cNvSpPr>
          <p:nvPr/>
        </p:nvSpPr>
        <p:spPr>
          <a:xfrm xmlns:a="http://schemas.openxmlformats.org/drawingml/2006/main">
            <a:off x="1104900" y="7372350"/>
            <a:ext cx="7515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65C3D926-6908-46D8-96BA-1D0DAEBA636A}"/>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B790EF23-FA7B-46E6-9952-887CFD5BCE45}"/>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MK afleiden en uitleggen.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Punt en tabelstap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Kostenveranderingen verklaren.</a:t>
            </a:r>
          </a:p>
        </p:txBody>
      </p:sp>
      <p:sp>
        <p:nvSpPr>
          <p:cNvPr id="23" name="">
            <a:extLst xmlns:a="http://schemas.openxmlformats.org/drawingml/2006/main">
              <a:ext uri="{FF2B5EF4-FFF2-40B4-BE49-F238E27FC236}">
                <a16:creationId xmlns:a16="http://schemas.microsoft.com/office/drawing/2014/main" id="{7889AE57-C31E-46A2-8104-A4336FF5D932}"/>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069FFB64-8645-4A61-B53B-4858E84C06CE}"/>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86E3B09F-6C01-45DC-B334-71BD97177635}"/>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65 · Opgaven 11 en 12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 verkennen, theorie p. 62–64</a:t>
            </a:r>
          </a:p>
        </p:txBody>
      </p:sp>
      <p:sp>
        <p:nvSpPr>
          <p:cNvPr id="26" name="">
            <a:extLst xmlns:a="http://schemas.openxmlformats.org/drawingml/2006/main">
              <a:ext uri="{FF2B5EF4-FFF2-40B4-BE49-F238E27FC236}">
                <a16:creationId xmlns:a16="http://schemas.microsoft.com/office/drawing/2014/main" id="{E8F10724-F519-4A69-BE8E-ACA829A2AF97}"/>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610EF680-26DE-4D9B-807F-EA2D47DEE767}"/>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024D60D9-31DE-4CD7-8923-DFC103F8BF4D}"/>
              </a:ext>
            </a:extLst>
          </p:cNvPr>
          <p:cNvSpPr>
            <a:spLocks xmlns:a="http://schemas.openxmlformats.org/drawingml/2006/main" noGrp="1"/>
          </p:cNvSpPr>
          <p:nvPr/>
        </p:nvSpPr>
        <p:spPr>
          <a:xfrm xmlns:a="http://schemas.openxmlformats.org/drawingml/2006/main">
            <a:off x="9258300" y="6229350"/>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§3.2.2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Basis: 13 en 14</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Zelfstandig: 15 en 16</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Doelopgave: 17</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Maken en nakijken</a:t>
            </a:r>
          </a:p>
        </p:txBody>
      </p:sp>
    </p:spTree>
    <p:extLst>
      <p:ext uri="{BB962C8B-B14F-4D97-AF65-F5344CB8AC3E}">
        <p14:creationId xmlns:p14="http://schemas.microsoft.com/office/powerpoint/2010/main" val="29252089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7 · Zadenverpakker">
            <a:extLst xmlns:a="http://schemas.openxmlformats.org/drawingml/2006/main">
              <a:ext uri="{FF2B5EF4-FFF2-40B4-BE49-F238E27FC236}">
                <a16:creationId xmlns:a16="http://schemas.microsoft.com/office/drawing/2014/main" id="{48513DD5-C9E1-417C-A583-3C0552D7E134}"/>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 · Zadenverpakker</a:t>
            </a:r>
          </a:p>
        </p:txBody>
      </p:sp>
      <p:sp>
        <p:nvSpPr>
          <p:cNvPr id="2" name="">
            <a:extLst xmlns:a="http://schemas.openxmlformats.org/drawingml/2006/main">
              <a:ext uri="{FF2B5EF4-FFF2-40B4-BE49-F238E27FC236}">
                <a16:creationId xmlns:a16="http://schemas.microsoft.com/office/drawing/2014/main" id="{5F784230-4B60-44F5-81F2-E5570D7EBF5C}"/>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 Opgave 17 · Boekpa">
            <a:extLst xmlns:a="http://schemas.openxmlformats.org/drawingml/2006/main">
              <a:ext uri="{FF2B5EF4-FFF2-40B4-BE49-F238E27FC236}">
                <a16:creationId xmlns:a16="http://schemas.microsoft.com/office/drawing/2014/main" id="{19FAE6A0-3ADE-4271-9DAB-14452B8BDAD3}"/>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 · Opgave 17 · Boekpagina 67</a:t>
            </a:r>
          </a:p>
        </p:txBody>
      </p:sp>
      <p:sp>
        <p:nvSpPr>
          <p:cNvPr id="4" name="15">
            <a:extLst xmlns:a="http://schemas.openxmlformats.org/drawingml/2006/main">
              <a:ext uri="{FF2B5EF4-FFF2-40B4-BE49-F238E27FC236}">
                <a16:creationId xmlns:a16="http://schemas.microsoft.com/office/drawing/2014/main" id="{E3AB90A0-026E-4044-A184-5812989B651F}"/>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15</a:t>
            </a:r>
          </a:p>
        </p:txBody>
      </p:sp>
      <p:sp>
        <p:nvSpPr>
          <p:cNvPr id="5" name="Voor één week geldt:">
            <a:extLst xmlns:a="http://schemas.openxmlformats.org/drawingml/2006/main">
              <a:ext uri="{FF2B5EF4-FFF2-40B4-BE49-F238E27FC236}">
                <a16:creationId xmlns:a16="http://schemas.microsoft.com/office/drawing/2014/main" id="{34F13AD8-6E16-4D52-974E-CC61E6B3854C}"/>
              </a:ext>
            </a:extLst>
          </p:cNvPr>
          <p:cNvSpPr>
            <a:spLocks xmlns:a="http://schemas.openxmlformats.org/drawingml/2006/main" noGrp="1"/>
          </p:cNvSpPr>
          <p:nvPr/>
        </p:nvSpPr>
        <p:spPr>
          <a:xfrm xmlns:a="http://schemas.openxmlformats.org/drawingml/2006/main">
            <a:off x="571500" y="1952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1">
                <a:solidFill>
                  <a:srgbClr val="183247"/>
                </a:solidFill>
                <a:latin typeface="Arial"/>
                <a:ea typeface="Arial"/>
                <a:cs typeface="Arial"/>
              </a:defRPr>
            </a:pPr>
            <a:r>
              <a:rPr sz="2925" b="1">
                <a:solidFill>
                  <a:srgbClr val="183247"/>
                </a:solidFill>
                <a:latin typeface="Arial"/>
                <a:ea typeface="Arial"/>
                <a:cs typeface="Arial"/>
              </a:rPr>
              <a:t>Voor één week geldt:</a:t>
            </a:r>
          </a:p>
        </p:txBody>
      </p:sp>
      <p:sp>
        <p:nvSpPr>
          <p:cNvPr id="6" name="TK = 0,04q² + 4q + 400">
            <a:extLst xmlns:a="http://schemas.openxmlformats.org/drawingml/2006/main">
              <a:ext uri="{FF2B5EF4-FFF2-40B4-BE49-F238E27FC236}">
                <a16:creationId xmlns:a16="http://schemas.microsoft.com/office/drawing/2014/main" id="{3A300952-9430-4CB1-BC2E-0E01F732C023}"/>
              </a:ext>
            </a:extLst>
          </p:cNvPr>
          <p:cNvSpPr>
            <a:spLocks xmlns:a="http://schemas.openxmlformats.org/drawingml/2006/main" noGrp="1"/>
          </p:cNvSpPr>
          <p:nvPr/>
        </p:nvSpPr>
        <p:spPr>
          <a:xfrm xmlns:a="http://schemas.openxmlformats.org/drawingml/2006/main">
            <a:off x="571500" y="29527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17658A"/>
                </a:solidFill>
                <a:latin typeface="Arial"/>
                <a:ea typeface="Arial"/>
                <a:cs typeface="Arial"/>
              </a:defRPr>
            </a:pPr>
            <a:r>
              <a:rPr sz="4425" b="1">
                <a:solidFill>
                  <a:srgbClr val="17658A"/>
                </a:solidFill>
                <a:latin typeface="Arial"/>
                <a:ea typeface="Arial"/>
                <a:cs typeface="Arial"/>
              </a:rPr>
              <a:t>TK = 0,04q² + 4q + 400</a:t>
            </a:r>
          </a:p>
        </p:txBody>
      </p:sp>
      <p:sp>
        <p:nvSpPr>
          <p:cNvPr id="7" name="q is kg per week; TK is euro per week.&#10;De productiecapacitei">
            <a:extLst xmlns:a="http://schemas.openxmlformats.org/drawingml/2006/main">
              <a:ext uri="{FF2B5EF4-FFF2-40B4-BE49-F238E27FC236}">
                <a16:creationId xmlns:a16="http://schemas.microsoft.com/office/drawing/2014/main" id="{44EB0B50-E87B-48B6-A838-5C791B855C68}"/>
              </a:ext>
            </a:extLst>
          </p:cNvPr>
          <p:cNvSpPr>
            <a:spLocks xmlns:a="http://schemas.openxmlformats.org/drawingml/2006/main" noGrp="1"/>
          </p:cNvSpPr>
          <p:nvPr/>
        </p:nvSpPr>
        <p:spPr>
          <a:xfrm xmlns:a="http://schemas.openxmlformats.org/drawingml/2006/main">
            <a:off x="571500" y="4772025"/>
            <a:ext cx="1409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q is kg per week; TK is euro per week.</a:t>
            </a:r>
          </a:p>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De productiecapaciteit is 200 kg.</a:t>
            </a:r>
          </a:p>
        </p:txBody>
      </p:sp>
      <p:sp>
        <p:nvSpPr>
          <p:cNvPr id="8" name="De constante kosten blijven deze week gelijk, ook bij q = 0.">
            <a:extLst xmlns:a="http://schemas.openxmlformats.org/drawingml/2006/main">
              <a:ext uri="{FF2B5EF4-FFF2-40B4-BE49-F238E27FC236}">
                <a16:creationId xmlns:a16="http://schemas.microsoft.com/office/drawing/2014/main" id="{AF9626E3-6DE3-412E-BF4D-8CDC9F87A397}"/>
              </a:ext>
            </a:extLst>
          </p:cNvPr>
          <p:cNvSpPr>
            <a:spLocks xmlns:a="http://schemas.openxmlformats.org/drawingml/2006/main" noGrp="1"/>
          </p:cNvSpPr>
          <p:nvPr/>
        </p:nvSpPr>
        <p:spPr>
          <a:xfrm xmlns:a="http://schemas.openxmlformats.org/drawingml/2006/main">
            <a:off x="571500" y="6810375"/>
            <a:ext cx="1409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De constante kosten blijven deze week gelijk, ook bij q = 0.</a:t>
            </a:r>
          </a:p>
        </p:txBody>
      </p:sp>
    </p:spTree>
    <p:extLst>
      <p:ext uri="{BB962C8B-B14F-4D97-AF65-F5344CB8AC3E}">
        <p14:creationId xmlns:p14="http://schemas.microsoft.com/office/powerpoint/2010/main" val="149456337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pgave 17 · Deelvragen a, b en c">
            <a:extLst xmlns:a="http://schemas.openxmlformats.org/drawingml/2006/main">
              <a:ext uri="{FF2B5EF4-FFF2-40B4-BE49-F238E27FC236}">
                <a16:creationId xmlns:a16="http://schemas.microsoft.com/office/drawing/2014/main" id="{D8D1A715-7C61-497A-9E1C-4EA104C2EC68}"/>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 · Deelvragen a, b en c</a:t>
            </a:r>
          </a:p>
        </p:txBody>
      </p:sp>
      <p:sp>
        <p:nvSpPr>
          <p:cNvPr id="2" name="">
            <a:extLst xmlns:a="http://schemas.openxmlformats.org/drawingml/2006/main">
              <a:ext uri="{FF2B5EF4-FFF2-40B4-BE49-F238E27FC236}">
                <a16:creationId xmlns:a16="http://schemas.microsoft.com/office/drawing/2014/main" id="{EF56F85C-E2F6-4434-A0FB-F8B4EE902C3A}"/>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 Opgave 17 · Boekpa">
            <a:extLst xmlns:a="http://schemas.openxmlformats.org/drawingml/2006/main">
              <a:ext uri="{FF2B5EF4-FFF2-40B4-BE49-F238E27FC236}">
                <a16:creationId xmlns:a16="http://schemas.microsoft.com/office/drawing/2014/main" id="{133B5966-FBF5-433F-8432-934460A1B6B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 · Opgave 17 · Boekpagina 67</a:t>
            </a:r>
          </a:p>
        </p:txBody>
      </p:sp>
      <p:sp>
        <p:nvSpPr>
          <p:cNvPr id="4" name="16">
            <a:extLst xmlns:a="http://schemas.openxmlformats.org/drawingml/2006/main">
              <a:ext uri="{FF2B5EF4-FFF2-40B4-BE49-F238E27FC236}">
                <a16:creationId xmlns:a16="http://schemas.microsoft.com/office/drawing/2014/main" id="{CCF8D76D-C2BE-4D28-A144-B7B8F411E9D5}"/>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16</a:t>
            </a:r>
          </a:p>
        </p:txBody>
      </p:sp>
      <p:sp>
        <p:nvSpPr>
          <p:cNvPr id="5" name="a.">
            <a:extLst xmlns:a="http://schemas.openxmlformats.org/drawingml/2006/main">
              <a:ext uri="{FF2B5EF4-FFF2-40B4-BE49-F238E27FC236}">
                <a16:creationId xmlns:a16="http://schemas.microsoft.com/office/drawing/2014/main" id="{7A53CA68-9F14-48ED-82F0-0E838E2897C4}"/>
              </a:ext>
            </a:extLst>
          </p:cNvPr>
          <p:cNvSpPr>
            <a:spLocks xmlns:a="http://schemas.openxmlformats.org/drawingml/2006/main" noGrp="1"/>
          </p:cNvSpPr>
          <p:nvPr/>
        </p:nvSpPr>
        <p:spPr>
          <a:xfrm xmlns:a="http://schemas.openxmlformats.org/drawingml/2006/main">
            <a:off x="571500" y="2124075"/>
            <a:ext cx="714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a.</a:t>
            </a:r>
          </a:p>
        </p:txBody>
      </p:sp>
      <p:sp>
        <p:nvSpPr>
          <p:cNvPr id="6" name="Leid de functie MK af. Laat per term zien wat je doet.">
            <a:extLst xmlns:a="http://schemas.openxmlformats.org/drawingml/2006/main">
              <a:ext uri="{FF2B5EF4-FFF2-40B4-BE49-F238E27FC236}">
                <a16:creationId xmlns:a16="http://schemas.microsoft.com/office/drawing/2014/main" id="{1E162D68-9911-418A-AC9C-414D9A34A798}"/>
              </a:ext>
            </a:extLst>
          </p:cNvPr>
          <p:cNvSpPr>
            <a:spLocks xmlns:a="http://schemas.openxmlformats.org/drawingml/2006/main" noGrp="1"/>
          </p:cNvSpPr>
          <p:nvPr/>
        </p:nvSpPr>
        <p:spPr>
          <a:xfrm xmlns:a="http://schemas.openxmlformats.org/drawingml/2006/main">
            <a:off x="1504950" y="2124075"/>
            <a:ext cx="13049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Leid de functie MK af. Laat per term zien wat je doet.</a:t>
            </a:r>
          </a:p>
        </p:txBody>
      </p:sp>
      <p:sp>
        <p:nvSpPr>
          <p:cNvPr id="7" name="">
            <a:extLst xmlns:a="http://schemas.openxmlformats.org/drawingml/2006/main">
              <a:ext uri="{FF2B5EF4-FFF2-40B4-BE49-F238E27FC236}">
                <a16:creationId xmlns:a16="http://schemas.microsoft.com/office/drawing/2014/main" id="{AC77D133-5D11-43F7-9541-18514E03B94E}"/>
              </a:ext>
            </a:extLst>
          </p:cNvPr>
          <p:cNvSpPr>
            <a:spLocks xmlns:a="http://schemas.openxmlformats.org/drawingml/2006/main" noGrp="1"/>
          </p:cNvSpPr>
          <p:nvPr/>
        </p:nvSpPr>
        <p:spPr>
          <a:xfrm xmlns:a="http://schemas.openxmlformats.org/drawingml/2006/main">
            <a:off x="571500" y="3562350"/>
            <a:ext cx="14097000" cy="0"/>
          </a:xfrm>
          <a:prstGeom xmlns:a="http://schemas.openxmlformats.org/drawingml/2006/main" prst="line">
            <a:avLst/>
          </a:prstGeom>
          <a:ln xmlns:a="http://schemas.openxmlformats.org/drawingml/2006/main" w="19050">
            <a:solidFill>
              <a:srgbClr val="C6D2DB"/>
            </a:solidFill>
          </a:ln>
        </p:spPr>
      </p:sp>
      <p:sp>
        <p:nvSpPr>
          <p:cNvPr id="8" name="b.">
            <a:extLst xmlns:a="http://schemas.openxmlformats.org/drawingml/2006/main">
              <a:ext uri="{FF2B5EF4-FFF2-40B4-BE49-F238E27FC236}">
                <a16:creationId xmlns:a16="http://schemas.microsoft.com/office/drawing/2014/main" id="{5C742B14-F333-41D7-B6F3-E9B099C7390B}"/>
              </a:ext>
            </a:extLst>
          </p:cNvPr>
          <p:cNvSpPr>
            <a:spLocks xmlns:a="http://schemas.openxmlformats.org/drawingml/2006/main" noGrp="1"/>
          </p:cNvSpPr>
          <p:nvPr/>
        </p:nvSpPr>
        <p:spPr>
          <a:xfrm xmlns:a="http://schemas.openxmlformats.org/drawingml/2006/main">
            <a:off x="571500" y="3971925"/>
            <a:ext cx="714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b.</a:t>
            </a:r>
          </a:p>
        </p:txBody>
      </p:sp>
      <p:sp>
        <p:nvSpPr>
          <p:cNvPr id="9" name="Bereken MK bij q = 100. Geef de eenheid en leg de betekenis ">
            <a:extLst xmlns:a="http://schemas.openxmlformats.org/drawingml/2006/main">
              <a:ext uri="{FF2B5EF4-FFF2-40B4-BE49-F238E27FC236}">
                <a16:creationId xmlns:a16="http://schemas.microsoft.com/office/drawing/2014/main" id="{C39BD44D-984F-4706-A332-F604AF369A49}"/>
              </a:ext>
            </a:extLst>
          </p:cNvPr>
          <p:cNvSpPr>
            <a:spLocks xmlns:a="http://schemas.openxmlformats.org/drawingml/2006/main" noGrp="1"/>
          </p:cNvSpPr>
          <p:nvPr/>
        </p:nvSpPr>
        <p:spPr>
          <a:xfrm xmlns:a="http://schemas.openxmlformats.org/drawingml/2006/main">
            <a:off x="1504950" y="3971925"/>
            <a:ext cx="13049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MK bij q = 100. Geef de eenheid en leg de betekenis van dit bedrag uit.</a:t>
            </a:r>
          </a:p>
        </p:txBody>
      </p:sp>
      <p:sp>
        <p:nvSpPr>
          <p:cNvPr id="10" name="">
            <a:extLst xmlns:a="http://schemas.openxmlformats.org/drawingml/2006/main">
              <a:ext uri="{FF2B5EF4-FFF2-40B4-BE49-F238E27FC236}">
                <a16:creationId xmlns:a16="http://schemas.microsoft.com/office/drawing/2014/main" id="{6FADB12E-D8C9-4393-A39E-CB809D99DCCB}"/>
              </a:ext>
            </a:extLst>
          </p:cNvPr>
          <p:cNvSpPr>
            <a:spLocks xmlns:a="http://schemas.openxmlformats.org/drawingml/2006/main" noGrp="1"/>
          </p:cNvSpPr>
          <p:nvPr/>
        </p:nvSpPr>
        <p:spPr>
          <a:xfrm xmlns:a="http://schemas.openxmlformats.org/drawingml/2006/main">
            <a:off x="571500" y="5410200"/>
            <a:ext cx="14097000" cy="0"/>
          </a:xfrm>
          <a:prstGeom xmlns:a="http://schemas.openxmlformats.org/drawingml/2006/main" prst="line">
            <a:avLst/>
          </a:prstGeom>
          <a:ln xmlns:a="http://schemas.openxmlformats.org/drawingml/2006/main" w="19050">
            <a:solidFill>
              <a:srgbClr val="C6D2DB"/>
            </a:solidFill>
          </a:ln>
        </p:spPr>
      </p:sp>
      <p:sp>
        <p:nvSpPr>
          <p:cNvPr id="11" name="c.">
            <a:extLst xmlns:a="http://schemas.openxmlformats.org/drawingml/2006/main">
              <a:ext uri="{FF2B5EF4-FFF2-40B4-BE49-F238E27FC236}">
                <a16:creationId xmlns:a16="http://schemas.microsoft.com/office/drawing/2014/main" id="{BC78301B-5CBA-4D20-A57C-D79E0F893025}"/>
              </a:ext>
            </a:extLst>
          </p:cNvPr>
          <p:cNvSpPr>
            <a:spLocks xmlns:a="http://schemas.openxmlformats.org/drawingml/2006/main" noGrp="1"/>
          </p:cNvSpPr>
          <p:nvPr/>
        </p:nvSpPr>
        <p:spPr>
          <a:xfrm xmlns:a="http://schemas.openxmlformats.org/drawingml/2006/main">
            <a:off x="571500" y="5819775"/>
            <a:ext cx="71437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c.</a:t>
            </a:r>
          </a:p>
        </p:txBody>
      </p:sp>
      <p:sp>
        <p:nvSpPr>
          <p:cNvPr id="12" name="Bereken TK bij q = 100 en bij q = 150. Bereken vervolgens de">
            <a:extLst xmlns:a="http://schemas.openxmlformats.org/drawingml/2006/main">
              <a:ext uri="{FF2B5EF4-FFF2-40B4-BE49-F238E27FC236}">
                <a16:creationId xmlns:a16="http://schemas.microsoft.com/office/drawing/2014/main" id="{0C0B5B15-1F10-473F-A2ED-6F3B41A8CCBD}"/>
              </a:ext>
            </a:extLst>
          </p:cNvPr>
          <p:cNvSpPr>
            <a:spLocks xmlns:a="http://schemas.openxmlformats.org/drawingml/2006/main" noGrp="1"/>
          </p:cNvSpPr>
          <p:nvPr/>
        </p:nvSpPr>
        <p:spPr>
          <a:xfrm xmlns:a="http://schemas.openxmlformats.org/drawingml/2006/main">
            <a:off x="1504950" y="5819775"/>
            <a:ext cx="1304925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925" b="0">
                <a:solidFill>
                  <a:srgbClr val="183247"/>
                </a:solidFill>
                <a:latin typeface="Arial"/>
                <a:ea typeface="Arial"/>
                <a:cs typeface="Arial"/>
              </a:defRPr>
            </a:pPr>
            <a:r>
              <a:rPr sz="2925" b="0">
                <a:solidFill>
                  <a:srgbClr val="183247"/>
                </a:solidFill>
                <a:latin typeface="Arial"/>
                <a:ea typeface="Arial"/>
                <a:cs typeface="Arial"/>
              </a:rPr>
              <a:t>Bereken TK bij q = 100 en bij q = 150. Bereken vervolgens de gemiddelde extra kosten per kg over deze stap.</a:t>
            </a:r>
          </a:p>
        </p:txBody>
      </p:sp>
    </p:spTree>
    <p:extLst>
      <p:ext uri="{BB962C8B-B14F-4D97-AF65-F5344CB8AC3E}">
        <p14:creationId xmlns:p14="http://schemas.microsoft.com/office/powerpoint/2010/main" val="93508169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7 · Deelvragen d en e">
            <a:extLst xmlns:a="http://schemas.openxmlformats.org/drawingml/2006/main">
              <a:ext uri="{FF2B5EF4-FFF2-40B4-BE49-F238E27FC236}">
                <a16:creationId xmlns:a16="http://schemas.microsoft.com/office/drawing/2014/main" id="{9E0E23A3-281C-4D05-BDA6-9BC2BD4B326C}"/>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 · Deelvragen d en e</a:t>
            </a:r>
          </a:p>
        </p:txBody>
      </p:sp>
      <p:sp>
        <p:nvSpPr>
          <p:cNvPr id="2" name="">
            <a:extLst xmlns:a="http://schemas.openxmlformats.org/drawingml/2006/main">
              <a:ext uri="{FF2B5EF4-FFF2-40B4-BE49-F238E27FC236}">
                <a16:creationId xmlns:a16="http://schemas.microsoft.com/office/drawing/2014/main" id="{27D46B82-5390-4343-BDF1-1B3FEAF49BAF}"/>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 Opgave 17 · Boekpa">
            <a:extLst xmlns:a="http://schemas.openxmlformats.org/drawingml/2006/main">
              <a:ext uri="{FF2B5EF4-FFF2-40B4-BE49-F238E27FC236}">
                <a16:creationId xmlns:a16="http://schemas.microsoft.com/office/drawing/2014/main" id="{F50078CD-BEAF-4BC4-A0B8-11ACA03EAEE5}"/>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 · Opgave 17 · Boekpagina 67</a:t>
            </a:r>
          </a:p>
        </p:txBody>
      </p:sp>
      <p:sp>
        <p:nvSpPr>
          <p:cNvPr id="4" name="17">
            <a:extLst xmlns:a="http://schemas.openxmlformats.org/drawingml/2006/main">
              <a:ext uri="{FF2B5EF4-FFF2-40B4-BE49-F238E27FC236}">
                <a16:creationId xmlns:a16="http://schemas.microsoft.com/office/drawing/2014/main" id="{66605350-43C9-4742-A28E-F6177947211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17</a:t>
            </a:r>
          </a:p>
        </p:txBody>
      </p:sp>
      <p:sp>
        <p:nvSpPr>
          <p:cNvPr id="5" name="d.">
            <a:extLst xmlns:a="http://schemas.openxmlformats.org/drawingml/2006/main">
              <a:ext uri="{FF2B5EF4-FFF2-40B4-BE49-F238E27FC236}">
                <a16:creationId xmlns:a16="http://schemas.microsoft.com/office/drawing/2014/main" id="{120443D2-DA3C-4515-98E3-8AAEBF911E37}"/>
              </a:ext>
            </a:extLst>
          </p:cNvPr>
          <p:cNvSpPr>
            <a:spLocks xmlns:a="http://schemas.openxmlformats.org/drawingml/2006/main" noGrp="1"/>
          </p:cNvSpPr>
          <p:nvPr/>
        </p:nvSpPr>
        <p:spPr>
          <a:xfrm xmlns:a="http://schemas.openxmlformats.org/drawingml/2006/main">
            <a:off x="571500" y="2362200"/>
            <a:ext cx="7143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d.</a:t>
            </a:r>
          </a:p>
        </p:txBody>
      </p:sp>
      <p:sp>
        <p:nvSpPr>
          <p:cNvPr id="6" name="Waarom is de uitkomst van c niet gelijk aan MK bij q = 100? ">
            <a:extLst xmlns:a="http://schemas.openxmlformats.org/drawingml/2006/main">
              <a:ext uri="{FF2B5EF4-FFF2-40B4-BE49-F238E27FC236}">
                <a16:creationId xmlns:a16="http://schemas.microsoft.com/office/drawing/2014/main" id="{A1C1E11F-E6AA-4B75-B6E4-145F35E6BDF3}"/>
              </a:ext>
            </a:extLst>
          </p:cNvPr>
          <p:cNvSpPr>
            <a:spLocks xmlns:a="http://schemas.openxmlformats.org/drawingml/2006/main" noGrp="1"/>
          </p:cNvSpPr>
          <p:nvPr/>
        </p:nvSpPr>
        <p:spPr>
          <a:xfrm xmlns:a="http://schemas.openxmlformats.org/drawingml/2006/main">
            <a:off x="1504950" y="2362200"/>
            <a:ext cx="130492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Waarom is de uitkomst van c niet gelijk aan MK bij q = 100? Gebruik wat beide bedragen meten.</a:t>
            </a:r>
          </a:p>
        </p:txBody>
      </p:sp>
      <p:sp>
        <p:nvSpPr>
          <p:cNvPr id="7" name="">
            <a:extLst xmlns:a="http://schemas.openxmlformats.org/drawingml/2006/main">
              <a:ext uri="{FF2B5EF4-FFF2-40B4-BE49-F238E27FC236}">
                <a16:creationId xmlns:a16="http://schemas.microsoft.com/office/drawing/2014/main" id="{19B8E22D-9946-41E2-B40C-6D49E9B97BBD}"/>
              </a:ext>
            </a:extLst>
          </p:cNvPr>
          <p:cNvSpPr>
            <a:spLocks xmlns:a="http://schemas.openxmlformats.org/drawingml/2006/main" noGrp="1"/>
          </p:cNvSpPr>
          <p:nvPr/>
        </p:nvSpPr>
        <p:spPr>
          <a:xfrm xmlns:a="http://schemas.openxmlformats.org/drawingml/2006/main">
            <a:off x="571500" y="4476750"/>
            <a:ext cx="14097000" cy="0"/>
          </a:xfrm>
          <a:prstGeom xmlns:a="http://schemas.openxmlformats.org/drawingml/2006/main" prst="line">
            <a:avLst/>
          </a:prstGeom>
          <a:ln xmlns:a="http://schemas.openxmlformats.org/drawingml/2006/main" w="19050">
            <a:solidFill>
              <a:srgbClr val="C6D2DB"/>
            </a:solidFill>
          </a:ln>
        </p:spPr>
      </p:sp>
      <p:sp>
        <p:nvSpPr>
          <p:cNvPr id="8" name="e.">
            <a:extLst xmlns:a="http://schemas.openxmlformats.org/drawingml/2006/main">
              <a:ext uri="{FF2B5EF4-FFF2-40B4-BE49-F238E27FC236}">
                <a16:creationId xmlns:a16="http://schemas.microsoft.com/office/drawing/2014/main" id="{2AF61BA4-1A44-41BC-9046-0F38141B9D75}"/>
              </a:ext>
            </a:extLst>
          </p:cNvPr>
          <p:cNvSpPr>
            <a:spLocks xmlns:a="http://schemas.openxmlformats.org/drawingml/2006/main" noGrp="1"/>
          </p:cNvSpPr>
          <p:nvPr/>
        </p:nvSpPr>
        <p:spPr>
          <a:xfrm xmlns:a="http://schemas.openxmlformats.org/drawingml/2006/main">
            <a:off x="571500" y="5095875"/>
            <a:ext cx="71437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17658A"/>
                </a:solidFill>
                <a:latin typeface="Arial"/>
                <a:ea typeface="Arial"/>
                <a:cs typeface="Arial"/>
              </a:defRPr>
            </a:pPr>
            <a:r>
              <a:rPr sz="3075" b="1">
                <a:solidFill>
                  <a:srgbClr val="17658A"/>
                </a:solidFill>
                <a:latin typeface="Arial"/>
                <a:ea typeface="Arial"/>
                <a:cs typeface="Arial"/>
              </a:rPr>
              <a:t>e.</a:t>
            </a:r>
          </a:p>
        </p:txBody>
      </p:sp>
      <p:sp>
        <p:nvSpPr>
          <p:cNvPr id="9" name="Alleen de constante kosten stijgen met € 100. Wat gebeurt er">
            <a:extLst xmlns:a="http://schemas.openxmlformats.org/drawingml/2006/main">
              <a:ext uri="{FF2B5EF4-FFF2-40B4-BE49-F238E27FC236}">
                <a16:creationId xmlns:a16="http://schemas.microsoft.com/office/drawing/2014/main" id="{A13E2409-4445-48FA-9CE7-E3AF9924B9B9}"/>
              </a:ext>
            </a:extLst>
          </p:cNvPr>
          <p:cNvSpPr>
            <a:spLocks xmlns:a="http://schemas.openxmlformats.org/drawingml/2006/main" noGrp="1"/>
          </p:cNvSpPr>
          <p:nvPr/>
        </p:nvSpPr>
        <p:spPr>
          <a:xfrm xmlns:a="http://schemas.openxmlformats.org/drawingml/2006/main">
            <a:off x="1504950" y="5095875"/>
            <a:ext cx="13049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0">
                <a:solidFill>
                  <a:srgbClr val="183247"/>
                </a:solidFill>
                <a:latin typeface="Arial"/>
                <a:ea typeface="Arial"/>
                <a:cs typeface="Arial"/>
              </a:defRPr>
            </a:pPr>
            <a:r>
              <a:rPr sz="3075" b="0">
                <a:solidFill>
                  <a:srgbClr val="183247"/>
                </a:solidFill>
                <a:latin typeface="Arial"/>
                <a:ea typeface="Arial"/>
                <a:cs typeface="Arial"/>
              </a:rPr>
              <a:t>Alleen de constante kosten stijgen met € 100. Wat gebeurt er met de MK-functie en met TK bij q = 100? Verklaar.</a:t>
            </a:r>
          </a:p>
        </p:txBody>
      </p:sp>
    </p:spTree>
    <p:extLst>
      <p:ext uri="{BB962C8B-B14F-4D97-AF65-F5344CB8AC3E}">
        <p14:creationId xmlns:p14="http://schemas.microsoft.com/office/powerpoint/2010/main" val="136719859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7a · MK afleiden">
            <a:extLst xmlns:a="http://schemas.openxmlformats.org/drawingml/2006/main">
              <a:ext uri="{FF2B5EF4-FFF2-40B4-BE49-F238E27FC236}">
                <a16:creationId xmlns:a16="http://schemas.microsoft.com/office/drawing/2014/main" id="{15EE8733-555C-462C-A4FC-39303105748D}"/>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17a · MK afleiden</a:t>
            </a:r>
          </a:p>
        </p:txBody>
      </p:sp>
      <p:sp>
        <p:nvSpPr>
          <p:cNvPr id="2" name="">
            <a:extLst xmlns:a="http://schemas.openxmlformats.org/drawingml/2006/main">
              <a:ext uri="{FF2B5EF4-FFF2-40B4-BE49-F238E27FC236}">
                <a16:creationId xmlns:a16="http://schemas.microsoft.com/office/drawing/2014/main" id="{5BE757BA-DF83-406F-A077-A1054709B2C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 Opgave 17 · Boekpa">
            <a:extLst xmlns:a="http://schemas.openxmlformats.org/drawingml/2006/main">
              <a:ext uri="{FF2B5EF4-FFF2-40B4-BE49-F238E27FC236}">
                <a16:creationId xmlns:a16="http://schemas.microsoft.com/office/drawing/2014/main" id="{B3402CDE-4A91-4B84-A8C1-E229D3FD1CB7}"/>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 · Opgave 17 · Boekpagina 67</a:t>
            </a:r>
          </a:p>
        </p:txBody>
      </p:sp>
      <p:sp>
        <p:nvSpPr>
          <p:cNvPr id="4" name="18">
            <a:extLst xmlns:a="http://schemas.openxmlformats.org/drawingml/2006/main">
              <a:ext uri="{FF2B5EF4-FFF2-40B4-BE49-F238E27FC236}">
                <a16:creationId xmlns:a16="http://schemas.microsoft.com/office/drawing/2014/main" id="{CE699AE5-3DEC-48A5-B3FF-41490194361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18</a:t>
            </a:r>
          </a:p>
        </p:txBody>
      </p:sp>
      <p:sp>
        <p:nvSpPr>
          <p:cNvPr id="5" name="TK = 0,04q² + 4q + 400">
            <a:extLst xmlns:a="http://schemas.openxmlformats.org/drawingml/2006/main">
              <a:ext uri="{FF2B5EF4-FFF2-40B4-BE49-F238E27FC236}">
                <a16:creationId xmlns:a16="http://schemas.microsoft.com/office/drawing/2014/main" id="{B5AFDF80-BC73-4B0C-A49F-A033B523984C}"/>
              </a:ext>
            </a:extLst>
          </p:cNvPr>
          <p:cNvSpPr>
            <a:spLocks xmlns:a="http://schemas.openxmlformats.org/drawingml/2006/main" noGrp="1"/>
          </p:cNvSpPr>
          <p:nvPr/>
        </p:nvSpPr>
        <p:spPr>
          <a:xfrm xmlns:a="http://schemas.openxmlformats.org/drawingml/2006/main">
            <a:off x="571500" y="2019300"/>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83247"/>
                </a:solidFill>
                <a:latin typeface="Arial"/>
                <a:ea typeface="Arial"/>
                <a:cs typeface="Arial"/>
              </a:defRPr>
            </a:pPr>
            <a:r>
              <a:rPr sz="3300" b="1">
                <a:solidFill>
                  <a:srgbClr val="183247"/>
                </a:solidFill>
                <a:latin typeface="Arial"/>
                <a:ea typeface="Arial"/>
                <a:cs typeface="Arial"/>
              </a:rPr>
              <a:t>TK = 0,04q² + 4q + 400</a:t>
            </a:r>
          </a:p>
        </p:txBody>
      </p:sp>
      <p:graphicFrame>
        <p:nvGraphicFramePr>
          <p:cNvPr id="13" name=""/>
          <p:cNvGraphicFramePr/>
          <p:nvPr/>
        </p:nvGraphicFramePr>
        <p:xfrm>
          <a:off xmlns:a="http://schemas.openxmlformats.org/drawingml/2006/main" x="571500" y="3171825"/>
          <a:ext xmlns:a="http://schemas.openxmlformats.org/drawingml/2006/main" cx="14097000" cy="3048000"/>
        </p:xfrm>
        <a:graphic xmlns:a="http://schemas.openxmlformats.org/drawingml/2006/main">
          <a:graphicData uri="http://schemas.openxmlformats.org/drawingml/2006/table">
            <a:tbl>
              <a:tblPr/>
              <a:tblGrid>
                <a:gridCol w="3429000"/>
                <a:gridCol w="6667500"/>
                <a:gridCol w="4000500"/>
              </a:tblGrid>
              <a:tr h="762000">
                <a:tc>
                  <a:txBody>
                    <a:bodyPr lIns="171450" tIns="95250" rIns="152400" bIns="95250"/>
                    <a:lstStyle/>
                    <a:p>
                      <a:r>
                        <a:rPr sz="2625" b="1">
                          <a:solidFill>
                            <a:srgbClr val="FFFFFF"/>
                          </a:solidFill>
                          <a:latin typeface="Arial"/>
                          <a:ea typeface="Arial"/>
                          <a:cs typeface="Arial"/>
                        </a:rPr>
                        <a:t>Term in TK</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Bewerking</a:t>
                      </a:r>
                    </a:p>
                  </a:txBody>
                  <a:tcPr marL="91440" marR="91440" marT="45720" marB="45720" anchor="ctr">
                    <a:solidFill>
                      <a:srgbClr val="183247"/>
                    </a:solidFill>
                  </a:tcPr>
                </a:tc>
                <a:tc>
                  <a:txBody>
                    <a:bodyPr lIns="171450" tIns="95250" rIns="152400" bIns="95250"/>
                    <a:lstStyle/>
                    <a:p>
                      <a:r>
                        <a:rPr sz="2625" b="1">
                          <a:solidFill>
                            <a:srgbClr val="FFFFFF"/>
                          </a:solidFill>
                          <a:latin typeface="Arial"/>
                          <a:ea typeface="Arial"/>
                          <a:cs typeface="Arial"/>
                        </a:rPr>
                        <a:t>Bijdrage aan MK</a:t>
                      </a:r>
                    </a:p>
                  </a:txBody>
                  <a:tcPr marL="91440" marR="91440" marT="45720" marB="45720" anchor="ctr">
                    <a:solidFill>
                      <a:srgbClr val="183247"/>
                    </a:solidFill>
                  </a:tcPr>
                </a:tc>
              </a:tr>
              <a:tr h="762000">
                <a:tc>
                  <a:txBody>
                    <a:bodyPr lIns="171450" tIns="95250" rIns="152400" bIns="95250"/>
                    <a:lstStyle/>
                    <a:p>
                      <a:r>
                        <a:rPr sz="2625" b="0">
                          <a:solidFill>
                            <a:srgbClr val="183247"/>
                          </a:solidFill>
                          <a:latin typeface="Arial"/>
                          <a:ea typeface="Arial"/>
                          <a:cs typeface="Arial"/>
                        </a:rPr>
                        <a:t>0,04q²</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2 × 0,04 × q</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0,08q</a:t>
                      </a:r>
                    </a:p>
                  </a:txBody>
                  <a:tcPr marL="91440" marR="91440" marT="45720" marB="45720" anchor="ctr">
                    <a:solidFill>
                      <a:srgbClr val="FFFFFF"/>
                    </a:solidFill>
                  </a:tcPr>
                </a:tc>
              </a:tr>
              <a:tr h="762000">
                <a:tc>
                  <a:txBody>
                    <a:bodyPr lIns="171450" tIns="95250" rIns="152400" bIns="95250"/>
                    <a:lstStyle/>
                    <a:p>
                      <a:r>
                        <a:rPr sz="2625" b="0">
                          <a:solidFill>
                            <a:srgbClr val="183247"/>
                          </a:solidFill>
                          <a:latin typeface="Arial"/>
                          <a:ea typeface="Arial"/>
                          <a:cs typeface="Arial"/>
                        </a:rPr>
                        <a:t>4q</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4 per extra kg</a:t>
                      </a:r>
                    </a:p>
                  </a:txBody>
                  <a:tcPr marL="91440" marR="91440" marT="45720" marB="45720" anchor="ctr">
                    <a:solidFill>
                      <a:srgbClr val="EFF4F7"/>
                    </a:solidFill>
                  </a:tcPr>
                </a:tc>
                <a:tc>
                  <a:txBody>
                    <a:bodyPr lIns="171450" tIns="95250" rIns="152400" bIns="95250"/>
                    <a:lstStyle/>
                    <a:p>
                      <a:r>
                        <a:rPr sz="2625" b="0">
                          <a:solidFill>
                            <a:srgbClr val="183247"/>
                          </a:solidFill>
                          <a:latin typeface="Arial"/>
                          <a:ea typeface="Arial"/>
                          <a:cs typeface="Arial"/>
                        </a:rPr>
                        <a:t>4</a:t>
                      </a:r>
                    </a:p>
                  </a:txBody>
                  <a:tcPr marL="91440" marR="91440" marT="45720" marB="45720" anchor="ctr">
                    <a:solidFill>
                      <a:srgbClr val="EFF4F7"/>
                    </a:solidFill>
                  </a:tcPr>
                </a:tc>
              </a:tr>
              <a:tr h="762000">
                <a:tc>
                  <a:txBody>
                    <a:bodyPr lIns="171450" tIns="95250" rIns="152400" bIns="95250"/>
                    <a:lstStyle/>
                    <a:p>
                      <a:r>
                        <a:rPr sz="2625" b="0">
                          <a:solidFill>
                            <a:srgbClr val="183247"/>
                          </a:solidFill>
                          <a:latin typeface="Arial"/>
                          <a:ea typeface="Arial"/>
                          <a:cs typeface="Arial"/>
                        </a:rPr>
                        <a:t>400</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Geen verandering door meer q</a:t>
                      </a:r>
                    </a:p>
                  </a:txBody>
                  <a:tcPr marL="91440" marR="91440" marT="45720" marB="45720" anchor="ctr">
                    <a:solidFill>
                      <a:srgbClr val="FFFFFF"/>
                    </a:solidFill>
                  </a:tcPr>
                </a:tc>
                <a:tc>
                  <a:txBody>
                    <a:bodyPr lIns="171450" tIns="95250" rIns="152400" bIns="95250"/>
                    <a:lstStyle/>
                    <a:p>
                      <a:r>
                        <a:rPr sz="2625" b="0">
                          <a:solidFill>
                            <a:srgbClr val="183247"/>
                          </a:solidFill>
                          <a:latin typeface="Arial"/>
                          <a:ea typeface="Arial"/>
                          <a:cs typeface="Arial"/>
                        </a:rPr>
                        <a:t>0</a:t>
                      </a:r>
                    </a:p>
                  </a:txBody>
                  <a:tcPr marL="91440" marR="91440" marT="45720" marB="45720" anchor="ctr">
                    <a:solidFill>
                      <a:srgbClr val="FFFFFF"/>
                    </a:solidFill>
                  </a:tcPr>
                </a:tc>
              </a:tr>
            </a:tbl>
          </a:graphicData>
        </a:graphic>
      </p:graphicFrame>
      <p:sp>
        <p:nvSpPr>
          <p:cNvPr id="7" name="MK = 0,08q + 4">
            <a:extLst xmlns:a="http://schemas.openxmlformats.org/drawingml/2006/main">
              <a:ext uri="{FF2B5EF4-FFF2-40B4-BE49-F238E27FC236}">
                <a16:creationId xmlns:a16="http://schemas.microsoft.com/office/drawing/2014/main" id="{3DFE5500-D198-4ACB-9F05-9FBE5F8B6E57}"/>
              </a:ext>
            </a:extLst>
          </p:cNvPr>
          <p:cNvSpPr>
            <a:spLocks xmlns:a="http://schemas.openxmlformats.org/drawingml/2006/main" noGrp="1"/>
          </p:cNvSpPr>
          <p:nvPr/>
        </p:nvSpPr>
        <p:spPr>
          <a:xfrm xmlns:a="http://schemas.openxmlformats.org/drawingml/2006/main">
            <a:off x="571500" y="68580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350" b="1">
                <a:solidFill>
                  <a:srgbClr val="A94D16"/>
                </a:solidFill>
                <a:latin typeface="Arial"/>
                <a:ea typeface="Arial"/>
                <a:cs typeface="Arial"/>
              </a:defRPr>
            </a:pPr>
            <a:r>
              <a:rPr sz="4350" b="1">
                <a:solidFill>
                  <a:srgbClr val="A94D16"/>
                </a:solidFill>
                <a:latin typeface="Arial"/>
                <a:ea typeface="Arial"/>
                <a:cs typeface="Arial"/>
              </a:rPr>
              <a:t>MK = 0,08q + 4</a:t>
            </a:r>
          </a:p>
        </p:txBody>
      </p:sp>
    </p:spTree>
    <p:extLst>
      <p:ext uri="{BB962C8B-B14F-4D97-AF65-F5344CB8AC3E}">
        <p14:creationId xmlns:p14="http://schemas.microsoft.com/office/powerpoint/2010/main" val="134491556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Opgave 17b · MK bij 100 kg">
            <a:extLst xmlns:a="http://schemas.openxmlformats.org/drawingml/2006/main">
              <a:ext uri="{FF2B5EF4-FFF2-40B4-BE49-F238E27FC236}">
                <a16:creationId xmlns:a16="http://schemas.microsoft.com/office/drawing/2014/main" id="{4BA8025F-DBE0-449E-BC64-0F578791ABFC}"/>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17b · MK bij 100 kg</a:t>
            </a:r>
          </a:p>
        </p:txBody>
      </p:sp>
      <p:sp>
        <p:nvSpPr>
          <p:cNvPr id="2" name="">
            <a:extLst xmlns:a="http://schemas.openxmlformats.org/drawingml/2006/main">
              <a:ext uri="{FF2B5EF4-FFF2-40B4-BE49-F238E27FC236}">
                <a16:creationId xmlns:a16="http://schemas.microsoft.com/office/drawing/2014/main" id="{ADF5371B-8DC4-4CC9-A87D-81918B97818D}"/>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 Opgave 17 · Boekpa">
            <a:extLst xmlns:a="http://schemas.openxmlformats.org/drawingml/2006/main">
              <a:ext uri="{FF2B5EF4-FFF2-40B4-BE49-F238E27FC236}">
                <a16:creationId xmlns:a16="http://schemas.microsoft.com/office/drawing/2014/main" id="{20D34234-F141-4607-813D-BE21DA54C596}"/>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 · Opgave 17 · Boekpagina 67</a:t>
            </a:r>
          </a:p>
        </p:txBody>
      </p:sp>
      <p:sp>
        <p:nvSpPr>
          <p:cNvPr id="4" name="19">
            <a:extLst xmlns:a="http://schemas.openxmlformats.org/drawingml/2006/main">
              <a:ext uri="{FF2B5EF4-FFF2-40B4-BE49-F238E27FC236}">
                <a16:creationId xmlns:a16="http://schemas.microsoft.com/office/drawing/2014/main" id="{8557B09B-C1E0-421F-937C-D170719FBFA0}"/>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19</a:t>
            </a:r>
          </a:p>
        </p:txBody>
      </p:sp>
      <p:sp>
        <p:nvSpPr>
          <p:cNvPr id="5" name="MK(q) = 0,08q + 4">
            <a:extLst xmlns:a="http://schemas.openxmlformats.org/drawingml/2006/main">
              <a:ext uri="{FF2B5EF4-FFF2-40B4-BE49-F238E27FC236}">
                <a16:creationId xmlns:a16="http://schemas.microsoft.com/office/drawing/2014/main" id="{8B74D80C-602A-4779-A9F9-23E848FE1FEF}"/>
              </a:ext>
            </a:extLst>
          </p:cNvPr>
          <p:cNvSpPr>
            <a:spLocks xmlns:a="http://schemas.openxmlformats.org/drawingml/2006/main" noGrp="1"/>
          </p:cNvSpPr>
          <p:nvPr/>
        </p:nvSpPr>
        <p:spPr>
          <a:xfrm xmlns:a="http://schemas.openxmlformats.org/drawingml/2006/main">
            <a:off x="571500" y="223837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MK(q) = 0,08q + 4</a:t>
            </a:r>
          </a:p>
        </p:txBody>
      </p:sp>
      <p:sp>
        <p:nvSpPr>
          <p:cNvPr id="6" name="MK(100) = 0,08 × 100 + 4">
            <a:extLst xmlns:a="http://schemas.openxmlformats.org/drawingml/2006/main">
              <a:ext uri="{FF2B5EF4-FFF2-40B4-BE49-F238E27FC236}">
                <a16:creationId xmlns:a16="http://schemas.microsoft.com/office/drawing/2014/main" id="{20455408-CB4F-470F-86DE-5412B1D3104A}"/>
              </a:ext>
            </a:extLst>
          </p:cNvPr>
          <p:cNvSpPr>
            <a:spLocks xmlns:a="http://schemas.openxmlformats.org/drawingml/2006/main" noGrp="1"/>
          </p:cNvSpPr>
          <p:nvPr/>
        </p:nvSpPr>
        <p:spPr>
          <a:xfrm xmlns:a="http://schemas.openxmlformats.org/drawingml/2006/main">
            <a:off x="571500" y="34480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183247"/>
                </a:solidFill>
                <a:latin typeface="Arial"/>
                <a:ea typeface="Arial"/>
                <a:cs typeface="Arial"/>
              </a:defRPr>
            </a:pPr>
            <a:r>
              <a:rPr sz="3900" b="1">
                <a:solidFill>
                  <a:srgbClr val="183247"/>
                </a:solidFill>
                <a:latin typeface="Arial"/>
                <a:ea typeface="Arial"/>
                <a:cs typeface="Arial"/>
              </a:rPr>
              <a:t>MK(100) = 0,08 × 100 + 4</a:t>
            </a:r>
          </a:p>
        </p:txBody>
      </p:sp>
      <p:sp>
        <p:nvSpPr>
          <p:cNvPr id="7" name="= € 12 per kg">
            <a:extLst xmlns:a="http://schemas.openxmlformats.org/drawingml/2006/main">
              <a:ext uri="{FF2B5EF4-FFF2-40B4-BE49-F238E27FC236}">
                <a16:creationId xmlns:a16="http://schemas.microsoft.com/office/drawing/2014/main" id="{1182E3CD-771F-4DA5-BC0C-9BC103CF3CB4}"/>
              </a:ext>
            </a:extLst>
          </p:cNvPr>
          <p:cNvSpPr>
            <a:spLocks xmlns:a="http://schemas.openxmlformats.org/drawingml/2006/main" noGrp="1"/>
          </p:cNvSpPr>
          <p:nvPr/>
        </p:nvSpPr>
        <p:spPr>
          <a:xfrm xmlns:a="http://schemas.openxmlformats.org/drawingml/2006/main">
            <a:off x="571500" y="4810125"/>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A94D16"/>
                </a:solidFill>
                <a:latin typeface="Arial"/>
                <a:ea typeface="Arial"/>
                <a:cs typeface="Arial"/>
              </a:defRPr>
            </a:pPr>
            <a:r>
              <a:rPr sz="4950" b="1">
                <a:solidFill>
                  <a:srgbClr val="A94D16"/>
                </a:solidFill>
                <a:latin typeface="Arial"/>
                <a:ea typeface="Arial"/>
                <a:cs typeface="Arial"/>
              </a:rPr>
              <a:t>= € 12 per kg</a:t>
            </a:r>
          </a:p>
        </p:txBody>
      </p:sp>
      <p:sp>
        <p:nvSpPr>
          <p:cNvPr id="8" name="De extra kostenwaarde per kg bij een zeer kleine uitbreiding">
            <a:extLst xmlns:a="http://schemas.openxmlformats.org/drawingml/2006/main">
              <a:ext uri="{FF2B5EF4-FFF2-40B4-BE49-F238E27FC236}">
                <a16:creationId xmlns:a16="http://schemas.microsoft.com/office/drawing/2014/main" id="{49A8872F-09C5-4BC6-97E3-C376A3BB059A}"/>
              </a:ext>
            </a:extLst>
          </p:cNvPr>
          <p:cNvSpPr>
            <a:spLocks xmlns:a="http://schemas.openxmlformats.org/drawingml/2006/main" noGrp="1"/>
          </p:cNvSpPr>
          <p:nvPr/>
        </p:nvSpPr>
        <p:spPr>
          <a:xfrm xmlns:a="http://schemas.openxmlformats.org/drawingml/2006/main">
            <a:off x="571500" y="6477000"/>
            <a:ext cx="14097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De extra kostenwaarde per kg bij een zeer kleine uitbreiding</a:t>
            </a:r>
          </a:p>
          <a:p xmlns:a="http://schemas.openxmlformats.org/drawingml/2006/main">
            <a:pPr algn="l">
              <a:defRPr sz="3000" b="1">
                <a:solidFill>
                  <a:srgbClr val="183247"/>
                </a:solidFill>
                <a:latin typeface="Arial"/>
                <a:ea typeface="Arial"/>
                <a:cs typeface="Arial"/>
              </a:defRPr>
            </a:pPr>
            <a:r>
              <a:rPr sz="3000" b="1">
                <a:solidFill>
                  <a:srgbClr val="183247"/>
                </a:solidFill>
                <a:latin typeface="Arial"/>
                <a:ea typeface="Arial"/>
                <a:cs typeface="Arial"/>
              </a:rPr>
              <a:t>rond 100 kg per week.</a:t>
            </a:r>
          </a:p>
        </p:txBody>
      </p:sp>
    </p:spTree>
    <p:extLst>
      <p:ext uri="{BB962C8B-B14F-4D97-AF65-F5344CB8AC3E}">
        <p14:creationId xmlns:p14="http://schemas.microsoft.com/office/powerpoint/2010/main" val="105233625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Opgave 17c · Eerst de totale kosten">
            <a:extLst xmlns:a="http://schemas.openxmlformats.org/drawingml/2006/main">
              <a:ext uri="{FF2B5EF4-FFF2-40B4-BE49-F238E27FC236}">
                <a16:creationId xmlns:a16="http://schemas.microsoft.com/office/drawing/2014/main" id="{BD1BEEA4-573C-493E-85A8-ECB1F2B222FF}"/>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17c · Eerst de totale kosten</a:t>
            </a:r>
          </a:p>
        </p:txBody>
      </p:sp>
      <p:sp>
        <p:nvSpPr>
          <p:cNvPr id="2" name="">
            <a:extLst xmlns:a="http://schemas.openxmlformats.org/drawingml/2006/main">
              <a:ext uri="{FF2B5EF4-FFF2-40B4-BE49-F238E27FC236}">
                <a16:creationId xmlns:a16="http://schemas.microsoft.com/office/drawing/2014/main" id="{58E9B504-4E64-443A-AF70-949CDD273135}"/>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 Opgave 17 · Boekpa">
            <a:extLst xmlns:a="http://schemas.openxmlformats.org/drawingml/2006/main">
              <a:ext uri="{FF2B5EF4-FFF2-40B4-BE49-F238E27FC236}">
                <a16:creationId xmlns:a16="http://schemas.microsoft.com/office/drawing/2014/main" id="{14C3DB6C-5C55-4E0C-826E-C7572F67649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 · Opgave 17 · Boekpagina 67</a:t>
            </a:r>
          </a:p>
        </p:txBody>
      </p:sp>
      <p:sp>
        <p:nvSpPr>
          <p:cNvPr id="4" name="20">
            <a:extLst xmlns:a="http://schemas.openxmlformats.org/drawingml/2006/main">
              <a:ext uri="{FF2B5EF4-FFF2-40B4-BE49-F238E27FC236}">
                <a16:creationId xmlns:a16="http://schemas.microsoft.com/office/drawing/2014/main" id="{278ED0B8-781E-4ACC-BB7A-3ACFE7E0ECE4}"/>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20</a:t>
            </a:r>
          </a:p>
        </p:txBody>
      </p:sp>
      <p:sp>
        <p:nvSpPr>
          <p:cNvPr id="5" name="TK = 0,04q² + 4q + 400">
            <a:extLst xmlns:a="http://schemas.openxmlformats.org/drawingml/2006/main">
              <a:ext uri="{FF2B5EF4-FFF2-40B4-BE49-F238E27FC236}">
                <a16:creationId xmlns:a16="http://schemas.microsoft.com/office/drawing/2014/main" id="{078854AD-942C-4F3E-AC91-B754FA002904}"/>
              </a:ext>
            </a:extLst>
          </p:cNvPr>
          <p:cNvSpPr>
            <a:spLocks xmlns:a="http://schemas.openxmlformats.org/drawingml/2006/main" noGrp="1"/>
          </p:cNvSpPr>
          <p:nvPr/>
        </p:nvSpPr>
        <p:spPr>
          <a:xfrm xmlns:a="http://schemas.openxmlformats.org/drawingml/2006/main">
            <a:off x="571500" y="1952625"/>
            <a:ext cx="1409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83247"/>
                </a:solidFill>
                <a:latin typeface="Arial"/>
                <a:ea typeface="Arial"/>
                <a:cs typeface="Arial"/>
              </a:defRPr>
            </a:pPr>
            <a:r>
              <a:rPr sz="3225" b="1">
                <a:solidFill>
                  <a:srgbClr val="183247"/>
                </a:solidFill>
                <a:latin typeface="Arial"/>
                <a:ea typeface="Arial"/>
                <a:cs typeface="Arial"/>
              </a:rPr>
              <a:t>TK = 0,04q² + 4q + 400</a:t>
            </a:r>
          </a:p>
        </p:txBody>
      </p:sp>
      <p:sp>
        <p:nvSpPr>
          <p:cNvPr id="6" name="TK(100) = 0,04 × 100² + 4 × 100 + 400">
            <a:extLst xmlns:a="http://schemas.openxmlformats.org/drawingml/2006/main">
              <a:ext uri="{FF2B5EF4-FFF2-40B4-BE49-F238E27FC236}">
                <a16:creationId xmlns:a16="http://schemas.microsoft.com/office/drawing/2014/main" id="{3EF2306D-D4B8-4893-B513-FC96617579F9}"/>
              </a:ext>
            </a:extLst>
          </p:cNvPr>
          <p:cNvSpPr>
            <a:spLocks xmlns:a="http://schemas.openxmlformats.org/drawingml/2006/main" noGrp="1"/>
          </p:cNvSpPr>
          <p:nvPr/>
        </p:nvSpPr>
        <p:spPr>
          <a:xfrm xmlns:a="http://schemas.openxmlformats.org/drawingml/2006/main">
            <a:off x="571500" y="31432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TK(100) = 0,04 × 100² + 4 × 100 + 400</a:t>
            </a:r>
          </a:p>
        </p:txBody>
      </p:sp>
      <p:sp>
        <p:nvSpPr>
          <p:cNvPr id="7" name="= 400 + 400 + 400 = € 1.200 per week">
            <a:extLst xmlns:a="http://schemas.openxmlformats.org/drawingml/2006/main">
              <a:ext uri="{FF2B5EF4-FFF2-40B4-BE49-F238E27FC236}">
                <a16:creationId xmlns:a16="http://schemas.microsoft.com/office/drawing/2014/main" id="{6FC9F10F-D6F8-49EC-B5B5-51D0310DA6D7}"/>
              </a:ext>
            </a:extLst>
          </p:cNvPr>
          <p:cNvSpPr>
            <a:spLocks xmlns:a="http://schemas.openxmlformats.org/drawingml/2006/main" noGrp="1"/>
          </p:cNvSpPr>
          <p:nvPr/>
        </p:nvSpPr>
        <p:spPr>
          <a:xfrm xmlns:a="http://schemas.openxmlformats.org/drawingml/2006/main">
            <a:off x="571500" y="4067175"/>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 400 + 400 + 400 = € 1.200 per week</a:t>
            </a:r>
          </a:p>
        </p:txBody>
      </p:sp>
      <p:sp>
        <p:nvSpPr>
          <p:cNvPr id="8" name="">
            <a:extLst xmlns:a="http://schemas.openxmlformats.org/drawingml/2006/main">
              <a:ext uri="{FF2B5EF4-FFF2-40B4-BE49-F238E27FC236}">
                <a16:creationId xmlns:a16="http://schemas.microsoft.com/office/drawing/2014/main" id="{3B3FE9C5-62DA-4F34-A4B6-C93805B24195}"/>
              </a:ext>
            </a:extLst>
          </p:cNvPr>
          <p:cNvSpPr>
            <a:spLocks xmlns:a="http://schemas.openxmlformats.org/drawingml/2006/main" noGrp="1"/>
          </p:cNvSpPr>
          <p:nvPr/>
        </p:nvSpPr>
        <p:spPr>
          <a:xfrm xmlns:a="http://schemas.openxmlformats.org/drawingml/2006/main">
            <a:off x="571500" y="5181600"/>
            <a:ext cx="14097000" cy="0"/>
          </a:xfrm>
          <a:prstGeom xmlns:a="http://schemas.openxmlformats.org/drawingml/2006/main" prst="line">
            <a:avLst/>
          </a:prstGeom>
          <a:ln xmlns:a="http://schemas.openxmlformats.org/drawingml/2006/main" w="19050">
            <a:solidFill>
              <a:srgbClr val="C6D2DB"/>
            </a:solidFill>
          </a:ln>
        </p:spPr>
      </p:sp>
      <p:sp>
        <p:nvSpPr>
          <p:cNvPr id="9" name="TK(150) = 0,04 × 150² + 4 × 150 + 400">
            <a:extLst xmlns:a="http://schemas.openxmlformats.org/drawingml/2006/main">
              <a:ext uri="{FF2B5EF4-FFF2-40B4-BE49-F238E27FC236}">
                <a16:creationId xmlns:a16="http://schemas.microsoft.com/office/drawing/2014/main" id="{A314764C-4AD7-44F5-AB01-3DC8BBE47C8F}"/>
              </a:ext>
            </a:extLst>
          </p:cNvPr>
          <p:cNvSpPr>
            <a:spLocks xmlns:a="http://schemas.openxmlformats.org/drawingml/2006/main" noGrp="1"/>
          </p:cNvSpPr>
          <p:nvPr/>
        </p:nvSpPr>
        <p:spPr>
          <a:xfrm xmlns:a="http://schemas.openxmlformats.org/drawingml/2006/main">
            <a:off x="571500" y="5619750"/>
            <a:ext cx="1409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0">
                <a:solidFill>
                  <a:srgbClr val="183247"/>
                </a:solidFill>
                <a:latin typeface="Arial"/>
                <a:ea typeface="Arial"/>
                <a:cs typeface="Arial"/>
              </a:defRPr>
            </a:pPr>
            <a:r>
              <a:rPr sz="3150" b="0">
                <a:solidFill>
                  <a:srgbClr val="183247"/>
                </a:solidFill>
                <a:latin typeface="Arial"/>
                <a:ea typeface="Arial"/>
                <a:cs typeface="Arial"/>
              </a:rPr>
              <a:t>TK(150) = 0,04 × 150² + 4 × 150 + 400</a:t>
            </a:r>
          </a:p>
        </p:txBody>
      </p:sp>
      <p:sp>
        <p:nvSpPr>
          <p:cNvPr id="10" name="= 900 + 600 + 400 = € 1.900 per week">
            <a:extLst xmlns:a="http://schemas.openxmlformats.org/drawingml/2006/main">
              <a:ext uri="{FF2B5EF4-FFF2-40B4-BE49-F238E27FC236}">
                <a16:creationId xmlns:a16="http://schemas.microsoft.com/office/drawing/2014/main" id="{3D7B2CD0-B07D-4A79-96C7-4BB54286AA38}"/>
              </a:ext>
            </a:extLst>
          </p:cNvPr>
          <p:cNvSpPr>
            <a:spLocks xmlns:a="http://schemas.openxmlformats.org/drawingml/2006/main" noGrp="1"/>
          </p:cNvSpPr>
          <p:nvPr/>
        </p:nvSpPr>
        <p:spPr>
          <a:xfrm xmlns:a="http://schemas.openxmlformats.org/drawingml/2006/main">
            <a:off x="571500" y="6610350"/>
            <a:ext cx="1409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 900 + 600 + 400 = € 1.900 per week</a:t>
            </a:r>
          </a:p>
        </p:txBody>
      </p:sp>
    </p:spTree>
    <p:extLst>
      <p:ext uri="{BB962C8B-B14F-4D97-AF65-F5344CB8AC3E}">
        <p14:creationId xmlns:p14="http://schemas.microsoft.com/office/powerpoint/2010/main" val="141065509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7c · Daarna de tabelstap">
            <a:extLst xmlns:a="http://schemas.openxmlformats.org/drawingml/2006/main">
              <a:ext uri="{FF2B5EF4-FFF2-40B4-BE49-F238E27FC236}">
                <a16:creationId xmlns:a16="http://schemas.microsoft.com/office/drawing/2014/main" id="{12FE7579-B35C-43CB-929A-EB8402D97A71}"/>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17c · Daarna de tabelstap</a:t>
            </a:r>
          </a:p>
        </p:txBody>
      </p:sp>
      <p:sp>
        <p:nvSpPr>
          <p:cNvPr id="2" name="">
            <a:extLst xmlns:a="http://schemas.openxmlformats.org/drawingml/2006/main">
              <a:ext uri="{FF2B5EF4-FFF2-40B4-BE49-F238E27FC236}">
                <a16:creationId xmlns:a16="http://schemas.microsoft.com/office/drawing/2014/main" id="{89CF1696-1C95-4421-8172-1C3D499BAF62}"/>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 Opgave 17 · Boekpa">
            <a:extLst xmlns:a="http://schemas.openxmlformats.org/drawingml/2006/main">
              <a:ext uri="{FF2B5EF4-FFF2-40B4-BE49-F238E27FC236}">
                <a16:creationId xmlns:a16="http://schemas.microsoft.com/office/drawing/2014/main" id="{54EB9A53-58C6-4336-8828-F3C83DF22D9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 · Opgave 17 · Boekpagina 67</a:t>
            </a:r>
          </a:p>
        </p:txBody>
      </p:sp>
      <p:sp>
        <p:nvSpPr>
          <p:cNvPr id="4" name="21">
            <a:extLst xmlns:a="http://schemas.openxmlformats.org/drawingml/2006/main">
              <a:ext uri="{FF2B5EF4-FFF2-40B4-BE49-F238E27FC236}">
                <a16:creationId xmlns:a16="http://schemas.microsoft.com/office/drawing/2014/main" id="{D88FEE52-29A4-49AE-B409-EBCE80ACF3BD}"/>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21</a:t>
            </a:r>
          </a:p>
        </p:txBody>
      </p:sp>
      <p:sp>
        <p:nvSpPr>
          <p:cNvPr id="5" name="ΔTK = 1.900 − 1.200 = € 700 per week">
            <a:extLst xmlns:a="http://schemas.openxmlformats.org/drawingml/2006/main">
              <a:ext uri="{FF2B5EF4-FFF2-40B4-BE49-F238E27FC236}">
                <a16:creationId xmlns:a16="http://schemas.microsoft.com/office/drawing/2014/main" id="{06590B88-7137-47F2-B262-A6D37C558412}"/>
              </a:ext>
            </a:extLst>
          </p:cNvPr>
          <p:cNvSpPr>
            <a:spLocks xmlns:a="http://schemas.openxmlformats.org/drawingml/2006/main" noGrp="1"/>
          </p:cNvSpPr>
          <p:nvPr/>
        </p:nvSpPr>
        <p:spPr>
          <a:xfrm xmlns:a="http://schemas.openxmlformats.org/drawingml/2006/main">
            <a:off x="571500" y="240982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ΔTK = 1.900 − 1.200 = € 700 per week</a:t>
            </a:r>
          </a:p>
        </p:txBody>
      </p:sp>
      <p:sp>
        <p:nvSpPr>
          <p:cNvPr id="6" name="Δq = 150 − 100 = 50 kg per week">
            <a:extLst xmlns:a="http://schemas.openxmlformats.org/drawingml/2006/main">
              <a:ext uri="{FF2B5EF4-FFF2-40B4-BE49-F238E27FC236}">
                <a16:creationId xmlns:a16="http://schemas.microsoft.com/office/drawing/2014/main" id="{CDBF6BFB-EF09-4FAD-B2E4-85737827DE6E}"/>
              </a:ext>
            </a:extLst>
          </p:cNvPr>
          <p:cNvSpPr>
            <a:spLocks xmlns:a="http://schemas.openxmlformats.org/drawingml/2006/main" noGrp="1"/>
          </p:cNvSpPr>
          <p:nvPr/>
        </p:nvSpPr>
        <p:spPr>
          <a:xfrm xmlns:a="http://schemas.openxmlformats.org/drawingml/2006/main">
            <a:off x="571500" y="360045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183247"/>
                </a:solidFill>
                <a:latin typeface="Arial"/>
                <a:ea typeface="Arial"/>
                <a:cs typeface="Arial"/>
              </a:defRPr>
            </a:pPr>
            <a:r>
              <a:rPr sz="3375" b="1">
                <a:solidFill>
                  <a:srgbClr val="183247"/>
                </a:solidFill>
                <a:latin typeface="Arial"/>
                <a:ea typeface="Arial"/>
                <a:cs typeface="Arial"/>
              </a:rPr>
              <a:t>Δq = 150 − 100 = 50 kg per week</a:t>
            </a:r>
          </a:p>
        </p:txBody>
      </p:sp>
      <p:sp>
        <p:nvSpPr>
          <p:cNvPr id="7" name="">
            <a:extLst xmlns:a="http://schemas.openxmlformats.org/drawingml/2006/main">
              <a:ext uri="{FF2B5EF4-FFF2-40B4-BE49-F238E27FC236}">
                <a16:creationId xmlns:a16="http://schemas.microsoft.com/office/drawing/2014/main" id="{0D76591F-1131-4D16-AFD6-83604099263D}"/>
              </a:ext>
            </a:extLst>
          </p:cNvPr>
          <p:cNvSpPr>
            <a:spLocks xmlns:a="http://schemas.openxmlformats.org/drawingml/2006/main" noGrp="1"/>
          </p:cNvSpPr>
          <p:nvPr/>
        </p:nvSpPr>
        <p:spPr>
          <a:xfrm xmlns:a="http://schemas.openxmlformats.org/drawingml/2006/main">
            <a:off x="571500" y="4724400"/>
            <a:ext cx="14097000" cy="0"/>
          </a:xfrm>
          <a:prstGeom xmlns:a="http://schemas.openxmlformats.org/drawingml/2006/main" prst="line">
            <a:avLst/>
          </a:prstGeom>
          <a:ln xmlns:a="http://schemas.openxmlformats.org/drawingml/2006/main" w="19050">
            <a:solidFill>
              <a:srgbClr val="C6D2DB"/>
            </a:solidFill>
          </a:ln>
        </p:spPr>
      </p:sp>
      <p:sp>
        <p:nvSpPr>
          <p:cNvPr id="8" name="ΔTK / Δq = 700 / 50 = € 14 per extra kg">
            <a:extLst xmlns:a="http://schemas.openxmlformats.org/drawingml/2006/main">
              <a:ext uri="{FF2B5EF4-FFF2-40B4-BE49-F238E27FC236}">
                <a16:creationId xmlns:a16="http://schemas.microsoft.com/office/drawing/2014/main" id="{84B43BB1-FC81-4511-88E6-5FEC1D91F588}"/>
              </a:ext>
            </a:extLst>
          </p:cNvPr>
          <p:cNvSpPr>
            <a:spLocks xmlns:a="http://schemas.openxmlformats.org/drawingml/2006/main" noGrp="1"/>
          </p:cNvSpPr>
          <p:nvPr/>
        </p:nvSpPr>
        <p:spPr>
          <a:xfrm xmlns:a="http://schemas.openxmlformats.org/drawingml/2006/main">
            <a:off x="571500" y="525780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75" b="1">
                <a:solidFill>
                  <a:srgbClr val="17658A"/>
                </a:solidFill>
                <a:latin typeface="Arial"/>
                <a:ea typeface="Arial"/>
                <a:cs typeface="Arial"/>
              </a:defRPr>
            </a:pPr>
            <a:r>
              <a:rPr sz="3675" b="1">
                <a:solidFill>
                  <a:srgbClr val="17658A"/>
                </a:solidFill>
                <a:latin typeface="Arial"/>
                <a:ea typeface="Arial"/>
                <a:cs typeface="Arial"/>
              </a:rPr>
              <a:t>ΔTK / Δq = 700 / 50 = € 14 per extra kg</a:t>
            </a:r>
          </a:p>
        </p:txBody>
      </p:sp>
      <p:sp>
        <p:nvSpPr>
          <p:cNvPr id="9" name="Controle: 50 extra kg × € 14 per kg = € 700 per week.">
            <a:extLst xmlns:a="http://schemas.openxmlformats.org/drawingml/2006/main">
              <a:ext uri="{FF2B5EF4-FFF2-40B4-BE49-F238E27FC236}">
                <a16:creationId xmlns:a16="http://schemas.microsoft.com/office/drawing/2014/main" id="{7CC5C816-3449-40C9-9D1B-B3A262302C92}"/>
              </a:ext>
            </a:extLst>
          </p:cNvPr>
          <p:cNvSpPr>
            <a:spLocks xmlns:a="http://schemas.openxmlformats.org/drawingml/2006/main" noGrp="1"/>
          </p:cNvSpPr>
          <p:nvPr/>
        </p:nvSpPr>
        <p:spPr>
          <a:xfrm xmlns:a="http://schemas.openxmlformats.org/drawingml/2006/main">
            <a:off x="571500" y="7048500"/>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183247"/>
                </a:solidFill>
                <a:latin typeface="Arial"/>
                <a:ea typeface="Arial"/>
                <a:cs typeface="Arial"/>
              </a:defRPr>
            </a:pPr>
            <a:r>
              <a:rPr sz="2775" b="1">
                <a:solidFill>
                  <a:srgbClr val="183247"/>
                </a:solidFill>
                <a:latin typeface="Arial"/>
                <a:ea typeface="Arial"/>
                <a:cs typeface="Arial"/>
              </a:rPr>
              <a:t>Controle: 50 extra kg × € 14 per kg = € 700 per week.</a:t>
            </a:r>
          </a:p>
        </p:txBody>
      </p:sp>
    </p:spTree>
    <p:extLst>
      <p:ext uri="{BB962C8B-B14F-4D97-AF65-F5344CB8AC3E}">
        <p14:creationId xmlns:p14="http://schemas.microsoft.com/office/powerpoint/2010/main" val="159015920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Opgave 17d · Wat meten de bedragen?">
            <a:extLst xmlns:a="http://schemas.openxmlformats.org/drawingml/2006/main">
              <a:ext uri="{FF2B5EF4-FFF2-40B4-BE49-F238E27FC236}">
                <a16:creationId xmlns:a16="http://schemas.microsoft.com/office/drawing/2014/main" id="{7407EBAB-25E2-49DB-8DB5-3FAB54002FD4}"/>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183247"/>
                </a:solidFill>
                <a:latin typeface="Arial"/>
                <a:ea typeface="Arial"/>
                <a:cs typeface="Arial"/>
              </a:defRPr>
            </a:pPr>
            <a:r>
              <a:rPr sz="3750" b="1">
                <a:solidFill>
                  <a:srgbClr val="183247"/>
                </a:solidFill>
                <a:latin typeface="Arial"/>
                <a:ea typeface="Arial"/>
                <a:cs typeface="Arial"/>
              </a:rPr>
              <a:t>Opgave 17d · Wat meten de bedragen?</a:t>
            </a:r>
          </a:p>
        </p:txBody>
      </p:sp>
      <p:sp>
        <p:nvSpPr>
          <p:cNvPr id="2" name="">
            <a:extLst xmlns:a="http://schemas.openxmlformats.org/drawingml/2006/main">
              <a:ext uri="{FF2B5EF4-FFF2-40B4-BE49-F238E27FC236}">
                <a16:creationId xmlns:a16="http://schemas.microsoft.com/office/drawing/2014/main" id="{13C3A767-4A68-42B8-B239-5E36BC939E11}"/>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 Opgave 17 · Boekpa">
            <a:extLst xmlns:a="http://schemas.openxmlformats.org/drawingml/2006/main">
              <a:ext uri="{FF2B5EF4-FFF2-40B4-BE49-F238E27FC236}">
                <a16:creationId xmlns:a16="http://schemas.microsoft.com/office/drawing/2014/main" id="{84CB515C-3FCC-4B86-9C05-555BDFFD0F4F}"/>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 · Opgave 17 · Boekpagina 67</a:t>
            </a:r>
          </a:p>
        </p:txBody>
      </p:sp>
      <p:sp>
        <p:nvSpPr>
          <p:cNvPr id="4" name="22">
            <a:extLst xmlns:a="http://schemas.openxmlformats.org/drawingml/2006/main">
              <a:ext uri="{FF2B5EF4-FFF2-40B4-BE49-F238E27FC236}">
                <a16:creationId xmlns:a16="http://schemas.microsoft.com/office/drawing/2014/main" id="{2044FAA5-4AC1-4411-A704-51795696D56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22</a:t>
            </a:r>
          </a:p>
        </p:txBody>
      </p:sp>
      <p:graphicFrame>
        <p:nvGraphicFramePr>
          <p:cNvPr id="12" name=""/>
          <p:cNvGraphicFramePr/>
          <p:nvPr/>
        </p:nvGraphicFramePr>
        <p:xfrm>
          <a:off xmlns:a="http://schemas.openxmlformats.org/drawingml/2006/main" x="571500" y="2447925"/>
          <a:ext xmlns:a="http://schemas.openxmlformats.org/drawingml/2006/main" cx="14097000" cy="2895600"/>
        </p:xfrm>
        <a:graphic xmlns:a="http://schemas.openxmlformats.org/drawingml/2006/main">
          <a:graphicData uri="http://schemas.openxmlformats.org/drawingml/2006/table">
            <a:tbl>
              <a:tblPr/>
              <a:tblGrid>
                <a:gridCol w="2762250"/>
                <a:gridCol w="5667375"/>
                <a:gridCol w="5667375"/>
              </a:tblGrid>
              <a:tr h="965200">
                <a:tc>
                  <a:txBody>
                    <a:bodyPr lIns="171450" tIns="95250" rIns="152400" bIns="95250"/>
                    <a:lstStyle/>
                    <a:p>
                      <a:r>
                        <a:rPr sz="2550" b="1">
                          <a:solidFill>
                            <a:srgbClr val="FFFFFF"/>
                          </a:solidFill>
                          <a:latin typeface="Arial"/>
                          <a:ea typeface="Arial"/>
                          <a:cs typeface="Arial"/>
                        </a:rPr>
                        <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€ 12 per kg</a:t>
                      </a:r>
                    </a:p>
                  </a:txBody>
                  <a:tcPr marL="91440" marR="91440" marT="45720" marB="45720" anchor="ctr">
                    <a:solidFill>
                      <a:srgbClr val="183247"/>
                    </a:solidFill>
                  </a:tcPr>
                </a:tc>
                <a:tc>
                  <a:txBody>
                    <a:bodyPr lIns="171450" tIns="95250" rIns="152400" bIns="95250"/>
                    <a:lstStyle/>
                    <a:p>
                      <a:r>
                        <a:rPr sz="2550" b="1">
                          <a:solidFill>
                            <a:srgbClr val="FFFFFF"/>
                          </a:solidFill>
                          <a:latin typeface="Arial"/>
                          <a:ea typeface="Arial"/>
                          <a:cs typeface="Arial"/>
                        </a:rPr>
                        <a:t>€ 14 per kg</a:t>
                      </a:r>
                    </a:p>
                  </a:txBody>
                  <a:tcPr marL="91440" marR="91440" marT="45720" marB="45720" anchor="ctr">
                    <a:solidFill>
                      <a:srgbClr val="183247"/>
                    </a:solidFill>
                  </a:tcPr>
                </a:tc>
              </a:tr>
              <a:tr h="965200">
                <a:tc>
                  <a:txBody>
                    <a:bodyPr lIns="171450" tIns="95250" rIns="152400" bIns="95250"/>
                    <a:lstStyle/>
                    <a:p>
                      <a:r>
                        <a:rPr sz="2550" b="0">
                          <a:solidFill>
                            <a:srgbClr val="183247"/>
                          </a:solidFill>
                          <a:latin typeface="Arial"/>
                          <a:ea typeface="Arial"/>
                          <a:cs typeface="Arial"/>
                        </a:rPr>
                        <a:t>Meting</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Puntwaarde bij q = 100</a:t>
                      </a:r>
                    </a:p>
                  </a:txBody>
                  <a:tcPr marL="91440" marR="91440" marT="45720" marB="45720" anchor="ctr">
                    <a:solidFill>
                      <a:srgbClr val="FFFFFF"/>
                    </a:solidFill>
                  </a:tcPr>
                </a:tc>
                <a:tc>
                  <a:txBody>
                    <a:bodyPr lIns="171450" tIns="95250" rIns="152400" bIns="95250"/>
                    <a:lstStyle/>
                    <a:p>
                      <a:r>
                        <a:rPr sz="2550" b="0">
                          <a:solidFill>
                            <a:srgbClr val="183247"/>
                          </a:solidFill>
                          <a:latin typeface="Arial"/>
                          <a:ea typeface="Arial"/>
                          <a:cs typeface="Arial"/>
                        </a:rPr>
                        <a:t>Gemiddelde over 100–150 kg</a:t>
                      </a:r>
                    </a:p>
                  </a:txBody>
                  <a:tcPr marL="91440" marR="91440" marT="45720" marB="45720" anchor="ctr">
                    <a:solidFill>
                      <a:srgbClr val="FFFFFF"/>
                    </a:solidFill>
                  </a:tcPr>
                </a:tc>
              </a:tr>
              <a:tr h="965200">
                <a:tc>
                  <a:txBody>
                    <a:bodyPr lIns="171450" tIns="95250" rIns="152400" bIns="95250"/>
                    <a:lstStyle/>
                    <a:p>
                      <a:r>
                        <a:rPr sz="2550" b="0">
                          <a:solidFill>
                            <a:srgbClr val="183247"/>
                          </a:solidFill>
                          <a:latin typeface="Arial"/>
                          <a:ea typeface="Arial"/>
                          <a:cs typeface="Arial"/>
                        </a:rPr>
                        <a:t>Verandering in q</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Een zeer kleine uitbreiding</a:t>
                      </a:r>
                    </a:p>
                  </a:txBody>
                  <a:tcPr marL="91440" marR="91440" marT="45720" marB="45720" anchor="ctr">
                    <a:solidFill>
                      <a:srgbClr val="EFF4F7"/>
                    </a:solidFill>
                  </a:tcPr>
                </a:tc>
                <a:tc>
                  <a:txBody>
                    <a:bodyPr lIns="171450" tIns="95250" rIns="152400" bIns="95250"/>
                    <a:lstStyle/>
                    <a:p>
                      <a:r>
                        <a:rPr sz="2550" b="0">
                          <a:solidFill>
                            <a:srgbClr val="183247"/>
                          </a:solidFill>
                          <a:latin typeface="Arial"/>
                          <a:ea typeface="Arial"/>
                          <a:cs typeface="Arial"/>
                        </a:rPr>
                        <a:t>50 extra kg</a:t>
                      </a:r>
                    </a:p>
                  </a:txBody>
                  <a:tcPr marL="91440" marR="91440" marT="45720" marB="45720" anchor="ctr">
                    <a:solidFill>
                      <a:srgbClr val="EFF4F7"/>
                    </a:solidFill>
                  </a:tcPr>
                </a:tc>
              </a:tr>
            </a:tbl>
          </a:graphicData>
        </a:graphic>
      </p:graphicFrame>
      <p:sp>
        <p:nvSpPr>
          <p:cNvPr id="6" name="MK stijgt binnen de stap: van € 12 naar € 16 per kg.">
            <a:extLst xmlns:a="http://schemas.openxmlformats.org/drawingml/2006/main">
              <a:ext uri="{FF2B5EF4-FFF2-40B4-BE49-F238E27FC236}">
                <a16:creationId xmlns:a16="http://schemas.microsoft.com/office/drawing/2014/main" id="{6AFAAB1A-DEF2-428B-8345-34658015A903}"/>
              </a:ext>
            </a:extLst>
          </p:cNvPr>
          <p:cNvSpPr>
            <a:spLocks xmlns:a="http://schemas.openxmlformats.org/drawingml/2006/main" noGrp="1"/>
          </p:cNvSpPr>
          <p:nvPr/>
        </p:nvSpPr>
        <p:spPr>
          <a:xfrm xmlns:a="http://schemas.openxmlformats.org/drawingml/2006/main">
            <a:off x="571500" y="5876925"/>
            <a:ext cx="1409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A94D16"/>
                </a:solidFill>
                <a:latin typeface="Arial"/>
                <a:ea typeface="Arial"/>
                <a:cs typeface="Arial"/>
              </a:defRPr>
            </a:pPr>
            <a:r>
              <a:rPr sz="3150" b="1">
                <a:solidFill>
                  <a:srgbClr val="A94D16"/>
                </a:solidFill>
                <a:latin typeface="Arial"/>
                <a:ea typeface="Arial"/>
                <a:cs typeface="Arial"/>
              </a:rPr>
              <a:t>MK stijgt binnen de stap: van € 12 naar € 16 per kg.</a:t>
            </a:r>
          </a:p>
        </p:txBody>
      </p:sp>
      <p:sp>
        <p:nvSpPr>
          <p:cNvPr id="7" name="Daarom ligt het gemiddelde van € 14 boven de beginwaarde.">
            <a:extLst xmlns:a="http://schemas.openxmlformats.org/drawingml/2006/main">
              <a:ext uri="{FF2B5EF4-FFF2-40B4-BE49-F238E27FC236}">
                <a16:creationId xmlns:a16="http://schemas.microsoft.com/office/drawing/2014/main" id="{70362691-5BE1-4D5A-9B75-A62AA9CE6376}"/>
              </a:ext>
            </a:extLst>
          </p:cNvPr>
          <p:cNvSpPr>
            <a:spLocks xmlns:a="http://schemas.openxmlformats.org/drawingml/2006/main" noGrp="1"/>
          </p:cNvSpPr>
          <p:nvPr/>
        </p:nvSpPr>
        <p:spPr>
          <a:xfrm xmlns:a="http://schemas.openxmlformats.org/drawingml/2006/main">
            <a:off x="571500" y="7000875"/>
            <a:ext cx="1409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183247"/>
                </a:solidFill>
                <a:latin typeface="Arial"/>
                <a:ea typeface="Arial"/>
                <a:cs typeface="Arial"/>
              </a:defRPr>
            </a:pPr>
            <a:r>
              <a:rPr sz="2850" b="1">
                <a:solidFill>
                  <a:srgbClr val="183247"/>
                </a:solidFill>
                <a:latin typeface="Arial"/>
                <a:ea typeface="Arial"/>
                <a:cs typeface="Arial"/>
              </a:rPr>
              <a:t>Daarom ligt het gemiddelde van € 14 boven de beginwaarde.</a:t>
            </a:r>
          </a:p>
        </p:txBody>
      </p:sp>
    </p:spTree>
    <p:extLst>
      <p:ext uri="{BB962C8B-B14F-4D97-AF65-F5344CB8AC3E}">
        <p14:creationId xmlns:p14="http://schemas.microsoft.com/office/powerpoint/2010/main" val="81521266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Opgave 17e · € 100 hogere constante kosten">
            <a:extLst xmlns:a="http://schemas.openxmlformats.org/drawingml/2006/main">
              <a:ext uri="{FF2B5EF4-FFF2-40B4-BE49-F238E27FC236}">
                <a16:creationId xmlns:a16="http://schemas.microsoft.com/office/drawing/2014/main" id="{B0CC4B64-26B4-482F-AD95-7473966B6F23}"/>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Opgave 17e · € 100 hogere constante kosten</a:t>
            </a:r>
          </a:p>
        </p:txBody>
      </p:sp>
      <p:sp>
        <p:nvSpPr>
          <p:cNvPr id="2" name="">
            <a:extLst xmlns:a="http://schemas.openxmlformats.org/drawingml/2006/main">
              <a:ext uri="{FF2B5EF4-FFF2-40B4-BE49-F238E27FC236}">
                <a16:creationId xmlns:a16="http://schemas.microsoft.com/office/drawing/2014/main" id="{9586FF97-AC5B-4C31-99BE-BA8871D088A9}"/>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 Opgave 17 · Boekpa">
            <a:extLst xmlns:a="http://schemas.openxmlformats.org/drawingml/2006/main">
              <a:ext uri="{FF2B5EF4-FFF2-40B4-BE49-F238E27FC236}">
                <a16:creationId xmlns:a16="http://schemas.microsoft.com/office/drawing/2014/main" id="{52F3E921-8C9F-45BE-9250-7B512A5370C2}"/>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 · Opgave 17 · Boekpagina 67</a:t>
            </a:r>
          </a:p>
        </p:txBody>
      </p:sp>
      <p:sp>
        <p:nvSpPr>
          <p:cNvPr id="4" name="23">
            <a:extLst xmlns:a="http://schemas.openxmlformats.org/drawingml/2006/main">
              <a:ext uri="{FF2B5EF4-FFF2-40B4-BE49-F238E27FC236}">
                <a16:creationId xmlns:a16="http://schemas.microsoft.com/office/drawing/2014/main" id="{7BDDD3D9-D7B7-4760-A2AA-BA74DC9CB831}"/>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23</a:t>
            </a:r>
          </a:p>
        </p:txBody>
      </p:sp>
      <p:sp>
        <p:nvSpPr>
          <p:cNvPr id="5" name="Nieuwe TK = 0,04q² + 4q + 500">
            <a:extLst xmlns:a="http://schemas.openxmlformats.org/drawingml/2006/main">
              <a:ext uri="{FF2B5EF4-FFF2-40B4-BE49-F238E27FC236}">
                <a16:creationId xmlns:a16="http://schemas.microsoft.com/office/drawing/2014/main" id="{9ABA9D76-47B4-44FE-AAB1-BE4CEF45BACA}"/>
              </a:ext>
            </a:extLst>
          </p:cNvPr>
          <p:cNvSpPr>
            <a:spLocks xmlns:a="http://schemas.openxmlformats.org/drawingml/2006/main" noGrp="1"/>
          </p:cNvSpPr>
          <p:nvPr/>
        </p:nvSpPr>
        <p:spPr>
          <a:xfrm xmlns:a="http://schemas.openxmlformats.org/drawingml/2006/main">
            <a:off x="571500" y="2105025"/>
            <a:ext cx="1409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183247"/>
                </a:solidFill>
                <a:latin typeface="Arial"/>
                <a:ea typeface="Arial"/>
                <a:cs typeface="Arial"/>
              </a:defRPr>
            </a:pPr>
            <a:r>
              <a:rPr sz="3525" b="1">
                <a:solidFill>
                  <a:srgbClr val="183247"/>
                </a:solidFill>
                <a:latin typeface="Arial"/>
                <a:ea typeface="Arial"/>
                <a:cs typeface="Arial"/>
              </a:rPr>
              <a:t>Nieuwe TK = 0,04q² + 4q + 500</a:t>
            </a:r>
          </a:p>
        </p:txBody>
      </p:sp>
      <p:sp>
        <p:nvSpPr>
          <p:cNvPr id="6" name="TK(100) = 400 + 400 + 500 = € 1.300 per week">
            <a:extLst xmlns:a="http://schemas.openxmlformats.org/drawingml/2006/main">
              <a:ext uri="{FF2B5EF4-FFF2-40B4-BE49-F238E27FC236}">
                <a16:creationId xmlns:a16="http://schemas.microsoft.com/office/drawing/2014/main" id="{DBBFE39B-C1B7-4E76-9E81-BF0752440D5C}"/>
              </a:ext>
            </a:extLst>
          </p:cNvPr>
          <p:cNvSpPr>
            <a:spLocks xmlns:a="http://schemas.openxmlformats.org/drawingml/2006/main" noGrp="1"/>
          </p:cNvSpPr>
          <p:nvPr/>
        </p:nvSpPr>
        <p:spPr>
          <a:xfrm xmlns:a="http://schemas.openxmlformats.org/drawingml/2006/main">
            <a:off x="571500" y="3457575"/>
            <a:ext cx="140970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658A"/>
                </a:solidFill>
                <a:latin typeface="Arial"/>
                <a:ea typeface="Arial"/>
                <a:cs typeface="Arial"/>
              </a:defRPr>
            </a:pPr>
            <a:r>
              <a:rPr sz="3225" b="1">
                <a:solidFill>
                  <a:srgbClr val="17658A"/>
                </a:solidFill>
                <a:latin typeface="Arial"/>
                <a:ea typeface="Arial"/>
                <a:cs typeface="Arial"/>
              </a:rPr>
              <a:t>TK(100) = 400 + 400 + 500 = € 1.300 per week</a:t>
            </a:r>
          </a:p>
        </p:txBody>
      </p:sp>
      <p:sp>
        <p:nvSpPr>
          <p:cNvPr id="7" name="">
            <a:extLst xmlns:a="http://schemas.openxmlformats.org/drawingml/2006/main">
              <a:ext uri="{FF2B5EF4-FFF2-40B4-BE49-F238E27FC236}">
                <a16:creationId xmlns:a16="http://schemas.microsoft.com/office/drawing/2014/main" id="{03C552E9-512E-479E-A87B-786332C585E7}"/>
              </a:ext>
            </a:extLst>
          </p:cNvPr>
          <p:cNvSpPr>
            <a:spLocks xmlns:a="http://schemas.openxmlformats.org/drawingml/2006/main" noGrp="1"/>
          </p:cNvSpPr>
          <p:nvPr/>
        </p:nvSpPr>
        <p:spPr>
          <a:xfrm xmlns:a="http://schemas.openxmlformats.org/drawingml/2006/main">
            <a:off x="571500" y="4857750"/>
            <a:ext cx="14097000" cy="0"/>
          </a:xfrm>
          <a:prstGeom xmlns:a="http://schemas.openxmlformats.org/drawingml/2006/main" prst="line">
            <a:avLst/>
          </a:prstGeom>
          <a:ln xmlns:a="http://schemas.openxmlformats.org/drawingml/2006/main" w="19050">
            <a:solidFill>
              <a:srgbClr val="C6D2DB"/>
            </a:solidFill>
          </a:ln>
        </p:spPr>
      </p:sp>
      <p:sp>
        <p:nvSpPr>
          <p:cNvPr id="8" name="MK blijft 0,08q + 4">
            <a:extLst xmlns:a="http://schemas.openxmlformats.org/drawingml/2006/main">
              <a:ext uri="{FF2B5EF4-FFF2-40B4-BE49-F238E27FC236}">
                <a16:creationId xmlns:a16="http://schemas.microsoft.com/office/drawing/2014/main" id="{FB0C94E2-BC27-474E-8C63-8FC9D55D921A}"/>
              </a:ext>
            </a:extLst>
          </p:cNvPr>
          <p:cNvSpPr>
            <a:spLocks xmlns:a="http://schemas.openxmlformats.org/drawingml/2006/main" noGrp="1"/>
          </p:cNvSpPr>
          <p:nvPr/>
        </p:nvSpPr>
        <p:spPr>
          <a:xfrm xmlns:a="http://schemas.openxmlformats.org/drawingml/2006/main">
            <a:off x="571500" y="5314950"/>
            <a:ext cx="1409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125" b="1">
                <a:solidFill>
                  <a:srgbClr val="A94D16"/>
                </a:solidFill>
                <a:latin typeface="Arial"/>
                <a:ea typeface="Arial"/>
                <a:cs typeface="Arial"/>
              </a:defRPr>
            </a:pPr>
            <a:r>
              <a:rPr sz="4125" b="1">
                <a:solidFill>
                  <a:srgbClr val="A94D16"/>
                </a:solidFill>
                <a:latin typeface="Arial"/>
                <a:ea typeface="Arial"/>
                <a:cs typeface="Arial"/>
              </a:rPr>
              <a:t>MK blijft 0,08q + 4</a:t>
            </a:r>
          </a:p>
        </p:txBody>
      </p:sp>
      <p:sp>
        <p:nvSpPr>
          <p:cNvPr id="9" name="Die extra € 100 verandert niet als q verandert.">
            <a:extLst xmlns:a="http://schemas.openxmlformats.org/drawingml/2006/main">
              <a:ext uri="{FF2B5EF4-FFF2-40B4-BE49-F238E27FC236}">
                <a16:creationId xmlns:a16="http://schemas.microsoft.com/office/drawing/2014/main" id="{9A25B815-20B1-411C-BC60-7DA5A326BDAF}"/>
              </a:ext>
            </a:extLst>
          </p:cNvPr>
          <p:cNvSpPr>
            <a:spLocks xmlns:a="http://schemas.openxmlformats.org/drawingml/2006/main" noGrp="1"/>
          </p:cNvSpPr>
          <p:nvPr/>
        </p:nvSpPr>
        <p:spPr>
          <a:xfrm xmlns:a="http://schemas.openxmlformats.org/drawingml/2006/main">
            <a:off x="571500" y="6943725"/>
            <a:ext cx="1409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3247"/>
                </a:solidFill>
                <a:latin typeface="Arial"/>
                <a:ea typeface="Arial"/>
                <a:cs typeface="Arial"/>
              </a:defRPr>
            </a:pPr>
            <a:r>
              <a:rPr sz="3150" b="1">
                <a:solidFill>
                  <a:srgbClr val="183247"/>
                </a:solidFill>
                <a:latin typeface="Arial"/>
                <a:ea typeface="Arial"/>
                <a:cs typeface="Arial"/>
              </a:rPr>
              <a:t>Die extra € 100 verandert niet als q verandert.</a:t>
            </a:r>
          </a:p>
        </p:txBody>
      </p:sp>
    </p:spTree>
    <p:extLst>
      <p:ext uri="{BB962C8B-B14F-4D97-AF65-F5344CB8AC3E}">
        <p14:creationId xmlns:p14="http://schemas.microsoft.com/office/powerpoint/2010/main" val="186022579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Deze les: §3.2.2 Marginale kosten en de afgeleide">
            <a:extLst xmlns:a="http://schemas.openxmlformats.org/drawingml/2006/main">
              <a:ext uri="{FF2B5EF4-FFF2-40B4-BE49-F238E27FC236}">
                <a16:creationId xmlns:a16="http://schemas.microsoft.com/office/drawing/2014/main" id="{D7AD675C-C6AF-459D-98FE-71CB8867D3F1}"/>
              </a:ext>
            </a:extLst>
          </p:cNvPr>
          <p:cNvSpPr>
            <a:spLocks xmlns:a="http://schemas.openxmlformats.org/drawingml/2006/main" noGrp="1"/>
          </p:cNvSpPr>
          <p:nvPr/>
        </p:nvSpPr>
        <p:spPr>
          <a:xfrm xmlns:a="http://schemas.openxmlformats.org/drawingml/2006/main">
            <a:off x="571500" y="400050"/>
            <a:ext cx="1409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3247"/>
                </a:solidFill>
                <a:latin typeface="Arial"/>
                <a:ea typeface="Arial"/>
                <a:cs typeface="Arial"/>
              </a:defRPr>
            </a:pPr>
            <a:r>
              <a:rPr sz="3450" b="1">
                <a:solidFill>
                  <a:srgbClr val="183247"/>
                </a:solidFill>
                <a:latin typeface="Arial"/>
                <a:ea typeface="Arial"/>
                <a:cs typeface="Arial"/>
              </a:rPr>
              <a:t>Deze les: §3.2.2 Marginale kosten en de afgeleide</a:t>
            </a:r>
          </a:p>
        </p:txBody>
      </p:sp>
      <p:sp>
        <p:nvSpPr>
          <p:cNvPr id="2" name="">
            <a:extLst xmlns:a="http://schemas.openxmlformats.org/drawingml/2006/main">
              <a:ext uri="{FF2B5EF4-FFF2-40B4-BE49-F238E27FC236}">
                <a16:creationId xmlns:a16="http://schemas.microsoft.com/office/drawing/2014/main" id="{220C8EFF-3769-457D-B9EA-70C9051C3AEE}"/>
              </a:ext>
            </a:extLst>
          </p:cNvPr>
          <p:cNvSpPr>
            <a:spLocks xmlns:a="http://schemas.openxmlformats.org/drawingml/2006/main" noGrp="1"/>
          </p:cNvSpPr>
          <p:nvPr/>
        </p:nvSpPr>
        <p:spPr>
          <a:xfrm xmlns:a="http://schemas.openxmlformats.org/drawingml/2006/main">
            <a:off x="571500" y="1390650"/>
            <a:ext cx="14097000" cy="0"/>
          </a:xfrm>
          <a:prstGeom xmlns:a="http://schemas.openxmlformats.org/drawingml/2006/main" prst="line">
            <a:avLst/>
          </a:prstGeom>
          <a:ln xmlns:a="http://schemas.openxmlformats.org/drawingml/2006/main" w="19050">
            <a:solidFill>
              <a:srgbClr val="C6D2DB"/>
            </a:solidFill>
          </a:ln>
        </p:spPr>
      </p:sp>
      <p:sp>
        <p:nvSpPr>
          <p:cNvPr id="3" name="§3.2.2 Marginale kosten en de afgeleide">
            <a:extLst xmlns:a="http://schemas.openxmlformats.org/drawingml/2006/main">
              <a:ext uri="{FF2B5EF4-FFF2-40B4-BE49-F238E27FC236}">
                <a16:creationId xmlns:a16="http://schemas.microsoft.com/office/drawing/2014/main" id="{A067B3D6-3958-46EE-8737-36D92A6A8240}"/>
              </a:ext>
            </a:extLst>
          </p:cNvPr>
          <p:cNvSpPr>
            <a:spLocks xmlns:a="http://schemas.openxmlformats.org/drawingml/2006/main" noGrp="1"/>
          </p:cNvSpPr>
          <p:nvPr/>
        </p:nvSpPr>
        <p:spPr>
          <a:xfrm xmlns:a="http://schemas.openxmlformats.org/drawingml/2006/main">
            <a:off x="571500" y="8077200"/>
            <a:ext cx="1333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445B6B"/>
                </a:solidFill>
                <a:latin typeface="Arial"/>
                <a:ea typeface="Arial"/>
                <a:cs typeface="Arial"/>
              </a:defRPr>
            </a:pPr>
            <a:r>
              <a:rPr sz="1575" b="0">
                <a:solidFill>
                  <a:srgbClr val="445B6B"/>
                </a:solidFill>
                <a:latin typeface="Arial"/>
                <a:ea typeface="Arial"/>
                <a:cs typeface="Arial"/>
              </a:rPr>
              <a:t>§3.2.2 Marginale kosten en de afgeleide</a:t>
            </a:r>
          </a:p>
        </p:txBody>
      </p:sp>
      <p:sp>
        <p:nvSpPr>
          <p:cNvPr id="4" name="24">
            <a:extLst xmlns:a="http://schemas.openxmlformats.org/drawingml/2006/main">
              <a:ext uri="{FF2B5EF4-FFF2-40B4-BE49-F238E27FC236}">
                <a16:creationId xmlns:a16="http://schemas.microsoft.com/office/drawing/2014/main" id="{EAC25B4D-3B2C-428D-B20E-B50C68074ABC}"/>
              </a:ext>
            </a:extLst>
          </p:cNvPr>
          <p:cNvSpPr>
            <a:spLocks xmlns:a="http://schemas.openxmlformats.org/drawingml/2006/main" noGrp="1"/>
          </p:cNvSpPr>
          <p:nvPr/>
        </p:nvSpPr>
        <p:spPr>
          <a:xfrm xmlns:a="http://schemas.openxmlformats.org/drawingml/2006/main">
            <a:off x="14001750" y="8048625"/>
            <a:ext cx="66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650" b="0">
                <a:solidFill>
                  <a:srgbClr val="445B6B"/>
                </a:solidFill>
                <a:latin typeface="Arial"/>
                <a:ea typeface="Arial"/>
                <a:cs typeface="Arial"/>
              </a:defRPr>
            </a:pPr>
            <a:r>
              <a:rPr sz="1650" b="0">
                <a:solidFill>
                  <a:srgbClr val="445B6B"/>
                </a:solidFill>
                <a:latin typeface="Arial"/>
                <a:ea typeface="Arial"/>
                <a:cs typeface="Arial"/>
              </a:rPr>
              <a:t>24</a:t>
            </a:r>
          </a:p>
        </p:txBody>
      </p:sp>
      <p:sp>
        <p:nvSpPr>
          <p:cNvPr id="5" name="phase">
            <a:extLst xmlns:a="http://schemas.openxmlformats.org/drawingml/2006/main">
              <a:ext uri="{FF2B5EF4-FFF2-40B4-BE49-F238E27FC236}">
                <a16:creationId xmlns:a16="http://schemas.microsoft.com/office/drawing/2014/main" id="{A1190CA8-BEE2-425E-9A13-2420D0D79BC8}"/>
              </a:ext>
            </a:extLst>
          </p:cNvPr>
          <p:cNvSpPr>
            <a:spLocks xmlns:a="http://schemas.openxmlformats.org/drawingml/2006/main" noGrp="1"/>
          </p:cNvSpPr>
          <p:nvPr/>
        </p:nvSpPr>
        <p:spPr>
          <a:xfrm xmlns:a="http://schemas.openxmlformats.org/drawingml/2006/main">
            <a:off x="571500" y="1066800"/>
            <a:ext cx="13811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Nu: Afsluiting / huiswerk</a:t>
            </a:r>
          </a:p>
        </p:txBody>
      </p:sp>
      <p:sp>
        <p:nvSpPr>
          <p:cNvPr id="6" name="Lesroute">
            <a:extLst xmlns:a="http://schemas.openxmlformats.org/drawingml/2006/main">
              <a:ext uri="{FF2B5EF4-FFF2-40B4-BE49-F238E27FC236}">
                <a16:creationId xmlns:a16="http://schemas.microsoft.com/office/drawing/2014/main" id="{4D152368-10E5-48A7-937D-AC3BFA227716}"/>
              </a:ext>
            </a:extLst>
          </p:cNvPr>
          <p:cNvSpPr>
            <a:spLocks xmlns:a="http://schemas.openxmlformats.org/drawingml/2006/main" noGrp="1"/>
          </p:cNvSpPr>
          <p:nvPr/>
        </p:nvSpPr>
        <p:spPr>
          <a:xfrm xmlns:a="http://schemas.openxmlformats.org/drawingml/2006/main">
            <a:off x="571500" y="1762125"/>
            <a:ext cx="79533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Lesroute</a:t>
            </a:r>
          </a:p>
        </p:txBody>
      </p:sp>
      <p:sp>
        <p:nvSpPr>
          <p:cNvPr id="7" name="route-number-1">
            <a:extLst xmlns:a="http://schemas.openxmlformats.org/drawingml/2006/main">
              <a:ext uri="{FF2B5EF4-FFF2-40B4-BE49-F238E27FC236}">
                <a16:creationId xmlns:a16="http://schemas.microsoft.com/office/drawing/2014/main" id="{E0C894A1-4C02-474B-AA4D-52A3BA5C1DB7}"/>
              </a:ext>
            </a:extLst>
          </p:cNvPr>
          <p:cNvSpPr>
            <a:spLocks xmlns:a="http://schemas.openxmlformats.org/drawingml/2006/main" noGrp="1"/>
          </p:cNvSpPr>
          <p:nvPr/>
        </p:nvSpPr>
        <p:spPr>
          <a:xfrm xmlns:a="http://schemas.openxmlformats.org/drawingml/2006/main">
            <a:off x="571500" y="2324100"/>
            <a:ext cx="457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1.</a:t>
            </a:r>
          </a:p>
        </p:txBody>
      </p:sp>
      <p:sp>
        <p:nvSpPr>
          <p:cNvPr id="8" name="route-1">
            <a:extLst xmlns:a="http://schemas.openxmlformats.org/drawingml/2006/main">
              <a:ext uri="{FF2B5EF4-FFF2-40B4-BE49-F238E27FC236}">
                <a16:creationId xmlns:a16="http://schemas.microsoft.com/office/drawing/2014/main" id="{992123FB-7987-4B21-9B87-B42B5257CEAD}"/>
              </a:ext>
            </a:extLst>
          </p:cNvPr>
          <p:cNvSpPr>
            <a:spLocks xmlns:a="http://schemas.openxmlformats.org/drawingml/2006/main" noGrp="1"/>
          </p:cNvSpPr>
          <p:nvPr/>
        </p:nvSpPr>
        <p:spPr>
          <a:xfrm xmlns:a="http://schemas.openxmlformats.org/drawingml/2006/main">
            <a:off x="1104900" y="2324100"/>
            <a:ext cx="75152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Jas in de kluis of aan de kapstok. Pak agenda, schrift, pen en rekenmachine.</a:t>
            </a:r>
          </a:p>
        </p:txBody>
      </p:sp>
      <p:sp>
        <p:nvSpPr>
          <p:cNvPr id="9" name="route-number-2">
            <a:extLst xmlns:a="http://schemas.openxmlformats.org/drawingml/2006/main">
              <a:ext uri="{FF2B5EF4-FFF2-40B4-BE49-F238E27FC236}">
                <a16:creationId xmlns:a16="http://schemas.microsoft.com/office/drawing/2014/main" id="{8AA0858B-ABCF-4142-998D-D37E899E7BEC}"/>
              </a:ext>
            </a:extLst>
          </p:cNvPr>
          <p:cNvSpPr>
            <a:spLocks xmlns:a="http://schemas.openxmlformats.org/drawingml/2006/main" noGrp="1"/>
          </p:cNvSpPr>
          <p:nvPr/>
        </p:nvSpPr>
        <p:spPr>
          <a:xfrm xmlns:a="http://schemas.openxmlformats.org/drawingml/2006/main">
            <a:off x="571500" y="320040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2.</a:t>
            </a:r>
          </a:p>
        </p:txBody>
      </p:sp>
      <p:sp>
        <p:nvSpPr>
          <p:cNvPr id="10" name="route-2">
            <a:extLst xmlns:a="http://schemas.openxmlformats.org/drawingml/2006/main">
              <a:ext uri="{FF2B5EF4-FFF2-40B4-BE49-F238E27FC236}">
                <a16:creationId xmlns:a16="http://schemas.microsoft.com/office/drawing/2014/main" id="{40DDFDAC-5F56-4179-935F-90DB31E86205}"/>
              </a:ext>
            </a:extLst>
          </p:cNvPr>
          <p:cNvSpPr>
            <a:spLocks xmlns:a="http://schemas.openxmlformats.org/drawingml/2006/main" noGrp="1"/>
          </p:cNvSpPr>
          <p:nvPr/>
        </p:nvSpPr>
        <p:spPr>
          <a:xfrm xmlns:a="http://schemas.openxmlformats.org/drawingml/2006/main">
            <a:off x="1104900" y="320040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Maak de startopdracht.</a:t>
            </a:r>
          </a:p>
        </p:txBody>
      </p:sp>
      <p:sp>
        <p:nvSpPr>
          <p:cNvPr id="11" name="route-number-3">
            <a:extLst xmlns:a="http://schemas.openxmlformats.org/drawingml/2006/main">
              <a:ext uri="{FF2B5EF4-FFF2-40B4-BE49-F238E27FC236}">
                <a16:creationId xmlns:a16="http://schemas.microsoft.com/office/drawing/2014/main" id="{7BC82A62-DC74-4C51-87DD-89819F9767B4}"/>
              </a:ext>
            </a:extLst>
          </p:cNvPr>
          <p:cNvSpPr>
            <a:spLocks xmlns:a="http://schemas.openxmlformats.org/drawingml/2006/main" noGrp="1"/>
          </p:cNvSpPr>
          <p:nvPr/>
        </p:nvSpPr>
        <p:spPr>
          <a:xfrm xmlns:a="http://schemas.openxmlformats.org/drawingml/2006/main">
            <a:off x="571500" y="3714750"/>
            <a:ext cx="457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a:t>
            </a:r>
          </a:p>
        </p:txBody>
      </p:sp>
      <p:sp>
        <p:nvSpPr>
          <p:cNvPr id="12" name="route-3">
            <a:extLst xmlns:a="http://schemas.openxmlformats.org/drawingml/2006/main">
              <a:ext uri="{FF2B5EF4-FFF2-40B4-BE49-F238E27FC236}">
                <a16:creationId xmlns:a16="http://schemas.microsoft.com/office/drawing/2014/main" id="{55A41189-2041-43F3-8ECE-B9D7CA50A64F}"/>
              </a:ext>
            </a:extLst>
          </p:cNvPr>
          <p:cNvSpPr>
            <a:spLocks xmlns:a="http://schemas.openxmlformats.org/drawingml/2006/main" noGrp="1"/>
          </p:cNvSpPr>
          <p:nvPr/>
        </p:nvSpPr>
        <p:spPr>
          <a:xfrm xmlns:a="http://schemas.openxmlformats.org/drawingml/2006/main">
            <a:off x="1104900" y="3714750"/>
            <a:ext cx="75152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Uitleg bij de lesdoelen.</a:t>
            </a:r>
          </a:p>
        </p:txBody>
      </p:sp>
      <p:sp>
        <p:nvSpPr>
          <p:cNvPr id="13" name="route-number-4">
            <a:extLst xmlns:a="http://schemas.openxmlformats.org/drawingml/2006/main">
              <a:ext uri="{FF2B5EF4-FFF2-40B4-BE49-F238E27FC236}">
                <a16:creationId xmlns:a16="http://schemas.microsoft.com/office/drawing/2014/main" id="{4CE4DE6E-A71E-435C-9430-4CC9D1F53161}"/>
              </a:ext>
            </a:extLst>
          </p:cNvPr>
          <p:cNvSpPr>
            <a:spLocks xmlns:a="http://schemas.openxmlformats.org/drawingml/2006/main" noGrp="1"/>
          </p:cNvSpPr>
          <p:nvPr/>
        </p:nvSpPr>
        <p:spPr>
          <a:xfrm xmlns:a="http://schemas.openxmlformats.org/drawingml/2006/main">
            <a:off x="571500" y="4248150"/>
            <a:ext cx="4572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4.</a:t>
            </a:r>
          </a:p>
        </p:txBody>
      </p:sp>
      <p:sp>
        <p:nvSpPr>
          <p:cNvPr id="14" name="route-4">
            <a:extLst xmlns:a="http://schemas.openxmlformats.org/drawingml/2006/main">
              <a:ext uri="{FF2B5EF4-FFF2-40B4-BE49-F238E27FC236}">
                <a16:creationId xmlns:a16="http://schemas.microsoft.com/office/drawing/2014/main" id="{989AD312-F460-4F43-A734-EFB2022B8F91}"/>
              </a:ext>
            </a:extLst>
          </p:cNvPr>
          <p:cNvSpPr>
            <a:spLocks xmlns:a="http://schemas.openxmlformats.org/drawingml/2006/main" noGrp="1"/>
          </p:cNvSpPr>
          <p:nvPr/>
        </p:nvSpPr>
        <p:spPr>
          <a:xfrm xmlns:a="http://schemas.openxmlformats.org/drawingml/2006/main">
            <a:off x="1104900" y="4248150"/>
            <a:ext cx="75152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Begin bij de basisopgaven en stel vragen. Lukt dat goed, ga dan naar de zelfstandige oefening. Maak daarna de doelopgave en kijk vervolgens je antwoorden na.</a:t>
            </a:r>
          </a:p>
        </p:txBody>
      </p:sp>
      <p:sp>
        <p:nvSpPr>
          <p:cNvPr id="15" name="route-number-5">
            <a:extLst xmlns:a="http://schemas.openxmlformats.org/drawingml/2006/main">
              <a:ext uri="{FF2B5EF4-FFF2-40B4-BE49-F238E27FC236}">
                <a16:creationId xmlns:a16="http://schemas.microsoft.com/office/drawing/2014/main" id="{03C26A1F-A4BC-4C61-A98F-F98367A5E041}"/>
              </a:ext>
            </a:extLst>
          </p:cNvPr>
          <p:cNvSpPr>
            <a:spLocks xmlns:a="http://schemas.openxmlformats.org/drawingml/2006/main" noGrp="1"/>
          </p:cNvSpPr>
          <p:nvPr/>
        </p:nvSpPr>
        <p:spPr>
          <a:xfrm xmlns:a="http://schemas.openxmlformats.org/drawingml/2006/main">
            <a:off x="571500" y="6057900"/>
            <a:ext cx="4572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5.</a:t>
            </a:r>
          </a:p>
        </p:txBody>
      </p:sp>
      <p:sp>
        <p:nvSpPr>
          <p:cNvPr id="16" name="route-5">
            <a:extLst xmlns:a="http://schemas.openxmlformats.org/drawingml/2006/main">
              <a:ext uri="{FF2B5EF4-FFF2-40B4-BE49-F238E27FC236}">
                <a16:creationId xmlns:a16="http://schemas.microsoft.com/office/drawing/2014/main" id="{82009B21-549B-42CB-A4D0-6D693E4BFFAE}"/>
              </a:ext>
            </a:extLst>
          </p:cNvPr>
          <p:cNvSpPr>
            <a:spLocks xmlns:a="http://schemas.openxmlformats.org/drawingml/2006/main" noGrp="1"/>
          </p:cNvSpPr>
          <p:nvPr/>
        </p:nvSpPr>
        <p:spPr>
          <a:xfrm xmlns:a="http://schemas.openxmlformats.org/drawingml/2006/main">
            <a:off x="1104900" y="6057900"/>
            <a:ext cx="751522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Klaar? Werk aan een ander vak. Geen devices.</a:t>
            </a:r>
          </a:p>
        </p:txBody>
      </p:sp>
      <p:sp>
        <p:nvSpPr>
          <p:cNvPr id="17" name="route-number-6">
            <a:extLst xmlns:a="http://schemas.openxmlformats.org/drawingml/2006/main">
              <a:ext uri="{FF2B5EF4-FFF2-40B4-BE49-F238E27FC236}">
                <a16:creationId xmlns:a16="http://schemas.microsoft.com/office/drawing/2014/main" id="{5C33A5B2-B10D-410B-8249-0D142D0BFF43}"/>
              </a:ext>
            </a:extLst>
          </p:cNvPr>
          <p:cNvSpPr>
            <a:spLocks xmlns:a="http://schemas.openxmlformats.org/drawingml/2006/main" noGrp="1"/>
          </p:cNvSpPr>
          <p:nvPr/>
        </p:nvSpPr>
        <p:spPr>
          <a:xfrm xmlns:a="http://schemas.openxmlformats.org/drawingml/2006/main">
            <a:off x="571500" y="6819900"/>
            <a:ext cx="457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6.</a:t>
            </a:r>
          </a:p>
        </p:txBody>
      </p:sp>
      <p:sp>
        <p:nvSpPr>
          <p:cNvPr id="18" name="route-6">
            <a:extLst xmlns:a="http://schemas.openxmlformats.org/drawingml/2006/main">
              <a:ext uri="{FF2B5EF4-FFF2-40B4-BE49-F238E27FC236}">
                <a16:creationId xmlns:a16="http://schemas.microsoft.com/office/drawing/2014/main" id="{ED3173F4-2AAD-414A-9BAF-AFDA60C761E0}"/>
              </a:ext>
            </a:extLst>
          </p:cNvPr>
          <p:cNvSpPr>
            <a:spLocks xmlns:a="http://schemas.openxmlformats.org/drawingml/2006/main" noGrp="1"/>
          </p:cNvSpPr>
          <p:nvPr/>
        </p:nvSpPr>
        <p:spPr>
          <a:xfrm xmlns:a="http://schemas.openxmlformats.org/drawingml/2006/main">
            <a:off x="1104900" y="6819900"/>
            <a:ext cx="75152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Bespreken van de doelopgave: opgave 17.</a:t>
            </a:r>
          </a:p>
        </p:txBody>
      </p:sp>
      <p:sp>
        <p:nvSpPr>
          <p:cNvPr id="19" name="route-number-7">
            <a:extLst xmlns:a="http://schemas.openxmlformats.org/drawingml/2006/main">
              <a:ext uri="{FF2B5EF4-FFF2-40B4-BE49-F238E27FC236}">
                <a16:creationId xmlns:a16="http://schemas.microsoft.com/office/drawing/2014/main" id="{3614C3E8-A59E-4FD4-B7D5-7B2338D34D76}"/>
              </a:ext>
            </a:extLst>
          </p:cNvPr>
          <p:cNvSpPr>
            <a:spLocks xmlns:a="http://schemas.openxmlformats.org/drawingml/2006/main" noGrp="1"/>
          </p:cNvSpPr>
          <p:nvPr/>
        </p:nvSpPr>
        <p:spPr>
          <a:xfrm xmlns:a="http://schemas.openxmlformats.org/drawingml/2006/main">
            <a:off x="571500" y="7372350"/>
            <a:ext cx="457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7.</a:t>
            </a:r>
          </a:p>
        </p:txBody>
      </p:sp>
      <p:sp>
        <p:nvSpPr>
          <p:cNvPr id="20" name="route-7">
            <a:extLst xmlns:a="http://schemas.openxmlformats.org/drawingml/2006/main">
              <a:ext uri="{FF2B5EF4-FFF2-40B4-BE49-F238E27FC236}">
                <a16:creationId xmlns:a16="http://schemas.microsoft.com/office/drawing/2014/main" id="{D8A5DBCD-C95E-4F85-AAFB-BA43B2C95224}"/>
              </a:ext>
            </a:extLst>
          </p:cNvPr>
          <p:cNvSpPr>
            <a:spLocks xmlns:a="http://schemas.openxmlformats.org/drawingml/2006/main" noGrp="1"/>
          </p:cNvSpPr>
          <p:nvPr/>
        </p:nvSpPr>
        <p:spPr>
          <a:xfrm xmlns:a="http://schemas.openxmlformats.org/drawingml/2006/main">
            <a:off x="1104900" y="7372350"/>
            <a:ext cx="75152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7658A"/>
                </a:solidFill>
                <a:latin typeface="Arial"/>
                <a:ea typeface="Arial"/>
                <a:cs typeface="Arial"/>
              </a:defRPr>
            </a:pPr>
            <a:r>
              <a:rPr sz="2250" b="1">
                <a:solidFill>
                  <a:srgbClr val="17658A"/>
                </a:solidFill>
                <a:latin typeface="Arial"/>
                <a:ea typeface="Arial"/>
                <a:cs typeface="Arial"/>
              </a:rPr>
              <a:t>Zet je huiswerk in je agenda.</a:t>
            </a:r>
          </a:p>
        </p:txBody>
      </p:sp>
      <p:sp>
        <p:nvSpPr>
          <p:cNvPr id="21" name="Lesdoelen">
            <a:extLst xmlns:a="http://schemas.openxmlformats.org/drawingml/2006/main">
              <a:ext uri="{FF2B5EF4-FFF2-40B4-BE49-F238E27FC236}">
                <a16:creationId xmlns:a16="http://schemas.microsoft.com/office/drawing/2014/main" id="{7B091A45-870F-44E0-889B-1073058DC652}"/>
              </a:ext>
            </a:extLst>
          </p:cNvPr>
          <p:cNvSpPr>
            <a:spLocks xmlns:a="http://schemas.openxmlformats.org/drawingml/2006/main" noGrp="1"/>
          </p:cNvSpPr>
          <p:nvPr/>
        </p:nvSpPr>
        <p:spPr>
          <a:xfrm xmlns:a="http://schemas.openxmlformats.org/drawingml/2006/main">
            <a:off x="9258300" y="176212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Lesdoelen</a:t>
            </a:r>
          </a:p>
        </p:txBody>
      </p:sp>
      <p:sp>
        <p:nvSpPr>
          <p:cNvPr id="22" name="overview-goals">
            <a:extLst xmlns:a="http://schemas.openxmlformats.org/drawingml/2006/main">
              <a:ext uri="{FF2B5EF4-FFF2-40B4-BE49-F238E27FC236}">
                <a16:creationId xmlns:a16="http://schemas.microsoft.com/office/drawing/2014/main" id="{4B627DAA-0DC8-4580-84C9-3D8AFDC35BA7}"/>
              </a:ext>
            </a:extLst>
          </p:cNvPr>
          <p:cNvSpPr>
            <a:spLocks xmlns:a="http://schemas.openxmlformats.org/drawingml/2006/main" noGrp="1"/>
          </p:cNvSpPr>
          <p:nvPr/>
        </p:nvSpPr>
        <p:spPr>
          <a:xfrm xmlns:a="http://schemas.openxmlformats.org/drawingml/2006/main">
            <a:off x="9258300" y="2324100"/>
            <a:ext cx="538162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MK afleiden en uitleggen.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Punt en tabelstap onderscheiden.</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Kostenveranderingen verklaren.</a:t>
            </a:r>
          </a:p>
        </p:txBody>
      </p:sp>
      <p:sp>
        <p:nvSpPr>
          <p:cNvPr id="23" name="">
            <a:extLst xmlns:a="http://schemas.openxmlformats.org/drawingml/2006/main">
              <a:ext uri="{FF2B5EF4-FFF2-40B4-BE49-F238E27FC236}">
                <a16:creationId xmlns:a16="http://schemas.microsoft.com/office/drawing/2014/main" id="{2235D440-6772-4FC3-A0F7-26666CD2518A}"/>
              </a:ext>
            </a:extLst>
          </p:cNvPr>
          <p:cNvSpPr>
            <a:spLocks xmlns:a="http://schemas.openxmlformats.org/drawingml/2006/main" noGrp="1"/>
          </p:cNvSpPr>
          <p:nvPr/>
        </p:nvSpPr>
        <p:spPr>
          <a:xfrm xmlns:a="http://schemas.openxmlformats.org/drawingml/2006/main">
            <a:off x="9258300" y="3562350"/>
            <a:ext cx="5410200" cy="0"/>
          </a:xfrm>
          <a:prstGeom xmlns:a="http://schemas.openxmlformats.org/drawingml/2006/main" prst="line">
            <a:avLst/>
          </a:prstGeom>
          <a:ln xmlns:a="http://schemas.openxmlformats.org/drawingml/2006/main" w="19050">
            <a:solidFill>
              <a:srgbClr val="C6D2DB"/>
            </a:solidFill>
          </a:ln>
        </p:spPr>
      </p:sp>
      <p:sp>
        <p:nvSpPr>
          <p:cNvPr id="24" name="Startopdracht">
            <a:extLst xmlns:a="http://schemas.openxmlformats.org/drawingml/2006/main">
              <a:ext uri="{FF2B5EF4-FFF2-40B4-BE49-F238E27FC236}">
                <a16:creationId xmlns:a16="http://schemas.microsoft.com/office/drawing/2014/main" id="{06B55452-F254-4EA6-AE18-AE3781C5B3B3}"/>
              </a:ext>
            </a:extLst>
          </p:cNvPr>
          <p:cNvSpPr>
            <a:spLocks xmlns:a="http://schemas.openxmlformats.org/drawingml/2006/main" noGrp="1"/>
          </p:cNvSpPr>
          <p:nvPr/>
        </p:nvSpPr>
        <p:spPr>
          <a:xfrm xmlns:a="http://schemas.openxmlformats.org/drawingml/2006/main">
            <a:off x="9258300" y="3838575"/>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83247"/>
                </a:solidFill>
                <a:latin typeface="Arial"/>
                <a:ea typeface="Arial"/>
                <a:cs typeface="Arial"/>
              </a:defRPr>
            </a:pPr>
            <a:r>
              <a:rPr sz="2625" b="1">
                <a:solidFill>
                  <a:srgbClr val="183247"/>
                </a:solidFill>
                <a:latin typeface="Arial"/>
                <a:ea typeface="Arial"/>
                <a:cs typeface="Arial"/>
              </a:rPr>
              <a:t>Startopdracht</a:t>
            </a:r>
          </a:p>
        </p:txBody>
      </p:sp>
      <p:sp>
        <p:nvSpPr>
          <p:cNvPr id="25" name="overview-start">
            <a:extLst xmlns:a="http://schemas.openxmlformats.org/drawingml/2006/main">
              <a:ext uri="{FF2B5EF4-FFF2-40B4-BE49-F238E27FC236}">
                <a16:creationId xmlns:a16="http://schemas.microsoft.com/office/drawing/2014/main" id="{D0D7DD92-36D7-4347-9C24-585541EE2CF2}"/>
              </a:ext>
            </a:extLst>
          </p:cNvPr>
          <p:cNvSpPr>
            <a:spLocks xmlns:a="http://schemas.openxmlformats.org/drawingml/2006/main" noGrp="1"/>
          </p:cNvSpPr>
          <p:nvPr/>
        </p:nvSpPr>
        <p:spPr>
          <a:xfrm xmlns:a="http://schemas.openxmlformats.org/drawingml/2006/main">
            <a:off x="9258300" y="4371975"/>
            <a:ext cx="53816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Pagina 65 · Opgaven 11 en 12</a:t>
            </a:r>
          </a:p>
          <a:p xmlns:a="http://schemas.openxmlformats.org/drawingml/2006/main">
            <a:pPr algn="l">
              <a:defRPr sz="2250" b="0">
                <a:solidFill>
                  <a:srgbClr val="183247"/>
                </a:solidFill>
                <a:latin typeface="Arial"/>
                <a:ea typeface="Arial"/>
                <a:cs typeface="Arial"/>
              </a:defRPr>
            </a:pPr>
            <a:r>
              <a:rPr sz="2250" b="0">
                <a:solidFill>
                  <a:srgbClr val="183247"/>
                </a:solidFill>
                <a:latin typeface="Arial"/>
                <a:ea typeface="Arial"/>
                <a:cs typeface="Arial"/>
              </a:rPr>
              <a:t>12: verkennen, theorie p. 62–64</a:t>
            </a:r>
          </a:p>
        </p:txBody>
      </p:sp>
      <p:sp>
        <p:nvSpPr>
          <p:cNvPr id="26" name="">
            <a:extLst xmlns:a="http://schemas.openxmlformats.org/drawingml/2006/main">
              <a:ext uri="{FF2B5EF4-FFF2-40B4-BE49-F238E27FC236}">
                <a16:creationId xmlns:a16="http://schemas.microsoft.com/office/drawing/2014/main" id="{E0E467A7-2CA1-4927-A33A-0CB52DB225F5}"/>
              </a:ext>
            </a:extLst>
          </p:cNvPr>
          <p:cNvSpPr>
            <a:spLocks xmlns:a="http://schemas.openxmlformats.org/drawingml/2006/main" noGrp="1"/>
          </p:cNvSpPr>
          <p:nvPr/>
        </p:nvSpPr>
        <p:spPr>
          <a:xfrm xmlns:a="http://schemas.openxmlformats.org/drawingml/2006/main">
            <a:off x="9258300" y="5429250"/>
            <a:ext cx="5410200" cy="0"/>
          </a:xfrm>
          <a:prstGeom xmlns:a="http://schemas.openxmlformats.org/drawingml/2006/main" prst="line">
            <a:avLst/>
          </a:prstGeom>
          <a:ln xmlns:a="http://schemas.openxmlformats.org/drawingml/2006/main" w="19050">
            <a:solidFill>
              <a:srgbClr val="C6D2DB"/>
            </a:solidFill>
          </a:ln>
        </p:spPr>
      </p:sp>
      <p:sp>
        <p:nvSpPr>
          <p:cNvPr id="27" name="Huiswerk">
            <a:extLst xmlns:a="http://schemas.openxmlformats.org/drawingml/2006/main">
              <a:ext uri="{FF2B5EF4-FFF2-40B4-BE49-F238E27FC236}">
                <a16:creationId xmlns:a16="http://schemas.microsoft.com/office/drawing/2014/main" id="{EC490F6D-2DCF-4A43-8E03-8BF2DC3F554F}"/>
              </a:ext>
            </a:extLst>
          </p:cNvPr>
          <p:cNvSpPr>
            <a:spLocks xmlns:a="http://schemas.openxmlformats.org/drawingml/2006/main" noGrp="1"/>
          </p:cNvSpPr>
          <p:nvPr/>
        </p:nvSpPr>
        <p:spPr>
          <a:xfrm xmlns:a="http://schemas.openxmlformats.org/drawingml/2006/main">
            <a:off x="9258300" y="5695950"/>
            <a:ext cx="5381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17658A"/>
                </a:solidFill>
                <a:latin typeface="Arial"/>
                <a:ea typeface="Arial"/>
                <a:cs typeface="Arial"/>
              </a:defRPr>
            </a:pPr>
            <a:r>
              <a:rPr sz="2625" b="1">
                <a:solidFill>
                  <a:srgbClr val="17658A"/>
                </a:solidFill>
                <a:latin typeface="Arial"/>
                <a:ea typeface="Arial"/>
                <a:cs typeface="Arial"/>
              </a:rPr>
              <a:t>Huiswerk</a:t>
            </a:r>
          </a:p>
        </p:txBody>
      </p:sp>
      <p:sp>
        <p:nvSpPr>
          <p:cNvPr id="28" name="overview-homework">
            <a:extLst xmlns:a="http://schemas.openxmlformats.org/drawingml/2006/main">
              <a:ext uri="{FF2B5EF4-FFF2-40B4-BE49-F238E27FC236}">
                <a16:creationId xmlns:a16="http://schemas.microsoft.com/office/drawing/2014/main" id="{876BDD51-81AE-4BC0-ACA7-8A8C28A61B3D}"/>
              </a:ext>
            </a:extLst>
          </p:cNvPr>
          <p:cNvSpPr>
            <a:spLocks xmlns:a="http://schemas.openxmlformats.org/drawingml/2006/main" noGrp="1"/>
          </p:cNvSpPr>
          <p:nvPr/>
        </p:nvSpPr>
        <p:spPr>
          <a:xfrm xmlns:a="http://schemas.openxmlformats.org/drawingml/2006/main">
            <a:off x="9258300" y="6229350"/>
            <a:ext cx="538162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§3.2.2</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Basis: 13 en 14</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Zelfstandig: 15 en 16</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Doelopgave: 17</a:t>
            </a:r>
          </a:p>
          <a:p xmlns:a="http://schemas.openxmlformats.org/drawingml/2006/main">
            <a:pPr algn="l">
              <a:defRPr sz="2250" b="1">
                <a:solidFill>
                  <a:srgbClr val="183247"/>
                </a:solidFill>
                <a:latin typeface="Arial"/>
                <a:ea typeface="Arial"/>
                <a:cs typeface="Arial"/>
              </a:defRPr>
            </a:pPr>
            <a:r>
              <a:rPr sz="2250" b="1">
                <a:solidFill>
                  <a:srgbClr val="183247"/>
                </a:solidFill>
                <a:latin typeface="Arial"/>
                <a:ea typeface="Arial"/>
                <a:cs typeface="Arial"/>
              </a:rPr>
              <a:t>Maken en nakijken</a:t>
            </a:r>
          </a:p>
        </p:txBody>
      </p:sp>
    </p:spTree>
    <p:extLst>
      <p:ext uri="{BB962C8B-B14F-4D97-AF65-F5344CB8AC3E}">
        <p14:creationId xmlns:p14="http://schemas.microsoft.com/office/powerpoint/2010/main" val="170284504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2026-10-01T10:10:11.1240000Z</dcterms:created>
  <dcterms:modified xsi:type="dcterms:W3CDTF">2026-10-01T10:10:11.1240000Z</dcterms:modified>
</coreProperties>
</file>