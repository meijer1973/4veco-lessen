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7.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8.xml" ContentType="application/vnd.openxmlformats-officedocument.drawingml.chart+xml"/>
  <Override PartName="/ppt/slides/charts/chart9.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10.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11.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8eca6581dc244e7" /><Relationship Type="http://schemas.openxmlformats.org/officeDocument/2006/relationships/extended-properties" Target="/docProps/app.xml" Id="Reb139e46a61e45db" /><Relationship Type="http://schemas.openxmlformats.org/officeDocument/2006/relationships/officeDocument" Target="/ppt/presentation.xml" Id="Rf5ed5a6a80d94a72" /></Relationships>
</file>

<file path=ppt/presentation.xml><?xml version="1.0" encoding="utf-8"?>
<p:presentation xmlns:p="http://schemas.openxmlformats.org/presentationml/2006/main">
  <p:sldMasterIdLst>
    <p:sldMasterId xmlns:r="http://schemas.openxmlformats.org/officeDocument/2006/relationships" id="2147483648" r:id="R0aa24ec808dc4f9f"/>
  </p:sldMasterIdLst>
  <p:notesMasterIdLst>
    <p:notesMasterId xmlns:r="http://schemas.openxmlformats.org/officeDocument/2006/relationships" r:id="Rf2b9f924932c4074"/>
  </p:notesMasterIdLst>
  <p:sldIdLst>
    <p:sldId xmlns:r="http://schemas.openxmlformats.org/officeDocument/2006/relationships" id="256" r:id="R4d5675afbfe349f9"/>
    <p:sldId xmlns:r="http://schemas.openxmlformats.org/officeDocument/2006/relationships" id="257" r:id="Ra45dc66342684600"/>
    <p:sldId xmlns:r="http://schemas.openxmlformats.org/officeDocument/2006/relationships" id="258" r:id="R6d6b8ac655634edc"/>
    <p:sldId xmlns:r="http://schemas.openxmlformats.org/officeDocument/2006/relationships" id="259" r:id="R30f59b04c36944bc"/>
    <p:sldId xmlns:r="http://schemas.openxmlformats.org/officeDocument/2006/relationships" id="260" r:id="R67f762a3fae8458c"/>
    <p:sldId xmlns:r="http://schemas.openxmlformats.org/officeDocument/2006/relationships" id="261" r:id="R307255eb78ee4b75"/>
    <p:sldId xmlns:r="http://schemas.openxmlformats.org/officeDocument/2006/relationships" id="262" r:id="R43562e8a2e47458a"/>
    <p:sldId xmlns:r="http://schemas.openxmlformats.org/officeDocument/2006/relationships" id="263" r:id="R10dca44b74d24687"/>
    <p:sldId xmlns:r="http://schemas.openxmlformats.org/officeDocument/2006/relationships" id="264" r:id="R3540354b53a14222"/>
    <p:sldId xmlns:r="http://schemas.openxmlformats.org/officeDocument/2006/relationships" id="265" r:id="Rde22a64bb68f4555"/>
    <p:sldId xmlns:r="http://schemas.openxmlformats.org/officeDocument/2006/relationships" id="266" r:id="Rcf5bd121389343b9"/>
    <p:sldId xmlns:r="http://schemas.openxmlformats.org/officeDocument/2006/relationships" id="267" r:id="Rfe7da54c11f441f6"/>
    <p:sldId xmlns:r="http://schemas.openxmlformats.org/officeDocument/2006/relationships" id="268" r:id="Radf1d9f926f545fc"/>
    <p:sldId xmlns:r="http://schemas.openxmlformats.org/officeDocument/2006/relationships" id="269" r:id="R0dc88f4d480348c5"/>
    <p:sldId xmlns:r="http://schemas.openxmlformats.org/officeDocument/2006/relationships" id="270" r:id="Ra0bec9d899e54e09"/>
    <p:sldId xmlns:r="http://schemas.openxmlformats.org/officeDocument/2006/relationships" id="271" r:id="Rc0bec309429d487b"/>
    <p:sldId xmlns:r="http://schemas.openxmlformats.org/officeDocument/2006/relationships" id="272" r:id="R23e2206074474bc7"/>
    <p:sldId xmlns:r="http://schemas.openxmlformats.org/officeDocument/2006/relationships" id="273" r:id="Rf8d2b34934724e5d"/>
    <p:sldId xmlns:r="http://schemas.openxmlformats.org/officeDocument/2006/relationships" id="274" r:id="R078221a1657246f4"/>
    <p:sldId xmlns:r="http://schemas.openxmlformats.org/officeDocument/2006/relationships" id="275" r:id="R0dde7ef0ccf94b92"/>
    <p:sldId xmlns:r="http://schemas.openxmlformats.org/officeDocument/2006/relationships" id="276" r:id="Rccca886b6be24fea"/>
    <p:sldId xmlns:r="http://schemas.openxmlformats.org/officeDocument/2006/relationships" id="277" r:id="R79f70516effd4689"/>
    <p:sldId xmlns:r="http://schemas.openxmlformats.org/officeDocument/2006/relationships" id="278" r:id="R42523dc5b2f342f1"/>
    <p:sldId xmlns:r="http://schemas.openxmlformats.org/officeDocument/2006/relationships" id="279" r:id="R4b77c1f13af0471c"/>
    <p:sldId xmlns:r="http://schemas.openxmlformats.org/officeDocument/2006/relationships" id="280" r:id="Rbdf211ec55a04c4f"/>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0f9aa757f84353" /><Relationship Type="http://schemas.openxmlformats.org/officeDocument/2006/relationships/slideMaster" Target="/ppt/slideMasters/slideMaster1.xml" Id="R0aa24ec808dc4f9f" /><Relationship Type="http://schemas.openxmlformats.org/officeDocument/2006/relationships/notesMaster" Target="/ppt/notesMasters/notesMaster1.xml" Id="Rf2b9f924932c4074" /><Relationship Type="http://schemas.openxmlformats.org/officeDocument/2006/relationships/presProps" Target="/ppt/presProps.xml" Id="Rdf9fc36b72f74d9b" /><Relationship Type="http://schemas.openxmlformats.org/officeDocument/2006/relationships/tableStyles" Target="/ppt/tableStyles.xml" Id="R83be83b3d7b444e4" /><Relationship Type="http://schemas.openxmlformats.org/officeDocument/2006/relationships/slide" Target="/ppt/slides/slide1.xml" Id="R4d5675afbfe349f9" /><Relationship Type="http://schemas.openxmlformats.org/officeDocument/2006/relationships/slide" Target="/ppt/slides/slide2.xml" Id="Ra45dc66342684600" /><Relationship Type="http://schemas.openxmlformats.org/officeDocument/2006/relationships/slide" Target="/ppt/slides/slide3.xml" Id="R6d6b8ac655634edc" /><Relationship Type="http://schemas.openxmlformats.org/officeDocument/2006/relationships/slide" Target="/ppt/slides/slide4.xml" Id="R30f59b04c36944bc" /><Relationship Type="http://schemas.openxmlformats.org/officeDocument/2006/relationships/slide" Target="/ppt/slides/slide5.xml" Id="R67f762a3fae8458c" /><Relationship Type="http://schemas.openxmlformats.org/officeDocument/2006/relationships/slide" Target="/ppt/slides/slide6.xml" Id="R307255eb78ee4b75" /><Relationship Type="http://schemas.openxmlformats.org/officeDocument/2006/relationships/slide" Target="/ppt/slides/slide7.xml" Id="R43562e8a2e47458a" /><Relationship Type="http://schemas.openxmlformats.org/officeDocument/2006/relationships/slide" Target="/ppt/slides/slide8.xml" Id="R10dca44b74d24687" /><Relationship Type="http://schemas.openxmlformats.org/officeDocument/2006/relationships/slide" Target="/ppt/slides/slide9.xml" Id="R3540354b53a14222" /><Relationship Type="http://schemas.openxmlformats.org/officeDocument/2006/relationships/slide" Target="/ppt/slides/slide10.xml" Id="Rde22a64bb68f4555" /><Relationship Type="http://schemas.openxmlformats.org/officeDocument/2006/relationships/slide" Target="/ppt/slides/slide11.xml" Id="Rcf5bd121389343b9" /><Relationship Type="http://schemas.openxmlformats.org/officeDocument/2006/relationships/slide" Target="/ppt/slides/slide12.xml" Id="Rfe7da54c11f441f6" /><Relationship Type="http://schemas.openxmlformats.org/officeDocument/2006/relationships/slide" Target="/ppt/slides/slide13.xml" Id="Radf1d9f926f545fc" /><Relationship Type="http://schemas.openxmlformats.org/officeDocument/2006/relationships/slide" Target="/ppt/slides/slide14.xml" Id="R0dc88f4d480348c5" /><Relationship Type="http://schemas.openxmlformats.org/officeDocument/2006/relationships/slide" Target="/ppt/slides/slide15.xml" Id="Ra0bec9d899e54e09" /><Relationship Type="http://schemas.openxmlformats.org/officeDocument/2006/relationships/slide" Target="/ppt/slides/slide16.xml" Id="Rc0bec309429d487b" /><Relationship Type="http://schemas.openxmlformats.org/officeDocument/2006/relationships/slide" Target="/ppt/slides/slide17.xml" Id="R23e2206074474bc7" /><Relationship Type="http://schemas.openxmlformats.org/officeDocument/2006/relationships/slide" Target="/ppt/slides/slide18.xml" Id="Rf8d2b34934724e5d" /><Relationship Type="http://schemas.openxmlformats.org/officeDocument/2006/relationships/slide" Target="/ppt/slides/slide19.xml" Id="R078221a1657246f4" /><Relationship Type="http://schemas.openxmlformats.org/officeDocument/2006/relationships/slide" Target="/ppt/slides/slide20.xml" Id="R0dde7ef0ccf94b92" /><Relationship Type="http://schemas.openxmlformats.org/officeDocument/2006/relationships/slide" Target="/ppt/slides/slide21.xml" Id="Rccca886b6be24fea" /><Relationship Type="http://schemas.openxmlformats.org/officeDocument/2006/relationships/slide" Target="/ppt/slides/slide22.xml" Id="R79f70516effd4689" /><Relationship Type="http://schemas.openxmlformats.org/officeDocument/2006/relationships/slide" Target="/ppt/slides/slide23.xml" Id="R42523dc5b2f342f1" /><Relationship Type="http://schemas.openxmlformats.org/officeDocument/2006/relationships/slide" Target="/ppt/slides/slide24.xml" Id="R4b77c1f13af0471c" /><Relationship Type="http://schemas.openxmlformats.org/officeDocument/2006/relationships/slide" Target="/ppt/slides/slide25.xml" Id="Rbdf211ec55a04c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a90da78ec34f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cfe04642384709" /><Relationship Type="http://schemas.openxmlformats.org/officeDocument/2006/relationships/notesMaster" Target="/ppt/notesMasters/notesMaster1.xml" Id="R41706ce814f543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f07ddbff0c441f" /><Relationship Type="http://schemas.openxmlformats.org/officeDocument/2006/relationships/notesMaster" Target="/ppt/notesMasters/notesMaster1.xml" Id="R2187dd1f6a2947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3683b405c64008" /><Relationship Type="http://schemas.openxmlformats.org/officeDocument/2006/relationships/notesMaster" Target="/ppt/notesMasters/notesMaster1.xml" Id="R9c133999289c49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9cd450b0264be4" /><Relationship Type="http://schemas.openxmlformats.org/officeDocument/2006/relationships/notesMaster" Target="/ppt/notesMasters/notesMaster1.xml" Id="Rd588099815d94d69" /></Relationships>
</file>

<file path=ppt/notesSlides/_rels/notesSlide5.xml.rels>&#65279;<?xml version="1.0" encoding="utf-8"?><Relationships xmlns="http://schemas.openxmlformats.org/package/2006/relationships"><Relationship Type="http://schemas.openxmlformats.org/officeDocument/2006/relationships/slide" Target="/ppt/slides/slide5.xml" Id="Rc24120990c244a91" /><Relationship Type="http://schemas.openxmlformats.org/officeDocument/2006/relationships/notesMaster" Target="/ppt/notesMasters/notesMaster1.xml" Id="Rfc9afec378a044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527e5ef08ae4bec" /><Relationship Type="http://schemas.openxmlformats.org/officeDocument/2006/relationships/notesMaster" Target="/ppt/notesMasters/notesMaster1.xml" Id="Rf25f525581fd4f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6e4c6b58bc4b57" /><Relationship Type="http://schemas.openxmlformats.org/officeDocument/2006/relationships/notesMaster" Target="/ppt/notesMasters/notesMaster1.xml" Id="R160106b3d30c47cc" /></Relationships>
</file>

<file path=ppt/notesSlides/_rels/notesSlide8.xml.rels>&#65279;<?xml version="1.0" encoding="utf-8"?><Relationships xmlns="http://schemas.openxmlformats.org/package/2006/relationships"><Relationship Type="http://schemas.openxmlformats.org/officeDocument/2006/relationships/slide" Target="/ppt/slides/slide8.xml" Id="R8d90c39ee9bf452b" /><Relationship Type="http://schemas.openxmlformats.org/officeDocument/2006/relationships/notesMaster" Target="/ppt/notesMasters/notesMaster1.xml" Id="R8ab4d96c3e1d44fa" /></Relationships>
</file>

<file path=ppt/notesSlides/_rels/notesSlide9.xml.rels>&#65279;<?xml version="1.0" encoding="utf-8"?><Relationships xmlns="http://schemas.openxmlformats.org/package/2006/relationships"><Relationship Type="http://schemas.openxmlformats.org/officeDocument/2006/relationships/slide" Target="/ppt/slides/slide9.xml" Id="R2529fbae60f64ec9" /><Relationship Type="http://schemas.openxmlformats.org/officeDocument/2006/relationships/notesMaster" Target="/ppt/notesMasters/notesMaster1.xml" Id="Rff2596448ecf45b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8416dbac14e47c3" /><Relationship Type="http://schemas.openxmlformats.org/officeDocument/2006/relationships/notesMaster" Target="/ppt/notesMasters/notesMaster1.xml" Id="Rea4fb810632743b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d37d9fa758c49a5" /><Relationship Type="http://schemas.openxmlformats.org/officeDocument/2006/relationships/notesMaster" Target="/ppt/notesMasters/notesMaster1.xml" Id="Rf8137376464b451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58423f35fa24dc1" /><Relationship Type="http://schemas.openxmlformats.org/officeDocument/2006/relationships/notesMaster" Target="/ppt/notesMasters/notesMaster1.xml" Id="R085774e50ae640a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0ef27566bd04137" /><Relationship Type="http://schemas.openxmlformats.org/officeDocument/2006/relationships/notesMaster" Target="/ppt/notesMasters/notesMaster1.xml" Id="R2192e1ec97df491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f202eda060148c4" /><Relationship Type="http://schemas.openxmlformats.org/officeDocument/2006/relationships/notesMaster" Target="/ppt/notesMasters/notesMaster1.xml" Id="R32347d04d12d47c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3f5ea53686345cf" /><Relationship Type="http://schemas.openxmlformats.org/officeDocument/2006/relationships/notesMaster" Target="/ppt/notesMasters/notesMaster1.xml" Id="R6416ae348319456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705dbf61752464b" /><Relationship Type="http://schemas.openxmlformats.org/officeDocument/2006/relationships/notesMaster" Target="/ppt/notesMasters/notesMaster1.xml" Id="Rfd6f3a84784f4e3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0e547ae40684f5f" /><Relationship Type="http://schemas.openxmlformats.org/officeDocument/2006/relationships/notesMaster" Target="/ppt/notesMasters/notesMaster1.xml" Id="R8426e321250d4ce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12f4ad7f07e4671" /><Relationship Type="http://schemas.openxmlformats.org/officeDocument/2006/relationships/notesMaster" Target="/ppt/notesMasters/notesMaster1.xml" Id="R6f2c58a1582a4e4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71262c9aa5c41b9" /><Relationship Type="http://schemas.openxmlformats.org/officeDocument/2006/relationships/notesMaster" Target="/ppt/notesMasters/notesMaster1.xml" Id="Rcaa5f61345fb45d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2c4095e81ec423c" /><Relationship Type="http://schemas.openxmlformats.org/officeDocument/2006/relationships/notesMaster" Target="/ppt/notesMasters/notesMaster1.xml" Id="Rb890d2ca4f6b4ea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b92939767294aa7" /><Relationship Type="http://schemas.openxmlformats.org/officeDocument/2006/relationships/notesMaster" Target="/ppt/notesMasters/notesMaster1.xml" Id="R9ecfc41b2ee44f8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0e004b407fb41bf" /><Relationship Type="http://schemas.openxmlformats.org/officeDocument/2006/relationships/notesMaster" Target="/ppt/notesMasters/notesMaster1.xml" Id="R7fa54d1145f5459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263a5c735024725" /><Relationship Type="http://schemas.openxmlformats.org/officeDocument/2006/relationships/notesMaster" Target="/ppt/notesMasters/notesMaster1.xml" Id="Rbce976952fe541e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c623361c2b84731" /><Relationship Type="http://schemas.openxmlformats.org/officeDocument/2006/relationships/notesMaster" Target="/ppt/notesMasters/notesMaster1.xml" Id="R450ea01b6d944f4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ef4a56ca944490a" /><Relationship Type="http://schemas.openxmlformats.org/officeDocument/2006/relationships/notesMaster" Target="/ppt/notesMasters/notesMaster1.xml" Id="R2fd93e9c76cc4d2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kun je al en waarbij gebruik je de theorie?</a:t>
            </a:r>
          </a:p>
          <a:p xmlns:a="http://schemas.openxmlformats.org/drawingml/2006/main">
            <a:r>
              <a:rPr sz="1400"/>
              <a:t/>
            </a:r>
          </a:p>
          <a:p xmlns:a="http://schemas.openxmlformats.org/drawingml/2006/main">
            <a:r>
              <a:rPr sz="1400"/>
              <a:t>Uitleg: Laat deze dia staan tijdens startopdracht. Start 1–2 op p. 57, basis 3 op p. 57 en 4 op p. 58, zelfstandig 5–6 op p. 59, doel 7 op p. 60. Huiswerk: opgaven 3, 4, 5, 6 en 7 maken en nakijken. Bonus 8 en herhaling 9–10 zijn extra. Opgave 1 haalt TO, GO en MO uit Boek 2 terug. Als dat hapert: TO = P × q, GO = TO / q en MO = ΔTO / Δq. Opgave 2 is een verkenning van nieuwe modelkenmerken en de overgang van markt naar onderneming. Laat leerlingen de vier kenmerken op p. 54 en de twee grafieken met toelichting op p. 55 gebruiken, en hun twijfel noteren. Verwacht nog geen zelfstandig beheerste nieuwe procedure. Bij terugkeer vóór het basiswerk: laat opgave 2 opnieuw proberen en laat leerlingen Q en q aanwijzen en hun modelredenering toelichten. De docenthandleiding reserveert voorlopig twee lessen van 55 minuten, zonder gemeten tijdsfit. Verschuif zo nodig de lesgrens en behoud alle begeleide inoefening.</a:t>
            </a:r>
          </a:p>
          <a:p xmlns:a="http://schemas.openxmlformats.org/drawingml/2006/main">
            <a:r>
              <a:rPr sz="1400"/>
              <a:t/>
            </a:r>
          </a:p>
          <a:p xmlns:a="http://schemas.openxmlformats.org/drawingml/2006/main">
            <a:r>
              <a:rPr sz="1400"/>
              <a:t>Misvatting: De boekpagina’s 54–60 verschillen van de lokale hoofdstukpagina’s 2–8. De nieuwe firmalijn is geen reeds beheerste voorkennis.</a:t>
            </a:r>
          </a:p>
          <a:p xmlns:a="http://schemas.openxmlformats.org/drawingml/2006/main">
            <a:r>
              <a:rPr sz="1400"/>
              <a:t/>
            </a:r>
          </a:p>
          <a:p xmlns:a="http://schemas.openxmlformats.org/drawingml/2006/main">
            <a:r>
              <a:rPr sz="1400"/>
              <a:t>Overgang: Ga naar de volgende lesfase als de klas eraan toe is.</a:t>
            </a:r>
          </a:p>
          <a:p xmlns:a="http://schemas.openxmlformats.org/drawingml/2006/main">
            <a:r>
              <a:rPr sz="1400"/>
              <a:t/>
            </a:r>
          </a:p>
          <a:p xmlns:a="http://schemas.openxmlformats.org/drawingml/2006/main">
            <a:r>
              <a:rPr sz="1400"/>
              <a:t>Bron: Boek 3, actuele v3-uitgave, gedrukte boekpagina 54–60.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https://github.com/meijer1973/4veco-lessen/blob/9b8304d5031cafac936a56281e144573a25fbbc9/edities/books34-v3/books/book-3/chapters/3.2/3.2.1%20manuscript.md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kan een teler nog kiezen als de prijs vaststaat?</a:t>
            </a:r>
          </a:p>
          <a:p xmlns:a="http://schemas.openxmlformats.org/drawingml/2006/main">
            <a:r>
              <a:rPr sz="1400"/>
              <a:t/>
            </a:r>
          </a:p>
          <a:p xmlns:a="http://schemas.openxmlformats.org/drawingml/2006/main">
            <a:r>
              <a:rPr sz="1400"/>
              <a:t>Uitleg: De markt bepaalt hier de prijs. De onderneming kiest binnen haar capaciteit hoeveel zij produceert. De optimale productie met kosten komt pas in §3.2.3. Vandaag verbinden we de marktprijs met de opbrengsten van één onderneming.</a:t>
            </a:r>
          </a:p>
          <a:p xmlns:a="http://schemas.openxmlformats.org/drawingml/2006/main">
            <a:r>
              <a:rPr sz="1400"/>
              <a:t/>
            </a:r>
          </a:p>
          <a:p xmlns:a="http://schemas.openxmlformats.org/drawingml/2006/main">
            <a:r>
              <a:rPr sz="1400"/>
              <a:t>Misvatting: Prijsnemer zijn betekent niet dat de onderneming geen enkele keuze heeft.</a:t>
            </a:r>
          </a:p>
          <a:p xmlns:a="http://schemas.openxmlformats.org/drawingml/2006/main">
            <a:r>
              <a:rPr sz="1400"/>
              <a:t/>
            </a:r>
          </a:p>
          <a:p xmlns:a="http://schemas.openxmlformats.org/drawingml/2006/main">
            <a:r>
              <a:rPr sz="1400"/>
              <a:t>Overgang: Bekijk de vier aannames van dit model.</a:t>
            </a:r>
          </a:p>
          <a:p xmlns:a="http://schemas.openxmlformats.org/drawingml/2006/main">
            <a:r>
              <a:rPr sz="1400"/>
              <a:t/>
            </a:r>
          </a:p>
          <a:p xmlns:a="http://schemas.openxmlformats.org/drawingml/2006/main">
            <a:r>
              <a:rPr sz="1400"/>
              <a:t>Bron: Boek 3, actuele v3-uitgave, gedrukte boekpagina 54–56.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https://github.com/meijer1973/4veco-lessen/blob/9b8304d5031cafac936a56281e144573a25fbbc9/edities/books34-v3/books/book-3/chapters/3.2/3.2.1%20manuscript.md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gaat een koper niet vanzelf meer betalen aan één aanbieder?</a:t>
            </a:r>
          </a:p>
          <a:p xmlns:a="http://schemas.openxmlformats.org/drawingml/2006/main">
            <a:r>
              <a:rPr sz="1400"/>
              <a:t/>
            </a:r>
          </a:p>
          <a:p xmlns:a="http://schemas.openxmlformats.org/drawingml/2006/main">
            <a:r>
              <a:rPr sz="1400"/>
              <a:t>Uitleg: Leg uit dat de kenmerken samen het model vormen. Een koper kan bij andere kleine aanbieders een gelijkwaardig product tegen de bekende marktprijs kopen. Vrije toetreding en uittreding hoort bij het model; formele langetermijneffecten horen bij Boek 4. Gebruik dit als context om een prijskeuze te beoordelen.</a:t>
            </a:r>
          </a:p>
          <a:p xmlns:a="http://schemas.openxmlformats.org/drawingml/2006/main">
            <a:r>
              <a:rPr sz="1400"/>
              <a:t/>
            </a:r>
          </a:p>
          <a:p xmlns:a="http://schemas.openxmlformats.org/drawingml/2006/main">
            <a:r>
              <a:rPr sz="1400"/>
              <a:t>Misvatting: Een model beschrijft aannames. Niet iedere landbouwmarkt voldoet er volledig aan.</a:t>
            </a:r>
          </a:p>
          <a:p xmlns:a="http://schemas.openxmlformats.org/drawingml/2006/main">
            <a:r>
              <a:rPr sz="1400"/>
              <a:t/>
            </a:r>
          </a:p>
          <a:p xmlns:a="http://schemas.openxmlformats.org/drawingml/2006/main">
            <a:r>
              <a:rPr sz="1400"/>
              <a:t>Overgang: Gebruik een afzonderlijk voorbeeld van een havermarkt.</a:t>
            </a:r>
          </a:p>
          <a:p xmlns:a="http://schemas.openxmlformats.org/drawingml/2006/main">
            <a:r>
              <a:rPr sz="1400"/>
              <a:t/>
            </a:r>
          </a:p>
          <a:p xmlns:a="http://schemas.openxmlformats.org/drawingml/2006/main">
            <a:r>
              <a:rPr sz="1400"/>
              <a:t>Bron: Boek 3, actuele v3-uitgave, gedrukte boekpagina 54.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https://github.com/meijer1973/4veco-lessen/blob/9b8304d5031cafac936a56281e144573a25fbbc9/edities/books34-v3/books/book-3/chapters/3.2/3.2.1%20manuscript.md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betekent het getal 6 op de horizontale as?</a:t>
            </a:r>
          </a:p>
          <a:p xmlns:a="http://schemas.openxmlformats.org/drawingml/2006/main">
            <a:r>
              <a:rPr sz="1400"/>
              <a:t/>
            </a:r>
          </a:p>
          <a:p xmlns:a="http://schemas.openxmlformats.org/drawingml/2006/main">
            <a:r>
              <a:rPr sz="1400"/>
              <a:t>Uitleg: Eigen rekenvoorbeeld: de vraaglijn loopt van (0;4) naar (12;1), de aanbodlijn van (0;1) naar (12;4). Q staat in duizend kg per dag, P in euro per kg. De gegevens veronderstellen alle vier modelkenmerken. Herhaal de uit Boek 1 bekende bewerking: zoek het snijpunt, lees beide assen en pas de × 1.000-schaal toe.</a:t>
            </a:r>
          </a:p>
          <a:p xmlns:a="http://schemas.openxmlformats.org/drawingml/2006/main">
            <a:r>
              <a:rPr sz="1400"/>
              <a:t/>
            </a:r>
          </a:p>
          <a:p xmlns:a="http://schemas.openxmlformats.org/drawingml/2006/main">
            <a:r>
              <a:rPr sz="1400"/>
              <a:t>Misvatting: Een aswaarde van 6 betekent hier 6.000 kg per dag.</a:t>
            </a:r>
          </a:p>
          <a:p xmlns:a="http://schemas.openxmlformats.org/drawingml/2006/main">
            <a:r>
              <a:rPr sz="1400"/>
              <a:t/>
            </a:r>
          </a:p>
          <a:p xmlns:a="http://schemas.openxmlformats.org/drawingml/2006/main">
            <a:r>
              <a:rPr sz="1400"/>
              <a:t>Overgang: Lees op dezelfde assen het evenwicht af.</a:t>
            </a:r>
          </a:p>
          <a:p xmlns:a="http://schemas.openxmlformats.org/drawingml/2006/main">
            <a:r>
              <a:rPr sz="1400"/>
              <a:t/>
            </a:r>
          </a:p>
          <a:p xmlns:a="http://schemas.openxmlformats.org/drawingml/2006/main">
            <a:r>
              <a:rPr sz="1400"/>
              <a:t>Bron: Boek 3, actuele v3-uitgave, gedrukte boekpagina 54–55.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https://github.com/meijer1973/4veco-lessen/blob/9b8304d5031cafac936a56281e144573a25fbbc9/edities/books34-v3/books/book-3/chapters/3.2/3.2.1%20manuscript.md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De havermarkt, teler Sam en alle voorbeeldgetallen zijn voor deze presentatie gemaakt. De bron ondersteunt de methode, niet deze context of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prijs past bij het snijpunt?</a:t>
            </a:r>
          </a:p>
          <a:p xmlns:a="http://schemas.openxmlformats.org/drawingml/2006/main">
            <a:r>
              <a:rPr sz="1400"/>
              <a:t/>
            </a:r>
          </a:p>
          <a:p xmlns:a="http://schemas.openxmlformats.org/drawingml/2006/main">
            <a:r>
              <a:rPr sz="1400"/>
              <a:t>Uitleg: Wijs E aan. Volg de horizontale hulplijn naar P = 2,50. Volg de verticale hulplijn naar Q = 6 op een schaal van duizend kg per dag. Controle: vraag en aanbod zijn bij Q = 6 beide 2,50. Het cijfer 6 is geen productie van één teler.</a:t>
            </a:r>
          </a:p>
          <a:p xmlns:a="http://schemas.openxmlformats.org/drawingml/2006/main">
            <a:r>
              <a:rPr sz="1400"/>
              <a:t/>
            </a:r>
          </a:p>
          <a:p xmlns:a="http://schemas.openxmlformats.org/drawingml/2006/main">
            <a:r>
              <a:rPr sz="1400"/>
              <a:t>Misvatting: Lees niet de verticale hoogte van één willekeurig punt op een curve als evenwichtsprijs.</a:t>
            </a:r>
          </a:p>
          <a:p xmlns:a="http://schemas.openxmlformats.org/drawingml/2006/main">
            <a:r>
              <a:rPr sz="1400"/>
              <a:t/>
            </a:r>
          </a:p>
          <a:p xmlns:a="http://schemas.openxmlformats.org/drawingml/2006/main">
            <a:r>
              <a:rPr sz="1400"/>
              <a:t>Overgang: Bekijk nu één kleine teler bij die marktprijs.</a:t>
            </a:r>
          </a:p>
          <a:p xmlns:a="http://schemas.openxmlformats.org/drawingml/2006/main">
            <a:r>
              <a:rPr sz="1400"/>
              <a:t/>
            </a:r>
          </a:p>
          <a:p xmlns:a="http://schemas.openxmlformats.org/drawingml/2006/main">
            <a:r>
              <a:rPr sz="1400"/>
              <a:t>Bron: Boek 3, actuele v3-uitgave, gedrukte boekpagina 55.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https://github.com/meijer1973/4veco-lessen/blob/9b8304d5031cafac936a56281e144573a25fbbc9/edities/books34-v3/books/book-3/chapters/3.2/3.2.1%20manuscript.md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De havermarkt, teler Sam en alle voorbeeldgetallen zijn voor deze presentatie gemaakt. De bron ondersteunt de methode, niet deze context of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getal verhuist naar rechts en welk getal niet?</a:t>
            </a:r>
          </a:p>
          <a:p xmlns:a="http://schemas.openxmlformats.org/drawingml/2006/main">
            <a:r>
              <a:rPr sz="1400"/>
              <a:t/>
            </a:r>
          </a:p>
          <a:p xmlns:a="http://schemas.openxmlformats.org/drawingml/2006/main">
            <a:r>
              <a:rPr sz="1400"/>
              <a:t>Uitleg: Introduceer de representatieovergang expliciet. Links Q is alle aangeboden en gevraagde haver samen. Rechts q is Sams eigen afzet, maximaal 180 kg per dag. Neem alleen de prijs over. Rechts staat nog geen opbrengstlijn. Laat leerlingen eerst de asverschillen benoemen.</a:t>
            </a:r>
          </a:p>
          <a:p xmlns:a="http://schemas.openxmlformats.org/drawingml/2006/main">
            <a:r>
              <a:rPr sz="1400"/>
              <a:t/>
            </a:r>
          </a:p>
          <a:p xmlns:a="http://schemas.openxmlformats.org/drawingml/2006/main">
            <a:r>
              <a:rPr sz="1400"/>
              <a:t>Misvatting: De 6.000 kg van de markt past niet op Sams hoeveelheidsas en is niet zijn productie.</a:t>
            </a:r>
          </a:p>
          <a:p xmlns:a="http://schemas.openxmlformats.org/drawingml/2006/main">
            <a:r>
              <a:rPr sz="1400"/>
              <a:t/>
            </a:r>
          </a:p>
          <a:p xmlns:a="http://schemas.openxmlformats.org/drawingml/2006/main">
            <a:r>
              <a:rPr sz="1400"/>
              <a:t>Overgang: Teken rechts de lijn bij dezelfde prijs.</a:t>
            </a:r>
          </a:p>
          <a:p xmlns:a="http://schemas.openxmlformats.org/drawingml/2006/main">
            <a:r>
              <a:rPr sz="1400"/>
              <a:t/>
            </a:r>
          </a:p>
          <a:p xmlns:a="http://schemas.openxmlformats.org/drawingml/2006/main">
            <a:r>
              <a:rPr sz="1400"/>
              <a:t>Bron: Boek 3, actuele v3-uitgave, gedrukte boekpagina 55.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https://github.com/meijer1973/4veco-lessen/blob/9b8304d5031cafac936a56281e144573a25fbbc9/edities/books34-v3/books/book-3/chapters/3.2/3.2.1%20manuscript.md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De havermarkt, teler Sam en alle voorbeeldgetallen zijn voor deze presentatie gemaakt. De bron ondersteunt de methode, niet deze context of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loopt de lijn rechts horizontaal, terwijl V links daalt?</a:t>
            </a:r>
          </a:p>
          <a:p xmlns:a="http://schemas.openxmlformats.org/drawingml/2006/main">
            <a:r>
              <a:rPr sz="1400"/>
              <a:t/>
            </a:r>
          </a:p>
          <a:p xmlns:a="http://schemas.openxmlformats.org/drawingml/2006/main">
            <a:r>
              <a:rPr sz="1400"/>
              <a:t>Uitleg: De lijn rechts ligt op P = 2,50 en loopt binnen de getekende capaciteit tot q = 180. Een kleine verandering van Sams eigen afzet verandert de marktprijs in dit model niet. De dalende vraaglijn links blijft bestaan: een verandering van de marktprijs is iets anders dan een verandering van Sams eigen afzet.</a:t>
            </a:r>
          </a:p>
          <a:p xmlns:a="http://schemas.openxmlformats.org/drawingml/2006/main">
            <a:r>
              <a:rPr sz="1400"/>
              <a:t/>
            </a:r>
          </a:p>
          <a:p xmlns:a="http://schemas.openxmlformats.org/drawingml/2006/main">
            <a:r>
              <a:rPr sz="1400"/>
              <a:t>Misvatting: Horizontaal betekent niet onbeperkte productie of horizontale marktvraag.</a:t>
            </a:r>
          </a:p>
          <a:p xmlns:a="http://schemas.openxmlformats.org/drawingml/2006/main">
            <a:r>
              <a:rPr sz="1400"/>
              <a:t/>
            </a:r>
          </a:p>
          <a:p xmlns:a="http://schemas.openxmlformats.org/drawingml/2006/main">
            <a:r>
              <a:rPr sz="1400"/>
              <a:t>Overgang: Bereken de opbrengsten bij 60 kg per dag.</a:t>
            </a:r>
          </a:p>
          <a:p xmlns:a="http://schemas.openxmlformats.org/drawingml/2006/main">
            <a:r>
              <a:rPr sz="1400"/>
              <a:t/>
            </a:r>
          </a:p>
          <a:p xmlns:a="http://schemas.openxmlformats.org/drawingml/2006/main">
            <a:r>
              <a:rPr sz="1400"/>
              <a:t>Bron: Boek 3, actuele v3-uitgave, gedrukte boekpagina 55–56.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https://github.com/meijer1973/4veco-lessen/blob/9b8304d5031cafac936a56281e144573a25fbbc9/edities/books34-v3/books/book-3/chapters/3.2/3.2.1%20manuscript.md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De havermarkt, teler Sam en alle voorbeeldgetallen zijn voor deze presentatie gemaakt. De bron ondersteunt de methode, niet deze context of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hebben TO en GO een andere eenheid?</a:t>
            </a:r>
          </a:p>
          <a:p xmlns:a="http://schemas.openxmlformats.org/drawingml/2006/main">
            <a:r>
              <a:rPr sz="1400"/>
              <a:t/>
            </a:r>
          </a:p>
          <a:p xmlns:a="http://schemas.openxmlformats.org/drawingml/2006/main">
            <a:r>
              <a:rPr sz="1400"/>
              <a:t>Uitleg: Herhaal de uit Boek 2 bekende formules. TO telt alle verkochte kg tegen 2,50 op: 150 euro per dag. GO deelt dat dagbedrag door 60 kg per dag: 2,50 euro per kg. Bij q = 0 is TO nul maar kun je GO niet berekenen. Het boek gebruikt q voor één onderneming; in Boek 2 heette die hoeveelheid nog Q.</a:t>
            </a:r>
          </a:p>
          <a:p xmlns:a="http://schemas.openxmlformats.org/drawingml/2006/main">
            <a:r>
              <a:rPr sz="1400"/>
              <a:t/>
            </a:r>
          </a:p>
          <a:p xmlns:a="http://schemas.openxmlformats.org/drawingml/2006/main">
            <a:r>
              <a:rPr sz="1400"/>
              <a:t>Misvatting: 150 is het totaal en niet de opbrengst van één kg. Delen door nul kan niet.</a:t>
            </a:r>
          </a:p>
          <a:p xmlns:a="http://schemas.openxmlformats.org/drawingml/2006/main">
            <a:r>
              <a:rPr sz="1400"/>
              <a:t/>
            </a:r>
          </a:p>
          <a:p xmlns:a="http://schemas.openxmlformats.org/drawingml/2006/main">
            <a:r>
              <a:rPr sz="1400"/>
              <a:t>Overgang: Vergelijk twee afzethoeveelheden om MO te vinden.</a:t>
            </a:r>
          </a:p>
          <a:p xmlns:a="http://schemas.openxmlformats.org/drawingml/2006/main">
            <a:r>
              <a:rPr sz="1400"/>
              <a:t/>
            </a:r>
          </a:p>
          <a:p xmlns:a="http://schemas.openxmlformats.org/drawingml/2006/main">
            <a:r>
              <a:rPr sz="1400"/>
              <a:t>Bron: Boek 3, actuele v3-uitgave, gedrukte boekpagina 56.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https://github.com/meijer1973/4veco-lessen/blob/9b8304d5031cafac936a56281e144573a25fbbc9/edities/books34-v3/books/book-3/chapters/3.2/3.2.1%20manuscript.md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De havermarkt, teler Sam en alle voorbeeldgetallen zijn voor deze presentatie gemaakt. De bron ondersteunt de methode, niet deze context of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MO hier niet € 75?</a:t>
            </a:r>
          </a:p>
          <a:p xmlns:a="http://schemas.openxmlformats.org/drawingml/2006/main">
            <a:r>
              <a:rPr sz="1400"/>
              <a:t/>
            </a:r>
          </a:p>
          <a:p xmlns:a="http://schemas.openxmlformats.org/drawingml/2006/main">
            <a:r>
              <a:rPr sz="1400"/>
              <a:t>Uitleg: Δ betekent de verandering. Eerst twee totale opbrengsten uitrekenen, daarna het verschil van 75 euro per dag delen door de toename van 30 kg per dag. Dit herhaalt de marginale tabelmethode uit §2.1.3, geen afgeleide. De hele uitbreiding levert 75 euro op; elke extra kg gemiddeld 2,50 euro.</a:t>
            </a:r>
          </a:p>
          <a:p xmlns:a="http://schemas.openxmlformats.org/drawingml/2006/main">
            <a:r>
              <a:rPr sz="1400"/>
              <a:t/>
            </a:r>
          </a:p>
          <a:p xmlns:a="http://schemas.openxmlformats.org/drawingml/2006/main">
            <a:r>
              <a:rPr sz="1400"/>
              <a:t>Misvatting: Deel door de extra 30 kg en niet door de totale 90 kg.</a:t>
            </a:r>
          </a:p>
          <a:p xmlns:a="http://schemas.openxmlformats.org/drawingml/2006/main">
            <a:r>
              <a:rPr sz="1400"/>
              <a:t/>
            </a:r>
          </a:p>
          <a:p xmlns:a="http://schemas.openxmlformats.org/drawingml/2006/main">
            <a:r>
              <a:rPr sz="1400"/>
              <a:t>Overgang: Zet GO en MO bij de horizontale prijslijn.</a:t>
            </a:r>
          </a:p>
          <a:p xmlns:a="http://schemas.openxmlformats.org/drawingml/2006/main">
            <a:r>
              <a:rPr sz="1400"/>
              <a:t/>
            </a:r>
          </a:p>
          <a:p xmlns:a="http://schemas.openxmlformats.org/drawingml/2006/main">
            <a:r>
              <a:rPr sz="1400"/>
              <a:t>Bron: Boek 3, actuele v3-uitgave, gedrukte boekpagina 56.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https://github.com/meijer1973/4veco-lessen/blob/9b8304d5031cafac936a56281e144573a25fbbc9/edities/books34-v3/books/book-3/chapters/3.2/3.2.1%20manuscript.md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De havermarkt, teler Sam en alle voorbeeldgetallen zijn voor deze presentatie gemaakt. De bron ondersteunt de methode, niet deze context of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opbrengst stijgt wél als Sam meer kg verkoopt?</a:t>
            </a:r>
          </a:p>
          <a:p xmlns:a="http://schemas.openxmlformats.org/drawingml/2006/main">
            <a:r>
              <a:rPr sz="1400"/>
              <a:t/>
            </a:r>
          </a:p>
          <a:p xmlns:a="http://schemas.openxmlformats.org/drawingml/2006/main">
            <a:r>
              <a:rPr sz="1400"/>
              <a:t>Uitleg: Label nu de lijn volledig als P = GO = MO. Alle drie zijn bedragen per kg. TO is een totaalbedrag per dag en stijgt met q. Bij q = 0 blijft de gegeven prijs bestaan maar is GO niet gedefinieerd; behandel de GO-gelijkheid alleen voor positieve afzet. De lijn stopt bij de capaciteit.</a:t>
            </a:r>
          </a:p>
          <a:p xmlns:a="http://schemas.openxmlformats.org/drawingml/2006/main">
            <a:r>
              <a:rPr sz="1400"/>
              <a:t/>
            </a:r>
          </a:p>
          <a:p xmlns:a="http://schemas.openxmlformats.org/drawingml/2006/main">
            <a:r>
              <a:rPr sz="1400"/>
              <a:t>Misvatting: TO hoort niet als naam bij deze horizontale lijn.</a:t>
            </a:r>
          </a:p>
          <a:p xmlns:a="http://schemas.openxmlformats.org/drawingml/2006/main">
            <a:r>
              <a:rPr sz="1400"/>
              <a:t/>
            </a:r>
          </a:p>
          <a:p xmlns:a="http://schemas.openxmlformats.org/drawingml/2006/main">
            <a:r>
              <a:rPr sz="1400"/>
              <a:t>Overgang: Beoordeel wat er gebeurt als Sam een andere prijs vraagt.</a:t>
            </a:r>
          </a:p>
          <a:p xmlns:a="http://schemas.openxmlformats.org/drawingml/2006/main">
            <a:r>
              <a:rPr sz="1400"/>
              <a:t/>
            </a:r>
          </a:p>
          <a:p xmlns:a="http://schemas.openxmlformats.org/drawingml/2006/main">
            <a:r>
              <a:rPr sz="1400"/>
              <a:t>Bron: Boek 3, actuele v3-uitgave, gedrukte boekpagina 55–56.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https://github.com/meijer1973/4veco-lessen/blob/9b8304d5031cafac936a56281e144573a25fbbc9/edities/books34-v3/books/book-3/chapters/3.2/3.2.1%20manuscript.md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De havermarkt, teler Sam en alle voorbeeldgetallen zijn voor deze presentatie gemaakt. De bron ondersteunt de methode, niet deze context of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kenmerken heb je nodig om de keuze van de koper te verklaren?</a:t>
            </a:r>
          </a:p>
          <a:p xmlns:a="http://schemas.openxmlformats.org/drawingml/2006/main">
            <a:r>
              <a:rPr sz="1400"/>
              <a:t/>
            </a:r>
          </a:p>
          <a:p xmlns:a="http://schemas.openxmlformats.org/drawingml/2006/main">
            <a:r>
              <a:rPr sz="1400"/>
              <a:t>Uitleg: Verbind de redenering aan de modelaannames: gelijkwaardig product, veel alternatieven, bekende prijzen en Sams kleine marktaandeel. Klanten kunnen dezelfde haver voor 2,50 kopen. Alleen zeggen dat hij prijsnemer is, verklaart de reactie van kopers nog niet.</a:t>
            </a:r>
          </a:p>
          <a:p xmlns:a="http://schemas.openxmlformats.org/drawingml/2006/main">
            <a:r>
              <a:rPr sz="1400"/>
              <a:t/>
            </a:r>
          </a:p>
          <a:p xmlns:a="http://schemas.openxmlformats.org/drawingml/2006/main">
            <a:r>
              <a:rPr sz="1400"/>
              <a:t>Misvatting: Een hogere gevraagde prijs garandeert geen hogere totale opbrengst.</a:t>
            </a:r>
          </a:p>
          <a:p xmlns:a="http://schemas.openxmlformats.org/drawingml/2006/main">
            <a:r>
              <a:rPr sz="1400"/>
              <a:t/>
            </a:r>
          </a:p>
          <a:p xmlns:a="http://schemas.openxmlformats.org/drawingml/2006/main">
            <a:r>
              <a:rPr sz="1400"/>
              <a:t>Overgang: Vergelijk daarna een lagere prijs bij dezelfde afzet.</a:t>
            </a:r>
          </a:p>
          <a:p xmlns:a="http://schemas.openxmlformats.org/drawingml/2006/main">
            <a:r>
              <a:rPr sz="1400"/>
              <a:t/>
            </a:r>
          </a:p>
          <a:p xmlns:a="http://schemas.openxmlformats.org/drawingml/2006/main">
            <a:r>
              <a:rPr sz="1400"/>
              <a:t>Bron: Boek 3, actuele v3-uitgave, gedrukte boekpagina 54–56.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https://github.com/meijer1973/4veco-lessen/blob/9b8304d5031cafac936a56281e144573a25fbbc9/edities/books34-v3/books/book-3/chapters/3.2/3.2.1%20manuscript.md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De havermarkt, teler Sam en alle voorbeeldgetallen zijn voor deze presentatie gemaakt. De bron ondersteunt de methode, niet deze context of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zijn hier geen totale kosten nodig om de winstverandering te bepalen?</a:t>
            </a:r>
          </a:p>
          <a:p xmlns:a="http://schemas.openxmlformats.org/drawingml/2006/main">
            <a:r>
              <a:rPr sz="1400"/>
              <a:t/>
            </a:r>
          </a:p>
          <a:p xmlns:a="http://schemas.openxmlformats.org/drawingml/2006/main">
            <a:r>
              <a:rPr sz="1400"/>
              <a:t>Uitleg: Voor 2,50 kan Sam zijn 60 kg al verkopen. Bij dezelfde productie verandert de hoeveelheid gebruikte productiemiddelen niet. Een prijsverlaging naar 2,25 vermindert daarom zowel opbrengst als winst met 15 euro per dag. Zonder kostengegevens kunnen we de verandering van winst bepalen, niet het totale winstbedrag.</a:t>
            </a:r>
          </a:p>
          <a:p xmlns:a="http://schemas.openxmlformats.org/drawingml/2006/main">
            <a:r>
              <a:rPr sz="1400"/>
              <a:t/>
            </a:r>
          </a:p>
          <a:p xmlns:a="http://schemas.openxmlformats.org/drawingml/2006/main">
            <a:r>
              <a:rPr sz="1400"/>
              <a:t>Misvatting: Dit is een vergelijking bij dezelfde afzet binnen de modelaannames, geen algemene regel voor ieder bedrijf.</a:t>
            </a:r>
          </a:p>
          <a:p xmlns:a="http://schemas.openxmlformats.org/drawingml/2006/main">
            <a:r>
              <a:rPr sz="1400"/>
              <a:t/>
            </a:r>
          </a:p>
          <a:p xmlns:a="http://schemas.openxmlformats.org/drawingml/2006/main">
            <a:r>
              <a:rPr sz="1400"/>
              <a:t>Overgang: Controleer steeds of het product nog homogeen is.</a:t>
            </a:r>
          </a:p>
          <a:p xmlns:a="http://schemas.openxmlformats.org/drawingml/2006/main">
            <a:r>
              <a:rPr sz="1400"/>
              <a:t/>
            </a:r>
          </a:p>
          <a:p xmlns:a="http://schemas.openxmlformats.org/drawingml/2006/main">
            <a:r>
              <a:rPr sz="1400"/>
              <a:t>Bron: Boek 3, actuele v3-uitgave, gedrukte boekpagina 56.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https://github.com/meijer1973/4veco-lessen/blob/9b8304d5031cafac936a56281e144573a25fbbc9/edities/books34-v3/books/book-3/chapters/3.2/3.2.1%20manuscript.md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De havermarkt, teler Sam en alle voorbeeldgetallen zijn voor deze presentatie gemaakt. De bron ondersteunt de methode, niet deze context of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aanname verandert als klanten juist dit mengsel willen?</a:t>
            </a:r>
          </a:p>
          <a:p xmlns:a="http://schemas.openxmlformats.org/drawingml/2006/main">
            <a:r>
              <a:rPr sz="1400"/>
              <a:t/>
            </a:r>
          </a:p>
          <a:p xmlns:a="http://schemas.openxmlformats.org/drawingml/2006/main">
            <a:r>
              <a:rPr sz="1400"/>
              <a:t>Uitleg: Dit is een apart bedacht vergelijkingsvoorbeeld, geen uitwerking van opgave 6. Laat de leerlingen toetsen of kopers de producten als gelijkwaardig ervaren. Een bijzondere naam of verpakking alleen bewijst niet dat klanten extra willen betalen; die bereidheid is hier expliciet gegeven. Je hoeft nog geen nieuw marktmodel te tekenen.</a:t>
            </a:r>
          </a:p>
          <a:p xmlns:a="http://schemas.openxmlformats.org/drawingml/2006/main">
            <a:r>
              <a:rPr sz="1400"/>
              <a:t/>
            </a:r>
          </a:p>
          <a:p xmlns:a="http://schemas.openxmlformats.org/drawingml/2006/main">
            <a:r>
              <a:rPr sz="1400"/>
              <a:t>Misvatting: Gebruik P = GO = MO niet automatisch buiten de prijsnemersaannames.</a:t>
            </a:r>
          </a:p>
          <a:p xmlns:a="http://schemas.openxmlformats.org/drawingml/2006/main">
            <a:r>
              <a:rPr sz="1400"/>
              <a:t/>
            </a:r>
          </a:p>
          <a:p xmlns:a="http://schemas.openxmlformats.org/drawingml/2006/main">
            <a:r>
              <a:rPr sz="1400"/>
              <a:t>Overgang: Controleer kort of de kernbewerkingen duidelijk zijn.</a:t>
            </a:r>
          </a:p>
          <a:p xmlns:a="http://schemas.openxmlformats.org/drawingml/2006/main">
            <a:r>
              <a:rPr sz="1400"/>
              <a:t/>
            </a:r>
          </a:p>
          <a:p xmlns:a="http://schemas.openxmlformats.org/drawingml/2006/main">
            <a:r>
              <a:rPr sz="1400"/>
              <a:t>Bron: Boek 3, actuele v3-uitgave, gedrukte boekpagina 54–56, 59.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https://github.com/meijer1973/4veco-lessen/blob/9b8304d5031cafac936a56281e144573a25fbbc9/edities/books34-v3/books/book-3/chapters/3.2/3.2.1%20manuscript.md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De havermarkt, teler Sam en alle voorbeeldgetallen zijn voor deze presentatie gemaakt. De bron ondersteunt de methode, niet deze context of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eenheid helpt je TO en MO uit elkaar houden?</a:t>
            </a:r>
          </a:p>
          <a:p xmlns:a="http://schemas.openxmlformats.org/drawingml/2006/main">
            <a:r>
              <a:rPr sz="1400"/>
              <a:t/>
            </a:r>
          </a:p>
          <a:p xmlns:a="http://schemas.openxmlformats.org/drawingml/2006/main">
            <a:r>
              <a:rPr sz="1400"/>
              <a:t>Uitleg: Laat kort een antwoord formuleren. Bespreek daarna mondeling: TO = 250 euro per dag, GO = 2,50 euro per kg. Bij 110 kg wordt TO = 275; MO = (275 − 250) / (110 − 100) = 2,50 euro per kg. Links hoort Q, alle telers samen. De getallen komen uit het eigen uitlegvoorbeeld en voegen geen huiswerk toe.</a:t>
            </a:r>
          </a:p>
          <a:p xmlns:a="http://schemas.openxmlformats.org/drawingml/2006/main">
            <a:r>
              <a:rPr sz="1400"/>
              <a:t/>
            </a:r>
          </a:p>
          <a:p xmlns:a="http://schemas.openxmlformats.org/drawingml/2006/main">
            <a:r>
              <a:rPr sz="1400"/>
              <a:t>Misvatting: MO is niet de extra totale opbrengst van 25 euro.</a:t>
            </a:r>
          </a:p>
          <a:p xmlns:a="http://schemas.openxmlformats.org/drawingml/2006/main">
            <a:r>
              <a:rPr sz="1400"/>
              <a:t/>
            </a:r>
          </a:p>
          <a:p xmlns:a="http://schemas.openxmlformats.org/drawingml/2006/main">
            <a:r>
              <a:rPr sz="1400"/>
              <a:t>Overgang: Keer terug naar startopgave 2 en laat daarna bij de basisopgaven beginnen.</a:t>
            </a:r>
          </a:p>
          <a:p xmlns:a="http://schemas.openxmlformats.org/drawingml/2006/main">
            <a:r>
              <a:rPr sz="1400"/>
              <a:t/>
            </a:r>
          </a:p>
          <a:p xmlns:a="http://schemas.openxmlformats.org/drawingml/2006/main">
            <a:r>
              <a:rPr sz="1400"/>
              <a:t>Bron: Boek 3, actuele v3-uitgave, gedrukte boekpagina 55–56.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https://github.com/meijer1973/4veco-lessen/blob/9b8304d5031cafac936a56281e144573a25fbbc9/edities/books34-v3/books/book-3/chapters/3.2/3.2.1%20manuscript.md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De havermarkt, teler Sam en alle voorbeeldgetallen zijn voor deze presentatie gemaakt. De bron ondersteunt de methode, niet deze context of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verbeter je na de uitleg in je antwoord op startopgave 2?</a:t>
            </a:r>
          </a:p>
          <a:p xmlns:a="http://schemas.openxmlformats.org/drawingml/2006/main">
            <a:r>
              <a:rPr sz="1400"/>
              <a:t/>
            </a:r>
          </a:p>
          <a:p xmlns:a="http://schemas.openxmlformats.org/drawingml/2006/main">
            <a:r>
              <a:rPr sz="1400"/>
              <a:t>Uitleg: Laat deze dia staan tijdens oefenen. Start 1–2 op p. 57, basis 3 op p. 57 en 4 op p. 58, zelfstandig 5–6 op p. 59, doel 7 op p. 60. Huiswerk: opgaven 3, 4, 5, 6 en 7 maken en nakijken. Bonus 8 en herhaling 9–10 zijn extra. Opgave 1 haalt TO, GO en MO uit Boek 2 terug. Als dat hapert: TO = P × q, GO = TO / q en MO = ΔTO / Δq. Opgave 2 is een verkenning van nieuwe modelkenmerken en de overgang van markt naar onderneming. Laat leerlingen de vier kenmerken op p. 54 en de twee grafieken met toelichting op p. 55 gebruiken, en hun twijfel noteren. Verwacht nog geen zelfstandig beheerste nieuwe procedure. Bij terugkeer vóór het basiswerk: laat opgave 2 opnieuw proberen en laat leerlingen Q en q aanwijzen en hun modelredenering toelichten. De docenthandleiding reserveert voorlopig twee lessen van 55 minuten, zonder gemeten tijdsfit. Verschuif zo nodig de lesgrens en behoud alle begeleide inoefening.</a:t>
            </a:r>
          </a:p>
          <a:p xmlns:a="http://schemas.openxmlformats.org/drawingml/2006/main">
            <a:r>
              <a:rPr sz="1400"/>
              <a:t/>
            </a:r>
          </a:p>
          <a:p xmlns:a="http://schemas.openxmlformats.org/drawingml/2006/main">
            <a:r>
              <a:rPr sz="1400"/>
              <a:t>Misvatting: De boekpagina’s 54–60 verschillen van de lokale hoofdstukpagina’s 2–8. De nieuwe firmalijn is geen reeds beheerste voorkennis.</a:t>
            </a:r>
          </a:p>
          <a:p xmlns:a="http://schemas.openxmlformats.org/drawingml/2006/main">
            <a:r>
              <a:rPr sz="1400"/>
              <a:t/>
            </a:r>
          </a:p>
          <a:p xmlns:a="http://schemas.openxmlformats.org/drawingml/2006/main">
            <a:r>
              <a:rPr sz="1400"/>
              <a:t>Overgang: Ga naar de volgende lesfase als de klas eraan toe is.</a:t>
            </a:r>
          </a:p>
          <a:p xmlns:a="http://schemas.openxmlformats.org/drawingml/2006/main">
            <a:r>
              <a:rPr sz="1400"/>
              <a:t/>
            </a:r>
          </a:p>
          <a:p xmlns:a="http://schemas.openxmlformats.org/drawingml/2006/main">
            <a:r>
              <a:rPr sz="1400"/>
              <a:t>Bron: Boek 3, actuele v3-uitgave, gedrukte boekpagina 54–60.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https://github.com/meijer1973/4veco-lessen/blob/9b8304d5031cafac936a56281e144573a25fbbc9/edities/books34-v3/books/book-3/chapters/3.2/3.2.1%20manuscript.md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gegevens en aannames geeft de bron?</a:t>
            </a:r>
          </a:p>
          <a:p xmlns:a="http://schemas.openxmlformats.org/drawingml/2006/main">
            <a:r>
              <a:rPr sz="1400"/>
              <a:t/>
            </a:r>
          </a:p>
          <a:p xmlns:a="http://schemas.openxmlformats.org/drawingml/2006/main">
            <a:r>
              <a:rPr sz="1400"/>
              <a:t>Uitleg: Dit is de volledige context van de werkelijke boekopgave 7. De bronfiguur is met dezelfde asschalen en curves bewerkbaar overgenomen: links V van (0;5) tot (10;0), A van (0;1) tot (10;6), rechts een lege grafiek tot q = 160. Toon eerst alle deelvragen op de volgende twee dia’s. Er staat nog geen oplossingslijn of gemarkeerd evenwicht.</a:t>
            </a:r>
          </a:p>
          <a:p xmlns:a="http://schemas.openxmlformats.org/drawingml/2006/main">
            <a:r>
              <a:rPr sz="1400"/>
              <a:t/>
            </a:r>
          </a:p>
          <a:p xmlns:a="http://schemas.openxmlformats.org/drawingml/2006/main">
            <a:r>
              <a:rPr sz="1400"/>
              <a:t>Misvatting: De markthoeveelheid staat in duizend kg per dag, die van Mila in kg per dag.</a:t>
            </a:r>
          </a:p>
          <a:p xmlns:a="http://schemas.openxmlformats.org/drawingml/2006/main">
            <a:r>
              <a:rPr sz="1400"/>
              <a:t/>
            </a:r>
          </a:p>
          <a:p xmlns:a="http://schemas.openxmlformats.org/drawingml/2006/main">
            <a:r>
              <a:rPr sz="1400"/>
              <a:t>Overgang: Lees eerst vragen a, b en c zonder de oplossing.</a:t>
            </a:r>
          </a:p>
          <a:p xmlns:a="http://schemas.openxmlformats.org/drawingml/2006/main">
            <a:r>
              <a:rPr sz="1400"/>
              <a:t/>
            </a:r>
          </a:p>
          <a:p xmlns:a="http://schemas.openxmlformats.org/drawingml/2006/main">
            <a:r>
              <a:rPr sz="1400"/>
              <a:t>Bron: Boek 3, actuele v3-uitgave, gedrukte boekpagina 60.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https://github.com/meijer1973/4veco-lessen/blob/9b8304d5031cafac936a56281e144573a25fbbc9/edities/books34-v3/books/book-3/chapters/3.2/3.2.1%20manuscript.md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verschillende bewerkingen vraagt deelvraag c?</a:t>
            </a:r>
          </a:p>
          <a:p xmlns:a="http://schemas.openxmlformats.org/drawingml/2006/main">
            <a:r>
              <a:rPr sz="1400"/>
              <a:t/>
            </a:r>
          </a:p>
          <a:p xmlns:a="http://schemas.openxmlformats.org/drawingml/2006/main">
            <a:r>
              <a:rPr sz="1400"/>
              <a:t>Uitleg: De eerste drie deelvragen zijn volledig en zonder antwoorden weergegeven. Laat leerlingen hun eigen werk en de figuur op p. 60 erbij houden. Deelvraag a vraagt een aflezing én een modelkenmerk, b een getekende lijn én het label, c drie opbrengstbewerkingen met eenheden.</a:t>
            </a:r>
          </a:p>
          <a:p xmlns:a="http://schemas.openxmlformats.org/drawingml/2006/main">
            <a:r>
              <a:rPr sz="1400"/>
              <a:t/>
            </a:r>
          </a:p>
          <a:p xmlns:a="http://schemas.openxmlformats.org/drawingml/2006/main">
            <a:r>
              <a:rPr sz="1400"/>
              <a:t>Misvatting: Verwar het noemen van een kenmerk niet met het aflezen van de markt.</a:t>
            </a:r>
          </a:p>
          <a:p xmlns:a="http://schemas.openxmlformats.org/drawingml/2006/main">
            <a:r>
              <a:rPr sz="1400"/>
              <a:t/>
            </a:r>
          </a:p>
          <a:p xmlns:a="http://schemas.openxmlformats.org/drawingml/2006/main">
            <a:r>
              <a:rPr sz="1400"/>
              <a:t>Overgang: Toon ook d en e voordat de bespreking begint.</a:t>
            </a:r>
          </a:p>
          <a:p xmlns:a="http://schemas.openxmlformats.org/drawingml/2006/main">
            <a:r>
              <a:rPr sz="1400"/>
              <a:t/>
            </a:r>
          </a:p>
          <a:p xmlns:a="http://schemas.openxmlformats.org/drawingml/2006/main">
            <a:r>
              <a:rPr sz="1400"/>
              <a:t>Bron: Boek 3, actuele v3-uitgave, gedrukte boekpagina 60.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https://github.com/meijer1973/4veco-lessen/blob/9b8304d5031cafac936a56281e144573a25fbbc9/edities/books34-v3/books/book-3/chapters/3.2/3.2.1%20manuscript.md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aanname of grootheid moet je bij elk antwoord noemen?</a:t>
            </a:r>
          </a:p>
          <a:p xmlns:a="http://schemas.openxmlformats.org/drawingml/2006/main">
            <a:r>
              <a:rPr sz="1400"/>
              <a:t/>
            </a:r>
          </a:p>
          <a:p xmlns:a="http://schemas.openxmlformats.org/drawingml/2006/main">
            <a:r>
              <a:rPr sz="1400"/>
              <a:t>Uitleg: Nu zijn alle vragen a tot en met e zichtbaar geweest, zonder oplossingen. Het getal 4.000 is onderdeel van de letterlijke vraag e. Vraag d vereist de keuze van kopers op basis van modelkenmerken. Vraag e vereist het onderscheid tussen Q van de markt en q van Mila, inclusief haar capaciteit.</a:t>
            </a:r>
          </a:p>
          <a:p xmlns:a="http://schemas.openxmlformats.org/drawingml/2006/main">
            <a:r>
              <a:rPr sz="1400"/>
              <a:t/>
            </a:r>
          </a:p>
          <a:p xmlns:a="http://schemas.openxmlformats.org/drawingml/2006/main">
            <a:r>
              <a:rPr sz="1400"/>
              <a:t>Misvatting: Een juiste term zonder uitleg beantwoordt een verklaarvraag niet volledig.</a:t>
            </a:r>
          </a:p>
          <a:p xmlns:a="http://schemas.openxmlformats.org/drawingml/2006/main">
            <a:r>
              <a:rPr sz="1400"/>
              <a:t/>
            </a:r>
          </a:p>
          <a:p xmlns:a="http://schemas.openxmlformats.org/drawingml/2006/main">
            <a:r>
              <a:rPr sz="1400"/>
              <a:t>Overgang: Begin de bespreking met het evenwicht en een modelkenmerk.</a:t>
            </a:r>
          </a:p>
          <a:p xmlns:a="http://schemas.openxmlformats.org/drawingml/2006/main">
            <a:r>
              <a:rPr sz="1400"/>
              <a:t/>
            </a:r>
          </a:p>
          <a:p xmlns:a="http://schemas.openxmlformats.org/drawingml/2006/main">
            <a:r>
              <a:rPr sz="1400"/>
              <a:t>Bron: Boek 3, actuele v3-uitgave, gedrukte boekpagina 60.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https://github.com/meijer1973/4veco-lessen/blob/9b8304d5031cafac936a56281e144573a25fbbc9/edities/books34-v3/books/book-3/chapters/3.2/3.2.1%20manuscript.md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schrijf je 4.000 en niet 4 kg per dag?</a:t>
            </a:r>
          </a:p>
          <a:p xmlns:a="http://schemas.openxmlformats.org/drawingml/2006/main">
            <a:r>
              <a:rPr sz="1400"/>
              <a:t/>
            </a:r>
          </a:p>
          <a:p xmlns:a="http://schemas.openxmlformats.org/drawingml/2006/main">
            <a:r>
              <a:rPr sz="1400"/>
              <a:t>Uitleg: Lees beide coördinaten van E af. P = 3 euro per kg. Q = 4 op de × 1.000-schaal, dus 4.000 kg per dag. Als onderbouwing volstaat één passend bronkenmerk, bijvoorbeeld veel kleine telers. Ook gelijke kwaliteit of bekende prijzen ondersteunen de verklaring. De lijnen kruisen op (4;3): V = 5 − 0,5 × 4 = 3 en A = 1 + 0,5 × 4 = 3.</a:t>
            </a:r>
          </a:p>
          <a:p xmlns:a="http://schemas.openxmlformats.org/drawingml/2006/main">
            <a:r>
              <a:rPr sz="1400"/>
              <a:t/>
            </a:r>
          </a:p>
          <a:p xmlns:a="http://schemas.openxmlformats.org/drawingml/2006/main">
            <a:r>
              <a:rPr sz="1400"/>
              <a:t>Misvatting: De 4.000 kg betreft alle telers samen.</a:t>
            </a:r>
          </a:p>
          <a:p xmlns:a="http://schemas.openxmlformats.org/drawingml/2006/main">
            <a:r>
              <a:rPr sz="1400"/>
              <a:t/>
            </a:r>
          </a:p>
          <a:p xmlns:a="http://schemas.openxmlformats.org/drawingml/2006/main">
            <a:r>
              <a:rPr sz="1400"/>
              <a:t>Overgang: Neem de prijs over naar Mila.</a:t>
            </a:r>
          </a:p>
          <a:p xmlns:a="http://schemas.openxmlformats.org/drawingml/2006/main">
            <a:r>
              <a:rPr sz="1400"/>
              <a:t/>
            </a:r>
          </a:p>
          <a:p xmlns:a="http://schemas.openxmlformats.org/drawingml/2006/main">
            <a:r>
              <a:rPr sz="1400"/>
              <a:t>Bron: Boek 3, actuele v3-uitgave, gedrukte boekpagina 60.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https://github.com/meijer1973/4veco-lessen/blob/9b8304d5031cafac936a56281e144573a25fbbc9/edities/books34-v3/books/book-3/chapters/3.2/3.2.1%20manuscript.md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hoogte en welk eindpunt horen bij de lijn?</a:t>
            </a:r>
          </a:p>
          <a:p xmlns:a="http://schemas.openxmlformats.org/drawingml/2006/main">
            <a:r>
              <a:rPr sz="1400"/>
              <a:t/>
            </a:r>
          </a:p>
          <a:p xmlns:a="http://schemas.openxmlformats.org/drawingml/2006/main">
            <a:r>
              <a:rPr sz="1400"/>
              <a:t>Uitleg: Teken in de ondernemingsgrafiek een horizontale lijn op hoogte 3. Laat die lopen tot de gegeven capaciteit van 160 kg per dag en zet het label P = GO = MO erbij. De prijs geldt ook bij nul productie; GO is alleen gedefinieerd bij q groter dan nul. De lijn toont geen totale opbrengst.</a:t>
            </a:r>
          </a:p>
          <a:p xmlns:a="http://schemas.openxmlformats.org/drawingml/2006/main">
            <a:r>
              <a:rPr sz="1400"/>
              <a:t/>
            </a:r>
          </a:p>
          <a:p xmlns:a="http://schemas.openxmlformats.org/drawingml/2006/main">
            <a:r>
              <a:rPr sz="1400"/>
              <a:t>Misvatting: Het eindpunt 160 is capaciteit, geen berekende winstmaximaliserende productie.</a:t>
            </a:r>
          </a:p>
          <a:p xmlns:a="http://schemas.openxmlformats.org/drawingml/2006/main">
            <a:r>
              <a:rPr sz="1400"/>
              <a:t/>
            </a:r>
          </a:p>
          <a:p xmlns:a="http://schemas.openxmlformats.org/drawingml/2006/main">
            <a:r>
              <a:rPr sz="1400"/>
              <a:t>Overgang: Bereken nu totale en gemiddelde opbrengst bij q = 120.</a:t>
            </a:r>
          </a:p>
          <a:p xmlns:a="http://schemas.openxmlformats.org/drawingml/2006/main">
            <a:r>
              <a:rPr sz="1400"/>
              <a:t/>
            </a:r>
          </a:p>
          <a:p xmlns:a="http://schemas.openxmlformats.org/drawingml/2006/main">
            <a:r>
              <a:rPr sz="1400"/>
              <a:t>Bron: Boek 3, actuele v3-uitgave, gedrukte boekpagina 60.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https://github.com/meijer1973/4veco-lessen/blob/9b8304d5031cafac936a56281e144573a25fbbc9/edities/books34-v3/books/book-3/chapters/3.2/3.2.1%20manuscript.md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deel je door 120 en niet door 4.000?</a:t>
            </a:r>
          </a:p>
          <a:p xmlns:a="http://schemas.openxmlformats.org/drawingml/2006/main">
            <a:r>
              <a:rPr sz="1400"/>
              <a:t/>
            </a:r>
          </a:p>
          <a:p xmlns:a="http://schemas.openxmlformats.org/drawingml/2006/main">
            <a:r>
              <a:rPr sz="1400"/>
              <a:t>Uitleg: Begin bij de formule en vul daarna de gegeven marktprijs en Mila’s eigen q in. De totale opbrengst is 360 euro per dag. Deel door de eigen 120 kg per dag voor GO = 3 euro per kg. De afzet ligt binnen de capaciteit van 160. Controleer de uitkomst met de prijslijn.</a:t>
            </a:r>
          </a:p>
          <a:p xmlns:a="http://schemas.openxmlformats.org/drawingml/2006/main">
            <a:r>
              <a:rPr sz="1400"/>
              <a:t/>
            </a:r>
          </a:p>
          <a:p xmlns:a="http://schemas.openxmlformats.org/drawingml/2006/main">
            <a:r>
              <a:rPr sz="1400"/>
              <a:t>Misvatting: De totale markthoeveelheid is geen invoer voor Mila’s TO of GO.</a:t>
            </a:r>
          </a:p>
          <a:p xmlns:a="http://schemas.openxmlformats.org/drawingml/2006/main">
            <a:r>
              <a:rPr sz="1400"/>
              <a:t/>
            </a:r>
          </a:p>
          <a:p xmlns:a="http://schemas.openxmlformats.org/drawingml/2006/main">
            <a:r>
              <a:rPr sz="1400"/>
              <a:t>Overgang: Bereken vervolgens MO over de uitbreiding naar 140 kg.</a:t>
            </a:r>
          </a:p>
          <a:p xmlns:a="http://schemas.openxmlformats.org/drawingml/2006/main">
            <a:r>
              <a:rPr sz="1400"/>
              <a:t/>
            </a:r>
          </a:p>
          <a:p xmlns:a="http://schemas.openxmlformats.org/drawingml/2006/main">
            <a:r>
              <a:rPr sz="1400"/>
              <a:t>Bron: Boek 3, actuele v3-uitgave, gedrukte boekpagina 60.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https://github.com/meijer1973/4veco-lessen/blob/9b8304d5031cafac936a56281e144573a25fbbc9/edities/books34-v3/books/book-3/chapters/3.2/3.2.1%20manuscript.md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is het verschil tussen de € 60 en de € 3?</a:t>
            </a:r>
          </a:p>
          <a:p xmlns:a="http://schemas.openxmlformats.org/drawingml/2006/main">
            <a:r>
              <a:rPr sz="1400"/>
              <a:t/>
            </a:r>
          </a:p>
          <a:p xmlns:a="http://schemas.openxmlformats.org/drawingml/2006/main">
            <a:r>
              <a:rPr sz="1400"/>
              <a:t>Uitleg: Bereken eerst de nieuwe TO van 420 euro per dag. Trek 360 af, neem ook het verschil in afzet en deel 60 door 20. Zowel 120 als 140 kg ligt binnen Mila’s capaciteit. Iedere extra kg levert dezelfde prijs van 3 euro op. Controle: MO = P = GO.</a:t>
            </a:r>
          </a:p>
          <a:p xmlns:a="http://schemas.openxmlformats.org/drawingml/2006/main">
            <a:r>
              <a:rPr sz="1400"/>
              <a:t/>
            </a:r>
          </a:p>
          <a:p xmlns:a="http://schemas.openxmlformats.org/drawingml/2006/main">
            <a:r>
              <a:rPr sz="1400"/>
              <a:t>Misvatting: ΔTO is extra totale opbrengst per dag; MO is opbrengst per extra kg.</a:t>
            </a:r>
          </a:p>
          <a:p xmlns:a="http://schemas.openxmlformats.org/drawingml/2006/main">
            <a:r>
              <a:rPr sz="1400"/>
              <a:t/>
            </a:r>
          </a:p>
          <a:p xmlns:a="http://schemas.openxmlformats.org/drawingml/2006/main">
            <a:r>
              <a:rPr sz="1400"/>
              <a:t>Overgang: Beoordeel Mila’s hogere prijs.</a:t>
            </a:r>
          </a:p>
          <a:p xmlns:a="http://schemas.openxmlformats.org/drawingml/2006/main">
            <a:r>
              <a:rPr sz="1400"/>
              <a:t/>
            </a:r>
          </a:p>
          <a:p xmlns:a="http://schemas.openxmlformats.org/drawingml/2006/main">
            <a:r>
              <a:rPr sz="1400"/>
              <a:t>Bron: Boek 3, actuele v3-uitgave, gedrukte boekpagina 60.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https://github.com/meijer1973/4veco-lessen/blob/9b8304d5031cafac936a56281e144573a25fbbc9/edities/books34-v3/books/book-3/chapters/3.2/3.2.1%20manuscript.md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informatie uit de bron maakt uitwijken mogelijk?</a:t>
            </a:r>
          </a:p>
          <a:p xmlns:a="http://schemas.openxmlformats.org/drawingml/2006/main">
            <a:r>
              <a:rPr sz="1400"/>
              <a:t/>
            </a:r>
          </a:p>
          <a:p xmlns:a="http://schemas.openxmlformats.org/drawingml/2006/main">
            <a:r>
              <a:rPr sz="1400"/>
              <a:t>Uitleg: Koppel de bronkenmerken in een redenering: dezelfde kwaliteit, veel andere kleine telers en bekende prijzen. Voor dezelfde wortelen betaalt een koper elders 3 euro in plaats van 3,20. Mila kan als kleine aanbieder de marktprijs niet naar 3,20 verhogen.</a:t>
            </a:r>
          </a:p>
          <a:p xmlns:a="http://schemas.openxmlformats.org/drawingml/2006/main">
            <a:r>
              <a:rPr sz="1400"/>
              <a:t/>
            </a:r>
          </a:p>
          <a:p xmlns:a="http://schemas.openxmlformats.org/drawingml/2006/main">
            <a:r>
              <a:rPr sz="1400"/>
              <a:t>Misvatting: Alleen zeggen dat de prijs te hoog is of dat Mila prijsnemer is, laat de verklaring onvolledig.</a:t>
            </a:r>
          </a:p>
          <a:p xmlns:a="http://schemas.openxmlformats.org/drawingml/2006/main">
            <a:r>
              <a:rPr sz="1400"/>
              <a:t/>
            </a:r>
          </a:p>
          <a:p xmlns:a="http://schemas.openxmlformats.org/drawingml/2006/main">
            <a:r>
              <a:rPr sz="1400"/>
              <a:t>Overgang: Vergelijk tot slot de hoeveelheidsassen.</a:t>
            </a:r>
          </a:p>
          <a:p xmlns:a="http://schemas.openxmlformats.org/drawingml/2006/main">
            <a:r>
              <a:rPr sz="1400"/>
              <a:t/>
            </a:r>
          </a:p>
          <a:p xmlns:a="http://schemas.openxmlformats.org/drawingml/2006/main">
            <a:r>
              <a:rPr sz="1400"/>
              <a:t>Bron: Boek 3, actuele v3-uitgave, gedrukte boekpagina 60.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https://github.com/meijer1973/4veco-lessen/blob/9b8304d5031cafac936a56281e144573a25fbbc9/edities/books34-v3/books/book-3/chapters/3.2/3.2.1%20manuscript.md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verschillende economische objecten beschrijven de assen?</a:t>
            </a:r>
          </a:p>
          <a:p xmlns:a="http://schemas.openxmlformats.org/drawingml/2006/main">
            <a:r>
              <a:rPr sz="1400"/>
              <a:t/>
            </a:r>
          </a:p>
          <a:p xmlns:a="http://schemas.openxmlformats.org/drawingml/2006/main">
            <a:r>
              <a:rPr sz="1400"/>
              <a:t>Uitleg: Het getal 4.000 hoort bij de som van alle telers. Mila heeft een eigen hoeveelheid q en kan maximaal 160 kg per dag produceren en verkopen. Daarom loopt haar opbrengstlijn tot q = 160. Het feit dat één teler meer produceert, betekent niet dat alle andere telers evenredig meer produceren.</a:t>
            </a:r>
          </a:p>
          <a:p xmlns:a="http://schemas.openxmlformats.org/drawingml/2006/main">
            <a:r>
              <a:rPr sz="1400"/>
              <a:t/>
            </a:r>
          </a:p>
          <a:p xmlns:a="http://schemas.openxmlformats.org/drawingml/2006/main">
            <a:r>
              <a:rPr sz="1400"/>
              <a:t>Misvatting: Q en q verschillen in betekenis en in schaal, niet alleen in lettergrootte.</a:t>
            </a:r>
          </a:p>
          <a:p xmlns:a="http://schemas.openxmlformats.org/drawingml/2006/main">
            <a:r>
              <a:rPr sz="1400"/>
              <a:t/>
            </a:r>
          </a:p>
          <a:p xmlns:a="http://schemas.openxmlformats.org/drawingml/2006/main">
            <a:r>
              <a:rPr sz="1400"/>
              <a:t>Overgang: Laat één fout of ontbrekende uitleg verbeteren en noteer het huiswerk.</a:t>
            </a:r>
          </a:p>
          <a:p xmlns:a="http://schemas.openxmlformats.org/drawingml/2006/main">
            <a:r>
              <a:rPr sz="1400"/>
              <a:t/>
            </a:r>
          </a:p>
          <a:p xmlns:a="http://schemas.openxmlformats.org/drawingml/2006/main">
            <a:r>
              <a:rPr sz="1400"/>
              <a:t>Bron: Boek 3, actuele v3-uitgave, gedrukte boekpagina 60.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https://github.com/meijer1973/4veco-lessen/blob/9b8304d5031cafac936a56281e144573a25fbbc9/edities/books34-v3/books/book-3/chapters/3.2/3.2.1%20manuscript.md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verbeter je na de uitleg in je antwoord op startopgave 2?</a:t>
            </a:r>
          </a:p>
          <a:p xmlns:a="http://schemas.openxmlformats.org/drawingml/2006/main">
            <a:r>
              <a:rPr sz="1400"/>
              <a:t/>
            </a:r>
          </a:p>
          <a:p xmlns:a="http://schemas.openxmlformats.org/drawingml/2006/main">
            <a:r>
              <a:rPr sz="1400"/>
              <a:t>Uitleg: Laat deze dia staan tijdens afsluiting / huiswerk. Start 1–2 op p. 57, basis 3 op p. 57 en 4 op p. 58, zelfstandig 5–6 op p. 59, doel 7 op p. 60. Huiswerk: opgaven 3, 4, 5, 6 en 7 maken en nakijken. Bonus 8 en herhaling 9–10 zijn extra. Opgave 1 haalt TO, GO en MO uit Boek 2 terug. Als dat hapert: TO = P × q, GO = TO / q en MO = ΔTO / Δq. Opgave 2 is een verkenning van nieuwe modelkenmerken en de overgang van markt naar onderneming. Laat leerlingen de vier kenmerken op p. 54 en de twee grafieken met toelichting op p. 55 gebruiken, en hun twijfel noteren. Verwacht nog geen zelfstandig beheerste nieuwe procedure. Bij terugkeer vóór het basiswerk: laat opgave 2 opnieuw proberen en laat leerlingen Q en q aanwijzen en hun modelredenering toelichten. De docenthandleiding reserveert voorlopig twee lessen van 55 minuten, zonder gemeten tijdsfit. Verschuif zo nodig de lesgrens en behoud alle begeleide inoefening.</a:t>
            </a:r>
          </a:p>
          <a:p xmlns:a="http://schemas.openxmlformats.org/drawingml/2006/main">
            <a:r>
              <a:rPr sz="1400"/>
              <a:t/>
            </a:r>
          </a:p>
          <a:p xmlns:a="http://schemas.openxmlformats.org/drawingml/2006/main">
            <a:r>
              <a:rPr sz="1400"/>
              <a:t>Misvatting: De boekpagina’s 54–60 verschillen van de lokale hoofdstukpagina’s 2–8. De nieuwe firmalijn is geen reeds beheerste voorkennis.</a:t>
            </a:r>
          </a:p>
          <a:p xmlns:a="http://schemas.openxmlformats.org/drawingml/2006/main">
            <a:r>
              <a:rPr sz="1400"/>
              <a:t/>
            </a:r>
          </a:p>
          <a:p xmlns:a="http://schemas.openxmlformats.org/drawingml/2006/main">
            <a:r>
              <a:rPr sz="1400"/>
              <a:t>Overgang: Laat het huiswerk noteren. Volgende paragraaf: marginale kosten uit een functie.</a:t>
            </a:r>
          </a:p>
          <a:p xmlns:a="http://schemas.openxmlformats.org/drawingml/2006/main">
            <a:r>
              <a:rPr sz="1400"/>
              <a:t/>
            </a:r>
          </a:p>
          <a:p xmlns:a="http://schemas.openxmlformats.org/drawingml/2006/main">
            <a:r>
              <a:rPr sz="1400"/>
              <a:t>Bron: Boek 3, actuele v3-uitgave, gedrukte boekpagina 54–60.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https://github.com/meijer1973/4veco-lessen/blob/9b8304d5031cafac936a56281e144573a25fbbc9/edities/books34-v3/books/book-3/chapters/3.2/3.2.1%20manuscript.md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f2bf502d52488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dc5d7493f484df5" /><Relationship Type="http://schemas.openxmlformats.org/officeDocument/2006/relationships/slideLayout" Target="/ppt/slideLayouts/slideLayout1.xml" Id="R0e3941398bb740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3941398bb7402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6f5aef6e0d24736" /><Relationship Type="http://schemas.openxmlformats.org/officeDocument/2006/relationships/notesSlide" Target="/ppt/notesSlides/notesSlide1.xml" Id="Rba5bee18471f4c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6c4f570ecc04d17" /><Relationship Type="http://schemas.openxmlformats.org/officeDocument/2006/relationships/notesSlide" Target="/ppt/notesSlides/notesSlide2.xml" Id="Rd70730629d4b44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6d72a2cc6b24318" /><Relationship Type="http://schemas.openxmlformats.org/officeDocument/2006/relationships/notesSlide" Target="/ppt/notesSlides/notesSlide3.xml" Id="R0b26221e123346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b3842bcf33b40f3" /><Relationship Type="http://schemas.openxmlformats.org/officeDocument/2006/relationships/chart" Target="/ppt/slides/charts/chart1.xml" Id="Rdb3e55c3379c4d0b" /><Relationship Type="http://schemas.openxmlformats.org/officeDocument/2006/relationships/notesSlide" Target="/ppt/notesSlides/notesSlide4.xml" Id="R5247d8dd0d1e47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b7d2a953574c89" /><Relationship Type="http://schemas.openxmlformats.org/officeDocument/2006/relationships/chart" Target="/ppt/slides/charts/chart2.xml" Id="R78d3222c527a45ad" /><Relationship Type="http://schemas.openxmlformats.org/officeDocument/2006/relationships/notesSlide" Target="/ppt/notesSlides/notesSlide5.xml" Id="R84c5e76498284b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4b316d8e13c40ae" /><Relationship Type="http://schemas.openxmlformats.org/officeDocument/2006/relationships/chart" Target="/ppt/slides/charts/chart3.xml" Id="Rd9180c05ab874717" /><Relationship Type="http://schemas.openxmlformats.org/officeDocument/2006/relationships/chart" Target="/ppt/slides/charts/chart4.xml" Id="Re178435dfd56492b" /><Relationship Type="http://schemas.openxmlformats.org/officeDocument/2006/relationships/notesSlide" Target="/ppt/notesSlides/notesSlide6.xml" Id="R16d622b163c740e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b6f97fabd4f45c4" /><Relationship Type="http://schemas.openxmlformats.org/officeDocument/2006/relationships/chart" Target="/ppt/slides/charts/chart5.xml" Id="Rc5d4b8106e964089" /><Relationship Type="http://schemas.openxmlformats.org/officeDocument/2006/relationships/chart" Target="/ppt/slides/charts/chart6.xml" Id="R3c8526c3f40f45da" /><Relationship Type="http://schemas.openxmlformats.org/officeDocument/2006/relationships/notesSlide" Target="/ppt/notesSlides/notesSlide7.xml" Id="R162bfeaeafc3480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f40c876914c4c77" /><Relationship Type="http://schemas.openxmlformats.org/officeDocument/2006/relationships/notesSlide" Target="/ppt/notesSlides/notesSlide8.xml" Id="Rf22dba4b82344d1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acb6504171a4206" /><Relationship Type="http://schemas.openxmlformats.org/officeDocument/2006/relationships/notesSlide" Target="/ppt/notesSlides/notesSlide9.xml" Id="Rda76b294e324439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baa2f0d35de4dae" /><Relationship Type="http://schemas.openxmlformats.org/officeDocument/2006/relationships/chart" Target="/ppt/slides/charts/chart7.xml" Id="Rcd4c3fd975834bf6" /><Relationship Type="http://schemas.openxmlformats.org/officeDocument/2006/relationships/notesSlide" Target="/ppt/notesSlides/notesSlide10.xml" Id="R783b50676b9b4b3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e98102931804338" /><Relationship Type="http://schemas.openxmlformats.org/officeDocument/2006/relationships/notesSlide" Target="/ppt/notesSlides/notesSlide11.xml" Id="Rd46ec455299a4b4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b176a7da3cb48fb" /><Relationship Type="http://schemas.openxmlformats.org/officeDocument/2006/relationships/notesSlide" Target="/ppt/notesSlides/notesSlide12.xml" Id="Rcd1ae463a69d4e9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4bb2044ee6b45fb" /><Relationship Type="http://schemas.openxmlformats.org/officeDocument/2006/relationships/notesSlide" Target="/ppt/notesSlides/notesSlide13.xml" Id="Rf0dd7f876917480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4caf4b6a1e44f5a" /><Relationship Type="http://schemas.openxmlformats.org/officeDocument/2006/relationships/notesSlide" Target="/ppt/notesSlides/notesSlide14.xml" Id="R8fe892aa8d1946a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36beed006914779" /><Relationship Type="http://schemas.openxmlformats.org/officeDocument/2006/relationships/notesSlide" Target="/ppt/notesSlides/notesSlide15.xml" Id="Rf884c17e8c67416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c594694753647b0" /><Relationship Type="http://schemas.openxmlformats.org/officeDocument/2006/relationships/chart" Target="/ppt/slides/charts/chart8.xml" Id="Rf47ef5c3719b47ff" /><Relationship Type="http://schemas.openxmlformats.org/officeDocument/2006/relationships/chart" Target="/ppt/slides/charts/chart9.xml" Id="R8c43c08a548c4b8f" /><Relationship Type="http://schemas.openxmlformats.org/officeDocument/2006/relationships/notesSlide" Target="/ppt/notesSlides/notesSlide16.xml" Id="R94dfc7c1abe3410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b47ec7b5aab4a73" /><Relationship Type="http://schemas.openxmlformats.org/officeDocument/2006/relationships/notesSlide" Target="/ppt/notesSlides/notesSlide17.xml" Id="R564760f7910e423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953cc0e7d9c411f" /><Relationship Type="http://schemas.openxmlformats.org/officeDocument/2006/relationships/notesSlide" Target="/ppt/notesSlides/notesSlide18.xml" Id="Rd475178a2e234ad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3af236ce5ef428f" /><Relationship Type="http://schemas.openxmlformats.org/officeDocument/2006/relationships/chart" Target="/ppt/slides/charts/chart10.xml" Id="R78bef177991b49c1" /><Relationship Type="http://schemas.openxmlformats.org/officeDocument/2006/relationships/notesSlide" Target="/ppt/notesSlides/notesSlide19.xml" Id="Rbbaffdd4350e46c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01eb3d4edb84f62" /><Relationship Type="http://schemas.openxmlformats.org/officeDocument/2006/relationships/chart" Target="/ppt/slides/charts/chart11.xml" Id="R688b78dca04548ab" /><Relationship Type="http://schemas.openxmlformats.org/officeDocument/2006/relationships/notesSlide" Target="/ppt/notesSlides/notesSlide20.xml" Id="R63a26e3d2aae49c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7dd9c0ae9624334" /><Relationship Type="http://schemas.openxmlformats.org/officeDocument/2006/relationships/notesSlide" Target="/ppt/notesSlides/notesSlide21.xml" Id="Rfee185ab5d6240b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febcb0df427488d" /><Relationship Type="http://schemas.openxmlformats.org/officeDocument/2006/relationships/notesSlide" Target="/ppt/notesSlides/notesSlide22.xml" Id="Rab8d1a4fc7ea489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67d2ba79ead490a" /><Relationship Type="http://schemas.openxmlformats.org/officeDocument/2006/relationships/notesSlide" Target="/ppt/notesSlides/notesSlide23.xml" Id="R6c369256e702427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c4cb275a1b04162" /><Relationship Type="http://schemas.openxmlformats.org/officeDocument/2006/relationships/notesSlide" Target="/ppt/notesSlides/notesSlide24.xml" Id="Rdaf7cbdfd57c4a6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c4b235e09604267" /><Relationship Type="http://schemas.openxmlformats.org/officeDocument/2006/relationships/notesSlide" Target="/ppt/notesSlides/notesSlide25.xml" Id="Rc003838f0a2c497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V</c:v>
          </c:tx>
          <c:spPr>
            <a:ln xmlns:a="http://schemas.openxmlformats.org/drawingml/2006/main" w="38100">
              <a:solidFill>
                <a:srgbClr val="1A5276"/>
              </a:solidFill>
              <a:prstDash val="solid"/>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175"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75" b="1">
                      <a:solidFill>
                        <a:srgbClr val="1A5276"/>
                      </a:solidFill>
                      <a:latin typeface="Arial"/>
                      <a:ea typeface="Arial"/>
                      <a:cs typeface="Arial"/>
                    </a:defRPr>
                  </a:pPr>
                </a:p>
              </c:txPr>
              <c:dLblPos val="b"/>
              <c:showLegendKey val="0"/>
              <c:showVal val="0"/>
              <c:showCatName val="0"/>
              <c:showSerName val="0"/>
              <c:showPercent val="0"/>
              <c:showBubbleSize val="0"/>
            </c:dLbl>
            <c:dLbl>
              <c:idx val="2"/>
              <c:showLegendKey val="0"/>
              <c:showVal val="0"/>
              <c:showCatName val="0"/>
              <c:showSerName val="0"/>
              <c:showPercent val="0"/>
              <c:showBubbleSize val="0"/>
            </c:dLbl>
          </c:dLbls>
          <c:xVal>
            <c:numRef>
              <c:f>'Chart Data'!$A$2:$A$4</c:f>
              <c:numCache>
                <c:formatCode>General</c:formatCode>
                <c:ptCount val="3"/>
                <c:pt idx="0">
                  <c:v>0</c:v>
                </c:pt>
                <c:pt idx="1">
                  <c:v>8.4</c:v>
                </c:pt>
                <c:pt idx="2">
                  <c:v>12</c:v>
                </c:pt>
              </c:numCache>
            </c:numRef>
          </c:xVal>
          <c:yVal>
            <c:numRef>
              <c:f>'Chart Data'!$B$2:$B$4</c:f>
              <c:numCache>
                <c:formatCode>0</c:formatCode>
                <c:ptCount val="3"/>
                <c:pt idx="0">
                  <c:v>4</c:v>
                </c:pt>
                <c:pt idx="1">
                  <c:v>1.9</c:v>
                </c:pt>
                <c:pt idx="2">
                  <c:v>1</c:v>
                </c:pt>
              </c:numCache>
            </c:numRef>
          </c:yVal>
        </c:ser>
        <c:ser>
          <c:idx val="1"/>
          <c:order val="1"/>
          <c:tx>
            <c:v>A</c:v>
          </c:tx>
          <c:spPr>
            <a:ln xmlns:a="http://schemas.openxmlformats.org/drawingml/2006/main" w="38100">
              <a:solidFill>
                <a:srgbClr val="1E8449"/>
              </a:solidFill>
              <a:prstDash val="solid"/>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175" b="1">
                        <a:solidFill>
                          <a:srgbClr val="1E8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75" b="1">
                      <a:solidFill>
                        <a:srgbClr val="1E8449"/>
                      </a:solidFill>
                      <a:latin typeface="Arial"/>
                      <a:ea typeface="Arial"/>
                      <a:cs typeface="Arial"/>
                    </a:defRPr>
                  </a:pPr>
                </a:p>
              </c:txPr>
              <c:dLblPos val="t"/>
              <c:showLegendKey val="0"/>
              <c:showVal val="0"/>
              <c:showCatName val="0"/>
              <c:showSerName val="0"/>
              <c:showPercent val="0"/>
              <c:showBubbleSize val="0"/>
            </c:dLbl>
            <c:dLbl>
              <c:idx val="2"/>
              <c:showLegendKey val="0"/>
              <c:showVal val="0"/>
              <c:showCatName val="0"/>
              <c:showSerName val="0"/>
              <c:showPercent val="0"/>
              <c:showBubbleSize val="0"/>
            </c:dLbl>
          </c:dLbls>
          <c:xVal>
            <c:numRef>
              <c:f>'Chart Data'!$C$2:$C$4</c:f>
              <c:numCache>
                <c:formatCode>General</c:formatCode>
                <c:ptCount val="3"/>
                <c:pt idx="0">
                  <c:v>0</c:v>
                </c:pt>
                <c:pt idx="1">
                  <c:v>8.4</c:v>
                </c:pt>
                <c:pt idx="2">
                  <c:v>12</c:v>
                </c:pt>
              </c:numCache>
            </c:numRef>
          </c:xVal>
          <c:yVal>
            <c:numRef>
              <c:f>'Chart Data'!$D$2:$D$4</c:f>
              <c:numCache>
                <c:formatCode>0</c:formatCode>
                <c:ptCount val="3"/>
                <c:pt idx="0">
                  <c:v>1</c:v>
                </c:pt>
                <c:pt idx="1">
                  <c:v>3.1</c:v>
                </c:pt>
                <c:pt idx="2">
                  <c:v>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kg)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50112"/>
        <c:majorUnit val="1"/>
      </c:valAx>
      <c:valAx>
        <c:axId val="48650112"/>
        <c:scaling>
          <c:orientation val="minMax"/>
          <c:max val="12"/>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 1.000 kg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72768"/>
        <c:majorUnit val="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V</c:v>
          </c:tx>
          <c:spPr>
            <a:ln xmlns:a="http://schemas.openxmlformats.org/drawingml/2006/main" w="38100">
              <a:solidFill>
                <a:srgbClr val="1A5276"/>
              </a:solidFill>
              <a:prstDash val="solid"/>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175"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75" b="1">
                      <a:solidFill>
                        <a:srgbClr val="1A5276"/>
                      </a:solidFill>
                      <a:latin typeface="Arial"/>
                      <a:ea typeface="Arial"/>
                      <a:cs typeface="Arial"/>
                    </a:defRPr>
                  </a:pPr>
                </a:p>
              </c:txPr>
              <c:dLblPos val="b"/>
              <c:showLegendKey val="0"/>
              <c:showVal val="0"/>
              <c:showCatName val="0"/>
              <c:showSerName val="0"/>
              <c:showPercent val="0"/>
              <c:showBubbleSize val="0"/>
            </c:dLbl>
            <c:dLbl>
              <c:idx val="2"/>
              <c:showLegendKey val="0"/>
              <c:showVal val="0"/>
              <c:showCatName val="0"/>
              <c:showSerName val="0"/>
              <c:showPercent val="0"/>
              <c:showBubbleSize val="0"/>
            </c:dLbl>
          </c:dLbls>
          <c:xVal>
            <c:numRef>
              <c:f>'Chart Data'!$A$2:$A$4</c:f>
              <c:numCache>
                <c:formatCode>General</c:formatCode>
                <c:ptCount val="3"/>
                <c:pt idx="0">
                  <c:v>0</c:v>
                </c:pt>
                <c:pt idx="1">
                  <c:v>8.4</c:v>
                </c:pt>
                <c:pt idx="2">
                  <c:v>12</c:v>
                </c:pt>
              </c:numCache>
            </c:numRef>
          </c:xVal>
          <c:yVal>
            <c:numRef>
              <c:f>'Chart Data'!$B$2:$B$4</c:f>
              <c:numCache>
                <c:formatCode>0</c:formatCode>
                <c:ptCount val="3"/>
                <c:pt idx="0">
                  <c:v>4</c:v>
                </c:pt>
                <c:pt idx="1">
                  <c:v>1.9</c:v>
                </c:pt>
                <c:pt idx="2">
                  <c:v>1</c:v>
                </c:pt>
              </c:numCache>
            </c:numRef>
          </c:yVal>
        </c:ser>
        <c:ser>
          <c:idx val="1"/>
          <c:order val="1"/>
          <c:tx>
            <c:v>A</c:v>
          </c:tx>
          <c:spPr>
            <a:ln xmlns:a="http://schemas.openxmlformats.org/drawingml/2006/main" w="38100">
              <a:solidFill>
                <a:srgbClr val="1E8449"/>
              </a:solidFill>
              <a:prstDash val="solid"/>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175" b="1">
                        <a:solidFill>
                          <a:srgbClr val="1E8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75" b="1">
                      <a:solidFill>
                        <a:srgbClr val="1E8449"/>
                      </a:solidFill>
                      <a:latin typeface="Arial"/>
                      <a:ea typeface="Arial"/>
                      <a:cs typeface="Arial"/>
                    </a:defRPr>
                  </a:pPr>
                </a:p>
              </c:txPr>
              <c:dLblPos val="t"/>
              <c:showLegendKey val="0"/>
              <c:showVal val="0"/>
              <c:showCatName val="0"/>
              <c:showSerName val="0"/>
              <c:showPercent val="0"/>
              <c:showBubbleSize val="0"/>
            </c:dLbl>
            <c:dLbl>
              <c:idx val="2"/>
              <c:showLegendKey val="0"/>
              <c:showVal val="0"/>
              <c:showCatName val="0"/>
              <c:showSerName val="0"/>
              <c:showPercent val="0"/>
              <c:showBubbleSize val="0"/>
            </c:dLbl>
          </c:dLbls>
          <c:xVal>
            <c:numRef>
              <c:f>'Chart Data'!$C$2:$C$4</c:f>
              <c:numCache>
                <c:formatCode>General</c:formatCode>
                <c:ptCount val="3"/>
                <c:pt idx="0">
                  <c:v>0</c:v>
                </c:pt>
                <c:pt idx="1">
                  <c:v>8.4</c:v>
                </c:pt>
                <c:pt idx="2">
                  <c:v>12</c:v>
                </c:pt>
              </c:numCache>
            </c:numRef>
          </c:xVal>
          <c:yVal>
            <c:numRef>
              <c:f>'Chart Data'!$D$2:$D$4</c:f>
              <c:numCache>
                <c:formatCode>0</c:formatCode>
                <c:ptCount val="3"/>
                <c:pt idx="0">
                  <c:v>1</c:v>
                </c:pt>
                <c:pt idx="1">
                  <c:v>3.1</c:v>
                </c:pt>
                <c:pt idx="2">
                  <c:v>4</c:v>
                </c:pt>
              </c:numCache>
            </c:numRef>
          </c:yVal>
        </c:ser>
        <c:ser>
          <c:idx val="2"/>
          <c:order val="2"/>
          <c:tx>
            <c:v>Prijshulplijn</c:v>
          </c:tx>
          <c:spPr>
            <a:ln xmlns:a="http://schemas.openxmlformats.org/drawingml/2006/main" w="19050">
              <a:solidFill>
                <a:srgbClr val="445B6B"/>
              </a:solidFill>
              <a:prstDash val="dash"/>
            </a:ln>
          </c:spPr>
          <c:marker>
            <c:symbol val="none"/>
          </c:marker>
          <c:xVal>
            <c:numRef>
              <c:f>'Chart Data'!$E$2:$E$3</c:f>
              <c:numCache>
                <c:formatCode>General</c:formatCode>
                <c:ptCount val="2"/>
                <c:pt idx="0">
                  <c:v>0</c:v>
                </c:pt>
                <c:pt idx="1">
                  <c:v>6</c:v>
                </c:pt>
              </c:numCache>
            </c:numRef>
          </c:xVal>
          <c:yVal>
            <c:numRef>
              <c:f>'Chart Data'!$F$2:$F$3</c:f>
              <c:numCache>
                <c:formatCode>0</c:formatCode>
                <c:ptCount val="2"/>
                <c:pt idx="0">
                  <c:v>2.5</c:v>
                </c:pt>
                <c:pt idx="1">
                  <c:v>2.5</c:v>
                </c:pt>
              </c:numCache>
            </c:numRef>
          </c:yVal>
        </c:ser>
        <c:ser>
          <c:idx val="3"/>
          <c:order val="3"/>
          <c:tx>
            <c:v>Hoeveelheidshulplijn</c:v>
          </c:tx>
          <c:spPr>
            <a:ln xmlns:a="http://schemas.openxmlformats.org/drawingml/2006/main" w="19050">
              <a:solidFill>
                <a:srgbClr val="445B6B"/>
              </a:solidFill>
              <a:prstDash val="dash"/>
            </a:ln>
          </c:spPr>
          <c:marker>
            <c:symbol val="none"/>
          </c:marker>
          <c:xVal>
            <c:numRef>
              <c:f>'Chart Data'!$G$2:$G$3</c:f>
              <c:numCache>
                <c:formatCode>General</c:formatCode>
                <c:ptCount val="2"/>
                <c:pt idx="0">
                  <c:v>6</c:v>
                </c:pt>
                <c:pt idx="1">
                  <c:v>6</c:v>
                </c:pt>
              </c:numCache>
            </c:numRef>
          </c:xVal>
          <c:yVal>
            <c:numRef>
              <c:f>'Chart Data'!$H$2:$H$3</c:f>
              <c:numCache>
                <c:formatCode>0</c:formatCode>
                <c:ptCount val="2"/>
                <c:pt idx="0">
                  <c:v>0</c:v>
                </c:pt>
                <c:pt idx="1">
                  <c:v>2.5</c:v>
                </c:pt>
              </c:numCache>
            </c:numRef>
          </c:yVal>
        </c:ser>
        <c:ser>
          <c:idx val="4"/>
          <c:order val="4"/>
          <c:tx>
            <c:v>E</c:v>
          </c:tx>
          <c:spPr>
            <a:ln xmlns:a="http://schemas.openxmlformats.org/drawingml/2006/main" w="0">
              <a:solidFill>
                <a:srgbClr val="183247"/>
              </a:solidFill>
            </a:ln>
          </c:spPr>
          <c:marker>
            <c:symbol val="circle"/>
            <c:size val="10"/>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t"/>
              <c:showLegendKey val="0"/>
              <c:showVal val="0"/>
              <c:showCatName val="0"/>
              <c:showSerName val="0"/>
              <c:showPercent val="0"/>
              <c:showBubbleSize val="0"/>
            </c:dLbl>
          </c:dLbls>
          <c:xVal>
            <c:numRef>
              <c:f>'Chart Data'!$I$2:$I$2</c:f>
              <c:numCache>
                <c:formatCode>General</c:formatCode>
                <c:ptCount val="1"/>
                <c:pt idx="0">
                  <c:v>6</c:v>
                </c:pt>
              </c:numCache>
            </c:numRef>
          </c:xVal>
          <c:yVal>
            <c:numRef>
              <c:f>'Chart Data'!$J$2:$J$2</c:f>
              <c:numCache>
                <c:formatCode>0</c:formatCode>
                <c:ptCount val="1"/>
                <c:pt idx="0">
                  <c:v>2.5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kg)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50112"/>
        <c:majorUnit val="1"/>
      </c:valAx>
      <c:valAx>
        <c:axId val="48650112"/>
        <c:scaling>
          <c:orientation val="minMax"/>
          <c:max val="12"/>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 1.000 kg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72768"/>
        <c:majorUnit val="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V</c:v>
          </c:tx>
          <c:spPr>
            <a:ln xmlns:a="http://schemas.openxmlformats.org/drawingml/2006/main" w="38100">
              <a:solidFill>
                <a:srgbClr val="1A5276"/>
              </a:solidFill>
              <a:prstDash val="solid"/>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175"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75" b="1">
                      <a:solidFill>
                        <a:srgbClr val="1A5276"/>
                      </a:solidFill>
                      <a:latin typeface="Arial"/>
                      <a:ea typeface="Arial"/>
                      <a:cs typeface="Arial"/>
                    </a:defRPr>
                  </a:pPr>
                </a:p>
              </c:txPr>
              <c:dLblPos val="b"/>
              <c:showLegendKey val="0"/>
              <c:showVal val="0"/>
              <c:showCatName val="0"/>
              <c:showSerName val="0"/>
              <c:showPercent val="0"/>
              <c:showBubbleSize val="0"/>
            </c:dLbl>
            <c:dLbl>
              <c:idx val="2"/>
              <c:showLegendKey val="0"/>
              <c:showVal val="0"/>
              <c:showCatName val="0"/>
              <c:showSerName val="0"/>
              <c:showPercent val="0"/>
              <c:showBubbleSize val="0"/>
            </c:dLbl>
          </c:dLbls>
          <c:xVal>
            <c:numRef>
              <c:f>'Chart Data'!$A$2:$A$4</c:f>
              <c:numCache>
                <c:formatCode>General</c:formatCode>
                <c:ptCount val="3"/>
                <c:pt idx="0">
                  <c:v>0</c:v>
                </c:pt>
                <c:pt idx="1">
                  <c:v>8.4</c:v>
                </c:pt>
                <c:pt idx="2">
                  <c:v>12</c:v>
                </c:pt>
              </c:numCache>
            </c:numRef>
          </c:xVal>
          <c:yVal>
            <c:numRef>
              <c:f>'Chart Data'!$B$2:$B$4</c:f>
              <c:numCache>
                <c:formatCode>0</c:formatCode>
                <c:ptCount val="3"/>
                <c:pt idx="0">
                  <c:v>4</c:v>
                </c:pt>
                <c:pt idx="1">
                  <c:v>1.9</c:v>
                </c:pt>
                <c:pt idx="2">
                  <c:v>1</c:v>
                </c:pt>
              </c:numCache>
            </c:numRef>
          </c:yVal>
        </c:ser>
        <c:ser>
          <c:idx val="1"/>
          <c:order val="1"/>
          <c:tx>
            <c:v>A</c:v>
          </c:tx>
          <c:spPr>
            <a:ln xmlns:a="http://schemas.openxmlformats.org/drawingml/2006/main" w="38100">
              <a:solidFill>
                <a:srgbClr val="1E8449"/>
              </a:solidFill>
              <a:prstDash val="solid"/>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175" b="1">
                        <a:solidFill>
                          <a:srgbClr val="1E8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75" b="1">
                      <a:solidFill>
                        <a:srgbClr val="1E8449"/>
                      </a:solidFill>
                      <a:latin typeface="Arial"/>
                      <a:ea typeface="Arial"/>
                      <a:cs typeface="Arial"/>
                    </a:defRPr>
                  </a:pPr>
                </a:p>
              </c:txPr>
              <c:dLblPos val="t"/>
              <c:showLegendKey val="0"/>
              <c:showVal val="0"/>
              <c:showCatName val="0"/>
              <c:showSerName val="0"/>
              <c:showPercent val="0"/>
              <c:showBubbleSize val="0"/>
            </c:dLbl>
            <c:dLbl>
              <c:idx val="2"/>
              <c:showLegendKey val="0"/>
              <c:showVal val="0"/>
              <c:showCatName val="0"/>
              <c:showSerName val="0"/>
              <c:showPercent val="0"/>
              <c:showBubbleSize val="0"/>
            </c:dLbl>
          </c:dLbls>
          <c:xVal>
            <c:numRef>
              <c:f>'Chart Data'!$C$2:$C$4</c:f>
              <c:numCache>
                <c:formatCode>General</c:formatCode>
                <c:ptCount val="3"/>
                <c:pt idx="0">
                  <c:v>0</c:v>
                </c:pt>
                <c:pt idx="1">
                  <c:v>8.4</c:v>
                </c:pt>
                <c:pt idx="2">
                  <c:v>12</c:v>
                </c:pt>
              </c:numCache>
            </c:numRef>
          </c:xVal>
          <c:yVal>
            <c:numRef>
              <c:f>'Chart Data'!$D$2:$D$4</c:f>
              <c:numCache>
                <c:formatCode>0</c:formatCode>
                <c:ptCount val="3"/>
                <c:pt idx="0">
                  <c:v>1</c:v>
                </c:pt>
                <c:pt idx="1">
                  <c:v>3.1</c:v>
                </c:pt>
                <c:pt idx="2">
                  <c:v>4</c:v>
                </c:pt>
              </c:numCache>
            </c:numRef>
          </c:yVal>
        </c:ser>
        <c:ser>
          <c:idx val="2"/>
          <c:order val="2"/>
          <c:tx>
            <c:v>Prijshulplijn</c:v>
          </c:tx>
          <c:spPr>
            <a:ln xmlns:a="http://schemas.openxmlformats.org/drawingml/2006/main" w="19050">
              <a:solidFill>
                <a:srgbClr val="445B6B"/>
              </a:solidFill>
              <a:prstDash val="dash"/>
            </a:ln>
          </c:spPr>
          <c:marker>
            <c:symbol val="none"/>
          </c:marker>
          <c:xVal>
            <c:numRef>
              <c:f>'Chart Data'!$E$2:$E$3</c:f>
              <c:numCache>
                <c:formatCode>General</c:formatCode>
                <c:ptCount val="2"/>
                <c:pt idx="0">
                  <c:v>0</c:v>
                </c:pt>
                <c:pt idx="1">
                  <c:v>6</c:v>
                </c:pt>
              </c:numCache>
            </c:numRef>
          </c:xVal>
          <c:yVal>
            <c:numRef>
              <c:f>'Chart Data'!$F$2:$F$3</c:f>
              <c:numCache>
                <c:formatCode>0</c:formatCode>
                <c:ptCount val="2"/>
                <c:pt idx="0">
                  <c:v>2.5</c:v>
                </c:pt>
                <c:pt idx="1">
                  <c:v>2.5</c:v>
                </c:pt>
              </c:numCache>
            </c:numRef>
          </c:yVal>
        </c:ser>
        <c:ser>
          <c:idx val="3"/>
          <c:order val="3"/>
          <c:tx>
            <c:v>Hoeveelheidshulplijn</c:v>
          </c:tx>
          <c:spPr>
            <a:ln xmlns:a="http://schemas.openxmlformats.org/drawingml/2006/main" w="19050">
              <a:solidFill>
                <a:srgbClr val="445B6B"/>
              </a:solidFill>
              <a:prstDash val="dash"/>
            </a:ln>
          </c:spPr>
          <c:marker>
            <c:symbol val="none"/>
          </c:marker>
          <c:xVal>
            <c:numRef>
              <c:f>'Chart Data'!$G$2:$G$3</c:f>
              <c:numCache>
                <c:formatCode>General</c:formatCode>
                <c:ptCount val="2"/>
                <c:pt idx="0">
                  <c:v>6</c:v>
                </c:pt>
                <c:pt idx="1">
                  <c:v>6</c:v>
                </c:pt>
              </c:numCache>
            </c:numRef>
          </c:xVal>
          <c:yVal>
            <c:numRef>
              <c:f>'Chart Data'!$H$2:$H$3</c:f>
              <c:numCache>
                <c:formatCode>0</c:formatCode>
                <c:ptCount val="2"/>
                <c:pt idx="0">
                  <c:v>0</c:v>
                </c:pt>
                <c:pt idx="1">
                  <c:v>2.5</c:v>
                </c:pt>
              </c:numCache>
            </c:numRef>
          </c:yVal>
        </c:ser>
        <c:ser>
          <c:idx val="4"/>
          <c:order val="4"/>
          <c:tx>
            <c:v>E</c:v>
          </c:tx>
          <c:spPr>
            <a:ln xmlns:a="http://schemas.openxmlformats.org/drawingml/2006/main" w="0">
              <a:solidFill>
                <a:srgbClr val="183247"/>
              </a:solidFill>
            </a:ln>
          </c:spPr>
          <c:marker>
            <c:symbol val="circle"/>
            <c:size val="10"/>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t"/>
              <c:showLegendKey val="0"/>
              <c:showVal val="0"/>
              <c:showCatName val="0"/>
              <c:showSerName val="0"/>
              <c:showPercent val="0"/>
              <c:showBubbleSize val="0"/>
            </c:dLbl>
          </c:dLbls>
          <c:xVal>
            <c:numRef>
              <c:f>'Chart Data'!$I$2:$I$2</c:f>
              <c:numCache>
                <c:formatCode>General</c:formatCode>
                <c:ptCount val="1"/>
                <c:pt idx="0">
                  <c:v>6</c:v>
                </c:pt>
              </c:numCache>
            </c:numRef>
          </c:xVal>
          <c:yVal>
            <c:numRef>
              <c:f>'Chart Data'!$J$2:$J$2</c:f>
              <c:numCache>
                <c:formatCode>0</c:formatCode>
                <c:ptCount val="1"/>
                <c:pt idx="0">
                  <c:v>2.5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kg)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50112"/>
        <c:majorUnit val="1"/>
      </c:valAx>
      <c:valAx>
        <c:axId val="48650112"/>
        <c:scaling>
          <c:orientation val="minMax"/>
          <c:max val="12"/>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 1.000 kg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72768"/>
        <c:majorUnit val="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Lege assen</c:v>
          </c:tx>
          <c:spPr>
            <a:ln xmlns:a="http://schemas.openxmlformats.org/drawingml/2006/main" w="0">
              <a:solidFill>
                <a:srgbClr val="FFFFFF"/>
              </a:solidFill>
              <a:prstDash val="solid"/>
            </a:ln>
          </c:spPr>
          <c:marker>
            <c:symbol val="none"/>
          </c:marker>
          <c:xVal>
            <c:numRef>
              <c:f>'Chart Data'!$A$2:$A$3</c:f>
              <c:numCache>
                <c:formatCode>General</c:formatCode>
                <c:ptCount val="2"/>
                <c:pt idx="0">
                  <c:v>0</c:v>
                </c:pt>
                <c:pt idx="1">
                  <c:v>180</c:v>
                </c:pt>
              </c:numCache>
            </c:numRef>
          </c:xVal>
          <c:yVal>
            <c:numRef>
              <c:f>'Chart Data'!$B$2:$B$3</c:f>
              <c:numCache>
                <c:formatCode>0</c:formatCode>
                <c:ptCount val="2"/>
                <c:pt idx="0">
                  <c:v>0</c:v>
                </c:pt>
                <c:pt idx="1">
                  <c:v>0</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kg)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50112"/>
        <c:majorUnit val="1"/>
      </c:valAx>
      <c:valAx>
        <c:axId val="48650112"/>
        <c:scaling>
          <c:orientation val="minMax"/>
          <c:max val="18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(kg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72768"/>
        <c:majorUnit val="6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V</c:v>
          </c:tx>
          <c:spPr>
            <a:ln xmlns:a="http://schemas.openxmlformats.org/drawingml/2006/main" w="38100">
              <a:solidFill>
                <a:srgbClr val="1A5276"/>
              </a:solidFill>
              <a:prstDash val="solid"/>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175"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75" b="1">
                      <a:solidFill>
                        <a:srgbClr val="1A5276"/>
                      </a:solidFill>
                      <a:latin typeface="Arial"/>
                      <a:ea typeface="Arial"/>
                      <a:cs typeface="Arial"/>
                    </a:defRPr>
                  </a:pPr>
                </a:p>
              </c:txPr>
              <c:dLblPos val="b"/>
              <c:showLegendKey val="0"/>
              <c:showVal val="0"/>
              <c:showCatName val="0"/>
              <c:showSerName val="0"/>
              <c:showPercent val="0"/>
              <c:showBubbleSize val="0"/>
            </c:dLbl>
            <c:dLbl>
              <c:idx val="2"/>
              <c:showLegendKey val="0"/>
              <c:showVal val="0"/>
              <c:showCatName val="0"/>
              <c:showSerName val="0"/>
              <c:showPercent val="0"/>
              <c:showBubbleSize val="0"/>
            </c:dLbl>
          </c:dLbls>
          <c:xVal>
            <c:numRef>
              <c:f>'Chart Data'!$A$2:$A$4</c:f>
              <c:numCache>
                <c:formatCode>General</c:formatCode>
                <c:ptCount val="3"/>
                <c:pt idx="0">
                  <c:v>0</c:v>
                </c:pt>
                <c:pt idx="1">
                  <c:v>8.4</c:v>
                </c:pt>
                <c:pt idx="2">
                  <c:v>12</c:v>
                </c:pt>
              </c:numCache>
            </c:numRef>
          </c:xVal>
          <c:yVal>
            <c:numRef>
              <c:f>'Chart Data'!$B$2:$B$4</c:f>
              <c:numCache>
                <c:formatCode>0</c:formatCode>
                <c:ptCount val="3"/>
                <c:pt idx="0">
                  <c:v>4</c:v>
                </c:pt>
                <c:pt idx="1">
                  <c:v>1.9</c:v>
                </c:pt>
                <c:pt idx="2">
                  <c:v>1</c:v>
                </c:pt>
              </c:numCache>
            </c:numRef>
          </c:yVal>
        </c:ser>
        <c:ser>
          <c:idx val="1"/>
          <c:order val="1"/>
          <c:tx>
            <c:v>A</c:v>
          </c:tx>
          <c:spPr>
            <a:ln xmlns:a="http://schemas.openxmlformats.org/drawingml/2006/main" w="38100">
              <a:solidFill>
                <a:srgbClr val="1E8449"/>
              </a:solidFill>
              <a:prstDash val="solid"/>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175" b="1">
                        <a:solidFill>
                          <a:srgbClr val="1E8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75" b="1">
                      <a:solidFill>
                        <a:srgbClr val="1E8449"/>
                      </a:solidFill>
                      <a:latin typeface="Arial"/>
                      <a:ea typeface="Arial"/>
                      <a:cs typeface="Arial"/>
                    </a:defRPr>
                  </a:pPr>
                </a:p>
              </c:txPr>
              <c:dLblPos val="t"/>
              <c:showLegendKey val="0"/>
              <c:showVal val="0"/>
              <c:showCatName val="0"/>
              <c:showSerName val="0"/>
              <c:showPercent val="0"/>
              <c:showBubbleSize val="0"/>
            </c:dLbl>
            <c:dLbl>
              <c:idx val="2"/>
              <c:showLegendKey val="0"/>
              <c:showVal val="0"/>
              <c:showCatName val="0"/>
              <c:showSerName val="0"/>
              <c:showPercent val="0"/>
              <c:showBubbleSize val="0"/>
            </c:dLbl>
          </c:dLbls>
          <c:xVal>
            <c:numRef>
              <c:f>'Chart Data'!$C$2:$C$4</c:f>
              <c:numCache>
                <c:formatCode>General</c:formatCode>
                <c:ptCount val="3"/>
                <c:pt idx="0">
                  <c:v>0</c:v>
                </c:pt>
                <c:pt idx="1">
                  <c:v>8.4</c:v>
                </c:pt>
                <c:pt idx="2">
                  <c:v>12</c:v>
                </c:pt>
              </c:numCache>
            </c:numRef>
          </c:xVal>
          <c:yVal>
            <c:numRef>
              <c:f>'Chart Data'!$D$2:$D$4</c:f>
              <c:numCache>
                <c:formatCode>0</c:formatCode>
                <c:ptCount val="3"/>
                <c:pt idx="0">
                  <c:v>1</c:v>
                </c:pt>
                <c:pt idx="1">
                  <c:v>3.1</c:v>
                </c:pt>
                <c:pt idx="2">
                  <c:v>4</c:v>
                </c:pt>
              </c:numCache>
            </c:numRef>
          </c:yVal>
        </c:ser>
        <c:ser>
          <c:idx val="2"/>
          <c:order val="2"/>
          <c:tx>
            <c:v>Prijshulplijn</c:v>
          </c:tx>
          <c:spPr>
            <a:ln xmlns:a="http://schemas.openxmlformats.org/drawingml/2006/main" w="19050">
              <a:solidFill>
                <a:srgbClr val="445B6B"/>
              </a:solidFill>
              <a:prstDash val="dash"/>
            </a:ln>
          </c:spPr>
          <c:marker>
            <c:symbol val="none"/>
          </c:marker>
          <c:xVal>
            <c:numRef>
              <c:f>'Chart Data'!$E$2:$E$3</c:f>
              <c:numCache>
                <c:formatCode>General</c:formatCode>
                <c:ptCount val="2"/>
                <c:pt idx="0">
                  <c:v>0</c:v>
                </c:pt>
                <c:pt idx="1">
                  <c:v>6</c:v>
                </c:pt>
              </c:numCache>
            </c:numRef>
          </c:xVal>
          <c:yVal>
            <c:numRef>
              <c:f>'Chart Data'!$F$2:$F$3</c:f>
              <c:numCache>
                <c:formatCode>0</c:formatCode>
                <c:ptCount val="2"/>
                <c:pt idx="0">
                  <c:v>2.5</c:v>
                </c:pt>
                <c:pt idx="1">
                  <c:v>2.5</c:v>
                </c:pt>
              </c:numCache>
            </c:numRef>
          </c:yVal>
        </c:ser>
        <c:ser>
          <c:idx val="3"/>
          <c:order val="3"/>
          <c:tx>
            <c:v>Hoeveelheidshulplijn</c:v>
          </c:tx>
          <c:spPr>
            <a:ln xmlns:a="http://schemas.openxmlformats.org/drawingml/2006/main" w="19050">
              <a:solidFill>
                <a:srgbClr val="445B6B"/>
              </a:solidFill>
              <a:prstDash val="dash"/>
            </a:ln>
          </c:spPr>
          <c:marker>
            <c:symbol val="none"/>
          </c:marker>
          <c:xVal>
            <c:numRef>
              <c:f>'Chart Data'!$G$2:$G$3</c:f>
              <c:numCache>
                <c:formatCode>General</c:formatCode>
                <c:ptCount val="2"/>
                <c:pt idx="0">
                  <c:v>6</c:v>
                </c:pt>
                <c:pt idx="1">
                  <c:v>6</c:v>
                </c:pt>
              </c:numCache>
            </c:numRef>
          </c:xVal>
          <c:yVal>
            <c:numRef>
              <c:f>'Chart Data'!$H$2:$H$3</c:f>
              <c:numCache>
                <c:formatCode>0</c:formatCode>
                <c:ptCount val="2"/>
                <c:pt idx="0">
                  <c:v>0</c:v>
                </c:pt>
                <c:pt idx="1">
                  <c:v>2.5</c:v>
                </c:pt>
              </c:numCache>
            </c:numRef>
          </c:yVal>
        </c:ser>
        <c:ser>
          <c:idx val="4"/>
          <c:order val="4"/>
          <c:tx>
            <c:v>E</c:v>
          </c:tx>
          <c:spPr>
            <a:ln xmlns:a="http://schemas.openxmlformats.org/drawingml/2006/main" w="0">
              <a:solidFill>
                <a:srgbClr val="183247"/>
              </a:solidFill>
            </a:ln>
          </c:spPr>
          <c:marker>
            <c:symbol val="circle"/>
            <c:size val="10"/>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t"/>
              <c:showLegendKey val="0"/>
              <c:showVal val="0"/>
              <c:showCatName val="0"/>
              <c:showSerName val="0"/>
              <c:showPercent val="0"/>
              <c:showBubbleSize val="0"/>
            </c:dLbl>
          </c:dLbls>
          <c:xVal>
            <c:numRef>
              <c:f>'Chart Data'!$I$2:$I$2</c:f>
              <c:numCache>
                <c:formatCode>General</c:formatCode>
                <c:ptCount val="1"/>
                <c:pt idx="0">
                  <c:v>6</c:v>
                </c:pt>
              </c:numCache>
            </c:numRef>
          </c:xVal>
          <c:yVal>
            <c:numRef>
              <c:f>'Chart Data'!$J$2:$J$2</c:f>
              <c:numCache>
                <c:formatCode>0</c:formatCode>
                <c:ptCount val="1"/>
                <c:pt idx="0">
                  <c:v>2.5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kg)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50112"/>
        <c:majorUnit val="1"/>
      </c:valAx>
      <c:valAx>
        <c:axId val="48650112"/>
        <c:scaling>
          <c:orientation val="minMax"/>
          <c:max val="12"/>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 1.000 kg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72768"/>
        <c:majorUnit val="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Marker"/>
        <c:ser>
          <c:idx val="0"/>
          <c:order val="0"/>
          <c:tx>
            <c:v>P</c:v>
          </c:tx>
          <c:spPr>
            <a:ln xmlns:a="http://schemas.openxmlformats.org/drawingml/2006/main" w="47625">
              <a:solidFill>
                <a:srgbClr val="7B2D8E"/>
              </a:solidFill>
              <a:prstDash val="solid"/>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175" b="1">
                        <a:solidFill>
                          <a:srgbClr val="7B2D8E"/>
                        </a:solidFill>
                        <a:latin typeface="Arial"/>
                        <a:ea typeface="Arial"/>
                        <a:cs typeface="Arial"/>
                      </a:rPr>
                      <a:t>P</a:t>
                    </a:r>
                  </a:p>
                </c:rich>
              </c:tx>
              <c:txPr>
                <a:bodyPr xmlns:a="http://schemas.openxmlformats.org/drawingml/2006/main" anchorCtr="1"/>
                <a:lstStyle xmlns:a="http://schemas.openxmlformats.org/drawingml/2006/main"/>
                <a:p xmlns:a="http://schemas.openxmlformats.org/drawingml/2006/main">
                  <a:pPr>
                    <a:defRPr sz="2175" b="1">
                      <a:solidFill>
                        <a:srgbClr val="7B2D8E"/>
                      </a:solidFill>
                      <a:latin typeface="Arial"/>
                      <a:ea typeface="Arial"/>
                      <a:cs typeface="Arial"/>
                    </a:defRPr>
                  </a:pPr>
                </a:p>
              </c:txPr>
              <c:dLblPos val="t"/>
              <c:showLegendKey val="0"/>
              <c:showVal val="0"/>
              <c:showCatName val="0"/>
              <c:showSerName val="0"/>
              <c:showPercent val="0"/>
              <c:showBubbleSize val="0"/>
            </c:dLbl>
            <c:dLbl>
              <c:idx val="2"/>
              <c:showLegendKey val="0"/>
              <c:showVal val="0"/>
              <c:showCatName val="0"/>
              <c:showSerName val="0"/>
              <c:showPercent val="0"/>
              <c:showBubbleSize val="0"/>
            </c:dLbl>
          </c:dLbls>
          <c:xVal>
            <c:numRef>
              <c:f>'Chart Data'!$A$2:$A$4</c:f>
              <c:numCache>
                <c:formatCode>General</c:formatCode>
                <c:ptCount val="3"/>
                <c:pt idx="0">
                  <c:v>0</c:v>
                </c:pt>
                <c:pt idx="1">
                  <c:v>90</c:v>
                </c:pt>
                <c:pt idx="2">
                  <c:v>180</c:v>
                </c:pt>
              </c:numCache>
            </c:numRef>
          </c:xVal>
          <c:yVal>
            <c:numRef>
              <c:f>'Chart Data'!$B$2:$B$4</c:f>
              <c:numCache>
                <c:formatCode>0</c:formatCode>
                <c:ptCount val="3"/>
                <c:pt idx="0">
                  <c:v>2.5</c:v>
                </c:pt>
                <c:pt idx="1">
                  <c:v>2.5</c:v>
                </c:pt>
                <c:pt idx="2">
                  <c:v>2.5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kg)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50112"/>
        <c:majorUnit val="1"/>
      </c:valAx>
      <c:valAx>
        <c:axId val="48650112"/>
        <c:scaling>
          <c:orientation val="minMax"/>
          <c:max val="18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(kg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72768"/>
        <c:majorUnit val="6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scatterChart>
        <c:scatterStyle val="lineMarker"/>
        <c:ser>
          <c:idx val="0"/>
          <c:order val="0"/>
          <c:tx>
            <c:v>P = GO = MO</c:v>
          </c:tx>
          <c:spPr>
            <a:ln xmlns:a="http://schemas.openxmlformats.org/drawingml/2006/main" w="47625">
              <a:solidFill>
                <a:srgbClr val="7B2D8E"/>
              </a:solidFill>
              <a:prstDash val="solid"/>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175" b="1">
                        <a:solidFill>
                          <a:srgbClr val="7B2D8E"/>
                        </a:solidFill>
                        <a:latin typeface="Arial"/>
                        <a:ea typeface="Arial"/>
                        <a:cs typeface="Arial"/>
                      </a:rPr>
                      <a:t>P = GO = MO</a:t>
                    </a:r>
                  </a:p>
                </c:rich>
              </c:tx>
              <c:txPr>
                <a:bodyPr xmlns:a="http://schemas.openxmlformats.org/drawingml/2006/main" anchorCtr="1"/>
                <a:lstStyle xmlns:a="http://schemas.openxmlformats.org/drawingml/2006/main"/>
                <a:p xmlns:a="http://schemas.openxmlformats.org/drawingml/2006/main">
                  <a:pPr>
                    <a:defRPr sz="2175" b="1">
                      <a:solidFill>
                        <a:srgbClr val="7B2D8E"/>
                      </a:solidFill>
                      <a:latin typeface="Arial"/>
                      <a:ea typeface="Arial"/>
                      <a:cs typeface="Arial"/>
                    </a:defRPr>
                  </a:pPr>
                </a:p>
              </c:txPr>
              <c:dLblPos val="t"/>
              <c:showLegendKey val="0"/>
              <c:showVal val="0"/>
              <c:showCatName val="0"/>
              <c:showSerName val="0"/>
              <c:showPercent val="0"/>
              <c:showBubbleSize val="0"/>
            </c:dLbl>
            <c:dLbl>
              <c:idx val="2"/>
              <c:showLegendKey val="0"/>
              <c:showVal val="0"/>
              <c:showCatName val="0"/>
              <c:showSerName val="0"/>
              <c:showPercent val="0"/>
              <c:showBubbleSize val="0"/>
            </c:dLbl>
          </c:dLbls>
          <c:xVal>
            <c:numRef>
              <c:f>'Chart Data'!$A$2:$A$4</c:f>
              <c:numCache>
                <c:formatCode>General</c:formatCode>
                <c:ptCount val="3"/>
                <c:pt idx="0">
                  <c:v>0</c:v>
                </c:pt>
                <c:pt idx="1">
                  <c:v>90</c:v>
                </c:pt>
                <c:pt idx="2">
                  <c:v>180</c:v>
                </c:pt>
              </c:numCache>
            </c:numRef>
          </c:xVal>
          <c:yVal>
            <c:numRef>
              <c:f>'Chart Data'!$B$2:$B$4</c:f>
              <c:numCache>
                <c:formatCode>0</c:formatCode>
                <c:ptCount val="3"/>
                <c:pt idx="0">
                  <c:v>2.5</c:v>
                </c:pt>
                <c:pt idx="1">
                  <c:v>2.5</c:v>
                </c:pt>
                <c:pt idx="2">
                  <c:v>2.5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kg)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50112"/>
        <c:majorUnit val="1"/>
      </c:valAx>
      <c:valAx>
        <c:axId val="48650112"/>
        <c:scaling>
          <c:orientation val="minMax"/>
          <c:max val="18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(kg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72768"/>
        <c:majorUnit val="6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scatterChart>
        <c:scatterStyle val="lineMarker"/>
        <c:ser>
          <c:idx val="0"/>
          <c:order val="0"/>
          <c:tx>
            <c:v>V</c:v>
          </c:tx>
          <c:spPr>
            <a:ln xmlns:a="http://schemas.openxmlformats.org/drawingml/2006/main" w="38100">
              <a:solidFill>
                <a:srgbClr val="1A5276"/>
              </a:solidFill>
              <a:prstDash val="solid"/>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175"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75" b="1">
                      <a:solidFill>
                        <a:srgbClr val="1A5276"/>
                      </a:solidFill>
                      <a:latin typeface="Arial"/>
                      <a:ea typeface="Arial"/>
                      <a:cs typeface="Arial"/>
                    </a:defRPr>
                  </a:pPr>
                </a:p>
              </c:txPr>
              <c:dLblPos val="b"/>
              <c:showLegendKey val="0"/>
              <c:showVal val="0"/>
              <c:showCatName val="0"/>
              <c:showSerName val="0"/>
              <c:showPercent val="0"/>
              <c:showBubbleSize val="0"/>
            </c:dLbl>
            <c:dLbl>
              <c:idx val="2"/>
              <c:showLegendKey val="0"/>
              <c:showVal val="0"/>
              <c:showCatName val="0"/>
              <c:showSerName val="0"/>
              <c:showPercent val="0"/>
              <c:showBubbleSize val="0"/>
            </c:dLbl>
          </c:dLbls>
          <c:xVal>
            <c:numRef>
              <c:f>'Chart Data'!$A$2:$A$4</c:f>
              <c:numCache>
                <c:formatCode>General</c:formatCode>
                <c:ptCount val="3"/>
                <c:pt idx="0">
                  <c:v>0</c:v>
                </c:pt>
                <c:pt idx="1">
                  <c:v>7</c:v>
                </c:pt>
                <c:pt idx="2">
                  <c:v>10</c:v>
                </c:pt>
              </c:numCache>
            </c:numRef>
          </c:xVal>
          <c:yVal>
            <c:numRef>
              <c:f>'Chart Data'!$B$2:$B$4</c:f>
              <c:numCache>
                <c:formatCode>0</c:formatCode>
                <c:ptCount val="3"/>
                <c:pt idx="0">
                  <c:v>5</c:v>
                </c:pt>
                <c:pt idx="1">
                  <c:v>1.5</c:v>
                </c:pt>
                <c:pt idx="2">
                  <c:v>0</c:v>
                </c:pt>
              </c:numCache>
            </c:numRef>
          </c:yVal>
        </c:ser>
        <c:ser>
          <c:idx val="1"/>
          <c:order val="1"/>
          <c:tx>
            <c:v>A</c:v>
          </c:tx>
          <c:spPr>
            <a:ln xmlns:a="http://schemas.openxmlformats.org/drawingml/2006/main" w="38100">
              <a:solidFill>
                <a:srgbClr val="1E8449"/>
              </a:solidFill>
              <a:prstDash val="solid"/>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175" b="1">
                        <a:solidFill>
                          <a:srgbClr val="1E8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75" b="1">
                      <a:solidFill>
                        <a:srgbClr val="1E8449"/>
                      </a:solidFill>
                      <a:latin typeface="Arial"/>
                      <a:ea typeface="Arial"/>
                      <a:cs typeface="Arial"/>
                    </a:defRPr>
                  </a:pPr>
                </a:p>
              </c:txPr>
              <c:dLblPos val="t"/>
              <c:showLegendKey val="0"/>
              <c:showVal val="0"/>
              <c:showCatName val="0"/>
              <c:showSerName val="0"/>
              <c:showPercent val="0"/>
              <c:showBubbleSize val="0"/>
            </c:dLbl>
            <c:dLbl>
              <c:idx val="2"/>
              <c:showLegendKey val="0"/>
              <c:showVal val="0"/>
              <c:showCatName val="0"/>
              <c:showSerName val="0"/>
              <c:showPercent val="0"/>
              <c:showBubbleSize val="0"/>
            </c:dLbl>
          </c:dLbls>
          <c:xVal>
            <c:numRef>
              <c:f>'Chart Data'!$C$2:$C$4</c:f>
              <c:numCache>
                <c:formatCode>General</c:formatCode>
                <c:ptCount val="3"/>
                <c:pt idx="0">
                  <c:v>0</c:v>
                </c:pt>
                <c:pt idx="1">
                  <c:v>7</c:v>
                </c:pt>
                <c:pt idx="2">
                  <c:v>10</c:v>
                </c:pt>
              </c:numCache>
            </c:numRef>
          </c:xVal>
          <c:yVal>
            <c:numRef>
              <c:f>'Chart Data'!$D$2:$D$4</c:f>
              <c:numCache>
                <c:formatCode>0</c:formatCode>
                <c:ptCount val="3"/>
                <c:pt idx="0">
                  <c:v>1</c:v>
                </c:pt>
                <c:pt idx="1">
                  <c:v>4.5</c:v>
                </c:pt>
                <c:pt idx="2">
                  <c:v>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kg)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50112"/>
        <c:majorUnit val="1"/>
      </c:valAx>
      <c:valAx>
        <c:axId val="48650112"/>
        <c:scaling>
          <c:orientation val="minMax"/>
          <c:max val="1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 1.000 kg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72768"/>
        <c:majorUnit val="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scatterChart>
        <c:scatterStyle val="lineMarker"/>
        <c:ser>
          <c:idx val="0"/>
          <c:order val="0"/>
          <c:tx>
            <c:v>Lege assen</c:v>
          </c:tx>
          <c:spPr>
            <a:ln xmlns:a="http://schemas.openxmlformats.org/drawingml/2006/main" w="0">
              <a:solidFill>
                <a:srgbClr val="FFFFFF"/>
              </a:solidFill>
              <a:prstDash val="solid"/>
            </a:ln>
          </c:spPr>
          <c:marker>
            <c:symbol val="none"/>
          </c:marker>
          <c:xVal>
            <c:numRef>
              <c:f>'Chart Data'!$A$2:$A$3</c:f>
              <c:numCache>
                <c:formatCode>General</c:formatCode>
                <c:ptCount val="2"/>
                <c:pt idx="0">
                  <c:v>0</c:v>
                </c:pt>
                <c:pt idx="1">
                  <c:v>160</c:v>
                </c:pt>
              </c:numCache>
            </c:numRef>
          </c:xVal>
          <c:yVal>
            <c:numRef>
              <c:f>'Chart Data'!$B$2:$B$3</c:f>
              <c:numCache>
                <c:formatCode>0</c:formatCode>
                <c:ptCount val="2"/>
                <c:pt idx="0">
                  <c:v>0</c:v>
                </c:pt>
                <c:pt idx="1">
                  <c:v>0</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kg)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50112"/>
        <c:majorUnit val="1"/>
      </c:valAx>
      <c:valAx>
        <c:axId val="48650112"/>
        <c:scaling>
          <c:orientation val="minMax"/>
          <c:max val="16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(kg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72768"/>
        <c:majorUnit val="4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scatterChart>
        <c:scatterStyle val="lineMarker"/>
        <c:ser>
          <c:idx val="0"/>
          <c:order val="0"/>
          <c:tx>
            <c:v>V</c:v>
          </c:tx>
          <c:spPr>
            <a:ln xmlns:a="http://schemas.openxmlformats.org/drawingml/2006/main" w="38100">
              <a:solidFill>
                <a:srgbClr val="1A5276"/>
              </a:solidFill>
              <a:prstDash val="solid"/>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175"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75" b="1">
                      <a:solidFill>
                        <a:srgbClr val="1A5276"/>
                      </a:solidFill>
                      <a:latin typeface="Arial"/>
                      <a:ea typeface="Arial"/>
                      <a:cs typeface="Arial"/>
                    </a:defRPr>
                  </a:pPr>
                </a:p>
              </c:txPr>
              <c:dLblPos val="b"/>
              <c:showLegendKey val="0"/>
              <c:showVal val="0"/>
              <c:showCatName val="0"/>
              <c:showSerName val="0"/>
              <c:showPercent val="0"/>
              <c:showBubbleSize val="0"/>
            </c:dLbl>
            <c:dLbl>
              <c:idx val="2"/>
              <c:showLegendKey val="0"/>
              <c:showVal val="0"/>
              <c:showCatName val="0"/>
              <c:showSerName val="0"/>
              <c:showPercent val="0"/>
              <c:showBubbleSize val="0"/>
            </c:dLbl>
          </c:dLbls>
          <c:xVal>
            <c:numRef>
              <c:f>'Chart Data'!$A$2:$A$4</c:f>
              <c:numCache>
                <c:formatCode>General</c:formatCode>
                <c:ptCount val="3"/>
                <c:pt idx="0">
                  <c:v>0</c:v>
                </c:pt>
                <c:pt idx="1">
                  <c:v>7</c:v>
                </c:pt>
                <c:pt idx="2">
                  <c:v>10</c:v>
                </c:pt>
              </c:numCache>
            </c:numRef>
          </c:xVal>
          <c:yVal>
            <c:numRef>
              <c:f>'Chart Data'!$B$2:$B$4</c:f>
              <c:numCache>
                <c:formatCode>0</c:formatCode>
                <c:ptCount val="3"/>
                <c:pt idx="0">
                  <c:v>5</c:v>
                </c:pt>
                <c:pt idx="1">
                  <c:v>1.5</c:v>
                </c:pt>
                <c:pt idx="2">
                  <c:v>0</c:v>
                </c:pt>
              </c:numCache>
            </c:numRef>
          </c:yVal>
        </c:ser>
        <c:ser>
          <c:idx val="1"/>
          <c:order val="1"/>
          <c:tx>
            <c:v>A</c:v>
          </c:tx>
          <c:spPr>
            <a:ln xmlns:a="http://schemas.openxmlformats.org/drawingml/2006/main" w="38100">
              <a:solidFill>
                <a:srgbClr val="1E8449"/>
              </a:solidFill>
              <a:prstDash val="solid"/>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175" b="1">
                        <a:solidFill>
                          <a:srgbClr val="1E8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75" b="1">
                      <a:solidFill>
                        <a:srgbClr val="1E8449"/>
                      </a:solidFill>
                      <a:latin typeface="Arial"/>
                      <a:ea typeface="Arial"/>
                      <a:cs typeface="Arial"/>
                    </a:defRPr>
                  </a:pPr>
                </a:p>
              </c:txPr>
              <c:dLblPos val="t"/>
              <c:showLegendKey val="0"/>
              <c:showVal val="0"/>
              <c:showCatName val="0"/>
              <c:showSerName val="0"/>
              <c:showPercent val="0"/>
              <c:showBubbleSize val="0"/>
            </c:dLbl>
            <c:dLbl>
              <c:idx val="2"/>
              <c:showLegendKey val="0"/>
              <c:showVal val="0"/>
              <c:showCatName val="0"/>
              <c:showSerName val="0"/>
              <c:showPercent val="0"/>
              <c:showBubbleSize val="0"/>
            </c:dLbl>
          </c:dLbls>
          <c:xVal>
            <c:numRef>
              <c:f>'Chart Data'!$C$2:$C$4</c:f>
              <c:numCache>
                <c:formatCode>General</c:formatCode>
                <c:ptCount val="3"/>
                <c:pt idx="0">
                  <c:v>0</c:v>
                </c:pt>
                <c:pt idx="1">
                  <c:v>7</c:v>
                </c:pt>
                <c:pt idx="2">
                  <c:v>10</c:v>
                </c:pt>
              </c:numCache>
            </c:numRef>
          </c:xVal>
          <c:yVal>
            <c:numRef>
              <c:f>'Chart Data'!$D$2:$D$4</c:f>
              <c:numCache>
                <c:formatCode>0</c:formatCode>
                <c:ptCount val="3"/>
                <c:pt idx="0">
                  <c:v>1</c:v>
                </c:pt>
                <c:pt idx="1">
                  <c:v>4.5</c:v>
                </c:pt>
                <c:pt idx="2">
                  <c:v>6</c:v>
                </c:pt>
              </c:numCache>
            </c:numRef>
          </c:yVal>
        </c:ser>
        <c:ser>
          <c:idx val="2"/>
          <c:order val="2"/>
          <c:tx>
            <c:v>Prijshulplijn</c:v>
          </c:tx>
          <c:spPr>
            <a:ln xmlns:a="http://schemas.openxmlformats.org/drawingml/2006/main" w="19050">
              <a:solidFill>
                <a:srgbClr val="445B6B"/>
              </a:solidFill>
              <a:prstDash val="dash"/>
            </a:ln>
          </c:spPr>
          <c:marker>
            <c:symbol val="none"/>
          </c:marker>
          <c:xVal>
            <c:numRef>
              <c:f>'Chart Data'!$E$2:$E$3</c:f>
              <c:numCache>
                <c:formatCode>General</c:formatCode>
                <c:ptCount val="2"/>
                <c:pt idx="0">
                  <c:v>0</c:v>
                </c:pt>
                <c:pt idx="1">
                  <c:v>4</c:v>
                </c:pt>
              </c:numCache>
            </c:numRef>
          </c:xVal>
          <c:yVal>
            <c:numRef>
              <c:f>'Chart Data'!$F$2:$F$3</c:f>
              <c:numCache>
                <c:formatCode>0</c:formatCode>
                <c:ptCount val="2"/>
                <c:pt idx="0">
                  <c:v>3</c:v>
                </c:pt>
                <c:pt idx="1">
                  <c:v>3</c:v>
                </c:pt>
              </c:numCache>
            </c:numRef>
          </c:yVal>
        </c:ser>
        <c:ser>
          <c:idx val="3"/>
          <c:order val="3"/>
          <c:tx>
            <c:v>Hoeveelheidshulplijn</c:v>
          </c:tx>
          <c:spPr>
            <a:ln xmlns:a="http://schemas.openxmlformats.org/drawingml/2006/main" w="19050">
              <a:solidFill>
                <a:srgbClr val="445B6B"/>
              </a:solidFill>
              <a:prstDash val="dash"/>
            </a:ln>
          </c:spPr>
          <c:marker>
            <c:symbol val="none"/>
          </c:marker>
          <c:xVal>
            <c:numRef>
              <c:f>'Chart Data'!$G$2:$G$3</c:f>
              <c:numCache>
                <c:formatCode>General</c:formatCode>
                <c:ptCount val="2"/>
                <c:pt idx="0">
                  <c:v>4</c:v>
                </c:pt>
                <c:pt idx="1">
                  <c:v>4</c:v>
                </c:pt>
              </c:numCache>
            </c:numRef>
          </c:xVal>
          <c:yVal>
            <c:numRef>
              <c:f>'Chart Data'!$H$2:$H$3</c:f>
              <c:numCache>
                <c:formatCode>0</c:formatCode>
                <c:ptCount val="2"/>
                <c:pt idx="0">
                  <c:v>0</c:v>
                </c:pt>
                <c:pt idx="1">
                  <c:v>3</c:v>
                </c:pt>
              </c:numCache>
            </c:numRef>
          </c:yVal>
        </c:ser>
        <c:ser>
          <c:idx val="4"/>
          <c:order val="4"/>
          <c:tx>
            <c:v>E</c:v>
          </c:tx>
          <c:spPr>
            <a:ln xmlns:a="http://schemas.openxmlformats.org/drawingml/2006/main" w="0">
              <a:solidFill>
                <a:srgbClr val="183247"/>
              </a:solidFill>
            </a:ln>
          </c:spPr>
          <c:marker>
            <c:symbol val="circle"/>
            <c:size val="10"/>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t"/>
              <c:showLegendKey val="0"/>
              <c:showVal val="0"/>
              <c:showCatName val="0"/>
              <c:showSerName val="0"/>
              <c:showPercent val="0"/>
              <c:showBubbleSize val="0"/>
            </c:dLbl>
          </c:dLbls>
          <c:xVal>
            <c:numRef>
              <c:f>'Chart Data'!$I$2:$I$2</c:f>
              <c:numCache>
                <c:formatCode>General</c:formatCode>
                <c:ptCount val="1"/>
                <c:pt idx="0">
                  <c:v>4</c:v>
                </c:pt>
              </c:numCache>
            </c:numRef>
          </c:xVal>
          <c:yVal>
            <c:numRef>
              <c:f>'Chart Data'!$J$2:$J$2</c:f>
              <c:numCache>
                <c:formatCode>0</c:formatCode>
                <c:ptCount val="1"/>
                <c:pt idx="0">
                  <c:v>3</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kg)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50112"/>
        <c:majorUnit val="1"/>
      </c:valAx>
      <c:valAx>
        <c:axId val="48650112"/>
        <c:scaling>
          <c:orientation val="minMax"/>
          <c:max val="1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 1.000 kg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72768"/>
        <c:majorUnit val="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scatterChart>
        <c:scatterStyle val="lineMarker"/>
        <c:ser>
          <c:idx val="0"/>
          <c:order val="0"/>
          <c:tx>
            <c:v>P = GO = MO</c:v>
          </c:tx>
          <c:spPr>
            <a:ln xmlns:a="http://schemas.openxmlformats.org/drawingml/2006/main" w="47625">
              <a:solidFill>
                <a:srgbClr val="7B2D8E"/>
              </a:solidFill>
              <a:prstDash val="solid"/>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175" b="1">
                        <a:solidFill>
                          <a:srgbClr val="7B2D8E"/>
                        </a:solidFill>
                        <a:latin typeface="Arial"/>
                        <a:ea typeface="Arial"/>
                        <a:cs typeface="Arial"/>
                      </a:rPr>
                      <a:t>P = GO = MO</a:t>
                    </a:r>
                  </a:p>
                </c:rich>
              </c:tx>
              <c:txPr>
                <a:bodyPr xmlns:a="http://schemas.openxmlformats.org/drawingml/2006/main" anchorCtr="1"/>
                <a:lstStyle xmlns:a="http://schemas.openxmlformats.org/drawingml/2006/main"/>
                <a:p xmlns:a="http://schemas.openxmlformats.org/drawingml/2006/main">
                  <a:pPr>
                    <a:defRPr sz="2175" b="1">
                      <a:solidFill>
                        <a:srgbClr val="7B2D8E"/>
                      </a:solidFill>
                      <a:latin typeface="Arial"/>
                      <a:ea typeface="Arial"/>
                      <a:cs typeface="Arial"/>
                    </a:defRPr>
                  </a:pPr>
                </a:p>
              </c:txPr>
              <c:dLblPos val="t"/>
              <c:showLegendKey val="0"/>
              <c:showVal val="0"/>
              <c:showCatName val="0"/>
              <c:showSerName val="0"/>
              <c:showPercent val="0"/>
              <c:showBubbleSize val="0"/>
            </c:dLbl>
            <c:dLbl>
              <c:idx val="2"/>
              <c:showLegendKey val="0"/>
              <c:showVal val="0"/>
              <c:showCatName val="0"/>
              <c:showSerName val="0"/>
              <c:showPercent val="0"/>
              <c:showBubbleSize val="0"/>
            </c:dLbl>
          </c:dLbls>
          <c:xVal>
            <c:numRef>
              <c:f>'Chart Data'!$A$2:$A$4</c:f>
              <c:numCache>
                <c:formatCode>General</c:formatCode>
                <c:ptCount val="3"/>
                <c:pt idx="0">
                  <c:v>0</c:v>
                </c:pt>
                <c:pt idx="1">
                  <c:v>80</c:v>
                </c:pt>
                <c:pt idx="2">
                  <c:v>160</c:v>
                </c:pt>
              </c:numCache>
            </c:numRef>
          </c:xVal>
          <c:yVal>
            <c:numRef>
              <c:f>'Chart Data'!$B$2:$B$4</c:f>
              <c:numCache>
                <c:formatCode>0</c:formatCode>
                <c:ptCount val="3"/>
                <c:pt idx="0">
                  <c:v>3</c:v>
                </c:pt>
                <c:pt idx="1">
                  <c:v>3</c:v>
                </c:pt>
                <c:pt idx="2">
                  <c:v>3</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kg)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50112"/>
        <c:majorUnit val="1"/>
      </c:valAx>
      <c:valAx>
        <c:axId val="48650112"/>
        <c:scaling>
          <c:orientation val="minMax"/>
          <c:max val="16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(kg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9050">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72768"/>
        <c:majorUnit val="4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2.1 Volkomen concurrentie: kenmerken">
            <a:extLst xmlns:a="http://schemas.openxmlformats.org/drawingml/2006/main">
              <a:ext uri="{FF2B5EF4-FFF2-40B4-BE49-F238E27FC236}">
                <a16:creationId xmlns:a16="http://schemas.microsoft.com/office/drawing/2014/main" id="{FF5BED7C-41F3-4632-ACB9-B5006F3A203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 les: §3.2.1 Volkomen concurrentie: kenmerken</a:t>
            </a:r>
          </a:p>
        </p:txBody>
      </p:sp>
      <p:sp>
        <p:nvSpPr>
          <p:cNvPr id="2" name="">
            <a:extLst xmlns:a="http://schemas.openxmlformats.org/drawingml/2006/main">
              <a:ext uri="{FF2B5EF4-FFF2-40B4-BE49-F238E27FC236}">
                <a16:creationId xmlns:a16="http://schemas.microsoft.com/office/drawing/2014/main" id="{81EF2FD5-A4E7-42AD-A87A-01A8E7F40F3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1 Volkomen concurrentie">
            <a:extLst xmlns:a="http://schemas.openxmlformats.org/drawingml/2006/main">
              <a:ext uri="{FF2B5EF4-FFF2-40B4-BE49-F238E27FC236}">
                <a16:creationId xmlns:a16="http://schemas.microsoft.com/office/drawing/2014/main" id="{12F64C92-A86E-4324-A230-7613D42E2088}"/>
              </a:ext>
            </a:extLst>
          </p:cNvPr>
          <p:cNvSpPr>
            <a:spLocks xmlns:a="http://schemas.openxmlformats.org/drawingml/2006/main" noGrp="1"/>
          </p:cNvSpPr>
          <p:nvPr/>
        </p:nvSpPr>
        <p:spPr>
          <a:xfrm xmlns:a="http://schemas.openxmlformats.org/drawingml/2006/main">
            <a:off x="571500" y="8077200"/>
            <a:ext cx="1314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§3.2.1 Volkomen concurrentie</a:t>
            </a:r>
          </a:p>
        </p:txBody>
      </p:sp>
      <p:sp>
        <p:nvSpPr>
          <p:cNvPr id="4" name="1">
            <a:extLst xmlns:a="http://schemas.openxmlformats.org/drawingml/2006/main">
              <a:ext uri="{FF2B5EF4-FFF2-40B4-BE49-F238E27FC236}">
                <a16:creationId xmlns:a16="http://schemas.microsoft.com/office/drawing/2014/main" id="{FEA9A714-7D63-4E96-884C-D3E1C6B7C754}"/>
              </a:ext>
            </a:extLst>
          </p:cNvPr>
          <p:cNvSpPr>
            <a:spLocks xmlns:a="http://schemas.openxmlformats.org/drawingml/2006/main" noGrp="1"/>
          </p:cNvSpPr>
          <p:nvPr/>
        </p:nvSpPr>
        <p:spPr>
          <a:xfrm xmlns:a="http://schemas.openxmlformats.org/drawingml/2006/main">
            <a:off x="14001750" y="80486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3AB1A4CC-5E19-44D8-ADE0-9C303393C359}"/>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7372066B-5C33-4E19-98EC-E91BF596E19D}"/>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F7DC027D-E2E9-4436-A370-E315CC2AED38}"/>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74350468-EA52-43F9-92A5-D64510F3F7D3}"/>
              </a:ext>
            </a:extLst>
          </p:cNvPr>
          <p:cNvSpPr>
            <a:spLocks xmlns:a="http://schemas.openxmlformats.org/drawingml/2006/main" noGrp="1"/>
          </p:cNvSpPr>
          <p:nvPr/>
        </p:nvSpPr>
        <p:spPr>
          <a:xfrm xmlns:a="http://schemas.openxmlformats.org/drawingml/2006/main">
            <a:off x="1104900" y="2324100"/>
            <a:ext cx="752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1E41C25B-9A6C-4F29-AEBC-12B679E54C30}"/>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83E2A0DA-E48A-467E-A191-AE2A61FA22DB}"/>
              </a:ext>
            </a:extLst>
          </p:cNvPr>
          <p:cNvSpPr>
            <a:spLocks xmlns:a="http://schemas.openxmlformats.org/drawingml/2006/main" noGrp="1"/>
          </p:cNvSpPr>
          <p:nvPr/>
        </p:nvSpPr>
        <p:spPr>
          <a:xfrm xmlns:a="http://schemas.openxmlformats.org/drawingml/2006/main">
            <a:off x="1104900" y="320040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8DBF86C7-7F7C-4F76-994B-D4BCCFFD2F06}"/>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FD2D2571-D758-4B5A-9CC3-5DF3959CF97B}"/>
              </a:ext>
            </a:extLst>
          </p:cNvPr>
          <p:cNvSpPr>
            <a:spLocks xmlns:a="http://schemas.openxmlformats.org/drawingml/2006/main" noGrp="1"/>
          </p:cNvSpPr>
          <p:nvPr/>
        </p:nvSpPr>
        <p:spPr>
          <a:xfrm xmlns:a="http://schemas.openxmlformats.org/drawingml/2006/main">
            <a:off x="1104900" y="37147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3E77C50A-A8AA-4015-95F1-0C820541DAFF}"/>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41C79169-46FF-4BAB-AD33-1770821471DC}"/>
              </a:ext>
            </a:extLst>
          </p:cNvPr>
          <p:cNvSpPr>
            <a:spLocks xmlns:a="http://schemas.openxmlformats.org/drawingml/2006/main" noGrp="1"/>
          </p:cNvSpPr>
          <p:nvPr/>
        </p:nvSpPr>
        <p:spPr>
          <a:xfrm xmlns:a="http://schemas.openxmlformats.org/drawingml/2006/main">
            <a:off x="1104900" y="4248150"/>
            <a:ext cx="75247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3FC3147C-FF65-4D5D-8B2E-5FD696BEB8A7}"/>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ED1CEADD-8C6F-41A3-A749-5BD6E6BBD59C}"/>
              </a:ext>
            </a:extLst>
          </p:cNvPr>
          <p:cNvSpPr>
            <a:spLocks xmlns:a="http://schemas.openxmlformats.org/drawingml/2006/main" noGrp="1"/>
          </p:cNvSpPr>
          <p:nvPr/>
        </p:nvSpPr>
        <p:spPr>
          <a:xfrm xmlns:a="http://schemas.openxmlformats.org/drawingml/2006/main">
            <a:off x="1104900" y="6057900"/>
            <a:ext cx="7524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43E4EFF2-5211-4B11-A1BB-FD7F8DC252A9}"/>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A1938E3E-FD7F-4503-88D3-5C82758E4412}"/>
              </a:ext>
            </a:extLst>
          </p:cNvPr>
          <p:cNvSpPr>
            <a:spLocks xmlns:a="http://schemas.openxmlformats.org/drawingml/2006/main" noGrp="1"/>
          </p:cNvSpPr>
          <p:nvPr/>
        </p:nvSpPr>
        <p:spPr>
          <a:xfrm xmlns:a="http://schemas.openxmlformats.org/drawingml/2006/main">
            <a:off x="1104900" y="681990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7">
            <a:extLst xmlns:a="http://schemas.openxmlformats.org/drawingml/2006/main">
              <a:ext uri="{FF2B5EF4-FFF2-40B4-BE49-F238E27FC236}">
                <a16:creationId xmlns:a16="http://schemas.microsoft.com/office/drawing/2014/main" id="{EFE5C46D-99E6-448A-AA87-FDEB66C30C3A}"/>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1F135F88-A3FD-4144-81ED-D9D867BC5630}"/>
              </a:ext>
            </a:extLst>
          </p:cNvPr>
          <p:cNvSpPr>
            <a:spLocks xmlns:a="http://schemas.openxmlformats.org/drawingml/2006/main" noGrp="1"/>
          </p:cNvSpPr>
          <p:nvPr/>
        </p:nvSpPr>
        <p:spPr>
          <a:xfrm xmlns:a="http://schemas.openxmlformats.org/drawingml/2006/main">
            <a:off x="1104900" y="7372350"/>
            <a:ext cx="752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B7F13CC2-DF64-408A-88EC-5EFE2369A545}"/>
              </a:ext>
            </a:extLst>
          </p:cNvPr>
          <p:cNvSpPr>
            <a:spLocks xmlns:a="http://schemas.openxmlformats.org/drawingml/2006/main" noGrp="1"/>
          </p:cNvSpPr>
          <p:nvPr/>
        </p:nvSpPr>
        <p:spPr>
          <a:xfrm xmlns:a="http://schemas.openxmlformats.org/drawingml/2006/main">
            <a:off x="9258300" y="1762125"/>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551E8D64-8071-45E0-9B08-37063CDF1E63}"/>
              </a:ext>
            </a:extLst>
          </p:cNvPr>
          <p:cNvSpPr>
            <a:spLocks xmlns:a="http://schemas.openxmlformats.org/drawingml/2006/main" noGrp="1"/>
          </p:cNvSpPr>
          <p:nvPr/>
        </p:nvSpPr>
        <p:spPr>
          <a:xfrm xmlns:a="http://schemas.openxmlformats.org/drawingml/2006/main">
            <a:off x="9258300" y="2286000"/>
            <a:ext cx="54102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Prijsnemerschap verklaren,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marktprijs overnemen 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TO, GO en MO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Een prijskeuze beoordelen.</a:t>
            </a:r>
          </a:p>
        </p:txBody>
      </p:sp>
      <p:sp>
        <p:nvSpPr>
          <p:cNvPr id="23" name="">
            <a:extLst xmlns:a="http://schemas.openxmlformats.org/drawingml/2006/main">
              <a:ext uri="{FF2B5EF4-FFF2-40B4-BE49-F238E27FC236}">
                <a16:creationId xmlns:a16="http://schemas.microsoft.com/office/drawing/2014/main" id="{CF851DA2-B9A2-420A-869B-BCB560BB3615}"/>
              </a:ext>
            </a:extLst>
          </p:cNvPr>
          <p:cNvSpPr>
            <a:spLocks xmlns:a="http://schemas.openxmlformats.org/drawingml/2006/main" noGrp="1"/>
          </p:cNvSpPr>
          <p:nvPr/>
        </p:nvSpPr>
        <p:spPr>
          <a:xfrm xmlns:a="http://schemas.openxmlformats.org/drawingml/2006/main">
            <a:off x="9258300" y="3724275"/>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DD23BB9C-196F-42AF-B849-EFB2AAD1BFFA}"/>
              </a:ext>
            </a:extLst>
          </p:cNvPr>
          <p:cNvSpPr>
            <a:spLocks xmlns:a="http://schemas.openxmlformats.org/drawingml/2006/main" noGrp="1"/>
          </p:cNvSpPr>
          <p:nvPr/>
        </p:nvSpPr>
        <p:spPr>
          <a:xfrm xmlns:a="http://schemas.openxmlformats.org/drawingml/2006/main">
            <a:off x="9258300" y="3886200"/>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03123F3F-2FAF-4AAA-BD46-BBA9C3AD0EEA}"/>
              </a:ext>
            </a:extLst>
          </p:cNvPr>
          <p:cNvSpPr>
            <a:spLocks xmlns:a="http://schemas.openxmlformats.org/drawingml/2006/main" noGrp="1"/>
          </p:cNvSpPr>
          <p:nvPr/>
        </p:nvSpPr>
        <p:spPr>
          <a:xfrm xmlns:a="http://schemas.openxmlformats.org/drawingml/2006/main">
            <a:off x="9258300" y="4381500"/>
            <a:ext cx="5410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57 · Opgaven 1 en 2</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 verkennen met theorie</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op pagina 54–55</a:t>
            </a:r>
          </a:p>
        </p:txBody>
      </p:sp>
      <p:sp>
        <p:nvSpPr>
          <p:cNvPr id="26" name="">
            <a:extLst xmlns:a="http://schemas.openxmlformats.org/drawingml/2006/main">
              <a:ext uri="{FF2B5EF4-FFF2-40B4-BE49-F238E27FC236}">
                <a16:creationId xmlns:a16="http://schemas.microsoft.com/office/drawing/2014/main" id="{67168F88-5373-43DD-B1BE-E0FD8FD54872}"/>
              </a:ext>
            </a:extLst>
          </p:cNvPr>
          <p:cNvSpPr>
            <a:spLocks xmlns:a="http://schemas.openxmlformats.org/drawingml/2006/main" noGrp="1"/>
          </p:cNvSpPr>
          <p:nvPr/>
        </p:nvSpPr>
        <p:spPr>
          <a:xfrm xmlns:a="http://schemas.openxmlformats.org/drawingml/2006/main">
            <a:off x="9258300" y="55816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326045E4-8480-47D9-9263-5969FDE68D34}"/>
              </a:ext>
            </a:extLst>
          </p:cNvPr>
          <p:cNvSpPr>
            <a:spLocks xmlns:a="http://schemas.openxmlformats.org/drawingml/2006/main" noGrp="1"/>
          </p:cNvSpPr>
          <p:nvPr/>
        </p:nvSpPr>
        <p:spPr>
          <a:xfrm xmlns:a="http://schemas.openxmlformats.org/drawingml/2006/main">
            <a:off x="9258300" y="5753100"/>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BED5DE5F-3B4A-4E2F-B016-2BA88ACBE5C7}"/>
              </a:ext>
            </a:extLst>
          </p:cNvPr>
          <p:cNvSpPr>
            <a:spLocks xmlns:a="http://schemas.openxmlformats.org/drawingml/2006/main" noGrp="1"/>
          </p:cNvSpPr>
          <p:nvPr/>
        </p:nvSpPr>
        <p:spPr>
          <a:xfrm xmlns:a="http://schemas.openxmlformats.org/drawingml/2006/main">
            <a:off x="9258300" y="6257925"/>
            <a:ext cx="54102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§3.2.1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 en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2534434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Wat kun je na deze les?">
            <a:extLst xmlns:a="http://schemas.openxmlformats.org/drawingml/2006/main">
              <a:ext uri="{FF2B5EF4-FFF2-40B4-BE49-F238E27FC236}">
                <a16:creationId xmlns:a16="http://schemas.microsoft.com/office/drawing/2014/main" id="{212635A0-193C-42AA-8271-5562F65CF6B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Wat kun je na deze les?</a:t>
            </a:r>
          </a:p>
        </p:txBody>
      </p:sp>
      <p:sp>
        <p:nvSpPr>
          <p:cNvPr id="2" name="">
            <a:extLst xmlns:a="http://schemas.openxmlformats.org/drawingml/2006/main">
              <a:ext uri="{FF2B5EF4-FFF2-40B4-BE49-F238E27FC236}">
                <a16:creationId xmlns:a16="http://schemas.microsoft.com/office/drawing/2014/main" id="{B7C683E4-2D87-4781-9CBE-22ED26BDC50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1 Volkomen concurrentie">
            <a:extLst xmlns:a="http://schemas.openxmlformats.org/drawingml/2006/main">
              <a:ext uri="{FF2B5EF4-FFF2-40B4-BE49-F238E27FC236}">
                <a16:creationId xmlns:a16="http://schemas.microsoft.com/office/drawing/2014/main" id="{EA6C4FF9-CC9B-4E55-97A3-A18C6808282A}"/>
              </a:ext>
            </a:extLst>
          </p:cNvPr>
          <p:cNvSpPr>
            <a:spLocks xmlns:a="http://schemas.openxmlformats.org/drawingml/2006/main" noGrp="1"/>
          </p:cNvSpPr>
          <p:nvPr/>
        </p:nvSpPr>
        <p:spPr>
          <a:xfrm xmlns:a="http://schemas.openxmlformats.org/drawingml/2006/main">
            <a:off x="571500" y="8077200"/>
            <a:ext cx="1314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§3.2.1 Volkomen concurrentie</a:t>
            </a:r>
          </a:p>
        </p:txBody>
      </p:sp>
      <p:sp>
        <p:nvSpPr>
          <p:cNvPr id="4" name="2">
            <a:extLst xmlns:a="http://schemas.openxmlformats.org/drawingml/2006/main">
              <a:ext uri="{FF2B5EF4-FFF2-40B4-BE49-F238E27FC236}">
                <a16:creationId xmlns:a16="http://schemas.microsoft.com/office/drawing/2014/main" id="{821B6DA5-6D52-4F91-BDBC-F0ACF1BE1853}"/>
              </a:ext>
            </a:extLst>
          </p:cNvPr>
          <p:cNvSpPr>
            <a:spLocks xmlns:a="http://schemas.openxmlformats.org/drawingml/2006/main" noGrp="1"/>
          </p:cNvSpPr>
          <p:nvPr/>
        </p:nvSpPr>
        <p:spPr>
          <a:xfrm xmlns:a="http://schemas.openxmlformats.org/drawingml/2006/main">
            <a:off x="14001750" y="80486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Prijsnemerschap">
            <a:extLst xmlns:a="http://schemas.openxmlformats.org/drawingml/2006/main">
              <a:ext uri="{FF2B5EF4-FFF2-40B4-BE49-F238E27FC236}">
                <a16:creationId xmlns:a16="http://schemas.microsoft.com/office/drawing/2014/main" id="{81B9F51A-F854-41B9-A31D-0929E3FE89EE}"/>
              </a:ext>
            </a:extLst>
          </p:cNvPr>
          <p:cNvSpPr>
            <a:spLocks xmlns:a="http://schemas.openxmlformats.org/drawingml/2006/main" noGrp="1"/>
          </p:cNvSpPr>
          <p:nvPr/>
        </p:nvSpPr>
        <p:spPr>
          <a:xfrm xmlns:a="http://schemas.openxmlformats.org/drawingml/2006/main">
            <a:off x="571500" y="2114550"/>
            <a:ext cx="561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Prijsnemerschap</a:t>
            </a:r>
          </a:p>
        </p:txBody>
      </p:sp>
      <p:sp>
        <p:nvSpPr>
          <p:cNvPr id="6" name="Je verklaart waarom één kleine onderneming de marktprijs overneemt.">
            <a:extLst xmlns:a="http://schemas.openxmlformats.org/drawingml/2006/main">
              <a:ext uri="{FF2B5EF4-FFF2-40B4-BE49-F238E27FC236}">
                <a16:creationId xmlns:a16="http://schemas.microsoft.com/office/drawing/2014/main" id="{5AD23AE2-56C3-427E-A8E6-93E3D58D7BF1}"/>
              </a:ext>
            </a:extLst>
          </p:cNvPr>
          <p:cNvSpPr>
            <a:spLocks xmlns:a="http://schemas.openxmlformats.org/drawingml/2006/main" noGrp="1"/>
          </p:cNvSpPr>
          <p:nvPr/>
        </p:nvSpPr>
        <p:spPr>
          <a:xfrm xmlns:a="http://schemas.openxmlformats.org/drawingml/2006/main">
            <a:off x="6572250" y="2114550"/>
            <a:ext cx="8096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Je verklaart waarom één kleine onderneming de marktprijs overneemt.</a:t>
            </a:r>
          </a:p>
        </p:txBody>
      </p:sp>
      <p:sp>
        <p:nvSpPr>
          <p:cNvPr id="7" name="">
            <a:extLst xmlns:a="http://schemas.openxmlformats.org/drawingml/2006/main">
              <a:ext uri="{FF2B5EF4-FFF2-40B4-BE49-F238E27FC236}">
                <a16:creationId xmlns:a16="http://schemas.microsoft.com/office/drawing/2014/main" id="{9FA38DFA-8A62-440E-A94E-AF7F816636B2}"/>
              </a:ext>
            </a:extLst>
          </p:cNvPr>
          <p:cNvSpPr>
            <a:spLocks xmlns:a="http://schemas.openxmlformats.org/drawingml/2006/main" noGrp="1"/>
          </p:cNvSpPr>
          <p:nvPr/>
        </p:nvSpPr>
        <p:spPr>
          <a:xfrm xmlns:a="http://schemas.openxmlformats.org/drawingml/2006/main">
            <a:off x="571500" y="3476625"/>
            <a:ext cx="14097000" cy="0"/>
          </a:xfrm>
          <a:prstGeom xmlns:a="http://schemas.openxmlformats.org/drawingml/2006/main" prst="line">
            <a:avLst/>
          </a:prstGeom>
          <a:ln xmlns:a="http://schemas.openxmlformats.org/drawingml/2006/main" w="19050">
            <a:solidFill>
              <a:srgbClr val="C6D2DB"/>
            </a:solidFill>
          </a:ln>
        </p:spPr>
      </p:sp>
      <p:sp>
        <p:nvSpPr>
          <p:cNvPr id="8" name="Markt en onderneming">
            <a:extLst xmlns:a="http://schemas.openxmlformats.org/drawingml/2006/main">
              <a:ext uri="{FF2B5EF4-FFF2-40B4-BE49-F238E27FC236}">
                <a16:creationId xmlns:a16="http://schemas.microsoft.com/office/drawing/2014/main" id="{84CF2767-76D5-4F6D-8231-AB5BE864B3FC}"/>
              </a:ext>
            </a:extLst>
          </p:cNvPr>
          <p:cNvSpPr>
            <a:spLocks xmlns:a="http://schemas.openxmlformats.org/drawingml/2006/main" noGrp="1"/>
          </p:cNvSpPr>
          <p:nvPr/>
        </p:nvSpPr>
        <p:spPr>
          <a:xfrm xmlns:a="http://schemas.openxmlformats.org/drawingml/2006/main">
            <a:off x="571500" y="3905250"/>
            <a:ext cx="561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Markt en onderneming</a:t>
            </a:r>
          </a:p>
        </p:txBody>
      </p:sp>
      <p:sp>
        <p:nvSpPr>
          <p:cNvPr id="9" name="Je neemt de prijs over en onderscheidt Q van q.">
            <a:extLst xmlns:a="http://schemas.openxmlformats.org/drawingml/2006/main">
              <a:ext uri="{FF2B5EF4-FFF2-40B4-BE49-F238E27FC236}">
                <a16:creationId xmlns:a16="http://schemas.microsoft.com/office/drawing/2014/main" id="{20F39518-748D-4342-92DC-A8411057E5A0}"/>
              </a:ext>
            </a:extLst>
          </p:cNvPr>
          <p:cNvSpPr>
            <a:spLocks xmlns:a="http://schemas.openxmlformats.org/drawingml/2006/main" noGrp="1"/>
          </p:cNvSpPr>
          <p:nvPr/>
        </p:nvSpPr>
        <p:spPr>
          <a:xfrm xmlns:a="http://schemas.openxmlformats.org/drawingml/2006/main">
            <a:off x="6572250" y="3905250"/>
            <a:ext cx="8096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Je neemt de prijs over en onderscheidt Q van q.</a:t>
            </a:r>
          </a:p>
        </p:txBody>
      </p:sp>
      <p:sp>
        <p:nvSpPr>
          <p:cNvPr id="10" name="">
            <a:extLst xmlns:a="http://schemas.openxmlformats.org/drawingml/2006/main">
              <a:ext uri="{FF2B5EF4-FFF2-40B4-BE49-F238E27FC236}">
                <a16:creationId xmlns:a16="http://schemas.microsoft.com/office/drawing/2014/main" id="{A3C9F8D4-7877-44F5-9F59-446E9A856CDA}"/>
              </a:ext>
            </a:extLst>
          </p:cNvPr>
          <p:cNvSpPr>
            <a:spLocks xmlns:a="http://schemas.openxmlformats.org/drawingml/2006/main" noGrp="1"/>
          </p:cNvSpPr>
          <p:nvPr/>
        </p:nvSpPr>
        <p:spPr>
          <a:xfrm xmlns:a="http://schemas.openxmlformats.org/drawingml/2006/main">
            <a:off x="571500" y="5267325"/>
            <a:ext cx="14097000" cy="0"/>
          </a:xfrm>
          <a:prstGeom xmlns:a="http://schemas.openxmlformats.org/drawingml/2006/main" prst="line">
            <a:avLst/>
          </a:prstGeom>
          <a:ln xmlns:a="http://schemas.openxmlformats.org/drawingml/2006/main" w="19050">
            <a:solidFill>
              <a:srgbClr val="C6D2DB"/>
            </a:solidFill>
          </a:ln>
        </p:spPr>
      </p:sp>
      <p:sp>
        <p:nvSpPr>
          <p:cNvPr id="11" name="Opbrengsten en prijskeuze">
            <a:extLst xmlns:a="http://schemas.openxmlformats.org/drawingml/2006/main">
              <a:ext uri="{FF2B5EF4-FFF2-40B4-BE49-F238E27FC236}">
                <a16:creationId xmlns:a16="http://schemas.microsoft.com/office/drawing/2014/main" id="{CD315607-1665-44CF-B99B-6835725485E6}"/>
              </a:ext>
            </a:extLst>
          </p:cNvPr>
          <p:cNvSpPr>
            <a:spLocks xmlns:a="http://schemas.openxmlformats.org/drawingml/2006/main" noGrp="1"/>
          </p:cNvSpPr>
          <p:nvPr/>
        </p:nvSpPr>
        <p:spPr>
          <a:xfrm xmlns:a="http://schemas.openxmlformats.org/drawingml/2006/main">
            <a:off x="571500" y="5695950"/>
            <a:ext cx="561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Opbrengsten en prijskeuze</a:t>
            </a:r>
          </a:p>
        </p:txBody>
      </p:sp>
      <p:sp>
        <p:nvSpPr>
          <p:cNvPr id="12" name="Je berekent TO, GO en MO en beoordeelt een hogere of lagere prijs.">
            <a:extLst xmlns:a="http://schemas.openxmlformats.org/drawingml/2006/main">
              <a:ext uri="{FF2B5EF4-FFF2-40B4-BE49-F238E27FC236}">
                <a16:creationId xmlns:a16="http://schemas.microsoft.com/office/drawing/2014/main" id="{6E9E791A-82B6-4FFA-A438-C28A1497ADE0}"/>
              </a:ext>
            </a:extLst>
          </p:cNvPr>
          <p:cNvSpPr>
            <a:spLocks xmlns:a="http://schemas.openxmlformats.org/drawingml/2006/main" noGrp="1"/>
          </p:cNvSpPr>
          <p:nvPr/>
        </p:nvSpPr>
        <p:spPr>
          <a:xfrm xmlns:a="http://schemas.openxmlformats.org/drawingml/2006/main">
            <a:off x="6572250" y="5695950"/>
            <a:ext cx="8096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Je berekent TO, GO en MO en beoordeelt een hogere of lagere prijs.</a:t>
            </a:r>
          </a:p>
        </p:txBody>
      </p:sp>
    </p:spTree>
    <p:extLst>
      <p:ext uri="{BB962C8B-B14F-4D97-AF65-F5344CB8AC3E}">
        <p14:creationId xmlns:p14="http://schemas.microsoft.com/office/powerpoint/2010/main" val="14132270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Vier kenmerken van volkomen concurrentie">
            <a:extLst xmlns:a="http://schemas.openxmlformats.org/drawingml/2006/main">
              <a:ext uri="{FF2B5EF4-FFF2-40B4-BE49-F238E27FC236}">
                <a16:creationId xmlns:a16="http://schemas.microsoft.com/office/drawing/2014/main" id="{07FA8F3F-8545-45CC-80E2-658ABB641B1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Vier kenmerken van volkomen concurrentie</a:t>
            </a:r>
          </a:p>
        </p:txBody>
      </p:sp>
      <p:sp>
        <p:nvSpPr>
          <p:cNvPr id="2" name="">
            <a:extLst xmlns:a="http://schemas.openxmlformats.org/drawingml/2006/main">
              <a:ext uri="{FF2B5EF4-FFF2-40B4-BE49-F238E27FC236}">
                <a16:creationId xmlns:a16="http://schemas.microsoft.com/office/drawing/2014/main" id="{C6455BB9-B976-4A97-AD95-2C928FAE0BE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1 Volkomen concurrentie">
            <a:extLst xmlns:a="http://schemas.openxmlformats.org/drawingml/2006/main">
              <a:ext uri="{FF2B5EF4-FFF2-40B4-BE49-F238E27FC236}">
                <a16:creationId xmlns:a16="http://schemas.microsoft.com/office/drawing/2014/main" id="{9FC1D452-D5AF-423A-979E-0477978C63F6}"/>
              </a:ext>
            </a:extLst>
          </p:cNvPr>
          <p:cNvSpPr>
            <a:spLocks xmlns:a="http://schemas.openxmlformats.org/drawingml/2006/main" noGrp="1"/>
          </p:cNvSpPr>
          <p:nvPr/>
        </p:nvSpPr>
        <p:spPr>
          <a:xfrm xmlns:a="http://schemas.openxmlformats.org/drawingml/2006/main">
            <a:off x="571500" y="8077200"/>
            <a:ext cx="1314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§3.2.1 Volkomen concurrentie</a:t>
            </a:r>
          </a:p>
        </p:txBody>
      </p:sp>
      <p:sp>
        <p:nvSpPr>
          <p:cNvPr id="4" name="3">
            <a:extLst xmlns:a="http://schemas.openxmlformats.org/drawingml/2006/main">
              <a:ext uri="{FF2B5EF4-FFF2-40B4-BE49-F238E27FC236}">
                <a16:creationId xmlns:a16="http://schemas.microsoft.com/office/drawing/2014/main" id="{74D27B83-8F03-47EB-8181-1FC271E3FA27}"/>
              </a:ext>
            </a:extLst>
          </p:cNvPr>
          <p:cNvSpPr>
            <a:spLocks xmlns:a="http://schemas.openxmlformats.org/drawingml/2006/main" noGrp="1"/>
          </p:cNvSpPr>
          <p:nvPr/>
        </p:nvSpPr>
        <p:spPr>
          <a:xfrm xmlns:a="http://schemas.openxmlformats.org/drawingml/2006/main">
            <a:off x="14001750" y="80486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graphicFrame>
        <p:nvGraphicFramePr>
          <p:cNvPr id="11" name=""/>
          <p:cNvGraphicFramePr/>
          <p:nvPr/>
        </p:nvGraphicFramePr>
        <p:xfrm>
          <a:off xmlns:a="http://schemas.openxmlformats.org/drawingml/2006/main" x="571500" y="2057400"/>
          <a:ext xmlns:a="http://schemas.openxmlformats.org/drawingml/2006/main" cx="14097000" cy="4524375"/>
        </p:xfrm>
        <a:graphic xmlns:a="http://schemas.openxmlformats.org/drawingml/2006/main">
          <a:graphicData uri="http://schemas.openxmlformats.org/drawingml/2006/table">
            <a:tbl>
              <a:tblPr/>
              <a:tblGrid>
                <a:gridCol w="6381750"/>
                <a:gridCol w="7715250"/>
              </a:tblGrid>
              <a:tr h="904875">
                <a:tc>
                  <a:txBody>
                    <a:bodyPr lIns="171450" tIns="95250" rIns="152400" bIns="95250"/>
                    <a:lstStyle/>
                    <a:p>
                      <a:r>
                        <a:rPr sz="2550" b="1">
                          <a:solidFill>
                            <a:srgbClr val="FFFFFF"/>
                          </a:solidFill>
                          <a:latin typeface="Arial"/>
                          <a:ea typeface="Arial"/>
                          <a:cs typeface="Arial"/>
                        </a:rPr>
                        <a:t>Kenmerk</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Betekenis</a:t>
                      </a:r>
                    </a:p>
                  </a:txBody>
                  <a:tcPr marL="91440" marR="91440" marT="45720" marB="45720" anchor="ctr">
                    <a:solidFill>
                      <a:srgbClr val="183247"/>
                    </a:solidFill>
                  </a:tcPr>
                </a:tc>
              </a:tr>
              <a:tr h="904875">
                <a:tc>
                  <a:txBody>
                    <a:bodyPr lIns="171450" tIns="95250" rIns="152400" bIns="95250"/>
                    <a:lstStyle/>
                    <a:p>
                      <a:r>
                        <a:rPr sz="2550" b="0">
                          <a:solidFill>
                            <a:srgbClr val="183247"/>
                          </a:solidFill>
                          <a:latin typeface="Arial"/>
                          <a:ea typeface="Arial"/>
                          <a:cs typeface="Arial"/>
                        </a:rPr>
                        <a:t>Veel kleine aanbieders en vragers</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Eén deelnemer beïnvloedt de marktprijs nauwelijks.</a:t>
                      </a:r>
                    </a:p>
                  </a:txBody>
                  <a:tcPr marL="91440" marR="91440" marT="45720" marB="45720" anchor="ctr">
                    <a:solidFill>
                      <a:srgbClr val="FFFFFF"/>
                    </a:solidFill>
                  </a:tcPr>
                </a:tc>
              </a:tr>
              <a:tr h="904875">
                <a:tc>
                  <a:txBody>
                    <a:bodyPr lIns="171450" tIns="95250" rIns="152400" bIns="95250"/>
                    <a:lstStyle/>
                    <a:p>
                      <a:r>
                        <a:rPr sz="2550" b="0">
                          <a:solidFill>
                            <a:srgbClr val="183247"/>
                          </a:solidFill>
                          <a:latin typeface="Arial"/>
                          <a:ea typeface="Arial"/>
                          <a:cs typeface="Arial"/>
                        </a:rPr>
                        <a:t>Homogeen product</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Kopers zien dezelfde kwaliteit als gelijkwaardig.</a:t>
                      </a:r>
                    </a:p>
                  </a:txBody>
                  <a:tcPr marL="91440" marR="91440" marT="45720" marB="45720" anchor="ctr">
                    <a:solidFill>
                      <a:srgbClr val="EFF4F7"/>
                    </a:solidFill>
                  </a:tcPr>
                </a:tc>
              </a:tr>
              <a:tr h="904875">
                <a:tc>
                  <a:txBody>
                    <a:bodyPr lIns="171450" tIns="95250" rIns="152400" bIns="95250"/>
                    <a:lstStyle/>
                    <a:p>
                      <a:r>
                        <a:rPr sz="2550" b="0">
                          <a:solidFill>
                            <a:srgbClr val="183247"/>
                          </a:solidFill>
                          <a:latin typeface="Arial"/>
                          <a:ea typeface="Arial"/>
                          <a:cs typeface="Arial"/>
                        </a:rPr>
                        <a:t>Doorzichtige markt</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De relevante prijzen en kwaliteit zijn bekend.</a:t>
                      </a:r>
                    </a:p>
                  </a:txBody>
                  <a:tcPr marL="91440" marR="91440" marT="45720" marB="45720" anchor="ctr">
                    <a:solidFill>
                      <a:srgbClr val="FFFFFF"/>
                    </a:solidFill>
                  </a:tcPr>
                </a:tc>
              </a:tr>
              <a:tr h="904875">
                <a:tc>
                  <a:txBody>
                    <a:bodyPr lIns="171450" tIns="95250" rIns="152400" bIns="95250"/>
                    <a:lstStyle/>
                    <a:p>
                      <a:r>
                        <a:rPr sz="2550" b="0">
                          <a:solidFill>
                            <a:srgbClr val="183247"/>
                          </a:solidFill>
                          <a:latin typeface="Arial"/>
                          <a:ea typeface="Arial"/>
                          <a:cs typeface="Arial"/>
                        </a:rPr>
                        <a:t>Vrije toetreding en uittreding</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Beginnen of stoppen kan zonder bijzondere barrières.</a:t>
                      </a:r>
                    </a:p>
                  </a:txBody>
                  <a:tcPr marL="91440" marR="91440" marT="45720" marB="45720" anchor="ctr">
                    <a:solidFill>
                      <a:srgbClr val="EFF4F7"/>
                    </a:solidFill>
                  </a:tcPr>
                </a:tc>
              </a:tr>
            </a:tbl>
          </a:graphicData>
        </a:graphic>
      </p:graphicFrame>
      <p:sp>
        <p:nvSpPr>
          <p:cNvPr id="6" name="Eén onderneming is prijsnemer.">
            <a:extLst xmlns:a="http://schemas.openxmlformats.org/drawingml/2006/main">
              <a:ext uri="{FF2B5EF4-FFF2-40B4-BE49-F238E27FC236}">
                <a16:creationId xmlns:a16="http://schemas.microsoft.com/office/drawing/2014/main" id="{3DDF8C34-51C0-40D4-B8E4-C4E563975536}"/>
              </a:ext>
            </a:extLst>
          </p:cNvPr>
          <p:cNvSpPr>
            <a:spLocks xmlns:a="http://schemas.openxmlformats.org/drawingml/2006/main" noGrp="1"/>
          </p:cNvSpPr>
          <p:nvPr/>
        </p:nvSpPr>
        <p:spPr>
          <a:xfrm xmlns:a="http://schemas.openxmlformats.org/drawingml/2006/main">
            <a:off x="571500" y="7038975"/>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A5276"/>
                </a:solidFill>
                <a:latin typeface="Arial"/>
                <a:ea typeface="Arial"/>
                <a:cs typeface="Arial"/>
              </a:defRPr>
            </a:pPr>
            <a:r>
              <a:rPr sz="3450" b="1">
                <a:solidFill>
                  <a:srgbClr val="1A5276"/>
                </a:solidFill>
                <a:latin typeface="Arial"/>
                <a:ea typeface="Arial"/>
                <a:cs typeface="Arial"/>
              </a:rPr>
              <a:t>Eén onderneming is prijsnemer.</a:t>
            </a:r>
          </a:p>
        </p:txBody>
      </p:sp>
    </p:spTree>
    <p:extLst>
      <p:ext uri="{BB962C8B-B14F-4D97-AF65-F5344CB8AC3E}">
        <p14:creationId xmlns:p14="http://schemas.microsoft.com/office/powerpoint/2010/main" val="171373382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e havermarkt">
            <a:extLst xmlns:a="http://schemas.openxmlformats.org/drawingml/2006/main">
              <a:ext uri="{FF2B5EF4-FFF2-40B4-BE49-F238E27FC236}">
                <a16:creationId xmlns:a16="http://schemas.microsoft.com/office/drawing/2014/main" id="{BE9DFEB8-B22F-4EEF-8A70-FEAE5F198FF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havermarkt</a:t>
            </a:r>
          </a:p>
        </p:txBody>
      </p:sp>
      <p:sp>
        <p:nvSpPr>
          <p:cNvPr id="2" name="">
            <a:extLst xmlns:a="http://schemas.openxmlformats.org/drawingml/2006/main">
              <a:ext uri="{FF2B5EF4-FFF2-40B4-BE49-F238E27FC236}">
                <a16:creationId xmlns:a16="http://schemas.microsoft.com/office/drawing/2014/main" id="{72F0C38B-5969-4B07-A92F-C224B2EE259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1 Volkomen concurrentie">
            <a:extLst xmlns:a="http://schemas.openxmlformats.org/drawingml/2006/main">
              <a:ext uri="{FF2B5EF4-FFF2-40B4-BE49-F238E27FC236}">
                <a16:creationId xmlns:a16="http://schemas.microsoft.com/office/drawing/2014/main" id="{323EE2DF-9B4B-4341-A8CF-002D34F1007E}"/>
              </a:ext>
            </a:extLst>
          </p:cNvPr>
          <p:cNvSpPr>
            <a:spLocks xmlns:a="http://schemas.openxmlformats.org/drawingml/2006/main" noGrp="1"/>
          </p:cNvSpPr>
          <p:nvPr/>
        </p:nvSpPr>
        <p:spPr>
          <a:xfrm xmlns:a="http://schemas.openxmlformats.org/drawingml/2006/main">
            <a:off x="571500" y="8077200"/>
            <a:ext cx="1314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§3.2.1 Volkomen concurrentie</a:t>
            </a:r>
          </a:p>
        </p:txBody>
      </p:sp>
      <p:sp>
        <p:nvSpPr>
          <p:cNvPr id="4" name="4">
            <a:extLst xmlns:a="http://schemas.openxmlformats.org/drawingml/2006/main">
              <a:ext uri="{FF2B5EF4-FFF2-40B4-BE49-F238E27FC236}">
                <a16:creationId xmlns:a16="http://schemas.microsoft.com/office/drawing/2014/main" id="{F2EB65D5-422E-45A4-8D54-9124FE13FBB6}"/>
              </a:ext>
            </a:extLst>
          </p:cNvPr>
          <p:cNvSpPr>
            <a:spLocks xmlns:a="http://schemas.openxmlformats.org/drawingml/2006/main" noGrp="1"/>
          </p:cNvSpPr>
          <p:nvPr/>
        </p:nvSpPr>
        <p:spPr>
          <a:xfrm xmlns:a="http://schemas.openxmlformats.org/drawingml/2006/main">
            <a:off x="14001750" y="80486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Uitlegvoorbeeld — niet uit het boek">
            <a:extLst xmlns:a="http://schemas.openxmlformats.org/drawingml/2006/main">
              <a:ext uri="{FF2B5EF4-FFF2-40B4-BE49-F238E27FC236}">
                <a16:creationId xmlns:a16="http://schemas.microsoft.com/office/drawing/2014/main" id="{10B9BBF9-DDB3-457F-9485-0ABC66A3B332}"/>
              </a:ext>
            </a:extLst>
          </p:cNvPr>
          <p:cNvSpPr>
            <a:spLocks xmlns:a="http://schemas.openxmlformats.org/drawingml/2006/main" noGrp="1"/>
          </p:cNvSpPr>
          <p:nvPr/>
        </p:nvSpPr>
        <p:spPr>
          <a:xfrm xmlns:a="http://schemas.openxmlformats.org/drawingml/2006/main">
            <a:off x="571500" y="16478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graphicFrame>
        <p:nvGraphicFramePr>
          <p:cNvPr id="14" name="Chart"/>
          <p:cNvGraphicFramePr/>
          <p:nvPr/>
        </p:nvGraphicFramePr>
        <p:xfrm>
          <a:off xmlns:a="http://schemas.openxmlformats.org/drawingml/2006/main" x="571500" y="2371725"/>
          <a:ext xmlns:a="http://schemas.openxmlformats.org/drawingml/2006/main" cx="9715500" cy="5238750"/>
        </p:xfrm>
        <a:graphic xmlns:a="http://schemas.openxmlformats.org/drawingml/2006/main">
          <a:graphicData uri="http://schemas.openxmlformats.org/drawingml/2006/chart">
            <c:chart xmlns:r="http://schemas.openxmlformats.org/officeDocument/2006/relationships" xmlns:c="http://schemas.openxmlformats.org/drawingml/2006/chart" r:id="Rdb3e55c3379c4d0b"/>
          </a:graphicData>
        </a:graphic>
      </p:graphicFrame>
      <p:sp>
        <p:nvSpPr>
          <p:cNvPr id="7" name="Veel kleine telers&#10;Gelijke kwaliteit&#10;Bekende prijzen&#10;Vrij beginnen of ">
            <a:extLst xmlns:a="http://schemas.openxmlformats.org/drawingml/2006/main">
              <a:ext uri="{FF2B5EF4-FFF2-40B4-BE49-F238E27FC236}">
                <a16:creationId xmlns:a16="http://schemas.microsoft.com/office/drawing/2014/main" id="{A41BF715-882E-4BC9-A9AD-24E3B0786A7B}"/>
              </a:ext>
            </a:extLst>
          </p:cNvPr>
          <p:cNvSpPr>
            <a:spLocks xmlns:a="http://schemas.openxmlformats.org/drawingml/2006/main" noGrp="1"/>
          </p:cNvSpPr>
          <p:nvPr/>
        </p:nvSpPr>
        <p:spPr>
          <a:xfrm xmlns:a="http://schemas.openxmlformats.org/drawingml/2006/main">
            <a:off x="10668000" y="2809875"/>
            <a:ext cx="4000500" cy="2628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Veel kleine telers</a:t>
            </a:r>
          </a:p>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Gelijke kwaliteit</a:t>
            </a:r>
          </a:p>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Bekende prijzen</a:t>
            </a:r>
          </a:p>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Vrij beginnen of stoppen</a:t>
            </a:r>
          </a:p>
        </p:txBody>
      </p:sp>
      <p:sp>
        <p:nvSpPr>
          <p:cNvPr id="8" name="Q: alle telers samen">
            <a:extLst xmlns:a="http://schemas.openxmlformats.org/drawingml/2006/main">
              <a:ext uri="{FF2B5EF4-FFF2-40B4-BE49-F238E27FC236}">
                <a16:creationId xmlns:a16="http://schemas.microsoft.com/office/drawing/2014/main" id="{FAF5EC40-AA71-4EEA-8CB8-0827FF424ED6}"/>
              </a:ext>
            </a:extLst>
          </p:cNvPr>
          <p:cNvSpPr>
            <a:spLocks xmlns:a="http://schemas.openxmlformats.org/drawingml/2006/main" noGrp="1"/>
          </p:cNvSpPr>
          <p:nvPr/>
        </p:nvSpPr>
        <p:spPr>
          <a:xfrm xmlns:a="http://schemas.openxmlformats.org/drawingml/2006/main">
            <a:off x="10668000" y="63341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A5276"/>
                </a:solidFill>
                <a:latin typeface="Arial"/>
                <a:ea typeface="Arial"/>
                <a:cs typeface="Arial"/>
              </a:defRPr>
            </a:pPr>
            <a:r>
              <a:rPr sz="2550" b="1">
                <a:solidFill>
                  <a:srgbClr val="1A5276"/>
                </a:solidFill>
                <a:latin typeface="Arial"/>
                <a:ea typeface="Arial"/>
                <a:cs typeface="Arial"/>
              </a:rPr>
              <a:t>Q: alle telers samen</a:t>
            </a:r>
          </a:p>
        </p:txBody>
      </p:sp>
    </p:spTree>
    <p:extLst>
      <p:ext uri="{BB962C8B-B14F-4D97-AF65-F5344CB8AC3E}">
        <p14:creationId xmlns:p14="http://schemas.microsoft.com/office/powerpoint/2010/main" val="122793198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Het marktevenwicht">
            <a:extLst xmlns:a="http://schemas.openxmlformats.org/drawingml/2006/main">
              <a:ext uri="{FF2B5EF4-FFF2-40B4-BE49-F238E27FC236}">
                <a16:creationId xmlns:a16="http://schemas.microsoft.com/office/drawing/2014/main" id="{23D761BF-A695-4855-8435-54AC1C60A2B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Het marktevenwicht</a:t>
            </a:r>
          </a:p>
        </p:txBody>
      </p:sp>
      <p:sp>
        <p:nvSpPr>
          <p:cNvPr id="2" name="">
            <a:extLst xmlns:a="http://schemas.openxmlformats.org/drawingml/2006/main">
              <a:ext uri="{FF2B5EF4-FFF2-40B4-BE49-F238E27FC236}">
                <a16:creationId xmlns:a16="http://schemas.microsoft.com/office/drawing/2014/main" id="{21A5D6EB-8D7F-4C4E-A3B0-B3F65E9B096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1 Volkomen concurrentie">
            <a:extLst xmlns:a="http://schemas.openxmlformats.org/drawingml/2006/main">
              <a:ext uri="{FF2B5EF4-FFF2-40B4-BE49-F238E27FC236}">
                <a16:creationId xmlns:a16="http://schemas.microsoft.com/office/drawing/2014/main" id="{E607E629-ED50-4FC9-98EA-6F1772156A14}"/>
              </a:ext>
            </a:extLst>
          </p:cNvPr>
          <p:cNvSpPr>
            <a:spLocks xmlns:a="http://schemas.openxmlformats.org/drawingml/2006/main" noGrp="1"/>
          </p:cNvSpPr>
          <p:nvPr/>
        </p:nvSpPr>
        <p:spPr>
          <a:xfrm xmlns:a="http://schemas.openxmlformats.org/drawingml/2006/main">
            <a:off x="571500" y="8077200"/>
            <a:ext cx="1314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§3.2.1 Volkomen concurrentie</a:t>
            </a:r>
          </a:p>
        </p:txBody>
      </p:sp>
      <p:sp>
        <p:nvSpPr>
          <p:cNvPr id="4" name="5">
            <a:extLst xmlns:a="http://schemas.openxmlformats.org/drawingml/2006/main">
              <a:ext uri="{FF2B5EF4-FFF2-40B4-BE49-F238E27FC236}">
                <a16:creationId xmlns:a16="http://schemas.microsoft.com/office/drawing/2014/main" id="{9426011D-3F49-468B-8572-63E92A29C8CF}"/>
              </a:ext>
            </a:extLst>
          </p:cNvPr>
          <p:cNvSpPr>
            <a:spLocks xmlns:a="http://schemas.openxmlformats.org/drawingml/2006/main" noGrp="1"/>
          </p:cNvSpPr>
          <p:nvPr/>
        </p:nvSpPr>
        <p:spPr>
          <a:xfrm xmlns:a="http://schemas.openxmlformats.org/drawingml/2006/main">
            <a:off x="14001750" y="80486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Uitlegvoorbeeld — niet uit het boek">
            <a:extLst xmlns:a="http://schemas.openxmlformats.org/drawingml/2006/main">
              <a:ext uri="{FF2B5EF4-FFF2-40B4-BE49-F238E27FC236}">
                <a16:creationId xmlns:a16="http://schemas.microsoft.com/office/drawing/2014/main" id="{E95FEE18-653F-4832-8B4B-9B649A1FB98B}"/>
              </a:ext>
            </a:extLst>
          </p:cNvPr>
          <p:cNvSpPr>
            <a:spLocks xmlns:a="http://schemas.openxmlformats.org/drawingml/2006/main" noGrp="1"/>
          </p:cNvSpPr>
          <p:nvPr/>
        </p:nvSpPr>
        <p:spPr>
          <a:xfrm xmlns:a="http://schemas.openxmlformats.org/drawingml/2006/main">
            <a:off x="571500" y="16478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graphicFrame>
        <p:nvGraphicFramePr>
          <p:cNvPr id="14" name="Chart"/>
          <p:cNvGraphicFramePr/>
          <p:nvPr/>
        </p:nvGraphicFramePr>
        <p:xfrm>
          <a:off xmlns:a="http://schemas.openxmlformats.org/drawingml/2006/main" x="571500" y="2371725"/>
          <a:ext xmlns:a="http://schemas.openxmlformats.org/drawingml/2006/main" cx="9715500" cy="5238750"/>
        </p:xfrm>
        <a:graphic xmlns:a="http://schemas.openxmlformats.org/drawingml/2006/main">
          <a:graphicData uri="http://schemas.openxmlformats.org/drawingml/2006/chart">
            <c:chart xmlns:r="http://schemas.openxmlformats.org/officeDocument/2006/relationships" xmlns:c="http://schemas.openxmlformats.org/drawingml/2006/chart" r:id="R78d3222c527a45ad"/>
          </a:graphicData>
        </a:graphic>
      </p:graphicFrame>
      <p:sp>
        <p:nvSpPr>
          <p:cNvPr id="7" name="P = € 2,50 per kg">
            <a:extLst xmlns:a="http://schemas.openxmlformats.org/drawingml/2006/main">
              <a:ext uri="{FF2B5EF4-FFF2-40B4-BE49-F238E27FC236}">
                <a16:creationId xmlns:a16="http://schemas.microsoft.com/office/drawing/2014/main" id="{15C3CEBA-591B-43C7-BEA0-7A50A16B1FD2}"/>
              </a:ext>
            </a:extLst>
          </p:cNvPr>
          <p:cNvSpPr>
            <a:spLocks xmlns:a="http://schemas.openxmlformats.org/drawingml/2006/main" noGrp="1"/>
          </p:cNvSpPr>
          <p:nvPr/>
        </p:nvSpPr>
        <p:spPr>
          <a:xfrm xmlns:a="http://schemas.openxmlformats.org/drawingml/2006/main">
            <a:off x="10668000" y="3028950"/>
            <a:ext cx="400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P = € 2,50 per kg</a:t>
            </a:r>
          </a:p>
        </p:txBody>
      </p:sp>
      <p:sp>
        <p:nvSpPr>
          <p:cNvPr id="8" name="Q = 6 × 1.000&#10;= 6.000 kg per dag">
            <a:extLst xmlns:a="http://schemas.openxmlformats.org/drawingml/2006/main">
              <a:ext uri="{FF2B5EF4-FFF2-40B4-BE49-F238E27FC236}">
                <a16:creationId xmlns:a16="http://schemas.microsoft.com/office/drawing/2014/main" id="{28FF9580-C4D7-4337-A1C9-C7F5C72798EB}"/>
              </a:ext>
            </a:extLst>
          </p:cNvPr>
          <p:cNvSpPr>
            <a:spLocks xmlns:a="http://schemas.openxmlformats.org/drawingml/2006/main" noGrp="1"/>
          </p:cNvSpPr>
          <p:nvPr/>
        </p:nvSpPr>
        <p:spPr>
          <a:xfrm xmlns:a="http://schemas.openxmlformats.org/drawingml/2006/main">
            <a:off x="10668000" y="4686300"/>
            <a:ext cx="4000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Q = 6 × 1.000</a:t>
            </a:r>
          </a:p>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 6.000 kg per dag</a:t>
            </a:r>
          </a:p>
        </p:txBody>
      </p:sp>
    </p:spTree>
    <p:extLst>
      <p:ext uri="{BB962C8B-B14F-4D97-AF65-F5344CB8AC3E}">
        <p14:creationId xmlns:p14="http://schemas.microsoft.com/office/powerpoint/2010/main" val="207633706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De marktprijs en één teler">
            <a:extLst xmlns:a="http://schemas.openxmlformats.org/drawingml/2006/main">
              <a:ext uri="{FF2B5EF4-FFF2-40B4-BE49-F238E27FC236}">
                <a16:creationId xmlns:a16="http://schemas.microsoft.com/office/drawing/2014/main" id="{7D2F4112-B7AD-433D-91CB-9323845B9A1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marktprijs en één teler</a:t>
            </a:r>
          </a:p>
        </p:txBody>
      </p:sp>
      <p:sp>
        <p:nvSpPr>
          <p:cNvPr id="2" name="">
            <a:extLst xmlns:a="http://schemas.openxmlformats.org/drawingml/2006/main">
              <a:ext uri="{FF2B5EF4-FFF2-40B4-BE49-F238E27FC236}">
                <a16:creationId xmlns:a16="http://schemas.microsoft.com/office/drawing/2014/main" id="{25319891-D9F1-404D-B87C-3A398E7C72C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1 Volkomen concurrentie">
            <a:extLst xmlns:a="http://schemas.openxmlformats.org/drawingml/2006/main">
              <a:ext uri="{FF2B5EF4-FFF2-40B4-BE49-F238E27FC236}">
                <a16:creationId xmlns:a16="http://schemas.microsoft.com/office/drawing/2014/main" id="{73A564EC-22B9-47CC-A518-0059145A581B}"/>
              </a:ext>
            </a:extLst>
          </p:cNvPr>
          <p:cNvSpPr>
            <a:spLocks xmlns:a="http://schemas.openxmlformats.org/drawingml/2006/main" noGrp="1"/>
          </p:cNvSpPr>
          <p:nvPr/>
        </p:nvSpPr>
        <p:spPr>
          <a:xfrm xmlns:a="http://schemas.openxmlformats.org/drawingml/2006/main">
            <a:off x="571500" y="8077200"/>
            <a:ext cx="1314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§3.2.1 Volkomen concurrentie</a:t>
            </a:r>
          </a:p>
        </p:txBody>
      </p:sp>
      <p:sp>
        <p:nvSpPr>
          <p:cNvPr id="4" name="6">
            <a:extLst xmlns:a="http://schemas.openxmlformats.org/drawingml/2006/main">
              <a:ext uri="{FF2B5EF4-FFF2-40B4-BE49-F238E27FC236}">
                <a16:creationId xmlns:a16="http://schemas.microsoft.com/office/drawing/2014/main" id="{F37529B4-51A7-4181-A2BE-A246089EA946}"/>
              </a:ext>
            </a:extLst>
          </p:cNvPr>
          <p:cNvSpPr>
            <a:spLocks xmlns:a="http://schemas.openxmlformats.org/drawingml/2006/main" noGrp="1"/>
          </p:cNvSpPr>
          <p:nvPr/>
        </p:nvSpPr>
        <p:spPr>
          <a:xfrm xmlns:a="http://schemas.openxmlformats.org/drawingml/2006/main">
            <a:off x="14001750" y="80486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Uitlegvoorbeeld — niet uit het boek">
            <a:extLst xmlns:a="http://schemas.openxmlformats.org/drawingml/2006/main">
              <a:ext uri="{FF2B5EF4-FFF2-40B4-BE49-F238E27FC236}">
                <a16:creationId xmlns:a16="http://schemas.microsoft.com/office/drawing/2014/main" id="{BFA8D10F-E5E7-4DDC-82D1-681DC6BD9C98}"/>
              </a:ext>
            </a:extLst>
          </p:cNvPr>
          <p:cNvSpPr>
            <a:spLocks xmlns:a="http://schemas.openxmlformats.org/drawingml/2006/main" noGrp="1"/>
          </p:cNvSpPr>
          <p:nvPr/>
        </p:nvSpPr>
        <p:spPr>
          <a:xfrm xmlns:a="http://schemas.openxmlformats.org/drawingml/2006/main">
            <a:off x="571500" y="16478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sp>
        <p:nvSpPr>
          <p:cNvPr id="6" name="De hele havermarkt">
            <a:extLst xmlns:a="http://schemas.openxmlformats.org/drawingml/2006/main">
              <a:ext uri="{FF2B5EF4-FFF2-40B4-BE49-F238E27FC236}">
                <a16:creationId xmlns:a16="http://schemas.microsoft.com/office/drawing/2014/main" id="{A0C6338E-678F-40E5-83D2-069410BC9062}"/>
              </a:ext>
            </a:extLst>
          </p:cNvPr>
          <p:cNvSpPr>
            <a:spLocks xmlns:a="http://schemas.openxmlformats.org/drawingml/2006/main" noGrp="1"/>
          </p:cNvSpPr>
          <p:nvPr/>
        </p:nvSpPr>
        <p:spPr>
          <a:xfrm xmlns:a="http://schemas.openxmlformats.org/drawingml/2006/main">
            <a:off x="571500" y="2209800"/>
            <a:ext cx="685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De hele havermarkt</a:t>
            </a:r>
          </a:p>
        </p:txBody>
      </p:sp>
      <p:sp>
        <p:nvSpPr>
          <p:cNvPr id="7" name="Teler Sam: maximaal 180 kg per dag">
            <a:extLst xmlns:a="http://schemas.openxmlformats.org/drawingml/2006/main">
              <a:ext uri="{FF2B5EF4-FFF2-40B4-BE49-F238E27FC236}">
                <a16:creationId xmlns:a16="http://schemas.microsoft.com/office/drawing/2014/main" id="{381BC6C0-3FEC-43B2-9FCA-5A2D4A167086}"/>
              </a:ext>
            </a:extLst>
          </p:cNvPr>
          <p:cNvSpPr>
            <a:spLocks xmlns:a="http://schemas.openxmlformats.org/drawingml/2006/main" noGrp="1"/>
          </p:cNvSpPr>
          <p:nvPr/>
        </p:nvSpPr>
        <p:spPr>
          <a:xfrm xmlns:a="http://schemas.openxmlformats.org/drawingml/2006/main">
            <a:off x="8096250" y="2209800"/>
            <a:ext cx="657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Teler Sam: maximaal 180 kg per dag</a:t>
            </a:r>
          </a:p>
        </p:txBody>
      </p:sp>
      <p:graphicFrame>
        <p:nvGraphicFramePr>
          <p:cNvPr id="18" name="Chart"/>
          <p:cNvGraphicFramePr/>
          <p:nvPr/>
        </p:nvGraphicFramePr>
        <p:xfrm>
          <a:off xmlns:a="http://schemas.openxmlformats.org/drawingml/2006/main" x="571500" y="2714625"/>
          <a:ext xmlns:a="http://schemas.openxmlformats.org/drawingml/2006/main" cx="6858000" cy="4524375"/>
        </p:xfrm>
        <a:graphic xmlns:a="http://schemas.openxmlformats.org/drawingml/2006/main">
          <a:graphicData uri="http://schemas.openxmlformats.org/drawingml/2006/chart">
            <c:chart xmlns:r="http://schemas.openxmlformats.org/officeDocument/2006/relationships" xmlns:c="http://schemas.openxmlformats.org/drawingml/2006/chart" r:id="Rd9180c05ab874717"/>
          </a:graphicData>
        </a:graphic>
      </p:graphicFrame>
      <p:graphicFrame>
        <p:nvGraphicFramePr>
          <p:cNvPr id="19" name="Chart"/>
          <p:cNvGraphicFramePr/>
          <p:nvPr/>
        </p:nvGraphicFramePr>
        <p:xfrm>
          <a:off xmlns:a="http://schemas.openxmlformats.org/drawingml/2006/main" x="8096250" y="2714625"/>
          <a:ext xmlns:a="http://schemas.openxmlformats.org/drawingml/2006/main" cx="6572250" cy="4524375"/>
        </p:xfrm>
        <a:graphic xmlns:a="http://schemas.openxmlformats.org/drawingml/2006/main">
          <a:graphicData uri="http://schemas.openxmlformats.org/drawingml/2006/chart">
            <c:chart xmlns:r="http://schemas.openxmlformats.org/officeDocument/2006/relationships" xmlns:c="http://schemas.openxmlformats.org/drawingml/2006/chart" r:id="Re178435dfd56492b"/>
          </a:graphicData>
        </a:graphic>
      </p:graphicFrame>
      <p:sp>
        <p:nvSpPr>
          <p:cNvPr id="10" name="Sam neemt de prijs over: € 2,50 per kg.">
            <a:extLst xmlns:a="http://schemas.openxmlformats.org/drawingml/2006/main">
              <a:ext uri="{FF2B5EF4-FFF2-40B4-BE49-F238E27FC236}">
                <a16:creationId xmlns:a16="http://schemas.microsoft.com/office/drawing/2014/main" id="{932DA70B-2B39-4CC3-95B3-25B0B9E15B62}"/>
              </a:ext>
            </a:extLst>
          </p:cNvPr>
          <p:cNvSpPr>
            <a:spLocks xmlns:a="http://schemas.openxmlformats.org/drawingml/2006/main" noGrp="1"/>
          </p:cNvSpPr>
          <p:nvPr/>
        </p:nvSpPr>
        <p:spPr>
          <a:xfrm xmlns:a="http://schemas.openxmlformats.org/drawingml/2006/main">
            <a:off x="571500" y="7439025"/>
            <a:ext cx="14097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A5276"/>
                </a:solidFill>
                <a:latin typeface="Arial"/>
                <a:ea typeface="Arial"/>
                <a:cs typeface="Arial"/>
              </a:defRPr>
            </a:pPr>
            <a:r>
              <a:rPr sz="2775" b="1">
                <a:solidFill>
                  <a:srgbClr val="1A5276"/>
                </a:solidFill>
                <a:latin typeface="Arial"/>
                <a:ea typeface="Arial"/>
                <a:cs typeface="Arial"/>
              </a:rPr>
              <a:t>Sam neemt de prijs over: € 2,50 per kg.</a:t>
            </a:r>
          </a:p>
        </p:txBody>
      </p:sp>
    </p:spTree>
    <p:extLst>
      <p:ext uri="{BB962C8B-B14F-4D97-AF65-F5344CB8AC3E}">
        <p14:creationId xmlns:p14="http://schemas.microsoft.com/office/powerpoint/2010/main" val="9392448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Elke kg brengt dezelfde prijs op">
            <a:extLst xmlns:a="http://schemas.openxmlformats.org/drawingml/2006/main">
              <a:ext uri="{FF2B5EF4-FFF2-40B4-BE49-F238E27FC236}">
                <a16:creationId xmlns:a16="http://schemas.microsoft.com/office/drawing/2014/main" id="{515758DF-E19D-4B9C-8FF7-6147C952E13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Elke kg brengt dezelfde prijs op</a:t>
            </a:r>
          </a:p>
        </p:txBody>
      </p:sp>
      <p:sp>
        <p:nvSpPr>
          <p:cNvPr id="2" name="">
            <a:extLst xmlns:a="http://schemas.openxmlformats.org/drawingml/2006/main">
              <a:ext uri="{FF2B5EF4-FFF2-40B4-BE49-F238E27FC236}">
                <a16:creationId xmlns:a16="http://schemas.microsoft.com/office/drawing/2014/main" id="{FA0E84EE-535F-448A-9B01-5FA8CE54F87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1 Volkomen concurrentie">
            <a:extLst xmlns:a="http://schemas.openxmlformats.org/drawingml/2006/main">
              <a:ext uri="{FF2B5EF4-FFF2-40B4-BE49-F238E27FC236}">
                <a16:creationId xmlns:a16="http://schemas.microsoft.com/office/drawing/2014/main" id="{F60A6D8C-353A-48B1-8021-EAA062C50A57}"/>
              </a:ext>
            </a:extLst>
          </p:cNvPr>
          <p:cNvSpPr>
            <a:spLocks xmlns:a="http://schemas.openxmlformats.org/drawingml/2006/main" noGrp="1"/>
          </p:cNvSpPr>
          <p:nvPr/>
        </p:nvSpPr>
        <p:spPr>
          <a:xfrm xmlns:a="http://schemas.openxmlformats.org/drawingml/2006/main">
            <a:off x="571500" y="8077200"/>
            <a:ext cx="1314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§3.2.1 Volkomen concurrentie</a:t>
            </a:r>
          </a:p>
        </p:txBody>
      </p:sp>
      <p:sp>
        <p:nvSpPr>
          <p:cNvPr id="4" name="7">
            <a:extLst xmlns:a="http://schemas.openxmlformats.org/drawingml/2006/main">
              <a:ext uri="{FF2B5EF4-FFF2-40B4-BE49-F238E27FC236}">
                <a16:creationId xmlns:a16="http://schemas.microsoft.com/office/drawing/2014/main" id="{C389AA24-1DA5-4882-ADBB-4A8092CBAD75}"/>
              </a:ext>
            </a:extLst>
          </p:cNvPr>
          <p:cNvSpPr>
            <a:spLocks xmlns:a="http://schemas.openxmlformats.org/drawingml/2006/main" noGrp="1"/>
          </p:cNvSpPr>
          <p:nvPr/>
        </p:nvSpPr>
        <p:spPr>
          <a:xfrm xmlns:a="http://schemas.openxmlformats.org/drawingml/2006/main">
            <a:off x="14001750" y="80486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Uitlegvoorbeeld — niet uit het boek">
            <a:extLst xmlns:a="http://schemas.openxmlformats.org/drawingml/2006/main">
              <a:ext uri="{FF2B5EF4-FFF2-40B4-BE49-F238E27FC236}">
                <a16:creationId xmlns:a16="http://schemas.microsoft.com/office/drawing/2014/main" id="{B9B0113F-F7ED-450C-8E9E-CCE2BC2F8075}"/>
              </a:ext>
            </a:extLst>
          </p:cNvPr>
          <p:cNvSpPr>
            <a:spLocks xmlns:a="http://schemas.openxmlformats.org/drawingml/2006/main" noGrp="1"/>
          </p:cNvSpPr>
          <p:nvPr/>
        </p:nvSpPr>
        <p:spPr>
          <a:xfrm xmlns:a="http://schemas.openxmlformats.org/drawingml/2006/main">
            <a:off x="571500" y="16478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sp>
        <p:nvSpPr>
          <p:cNvPr id="6" name="De hele havermarkt">
            <a:extLst xmlns:a="http://schemas.openxmlformats.org/drawingml/2006/main">
              <a:ext uri="{FF2B5EF4-FFF2-40B4-BE49-F238E27FC236}">
                <a16:creationId xmlns:a16="http://schemas.microsoft.com/office/drawing/2014/main" id="{21B03C50-B14A-4704-AC83-EBE86A3EECF1}"/>
              </a:ext>
            </a:extLst>
          </p:cNvPr>
          <p:cNvSpPr>
            <a:spLocks xmlns:a="http://schemas.openxmlformats.org/drawingml/2006/main" noGrp="1"/>
          </p:cNvSpPr>
          <p:nvPr/>
        </p:nvSpPr>
        <p:spPr>
          <a:xfrm xmlns:a="http://schemas.openxmlformats.org/drawingml/2006/main">
            <a:off x="571500" y="2209800"/>
            <a:ext cx="685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De hele havermarkt</a:t>
            </a:r>
          </a:p>
        </p:txBody>
      </p:sp>
      <p:sp>
        <p:nvSpPr>
          <p:cNvPr id="7" name="Teler Sam: maximaal 180 kg per dag">
            <a:extLst xmlns:a="http://schemas.openxmlformats.org/drawingml/2006/main">
              <a:ext uri="{FF2B5EF4-FFF2-40B4-BE49-F238E27FC236}">
                <a16:creationId xmlns:a16="http://schemas.microsoft.com/office/drawing/2014/main" id="{DD94CE48-DECA-4788-BA9B-1CB08A317694}"/>
              </a:ext>
            </a:extLst>
          </p:cNvPr>
          <p:cNvSpPr>
            <a:spLocks xmlns:a="http://schemas.openxmlformats.org/drawingml/2006/main" noGrp="1"/>
          </p:cNvSpPr>
          <p:nvPr/>
        </p:nvSpPr>
        <p:spPr>
          <a:xfrm xmlns:a="http://schemas.openxmlformats.org/drawingml/2006/main">
            <a:off x="8096250" y="2209800"/>
            <a:ext cx="657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Teler Sam: maximaal 180 kg per dag</a:t>
            </a:r>
          </a:p>
        </p:txBody>
      </p:sp>
      <p:graphicFrame>
        <p:nvGraphicFramePr>
          <p:cNvPr id="18" name="Chart"/>
          <p:cNvGraphicFramePr/>
          <p:nvPr/>
        </p:nvGraphicFramePr>
        <p:xfrm>
          <a:off xmlns:a="http://schemas.openxmlformats.org/drawingml/2006/main" x="571500" y="2714625"/>
          <a:ext xmlns:a="http://schemas.openxmlformats.org/drawingml/2006/main" cx="6858000" cy="4524375"/>
        </p:xfrm>
        <a:graphic xmlns:a="http://schemas.openxmlformats.org/drawingml/2006/main">
          <a:graphicData uri="http://schemas.openxmlformats.org/drawingml/2006/chart">
            <c:chart xmlns:r="http://schemas.openxmlformats.org/officeDocument/2006/relationships" xmlns:c="http://schemas.openxmlformats.org/drawingml/2006/chart" r:id="Rc5d4b8106e964089"/>
          </a:graphicData>
        </a:graphic>
      </p:graphicFrame>
      <p:graphicFrame>
        <p:nvGraphicFramePr>
          <p:cNvPr id="19" name="Chart"/>
          <p:cNvGraphicFramePr/>
          <p:nvPr/>
        </p:nvGraphicFramePr>
        <p:xfrm>
          <a:off xmlns:a="http://schemas.openxmlformats.org/drawingml/2006/main" x="8096250" y="2714625"/>
          <a:ext xmlns:a="http://schemas.openxmlformats.org/drawingml/2006/main" cx="6572250" cy="4524375"/>
        </p:xfrm>
        <a:graphic xmlns:a="http://schemas.openxmlformats.org/drawingml/2006/main">
          <a:graphicData uri="http://schemas.openxmlformats.org/drawingml/2006/chart">
            <c:chart xmlns:r="http://schemas.openxmlformats.org/officeDocument/2006/relationships" xmlns:c="http://schemas.openxmlformats.org/drawingml/2006/chart" r:id="R3c8526c3f40f45da"/>
          </a:graphicData>
        </a:graphic>
      </p:graphicFrame>
      <p:sp>
        <p:nvSpPr>
          <p:cNvPr id="10" name="Elke kg brengt € 2,50 op, binnen Sams capaciteit.">
            <a:extLst xmlns:a="http://schemas.openxmlformats.org/drawingml/2006/main">
              <a:ext uri="{FF2B5EF4-FFF2-40B4-BE49-F238E27FC236}">
                <a16:creationId xmlns:a16="http://schemas.microsoft.com/office/drawing/2014/main" id="{6D08DB85-6F3D-4345-9D10-FFB17E8777E6}"/>
              </a:ext>
            </a:extLst>
          </p:cNvPr>
          <p:cNvSpPr>
            <a:spLocks xmlns:a="http://schemas.openxmlformats.org/drawingml/2006/main" noGrp="1"/>
          </p:cNvSpPr>
          <p:nvPr/>
        </p:nvSpPr>
        <p:spPr>
          <a:xfrm xmlns:a="http://schemas.openxmlformats.org/drawingml/2006/main">
            <a:off x="571500" y="7439025"/>
            <a:ext cx="14097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Elke kg brengt € 2,50 op, binnen Sams capaciteit.</a:t>
            </a:r>
          </a:p>
        </p:txBody>
      </p:sp>
    </p:spTree>
    <p:extLst>
      <p:ext uri="{BB962C8B-B14F-4D97-AF65-F5344CB8AC3E}">
        <p14:creationId xmlns:p14="http://schemas.microsoft.com/office/powerpoint/2010/main" val="1658922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otale en gemiddelde opbrengst">
            <a:extLst xmlns:a="http://schemas.openxmlformats.org/drawingml/2006/main">
              <a:ext uri="{FF2B5EF4-FFF2-40B4-BE49-F238E27FC236}">
                <a16:creationId xmlns:a16="http://schemas.microsoft.com/office/drawing/2014/main" id="{DB1583B3-5424-4DF9-A042-56A57086350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Totale en gemiddelde opbrengst</a:t>
            </a:r>
          </a:p>
        </p:txBody>
      </p:sp>
      <p:sp>
        <p:nvSpPr>
          <p:cNvPr id="2" name="">
            <a:extLst xmlns:a="http://schemas.openxmlformats.org/drawingml/2006/main">
              <a:ext uri="{FF2B5EF4-FFF2-40B4-BE49-F238E27FC236}">
                <a16:creationId xmlns:a16="http://schemas.microsoft.com/office/drawing/2014/main" id="{747B2911-9CC0-438D-9B3F-1EBF8B6AF15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1 Volkomen concurrentie">
            <a:extLst xmlns:a="http://schemas.openxmlformats.org/drawingml/2006/main">
              <a:ext uri="{FF2B5EF4-FFF2-40B4-BE49-F238E27FC236}">
                <a16:creationId xmlns:a16="http://schemas.microsoft.com/office/drawing/2014/main" id="{71D647DA-D36D-4E8F-8128-EA7F22CF0CEC}"/>
              </a:ext>
            </a:extLst>
          </p:cNvPr>
          <p:cNvSpPr>
            <a:spLocks xmlns:a="http://schemas.openxmlformats.org/drawingml/2006/main" noGrp="1"/>
          </p:cNvSpPr>
          <p:nvPr/>
        </p:nvSpPr>
        <p:spPr>
          <a:xfrm xmlns:a="http://schemas.openxmlformats.org/drawingml/2006/main">
            <a:off x="571500" y="8077200"/>
            <a:ext cx="1314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§3.2.1 Volkomen concurrentie</a:t>
            </a:r>
          </a:p>
        </p:txBody>
      </p:sp>
      <p:sp>
        <p:nvSpPr>
          <p:cNvPr id="4" name="8">
            <a:extLst xmlns:a="http://schemas.openxmlformats.org/drawingml/2006/main">
              <a:ext uri="{FF2B5EF4-FFF2-40B4-BE49-F238E27FC236}">
                <a16:creationId xmlns:a16="http://schemas.microsoft.com/office/drawing/2014/main" id="{2A054857-712A-460C-ABA6-1172D85A1312}"/>
              </a:ext>
            </a:extLst>
          </p:cNvPr>
          <p:cNvSpPr>
            <a:spLocks xmlns:a="http://schemas.openxmlformats.org/drawingml/2006/main" noGrp="1"/>
          </p:cNvSpPr>
          <p:nvPr/>
        </p:nvSpPr>
        <p:spPr>
          <a:xfrm xmlns:a="http://schemas.openxmlformats.org/drawingml/2006/main">
            <a:off x="14001750" y="80486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Uitlegvoorbeeld — niet uit het boek">
            <a:extLst xmlns:a="http://schemas.openxmlformats.org/drawingml/2006/main">
              <a:ext uri="{FF2B5EF4-FFF2-40B4-BE49-F238E27FC236}">
                <a16:creationId xmlns:a16="http://schemas.microsoft.com/office/drawing/2014/main" id="{DC75CD7F-0581-4D2B-8387-61D236FEBBA9}"/>
              </a:ext>
            </a:extLst>
          </p:cNvPr>
          <p:cNvSpPr>
            <a:spLocks xmlns:a="http://schemas.openxmlformats.org/drawingml/2006/main" noGrp="1"/>
          </p:cNvSpPr>
          <p:nvPr/>
        </p:nvSpPr>
        <p:spPr>
          <a:xfrm xmlns:a="http://schemas.openxmlformats.org/drawingml/2006/main">
            <a:off x="571500" y="16478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sp>
        <p:nvSpPr>
          <p:cNvPr id="6" name="Sam verkoopt 60 kg per dag voor € 2,50 per kg.">
            <a:extLst xmlns:a="http://schemas.openxmlformats.org/drawingml/2006/main">
              <a:ext uri="{FF2B5EF4-FFF2-40B4-BE49-F238E27FC236}">
                <a16:creationId xmlns:a16="http://schemas.microsoft.com/office/drawing/2014/main" id="{2F7C17A6-42F9-465B-B62E-378E1A999356}"/>
              </a:ext>
            </a:extLst>
          </p:cNvPr>
          <p:cNvSpPr>
            <a:spLocks xmlns:a="http://schemas.openxmlformats.org/drawingml/2006/main" noGrp="1"/>
          </p:cNvSpPr>
          <p:nvPr/>
        </p:nvSpPr>
        <p:spPr>
          <a:xfrm xmlns:a="http://schemas.openxmlformats.org/drawingml/2006/main">
            <a:off x="571500" y="237172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Sam verkoopt 60 kg per dag voor € 2,50 per kg.</a:t>
            </a:r>
          </a:p>
        </p:txBody>
      </p:sp>
      <p:graphicFrame>
        <p:nvGraphicFramePr>
          <p:cNvPr id="15" name=""/>
          <p:cNvGraphicFramePr/>
          <p:nvPr/>
        </p:nvGraphicFramePr>
        <p:xfrm>
          <a:off xmlns:a="http://schemas.openxmlformats.org/drawingml/2006/main" x="571500" y="3448050"/>
          <a:ext xmlns:a="http://schemas.openxmlformats.org/drawingml/2006/main" cx="14097000" cy="2847975"/>
        </p:xfrm>
        <a:graphic xmlns:a="http://schemas.openxmlformats.org/drawingml/2006/main">
          <a:graphicData uri="http://schemas.openxmlformats.org/drawingml/2006/table">
            <a:tbl>
              <a:tblPr/>
              <a:tblGrid>
                <a:gridCol w="4429125"/>
                <a:gridCol w="5667375"/>
                <a:gridCol w="4000500"/>
              </a:tblGrid>
              <a:tr h="949325">
                <a:tc>
                  <a:txBody>
                    <a:bodyPr lIns="171450" tIns="95250" rIns="152400" bIns="95250"/>
                    <a:lstStyle/>
                    <a:p>
                      <a:r>
                        <a:rPr sz="2550" b="1">
                          <a:solidFill>
                            <a:srgbClr val="FFFFFF"/>
                          </a:solidFill>
                          <a:latin typeface="Arial"/>
                          <a:ea typeface="Arial"/>
                          <a:cs typeface="Arial"/>
                        </a:rPr>
                        <a:t>Grootheid</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Uitkomst</a:t>
                      </a:r>
                    </a:p>
                  </a:txBody>
                  <a:tcPr marL="91440" marR="91440" marT="45720" marB="45720" anchor="ctr">
                    <a:solidFill>
                      <a:srgbClr val="183247"/>
                    </a:solidFill>
                  </a:tcPr>
                </a:tc>
              </a:tr>
              <a:tr h="949325">
                <a:tc>
                  <a:txBody>
                    <a:bodyPr lIns="171450" tIns="95250" rIns="152400" bIns="95250"/>
                    <a:lstStyle/>
                    <a:p>
                      <a:r>
                        <a:rPr sz="2550" b="0">
                          <a:solidFill>
                            <a:srgbClr val="183247"/>
                          </a:solidFill>
                          <a:latin typeface="Arial"/>
                          <a:ea typeface="Arial"/>
                          <a:cs typeface="Arial"/>
                        </a:rPr>
                        <a:t>Totale opbrengst</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TO = P × q = 2,50 × 60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€ 150 per dag</a:t>
                      </a:r>
                    </a:p>
                  </a:txBody>
                  <a:tcPr marL="91440" marR="91440" marT="45720" marB="45720" anchor="ctr">
                    <a:solidFill>
                      <a:srgbClr val="FFFFFF"/>
                    </a:solidFill>
                  </a:tcPr>
                </a:tc>
              </a:tr>
              <a:tr h="949325">
                <a:tc>
                  <a:txBody>
                    <a:bodyPr lIns="171450" tIns="95250" rIns="152400" bIns="95250"/>
                    <a:lstStyle/>
                    <a:p>
                      <a:r>
                        <a:rPr sz="2550" b="0">
                          <a:solidFill>
                            <a:srgbClr val="183247"/>
                          </a:solidFill>
                          <a:latin typeface="Arial"/>
                          <a:ea typeface="Arial"/>
                          <a:cs typeface="Arial"/>
                        </a:rPr>
                        <a:t>Gemiddelde opbrengst</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GO = TO / q = 150 / 60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€ 2,50 per kg</a:t>
                      </a:r>
                    </a:p>
                  </a:txBody>
                  <a:tcPr marL="91440" marR="91440" marT="45720" marB="45720" anchor="ctr">
                    <a:solidFill>
                      <a:srgbClr val="EFF4F7"/>
                    </a:solidFill>
                  </a:tcPr>
                </a:tc>
              </a:tr>
            </a:tbl>
          </a:graphicData>
        </a:graphic>
      </p:graphicFrame>
      <p:sp>
        <p:nvSpPr>
          <p:cNvPr id="8" name="GO = P bij één vaste verkoopprijs en q &gt; 0.">
            <a:extLst xmlns:a="http://schemas.openxmlformats.org/drawingml/2006/main">
              <a:ext uri="{FF2B5EF4-FFF2-40B4-BE49-F238E27FC236}">
                <a16:creationId xmlns:a16="http://schemas.microsoft.com/office/drawing/2014/main" id="{E1F3A877-BA14-4F62-A305-6EB10DEAD6DE}"/>
              </a:ext>
            </a:extLst>
          </p:cNvPr>
          <p:cNvSpPr>
            <a:spLocks xmlns:a="http://schemas.openxmlformats.org/drawingml/2006/main" noGrp="1"/>
          </p:cNvSpPr>
          <p:nvPr/>
        </p:nvSpPr>
        <p:spPr>
          <a:xfrm xmlns:a="http://schemas.openxmlformats.org/drawingml/2006/main">
            <a:off x="571500" y="69532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GO = P bij één vaste verkoopprijs en q &gt; 0.</a:t>
            </a:r>
          </a:p>
        </p:txBody>
      </p:sp>
    </p:spTree>
    <p:extLst>
      <p:ext uri="{BB962C8B-B14F-4D97-AF65-F5344CB8AC3E}">
        <p14:creationId xmlns:p14="http://schemas.microsoft.com/office/powerpoint/2010/main" val="154962067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Marginale opbrengst: eerst aftrekken, dan delen">
            <a:extLst xmlns:a="http://schemas.openxmlformats.org/drawingml/2006/main">
              <a:ext uri="{FF2B5EF4-FFF2-40B4-BE49-F238E27FC236}">
                <a16:creationId xmlns:a16="http://schemas.microsoft.com/office/drawing/2014/main" id="{A8B764B4-5461-466F-824C-444B864382F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Marginale opbrengst: eerst aftrekken, dan delen</a:t>
            </a:r>
          </a:p>
        </p:txBody>
      </p:sp>
      <p:sp>
        <p:nvSpPr>
          <p:cNvPr id="2" name="">
            <a:extLst xmlns:a="http://schemas.openxmlformats.org/drawingml/2006/main">
              <a:ext uri="{FF2B5EF4-FFF2-40B4-BE49-F238E27FC236}">
                <a16:creationId xmlns:a16="http://schemas.microsoft.com/office/drawing/2014/main" id="{164CAF70-7919-41D3-B3AF-7BCA41A46E8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1 Volkomen concurrentie">
            <a:extLst xmlns:a="http://schemas.openxmlformats.org/drawingml/2006/main">
              <a:ext uri="{FF2B5EF4-FFF2-40B4-BE49-F238E27FC236}">
                <a16:creationId xmlns:a16="http://schemas.microsoft.com/office/drawing/2014/main" id="{7893A00B-F696-4112-A302-A55F9986D1DA}"/>
              </a:ext>
            </a:extLst>
          </p:cNvPr>
          <p:cNvSpPr>
            <a:spLocks xmlns:a="http://schemas.openxmlformats.org/drawingml/2006/main" noGrp="1"/>
          </p:cNvSpPr>
          <p:nvPr/>
        </p:nvSpPr>
        <p:spPr>
          <a:xfrm xmlns:a="http://schemas.openxmlformats.org/drawingml/2006/main">
            <a:off x="571500" y="8077200"/>
            <a:ext cx="1314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§3.2.1 Volkomen concurrentie</a:t>
            </a:r>
          </a:p>
        </p:txBody>
      </p:sp>
      <p:sp>
        <p:nvSpPr>
          <p:cNvPr id="4" name="9">
            <a:extLst xmlns:a="http://schemas.openxmlformats.org/drawingml/2006/main">
              <a:ext uri="{FF2B5EF4-FFF2-40B4-BE49-F238E27FC236}">
                <a16:creationId xmlns:a16="http://schemas.microsoft.com/office/drawing/2014/main" id="{5BF88974-55AD-416C-BBBB-800A2915DAFA}"/>
              </a:ext>
            </a:extLst>
          </p:cNvPr>
          <p:cNvSpPr>
            <a:spLocks xmlns:a="http://schemas.openxmlformats.org/drawingml/2006/main" noGrp="1"/>
          </p:cNvSpPr>
          <p:nvPr/>
        </p:nvSpPr>
        <p:spPr>
          <a:xfrm xmlns:a="http://schemas.openxmlformats.org/drawingml/2006/main">
            <a:off x="14001750" y="80486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Uitlegvoorbeeld — niet uit het boek">
            <a:extLst xmlns:a="http://schemas.openxmlformats.org/drawingml/2006/main">
              <a:ext uri="{FF2B5EF4-FFF2-40B4-BE49-F238E27FC236}">
                <a16:creationId xmlns:a16="http://schemas.microsoft.com/office/drawing/2014/main" id="{C5D517D6-9DCA-48DB-9C2A-F5D9F84645EB}"/>
              </a:ext>
            </a:extLst>
          </p:cNvPr>
          <p:cNvSpPr>
            <a:spLocks xmlns:a="http://schemas.openxmlformats.org/drawingml/2006/main" noGrp="1"/>
          </p:cNvSpPr>
          <p:nvPr/>
        </p:nvSpPr>
        <p:spPr>
          <a:xfrm xmlns:a="http://schemas.openxmlformats.org/drawingml/2006/main">
            <a:off x="571500" y="16478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graphicFrame>
        <p:nvGraphicFramePr>
          <p:cNvPr id="15" name=""/>
          <p:cNvGraphicFramePr/>
          <p:nvPr/>
        </p:nvGraphicFramePr>
        <p:xfrm>
          <a:off xmlns:a="http://schemas.openxmlformats.org/drawingml/2006/main" x="571500" y="2447925"/>
          <a:ext xmlns:a="http://schemas.openxmlformats.org/drawingml/2006/main" cx="14097000" cy="2543175"/>
        </p:xfrm>
        <a:graphic xmlns:a="http://schemas.openxmlformats.org/drawingml/2006/main">
          <a:graphicData uri="http://schemas.openxmlformats.org/drawingml/2006/table">
            <a:tbl>
              <a:tblPr/>
              <a:tblGrid>
                <a:gridCol w="5715000"/>
                <a:gridCol w="8382000"/>
              </a:tblGrid>
              <a:tr h="847725">
                <a:tc>
                  <a:txBody>
                    <a:bodyPr lIns="171450" tIns="95250" rIns="152400" bIns="95250"/>
                    <a:lstStyle/>
                    <a:p>
                      <a:r>
                        <a:rPr sz="2700" b="1">
                          <a:solidFill>
                            <a:srgbClr val="FFFFFF"/>
                          </a:solidFill>
                          <a:latin typeface="Arial"/>
                          <a:ea typeface="Arial"/>
                          <a:cs typeface="Arial"/>
                        </a:rPr>
                        <a:t>q (kg per dag)</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TO (€ per dag)</a:t>
                      </a:r>
                    </a:p>
                  </a:txBody>
                  <a:tcPr marL="91440" marR="91440" marT="45720" marB="45720" anchor="ctr">
                    <a:solidFill>
                      <a:srgbClr val="183247"/>
                    </a:solidFill>
                  </a:tcPr>
                </a:tc>
              </a:tr>
              <a:tr h="847725">
                <a:tc>
                  <a:txBody>
                    <a:bodyPr lIns="171450" tIns="95250" rIns="152400" bIns="95250"/>
                    <a:lstStyle/>
                    <a:p>
                      <a:r>
                        <a:rPr sz="2700" b="0">
                          <a:solidFill>
                            <a:srgbClr val="183247"/>
                          </a:solidFill>
                          <a:latin typeface="Arial"/>
                          <a:ea typeface="Arial"/>
                          <a:cs typeface="Arial"/>
                        </a:rPr>
                        <a:t>60</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2,50 × 60 = 150</a:t>
                      </a:r>
                    </a:p>
                  </a:txBody>
                  <a:tcPr marL="91440" marR="91440" marT="45720" marB="45720" anchor="ctr">
                    <a:solidFill>
                      <a:srgbClr val="FFFFFF"/>
                    </a:solidFill>
                  </a:tcPr>
                </a:tc>
              </a:tr>
              <a:tr h="847725">
                <a:tc>
                  <a:txBody>
                    <a:bodyPr lIns="171450" tIns="95250" rIns="152400" bIns="95250"/>
                    <a:lstStyle/>
                    <a:p>
                      <a:r>
                        <a:rPr sz="2700" b="0">
                          <a:solidFill>
                            <a:srgbClr val="183247"/>
                          </a:solidFill>
                          <a:latin typeface="Arial"/>
                          <a:ea typeface="Arial"/>
                          <a:cs typeface="Arial"/>
                        </a:rPr>
                        <a:t>90</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2,50 × 90 = 225</a:t>
                      </a:r>
                    </a:p>
                  </a:txBody>
                  <a:tcPr marL="91440" marR="91440" marT="45720" marB="45720" anchor="ctr">
                    <a:solidFill>
                      <a:srgbClr val="EFF4F7"/>
                    </a:solidFill>
                  </a:tcPr>
                </a:tc>
              </a:tr>
            </a:tbl>
          </a:graphicData>
        </a:graphic>
      </p:graphicFrame>
      <p:sp>
        <p:nvSpPr>
          <p:cNvPr id="7" name="ΔTO = 225 − 150 = € 75 per dag">
            <a:extLst xmlns:a="http://schemas.openxmlformats.org/drawingml/2006/main">
              <a:ext uri="{FF2B5EF4-FFF2-40B4-BE49-F238E27FC236}">
                <a16:creationId xmlns:a16="http://schemas.microsoft.com/office/drawing/2014/main" id="{2A877021-A739-42D6-8148-EC74166714EB}"/>
              </a:ext>
            </a:extLst>
          </p:cNvPr>
          <p:cNvSpPr>
            <a:spLocks xmlns:a="http://schemas.openxmlformats.org/drawingml/2006/main" noGrp="1"/>
          </p:cNvSpPr>
          <p:nvPr/>
        </p:nvSpPr>
        <p:spPr>
          <a:xfrm xmlns:a="http://schemas.openxmlformats.org/drawingml/2006/main">
            <a:off x="571500" y="54768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ΔTO = 225 − 150 = € 75 per dag</a:t>
            </a:r>
          </a:p>
        </p:txBody>
      </p:sp>
      <p:sp>
        <p:nvSpPr>
          <p:cNvPr id="8" name="Δq = 90 − 60 = 30 kg per dag">
            <a:extLst xmlns:a="http://schemas.openxmlformats.org/drawingml/2006/main">
              <a:ext uri="{FF2B5EF4-FFF2-40B4-BE49-F238E27FC236}">
                <a16:creationId xmlns:a16="http://schemas.microsoft.com/office/drawing/2014/main" id="{0C12FE0C-D77E-4D1D-8E74-58F20190C691}"/>
              </a:ext>
            </a:extLst>
          </p:cNvPr>
          <p:cNvSpPr>
            <a:spLocks xmlns:a="http://schemas.openxmlformats.org/drawingml/2006/main" noGrp="1"/>
          </p:cNvSpPr>
          <p:nvPr/>
        </p:nvSpPr>
        <p:spPr>
          <a:xfrm xmlns:a="http://schemas.openxmlformats.org/drawingml/2006/main">
            <a:off x="571500" y="62769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Δq = 90 − 60 = 30 kg per dag</a:t>
            </a:r>
          </a:p>
        </p:txBody>
      </p:sp>
      <p:sp>
        <p:nvSpPr>
          <p:cNvPr id="9" name="MO = ΔTO / Δq = 75 / 30 = € 2,50 per kg">
            <a:extLst xmlns:a="http://schemas.openxmlformats.org/drawingml/2006/main">
              <a:ext uri="{FF2B5EF4-FFF2-40B4-BE49-F238E27FC236}">
                <a16:creationId xmlns:a16="http://schemas.microsoft.com/office/drawing/2014/main" id="{14011F37-FF66-4225-97E4-7F6434BCCE2C}"/>
              </a:ext>
            </a:extLst>
          </p:cNvPr>
          <p:cNvSpPr>
            <a:spLocks xmlns:a="http://schemas.openxmlformats.org/drawingml/2006/main" noGrp="1"/>
          </p:cNvSpPr>
          <p:nvPr/>
        </p:nvSpPr>
        <p:spPr>
          <a:xfrm xmlns:a="http://schemas.openxmlformats.org/drawingml/2006/main">
            <a:off x="571500" y="71818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7B2D8E"/>
                </a:solidFill>
                <a:latin typeface="Arial"/>
                <a:ea typeface="Arial"/>
                <a:cs typeface="Arial"/>
              </a:defRPr>
            </a:pPr>
            <a:r>
              <a:rPr sz="3150" b="1">
                <a:solidFill>
                  <a:srgbClr val="7B2D8E"/>
                </a:solidFill>
                <a:latin typeface="Arial"/>
                <a:ea typeface="Arial"/>
                <a:cs typeface="Arial"/>
              </a:rPr>
              <a:t>MO = ΔTO / Δq = 75 / 30 = € 2,50 per kg</a:t>
            </a:r>
          </a:p>
        </p:txBody>
      </p:sp>
    </p:spTree>
    <p:extLst>
      <p:ext uri="{BB962C8B-B14F-4D97-AF65-F5344CB8AC3E}">
        <p14:creationId xmlns:p14="http://schemas.microsoft.com/office/powerpoint/2010/main" val="3468030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e opbrengstlijn van één prijsnemer">
            <a:extLst xmlns:a="http://schemas.openxmlformats.org/drawingml/2006/main">
              <a:ext uri="{FF2B5EF4-FFF2-40B4-BE49-F238E27FC236}">
                <a16:creationId xmlns:a16="http://schemas.microsoft.com/office/drawing/2014/main" id="{0E0DB514-E3C8-4794-AF02-6475CCC21FF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opbrengstlijn van één prijsnemer</a:t>
            </a:r>
          </a:p>
        </p:txBody>
      </p:sp>
      <p:sp>
        <p:nvSpPr>
          <p:cNvPr id="2" name="">
            <a:extLst xmlns:a="http://schemas.openxmlformats.org/drawingml/2006/main">
              <a:ext uri="{FF2B5EF4-FFF2-40B4-BE49-F238E27FC236}">
                <a16:creationId xmlns:a16="http://schemas.microsoft.com/office/drawing/2014/main" id="{659BF08E-A463-4910-9253-56A34952AD7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1 Volkomen concurrentie">
            <a:extLst xmlns:a="http://schemas.openxmlformats.org/drawingml/2006/main">
              <a:ext uri="{FF2B5EF4-FFF2-40B4-BE49-F238E27FC236}">
                <a16:creationId xmlns:a16="http://schemas.microsoft.com/office/drawing/2014/main" id="{ED295BC9-6D05-4F69-AEF3-82F60780E08F}"/>
              </a:ext>
            </a:extLst>
          </p:cNvPr>
          <p:cNvSpPr>
            <a:spLocks xmlns:a="http://schemas.openxmlformats.org/drawingml/2006/main" noGrp="1"/>
          </p:cNvSpPr>
          <p:nvPr/>
        </p:nvSpPr>
        <p:spPr>
          <a:xfrm xmlns:a="http://schemas.openxmlformats.org/drawingml/2006/main">
            <a:off x="571500" y="8077200"/>
            <a:ext cx="1314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§3.2.1 Volkomen concurrentie</a:t>
            </a:r>
          </a:p>
        </p:txBody>
      </p:sp>
      <p:sp>
        <p:nvSpPr>
          <p:cNvPr id="4" name="10">
            <a:extLst xmlns:a="http://schemas.openxmlformats.org/drawingml/2006/main">
              <a:ext uri="{FF2B5EF4-FFF2-40B4-BE49-F238E27FC236}">
                <a16:creationId xmlns:a16="http://schemas.microsoft.com/office/drawing/2014/main" id="{12E1AA6E-4E3C-4CE1-85FB-FD14DA7631D8}"/>
              </a:ext>
            </a:extLst>
          </p:cNvPr>
          <p:cNvSpPr>
            <a:spLocks xmlns:a="http://schemas.openxmlformats.org/drawingml/2006/main" noGrp="1"/>
          </p:cNvSpPr>
          <p:nvPr/>
        </p:nvSpPr>
        <p:spPr>
          <a:xfrm xmlns:a="http://schemas.openxmlformats.org/drawingml/2006/main">
            <a:off x="14001750" y="80486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Uitlegvoorbeeld — niet uit het boek">
            <a:extLst xmlns:a="http://schemas.openxmlformats.org/drawingml/2006/main">
              <a:ext uri="{FF2B5EF4-FFF2-40B4-BE49-F238E27FC236}">
                <a16:creationId xmlns:a16="http://schemas.microsoft.com/office/drawing/2014/main" id="{82E6892B-5A0D-473F-971D-2721E1467501}"/>
              </a:ext>
            </a:extLst>
          </p:cNvPr>
          <p:cNvSpPr>
            <a:spLocks xmlns:a="http://schemas.openxmlformats.org/drawingml/2006/main" noGrp="1"/>
          </p:cNvSpPr>
          <p:nvPr/>
        </p:nvSpPr>
        <p:spPr>
          <a:xfrm xmlns:a="http://schemas.openxmlformats.org/drawingml/2006/main">
            <a:off x="571500" y="16478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graphicFrame>
        <p:nvGraphicFramePr>
          <p:cNvPr id="14" name="Chart"/>
          <p:cNvGraphicFramePr/>
          <p:nvPr/>
        </p:nvGraphicFramePr>
        <p:xfrm>
          <a:off xmlns:a="http://schemas.openxmlformats.org/drawingml/2006/main" x="571500" y="2371725"/>
          <a:ext xmlns:a="http://schemas.openxmlformats.org/drawingml/2006/main" cx="9715500" cy="5238750"/>
        </p:xfrm>
        <a:graphic xmlns:a="http://schemas.openxmlformats.org/drawingml/2006/main">
          <a:graphicData uri="http://schemas.openxmlformats.org/drawingml/2006/chart">
            <c:chart xmlns:r="http://schemas.openxmlformats.org/officeDocument/2006/relationships" xmlns:c="http://schemas.openxmlformats.org/drawingml/2006/chart" r:id="Rcd4c3fd975834bf6"/>
          </a:graphicData>
        </a:graphic>
      </p:graphicFrame>
      <p:sp>
        <p:nvSpPr>
          <p:cNvPr id="7" name="P = GO = MO&#10;= € 2,50 per kg">
            <a:extLst xmlns:a="http://schemas.openxmlformats.org/drawingml/2006/main">
              <a:ext uri="{FF2B5EF4-FFF2-40B4-BE49-F238E27FC236}">
                <a16:creationId xmlns:a16="http://schemas.microsoft.com/office/drawing/2014/main" id="{755CB93F-3ADD-4B49-9BBB-4DFDCE4F55EB}"/>
              </a:ext>
            </a:extLst>
          </p:cNvPr>
          <p:cNvSpPr>
            <a:spLocks xmlns:a="http://schemas.openxmlformats.org/drawingml/2006/main" noGrp="1"/>
          </p:cNvSpPr>
          <p:nvPr/>
        </p:nvSpPr>
        <p:spPr>
          <a:xfrm xmlns:a="http://schemas.openxmlformats.org/drawingml/2006/main">
            <a:off x="10668000" y="3048000"/>
            <a:ext cx="4000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7B2D8E"/>
                </a:solidFill>
                <a:latin typeface="Arial"/>
                <a:ea typeface="Arial"/>
                <a:cs typeface="Arial"/>
              </a:defRPr>
            </a:pPr>
            <a:r>
              <a:rPr sz="2925" b="1">
                <a:solidFill>
                  <a:srgbClr val="7B2D8E"/>
                </a:solidFill>
                <a:latin typeface="Arial"/>
                <a:ea typeface="Arial"/>
                <a:cs typeface="Arial"/>
              </a:rPr>
              <a:t>P = GO = MO</a:t>
            </a:r>
          </a:p>
          <a:p xmlns:a="http://schemas.openxmlformats.org/drawingml/2006/main">
            <a:pPr algn="l">
              <a:defRPr sz="2925" b="1">
                <a:solidFill>
                  <a:srgbClr val="7B2D8E"/>
                </a:solidFill>
                <a:latin typeface="Arial"/>
                <a:ea typeface="Arial"/>
                <a:cs typeface="Arial"/>
              </a:defRPr>
            </a:pPr>
            <a:r>
              <a:rPr sz="2925" b="1">
                <a:solidFill>
                  <a:srgbClr val="7B2D8E"/>
                </a:solidFill>
                <a:latin typeface="Arial"/>
                <a:ea typeface="Arial"/>
                <a:cs typeface="Arial"/>
              </a:rPr>
              <a:t>= € 2,50 per kg</a:t>
            </a:r>
          </a:p>
        </p:txBody>
      </p:sp>
      <p:sp>
        <p:nvSpPr>
          <p:cNvPr id="8" name="TO = 2,50 × q&#10;TO groeit met q.">
            <a:extLst xmlns:a="http://schemas.openxmlformats.org/drawingml/2006/main">
              <a:ext uri="{FF2B5EF4-FFF2-40B4-BE49-F238E27FC236}">
                <a16:creationId xmlns:a16="http://schemas.microsoft.com/office/drawing/2014/main" id="{27EA3FA6-C737-4DDC-8CE4-A99D28600893}"/>
              </a:ext>
            </a:extLst>
          </p:cNvPr>
          <p:cNvSpPr>
            <a:spLocks xmlns:a="http://schemas.openxmlformats.org/drawingml/2006/main" noGrp="1"/>
          </p:cNvSpPr>
          <p:nvPr/>
        </p:nvSpPr>
        <p:spPr>
          <a:xfrm xmlns:a="http://schemas.openxmlformats.org/drawingml/2006/main">
            <a:off x="10668000" y="5705475"/>
            <a:ext cx="4000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TO = 2,50 × q</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TO groeit met q.</a:t>
            </a:r>
          </a:p>
        </p:txBody>
      </p:sp>
    </p:spTree>
    <p:extLst>
      <p:ext uri="{BB962C8B-B14F-4D97-AF65-F5344CB8AC3E}">
        <p14:creationId xmlns:p14="http://schemas.microsoft.com/office/powerpoint/2010/main" val="136411909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en prijs boven de marktprijs">
            <a:extLst xmlns:a="http://schemas.openxmlformats.org/drawingml/2006/main">
              <a:ext uri="{FF2B5EF4-FFF2-40B4-BE49-F238E27FC236}">
                <a16:creationId xmlns:a16="http://schemas.microsoft.com/office/drawing/2014/main" id="{1835BA49-7BC9-426B-8A29-227B748D55D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Een prijs boven de marktprijs</a:t>
            </a:r>
          </a:p>
        </p:txBody>
      </p:sp>
      <p:sp>
        <p:nvSpPr>
          <p:cNvPr id="2" name="">
            <a:extLst xmlns:a="http://schemas.openxmlformats.org/drawingml/2006/main">
              <a:ext uri="{FF2B5EF4-FFF2-40B4-BE49-F238E27FC236}">
                <a16:creationId xmlns:a16="http://schemas.microsoft.com/office/drawing/2014/main" id="{13CADD73-562B-41BE-A690-DE009F2FE17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1 Volkomen concurrentie">
            <a:extLst xmlns:a="http://schemas.openxmlformats.org/drawingml/2006/main">
              <a:ext uri="{FF2B5EF4-FFF2-40B4-BE49-F238E27FC236}">
                <a16:creationId xmlns:a16="http://schemas.microsoft.com/office/drawing/2014/main" id="{8B68DC19-8CF8-45D6-A09B-FDFE76CBEB62}"/>
              </a:ext>
            </a:extLst>
          </p:cNvPr>
          <p:cNvSpPr>
            <a:spLocks xmlns:a="http://schemas.openxmlformats.org/drawingml/2006/main" noGrp="1"/>
          </p:cNvSpPr>
          <p:nvPr/>
        </p:nvSpPr>
        <p:spPr>
          <a:xfrm xmlns:a="http://schemas.openxmlformats.org/drawingml/2006/main">
            <a:off x="571500" y="8077200"/>
            <a:ext cx="1314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§3.2.1 Volkomen concurrentie</a:t>
            </a:r>
          </a:p>
        </p:txBody>
      </p:sp>
      <p:sp>
        <p:nvSpPr>
          <p:cNvPr id="4" name="11">
            <a:extLst xmlns:a="http://schemas.openxmlformats.org/drawingml/2006/main">
              <a:ext uri="{FF2B5EF4-FFF2-40B4-BE49-F238E27FC236}">
                <a16:creationId xmlns:a16="http://schemas.microsoft.com/office/drawing/2014/main" id="{8F71208F-A43B-495D-972B-E640D31CF93E}"/>
              </a:ext>
            </a:extLst>
          </p:cNvPr>
          <p:cNvSpPr>
            <a:spLocks xmlns:a="http://schemas.openxmlformats.org/drawingml/2006/main" noGrp="1"/>
          </p:cNvSpPr>
          <p:nvPr/>
        </p:nvSpPr>
        <p:spPr>
          <a:xfrm xmlns:a="http://schemas.openxmlformats.org/drawingml/2006/main">
            <a:off x="14001750" y="80486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Uitlegvoorbeeld — niet uit het boek">
            <a:extLst xmlns:a="http://schemas.openxmlformats.org/drawingml/2006/main">
              <a:ext uri="{FF2B5EF4-FFF2-40B4-BE49-F238E27FC236}">
                <a16:creationId xmlns:a16="http://schemas.microsoft.com/office/drawing/2014/main" id="{265CB967-4B61-4756-AF71-71A4DBABA6A2}"/>
              </a:ext>
            </a:extLst>
          </p:cNvPr>
          <p:cNvSpPr>
            <a:spLocks xmlns:a="http://schemas.openxmlformats.org/drawingml/2006/main" noGrp="1"/>
          </p:cNvSpPr>
          <p:nvPr/>
        </p:nvSpPr>
        <p:spPr>
          <a:xfrm xmlns:a="http://schemas.openxmlformats.org/drawingml/2006/main">
            <a:off x="571500" y="16478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graphicFrame>
        <p:nvGraphicFramePr>
          <p:cNvPr id="14" name=""/>
          <p:cNvGraphicFramePr/>
          <p:nvPr/>
        </p:nvGraphicFramePr>
        <p:xfrm>
          <a:off xmlns:a="http://schemas.openxmlformats.org/drawingml/2006/main" x="571500" y="2609850"/>
          <a:ext xmlns:a="http://schemas.openxmlformats.org/drawingml/2006/main" cx="14097000" cy="2600325"/>
        </p:xfrm>
        <a:graphic xmlns:a="http://schemas.openxmlformats.org/drawingml/2006/main">
          <a:graphicData uri="http://schemas.openxmlformats.org/drawingml/2006/table">
            <a:tbl>
              <a:tblPr/>
              <a:tblGrid>
                <a:gridCol w="8667750"/>
                <a:gridCol w="5429250"/>
              </a:tblGrid>
              <a:tr h="866775">
                <a:tc>
                  <a:txBody>
                    <a:bodyPr lIns="171450" tIns="95250" rIns="152400" bIns="95250"/>
                    <a:lstStyle/>
                    <a:p>
                      <a:r>
                        <a:rPr sz="3000" b="1">
                          <a:solidFill>
                            <a:srgbClr val="FFFFFF"/>
                          </a:solidFill>
                          <a:latin typeface="Arial"/>
                          <a:ea typeface="Arial"/>
                          <a:cs typeface="Arial"/>
                        </a:rPr>
                        <a:t>Zelfde kwaliteit haver</a:t>
                      </a:r>
                    </a:p>
                  </a:txBody>
                  <a:tcPr marL="91440" marR="91440" marT="45720" marB="45720" anchor="ctr">
                    <a:solidFill>
                      <a:srgbClr val="183247"/>
                    </a:solidFill>
                  </a:tcPr>
                </a:tc>
                <a:tc>
                  <a:txBody>
                    <a:bodyPr lIns="171450" tIns="95250" rIns="152400" bIns="95250"/>
                    <a:lstStyle/>
                    <a:p>
                      <a:r>
                        <a:rPr sz="3000" b="1">
                          <a:solidFill>
                            <a:srgbClr val="FFFFFF"/>
                          </a:solidFill>
                          <a:latin typeface="Arial"/>
                          <a:ea typeface="Arial"/>
                          <a:cs typeface="Arial"/>
                        </a:rPr>
                        <a:t>Prijs per kg</a:t>
                      </a:r>
                    </a:p>
                  </a:txBody>
                  <a:tcPr marL="91440" marR="91440" marT="45720" marB="45720" anchor="ctr">
                    <a:solidFill>
                      <a:srgbClr val="183247"/>
                    </a:solidFill>
                  </a:tcPr>
                </a:tc>
              </a:tr>
              <a:tr h="866775">
                <a:tc>
                  <a:txBody>
                    <a:bodyPr lIns="171450" tIns="95250" rIns="152400" bIns="95250"/>
                    <a:lstStyle/>
                    <a:p>
                      <a:r>
                        <a:rPr sz="3000" b="0">
                          <a:solidFill>
                            <a:srgbClr val="183247"/>
                          </a:solidFill>
                          <a:latin typeface="Arial"/>
                          <a:ea typeface="Arial"/>
                          <a:cs typeface="Arial"/>
                        </a:rPr>
                        <a:t>Andere kleine telers</a:t>
                      </a:r>
                    </a:p>
                  </a:txBody>
                  <a:tcPr marL="91440" marR="91440" marT="45720" marB="45720" anchor="ctr">
                    <a:solidFill>
                      <a:srgbClr val="FFFFFF"/>
                    </a:solidFill>
                  </a:tcPr>
                </a:tc>
                <a:tc>
                  <a:txBody>
                    <a:bodyPr lIns="171450" tIns="95250" rIns="152400" bIns="95250"/>
                    <a:lstStyle/>
                    <a:p>
                      <a:r>
                        <a:rPr sz="3000" b="0">
                          <a:solidFill>
                            <a:srgbClr val="183247"/>
                          </a:solidFill>
                          <a:latin typeface="Arial"/>
                          <a:ea typeface="Arial"/>
                          <a:cs typeface="Arial"/>
                        </a:rPr>
                        <a:t>€ 2,50</a:t>
                      </a:r>
                    </a:p>
                  </a:txBody>
                  <a:tcPr marL="91440" marR="91440" marT="45720" marB="45720" anchor="ctr">
                    <a:solidFill>
                      <a:srgbClr val="FFFFFF"/>
                    </a:solidFill>
                  </a:tcPr>
                </a:tc>
              </a:tr>
              <a:tr h="866775">
                <a:tc>
                  <a:txBody>
                    <a:bodyPr lIns="171450" tIns="95250" rIns="152400" bIns="95250"/>
                    <a:lstStyle/>
                    <a:p>
                      <a:r>
                        <a:rPr sz="3000" b="0">
                          <a:solidFill>
                            <a:srgbClr val="183247"/>
                          </a:solidFill>
                          <a:latin typeface="Arial"/>
                          <a:ea typeface="Arial"/>
                          <a:cs typeface="Arial"/>
                        </a:rPr>
                        <a:t>Sam vraagt</a:t>
                      </a:r>
                    </a:p>
                  </a:txBody>
                  <a:tcPr marL="91440" marR="91440" marT="45720" marB="45720" anchor="ctr">
                    <a:solidFill>
                      <a:srgbClr val="EFF4F7"/>
                    </a:solidFill>
                  </a:tcPr>
                </a:tc>
                <a:tc>
                  <a:txBody>
                    <a:bodyPr lIns="171450" tIns="95250" rIns="152400" bIns="95250"/>
                    <a:lstStyle/>
                    <a:p>
                      <a:r>
                        <a:rPr sz="3000" b="0">
                          <a:solidFill>
                            <a:srgbClr val="183247"/>
                          </a:solidFill>
                          <a:latin typeface="Arial"/>
                          <a:ea typeface="Arial"/>
                          <a:cs typeface="Arial"/>
                        </a:rPr>
                        <a:t>€ 2,75</a:t>
                      </a:r>
                    </a:p>
                  </a:txBody>
                  <a:tcPr marL="91440" marR="91440" marT="45720" marB="45720" anchor="ctr">
                    <a:solidFill>
                      <a:srgbClr val="EFF4F7"/>
                    </a:solidFill>
                  </a:tcPr>
                </a:tc>
              </a:tr>
            </a:tbl>
          </a:graphicData>
        </a:graphic>
      </p:graphicFrame>
      <p:sp>
        <p:nvSpPr>
          <p:cNvPr id="7" name="Kopers kennen de prijzen en kopen elders.">
            <a:extLst xmlns:a="http://schemas.openxmlformats.org/drawingml/2006/main">
              <a:ext uri="{FF2B5EF4-FFF2-40B4-BE49-F238E27FC236}">
                <a16:creationId xmlns:a16="http://schemas.microsoft.com/office/drawing/2014/main" id="{175C34E2-8E52-4991-9429-2E6592094021}"/>
              </a:ext>
            </a:extLst>
          </p:cNvPr>
          <p:cNvSpPr>
            <a:spLocks xmlns:a="http://schemas.openxmlformats.org/drawingml/2006/main" noGrp="1"/>
          </p:cNvSpPr>
          <p:nvPr/>
        </p:nvSpPr>
        <p:spPr>
          <a:xfrm xmlns:a="http://schemas.openxmlformats.org/drawingml/2006/main">
            <a:off x="571500" y="6010275"/>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A5276"/>
                </a:solidFill>
                <a:latin typeface="Arial"/>
                <a:ea typeface="Arial"/>
                <a:cs typeface="Arial"/>
              </a:defRPr>
            </a:pPr>
            <a:r>
              <a:rPr sz="3300" b="1">
                <a:solidFill>
                  <a:srgbClr val="1A5276"/>
                </a:solidFill>
                <a:latin typeface="Arial"/>
                <a:ea typeface="Arial"/>
                <a:cs typeface="Arial"/>
              </a:rPr>
              <a:t>Kopers kennen de prijzen en kopen elders.</a:t>
            </a:r>
          </a:p>
        </p:txBody>
      </p:sp>
      <p:sp>
        <p:nvSpPr>
          <p:cNvPr id="8" name="Sam verliest in dit model zijn afzet.">
            <a:extLst xmlns:a="http://schemas.openxmlformats.org/drawingml/2006/main">
              <a:ext uri="{FF2B5EF4-FFF2-40B4-BE49-F238E27FC236}">
                <a16:creationId xmlns:a16="http://schemas.microsoft.com/office/drawing/2014/main" id="{0864C737-449B-4818-BC9B-CABF380E0C67}"/>
              </a:ext>
            </a:extLst>
          </p:cNvPr>
          <p:cNvSpPr>
            <a:spLocks xmlns:a="http://schemas.openxmlformats.org/drawingml/2006/main" noGrp="1"/>
          </p:cNvSpPr>
          <p:nvPr/>
        </p:nvSpPr>
        <p:spPr>
          <a:xfrm xmlns:a="http://schemas.openxmlformats.org/drawingml/2006/main">
            <a:off x="571500" y="7058025"/>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Sam verliest in dit model zijn afzet.</a:t>
            </a:r>
          </a:p>
        </p:txBody>
      </p:sp>
    </p:spTree>
    <p:extLst>
      <p:ext uri="{BB962C8B-B14F-4D97-AF65-F5344CB8AC3E}">
        <p14:creationId xmlns:p14="http://schemas.microsoft.com/office/powerpoint/2010/main" val="203226200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Een lagere prijs bij dezelfde afzet">
            <a:extLst xmlns:a="http://schemas.openxmlformats.org/drawingml/2006/main">
              <a:ext uri="{FF2B5EF4-FFF2-40B4-BE49-F238E27FC236}">
                <a16:creationId xmlns:a16="http://schemas.microsoft.com/office/drawing/2014/main" id="{B410657A-C643-43D6-987D-3ED633BB3D4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Een lagere prijs bij dezelfde afzet</a:t>
            </a:r>
          </a:p>
        </p:txBody>
      </p:sp>
      <p:sp>
        <p:nvSpPr>
          <p:cNvPr id="2" name="">
            <a:extLst xmlns:a="http://schemas.openxmlformats.org/drawingml/2006/main">
              <a:ext uri="{FF2B5EF4-FFF2-40B4-BE49-F238E27FC236}">
                <a16:creationId xmlns:a16="http://schemas.microsoft.com/office/drawing/2014/main" id="{B62DA7DF-CC29-4547-A556-6FFEB4BFF1F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1 Volkomen concurrentie">
            <a:extLst xmlns:a="http://schemas.openxmlformats.org/drawingml/2006/main">
              <a:ext uri="{FF2B5EF4-FFF2-40B4-BE49-F238E27FC236}">
                <a16:creationId xmlns:a16="http://schemas.microsoft.com/office/drawing/2014/main" id="{9A8FF4D3-D475-4408-BE33-8F45C7510653}"/>
              </a:ext>
            </a:extLst>
          </p:cNvPr>
          <p:cNvSpPr>
            <a:spLocks xmlns:a="http://schemas.openxmlformats.org/drawingml/2006/main" noGrp="1"/>
          </p:cNvSpPr>
          <p:nvPr/>
        </p:nvSpPr>
        <p:spPr>
          <a:xfrm xmlns:a="http://schemas.openxmlformats.org/drawingml/2006/main">
            <a:off x="571500" y="8077200"/>
            <a:ext cx="1314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§3.2.1 Volkomen concurrentie</a:t>
            </a:r>
          </a:p>
        </p:txBody>
      </p:sp>
      <p:sp>
        <p:nvSpPr>
          <p:cNvPr id="4" name="12">
            <a:extLst xmlns:a="http://schemas.openxmlformats.org/drawingml/2006/main">
              <a:ext uri="{FF2B5EF4-FFF2-40B4-BE49-F238E27FC236}">
                <a16:creationId xmlns:a16="http://schemas.microsoft.com/office/drawing/2014/main" id="{8FE6B7ED-00FD-4EF3-AB77-84712676FCBD}"/>
              </a:ext>
            </a:extLst>
          </p:cNvPr>
          <p:cNvSpPr>
            <a:spLocks xmlns:a="http://schemas.openxmlformats.org/drawingml/2006/main" noGrp="1"/>
          </p:cNvSpPr>
          <p:nvPr/>
        </p:nvSpPr>
        <p:spPr>
          <a:xfrm xmlns:a="http://schemas.openxmlformats.org/drawingml/2006/main">
            <a:off x="14001750" y="80486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Uitlegvoorbeeld — niet uit het boek">
            <a:extLst xmlns:a="http://schemas.openxmlformats.org/drawingml/2006/main">
              <a:ext uri="{FF2B5EF4-FFF2-40B4-BE49-F238E27FC236}">
                <a16:creationId xmlns:a16="http://schemas.microsoft.com/office/drawing/2014/main" id="{2C3E3003-E48C-4C9C-965B-046CE7862AC5}"/>
              </a:ext>
            </a:extLst>
          </p:cNvPr>
          <p:cNvSpPr>
            <a:spLocks xmlns:a="http://schemas.openxmlformats.org/drawingml/2006/main" noGrp="1"/>
          </p:cNvSpPr>
          <p:nvPr/>
        </p:nvSpPr>
        <p:spPr>
          <a:xfrm xmlns:a="http://schemas.openxmlformats.org/drawingml/2006/main">
            <a:off x="571500" y="16478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sp>
        <p:nvSpPr>
          <p:cNvPr id="6" name="Sam verkoopt in beide gevallen 60 kg per dag.">
            <a:extLst xmlns:a="http://schemas.openxmlformats.org/drawingml/2006/main">
              <a:ext uri="{FF2B5EF4-FFF2-40B4-BE49-F238E27FC236}">
                <a16:creationId xmlns:a16="http://schemas.microsoft.com/office/drawing/2014/main" id="{A8DCF9E7-55A2-4A36-95B5-A072F12EBA41}"/>
              </a:ext>
            </a:extLst>
          </p:cNvPr>
          <p:cNvSpPr>
            <a:spLocks xmlns:a="http://schemas.openxmlformats.org/drawingml/2006/main" noGrp="1"/>
          </p:cNvSpPr>
          <p:nvPr/>
        </p:nvSpPr>
        <p:spPr>
          <a:xfrm xmlns:a="http://schemas.openxmlformats.org/drawingml/2006/main">
            <a:off x="571500" y="237172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Sam verkoopt in beide gevallen 60 kg per dag.</a:t>
            </a:r>
          </a:p>
        </p:txBody>
      </p:sp>
      <p:graphicFrame>
        <p:nvGraphicFramePr>
          <p:cNvPr id="16" name=""/>
          <p:cNvGraphicFramePr/>
          <p:nvPr/>
        </p:nvGraphicFramePr>
        <p:xfrm>
          <a:off xmlns:a="http://schemas.openxmlformats.org/drawingml/2006/main" x="571500" y="3429000"/>
          <a:ext xmlns:a="http://schemas.openxmlformats.org/drawingml/2006/main" cx="14097000" cy="2543175"/>
        </p:xfrm>
        <a:graphic xmlns:a="http://schemas.openxmlformats.org/drawingml/2006/main">
          <a:graphicData uri="http://schemas.openxmlformats.org/drawingml/2006/table">
            <a:tbl>
              <a:tblPr/>
              <a:tblGrid>
                <a:gridCol w="5715000"/>
                <a:gridCol w="8382000"/>
              </a:tblGrid>
              <a:tr h="847725">
                <a:tc>
                  <a:txBody>
                    <a:bodyPr lIns="171450" tIns="95250" rIns="152400" bIns="95250"/>
                    <a:lstStyle/>
                    <a:p>
                      <a:r>
                        <a:rPr sz="2925" b="1">
                          <a:solidFill>
                            <a:srgbClr val="FFFFFF"/>
                          </a:solidFill>
                          <a:latin typeface="Arial"/>
                          <a:ea typeface="Arial"/>
                          <a:cs typeface="Arial"/>
                        </a:rPr>
                        <a:t>Prijs per kg</a:t>
                      </a:r>
                    </a:p>
                  </a:txBody>
                  <a:tcPr marL="91440" marR="91440" marT="45720" marB="45720" anchor="ctr">
                    <a:solidFill>
                      <a:srgbClr val="183247"/>
                    </a:solidFill>
                  </a:tcPr>
                </a:tc>
                <a:tc>
                  <a:txBody>
                    <a:bodyPr lIns="171450" tIns="95250" rIns="152400" bIns="95250"/>
                    <a:lstStyle/>
                    <a:p>
                      <a:r>
                        <a:rPr sz="2925" b="1">
                          <a:solidFill>
                            <a:srgbClr val="FFFFFF"/>
                          </a:solidFill>
                          <a:latin typeface="Arial"/>
                          <a:ea typeface="Arial"/>
                          <a:cs typeface="Arial"/>
                        </a:rPr>
                        <a:t>TO per dag</a:t>
                      </a:r>
                    </a:p>
                  </a:txBody>
                  <a:tcPr marL="91440" marR="91440" marT="45720" marB="45720" anchor="ctr">
                    <a:solidFill>
                      <a:srgbClr val="183247"/>
                    </a:solidFill>
                  </a:tcPr>
                </a:tc>
              </a:tr>
              <a:tr h="847725">
                <a:tc>
                  <a:txBody>
                    <a:bodyPr lIns="171450" tIns="95250" rIns="152400" bIns="95250"/>
                    <a:lstStyle/>
                    <a:p>
                      <a:r>
                        <a:rPr sz="2925" b="0">
                          <a:solidFill>
                            <a:srgbClr val="183247"/>
                          </a:solidFill>
                          <a:latin typeface="Arial"/>
                          <a:ea typeface="Arial"/>
                          <a:cs typeface="Arial"/>
                        </a:rPr>
                        <a:t>€ 2,50</a:t>
                      </a:r>
                    </a:p>
                  </a:txBody>
                  <a:tcPr marL="91440" marR="91440" marT="45720" marB="45720" anchor="ctr">
                    <a:solidFill>
                      <a:srgbClr val="FFFFFF"/>
                    </a:solidFill>
                  </a:tcPr>
                </a:tc>
                <a:tc>
                  <a:txBody>
                    <a:bodyPr lIns="171450" tIns="95250" rIns="152400" bIns="95250"/>
                    <a:lstStyle/>
                    <a:p>
                      <a:r>
                        <a:rPr sz="2925" b="0">
                          <a:solidFill>
                            <a:srgbClr val="183247"/>
                          </a:solidFill>
                          <a:latin typeface="Arial"/>
                          <a:ea typeface="Arial"/>
                          <a:cs typeface="Arial"/>
                        </a:rPr>
                        <a:t>2,50 × 60 = € 150</a:t>
                      </a:r>
                    </a:p>
                  </a:txBody>
                  <a:tcPr marL="91440" marR="91440" marT="45720" marB="45720" anchor="ctr">
                    <a:solidFill>
                      <a:srgbClr val="FFFFFF"/>
                    </a:solidFill>
                  </a:tcPr>
                </a:tc>
              </a:tr>
              <a:tr h="847725">
                <a:tc>
                  <a:txBody>
                    <a:bodyPr lIns="171450" tIns="95250" rIns="152400" bIns="95250"/>
                    <a:lstStyle/>
                    <a:p>
                      <a:r>
                        <a:rPr sz="2925" b="0">
                          <a:solidFill>
                            <a:srgbClr val="183247"/>
                          </a:solidFill>
                          <a:latin typeface="Arial"/>
                          <a:ea typeface="Arial"/>
                          <a:cs typeface="Arial"/>
                        </a:rPr>
                        <a:t>€ 2,25</a:t>
                      </a:r>
                    </a:p>
                  </a:txBody>
                  <a:tcPr marL="91440" marR="91440" marT="45720" marB="45720" anchor="ctr">
                    <a:solidFill>
                      <a:srgbClr val="EFF4F7"/>
                    </a:solidFill>
                  </a:tcPr>
                </a:tc>
                <a:tc>
                  <a:txBody>
                    <a:bodyPr lIns="171450" tIns="95250" rIns="152400" bIns="95250"/>
                    <a:lstStyle/>
                    <a:p>
                      <a:r>
                        <a:rPr sz="2925" b="0">
                          <a:solidFill>
                            <a:srgbClr val="183247"/>
                          </a:solidFill>
                          <a:latin typeface="Arial"/>
                          <a:ea typeface="Arial"/>
                          <a:cs typeface="Arial"/>
                        </a:rPr>
                        <a:t>2,25 × 60 = € 135</a:t>
                      </a:r>
                    </a:p>
                  </a:txBody>
                  <a:tcPr marL="91440" marR="91440" marT="45720" marB="45720" anchor="ctr">
                    <a:solidFill>
                      <a:srgbClr val="EFF4F7"/>
                    </a:solidFill>
                  </a:tcPr>
                </a:tc>
              </a:tr>
            </a:tbl>
          </a:graphicData>
        </a:graphic>
      </p:graphicFrame>
      <p:sp>
        <p:nvSpPr>
          <p:cNvPr id="8" name="TO daalt € 15. De kosten bij dezelfde q blijven gelijk.">
            <a:extLst xmlns:a="http://schemas.openxmlformats.org/drawingml/2006/main">
              <a:ext uri="{FF2B5EF4-FFF2-40B4-BE49-F238E27FC236}">
                <a16:creationId xmlns:a16="http://schemas.microsoft.com/office/drawing/2014/main" id="{A22457A1-A8BE-4166-8FCA-9CD20DC857D9}"/>
              </a:ext>
            </a:extLst>
          </p:cNvPr>
          <p:cNvSpPr>
            <a:spLocks xmlns:a="http://schemas.openxmlformats.org/drawingml/2006/main" noGrp="1"/>
          </p:cNvSpPr>
          <p:nvPr/>
        </p:nvSpPr>
        <p:spPr>
          <a:xfrm xmlns:a="http://schemas.openxmlformats.org/drawingml/2006/main">
            <a:off x="571500" y="652462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TO daalt € 15. De kosten bij dezelfde q blijven gelijk.</a:t>
            </a:r>
          </a:p>
        </p:txBody>
      </p:sp>
      <p:sp>
        <p:nvSpPr>
          <p:cNvPr id="9" name="De winst daalt dus € 15 per dag.">
            <a:extLst xmlns:a="http://schemas.openxmlformats.org/drawingml/2006/main">
              <a:ext uri="{FF2B5EF4-FFF2-40B4-BE49-F238E27FC236}">
                <a16:creationId xmlns:a16="http://schemas.microsoft.com/office/drawing/2014/main" id="{B4FBA9AA-8672-4137-9452-EBBAC2007ACE}"/>
              </a:ext>
            </a:extLst>
          </p:cNvPr>
          <p:cNvSpPr>
            <a:spLocks xmlns:a="http://schemas.openxmlformats.org/drawingml/2006/main" noGrp="1"/>
          </p:cNvSpPr>
          <p:nvPr/>
        </p:nvSpPr>
        <p:spPr>
          <a:xfrm xmlns:a="http://schemas.openxmlformats.org/drawingml/2006/main">
            <a:off x="571500" y="7334250"/>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A94D16"/>
                </a:solidFill>
                <a:latin typeface="Arial"/>
                <a:ea typeface="Arial"/>
                <a:cs typeface="Arial"/>
              </a:defRPr>
            </a:pPr>
            <a:r>
              <a:rPr sz="3075" b="1">
                <a:solidFill>
                  <a:srgbClr val="A94D16"/>
                </a:solidFill>
                <a:latin typeface="Arial"/>
                <a:ea typeface="Arial"/>
                <a:cs typeface="Arial"/>
              </a:rPr>
              <a:t>De winst daalt dus € 15 per dag.</a:t>
            </a:r>
          </a:p>
        </p:txBody>
      </p:sp>
    </p:spTree>
    <p:extLst>
      <p:ext uri="{BB962C8B-B14F-4D97-AF65-F5344CB8AC3E}">
        <p14:creationId xmlns:p14="http://schemas.microsoft.com/office/powerpoint/2010/main" val="151933206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anneer past het model?">
            <a:extLst xmlns:a="http://schemas.openxmlformats.org/drawingml/2006/main">
              <a:ext uri="{FF2B5EF4-FFF2-40B4-BE49-F238E27FC236}">
                <a16:creationId xmlns:a16="http://schemas.microsoft.com/office/drawing/2014/main" id="{904E769E-F9B5-4C1D-9489-F5AEB75EB59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Wanneer past het model?</a:t>
            </a:r>
          </a:p>
        </p:txBody>
      </p:sp>
      <p:sp>
        <p:nvSpPr>
          <p:cNvPr id="2" name="">
            <a:extLst xmlns:a="http://schemas.openxmlformats.org/drawingml/2006/main">
              <a:ext uri="{FF2B5EF4-FFF2-40B4-BE49-F238E27FC236}">
                <a16:creationId xmlns:a16="http://schemas.microsoft.com/office/drawing/2014/main" id="{D8BC29B6-E242-4BFA-9EEF-32A7C931D34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1 Volkomen concurrentie">
            <a:extLst xmlns:a="http://schemas.openxmlformats.org/drawingml/2006/main">
              <a:ext uri="{FF2B5EF4-FFF2-40B4-BE49-F238E27FC236}">
                <a16:creationId xmlns:a16="http://schemas.microsoft.com/office/drawing/2014/main" id="{EE689082-6543-475B-8299-F7D126DE248C}"/>
              </a:ext>
            </a:extLst>
          </p:cNvPr>
          <p:cNvSpPr>
            <a:spLocks xmlns:a="http://schemas.openxmlformats.org/drawingml/2006/main" noGrp="1"/>
          </p:cNvSpPr>
          <p:nvPr/>
        </p:nvSpPr>
        <p:spPr>
          <a:xfrm xmlns:a="http://schemas.openxmlformats.org/drawingml/2006/main">
            <a:off x="571500" y="8077200"/>
            <a:ext cx="1314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§3.2.1 Volkomen concurrentie</a:t>
            </a:r>
          </a:p>
        </p:txBody>
      </p:sp>
      <p:sp>
        <p:nvSpPr>
          <p:cNvPr id="4" name="13">
            <a:extLst xmlns:a="http://schemas.openxmlformats.org/drawingml/2006/main">
              <a:ext uri="{FF2B5EF4-FFF2-40B4-BE49-F238E27FC236}">
                <a16:creationId xmlns:a16="http://schemas.microsoft.com/office/drawing/2014/main" id="{4EFDBDF3-2560-4771-B3E2-CC22E05DCC3F}"/>
              </a:ext>
            </a:extLst>
          </p:cNvPr>
          <p:cNvSpPr>
            <a:spLocks xmlns:a="http://schemas.openxmlformats.org/drawingml/2006/main" noGrp="1"/>
          </p:cNvSpPr>
          <p:nvPr/>
        </p:nvSpPr>
        <p:spPr>
          <a:xfrm xmlns:a="http://schemas.openxmlformats.org/drawingml/2006/main">
            <a:off x="14001750" y="80486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Uitlegvoorbeeld — niet uit het boek">
            <a:extLst xmlns:a="http://schemas.openxmlformats.org/drawingml/2006/main">
              <a:ext uri="{FF2B5EF4-FFF2-40B4-BE49-F238E27FC236}">
                <a16:creationId xmlns:a16="http://schemas.microsoft.com/office/drawing/2014/main" id="{6DC21608-4B94-4C42-B240-6415074C01E4}"/>
              </a:ext>
            </a:extLst>
          </p:cNvPr>
          <p:cNvSpPr>
            <a:spLocks xmlns:a="http://schemas.openxmlformats.org/drawingml/2006/main" noGrp="1"/>
          </p:cNvSpPr>
          <p:nvPr/>
        </p:nvSpPr>
        <p:spPr>
          <a:xfrm xmlns:a="http://schemas.openxmlformats.org/drawingml/2006/main">
            <a:off x="571500" y="16478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graphicFrame>
        <p:nvGraphicFramePr>
          <p:cNvPr id="13" name=""/>
          <p:cNvGraphicFramePr/>
          <p:nvPr/>
        </p:nvGraphicFramePr>
        <p:xfrm>
          <a:off xmlns:a="http://schemas.openxmlformats.org/drawingml/2006/main" x="571500" y="2638425"/>
          <a:ext xmlns:a="http://schemas.openxmlformats.org/drawingml/2006/main" cx="14097000" cy="3314700"/>
        </p:xfrm>
        <a:graphic xmlns:a="http://schemas.openxmlformats.org/drawingml/2006/main">
          <a:graphicData uri="http://schemas.openxmlformats.org/drawingml/2006/table">
            <a:tbl>
              <a:tblPr/>
              <a:tblGrid>
                <a:gridCol w="7048500"/>
                <a:gridCol w="7048500"/>
              </a:tblGrid>
              <a:tr h="1104900">
                <a:tc>
                  <a:txBody>
                    <a:bodyPr lIns="171450" tIns="95250" rIns="152400" bIns="95250"/>
                    <a:lstStyle/>
                    <a:p>
                      <a:r>
                        <a:rPr sz="2625" b="1">
                          <a:solidFill>
                            <a:srgbClr val="FFFFFF"/>
                          </a:solidFill>
                          <a:latin typeface="Arial"/>
                          <a:ea typeface="Arial"/>
                          <a:cs typeface="Arial"/>
                        </a:rPr>
                        <a:t>Haver die kopers gelijkwaardig vinden</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Een eigen graanmengsel waar klanten extra voor betalen</a:t>
                      </a:r>
                    </a:p>
                  </a:txBody>
                  <a:tcPr marL="91440" marR="91440" marT="45720" marB="45720" anchor="ctr">
                    <a:solidFill>
                      <a:srgbClr val="183247"/>
                    </a:solidFill>
                  </a:tcPr>
                </a:tc>
              </a:tr>
              <a:tr h="1104900">
                <a:tc>
                  <a:txBody>
                    <a:bodyPr lIns="171450" tIns="95250" rIns="152400" bIns="95250"/>
                    <a:lstStyle/>
                    <a:p>
                      <a:r>
                        <a:rPr sz="2625" b="0">
                          <a:solidFill>
                            <a:srgbClr val="183247"/>
                          </a:solidFill>
                          <a:latin typeface="Arial"/>
                          <a:ea typeface="Arial"/>
                          <a:cs typeface="Arial"/>
                        </a:rPr>
                        <a:t>Een hogere prijs laat kopers uitwijken.</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Kopers zien dit product als anders.</a:t>
                      </a:r>
                    </a:p>
                  </a:txBody>
                  <a:tcPr marL="91440" marR="91440" marT="45720" marB="45720" anchor="ctr">
                    <a:solidFill>
                      <a:srgbClr val="FFFFFF"/>
                    </a:solidFill>
                  </a:tcPr>
                </a:tc>
              </a:tr>
              <a:tr h="1104900">
                <a:tc>
                  <a:txBody>
                    <a:bodyPr lIns="171450" tIns="95250" rIns="152400" bIns="95250"/>
                    <a:lstStyle/>
                    <a:p>
                      <a:r>
                        <a:rPr sz="2625" b="0">
                          <a:solidFill>
                            <a:srgbClr val="183247"/>
                          </a:solidFill>
                          <a:latin typeface="Arial"/>
                          <a:ea typeface="Arial"/>
                          <a:cs typeface="Arial"/>
                        </a:rPr>
                        <a:t>Een horizontale opbrengstlijn past bij het model.</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De aanname van een homogeen product ontbreekt.</a:t>
                      </a:r>
                    </a:p>
                  </a:txBody>
                  <a:tcPr marL="91440" marR="91440" marT="45720" marB="45720" anchor="ctr">
                    <a:solidFill>
                      <a:srgbClr val="EFF4F7"/>
                    </a:solidFill>
                  </a:tcPr>
                </a:tc>
              </a:tr>
            </a:tbl>
          </a:graphicData>
        </a:graphic>
      </p:graphicFrame>
      <p:sp>
        <p:nvSpPr>
          <p:cNvPr id="7" name="Een andere modelaanname vraagt om een nieuwe beoordeling.">
            <a:extLst xmlns:a="http://schemas.openxmlformats.org/drawingml/2006/main">
              <a:ext uri="{FF2B5EF4-FFF2-40B4-BE49-F238E27FC236}">
                <a16:creationId xmlns:a16="http://schemas.microsoft.com/office/drawing/2014/main" id="{6097D2D8-1BC8-44D1-B088-656C851BC5C3}"/>
              </a:ext>
            </a:extLst>
          </p:cNvPr>
          <p:cNvSpPr>
            <a:spLocks xmlns:a="http://schemas.openxmlformats.org/drawingml/2006/main" noGrp="1"/>
          </p:cNvSpPr>
          <p:nvPr/>
        </p:nvSpPr>
        <p:spPr>
          <a:xfrm xmlns:a="http://schemas.openxmlformats.org/drawingml/2006/main">
            <a:off x="571500" y="68008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Een andere modelaanname vraagt om een nieuwe beoordeling.</a:t>
            </a:r>
          </a:p>
        </p:txBody>
      </p:sp>
    </p:spTree>
    <p:extLst>
      <p:ext uri="{BB962C8B-B14F-4D97-AF65-F5344CB8AC3E}">
        <p14:creationId xmlns:p14="http://schemas.microsoft.com/office/powerpoint/2010/main" val="114131092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orte check bij het uitlegvoorbeeld">
            <a:extLst xmlns:a="http://schemas.openxmlformats.org/drawingml/2006/main">
              <a:ext uri="{FF2B5EF4-FFF2-40B4-BE49-F238E27FC236}">
                <a16:creationId xmlns:a16="http://schemas.microsoft.com/office/drawing/2014/main" id="{312C801D-7B21-4D4B-B17F-9C9AB806538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Korte check bij het uitlegvoorbeeld</a:t>
            </a:r>
          </a:p>
        </p:txBody>
      </p:sp>
      <p:sp>
        <p:nvSpPr>
          <p:cNvPr id="2" name="">
            <a:extLst xmlns:a="http://schemas.openxmlformats.org/drawingml/2006/main">
              <a:ext uri="{FF2B5EF4-FFF2-40B4-BE49-F238E27FC236}">
                <a16:creationId xmlns:a16="http://schemas.microsoft.com/office/drawing/2014/main" id="{B2639941-A65D-421A-B4F0-9A7A0C13F32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1 Volkomen concurrentie">
            <a:extLst xmlns:a="http://schemas.openxmlformats.org/drawingml/2006/main">
              <a:ext uri="{FF2B5EF4-FFF2-40B4-BE49-F238E27FC236}">
                <a16:creationId xmlns:a16="http://schemas.microsoft.com/office/drawing/2014/main" id="{0B16AEA2-7571-4139-B58D-C5BA209F81C4}"/>
              </a:ext>
            </a:extLst>
          </p:cNvPr>
          <p:cNvSpPr>
            <a:spLocks xmlns:a="http://schemas.openxmlformats.org/drawingml/2006/main" noGrp="1"/>
          </p:cNvSpPr>
          <p:nvPr/>
        </p:nvSpPr>
        <p:spPr>
          <a:xfrm xmlns:a="http://schemas.openxmlformats.org/drawingml/2006/main">
            <a:off x="571500" y="8077200"/>
            <a:ext cx="1314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§3.2.1 Volkomen concurrentie</a:t>
            </a:r>
          </a:p>
        </p:txBody>
      </p:sp>
      <p:sp>
        <p:nvSpPr>
          <p:cNvPr id="4" name="14">
            <a:extLst xmlns:a="http://schemas.openxmlformats.org/drawingml/2006/main">
              <a:ext uri="{FF2B5EF4-FFF2-40B4-BE49-F238E27FC236}">
                <a16:creationId xmlns:a16="http://schemas.microsoft.com/office/drawing/2014/main" id="{DDBAFD32-66A7-44C8-9E7B-A304EAF915DE}"/>
              </a:ext>
            </a:extLst>
          </p:cNvPr>
          <p:cNvSpPr>
            <a:spLocks xmlns:a="http://schemas.openxmlformats.org/drawingml/2006/main" noGrp="1"/>
          </p:cNvSpPr>
          <p:nvPr/>
        </p:nvSpPr>
        <p:spPr>
          <a:xfrm xmlns:a="http://schemas.openxmlformats.org/drawingml/2006/main">
            <a:off x="14001750" y="80486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Uitlegvoorbeeld — niet uit het boek">
            <a:extLst xmlns:a="http://schemas.openxmlformats.org/drawingml/2006/main">
              <a:ext uri="{FF2B5EF4-FFF2-40B4-BE49-F238E27FC236}">
                <a16:creationId xmlns:a16="http://schemas.microsoft.com/office/drawing/2014/main" id="{2F64BA62-83DE-4581-9299-166E7BEC1A81}"/>
              </a:ext>
            </a:extLst>
          </p:cNvPr>
          <p:cNvSpPr>
            <a:spLocks xmlns:a="http://schemas.openxmlformats.org/drawingml/2006/main" noGrp="1"/>
          </p:cNvSpPr>
          <p:nvPr/>
        </p:nvSpPr>
        <p:spPr>
          <a:xfrm xmlns:a="http://schemas.openxmlformats.org/drawingml/2006/main">
            <a:off x="571500" y="16478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sp>
        <p:nvSpPr>
          <p:cNvPr id="6" name="Sam verkoopt nu 100 kg per dag voor € 2,50 per kg.">
            <a:extLst xmlns:a="http://schemas.openxmlformats.org/drawingml/2006/main">
              <a:ext uri="{FF2B5EF4-FFF2-40B4-BE49-F238E27FC236}">
                <a16:creationId xmlns:a16="http://schemas.microsoft.com/office/drawing/2014/main" id="{9AB94357-F63C-4081-B65E-FF8369378D6F}"/>
              </a:ext>
            </a:extLst>
          </p:cNvPr>
          <p:cNvSpPr>
            <a:spLocks xmlns:a="http://schemas.openxmlformats.org/drawingml/2006/main" noGrp="1"/>
          </p:cNvSpPr>
          <p:nvPr/>
        </p:nvSpPr>
        <p:spPr>
          <a:xfrm xmlns:a="http://schemas.openxmlformats.org/drawingml/2006/main">
            <a:off x="571500" y="23717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Sam verkoopt nu 100 kg per dag voor € 2,50 per kg.</a:t>
            </a:r>
          </a:p>
        </p:txBody>
      </p:sp>
      <p:sp>
        <p:nvSpPr>
          <p:cNvPr id="7" name="Wat zijn TO en GO, inclusief eenheid?">
            <a:extLst xmlns:a="http://schemas.openxmlformats.org/drawingml/2006/main">
              <a:ext uri="{FF2B5EF4-FFF2-40B4-BE49-F238E27FC236}">
                <a16:creationId xmlns:a16="http://schemas.microsoft.com/office/drawing/2014/main" id="{2A17293B-CDCE-4502-8BFC-02F275BC3EE5}"/>
              </a:ext>
            </a:extLst>
          </p:cNvPr>
          <p:cNvSpPr>
            <a:spLocks xmlns:a="http://schemas.openxmlformats.org/drawingml/2006/main" noGrp="1"/>
          </p:cNvSpPr>
          <p:nvPr/>
        </p:nvSpPr>
        <p:spPr>
          <a:xfrm xmlns:a="http://schemas.openxmlformats.org/drawingml/2006/main">
            <a:off x="571500" y="3638550"/>
            <a:ext cx="14097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Wat zijn TO en GO, inclusief eenheid?</a:t>
            </a:r>
          </a:p>
        </p:txBody>
      </p:sp>
      <p:sp>
        <p:nvSpPr>
          <p:cNvPr id="8" name="Wat is MO als Sam daarna 10 kg extra verkoopt?">
            <a:extLst xmlns:a="http://schemas.openxmlformats.org/drawingml/2006/main">
              <a:ext uri="{FF2B5EF4-FFF2-40B4-BE49-F238E27FC236}">
                <a16:creationId xmlns:a16="http://schemas.microsoft.com/office/drawing/2014/main" id="{F2B9B9A4-2687-4E17-9DC8-26D999AEACA7}"/>
              </a:ext>
            </a:extLst>
          </p:cNvPr>
          <p:cNvSpPr>
            <a:spLocks xmlns:a="http://schemas.openxmlformats.org/drawingml/2006/main" noGrp="1"/>
          </p:cNvSpPr>
          <p:nvPr/>
        </p:nvSpPr>
        <p:spPr>
          <a:xfrm xmlns:a="http://schemas.openxmlformats.org/drawingml/2006/main">
            <a:off x="571500" y="4895850"/>
            <a:ext cx="14097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Wat is MO als Sam daarna 10 kg extra verkoopt?</a:t>
            </a:r>
          </a:p>
        </p:txBody>
      </p:sp>
      <p:sp>
        <p:nvSpPr>
          <p:cNvPr id="9" name="Welke hoeveelheid hoort links: Q of q?">
            <a:extLst xmlns:a="http://schemas.openxmlformats.org/drawingml/2006/main">
              <a:ext uri="{FF2B5EF4-FFF2-40B4-BE49-F238E27FC236}">
                <a16:creationId xmlns:a16="http://schemas.microsoft.com/office/drawing/2014/main" id="{29CCAEA7-7092-406F-B428-583C6505B234}"/>
              </a:ext>
            </a:extLst>
          </p:cNvPr>
          <p:cNvSpPr>
            <a:spLocks xmlns:a="http://schemas.openxmlformats.org/drawingml/2006/main" noGrp="1"/>
          </p:cNvSpPr>
          <p:nvPr/>
        </p:nvSpPr>
        <p:spPr>
          <a:xfrm xmlns:a="http://schemas.openxmlformats.org/drawingml/2006/main">
            <a:off x="571500" y="6153150"/>
            <a:ext cx="14097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Welke hoeveelheid hoort links: Q of q?</a:t>
            </a:r>
          </a:p>
        </p:txBody>
      </p:sp>
    </p:spTree>
    <p:extLst>
      <p:ext uri="{BB962C8B-B14F-4D97-AF65-F5344CB8AC3E}">
        <p14:creationId xmlns:p14="http://schemas.microsoft.com/office/powerpoint/2010/main" val="13293598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2.1 Volkomen concurrentie: kenmerken">
            <a:extLst xmlns:a="http://schemas.openxmlformats.org/drawingml/2006/main">
              <a:ext uri="{FF2B5EF4-FFF2-40B4-BE49-F238E27FC236}">
                <a16:creationId xmlns:a16="http://schemas.microsoft.com/office/drawing/2014/main" id="{3AB3156A-86B4-491F-BE59-2B84A32F272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 les: §3.2.1 Volkomen concurrentie: kenmerken</a:t>
            </a:r>
          </a:p>
        </p:txBody>
      </p:sp>
      <p:sp>
        <p:nvSpPr>
          <p:cNvPr id="2" name="">
            <a:extLst xmlns:a="http://schemas.openxmlformats.org/drawingml/2006/main">
              <a:ext uri="{FF2B5EF4-FFF2-40B4-BE49-F238E27FC236}">
                <a16:creationId xmlns:a16="http://schemas.microsoft.com/office/drawing/2014/main" id="{DF940445-E8D8-4916-B7B0-C33E031B644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1 Volkomen concurrentie">
            <a:extLst xmlns:a="http://schemas.openxmlformats.org/drawingml/2006/main">
              <a:ext uri="{FF2B5EF4-FFF2-40B4-BE49-F238E27FC236}">
                <a16:creationId xmlns:a16="http://schemas.microsoft.com/office/drawing/2014/main" id="{11B19D05-EBF5-48BA-95A0-E48C47FDC6C3}"/>
              </a:ext>
            </a:extLst>
          </p:cNvPr>
          <p:cNvSpPr>
            <a:spLocks xmlns:a="http://schemas.openxmlformats.org/drawingml/2006/main" noGrp="1"/>
          </p:cNvSpPr>
          <p:nvPr/>
        </p:nvSpPr>
        <p:spPr>
          <a:xfrm xmlns:a="http://schemas.openxmlformats.org/drawingml/2006/main">
            <a:off x="571500" y="8077200"/>
            <a:ext cx="1314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§3.2.1 Volkomen concurrentie</a:t>
            </a:r>
          </a:p>
        </p:txBody>
      </p:sp>
      <p:sp>
        <p:nvSpPr>
          <p:cNvPr id="4" name="15">
            <a:extLst xmlns:a="http://schemas.openxmlformats.org/drawingml/2006/main">
              <a:ext uri="{FF2B5EF4-FFF2-40B4-BE49-F238E27FC236}">
                <a16:creationId xmlns:a16="http://schemas.microsoft.com/office/drawing/2014/main" id="{28E15F91-6620-47E3-A79D-15B9D8143D31}"/>
              </a:ext>
            </a:extLst>
          </p:cNvPr>
          <p:cNvSpPr>
            <a:spLocks xmlns:a="http://schemas.openxmlformats.org/drawingml/2006/main" noGrp="1"/>
          </p:cNvSpPr>
          <p:nvPr/>
        </p:nvSpPr>
        <p:spPr>
          <a:xfrm xmlns:a="http://schemas.openxmlformats.org/drawingml/2006/main">
            <a:off x="14001750" y="80486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phase">
            <a:extLst xmlns:a="http://schemas.openxmlformats.org/drawingml/2006/main">
              <a:ext uri="{FF2B5EF4-FFF2-40B4-BE49-F238E27FC236}">
                <a16:creationId xmlns:a16="http://schemas.microsoft.com/office/drawing/2014/main" id="{89E19695-6DA9-4F3F-9D84-2B6639E38DCF}"/>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Oefenen</a:t>
            </a:r>
          </a:p>
        </p:txBody>
      </p:sp>
      <p:sp>
        <p:nvSpPr>
          <p:cNvPr id="6" name="Lesroute">
            <a:extLst xmlns:a="http://schemas.openxmlformats.org/drawingml/2006/main">
              <a:ext uri="{FF2B5EF4-FFF2-40B4-BE49-F238E27FC236}">
                <a16:creationId xmlns:a16="http://schemas.microsoft.com/office/drawing/2014/main" id="{2A5FE9F1-DCE8-4400-9EB1-4686AD2F3D83}"/>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EB17702E-3BE2-449B-88AC-52D19EF86E66}"/>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D311551B-4695-4DD3-86B6-01DBF70588EB}"/>
              </a:ext>
            </a:extLst>
          </p:cNvPr>
          <p:cNvSpPr>
            <a:spLocks xmlns:a="http://schemas.openxmlformats.org/drawingml/2006/main" noGrp="1"/>
          </p:cNvSpPr>
          <p:nvPr/>
        </p:nvSpPr>
        <p:spPr>
          <a:xfrm xmlns:a="http://schemas.openxmlformats.org/drawingml/2006/main">
            <a:off x="1104900" y="2324100"/>
            <a:ext cx="752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49E9BC09-104B-4EFB-88B3-A7122F6929E5}"/>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D31B0BCB-39EB-40F7-AD1C-94A8FD067457}"/>
              </a:ext>
            </a:extLst>
          </p:cNvPr>
          <p:cNvSpPr>
            <a:spLocks xmlns:a="http://schemas.openxmlformats.org/drawingml/2006/main" noGrp="1"/>
          </p:cNvSpPr>
          <p:nvPr/>
        </p:nvSpPr>
        <p:spPr>
          <a:xfrm xmlns:a="http://schemas.openxmlformats.org/drawingml/2006/main">
            <a:off x="1104900" y="320040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3C857057-1F22-4F30-9E1C-10D21CA0FF91}"/>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50F669A2-72B9-4103-8EDA-B9B4F37E0B26}"/>
              </a:ext>
            </a:extLst>
          </p:cNvPr>
          <p:cNvSpPr>
            <a:spLocks xmlns:a="http://schemas.openxmlformats.org/drawingml/2006/main" noGrp="1"/>
          </p:cNvSpPr>
          <p:nvPr/>
        </p:nvSpPr>
        <p:spPr>
          <a:xfrm xmlns:a="http://schemas.openxmlformats.org/drawingml/2006/main">
            <a:off x="1104900" y="37147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CD0059F5-EFF4-412D-85BD-EC553D531528}"/>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C919EA11-7AC6-4740-BEB5-46C79B2B1F28}"/>
              </a:ext>
            </a:extLst>
          </p:cNvPr>
          <p:cNvSpPr>
            <a:spLocks xmlns:a="http://schemas.openxmlformats.org/drawingml/2006/main" noGrp="1"/>
          </p:cNvSpPr>
          <p:nvPr/>
        </p:nvSpPr>
        <p:spPr>
          <a:xfrm xmlns:a="http://schemas.openxmlformats.org/drawingml/2006/main">
            <a:off x="1104900" y="4248150"/>
            <a:ext cx="75247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E171FC67-35AE-488A-8A30-873BD6B2251A}"/>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A65E4D3F-F22E-4F75-B5ED-13CD161196D3}"/>
              </a:ext>
            </a:extLst>
          </p:cNvPr>
          <p:cNvSpPr>
            <a:spLocks xmlns:a="http://schemas.openxmlformats.org/drawingml/2006/main" noGrp="1"/>
          </p:cNvSpPr>
          <p:nvPr/>
        </p:nvSpPr>
        <p:spPr>
          <a:xfrm xmlns:a="http://schemas.openxmlformats.org/drawingml/2006/main">
            <a:off x="1104900" y="6057900"/>
            <a:ext cx="7524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0FEE20BE-A679-4042-8294-BB08463EB8B4}"/>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BC785402-F03B-46EC-B7D8-1761EFA21460}"/>
              </a:ext>
            </a:extLst>
          </p:cNvPr>
          <p:cNvSpPr>
            <a:spLocks xmlns:a="http://schemas.openxmlformats.org/drawingml/2006/main" noGrp="1"/>
          </p:cNvSpPr>
          <p:nvPr/>
        </p:nvSpPr>
        <p:spPr>
          <a:xfrm xmlns:a="http://schemas.openxmlformats.org/drawingml/2006/main">
            <a:off x="1104900" y="681990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7">
            <a:extLst xmlns:a="http://schemas.openxmlformats.org/drawingml/2006/main">
              <a:ext uri="{FF2B5EF4-FFF2-40B4-BE49-F238E27FC236}">
                <a16:creationId xmlns:a16="http://schemas.microsoft.com/office/drawing/2014/main" id="{498E2DEB-3E8A-43D6-A3B5-8BD740BCA749}"/>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661EEEE4-D126-4A1C-8407-349135E666E5}"/>
              </a:ext>
            </a:extLst>
          </p:cNvPr>
          <p:cNvSpPr>
            <a:spLocks xmlns:a="http://schemas.openxmlformats.org/drawingml/2006/main" noGrp="1"/>
          </p:cNvSpPr>
          <p:nvPr/>
        </p:nvSpPr>
        <p:spPr>
          <a:xfrm xmlns:a="http://schemas.openxmlformats.org/drawingml/2006/main">
            <a:off x="1104900" y="7372350"/>
            <a:ext cx="752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4ECCDC70-6FAD-4F49-A26A-935CF5D52DF7}"/>
              </a:ext>
            </a:extLst>
          </p:cNvPr>
          <p:cNvSpPr>
            <a:spLocks xmlns:a="http://schemas.openxmlformats.org/drawingml/2006/main" noGrp="1"/>
          </p:cNvSpPr>
          <p:nvPr/>
        </p:nvSpPr>
        <p:spPr>
          <a:xfrm xmlns:a="http://schemas.openxmlformats.org/drawingml/2006/main">
            <a:off x="9258300" y="1762125"/>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278E12FC-3C2C-4E35-A6DA-3D61B36C9584}"/>
              </a:ext>
            </a:extLst>
          </p:cNvPr>
          <p:cNvSpPr>
            <a:spLocks xmlns:a="http://schemas.openxmlformats.org/drawingml/2006/main" noGrp="1"/>
          </p:cNvSpPr>
          <p:nvPr/>
        </p:nvSpPr>
        <p:spPr>
          <a:xfrm xmlns:a="http://schemas.openxmlformats.org/drawingml/2006/main">
            <a:off x="9258300" y="2286000"/>
            <a:ext cx="54102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Prijsnemerschap verklaren,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marktprijs overnemen 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TO, GO en MO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Een prijskeuze beoordelen.</a:t>
            </a:r>
          </a:p>
        </p:txBody>
      </p:sp>
      <p:sp>
        <p:nvSpPr>
          <p:cNvPr id="23" name="">
            <a:extLst xmlns:a="http://schemas.openxmlformats.org/drawingml/2006/main">
              <a:ext uri="{FF2B5EF4-FFF2-40B4-BE49-F238E27FC236}">
                <a16:creationId xmlns:a16="http://schemas.microsoft.com/office/drawing/2014/main" id="{AE0DE515-60CC-460E-A956-9EB53BCE9B53}"/>
              </a:ext>
            </a:extLst>
          </p:cNvPr>
          <p:cNvSpPr>
            <a:spLocks xmlns:a="http://schemas.openxmlformats.org/drawingml/2006/main" noGrp="1"/>
          </p:cNvSpPr>
          <p:nvPr/>
        </p:nvSpPr>
        <p:spPr>
          <a:xfrm xmlns:a="http://schemas.openxmlformats.org/drawingml/2006/main">
            <a:off x="9258300" y="3724275"/>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FBF83F22-13DE-4C30-ACCB-CCB53523541E}"/>
              </a:ext>
            </a:extLst>
          </p:cNvPr>
          <p:cNvSpPr>
            <a:spLocks xmlns:a="http://schemas.openxmlformats.org/drawingml/2006/main" noGrp="1"/>
          </p:cNvSpPr>
          <p:nvPr/>
        </p:nvSpPr>
        <p:spPr>
          <a:xfrm xmlns:a="http://schemas.openxmlformats.org/drawingml/2006/main">
            <a:off x="9258300" y="3886200"/>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5AD714EB-AA20-48C2-9DFB-0DF148A20588}"/>
              </a:ext>
            </a:extLst>
          </p:cNvPr>
          <p:cNvSpPr>
            <a:spLocks xmlns:a="http://schemas.openxmlformats.org/drawingml/2006/main" noGrp="1"/>
          </p:cNvSpPr>
          <p:nvPr/>
        </p:nvSpPr>
        <p:spPr>
          <a:xfrm xmlns:a="http://schemas.openxmlformats.org/drawingml/2006/main">
            <a:off x="9258300" y="4381500"/>
            <a:ext cx="5410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57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met theorie</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op pagina 54–55</a:t>
            </a:r>
          </a:p>
        </p:txBody>
      </p:sp>
      <p:sp>
        <p:nvSpPr>
          <p:cNvPr id="26" name="">
            <a:extLst xmlns:a="http://schemas.openxmlformats.org/drawingml/2006/main">
              <a:ext uri="{FF2B5EF4-FFF2-40B4-BE49-F238E27FC236}">
                <a16:creationId xmlns:a16="http://schemas.microsoft.com/office/drawing/2014/main" id="{18352211-8F5A-4D41-8DD3-C64813078103}"/>
              </a:ext>
            </a:extLst>
          </p:cNvPr>
          <p:cNvSpPr>
            <a:spLocks xmlns:a="http://schemas.openxmlformats.org/drawingml/2006/main" noGrp="1"/>
          </p:cNvSpPr>
          <p:nvPr/>
        </p:nvSpPr>
        <p:spPr>
          <a:xfrm xmlns:a="http://schemas.openxmlformats.org/drawingml/2006/main">
            <a:off x="9258300" y="55816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FDC1B43A-6E9C-4EA8-9ED4-D8186405D554}"/>
              </a:ext>
            </a:extLst>
          </p:cNvPr>
          <p:cNvSpPr>
            <a:spLocks xmlns:a="http://schemas.openxmlformats.org/drawingml/2006/main" noGrp="1"/>
          </p:cNvSpPr>
          <p:nvPr/>
        </p:nvSpPr>
        <p:spPr>
          <a:xfrm xmlns:a="http://schemas.openxmlformats.org/drawingml/2006/main">
            <a:off x="9258300" y="5753100"/>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FCA20F12-87F3-425E-A835-C36021C0720D}"/>
              </a:ext>
            </a:extLst>
          </p:cNvPr>
          <p:cNvSpPr>
            <a:spLocks xmlns:a="http://schemas.openxmlformats.org/drawingml/2006/main" noGrp="1"/>
          </p:cNvSpPr>
          <p:nvPr/>
        </p:nvSpPr>
        <p:spPr>
          <a:xfrm xmlns:a="http://schemas.openxmlformats.org/drawingml/2006/main">
            <a:off x="9258300" y="6257925"/>
            <a:ext cx="54102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§3.2.1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 en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4595238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Doelopgave 7: Wortelveiling">
            <a:extLst xmlns:a="http://schemas.openxmlformats.org/drawingml/2006/main">
              <a:ext uri="{FF2B5EF4-FFF2-40B4-BE49-F238E27FC236}">
                <a16:creationId xmlns:a16="http://schemas.microsoft.com/office/drawing/2014/main" id="{B2479DC7-F78C-493D-8708-B71C016D476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Doelopgave 7: Wortelveiling</a:t>
            </a:r>
          </a:p>
        </p:txBody>
      </p:sp>
      <p:sp>
        <p:nvSpPr>
          <p:cNvPr id="2" name="">
            <a:extLst xmlns:a="http://schemas.openxmlformats.org/drawingml/2006/main">
              <a:ext uri="{FF2B5EF4-FFF2-40B4-BE49-F238E27FC236}">
                <a16:creationId xmlns:a16="http://schemas.microsoft.com/office/drawing/2014/main" id="{E0450765-31F6-4BFC-9B51-95A61F59115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1 Volkomen concurrentie · Opgave 7 · Boekpagina 60">
            <a:extLst xmlns:a="http://schemas.openxmlformats.org/drawingml/2006/main">
              <a:ext uri="{FF2B5EF4-FFF2-40B4-BE49-F238E27FC236}">
                <a16:creationId xmlns:a16="http://schemas.microsoft.com/office/drawing/2014/main" id="{1BBFAC05-CEE3-4CAE-8CFD-5C9586E219EF}"/>
              </a:ext>
            </a:extLst>
          </p:cNvPr>
          <p:cNvSpPr>
            <a:spLocks xmlns:a="http://schemas.openxmlformats.org/drawingml/2006/main" noGrp="1"/>
          </p:cNvSpPr>
          <p:nvPr/>
        </p:nvSpPr>
        <p:spPr>
          <a:xfrm xmlns:a="http://schemas.openxmlformats.org/drawingml/2006/main">
            <a:off x="571500" y="8077200"/>
            <a:ext cx="1314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§3.2.1 Volkomen concurrentie · Opgave 7 · Boekpagina 60</a:t>
            </a:r>
          </a:p>
        </p:txBody>
      </p:sp>
      <p:sp>
        <p:nvSpPr>
          <p:cNvPr id="4" name="16">
            <a:extLst xmlns:a="http://schemas.openxmlformats.org/drawingml/2006/main">
              <a:ext uri="{FF2B5EF4-FFF2-40B4-BE49-F238E27FC236}">
                <a16:creationId xmlns:a16="http://schemas.microsoft.com/office/drawing/2014/main" id="{16F2BF56-CD7D-4E28-BFE5-B3B5236C9B6D}"/>
              </a:ext>
            </a:extLst>
          </p:cNvPr>
          <p:cNvSpPr>
            <a:spLocks xmlns:a="http://schemas.openxmlformats.org/drawingml/2006/main" noGrp="1"/>
          </p:cNvSpPr>
          <p:nvPr/>
        </p:nvSpPr>
        <p:spPr>
          <a:xfrm xmlns:a="http://schemas.openxmlformats.org/drawingml/2006/main">
            <a:off x="14001750" y="80486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Veel kleine telers bieden wortelen van dezelfde kwaliteit aan. Kopers ">
            <a:extLst xmlns:a="http://schemas.openxmlformats.org/drawingml/2006/main">
              <a:ext uri="{FF2B5EF4-FFF2-40B4-BE49-F238E27FC236}">
                <a16:creationId xmlns:a16="http://schemas.microsoft.com/office/drawing/2014/main" id="{B367CB5A-72CA-4631-B679-A94A29A59D24}"/>
              </a:ext>
            </a:extLst>
          </p:cNvPr>
          <p:cNvSpPr>
            <a:spLocks xmlns:a="http://schemas.openxmlformats.org/drawingml/2006/main" noGrp="1"/>
          </p:cNvSpPr>
          <p:nvPr/>
        </p:nvSpPr>
        <p:spPr>
          <a:xfrm xmlns:a="http://schemas.openxmlformats.org/drawingml/2006/main">
            <a:off x="571500" y="1733550"/>
            <a:ext cx="140970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Veel kleine telers bieden wortelen van dezelfde kwaliteit aan. Kopers kennen alle prijzen. Beginnen of stoppen is vrij. Teler Mila kan tot 160 kg per dag leveren en bij de marktprijs verkopen.</a:t>
            </a:r>
          </a:p>
        </p:txBody>
      </p:sp>
      <p:sp>
        <p:nvSpPr>
          <p:cNvPr id="6" name="De hele markt">
            <a:extLst xmlns:a="http://schemas.openxmlformats.org/drawingml/2006/main">
              <a:ext uri="{FF2B5EF4-FFF2-40B4-BE49-F238E27FC236}">
                <a16:creationId xmlns:a16="http://schemas.microsoft.com/office/drawing/2014/main" id="{3E36BDFB-6437-46ED-9B09-146521FBFBD4}"/>
              </a:ext>
            </a:extLst>
          </p:cNvPr>
          <p:cNvSpPr>
            <a:spLocks xmlns:a="http://schemas.openxmlformats.org/drawingml/2006/main" noGrp="1"/>
          </p:cNvSpPr>
          <p:nvPr/>
        </p:nvSpPr>
        <p:spPr>
          <a:xfrm xmlns:a="http://schemas.openxmlformats.org/drawingml/2006/main">
            <a:off x="571500" y="3419475"/>
            <a:ext cx="685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De hele markt</a:t>
            </a:r>
          </a:p>
        </p:txBody>
      </p:sp>
      <p:sp>
        <p:nvSpPr>
          <p:cNvPr id="7" name="Eén onderneming: Mila">
            <a:extLst xmlns:a="http://schemas.openxmlformats.org/drawingml/2006/main">
              <a:ext uri="{FF2B5EF4-FFF2-40B4-BE49-F238E27FC236}">
                <a16:creationId xmlns:a16="http://schemas.microsoft.com/office/drawing/2014/main" id="{9A46AE9F-6CD1-4230-B73E-DEBC8B218375}"/>
              </a:ext>
            </a:extLst>
          </p:cNvPr>
          <p:cNvSpPr>
            <a:spLocks xmlns:a="http://schemas.openxmlformats.org/drawingml/2006/main" noGrp="1"/>
          </p:cNvSpPr>
          <p:nvPr/>
        </p:nvSpPr>
        <p:spPr>
          <a:xfrm xmlns:a="http://schemas.openxmlformats.org/drawingml/2006/main">
            <a:off x="8096250" y="3419475"/>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Eén onderneming: Mila</a:t>
            </a:r>
          </a:p>
        </p:txBody>
      </p:sp>
      <p:graphicFrame>
        <p:nvGraphicFramePr>
          <p:cNvPr id="18" name="Chart"/>
          <p:cNvGraphicFramePr/>
          <p:nvPr/>
        </p:nvGraphicFramePr>
        <p:xfrm>
          <a:off xmlns:a="http://schemas.openxmlformats.org/drawingml/2006/main" x="571500" y="3914775"/>
          <a:ext xmlns:a="http://schemas.openxmlformats.org/drawingml/2006/main" cx="6858000" cy="3476625"/>
        </p:xfrm>
        <a:graphic xmlns:a="http://schemas.openxmlformats.org/drawingml/2006/main">
          <a:graphicData uri="http://schemas.openxmlformats.org/drawingml/2006/chart">
            <c:chart xmlns:r="http://schemas.openxmlformats.org/officeDocument/2006/relationships" xmlns:c="http://schemas.openxmlformats.org/drawingml/2006/chart" r:id="Rf47ef5c3719b47ff"/>
          </a:graphicData>
        </a:graphic>
      </p:graphicFrame>
      <p:graphicFrame>
        <p:nvGraphicFramePr>
          <p:cNvPr id="19" name="Chart"/>
          <p:cNvGraphicFramePr/>
          <p:nvPr/>
        </p:nvGraphicFramePr>
        <p:xfrm>
          <a:off xmlns:a="http://schemas.openxmlformats.org/drawingml/2006/main" x="8096250" y="3914775"/>
          <a:ext xmlns:a="http://schemas.openxmlformats.org/drawingml/2006/main" cx="6572250" cy="3476625"/>
        </p:xfrm>
        <a:graphic xmlns:a="http://schemas.openxmlformats.org/drawingml/2006/main">
          <a:graphicData uri="http://schemas.openxmlformats.org/drawingml/2006/chart">
            <c:chart xmlns:r="http://schemas.openxmlformats.org/officeDocument/2006/relationships" xmlns:c="http://schemas.openxmlformats.org/drawingml/2006/chart" r:id="R8c43c08a548c4b8f"/>
          </a:graphicData>
        </a:graphic>
      </p:graphicFrame>
      <p:sp>
        <p:nvSpPr>
          <p:cNvPr id="10" name="Figuur 5. Vul alleen de ontbrekende lijn en labels in de ondernemingsg">
            <a:extLst xmlns:a="http://schemas.openxmlformats.org/drawingml/2006/main">
              <a:ext uri="{FF2B5EF4-FFF2-40B4-BE49-F238E27FC236}">
                <a16:creationId xmlns:a16="http://schemas.microsoft.com/office/drawing/2014/main" id="{6C57460B-810B-4789-959F-81D0FEA76ADF}"/>
              </a:ext>
            </a:extLst>
          </p:cNvPr>
          <p:cNvSpPr>
            <a:spLocks xmlns:a="http://schemas.openxmlformats.org/drawingml/2006/main" noGrp="1"/>
          </p:cNvSpPr>
          <p:nvPr/>
        </p:nvSpPr>
        <p:spPr>
          <a:xfrm xmlns:a="http://schemas.openxmlformats.org/drawingml/2006/main">
            <a:off x="571500" y="75152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3247"/>
                </a:solidFill>
                <a:latin typeface="Arial"/>
                <a:ea typeface="Arial"/>
                <a:cs typeface="Arial"/>
              </a:defRPr>
            </a:pPr>
            <a:r>
              <a:rPr sz="2100" b="0">
                <a:solidFill>
                  <a:srgbClr val="183247"/>
                </a:solidFill>
                <a:latin typeface="Arial"/>
                <a:ea typeface="Arial"/>
                <a:cs typeface="Arial"/>
              </a:rPr>
              <a:t>Figuur 5. Vul alleen de ontbrekende lijn en labels in de ondernemingsgrafiek aan.</a:t>
            </a:r>
          </a:p>
        </p:txBody>
      </p:sp>
    </p:spTree>
    <p:extLst>
      <p:ext uri="{BB962C8B-B14F-4D97-AF65-F5344CB8AC3E}">
        <p14:creationId xmlns:p14="http://schemas.microsoft.com/office/powerpoint/2010/main" val="150979238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 vragen a, b en c">
            <a:extLst xmlns:a="http://schemas.openxmlformats.org/drawingml/2006/main">
              <a:ext uri="{FF2B5EF4-FFF2-40B4-BE49-F238E27FC236}">
                <a16:creationId xmlns:a16="http://schemas.microsoft.com/office/drawing/2014/main" id="{C5428B24-9E93-471D-8F6F-F8BFC71CCE5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 vragen a, b en c</a:t>
            </a:r>
          </a:p>
        </p:txBody>
      </p:sp>
      <p:sp>
        <p:nvSpPr>
          <p:cNvPr id="2" name="">
            <a:extLst xmlns:a="http://schemas.openxmlformats.org/drawingml/2006/main">
              <a:ext uri="{FF2B5EF4-FFF2-40B4-BE49-F238E27FC236}">
                <a16:creationId xmlns:a16="http://schemas.microsoft.com/office/drawing/2014/main" id="{8E3BBCDD-EB7C-4FD8-BB7C-FA51BDE5DC0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1 Volkomen concurrentie · Opgave 7 · Boekpagina 60">
            <a:extLst xmlns:a="http://schemas.openxmlformats.org/drawingml/2006/main">
              <a:ext uri="{FF2B5EF4-FFF2-40B4-BE49-F238E27FC236}">
                <a16:creationId xmlns:a16="http://schemas.microsoft.com/office/drawing/2014/main" id="{23D3F722-9799-42D9-9E4A-835B28655F23}"/>
              </a:ext>
            </a:extLst>
          </p:cNvPr>
          <p:cNvSpPr>
            <a:spLocks xmlns:a="http://schemas.openxmlformats.org/drawingml/2006/main" noGrp="1"/>
          </p:cNvSpPr>
          <p:nvPr/>
        </p:nvSpPr>
        <p:spPr>
          <a:xfrm xmlns:a="http://schemas.openxmlformats.org/drawingml/2006/main">
            <a:off x="571500" y="8077200"/>
            <a:ext cx="1314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§3.2.1 Volkomen concurrentie · Opgave 7 · Boekpagina 60</a:t>
            </a:r>
          </a:p>
        </p:txBody>
      </p:sp>
      <p:sp>
        <p:nvSpPr>
          <p:cNvPr id="4" name="17">
            <a:extLst xmlns:a="http://schemas.openxmlformats.org/drawingml/2006/main">
              <a:ext uri="{FF2B5EF4-FFF2-40B4-BE49-F238E27FC236}">
                <a16:creationId xmlns:a16="http://schemas.microsoft.com/office/drawing/2014/main" id="{E30AE9B9-1979-4E6D-B6CC-A6348D45132A}"/>
              </a:ext>
            </a:extLst>
          </p:cNvPr>
          <p:cNvSpPr>
            <a:spLocks xmlns:a="http://schemas.openxmlformats.org/drawingml/2006/main" noGrp="1"/>
          </p:cNvSpPr>
          <p:nvPr/>
        </p:nvSpPr>
        <p:spPr>
          <a:xfrm xmlns:a="http://schemas.openxmlformats.org/drawingml/2006/main">
            <a:off x="14001750" y="80486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a. (2p) Lees de marktprijs en de markthoeveelheid af. Noem één kenmerk">
            <a:extLst xmlns:a="http://schemas.openxmlformats.org/drawingml/2006/main">
              <a:ext uri="{FF2B5EF4-FFF2-40B4-BE49-F238E27FC236}">
                <a16:creationId xmlns:a16="http://schemas.microsoft.com/office/drawing/2014/main" id="{EEDEEE35-9194-4CA8-A57E-86A1E051256B}"/>
              </a:ext>
            </a:extLst>
          </p:cNvPr>
          <p:cNvSpPr>
            <a:spLocks xmlns:a="http://schemas.openxmlformats.org/drawingml/2006/main" noGrp="1"/>
          </p:cNvSpPr>
          <p:nvPr/>
        </p:nvSpPr>
        <p:spPr>
          <a:xfrm xmlns:a="http://schemas.openxmlformats.org/drawingml/2006/main">
            <a:off x="571500" y="2105025"/>
            <a:ext cx="140970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a. (2p) Lees de marktprijs en de markthoeveelheid af. Noem één kenmerk uit de bron dat prijsnemerschap ondersteunt.</a:t>
            </a:r>
          </a:p>
        </p:txBody>
      </p:sp>
      <p:sp>
        <p:nvSpPr>
          <p:cNvPr id="6" name="b. (2p) Teken rechts de opbrengstlijn van Mila. Label die als P = GO =">
            <a:extLst xmlns:a="http://schemas.openxmlformats.org/drawingml/2006/main">
              <a:ext uri="{FF2B5EF4-FFF2-40B4-BE49-F238E27FC236}">
                <a16:creationId xmlns:a16="http://schemas.microsoft.com/office/drawing/2014/main" id="{AAA0945C-4E31-40A7-B1E5-199B82308986}"/>
              </a:ext>
            </a:extLst>
          </p:cNvPr>
          <p:cNvSpPr>
            <a:spLocks xmlns:a="http://schemas.openxmlformats.org/drawingml/2006/main" noGrp="1"/>
          </p:cNvSpPr>
          <p:nvPr/>
        </p:nvSpPr>
        <p:spPr>
          <a:xfrm xmlns:a="http://schemas.openxmlformats.org/drawingml/2006/main">
            <a:off x="571500" y="3914775"/>
            <a:ext cx="14097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b. (2p) Teken rechts de opbrengstlijn van Mila. Label die als P = GO = MO.</a:t>
            </a:r>
          </a:p>
        </p:txBody>
      </p:sp>
      <p:sp>
        <p:nvSpPr>
          <p:cNvPr id="7" name="c. (3p) Bereken bij q = 120 kg de TO en GO. Bereken MO wanneer Mila va">
            <a:extLst xmlns:a="http://schemas.openxmlformats.org/drawingml/2006/main">
              <a:ext uri="{FF2B5EF4-FFF2-40B4-BE49-F238E27FC236}">
                <a16:creationId xmlns:a16="http://schemas.microsoft.com/office/drawing/2014/main" id="{966760F8-CAB7-46BC-A6DE-855142D5294D}"/>
              </a:ext>
            </a:extLst>
          </p:cNvPr>
          <p:cNvSpPr>
            <a:spLocks xmlns:a="http://schemas.openxmlformats.org/drawingml/2006/main" noGrp="1"/>
          </p:cNvSpPr>
          <p:nvPr/>
        </p:nvSpPr>
        <p:spPr>
          <a:xfrm xmlns:a="http://schemas.openxmlformats.org/drawingml/2006/main">
            <a:off x="571500" y="5829300"/>
            <a:ext cx="14097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c. (3p) Bereken bij q = 120 kg de TO en GO. Bereken MO wanneer Mila van 120 naar 140 kg gaat.</a:t>
            </a:r>
          </a:p>
        </p:txBody>
      </p:sp>
    </p:spTree>
    <p:extLst>
      <p:ext uri="{BB962C8B-B14F-4D97-AF65-F5344CB8AC3E}">
        <p14:creationId xmlns:p14="http://schemas.microsoft.com/office/powerpoint/2010/main" val="59327178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7: vragen d en e">
            <a:extLst xmlns:a="http://schemas.openxmlformats.org/drawingml/2006/main">
              <a:ext uri="{FF2B5EF4-FFF2-40B4-BE49-F238E27FC236}">
                <a16:creationId xmlns:a16="http://schemas.microsoft.com/office/drawing/2014/main" id="{5781D1D4-AD51-4DA6-B55C-2EE50DA4A10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 vragen d en e</a:t>
            </a:r>
          </a:p>
        </p:txBody>
      </p:sp>
      <p:sp>
        <p:nvSpPr>
          <p:cNvPr id="2" name="">
            <a:extLst xmlns:a="http://schemas.openxmlformats.org/drawingml/2006/main">
              <a:ext uri="{FF2B5EF4-FFF2-40B4-BE49-F238E27FC236}">
                <a16:creationId xmlns:a16="http://schemas.microsoft.com/office/drawing/2014/main" id="{C36AADC1-D8CB-44FF-8B06-1ABE92D7EF2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1 Volkomen concurrentie · Opgave 7 · Boekpagina 60">
            <a:extLst xmlns:a="http://schemas.openxmlformats.org/drawingml/2006/main">
              <a:ext uri="{FF2B5EF4-FFF2-40B4-BE49-F238E27FC236}">
                <a16:creationId xmlns:a16="http://schemas.microsoft.com/office/drawing/2014/main" id="{A0B62245-4590-4578-B0F4-983E99499B33}"/>
              </a:ext>
            </a:extLst>
          </p:cNvPr>
          <p:cNvSpPr>
            <a:spLocks xmlns:a="http://schemas.openxmlformats.org/drawingml/2006/main" noGrp="1"/>
          </p:cNvSpPr>
          <p:nvPr/>
        </p:nvSpPr>
        <p:spPr>
          <a:xfrm xmlns:a="http://schemas.openxmlformats.org/drawingml/2006/main">
            <a:off x="571500" y="8077200"/>
            <a:ext cx="1314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§3.2.1 Volkomen concurrentie · Opgave 7 · Boekpagina 60</a:t>
            </a:r>
          </a:p>
        </p:txBody>
      </p:sp>
      <p:sp>
        <p:nvSpPr>
          <p:cNvPr id="4" name="18">
            <a:extLst xmlns:a="http://schemas.openxmlformats.org/drawingml/2006/main">
              <a:ext uri="{FF2B5EF4-FFF2-40B4-BE49-F238E27FC236}">
                <a16:creationId xmlns:a16="http://schemas.microsoft.com/office/drawing/2014/main" id="{3F23FBF7-54EA-4B9B-8E26-7ACBA2CEC317}"/>
              </a:ext>
            </a:extLst>
          </p:cNvPr>
          <p:cNvSpPr>
            <a:spLocks xmlns:a="http://schemas.openxmlformats.org/drawingml/2006/main" noGrp="1"/>
          </p:cNvSpPr>
          <p:nvPr/>
        </p:nvSpPr>
        <p:spPr>
          <a:xfrm xmlns:a="http://schemas.openxmlformats.org/drawingml/2006/main">
            <a:off x="14001750" y="80486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d. (2p) Mila overweegt € 3,20 te vragen.&#10;Leg uit waarom zij in dit mod">
            <a:extLst xmlns:a="http://schemas.openxmlformats.org/drawingml/2006/main">
              <a:ext uri="{FF2B5EF4-FFF2-40B4-BE49-F238E27FC236}">
                <a16:creationId xmlns:a16="http://schemas.microsoft.com/office/drawing/2014/main" id="{203E7BB1-D38A-4CFD-A41F-2DB299FB4640}"/>
              </a:ext>
            </a:extLst>
          </p:cNvPr>
          <p:cNvSpPr>
            <a:spLocks xmlns:a="http://schemas.openxmlformats.org/drawingml/2006/main" noGrp="1"/>
          </p:cNvSpPr>
          <p:nvPr/>
        </p:nvSpPr>
        <p:spPr>
          <a:xfrm xmlns:a="http://schemas.openxmlformats.org/drawingml/2006/main">
            <a:off x="571500" y="2371725"/>
            <a:ext cx="140970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d. (2p) Mila overweegt € 3,20 te vragen.</a:t>
            </a:r>
          </a:p>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Leg uit waarom zij in dit model daardoor haar kopers verliest.</a:t>
            </a:r>
          </a:p>
        </p:txBody>
      </p:sp>
      <p:sp>
        <p:nvSpPr>
          <p:cNvPr id="6" name="e. (2p) Een klasgenoot zegt: “De markt verkoopt 4.000 kg, dus de lijn ">
            <a:extLst xmlns:a="http://schemas.openxmlformats.org/drawingml/2006/main">
              <a:ext uri="{FF2B5EF4-FFF2-40B4-BE49-F238E27FC236}">
                <a16:creationId xmlns:a16="http://schemas.microsoft.com/office/drawing/2014/main" id="{7DD52E90-5A92-4283-A488-4E30D9ACFB48}"/>
              </a:ext>
            </a:extLst>
          </p:cNvPr>
          <p:cNvSpPr>
            <a:spLocks xmlns:a="http://schemas.openxmlformats.org/drawingml/2006/main" noGrp="1"/>
          </p:cNvSpPr>
          <p:nvPr/>
        </p:nvSpPr>
        <p:spPr>
          <a:xfrm xmlns:a="http://schemas.openxmlformats.org/drawingml/2006/main">
            <a:off x="571500" y="4791075"/>
            <a:ext cx="14097000"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e. (2p) Een klasgenoot zegt: “De markt verkoopt 4.000 kg, dus de lijn van Mila moet bij q = 4.000 eindigen.” Leg de fout uit.</a:t>
            </a:r>
          </a:p>
        </p:txBody>
      </p:sp>
    </p:spTree>
    <p:extLst>
      <p:ext uri="{BB962C8B-B14F-4D97-AF65-F5344CB8AC3E}">
        <p14:creationId xmlns:p14="http://schemas.microsoft.com/office/powerpoint/2010/main" val="47158036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7a: evenwicht en prijsnemerschap">
            <a:extLst xmlns:a="http://schemas.openxmlformats.org/drawingml/2006/main">
              <a:ext uri="{FF2B5EF4-FFF2-40B4-BE49-F238E27FC236}">
                <a16:creationId xmlns:a16="http://schemas.microsoft.com/office/drawing/2014/main" id="{D241E479-4695-42C6-8D9F-5D9376380FD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7a: evenwicht en prijsnemerschap</a:t>
            </a:r>
          </a:p>
        </p:txBody>
      </p:sp>
      <p:sp>
        <p:nvSpPr>
          <p:cNvPr id="2" name="">
            <a:extLst xmlns:a="http://schemas.openxmlformats.org/drawingml/2006/main">
              <a:ext uri="{FF2B5EF4-FFF2-40B4-BE49-F238E27FC236}">
                <a16:creationId xmlns:a16="http://schemas.microsoft.com/office/drawing/2014/main" id="{6FC10A7F-48ED-4BFF-806A-EA54E351EDC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1 Volkomen concurrentie · Opgave 7 · Boekpagina 60">
            <a:extLst xmlns:a="http://schemas.openxmlformats.org/drawingml/2006/main">
              <a:ext uri="{FF2B5EF4-FFF2-40B4-BE49-F238E27FC236}">
                <a16:creationId xmlns:a16="http://schemas.microsoft.com/office/drawing/2014/main" id="{64E1F32D-C609-4B90-BC73-25E7B0BCA68A}"/>
              </a:ext>
            </a:extLst>
          </p:cNvPr>
          <p:cNvSpPr>
            <a:spLocks xmlns:a="http://schemas.openxmlformats.org/drawingml/2006/main" noGrp="1"/>
          </p:cNvSpPr>
          <p:nvPr/>
        </p:nvSpPr>
        <p:spPr>
          <a:xfrm xmlns:a="http://schemas.openxmlformats.org/drawingml/2006/main">
            <a:off x="571500" y="8077200"/>
            <a:ext cx="1314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§3.2.1 Volkomen concurrentie · Opgave 7 · Boekpagina 60</a:t>
            </a:r>
          </a:p>
        </p:txBody>
      </p:sp>
      <p:sp>
        <p:nvSpPr>
          <p:cNvPr id="4" name="19">
            <a:extLst xmlns:a="http://schemas.openxmlformats.org/drawingml/2006/main">
              <a:ext uri="{FF2B5EF4-FFF2-40B4-BE49-F238E27FC236}">
                <a16:creationId xmlns:a16="http://schemas.microsoft.com/office/drawing/2014/main" id="{6EFE15CD-A652-4ACB-8112-6BEE59BA2A83}"/>
              </a:ext>
            </a:extLst>
          </p:cNvPr>
          <p:cNvSpPr>
            <a:spLocks xmlns:a="http://schemas.openxmlformats.org/drawingml/2006/main" noGrp="1"/>
          </p:cNvSpPr>
          <p:nvPr/>
        </p:nvSpPr>
        <p:spPr>
          <a:xfrm xmlns:a="http://schemas.openxmlformats.org/drawingml/2006/main">
            <a:off x="14001750" y="80486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graphicFrame>
        <p:nvGraphicFramePr>
          <p:cNvPr id="14" name="Chart"/>
          <p:cNvGraphicFramePr/>
          <p:nvPr/>
        </p:nvGraphicFramePr>
        <p:xfrm>
          <a:off xmlns:a="http://schemas.openxmlformats.org/drawingml/2006/main" x="571500" y="2009775"/>
          <a:ext xmlns:a="http://schemas.openxmlformats.org/drawingml/2006/main" cx="9525000" cy="5467350"/>
        </p:xfrm>
        <a:graphic xmlns:a="http://schemas.openxmlformats.org/drawingml/2006/main">
          <a:graphicData uri="http://schemas.openxmlformats.org/drawingml/2006/chart">
            <c:chart xmlns:r="http://schemas.openxmlformats.org/officeDocument/2006/relationships" xmlns:c="http://schemas.openxmlformats.org/drawingml/2006/chart" r:id="R78bef177991b49c1"/>
          </a:graphicData>
        </a:graphic>
      </p:graphicFrame>
      <p:sp>
        <p:nvSpPr>
          <p:cNvPr id="6" name="P = € 3 per kg">
            <a:extLst xmlns:a="http://schemas.openxmlformats.org/drawingml/2006/main">
              <a:ext uri="{FF2B5EF4-FFF2-40B4-BE49-F238E27FC236}">
                <a16:creationId xmlns:a16="http://schemas.microsoft.com/office/drawing/2014/main" id="{AE242FA0-FE01-4280-BEE2-7BE62D12B293}"/>
              </a:ext>
            </a:extLst>
          </p:cNvPr>
          <p:cNvSpPr>
            <a:spLocks xmlns:a="http://schemas.openxmlformats.org/drawingml/2006/main" noGrp="1"/>
          </p:cNvSpPr>
          <p:nvPr/>
        </p:nvSpPr>
        <p:spPr>
          <a:xfrm xmlns:a="http://schemas.openxmlformats.org/drawingml/2006/main">
            <a:off x="10572750" y="2276475"/>
            <a:ext cx="4095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A5276"/>
                </a:solidFill>
                <a:latin typeface="Arial"/>
                <a:ea typeface="Arial"/>
                <a:cs typeface="Arial"/>
              </a:defRPr>
            </a:pPr>
            <a:r>
              <a:rPr sz="3075" b="1">
                <a:solidFill>
                  <a:srgbClr val="1A5276"/>
                </a:solidFill>
                <a:latin typeface="Arial"/>
                <a:ea typeface="Arial"/>
                <a:cs typeface="Arial"/>
              </a:rPr>
              <a:t>P = € 3 per kg</a:t>
            </a:r>
          </a:p>
        </p:txBody>
      </p:sp>
      <p:sp>
        <p:nvSpPr>
          <p:cNvPr id="7" name="Q = 4 × 1.000&#10;= 4.000 kg per dag">
            <a:extLst xmlns:a="http://schemas.openxmlformats.org/drawingml/2006/main">
              <a:ext uri="{FF2B5EF4-FFF2-40B4-BE49-F238E27FC236}">
                <a16:creationId xmlns:a16="http://schemas.microsoft.com/office/drawing/2014/main" id="{ACD5A634-E40E-4C23-812E-50FD57DBBB97}"/>
              </a:ext>
            </a:extLst>
          </p:cNvPr>
          <p:cNvSpPr>
            <a:spLocks xmlns:a="http://schemas.openxmlformats.org/drawingml/2006/main" noGrp="1"/>
          </p:cNvSpPr>
          <p:nvPr/>
        </p:nvSpPr>
        <p:spPr>
          <a:xfrm xmlns:a="http://schemas.openxmlformats.org/drawingml/2006/main">
            <a:off x="10572750" y="3448050"/>
            <a:ext cx="4095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Q = 4 × 1.000</a:t>
            </a:r>
          </a:p>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 4.000 kg per dag</a:t>
            </a:r>
          </a:p>
        </p:txBody>
      </p:sp>
      <p:sp>
        <p:nvSpPr>
          <p:cNvPr id="8" name="Bijvoorbeeld:&#10;veel kleine telers.">
            <a:extLst xmlns:a="http://schemas.openxmlformats.org/drawingml/2006/main">
              <a:ext uri="{FF2B5EF4-FFF2-40B4-BE49-F238E27FC236}">
                <a16:creationId xmlns:a16="http://schemas.microsoft.com/office/drawing/2014/main" id="{0FBEDF9A-8713-4546-8706-FC5D39A0F45D}"/>
              </a:ext>
            </a:extLst>
          </p:cNvPr>
          <p:cNvSpPr>
            <a:spLocks xmlns:a="http://schemas.openxmlformats.org/drawingml/2006/main" noGrp="1"/>
          </p:cNvSpPr>
          <p:nvPr/>
        </p:nvSpPr>
        <p:spPr>
          <a:xfrm xmlns:a="http://schemas.openxmlformats.org/drawingml/2006/main">
            <a:off x="10572750" y="5257800"/>
            <a:ext cx="4095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Bijvoorbeeld:</a:t>
            </a:r>
          </a:p>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veel kleine telers.</a:t>
            </a:r>
          </a:p>
        </p:txBody>
      </p:sp>
      <p:sp>
        <p:nvSpPr>
          <p:cNvPr id="9" name="Eén teler heeft&#10;nauwelijks prijsinvloed.">
            <a:extLst xmlns:a="http://schemas.openxmlformats.org/drawingml/2006/main">
              <a:ext uri="{FF2B5EF4-FFF2-40B4-BE49-F238E27FC236}">
                <a16:creationId xmlns:a16="http://schemas.microsoft.com/office/drawing/2014/main" id="{88E6411D-207A-4FF8-BDD3-85B2CC07B087}"/>
              </a:ext>
            </a:extLst>
          </p:cNvPr>
          <p:cNvSpPr>
            <a:spLocks xmlns:a="http://schemas.openxmlformats.org/drawingml/2006/main" noGrp="1"/>
          </p:cNvSpPr>
          <p:nvPr/>
        </p:nvSpPr>
        <p:spPr>
          <a:xfrm xmlns:a="http://schemas.openxmlformats.org/drawingml/2006/main">
            <a:off x="10572750" y="6686550"/>
            <a:ext cx="4095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Eén teler heeft</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nauwelijks prijsinvloed.</a:t>
            </a:r>
          </a:p>
        </p:txBody>
      </p:sp>
    </p:spTree>
    <p:extLst>
      <p:ext uri="{BB962C8B-B14F-4D97-AF65-F5344CB8AC3E}">
        <p14:creationId xmlns:p14="http://schemas.microsoft.com/office/powerpoint/2010/main" val="154808979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b: Mila’s opbrengstlijn">
            <a:extLst xmlns:a="http://schemas.openxmlformats.org/drawingml/2006/main">
              <a:ext uri="{FF2B5EF4-FFF2-40B4-BE49-F238E27FC236}">
                <a16:creationId xmlns:a16="http://schemas.microsoft.com/office/drawing/2014/main" id="{84510998-244F-46FA-B111-8FCF5A833C3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7b: Mila’s opbrengstlijn</a:t>
            </a:r>
          </a:p>
        </p:txBody>
      </p:sp>
      <p:sp>
        <p:nvSpPr>
          <p:cNvPr id="2" name="">
            <a:extLst xmlns:a="http://schemas.openxmlformats.org/drawingml/2006/main">
              <a:ext uri="{FF2B5EF4-FFF2-40B4-BE49-F238E27FC236}">
                <a16:creationId xmlns:a16="http://schemas.microsoft.com/office/drawing/2014/main" id="{1C114F96-0B80-400E-B641-4A515494EFF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1 Volkomen concurrentie · Opgave 7 · Boekpagina 60">
            <a:extLst xmlns:a="http://schemas.openxmlformats.org/drawingml/2006/main">
              <a:ext uri="{FF2B5EF4-FFF2-40B4-BE49-F238E27FC236}">
                <a16:creationId xmlns:a16="http://schemas.microsoft.com/office/drawing/2014/main" id="{131CBFBD-3FAC-4132-AE16-CEFA6911E025}"/>
              </a:ext>
            </a:extLst>
          </p:cNvPr>
          <p:cNvSpPr>
            <a:spLocks xmlns:a="http://schemas.openxmlformats.org/drawingml/2006/main" noGrp="1"/>
          </p:cNvSpPr>
          <p:nvPr/>
        </p:nvSpPr>
        <p:spPr>
          <a:xfrm xmlns:a="http://schemas.openxmlformats.org/drawingml/2006/main">
            <a:off x="571500" y="8077200"/>
            <a:ext cx="1314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§3.2.1 Volkomen concurrentie · Opgave 7 · Boekpagina 60</a:t>
            </a:r>
          </a:p>
        </p:txBody>
      </p:sp>
      <p:sp>
        <p:nvSpPr>
          <p:cNvPr id="4" name="20">
            <a:extLst xmlns:a="http://schemas.openxmlformats.org/drawingml/2006/main">
              <a:ext uri="{FF2B5EF4-FFF2-40B4-BE49-F238E27FC236}">
                <a16:creationId xmlns:a16="http://schemas.microsoft.com/office/drawing/2014/main" id="{E588D5A6-8731-4C08-B501-E65DA99299B8}"/>
              </a:ext>
            </a:extLst>
          </p:cNvPr>
          <p:cNvSpPr>
            <a:spLocks xmlns:a="http://schemas.openxmlformats.org/drawingml/2006/main" noGrp="1"/>
          </p:cNvSpPr>
          <p:nvPr/>
        </p:nvSpPr>
        <p:spPr>
          <a:xfrm xmlns:a="http://schemas.openxmlformats.org/drawingml/2006/main">
            <a:off x="14001750" y="80486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graphicFrame>
        <p:nvGraphicFramePr>
          <p:cNvPr id="12" name="Chart"/>
          <p:cNvGraphicFramePr/>
          <p:nvPr/>
        </p:nvGraphicFramePr>
        <p:xfrm>
          <a:off xmlns:a="http://schemas.openxmlformats.org/drawingml/2006/main" x="571500" y="2009775"/>
          <a:ext xmlns:a="http://schemas.openxmlformats.org/drawingml/2006/main" cx="9715500" cy="5467350"/>
        </p:xfrm>
        <a:graphic xmlns:a="http://schemas.openxmlformats.org/drawingml/2006/main">
          <a:graphicData uri="http://schemas.openxmlformats.org/drawingml/2006/chart">
            <c:chart xmlns:r="http://schemas.openxmlformats.org/officeDocument/2006/relationships" xmlns:c="http://schemas.openxmlformats.org/drawingml/2006/chart" r:id="R688b78dca04548ab"/>
          </a:graphicData>
        </a:graphic>
      </p:graphicFrame>
      <p:sp>
        <p:nvSpPr>
          <p:cNvPr id="6" name="P = GO = MO&#10;= € 3 per kg">
            <a:extLst xmlns:a="http://schemas.openxmlformats.org/drawingml/2006/main">
              <a:ext uri="{FF2B5EF4-FFF2-40B4-BE49-F238E27FC236}">
                <a16:creationId xmlns:a16="http://schemas.microsoft.com/office/drawing/2014/main" id="{2F1D7AB0-EC58-4611-9CE6-DE6785649835}"/>
              </a:ext>
            </a:extLst>
          </p:cNvPr>
          <p:cNvSpPr>
            <a:spLocks xmlns:a="http://schemas.openxmlformats.org/drawingml/2006/main" noGrp="1"/>
          </p:cNvSpPr>
          <p:nvPr/>
        </p:nvSpPr>
        <p:spPr>
          <a:xfrm xmlns:a="http://schemas.openxmlformats.org/drawingml/2006/main">
            <a:off x="10668000" y="2714625"/>
            <a:ext cx="400050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7B2D8E"/>
                </a:solidFill>
                <a:latin typeface="Arial"/>
                <a:ea typeface="Arial"/>
                <a:cs typeface="Arial"/>
              </a:defRPr>
            </a:pPr>
            <a:r>
              <a:rPr sz="3150" b="1">
                <a:solidFill>
                  <a:srgbClr val="7B2D8E"/>
                </a:solidFill>
                <a:latin typeface="Arial"/>
                <a:ea typeface="Arial"/>
                <a:cs typeface="Arial"/>
              </a:rPr>
              <a:t>P = GO = MO</a:t>
            </a:r>
          </a:p>
          <a:p xmlns:a="http://schemas.openxmlformats.org/drawingml/2006/main">
            <a:pPr algn="l">
              <a:defRPr sz="3150" b="1">
                <a:solidFill>
                  <a:srgbClr val="7B2D8E"/>
                </a:solidFill>
                <a:latin typeface="Arial"/>
                <a:ea typeface="Arial"/>
                <a:cs typeface="Arial"/>
              </a:defRPr>
            </a:pPr>
            <a:r>
              <a:rPr sz="3150" b="1">
                <a:solidFill>
                  <a:srgbClr val="7B2D8E"/>
                </a:solidFill>
                <a:latin typeface="Arial"/>
                <a:ea typeface="Arial"/>
                <a:cs typeface="Arial"/>
              </a:rPr>
              <a:t>= € 3 per kg</a:t>
            </a:r>
          </a:p>
        </p:txBody>
      </p:sp>
      <p:sp>
        <p:nvSpPr>
          <p:cNvPr id="7" name="Horizontaal op 3&#10;Tot q = 160&#10;Eenheid: € per kg">
            <a:extLst xmlns:a="http://schemas.openxmlformats.org/drawingml/2006/main">
              <a:ext uri="{FF2B5EF4-FFF2-40B4-BE49-F238E27FC236}">
                <a16:creationId xmlns:a16="http://schemas.microsoft.com/office/drawing/2014/main" id="{73348347-F969-415B-97D4-AF0C94B14806}"/>
              </a:ext>
            </a:extLst>
          </p:cNvPr>
          <p:cNvSpPr>
            <a:spLocks xmlns:a="http://schemas.openxmlformats.org/drawingml/2006/main" noGrp="1"/>
          </p:cNvSpPr>
          <p:nvPr/>
        </p:nvSpPr>
        <p:spPr>
          <a:xfrm xmlns:a="http://schemas.openxmlformats.org/drawingml/2006/main">
            <a:off x="10668000" y="5486400"/>
            <a:ext cx="400050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Horizontaal op 3</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Tot q = 160</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Eenheid: € per kg</a:t>
            </a:r>
          </a:p>
        </p:txBody>
      </p:sp>
    </p:spTree>
    <p:extLst>
      <p:ext uri="{BB962C8B-B14F-4D97-AF65-F5344CB8AC3E}">
        <p14:creationId xmlns:p14="http://schemas.microsoft.com/office/powerpoint/2010/main" val="23410012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7c: TO en GO bij 120 kg">
            <a:extLst xmlns:a="http://schemas.openxmlformats.org/drawingml/2006/main">
              <a:ext uri="{FF2B5EF4-FFF2-40B4-BE49-F238E27FC236}">
                <a16:creationId xmlns:a16="http://schemas.microsoft.com/office/drawing/2014/main" id="{2BFA1625-D0AE-49F6-9FD8-74F98CDD54E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7c: TO en GO bij 120 kg</a:t>
            </a:r>
          </a:p>
        </p:txBody>
      </p:sp>
      <p:sp>
        <p:nvSpPr>
          <p:cNvPr id="2" name="">
            <a:extLst xmlns:a="http://schemas.openxmlformats.org/drawingml/2006/main">
              <a:ext uri="{FF2B5EF4-FFF2-40B4-BE49-F238E27FC236}">
                <a16:creationId xmlns:a16="http://schemas.microsoft.com/office/drawing/2014/main" id="{6BB883B1-C196-4DDC-98BB-A749C5488DC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1 Volkomen concurrentie · Opgave 7 · Boekpagina 60">
            <a:extLst xmlns:a="http://schemas.openxmlformats.org/drawingml/2006/main">
              <a:ext uri="{FF2B5EF4-FFF2-40B4-BE49-F238E27FC236}">
                <a16:creationId xmlns:a16="http://schemas.microsoft.com/office/drawing/2014/main" id="{EEDC9E44-8FD6-478F-8FB8-A629D0EDD36C}"/>
              </a:ext>
            </a:extLst>
          </p:cNvPr>
          <p:cNvSpPr>
            <a:spLocks xmlns:a="http://schemas.openxmlformats.org/drawingml/2006/main" noGrp="1"/>
          </p:cNvSpPr>
          <p:nvPr/>
        </p:nvSpPr>
        <p:spPr>
          <a:xfrm xmlns:a="http://schemas.openxmlformats.org/drawingml/2006/main">
            <a:off x="571500" y="8077200"/>
            <a:ext cx="1314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§3.2.1 Volkomen concurrentie · Opgave 7 · Boekpagina 60</a:t>
            </a:r>
          </a:p>
        </p:txBody>
      </p:sp>
      <p:sp>
        <p:nvSpPr>
          <p:cNvPr id="4" name="21">
            <a:extLst xmlns:a="http://schemas.openxmlformats.org/drawingml/2006/main">
              <a:ext uri="{FF2B5EF4-FFF2-40B4-BE49-F238E27FC236}">
                <a16:creationId xmlns:a16="http://schemas.microsoft.com/office/drawing/2014/main" id="{B9EE35E9-D22B-4160-A56B-A69A7BE9570D}"/>
              </a:ext>
            </a:extLst>
          </p:cNvPr>
          <p:cNvSpPr>
            <a:spLocks xmlns:a="http://schemas.openxmlformats.org/drawingml/2006/main" noGrp="1"/>
          </p:cNvSpPr>
          <p:nvPr/>
        </p:nvSpPr>
        <p:spPr>
          <a:xfrm xmlns:a="http://schemas.openxmlformats.org/drawingml/2006/main">
            <a:off x="14001750" y="80486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
        <p:nvSpPr>
          <p:cNvPr id="5" name="TO = P × q">
            <a:extLst xmlns:a="http://schemas.openxmlformats.org/drawingml/2006/main">
              <a:ext uri="{FF2B5EF4-FFF2-40B4-BE49-F238E27FC236}">
                <a16:creationId xmlns:a16="http://schemas.microsoft.com/office/drawing/2014/main" id="{0CA998D0-BF8B-4A4A-A61E-D8D8A9664DA4}"/>
              </a:ext>
            </a:extLst>
          </p:cNvPr>
          <p:cNvSpPr>
            <a:spLocks xmlns:a="http://schemas.openxmlformats.org/drawingml/2006/main" noGrp="1"/>
          </p:cNvSpPr>
          <p:nvPr/>
        </p:nvSpPr>
        <p:spPr>
          <a:xfrm xmlns:a="http://schemas.openxmlformats.org/drawingml/2006/main">
            <a:off x="571500" y="2133600"/>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A5276"/>
                </a:solidFill>
                <a:latin typeface="Arial"/>
                <a:ea typeface="Arial"/>
                <a:cs typeface="Arial"/>
              </a:defRPr>
            </a:pPr>
            <a:r>
              <a:rPr sz="3675" b="1">
                <a:solidFill>
                  <a:srgbClr val="1A5276"/>
                </a:solidFill>
                <a:latin typeface="Arial"/>
                <a:ea typeface="Arial"/>
                <a:cs typeface="Arial"/>
              </a:rPr>
              <a:t>TO = P × q</a:t>
            </a:r>
          </a:p>
        </p:txBody>
      </p:sp>
      <p:sp>
        <p:nvSpPr>
          <p:cNvPr id="6" name="TO = 3 × 120 = € 360 per dag">
            <a:extLst xmlns:a="http://schemas.openxmlformats.org/drawingml/2006/main">
              <a:ext uri="{FF2B5EF4-FFF2-40B4-BE49-F238E27FC236}">
                <a16:creationId xmlns:a16="http://schemas.microsoft.com/office/drawing/2014/main" id="{FEBDE88B-7291-4AB0-BBF3-994D2BAFF7C2}"/>
              </a:ext>
            </a:extLst>
          </p:cNvPr>
          <p:cNvSpPr>
            <a:spLocks xmlns:a="http://schemas.openxmlformats.org/drawingml/2006/main" noGrp="1"/>
          </p:cNvSpPr>
          <p:nvPr/>
        </p:nvSpPr>
        <p:spPr>
          <a:xfrm xmlns:a="http://schemas.openxmlformats.org/drawingml/2006/main">
            <a:off x="571500" y="312420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TO = 3 × 120 = € 360 per dag</a:t>
            </a:r>
          </a:p>
        </p:txBody>
      </p:sp>
      <p:sp>
        <p:nvSpPr>
          <p:cNvPr id="7" name="">
            <a:extLst xmlns:a="http://schemas.openxmlformats.org/drawingml/2006/main">
              <a:ext uri="{FF2B5EF4-FFF2-40B4-BE49-F238E27FC236}">
                <a16:creationId xmlns:a16="http://schemas.microsoft.com/office/drawing/2014/main" id="{F7AEEF1D-5E81-4106-8E80-6D5951FCFDBE}"/>
              </a:ext>
            </a:extLst>
          </p:cNvPr>
          <p:cNvSpPr>
            <a:spLocks xmlns:a="http://schemas.openxmlformats.org/drawingml/2006/main" noGrp="1"/>
          </p:cNvSpPr>
          <p:nvPr/>
        </p:nvSpPr>
        <p:spPr>
          <a:xfrm xmlns:a="http://schemas.openxmlformats.org/drawingml/2006/main">
            <a:off x="571500" y="4429125"/>
            <a:ext cx="14097000" cy="0"/>
          </a:xfrm>
          <a:prstGeom xmlns:a="http://schemas.openxmlformats.org/drawingml/2006/main" prst="line">
            <a:avLst/>
          </a:prstGeom>
          <a:ln xmlns:a="http://schemas.openxmlformats.org/drawingml/2006/main" w="19050">
            <a:solidFill>
              <a:srgbClr val="C6D2DB"/>
            </a:solidFill>
          </a:ln>
        </p:spPr>
      </p:sp>
      <p:sp>
        <p:nvSpPr>
          <p:cNvPr id="8" name="GO = TO / q">
            <a:extLst xmlns:a="http://schemas.openxmlformats.org/drawingml/2006/main">
              <a:ext uri="{FF2B5EF4-FFF2-40B4-BE49-F238E27FC236}">
                <a16:creationId xmlns:a16="http://schemas.microsoft.com/office/drawing/2014/main" id="{28825F4B-37CA-47A6-A41A-B284E40581BD}"/>
              </a:ext>
            </a:extLst>
          </p:cNvPr>
          <p:cNvSpPr>
            <a:spLocks xmlns:a="http://schemas.openxmlformats.org/drawingml/2006/main" noGrp="1"/>
          </p:cNvSpPr>
          <p:nvPr/>
        </p:nvSpPr>
        <p:spPr>
          <a:xfrm xmlns:a="http://schemas.openxmlformats.org/drawingml/2006/main">
            <a:off x="571500" y="4933950"/>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7B2D8E"/>
                </a:solidFill>
                <a:latin typeface="Arial"/>
                <a:ea typeface="Arial"/>
                <a:cs typeface="Arial"/>
              </a:defRPr>
            </a:pPr>
            <a:r>
              <a:rPr sz="3675" b="1">
                <a:solidFill>
                  <a:srgbClr val="7B2D8E"/>
                </a:solidFill>
                <a:latin typeface="Arial"/>
                <a:ea typeface="Arial"/>
                <a:cs typeface="Arial"/>
              </a:rPr>
              <a:t>GO = TO / q</a:t>
            </a:r>
          </a:p>
        </p:txBody>
      </p:sp>
      <p:sp>
        <p:nvSpPr>
          <p:cNvPr id="9" name="GO = 360 / 120 = € 3 per kg">
            <a:extLst xmlns:a="http://schemas.openxmlformats.org/drawingml/2006/main">
              <a:ext uri="{FF2B5EF4-FFF2-40B4-BE49-F238E27FC236}">
                <a16:creationId xmlns:a16="http://schemas.microsoft.com/office/drawing/2014/main" id="{0E26B443-832F-4362-BC26-19EFAFA81360}"/>
              </a:ext>
            </a:extLst>
          </p:cNvPr>
          <p:cNvSpPr>
            <a:spLocks xmlns:a="http://schemas.openxmlformats.org/drawingml/2006/main" noGrp="1"/>
          </p:cNvSpPr>
          <p:nvPr/>
        </p:nvSpPr>
        <p:spPr>
          <a:xfrm xmlns:a="http://schemas.openxmlformats.org/drawingml/2006/main">
            <a:off x="571500" y="5915025"/>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GO = 360 / 120 = € 3 per kg</a:t>
            </a:r>
          </a:p>
        </p:txBody>
      </p:sp>
      <p:sp>
        <p:nvSpPr>
          <p:cNvPr id="10" name="Controle: GO is gelijk aan de marktprijs.">
            <a:extLst xmlns:a="http://schemas.openxmlformats.org/drawingml/2006/main">
              <a:ext uri="{FF2B5EF4-FFF2-40B4-BE49-F238E27FC236}">
                <a16:creationId xmlns:a16="http://schemas.microsoft.com/office/drawing/2014/main" id="{308D91FA-3852-44AF-BA48-7EDD8447FBB8}"/>
              </a:ext>
            </a:extLst>
          </p:cNvPr>
          <p:cNvSpPr>
            <a:spLocks xmlns:a="http://schemas.openxmlformats.org/drawingml/2006/main" noGrp="1"/>
          </p:cNvSpPr>
          <p:nvPr/>
        </p:nvSpPr>
        <p:spPr>
          <a:xfrm xmlns:a="http://schemas.openxmlformats.org/drawingml/2006/main">
            <a:off x="571500" y="7381875"/>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Controle: GO is gelijk aan de marktprijs.</a:t>
            </a:r>
          </a:p>
        </p:txBody>
      </p:sp>
    </p:spTree>
    <p:extLst>
      <p:ext uri="{BB962C8B-B14F-4D97-AF65-F5344CB8AC3E}">
        <p14:creationId xmlns:p14="http://schemas.microsoft.com/office/powerpoint/2010/main" val="174198538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7c: MO bij 20 kg extra">
            <a:extLst xmlns:a="http://schemas.openxmlformats.org/drawingml/2006/main">
              <a:ext uri="{FF2B5EF4-FFF2-40B4-BE49-F238E27FC236}">
                <a16:creationId xmlns:a16="http://schemas.microsoft.com/office/drawing/2014/main" id="{C6C9E551-E11C-4EE9-87CE-43599D3A99E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7c: MO bij 20 kg extra</a:t>
            </a:r>
          </a:p>
        </p:txBody>
      </p:sp>
      <p:sp>
        <p:nvSpPr>
          <p:cNvPr id="2" name="">
            <a:extLst xmlns:a="http://schemas.openxmlformats.org/drawingml/2006/main">
              <a:ext uri="{FF2B5EF4-FFF2-40B4-BE49-F238E27FC236}">
                <a16:creationId xmlns:a16="http://schemas.microsoft.com/office/drawing/2014/main" id="{0E40B421-8DAF-4B49-A741-4F4AA1D97DA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1 Volkomen concurrentie · Opgave 7 · Boekpagina 60">
            <a:extLst xmlns:a="http://schemas.openxmlformats.org/drawingml/2006/main">
              <a:ext uri="{FF2B5EF4-FFF2-40B4-BE49-F238E27FC236}">
                <a16:creationId xmlns:a16="http://schemas.microsoft.com/office/drawing/2014/main" id="{81238F56-A2EE-48F2-8660-0F2C0C3FBC3E}"/>
              </a:ext>
            </a:extLst>
          </p:cNvPr>
          <p:cNvSpPr>
            <a:spLocks xmlns:a="http://schemas.openxmlformats.org/drawingml/2006/main" noGrp="1"/>
          </p:cNvSpPr>
          <p:nvPr/>
        </p:nvSpPr>
        <p:spPr>
          <a:xfrm xmlns:a="http://schemas.openxmlformats.org/drawingml/2006/main">
            <a:off x="571500" y="8077200"/>
            <a:ext cx="1314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§3.2.1 Volkomen concurrentie · Opgave 7 · Boekpagina 60</a:t>
            </a:r>
          </a:p>
        </p:txBody>
      </p:sp>
      <p:sp>
        <p:nvSpPr>
          <p:cNvPr id="4" name="22">
            <a:extLst xmlns:a="http://schemas.openxmlformats.org/drawingml/2006/main">
              <a:ext uri="{FF2B5EF4-FFF2-40B4-BE49-F238E27FC236}">
                <a16:creationId xmlns:a16="http://schemas.microsoft.com/office/drawing/2014/main" id="{E5C9AD66-0A86-4A0E-9507-C0ADBB5AEE8F}"/>
              </a:ext>
            </a:extLst>
          </p:cNvPr>
          <p:cNvSpPr>
            <a:spLocks xmlns:a="http://schemas.openxmlformats.org/drawingml/2006/main" noGrp="1"/>
          </p:cNvSpPr>
          <p:nvPr/>
        </p:nvSpPr>
        <p:spPr>
          <a:xfrm xmlns:a="http://schemas.openxmlformats.org/drawingml/2006/main">
            <a:off x="14001750" y="80486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graphicFrame>
        <p:nvGraphicFramePr>
          <p:cNvPr id="13" name=""/>
          <p:cNvGraphicFramePr/>
          <p:nvPr/>
        </p:nvGraphicFramePr>
        <p:xfrm>
          <a:off xmlns:a="http://schemas.openxmlformats.org/drawingml/2006/main" x="571500" y="1971675"/>
          <a:ext xmlns:a="http://schemas.openxmlformats.org/drawingml/2006/main" cx="14097000" cy="2514600"/>
        </p:xfrm>
        <a:graphic xmlns:a="http://schemas.openxmlformats.org/drawingml/2006/main">
          <a:graphicData uri="http://schemas.openxmlformats.org/drawingml/2006/table">
            <a:tbl>
              <a:tblPr/>
              <a:tblGrid>
                <a:gridCol w="5715000"/>
                <a:gridCol w="8382000"/>
              </a:tblGrid>
              <a:tr h="838200">
                <a:tc>
                  <a:txBody>
                    <a:bodyPr lIns="171450" tIns="95250" rIns="152400" bIns="95250"/>
                    <a:lstStyle/>
                    <a:p>
                      <a:r>
                        <a:rPr sz="2775" b="1">
                          <a:solidFill>
                            <a:srgbClr val="FFFFFF"/>
                          </a:solidFill>
                          <a:latin typeface="Arial"/>
                          <a:ea typeface="Arial"/>
                          <a:cs typeface="Arial"/>
                        </a:rPr>
                        <a:t>q (kg per dag)</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TO (€ per dag)</a:t>
                      </a:r>
                    </a:p>
                  </a:txBody>
                  <a:tcPr marL="91440" marR="91440" marT="45720" marB="45720" anchor="ctr">
                    <a:solidFill>
                      <a:srgbClr val="183247"/>
                    </a:solidFill>
                  </a:tcPr>
                </a:tc>
              </a:tr>
              <a:tr h="838200">
                <a:tc>
                  <a:txBody>
                    <a:bodyPr lIns="171450" tIns="95250" rIns="152400" bIns="95250"/>
                    <a:lstStyle/>
                    <a:p>
                      <a:r>
                        <a:rPr sz="2775" b="0">
                          <a:solidFill>
                            <a:srgbClr val="183247"/>
                          </a:solidFill>
                          <a:latin typeface="Arial"/>
                          <a:ea typeface="Arial"/>
                          <a:cs typeface="Arial"/>
                        </a:rPr>
                        <a:t>120</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3 × 120 = 360</a:t>
                      </a:r>
                    </a:p>
                  </a:txBody>
                  <a:tcPr marL="91440" marR="91440" marT="45720" marB="45720" anchor="ctr">
                    <a:solidFill>
                      <a:srgbClr val="FFFFFF"/>
                    </a:solidFill>
                  </a:tcPr>
                </a:tc>
              </a:tr>
              <a:tr h="838200">
                <a:tc>
                  <a:txBody>
                    <a:bodyPr lIns="171450" tIns="95250" rIns="152400" bIns="95250"/>
                    <a:lstStyle/>
                    <a:p>
                      <a:r>
                        <a:rPr sz="2775" b="0">
                          <a:solidFill>
                            <a:srgbClr val="183247"/>
                          </a:solidFill>
                          <a:latin typeface="Arial"/>
                          <a:ea typeface="Arial"/>
                          <a:cs typeface="Arial"/>
                        </a:rPr>
                        <a:t>140</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3 × 140 = 420</a:t>
                      </a:r>
                    </a:p>
                  </a:txBody>
                  <a:tcPr marL="91440" marR="91440" marT="45720" marB="45720" anchor="ctr">
                    <a:solidFill>
                      <a:srgbClr val="EFF4F7"/>
                    </a:solidFill>
                  </a:tcPr>
                </a:tc>
              </a:tr>
            </a:tbl>
          </a:graphicData>
        </a:graphic>
      </p:graphicFrame>
      <p:sp>
        <p:nvSpPr>
          <p:cNvPr id="6" name="ΔTO = 420 − 360 = € 60 per dag">
            <a:extLst xmlns:a="http://schemas.openxmlformats.org/drawingml/2006/main">
              <a:ext uri="{FF2B5EF4-FFF2-40B4-BE49-F238E27FC236}">
                <a16:creationId xmlns:a16="http://schemas.microsoft.com/office/drawing/2014/main" id="{27A1E7BD-2215-415F-8ADF-B0E2853930A9}"/>
              </a:ext>
            </a:extLst>
          </p:cNvPr>
          <p:cNvSpPr>
            <a:spLocks xmlns:a="http://schemas.openxmlformats.org/drawingml/2006/main" noGrp="1"/>
          </p:cNvSpPr>
          <p:nvPr/>
        </p:nvSpPr>
        <p:spPr>
          <a:xfrm xmlns:a="http://schemas.openxmlformats.org/drawingml/2006/main">
            <a:off x="571500" y="4953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ΔTO = 420 − 360 = € 60 per dag</a:t>
            </a:r>
          </a:p>
        </p:txBody>
      </p:sp>
      <p:sp>
        <p:nvSpPr>
          <p:cNvPr id="7" name="Δq = 140 − 120 = 20 kg per dag">
            <a:extLst xmlns:a="http://schemas.openxmlformats.org/drawingml/2006/main">
              <a:ext uri="{FF2B5EF4-FFF2-40B4-BE49-F238E27FC236}">
                <a16:creationId xmlns:a16="http://schemas.microsoft.com/office/drawing/2014/main" id="{CA6B5904-3E69-4A5B-A166-F8EC728B237F}"/>
              </a:ext>
            </a:extLst>
          </p:cNvPr>
          <p:cNvSpPr>
            <a:spLocks xmlns:a="http://schemas.openxmlformats.org/drawingml/2006/main" noGrp="1"/>
          </p:cNvSpPr>
          <p:nvPr/>
        </p:nvSpPr>
        <p:spPr>
          <a:xfrm xmlns:a="http://schemas.openxmlformats.org/drawingml/2006/main">
            <a:off x="571500" y="583882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Δq = 140 − 120 = 20 kg per dag</a:t>
            </a:r>
          </a:p>
        </p:txBody>
      </p:sp>
      <p:sp>
        <p:nvSpPr>
          <p:cNvPr id="8" name="MO = ΔTO / Δq = 60 / 20 = € 3 per kg">
            <a:extLst xmlns:a="http://schemas.openxmlformats.org/drawingml/2006/main">
              <a:ext uri="{FF2B5EF4-FFF2-40B4-BE49-F238E27FC236}">
                <a16:creationId xmlns:a16="http://schemas.microsoft.com/office/drawing/2014/main" id="{A60D7DEC-F949-4592-8518-E8FD4DAC7DFC}"/>
              </a:ext>
            </a:extLst>
          </p:cNvPr>
          <p:cNvSpPr>
            <a:spLocks xmlns:a="http://schemas.openxmlformats.org/drawingml/2006/main" noGrp="1"/>
          </p:cNvSpPr>
          <p:nvPr/>
        </p:nvSpPr>
        <p:spPr>
          <a:xfrm xmlns:a="http://schemas.openxmlformats.org/drawingml/2006/main">
            <a:off x="571500" y="6896100"/>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7B2D8E"/>
                </a:solidFill>
                <a:latin typeface="Arial"/>
                <a:ea typeface="Arial"/>
                <a:cs typeface="Arial"/>
              </a:defRPr>
            </a:pPr>
            <a:r>
              <a:rPr sz="3300" b="1">
                <a:solidFill>
                  <a:srgbClr val="7B2D8E"/>
                </a:solidFill>
                <a:latin typeface="Arial"/>
                <a:ea typeface="Arial"/>
                <a:cs typeface="Arial"/>
              </a:rPr>
              <a:t>MO = ΔTO / Δq = 60 / 20 = € 3 per kg</a:t>
            </a:r>
          </a:p>
        </p:txBody>
      </p:sp>
    </p:spTree>
    <p:extLst>
      <p:ext uri="{BB962C8B-B14F-4D97-AF65-F5344CB8AC3E}">
        <p14:creationId xmlns:p14="http://schemas.microsoft.com/office/powerpoint/2010/main" val="35168972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d: waarom kopers vertrekken">
            <a:extLst xmlns:a="http://schemas.openxmlformats.org/drawingml/2006/main">
              <a:ext uri="{FF2B5EF4-FFF2-40B4-BE49-F238E27FC236}">
                <a16:creationId xmlns:a16="http://schemas.microsoft.com/office/drawing/2014/main" id="{353DAD78-F8B3-4ECE-8BEF-E2867DFFA41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7d: waarom kopers vertrekken</a:t>
            </a:r>
          </a:p>
        </p:txBody>
      </p:sp>
      <p:sp>
        <p:nvSpPr>
          <p:cNvPr id="2" name="">
            <a:extLst xmlns:a="http://schemas.openxmlformats.org/drawingml/2006/main">
              <a:ext uri="{FF2B5EF4-FFF2-40B4-BE49-F238E27FC236}">
                <a16:creationId xmlns:a16="http://schemas.microsoft.com/office/drawing/2014/main" id="{E98C1C57-5D5B-4C37-9BBC-9F89F545F3F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1 Volkomen concurrentie · Opgave 7 · Boekpagina 60">
            <a:extLst xmlns:a="http://schemas.openxmlformats.org/drawingml/2006/main">
              <a:ext uri="{FF2B5EF4-FFF2-40B4-BE49-F238E27FC236}">
                <a16:creationId xmlns:a16="http://schemas.microsoft.com/office/drawing/2014/main" id="{47310AF9-B6C9-48EB-994A-9597D652736B}"/>
              </a:ext>
            </a:extLst>
          </p:cNvPr>
          <p:cNvSpPr>
            <a:spLocks xmlns:a="http://schemas.openxmlformats.org/drawingml/2006/main" noGrp="1"/>
          </p:cNvSpPr>
          <p:nvPr/>
        </p:nvSpPr>
        <p:spPr>
          <a:xfrm xmlns:a="http://schemas.openxmlformats.org/drawingml/2006/main">
            <a:off x="571500" y="8077200"/>
            <a:ext cx="1314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§3.2.1 Volkomen concurrentie · Opgave 7 · Boekpagina 60</a:t>
            </a:r>
          </a:p>
        </p:txBody>
      </p:sp>
      <p:sp>
        <p:nvSpPr>
          <p:cNvPr id="4" name="23">
            <a:extLst xmlns:a="http://schemas.openxmlformats.org/drawingml/2006/main">
              <a:ext uri="{FF2B5EF4-FFF2-40B4-BE49-F238E27FC236}">
                <a16:creationId xmlns:a16="http://schemas.microsoft.com/office/drawing/2014/main" id="{697414D1-245C-42CD-99FF-FDE493400EE7}"/>
              </a:ext>
            </a:extLst>
          </p:cNvPr>
          <p:cNvSpPr>
            <a:spLocks xmlns:a="http://schemas.openxmlformats.org/drawingml/2006/main" noGrp="1"/>
          </p:cNvSpPr>
          <p:nvPr/>
        </p:nvSpPr>
        <p:spPr>
          <a:xfrm xmlns:a="http://schemas.openxmlformats.org/drawingml/2006/main">
            <a:off x="14001750" y="80486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graphicFrame>
        <p:nvGraphicFramePr>
          <p:cNvPr id="12" name=""/>
          <p:cNvGraphicFramePr/>
          <p:nvPr/>
        </p:nvGraphicFramePr>
        <p:xfrm>
          <a:off xmlns:a="http://schemas.openxmlformats.org/drawingml/2006/main" x="571500" y="2324100"/>
          <a:ext xmlns:a="http://schemas.openxmlformats.org/drawingml/2006/main" cx="14097000" cy="2762250"/>
        </p:xfrm>
        <a:graphic xmlns:a="http://schemas.openxmlformats.org/drawingml/2006/main">
          <a:graphicData uri="http://schemas.openxmlformats.org/drawingml/2006/table">
            <a:tbl>
              <a:tblPr/>
              <a:tblGrid>
                <a:gridCol w="8667750"/>
                <a:gridCol w="5429250"/>
              </a:tblGrid>
              <a:tr h="920750">
                <a:tc>
                  <a:txBody>
                    <a:bodyPr lIns="171450" tIns="95250" rIns="152400" bIns="95250"/>
                    <a:lstStyle/>
                    <a:p>
                      <a:r>
                        <a:rPr sz="2925" b="1">
                          <a:solidFill>
                            <a:srgbClr val="FFFFFF"/>
                          </a:solidFill>
                          <a:latin typeface="Arial"/>
                          <a:ea typeface="Arial"/>
                          <a:cs typeface="Arial"/>
                        </a:rPr>
                        <a:t>Wortelen van dezelfde kwaliteit</a:t>
                      </a:r>
                    </a:p>
                  </a:txBody>
                  <a:tcPr marL="91440" marR="91440" marT="45720" marB="45720" anchor="ctr">
                    <a:solidFill>
                      <a:srgbClr val="183247"/>
                    </a:solidFill>
                  </a:tcPr>
                </a:tc>
                <a:tc>
                  <a:txBody>
                    <a:bodyPr lIns="171450" tIns="95250" rIns="152400" bIns="95250"/>
                    <a:lstStyle/>
                    <a:p>
                      <a:r>
                        <a:rPr sz="2925" b="1">
                          <a:solidFill>
                            <a:srgbClr val="FFFFFF"/>
                          </a:solidFill>
                          <a:latin typeface="Arial"/>
                          <a:ea typeface="Arial"/>
                          <a:cs typeface="Arial"/>
                        </a:rPr>
                        <a:t>Prijs per kg</a:t>
                      </a:r>
                    </a:p>
                  </a:txBody>
                  <a:tcPr marL="91440" marR="91440" marT="45720" marB="45720" anchor="ctr">
                    <a:solidFill>
                      <a:srgbClr val="183247"/>
                    </a:solidFill>
                  </a:tcPr>
                </a:tc>
              </a:tr>
              <a:tr h="920750">
                <a:tc>
                  <a:txBody>
                    <a:bodyPr lIns="171450" tIns="95250" rIns="152400" bIns="95250"/>
                    <a:lstStyle/>
                    <a:p>
                      <a:r>
                        <a:rPr sz="2925" b="0">
                          <a:solidFill>
                            <a:srgbClr val="183247"/>
                          </a:solidFill>
                          <a:latin typeface="Arial"/>
                          <a:ea typeface="Arial"/>
                          <a:cs typeface="Arial"/>
                        </a:rPr>
                        <a:t>Andere telers</a:t>
                      </a:r>
                    </a:p>
                  </a:txBody>
                  <a:tcPr marL="91440" marR="91440" marT="45720" marB="45720" anchor="ctr">
                    <a:solidFill>
                      <a:srgbClr val="FFFFFF"/>
                    </a:solidFill>
                  </a:tcPr>
                </a:tc>
                <a:tc>
                  <a:txBody>
                    <a:bodyPr lIns="171450" tIns="95250" rIns="152400" bIns="95250"/>
                    <a:lstStyle/>
                    <a:p>
                      <a:r>
                        <a:rPr sz="2925" b="0">
                          <a:solidFill>
                            <a:srgbClr val="183247"/>
                          </a:solidFill>
                          <a:latin typeface="Arial"/>
                          <a:ea typeface="Arial"/>
                          <a:cs typeface="Arial"/>
                        </a:rPr>
                        <a:t>€ 3,00</a:t>
                      </a:r>
                    </a:p>
                  </a:txBody>
                  <a:tcPr marL="91440" marR="91440" marT="45720" marB="45720" anchor="ctr">
                    <a:solidFill>
                      <a:srgbClr val="FFFFFF"/>
                    </a:solidFill>
                  </a:tcPr>
                </a:tc>
              </a:tr>
              <a:tr h="920750">
                <a:tc>
                  <a:txBody>
                    <a:bodyPr lIns="171450" tIns="95250" rIns="152400" bIns="95250"/>
                    <a:lstStyle/>
                    <a:p>
                      <a:r>
                        <a:rPr sz="2925" b="0">
                          <a:solidFill>
                            <a:srgbClr val="183247"/>
                          </a:solidFill>
                          <a:latin typeface="Arial"/>
                          <a:ea typeface="Arial"/>
                          <a:cs typeface="Arial"/>
                        </a:rPr>
                        <a:t>Mila wil vragen</a:t>
                      </a:r>
                    </a:p>
                  </a:txBody>
                  <a:tcPr marL="91440" marR="91440" marT="45720" marB="45720" anchor="ctr">
                    <a:solidFill>
                      <a:srgbClr val="EFF4F7"/>
                    </a:solidFill>
                  </a:tcPr>
                </a:tc>
                <a:tc>
                  <a:txBody>
                    <a:bodyPr lIns="171450" tIns="95250" rIns="152400" bIns="95250"/>
                    <a:lstStyle/>
                    <a:p>
                      <a:r>
                        <a:rPr sz="2925" b="0">
                          <a:solidFill>
                            <a:srgbClr val="183247"/>
                          </a:solidFill>
                          <a:latin typeface="Arial"/>
                          <a:ea typeface="Arial"/>
                          <a:cs typeface="Arial"/>
                        </a:rPr>
                        <a:t>€ 3,20</a:t>
                      </a:r>
                    </a:p>
                  </a:txBody>
                  <a:tcPr marL="91440" marR="91440" marT="45720" marB="45720" anchor="ctr">
                    <a:solidFill>
                      <a:srgbClr val="EFF4F7"/>
                    </a:solidFill>
                  </a:tcPr>
                </a:tc>
              </a:tr>
            </a:tbl>
          </a:graphicData>
        </a:graphic>
      </p:graphicFrame>
      <p:sp>
        <p:nvSpPr>
          <p:cNvPr id="6" name="Kopers kennen de prijzen en kunnen elders kopen.">
            <a:extLst xmlns:a="http://schemas.openxmlformats.org/drawingml/2006/main">
              <a:ext uri="{FF2B5EF4-FFF2-40B4-BE49-F238E27FC236}">
                <a16:creationId xmlns:a16="http://schemas.microsoft.com/office/drawing/2014/main" id="{2479F3FA-2344-46F3-BA45-C022BDDC040C}"/>
              </a:ext>
            </a:extLst>
          </p:cNvPr>
          <p:cNvSpPr>
            <a:spLocks xmlns:a="http://schemas.openxmlformats.org/drawingml/2006/main" noGrp="1"/>
          </p:cNvSpPr>
          <p:nvPr/>
        </p:nvSpPr>
        <p:spPr>
          <a:xfrm xmlns:a="http://schemas.openxmlformats.org/drawingml/2006/main">
            <a:off x="571500" y="5819775"/>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A5276"/>
                </a:solidFill>
                <a:latin typeface="Arial"/>
                <a:ea typeface="Arial"/>
                <a:cs typeface="Arial"/>
              </a:defRPr>
            </a:pPr>
            <a:r>
              <a:rPr sz="3150" b="1">
                <a:solidFill>
                  <a:srgbClr val="1A5276"/>
                </a:solidFill>
                <a:latin typeface="Arial"/>
                <a:ea typeface="Arial"/>
                <a:cs typeface="Arial"/>
              </a:rPr>
              <a:t>Kopers kennen de prijzen en kunnen elders kopen.</a:t>
            </a:r>
          </a:p>
        </p:txBody>
      </p:sp>
      <p:sp>
        <p:nvSpPr>
          <p:cNvPr id="7" name="Daarom verliest Mila in dit model haar kopers.">
            <a:extLst xmlns:a="http://schemas.openxmlformats.org/drawingml/2006/main">
              <a:ext uri="{FF2B5EF4-FFF2-40B4-BE49-F238E27FC236}">
                <a16:creationId xmlns:a16="http://schemas.microsoft.com/office/drawing/2014/main" id="{834E0B6F-FC09-42C7-8F7E-CE93F875C9E9}"/>
              </a:ext>
            </a:extLst>
          </p:cNvPr>
          <p:cNvSpPr>
            <a:spLocks xmlns:a="http://schemas.openxmlformats.org/drawingml/2006/main" noGrp="1"/>
          </p:cNvSpPr>
          <p:nvPr/>
        </p:nvSpPr>
        <p:spPr>
          <a:xfrm xmlns:a="http://schemas.openxmlformats.org/drawingml/2006/main">
            <a:off x="571500" y="7096125"/>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Daarom verliest Mila in dit model haar kopers.</a:t>
            </a:r>
          </a:p>
        </p:txBody>
      </p:sp>
    </p:spTree>
    <p:extLst>
      <p:ext uri="{BB962C8B-B14F-4D97-AF65-F5344CB8AC3E}">
        <p14:creationId xmlns:p14="http://schemas.microsoft.com/office/powerpoint/2010/main" val="51547388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e: Q is de markt, q is Mila">
            <a:extLst xmlns:a="http://schemas.openxmlformats.org/drawingml/2006/main">
              <a:ext uri="{FF2B5EF4-FFF2-40B4-BE49-F238E27FC236}">
                <a16:creationId xmlns:a16="http://schemas.microsoft.com/office/drawing/2014/main" id="{6CC04D03-62A7-4128-AB48-36D05C99FAD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7e: Q is de markt, q is Mila</a:t>
            </a:r>
          </a:p>
        </p:txBody>
      </p:sp>
      <p:sp>
        <p:nvSpPr>
          <p:cNvPr id="2" name="">
            <a:extLst xmlns:a="http://schemas.openxmlformats.org/drawingml/2006/main">
              <a:ext uri="{FF2B5EF4-FFF2-40B4-BE49-F238E27FC236}">
                <a16:creationId xmlns:a16="http://schemas.microsoft.com/office/drawing/2014/main" id="{AA0FC462-2C00-4854-A399-241677AFC46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1 Volkomen concurrentie · Opgave 7 · Boekpagina 60">
            <a:extLst xmlns:a="http://schemas.openxmlformats.org/drawingml/2006/main">
              <a:ext uri="{FF2B5EF4-FFF2-40B4-BE49-F238E27FC236}">
                <a16:creationId xmlns:a16="http://schemas.microsoft.com/office/drawing/2014/main" id="{DD295B73-E195-4410-AFB5-7DA302BA391A}"/>
              </a:ext>
            </a:extLst>
          </p:cNvPr>
          <p:cNvSpPr>
            <a:spLocks xmlns:a="http://schemas.openxmlformats.org/drawingml/2006/main" noGrp="1"/>
          </p:cNvSpPr>
          <p:nvPr/>
        </p:nvSpPr>
        <p:spPr>
          <a:xfrm xmlns:a="http://schemas.openxmlformats.org/drawingml/2006/main">
            <a:off x="571500" y="8077200"/>
            <a:ext cx="1314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§3.2.1 Volkomen concurrentie · Opgave 7 · Boekpagina 60</a:t>
            </a:r>
          </a:p>
        </p:txBody>
      </p:sp>
      <p:sp>
        <p:nvSpPr>
          <p:cNvPr id="4" name="24">
            <a:extLst xmlns:a="http://schemas.openxmlformats.org/drawingml/2006/main">
              <a:ext uri="{FF2B5EF4-FFF2-40B4-BE49-F238E27FC236}">
                <a16:creationId xmlns:a16="http://schemas.microsoft.com/office/drawing/2014/main" id="{17F49B55-5199-44C8-B218-B462C834A129}"/>
              </a:ext>
            </a:extLst>
          </p:cNvPr>
          <p:cNvSpPr>
            <a:spLocks xmlns:a="http://schemas.openxmlformats.org/drawingml/2006/main" noGrp="1"/>
          </p:cNvSpPr>
          <p:nvPr/>
        </p:nvSpPr>
        <p:spPr>
          <a:xfrm xmlns:a="http://schemas.openxmlformats.org/drawingml/2006/main">
            <a:off x="14001750" y="80486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graphicFrame>
        <p:nvGraphicFramePr>
          <p:cNvPr id="12" name=""/>
          <p:cNvGraphicFramePr/>
          <p:nvPr/>
        </p:nvGraphicFramePr>
        <p:xfrm>
          <a:off xmlns:a="http://schemas.openxmlformats.org/drawingml/2006/main" x="571500" y="2314575"/>
          <a:ext xmlns:a="http://schemas.openxmlformats.org/drawingml/2006/main" cx="14097000" cy="3533775"/>
        </p:xfrm>
        <a:graphic xmlns:a="http://schemas.openxmlformats.org/drawingml/2006/main">
          <a:graphicData uri="http://schemas.openxmlformats.org/drawingml/2006/table">
            <a:tbl>
              <a:tblPr/>
              <a:tblGrid>
                <a:gridCol w="7048500"/>
                <a:gridCol w="7048500"/>
              </a:tblGrid>
              <a:tr h="883444">
                <a:tc>
                  <a:txBody>
                    <a:bodyPr lIns="171450" tIns="95250" rIns="152400" bIns="95250"/>
                    <a:lstStyle/>
                    <a:p>
                      <a:r>
                        <a:rPr sz="2700" b="1">
                          <a:solidFill>
                            <a:srgbClr val="FFFFFF"/>
                          </a:solidFill>
                          <a:latin typeface="Arial"/>
                          <a:ea typeface="Arial"/>
                          <a:cs typeface="Arial"/>
                        </a:rPr>
                        <a:t>De hele markt</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Mila</a:t>
                      </a:r>
                    </a:p>
                  </a:txBody>
                  <a:tcPr marL="91440" marR="91440" marT="45720" marB="45720" anchor="ctr">
                    <a:solidFill>
                      <a:srgbClr val="183247"/>
                    </a:solidFill>
                  </a:tcPr>
                </a:tc>
              </a:tr>
              <a:tr h="883444">
                <a:tc>
                  <a:txBody>
                    <a:bodyPr lIns="171450" tIns="95250" rIns="152400" bIns="95250"/>
                    <a:lstStyle/>
                    <a:p>
                      <a:r>
                        <a:rPr sz="2700" b="0">
                          <a:solidFill>
                            <a:srgbClr val="183247"/>
                          </a:solidFill>
                          <a:latin typeface="Arial"/>
                          <a:ea typeface="Arial"/>
                          <a:cs typeface="Arial"/>
                        </a:rPr>
                        <a:t>Q = 4.000 kg per dag</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q is haar eigen afzet</a:t>
                      </a:r>
                    </a:p>
                  </a:txBody>
                  <a:tcPr marL="91440" marR="91440" marT="45720" marB="45720" anchor="ctr">
                    <a:solidFill>
                      <a:srgbClr val="FFFFFF"/>
                    </a:solidFill>
                  </a:tcPr>
                </a:tc>
              </a:tr>
              <a:tr h="883444">
                <a:tc>
                  <a:txBody>
                    <a:bodyPr lIns="171450" tIns="95250" rIns="152400" bIns="95250"/>
                    <a:lstStyle/>
                    <a:p>
                      <a:r>
                        <a:rPr sz="2700" b="0">
                          <a:solidFill>
                            <a:srgbClr val="183247"/>
                          </a:solidFill>
                          <a:latin typeface="Arial"/>
                          <a:ea typeface="Arial"/>
                          <a:cs typeface="Arial"/>
                        </a:rPr>
                        <a:t>Alle telers samen</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Capaciteit: 160 kg per dag</a:t>
                      </a:r>
                    </a:p>
                  </a:txBody>
                  <a:tcPr marL="91440" marR="91440" marT="45720" marB="45720" anchor="ctr">
                    <a:solidFill>
                      <a:srgbClr val="EFF4F7"/>
                    </a:solidFill>
                  </a:tcPr>
                </a:tc>
              </a:tr>
              <a:tr h="883444">
                <a:tc>
                  <a:txBody>
                    <a:bodyPr lIns="171450" tIns="95250" rIns="152400" bIns="95250"/>
                    <a:lstStyle/>
                    <a:p>
                      <a:r>
                        <a:rPr sz="2700" b="0">
                          <a:solidFill>
                            <a:srgbClr val="183247"/>
                          </a:solidFill>
                          <a:latin typeface="Arial"/>
                          <a:ea typeface="Arial"/>
                          <a:cs typeface="Arial"/>
                        </a:rPr>
                        <a:t>Linker hoeveelheidsas: × 1.000 kg</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Rechter hoeveelheidsas: kg</a:t>
                      </a:r>
                    </a:p>
                  </a:txBody>
                  <a:tcPr marL="91440" marR="91440" marT="45720" marB="45720" anchor="ctr">
                    <a:solidFill>
                      <a:srgbClr val="FFFFFF"/>
                    </a:solidFill>
                  </a:tcPr>
                </a:tc>
              </a:tr>
            </a:tbl>
          </a:graphicData>
        </a:graphic>
      </p:graphicFrame>
      <p:sp>
        <p:nvSpPr>
          <p:cNvPr id="6" name="Alleen de prijs verhuist naar Mila’s grafiek.">
            <a:extLst xmlns:a="http://schemas.openxmlformats.org/drawingml/2006/main">
              <a:ext uri="{FF2B5EF4-FFF2-40B4-BE49-F238E27FC236}">
                <a16:creationId xmlns:a16="http://schemas.microsoft.com/office/drawing/2014/main" id="{12F167E9-8081-4320-A9BF-56C087541DE8}"/>
              </a:ext>
            </a:extLst>
          </p:cNvPr>
          <p:cNvSpPr>
            <a:spLocks xmlns:a="http://schemas.openxmlformats.org/drawingml/2006/main" noGrp="1"/>
          </p:cNvSpPr>
          <p:nvPr/>
        </p:nvSpPr>
        <p:spPr>
          <a:xfrm xmlns:a="http://schemas.openxmlformats.org/drawingml/2006/main">
            <a:off x="571500" y="64960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A5276"/>
                </a:solidFill>
                <a:latin typeface="Arial"/>
                <a:ea typeface="Arial"/>
                <a:cs typeface="Arial"/>
              </a:defRPr>
            </a:pPr>
            <a:r>
              <a:rPr sz="3300" b="1">
                <a:solidFill>
                  <a:srgbClr val="1A5276"/>
                </a:solidFill>
                <a:latin typeface="Arial"/>
                <a:ea typeface="Arial"/>
                <a:cs typeface="Arial"/>
              </a:rPr>
              <a:t>Alleen de prijs verhuist naar Mila’s grafiek.</a:t>
            </a:r>
          </a:p>
        </p:txBody>
      </p:sp>
      <p:sp>
        <p:nvSpPr>
          <p:cNvPr id="7" name="Haar lijn eindigt bij q = 160, niet bij de markthoeveelheid.">
            <a:extLst xmlns:a="http://schemas.openxmlformats.org/drawingml/2006/main">
              <a:ext uri="{FF2B5EF4-FFF2-40B4-BE49-F238E27FC236}">
                <a16:creationId xmlns:a16="http://schemas.microsoft.com/office/drawing/2014/main" id="{7F34F835-4261-4116-A5F8-5E26DA5CD377}"/>
              </a:ext>
            </a:extLst>
          </p:cNvPr>
          <p:cNvSpPr>
            <a:spLocks xmlns:a="http://schemas.openxmlformats.org/drawingml/2006/main" noGrp="1"/>
          </p:cNvSpPr>
          <p:nvPr/>
        </p:nvSpPr>
        <p:spPr>
          <a:xfrm xmlns:a="http://schemas.openxmlformats.org/drawingml/2006/main">
            <a:off x="571500" y="7410450"/>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Haar lijn eindigt bij q = 160, niet bij de markthoeveelheid.</a:t>
            </a:r>
          </a:p>
        </p:txBody>
      </p:sp>
    </p:spTree>
    <p:extLst>
      <p:ext uri="{BB962C8B-B14F-4D97-AF65-F5344CB8AC3E}">
        <p14:creationId xmlns:p14="http://schemas.microsoft.com/office/powerpoint/2010/main" val="55459592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2.1 Volkomen concurrentie: kenmerken">
            <a:extLst xmlns:a="http://schemas.openxmlformats.org/drawingml/2006/main">
              <a:ext uri="{FF2B5EF4-FFF2-40B4-BE49-F238E27FC236}">
                <a16:creationId xmlns:a16="http://schemas.microsoft.com/office/drawing/2014/main" id="{95BEE824-48E6-4ECC-856E-A2B540F8F08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 les: §3.2.1 Volkomen concurrentie: kenmerken</a:t>
            </a:r>
          </a:p>
        </p:txBody>
      </p:sp>
      <p:sp>
        <p:nvSpPr>
          <p:cNvPr id="2" name="">
            <a:extLst xmlns:a="http://schemas.openxmlformats.org/drawingml/2006/main">
              <a:ext uri="{FF2B5EF4-FFF2-40B4-BE49-F238E27FC236}">
                <a16:creationId xmlns:a16="http://schemas.microsoft.com/office/drawing/2014/main" id="{D060CAC7-DB77-44D9-9FED-A8BF5EC367E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1 Volkomen concurrentie">
            <a:extLst xmlns:a="http://schemas.openxmlformats.org/drawingml/2006/main">
              <a:ext uri="{FF2B5EF4-FFF2-40B4-BE49-F238E27FC236}">
                <a16:creationId xmlns:a16="http://schemas.microsoft.com/office/drawing/2014/main" id="{75C1A7A5-9195-4330-A9C0-A80905866FC1}"/>
              </a:ext>
            </a:extLst>
          </p:cNvPr>
          <p:cNvSpPr>
            <a:spLocks xmlns:a="http://schemas.openxmlformats.org/drawingml/2006/main" noGrp="1"/>
          </p:cNvSpPr>
          <p:nvPr/>
        </p:nvSpPr>
        <p:spPr>
          <a:xfrm xmlns:a="http://schemas.openxmlformats.org/drawingml/2006/main">
            <a:off x="571500" y="8077200"/>
            <a:ext cx="1314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§3.2.1 Volkomen concurrentie</a:t>
            </a:r>
          </a:p>
        </p:txBody>
      </p:sp>
      <p:sp>
        <p:nvSpPr>
          <p:cNvPr id="4" name="25">
            <a:extLst xmlns:a="http://schemas.openxmlformats.org/drawingml/2006/main">
              <a:ext uri="{FF2B5EF4-FFF2-40B4-BE49-F238E27FC236}">
                <a16:creationId xmlns:a16="http://schemas.microsoft.com/office/drawing/2014/main" id="{2A45A6DB-A844-4847-A950-6295B051C3C5}"/>
              </a:ext>
            </a:extLst>
          </p:cNvPr>
          <p:cNvSpPr>
            <a:spLocks xmlns:a="http://schemas.openxmlformats.org/drawingml/2006/main" noGrp="1"/>
          </p:cNvSpPr>
          <p:nvPr/>
        </p:nvSpPr>
        <p:spPr>
          <a:xfrm xmlns:a="http://schemas.openxmlformats.org/drawingml/2006/main">
            <a:off x="14001750" y="80486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sp>
        <p:nvSpPr>
          <p:cNvPr id="5" name="phase">
            <a:extLst xmlns:a="http://schemas.openxmlformats.org/drawingml/2006/main">
              <a:ext uri="{FF2B5EF4-FFF2-40B4-BE49-F238E27FC236}">
                <a16:creationId xmlns:a16="http://schemas.microsoft.com/office/drawing/2014/main" id="{DFD0FB7E-C7B3-4095-A8F5-8E4F909DD5F5}"/>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C550A745-4F05-4A0D-8432-015EE49358B4}"/>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5FD4E01A-D596-4EE0-89C6-9370A48701F2}"/>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7B893C64-4450-479E-ACE3-AAFC359F3C10}"/>
              </a:ext>
            </a:extLst>
          </p:cNvPr>
          <p:cNvSpPr>
            <a:spLocks xmlns:a="http://schemas.openxmlformats.org/drawingml/2006/main" noGrp="1"/>
          </p:cNvSpPr>
          <p:nvPr/>
        </p:nvSpPr>
        <p:spPr>
          <a:xfrm xmlns:a="http://schemas.openxmlformats.org/drawingml/2006/main">
            <a:off x="1104900" y="2324100"/>
            <a:ext cx="752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36F5CCC0-2C23-4B4B-BBEE-856A45B519B7}"/>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94C7CFC9-CE63-4212-BF3B-ED63C316C8B4}"/>
              </a:ext>
            </a:extLst>
          </p:cNvPr>
          <p:cNvSpPr>
            <a:spLocks xmlns:a="http://schemas.openxmlformats.org/drawingml/2006/main" noGrp="1"/>
          </p:cNvSpPr>
          <p:nvPr/>
        </p:nvSpPr>
        <p:spPr>
          <a:xfrm xmlns:a="http://schemas.openxmlformats.org/drawingml/2006/main">
            <a:off x="1104900" y="320040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B9FCE2E1-7990-4AF2-991B-CF3EA998BC95}"/>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2B21A381-70E0-4BA1-997E-EAB7FEFCAD66}"/>
              </a:ext>
            </a:extLst>
          </p:cNvPr>
          <p:cNvSpPr>
            <a:spLocks xmlns:a="http://schemas.openxmlformats.org/drawingml/2006/main" noGrp="1"/>
          </p:cNvSpPr>
          <p:nvPr/>
        </p:nvSpPr>
        <p:spPr>
          <a:xfrm xmlns:a="http://schemas.openxmlformats.org/drawingml/2006/main">
            <a:off x="1104900" y="37147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542D4A04-7876-4B3B-95F6-7A7115230573}"/>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9826FE57-BA6A-4C71-9565-777F169FE804}"/>
              </a:ext>
            </a:extLst>
          </p:cNvPr>
          <p:cNvSpPr>
            <a:spLocks xmlns:a="http://schemas.openxmlformats.org/drawingml/2006/main" noGrp="1"/>
          </p:cNvSpPr>
          <p:nvPr/>
        </p:nvSpPr>
        <p:spPr>
          <a:xfrm xmlns:a="http://schemas.openxmlformats.org/drawingml/2006/main">
            <a:off x="1104900" y="4248150"/>
            <a:ext cx="75247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3F626058-4BBC-4139-AE3A-7FC22D3E66B9}"/>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E502818D-CB88-4DBB-8A6A-B8296978FC7C}"/>
              </a:ext>
            </a:extLst>
          </p:cNvPr>
          <p:cNvSpPr>
            <a:spLocks xmlns:a="http://schemas.openxmlformats.org/drawingml/2006/main" noGrp="1"/>
          </p:cNvSpPr>
          <p:nvPr/>
        </p:nvSpPr>
        <p:spPr>
          <a:xfrm xmlns:a="http://schemas.openxmlformats.org/drawingml/2006/main">
            <a:off x="1104900" y="6057900"/>
            <a:ext cx="7524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1C4E1A3F-FD68-4B00-B883-B2397F993552}"/>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925A684B-543D-41A1-9823-933192FB84CE}"/>
              </a:ext>
            </a:extLst>
          </p:cNvPr>
          <p:cNvSpPr>
            <a:spLocks xmlns:a="http://schemas.openxmlformats.org/drawingml/2006/main" noGrp="1"/>
          </p:cNvSpPr>
          <p:nvPr/>
        </p:nvSpPr>
        <p:spPr>
          <a:xfrm xmlns:a="http://schemas.openxmlformats.org/drawingml/2006/main">
            <a:off x="1104900" y="681990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7">
            <a:extLst xmlns:a="http://schemas.openxmlformats.org/drawingml/2006/main">
              <a:ext uri="{FF2B5EF4-FFF2-40B4-BE49-F238E27FC236}">
                <a16:creationId xmlns:a16="http://schemas.microsoft.com/office/drawing/2014/main" id="{9B2E721C-0D85-46D7-BD11-B10985378C65}"/>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37EAF3FB-E278-4EDD-A79E-D6145BEB8A46}"/>
              </a:ext>
            </a:extLst>
          </p:cNvPr>
          <p:cNvSpPr>
            <a:spLocks xmlns:a="http://schemas.openxmlformats.org/drawingml/2006/main" noGrp="1"/>
          </p:cNvSpPr>
          <p:nvPr/>
        </p:nvSpPr>
        <p:spPr>
          <a:xfrm xmlns:a="http://schemas.openxmlformats.org/drawingml/2006/main">
            <a:off x="1104900" y="7372350"/>
            <a:ext cx="752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A8F0A9E7-E012-4FCC-B4A6-5CFAA63579AA}"/>
              </a:ext>
            </a:extLst>
          </p:cNvPr>
          <p:cNvSpPr>
            <a:spLocks xmlns:a="http://schemas.openxmlformats.org/drawingml/2006/main" noGrp="1"/>
          </p:cNvSpPr>
          <p:nvPr/>
        </p:nvSpPr>
        <p:spPr>
          <a:xfrm xmlns:a="http://schemas.openxmlformats.org/drawingml/2006/main">
            <a:off x="9258300" y="1762125"/>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0D1FF964-ADFF-4E2C-B8C4-C74B51FE9317}"/>
              </a:ext>
            </a:extLst>
          </p:cNvPr>
          <p:cNvSpPr>
            <a:spLocks xmlns:a="http://schemas.openxmlformats.org/drawingml/2006/main" noGrp="1"/>
          </p:cNvSpPr>
          <p:nvPr/>
        </p:nvSpPr>
        <p:spPr>
          <a:xfrm xmlns:a="http://schemas.openxmlformats.org/drawingml/2006/main">
            <a:off x="9258300" y="2286000"/>
            <a:ext cx="54102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Prijsnemerschap verklaren,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marktprijs overnemen 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TO, GO en MO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Een prijskeuze beoordelen.</a:t>
            </a:r>
          </a:p>
        </p:txBody>
      </p:sp>
      <p:sp>
        <p:nvSpPr>
          <p:cNvPr id="23" name="">
            <a:extLst xmlns:a="http://schemas.openxmlformats.org/drawingml/2006/main">
              <a:ext uri="{FF2B5EF4-FFF2-40B4-BE49-F238E27FC236}">
                <a16:creationId xmlns:a16="http://schemas.microsoft.com/office/drawing/2014/main" id="{C753D8BE-279A-4D7F-9C50-B95743CA26E7}"/>
              </a:ext>
            </a:extLst>
          </p:cNvPr>
          <p:cNvSpPr>
            <a:spLocks xmlns:a="http://schemas.openxmlformats.org/drawingml/2006/main" noGrp="1"/>
          </p:cNvSpPr>
          <p:nvPr/>
        </p:nvSpPr>
        <p:spPr>
          <a:xfrm xmlns:a="http://schemas.openxmlformats.org/drawingml/2006/main">
            <a:off x="9258300" y="3724275"/>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674EFCF9-97C9-49F3-B8E4-1FE5A0140471}"/>
              </a:ext>
            </a:extLst>
          </p:cNvPr>
          <p:cNvSpPr>
            <a:spLocks xmlns:a="http://schemas.openxmlformats.org/drawingml/2006/main" noGrp="1"/>
          </p:cNvSpPr>
          <p:nvPr/>
        </p:nvSpPr>
        <p:spPr>
          <a:xfrm xmlns:a="http://schemas.openxmlformats.org/drawingml/2006/main">
            <a:off x="9258300" y="3886200"/>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F79562E7-0F98-4F74-A9AA-4BB24E016E5C}"/>
              </a:ext>
            </a:extLst>
          </p:cNvPr>
          <p:cNvSpPr>
            <a:spLocks xmlns:a="http://schemas.openxmlformats.org/drawingml/2006/main" noGrp="1"/>
          </p:cNvSpPr>
          <p:nvPr/>
        </p:nvSpPr>
        <p:spPr>
          <a:xfrm xmlns:a="http://schemas.openxmlformats.org/drawingml/2006/main">
            <a:off x="9258300" y="4381500"/>
            <a:ext cx="5410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57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met theorie</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op pagina 54–55</a:t>
            </a:r>
          </a:p>
        </p:txBody>
      </p:sp>
      <p:sp>
        <p:nvSpPr>
          <p:cNvPr id="26" name="">
            <a:extLst xmlns:a="http://schemas.openxmlformats.org/drawingml/2006/main">
              <a:ext uri="{FF2B5EF4-FFF2-40B4-BE49-F238E27FC236}">
                <a16:creationId xmlns:a16="http://schemas.microsoft.com/office/drawing/2014/main" id="{6900D3F6-B24A-4AEF-97D4-4C029E5D8D1E}"/>
              </a:ext>
            </a:extLst>
          </p:cNvPr>
          <p:cNvSpPr>
            <a:spLocks xmlns:a="http://schemas.openxmlformats.org/drawingml/2006/main" noGrp="1"/>
          </p:cNvSpPr>
          <p:nvPr/>
        </p:nvSpPr>
        <p:spPr>
          <a:xfrm xmlns:a="http://schemas.openxmlformats.org/drawingml/2006/main">
            <a:off x="9258300" y="55816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B2EA056D-F8CE-4DC8-8540-4FF8C6C83319}"/>
              </a:ext>
            </a:extLst>
          </p:cNvPr>
          <p:cNvSpPr>
            <a:spLocks xmlns:a="http://schemas.openxmlformats.org/drawingml/2006/main" noGrp="1"/>
          </p:cNvSpPr>
          <p:nvPr/>
        </p:nvSpPr>
        <p:spPr>
          <a:xfrm xmlns:a="http://schemas.openxmlformats.org/drawingml/2006/main">
            <a:off x="9258300" y="5753100"/>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E04F24AC-8DD2-47C2-85F7-BB976CC57DE2}"/>
              </a:ext>
            </a:extLst>
          </p:cNvPr>
          <p:cNvSpPr>
            <a:spLocks xmlns:a="http://schemas.openxmlformats.org/drawingml/2006/main" noGrp="1"/>
          </p:cNvSpPr>
          <p:nvPr/>
        </p:nvSpPr>
        <p:spPr>
          <a:xfrm xmlns:a="http://schemas.openxmlformats.org/drawingml/2006/main">
            <a:off x="9258300" y="6257925"/>
            <a:ext cx="54102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§3.2.1</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3 en 4</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5 en 6</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7</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19246893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2026-10-01T10:22:09.7700000Z</dcterms:created>
  <dcterms:modified xsi:type="dcterms:W3CDTF">2026-10-01T10:22:09.7700000Z</dcterms:modified>
</coreProperties>
</file>