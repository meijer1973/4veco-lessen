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2.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3.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slides/charts/chart4.xml" ContentType="application/vnd.openxmlformats-officedocument.drawingml.chart+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slides/charts/chart5.xml" ContentType="application/vnd.openxmlformats-officedocument.drawingml.chart+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slides/charts/chart6.xml" ContentType="application/vnd.openxmlformats-officedocument.drawingml.chart+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10f27a2794174d60" /><Relationship Type="http://schemas.openxmlformats.org/officeDocument/2006/relationships/extended-properties" Target="/docProps/app.xml" Id="R21cbf792de474587" /><Relationship Type="http://schemas.openxmlformats.org/officeDocument/2006/relationships/officeDocument" Target="/ppt/presentation.xml" Id="R0e2826a21d534f07" /></Relationships>
</file>

<file path=ppt/presentation.xml><?xml version="1.0" encoding="utf-8"?>
<p:presentation xmlns:p="http://schemas.openxmlformats.org/presentationml/2006/main">
  <p:sldMasterIdLst>
    <p:sldMasterId xmlns:r="http://schemas.openxmlformats.org/officeDocument/2006/relationships" id="2147483648" r:id="R544628b432414b47"/>
  </p:sldMasterIdLst>
  <p:notesMasterIdLst>
    <p:notesMasterId xmlns:r="http://schemas.openxmlformats.org/officeDocument/2006/relationships" r:id="R7a21f1be1ec54571"/>
  </p:notesMasterIdLst>
  <p:sldIdLst>
    <p:sldId xmlns:r="http://schemas.openxmlformats.org/officeDocument/2006/relationships" id="256" r:id="R99075208f496494e"/>
    <p:sldId xmlns:r="http://schemas.openxmlformats.org/officeDocument/2006/relationships" id="257" r:id="R1bb86ff8b1a24b78"/>
    <p:sldId xmlns:r="http://schemas.openxmlformats.org/officeDocument/2006/relationships" id="258" r:id="R567e597f2aa14f0f"/>
    <p:sldId xmlns:r="http://schemas.openxmlformats.org/officeDocument/2006/relationships" id="259" r:id="Rc65481dc4f3e4495"/>
    <p:sldId xmlns:r="http://schemas.openxmlformats.org/officeDocument/2006/relationships" id="260" r:id="Rbee7e9c04bec4a06"/>
    <p:sldId xmlns:r="http://schemas.openxmlformats.org/officeDocument/2006/relationships" id="261" r:id="R625d826aabfb4a5d"/>
    <p:sldId xmlns:r="http://schemas.openxmlformats.org/officeDocument/2006/relationships" id="262" r:id="R8929439a41a6416d"/>
    <p:sldId xmlns:r="http://schemas.openxmlformats.org/officeDocument/2006/relationships" id="263" r:id="Rcb9c5b4a42794e93"/>
    <p:sldId xmlns:r="http://schemas.openxmlformats.org/officeDocument/2006/relationships" id="264" r:id="Rba46eadf823c4325"/>
    <p:sldId xmlns:r="http://schemas.openxmlformats.org/officeDocument/2006/relationships" id="265" r:id="R446a381fd74a4c6a"/>
    <p:sldId xmlns:r="http://schemas.openxmlformats.org/officeDocument/2006/relationships" id="266" r:id="Rcfb6f1fe929e49c9"/>
    <p:sldId xmlns:r="http://schemas.openxmlformats.org/officeDocument/2006/relationships" id="267" r:id="R4e4b2b952b3d4042"/>
    <p:sldId xmlns:r="http://schemas.openxmlformats.org/officeDocument/2006/relationships" id="268" r:id="Rc47989c97e754af6"/>
    <p:sldId xmlns:r="http://schemas.openxmlformats.org/officeDocument/2006/relationships" id="269" r:id="R57c941d7c04f4548"/>
    <p:sldId xmlns:r="http://schemas.openxmlformats.org/officeDocument/2006/relationships" id="270" r:id="R302f2badc9c04a85"/>
    <p:sldId xmlns:r="http://schemas.openxmlformats.org/officeDocument/2006/relationships" id="271" r:id="Rb5bfc92c8f524cc0"/>
    <p:sldId xmlns:r="http://schemas.openxmlformats.org/officeDocument/2006/relationships" id="272" r:id="Rb8b3a0ea1bb645df"/>
    <p:sldId xmlns:r="http://schemas.openxmlformats.org/officeDocument/2006/relationships" id="273" r:id="Rfb98c40e02904582"/>
    <p:sldId xmlns:r="http://schemas.openxmlformats.org/officeDocument/2006/relationships" id="274" r:id="Rbed8b2f0db834d23"/>
    <p:sldId xmlns:r="http://schemas.openxmlformats.org/officeDocument/2006/relationships" id="275" r:id="R3d0cf49460bb4579"/>
    <p:sldId xmlns:r="http://schemas.openxmlformats.org/officeDocument/2006/relationships" id="276" r:id="R407cba9194ff45bd"/>
    <p:sldId xmlns:r="http://schemas.openxmlformats.org/officeDocument/2006/relationships" id="277" r:id="R293e4c021eb4463f"/>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252c31be4024b23" /><Relationship Type="http://schemas.openxmlformats.org/officeDocument/2006/relationships/slideMaster" Target="/ppt/slideMasters/slideMaster1.xml" Id="R544628b432414b47" /><Relationship Type="http://schemas.openxmlformats.org/officeDocument/2006/relationships/notesMaster" Target="/ppt/notesMasters/notesMaster1.xml" Id="R7a21f1be1ec54571" /><Relationship Type="http://schemas.openxmlformats.org/officeDocument/2006/relationships/presProps" Target="/ppt/presProps.xml" Id="R629353eaec2d47fd" /><Relationship Type="http://schemas.openxmlformats.org/officeDocument/2006/relationships/tableStyles" Target="/ppt/tableStyles.xml" Id="Rb58fcc448ac84490" /><Relationship Type="http://schemas.openxmlformats.org/officeDocument/2006/relationships/slide" Target="/ppt/slides/slide1.xml" Id="R99075208f496494e" /><Relationship Type="http://schemas.openxmlformats.org/officeDocument/2006/relationships/slide" Target="/ppt/slides/slide2.xml" Id="R1bb86ff8b1a24b78" /><Relationship Type="http://schemas.openxmlformats.org/officeDocument/2006/relationships/slide" Target="/ppt/slides/slide3.xml" Id="R567e597f2aa14f0f" /><Relationship Type="http://schemas.openxmlformats.org/officeDocument/2006/relationships/slide" Target="/ppt/slides/slide4.xml" Id="Rc65481dc4f3e4495" /><Relationship Type="http://schemas.openxmlformats.org/officeDocument/2006/relationships/slide" Target="/ppt/slides/slide5.xml" Id="Rbee7e9c04bec4a06" /><Relationship Type="http://schemas.openxmlformats.org/officeDocument/2006/relationships/slide" Target="/ppt/slides/slide6.xml" Id="R625d826aabfb4a5d" /><Relationship Type="http://schemas.openxmlformats.org/officeDocument/2006/relationships/slide" Target="/ppt/slides/slide7.xml" Id="R8929439a41a6416d" /><Relationship Type="http://schemas.openxmlformats.org/officeDocument/2006/relationships/slide" Target="/ppt/slides/slide8.xml" Id="Rcb9c5b4a42794e93" /><Relationship Type="http://schemas.openxmlformats.org/officeDocument/2006/relationships/slide" Target="/ppt/slides/slide9.xml" Id="Rba46eadf823c4325" /><Relationship Type="http://schemas.openxmlformats.org/officeDocument/2006/relationships/slide" Target="/ppt/slides/slide10.xml" Id="R446a381fd74a4c6a" /><Relationship Type="http://schemas.openxmlformats.org/officeDocument/2006/relationships/slide" Target="/ppt/slides/slide11.xml" Id="Rcfb6f1fe929e49c9" /><Relationship Type="http://schemas.openxmlformats.org/officeDocument/2006/relationships/slide" Target="/ppt/slides/slide12.xml" Id="R4e4b2b952b3d4042" /><Relationship Type="http://schemas.openxmlformats.org/officeDocument/2006/relationships/slide" Target="/ppt/slides/slide13.xml" Id="Rc47989c97e754af6" /><Relationship Type="http://schemas.openxmlformats.org/officeDocument/2006/relationships/slide" Target="/ppt/slides/slide14.xml" Id="R57c941d7c04f4548" /><Relationship Type="http://schemas.openxmlformats.org/officeDocument/2006/relationships/slide" Target="/ppt/slides/slide15.xml" Id="R302f2badc9c04a85" /><Relationship Type="http://schemas.openxmlformats.org/officeDocument/2006/relationships/slide" Target="/ppt/slides/slide16.xml" Id="Rb5bfc92c8f524cc0" /><Relationship Type="http://schemas.openxmlformats.org/officeDocument/2006/relationships/slide" Target="/ppt/slides/slide17.xml" Id="Rb8b3a0ea1bb645df" /><Relationship Type="http://schemas.openxmlformats.org/officeDocument/2006/relationships/slide" Target="/ppt/slides/slide18.xml" Id="Rfb98c40e02904582" /><Relationship Type="http://schemas.openxmlformats.org/officeDocument/2006/relationships/slide" Target="/ppt/slides/slide19.xml" Id="Rbed8b2f0db834d23" /><Relationship Type="http://schemas.openxmlformats.org/officeDocument/2006/relationships/slide" Target="/ppt/slides/slide20.xml" Id="R3d0cf49460bb4579" /><Relationship Type="http://schemas.openxmlformats.org/officeDocument/2006/relationships/slide" Target="/ppt/slides/slide21.xml" Id="R407cba9194ff45bd" /><Relationship Type="http://schemas.openxmlformats.org/officeDocument/2006/relationships/slide" Target="/ppt/slides/slide22.xml" Id="R293e4c021eb4463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f6c7aa37b52470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4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b1ee03ea8d44df4" /><Relationship Type="http://schemas.openxmlformats.org/officeDocument/2006/relationships/notesMaster" Target="/ppt/notesMasters/notesMaster1.xml" Id="R62a901e7c53545e2" /></Relationships>
</file>

<file path=ppt/notesSlides/_rels/notesSlide2.xml.rels>&#65279;<?xml version="1.0" encoding="utf-8"?><Relationships xmlns="http://schemas.openxmlformats.org/package/2006/relationships"><Relationship Type="http://schemas.openxmlformats.org/officeDocument/2006/relationships/slide" Target="/ppt/slides/slide2.xml" Id="Rf60b3a7a410742f3" /><Relationship Type="http://schemas.openxmlformats.org/officeDocument/2006/relationships/notesMaster" Target="/ppt/notesMasters/notesMaster1.xml" Id="R5fd77c2f344f4360" /></Relationships>
</file>

<file path=ppt/notesSlides/_rels/notesSlide3.xml.rels>&#65279;<?xml version="1.0" encoding="utf-8"?><Relationships xmlns="http://schemas.openxmlformats.org/package/2006/relationships"><Relationship Type="http://schemas.openxmlformats.org/officeDocument/2006/relationships/slide" Target="/ppt/slides/slide3.xml" Id="R01cfc7e829c84363" /><Relationship Type="http://schemas.openxmlformats.org/officeDocument/2006/relationships/notesMaster" Target="/ppt/notesMasters/notesMaster1.xml" Id="Ra112981c824b4962" /></Relationships>
</file>

<file path=ppt/notesSlides/_rels/notesSlide4.xml.rels>&#65279;<?xml version="1.0" encoding="utf-8"?><Relationships xmlns="http://schemas.openxmlformats.org/package/2006/relationships"><Relationship Type="http://schemas.openxmlformats.org/officeDocument/2006/relationships/slide" Target="/ppt/slides/slide4.xml" Id="R2a0fe76fc9e64aa8" /><Relationship Type="http://schemas.openxmlformats.org/officeDocument/2006/relationships/notesMaster" Target="/ppt/notesMasters/notesMaster1.xml" Id="R477541a3c54949d1" /></Relationships>
</file>

<file path=ppt/notesSlides/_rels/notesSlide5.xml.rels>&#65279;<?xml version="1.0" encoding="utf-8"?><Relationships xmlns="http://schemas.openxmlformats.org/package/2006/relationships"><Relationship Type="http://schemas.openxmlformats.org/officeDocument/2006/relationships/slide" Target="/ppt/slides/slide5.xml" Id="R1266b2d15aae4c4e" /><Relationship Type="http://schemas.openxmlformats.org/officeDocument/2006/relationships/notesMaster" Target="/ppt/notesMasters/notesMaster1.xml" Id="R4369a3e67a274891" /></Relationships>
</file>

<file path=ppt/notesSlides/_rels/notesSlide6.xml.rels>&#65279;<?xml version="1.0" encoding="utf-8"?><Relationships xmlns="http://schemas.openxmlformats.org/package/2006/relationships"><Relationship Type="http://schemas.openxmlformats.org/officeDocument/2006/relationships/slide" Target="/ppt/slides/slide6.xml" Id="Rb98c9a9fa2c4476a" /><Relationship Type="http://schemas.openxmlformats.org/officeDocument/2006/relationships/notesMaster" Target="/ppt/notesMasters/notesMaster1.xml" Id="R299411b863d742a6" /></Relationships>
</file>

<file path=ppt/notesSlides/_rels/notesSlide7.xml.rels>&#65279;<?xml version="1.0" encoding="utf-8"?><Relationships xmlns="http://schemas.openxmlformats.org/package/2006/relationships"><Relationship Type="http://schemas.openxmlformats.org/officeDocument/2006/relationships/slide" Target="/ppt/slides/slide7.xml" Id="Rb6c969c9cf7b48ab" /><Relationship Type="http://schemas.openxmlformats.org/officeDocument/2006/relationships/notesMaster" Target="/ppt/notesMasters/notesMaster1.xml" Id="R5463bd7a58074fa1" /></Relationships>
</file>

<file path=ppt/notesSlides/_rels/notesSlide8.xml.rels>&#65279;<?xml version="1.0" encoding="utf-8"?><Relationships xmlns="http://schemas.openxmlformats.org/package/2006/relationships"><Relationship Type="http://schemas.openxmlformats.org/officeDocument/2006/relationships/slide" Target="/ppt/slides/slide8.xml" Id="R31d7854bd7154545" /><Relationship Type="http://schemas.openxmlformats.org/officeDocument/2006/relationships/notesMaster" Target="/ppt/notesMasters/notesMaster1.xml" Id="R9011b7f8e3b440bf" /></Relationships>
</file>

<file path=ppt/notesSlides/_rels/notesSlide9.xml.rels>&#65279;<?xml version="1.0" encoding="utf-8"?><Relationships xmlns="http://schemas.openxmlformats.org/package/2006/relationships"><Relationship Type="http://schemas.openxmlformats.org/officeDocument/2006/relationships/slide" Target="/ppt/slides/slide9.xml" Id="R3196bd2133f04f1e" /><Relationship Type="http://schemas.openxmlformats.org/officeDocument/2006/relationships/notesMaster" Target="/ppt/notesMasters/notesMaster1.xml" Id="R183644f3f63b453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a5e0bbfb77d4d77" /><Relationship Type="http://schemas.openxmlformats.org/officeDocument/2006/relationships/notesMaster" Target="/ppt/notesMasters/notesMaster1.xml" Id="R0fb39aefc82f4ed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771ddffac844505" /><Relationship Type="http://schemas.openxmlformats.org/officeDocument/2006/relationships/notesMaster" Target="/ppt/notesMasters/notesMaster1.xml" Id="R824e84fe12124a6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e6b0e1ace2645e4" /><Relationship Type="http://schemas.openxmlformats.org/officeDocument/2006/relationships/notesMaster" Target="/ppt/notesMasters/notesMaster1.xml" Id="R4d232a7d1125487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c15a915a0ce4341" /><Relationship Type="http://schemas.openxmlformats.org/officeDocument/2006/relationships/notesMaster" Target="/ppt/notesMasters/notesMaster1.xml" Id="Rcd798486af724e6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6ee2e4d77054ef8" /><Relationship Type="http://schemas.openxmlformats.org/officeDocument/2006/relationships/notesMaster" Target="/ppt/notesMasters/notesMaster1.xml" Id="R59108bc6ab104d4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5cc89fa73594cd5" /><Relationship Type="http://schemas.openxmlformats.org/officeDocument/2006/relationships/notesMaster" Target="/ppt/notesMasters/notesMaster1.xml" Id="Rf40756d6f15c40c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a8a7aae8c0f4776" /><Relationship Type="http://schemas.openxmlformats.org/officeDocument/2006/relationships/notesMaster" Target="/ppt/notesMasters/notesMaster1.xml" Id="Rc45564510630493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fb978c216944706" /><Relationship Type="http://schemas.openxmlformats.org/officeDocument/2006/relationships/notesMaster" Target="/ppt/notesMasters/notesMaster1.xml" Id="R44ff5e0467c04eb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54cb2898d624d5b" /><Relationship Type="http://schemas.openxmlformats.org/officeDocument/2006/relationships/notesMaster" Target="/ppt/notesMasters/notesMaster1.xml" Id="R4d039265e8dc420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7495407a7084fd9" /><Relationship Type="http://schemas.openxmlformats.org/officeDocument/2006/relationships/notesMaster" Target="/ppt/notesMasters/notesMaster1.xml" Id="R422759f0a2494dc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aa23fd0819a4764" /><Relationship Type="http://schemas.openxmlformats.org/officeDocument/2006/relationships/notesMaster" Target="/ppt/notesMasters/notesMaster1.xml" Id="R7a1430ffa50b43d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47d304f3ccbb452b" /><Relationship Type="http://schemas.openxmlformats.org/officeDocument/2006/relationships/notesMaster" Target="/ppt/notesMasters/notesMaster1.xml" Id="R46847556bb064894"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9ecc6a8399374967" /><Relationship Type="http://schemas.openxmlformats.org/officeDocument/2006/relationships/notesMaster" Target="/ppt/notesMasters/notesMaster1.xml" Id="R2731d34894e3467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gegevens gaan over alle bedrijven samen?</a:t>
            </a:r>
          </a:p>
          <a:p xmlns:a="http://schemas.openxmlformats.org/drawingml/2006/main">
            <a:r>
              <a:rPr sz="1400"/>
              <a:t/>
            </a:r>
          </a:p>
          <a:p xmlns:a="http://schemas.openxmlformats.org/drawingml/2006/main">
            <a:r>
              <a:rPr sz="1400"/>
              <a:t>Uitleg: Laat het overzicht staan tijdens startopdracht. Start: de eerste echte opgave, 31 op p.79. Zij herhaalt het evenwicht berekenen uit Boek 1 §1.3.2, prijsnemerschap, TO en P=GO=MO uit §3.2.1. Bij moeite: laat leerlingen p.54–56 en de evenwichtsaanpak erbij nemen. Geef nog geen uitgewerkte antwoorden. Bespreek na de korte herhaling welke bron bij Q en q hoort. Werk verder aan 32–34 en doel35. Dit is een gemengde paragraaf zonder aparte basis- of zelfstandige sectie. Huiswerk volgens de classroom-route: alle opgaven 31,32,33,34,35,36 (bonus),37 (herhaling) maken en nakijken. Het boek presenteert bonus/herhaling als aanvullende onderdelen; deze lesroute neemt ze expliciet in het huiswerk op. Geen aangetoonde 55-minutenfit.</a:t>
            </a:r>
          </a:p>
          <a:p xmlns:a="http://schemas.openxmlformats.org/drawingml/2006/main">
            <a:r>
              <a:rPr sz="1400"/>
              <a:t/>
            </a:r>
          </a:p>
          <a:p xmlns:a="http://schemas.openxmlformats.org/drawingml/2006/main">
            <a:r>
              <a:rPr sz="1400"/>
              <a:t>Misvatting: Een marktprijs geeft nog geen productieadvies voor één onderneming zonder haar kosten.</a:t>
            </a:r>
          </a:p>
          <a:p xmlns:a="http://schemas.openxmlformats.org/drawingml/2006/main">
            <a:r>
              <a:rPr sz="1400"/>
              <a:t/>
            </a:r>
          </a:p>
          <a:p xmlns:a="http://schemas.openxmlformats.org/drawingml/2006/main">
            <a:r>
              <a:rPr sz="1400"/>
              <a:t>Overgang: Ga naar de volgende lesfase.</a:t>
            </a:r>
          </a:p>
          <a:p xmlns:a="http://schemas.openxmlformats.org/drawingml/2006/main">
            <a:r>
              <a:rPr sz="1400"/>
              <a:t/>
            </a:r>
          </a:p>
          <a:p xmlns:a="http://schemas.openxmlformats.org/drawingml/2006/main">
            <a:r>
              <a:rPr sz="1400"/>
              <a:t>Bron: Boek 3, books34-v3, gedrukte boekpagina 54–56, 79–84. https://github.com/meijer1973/4veco-lessen/blob/9b8304d5031cafac936a56281e144573a25fbbc9/edities/books34-v3/books/book-3/output/Boek_3_Compleet_v3.pdf</a:t>
            </a:r>
          </a:p>
          <a:p xmlns:a="http://schemas.openxmlformats.org/drawingml/2006/main">
            <a:r>
              <a:rPr sz="1400"/>
              <a:t>Manuscript en antwoordmodel: https://github.com/meijer1973/4veco-lessen/blob/9b8304d5031cafac936a56281e144573a25fbbc9/edities/books34-v3/books/book-3/chapters/3.2/3.2.4%20manuscript.md en https://github.com/meijer1973/4veco-lessen/blob/9b8304d5031cafac936a56281e144573a25fbbc9/edities/books34-v3/books/book-3/chapters/3.2/Antwoorden.md</a:t>
            </a:r>
          </a:p>
          <a:p xmlns:a="http://schemas.openxmlformats.org/drawingml/2006/main">
            <a:r>
              <a:rPr sz="1400"/>
              <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waarde kan één kleine aanbieder overnemen?</a:t>
            </a:r>
          </a:p>
          <a:p xmlns:a="http://schemas.openxmlformats.org/drawingml/2006/main">
            <a:r>
              <a:rPr sz="1400"/>
              <a:t/>
            </a:r>
          </a:p>
          <a:p xmlns:a="http://schemas.openxmlformats.org/drawingml/2006/main">
            <a:r>
              <a:rPr sz="1400"/>
              <a:t>Uitleg: Eigen voorbeeld. Stel de hoeveelheden aan elkaar gelijk en los eerst P op. Controleer de vraag: 9.000−500×6=6.000, gelijk aan Qa. Q omvat de hele markt. Eén kleine aanbieder neemt alleen P=6 over. Herhaal als methodecue de procentuele verandering met de oude waarde als noemer, straks voor elke grootheid afzonderlijk. Dit is de bekende algebra, geen nieuwe markttheorie.</a:t>
            </a:r>
          </a:p>
          <a:p xmlns:a="http://schemas.openxmlformats.org/drawingml/2006/main">
            <a:r>
              <a:rPr sz="1400"/>
              <a:t/>
            </a:r>
          </a:p>
          <a:p xmlns:a="http://schemas.openxmlformats.org/drawingml/2006/main">
            <a:r>
              <a:rPr sz="1400"/>
              <a:t>Misvatting: Vul Q=6.000 straks niet in de kostenfunctie van één bedrijf.</a:t>
            </a:r>
          </a:p>
          <a:p xmlns:a="http://schemas.openxmlformats.org/drawingml/2006/main">
            <a:r>
              <a:rPr sz="1400"/>
              <a:t/>
            </a:r>
          </a:p>
          <a:p xmlns:a="http://schemas.openxmlformats.org/drawingml/2006/main">
            <a:r>
              <a:rPr sz="1400"/>
              <a:t>Overgang: Bekijk de kosten van één aanbieder.</a:t>
            </a:r>
          </a:p>
          <a:p xmlns:a="http://schemas.openxmlformats.org/drawingml/2006/main">
            <a:r>
              <a:rPr sz="1400"/>
              <a:t/>
            </a:r>
          </a:p>
          <a:p xmlns:a="http://schemas.openxmlformats.org/drawingml/2006/main">
            <a:r>
              <a:rPr sz="1400"/>
              <a:t>Bron: Boek 3, books34-v3, gedrukte boekpagina 55–56, 79. https://github.com/meijer1973/4veco-lessen/blob/9b8304d5031cafac936a56281e144573a25fbbc9/edities/books34-v3/books/book-3/output/Boek_3_Compleet_v3.pdf</a:t>
            </a:r>
          </a:p>
          <a:p xmlns:a="http://schemas.openxmlformats.org/drawingml/2006/main">
            <a:r>
              <a:rPr sz="1400"/>
              <a:t>Manuscript en antwoordmodel: https://github.com/meijer1973/4veco-lessen/blob/9b8304d5031cafac936a56281e144573a25fbbc9/edities/books34-v3/books/book-3/chapters/3.2/3.2.4%20manuscript.md en https://github.com/meijer1973/4veco-lessen/blob/9b8304d5031cafac936a56281e144573a25fbbc9/edities/books34-v3/books/book-3/chapters/3.2/Antwoorden.md</a:t>
            </a:r>
          </a:p>
          <a:p xmlns:a="http://schemas.openxmlformats.org/drawingml/2006/main">
            <a:r>
              <a:rPr sz="1400"/>
              <a:t>Eigen context en gegevens: glasgranulaat, één week. Uitlegvoorbeeld, niet uit het boek. De genoemde boekpagina’s onderbouwen alleen de methoden. Constante kosten zijn deze week onvermijdbaar, kg zijn deelbaar, de kleine prijsnemer kan alle productie verkopen.</a:t>
            </a:r>
          </a:p>
          <a:p xmlns:a="http://schemas.openxmlformats.org/drawingml/2006/main">
            <a:r>
              <a:rPr sz="1400"/>
              <a:t>Algebra-anker: Boek 1 §1.3.2, Het evenwicht berekenen.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is alleen 6 = MK nog geen volledig bewijs?</a:t>
            </a:r>
          </a:p>
          <a:p xmlns:a="http://schemas.openxmlformats.org/drawingml/2006/main">
            <a:r>
              <a:rPr sz="1400"/>
              <a:t/>
            </a:r>
          </a:p>
          <a:p xmlns:a="http://schemas.openxmlformats.org/drawingml/2006/main">
            <a:r>
              <a:rPr sz="1400"/>
              <a:t>Uitleg: Differentieer term voor term: 0,025q² wordt 0,05q; 2q wordt2;90 wordt0. q is deelbaar. MK is een puntwaarde per kg, niet het exacte bedrag voor een hele eindige stap. MO=MK geeft de kandidaat80. Omdat MK stijgt door MO en de capaciteit100 is, is dit hier het maximum. Dezelfde onvermijdbare90 blijft bij q=0 bestaan. Volgende dia toont winst70, beter dan−90 bij nul. Bij een tabelstap zoals opgave37 gebruik je ΔTK/Δq.</a:t>
            </a:r>
          </a:p>
          <a:p xmlns:a="http://schemas.openxmlformats.org/drawingml/2006/main">
            <a:r>
              <a:rPr sz="1400"/>
              <a:t/>
            </a:r>
          </a:p>
          <a:p xmlns:a="http://schemas.openxmlformats.org/drawingml/2006/main">
            <a:r>
              <a:rPr sz="1400"/>
              <a:t>Misvatting: Het minimum van GTK bepaalt niet vanzelf de maximale totale winst.</a:t>
            </a:r>
          </a:p>
          <a:p xmlns:a="http://schemas.openxmlformats.org/drawingml/2006/main">
            <a:r>
              <a:rPr sz="1400"/>
              <a:t/>
            </a:r>
          </a:p>
          <a:p xmlns:a="http://schemas.openxmlformats.org/drawingml/2006/main">
            <a:r>
              <a:rPr sz="1400"/>
              <a:t>Overgang: Bereken winst en GTK op dezezelfde q.</a:t>
            </a:r>
          </a:p>
          <a:p xmlns:a="http://schemas.openxmlformats.org/drawingml/2006/main">
            <a:r>
              <a:rPr sz="1400"/>
              <a:t/>
            </a:r>
          </a:p>
          <a:p xmlns:a="http://schemas.openxmlformats.org/drawingml/2006/main">
            <a:r>
              <a:rPr sz="1400"/>
              <a:t>Bron: Boek 3, books34-v3, gedrukte boekpagina 62–64, 70–72. https://github.com/meijer1973/4veco-lessen/blob/9b8304d5031cafac936a56281e144573a25fbbc9/edities/books34-v3/books/book-3/output/Boek_3_Compleet_v3.pdf</a:t>
            </a:r>
          </a:p>
          <a:p xmlns:a="http://schemas.openxmlformats.org/drawingml/2006/main">
            <a:r>
              <a:rPr sz="1400"/>
              <a:t>Manuscript en antwoordmodel: https://github.com/meijer1973/4veco-lessen/blob/9b8304d5031cafac936a56281e144573a25fbbc9/edities/books34-v3/books/book-3/chapters/3.2/3.2.4%20manuscript.md en https://github.com/meijer1973/4veco-lessen/blob/9b8304d5031cafac936a56281e144573a25fbbc9/edities/books34-v3/books/book-3/chapters/3.2/Antwoorden.md</a:t>
            </a:r>
          </a:p>
          <a:p xmlns:a="http://schemas.openxmlformats.org/drawingml/2006/main">
            <a:r>
              <a:rPr sz="1400"/>
              <a:t>Eigen context en gegevens: glasgranulaat, één week. Uitlegvoorbeeld, niet uit het boek. De genoemde boekpagina’s onderbouwen alleen de methoden. Constante kosten zijn deze week onvermijdbaar, kg zijn deelbaar, de kleine prijsnemer kan alle productie verkopen.</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eenheid krijgt de oppervlakte?</a:t>
            </a:r>
          </a:p>
          <a:p xmlns:a="http://schemas.openxmlformats.org/drawingml/2006/main">
            <a:r>
              <a:rPr sz="1400"/>
              <a:t/>
            </a:r>
          </a:p>
          <a:p xmlns:a="http://schemas.openxmlformats.org/drawingml/2006/main">
            <a:r>
              <a:rPr sz="1400"/>
              <a:t>Uitleg: TK bij80: 0,025×80²+2×80+90=410. Winst480−410=70. De rechthoek loopt van q0 tot80 en van GTK5,125 tot P6. Breedte kg/week maal hoogte euro/kg geeft euro/week. GTK is bij80 genomen, niet bij zijn minimum. Alle grafiekelementen horen bij hetzelfde bedrijf en dezelfde week. De winst bij nul is−90, dus produceren is hier beter.</a:t>
            </a:r>
          </a:p>
          <a:p xmlns:a="http://schemas.openxmlformats.org/drawingml/2006/main">
            <a:r>
              <a:rPr sz="1400"/>
              <a:t/>
            </a:r>
          </a:p>
          <a:p xmlns:a="http://schemas.openxmlformats.org/drawingml/2006/main">
            <a:r>
              <a:rPr sz="1400"/>
              <a:t>Misvatting: In een grafiek met bedragen per kg is winst een oppervlak. Bij totale bedragen op de verticale as zou winst een afstand zijn.</a:t>
            </a:r>
          </a:p>
          <a:p xmlns:a="http://schemas.openxmlformats.org/drawingml/2006/main">
            <a:r>
              <a:rPr sz="1400"/>
              <a:t/>
            </a:r>
          </a:p>
          <a:p xmlns:a="http://schemas.openxmlformats.org/drawingml/2006/main">
            <a:r>
              <a:rPr sz="1400"/>
              <a:t>Overgang: Controleer hoe een lagere capaciteit de keuze verandert.</a:t>
            </a:r>
          </a:p>
          <a:p xmlns:a="http://schemas.openxmlformats.org/drawingml/2006/main">
            <a:r>
              <a:rPr sz="1400"/>
              <a:t/>
            </a:r>
          </a:p>
          <a:p xmlns:a="http://schemas.openxmlformats.org/drawingml/2006/main">
            <a:r>
              <a:rPr sz="1400"/>
              <a:t>Bron: Boek 3, books34-v3, gedrukte boekpagina 71–72. https://github.com/meijer1973/4veco-lessen/blob/9b8304d5031cafac936a56281e144573a25fbbc9/edities/books34-v3/books/book-3/output/Boek_3_Compleet_v3.pdf</a:t>
            </a:r>
          </a:p>
          <a:p xmlns:a="http://schemas.openxmlformats.org/drawingml/2006/main">
            <a:r>
              <a:rPr sz="1400"/>
              <a:t>Manuscript en antwoordmodel: https://github.com/meijer1973/4veco-lessen/blob/9b8304d5031cafac936a56281e144573a25fbbc9/edities/books34-v3/books/book-3/chapters/3.2/3.2.4%20manuscript.md en https://github.com/meijer1973/4veco-lessen/blob/9b8304d5031cafac936a56281e144573a25fbbc9/edities/books34-v3/books/book-3/chapters/3.2/Antwoorden.md</a:t>
            </a:r>
          </a:p>
          <a:p xmlns:a="http://schemas.openxmlformats.org/drawingml/2006/main">
            <a:r>
              <a:rPr sz="1400"/>
              <a:t>Eigen context en gegevens: glasgranulaat, één week. Uitlegvoorbeeld, niet uit het boek. De genoemde boekpagina’s onderbouwen alleen de methoden. Constante kosten zijn deze week onvermijdbaar, kg zijn deelbaar, de kleine prijsnemer kan alle productie verkopen.</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hoeven we niet naar een ander snijpunt te zoeken?</a:t>
            </a:r>
          </a:p>
          <a:p xmlns:a="http://schemas.openxmlformats.org/drawingml/2006/main">
            <a:r>
              <a:rPr sz="1400"/>
              <a:t/>
            </a:r>
          </a:p>
          <a:p xmlns:a="http://schemas.openxmlformats.org/drawingml/2006/main">
            <a:r>
              <a:rPr sz="1400"/>
              <a:t>Uitleg: De capaciteit is in deze variant70, alle andere gegevens blijven gelijk. MK stijgt en is zelfs bij de grens5,50, onder MO6. Uitbreiden blijft dus gunstig tot70;80 is onmogelijk. Alleen wanneer die marginale vergelijking dat onderbouwt kies je de capaciteitsgrens. Vraag of leerlingen het bewijs in eigen woorden kunnen geven. Dit geeft een aanpak voor33 zonder diens gegevens of antwoord uit te werken.</a:t>
            </a:r>
          </a:p>
          <a:p xmlns:a="http://schemas.openxmlformats.org/drawingml/2006/main">
            <a:r>
              <a:rPr sz="1400"/>
              <a:t/>
            </a:r>
          </a:p>
          <a:p xmlns:a="http://schemas.openxmlformats.org/drawingml/2006/main">
            <a:r>
              <a:rPr sz="1400"/>
              <a:t>Misvatting: Een onhaalbaar snijpunt betekent niet dat een winstmaximum ontbreekt.</a:t>
            </a:r>
          </a:p>
          <a:p xmlns:a="http://schemas.openxmlformats.org/drawingml/2006/main">
            <a:r>
              <a:rPr sz="1400"/>
              <a:t/>
            </a:r>
          </a:p>
          <a:p xmlns:a="http://schemas.openxmlformats.org/drawingml/2006/main">
            <a:r>
              <a:rPr sz="1400"/>
              <a:t>Overgang: Laat leerlingen de start redenering controleren en verder oefenen.</a:t>
            </a:r>
          </a:p>
          <a:p xmlns:a="http://schemas.openxmlformats.org/drawingml/2006/main">
            <a:r>
              <a:rPr sz="1400"/>
              <a:t/>
            </a:r>
          </a:p>
          <a:p xmlns:a="http://schemas.openxmlformats.org/drawingml/2006/main">
            <a:r>
              <a:rPr sz="1400"/>
              <a:t>Bron: Boek 3, books34-v3, gedrukte boekpagina 70, 76. https://github.com/meijer1973/4veco-lessen/blob/9b8304d5031cafac936a56281e144573a25fbbc9/edities/books34-v3/books/book-3/output/Boek_3_Compleet_v3.pdf</a:t>
            </a:r>
          </a:p>
          <a:p xmlns:a="http://schemas.openxmlformats.org/drawingml/2006/main">
            <a:r>
              <a:rPr sz="1400"/>
              <a:t>Manuscript en antwoordmodel: https://github.com/meijer1973/4veco-lessen/blob/9b8304d5031cafac936a56281e144573a25fbbc9/edities/books34-v3/books/book-3/chapters/3.2/3.2.4%20manuscript.md en https://github.com/meijer1973/4veco-lessen/blob/9b8304d5031cafac936a56281e144573a25fbbc9/edities/books34-v3/books/book-3/chapters/3.2/Antwoorden.md</a:t>
            </a:r>
          </a:p>
          <a:p xmlns:a="http://schemas.openxmlformats.org/drawingml/2006/main">
            <a:r>
              <a:rPr sz="1400"/>
              <a:t>Eigen context en gegevens: glasgranulaat, één week. Uitlegvoorbeeld, niet uit het boek. De genoemde boekpagina’s onderbouwen alleen de methoden. Constante kosten zijn deze week onvermijdbaar, kg zijn deelbaar, de kleine prijsnemer kan alle productie verkopen.</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gegevens gaan over alle bedrijven samen?</a:t>
            </a:r>
          </a:p>
          <a:p xmlns:a="http://schemas.openxmlformats.org/drawingml/2006/main">
            <a:r>
              <a:rPr sz="1400"/>
              <a:t/>
            </a:r>
          </a:p>
          <a:p xmlns:a="http://schemas.openxmlformats.org/drawingml/2006/main">
            <a:r>
              <a:rPr sz="1400"/>
              <a:t>Uitleg: Laat het overzicht staan tijdens zelf werken. Start: de eerste echte opgave, 31 op p.79. Zij herhaalt het evenwicht berekenen uit Boek 1 §1.3.2, prijsnemerschap, TO en P=GO=MO uit §3.2.1. Bij moeite: laat leerlingen p.54–56 en de evenwichtsaanpak erbij nemen. Geef nog geen uitgewerkte antwoorden. Bespreek na de korte herhaling welke bron bij Q en q hoort. Werk verder aan 32–34 en doel35. Dit is een gemengde paragraaf zonder aparte basis- of zelfstandige sectie. Huiswerk volgens de classroom-route: alle opgaven 31,32,33,34,35,36 (bonus),37 (herhaling) maken en nakijken. Het boek presenteert bonus/herhaling als aanvullende onderdelen; deze lesroute neemt ze expliciet in het huiswerk op. Geen aangetoonde 55-minutenfit.</a:t>
            </a:r>
          </a:p>
          <a:p xmlns:a="http://schemas.openxmlformats.org/drawingml/2006/main">
            <a:r>
              <a:rPr sz="1400"/>
              <a:t/>
            </a:r>
          </a:p>
          <a:p xmlns:a="http://schemas.openxmlformats.org/drawingml/2006/main">
            <a:r>
              <a:rPr sz="1400"/>
              <a:t>Misvatting: Een marktprijs geeft nog geen productieadvies voor één onderneming zonder haar kosten.</a:t>
            </a:r>
          </a:p>
          <a:p xmlns:a="http://schemas.openxmlformats.org/drawingml/2006/main">
            <a:r>
              <a:rPr sz="1400"/>
              <a:t/>
            </a:r>
          </a:p>
          <a:p xmlns:a="http://schemas.openxmlformats.org/drawingml/2006/main">
            <a:r>
              <a:rPr sz="1400"/>
              <a:t>Overgang: Ga naar de volgende lesfase.</a:t>
            </a:r>
          </a:p>
          <a:p xmlns:a="http://schemas.openxmlformats.org/drawingml/2006/main">
            <a:r>
              <a:rPr sz="1400"/>
              <a:t/>
            </a:r>
          </a:p>
          <a:p xmlns:a="http://schemas.openxmlformats.org/drawingml/2006/main">
            <a:r>
              <a:rPr sz="1400"/>
              <a:t>Bron: Boek 3, books34-v3, gedrukte boekpagina 54–56, 79–84. https://github.com/meijer1973/4veco-lessen/blob/9b8304d5031cafac936a56281e144573a25fbbc9/edities/books34-v3/books/book-3/output/Boek_3_Compleet_v3.pdf</a:t>
            </a:r>
          </a:p>
          <a:p xmlns:a="http://schemas.openxmlformats.org/drawingml/2006/main">
            <a:r>
              <a:rPr sz="1400"/>
              <a:t>Manuscript en antwoordmodel: https://github.com/meijer1973/4veco-lessen/blob/9b8304d5031cafac936a56281e144573a25fbbc9/edities/books34-v3/books/book-3/chapters/3.2/3.2.4%20manuscript.md en https://github.com/meijer1973/4veco-lessen/blob/9b8304d5031cafac936a56281e144573a25fbbc9/edities/books34-v3/books/book-3/chapters/3.2/Antwoorden.md</a:t>
            </a:r>
          </a:p>
          <a:p xmlns:a="http://schemas.openxmlformats.org/drawingml/2006/main">
            <a:r>
              <a:rPr sz="1400"/>
              <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functie verandert en welke blijft gelden?</a:t>
            </a:r>
          </a:p>
          <a:p xmlns:a="http://schemas.openxmlformats.org/drawingml/2006/main">
            <a:r>
              <a:rPr sz="1400"/>
              <a:t/>
            </a:r>
          </a:p>
          <a:p xmlns:a="http://schemas.openxmlformats.org/drawingml/2006/main">
            <a:r>
              <a:rPr sz="1400"/>
              <a:t>Uitleg: Lees de volledige marktbron. Door een nieuwe toepassing neemt de vraag toe. De onderzochte korte periode houdt het aantal bedrijven gelijk en gebruikt hetzelfde aanbod Qa0. Nog geen evenwichtswaarden geven. De gekozen doelopgave combineert alle technieken en is daarom representatief voor deze gemengde paragraaf.</a:t>
            </a:r>
          </a:p>
          <a:p xmlns:a="http://schemas.openxmlformats.org/drawingml/2006/main">
            <a:r>
              <a:rPr sz="1400"/>
              <a:t/>
            </a:r>
          </a:p>
          <a:p xmlns:a="http://schemas.openxmlformats.org/drawingml/2006/main">
            <a:r>
              <a:rPr sz="1400"/>
              <a:t>Misvatting: Geen toetreding of langetermijnprijs toevoegen aan deze bron.</a:t>
            </a:r>
          </a:p>
          <a:p xmlns:a="http://schemas.openxmlformats.org/drawingml/2006/main">
            <a:r>
              <a:rPr sz="1400"/>
              <a:t/>
            </a:r>
          </a:p>
          <a:p xmlns:a="http://schemas.openxmlformats.org/drawingml/2006/main">
            <a:r>
              <a:rPr sz="1400"/>
              <a:t>Overgang: Bekijk bronB en vervolgens beide basisgrafieken.</a:t>
            </a:r>
          </a:p>
          <a:p xmlns:a="http://schemas.openxmlformats.org/drawingml/2006/main">
            <a:r>
              <a:rPr sz="1400"/>
              <a:t/>
            </a:r>
          </a:p>
          <a:p xmlns:a="http://schemas.openxmlformats.org/drawingml/2006/main">
            <a:r>
              <a:rPr sz="1400"/>
              <a:t>Bron: Boek 3, books34-v3, gedrukte boekpagina 82. https://github.com/meijer1973/4veco-lessen/blob/9b8304d5031cafac936a56281e144573a25fbbc9/edities/books34-v3/books/book-3/output/Boek_3_Compleet_v3.pdf</a:t>
            </a:r>
          </a:p>
          <a:p xmlns:a="http://schemas.openxmlformats.org/drawingml/2006/main">
            <a:r>
              <a:rPr sz="1400"/>
              <a:t>Manuscript en antwoordmodel: https://github.com/meijer1973/4veco-lessen/blob/9b8304d5031cafac936a56281e144573a25fbbc9/edities/books34-v3/books/book-3/chapters/3.2/3.2.4%20manuscript.md en https://github.com/meijer1973/4veco-lessen/blob/9b8304d5031cafac936a56281e144573a25fbbc9/edities/books34-v3/books/book-3/chapters/3.2/Antwoorden.md</a:t>
            </a:r>
          </a:p>
          <a:p xmlns:a="http://schemas.openxmlformats.org/drawingml/2006/main">
            <a:r>
              <a:rPr sz="1400"/>
              <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Waarvoor heb je TK straks nodig?</a:t>
            </a:r>
          </a:p>
          <a:p xmlns:a="http://schemas.openxmlformats.org/drawingml/2006/main">
            <a:r>
              <a:rPr sz="1400"/>
              <a:t/>
            </a:r>
          </a:p>
          <a:p xmlns:a="http://schemas.openxmlformats.org/drawingml/2006/main">
            <a:r>
              <a:rPr sz="1400"/>
              <a:t>Uitleg: Dit is de volledige ondernemingsbron met expliciete eenheid TK. Iedere onderneming heeft deze functie. De techniek blijft in beide situaties hetzelfde. Neem de uit de markt berekende prijs over naar deze onderneming, niet de markthoeveelheid.</a:t>
            </a:r>
          </a:p>
          <a:p xmlns:a="http://schemas.openxmlformats.org/drawingml/2006/main">
            <a:r>
              <a:rPr sz="1400"/>
              <a:t/>
            </a:r>
          </a:p>
          <a:p xmlns:a="http://schemas.openxmlformats.org/drawingml/2006/main">
            <a:r>
              <a:rPr sz="1400"/>
              <a:t>Misvatting: De marktvergelijking alleen geeft nog geen winst of productieadvies voor één bedrijf.</a:t>
            </a:r>
          </a:p>
          <a:p xmlns:a="http://schemas.openxmlformats.org/drawingml/2006/main">
            <a:r>
              <a:rPr sz="1400"/>
              <a:t/>
            </a:r>
          </a:p>
          <a:p xmlns:a="http://schemas.openxmlformats.org/drawingml/2006/main">
            <a:r>
              <a:rPr sz="1400"/>
              <a:t>Overgang: Lees de twee grafieken zonder nieuwe markeringen.</a:t>
            </a:r>
          </a:p>
          <a:p xmlns:a="http://schemas.openxmlformats.org/drawingml/2006/main">
            <a:r>
              <a:rPr sz="1400"/>
              <a:t/>
            </a:r>
          </a:p>
          <a:p xmlns:a="http://schemas.openxmlformats.org/drawingml/2006/main">
            <a:r>
              <a:rPr sz="1400"/>
              <a:t>Bron: Boek 3, books34-v3, gedrukte boekpagina 82. https://github.com/meijer1973/4veco-lessen/blob/9b8304d5031cafac936a56281e144573a25fbbc9/edities/books34-v3/books/book-3/output/Boek_3_Compleet_v3.pdf</a:t>
            </a:r>
          </a:p>
          <a:p xmlns:a="http://schemas.openxmlformats.org/drawingml/2006/main">
            <a:r>
              <a:rPr sz="1400"/>
              <a:t>Manuscript en antwoordmodel: https://github.com/meijer1973/4veco-lessen/blob/9b8304d5031cafac936a56281e144573a25fbbc9/edities/books34-v3/books/book-3/chapters/3.2/3.2.4%20manuscript.md en https://github.com/meijer1973/4veco-lessen/blob/9b8304d5031cafac936a56281e144573a25fbbc9/edities/books34-v3/books/book-3/chapters/3.2/Antwoorden.md</a:t>
            </a:r>
          </a:p>
          <a:p xmlns:a="http://schemas.openxmlformats.org/drawingml/2006/main">
            <a:r>
              <a:rPr sz="1400"/>
              <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schaal staat onder deze grafiek?</a:t>
            </a:r>
          </a:p>
          <a:p xmlns:a="http://schemas.openxmlformats.org/drawingml/2006/main">
            <a:r>
              <a:rPr sz="1400"/>
              <a:t/>
            </a:r>
          </a:p>
          <a:p xmlns:a="http://schemas.openxmlformats.org/drawingml/2006/main">
            <a:r>
              <a:rPr sz="1400"/>
              <a:t>Uitleg: De marktgrafiek uit figuur1 is als bewerkbare XY-grafiek herbouwd met dezelfde grenzen0–50 duizend en P0–24. Formules: V0 P12−0,4X, V1 P20−0,4X, A0 P4+0,4X met X=Q/1000. Er zijn nog geen antwoordpunten of hulplijnen toegevoegd.</a:t>
            </a:r>
          </a:p>
          <a:p xmlns:a="http://schemas.openxmlformats.org/drawingml/2006/main">
            <a:r>
              <a:rPr sz="1400"/>
              <a:t/>
            </a:r>
          </a:p>
          <a:p xmlns:a="http://schemas.openxmlformats.org/drawingml/2006/main">
            <a:r>
              <a:rPr sz="1400"/>
              <a:t>Misvatting: 10 op deze as is niet10kg.</a:t>
            </a:r>
          </a:p>
          <a:p xmlns:a="http://schemas.openxmlformats.org/drawingml/2006/main">
            <a:r>
              <a:rPr sz="1400"/>
              <a:t/>
            </a:r>
          </a:p>
          <a:p xmlns:a="http://schemas.openxmlformats.org/drawingml/2006/main">
            <a:r>
              <a:rPr sz="1400"/>
              <a:t>Overgang: Bekijk de andere helft van figuur1.</a:t>
            </a:r>
          </a:p>
          <a:p xmlns:a="http://schemas.openxmlformats.org/drawingml/2006/main">
            <a:r>
              <a:rPr sz="1400"/>
              <a:t/>
            </a:r>
          </a:p>
          <a:p xmlns:a="http://schemas.openxmlformats.org/drawingml/2006/main">
            <a:r>
              <a:rPr sz="1400"/>
              <a:t>Bron: Boek 3, books34-v3, gedrukte boekpagina 82. https://github.com/meijer1973/4veco-lessen/blob/9b8304d5031cafac936a56281e144573a25fbbc9/edities/books34-v3/books/book-3/output/Boek_3_Compleet_v3.pdf</a:t>
            </a:r>
          </a:p>
          <a:p xmlns:a="http://schemas.openxmlformats.org/drawingml/2006/main">
            <a:r>
              <a:rPr sz="1400"/>
              <a:t>Manuscript en antwoordmodel: https://github.com/meijer1973/4veco-lessen/blob/9b8304d5031cafac936a56281e144573a25fbbc9/edities/books34-v3/books/book-3/chapters/3.2/3.2.4%20manuscript.md en https://github.com/meijer1973/4veco-lessen/blob/9b8304d5031cafac936a56281e144573a25fbbc9/edities/books34-v3/books/book-3/chapters/3.2/Antwoorden.md</a:t>
            </a:r>
          </a:p>
          <a:p xmlns:a="http://schemas.openxmlformats.org/drawingml/2006/main">
            <a:r>
              <a:rPr sz="1400"/>
              <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verschillen de twee hoeveelheidsassen?</a:t>
            </a:r>
          </a:p>
          <a:p xmlns:a="http://schemas.openxmlformats.org/drawingml/2006/main">
            <a:r>
              <a:rPr sz="1400"/>
              <a:t/>
            </a:r>
          </a:p>
          <a:p xmlns:a="http://schemas.openxmlformats.org/drawingml/2006/main">
            <a:r>
              <a:rPr sz="1400"/>
              <a:t>Uitleg: Dit is de ondernemingshelft van figuur1 met dezelfde assen: q0–250, bedragen per kg0–24. GTK is voor q&gt;0, de stijging bij kleine q wordt netjes aan de bovenrand afgekapt. De bron toont MK al, maar vraagt de leerling die ook algebraïsch op te stellen. Geen prijslijn of winstarcering vóór de volledige vragen.</a:t>
            </a:r>
          </a:p>
          <a:p xmlns:a="http://schemas.openxmlformats.org/drawingml/2006/main">
            <a:r>
              <a:rPr sz="1400"/>
              <a:t/>
            </a:r>
          </a:p>
          <a:p xmlns:a="http://schemas.openxmlformats.org/drawingml/2006/main">
            <a:r>
              <a:rPr sz="1400"/>
              <a:t>Misvatting: q is één bedrijf, Q de hele markt.</a:t>
            </a:r>
          </a:p>
          <a:p xmlns:a="http://schemas.openxmlformats.org/drawingml/2006/main">
            <a:r>
              <a:rPr sz="1400"/>
              <a:t/>
            </a:r>
          </a:p>
          <a:p xmlns:a="http://schemas.openxmlformats.org/drawingml/2006/main">
            <a:r>
              <a:rPr sz="1400"/>
              <a:t>Overgang: Geef nu alle deelvragen, nog zonder uitwerking.</a:t>
            </a:r>
          </a:p>
          <a:p xmlns:a="http://schemas.openxmlformats.org/drawingml/2006/main">
            <a:r>
              <a:rPr sz="1400"/>
              <a:t/>
            </a:r>
          </a:p>
          <a:p xmlns:a="http://schemas.openxmlformats.org/drawingml/2006/main">
            <a:r>
              <a:rPr sz="1400"/>
              <a:t>Bron: Boek 3, books34-v3, gedrukte boekpagina 82. https://github.com/meijer1973/4veco-lessen/blob/9b8304d5031cafac936a56281e144573a25fbbc9/edities/books34-v3/books/book-3/output/Boek_3_Compleet_v3.pdf</a:t>
            </a:r>
          </a:p>
          <a:p xmlns:a="http://schemas.openxmlformats.org/drawingml/2006/main">
            <a:r>
              <a:rPr sz="1400"/>
              <a:t>Manuscript en antwoordmodel: https://github.com/meijer1973/4veco-lessen/blob/9b8304d5031cafac936a56281e144573a25fbbc9/edities/books34-v3/books/book-3/chapters/3.2/3.2.4%20manuscript.md en https://github.com/meijer1973/4veco-lessen/blob/9b8304d5031cafac936a56281e144573a25fbbc9/edities/books34-v3/books/book-3/chapters/3.2/Antwoorden.md</a:t>
            </a:r>
          </a:p>
          <a:p xmlns:a="http://schemas.openxmlformats.org/drawingml/2006/main">
            <a:r>
              <a:rPr sz="1400"/>
              <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vraag gaat over de markt en welke over één onderneming?</a:t>
            </a:r>
          </a:p>
          <a:p xmlns:a="http://schemas.openxmlformats.org/drawingml/2006/main">
            <a:r>
              <a:rPr sz="1400"/>
              <a:t/>
            </a:r>
          </a:p>
          <a:p xmlns:a="http://schemas.openxmlformats.org/drawingml/2006/main">
            <a:r>
              <a:rPr sz="1400"/>
              <a:t>Uitleg: Lees deelvragen a,b,c volledig. Leerlingen gebruiken bronnenA/B en figuur1 op p.82. Laat tussenuitkomsten staan. Wacht nog met uitwerken tot ook d/e zichtbaar zijn geweest.</a:t>
            </a:r>
          </a:p>
          <a:p xmlns:a="http://schemas.openxmlformats.org/drawingml/2006/main">
            <a:r>
              <a:rPr sz="1400"/>
              <a:t/>
            </a:r>
          </a:p>
          <a:p xmlns:a="http://schemas.openxmlformats.org/drawingml/2006/main">
            <a:r>
              <a:rPr sz="1400"/>
              <a:t>Misvatting: De q100 in a is gegeven; Q0 moet je berekenen.</a:t>
            </a:r>
          </a:p>
          <a:p xmlns:a="http://schemas.openxmlformats.org/drawingml/2006/main">
            <a:r>
              <a:rPr sz="1400"/>
              <a:t/>
            </a:r>
          </a:p>
          <a:p xmlns:a="http://schemas.openxmlformats.org/drawingml/2006/main">
            <a:r>
              <a:rPr sz="1400"/>
              <a:t>Overgang: Toon d en e vóór de eerste oplossing.</a:t>
            </a:r>
          </a:p>
          <a:p xmlns:a="http://schemas.openxmlformats.org/drawingml/2006/main">
            <a:r>
              <a:rPr sz="1400"/>
              <a:t/>
            </a:r>
          </a:p>
          <a:p xmlns:a="http://schemas.openxmlformats.org/drawingml/2006/main">
            <a:r>
              <a:rPr sz="1400"/>
              <a:t>Bron: Boek 3, books34-v3, gedrukte boekpagina 83. https://github.com/meijer1973/4veco-lessen/blob/9b8304d5031cafac936a56281e144573a25fbbc9/edities/books34-v3/books/book-3/output/Boek_3_Compleet_v3.pdf</a:t>
            </a:r>
          </a:p>
          <a:p xmlns:a="http://schemas.openxmlformats.org/drawingml/2006/main">
            <a:r>
              <a:rPr sz="1400"/>
              <a:t>Manuscript en antwoordmodel: https://github.com/meijer1973/4veco-lessen/blob/9b8304d5031cafac936a56281e144573a25fbbc9/edities/books34-v3/books/book-3/chapters/3.2/3.2.4%20manuscript.md en https://github.com/meijer1973/4veco-lessen/blob/9b8304d5031cafac936a56281e144573a25fbbc9/edities/books34-v3/books/book-3/chapters/3.2/Antwoorden.md</a:t>
            </a:r>
          </a:p>
          <a:p xmlns:a="http://schemas.openxmlformats.org/drawingml/2006/main">
            <a:r>
              <a:rPr sz="1400"/>
              <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Bij welke gekozen hoeveelheid moet je GTK nemen?</a:t>
            </a:r>
          </a:p>
          <a:p xmlns:a="http://schemas.openxmlformats.org/drawingml/2006/main">
            <a:r>
              <a:rPr sz="1400"/>
              <a:t/>
            </a:r>
          </a:p>
          <a:p xmlns:a="http://schemas.openxmlformats.org/drawingml/2006/main">
            <a:r>
              <a:rPr sz="1400"/>
              <a:t>Uitleg: Alle deelvragen zijn nu beschikbaar. BronA/B en de twee grafieken zijn vooraf getoond. Laat eigen pogingen vergelijken voordat de antwoordreeks begint. Het afrondingsvoorschrift en onderscheid Q/q blijven gelden.</a:t>
            </a:r>
          </a:p>
          <a:p xmlns:a="http://schemas.openxmlformats.org/drawingml/2006/main">
            <a:r>
              <a:rPr sz="1400"/>
              <a:t/>
            </a:r>
          </a:p>
          <a:p xmlns:a="http://schemas.openxmlformats.org/drawingml/2006/main">
            <a:r>
              <a:rPr sz="1400"/>
              <a:t>Misvatting: Een juist getal zonder eenheid of onderbouwing is niet het volledige antwoord.</a:t>
            </a:r>
          </a:p>
          <a:p xmlns:a="http://schemas.openxmlformats.org/drawingml/2006/main">
            <a:r>
              <a:rPr sz="1400"/>
              <a:t/>
            </a:r>
          </a:p>
          <a:p xmlns:a="http://schemas.openxmlformats.org/drawingml/2006/main">
            <a:r>
              <a:rPr sz="1400"/>
              <a:t>Overgang: Begin met de beginsituatie.</a:t>
            </a:r>
          </a:p>
          <a:p xmlns:a="http://schemas.openxmlformats.org/drawingml/2006/main">
            <a:r>
              <a:rPr sz="1400"/>
              <a:t/>
            </a:r>
          </a:p>
          <a:p xmlns:a="http://schemas.openxmlformats.org/drawingml/2006/main">
            <a:r>
              <a:rPr sz="1400"/>
              <a:t>Bron: Boek 3, books34-v3, gedrukte boekpagina 83. https://github.com/meijer1973/4veco-lessen/blob/9b8304d5031cafac936a56281e144573a25fbbc9/edities/books34-v3/books/book-3/output/Boek_3_Compleet_v3.pdf</a:t>
            </a:r>
          </a:p>
          <a:p xmlns:a="http://schemas.openxmlformats.org/drawingml/2006/main">
            <a:r>
              <a:rPr sz="1400"/>
              <a:t>Manuscript en antwoordmodel: https://github.com/meijer1973/4veco-lessen/blob/9b8304d5031cafac936a56281e144573a25fbbc9/edities/books34-v3/books/book-3/chapters/3.2/3.2.4%20manuscript.md en https://github.com/meijer1973/4veco-lessen/blob/9b8304d5031cafac936a56281e144573a25fbbc9/edities/books34-v3/books/book-3/chapters/3.2/Antwoorden.md</a:t>
            </a:r>
          </a:p>
          <a:p xmlns:a="http://schemas.openxmlformats.org/drawingml/2006/main">
            <a:r>
              <a:rPr sz="1400"/>
              <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is dit een evenwicht?</a:t>
            </a:r>
          </a:p>
          <a:p xmlns:a="http://schemas.openxmlformats.org/drawingml/2006/main">
            <a:r>
              <a:rPr sz="1400"/>
              <a:t/>
            </a:r>
          </a:p>
          <a:p xmlns:a="http://schemas.openxmlformats.org/drawingml/2006/main">
            <a:r>
              <a:rPr sz="1400"/>
              <a:t>Uitleg: Gelijkstellen geeft40.000=5.000P. Delen geeft8. Invullen geeft10.000 en de andere functie bevestigt dat. P8 gaat straks naar de onderneming. Q10.000 blijft op de markt-as.</a:t>
            </a:r>
          </a:p>
          <a:p xmlns:a="http://schemas.openxmlformats.org/drawingml/2006/main">
            <a:r>
              <a:rPr sz="1400"/>
              <a:t/>
            </a:r>
          </a:p>
          <a:p xmlns:a="http://schemas.openxmlformats.org/drawingml/2006/main">
            <a:r>
              <a:rPr sz="1400"/>
              <a:t>Misvatting: q100 uit deelvraag a is niet de markthoeveelheid.</a:t>
            </a:r>
          </a:p>
          <a:p xmlns:a="http://schemas.openxmlformats.org/drawingml/2006/main">
            <a:r>
              <a:rPr sz="1400"/>
              <a:t/>
            </a:r>
          </a:p>
          <a:p xmlns:a="http://schemas.openxmlformats.org/drawingml/2006/main">
            <a:r>
              <a:rPr sz="1400"/>
              <a:t>Overgang: Controleer de nulwinst van één bedrijf.</a:t>
            </a:r>
          </a:p>
          <a:p xmlns:a="http://schemas.openxmlformats.org/drawingml/2006/main">
            <a:r>
              <a:rPr sz="1400"/>
              <a:t/>
            </a:r>
          </a:p>
          <a:p xmlns:a="http://schemas.openxmlformats.org/drawingml/2006/main">
            <a:r>
              <a:rPr sz="1400"/>
              <a:t>Bron: Boek 3, books34-v3, gedrukte boekpagina 82–83. https://github.com/meijer1973/4veco-lessen/blob/9b8304d5031cafac936a56281e144573a25fbbc9/edities/books34-v3/books/book-3/output/Boek_3_Compleet_v3.pdf</a:t>
            </a:r>
          </a:p>
          <a:p xmlns:a="http://schemas.openxmlformats.org/drawingml/2006/main">
            <a:r>
              <a:rPr sz="1400"/>
              <a:t>Manuscript en antwoordmodel: https://github.com/meijer1973/4veco-lessen/blob/9b8304d5031cafac936a56281e144573a25fbbc9/edities/books34-v3/books/book-3/chapters/3.2/3.2.4%20manuscript.md en https://github.com/meijer1973/4veco-lessen/blob/9b8304d5031cafac936a56281e144573a25fbbc9/edities/books34-v3/books/book-3/chapters/3.2/Antwoorden.md</a:t>
            </a:r>
          </a:p>
          <a:p xmlns:a="http://schemas.openxmlformats.org/drawingml/2006/main">
            <a:r>
              <a:rPr sz="1400"/>
              <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totale bedragen vergelijk je?</a:t>
            </a:r>
          </a:p>
          <a:p xmlns:a="http://schemas.openxmlformats.org/drawingml/2006/main">
            <a:r>
              <a:rPr sz="1400"/>
              <a:t/>
            </a:r>
          </a:p>
          <a:p xmlns:a="http://schemas.openxmlformats.org/drawingml/2006/main">
            <a:r>
              <a:rPr sz="1400"/>
              <a:t>Uitleg: Vul eerst q100 in beide totalen in. q²=10.000;0,02×10.000=200. Dit toont kostendekking. Het is de uitkomst van deze gegevens, geen nieuw langetermijnresultaat. q100 is gegeven, niet uit Q0 afgeleid.</a:t>
            </a:r>
          </a:p>
          <a:p xmlns:a="http://schemas.openxmlformats.org/drawingml/2006/main">
            <a:r>
              <a:rPr sz="1400"/>
              <a:t/>
            </a:r>
          </a:p>
          <a:p xmlns:a="http://schemas.openxmlformats.org/drawingml/2006/main">
            <a:r>
              <a:rPr sz="1400"/>
              <a:t>Misvatting: TO=TK bewijst op zichzelf niet dat q het winstmaximum is; daarvoor is de marginale keuze nodig.</a:t>
            </a:r>
          </a:p>
          <a:p xmlns:a="http://schemas.openxmlformats.org/drawingml/2006/main">
            <a:r>
              <a:rPr sz="1400"/>
              <a:t/>
            </a:r>
          </a:p>
          <a:p xmlns:a="http://schemas.openxmlformats.org/drawingml/2006/main">
            <a:r>
              <a:rPr sz="1400"/>
              <a:t>Overgang: Bereken het evenwicht direct na de vraagtoename.</a:t>
            </a:r>
          </a:p>
          <a:p xmlns:a="http://schemas.openxmlformats.org/drawingml/2006/main">
            <a:r>
              <a:rPr sz="1400"/>
              <a:t/>
            </a:r>
          </a:p>
          <a:p xmlns:a="http://schemas.openxmlformats.org/drawingml/2006/main">
            <a:r>
              <a:rPr sz="1400"/>
              <a:t>Bron: Boek 3, books34-v3, gedrukte boekpagina 82–83. https://github.com/meijer1973/4veco-lessen/blob/9b8304d5031cafac936a56281e144573a25fbbc9/edities/books34-v3/books/book-3/output/Boek_3_Compleet_v3.pdf</a:t>
            </a:r>
          </a:p>
          <a:p xmlns:a="http://schemas.openxmlformats.org/drawingml/2006/main">
            <a:r>
              <a:rPr sz="1400"/>
              <a:t>Manuscript en antwoordmodel: https://github.com/meijer1973/4veco-lessen/blob/9b8304d5031cafac936a56281e144573a25fbbc9/edities/books34-v3/books/book-3/chapters/3.2/3.2.4%20manuscript.md en https://github.com/meijer1973/4veco-lessen/blob/9b8304d5031cafac936a56281e144573a25fbbc9/edities/books34-v3/books/book-3/chapters/3.2/Antwoorden.md</a:t>
            </a:r>
          </a:p>
          <a:p xmlns:a="http://schemas.openxmlformats.org/drawingml/2006/main">
            <a:r>
              <a:rPr sz="1400"/>
              <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gebruiken we Qa₀ en niet een nieuwe aanbodfunctie?</a:t>
            </a:r>
          </a:p>
          <a:p xmlns:a="http://schemas.openxmlformats.org/drawingml/2006/main">
            <a:r>
              <a:rPr sz="1400"/>
              <a:t/>
            </a:r>
          </a:p>
          <a:p xmlns:a="http://schemas.openxmlformats.org/drawingml/2006/main">
            <a:r>
              <a:rPr sz="1400"/>
              <a:t>Uitleg: Alleen de vraagfunctie verandert. Gebruik nog steeds Qa0, omdat de bron het aantal bedrijven en dit aanbod vast houdt. Invullen in de vraag bevestigt20.000. Een vraagtoename veroorzaakt een hogere prijs en meer aangeboden hoeveelheid langs A0.</a:t>
            </a:r>
          </a:p>
          <a:p xmlns:a="http://schemas.openxmlformats.org/drawingml/2006/main">
            <a:r>
              <a:rPr sz="1400"/>
              <a:t/>
            </a:r>
          </a:p>
          <a:p xmlns:a="http://schemas.openxmlformats.org/drawingml/2006/main">
            <a:r>
              <a:rPr sz="1400"/>
              <a:t>Misvatting: De hogere aangeboden hoeveelheid is geen verschuiving van A0.</a:t>
            </a:r>
          </a:p>
          <a:p xmlns:a="http://schemas.openxmlformats.org/drawingml/2006/main">
            <a:r>
              <a:rPr sz="1400"/>
              <a:t/>
            </a:r>
          </a:p>
          <a:p xmlns:a="http://schemas.openxmlformats.org/drawingml/2006/main">
            <a:r>
              <a:rPr sz="1400"/>
              <a:t>Overgang: Zet het nieuwe evenwicht op de marktgrafiek.</a:t>
            </a:r>
          </a:p>
          <a:p xmlns:a="http://schemas.openxmlformats.org/drawingml/2006/main">
            <a:r>
              <a:rPr sz="1400"/>
              <a:t/>
            </a:r>
          </a:p>
          <a:p xmlns:a="http://schemas.openxmlformats.org/drawingml/2006/main">
            <a:r>
              <a:rPr sz="1400"/>
              <a:t>Bron: Boek 3, books34-v3, gedrukte boekpagina 82–83. https://github.com/meijer1973/4veco-lessen/blob/9b8304d5031cafac936a56281e144573a25fbbc9/edities/books34-v3/books/book-3/output/Boek_3_Compleet_v3.pdf</a:t>
            </a:r>
          </a:p>
          <a:p xmlns:a="http://schemas.openxmlformats.org/drawingml/2006/main">
            <a:r>
              <a:rPr sz="1400"/>
              <a:t>Manuscript en antwoordmodel: https://github.com/meijer1973/4veco-lessen/blob/9b8304d5031cafac936a56281e144573a25fbbc9/edities/books34-v3/books/book-3/chapters/3.2/3.2.4%20manuscript.md en https://github.com/meijer1973/4veco-lessen/blob/9b8304d5031cafac936a56281e144573a25fbbc9/edities/books34-v3/books/book-3/chapters/3.2/Antwoorden.md</a:t>
            </a:r>
          </a:p>
          <a:p xmlns:a="http://schemas.openxmlformats.org/drawingml/2006/main">
            <a:r>
              <a:rPr sz="1400"/>
              <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 komt 20 op de horizontale as vandaan?</a:t>
            </a:r>
          </a:p>
          <a:p xmlns:a="http://schemas.openxmlformats.org/drawingml/2006/main">
            <a:r>
              <a:rPr sz="1400"/>
              <a:t/>
            </a:r>
          </a:p>
          <a:p xmlns:a="http://schemas.openxmlformats.org/drawingml/2006/main">
            <a:r>
              <a:rPr sz="1400"/>
              <a:t>Uitleg: De stip en hulplijnen staan exact bij X20 en P12. V1 en A0 leveren beide12 op die x. Het labelE1 staat naast het punt zodat de lijnen het niet doorsnijden. De oude vraag V0 blijft gestreept zichtbaar; de assen zijn gelijk aan de basisgrafiek.</a:t>
            </a:r>
          </a:p>
          <a:p xmlns:a="http://schemas.openxmlformats.org/drawingml/2006/main">
            <a:r>
              <a:rPr sz="1400"/>
              <a:t/>
            </a:r>
          </a:p>
          <a:p xmlns:a="http://schemas.openxmlformats.org/drawingml/2006/main">
            <a:r>
              <a:rPr sz="1400"/>
              <a:t>Misvatting: Een coördinaat in duizendtallen vraagt dezelfde schaal in beide grafieken van deze markt.</a:t>
            </a:r>
          </a:p>
          <a:p xmlns:a="http://schemas.openxmlformats.org/drawingml/2006/main">
            <a:r>
              <a:rPr sz="1400"/>
              <a:t/>
            </a:r>
          </a:p>
          <a:p xmlns:a="http://schemas.openxmlformats.org/drawingml/2006/main">
            <a:r>
              <a:rPr sz="1400"/>
              <a:t>Overgang: Neem alleen de prijs12 over naar één onderneming.</a:t>
            </a:r>
          </a:p>
          <a:p xmlns:a="http://schemas.openxmlformats.org/drawingml/2006/main">
            <a:r>
              <a:rPr sz="1400"/>
              <a:t/>
            </a:r>
          </a:p>
          <a:p xmlns:a="http://schemas.openxmlformats.org/drawingml/2006/main">
            <a:r>
              <a:rPr sz="1400"/>
              <a:t>Bron: Boek 3, books34-v3, gedrukte boekpagina 82–83. https://github.com/meijer1973/4veco-lessen/blob/9b8304d5031cafac936a56281e144573a25fbbc9/edities/books34-v3/books/book-3/output/Boek_3_Compleet_v3.pdf</a:t>
            </a:r>
          </a:p>
          <a:p xmlns:a="http://schemas.openxmlformats.org/drawingml/2006/main">
            <a:r>
              <a:rPr sz="1400"/>
              <a:t>Manuscript en antwoordmodel: https://github.com/meijer1973/4veco-lessen/blob/9b8304d5031cafac936a56281e144573a25fbbc9/edities/books34-v3/books/book-3/chapters/3.2/3.2.4%20manuscript.md en https://github.com/meijer1973/4veco-lessen/blob/9b8304d5031cafac936a56281e144573a25fbbc9/edities/books34-v3/books/book-3/chapters/3.2/Antwoorden.md</a:t>
            </a:r>
          </a:p>
          <a:p xmlns:a="http://schemas.openxmlformats.org/drawingml/2006/main">
            <a:r>
              <a:rPr sz="1400"/>
              <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staat de constante200 niet in MK?</a:t>
            </a:r>
          </a:p>
          <a:p xmlns:a="http://schemas.openxmlformats.org/drawingml/2006/main">
            <a:r>
              <a:rPr sz="1400"/>
              <a:t/>
            </a:r>
          </a:p>
          <a:p xmlns:a="http://schemas.openxmlformats.org/drawingml/2006/main">
            <a:r>
              <a:rPr sz="1400"/>
              <a:t>Uitleg: Differentieer term voor term. De constante200 verdwijnt alleen uit MK, niet uit de totale kosten. Stel vervolgens MO12 gelijk aan MK. De kandidaat200 is haalbaar. Dat bewijst nog niet op zichzelf het verloop rond de kandidaat.</a:t>
            </a:r>
          </a:p>
          <a:p xmlns:a="http://schemas.openxmlformats.org/drawingml/2006/main">
            <a:r>
              <a:rPr sz="1400"/>
              <a:t/>
            </a:r>
          </a:p>
          <a:p xmlns:a="http://schemas.openxmlformats.org/drawingml/2006/main">
            <a:r>
              <a:rPr sz="1400"/>
              <a:t>Misvatting: Een snijpunt is niet zelf een winstbedrag.</a:t>
            </a:r>
          </a:p>
          <a:p xmlns:a="http://schemas.openxmlformats.org/drawingml/2006/main">
            <a:r>
              <a:rPr sz="1400"/>
              <a:t/>
            </a:r>
          </a:p>
          <a:p xmlns:a="http://schemas.openxmlformats.org/drawingml/2006/main">
            <a:r>
              <a:rPr sz="1400"/>
              <a:t>Overgang: Onderbouw het verloop vóór en na200.</a:t>
            </a:r>
          </a:p>
          <a:p xmlns:a="http://schemas.openxmlformats.org/drawingml/2006/main">
            <a:r>
              <a:rPr sz="1400"/>
              <a:t/>
            </a:r>
          </a:p>
          <a:p xmlns:a="http://schemas.openxmlformats.org/drawingml/2006/main">
            <a:r>
              <a:rPr sz="1400"/>
              <a:t>Bron: Boek 3, books34-v3, gedrukte boekpagina 82–83. https://github.com/meijer1973/4veco-lessen/blob/9b8304d5031cafac936a56281e144573a25fbbc9/edities/books34-v3/books/book-3/output/Boek_3_Compleet_v3.pdf</a:t>
            </a:r>
          </a:p>
          <a:p xmlns:a="http://schemas.openxmlformats.org/drawingml/2006/main">
            <a:r>
              <a:rPr sz="1400"/>
              <a:t>Manuscript en antwoordmodel: https://github.com/meijer1973/4veco-lessen/blob/9b8304d5031cafac936a56281e144573a25fbbc9/edities/books34-v3/books/book-3/chapters/3.2/3.2.4%20manuscript.md en https://github.com/meijer1973/4veco-lessen/blob/9b8304d5031cafac936a56281e144573a25fbbc9/edities/books34-v3/books/book-3/chapters/3.2/Antwoorden.md</a:t>
            </a:r>
          </a:p>
          <a:p xmlns:a="http://schemas.openxmlformats.org/drawingml/2006/main">
            <a:r>
              <a:rPr sz="1400"/>
              <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verandert er in de winst wanneer je iets minder dan250 produceert?</a:t>
            </a:r>
          </a:p>
          <a:p xmlns:a="http://schemas.openxmlformats.org/drawingml/2006/main">
            <a:r>
              <a:rPr sz="1400"/>
              <a:t/>
            </a:r>
          </a:p>
          <a:p xmlns:a="http://schemas.openxmlformats.org/drawingml/2006/main">
            <a:r>
              <a:rPr sz="1400"/>
              <a:t>Uitleg: MK stijgt lineair. Onder200 is MK lager dan12 en boven200 hoger. Alle haalbare uitbreidingen onder200 verbeteren de winst, boven200 verlagen ze de winst. De capaciteit250 ligt rechts van het maximum. Bij q0 is winst−200; de volgende berekening600 bevestigt produceren. Geen noodzaak om buiten de capaciteit een keuze te zoeken.</a:t>
            </a:r>
          </a:p>
          <a:p xmlns:a="http://schemas.openxmlformats.org/drawingml/2006/main">
            <a:r>
              <a:rPr sz="1400"/>
              <a:t/>
            </a:r>
          </a:p>
          <a:p xmlns:a="http://schemas.openxmlformats.org/drawingml/2006/main">
            <a:r>
              <a:rPr sz="1400"/>
              <a:t>Misvatting: Meer totale winst op een gegeven q betekent niet dat elke verdere stap gunstig is.</a:t>
            </a:r>
          </a:p>
          <a:p xmlns:a="http://schemas.openxmlformats.org/drawingml/2006/main">
            <a:r>
              <a:rPr sz="1400"/>
              <a:t/>
            </a:r>
          </a:p>
          <a:p xmlns:a="http://schemas.openxmlformats.org/drawingml/2006/main">
            <a:r>
              <a:rPr sz="1400"/>
              <a:t>Overgang: Bereken nu de totalen en GTK bij200.</a:t>
            </a:r>
          </a:p>
          <a:p xmlns:a="http://schemas.openxmlformats.org/drawingml/2006/main">
            <a:r>
              <a:rPr sz="1400"/>
              <a:t/>
            </a:r>
          </a:p>
          <a:p xmlns:a="http://schemas.openxmlformats.org/drawingml/2006/main">
            <a:r>
              <a:rPr sz="1400"/>
              <a:t>Bron: Boek 3, books34-v3, gedrukte boekpagina 82–83. https://github.com/meijer1973/4veco-lessen/blob/9b8304d5031cafac936a56281e144573a25fbbc9/edities/books34-v3/books/book-3/output/Boek_3_Compleet_v3.pdf</a:t>
            </a:r>
          </a:p>
          <a:p xmlns:a="http://schemas.openxmlformats.org/drawingml/2006/main">
            <a:r>
              <a:rPr sz="1400"/>
              <a:t>Manuscript en antwoordmodel: https://github.com/meijer1973/4veco-lessen/blob/9b8304d5031cafac936a56281e144573a25fbbc9/edities/books34-v3/books/book-3/chapters/3.2/3.2.4%20manuscript.md en https://github.com/meijer1973/4veco-lessen/blob/9b8304d5031cafac936a56281e144573a25fbbc9/edities/books34-v3/books/book-3/chapters/3.2/Antwoorden.md</a:t>
            </a:r>
          </a:p>
          <a:p xmlns:a="http://schemas.openxmlformats.org/drawingml/2006/main">
            <a:r>
              <a:rPr sz="1400"/>
              <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eenheid hoort bij GTK en welke bij winst?</a:t>
            </a:r>
          </a:p>
          <a:p xmlns:a="http://schemas.openxmlformats.org/drawingml/2006/main">
            <a:r>
              <a:rPr sz="1400"/>
              <a:t/>
            </a:r>
          </a:p>
          <a:p xmlns:a="http://schemas.openxmlformats.org/drawingml/2006/main">
            <a:r>
              <a:rPr sz="1400"/>
              <a:t>Uitleg: Eerst200²=40.000, dan0,02×40.000=800. TK800+800+200=1.800. Bereken alle grootheden bij dezelfde q200. GTK9 euro/kg; winst600 euro/week. Het product van hoeveelheid en marge controleert TO−TK. De nulproductie zou−200 geven.</a:t>
            </a:r>
          </a:p>
          <a:p xmlns:a="http://schemas.openxmlformats.org/drawingml/2006/main">
            <a:r>
              <a:rPr sz="1400"/>
              <a:t/>
            </a:r>
          </a:p>
          <a:p xmlns:a="http://schemas.openxmlformats.org/drawingml/2006/main">
            <a:r>
              <a:rPr sz="1400"/>
              <a:t>Misvatting: GTK9 is niet het totale kostenbedrag en niet de minimumwaarde van de curve.</a:t>
            </a:r>
          </a:p>
          <a:p xmlns:a="http://schemas.openxmlformats.org/drawingml/2006/main">
            <a:r>
              <a:rPr sz="1400"/>
              <a:t/>
            </a:r>
          </a:p>
          <a:p xmlns:a="http://schemas.openxmlformats.org/drawingml/2006/main">
            <a:r>
              <a:rPr sz="1400"/>
              <a:t>Overgang: Teken de prijs en de bijbehorende winst.</a:t>
            </a:r>
          </a:p>
          <a:p xmlns:a="http://schemas.openxmlformats.org/drawingml/2006/main">
            <a:r>
              <a:rPr sz="1400"/>
              <a:t/>
            </a:r>
          </a:p>
          <a:p xmlns:a="http://schemas.openxmlformats.org/drawingml/2006/main">
            <a:r>
              <a:rPr sz="1400"/>
              <a:t>Bron: Boek 3, books34-v3, gedrukte boekpagina 82–83. https://github.com/meijer1973/4veco-lessen/blob/9b8304d5031cafac936a56281e144573a25fbbc9/edities/books34-v3/books/book-3/output/Boek_3_Compleet_v3.pdf</a:t>
            </a:r>
          </a:p>
          <a:p xmlns:a="http://schemas.openxmlformats.org/drawingml/2006/main">
            <a:r>
              <a:rPr sz="1400"/>
              <a:t>Manuscript en antwoordmodel: https://github.com/meijer1973/4veco-lessen/blob/9b8304d5031cafac936a56281e144573a25fbbc9/edities/books34-v3/books/book-3/chapters/3.2/3.2.4%20manuscript.md en https://github.com/meijer1973/4veco-lessen/blob/9b8304d5031cafac936a56281e144573a25fbbc9/edities/books34-v3/books/book-3/chapters/3.2/Antwoorden.md</a:t>
            </a:r>
          </a:p>
          <a:p xmlns:a="http://schemas.openxmlformats.org/drawingml/2006/main">
            <a:r>
              <a:rPr sz="1400"/>
              <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ligt de onderrand op9?</a:t>
            </a:r>
          </a:p>
          <a:p xmlns:a="http://schemas.openxmlformats.org/drawingml/2006/main">
            <a:r>
              <a:rPr sz="1400"/>
              <a:t/>
            </a:r>
          </a:p>
          <a:p xmlns:a="http://schemas.openxmlformats.org/drawingml/2006/main">
            <a:r>
              <a:rPr sz="1400"/>
              <a:t>Uitleg: De prijs ligt horizontaal op12 tot capaciteit250. De rechthoek loopt van q0 tot200 en van y9 tot12, exact GTK bij200 tot P. De arcering staat volledig binnen deze grenzen. GTK is geen horizontale kostencurve; de onderrand gebruikt slechts GTK op de gekozen q. De oppervlakte is600, het MO/MK-snijpunt op zichzelf geen winstbedrag.</a:t>
            </a:r>
          </a:p>
          <a:p xmlns:a="http://schemas.openxmlformats.org/drawingml/2006/main">
            <a:r>
              <a:rPr sz="1400"/>
              <a:t/>
            </a:r>
          </a:p>
          <a:p xmlns:a="http://schemas.openxmlformats.org/drawingml/2006/main">
            <a:r>
              <a:rPr sz="1400"/>
              <a:t>Misvatting: Arceer niet vanaf de minimumwaarde8 van GTK en ook niet onder de MK-lijn.</a:t>
            </a:r>
          </a:p>
          <a:p xmlns:a="http://schemas.openxmlformats.org/drawingml/2006/main">
            <a:r>
              <a:rPr sz="1400"/>
              <a:t/>
            </a:r>
          </a:p>
          <a:p xmlns:a="http://schemas.openxmlformats.org/drawingml/2006/main">
            <a:r>
              <a:rPr sz="1400"/>
              <a:t>Overgang: Vergelijk nu de twee procentuele veranderingen.</a:t>
            </a:r>
          </a:p>
          <a:p xmlns:a="http://schemas.openxmlformats.org/drawingml/2006/main">
            <a:r>
              <a:rPr sz="1400"/>
              <a:t/>
            </a:r>
          </a:p>
          <a:p xmlns:a="http://schemas.openxmlformats.org/drawingml/2006/main">
            <a:r>
              <a:rPr sz="1400"/>
              <a:t>Bron: Boek 3, books34-v3, gedrukte boekpagina 82–83. https://github.com/meijer1973/4veco-lessen/blob/9b8304d5031cafac936a56281e144573a25fbbc9/edities/books34-v3/books/book-3/output/Boek_3_Compleet_v3.pdf</a:t>
            </a:r>
          </a:p>
          <a:p xmlns:a="http://schemas.openxmlformats.org/drawingml/2006/main">
            <a:r>
              <a:rPr sz="1400"/>
              <a:t>Manuscript en antwoordmodel: https://github.com/meijer1973/4veco-lessen/blob/9b8304d5031cafac936a56281e144573a25fbbc9/edities/books34-v3/books/book-3/chapters/3.2/3.2.4%20manuscript.md en https://github.com/meijer1973/4veco-lessen/blob/9b8304d5031cafac936a56281e144573a25fbbc9/edities/books34-v3/books/book-3/chapters/3.2/Antwoorden.md</a:t>
            </a:r>
          </a:p>
          <a:p xmlns:a="http://schemas.openxmlformats.org/drawingml/2006/main">
            <a:r>
              <a:rPr sz="1400"/>
              <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betekent twee keer100% niet dat Q=q?</a:t>
            </a:r>
          </a:p>
          <a:p xmlns:a="http://schemas.openxmlformats.org/drawingml/2006/main">
            <a:r>
              <a:rPr sz="1400"/>
              <a:t/>
            </a:r>
          </a:p>
          <a:p xmlns:a="http://schemas.openxmlformats.org/drawingml/2006/main">
            <a:r>
              <a:rPr sz="1400"/>
              <a:t>Uitleg: Q en q verdubbelen allebei, dus100% stijging. De noemer is telkens de eigen oude hoeveelheid. Het niveau en object verschillen: hele markt versus één bedrijf. Bij deze gelijke ondernemingen en gelijkblijvend aantal bedrijven passen Q0/q0=100 en Q1/q1=100. Die verhouding is een controle van deze bron, geen algemeen bewijs dat een individueel bedrijf altijd hetzelfde groeipercentage als de markt heeft.</a:t>
            </a:r>
          </a:p>
          <a:p xmlns:a="http://schemas.openxmlformats.org/drawingml/2006/main">
            <a:r>
              <a:rPr sz="1400"/>
              <a:t/>
            </a:r>
          </a:p>
          <a:p xmlns:a="http://schemas.openxmlformats.org/drawingml/2006/main">
            <a:r>
              <a:rPr sz="1400"/>
              <a:t>Misvatting: Een verdubbeling is100% stijging, niet200% stijging.</a:t>
            </a:r>
          </a:p>
          <a:p xmlns:a="http://schemas.openxmlformats.org/drawingml/2006/main">
            <a:r>
              <a:rPr sz="1400"/>
              <a:t/>
            </a:r>
          </a:p>
          <a:p xmlns:a="http://schemas.openxmlformats.org/drawingml/2006/main">
            <a:r>
              <a:rPr sz="1400"/>
              <a:t>Overgang: Laat leerlingen hun eigen onderbouwing en grafiek verbeteren.</a:t>
            </a:r>
          </a:p>
          <a:p xmlns:a="http://schemas.openxmlformats.org/drawingml/2006/main">
            <a:r>
              <a:rPr sz="1400"/>
              <a:t/>
            </a:r>
          </a:p>
          <a:p xmlns:a="http://schemas.openxmlformats.org/drawingml/2006/main">
            <a:r>
              <a:rPr sz="1400"/>
              <a:t>Bron: Boek 3, books34-v3, gedrukte boekpagina 82–83. https://github.com/meijer1973/4veco-lessen/blob/9b8304d5031cafac936a56281e144573a25fbbc9/edities/books34-v3/books/book-3/output/Boek_3_Compleet_v3.pdf</a:t>
            </a:r>
          </a:p>
          <a:p xmlns:a="http://schemas.openxmlformats.org/drawingml/2006/main">
            <a:r>
              <a:rPr sz="1400"/>
              <a:t>Manuscript en antwoordmodel: https://github.com/meijer1973/4veco-lessen/blob/9b8304d5031cafac936a56281e144573a25fbbc9/edities/books34-v3/books/book-3/chapters/3.2/3.2.4%20manuscript.md en https://github.com/meijer1973/4veco-lessen/blob/9b8304d5031cafac936a56281e144573a25fbbc9/edities/books34-v3/books/book-3/chapters/3.2/Antwoorden.md</a:t>
            </a:r>
          </a:p>
          <a:p xmlns:a="http://schemas.openxmlformats.org/drawingml/2006/main">
            <a:r>
              <a:rPr sz="1400"/>
              <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gegevens gaan over alle bedrijven samen?</a:t>
            </a:r>
          </a:p>
          <a:p xmlns:a="http://schemas.openxmlformats.org/drawingml/2006/main">
            <a:r>
              <a:rPr sz="1400"/>
              <a:t/>
            </a:r>
          </a:p>
          <a:p xmlns:a="http://schemas.openxmlformats.org/drawingml/2006/main">
            <a:r>
              <a:rPr sz="1400"/>
              <a:t>Uitleg: Laat het overzicht staan tijdens afsluiting / huiswerk. Start: de eerste echte opgave, 31 op p.79. Zij herhaalt het evenwicht berekenen uit Boek 1 §1.3.2, prijsnemerschap, TO en P=GO=MO uit §3.2.1. Bij moeite: laat leerlingen p.54–56 en de evenwichtsaanpak erbij nemen. Geef nog geen uitgewerkte antwoorden. Bespreek na de korte herhaling welke bron bij Q en q hoort. Werk verder aan 32–34 en doel35. Dit is een gemengde paragraaf zonder aparte basis- of zelfstandige sectie. Huiswerk volgens de classroom-route: alle opgaven 31,32,33,34,35,36 (bonus),37 (herhaling) maken en nakijken. Het boek presenteert bonus/herhaling als aanvullende onderdelen; deze lesroute neemt ze expliciet in het huiswerk op. Geen aangetoonde 55-minutenfit.</a:t>
            </a:r>
          </a:p>
          <a:p xmlns:a="http://schemas.openxmlformats.org/drawingml/2006/main">
            <a:r>
              <a:rPr sz="1400"/>
              <a:t/>
            </a:r>
          </a:p>
          <a:p xmlns:a="http://schemas.openxmlformats.org/drawingml/2006/main">
            <a:r>
              <a:rPr sz="1400"/>
              <a:t>Misvatting: Een marktprijs geeft nog geen productieadvies voor één onderneming zonder haar kosten.</a:t>
            </a:r>
          </a:p>
          <a:p xmlns:a="http://schemas.openxmlformats.org/drawingml/2006/main">
            <a:r>
              <a:rPr sz="1400"/>
              <a:t/>
            </a:r>
          </a:p>
          <a:p xmlns:a="http://schemas.openxmlformats.org/drawingml/2006/main">
            <a:r>
              <a:rPr sz="1400"/>
              <a:t>Overgang: Laat de volledige huiswerkreeks noteren.</a:t>
            </a:r>
          </a:p>
          <a:p xmlns:a="http://schemas.openxmlformats.org/drawingml/2006/main">
            <a:r>
              <a:rPr sz="1400"/>
              <a:t/>
            </a:r>
          </a:p>
          <a:p xmlns:a="http://schemas.openxmlformats.org/drawingml/2006/main">
            <a:r>
              <a:rPr sz="1400"/>
              <a:t>Bron: Boek 3, books34-v3, gedrukte boekpagina 54–56, 79–84. https://github.com/meijer1973/4veco-lessen/blob/9b8304d5031cafac936a56281e144573a25fbbc9/edities/books34-v3/books/book-3/output/Boek_3_Compleet_v3.pdf</a:t>
            </a:r>
          </a:p>
          <a:p xmlns:a="http://schemas.openxmlformats.org/drawingml/2006/main">
            <a:r>
              <a:rPr sz="1400"/>
              <a:t>Manuscript en antwoordmodel: https://github.com/meijer1973/4veco-lessen/blob/9b8304d5031cafac936a56281e144573a25fbbc9/edities/books34-v3/books/book-3/chapters/3.2/3.2.4%20manuscript.md en https://github.com/meijer1973/4veco-lessen/blob/9b8304d5031cafac936a56281e144573a25fbbc9/edities/books34-v3/books/book-3/chapters/3.2/Antwoorden.md</a:t>
            </a:r>
          </a:p>
          <a:p xmlns:a="http://schemas.openxmlformats.org/drawingml/2006/main">
            <a:r>
              <a:rPr sz="1400"/>
              <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6832efb45b4494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23d4b20d60e4356" /><Relationship Type="http://schemas.openxmlformats.org/officeDocument/2006/relationships/slideLayout" Target="/ppt/slideLayouts/slideLayout1.xml" Id="R840fefdd0e324d9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40fefdd0e324d9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7da1aae50544e4e" /><Relationship Type="http://schemas.openxmlformats.org/officeDocument/2006/relationships/notesSlide" Target="/ppt/notesSlides/notesSlide1.xml" Id="Ra22ef5a0737d414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4464f4112894505" /><Relationship Type="http://schemas.openxmlformats.org/officeDocument/2006/relationships/notesSlide" Target="/ppt/notesSlides/notesSlide2.xml" Id="R2f0feb3a1a7c445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3714ccb9b5c4ed5" /><Relationship Type="http://schemas.openxmlformats.org/officeDocument/2006/relationships/notesSlide" Target="/ppt/notesSlides/notesSlide3.xml" Id="Rda52c16d1e084f0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004d2c86c2f472f" /><Relationship Type="http://schemas.openxmlformats.org/officeDocument/2006/relationships/chart" Target="/ppt/slides/charts/chart1.xml" Id="R9ccef88a2b554ff4" /><Relationship Type="http://schemas.openxmlformats.org/officeDocument/2006/relationships/notesSlide" Target="/ppt/notesSlides/notesSlide4.xml" Id="Rc45299a634834c9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73da8fe77fa4743" /><Relationship Type="http://schemas.openxmlformats.org/officeDocument/2006/relationships/notesSlide" Target="/ppt/notesSlides/notesSlide5.xml" Id="R7c0b0a428cbc4e6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bf243cd46a34d9d" /><Relationship Type="http://schemas.openxmlformats.org/officeDocument/2006/relationships/notesSlide" Target="/ppt/notesSlides/notesSlide6.xml" Id="R94803d565a52473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e969af131ad4689" /><Relationship Type="http://schemas.openxmlformats.org/officeDocument/2006/relationships/notesSlide" Target="/ppt/notesSlides/notesSlide7.xml" Id="Rcf9488f6f9a94bf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f4649bbe8a44dd2" /><Relationship Type="http://schemas.openxmlformats.org/officeDocument/2006/relationships/notesSlide" Target="/ppt/notesSlides/notesSlide8.xml" Id="R2c73c95441cf447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21e18bc249d4615" /><Relationship Type="http://schemas.openxmlformats.org/officeDocument/2006/relationships/chart" Target="/ppt/slides/charts/chart2.xml" Id="R8a1967bb20af41bf" /><Relationship Type="http://schemas.openxmlformats.org/officeDocument/2006/relationships/notesSlide" Target="/ppt/notesSlides/notesSlide9.xml" Id="R9a702e828ea540d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1f234f9d5305451e" /><Relationship Type="http://schemas.openxmlformats.org/officeDocument/2006/relationships/chart" Target="/ppt/slides/charts/chart3.xml" Id="R38e96074f49f4a16" /><Relationship Type="http://schemas.openxmlformats.org/officeDocument/2006/relationships/notesSlide" Target="/ppt/notesSlides/notesSlide10.xml" Id="Recca04f84c934bf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408e452e05d4c2a" /><Relationship Type="http://schemas.openxmlformats.org/officeDocument/2006/relationships/notesSlide" Target="/ppt/notesSlides/notesSlide11.xml" Id="Rda88275b91304ef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4e76a6373ef54356" /><Relationship Type="http://schemas.openxmlformats.org/officeDocument/2006/relationships/notesSlide" Target="/ppt/notesSlides/notesSlide12.xml" Id="R846d3502500c4ba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c00121ffc1a741c9" /><Relationship Type="http://schemas.openxmlformats.org/officeDocument/2006/relationships/notesSlide" Target="/ppt/notesSlides/notesSlide13.xml" Id="R6516b1afa1bc4f4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6c3f7f6ffebb4d54" /><Relationship Type="http://schemas.openxmlformats.org/officeDocument/2006/relationships/notesSlide" Target="/ppt/notesSlides/notesSlide14.xml" Id="R13a97747f7a141b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9fbd5fb149a14772" /><Relationship Type="http://schemas.openxmlformats.org/officeDocument/2006/relationships/notesSlide" Target="/ppt/notesSlides/notesSlide15.xml" Id="R87ed8bbf83e8462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3a2ef846261940db" /><Relationship Type="http://schemas.openxmlformats.org/officeDocument/2006/relationships/chart" Target="/ppt/slides/charts/chart4.xml" Id="R6037f827dfff4f2c" /><Relationship Type="http://schemas.openxmlformats.org/officeDocument/2006/relationships/notesSlide" Target="/ppt/notesSlides/notesSlide16.xml" Id="R8b12cb78bcb4406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fd94557bb2ae4ab2" /><Relationship Type="http://schemas.openxmlformats.org/officeDocument/2006/relationships/notesSlide" Target="/ppt/notesSlides/notesSlide17.xml" Id="R13db17b2ed8442b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cdcd0dcf2b70447b" /><Relationship Type="http://schemas.openxmlformats.org/officeDocument/2006/relationships/chart" Target="/ppt/slides/charts/chart5.xml" Id="R640c9cb4020e4257" /><Relationship Type="http://schemas.openxmlformats.org/officeDocument/2006/relationships/notesSlide" Target="/ppt/notesSlides/notesSlide18.xml" Id="R65db80a5e7ff491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56fc8e7bb89a4488" /><Relationship Type="http://schemas.openxmlformats.org/officeDocument/2006/relationships/notesSlide" Target="/ppt/notesSlides/notesSlide19.xml" Id="R169c389fa5ba490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0c55864f26f54bef" /><Relationship Type="http://schemas.openxmlformats.org/officeDocument/2006/relationships/chart" Target="/ppt/slides/charts/chart6.xml" Id="R2d006ea82cd94ebe" /><Relationship Type="http://schemas.openxmlformats.org/officeDocument/2006/relationships/notesSlide" Target="/ppt/notesSlides/notesSlide20.xml" Id="R3ed30a94cdf04150"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711ae79c82034332" /><Relationship Type="http://schemas.openxmlformats.org/officeDocument/2006/relationships/notesSlide" Target="/ppt/notesSlides/notesSlide21.xml" Id="R4f74a8b9a5ba43b7"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169faf92a4ed46ce" /><Relationship Type="http://schemas.openxmlformats.org/officeDocument/2006/relationships/notesSlide" Target="/ppt/notesSlides/notesSlide22.xml" Id="R783e0d1fab794b1c"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
        <c:ser>
          <c:idx val="0"/>
          <c:order val="0"/>
          <c:tx>
            <c:v>Winstrechthoek</c:v>
          </c:tx>
          <c:spPr>
            <a:ln xmlns:a="http://schemas.openxmlformats.org/drawingml/2006/main" w="19050">
              <a:solidFill>
                <a:srgbClr val="20665B"/>
              </a:solidFill>
              <a:prstDash val="solid"/>
            </a:ln>
          </c:spPr>
          <c:marker>
            <c:symbol val="none"/>
          </c:marker>
          <c:xVal>
            <c:numRef>
              <c:f>'Chart Data'!$A$2:$A$6</c:f>
              <c:numCache>
                <c:formatCode>General</c:formatCode>
                <c:ptCount val="5"/>
                <c:pt idx="0">
                  <c:v>0</c:v>
                </c:pt>
                <c:pt idx="1">
                  <c:v>80</c:v>
                </c:pt>
                <c:pt idx="2">
                  <c:v>80</c:v>
                </c:pt>
                <c:pt idx="3">
                  <c:v>0</c:v>
                </c:pt>
                <c:pt idx="4">
                  <c:v>0</c:v>
                </c:pt>
              </c:numCache>
            </c:numRef>
          </c:xVal>
          <c:yVal>
            <c:numRef>
              <c:f>'Chart Data'!$B$2:$B$6</c:f>
              <c:numCache>
                <c:formatCode>0</c:formatCode>
                <c:ptCount val="5"/>
                <c:pt idx="0">
                  <c:v>5.125</c:v>
                </c:pt>
                <c:pt idx="1">
                  <c:v>5.125</c:v>
                </c:pt>
                <c:pt idx="2">
                  <c:v>6</c:v>
                </c:pt>
                <c:pt idx="3">
                  <c:v>6</c:v>
                </c:pt>
                <c:pt idx="4">
                  <c:v>5.125</c:v>
                </c:pt>
              </c:numCache>
            </c:numRef>
          </c:yVal>
          <c:smooth val="0"/>
        </c:ser>
        <c:ser>
          <c:idx val="1"/>
          <c:order val="1"/>
          <c:tx>
            <c:v>Arcering</c:v>
          </c:tx>
          <c:spPr>
            <a:ln xmlns:a="http://schemas.openxmlformats.org/drawingml/2006/main" w="9525">
              <a:solidFill>
                <a:srgbClr val="9BC7B6"/>
              </a:solidFill>
              <a:prstDash val="solid"/>
            </a:ln>
          </c:spPr>
          <c:marker>
            <c:symbol val="none"/>
          </c:marker>
          <c:xVal>
            <c:numRef>
              <c:f>'Chart Data'!$C$2:$C$3</c:f>
              <c:numCache>
                <c:formatCode>General</c:formatCode>
                <c:ptCount val="2"/>
                <c:pt idx="0">
                  <c:v>0</c:v>
                </c:pt>
                <c:pt idx="1">
                  <c:v>16</c:v>
                </c:pt>
              </c:numCache>
            </c:numRef>
          </c:xVal>
          <c:yVal>
            <c:numRef>
              <c:f>'Chart Data'!$D$2:$D$3</c:f>
              <c:numCache>
                <c:formatCode>0</c:formatCode>
                <c:ptCount val="2"/>
                <c:pt idx="0">
                  <c:v>5.825</c:v>
                </c:pt>
                <c:pt idx="1">
                  <c:v>6</c:v>
                </c:pt>
              </c:numCache>
            </c:numRef>
          </c:yVal>
          <c:smooth val="0"/>
        </c:ser>
        <c:ser>
          <c:idx val="2"/>
          <c:order val="2"/>
          <c:tx>
            <c:v>Arcering</c:v>
          </c:tx>
          <c:spPr>
            <a:ln xmlns:a="http://schemas.openxmlformats.org/drawingml/2006/main" w="9525">
              <a:solidFill>
                <a:srgbClr val="9BC7B6"/>
              </a:solidFill>
              <a:prstDash val="solid"/>
            </a:ln>
          </c:spPr>
          <c:marker>
            <c:symbol val="none"/>
          </c:marker>
          <c:xVal>
            <c:numRef>
              <c:f>'Chart Data'!$E$2:$E$3</c:f>
              <c:numCache>
                <c:formatCode>General</c:formatCode>
                <c:ptCount val="2"/>
                <c:pt idx="0">
                  <c:v>0</c:v>
                </c:pt>
                <c:pt idx="1">
                  <c:v>24</c:v>
                </c:pt>
              </c:numCache>
            </c:numRef>
          </c:xVal>
          <c:yVal>
            <c:numRef>
              <c:f>'Chart Data'!$F$2:$F$3</c:f>
              <c:numCache>
                <c:formatCode>0</c:formatCode>
                <c:ptCount val="2"/>
                <c:pt idx="0">
                  <c:v>5.7375</c:v>
                </c:pt>
                <c:pt idx="1">
                  <c:v>6</c:v>
                </c:pt>
              </c:numCache>
            </c:numRef>
          </c:yVal>
          <c:smooth val="0"/>
        </c:ser>
        <c:ser>
          <c:idx val="3"/>
          <c:order val="3"/>
          <c:tx>
            <c:v>Arcering</c:v>
          </c:tx>
          <c:spPr>
            <a:ln xmlns:a="http://schemas.openxmlformats.org/drawingml/2006/main" w="9525">
              <a:solidFill>
                <a:srgbClr val="9BC7B6"/>
              </a:solidFill>
              <a:prstDash val="solid"/>
            </a:ln>
          </c:spPr>
          <c:marker>
            <c:symbol val="none"/>
          </c:marker>
          <c:xVal>
            <c:numRef>
              <c:f>'Chart Data'!$G$2:$G$3</c:f>
              <c:numCache>
                <c:formatCode>General</c:formatCode>
                <c:ptCount val="2"/>
                <c:pt idx="0">
                  <c:v>0</c:v>
                </c:pt>
                <c:pt idx="1">
                  <c:v>32</c:v>
                </c:pt>
              </c:numCache>
            </c:numRef>
          </c:xVal>
          <c:yVal>
            <c:numRef>
              <c:f>'Chart Data'!$H$2:$H$3</c:f>
              <c:numCache>
                <c:formatCode>0</c:formatCode>
                <c:ptCount val="2"/>
                <c:pt idx="0">
                  <c:v>5.65</c:v>
                </c:pt>
                <c:pt idx="1">
                  <c:v>6</c:v>
                </c:pt>
              </c:numCache>
            </c:numRef>
          </c:yVal>
          <c:smooth val="0"/>
        </c:ser>
        <c:ser>
          <c:idx val="4"/>
          <c:order val="4"/>
          <c:tx>
            <c:v>Arcering</c:v>
          </c:tx>
          <c:spPr>
            <a:ln xmlns:a="http://schemas.openxmlformats.org/drawingml/2006/main" w="9525">
              <a:solidFill>
                <a:srgbClr val="9BC7B6"/>
              </a:solidFill>
              <a:prstDash val="solid"/>
            </a:ln>
          </c:spPr>
          <c:marker>
            <c:symbol val="none"/>
          </c:marker>
          <c:xVal>
            <c:numRef>
              <c:f>'Chart Data'!$I$2:$I$3</c:f>
              <c:numCache>
                <c:formatCode>General</c:formatCode>
                <c:ptCount val="2"/>
                <c:pt idx="0">
                  <c:v>0</c:v>
                </c:pt>
                <c:pt idx="1">
                  <c:v>40</c:v>
                </c:pt>
              </c:numCache>
            </c:numRef>
          </c:xVal>
          <c:yVal>
            <c:numRef>
              <c:f>'Chart Data'!$J$2:$J$3</c:f>
              <c:numCache>
                <c:formatCode>0</c:formatCode>
                <c:ptCount val="2"/>
                <c:pt idx="0">
                  <c:v>5.5625</c:v>
                </c:pt>
                <c:pt idx="1">
                  <c:v>6</c:v>
                </c:pt>
              </c:numCache>
            </c:numRef>
          </c:yVal>
          <c:smooth val="0"/>
        </c:ser>
        <c:ser>
          <c:idx val="5"/>
          <c:order val="5"/>
          <c:tx>
            <c:v>Arcering</c:v>
          </c:tx>
          <c:spPr>
            <a:ln xmlns:a="http://schemas.openxmlformats.org/drawingml/2006/main" w="9525">
              <a:solidFill>
                <a:srgbClr val="9BC7B6"/>
              </a:solidFill>
              <a:prstDash val="solid"/>
            </a:ln>
          </c:spPr>
          <c:marker>
            <c:symbol val="none"/>
          </c:marker>
          <c:xVal>
            <c:numRef>
              <c:f>'Chart Data'!$K$2:$K$3</c:f>
              <c:numCache>
                <c:formatCode>General</c:formatCode>
                <c:ptCount val="2"/>
                <c:pt idx="0">
                  <c:v>0</c:v>
                </c:pt>
                <c:pt idx="1">
                  <c:v>48</c:v>
                </c:pt>
              </c:numCache>
            </c:numRef>
          </c:xVal>
          <c:yVal>
            <c:numRef>
              <c:f>'Chart Data'!$L$2:$L$3</c:f>
              <c:numCache>
                <c:formatCode>0</c:formatCode>
                <c:ptCount val="2"/>
                <c:pt idx="0">
                  <c:v>5.475</c:v>
                </c:pt>
                <c:pt idx="1">
                  <c:v>6</c:v>
                </c:pt>
              </c:numCache>
            </c:numRef>
          </c:yVal>
          <c:smooth val="0"/>
        </c:ser>
        <c:ser>
          <c:idx val="6"/>
          <c:order val="6"/>
          <c:tx>
            <c:v>Arcering</c:v>
          </c:tx>
          <c:spPr>
            <a:ln xmlns:a="http://schemas.openxmlformats.org/drawingml/2006/main" w="9525">
              <a:solidFill>
                <a:srgbClr val="9BC7B6"/>
              </a:solidFill>
              <a:prstDash val="solid"/>
            </a:ln>
          </c:spPr>
          <c:marker>
            <c:symbol val="none"/>
          </c:marker>
          <c:xVal>
            <c:numRef>
              <c:f>'Chart Data'!$M$2:$M$3</c:f>
              <c:numCache>
                <c:formatCode>General</c:formatCode>
                <c:ptCount val="2"/>
                <c:pt idx="0">
                  <c:v>0</c:v>
                </c:pt>
                <c:pt idx="1">
                  <c:v>56</c:v>
                </c:pt>
              </c:numCache>
            </c:numRef>
          </c:xVal>
          <c:yVal>
            <c:numRef>
              <c:f>'Chart Data'!$N$2:$N$3</c:f>
              <c:numCache>
                <c:formatCode>0</c:formatCode>
                <c:ptCount val="2"/>
                <c:pt idx="0">
                  <c:v>5.3875</c:v>
                </c:pt>
                <c:pt idx="1">
                  <c:v>6</c:v>
                </c:pt>
              </c:numCache>
            </c:numRef>
          </c:yVal>
          <c:smooth val="0"/>
        </c:ser>
        <c:ser>
          <c:idx val="7"/>
          <c:order val="7"/>
          <c:tx>
            <c:v>Arcering</c:v>
          </c:tx>
          <c:spPr>
            <a:ln xmlns:a="http://schemas.openxmlformats.org/drawingml/2006/main" w="9525">
              <a:solidFill>
                <a:srgbClr val="9BC7B6"/>
              </a:solidFill>
              <a:prstDash val="solid"/>
            </a:ln>
          </c:spPr>
          <c:marker>
            <c:symbol val="none"/>
          </c:marker>
          <c:xVal>
            <c:numRef>
              <c:f>'Chart Data'!$O$2:$O$3</c:f>
              <c:numCache>
                <c:formatCode>General</c:formatCode>
                <c:ptCount val="2"/>
                <c:pt idx="0">
                  <c:v>0</c:v>
                </c:pt>
                <c:pt idx="1">
                  <c:v>64</c:v>
                </c:pt>
              </c:numCache>
            </c:numRef>
          </c:xVal>
          <c:yVal>
            <c:numRef>
              <c:f>'Chart Data'!$P$2:$P$3</c:f>
              <c:numCache>
                <c:formatCode>0</c:formatCode>
                <c:ptCount val="2"/>
                <c:pt idx="0">
                  <c:v>5.3</c:v>
                </c:pt>
                <c:pt idx="1">
                  <c:v>6</c:v>
                </c:pt>
              </c:numCache>
            </c:numRef>
          </c:yVal>
          <c:smooth val="0"/>
        </c:ser>
        <c:ser>
          <c:idx val="8"/>
          <c:order val="8"/>
          <c:tx>
            <c:v>Arcering</c:v>
          </c:tx>
          <c:spPr>
            <a:ln xmlns:a="http://schemas.openxmlformats.org/drawingml/2006/main" w="9525">
              <a:solidFill>
                <a:srgbClr val="9BC7B6"/>
              </a:solidFill>
              <a:prstDash val="solid"/>
            </a:ln>
          </c:spPr>
          <c:marker>
            <c:symbol val="none"/>
          </c:marker>
          <c:xVal>
            <c:numRef>
              <c:f>'Chart Data'!$Q$2:$Q$3</c:f>
              <c:numCache>
                <c:formatCode>General</c:formatCode>
                <c:ptCount val="2"/>
                <c:pt idx="0">
                  <c:v>0</c:v>
                </c:pt>
                <c:pt idx="1">
                  <c:v>72</c:v>
                </c:pt>
              </c:numCache>
            </c:numRef>
          </c:xVal>
          <c:yVal>
            <c:numRef>
              <c:f>'Chart Data'!$R$2:$R$3</c:f>
              <c:numCache>
                <c:formatCode>0</c:formatCode>
                <c:ptCount val="2"/>
                <c:pt idx="0">
                  <c:v>5.2125</c:v>
                </c:pt>
                <c:pt idx="1">
                  <c:v>6</c:v>
                </c:pt>
              </c:numCache>
            </c:numRef>
          </c:yVal>
          <c:smooth val="0"/>
        </c:ser>
        <c:ser>
          <c:idx val="9"/>
          <c:order val="9"/>
          <c:tx>
            <c:v>Arcering</c:v>
          </c:tx>
          <c:spPr>
            <a:ln xmlns:a="http://schemas.openxmlformats.org/drawingml/2006/main" w="9525">
              <a:solidFill>
                <a:srgbClr val="9BC7B6"/>
              </a:solidFill>
              <a:prstDash val="solid"/>
            </a:ln>
          </c:spPr>
          <c:marker>
            <c:symbol val="none"/>
          </c:marker>
          <c:xVal>
            <c:numRef>
              <c:f>'Chart Data'!$S$2:$S$3</c:f>
              <c:numCache>
                <c:formatCode>General</c:formatCode>
                <c:ptCount val="2"/>
                <c:pt idx="0">
                  <c:v>0</c:v>
                </c:pt>
                <c:pt idx="1">
                  <c:v>80</c:v>
                </c:pt>
              </c:numCache>
            </c:numRef>
          </c:xVal>
          <c:yVal>
            <c:numRef>
              <c:f>'Chart Data'!$T$2:$T$3</c:f>
              <c:numCache>
                <c:formatCode>0</c:formatCode>
                <c:ptCount val="2"/>
                <c:pt idx="0">
                  <c:v>5.125</c:v>
                </c:pt>
                <c:pt idx="1">
                  <c:v>6</c:v>
                </c:pt>
              </c:numCache>
            </c:numRef>
          </c:yVal>
          <c:smooth val="0"/>
        </c:ser>
        <c:ser>
          <c:idx val="10"/>
          <c:order val="10"/>
          <c:tx>
            <c:v>Arcering</c:v>
          </c:tx>
          <c:spPr>
            <a:ln xmlns:a="http://schemas.openxmlformats.org/drawingml/2006/main" w="9525">
              <a:solidFill>
                <a:srgbClr val="9BC7B6"/>
              </a:solidFill>
              <a:prstDash val="solid"/>
            </a:ln>
          </c:spPr>
          <c:marker>
            <c:symbol val="none"/>
          </c:marker>
          <c:xVal>
            <c:numRef>
              <c:f>'Chart Data'!$U$2:$U$3</c:f>
              <c:numCache>
                <c:formatCode>General</c:formatCode>
                <c:ptCount val="2"/>
                <c:pt idx="0">
                  <c:v>8</c:v>
                </c:pt>
                <c:pt idx="1">
                  <c:v>80</c:v>
                </c:pt>
              </c:numCache>
            </c:numRef>
          </c:xVal>
          <c:yVal>
            <c:numRef>
              <c:f>'Chart Data'!$V$2:$V$3</c:f>
              <c:numCache>
                <c:formatCode>0</c:formatCode>
                <c:ptCount val="2"/>
                <c:pt idx="0">
                  <c:v>5.125</c:v>
                </c:pt>
                <c:pt idx="1">
                  <c:v>5.9125</c:v>
                </c:pt>
              </c:numCache>
            </c:numRef>
          </c:yVal>
          <c:smooth val="0"/>
        </c:ser>
        <c:ser>
          <c:idx val="11"/>
          <c:order val="11"/>
          <c:tx>
            <c:v>Arcering</c:v>
          </c:tx>
          <c:spPr>
            <a:ln xmlns:a="http://schemas.openxmlformats.org/drawingml/2006/main" w="9525">
              <a:solidFill>
                <a:srgbClr val="9BC7B6"/>
              </a:solidFill>
              <a:prstDash val="solid"/>
            </a:ln>
          </c:spPr>
          <c:marker>
            <c:symbol val="none"/>
          </c:marker>
          <c:xVal>
            <c:numRef>
              <c:f>'Chart Data'!$W$2:$W$3</c:f>
              <c:numCache>
                <c:formatCode>General</c:formatCode>
                <c:ptCount val="2"/>
                <c:pt idx="0">
                  <c:v>16</c:v>
                </c:pt>
                <c:pt idx="1">
                  <c:v>80</c:v>
                </c:pt>
              </c:numCache>
            </c:numRef>
          </c:xVal>
          <c:yVal>
            <c:numRef>
              <c:f>'Chart Data'!$X$2:$X$3</c:f>
              <c:numCache>
                <c:formatCode>0</c:formatCode>
                <c:ptCount val="2"/>
                <c:pt idx="0">
                  <c:v>5.125</c:v>
                </c:pt>
                <c:pt idx="1">
                  <c:v>5.825</c:v>
                </c:pt>
              </c:numCache>
            </c:numRef>
          </c:yVal>
          <c:smooth val="0"/>
        </c:ser>
        <c:ser>
          <c:idx val="12"/>
          <c:order val="12"/>
          <c:tx>
            <c:v>Arcering</c:v>
          </c:tx>
          <c:spPr>
            <a:ln xmlns:a="http://schemas.openxmlformats.org/drawingml/2006/main" w="9525">
              <a:solidFill>
                <a:srgbClr val="9BC7B6"/>
              </a:solidFill>
              <a:prstDash val="solid"/>
            </a:ln>
          </c:spPr>
          <c:marker>
            <c:symbol val="none"/>
          </c:marker>
          <c:xVal>
            <c:numRef>
              <c:f>'Chart Data'!$Y$2:$Y$3</c:f>
              <c:numCache>
                <c:formatCode>General</c:formatCode>
                <c:ptCount val="2"/>
                <c:pt idx="0">
                  <c:v>24</c:v>
                </c:pt>
                <c:pt idx="1">
                  <c:v>80</c:v>
                </c:pt>
              </c:numCache>
            </c:numRef>
          </c:xVal>
          <c:yVal>
            <c:numRef>
              <c:f>'Chart Data'!$Z$2:$Z$3</c:f>
              <c:numCache>
                <c:formatCode>0</c:formatCode>
                <c:ptCount val="2"/>
                <c:pt idx="0">
                  <c:v>5.125</c:v>
                </c:pt>
                <c:pt idx="1">
                  <c:v>5.7375</c:v>
                </c:pt>
              </c:numCache>
            </c:numRef>
          </c:yVal>
          <c:smooth val="0"/>
        </c:ser>
        <c:ser>
          <c:idx val="13"/>
          <c:order val="13"/>
          <c:tx>
            <c:v>Arcering</c:v>
          </c:tx>
          <c:spPr>
            <a:ln xmlns:a="http://schemas.openxmlformats.org/drawingml/2006/main" w="9525">
              <a:solidFill>
                <a:srgbClr val="9BC7B6"/>
              </a:solidFill>
              <a:prstDash val="solid"/>
            </a:ln>
          </c:spPr>
          <c:marker>
            <c:symbol val="none"/>
          </c:marker>
          <c:xVal>
            <c:numRef>
              <c:f>'Chart Data'!$AA$2:$AA$3</c:f>
              <c:numCache>
                <c:formatCode>General</c:formatCode>
                <c:ptCount val="2"/>
                <c:pt idx="0">
                  <c:v>32</c:v>
                </c:pt>
                <c:pt idx="1">
                  <c:v>80</c:v>
                </c:pt>
              </c:numCache>
            </c:numRef>
          </c:xVal>
          <c:yVal>
            <c:numRef>
              <c:f>'Chart Data'!$AB$2:$AB$3</c:f>
              <c:numCache>
                <c:formatCode>0</c:formatCode>
                <c:ptCount val="2"/>
                <c:pt idx="0">
                  <c:v>5.125</c:v>
                </c:pt>
                <c:pt idx="1">
                  <c:v>5.65</c:v>
                </c:pt>
              </c:numCache>
            </c:numRef>
          </c:yVal>
          <c:smooth val="0"/>
        </c:ser>
        <c:ser>
          <c:idx val="14"/>
          <c:order val="14"/>
          <c:tx>
            <c:v>Arcering</c:v>
          </c:tx>
          <c:spPr>
            <a:ln xmlns:a="http://schemas.openxmlformats.org/drawingml/2006/main" w="9525">
              <a:solidFill>
                <a:srgbClr val="9BC7B6"/>
              </a:solidFill>
              <a:prstDash val="solid"/>
            </a:ln>
          </c:spPr>
          <c:marker>
            <c:symbol val="none"/>
          </c:marker>
          <c:xVal>
            <c:numRef>
              <c:f>'Chart Data'!$AC$2:$AC$3</c:f>
              <c:numCache>
                <c:formatCode>General</c:formatCode>
                <c:ptCount val="2"/>
                <c:pt idx="0">
                  <c:v>40</c:v>
                </c:pt>
                <c:pt idx="1">
                  <c:v>80</c:v>
                </c:pt>
              </c:numCache>
            </c:numRef>
          </c:xVal>
          <c:yVal>
            <c:numRef>
              <c:f>'Chart Data'!$AD$2:$AD$3</c:f>
              <c:numCache>
                <c:formatCode>0</c:formatCode>
                <c:ptCount val="2"/>
                <c:pt idx="0">
                  <c:v>5.125</c:v>
                </c:pt>
                <c:pt idx="1">
                  <c:v>5.5625</c:v>
                </c:pt>
              </c:numCache>
            </c:numRef>
          </c:yVal>
          <c:smooth val="0"/>
        </c:ser>
        <c:ser>
          <c:idx val="15"/>
          <c:order val="15"/>
          <c:tx>
            <c:v>Arcering</c:v>
          </c:tx>
          <c:spPr>
            <a:ln xmlns:a="http://schemas.openxmlformats.org/drawingml/2006/main" w="9525">
              <a:solidFill>
                <a:srgbClr val="9BC7B6"/>
              </a:solidFill>
              <a:prstDash val="solid"/>
            </a:ln>
          </c:spPr>
          <c:marker>
            <c:symbol val="none"/>
          </c:marker>
          <c:xVal>
            <c:numRef>
              <c:f>'Chart Data'!$AE$2:$AE$3</c:f>
              <c:numCache>
                <c:formatCode>General</c:formatCode>
                <c:ptCount val="2"/>
                <c:pt idx="0">
                  <c:v>48</c:v>
                </c:pt>
                <c:pt idx="1">
                  <c:v>80</c:v>
                </c:pt>
              </c:numCache>
            </c:numRef>
          </c:xVal>
          <c:yVal>
            <c:numRef>
              <c:f>'Chart Data'!$AF$2:$AF$3</c:f>
              <c:numCache>
                <c:formatCode>0</c:formatCode>
                <c:ptCount val="2"/>
                <c:pt idx="0">
                  <c:v>5.125</c:v>
                </c:pt>
                <c:pt idx="1">
                  <c:v>5.475</c:v>
                </c:pt>
              </c:numCache>
            </c:numRef>
          </c:yVal>
          <c:smooth val="0"/>
        </c:ser>
        <c:ser>
          <c:idx val="16"/>
          <c:order val="16"/>
          <c:tx>
            <c:v>Arcering</c:v>
          </c:tx>
          <c:spPr>
            <a:ln xmlns:a="http://schemas.openxmlformats.org/drawingml/2006/main" w="9525">
              <a:solidFill>
                <a:srgbClr val="9BC7B6"/>
              </a:solidFill>
              <a:prstDash val="solid"/>
            </a:ln>
          </c:spPr>
          <c:marker>
            <c:symbol val="none"/>
          </c:marker>
          <c:xVal>
            <c:numRef>
              <c:f>'Chart Data'!$AG$2:$AG$3</c:f>
              <c:numCache>
                <c:formatCode>General</c:formatCode>
                <c:ptCount val="2"/>
                <c:pt idx="0">
                  <c:v>56</c:v>
                </c:pt>
                <c:pt idx="1">
                  <c:v>80</c:v>
                </c:pt>
              </c:numCache>
            </c:numRef>
          </c:xVal>
          <c:yVal>
            <c:numRef>
              <c:f>'Chart Data'!$AH$2:$AH$3</c:f>
              <c:numCache>
                <c:formatCode>0</c:formatCode>
                <c:ptCount val="2"/>
                <c:pt idx="0">
                  <c:v>5.125</c:v>
                </c:pt>
                <c:pt idx="1">
                  <c:v>5.3875</c:v>
                </c:pt>
              </c:numCache>
            </c:numRef>
          </c:yVal>
          <c:smooth val="0"/>
        </c:ser>
        <c:ser>
          <c:idx val="17"/>
          <c:order val="17"/>
          <c:tx>
            <c:v>Arcering</c:v>
          </c:tx>
          <c:spPr>
            <a:ln xmlns:a="http://schemas.openxmlformats.org/drawingml/2006/main" w="9525">
              <a:solidFill>
                <a:srgbClr val="9BC7B6"/>
              </a:solidFill>
              <a:prstDash val="solid"/>
            </a:ln>
          </c:spPr>
          <c:marker>
            <c:symbol val="none"/>
          </c:marker>
          <c:xVal>
            <c:numRef>
              <c:f>'Chart Data'!$AI$2:$AI$3</c:f>
              <c:numCache>
                <c:formatCode>General</c:formatCode>
                <c:ptCount val="2"/>
                <c:pt idx="0">
                  <c:v>64</c:v>
                </c:pt>
                <c:pt idx="1">
                  <c:v>80</c:v>
                </c:pt>
              </c:numCache>
            </c:numRef>
          </c:xVal>
          <c:yVal>
            <c:numRef>
              <c:f>'Chart Data'!$AJ$2:$AJ$3</c:f>
              <c:numCache>
                <c:formatCode>0</c:formatCode>
                <c:ptCount val="2"/>
                <c:pt idx="0">
                  <c:v>5.125</c:v>
                </c:pt>
                <c:pt idx="1">
                  <c:v>5.3</c:v>
                </c:pt>
              </c:numCache>
            </c:numRef>
          </c:yVal>
          <c:smooth val="0"/>
        </c:ser>
        <c:ser>
          <c:idx val="18"/>
          <c:order val="18"/>
          <c:tx>
            <c:v>Arcering</c:v>
          </c:tx>
          <c:spPr>
            <a:ln xmlns:a="http://schemas.openxmlformats.org/drawingml/2006/main" w="9525">
              <a:solidFill>
                <a:srgbClr val="9BC7B6"/>
              </a:solidFill>
              <a:prstDash val="solid"/>
            </a:ln>
          </c:spPr>
          <c:marker>
            <c:symbol val="none"/>
          </c:marker>
          <c:xVal>
            <c:numRef>
              <c:f>'Chart Data'!$AK$2:$AK$3</c:f>
              <c:numCache>
                <c:formatCode>General</c:formatCode>
                <c:ptCount val="2"/>
                <c:pt idx="0">
                  <c:v>72</c:v>
                </c:pt>
                <c:pt idx="1">
                  <c:v>80</c:v>
                </c:pt>
              </c:numCache>
            </c:numRef>
          </c:xVal>
          <c:yVal>
            <c:numRef>
              <c:f>'Chart Data'!$AL$2:$AL$3</c:f>
              <c:numCache>
                <c:formatCode>0</c:formatCode>
                <c:ptCount val="2"/>
                <c:pt idx="0">
                  <c:v>5.125</c:v>
                </c:pt>
                <c:pt idx="1">
                  <c:v>5.2125</c:v>
                </c:pt>
              </c:numCache>
            </c:numRef>
          </c:yVal>
          <c:smooth val="0"/>
        </c:ser>
        <c:ser>
          <c:idx val="19"/>
          <c:order val="19"/>
          <c:tx>
            <c:v>Arcering</c:v>
          </c:tx>
          <c:spPr>
            <a:ln xmlns:a="http://schemas.openxmlformats.org/drawingml/2006/main" w="9525">
              <a:solidFill>
                <a:srgbClr val="9BC7B6"/>
              </a:solidFill>
              <a:prstDash val="solid"/>
            </a:ln>
          </c:spPr>
          <c:marker>
            <c:symbol val="none"/>
          </c:marker>
          <c:xVal>
            <c:numRef>
              <c:f>'Chart Data'!$AM$2:$AM$3</c:f>
              <c:numCache>
                <c:formatCode>General</c:formatCode>
                <c:ptCount val="2"/>
                <c:pt idx="0">
                  <c:v>80</c:v>
                </c:pt>
                <c:pt idx="1">
                  <c:v>80</c:v>
                </c:pt>
              </c:numCache>
            </c:numRef>
          </c:xVal>
          <c:yVal>
            <c:numRef>
              <c:f>'Chart Data'!$AN$2:$AN$3</c:f>
              <c:numCache>
                <c:formatCode>0</c:formatCode>
                <c:ptCount val="2"/>
                <c:pt idx="0">
                  <c:v>5.125</c:v>
                </c:pt>
                <c:pt idx="1">
                  <c:v>5.125</c:v>
                </c:pt>
              </c:numCache>
            </c:numRef>
          </c:yVal>
          <c:smooth val="0"/>
        </c:ser>
        <c:ser>
          <c:idx val="20"/>
          <c:order val="20"/>
          <c:tx>
            <c:v>MK</c:v>
          </c:tx>
          <c:spPr>
            <a:ln xmlns:a="http://schemas.openxmlformats.org/drawingml/2006/main" w="28575">
              <a:solidFill>
                <a:srgbClr val="A94D16"/>
              </a:solidFill>
              <a:prstDash val="solid"/>
            </a:ln>
          </c:spPr>
          <c:marker>
            <c:symbol val="none"/>
          </c:marker>
          <c:xVal>
            <c:numRef>
              <c:f>'Chart Data'!$AO$2:$AO$3</c:f>
              <c:numCache>
                <c:formatCode>General</c:formatCode>
                <c:ptCount val="2"/>
                <c:pt idx="0">
                  <c:v>0</c:v>
                </c:pt>
                <c:pt idx="1">
                  <c:v>100</c:v>
                </c:pt>
              </c:numCache>
            </c:numRef>
          </c:xVal>
          <c:yVal>
            <c:numRef>
              <c:f>'Chart Data'!$AP$2:$AP$3</c:f>
              <c:numCache>
                <c:formatCode>0</c:formatCode>
                <c:ptCount val="2"/>
                <c:pt idx="0">
                  <c:v>2</c:v>
                </c:pt>
                <c:pt idx="1">
                  <c:v>7</c:v>
                </c:pt>
              </c:numCache>
            </c:numRef>
          </c:yVal>
          <c:smooth val="0"/>
        </c:ser>
        <c:ser>
          <c:idx val="21"/>
          <c:order val="21"/>
          <c:tx>
            <c:v>MK</c:v>
          </c:tx>
          <c:spPr>
            <a:ln xmlns:a="http://schemas.openxmlformats.org/drawingml/2006/main" w="0">
              <a:noFill/>
            </a:ln>
          </c:spPr>
          <c:marker>
            <c:symbol val="none"/>
            <c:size val="8"/>
            <c:spPr>
              <a:solidFill xmlns:a="http://schemas.openxmlformats.org/drawingml/2006/main">
                <a:srgbClr val="A94D16"/>
              </a:solidFill>
            </c:spPr>
          </c:marker>
          <c:dLbls>
            <c:dLbl>
              <c:idx val="0"/>
              <c:tx>
                <c:rich>
                  <a:bodyPr xmlns:a="http://schemas.openxmlformats.org/drawingml/2006/main"/>
                  <a:lstStyle xmlns:a="http://schemas.openxmlformats.org/drawingml/2006/main"/>
                  <a:p xmlns:a="http://schemas.openxmlformats.org/drawingml/2006/main">
                    <a:r>
                      <a:rPr sz="1950" b="1">
                        <a:solidFill>
                          <a:srgbClr val="A94D16"/>
                        </a:solidFill>
                        <a:latin typeface="Arial"/>
                        <a:ea typeface="Arial"/>
                        <a:cs typeface="Arial"/>
                      </a:rPr>
                      <a:t>MK</a:t>
                    </a:r>
                  </a:p>
                </c:rich>
              </c:tx>
              <c:txPr>
                <a:bodyPr xmlns:a="http://schemas.openxmlformats.org/drawingml/2006/main" anchorCtr="1"/>
                <a:lstStyle xmlns:a="http://schemas.openxmlformats.org/drawingml/2006/main"/>
                <a:p xmlns:a="http://schemas.openxmlformats.org/drawingml/2006/main">
                  <a:pPr>
                    <a:defRPr sz="1950" b="1">
                      <a:solidFill>
                        <a:srgbClr val="A94D16"/>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Data'!$AQ$2:$AQ$2</c:f>
              <c:numCache>
                <c:formatCode>General</c:formatCode>
                <c:ptCount val="1"/>
                <c:pt idx="0">
                  <c:v>86</c:v>
                </c:pt>
              </c:numCache>
            </c:numRef>
          </c:xVal>
          <c:yVal>
            <c:numRef>
              <c:f>'Chart Data'!$AR$2:$AR$2</c:f>
              <c:numCache>
                <c:formatCode>0</c:formatCode>
                <c:ptCount val="1"/>
                <c:pt idx="0">
                  <c:v>7.08</c:v>
                </c:pt>
              </c:numCache>
            </c:numRef>
          </c:yVal>
          <c:smooth val="0"/>
        </c:ser>
        <c:ser>
          <c:idx val="22"/>
          <c:order val="22"/>
          <c:tx>
            <c:v>GTK</c:v>
          </c:tx>
          <c:spPr>
            <a:ln xmlns:a="http://schemas.openxmlformats.org/drawingml/2006/main" w="28575">
              <a:solidFill>
                <a:srgbClr val="A63735"/>
              </a:solidFill>
              <a:prstDash val="solid"/>
            </a:ln>
          </c:spPr>
          <c:marker>
            <c:symbol val="none"/>
          </c:marker>
          <c:xVal>
            <c:numRef>
              <c:f>'Chart Data'!$AS$2:$AS$93</c:f>
              <c:numCache>
                <c:formatCode>General</c:formatCode>
                <c:ptCount val="92"/>
                <c:pt idx="0">
                  <c:v>9.21215972</c:v>
                </c:pt>
                <c:pt idx="1">
                  <c:v>10</c:v>
                </c:pt>
                <c:pt idx="2">
                  <c:v>11</c:v>
                </c:pt>
                <c:pt idx="3">
                  <c:v>12</c:v>
                </c:pt>
                <c:pt idx="4">
                  <c:v>13</c:v>
                </c:pt>
                <c:pt idx="5">
                  <c:v>14</c:v>
                </c:pt>
                <c:pt idx="6">
                  <c:v>15</c:v>
                </c:pt>
                <c:pt idx="7">
                  <c:v>16</c:v>
                </c:pt>
                <c:pt idx="8">
                  <c:v>17</c:v>
                </c:pt>
                <c:pt idx="9">
                  <c:v>18</c:v>
                </c:pt>
                <c:pt idx="10">
                  <c:v>19</c:v>
                </c:pt>
                <c:pt idx="11">
                  <c:v>20</c:v>
                </c:pt>
                <c:pt idx="12">
                  <c:v>21</c:v>
                </c:pt>
                <c:pt idx="13">
                  <c:v>22</c:v>
                </c:pt>
                <c:pt idx="14">
                  <c:v>23</c:v>
                </c:pt>
                <c:pt idx="15">
                  <c:v>24</c:v>
                </c:pt>
                <c:pt idx="16">
                  <c:v>25</c:v>
                </c:pt>
                <c:pt idx="17">
                  <c:v>26</c:v>
                </c:pt>
                <c:pt idx="18">
                  <c:v>27</c:v>
                </c:pt>
                <c:pt idx="19">
                  <c:v>28</c:v>
                </c:pt>
                <c:pt idx="20">
                  <c:v>29</c:v>
                </c:pt>
                <c:pt idx="21">
                  <c:v>30</c:v>
                </c:pt>
                <c:pt idx="22">
                  <c:v>31</c:v>
                </c:pt>
                <c:pt idx="23">
                  <c:v>32</c:v>
                </c:pt>
                <c:pt idx="24">
                  <c:v>33</c:v>
                </c:pt>
                <c:pt idx="25">
                  <c:v>34</c:v>
                </c:pt>
                <c:pt idx="26">
                  <c:v>35</c:v>
                </c:pt>
                <c:pt idx="27">
                  <c:v>36</c:v>
                </c:pt>
                <c:pt idx="28">
                  <c:v>37</c:v>
                </c:pt>
                <c:pt idx="29">
                  <c:v>38</c:v>
                </c:pt>
                <c:pt idx="30">
                  <c:v>39</c:v>
                </c:pt>
                <c:pt idx="31">
                  <c:v>40</c:v>
                </c:pt>
                <c:pt idx="32">
                  <c:v>41</c:v>
                </c:pt>
                <c:pt idx="33">
                  <c:v>42</c:v>
                </c:pt>
                <c:pt idx="34">
                  <c:v>43</c:v>
                </c:pt>
                <c:pt idx="35">
                  <c:v>44</c:v>
                </c:pt>
                <c:pt idx="36">
                  <c:v>45</c:v>
                </c:pt>
                <c:pt idx="37">
                  <c:v>46</c:v>
                </c:pt>
                <c:pt idx="38">
                  <c:v>47</c:v>
                </c:pt>
                <c:pt idx="39">
                  <c:v>48</c:v>
                </c:pt>
                <c:pt idx="40">
                  <c:v>49</c:v>
                </c:pt>
                <c:pt idx="41">
                  <c:v>50</c:v>
                </c:pt>
                <c:pt idx="42">
                  <c:v>51</c:v>
                </c:pt>
                <c:pt idx="43">
                  <c:v>52</c:v>
                </c:pt>
                <c:pt idx="44">
                  <c:v>53</c:v>
                </c:pt>
                <c:pt idx="45">
                  <c:v>54</c:v>
                </c:pt>
                <c:pt idx="46">
                  <c:v>55</c:v>
                </c:pt>
                <c:pt idx="47">
                  <c:v>56</c:v>
                </c:pt>
                <c:pt idx="48">
                  <c:v>57</c:v>
                </c:pt>
                <c:pt idx="49">
                  <c:v>58</c:v>
                </c:pt>
                <c:pt idx="50">
                  <c:v>59</c:v>
                </c:pt>
                <c:pt idx="51">
                  <c:v>60</c:v>
                </c:pt>
                <c:pt idx="52">
                  <c:v>61</c:v>
                </c:pt>
                <c:pt idx="53">
                  <c:v>62</c:v>
                </c:pt>
                <c:pt idx="54">
                  <c:v>63</c:v>
                </c:pt>
                <c:pt idx="55">
                  <c:v>64</c:v>
                </c:pt>
                <c:pt idx="56">
                  <c:v>65</c:v>
                </c:pt>
                <c:pt idx="57">
                  <c:v>66</c:v>
                </c:pt>
                <c:pt idx="58">
                  <c:v>67</c:v>
                </c:pt>
                <c:pt idx="59">
                  <c:v>68</c:v>
                </c:pt>
                <c:pt idx="60">
                  <c:v>69</c:v>
                </c:pt>
                <c:pt idx="61">
                  <c:v>70</c:v>
                </c:pt>
                <c:pt idx="62">
                  <c:v>71</c:v>
                </c:pt>
                <c:pt idx="63">
                  <c:v>72</c:v>
                </c:pt>
                <c:pt idx="64">
                  <c:v>73</c:v>
                </c:pt>
                <c:pt idx="65">
                  <c:v>74</c:v>
                </c:pt>
                <c:pt idx="66">
                  <c:v>75</c:v>
                </c:pt>
                <c:pt idx="67">
                  <c:v>76</c:v>
                </c:pt>
                <c:pt idx="68">
                  <c:v>77</c:v>
                </c:pt>
                <c:pt idx="69">
                  <c:v>78</c:v>
                </c:pt>
                <c:pt idx="70">
                  <c:v>79</c:v>
                </c:pt>
                <c:pt idx="71">
                  <c:v>80</c:v>
                </c:pt>
                <c:pt idx="72">
                  <c:v>81</c:v>
                </c:pt>
                <c:pt idx="73">
                  <c:v>82</c:v>
                </c:pt>
                <c:pt idx="74">
                  <c:v>83</c:v>
                </c:pt>
                <c:pt idx="75">
                  <c:v>84</c:v>
                </c:pt>
                <c:pt idx="76">
                  <c:v>85</c:v>
                </c:pt>
                <c:pt idx="77">
                  <c:v>86</c:v>
                </c:pt>
                <c:pt idx="78">
                  <c:v>87</c:v>
                </c:pt>
                <c:pt idx="79">
                  <c:v>88</c:v>
                </c:pt>
                <c:pt idx="80">
                  <c:v>89</c:v>
                </c:pt>
                <c:pt idx="81">
                  <c:v>90</c:v>
                </c:pt>
                <c:pt idx="82">
                  <c:v>91</c:v>
                </c:pt>
                <c:pt idx="83">
                  <c:v>92</c:v>
                </c:pt>
                <c:pt idx="84">
                  <c:v>93</c:v>
                </c:pt>
                <c:pt idx="85">
                  <c:v>94</c:v>
                </c:pt>
                <c:pt idx="86">
                  <c:v>95</c:v>
                </c:pt>
                <c:pt idx="87">
                  <c:v>96</c:v>
                </c:pt>
                <c:pt idx="88">
                  <c:v>97</c:v>
                </c:pt>
                <c:pt idx="89">
                  <c:v>98</c:v>
                </c:pt>
                <c:pt idx="90">
                  <c:v>99</c:v>
                </c:pt>
                <c:pt idx="91">
                  <c:v>100</c:v>
                </c:pt>
              </c:numCache>
            </c:numRef>
          </c:xVal>
          <c:yVal>
            <c:numRef>
              <c:f>'Chart Data'!$AT$2:$AT$93</c:f>
              <c:numCache>
                <c:formatCode>0</c:formatCode>
                <c:ptCount val="92"/>
                <c:pt idx="0">
                  <c:v>12</c:v>
                </c:pt>
                <c:pt idx="1">
                  <c:v>11.25</c:v>
                </c:pt>
                <c:pt idx="2">
                  <c:v>10.45681818</c:v>
                </c:pt>
                <c:pt idx="3">
                  <c:v>9.8</c:v>
                </c:pt>
                <c:pt idx="4">
                  <c:v>9.24807692</c:v>
                </c:pt>
                <c:pt idx="5">
                  <c:v>8.77857143</c:v>
                </c:pt>
                <c:pt idx="6">
                  <c:v>8.375</c:v>
                </c:pt>
                <c:pt idx="7">
                  <c:v>8.025</c:v>
                </c:pt>
                <c:pt idx="8">
                  <c:v>7.71911765</c:v>
                </c:pt>
                <c:pt idx="9">
                  <c:v>7.45</c:v>
                </c:pt>
                <c:pt idx="10">
                  <c:v>7.21184211</c:v>
                </c:pt>
                <c:pt idx="11">
                  <c:v>7</c:v>
                </c:pt>
                <c:pt idx="12">
                  <c:v>6.81071429</c:v>
                </c:pt>
                <c:pt idx="13">
                  <c:v>6.64090909</c:v>
                </c:pt>
                <c:pt idx="14">
                  <c:v>6.48804348</c:v>
                </c:pt>
                <c:pt idx="15">
                  <c:v>6.35</c:v>
                </c:pt>
                <c:pt idx="16">
                  <c:v>6.225</c:v>
                </c:pt>
                <c:pt idx="17">
                  <c:v>6.11153846</c:v>
                </c:pt>
                <c:pt idx="18">
                  <c:v>6.00833333</c:v>
                </c:pt>
                <c:pt idx="19">
                  <c:v>5.91428571</c:v>
                </c:pt>
                <c:pt idx="20">
                  <c:v>5.82844828</c:v>
                </c:pt>
                <c:pt idx="21">
                  <c:v>5.75</c:v>
                </c:pt>
                <c:pt idx="22">
                  <c:v>5.67822581</c:v>
                </c:pt>
                <c:pt idx="23">
                  <c:v>5.6125</c:v>
                </c:pt>
                <c:pt idx="24">
                  <c:v>5.55227273</c:v>
                </c:pt>
                <c:pt idx="25">
                  <c:v>5.49705882</c:v>
                </c:pt>
                <c:pt idx="26">
                  <c:v>5.44642857</c:v>
                </c:pt>
                <c:pt idx="27">
                  <c:v>5.4</c:v>
                </c:pt>
                <c:pt idx="28">
                  <c:v>5.35743243</c:v>
                </c:pt>
                <c:pt idx="29">
                  <c:v>5.31842105</c:v>
                </c:pt>
                <c:pt idx="30">
                  <c:v>5.28269231</c:v>
                </c:pt>
                <c:pt idx="31">
                  <c:v>5.25</c:v>
                </c:pt>
                <c:pt idx="32">
                  <c:v>5.22012195</c:v>
                </c:pt>
                <c:pt idx="33">
                  <c:v>5.19285714</c:v>
                </c:pt>
                <c:pt idx="34">
                  <c:v>5.16802326</c:v>
                </c:pt>
                <c:pt idx="35">
                  <c:v>5.14545455</c:v>
                </c:pt>
                <c:pt idx="36">
                  <c:v>5.125</c:v>
                </c:pt>
                <c:pt idx="37">
                  <c:v>5.10652174</c:v>
                </c:pt>
                <c:pt idx="38">
                  <c:v>5.08989362</c:v>
                </c:pt>
                <c:pt idx="39">
                  <c:v>5.075</c:v>
                </c:pt>
                <c:pt idx="40">
                  <c:v>5.06173469</c:v>
                </c:pt>
                <c:pt idx="41">
                  <c:v>5.05</c:v>
                </c:pt>
                <c:pt idx="42">
                  <c:v>5.03970588</c:v>
                </c:pt>
                <c:pt idx="43">
                  <c:v>5.03076923</c:v>
                </c:pt>
                <c:pt idx="44">
                  <c:v>5.02311321</c:v>
                </c:pt>
                <c:pt idx="45">
                  <c:v>5.01666667</c:v>
                </c:pt>
                <c:pt idx="46">
                  <c:v>5.01136364</c:v>
                </c:pt>
                <c:pt idx="47">
                  <c:v>5.00714286</c:v>
                </c:pt>
                <c:pt idx="48">
                  <c:v>5.00394737</c:v>
                </c:pt>
                <c:pt idx="49">
                  <c:v>5.00172414</c:v>
                </c:pt>
                <c:pt idx="50">
                  <c:v>5.00042373</c:v>
                </c:pt>
                <c:pt idx="51">
                  <c:v>5</c:v>
                </c:pt>
                <c:pt idx="52">
                  <c:v>5.00040984</c:v>
                </c:pt>
                <c:pt idx="53">
                  <c:v>5.0016129</c:v>
                </c:pt>
                <c:pt idx="54">
                  <c:v>5.00357143</c:v>
                </c:pt>
                <c:pt idx="55">
                  <c:v>5.00625</c:v>
                </c:pt>
                <c:pt idx="56">
                  <c:v>5.00961538</c:v>
                </c:pt>
                <c:pt idx="57">
                  <c:v>5.01363636</c:v>
                </c:pt>
                <c:pt idx="58">
                  <c:v>5.01828358</c:v>
                </c:pt>
                <c:pt idx="59">
                  <c:v>5.02352941</c:v>
                </c:pt>
                <c:pt idx="60">
                  <c:v>5.02934783</c:v>
                </c:pt>
                <c:pt idx="61">
                  <c:v>5.03571429</c:v>
                </c:pt>
                <c:pt idx="62">
                  <c:v>5.04260563</c:v>
                </c:pt>
                <c:pt idx="63">
                  <c:v>5.05</c:v>
                </c:pt>
                <c:pt idx="64">
                  <c:v>5.05787671</c:v>
                </c:pt>
                <c:pt idx="65">
                  <c:v>5.06621622</c:v>
                </c:pt>
                <c:pt idx="66">
                  <c:v>5.075</c:v>
                </c:pt>
                <c:pt idx="67">
                  <c:v>5.08421053</c:v>
                </c:pt>
                <c:pt idx="68">
                  <c:v>5.09383117</c:v>
                </c:pt>
                <c:pt idx="69">
                  <c:v>5.10384615</c:v>
                </c:pt>
                <c:pt idx="70">
                  <c:v>5.11424051</c:v>
                </c:pt>
                <c:pt idx="71">
                  <c:v>5.125</c:v>
                </c:pt>
                <c:pt idx="72">
                  <c:v>5.13611111</c:v>
                </c:pt>
                <c:pt idx="73">
                  <c:v>5.14756098</c:v>
                </c:pt>
                <c:pt idx="74">
                  <c:v>5.15933735</c:v>
                </c:pt>
                <c:pt idx="75">
                  <c:v>5.17142857</c:v>
                </c:pt>
                <c:pt idx="76">
                  <c:v>5.18382353</c:v>
                </c:pt>
                <c:pt idx="77">
                  <c:v>5.19651163</c:v>
                </c:pt>
                <c:pt idx="78">
                  <c:v>5.20948276</c:v>
                </c:pt>
                <c:pt idx="79">
                  <c:v>5.22272727</c:v>
                </c:pt>
                <c:pt idx="80">
                  <c:v>5.23623596</c:v>
                </c:pt>
                <c:pt idx="81">
                  <c:v>5.25</c:v>
                </c:pt>
                <c:pt idx="82">
                  <c:v>5.26401099</c:v>
                </c:pt>
                <c:pt idx="83">
                  <c:v>5.27826087</c:v>
                </c:pt>
                <c:pt idx="84">
                  <c:v>5.29274194</c:v>
                </c:pt>
                <c:pt idx="85">
                  <c:v>5.30744681</c:v>
                </c:pt>
                <c:pt idx="86">
                  <c:v>5.32236842</c:v>
                </c:pt>
                <c:pt idx="87">
                  <c:v>5.3375</c:v>
                </c:pt>
                <c:pt idx="88">
                  <c:v>5.35283505</c:v>
                </c:pt>
                <c:pt idx="89">
                  <c:v>5.36836735</c:v>
                </c:pt>
                <c:pt idx="90">
                  <c:v>5.38409091</c:v>
                </c:pt>
                <c:pt idx="91">
                  <c:v>5.4</c:v>
                </c:pt>
              </c:numCache>
            </c:numRef>
          </c:yVal>
          <c:smooth val="0"/>
        </c:ser>
        <c:ser>
          <c:idx val="23"/>
          <c:order val="23"/>
          <c:tx>
            <c:v>GTK</c:v>
          </c:tx>
          <c:spPr>
            <a:ln xmlns:a="http://schemas.openxmlformats.org/drawingml/2006/main" w="0">
              <a:noFill/>
            </a:ln>
          </c:spPr>
          <c:marker>
            <c:symbol val="none"/>
            <c:size val="8"/>
            <c:spPr>
              <a:solidFill xmlns:a="http://schemas.openxmlformats.org/drawingml/2006/main">
                <a:srgbClr val="A63735"/>
              </a:solidFill>
            </c:spPr>
          </c:marker>
          <c:dLbls>
            <c:dLbl>
              <c:idx val="0"/>
              <c:tx>
                <c:rich>
                  <a:bodyPr xmlns:a="http://schemas.openxmlformats.org/drawingml/2006/main"/>
                  <a:lstStyle xmlns:a="http://schemas.openxmlformats.org/drawingml/2006/main"/>
                  <a:p xmlns:a="http://schemas.openxmlformats.org/drawingml/2006/main">
                    <a:r>
                      <a:rPr sz="1950" b="1">
                        <a:solidFill>
                          <a:srgbClr val="A63735"/>
                        </a:solidFill>
                        <a:latin typeface="Arial"/>
                        <a:ea typeface="Arial"/>
                        <a:cs typeface="Arial"/>
                      </a:rPr>
                      <a:t>GTK</a:t>
                    </a:r>
                  </a:p>
                </c:rich>
              </c:tx>
              <c:txPr>
                <a:bodyPr xmlns:a="http://schemas.openxmlformats.org/drawingml/2006/main" anchorCtr="1"/>
                <a:lstStyle xmlns:a="http://schemas.openxmlformats.org/drawingml/2006/main"/>
                <a:p xmlns:a="http://schemas.openxmlformats.org/drawingml/2006/main">
                  <a:pPr>
                    <a:defRPr sz="1950" b="1">
                      <a:solidFill>
                        <a:srgbClr val="A63735"/>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Data'!$AU$2:$AU$2</c:f>
              <c:numCache>
                <c:formatCode>General</c:formatCode>
                <c:ptCount val="1"/>
                <c:pt idx="0">
                  <c:v>86</c:v>
                </c:pt>
              </c:numCache>
            </c:numRef>
          </c:xVal>
          <c:yVal>
            <c:numRef>
              <c:f>'Chart Data'!$AV$2:$AV$2</c:f>
              <c:numCache>
                <c:formatCode>0</c:formatCode>
                <c:ptCount val="1"/>
                <c:pt idx="0">
                  <c:v>4.65651163</c:v>
                </c:pt>
              </c:numCache>
            </c:numRef>
          </c:yVal>
          <c:smooth val="0"/>
        </c:ser>
        <c:ser>
          <c:idx val="24"/>
          <c:order val="24"/>
          <c:tx>
            <c:v>P = GO = MO</c:v>
          </c:tx>
          <c:spPr>
            <a:ln xmlns:a="http://schemas.openxmlformats.org/drawingml/2006/main" w="28575">
              <a:solidFill>
                <a:srgbClr val="17658A"/>
              </a:solidFill>
              <a:prstDash val="solid"/>
            </a:ln>
          </c:spPr>
          <c:marker>
            <c:symbol val="none"/>
          </c:marker>
          <c:xVal>
            <c:numRef>
              <c:f>'Chart Data'!$AW$2:$AW$3</c:f>
              <c:numCache>
                <c:formatCode>General</c:formatCode>
                <c:ptCount val="2"/>
                <c:pt idx="0">
                  <c:v>0</c:v>
                </c:pt>
                <c:pt idx="1">
                  <c:v>100</c:v>
                </c:pt>
              </c:numCache>
            </c:numRef>
          </c:xVal>
          <c:yVal>
            <c:numRef>
              <c:f>'Chart Data'!$AX$2:$AX$3</c:f>
              <c:numCache>
                <c:formatCode>0</c:formatCode>
                <c:ptCount val="2"/>
                <c:pt idx="0">
                  <c:v>6</c:v>
                </c:pt>
                <c:pt idx="1">
                  <c:v>6</c:v>
                </c:pt>
              </c:numCache>
            </c:numRef>
          </c:yVal>
          <c:smooth val="0"/>
        </c:ser>
        <c:ser>
          <c:idx val="25"/>
          <c:order val="25"/>
          <c:tx>
            <c:v>P = GO = MO</c:v>
          </c:tx>
          <c:spPr>
            <a:ln xmlns:a="http://schemas.openxmlformats.org/drawingml/2006/main" w="0">
              <a:noFill/>
            </a:ln>
          </c:spPr>
          <c:marker>
            <c:symbol val="none"/>
            <c:size val="8"/>
            <c:spPr>
              <a:solidFill xmlns:a="http://schemas.openxmlformats.org/drawingml/2006/main">
                <a:srgbClr val="17658A"/>
              </a:solidFill>
            </c:spPr>
          </c:marker>
          <c:dLbls>
            <c:dLbl>
              <c:idx val="0"/>
              <c:tx>
                <c:rich>
                  <a:bodyPr xmlns:a="http://schemas.openxmlformats.org/drawingml/2006/main"/>
                  <a:lstStyle xmlns:a="http://schemas.openxmlformats.org/drawingml/2006/main"/>
                  <a:p xmlns:a="http://schemas.openxmlformats.org/drawingml/2006/main">
                    <a:r>
                      <a:rPr sz="1950" b="1">
                        <a:solidFill>
                          <a:srgbClr val="17658A"/>
                        </a:solidFill>
                        <a:latin typeface="Arial"/>
                        <a:ea typeface="Arial"/>
                        <a:cs typeface="Arial"/>
                      </a:rPr>
                      <a:t>P = GO = MO</a:t>
                    </a:r>
                  </a:p>
                </c:rich>
              </c:tx>
              <c:txPr>
                <a:bodyPr xmlns:a="http://schemas.openxmlformats.org/drawingml/2006/main" anchorCtr="1"/>
                <a:lstStyle xmlns:a="http://schemas.openxmlformats.org/drawingml/2006/main"/>
                <a:p xmlns:a="http://schemas.openxmlformats.org/drawingml/2006/main">
                  <a:pPr>
                    <a:defRPr sz="1950" b="1">
                      <a:solidFill>
                        <a:srgbClr val="17658A"/>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Data'!$AY$2:$AY$2</c:f>
              <c:numCache>
                <c:formatCode>General</c:formatCode>
                <c:ptCount val="1"/>
                <c:pt idx="0">
                  <c:v>42</c:v>
                </c:pt>
              </c:numCache>
            </c:numRef>
          </c:xVal>
          <c:yVal>
            <c:numRef>
              <c:f>'Chart Data'!$AZ$2:$AZ$2</c:f>
              <c:numCache>
                <c:formatCode>0</c:formatCode>
                <c:ptCount val="1"/>
                <c:pt idx="0">
                  <c:v>6.66</c:v>
                </c:pt>
              </c:numCache>
            </c:numRef>
          </c:yVal>
          <c:smooth val="0"/>
        </c:ser>
        <c:ser>
          <c:idx val="26"/>
          <c:order val="26"/>
          <c:tx>
            <c:v>q gekozen</c:v>
          </c:tx>
          <c:spPr>
            <a:ln xmlns:a="http://schemas.openxmlformats.org/drawingml/2006/main" w="19050">
              <a:solidFill>
                <a:srgbClr val="445B6B"/>
              </a:solidFill>
              <a:prstDash val="dash"/>
            </a:ln>
          </c:spPr>
          <c:marker>
            <c:symbol val="none"/>
          </c:marker>
          <c:xVal>
            <c:numRef>
              <c:f>'Chart Data'!$BA$2:$BA$3</c:f>
              <c:numCache>
                <c:formatCode>General</c:formatCode>
                <c:ptCount val="2"/>
                <c:pt idx="0">
                  <c:v>80</c:v>
                </c:pt>
                <c:pt idx="1">
                  <c:v>80</c:v>
                </c:pt>
              </c:numCache>
            </c:numRef>
          </c:xVal>
          <c:yVal>
            <c:numRef>
              <c:f>'Chart Data'!$BB$2:$BB$3</c:f>
              <c:numCache>
                <c:formatCode>0</c:formatCode>
                <c:ptCount val="2"/>
                <c:pt idx="0">
                  <c:v>0</c:v>
                </c:pt>
                <c:pt idx="1">
                  <c:v>6</c:v>
                </c:pt>
              </c:numCache>
            </c:numRef>
          </c:yVal>
          <c:smooth val="0"/>
        </c:ser>
        <c:ser>
          <c:idx val="27"/>
          <c:order val="27"/>
          <c:tx>
            <c:v>q = 80</c:v>
          </c:tx>
          <c:spPr>
            <a:ln xmlns:a="http://schemas.openxmlformats.org/drawingml/2006/main" w="0">
              <a:noFill/>
            </a:ln>
          </c:spPr>
          <c:marker>
            <c:symbol val="none"/>
            <c:size val="8"/>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1950" b="1">
                        <a:solidFill>
                          <a:srgbClr val="183247"/>
                        </a:solidFill>
                        <a:latin typeface="Arial"/>
                        <a:ea typeface="Arial"/>
                        <a:cs typeface="Arial"/>
                      </a:rPr>
                      <a:t>q = 80</a:t>
                    </a:r>
                  </a:p>
                </c:rich>
              </c:tx>
              <c:txPr>
                <a:bodyPr xmlns:a="http://schemas.openxmlformats.org/drawingml/2006/main" anchorCtr="1"/>
                <a:lstStyle xmlns:a="http://schemas.openxmlformats.org/drawingml/2006/main"/>
                <a:p xmlns:a="http://schemas.openxmlformats.org/drawingml/2006/main">
                  <a:pPr>
                    <a:defRPr sz="1950" b="1">
                      <a:solidFill>
                        <a:srgbClr val="183247"/>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Data'!$BC$2:$BC$2</c:f>
              <c:numCache>
                <c:formatCode>General</c:formatCode>
                <c:ptCount val="1"/>
                <c:pt idx="0">
                  <c:v>80</c:v>
                </c:pt>
              </c:numCache>
            </c:numRef>
          </c:xVal>
          <c:yVal>
            <c:numRef>
              <c:f>'Chart Data'!$BD$2:$BD$2</c:f>
              <c:numCache>
                <c:formatCode>0</c:formatCode>
                <c:ptCount val="1"/>
                <c:pt idx="0">
                  <c:v>0.66</c:v>
                </c:pt>
              </c:numCache>
            </c:numRef>
          </c:yVal>
          <c:smooth val="0"/>
        </c:ser>
        <c:ser>
          <c:idx val="28"/>
          <c:order val="28"/>
          <c:tx>
            <c:v>winst</c:v>
          </c:tx>
          <c:spPr>
            <a:ln xmlns:a="http://schemas.openxmlformats.org/drawingml/2006/main" w="0">
              <a:noFill/>
            </a:ln>
          </c:spPr>
          <c:marker>
            <c:symbol val="none"/>
            <c:size val="8"/>
            <c:spPr>
              <a:solidFill xmlns:a="http://schemas.openxmlformats.org/drawingml/2006/main">
                <a:srgbClr val="20665B"/>
              </a:solidFill>
            </c:spPr>
          </c:marker>
          <c:dLbls>
            <c:dLbl>
              <c:idx val="0"/>
              <c:tx>
                <c:rich>
                  <a:bodyPr xmlns:a="http://schemas.openxmlformats.org/drawingml/2006/main"/>
                  <a:lstStyle xmlns:a="http://schemas.openxmlformats.org/drawingml/2006/main"/>
                  <a:p xmlns:a="http://schemas.openxmlformats.org/drawingml/2006/main">
                    <a:r>
                      <a:rPr sz="1950" b="1">
                        <a:solidFill>
                          <a:srgbClr val="20665B"/>
                        </a:solidFill>
                        <a:latin typeface="Arial"/>
                        <a:ea typeface="Arial"/>
                        <a:cs typeface="Arial"/>
                      </a:rPr>
                      <a:t>winst</a:t>
                    </a:r>
                  </a:p>
                </c:rich>
              </c:tx>
              <c:txPr>
                <a:bodyPr xmlns:a="http://schemas.openxmlformats.org/drawingml/2006/main" anchorCtr="1"/>
                <a:lstStyle xmlns:a="http://schemas.openxmlformats.org/drawingml/2006/main"/>
                <a:p xmlns:a="http://schemas.openxmlformats.org/drawingml/2006/main">
                  <a:pPr>
                    <a:defRPr sz="1950" b="1">
                      <a:solidFill>
                        <a:srgbClr val="20665B"/>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Data'!$BE$2:$BE$2</c:f>
              <c:numCache>
                <c:formatCode>General</c:formatCode>
                <c:ptCount val="1"/>
                <c:pt idx="0">
                  <c:v>36</c:v>
                </c:pt>
              </c:numCache>
            </c:numRef>
          </c:xVal>
          <c:yVal>
            <c:numRef>
              <c:f>'Chart Data'!$BF$2:$BF$2</c:f>
              <c:numCache>
                <c:formatCode>0</c:formatCode>
                <c:ptCount val="1"/>
                <c:pt idx="0">
                  <c:v>5.5625</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2"/>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P, MK en GTK (€ per kg)</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50112"/>
        <c:majorUnit val="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(kg per week)</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scatterChart>
        <c:scatterStyle val="line"/>
        <c:ser>
          <c:idx val="0"/>
          <c:order val="0"/>
          <c:tx>
            <c:v>V₀</c:v>
          </c:tx>
          <c:spPr>
            <a:ln xmlns:a="http://schemas.openxmlformats.org/drawingml/2006/main" w="28575">
              <a:solidFill>
                <a:srgbClr val="17658A"/>
              </a:solidFill>
              <a:prstDash val="dash"/>
            </a:ln>
          </c:spPr>
          <c:marker>
            <c:symbol val="none"/>
          </c:marker>
          <c:xVal>
            <c:numRef>
              <c:f>'Chart Data'!$A$2:$A$3</c:f>
              <c:numCache>
                <c:formatCode>General</c:formatCode>
                <c:ptCount val="2"/>
                <c:pt idx="0">
                  <c:v>0</c:v>
                </c:pt>
                <c:pt idx="1">
                  <c:v>30</c:v>
                </c:pt>
              </c:numCache>
            </c:numRef>
          </c:xVal>
          <c:yVal>
            <c:numRef>
              <c:f>'Chart Data'!$B$2:$B$3</c:f>
              <c:numCache>
                <c:formatCode>0</c:formatCode>
                <c:ptCount val="2"/>
                <c:pt idx="0">
                  <c:v>12</c:v>
                </c:pt>
                <c:pt idx="1">
                  <c:v>0</c:v>
                </c:pt>
              </c:numCache>
            </c:numRef>
          </c:yVal>
          <c:smooth val="0"/>
        </c:ser>
        <c:ser>
          <c:idx val="1"/>
          <c:order val="1"/>
          <c:tx>
            <c:v>V₁</c:v>
          </c:tx>
          <c:spPr>
            <a:ln xmlns:a="http://schemas.openxmlformats.org/drawingml/2006/main" w="28575">
              <a:solidFill>
                <a:srgbClr val="17658A"/>
              </a:solidFill>
              <a:prstDash val="solid"/>
            </a:ln>
          </c:spPr>
          <c:marker>
            <c:symbol val="none"/>
          </c:marker>
          <c:xVal>
            <c:numRef>
              <c:f>'Chart Data'!$C$2:$C$3</c:f>
              <c:numCache>
                <c:formatCode>General</c:formatCode>
                <c:ptCount val="2"/>
                <c:pt idx="0">
                  <c:v>0</c:v>
                </c:pt>
                <c:pt idx="1">
                  <c:v>50</c:v>
                </c:pt>
              </c:numCache>
            </c:numRef>
          </c:xVal>
          <c:yVal>
            <c:numRef>
              <c:f>'Chart Data'!$D$2:$D$3</c:f>
              <c:numCache>
                <c:formatCode>0</c:formatCode>
                <c:ptCount val="2"/>
                <c:pt idx="0">
                  <c:v>20</c:v>
                </c:pt>
                <c:pt idx="1">
                  <c:v>0</c:v>
                </c:pt>
              </c:numCache>
            </c:numRef>
          </c:yVal>
          <c:smooth val="0"/>
        </c:ser>
        <c:ser>
          <c:idx val="2"/>
          <c:order val="2"/>
          <c:tx>
            <c:v>A₀</c:v>
          </c:tx>
          <c:spPr>
            <a:ln xmlns:a="http://schemas.openxmlformats.org/drawingml/2006/main" w="28575">
              <a:solidFill>
                <a:srgbClr val="20665B"/>
              </a:solidFill>
              <a:prstDash val="solid"/>
            </a:ln>
          </c:spPr>
          <c:marker>
            <c:symbol val="none"/>
          </c:marker>
          <c:xVal>
            <c:numRef>
              <c:f>'Chart Data'!$E$2:$E$3</c:f>
              <c:numCache>
                <c:formatCode>General</c:formatCode>
                <c:ptCount val="2"/>
                <c:pt idx="0">
                  <c:v>0</c:v>
                </c:pt>
                <c:pt idx="1">
                  <c:v>50</c:v>
                </c:pt>
              </c:numCache>
            </c:numRef>
          </c:xVal>
          <c:yVal>
            <c:numRef>
              <c:f>'Chart Data'!$F$2:$F$3</c:f>
              <c:numCache>
                <c:formatCode>0</c:formatCode>
                <c:ptCount val="2"/>
                <c:pt idx="0">
                  <c:v>4</c:v>
                </c:pt>
                <c:pt idx="1">
                  <c:v>24</c:v>
                </c:pt>
              </c:numCache>
            </c:numRef>
          </c:yVal>
          <c:smooth val="0"/>
        </c:ser>
        <c:ser>
          <c:idx val="3"/>
          <c:order val="3"/>
          <c:tx>
            <c:v>V₀</c:v>
          </c:tx>
          <c:spPr>
            <a:ln xmlns:a="http://schemas.openxmlformats.org/drawingml/2006/main" w="0">
              <a:noFill/>
            </a:ln>
          </c:spPr>
          <c:marker>
            <c:symbol val="none"/>
            <c:size val="8"/>
            <c:spPr>
              <a:solidFill xmlns:a="http://schemas.openxmlformats.org/drawingml/2006/main">
                <a:srgbClr val="17658A"/>
              </a:solidFill>
            </c:spPr>
          </c:marker>
          <c:dLbls>
            <c:dLbl>
              <c:idx val="0"/>
              <c:tx>
                <c:rich>
                  <a:bodyPr xmlns:a="http://schemas.openxmlformats.org/drawingml/2006/main"/>
                  <a:lstStyle xmlns:a="http://schemas.openxmlformats.org/drawingml/2006/main"/>
                  <a:p xmlns:a="http://schemas.openxmlformats.org/drawingml/2006/main">
                    <a:r>
                      <a:rPr sz="1950" b="1">
                        <a:solidFill>
                          <a:srgbClr val="17658A"/>
                        </a:solidFill>
                        <a:latin typeface="Arial"/>
                        <a:ea typeface="Arial"/>
                        <a:cs typeface="Arial"/>
                      </a:rPr>
                      <a:t>V₀</a:t>
                    </a:r>
                  </a:p>
                </c:rich>
              </c:tx>
              <c:txPr>
                <a:bodyPr xmlns:a="http://schemas.openxmlformats.org/drawingml/2006/main" anchorCtr="1"/>
                <a:lstStyle xmlns:a="http://schemas.openxmlformats.org/drawingml/2006/main"/>
                <a:p xmlns:a="http://schemas.openxmlformats.org/drawingml/2006/main">
                  <a:pPr>
                    <a:defRPr sz="1950" b="1">
                      <a:solidFill>
                        <a:srgbClr val="17658A"/>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Data'!$G$2:$G$2</c:f>
              <c:numCache>
                <c:formatCode>General</c:formatCode>
                <c:ptCount val="1"/>
                <c:pt idx="0">
                  <c:v>24</c:v>
                </c:pt>
              </c:numCache>
            </c:numRef>
          </c:xVal>
          <c:yVal>
            <c:numRef>
              <c:f>'Chart Data'!$H$2:$H$2</c:f>
              <c:numCache>
                <c:formatCode>0</c:formatCode>
                <c:ptCount val="1"/>
                <c:pt idx="0">
                  <c:v>1.3</c:v>
                </c:pt>
              </c:numCache>
            </c:numRef>
          </c:yVal>
          <c:smooth val="0"/>
        </c:ser>
        <c:ser>
          <c:idx val="4"/>
          <c:order val="4"/>
          <c:tx>
            <c:v>V₁</c:v>
          </c:tx>
          <c:spPr>
            <a:ln xmlns:a="http://schemas.openxmlformats.org/drawingml/2006/main" w="0">
              <a:noFill/>
            </a:ln>
          </c:spPr>
          <c:marker>
            <c:symbol val="none"/>
            <c:size val="8"/>
            <c:spPr>
              <a:solidFill xmlns:a="http://schemas.openxmlformats.org/drawingml/2006/main">
                <a:srgbClr val="17658A"/>
              </a:solidFill>
            </c:spPr>
          </c:marker>
          <c:dLbls>
            <c:dLbl>
              <c:idx val="0"/>
              <c:tx>
                <c:rich>
                  <a:bodyPr xmlns:a="http://schemas.openxmlformats.org/drawingml/2006/main"/>
                  <a:lstStyle xmlns:a="http://schemas.openxmlformats.org/drawingml/2006/main"/>
                  <a:p xmlns:a="http://schemas.openxmlformats.org/drawingml/2006/main">
                    <a:r>
                      <a:rPr sz="1950" b="1">
                        <a:solidFill>
                          <a:srgbClr val="17658A"/>
                        </a:solidFill>
                        <a:latin typeface="Arial"/>
                        <a:ea typeface="Arial"/>
                        <a:cs typeface="Arial"/>
                      </a:rPr>
                      <a:t>V₁</a:t>
                    </a:r>
                  </a:p>
                </c:rich>
              </c:tx>
              <c:txPr>
                <a:bodyPr xmlns:a="http://schemas.openxmlformats.org/drawingml/2006/main" anchorCtr="1"/>
                <a:lstStyle xmlns:a="http://schemas.openxmlformats.org/drawingml/2006/main"/>
                <a:p xmlns:a="http://schemas.openxmlformats.org/drawingml/2006/main">
                  <a:pPr>
                    <a:defRPr sz="1950" b="1">
                      <a:solidFill>
                        <a:srgbClr val="17658A"/>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Data'!$I$2:$I$2</c:f>
              <c:numCache>
                <c:formatCode>General</c:formatCode>
                <c:ptCount val="1"/>
                <c:pt idx="0">
                  <c:v>42</c:v>
                </c:pt>
              </c:numCache>
            </c:numRef>
          </c:xVal>
          <c:yVal>
            <c:numRef>
              <c:f>'Chart Data'!$J$2:$J$2</c:f>
              <c:numCache>
                <c:formatCode>0</c:formatCode>
                <c:ptCount val="1"/>
                <c:pt idx="0">
                  <c:v>4.8</c:v>
                </c:pt>
              </c:numCache>
            </c:numRef>
          </c:yVal>
          <c:smooth val="0"/>
        </c:ser>
        <c:ser>
          <c:idx val="5"/>
          <c:order val="5"/>
          <c:tx>
            <c:v>A₀</c:v>
          </c:tx>
          <c:spPr>
            <a:ln xmlns:a="http://schemas.openxmlformats.org/drawingml/2006/main" w="0">
              <a:noFill/>
            </a:ln>
          </c:spPr>
          <c:marker>
            <c:symbol val="none"/>
            <c:size val="8"/>
            <c:spPr>
              <a:solidFill xmlns:a="http://schemas.openxmlformats.org/drawingml/2006/main">
                <a:srgbClr val="20665B"/>
              </a:solidFill>
            </c:spPr>
          </c:marker>
          <c:dLbls>
            <c:dLbl>
              <c:idx val="0"/>
              <c:tx>
                <c:rich>
                  <a:bodyPr xmlns:a="http://schemas.openxmlformats.org/drawingml/2006/main"/>
                  <a:lstStyle xmlns:a="http://schemas.openxmlformats.org/drawingml/2006/main"/>
                  <a:p xmlns:a="http://schemas.openxmlformats.org/drawingml/2006/main">
                    <a:r>
                      <a:rPr sz="1950" b="1">
                        <a:solidFill>
                          <a:srgbClr val="20665B"/>
                        </a:solidFill>
                        <a:latin typeface="Arial"/>
                        <a:ea typeface="Arial"/>
                        <a:cs typeface="Arial"/>
                      </a:rPr>
                      <a:t>A₀</a:t>
                    </a:r>
                  </a:p>
                </c:rich>
              </c:tx>
              <c:txPr>
                <a:bodyPr xmlns:a="http://schemas.openxmlformats.org/drawingml/2006/main" anchorCtr="1"/>
                <a:lstStyle xmlns:a="http://schemas.openxmlformats.org/drawingml/2006/main"/>
                <a:p xmlns:a="http://schemas.openxmlformats.org/drawingml/2006/main">
                  <a:pPr>
                    <a:defRPr sz="1950" b="1">
                      <a:solidFill>
                        <a:srgbClr val="20665B"/>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Data'!$K$2:$K$2</c:f>
              <c:numCache>
                <c:formatCode>General</c:formatCode>
                <c:ptCount val="1"/>
                <c:pt idx="0">
                  <c:v>42</c:v>
                </c:pt>
              </c:numCache>
            </c:numRef>
          </c:xVal>
          <c:yVal>
            <c:numRef>
              <c:f>'Chart Data'!$L$2:$L$2</c:f>
              <c:numCache>
                <c:formatCode>0</c:formatCode>
                <c:ptCount val="1"/>
                <c:pt idx="0">
                  <c:v>19.6</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24"/>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P (€ per kg)</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50112"/>
        <c:majorUnit val="4"/>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 1.000 kg per week)</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72768"/>
        <c:majorUnit val="1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scatterChart>
        <c:scatterStyle val="line"/>
        <c:ser>
          <c:idx val="0"/>
          <c:order val="0"/>
          <c:tx>
            <c:v>MK</c:v>
          </c:tx>
          <c:spPr>
            <a:ln xmlns:a="http://schemas.openxmlformats.org/drawingml/2006/main" w="28575">
              <a:solidFill>
                <a:srgbClr val="A94D16"/>
              </a:solidFill>
              <a:prstDash val="solid"/>
            </a:ln>
          </c:spPr>
          <c:marker>
            <c:symbol val="none"/>
          </c:marker>
          <c:xVal>
            <c:numRef>
              <c:f>'Chart Data'!$A$2:$A$3</c:f>
              <c:numCache>
                <c:formatCode>General</c:formatCode>
                <c:ptCount val="2"/>
                <c:pt idx="0">
                  <c:v>0</c:v>
                </c:pt>
                <c:pt idx="1">
                  <c:v>250</c:v>
                </c:pt>
              </c:numCache>
            </c:numRef>
          </c:xVal>
          <c:yVal>
            <c:numRef>
              <c:f>'Chart Data'!$B$2:$B$3</c:f>
              <c:numCache>
                <c:formatCode>0</c:formatCode>
                <c:ptCount val="2"/>
                <c:pt idx="0">
                  <c:v>4</c:v>
                </c:pt>
                <c:pt idx="1">
                  <c:v>14</c:v>
                </c:pt>
              </c:numCache>
            </c:numRef>
          </c:yVal>
          <c:smooth val="0"/>
        </c:ser>
        <c:ser>
          <c:idx val="1"/>
          <c:order val="1"/>
          <c:tx>
            <c:v>MK</c:v>
          </c:tx>
          <c:spPr>
            <a:ln xmlns:a="http://schemas.openxmlformats.org/drawingml/2006/main" w="0">
              <a:noFill/>
            </a:ln>
          </c:spPr>
          <c:marker>
            <c:symbol val="none"/>
            <c:size val="8"/>
            <c:spPr>
              <a:solidFill xmlns:a="http://schemas.openxmlformats.org/drawingml/2006/main">
                <a:srgbClr val="A94D16"/>
              </a:solidFill>
            </c:spPr>
          </c:marker>
          <c:dLbls>
            <c:dLbl>
              <c:idx val="0"/>
              <c:tx>
                <c:rich>
                  <a:bodyPr xmlns:a="http://schemas.openxmlformats.org/drawingml/2006/main"/>
                  <a:lstStyle xmlns:a="http://schemas.openxmlformats.org/drawingml/2006/main"/>
                  <a:p xmlns:a="http://schemas.openxmlformats.org/drawingml/2006/main">
                    <a:r>
                      <a:rPr sz="1950" b="1">
                        <a:solidFill>
                          <a:srgbClr val="A94D16"/>
                        </a:solidFill>
                        <a:latin typeface="Arial"/>
                        <a:ea typeface="Arial"/>
                        <a:cs typeface="Arial"/>
                      </a:rPr>
                      <a:t>MK</a:t>
                    </a:r>
                  </a:p>
                </c:rich>
              </c:tx>
              <c:txPr>
                <a:bodyPr xmlns:a="http://schemas.openxmlformats.org/drawingml/2006/main" anchorCtr="1"/>
                <a:lstStyle xmlns:a="http://schemas.openxmlformats.org/drawingml/2006/main"/>
                <a:p xmlns:a="http://schemas.openxmlformats.org/drawingml/2006/main">
                  <a:pPr>
                    <a:defRPr sz="1950" b="1">
                      <a:solidFill>
                        <a:srgbClr val="A94D16"/>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Data'!$C$2:$C$2</c:f>
              <c:numCache>
                <c:formatCode>General</c:formatCode>
                <c:ptCount val="1"/>
                <c:pt idx="0">
                  <c:v>215</c:v>
                </c:pt>
              </c:numCache>
            </c:numRef>
          </c:xVal>
          <c:yVal>
            <c:numRef>
              <c:f>'Chart Data'!$D$2:$D$2</c:f>
              <c:numCache>
                <c:formatCode>0</c:formatCode>
                <c:ptCount val="1"/>
                <c:pt idx="0">
                  <c:v>14.16</c:v>
                </c:pt>
              </c:numCache>
            </c:numRef>
          </c:yVal>
          <c:smooth val="0"/>
        </c:ser>
        <c:ser>
          <c:idx val="2"/>
          <c:order val="2"/>
          <c:tx>
            <c:v>GTK</c:v>
          </c:tx>
          <c:spPr>
            <a:ln xmlns:a="http://schemas.openxmlformats.org/drawingml/2006/main" w="28575">
              <a:solidFill>
                <a:srgbClr val="A63735"/>
              </a:solidFill>
              <a:prstDash val="solid"/>
            </a:ln>
          </c:spPr>
          <c:marker>
            <c:symbol val="none"/>
          </c:marker>
          <c:xVal>
            <c:numRef>
              <c:f>'Chart Data'!$E$2:$E$242</c:f>
              <c:numCache>
                <c:formatCode>General</c:formatCode>
                <c:ptCount val="241"/>
                <c:pt idx="0">
                  <c:v>10.10205144</c:v>
                </c:pt>
                <c:pt idx="1">
                  <c:v>11</c:v>
                </c:pt>
                <c:pt idx="2">
                  <c:v>12</c:v>
                </c:pt>
                <c:pt idx="3">
                  <c:v>13</c:v>
                </c:pt>
                <c:pt idx="4">
                  <c:v>14</c:v>
                </c:pt>
                <c:pt idx="5">
                  <c:v>15</c:v>
                </c:pt>
                <c:pt idx="6">
                  <c:v>16</c:v>
                </c:pt>
                <c:pt idx="7">
                  <c:v>17</c:v>
                </c:pt>
                <c:pt idx="8">
                  <c:v>18</c:v>
                </c:pt>
                <c:pt idx="9">
                  <c:v>19</c:v>
                </c:pt>
                <c:pt idx="10">
                  <c:v>20</c:v>
                </c:pt>
                <c:pt idx="11">
                  <c:v>21</c:v>
                </c:pt>
                <c:pt idx="12">
                  <c:v>22</c:v>
                </c:pt>
                <c:pt idx="13">
                  <c:v>23</c:v>
                </c:pt>
                <c:pt idx="14">
                  <c:v>24</c:v>
                </c:pt>
                <c:pt idx="15">
                  <c:v>25</c:v>
                </c:pt>
                <c:pt idx="16">
                  <c:v>26</c:v>
                </c:pt>
                <c:pt idx="17">
                  <c:v>27</c:v>
                </c:pt>
                <c:pt idx="18">
                  <c:v>28</c:v>
                </c:pt>
                <c:pt idx="19">
                  <c:v>29</c:v>
                </c:pt>
                <c:pt idx="20">
                  <c:v>30</c:v>
                </c:pt>
                <c:pt idx="21">
                  <c:v>31</c:v>
                </c:pt>
                <c:pt idx="22">
                  <c:v>32</c:v>
                </c:pt>
                <c:pt idx="23">
                  <c:v>33</c:v>
                </c:pt>
                <c:pt idx="24">
                  <c:v>34</c:v>
                </c:pt>
                <c:pt idx="25">
                  <c:v>35</c:v>
                </c:pt>
                <c:pt idx="26">
                  <c:v>36</c:v>
                </c:pt>
                <c:pt idx="27">
                  <c:v>37</c:v>
                </c:pt>
                <c:pt idx="28">
                  <c:v>38</c:v>
                </c:pt>
                <c:pt idx="29">
                  <c:v>39</c:v>
                </c:pt>
                <c:pt idx="30">
                  <c:v>40</c:v>
                </c:pt>
                <c:pt idx="31">
                  <c:v>41</c:v>
                </c:pt>
                <c:pt idx="32">
                  <c:v>42</c:v>
                </c:pt>
                <c:pt idx="33">
                  <c:v>43</c:v>
                </c:pt>
                <c:pt idx="34">
                  <c:v>44</c:v>
                </c:pt>
                <c:pt idx="35">
                  <c:v>45</c:v>
                </c:pt>
                <c:pt idx="36">
                  <c:v>46</c:v>
                </c:pt>
                <c:pt idx="37">
                  <c:v>47</c:v>
                </c:pt>
                <c:pt idx="38">
                  <c:v>48</c:v>
                </c:pt>
                <c:pt idx="39">
                  <c:v>49</c:v>
                </c:pt>
                <c:pt idx="40">
                  <c:v>50</c:v>
                </c:pt>
                <c:pt idx="41">
                  <c:v>51</c:v>
                </c:pt>
                <c:pt idx="42">
                  <c:v>52</c:v>
                </c:pt>
                <c:pt idx="43">
                  <c:v>53</c:v>
                </c:pt>
                <c:pt idx="44">
                  <c:v>54</c:v>
                </c:pt>
                <c:pt idx="45">
                  <c:v>55</c:v>
                </c:pt>
                <c:pt idx="46">
                  <c:v>56</c:v>
                </c:pt>
                <c:pt idx="47">
                  <c:v>57</c:v>
                </c:pt>
                <c:pt idx="48">
                  <c:v>58</c:v>
                </c:pt>
                <c:pt idx="49">
                  <c:v>59</c:v>
                </c:pt>
                <c:pt idx="50">
                  <c:v>60</c:v>
                </c:pt>
                <c:pt idx="51">
                  <c:v>61</c:v>
                </c:pt>
                <c:pt idx="52">
                  <c:v>62</c:v>
                </c:pt>
                <c:pt idx="53">
                  <c:v>63</c:v>
                </c:pt>
                <c:pt idx="54">
                  <c:v>64</c:v>
                </c:pt>
                <c:pt idx="55">
                  <c:v>65</c:v>
                </c:pt>
                <c:pt idx="56">
                  <c:v>66</c:v>
                </c:pt>
                <c:pt idx="57">
                  <c:v>67</c:v>
                </c:pt>
                <c:pt idx="58">
                  <c:v>68</c:v>
                </c:pt>
                <c:pt idx="59">
                  <c:v>69</c:v>
                </c:pt>
                <c:pt idx="60">
                  <c:v>70</c:v>
                </c:pt>
                <c:pt idx="61">
                  <c:v>71</c:v>
                </c:pt>
                <c:pt idx="62">
                  <c:v>72</c:v>
                </c:pt>
                <c:pt idx="63">
                  <c:v>73</c:v>
                </c:pt>
                <c:pt idx="64">
                  <c:v>74</c:v>
                </c:pt>
                <c:pt idx="65">
                  <c:v>75</c:v>
                </c:pt>
                <c:pt idx="66">
                  <c:v>76</c:v>
                </c:pt>
                <c:pt idx="67">
                  <c:v>77</c:v>
                </c:pt>
                <c:pt idx="68">
                  <c:v>78</c:v>
                </c:pt>
                <c:pt idx="69">
                  <c:v>79</c:v>
                </c:pt>
                <c:pt idx="70">
                  <c:v>80</c:v>
                </c:pt>
                <c:pt idx="71">
                  <c:v>81</c:v>
                </c:pt>
                <c:pt idx="72">
                  <c:v>82</c:v>
                </c:pt>
                <c:pt idx="73">
                  <c:v>83</c:v>
                </c:pt>
                <c:pt idx="74">
                  <c:v>84</c:v>
                </c:pt>
                <c:pt idx="75">
                  <c:v>85</c:v>
                </c:pt>
                <c:pt idx="76">
                  <c:v>86</c:v>
                </c:pt>
                <c:pt idx="77">
                  <c:v>87</c:v>
                </c:pt>
                <c:pt idx="78">
                  <c:v>88</c:v>
                </c:pt>
                <c:pt idx="79">
                  <c:v>89</c:v>
                </c:pt>
                <c:pt idx="80">
                  <c:v>90</c:v>
                </c:pt>
                <c:pt idx="81">
                  <c:v>91</c:v>
                </c:pt>
                <c:pt idx="82">
                  <c:v>92</c:v>
                </c:pt>
                <c:pt idx="83">
                  <c:v>93</c:v>
                </c:pt>
                <c:pt idx="84">
                  <c:v>94</c:v>
                </c:pt>
                <c:pt idx="85">
                  <c:v>95</c:v>
                </c:pt>
                <c:pt idx="86">
                  <c:v>96</c:v>
                </c:pt>
                <c:pt idx="87">
                  <c:v>97</c:v>
                </c:pt>
                <c:pt idx="88">
                  <c:v>98</c:v>
                </c:pt>
                <c:pt idx="89">
                  <c:v>99</c:v>
                </c:pt>
                <c:pt idx="90">
                  <c:v>100</c:v>
                </c:pt>
                <c:pt idx="91">
                  <c:v>101</c:v>
                </c:pt>
                <c:pt idx="92">
                  <c:v>102</c:v>
                </c:pt>
                <c:pt idx="93">
                  <c:v>103</c:v>
                </c:pt>
                <c:pt idx="94">
                  <c:v>104</c:v>
                </c:pt>
                <c:pt idx="95">
                  <c:v>105</c:v>
                </c:pt>
                <c:pt idx="96">
                  <c:v>106</c:v>
                </c:pt>
                <c:pt idx="97">
                  <c:v>107</c:v>
                </c:pt>
                <c:pt idx="98">
                  <c:v>108</c:v>
                </c:pt>
                <c:pt idx="99">
                  <c:v>109</c:v>
                </c:pt>
                <c:pt idx="100">
                  <c:v>110</c:v>
                </c:pt>
                <c:pt idx="101">
                  <c:v>111</c:v>
                </c:pt>
                <c:pt idx="102">
                  <c:v>112</c:v>
                </c:pt>
                <c:pt idx="103">
                  <c:v>113</c:v>
                </c:pt>
                <c:pt idx="104">
                  <c:v>114</c:v>
                </c:pt>
                <c:pt idx="105">
                  <c:v>115</c:v>
                </c:pt>
                <c:pt idx="106">
                  <c:v>116</c:v>
                </c:pt>
                <c:pt idx="107">
                  <c:v>117</c:v>
                </c:pt>
                <c:pt idx="108">
                  <c:v>118</c:v>
                </c:pt>
                <c:pt idx="109">
                  <c:v>119</c:v>
                </c:pt>
                <c:pt idx="110">
                  <c:v>120</c:v>
                </c:pt>
                <c:pt idx="111">
                  <c:v>121</c:v>
                </c:pt>
                <c:pt idx="112">
                  <c:v>122</c:v>
                </c:pt>
                <c:pt idx="113">
                  <c:v>123</c:v>
                </c:pt>
                <c:pt idx="114">
                  <c:v>124</c:v>
                </c:pt>
                <c:pt idx="115">
                  <c:v>125</c:v>
                </c:pt>
                <c:pt idx="116">
                  <c:v>126</c:v>
                </c:pt>
                <c:pt idx="117">
                  <c:v>127</c:v>
                </c:pt>
                <c:pt idx="118">
                  <c:v>128</c:v>
                </c:pt>
                <c:pt idx="119">
                  <c:v>129</c:v>
                </c:pt>
                <c:pt idx="120">
                  <c:v>130</c:v>
                </c:pt>
                <c:pt idx="121">
                  <c:v>131</c:v>
                </c:pt>
                <c:pt idx="122">
                  <c:v>132</c:v>
                </c:pt>
                <c:pt idx="123">
                  <c:v>133</c:v>
                </c:pt>
                <c:pt idx="124">
                  <c:v>134</c:v>
                </c:pt>
                <c:pt idx="125">
                  <c:v>135</c:v>
                </c:pt>
                <c:pt idx="126">
                  <c:v>136</c:v>
                </c:pt>
                <c:pt idx="127">
                  <c:v>137</c:v>
                </c:pt>
                <c:pt idx="128">
                  <c:v>138</c:v>
                </c:pt>
                <c:pt idx="129">
                  <c:v>139</c:v>
                </c:pt>
                <c:pt idx="130">
                  <c:v>140</c:v>
                </c:pt>
                <c:pt idx="131">
                  <c:v>141</c:v>
                </c:pt>
                <c:pt idx="132">
                  <c:v>142</c:v>
                </c:pt>
                <c:pt idx="133">
                  <c:v>143</c:v>
                </c:pt>
                <c:pt idx="134">
                  <c:v>144</c:v>
                </c:pt>
                <c:pt idx="135">
                  <c:v>145</c:v>
                </c:pt>
                <c:pt idx="136">
                  <c:v>146</c:v>
                </c:pt>
                <c:pt idx="137">
                  <c:v>147</c:v>
                </c:pt>
                <c:pt idx="138">
                  <c:v>148</c:v>
                </c:pt>
                <c:pt idx="139">
                  <c:v>149</c:v>
                </c:pt>
                <c:pt idx="140">
                  <c:v>150</c:v>
                </c:pt>
                <c:pt idx="141">
                  <c:v>151</c:v>
                </c:pt>
                <c:pt idx="142">
                  <c:v>152</c:v>
                </c:pt>
                <c:pt idx="143">
                  <c:v>153</c:v>
                </c:pt>
                <c:pt idx="144">
                  <c:v>154</c:v>
                </c:pt>
                <c:pt idx="145">
                  <c:v>155</c:v>
                </c:pt>
                <c:pt idx="146">
                  <c:v>156</c:v>
                </c:pt>
                <c:pt idx="147">
                  <c:v>157</c:v>
                </c:pt>
                <c:pt idx="148">
                  <c:v>158</c:v>
                </c:pt>
                <c:pt idx="149">
                  <c:v>159</c:v>
                </c:pt>
                <c:pt idx="150">
                  <c:v>160</c:v>
                </c:pt>
                <c:pt idx="151">
                  <c:v>161</c:v>
                </c:pt>
                <c:pt idx="152">
                  <c:v>162</c:v>
                </c:pt>
                <c:pt idx="153">
                  <c:v>163</c:v>
                </c:pt>
                <c:pt idx="154">
                  <c:v>164</c:v>
                </c:pt>
                <c:pt idx="155">
                  <c:v>165</c:v>
                </c:pt>
                <c:pt idx="156">
                  <c:v>166</c:v>
                </c:pt>
                <c:pt idx="157">
                  <c:v>167</c:v>
                </c:pt>
                <c:pt idx="158">
                  <c:v>168</c:v>
                </c:pt>
                <c:pt idx="159">
                  <c:v>169</c:v>
                </c:pt>
                <c:pt idx="160">
                  <c:v>170</c:v>
                </c:pt>
                <c:pt idx="161">
                  <c:v>171</c:v>
                </c:pt>
                <c:pt idx="162">
                  <c:v>172</c:v>
                </c:pt>
                <c:pt idx="163">
                  <c:v>173</c:v>
                </c:pt>
                <c:pt idx="164">
                  <c:v>174</c:v>
                </c:pt>
                <c:pt idx="165">
                  <c:v>175</c:v>
                </c:pt>
                <c:pt idx="166">
                  <c:v>176</c:v>
                </c:pt>
                <c:pt idx="167">
                  <c:v>177</c:v>
                </c:pt>
                <c:pt idx="168">
                  <c:v>178</c:v>
                </c:pt>
                <c:pt idx="169">
                  <c:v>179</c:v>
                </c:pt>
                <c:pt idx="170">
                  <c:v>180</c:v>
                </c:pt>
                <c:pt idx="171">
                  <c:v>181</c:v>
                </c:pt>
                <c:pt idx="172">
                  <c:v>182</c:v>
                </c:pt>
                <c:pt idx="173">
                  <c:v>183</c:v>
                </c:pt>
                <c:pt idx="174">
                  <c:v>184</c:v>
                </c:pt>
                <c:pt idx="175">
                  <c:v>185</c:v>
                </c:pt>
                <c:pt idx="176">
                  <c:v>186</c:v>
                </c:pt>
                <c:pt idx="177">
                  <c:v>187</c:v>
                </c:pt>
                <c:pt idx="178">
                  <c:v>188</c:v>
                </c:pt>
                <c:pt idx="179">
                  <c:v>189</c:v>
                </c:pt>
                <c:pt idx="180">
                  <c:v>190</c:v>
                </c:pt>
                <c:pt idx="181">
                  <c:v>191</c:v>
                </c:pt>
                <c:pt idx="182">
                  <c:v>192</c:v>
                </c:pt>
                <c:pt idx="183">
                  <c:v>193</c:v>
                </c:pt>
                <c:pt idx="184">
                  <c:v>194</c:v>
                </c:pt>
                <c:pt idx="185">
                  <c:v>195</c:v>
                </c:pt>
                <c:pt idx="186">
                  <c:v>196</c:v>
                </c:pt>
                <c:pt idx="187">
                  <c:v>197</c:v>
                </c:pt>
                <c:pt idx="188">
                  <c:v>198</c:v>
                </c:pt>
                <c:pt idx="189">
                  <c:v>199</c:v>
                </c:pt>
                <c:pt idx="190">
                  <c:v>200</c:v>
                </c:pt>
                <c:pt idx="191">
                  <c:v>201</c:v>
                </c:pt>
                <c:pt idx="192">
                  <c:v>202</c:v>
                </c:pt>
                <c:pt idx="193">
                  <c:v>203</c:v>
                </c:pt>
                <c:pt idx="194">
                  <c:v>204</c:v>
                </c:pt>
                <c:pt idx="195">
                  <c:v>205</c:v>
                </c:pt>
                <c:pt idx="196">
                  <c:v>206</c:v>
                </c:pt>
                <c:pt idx="197">
                  <c:v>207</c:v>
                </c:pt>
                <c:pt idx="198">
                  <c:v>208</c:v>
                </c:pt>
                <c:pt idx="199">
                  <c:v>209</c:v>
                </c:pt>
                <c:pt idx="200">
                  <c:v>210</c:v>
                </c:pt>
                <c:pt idx="201">
                  <c:v>211</c:v>
                </c:pt>
                <c:pt idx="202">
                  <c:v>212</c:v>
                </c:pt>
                <c:pt idx="203">
                  <c:v>213</c:v>
                </c:pt>
                <c:pt idx="204">
                  <c:v>214</c:v>
                </c:pt>
                <c:pt idx="205">
                  <c:v>215</c:v>
                </c:pt>
                <c:pt idx="206">
                  <c:v>216</c:v>
                </c:pt>
                <c:pt idx="207">
                  <c:v>217</c:v>
                </c:pt>
                <c:pt idx="208">
                  <c:v>218</c:v>
                </c:pt>
                <c:pt idx="209">
                  <c:v>219</c:v>
                </c:pt>
                <c:pt idx="210">
                  <c:v>220</c:v>
                </c:pt>
                <c:pt idx="211">
                  <c:v>221</c:v>
                </c:pt>
                <c:pt idx="212">
                  <c:v>222</c:v>
                </c:pt>
                <c:pt idx="213">
                  <c:v>223</c:v>
                </c:pt>
                <c:pt idx="214">
                  <c:v>224</c:v>
                </c:pt>
                <c:pt idx="215">
                  <c:v>225</c:v>
                </c:pt>
                <c:pt idx="216">
                  <c:v>226</c:v>
                </c:pt>
                <c:pt idx="217">
                  <c:v>227</c:v>
                </c:pt>
                <c:pt idx="218">
                  <c:v>228</c:v>
                </c:pt>
                <c:pt idx="219">
                  <c:v>229</c:v>
                </c:pt>
                <c:pt idx="220">
                  <c:v>230</c:v>
                </c:pt>
                <c:pt idx="221">
                  <c:v>231</c:v>
                </c:pt>
                <c:pt idx="222">
                  <c:v>232</c:v>
                </c:pt>
                <c:pt idx="223">
                  <c:v>233</c:v>
                </c:pt>
                <c:pt idx="224">
                  <c:v>234</c:v>
                </c:pt>
                <c:pt idx="225">
                  <c:v>235</c:v>
                </c:pt>
                <c:pt idx="226">
                  <c:v>236</c:v>
                </c:pt>
                <c:pt idx="227">
                  <c:v>237</c:v>
                </c:pt>
                <c:pt idx="228">
                  <c:v>238</c:v>
                </c:pt>
                <c:pt idx="229">
                  <c:v>239</c:v>
                </c:pt>
                <c:pt idx="230">
                  <c:v>240</c:v>
                </c:pt>
                <c:pt idx="231">
                  <c:v>241</c:v>
                </c:pt>
                <c:pt idx="232">
                  <c:v>242</c:v>
                </c:pt>
                <c:pt idx="233">
                  <c:v>243</c:v>
                </c:pt>
                <c:pt idx="234">
                  <c:v>244</c:v>
                </c:pt>
                <c:pt idx="235">
                  <c:v>245</c:v>
                </c:pt>
                <c:pt idx="236">
                  <c:v>246</c:v>
                </c:pt>
                <c:pt idx="237">
                  <c:v>247</c:v>
                </c:pt>
                <c:pt idx="238">
                  <c:v>248</c:v>
                </c:pt>
                <c:pt idx="239">
                  <c:v>249</c:v>
                </c:pt>
                <c:pt idx="240">
                  <c:v>250</c:v>
                </c:pt>
              </c:numCache>
            </c:numRef>
          </c:xVal>
          <c:yVal>
            <c:numRef>
              <c:f>'Chart Data'!$F$2:$F$242</c:f>
              <c:numCache>
                <c:formatCode>0</c:formatCode>
                <c:ptCount val="241"/>
                <c:pt idx="0">
                  <c:v>24</c:v>
                </c:pt>
                <c:pt idx="1">
                  <c:v>22.40181818</c:v>
                </c:pt>
                <c:pt idx="2">
                  <c:v>20.90666667</c:v>
                </c:pt>
                <c:pt idx="3">
                  <c:v>19.64461538</c:v>
                </c:pt>
                <c:pt idx="4">
                  <c:v>18.56571429</c:v>
                </c:pt>
                <c:pt idx="5">
                  <c:v>17.63333333</c:v>
                </c:pt>
                <c:pt idx="6">
                  <c:v>16.82</c:v>
                </c:pt>
                <c:pt idx="7">
                  <c:v>16.10470588</c:v>
                </c:pt>
                <c:pt idx="8">
                  <c:v>15.47111111</c:v>
                </c:pt>
                <c:pt idx="9">
                  <c:v>14.90631579</c:v>
                </c:pt>
                <c:pt idx="10">
                  <c:v>14.4</c:v>
                </c:pt>
                <c:pt idx="11">
                  <c:v>13.94380952</c:v>
                </c:pt>
                <c:pt idx="12">
                  <c:v>13.53090909</c:v>
                </c:pt>
                <c:pt idx="13">
                  <c:v>13.15565217</c:v>
                </c:pt>
                <c:pt idx="14">
                  <c:v>12.81333333</c:v>
                </c:pt>
                <c:pt idx="15">
                  <c:v>12.5</c:v>
                </c:pt>
                <c:pt idx="16">
                  <c:v>12.21230769</c:v>
                </c:pt>
                <c:pt idx="17">
                  <c:v>11.94740741</c:v>
                </c:pt>
                <c:pt idx="18">
                  <c:v>11.70285714</c:v>
                </c:pt>
                <c:pt idx="19">
                  <c:v>11.47655172</c:v>
                </c:pt>
                <c:pt idx="20">
                  <c:v>11.26666667</c:v>
                </c:pt>
                <c:pt idx="21">
                  <c:v>11.0716129</c:v>
                </c:pt>
                <c:pt idx="22">
                  <c:v>10.89</c:v>
                </c:pt>
                <c:pt idx="23">
                  <c:v>10.72060606</c:v>
                </c:pt>
                <c:pt idx="24">
                  <c:v>10.56235294</c:v>
                </c:pt>
                <c:pt idx="25">
                  <c:v>10.41428571</c:v>
                </c:pt>
                <c:pt idx="26">
                  <c:v>10.27555556</c:v>
                </c:pt>
                <c:pt idx="27">
                  <c:v>10.14540541</c:v>
                </c:pt>
                <c:pt idx="28">
                  <c:v>10.02315789</c:v>
                </c:pt>
                <c:pt idx="29">
                  <c:v>9.90820513</c:v>
                </c:pt>
                <c:pt idx="30">
                  <c:v>9.8</c:v>
                </c:pt>
                <c:pt idx="31">
                  <c:v>9.69804878</c:v>
                </c:pt>
                <c:pt idx="32">
                  <c:v>9.60190476</c:v>
                </c:pt>
                <c:pt idx="33">
                  <c:v>9.51116279</c:v>
                </c:pt>
                <c:pt idx="34">
                  <c:v>9.42545455</c:v>
                </c:pt>
                <c:pt idx="35">
                  <c:v>9.34444444</c:v>
                </c:pt>
                <c:pt idx="36">
                  <c:v>9.26782609</c:v>
                </c:pt>
                <c:pt idx="37">
                  <c:v>9.19531915</c:v>
                </c:pt>
                <c:pt idx="38">
                  <c:v>9.12666667</c:v>
                </c:pt>
                <c:pt idx="39">
                  <c:v>9.06163265</c:v>
                </c:pt>
                <c:pt idx="40">
                  <c:v>9</c:v>
                </c:pt>
                <c:pt idx="41">
                  <c:v>8.94156863</c:v>
                </c:pt>
                <c:pt idx="42">
                  <c:v>8.88615385</c:v>
                </c:pt>
                <c:pt idx="43">
                  <c:v>8.83358491</c:v>
                </c:pt>
                <c:pt idx="44">
                  <c:v>8.7837037</c:v>
                </c:pt>
                <c:pt idx="45">
                  <c:v>8.73636364</c:v>
                </c:pt>
                <c:pt idx="46">
                  <c:v>8.69142857</c:v>
                </c:pt>
                <c:pt idx="47">
                  <c:v>8.64877193</c:v>
                </c:pt>
                <c:pt idx="48">
                  <c:v>8.60827586</c:v>
                </c:pt>
                <c:pt idx="49">
                  <c:v>8.56983051</c:v>
                </c:pt>
                <c:pt idx="50">
                  <c:v>8.53333333</c:v>
                </c:pt>
                <c:pt idx="51">
                  <c:v>8.49868852</c:v>
                </c:pt>
                <c:pt idx="52">
                  <c:v>8.46580645</c:v>
                </c:pt>
                <c:pt idx="53">
                  <c:v>8.43460317</c:v>
                </c:pt>
                <c:pt idx="54">
                  <c:v>8.405</c:v>
                </c:pt>
                <c:pt idx="55">
                  <c:v>8.37692308</c:v>
                </c:pt>
                <c:pt idx="56">
                  <c:v>8.35030303</c:v>
                </c:pt>
                <c:pt idx="57">
                  <c:v>8.32507463</c:v>
                </c:pt>
                <c:pt idx="58">
                  <c:v>8.30117647</c:v>
                </c:pt>
                <c:pt idx="59">
                  <c:v>8.27855072</c:v>
                </c:pt>
                <c:pt idx="60">
                  <c:v>8.25714286</c:v>
                </c:pt>
                <c:pt idx="61">
                  <c:v>8.23690141</c:v>
                </c:pt>
                <c:pt idx="62">
                  <c:v>8.21777778</c:v>
                </c:pt>
                <c:pt idx="63">
                  <c:v>8.19972603</c:v>
                </c:pt>
                <c:pt idx="64">
                  <c:v>8.1827027</c:v>
                </c:pt>
                <c:pt idx="65">
                  <c:v>8.16666667</c:v>
                </c:pt>
                <c:pt idx="66">
                  <c:v>8.15157895</c:v>
                </c:pt>
                <c:pt idx="67">
                  <c:v>8.1374026</c:v>
                </c:pt>
                <c:pt idx="68">
                  <c:v>8.12410256</c:v>
                </c:pt>
                <c:pt idx="69">
                  <c:v>8.11164557</c:v>
                </c:pt>
                <c:pt idx="70">
                  <c:v>8.1</c:v>
                </c:pt>
                <c:pt idx="71">
                  <c:v>8.0891358</c:v>
                </c:pt>
                <c:pt idx="72">
                  <c:v>8.07902439</c:v>
                </c:pt>
                <c:pt idx="73">
                  <c:v>8.06963855</c:v>
                </c:pt>
                <c:pt idx="74">
                  <c:v>8.06095238</c:v>
                </c:pt>
                <c:pt idx="75">
                  <c:v>8.05294118</c:v>
                </c:pt>
                <c:pt idx="76">
                  <c:v>8.0455814</c:v>
                </c:pt>
                <c:pt idx="77">
                  <c:v>8.03885057</c:v>
                </c:pt>
                <c:pt idx="78">
                  <c:v>8.03272727</c:v>
                </c:pt>
                <c:pt idx="79">
                  <c:v>8.02719101</c:v>
                </c:pt>
                <c:pt idx="80">
                  <c:v>8.02222222</c:v>
                </c:pt>
                <c:pt idx="81">
                  <c:v>8.0178022</c:v>
                </c:pt>
                <c:pt idx="82">
                  <c:v>8.01391304</c:v>
                </c:pt>
                <c:pt idx="83">
                  <c:v>8.01053763</c:v>
                </c:pt>
                <c:pt idx="84">
                  <c:v>8.00765957</c:v>
                </c:pt>
                <c:pt idx="85">
                  <c:v>8.00526316</c:v>
                </c:pt>
                <c:pt idx="86">
                  <c:v>8.00333333</c:v>
                </c:pt>
                <c:pt idx="87">
                  <c:v>8.00185567</c:v>
                </c:pt>
                <c:pt idx="88">
                  <c:v>8.00081633</c:v>
                </c:pt>
                <c:pt idx="89">
                  <c:v>8.00020202</c:v>
                </c:pt>
                <c:pt idx="90">
                  <c:v>8</c:v>
                </c:pt>
                <c:pt idx="91">
                  <c:v>8.00019802</c:v>
                </c:pt>
                <c:pt idx="92">
                  <c:v>8.00078431</c:v>
                </c:pt>
                <c:pt idx="93">
                  <c:v>8.00174757</c:v>
                </c:pt>
                <c:pt idx="94">
                  <c:v>8.00307692</c:v>
                </c:pt>
                <c:pt idx="95">
                  <c:v>8.0047619</c:v>
                </c:pt>
                <c:pt idx="96">
                  <c:v>8.00679245</c:v>
                </c:pt>
                <c:pt idx="97">
                  <c:v>8.00915888</c:v>
                </c:pt>
                <c:pt idx="98">
                  <c:v>8.01185185</c:v>
                </c:pt>
                <c:pt idx="99">
                  <c:v>8.01486239</c:v>
                </c:pt>
                <c:pt idx="100">
                  <c:v>8.01818182</c:v>
                </c:pt>
                <c:pt idx="101">
                  <c:v>8.0218018</c:v>
                </c:pt>
                <c:pt idx="102">
                  <c:v>8.02571429</c:v>
                </c:pt>
                <c:pt idx="103">
                  <c:v>8.0299115</c:v>
                </c:pt>
                <c:pt idx="104">
                  <c:v>8.03438596</c:v>
                </c:pt>
                <c:pt idx="105">
                  <c:v>8.03913043</c:v>
                </c:pt>
                <c:pt idx="106">
                  <c:v>8.04413793</c:v>
                </c:pt>
                <c:pt idx="107">
                  <c:v>8.04940171</c:v>
                </c:pt>
                <c:pt idx="108">
                  <c:v>8.05491525</c:v>
                </c:pt>
                <c:pt idx="109">
                  <c:v>8.06067227</c:v>
                </c:pt>
                <c:pt idx="110">
                  <c:v>8.06666667</c:v>
                </c:pt>
                <c:pt idx="111">
                  <c:v>8.07289256</c:v>
                </c:pt>
                <c:pt idx="112">
                  <c:v>8.07934426</c:v>
                </c:pt>
                <c:pt idx="113">
                  <c:v>8.08601626</c:v>
                </c:pt>
                <c:pt idx="114">
                  <c:v>8.09290323</c:v>
                </c:pt>
                <c:pt idx="115">
                  <c:v>8.1</c:v>
                </c:pt>
                <c:pt idx="116">
                  <c:v>8.10730159</c:v>
                </c:pt>
                <c:pt idx="117">
                  <c:v>8.11480315</c:v>
                </c:pt>
                <c:pt idx="118">
                  <c:v>8.1225</c:v>
                </c:pt>
                <c:pt idx="119">
                  <c:v>8.1303876</c:v>
                </c:pt>
                <c:pt idx="120">
                  <c:v>8.13846154</c:v>
                </c:pt>
                <c:pt idx="121">
                  <c:v>8.14671756</c:v>
                </c:pt>
                <c:pt idx="122">
                  <c:v>8.15515152</c:v>
                </c:pt>
                <c:pt idx="123">
                  <c:v>8.1637594</c:v>
                </c:pt>
                <c:pt idx="124">
                  <c:v>8.17253731</c:v>
                </c:pt>
                <c:pt idx="125">
                  <c:v>8.18148148</c:v>
                </c:pt>
                <c:pt idx="126">
                  <c:v>8.19058824</c:v>
                </c:pt>
                <c:pt idx="127">
                  <c:v>8.19985401</c:v>
                </c:pt>
                <c:pt idx="128">
                  <c:v>8.20927536</c:v>
                </c:pt>
                <c:pt idx="129">
                  <c:v>8.21884892</c:v>
                </c:pt>
                <c:pt idx="130">
                  <c:v>8.22857143</c:v>
                </c:pt>
                <c:pt idx="131">
                  <c:v>8.23843972</c:v>
                </c:pt>
                <c:pt idx="132">
                  <c:v>8.2484507</c:v>
                </c:pt>
                <c:pt idx="133">
                  <c:v>8.2586014</c:v>
                </c:pt>
                <c:pt idx="134">
                  <c:v>8.26888889</c:v>
                </c:pt>
                <c:pt idx="135">
                  <c:v>8.27931034</c:v>
                </c:pt>
                <c:pt idx="136">
                  <c:v>8.28986301</c:v>
                </c:pt>
                <c:pt idx="137">
                  <c:v>8.30054422</c:v>
                </c:pt>
                <c:pt idx="138">
                  <c:v>8.31135135</c:v>
                </c:pt>
                <c:pt idx="139">
                  <c:v>8.32228188</c:v>
                </c:pt>
                <c:pt idx="140">
                  <c:v>8.33333333</c:v>
                </c:pt>
                <c:pt idx="141">
                  <c:v>8.34450331</c:v>
                </c:pt>
                <c:pt idx="142">
                  <c:v>8.35578947</c:v>
                </c:pt>
                <c:pt idx="143">
                  <c:v>8.36718954</c:v>
                </c:pt>
                <c:pt idx="144">
                  <c:v>8.3787013</c:v>
                </c:pt>
                <c:pt idx="145">
                  <c:v>8.39032258</c:v>
                </c:pt>
                <c:pt idx="146">
                  <c:v>8.40205128</c:v>
                </c:pt>
                <c:pt idx="147">
                  <c:v>8.41388535</c:v>
                </c:pt>
                <c:pt idx="148">
                  <c:v>8.42582278</c:v>
                </c:pt>
                <c:pt idx="149">
                  <c:v>8.43786164</c:v>
                </c:pt>
                <c:pt idx="150">
                  <c:v>8.45</c:v>
                </c:pt>
                <c:pt idx="151">
                  <c:v>8.46223602</c:v>
                </c:pt>
                <c:pt idx="152">
                  <c:v>8.4745679</c:v>
                </c:pt>
                <c:pt idx="153">
                  <c:v>8.48699387</c:v>
                </c:pt>
                <c:pt idx="154">
                  <c:v>8.4995122</c:v>
                </c:pt>
                <c:pt idx="155">
                  <c:v>8.51212121</c:v>
                </c:pt>
                <c:pt idx="156">
                  <c:v>8.52481928</c:v>
                </c:pt>
                <c:pt idx="157">
                  <c:v>8.53760479</c:v>
                </c:pt>
                <c:pt idx="158">
                  <c:v>8.55047619</c:v>
                </c:pt>
                <c:pt idx="159">
                  <c:v>8.56343195</c:v>
                </c:pt>
                <c:pt idx="160">
                  <c:v>8.57647059</c:v>
                </c:pt>
                <c:pt idx="161">
                  <c:v>8.58959064</c:v>
                </c:pt>
                <c:pt idx="162">
                  <c:v>8.6027907</c:v>
                </c:pt>
                <c:pt idx="163">
                  <c:v>8.61606936</c:v>
                </c:pt>
                <c:pt idx="164">
                  <c:v>8.62942529</c:v>
                </c:pt>
                <c:pt idx="165">
                  <c:v>8.64285714</c:v>
                </c:pt>
                <c:pt idx="166">
                  <c:v>8.65636364</c:v>
                </c:pt>
                <c:pt idx="167">
                  <c:v>8.6699435</c:v>
                </c:pt>
                <c:pt idx="168">
                  <c:v>8.68359551</c:v>
                </c:pt>
                <c:pt idx="169">
                  <c:v>8.69731844</c:v>
                </c:pt>
                <c:pt idx="170">
                  <c:v>8.71111111</c:v>
                </c:pt>
                <c:pt idx="171">
                  <c:v>8.72497238</c:v>
                </c:pt>
                <c:pt idx="172">
                  <c:v>8.7389011</c:v>
                </c:pt>
                <c:pt idx="173">
                  <c:v>8.75289617</c:v>
                </c:pt>
                <c:pt idx="174">
                  <c:v>8.76695652</c:v>
                </c:pt>
                <c:pt idx="175">
                  <c:v>8.78108108</c:v>
                </c:pt>
                <c:pt idx="176">
                  <c:v>8.79526882</c:v>
                </c:pt>
                <c:pt idx="177">
                  <c:v>8.80951872</c:v>
                </c:pt>
                <c:pt idx="178">
                  <c:v>8.82382979</c:v>
                </c:pt>
                <c:pt idx="179">
                  <c:v>8.83820106</c:v>
                </c:pt>
                <c:pt idx="180">
                  <c:v>8.85263158</c:v>
                </c:pt>
                <c:pt idx="181">
                  <c:v>8.86712042</c:v>
                </c:pt>
                <c:pt idx="182">
                  <c:v>8.88166667</c:v>
                </c:pt>
                <c:pt idx="183">
                  <c:v>8.89626943</c:v>
                </c:pt>
                <c:pt idx="184">
                  <c:v>8.91092784</c:v>
                </c:pt>
                <c:pt idx="185">
                  <c:v>8.92564103</c:v>
                </c:pt>
                <c:pt idx="186">
                  <c:v>8.94040816</c:v>
                </c:pt>
                <c:pt idx="187">
                  <c:v>8.95522843</c:v>
                </c:pt>
                <c:pt idx="188">
                  <c:v>8.97010101</c:v>
                </c:pt>
                <c:pt idx="189">
                  <c:v>8.98502513</c:v>
                </c:pt>
                <c:pt idx="190">
                  <c:v>9</c:v>
                </c:pt>
                <c:pt idx="191">
                  <c:v>9.01502488</c:v>
                </c:pt>
                <c:pt idx="192">
                  <c:v>9.03009901</c:v>
                </c:pt>
                <c:pt idx="193">
                  <c:v>9.04522167</c:v>
                </c:pt>
                <c:pt idx="194">
                  <c:v>9.06039216</c:v>
                </c:pt>
                <c:pt idx="195">
                  <c:v>9.07560976</c:v>
                </c:pt>
                <c:pt idx="196">
                  <c:v>9.09087379</c:v>
                </c:pt>
                <c:pt idx="197">
                  <c:v>9.10618357</c:v>
                </c:pt>
                <c:pt idx="198">
                  <c:v>9.12153846</c:v>
                </c:pt>
                <c:pt idx="199">
                  <c:v>9.1369378</c:v>
                </c:pt>
                <c:pt idx="200">
                  <c:v>9.15238095</c:v>
                </c:pt>
                <c:pt idx="201">
                  <c:v>9.1678673</c:v>
                </c:pt>
                <c:pt idx="202">
                  <c:v>9.18339623</c:v>
                </c:pt>
                <c:pt idx="203">
                  <c:v>9.19896714</c:v>
                </c:pt>
                <c:pt idx="204">
                  <c:v>9.21457944</c:v>
                </c:pt>
                <c:pt idx="205">
                  <c:v>9.23023256</c:v>
                </c:pt>
                <c:pt idx="206">
                  <c:v>9.24592593</c:v>
                </c:pt>
                <c:pt idx="207">
                  <c:v>9.26165899</c:v>
                </c:pt>
                <c:pt idx="208">
                  <c:v>9.27743119</c:v>
                </c:pt>
                <c:pt idx="209">
                  <c:v>9.29324201</c:v>
                </c:pt>
                <c:pt idx="210">
                  <c:v>9.30909091</c:v>
                </c:pt>
                <c:pt idx="211">
                  <c:v>9.32497738</c:v>
                </c:pt>
                <c:pt idx="212">
                  <c:v>9.3409009</c:v>
                </c:pt>
                <c:pt idx="213">
                  <c:v>9.35686099</c:v>
                </c:pt>
                <c:pt idx="214">
                  <c:v>9.37285714</c:v>
                </c:pt>
                <c:pt idx="215">
                  <c:v>9.38888889</c:v>
                </c:pt>
                <c:pt idx="216">
                  <c:v>9.40495575</c:v>
                </c:pt>
                <c:pt idx="217">
                  <c:v>9.42105727</c:v>
                </c:pt>
                <c:pt idx="218">
                  <c:v>9.43719298</c:v>
                </c:pt>
                <c:pt idx="219">
                  <c:v>9.45336245</c:v>
                </c:pt>
                <c:pt idx="220">
                  <c:v>9.46956522</c:v>
                </c:pt>
                <c:pt idx="221">
                  <c:v>9.48580087</c:v>
                </c:pt>
                <c:pt idx="222">
                  <c:v>9.50206897</c:v>
                </c:pt>
                <c:pt idx="223">
                  <c:v>9.5183691</c:v>
                </c:pt>
                <c:pt idx="224">
                  <c:v>9.53470085</c:v>
                </c:pt>
                <c:pt idx="225">
                  <c:v>9.55106383</c:v>
                </c:pt>
                <c:pt idx="226">
                  <c:v>9.56745763</c:v>
                </c:pt>
                <c:pt idx="227">
                  <c:v>9.58388186</c:v>
                </c:pt>
                <c:pt idx="228">
                  <c:v>9.60033613</c:v>
                </c:pt>
                <c:pt idx="229">
                  <c:v>9.61682008</c:v>
                </c:pt>
                <c:pt idx="230">
                  <c:v>9.63333333</c:v>
                </c:pt>
                <c:pt idx="231">
                  <c:v>9.64987552</c:v>
                </c:pt>
                <c:pt idx="232">
                  <c:v>9.66644628</c:v>
                </c:pt>
                <c:pt idx="233">
                  <c:v>9.68304527</c:v>
                </c:pt>
                <c:pt idx="234">
                  <c:v>9.69967213</c:v>
                </c:pt>
                <c:pt idx="235">
                  <c:v>9.71632653</c:v>
                </c:pt>
                <c:pt idx="236">
                  <c:v>9.73300813</c:v>
                </c:pt>
                <c:pt idx="237">
                  <c:v>9.7497166</c:v>
                </c:pt>
                <c:pt idx="238">
                  <c:v>9.76645161</c:v>
                </c:pt>
                <c:pt idx="239">
                  <c:v>9.78321285</c:v>
                </c:pt>
                <c:pt idx="240">
                  <c:v>9.8</c:v>
                </c:pt>
              </c:numCache>
            </c:numRef>
          </c:yVal>
          <c:smooth val="0"/>
        </c:ser>
        <c:ser>
          <c:idx val="3"/>
          <c:order val="3"/>
          <c:tx>
            <c:v>GTK</c:v>
          </c:tx>
          <c:spPr>
            <a:ln xmlns:a="http://schemas.openxmlformats.org/drawingml/2006/main" w="0">
              <a:noFill/>
            </a:ln>
          </c:spPr>
          <c:marker>
            <c:symbol val="none"/>
            <c:size val="8"/>
            <c:spPr>
              <a:solidFill xmlns:a="http://schemas.openxmlformats.org/drawingml/2006/main">
                <a:srgbClr val="A63735"/>
              </a:solidFill>
            </c:spPr>
          </c:marker>
          <c:dLbls>
            <c:dLbl>
              <c:idx val="0"/>
              <c:tx>
                <c:rich>
                  <a:bodyPr xmlns:a="http://schemas.openxmlformats.org/drawingml/2006/main"/>
                  <a:lstStyle xmlns:a="http://schemas.openxmlformats.org/drawingml/2006/main"/>
                  <a:p xmlns:a="http://schemas.openxmlformats.org/drawingml/2006/main">
                    <a:r>
                      <a:rPr sz="1950" b="1">
                        <a:solidFill>
                          <a:srgbClr val="A63735"/>
                        </a:solidFill>
                        <a:latin typeface="Arial"/>
                        <a:ea typeface="Arial"/>
                        <a:cs typeface="Arial"/>
                      </a:rPr>
                      <a:t>GTK</a:t>
                    </a:r>
                  </a:p>
                </c:rich>
              </c:tx>
              <c:txPr>
                <a:bodyPr xmlns:a="http://schemas.openxmlformats.org/drawingml/2006/main" anchorCtr="1"/>
                <a:lstStyle xmlns:a="http://schemas.openxmlformats.org/drawingml/2006/main"/>
                <a:p xmlns:a="http://schemas.openxmlformats.org/drawingml/2006/main">
                  <a:pPr>
                    <a:defRPr sz="1950" b="1">
                      <a:solidFill>
                        <a:srgbClr val="A63735"/>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Data'!$G$2:$G$2</c:f>
              <c:numCache>
                <c:formatCode>General</c:formatCode>
                <c:ptCount val="1"/>
                <c:pt idx="0">
                  <c:v>215</c:v>
                </c:pt>
              </c:numCache>
            </c:numRef>
          </c:xVal>
          <c:yVal>
            <c:numRef>
              <c:f>'Chart Data'!$H$2:$H$2</c:f>
              <c:numCache>
                <c:formatCode>0</c:formatCode>
                <c:ptCount val="1"/>
                <c:pt idx="0">
                  <c:v>8.15023256</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24"/>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P, MK en GTK (€ per kg)</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50112"/>
        <c:majorUnit val="4"/>
      </c:valAx>
      <c:valAx>
        <c:axId val="48650112"/>
        <c:scaling>
          <c:orientation val="minMax"/>
          <c:max val="25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(kg per week)</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72768"/>
        <c:majorUnit val="5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scatterChart>
        <c:scatterStyle val="line"/>
        <c:ser>
          <c:idx val="0"/>
          <c:order val="0"/>
          <c:tx>
            <c:v>V₀</c:v>
          </c:tx>
          <c:spPr>
            <a:ln xmlns:a="http://schemas.openxmlformats.org/drawingml/2006/main" w="28575">
              <a:solidFill>
                <a:srgbClr val="17658A"/>
              </a:solidFill>
              <a:prstDash val="dash"/>
            </a:ln>
          </c:spPr>
          <c:marker>
            <c:symbol val="none"/>
          </c:marker>
          <c:xVal>
            <c:numRef>
              <c:f>'Chart Data'!$A$2:$A$3</c:f>
              <c:numCache>
                <c:formatCode>General</c:formatCode>
                <c:ptCount val="2"/>
                <c:pt idx="0">
                  <c:v>0</c:v>
                </c:pt>
                <c:pt idx="1">
                  <c:v>30</c:v>
                </c:pt>
              </c:numCache>
            </c:numRef>
          </c:xVal>
          <c:yVal>
            <c:numRef>
              <c:f>'Chart Data'!$B$2:$B$3</c:f>
              <c:numCache>
                <c:formatCode>0</c:formatCode>
                <c:ptCount val="2"/>
                <c:pt idx="0">
                  <c:v>12</c:v>
                </c:pt>
                <c:pt idx="1">
                  <c:v>0</c:v>
                </c:pt>
              </c:numCache>
            </c:numRef>
          </c:yVal>
          <c:smooth val="0"/>
        </c:ser>
        <c:ser>
          <c:idx val="1"/>
          <c:order val="1"/>
          <c:tx>
            <c:v>V₁</c:v>
          </c:tx>
          <c:spPr>
            <a:ln xmlns:a="http://schemas.openxmlformats.org/drawingml/2006/main" w="28575">
              <a:solidFill>
                <a:srgbClr val="17658A"/>
              </a:solidFill>
              <a:prstDash val="solid"/>
            </a:ln>
          </c:spPr>
          <c:marker>
            <c:symbol val="none"/>
          </c:marker>
          <c:xVal>
            <c:numRef>
              <c:f>'Chart Data'!$C$2:$C$3</c:f>
              <c:numCache>
                <c:formatCode>General</c:formatCode>
                <c:ptCount val="2"/>
                <c:pt idx="0">
                  <c:v>0</c:v>
                </c:pt>
                <c:pt idx="1">
                  <c:v>50</c:v>
                </c:pt>
              </c:numCache>
            </c:numRef>
          </c:xVal>
          <c:yVal>
            <c:numRef>
              <c:f>'Chart Data'!$D$2:$D$3</c:f>
              <c:numCache>
                <c:formatCode>0</c:formatCode>
                <c:ptCount val="2"/>
                <c:pt idx="0">
                  <c:v>20</c:v>
                </c:pt>
                <c:pt idx="1">
                  <c:v>0</c:v>
                </c:pt>
              </c:numCache>
            </c:numRef>
          </c:yVal>
          <c:smooth val="0"/>
        </c:ser>
        <c:ser>
          <c:idx val="2"/>
          <c:order val="2"/>
          <c:tx>
            <c:v>A₀</c:v>
          </c:tx>
          <c:spPr>
            <a:ln xmlns:a="http://schemas.openxmlformats.org/drawingml/2006/main" w="28575">
              <a:solidFill>
                <a:srgbClr val="20665B"/>
              </a:solidFill>
              <a:prstDash val="solid"/>
            </a:ln>
          </c:spPr>
          <c:marker>
            <c:symbol val="none"/>
          </c:marker>
          <c:xVal>
            <c:numRef>
              <c:f>'Chart Data'!$E$2:$E$3</c:f>
              <c:numCache>
                <c:formatCode>General</c:formatCode>
                <c:ptCount val="2"/>
                <c:pt idx="0">
                  <c:v>0</c:v>
                </c:pt>
                <c:pt idx="1">
                  <c:v>50</c:v>
                </c:pt>
              </c:numCache>
            </c:numRef>
          </c:xVal>
          <c:yVal>
            <c:numRef>
              <c:f>'Chart Data'!$F$2:$F$3</c:f>
              <c:numCache>
                <c:formatCode>0</c:formatCode>
                <c:ptCount val="2"/>
                <c:pt idx="0">
                  <c:v>4</c:v>
                </c:pt>
                <c:pt idx="1">
                  <c:v>24</c:v>
                </c:pt>
              </c:numCache>
            </c:numRef>
          </c:yVal>
          <c:smooth val="0"/>
        </c:ser>
        <c:ser>
          <c:idx val="3"/>
          <c:order val="3"/>
          <c:tx>
            <c:v>V₀</c:v>
          </c:tx>
          <c:spPr>
            <a:ln xmlns:a="http://schemas.openxmlformats.org/drawingml/2006/main" w="0">
              <a:noFill/>
            </a:ln>
          </c:spPr>
          <c:marker>
            <c:symbol val="none"/>
            <c:size val="8"/>
            <c:spPr>
              <a:solidFill xmlns:a="http://schemas.openxmlformats.org/drawingml/2006/main">
                <a:srgbClr val="17658A"/>
              </a:solidFill>
            </c:spPr>
          </c:marker>
          <c:dLbls>
            <c:dLbl>
              <c:idx val="0"/>
              <c:tx>
                <c:rich>
                  <a:bodyPr xmlns:a="http://schemas.openxmlformats.org/drawingml/2006/main"/>
                  <a:lstStyle xmlns:a="http://schemas.openxmlformats.org/drawingml/2006/main"/>
                  <a:p xmlns:a="http://schemas.openxmlformats.org/drawingml/2006/main">
                    <a:r>
                      <a:rPr sz="1950" b="1">
                        <a:solidFill>
                          <a:srgbClr val="17658A"/>
                        </a:solidFill>
                        <a:latin typeface="Arial"/>
                        <a:ea typeface="Arial"/>
                        <a:cs typeface="Arial"/>
                      </a:rPr>
                      <a:t>V₀</a:t>
                    </a:r>
                  </a:p>
                </c:rich>
              </c:tx>
              <c:txPr>
                <a:bodyPr xmlns:a="http://schemas.openxmlformats.org/drawingml/2006/main" anchorCtr="1"/>
                <a:lstStyle xmlns:a="http://schemas.openxmlformats.org/drawingml/2006/main"/>
                <a:p xmlns:a="http://schemas.openxmlformats.org/drawingml/2006/main">
                  <a:pPr>
                    <a:defRPr sz="1950" b="1">
                      <a:solidFill>
                        <a:srgbClr val="17658A"/>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Data'!$G$2:$G$2</c:f>
              <c:numCache>
                <c:formatCode>General</c:formatCode>
                <c:ptCount val="1"/>
                <c:pt idx="0">
                  <c:v>24</c:v>
                </c:pt>
              </c:numCache>
            </c:numRef>
          </c:xVal>
          <c:yVal>
            <c:numRef>
              <c:f>'Chart Data'!$H$2:$H$2</c:f>
              <c:numCache>
                <c:formatCode>0</c:formatCode>
                <c:ptCount val="1"/>
                <c:pt idx="0">
                  <c:v>1.3</c:v>
                </c:pt>
              </c:numCache>
            </c:numRef>
          </c:yVal>
          <c:smooth val="0"/>
        </c:ser>
        <c:ser>
          <c:idx val="4"/>
          <c:order val="4"/>
          <c:tx>
            <c:v>V₁</c:v>
          </c:tx>
          <c:spPr>
            <a:ln xmlns:a="http://schemas.openxmlformats.org/drawingml/2006/main" w="0">
              <a:noFill/>
            </a:ln>
          </c:spPr>
          <c:marker>
            <c:symbol val="none"/>
            <c:size val="8"/>
            <c:spPr>
              <a:solidFill xmlns:a="http://schemas.openxmlformats.org/drawingml/2006/main">
                <a:srgbClr val="17658A"/>
              </a:solidFill>
            </c:spPr>
          </c:marker>
          <c:dLbls>
            <c:dLbl>
              <c:idx val="0"/>
              <c:tx>
                <c:rich>
                  <a:bodyPr xmlns:a="http://schemas.openxmlformats.org/drawingml/2006/main"/>
                  <a:lstStyle xmlns:a="http://schemas.openxmlformats.org/drawingml/2006/main"/>
                  <a:p xmlns:a="http://schemas.openxmlformats.org/drawingml/2006/main">
                    <a:r>
                      <a:rPr sz="1950" b="1">
                        <a:solidFill>
                          <a:srgbClr val="17658A"/>
                        </a:solidFill>
                        <a:latin typeface="Arial"/>
                        <a:ea typeface="Arial"/>
                        <a:cs typeface="Arial"/>
                      </a:rPr>
                      <a:t>V₁</a:t>
                    </a:r>
                  </a:p>
                </c:rich>
              </c:tx>
              <c:txPr>
                <a:bodyPr xmlns:a="http://schemas.openxmlformats.org/drawingml/2006/main" anchorCtr="1"/>
                <a:lstStyle xmlns:a="http://schemas.openxmlformats.org/drawingml/2006/main"/>
                <a:p xmlns:a="http://schemas.openxmlformats.org/drawingml/2006/main">
                  <a:pPr>
                    <a:defRPr sz="1950" b="1">
                      <a:solidFill>
                        <a:srgbClr val="17658A"/>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Data'!$I$2:$I$2</c:f>
              <c:numCache>
                <c:formatCode>General</c:formatCode>
                <c:ptCount val="1"/>
                <c:pt idx="0">
                  <c:v>42</c:v>
                </c:pt>
              </c:numCache>
            </c:numRef>
          </c:xVal>
          <c:yVal>
            <c:numRef>
              <c:f>'Chart Data'!$J$2:$J$2</c:f>
              <c:numCache>
                <c:formatCode>0</c:formatCode>
                <c:ptCount val="1"/>
                <c:pt idx="0">
                  <c:v>4.8</c:v>
                </c:pt>
              </c:numCache>
            </c:numRef>
          </c:yVal>
          <c:smooth val="0"/>
        </c:ser>
        <c:ser>
          <c:idx val="5"/>
          <c:order val="5"/>
          <c:tx>
            <c:v>A₀</c:v>
          </c:tx>
          <c:spPr>
            <a:ln xmlns:a="http://schemas.openxmlformats.org/drawingml/2006/main" w="0">
              <a:noFill/>
            </a:ln>
          </c:spPr>
          <c:marker>
            <c:symbol val="none"/>
            <c:size val="8"/>
            <c:spPr>
              <a:solidFill xmlns:a="http://schemas.openxmlformats.org/drawingml/2006/main">
                <a:srgbClr val="20665B"/>
              </a:solidFill>
            </c:spPr>
          </c:marker>
          <c:dLbls>
            <c:dLbl>
              <c:idx val="0"/>
              <c:tx>
                <c:rich>
                  <a:bodyPr xmlns:a="http://schemas.openxmlformats.org/drawingml/2006/main"/>
                  <a:lstStyle xmlns:a="http://schemas.openxmlformats.org/drawingml/2006/main"/>
                  <a:p xmlns:a="http://schemas.openxmlformats.org/drawingml/2006/main">
                    <a:r>
                      <a:rPr sz="1950" b="1">
                        <a:solidFill>
                          <a:srgbClr val="20665B"/>
                        </a:solidFill>
                        <a:latin typeface="Arial"/>
                        <a:ea typeface="Arial"/>
                        <a:cs typeface="Arial"/>
                      </a:rPr>
                      <a:t>A₀</a:t>
                    </a:r>
                  </a:p>
                </c:rich>
              </c:tx>
              <c:txPr>
                <a:bodyPr xmlns:a="http://schemas.openxmlformats.org/drawingml/2006/main" anchorCtr="1"/>
                <a:lstStyle xmlns:a="http://schemas.openxmlformats.org/drawingml/2006/main"/>
                <a:p xmlns:a="http://schemas.openxmlformats.org/drawingml/2006/main">
                  <a:pPr>
                    <a:defRPr sz="1950" b="1">
                      <a:solidFill>
                        <a:srgbClr val="20665B"/>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Data'!$K$2:$K$2</c:f>
              <c:numCache>
                <c:formatCode>General</c:formatCode>
                <c:ptCount val="1"/>
                <c:pt idx="0">
                  <c:v>42</c:v>
                </c:pt>
              </c:numCache>
            </c:numRef>
          </c:xVal>
          <c:yVal>
            <c:numRef>
              <c:f>'Chart Data'!$L$2:$L$2</c:f>
              <c:numCache>
                <c:formatCode>0</c:formatCode>
                <c:ptCount val="1"/>
                <c:pt idx="0">
                  <c:v>19.6</c:v>
                </c:pt>
              </c:numCache>
            </c:numRef>
          </c:yVal>
          <c:smooth val="0"/>
        </c:ser>
        <c:ser>
          <c:idx val="6"/>
          <c:order val="6"/>
          <c:tx>
            <c:v>E1 hulplijnen</c:v>
          </c:tx>
          <c:spPr>
            <a:ln xmlns:a="http://schemas.openxmlformats.org/drawingml/2006/main" w="19050">
              <a:solidFill>
                <a:srgbClr val="445B6B"/>
              </a:solidFill>
              <a:prstDash val="dash"/>
            </a:ln>
          </c:spPr>
          <c:marker>
            <c:symbol val="none"/>
          </c:marker>
          <c:xVal>
            <c:numRef>
              <c:f>'Chart Data'!$M$2:$M$4</c:f>
              <c:numCache>
                <c:formatCode>General</c:formatCode>
                <c:ptCount val="3"/>
                <c:pt idx="0">
                  <c:v>0</c:v>
                </c:pt>
                <c:pt idx="1">
                  <c:v>20</c:v>
                </c:pt>
                <c:pt idx="2">
                  <c:v>20</c:v>
                </c:pt>
              </c:numCache>
            </c:numRef>
          </c:xVal>
          <c:yVal>
            <c:numRef>
              <c:f>'Chart Data'!$N$2:$N$4</c:f>
              <c:numCache>
                <c:formatCode>0</c:formatCode>
                <c:ptCount val="3"/>
                <c:pt idx="0">
                  <c:v>12</c:v>
                </c:pt>
                <c:pt idx="1">
                  <c:v>12</c:v>
                </c:pt>
                <c:pt idx="2">
                  <c:v>0</c:v>
                </c:pt>
              </c:numCache>
            </c:numRef>
          </c:yVal>
          <c:smooth val="0"/>
        </c:ser>
        <c:ser>
          <c:idx val="7"/>
          <c:order val="7"/>
          <c:tx>
            <c:v>E1 punt</c:v>
          </c:tx>
          <c:spPr>
            <a:ln xmlns:a="http://schemas.openxmlformats.org/drawingml/2006/main" w="0">
              <a:noFill/>
            </a:ln>
          </c:spPr>
          <c:marker>
            <c:symbol val="circle"/>
            <c:size val="8"/>
            <c:spPr>
              <a:solidFill xmlns:a="http://schemas.openxmlformats.org/drawingml/2006/main">
                <a:srgbClr val="183247"/>
              </a:solidFill>
            </c:spPr>
          </c:marker>
          <c:xVal>
            <c:numRef>
              <c:f>'Chart Data'!$O$2:$O$2</c:f>
              <c:numCache>
                <c:formatCode>General</c:formatCode>
                <c:ptCount val="1"/>
                <c:pt idx="0">
                  <c:v>20</c:v>
                </c:pt>
              </c:numCache>
            </c:numRef>
          </c:xVal>
          <c:yVal>
            <c:numRef>
              <c:f>'Chart Data'!$P$2:$P$2</c:f>
              <c:numCache>
                <c:formatCode>0</c:formatCode>
                <c:ptCount val="1"/>
                <c:pt idx="0">
                  <c:v>12</c:v>
                </c:pt>
              </c:numCache>
            </c:numRef>
          </c:yVal>
          <c:smooth val="0"/>
        </c:ser>
        <c:ser>
          <c:idx val="8"/>
          <c:order val="8"/>
          <c:tx>
            <c:v>E₁</c:v>
          </c:tx>
          <c:spPr>
            <a:ln xmlns:a="http://schemas.openxmlformats.org/drawingml/2006/main" w="0">
              <a:noFill/>
            </a:ln>
          </c:spPr>
          <c:marker>
            <c:symbol val="none"/>
            <c:size val="8"/>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1950" b="1">
                        <a:solidFill>
                          <a:srgbClr val="183247"/>
                        </a:solidFill>
                        <a:latin typeface="Arial"/>
                        <a:ea typeface="Arial"/>
                        <a:cs typeface="Arial"/>
                      </a:rPr>
                      <a:t>E₁</a:t>
                    </a:r>
                  </a:p>
                </c:rich>
              </c:tx>
              <c:txPr>
                <a:bodyPr xmlns:a="http://schemas.openxmlformats.org/drawingml/2006/main" anchorCtr="1"/>
                <a:lstStyle xmlns:a="http://schemas.openxmlformats.org/drawingml/2006/main"/>
                <a:p xmlns:a="http://schemas.openxmlformats.org/drawingml/2006/main">
                  <a:pPr>
                    <a:defRPr sz="1950" b="1">
                      <a:solidFill>
                        <a:srgbClr val="183247"/>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Data'!$Q$2:$Q$2</c:f>
              <c:numCache>
                <c:formatCode>General</c:formatCode>
                <c:ptCount val="1"/>
                <c:pt idx="0">
                  <c:v>23.5</c:v>
                </c:pt>
              </c:numCache>
            </c:numRef>
          </c:xVal>
          <c:yVal>
            <c:numRef>
              <c:f>'Chart Data'!$R$2:$R$2</c:f>
              <c:numCache>
                <c:formatCode>0</c:formatCode>
                <c:ptCount val="1"/>
                <c:pt idx="0">
                  <c:v>12</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24"/>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P (€ per kg)</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50112"/>
        <c:majorUnit val="4"/>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 1.000 kg per week)</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72768"/>
        <c:majorUnit val="1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scatterChart>
        <c:scatterStyle val="line"/>
        <c:ser>
          <c:idx val="0"/>
          <c:order val="0"/>
          <c:tx>
            <c:v>MK</c:v>
          </c:tx>
          <c:spPr>
            <a:ln xmlns:a="http://schemas.openxmlformats.org/drawingml/2006/main" w="28575">
              <a:solidFill>
                <a:srgbClr val="A94D16"/>
              </a:solidFill>
              <a:prstDash val="solid"/>
            </a:ln>
          </c:spPr>
          <c:marker>
            <c:symbol val="none"/>
          </c:marker>
          <c:xVal>
            <c:numRef>
              <c:f>'Chart Data'!$A$2:$A$3</c:f>
              <c:numCache>
                <c:formatCode>General</c:formatCode>
                <c:ptCount val="2"/>
                <c:pt idx="0">
                  <c:v>0</c:v>
                </c:pt>
                <c:pt idx="1">
                  <c:v>250</c:v>
                </c:pt>
              </c:numCache>
            </c:numRef>
          </c:xVal>
          <c:yVal>
            <c:numRef>
              <c:f>'Chart Data'!$B$2:$B$3</c:f>
              <c:numCache>
                <c:formatCode>0</c:formatCode>
                <c:ptCount val="2"/>
                <c:pt idx="0">
                  <c:v>4</c:v>
                </c:pt>
                <c:pt idx="1">
                  <c:v>14</c:v>
                </c:pt>
              </c:numCache>
            </c:numRef>
          </c:yVal>
          <c:smooth val="0"/>
        </c:ser>
        <c:ser>
          <c:idx val="1"/>
          <c:order val="1"/>
          <c:tx>
            <c:v>MK</c:v>
          </c:tx>
          <c:spPr>
            <a:ln xmlns:a="http://schemas.openxmlformats.org/drawingml/2006/main" w="0">
              <a:noFill/>
            </a:ln>
          </c:spPr>
          <c:marker>
            <c:symbol val="none"/>
            <c:size val="8"/>
            <c:spPr>
              <a:solidFill xmlns:a="http://schemas.openxmlformats.org/drawingml/2006/main">
                <a:srgbClr val="A94D16"/>
              </a:solidFill>
            </c:spPr>
          </c:marker>
          <c:dLbls>
            <c:dLbl>
              <c:idx val="0"/>
              <c:tx>
                <c:rich>
                  <a:bodyPr xmlns:a="http://schemas.openxmlformats.org/drawingml/2006/main"/>
                  <a:lstStyle xmlns:a="http://schemas.openxmlformats.org/drawingml/2006/main"/>
                  <a:p xmlns:a="http://schemas.openxmlformats.org/drawingml/2006/main">
                    <a:r>
                      <a:rPr sz="1950" b="1">
                        <a:solidFill>
                          <a:srgbClr val="A94D16"/>
                        </a:solidFill>
                        <a:latin typeface="Arial"/>
                        <a:ea typeface="Arial"/>
                        <a:cs typeface="Arial"/>
                      </a:rPr>
                      <a:t>MK</a:t>
                    </a:r>
                  </a:p>
                </c:rich>
              </c:tx>
              <c:txPr>
                <a:bodyPr xmlns:a="http://schemas.openxmlformats.org/drawingml/2006/main" anchorCtr="1"/>
                <a:lstStyle xmlns:a="http://schemas.openxmlformats.org/drawingml/2006/main"/>
                <a:p xmlns:a="http://schemas.openxmlformats.org/drawingml/2006/main">
                  <a:pPr>
                    <a:defRPr sz="1950" b="1">
                      <a:solidFill>
                        <a:srgbClr val="A94D16"/>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Data'!$C$2:$C$2</c:f>
              <c:numCache>
                <c:formatCode>General</c:formatCode>
                <c:ptCount val="1"/>
                <c:pt idx="0">
                  <c:v>215</c:v>
                </c:pt>
              </c:numCache>
            </c:numRef>
          </c:xVal>
          <c:yVal>
            <c:numRef>
              <c:f>'Chart Data'!$D$2:$D$2</c:f>
              <c:numCache>
                <c:formatCode>0</c:formatCode>
                <c:ptCount val="1"/>
                <c:pt idx="0">
                  <c:v>14.16</c:v>
                </c:pt>
              </c:numCache>
            </c:numRef>
          </c:yVal>
          <c:smooth val="0"/>
        </c:ser>
        <c:ser>
          <c:idx val="2"/>
          <c:order val="2"/>
          <c:tx>
            <c:v>P = GO = MO</c:v>
          </c:tx>
          <c:spPr>
            <a:ln xmlns:a="http://schemas.openxmlformats.org/drawingml/2006/main" w="28575">
              <a:solidFill>
                <a:srgbClr val="17658A"/>
              </a:solidFill>
              <a:prstDash val="solid"/>
            </a:ln>
          </c:spPr>
          <c:marker>
            <c:symbol val="none"/>
          </c:marker>
          <c:xVal>
            <c:numRef>
              <c:f>'Chart Data'!$E$2:$E$3</c:f>
              <c:numCache>
                <c:formatCode>General</c:formatCode>
                <c:ptCount val="2"/>
                <c:pt idx="0">
                  <c:v>0</c:v>
                </c:pt>
                <c:pt idx="1">
                  <c:v>250</c:v>
                </c:pt>
              </c:numCache>
            </c:numRef>
          </c:xVal>
          <c:yVal>
            <c:numRef>
              <c:f>'Chart Data'!$F$2:$F$3</c:f>
              <c:numCache>
                <c:formatCode>0</c:formatCode>
                <c:ptCount val="2"/>
                <c:pt idx="0">
                  <c:v>12</c:v>
                </c:pt>
                <c:pt idx="1">
                  <c:v>12</c:v>
                </c:pt>
              </c:numCache>
            </c:numRef>
          </c:yVal>
          <c:smooth val="0"/>
        </c:ser>
        <c:ser>
          <c:idx val="3"/>
          <c:order val="3"/>
          <c:tx>
            <c:v>P = GO = MO</c:v>
          </c:tx>
          <c:spPr>
            <a:ln xmlns:a="http://schemas.openxmlformats.org/drawingml/2006/main" w="0">
              <a:noFill/>
            </a:ln>
          </c:spPr>
          <c:marker>
            <c:symbol val="none"/>
            <c:size val="8"/>
            <c:spPr>
              <a:solidFill xmlns:a="http://schemas.openxmlformats.org/drawingml/2006/main">
                <a:srgbClr val="17658A"/>
              </a:solidFill>
            </c:spPr>
          </c:marker>
          <c:dLbls>
            <c:dLbl>
              <c:idx val="0"/>
              <c:tx>
                <c:rich>
                  <a:bodyPr xmlns:a="http://schemas.openxmlformats.org/drawingml/2006/main"/>
                  <a:lstStyle xmlns:a="http://schemas.openxmlformats.org/drawingml/2006/main"/>
                  <a:p xmlns:a="http://schemas.openxmlformats.org/drawingml/2006/main">
                    <a:r>
                      <a:rPr sz="1950" b="1">
                        <a:solidFill>
                          <a:srgbClr val="17658A"/>
                        </a:solidFill>
                        <a:latin typeface="Arial"/>
                        <a:ea typeface="Arial"/>
                        <a:cs typeface="Arial"/>
                      </a:rPr>
                      <a:t>P = GO = MO</a:t>
                    </a:r>
                  </a:p>
                </c:rich>
              </c:tx>
              <c:txPr>
                <a:bodyPr xmlns:a="http://schemas.openxmlformats.org/drawingml/2006/main" anchorCtr="1"/>
                <a:lstStyle xmlns:a="http://schemas.openxmlformats.org/drawingml/2006/main"/>
                <a:p xmlns:a="http://schemas.openxmlformats.org/drawingml/2006/main">
                  <a:pPr>
                    <a:defRPr sz="1950" b="1">
                      <a:solidFill>
                        <a:srgbClr val="17658A"/>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Data'!$G$2:$G$2</c:f>
              <c:numCache>
                <c:formatCode>General</c:formatCode>
                <c:ptCount val="1"/>
                <c:pt idx="0">
                  <c:v>105</c:v>
                </c:pt>
              </c:numCache>
            </c:numRef>
          </c:xVal>
          <c:yVal>
            <c:numRef>
              <c:f>'Chart Data'!$H$2:$H$2</c:f>
              <c:numCache>
                <c:formatCode>0</c:formatCode>
                <c:ptCount val="1"/>
                <c:pt idx="0">
                  <c:v>13.32</c:v>
                </c:pt>
              </c:numCache>
            </c:numRef>
          </c:yVal>
          <c:smooth val="0"/>
        </c:ser>
        <c:ser>
          <c:idx val="4"/>
          <c:order val="4"/>
          <c:tx>
            <c:v>q gekozen</c:v>
          </c:tx>
          <c:spPr>
            <a:ln xmlns:a="http://schemas.openxmlformats.org/drawingml/2006/main" w="19050">
              <a:solidFill>
                <a:srgbClr val="445B6B"/>
              </a:solidFill>
              <a:prstDash val="dash"/>
            </a:ln>
          </c:spPr>
          <c:marker>
            <c:symbol val="none"/>
          </c:marker>
          <c:xVal>
            <c:numRef>
              <c:f>'Chart Data'!$I$2:$I$3</c:f>
              <c:numCache>
                <c:formatCode>General</c:formatCode>
                <c:ptCount val="2"/>
                <c:pt idx="0">
                  <c:v>200</c:v>
                </c:pt>
                <c:pt idx="1">
                  <c:v>200</c:v>
                </c:pt>
              </c:numCache>
            </c:numRef>
          </c:xVal>
          <c:yVal>
            <c:numRef>
              <c:f>'Chart Data'!$J$2:$J$3</c:f>
              <c:numCache>
                <c:formatCode>0</c:formatCode>
                <c:ptCount val="2"/>
                <c:pt idx="0">
                  <c:v>0</c:v>
                </c:pt>
                <c:pt idx="1">
                  <c:v>12</c:v>
                </c:pt>
              </c:numCache>
            </c:numRef>
          </c:yVal>
          <c:smooth val="0"/>
        </c:ser>
        <c:ser>
          <c:idx val="5"/>
          <c:order val="5"/>
          <c:tx>
            <c:v>q = 200</c:v>
          </c:tx>
          <c:spPr>
            <a:ln xmlns:a="http://schemas.openxmlformats.org/drawingml/2006/main" w="0">
              <a:noFill/>
            </a:ln>
          </c:spPr>
          <c:marker>
            <c:symbol val="none"/>
            <c:size val="8"/>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1950" b="1">
                        <a:solidFill>
                          <a:srgbClr val="183247"/>
                        </a:solidFill>
                        <a:latin typeface="Arial"/>
                        <a:ea typeface="Arial"/>
                        <a:cs typeface="Arial"/>
                      </a:rPr>
                      <a:t>q = 200</a:t>
                    </a:r>
                  </a:p>
                </c:rich>
              </c:tx>
              <c:txPr>
                <a:bodyPr xmlns:a="http://schemas.openxmlformats.org/drawingml/2006/main" anchorCtr="1"/>
                <a:lstStyle xmlns:a="http://schemas.openxmlformats.org/drawingml/2006/main"/>
                <a:p xmlns:a="http://schemas.openxmlformats.org/drawingml/2006/main">
                  <a:pPr>
                    <a:defRPr sz="1950" b="1">
                      <a:solidFill>
                        <a:srgbClr val="183247"/>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Data'!$K$2:$K$2</c:f>
              <c:numCache>
                <c:formatCode>General</c:formatCode>
                <c:ptCount val="1"/>
                <c:pt idx="0">
                  <c:v>200</c:v>
                </c:pt>
              </c:numCache>
            </c:numRef>
          </c:xVal>
          <c:yVal>
            <c:numRef>
              <c:f>'Chart Data'!$L$2:$L$2</c:f>
              <c:numCache>
                <c:formatCode>0</c:formatCode>
                <c:ptCount val="1"/>
                <c:pt idx="0">
                  <c:v>1.32</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24"/>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P en MK (€ per kg)</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50112"/>
        <c:majorUnit val="4"/>
      </c:valAx>
      <c:valAx>
        <c:axId val="48650112"/>
        <c:scaling>
          <c:orientation val="minMax"/>
          <c:max val="25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(kg per week)</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72768"/>
        <c:majorUnit val="5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plotArea>
      <c:scatterChart>
        <c:scatterStyle val="line"/>
        <c:ser>
          <c:idx val="0"/>
          <c:order val="0"/>
          <c:tx>
            <c:v>Winstrechthoek</c:v>
          </c:tx>
          <c:spPr>
            <a:ln xmlns:a="http://schemas.openxmlformats.org/drawingml/2006/main" w="19050">
              <a:solidFill>
                <a:srgbClr val="20665B"/>
              </a:solidFill>
              <a:prstDash val="solid"/>
            </a:ln>
          </c:spPr>
          <c:marker>
            <c:symbol val="none"/>
          </c:marker>
          <c:xVal>
            <c:numRef>
              <c:f>'Chart Data'!$A$2:$A$6</c:f>
              <c:numCache>
                <c:formatCode>General</c:formatCode>
                <c:ptCount val="5"/>
                <c:pt idx="0">
                  <c:v>0</c:v>
                </c:pt>
                <c:pt idx="1">
                  <c:v>200</c:v>
                </c:pt>
                <c:pt idx="2">
                  <c:v>200</c:v>
                </c:pt>
                <c:pt idx="3">
                  <c:v>0</c:v>
                </c:pt>
                <c:pt idx="4">
                  <c:v>0</c:v>
                </c:pt>
              </c:numCache>
            </c:numRef>
          </c:xVal>
          <c:yVal>
            <c:numRef>
              <c:f>'Chart Data'!$B$2:$B$6</c:f>
              <c:numCache>
                <c:formatCode>0</c:formatCode>
                <c:ptCount val="5"/>
                <c:pt idx="0">
                  <c:v>9</c:v>
                </c:pt>
                <c:pt idx="1">
                  <c:v>9</c:v>
                </c:pt>
                <c:pt idx="2">
                  <c:v>12</c:v>
                </c:pt>
                <c:pt idx="3">
                  <c:v>12</c:v>
                </c:pt>
                <c:pt idx="4">
                  <c:v>9</c:v>
                </c:pt>
              </c:numCache>
            </c:numRef>
          </c:yVal>
          <c:smooth val="0"/>
        </c:ser>
        <c:ser>
          <c:idx val="1"/>
          <c:order val="1"/>
          <c:tx>
            <c:v>Arcering</c:v>
          </c:tx>
          <c:spPr>
            <a:ln xmlns:a="http://schemas.openxmlformats.org/drawingml/2006/main" w="9525">
              <a:solidFill>
                <a:srgbClr val="9BC7B6"/>
              </a:solidFill>
              <a:prstDash val="solid"/>
            </a:ln>
          </c:spPr>
          <c:marker>
            <c:symbol val="none"/>
          </c:marker>
          <c:xVal>
            <c:numRef>
              <c:f>'Chart Data'!$C$2:$C$3</c:f>
              <c:numCache>
                <c:formatCode>General</c:formatCode>
                <c:ptCount val="2"/>
                <c:pt idx="0">
                  <c:v>0</c:v>
                </c:pt>
                <c:pt idx="1">
                  <c:v>40</c:v>
                </c:pt>
              </c:numCache>
            </c:numRef>
          </c:xVal>
          <c:yVal>
            <c:numRef>
              <c:f>'Chart Data'!$D$2:$D$3</c:f>
              <c:numCache>
                <c:formatCode>0</c:formatCode>
                <c:ptCount val="2"/>
                <c:pt idx="0">
                  <c:v>11.4</c:v>
                </c:pt>
                <c:pt idx="1">
                  <c:v>12</c:v>
                </c:pt>
              </c:numCache>
            </c:numRef>
          </c:yVal>
          <c:smooth val="0"/>
        </c:ser>
        <c:ser>
          <c:idx val="2"/>
          <c:order val="2"/>
          <c:tx>
            <c:v>Arcering</c:v>
          </c:tx>
          <c:spPr>
            <a:ln xmlns:a="http://schemas.openxmlformats.org/drawingml/2006/main" w="9525">
              <a:solidFill>
                <a:srgbClr val="9BC7B6"/>
              </a:solidFill>
              <a:prstDash val="solid"/>
            </a:ln>
          </c:spPr>
          <c:marker>
            <c:symbol val="none"/>
          </c:marker>
          <c:xVal>
            <c:numRef>
              <c:f>'Chart Data'!$E$2:$E$3</c:f>
              <c:numCache>
                <c:formatCode>General</c:formatCode>
                <c:ptCount val="2"/>
                <c:pt idx="0">
                  <c:v>0</c:v>
                </c:pt>
                <c:pt idx="1">
                  <c:v>60</c:v>
                </c:pt>
              </c:numCache>
            </c:numRef>
          </c:xVal>
          <c:yVal>
            <c:numRef>
              <c:f>'Chart Data'!$F$2:$F$3</c:f>
              <c:numCache>
                <c:formatCode>0</c:formatCode>
                <c:ptCount val="2"/>
                <c:pt idx="0">
                  <c:v>11.1</c:v>
                </c:pt>
                <c:pt idx="1">
                  <c:v>12</c:v>
                </c:pt>
              </c:numCache>
            </c:numRef>
          </c:yVal>
          <c:smooth val="0"/>
        </c:ser>
        <c:ser>
          <c:idx val="3"/>
          <c:order val="3"/>
          <c:tx>
            <c:v>Arcering</c:v>
          </c:tx>
          <c:spPr>
            <a:ln xmlns:a="http://schemas.openxmlformats.org/drawingml/2006/main" w="9525">
              <a:solidFill>
                <a:srgbClr val="9BC7B6"/>
              </a:solidFill>
              <a:prstDash val="solid"/>
            </a:ln>
          </c:spPr>
          <c:marker>
            <c:symbol val="none"/>
          </c:marker>
          <c:xVal>
            <c:numRef>
              <c:f>'Chart Data'!$G$2:$G$3</c:f>
              <c:numCache>
                <c:formatCode>General</c:formatCode>
                <c:ptCount val="2"/>
                <c:pt idx="0">
                  <c:v>0</c:v>
                </c:pt>
                <c:pt idx="1">
                  <c:v>80</c:v>
                </c:pt>
              </c:numCache>
            </c:numRef>
          </c:xVal>
          <c:yVal>
            <c:numRef>
              <c:f>'Chart Data'!$H$2:$H$3</c:f>
              <c:numCache>
                <c:formatCode>0</c:formatCode>
                <c:ptCount val="2"/>
                <c:pt idx="0">
                  <c:v>10.8</c:v>
                </c:pt>
                <c:pt idx="1">
                  <c:v>12</c:v>
                </c:pt>
              </c:numCache>
            </c:numRef>
          </c:yVal>
          <c:smooth val="0"/>
        </c:ser>
        <c:ser>
          <c:idx val="4"/>
          <c:order val="4"/>
          <c:tx>
            <c:v>Arcering</c:v>
          </c:tx>
          <c:spPr>
            <a:ln xmlns:a="http://schemas.openxmlformats.org/drawingml/2006/main" w="9525">
              <a:solidFill>
                <a:srgbClr val="9BC7B6"/>
              </a:solidFill>
              <a:prstDash val="solid"/>
            </a:ln>
          </c:spPr>
          <c:marker>
            <c:symbol val="none"/>
          </c:marker>
          <c:xVal>
            <c:numRef>
              <c:f>'Chart Data'!$I$2:$I$3</c:f>
              <c:numCache>
                <c:formatCode>General</c:formatCode>
                <c:ptCount val="2"/>
                <c:pt idx="0">
                  <c:v>0</c:v>
                </c:pt>
                <c:pt idx="1">
                  <c:v>100</c:v>
                </c:pt>
              </c:numCache>
            </c:numRef>
          </c:xVal>
          <c:yVal>
            <c:numRef>
              <c:f>'Chart Data'!$J$2:$J$3</c:f>
              <c:numCache>
                <c:formatCode>0</c:formatCode>
                <c:ptCount val="2"/>
                <c:pt idx="0">
                  <c:v>10.5</c:v>
                </c:pt>
                <c:pt idx="1">
                  <c:v>12</c:v>
                </c:pt>
              </c:numCache>
            </c:numRef>
          </c:yVal>
          <c:smooth val="0"/>
        </c:ser>
        <c:ser>
          <c:idx val="5"/>
          <c:order val="5"/>
          <c:tx>
            <c:v>Arcering</c:v>
          </c:tx>
          <c:spPr>
            <a:ln xmlns:a="http://schemas.openxmlformats.org/drawingml/2006/main" w="9525">
              <a:solidFill>
                <a:srgbClr val="9BC7B6"/>
              </a:solidFill>
              <a:prstDash val="solid"/>
            </a:ln>
          </c:spPr>
          <c:marker>
            <c:symbol val="none"/>
          </c:marker>
          <c:xVal>
            <c:numRef>
              <c:f>'Chart Data'!$K$2:$K$3</c:f>
              <c:numCache>
                <c:formatCode>General</c:formatCode>
                <c:ptCount val="2"/>
                <c:pt idx="0">
                  <c:v>0</c:v>
                </c:pt>
                <c:pt idx="1">
                  <c:v>120</c:v>
                </c:pt>
              </c:numCache>
            </c:numRef>
          </c:xVal>
          <c:yVal>
            <c:numRef>
              <c:f>'Chart Data'!$L$2:$L$3</c:f>
              <c:numCache>
                <c:formatCode>0</c:formatCode>
                <c:ptCount val="2"/>
                <c:pt idx="0">
                  <c:v>10.2</c:v>
                </c:pt>
                <c:pt idx="1">
                  <c:v>12</c:v>
                </c:pt>
              </c:numCache>
            </c:numRef>
          </c:yVal>
          <c:smooth val="0"/>
        </c:ser>
        <c:ser>
          <c:idx val="6"/>
          <c:order val="6"/>
          <c:tx>
            <c:v>Arcering</c:v>
          </c:tx>
          <c:spPr>
            <a:ln xmlns:a="http://schemas.openxmlformats.org/drawingml/2006/main" w="9525">
              <a:solidFill>
                <a:srgbClr val="9BC7B6"/>
              </a:solidFill>
              <a:prstDash val="solid"/>
            </a:ln>
          </c:spPr>
          <c:marker>
            <c:symbol val="none"/>
          </c:marker>
          <c:xVal>
            <c:numRef>
              <c:f>'Chart Data'!$M$2:$M$3</c:f>
              <c:numCache>
                <c:formatCode>General</c:formatCode>
                <c:ptCount val="2"/>
                <c:pt idx="0">
                  <c:v>0</c:v>
                </c:pt>
                <c:pt idx="1">
                  <c:v>140</c:v>
                </c:pt>
              </c:numCache>
            </c:numRef>
          </c:xVal>
          <c:yVal>
            <c:numRef>
              <c:f>'Chart Data'!$N$2:$N$3</c:f>
              <c:numCache>
                <c:formatCode>0</c:formatCode>
                <c:ptCount val="2"/>
                <c:pt idx="0">
                  <c:v>9.9</c:v>
                </c:pt>
                <c:pt idx="1">
                  <c:v>12</c:v>
                </c:pt>
              </c:numCache>
            </c:numRef>
          </c:yVal>
          <c:smooth val="0"/>
        </c:ser>
        <c:ser>
          <c:idx val="7"/>
          <c:order val="7"/>
          <c:tx>
            <c:v>Arcering</c:v>
          </c:tx>
          <c:spPr>
            <a:ln xmlns:a="http://schemas.openxmlformats.org/drawingml/2006/main" w="9525">
              <a:solidFill>
                <a:srgbClr val="9BC7B6"/>
              </a:solidFill>
              <a:prstDash val="solid"/>
            </a:ln>
          </c:spPr>
          <c:marker>
            <c:symbol val="none"/>
          </c:marker>
          <c:xVal>
            <c:numRef>
              <c:f>'Chart Data'!$O$2:$O$3</c:f>
              <c:numCache>
                <c:formatCode>General</c:formatCode>
                <c:ptCount val="2"/>
                <c:pt idx="0">
                  <c:v>0</c:v>
                </c:pt>
                <c:pt idx="1">
                  <c:v>160</c:v>
                </c:pt>
              </c:numCache>
            </c:numRef>
          </c:xVal>
          <c:yVal>
            <c:numRef>
              <c:f>'Chart Data'!$P$2:$P$3</c:f>
              <c:numCache>
                <c:formatCode>0</c:formatCode>
                <c:ptCount val="2"/>
                <c:pt idx="0">
                  <c:v>9.6</c:v>
                </c:pt>
                <c:pt idx="1">
                  <c:v>12</c:v>
                </c:pt>
              </c:numCache>
            </c:numRef>
          </c:yVal>
          <c:smooth val="0"/>
        </c:ser>
        <c:ser>
          <c:idx val="8"/>
          <c:order val="8"/>
          <c:tx>
            <c:v>Arcering</c:v>
          </c:tx>
          <c:spPr>
            <a:ln xmlns:a="http://schemas.openxmlformats.org/drawingml/2006/main" w="9525">
              <a:solidFill>
                <a:srgbClr val="9BC7B6"/>
              </a:solidFill>
              <a:prstDash val="solid"/>
            </a:ln>
          </c:spPr>
          <c:marker>
            <c:symbol val="none"/>
          </c:marker>
          <c:xVal>
            <c:numRef>
              <c:f>'Chart Data'!$Q$2:$Q$3</c:f>
              <c:numCache>
                <c:formatCode>General</c:formatCode>
                <c:ptCount val="2"/>
                <c:pt idx="0">
                  <c:v>0</c:v>
                </c:pt>
                <c:pt idx="1">
                  <c:v>180</c:v>
                </c:pt>
              </c:numCache>
            </c:numRef>
          </c:xVal>
          <c:yVal>
            <c:numRef>
              <c:f>'Chart Data'!$R$2:$R$3</c:f>
              <c:numCache>
                <c:formatCode>0</c:formatCode>
                <c:ptCount val="2"/>
                <c:pt idx="0">
                  <c:v>9.3</c:v>
                </c:pt>
                <c:pt idx="1">
                  <c:v>12</c:v>
                </c:pt>
              </c:numCache>
            </c:numRef>
          </c:yVal>
          <c:smooth val="0"/>
        </c:ser>
        <c:ser>
          <c:idx val="9"/>
          <c:order val="9"/>
          <c:tx>
            <c:v>Arcering</c:v>
          </c:tx>
          <c:spPr>
            <a:ln xmlns:a="http://schemas.openxmlformats.org/drawingml/2006/main" w="9525">
              <a:solidFill>
                <a:srgbClr val="9BC7B6"/>
              </a:solidFill>
              <a:prstDash val="solid"/>
            </a:ln>
          </c:spPr>
          <c:marker>
            <c:symbol val="none"/>
          </c:marker>
          <c:xVal>
            <c:numRef>
              <c:f>'Chart Data'!$S$2:$S$3</c:f>
              <c:numCache>
                <c:formatCode>General</c:formatCode>
                <c:ptCount val="2"/>
                <c:pt idx="0">
                  <c:v>0</c:v>
                </c:pt>
                <c:pt idx="1">
                  <c:v>200</c:v>
                </c:pt>
              </c:numCache>
            </c:numRef>
          </c:xVal>
          <c:yVal>
            <c:numRef>
              <c:f>'Chart Data'!$T$2:$T$3</c:f>
              <c:numCache>
                <c:formatCode>0</c:formatCode>
                <c:ptCount val="2"/>
                <c:pt idx="0">
                  <c:v>9</c:v>
                </c:pt>
                <c:pt idx="1">
                  <c:v>12</c:v>
                </c:pt>
              </c:numCache>
            </c:numRef>
          </c:yVal>
          <c:smooth val="0"/>
        </c:ser>
        <c:ser>
          <c:idx val="10"/>
          <c:order val="10"/>
          <c:tx>
            <c:v>Arcering</c:v>
          </c:tx>
          <c:spPr>
            <a:ln xmlns:a="http://schemas.openxmlformats.org/drawingml/2006/main" w="9525">
              <a:solidFill>
                <a:srgbClr val="9BC7B6"/>
              </a:solidFill>
              <a:prstDash val="solid"/>
            </a:ln>
          </c:spPr>
          <c:marker>
            <c:symbol val="none"/>
          </c:marker>
          <c:xVal>
            <c:numRef>
              <c:f>'Chart Data'!$U$2:$U$3</c:f>
              <c:numCache>
                <c:formatCode>General</c:formatCode>
                <c:ptCount val="2"/>
                <c:pt idx="0">
                  <c:v>20</c:v>
                </c:pt>
                <c:pt idx="1">
                  <c:v>200</c:v>
                </c:pt>
              </c:numCache>
            </c:numRef>
          </c:xVal>
          <c:yVal>
            <c:numRef>
              <c:f>'Chart Data'!$V$2:$V$3</c:f>
              <c:numCache>
                <c:formatCode>0</c:formatCode>
                <c:ptCount val="2"/>
                <c:pt idx="0">
                  <c:v>9</c:v>
                </c:pt>
                <c:pt idx="1">
                  <c:v>11.7</c:v>
                </c:pt>
              </c:numCache>
            </c:numRef>
          </c:yVal>
          <c:smooth val="0"/>
        </c:ser>
        <c:ser>
          <c:idx val="11"/>
          <c:order val="11"/>
          <c:tx>
            <c:v>Arcering</c:v>
          </c:tx>
          <c:spPr>
            <a:ln xmlns:a="http://schemas.openxmlformats.org/drawingml/2006/main" w="9525">
              <a:solidFill>
                <a:srgbClr val="9BC7B6"/>
              </a:solidFill>
              <a:prstDash val="solid"/>
            </a:ln>
          </c:spPr>
          <c:marker>
            <c:symbol val="none"/>
          </c:marker>
          <c:xVal>
            <c:numRef>
              <c:f>'Chart Data'!$W$2:$W$3</c:f>
              <c:numCache>
                <c:formatCode>General</c:formatCode>
                <c:ptCount val="2"/>
                <c:pt idx="0">
                  <c:v>40</c:v>
                </c:pt>
                <c:pt idx="1">
                  <c:v>200</c:v>
                </c:pt>
              </c:numCache>
            </c:numRef>
          </c:xVal>
          <c:yVal>
            <c:numRef>
              <c:f>'Chart Data'!$X$2:$X$3</c:f>
              <c:numCache>
                <c:formatCode>0</c:formatCode>
                <c:ptCount val="2"/>
                <c:pt idx="0">
                  <c:v>9</c:v>
                </c:pt>
                <c:pt idx="1">
                  <c:v>11.4</c:v>
                </c:pt>
              </c:numCache>
            </c:numRef>
          </c:yVal>
          <c:smooth val="0"/>
        </c:ser>
        <c:ser>
          <c:idx val="12"/>
          <c:order val="12"/>
          <c:tx>
            <c:v>Arcering</c:v>
          </c:tx>
          <c:spPr>
            <a:ln xmlns:a="http://schemas.openxmlformats.org/drawingml/2006/main" w="9525">
              <a:solidFill>
                <a:srgbClr val="9BC7B6"/>
              </a:solidFill>
              <a:prstDash val="solid"/>
            </a:ln>
          </c:spPr>
          <c:marker>
            <c:symbol val="none"/>
          </c:marker>
          <c:xVal>
            <c:numRef>
              <c:f>'Chart Data'!$Y$2:$Y$3</c:f>
              <c:numCache>
                <c:formatCode>General</c:formatCode>
                <c:ptCount val="2"/>
                <c:pt idx="0">
                  <c:v>60</c:v>
                </c:pt>
                <c:pt idx="1">
                  <c:v>200</c:v>
                </c:pt>
              </c:numCache>
            </c:numRef>
          </c:xVal>
          <c:yVal>
            <c:numRef>
              <c:f>'Chart Data'!$Z$2:$Z$3</c:f>
              <c:numCache>
                <c:formatCode>0</c:formatCode>
                <c:ptCount val="2"/>
                <c:pt idx="0">
                  <c:v>9</c:v>
                </c:pt>
                <c:pt idx="1">
                  <c:v>11.1</c:v>
                </c:pt>
              </c:numCache>
            </c:numRef>
          </c:yVal>
          <c:smooth val="0"/>
        </c:ser>
        <c:ser>
          <c:idx val="13"/>
          <c:order val="13"/>
          <c:tx>
            <c:v>Arcering</c:v>
          </c:tx>
          <c:spPr>
            <a:ln xmlns:a="http://schemas.openxmlformats.org/drawingml/2006/main" w="9525">
              <a:solidFill>
                <a:srgbClr val="9BC7B6"/>
              </a:solidFill>
              <a:prstDash val="solid"/>
            </a:ln>
          </c:spPr>
          <c:marker>
            <c:symbol val="none"/>
          </c:marker>
          <c:xVal>
            <c:numRef>
              <c:f>'Chart Data'!$AA$2:$AA$3</c:f>
              <c:numCache>
                <c:formatCode>General</c:formatCode>
                <c:ptCount val="2"/>
                <c:pt idx="0">
                  <c:v>80</c:v>
                </c:pt>
                <c:pt idx="1">
                  <c:v>200</c:v>
                </c:pt>
              </c:numCache>
            </c:numRef>
          </c:xVal>
          <c:yVal>
            <c:numRef>
              <c:f>'Chart Data'!$AB$2:$AB$3</c:f>
              <c:numCache>
                <c:formatCode>0</c:formatCode>
                <c:ptCount val="2"/>
                <c:pt idx="0">
                  <c:v>9</c:v>
                </c:pt>
                <c:pt idx="1">
                  <c:v>10.8</c:v>
                </c:pt>
              </c:numCache>
            </c:numRef>
          </c:yVal>
          <c:smooth val="0"/>
        </c:ser>
        <c:ser>
          <c:idx val="14"/>
          <c:order val="14"/>
          <c:tx>
            <c:v>Arcering</c:v>
          </c:tx>
          <c:spPr>
            <a:ln xmlns:a="http://schemas.openxmlformats.org/drawingml/2006/main" w="9525">
              <a:solidFill>
                <a:srgbClr val="9BC7B6"/>
              </a:solidFill>
              <a:prstDash val="solid"/>
            </a:ln>
          </c:spPr>
          <c:marker>
            <c:symbol val="none"/>
          </c:marker>
          <c:xVal>
            <c:numRef>
              <c:f>'Chart Data'!$AC$2:$AC$3</c:f>
              <c:numCache>
                <c:formatCode>General</c:formatCode>
                <c:ptCount val="2"/>
                <c:pt idx="0">
                  <c:v>100</c:v>
                </c:pt>
                <c:pt idx="1">
                  <c:v>200</c:v>
                </c:pt>
              </c:numCache>
            </c:numRef>
          </c:xVal>
          <c:yVal>
            <c:numRef>
              <c:f>'Chart Data'!$AD$2:$AD$3</c:f>
              <c:numCache>
                <c:formatCode>0</c:formatCode>
                <c:ptCount val="2"/>
                <c:pt idx="0">
                  <c:v>9</c:v>
                </c:pt>
                <c:pt idx="1">
                  <c:v>10.5</c:v>
                </c:pt>
              </c:numCache>
            </c:numRef>
          </c:yVal>
          <c:smooth val="0"/>
        </c:ser>
        <c:ser>
          <c:idx val="15"/>
          <c:order val="15"/>
          <c:tx>
            <c:v>Arcering</c:v>
          </c:tx>
          <c:spPr>
            <a:ln xmlns:a="http://schemas.openxmlformats.org/drawingml/2006/main" w="9525">
              <a:solidFill>
                <a:srgbClr val="9BC7B6"/>
              </a:solidFill>
              <a:prstDash val="solid"/>
            </a:ln>
          </c:spPr>
          <c:marker>
            <c:symbol val="none"/>
          </c:marker>
          <c:xVal>
            <c:numRef>
              <c:f>'Chart Data'!$AE$2:$AE$3</c:f>
              <c:numCache>
                <c:formatCode>General</c:formatCode>
                <c:ptCount val="2"/>
                <c:pt idx="0">
                  <c:v>120</c:v>
                </c:pt>
                <c:pt idx="1">
                  <c:v>200</c:v>
                </c:pt>
              </c:numCache>
            </c:numRef>
          </c:xVal>
          <c:yVal>
            <c:numRef>
              <c:f>'Chart Data'!$AF$2:$AF$3</c:f>
              <c:numCache>
                <c:formatCode>0</c:formatCode>
                <c:ptCount val="2"/>
                <c:pt idx="0">
                  <c:v>9</c:v>
                </c:pt>
                <c:pt idx="1">
                  <c:v>10.2</c:v>
                </c:pt>
              </c:numCache>
            </c:numRef>
          </c:yVal>
          <c:smooth val="0"/>
        </c:ser>
        <c:ser>
          <c:idx val="16"/>
          <c:order val="16"/>
          <c:tx>
            <c:v>Arcering</c:v>
          </c:tx>
          <c:spPr>
            <a:ln xmlns:a="http://schemas.openxmlformats.org/drawingml/2006/main" w="9525">
              <a:solidFill>
                <a:srgbClr val="9BC7B6"/>
              </a:solidFill>
              <a:prstDash val="solid"/>
            </a:ln>
          </c:spPr>
          <c:marker>
            <c:symbol val="none"/>
          </c:marker>
          <c:xVal>
            <c:numRef>
              <c:f>'Chart Data'!$AG$2:$AG$3</c:f>
              <c:numCache>
                <c:formatCode>General</c:formatCode>
                <c:ptCount val="2"/>
                <c:pt idx="0">
                  <c:v>140</c:v>
                </c:pt>
                <c:pt idx="1">
                  <c:v>200</c:v>
                </c:pt>
              </c:numCache>
            </c:numRef>
          </c:xVal>
          <c:yVal>
            <c:numRef>
              <c:f>'Chart Data'!$AH$2:$AH$3</c:f>
              <c:numCache>
                <c:formatCode>0</c:formatCode>
                <c:ptCount val="2"/>
                <c:pt idx="0">
                  <c:v>9</c:v>
                </c:pt>
                <c:pt idx="1">
                  <c:v>9.9</c:v>
                </c:pt>
              </c:numCache>
            </c:numRef>
          </c:yVal>
          <c:smooth val="0"/>
        </c:ser>
        <c:ser>
          <c:idx val="17"/>
          <c:order val="17"/>
          <c:tx>
            <c:v>Arcering</c:v>
          </c:tx>
          <c:spPr>
            <a:ln xmlns:a="http://schemas.openxmlformats.org/drawingml/2006/main" w="9525">
              <a:solidFill>
                <a:srgbClr val="9BC7B6"/>
              </a:solidFill>
              <a:prstDash val="solid"/>
            </a:ln>
          </c:spPr>
          <c:marker>
            <c:symbol val="none"/>
          </c:marker>
          <c:xVal>
            <c:numRef>
              <c:f>'Chart Data'!$AI$2:$AI$3</c:f>
              <c:numCache>
                <c:formatCode>General</c:formatCode>
                <c:ptCount val="2"/>
                <c:pt idx="0">
                  <c:v>160</c:v>
                </c:pt>
                <c:pt idx="1">
                  <c:v>200</c:v>
                </c:pt>
              </c:numCache>
            </c:numRef>
          </c:xVal>
          <c:yVal>
            <c:numRef>
              <c:f>'Chart Data'!$AJ$2:$AJ$3</c:f>
              <c:numCache>
                <c:formatCode>0</c:formatCode>
                <c:ptCount val="2"/>
                <c:pt idx="0">
                  <c:v>9</c:v>
                </c:pt>
                <c:pt idx="1">
                  <c:v>9.6</c:v>
                </c:pt>
              </c:numCache>
            </c:numRef>
          </c:yVal>
          <c:smooth val="0"/>
        </c:ser>
        <c:ser>
          <c:idx val="18"/>
          <c:order val="18"/>
          <c:tx>
            <c:v>Arcering</c:v>
          </c:tx>
          <c:spPr>
            <a:ln xmlns:a="http://schemas.openxmlformats.org/drawingml/2006/main" w="9525">
              <a:solidFill>
                <a:srgbClr val="9BC7B6"/>
              </a:solidFill>
              <a:prstDash val="solid"/>
            </a:ln>
          </c:spPr>
          <c:marker>
            <c:symbol val="none"/>
          </c:marker>
          <c:xVal>
            <c:numRef>
              <c:f>'Chart Data'!$AK$2:$AK$3</c:f>
              <c:numCache>
                <c:formatCode>General</c:formatCode>
                <c:ptCount val="2"/>
                <c:pt idx="0">
                  <c:v>180</c:v>
                </c:pt>
                <c:pt idx="1">
                  <c:v>200</c:v>
                </c:pt>
              </c:numCache>
            </c:numRef>
          </c:xVal>
          <c:yVal>
            <c:numRef>
              <c:f>'Chart Data'!$AL$2:$AL$3</c:f>
              <c:numCache>
                <c:formatCode>0</c:formatCode>
                <c:ptCount val="2"/>
                <c:pt idx="0">
                  <c:v>9</c:v>
                </c:pt>
                <c:pt idx="1">
                  <c:v>9.3</c:v>
                </c:pt>
              </c:numCache>
            </c:numRef>
          </c:yVal>
          <c:smooth val="0"/>
        </c:ser>
        <c:ser>
          <c:idx val="19"/>
          <c:order val="19"/>
          <c:tx>
            <c:v>Arcering</c:v>
          </c:tx>
          <c:spPr>
            <a:ln xmlns:a="http://schemas.openxmlformats.org/drawingml/2006/main" w="9525">
              <a:solidFill>
                <a:srgbClr val="9BC7B6"/>
              </a:solidFill>
              <a:prstDash val="solid"/>
            </a:ln>
          </c:spPr>
          <c:marker>
            <c:symbol val="none"/>
          </c:marker>
          <c:xVal>
            <c:numRef>
              <c:f>'Chart Data'!$AM$2:$AM$3</c:f>
              <c:numCache>
                <c:formatCode>General</c:formatCode>
                <c:ptCount val="2"/>
                <c:pt idx="0">
                  <c:v>200</c:v>
                </c:pt>
                <c:pt idx="1">
                  <c:v>200</c:v>
                </c:pt>
              </c:numCache>
            </c:numRef>
          </c:xVal>
          <c:yVal>
            <c:numRef>
              <c:f>'Chart Data'!$AN$2:$AN$3</c:f>
              <c:numCache>
                <c:formatCode>0</c:formatCode>
                <c:ptCount val="2"/>
                <c:pt idx="0">
                  <c:v>9</c:v>
                </c:pt>
                <c:pt idx="1">
                  <c:v>9</c:v>
                </c:pt>
              </c:numCache>
            </c:numRef>
          </c:yVal>
          <c:smooth val="0"/>
        </c:ser>
        <c:ser>
          <c:idx val="20"/>
          <c:order val="20"/>
          <c:tx>
            <c:v>MK</c:v>
          </c:tx>
          <c:spPr>
            <a:ln xmlns:a="http://schemas.openxmlformats.org/drawingml/2006/main" w="28575">
              <a:solidFill>
                <a:srgbClr val="A94D16"/>
              </a:solidFill>
              <a:prstDash val="solid"/>
            </a:ln>
          </c:spPr>
          <c:marker>
            <c:symbol val="none"/>
          </c:marker>
          <c:xVal>
            <c:numRef>
              <c:f>'Chart Data'!$AO$2:$AO$3</c:f>
              <c:numCache>
                <c:formatCode>General</c:formatCode>
                <c:ptCount val="2"/>
                <c:pt idx="0">
                  <c:v>0</c:v>
                </c:pt>
                <c:pt idx="1">
                  <c:v>250</c:v>
                </c:pt>
              </c:numCache>
            </c:numRef>
          </c:xVal>
          <c:yVal>
            <c:numRef>
              <c:f>'Chart Data'!$AP$2:$AP$3</c:f>
              <c:numCache>
                <c:formatCode>0</c:formatCode>
                <c:ptCount val="2"/>
                <c:pt idx="0">
                  <c:v>4</c:v>
                </c:pt>
                <c:pt idx="1">
                  <c:v>14</c:v>
                </c:pt>
              </c:numCache>
            </c:numRef>
          </c:yVal>
          <c:smooth val="0"/>
        </c:ser>
        <c:ser>
          <c:idx val="21"/>
          <c:order val="21"/>
          <c:tx>
            <c:v>MK</c:v>
          </c:tx>
          <c:spPr>
            <a:ln xmlns:a="http://schemas.openxmlformats.org/drawingml/2006/main" w="0">
              <a:noFill/>
            </a:ln>
          </c:spPr>
          <c:marker>
            <c:symbol val="none"/>
            <c:size val="8"/>
            <c:spPr>
              <a:solidFill xmlns:a="http://schemas.openxmlformats.org/drawingml/2006/main">
                <a:srgbClr val="A94D16"/>
              </a:solidFill>
            </c:spPr>
          </c:marker>
          <c:dLbls>
            <c:dLbl>
              <c:idx val="0"/>
              <c:tx>
                <c:rich>
                  <a:bodyPr xmlns:a="http://schemas.openxmlformats.org/drawingml/2006/main"/>
                  <a:lstStyle xmlns:a="http://schemas.openxmlformats.org/drawingml/2006/main"/>
                  <a:p xmlns:a="http://schemas.openxmlformats.org/drawingml/2006/main">
                    <a:r>
                      <a:rPr sz="1950" b="1">
                        <a:solidFill>
                          <a:srgbClr val="A94D16"/>
                        </a:solidFill>
                        <a:latin typeface="Arial"/>
                        <a:ea typeface="Arial"/>
                        <a:cs typeface="Arial"/>
                      </a:rPr>
                      <a:t>MK</a:t>
                    </a:r>
                  </a:p>
                </c:rich>
              </c:tx>
              <c:txPr>
                <a:bodyPr xmlns:a="http://schemas.openxmlformats.org/drawingml/2006/main" anchorCtr="1"/>
                <a:lstStyle xmlns:a="http://schemas.openxmlformats.org/drawingml/2006/main"/>
                <a:p xmlns:a="http://schemas.openxmlformats.org/drawingml/2006/main">
                  <a:pPr>
                    <a:defRPr sz="1950" b="1">
                      <a:solidFill>
                        <a:srgbClr val="A94D16"/>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Data'!$AQ$2:$AQ$2</c:f>
              <c:numCache>
                <c:formatCode>General</c:formatCode>
                <c:ptCount val="1"/>
                <c:pt idx="0">
                  <c:v>215</c:v>
                </c:pt>
              </c:numCache>
            </c:numRef>
          </c:xVal>
          <c:yVal>
            <c:numRef>
              <c:f>'Chart Data'!$AR$2:$AR$2</c:f>
              <c:numCache>
                <c:formatCode>0</c:formatCode>
                <c:ptCount val="1"/>
                <c:pt idx="0">
                  <c:v>14.16</c:v>
                </c:pt>
              </c:numCache>
            </c:numRef>
          </c:yVal>
          <c:smooth val="0"/>
        </c:ser>
        <c:ser>
          <c:idx val="22"/>
          <c:order val="22"/>
          <c:tx>
            <c:v>GTK</c:v>
          </c:tx>
          <c:spPr>
            <a:ln xmlns:a="http://schemas.openxmlformats.org/drawingml/2006/main" w="28575">
              <a:solidFill>
                <a:srgbClr val="A63735"/>
              </a:solidFill>
              <a:prstDash val="solid"/>
            </a:ln>
          </c:spPr>
          <c:marker>
            <c:symbol val="none"/>
          </c:marker>
          <c:xVal>
            <c:numRef>
              <c:f>'Chart Data'!$AS$2:$AS$242</c:f>
              <c:numCache>
                <c:formatCode>General</c:formatCode>
                <c:ptCount val="241"/>
                <c:pt idx="0">
                  <c:v>10.10205144</c:v>
                </c:pt>
                <c:pt idx="1">
                  <c:v>11</c:v>
                </c:pt>
                <c:pt idx="2">
                  <c:v>12</c:v>
                </c:pt>
                <c:pt idx="3">
                  <c:v>13</c:v>
                </c:pt>
                <c:pt idx="4">
                  <c:v>14</c:v>
                </c:pt>
                <c:pt idx="5">
                  <c:v>15</c:v>
                </c:pt>
                <c:pt idx="6">
                  <c:v>16</c:v>
                </c:pt>
                <c:pt idx="7">
                  <c:v>17</c:v>
                </c:pt>
                <c:pt idx="8">
                  <c:v>18</c:v>
                </c:pt>
                <c:pt idx="9">
                  <c:v>19</c:v>
                </c:pt>
                <c:pt idx="10">
                  <c:v>20</c:v>
                </c:pt>
                <c:pt idx="11">
                  <c:v>21</c:v>
                </c:pt>
                <c:pt idx="12">
                  <c:v>22</c:v>
                </c:pt>
                <c:pt idx="13">
                  <c:v>23</c:v>
                </c:pt>
                <c:pt idx="14">
                  <c:v>24</c:v>
                </c:pt>
                <c:pt idx="15">
                  <c:v>25</c:v>
                </c:pt>
                <c:pt idx="16">
                  <c:v>26</c:v>
                </c:pt>
                <c:pt idx="17">
                  <c:v>27</c:v>
                </c:pt>
                <c:pt idx="18">
                  <c:v>28</c:v>
                </c:pt>
                <c:pt idx="19">
                  <c:v>29</c:v>
                </c:pt>
                <c:pt idx="20">
                  <c:v>30</c:v>
                </c:pt>
                <c:pt idx="21">
                  <c:v>31</c:v>
                </c:pt>
                <c:pt idx="22">
                  <c:v>32</c:v>
                </c:pt>
                <c:pt idx="23">
                  <c:v>33</c:v>
                </c:pt>
                <c:pt idx="24">
                  <c:v>34</c:v>
                </c:pt>
                <c:pt idx="25">
                  <c:v>35</c:v>
                </c:pt>
                <c:pt idx="26">
                  <c:v>36</c:v>
                </c:pt>
                <c:pt idx="27">
                  <c:v>37</c:v>
                </c:pt>
                <c:pt idx="28">
                  <c:v>38</c:v>
                </c:pt>
                <c:pt idx="29">
                  <c:v>39</c:v>
                </c:pt>
                <c:pt idx="30">
                  <c:v>40</c:v>
                </c:pt>
                <c:pt idx="31">
                  <c:v>41</c:v>
                </c:pt>
                <c:pt idx="32">
                  <c:v>42</c:v>
                </c:pt>
                <c:pt idx="33">
                  <c:v>43</c:v>
                </c:pt>
                <c:pt idx="34">
                  <c:v>44</c:v>
                </c:pt>
                <c:pt idx="35">
                  <c:v>45</c:v>
                </c:pt>
                <c:pt idx="36">
                  <c:v>46</c:v>
                </c:pt>
                <c:pt idx="37">
                  <c:v>47</c:v>
                </c:pt>
                <c:pt idx="38">
                  <c:v>48</c:v>
                </c:pt>
                <c:pt idx="39">
                  <c:v>49</c:v>
                </c:pt>
                <c:pt idx="40">
                  <c:v>50</c:v>
                </c:pt>
                <c:pt idx="41">
                  <c:v>51</c:v>
                </c:pt>
                <c:pt idx="42">
                  <c:v>52</c:v>
                </c:pt>
                <c:pt idx="43">
                  <c:v>53</c:v>
                </c:pt>
                <c:pt idx="44">
                  <c:v>54</c:v>
                </c:pt>
                <c:pt idx="45">
                  <c:v>55</c:v>
                </c:pt>
                <c:pt idx="46">
                  <c:v>56</c:v>
                </c:pt>
                <c:pt idx="47">
                  <c:v>57</c:v>
                </c:pt>
                <c:pt idx="48">
                  <c:v>58</c:v>
                </c:pt>
                <c:pt idx="49">
                  <c:v>59</c:v>
                </c:pt>
                <c:pt idx="50">
                  <c:v>60</c:v>
                </c:pt>
                <c:pt idx="51">
                  <c:v>61</c:v>
                </c:pt>
                <c:pt idx="52">
                  <c:v>62</c:v>
                </c:pt>
                <c:pt idx="53">
                  <c:v>63</c:v>
                </c:pt>
                <c:pt idx="54">
                  <c:v>64</c:v>
                </c:pt>
                <c:pt idx="55">
                  <c:v>65</c:v>
                </c:pt>
                <c:pt idx="56">
                  <c:v>66</c:v>
                </c:pt>
                <c:pt idx="57">
                  <c:v>67</c:v>
                </c:pt>
                <c:pt idx="58">
                  <c:v>68</c:v>
                </c:pt>
                <c:pt idx="59">
                  <c:v>69</c:v>
                </c:pt>
                <c:pt idx="60">
                  <c:v>70</c:v>
                </c:pt>
                <c:pt idx="61">
                  <c:v>71</c:v>
                </c:pt>
                <c:pt idx="62">
                  <c:v>72</c:v>
                </c:pt>
                <c:pt idx="63">
                  <c:v>73</c:v>
                </c:pt>
                <c:pt idx="64">
                  <c:v>74</c:v>
                </c:pt>
                <c:pt idx="65">
                  <c:v>75</c:v>
                </c:pt>
                <c:pt idx="66">
                  <c:v>76</c:v>
                </c:pt>
                <c:pt idx="67">
                  <c:v>77</c:v>
                </c:pt>
                <c:pt idx="68">
                  <c:v>78</c:v>
                </c:pt>
                <c:pt idx="69">
                  <c:v>79</c:v>
                </c:pt>
                <c:pt idx="70">
                  <c:v>80</c:v>
                </c:pt>
                <c:pt idx="71">
                  <c:v>81</c:v>
                </c:pt>
                <c:pt idx="72">
                  <c:v>82</c:v>
                </c:pt>
                <c:pt idx="73">
                  <c:v>83</c:v>
                </c:pt>
                <c:pt idx="74">
                  <c:v>84</c:v>
                </c:pt>
                <c:pt idx="75">
                  <c:v>85</c:v>
                </c:pt>
                <c:pt idx="76">
                  <c:v>86</c:v>
                </c:pt>
                <c:pt idx="77">
                  <c:v>87</c:v>
                </c:pt>
                <c:pt idx="78">
                  <c:v>88</c:v>
                </c:pt>
                <c:pt idx="79">
                  <c:v>89</c:v>
                </c:pt>
                <c:pt idx="80">
                  <c:v>90</c:v>
                </c:pt>
                <c:pt idx="81">
                  <c:v>91</c:v>
                </c:pt>
                <c:pt idx="82">
                  <c:v>92</c:v>
                </c:pt>
                <c:pt idx="83">
                  <c:v>93</c:v>
                </c:pt>
                <c:pt idx="84">
                  <c:v>94</c:v>
                </c:pt>
                <c:pt idx="85">
                  <c:v>95</c:v>
                </c:pt>
                <c:pt idx="86">
                  <c:v>96</c:v>
                </c:pt>
                <c:pt idx="87">
                  <c:v>97</c:v>
                </c:pt>
                <c:pt idx="88">
                  <c:v>98</c:v>
                </c:pt>
                <c:pt idx="89">
                  <c:v>99</c:v>
                </c:pt>
                <c:pt idx="90">
                  <c:v>100</c:v>
                </c:pt>
                <c:pt idx="91">
                  <c:v>101</c:v>
                </c:pt>
                <c:pt idx="92">
                  <c:v>102</c:v>
                </c:pt>
                <c:pt idx="93">
                  <c:v>103</c:v>
                </c:pt>
                <c:pt idx="94">
                  <c:v>104</c:v>
                </c:pt>
                <c:pt idx="95">
                  <c:v>105</c:v>
                </c:pt>
                <c:pt idx="96">
                  <c:v>106</c:v>
                </c:pt>
                <c:pt idx="97">
                  <c:v>107</c:v>
                </c:pt>
                <c:pt idx="98">
                  <c:v>108</c:v>
                </c:pt>
                <c:pt idx="99">
                  <c:v>109</c:v>
                </c:pt>
                <c:pt idx="100">
                  <c:v>110</c:v>
                </c:pt>
                <c:pt idx="101">
                  <c:v>111</c:v>
                </c:pt>
                <c:pt idx="102">
                  <c:v>112</c:v>
                </c:pt>
                <c:pt idx="103">
                  <c:v>113</c:v>
                </c:pt>
                <c:pt idx="104">
                  <c:v>114</c:v>
                </c:pt>
                <c:pt idx="105">
                  <c:v>115</c:v>
                </c:pt>
                <c:pt idx="106">
                  <c:v>116</c:v>
                </c:pt>
                <c:pt idx="107">
                  <c:v>117</c:v>
                </c:pt>
                <c:pt idx="108">
                  <c:v>118</c:v>
                </c:pt>
                <c:pt idx="109">
                  <c:v>119</c:v>
                </c:pt>
                <c:pt idx="110">
                  <c:v>120</c:v>
                </c:pt>
                <c:pt idx="111">
                  <c:v>121</c:v>
                </c:pt>
                <c:pt idx="112">
                  <c:v>122</c:v>
                </c:pt>
                <c:pt idx="113">
                  <c:v>123</c:v>
                </c:pt>
                <c:pt idx="114">
                  <c:v>124</c:v>
                </c:pt>
                <c:pt idx="115">
                  <c:v>125</c:v>
                </c:pt>
                <c:pt idx="116">
                  <c:v>126</c:v>
                </c:pt>
                <c:pt idx="117">
                  <c:v>127</c:v>
                </c:pt>
                <c:pt idx="118">
                  <c:v>128</c:v>
                </c:pt>
                <c:pt idx="119">
                  <c:v>129</c:v>
                </c:pt>
                <c:pt idx="120">
                  <c:v>130</c:v>
                </c:pt>
                <c:pt idx="121">
                  <c:v>131</c:v>
                </c:pt>
                <c:pt idx="122">
                  <c:v>132</c:v>
                </c:pt>
                <c:pt idx="123">
                  <c:v>133</c:v>
                </c:pt>
                <c:pt idx="124">
                  <c:v>134</c:v>
                </c:pt>
                <c:pt idx="125">
                  <c:v>135</c:v>
                </c:pt>
                <c:pt idx="126">
                  <c:v>136</c:v>
                </c:pt>
                <c:pt idx="127">
                  <c:v>137</c:v>
                </c:pt>
                <c:pt idx="128">
                  <c:v>138</c:v>
                </c:pt>
                <c:pt idx="129">
                  <c:v>139</c:v>
                </c:pt>
                <c:pt idx="130">
                  <c:v>140</c:v>
                </c:pt>
                <c:pt idx="131">
                  <c:v>141</c:v>
                </c:pt>
                <c:pt idx="132">
                  <c:v>142</c:v>
                </c:pt>
                <c:pt idx="133">
                  <c:v>143</c:v>
                </c:pt>
                <c:pt idx="134">
                  <c:v>144</c:v>
                </c:pt>
                <c:pt idx="135">
                  <c:v>145</c:v>
                </c:pt>
                <c:pt idx="136">
                  <c:v>146</c:v>
                </c:pt>
                <c:pt idx="137">
                  <c:v>147</c:v>
                </c:pt>
                <c:pt idx="138">
                  <c:v>148</c:v>
                </c:pt>
                <c:pt idx="139">
                  <c:v>149</c:v>
                </c:pt>
                <c:pt idx="140">
                  <c:v>150</c:v>
                </c:pt>
                <c:pt idx="141">
                  <c:v>151</c:v>
                </c:pt>
                <c:pt idx="142">
                  <c:v>152</c:v>
                </c:pt>
                <c:pt idx="143">
                  <c:v>153</c:v>
                </c:pt>
                <c:pt idx="144">
                  <c:v>154</c:v>
                </c:pt>
                <c:pt idx="145">
                  <c:v>155</c:v>
                </c:pt>
                <c:pt idx="146">
                  <c:v>156</c:v>
                </c:pt>
                <c:pt idx="147">
                  <c:v>157</c:v>
                </c:pt>
                <c:pt idx="148">
                  <c:v>158</c:v>
                </c:pt>
                <c:pt idx="149">
                  <c:v>159</c:v>
                </c:pt>
                <c:pt idx="150">
                  <c:v>160</c:v>
                </c:pt>
                <c:pt idx="151">
                  <c:v>161</c:v>
                </c:pt>
                <c:pt idx="152">
                  <c:v>162</c:v>
                </c:pt>
                <c:pt idx="153">
                  <c:v>163</c:v>
                </c:pt>
                <c:pt idx="154">
                  <c:v>164</c:v>
                </c:pt>
                <c:pt idx="155">
                  <c:v>165</c:v>
                </c:pt>
                <c:pt idx="156">
                  <c:v>166</c:v>
                </c:pt>
                <c:pt idx="157">
                  <c:v>167</c:v>
                </c:pt>
                <c:pt idx="158">
                  <c:v>168</c:v>
                </c:pt>
                <c:pt idx="159">
                  <c:v>169</c:v>
                </c:pt>
                <c:pt idx="160">
                  <c:v>170</c:v>
                </c:pt>
                <c:pt idx="161">
                  <c:v>171</c:v>
                </c:pt>
                <c:pt idx="162">
                  <c:v>172</c:v>
                </c:pt>
                <c:pt idx="163">
                  <c:v>173</c:v>
                </c:pt>
                <c:pt idx="164">
                  <c:v>174</c:v>
                </c:pt>
                <c:pt idx="165">
                  <c:v>175</c:v>
                </c:pt>
                <c:pt idx="166">
                  <c:v>176</c:v>
                </c:pt>
                <c:pt idx="167">
                  <c:v>177</c:v>
                </c:pt>
                <c:pt idx="168">
                  <c:v>178</c:v>
                </c:pt>
                <c:pt idx="169">
                  <c:v>179</c:v>
                </c:pt>
                <c:pt idx="170">
                  <c:v>180</c:v>
                </c:pt>
                <c:pt idx="171">
                  <c:v>181</c:v>
                </c:pt>
                <c:pt idx="172">
                  <c:v>182</c:v>
                </c:pt>
                <c:pt idx="173">
                  <c:v>183</c:v>
                </c:pt>
                <c:pt idx="174">
                  <c:v>184</c:v>
                </c:pt>
                <c:pt idx="175">
                  <c:v>185</c:v>
                </c:pt>
                <c:pt idx="176">
                  <c:v>186</c:v>
                </c:pt>
                <c:pt idx="177">
                  <c:v>187</c:v>
                </c:pt>
                <c:pt idx="178">
                  <c:v>188</c:v>
                </c:pt>
                <c:pt idx="179">
                  <c:v>189</c:v>
                </c:pt>
                <c:pt idx="180">
                  <c:v>190</c:v>
                </c:pt>
                <c:pt idx="181">
                  <c:v>191</c:v>
                </c:pt>
                <c:pt idx="182">
                  <c:v>192</c:v>
                </c:pt>
                <c:pt idx="183">
                  <c:v>193</c:v>
                </c:pt>
                <c:pt idx="184">
                  <c:v>194</c:v>
                </c:pt>
                <c:pt idx="185">
                  <c:v>195</c:v>
                </c:pt>
                <c:pt idx="186">
                  <c:v>196</c:v>
                </c:pt>
                <c:pt idx="187">
                  <c:v>197</c:v>
                </c:pt>
                <c:pt idx="188">
                  <c:v>198</c:v>
                </c:pt>
                <c:pt idx="189">
                  <c:v>199</c:v>
                </c:pt>
                <c:pt idx="190">
                  <c:v>200</c:v>
                </c:pt>
                <c:pt idx="191">
                  <c:v>201</c:v>
                </c:pt>
                <c:pt idx="192">
                  <c:v>202</c:v>
                </c:pt>
                <c:pt idx="193">
                  <c:v>203</c:v>
                </c:pt>
                <c:pt idx="194">
                  <c:v>204</c:v>
                </c:pt>
                <c:pt idx="195">
                  <c:v>205</c:v>
                </c:pt>
                <c:pt idx="196">
                  <c:v>206</c:v>
                </c:pt>
                <c:pt idx="197">
                  <c:v>207</c:v>
                </c:pt>
                <c:pt idx="198">
                  <c:v>208</c:v>
                </c:pt>
                <c:pt idx="199">
                  <c:v>209</c:v>
                </c:pt>
                <c:pt idx="200">
                  <c:v>210</c:v>
                </c:pt>
                <c:pt idx="201">
                  <c:v>211</c:v>
                </c:pt>
                <c:pt idx="202">
                  <c:v>212</c:v>
                </c:pt>
                <c:pt idx="203">
                  <c:v>213</c:v>
                </c:pt>
                <c:pt idx="204">
                  <c:v>214</c:v>
                </c:pt>
                <c:pt idx="205">
                  <c:v>215</c:v>
                </c:pt>
                <c:pt idx="206">
                  <c:v>216</c:v>
                </c:pt>
                <c:pt idx="207">
                  <c:v>217</c:v>
                </c:pt>
                <c:pt idx="208">
                  <c:v>218</c:v>
                </c:pt>
                <c:pt idx="209">
                  <c:v>219</c:v>
                </c:pt>
                <c:pt idx="210">
                  <c:v>220</c:v>
                </c:pt>
                <c:pt idx="211">
                  <c:v>221</c:v>
                </c:pt>
                <c:pt idx="212">
                  <c:v>222</c:v>
                </c:pt>
                <c:pt idx="213">
                  <c:v>223</c:v>
                </c:pt>
                <c:pt idx="214">
                  <c:v>224</c:v>
                </c:pt>
                <c:pt idx="215">
                  <c:v>225</c:v>
                </c:pt>
                <c:pt idx="216">
                  <c:v>226</c:v>
                </c:pt>
                <c:pt idx="217">
                  <c:v>227</c:v>
                </c:pt>
                <c:pt idx="218">
                  <c:v>228</c:v>
                </c:pt>
                <c:pt idx="219">
                  <c:v>229</c:v>
                </c:pt>
                <c:pt idx="220">
                  <c:v>230</c:v>
                </c:pt>
                <c:pt idx="221">
                  <c:v>231</c:v>
                </c:pt>
                <c:pt idx="222">
                  <c:v>232</c:v>
                </c:pt>
                <c:pt idx="223">
                  <c:v>233</c:v>
                </c:pt>
                <c:pt idx="224">
                  <c:v>234</c:v>
                </c:pt>
                <c:pt idx="225">
                  <c:v>235</c:v>
                </c:pt>
                <c:pt idx="226">
                  <c:v>236</c:v>
                </c:pt>
                <c:pt idx="227">
                  <c:v>237</c:v>
                </c:pt>
                <c:pt idx="228">
                  <c:v>238</c:v>
                </c:pt>
                <c:pt idx="229">
                  <c:v>239</c:v>
                </c:pt>
                <c:pt idx="230">
                  <c:v>240</c:v>
                </c:pt>
                <c:pt idx="231">
                  <c:v>241</c:v>
                </c:pt>
                <c:pt idx="232">
                  <c:v>242</c:v>
                </c:pt>
                <c:pt idx="233">
                  <c:v>243</c:v>
                </c:pt>
                <c:pt idx="234">
                  <c:v>244</c:v>
                </c:pt>
                <c:pt idx="235">
                  <c:v>245</c:v>
                </c:pt>
                <c:pt idx="236">
                  <c:v>246</c:v>
                </c:pt>
                <c:pt idx="237">
                  <c:v>247</c:v>
                </c:pt>
                <c:pt idx="238">
                  <c:v>248</c:v>
                </c:pt>
                <c:pt idx="239">
                  <c:v>249</c:v>
                </c:pt>
                <c:pt idx="240">
                  <c:v>250</c:v>
                </c:pt>
              </c:numCache>
            </c:numRef>
          </c:xVal>
          <c:yVal>
            <c:numRef>
              <c:f>'Chart Data'!$AT$2:$AT$242</c:f>
              <c:numCache>
                <c:formatCode>0</c:formatCode>
                <c:ptCount val="241"/>
                <c:pt idx="0">
                  <c:v>24</c:v>
                </c:pt>
                <c:pt idx="1">
                  <c:v>22.40181818</c:v>
                </c:pt>
                <c:pt idx="2">
                  <c:v>20.90666667</c:v>
                </c:pt>
                <c:pt idx="3">
                  <c:v>19.64461538</c:v>
                </c:pt>
                <c:pt idx="4">
                  <c:v>18.56571429</c:v>
                </c:pt>
                <c:pt idx="5">
                  <c:v>17.63333333</c:v>
                </c:pt>
                <c:pt idx="6">
                  <c:v>16.82</c:v>
                </c:pt>
                <c:pt idx="7">
                  <c:v>16.10470588</c:v>
                </c:pt>
                <c:pt idx="8">
                  <c:v>15.47111111</c:v>
                </c:pt>
                <c:pt idx="9">
                  <c:v>14.90631579</c:v>
                </c:pt>
                <c:pt idx="10">
                  <c:v>14.4</c:v>
                </c:pt>
                <c:pt idx="11">
                  <c:v>13.94380952</c:v>
                </c:pt>
                <c:pt idx="12">
                  <c:v>13.53090909</c:v>
                </c:pt>
                <c:pt idx="13">
                  <c:v>13.15565217</c:v>
                </c:pt>
                <c:pt idx="14">
                  <c:v>12.81333333</c:v>
                </c:pt>
                <c:pt idx="15">
                  <c:v>12.5</c:v>
                </c:pt>
                <c:pt idx="16">
                  <c:v>12.21230769</c:v>
                </c:pt>
                <c:pt idx="17">
                  <c:v>11.94740741</c:v>
                </c:pt>
                <c:pt idx="18">
                  <c:v>11.70285714</c:v>
                </c:pt>
                <c:pt idx="19">
                  <c:v>11.47655172</c:v>
                </c:pt>
                <c:pt idx="20">
                  <c:v>11.26666667</c:v>
                </c:pt>
                <c:pt idx="21">
                  <c:v>11.0716129</c:v>
                </c:pt>
                <c:pt idx="22">
                  <c:v>10.89</c:v>
                </c:pt>
                <c:pt idx="23">
                  <c:v>10.72060606</c:v>
                </c:pt>
                <c:pt idx="24">
                  <c:v>10.56235294</c:v>
                </c:pt>
                <c:pt idx="25">
                  <c:v>10.41428571</c:v>
                </c:pt>
                <c:pt idx="26">
                  <c:v>10.27555556</c:v>
                </c:pt>
                <c:pt idx="27">
                  <c:v>10.14540541</c:v>
                </c:pt>
                <c:pt idx="28">
                  <c:v>10.02315789</c:v>
                </c:pt>
                <c:pt idx="29">
                  <c:v>9.90820513</c:v>
                </c:pt>
                <c:pt idx="30">
                  <c:v>9.8</c:v>
                </c:pt>
                <c:pt idx="31">
                  <c:v>9.69804878</c:v>
                </c:pt>
                <c:pt idx="32">
                  <c:v>9.60190476</c:v>
                </c:pt>
                <c:pt idx="33">
                  <c:v>9.51116279</c:v>
                </c:pt>
                <c:pt idx="34">
                  <c:v>9.42545455</c:v>
                </c:pt>
                <c:pt idx="35">
                  <c:v>9.34444444</c:v>
                </c:pt>
                <c:pt idx="36">
                  <c:v>9.26782609</c:v>
                </c:pt>
                <c:pt idx="37">
                  <c:v>9.19531915</c:v>
                </c:pt>
                <c:pt idx="38">
                  <c:v>9.12666667</c:v>
                </c:pt>
                <c:pt idx="39">
                  <c:v>9.06163265</c:v>
                </c:pt>
                <c:pt idx="40">
                  <c:v>9</c:v>
                </c:pt>
                <c:pt idx="41">
                  <c:v>8.94156863</c:v>
                </c:pt>
                <c:pt idx="42">
                  <c:v>8.88615385</c:v>
                </c:pt>
                <c:pt idx="43">
                  <c:v>8.83358491</c:v>
                </c:pt>
                <c:pt idx="44">
                  <c:v>8.7837037</c:v>
                </c:pt>
                <c:pt idx="45">
                  <c:v>8.73636364</c:v>
                </c:pt>
                <c:pt idx="46">
                  <c:v>8.69142857</c:v>
                </c:pt>
                <c:pt idx="47">
                  <c:v>8.64877193</c:v>
                </c:pt>
                <c:pt idx="48">
                  <c:v>8.60827586</c:v>
                </c:pt>
                <c:pt idx="49">
                  <c:v>8.56983051</c:v>
                </c:pt>
                <c:pt idx="50">
                  <c:v>8.53333333</c:v>
                </c:pt>
                <c:pt idx="51">
                  <c:v>8.49868852</c:v>
                </c:pt>
                <c:pt idx="52">
                  <c:v>8.46580645</c:v>
                </c:pt>
                <c:pt idx="53">
                  <c:v>8.43460317</c:v>
                </c:pt>
                <c:pt idx="54">
                  <c:v>8.405</c:v>
                </c:pt>
                <c:pt idx="55">
                  <c:v>8.37692308</c:v>
                </c:pt>
                <c:pt idx="56">
                  <c:v>8.35030303</c:v>
                </c:pt>
                <c:pt idx="57">
                  <c:v>8.32507463</c:v>
                </c:pt>
                <c:pt idx="58">
                  <c:v>8.30117647</c:v>
                </c:pt>
                <c:pt idx="59">
                  <c:v>8.27855072</c:v>
                </c:pt>
                <c:pt idx="60">
                  <c:v>8.25714286</c:v>
                </c:pt>
                <c:pt idx="61">
                  <c:v>8.23690141</c:v>
                </c:pt>
                <c:pt idx="62">
                  <c:v>8.21777778</c:v>
                </c:pt>
                <c:pt idx="63">
                  <c:v>8.19972603</c:v>
                </c:pt>
                <c:pt idx="64">
                  <c:v>8.1827027</c:v>
                </c:pt>
                <c:pt idx="65">
                  <c:v>8.16666667</c:v>
                </c:pt>
                <c:pt idx="66">
                  <c:v>8.15157895</c:v>
                </c:pt>
                <c:pt idx="67">
                  <c:v>8.1374026</c:v>
                </c:pt>
                <c:pt idx="68">
                  <c:v>8.12410256</c:v>
                </c:pt>
                <c:pt idx="69">
                  <c:v>8.11164557</c:v>
                </c:pt>
                <c:pt idx="70">
                  <c:v>8.1</c:v>
                </c:pt>
                <c:pt idx="71">
                  <c:v>8.0891358</c:v>
                </c:pt>
                <c:pt idx="72">
                  <c:v>8.07902439</c:v>
                </c:pt>
                <c:pt idx="73">
                  <c:v>8.06963855</c:v>
                </c:pt>
                <c:pt idx="74">
                  <c:v>8.06095238</c:v>
                </c:pt>
                <c:pt idx="75">
                  <c:v>8.05294118</c:v>
                </c:pt>
                <c:pt idx="76">
                  <c:v>8.0455814</c:v>
                </c:pt>
                <c:pt idx="77">
                  <c:v>8.03885057</c:v>
                </c:pt>
                <c:pt idx="78">
                  <c:v>8.03272727</c:v>
                </c:pt>
                <c:pt idx="79">
                  <c:v>8.02719101</c:v>
                </c:pt>
                <c:pt idx="80">
                  <c:v>8.02222222</c:v>
                </c:pt>
                <c:pt idx="81">
                  <c:v>8.0178022</c:v>
                </c:pt>
                <c:pt idx="82">
                  <c:v>8.01391304</c:v>
                </c:pt>
                <c:pt idx="83">
                  <c:v>8.01053763</c:v>
                </c:pt>
                <c:pt idx="84">
                  <c:v>8.00765957</c:v>
                </c:pt>
                <c:pt idx="85">
                  <c:v>8.00526316</c:v>
                </c:pt>
                <c:pt idx="86">
                  <c:v>8.00333333</c:v>
                </c:pt>
                <c:pt idx="87">
                  <c:v>8.00185567</c:v>
                </c:pt>
                <c:pt idx="88">
                  <c:v>8.00081633</c:v>
                </c:pt>
                <c:pt idx="89">
                  <c:v>8.00020202</c:v>
                </c:pt>
                <c:pt idx="90">
                  <c:v>8</c:v>
                </c:pt>
                <c:pt idx="91">
                  <c:v>8.00019802</c:v>
                </c:pt>
                <c:pt idx="92">
                  <c:v>8.00078431</c:v>
                </c:pt>
                <c:pt idx="93">
                  <c:v>8.00174757</c:v>
                </c:pt>
                <c:pt idx="94">
                  <c:v>8.00307692</c:v>
                </c:pt>
                <c:pt idx="95">
                  <c:v>8.0047619</c:v>
                </c:pt>
                <c:pt idx="96">
                  <c:v>8.00679245</c:v>
                </c:pt>
                <c:pt idx="97">
                  <c:v>8.00915888</c:v>
                </c:pt>
                <c:pt idx="98">
                  <c:v>8.01185185</c:v>
                </c:pt>
                <c:pt idx="99">
                  <c:v>8.01486239</c:v>
                </c:pt>
                <c:pt idx="100">
                  <c:v>8.01818182</c:v>
                </c:pt>
                <c:pt idx="101">
                  <c:v>8.0218018</c:v>
                </c:pt>
                <c:pt idx="102">
                  <c:v>8.02571429</c:v>
                </c:pt>
                <c:pt idx="103">
                  <c:v>8.0299115</c:v>
                </c:pt>
                <c:pt idx="104">
                  <c:v>8.03438596</c:v>
                </c:pt>
                <c:pt idx="105">
                  <c:v>8.03913043</c:v>
                </c:pt>
                <c:pt idx="106">
                  <c:v>8.04413793</c:v>
                </c:pt>
                <c:pt idx="107">
                  <c:v>8.04940171</c:v>
                </c:pt>
                <c:pt idx="108">
                  <c:v>8.05491525</c:v>
                </c:pt>
                <c:pt idx="109">
                  <c:v>8.06067227</c:v>
                </c:pt>
                <c:pt idx="110">
                  <c:v>8.06666667</c:v>
                </c:pt>
                <c:pt idx="111">
                  <c:v>8.07289256</c:v>
                </c:pt>
                <c:pt idx="112">
                  <c:v>8.07934426</c:v>
                </c:pt>
                <c:pt idx="113">
                  <c:v>8.08601626</c:v>
                </c:pt>
                <c:pt idx="114">
                  <c:v>8.09290323</c:v>
                </c:pt>
                <c:pt idx="115">
                  <c:v>8.1</c:v>
                </c:pt>
                <c:pt idx="116">
                  <c:v>8.10730159</c:v>
                </c:pt>
                <c:pt idx="117">
                  <c:v>8.11480315</c:v>
                </c:pt>
                <c:pt idx="118">
                  <c:v>8.1225</c:v>
                </c:pt>
                <c:pt idx="119">
                  <c:v>8.1303876</c:v>
                </c:pt>
                <c:pt idx="120">
                  <c:v>8.13846154</c:v>
                </c:pt>
                <c:pt idx="121">
                  <c:v>8.14671756</c:v>
                </c:pt>
                <c:pt idx="122">
                  <c:v>8.15515152</c:v>
                </c:pt>
                <c:pt idx="123">
                  <c:v>8.1637594</c:v>
                </c:pt>
                <c:pt idx="124">
                  <c:v>8.17253731</c:v>
                </c:pt>
                <c:pt idx="125">
                  <c:v>8.18148148</c:v>
                </c:pt>
                <c:pt idx="126">
                  <c:v>8.19058824</c:v>
                </c:pt>
                <c:pt idx="127">
                  <c:v>8.19985401</c:v>
                </c:pt>
                <c:pt idx="128">
                  <c:v>8.20927536</c:v>
                </c:pt>
                <c:pt idx="129">
                  <c:v>8.21884892</c:v>
                </c:pt>
                <c:pt idx="130">
                  <c:v>8.22857143</c:v>
                </c:pt>
                <c:pt idx="131">
                  <c:v>8.23843972</c:v>
                </c:pt>
                <c:pt idx="132">
                  <c:v>8.2484507</c:v>
                </c:pt>
                <c:pt idx="133">
                  <c:v>8.2586014</c:v>
                </c:pt>
                <c:pt idx="134">
                  <c:v>8.26888889</c:v>
                </c:pt>
                <c:pt idx="135">
                  <c:v>8.27931034</c:v>
                </c:pt>
                <c:pt idx="136">
                  <c:v>8.28986301</c:v>
                </c:pt>
                <c:pt idx="137">
                  <c:v>8.30054422</c:v>
                </c:pt>
                <c:pt idx="138">
                  <c:v>8.31135135</c:v>
                </c:pt>
                <c:pt idx="139">
                  <c:v>8.32228188</c:v>
                </c:pt>
                <c:pt idx="140">
                  <c:v>8.33333333</c:v>
                </c:pt>
                <c:pt idx="141">
                  <c:v>8.34450331</c:v>
                </c:pt>
                <c:pt idx="142">
                  <c:v>8.35578947</c:v>
                </c:pt>
                <c:pt idx="143">
                  <c:v>8.36718954</c:v>
                </c:pt>
                <c:pt idx="144">
                  <c:v>8.3787013</c:v>
                </c:pt>
                <c:pt idx="145">
                  <c:v>8.39032258</c:v>
                </c:pt>
                <c:pt idx="146">
                  <c:v>8.40205128</c:v>
                </c:pt>
                <c:pt idx="147">
                  <c:v>8.41388535</c:v>
                </c:pt>
                <c:pt idx="148">
                  <c:v>8.42582278</c:v>
                </c:pt>
                <c:pt idx="149">
                  <c:v>8.43786164</c:v>
                </c:pt>
                <c:pt idx="150">
                  <c:v>8.45</c:v>
                </c:pt>
                <c:pt idx="151">
                  <c:v>8.46223602</c:v>
                </c:pt>
                <c:pt idx="152">
                  <c:v>8.4745679</c:v>
                </c:pt>
                <c:pt idx="153">
                  <c:v>8.48699387</c:v>
                </c:pt>
                <c:pt idx="154">
                  <c:v>8.4995122</c:v>
                </c:pt>
                <c:pt idx="155">
                  <c:v>8.51212121</c:v>
                </c:pt>
                <c:pt idx="156">
                  <c:v>8.52481928</c:v>
                </c:pt>
                <c:pt idx="157">
                  <c:v>8.53760479</c:v>
                </c:pt>
                <c:pt idx="158">
                  <c:v>8.55047619</c:v>
                </c:pt>
                <c:pt idx="159">
                  <c:v>8.56343195</c:v>
                </c:pt>
                <c:pt idx="160">
                  <c:v>8.57647059</c:v>
                </c:pt>
                <c:pt idx="161">
                  <c:v>8.58959064</c:v>
                </c:pt>
                <c:pt idx="162">
                  <c:v>8.6027907</c:v>
                </c:pt>
                <c:pt idx="163">
                  <c:v>8.61606936</c:v>
                </c:pt>
                <c:pt idx="164">
                  <c:v>8.62942529</c:v>
                </c:pt>
                <c:pt idx="165">
                  <c:v>8.64285714</c:v>
                </c:pt>
                <c:pt idx="166">
                  <c:v>8.65636364</c:v>
                </c:pt>
                <c:pt idx="167">
                  <c:v>8.6699435</c:v>
                </c:pt>
                <c:pt idx="168">
                  <c:v>8.68359551</c:v>
                </c:pt>
                <c:pt idx="169">
                  <c:v>8.69731844</c:v>
                </c:pt>
                <c:pt idx="170">
                  <c:v>8.71111111</c:v>
                </c:pt>
                <c:pt idx="171">
                  <c:v>8.72497238</c:v>
                </c:pt>
                <c:pt idx="172">
                  <c:v>8.7389011</c:v>
                </c:pt>
                <c:pt idx="173">
                  <c:v>8.75289617</c:v>
                </c:pt>
                <c:pt idx="174">
                  <c:v>8.76695652</c:v>
                </c:pt>
                <c:pt idx="175">
                  <c:v>8.78108108</c:v>
                </c:pt>
                <c:pt idx="176">
                  <c:v>8.79526882</c:v>
                </c:pt>
                <c:pt idx="177">
                  <c:v>8.80951872</c:v>
                </c:pt>
                <c:pt idx="178">
                  <c:v>8.82382979</c:v>
                </c:pt>
                <c:pt idx="179">
                  <c:v>8.83820106</c:v>
                </c:pt>
                <c:pt idx="180">
                  <c:v>8.85263158</c:v>
                </c:pt>
                <c:pt idx="181">
                  <c:v>8.86712042</c:v>
                </c:pt>
                <c:pt idx="182">
                  <c:v>8.88166667</c:v>
                </c:pt>
                <c:pt idx="183">
                  <c:v>8.89626943</c:v>
                </c:pt>
                <c:pt idx="184">
                  <c:v>8.91092784</c:v>
                </c:pt>
                <c:pt idx="185">
                  <c:v>8.92564103</c:v>
                </c:pt>
                <c:pt idx="186">
                  <c:v>8.94040816</c:v>
                </c:pt>
                <c:pt idx="187">
                  <c:v>8.95522843</c:v>
                </c:pt>
                <c:pt idx="188">
                  <c:v>8.97010101</c:v>
                </c:pt>
                <c:pt idx="189">
                  <c:v>8.98502513</c:v>
                </c:pt>
                <c:pt idx="190">
                  <c:v>9</c:v>
                </c:pt>
                <c:pt idx="191">
                  <c:v>9.01502488</c:v>
                </c:pt>
                <c:pt idx="192">
                  <c:v>9.03009901</c:v>
                </c:pt>
                <c:pt idx="193">
                  <c:v>9.04522167</c:v>
                </c:pt>
                <c:pt idx="194">
                  <c:v>9.06039216</c:v>
                </c:pt>
                <c:pt idx="195">
                  <c:v>9.07560976</c:v>
                </c:pt>
                <c:pt idx="196">
                  <c:v>9.09087379</c:v>
                </c:pt>
                <c:pt idx="197">
                  <c:v>9.10618357</c:v>
                </c:pt>
                <c:pt idx="198">
                  <c:v>9.12153846</c:v>
                </c:pt>
                <c:pt idx="199">
                  <c:v>9.1369378</c:v>
                </c:pt>
                <c:pt idx="200">
                  <c:v>9.15238095</c:v>
                </c:pt>
                <c:pt idx="201">
                  <c:v>9.1678673</c:v>
                </c:pt>
                <c:pt idx="202">
                  <c:v>9.18339623</c:v>
                </c:pt>
                <c:pt idx="203">
                  <c:v>9.19896714</c:v>
                </c:pt>
                <c:pt idx="204">
                  <c:v>9.21457944</c:v>
                </c:pt>
                <c:pt idx="205">
                  <c:v>9.23023256</c:v>
                </c:pt>
                <c:pt idx="206">
                  <c:v>9.24592593</c:v>
                </c:pt>
                <c:pt idx="207">
                  <c:v>9.26165899</c:v>
                </c:pt>
                <c:pt idx="208">
                  <c:v>9.27743119</c:v>
                </c:pt>
                <c:pt idx="209">
                  <c:v>9.29324201</c:v>
                </c:pt>
                <c:pt idx="210">
                  <c:v>9.30909091</c:v>
                </c:pt>
                <c:pt idx="211">
                  <c:v>9.32497738</c:v>
                </c:pt>
                <c:pt idx="212">
                  <c:v>9.3409009</c:v>
                </c:pt>
                <c:pt idx="213">
                  <c:v>9.35686099</c:v>
                </c:pt>
                <c:pt idx="214">
                  <c:v>9.37285714</c:v>
                </c:pt>
                <c:pt idx="215">
                  <c:v>9.38888889</c:v>
                </c:pt>
                <c:pt idx="216">
                  <c:v>9.40495575</c:v>
                </c:pt>
                <c:pt idx="217">
                  <c:v>9.42105727</c:v>
                </c:pt>
                <c:pt idx="218">
                  <c:v>9.43719298</c:v>
                </c:pt>
                <c:pt idx="219">
                  <c:v>9.45336245</c:v>
                </c:pt>
                <c:pt idx="220">
                  <c:v>9.46956522</c:v>
                </c:pt>
                <c:pt idx="221">
                  <c:v>9.48580087</c:v>
                </c:pt>
                <c:pt idx="222">
                  <c:v>9.50206897</c:v>
                </c:pt>
                <c:pt idx="223">
                  <c:v>9.5183691</c:v>
                </c:pt>
                <c:pt idx="224">
                  <c:v>9.53470085</c:v>
                </c:pt>
                <c:pt idx="225">
                  <c:v>9.55106383</c:v>
                </c:pt>
                <c:pt idx="226">
                  <c:v>9.56745763</c:v>
                </c:pt>
                <c:pt idx="227">
                  <c:v>9.58388186</c:v>
                </c:pt>
                <c:pt idx="228">
                  <c:v>9.60033613</c:v>
                </c:pt>
                <c:pt idx="229">
                  <c:v>9.61682008</c:v>
                </c:pt>
                <c:pt idx="230">
                  <c:v>9.63333333</c:v>
                </c:pt>
                <c:pt idx="231">
                  <c:v>9.64987552</c:v>
                </c:pt>
                <c:pt idx="232">
                  <c:v>9.66644628</c:v>
                </c:pt>
                <c:pt idx="233">
                  <c:v>9.68304527</c:v>
                </c:pt>
                <c:pt idx="234">
                  <c:v>9.69967213</c:v>
                </c:pt>
                <c:pt idx="235">
                  <c:v>9.71632653</c:v>
                </c:pt>
                <c:pt idx="236">
                  <c:v>9.73300813</c:v>
                </c:pt>
                <c:pt idx="237">
                  <c:v>9.7497166</c:v>
                </c:pt>
                <c:pt idx="238">
                  <c:v>9.76645161</c:v>
                </c:pt>
                <c:pt idx="239">
                  <c:v>9.78321285</c:v>
                </c:pt>
                <c:pt idx="240">
                  <c:v>9.8</c:v>
                </c:pt>
              </c:numCache>
            </c:numRef>
          </c:yVal>
          <c:smooth val="0"/>
        </c:ser>
        <c:ser>
          <c:idx val="23"/>
          <c:order val="23"/>
          <c:tx>
            <c:v>GTK</c:v>
          </c:tx>
          <c:spPr>
            <a:ln xmlns:a="http://schemas.openxmlformats.org/drawingml/2006/main" w="0">
              <a:noFill/>
            </a:ln>
          </c:spPr>
          <c:marker>
            <c:symbol val="none"/>
            <c:size val="8"/>
            <c:spPr>
              <a:solidFill xmlns:a="http://schemas.openxmlformats.org/drawingml/2006/main">
                <a:srgbClr val="A63735"/>
              </a:solidFill>
            </c:spPr>
          </c:marker>
          <c:dLbls>
            <c:dLbl>
              <c:idx val="0"/>
              <c:tx>
                <c:rich>
                  <a:bodyPr xmlns:a="http://schemas.openxmlformats.org/drawingml/2006/main"/>
                  <a:lstStyle xmlns:a="http://schemas.openxmlformats.org/drawingml/2006/main"/>
                  <a:p xmlns:a="http://schemas.openxmlformats.org/drawingml/2006/main">
                    <a:r>
                      <a:rPr sz="1950" b="1">
                        <a:solidFill>
                          <a:srgbClr val="A63735"/>
                        </a:solidFill>
                        <a:latin typeface="Arial"/>
                        <a:ea typeface="Arial"/>
                        <a:cs typeface="Arial"/>
                      </a:rPr>
                      <a:t>GTK</a:t>
                    </a:r>
                  </a:p>
                </c:rich>
              </c:tx>
              <c:txPr>
                <a:bodyPr xmlns:a="http://schemas.openxmlformats.org/drawingml/2006/main" anchorCtr="1"/>
                <a:lstStyle xmlns:a="http://schemas.openxmlformats.org/drawingml/2006/main"/>
                <a:p xmlns:a="http://schemas.openxmlformats.org/drawingml/2006/main">
                  <a:pPr>
                    <a:defRPr sz="1950" b="1">
                      <a:solidFill>
                        <a:srgbClr val="A63735"/>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Data'!$AU$2:$AU$2</c:f>
              <c:numCache>
                <c:formatCode>General</c:formatCode>
                <c:ptCount val="1"/>
                <c:pt idx="0">
                  <c:v>215</c:v>
                </c:pt>
              </c:numCache>
            </c:numRef>
          </c:xVal>
          <c:yVal>
            <c:numRef>
              <c:f>'Chart Data'!$AV$2:$AV$2</c:f>
              <c:numCache>
                <c:formatCode>0</c:formatCode>
                <c:ptCount val="1"/>
                <c:pt idx="0">
                  <c:v>8.15023256</c:v>
                </c:pt>
              </c:numCache>
            </c:numRef>
          </c:yVal>
          <c:smooth val="0"/>
        </c:ser>
        <c:ser>
          <c:idx val="24"/>
          <c:order val="24"/>
          <c:tx>
            <c:v>P = GO = MO</c:v>
          </c:tx>
          <c:spPr>
            <a:ln xmlns:a="http://schemas.openxmlformats.org/drawingml/2006/main" w="28575">
              <a:solidFill>
                <a:srgbClr val="17658A"/>
              </a:solidFill>
              <a:prstDash val="solid"/>
            </a:ln>
          </c:spPr>
          <c:marker>
            <c:symbol val="none"/>
          </c:marker>
          <c:xVal>
            <c:numRef>
              <c:f>'Chart Data'!$AW$2:$AW$3</c:f>
              <c:numCache>
                <c:formatCode>General</c:formatCode>
                <c:ptCount val="2"/>
                <c:pt idx="0">
                  <c:v>0</c:v>
                </c:pt>
                <c:pt idx="1">
                  <c:v>250</c:v>
                </c:pt>
              </c:numCache>
            </c:numRef>
          </c:xVal>
          <c:yVal>
            <c:numRef>
              <c:f>'Chart Data'!$AX$2:$AX$3</c:f>
              <c:numCache>
                <c:formatCode>0</c:formatCode>
                <c:ptCount val="2"/>
                <c:pt idx="0">
                  <c:v>12</c:v>
                </c:pt>
                <c:pt idx="1">
                  <c:v>12</c:v>
                </c:pt>
              </c:numCache>
            </c:numRef>
          </c:yVal>
          <c:smooth val="0"/>
        </c:ser>
        <c:ser>
          <c:idx val="25"/>
          <c:order val="25"/>
          <c:tx>
            <c:v>P = GO = MO</c:v>
          </c:tx>
          <c:spPr>
            <a:ln xmlns:a="http://schemas.openxmlformats.org/drawingml/2006/main" w="0">
              <a:noFill/>
            </a:ln>
          </c:spPr>
          <c:marker>
            <c:symbol val="none"/>
            <c:size val="8"/>
            <c:spPr>
              <a:solidFill xmlns:a="http://schemas.openxmlformats.org/drawingml/2006/main">
                <a:srgbClr val="17658A"/>
              </a:solidFill>
            </c:spPr>
          </c:marker>
          <c:dLbls>
            <c:dLbl>
              <c:idx val="0"/>
              <c:tx>
                <c:rich>
                  <a:bodyPr xmlns:a="http://schemas.openxmlformats.org/drawingml/2006/main"/>
                  <a:lstStyle xmlns:a="http://schemas.openxmlformats.org/drawingml/2006/main"/>
                  <a:p xmlns:a="http://schemas.openxmlformats.org/drawingml/2006/main">
                    <a:r>
                      <a:rPr sz="1950" b="1">
                        <a:solidFill>
                          <a:srgbClr val="17658A"/>
                        </a:solidFill>
                        <a:latin typeface="Arial"/>
                        <a:ea typeface="Arial"/>
                        <a:cs typeface="Arial"/>
                      </a:rPr>
                      <a:t>P = GO = MO</a:t>
                    </a:r>
                  </a:p>
                </c:rich>
              </c:tx>
              <c:txPr>
                <a:bodyPr xmlns:a="http://schemas.openxmlformats.org/drawingml/2006/main" anchorCtr="1"/>
                <a:lstStyle xmlns:a="http://schemas.openxmlformats.org/drawingml/2006/main"/>
                <a:p xmlns:a="http://schemas.openxmlformats.org/drawingml/2006/main">
                  <a:pPr>
                    <a:defRPr sz="1950" b="1">
                      <a:solidFill>
                        <a:srgbClr val="17658A"/>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Data'!$AY$2:$AY$2</c:f>
              <c:numCache>
                <c:formatCode>General</c:formatCode>
                <c:ptCount val="1"/>
                <c:pt idx="0">
                  <c:v>105</c:v>
                </c:pt>
              </c:numCache>
            </c:numRef>
          </c:xVal>
          <c:yVal>
            <c:numRef>
              <c:f>'Chart Data'!$AZ$2:$AZ$2</c:f>
              <c:numCache>
                <c:formatCode>0</c:formatCode>
                <c:ptCount val="1"/>
                <c:pt idx="0">
                  <c:v>13.32</c:v>
                </c:pt>
              </c:numCache>
            </c:numRef>
          </c:yVal>
          <c:smooth val="0"/>
        </c:ser>
        <c:ser>
          <c:idx val="26"/>
          <c:order val="26"/>
          <c:tx>
            <c:v>q gekozen</c:v>
          </c:tx>
          <c:spPr>
            <a:ln xmlns:a="http://schemas.openxmlformats.org/drawingml/2006/main" w="19050">
              <a:solidFill>
                <a:srgbClr val="445B6B"/>
              </a:solidFill>
              <a:prstDash val="dash"/>
            </a:ln>
          </c:spPr>
          <c:marker>
            <c:symbol val="none"/>
          </c:marker>
          <c:xVal>
            <c:numRef>
              <c:f>'Chart Data'!$BA$2:$BA$3</c:f>
              <c:numCache>
                <c:formatCode>General</c:formatCode>
                <c:ptCount val="2"/>
                <c:pt idx="0">
                  <c:v>200</c:v>
                </c:pt>
                <c:pt idx="1">
                  <c:v>200</c:v>
                </c:pt>
              </c:numCache>
            </c:numRef>
          </c:xVal>
          <c:yVal>
            <c:numRef>
              <c:f>'Chart Data'!$BB$2:$BB$3</c:f>
              <c:numCache>
                <c:formatCode>0</c:formatCode>
                <c:ptCount val="2"/>
                <c:pt idx="0">
                  <c:v>0</c:v>
                </c:pt>
                <c:pt idx="1">
                  <c:v>12</c:v>
                </c:pt>
              </c:numCache>
            </c:numRef>
          </c:yVal>
          <c:smooth val="0"/>
        </c:ser>
        <c:ser>
          <c:idx val="27"/>
          <c:order val="27"/>
          <c:tx>
            <c:v>q = 200</c:v>
          </c:tx>
          <c:spPr>
            <a:ln xmlns:a="http://schemas.openxmlformats.org/drawingml/2006/main" w="0">
              <a:noFill/>
            </a:ln>
          </c:spPr>
          <c:marker>
            <c:symbol val="none"/>
            <c:size val="8"/>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1950" b="1">
                        <a:solidFill>
                          <a:srgbClr val="183247"/>
                        </a:solidFill>
                        <a:latin typeface="Arial"/>
                        <a:ea typeface="Arial"/>
                        <a:cs typeface="Arial"/>
                      </a:rPr>
                      <a:t>q = 200</a:t>
                    </a:r>
                  </a:p>
                </c:rich>
              </c:tx>
              <c:txPr>
                <a:bodyPr xmlns:a="http://schemas.openxmlformats.org/drawingml/2006/main" anchorCtr="1"/>
                <a:lstStyle xmlns:a="http://schemas.openxmlformats.org/drawingml/2006/main"/>
                <a:p xmlns:a="http://schemas.openxmlformats.org/drawingml/2006/main">
                  <a:pPr>
                    <a:defRPr sz="1950" b="1">
                      <a:solidFill>
                        <a:srgbClr val="183247"/>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Data'!$BC$2:$BC$2</c:f>
              <c:numCache>
                <c:formatCode>General</c:formatCode>
                <c:ptCount val="1"/>
                <c:pt idx="0">
                  <c:v>200</c:v>
                </c:pt>
              </c:numCache>
            </c:numRef>
          </c:xVal>
          <c:yVal>
            <c:numRef>
              <c:f>'Chart Data'!$BD$2:$BD$2</c:f>
              <c:numCache>
                <c:formatCode>0</c:formatCode>
                <c:ptCount val="1"/>
                <c:pt idx="0">
                  <c:v>1.32</c:v>
                </c:pt>
              </c:numCache>
            </c:numRef>
          </c:yVal>
          <c:smooth val="0"/>
        </c:ser>
        <c:ser>
          <c:idx val="28"/>
          <c:order val="28"/>
          <c:tx>
            <c:v>€ 600</c:v>
          </c:tx>
          <c:spPr>
            <a:ln xmlns:a="http://schemas.openxmlformats.org/drawingml/2006/main" w="0">
              <a:noFill/>
            </a:ln>
          </c:spPr>
          <c:marker>
            <c:symbol val="none"/>
            <c:size val="8"/>
            <c:spPr>
              <a:solidFill xmlns:a="http://schemas.openxmlformats.org/drawingml/2006/main">
                <a:srgbClr val="20665B"/>
              </a:solidFill>
            </c:spPr>
          </c:marker>
          <c:dLbls>
            <c:dLbl>
              <c:idx val="0"/>
              <c:tx>
                <c:rich>
                  <a:bodyPr xmlns:a="http://schemas.openxmlformats.org/drawingml/2006/main"/>
                  <a:lstStyle xmlns:a="http://schemas.openxmlformats.org/drawingml/2006/main"/>
                  <a:p xmlns:a="http://schemas.openxmlformats.org/drawingml/2006/main">
                    <a:r>
                      <a:rPr sz="1950" b="1">
                        <a:solidFill>
                          <a:srgbClr val="20665B"/>
                        </a:solidFill>
                        <a:latin typeface="Arial"/>
                        <a:ea typeface="Arial"/>
                        <a:cs typeface="Arial"/>
                      </a:rPr>
                      <a:t>€ 600</a:t>
                    </a:r>
                  </a:p>
                </c:rich>
              </c:tx>
              <c:txPr>
                <a:bodyPr xmlns:a="http://schemas.openxmlformats.org/drawingml/2006/main" anchorCtr="1"/>
                <a:lstStyle xmlns:a="http://schemas.openxmlformats.org/drawingml/2006/main"/>
                <a:p xmlns:a="http://schemas.openxmlformats.org/drawingml/2006/main">
                  <a:pPr>
                    <a:defRPr sz="1950" b="1">
                      <a:solidFill>
                        <a:srgbClr val="20665B"/>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Data'!$BE$2:$BE$2</c:f>
              <c:numCache>
                <c:formatCode>General</c:formatCode>
                <c:ptCount val="1"/>
                <c:pt idx="0">
                  <c:v>90</c:v>
                </c:pt>
              </c:numCache>
            </c:numRef>
          </c:xVal>
          <c:yVal>
            <c:numRef>
              <c:f>'Chart Data'!$BF$2:$BF$2</c:f>
              <c:numCache>
                <c:formatCode>0</c:formatCode>
                <c:ptCount val="1"/>
                <c:pt idx="0">
                  <c:v>10.5</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24"/>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P, MK en GTK (€ per kg)</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50112"/>
        <c:majorUnit val="4"/>
      </c:valAx>
      <c:valAx>
        <c:axId val="48650112"/>
        <c:scaling>
          <c:orientation val="minMax"/>
          <c:max val="25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(kg per week)</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72768"/>
        <c:majorUnit val="5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3.2.4 Gemengde opgaven">
            <a:extLst xmlns:a="http://schemas.openxmlformats.org/drawingml/2006/main">
              <a:ext uri="{FF2B5EF4-FFF2-40B4-BE49-F238E27FC236}">
                <a16:creationId xmlns:a16="http://schemas.microsoft.com/office/drawing/2014/main" id="{47E92938-8FCB-46DE-B8A0-84449BA1E456}"/>
              </a:ext>
            </a:extLst>
          </p:cNvPr>
          <p:cNvSpPr>
            <a:spLocks xmlns:a="http://schemas.openxmlformats.org/drawingml/2006/main" noGrp="1"/>
          </p:cNvSpPr>
          <p:nvPr/>
        </p:nvSpPr>
        <p:spPr>
          <a:xfrm xmlns:a="http://schemas.openxmlformats.org/drawingml/2006/main">
            <a:off x="571500" y="38100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Deze les: §3.2.4 Gemengde opgaven</a:t>
            </a:r>
          </a:p>
        </p:txBody>
      </p:sp>
      <p:sp>
        <p:nvSpPr>
          <p:cNvPr id="2" name="">
            <a:extLst xmlns:a="http://schemas.openxmlformats.org/drawingml/2006/main">
              <a:ext uri="{FF2B5EF4-FFF2-40B4-BE49-F238E27FC236}">
                <a16:creationId xmlns:a16="http://schemas.microsoft.com/office/drawing/2014/main" id="{786C5FFB-1421-43F9-A381-E9396AAE57C9}"/>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4 Gemengde opgaven">
            <a:extLst xmlns:a="http://schemas.openxmlformats.org/drawingml/2006/main">
              <a:ext uri="{FF2B5EF4-FFF2-40B4-BE49-F238E27FC236}">
                <a16:creationId xmlns:a16="http://schemas.microsoft.com/office/drawing/2014/main" id="{D00B6343-3322-4879-8C9F-159345049624}"/>
              </a:ext>
            </a:extLst>
          </p:cNvPr>
          <p:cNvSpPr>
            <a:spLocks xmlns:a="http://schemas.openxmlformats.org/drawingml/2006/main" noGrp="1"/>
          </p:cNvSpPr>
          <p:nvPr/>
        </p:nvSpPr>
        <p:spPr>
          <a:xfrm xmlns:a="http://schemas.openxmlformats.org/drawingml/2006/main">
            <a:off x="571500" y="8077200"/>
            <a:ext cx="13239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§3.2.4 Gemengde opgaven</a:t>
            </a:r>
          </a:p>
        </p:txBody>
      </p:sp>
      <p:sp>
        <p:nvSpPr>
          <p:cNvPr id="4" name="slide-number">
            <a:extLst xmlns:a="http://schemas.openxmlformats.org/drawingml/2006/main">
              <a:ext uri="{FF2B5EF4-FFF2-40B4-BE49-F238E27FC236}">
                <a16:creationId xmlns:a16="http://schemas.microsoft.com/office/drawing/2014/main" id="{46A18ABE-3621-40DF-8596-AC4698369D21}"/>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a:t>
            </a:r>
          </a:p>
        </p:txBody>
      </p:sp>
      <p:sp>
        <p:nvSpPr>
          <p:cNvPr id="5" name="phase">
            <a:extLst xmlns:a="http://schemas.openxmlformats.org/drawingml/2006/main">
              <a:ext uri="{FF2B5EF4-FFF2-40B4-BE49-F238E27FC236}">
                <a16:creationId xmlns:a16="http://schemas.microsoft.com/office/drawing/2014/main" id="{F1287057-21C9-400B-B4B9-8A1A50A1A648}"/>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Startopdracht</a:t>
            </a:r>
          </a:p>
        </p:txBody>
      </p:sp>
      <p:sp>
        <p:nvSpPr>
          <p:cNvPr id="6" name="Lesroute">
            <a:extLst xmlns:a="http://schemas.openxmlformats.org/drawingml/2006/main">
              <a:ext uri="{FF2B5EF4-FFF2-40B4-BE49-F238E27FC236}">
                <a16:creationId xmlns:a16="http://schemas.microsoft.com/office/drawing/2014/main" id="{B81CCED6-C40E-4677-AC49-B0547C07805A}"/>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0">
            <a:extLst xmlns:a="http://schemas.openxmlformats.org/drawingml/2006/main">
              <a:ext uri="{FF2B5EF4-FFF2-40B4-BE49-F238E27FC236}">
                <a16:creationId xmlns:a16="http://schemas.microsoft.com/office/drawing/2014/main" id="{4FDF3789-E125-4B92-A0ED-EF5F7E2C87AA}"/>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0">
            <a:extLst xmlns:a="http://schemas.openxmlformats.org/drawingml/2006/main">
              <a:ext uri="{FF2B5EF4-FFF2-40B4-BE49-F238E27FC236}">
                <a16:creationId xmlns:a16="http://schemas.microsoft.com/office/drawing/2014/main" id="{F450628F-4933-4B93-B43C-39CA68AE0C22}"/>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1">
            <a:extLst xmlns:a="http://schemas.openxmlformats.org/drawingml/2006/main">
              <a:ext uri="{FF2B5EF4-FFF2-40B4-BE49-F238E27FC236}">
                <a16:creationId xmlns:a16="http://schemas.microsoft.com/office/drawing/2014/main" id="{6839C6B5-240F-4220-B309-1B4F5C7B3393}"/>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2.</a:t>
            </a:r>
          </a:p>
        </p:txBody>
      </p:sp>
      <p:sp>
        <p:nvSpPr>
          <p:cNvPr id="10" name="route-1">
            <a:extLst xmlns:a="http://schemas.openxmlformats.org/drawingml/2006/main">
              <a:ext uri="{FF2B5EF4-FFF2-40B4-BE49-F238E27FC236}">
                <a16:creationId xmlns:a16="http://schemas.microsoft.com/office/drawing/2014/main" id="{881A1F07-9CBD-46A8-A2BF-1C0BD69539BB}"/>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Maak de startopdracht.</a:t>
            </a:r>
          </a:p>
        </p:txBody>
      </p:sp>
      <p:sp>
        <p:nvSpPr>
          <p:cNvPr id="11" name="route-number-2">
            <a:extLst xmlns:a="http://schemas.openxmlformats.org/drawingml/2006/main">
              <a:ext uri="{FF2B5EF4-FFF2-40B4-BE49-F238E27FC236}">
                <a16:creationId xmlns:a16="http://schemas.microsoft.com/office/drawing/2014/main" id="{3C3D2655-3CD7-4DB8-B272-70D8003801ED}"/>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2">
            <a:extLst xmlns:a="http://schemas.openxmlformats.org/drawingml/2006/main">
              <a:ext uri="{FF2B5EF4-FFF2-40B4-BE49-F238E27FC236}">
                <a16:creationId xmlns:a16="http://schemas.microsoft.com/office/drawing/2014/main" id="{0072B140-D584-4DFF-8D6F-A0AE211DBFB7}"/>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Korte herhaling en aanpak.</a:t>
            </a:r>
          </a:p>
        </p:txBody>
      </p:sp>
      <p:sp>
        <p:nvSpPr>
          <p:cNvPr id="13" name="route-number-3">
            <a:extLst xmlns:a="http://schemas.openxmlformats.org/drawingml/2006/main">
              <a:ext uri="{FF2B5EF4-FFF2-40B4-BE49-F238E27FC236}">
                <a16:creationId xmlns:a16="http://schemas.microsoft.com/office/drawing/2014/main" id="{C0A44224-E54B-4478-BFC9-6A309AFE59FD}"/>
              </a:ext>
            </a:extLst>
          </p:cNvPr>
          <p:cNvSpPr>
            <a:spLocks xmlns:a="http://schemas.openxmlformats.org/drawingml/2006/main" noGrp="1"/>
          </p:cNvSpPr>
          <p:nvPr/>
        </p:nvSpPr>
        <p:spPr>
          <a:xfrm xmlns:a="http://schemas.openxmlformats.org/drawingml/2006/main">
            <a:off x="571500" y="4248150"/>
            <a:ext cx="4572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3">
            <a:extLst xmlns:a="http://schemas.openxmlformats.org/drawingml/2006/main">
              <a:ext uri="{FF2B5EF4-FFF2-40B4-BE49-F238E27FC236}">
                <a16:creationId xmlns:a16="http://schemas.microsoft.com/office/drawing/2014/main" id="{39EDB07A-A3CC-4CDD-8247-191C149ACF0C}"/>
              </a:ext>
            </a:extLst>
          </p:cNvPr>
          <p:cNvSpPr>
            <a:spLocks xmlns:a="http://schemas.openxmlformats.org/drawingml/2006/main" noGrp="1"/>
          </p:cNvSpPr>
          <p:nvPr/>
        </p:nvSpPr>
        <p:spPr>
          <a:xfrm xmlns:a="http://schemas.openxmlformats.org/drawingml/2006/main">
            <a:off x="1104900" y="4248150"/>
            <a:ext cx="741997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Werk verder aan de gemengde opgaven, stel vragen en kijk je antwoorden na.</a:t>
            </a:r>
          </a:p>
        </p:txBody>
      </p:sp>
      <p:sp>
        <p:nvSpPr>
          <p:cNvPr id="15" name="route-number-4">
            <a:extLst xmlns:a="http://schemas.openxmlformats.org/drawingml/2006/main">
              <a:ext uri="{FF2B5EF4-FFF2-40B4-BE49-F238E27FC236}">
                <a16:creationId xmlns:a16="http://schemas.microsoft.com/office/drawing/2014/main" id="{81CBA7F6-655C-402A-AB31-340FF5821624}"/>
              </a:ext>
            </a:extLst>
          </p:cNvPr>
          <p:cNvSpPr>
            <a:spLocks xmlns:a="http://schemas.openxmlformats.org/drawingml/2006/main" noGrp="1"/>
          </p:cNvSpPr>
          <p:nvPr/>
        </p:nvSpPr>
        <p:spPr>
          <a:xfrm xmlns:a="http://schemas.openxmlformats.org/drawingml/2006/main">
            <a:off x="571500" y="5657850"/>
            <a:ext cx="4572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4">
            <a:extLst xmlns:a="http://schemas.openxmlformats.org/drawingml/2006/main">
              <a:ext uri="{FF2B5EF4-FFF2-40B4-BE49-F238E27FC236}">
                <a16:creationId xmlns:a16="http://schemas.microsoft.com/office/drawing/2014/main" id="{E60CF0E1-2A24-4DDF-8E4D-CE98ABDB9CF4}"/>
              </a:ext>
            </a:extLst>
          </p:cNvPr>
          <p:cNvSpPr>
            <a:spLocks xmlns:a="http://schemas.openxmlformats.org/drawingml/2006/main" noGrp="1"/>
          </p:cNvSpPr>
          <p:nvPr/>
        </p:nvSpPr>
        <p:spPr>
          <a:xfrm xmlns:a="http://schemas.openxmlformats.org/drawingml/2006/main">
            <a:off x="1104900" y="5657850"/>
            <a:ext cx="741997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5">
            <a:extLst xmlns:a="http://schemas.openxmlformats.org/drawingml/2006/main">
              <a:ext uri="{FF2B5EF4-FFF2-40B4-BE49-F238E27FC236}">
                <a16:creationId xmlns:a16="http://schemas.microsoft.com/office/drawing/2014/main" id="{E7F10185-CD96-487D-8890-269D212D0B22}"/>
              </a:ext>
            </a:extLst>
          </p:cNvPr>
          <p:cNvSpPr>
            <a:spLocks xmlns:a="http://schemas.openxmlformats.org/drawingml/2006/main" noGrp="1"/>
          </p:cNvSpPr>
          <p:nvPr/>
        </p:nvSpPr>
        <p:spPr>
          <a:xfrm xmlns:a="http://schemas.openxmlformats.org/drawingml/2006/main">
            <a:off x="571500" y="6553200"/>
            <a:ext cx="457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5">
            <a:extLst xmlns:a="http://schemas.openxmlformats.org/drawingml/2006/main">
              <a:ext uri="{FF2B5EF4-FFF2-40B4-BE49-F238E27FC236}">
                <a16:creationId xmlns:a16="http://schemas.microsoft.com/office/drawing/2014/main" id="{B0127D4E-097C-41E1-AF27-D3C379EEBBA6}"/>
              </a:ext>
            </a:extLst>
          </p:cNvPr>
          <p:cNvSpPr>
            <a:spLocks xmlns:a="http://schemas.openxmlformats.org/drawingml/2006/main" noGrp="1"/>
          </p:cNvSpPr>
          <p:nvPr/>
        </p:nvSpPr>
        <p:spPr>
          <a:xfrm xmlns:a="http://schemas.openxmlformats.org/drawingml/2006/main">
            <a:off x="1104900" y="6553200"/>
            <a:ext cx="74199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opgave 35.</a:t>
            </a:r>
          </a:p>
        </p:txBody>
      </p:sp>
      <p:sp>
        <p:nvSpPr>
          <p:cNvPr id="19" name="route-number-6">
            <a:extLst xmlns:a="http://schemas.openxmlformats.org/drawingml/2006/main">
              <a:ext uri="{FF2B5EF4-FFF2-40B4-BE49-F238E27FC236}">
                <a16:creationId xmlns:a16="http://schemas.microsoft.com/office/drawing/2014/main" id="{49D37D2C-9D47-4A9F-B4C9-C36B009DB131}"/>
              </a:ext>
            </a:extLst>
          </p:cNvPr>
          <p:cNvSpPr>
            <a:spLocks xmlns:a="http://schemas.openxmlformats.org/drawingml/2006/main" noGrp="1"/>
          </p:cNvSpPr>
          <p:nvPr/>
        </p:nvSpPr>
        <p:spPr>
          <a:xfrm xmlns:a="http://schemas.openxmlformats.org/drawingml/2006/main">
            <a:off x="571500" y="737235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6">
            <a:extLst xmlns:a="http://schemas.openxmlformats.org/drawingml/2006/main">
              <a:ext uri="{FF2B5EF4-FFF2-40B4-BE49-F238E27FC236}">
                <a16:creationId xmlns:a16="http://schemas.microsoft.com/office/drawing/2014/main" id="{9D3D0564-7560-4D3D-B794-09535533D585}"/>
              </a:ext>
            </a:extLst>
          </p:cNvPr>
          <p:cNvSpPr>
            <a:spLocks xmlns:a="http://schemas.openxmlformats.org/drawingml/2006/main" noGrp="1"/>
          </p:cNvSpPr>
          <p:nvPr/>
        </p:nvSpPr>
        <p:spPr>
          <a:xfrm xmlns:a="http://schemas.openxmlformats.org/drawingml/2006/main">
            <a:off x="1104900" y="737235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E1FF3857-6618-48E6-BD2B-B1E8896A44FB}"/>
              </a:ext>
            </a:extLst>
          </p:cNvPr>
          <p:cNvSpPr>
            <a:spLocks xmlns:a="http://schemas.openxmlformats.org/drawingml/2006/main" noGrp="1"/>
          </p:cNvSpPr>
          <p:nvPr/>
        </p:nvSpPr>
        <p:spPr>
          <a:xfrm xmlns:a="http://schemas.openxmlformats.org/drawingml/2006/main">
            <a:off x="9258300" y="1762125"/>
            <a:ext cx="5410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3AD17151-E1B3-4E3E-B245-94185EF72104}"/>
              </a:ext>
            </a:extLst>
          </p:cNvPr>
          <p:cNvSpPr>
            <a:spLocks xmlns:a="http://schemas.openxmlformats.org/drawingml/2006/main" noGrp="1"/>
          </p:cNvSpPr>
          <p:nvPr/>
        </p:nvSpPr>
        <p:spPr>
          <a:xfrm xmlns:a="http://schemas.openxmlformats.org/drawingml/2006/main">
            <a:off x="9258300" y="2324100"/>
            <a:ext cx="54102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Marktprijs en productie bepalen.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Keuze en winst onderbouwen.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Q en q onderscheiden.</a:t>
            </a:r>
          </a:p>
        </p:txBody>
      </p:sp>
      <p:sp>
        <p:nvSpPr>
          <p:cNvPr id="23" name="">
            <a:extLst xmlns:a="http://schemas.openxmlformats.org/drawingml/2006/main">
              <a:ext uri="{FF2B5EF4-FFF2-40B4-BE49-F238E27FC236}">
                <a16:creationId xmlns:a16="http://schemas.microsoft.com/office/drawing/2014/main" id="{04E7FF42-2BED-48EF-973D-088FEB567E2A}"/>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951D1C4C-C339-446D-9209-8E542922FC78}"/>
              </a:ext>
            </a:extLst>
          </p:cNvPr>
          <p:cNvSpPr>
            <a:spLocks xmlns:a="http://schemas.openxmlformats.org/drawingml/2006/main" noGrp="1"/>
          </p:cNvSpPr>
          <p:nvPr/>
        </p:nvSpPr>
        <p:spPr>
          <a:xfrm xmlns:a="http://schemas.openxmlformats.org/drawingml/2006/main">
            <a:off x="9258300" y="3819525"/>
            <a:ext cx="5410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2D4EBA6D-799E-4F0D-8D86-E2947EB01463}"/>
              </a:ext>
            </a:extLst>
          </p:cNvPr>
          <p:cNvSpPr>
            <a:spLocks xmlns:a="http://schemas.openxmlformats.org/drawingml/2006/main" noGrp="1"/>
          </p:cNvSpPr>
          <p:nvPr/>
        </p:nvSpPr>
        <p:spPr>
          <a:xfrm xmlns:a="http://schemas.openxmlformats.org/drawingml/2006/main">
            <a:off x="9258300" y="4352925"/>
            <a:ext cx="54102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79 · Opgave 31</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Steun: uitleg p. 54–56</a:t>
            </a:r>
          </a:p>
        </p:txBody>
      </p:sp>
      <p:sp>
        <p:nvSpPr>
          <p:cNvPr id="26" name="">
            <a:extLst xmlns:a="http://schemas.openxmlformats.org/drawingml/2006/main">
              <a:ext uri="{FF2B5EF4-FFF2-40B4-BE49-F238E27FC236}">
                <a16:creationId xmlns:a16="http://schemas.microsoft.com/office/drawing/2014/main" id="{E9DA673A-5917-4A4E-8DCB-F806DA028A23}"/>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1286EF83-A482-4FC0-9C29-60F5CE6DAFA6}"/>
              </a:ext>
            </a:extLst>
          </p:cNvPr>
          <p:cNvSpPr>
            <a:spLocks xmlns:a="http://schemas.openxmlformats.org/drawingml/2006/main" noGrp="1"/>
          </p:cNvSpPr>
          <p:nvPr/>
        </p:nvSpPr>
        <p:spPr>
          <a:xfrm xmlns:a="http://schemas.openxmlformats.org/drawingml/2006/main">
            <a:off x="9258300" y="5648325"/>
            <a:ext cx="5410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6282A21B-9746-44FB-AC84-F87C0D63F516}"/>
              </a:ext>
            </a:extLst>
          </p:cNvPr>
          <p:cNvSpPr>
            <a:spLocks xmlns:a="http://schemas.openxmlformats.org/drawingml/2006/main" noGrp="1"/>
          </p:cNvSpPr>
          <p:nvPr/>
        </p:nvSpPr>
        <p:spPr>
          <a:xfrm xmlns:a="http://schemas.openxmlformats.org/drawingml/2006/main">
            <a:off x="9258300" y="6191250"/>
            <a:ext cx="54102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§3.2.4 · Maken en nakijken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31–34: voorbereiding</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35: doeloefening</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36: bonus · 37: herhaling</a:t>
            </a:r>
          </a:p>
        </p:txBody>
      </p:sp>
    </p:spTree>
    <p:extLst>
      <p:ext uri="{BB962C8B-B14F-4D97-AF65-F5344CB8AC3E}">
        <p14:creationId xmlns:p14="http://schemas.microsoft.com/office/powerpoint/2010/main" val="171160568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Herhaling: de prijs op de markt">
            <a:extLst xmlns:a="http://schemas.openxmlformats.org/drawingml/2006/main">
              <a:ext uri="{FF2B5EF4-FFF2-40B4-BE49-F238E27FC236}">
                <a16:creationId xmlns:a16="http://schemas.microsoft.com/office/drawing/2014/main" id="{3A9CC964-EF28-48F3-9C88-3409A84823E7}"/>
              </a:ext>
            </a:extLst>
          </p:cNvPr>
          <p:cNvSpPr>
            <a:spLocks xmlns:a="http://schemas.openxmlformats.org/drawingml/2006/main" noGrp="1"/>
          </p:cNvSpPr>
          <p:nvPr/>
        </p:nvSpPr>
        <p:spPr>
          <a:xfrm xmlns:a="http://schemas.openxmlformats.org/drawingml/2006/main">
            <a:off x="571500" y="38100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Herhaling: de prijs op de markt</a:t>
            </a:r>
          </a:p>
        </p:txBody>
      </p:sp>
      <p:sp>
        <p:nvSpPr>
          <p:cNvPr id="2" name="">
            <a:extLst xmlns:a="http://schemas.openxmlformats.org/drawingml/2006/main">
              <a:ext uri="{FF2B5EF4-FFF2-40B4-BE49-F238E27FC236}">
                <a16:creationId xmlns:a16="http://schemas.microsoft.com/office/drawing/2014/main" id="{5BE103F7-0D0D-4FD8-8F9F-17B05521205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4 Gemengde opgaven">
            <a:extLst xmlns:a="http://schemas.openxmlformats.org/drawingml/2006/main">
              <a:ext uri="{FF2B5EF4-FFF2-40B4-BE49-F238E27FC236}">
                <a16:creationId xmlns:a16="http://schemas.microsoft.com/office/drawing/2014/main" id="{A982AEBB-CAAE-4D0A-8A4A-792A6FC11B5A}"/>
              </a:ext>
            </a:extLst>
          </p:cNvPr>
          <p:cNvSpPr>
            <a:spLocks xmlns:a="http://schemas.openxmlformats.org/drawingml/2006/main" noGrp="1"/>
          </p:cNvSpPr>
          <p:nvPr/>
        </p:nvSpPr>
        <p:spPr>
          <a:xfrm xmlns:a="http://schemas.openxmlformats.org/drawingml/2006/main">
            <a:off x="571500" y="8077200"/>
            <a:ext cx="13239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§3.2.4 Gemengde opgaven</a:t>
            </a:r>
          </a:p>
        </p:txBody>
      </p:sp>
      <p:sp>
        <p:nvSpPr>
          <p:cNvPr id="4" name="slide-number">
            <a:extLst xmlns:a="http://schemas.openxmlformats.org/drawingml/2006/main">
              <a:ext uri="{FF2B5EF4-FFF2-40B4-BE49-F238E27FC236}">
                <a16:creationId xmlns:a16="http://schemas.microsoft.com/office/drawing/2014/main" id="{BAEBBFEF-841E-4FB7-91D3-D7278420A69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a:t>
            </a:r>
          </a:p>
        </p:txBody>
      </p:sp>
      <p:sp>
        <p:nvSpPr>
          <p:cNvPr id="5" name="Uitlegvoorbeeld — niet uit het boek">
            <a:extLst xmlns:a="http://schemas.openxmlformats.org/drawingml/2006/main">
              <a:ext uri="{FF2B5EF4-FFF2-40B4-BE49-F238E27FC236}">
                <a16:creationId xmlns:a16="http://schemas.microsoft.com/office/drawing/2014/main" id="{28720ED0-14E6-4BFD-B948-01B58DACDA41}"/>
              </a:ext>
            </a:extLst>
          </p:cNvPr>
          <p:cNvSpPr>
            <a:spLocks xmlns:a="http://schemas.openxmlformats.org/drawingml/2006/main" noGrp="1"/>
          </p:cNvSpPr>
          <p:nvPr/>
        </p:nvSpPr>
        <p:spPr>
          <a:xfrm xmlns:a="http://schemas.openxmlformats.org/drawingml/2006/main">
            <a:off x="571500" y="1666875"/>
            <a:ext cx="1409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Uitlegvoorbeeld — niet uit het boek</a:t>
            </a:r>
          </a:p>
        </p:txBody>
      </p:sp>
      <p:sp>
        <p:nvSpPr>
          <p:cNvPr id="6" name="Glasgranulaat · veel kleine aanbieders, gelijke kwaliteit, bekende pri">
            <a:extLst xmlns:a="http://schemas.openxmlformats.org/drawingml/2006/main">
              <a:ext uri="{FF2B5EF4-FFF2-40B4-BE49-F238E27FC236}">
                <a16:creationId xmlns:a16="http://schemas.microsoft.com/office/drawing/2014/main" id="{FD234B77-199F-4BD0-A5B6-B67C7466EDCC}"/>
              </a:ext>
            </a:extLst>
          </p:cNvPr>
          <p:cNvSpPr>
            <a:spLocks xmlns:a="http://schemas.openxmlformats.org/drawingml/2006/main" noGrp="1"/>
          </p:cNvSpPr>
          <p:nvPr/>
        </p:nvSpPr>
        <p:spPr>
          <a:xfrm xmlns:a="http://schemas.openxmlformats.org/drawingml/2006/main">
            <a:off x="571500" y="2286000"/>
            <a:ext cx="1409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Glasgranulaat · veel kleine aanbieders, gelijke kwaliteit, bekende prijzen</a:t>
            </a:r>
          </a:p>
        </p:txBody>
      </p:sp>
      <p:graphicFrame>
        <p:nvGraphicFramePr>
          <p:cNvPr id="17" name=""/>
          <p:cNvGraphicFramePr/>
          <p:nvPr/>
        </p:nvGraphicFramePr>
        <p:xfrm>
          <a:off xmlns:a="http://schemas.openxmlformats.org/drawingml/2006/main" x="571500" y="3076575"/>
          <a:ext xmlns:a="http://schemas.openxmlformats.org/drawingml/2006/main" cx="14097000" cy="2171700"/>
        </p:xfrm>
        <a:graphic xmlns:a="http://schemas.openxmlformats.org/drawingml/2006/main">
          <a:graphicData uri="http://schemas.openxmlformats.org/drawingml/2006/table">
            <a:tbl>
              <a:tblPr/>
              <a:tblGrid>
                <a:gridCol w="6191250"/>
                <a:gridCol w="7905750"/>
              </a:tblGrid>
              <a:tr h="723900">
                <a:tc>
                  <a:txBody>
                    <a:bodyPr lIns="152400" tIns="95250" rIns="133350" bIns="95250"/>
                    <a:lstStyle/>
                    <a:p>
                      <a:r>
                        <a:rPr sz="2625" b="1">
                          <a:solidFill>
                            <a:srgbClr val="FFFFFF"/>
                          </a:solidFill>
                          <a:latin typeface="Arial"/>
                          <a:ea typeface="Arial"/>
                          <a:cs typeface="Arial"/>
                        </a:rPr>
                        <a:t>Markt per week</a:t>
                      </a:r>
                    </a:p>
                  </a:txBody>
                  <a:tcPr marL="91440" marR="91440" marT="45720" marB="45720" anchor="ctr">
                    <a:solidFill>
                      <a:srgbClr val="183247"/>
                    </a:solidFill>
                  </a:tcPr>
                </a:tc>
                <a:tc>
                  <a:txBody>
                    <a:bodyPr lIns="152400" tIns="95250" rIns="133350" bIns="95250"/>
                    <a:lstStyle/>
                    <a:p>
                      <a:r>
                        <a:rPr sz="2625" b="1">
                          <a:solidFill>
                            <a:srgbClr val="FFFFFF"/>
                          </a:solidFill>
                          <a:latin typeface="Arial"/>
                          <a:ea typeface="Arial"/>
                          <a:cs typeface="Arial"/>
                        </a:rPr>
                        <a:t>Functie</a:t>
                      </a:r>
                    </a:p>
                  </a:txBody>
                  <a:tcPr marL="91440" marR="91440" marT="45720" marB="45720" anchor="ctr">
                    <a:solidFill>
                      <a:srgbClr val="183247"/>
                    </a:solidFill>
                  </a:tcPr>
                </a:tc>
              </a:tr>
              <a:tr h="723900">
                <a:tc>
                  <a:txBody>
                    <a:bodyPr lIns="152400" tIns="95250" rIns="133350" bIns="95250"/>
                    <a:lstStyle/>
                    <a:p>
                      <a:r>
                        <a:rPr sz="2625" b="0">
                          <a:solidFill>
                            <a:srgbClr val="183247"/>
                          </a:solidFill>
                          <a:latin typeface="Arial"/>
                          <a:ea typeface="Arial"/>
                          <a:cs typeface="Arial"/>
                        </a:rPr>
                        <a:t>Vraag</a:t>
                      </a:r>
                    </a:p>
                  </a:txBody>
                  <a:tcPr marL="91440" marR="91440" marT="45720" marB="45720" anchor="ctr">
                    <a:solidFill>
                      <a:srgbClr val="FFFFFF"/>
                    </a:solidFill>
                  </a:tcPr>
                </a:tc>
                <a:tc>
                  <a:txBody>
                    <a:bodyPr lIns="152400" tIns="95250" rIns="133350" bIns="95250"/>
                    <a:lstStyle/>
                    <a:p>
                      <a:r>
                        <a:rPr sz="2625" b="0">
                          <a:solidFill>
                            <a:srgbClr val="183247"/>
                          </a:solidFill>
                          <a:latin typeface="Arial"/>
                          <a:ea typeface="Arial"/>
                          <a:cs typeface="Arial"/>
                        </a:rPr>
                        <a:t>Qv = 9.000 − 500P</a:t>
                      </a:r>
                    </a:p>
                  </a:txBody>
                  <a:tcPr marL="91440" marR="91440" marT="45720" marB="45720" anchor="ctr">
                    <a:solidFill>
                      <a:srgbClr val="FFFFFF"/>
                    </a:solidFill>
                  </a:tcPr>
                </a:tc>
              </a:tr>
              <a:tr h="723900">
                <a:tc>
                  <a:txBody>
                    <a:bodyPr lIns="152400" tIns="95250" rIns="133350" bIns="95250"/>
                    <a:lstStyle/>
                    <a:p>
                      <a:r>
                        <a:rPr sz="2625" b="0">
                          <a:solidFill>
                            <a:srgbClr val="183247"/>
                          </a:solidFill>
                          <a:latin typeface="Arial"/>
                          <a:ea typeface="Arial"/>
                          <a:cs typeface="Arial"/>
                        </a:rPr>
                        <a:t>Aanbod</a:t>
                      </a:r>
                    </a:p>
                  </a:txBody>
                  <a:tcPr marL="91440" marR="91440" marT="45720" marB="45720" anchor="ctr">
                    <a:solidFill>
                      <a:srgbClr val="EFF4F7"/>
                    </a:solidFill>
                  </a:tcPr>
                </a:tc>
                <a:tc>
                  <a:txBody>
                    <a:bodyPr lIns="152400" tIns="95250" rIns="133350" bIns="95250"/>
                    <a:lstStyle/>
                    <a:p>
                      <a:r>
                        <a:rPr sz="2625" b="0">
                          <a:solidFill>
                            <a:srgbClr val="183247"/>
                          </a:solidFill>
                          <a:latin typeface="Arial"/>
                          <a:ea typeface="Arial"/>
                          <a:cs typeface="Arial"/>
                        </a:rPr>
                        <a:t>Qa = 1.000P</a:t>
                      </a:r>
                    </a:p>
                  </a:txBody>
                  <a:tcPr marL="91440" marR="91440" marT="45720" marB="45720" anchor="ctr">
                    <a:solidFill>
                      <a:srgbClr val="EFF4F7"/>
                    </a:solidFill>
                  </a:tcPr>
                </a:tc>
              </a:tr>
            </a:tbl>
          </a:graphicData>
        </a:graphic>
      </p:graphicFrame>
      <p:sp>
        <p:nvSpPr>
          <p:cNvPr id="8" name="9.000 − 500P = 1.000P     dus     9.000 = 1.500P">
            <a:extLst xmlns:a="http://schemas.openxmlformats.org/drawingml/2006/main">
              <a:ext uri="{FF2B5EF4-FFF2-40B4-BE49-F238E27FC236}">
                <a16:creationId xmlns:a16="http://schemas.microsoft.com/office/drawing/2014/main" id="{E5BA688C-D95E-4DCE-8BA1-B865397F171A}"/>
              </a:ext>
            </a:extLst>
          </p:cNvPr>
          <p:cNvSpPr>
            <a:spLocks xmlns:a="http://schemas.openxmlformats.org/drawingml/2006/main" noGrp="1"/>
          </p:cNvSpPr>
          <p:nvPr/>
        </p:nvSpPr>
        <p:spPr>
          <a:xfrm xmlns:a="http://schemas.openxmlformats.org/drawingml/2006/main">
            <a:off x="571500" y="5695950"/>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83247"/>
                </a:solidFill>
                <a:latin typeface="Arial"/>
                <a:ea typeface="Arial"/>
                <a:cs typeface="Arial"/>
              </a:defRPr>
            </a:pPr>
            <a:r>
              <a:rPr sz="2925" b="1">
                <a:solidFill>
                  <a:srgbClr val="183247"/>
                </a:solidFill>
                <a:latin typeface="Arial"/>
                <a:ea typeface="Arial"/>
                <a:cs typeface="Arial"/>
              </a:rPr>
              <a:t>9.000 − 500P = 1.000P     dus     9.000 = 1.500P</a:t>
            </a:r>
          </a:p>
        </p:txBody>
      </p:sp>
      <p:sp>
        <p:nvSpPr>
          <p:cNvPr id="9" name="P = € 6 per kg                 Q = 1.000 × 6 = 6.000 kg per week">
            <a:extLst xmlns:a="http://schemas.openxmlformats.org/drawingml/2006/main">
              <a:ext uri="{FF2B5EF4-FFF2-40B4-BE49-F238E27FC236}">
                <a16:creationId xmlns:a16="http://schemas.microsoft.com/office/drawing/2014/main" id="{65D4734E-C565-4BE9-80D8-49D6CC6F3D4D}"/>
              </a:ext>
            </a:extLst>
          </p:cNvPr>
          <p:cNvSpPr>
            <a:spLocks xmlns:a="http://schemas.openxmlformats.org/drawingml/2006/main" noGrp="1"/>
          </p:cNvSpPr>
          <p:nvPr/>
        </p:nvSpPr>
        <p:spPr>
          <a:xfrm xmlns:a="http://schemas.openxmlformats.org/drawingml/2006/main">
            <a:off x="571500" y="6581775"/>
            <a:ext cx="14097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P = € 6 per kg                 Q = 1.000 × 6 = 6.000 kg per week</a:t>
            </a:r>
          </a:p>
        </p:txBody>
      </p:sp>
      <p:sp>
        <p:nvSpPr>
          <p:cNvPr id="10" name="Bij procentuele verandering: (nieuw − oud) / oud × 100%">
            <a:extLst xmlns:a="http://schemas.openxmlformats.org/drawingml/2006/main">
              <a:ext uri="{FF2B5EF4-FFF2-40B4-BE49-F238E27FC236}">
                <a16:creationId xmlns:a16="http://schemas.microsoft.com/office/drawing/2014/main" id="{899C9A47-8FF0-4867-AF5F-76D5D8C2ED87}"/>
              </a:ext>
            </a:extLst>
          </p:cNvPr>
          <p:cNvSpPr>
            <a:spLocks xmlns:a="http://schemas.openxmlformats.org/drawingml/2006/main" noGrp="1"/>
          </p:cNvSpPr>
          <p:nvPr/>
        </p:nvSpPr>
        <p:spPr>
          <a:xfrm xmlns:a="http://schemas.openxmlformats.org/drawingml/2006/main">
            <a:off x="571500" y="7467600"/>
            <a:ext cx="1409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Bij procentuele verandering: (nieuw − oud) / oud × 100%</a:t>
            </a:r>
          </a:p>
        </p:txBody>
      </p:sp>
    </p:spTree>
    <p:extLst>
      <p:ext uri="{BB962C8B-B14F-4D97-AF65-F5344CB8AC3E}">
        <p14:creationId xmlns:p14="http://schemas.microsoft.com/office/powerpoint/2010/main" val="33279408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Herhaling: de productie van één bedrijf">
            <a:extLst xmlns:a="http://schemas.openxmlformats.org/drawingml/2006/main">
              <a:ext uri="{FF2B5EF4-FFF2-40B4-BE49-F238E27FC236}">
                <a16:creationId xmlns:a16="http://schemas.microsoft.com/office/drawing/2014/main" id="{4053F239-A78C-4EAF-BD7F-6F573E9B7758}"/>
              </a:ext>
            </a:extLst>
          </p:cNvPr>
          <p:cNvSpPr>
            <a:spLocks xmlns:a="http://schemas.openxmlformats.org/drawingml/2006/main" noGrp="1"/>
          </p:cNvSpPr>
          <p:nvPr/>
        </p:nvSpPr>
        <p:spPr>
          <a:xfrm xmlns:a="http://schemas.openxmlformats.org/drawingml/2006/main">
            <a:off x="571500" y="38100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Herhaling: de productie van één bedrijf</a:t>
            </a:r>
          </a:p>
        </p:txBody>
      </p:sp>
      <p:sp>
        <p:nvSpPr>
          <p:cNvPr id="2" name="">
            <a:extLst xmlns:a="http://schemas.openxmlformats.org/drawingml/2006/main">
              <a:ext uri="{FF2B5EF4-FFF2-40B4-BE49-F238E27FC236}">
                <a16:creationId xmlns:a16="http://schemas.microsoft.com/office/drawing/2014/main" id="{B721A2BB-E5DA-4D94-9563-A7404DD9D43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4 Gemengde opgaven">
            <a:extLst xmlns:a="http://schemas.openxmlformats.org/drawingml/2006/main">
              <a:ext uri="{FF2B5EF4-FFF2-40B4-BE49-F238E27FC236}">
                <a16:creationId xmlns:a16="http://schemas.microsoft.com/office/drawing/2014/main" id="{D3CE50E0-7C8D-44EC-86B9-E9E9013DE2A4}"/>
              </a:ext>
            </a:extLst>
          </p:cNvPr>
          <p:cNvSpPr>
            <a:spLocks xmlns:a="http://schemas.openxmlformats.org/drawingml/2006/main" noGrp="1"/>
          </p:cNvSpPr>
          <p:nvPr/>
        </p:nvSpPr>
        <p:spPr>
          <a:xfrm xmlns:a="http://schemas.openxmlformats.org/drawingml/2006/main">
            <a:off x="571500" y="8077200"/>
            <a:ext cx="13239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§3.2.4 Gemengde opgaven</a:t>
            </a:r>
          </a:p>
        </p:txBody>
      </p:sp>
      <p:sp>
        <p:nvSpPr>
          <p:cNvPr id="4" name="slide-number">
            <a:extLst xmlns:a="http://schemas.openxmlformats.org/drawingml/2006/main">
              <a:ext uri="{FF2B5EF4-FFF2-40B4-BE49-F238E27FC236}">
                <a16:creationId xmlns:a16="http://schemas.microsoft.com/office/drawing/2014/main" id="{310C60DB-CB08-4AF8-9A27-0F4C45F1C2DE}"/>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3</a:t>
            </a:r>
          </a:p>
        </p:txBody>
      </p:sp>
      <p:sp>
        <p:nvSpPr>
          <p:cNvPr id="5" name="Uitlegvoorbeeld — niet uit het boek">
            <a:extLst xmlns:a="http://schemas.openxmlformats.org/drawingml/2006/main">
              <a:ext uri="{FF2B5EF4-FFF2-40B4-BE49-F238E27FC236}">
                <a16:creationId xmlns:a16="http://schemas.microsoft.com/office/drawing/2014/main" id="{37ADD9C0-4CF5-452B-8F37-2B0F9FD96957}"/>
              </a:ext>
            </a:extLst>
          </p:cNvPr>
          <p:cNvSpPr>
            <a:spLocks xmlns:a="http://schemas.openxmlformats.org/drawingml/2006/main" noGrp="1"/>
          </p:cNvSpPr>
          <p:nvPr/>
        </p:nvSpPr>
        <p:spPr>
          <a:xfrm xmlns:a="http://schemas.openxmlformats.org/drawingml/2006/main">
            <a:off x="571500" y="1666875"/>
            <a:ext cx="1409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Uitlegvoorbeeld — niet uit het boek</a:t>
            </a:r>
          </a:p>
        </p:txBody>
      </p:sp>
      <p:sp>
        <p:nvSpPr>
          <p:cNvPr id="6" name="TK = 0,025q² + 2q + 90       P = € 6 per kg       Capaciteit: 100 kg/w">
            <a:extLst xmlns:a="http://schemas.openxmlformats.org/drawingml/2006/main">
              <a:ext uri="{FF2B5EF4-FFF2-40B4-BE49-F238E27FC236}">
                <a16:creationId xmlns:a16="http://schemas.microsoft.com/office/drawing/2014/main" id="{375A2967-E2A1-4BD9-8E09-7251BE848C73}"/>
              </a:ext>
            </a:extLst>
          </p:cNvPr>
          <p:cNvSpPr>
            <a:spLocks xmlns:a="http://schemas.openxmlformats.org/drawingml/2006/main" noGrp="1"/>
          </p:cNvSpPr>
          <p:nvPr/>
        </p:nvSpPr>
        <p:spPr>
          <a:xfrm xmlns:a="http://schemas.openxmlformats.org/drawingml/2006/main">
            <a:off x="571500" y="2295525"/>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TK = 0,025q² + 2q + 90       P = € 6 per kg       Capaciteit: 100 kg/week</a:t>
            </a:r>
          </a:p>
        </p:txBody>
      </p:sp>
      <p:sp>
        <p:nvSpPr>
          <p:cNvPr id="7" name="MK = 0,05q + 2       6 = 0,05q + 2       q = 80 kg/week">
            <a:extLst xmlns:a="http://schemas.openxmlformats.org/drawingml/2006/main">
              <a:ext uri="{FF2B5EF4-FFF2-40B4-BE49-F238E27FC236}">
                <a16:creationId xmlns:a16="http://schemas.microsoft.com/office/drawing/2014/main" id="{957CE052-0D9F-4504-8BFC-D8D9E9B31F3A}"/>
              </a:ext>
            </a:extLst>
          </p:cNvPr>
          <p:cNvSpPr>
            <a:spLocks xmlns:a="http://schemas.openxmlformats.org/drawingml/2006/main" noGrp="1"/>
          </p:cNvSpPr>
          <p:nvPr/>
        </p:nvSpPr>
        <p:spPr>
          <a:xfrm xmlns:a="http://schemas.openxmlformats.org/drawingml/2006/main">
            <a:off x="571500" y="3286125"/>
            <a:ext cx="1409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A94D16"/>
                </a:solidFill>
                <a:latin typeface="Arial"/>
                <a:ea typeface="Arial"/>
                <a:cs typeface="Arial"/>
              </a:defRPr>
            </a:pPr>
            <a:r>
              <a:rPr sz="3000" b="1">
                <a:solidFill>
                  <a:srgbClr val="A94D16"/>
                </a:solidFill>
                <a:latin typeface="Arial"/>
                <a:ea typeface="Arial"/>
                <a:cs typeface="Arial"/>
              </a:rPr>
              <a:t>MK = 0,05q + 2       6 = 0,05q + 2       q = 80 kg/week</a:t>
            </a:r>
          </a:p>
        </p:txBody>
      </p:sp>
      <p:graphicFrame>
        <p:nvGraphicFramePr>
          <p:cNvPr id="17" name=""/>
          <p:cNvGraphicFramePr/>
          <p:nvPr/>
        </p:nvGraphicFramePr>
        <p:xfrm>
          <a:off xmlns:a="http://schemas.openxmlformats.org/drawingml/2006/main" x="571500" y="4457700"/>
          <a:ext xmlns:a="http://schemas.openxmlformats.org/drawingml/2006/main" cx="14097000" cy="2333625"/>
        </p:xfrm>
        <a:graphic xmlns:a="http://schemas.openxmlformats.org/drawingml/2006/main">
          <a:graphicData uri="http://schemas.openxmlformats.org/drawingml/2006/table">
            <a:tbl>
              <a:tblPr/>
              <a:tblGrid>
                <a:gridCol w="3810000"/>
                <a:gridCol w="2762250"/>
                <a:gridCol w="2857500"/>
                <a:gridCol w="4667250"/>
              </a:tblGrid>
              <a:tr h="777875">
                <a:tc>
                  <a:txBody>
                    <a:bodyPr lIns="152400" tIns="95250" rIns="133350" bIns="95250"/>
                    <a:lstStyle/>
                    <a:p>
                      <a:r>
                        <a:rPr sz="2400" b="1">
                          <a:solidFill>
                            <a:srgbClr val="FFFFFF"/>
                          </a:solidFill>
                          <a:latin typeface="Arial"/>
                          <a:ea typeface="Arial"/>
                          <a:cs typeface="Arial"/>
                        </a:rPr>
                        <a:t>Rond de gekozen q</a:t>
                      </a:r>
                    </a:p>
                  </a:txBody>
                  <a:tcPr marL="91440" marR="91440" marT="45720" marB="45720" anchor="ctr">
                    <a:solidFill>
                      <a:srgbClr val="183247"/>
                    </a:solidFill>
                  </a:tcPr>
                </a:tc>
                <a:tc>
                  <a:txBody>
                    <a:bodyPr lIns="152400" tIns="95250" rIns="133350" bIns="95250"/>
                    <a:lstStyle/>
                    <a:p>
                      <a:r>
                        <a:rPr sz="2400" b="1">
                          <a:solidFill>
                            <a:srgbClr val="FFFFFF"/>
                          </a:solidFill>
                          <a:latin typeface="Arial"/>
                          <a:ea typeface="Arial"/>
                          <a:cs typeface="Arial"/>
                        </a:rPr>
                        <a:t>MO (€ per kg)</a:t>
                      </a:r>
                    </a:p>
                  </a:txBody>
                  <a:tcPr marL="91440" marR="91440" marT="45720" marB="45720" anchor="ctr">
                    <a:solidFill>
                      <a:srgbClr val="183247"/>
                    </a:solidFill>
                  </a:tcPr>
                </a:tc>
                <a:tc>
                  <a:txBody>
                    <a:bodyPr lIns="152400" tIns="95250" rIns="133350" bIns="95250"/>
                    <a:lstStyle/>
                    <a:p>
                      <a:r>
                        <a:rPr sz="2400" b="1">
                          <a:solidFill>
                            <a:srgbClr val="FFFFFF"/>
                          </a:solidFill>
                          <a:latin typeface="Arial"/>
                          <a:ea typeface="Arial"/>
                          <a:cs typeface="Arial"/>
                        </a:rPr>
                        <a:t>MK (€ per kg)</a:t>
                      </a:r>
                    </a:p>
                  </a:txBody>
                  <a:tcPr marL="91440" marR="91440" marT="45720" marB="45720" anchor="ctr">
                    <a:solidFill>
                      <a:srgbClr val="183247"/>
                    </a:solidFill>
                  </a:tcPr>
                </a:tc>
                <a:tc>
                  <a:txBody>
                    <a:bodyPr lIns="152400" tIns="95250" rIns="133350" bIns="95250"/>
                    <a:lstStyle/>
                    <a:p>
                      <a:r>
                        <a:rPr sz="2400" b="1">
                          <a:solidFill>
                            <a:srgbClr val="FFFFFF"/>
                          </a:solidFill>
                          <a:latin typeface="Arial"/>
                          <a:ea typeface="Arial"/>
                          <a:cs typeface="Arial"/>
                        </a:rPr>
                        <a:t>Winst bij uitbreiding</a:t>
                      </a:r>
                    </a:p>
                  </a:txBody>
                  <a:tcPr marL="91440" marR="91440" marT="45720" marB="45720" anchor="ctr">
                    <a:solidFill>
                      <a:srgbClr val="183247"/>
                    </a:solidFill>
                  </a:tcPr>
                </a:tc>
              </a:tr>
              <a:tr h="777875">
                <a:tc>
                  <a:txBody>
                    <a:bodyPr lIns="152400" tIns="95250" rIns="133350" bIns="95250"/>
                    <a:lstStyle/>
                    <a:p>
                      <a:r>
                        <a:rPr sz="2400" b="0">
                          <a:solidFill>
                            <a:srgbClr val="183247"/>
                          </a:solidFill>
                          <a:latin typeface="Arial"/>
                          <a:ea typeface="Arial"/>
                          <a:cs typeface="Arial"/>
                        </a:rPr>
                        <a:t>q = 60</a:t>
                      </a:r>
                    </a:p>
                  </a:txBody>
                  <a:tcPr marL="91440" marR="91440" marT="45720" marB="45720" anchor="ctr">
                    <a:solidFill>
                      <a:srgbClr val="FFFFFF"/>
                    </a:solidFill>
                  </a:tcPr>
                </a:tc>
                <a:tc>
                  <a:txBody>
                    <a:bodyPr lIns="152400" tIns="95250" rIns="133350" bIns="95250"/>
                    <a:lstStyle/>
                    <a:p>
                      <a:r>
                        <a:rPr sz="2400" b="0">
                          <a:solidFill>
                            <a:srgbClr val="183247"/>
                          </a:solidFill>
                          <a:latin typeface="Arial"/>
                          <a:ea typeface="Arial"/>
                          <a:cs typeface="Arial"/>
                        </a:rPr>
                        <a:t>6</a:t>
                      </a:r>
                    </a:p>
                  </a:txBody>
                  <a:tcPr marL="91440" marR="91440" marT="45720" marB="45720" anchor="ctr">
                    <a:solidFill>
                      <a:srgbClr val="FFFFFF"/>
                    </a:solidFill>
                  </a:tcPr>
                </a:tc>
                <a:tc>
                  <a:txBody>
                    <a:bodyPr lIns="152400" tIns="95250" rIns="133350" bIns="95250"/>
                    <a:lstStyle/>
                    <a:p>
                      <a:r>
                        <a:rPr sz="2400" b="0">
                          <a:solidFill>
                            <a:srgbClr val="183247"/>
                          </a:solidFill>
                          <a:latin typeface="Arial"/>
                          <a:ea typeface="Arial"/>
                          <a:cs typeface="Arial"/>
                        </a:rPr>
                        <a:t>5</a:t>
                      </a:r>
                    </a:p>
                  </a:txBody>
                  <a:tcPr marL="91440" marR="91440" marT="45720" marB="45720" anchor="ctr">
                    <a:solidFill>
                      <a:srgbClr val="FFFFFF"/>
                    </a:solidFill>
                  </a:tcPr>
                </a:tc>
                <a:tc>
                  <a:txBody>
                    <a:bodyPr lIns="152400" tIns="95250" rIns="133350" bIns="95250"/>
                    <a:lstStyle/>
                    <a:p>
                      <a:r>
                        <a:rPr sz="2400" b="0">
                          <a:solidFill>
                            <a:srgbClr val="183247"/>
                          </a:solidFill>
                          <a:latin typeface="Arial"/>
                          <a:ea typeface="Arial"/>
                          <a:cs typeface="Arial"/>
                        </a:rPr>
                        <a:t>Stijgt</a:t>
                      </a:r>
                    </a:p>
                  </a:txBody>
                  <a:tcPr marL="91440" marR="91440" marT="45720" marB="45720" anchor="ctr">
                    <a:solidFill>
                      <a:srgbClr val="FFFFFF"/>
                    </a:solidFill>
                  </a:tcPr>
                </a:tc>
              </a:tr>
              <a:tr h="777875">
                <a:tc>
                  <a:txBody>
                    <a:bodyPr lIns="152400" tIns="95250" rIns="133350" bIns="95250"/>
                    <a:lstStyle/>
                    <a:p>
                      <a:r>
                        <a:rPr sz="2400" b="0">
                          <a:solidFill>
                            <a:srgbClr val="183247"/>
                          </a:solidFill>
                          <a:latin typeface="Arial"/>
                          <a:ea typeface="Arial"/>
                          <a:cs typeface="Arial"/>
                        </a:rPr>
                        <a:t>q = 90</a:t>
                      </a:r>
                    </a:p>
                  </a:txBody>
                  <a:tcPr marL="91440" marR="91440" marT="45720" marB="45720" anchor="ctr">
                    <a:solidFill>
                      <a:srgbClr val="EFF4F7"/>
                    </a:solidFill>
                  </a:tcPr>
                </a:tc>
                <a:tc>
                  <a:txBody>
                    <a:bodyPr lIns="152400" tIns="95250" rIns="133350" bIns="95250"/>
                    <a:lstStyle/>
                    <a:p>
                      <a:r>
                        <a:rPr sz="2400" b="0">
                          <a:solidFill>
                            <a:srgbClr val="183247"/>
                          </a:solidFill>
                          <a:latin typeface="Arial"/>
                          <a:ea typeface="Arial"/>
                          <a:cs typeface="Arial"/>
                        </a:rPr>
                        <a:t>6</a:t>
                      </a:r>
                    </a:p>
                  </a:txBody>
                  <a:tcPr marL="91440" marR="91440" marT="45720" marB="45720" anchor="ctr">
                    <a:solidFill>
                      <a:srgbClr val="EFF4F7"/>
                    </a:solidFill>
                  </a:tcPr>
                </a:tc>
                <a:tc>
                  <a:txBody>
                    <a:bodyPr lIns="152400" tIns="95250" rIns="133350" bIns="95250"/>
                    <a:lstStyle/>
                    <a:p>
                      <a:r>
                        <a:rPr sz="2400" b="0">
                          <a:solidFill>
                            <a:srgbClr val="183247"/>
                          </a:solidFill>
                          <a:latin typeface="Arial"/>
                          <a:ea typeface="Arial"/>
                          <a:cs typeface="Arial"/>
                        </a:rPr>
                        <a:t>6,50</a:t>
                      </a:r>
                    </a:p>
                  </a:txBody>
                  <a:tcPr marL="91440" marR="91440" marT="45720" marB="45720" anchor="ctr">
                    <a:solidFill>
                      <a:srgbClr val="EFF4F7"/>
                    </a:solidFill>
                  </a:tcPr>
                </a:tc>
                <a:tc>
                  <a:txBody>
                    <a:bodyPr lIns="152400" tIns="95250" rIns="133350" bIns="95250"/>
                    <a:lstStyle/>
                    <a:p>
                      <a:r>
                        <a:rPr sz="2400" b="0">
                          <a:solidFill>
                            <a:srgbClr val="183247"/>
                          </a:solidFill>
                          <a:latin typeface="Arial"/>
                          <a:ea typeface="Arial"/>
                          <a:cs typeface="Arial"/>
                        </a:rPr>
                        <a:t>Daalt</a:t>
                      </a:r>
                    </a:p>
                  </a:txBody>
                  <a:tcPr marL="91440" marR="91440" marT="45720" marB="45720" anchor="ctr">
                    <a:solidFill>
                      <a:srgbClr val="EFF4F7"/>
                    </a:solidFill>
                  </a:tcPr>
                </a:tc>
              </a:tr>
            </a:tbl>
          </a:graphicData>
        </a:graphic>
      </p:graphicFrame>
      <p:sp>
        <p:nvSpPr>
          <p:cNvPr id="9" name="80 ≤ 100: haalbaar. De stijgende MK gaat door MO.">
            <a:extLst xmlns:a="http://schemas.openxmlformats.org/drawingml/2006/main">
              <a:ext uri="{FF2B5EF4-FFF2-40B4-BE49-F238E27FC236}">
                <a16:creationId xmlns:a16="http://schemas.microsoft.com/office/drawing/2014/main" id="{1EDEBA14-A269-4742-9479-0C5DD2B746D0}"/>
              </a:ext>
            </a:extLst>
          </p:cNvPr>
          <p:cNvSpPr>
            <a:spLocks xmlns:a="http://schemas.openxmlformats.org/drawingml/2006/main" noGrp="1"/>
          </p:cNvSpPr>
          <p:nvPr/>
        </p:nvSpPr>
        <p:spPr>
          <a:xfrm xmlns:a="http://schemas.openxmlformats.org/drawingml/2006/main">
            <a:off x="571500" y="7334250"/>
            <a:ext cx="140970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83247"/>
                </a:solidFill>
                <a:latin typeface="Arial"/>
                <a:ea typeface="Arial"/>
                <a:cs typeface="Arial"/>
              </a:defRPr>
            </a:pPr>
            <a:r>
              <a:rPr sz="2850" b="1">
                <a:solidFill>
                  <a:srgbClr val="183247"/>
                </a:solidFill>
                <a:latin typeface="Arial"/>
                <a:ea typeface="Arial"/>
                <a:cs typeface="Arial"/>
              </a:rPr>
              <a:t>80 ≤ 100: haalbaar. De stijgende MK gaat door MO.</a:t>
            </a:r>
          </a:p>
        </p:txBody>
      </p:sp>
    </p:spTree>
    <p:extLst>
      <p:ext uri="{BB962C8B-B14F-4D97-AF65-F5344CB8AC3E}">
        <p14:creationId xmlns:p14="http://schemas.microsoft.com/office/powerpoint/2010/main" val="19286911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Herhaling: de winst bij dezelfde q">
            <a:extLst xmlns:a="http://schemas.openxmlformats.org/drawingml/2006/main">
              <a:ext uri="{FF2B5EF4-FFF2-40B4-BE49-F238E27FC236}">
                <a16:creationId xmlns:a16="http://schemas.microsoft.com/office/drawing/2014/main" id="{3DD3D278-30C8-45BA-A0B5-CBC4EAA244B0}"/>
              </a:ext>
            </a:extLst>
          </p:cNvPr>
          <p:cNvSpPr>
            <a:spLocks xmlns:a="http://schemas.openxmlformats.org/drawingml/2006/main" noGrp="1"/>
          </p:cNvSpPr>
          <p:nvPr/>
        </p:nvSpPr>
        <p:spPr>
          <a:xfrm xmlns:a="http://schemas.openxmlformats.org/drawingml/2006/main">
            <a:off x="571500" y="38100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Herhaling: de winst bij dezelfde q</a:t>
            </a:r>
          </a:p>
        </p:txBody>
      </p:sp>
      <p:sp>
        <p:nvSpPr>
          <p:cNvPr id="2" name="">
            <a:extLst xmlns:a="http://schemas.openxmlformats.org/drawingml/2006/main">
              <a:ext uri="{FF2B5EF4-FFF2-40B4-BE49-F238E27FC236}">
                <a16:creationId xmlns:a16="http://schemas.microsoft.com/office/drawing/2014/main" id="{0E982CE8-D184-478B-9551-66A42E6F7CD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4 Gemengde opgaven">
            <a:extLst xmlns:a="http://schemas.openxmlformats.org/drawingml/2006/main">
              <a:ext uri="{FF2B5EF4-FFF2-40B4-BE49-F238E27FC236}">
                <a16:creationId xmlns:a16="http://schemas.microsoft.com/office/drawing/2014/main" id="{F0DBC43D-C903-45D9-B1A8-B8CD9C7C9EFE}"/>
              </a:ext>
            </a:extLst>
          </p:cNvPr>
          <p:cNvSpPr>
            <a:spLocks xmlns:a="http://schemas.openxmlformats.org/drawingml/2006/main" noGrp="1"/>
          </p:cNvSpPr>
          <p:nvPr/>
        </p:nvSpPr>
        <p:spPr>
          <a:xfrm xmlns:a="http://schemas.openxmlformats.org/drawingml/2006/main">
            <a:off x="571500" y="8077200"/>
            <a:ext cx="13239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§3.2.4 Gemengde opgaven</a:t>
            </a:r>
          </a:p>
        </p:txBody>
      </p:sp>
      <p:sp>
        <p:nvSpPr>
          <p:cNvPr id="4" name="slide-number">
            <a:extLst xmlns:a="http://schemas.openxmlformats.org/drawingml/2006/main">
              <a:ext uri="{FF2B5EF4-FFF2-40B4-BE49-F238E27FC236}">
                <a16:creationId xmlns:a16="http://schemas.microsoft.com/office/drawing/2014/main" id="{49CB3188-9468-4A44-A221-903F8529BA6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4</a:t>
            </a:r>
          </a:p>
        </p:txBody>
      </p:sp>
      <p:sp>
        <p:nvSpPr>
          <p:cNvPr id="5" name="Uitlegvoorbeeld — niet uit het boek">
            <a:extLst xmlns:a="http://schemas.openxmlformats.org/drawingml/2006/main">
              <a:ext uri="{FF2B5EF4-FFF2-40B4-BE49-F238E27FC236}">
                <a16:creationId xmlns:a16="http://schemas.microsoft.com/office/drawing/2014/main" id="{3771A0A6-4A9F-49C2-9A29-725D2A15D04D}"/>
              </a:ext>
            </a:extLst>
          </p:cNvPr>
          <p:cNvSpPr>
            <a:spLocks xmlns:a="http://schemas.openxmlformats.org/drawingml/2006/main" noGrp="1"/>
          </p:cNvSpPr>
          <p:nvPr/>
        </p:nvSpPr>
        <p:spPr>
          <a:xfrm xmlns:a="http://schemas.openxmlformats.org/drawingml/2006/main">
            <a:off x="571500" y="1666875"/>
            <a:ext cx="1409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Uitlegvoorbeeld — niet uit het boek</a:t>
            </a:r>
          </a:p>
        </p:txBody>
      </p:sp>
      <p:graphicFrame>
        <p:nvGraphicFramePr>
          <p:cNvPr id="16" name="Chart"/>
          <p:cNvGraphicFramePr/>
          <p:nvPr/>
        </p:nvGraphicFramePr>
        <p:xfrm>
          <a:off xmlns:a="http://schemas.openxmlformats.org/drawingml/2006/main" x="571500" y="2190750"/>
          <a:ext xmlns:a="http://schemas.openxmlformats.org/drawingml/2006/main" cx="9525000" cy="5429250"/>
        </p:xfrm>
        <a:graphic xmlns:a="http://schemas.openxmlformats.org/drawingml/2006/main">
          <a:graphicData uri="http://schemas.openxmlformats.org/drawingml/2006/chart">
            <c:chart xmlns:r="http://schemas.openxmlformats.org/officeDocument/2006/relationships" xmlns:c="http://schemas.openxmlformats.org/drawingml/2006/chart" r:id="R9ccef88a2b554ff4"/>
          </a:graphicData>
        </a:graphic>
      </p:graphicFrame>
      <p:sp>
        <p:nvSpPr>
          <p:cNvPr id="7" name="Bij q = 80">
            <a:extLst xmlns:a="http://schemas.openxmlformats.org/drawingml/2006/main">
              <a:ext uri="{FF2B5EF4-FFF2-40B4-BE49-F238E27FC236}">
                <a16:creationId xmlns:a16="http://schemas.microsoft.com/office/drawing/2014/main" id="{0340328C-2549-4C29-B7E5-65A3C3FCA535}"/>
              </a:ext>
            </a:extLst>
          </p:cNvPr>
          <p:cNvSpPr>
            <a:spLocks xmlns:a="http://schemas.openxmlformats.org/drawingml/2006/main" noGrp="1"/>
          </p:cNvSpPr>
          <p:nvPr/>
        </p:nvSpPr>
        <p:spPr>
          <a:xfrm xmlns:a="http://schemas.openxmlformats.org/drawingml/2006/main">
            <a:off x="10477500" y="2352675"/>
            <a:ext cx="4191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83247"/>
                </a:solidFill>
                <a:latin typeface="Arial"/>
                <a:ea typeface="Arial"/>
                <a:cs typeface="Arial"/>
              </a:defRPr>
            </a:pPr>
            <a:r>
              <a:rPr sz="2850" b="1">
                <a:solidFill>
                  <a:srgbClr val="183247"/>
                </a:solidFill>
                <a:latin typeface="Arial"/>
                <a:ea typeface="Arial"/>
                <a:cs typeface="Arial"/>
              </a:rPr>
              <a:t>Bij q = 80</a:t>
            </a:r>
          </a:p>
        </p:txBody>
      </p:sp>
      <p:sp>
        <p:nvSpPr>
          <p:cNvPr id="8" name="TO = 6 × 80 = € 480&#10;TK = 160 + 160 + 90&#10;TK = € 410 per week">
            <a:extLst xmlns:a="http://schemas.openxmlformats.org/drawingml/2006/main">
              <a:ext uri="{FF2B5EF4-FFF2-40B4-BE49-F238E27FC236}">
                <a16:creationId xmlns:a16="http://schemas.microsoft.com/office/drawing/2014/main" id="{C10DDD0D-125E-49E0-B18D-DDD173304E54}"/>
              </a:ext>
            </a:extLst>
          </p:cNvPr>
          <p:cNvSpPr>
            <a:spLocks xmlns:a="http://schemas.openxmlformats.org/drawingml/2006/main" noGrp="1"/>
          </p:cNvSpPr>
          <p:nvPr/>
        </p:nvSpPr>
        <p:spPr>
          <a:xfrm xmlns:a="http://schemas.openxmlformats.org/drawingml/2006/main">
            <a:off x="10477500" y="3133725"/>
            <a:ext cx="4191000" cy="1533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TO = 6 × 80 = € 480</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TK = 160 + 160 + 90</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TK = € 410 per week</a:t>
            </a:r>
          </a:p>
        </p:txBody>
      </p:sp>
      <p:sp>
        <p:nvSpPr>
          <p:cNvPr id="9" name="GTK = 410 / 80&#10;= € 5,125 per kg">
            <a:extLst xmlns:a="http://schemas.openxmlformats.org/drawingml/2006/main">
              <a:ext uri="{FF2B5EF4-FFF2-40B4-BE49-F238E27FC236}">
                <a16:creationId xmlns:a16="http://schemas.microsoft.com/office/drawing/2014/main" id="{E8CDDA80-026D-43D2-9368-A4CE779E7618}"/>
              </a:ext>
            </a:extLst>
          </p:cNvPr>
          <p:cNvSpPr>
            <a:spLocks xmlns:a="http://schemas.openxmlformats.org/drawingml/2006/main" noGrp="1"/>
          </p:cNvSpPr>
          <p:nvPr/>
        </p:nvSpPr>
        <p:spPr>
          <a:xfrm xmlns:a="http://schemas.openxmlformats.org/drawingml/2006/main">
            <a:off x="10477500" y="4981575"/>
            <a:ext cx="4191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A63735"/>
                </a:solidFill>
                <a:latin typeface="Arial"/>
                <a:ea typeface="Arial"/>
                <a:cs typeface="Arial"/>
              </a:defRPr>
            </a:pPr>
            <a:r>
              <a:rPr sz="2475" b="1">
                <a:solidFill>
                  <a:srgbClr val="A63735"/>
                </a:solidFill>
                <a:latin typeface="Arial"/>
                <a:ea typeface="Arial"/>
                <a:cs typeface="Arial"/>
              </a:rPr>
              <a:t>GTK = 410 / 80</a:t>
            </a:r>
          </a:p>
          <a:p xmlns:a="http://schemas.openxmlformats.org/drawingml/2006/main">
            <a:pPr algn="l">
              <a:defRPr sz="2475" b="1">
                <a:solidFill>
                  <a:srgbClr val="A63735"/>
                </a:solidFill>
                <a:latin typeface="Arial"/>
                <a:ea typeface="Arial"/>
                <a:cs typeface="Arial"/>
              </a:defRPr>
            </a:pPr>
            <a:r>
              <a:rPr sz="2475" b="1">
                <a:solidFill>
                  <a:srgbClr val="A63735"/>
                </a:solidFill>
                <a:latin typeface="Arial"/>
                <a:ea typeface="Arial"/>
                <a:cs typeface="Arial"/>
              </a:rPr>
              <a:t>= € 5,125 per kg</a:t>
            </a:r>
          </a:p>
        </p:txBody>
      </p:sp>
      <p:sp>
        <p:nvSpPr>
          <p:cNvPr id="10" name="Winst = (6 − 5,125) × 80&#10;= € 70 per week">
            <a:extLst xmlns:a="http://schemas.openxmlformats.org/drawingml/2006/main">
              <a:ext uri="{FF2B5EF4-FFF2-40B4-BE49-F238E27FC236}">
                <a16:creationId xmlns:a16="http://schemas.microsoft.com/office/drawing/2014/main" id="{20D48AC8-DA29-4DA2-A593-F34977983F89}"/>
              </a:ext>
            </a:extLst>
          </p:cNvPr>
          <p:cNvSpPr>
            <a:spLocks xmlns:a="http://schemas.openxmlformats.org/drawingml/2006/main" noGrp="1"/>
          </p:cNvSpPr>
          <p:nvPr/>
        </p:nvSpPr>
        <p:spPr>
          <a:xfrm xmlns:a="http://schemas.openxmlformats.org/drawingml/2006/main">
            <a:off x="10477500" y="6391275"/>
            <a:ext cx="41910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20665B"/>
                </a:solidFill>
                <a:latin typeface="Arial"/>
                <a:ea typeface="Arial"/>
                <a:cs typeface="Arial"/>
              </a:defRPr>
            </a:pPr>
            <a:r>
              <a:rPr sz="2475" b="1">
                <a:solidFill>
                  <a:srgbClr val="20665B"/>
                </a:solidFill>
                <a:latin typeface="Arial"/>
                <a:ea typeface="Arial"/>
                <a:cs typeface="Arial"/>
              </a:rPr>
              <a:t>Winst = (6 − 5,125) × 80</a:t>
            </a:r>
          </a:p>
          <a:p xmlns:a="http://schemas.openxmlformats.org/drawingml/2006/main">
            <a:pPr algn="l">
              <a:defRPr sz="2475" b="1">
                <a:solidFill>
                  <a:srgbClr val="20665B"/>
                </a:solidFill>
                <a:latin typeface="Arial"/>
                <a:ea typeface="Arial"/>
                <a:cs typeface="Arial"/>
              </a:defRPr>
            </a:pPr>
            <a:r>
              <a:rPr sz="2475" b="1">
                <a:solidFill>
                  <a:srgbClr val="20665B"/>
                </a:solidFill>
                <a:latin typeface="Arial"/>
                <a:ea typeface="Arial"/>
                <a:cs typeface="Arial"/>
              </a:rPr>
              <a:t>= € 70 per week</a:t>
            </a:r>
          </a:p>
        </p:txBody>
      </p:sp>
    </p:spTree>
    <p:extLst>
      <p:ext uri="{BB962C8B-B14F-4D97-AF65-F5344CB8AC3E}">
        <p14:creationId xmlns:p14="http://schemas.microsoft.com/office/powerpoint/2010/main" val="63200447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Herhaling: als de capaciteit eerder stopt">
            <a:extLst xmlns:a="http://schemas.openxmlformats.org/drawingml/2006/main">
              <a:ext uri="{FF2B5EF4-FFF2-40B4-BE49-F238E27FC236}">
                <a16:creationId xmlns:a16="http://schemas.microsoft.com/office/drawing/2014/main" id="{A248DEF9-1406-4F2A-9478-92F69248438D}"/>
              </a:ext>
            </a:extLst>
          </p:cNvPr>
          <p:cNvSpPr>
            <a:spLocks xmlns:a="http://schemas.openxmlformats.org/drawingml/2006/main" noGrp="1"/>
          </p:cNvSpPr>
          <p:nvPr/>
        </p:nvSpPr>
        <p:spPr>
          <a:xfrm xmlns:a="http://schemas.openxmlformats.org/drawingml/2006/main">
            <a:off x="571500" y="38100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Herhaling: als de capaciteit eerder stopt</a:t>
            </a:r>
          </a:p>
        </p:txBody>
      </p:sp>
      <p:sp>
        <p:nvSpPr>
          <p:cNvPr id="2" name="">
            <a:extLst xmlns:a="http://schemas.openxmlformats.org/drawingml/2006/main">
              <a:ext uri="{FF2B5EF4-FFF2-40B4-BE49-F238E27FC236}">
                <a16:creationId xmlns:a16="http://schemas.microsoft.com/office/drawing/2014/main" id="{B13D92AC-B690-4E91-90A1-87D5FFE6A4B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4 Gemengde opgaven">
            <a:extLst xmlns:a="http://schemas.openxmlformats.org/drawingml/2006/main">
              <a:ext uri="{FF2B5EF4-FFF2-40B4-BE49-F238E27FC236}">
                <a16:creationId xmlns:a16="http://schemas.microsoft.com/office/drawing/2014/main" id="{3A17CA09-DAFD-4359-AB46-674799D925EF}"/>
              </a:ext>
            </a:extLst>
          </p:cNvPr>
          <p:cNvSpPr>
            <a:spLocks xmlns:a="http://schemas.openxmlformats.org/drawingml/2006/main" noGrp="1"/>
          </p:cNvSpPr>
          <p:nvPr/>
        </p:nvSpPr>
        <p:spPr>
          <a:xfrm xmlns:a="http://schemas.openxmlformats.org/drawingml/2006/main">
            <a:off x="571500" y="8077200"/>
            <a:ext cx="13239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§3.2.4 Gemengde opgaven</a:t>
            </a:r>
          </a:p>
        </p:txBody>
      </p:sp>
      <p:sp>
        <p:nvSpPr>
          <p:cNvPr id="4" name="slide-number">
            <a:extLst xmlns:a="http://schemas.openxmlformats.org/drawingml/2006/main">
              <a:ext uri="{FF2B5EF4-FFF2-40B4-BE49-F238E27FC236}">
                <a16:creationId xmlns:a16="http://schemas.microsoft.com/office/drawing/2014/main" id="{764EF686-71CD-4411-945E-8E7868C02E30}"/>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5</a:t>
            </a:r>
          </a:p>
        </p:txBody>
      </p:sp>
      <p:sp>
        <p:nvSpPr>
          <p:cNvPr id="5" name="Uitlegvoorbeeld — niet uit het boek">
            <a:extLst xmlns:a="http://schemas.openxmlformats.org/drawingml/2006/main">
              <a:ext uri="{FF2B5EF4-FFF2-40B4-BE49-F238E27FC236}">
                <a16:creationId xmlns:a16="http://schemas.microsoft.com/office/drawing/2014/main" id="{88B1571B-C364-4793-860B-5AA517B570AF}"/>
              </a:ext>
            </a:extLst>
          </p:cNvPr>
          <p:cNvSpPr>
            <a:spLocks xmlns:a="http://schemas.openxmlformats.org/drawingml/2006/main" noGrp="1"/>
          </p:cNvSpPr>
          <p:nvPr/>
        </p:nvSpPr>
        <p:spPr>
          <a:xfrm xmlns:a="http://schemas.openxmlformats.org/drawingml/2006/main">
            <a:off x="571500" y="1666875"/>
            <a:ext cx="1409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Uitlegvoorbeeld — niet uit het boek</a:t>
            </a:r>
          </a:p>
        </p:txBody>
      </p:sp>
      <p:sp>
        <p:nvSpPr>
          <p:cNvPr id="6" name="Zelfde bedrijf en prijs · alleen capaciteit verandert naar 70 kg/week">
            <a:extLst xmlns:a="http://schemas.openxmlformats.org/drawingml/2006/main">
              <a:ext uri="{FF2B5EF4-FFF2-40B4-BE49-F238E27FC236}">
                <a16:creationId xmlns:a16="http://schemas.microsoft.com/office/drawing/2014/main" id="{E036BBE5-50CF-4FFC-84E5-D641C18ABE77}"/>
              </a:ext>
            </a:extLst>
          </p:cNvPr>
          <p:cNvSpPr>
            <a:spLocks xmlns:a="http://schemas.openxmlformats.org/drawingml/2006/main" noGrp="1"/>
          </p:cNvSpPr>
          <p:nvPr/>
        </p:nvSpPr>
        <p:spPr>
          <a:xfrm xmlns:a="http://schemas.openxmlformats.org/drawingml/2006/main">
            <a:off x="571500" y="2390775"/>
            <a:ext cx="14097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83247"/>
                </a:solidFill>
                <a:latin typeface="Arial"/>
                <a:ea typeface="Arial"/>
                <a:cs typeface="Arial"/>
              </a:defRPr>
            </a:pPr>
            <a:r>
              <a:rPr sz="2925" b="1">
                <a:solidFill>
                  <a:srgbClr val="183247"/>
                </a:solidFill>
                <a:latin typeface="Arial"/>
                <a:ea typeface="Arial"/>
                <a:cs typeface="Arial"/>
              </a:rPr>
              <a:t>Zelfde bedrijf en prijs · alleen capaciteit verandert naar 70 kg/week</a:t>
            </a:r>
          </a:p>
        </p:txBody>
      </p:sp>
      <p:graphicFrame>
        <p:nvGraphicFramePr>
          <p:cNvPr id="15" name=""/>
          <p:cNvGraphicFramePr/>
          <p:nvPr/>
        </p:nvGraphicFramePr>
        <p:xfrm>
          <a:off xmlns:a="http://schemas.openxmlformats.org/drawingml/2006/main" x="571500" y="3714750"/>
          <a:ext xmlns:a="http://schemas.openxmlformats.org/drawingml/2006/main" cx="14097000" cy="2809875"/>
        </p:xfrm>
        <a:graphic xmlns:a="http://schemas.openxmlformats.org/drawingml/2006/main">
          <a:graphicData uri="http://schemas.openxmlformats.org/drawingml/2006/table">
            <a:tbl>
              <a:tblPr/>
              <a:tblGrid>
                <a:gridCol w="6000750"/>
                <a:gridCol w="8096250"/>
              </a:tblGrid>
              <a:tr h="702469">
                <a:tc>
                  <a:txBody>
                    <a:bodyPr lIns="152400" tIns="95250" rIns="133350" bIns="95250"/>
                    <a:lstStyle/>
                    <a:p>
                      <a:r>
                        <a:rPr sz="2550" b="1">
                          <a:solidFill>
                            <a:srgbClr val="FFFFFF"/>
                          </a:solidFill>
                          <a:latin typeface="Arial"/>
                          <a:ea typeface="Arial"/>
                          <a:cs typeface="Arial"/>
                        </a:rPr>
                        <a:t>Controle</a:t>
                      </a:r>
                    </a:p>
                  </a:txBody>
                  <a:tcPr marL="91440" marR="91440" marT="45720" marB="45720" anchor="ctr">
                    <a:solidFill>
                      <a:srgbClr val="183247"/>
                    </a:solidFill>
                  </a:tcPr>
                </a:tc>
                <a:tc>
                  <a:txBody>
                    <a:bodyPr lIns="152400" tIns="95250" rIns="133350" bIns="95250"/>
                    <a:lstStyle/>
                    <a:p>
                      <a:r>
                        <a:rPr sz="2550" b="1">
                          <a:solidFill>
                            <a:srgbClr val="FFFFFF"/>
                          </a:solidFill>
                          <a:latin typeface="Arial"/>
                          <a:ea typeface="Arial"/>
                          <a:cs typeface="Arial"/>
                        </a:rPr>
                        <a:t>Uitkomst</a:t>
                      </a:r>
                    </a:p>
                  </a:txBody>
                  <a:tcPr marL="91440" marR="91440" marT="45720" marB="45720" anchor="ctr">
                    <a:solidFill>
                      <a:srgbClr val="183247"/>
                    </a:solidFill>
                  </a:tcPr>
                </a:tc>
              </a:tr>
              <a:tr h="702469">
                <a:tc>
                  <a:txBody>
                    <a:bodyPr lIns="152400" tIns="95250" rIns="133350" bIns="95250"/>
                    <a:lstStyle/>
                    <a:p>
                      <a:r>
                        <a:rPr sz="2550" b="0">
                          <a:solidFill>
                            <a:srgbClr val="183247"/>
                          </a:solidFill>
                          <a:latin typeface="Arial"/>
                          <a:ea typeface="Arial"/>
                          <a:cs typeface="Arial"/>
                        </a:rPr>
                        <a:t>Snijpunt MO = MK</a:t>
                      </a:r>
                    </a:p>
                  </a:txBody>
                  <a:tcPr marL="91440" marR="91440" marT="45720" marB="45720" anchor="ctr">
                    <a:solidFill>
                      <a:srgbClr val="FFFFFF"/>
                    </a:solidFill>
                  </a:tcPr>
                </a:tc>
                <a:tc>
                  <a:txBody>
                    <a:bodyPr lIns="152400" tIns="95250" rIns="133350" bIns="95250"/>
                    <a:lstStyle/>
                    <a:p>
                      <a:r>
                        <a:rPr sz="2550" b="0">
                          <a:solidFill>
                            <a:srgbClr val="183247"/>
                          </a:solidFill>
                          <a:latin typeface="Arial"/>
                          <a:ea typeface="Arial"/>
                          <a:cs typeface="Arial"/>
                        </a:rPr>
                        <a:t>q = 80: niet haalbaar</a:t>
                      </a:r>
                    </a:p>
                  </a:txBody>
                  <a:tcPr marL="91440" marR="91440" marT="45720" marB="45720" anchor="ctr">
                    <a:solidFill>
                      <a:srgbClr val="FFFFFF"/>
                    </a:solidFill>
                  </a:tcPr>
                </a:tc>
              </a:tr>
              <a:tr h="702469">
                <a:tc>
                  <a:txBody>
                    <a:bodyPr lIns="152400" tIns="95250" rIns="133350" bIns="95250"/>
                    <a:lstStyle/>
                    <a:p>
                      <a:r>
                        <a:rPr sz="2550" b="0">
                          <a:solidFill>
                            <a:srgbClr val="183247"/>
                          </a:solidFill>
                          <a:latin typeface="Arial"/>
                          <a:ea typeface="Arial"/>
                          <a:cs typeface="Arial"/>
                        </a:rPr>
                        <a:t>Aan de grens q = 70</a:t>
                      </a:r>
                    </a:p>
                  </a:txBody>
                  <a:tcPr marL="91440" marR="91440" marT="45720" marB="45720" anchor="ctr">
                    <a:solidFill>
                      <a:srgbClr val="EFF4F7"/>
                    </a:solidFill>
                  </a:tcPr>
                </a:tc>
                <a:tc>
                  <a:txBody>
                    <a:bodyPr lIns="152400" tIns="95250" rIns="133350" bIns="95250"/>
                    <a:lstStyle/>
                    <a:p>
                      <a:r>
                        <a:rPr sz="2550" b="0">
                          <a:solidFill>
                            <a:srgbClr val="183247"/>
                          </a:solidFill>
                          <a:latin typeface="Arial"/>
                          <a:ea typeface="Arial"/>
                          <a:cs typeface="Arial"/>
                        </a:rPr>
                        <a:t>MK = 0,05 × 70 + 2 = € 5,50 per kg</a:t>
                      </a:r>
                    </a:p>
                  </a:txBody>
                  <a:tcPr marL="91440" marR="91440" marT="45720" marB="45720" anchor="ctr">
                    <a:solidFill>
                      <a:srgbClr val="EFF4F7"/>
                    </a:solidFill>
                  </a:tcPr>
                </a:tc>
              </a:tr>
              <a:tr h="702469">
                <a:tc>
                  <a:txBody>
                    <a:bodyPr lIns="152400" tIns="95250" rIns="133350" bIns="95250"/>
                    <a:lstStyle/>
                    <a:p>
                      <a:r>
                        <a:rPr sz="2550" b="0">
                          <a:solidFill>
                            <a:srgbClr val="183247"/>
                          </a:solidFill>
                          <a:latin typeface="Arial"/>
                          <a:ea typeface="Arial"/>
                          <a:cs typeface="Arial"/>
                        </a:rPr>
                        <a:t>Marginale vergelijking</a:t>
                      </a:r>
                    </a:p>
                  </a:txBody>
                  <a:tcPr marL="91440" marR="91440" marT="45720" marB="45720" anchor="ctr">
                    <a:solidFill>
                      <a:srgbClr val="FFFFFF"/>
                    </a:solidFill>
                  </a:tcPr>
                </a:tc>
                <a:tc>
                  <a:txBody>
                    <a:bodyPr lIns="152400" tIns="95250" rIns="133350" bIns="95250"/>
                    <a:lstStyle/>
                    <a:p>
                      <a:r>
                        <a:rPr sz="2550" b="0">
                          <a:solidFill>
                            <a:srgbClr val="183247"/>
                          </a:solidFill>
                          <a:latin typeface="Arial"/>
                          <a:ea typeface="Arial"/>
                          <a:cs typeface="Arial"/>
                        </a:rPr>
                        <a:t>MO = € 6 &gt; MK tot aan de grens</a:t>
                      </a:r>
                    </a:p>
                  </a:txBody>
                  <a:tcPr marL="91440" marR="91440" marT="45720" marB="45720" anchor="ctr">
                    <a:solidFill>
                      <a:srgbClr val="FFFFFF"/>
                    </a:solidFill>
                  </a:tcPr>
                </a:tc>
              </a:tr>
            </a:tbl>
          </a:graphicData>
        </a:graphic>
      </p:graphicFrame>
      <p:sp>
        <p:nvSpPr>
          <p:cNvPr id="8" name="Beste haalbare q = 70 kg per week">
            <a:extLst xmlns:a="http://schemas.openxmlformats.org/drawingml/2006/main">
              <a:ext uri="{FF2B5EF4-FFF2-40B4-BE49-F238E27FC236}">
                <a16:creationId xmlns:a16="http://schemas.microsoft.com/office/drawing/2014/main" id="{ED48CF55-637F-4E13-8EF9-3F0F5E6094C9}"/>
              </a:ext>
            </a:extLst>
          </p:cNvPr>
          <p:cNvSpPr>
            <a:spLocks xmlns:a="http://schemas.openxmlformats.org/drawingml/2006/main" noGrp="1"/>
          </p:cNvSpPr>
          <p:nvPr/>
        </p:nvSpPr>
        <p:spPr>
          <a:xfrm xmlns:a="http://schemas.openxmlformats.org/drawingml/2006/main">
            <a:off x="571500" y="7210425"/>
            <a:ext cx="1409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658A"/>
                </a:solidFill>
                <a:latin typeface="Arial"/>
                <a:ea typeface="Arial"/>
                <a:cs typeface="Arial"/>
              </a:defRPr>
            </a:pPr>
            <a:r>
              <a:rPr sz="3375" b="1">
                <a:solidFill>
                  <a:srgbClr val="17658A"/>
                </a:solidFill>
                <a:latin typeface="Arial"/>
                <a:ea typeface="Arial"/>
                <a:cs typeface="Arial"/>
              </a:rPr>
              <a:t>Beste haalbare q = 70 kg per week</a:t>
            </a:r>
          </a:p>
        </p:txBody>
      </p:sp>
    </p:spTree>
    <p:extLst>
      <p:ext uri="{BB962C8B-B14F-4D97-AF65-F5344CB8AC3E}">
        <p14:creationId xmlns:p14="http://schemas.microsoft.com/office/powerpoint/2010/main" val="4126268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3.2.4 Gemengde opgaven">
            <a:extLst xmlns:a="http://schemas.openxmlformats.org/drawingml/2006/main">
              <a:ext uri="{FF2B5EF4-FFF2-40B4-BE49-F238E27FC236}">
                <a16:creationId xmlns:a16="http://schemas.microsoft.com/office/drawing/2014/main" id="{793B8D81-E69C-4F26-A979-DC112DBCE3E1}"/>
              </a:ext>
            </a:extLst>
          </p:cNvPr>
          <p:cNvSpPr>
            <a:spLocks xmlns:a="http://schemas.openxmlformats.org/drawingml/2006/main" noGrp="1"/>
          </p:cNvSpPr>
          <p:nvPr/>
        </p:nvSpPr>
        <p:spPr>
          <a:xfrm xmlns:a="http://schemas.openxmlformats.org/drawingml/2006/main">
            <a:off x="571500" y="38100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Deze les: §3.2.4 Gemengde opgaven</a:t>
            </a:r>
          </a:p>
        </p:txBody>
      </p:sp>
      <p:sp>
        <p:nvSpPr>
          <p:cNvPr id="2" name="">
            <a:extLst xmlns:a="http://schemas.openxmlformats.org/drawingml/2006/main">
              <a:ext uri="{FF2B5EF4-FFF2-40B4-BE49-F238E27FC236}">
                <a16:creationId xmlns:a16="http://schemas.microsoft.com/office/drawing/2014/main" id="{55DD1D25-4D6B-4127-B324-C59DB3373FB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4 Gemengde opgaven">
            <a:extLst xmlns:a="http://schemas.openxmlformats.org/drawingml/2006/main">
              <a:ext uri="{FF2B5EF4-FFF2-40B4-BE49-F238E27FC236}">
                <a16:creationId xmlns:a16="http://schemas.microsoft.com/office/drawing/2014/main" id="{BA037968-A5FD-4DCB-A309-AAC4885746FB}"/>
              </a:ext>
            </a:extLst>
          </p:cNvPr>
          <p:cNvSpPr>
            <a:spLocks xmlns:a="http://schemas.openxmlformats.org/drawingml/2006/main" noGrp="1"/>
          </p:cNvSpPr>
          <p:nvPr/>
        </p:nvSpPr>
        <p:spPr>
          <a:xfrm xmlns:a="http://schemas.openxmlformats.org/drawingml/2006/main">
            <a:off x="571500" y="8077200"/>
            <a:ext cx="13239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§3.2.4 Gemengde opgaven</a:t>
            </a:r>
          </a:p>
        </p:txBody>
      </p:sp>
      <p:sp>
        <p:nvSpPr>
          <p:cNvPr id="4" name="slide-number">
            <a:extLst xmlns:a="http://schemas.openxmlformats.org/drawingml/2006/main">
              <a:ext uri="{FF2B5EF4-FFF2-40B4-BE49-F238E27FC236}">
                <a16:creationId xmlns:a16="http://schemas.microsoft.com/office/drawing/2014/main" id="{775E9B42-BDC7-43BC-8A01-D5A273D9ADB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6</a:t>
            </a:r>
          </a:p>
        </p:txBody>
      </p:sp>
      <p:sp>
        <p:nvSpPr>
          <p:cNvPr id="5" name="phase">
            <a:extLst xmlns:a="http://schemas.openxmlformats.org/drawingml/2006/main">
              <a:ext uri="{FF2B5EF4-FFF2-40B4-BE49-F238E27FC236}">
                <a16:creationId xmlns:a16="http://schemas.microsoft.com/office/drawing/2014/main" id="{85CC6515-F9E1-4197-87E4-7F228F07466F}"/>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Zelf werken</a:t>
            </a:r>
          </a:p>
        </p:txBody>
      </p:sp>
      <p:sp>
        <p:nvSpPr>
          <p:cNvPr id="6" name="Lesroute">
            <a:extLst xmlns:a="http://schemas.openxmlformats.org/drawingml/2006/main">
              <a:ext uri="{FF2B5EF4-FFF2-40B4-BE49-F238E27FC236}">
                <a16:creationId xmlns:a16="http://schemas.microsoft.com/office/drawing/2014/main" id="{0FBF7B71-A347-4739-A95C-2102DF59E33B}"/>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0">
            <a:extLst xmlns:a="http://schemas.openxmlformats.org/drawingml/2006/main">
              <a:ext uri="{FF2B5EF4-FFF2-40B4-BE49-F238E27FC236}">
                <a16:creationId xmlns:a16="http://schemas.microsoft.com/office/drawing/2014/main" id="{E5BFF045-9207-4D46-938B-28F056237D42}"/>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0">
            <a:extLst xmlns:a="http://schemas.openxmlformats.org/drawingml/2006/main">
              <a:ext uri="{FF2B5EF4-FFF2-40B4-BE49-F238E27FC236}">
                <a16:creationId xmlns:a16="http://schemas.microsoft.com/office/drawing/2014/main" id="{1D329E58-3B3F-4CA1-A784-F8D8C26AFC10}"/>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1">
            <a:extLst xmlns:a="http://schemas.openxmlformats.org/drawingml/2006/main">
              <a:ext uri="{FF2B5EF4-FFF2-40B4-BE49-F238E27FC236}">
                <a16:creationId xmlns:a16="http://schemas.microsoft.com/office/drawing/2014/main" id="{142A8020-C511-46FA-ABC1-AB5A2E33D3AC}"/>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1">
            <a:extLst xmlns:a="http://schemas.openxmlformats.org/drawingml/2006/main">
              <a:ext uri="{FF2B5EF4-FFF2-40B4-BE49-F238E27FC236}">
                <a16:creationId xmlns:a16="http://schemas.microsoft.com/office/drawing/2014/main" id="{6EA4F284-5334-45F1-B434-A7D07E42952C}"/>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2">
            <a:extLst xmlns:a="http://schemas.openxmlformats.org/drawingml/2006/main">
              <a:ext uri="{FF2B5EF4-FFF2-40B4-BE49-F238E27FC236}">
                <a16:creationId xmlns:a16="http://schemas.microsoft.com/office/drawing/2014/main" id="{115C98A4-9E0D-4234-90CE-E9B705DC9CA9}"/>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2">
            <a:extLst xmlns:a="http://schemas.openxmlformats.org/drawingml/2006/main">
              <a:ext uri="{FF2B5EF4-FFF2-40B4-BE49-F238E27FC236}">
                <a16:creationId xmlns:a16="http://schemas.microsoft.com/office/drawing/2014/main" id="{3996157B-A6F5-45AB-9740-7D29013D2F67}"/>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Korte herhaling en aanpak.</a:t>
            </a:r>
          </a:p>
        </p:txBody>
      </p:sp>
      <p:sp>
        <p:nvSpPr>
          <p:cNvPr id="13" name="route-number-3">
            <a:extLst xmlns:a="http://schemas.openxmlformats.org/drawingml/2006/main">
              <a:ext uri="{FF2B5EF4-FFF2-40B4-BE49-F238E27FC236}">
                <a16:creationId xmlns:a16="http://schemas.microsoft.com/office/drawing/2014/main" id="{E51E80AD-2E0B-4C96-AD3B-D5B74DB3DDE5}"/>
              </a:ext>
            </a:extLst>
          </p:cNvPr>
          <p:cNvSpPr>
            <a:spLocks xmlns:a="http://schemas.openxmlformats.org/drawingml/2006/main" noGrp="1"/>
          </p:cNvSpPr>
          <p:nvPr/>
        </p:nvSpPr>
        <p:spPr>
          <a:xfrm xmlns:a="http://schemas.openxmlformats.org/drawingml/2006/main">
            <a:off x="571500" y="4248150"/>
            <a:ext cx="4572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4.</a:t>
            </a:r>
          </a:p>
        </p:txBody>
      </p:sp>
      <p:sp>
        <p:nvSpPr>
          <p:cNvPr id="14" name="route-3">
            <a:extLst xmlns:a="http://schemas.openxmlformats.org/drawingml/2006/main">
              <a:ext uri="{FF2B5EF4-FFF2-40B4-BE49-F238E27FC236}">
                <a16:creationId xmlns:a16="http://schemas.microsoft.com/office/drawing/2014/main" id="{21C8FB8C-E79F-45FC-A649-48FED651215F}"/>
              </a:ext>
            </a:extLst>
          </p:cNvPr>
          <p:cNvSpPr>
            <a:spLocks xmlns:a="http://schemas.openxmlformats.org/drawingml/2006/main" noGrp="1"/>
          </p:cNvSpPr>
          <p:nvPr/>
        </p:nvSpPr>
        <p:spPr>
          <a:xfrm xmlns:a="http://schemas.openxmlformats.org/drawingml/2006/main">
            <a:off x="1104900" y="4248150"/>
            <a:ext cx="741997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Werk verder aan de gemengde opgaven, stel vragen en kijk je antwoorden na.</a:t>
            </a:r>
          </a:p>
        </p:txBody>
      </p:sp>
      <p:sp>
        <p:nvSpPr>
          <p:cNvPr id="15" name="route-number-4">
            <a:extLst xmlns:a="http://schemas.openxmlformats.org/drawingml/2006/main">
              <a:ext uri="{FF2B5EF4-FFF2-40B4-BE49-F238E27FC236}">
                <a16:creationId xmlns:a16="http://schemas.microsoft.com/office/drawing/2014/main" id="{FE7422FA-17D9-4E0E-A943-9BBC38E25746}"/>
              </a:ext>
            </a:extLst>
          </p:cNvPr>
          <p:cNvSpPr>
            <a:spLocks xmlns:a="http://schemas.openxmlformats.org/drawingml/2006/main" noGrp="1"/>
          </p:cNvSpPr>
          <p:nvPr/>
        </p:nvSpPr>
        <p:spPr>
          <a:xfrm xmlns:a="http://schemas.openxmlformats.org/drawingml/2006/main">
            <a:off x="571500" y="5657850"/>
            <a:ext cx="4572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4">
            <a:extLst xmlns:a="http://schemas.openxmlformats.org/drawingml/2006/main">
              <a:ext uri="{FF2B5EF4-FFF2-40B4-BE49-F238E27FC236}">
                <a16:creationId xmlns:a16="http://schemas.microsoft.com/office/drawing/2014/main" id="{25BABF32-D677-4A25-89FD-F369E94F8634}"/>
              </a:ext>
            </a:extLst>
          </p:cNvPr>
          <p:cNvSpPr>
            <a:spLocks xmlns:a="http://schemas.openxmlformats.org/drawingml/2006/main" noGrp="1"/>
          </p:cNvSpPr>
          <p:nvPr/>
        </p:nvSpPr>
        <p:spPr>
          <a:xfrm xmlns:a="http://schemas.openxmlformats.org/drawingml/2006/main">
            <a:off x="1104900" y="5657850"/>
            <a:ext cx="741997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5">
            <a:extLst xmlns:a="http://schemas.openxmlformats.org/drawingml/2006/main">
              <a:ext uri="{FF2B5EF4-FFF2-40B4-BE49-F238E27FC236}">
                <a16:creationId xmlns:a16="http://schemas.microsoft.com/office/drawing/2014/main" id="{B5F07D0C-3100-440C-8178-F22EA2259CEC}"/>
              </a:ext>
            </a:extLst>
          </p:cNvPr>
          <p:cNvSpPr>
            <a:spLocks xmlns:a="http://schemas.openxmlformats.org/drawingml/2006/main" noGrp="1"/>
          </p:cNvSpPr>
          <p:nvPr/>
        </p:nvSpPr>
        <p:spPr>
          <a:xfrm xmlns:a="http://schemas.openxmlformats.org/drawingml/2006/main">
            <a:off x="571500" y="6553200"/>
            <a:ext cx="457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5">
            <a:extLst xmlns:a="http://schemas.openxmlformats.org/drawingml/2006/main">
              <a:ext uri="{FF2B5EF4-FFF2-40B4-BE49-F238E27FC236}">
                <a16:creationId xmlns:a16="http://schemas.microsoft.com/office/drawing/2014/main" id="{66AEB57F-4462-4AC8-BA86-FADF8236ADE4}"/>
              </a:ext>
            </a:extLst>
          </p:cNvPr>
          <p:cNvSpPr>
            <a:spLocks xmlns:a="http://schemas.openxmlformats.org/drawingml/2006/main" noGrp="1"/>
          </p:cNvSpPr>
          <p:nvPr/>
        </p:nvSpPr>
        <p:spPr>
          <a:xfrm xmlns:a="http://schemas.openxmlformats.org/drawingml/2006/main">
            <a:off x="1104900" y="6553200"/>
            <a:ext cx="74199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opgave 35.</a:t>
            </a:r>
          </a:p>
        </p:txBody>
      </p:sp>
      <p:sp>
        <p:nvSpPr>
          <p:cNvPr id="19" name="route-number-6">
            <a:extLst xmlns:a="http://schemas.openxmlformats.org/drawingml/2006/main">
              <a:ext uri="{FF2B5EF4-FFF2-40B4-BE49-F238E27FC236}">
                <a16:creationId xmlns:a16="http://schemas.microsoft.com/office/drawing/2014/main" id="{48F40530-99EA-4954-950F-E65C86030443}"/>
              </a:ext>
            </a:extLst>
          </p:cNvPr>
          <p:cNvSpPr>
            <a:spLocks xmlns:a="http://schemas.openxmlformats.org/drawingml/2006/main" noGrp="1"/>
          </p:cNvSpPr>
          <p:nvPr/>
        </p:nvSpPr>
        <p:spPr>
          <a:xfrm xmlns:a="http://schemas.openxmlformats.org/drawingml/2006/main">
            <a:off x="571500" y="737235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6">
            <a:extLst xmlns:a="http://schemas.openxmlformats.org/drawingml/2006/main">
              <a:ext uri="{FF2B5EF4-FFF2-40B4-BE49-F238E27FC236}">
                <a16:creationId xmlns:a16="http://schemas.microsoft.com/office/drawing/2014/main" id="{CA1AB0EE-4F74-4C6C-89D6-5BAA79BE3116}"/>
              </a:ext>
            </a:extLst>
          </p:cNvPr>
          <p:cNvSpPr>
            <a:spLocks xmlns:a="http://schemas.openxmlformats.org/drawingml/2006/main" noGrp="1"/>
          </p:cNvSpPr>
          <p:nvPr/>
        </p:nvSpPr>
        <p:spPr>
          <a:xfrm xmlns:a="http://schemas.openxmlformats.org/drawingml/2006/main">
            <a:off x="1104900" y="737235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9D5F57E7-3E08-4840-A5D5-4B6A685560B0}"/>
              </a:ext>
            </a:extLst>
          </p:cNvPr>
          <p:cNvSpPr>
            <a:spLocks xmlns:a="http://schemas.openxmlformats.org/drawingml/2006/main" noGrp="1"/>
          </p:cNvSpPr>
          <p:nvPr/>
        </p:nvSpPr>
        <p:spPr>
          <a:xfrm xmlns:a="http://schemas.openxmlformats.org/drawingml/2006/main">
            <a:off x="9258300" y="1762125"/>
            <a:ext cx="5410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20D04A0E-EADD-4C90-A536-AE7370D641CB}"/>
              </a:ext>
            </a:extLst>
          </p:cNvPr>
          <p:cNvSpPr>
            <a:spLocks xmlns:a="http://schemas.openxmlformats.org/drawingml/2006/main" noGrp="1"/>
          </p:cNvSpPr>
          <p:nvPr/>
        </p:nvSpPr>
        <p:spPr>
          <a:xfrm xmlns:a="http://schemas.openxmlformats.org/drawingml/2006/main">
            <a:off x="9258300" y="2324100"/>
            <a:ext cx="54102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Marktprijs en productie bepalen.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Keuze en winst onderbouwen.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Q en q onderscheiden.</a:t>
            </a:r>
          </a:p>
        </p:txBody>
      </p:sp>
      <p:sp>
        <p:nvSpPr>
          <p:cNvPr id="23" name="">
            <a:extLst xmlns:a="http://schemas.openxmlformats.org/drawingml/2006/main">
              <a:ext uri="{FF2B5EF4-FFF2-40B4-BE49-F238E27FC236}">
                <a16:creationId xmlns:a16="http://schemas.microsoft.com/office/drawing/2014/main" id="{1BFC0270-D8A0-40CD-A9D1-C2281173147B}"/>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B9085FFA-5C2F-4AC6-9D76-022B28C0FDFD}"/>
              </a:ext>
            </a:extLst>
          </p:cNvPr>
          <p:cNvSpPr>
            <a:spLocks xmlns:a="http://schemas.openxmlformats.org/drawingml/2006/main" noGrp="1"/>
          </p:cNvSpPr>
          <p:nvPr/>
        </p:nvSpPr>
        <p:spPr>
          <a:xfrm xmlns:a="http://schemas.openxmlformats.org/drawingml/2006/main">
            <a:off x="9258300" y="3819525"/>
            <a:ext cx="5410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4FBC594A-E55D-4495-80F9-522D011927B3}"/>
              </a:ext>
            </a:extLst>
          </p:cNvPr>
          <p:cNvSpPr>
            <a:spLocks xmlns:a="http://schemas.openxmlformats.org/drawingml/2006/main" noGrp="1"/>
          </p:cNvSpPr>
          <p:nvPr/>
        </p:nvSpPr>
        <p:spPr>
          <a:xfrm xmlns:a="http://schemas.openxmlformats.org/drawingml/2006/main">
            <a:off x="9258300" y="4352925"/>
            <a:ext cx="54102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79 · Opgave 31</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Steun: uitleg p. 54–56</a:t>
            </a:r>
          </a:p>
        </p:txBody>
      </p:sp>
      <p:sp>
        <p:nvSpPr>
          <p:cNvPr id="26" name="">
            <a:extLst xmlns:a="http://schemas.openxmlformats.org/drawingml/2006/main">
              <a:ext uri="{FF2B5EF4-FFF2-40B4-BE49-F238E27FC236}">
                <a16:creationId xmlns:a16="http://schemas.microsoft.com/office/drawing/2014/main" id="{439E2266-E54C-4AAC-9C25-BE455B8ED0C9}"/>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1C6E2FF6-4D45-490F-B27C-C92C15DDE467}"/>
              </a:ext>
            </a:extLst>
          </p:cNvPr>
          <p:cNvSpPr>
            <a:spLocks xmlns:a="http://schemas.openxmlformats.org/drawingml/2006/main" noGrp="1"/>
          </p:cNvSpPr>
          <p:nvPr/>
        </p:nvSpPr>
        <p:spPr>
          <a:xfrm xmlns:a="http://schemas.openxmlformats.org/drawingml/2006/main">
            <a:off x="9258300" y="5648325"/>
            <a:ext cx="5410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D07C3A20-69C3-4781-9A17-1944DC536477}"/>
              </a:ext>
            </a:extLst>
          </p:cNvPr>
          <p:cNvSpPr>
            <a:spLocks xmlns:a="http://schemas.openxmlformats.org/drawingml/2006/main" noGrp="1"/>
          </p:cNvSpPr>
          <p:nvPr/>
        </p:nvSpPr>
        <p:spPr>
          <a:xfrm xmlns:a="http://schemas.openxmlformats.org/drawingml/2006/main">
            <a:off x="9258300" y="6191250"/>
            <a:ext cx="54102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§3.2.4 · Maken en nakijken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31–34: voorbereiding</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35: doeloefening</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36: bonus · 37: herhaling</a:t>
            </a:r>
          </a:p>
        </p:txBody>
      </p:sp>
    </p:spTree>
    <p:extLst>
      <p:ext uri="{BB962C8B-B14F-4D97-AF65-F5344CB8AC3E}">
        <p14:creationId xmlns:p14="http://schemas.microsoft.com/office/powerpoint/2010/main" val="201545311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35: kweekkorrels op twee momenten">
            <a:extLst xmlns:a="http://schemas.openxmlformats.org/drawingml/2006/main">
              <a:ext uri="{FF2B5EF4-FFF2-40B4-BE49-F238E27FC236}">
                <a16:creationId xmlns:a16="http://schemas.microsoft.com/office/drawing/2014/main" id="{7B1B6CE4-480D-43BD-9DBD-C7D98ACA2127}"/>
              </a:ext>
            </a:extLst>
          </p:cNvPr>
          <p:cNvSpPr>
            <a:spLocks xmlns:a="http://schemas.openxmlformats.org/drawingml/2006/main" noGrp="1"/>
          </p:cNvSpPr>
          <p:nvPr/>
        </p:nvSpPr>
        <p:spPr>
          <a:xfrm xmlns:a="http://schemas.openxmlformats.org/drawingml/2006/main">
            <a:off x="571500" y="38100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Opgave 35: kweekkorrels op twee momenten</a:t>
            </a:r>
          </a:p>
        </p:txBody>
      </p:sp>
      <p:sp>
        <p:nvSpPr>
          <p:cNvPr id="2" name="">
            <a:extLst xmlns:a="http://schemas.openxmlformats.org/drawingml/2006/main">
              <a:ext uri="{FF2B5EF4-FFF2-40B4-BE49-F238E27FC236}">
                <a16:creationId xmlns:a16="http://schemas.microsoft.com/office/drawing/2014/main" id="{7BD19DF5-69BF-4F9D-A06A-547025639E11}"/>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4 Gemengde opgaven · Boekpagina 82–83">
            <a:extLst xmlns:a="http://schemas.openxmlformats.org/drawingml/2006/main">
              <a:ext uri="{FF2B5EF4-FFF2-40B4-BE49-F238E27FC236}">
                <a16:creationId xmlns:a16="http://schemas.microsoft.com/office/drawing/2014/main" id="{6DA2C318-52A0-4FB5-8F22-5F8B8A549142}"/>
              </a:ext>
            </a:extLst>
          </p:cNvPr>
          <p:cNvSpPr>
            <a:spLocks xmlns:a="http://schemas.openxmlformats.org/drawingml/2006/main" noGrp="1"/>
          </p:cNvSpPr>
          <p:nvPr/>
        </p:nvSpPr>
        <p:spPr>
          <a:xfrm xmlns:a="http://schemas.openxmlformats.org/drawingml/2006/main">
            <a:off x="571500" y="8077200"/>
            <a:ext cx="13239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§3.2.4 Gemengde opgaven · Boekpagina 82–83</a:t>
            </a:r>
          </a:p>
        </p:txBody>
      </p:sp>
      <p:sp>
        <p:nvSpPr>
          <p:cNvPr id="4" name="slide-number">
            <a:extLst xmlns:a="http://schemas.openxmlformats.org/drawingml/2006/main">
              <a:ext uri="{FF2B5EF4-FFF2-40B4-BE49-F238E27FC236}">
                <a16:creationId xmlns:a16="http://schemas.microsoft.com/office/drawing/2014/main" id="{97F204BC-9529-4889-AC2F-D1BA9D5478F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7</a:t>
            </a:r>
          </a:p>
        </p:txBody>
      </p:sp>
      <p:sp>
        <p:nvSpPr>
          <p:cNvPr id="5" name="Bron A · De markt">
            <a:extLst xmlns:a="http://schemas.openxmlformats.org/drawingml/2006/main">
              <a:ext uri="{FF2B5EF4-FFF2-40B4-BE49-F238E27FC236}">
                <a16:creationId xmlns:a16="http://schemas.microsoft.com/office/drawing/2014/main" id="{B4B9EAC9-C39F-462E-BED8-803691154947}"/>
              </a:ext>
            </a:extLst>
          </p:cNvPr>
          <p:cNvSpPr>
            <a:spLocks xmlns:a="http://schemas.openxmlformats.org/drawingml/2006/main" noGrp="1"/>
          </p:cNvSpPr>
          <p:nvPr/>
        </p:nvSpPr>
        <p:spPr>
          <a:xfrm xmlns:a="http://schemas.openxmlformats.org/drawingml/2006/main">
            <a:off x="571500" y="1781175"/>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Bron A · De markt</a:t>
            </a:r>
          </a:p>
        </p:txBody>
      </p:sp>
      <p:sp>
        <p:nvSpPr>
          <p:cNvPr id="6" name="Veel kleine bedrijven verkopen dezelfde kwaliteit kweekkorrels.&#10;Kopers">
            <a:extLst xmlns:a="http://schemas.openxmlformats.org/drawingml/2006/main">
              <a:ext uri="{FF2B5EF4-FFF2-40B4-BE49-F238E27FC236}">
                <a16:creationId xmlns:a16="http://schemas.microsoft.com/office/drawing/2014/main" id="{5ED4DF0E-F17A-45DC-842B-71B41F9B521B}"/>
              </a:ext>
            </a:extLst>
          </p:cNvPr>
          <p:cNvSpPr>
            <a:spLocks xmlns:a="http://schemas.openxmlformats.org/drawingml/2006/main" noGrp="1"/>
          </p:cNvSpPr>
          <p:nvPr/>
        </p:nvSpPr>
        <p:spPr>
          <a:xfrm xmlns:a="http://schemas.openxmlformats.org/drawingml/2006/main">
            <a:off x="571500" y="2600325"/>
            <a:ext cx="140970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Veel kleine bedrijven verkopen dezelfde kwaliteit kweekkorrels.</a:t>
            </a:r>
          </a:p>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Kopers kennen de prijzen.</a:t>
            </a:r>
          </a:p>
        </p:txBody>
      </p:sp>
      <p:graphicFrame>
        <p:nvGraphicFramePr>
          <p:cNvPr id="16" name=""/>
          <p:cNvGraphicFramePr/>
          <p:nvPr/>
        </p:nvGraphicFramePr>
        <p:xfrm>
          <a:off xmlns:a="http://schemas.openxmlformats.org/drawingml/2006/main" x="571500" y="3952875"/>
          <a:ext xmlns:a="http://schemas.openxmlformats.org/drawingml/2006/main" cx="14097000" cy="2352675"/>
        </p:xfrm>
        <a:graphic xmlns:a="http://schemas.openxmlformats.org/drawingml/2006/main">
          <a:graphicData uri="http://schemas.openxmlformats.org/drawingml/2006/table">
            <a:tbl>
              <a:tblPr/>
              <a:tblGrid>
                <a:gridCol w="7048500"/>
                <a:gridCol w="7048500"/>
              </a:tblGrid>
              <a:tr h="784225">
                <a:tc>
                  <a:txBody>
                    <a:bodyPr lIns="152400" tIns="95250" rIns="133350" bIns="95250"/>
                    <a:lstStyle/>
                    <a:p>
                      <a:r>
                        <a:rPr sz="2550" b="1">
                          <a:solidFill>
                            <a:srgbClr val="FFFFFF"/>
                          </a:solidFill>
                          <a:latin typeface="Arial"/>
                          <a:ea typeface="Arial"/>
                          <a:cs typeface="Arial"/>
                        </a:rPr>
                        <a:t>Beginsituatie</a:t>
                      </a:r>
                    </a:p>
                  </a:txBody>
                  <a:tcPr marL="91440" marR="91440" marT="45720" marB="45720" anchor="ctr">
                    <a:solidFill>
                      <a:srgbClr val="183247"/>
                    </a:solidFill>
                  </a:tcPr>
                </a:tc>
                <a:tc>
                  <a:txBody>
                    <a:bodyPr lIns="152400" tIns="95250" rIns="133350" bIns="95250"/>
                    <a:lstStyle/>
                    <a:p>
                      <a:r>
                        <a:rPr sz="2550" b="1">
                          <a:solidFill>
                            <a:srgbClr val="FFFFFF"/>
                          </a:solidFill>
                          <a:latin typeface="Arial"/>
                          <a:ea typeface="Arial"/>
                          <a:cs typeface="Arial"/>
                        </a:rPr>
                        <a:t>Direct na nieuwe toepassing</a:t>
                      </a:r>
                    </a:p>
                  </a:txBody>
                  <a:tcPr marL="91440" marR="91440" marT="45720" marB="45720" anchor="ctr">
                    <a:solidFill>
                      <a:srgbClr val="183247"/>
                    </a:solidFill>
                  </a:tcPr>
                </a:tc>
              </a:tr>
              <a:tr h="784225">
                <a:tc>
                  <a:txBody>
                    <a:bodyPr lIns="152400" tIns="95250" rIns="133350" bIns="95250"/>
                    <a:lstStyle/>
                    <a:p>
                      <a:r>
                        <a:rPr sz="2550" b="0">
                          <a:solidFill>
                            <a:srgbClr val="183247"/>
                          </a:solidFill>
                          <a:latin typeface="Arial"/>
                          <a:ea typeface="Arial"/>
                          <a:cs typeface="Arial"/>
                        </a:rPr>
                        <a:t>Qv₀ = 30.000 − 2.500P</a:t>
                      </a:r>
                    </a:p>
                  </a:txBody>
                  <a:tcPr marL="91440" marR="91440" marT="45720" marB="45720" anchor="ctr">
                    <a:solidFill>
                      <a:srgbClr val="FFFFFF"/>
                    </a:solidFill>
                  </a:tcPr>
                </a:tc>
                <a:tc>
                  <a:txBody>
                    <a:bodyPr lIns="152400" tIns="95250" rIns="133350" bIns="95250"/>
                    <a:lstStyle/>
                    <a:p>
                      <a:r>
                        <a:rPr sz="2550" b="0">
                          <a:solidFill>
                            <a:srgbClr val="183247"/>
                          </a:solidFill>
                          <a:latin typeface="Arial"/>
                          <a:ea typeface="Arial"/>
                          <a:cs typeface="Arial"/>
                        </a:rPr>
                        <a:t>Qv₁ = 50.000 − 2.500P</a:t>
                      </a:r>
                    </a:p>
                  </a:txBody>
                  <a:tcPr marL="91440" marR="91440" marT="45720" marB="45720" anchor="ctr">
                    <a:solidFill>
                      <a:srgbClr val="FFFFFF"/>
                    </a:solidFill>
                  </a:tcPr>
                </a:tc>
              </a:tr>
              <a:tr h="784225">
                <a:tc>
                  <a:txBody>
                    <a:bodyPr lIns="152400" tIns="95250" rIns="133350" bIns="95250"/>
                    <a:lstStyle/>
                    <a:p>
                      <a:r>
                        <a:rPr sz="2550" b="0">
                          <a:solidFill>
                            <a:srgbClr val="183247"/>
                          </a:solidFill>
                          <a:latin typeface="Arial"/>
                          <a:ea typeface="Arial"/>
                          <a:cs typeface="Arial"/>
                        </a:rPr>
                        <a:t>Qa₀ = 2.500P − 10.000</a:t>
                      </a:r>
                    </a:p>
                  </a:txBody>
                  <a:tcPr marL="91440" marR="91440" marT="45720" marB="45720" anchor="ctr">
                    <a:solidFill>
                      <a:srgbClr val="EFF4F7"/>
                    </a:solidFill>
                  </a:tcPr>
                </a:tc>
                <a:tc>
                  <a:txBody>
                    <a:bodyPr lIns="152400" tIns="95250" rIns="133350" bIns="95250"/>
                    <a:lstStyle/>
                    <a:p>
                      <a:r>
                        <a:rPr sz="2550" b="0">
                          <a:solidFill>
                            <a:srgbClr val="183247"/>
                          </a:solidFill>
                          <a:latin typeface="Arial"/>
                          <a:ea typeface="Arial"/>
                          <a:cs typeface="Arial"/>
                        </a:rPr>
                        <a:t>Qa₀ blijft gelden</a:t>
                      </a:r>
                    </a:p>
                  </a:txBody>
                  <a:tcPr marL="91440" marR="91440" marT="45720" marB="45720" anchor="ctr">
                    <a:solidFill>
                      <a:srgbClr val="EFF4F7"/>
                    </a:solidFill>
                  </a:tcPr>
                </a:tc>
              </a:tr>
            </a:tbl>
          </a:graphicData>
        </a:graphic>
      </p:graphicFrame>
      <p:sp>
        <p:nvSpPr>
          <p:cNvPr id="8" name="In deze korte periode verandert het aantal bedrijven niet.">
            <a:extLst xmlns:a="http://schemas.openxmlformats.org/drawingml/2006/main">
              <a:ext uri="{FF2B5EF4-FFF2-40B4-BE49-F238E27FC236}">
                <a16:creationId xmlns:a16="http://schemas.microsoft.com/office/drawing/2014/main" id="{9B240030-C03D-4F4B-998F-7B760F78FAC1}"/>
              </a:ext>
            </a:extLst>
          </p:cNvPr>
          <p:cNvSpPr>
            <a:spLocks xmlns:a="http://schemas.openxmlformats.org/drawingml/2006/main" noGrp="1"/>
          </p:cNvSpPr>
          <p:nvPr/>
        </p:nvSpPr>
        <p:spPr>
          <a:xfrm xmlns:a="http://schemas.openxmlformats.org/drawingml/2006/main">
            <a:off x="571500" y="6724650"/>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83247"/>
                </a:solidFill>
                <a:latin typeface="Arial"/>
                <a:ea typeface="Arial"/>
                <a:cs typeface="Arial"/>
              </a:defRPr>
            </a:pPr>
            <a:r>
              <a:rPr sz="2850" b="1">
                <a:solidFill>
                  <a:srgbClr val="183247"/>
                </a:solidFill>
                <a:latin typeface="Arial"/>
                <a:ea typeface="Arial"/>
                <a:cs typeface="Arial"/>
              </a:rPr>
              <a:t>In deze korte periode verandert het aantal bedrijven niet.</a:t>
            </a:r>
          </a:p>
        </p:txBody>
      </p:sp>
      <p:sp>
        <p:nvSpPr>
          <p:cNvPr id="9" name="Q: kg per week. P: euro per kg.">
            <a:extLst xmlns:a="http://schemas.openxmlformats.org/drawingml/2006/main">
              <a:ext uri="{FF2B5EF4-FFF2-40B4-BE49-F238E27FC236}">
                <a16:creationId xmlns:a16="http://schemas.microsoft.com/office/drawing/2014/main" id="{23424FE2-87E6-4899-AD88-FE15B7B6BBF8}"/>
              </a:ext>
            </a:extLst>
          </p:cNvPr>
          <p:cNvSpPr>
            <a:spLocks xmlns:a="http://schemas.openxmlformats.org/drawingml/2006/main" noGrp="1"/>
          </p:cNvSpPr>
          <p:nvPr/>
        </p:nvSpPr>
        <p:spPr>
          <a:xfrm xmlns:a="http://schemas.openxmlformats.org/drawingml/2006/main">
            <a:off x="571500" y="7496175"/>
            <a:ext cx="1409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Q: kg per week. P: euro per kg.</a:t>
            </a:r>
          </a:p>
        </p:txBody>
      </p:sp>
    </p:spTree>
    <p:extLst>
      <p:ext uri="{BB962C8B-B14F-4D97-AF65-F5344CB8AC3E}">
        <p14:creationId xmlns:p14="http://schemas.microsoft.com/office/powerpoint/2010/main" val="145236232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35: één onderneming">
            <a:extLst xmlns:a="http://schemas.openxmlformats.org/drawingml/2006/main">
              <a:ext uri="{FF2B5EF4-FFF2-40B4-BE49-F238E27FC236}">
                <a16:creationId xmlns:a16="http://schemas.microsoft.com/office/drawing/2014/main" id="{6588FFA0-7DA9-4DCE-AFD2-9F2E3F006DE7}"/>
              </a:ext>
            </a:extLst>
          </p:cNvPr>
          <p:cNvSpPr>
            <a:spLocks xmlns:a="http://schemas.openxmlformats.org/drawingml/2006/main" noGrp="1"/>
          </p:cNvSpPr>
          <p:nvPr/>
        </p:nvSpPr>
        <p:spPr>
          <a:xfrm xmlns:a="http://schemas.openxmlformats.org/drawingml/2006/main">
            <a:off x="571500" y="38100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Opgave 35: één onderneming</a:t>
            </a:r>
          </a:p>
        </p:txBody>
      </p:sp>
      <p:sp>
        <p:nvSpPr>
          <p:cNvPr id="2" name="">
            <a:extLst xmlns:a="http://schemas.openxmlformats.org/drawingml/2006/main">
              <a:ext uri="{FF2B5EF4-FFF2-40B4-BE49-F238E27FC236}">
                <a16:creationId xmlns:a16="http://schemas.microsoft.com/office/drawing/2014/main" id="{E9437EE7-CE4A-4678-A346-42560176405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4 Gemengde opgaven · Boekpagina 82–83">
            <a:extLst xmlns:a="http://schemas.openxmlformats.org/drawingml/2006/main">
              <a:ext uri="{FF2B5EF4-FFF2-40B4-BE49-F238E27FC236}">
                <a16:creationId xmlns:a16="http://schemas.microsoft.com/office/drawing/2014/main" id="{BD16B6AA-B2B8-45AC-A8C3-D2C0999FC5B3}"/>
              </a:ext>
            </a:extLst>
          </p:cNvPr>
          <p:cNvSpPr>
            <a:spLocks xmlns:a="http://schemas.openxmlformats.org/drawingml/2006/main" noGrp="1"/>
          </p:cNvSpPr>
          <p:nvPr/>
        </p:nvSpPr>
        <p:spPr>
          <a:xfrm xmlns:a="http://schemas.openxmlformats.org/drawingml/2006/main">
            <a:off x="571500" y="8077200"/>
            <a:ext cx="13239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§3.2.4 Gemengde opgaven · Boekpagina 82–83</a:t>
            </a:r>
          </a:p>
        </p:txBody>
      </p:sp>
      <p:sp>
        <p:nvSpPr>
          <p:cNvPr id="4" name="slide-number">
            <a:extLst xmlns:a="http://schemas.openxmlformats.org/drawingml/2006/main">
              <a:ext uri="{FF2B5EF4-FFF2-40B4-BE49-F238E27FC236}">
                <a16:creationId xmlns:a16="http://schemas.microsoft.com/office/drawing/2014/main" id="{18A52DE4-828C-4A80-8365-F02E272DE3D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8</a:t>
            </a:r>
          </a:p>
        </p:txBody>
      </p:sp>
      <p:sp>
        <p:nvSpPr>
          <p:cNvPr id="5" name="Bron B · Voor iedere onderneming">
            <a:extLst xmlns:a="http://schemas.openxmlformats.org/drawingml/2006/main">
              <a:ext uri="{FF2B5EF4-FFF2-40B4-BE49-F238E27FC236}">
                <a16:creationId xmlns:a16="http://schemas.microsoft.com/office/drawing/2014/main" id="{9CCA10A0-B96D-41E1-B479-71D673366938}"/>
              </a:ext>
            </a:extLst>
          </p:cNvPr>
          <p:cNvSpPr>
            <a:spLocks xmlns:a="http://schemas.openxmlformats.org/drawingml/2006/main" noGrp="1"/>
          </p:cNvSpPr>
          <p:nvPr/>
        </p:nvSpPr>
        <p:spPr>
          <a:xfrm xmlns:a="http://schemas.openxmlformats.org/drawingml/2006/main">
            <a:off x="571500" y="1838325"/>
            <a:ext cx="14097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7658A"/>
                </a:solidFill>
                <a:latin typeface="Arial"/>
                <a:ea typeface="Arial"/>
                <a:cs typeface="Arial"/>
              </a:defRPr>
            </a:pPr>
            <a:r>
              <a:rPr sz="3075" b="1">
                <a:solidFill>
                  <a:srgbClr val="17658A"/>
                </a:solidFill>
                <a:latin typeface="Arial"/>
                <a:ea typeface="Arial"/>
                <a:cs typeface="Arial"/>
              </a:rPr>
              <a:t>Bron B · Voor iedere onderneming</a:t>
            </a:r>
          </a:p>
        </p:txBody>
      </p:sp>
      <p:sp>
        <p:nvSpPr>
          <p:cNvPr id="6" name="TK = 0,02q² + 4q + 200">
            <a:extLst xmlns:a="http://schemas.openxmlformats.org/drawingml/2006/main">
              <a:ext uri="{FF2B5EF4-FFF2-40B4-BE49-F238E27FC236}">
                <a16:creationId xmlns:a16="http://schemas.microsoft.com/office/drawing/2014/main" id="{7E193423-09F8-4481-8E8C-584F8096211C}"/>
              </a:ext>
            </a:extLst>
          </p:cNvPr>
          <p:cNvSpPr>
            <a:spLocks xmlns:a="http://schemas.openxmlformats.org/drawingml/2006/main" noGrp="1"/>
          </p:cNvSpPr>
          <p:nvPr/>
        </p:nvSpPr>
        <p:spPr>
          <a:xfrm xmlns:a="http://schemas.openxmlformats.org/drawingml/2006/main">
            <a:off x="571500" y="31051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500" b="1">
                <a:solidFill>
                  <a:srgbClr val="183247"/>
                </a:solidFill>
                <a:latin typeface="Arial"/>
                <a:ea typeface="Arial"/>
                <a:cs typeface="Arial"/>
              </a:defRPr>
            </a:pPr>
            <a:r>
              <a:rPr sz="4500" b="1">
                <a:solidFill>
                  <a:srgbClr val="183247"/>
                </a:solidFill>
                <a:latin typeface="Arial"/>
                <a:ea typeface="Arial"/>
                <a:cs typeface="Arial"/>
              </a:rPr>
              <a:t>TK = 0,02q² + 4q + 200</a:t>
            </a:r>
          </a:p>
        </p:txBody>
      </p:sp>
      <p:graphicFrame>
        <p:nvGraphicFramePr>
          <p:cNvPr id="14" name=""/>
          <p:cNvGraphicFramePr/>
          <p:nvPr/>
        </p:nvGraphicFramePr>
        <p:xfrm>
          <a:off xmlns:a="http://schemas.openxmlformats.org/drawingml/2006/main" x="571500" y="4572000"/>
          <a:ext xmlns:a="http://schemas.openxmlformats.org/drawingml/2006/main" cx="14097000" cy="3181350"/>
        </p:xfrm>
        <a:graphic xmlns:a="http://schemas.openxmlformats.org/drawingml/2006/main">
          <a:graphicData uri="http://schemas.openxmlformats.org/drawingml/2006/table">
            <a:tbl>
              <a:tblPr/>
              <a:tblGrid>
                <a:gridCol w="6000750"/>
                <a:gridCol w="8096250"/>
              </a:tblGrid>
              <a:tr h="636270">
                <a:tc>
                  <a:txBody>
                    <a:bodyPr lIns="152400" tIns="95250" rIns="133350" bIns="95250"/>
                    <a:lstStyle/>
                    <a:p>
                      <a:r>
                        <a:rPr sz="2550" b="1">
                          <a:solidFill>
                            <a:srgbClr val="FFFFFF"/>
                          </a:solidFill>
                          <a:latin typeface="Arial"/>
                          <a:ea typeface="Arial"/>
                          <a:cs typeface="Arial"/>
                        </a:rPr>
                        <a:t>Grootheid / voorwaarde</a:t>
                      </a:r>
                    </a:p>
                  </a:txBody>
                  <a:tcPr marL="91440" marR="91440" marT="45720" marB="45720" anchor="ctr">
                    <a:solidFill>
                      <a:srgbClr val="183247"/>
                    </a:solidFill>
                  </a:tcPr>
                </a:tc>
                <a:tc>
                  <a:txBody>
                    <a:bodyPr lIns="152400" tIns="95250" rIns="133350" bIns="95250"/>
                    <a:lstStyle/>
                    <a:p>
                      <a:r>
                        <a:rPr sz="2550" b="1">
                          <a:solidFill>
                            <a:srgbClr val="FFFFFF"/>
                          </a:solidFill>
                          <a:latin typeface="Arial"/>
                          <a:ea typeface="Arial"/>
                          <a:cs typeface="Arial"/>
                        </a:rPr>
                        <a:t>Gegeven</a:t>
                      </a:r>
                    </a:p>
                  </a:txBody>
                  <a:tcPr marL="91440" marR="91440" marT="45720" marB="45720" anchor="ctr">
                    <a:solidFill>
                      <a:srgbClr val="183247"/>
                    </a:solidFill>
                  </a:tcPr>
                </a:tc>
              </a:tr>
              <a:tr h="636270">
                <a:tc>
                  <a:txBody>
                    <a:bodyPr lIns="152400" tIns="95250" rIns="133350" bIns="95250"/>
                    <a:lstStyle/>
                    <a:p>
                      <a:r>
                        <a:rPr sz="2550" b="0">
                          <a:solidFill>
                            <a:srgbClr val="183247"/>
                          </a:solidFill>
                          <a:latin typeface="Arial"/>
                          <a:ea typeface="Arial"/>
                          <a:cs typeface="Arial"/>
                        </a:rPr>
                        <a:t>q</a:t>
                      </a:r>
                    </a:p>
                  </a:txBody>
                  <a:tcPr marL="91440" marR="91440" marT="45720" marB="45720" anchor="ctr">
                    <a:solidFill>
                      <a:srgbClr val="FFFFFF"/>
                    </a:solidFill>
                  </a:tcPr>
                </a:tc>
                <a:tc>
                  <a:txBody>
                    <a:bodyPr lIns="152400" tIns="95250" rIns="133350" bIns="95250"/>
                    <a:lstStyle/>
                    <a:p>
                      <a:r>
                        <a:rPr sz="2550" b="0">
                          <a:solidFill>
                            <a:srgbClr val="183247"/>
                          </a:solidFill>
                          <a:latin typeface="Arial"/>
                          <a:ea typeface="Arial"/>
                          <a:cs typeface="Arial"/>
                        </a:rPr>
                        <a:t>kg per week</a:t>
                      </a:r>
                    </a:p>
                  </a:txBody>
                  <a:tcPr marL="91440" marR="91440" marT="45720" marB="45720" anchor="ctr">
                    <a:solidFill>
                      <a:srgbClr val="FFFFFF"/>
                    </a:solidFill>
                  </a:tcPr>
                </a:tc>
              </a:tr>
              <a:tr h="636270">
                <a:tc>
                  <a:txBody>
                    <a:bodyPr lIns="152400" tIns="95250" rIns="133350" bIns="95250"/>
                    <a:lstStyle/>
                    <a:p>
                      <a:r>
                        <a:rPr sz="2550" b="0">
                          <a:solidFill>
                            <a:srgbClr val="183247"/>
                          </a:solidFill>
                          <a:latin typeface="Arial"/>
                          <a:ea typeface="Arial"/>
                          <a:cs typeface="Arial"/>
                        </a:rPr>
                        <a:t>TK</a:t>
                      </a:r>
                    </a:p>
                  </a:txBody>
                  <a:tcPr marL="91440" marR="91440" marT="45720" marB="45720" anchor="ctr">
                    <a:solidFill>
                      <a:srgbClr val="EFF4F7"/>
                    </a:solidFill>
                  </a:tcPr>
                </a:tc>
                <a:tc>
                  <a:txBody>
                    <a:bodyPr lIns="152400" tIns="95250" rIns="133350" bIns="95250"/>
                    <a:lstStyle/>
                    <a:p>
                      <a:r>
                        <a:rPr sz="2550" b="0">
                          <a:solidFill>
                            <a:srgbClr val="183247"/>
                          </a:solidFill>
                          <a:latin typeface="Arial"/>
                          <a:ea typeface="Arial"/>
                          <a:cs typeface="Arial"/>
                        </a:rPr>
                        <a:t>euro per week</a:t>
                      </a:r>
                    </a:p>
                  </a:txBody>
                  <a:tcPr marL="91440" marR="91440" marT="45720" marB="45720" anchor="ctr">
                    <a:solidFill>
                      <a:srgbClr val="EFF4F7"/>
                    </a:solidFill>
                  </a:tcPr>
                </a:tc>
              </a:tr>
              <a:tr h="636270">
                <a:tc>
                  <a:txBody>
                    <a:bodyPr lIns="152400" tIns="95250" rIns="133350" bIns="95250"/>
                    <a:lstStyle/>
                    <a:p>
                      <a:r>
                        <a:rPr sz="2550" b="0">
                          <a:solidFill>
                            <a:srgbClr val="183247"/>
                          </a:solidFill>
                          <a:latin typeface="Arial"/>
                          <a:ea typeface="Arial"/>
                          <a:cs typeface="Arial"/>
                        </a:rPr>
                        <a:t>Capaciteit</a:t>
                      </a:r>
                    </a:p>
                  </a:txBody>
                  <a:tcPr marL="91440" marR="91440" marT="45720" marB="45720" anchor="ctr">
                    <a:solidFill>
                      <a:srgbClr val="FFFFFF"/>
                    </a:solidFill>
                  </a:tcPr>
                </a:tc>
                <a:tc>
                  <a:txBody>
                    <a:bodyPr lIns="152400" tIns="95250" rIns="133350" bIns="95250"/>
                    <a:lstStyle/>
                    <a:p>
                      <a:r>
                        <a:rPr sz="2550" b="0">
                          <a:solidFill>
                            <a:srgbClr val="183247"/>
                          </a:solidFill>
                          <a:latin typeface="Arial"/>
                          <a:ea typeface="Arial"/>
                          <a:cs typeface="Arial"/>
                        </a:rPr>
                        <a:t>250 kg per week</a:t>
                      </a:r>
                    </a:p>
                  </a:txBody>
                  <a:tcPr marL="91440" marR="91440" marT="45720" marB="45720" anchor="ctr">
                    <a:solidFill>
                      <a:srgbClr val="FFFFFF"/>
                    </a:solidFill>
                  </a:tcPr>
                </a:tc>
              </a:tr>
              <a:tr h="636270">
                <a:tc>
                  <a:txBody>
                    <a:bodyPr lIns="152400" tIns="95250" rIns="133350" bIns="95250"/>
                    <a:lstStyle/>
                    <a:p>
                      <a:r>
                        <a:rPr sz="2550" b="0">
                          <a:solidFill>
                            <a:srgbClr val="183247"/>
                          </a:solidFill>
                          <a:latin typeface="Arial"/>
                          <a:ea typeface="Arial"/>
                          <a:cs typeface="Arial"/>
                        </a:rPr>
                        <a:t>Afzet</a:t>
                      </a:r>
                    </a:p>
                  </a:txBody>
                  <a:tcPr marL="91440" marR="91440" marT="45720" marB="45720" anchor="ctr">
                    <a:solidFill>
                      <a:srgbClr val="EFF4F7"/>
                    </a:solidFill>
                  </a:tcPr>
                </a:tc>
                <a:tc>
                  <a:txBody>
                    <a:bodyPr lIns="152400" tIns="95250" rIns="133350" bIns="95250"/>
                    <a:lstStyle/>
                    <a:p>
                      <a:r>
                        <a:rPr sz="2550" b="0">
                          <a:solidFill>
                            <a:srgbClr val="183247"/>
                          </a:solidFill>
                          <a:latin typeface="Arial"/>
                          <a:ea typeface="Arial"/>
                          <a:cs typeface="Arial"/>
                        </a:rPr>
                        <a:t>Alle productie wordt verkocht</a:t>
                      </a:r>
                    </a:p>
                  </a:txBody>
                  <a:tcPr marL="91440" marR="91440" marT="45720" marB="45720" anchor="ctr">
                    <a:solidFill>
                      <a:srgbClr val="EFF4F7"/>
                    </a:solidFill>
                  </a:tcPr>
                </a:tc>
              </a:tr>
            </a:tbl>
          </a:graphicData>
        </a:graphic>
      </p:graphicFrame>
    </p:spTree>
    <p:extLst>
      <p:ext uri="{BB962C8B-B14F-4D97-AF65-F5344CB8AC3E}">
        <p14:creationId xmlns:p14="http://schemas.microsoft.com/office/powerpoint/2010/main" val="149167178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35: basisgrafiek van de markt">
            <a:extLst xmlns:a="http://schemas.openxmlformats.org/drawingml/2006/main">
              <a:ext uri="{FF2B5EF4-FFF2-40B4-BE49-F238E27FC236}">
                <a16:creationId xmlns:a16="http://schemas.microsoft.com/office/drawing/2014/main" id="{9ED22E32-F14D-49F3-B2E4-DB4FA387C0C2}"/>
              </a:ext>
            </a:extLst>
          </p:cNvPr>
          <p:cNvSpPr>
            <a:spLocks xmlns:a="http://schemas.openxmlformats.org/drawingml/2006/main" noGrp="1"/>
          </p:cNvSpPr>
          <p:nvPr/>
        </p:nvSpPr>
        <p:spPr>
          <a:xfrm xmlns:a="http://schemas.openxmlformats.org/drawingml/2006/main">
            <a:off x="571500" y="38100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Opgave 35: basisgrafiek van de markt</a:t>
            </a:r>
          </a:p>
        </p:txBody>
      </p:sp>
      <p:sp>
        <p:nvSpPr>
          <p:cNvPr id="2" name="">
            <a:extLst xmlns:a="http://schemas.openxmlformats.org/drawingml/2006/main">
              <a:ext uri="{FF2B5EF4-FFF2-40B4-BE49-F238E27FC236}">
                <a16:creationId xmlns:a16="http://schemas.microsoft.com/office/drawing/2014/main" id="{457EB44A-ECD2-4EBB-A8C7-4DC543EFAD6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4 Gemengde opgaven · Boekpagina 82–83">
            <a:extLst xmlns:a="http://schemas.openxmlformats.org/drawingml/2006/main">
              <a:ext uri="{FF2B5EF4-FFF2-40B4-BE49-F238E27FC236}">
                <a16:creationId xmlns:a16="http://schemas.microsoft.com/office/drawing/2014/main" id="{596FACFA-F1F1-4F94-A253-CBA4A8142B8F}"/>
              </a:ext>
            </a:extLst>
          </p:cNvPr>
          <p:cNvSpPr>
            <a:spLocks xmlns:a="http://schemas.openxmlformats.org/drawingml/2006/main" noGrp="1"/>
          </p:cNvSpPr>
          <p:nvPr/>
        </p:nvSpPr>
        <p:spPr>
          <a:xfrm xmlns:a="http://schemas.openxmlformats.org/drawingml/2006/main">
            <a:off x="571500" y="8077200"/>
            <a:ext cx="13239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§3.2.4 Gemengde opgaven · Boekpagina 82–83</a:t>
            </a:r>
          </a:p>
        </p:txBody>
      </p:sp>
      <p:sp>
        <p:nvSpPr>
          <p:cNvPr id="4" name="slide-number">
            <a:extLst xmlns:a="http://schemas.openxmlformats.org/drawingml/2006/main">
              <a:ext uri="{FF2B5EF4-FFF2-40B4-BE49-F238E27FC236}">
                <a16:creationId xmlns:a16="http://schemas.microsoft.com/office/drawing/2014/main" id="{21208B1F-EF43-45F3-B0DE-135CE67DF42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9</a:t>
            </a:r>
          </a:p>
        </p:txBody>
      </p:sp>
      <p:graphicFrame>
        <p:nvGraphicFramePr>
          <p:cNvPr id="13" name="Chart"/>
          <p:cNvGraphicFramePr/>
          <p:nvPr/>
        </p:nvGraphicFramePr>
        <p:xfrm>
          <a:off xmlns:a="http://schemas.openxmlformats.org/drawingml/2006/main" x="571500" y="2190750"/>
          <a:ext xmlns:a="http://schemas.openxmlformats.org/drawingml/2006/main" cx="9525000" cy="5429250"/>
        </p:xfrm>
        <a:graphic xmlns:a="http://schemas.openxmlformats.org/drawingml/2006/main">
          <a:graphicData uri="http://schemas.openxmlformats.org/drawingml/2006/chart">
            <c:chart xmlns:r="http://schemas.openxmlformats.org/officeDocument/2006/relationships" xmlns:c="http://schemas.openxmlformats.org/drawingml/2006/chart" r:id="R8a1967bb20af41bf"/>
          </a:graphicData>
        </a:graphic>
      </p:graphicFrame>
      <p:sp>
        <p:nvSpPr>
          <p:cNvPr id="6" name="Figuur 1 · Markt">
            <a:extLst xmlns:a="http://schemas.openxmlformats.org/drawingml/2006/main">
              <a:ext uri="{FF2B5EF4-FFF2-40B4-BE49-F238E27FC236}">
                <a16:creationId xmlns:a16="http://schemas.microsoft.com/office/drawing/2014/main" id="{FC7A690A-002A-4005-BFEF-9F73A4021706}"/>
              </a:ext>
            </a:extLst>
          </p:cNvPr>
          <p:cNvSpPr>
            <a:spLocks xmlns:a="http://schemas.openxmlformats.org/drawingml/2006/main" noGrp="1"/>
          </p:cNvSpPr>
          <p:nvPr/>
        </p:nvSpPr>
        <p:spPr>
          <a:xfrm xmlns:a="http://schemas.openxmlformats.org/drawingml/2006/main">
            <a:off x="10477500" y="2428875"/>
            <a:ext cx="4191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83247"/>
                </a:solidFill>
                <a:latin typeface="Arial"/>
                <a:ea typeface="Arial"/>
                <a:cs typeface="Arial"/>
              </a:defRPr>
            </a:pPr>
            <a:r>
              <a:rPr sz="2775" b="1">
                <a:solidFill>
                  <a:srgbClr val="183247"/>
                </a:solidFill>
                <a:latin typeface="Arial"/>
                <a:ea typeface="Arial"/>
                <a:cs typeface="Arial"/>
              </a:rPr>
              <a:t>Figuur 1 · Markt</a:t>
            </a:r>
          </a:p>
        </p:txBody>
      </p:sp>
      <p:sp>
        <p:nvSpPr>
          <p:cNvPr id="7" name="V₀ en V₁: vraag&#10;A₀: ongewijzigd aanbod">
            <a:extLst xmlns:a="http://schemas.openxmlformats.org/drawingml/2006/main">
              <a:ext uri="{FF2B5EF4-FFF2-40B4-BE49-F238E27FC236}">
                <a16:creationId xmlns:a16="http://schemas.microsoft.com/office/drawing/2014/main" id="{0CDC8147-3D28-44D6-96D2-FB098DB5A0D7}"/>
              </a:ext>
            </a:extLst>
          </p:cNvPr>
          <p:cNvSpPr>
            <a:spLocks xmlns:a="http://schemas.openxmlformats.org/drawingml/2006/main" noGrp="1"/>
          </p:cNvSpPr>
          <p:nvPr/>
        </p:nvSpPr>
        <p:spPr>
          <a:xfrm xmlns:a="http://schemas.openxmlformats.org/drawingml/2006/main">
            <a:off x="10477500" y="3533775"/>
            <a:ext cx="4191000"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V₀ en V₁: vraag</a:t>
            </a:r>
          </a:p>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A₀: ongewijzigd aanbod</a:t>
            </a:r>
          </a:p>
        </p:txBody>
      </p:sp>
      <p:sp>
        <p:nvSpPr>
          <p:cNvPr id="8" name="Q-as: × 1.000&#10;Een aswaarde van 10&#10;betekent 10.000 kg/week.">
            <a:extLst xmlns:a="http://schemas.openxmlformats.org/drawingml/2006/main">
              <a:ext uri="{FF2B5EF4-FFF2-40B4-BE49-F238E27FC236}">
                <a16:creationId xmlns:a16="http://schemas.microsoft.com/office/drawing/2014/main" id="{5B29DD5B-4A8B-41D5-990B-6E01D2787508}"/>
              </a:ext>
            </a:extLst>
          </p:cNvPr>
          <p:cNvSpPr>
            <a:spLocks xmlns:a="http://schemas.openxmlformats.org/drawingml/2006/main" noGrp="1"/>
          </p:cNvSpPr>
          <p:nvPr/>
        </p:nvSpPr>
        <p:spPr>
          <a:xfrm xmlns:a="http://schemas.openxmlformats.org/drawingml/2006/main">
            <a:off x="10477500" y="5438775"/>
            <a:ext cx="4191000" cy="1628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7658A"/>
                </a:solidFill>
                <a:latin typeface="Arial"/>
                <a:ea typeface="Arial"/>
                <a:cs typeface="Arial"/>
              </a:defRPr>
            </a:pPr>
            <a:r>
              <a:rPr sz="2550" b="1">
                <a:solidFill>
                  <a:srgbClr val="17658A"/>
                </a:solidFill>
                <a:latin typeface="Arial"/>
                <a:ea typeface="Arial"/>
                <a:cs typeface="Arial"/>
              </a:rPr>
              <a:t>Q-as: × 1.000</a:t>
            </a:r>
          </a:p>
          <a:p xmlns:a="http://schemas.openxmlformats.org/drawingml/2006/main">
            <a:pPr algn="l">
              <a:defRPr sz="2550" b="1">
                <a:solidFill>
                  <a:srgbClr val="17658A"/>
                </a:solidFill>
                <a:latin typeface="Arial"/>
                <a:ea typeface="Arial"/>
                <a:cs typeface="Arial"/>
              </a:defRPr>
            </a:pPr>
            <a:r>
              <a:rPr sz="2550" b="1">
                <a:solidFill>
                  <a:srgbClr val="17658A"/>
                </a:solidFill>
                <a:latin typeface="Arial"/>
                <a:ea typeface="Arial"/>
                <a:cs typeface="Arial"/>
              </a:rPr>
              <a:t>Een aswaarde van 10</a:t>
            </a:r>
          </a:p>
          <a:p xmlns:a="http://schemas.openxmlformats.org/drawingml/2006/main">
            <a:pPr algn="l">
              <a:defRPr sz="2550" b="1">
                <a:solidFill>
                  <a:srgbClr val="17658A"/>
                </a:solidFill>
                <a:latin typeface="Arial"/>
                <a:ea typeface="Arial"/>
                <a:cs typeface="Arial"/>
              </a:defRPr>
            </a:pPr>
            <a:r>
              <a:rPr sz="2550" b="1">
                <a:solidFill>
                  <a:srgbClr val="17658A"/>
                </a:solidFill>
                <a:latin typeface="Arial"/>
                <a:ea typeface="Arial"/>
                <a:cs typeface="Arial"/>
              </a:rPr>
              <a:t>betekent 10.000 kg/week.</a:t>
            </a:r>
          </a:p>
        </p:txBody>
      </p:sp>
    </p:spTree>
    <p:extLst>
      <p:ext uri="{BB962C8B-B14F-4D97-AF65-F5344CB8AC3E}">
        <p14:creationId xmlns:p14="http://schemas.microsoft.com/office/powerpoint/2010/main" val="181495341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35: basisgrafiek van de onderneming">
            <a:extLst xmlns:a="http://schemas.openxmlformats.org/drawingml/2006/main">
              <a:ext uri="{FF2B5EF4-FFF2-40B4-BE49-F238E27FC236}">
                <a16:creationId xmlns:a16="http://schemas.microsoft.com/office/drawing/2014/main" id="{7206C701-F9CC-4168-BB46-95F3C01F5C32}"/>
              </a:ext>
            </a:extLst>
          </p:cNvPr>
          <p:cNvSpPr>
            <a:spLocks xmlns:a="http://schemas.openxmlformats.org/drawingml/2006/main" noGrp="1"/>
          </p:cNvSpPr>
          <p:nvPr/>
        </p:nvSpPr>
        <p:spPr>
          <a:xfrm xmlns:a="http://schemas.openxmlformats.org/drawingml/2006/main">
            <a:off x="571500" y="38100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Opgave 35: basisgrafiek van de onderneming</a:t>
            </a:r>
          </a:p>
        </p:txBody>
      </p:sp>
      <p:sp>
        <p:nvSpPr>
          <p:cNvPr id="2" name="">
            <a:extLst xmlns:a="http://schemas.openxmlformats.org/drawingml/2006/main">
              <a:ext uri="{FF2B5EF4-FFF2-40B4-BE49-F238E27FC236}">
                <a16:creationId xmlns:a16="http://schemas.microsoft.com/office/drawing/2014/main" id="{33DB6B29-4FA4-4369-8AE8-F268BCE9AEEE}"/>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4 Gemengde opgaven · Boekpagina 82–83">
            <a:extLst xmlns:a="http://schemas.openxmlformats.org/drawingml/2006/main">
              <a:ext uri="{FF2B5EF4-FFF2-40B4-BE49-F238E27FC236}">
                <a16:creationId xmlns:a16="http://schemas.microsoft.com/office/drawing/2014/main" id="{5B363525-E61C-4F96-BE87-74A861C04040}"/>
              </a:ext>
            </a:extLst>
          </p:cNvPr>
          <p:cNvSpPr>
            <a:spLocks xmlns:a="http://schemas.openxmlformats.org/drawingml/2006/main" noGrp="1"/>
          </p:cNvSpPr>
          <p:nvPr/>
        </p:nvSpPr>
        <p:spPr>
          <a:xfrm xmlns:a="http://schemas.openxmlformats.org/drawingml/2006/main">
            <a:off x="571500" y="8077200"/>
            <a:ext cx="13239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§3.2.4 Gemengde opgaven · Boekpagina 82–83</a:t>
            </a:r>
          </a:p>
        </p:txBody>
      </p:sp>
      <p:sp>
        <p:nvSpPr>
          <p:cNvPr id="4" name="slide-number">
            <a:extLst xmlns:a="http://schemas.openxmlformats.org/drawingml/2006/main">
              <a:ext uri="{FF2B5EF4-FFF2-40B4-BE49-F238E27FC236}">
                <a16:creationId xmlns:a16="http://schemas.microsoft.com/office/drawing/2014/main" id="{E4AAAC42-3EDD-4E43-8485-4B30EA3FA5B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10</a:t>
            </a:r>
          </a:p>
        </p:txBody>
      </p:sp>
      <p:graphicFrame>
        <p:nvGraphicFramePr>
          <p:cNvPr id="13" name="Chart"/>
          <p:cNvGraphicFramePr/>
          <p:nvPr/>
        </p:nvGraphicFramePr>
        <p:xfrm>
          <a:off xmlns:a="http://schemas.openxmlformats.org/drawingml/2006/main" x="571500" y="2190750"/>
          <a:ext xmlns:a="http://schemas.openxmlformats.org/drawingml/2006/main" cx="9525000" cy="5429250"/>
        </p:xfrm>
        <a:graphic xmlns:a="http://schemas.openxmlformats.org/drawingml/2006/main">
          <a:graphicData uri="http://schemas.openxmlformats.org/drawingml/2006/chart">
            <c:chart xmlns:r="http://schemas.openxmlformats.org/officeDocument/2006/relationships" xmlns:c="http://schemas.openxmlformats.org/drawingml/2006/chart" r:id="R38e96074f49f4a16"/>
          </a:graphicData>
        </a:graphic>
      </p:graphicFrame>
      <p:sp>
        <p:nvSpPr>
          <p:cNvPr id="6" name="Figuur 1 · Onderneming">
            <a:extLst xmlns:a="http://schemas.openxmlformats.org/drawingml/2006/main">
              <a:ext uri="{FF2B5EF4-FFF2-40B4-BE49-F238E27FC236}">
                <a16:creationId xmlns:a16="http://schemas.microsoft.com/office/drawing/2014/main" id="{A48409E9-8DBC-4C21-A623-705785B39BCE}"/>
              </a:ext>
            </a:extLst>
          </p:cNvPr>
          <p:cNvSpPr>
            <a:spLocks xmlns:a="http://schemas.openxmlformats.org/drawingml/2006/main" noGrp="1"/>
          </p:cNvSpPr>
          <p:nvPr/>
        </p:nvSpPr>
        <p:spPr>
          <a:xfrm xmlns:a="http://schemas.openxmlformats.org/drawingml/2006/main">
            <a:off x="10477500" y="2428875"/>
            <a:ext cx="4191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83247"/>
                </a:solidFill>
                <a:latin typeface="Arial"/>
                <a:ea typeface="Arial"/>
                <a:cs typeface="Arial"/>
              </a:defRPr>
            </a:pPr>
            <a:r>
              <a:rPr sz="2700" b="1">
                <a:solidFill>
                  <a:srgbClr val="183247"/>
                </a:solidFill>
                <a:latin typeface="Arial"/>
                <a:ea typeface="Arial"/>
                <a:cs typeface="Arial"/>
              </a:rPr>
              <a:t>Figuur 1 · Onderneming</a:t>
            </a:r>
          </a:p>
        </p:txBody>
      </p:sp>
      <p:sp>
        <p:nvSpPr>
          <p:cNvPr id="7" name="Gegeven: MK en GTK&#10;&#10;Nog toe te voegen:&#10;P = GO = MO&#10;en de winstrechthoe">
            <a:extLst xmlns:a="http://schemas.openxmlformats.org/drawingml/2006/main">
              <a:ext uri="{FF2B5EF4-FFF2-40B4-BE49-F238E27FC236}">
                <a16:creationId xmlns:a16="http://schemas.microsoft.com/office/drawing/2014/main" id="{D36F5DA7-EFDC-47D2-9D3A-8EA286A91C5A}"/>
              </a:ext>
            </a:extLst>
          </p:cNvPr>
          <p:cNvSpPr>
            <a:spLocks xmlns:a="http://schemas.openxmlformats.org/drawingml/2006/main" noGrp="1"/>
          </p:cNvSpPr>
          <p:nvPr/>
        </p:nvSpPr>
        <p:spPr>
          <a:xfrm xmlns:a="http://schemas.openxmlformats.org/drawingml/2006/main">
            <a:off x="10477500" y="3743325"/>
            <a:ext cx="4191000" cy="2314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Gegeven: MK en GTK</a:t>
            </a:r>
          </a:p>
          <a:p xmlns:a="http://schemas.openxmlformats.org/drawingml/2006/main">
            <a:r>
              <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Nog toe te voegen:</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P = GO = MO</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en de winstrechthoek</a:t>
            </a:r>
          </a:p>
        </p:txBody>
      </p:sp>
      <p:sp>
        <p:nvSpPr>
          <p:cNvPr id="8" name="q-as: kg per week&#10;Capaciteit: 250 kg/week">
            <a:extLst xmlns:a="http://schemas.openxmlformats.org/drawingml/2006/main">
              <a:ext uri="{FF2B5EF4-FFF2-40B4-BE49-F238E27FC236}">
                <a16:creationId xmlns:a16="http://schemas.microsoft.com/office/drawing/2014/main" id="{029A485C-FC82-42AB-84E1-11ECAB1036FC}"/>
              </a:ext>
            </a:extLst>
          </p:cNvPr>
          <p:cNvSpPr>
            <a:spLocks xmlns:a="http://schemas.openxmlformats.org/drawingml/2006/main" noGrp="1"/>
          </p:cNvSpPr>
          <p:nvPr/>
        </p:nvSpPr>
        <p:spPr>
          <a:xfrm xmlns:a="http://schemas.openxmlformats.org/drawingml/2006/main">
            <a:off x="10477500" y="6705600"/>
            <a:ext cx="4191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17658A"/>
                </a:solidFill>
                <a:latin typeface="Arial"/>
                <a:ea typeface="Arial"/>
                <a:cs typeface="Arial"/>
              </a:defRPr>
            </a:pPr>
            <a:r>
              <a:rPr sz="2475" b="1">
                <a:solidFill>
                  <a:srgbClr val="17658A"/>
                </a:solidFill>
                <a:latin typeface="Arial"/>
                <a:ea typeface="Arial"/>
                <a:cs typeface="Arial"/>
              </a:rPr>
              <a:t>q-as: kg per week</a:t>
            </a:r>
          </a:p>
          <a:p xmlns:a="http://schemas.openxmlformats.org/drawingml/2006/main">
            <a:pPr algn="l">
              <a:defRPr sz="2475" b="1">
                <a:solidFill>
                  <a:srgbClr val="17658A"/>
                </a:solidFill>
                <a:latin typeface="Arial"/>
                <a:ea typeface="Arial"/>
                <a:cs typeface="Arial"/>
              </a:defRPr>
            </a:pPr>
            <a:r>
              <a:rPr sz="2475" b="1">
                <a:solidFill>
                  <a:srgbClr val="17658A"/>
                </a:solidFill>
                <a:latin typeface="Arial"/>
                <a:ea typeface="Arial"/>
                <a:cs typeface="Arial"/>
              </a:rPr>
              <a:t>Capaciteit: 250 kg/week</a:t>
            </a:r>
          </a:p>
        </p:txBody>
      </p:sp>
    </p:spTree>
    <p:extLst>
      <p:ext uri="{BB962C8B-B14F-4D97-AF65-F5344CB8AC3E}">
        <p14:creationId xmlns:p14="http://schemas.microsoft.com/office/powerpoint/2010/main" val="167554372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Opgave 35: vragen a–c">
            <a:extLst xmlns:a="http://schemas.openxmlformats.org/drawingml/2006/main">
              <a:ext uri="{FF2B5EF4-FFF2-40B4-BE49-F238E27FC236}">
                <a16:creationId xmlns:a16="http://schemas.microsoft.com/office/drawing/2014/main" id="{89FA2A55-88D6-429F-BFF2-9B52443B98A1}"/>
              </a:ext>
            </a:extLst>
          </p:cNvPr>
          <p:cNvSpPr>
            <a:spLocks xmlns:a="http://schemas.openxmlformats.org/drawingml/2006/main" noGrp="1"/>
          </p:cNvSpPr>
          <p:nvPr/>
        </p:nvSpPr>
        <p:spPr>
          <a:xfrm xmlns:a="http://schemas.openxmlformats.org/drawingml/2006/main">
            <a:off x="571500" y="38100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Opgave 35: vragen a–c</a:t>
            </a:r>
          </a:p>
        </p:txBody>
      </p:sp>
      <p:sp>
        <p:nvSpPr>
          <p:cNvPr id="2" name="">
            <a:extLst xmlns:a="http://schemas.openxmlformats.org/drawingml/2006/main">
              <a:ext uri="{FF2B5EF4-FFF2-40B4-BE49-F238E27FC236}">
                <a16:creationId xmlns:a16="http://schemas.microsoft.com/office/drawing/2014/main" id="{5D664A01-F0DC-4951-88DF-825572DDDD3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4 Gemengde opgaven · Boekpagina 82–83">
            <a:extLst xmlns:a="http://schemas.openxmlformats.org/drawingml/2006/main">
              <a:ext uri="{FF2B5EF4-FFF2-40B4-BE49-F238E27FC236}">
                <a16:creationId xmlns:a16="http://schemas.microsoft.com/office/drawing/2014/main" id="{482991EE-EE84-4D0B-877F-B6BAAAE3EA99}"/>
              </a:ext>
            </a:extLst>
          </p:cNvPr>
          <p:cNvSpPr>
            <a:spLocks xmlns:a="http://schemas.openxmlformats.org/drawingml/2006/main" noGrp="1"/>
          </p:cNvSpPr>
          <p:nvPr/>
        </p:nvSpPr>
        <p:spPr>
          <a:xfrm xmlns:a="http://schemas.openxmlformats.org/drawingml/2006/main">
            <a:off x="571500" y="8077200"/>
            <a:ext cx="13239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§3.2.4 Gemengde opgaven · Boekpagina 82–83</a:t>
            </a:r>
          </a:p>
        </p:txBody>
      </p:sp>
      <p:sp>
        <p:nvSpPr>
          <p:cNvPr id="4" name="slide-number">
            <a:extLst xmlns:a="http://schemas.openxmlformats.org/drawingml/2006/main">
              <a:ext uri="{FF2B5EF4-FFF2-40B4-BE49-F238E27FC236}">
                <a16:creationId xmlns:a16="http://schemas.microsoft.com/office/drawing/2014/main" id="{EE1FEFBE-DE2F-4644-BBD0-2EA2C83A6EC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11</a:t>
            </a:r>
          </a:p>
        </p:txBody>
      </p:sp>
      <p:sp>
        <p:nvSpPr>
          <p:cNvPr id="5" name="a · 3p">
            <a:extLst xmlns:a="http://schemas.openxmlformats.org/drawingml/2006/main">
              <a:ext uri="{FF2B5EF4-FFF2-40B4-BE49-F238E27FC236}">
                <a16:creationId xmlns:a16="http://schemas.microsoft.com/office/drawing/2014/main" id="{F1C7811D-C8D8-47D1-BDC7-E762DF510F09}"/>
              </a:ext>
            </a:extLst>
          </p:cNvPr>
          <p:cNvSpPr>
            <a:spLocks xmlns:a="http://schemas.openxmlformats.org/drawingml/2006/main" noGrp="1"/>
          </p:cNvSpPr>
          <p:nvPr/>
        </p:nvSpPr>
        <p:spPr>
          <a:xfrm xmlns:a="http://schemas.openxmlformats.org/drawingml/2006/main">
            <a:off x="571500" y="2057400"/>
            <a:ext cx="1571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a · 3p</a:t>
            </a:r>
          </a:p>
        </p:txBody>
      </p:sp>
      <p:sp>
        <p:nvSpPr>
          <p:cNvPr id="6" name="Bereken in de beginsituatie P₀ en Q₀. Eén onderneming kiest dan q = 10">
            <a:extLst xmlns:a="http://schemas.openxmlformats.org/drawingml/2006/main">
              <a:ext uri="{FF2B5EF4-FFF2-40B4-BE49-F238E27FC236}">
                <a16:creationId xmlns:a16="http://schemas.microsoft.com/office/drawing/2014/main" id="{1E2903CF-EF4E-4212-82F5-679DAA270CC1}"/>
              </a:ext>
            </a:extLst>
          </p:cNvPr>
          <p:cNvSpPr>
            <a:spLocks xmlns:a="http://schemas.openxmlformats.org/drawingml/2006/main" noGrp="1"/>
          </p:cNvSpPr>
          <p:nvPr/>
        </p:nvSpPr>
        <p:spPr>
          <a:xfrm xmlns:a="http://schemas.openxmlformats.org/drawingml/2006/main">
            <a:off x="2371725" y="2057400"/>
            <a:ext cx="12239625"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Bereken in de beginsituatie P₀ en Q₀. Eén onderneming kiest dan q = 100. Controleer met TO en TK dat haar winst nul is.</a:t>
            </a:r>
          </a:p>
        </p:txBody>
      </p:sp>
      <p:sp>
        <p:nvSpPr>
          <p:cNvPr id="7" name="">
            <a:extLst xmlns:a="http://schemas.openxmlformats.org/drawingml/2006/main">
              <a:ext uri="{FF2B5EF4-FFF2-40B4-BE49-F238E27FC236}">
                <a16:creationId xmlns:a16="http://schemas.microsoft.com/office/drawing/2014/main" id="{C588AF08-F8E6-4A0E-9B18-3E0E95979C07}"/>
              </a:ext>
            </a:extLst>
          </p:cNvPr>
          <p:cNvSpPr>
            <a:spLocks xmlns:a="http://schemas.openxmlformats.org/drawingml/2006/main" noGrp="1"/>
          </p:cNvSpPr>
          <p:nvPr/>
        </p:nvSpPr>
        <p:spPr>
          <a:xfrm xmlns:a="http://schemas.openxmlformats.org/drawingml/2006/main">
            <a:off x="571500" y="3638550"/>
            <a:ext cx="14097000" cy="0"/>
          </a:xfrm>
          <a:prstGeom xmlns:a="http://schemas.openxmlformats.org/drawingml/2006/main" prst="line">
            <a:avLst/>
          </a:prstGeom>
          <a:ln xmlns:a="http://schemas.openxmlformats.org/drawingml/2006/main" w="19050">
            <a:solidFill>
              <a:srgbClr val="C6D2DB"/>
            </a:solidFill>
          </a:ln>
        </p:spPr>
      </p:sp>
      <p:sp>
        <p:nvSpPr>
          <p:cNvPr id="8" name="b · 2p">
            <a:extLst xmlns:a="http://schemas.openxmlformats.org/drawingml/2006/main">
              <a:ext uri="{FF2B5EF4-FFF2-40B4-BE49-F238E27FC236}">
                <a16:creationId xmlns:a16="http://schemas.microsoft.com/office/drawing/2014/main" id="{9988845B-D684-4955-A309-653A2B3C6F0C}"/>
              </a:ext>
            </a:extLst>
          </p:cNvPr>
          <p:cNvSpPr>
            <a:spLocks xmlns:a="http://schemas.openxmlformats.org/drawingml/2006/main" noGrp="1"/>
          </p:cNvSpPr>
          <p:nvPr/>
        </p:nvSpPr>
        <p:spPr>
          <a:xfrm xmlns:a="http://schemas.openxmlformats.org/drawingml/2006/main">
            <a:off x="571500" y="3943350"/>
            <a:ext cx="1571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b · 2p</a:t>
            </a:r>
          </a:p>
        </p:txBody>
      </p:sp>
      <p:sp>
        <p:nvSpPr>
          <p:cNvPr id="9" name="Bereken direct na de vraagstijging, bij het gegeven ongewijzigde aanbo">
            <a:extLst xmlns:a="http://schemas.openxmlformats.org/drawingml/2006/main">
              <a:ext uri="{FF2B5EF4-FFF2-40B4-BE49-F238E27FC236}">
                <a16:creationId xmlns:a16="http://schemas.microsoft.com/office/drawing/2014/main" id="{5A2BFFA0-AFFC-4FEB-B545-E5D21A2CC6C3}"/>
              </a:ext>
            </a:extLst>
          </p:cNvPr>
          <p:cNvSpPr>
            <a:spLocks xmlns:a="http://schemas.openxmlformats.org/drawingml/2006/main" noGrp="1"/>
          </p:cNvSpPr>
          <p:nvPr/>
        </p:nvSpPr>
        <p:spPr>
          <a:xfrm xmlns:a="http://schemas.openxmlformats.org/drawingml/2006/main">
            <a:off x="2371725" y="3943350"/>
            <a:ext cx="12239625"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Bereken direct na de vraagstijging, bij het gegeven ongewijzigde aanbod, P₁ en Q₁. Markeer het nieuwe evenwicht E₁ in de marktgrafiek.</a:t>
            </a:r>
          </a:p>
        </p:txBody>
      </p:sp>
      <p:sp>
        <p:nvSpPr>
          <p:cNvPr id="10" name="">
            <a:extLst xmlns:a="http://schemas.openxmlformats.org/drawingml/2006/main">
              <a:ext uri="{FF2B5EF4-FFF2-40B4-BE49-F238E27FC236}">
                <a16:creationId xmlns:a16="http://schemas.microsoft.com/office/drawing/2014/main" id="{261D4A4B-B899-41BA-99DA-5F0A02FF75BF}"/>
              </a:ext>
            </a:extLst>
          </p:cNvPr>
          <p:cNvSpPr>
            <a:spLocks xmlns:a="http://schemas.openxmlformats.org/drawingml/2006/main" noGrp="1"/>
          </p:cNvSpPr>
          <p:nvPr/>
        </p:nvSpPr>
        <p:spPr>
          <a:xfrm xmlns:a="http://schemas.openxmlformats.org/drawingml/2006/main">
            <a:off x="571500" y="5524500"/>
            <a:ext cx="14097000" cy="0"/>
          </a:xfrm>
          <a:prstGeom xmlns:a="http://schemas.openxmlformats.org/drawingml/2006/main" prst="line">
            <a:avLst/>
          </a:prstGeom>
          <a:ln xmlns:a="http://schemas.openxmlformats.org/drawingml/2006/main" w="19050">
            <a:solidFill>
              <a:srgbClr val="C6D2DB"/>
            </a:solidFill>
          </a:ln>
        </p:spPr>
      </p:sp>
      <p:sp>
        <p:nvSpPr>
          <p:cNvPr id="11" name="c · 3p">
            <a:extLst xmlns:a="http://schemas.openxmlformats.org/drawingml/2006/main">
              <a:ext uri="{FF2B5EF4-FFF2-40B4-BE49-F238E27FC236}">
                <a16:creationId xmlns:a16="http://schemas.microsoft.com/office/drawing/2014/main" id="{7B1AEF9C-0D00-4C99-851A-B6A1ACE5DD8D}"/>
              </a:ext>
            </a:extLst>
          </p:cNvPr>
          <p:cNvSpPr>
            <a:spLocks xmlns:a="http://schemas.openxmlformats.org/drawingml/2006/main" noGrp="1"/>
          </p:cNvSpPr>
          <p:nvPr/>
        </p:nvSpPr>
        <p:spPr>
          <a:xfrm xmlns:a="http://schemas.openxmlformats.org/drawingml/2006/main">
            <a:off x="571500" y="5829300"/>
            <a:ext cx="1571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c · 3p</a:t>
            </a:r>
          </a:p>
        </p:txBody>
      </p:sp>
      <p:sp>
        <p:nvSpPr>
          <p:cNvPr id="12" name="Stel MK op. Bepaal bij P₁ de winstmaximale q van één onderneming. Cont">
            <a:extLst xmlns:a="http://schemas.openxmlformats.org/drawingml/2006/main">
              <a:ext uri="{FF2B5EF4-FFF2-40B4-BE49-F238E27FC236}">
                <a16:creationId xmlns:a16="http://schemas.microsoft.com/office/drawing/2014/main" id="{691A20FD-93B2-4580-B775-484049698E0D}"/>
              </a:ext>
            </a:extLst>
          </p:cNvPr>
          <p:cNvSpPr>
            <a:spLocks xmlns:a="http://schemas.openxmlformats.org/drawingml/2006/main" noGrp="1"/>
          </p:cNvSpPr>
          <p:nvPr/>
        </p:nvSpPr>
        <p:spPr>
          <a:xfrm xmlns:a="http://schemas.openxmlformats.org/drawingml/2006/main">
            <a:off x="2371725" y="5829300"/>
            <a:ext cx="12239625"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Stel MK op. Bepaal bij P₁ de winstmaximale q van één onderneming. Controleer de capaciteit en het verloop van MO en MK.</a:t>
            </a:r>
          </a:p>
        </p:txBody>
      </p:sp>
    </p:spTree>
    <p:extLst>
      <p:ext uri="{BB962C8B-B14F-4D97-AF65-F5344CB8AC3E}">
        <p14:creationId xmlns:p14="http://schemas.microsoft.com/office/powerpoint/2010/main" val="74634631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Opgave 35: vragen d–e">
            <a:extLst xmlns:a="http://schemas.openxmlformats.org/drawingml/2006/main">
              <a:ext uri="{FF2B5EF4-FFF2-40B4-BE49-F238E27FC236}">
                <a16:creationId xmlns:a16="http://schemas.microsoft.com/office/drawing/2014/main" id="{93B3D373-4E66-43F5-99B2-F9DD25DF4CAA}"/>
              </a:ext>
            </a:extLst>
          </p:cNvPr>
          <p:cNvSpPr>
            <a:spLocks xmlns:a="http://schemas.openxmlformats.org/drawingml/2006/main" noGrp="1"/>
          </p:cNvSpPr>
          <p:nvPr/>
        </p:nvSpPr>
        <p:spPr>
          <a:xfrm xmlns:a="http://schemas.openxmlformats.org/drawingml/2006/main">
            <a:off x="571500" y="38100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Opgave 35: vragen d–e</a:t>
            </a:r>
          </a:p>
        </p:txBody>
      </p:sp>
      <p:sp>
        <p:nvSpPr>
          <p:cNvPr id="2" name="">
            <a:extLst xmlns:a="http://schemas.openxmlformats.org/drawingml/2006/main">
              <a:ext uri="{FF2B5EF4-FFF2-40B4-BE49-F238E27FC236}">
                <a16:creationId xmlns:a16="http://schemas.microsoft.com/office/drawing/2014/main" id="{FFDBFD2A-8D9A-4555-99AA-F91A3FDC6BC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4 Gemengde opgaven · Boekpagina 82–83">
            <a:extLst xmlns:a="http://schemas.openxmlformats.org/drawingml/2006/main">
              <a:ext uri="{FF2B5EF4-FFF2-40B4-BE49-F238E27FC236}">
                <a16:creationId xmlns:a16="http://schemas.microsoft.com/office/drawing/2014/main" id="{19B4493D-A6C7-460F-AB2C-A7140518EBE7}"/>
              </a:ext>
            </a:extLst>
          </p:cNvPr>
          <p:cNvSpPr>
            <a:spLocks xmlns:a="http://schemas.openxmlformats.org/drawingml/2006/main" noGrp="1"/>
          </p:cNvSpPr>
          <p:nvPr/>
        </p:nvSpPr>
        <p:spPr>
          <a:xfrm xmlns:a="http://schemas.openxmlformats.org/drawingml/2006/main">
            <a:off x="571500" y="8077200"/>
            <a:ext cx="13239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§3.2.4 Gemengde opgaven · Boekpagina 82–83</a:t>
            </a:r>
          </a:p>
        </p:txBody>
      </p:sp>
      <p:sp>
        <p:nvSpPr>
          <p:cNvPr id="4" name="slide-number">
            <a:extLst xmlns:a="http://schemas.openxmlformats.org/drawingml/2006/main">
              <a:ext uri="{FF2B5EF4-FFF2-40B4-BE49-F238E27FC236}">
                <a16:creationId xmlns:a16="http://schemas.microsoft.com/office/drawing/2014/main" id="{6E39B434-903E-414F-8821-D060DEB82776}"/>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12</a:t>
            </a:r>
          </a:p>
        </p:txBody>
      </p:sp>
      <p:sp>
        <p:nvSpPr>
          <p:cNvPr id="5" name="d · 3p">
            <a:extLst xmlns:a="http://schemas.openxmlformats.org/drawingml/2006/main">
              <a:ext uri="{FF2B5EF4-FFF2-40B4-BE49-F238E27FC236}">
                <a16:creationId xmlns:a16="http://schemas.microsoft.com/office/drawing/2014/main" id="{885C5981-1A77-441C-AB02-5B1A31CF92C5}"/>
              </a:ext>
            </a:extLst>
          </p:cNvPr>
          <p:cNvSpPr>
            <a:spLocks xmlns:a="http://schemas.openxmlformats.org/drawingml/2006/main" noGrp="1"/>
          </p:cNvSpPr>
          <p:nvPr/>
        </p:nvSpPr>
        <p:spPr>
          <a:xfrm xmlns:a="http://schemas.openxmlformats.org/drawingml/2006/main">
            <a:off x="571500" y="2200275"/>
            <a:ext cx="1571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d · 3p</a:t>
            </a:r>
          </a:p>
        </p:txBody>
      </p:sp>
      <p:sp>
        <p:nvSpPr>
          <p:cNvPr id="6" name="Bereken de winst en GTK bij die q. Teken rechts de nieuwe&#10;P = GO = MO-">
            <a:extLst xmlns:a="http://schemas.openxmlformats.org/drawingml/2006/main">
              <a:ext uri="{FF2B5EF4-FFF2-40B4-BE49-F238E27FC236}">
                <a16:creationId xmlns:a16="http://schemas.microsoft.com/office/drawing/2014/main" id="{41BF2860-8B3B-4E13-8235-8E0A3C987223}"/>
              </a:ext>
            </a:extLst>
          </p:cNvPr>
          <p:cNvSpPr>
            <a:spLocks xmlns:a="http://schemas.openxmlformats.org/drawingml/2006/main" noGrp="1"/>
          </p:cNvSpPr>
          <p:nvPr/>
        </p:nvSpPr>
        <p:spPr>
          <a:xfrm xmlns:a="http://schemas.openxmlformats.org/drawingml/2006/main">
            <a:off x="2371725" y="2200275"/>
            <a:ext cx="12239625" cy="1552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Bereken de winst en GTK bij die q. Teken rechts de nieuwe</a:t>
            </a:r>
          </a:p>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P = GO = MO-lijn en arceer de winstrechthoek.</a:t>
            </a:r>
          </a:p>
        </p:txBody>
      </p:sp>
      <p:sp>
        <p:nvSpPr>
          <p:cNvPr id="7" name="">
            <a:extLst xmlns:a="http://schemas.openxmlformats.org/drawingml/2006/main">
              <a:ext uri="{FF2B5EF4-FFF2-40B4-BE49-F238E27FC236}">
                <a16:creationId xmlns:a16="http://schemas.microsoft.com/office/drawing/2014/main" id="{AADD247C-1174-486F-B42E-C5C14D89AED1}"/>
              </a:ext>
            </a:extLst>
          </p:cNvPr>
          <p:cNvSpPr>
            <a:spLocks xmlns:a="http://schemas.openxmlformats.org/drawingml/2006/main" noGrp="1"/>
          </p:cNvSpPr>
          <p:nvPr/>
        </p:nvSpPr>
        <p:spPr>
          <a:xfrm xmlns:a="http://schemas.openxmlformats.org/drawingml/2006/main">
            <a:off x="571500" y="4048125"/>
            <a:ext cx="14097000" cy="0"/>
          </a:xfrm>
          <a:prstGeom xmlns:a="http://schemas.openxmlformats.org/drawingml/2006/main" prst="line">
            <a:avLst/>
          </a:prstGeom>
          <a:ln xmlns:a="http://schemas.openxmlformats.org/drawingml/2006/main" w="19050">
            <a:solidFill>
              <a:srgbClr val="C6D2DB"/>
            </a:solidFill>
          </a:ln>
        </p:spPr>
      </p:sp>
      <p:sp>
        <p:nvSpPr>
          <p:cNvPr id="8" name="e · 2p">
            <a:extLst xmlns:a="http://schemas.openxmlformats.org/drawingml/2006/main">
              <a:ext uri="{FF2B5EF4-FFF2-40B4-BE49-F238E27FC236}">
                <a16:creationId xmlns:a16="http://schemas.microsoft.com/office/drawing/2014/main" id="{5CAFB8C9-6842-4F14-8B6C-C2B0967B8512}"/>
              </a:ext>
            </a:extLst>
          </p:cNvPr>
          <p:cNvSpPr>
            <a:spLocks xmlns:a="http://schemas.openxmlformats.org/drawingml/2006/main" noGrp="1"/>
          </p:cNvSpPr>
          <p:nvPr/>
        </p:nvSpPr>
        <p:spPr>
          <a:xfrm xmlns:a="http://schemas.openxmlformats.org/drawingml/2006/main">
            <a:off x="571500" y="4552950"/>
            <a:ext cx="1571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e · 2p</a:t>
            </a:r>
          </a:p>
        </p:txBody>
      </p:sp>
      <p:sp>
        <p:nvSpPr>
          <p:cNvPr id="9" name="Vergelijk de procentuele stijging van Q met die van q.&#10;Waarom zijn Q e">
            <a:extLst xmlns:a="http://schemas.openxmlformats.org/drawingml/2006/main">
              <a:ext uri="{FF2B5EF4-FFF2-40B4-BE49-F238E27FC236}">
                <a16:creationId xmlns:a16="http://schemas.microsoft.com/office/drawing/2014/main" id="{9CA839DA-BDB2-4D26-9900-0B2B25BE8C0F}"/>
              </a:ext>
            </a:extLst>
          </p:cNvPr>
          <p:cNvSpPr>
            <a:spLocks xmlns:a="http://schemas.openxmlformats.org/drawingml/2006/main" noGrp="1"/>
          </p:cNvSpPr>
          <p:nvPr/>
        </p:nvSpPr>
        <p:spPr>
          <a:xfrm xmlns:a="http://schemas.openxmlformats.org/drawingml/2006/main">
            <a:off x="2371725" y="4552950"/>
            <a:ext cx="12239625" cy="1590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Vergelijk de procentuele stijging van Q met die van q.</a:t>
            </a:r>
          </a:p>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Waarom zijn Q en q ondanks die vergelijking niet dezelfde grootheid?</a:t>
            </a:r>
          </a:p>
        </p:txBody>
      </p:sp>
      <p:sp>
        <p:nvSpPr>
          <p:cNvPr id="10" name="Reken met ongeronde tussenuitkomsten. Benoem markt of onderneming.">
            <a:extLst xmlns:a="http://schemas.openxmlformats.org/drawingml/2006/main">
              <a:ext uri="{FF2B5EF4-FFF2-40B4-BE49-F238E27FC236}">
                <a16:creationId xmlns:a16="http://schemas.microsoft.com/office/drawing/2014/main" id="{0E092DD6-0CA5-4D80-9524-85529283D936}"/>
              </a:ext>
            </a:extLst>
          </p:cNvPr>
          <p:cNvSpPr>
            <a:spLocks xmlns:a="http://schemas.openxmlformats.org/drawingml/2006/main" noGrp="1"/>
          </p:cNvSpPr>
          <p:nvPr/>
        </p:nvSpPr>
        <p:spPr>
          <a:xfrm xmlns:a="http://schemas.openxmlformats.org/drawingml/2006/main">
            <a:off x="571500" y="7191375"/>
            <a:ext cx="14097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Reken met ongeronde tussenuitkomsten. Benoem markt of onderneming.</a:t>
            </a:r>
          </a:p>
        </p:txBody>
      </p:sp>
    </p:spTree>
    <p:extLst>
      <p:ext uri="{BB962C8B-B14F-4D97-AF65-F5344CB8AC3E}">
        <p14:creationId xmlns:p14="http://schemas.microsoft.com/office/powerpoint/2010/main" val="144768261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35a: het eerste marktevenwicht">
            <a:extLst xmlns:a="http://schemas.openxmlformats.org/drawingml/2006/main">
              <a:ext uri="{FF2B5EF4-FFF2-40B4-BE49-F238E27FC236}">
                <a16:creationId xmlns:a16="http://schemas.microsoft.com/office/drawing/2014/main" id="{6A3B6C9B-128F-4FFD-BE39-6F7C0D40182B}"/>
              </a:ext>
            </a:extLst>
          </p:cNvPr>
          <p:cNvSpPr>
            <a:spLocks xmlns:a="http://schemas.openxmlformats.org/drawingml/2006/main" noGrp="1"/>
          </p:cNvSpPr>
          <p:nvPr/>
        </p:nvSpPr>
        <p:spPr>
          <a:xfrm xmlns:a="http://schemas.openxmlformats.org/drawingml/2006/main">
            <a:off x="571500" y="38100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35a: het eerste marktevenwicht</a:t>
            </a:r>
          </a:p>
        </p:txBody>
      </p:sp>
      <p:sp>
        <p:nvSpPr>
          <p:cNvPr id="2" name="">
            <a:extLst xmlns:a="http://schemas.openxmlformats.org/drawingml/2006/main">
              <a:ext uri="{FF2B5EF4-FFF2-40B4-BE49-F238E27FC236}">
                <a16:creationId xmlns:a16="http://schemas.microsoft.com/office/drawing/2014/main" id="{DDE2791D-1D46-4F9A-B82D-D72CD5027B4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4 Gemengde opgaven · Boekpagina 82–83">
            <a:extLst xmlns:a="http://schemas.openxmlformats.org/drawingml/2006/main">
              <a:ext uri="{FF2B5EF4-FFF2-40B4-BE49-F238E27FC236}">
                <a16:creationId xmlns:a16="http://schemas.microsoft.com/office/drawing/2014/main" id="{C340EFA8-338B-49CC-AD16-A30533D456F4}"/>
              </a:ext>
            </a:extLst>
          </p:cNvPr>
          <p:cNvSpPr>
            <a:spLocks xmlns:a="http://schemas.openxmlformats.org/drawingml/2006/main" noGrp="1"/>
          </p:cNvSpPr>
          <p:nvPr/>
        </p:nvSpPr>
        <p:spPr>
          <a:xfrm xmlns:a="http://schemas.openxmlformats.org/drawingml/2006/main">
            <a:off x="571500" y="8077200"/>
            <a:ext cx="13239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§3.2.4 Gemengde opgaven · Boekpagina 82–83</a:t>
            </a:r>
          </a:p>
        </p:txBody>
      </p:sp>
      <p:sp>
        <p:nvSpPr>
          <p:cNvPr id="4" name="slide-number">
            <a:extLst xmlns:a="http://schemas.openxmlformats.org/drawingml/2006/main">
              <a:ext uri="{FF2B5EF4-FFF2-40B4-BE49-F238E27FC236}">
                <a16:creationId xmlns:a16="http://schemas.microsoft.com/office/drawing/2014/main" id="{2F696964-EF4D-4B5D-8B5B-48DB4386AF9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13</a:t>
            </a:r>
          </a:p>
        </p:txBody>
      </p:sp>
      <p:sp>
        <p:nvSpPr>
          <p:cNvPr id="5" name="Qv₀ = Qa₀">
            <a:extLst xmlns:a="http://schemas.openxmlformats.org/drawingml/2006/main">
              <a:ext uri="{FF2B5EF4-FFF2-40B4-BE49-F238E27FC236}">
                <a16:creationId xmlns:a16="http://schemas.microsoft.com/office/drawing/2014/main" id="{47BCD0E0-F5C0-48A8-AE21-75253E8D6944}"/>
              </a:ext>
            </a:extLst>
          </p:cNvPr>
          <p:cNvSpPr>
            <a:spLocks xmlns:a="http://schemas.openxmlformats.org/drawingml/2006/main" noGrp="1"/>
          </p:cNvSpPr>
          <p:nvPr/>
        </p:nvSpPr>
        <p:spPr>
          <a:xfrm xmlns:a="http://schemas.openxmlformats.org/drawingml/2006/main">
            <a:off x="571500" y="1971675"/>
            <a:ext cx="1409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658A"/>
                </a:solidFill>
                <a:latin typeface="Arial"/>
                <a:ea typeface="Arial"/>
                <a:cs typeface="Arial"/>
              </a:defRPr>
            </a:pPr>
            <a:r>
              <a:rPr sz="3375" b="1">
                <a:solidFill>
                  <a:srgbClr val="17658A"/>
                </a:solidFill>
                <a:latin typeface="Arial"/>
                <a:ea typeface="Arial"/>
                <a:cs typeface="Arial"/>
              </a:rPr>
              <a:t>Qv₀ = Qa₀</a:t>
            </a:r>
          </a:p>
        </p:txBody>
      </p:sp>
      <p:sp>
        <p:nvSpPr>
          <p:cNvPr id="6" name="30.000 − 2.500P = 2.500P − 10.000&#10;40.000 = 5.000P&#10;P₀ = € 8 per kg">
            <a:extLst xmlns:a="http://schemas.openxmlformats.org/drawingml/2006/main">
              <a:ext uri="{FF2B5EF4-FFF2-40B4-BE49-F238E27FC236}">
                <a16:creationId xmlns:a16="http://schemas.microsoft.com/office/drawing/2014/main" id="{8527B4F3-FB73-41AC-A3C0-6CD46CB90353}"/>
              </a:ext>
            </a:extLst>
          </p:cNvPr>
          <p:cNvSpPr>
            <a:spLocks xmlns:a="http://schemas.openxmlformats.org/drawingml/2006/main" noGrp="1"/>
          </p:cNvSpPr>
          <p:nvPr/>
        </p:nvSpPr>
        <p:spPr>
          <a:xfrm xmlns:a="http://schemas.openxmlformats.org/drawingml/2006/main">
            <a:off x="571500" y="2990850"/>
            <a:ext cx="14097000" cy="2152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0">
                <a:solidFill>
                  <a:srgbClr val="183247"/>
                </a:solidFill>
                <a:latin typeface="Arial"/>
                <a:ea typeface="Arial"/>
                <a:cs typeface="Arial"/>
              </a:defRPr>
            </a:pPr>
            <a:r>
              <a:rPr sz="3300" b="0">
                <a:solidFill>
                  <a:srgbClr val="183247"/>
                </a:solidFill>
                <a:latin typeface="Arial"/>
                <a:ea typeface="Arial"/>
                <a:cs typeface="Arial"/>
              </a:rPr>
              <a:t>30.000 − 2.500P = 2.500P − 10.000</a:t>
            </a:r>
          </a:p>
          <a:p xmlns:a="http://schemas.openxmlformats.org/drawingml/2006/main">
            <a:pPr algn="l">
              <a:defRPr sz="3300" b="0">
                <a:solidFill>
                  <a:srgbClr val="183247"/>
                </a:solidFill>
                <a:latin typeface="Arial"/>
                <a:ea typeface="Arial"/>
                <a:cs typeface="Arial"/>
              </a:defRPr>
            </a:pPr>
            <a:r>
              <a:rPr sz="3300" b="0">
                <a:solidFill>
                  <a:srgbClr val="183247"/>
                </a:solidFill>
                <a:latin typeface="Arial"/>
                <a:ea typeface="Arial"/>
                <a:cs typeface="Arial"/>
              </a:rPr>
              <a:t>40.000 = 5.000P</a:t>
            </a:r>
          </a:p>
          <a:p xmlns:a="http://schemas.openxmlformats.org/drawingml/2006/main">
            <a:pPr algn="l">
              <a:defRPr sz="3300" b="0">
                <a:solidFill>
                  <a:srgbClr val="183247"/>
                </a:solidFill>
                <a:latin typeface="Arial"/>
                <a:ea typeface="Arial"/>
                <a:cs typeface="Arial"/>
              </a:defRPr>
            </a:pPr>
            <a:r>
              <a:rPr sz="3300" b="0">
                <a:solidFill>
                  <a:srgbClr val="183247"/>
                </a:solidFill>
                <a:latin typeface="Arial"/>
                <a:ea typeface="Arial"/>
                <a:cs typeface="Arial"/>
              </a:rPr>
              <a:t>P₀ = € 8 per kg</a:t>
            </a:r>
          </a:p>
        </p:txBody>
      </p:sp>
      <p:sp>
        <p:nvSpPr>
          <p:cNvPr id="7" name="Q₀ = 2.500 × 8 − 10.000 = 10.000 kg per week">
            <a:extLst xmlns:a="http://schemas.openxmlformats.org/drawingml/2006/main">
              <a:ext uri="{FF2B5EF4-FFF2-40B4-BE49-F238E27FC236}">
                <a16:creationId xmlns:a16="http://schemas.microsoft.com/office/drawing/2014/main" id="{357C2C5D-2C8F-49B4-930F-FB1F9DEA3783}"/>
              </a:ext>
            </a:extLst>
          </p:cNvPr>
          <p:cNvSpPr>
            <a:spLocks xmlns:a="http://schemas.openxmlformats.org/drawingml/2006/main" noGrp="1"/>
          </p:cNvSpPr>
          <p:nvPr/>
        </p:nvSpPr>
        <p:spPr>
          <a:xfrm xmlns:a="http://schemas.openxmlformats.org/drawingml/2006/main">
            <a:off x="571500" y="563880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83247"/>
                </a:solidFill>
                <a:latin typeface="Arial"/>
                <a:ea typeface="Arial"/>
                <a:cs typeface="Arial"/>
              </a:defRPr>
            </a:pPr>
            <a:r>
              <a:rPr sz="3225" b="1">
                <a:solidFill>
                  <a:srgbClr val="183247"/>
                </a:solidFill>
                <a:latin typeface="Arial"/>
                <a:ea typeface="Arial"/>
                <a:cs typeface="Arial"/>
              </a:rPr>
              <a:t>Q₀ = 2.500 × 8 − 10.000 = 10.000 kg per week</a:t>
            </a:r>
          </a:p>
        </p:txBody>
      </p:sp>
      <p:sp>
        <p:nvSpPr>
          <p:cNvPr id="8" name="Controle vraag: 30.000 − 2.500 × 8 = 10.000">
            <a:extLst xmlns:a="http://schemas.openxmlformats.org/drawingml/2006/main">
              <a:ext uri="{FF2B5EF4-FFF2-40B4-BE49-F238E27FC236}">
                <a16:creationId xmlns:a16="http://schemas.microsoft.com/office/drawing/2014/main" id="{397DBF1A-E5AC-4490-B760-D4D68C0C5211}"/>
              </a:ext>
            </a:extLst>
          </p:cNvPr>
          <p:cNvSpPr>
            <a:spLocks xmlns:a="http://schemas.openxmlformats.org/drawingml/2006/main" noGrp="1"/>
          </p:cNvSpPr>
          <p:nvPr/>
        </p:nvSpPr>
        <p:spPr>
          <a:xfrm xmlns:a="http://schemas.openxmlformats.org/drawingml/2006/main">
            <a:off x="571500" y="7143750"/>
            <a:ext cx="1409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20665B"/>
                </a:solidFill>
                <a:latin typeface="Arial"/>
                <a:ea typeface="Arial"/>
                <a:cs typeface="Arial"/>
              </a:defRPr>
            </a:pPr>
            <a:r>
              <a:rPr sz="2625" b="0">
                <a:solidFill>
                  <a:srgbClr val="20665B"/>
                </a:solidFill>
                <a:latin typeface="Arial"/>
                <a:ea typeface="Arial"/>
                <a:cs typeface="Arial"/>
              </a:rPr>
              <a:t>Controle vraag: 30.000 − 2.500 × 8 = 10.000</a:t>
            </a:r>
          </a:p>
        </p:txBody>
      </p:sp>
    </p:spTree>
    <p:extLst>
      <p:ext uri="{BB962C8B-B14F-4D97-AF65-F5344CB8AC3E}">
        <p14:creationId xmlns:p14="http://schemas.microsoft.com/office/powerpoint/2010/main" val="1898493205"/>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35a: de gegeven q = 100 is kostendekkend">
            <a:extLst xmlns:a="http://schemas.openxmlformats.org/drawingml/2006/main">
              <a:ext uri="{FF2B5EF4-FFF2-40B4-BE49-F238E27FC236}">
                <a16:creationId xmlns:a16="http://schemas.microsoft.com/office/drawing/2014/main" id="{81DC4B85-0EF7-4115-9F0F-5DEF3548207A}"/>
              </a:ext>
            </a:extLst>
          </p:cNvPr>
          <p:cNvSpPr>
            <a:spLocks xmlns:a="http://schemas.openxmlformats.org/drawingml/2006/main" noGrp="1"/>
          </p:cNvSpPr>
          <p:nvPr/>
        </p:nvSpPr>
        <p:spPr>
          <a:xfrm xmlns:a="http://schemas.openxmlformats.org/drawingml/2006/main">
            <a:off x="571500" y="38100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35a: de gegeven q = 100 is kostendekkend</a:t>
            </a:r>
          </a:p>
        </p:txBody>
      </p:sp>
      <p:sp>
        <p:nvSpPr>
          <p:cNvPr id="2" name="">
            <a:extLst xmlns:a="http://schemas.openxmlformats.org/drawingml/2006/main">
              <a:ext uri="{FF2B5EF4-FFF2-40B4-BE49-F238E27FC236}">
                <a16:creationId xmlns:a16="http://schemas.microsoft.com/office/drawing/2014/main" id="{5C97B6AD-74BE-4B94-99C7-160A7B298C3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4 Gemengde opgaven · Boekpagina 82–83">
            <a:extLst xmlns:a="http://schemas.openxmlformats.org/drawingml/2006/main">
              <a:ext uri="{FF2B5EF4-FFF2-40B4-BE49-F238E27FC236}">
                <a16:creationId xmlns:a16="http://schemas.microsoft.com/office/drawing/2014/main" id="{791F7F40-0696-4B69-9ADB-7B6F1E31E0C9}"/>
              </a:ext>
            </a:extLst>
          </p:cNvPr>
          <p:cNvSpPr>
            <a:spLocks xmlns:a="http://schemas.openxmlformats.org/drawingml/2006/main" noGrp="1"/>
          </p:cNvSpPr>
          <p:nvPr/>
        </p:nvSpPr>
        <p:spPr>
          <a:xfrm xmlns:a="http://schemas.openxmlformats.org/drawingml/2006/main">
            <a:off x="571500" y="8077200"/>
            <a:ext cx="13239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§3.2.4 Gemengde opgaven · Boekpagina 82–83</a:t>
            </a:r>
          </a:p>
        </p:txBody>
      </p:sp>
      <p:sp>
        <p:nvSpPr>
          <p:cNvPr id="4" name="slide-number">
            <a:extLst xmlns:a="http://schemas.openxmlformats.org/drawingml/2006/main">
              <a:ext uri="{FF2B5EF4-FFF2-40B4-BE49-F238E27FC236}">
                <a16:creationId xmlns:a16="http://schemas.microsoft.com/office/drawing/2014/main" id="{8CFD204D-6234-44DF-8708-B411F39ED2D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14</a:t>
            </a:r>
          </a:p>
        </p:txBody>
      </p:sp>
      <p:graphicFrame>
        <p:nvGraphicFramePr>
          <p:cNvPr id="11" name=""/>
          <p:cNvGraphicFramePr/>
          <p:nvPr/>
        </p:nvGraphicFramePr>
        <p:xfrm>
          <a:off xmlns:a="http://schemas.openxmlformats.org/drawingml/2006/main" x="571500" y="2286000"/>
          <a:ext xmlns:a="http://schemas.openxmlformats.org/drawingml/2006/main" cx="14097000" cy="3419475"/>
        </p:xfrm>
        <a:graphic xmlns:a="http://schemas.openxmlformats.org/drawingml/2006/main">
          <a:graphicData uri="http://schemas.openxmlformats.org/drawingml/2006/table">
            <a:tbl>
              <a:tblPr/>
              <a:tblGrid>
                <a:gridCol w="6477000"/>
                <a:gridCol w="7620000"/>
              </a:tblGrid>
              <a:tr h="854869">
                <a:tc>
                  <a:txBody>
                    <a:bodyPr lIns="152400" tIns="95250" rIns="133350" bIns="95250"/>
                    <a:lstStyle/>
                    <a:p>
                      <a:r>
                        <a:rPr sz="2625" b="1">
                          <a:solidFill>
                            <a:srgbClr val="FFFFFF"/>
                          </a:solidFill>
                          <a:latin typeface="Arial"/>
                          <a:ea typeface="Arial"/>
                          <a:cs typeface="Arial"/>
                        </a:rPr>
                        <a:t>Bij P₀ = € 8 en q = 100</a:t>
                      </a:r>
                    </a:p>
                  </a:txBody>
                  <a:tcPr marL="91440" marR="91440" marT="45720" marB="45720" anchor="ctr">
                    <a:solidFill>
                      <a:srgbClr val="183247"/>
                    </a:solidFill>
                  </a:tcPr>
                </a:tc>
                <a:tc>
                  <a:txBody>
                    <a:bodyPr lIns="152400" tIns="95250" rIns="133350" bIns="95250"/>
                    <a:lstStyle/>
                    <a:p>
                      <a:r>
                        <a:rPr sz="2625" b="1">
                          <a:solidFill>
                            <a:srgbClr val="FFFFFF"/>
                          </a:solidFill>
                          <a:latin typeface="Arial"/>
                          <a:ea typeface="Arial"/>
                          <a:cs typeface="Arial"/>
                        </a:rPr>
                        <a:t>Berekening (€ per week)</a:t>
                      </a:r>
                    </a:p>
                  </a:txBody>
                  <a:tcPr marL="91440" marR="91440" marT="45720" marB="45720" anchor="ctr">
                    <a:solidFill>
                      <a:srgbClr val="183247"/>
                    </a:solidFill>
                  </a:tcPr>
                </a:tc>
              </a:tr>
              <a:tr h="854869">
                <a:tc>
                  <a:txBody>
                    <a:bodyPr lIns="152400" tIns="95250" rIns="133350" bIns="95250"/>
                    <a:lstStyle/>
                    <a:p>
                      <a:r>
                        <a:rPr sz="2625" b="0">
                          <a:solidFill>
                            <a:srgbClr val="183247"/>
                          </a:solidFill>
                          <a:latin typeface="Arial"/>
                          <a:ea typeface="Arial"/>
                          <a:cs typeface="Arial"/>
                        </a:rPr>
                        <a:t>TO = P × q</a:t>
                      </a:r>
                    </a:p>
                  </a:txBody>
                  <a:tcPr marL="91440" marR="91440" marT="45720" marB="45720" anchor="ctr">
                    <a:solidFill>
                      <a:srgbClr val="FFFFFF"/>
                    </a:solidFill>
                  </a:tcPr>
                </a:tc>
                <a:tc>
                  <a:txBody>
                    <a:bodyPr lIns="152400" tIns="95250" rIns="133350" bIns="95250"/>
                    <a:lstStyle/>
                    <a:p>
                      <a:r>
                        <a:rPr sz="2625" b="0">
                          <a:solidFill>
                            <a:srgbClr val="183247"/>
                          </a:solidFill>
                          <a:latin typeface="Arial"/>
                          <a:ea typeface="Arial"/>
                          <a:cs typeface="Arial"/>
                        </a:rPr>
                        <a:t>8 × 100 = 800</a:t>
                      </a:r>
                    </a:p>
                  </a:txBody>
                  <a:tcPr marL="91440" marR="91440" marT="45720" marB="45720" anchor="ctr">
                    <a:solidFill>
                      <a:srgbClr val="FFFFFF"/>
                    </a:solidFill>
                  </a:tcPr>
                </a:tc>
              </a:tr>
              <a:tr h="854869">
                <a:tc>
                  <a:txBody>
                    <a:bodyPr lIns="152400" tIns="95250" rIns="133350" bIns="95250"/>
                    <a:lstStyle/>
                    <a:p>
                      <a:r>
                        <a:rPr sz="2625" b="0">
                          <a:solidFill>
                            <a:srgbClr val="183247"/>
                          </a:solidFill>
                          <a:latin typeface="Arial"/>
                          <a:ea typeface="Arial"/>
                          <a:cs typeface="Arial"/>
                        </a:rPr>
                        <a:t>TK = 0,02q² + 4q + 200</a:t>
                      </a:r>
                    </a:p>
                  </a:txBody>
                  <a:tcPr marL="91440" marR="91440" marT="45720" marB="45720" anchor="ctr">
                    <a:solidFill>
                      <a:srgbClr val="EFF4F7"/>
                    </a:solidFill>
                  </a:tcPr>
                </a:tc>
                <a:tc>
                  <a:txBody>
                    <a:bodyPr lIns="152400" tIns="95250" rIns="133350" bIns="95250"/>
                    <a:lstStyle/>
                    <a:p>
                      <a:r>
                        <a:rPr sz="2625" b="0">
                          <a:solidFill>
                            <a:srgbClr val="183247"/>
                          </a:solidFill>
                          <a:latin typeface="Arial"/>
                          <a:ea typeface="Arial"/>
                          <a:cs typeface="Arial"/>
                        </a:rPr>
                        <a:t>200 + 400 + 200 = 800</a:t>
                      </a:r>
                    </a:p>
                  </a:txBody>
                  <a:tcPr marL="91440" marR="91440" marT="45720" marB="45720" anchor="ctr">
                    <a:solidFill>
                      <a:srgbClr val="EFF4F7"/>
                    </a:solidFill>
                  </a:tcPr>
                </a:tc>
              </a:tr>
              <a:tr h="854869">
                <a:tc>
                  <a:txBody>
                    <a:bodyPr lIns="152400" tIns="95250" rIns="133350" bIns="95250"/>
                    <a:lstStyle/>
                    <a:p>
                      <a:r>
                        <a:rPr sz="2625" b="0">
                          <a:solidFill>
                            <a:srgbClr val="183247"/>
                          </a:solidFill>
                          <a:latin typeface="Arial"/>
                          <a:ea typeface="Arial"/>
                          <a:cs typeface="Arial"/>
                        </a:rPr>
                        <a:t>Winst = TO − TK</a:t>
                      </a:r>
                    </a:p>
                  </a:txBody>
                  <a:tcPr marL="91440" marR="91440" marT="45720" marB="45720" anchor="ctr">
                    <a:solidFill>
                      <a:srgbClr val="FFFFFF"/>
                    </a:solidFill>
                  </a:tcPr>
                </a:tc>
                <a:tc>
                  <a:txBody>
                    <a:bodyPr lIns="152400" tIns="95250" rIns="133350" bIns="95250"/>
                    <a:lstStyle/>
                    <a:p>
                      <a:r>
                        <a:rPr sz="2625" b="0">
                          <a:solidFill>
                            <a:srgbClr val="183247"/>
                          </a:solidFill>
                          <a:latin typeface="Arial"/>
                          <a:ea typeface="Arial"/>
                          <a:cs typeface="Arial"/>
                        </a:rPr>
                        <a:t>800 − 800 = 0</a:t>
                      </a:r>
                    </a:p>
                  </a:txBody>
                  <a:tcPr marL="91440" marR="91440" marT="45720" marB="45720" anchor="ctr">
                    <a:solidFill>
                      <a:srgbClr val="FFFFFF"/>
                    </a:solidFill>
                  </a:tcPr>
                </a:tc>
              </a:tr>
            </a:tbl>
          </a:graphicData>
        </a:graphic>
      </p:graphicFrame>
      <p:sp>
        <p:nvSpPr>
          <p:cNvPr id="6" name="De berekende winst is € 0 per week.">
            <a:extLst xmlns:a="http://schemas.openxmlformats.org/drawingml/2006/main">
              <a:ext uri="{FF2B5EF4-FFF2-40B4-BE49-F238E27FC236}">
                <a16:creationId xmlns:a16="http://schemas.microsoft.com/office/drawing/2014/main" id="{44189CF1-2168-48EE-9FC0-604623991AFA}"/>
              </a:ext>
            </a:extLst>
          </p:cNvPr>
          <p:cNvSpPr>
            <a:spLocks xmlns:a="http://schemas.openxmlformats.org/drawingml/2006/main" noGrp="1"/>
          </p:cNvSpPr>
          <p:nvPr/>
        </p:nvSpPr>
        <p:spPr>
          <a:xfrm xmlns:a="http://schemas.openxmlformats.org/drawingml/2006/main">
            <a:off x="571500" y="66103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658A"/>
                </a:solidFill>
                <a:latin typeface="Arial"/>
                <a:ea typeface="Arial"/>
                <a:cs typeface="Arial"/>
              </a:defRPr>
            </a:pPr>
            <a:r>
              <a:rPr sz="3375" b="1">
                <a:solidFill>
                  <a:srgbClr val="17658A"/>
                </a:solidFill>
                <a:latin typeface="Arial"/>
                <a:ea typeface="Arial"/>
                <a:cs typeface="Arial"/>
              </a:rPr>
              <a:t>De berekende winst is € 0 per week.</a:t>
            </a:r>
          </a:p>
        </p:txBody>
      </p:sp>
    </p:spTree>
    <p:extLst>
      <p:ext uri="{BB962C8B-B14F-4D97-AF65-F5344CB8AC3E}">
        <p14:creationId xmlns:p14="http://schemas.microsoft.com/office/powerpoint/2010/main" val="61407104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35b: het evenwicht na de vraagstijging">
            <a:extLst xmlns:a="http://schemas.openxmlformats.org/drawingml/2006/main">
              <a:ext uri="{FF2B5EF4-FFF2-40B4-BE49-F238E27FC236}">
                <a16:creationId xmlns:a16="http://schemas.microsoft.com/office/drawing/2014/main" id="{6AC3662C-7E64-4808-9654-13B62A9A2594}"/>
              </a:ext>
            </a:extLst>
          </p:cNvPr>
          <p:cNvSpPr>
            <a:spLocks xmlns:a="http://schemas.openxmlformats.org/drawingml/2006/main" noGrp="1"/>
          </p:cNvSpPr>
          <p:nvPr/>
        </p:nvSpPr>
        <p:spPr>
          <a:xfrm xmlns:a="http://schemas.openxmlformats.org/drawingml/2006/main">
            <a:off x="571500" y="38100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35b: het evenwicht na de vraagstijging</a:t>
            </a:r>
          </a:p>
        </p:txBody>
      </p:sp>
      <p:sp>
        <p:nvSpPr>
          <p:cNvPr id="2" name="">
            <a:extLst xmlns:a="http://schemas.openxmlformats.org/drawingml/2006/main">
              <a:ext uri="{FF2B5EF4-FFF2-40B4-BE49-F238E27FC236}">
                <a16:creationId xmlns:a16="http://schemas.microsoft.com/office/drawing/2014/main" id="{44D04378-42A5-41AF-9564-3B9B0BF935E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4 Gemengde opgaven · Boekpagina 82–83">
            <a:extLst xmlns:a="http://schemas.openxmlformats.org/drawingml/2006/main">
              <a:ext uri="{FF2B5EF4-FFF2-40B4-BE49-F238E27FC236}">
                <a16:creationId xmlns:a16="http://schemas.microsoft.com/office/drawing/2014/main" id="{A7B88FFE-2F9F-48F4-A5EE-C80EEC64BEB8}"/>
              </a:ext>
            </a:extLst>
          </p:cNvPr>
          <p:cNvSpPr>
            <a:spLocks xmlns:a="http://schemas.openxmlformats.org/drawingml/2006/main" noGrp="1"/>
          </p:cNvSpPr>
          <p:nvPr/>
        </p:nvSpPr>
        <p:spPr>
          <a:xfrm xmlns:a="http://schemas.openxmlformats.org/drawingml/2006/main">
            <a:off x="571500" y="8077200"/>
            <a:ext cx="13239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§3.2.4 Gemengde opgaven · Boekpagina 82–83</a:t>
            </a:r>
          </a:p>
        </p:txBody>
      </p:sp>
      <p:sp>
        <p:nvSpPr>
          <p:cNvPr id="4" name="slide-number">
            <a:extLst xmlns:a="http://schemas.openxmlformats.org/drawingml/2006/main">
              <a:ext uri="{FF2B5EF4-FFF2-40B4-BE49-F238E27FC236}">
                <a16:creationId xmlns:a16="http://schemas.microsoft.com/office/drawing/2014/main" id="{9D44373F-39E8-4494-8548-DBE34FBDE56F}"/>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15</a:t>
            </a:r>
          </a:p>
        </p:txBody>
      </p:sp>
      <p:sp>
        <p:nvSpPr>
          <p:cNvPr id="5" name="Qv₁ = Qa₀">
            <a:extLst xmlns:a="http://schemas.openxmlformats.org/drawingml/2006/main">
              <a:ext uri="{FF2B5EF4-FFF2-40B4-BE49-F238E27FC236}">
                <a16:creationId xmlns:a16="http://schemas.microsoft.com/office/drawing/2014/main" id="{B82C3A2B-4F51-43C3-AFBD-CB510D35C7FE}"/>
              </a:ext>
            </a:extLst>
          </p:cNvPr>
          <p:cNvSpPr>
            <a:spLocks xmlns:a="http://schemas.openxmlformats.org/drawingml/2006/main" noGrp="1"/>
          </p:cNvSpPr>
          <p:nvPr/>
        </p:nvSpPr>
        <p:spPr>
          <a:xfrm xmlns:a="http://schemas.openxmlformats.org/drawingml/2006/main">
            <a:off x="571500" y="1971675"/>
            <a:ext cx="1409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658A"/>
                </a:solidFill>
                <a:latin typeface="Arial"/>
                <a:ea typeface="Arial"/>
                <a:cs typeface="Arial"/>
              </a:defRPr>
            </a:pPr>
            <a:r>
              <a:rPr sz="3375" b="1">
                <a:solidFill>
                  <a:srgbClr val="17658A"/>
                </a:solidFill>
                <a:latin typeface="Arial"/>
                <a:ea typeface="Arial"/>
                <a:cs typeface="Arial"/>
              </a:rPr>
              <a:t>Qv₁ = Qa₀</a:t>
            </a:r>
          </a:p>
        </p:txBody>
      </p:sp>
      <p:sp>
        <p:nvSpPr>
          <p:cNvPr id="6" name="50.000 − 2.500P = 2.500P − 10.000&#10;60.000 = 5.000P&#10;P₁ = € 12 per kg">
            <a:extLst xmlns:a="http://schemas.openxmlformats.org/drawingml/2006/main">
              <a:ext uri="{FF2B5EF4-FFF2-40B4-BE49-F238E27FC236}">
                <a16:creationId xmlns:a16="http://schemas.microsoft.com/office/drawing/2014/main" id="{CD478B42-54DB-489A-9132-4967F21F7418}"/>
              </a:ext>
            </a:extLst>
          </p:cNvPr>
          <p:cNvSpPr>
            <a:spLocks xmlns:a="http://schemas.openxmlformats.org/drawingml/2006/main" noGrp="1"/>
          </p:cNvSpPr>
          <p:nvPr/>
        </p:nvSpPr>
        <p:spPr>
          <a:xfrm xmlns:a="http://schemas.openxmlformats.org/drawingml/2006/main">
            <a:off x="571500" y="2990850"/>
            <a:ext cx="14097000" cy="2152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0">
                <a:solidFill>
                  <a:srgbClr val="183247"/>
                </a:solidFill>
                <a:latin typeface="Arial"/>
                <a:ea typeface="Arial"/>
                <a:cs typeface="Arial"/>
              </a:defRPr>
            </a:pPr>
            <a:r>
              <a:rPr sz="3300" b="0">
                <a:solidFill>
                  <a:srgbClr val="183247"/>
                </a:solidFill>
                <a:latin typeface="Arial"/>
                <a:ea typeface="Arial"/>
                <a:cs typeface="Arial"/>
              </a:rPr>
              <a:t>50.000 − 2.500P = 2.500P − 10.000</a:t>
            </a:r>
          </a:p>
          <a:p xmlns:a="http://schemas.openxmlformats.org/drawingml/2006/main">
            <a:pPr algn="l">
              <a:defRPr sz="3300" b="0">
                <a:solidFill>
                  <a:srgbClr val="183247"/>
                </a:solidFill>
                <a:latin typeface="Arial"/>
                <a:ea typeface="Arial"/>
                <a:cs typeface="Arial"/>
              </a:defRPr>
            </a:pPr>
            <a:r>
              <a:rPr sz="3300" b="0">
                <a:solidFill>
                  <a:srgbClr val="183247"/>
                </a:solidFill>
                <a:latin typeface="Arial"/>
                <a:ea typeface="Arial"/>
                <a:cs typeface="Arial"/>
              </a:rPr>
              <a:t>60.000 = 5.000P</a:t>
            </a:r>
          </a:p>
          <a:p xmlns:a="http://schemas.openxmlformats.org/drawingml/2006/main">
            <a:pPr algn="l">
              <a:defRPr sz="3300" b="0">
                <a:solidFill>
                  <a:srgbClr val="183247"/>
                </a:solidFill>
                <a:latin typeface="Arial"/>
                <a:ea typeface="Arial"/>
                <a:cs typeface="Arial"/>
              </a:defRPr>
            </a:pPr>
            <a:r>
              <a:rPr sz="3300" b="0">
                <a:solidFill>
                  <a:srgbClr val="183247"/>
                </a:solidFill>
                <a:latin typeface="Arial"/>
                <a:ea typeface="Arial"/>
                <a:cs typeface="Arial"/>
              </a:rPr>
              <a:t>P₁ = € 12 per kg</a:t>
            </a:r>
          </a:p>
        </p:txBody>
      </p:sp>
      <p:sp>
        <p:nvSpPr>
          <p:cNvPr id="7" name="Q₁ = 2.500 × 12 − 10.000 = 20.000 kg per week">
            <a:extLst xmlns:a="http://schemas.openxmlformats.org/drawingml/2006/main">
              <a:ext uri="{FF2B5EF4-FFF2-40B4-BE49-F238E27FC236}">
                <a16:creationId xmlns:a16="http://schemas.microsoft.com/office/drawing/2014/main" id="{A5DEBA03-0A24-4F7A-BBE5-D3D86264CD9D}"/>
              </a:ext>
            </a:extLst>
          </p:cNvPr>
          <p:cNvSpPr>
            <a:spLocks xmlns:a="http://schemas.openxmlformats.org/drawingml/2006/main" noGrp="1"/>
          </p:cNvSpPr>
          <p:nvPr/>
        </p:nvSpPr>
        <p:spPr>
          <a:xfrm xmlns:a="http://schemas.openxmlformats.org/drawingml/2006/main">
            <a:off x="571500" y="563880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83247"/>
                </a:solidFill>
                <a:latin typeface="Arial"/>
                <a:ea typeface="Arial"/>
                <a:cs typeface="Arial"/>
              </a:defRPr>
            </a:pPr>
            <a:r>
              <a:rPr sz="3225" b="1">
                <a:solidFill>
                  <a:srgbClr val="183247"/>
                </a:solidFill>
                <a:latin typeface="Arial"/>
                <a:ea typeface="Arial"/>
                <a:cs typeface="Arial"/>
              </a:rPr>
              <a:t>Q₁ = 2.500 × 12 − 10.000 = 20.000 kg per week</a:t>
            </a:r>
          </a:p>
        </p:txBody>
      </p:sp>
      <p:sp>
        <p:nvSpPr>
          <p:cNvPr id="8" name="Controle vraag: 50.000 − 2.500 × 12 = 20.000">
            <a:extLst xmlns:a="http://schemas.openxmlformats.org/drawingml/2006/main">
              <a:ext uri="{FF2B5EF4-FFF2-40B4-BE49-F238E27FC236}">
                <a16:creationId xmlns:a16="http://schemas.microsoft.com/office/drawing/2014/main" id="{CFB58810-2F23-4093-9CEE-D9E4F84F8FD4}"/>
              </a:ext>
            </a:extLst>
          </p:cNvPr>
          <p:cNvSpPr>
            <a:spLocks xmlns:a="http://schemas.openxmlformats.org/drawingml/2006/main" noGrp="1"/>
          </p:cNvSpPr>
          <p:nvPr/>
        </p:nvSpPr>
        <p:spPr>
          <a:xfrm xmlns:a="http://schemas.openxmlformats.org/drawingml/2006/main">
            <a:off x="571500" y="7143750"/>
            <a:ext cx="1409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20665B"/>
                </a:solidFill>
                <a:latin typeface="Arial"/>
                <a:ea typeface="Arial"/>
                <a:cs typeface="Arial"/>
              </a:defRPr>
            </a:pPr>
            <a:r>
              <a:rPr sz="2625" b="0">
                <a:solidFill>
                  <a:srgbClr val="20665B"/>
                </a:solidFill>
                <a:latin typeface="Arial"/>
                <a:ea typeface="Arial"/>
                <a:cs typeface="Arial"/>
              </a:rPr>
              <a:t>Controle vraag: 50.000 − 2.500 × 12 = 20.000</a:t>
            </a:r>
          </a:p>
        </p:txBody>
      </p:sp>
    </p:spTree>
    <p:extLst>
      <p:ext uri="{BB962C8B-B14F-4D97-AF65-F5344CB8AC3E}">
        <p14:creationId xmlns:p14="http://schemas.microsoft.com/office/powerpoint/2010/main" val="214186632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35b: E₁ in de marktgrafiek">
            <a:extLst xmlns:a="http://schemas.openxmlformats.org/drawingml/2006/main">
              <a:ext uri="{FF2B5EF4-FFF2-40B4-BE49-F238E27FC236}">
                <a16:creationId xmlns:a16="http://schemas.microsoft.com/office/drawing/2014/main" id="{C3CDF3A3-A7E5-4166-8368-1CDC35FB4827}"/>
              </a:ext>
            </a:extLst>
          </p:cNvPr>
          <p:cNvSpPr>
            <a:spLocks xmlns:a="http://schemas.openxmlformats.org/drawingml/2006/main" noGrp="1"/>
          </p:cNvSpPr>
          <p:nvPr/>
        </p:nvSpPr>
        <p:spPr>
          <a:xfrm xmlns:a="http://schemas.openxmlformats.org/drawingml/2006/main">
            <a:off x="571500" y="38100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35b: E₁ in de marktgrafiek</a:t>
            </a:r>
          </a:p>
        </p:txBody>
      </p:sp>
      <p:sp>
        <p:nvSpPr>
          <p:cNvPr id="2" name="">
            <a:extLst xmlns:a="http://schemas.openxmlformats.org/drawingml/2006/main">
              <a:ext uri="{FF2B5EF4-FFF2-40B4-BE49-F238E27FC236}">
                <a16:creationId xmlns:a16="http://schemas.microsoft.com/office/drawing/2014/main" id="{0C183DA9-6E90-4D6A-97E5-83E217CDA0F9}"/>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4 Gemengde opgaven · Boekpagina 82–83">
            <a:extLst xmlns:a="http://schemas.openxmlformats.org/drawingml/2006/main">
              <a:ext uri="{FF2B5EF4-FFF2-40B4-BE49-F238E27FC236}">
                <a16:creationId xmlns:a16="http://schemas.microsoft.com/office/drawing/2014/main" id="{6470859B-DD62-4051-B746-1427F467487F}"/>
              </a:ext>
            </a:extLst>
          </p:cNvPr>
          <p:cNvSpPr>
            <a:spLocks xmlns:a="http://schemas.openxmlformats.org/drawingml/2006/main" noGrp="1"/>
          </p:cNvSpPr>
          <p:nvPr/>
        </p:nvSpPr>
        <p:spPr>
          <a:xfrm xmlns:a="http://schemas.openxmlformats.org/drawingml/2006/main">
            <a:off x="571500" y="8077200"/>
            <a:ext cx="13239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§3.2.4 Gemengde opgaven · Boekpagina 82–83</a:t>
            </a:r>
          </a:p>
        </p:txBody>
      </p:sp>
      <p:sp>
        <p:nvSpPr>
          <p:cNvPr id="4" name="slide-number">
            <a:extLst xmlns:a="http://schemas.openxmlformats.org/drawingml/2006/main">
              <a:ext uri="{FF2B5EF4-FFF2-40B4-BE49-F238E27FC236}">
                <a16:creationId xmlns:a16="http://schemas.microsoft.com/office/drawing/2014/main" id="{208AA5BC-5704-4BA9-B871-305B3E1A388B}"/>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16</a:t>
            </a:r>
          </a:p>
        </p:txBody>
      </p:sp>
      <p:graphicFrame>
        <p:nvGraphicFramePr>
          <p:cNvPr id="13" name="Chart"/>
          <p:cNvGraphicFramePr/>
          <p:nvPr/>
        </p:nvGraphicFramePr>
        <p:xfrm>
          <a:off xmlns:a="http://schemas.openxmlformats.org/drawingml/2006/main" x="571500" y="2190750"/>
          <a:ext xmlns:a="http://schemas.openxmlformats.org/drawingml/2006/main" cx="9525000" cy="5429250"/>
        </p:xfrm>
        <a:graphic xmlns:a="http://schemas.openxmlformats.org/drawingml/2006/main">
          <a:graphicData uri="http://schemas.openxmlformats.org/drawingml/2006/chart">
            <c:chart xmlns:r="http://schemas.openxmlformats.org/officeDocument/2006/relationships" xmlns:c="http://schemas.openxmlformats.org/drawingml/2006/chart" r:id="R6037f827dfff4f2c"/>
          </a:graphicData>
        </a:graphic>
      </p:graphicFrame>
      <p:sp>
        <p:nvSpPr>
          <p:cNvPr id="6" name="E₁ = (20.000; 12)">
            <a:extLst xmlns:a="http://schemas.openxmlformats.org/drawingml/2006/main">
              <a:ext uri="{FF2B5EF4-FFF2-40B4-BE49-F238E27FC236}">
                <a16:creationId xmlns:a16="http://schemas.microsoft.com/office/drawing/2014/main" id="{406F0727-0DD8-4091-938D-A040FC08EFA2}"/>
              </a:ext>
            </a:extLst>
          </p:cNvPr>
          <p:cNvSpPr>
            <a:spLocks xmlns:a="http://schemas.openxmlformats.org/drawingml/2006/main" noGrp="1"/>
          </p:cNvSpPr>
          <p:nvPr/>
        </p:nvSpPr>
        <p:spPr>
          <a:xfrm xmlns:a="http://schemas.openxmlformats.org/drawingml/2006/main">
            <a:off x="10477500" y="2628900"/>
            <a:ext cx="4191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E₁ = (20.000; 12)</a:t>
            </a:r>
          </a:p>
        </p:txBody>
      </p:sp>
      <p:sp>
        <p:nvSpPr>
          <p:cNvPr id="7" name="Op de getekende Q-as:&#10;20 betekent 20.000&#10;kg per week.">
            <a:extLst xmlns:a="http://schemas.openxmlformats.org/drawingml/2006/main">
              <a:ext uri="{FF2B5EF4-FFF2-40B4-BE49-F238E27FC236}">
                <a16:creationId xmlns:a16="http://schemas.microsoft.com/office/drawing/2014/main" id="{3455B049-929C-44A7-8B5B-3EAC85A4241A}"/>
              </a:ext>
            </a:extLst>
          </p:cNvPr>
          <p:cNvSpPr>
            <a:spLocks xmlns:a="http://schemas.openxmlformats.org/drawingml/2006/main" noGrp="1"/>
          </p:cNvSpPr>
          <p:nvPr/>
        </p:nvSpPr>
        <p:spPr>
          <a:xfrm xmlns:a="http://schemas.openxmlformats.org/drawingml/2006/main">
            <a:off x="10477500" y="4038600"/>
            <a:ext cx="4191000" cy="1533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Op de getekende Q-as:</a:t>
            </a:r>
          </a:p>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20 betekent 20.000</a:t>
            </a:r>
          </a:p>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kg per week.</a:t>
            </a:r>
          </a:p>
        </p:txBody>
      </p:sp>
      <p:sp>
        <p:nvSpPr>
          <p:cNvPr id="8" name="Zelfde A₀&#10;Hogere vraag V₁">
            <a:extLst xmlns:a="http://schemas.openxmlformats.org/drawingml/2006/main">
              <a:ext uri="{FF2B5EF4-FFF2-40B4-BE49-F238E27FC236}">
                <a16:creationId xmlns:a16="http://schemas.microsoft.com/office/drawing/2014/main" id="{C4634358-3DA9-4D78-89F4-749F7D249C46}"/>
              </a:ext>
            </a:extLst>
          </p:cNvPr>
          <p:cNvSpPr>
            <a:spLocks xmlns:a="http://schemas.openxmlformats.org/drawingml/2006/main" noGrp="1"/>
          </p:cNvSpPr>
          <p:nvPr/>
        </p:nvSpPr>
        <p:spPr>
          <a:xfrm xmlns:a="http://schemas.openxmlformats.org/drawingml/2006/main">
            <a:off x="10477500" y="6381750"/>
            <a:ext cx="41910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Zelfde A₀</a:t>
            </a:r>
          </a:p>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Hogere vraag V₁</a:t>
            </a:r>
          </a:p>
        </p:txBody>
      </p:sp>
    </p:spTree>
    <p:extLst>
      <p:ext uri="{BB962C8B-B14F-4D97-AF65-F5344CB8AC3E}">
        <p14:creationId xmlns:p14="http://schemas.microsoft.com/office/powerpoint/2010/main" val="312682787"/>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35c: de winstmaximale productie">
            <a:extLst xmlns:a="http://schemas.openxmlformats.org/drawingml/2006/main">
              <a:ext uri="{FF2B5EF4-FFF2-40B4-BE49-F238E27FC236}">
                <a16:creationId xmlns:a16="http://schemas.microsoft.com/office/drawing/2014/main" id="{8909D8F1-0A8D-496F-B99D-AC160FAFFB14}"/>
              </a:ext>
            </a:extLst>
          </p:cNvPr>
          <p:cNvSpPr>
            <a:spLocks xmlns:a="http://schemas.openxmlformats.org/drawingml/2006/main" noGrp="1"/>
          </p:cNvSpPr>
          <p:nvPr/>
        </p:nvSpPr>
        <p:spPr>
          <a:xfrm xmlns:a="http://schemas.openxmlformats.org/drawingml/2006/main">
            <a:off x="571500" y="38100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35c: de winstmaximale productie</a:t>
            </a:r>
          </a:p>
        </p:txBody>
      </p:sp>
      <p:sp>
        <p:nvSpPr>
          <p:cNvPr id="2" name="">
            <a:extLst xmlns:a="http://schemas.openxmlformats.org/drawingml/2006/main">
              <a:ext uri="{FF2B5EF4-FFF2-40B4-BE49-F238E27FC236}">
                <a16:creationId xmlns:a16="http://schemas.microsoft.com/office/drawing/2014/main" id="{366F5322-4C21-4071-9484-23CA2786A29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4 Gemengde opgaven · Boekpagina 82–83">
            <a:extLst xmlns:a="http://schemas.openxmlformats.org/drawingml/2006/main">
              <a:ext uri="{FF2B5EF4-FFF2-40B4-BE49-F238E27FC236}">
                <a16:creationId xmlns:a16="http://schemas.microsoft.com/office/drawing/2014/main" id="{330DD2FA-5B34-4381-A515-7063E8D589B2}"/>
              </a:ext>
            </a:extLst>
          </p:cNvPr>
          <p:cNvSpPr>
            <a:spLocks xmlns:a="http://schemas.openxmlformats.org/drawingml/2006/main" noGrp="1"/>
          </p:cNvSpPr>
          <p:nvPr/>
        </p:nvSpPr>
        <p:spPr>
          <a:xfrm xmlns:a="http://schemas.openxmlformats.org/drawingml/2006/main">
            <a:off x="571500" y="8077200"/>
            <a:ext cx="13239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§3.2.4 Gemengde opgaven · Boekpagina 82–83</a:t>
            </a:r>
          </a:p>
        </p:txBody>
      </p:sp>
      <p:sp>
        <p:nvSpPr>
          <p:cNvPr id="4" name="slide-number">
            <a:extLst xmlns:a="http://schemas.openxmlformats.org/drawingml/2006/main">
              <a:ext uri="{FF2B5EF4-FFF2-40B4-BE49-F238E27FC236}">
                <a16:creationId xmlns:a16="http://schemas.microsoft.com/office/drawing/2014/main" id="{B53FFB19-8CAC-409C-83A4-E90ED9303C0B}"/>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17</a:t>
            </a:r>
          </a:p>
        </p:txBody>
      </p:sp>
      <p:sp>
        <p:nvSpPr>
          <p:cNvPr id="5" name="TK = 0,02q² + 4q + 200">
            <a:extLst xmlns:a="http://schemas.openxmlformats.org/drawingml/2006/main">
              <a:ext uri="{FF2B5EF4-FFF2-40B4-BE49-F238E27FC236}">
                <a16:creationId xmlns:a16="http://schemas.microsoft.com/office/drawing/2014/main" id="{46C05036-5A98-4A21-8A76-A2CBC4C4889F}"/>
              </a:ext>
            </a:extLst>
          </p:cNvPr>
          <p:cNvSpPr>
            <a:spLocks xmlns:a="http://schemas.openxmlformats.org/drawingml/2006/main" noGrp="1"/>
          </p:cNvSpPr>
          <p:nvPr/>
        </p:nvSpPr>
        <p:spPr>
          <a:xfrm xmlns:a="http://schemas.openxmlformats.org/drawingml/2006/main">
            <a:off x="571500" y="1933575"/>
            <a:ext cx="14097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83247"/>
                </a:solidFill>
                <a:latin typeface="Arial"/>
                <a:ea typeface="Arial"/>
                <a:cs typeface="Arial"/>
              </a:defRPr>
            </a:pPr>
            <a:r>
              <a:rPr sz="3150" b="1">
                <a:solidFill>
                  <a:srgbClr val="183247"/>
                </a:solidFill>
                <a:latin typeface="Arial"/>
                <a:ea typeface="Arial"/>
                <a:cs typeface="Arial"/>
              </a:rPr>
              <a:t>TK = 0,02q² + 4q + 200</a:t>
            </a:r>
          </a:p>
        </p:txBody>
      </p:sp>
      <p:graphicFrame>
        <p:nvGraphicFramePr>
          <p:cNvPr id="15" name=""/>
          <p:cNvGraphicFramePr/>
          <p:nvPr/>
        </p:nvGraphicFramePr>
        <p:xfrm>
          <a:off xmlns:a="http://schemas.openxmlformats.org/drawingml/2006/main" x="571500" y="3000375"/>
          <a:ext xmlns:a="http://schemas.openxmlformats.org/drawingml/2006/main" cx="5905500" cy="3352800"/>
        </p:xfrm>
        <a:graphic xmlns:a="http://schemas.openxmlformats.org/drawingml/2006/main">
          <a:graphicData uri="http://schemas.openxmlformats.org/drawingml/2006/table">
            <a:tbl>
              <a:tblPr/>
              <a:tblGrid>
                <a:gridCol w="2952750"/>
                <a:gridCol w="2952750"/>
              </a:tblGrid>
              <a:tr h="838200">
                <a:tc>
                  <a:txBody>
                    <a:bodyPr lIns="152400" tIns="95250" rIns="133350" bIns="95250"/>
                    <a:lstStyle/>
                    <a:p>
                      <a:r>
                        <a:rPr sz="2700" b="1">
                          <a:solidFill>
                            <a:srgbClr val="FFFFFF"/>
                          </a:solidFill>
                          <a:latin typeface="Arial"/>
                          <a:ea typeface="Arial"/>
                          <a:cs typeface="Arial"/>
                        </a:rPr>
                        <a:t>Term</a:t>
                      </a:r>
                    </a:p>
                  </a:txBody>
                  <a:tcPr marL="91440" marR="91440" marT="45720" marB="45720" anchor="ctr">
                    <a:solidFill>
                      <a:srgbClr val="183247"/>
                    </a:solidFill>
                  </a:tcPr>
                </a:tc>
                <a:tc>
                  <a:txBody>
                    <a:bodyPr lIns="152400" tIns="95250" rIns="133350" bIns="95250"/>
                    <a:lstStyle/>
                    <a:p>
                      <a:r>
                        <a:rPr sz="2700" b="1">
                          <a:solidFill>
                            <a:srgbClr val="FFFFFF"/>
                          </a:solidFill>
                          <a:latin typeface="Arial"/>
                          <a:ea typeface="Arial"/>
                          <a:cs typeface="Arial"/>
                        </a:rPr>
                        <a:t>Afgeleide</a:t>
                      </a:r>
                    </a:p>
                  </a:txBody>
                  <a:tcPr marL="91440" marR="91440" marT="45720" marB="45720" anchor="ctr">
                    <a:solidFill>
                      <a:srgbClr val="183247"/>
                    </a:solidFill>
                  </a:tcPr>
                </a:tc>
              </a:tr>
              <a:tr h="838200">
                <a:tc>
                  <a:txBody>
                    <a:bodyPr lIns="152400" tIns="95250" rIns="133350" bIns="95250"/>
                    <a:lstStyle/>
                    <a:p>
                      <a:r>
                        <a:rPr sz="2700" b="0">
                          <a:solidFill>
                            <a:srgbClr val="183247"/>
                          </a:solidFill>
                          <a:latin typeface="Arial"/>
                          <a:ea typeface="Arial"/>
                          <a:cs typeface="Arial"/>
                        </a:rPr>
                        <a:t>0,02q²</a:t>
                      </a:r>
                    </a:p>
                  </a:txBody>
                  <a:tcPr marL="91440" marR="91440" marT="45720" marB="45720" anchor="ctr">
                    <a:solidFill>
                      <a:srgbClr val="FFFFFF"/>
                    </a:solidFill>
                  </a:tcPr>
                </a:tc>
                <a:tc>
                  <a:txBody>
                    <a:bodyPr lIns="152400" tIns="95250" rIns="133350" bIns="95250"/>
                    <a:lstStyle/>
                    <a:p>
                      <a:r>
                        <a:rPr sz="2700" b="0">
                          <a:solidFill>
                            <a:srgbClr val="183247"/>
                          </a:solidFill>
                          <a:latin typeface="Arial"/>
                          <a:ea typeface="Arial"/>
                          <a:cs typeface="Arial"/>
                        </a:rPr>
                        <a:t>0,04q</a:t>
                      </a:r>
                    </a:p>
                  </a:txBody>
                  <a:tcPr marL="91440" marR="91440" marT="45720" marB="45720" anchor="ctr">
                    <a:solidFill>
                      <a:srgbClr val="FFFFFF"/>
                    </a:solidFill>
                  </a:tcPr>
                </a:tc>
              </a:tr>
              <a:tr h="838200">
                <a:tc>
                  <a:txBody>
                    <a:bodyPr lIns="152400" tIns="95250" rIns="133350" bIns="95250"/>
                    <a:lstStyle/>
                    <a:p>
                      <a:r>
                        <a:rPr sz="2700" b="0">
                          <a:solidFill>
                            <a:srgbClr val="183247"/>
                          </a:solidFill>
                          <a:latin typeface="Arial"/>
                          <a:ea typeface="Arial"/>
                          <a:cs typeface="Arial"/>
                        </a:rPr>
                        <a:t>4q</a:t>
                      </a:r>
                    </a:p>
                  </a:txBody>
                  <a:tcPr marL="91440" marR="91440" marT="45720" marB="45720" anchor="ctr">
                    <a:solidFill>
                      <a:srgbClr val="EFF4F7"/>
                    </a:solidFill>
                  </a:tcPr>
                </a:tc>
                <a:tc>
                  <a:txBody>
                    <a:bodyPr lIns="152400" tIns="95250" rIns="133350" bIns="95250"/>
                    <a:lstStyle/>
                    <a:p>
                      <a:r>
                        <a:rPr sz="2700" b="0">
                          <a:solidFill>
                            <a:srgbClr val="183247"/>
                          </a:solidFill>
                          <a:latin typeface="Arial"/>
                          <a:ea typeface="Arial"/>
                          <a:cs typeface="Arial"/>
                        </a:rPr>
                        <a:t>4</a:t>
                      </a:r>
                    </a:p>
                  </a:txBody>
                  <a:tcPr marL="91440" marR="91440" marT="45720" marB="45720" anchor="ctr">
                    <a:solidFill>
                      <a:srgbClr val="EFF4F7"/>
                    </a:solidFill>
                  </a:tcPr>
                </a:tc>
              </a:tr>
              <a:tr h="838200">
                <a:tc>
                  <a:txBody>
                    <a:bodyPr lIns="152400" tIns="95250" rIns="133350" bIns="95250"/>
                    <a:lstStyle/>
                    <a:p>
                      <a:r>
                        <a:rPr sz="2700" b="0">
                          <a:solidFill>
                            <a:srgbClr val="183247"/>
                          </a:solidFill>
                          <a:latin typeface="Arial"/>
                          <a:ea typeface="Arial"/>
                          <a:cs typeface="Arial"/>
                        </a:rPr>
                        <a:t>200</a:t>
                      </a:r>
                    </a:p>
                  </a:txBody>
                  <a:tcPr marL="91440" marR="91440" marT="45720" marB="45720" anchor="ctr">
                    <a:solidFill>
                      <a:srgbClr val="FFFFFF"/>
                    </a:solidFill>
                  </a:tcPr>
                </a:tc>
                <a:tc>
                  <a:txBody>
                    <a:bodyPr lIns="152400" tIns="95250" rIns="133350" bIns="95250"/>
                    <a:lstStyle/>
                    <a:p>
                      <a:r>
                        <a:rPr sz="2700" b="0">
                          <a:solidFill>
                            <a:srgbClr val="183247"/>
                          </a:solidFill>
                          <a:latin typeface="Arial"/>
                          <a:ea typeface="Arial"/>
                          <a:cs typeface="Arial"/>
                        </a:rPr>
                        <a:t>0</a:t>
                      </a:r>
                    </a:p>
                  </a:txBody>
                  <a:tcPr marL="91440" marR="91440" marT="45720" marB="45720" anchor="ctr">
                    <a:solidFill>
                      <a:srgbClr val="FFFFFF"/>
                    </a:solidFill>
                  </a:tcPr>
                </a:tc>
              </a:tr>
            </a:tbl>
          </a:graphicData>
        </a:graphic>
      </p:graphicFrame>
      <p:sp>
        <p:nvSpPr>
          <p:cNvPr id="7" name="MK = 0,04q + 4&#10;MO = P₁ = 12&#10;12 = 0,04q + 4&#10;8 = 0,04q">
            <a:extLst xmlns:a="http://schemas.openxmlformats.org/drawingml/2006/main">
              <a:ext uri="{FF2B5EF4-FFF2-40B4-BE49-F238E27FC236}">
                <a16:creationId xmlns:a16="http://schemas.microsoft.com/office/drawing/2014/main" id="{88B38864-7B95-47B0-9464-A72629B4BFCF}"/>
              </a:ext>
            </a:extLst>
          </p:cNvPr>
          <p:cNvSpPr>
            <a:spLocks xmlns:a="http://schemas.openxmlformats.org/drawingml/2006/main" noGrp="1"/>
          </p:cNvSpPr>
          <p:nvPr/>
        </p:nvSpPr>
        <p:spPr>
          <a:xfrm xmlns:a="http://schemas.openxmlformats.org/drawingml/2006/main">
            <a:off x="7524750" y="3000375"/>
            <a:ext cx="714375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MK = 0,04q + 4</a:t>
            </a:r>
          </a:p>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MO = P₁ = 12</a:t>
            </a:r>
          </a:p>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12 = 0,04q + 4</a:t>
            </a:r>
          </a:p>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8 = 0,04q</a:t>
            </a:r>
          </a:p>
        </p:txBody>
      </p:sp>
      <p:sp>
        <p:nvSpPr>
          <p:cNvPr id="8" name="q = 200 kg per week">
            <a:extLst xmlns:a="http://schemas.openxmlformats.org/drawingml/2006/main">
              <a:ext uri="{FF2B5EF4-FFF2-40B4-BE49-F238E27FC236}">
                <a16:creationId xmlns:a16="http://schemas.microsoft.com/office/drawing/2014/main" id="{6ADE504E-5A7C-4815-88D3-F56454185F95}"/>
              </a:ext>
            </a:extLst>
          </p:cNvPr>
          <p:cNvSpPr>
            <a:spLocks xmlns:a="http://schemas.openxmlformats.org/drawingml/2006/main" noGrp="1"/>
          </p:cNvSpPr>
          <p:nvPr/>
        </p:nvSpPr>
        <p:spPr>
          <a:xfrm xmlns:a="http://schemas.openxmlformats.org/drawingml/2006/main">
            <a:off x="7524750" y="6191250"/>
            <a:ext cx="714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A94D16"/>
                </a:solidFill>
                <a:latin typeface="Arial"/>
                <a:ea typeface="Arial"/>
                <a:cs typeface="Arial"/>
              </a:defRPr>
            </a:pPr>
            <a:r>
              <a:rPr sz="3375" b="1">
                <a:solidFill>
                  <a:srgbClr val="A94D16"/>
                </a:solidFill>
                <a:latin typeface="Arial"/>
                <a:ea typeface="Arial"/>
                <a:cs typeface="Arial"/>
              </a:rPr>
              <a:t>q = 200 kg per week</a:t>
            </a:r>
          </a:p>
        </p:txBody>
      </p:sp>
      <p:sp>
        <p:nvSpPr>
          <p:cNvPr id="9" name="Capaciteit: 200 ≤ 250">
            <a:extLst xmlns:a="http://schemas.openxmlformats.org/drawingml/2006/main">
              <a:ext uri="{FF2B5EF4-FFF2-40B4-BE49-F238E27FC236}">
                <a16:creationId xmlns:a16="http://schemas.microsoft.com/office/drawing/2014/main" id="{73F533FD-1637-47F9-84EE-280AD1CD6845}"/>
              </a:ext>
            </a:extLst>
          </p:cNvPr>
          <p:cNvSpPr>
            <a:spLocks xmlns:a="http://schemas.openxmlformats.org/drawingml/2006/main" noGrp="1"/>
          </p:cNvSpPr>
          <p:nvPr/>
        </p:nvSpPr>
        <p:spPr>
          <a:xfrm xmlns:a="http://schemas.openxmlformats.org/drawingml/2006/main">
            <a:off x="7524750" y="7172325"/>
            <a:ext cx="7143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83247"/>
                </a:solidFill>
                <a:latin typeface="Arial"/>
                <a:ea typeface="Arial"/>
                <a:cs typeface="Arial"/>
              </a:defRPr>
            </a:pPr>
            <a:r>
              <a:rPr sz="2775" b="1">
                <a:solidFill>
                  <a:srgbClr val="183247"/>
                </a:solidFill>
                <a:latin typeface="Arial"/>
                <a:ea typeface="Arial"/>
                <a:cs typeface="Arial"/>
              </a:rPr>
              <a:t>Capaciteit: 200 ≤ 250</a:t>
            </a:r>
          </a:p>
        </p:txBody>
      </p:sp>
    </p:spTree>
    <p:extLst>
      <p:ext uri="{BB962C8B-B14F-4D97-AF65-F5344CB8AC3E}">
        <p14:creationId xmlns:p14="http://schemas.microsoft.com/office/powerpoint/2010/main" val="162879291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35c: controle links en rechts van q = 200">
            <a:extLst xmlns:a="http://schemas.openxmlformats.org/drawingml/2006/main">
              <a:ext uri="{FF2B5EF4-FFF2-40B4-BE49-F238E27FC236}">
                <a16:creationId xmlns:a16="http://schemas.microsoft.com/office/drawing/2014/main" id="{C76ECB9F-30DE-4709-9C0E-DD9AED1B59A2}"/>
              </a:ext>
            </a:extLst>
          </p:cNvPr>
          <p:cNvSpPr>
            <a:spLocks xmlns:a="http://schemas.openxmlformats.org/drawingml/2006/main" noGrp="1"/>
          </p:cNvSpPr>
          <p:nvPr/>
        </p:nvSpPr>
        <p:spPr>
          <a:xfrm xmlns:a="http://schemas.openxmlformats.org/drawingml/2006/main">
            <a:off x="571500" y="38100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35c: controle links en rechts van q = 200</a:t>
            </a:r>
          </a:p>
        </p:txBody>
      </p:sp>
      <p:sp>
        <p:nvSpPr>
          <p:cNvPr id="2" name="">
            <a:extLst xmlns:a="http://schemas.openxmlformats.org/drawingml/2006/main">
              <a:ext uri="{FF2B5EF4-FFF2-40B4-BE49-F238E27FC236}">
                <a16:creationId xmlns:a16="http://schemas.microsoft.com/office/drawing/2014/main" id="{D5D1A17C-75BF-4597-A0BC-BB05AFF7E5B9}"/>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4 Gemengde opgaven · Boekpagina 82–83">
            <a:extLst xmlns:a="http://schemas.openxmlformats.org/drawingml/2006/main">
              <a:ext uri="{FF2B5EF4-FFF2-40B4-BE49-F238E27FC236}">
                <a16:creationId xmlns:a16="http://schemas.microsoft.com/office/drawing/2014/main" id="{42AFBE78-2485-4ECB-8168-E1AFE364670E}"/>
              </a:ext>
            </a:extLst>
          </p:cNvPr>
          <p:cNvSpPr>
            <a:spLocks xmlns:a="http://schemas.openxmlformats.org/drawingml/2006/main" noGrp="1"/>
          </p:cNvSpPr>
          <p:nvPr/>
        </p:nvSpPr>
        <p:spPr>
          <a:xfrm xmlns:a="http://schemas.openxmlformats.org/drawingml/2006/main">
            <a:off x="571500" y="8077200"/>
            <a:ext cx="13239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§3.2.4 Gemengde opgaven · Boekpagina 82–83</a:t>
            </a:r>
          </a:p>
        </p:txBody>
      </p:sp>
      <p:sp>
        <p:nvSpPr>
          <p:cNvPr id="4" name="slide-number">
            <a:extLst xmlns:a="http://schemas.openxmlformats.org/drawingml/2006/main">
              <a:ext uri="{FF2B5EF4-FFF2-40B4-BE49-F238E27FC236}">
                <a16:creationId xmlns:a16="http://schemas.microsoft.com/office/drawing/2014/main" id="{6CEC0BF3-E30B-4451-91EB-DEFF6C732512}"/>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18</a:t>
            </a:r>
          </a:p>
        </p:txBody>
      </p:sp>
      <p:graphicFrame>
        <p:nvGraphicFramePr>
          <p:cNvPr id="14" name="Chart"/>
          <p:cNvGraphicFramePr/>
          <p:nvPr/>
        </p:nvGraphicFramePr>
        <p:xfrm>
          <a:off xmlns:a="http://schemas.openxmlformats.org/drawingml/2006/main" x="571500" y="2190750"/>
          <a:ext xmlns:a="http://schemas.openxmlformats.org/drawingml/2006/main" cx="9525000" cy="5429250"/>
        </p:xfrm>
        <a:graphic xmlns:a="http://schemas.openxmlformats.org/drawingml/2006/main">
          <a:graphicData uri="http://schemas.openxmlformats.org/drawingml/2006/chart">
            <c:chart xmlns:r="http://schemas.openxmlformats.org/officeDocument/2006/relationships" xmlns:c="http://schemas.openxmlformats.org/drawingml/2006/chart" r:id="R640c9cb4020e4257"/>
          </a:graphicData>
        </a:graphic>
      </p:graphicFrame>
      <p:sp>
        <p:nvSpPr>
          <p:cNvPr id="6" name="MO = € 12 per kg">
            <a:extLst xmlns:a="http://schemas.openxmlformats.org/drawingml/2006/main">
              <a:ext uri="{FF2B5EF4-FFF2-40B4-BE49-F238E27FC236}">
                <a16:creationId xmlns:a16="http://schemas.microsoft.com/office/drawing/2014/main" id="{66CBE745-688E-4998-BFE3-E86ADD9B32F4}"/>
              </a:ext>
            </a:extLst>
          </p:cNvPr>
          <p:cNvSpPr>
            <a:spLocks xmlns:a="http://schemas.openxmlformats.org/drawingml/2006/main" noGrp="1"/>
          </p:cNvSpPr>
          <p:nvPr/>
        </p:nvSpPr>
        <p:spPr>
          <a:xfrm xmlns:a="http://schemas.openxmlformats.org/drawingml/2006/main">
            <a:off x="10477500" y="2343150"/>
            <a:ext cx="4191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MO = € 12 per kg</a:t>
            </a:r>
          </a:p>
        </p:txBody>
      </p:sp>
      <p:sp>
        <p:nvSpPr>
          <p:cNvPr id="7" name="q = 150: MK = € 10&#10;MO &gt; MK&#10;Winst stijgt bij uitbreiding.">
            <a:extLst xmlns:a="http://schemas.openxmlformats.org/drawingml/2006/main">
              <a:ext uri="{FF2B5EF4-FFF2-40B4-BE49-F238E27FC236}">
                <a16:creationId xmlns:a16="http://schemas.microsoft.com/office/drawing/2014/main" id="{C7F15A64-933B-4CEB-A6EA-161E51B66036}"/>
              </a:ext>
            </a:extLst>
          </p:cNvPr>
          <p:cNvSpPr>
            <a:spLocks xmlns:a="http://schemas.openxmlformats.org/drawingml/2006/main" noGrp="1"/>
          </p:cNvSpPr>
          <p:nvPr/>
        </p:nvSpPr>
        <p:spPr>
          <a:xfrm xmlns:a="http://schemas.openxmlformats.org/drawingml/2006/main">
            <a:off x="10477500" y="3448050"/>
            <a:ext cx="4191000" cy="1590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q = 150: MK = € 10</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MO &gt; MK</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Winst stijgt bij uitbreiding.</a:t>
            </a:r>
          </a:p>
        </p:txBody>
      </p:sp>
      <p:sp>
        <p:nvSpPr>
          <p:cNvPr id="8" name="q = 250: MK = € 14&#10;MO &lt; MK&#10;Winst daalt bij uitbreiding.">
            <a:extLst xmlns:a="http://schemas.openxmlformats.org/drawingml/2006/main">
              <a:ext uri="{FF2B5EF4-FFF2-40B4-BE49-F238E27FC236}">
                <a16:creationId xmlns:a16="http://schemas.microsoft.com/office/drawing/2014/main" id="{8AC40903-11C9-449E-A7BB-1A79CDA9AE39}"/>
              </a:ext>
            </a:extLst>
          </p:cNvPr>
          <p:cNvSpPr>
            <a:spLocks xmlns:a="http://schemas.openxmlformats.org/drawingml/2006/main" noGrp="1"/>
          </p:cNvSpPr>
          <p:nvPr/>
        </p:nvSpPr>
        <p:spPr>
          <a:xfrm xmlns:a="http://schemas.openxmlformats.org/drawingml/2006/main">
            <a:off x="10477500" y="5495925"/>
            <a:ext cx="4191000" cy="1590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q = 250: MK = € 14</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MO &lt; MK</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Winst daalt bij uitbreiding.</a:t>
            </a:r>
          </a:p>
        </p:txBody>
      </p:sp>
      <p:sp>
        <p:nvSpPr>
          <p:cNvPr id="9" name="MK stijgt door MO.">
            <a:extLst xmlns:a="http://schemas.openxmlformats.org/drawingml/2006/main">
              <a:ext uri="{FF2B5EF4-FFF2-40B4-BE49-F238E27FC236}">
                <a16:creationId xmlns:a16="http://schemas.microsoft.com/office/drawing/2014/main" id="{734A920F-9DA1-4461-87F6-17E9E4591ABA}"/>
              </a:ext>
            </a:extLst>
          </p:cNvPr>
          <p:cNvSpPr>
            <a:spLocks xmlns:a="http://schemas.openxmlformats.org/drawingml/2006/main" noGrp="1"/>
          </p:cNvSpPr>
          <p:nvPr/>
        </p:nvSpPr>
        <p:spPr>
          <a:xfrm xmlns:a="http://schemas.openxmlformats.org/drawingml/2006/main">
            <a:off x="10477500" y="7400925"/>
            <a:ext cx="4191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83247"/>
                </a:solidFill>
                <a:latin typeface="Arial"/>
                <a:ea typeface="Arial"/>
                <a:cs typeface="Arial"/>
              </a:defRPr>
            </a:pPr>
            <a:r>
              <a:rPr sz="2400" b="1">
                <a:solidFill>
                  <a:srgbClr val="183247"/>
                </a:solidFill>
                <a:latin typeface="Arial"/>
                <a:ea typeface="Arial"/>
                <a:cs typeface="Arial"/>
              </a:rPr>
              <a:t>MK stijgt door MO.</a:t>
            </a:r>
          </a:p>
        </p:txBody>
      </p:sp>
    </p:spTree>
    <p:extLst>
      <p:ext uri="{BB962C8B-B14F-4D97-AF65-F5344CB8AC3E}">
        <p14:creationId xmlns:p14="http://schemas.microsoft.com/office/powerpoint/2010/main" val="130001292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35d: winst en GTK bij q = 200">
            <a:extLst xmlns:a="http://schemas.openxmlformats.org/drawingml/2006/main">
              <a:ext uri="{FF2B5EF4-FFF2-40B4-BE49-F238E27FC236}">
                <a16:creationId xmlns:a16="http://schemas.microsoft.com/office/drawing/2014/main" id="{3090B663-4F32-4581-9225-F41BE1900052}"/>
              </a:ext>
            </a:extLst>
          </p:cNvPr>
          <p:cNvSpPr>
            <a:spLocks xmlns:a="http://schemas.openxmlformats.org/drawingml/2006/main" noGrp="1"/>
          </p:cNvSpPr>
          <p:nvPr/>
        </p:nvSpPr>
        <p:spPr>
          <a:xfrm xmlns:a="http://schemas.openxmlformats.org/drawingml/2006/main">
            <a:off x="571500" y="38100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35d: winst en GTK bij q = 200</a:t>
            </a:r>
          </a:p>
        </p:txBody>
      </p:sp>
      <p:sp>
        <p:nvSpPr>
          <p:cNvPr id="2" name="">
            <a:extLst xmlns:a="http://schemas.openxmlformats.org/drawingml/2006/main">
              <a:ext uri="{FF2B5EF4-FFF2-40B4-BE49-F238E27FC236}">
                <a16:creationId xmlns:a16="http://schemas.microsoft.com/office/drawing/2014/main" id="{706144FA-E82F-4A01-B080-BC3AEE5C776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4 Gemengde opgaven · Boekpagina 82–83">
            <a:extLst xmlns:a="http://schemas.openxmlformats.org/drawingml/2006/main">
              <a:ext uri="{FF2B5EF4-FFF2-40B4-BE49-F238E27FC236}">
                <a16:creationId xmlns:a16="http://schemas.microsoft.com/office/drawing/2014/main" id="{F28A9EAE-D4EC-4414-809E-285272BCE822}"/>
              </a:ext>
            </a:extLst>
          </p:cNvPr>
          <p:cNvSpPr>
            <a:spLocks xmlns:a="http://schemas.openxmlformats.org/drawingml/2006/main" noGrp="1"/>
          </p:cNvSpPr>
          <p:nvPr/>
        </p:nvSpPr>
        <p:spPr>
          <a:xfrm xmlns:a="http://schemas.openxmlformats.org/drawingml/2006/main">
            <a:off x="571500" y="8077200"/>
            <a:ext cx="13239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§3.2.4 Gemengde opgaven · Boekpagina 82–83</a:t>
            </a:r>
          </a:p>
        </p:txBody>
      </p:sp>
      <p:sp>
        <p:nvSpPr>
          <p:cNvPr id="4" name="slide-number">
            <a:extLst xmlns:a="http://schemas.openxmlformats.org/drawingml/2006/main">
              <a:ext uri="{FF2B5EF4-FFF2-40B4-BE49-F238E27FC236}">
                <a16:creationId xmlns:a16="http://schemas.microsoft.com/office/drawing/2014/main" id="{B70E2297-41C2-401A-8F67-5E3E58DF028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19</a:t>
            </a:r>
          </a:p>
        </p:txBody>
      </p:sp>
      <p:graphicFrame>
        <p:nvGraphicFramePr>
          <p:cNvPr id="11" name=""/>
          <p:cNvGraphicFramePr/>
          <p:nvPr/>
        </p:nvGraphicFramePr>
        <p:xfrm>
          <a:off xmlns:a="http://schemas.openxmlformats.org/drawingml/2006/main" x="571500" y="2419350"/>
          <a:ext xmlns:a="http://schemas.openxmlformats.org/drawingml/2006/main" cx="14097000" cy="3886200"/>
        </p:xfrm>
        <a:graphic xmlns:a="http://schemas.openxmlformats.org/drawingml/2006/main">
          <a:graphicData uri="http://schemas.openxmlformats.org/drawingml/2006/table">
            <a:tbl>
              <a:tblPr/>
              <a:tblGrid>
                <a:gridCol w="2857500"/>
                <a:gridCol w="6667500"/>
                <a:gridCol w="4572000"/>
              </a:tblGrid>
              <a:tr h="777240">
                <a:tc>
                  <a:txBody>
                    <a:bodyPr lIns="152400" tIns="95250" rIns="133350" bIns="95250"/>
                    <a:lstStyle/>
                    <a:p>
                      <a:r>
                        <a:rPr sz="2475" b="1">
                          <a:solidFill>
                            <a:srgbClr val="FFFFFF"/>
                          </a:solidFill>
                          <a:latin typeface="Arial"/>
                          <a:ea typeface="Arial"/>
                          <a:cs typeface="Arial"/>
                        </a:rPr>
                        <a:t>Grootheid</a:t>
                      </a:r>
                    </a:p>
                  </a:txBody>
                  <a:tcPr marL="91440" marR="91440" marT="45720" marB="45720" anchor="ctr">
                    <a:solidFill>
                      <a:srgbClr val="183247"/>
                    </a:solidFill>
                  </a:tcPr>
                </a:tc>
                <a:tc>
                  <a:txBody>
                    <a:bodyPr lIns="152400" tIns="95250" rIns="133350" bIns="95250"/>
                    <a:lstStyle/>
                    <a:p>
                      <a:r>
                        <a:rPr sz="2475" b="1">
                          <a:solidFill>
                            <a:srgbClr val="FFFFFF"/>
                          </a:solidFill>
                          <a:latin typeface="Arial"/>
                          <a:ea typeface="Arial"/>
                          <a:cs typeface="Arial"/>
                        </a:rPr>
                        <a:t>Invullen bij q = 200</a:t>
                      </a:r>
                    </a:p>
                  </a:txBody>
                  <a:tcPr marL="91440" marR="91440" marT="45720" marB="45720" anchor="ctr">
                    <a:solidFill>
                      <a:srgbClr val="183247"/>
                    </a:solidFill>
                  </a:tcPr>
                </a:tc>
                <a:tc>
                  <a:txBody>
                    <a:bodyPr lIns="152400" tIns="95250" rIns="133350" bIns="95250"/>
                    <a:lstStyle/>
                    <a:p>
                      <a:r>
                        <a:rPr sz="2475" b="1">
                          <a:solidFill>
                            <a:srgbClr val="FFFFFF"/>
                          </a:solidFill>
                          <a:latin typeface="Arial"/>
                          <a:ea typeface="Arial"/>
                          <a:cs typeface="Arial"/>
                        </a:rPr>
                        <a:t>Uitkomst</a:t>
                      </a:r>
                    </a:p>
                  </a:txBody>
                  <a:tcPr marL="91440" marR="91440" marT="45720" marB="45720" anchor="ctr">
                    <a:solidFill>
                      <a:srgbClr val="183247"/>
                    </a:solidFill>
                  </a:tcPr>
                </a:tc>
              </a:tr>
              <a:tr h="777240">
                <a:tc>
                  <a:txBody>
                    <a:bodyPr lIns="152400" tIns="95250" rIns="133350" bIns="95250"/>
                    <a:lstStyle/>
                    <a:p>
                      <a:r>
                        <a:rPr sz="2475" b="0">
                          <a:solidFill>
                            <a:srgbClr val="183247"/>
                          </a:solidFill>
                          <a:latin typeface="Arial"/>
                          <a:ea typeface="Arial"/>
                          <a:cs typeface="Arial"/>
                        </a:rPr>
                        <a:t>TO</a:t>
                      </a:r>
                    </a:p>
                  </a:txBody>
                  <a:tcPr marL="91440" marR="91440" marT="45720" marB="45720" anchor="ctr">
                    <a:solidFill>
                      <a:srgbClr val="FFFFFF"/>
                    </a:solidFill>
                  </a:tcPr>
                </a:tc>
                <a:tc>
                  <a:txBody>
                    <a:bodyPr lIns="152400" tIns="95250" rIns="133350" bIns="95250"/>
                    <a:lstStyle/>
                    <a:p>
                      <a:r>
                        <a:rPr sz="2475" b="0">
                          <a:solidFill>
                            <a:srgbClr val="183247"/>
                          </a:solidFill>
                          <a:latin typeface="Arial"/>
                          <a:ea typeface="Arial"/>
                          <a:cs typeface="Arial"/>
                        </a:rPr>
                        <a:t>12 × 200</a:t>
                      </a:r>
                    </a:p>
                  </a:txBody>
                  <a:tcPr marL="91440" marR="91440" marT="45720" marB="45720" anchor="ctr">
                    <a:solidFill>
                      <a:srgbClr val="FFFFFF"/>
                    </a:solidFill>
                  </a:tcPr>
                </a:tc>
                <a:tc>
                  <a:txBody>
                    <a:bodyPr lIns="152400" tIns="95250" rIns="133350" bIns="95250"/>
                    <a:lstStyle/>
                    <a:p>
                      <a:r>
                        <a:rPr sz="2475" b="0">
                          <a:solidFill>
                            <a:srgbClr val="183247"/>
                          </a:solidFill>
                          <a:latin typeface="Arial"/>
                          <a:ea typeface="Arial"/>
                          <a:cs typeface="Arial"/>
                        </a:rPr>
                        <a:t>€ 2.400 per week</a:t>
                      </a:r>
                    </a:p>
                  </a:txBody>
                  <a:tcPr marL="91440" marR="91440" marT="45720" marB="45720" anchor="ctr">
                    <a:solidFill>
                      <a:srgbClr val="FFFFFF"/>
                    </a:solidFill>
                  </a:tcPr>
                </a:tc>
              </a:tr>
              <a:tr h="777240">
                <a:tc>
                  <a:txBody>
                    <a:bodyPr lIns="152400" tIns="95250" rIns="133350" bIns="95250"/>
                    <a:lstStyle/>
                    <a:p>
                      <a:r>
                        <a:rPr sz="2475" b="0">
                          <a:solidFill>
                            <a:srgbClr val="183247"/>
                          </a:solidFill>
                          <a:latin typeface="Arial"/>
                          <a:ea typeface="Arial"/>
                          <a:cs typeface="Arial"/>
                        </a:rPr>
                        <a:t>TK</a:t>
                      </a:r>
                    </a:p>
                  </a:txBody>
                  <a:tcPr marL="91440" marR="91440" marT="45720" marB="45720" anchor="ctr">
                    <a:solidFill>
                      <a:srgbClr val="EFF4F7"/>
                    </a:solidFill>
                  </a:tcPr>
                </a:tc>
                <a:tc>
                  <a:txBody>
                    <a:bodyPr lIns="152400" tIns="95250" rIns="133350" bIns="95250"/>
                    <a:lstStyle/>
                    <a:p>
                      <a:r>
                        <a:rPr sz="2475" b="0">
                          <a:solidFill>
                            <a:srgbClr val="183247"/>
                          </a:solidFill>
                          <a:latin typeface="Arial"/>
                          <a:ea typeface="Arial"/>
                          <a:cs typeface="Arial"/>
                        </a:rPr>
                        <a:t>0,02 × 200² + 4 × 200 + 200</a:t>
                      </a:r>
                    </a:p>
                  </a:txBody>
                  <a:tcPr marL="91440" marR="91440" marT="45720" marB="45720" anchor="ctr">
                    <a:solidFill>
                      <a:srgbClr val="EFF4F7"/>
                    </a:solidFill>
                  </a:tcPr>
                </a:tc>
                <a:tc>
                  <a:txBody>
                    <a:bodyPr lIns="152400" tIns="95250" rIns="133350" bIns="95250"/>
                    <a:lstStyle/>
                    <a:p>
                      <a:r>
                        <a:rPr sz="2475" b="0">
                          <a:solidFill>
                            <a:srgbClr val="183247"/>
                          </a:solidFill>
                          <a:latin typeface="Arial"/>
                          <a:ea typeface="Arial"/>
                          <a:cs typeface="Arial"/>
                        </a:rPr>
                        <a:t>€ 1.800 per week</a:t>
                      </a:r>
                    </a:p>
                  </a:txBody>
                  <a:tcPr marL="91440" marR="91440" marT="45720" marB="45720" anchor="ctr">
                    <a:solidFill>
                      <a:srgbClr val="EFF4F7"/>
                    </a:solidFill>
                  </a:tcPr>
                </a:tc>
              </a:tr>
              <a:tr h="777240">
                <a:tc>
                  <a:txBody>
                    <a:bodyPr lIns="152400" tIns="95250" rIns="133350" bIns="95250"/>
                    <a:lstStyle/>
                    <a:p>
                      <a:r>
                        <a:rPr sz="2475" b="0">
                          <a:solidFill>
                            <a:srgbClr val="183247"/>
                          </a:solidFill>
                          <a:latin typeface="Arial"/>
                          <a:ea typeface="Arial"/>
                          <a:cs typeface="Arial"/>
                        </a:rPr>
                        <a:t>Winst</a:t>
                      </a:r>
                    </a:p>
                  </a:txBody>
                  <a:tcPr marL="91440" marR="91440" marT="45720" marB="45720" anchor="ctr">
                    <a:solidFill>
                      <a:srgbClr val="FFFFFF"/>
                    </a:solidFill>
                  </a:tcPr>
                </a:tc>
                <a:tc>
                  <a:txBody>
                    <a:bodyPr lIns="152400" tIns="95250" rIns="133350" bIns="95250"/>
                    <a:lstStyle/>
                    <a:p>
                      <a:r>
                        <a:rPr sz="2475" b="0">
                          <a:solidFill>
                            <a:srgbClr val="183247"/>
                          </a:solidFill>
                          <a:latin typeface="Arial"/>
                          <a:ea typeface="Arial"/>
                          <a:cs typeface="Arial"/>
                        </a:rPr>
                        <a:t>2.400 − 1.800</a:t>
                      </a:r>
                    </a:p>
                  </a:txBody>
                  <a:tcPr marL="91440" marR="91440" marT="45720" marB="45720" anchor="ctr">
                    <a:solidFill>
                      <a:srgbClr val="FFFFFF"/>
                    </a:solidFill>
                  </a:tcPr>
                </a:tc>
                <a:tc>
                  <a:txBody>
                    <a:bodyPr lIns="152400" tIns="95250" rIns="133350" bIns="95250"/>
                    <a:lstStyle/>
                    <a:p>
                      <a:r>
                        <a:rPr sz="2475" b="0">
                          <a:solidFill>
                            <a:srgbClr val="183247"/>
                          </a:solidFill>
                          <a:latin typeface="Arial"/>
                          <a:ea typeface="Arial"/>
                          <a:cs typeface="Arial"/>
                        </a:rPr>
                        <a:t>€ 600 per week</a:t>
                      </a:r>
                    </a:p>
                  </a:txBody>
                  <a:tcPr marL="91440" marR="91440" marT="45720" marB="45720" anchor="ctr">
                    <a:solidFill>
                      <a:srgbClr val="FFFFFF"/>
                    </a:solidFill>
                  </a:tcPr>
                </a:tc>
              </a:tr>
              <a:tr h="777240">
                <a:tc>
                  <a:txBody>
                    <a:bodyPr lIns="152400" tIns="95250" rIns="133350" bIns="95250"/>
                    <a:lstStyle/>
                    <a:p>
                      <a:r>
                        <a:rPr sz="2475" b="0">
                          <a:solidFill>
                            <a:srgbClr val="183247"/>
                          </a:solidFill>
                          <a:latin typeface="Arial"/>
                          <a:ea typeface="Arial"/>
                          <a:cs typeface="Arial"/>
                        </a:rPr>
                        <a:t>GTK</a:t>
                      </a:r>
                    </a:p>
                  </a:txBody>
                  <a:tcPr marL="91440" marR="91440" marT="45720" marB="45720" anchor="ctr">
                    <a:solidFill>
                      <a:srgbClr val="EFF4F7"/>
                    </a:solidFill>
                  </a:tcPr>
                </a:tc>
                <a:tc>
                  <a:txBody>
                    <a:bodyPr lIns="152400" tIns="95250" rIns="133350" bIns="95250"/>
                    <a:lstStyle/>
                    <a:p>
                      <a:r>
                        <a:rPr sz="2475" b="0">
                          <a:solidFill>
                            <a:srgbClr val="183247"/>
                          </a:solidFill>
                          <a:latin typeface="Arial"/>
                          <a:ea typeface="Arial"/>
                          <a:cs typeface="Arial"/>
                        </a:rPr>
                        <a:t>1.800 / 200</a:t>
                      </a:r>
                    </a:p>
                  </a:txBody>
                  <a:tcPr marL="91440" marR="91440" marT="45720" marB="45720" anchor="ctr">
                    <a:solidFill>
                      <a:srgbClr val="EFF4F7"/>
                    </a:solidFill>
                  </a:tcPr>
                </a:tc>
                <a:tc>
                  <a:txBody>
                    <a:bodyPr lIns="152400" tIns="95250" rIns="133350" bIns="95250"/>
                    <a:lstStyle/>
                    <a:p>
                      <a:r>
                        <a:rPr sz="2475" b="0">
                          <a:solidFill>
                            <a:srgbClr val="183247"/>
                          </a:solidFill>
                          <a:latin typeface="Arial"/>
                          <a:ea typeface="Arial"/>
                          <a:cs typeface="Arial"/>
                        </a:rPr>
                        <a:t>€ 9 per kg</a:t>
                      </a:r>
                    </a:p>
                  </a:txBody>
                  <a:tcPr marL="91440" marR="91440" marT="45720" marB="45720" anchor="ctr">
                    <a:solidFill>
                      <a:srgbClr val="EFF4F7"/>
                    </a:solidFill>
                  </a:tcPr>
                </a:tc>
              </a:tr>
            </a:tbl>
          </a:graphicData>
        </a:graphic>
      </p:graphicFrame>
      <p:sp>
        <p:nvSpPr>
          <p:cNvPr id="6" name="Controle: (P − GTK) × q = (12 − 9) × 200 = € 600 per week">
            <a:extLst xmlns:a="http://schemas.openxmlformats.org/drawingml/2006/main">
              <a:ext uri="{FF2B5EF4-FFF2-40B4-BE49-F238E27FC236}">
                <a16:creationId xmlns:a16="http://schemas.microsoft.com/office/drawing/2014/main" id="{B8755BF6-D499-47A4-A547-0ED2AFD17126}"/>
              </a:ext>
            </a:extLst>
          </p:cNvPr>
          <p:cNvSpPr>
            <a:spLocks xmlns:a="http://schemas.openxmlformats.org/drawingml/2006/main" noGrp="1"/>
          </p:cNvSpPr>
          <p:nvPr/>
        </p:nvSpPr>
        <p:spPr>
          <a:xfrm xmlns:a="http://schemas.openxmlformats.org/drawingml/2006/main">
            <a:off x="571500" y="6934200"/>
            <a:ext cx="140970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20665B"/>
                </a:solidFill>
                <a:latin typeface="Arial"/>
                <a:ea typeface="Arial"/>
                <a:cs typeface="Arial"/>
              </a:defRPr>
            </a:pPr>
            <a:r>
              <a:rPr sz="2850" b="1">
                <a:solidFill>
                  <a:srgbClr val="20665B"/>
                </a:solidFill>
                <a:latin typeface="Arial"/>
                <a:ea typeface="Arial"/>
                <a:cs typeface="Arial"/>
              </a:rPr>
              <a:t>Controle: (P − GTK) × q = (12 − 9) × 200 = € 600 per week</a:t>
            </a:r>
          </a:p>
        </p:txBody>
      </p:sp>
    </p:spTree>
    <p:extLst>
      <p:ext uri="{BB962C8B-B14F-4D97-AF65-F5344CB8AC3E}">
        <p14:creationId xmlns:p14="http://schemas.microsoft.com/office/powerpoint/2010/main" val="1852422787"/>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35d: de nieuwe prijslijn en winstrechthoek">
            <a:extLst xmlns:a="http://schemas.openxmlformats.org/drawingml/2006/main">
              <a:ext uri="{FF2B5EF4-FFF2-40B4-BE49-F238E27FC236}">
                <a16:creationId xmlns:a16="http://schemas.microsoft.com/office/drawing/2014/main" id="{1FCE28DD-8F68-4AD0-85F8-A79ACF884688}"/>
              </a:ext>
            </a:extLst>
          </p:cNvPr>
          <p:cNvSpPr>
            <a:spLocks xmlns:a="http://schemas.openxmlformats.org/drawingml/2006/main" noGrp="1"/>
          </p:cNvSpPr>
          <p:nvPr/>
        </p:nvSpPr>
        <p:spPr>
          <a:xfrm xmlns:a="http://schemas.openxmlformats.org/drawingml/2006/main">
            <a:off x="571500" y="38100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35d: de nieuwe prijslijn en winstrechthoek</a:t>
            </a:r>
          </a:p>
        </p:txBody>
      </p:sp>
      <p:sp>
        <p:nvSpPr>
          <p:cNvPr id="2" name="">
            <a:extLst xmlns:a="http://schemas.openxmlformats.org/drawingml/2006/main">
              <a:ext uri="{FF2B5EF4-FFF2-40B4-BE49-F238E27FC236}">
                <a16:creationId xmlns:a16="http://schemas.microsoft.com/office/drawing/2014/main" id="{FEFFC87B-29E5-43AC-89E9-0A4F7599B8D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4 Gemengde opgaven · Boekpagina 82–83">
            <a:extLst xmlns:a="http://schemas.openxmlformats.org/drawingml/2006/main">
              <a:ext uri="{FF2B5EF4-FFF2-40B4-BE49-F238E27FC236}">
                <a16:creationId xmlns:a16="http://schemas.microsoft.com/office/drawing/2014/main" id="{70655B1D-86FD-4189-99DE-62D3F0A8E487}"/>
              </a:ext>
            </a:extLst>
          </p:cNvPr>
          <p:cNvSpPr>
            <a:spLocks xmlns:a="http://schemas.openxmlformats.org/drawingml/2006/main" noGrp="1"/>
          </p:cNvSpPr>
          <p:nvPr/>
        </p:nvSpPr>
        <p:spPr>
          <a:xfrm xmlns:a="http://schemas.openxmlformats.org/drawingml/2006/main">
            <a:off x="571500" y="8077200"/>
            <a:ext cx="13239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§3.2.4 Gemengde opgaven · Boekpagina 82–83</a:t>
            </a:r>
          </a:p>
        </p:txBody>
      </p:sp>
      <p:sp>
        <p:nvSpPr>
          <p:cNvPr id="4" name="slide-number">
            <a:extLst xmlns:a="http://schemas.openxmlformats.org/drawingml/2006/main">
              <a:ext uri="{FF2B5EF4-FFF2-40B4-BE49-F238E27FC236}">
                <a16:creationId xmlns:a16="http://schemas.microsoft.com/office/drawing/2014/main" id="{CA6BB310-B3B5-4597-9D7D-0C68586C642A}"/>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20</a:t>
            </a:r>
          </a:p>
        </p:txBody>
      </p:sp>
      <p:graphicFrame>
        <p:nvGraphicFramePr>
          <p:cNvPr id="13" name="Chart"/>
          <p:cNvGraphicFramePr/>
          <p:nvPr/>
        </p:nvGraphicFramePr>
        <p:xfrm>
          <a:off xmlns:a="http://schemas.openxmlformats.org/drawingml/2006/main" x="571500" y="2190750"/>
          <a:ext xmlns:a="http://schemas.openxmlformats.org/drawingml/2006/main" cx="9525000" cy="5429250"/>
        </p:xfrm>
        <a:graphic xmlns:a="http://schemas.openxmlformats.org/drawingml/2006/main">
          <a:graphicData uri="http://schemas.openxmlformats.org/drawingml/2006/chart">
            <c:chart xmlns:r="http://schemas.openxmlformats.org/officeDocument/2006/relationships" xmlns:c="http://schemas.openxmlformats.org/drawingml/2006/chart" r:id="R2d006ea82cd94ebe"/>
          </a:graphicData>
        </a:graphic>
      </p:graphicFrame>
      <p:sp>
        <p:nvSpPr>
          <p:cNvPr id="6" name="P = GO = MO = 12">
            <a:extLst xmlns:a="http://schemas.openxmlformats.org/drawingml/2006/main">
              <a:ext uri="{FF2B5EF4-FFF2-40B4-BE49-F238E27FC236}">
                <a16:creationId xmlns:a16="http://schemas.microsoft.com/office/drawing/2014/main" id="{FAF9BB35-F8D5-4EF3-908D-ADE206D09AFC}"/>
              </a:ext>
            </a:extLst>
          </p:cNvPr>
          <p:cNvSpPr>
            <a:spLocks xmlns:a="http://schemas.openxmlformats.org/drawingml/2006/main" noGrp="1"/>
          </p:cNvSpPr>
          <p:nvPr/>
        </p:nvSpPr>
        <p:spPr>
          <a:xfrm xmlns:a="http://schemas.openxmlformats.org/drawingml/2006/main">
            <a:off x="10477500" y="2390775"/>
            <a:ext cx="4191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P = GO = MO = 12</a:t>
            </a:r>
          </a:p>
        </p:txBody>
      </p:sp>
      <p:sp>
        <p:nvSpPr>
          <p:cNvPr id="7" name="Breedte: 200 kg/week&#10;Hoogte: 12 − 9 = € 3/kg">
            <a:extLst xmlns:a="http://schemas.openxmlformats.org/drawingml/2006/main">
              <a:ext uri="{FF2B5EF4-FFF2-40B4-BE49-F238E27FC236}">
                <a16:creationId xmlns:a16="http://schemas.microsoft.com/office/drawing/2014/main" id="{5CDF059C-1188-4455-B8CB-D83D06A32181}"/>
              </a:ext>
            </a:extLst>
          </p:cNvPr>
          <p:cNvSpPr>
            <a:spLocks xmlns:a="http://schemas.openxmlformats.org/drawingml/2006/main" noGrp="1"/>
          </p:cNvSpPr>
          <p:nvPr/>
        </p:nvSpPr>
        <p:spPr>
          <a:xfrm xmlns:a="http://schemas.openxmlformats.org/drawingml/2006/main">
            <a:off x="10477500" y="3771900"/>
            <a:ext cx="4191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Breedte: 200 kg/week</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Hoogte: 12 − 9 = € 3/kg</a:t>
            </a:r>
          </a:p>
        </p:txBody>
      </p:sp>
      <p:sp>
        <p:nvSpPr>
          <p:cNvPr id="8" name="Winst = 200 × 3&#10;= € 600 per week">
            <a:extLst xmlns:a="http://schemas.openxmlformats.org/drawingml/2006/main">
              <a:ext uri="{FF2B5EF4-FFF2-40B4-BE49-F238E27FC236}">
                <a16:creationId xmlns:a16="http://schemas.microsoft.com/office/drawing/2014/main" id="{903D8422-699B-4A53-B52D-7C3EBCD778C3}"/>
              </a:ext>
            </a:extLst>
          </p:cNvPr>
          <p:cNvSpPr>
            <a:spLocks xmlns:a="http://schemas.openxmlformats.org/drawingml/2006/main" noGrp="1"/>
          </p:cNvSpPr>
          <p:nvPr/>
        </p:nvSpPr>
        <p:spPr>
          <a:xfrm xmlns:a="http://schemas.openxmlformats.org/drawingml/2006/main">
            <a:off x="10477500" y="5905500"/>
            <a:ext cx="41910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20665B"/>
                </a:solidFill>
                <a:latin typeface="Arial"/>
                <a:ea typeface="Arial"/>
                <a:cs typeface="Arial"/>
              </a:defRPr>
            </a:pPr>
            <a:r>
              <a:rPr sz="2925" b="1">
                <a:solidFill>
                  <a:srgbClr val="20665B"/>
                </a:solidFill>
                <a:latin typeface="Arial"/>
                <a:ea typeface="Arial"/>
                <a:cs typeface="Arial"/>
              </a:rPr>
              <a:t>Winst = 200 × 3</a:t>
            </a:r>
          </a:p>
          <a:p xmlns:a="http://schemas.openxmlformats.org/drawingml/2006/main">
            <a:pPr algn="l">
              <a:defRPr sz="2925" b="1">
                <a:solidFill>
                  <a:srgbClr val="20665B"/>
                </a:solidFill>
                <a:latin typeface="Arial"/>
                <a:ea typeface="Arial"/>
                <a:cs typeface="Arial"/>
              </a:defRPr>
            </a:pPr>
            <a:r>
              <a:rPr sz="2925" b="1">
                <a:solidFill>
                  <a:srgbClr val="20665B"/>
                </a:solidFill>
                <a:latin typeface="Arial"/>
                <a:ea typeface="Arial"/>
                <a:cs typeface="Arial"/>
              </a:rPr>
              <a:t>= € 600 per week</a:t>
            </a:r>
          </a:p>
        </p:txBody>
      </p:sp>
    </p:spTree>
    <p:extLst>
      <p:ext uri="{BB962C8B-B14F-4D97-AF65-F5344CB8AC3E}">
        <p14:creationId xmlns:p14="http://schemas.microsoft.com/office/powerpoint/2010/main" val="20528470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35e: dezelfde procentuele stijging">
            <a:extLst xmlns:a="http://schemas.openxmlformats.org/drawingml/2006/main">
              <a:ext uri="{FF2B5EF4-FFF2-40B4-BE49-F238E27FC236}">
                <a16:creationId xmlns:a16="http://schemas.microsoft.com/office/drawing/2014/main" id="{4F805A23-F066-457E-B0F7-F4578B9F0F2A}"/>
              </a:ext>
            </a:extLst>
          </p:cNvPr>
          <p:cNvSpPr>
            <a:spLocks xmlns:a="http://schemas.openxmlformats.org/drawingml/2006/main" noGrp="1"/>
          </p:cNvSpPr>
          <p:nvPr/>
        </p:nvSpPr>
        <p:spPr>
          <a:xfrm xmlns:a="http://schemas.openxmlformats.org/drawingml/2006/main">
            <a:off x="571500" y="38100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35e: dezelfde procentuele stijging</a:t>
            </a:r>
          </a:p>
        </p:txBody>
      </p:sp>
      <p:sp>
        <p:nvSpPr>
          <p:cNvPr id="2" name="">
            <a:extLst xmlns:a="http://schemas.openxmlformats.org/drawingml/2006/main">
              <a:ext uri="{FF2B5EF4-FFF2-40B4-BE49-F238E27FC236}">
                <a16:creationId xmlns:a16="http://schemas.microsoft.com/office/drawing/2014/main" id="{09912307-4B90-4CFF-A457-6FB97418DE2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4 Gemengde opgaven · Boekpagina 82–83">
            <a:extLst xmlns:a="http://schemas.openxmlformats.org/drawingml/2006/main">
              <a:ext uri="{FF2B5EF4-FFF2-40B4-BE49-F238E27FC236}">
                <a16:creationId xmlns:a16="http://schemas.microsoft.com/office/drawing/2014/main" id="{3F564C2B-797D-481F-83E3-9B7F355534F1}"/>
              </a:ext>
            </a:extLst>
          </p:cNvPr>
          <p:cNvSpPr>
            <a:spLocks xmlns:a="http://schemas.openxmlformats.org/drawingml/2006/main" noGrp="1"/>
          </p:cNvSpPr>
          <p:nvPr/>
        </p:nvSpPr>
        <p:spPr>
          <a:xfrm xmlns:a="http://schemas.openxmlformats.org/drawingml/2006/main">
            <a:off x="571500" y="8077200"/>
            <a:ext cx="13239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§3.2.4 Gemengde opgaven · Boekpagina 82–83</a:t>
            </a:r>
          </a:p>
        </p:txBody>
      </p:sp>
      <p:sp>
        <p:nvSpPr>
          <p:cNvPr id="4" name="slide-number">
            <a:extLst xmlns:a="http://schemas.openxmlformats.org/drawingml/2006/main">
              <a:ext uri="{FF2B5EF4-FFF2-40B4-BE49-F238E27FC236}">
                <a16:creationId xmlns:a16="http://schemas.microsoft.com/office/drawing/2014/main" id="{3C97EE53-6516-4A59-907C-894375BB47B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21</a:t>
            </a:r>
          </a:p>
        </p:txBody>
      </p:sp>
      <p:graphicFrame>
        <p:nvGraphicFramePr>
          <p:cNvPr id="12" name=""/>
          <p:cNvGraphicFramePr/>
          <p:nvPr/>
        </p:nvGraphicFramePr>
        <p:xfrm>
          <a:off xmlns:a="http://schemas.openxmlformats.org/drawingml/2006/main" x="571500" y="2247900"/>
          <a:ext xmlns:a="http://schemas.openxmlformats.org/drawingml/2006/main" cx="14097000" cy="3038475"/>
        </p:xfrm>
        <a:graphic xmlns:a="http://schemas.openxmlformats.org/drawingml/2006/main">
          <a:graphicData uri="http://schemas.openxmlformats.org/drawingml/2006/table">
            <a:tbl>
              <a:tblPr/>
              <a:tblGrid>
                <a:gridCol w="3619500"/>
                <a:gridCol w="2095500"/>
                <a:gridCol w="2095500"/>
                <a:gridCol w="6286500"/>
              </a:tblGrid>
              <a:tr h="1012825">
                <a:tc>
                  <a:txBody>
                    <a:bodyPr lIns="152400" tIns="95250" rIns="133350" bIns="95250"/>
                    <a:lstStyle/>
                    <a:p>
                      <a:r>
                        <a:rPr sz="2400" b="1">
                          <a:solidFill>
                            <a:srgbClr val="FFFFFF"/>
                          </a:solidFill>
                          <a:latin typeface="Arial"/>
                          <a:ea typeface="Arial"/>
                          <a:cs typeface="Arial"/>
                        </a:rPr>
                        <a:t>Grootheid</a:t>
                      </a:r>
                    </a:p>
                  </a:txBody>
                  <a:tcPr marL="91440" marR="91440" marT="45720" marB="45720" anchor="ctr">
                    <a:solidFill>
                      <a:srgbClr val="183247"/>
                    </a:solidFill>
                  </a:tcPr>
                </a:tc>
                <a:tc>
                  <a:txBody>
                    <a:bodyPr lIns="152400" tIns="95250" rIns="133350" bIns="95250"/>
                    <a:lstStyle/>
                    <a:p>
                      <a:r>
                        <a:rPr sz="2400" b="1">
                          <a:solidFill>
                            <a:srgbClr val="FFFFFF"/>
                          </a:solidFill>
                          <a:latin typeface="Arial"/>
                          <a:ea typeface="Arial"/>
                          <a:cs typeface="Arial"/>
                        </a:rPr>
                        <a:t>Oud</a:t>
                      </a:r>
                    </a:p>
                  </a:txBody>
                  <a:tcPr marL="91440" marR="91440" marT="45720" marB="45720" anchor="ctr">
                    <a:solidFill>
                      <a:srgbClr val="183247"/>
                    </a:solidFill>
                  </a:tcPr>
                </a:tc>
                <a:tc>
                  <a:txBody>
                    <a:bodyPr lIns="152400" tIns="95250" rIns="133350" bIns="95250"/>
                    <a:lstStyle/>
                    <a:p>
                      <a:r>
                        <a:rPr sz="2400" b="1">
                          <a:solidFill>
                            <a:srgbClr val="FFFFFF"/>
                          </a:solidFill>
                          <a:latin typeface="Arial"/>
                          <a:ea typeface="Arial"/>
                          <a:cs typeface="Arial"/>
                        </a:rPr>
                        <a:t>Nieuw</a:t>
                      </a:r>
                    </a:p>
                  </a:txBody>
                  <a:tcPr marL="91440" marR="91440" marT="45720" marB="45720" anchor="ctr">
                    <a:solidFill>
                      <a:srgbClr val="183247"/>
                    </a:solidFill>
                  </a:tcPr>
                </a:tc>
                <a:tc>
                  <a:txBody>
                    <a:bodyPr lIns="152400" tIns="95250" rIns="133350" bIns="95250"/>
                    <a:lstStyle/>
                    <a:p>
                      <a:r>
                        <a:rPr sz="2400" b="1">
                          <a:solidFill>
                            <a:srgbClr val="FFFFFF"/>
                          </a:solidFill>
                          <a:latin typeface="Arial"/>
                          <a:ea typeface="Arial"/>
                          <a:cs typeface="Arial"/>
                        </a:rPr>
                        <a:t>Procentuele verandering</a:t>
                      </a:r>
                    </a:p>
                  </a:txBody>
                  <a:tcPr marL="91440" marR="91440" marT="45720" marB="45720" anchor="ctr">
                    <a:solidFill>
                      <a:srgbClr val="183247"/>
                    </a:solidFill>
                  </a:tcPr>
                </a:tc>
              </a:tr>
              <a:tr h="1012825">
                <a:tc>
                  <a:txBody>
                    <a:bodyPr lIns="152400" tIns="95250" rIns="133350" bIns="95250"/>
                    <a:lstStyle/>
                    <a:p>
                      <a:r>
                        <a:rPr sz="2400" b="0">
                          <a:solidFill>
                            <a:srgbClr val="183247"/>
                          </a:solidFill>
                          <a:latin typeface="Arial"/>
                          <a:ea typeface="Arial"/>
                          <a:cs typeface="Arial"/>
                        </a:rPr>
                        <a:t>Q: alle bedrijven</a:t>
                      </a:r>
                    </a:p>
                  </a:txBody>
                  <a:tcPr marL="91440" marR="91440" marT="45720" marB="45720" anchor="ctr">
                    <a:solidFill>
                      <a:srgbClr val="FFFFFF"/>
                    </a:solidFill>
                  </a:tcPr>
                </a:tc>
                <a:tc>
                  <a:txBody>
                    <a:bodyPr lIns="152400" tIns="95250" rIns="133350" bIns="95250"/>
                    <a:lstStyle/>
                    <a:p>
                      <a:r>
                        <a:rPr sz="2400" b="0">
                          <a:solidFill>
                            <a:srgbClr val="183247"/>
                          </a:solidFill>
                          <a:latin typeface="Arial"/>
                          <a:ea typeface="Arial"/>
                          <a:cs typeface="Arial"/>
                        </a:rPr>
                        <a:t>10.000</a:t>
                      </a:r>
                    </a:p>
                  </a:txBody>
                  <a:tcPr marL="91440" marR="91440" marT="45720" marB="45720" anchor="ctr">
                    <a:solidFill>
                      <a:srgbClr val="FFFFFF"/>
                    </a:solidFill>
                  </a:tcPr>
                </a:tc>
                <a:tc>
                  <a:txBody>
                    <a:bodyPr lIns="152400" tIns="95250" rIns="133350" bIns="95250"/>
                    <a:lstStyle/>
                    <a:p>
                      <a:r>
                        <a:rPr sz="2400" b="0">
                          <a:solidFill>
                            <a:srgbClr val="183247"/>
                          </a:solidFill>
                          <a:latin typeface="Arial"/>
                          <a:ea typeface="Arial"/>
                          <a:cs typeface="Arial"/>
                        </a:rPr>
                        <a:t>20.000</a:t>
                      </a:r>
                    </a:p>
                  </a:txBody>
                  <a:tcPr marL="91440" marR="91440" marT="45720" marB="45720" anchor="ctr">
                    <a:solidFill>
                      <a:srgbClr val="FFFFFF"/>
                    </a:solidFill>
                  </a:tcPr>
                </a:tc>
                <a:tc>
                  <a:txBody>
                    <a:bodyPr lIns="152400" tIns="95250" rIns="133350" bIns="95250"/>
                    <a:lstStyle/>
                    <a:p>
                      <a:r>
                        <a:rPr sz="2400" b="0">
                          <a:solidFill>
                            <a:srgbClr val="183247"/>
                          </a:solidFill>
                          <a:latin typeface="Arial"/>
                          <a:ea typeface="Arial"/>
                          <a:cs typeface="Arial"/>
                        </a:rPr>
                        <a:t>(20.000 − 10.000) / 10.000 × 100% = 100%</a:t>
                      </a:r>
                    </a:p>
                  </a:txBody>
                  <a:tcPr marL="91440" marR="91440" marT="45720" marB="45720" anchor="ctr">
                    <a:solidFill>
                      <a:srgbClr val="FFFFFF"/>
                    </a:solidFill>
                  </a:tcPr>
                </a:tc>
              </a:tr>
              <a:tr h="1012825">
                <a:tc>
                  <a:txBody>
                    <a:bodyPr lIns="152400" tIns="95250" rIns="133350" bIns="95250"/>
                    <a:lstStyle/>
                    <a:p>
                      <a:r>
                        <a:rPr sz="2400" b="0">
                          <a:solidFill>
                            <a:srgbClr val="183247"/>
                          </a:solidFill>
                          <a:latin typeface="Arial"/>
                          <a:ea typeface="Arial"/>
                          <a:cs typeface="Arial"/>
                        </a:rPr>
                        <a:t>q: één bedrijf</a:t>
                      </a:r>
                    </a:p>
                  </a:txBody>
                  <a:tcPr marL="91440" marR="91440" marT="45720" marB="45720" anchor="ctr">
                    <a:solidFill>
                      <a:srgbClr val="EFF4F7"/>
                    </a:solidFill>
                  </a:tcPr>
                </a:tc>
                <a:tc>
                  <a:txBody>
                    <a:bodyPr lIns="152400" tIns="95250" rIns="133350" bIns="95250"/>
                    <a:lstStyle/>
                    <a:p>
                      <a:r>
                        <a:rPr sz="2400" b="0">
                          <a:solidFill>
                            <a:srgbClr val="183247"/>
                          </a:solidFill>
                          <a:latin typeface="Arial"/>
                          <a:ea typeface="Arial"/>
                          <a:cs typeface="Arial"/>
                        </a:rPr>
                        <a:t>100</a:t>
                      </a:r>
                    </a:p>
                  </a:txBody>
                  <a:tcPr marL="91440" marR="91440" marT="45720" marB="45720" anchor="ctr">
                    <a:solidFill>
                      <a:srgbClr val="EFF4F7"/>
                    </a:solidFill>
                  </a:tcPr>
                </a:tc>
                <a:tc>
                  <a:txBody>
                    <a:bodyPr lIns="152400" tIns="95250" rIns="133350" bIns="95250"/>
                    <a:lstStyle/>
                    <a:p>
                      <a:r>
                        <a:rPr sz="2400" b="0">
                          <a:solidFill>
                            <a:srgbClr val="183247"/>
                          </a:solidFill>
                          <a:latin typeface="Arial"/>
                          <a:ea typeface="Arial"/>
                          <a:cs typeface="Arial"/>
                        </a:rPr>
                        <a:t>200</a:t>
                      </a:r>
                    </a:p>
                  </a:txBody>
                  <a:tcPr marL="91440" marR="91440" marT="45720" marB="45720" anchor="ctr">
                    <a:solidFill>
                      <a:srgbClr val="EFF4F7"/>
                    </a:solidFill>
                  </a:tcPr>
                </a:tc>
                <a:tc>
                  <a:txBody>
                    <a:bodyPr lIns="152400" tIns="95250" rIns="133350" bIns="95250"/>
                    <a:lstStyle/>
                    <a:p>
                      <a:r>
                        <a:rPr sz="2400" b="0">
                          <a:solidFill>
                            <a:srgbClr val="183247"/>
                          </a:solidFill>
                          <a:latin typeface="Arial"/>
                          <a:ea typeface="Arial"/>
                          <a:cs typeface="Arial"/>
                        </a:rPr>
                        <a:t>(200 − 100) / 100 × 100% = 100%</a:t>
                      </a:r>
                    </a:p>
                  </a:txBody>
                  <a:tcPr marL="91440" marR="91440" marT="45720" marB="45720" anchor="ctr">
                    <a:solidFill>
                      <a:srgbClr val="EFF4F7"/>
                    </a:solidFill>
                  </a:tcPr>
                </a:tc>
              </a:tr>
            </a:tbl>
          </a:graphicData>
        </a:graphic>
      </p:graphicFrame>
      <p:sp>
        <p:nvSpPr>
          <p:cNvPr id="6" name="Alle hoeveelheden: kg per week">
            <a:extLst xmlns:a="http://schemas.openxmlformats.org/drawingml/2006/main">
              <a:ext uri="{FF2B5EF4-FFF2-40B4-BE49-F238E27FC236}">
                <a16:creationId xmlns:a16="http://schemas.microsoft.com/office/drawing/2014/main" id="{D477DE99-5F18-4FC8-B1F6-374EA57B02AF}"/>
              </a:ext>
            </a:extLst>
          </p:cNvPr>
          <p:cNvSpPr>
            <a:spLocks xmlns:a="http://schemas.openxmlformats.org/drawingml/2006/main" noGrp="1"/>
          </p:cNvSpPr>
          <p:nvPr/>
        </p:nvSpPr>
        <p:spPr>
          <a:xfrm xmlns:a="http://schemas.openxmlformats.org/drawingml/2006/main">
            <a:off x="571500" y="5657850"/>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Alle hoeveelheden: kg per week</a:t>
            </a:r>
          </a:p>
        </p:txBody>
      </p:sp>
      <p:sp>
        <p:nvSpPr>
          <p:cNvPr id="7" name="Q en q beschrijven verschillende economische grootheden.">
            <a:extLst xmlns:a="http://schemas.openxmlformats.org/drawingml/2006/main">
              <a:ext uri="{FF2B5EF4-FFF2-40B4-BE49-F238E27FC236}">
                <a16:creationId xmlns:a16="http://schemas.microsoft.com/office/drawing/2014/main" id="{3A7AEBAC-CFED-464D-90E2-1C5996BC2CF6}"/>
              </a:ext>
            </a:extLst>
          </p:cNvPr>
          <p:cNvSpPr>
            <a:spLocks xmlns:a="http://schemas.openxmlformats.org/drawingml/2006/main" noGrp="1"/>
          </p:cNvSpPr>
          <p:nvPr/>
        </p:nvSpPr>
        <p:spPr>
          <a:xfrm xmlns:a="http://schemas.openxmlformats.org/drawingml/2006/main">
            <a:off x="571500" y="6638925"/>
            <a:ext cx="14097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7658A"/>
                </a:solidFill>
                <a:latin typeface="Arial"/>
                <a:ea typeface="Arial"/>
                <a:cs typeface="Arial"/>
              </a:defRPr>
            </a:pPr>
            <a:r>
              <a:rPr sz="3075" b="1">
                <a:solidFill>
                  <a:srgbClr val="17658A"/>
                </a:solidFill>
                <a:latin typeface="Arial"/>
                <a:ea typeface="Arial"/>
                <a:cs typeface="Arial"/>
              </a:rPr>
              <a:t>Q en q beschrijven verschillende economische grootheden.</a:t>
            </a:r>
          </a:p>
        </p:txBody>
      </p:sp>
    </p:spTree>
    <p:extLst>
      <p:ext uri="{BB962C8B-B14F-4D97-AF65-F5344CB8AC3E}">
        <p14:creationId xmlns:p14="http://schemas.microsoft.com/office/powerpoint/2010/main" val="1722258441"/>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3.2.4 Gemengde opgaven">
            <a:extLst xmlns:a="http://schemas.openxmlformats.org/drawingml/2006/main">
              <a:ext uri="{FF2B5EF4-FFF2-40B4-BE49-F238E27FC236}">
                <a16:creationId xmlns:a16="http://schemas.microsoft.com/office/drawing/2014/main" id="{19D4FD45-EDD3-4590-954A-FC22F00542AC}"/>
              </a:ext>
            </a:extLst>
          </p:cNvPr>
          <p:cNvSpPr>
            <a:spLocks xmlns:a="http://schemas.openxmlformats.org/drawingml/2006/main" noGrp="1"/>
          </p:cNvSpPr>
          <p:nvPr/>
        </p:nvSpPr>
        <p:spPr>
          <a:xfrm xmlns:a="http://schemas.openxmlformats.org/drawingml/2006/main">
            <a:off x="571500" y="38100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Deze les: §3.2.4 Gemengde opgaven</a:t>
            </a:r>
          </a:p>
        </p:txBody>
      </p:sp>
      <p:sp>
        <p:nvSpPr>
          <p:cNvPr id="2" name="">
            <a:extLst xmlns:a="http://schemas.openxmlformats.org/drawingml/2006/main">
              <a:ext uri="{FF2B5EF4-FFF2-40B4-BE49-F238E27FC236}">
                <a16:creationId xmlns:a16="http://schemas.microsoft.com/office/drawing/2014/main" id="{4C623C3B-C969-482F-B048-60353268076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4 Gemengde opgaven">
            <a:extLst xmlns:a="http://schemas.openxmlformats.org/drawingml/2006/main">
              <a:ext uri="{FF2B5EF4-FFF2-40B4-BE49-F238E27FC236}">
                <a16:creationId xmlns:a16="http://schemas.microsoft.com/office/drawing/2014/main" id="{33BA1FD5-C468-4896-AF42-A7814BCA4CE0}"/>
              </a:ext>
            </a:extLst>
          </p:cNvPr>
          <p:cNvSpPr>
            <a:spLocks xmlns:a="http://schemas.openxmlformats.org/drawingml/2006/main" noGrp="1"/>
          </p:cNvSpPr>
          <p:nvPr/>
        </p:nvSpPr>
        <p:spPr>
          <a:xfrm xmlns:a="http://schemas.openxmlformats.org/drawingml/2006/main">
            <a:off x="571500" y="8077200"/>
            <a:ext cx="13239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§3.2.4 Gemengde opgaven</a:t>
            </a:r>
          </a:p>
        </p:txBody>
      </p:sp>
      <p:sp>
        <p:nvSpPr>
          <p:cNvPr id="4" name="slide-number">
            <a:extLst xmlns:a="http://schemas.openxmlformats.org/drawingml/2006/main">
              <a:ext uri="{FF2B5EF4-FFF2-40B4-BE49-F238E27FC236}">
                <a16:creationId xmlns:a16="http://schemas.microsoft.com/office/drawing/2014/main" id="{A4F86150-F3D7-4060-AA7A-A669FE2A2BEE}"/>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22</a:t>
            </a:r>
          </a:p>
        </p:txBody>
      </p:sp>
      <p:sp>
        <p:nvSpPr>
          <p:cNvPr id="5" name="phase">
            <a:extLst xmlns:a="http://schemas.openxmlformats.org/drawingml/2006/main">
              <a:ext uri="{FF2B5EF4-FFF2-40B4-BE49-F238E27FC236}">
                <a16:creationId xmlns:a16="http://schemas.microsoft.com/office/drawing/2014/main" id="{517437FB-90FE-4B7B-AC5F-91341FDAC793}"/>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Afsluiting / huiswerk</a:t>
            </a:r>
          </a:p>
        </p:txBody>
      </p:sp>
      <p:sp>
        <p:nvSpPr>
          <p:cNvPr id="6" name="Lesroute">
            <a:extLst xmlns:a="http://schemas.openxmlformats.org/drawingml/2006/main">
              <a:ext uri="{FF2B5EF4-FFF2-40B4-BE49-F238E27FC236}">
                <a16:creationId xmlns:a16="http://schemas.microsoft.com/office/drawing/2014/main" id="{4BCA00B9-2F59-4A55-AD43-EA94100688D5}"/>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0">
            <a:extLst xmlns:a="http://schemas.openxmlformats.org/drawingml/2006/main">
              <a:ext uri="{FF2B5EF4-FFF2-40B4-BE49-F238E27FC236}">
                <a16:creationId xmlns:a16="http://schemas.microsoft.com/office/drawing/2014/main" id="{301DA49B-D20A-4194-A81C-5FD49C65870D}"/>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0">
            <a:extLst xmlns:a="http://schemas.openxmlformats.org/drawingml/2006/main">
              <a:ext uri="{FF2B5EF4-FFF2-40B4-BE49-F238E27FC236}">
                <a16:creationId xmlns:a16="http://schemas.microsoft.com/office/drawing/2014/main" id="{3159577E-B04B-4AAE-A62D-12DC75406C73}"/>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1">
            <a:extLst xmlns:a="http://schemas.openxmlformats.org/drawingml/2006/main">
              <a:ext uri="{FF2B5EF4-FFF2-40B4-BE49-F238E27FC236}">
                <a16:creationId xmlns:a16="http://schemas.microsoft.com/office/drawing/2014/main" id="{BB514E57-7C18-4D5F-B368-6A29D1A8A28F}"/>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1">
            <a:extLst xmlns:a="http://schemas.openxmlformats.org/drawingml/2006/main">
              <a:ext uri="{FF2B5EF4-FFF2-40B4-BE49-F238E27FC236}">
                <a16:creationId xmlns:a16="http://schemas.microsoft.com/office/drawing/2014/main" id="{84E76218-AFC2-41F9-9968-3E24AD0F4263}"/>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2">
            <a:extLst xmlns:a="http://schemas.openxmlformats.org/drawingml/2006/main">
              <a:ext uri="{FF2B5EF4-FFF2-40B4-BE49-F238E27FC236}">
                <a16:creationId xmlns:a16="http://schemas.microsoft.com/office/drawing/2014/main" id="{243EC6D8-5A42-4995-AB30-F149AF7E832E}"/>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2">
            <a:extLst xmlns:a="http://schemas.openxmlformats.org/drawingml/2006/main">
              <a:ext uri="{FF2B5EF4-FFF2-40B4-BE49-F238E27FC236}">
                <a16:creationId xmlns:a16="http://schemas.microsoft.com/office/drawing/2014/main" id="{AEFBD016-AE84-4662-8EA0-ACC134E2CDC2}"/>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Korte herhaling en aanpak.</a:t>
            </a:r>
          </a:p>
        </p:txBody>
      </p:sp>
      <p:sp>
        <p:nvSpPr>
          <p:cNvPr id="13" name="route-number-3">
            <a:extLst xmlns:a="http://schemas.openxmlformats.org/drawingml/2006/main">
              <a:ext uri="{FF2B5EF4-FFF2-40B4-BE49-F238E27FC236}">
                <a16:creationId xmlns:a16="http://schemas.microsoft.com/office/drawing/2014/main" id="{EA72EA14-1BF7-446D-B5C0-1F85503D65AD}"/>
              </a:ext>
            </a:extLst>
          </p:cNvPr>
          <p:cNvSpPr>
            <a:spLocks xmlns:a="http://schemas.openxmlformats.org/drawingml/2006/main" noGrp="1"/>
          </p:cNvSpPr>
          <p:nvPr/>
        </p:nvSpPr>
        <p:spPr>
          <a:xfrm xmlns:a="http://schemas.openxmlformats.org/drawingml/2006/main">
            <a:off x="571500" y="4248150"/>
            <a:ext cx="4572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3">
            <a:extLst xmlns:a="http://schemas.openxmlformats.org/drawingml/2006/main">
              <a:ext uri="{FF2B5EF4-FFF2-40B4-BE49-F238E27FC236}">
                <a16:creationId xmlns:a16="http://schemas.microsoft.com/office/drawing/2014/main" id="{DCD90A87-4FA3-4517-B0F3-B5E24D37A031}"/>
              </a:ext>
            </a:extLst>
          </p:cNvPr>
          <p:cNvSpPr>
            <a:spLocks xmlns:a="http://schemas.openxmlformats.org/drawingml/2006/main" noGrp="1"/>
          </p:cNvSpPr>
          <p:nvPr/>
        </p:nvSpPr>
        <p:spPr>
          <a:xfrm xmlns:a="http://schemas.openxmlformats.org/drawingml/2006/main">
            <a:off x="1104900" y="4248150"/>
            <a:ext cx="741997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Werk verder aan de gemengde opgaven, stel vragen en kijk je antwoorden na.</a:t>
            </a:r>
          </a:p>
        </p:txBody>
      </p:sp>
      <p:sp>
        <p:nvSpPr>
          <p:cNvPr id="15" name="route-number-4">
            <a:extLst xmlns:a="http://schemas.openxmlformats.org/drawingml/2006/main">
              <a:ext uri="{FF2B5EF4-FFF2-40B4-BE49-F238E27FC236}">
                <a16:creationId xmlns:a16="http://schemas.microsoft.com/office/drawing/2014/main" id="{308720E1-0490-42EC-84A1-98861D20220F}"/>
              </a:ext>
            </a:extLst>
          </p:cNvPr>
          <p:cNvSpPr>
            <a:spLocks xmlns:a="http://schemas.openxmlformats.org/drawingml/2006/main" noGrp="1"/>
          </p:cNvSpPr>
          <p:nvPr/>
        </p:nvSpPr>
        <p:spPr>
          <a:xfrm xmlns:a="http://schemas.openxmlformats.org/drawingml/2006/main">
            <a:off x="571500" y="5657850"/>
            <a:ext cx="4572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4">
            <a:extLst xmlns:a="http://schemas.openxmlformats.org/drawingml/2006/main">
              <a:ext uri="{FF2B5EF4-FFF2-40B4-BE49-F238E27FC236}">
                <a16:creationId xmlns:a16="http://schemas.microsoft.com/office/drawing/2014/main" id="{113F23DE-3E11-4E7D-89B7-B2FD9E47B701}"/>
              </a:ext>
            </a:extLst>
          </p:cNvPr>
          <p:cNvSpPr>
            <a:spLocks xmlns:a="http://schemas.openxmlformats.org/drawingml/2006/main" noGrp="1"/>
          </p:cNvSpPr>
          <p:nvPr/>
        </p:nvSpPr>
        <p:spPr>
          <a:xfrm xmlns:a="http://schemas.openxmlformats.org/drawingml/2006/main">
            <a:off x="1104900" y="5657850"/>
            <a:ext cx="741997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5">
            <a:extLst xmlns:a="http://schemas.openxmlformats.org/drawingml/2006/main">
              <a:ext uri="{FF2B5EF4-FFF2-40B4-BE49-F238E27FC236}">
                <a16:creationId xmlns:a16="http://schemas.microsoft.com/office/drawing/2014/main" id="{25D9D21C-D6F2-4873-912C-CC946F7A12FD}"/>
              </a:ext>
            </a:extLst>
          </p:cNvPr>
          <p:cNvSpPr>
            <a:spLocks xmlns:a="http://schemas.openxmlformats.org/drawingml/2006/main" noGrp="1"/>
          </p:cNvSpPr>
          <p:nvPr/>
        </p:nvSpPr>
        <p:spPr>
          <a:xfrm xmlns:a="http://schemas.openxmlformats.org/drawingml/2006/main">
            <a:off x="571500" y="6553200"/>
            <a:ext cx="457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5">
            <a:extLst xmlns:a="http://schemas.openxmlformats.org/drawingml/2006/main">
              <a:ext uri="{FF2B5EF4-FFF2-40B4-BE49-F238E27FC236}">
                <a16:creationId xmlns:a16="http://schemas.microsoft.com/office/drawing/2014/main" id="{6AC1773D-4B03-4168-AA08-9F227F7AA602}"/>
              </a:ext>
            </a:extLst>
          </p:cNvPr>
          <p:cNvSpPr>
            <a:spLocks xmlns:a="http://schemas.openxmlformats.org/drawingml/2006/main" noGrp="1"/>
          </p:cNvSpPr>
          <p:nvPr/>
        </p:nvSpPr>
        <p:spPr>
          <a:xfrm xmlns:a="http://schemas.openxmlformats.org/drawingml/2006/main">
            <a:off x="1104900" y="6553200"/>
            <a:ext cx="74199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opgave 35.</a:t>
            </a:r>
          </a:p>
        </p:txBody>
      </p:sp>
      <p:sp>
        <p:nvSpPr>
          <p:cNvPr id="19" name="route-number-6">
            <a:extLst xmlns:a="http://schemas.openxmlformats.org/drawingml/2006/main">
              <a:ext uri="{FF2B5EF4-FFF2-40B4-BE49-F238E27FC236}">
                <a16:creationId xmlns:a16="http://schemas.microsoft.com/office/drawing/2014/main" id="{4F8E508E-D32A-4F86-B6DF-5892BB90D65E}"/>
              </a:ext>
            </a:extLst>
          </p:cNvPr>
          <p:cNvSpPr>
            <a:spLocks xmlns:a="http://schemas.openxmlformats.org/drawingml/2006/main" noGrp="1"/>
          </p:cNvSpPr>
          <p:nvPr/>
        </p:nvSpPr>
        <p:spPr>
          <a:xfrm xmlns:a="http://schemas.openxmlformats.org/drawingml/2006/main">
            <a:off x="571500" y="737235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7.</a:t>
            </a:r>
          </a:p>
        </p:txBody>
      </p:sp>
      <p:sp>
        <p:nvSpPr>
          <p:cNvPr id="20" name="route-6">
            <a:extLst xmlns:a="http://schemas.openxmlformats.org/drawingml/2006/main">
              <a:ext uri="{FF2B5EF4-FFF2-40B4-BE49-F238E27FC236}">
                <a16:creationId xmlns:a16="http://schemas.microsoft.com/office/drawing/2014/main" id="{E48A2271-9438-4ACF-A57D-6880023FCF7B}"/>
              </a:ext>
            </a:extLst>
          </p:cNvPr>
          <p:cNvSpPr>
            <a:spLocks xmlns:a="http://schemas.openxmlformats.org/drawingml/2006/main" noGrp="1"/>
          </p:cNvSpPr>
          <p:nvPr/>
        </p:nvSpPr>
        <p:spPr>
          <a:xfrm xmlns:a="http://schemas.openxmlformats.org/drawingml/2006/main">
            <a:off x="1104900" y="737235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DBC4961B-46C0-42C5-962A-F38305C94EEE}"/>
              </a:ext>
            </a:extLst>
          </p:cNvPr>
          <p:cNvSpPr>
            <a:spLocks xmlns:a="http://schemas.openxmlformats.org/drawingml/2006/main" noGrp="1"/>
          </p:cNvSpPr>
          <p:nvPr/>
        </p:nvSpPr>
        <p:spPr>
          <a:xfrm xmlns:a="http://schemas.openxmlformats.org/drawingml/2006/main">
            <a:off x="9258300" y="1762125"/>
            <a:ext cx="5410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85E3C2C7-76BE-4AF1-8FDE-D4F7F9E7D442}"/>
              </a:ext>
            </a:extLst>
          </p:cNvPr>
          <p:cNvSpPr>
            <a:spLocks xmlns:a="http://schemas.openxmlformats.org/drawingml/2006/main" noGrp="1"/>
          </p:cNvSpPr>
          <p:nvPr/>
        </p:nvSpPr>
        <p:spPr>
          <a:xfrm xmlns:a="http://schemas.openxmlformats.org/drawingml/2006/main">
            <a:off x="9258300" y="2324100"/>
            <a:ext cx="54102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Marktprijs en productie bepalen.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Keuze en winst onderbouwen.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Q en q onderscheiden.</a:t>
            </a:r>
          </a:p>
        </p:txBody>
      </p:sp>
      <p:sp>
        <p:nvSpPr>
          <p:cNvPr id="23" name="">
            <a:extLst xmlns:a="http://schemas.openxmlformats.org/drawingml/2006/main">
              <a:ext uri="{FF2B5EF4-FFF2-40B4-BE49-F238E27FC236}">
                <a16:creationId xmlns:a16="http://schemas.microsoft.com/office/drawing/2014/main" id="{F4D0C1C8-FD3C-47BC-9752-65B1724310F8}"/>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2900FCD9-5E78-4603-B292-5C9DCD3320CF}"/>
              </a:ext>
            </a:extLst>
          </p:cNvPr>
          <p:cNvSpPr>
            <a:spLocks xmlns:a="http://schemas.openxmlformats.org/drawingml/2006/main" noGrp="1"/>
          </p:cNvSpPr>
          <p:nvPr/>
        </p:nvSpPr>
        <p:spPr>
          <a:xfrm xmlns:a="http://schemas.openxmlformats.org/drawingml/2006/main">
            <a:off x="9258300" y="3819525"/>
            <a:ext cx="5410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7A44F78D-BA19-421D-89EF-932FCFCC5E4F}"/>
              </a:ext>
            </a:extLst>
          </p:cNvPr>
          <p:cNvSpPr>
            <a:spLocks xmlns:a="http://schemas.openxmlformats.org/drawingml/2006/main" noGrp="1"/>
          </p:cNvSpPr>
          <p:nvPr/>
        </p:nvSpPr>
        <p:spPr>
          <a:xfrm xmlns:a="http://schemas.openxmlformats.org/drawingml/2006/main">
            <a:off x="9258300" y="4352925"/>
            <a:ext cx="54102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79 · Opgave 31</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Steun: uitleg p. 54–56</a:t>
            </a:r>
          </a:p>
        </p:txBody>
      </p:sp>
      <p:sp>
        <p:nvSpPr>
          <p:cNvPr id="26" name="">
            <a:extLst xmlns:a="http://schemas.openxmlformats.org/drawingml/2006/main">
              <a:ext uri="{FF2B5EF4-FFF2-40B4-BE49-F238E27FC236}">
                <a16:creationId xmlns:a16="http://schemas.microsoft.com/office/drawing/2014/main" id="{41BBDF7A-713E-4FEA-B285-B69BB1EBC1ED}"/>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9657B3D7-6F73-4207-9AA3-7568C827943B}"/>
              </a:ext>
            </a:extLst>
          </p:cNvPr>
          <p:cNvSpPr>
            <a:spLocks xmlns:a="http://schemas.openxmlformats.org/drawingml/2006/main" noGrp="1"/>
          </p:cNvSpPr>
          <p:nvPr/>
        </p:nvSpPr>
        <p:spPr>
          <a:xfrm xmlns:a="http://schemas.openxmlformats.org/drawingml/2006/main">
            <a:off x="9258300" y="5648325"/>
            <a:ext cx="5410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3C8DC227-2869-4B51-BFB3-538C78E59E34}"/>
              </a:ext>
            </a:extLst>
          </p:cNvPr>
          <p:cNvSpPr>
            <a:spLocks xmlns:a="http://schemas.openxmlformats.org/drawingml/2006/main" noGrp="1"/>
          </p:cNvSpPr>
          <p:nvPr/>
        </p:nvSpPr>
        <p:spPr>
          <a:xfrm xmlns:a="http://schemas.openxmlformats.org/drawingml/2006/main">
            <a:off x="9258300" y="6191250"/>
            <a:ext cx="54102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§3.2.4 · Maken en nakijken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31–34: voorbereiding</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35: doeloefening</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36: bonus · 37: herhaling</a:t>
            </a:r>
          </a:p>
        </p:txBody>
      </p:sp>
    </p:spTree>
    <p:extLst>
      <p:ext uri="{BB962C8B-B14F-4D97-AF65-F5344CB8AC3E}">
        <p14:creationId xmlns:p14="http://schemas.microsoft.com/office/powerpoint/2010/main" val="83949918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2026-10-01T11:18:59.5780000Z</dcterms:created>
  <dcterms:modified xsi:type="dcterms:W3CDTF">2026-10-01T11:18:59.5780000Z</dcterms:modified>
</coreProperties>
</file>