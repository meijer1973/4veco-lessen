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6.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7.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8.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11a69bb14b4087" /><Relationship Type="http://schemas.openxmlformats.org/officeDocument/2006/relationships/extended-properties" Target="/docProps/app.xml" Id="R396046875a1d4fcc" /><Relationship Type="http://schemas.openxmlformats.org/officeDocument/2006/relationships/officeDocument" Target="/ppt/presentation.xml" Id="R0c7f8de17e494d38" /></Relationships>
</file>

<file path=ppt/presentation.xml><?xml version="1.0" encoding="utf-8"?>
<p:presentation xmlns:p="http://schemas.openxmlformats.org/presentationml/2006/main">
  <p:sldMasterIdLst>
    <p:sldMasterId xmlns:r="http://schemas.openxmlformats.org/officeDocument/2006/relationships" id="2147483648" r:id="R7c9efe3c1cec4fc4"/>
  </p:sldMasterIdLst>
  <p:notesMasterIdLst>
    <p:notesMasterId xmlns:r="http://schemas.openxmlformats.org/officeDocument/2006/relationships" r:id="R1592bf7af2274412"/>
  </p:notesMasterIdLst>
  <p:sldIdLst>
    <p:sldId xmlns:r="http://schemas.openxmlformats.org/officeDocument/2006/relationships" id="256" r:id="R5be5f93d14d94d91"/>
    <p:sldId xmlns:r="http://schemas.openxmlformats.org/officeDocument/2006/relationships" id="257" r:id="Rc7a477e06448407b"/>
    <p:sldId xmlns:r="http://schemas.openxmlformats.org/officeDocument/2006/relationships" id="258" r:id="Rf6b3f6b920b34a93"/>
    <p:sldId xmlns:r="http://schemas.openxmlformats.org/officeDocument/2006/relationships" id="259" r:id="R770fb45b015b4145"/>
    <p:sldId xmlns:r="http://schemas.openxmlformats.org/officeDocument/2006/relationships" id="260" r:id="R9fd390d67c804ac1"/>
    <p:sldId xmlns:r="http://schemas.openxmlformats.org/officeDocument/2006/relationships" id="261" r:id="R8972eff8ba4f4510"/>
    <p:sldId xmlns:r="http://schemas.openxmlformats.org/officeDocument/2006/relationships" id="262" r:id="R90b4963ec64c430e"/>
    <p:sldId xmlns:r="http://schemas.openxmlformats.org/officeDocument/2006/relationships" id="263" r:id="R8c4a1833baaa43fb"/>
    <p:sldId xmlns:r="http://schemas.openxmlformats.org/officeDocument/2006/relationships" id="264" r:id="Rad7dfb19393b4342"/>
    <p:sldId xmlns:r="http://schemas.openxmlformats.org/officeDocument/2006/relationships" id="265" r:id="R5c9c7976c65540f4"/>
    <p:sldId xmlns:r="http://schemas.openxmlformats.org/officeDocument/2006/relationships" id="266" r:id="R4d5dfd8562e74cd7"/>
    <p:sldId xmlns:r="http://schemas.openxmlformats.org/officeDocument/2006/relationships" id="267" r:id="R01dc56f432e244a7"/>
    <p:sldId xmlns:r="http://schemas.openxmlformats.org/officeDocument/2006/relationships" id="268" r:id="Re760bb6c05ab4792"/>
    <p:sldId xmlns:r="http://schemas.openxmlformats.org/officeDocument/2006/relationships" id="269" r:id="Read5f14b33114c41"/>
    <p:sldId xmlns:r="http://schemas.openxmlformats.org/officeDocument/2006/relationships" id="270" r:id="Rf92b4ff25a764376"/>
    <p:sldId xmlns:r="http://schemas.openxmlformats.org/officeDocument/2006/relationships" id="271" r:id="R2bb738ef59a94c9e"/>
    <p:sldId xmlns:r="http://schemas.openxmlformats.org/officeDocument/2006/relationships" id="272" r:id="R0fcb745668a4459d"/>
    <p:sldId xmlns:r="http://schemas.openxmlformats.org/officeDocument/2006/relationships" id="273" r:id="R254a048c186e4609"/>
    <p:sldId xmlns:r="http://schemas.openxmlformats.org/officeDocument/2006/relationships" id="274" r:id="R6138140dd08b44ec"/>
    <p:sldId xmlns:r="http://schemas.openxmlformats.org/officeDocument/2006/relationships" id="275" r:id="R00c808b8923b4fe7"/>
    <p:sldId xmlns:r="http://schemas.openxmlformats.org/officeDocument/2006/relationships" id="276" r:id="Read5aa443d91474b"/>
    <p:sldId xmlns:r="http://schemas.openxmlformats.org/officeDocument/2006/relationships" id="277" r:id="Rbb2ce25387b143b7"/>
    <p:sldId xmlns:r="http://schemas.openxmlformats.org/officeDocument/2006/relationships" id="278" r:id="R84c59ae1c38a4297"/>
    <p:sldId xmlns:r="http://schemas.openxmlformats.org/officeDocument/2006/relationships" id="279" r:id="R1d116c65b76f4f88"/>
    <p:sldId xmlns:r="http://schemas.openxmlformats.org/officeDocument/2006/relationships" id="280" r:id="Rb50eb24e8e4147a3"/>
    <p:sldId xmlns:r="http://schemas.openxmlformats.org/officeDocument/2006/relationships" id="281" r:id="R5791dc2255ba47a6"/>
    <p:sldId xmlns:r="http://schemas.openxmlformats.org/officeDocument/2006/relationships" id="282" r:id="R23c099f9acd7487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52270130fe41f7" /><Relationship Type="http://schemas.openxmlformats.org/officeDocument/2006/relationships/slideMaster" Target="/ppt/slideMasters/slideMaster1.xml" Id="R7c9efe3c1cec4fc4" /><Relationship Type="http://schemas.openxmlformats.org/officeDocument/2006/relationships/notesMaster" Target="/ppt/notesMasters/notesMaster1.xml" Id="R1592bf7af2274412" /><Relationship Type="http://schemas.openxmlformats.org/officeDocument/2006/relationships/presProps" Target="/ppt/presProps.xml" Id="R7b068ae65d1b476a" /><Relationship Type="http://schemas.openxmlformats.org/officeDocument/2006/relationships/tableStyles" Target="/ppt/tableStyles.xml" Id="Rd18422fe2f164712" /><Relationship Type="http://schemas.openxmlformats.org/officeDocument/2006/relationships/slide" Target="/ppt/slides/slide1.xml" Id="R5be5f93d14d94d91" /><Relationship Type="http://schemas.openxmlformats.org/officeDocument/2006/relationships/slide" Target="/ppt/slides/slide2.xml" Id="Rc7a477e06448407b" /><Relationship Type="http://schemas.openxmlformats.org/officeDocument/2006/relationships/slide" Target="/ppt/slides/slide3.xml" Id="Rf6b3f6b920b34a93" /><Relationship Type="http://schemas.openxmlformats.org/officeDocument/2006/relationships/slide" Target="/ppt/slides/slide4.xml" Id="R770fb45b015b4145" /><Relationship Type="http://schemas.openxmlformats.org/officeDocument/2006/relationships/slide" Target="/ppt/slides/slide5.xml" Id="R9fd390d67c804ac1" /><Relationship Type="http://schemas.openxmlformats.org/officeDocument/2006/relationships/slide" Target="/ppt/slides/slide6.xml" Id="R8972eff8ba4f4510" /><Relationship Type="http://schemas.openxmlformats.org/officeDocument/2006/relationships/slide" Target="/ppt/slides/slide7.xml" Id="R90b4963ec64c430e" /><Relationship Type="http://schemas.openxmlformats.org/officeDocument/2006/relationships/slide" Target="/ppt/slides/slide8.xml" Id="R8c4a1833baaa43fb" /><Relationship Type="http://schemas.openxmlformats.org/officeDocument/2006/relationships/slide" Target="/ppt/slides/slide9.xml" Id="Rad7dfb19393b4342" /><Relationship Type="http://schemas.openxmlformats.org/officeDocument/2006/relationships/slide" Target="/ppt/slides/slide10.xml" Id="R5c9c7976c65540f4" /><Relationship Type="http://schemas.openxmlformats.org/officeDocument/2006/relationships/slide" Target="/ppt/slides/slide11.xml" Id="R4d5dfd8562e74cd7" /><Relationship Type="http://schemas.openxmlformats.org/officeDocument/2006/relationships/slide" Target="/ppt/slides/slide12.xml" Id="R01dc56f432e244a7" /><Relationship Type="http://schemas.openxmlformats.org/officeDocument/2006/relationships/slide" Target="/ppt/slides/slide13.xml" Id="Re760bb6c05ab4792" /><Relationship Type="http://schemas.openxmlformats.org/officeDocument/2006/relationships/slide" Target="/ppt/slides/slide14.xml" Id="Read5f14b33114c41" /><Relationship Type="http://schemas.openxmlformats.org/officeDocument/2006/relationships/slide" Target="/ppt/slides/slide15.xml" Id="Rf92b4ff25a764376" /><Relationship Type="http://schemas.openxmlformats.org/officeDocument/2006/relationships/slide" Target="/ppt/slides/slide16.xml" Id="R2bb738ef59a94c9e" /><Relationship Type="http://schemas.openxmlformats.org/officeDocument/2006/relationships/slide" Target="/ppt/slides/slide17.xml" Id="R0fcb745668a4459d" /><Relationship Type="http://schemas.openxmlformats.org/officeDocument/2006/relationships/slide" Target="/ppt/slides/slide18.xml" Id="R254a048c186e4609" /><Relationship Type="http://schemas.openxmlformats.org/officeDocument/2006/relationships/slide" Target="/ppt/slides/slide19.xml" Id="R6138140dd08b44ec" /><Relationship Type="http://schemas.openxmlformats.org/officeDocument/2006/relationships/slide" Target="/ppt/slides/slide20.xml" Id="R00c808b8923b4fe7" /><Relationship Type="http://schemas.openxmlformats.org/officeDocument/2006/relationships/slide" Target="/ppt/slides/slide21.xml" Id="Read5aa443d91474b" /><Relationship Type="http://schemas.openxmlformats.org/officeDocument/2006/relationships/slide" Target="/ppt/slides/slide22.xml" Id="Rbb2ce25387b143b7" /><Relationship Type="http://schemas.openxmlformats.org/officeDocument/2006/relationships/slide" Target="/ppt/slides/slide23.xml" Id="R84c59ae1c38a4297" /><Relationship Type="http://schemas.openxmlformats.org/officeDocument/2006/relationships/slide" Target="/ppt/slides/slide24.xml" Id="R1d116c65b76f4f88" /><Relationship Type="http://schemas.openxmlformats.org/officeDocument/2006/relationships/slide" Target="/ppt/slides/slide25.xml" Id="Rb50eb24e8e4147a3" /><Relationship Type="http://schemas.openxmlformats.org/officeDocument/2006/relationships/slide" Target="/ppt/slides/slide26.xml" Id="R5791dc2255ba47a6" /><Relationship Type="http://schemas.openxmlformats.org/officeDocument/2006/relationships/slide" Target="/ppt/slides/slide27.xml" Id="R23c099f9acd748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3489d70a9846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967e5468bc4364" /><Relationship Type="http://schemas.openxmlformats.org/officeDocument/2006/relationships/notesMaster" Target="/ppt/notesMasters/notesMaster1.xml" Id="R760de62b187c4a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dc612f429446ef" /><Relationship Type="http://schemas.openxmlformats.org/officeDocument/2006/relationships/notesMaster" Target="/ppt/notesMasters/notesMaster1.xml" Id="R47adb0ac317443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bb78cdb7d94e9a" /><Relationship Type="http://schemas.openxmlformats.org/officeDocument/2006/relationships/notesMaster" Target="/ppt/notesMasters/notesMaster1.xml" Id="Rdfb6906ac98040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0ae8697e1846cc" /><Relationship Type="http://schemas.openxmlformats.org/officeDocument/2006/relationships/notesMaster" Target="/ppt/notesMasters/notesMaster1.xml" Id="Rb6cf5b9107704a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250291c39f4333" /><Relationship Type="http://schemas.openxmlformats.org/officeDocument/2006/relationships/notesMaster" Target="/ppt/notesMasters/notesMaster1.xml" Id="Re0042703f46a48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00e85e8a7a46ec" /><Relationship Type="http://schemas.openxmlformats.org/officeDocument/2006/relationships/notesMaster" Target="/ppt/notesMasters/notesMaster1.xml" Id="Rd72d7ca60aa948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71204db9bc4c1a" /><Relationship Type="http://schemas.openxmlformats.org/officeDocument/2006/relationships/notesMaster" Target="/ppt/notesMasters/notesMaster1.xml" Id="R95500c90cdc44d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aa19aa4953440d" /><Relationship Type="http://schemas.openxmlformats.org/officeDocument/2006/relationships/notesMaster" Target="/ppt/notesMasters/notesMaster1.xml" Id="Re5a1a555e07349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32f248c07e40e2" /><Relationship Type="http://schemas.openxmlformats.org/officeDocument/2006/relationships/notesMaster" Target="/ppt/notesMasters/notesMaster1.xml" Id="Rdce1d8f3b67f44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2d10900cfe4401" /><Relationship Type="http://schemas.openxmlformats.org/officeDocument/2006/relationships/notesMaster" Target="/ppt/notesMasters/notesMaster1.xml" Id="R0d7d37d2ef3b44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5726bdf61f4e32" /><Relationship Type="http://schemas.openxmlformats.org/officeDocument/2006/relationships/notesMaster" Target="/ppt/notesMasters/notesMaster1.xml" Id="Rc80e96d84b4e49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6d2c5481364b48" /><Relationship Type="http://schemas.openxmlformats.org/officeDocument/2006/relationships/notesMaster" Target="/ppt/notesMasters/notesMaster1.xml" Id="R8afdcf47da7e41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af754046d14745" /><Relationship Type="http://schemas.openxmlformats.org/officeDocument/2006/relationships/notesMaster" Target="/ppt/notesMasters/notesMaster1.xml" Id="R6c1b7af96c2044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84c0cbf8dc436e" /><Relationship Type="http://schemas.openxmlformats.org/officeDocument/2006/relationships/notesMaster" Target="/ppt/notesMasters/notesMaster1.xml" Id="R9687f47f5bbb47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deb21ad9084acc" /><Relationship Type="http://schemas.openxmlformats.org/officeDocument/2006/relationships/notesMaster" Target="/ppt/notesMasters/notesMaster1.xml" Id="R067f5f43aeee4a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a44cd096a644a0" /><Relationship Type="http://schemas.openxmlformats.org/officeDocument/2006/relationships/notesMaster" Target="/ppt/notesMasters/notesMaster1.xml" Id="R64ce9849c60146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e49c7b1a4a4412" /><Relationship Type="http://schemas.openxmlformats.org/officeDocument/2006/relationships/notesMaster" Target="/ppt/notesMasters/notesMaster1.xml" Id="Rc8bea26a45e745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63ade45545444c" /><Relationship Type="http://schemas.openxmlformats.org/officeDocument/2006/relationships/notesMaster" Target="/ppt/notesMasters/notesMaster1.xml" Id="Rc3067d916f17479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7bc72d7bdda447e" /><Relationship Type="http://schemas.openxmlformats.org/officeDocument/2006/relationships/notesMaster" Target="/ppt/notesMasters/notesMaster1.xml" Id="R775136f63d5b41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398a0a15a74925" /><Relationship Type="http://schemas.openxmlformats.org/officeDocument/2006/relationships/notesMaster" Target="/ppt/notesMasters/notesMaster1.xml" Id="R1df4057d4ef7485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5b9399600074172" /><Relationship Type="http://schemas.openxmlformats.org/officeDocument/2006/relationships/notesMaster" Target="/ppt/notesMasters/notesMaster1.xml" Id="Ref150681045348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4456c23a7d44e1" /><Relationship Type="http://schemas.openxmlformats.org/officeDocument/2006/relationships/notesMaster" Target="/ppt/notesMasters/notesMaster1.xml" Id="Rc0e995f8abc54f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b2cf7c10244b33" /><Relationship Type="http://schemas.openxmlformats.org/officeDocument/2006/relationships/notesMaster" Target="/ppt/notesMasters/notesMaster1.xml" Id="R6889954db9af471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a54c2f7e12743ff" /><Relationship Type="http://schemas.openxmlformats.org/officeDocument/2006/relationships/notesMaster" Target="/ppt/notesMasters/notesMaster1.xml" Id="R16afb48a7e7e428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c5ed217ab4744d4" /><Relationship Type="http://schemas.openxmlformats.org/officeDocument/2006/relationships/notesMaster" Target="/ppt/notesMasters/notesMaster1.xml" Id="R2070017b3e2148f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b379c219d104b7d" /><Relationship Type="http://schemas.openxmlformats.org/officeDocument/2006/relationships/notesMaster" Target="/ppt/notesMasters/notesMaster1.xml" Id="Re892943955294f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739df9b46854267" /><Relationship Type="http://schemas.openxmlformats.org/officeDocument/2006/relationships/notesMaster" Target="/ppt/notesMasters/notesMaster1.xml" Id="R7b0f7ee5460e43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bij welke stap gebruik je de theorie?</a:t>
            </a:r>
          </a:p>
          <a:p xmlns:a="http://schemas.openxmlformats.org/drawingml/2006/main">
            <a:r>
              <a:rPr sz="1400"/>
              <a:t/>
            </a:r>
          </a:p>
          <a:p xmlns:a="http://schemas.openxmlformats.org/drawingml/2006/main">
            <a:r>
              <a:rPr sz="1400"/>
              <a:t>Uitleg: Laat deze dia staan tijdens startopdracht. Start 20–21 op p73. Basis 22 op p73, 23–24 op p74; zelfstandig 25 op p75 en 26 op p76; doel 27 op p77. Huiswerk 22,23,24,25,26,27 maken en nakijken. Bonus 28 en herhaling 29–30 zijn extra. Opgave 20 haalt TO, GTK, winst en interval-MK op. Opgave 21 vraagt een nieuwe keuze-redenering: laat leerlingen de theorie op p69–70 lezen, het verschil MO–MK gebruiken en hun twijfel opschrijven. Geen toets van al beheerste stof. Keer vóór basiswerk terug naar 21: laat beide situaties opnieuw verklaren na de uitleg. Zo nodig extra begeleiding vóór 22. Docenteninformatie adviseert voorlopig twee lessen van 55 minuten, zonder gemeten tijdsfit. Plan een passende pauze na basiswerk; laat het huiswerk de route afronden.</a:t>
            </a:r>
          </a:p>
          <a:p xmlns:a="http://schemas.openxmlformats.org/drawingml/2006/main">
            <a:r>
              <a:rPr sz="1400"/>
              <a:t/>
            </a:r>
          </a:p>
          <a:p xmlns:a="http://schemas.openxmlformats.org/drawingml/2006/main">
            <a:r>
              <a:rPr sz="1400"/>
              <a:t>Misvatting: Het hoofdstukpaginanummer 21 is complete-boekpagina 73. Opgave 21 is verkenning.</a:t>
            </a:r>
          </a:p>
          <a:p xmlns:a="http://schemas.openxmlformats.org/drawingml/2006/main">
            <a:r>
              <a:rPr sz="1400"/>
              <a:t/>
            </a:r>
          </a:p>
          <a:p xmlns:a="http://schemas.openxmlformats.org/drawingml/2006/main">
            <a:r>
              <a:rPr sz="1400"/>
              <a:t>Overgang: Volg de volgende lesfase; houd tijd voor begeleide inoefening.</a:t>
            </a:r>
          </a:p>
          <a:p xmlns:a="http://schemas.openxmlformats.org/drawingml/2006/main">
            <a:r>
              <a:rPr sz="1400"/>
              <a:t/>
            </a:r>
          </a:p>
          <a:p xmlns:a="http://schemas.openxmlformats.org/drawingml/2006/main">
            <a:r>
              <a:rPr sz="1400"/>
              <a:t>Bron: Boek 3 v3, gedrukte volledige-boekpagina 69–77.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opbrengst geeft een kleine uitbreiding?</a:t>
            </a:r>
          </a:p>
          <a:p xmlns:a="http://schemas.openxmlformats.org/drawingml/2006/main">
            <a:r>
              <a:rPr sz="1400"/>
              <a:t/>
            </a:r>
          </a:p>
          <a:p xmlns:a="http://schemas.openxmlformats.org/drawingml/2006/main">
            <a:r>
              <a:rPr sz="1400"/>
              <a:t>Uitleg: Nieuw uitlegvoorbeeld. Vezelwerk is klein en neemt de marktprijs over. TO=15q en MO=15. Alle kosten zijn per week. De 90 euro blijft ook bij nul productie verschuldigd. Herhaal voor start 20: GTK=TK/q bij q&gt;0, winst=TO−TK. De vraag is nu welke q de grootste haalbare winst geeft.</a:t>
            </a:r>
          </a:p>
          <a:p xmlns:a="http://schemas.openxmlformats.org/drawingml/2006/main">
            <a:r>
              <a:rPr sz="1400"/>
              <a:t/>
            </a:r>
          </a:p>
          <a:p xmlns:a="http://schemas.openxmlformats.org/drawingml/2006/main">
            <a:r>
              <a:rPr sz="1400"/>
              <a:t>Misvatting: De marktprijs blijft gelijk bij de keuze van één kleine producent.</a:t>
            </a:r>
          </a:p>
          <a:p xmlns:a="http://schemas.openxmlformats.org/drawingml/2006/main">
            <a:r>
              <a:rPr sz="1400"/>
              <a:t/>
            </a:r>
          </a:p>
          <a:p xmlns:a="http://schemas.openxmlformats.org/drawingml/2006/main">
            <a:r>
              <a:rPr sz="1400"/>
              <a:t>Overgang: Haal eerst de bekende afgeleide op.</a:t>
            </a:r>
          </a:p>
          <a:p xmlns:a="http://schemas.openxmlformats.org/drawingml/2006/main">
            <a:r>
              <a:rPr sz="1400"/>
              <a:t/>
            </a:r>
          </a:p>
          <a:p xmlns:a="http://schemas.openxmlformats.org/drawingml/2006/main">
            <a:r>
              <a:rPr sz="1400"/>
              <a:t>Bron: Boek 3 v3, gedrukte volledige-boekpagina 69–72.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term verandert niet als q toeneemt?</a:t>
            </a:r>
          </a:p>
          <a:p xmlns:a="http://schemas.openxmlformats.org/drawingml/2006/main">
            <a:r>
              <a:rPr sz="1400"/>
              <a:t/>
            </a:r>
          </a:p>
          <a:p xmlns:a="http://schemas.openxmlformats.org/drawingml/2006/main">
            <a:r>
              <a:rPr sz="1400"/>
              <a:t>Uitleg: §3.2.2 leert term voor term afleiden. Tabelstap: ΔTK/Δq meet gemiddelde extra kosten over een interval. De afgeleide meet de puntwaarde voor een zeer kleine uitbreiding. De 90 verdwijnt alleen uit MK, niet uit TK of de winst.</a:t>
            </a:r>
          </a:p>
          <a:p xmlns:a="http://schemas.openxmlformats.org/drawingml/2006/main">
            <a:r>
              <a:rPr sz="1400"/>
              <a:t/>
            </a:r>
          </a:p>
          <a:p xmlns:a="http://schemas.openxmlformats.org/drawingml/2006/main">
            <a:r>
              <a:rPr sz="1400"/>
              <a:t>Misvatting: MK is euro per kg, TK euro per week. MK is geen exact verschil voor elke hele extra kg.</a:t>
            </a:r>
          </a:p>
          <a:p xmlns:a="http://schemas.openxmlformats.org/drawingml/2006/main">
            <a:r>
              <a:rPr sz="1400"/>
              <a:t/>
            </a:r>
          </a:p>
          <a:p xmlns:a="http://schemas.openxmlformats.org/drawingml/2006/main">
            <a:r>
              <a:rPr sz="1400"/>
              <a:t>Overgang: Vergelijk deze extra kosten met de vaste opbrengst per kg.</a:t>
            </a:r>
          </a:p>
          <a:p xmlns:a="http://schemas.openxmlformats.org/drawingml/2006/main">
            <a:r>
              <a:rPr sz="1400"/>
              <a:t/>
            </a:r>
          </a:p>
          <a:p xmlns:a="http://schemas.openxmlformats.org/drawingml/2006/main">
            <a:r>
              <a:rPr sz="1400"/>
              <a:t>Bron: Boek 3 v3, gedrukte volledige-boekpagina 62–64; methode toegepast op69–72.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deze lijn horizontaal?</a:t>
            </a:r>
          </a:p>
          <a:p xmlns:a="http://schemas.openxmlformats.org/drawingml/2006/main">
            <a:r>
              <a:rPr sz="1400"/>
              <a:t/>
            </a:r>
          </a:p>
          <a:p xmlns:a="http://schemas.openxmlformats.org/drawingml/2006/main">
            <a:r>
              <a:rPr sz="1400"/>
              <a:t>Uitleg: Lees de assen. Het gaat om één onderneming, met kleine q. De verticale as toont bedragen per kg. Elke kleine uitbreiding levert per kg 15 euro op. Toon eerst alleen MO, zodat de kostenvergelijking de volgende stap is.</a:t>
            </a:r>
          </a:p>
          <a:p xmlns:a="http://schemas.openxmlformats.org/drawingml/2006/main">
            <a:r>
              <a:rPr sz="1400"/>
              <a:t/>
            </a:r>
          </a:p>
          <a:p xmlns:a="http://schemas.openxmlformats.org/drawingml/2006/main">
            <a:r>
              <a:rPr sz="1400"/>
              <a:t>Misvatting: Dit is niet de vraaglijn van de hele markt.</a:t>
            </a:r>
          </a:p>
          <a:p xmlns:a="http://schemas.openxmlformats.org/drawingml/2006/main">
            <a:r>
              <a:rPr sz="1400"/>
              <a:t/>
            </a:r>
          </a:p>
          <a:p xmlns:a="http://schemas.openxmlformats.org/drawingml/2006/main">
            <a:r>
              <a:rPr sz="1400"/>
              <a:t>Overgang: Voeg MK toe op exact dezelfde assen.</a:t>
            </a:r>
          </a:p>
          <a:p xmlns:a="http://schemas.openxmlformats.org/drawingml/2006/main">
            <a:r>
              <a:rPr sz="1400"/>
              <a:t/>
            </a:r>
          </a:p>
          <a:p xmlns:a="http://schemas.openxmlformats.org/drawingml/2006/main">
            <a:r>
              <a:rPr sz="1400"/>
              <a:t>Bron: Boek 3 v3, gedrukte volledige-boekpagina 56,69–70.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helpt minder produceren rechts van het snijpunt?</a:t>
            </a:r>
          </a:p>
          <a:p xmlns:a="http://schemas.openxmlformats.org/drawingml/2006/main">
            <a:r>
              <a:rPr sz="1400"/>
              <a:t/>
            </a:r>
          </a:p>
          <a:p xmlns:a="http://schemas.openxmlformats.org/drawingml/2006/main">
            <a:r>
              <a:rPr sz="1400"/>
              <a:t>Uitleg: Bij 45 kost een kleine uitbreiding 12 euro per kg en levert 15 op. Winst neemt toe. Bij 75 kost extra productie 18 en levert 15 op. Minder produceren bespaart dan meer dan aan opbrengst vervalt. MK stijgt overal in dit model. Dit is precies de nieuwe redenering die start 21 verkent.</a:t>
            </a:r>
          </a:p>
          <a:p xmlns:a="http://schemas.openxmlformats.org/drawingml/2006/main">
            <a:r>
              <a:rPr sz="1400"/>
              <a:t/>
            </a:r>
          </a:p>
          <a:p xmlns:a="http://schemas.openxmlformats.org/drawingml/2006/main">
            <a:r>
              <a:rPr sz="1400"/>
              <a:t>Misvatting: Een positieve totale winst bewijst niet dat verdere uitbreiding gunstig is.</a:t>
            </a:r>
          </a:p>
          <a:p xmlns:a="http://schemas.openxmlformats.org/drawingml/2006/main">
            <a:r>
              <a:rPr sz="1400"/>
              <a:t/>
            </a:r>
          </a:p>
          <a:p xmlns:a="http://schemas.openxmlformats.org/drawingml/2006/main">
            <a:r>
              <a:rPr sz="1400"/>
              <a:t>Overgang: Bereken het snijpunt en toets de haalbaarheid.</a:t>
            </a:r>
          </a:p>
          <a:p xmlns:a="http://schemas.openxmlformats.org/drawingml/2006/main">
            <a:r>
              <a:rPr sz="1400"/>
              <a:t/>
            </a:r>
          </a:p>
          <a:p xmlns:a="http://schemas.openxmlformats.org/drawingml/2006/main">
            <a:r>
              <a:rPr sz="1400"/>
              <a:t>Bron: Boek 3 v3, gedrukte volledige-boekpagina 69–70.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controles maken van de kandidaat een bruikbaar advies?</a:t>
            </a:r>
          </a:p>
          <a:p xmlns:a="http://schemas.openxmlformats.org/drawingml/2006/main">
            <a:r>
              <a:rPr sz="1400"/>
              <a:t/>
            </a:r>
          </a:p>
          <a:p xmlns:a="http://schemas.openxmlformats.org/drawingml/2006/main">
            <a:r>
              <a:rPr sz="1400"/>
              <a:t>Uitleg: Trek 3 aan beide kanten af en deel door 0,20. De vergelijking geeft een kandidaat. De vorige grafiek bevestigt een maximum: MO−MK wisselt van positief naar negatief.60 ligt binnen 90. Vergelijk straks ook met nul productie.</a:t>
            </a:r>
          </a:p>
          <a:p xmlns:a="http://schemas.openxmlformats.org/drawingml/2006/main">
            <a:r>
              <a:rPr sz="1400"/>
              <a:t/>
            </a:r>
          </a:p>
          <a:p xmlns:a="http://schemas.openxmlformats.org/drawingml/2006/main">
            <a:r>
              <a:rPr sz="1400"/>
              <a:t>Misvatting: MO=MK is geen los bewijs en hoeft bij een grensmaximum niet te gelden.</a:t>
            </a:r>
          </a:p>
          <a:p xmlns:a="http://schemas.openxmlformats.org/drawingml/2006/main">
            <a:r>
              <a:rPr sz="1400"/>
              <a:t/>
            </a:r>
          </a:p>
          <a:p xmlns:a="http://schemas.openxmlformats.org/drawingml/2006/main">
            <a:r>
              <a:rPr sz="1400"/>
              <a:t>Overgang: Bereken de totale winst bij dezezelfde q.</a:t>
            </a:r>
          </a:p>
          <a:p xmlns:a="http://schemas.openxmlformats.org/drawingml/2006/main">
            <a:r>
              <a:rPr sz="1400"/>
              <a:t/>
            </a:r>
          </a:p>
          <a:p xmlns:a="http://schemas.openxmlformats.org/drawingml/2006/main">
            <a:r>
              <a:rPr sz="1400"/>
              <a:t>Bron: Boek 3 v3, gedrukte volledige-boekpagina 70.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blijven na het differentiëren in TK staan?</a:t>
            </a:r>
          </a:p>
          <a:p xmlns:a="http://schemas.openxmlformats.org/drawingml/2006/main">
            <a:r>
              <a:rPr sz="1400"/>
              <a:t/>
            </a:r>
          </a:p>
          <a:p xmlns:a="http://schemas.openxmlformats.org/drawingml/2006/main">
            <a:r>
              <a:rPr sz="1400"/>
              <a:t>Uitleg: Bereken eerst 60²=3600. Pas daarna maal 0,10. De constante kosten 90 tellen mee. Bij q=0 is TO 0 en TK 90: winst−90.270&gt;−90, dus produceren is beter.</a:t>
            </a:r>
          </a:p>
          <a:p xmlns:a="http://schemas.openxmlformats.org/drawingml/2006/main">
            <a:r>
              <a:rPr sz="1400"/>
              <a:t/>
            </a:r>
          </a:p>
          <a:p xmlns:a="http://schemas.openxmlformats.org/drawingml/2006/main">
            <a:r>
              <a:rPr sz="1400"/>
              <a:t>Misvatting: Het snijpunt levert de hoeveelheid, niet het totale winstbedrag.</a:t>
            </a:r>
          </a:p>
          <a:p xmlns:a="http://schemas.openxmlformats.org/drawingml/2006/main">
            <a:r>
              <a:rPr sz="1400"/>
              <a:t/>
            </a:r>
          </a:p>
          <a:p xmlns:a="http://schemas.openxmlformats.org/drawingml/2006/main">
            <a:r>
              <a:rPr sz="1400"/>
              <a:t>Overgang: Verdeel de totale kosten over de gekozen hoeveelheid.</a:t>
            </a:r>
          </a:p>
          <a:p xmlns:a="http://schemas.openxmlformats.org/drawingml/2006/main">
            <a:r>
              <a:rPr sz="1400"/>
              <a:t/>
            </a:r>
          </a:p>
          <a:p xmlns:a="http://schemas.openxmlformats.org/drawingml/2006/main">
            <a:r>
              <a:rPr sz="1400"/>
              <a:t>Bron: Boek 3 v3, gedrukte volledige-boekpagina 71–72.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q moet je GTK aflezen?</a:t>
            </a:r>
          </a:p>
          <a:p xmlns:a="http://schemas.openxmlformats.org/drawingml/2006/main">
            <a:r>
              <a:rPr sz="1400"/>
              <a:t/>
            </a:r>
          </a:p>
          <a:p xmlns:a="http://schemas.openxmlformats.org/drawingml/2006/main">
            <a:r>
              <a:rPr sz="1400"/>
              <a:t>Uitleg: Voeg GTK toe nadat q is gekozen. De GTK-curve volgt 0,10q+3+90/q en is alleen bij q&gt;0 gedefinieerd. Wijs GTK bij 60 aan. Het minimum ligt bij 30, maar daar is MO nog groter dan MK. Dat minimum kiest dus niet de winstmaximale q.</a:t>
            </a:r>
          </a:p>
          <a:p xmlns:a="http://schemas.openxmlformats.org/drawingml/2006/main">
            <a:r>
              <a:rPr sz="1400"/>
              <a:t/>
            </a:r>
          </a:p>
          <a:p xmlns:a="http://schemas.openxmlformats.org/drawingml/2006/main">
            <a:r>
              <a:rPr sz="1400"/>
              <a:t>Misvatting: Gebruik niet automatisch het laagste punt van GTK.</a:t>
            </a:r>
          </a:p>
          <a:p xmlns:a="http://schemas.openxmlformats.org/drawingml/2006/main">
            <a:r>
              <a:rPr sz="1400"/>
              <a:t/>
            </a:r>
          </a:p>
          <a:p xmlns:a="http://schemas.openxmlformats.org/drawingml/2006/main">
            <a:r>
              <a:rPr sz="1400"/>
              <a:t>Overgang: Maak van winst per kg de totale weekwinst.</a:t>
            </a:r>
          </a:p>
          <a:p xmlns:a="http://schemas.openxmlformats.org/drawingml/2006/main">
            <a:r>
              <a:rPr sz="1400"/>
              <a:t/>
            </a:r>
          </a:p>
          <a:p xmlns:a="http://schemas.openxmlformats.org/drawingml/2006/main">
            <a:r>
              <a:rPr sz="1400"/>
              <a:t>Bron: Boek 3 v3, gedrukte volledige-boekpagina 71.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hoogte niet 15 euro?</a:t>
            </a:r>
          </a:p>
          <a:p xmlns:a="http://schemas.openxmlformats.org/drawingml/2006/main">
            <a:r>
              <a:rPr sz="1400"/>
              <a:t/>
            </a:r>
          </a:p>
          <a:p xmlns:a="http://schemas.openxmlformats.org/drawingml/2006/main">
            <a:r>
              <a:rPr sz="1400"/>
              <a:t>Uitleg: De arcering loopt horizontaal van 0 tot 60 en verticaal van 10,50 tot 15. Hoogte=prijs min GTK bij 60. kg/week maal euro/kg wordt euro/week. In Boek 2 stonden TO en TK als totalen verticaal: winst was een afstand. Hier staan bedragen per kg verticaal: winst is een oppervlakte. GTK bij q=0 is niet gedefinieerd; de horizontale ondergrens gebruikt GTK(60), niet GTK(0).</a:t>
            </a:r>
          </a:p>
          <a:p xmlns:a="http://schemas.openxmlformats.org/drawingml/2006/main">
            <a:r>
              <a:rPr sz="1400"/>
              <a:t/>
            </a:r>
          </a:p>
          <a:p xmlns:a="http://schemas.openxmlformats.org/drawingml/2006/main">
            <a:r>
              <a:rPr sz="1400"/>
              <a:t>Misvatting: De hele omzetrechthoek is groter dan de winstrechthoek.</a:t>
            </a:r>
          </a:p>
          <a:p xmlns:a="http://schemas.openxmlformats.org/drawingml/2006/main">
            <a:r>
              <a:rPr sz="1400"/>
              <a:t/>
            </a:r>
          </a:p>
          <a:p xmlns:a="http://schemas.openxmlformats.org/drawingml/2006/main">
            <a:r>
              <a:rPr sz="1400"/>
              <a:t>Overgang: Bekijk wat een lagere capaciteit met de keuze doet.</a:t>
            </a:r>
          </a:p>
          <a:p xmlns:a="http://schemas.openxmlformats.org/drawingml/2006/main">
            <a:r>
              <a:rPr sz="1400"/>
              <a:t/>
            </a:r>
          </a:p>
          <a:p xmlns:a="http://schemas.openxmlformats.org/drawingml/2006/main">
            <a:r>
              <a:rPr sz="1400"/>
              <a:t>Bron: Boek 3 v3, gedrukte volledige-boekpagina 71.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capaciteit hier de beste keuze?</a:t>
            </a:r>
          </a:p>
          <a:p xmlns:a="http://schemas.openxmlformats.org/drawingml/2006/main">
            <a:r>
              <a:rPr sz="1400"/>
              <a:t/>
            </a:r>
          </a:p>
          <a:p xmlns:a="http://schemas.openxmlformats.org/drawingml/2006/main">
            <a:r>
              <a:rPr sz="1400"/>
              <a:t>Uitleg: Alleen capaciteit verandert van 90 naar 45. Voor alle haalbare q blijft MK lager dan MO, dus de winst stijgt tot de grens. Het maximum ligt nu bij 45. Nulproductie levert−90; bij 45 TO 675, TK 427,50 en winst 247,50. De grafiek toont de oorspronkelijke modelcurve ter vergelijking; rechts van 45 is nu onhaalbaar.</a:t>
            </a:r>
          </a:p>
          <a:p xmlns:a="http://schemas.openxmlformats.org/drawingml/2006/main">
            <a:r>
              <a:rPr sz="1400"/>
              <a:t/>
            </a:r>
          </a:p>
          <a:p xmlns:a="http://schemas.openxmlformats.org/drawingml/2006/main">
            <a:r>
              <a:rPr sz="1400"/>
              <a:t>Misvatting: Een capaciteitsgrens is niet altijd optimaal: bewijs eerst dat winst tot de grens stijgt.</a:t>
            </a:r>
          </a:p>
          <a:p xmlns:a="http://schemas.openxmlformats.org/drawingml/2006/main">
            <a:r>
              <a:rPr sz="1400"/>
              <a:t/>
            </a:r>
          </a:p>
          <a:p xmlns:a="http://schemas.openxmlformats.org/drawingml/2006/main">
            <a:r>
              <a:rPr sz="1400"/>
              <a:t>Overgang: Herstel capaciteit 90 en bekijk een andere soort verandering.</a:t>
            </a:r>
          </a:p>
          <a:p xmlns:a="http://schemas.openxmlformats.org/drawingml/2006/main">
            <a:r>
              <a:rPr sz="1400"/>
              <a:t/>
            </a:r>
          </a:p>
          <a:p xmlns:a="http://schemas.openxmlformats.org/drawingml/2006/main">
            <a:r>
              <a:rPr sz="1400"/>
              <a:t>Bron: Boek 3 v3, gedrukte volledige-boekpagina 70,72,76.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blijft q gelijk terwijl winst daalt?</a:t>
            </a:r>
          </a:p>
          <a:p xmlns:a="http://schemas.openxmlformats.org/drawingml/2006/main">
            <a:r>
              <a:rPr sz="1400"/>
              <a:t/>
            </a:r>
          </a:p>
          <a:p xmlns:a="http://schemas.openxmlformats.org/drawingml/2006/main">
            <a:r>
              <a:rPr sz="1400"/>
              <a:t>Uitleg: Scenario reset: oorspronkelijke capaciteit 90 en P15. Alleen c stijgt 90 naar 150. De marginale vergelijking verandert niet. Bij 60 is TO 900 en TK 690, winst 210. Ook deze constante kosten zijn deze week onvermijdbaar. Vergelijk met q0:−150, dus 60 blijft beter.</a:t>
            </a:r>
          </a:p>
          <a:p xmlns:a="http://schemas.openxmlformats.org/drawingml/2006/main">
            <a:r>
              <a:rPr sz="1400"/>
              <a:t/>
            </a:r>
          </a:p>
          <a:p xmlns:a="http://schemas.openxmlformats.org/drawingml/2006/main">
            <a:r>
              <a:rPr sz="1400"/>
              <a:t>Misvatting: Hogere totale kosten betekenen niet automatisch hogere marginale kosten. Deze conclusie geldt voor deze week en aannames.</a:t>
            </a:r>
          </a:p>
          <a:p xmlns:a="http://schemas.openxmlformats.org/drawingml/2006/main">
            <a:r>
              <a:rPr sz="1400"/>
              <a:t/>
            </a:r>
          </a:p>
          <a:p xmlns:a="http://schemas.openxmlformats.org/drawingml/2006/main">
            <a:r>
              <a:rPr sz="1400"/>
              <a:t>Overgang: Herstel de oorspronkelijke kosten en verander alleen de prijs.</a:t>
            </a:r>
          </a:p>
          <a:p xmlns:a="http://schemas.openxmlformats.org/drawingml/2006/main">
            <a:r>
              <a:rPr sz="1400"/>
              <a:t/>
            </a:r>
          </a:p>
          <a:p xmlns:a="http://schemas.openxmlformats.org/drawingml/2006/main">
            <a:r>
              <a:rPr sz="1400"/>
              <a:t>Bron: Boek 3 v3, gedrukte volledige-boekpagina 63–64,70–72.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leidt deze verandering wel tot een andere q?</a:t>
            </a:r>
          </a:p>
          <a:p xmlns:a="http://schemas.openxmlformats.org/drawingml/2006/main">
            <a:r>
              <a:rPr sz="1400"/>
              <a:t/>
            </a:r>
          </a:p>
          <a:p xmlns:a="http://schemas.openxmlformats.org/drawingml/2006/main">
            <a:r>
              <a:rPr sz="1400"/>
              <a:t>Uitleg: Alleen P verandert naar 17. De kostenfunctie en MK blijven hetzelfde. Bij q60 is MK 15, nu lager dan MO 17, zodat uitbreiden nog winst toevoegt. Vergelijk links/rechts 70: MK(65)=16 en MK(75)=18. Capaciteit 90 is ruim genoeg. Als daarnaast alleen de onvermijdbare constante kosten veranderen, blijft deze marginale q70.</a:t>
            </a:r>
          </a:p>
          <a:p xmlns:a="http://schemas.openxmlformats.org/drawingml/2006/main">
            <a:r>
              <a:rPr sz="1400"/>
              <a:t/>
            </a:r>
          </a:p>
          <a:p xmlns:a="http://schemas.openxmlformats.org/drawingml/2006/main">
            <a:r>
              <a:rPr sz="1400"/>
              <a:t>Misvatting: De marktprijs is gegeven, de onderneming verhoogt haar eigen prijs niet zelfstandig.</a:t>
            </a:r>
          </a:p>
          <a:p xmlns:a="http://schemas.openxmlformats.org/drawingml/2006/main">
            <a:r>
              <a:rPr sz="1400"/>
              <a:t/>
            </a:r>
          </a:p>
          <a:p xmlns:a="http://schemas.openxmlformats.org/drawingml/2006/main">
            <a:r>
              <a:rPr sz="1400"/>
              <a:t>Overgang: Laat leerlingen kort de juiste werkwijze verwoorden.</a:t>
            </a:r>
          </a:p>
          <a:p xmlns:a="http://schemas.openxmlformats.org/drawingml/2006/main">
            <a:r>
              <a:rPr sz="1400"/>
              <a:t/>
            </a:r>
          </a:p>
          <a:p xmlns:a="http://schemas.openxmlformats.org/drawingml/2006/main">
            <a:r>
              <a:rPr sz="1400"/>
              <a:t>Bron: Boek 3 v3, gedrukte volledige-boekpagina 70–72; toepassing ter voorbereiding op24.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en data van Vezelwerk zijn voor deze les gemaakt. De bronpagina onderbouwt de methode, niet deze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kun je de beste q niet alleen uit GTK aflezen?</a:t>
            </a:r>
          </a:p>
          <a:p xmlns:a="http://schemas.openxmlformats.org/drawingml/2006/main">
            <a:r>
              <a:rPr sz="1400"/>
              <a:t/>
            </a:r>
          </a:p>
          <a:p xmlns:a="http://schemas.openxmlformats.org/drawingml/2006/main">
            <a:r>
              <a:rPr sz="1400"/>
              <a:t>Uitleg: Laat leerlingen eerst zelf antwoorden. Onjuist: eerst q kiezen via de marginale vergelijking en haalbaarheid, daarna GTK bij die q voor het winstbedrag. In Vezelwerk ligt minimum GTK bij 30, daar MK 9&lt;MO 15. Bij 60 ligt de grootste winst. Noem capaciteit, beide kanten van het snijpunt en vergelijking met nulproductie. Laat daarna start 21 opnieuw verklaren zonder het te behandelen als eerdere beheersing.</a:t>
            </a:r>
          </a:p>
          <a:p xmlns:a="http://schemas.openxmlformats.org/drawingml/2006/main">
            <a:r>
              <a:rPr sz="1400"/>
              <a:t/>
            </a:r>
          </a:p>
          <a:p xmlns:a="http://schemas.openxmlformats.org/drawingml/2006/main">
            <a:r>
              <a:rPr sz="1400"/>
              <a:t>Misvatting: Een mooi winstbedrag is geen bewijs van een maximum.</a:t>
            </a:r>
          </a:p>
          <a:p xmlns:a="http://schemas.openxmlformats.org/drawingml/2006/main">
            <a:r>
              <a:rPr sz="1400"/>
              <a:t/>
            </a:r>
          </a:p>
          <a:p xmlns:a="http://schemas.openxmlformats.org/drawingml/2006/main">
            <a:r>
              <a:rPr sz="1400"/>
              <a:t>Overgang: Keer terug naar de overzichtsdia en begeleid eerst 22–24.</a:t>
            </a:r>
          </a:p>
          <a:p xmlns:a="http://schemas.openxmlformats.org/drawingml/2006/main">
            <a:r>
              <a:rPr sz="1400"/>
              <a:t/>
            </a:r>
          </a:p>
          <a:p xmlns:a="http://schemas.openxmlformats.org/drawingml/2006/main">
            <a:r>
              <a:rPr sz="1400"/>
              <a:t>Bron: Boek 3 v3, gedrukte volledige-boekpagina 70–72.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bij welke stap gebruik je de theorie?</a:t>
            </a:r>
          </a:p>
          <a:p xmlns:a="http://schemas.openxmlformats.org/drawingml/2006/main">
            <a:r>
              <a:rPr sz="1400"/>
              <a:t/>
            </a:r>
          </a:p>
          <a:p xmlns:a="http://schemas.openxmlformats.org/drawingml/2006/main">
            <a:r>
              <a:rPr sz="1400"/>
              <a:t>Uitleg: Laat deze dia staan tijdens zelfstandig werken. Start 20–21 op p73. Basis 22 op p73, 23–24 op p74; zelfstandig 25 op p75 en 26 op p76; doel 27 op p77. Huiswerk 22,23,24,25,26,27 maken en nakijken. Bonus 28 en herhaling 29–30 zijn extra. Opgave 20 haalt TO, GTK, winst en interval-MK op. Opgave 21 vraagt een nieuwe keuze-redenering: laat leerlingen de theorie op p69–70 lezen, het verschil MO–MK gebruiken en hun twijfel opschrijven. Geen toets van al beheerste stof. Keer vóór basiswerk terug naar 21: laat beide situaties opnieuw verklaren na de uitleg. Zo nodig extra begeleiding vóór 22. Docenteninformatie adviseert voorlopig twee lessen van 55 minuten, zonder gemeten tijdsfit. Plan een passende pauze na basiswerk; laat het huiswerk de route afronden.</a:t>
            </a:r>
          </a:p>
          <a:p xmlns:a="http://schemas.openxmlformats.org/drawingml/2006/main">
            <a:r>
              <a:rPr sz="1400"/>
              <a:t/>
            </a:r>
          </a:p>
          <a:p xmlns:a="http://schemas.openxmlformats.org/drawingml/2006/main">
            <a:r>
              <a:rPr sz="1400"/>
              <a:t>Misvatting: Het hoofdstukpaginanummer 21 is complete-boekpagina 73. Opgave 21 is verkenning.</a:t>
            </a:r>
          </a:p>
          <a:p xmlns:a="http://schemas.openxmlformats.org/drawingml/2006/main">
            <a:r>
              <a:rPr sz="1400"/>
              <a:t/>
            </a:r>
          </a:p>
          <a:p xmlns:a="http://schemas.openxmlformats.org/drawingml/2006/main">
            <a:r>
              <a:rPr sz="1400"/>
              <a:t>Overgang: Volg de volgende lesfase; houd tijd voor begeleide inoefening.</a:t>
            </a:r>
          </a:p>
          <a:p xmlns:a="http://schemas.openxmlformats.org/drawingml/2006/main">
            <a:r>
              <a:rPr sz="1400"/>
              <a:t/>
            </a:r>
          </a:p>
          <a:p xmlns:a="http://schemas.openxmlformats.org/drawingml/2006/main">
            <a:r>
              <a:rPr sz="1400"/>
              <a:t>Bron: Boek 3 v3, gedrukte volledige-boekpagina 69–77.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gaan over één kg en welke over een hele week?</a:t>
            </a:r>
          </a:p>
          <a:p xmlns:a="http://schemas.openxmlformats.org/drawingml/2006/main">
            <a:r>
              <a:rPr sz="1400"/>
              <a:t/>
            </a:r>
          </a:p>
          <a:p xmlns:a="http://schemas.openxmlformats.org/drawingml/2006/main">
            <a:r>
              <a:rPr sz="1400"/>
              <a:t>Uitleg: Start de bespreking na de eigen poging. Dit zijn de volledige oorspronkelijke context en gegevens. De volgende dia toont de gegeven grafiek en daarna volgen alle vragen zonder antwoorden.</a:t>
            </a:r>
          </a:p>
          <a:p xmlns:a="http://schemas.openxmlformats.org/drawingml/2006/main">
            <a:r>
              <a:rPr sz="1400"/>
              <a:t/>
            </a:r>
          </a:p>
          <a:p xmlns:a="http://schemas.openxmlformats.org/drawingml/2006/main">
            <a:r>
              <a:rPr sz="1400"/>
              <a:t>Misvatting: De 400 is ook verschuldigd bij niet produceren.</a:t>
            </a:r>
          </a:p>
          <a:p xmlns:a="http://schemas.openxmlformats.org/drawingml/2006/main">
            <a:r>
              <a:rPr sz="1400"/>
              <a:t/>
            </a:r>
          </a:p>
          <a:p xmlns:a="http://schemas.openxmlformats.org/drawingml/2006/main">
            <a:r>
              <a:rPr sz="1400"/>
              <a:t>Overgang: Toon de oningevulde ondernemingsgrafiek.</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zou je straks een gekozen q markeren?</a:t>
            </a:r>
          </a:p>
          <a:p xmlns:a="http://schemas.openxmlformats.org/drawingml/2006/main">
            <a:r>
              <a:rPr sz="1400"/>
              <a:t/>
            </a:r>
          </a:p>
          <a:p xmlns:a="http://schemas.openxmlformats.org/drawingml/2006/main">
            <a:r>
              <a:rPr sz="1400"/>
              <a:t>Uitleg: Native reconstructie van figuur 8 in de bron, dezelfde functies, domein 0–200 en y-as 0–24. Nog geen gekozen hoeveelheid, q-markering of winstvlak onthullen. De lijnen bevatten dezelfde informatie als de gegeven figuur.</a:t>
            </a:r>
          </a:p>
          <a:p xmlns:a="http://schemas.openxmlformats.org/drawingml/2006/main">
            <a:r>
              <a:rPr sz="1400"/>
              <a:t/>
            </a:r>
          </a:p>
          <a:p xmlns:a="http://schemas.openxmlformats.org/drawingml/2006/main">
            <a:r>
              <a:rPr sz="1400"/>
              <a:t>Misvatting: Lees de eenheid eerst, geef nog geen uitkomst weg.</a:t>
            </a:r>
          </a:p>
          <a:p xmlns:a="http://schemas.openxmlformats.org/drawingml/2006/main">
            <a:r>
              <a:rPr sz="1400"/>
              <a:t/>
            </a:r>
          </a:p>
          <a:p xmlns:a="http://schemas.openxmlformats.org/drawingml/2006/main">
            <a:r>
              <a:rPr sz="1400"/>
              <a:t>Overgang: Toon eerst alle zes deelvragen.</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bewijslast zit in het woord onderbouw?</a:t>
            </a:r>
          </a:p>
          <a:p xmlns:a="http://schemas.openxmlformats.org/drawingml/2006/main">
            <a:r>
              <a:rPr sz="1400"/>
              <a:t/>
            </a:r>
          </a:p>
          <a:p xmlns:a="http://schemas.openxmlformats.org/drawingml/2006/main">
            <a:r>
              <a:rPr sz="1400"/>
              <a:t>Uitleg: Lees de daadwerkelijke vragen. Geef hier geen oplossingsstappen of eindgetallen. Bij b horen keuze, haalbaarheid en onderbouwing links/rechts.</a:t>
            </a:r>
          </a:p>
          <a:p xmlns:a="http://schemas.openxmlformats.org/drawingml/2006/main">
            <a:r>
              <a:rPr sz="1400"/>
              <a:t/>
            </a:r>
          </a:p>
          <a:p xmlns:a="http://schemas.openxmlformats.org/drawingml/2006/main">
            <a:r>
              <a:rPr sz="1400"/>
              <a:t>Misvatting: Alleen MO=MK opschrijven beantwoordt b niet volledig.</a:t>
            </a:r>
          </a:p>
          <a:p xmlns:a="http://schemas.openxmlformats.org/drawingml/2006/main">
            <a:r>
              <a:rPr sz="1400"/>
              <a:t/>
            </a:r>
          </a:p>
          <a:p xmlns:a="http://schemas.openxmlformats.org/drawingml/2006/main">
            <a:r>
              <a:rPr sz="1400"/>
              <a:t>Overgang: Toon ook d, e en f voordat de bespreking begint.</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verandert er in f, en wat blijft gelijk?</a:t>
            </a:r>
          </a:p>
          <a:p xmlns:a="http://schemas.openxmlformats.org/drawingml/2006/main">
            <a:r>
              <a:rPr sz="1400"/>
              <a:t/>
            </a:r>
          </a:p>
          <a:p xmlns:a="http://schemas.openxmlformats.org/drawingml/2006/main">
            <a:r>
              <a:rPr sz="1400"/>
              <a:t>Uitleg: Hiermee zijn alle zes oorspronkelijke deelvragen beschikbaar. Wacht met oplossingen tot leerlingen hun poging erbij hebben. Deelvraag f vraagt geen nieuwe winstberekening.</a:t>
            </a:r>
          </a:p>
          <a:p xmlns:a="http://schemas.openxmlformats.org/drawingml/2006/main">
            <a:r>
              <a:rPr sz="1400"/>
              <a:t/>
            </a:r>
          </a:p>
          <a:p xmlns:a="http://schemas.openxmlformats.org/drawingml/2006/main">
            <a:r>
              <a:rPr sz="1400"/>
              <a:t>Misvatting: De storing verandert alleen de grens, niet de kostenfunctie.</a:t>
            </a:r>
          </a:p>
          <a:p xmlns:a="http://schemas.openxmlformats.org/drawingml/2006/main">
            <a:r>
              <a:rPr sz="1400"/>
              <a:t/>
            </a:r>
          </a:p>
          <a:p xmlns:a="http://schemas.openxmlformats.org/drawingml/2006/main">
            <a:r>
              <a:rPr sz="1400"/>
              <a:t>Overgang: Begin nu de uitwerking met MK.</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400 niet in MK?</a:t>
            </a:r>
          </a:p>
          <a:p xmlns:a="http://schemas.openxmlformats.org/drawingml/2006/main">
            <a:r>
              <a:rPr sz="1400"/>
              <a:t/>
            </a:r>
          </a:p>
          <a:p xmlns:a="http://schemas.openxmlformats.org/drawingml/2006/main">
            <a:r>
              <a:rPr sz="1400"/>
              <a:t>Uitleg: Volledig antwoord a: differentieer elke term. De afgeleide geeft de kostenstijging per extra kg in het doorlopende model. De 400 blijft in TK.</a:t>
            </a:r>
          </a:p>
          <a:p xmlns:a="http://schemas.openxmlformats.org/drawingml/2006/main">
            <a:r>
              <a:rPr sz="1400"/>
              <a:t/>
            </a:r>
          </a:p>
          <a:p xmlns:a="http://schemas.openxmlformats.org/drawingml/2006/main">
            <a:r>
              <a:rPr sz="1400"/>
              <a:t>Misvatting: Constante kosten verdwijnen niet uit de totale winstberekening.</a:t>
            </a:r>
          </a:p>
          <a:p xmlns:a="http://schemas.openxmlformats.org/drawingml/2006/main">
            <a:r>
              <a:rPr sz="1400"/>
              <a:t/>
            </a:r>
          </a:p>
          <a:p xmlns:a="http://schemas.openxmlformats.org/drawingml/2006/main">
            <a:r>
              <a:rPr sz="1400"/>
              <a:t>Overgang: Gebruik MO 16 om de kandidaat te vinden.</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vergelijking alleen nog niet voldoende?</a:t>
            </a:r>
          </a:p>
          <a:p xmlns:a="http://schemas.openxmlformats.org/drawingml/2006/main">
            <a:r>
              <a:rPr sz="1400"/>
              <a:t/>
            </a:r>
          </a:p>
          <a:p xmlns:a="http://schemas.openxmlformats.org/drawingml/2006/main">
            <a:r>
              <a:rPr sz="1400"/>
              <a:t>Uitleg: Los stap voor stap op en geef de eenheid. Capaciteitscontrole 150≤200. Dit is nog niet de volledige onderbouwing: bekijk de MK-waarden links en rechts op de volgende dia.</a:t>
            </a:r>
          </a:p>
          <a:p xmlns:a="http://schemas.openxmlformats.org/drawingml/2006/main">
            <a:r>
              <a:rPr sz="1400"/>
              <a:t/>
            </a:r>
          </a:p>
          <a:p xmlns:a="http://schemas.openxmlformats.org/drawingml/2006/main">
            <a:r>
              <a:rPr sz="1400"/>
              <a:t>Misvatting: Een onhaalbaar snijpunt mag geen productieadvies worden.</a:t>
            </a:r>
          </a:p>
          <a:p xmlns:a="http://schemas.openxmlformats.org/drawingml/2006/main">
            <a:r>
              <a:rPr sz="1400"/>
              <a:t/>
            </a:r>
          </a:p>
          <a:p xmlns:a="http://schemas.openxmlformats.org/drawingml/2006/main">
            <a:r>
              <a:rPr sz="1400"/>
              <a:t>Overgang: Controleer de verandering van winst aan beide kanten.</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MO&gt;MK voor de verandering van winst?</a:t>
            </a:r>
          </a:p>
          <a:p xmlns:a="http://schemas.openxmlformats.org/drawingml/2006/main">
            <a:r>
              <a:rPr sz="1400"/>
              <a:t/>
            </a:r>
          </a:p>
          <a:p xmlns:a="http://schemas.openxmlformats.org/drawingml/2006/main">
            <a:r>
              <a:rPr sz="1400"/>
              <a:t>Uitleg: MK(125)=0,08×125+4=14; MK(175)=18. MK stijgt door MO heen. Links levert kleine uitbreiding meer op dan zij kost. Rechts verlaagt verdere uitbreiding de winst. Samen met de capaciteit onderbouwt dit de keuze 150.</a:t>
            </a:r>
          </a:p>
          <a:p xmlns:a="http://schemas.openxmlformats.org/drawingml/2006/main">
            <a:r>
              <a:rPr sz="1400"/>
              <a:t/>
            </a:r>
          </a:p>
          <a:p xmlns:a="http://schemas.openxmlformats.org/drawingml/2006/main">
            <a:r>
              <a:rPr sz="1400"/>
              <a:t>Misvatting: Het snijpunt is geen winstbedrag en geen minimum van GTK.</a:t>
            </a:r>
          </a:p>
          <a:p xmlns:a="http://schemas.openxmlformats.org/drawingml/2006/main">
            <a:r>
              <a:rPr sz="1400"/>
              <a:t/>
            </a:r>
          </a:p>
          <a:p xmlns:a="http://schemas.openxmlformats.org/drawingml/2006/main">
            <a:r>
              <a:rPr sz="1400"/>
              <a:t>Overgang: Bereken de totalen bij 150.</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 de 400 erbij, terwijl die niet in MK stond?</a:t>
            </a:r>
          </a:p>
          <a:p xmlns:a="http://schemas.openxmlformats.org/drawingml/2006/main">
            <a:r>
              <a:rPr sz="1400"/>
              <a:t/>
            </a:r>
          </a:p>
          <a:p xmlns:a="http://schemas.openxmlformats.org/drawingml/2006/main">
            <a:r>
              <a:rPr sz="1400"/>
              <a:t>Uitleg: Eerst 150²=22500; maal 0,04=900. Dan 600 en 400 optellen. Geen kosten vergeten. TO en TK horen bij dezelfde productie en periode.</a:t>
            </a:r>
          </a:p>
          <a:p xmlns:a="http://schemas.openxmlformats.org/drawingml/2006/main">
            <a:r>
              <a:rPr sz="1400"/>
              <a:t/>
            </a:r>
          </a:p>
          <a:p xmlns:a="http://schemas.openxmlformats.org/drawingml/2006/main">
            <a:r>
              <a:rPr sz="1400"/>
              <a:t>Misvatting: 0,04×150² is niet (0,04×150)².</a:t>
            </a:r>
          </a:p>
          <a:p xmlns:a="http://schemas.openxmlformats.org/drawingml/2006/main">
            <a:r>
              <a:rPr sz="1400"/>
              <a:t/>
            </a:r>
          </a:p>
          <a:p xmlns:a="http://schemas.openxmlformats.org/drawingml/2006/main">
            <a:r>
              <a:rPr sz="1400"/>
              <a:t>Overgang: Bereken GTK bij dezelfde 150.</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waarde gebruik je voor de onderkant van de winstrechthoek?</a:t>
            </a:r>
          </a:p>
          <a:p xmlns:a="http://schemas.openxmlformats.org/drawingml/2006/main">
            <a:r>
              <a:rPr sz="1400"/>
              <a:t/>
            </a:r>
          </a:p>
          <a:p xmlns:a="http://schemas.openxmlformats.org/drawingml/2006/main">
            <a:r>
              <a:rPr sz="1400"/>
              <a:t>Uitleg: Gebruik 1900/150 exact. Winst per kg=10/3. Afgerond GTK 12,67 mag voor rapportage, maar 500 krijg je exact via ongeronde waarden of TO−TK.</a:t>
            </a:r>
          </a:p>
          <a:p xmlns:a="http://schemas.openxmlformats.org/drawingml/2006/main">
            <a:r>
              <a:rPr sz="1400"/>
              <a:t/>
            </a:r>
          </a:p>
          <a:p xmlns:a="http://schemas.openxmlformats.org/drawingml/2006/main">
            <a:r>
              <a:rPr sz="1400"/>
              <a:t>Misvatting: GTK bij het minimum van de curve is niet GTK bij 150.</a:t>
            </a:r>
          </a:p>
          <a:p xmlns:a="http://schemas.openxmlformats.org/drawingml/2006/main">
            <a:r>
              <a:rPr sz="1400"/>
              <a:t/>
            </a:r>
          </a:p>
          <a:p xmlns:a="http://schemas.openxmlformats.org/drawingml/2006/main">
            <a:r>
              <a:rPr sz="1400"/>
              <a:t>Overgang: Markeer 150 en arceer de rechthoek.</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loopt de arcering niet vanaf nul euro?</a:t>
            </a:r>
          </a:p>
          <a:p xmlns:a="http://schemas.openxmlformats.org/drawingml/2006/main">
            <a:r>
              <a:rPr sz="1400"/>
              <a:t/>
            </a:r>
          </a:p>
          <a:p xmlns:a="http://schemas.openxmlformats.org/drawingml/2006/main">
            <a:r>
              <a:rPr sz="1400"/>
              <a:t>Uitleg: Volledige grafische beantwoording d. Markering op 150. Arcering van 0 tot 150 en van 1900/150 tot 16. GTK bij 150 bepaalt de ondergrens. Oppervlakte 500 euro/week. De breedte is hoeveelheid per week; de hoogte winst per kg.</a:t>
            </a:r>
          </a:p>
          <a:p xmlns:a="http://schemas.openxmlformats.org/drawingml/2006/main">
            <a:r>
              <a:rPr sz="1400"/>
              <a:t/>
            </a:r>
          </a:p>
          <a:p xmlns:a="http://schemas.openxmlformats.org/drawingml/2006/main">
            <a:r>
              <a:rPr sz="1400"/>
              <a:t>Misvatting: Opbrengst is niet hetzelfde als winst.</a:t>
            </a:r>
          </a:p>
          <a:p xmlns:a="http://schemas.openxmlformats.org/drawingml/2006/main">
            <a:r>
              <a:rPr sz="1400"/>
              <a:t/>
            </a:r>
          </a:p>
          <a:p xmlns:a="http://schemas.openxmlformats.org/drawingml/2006/main">
            <a:r>
              <a:rPr sz="1400"/>
              <a:t>Overgang: Vergelijk vervolgens met niet produceren.</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verdwijnen wel en welke blijven bij q=0?</a:t>
            </a:r>
          </a:p>
          <a:p xmlns:a="http://schemas.openxmlformats.org/drawingml/2006/main">
            <a:r>
              <a:rPr sz="1400"/>
              <a:t/>
            </a:r>
          </a:p>
          <a:p xmlns:a="http://schemas.openxmlformats.org/drawingml/2006/main">
            <a:r>
              <a:rPr sz="1400"/>
              <a:t>Uitleg: Bij 0 is TO 0; TK 400 omdat deze kosten deze week onvermijdbaar zijn. Winst−400. De keuze 150 is 900 euro gunstiger, maar de winst zelf is 500. Beperk het oordeel tot deze week.</a:t>
            </a:r>
          </a:p>
          <a:p xmlns:a="http://schemas.openxmlformats.org/drawingml/2006/main">
            <a:r>
              <a:rPr sz="1400"/>
              <a:t/>
            </a:r>
          </a:p>
          <a:p xmlns:a="http://schemas.openxmlformats.org/drawingml/2006/main">
            <a:r>
              <a:rPr sz="1400"/>
              <a:t>Misvatting: Niet produceren betekent hier niet dat alle kosten nul worden.</a:t>
            </a:r>
          </a:p>
          <a:p xmlns:a="http://schemas.openxmlformats.org/drawingml/2006/main">
            <a:r>
              <a:rPr sz="1400"/>
              <a:t/>
            </a:r>
          </a:p>
          <a:p xmlns:a="http://schemas.openxmlformats.org/drawingml/2006/main">
            <a:r>
              <a:rPr sz="1400"/>
              <a:t>Overgang: Verander nu alleen de capaciteit.</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kies je 120 hoewel MO daar niet gelijk is aan MK?</a:t>
            </a:r>
          </a:p>
          <a:p xmlns:a="http://schemas.openxmlformats.org/drawingml/2006/main">
            <a:r>
              <a:rPr sz="1400"/>
              <a:t/>
            </a:r>
          </a:p>
          <a:p xmlns:a="http://schemas.openxmlformats.org/drawingml/2006/main">
            <a:r>
              <a:rPr sz="1400"/>
              <a:t>Uitleg: Kosten en prijs blijven gelijk. Tot 120 blijft MO 16 boven de stijgende MK. De winst stijgt op het hele haalbare domein en bereikt het maximum bij 120. Het onhaalbare snijpunt 150 blijft alleen als vergelijking in beeld. Geen nieuwe winstberekening vereist.</a:t>
            </a:r>
          </a:p>
          <a:p xmlns:a="http://schemas.openxmlformats.org/drawingml/2006/main">
            <a:r>
              <a:rPr sz="1400"/>
              <a:t/>
            </a:r>
          </a:p>
          <a:p xmlns:a="http://schemas.openxmlformats.org/drawingml/2006/main">
            <a:r>
              <a:rPr sz="1400"/>
              <a:t>Misvatting: Een maximum kan op een grens liggen. MO=MK is geen noodzakelijke voorwaarde voor een grensmaximum.</a:t>
            </a:r>
          </a:p>
          <a:p xmlns:a="http://schemas.openxmlformats.org/drawingml/2006/main">
            <a:r>
              <a:rPr sz="1400"/>
              <a:t/>
            </a:r>
          </a:p>
          <a:p xmlns:a="http://schemas.openxmlformats.org/drawingml/2006/main">
            <a:r>
              <a:rPr sz="1400"/>
              <a:t>Overgang: Laat leerlingen ontbrekende redeneringen verbeteren en zet het huiswerk in de agenda.</a:t>
            </a:r>
          </a:p>
          <a:p xmlns:a="http://schemas.openxmlformats.org/drawingml/2006/main">
            <a:r>
              <a:rPr sz="1400"/>
              <a:t/>
            </a:r>
          </a:p>
          <a:p xmlns:a="http://schemas.openxmlformats.org/drawingml/2006/main">
            <a:r>
              <a:rPr sz="1400"/>
              <a:t>Bron: Boek 3 v3, gedrukte volledige-boekpagina 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kun je al, en bij welke stap gebruik je de theorie?</a:t>
            </a:r>
          </a:p>
          <a:p xmlns:a="http://schemas.openxmlformats.org/drawingml/2006/main">
            <a:r>
              <a:rPr sz="1400"/>
              <a:t/>
            </a:r>
          </a:p>
          <a:p xmlns:a="http://schemas.openxmlformats.org/drawingml/2006/main">
            <a:r>
              <a:rPr sz="1400"/>
              <a:t>Uitleg: Laat deze dia staan tijdens afsluiting / huiswerk. Start 20–21 op p73. Basis 22 op p73, 23–24 op p74; zelfstandig 25 op p75 en 26 op p76; doel 27 op p77. Huiswerk 22,23,24,25,26,27 maken en nakijken. Bonus 28 en herhaling 29–30 zijn extra. Opgave 20 haalt TO, GTK, winst en interval-MK op. Opgave 21 vraagt een nieuwe keuze-redenering: laat leerlingen de theorie op p69–70 lezen, het verschil MO–MK gebruiken en hun twijfel opschrijven. Geen toets van al beheerste stof. Keer vóór basiswerk terug naar 21: laat beide situaties opnieuw verklaren na de uitleg. Zo nodig extra begeleiding vóór 22. Docenteninformatie adviseert voorlopig twee lessen van 55 minuten, zonder gemeten tijdsfit. Plan een passende pauze na basiswerk; laat het huiswerk de route afronden.</a:t>
            </a:r>
          </a:p>
          <a:p xmlns:a="http://schemas.openxmlformats.org/drawingml/2006/main">
            <a:r>
              <a:rPr sz="1400"/>
              <a:t/>
            </a:r>
          </a:p>
          <a:p xmlns:a="http://schemas.openxmlformats.org/drawingml/2006/main">
            <a:r>
              <a:rPr sz="1400"/>
              <a:t>Misvatting: Het hoofdstukpaginanummer 21 is complete-boekpagina 73. Opgave 21 is verkenning.</a:t>
            </a:r>
          </a:p>
          <a:p xmlns:a="http://schemas.openxmlformats.org/drawingml/2006/main">
            <a:r>
              <a:rPr sz="1400"/>
              <a:t/>
            </a:r>
          </a:p>
          <a:p xmlns:a="http://schemas.openxmlformats.org/drawingml/2006/main">
            <a:r>
              <a:rPr sz="1400"/>
              <a:t>Overgang: Laat het volledige huiswerk in de agenda zetten.</a:t>
            </a:r>
          </a:p>
          <a:p xmlns:a="http://schemas.openxmlformats.org/drawingml/2006/main">
            <a:r>
              <a:rPr sz="1400"/>
              <a:t/>
            </a:r>
          </a:p>
          <a:p xmlns:a="http://schemas.openxmlformats.org/drawingml/2006/main">
            <a:r>
              <a:rPr sz="1400"/>
              <a:t>Bron: Boek 3 v3, gedrukte volledige-boekpagina 69–77. https://github.com/meijer1973/4veco-lessen/blob/9b8304d5031cafac936a56281e144573a25fbbc9/edities/books34-v3/books/book-3/output/Boek_3_Compleet_v3.pdf</a:t>
            </a:r>
          </a:p>
          <a:p xmlns:a="http://schemas.openxmlformats.org/drawingml/2006/main">
            <a:r>
              <a:rPr sz="1400"/>
              <a:t>Brontekst: https://github.com/meijer1973/4veco-lessen/blob/9b8304d5031cafac936a56281e144573a25fbbc9/edities/books34-v3/books/book-3/chapters/3.2/3.2.3%20manuscript.md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9fcf82879b4e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150762589c417a" /><Relationship Type="http://schemas.openxmlformats.org/officeDocument/2006/relationships/slideLayout" Target="/ppt/slideLayouts/slideLayout1.xml" Id="R15011767e04b42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011767e04b42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f67293d7ea4c38" /><Relationship Type="http://schemas.openxmlformats.org/officeDocument/2006/relationships/notesSlide" Target="/ppt/notesSlides/notesSlide1.xml" Id="R5a248ec295364f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b971b84dac4e05" /><Relationship Type="http://schemas.openxmlformats.org/officeDocument/2006/relationships/notesSlide" Target="/ppt/notesSlides/notesSlide2.xml" Id="R45ae0a4017f747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19122861d248c3" /><Relationship Type="http://schemas.openxmlformats.org/officeDocument/2006/relationships/notesSlide" Target="/ppt/notesSlides/notesSlide3.xml" Id="Rc52727638c9c46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135b8c3d3840f2" /><Relationship Type="http://schemas.openxmlformats.org/officeDocument/2006/relationships/chart" Target="/ppt/slides/charts/chart1.xml" Id="Ra1041347b0b547f7" /><Relationship Type="http://schemas.openxmlformats.org/officeDocument/2006/relationships/notesSlide" Target="/ppt/notesSlides/notesSlide4.xml" Id="R496b098bf67d46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7f64f8428042b2" /><Relationship Type="http://schemas.openxmlformats.org/officeDocument/2006/relationships/chart" Target="/ppt/slides/charts/chart2.xml" Id="Rc348865fd1e24aba" /><Relationship Type="http://schemas.openxmlformats.org/officeDocument/2006/relationships/notesSlide" Target="/ppt/notesSlides/notesSlide5.xml" Id="Rbb4e08b4cf2646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959019a61545f7" /><Relationship Type="http://schemas.openxmlformats.org/officeDocument/2006/relationships/notesSlide" Target="/ppt/notesSlides/notesSlide6.xml" Id="Rc81c068dd6864a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0e8b608c4c4e49" /><Relationship Type="http://schemas.openxmlformats.org/officeDocument/2006/relationships/notesSlide" Target="/ppt/notesSlides/notesSlide7.xml" Id="Rc5c137daddfb4c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34426fedc44eca" /><Relationship Type="http://schemas.openxmlformats.org/officeDocument/2006/relationships/chart" Target="/ppt/slides/charts/chart3.xml" Id="Rccf751d98bfc4df0" /><Relationship Type="http://schemas.openxmlformats.org/officeDocument/2006/relationships/notesSlide" Target="/ppt/notesSlides/notesSlide8.xml" Id="R81fb7f7c71124d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322fc0d1a24ab6" /><Relationship Type="http://schemas.openxmlformats.org/officeDocument/2006/relationships/chart" Target="/ppt/slides/charts/chart4.xml" Id="Rd1863ccb033647a9" /><Relationship Type="http://schemas.openxmlformats.org/officeDocument/2006/relationships/notesSlide" Target="/ppt/notesSlides/notesSlide9.xml" Id="Rd6f92fa216bd4b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f48e549b7f466f" /><Relationship Type="http://schemas.openxmlformats.org/officeDocument/2006/relationships/chart" Target="/ppt/slides/charts/chart5.xml" Id="Rc8cb9156b6ab4513" /><Relationship Type="http://schemas.openxmlformats.org/officeDocument/2006/relationships/notesSlide" Target="/ppt/notesSlides/notesSlide10.xml" Id="R50e86868b53a49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8d0044aca844b5" /><Relationship Type="http://schemas.openxmlformats.org/officeDocument/2006/relationships/notesSlide" Target="/ppt/notesSlides/notesSlide11.xml" Id="Rb71654c600b649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48908454fb4201" /><Relationship Type="http://schemas.openxmlformats.org/officeDocument/2006/relationships/notesSlide" Target="/ppt/notesSlides/notesSlide12.xml" Id="Re0e3495fa83c4c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b4371baee74b15" /><Relationship Type="http://schemas.openxmlformats.org/officeDocument/2006/relationships/notesSlide" Target="/ppt/notesSlides/notesSlide13.xml" Id="R932053902f854d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e21888af21a418b" /><Relationship Type="http://schemas.openxmlformats.org/officeDocument/2006/relationships/notesSlide" Target="/ppt/notesSlides/notesSlide14.xml" Id="R32cf488e939e49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60f7a301674d72" /><Relationship Type="http://schemas.openxmlformats.org/officeDocument/2006/relationships/notesSlide" Target="/ppt/notesSlides/notesSlide15.xml" Id="R795204512df048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867279bfc248f5" /><Relationship Type="http://schemas.openxmlformats.org/officeDocument/2006/relationships/chart" Target="/ppt/slides/charts/chart6.xml" Id="Ra9b8970dc32348ef" /><Relationship Type="http://schemas.openxmlformats.org/officeDocument/2006/relationships/notesSlide" Target="/ppt/notesSlides/notesSlide16.xml" Id="Rb86af617931846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8df0230b6a4dda" /><Relationship Type="http://schemas.openxmlformats.org/officeDocument/2006/relationships/notesSlide" Target="/ppt/notesSlides/notesSlide17.xml" Id="R897c2db573a64e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65d435874ce451b" /><Relationship Type="http://schemas.openxmlformats.org/officeDocument/2006/relationships/notesSlide" Target="/ppt/notesSlides/notesSlide18.xml" Id="R6b39fa0cafe94f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7273c633eed4e1f" /><Relationship Type="http://schemas.openxmlformats.org/officeDocument/2006/relationships/notesSlide" Target="/ppt/notesSlides/notesSlide19.xml" Id="R4cd6025657ab45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7b01c7343d348e0" /><Relationship Type="http://schemas.openxmlformats.org/officeDocument/2006/relationships/notesSlide" Target="/ppt/notesSlides/notesSlide20.xml" Id="R8c984c166a2f454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308e0189b3f449c" /><Relationship Type="http://schemas.openxmlformats.org/officeDocument/2006/relationships/chart" Target="/ppt/slides/charts/chart7.xml" Id="R073ba6fc3a174144" /><Relationship Type="http://schemas.openxmlformats.org/officeDocument/2006/relationships/notesSlide" Target="/ppt/notesSlides/notesSlide21.xml" Id="R67ff1bb98fb548f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4cb7a5ea6ea41e0" /><Relationship Type="http://schemas.openxmlformats.org/officeDocument/2006/relationships/notesSlide" Target="/ppt/notesSlides/notesSlide22.xml" Id="Rcf7e5e4afd674c0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64fa6f4bfc04d4a" /><Relationship Type="http://schemas.openxmlformats.org/officeDocument/2006/relationships/notesSlide" Target="/ppt/notesSlides/notesSlide23.xml" Id="R1b77dae09a92470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6902ec6547a40d0" /><Relationship Type="http://schemas.openxmlformats.org/officeDocument/2006/relationships/chart" Target="/ppt/slides/charts/chart8.xml" Id="Rbb6f55ccb65d4628" /><Relationship Type="http://schemas.openxmlformats.org/officeDocument/2006/relationships/notesSlide" Target="/ppt/notesSlides/notesSlide24.xml" Id="Rc858002549ee4f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bf10aa508b4398" /><Relationship Type="http://schemas.openxmlformats.org/officeDocument/2006/relationships/notesSlide" Target="/ppt/notesSlides/notesSlide25.xml" Id="Rd5b413158ff64ed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f7e2e444618462a" /><Relationship Type="http://schemas.openxmlformats.org/officeDocument/2006/relationships/chart" Target="/ppt/slides/charts/chart9.xml" Id="R39fb800507d44176" /><Relationship Type="http://schemas.openxmlformats.org/officeDocument/2006/relationships/notesSlide" Target="/ppt/notesSlides/notesSlide26.xml" Id="Rec6b6aeae9c941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ca15ab9adda4c01" /><Relationship Type="http://schemas.openxmlformats.org/officeDocument/2006/relationships/notesSlide" Target="/ppt/notesSlides/notesSlide27.xml" Id="R53201119ae804e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16.2</c:v>
                </c:pt>
                <c:pt idx="2">
                  <c:v>90</c:v>
                </c:pt>
              </c:numCache>
            </c:numRef>
          </c:xVal>
          <c:yVal>
            <c:numRef>
              <c:f>'Chart Data'!$B$2:$B$4</c:f>
              <c:numCache>
                <c:formatCode>0</c:formatCode>
                <c:ptCount val="3"/>
                <c:pt idx="0">
                  <c:v>15</c:v>
                </c:pt>
                <c:pt idx="1">
                  <c:v>15</c:v>
                </c:pt>
                <c:pt idx="2">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16.2</c:v>
                </c:pt>
                <c:pt idx="2">
                  <c:v>90</c:v>
                </c:pt>
              </c:numCache>
            </c:numRef>
          </c:xVal>
          <c:yVal>
            <c:numRef>
              <c:f>'Chart Data'!$B$2:$B$4</c:f>
              <c:numCache>
                <c:formatCode>0</c:formatCode>
                <c:ptCount val="3"/>
                <c:pt idx="0">
                  <c:v>15</c:v>
                </c:pt>
                <c:pt idx="1">
                  <c:v>15</c:v>
                </c:pt>
                <c:pt idx="2">
                  <c:v>15</c:v>
                </c:pt>
              </c:numCache>
            </c:numRef>
          </c:yVal>
          <c:smooth val="0"/>
        </c:ser>
        <c:ser>
          <c:idx val="1"/>
          <c:order val="1"/>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73.8</c:v>
                </c:pt>
                <c:pt idx="2">
                  <c:v>90</c:v>
                </c:pt>
              </c:numCache>
            </c:numRef>
          </c:xVal>
          <c:yVal>
            <c:numRef>
              <c:f>'Chart Data'!$D$2:$D$4</c:f>
              <c:numCache>
                <c:formatCode>0</c:formatCode>
                <c:ptCount val="3"/>
                <c:pt idx="0">
                  <c:v>3</c:v>
                </c:pt>
                <c:pt idx="1">
                  <c:v>17.76</c:v>
                </c:pt>
                <c:pt idx="2">
                  <c:v>21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45</c:v>
                </c:pt>
                <c:pt idx="2">
                  <c:v>90</c:v>
                </c:pt>
              </c:numCache>
            </c:numRef>
          </c:xVal>
          <c:yVal>
            <c:numRef>
              <c:f>'Chart Data'!$B$2:$B$4</c:f>
              <c:numCache>
                <c:formatCode>0</c:formatCode>
                <c:ptCount val="3"/>
                <c:pt idx="0">
                  <c:v>15</c:v>
                </c:pt>
                <c:pt idx="1">
                  <c:v>15</c:v>
                </c:pt>
                <c:pt idx="2">
                  <c:v>15</c:v>
                </c:pt>
              </c:numCache>
            </c:numRef>
          </c:yVal>
          <c:smooth val="0"/>
        </c:ser>
        <c:ser>
          <c:idx val="1"/>
          <c:order val="1"/>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73.8</c:v>
                </c:pt>
                <c:pt idx="2">
                  <c:v>90</c:v>
                </c:pt>
              </c:numCache>
            </c:numRef>
          </c:xVal>
          <c:yVal>
            <c:numRef>
              <c:f>'Chart Data'!$D$2:$D$4</c:f>
              <c:numCache>
                <c:formatCode>0</c:formatCode>
                <c:ptCount val="3"/>
                <c:pt idx="0">
                  <c:v>3</c:v>
                </c:pt>
                <c:pt idx="1">
                  <c:v>17.76</c:v>
                </c:pt>
                <c:pt idx="2">
                  <c:v>21</c:v>
                </c:pt>
              </c:numCache>
            </c:numRef>
          </c:yVal>
          <c:smooth val="0"/>
        </c:ser>
        <c:ser>
          <c:idx val="2"/>
          <c:order val="2"/>
          <c:tx>
            <c:v>GTK</c:v>
          </c:tx>
          <c:spPr>
            <a:ln xmlns:a="http://schemas.openxmlformats.org/drawingml/2006/main" w="38100">
              <a:solidFill>
                <a:srgbClr val="B14542"/>
              </a:solidFill>
            </a:ln>
          </c:spPr>
          <c:marker>
            <c:symbol val="none"/>
          </c:marker>
          <c:dLbls>
            <c:dLbl>
              <c:idx val="128"/>
              <c:tx>
                <c:rich>
                  <a:bodyPr xmlns:a="http://schemas.openxmlformats.org/drawingml/2006/main"/>
                  <a:lstStyle xmlns:a="http://schemas.openxmlformats.org/drawingml/2006/main"/>
                  <a:p xmlns:a="http://schemas.openxmlformats.org/drawingml/2006/main">
                    <a:r>
                      <a:rPr sz="1950" b="1">
                        <a:solidFill>
                          <a:srgbClr val="B14542"/>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1950" b="1">
                      <a:solidFill>
                        <a:srgbClr val="B14542"/>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Data'!$E$2:$E$144</c:f>
              <c:numCache>
                <c:formatCode>General</c:formatCode>
                <c:ptCount val="143"/>
                <c:pt idx="0">
                  <c:v>4.3769410125</c:v>
                </c:pt>
                <c:pt idx="1">
                  <c:v>4.988534291</c:v>
                </c:pt>
                <c:pt idx="2">
                  <c:v>5.6001275695</c:v>
                </c:pt>
                <c:pt idx="3">
                  <c:v>6.211720848</c:v>
                </c:pt>
                <c:pt idx="4">
                  <c:v>6.8233141264</c:v>
                </c:pt>
                <c:pt idx="5">
                  <c:v>7.4349074049</c:v>
                </c:pt>
                <c:pt idx="6">
                  <c:v>8.0465006834</c:v>
                </c:pt>
                <c:pt idx="7">
                  <c:v>8.6580939619</c:v>
                </c:pt>
                <c:pt idx="8">
                  <c:v>9.2696872404</c:v>
                </c:pt>
                <c:pt idx="9">
                  <c:v>9.8812805188</c:v>
                </c:pt>
                <c:pt idx="10">
                  <c:v>10.4928737973</c:v>
                </c:pt>
                <c:pt idx="11">
                  <c:v>11.1044670758</c:v>
                </c:pt>
                <c:pt idx="12">
                  <c:v>11.7160603543</c:v>
                </c:pt>
                <c:pt idx="13">
                  <c:v>12.3276536328</c:v>
                </c:pt>
                <c:pt idx="14">
                  <c:v>12.9392469113</c:v>
                </c:pt>
                <c:pt idx="15">
                  <c:v>13.5508401897</c:v>
                </c:pt>
                <c:pt idx="16">
                  <c:v>14.1624334682</c:v>
                </c:pt>
                <c:pt idx="17">
                  <c:v>14.7740267467</c:v>
                </c:pt>
                <c:pt idx="18">
                  <c:v>15.3856200252</c:v>
                </c:pt>
                <c:pt idx="19">
                  <c:v>15.9972133037</c:v>
                </c:pt>
                <c:pt idx="20">
                  <c:v>16.6088065822</c:v>
                </c:pt>
                <c:pt idx="21">
                  <c:v>17.2203998606</c:v>
                </c:pt>
                <c:pt idx="22">
                  <c:v>17.8319931391</c:v>
                </c:pt>
                <c:pt idx="23">
                  <c:v>18.4435864176</c:v>
                </c:pt>
                <c:pt idx="24">
                  <c:v>19.0551796961</c:v>
                </c:pt>
                <c:pt idx="25">
                  <c:v>19.6667729746</c:v>
                </c:pt>
                <c:pt idx="26">
                  <c:v>20.278366253</c:v>
                </c:pt>
                <c:pt idx="27">
                  <c:v>20.8899595315</c:v>
                </c:pt>
                <c:pt idx="28">
                  <c:v>21.50155281</c:v>
                </c:pt>
                <c:pt idx="29">
                  <c:v>22.1131460885</c:v>
                </c:pt>
                <c:pt idx="30">
                  <c:v>22.724739367</c:v>
                </c:pt>
                <c:pt idx="31">
                  <c:v>23.3363326455</c:v>
                </c:pt>
                <c:pt idx="32">
                  <c:v>23.9479259239</c:v>
                </c:pt>
                <c:pt idx="33">
                  <c:v>24.5595192024</c:v>
                </c:pt>
                <c:pt idx="34">
                  <c:v>25.1711124809</c:v>
                </c:pt>
                <c:pt idx="35">
                  <c:v>25.7827057594</c:v>
                </c:pt>
                <c:pt idx="36">
                  <c:v>26.3942990379</c:v>
                </c:pt>
                <c:pt idx="37">
                  <c:v>27.0058923163</c:v>
                </c:pt>
                <c:pt idx="38">
                  <c:v>27.6174855948</c:v>
                </c:pt>
                <c:pt idx="39">
                  <c:v>28.2290788733</c:v>
                </c:pt>
                <c:pt idx="40">
                  <c:v>28.8406721518</c:v>
                </c:pt>
                <c:pt idx="41">
                  <c:v>29.4522654303</c:v>
                </c:pt>
                <c:pt idx="42">
                  <c:v>30</c:v>
                </c:pt>
                <c:pt idx="43">
                  <c:v>30.0638587088</c:v>
                </c:pt>
                <c:pt idx="44">
                  <c:v>30.6754519872</c:v>
                </c:pt>
                <c:pt idx="45">
                  <c:v>31.2870452657</c:v>
                </c:pt>
                <c:pt idx="46">
                  <c:v>31.8986385442</c:v>
                </c:pt>
                <c:pt idx="47">
                  <c:v>32.5102318227</c:v>
                </c:pt>
                <c:pt idx="48">
                  <c:v>33.1218251012</c:v>
                </c:pt>
                <c:pt idx="49">
                  <c:v>33.7334183796</c:v>
                </c:pt>
                <c:pt idx="50">
                  <c:v>34.3450116581</c:v>
                </c:pt>
                <c:pt idx="51">
                  <c:v>34.9566049366</c:v>
                </c:pt>
                <c:pt idx="52">
                  <c:v>35.5681982151</c:v>
                </c:pt>
                <c:pt idx="53">
                  <c:v>36.1797914936</c:v>
                </c:pt>
                <c:pt idx="54">
                  <c:v>36.7913847721</c:v>
                </c:pt>
                <c:pt idx="55">
                  <c:v>37.4029780505</c:v>
                </c:pt>
                <c:pt idx="56">
                  <c:v>38.014571329</c:v>
                </c:pt>
                <c:pt idx="57">
                  <c:v>38.6261646075</c:v>
                </c:pt>
                <c:pt idx="58">
                  <c:v>39.237757886</c:v>
                </c:pt>
                <c:pt idx="59">
                  <c:v>39.8493511645</c:v>
                </c:pt>
                <c:pt idx="60">
                  <c:v>40.460944443</c:v>
                </c:pt>
                <c:pt idx="61">
                  <c:v>41.0725377214</c:v>
                </c:pt>
                <c:pt idx="62">
                  <c:v>41.6841309999</c:v>
                </c:pt>
                <c:pt idx="63">
                  <c:v>42.2957242784</c:v>
                </c:pt>
                <c:pt idx="64">
                  <c:v>42.9073175569</c:v>
                </c:pt>
                <c:pt idx="65">
                  <c:v>43.5189108354</c:v>
                </c:pt>
                <c:pt idx="66">
                  <c:v>44.1305041138</c:v>
                </c:pt>
                <c:pt idx="67">
                  <c:v>44.7420973923</c:v>
                </c:pt>
                <c:pt idx="68">
                  <c:v>45.3536906708</c:v>
                </c:pt>
                <c:pt idx="69">
                  <c:v>45.9652839493</c:v>
                </c:pt>
                <c:pt idx="70">
                  <c:v>46.5768772278</c:v>
                </c:pt>
                <c:pt idx="71">
                  <c:v>47.1884705063</c:v>
                </c:pt>
                <c:pt idx="72">
                  <c:v>47.8000637847</c:v>
                </c:pt>
                <c:pt idx="73">
                  <c:v>48.4116570632</c:v>
                </c:pt>
                <c:pt idx="74">
                  <c:v>49.0232503417</c:v>
                </c:pt>
                <c:pt idx="75">
                  <c:v>49.6348436202</c:v>
                </c:pt>
                <c:pt idx="76">
                  <c:v>50.2464368987</c:v>
                </c:pt>
                <c:pt idx="77">
                  <c:v>50.8580301771</c:v>
                </c:pt>
                <c:pt idx="78">
                  <c:v>51.4696234556</c:v>
                </c:pt>
                <c:pt idx="79">
                  <c:v>52.0812167341</c:v>
                </c:pt>
                <c:pt idx="80">
                  <c:v>52.6928100126</c:v>
                </c:pt>
                <c:pt idx="81">
                  <c:v>53.3044032911</c:v>
                </c:pt>
                <c:pt idx="82">
                  <c:v>53.9159965696</c:v>
                </c:pt>
                <c:pt idx="83">
                  <c:v>54.527589848</c:v>
                </c:pt>
                <c:pt idx="84">
                  <c:v>55.1391831265</c:v>
                </c:pt>
                <c:pt idx="85">
                  <c:v>55.750776405</c:v>
                </c:pt>
                <c:pt idx="86">
                  <c:v>56.3623696835</c:v>
                </c:pt>
                <c:pt idx="87">
                  <c:v>56.973962962</c:v>
                </c:pt>
                <c:pt idx="88">
                  <c:v>57.5855562405</c:v>
                </c:pt>
                <c:pt idx="89">
                  <c:v>58.1971495189</c:v>
                </c:pt>
                <c:pt idx="90">
                  <c:v>58.8087427974</c:v>
                </c:pt>
                <c:pt idx="91">
                  <c:v>59.4203360759</c:v>
                </c:pt>
                <c:pt idx="92">
                  <c:v>60</c:v>
                </c:pt>
                <c:pt idx="93">
                  <c:v>60.0319293544</c:v>
                </c:pt>
                <c:pt idx="94">
                  <c:v>60.6435226329</c:v>
                </c:pt>
                <c:pt idx="95">
                  <c:v>61.2551159113</c:v>
                </c:pt>
                <c:pt idx="96">
                  <c:v>61.8667091898</c:v>
                </c:pt>
                <c:pt idx="97">
                  <c:v>62.4783024683</c:v>
                </c:pt>
                <c:pt idx="98">
                  <c:v>63.0898957468</c:v>
                </c:pt>
                <c:pt idx="99">
                  <c:v>63.7014890253</c:v>
                </c:pt>
                <c:pt idx="100">
                  <c:v>64.3130823038</c:v>
                </c:pt>
                <c:pt idx="101">
                  <c:v>64.9246755822</c:v>
                </c:pt>
                <c:pt idx="102">
                  <c:v>65.5362688607</c:v>
                </c:pt>
                <c:pt idx="103">
                  <c:v>66.1478621392</c:v>
                </c:pt>
                <c:pt idx="104">
                  <c:v>66.7594554177</c:v>
                </c:pt>
                <c:pt idx="105">
                  <c:v>67.3710486962</c:v>
                </c:pt>
                <c:pt idx="106">
                  <c:v>67.9826419746</c:v>
                </c:pt>
                <c:pt idx="107">
                  <c:v>68.5942352531</c:v>
                </c:pt>
                <c:pt idx="108">
                  <c:v>69.2058285316</c:v>
                </c:pt>
                <c:pt idx="109">
                  <c:v>69.8174218101</c:v>
                </c:pt>
                <c:pt idx="110">
                  <c:v>70.4290150886</c:v>
                </c:pt>
                <c:pt idx="111">
                  <c:v>71.0406083671</c:v>
                </c:pt>
                <c:pt idx="112">
                  <c:v>71.6522016455</c:v>
                </c:pt>
                <c:pt idx="113">
                  <c:v>72.263794924</c:v>
                </c:pt>
                <c:pt idx="114">
                  <c:v>72.8753882025</c:v>
                </c:pt>
                <c:pt idx="115">
                  <c:v>73.486981481</c:v>
                </c:pt>
                <c:pt idx="116">
                  <c:v>74.0985747595</c:v>
                </c:pt>
                <c:pt idx="117">
                  <c:v>74.7101680379</c:v>
                </c:pt>
                <c:pt idx="118">
                  <c:v>75.3217613164</c:v>
                </c:pt>
                <c:pt idx="119">
                  <c:v>75.9333545949</c:v>
                </c:pt>
                <c:pt idx="120">
                  <c:v>76.5449478734</c:v>
                </c:pt>
                <c:pt idx="121">
                  <c:v>77.1565411519</c:v>
                </c:pt>
                <c:pt idx="122">
                  <c:v>77.7681344304</c:v>
                </c:pt>
                <c:pt idx="123">
                  <c:v>78.3797277088</c:v>
                </c:pt>
                <c:pt idx="124">
                  <c:v>78.9913209873</c:v>
                </c:pt>
                <c:pt idx="125">
                  <c:v>79.6029142658</c:v>
                </c:pt>
                <c:pt idx="126">
                  <c:v>80.2145075443</c:v>
                </c:pt>
                <c:pt idx="127">
                  <c:v>80.8261008228</c:v>
                </c:pt>
                <c:pt idx="128">
                  <c:v>81.4376941013</c:v>
                </c:pt>
                <c:pt idx="129">
                  <c:v>82.0492873797</c:v>
                </c:pt>
                <c:pt idx="130">
                  <c:v>82.6608806582</c:v>
                </c:pt>
                <c:pt idx="131">
                  <c:v>83.2724739367</c:v>
                </c:pt>
                <c:pt idx="132">
                  <c:v>83.8840672152</c:v>
                </c:pt>
                <c:pt idx="133">
                  <c:v>84.4956604937</c:v>
                </c:pt>
                <c:pt idx="134">
                  <c:v>85.1072537721</c:v>
                </c:pt>
                <c:pt idx="135">
                  <c:v>85.7188470506</c:v>
                </c:pt>
                <c:pt idx="136">
                  <c:v>86.3304403291</c:v>
                </c:pt>
                <c:pt idx="137">
                  <c:v>86.9420336076</c:v>
                </c:pt>
                <c:pt idx="138">
                  <c:v>87.5536268861</c:v>
                </c:pt>
                <c:pt idx="139">
                  <c:v>88.1652201646</c:v>
                </c:pt>
                <c:pt idx="140">
                  <c:v>88.776813443</c:v>
                </c:pt>
                <c:pt idx="141">
                  <c:v>89.3884067215</c:v>
                </c:pt>
                <c:pt idx="142">
                  <c:v>90</c:v>
                </c:pt>
              </c:numCache>
            </c:numRef>
          </c:xVal>
          <c:yVal>
            <c:numRef>
              <c:f>'Chart Data'!$F$2:$F$144</c:f>
              <c:numCache>
                <c:formatCode>0</c:formatCode>
                <c:ptCount val="143"/>
                <c:pt idx="0">
                  <c:v>24</c:v>
                </c:pt>
                <c:pt idx="1">
                  <c:v>21.5402248521</c:v>
                </c:pt>
                <c:pt idx="2">
                  <c:v>19.6310752253</c:v>
                </c:pt>
                <c:pt idx="3">
                  <c:v>18.1099107456</c:v>
                </c:pt>
                <c:pt idx="4">
                  <c:v>16.8724027376</c:v>
                </c:pt>
                <c:pt idx="5">
                  <c:v>15.8485507094</c:v>
                </c:pt>
                <c:pt idx="6">
                  <c:v>14.9896363799</c:v>
                </c:pt>
                <c:pt idx="7">
                  <c:v>14.2607069794</c:v>
                </c:pt>
                <c:pt idx="8">
                  <c:v>13.6360341613</c:v>
                </c:pt>
                <c:pt idx="9">
                  <c:v>13.0962593137</c:v>
                </c:pt>
                <c:pt idx="10">
                  <c:v>12.6265372103</c:v>
                </c:pt>
                <c:pt idx="11">
                  <c:v>12.2152931073</c:v>
                </c:pt>
                <c:pt idx="12">
                  <c:v>11.8533691263</c:v>
                </c:pt>
                <c:pt idx="13">
                  <c:v>11.5334247329</c:v>
                </c:pt>
                <c:pt idx="14">
                  <c:v>11.2495072391</c:v>
                </c:pt>
                <c:pt idx="15">
                  <c:v>10.9967386131</c:v>
                </c:pt>
                <c:pt idx="16">
                  <c:v>10.7710834385</c:v>
                </c:pt>
                <c:pt idx="17">
                  <c:v>10.569174508</c:v>
                </c:pt>
                <c:pt idx="18">
                  <c:v>10.3881800129</c:v>
                </c:pt>
                <c:pt idx="19">
                  <c:v>10.225701199</c:v>
                </c:pt>
                <c:pt idx="20">
                  <c:v>10.0796926333</c:v>
                </c:pt>
                <c:pt idx="21">
                  <c:v>9.9483994625</c:v>
                </c:pt>
                <c:pt idx="22">
                  <c:v>9.8303075815</c:v>
                </c:pt>
                <c:pt idx="23">
                  <c:v>9.7241037175</c:v>
                </c:pt>
                <c:pt idx="24">
                  <c:v>9.6286432004</c:v>
                </c:pt>
                <c:pt idx="25">
                  <c:v>9.5429237471</c:v>
                </c:pt>
                <c:pt idx="26">
                  <c:v>9.4660639892</c:v>
                </c:pt>
                <c:pt idx="27">
                  <c:v>9.3972857736</c:v>
                </c:pt>
                <c:pt idx="28">
                  <c:v>9.3358994826</c:v>
                </c:pt>
                <c:pt idx="29">
                  <c:v>9.2812917907</c:v>
                </c:pt>
                <c:pt idx="30">
                  <c:v>9.2329153986</c:v>
                </c:pt>
                <c:pt idx="31">
                  <c:v>9.1902803808</c:v>
                </c:pt>
                <c:pt idx="32">
                  <c:v>9.1529468595</c:v>
                </c:pt>
                <c:pt idx="33">
                  <c:v>9.1205187735</c:v>
                </c:pt>
                <c:pt idx="34">
                  <c:v>9.0926385542</c:v>
                </c:pt>
                <c:pt idx="35">
                  <c:v>9.0689825609</c:v>
                </c:pt>
                <c:pt idx="36">
                  <c:v>9.0492571498</c:v>
                </c:pt>
                <c:pt idx="37">
                  <c:v>9.0331952772</c:v>
                </c:pt>
                <c:pt idx="38">
                  <c:v>9.0205535543</c:v>
                </c:pt>
                <c:pt idx="39">
                  <c:v>9.0111096846</c:v>
                </c:pt>
                <c:pt idx="40">
                  <c:v>9.0046602279</c:v>
                </c:pt>
                <c:pt idx="41">
                  <c:v>9.001018642</c:v>
                </c:pt>
                <c:pt idx="42">
                  <c:v>9</c:v>
                </c:pt>
                <c:pt idx="43">
                  <c:v>9.0000135642</c:v>
                </c:pt>
                <c:pt idx="44">
                  <c:v>9.001487298</c:v>
                </c:pt>
                <c:pt idx="45">
                  <c:v>9.0052944773</c:v>
                </c:pt>
                <c:pt idx="46">
                  <c:v>9.0113008846</c:v>
                </c:pt>
                <c:pt idx="47">
                  <c:v>9.0193824019</c:v>
                </c:pt>
                <c:pt idx="48">
                  <c:v>9.0294240789</c:v>
                </c:pt>
                <c:pt idx="49">
                  <c:v>9.0413193014</c:v>
                </c:pt>
                <c:pt idx="50">
                  <c:v>9.0549690491</c:v>
                </c:pt>
                <c:pt idx="51">
                  <c:v>9.0702812317</c:v>
                </c:pt>
                <c:pt idx="52">
                  <c:v>9.0871700927</c:v>
                </c:pt>
                <c:pt idx="53">
                  <c:v>9.1055556744</c:v>
                </c:pt>
                <c:pt idx="54">
                  <c:v>9.1253633355</c:v>
                </c:pt>
                <c:pt idx="55">
                  <c:v>9.1465233168</c:v>
                </c:pt>
                <c:pt idx="56">
                  <c:v>9.1689703483</c:v>
                </c:pt>
                <c:pt idx="57">
                  <c:v>9.192643294</c:v>
                </c:pt>
                <c:pt idx="58">
                  <c:v>9.2174848293</c:v>
                </c:pt>
                <c:pt idx="59">
                  <c:v>9.243441149</c:v>
                </c:pt>
                <c:pt idx="60">
                  <c:v>9.2704617011</c:v>
                </c:pt>
                <c:pt idx="61">
                  <c:v>9.2984989445</c:v>
                </c:pt>
                <c:pt idx="62">
                  <c:v>9.3275081283</c:v>
                </c:pt>
                <c:pt idx="63">
                  <c:v>9.3574470898</c:v>
                </c:pt>
                <c:pt idx="64">
                  <c:v>9.3882760704</c:v>
                </c:pt>
                <c:pt idx="65">
                  <c:v>9.4199575464</c:v>
                </c:pt>
                <c:pt idx="66">
                  <c:v>9.4524560744</c:v>
                </c:pt>
                <c:pt idx="67">
                  <c:v>9.4857381486</c:v>
                </c:pt>
                <c:pt idx="68">
                  <c:v>9.5197720709</c:v>
                </c:pt>
                <c:pt idx="69">
                  <c:v>9.5545278299</c:v>
                </c:pt>
                <c:pt idx="70">
                  <c:v>9.5899769907</c:v>
                </c:pt>
                <c:pt idx="71">
                  <c:v>9.6260925925</c:v>
                </c:pt>
                <c:pt idx="72">
                  <c:v>9.6628490543</c:v>
                </c:pt>
                <c:pt idx="73">
                  <c:v>9.7002220878</c:v>
                </c:pt>
                <c:pt idx="74">
                  <c:v>9.7381886167</c:v>
                </c:pt>
                <c:pt idx="75">
                  <c:v>9.7767267022</c:v>
                </c:pt>
                <c:pt idx="76">
                  <c:v>9.8158154735</c:v>
                </c:pt>
                <c:pt idx="77">
                  <c:v>9.8554350638</c:v>
                </c:pt>
                <c:pt idx="78">
                  <c:v>9.8955665505</c:v>
                </c:pt>
                <c:pt idx="79">
                  <c:v>9.9361918999</c:v>
                </c:pt>
                <c:pt idx="80">
                  <c:v>9.9772939157</c:v>
                </c:pt>
                <c:pt idx="81">
                  <c:v>10.0188561905</c:v>
                </c:pt>
                <c:pt idx="82">
                  <c:v>10.0608630616</c:v>
                </c:pt>
                <c:pt idx="83">
                  <c:v>10.103299569</c:v>
                </c:pt>
                <c:pt idx="84">
                  <c:v>10.1461514162</c:v>
                </c:pt>
                <c:pt idx="85">
                  <c:v>10.1894049343</c:v>
                </c:pt>
                <c:pt idx="86">
                  <c:v>10.2330470476</c:v>
                </c:pt>
                <c:pt idx="87">
                  <c:v>10.2770652418</c:v>
                </c:pt>
                <c:pt idx="88">
                  <c:v>10.3214475344</c:v>
                </c:pt>
                <c:pt idx="89">
                  <c:v>10.3661824463</c:v>
                </c:pt>
                <c:pt idx="90">
                  <c:v>10.4112589763</c:v>
                </c:pt>
                <c:pt idx="91">
                  <c:v>10.4566665758</c:v>
                </c:pt>
                <c:pt idx="92">
                  <c:v>10.5</c:v>
                </c:pt>
                <c:pt idx="93">
                  <c:v>10.5023951261</c:v>
                </c:pt>
                <c:pt idx="94">
                  <c:v>10.548434917</c:v>
                </c:pt>
                <c:pt idx="95">
                  <c:v>10.5947766258</c:v>
                </c:pt>
                <c:pt idx="96">
                  <c:v>10.6414112984</c:v>
                </c:pt>
                <c:pt idx="97">
                  <c:v>10.6883303316</c:v>
                </c:pt>
                <c:pt idx="98">
                  <c:v>10.7355254555</c:v>
                </c:pt>
                <c:pt idx="99">
                  <c:v>10.782988718</c:v>
                </c:pt>
                <c:pt idx="100">
                  <c:v>10.8307124694</c:v>
                </c:pt>
                <c:pt idx="101">
                  <c:v>10.8786893482</c:v>
                </c:pt>
                <c:pt idx="102">
                  <c:v>10.9269122678</c:v>
                </c:pt>
                <c:pt idx="103">
                  <c:v>10.9753744036</c:v>
                </c:pt>
                <c:pt idx="104">
                  <c:v>11.0240691811</c:v>
                </c:pt>
                <c:pt idx="105">
                  <c:v>11.0729902646</c:v>
                </c:pt>
                <c:pt idx="106">
                  <c:v>11.1221315463</c:v>
                </c:pt>
                <c:pt idx="107">
                  <c:v>11.1714871363</c:v>
                </c:pt>
                <c:pt idx="108">
                  <c:v>11.2210513528</c:v>
                </c:pt>
                <c:pt idx="109">
                  <c:v>11.2708187133</c:v>
                </c:pt>
                <c:pt idx="110">
                  <c:v>11.3207839255</c:v>
                </c:pt>
                <c:pt idx="111">
                  <c:v>11.3709418794</c:v>
                </c:pt>
                <c:pt idx="112">
                  <c:v>11.4212876396</c:v>
                </c:pt>
                <c:pt idx="113">
                  <c:v>11.4718164376</c:v>
                </c:pt>
                <c:pt idx="114">
                  <c:v>11.5225236652</c:v>
                </c:pt>
                <c:pt idx="115">
                  <c:v>11.5734048674</c:v>
                </c:pt>
                <c:pt idx="116">
                  <c:v>11.6244557363</c:v>
                </c:pt>
                <c:pt idx="117">
                  <c:v>11.6756721053</c:v>
                </c:pt>
                <c:pt idx="118">
                  <c:v>11.7270499427</c:v>
                </c:pt>
                <c:pt idx="119">
                  <c:v>11.7785853471</c:v>
                </c:pt>
                <c:pt idx="120">
                  <c:v>11.8302745416</c:v>
                </c:pt>
                <c:pt idx="121">
                  <c:v>11.882113869</c:v>
                </c:pt>
                <c:pt idx="122">
                  <c:v>11.9340997874</c:v>
                </c:pt>
                <c:pt idx="123">
                  <c:v>11.986228865</c:v>
                </c:pt>
                <c:pt idx="124">
                  <c:v>12.0384977768</c:v>
                </c:pt>
                <c:pt idx="125">
                  <c:v>12.0909032997</c:v>
                </c:pt>
                <c:pt idx="126">
                  <c:v>12.1434423088</c:v>
                </c:pt>
                <c:pt idx="127">
                  <c:v>12.196111774</c:v>
                </c:pt>
                <c:pt idx="128">
                  <c:v>12.2489087561</c:v>
                </c:pt>
                <c:pt idx="129">
                  <c:v>12.3018304037</c:v>
                </c:pt>
                <c:pt idx="130">
                  <c:v>12.3548739496</c:v>
                </c:pt>
                <c:pt idx="131">
                  <c:v>12.4080367079</c:v>
                </c:pt>
                <c:pt idx="132">
                  <c:v>12.4613160711</c:v>
                </c:pt>
                <c:pt idx="133">
                  <c:v>12.5147095073</c:v>
                </c:pt>
                <c:pt idx="134">
                  <c:v>12.5682145572</c:v>
                </c:pt>
                <c:pt idx="135">
                  <c:v>12.6218288317</c:v>
                </c:pt>
                <c:pt idx="136">
                  <c:v>12.6755500094</c:v>
                </c:pt>
                <c:pt idx="137">
                  <c:v>12.7293758345</c:v>
                </c:pt>
                <c:pt idx="138">
                  <c:v>12.7833041138</c:v>
                </c:pt>
                <c:pt idx="139">
                  <c:v>12.8373327152</c:v>
                </c:pt>
                <c:pt idx="140">
                  <c:v>12.8914595653</c:v>
                </c:pt>
                <c:pt idx="141">
                  <c:v>12.9456826475</c:v>
                </c:pt>
                <c:pt idx="142">
                  <c:v>13</c:v>
                </c:pt>
              </c:numCache>
            </c:numRef>
          </c:yVal>
          <c:smooth val="0"/>
        </c:ser>
        <c:ser>
          <c:idx val="3"/>
          <c:order val="3"/>
          <c:tx>
            <c:v>gekozen q</c:v>
          </c:tx>
          <c:spPr>
            <a:ln xmlns:a="http://schemas.openxmlformats.org/drawingml/2006/main" w="19050">
              <a:solidFill>
                <a:srgbClr val="445B6B"/>
              </a:solidFill>
              <a:prstDash val="dash"/>
            </a:ln>
          </c:spPr>
          <c:marker>
            <c:symbol val="none"/>
          </c:marker>
          <c:xVal>
            <c:numRef>
              <c:f>'Chart Data'!$G$2:$G$3</c:f>
              <c:numCache>
                <c:formatCode>General</c:formatCode>
                <c:ptCount val="2"/>
                <c:pt idx="0">
                  <c:v>60</c:v>
                </c:pt>
                <c:pt idx="1">
                  <c:v>60</c:v>
                </c:pt>
              </c:numCache>
            </c:numRef>
          </c:xVal>
          <c:yVal>
            <c:numRef>
              <c:f>'Chart Data'!$H$2:$H$3</c:f>
              <c:numCache>
                <c:formatCode>0</c:formatCode>
                <c:ptCount val="2"/>
                <c:pt idx="0">
                  <c:v>0</c:v>
                </c:pt>
                <c:pt idx="1">
                  <c:v>15</c:v>
                </c:pt>
              </c:numCache>
            </c:numRef>
          </c:yVal>
          <c:smooth val="0"/>
        </c:ser>
        <c:ser>
          <c:idx val="4"/>
          <c:order val="4"/>
          <c:tx>
            <c:v>q-label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 = 60</a:t>
                    </a:r>
                  </a:p>
                </c:rich>
              </c:tx>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l"/>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60</c:v>
                </c:pt>
              </c:numCache>
            </c:numRef>
          </c:xVal>
          <c:yVal>
            <c:numRef>
              <c:f>'Chart Data'!$J$2:$J$2</c:f>
              <c:numCache>
                <c:formatCode>0</c:formatCode>
                <c:ptCount val="1"/>
                <c:pt idx="0">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winstarcering</c:v>
          </c:tx>
          <c:spPr>
            <a:ln xmlns:a="http://schemas.openxmlformats.org/drawingml/2006/main" w="14288">
              <a:solidFill>
                <a:srgbClr val="C9DDD5"/>
              </a:solidFill>
            </a:ln>
          </c:spPr>
          <c:marker>
            <c:symbol val="none"/>
          </c:marker>
          <c:xVal>
            <c:numRef>
              <c:f>'Chart Data'!$A$2:$A$3</c:f>
              <c:numCache>
                <c:formatCode>General</c:formatCode>
                <c:ptCount val="2"/>
                <c:pt idx="0">
                  <c:v>0</c:v>
                </c:pt>
                <c:pt idx="1">
                  <c:v>5</c:v>
                </c:pt>
              </c:numCache>
            </c:numRef>
          </c:xVal>
          <c:yVal>
            <c:numRef>
              <c:f>'Chart Data'!$B$2:$B$3</c:f>
              <c:numCache>
                <c:formatCode>0</c:formatCode>
                <c:ptCount val="2"/>
                <c:pt idx="0">
                  <c:v>10.5</c:v>
                </c:pt>
                <c:pt idx="1">
                  <c:v>15</c:v>
                </c:pt>
              </c:numCache>
            </c:numRef>
          </c:yVal>
          <c:smooth val="0"/>
        </c:ser>
        <c:ser>
          <c:idx val="1"/>
          <c:order val="1"/>
          <c:tx>
            <c:v>winstarcering</c:v>
          </c:tx>
          <c:spPr>
            <a:ln xmlns:a="http://schemas.openxmlformats.org/drawingml/2006/main" w="14288">
              <a:solidFill>
                <a:srgbClr val="C9DDD5"/>
              </a:solidFill>
            </a:ln>
          </c:spPr>
          <c:marker>
            <c:symbol val="none"/>
          </c:marker>
          <c:xVal>
            <c:numRef>
              <c:f>'Chart Data'!$C$2:$C$3</c:f>
              <c:numCache>
                <c:formatCode>General</c:formatCode>
                <c:ptCount val="2"/>
                <c:pt idx="0">
                  <c:v>3.3333333333</c:v>
                </c:pt>
                <c:pt idx="1">
                  <c:v>8.3333333333</c:v>
                </c:pt>
              </c:numCache>
            </c:numRef>
          </c:xVal>
          <c:yVal>
            <c:numRef>
              <c:f>'Chart Data'!$D$2:$D$3</c:f>
              <c:numCache>
                <c:formatCode>0</c:formatCode>
                <c:ptCount val="2"/>
                <c:pt idx="0">
                  <c:v>10.5</c:v>
                </c:pt>
                <c:pt idx="1">
                  <c:v>15</c:v>
                </c:pt>
              </c:numCache>
            </c:numRef>
          </c:yVal>
          <c:smooth val="0"/>
        </c:ser>
        <c:ser>
          <c:idx val="2"/>
          <c:order val="2"/>
          <c:tx>
            <c:v>winstarcering</c:v>
          </c:tx>
          <c:spPr>
            <a:ln xmlns:a="http://schemas.openxmlformats.org/drawingml/2006/main" w="14288">
              <a:solidFill>
                <a:srgbClr val="C9DDD5"/>
              </a:solidFill>
            </a:ln>
          </c:spPr>
          <c:marker>
            <c:symbol val="none"/>
          </c:marker>
          <c:xVal>
            <c:numRef>
              <c:f>'Chart Data'!$E$2:$E$3</c:f>
              <c:numCache>
                <c:formatCode>General</c:formatCode>
                <c:ptCount val="2"/>
                <c:pt idx="0">
                  <c:v>6.6666666667</c:v>
                </c:pt>
                <c:pt idx="1">
                  <c:v>11.6666666667</c:v>
                </c:pt>
              </c:numCache>
            </c:numRef>
          </c:xVal>
          <c:yVal>
            <c:numRef>
              <c:f>'Chart Data'!$F$2:$F$3</c:f>
              <c:numCache>
                <c:formatCode>0</c:formatCode>
                <c:ptCount val="2"/>
                <c:pt idx="0">
                  <c:v>10.5</c:v>
                </c:pt>
                <c:pt idx="1">
                  <c:v>15</c:v>
                </c:pt>
              </c:numCache>
            </c:numRef>
          </c:yVal>
          <c:smooth val="0"/>
        </c:ser>
        <c:ser>
          <c:idx val="3"/>
          <c:order val="3"/>
          <c:tx>
            <c:v>winstarcering</c:v>
          </c:tx>
          <c:spPr>
            <a:ln xmlns:a="http://schemas.openxmlformats.org/drawingml/2006/main" w="14288">
              <a:solidFill>
                <a:srgbClr val="C9DDD5"/>
              </a:solidFill>
            </a:ln>
          </c:spPr>
          <c:marker>
            <c:symbol val="none"/>
          </c:marker>
          <c:xVal>
            <c:numRef>
              <c:f>'Chart Data'!$G$2:$G$3</c:f>
              <c:numCache>
                <c:formatCode>General</c:formatCode>
                <c:ptCount val="2"/>
                <c:pt idx="0">
                  <c:v>10</c:v>
                </c:pt>
                <c:pt idx="1">
                  <c:v>15</c:v>
                </c:pt>
              </c:numCache>
            </c:numRef>
          </c:xVal>
          <c:yVal>
            <c:numRef>
              <c:f>'Chart Data'!$H$2:$H$3</c:f>
              <c:numCache>
                <c:formatCode>0</c:formatCode>
                <c:ptCount val="2"/>
                <c:pt idx="0">
                  <c:v>10.5</c:v>
                </c:pt>
                <c:pt idx="1">
                  <c:v>15</c:v>
                </c:pt>
              </c:numCache>
            </c:numRef>
          </c:yVal>
          <c:smooth val="0"/>
        </c:ser>
        <c:ser>
          <c:idx val="4"/>
          <c:order val="4"/>
          <c:tx>
            <c:v>winstarcering</c:v>
          </c:tx>
          <c:spPr>
            <a:ln xmlns:a="http://schemas.openxmlformats.org/drawingml/2006/main" w="14288">
              <a:solidFill>
                <a:srgbClr val="C9DDD5"/>
              </a:solidFill>
            </a:ln>
          </c:spPr>
          <c:marker>
            <c:symbol val="none"/>
          </c:marker>
          <c:xVal>
            <c:numRef>
              <c:f>'Chart Data'!$I$2:$I$3</c:f>
              <c:numCache>
                <c:formatCode>General</c:formatCode>
                <c:ptCount val="2"/>
                <c:pt idx="0">
                  <c:v>13.3333333333</c:v>
                </c:pt>
                <c:pt idx="1">
                  <c:v>18.3333333333</c:v>
                </c:pt>
              </c:numCache>
            </c:numRef>
          </c:xVal>
          <c:yVal>
            <c:numRef>
              <c:f>'Chart Data'!$J$2:$J$3</c:f>
              <c:numCache>
                <c:formatCode>0</c:formatCode>
                <c:ptCount val="2"/>
                <c:pt idx="0">
                  <c:v>10.5</c:v>
                </c:pt>
                <c:pt idx="1">
                  <c:v>15</c:v>
                </c:pt>
              </c:numCache>
            </c:numRef>
          </c:yVal>
          <c:smooth val="0"/>
        </c:ser>
        <c:ser>
          <c:idx val="5"/>
          <c:order val="5"/>
          <c:tx>
            <c:v>winstarcering</c:v>
          </c:tx>
          <c:spPr>
            <a:ln xmlns:a="http://schemas.openxmlformats.org/drawingml/2006/main" w="14288">
              <a:solidFill>
                <a:srgbClr val="C9DDD5"/>
              </a:solidFill>
            </a:ln>
          </c:spPr>
          <c:marker>
            <c:symbol val="none"/>
          </c:marker>
          <c:xVal>
            <c:numRef>
              <c:f>'Chart Data'!$K$2:$K$3</c:f>
              <c:numCache>
                <c:formatCode>General</c:formatCode>
                <c:ptCount val="2"/>
                <c:pt idx="0">
                  <c:v>16.6666666667</c:v>
                </c:pt>
                <c:pt idx="1">
                  <c:v>21.6666666667</c:v>
                </c:pt>
              </c:numCache>
            </c:numRef>
          </c:xVal>
          <c:yVal>
            <c:numRef>
              <c:f>'Chart Data'!$L$2:$L$3</c:f>
              <c:numCache>
                <c:formatCode>0</c:formatCode>
                <c:ptCount val="2"/>
                <c:pt idx="0">
                  <c:v>10.5</c:v>
                </c:pt>
                <c:pt idx="1">
                  <c:v>15</c:v>
                </c:pt>
              </c:numCache>
            </c:numRef>
          </c:yVal>
          <c:smooth val="0"/>
        </c:ser>
        <c:ser>
          <c:idx val="6"/>
          <c:order val="6"/>
          <c:tx>
            <c:v>winstarcering</c:v>
          </c:tx>
          <c:spPr>
            <a:ln xmlns:a="http://schemas.openxmlformats.org/drawingml/2006/main" w="14288">
              <a:solidFill>
                <a:srgbClr val="C9DDD5"/>
              </a:solidFill>
            </a:ln>
          </c:spPr>
          <c:marker>
            <c:symbol val="none"/>
          </c:marker>
          <c:xVal>
            <c:numRef>
              <c:f>'Chart Data'!$M$2:$M$3</c:f>
              <c:numCache>
                <c:formatCode>General</c:formatCode>
                <c:ptCount val="2"/>
                <c:pt idx="0">
                  <c:v>20</c:v>
                </c:pt>
                <c:pt idx="1">
                  <c:v>25</c:v>
                </c:pt>
              </c:numCache>
            </c:numRef>
          </c:xVal>
          <c:yVal>
            <c:numRef>
              <c:f>'Chart Data'!$N$2:$N$3</c:f>
              <c:numCache>
                <c:formatCode>0</c:formatCode>
                <c:ptCount val="2"/>
                <c:pt idx="0">
                  <c:v>10.5</c:v>
                </c:pt>
                <c:pt idx="1">
                  <c:v>15</c:v>
                </c:pt>
              </c:numCache>
            </c:numRef>
          </c:yVal>
          <c:smooth val="0"/>
        </c:ser>
        <c:ser>
          <c:idx val="7"/>
          <c:order val="7"/>
          <c:tx>
            <c:v>winstarcering</c:v>
          </c:tx>
          <c:spPr>
            <a:ln xmlns:a="http://schemas.openxmlformats.org/drawingml/2006/main" w="14288">
              <a:solidFill>
                <a:srgbClr val="C9DDD5"/>
              </a:solidFill>
            </a:ln>
          </c:spPr>
          <c:marker>
            <c:symbol val="none"/>
          </c:marker>
          <c:xVal>
            <c:numRef>
              <c:f>'Chart Data'!$O$2:$O$3</c:f>
              <c:numCache>
                <c:formatCode>General</c:formatCode>
                <c:ptCount val="2"/>
                <c:pt idx="0">
                  <c:v>23.3333333333</c:v>
                </c:pt>
                <c:pt idx="1">
                  <c:v>28.3333333333</c:v>
                </c:pt>
              </c:numCache>
            </c:numRef>
          </c:xVal>
          <c:yVal>
            <c:numRef>
              <c:f>'Chart Data'!$P$2:$P$3</c:f>
              <c:numCache>
                <c:formatCode>0</c:formatCode>
                <c:ptCount val="2"/>
                <c:pt idx="0">
                  <c:v>10.5</c:v>
                </c:pt>
                <c:pt idx="1">
                  <c:v>15</c:v>
                </c:pt>
              </c:numCache>
            </c:numRef>
          </c:yVal>
          <c:smooth val="0"/>
        </c:ser>
        <c:ser>
          <c:idx val="8"/>
          <c:order val="8"/>
          <c:tx>
            <c:v>winstarcering</c:v>
          </c:tx>
          <c:spPr>
            <a:ln xmlns:a="http://schemas.openxmlformats.org/drawingml/2006/main" w="14288">
              <a:solidFill>
                <a:srgbClr val="C9DDD5"/>
              </a:solidFill>
            </a:ln>
          </c:spPr>
          <c:marker>
            <c:symbol val="none"/>
          </c:marker>
          <c:xVal>
            <c:numRef>
              <c:f>'Chart Data'!$Q$2:$Q$3</c:f>
              <c:numCache>
                <c:formatCode>General</c:formatCode>
                <c:ptCount val="2"/>
                <c:pt idx="0">
                  <c:v>26.6666666667</c:v>
                </c:pt>
                <c:pt idx="1">
                  <c:v>31.6666666667</c:v>
                </c:pt>
              </c:numCache>
            </c:numRef>
          </c:xVal>
          <c:yVal>
            <c:numRef>
              <c:f>'Chart Data'!$R$2:$R$3</c:f>
              <c:numCache>
                <c:formatCode>0</c:formatCode>
                <c:ptCount val="2"/>
                <c:pt idx="0">
                  <c:v>10.5</c:v>
                </c:pt>
                <c:pt idx="1">
                  <c:v>15</c:v>
                </c:pt>
              </c:numCache>
            </c:numRef>
          </c:yVal>
          <c:smooth val="0"/>
        </c:ser>
        <c:ser>
          <c:idx val="9"/>
          <c:order val="9"/>
          <c:tx>
            <c:v>winstarcering</c:v>
          </c:tx>
          <c:spPr>
            <a:ln xmlns:a="http://schemas.openxmlformats.org/drawingml/2006/main" w="14288">
              <a:solidFill>
                <a:srgbClr val="C9DDD5"/>
              </a:solidFill>
            </a:ln>
          </c:spPr>
          <c:marker>
            <c:symbol val="none"/>
          </c:marker>
          <c:xVal>
            <c:numRef>
              <c:f>'Chart Data'!$S$2:$S$3</c:f>
              <c:numCache>
                <c:formatCode>General</c:formatCode>
                <c:ptCount val="2"/>
                <c:pt idx="0">
                  <c:v>30</c:v>
                </c:pt>
                <c:pt idx="1">
                  <c:v>35</c:v>
                </c:pt>
              </c:numCache>
            </c:numRef>
          </c:xVal>
          <c:yVal>
            <c:numRef>
              <c:f>'Chart Data'!$T$2:$T$3</c:f>
              <c:numCache>
                <c:formatCode>0</c:formatCode>
                <c:ptCount val="2"/>
                <c:pt idx="0">
                  <c:v>10.5</c:v>
                </c:pt>
                <c:pt idx="1">
                  <c:v>15</c:v>
                </c:pt>
              </c:numCache>
            </c:numRef>
          </c:yVal>
          <c:smooth val="0"/>
        </c:ser>
        <c:ser>
          <c:idx val="10"/>
          <c:order val="10"/>
          <c:tx>
            <c:v>winstarcering</c:v>
          </c:tx>
          <c:spPr>
            <a:ln xmlns:a="http://schemas.openxmlformats.org/drawingml/2006/main" w="14288">
              <a:solidFill>
                <a:srgbClr val="C9DDD5"/>
              </a:solidFill>
            </a:ln>
          </c:spPr>
          <c:marker>
            <c:symbol val="none"/>
          </c:marker>
          <c:xVal>
            <c:numRef>
              <c:f>'Chart Data'!$U$2:$U$3</c:f>
              <c:numCache>
                <c:formatCode>General</c:formatCode>
                <c:ptCount val="2"/>
                <c:pt idx="0">
                  <c:v>33.3333333333</c:v>
                </c:pt>
                <c:pt idx="1">
                  <c:v>38.3333333333</c:v>
                </c:pt>
              </c:numCache>
            </c:numRef>
          </c:xVal>
          <c:yVal>
            <c:numRef>
              <c:f>'Chart Data'!$V$2:$V$3</c:f>
              <c:numCache>
                <c:formatCode>0</c:formatCode>
                <c:ptCount val="2"/>
                <c:pt idx="0">
                  <c:v>10.5</c:v>
                </c:pt>
                <c:pt idx="1">
                  <c:v>15</c:v>
                </c:pt>
              </c:numCache>
            </c:numRef>
          </c:yVal>
          <c:smooth val="0"/>
        </c:ser>
        <c:ser>
          <c:idx val="11"/>
          <c:order val="11"/>
          <c:tx>
            <c:v>winstarcering</c:v>
          </c:tx>
          <c:spPr>
            <a:ln xmlns:a="http://schemas.openxmlformats.org/drawingml/2006/main" w="14288">
              <a:solidFill>
                <a:srgbClr val="C9DDD5"/>
              </a:solidFill>
            </a:ln>
          </c:spPr>
          <c:marker>
            <c:symbol val="none"/>
          </c:marker>
          <c:xVal>
            <c:numRef>
              <c:f>'Chart Data'!$W$2:$W$3</c:f>
              <c:numCache>
                <c:formatCode>General</c:formatCode>
                <c:ptCount val="2"/>
                <c:pt idx="0">
                  <c:v>36.6666666667</c:v>
                </c:pt>
                <c:pt idx="1">
                  <c:v>41.6666666667</c:v>
                </c:pt>
              </c:numCache>
            </c:numRef>
          </c:xVal>
          <c:yVal>
            <c:numRef>
              <c:f>'Chart Data'!$X$2:$X$3</c:f>
              <c:numCache>
                <c:formatCode>0</c:formatCode>
                <c:ptCount val="2"/>
                <c:pt idx="0">
                  <c:v>10.5</c:v>
                </c:pt>
                <c:pt idx="1">
                  <c:v>15</c:v>
                </c:pt>
              </c:numCache>
            </c:numRef>
          </c:yVal>
          <c:smooth val="0"/>
        </c:ser>
        <c:ser>
          <c:idx val="12"/>
          <c:order val="12"/>
          <c:tx>
            <c:v>winstarcering</c:v>
          </c:tx>
          <c:spPr>
            <a:ln xmlns:a="http://schemas.openxmlformats.org/drawingml/2006/main" w="14288">
              <a:solidFill>
                <a:srgbClr val="C9DDD5"/>
              </a:solidFill>
            </a:ln>
          </c:spPr>
          <c:marker>
            <c:symbol val="none"/>
          </c:marker>
          <c:xVal>
            <c:numRef>
              <c:f>'Chart Data'!$Y$2:$Y$3</c:f>
              <c:numCache>
                <c:formatCode>General</c:formatCode>
                <c:ptCount val="2"/>
                <c:pt idx="0">
                  <c:v>40</c:v>
                </c:pt>
                <c:pt idx="1">
                  <c:v>45</c:v>
                </c:pt>
              </c:numCache>
            </c:numRef>
          </c:xVal>
          <c:yVal>
            <c:numRef>
              <c:f>'Chart Data'!$Z$2:$Z$3</c:f>
              <c:numCache>
                <c:formatCode>0</c:formatCode>
                <c:ptCount val="2"/>
                <c:pt idx="0">
                  <c:v>10.5</c:v>
                </c:pt>
                <c:pt idx="1">
                  <c:v>15</c:v>
                </c:pt>
              </c:numCache>
            </c:numRef>
          </c:yVal>
          <c:smooth val="0"/>
        </c:ser>
        <c:ser>
          <c:idx val="13"/>
          <c:order val="13"/>
          <c:tx>
            <c:v>winstarcering</c:v>
          </c:tx>
          <c:spPr>
            <a:ln xmlns:a="http://schemas.openxmlformats.org/drawingml/2006/main" w="14288">
              <a:solidFill>
                <a:srgbClr val="C9DDD5"/>
              </a:solidFill>
            </a:ln>
          </c:spPr>
          <c:marker>
            <c:symbol val="none"/>
          </c:marker>
          <c:xVal>
            <c:numRef>
              <c:f>'Chart Data'!$AA$2:$AA$3</c:f>
              <c:numCache>
                <c:formatCode>General</c:formatCode>
                <c:ptCount val="2"/>
                <c:pt idx="0">
                  <c:v>43.3333333333</c:v>
                </c:pt>
                <c:pt idx="1">
                  <c:v>48.3333333333</c:v>
                </c:pt>
              </c:numCache>
            </c:numRef>
          </c:xVal>
          <c:yVal>
            <c:numRef>
              <c:f>'Chart Data'!$AB$2:$AB$3</c:f>
              <c:numCache>
                <c:formatCode>0</c:formatCode>
                <c:ptCount val="2"/>
                <c:pt idx="0">
                  <c:v>10.5</c:v>
                </c:pt>
                <c:pt idx="1">
                  <c:v>15</c:v>
                </c:pt>
              </c:numCache>
            </c:numRef>
          </c:yVal>
          <c:smooth val="0"/>
        </c:ser>
        <c:ser>
          <c:idx val="14"/>
          <c:order val="14"/>
          <c:tx>
            <c:v>winstarcering</c:v>
          </c:tx>
          <c:spPr>
            <a:ln xmlns:a="http://schemas.openxmlformats.org/drawingml/2006/main" w="14288">
              <a:solidFill>
                <a:srgbClr val="C9DDD5"/>
              </a:solidFill>
            </a:ln>
          </c:spPr>
          <c:marker>
            <c:symbol val="none"/>
          </c:marker>
          <c:xVal>
            <c:numRef>
              <c:f>'Chart Data'!$AC$2:$AC$3</c:f>
              <c:numCache>
                <c:formatCode>General</c:formatCode>
                <c:ptCount val="2"/>
                <c:pt idx="0">
                  <c:v>46.6666666667</c:v>
                </c:pt>
                <c:pt idx="1">
                  <c:v>51.6666666667</c:v>
                </c:pt>
              </c:numCache>
            </c:numRef>
          </c:xVal>
          <c:yVal>
            <c:numRef>
              <c:f>'Chart Data'!$AD$2:$AD$3</c:f>
              <c:numCache>
                <c:formatCode>0</c:formatCode>
                <c:ptCount val="2"/>
                <c:pt idx="0">
                  <c:v>10.5</c:v>
                </c:pt>
                <c:pt idx="1">
                  <c:v>15</c:v>
                </c:pt>
              </c:numCache>
            </c:numRef>
          </c:yVal>
          <c:smooth val="0"/>
        </c:ser>
        <c:ser>
          <c:idx val="15"/>
          <c:order val="15"/>
          <c:tx>
            <c:v>winstarcering</c:v>
          </c:tx>
          <c:spPr>
            <a:ln xmlns:a="http://schemas.openxmlformats.org/drawingml/2006/main" w="14288">
              <a:solidFill>
                <a:srgbClr val="C9DDD5"/>
              </a:solidFill>
            </a:ln>
          </c:spPr>
          <c:marker>
            <c:symbol val="none"/>
          </c:marker>
          <c:xVal>
            <c:numRef>
              <c:f>'Chart Data'!$AE$2:$AE$3</c:f>
              <c:numCache>
                <c:formatCode>General</c:formatCode>
                <c:ptCount val="2"/>
                <c:pt idx="0">
                  <c:v>50</c:v>
                </c:pt>
                <c:pt idx="1">
                  <c:v>55</c:v>
                </c:pt>
              </c:numCache>
            </c:numRef>
          </c:xVal>
          <c:yVal>
            <c:numRef>
              <c:f>'Chart Data'!$AF$2:$AF$3</c:f>
              <c:numCache>
                <c:formatCode>0</c:formatCode>
                <c:ptCount val="2"/>
                <c:pt idx="0">
                  <c:v>10.5</c:v>
                </c:pt>
                <c:pt idx="1">
                  <c:v>15</c:v>
                </c:pt>
              </c:numCache>
            </c:numRef>
          </c:yVal>
          <c:smooth val="0"/>
        </c:ser>
        <c:ser>
          <c:idx val="16"/>
          <c:order val="16"/>
          <c:tx>
            <c:v>winstarcering</c:v>
          </c:tx>
          <c:spPr>
            <a:ln xmlns:a="http://schemas.openxmlformats.org/drawingml/2006/main" w="14288">
              <a:solidFill>
                <a:srgbClr val="C9DDD5"/>
              </a:solidFill>
            </a:ln>
          </c:spPr>
          <c:marker>
            <c:symbol val="none"/>
          </c:marker>
          <c:xVal>
            <c:numRef>
              <c:f>'Chart Data'!$AG$2:$AG$3</c:f>
              <c:numCache>
                <c:formatCode>General</c:formatCode>
                <c:ptCount val="2"/>
                <c:pt idx="0">
                  <c:v>53.3333333333</c:v>
                </c:pt>
                <c:pt idx="1">
                  <c:v>58.3333333333</c:v>
                </c:pt>
              </c:numCache>
            </c:numRef>
          </c:xVal>
          <c:yVal>
            <c:numRef>
              <c:f>'Chart Data'!$AH$2:$AH$3</c:f>
              <c:numCache>
                <c:formatCode>0</c:formatCode>
                <c:ptCount val="2"/>
                <c:pt idx="0">
                  <c:v>10.5</c:v>
                </c:pt>
                <c:pt idx="1">
                  <c:v>15</c:v>
                </c:pt>
              </c:numCache>
            </c:numRef>
          </c:yVal>
          <c:smooth val="0"/>
        </c:ser>
        <c:ser>
          <c:idx val="17"/>
          <c:order val="17"/>
          <c:tx>
            <c:v>winstarcering</c:v>
          </c:tx>
          <c:spPr>
            <a:ln xmlns:a="http://schemas.openxmlformats.org/drawingml/2006/main" w="14288">
              <a:solidFill>
                <a:srgbClr val="C9DDD5"/>
              </a:solidFill>
            </a:ln>
          </c:spPr>
          <c:marker>
            <c:symbol val="none"/>
          </c:marker>
          <c:xVal>
            <c:numRef>
              <c:f>'Chart Data'!$AI$2:$AI$3</c:f>
              <c:numCache>
                <c:formatCode>General</c:formatCode>
                <c:ptCount val="2"/>
                <c:pt idx="0">
                  <c:v>56.6666666667</c:v>
                </c:pt>
                <c:pt idx="1">
                  <c:v>60</c:v>
                </c:pt>
              </c:numCache>
            </c:numRef>
          </c:xVal>
          <c:yVal>
            <c:numRef>
              <c:f>'Chart Data'!$AJ$2:$AJ$3</c:f>
              <c:numCache>
                <c:formatCode>0</c:formatCode>
                <c:ptCount val="2"/>
                <c:pt idx="0">
                  <c:v>10.5</c:v>
                </c:pt>
                <c:pt idx="1">
                  <c:v>15</c:v>
                </c:pt>
              </c:numCache>
            </c:numRef>
          </c:yVal>
          <c:smooth val="0"/>
        </c:ser>
        <c:ser>
          <c:idx val="18"/>
          <c:order val="18"/>
          <c:tx>
            <c:v>winstrechthoek</c:v>
          </c:tx>
          <c:spPr>
            <a:ln xmlns:a="http://schemas.openxmlformats.org/drawingml/2006/main" w="28575">
              <a:solidFill>
                <a:srgbClr val="20665B"/>
              </a:solidFill>
            </a:ln>
          </c:spPr>
          <c:marker>
            <c:symbol val="none"/>
          </c:marker>
          <c:xVal>
            <c:numRef>
              <c:f>'Chart Data'!$AK$2:$AK$6</c:f>
              <c:numCache>
                <c:formatCode>General</c:formatCode>
                <c:ptCount val="5"/>
                <c:pt idx="0">
                  <c:v>0</c:v>
                </c:pt>
                <c:pt idx="1">
                  <c:v>60</c:v>
                </c:pt>
                <c:pt idx="2">
                  <c:v>60</c:v>
                </c:pt>
                <c:pt idx="3">
                  <c:v>0</c:v>
                </c:pt>
                <c:pt idx="4">
                  <c:v>0</c:v>
                </c:pt>
              </c:numCache>
            </c:numRef>
          </c:xVal>
          <c:yVal>
            <c:numRef>
              <c:f>'Chart Data'!$AL$2:$AL$6</c:f>
              <c:numCache>
                <c:formatCode>0</c:formatCode>
                <c:ptCount val="5"/>
                <c:pt idx="0">
                  <c:v>10.5</c:v>
                </c:pt>
                <c:pt idx="1">
                  <c:v>10.5</c:v>
                </c:pt>
                <c:pt idx="2">
                  <c:v>15</c:v>
                </c:pt>
                <c:pt idx="3">
                  <c:v>15</c:v>
                </c:pt>
                <c:pt idx="4">
                  <c:v>10.5</c:v>
                </c:pt>
              </c:numCache>
            </c:numRef>
          </c:yVal>
          <c:smooth val="0"/>
        </c:ser>
        <c:ser>
          <c:idx val="19"/>
          <c:order val="19"/>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Data'!$AM$2:$AM$4</c:f>
              <c:numCache>
                <c:formatCode>General</c:formatCode>
                <c:ptCount val="3"/>
                <c:pt idx="0">
                  <c:v>0</c:v>
                </c:pt>
                <c:pt idx="1">
                  <c:v>45</c:v>
                </c:pt>
                <c:pt idx="2">
                  <c:v>90</c:v>
                </c:pt>
              </c:numCache>
            </c:numRef>
          </c:xVal>
          <c:yVal>
            <c:numRef>
              <c:f>'Chart Data'!$AN$2:$AN$4</c:f>
              <c:numCache>
                <c:formatCode>0</c:formatCode>
                <c:ptCount val="3"/>
                <c:pt idx="0">
                  <c:v>15</c:v>
                </c:pt>
                <c:pt idx="1">
                  <c:v>15</c:v>
                </c:pt>
                <c:pt idx="2">
                  <c:v>15</c:v>
                </c:pt>
              </c:numCache>
            </c:numRef>
          </c:yVal>
          <c:smooth val="0"/>
        </c:ser>
        <c:ser>
          <c:idx val="20"/>
          <c:order val="20"/>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Data'!$AO$2:$AO$4</c:f>
              <c:numCache>
                <c:formatCode>General</c:formatCode>
                <c:ptCount val="3"/>
                <c:pt idx="0">
                  <c:v>0</c:v>
                </c:pt>
                <c:pt idx="1">
                  <c:v>73.8</c:v>
                </c:pt>
                <c:pt idx="2">
                  <c:v>90</c:v>
                </c:pt>
              </c:numCache>
            </c:numRef>
          </c:xVal>
          <c:yVal>
            <c:numRef>
              <c:f>'Chart Data'!$AP$2:$AP$4</c:f>
              <c:numCache>
                <c:formatCode>0</c:formatCode>
                <c:ptCount val="3"/>
                <c:pt idx="0">
                  <c:v>3</c:v>
                </c:pt>
                <c:pt idx="1">
                  <c:v>17.76</c:v>
                </c:pt>
                <c:pt idx="2">
                  <c:v>21</c:v>
                </c:pt>
              </c:numCache>
            </c:numRef>
          </c:yVal>
          <c:smooth val="0"/>
        </c:ser>
        <c:ser>
          <c:idx val="21"/>
          <c:order val="21"/>
          <c:tx>
            <c:v>GTK</c:v>
          </c:tx>
          <c:spPr>
            <a:ln xmlns:a="http://schemas.openxmlformats.org/drawingml/2006/main" w="38100">
              <a:solidFill>
                <a:srgbClr val="B14542"/>
              </a:solidFill>
            </a:ln>
          </c:spPr>
          <c:marker>
            <c:symbol val="none"/>
          </c:marker>
          <c:dLbls>
            <c:dLbl>
              <c:idx val="128"/>
              <c:tx>
                <c:rich>
                  <a:bodyPr xmlns:a="http://schemas.openxmlformats.org/drawingml/2006/main"/>
                  <a:lstStyle xmlns:a="http://schemas.openxmlformats.org/drawingml/2006/main"/>
                  <a:p xmlns:a="http://schemas.openxmlformats.org/drawingml/2006/main">
                    <a:r>
                      <a:rPr sz="1950" b="1">
                        <a:solidFill>
                          <a:srgbClr val="B14542"/>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1950" b="1">
                      <a:solidFill>
                        <a:srgbClr val="B14542"/>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Data'!$AQ$2:$AQ$144</c:f>
              <c:numCache>
                <c:formatCode>General</c:formatCode>
                <c:ptCount val="143"/>
                <c:pt idx="0">
                  <c:v>4.3769410125</c:v>
                </c:pt>
                <c:pt idx="1">
                  <c:v>4.988534291</c:v>
                </c:pt>
                <c:pt idx="2">
                  <c:v>5.6001275695</c:v>
                </c:pt>
                <c:pt idx="3">
                  <c:v>6.211720848</c:v>
                </c:pt>
                <c:pt idx="4">
                  <c:v>6.8233141264</c:v>
                </c:pt>
                <c:pt idx="5">
                  <c:v>7.4349074049</c:v>
                </c:pt>
                <c:pt idx="6">
                  <c:v>8.0465006834</c:v>
                </c:pt>
                <c:pt idx="7">
                  <c:v>8.6580939619</c:v>
                </c:pt>
                <c:pt idx="8">
                  <c:v>9.2696872404</c:v>
                </c:pt>
                <c:pt idx="9">
                  <c:v>9.8812805188</c:v>
                </c:pt>
                <c:pt idx="10">
                  <c:v>10.4928737973</c:v>
                </c:pt>
                <c:pt idx="11">
                  <c:v>11.1044670758</c:v>
                </c:pt>
                <c:pt idx="12">
                  <c:v>11.7160603543</c:v>
                </c:pt>
                <c:pt idx="13">
                  <c:v>12.3276536328</c:v>
                </c:pt>
                <c:pt idx="14">
                  <c:v>12.9392469113</c:v>
                </c:pt>
                <c:pt idx="15">
                  <c:v>13.5508401897</c:v>
                </c:pt>
                <c:pt idx="16">
                  <c:v>14.1624334682</c:v>
                </c:pt>
                <c:pt idx="17">
                  <c:v>14.7740267467</c:v>
                </c:pt>
                <c:pt idx="18">
                  <c:v>15.3856200252</c:v>
                </c:pt>
                <c:pt idx="19">
                  <c:v>15.9972133037</c:v>
                </c:pt>
                <c:pt idx="20">
                  <c:v>16.6088065822</c:v>
                </c:pt>
                <c:pt idx="21">
                  <c:v>17.2203998606</c:v>
                </c:pt>
                <c:pt idx="22">
                  <c:v>17.8319931391</c:v>
                </c:pt>
                <c:pt idx="23">
                  <c:v>18.4435864176</c:v>
                </c:pt>
                <c:pt idx="24">
                  <c:v>19.0551796961</c:v>
                </c:pt>
                <c:pt idx="25">
                  <c:v>19.6667729746</c:v>
                </c:pt>
                <c:pt idx="26">
                  <c:v>20.278366253</c:v>
                </c:pt>
                <c:pt idx="27">
                  <c:v>20.8899595315</c:v>
                </c:pt>
                <c:pt idx="28">
                  <c:v>21.50155281</c:v>
                </c:pt>
                <c:pt idx="29">
                  <c:v>22.1131460885</c:v>
                </c:pt>
                <c:pt idx="30">
                  <c:v>22.724739367</c:v>
                </c:pt>
                <c:pt idx="31">
                  <c:v>23.3363326455</c:v>
                </c:pt>
                <c:pt idx="32">
                  <c:v>23.9479259239</c:v>
                </c:pt>
                <c:pt idx="33">
                  <c:v>24.5595192024</c:v>
                </c:pt>
                <c:pt idx="34">
                  <c:v>25.1711124809</c:v>
                </c:pt>
                <c:pt idx="35">
                  <c:v>25.7827057594</c:v>
                </c:pt>
                <c:pt idx="36">
                  <c:v>26.3942990379</c:v>
                </c:pt>
                <c:pt idx="37">
                  <c:v>27.0058923163</c:v>
                </c:pt>
                <c:pt idx="38">
                  <c:v>27.6174855948</c:v>
                </c:pt>
                <c:pt idx="39">
                  <c:v>28.2290788733</c:v>
                </c:pt>
                <c:pt idx="40">
                  <c:v>28.8406721518</c:v>
                </c:pt>
                <c:pt idx="41">
                  <c:v>29.4522654303</c:v>
                </c:pt>
                <c:pt idx="42">
                  <c:v>30</c:v>
                </c:pt>
                <c:pt idx="43">
                  <c:v>30.0638587088</c:v>
                </c:pt>
                <c:pt idx="44">
                  <c:v>30.6754519872</c:v>
                </c:pt>
                <c:pt idx="45">
                  <c:v>31.2870452657</c:v>
                </c:pt>
                <c:pt idx="46">
                  <c:v>31.8986385442</c:v>
                </c:pt>
                <c:pt idx="47">
                  <c:v>32.5102318227</c:v>
                </c:pt>
                <c:pt idx="48">
                  <c:v>33.1218251012</c:v>
                </c:pt>
                <c:pt idx="49">
                  <c:v>33.7334183796</c:v>
                </c:pt>
                <c:pt idx="50">
                  <c:v>34.3450116581</c:v>
                </c:pt>
                <c:pt idx="51">
                  <c:v>34.9566049366</c:v>
                </c:pt>
                <c:pt idx="52">
                  <c:v>35.5681982151</c:v>
                </c:pt>
                <c:pt idx="53">
                  <c:v>36.1797914936</c:v>
                </c:pt>
                <c:pt idx="54">
                  <c:v>36.7913847721</c:v>
                </c:pt>
                <c:pt idx="55">
                  <c:v>37.4029780505</c:v>
                </c:pt>
                <c:pt idx="56">
                  <c:v>38.014571329</c:v>
                </c:pt>
                <c:pt idx="57">
                  <c:v>38.6261646075</c:v>
                </c:pt>
                <c:pt idx="58">
                  <c:v>39.237757886</c:v>
                </c:pt>
                <c:pt idx="59">
                  <c:v>39.8493511645</c:v>
                </c:pt>
                <c:pt idx="60">
                  <c:v>40.460944443</c:v>
                </c:pt>
                <c:pt idx="61">
                  <c:v>41.0725377214</c:v>
                </c:pt>
                <c:pt idx="62">
                  <c:v>41.6841309999</c:v>
                </c:pt>
                <c:pt idx="63">
                  <c:v>42.2957242784</c:v>
                </c:pt>
                <c:pt idx="64">
                  <c:v>42.9073175569</c:v>
                </c:pt>
                <c:pt idx="65">
                  <c:v>43.5189108354</c:v>
                </c:pt>
                <c:pt idx="66">
                  <c:v>44.1305041138</c:v>
                </c:pt>
                <c:pt idx="67">
                  <c:v>44.7420973923</c:v>
                </c:pt>
                <c:pt idx="68">
                  <c:v>45.3536906708</c:v>
                </c:pt>
                <c:pt idx="69">
                  <c:v>45.9652839493</c:v>
                </c:pt>
                <c:pt idx="70">
                  <c:v>46.5768772278</c:v>
                </c:pt>
                <c:pt idx="71">
                  <c:v>47.1884705063</c:v>
                </c:pt>
                <c:pt idx="72">
                  <c:v>47.8000637847</c:v>
                </c:pt>
                <c:pt idx="73">
                  <c:v>48.4116570632</c:v>
                </c:pt>
                <c:pt idx="74">
                  <c:v>49.0232503417</c:v>
                </c:pt>
                <c:pt idx="75">
                  <c:v>49.6348436202</c:v>
                </c:pt>
                <c:pt idx="76">
                  <c:v>50.2464368987</c:v>
                </c:pt>
                <c:pt idx="77">
                  <c:v>50.8580301771</c:v>
                </c:pt>
                <c:pt idx="78">
                  <c:v>51.4696234556</c:v>
                </c:pt>
                <c:pt idx="79">
                  <c:v>52.0812167341</c:v>
                </c:pt>
                <c:pt idx="80">
                  <c:v>52.6928100126</c:v>
                </c:pt>
                <c:pt idx="81">
                  <c:v>53.3044032911</c:v>
                </c:pt>
                <c:pt idx="82">
                  <c:v>53.9159965696</c:v>
                </c:pt>
                <c:pt idx="83">
                  <c:v>54.527589848</c:v>
                </c:pt>
                <c:pt idx="84">
                  <c:v>55.1391831265</c:v>
                </c:pt>
                <c:pt idx="85">
                  <c:v>55.750776405</c:v>
                </c:pt>
                <c:pt idx="86">
                  <c:v>56.3623696835</c:v>
                </c:pt>
                <c:pt idx="87">
                  <c:v>56.973962962</c:v>
                </c:pt>
                <c:pt idx="88">
                  <c:v>57.5855562405</c:v>
                </c:pt>
                <c:pt idx="89">
                  <c:v>58.1971495189</c:v>
                </c:pt>
                <c:pt idx="90">
                  <c:v>58.8087427974</c:v>
                </c:pt>
                <c:pt idx="91">
                  <c:v>59.4203360759</c:v>
                </c:pt>
                <c:pt idx="92">
                  <c:v>60</c:v>
                </c:pt>
                <c:pt idx="93">
                  <c:v>60.0319293544</c:v>
                </c:pt>
                <c:pt idx="94">
                  <c:v>60.6435226329</c:v>
                </c:pt>
                <c:pt idx="95">
                  <c:v>61.2551159113</c:v>
                </c:pt>
                <c:pt idx="96">
                  <c:v>61.8667091898</c:v>
                </c:pt>
                <c:pt idx="97">
                  <c:v>62.4783024683</c:v>
                </c:pt>
                <c:pt idx="98">
                  <c:v>63.0898957468</c:v>
                </c:pt>
                <c:pt idx="99">
                  <c:v>63.7014890253</c:v>
                </c:pt>
                <c:pt idx="100">
                  <c:v>64.3130823038</c:v>
                </c:pt>
                <c:pt idx="101">
                  <c:v>64.9246755822</c:v>
                </c:pt>
                <c:pt idx="102">
                  <c:v>65.5362688607</c:v>
                </c:pt>
                <c:pt idx="103">
                  <c:v>66.1478621392</c:v>
                </c:pt>
                <c:pt idx="104">
                  <c:v>66.7594554177</c:v>
                </c:pt>
                <c:pt idx="105">
                  <c:v>67.3710486962</c:v>
                </c:pt>
                <c:pt idx="106">
                  <c:v>67.9826419746</c:v>
                </c:pt>
                <c:pt idx="107">
                  <c:v>68.5942352531</c:v>
                </c:pt>
                <c:pt idx="108">
                  <c:v>69.2058285316</c:v>
                </c:pt>
                <c:pt idx="109">
                  <c:v>69.8174218101</c:v>
                </c:pt>
                <c:pt idx="110">
                  <c:v>70.4290150886</c:v>
                </c:pt>
                <c:pt idx="111">
                  <c:v>71.0406083671</c:v>
                </c:pt>
                <c:pt idx="112">
                  <c:v>71.6522016455</c:v>
                </c:pt>
                <c:pt idx="113">
                  <c:v>72.263794924</c:v>
                </c:pt>
                <c:pt idx="114">
                  <c:v>72.8753882025</c:v>
                </c:pt>
                <c:pt idx="115">
                  <c:v>73.486981481</c:v>
                </c:pt>
                <c:pt idx="116">
                  <c:v>74.0985747595</c:v>
                </c:pt>
                <c:pt idx="117">
                  <c:v>74.7101680379</c:v>
                </c:pt>
                <c:pt idx="118">
                  <c:v>75.3217613164</c:v>
                </c:pt>
                <c:pt idx="119">
                  <c:v>75.9333545949</c:v>
                </c:pt>
                <c:pt idx="120">
                  <c:v>76.5449478734</c:v>
                </c:pt>
                <c:pt idx="121">
                  <c:v>77.1565411519</c:v>
                </c:pt>
                <c:pt idx="122">
                  <c:v>77.7681344304</c:v>
                </c:pt>
                <c:pt idx="123">
                  <c:v>78.3797277088</c:v>
                </c:pt>
                <c:pt idx="124">
                  <c:v>78.9913209873</c:v>
                </c:pt>
                <c:pt idx="125">
                  <c:v>79.6029142658</c:v>
                </c:pt>
                <c:pt idx="126">
                  <c:v>80.2145075443</c:v>
                </c:pt>
                <c:pt idx="127">
                  <c:v>80.8261008228</c:v>
                </c:pt>
                <c:pt idx="128">
                  <c:v>81.4376941013</c:v>
                </c:pt>
                <c:pt idx="129">
                  <c:v>82.0492873797</c:v>
                </c:pt>
                <c:pt idx="130">
                  <c:v>82.6608806582</c:v>
                </c:pt>
                <c:pt idx="131">
                  <c:v>83.2724739367</c:v>
                </c:pt>
                <c:pt idx="132">
                  <c:v>83.8840672152</c:v>
                </c:pt>
                <c:pt idx="133">
                  <c:v>84.4956604937</c:v>
                </c:pt>
                <c:pt idx="134">
                  <c:v>85.1072537721</c:v>
                </c:pt>
                <c:pt idx="135">
                  <c:v>85.7188470506</c:v>
                </c:pt>
                <c:pt idx="136">
                  <c:v>86.3304403291</c:v>
                </c:pt>
                <c:pt idx="137">
                  <c:v>86.9420336076</c:v>
                </c:pt>
                <c:pt idx="138">
                  <c:v>87.5536268861</c:v>
                </c:pt>
                <c:pt idx="139">
                  <c:v>88.1652201646</c:v>
                </c:pt>
                <c:pt idx="140">
                  <c:v>88.776813443</c:v>
                </c:pt>
                <c:pt idx="141">
                  <c:v>89.3884067215</c:v>
                </c:pt>
                <c:pt idx="142">
                  <c:v>90</c:v>
                </c:pt>
              </c:numCache>
            </c:numRef>
          </c:xVal>
          <c:yVal>
            <c:numRef>
              <c:f>'Chart Data'!$AR$2:$AR$144</c:f>
              <c:numCache>
                <c:formatCode>0</c:formatCode>
                <c:ptCount val="143"/>
                <c:pt idx="0">
                  <c:v>24</c:v>
                </c:pt>
                <c:pt idx="1">
                  <c:v>21.5402248521</c:v>
                </c:pt>
                <c:pt idx="2">
                  <c:v>19.6310752253</c:v>
                </c:pt>
                <c:pt idx="3">
                  <c:v>18.1099107456</c:v>
                </c:pt>
                <c:pt idx="4">
                  <c:v>16.8724027376</c:v>
                </c:pt>
                <c:pt idx="5">
                  <c:v>15.8485507094</c:v>
                </c:pt>
                <c:pt idx="6">
                  <c:v>14.9896363799</c:v>
                </c:pt>
                <c:pt idx="7">
                  <c:v>14.2607069794</c:v>
                </c:pt>
                <c:pt idx="8">
                  <c:v>13.6360341613</c:v>
                </c:pt>
                <c:pt idx="9">
                  <c:v>13.0962593137</c:v>
                </c:pt>
                <c:pt idx="10">
                  <c:v>12.6265372103</c:v>
                </c:pt>
                <c:pt idx="11">
                  <c:v>12.2152931073</c:v>
                </c:pt>
                <c:pt idx="12">
                  <c:v>11.8533691263</c:v>
                </c:pt>
                <c:pt idx="13">
                  <c:v>11.5334247329</c:v>
                </c:pt>
                <c:pt idx="14">
                  <c:v>11.2495072391</c:v>
                </c:pt>
                <c:pt idx="15">
                  <c:v>10.9967386131</c:v>
                </c:pt>
                <c:pt idx="16">
                  <c:v>10.7710834385</c:v>
                </c:pt>
                <c:pt idx="17">
                  <c:v>10.569174508</c:v>
                </c:pt>
                <c:pt idx="18">
                  <c:v>10.3881800129</c:v>
                </c:pt>
                <c:pt idx="19">
                  <c:v>10.225701199</c:v>
                </c:pt>
                <c:pt idx="20">
                  <c:v>10.0796926333</c:v>
                </c:pt>
                <c:pt idx="21">
                  <c:v>9.9483994625</c:v>
                </c:pt>
                <c:pt idx="22">
                  <c:v>9.8303075815</c:v>
                </c:pt>
                <c:pt idx="23">
                  <c:v>9.7241037175</c:v>
                </c:pt>
                <c:pt idx="24">
                  <c:v>9.6286432004</c:v>
                </c:pt>
                <c:pt idx="25">
                  <c:v>9.5429237471</c:v>
                </c:pt>
                <c:pt idx="26">
                  <c:v>9.4660639892</c:v>
                </c:pt>
                <c:pt idx="27">
                  <c:v>9.3972857736</c:v>
                </c:pt>
                <c:pt idx="28">
                  <c:v>9.3358994826</c:v>
                </c:pt>
                <c:pt idx="29">
                  <c:v>9.2812917907</c:v>
                </c:pt>
                <c:pt idx="30">
                  <c:v>9.2329153986</c:v>
                </c:pt>
                <c:pt idx="31">
                  <c:v>9.1902803808</c:v>
                </c:pt>
                <c:pt idx="32">
                  <c:v>9.1529468595</c:v>
                </c:pt>
                <c:pt idx="33">
                  <c:v>9.1205187735</c:v>
                </c:pt>
                <c:pt idx="34">
                  <c:v>9.0926385542</c:v>
                </c:pt>
                <c:pt idx="35">
                  <c:v>9.0689825609</c:v>
                </c:pt>
                <c:pt idx="36">
                  <c:v>9.0492571498</c:v>
                </c:pt>
                <c:pt idx="37">
                  <c:v>9.0331952772</c:v>
                </c:pt>
                <c:pt idx="38">
                  <c:v>9.0205535543</c:v>
                </c:pt>
                <c:pt idx="39">
                  <c:v>9.0111096846</c:v>
                </c:pt>
                <c:pt idx="40">
                  <c:v>9.0046602279</c:v>
                </c:pt>
                <c:pt idx="41">
                  <c:v>9.001018642</c:v>
                </c:pt>
                <c:pt idx="42">
                  <c:v>9</c:v>
                </c:pt>
                <c:pt idx="43">
                  <c:v>9.0000135642</c:v>
                </c:pt>
                <c:pt idx="44">
                  <c:v>9.001487298</c:v>
                </c:pt>
                <c:pt idx="45">
                  <c:v>9.0052944773</c:v>
                </c:pt>
                <c:pt idx="46">
                  <c:v>9.0113008846</c:v>
                </c:pt>
                <c:pt idx="47">
                  <c:v>9.0193824019</c:v>
                </c:pt>
                <c:pt idx="48">
                  <c:v>9.0294240789</c:v>
                </c:pt>
                <c:pt idx="49">
                  <c:v>9.0413193014</c:v>
                </c:pt>
                <c:pt idx="50">
                  <c:v>9.0549690491</c:v>
                </c:pt>
                <c:pt idx="51">
                  <c:v>9.0702812317</c:v>
                </c:pt>
                <c:pt idx="52">
                  <c:v>9.0871700927</c:v>
                </c:pt>
                <c:pt idx="53">
                  <c:v>9.1055556744</c:v>
                </c:pt>
                <c:pt idx="54">
                  <c:v>9.1253633355</c:v>
                </c:pt>
                <c:pt idx="55">
                  <c:v>9.1465233168</c:v>
                </c:pt>
                <c:pt idx="56">
                  <c:v>9.1689703483</c:v>
                </c:pt>
                <c:pt idx="57">
                  <c:v>9.192643294</c:v>
                </c:pt>
                <c:pt idx="58">
                  <c:v>9.2174848293</c:v>
                </c:pt>
                <c:pt idx="59">
                  <c:v>9.243441149</c:v>
                </c:pt>
                <c:pt idx="60">
                  <c:v>9.2704617011</c:v>
                </c:pt>
                <c:pt idx="61">
                  <c:v>9.2984989445</c:v>
                </c:pt>
                <c:pt idx="62">
                  <c:v>9.3275081283</c:v>
                </c:pt>
                <c:pt idx="63">
                  <c:v>9.3574470898</c:v>
                </c:pt>
                <c:pt idx="64">
                  <c:v>9.3882760704</c:v>
                </c:pt>
                <c:pt idx="65">
                  <c:v>9.4199575464</c:v>
                </c:pt>
                <c:pt idx="66">
                  <c:v>9.4524560744</c:v>
                </c:pt>
                <c:pt idx="67">
                  <c:v>9.4857381486</c:v>
                </c:pt>
                <c:pt idx="68">
                  <c:v>9.5197720709</c:v>
                </c:pt>
                <c:pt idx="69">
                  <c:v>9.5545278299</c:v>
                </c:pt>
                <c:pt idx="70">
                  <c:v>9.5899769907</c:v>
                </c:pt>
                <c:pt idx="71">
                  <c:v>9.6260925925</c:v>
                </c:pt>
                <c:pt idx="72">
                  <c:v>9.6628490543</c:v>
                </c:pt>
                <c:pt idx="73">
                  <c:v>9.7002220878</c:v>
                </c:pt>
                <c:pt idx="74">
                  <c:v>9.7381886167</c:v>
                </c:pt>
                <c:pt idx="75">
                  <c:v>9.7767267022</c:v>
                </c:pt>
                <c:pt idx="76">
                  <c:v>9.8158154735</c:v>
                </c:pt>
                <c:pt idx="77">
                  <c:v>9.8554350638</c:v>
                </c:pt>
                <c:pt idx="78">
                  <c:v>9.8955665505</c:v>
                </c:pt>
                <c:pt idx="79">
                  <c:v>9.9361918999</c:v>
                </c:pt>
                <c:pt idx="80">
                  <c:v>9.9772939157</c:v>
                </c:pt>
                <c:pt idx="81">
                  <c:v>10.0188561905</c:v>
                </c:pt>
                <c:pt idx="82">
                  <c:v>10.0608630616</c:v>
                </c:pt>
                <c:pt idx="83">
                  <c:v>10.103299569</c:v>
                </c:pt>
                <c:pt idx="84">
                  <c:v>10.1461514162</c:v>
                </c:pt>
                <c:pt idx="85">
                  <c:v>10.1894049343</c:v>
                </c:pt>
                <c:pt idx="86">
                  <c:v>10.2330470476</c:v>
                </c:pt>
                <c:pt idx="87">
                  <c:v>10.2770652418</c:v>
                </c:pt>
                <c:pt idx="88">
                  <c:v>10.3214475344</c:v>
                </c:pt>
                <c:pt idx="89">
                  <c:v>10.3661824463</c:v>
                </c:pt>
                <c:pt idx="90">
                  <c:v>10.4112589763</c:v>
                </c:pt>
                <c:pt idx="91">
                  <c:v>10.4566665758</c:v>
                </c:pt>
                <c:pt idx="92">
                  <c:v>10.5</c:v>
                </c:pt>
                <c:pt idx="93">
                  <c:v>10.5023951261</c:v>
                </c:pt>
                <c:pt idx="94">
                  <c:v>10.548434917</c:v>
                </c:pt>
                <c:pt idx="95">
                  <c:v>10.5947766258</c:v>
                </c:pt>
                <c:pt idx="96">
                  <c:v>10.6414112984</c:v>
                </c:pt>
                <c:pt idx="97">
                  <c:v>10.6883303316</c:v>
                </c:pt>
                <c:pt idx="98">
                  <c:v>10.7355254555</c:v>
                </c:pt>
                <c:pt idx="99">
                  <c:v>10.782988718</c:v>
                </c:pt>
                <c:pt idx="100">
                  <c:v>10.8307124694</c:v>
                </c:pt>
                <c:pt idx="101">
                  <c:v>10.8786893482</c:v>
                </c:pt>
                <c:pt idx="102">
                  <c:v>10.9269122678</c:v>
                </c:pt>
                <c:pt idx="103">
                  <c:v>10.9753744036</c:v>
                </c:pt>
                <c:pt idx="104">
                  <c:v>11.0240691811</c:v>
                </c:pt>
                <c:pt idx="105">
                  <c:v>11.0729902646</c:v>
                </c:pt>
                <c:pt idx="106">
                  <c:v>11.1221315463</c:v>
                </c:pt>
                <c:pt idx="107">
                  <c:v>11.1714871363</c:v>
                </c:pt>
                <c:pt idx="108">
                  <c:v>11.2210513528</c:v>
                </c:pt>
                <c:pt idx="109">
                  <c:v>11.2708187133</c:v>
                </c:pt>
                <c:pt idx="110">
                  <c:v>11.3207839255</c:v>
                </c:pt>
                <c:pt idx="111">
                  <c:v>11.3709418794</c:v>
                </c:pt>
                <c:pt idx="112">
                  <c:v>11.4212876396</c:v>
                </c:pt>
                <c:pt idx="113">
                  <c:v>11.4718164376</c:v>
                </c:pt>
                <c:pt idx="114">
                  <c:v>11.5225236652</c:v>
                </c:pt>
                <c:pt idx="115">
                  <c:v>11.5734048674</c:v>
                </c:pt>
                <c:pt idx="116">
                  <c:v>11.6244557363</c:v>
                </c:pt>
                <c:pt idx="117">
                  <c:v>11.6756721053</c:v>
                </c:pt>
                <c:pt idx="118">
                  <c:v>11.7270499427</c:v>
                </c:pt>
                <c:pt idx="119">
                  <c:v>11.7785853471</c:v>
                </c:pt>
                <c:pt idx="120">
                  <c:v>11.8302745416</c:v>
                </c:pt>
                <c:pt idx="121">
                  <c:v>11.882113869</c:v>
                </c:pt>
                <c:pt idx="122">
                  <c:v>11.9340997874</c:v>
                </c:pt>
                <c:pt idx="123">
                  <c:v>11.986228865</c:v>
                </c:pt>
                <c:pt idx="124">
                  <c:v>12.0384977768</c:v>
                </c:pt>
                <c:pt idx="125">
                  <c:v>12.0909032997</c:v>
                </c:pt>
                <c:pt idx="126">
                  <c:v>12.1434423088</c:v>
                </c:pt>
                <c:pt idx="127">
                  <c:v>12.196111774</c:v>
                </c:pt>
                <c:pt idx="128">
                  <c:v>12.2489087561</c:v>
                </c:pt>
                <c:pt idx="129">
                  <c:v>12.3018304037</c:v>
                </c:pt>
                <c:pt idx="130">
                  <c:v>12.3548739496</c:v>
                </c:pt>
                <c:pt idx="131">
                  <c:v>12.4080367079</c:v>
                </c:pt>
                <c:pt idx="132">
                  <c:v>12.4613160711</c:v>
                </c:pt>
                <c:pt idx="133">
                  <c:v>12.5147095073</c:v>
                </c:pt>
                <c:pt idx="134">
                  <c:v>12.5682145572</c:v>
                </c:pt>
                <c:pt idx="135">
                  <c:v>12.6218288317</c:v>
                </c:pt>
                <c:pt idx="136">
                  <c:v>12.6755500094</c:v>
                </c:pt>
                <c:pt idx="137">
                  <c:v>12.7293758345</c:v>
                </c:pt>
                <c:pt idx="138">
                  <c:v>12.7833041138</c:v>
                </c:pt>
                <c:pt idx="139">
                  <c:v>12.8373327152</c:v>
                </c:pt>
                <c:pt idx="140">
                  <c:v>12.8914595653</c:v>
                </c:pt>
                <c:pt idx="141">
                  <c:v>12.9456826475</c:v>
                </c:pt>
                <c:pt idx="142">
                  <c:v>13</c:v>
                </c:pt>
              </c:numCache>
            </c:numRef>
          </c:yVal>
          <c:smooth val="0"/>
        </c:ser>
        <c:ser>
          <c:idx val="22"/>
          <c:order val="22"/>
          <c:tx>
            <c:v>gekozen q</c:v>
          </c:tx>
          <c:spPr>
            <a:ln xmlns:a="http://schemas.openxmlformats.org/drawingml/2006/main" w="19050">
              <a:solidFill>
                <a:srgbClr val="445B6B"/>
              </a:solidFill>
              <a:prstDash val="dash"/>
            </a:ln>
          </c:spPr>
          <c:marker>
            <c:symbol val="none"/>
          </c:marker>
          <c:xVal>
            <c:numRef>
              <c:f>'Chart Data'!$AS$2:$AS$3</c:f>
              <c:numCache>
                <c:formatCode>General</c:formatCode>
                <c:ptCount val="2"/>
                <c:pt idx="0">
                  <c:v>60</c:v>
                </c:pt>
                <c:pt idx="1">
                  <c:v>60</c:v>
                </c:pt>
              </c:numCache>
            </c:numRef>
          </c:xVal>
          <c:yVal>
            <c:numRef>
              <c:f>'Chart Data'!$AT$2:$AT$3</c:f>
              <c:numCache>
                <c:formatCode>0</c:formatCode>
                <c:ptCount val="2"/>
                <c:pt idx="0">
                  <c:v>0</c:v>
                </c:pt>
                <c:pt idx="1">
                  <c:v>15</c:v>
                </c:pt>
              </c:numCache>
            </c:numRef>
          </c:yVal>
          <c:smooth val="0"/>
        </c:ser>
        <c:ser>
          <c:idx val="23"/>
          <c:order val="23"/>
          <c:tx>
            <c:v>q-label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 = 60</a:t>
                    </a:r>
                  </a:p>
                </c:rich>
              </c:tx>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l"/>
              <c:showLegendKey val="0"/>
              <c:showVal val="0"/>
              <c:showCatName val="0"/>
              <c:showSerName val="0"/>
              <c:showPercent val="0"/>
              <c:showBubbleSize val="0"/>
            </c:dLbl>
            <c:showLegendKey val="0"/>
            <c:showVal val="0"/>
            <c:showCatName val="0"/>
            <c:showSerName val="0"/>
            <c:showPercent val="0"/>
            <c:showBubbleSize val="0"/>
          </c:dLbls>
          <c:xVal>
            <c:numRef>
              <c:f>'Chart Data'!$AU$2:$AU$2</c:f>
              <c:numCache>
                <c:formatCode>General</c:formatCode>
                <c:ptCount val="1"/>
                <c:pt idx="0">
                  <c:v>60</c:v>
                </c:pt>
              </c:numCache>
            </c:numRef>
          </c:xVal>
          <c:yVal>
            <c:numRef>
              <c:f>'Chart Data'!$AV$2:$AV$2</c:f>
              <c:numCache>
                <c:formatCode>0</c:formatCode>
                <c:ptCount val="1"/>
                <c:pt idx="0">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16.2</c:v>
                </c:pt>
                <c:pt idx="2">
                  <c:v>90</c:v>
                </c:pt>
              </c:numCache>
            </c:numRef>
          </c:xVal>
          <c:yVal>
            <c:numRef>
              <c:f>'Chart Data'!$B$2:$B$4</c:f>
              <c:numCache>
                <c:formatCode>0</c:formatCode>
                <c:ptCount val="3"/>
                <c:pt idx="0">
                  <c:v>15</c:v>
                </c:pt>
                <c:pt idx="1">
                  <c:v>15</c:v>
                </c:pt>
                <c:pt idx="2">
                  <c:v>15</c:v>
                </c:pt>
              </c:numCache>
            </c:numRef>
          </c:yVal>
          <c:smooth val="0"/>
        </c:ser>
        <c:ser>
          <c:idx val="1"/>
          <c:order val="1"/>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73.8</c:v>
                </c:pt>
                <c:pt idx="2">
                  <c:v>90</c:v>
                </c:pt>
              </c:numCache>
            </c:numRef>
          </c:xVal>
          <c:yVal>
            <c:numRef>
              <c:f>'Chart Data'!$D$2:$D$4</c:f>
              <c:numCache>
                <c:formatCode>0</c:formatCode>
                <c:ptCount val="3"/>
                <c:pt idx="0">
                  <c:v>3</c:v>
                </c:pt>
                <c:pt idx="1">
                  <c:v>17.76</c:v>
                </c:pt>
                <c:pt idx="2">
                  <c:v>21</c:v>
                </c:pt>
              </c:numCache>
            </c:numRef>
          </c:yVal>
          <c:smooth val="0"/>
        </c:ser>
        <c:ser>
          <c:idx val="2"/>
          <c:order val="2"/>
          <c:tx>
            <c:v>capaciteit</c:v>
          </c:tx>
          <c:spPr>
            <a:ln xmlns:a="http://schemas.openxmlformats.org/drawingml/2006/main" w="1905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capaciteit 45</a:t>
                    </a:r>
                  </a:p>
                </c:rich>
              </c:tx>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l"/>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45</c:v>
                </c:pt>
                <c:pt idx="1">
                  <c:v>45</c:v>
                </c:pt>
              </c:numCache>
            </c:numRef>
          </c:xVal>
          <c:yVal>
            <c:numRef>
              <c:f>'Chart Data'!$F$2:$F$3</c:f>
              <c:numCache>
                <c:formatCode>0</c:formatCode>
                <c:ptCount val="2"/>
                <c:pt idx="0">
                  <c:v>0</c:v>
                </c:pt>
                <c:pt idx="1">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9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1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100</c:v>
                </c:pt>
                <c:pt idx="2">
                  <c:v>200</c:v>
                </c:pt>
              </c:numCache>
            </c:numRef>
          </c:xVal>
          <c:yVal>
            <c:numRef>
              <c:f>'Chart Data'!$B$2:$B$4</c:f>
              <c:numCache>
                <c:formatCode>0</c:formatCode>
                <c:ptCount val="3"/>
                <c:pt idx="0">
                  <c:v>16</c:v>
                </c:pt>
                <c:pt idx="1">
                  <c:v>16</c:v>
                </c:pt>
                <c:pt idx="2">
                  <c:v>16</c:v>
                </c:pt>
              </c:numCache>
            </c:numRef>
          </c:yVal>
          <c:smooth val="0"/>
        </c:ser>
        <c:ser>
          <c:idx val="1"/>
          <c:order val="1"/>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164</c:v>
                </c:pt>
                <c:pt idx="2">
                  <c:v>200</c:v>
                </c:pt>
              </c:numCache>
            </c:numRef>
          </c:xVal>
          <c:yVal>
            <c:numRef>
              <c:f>'Chart Data'!$D$2:$D$4</c:f>
              <c:numCache>
                <c:formatCode>0</c:formatCode>
                <c:ptCount val="3"/>
                <c:pt idx="0">
                  <c:v>4</c:v>
                </c:pt>
                <c:pt idx="1">
                  <c:v>17.12</c:v>
                </c:pt>
                <c:pt idx="2">
                  <c:v>20</c:v>
                </c:pt>
              </c:numCache>
            </c:numRef>
          </c:yVal>
          <c:smooth val="0"/>
        </c:ser>
        <c:ser>
          <c:idx val="2"/>
          <c:order val="2"/>
          <c:tx>
            <c:v>GTK</c:v>
          </c:tx>
          <c:spPr>
            <a:ln xmlns:a="http://schemas.openxmlformats.org/drawingml/2006/main" w="38100">
              <a:solidFill>
                <a:srgbClr val="B14542"/>
              </a:solidFill>
            </a:ln>
          </c:spPr>
          <c:marker>
            <c:symbol val="none"/>
          </c:marker>
          <c:dLbls>
            <c:dLbl>
              <c:idx val="127"/>
              <c:tx>
                <c:rich>
                  <a:bodyPr xmlns:a="http://schemas.openxmlformats.org/drawingml/2006/main"/>
                  <a:lstStyle xmlns:a="http://schemas.openxmlformats.org/drawingml/2006/main"/>
                  <a:p xmlns:a="http://schemas.openxmlformats.org/drawingml/2006/main">
                    <a:r>
                      <a:rPr sz="1950" b="1">
                        <a:solidFill>
                          <a:srgbClr val="B14542"/>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1950" b="1">
                      <a:solidFill>
                        <a:srgbClr val="B14542"/>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Data'!$E$2:$E$144</c:f>
              <c:numCache>
                <c:formatCode>General</c:formatCode>
                <c:ptCount val="143"/>
                <c:pt idx="0">
                  <c:v>20.8712152522</c:v>
                </c:pt>
                <c:pt idx="1">
                  <c:v>22.1507065718</c:v>
                </c:pt>
                <c:pt idx="2">
                  <c:v>23.4301978915</c:v>
                </c:pt>
                <c:pt idx="3">
                  <c:v>24.7096892111</c:v>
                </c:pt>
                <c:pt idx="4">
                  <c:v>25.9891805307</c:v>
                </c:pt>
                <c:pt idx="5">
                  <c:v>27.2686718503</c:v>
                </c:pt>
                <c:pt idx="6">
                  <c:v>28.54816317</c:v>
                </c:pt>
                <c:pt idx="7">
                  <c:v>29.8276544896</c:v>
                </c:pt>
                <c:pt idx="8">
                  <c:v>31.1071458092</c:v>
                </c:pt>
                <c:pt idx="9">
                  <c:v>32.3866371289</c:v>
                </c:pt>
                <c:pt idx="10">
                  <c:v>33.6661284485</c:v>
                </c:pt>
                <c:pt idx="11">
                  <c:v>34.9456197681</c:v>
                </c:pt>
                <c:pt idx="12">
                  <c:v>36.2251110877</c:v>
                </c:pt>
                <c:pt idx="13">
                  <c:v>37.5046024074</c:v>
                </c:pt>
                <c:pt idx="14">
                  <c:v>38.784093727</c:v>
                </c:pt>
                <c:pt idx="15">
                  <c:v>40.0635850466</c:v>
                </c:pt>
                <c:pt idx="16">
                  <c:v>41.3430763662</c:v>
                </c:pt>
                <c:pt idx="17">
                  <c:v>42.6225676859</c:v>
                </c:pt>
                <c:pt idx="18">
                  <c:v>43.9020590055</c:v>
                </c:pt>
                <c:pt idx="19">
                  <c:v>45.1815503251</c:v>
                </c:pt>
                <c:pt idx="20">
                  <c:v>46.4610416447</c:v>
                </c:pt>
                <c:pt idx="21">
                  <c:v>47.7405329644</c:v>
                </c:pt>
                <c:pt idx="22">
                  <c:v>49.020024284</c:v>
                </c:pt>
                <c:pt idx="23">
                  <c:v>50.2995156036</c:v>
                </c:pt>
                <c:pt idx="24">
                  <c:v>51.5790069233</c:v>
                </c:pt>
                <c:pt idx="25">
                  <c:v>52.8584982429</c:v>
                </c:pt>
                <c:pt idx="26">
                  <c:v>54.1379895625</c:v>
                </c:pt>
                <c:pt idx="27">
                  <c:v>55.4174808821</c:v>
                </c:pt>
                <c:pt idx="28">
                  <c:v>56.6969722018</c:v>
                </c:pt>
                <c:pt idx="29">
                  <c:v>57.9764635214</c:v>
                </c:pt>
                <c:pt idx="30">
                  <c:v>59.255954841</c:v>
                </c:pt>
                <c:pt idx="31">
                  <c:v>60.5354461606</c:v>
                </c:pt>
                <c:pt idx="32">
                  <c:v>61.8149374803</c:v>
                </c:pt>
                <c:pt idx="33">
                  <c:v>63.0944287999</c:v>
                </c:pt>
                <c:pt idx="34">
                  <c:v>64.3739201195</c:v>
                </c:pt>
                <c:pt idx="35">
                  <c:v>65.6534114392</c:v>
                </c:pt>
                <c:pt idx="36">
                  <c:v>66.9329027588</c:v>
                </c:pt>
                <c:pt idx="37">
                  <c:v>68.2123940784</c:v>
                </c:pt>
                <c:pt idx="38">
                  <c:v>69.491885398</c:v>
                </c:pt>
                <c:pt idx="39">
                  <c:v>70.7713767177</c:v>
                </c:pt>
                <c:pt idx="40">
                  <c:v>72.0508680373</c:v>
                </c:pt>
                <c:pt idx="41">
                  <c:v>73.3303593569</c:v>
                </c:pt>
                <c:pt idx="42">
                  <c:v>74.6098506765</c:v>
                </c:pt>
                <c:pt idx="43">
                  <c:v>75.8893419962</c:v>
                </c:pt>
                <c:pt idx="44">
                  <c:v>77.1688333158</c:v>
                </c:pt>
                <c:pt idx="45">
                  <c:v>78.4483246354</c:v>
                </c:pt>
                <c:pt idx="46">
                  <c:v>79.7278159551</c:v>
                </c:pt>
                <c:pt idx="47">
                  <c:v>81.0073072747</c:v>
                </c:pt>
                <c:pt idx="48">
                  <c:v>82.2867985943</c:v>
                </c:pt>
                <c:pt idx="49">
                  <c:v>83.5662899139</c:v>
                </c:pt>
                <c:pt idx="50">
                  <c:v>84.8457812336</c:v>
                </c:pt>
                <c:pt idx="51">
                  <c:v>86.1252725532</c:v>
                </c:pt>
                <c:pt idx="52">
                  <c:v>87.4047638728</c:v>
                </c:pt>
                <c:pt idx="53">
                  <c:v>88.6842551924</c:v>
                </c:pt>
                <c:pt idx="54">
                  <c:v>89.9637465121</c:v>
                </c:pt>
                <c:pt idx="55">
                  <c:v>91.2432378317</c:v>
                </c:pt>
                <c:pt idx="56">
                  <c:v>92.5227291513</c:v>
                </c:pt>
                <c:pt idx="57">
                  <c:v>93.802220471</c:v>
                </c:pt>
                <c:pt idx="58">
                  <c:v>95.0817117906</c:v>
                </c:pt>
                <c:pt idx="59">
                  <c:v>96.3612031102</c:v>
                </c:pt>
                <c:pt idx="60">
                  <c:v>97.6406944298</c:v>
                </c:pt>
                <c:pt idx="61">
                  <c:v>98.9201857495</c:v>
                </c:pt>
                <c:pt idx="62">
                  <c:v>100</c:v>
                </c:pt>
                <c:pt idx="63">
                  <c:v>100.1996770691</c:v>
                </c:pt>
                <c:pt idx="64">
                  <c:v>101.4791683887</c:v>
                </c:pt>
                <c:pt idx="65">
                  <c:v>102.7586597083</c:v>
                </c:pt>
                <c:pt idx="66">
                  <c:v>104.038151028</c:v>
                </c:pt>
                <c:pt idx="67">
                  <c:v>105.3176423476</c:v>
                </c:pt>
                <c:pt idx="68">
                  <c:v>106.5971336672</c:v>
                </c:pt>
                <c:pt idx="69">
                  <c:v>107.8766249868</c:v>
                </c:pt>
                <c:pt idx="70">
                  <c:v>109.1561163065</c:v>
                </c:pt>
                <c:pt idx="71">
                  <c:v>110.4356076261</c:v>
                </c:pt>
                <c:pt idx="72">
                  <c:v>111.7150989457</c:v>
                </c:pt>
                <c:pt idx="73">
                  <c:v>112.9945902654</c:v>
                </c:pt>
                <c:pt idx="74">
                  <c:v>114.274081585</c:v>
                </c:pt>
                <c:pt idx="75">
                  <c:v>115.5535729046</c:v>
                </c:pt>
                <c:pt idx="76">
                  <c:v>116.8330642242</c:v>
                </c:pt>
                <c:pt idx="77">
                  <c:v>118.1125555439</c:v>
                </c:pt>
                <c:pt idx="78">
                  <c:v>119.3920468635</c:v>
                </c:pt>
                <c:pt idx="79">
                  <c:v>120.6715381831</c:v>
                </c:pt>
                <c:pt idx="80">
                  <c:v>121.9510295027</c:v>
                </c:pt>
                <c:pt idx="81">
                  <c:v>123.2305208224</c:v>
                </c:pt>
                <c:pt idx="82">
                  <c:v>124.510012142</c:v>
                </c:pt>
                <c:pt idx="83">
                  <c:v>125.7895034616</c:v>
                </c:pt>
                <c:pt idx="84">
                  <c:v>127.0689947813</c:v>
                </c:pt>
                <c:pt idx="85">
                  <c:v>128.3484861009</c:v>
                </c:pt>
                <c:pt idx="86">
                  <c:v>129.6279774205</c:v>
                </c:pt>
                <c:pt idx="87">
                  <c:v>130.9074687401</c:v>
                </c:pt>
                <c:pt idx="88">
                  <c:v>132.1869600598</c:v>
                </c:pt>
                <c:pt idx="89">
                  <c:v>133.4664513794</c:v>
                </c:pt>
                <c:pt idx="90">
                  <c:v>134.745942699</c:v>
                </c:pt>
                <c:pt idx="91">
                  <c:v>136.0254340186</c:v>
                </c:pt>
                <c:pt idx="92">
                  <c:v>137.3049253383</c:v>
                </c:pt>
                <c:pt idx="93">
                  <c:v>138.5844166579</c:v>
                </c:pt>
                <c:pt idx="94">
                  <c:v>139.8639079775</c:v>
                </c:pt>
                <c:pt idx="95">
                  <c:v>141.1433992972</c:v>
                </c:pt>
                <c:pt idx="96">
                  <c:v>142.4228906168</c:v>
                </c:pt>
                <c:pt idx="97">
                  <c:v>143.7023819364</c:v>
                </c:pt>
                <c:pt idx="98">
                  <c:v>144.981873256</c:v>
                </c:pt>
                <c:pt idx="99">
                  <c:v>146.2613645757</c:v>
                </c:pt>
                <c:pt idx="100">
                  <c:v>147.5408558953</c:v>
                </c:pt>
                <c:pt idx="101">
                  <c:v>148.8203472149</c:v>
                </c:pt>
                <c:pt idx="102">
                  <c:v>150</c:v>
                </c:pt>
                <c:pt idx="103">
                  <c:v>150.0998385345</c:v>
                </c:pt>
                <c:pt idx="104">
                  <c:v>151.3793298542</c:v>
                </c:pt>
                <c:pt idx="105">
                  <c:v>152.6588211738</c:v>
                </c:pt>
                <c:pt idx="106">
                  <c:v>153.9383124934</c:v>
                </c:pt>
                <c:pt idx="107">
                  <c:v>155.2178038131</c:v>
                </c:pt>
                <c:pt idx="108">
                  <c:v>156.4972951327</c:v>
                </c:pt>
                <c:pt idx="109">
                  <c:v>157.7767864523</c:v>
                </c:pt>
                <c:pt idx="110">
                  <c:v>159.0562777719</c:v>
                </c:pt>
                <c:pt idx="111">
                  <c:v>160.3357690916</c:v>
                </c:pt>
                <c:pt idx="112">
                  <c:v>161.6152604112</c:v>
                </c:pt>
                <c:pt idx="113">
                  <c:v>162.8947517308</c:v>
                </c:pt>
                <c:pt idx="114">
                  <c:v>164.1742430504</c:v>
                </c:pt>
                <c:pt idx="115">
                  <c:v>165.4537343701</c:v>
                </c:pt>
                <c:pt idx="116">
                  <c:v>166.7332256897</c:v>
                </c:pt>
                <c:pt idx="117">
                  <c:v>168.0127170093</c:v>
                </c:pt>
                <c:pt idx="118">
                  <c:v>169.2922083289</c:v>
                </c:pt>
                <c:pt idx="119">
                  <c:v>170.5716996486</c:v>
                </c:pt>
                <c:pt idx="120">
                  <c:v>171.8511909682</c:v>
                </c:pt>
                <c:pt idx="121">
                  <c:v>173.1306822878</c:v>
                </c:pt>
                <c:pt idx="122">
                  <c:v>174.4101736075</c:v>
                </c:pt>
                <c:pt idx="123">
                  <c:v>175.6896649271</c:v>
                </c:pt>
                <c:pt idx="124">
                  <c:v>176.9691562467</c:v>
                </c:pt>
                <c:pt idx="125">
                  <c:v>178.2486475663</c:v>
                </c:pt>
                <c:pt idx="126">
                  <c:v>179.528138886</c:v>
                </c:pt>
                <c:pt idx="127">
                  <c:v>180.8076302056</c:v>
                </c:pt>
                <c:pt idx="128">
                  <c:v>182.0871215252</c:v>
                </c:pt>
                <c:pt idx="129">
                  <c:v>183.3666128448</c:v>
                </c:pt>
                <c:pt idx="130">
                  <c:v>184.6461041645</c:v>
                </c:pt>
                <c:pt idx="131">
                  <c:v>185.9255954841</c:v>
                </c:pt>
                <c:pt idx="132">
                  <c:v>187.2050868037</c:v>
                </c:pt>
                <c:pt idx="133">
                  <c:v>188.4845781234</c:v>
                </c:pt>
                <c:pt idx="134">
                  <c:v>189.764069443</c:v>
                </c:pt>
                <c:pt idx="135">
                  <c:v>191.0435607626</c:v>
                </c:pt>
                <c:pt idx="136">
                  <c:v>192.3230520822</c:v>
                </c:pt>
                <c:pt idx="137">
                  <c:v>193.6025434019</c:v>
                </c:pt>
                <c:pt idx="138">
                  <c:v>194.8820347215</c:v>
                </c:pt>
                <c:pt idx="139">
                  <c:v>196.1615260411</c:v>
                </c:pt>
                <c:pt idx="140">
                  <c:v>197.4410173607</c:v>
                </c:pt>
                <c:pt idx="141">
                  <c:v>198.7205086804</c:v>
                </c:pt>
                <c:pt idx="142">
                  <c:v>200</c:v>
                </c:pt>
              </c:numCache>
            </c:numRef>
          </c:xVal>
          <c:yVal>
            <c:numRef>
              <c:f>'Chart Data'!$F$2:$F$144</c:f>
              <c:numCache>
                <c:formatCode>0</c:formatCode>
                <c:ptCount val="143"/>
                <c:pt idx="0">
                  <c:v>24</c:v>
                </c:pt>
                <c:pt idx="1">
                  <c:v>22.9441429647</c:v>
                </c:pt>
                <c:pt idx="2">
                  <c:v>22.0091934726</c:v>
                </c:pt>
                <c:pt idx="3">
                  <c:v>21.1763693995</c:v>
                </c:pt>
                <c:pt idx="4">
                  <c:v>20.4305873239</c:v>
                </c:pt>
                <c:pt idx="5">
                  <c:v>19.7595947811</c:v>
                </c:pt>
                <c:pt idx="6">
                  <c:v>19.153335864</c:v>
                </c:pt>
                <c:pt idx="7">
                  <c:v>18.6034801042</c:v>
                </c:pt>
                <c:pt idx="8">
                  <c:v>18.1030676201</c:v>
                </c:pt>
                <c:pt idx="9">
                  <c:v>17.6462383798</c:v>
                </c:pt>
                <c:pt idx="10">
                  <c:v>17.2280232005</c:v>
                </c:pt>
                <c:pt idx="11">
                  <c:v>16.8441806618</c:v>
                </c:pt>
                <c:pt idx="12">
                  <c:v>16.4910685805</c:v>
                </c:pt>
                <c:pt idx="13">
                  <c:v>16.1655417944</c:v>
                </c:pt>
                <c:pt idx="14">
                  <c:v>15.8648701782</c:v>
                </c:pt>
                <c:pt idx="15">
                  <c:v>15.5866723692</c:v>
                </c:pt>
                <c:pt idx="16">
                  <c:v>15.3288617999</c:v>
                </c:pt>
                <c:pt idx="17">
                  <c:v>15.0896024503</c:v>
                </c:pt>
                <c:pt idx="18">
                  <c:v>14.8672723377</c:v>
                </c:pt>
                <c:pt idx="19">
                  <c:v>14.6604332106</c:v>
                </c:pt>
                <c:pt idx="20">
                  <c:v>14.4678052496</c:v>
                </c:pt>
                <c:pt idx="21">
                  <c:v>14.2882458366</c:v>
                </c:pt>
                <c:pt idx="22">
                  <c:v>14.1207316495</c:v>
                </c:pt>
                <c:pt idx="23">
                  <c:v>13.9643434889</c:v>
                </c:pt>
                <c:pt idx="24">
                  <c:v>13.8182533634</c:v>
                </c:pt>
                <c:pt idx="25">
                  <c:v>13.6817134514</c:v>
                </c:pt>
                <c:pt idx="26">
                  <c:v>13.5540466267</c:v>
                </c:pt>
                <c:pt idx="27">
                  <c:v>13.4346382977</c:v>
                </c:pt>
                <c:pt idx="28">
                  <c:v>13.3229293514</c:v>
                </c:pt>
                <c:pt idx="29">
                  <c:v>13.2184100312</c:v>
                </c:pt>
                <c:pt idx="30">
                  <c:v>13.1206146085</c:v>
                </c:pt>
                <c:pt idx="31">
                  <c:v>13.0291167298</c:v>
                </c:pt>
                <c:pt idx="32">
                  <c:v>12.9435253413</c:v>
                </c:pt>
                <c:pt idx="33">
                  <c:v>12.8634811101</c:v>
                </c:pt>
                <c:pt idx="34">
                  <c:v>12.7886532716</c:v>
                </c:pt>
                <c:pt idx="35">
                  <c:v>12.7187368454</c:v>
                </c:pt>
                <c:pt idx="36">
                  <c:v>12.6534501717</c:v>
                </c:pt>
                <c:pt idx="37">
                  <c:v>12.5925327231</c:v>
                </c:pt>
                <c:pt idx="38">
                  <c:v>12.5357431598</c:v>
                </c:pt>
                <c:pt idx="39">
                  <c:v>12.482857595</c:v>
                </c:pt>
                <c:pt idx="40">
                  <c:v>12.4336680452</c:v>
                </c:pt>
                <c:pt idx="41">
                  <c:v>12.3879810427</c:v>
                </c:pt>
                <c:pt idx="42">
                  <c:v>12.3456163908</c:v>
                </c:pt>
                <c:pt idx="43">
                  <c:v>12.3064060455</c:v>
                </c:pt>
                <c:pt idx="44">
                  <c:v>12.2701931076</c:v>
                </c:pt>
                <c:pt idx="45">
                  <c:v>12.2368309142</c:v>
                </c:pt>
                <c:pt idx="46">
                  <c:v>12.2061822168</c:v>
                </c:pt>
                <c:pt idx="47">
                  <c:v>12.1781184385</c:v>
                </c:pt>
                <c:pt idx="48">
                  <c:v>12.1525189991</c:v>
                </c:pt>
                <c:pt idx="49">
                  <c:v>12.1292707035</c:v>
                </c:pt>
                <c:pt idx="50">
                  <c:v>12.1082671846</c:v>
                </c:pt>
                <c:pt idx="51">
                  <c:v>12.0894083959</c:v>
                </c:pt>
                <c:pt idx="52">
                  <c:v>12.0726001495</c:v>
                </c:pt>
                <c:pt idx="53">
                  <c:v>12.0577536927</c:v>
                </c:pt>
                <c:pt idx="54">
                  <c:v>12.0447853221</c:v>
                </c:pt>
                <c:pt idx="55">
                  <c:v>12.0336160292</c:v>
                </c:pt>
                <c:pt idx="56">
                  <c:v>12.024171176</c:v>
                </c:pt>
                <c:pt idx="57">
                  <c:v>12.0163801969</c:v>
                </c:pt>
                <c:pt idx="58">
                  <c:v>12.0101763245</c:v>
                </c:pt>
                <c:pt idx="59">
                  <c:v>12.0054963377</c:v>
                </c:pt>
                <c:pt idx="60">
                  <c:v>12.002280329</c:v>
                </c:pt>
                <c:pt idx="61">
                  <c:v>12.0004714908</c:v>
                </c:pt>
                <c:pt idx="62">
                  <c:v>12</c:v>
                </c:pt>
                <c:pt idx="63">
                  <c:v>12.0000159166</c:v>
                </c:pt>
                <c:pt idx="64">
                  <c:v>12.000862419</c:v>
                </c:pt>
                <c:pt idx="65">
                  <c:v>12.0029623599</c:v>
                </c:pt>
                <c:pt idx="66">
                  <c:v>12.0062694939</c:v>
                </c:pt>
                <c:pt idx="67">
                  <c:v>12.0107398227</c:v>
                </c:pt>
                <c:pt idx="68">
                  <c:v>12.0163314608</c:v>
                </c:pt>
                <c:pt idx="69">
                  <c:v>12.0230045095</c:v>
                </c:pt>
                <c:pt idx="70">
                  <c:v>12.0307209412</c:v>
                </c:pt>
                <c:pt idx="71">
                  <c:v>12.0394444904</c:v>
                </c:pt>
                <c:pt idx="72">
                  <c:v>12.0491405529</c:v>
                </c:pt>
                <c:pt idx="73">
                  <c:v>12.0597760922</c:v>
                </c:pt>
                <c:pt idx="74">
                  <c:v>12.0713195511</c:v>
                </c:pt>
                <c:pt idx="75">
                  <c:v>12.0837407703</c:v>
                </c:pt>
                <c:pt idx="76">
                  <c:v>12.0970109114</c:v>
                </c:pt>
                <c:pt idx="77">
                  <c:v>12.111102386</c:v>
                </c:pt>
                <c:pt idx="78">
                  <c:v>12.1259887878</c:v>
                </c:pt>
                <c:pt idx="79">
                  <c:v>12.141644831</c:v>
                </c:pt>
                <c:pt idx="80">
                  <c:v>12.1580462906</c:v>
                </c:pt>
                <c:pt idx="81">
                  <c:v>12.1751699479</c:v>
                </c:pt>
                <c:pt idx="82">
                  <c:v>12.1929935384</c:v>
                </c:pt>
                <c:pt idx="83">
                  <c:v>12.2114957037</c:v>
                </c:pt>
                <c:pt idx="84">
                  <c:v>12.2306559455</c:v>
                </c:pt>
                <c:pt idx="85">
                  <c:v>12.250454583</c:v>
                </c:pt>
                <c:pt idx="86">
                  <c:v>12.2708727124</c:v>
                </c:pt>
                <c:pt idx="87">
                  <c:v>12.2918921688</c:v>
                </c:pt>
                <c:pt idx="88">
                  <c:v>12.3134954908</c:v>
                </c:pt>
                <c:pt idx="89">
                  <c:v>12.3356658865</c:v>
                </c:pt>
                <c:pt idx="90">
                  <c:v>12.3583872018</c:v>
                </c:pt>
                <c:pt idx="91">
                  <c:v>12.3816438905</c:v>
                </c:pt>
                <c:pt idx="92">
                  <c:v>12.4054209858</c:v>
                </c:pt>
                <c:pt idx="93">
                  <c:v>12.4297040734</c:v>
                </c:pt>
                <c:pt idx="94">
                  <c:v>12.4544792669</c:v>
                </c:pt>
                <c:pt idx="95">
                  <c:v>12.4797331832</c:v>
                </c:pt>
                <c:pt idx="96">
                  <c:v>12.50545292</c:v>
                </c:pt>
                <c:pt idx="97">
                  <c:v>12.5316260346</c:v>
                </c:pt>
                <c:pt idx="98">
                  <c:v>12.5582405238</c:v>
                </c:pt>
                <c:pt idx="99">
                  <c:v>12.585284804</c:v>
                </c:pt>
                <c:pt idx="100">
                  <c:v>12.6127476937</c:v>
                </c:pt>
                <c:pt idx="101">
                  <c:v>12.6406183957</c:v>
                </c:pt>
                <c:pt idx="102">
                  <c:v>12.6666666667</c:v>
                </c:pt>
                <c:pt idx="103">
                  <c:v>12.6688864813</c:v>
                </c:pt>
                <c:pt idx="104">
                  <c:v>12.6975418741</c:v>
                </c:pt>
                <c:pt idx="105">
                  <c:v>12.7265748356</c:v>
                </c:pt>
                <c:pt idx="106">
                  <c:v>12.755975951</c:v>
                </c:pt>
                <c:pt idx="107">
                  <c:v>12.7857361161</c:v>
                </c:pt>
                <c:pt idx="108">
                  <c:v>12.8158465243</c:v>
                </c:pt>
                <c:pt idx="109">
                  <c:v>12.8462986547</c:v>
                </c:pt>
                <c:pt idx="110">
                  <c:v>12.8770842605</c:v>
                </c:pt>
                <c:pt idx="111">
                  <c:v>12.9081953584</c:v>
                </c:pt>
                <c:pt idx="112">
                  <c:v>12.9396242176</c:v>
                </c:pt>
                <c:pt idx="113">
                  <c:v>12.9713633504</c:v>
                </c:pt>
                <c:pt idx="114">
                  <c:v>13.0034055025</c:v>
                </c:pt>
                <c:pt idx="115">
                  <c:v>13.0357436438</c:v>
                </c:pt>
                <c:pt idx="116">
                  <c:v>13.0683709603</c:v>
                </c:pt>
                <c:pt idx="117">
                  <c:v>13.1012808452</c:v>
                </c:pt>
                <c:pt idx="118">
                  <c:v>13.1344668919</c:v>
                </c:pt>
                <c:pt idx="119">
                  <c:v>13.1679228856</c:v>
                </c:pt>
                <c:pt idx="120">
                  <c:v>13.2016427968</c:v>
                </c:pt>
                <c:pt idx="121">
                  <c:v>13.2356207741</c:v>
                </c:pt>
                <c:pt idx="122">
                  <c:v>13.2698511381</c:v>
                </c:pt>
                <c:pt idx="123">
                  <c:v>13.3043283745</c:v>
                </c:pt>
                <c:pt idx="124">
                  <c:v>13.3390471287</c:v>
                </c:pt>
                <c:pt idx="125">
                  <c:v>13.3740021996</c:v>
                </c:pt>
                <c:pt idx="126">
                  <c:v>13.4091885348</c:v>
                </c:pt>
                <c:pt idx="127">
                  <c:v>13.4446012244</c:v>
                </c:pt>
                <c:pt idx="128">
                  <c:v>13.4802354969</c:v>
                </c:pt>
                <c:pt idx="129">
                  <c:v>13.5160867138</c:v>
                </c:pt>
                <c:pt idx="130">
                  <c:v>13.5521503652</c:v>
                </c:pt>
                <c:pt idx="131">
                  <c:v>13.5884220653</c:v>
                </c:pt>
                <c:pt idx="132">
                  <c:v>13.6248975483</c:v>
                </c:pt>
                <c:pt idx="133">
                  <c:v>13.6615726642</c:v>
                </c:pt>
                <c:pt idx="134">
                  <c:v>13.6984433748</c:v>
                </c:pt>
                <c:pt idx="135">
                  <c:v>13.7355057503</c:v>
                </c:pt>
                <c:pt idx="136">
                  <c:v>13.7727559652</c:v>
                </c:pt>
                <c:pt idx="137">
                  <c:v>13.8101902955</c:v>
                </c:pt>
                <c:pt idx="138">
                  <c:v>13.8478051147</c:v>
                </c:pt>
                <c:pt idx="139">
                  <c:v>13.8855968909</c:v>
                </c:pt>
                <c:pt idx="140">
                  <c:v>13.923562184</c:v>
                </c:pt>
                <c:pt idx="141">
                  <c:v>13.9616976423</c:v>
                </c:pt>
                <c:pt idx="142">
                  <c:v>14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36</c:v>
                </c:pt>
                <c:pt idx="2">
                  <c:v>200</c:v>
                </c:pt>
              </c:numCache>
            </c:numRef>
          </c:xVal>
          <c:yVal>
            <c:numRef>
              <c:f>'Chart Data'!$B$2:$B$4</c:f>
              <c:numCache>
                <c:formatCode>0</c:formatCode>
                <c:ptCount val="3"/>
                <c:pt idx="0">
                  <c:v>16</c:v>
                </c:pt>
                <c:pt idx="1">
                  <c:v>16</c:v>
                </c:pt>
                <c:pt idx="2">
                  <c:v>16</c:v>
                </c:pt>
              </c:numCache>
            </c:numRef>
          </c:yVal>
          <c:smooth val="0"/>
        </c:ser>
        <c:ser>
          <c:idx val="1"/>
          <c:order val="1"/>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164</c:v>
                </c:pt>
                <c:pt idx="2">
                  <c:v>200</c:v>
                </c:pt>
              </c:numCache>
            </c:numRef>
          </c:xVal>
          <c:yVal>
            <c:numRef>
              <c:f>'Chart Data'!$D$2:$D$4</c:f>
              <c:numCache>
                <c:formatCode>0</c:formatCode>
                <c:ptCount val="3"/>
                <c:pt idx="0">
                  <c:v>4</c:v>
                </c:pt>
                <c:pt idx="1">
                  <c:v>17.12</c:v>
                </c:pt>
                <c:pt idx="2">
                  <c:v>20</c:v>
                </c:pt>
              </c:numCache>
            </c:numRef>
          </c:yVal>
          <c:smooth val="0"/>
        </c:ser>
        <c:ser>
          <c:idx val="2"/>
          <c:order val="2"/>
          <c:tx>
            <c:v>gekozen q</c:v>
          </c:tx>
          <c:spPr>
            <a:ln xmlns:a="http://schemas.openxmlformats.org/drawingml/2006/main" w="19050">
              <a:solidFill>
                <a:srgbClr val="445B6B"/>
              </a:solidFill>
              <a:prstDash val="dash"/>
            </a:ln>
          </c:spPr>
          <c:marker>
            <c:symbol val="none"/>
          </c:marker>
          <c:xVal>
            <c:numRef>
              <c:f>'Chart Data'!$E$2:$E$3</c:f>
              <c:numCache>
                <c:formatCode>General</c:formatCode>
                <c:ptCount val="2"/>
                <c:pt idx="0">
                  <c:v>150</c:v>
                </c:pt>
                <c:pt idx="1">
                  <c:v>150</c:v>
                </c:pt>
              </c:numCache>
            </c:numRef>
          </c:xVal>
          <c:yVal>
            <c:numRef>
              <c:f>'Chart Data'!$F$2:$F$3</c:f>
              <c:numCache>
                <c:formatCode>0</c:formatCode>
                <c:ptCount val="2"/>
                <c:pt idx="0">
                  <c:v>0</c:v>
                </c:pt>
                <c:pt idx="1">
                  <c:v>16</c:v>
                </c:pt>
              </c:numCache>
            </c:numRef>
          </c:yVal>
          <c:smooth val="0"/>
        </c:ser>
        <c:ser>
          <c:idx val="3"/>
          <c:order val="3"/>
          <c:tx>
            <c:v>q-label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 = 150</a:t>
                    </a:r>
                  </a:p>
                </c:rich>
              </c:tx>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l"/>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150</c:v>
                </c:pt>
              </c:numCache>
            </c:numRef>
          </c:xVal>
          <c:yVal>
            <c:numRef>
              <c:f>'Chart Data'!$H$2:$H$2</c:f>
              <c:numCache>
                <c:formatCode>0</c:formatCode>
                <c:ptCount val="1"/>
                <c:pt idx="0">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
        <c:ser>
          <c:idx val="0"/>
          <c:order val="0"/>
          <c:tx>
            <c:v>winstarcering</c:v>
          </c:tx>
          <c:spPr>
            <a:ln xmlns:a="http://schemas.openxmlformats.org/drawingml/2006/main" w="14288">
              <a:solidFill>
                <a:srgbClr val="C9DDD5"/>
              </a:solidFill>
            </a:ln>
          </c:spPr>
          <c:marker>
            <c:symbol val="none"/>
          </c:marker>
          <c:xVal>
            <c:numRef>
              <c:f>'Chart Data'!$A$2:$A$3</c:f>
              <c:numCache>
                <c:formatCode>General</c:formatCode>
                <c:ptCount val="2"/>
                <c:pt idx="0">
                  <c:v>0</c:v>
                </c:pt>
                <c:pt idx="1">
                  <c:v>12.5</c:v>
                </c:pt>
              </c:numCache>
            </c:numRef>
          </c:xVal>
          <c:yVal>
            <c:numRef>
              <c:f>'Chart Data'!$B$2:$B$3</c:f>
              <c:numCache>
                <c:formatCode>0</c:formatCode>
                <c:ptCount val="2"/>
                <c:pt idx="0">
                  <c:v>12.6666666667</c:v>
                </c:pt>
                <c:pt idx="1">
                  <c:v>16</c:v>
                </c:pt>
              </c:numCache>
            </c:numRef>
          </c:yVal>
          <c:smooth val="0"/>
        </c:ser>
        <c:ser>
          <c:idx val="1"/>
          <c:order val="1"/>
          <c:tx>
            <c:v>winstarcering</c:v>
          </c:tx>
          <c:spPr>
            <a:ln xmlns:a="http://schemas.openxmlformats.org/drawingml/2006/main" w="14288">
              <a:solidFill>
                <a:srgbClr val="C9DDD5"/>
              </a:solidFill>
            </a:ln>
          </c:spPr>
          <c:marker>
            <c:symbol val="none"/>
          </c:marker>
          <c:xVal>
            <c:numRef>
              <c:f>'Chart Data'!$C$2:$C$3</c:f>
              <c:numCache>
                <c:formatCode>General</c:formatCode>
                <c:ptCount val="2"/>
                <c:pt idx="0">
                  <c:v>8.3333333333</c:v>
                </c:pt>
                <c:pt idx="1">
                  <c:v>20.8333333333</c:v>
                </c:pt>
              </c:numCache>
            </c:numRef>
          </c:xVal>
          <c:yVal>
            <c:numRef>
              <c:f>'Chart Data'!$D$2:$D$3</c:f>
              <c:numCache>
                <c:formatCode>0</c:formatCode>
                <c:ptCount val="2"/>
                <c:pt idx="0">
                  <c:v>12.6666666667</c:v>
                </c:pt>
                <c:pt idx="1">
                  <c:v>16</c:v>
                </c:pt>
              </c:numCache>
            </c:numRef>
          </c:yVal>
          <c:smooth val="0"/>
        </c:ser>
        <c:ser>
          <c:idx val="2"/>
          <c:order val="2"/>
          <c:tx>
            <c:v>winstarcering</c:v>
          </c:tx>
          <c:spPr>
            <a:ln xmlns:a="http://schemas.openxmlformats.org/drawingml/2006/main" w="14288">
              <a:solidFill>
                <a:srgbClr val="C9DDD5"/>
              </a:solidFill>
            </a:ln>
          </c:spPr>
          <c:marker>
            <c:symbol val="none"/>
          </c:marker>
          <c:xVal>
            <c:numRef>
              <c:f>'Chart Data'!$E$2:$E$3</c:f>
              <c:numCache>
                <c:formatCode>General</c:formatCode>
                <c:ptCount val="2"/>
                <c:pt idx="0">
                  <c:v>16.6666666667</c:v>
                </c:pt>
                <c:pt idx="1">
                  <c:v>29.1666666667</c:v>
                </c:pt>
              </c:numCache>
            </c:numRef>
          </c:xVal>
          <c:yVal>
            <c:numRef>
              <c:f>'Chart Data'!$F$2:$F$3</c:f>
              <c:numCache>
                <c:formatCode>0</c:formatCode>
                <c:ptCount val="2"/>
                <c:pt idx="0">
                  <c:v>12.6666666667</c:v>
                </c:pt>
                <c:pt idx="1">
                  <c:v>16</c:v>
                </c:pt>
              </c:numCache>
            </c:numRef>
          </c:yVal>
          <c:smooth val="0"/>
        </c:ser>
        <c:ser>
          <c:idx val="3"/>
          <c:order val="3"/>
          <c:tx>
            <c:v>winstarcering</c:v>
          </c:tx>
          <c:spPr>
            <a:ln xmlns:a="http://schemas.openxmlformats.org/drawingml/2006/main" w="14288">
              <a:solidFill>
                <a:srgbClr val="C9DDD5"/>
              </a:solidFill>
            </a:ln>
          </c:spPr>
          <c:marker>
            <c:symbol val="none"/>
          </c:marker>
          <c:xVal>
            <c:numRef>
              <c:f>'Chart Data'!$G$2:$G$3</c:f>
              <c:numCache>
                <c:formatCode>General</c:formatCode>
                <c:ptCount val="2"/>
                <c:pt idx="0">
                  <c:v>25</c:v>
                </c:pt>
                <c:pt idx="1">
                  <c:v>37.5</c:v>
                </c:pt>
              </c:numCache>
            </c:numRef>
          </c:xVal>
          <c:yVal>
            <c:numRef>
              <c:f>'Chart Data'!$H$2:$H$3</c:f>
              <c:numCache>
                <c:formatCode>0</c:formatCode>
                <c:ptCount val="2"/>
                <c:pt idx="0">
                  <c:v>12.6666666667</c:v>
                </c:pt>
                <c:pt idx="1">
                  <c:v>16</c:v>
                </c:pt>
              </c:numCache>
            </c:numRef>
          </c:yVal>
          <c:smooth val="0"/>
        </c:ser>
        <c:ser>
          <c:idx val="4"/>
          <c:order val="4"/>
          <c:tx>
            <c:v>winstarcering</c:v>
          </c:tx>
          <c:spPr>
            <a:ln xmlns:a="http://schemas.openxmlformats.org/drawingml/2006/main" w="14288">
              <a:solidFill>
                <a:srgbClr val="C9DDD5"/>
              </a:solidFill>
            </a:ln>
          </c:spPr>
          <c:marker>
            <c:symbol val="none"/>
          </c:marker>
          <c:xVal>
            <c:numRef>
              <c:f>'Chart Data'!$I$2:$I$3</c:f>
              <c:numCache>
                <c:formatCode>General</c:formatCode>
                <c:ptCount val="2"/>
                <c:pt idx="0">
                  <c:v>33.3333333333</c:v>
                </c:pt>
                <c:pt idx="1">
                  <c:v>45.8333333333</c:v>
                </c:pt>
              </c:numCache>
            </c:numRef>
          </c:xVal>
          <c:yVal>
            <c:numRef>
              <c:f>'Chart Data'!$J$2:$J$3</c:f>
              <c:numCache>
                <c:formatCode>0</c:formatCode>
                <c:ptCount val="2"/>
                <c:pt idx="0">
                  <c:v>12.6666666667</c:v>
                </c:pt>
                <c:pt idx="1">
                  <c:v>16</c:v>
                </c:pt>
              </c:numCache>
            </c:numRef>
          </c:yVal>
          <c:smooth val="0"/>
        </c:ser>
        <c:ser>
          <c:idx val="5"/>
          <c:order val="5"/>
          <c:tx>
            <c:v>winstarcering</c:v>
          </c:tx>
          <c:spPr>
            <a:ln xmlns:a="http://schemas.openxmlformats.org/drawingml/2006/main" w="14288">
              <a:solidFill>
                <a:srgbClr val="C9DDD5"/>
              </a:solidFill>
            </a:ln>
          </c:spPr>
          <c:marker>
            <c:symbol val="none"/>
          </c:marker>
          <c:xVal>
            <c:numRef>
              <c:f>'Chart Data'!$K$2:$K$3</c:f>
              <c:numCache>
                <c:formatCode>General</c:formatCode>
                <c:ptCount val="2"/>
                <c:pt idx="0">
                  <c:v>41.6666666667</c:v>
                </c:pt>
                <c:pt idx="1">
                  <c:v>54.1666666667</c:v>
                </c:pt>
              </c:numCache>
            </c:numRef>
          </c:xVal>
          <c:yVal>
            <c:numRef>
              <c:f>'Chart Data'!$L$2:$L$3</c:f>
              <c:numCache>
                <c:formatCode>0</c:formatCode>
                <c:ptCount val="2"/>
                <c:pt idx="0">
                  <c:v>12.6666666667</c:v>
                </c:pt>
                <c:pt idx="1">
                  <c:v>16</c:v>
                </c:pt>
              </c:numCache>
            </c:numRef>
          </c:yVal>
          <c:smooth val="0"/>
        </c:ser>
        <c:ser>
          <c:idx val="6"/>
          <c:order val="6"/>
          <c:tx>
            <c:v>winstarcering</c:v>
          </c:tx>
          <c:spPr>
            <a:ln xmlns:a="http://schemas.openxmlformats.org/drawingml/2006/main" w="14288">
              <a:solidFill>
                <a:srgbClr val="C9DDD5"/>
              </a:solidFill>
            </a:ln>
          </c:spPr>
          <c:marker>
            <c:symbol val="none"/>
          </c:marker>
          <c:xVal>
            <c:numRef>
              <c:f>'Chart Data'!$M$2:$M$3</c:f>
              <c:numCache>
                <c:formatCode>General</c:formatCode>
                <c:ptCount val="2"/>
                <c:pt idx="0">
                  <c:v>50</c:v>
                </c:pt>
                <c:pt idx="1">
                  <c:v>62.5</c:v>
                </c:pt>
              </c:numCache>
            </c:numRef>
          </c:xVal>
          <c:yVal>
            <c:numRef>
              <c:f>'Chart Data'!$N$2:$N$3</c:f>
              <c:numCache>
                <c:formatCode>0</c:formatCode>
                <c:ptCount val="2"/>
                <c:pt idx="0">
                  <c:v>12.6666666667</c:v>
                </c:pt>
                <c:pt idx="1">
                  <c:v>16</c:v>
                </c:pt>
              </c:numCache>
            </c:numRef>
          </c:yVal>
          <c:smooth val="0"/>
        </c:ser>
        <c:ser>
          <c:idx val="7"/>
          <c:order val="7"/>
          <c:tx>
            <c:v>winstarcering</c:v>
          </c:tx>
          <c:spPr>
            <a:ln xmlns:a="http://schemas.openxmlformats.org/drawingml/2006/main" w="14288">
              <a:solidFill>
                <a:srgbClr val="C9DDD5"/>
              </a:solidFill>
            </a:ln>
          </c:spPr>
          <c:marker>
            <c:symbol val="none"/>
          </c:marker>
          <c:xVal>
            <c:numRef>
              <c:f>'Chart Data'!$O$2:$O$3</c:f>
              <c:numCache>
                <c:formatCode>General</c:formatCode>
                <c:ptCount val="2"/>
                <c:pt idx="0">
                  <c:v>58.3333333333</c:v>
                </c:pt>
                <c:pt idx="1">
                  <c:v>70.8333333333</c:v>
                </c:pt>
              </c:numCache>
            </c:numRef>
          </c:xVal>
          <c:yVal>
            <c:numRef>
              <c:f>'Chart Data'!$P$2:$P$3</c:f>
              <c:numCache>
                <c:formatCode>0</c:formatCode>
                <c:ptCount val="2"/>
                <c:pt idx="0">
                  <c:v>12.6666666667</c:v>
                </c:pt>
                <c:pt idx="1">
                  <c:v>16</c:v>
                </c:pt>
              </c:numCache>
            </c:numRef>
          </c:yVal>
          <c:smooth val="0"/>
        </c:ser>
        <c:ser>
          <c:idx val="8"/>
          <c:order val="8"/>
          <c:tx>
            <c:v>winstarcering</c:v>
          </c:tx>
          <c:spPr>
            <a:ln xmlns:a="http://schemas.openxmlformats.org/drawingml/2006/main" w="14288">
              <a:solidFill>
                <a:srgbClr val="C9DDD5"/>
              </a:solidFill>
            </a:ln>
          </c:spPr>
          <c:marker>
            <c:symbol val="none"/>
          </c:marker>
          <c:xVal>
            <c:numRef>
              <c:f>'Chart Data'!$Q$2:$Q$3</c:f>
              <c:numCache>
                <c:formatCode>General</c:formatCode>
                <c:ptCount val="2"/>
                <c:pt idx="0">
                  <c:v>66.6666666667</c:v>
                </c:pt>
                <c:pt idx="1">
                  <c:v>79.1666666667</c:v>
                </c:pt>
              </c:numCache>
            </c:numRef>
          </c:xVal>
          <c:yVal>
            <c:numRef>
              <c:f>'Chart Data'!$R$2:$R$3</c:f>
              <c:numCache>
                <c:formatCode>0</c:formatCode>
                <c:ptCount val="2"/>
                <c:pt idx="0">
                  <c:v>12.6666666667</c:v>
                </c:pt>
                <c:pt idx="1">
                  <c:v>16</c:v>
                </c:pt>
              </c:numCache>
            </c:numRef>
          </c:yVal>
          <c:smooth val="0"/>
        </c:ser>
        <c:ser>
          <c:idx val="9"/>
          <c:order val="9"/>
          <c:tx>
            <c:v>winstarcering</c:v>
          </c:tx>
          <c:spPr>
            <a:ln xmlns:a="http://schemas.openxmlformats.org/drawingml/2006/main" w="14288">
              <a:solidFill>
                <a:srgbClr val="C9DDD5"/>
              </a:solidFill>
            </a:ln>
          </c:spPr>
          <c:marker>
            <c:symbol val="none"/>
          </c:marker>
          <c:xVal>
            <c:numRef>
              <c:f>'Chart Data'!$S$2:$S$3</c:f>
              <c:numCache>
                <c:formatCode>General</c:formatCode>
                <c:ptCount val="2"/>
                <c:pt idx="0">
                  <c:v>75</c:v>
                </c:pt>
                <c:pt idx="1">
                  <c:v>87.5</c:v>
                </c:pt>
              </c:numCache>
            </c:numRef>
          </c:xVal>
          <c:yVal>
            <c:numRef>
              <c:f>'Chart Data'!$T$2:$T$3</c:f>
              <c:numCache>
                <c:formatCode>0</c:formatCode>
                <c:ptCount val="2"/>
                <c:pt idx="0">
                  <c:v>12.6666666667</c:v>
                </c:pt>
                <c:pt idx="1">
                  <c:v>16</c:v>
                </c:pt>
              </c:numCache>
            </c:numRef>
          </c:yVal>
          <c:smooth val="0"/>
        </c:ser>
        <c:ser>
          <c:idx val="10"/>
          <c:order val="10"/>
          <c:tx>
            <c:v>winstarcering</c:v>
          </c:tx>
          <c:spPr>
            <a:ln xmlns:a="http://schemas.openxmlformats.org/drawingml/2006/main" w="14288">
              <a:solidFill>
                <a:srgbClr val="C9DDD5"/>
              </a:solidFill>
            </a:ln>
          </c:spPr>
          <c:marker>
            <c:symbol val="none"/>
          </c:marker>
          <c:xVal>
            <c:numRef>
              <c:f>'Chart Data'!$U$2:$U$3</c:f>
              <c:numCache>
                <c:formatCode>General</c:formatCode>
                <c:ptCount val="2"/>
                <c:pt idx="0">
                  <c:v>83.3333333333</c:v>
                </c:pt>
                <c:pt idx="1">
                  <c:v>95.8333333333</c:v>
                </c:pt>
              </c:numCache>
            </c:numRef>
          </c:xVal>
          <c:yVal>
            <c:numRef>
              <c:f>'Chart Data'!$V$2:$V$3</c:f>
              <c:numCache>
                <c:formatCode>0</c:formatCode>
                <c:ptCount val="2"/>
                <c:pt idx="0">
                  <c:v>12.6666666667</c:v>
                </c:pt>
                <c:pt idx="1">
                  <c:v>16</c:v>
                </c:pt>
              </c:numCache>
            </c:numRef>
          </c:yVal>
          <c:smooth val="0"/>
        </c:ser>
        <c:ser>
          <c:idx val="11"/>
          <c:order val="11"/>
          <c:tx>
            <c:v>winstarcering</c:v>
          </c:tx>
          <c:spPr>
            <a:ln xmlns:a="http://schemas.openxmlformats.org/drawingml/2006/main" w="14288">
              <a:solidFill>
                <a:srgbClr val="C9DDD5"/>
              </a:solidFill>
            </a:ln>
          </c:spPr>
          <c:marker>
            <c:symbol val="none"/>
          </c:marker>
          <c:xVal>
            <c:numRef>
              <c:f>'Chart Data'!$W$2:$W$3</c:f>
              <c:numCache>
                <c:formatCode>General</c:formatCode>
                <c:ptCount val="2"/>
                <c:pt idx="0">
                  <c:v>91.6666666667</c:v>
                </c:pt>
                <c:pt idx="1">
                  <c:v>104.1666666667</c:v>
                </c:pt>
              </c:numCache>
            </c:numRef>
          </c:xVal>
          <c:yVal>
            <c:numRef>
              <c:f>'Chart Data'!$X$2:$X$3</c:f>
              <c:numCache>
                <c:formatCode>0</c:formatCode>
                <c:ptCount val="2"/>
                <c:pt idx="0">
                  <c:v>12.6666666667</c:v>
                </c:pt>
                <c:pt idx="1">
                  <c:v>16</c:v>
                </c:pt>
              </c:numCache>
            </c:numRef>
          </c:yVal>
          <c:smooth val="0"/>
        </c:ser>
        <c:ser>
          <c:idx val="12"/>
          <c:order val="12"/>
          <c:tx>
            <c:v>winstarcering</c:v>
          </c:tx>
          <c:spPr>
            <a:ln xmlns:a="http://schemas.openxmlformats.org/drawingml/2006/main" w="14288">
              <a:solidFill>
                <a:srgbClr val="C9DDD5"/>
              </a:solidFill>
            </a:ln>
          </c:spPr>
          <c:marker>
            <c:symbol val="none"/>
          </c:marker>
          <c:xVal>
            <c:numRef>
              <c:f>'Chart Data'!$Y$2:$Y$3</c:f>
              <c:numCache>
                <c:formatCode>General</c:formatCode>
                <c:ptCount val="2"/>
                <c:pt idx="0">
                  <c:v>100</c:v>
                </c:pt>
                <c:pt idx="1">
                  <c:v>112.5</c:v>
                </c:pt>
              </c:numCache>
            </c:numRef>
          </c:xVal>
          <c:yVal>
            <c:numRef>
              <c:f>'Chart Data'!$Z$2:$Z$3</c:f>
              <c:numCache>
                <c:formatCode>0</c:formatCode>
                <c:ptCount val="2"/>
                <c:pt idx="0">
                  <c:v>12.6666666667</c:v>
                </c:pt>
                <c:pt idx="1">
                  <c:v>16</c:v>
                </c:pt>
              </c:numCache>
            </c:numRef>
          </c:yVal>
          <c:smooth val="0"/>
        </c:ser>
        <c:ser>
          <c:idx val="13"/>
          <c:order val="13"/>
          <c:tx>
            <c:v>winstarcering</c:v>
          </c:tx>
          <c:spPr>
            <a:ln xmlns:a="http://schemas.openxmlformats.org/drawingml/2006/main" w="14288">
              <a:solidFill>
                <a:srgbClr val="C9DDD5"/>
              </a:solidFill>
            </a:ln>
          </c:spPr>
          <c:marker>
            <c:symbol val="none"/>
          </c:marker>
          <c:xVal>
            <c:numRef>
              <c:f>'Chart Data'!$AA$2:$AA$3</c:f>
              <c:numCache>
                <c:formatCode>General</c:formatCode>
                <c:ptCount val="2"/>
                <c:pt idx="0">
                  <c:v>108.3333333333</c:v>
                </c:pt>
                <c:pt idx="1">
                  <c:v>120.8333333333</c:v>
                </c:pt>
              </c:numCache>
            </c:numRef>
          </c:xVal>
          <c:yVal>
            <c:numRef>
              <c:f>'Chart Data'!$AB$2:$AB$3</c:f>
              <c:numCache>
                <c:formatCode>0</c:formatCode>
                <c:ptCount val="2"/>
                <c:pt idx="0">
                  <c:v>12.6666666667</c:v>
                </c:pt>
                <c:pt idx="1">
                  <c:v>16</c:v>
                </c:pt>
              </c:numCache>
            </c:numRef>
          </c:yVal>
          <c:smooth val="0"/>
        </c:ser>
        <c:ser>
          <c:idx val="14"/>
          <c:order val="14"/>
          <c:tx>
            <c:v>winstarcering</c:v>
          </c:tx>
          <c:spPr>
            <a:ln xmlns:a="http://schemas.openxmlformats.org/drawingml/2006/main" w="14288">
              <a:solidFill>
                <a:srgbClr val="C9DDD5"/>
              </a:solidFill>
            </a:ln>
          </c:spPr>
          <c:marker>
            <c:symbol val="none"/>
          </c:marker>
          <c:xVal>
            <c:numRef>
              <c:f>'Chart Data'!$AC$2:$AC$3</c:f>
              <c:numCache>
                <c:formatCode>General</c:formatCode>
                <c:ptCount val="2"/>
                <c:pt idx="0">
                  <c:v>116.6666666667</c:v>
                </c:pt>
                <c:pt idx="1">
                  <c:v>129.1666666667</c:v>
                </c:pt>
              </c:numCache>
            </c:numRef>
          </c:xVal>
          <c:yVal>
            <c:numRef>
              <c:f>'Chart Data'!$AD$2:$AD$3</c:f>
              <c:numCache>
                <c:formatCode>0</c:formatCode>
                <c:ptCount val="2"/>
                <c:pt idx="0">
                  <c:v>12.6666666667</c:v>
                </c:pt>
                <c:pt idx="1">
                  <c:v>16</c:v>
                </c:pt>
              </c:numCache>
            </c:numRef>
          </c:yVal>
          <c:smooth val="0"/>
        </c:ser>
        <c:ser>
          <c:idx val="15"/>
          <c:order val="15"/>
          <c:tx>
            <c:v>winstarcering</c:v>
          </c:tx>
          <c:spPr>
            <a:ln xmlns:a="http://schemas.openxmlformats.org/drawingml/2006/main" w="14288">
              <a:solidFill>
                <a:srgbClr val="C9DDD5"/>
              </a:solidFill>
            </a:ln>
          </c:spPr>
          <c:marker>
            <c:symbol val="none"/>
          </c:marker>
          <c:xVal>
            <c:numRef>
              <c:f>'Chart Data'!$AE$2:$AE$3</c:f>
              <c:numCache>
                <c:formatCode>General</c:formatCode>
                <c:ptCount val="2"/>
                <c:pt idx="0">
                  <c:v>125</c:v>
                </c:pt>
                <c:pt idx="1">
                  <c:v>137.5</c:v>
                </c:pt>
              </c:numCache>
            </c:numRef>
          </c:xVal>
          <c:yVal>
            <c:numRef>
              <c:f>'Chart Data'!$AF$2:$AF$3</c:f>
              <c:numCache>
                <c:formatCode>0</c:formatCode>
                <c:ptCount val="2"/>
                <c:pt idx="0">
                  <c:v>12.6666666667</c:v>
                </c:pt>
                <c:pt idx="1">
                  <c:v>16</c:v>
                </c:pt>
              </c:numCache>
            </c:numRef>
          </c:yVal>
          <c:smooth val="0"/>
        </c:ser>
        <c:ser>
          <c:idx val="16"/>
          <c:order val="16"/>
          <c:tx>
            <c:v>winstarcering</c:v>
          </c:tx>
          <c:spPr>
            <a:ln xmlns:a="http://schemas.openxmlformats.org/drawingml/2006/main" w="14288">
              <a:solidFill>
                <a:srgbClr val="C9DDD5"/>
              </a:solidFill>
            </a:ln>
          </c:spPr>
          <c:marker>
            <c:symbol val="none"/>
          </c:marker>
          <c:xVal>
            <c:numRef>
              <c:f>'Chart Data'!$AG$2:$AG$3</c:f>
              <c:numCache>
                <c:formatCode>General</c:formatCode>
                <c:ptCount val="2"/>
                <c:pt idx="0">
                  <c:v>133.3333333333</c:v>
                </c:pt>
                <c:pt idx="1">
                  <c:v>145.8333333333</c:v>
                </c:pt>
              </c:numCache>
            </c:numRef>
          </c:xVal>
          <c:yVal>
            <c:numRef>
              <c:f>'Chart Data'!$AH$2:$AH$3</c:f>
              <c:numCache>
                <c:formatCode>0</c:formatCode>
                <c:ptCount val="2"/>
                <c:pt idx="0">
                  <c:v>12.6666666667</c:v>
                </c:pt>
                <c:pt idx="1">
                  <c:v>16</c:v>
                </c:pt>
              </c:numCache>
            </c:numRef>
          </c:yVal>
          <c:smooth val="0"/>
        </c:ser>
        <c:ser>
          <c:idx val="17"/>
          <c:order val="17"/>
          <c:tx>
            <c:v>winstarcering</c:v>
          </c:tx>
          <c:spPr>
            <a:ln xmlns:a="http://schemas.openxmlformats.org/drawingml/2006/main" w="14288">
              <a:solidFill>
                <a:srgbClr val="C9DDD5"/>
              </a:solidFill>
            </a:ln>
          </c:spPr>
          <c:marker>
            <c:symbol val="none"/>
          </c:marker>
          <c:xVal>
            <c:numRef>
              <c:f>'Chart Data'!$AI$2:$AI$3</c:f>
              <c:numCache>
                <c:formatCode>General</c:formatCode>
                <c:ptCount val="2"/>
                <c:pt idx="0">
                  <c:v>141.6666666667</c:v>
                </c:pt>
                <c:pt idx="1">
                  <c:v>150</c:v>
                </c:pt>
              </c:numCache>
            </c:numRef>
          </c:xVal>
          <c:yVal>
            <c:numRef>
              <c:f>'Chart Data'!$AJ$2:$AJ$3</c:f>
              <c:numCache>
                <c:formatCode>0</c:formatCode>
                <c:ptCount val="2"/>
                <c:pt idx="0">
                  <c:v>12.6666666667</c:v>
                </c:pt>
                <c:pt idx="1">
                  <c:v>16</c:v>
                </c:pt>
              </c:numCache>
            </c:numRef>
          </c:yVal>
          <c:smooth val="0"/>
        </c:ser>
        <c:ser>
          <c:idx val="18"/>
          <c:order val="18"/>
          <c:tx>
            <c:v>winstrechthoek</c:v>
          </c:tx>
          <c:spPr>
            <a:ln xmlns:a="http://schemas.openxmlformats.org/drawingml/2006/main" w="28575">
              <a:solidFill>
                <a:srgbClr val="20665B"/>
              </a:solidFill>
            </a:ln>
          </c:spPr>
          <c:marker>
            <c:symbol val="none"/>
          </c:marker>
          <c:xVal>
            <c:numRef>
              <c:f>'Chart Data'!$AK$2:$AK$6</c:f>
              <c:numCache>
                <c:formatCode>General</c:formatCode>
                <c:ptCount val="5"/>
                <c:pt idx="0">
                  <c:v>0</c:v>
                </c:pt>
                <c:pt idx="1">
                  <c:v>150</c:v>
                </c:pt>
                <c:pt idx="2">
                  <c:v>150</c:v>
                </c:pt>
                <c:pt idx="3">
                  <c:v>0</c:v>
                </c:pt>
                <c:pt idx="4">
                  <c:v>0</c:v>
                </c:pt>
              </c:numCache>
            </c:numRef>
          </c:xVal>
          <c:yVal>
            <c:numRef>
              <c:f>'Chart Data'!$AL$2:$AL$6</c:f>
              <c:numCache>
                <c:formatCode>0</c:formatCode>
                <c:ptCount val="5"/>
                <c:pt idx="0">
                  <c:v>12.6666666667</c:v>
                </c:pt>
                <c:pt idx="1">
                  <c:v>12.6666666667</c:v>
                </c:pt>
                <c:pt idx="2">
                  <c:v>16</c:v>
                </c:pt>
                <c:pt idx="3">
                  <c:v>16</c:v>
                </c:pt>
                <c:pt idx="4">
                  <c:v>12.6666666667</c:v>
                </c:pt>
              </c:numCache>
            </c:numRef>
          </c:yVal>
          <c:smooth val="0"/>
        </c:ser>
        <c:ser>
          <c:idx val="19"/>
          <c:order val="19"/>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Data'!$AM$2:$AM$4</c:f>
              <c:numCache>
                <c:formatCode>General</c:formatCode>
                <c:ptCount val="3"/>
                <c:pt idx="0">
                  <c:v>0</c:v>
                </c:pt>
                <c:pt idx="1">
                  <c:v>100</c:v>
                </c:pt>
                <c:pt idx="2">
                  <c:v>200</c:v>
                </c:pt>
              </c:numCache>
            </c:numRef>
          </c:xVal>
          <c:yVal>
            <c:numRef>
              <c:f>'Chart Data'!$AN$2:$AN$4</c:f>
              <c:numCache>
                <c:formatCode>0</c:formatCode>
                <c:ptCount val="3"/>
                <c:pt idx="0">
                  <c:v>16</c:v>
                </c:pt>
                <c:pt idx="1">
                  <c:v>16</c:v>
                </c:pt>
                <c:pt idx="2">
                  <c:v>16</c:v>
                </c:pt>
              </c:numCache>
            </c:numRef>
          </c:yVal>
          <c:smooth val="0"/>
        </c:ser>
        <c:ser>
          <c:idx val="20"/>
          <c:order val="20"/>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Data'!$AO$2:$AO$4</c:f>
              <c:numCache>
                <c:formatCode>General</c:formatCode>
                <c:ptCount val="3"/>
                <c:pt idx="0">
                  <c:v>0</c:v>
                </c:pt>
                <c:pt idx="1">
                  <c:v>164</c:v>
                </c:pt>
                <c:pt idx="2">
                  <c:v>200</c:v>
                </c:pt>
              </c:numCache>
            </c:numRef>
          </c:xVal>
          <c:yVal>
            <c:numRef>
              <c:f>'Chart Data'!$AP$2:$AP$4</c:f>
              <c:numCache>
                <c:formatCode>0</c:formatCode>
                <c:ptCount val="3"/>
                <c:pt idx="0">
                  <c:v>4</c:v>
                </c:pt>
                <c:pt idx="1">
                  <c:v>17.12</c:v>
                </c:pt>
                <c:pt idx="2">
                  <c:v>20</c:v>
                </c:pt>
              </c:numCache>
            </c:numRef>
          </c:yVal>
          <c:smooth val="0"/>
        </c:ser>
        <c:ser>
          <c:idx val="21"/>
          <c:order val="21"/>
          <c:tx>
            <c:v>GTK</c:v>
          </c:tx>
          <c:spPr>
            <a:ln xmlns:a="http://schemas.openxmlformats.org/drawingml/2006/main" w="38100">
              <a:solidFill>
                <a:srgbClr val="B14542"/>
              </a:solidFill>
            </a:ln>
          </c:spPr>
          <c:marker>
            <c:symbol val="none"/>
          </c:marker>
          <c:dLbls>
            <c:dLbl>
              <c:idx val="127"/>
              <c:tx>
                <c:rich>
                  <a:bodyPr xmlns:a="http://schemas.openxmlformats.org/drawingml/2006/main"/>
                  <a:lstStyle xmlns:a="http://schemas.openxmlformats.org/drawingml/2006/main"/>
                  <a:p xmlns:a="http://schemas.openxmlformats.org/drawingml/2006/main">
                    <a:r>
                      <a:rPr sz="1950" b="1">
                        <a:solidFill>
                          <a:srgbClr val="B14542"/>
                        </a:solidFill>
                        <a:latin typeface="Arial"/>
                        <a:ea typeface="Arial"/>
                        <a:cs typeface="Arial"/>
                      </a:rPr>
                      <a:t>GTK</a:t>
                    </a:r>
                  </a:p>
                </c:rich>
              </c:tx>
              <c:txPr>
                <a:bodyPr xmlns:a="http://schemas.openxmlformats.org/drawingml/2006/main" anchorCtr="1"/>
                <a:lstStyle xmlns:a="http://schemas.openxmlformats.org/drawingml/2006/main"/>
                <a:p xmlns:a="http://schemas.openxmlformats.org/drawingml/2006/main">
                  <a:pPr>
                    <a:defRPr sz="1950" b="1">
                      <a:solidFill>
                        <a:srgbClr val="B14542"/>
                      </a:solidFill>
                      <a:latin typeface="Arial"/>
                      <a:ea typeface="Arial"/>
                      <a:cs typeface="Arial"/>
                    </a:defRPr>
                  </a:pPr>
                </a:p>
              </c:txPr>
              <c:dLblPos val="b"/>
              <c:showLegendKey val="0"/>
              <c:showVal val="0"/>
              <c:showCatName val="0"/>
              <c:showSerName val="0"/>
              <c:showPercent val="0"/>
              <c:showBubbleSize val="0"/>
            </c:dLbl>
            <c:showLegendKey val="0"/>
            <c:showVal val="0"/>
            <c:showCatName val="0"/>
            <c:showSerName val="0"/>
            <c:showPercent val="0"/>
            <c:showBubbleSize val="0"/>
          </c:dLbls>
          <c:xVal>
            <c:numRef>
              <c:f>'Chart Data'!$AQ$2:$AQ$144</c:f>
              <c:numCache>
                <c:formatCode>General</c:formatCode>
                <c:ptCount val="143"/>
                <c:pt idx="0">
                  <c:v>20.8712152522</c:v>
                </c:pt>
                <c:pt idx="1">
                  <c:v>22.1507065718</c:v>
                </c:pt>
                <c:pt idx="2">
                  <c:v>23.4301978915</c:v>
                </c:pt>
                <c:pt idx="3">
                  <c:v>24.7096892111</c:v>
                </c:pt>
                <c:pt idx="4">
                  <c:v>25.9891805307</c:v>
                </c:pt>
                <c:pt idx="5">
                  <c:v>27.2686718503</c:v>
                </c:pt>
                <c:pt idx="6">
                  <c:v>28.54816317</c:v>
                </c:pt>
                <c:pt idx="7">
                  <c:v>29.8276544896</c:v>
                </c:pt>
                <c:pt idx="8">
                  <c:v>31.1071458092</c:v>
                </c:pt>
                <c:pt idx="9">
                  <c:v>32.3866371289</c:v>
                </c:pt>
                <c:pt idx="10">
                  <c:v>33.6661284485</c:v>
                </c:pt>
                <c:pt idx="11">
                  <c:v>34.9456197681</c:v>
                </c:pt>
                <c:pt idx="12">
                  <c:v>36.2251110877</c:v>
                </c:pt>
                <c:pt idx="13">
                  <c:v>37.5046024074</c:v>
                </c:pt>
                <c:pt idx="14">
                  <c:v>38.784093727</c:v>
                </c:pt>
                <c:pt idx="15">
                  <c:v>40.0635850466</c:v>
                </c:pt>
                <c:pt idx="16">
                  <c:v>41.3430763662</c:v>
                </c:pt>
                <c:pt idx="17">
                  <c:v>42.6225676859</c:v>
                </c:pt>
                <c:pt idx="18">
                  <c:v>43.9020590055</c:v>
                </c:pt>
                <c:pt idx="19">
                  <c:v>45.1815503251</c:v>
                </c:pt>
                <c:pt idx="20">
                  <c:v>46.4610416447</c:v>
                </c:pt>
                <c:pt idx="21">
                  <c:v>47.7405329644</c:v>
                </c:pt>
                <c:pt idx="22">
                  <c:v>49.020024284</c:v>
                </c:pt>
                <c:pt idx="23">
                  <c:v>50.2995156036</c:v>
                </c:pt>
                <c:pt idx="24">
                  <c:v>51.5790069233</c:v>
                </c:pt>
                <c:pt idx="25">
                  <c:v>52.8584982429</c:v>
                </c:pt>
                <c:pt idx="26">
                  <c:v>54.1379895625</c:v>
                </c:pt>
                <c:pt idx="27">
                  <c:v>55.4174808821</c:v>
                </c:pt>
                <c:pt idx="28">
                  <c:v>56.6969722018</c:v>
                </c:pt>
                <c:pt idx="29">
                  <c:v>57.9764635214</c:v>
                </c:pt>
                <c:pt idx="30">
                  <c:v>59.255954841</c:v>
                </c:pt>
                <c:pt idx="31">
                  <c:v>60.5354461606</c:v>
                </c:pt>
                <c:pt idx="32">
                  <c:v>61.8149374803</c:v>
                </c:pt>
                <c:pt idx="33">
                  <c:v>63.0944287999</c:v>
                </c:pt>
                <c:pt idx="34">
                  <c:v>64.3739201195</c:v>
                </c:pt>
                <c:pt idx="35">
                  <c:v>65.6534114392</c:v>
                </c:pt>
                <c:pt idx="36">
                  <c:v>66.9329027588</c:v>
                </c:pt>
                <c:pt idx="37">
                  <c:v>68.2123940784</c:v>
                </c:pt>
                <c:pt idx="38">
                  <c:v>69.491885398</c:v>
                </c:pt>
                <c:pt idx="39">
                  <c:v>70.7713767177</c:v>
                </c:pt>
                <c:pt idx="40">
                  <c:v>72.0508680373</c:v>
                </c:pt>
                <c:pt idx="41">
                  <c:v>73.3303593569</c:v>
                </c:pt>
                <c:pt idx="42">
                  <c:v>74.6098506765</c:v>
                </c:pt>
                <c:pt idx="43">
                  <c:v>75.8893419962</c:v>
                </c:pt>
                <c:pt idx="44">
                  <c:v>77.1688333158</c:v>
                </c:pt>
                <c:pt idx="45">
                  <c:v>78.4483246354</c:v>
                </c:pt>
                <c:pt idx="46">
                  <c:v>79.7278159551</c:v>
                </c:pt>
                <c:pt idx="47">
                  <c:v>81.0073072747</c:v>
                </c:pt>
                <c:pt idx="48">
                  <c:v>82.2867985943</c:v>
                </c:pt>
                <c:pt idx="49">
                  <c:v>83.5662899139</c:v>
                </c:pt>
                <c:pt idx="50">
                  <c:v>84.8457812336</c:v>
                </c:pt>
                <c:pt idx="51">
                  <c:v>86.1252725532</c:v>
                </c:pt>
                <c:pt idx="52">
                  <c:v>87.4047638728</c:v>
                </c:pt>
                <c:pt idx="53">
                  <c:v>88.6842551924</c:v>
                </c:pt>
                <c:pt idx="54">
                  <c:v>89.9637465121</c:v>
                </c:pt>
                <c:pt idx="55">
                  <c:v>91.2432378317</c:v>
                </c:pt>
                <c:pt idx="56">
                  <c:v>92.5227291513</c:v>
                </c:pt>
                <c:pt idx="57">
                  <c:v>93.802220471</c:v>
                </c:pt>
                <c:pt idx="58">
                  <c:v>95.0817117906</c:v>
                </c:pt>
                <c:pt idx="59">
                  <c:v>96.3612031102</c:v>
                </c:pt>
                <c:pt idx="60">
                  <c:v>97.6406944298</c:v>
                </c:pt>
                <c:pt idx="61">
                  <c:v>98.9201857495</c:v>
                </c:pt>
                <c:pt idx="62">
                  <c:v>100</c:v>
                </c:pt>
                <c:pt idx="63">
                  <c:v>100.1996770691</c:v>
                </c:pt>
                <c:pt idx="64">
                  <c:v>101.4791683887</c:v>
                </c:pt>
                <c:pt idx="65">
                  <c:v>102.7586597083</c:v>
                </c:pt>
                <c:pt idx="66">
                  <c:v>104.038151028</c:v>
                </c:pt>
                <c:pt idx="67">
                  <c:v>105.3176423476</c:v>
                </c:pt>
                <c:pt idx="68">
                  <c:v>106.5971336672</c:v>
                </c:pt>
                <c:pt idx="69">
                  <c:v>107.8766249868</c:v>
                </c:pt>
                <c:pt idx="70">
                  <c:v>109.1561163065</c:v>
                </c:pt>
                <c:pt idx="71">
                  <c:v>110.4356076261</c:v>
                </c:pt>
                <c:pt idx="72">
                  <c:v>111.7150989457</c:v>
                </c:pt>
                <c:pt idx="73">
                  <c:v>112.9945902654</c:v>
                </c:pt>
                <c:pt idx="74">
                  <c:v>114.274081585</c:v>
                </c:pt>
                <c:pt idx="75">
                  <c:v>115.5535729046</c:v>
                </c:pt>
                <c:pt idx="76">
                  <c:v>116.8330642242</c:v>
                </c:pt>
                <c:pt idx="77">
                  <c:v>118.1125555439</c:v>
                </c:pt>
                <c:pt idx="78">
                  <c:v>119.3920468635</c:v>
                </c:pt>
                <c:pt idx="79">
                  <c:v>120.6715381831</c:v>
                </c:pt>
                <c:pt idx="80">
                  <c:v>121.9510295027</c:v>
                </c:pt>
                <c:pt idx="81">
                  <c:v>123.2305208224</c:v>
                </c:pt>
                <c:pt idx="82">
                  <c:v>124.510012142</c:v>
                </c:pt>
                <c:pt idx="83">
                  <c:v>125.7895034616</c:v>
                </c:pt>
                <c:pt idx="84">
                  <c:v>127.0689947813</c:v>
                </c:pt>
                <c:pt idx="85">
                  <c:v>128.3484861009</c:v>
                </c:pt>
                <c:pt idx="86">
                  <c:v>129.6279774205</c:v>
                </c:pt>
                <c:pt idx="87">
                  <c:v>130.9074687401</c:v>
                </c:pt>
                <c:pt idx="88">
                  <c:v>132.1869600598</c:v>
                </c:pt>
                <c:pt idx="89">
                  <c:v>133.4664513794</c:v>
                </c:pt>
                <c:pt idx="90">
                  <c:v>134.745942699</c:v>
                </c:pt>
                <c:pt idx="91">
                  <c:v>136.0254340186</c:v>
                </c:pt>
                <c:pt idx="92">
                  <c:v>137.3049253383</c:v>
                </c:pt>
                <c:pt idx="93">
                  <c:v>138.5844166579</c:v>
                </c:pt>
                <c:pt idx="94">
                  <c:v>139.8639079775</c:v>
                </c:pt>
                <c:pt idx="95">
                  <c:v>141.1433992972</c:v>
                </c:pt>
                <c:pt idx="96">
                  <c:v>142.4228906168</c:v>
                </c:pt>
                <c:pt idx="97">
                  <c:v>143.7023819364</c:v>
                </c:pt>
                <c:pt idx="98">
                  <c:v>144.981873256</c:v>
                </c:pt>
                <c:pt idx="99">
                  <c:v>146.2613645757</c:v>
                </c:pt>
                <c:pt idx="100">
                  <c:v>147.5408558953</c:v>
                </c:pt>
                <c:pt idx="101">
                  <c:v>148.8203472149</c:v>
                </c:pt>
                <c:pt idx="102">
                  <c:v>150</c:v>
                </c:pt>
                <c:pt idx="103">
                  <c:v>150.0998385345</c:v>
                </c:pt>
                <c:pt idx="104">
                  <c:v>151.3793298542</c:v>
                </c:pt>
                <c:pt idx="105">
                  <c:v>152.6588211738</c:v>
                </c:pt>
                <c:pt idx="106">
                  <c:v>153.9383124934</c:v>
                </c:pt>
                <c:pt idx="107">
                  <c:v>155.2178038131</c:v>
                </c:pt>
                <c:pt idx="108">
                  <c:v>156.4972951327</c:v>
                </c:pt>
                <c:pt idx="109">
                  <c:v>157.7767864523</c:v>
                </c:pt>
                <c:pt idx="110">
                  <c:v>159.0562777719</c:v>
                </c:pt>
                <c:pt idx="111">
                  <c:v>160.3357690916</c:v>
                </c:pt>
                <c:pt idx="112">
                  <c:v>161.6152604112</c:v>
                </c:pt>
                <c:pt idx="113">
                  <c:v>162.8947517308</c:v>
                </c:pt>
                <c:pt idx="114">
                  <c:v>164.1742430504</c:v>
                </c:pt>
                <c:pt idx="115">
                  <c:v>165.4537343701</c:v>
                </c:pt>
                <c:pt idx="116">
                  <c:v>166.7332256897</c:v>
                </c:pt>
                <c:pt idx="117">
                  <c:v>168.0127170093</c:v>
                </c:pt>
                <c:pt idx="118">
                  <c:v>169.2922083289</c:v>
                </c:pt>
                <c:pt idx="119">
                  <c:v>170.5716996486</c:v>
                </c:pt>
                <c:pt idx="120">
                  <c:v>171.8511909682</c:v>
                </c:pt>
                <c:pt idx="121">
                  <c:v>173.1306822878</c:v>
                </c:pt>
                <c:pt idx="122">
                  <c:v>174.4101736075</c:v>
                </c:pt>
                <c:pt idx="123">
                  <c:v>175.6896649271</c:v>
                </c:pt>
                <c:pt idx="124">
                  <c:v>176.9691562467</c:v>
                </c:pt>
                <c:pt idx="125">
                  <c:v>178.2486475663</c:v>
                </c:pt>
                <c:pt idx="126">
                  <c:v>179.528138886</c:v>
                </c:pt>
                <c:pt idx="127">
                  <c:v>180.8076302056</c:v>
                </c:pt>
                <c:pt idx="128">
                  <c:v>182.0871215252</c:v>
                </c:pt>
                <c:pt idx="129">
                  <c:v>183.3666128448</c:v>
                </c:pt>
                <c:pt idx="130">
                  <c:v>184.6461041645</c:v>
                </c:pt>
                <c:pt idx="131">
                  <c:v>185.9255954841</c:v>
                </c:pt>
                <c:pt idx="132">
                  <c:v>187.2050868037</c:v>
                </c:pt>
                <c:pt idx="133">
                  <c:v>188.4845781234</c:v>
                </c:pt>
                <c:pt idx="134">
                  <c:v>189.764069443</c:v>
                </c:pt>
                <c:pt idx="135">
                  <c:v>191.0435607626</c:v>
                </c:pt>
                <c:pt idx="136">
                  <c:v>192.3230520822</c:v>
                </c:pt>
                <c:pt idx="137">
                  <c:v>193.6025434019</c:v>
                </c:pt>
                <c:pt idx="138">
                  <c:v>194.8820347215</c:v>
                </c:pt>
                <c:pt idx="139">
                  <c:v>196.1615260411</c:v>
                </c:pt>
                <c:pt idx="140">
                  <c:v>197.4410173607</c:v>
                </c:pt>
                <c:pt idx="141">
                  <c:v>198.7205086804</c:v>
                </c:pt>
                <c:pt idx="142">
                  <c:v>200</c:v>
                </c:pt>
              </c:numCache>
            </c:numRef>
          </c:xVal>
          <c:yVal>
            <c:numRef>
              <c:f>'Chart Data'!$AR$2:$AR$144</c:f>
              <c:numCache>
                <c:formatCode>0</c:formatCode>
                <c:ptCount val="143"/>
                <c:pt idx="0">
                  <c:v>24</c:v>
                </c:pt>
                <c:pt idx="1">
                  <c:v>22.9441429647</c:v>
                </c:pt>
                <c:pt idx="2">
                  <c:v>22.0091934726</c:v>
                </c:pt>
                <c:pt idx="3">
                  <c:v>21.1763693995</c:v>
                </c:pt>
                <c:pt idx="4">
                  <c:v>20.4305873239</c:v>
                </c:pt>
                <c:pt idx="5">
                  <c:v>19.7595947811</c:v>
                </c:pt>
                <c:pt idx="6">
                  <c:v>19.153335864</c:v>
                </c:pt>
                <c:pt idx="7">
                  <c:v>18.6034801042</c:v>
                </c:pt>
                <c:pt idx="8">
                  <c:v>18.1030676201</c:v>
                </c:pt>
                <c:pt idx="9">
                  <c:v>17.6462383798</c:v>
                </c:pt>
                <c:pt idx="10">
                  <c:v>17.2280232005</c:v>
                </c:pt>
                <c:pt idx="11">
                  <c:v>16.8441806618</c:v>
                </c:pt>
                <c:pt idx="12">
                  <c:v>16.4910685805</c:v>
                </c:pt>
                <c:pt idx="13">
                  <c:v>16.1655417944</c:v>
                </c:pt>
                <c:pt idx="14">
                  <c:v>15.8648701782</c:v>
                </c:pt>
                <c:pt idx="15">
                  <c:v>15.5866723692</c:v>
                </c:pt>
                <c:pt idx="16">
                  <c:v>15.3288617999</c:v>
                </c:pt>
                <c:pt idx="17">
                  <c:v>15.0896024503</c:v>
                </c:pt>
                <c:pt idx="18">
                  <c:v>14.8672723377</c:v>
                </c:pt>
                <c:pt idx="19">
                  <c:v>14.6604332106</c:v>
                </c:pt>
                <c:pt idx="20">
                  <c:v>14.4678052496</c:v>
                </c:pt>
                <c:pt idx="21">
                  <c:v>14.2882458366</c:v>
                </c:pt>
                <c:pt idx="22">
                  <c:v>14.1207316495</c:v>
                </c:pt>
                <c:pt idx="23">
                  <c:v>13.9643434889</c:v>
                </c:pt>
                <c:pt idx="24">
                  <c:v>13.8182533634</c:v>
                </c:pt>
                <c:pt idx="25">
                  <c:v>13.6817134514</c:v>
                </c:pt>
                <c:pt idx="26">
                  <c:v>13.5540466267</c:v>
                </c:pt>
                <c:pt idx="27">
                  <c:v>13.4346382977</c:v>
                </c:pt>
                <c:pt idx="28">
                  <c:v>13.3229293514</c:v>
                </c:pt>
                <c:pt idx="29">
                  <c:v>13.2184100312</c:v>
                </c:pt>
                <c:pt idx="30">
                  <c:v>13.1206146085</c:v>
                </c:pt>
                <c:pt idx="31">
                  <c:v>13.0291167298</c:v>
                </c:pt>
                <c:pt idx="32">
                  <c:v>12.9435253413</c:v>
                </c:pt>
                <c:pt idx="33">
                  <c:v>12.8634811101</c:v>
                </c:pt>
                <c:pt idx="34">
                  <c:v>12.7886532716</c:v>
                </c:pt>
                <c:pt idx="35">
                  <c:v>12.7187368454</c:v>
                </c:pt>
                <c:pt idx="36">
                  <c:v>12.6534501717</c:v>
                </c:pt>
                <c:pt idx="37">
                  <c:v>12.5925327231</c:v>
                </c:pt>
                <c:pt idx="38">
                  <c:v>12.5357431598</c:v>
                </c:pt>
                <c:pt idx="39">
                  <c:v>12.482857595</c:v>
                </c:pt>
                <c:pt idx="40">
                  <c:v>12.4336680452</c:v>
                </c:pt>
                <c:pt idx="41">
                  <c:v>12.3879810427</c:v>
                </c:pt>
                <c:pt idx="42">
                  <c:v>12.3456163908</c:v>
                </c:pt>
                <c:pt idx="43">
                  <c:v>12.3064060455</c:v>
                </c:pt>
                <c:pt idx="44">
                  <c:v>12.2701931076</c:v>
                </c:pt>
                <c:pt idx="45">
                  <c:v>12.2368309142</c:v>
                </c:pt>
                <c:pt idx="46">
                  <c:v>12.2061822168</c:v>
                </c:pt>
                <c:pt idx="47">
                  <c:v>12.1781184385</c:v>
                </c:pt>
                <c:pt idx="48">
                  <c:v>12.1525189991</c:v>
                </c:pt>
                <c:pt idx="49">
                  <c:v>12.1292707035</c:v>
                </c:pt>
                <c:pt idx="50">
                  <c:v>12.1082671846</c:v>
                </c:pt>
                <c:pt idx="51">
                  <c:v>12.0894083959</c:v>
                </c:pt>
                <c:pt idx="52">
                  <c:v>12.0726001495</c:v>
                </c:pt>
                <c:pt idx="53">
                  <c:v>12.0577536927</c:v>
                </c:pt>
                <c:pt idx="54">
                  <c:v>12.0447853221</c:v>
                </c:pt>
                <c:pt idx="55">
                  <c:v>12.0336160292</c:v>
                </c:pt>
                <c:pt idx="56">
                  <c:v>12.024171176</c:v>
                </c:pt>
                <c:pt idx="57">
                  <c:v>12.0163801969</c:v>
                </c:pt>
                <c:pt idx="58">
                  <c:v>12.0101763245</c:v>
                </c:pt>
                <c:pt idx="59">
                  <c:v>12.0054963377</c:v>
                </c:pt>
                <c:pt idx="60">
                  <c:v>12.002280329</c:v>
                </c:pt>
                <c:pt idx="61">
                  <c:v>12.0004714908</c:v>
                </c:pt>
                <c:pt idx="62">
                  <c:v>12</c:v>
                </c:pt>
                <c:pt idx="63">
                  <c:v>12.0000159166</c:v>
                </c:pt>
                <c:pt idx="64">
                  <c:v>12.000862419</c:v>
                </c:pt>
                <c:pt idx="65">
                  <c:v>12.0029623599</c:v>
                </c:pt>
                <c:pt idx="66">
                  <c:v>12.0062694939</c:v>
                </c:pt>
                <c:pt idx="67">
                  <c:v>12.0107398227</c:v>
                </c:pt>
                <c:pt idx="68">
                  <c:v>12.0163314608</c:v>
                </c:pt>
                <c:pt idx="69">
                  <c:v>12.0230045095</c:v>
                </c:pt>
                <c:pt idx="70">
                  <c:v>12.0307209412</c:v>
                </c:pt>
                <c:pt idx="71">
                  <c:v>12.0394444904</c:v>
                </c:pt>
                <c:pt idx="72">
                  <c:v>12.0491405529</c:v>
                </c:pt>
                <c:pt idx="73">
                  <c:v>12.0597760922</c:v>
                </c:pt>
                <c:pt idx="74">
                  <c:v>12.0713195511</c:v>
                </c:pt>
                <c:pt idx="75">
                  <c:v>12.0837407703</c:v>
                </c:pt>
                <c:pt idx="76">
                  <c:v>12.0970109114</c:v>
                </c:pt>
                <c:pt idx="77">
                  <c:v>12.111102386</c:v>
                </c:pt>
                <c:pt idx="78">
                  <c:v>12.1259887878</c:v>
                </c:pt>
                <c:pt idx="79">
                  <c:v>12.141644831</c:v>
                </c:pt>
                <c:pt idx="80">
                  <c:v>12.1580462906</c:v>
                </c:pt>
                <c:pt idx="81">
                  <c:v>12.1751699479</c:v>
                </c:pt>
                <c:pt idx="82">
                  <c:v>12.1929935384</c:v>
                </c:pt>
                <c:pt idx="83">
                  <c:v>12.2114957037</c:v>
                </c:pt>
                <c:pt idx="84">
                  <c:v>12.2306559455</c:v>
                </c:pt>
                <c:pt idx="85">
                  <c:v>12.250454583</c:v>
                </c:pt>
                <c:pt idx="86">
                  <c:v>12.2708727124</c:v>
                </c:pt>
                <c:pt idx="87">
                  <c:v>12.2918921688</c:v>
                </c:pt>
                <c:pt idx="88">
                  <c:v>12.3134954908</c:v>
                </c:pt>
                <c:pt idx="89">
                  <c:v>12.3356658865</c:v>
                </c:pt>
                <c:pt idx="90">
                  <c:v>12.3583872018</c:v>
                </c:pt>
                <c:pt idx="91">
                  <c:v>12.3816438905</c:v>
                </c:pt>
                <c:pt idx="92">
                  <c:v>12.4054209858</c:v>
                </c:pt>
                <c:pt idx="93">
                  <c:v>12.4297040734</c:v>
                </c:pt>
                <c:pt idx="94">
                  <c:v>12.4544792669</c:v>
                </c:pt>
                <c:pt idx="95">
                  <c:v>12.4797331832</c:v>
                </c:pt>
                <c:pt idx="96">
                  <c:v>12.50545292</c:v>
                </c:pt>
                <c:pt idx="97">
                  <c:v>12.5316260346</c:v>
                </c:pt>
                <c:pt idx="98">
                  <c:v>12.5582405238</c:v>
                </c:pt>
                <c:pt idx="99">
                  <c:v>12.585284804</c:v>
                </c:pt>
                <c:pt idx="100">
                  <c:v>12.6127476937</c:v>
                </c:pt>
                <c:pt idx="101">
                  <c:v>12.6406183957</c:v>
                </c:pt>
                <c:pt idx="102">
                  <c:v>12.6666666667</c:v>
                </c:pt>
                <c:pt idx="103">
                  <c:v>12.6688864813</c:v>
                </c:pt>
                <c:pt idx="104">
                  <c:v>12.6975418741</c:v>
                </c:pt>
                <c:pt idx="105">
                  <c:v>12.7265748356</c:v>
                </c:pt>
                <c:pt idx="106">
                  <c:v>12.755975951</c:v>
                </c:pt>
                <c:pt idx="107">
                  <c:v>12.7857361161</c:v>
                </c:pt>
                <c:pt idx="108">
                  <c:v>12.8158465243</c:v>
                </c:pt>
                <c:pt idx="109">
                  <c:v>12.8462986547</c:v>
                </c:pt>
                <c:pt idx="110">
                  <c:v>12.8770842605</c:v>
                </c:pt>
                <c:pt idx="111">
                  <c:v>12.9081953584</c:v>
                </c:pt>
                <c:pt idx="112">
                  <c:v>12.9396242176</c:v>
                </c:pt>
                <c:pt idx="113">
                  <c:v>12.9713633504</c:v>
                </c:pt>
                <c:pt idx="114">
                  <c:v>13.0034055025</c:v>
                </c:pt>
                <c:pt idx="115">
                  <c:v>13.0357436438</c:v>
                </c:pt>
                <c:pt idx="116">
                  <c:v>13.0683709603</c:v>
                </c:pt>
                <c:pt idx="117">
                  <c:v>13.1012808452</c:v>
                </c:pt>
                <c:pt idx="118">
                  <c:v>13.1344668919</c:v>
                </c:pt>
                <c:pt idx="119">
                  <c:v>13.1679228856</c:v>
                </c:pt>
                <c:pt idx="120">
                  <c:v>13.2016427968</c:v>
                </c:pt>
                <c:pt idx="121">
                  <c:v>13.2356207741</c:v>
                </c:pt>
                <c:pt idx="122">
                  <c:v>13.2698511381</c:v>
                </c:pt>
                <c:pt idx="123">
                  <c:v>13.3043283745</c:v>
                </c:pt>
                <c:pt idx="124">
                  <c:v>13.3390471287</c:v>
                </c:pt>
                <c:pt idx="125">
                  <c:v>13.3740021996</c:v>
                </c:pt>
                <c:pt idx="126">
                  <c:v>13.4091885348</c:v>
                </c:pt>
                <c:pt idx="127">
                  <c:v>13.4446012244</c:v>
                </c:pt>
                <c:pt idx="128">
                  <c:v>13.4802354969</c:v>
                </c:pt>
                <c:pt idx="129">
                  <c:v>13.5160867138</c:v>
                </c:pt>
                <c:pt idx="130">
                  <c:v>13.5521503652</c:v>
                </c:pt>
                <c:pt idx="131">
                  <c:v>13.5884220653</c:v>
                </c:pt>
                <c:pt idx="132">
                  <c:v>13.6248975483</c:v>
                </c:pt>
                <c:pt idx="133">
                  <c:v>13.6615726642</c:v>
                </c:pt>
                <c:pt idx="134">
                  <c:v>13.6984433748</c:v>
                </c:pt>
                <c:pt idx="135">
                  <c:v>13.7355057503</c:v>
                </c:pt>
                <c:pt idx="136">
                  <c:v>13.7727559652</c:v>
                </c:pt>
                <c:pt idx="137">
                  <c:v>13.8101902955</c:v>
                </c:pt>
                <c:pt idx="138">
                  <c:v>13.8478051147</c:v>
                </c:pt>
                <c:pt idx="139">
                  <c:v>13.8855968909</c:v>
                </c:pt>
                <c:pt idx="140">
                  <c:v>13.923562184</c:v>
                </c:pt>
                <c:pt idx="141">
                  <c:v>13.9616976423</c:v>
                </c:pt>
                <c:pt idx="142">
                  <c:v>14</c:v>
                </c:pt>
              </c:numCache>
            </c:numRef>
          </c:yVal>
          <c:smooth val="0"/>
        </c:ser>
        <c:ser>
          <c:idx val="22"/>
          <c:order val="22"/>
          <c:tx>
            <c:v>gekozen q</c:v>
          </c:tx>
          <c:spPr>
            <a:ln xmlns:a="http://schemas.openxmlformats.org/drawingml/2006/main" w="19050">
              <a:solidFill>
                <a:srgbClr val="445B6B"/>
              </a:solidFill>
              <a:prstDash val="dash"/>
            </a:ln>
          </c:spPr>
          <c:marker>
            <c:symbol val="none"/>
          </c:marker>
          <c:xVal>
            <c:numRef>
              <c:f>'Chart Data'!$AS$2:$AS$3</c:f>
              <c:numCache>
                <c:formatCode>General</c:formatCode>
                <c:ptCount val="2"/>
                <c:pt idx="0">
                  <c:v>150</c:v>
                </c:pt>
                <c:pt idx="1">
                  <c:v>150</c:v>
                </c:pt>
              </c:numCache>
            </c:numRef>
          </c:xVal>
          <c:yVal>
            <c:numRef>
              <c:f>'Chart Data'!$AT$2:$AT$3</c:f>
              <c:numCache>
                <c:formatCode>0</c:formatCode>
                <c:ptCount val="2"/>
                <c:pt idx="0">
                  <c:v>0</c:v>
                </c:pt>
                <c:pt idx="1">
                  <c:v>16</c:v>
                </c:pt>
              </c:numCache>
            </c:numRef>
          </c:yVal>
          <c:smooth val="0"/>
        </c:ser>
        <c:ser>
          <c:idx val="23"/>
          <c:order val="23"/>
          <c:tx>
            <c:v>q-label</c:v>
          </c:tx>
          <c:spPr>
            <a:ln xmlns:a="http://schemas.openxmlformats.org/drawingml/2006/main" w="0">
              <a:solidFill>
                <a:srgbClr val="445B6B"/>
              </a:solidFill>
            </a:ln>
          </c:spPr>
          <c:marker>
            <c:symbol val="none"/>
          </c:marker>
          <c:dLbls>
            <c:dLbl>
              <c:idx val="0"/>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q = 150</a:t>
                    </a:r>
                  </a:p>
                </c:rich>
              </c:tx>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l"/>
              <c:showLegendKey val="0"/>
              <c:showVal val="0"/>
              <c:showCatName val="0"/>
              <c:showSerName val="0"/>
              <c:showPercent val="0"/>
              <c:showBubbleSize val="0"/>
            </c:dLbl>
            <c:showLegendKey val="0"/>
            <c:showVal val="0"/>
            <c:showCatName val="0"/>
            <c:showSerName val="0"/>
            <c:showPercent val="0"/>
            <c:showBubbleSize val="0"/>
          </c:dLbls>
          <c:xVal>
            <c:numRef>
              <c:f>'Chart Data'!$AU$2:$AU$2</c:f>
              <c:numCache>
                <c:formatCode>General</c:formatCode>
                <c:ptCount val="1"/>
                <c:pt idx="0">
                  <c:v>150</c:v>
                </c:pt>
              </c:numCache>
            </c:numRef>
          </c:xVal>
          <c:yVal>
            <c:numRef>
              <c:f>'Chart Data'!$AV$2:$AV$2</c:f>
              <c:numCache>
                <c:formatCode>0</c:formatCode>
                <c:ptCount val="1"/>
                <c:pt idx="0">
                  <c:v>1.5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
        <c:ser>
          <c:idx val="0"/>
          <c:order val="0"/>
          <c:tx>
            <c:v>P = GO = MO</c:v>
          </c:tx>
          <c:spPr>
            <a:ln xmlns:a="http://schemas.openxmlformats.org/drawingml/2006/main" w="38100">
              <a:solidFill>
                <a:srgbClr val="17658A"/>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17658A"/>
                        </a:solidFill>
                        <a:latin typeface="Arial"/>
                        <a:ea typeface="Arial"/>
                        <a:cs typeface="Arial"/>
                      </a:rPr>
                      <a:t>P = GO = MO</a:t>
                    </a:r>
                  </a:p>
                </c:rich>
              </c:tx>
              <c:txPr>
                <a:bodyPr xmlns:a="http://schemas.openxmlformats.org/drawingml/2006/main" anchorCtr="1"/>
                <a:lstStyle xmlns:a="http://schemas.openxmlformats.org/drawingml/2006/main"/>
                <a:p xmlns:a="http://schemas.openxmlformats.org/drawingml/2006/main">
                  <a:pPr>
                    <a:defRPr sz="1950" b="1">
                      <a:solidFill>
                        <a:srgbClr val="17658A"/>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Data'!$A$2:$A$4</c:f>
              <c:numCache>
                <c:formatCode>General</c:formatCode>
                <c:ptCount val="3"/>
                <c:pt idx="0">
                  <c:v>0</c:v>
                </c:pt>
                <c:pt idx="1">
                  <c:v>36</c:v>
                </c:pt>
                <c:pt idx="2">
                  <c:v>200</c:v>
                </c:pt>
              </c:numCache>
            </c:numRef>
          </c:xVal>
          <c:yVal>
            <c:numRef>
              <c:f>'Chart Data'!$B$2:$B$4</c:f>
              <c:numCache>
                <c:formatCode>0</c:formatCode>
                <c:ptCount val="3"/>
                <c:pt idx="0">
                  <c:v>16</c:v>
                </c:pt>
                <c:pt idx="1">
                  <c:v>16</c:v>
                </c:pt>
                <c:pt idx="2">
                  <c:v>16</c:v>
                </c:pt>
              </c:numCache>
            </c:numRef>
          </c:yVal>
          <c:smooth val="0"/>
        </c:ser>
        <c:ser>
          <c:idx val="1"/>
          <c:order val="1"/>
          <c:tx>
            <c:v>MK</c:v>
          </c:tx>
          <c:spPr>
            <a:ln xmlns:a="http://schemas.openxmlformats.org/drawingml/2006/main" w="38100">
              <a:solidFill>
                <a:srgbClr val="A94D16"/>
              </a:solidFill>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A94D16"/>
                        </a:solidFill>
                        <a:latin typeface="Arial"/>
                        <a:ea typeface="Arial"/>
                        <a:cs typeface="Arial"/>
                      </a:rPr>
                      <a:t>MK</a:t>
                    </a:r>
                  </a:p>
                </c:rich>
              </c:tx>
              <c:txPr>
                <a:bodyPr xmlns:a="http://schemas.openxmlformats.org/drawingml/2006/main" anchorCtr="1"/>
                <a:lstStyle xmlns:a="http://schemas.openxmlformats.org/drawingml/2006/main"/>
                <a:p xmlns:a="http://schemas.openxmlformats.org/drawingml/2006/main">
                  <a:pPr>
                    <a:defRPr sz="195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Data'!$C$2:$C$4</c:f>
              <c:numCache>
                <c:formatCode>General</c:formatCode>
                <c:ptCount val="3"/>
                <c:pt idx="0">
                  <c:v>0</c:v>
                </c:pt>
                <c:pt idx="1">
                  <c:v>164</c:v>
                </c:pt>
                <c:pt idx="2">
                  <c:v>200</c:v>
                </c:pt>
              </c:numCache>
            </c:numRef>
          </c:xVal>
          <c:yVal>
            <c:numRef>
              <c:f>'Chart Data'!$D$2:$D$4</c:f>
              <c:numCache>
                <c:formatCode>0</c:formatCode>
                <c:ptCount val="3"/>
                <c:pt idx="0">
                  <c:v>4</c:v>
                </c:pt>
                <c:pt idx="1">
                  <c:v>17.12</c:v>
                </c:pt>
                <c:pt idx="2">
                  <c:v>20</c:v>
                </c:pt>
              </c:numCache>
            </c:numRef>
          </c:yVal>
          <c:smooth val="0"/>
        </c:ser>
        <c:ser>
          <c:idx val="2"/>
          <c:order val="2"/>
          <c:tx>
            <c:v>capaciteit</c:v>
          </c:tx>
          <c:spPr>
            <a:ln xmlns:a="http://schemas.openxmlformats.org/drawingml/2006/main" w="19050">
              <a:solidFill>
                <a:srgbClr val="445B6B"/>
              </a:solidFill>
              <a:prstDash val="dash"/>
            </a:ln>
          </c:spPr>
          <c:marker>
            <c:symbol val="none"/>
          </c:marker>
          <c:dLbls>
            <c:dLbl>
              <c:idx val="1"/>
              <c:tx>
                <c:rich>
                  <a:bodyPr xmlns:a="http://schemas.openxmlformats.org/drawingml/2006/main"/>
                  <a:lstStyle xmlns:a="http://schemas.openxmlformats.org/drawingml/2006/main"/>
                  <a:p xmlns:a="http://schemas.openxmlformats.org/drawingml/2006/main">
                    <a:r>
                      <a:rPr sz="1950" b="1">
                        <a:solidFill>
                          <a:srgbClr val="445B6B"/>
                        </a:solidFill>
                        <a:latin typeface="Arial"/>
                        <a:ea typeface="Arial"/>
                        <a:cs typeface="Arial"/>
                      </a:rPr>
                      <a:t>capaciteit 120</a:t>
                    </a:r>
                  </a:p>
                </c:rich>
              </c:tx>
              <c:txPr>
                <a:bodyPr xmlns:a="http://schemas.openxmlformats.org/drawingml/2006/main" anchorCtr="1"/>
                <a:lstStyle xmlns:a="http://schemas.openxmlformats.org/drawingml/2006/main"/>
                <a:p xmlns:a="http://schemas.openxmlformats.org/drawingml/2006/main">
                  <a:pPr>
                    <a:defRPr sz="1950" b="1">
                      <a:solidFill>
                        <a:srgbClr val="445B6B"/>
                      </a:solidFill>
                      <a:latin typeface="Arial"/>
                      <a:ea typeface="Arial"/>
                      <a:cs typeface="Arial"/>
                    </a:defRPr>
                  </a:pPr>
                </a:p>
              </c:txPr>
              <c:dLblPos val="l"/>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120</c:v>
                </c:pt>
                <c:pt idx="1">
                  <c:v>120</c:v>
                </c:pt>
              </c:numCache>
            </c:numRef>
          </c:xVal>
          <c:yVal>
            <c:numRef>
              <c:f>'Chart Data'!$F$2:$F$3</c:f>
              <c:numCache>
                <c:formatCode>0</c:formatCode>
                <c:ptCount val="2"/>
                <c:pt idx="0">
                  <c:v>0</c:v>
                </c:pt>
                <c:pt idx="1">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Kosten en opbrengsten (€ per kg)</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4"/>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sz="2025">
                    <a:solidFill>
                      <a:srgbClr val="183247"/>
                    </a:solidFill>
                    <a:latin typeface="Arial"/>
                    <a:ea typeface="Arial"/>
                    <a:cs typeface="Arial"/>
                  </a:rPr>
                  <a:t>q (kg per week)</a:t>
                </a:r>
              </a:p>
            </c:rich>
          </c:tx>
          <c:overlay val="0"/>
          <c:txPr>
            <a:bodyPr xmlns:a="http://schemas.openxmlformats.org/drawingml/2006/main" anchorCtr="1"/>
            <a:lstStyle xmlns:a="http://schemas.openxmlformats.org/drawingml/2006/main"/>
            <a:p xmlns:a="http://schemas.openxmlformats.org/drawingml/2006/main">
              <a:pPr>
                <a:defRPr sz="202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3 Winstmaximalisatie bij volkomen concur">
            <a:extLst xmlns:a="http://schemas.openxmlformats.org/drawingml/2006/main">
              <a:ext uri="{FF2B5EF4-FFF2-40B4-BE49-F238E27FC236}">
                <a16:creationId xmlns:a16="http://schemas.microsoft.com/office/drawing/2014/main" id="{76D899C6-81A6-497E-9BD6-E2B794E444A0}"/>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Deze les: §3.2.3 Winstmaximalisatie bij volkomen concurrentie</a:t>
            </a:r>
          </a:p>
        </p:txBody>
      </p:sp>
      <p:sp>
        <p:nvSpPr>
          <p:cNvPr id="2" name="">
            <a:extLst xmlns:a="http://schemas.openxmlformats.org/drawingml/2006/main">
              <a:ext uri="{FF2B5EF4-FFF2-40B4-BE49-F238E27FC236}">
                <a16:creationId xmlns:a16="http://schemas.microsoft.com/office/drawing/2014/main" id="{B549EB4B-D3A2-44CC-9A07-773CCF664D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Winstmaximalisatie bij volkomen concurrentie">
            <a:extLst xmlns:a="http://schemas.openxmlformats.org/drawingml/2006/main">
              <a:ext uri="{FF2B5EF4-FFF2-40B4-BE49-F238E27FC236}">
                <a16:creationId xmlns:a16="http://schemas.microsoft.com/office/drawing/2014/main" id="{F84FF73D-9DB4-4028-9B9F-4548B30E3488}"/>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Winstmaximalisatie bij volkomen concurrentie</a:t>
            </a:r>
          </a:p>
        </p:txBody>
      </p:sp>
      <p:sp>
        <p:nvSpPr>
          <p:cNvPr id="4" name="1">
            <a:extLst xmlns:a="http://schemas.openxmlformats.org/drawingml/2006/main">
              <a:ext uri="{FF2B5EF4-FFF2-40B4-BE49-F238E27FC236}">
                <a16:creationId xmlns:a16="http://schemas.microsoft.com/office/drawing/2014/main" id="{ABA7404B-5DCF-4FC4-B048-1B3C05012D83}"/>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4BCE6704-D9F1-4686-AB8C-36A2CF5676C6}"/>
              </a:ext>
            </a:extLst>
          </p:cNvPr>
          <p:cNvSpPr>
            <a:spLocks xmlns:a="http://schemas.openxmlformats.org/drawingml/2006/main" noGrp="1"/>
          </p:cNvSpPr>
          <p:nvPr/>
        </p:nvSpPr>
        <p:spPr>
          <a:xfrm xmlns:a="http://schemas.openxmlformats.org/drawingml/2006/main">
            <a:off x="571500" y="1066800"/>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EC05F366-C45B-4648-A2A6-B8A45D0656E1}"/>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B677B6B1-7639-45FE-AC78-B7C67C1CCB5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3D93A82A-C48F-43E6-9382-336914DFFE3D}"/>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7FF9C6D7-F882-491A-89F2-82A406609978}"/>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8341CC02-269F-4061-AF26-BD3F84156D6F}"/>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25A2CCCC-5D11-4EA7-9405-14CE513A563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77DA34EA-6B9C-40A6-AD8F-D05630E8A854}"/>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208F7A0C-3419-4A70-84E9-F12E81EF71D3}"/>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CEB0859F-3099-48A9-B1A8-03E0FC40B78F}"/>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FD75A830-A32C-43D4-8159-64EE8A8DD5A1}"/>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6646A3C7-D760-4B06-A6AD-A995FEABB674}"/>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42421147-2606-4667-A443-3A1969E6199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B0257313-4919-49FB-AA56-784E8089B86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27.</a:t>
            </a:r>
          </a:p>
        </p:txBody>
      </p:sp>
      <p:sp>
        <p:nvSpPr>
          <p:cNvPr id="19" name="route-number-6">
            <a:extLst xmlns:a="http://schemas.openxmlformats.org/drawingml/2006/main">
              <a:ext uri="{FF2B5EF4-FFF2-40B4-BE49-F238E27FC236}">
                <a16:creationId xmlns:a16="http://schemas.microsoft.com/office/drawing/2014/main" id="{10FB09D4-64C9-45E9-A032-66E8AB3AE9A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689CC0E3-8A90-4A87-A009-D9DFCAAA6863}"/>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732A6ED4-AA38-4E1A-BF6F-B1C47397337B}"/>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E5F42293-ACDA-4B0C-B4E6-14F20827A9A2}"/>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beste haalbare q onderbouwen.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Winst berekenen en als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rechthoek weergeven.</a:t>
            </a:r>
          </a:p>
        </p:txBody>
      </p:sp>
      <p:sp>
        <p:nvSpPr>
          <p:cNvPr id="23" name="">
            <a:extLst xmlns:a="http://schemas.openxmlformats.org/drawingml/2006/main">
              <a:ext uri="{FF2B5EF4-FFF2-40B4-BE49-F238E27FC236}">
                <a16:creationId xmlns:a16="http://schemas.microsoft.com/office/drawing/2014/main" id="{CD3725AC-F2C5-49DF-9DD3-77DE81229409}"/>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A60E312B-87CA-433F-87F1-9A96052E1A3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15D23FA7-68C0-4CBB-875B-58D0AA75447D}"/>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73 · Opgaven 20 en 21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 verkennen, theorie p. 69–70</a:t>
            </a:r>
          </a:p>
        </p:txBody>
      </p:sp>
      <p:sp>
        <p:nvSpPr>
          <p:cNvPr id="26" name="">
            <a:extLst xmlns:a="http://schemas.openxmlformats.org/drawingml/2006/main">
              <a:ext uri="{FF2B5EF4-FFF2-40B4-BE49-F238E27FC236}">
                <a16:creationId xmlns:a16="http://schemas.microsoft.com/office/drawing/2014/main" id="{51A161A7-A2E1-4872-8FF7-6325FD52D34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9258080-2D59-4DAD-9B4A-DCF865DF73E8}"/>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A68A03DA-7BC5-420B-86B9-EEA1F29DF79E}"/>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22,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25 en 26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2667785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Vezelwerk: één prijsnemende onderneming">
            <a:extLst xmlns:a="http://schemas.openxmlformats.org/drawingml/2006/main">
              <a:ext uri="{FF2B5EF4-FFF2-40B4-BE49-F238E27FC236}">
                <a16:creationId xmlns:a16="http://schemas.microsoft.com/office/drawing/2014/main" id="{785B94E6-B24A-41BB-96C9-6CED52FC6029}"/>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Vezelwerk: één prijsnemende onderneming</a:t>
            </a:r>
          </a:p>
        </p:txBody>
      </p:sp>
      <p:sp>
        <p:nvSpPr>
          <p:cNvPr id="2" name="">
            <a:extLst xmlns:a="http://schemas.openxmlformats.org/drawingml/2006/main">
              <a:ext uri="{FF2B5EF4-FFF2-40B4-BE49-F238E27FC236}">
                <a16:creationId xmlns:a16="http://schemas.microsoft.com/office/drawing/2014/main" id="{B109FB92-98B9-4A71-BDB4-9479F7B2F1D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A9D4D2CC-8E9B-4297-B8F8-FA7F96D588B3}"/>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2">
            <a:extLst xmlns:a="http://schemas.openxmlformats.org/drawingml/2006/main">
              <a:ext uri="{FF2B5EF4-FFF2-40B4-BE49-F238E27FC236}">
                <a16:creationId xmlns:a16="http://schemas.microsoft.com/office/drawing/2014/main" id="{8489B2C7-A53B-4583-84E0-B1571E51316E}"/>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Standaardkwaliteit vezelvlokken, verkocht per kg">
            <a:extLst xmlns:a="http://schemas.openxmlformats.org/drawingml/2006/main">
              <a:ext uri="{FF2B5EF4-FFF2-40B4-BE49-F238E27FC236}">
                <a16:creationId xmlns:a16="http://schemas.microsoft.com/office/drawing/2014/main" id="{0EDCEE06-E360-41E7-8EF5-0DB2CC0B6D6A}"/>
              </a:ext>
            </a:extLst>
          </p:cNvPr>
          <p:cNvSpPr>
            <a:spLocks xmlns:a="http://schemas.openxmlformats.org/drawingml/2006/main" noGrp="1"/>
          </p:cNvSpPr>
          <p:nvPr/>
        </p:nvSpPr>
        <p:spPr>
          <a:xfrm xmlns:a="http://schemas.openxmlformats.org/drawingml/2006/main">
            <a:off x="571500" y="1809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Standaardkwaliteit vezelvlokken, verkocht per kg</a:t>
            </a:r>
          </a:p>
        </p:txBody>
      </p:sp>
      <p:graphicFrame>
        <p:nvGraphicFramePr>
          <p:cNvPr id="13" name=""/>
          <p:cNvGraphicFramePr/>
          <p:nvPr/>
        </p:nvGraphicFramePr>
        <p:xfrm>
          <a:off xmlns:a="http://schemas.openxmlformats.org/drawingml/2006/main" x="571500" y="2714625"/>
          <a:ext xmlns:a="http://schemas.openxmlformats.org/drawingml/2006/main" cx="14097000" cy="3829050"/>
        </p:xfrm>
        <a:graphic xmlns:a="http://schemas.openxmlformats.org/drawingml/2006/main">
          <a:graphicData uri="http://schemas.openxmlformats.org/drawingml/2006/table">
            <a:tbl>
              <a:tblPr/>
              <a:tblGrid>
                <a:gridCol w="5810250"/>
                <a:gridCol w="8286750"/>
              </a:tblGrid>
              <a:tr h="765810">
                <a:tc>
                  <a:txBody>
                    <a:bodyPr lIns="171450" tIns="95250" rIns="15240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Voor deze week</a:t>
                      </a:r>
                    </a:p>
                  </a:txBody>
                  <a:tcPr marL="91440" marR="91440" marT="45720" marB="45720" anchor="ctr">
                    <a:solidFill>
                      <a:srgbClr val="183247"/>
                    </a:solidFill>
                  </a:tcPr>
                </a:tc>
              </a:tr>
              <a:tr h="765810">
                <a:tc>
                  <a:txBody>
                    <a:bodyPr lIns="171450" tIns="95250" rIns="152400" bIns="95250"/>
                    <a:lstStyle/>
                    <a:p>
                      <a:r>
                        <a:rPr sz="2550" b="0">
                          <a:solidFill>
                            <a:srgbClr val="183247"/>
                          </a:solidFill>
                          <a:latin typeface="Arial"/>
                          <a:ea typeface="Arial"/>
                          <a:cs typeface="Arial"/>
                        </a:rPr>
                        <a:t>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€ 15 per kg</a:t>
                      </a:r>
                    </a:p>
                  </a:txBody>
                  <a:tcPr marL="91440" marR="91440" marT="45720" marB="45720" anchor="ctr">
                    <a:solidFill>
                      <a:srgbClr val="FFFFFF"/>
                    </a:solidFill>
                  </a:tcPr>
                </a:tc>
              </a:tr>
              <a:tr h="765810">
                <a:tc>
                  <a:txBody>
                    <a:bodyPr lIns="171450" tIns="95250" rIns="152400" bIns="95250"/>
                    <a:lstStyle/>
                    <a:p>
                      <a:r>
                        <a:rPr sz="2550" b="0">
                          <a:solidFill>
                            <a:srgbClr val="183247"/>
                          </a:solidFill>
                          <a:latin typeface="Arial"/>
                          <a:ea typeface="Arial"/>
                          <a:cs typeface="Arial"/>
                        </a:rPr>
                        <a:t>Totale kosten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TK = 0,10q² + 3q + 90</a:t>
                      </a:r>
                    </a:p>
                  </a:txBody>
                  <a:tcPr marL="91440" marR="91440" marT="45720" marB="45720" anchor="ctr">
                    <a:solidFill>
                      <a:srgbClr val="EFF4F7"/>
                    </a:solidFill>
                  </a:tcPr>
                </a:tc>
              </a:tr>
              <a:tr h="765810">
                <a:tc>
                  <a:txBody>
                    <a:bodyPr lIns="171450" tIns="95250" rIns="152400" bIns="95250"/>
                    <a:lstStyle/>
                    <a:p>
                      <a:r>
                        <a:rPr sz="2550" b="0">
                          <a:solidFill>
                            <a:srgbClr val="183247"/>
                          </a:solidFill>
                          <a:latin typeface="Arial"/>
                          <a:ea typeface="Arial"/>
                          <a:cs typeface="Arial"/>
                        </a:rPr>
                        <a:t>Hoeveelheid en capaciteit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in kg per week, maximaal 90 kg</a:t>
                      </a:r>
                    </a:p>
                  </a:txBody>
                  <a:tcPr marL="91440" marR="91440" marT="45720" marB="45720" anchor="ctr">
                    <a:solidFill>
                      <a:srgbClr val="FFFFFF"/>
                    </a:solidFill>
                  </a:tcPr>
                </a:tc>
              </a:tr>
              <a:tr h="765810">
                <a:tc>
                  <a:txBody>
                    <a:bodyPr lIns="171450" tIns="95250" rIns="152400" bIns="95250"/>
                    <a:lstStyle/>
                    <a:p>
                      <a:r>
                        <a:rPr sz="2550" b="0">
                          <a:solidFill>
                            <a:srgbClr val="183247"/>
                          </a:solidFill>
                          <a:latin typeface="Arial"/>
                          <a:ea typeface="Arial"/>
                          <a:cs typeface="Arial"/>
                        </a:rPr>
                        <a:t>Constante kosten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€ 90, ook bij q = 0</a:t>
                      </a:r>
                    </a:p>
                  </a:txBody>
                  <a:tcPr marL="91440" marR="91440" marT="45720" marB="45720" anchor="ctr">
                    <a:solidFill>
                      <a:srgbClr val="EFF4F7"/>
                    </a:solidFill>
                  </a:tcPr>
                </a:tc>
              </a:tr>
            </a:tbl>
          </a:graphicData>
        </a:graphic>
      </p:graphicFrame>
      <p:sp>
        <p:nvSpPr>
          <p:cNvPr id="7" name="Elke geproduceerde kg wordt verkocht. Kilogrammen zijn ">
            <a:extLst xmlns:a="http://schemas.openxmlformats.org/drawingml/2006/main">
              <a:ext uri="{FF2B5EF4-FFF2-40B4-BE49-F238E27FC236}">
                <a16:creationId xmlns:a16="http://schemas.microsoft.com/office/drawing/2014/main" id="{2CCA490E-56DF-4C3A-95EC-E6AA56FCDF18}"/>
              </a:ext>
            </a:extLst>
          </p:cNvPr>
          <p:cNvSpPr>
            <a:spLocks xmlns:a="http://schemas.openxmlformats.org/drawingml/2006/main" noGrp="1"/>
          </p:cNvSpPr>
          <p:nvPr/>
        </p:nvSpPr>
        <p:spPr>
          <a:xfrm xmlns:a="http://schemas.openxmlformats.org/drawingml/2006/main">
            <a:off x="571500" y="71151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Elke geproduceerde kg wordt verkocht. Kilogrammen zijn deelbaar.</a:t>
            </a:r>
          </a:p>
        </p:txBody>
      </p:sp>
    </p:spTree>
    <p:extLst>
      <p:ext uri="{BB962C8B-B14F-4D97-AF65-F5344CB8AC3E}">
        <p14:creationId xmlns:p14="http://schemas.microsoft.com/office/powerpoint/2010/main" val="6524807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frissen: van TK naar MK">
            <a:extLst xmlns:a="http://schemas.openxmlformats.org/drawingml/2006/main">
              <a:ext uri="{FF2B5EF4-FFF2-40B4-BE49-F238E27FC236}">
                <a16:creationId xmlns:a16="http://schemas.microsoft.com/office/drawing/2014/main" id="{713133E2-BAA9-45B0-8B36-A259F5DFB551}"/>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Opfrissen: van TK naar MK</a:t>
            </a:r>
          </a:p>
        </p:txBody>
      </p:sp>
      <p:sp>
        <p:nvSpPr>
          <p:cNvPr id="2" name="">
            <a:extLst xmlns:a="http://schemas.openxmlformats.org/drawingml/2006/main">
              <a:ext uri="{FF2B5EF4-FFF2-40B4-BE49-F238E27FC236}">
                <a16:creationId xmlns:a16="http://schemas.microsoft.com/office/drawing/2014/main" id="{58E5CC2E-E4B6-424A-8BE8-3D6566301D4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E3C05C44-D02F-4EF0-BDCE-436B55FBE016}"/>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3">
            <a:extLst xmlns:a="http://schemas.openxmlformats.org/drawingml/2006/main">
              <a:ext uri="{FF2B5EF4-FFF2-40B4-BE49-F238E27FC236}">
                <a16:creationId xmlns:a16="http://schemas.microsoft.com/office/drawing/2014/main" id="{B6C384E6-B21A-43DE-A05D-75C15BD54A05}"/>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TK = 0,10q² + 3q + 90">
            <a:extLst xmlns:a="http://schemas.openxmlformats.org/drawingml/2006/main">
              <a:ext uri="{FF2B5EF4-FFF2-40B4-BE49-F238E27FC236}">
                <a16:creationId xmlns:a16="http://schemas.microsoft.com/office/drawing/2014/main" id="{CA61226A-39F7-44E6-A46E-3961CA62A612}"/>
              </a:ext>
            </a:extLst>
          </p:cNvPr>
          <p:cNvSpPr>
            <a:spLocks xmlns:a="http://schemas.openxmlformats.org/drawingml/2006/main" noGrp="1"/>
          </p:cNvSpPr>
          <p:nvPr/>
        </p:nvSpPr>
        <p:spPr>
          <a:xfrm xmlns:a="http://schemas.openxmlformats.org/drawingml/2006/main">
            <a:off x="571500" y="18192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TK = 0,10q² + 3q + 90</a:t>
            </a:r>
          </a:p>
        </p:txBody>
      </p:sp>
      <p:graphicFrame>
        <p:nvGraphicFramePr>
          <p:cNvPr id="13" name=""/>
          <p:cNvGraphicFramePr/>
          <p:nvPr/>
        </p:nvGraphicFramePr>
        <p:xfrm>
          <a:off xmlns:a="http://schemas.openxmlformats.org/drawingml/2006/main" x="571500" y="2857500"/>
          <a:ext xmlns:a="http://schemas.openxmlformats.org/drawingml/2006/main" cx="14097000" cy="3238500"/>
        </p:xfrm>
        <a:graphic xmlns:a="http://schemas.openxmlformats.org/drawingml/2006/main">
          <a:graphicData uri="http://schemas.openxmlformats.org/drawingml/2006/table">
            <a:tbl>
              <a:tblPr/>
              <a:tblGrid>
                <a:gridCol w="7048500"/>
                <a:gridCol w="7048500"/>
              </a:tblGrid>
              <a:tr h="809625">
                <a:tc>
                  <a:txBody>
                    <a:bodyPr lIns="171450" tIns="95250" rIns="152400" bIns="95250"/>
                    <a:lstStyle/>
                    <a:p>
                      <a:r>
                        <a:rPr sz="2700" b="1">
                          <a:solidFill>
                            <a:srgbClr val="FFFFFF"/>
                          </a:solidFill>
                          <a:latin typeface="Arial"/>
                          <a:ea typeface="Arial"/>
                          <a:cs typeface="Arial"/>
                        </a:rPr>
                        <a:t>Term in TK</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Afgeleide</a:t>
                      </a:r>
                    </a:p>
                  </a:txBody>
                  <a:tcPr marL="91440" marR="91440" marT="45720" marB="45720" anchor="ctr">
                    <a:solidFill>
                      <a:srgbClr val="183247"/>
                    </a:solidFill>
                  </a:tcPr>
                </a:tc>
              </a:tr>
              <a:tr h="809625">
                <a:tc>
                  <a:txBody>
                    <a:bodyPr lIns="171450" tIns="95250" rIns="152400" bIns="95250"/>
                    <a:lstStyle/>
                    <a:p>
                      <a:r>
                        <a:rPr sz="2700" b="0">
                          <a:solidFill>
                            <a:srgbClr val="183247"/>
                          </a:solidFill>
                          <a:latin typeface="Arial"/>
                          <a:ea typeface="Arial"/>
                          <a:cs typeface="Arial"/>
                        </a:rPr>
                        <a:t>0,10q²</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2 × 0,10q = 0,20q</a:t>
                      </a:r>
                    </a:p>
                  </a:txBody>
                  <a:tcPr marL="91440" marR="91440" marT="45720" marB="45720" anchor="ctr">
                    <a:solidFill>
                      <a:srgbClr val="FFFFFF"/>
                    </a:solidFill>
                  </a:tcPr>
                </a:tc>
              </a:tr>
              <a:tr h="809625">
                <a:tc>
                  <a:txBody>
                    <a:bodyPr lIns="171450" tIns="95250" rIns="152400" bIns="95250"/>
                    <a:lstStyle/>
                    <a:p>
                      <a:r>
                        <a:rPr sz="2700" b="0">
                          <a:solidFill>
                            <a:srgbClr val="183247"/>
                          </a:solidFill>
                          <a:latin typeface="Arial"/>
                          <a:ea typeface="Arial"/>
                          <a:cs typeface="Arial"/>
                        </a:rPr>
                        <a:t>3q</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3</a:t>
                      </a:r>
                    </a:p>
                  </a:txBody>
                  <a:tcPr marL="91440" marR="91440" marT="45720" marB="45720" anchor="ctr">
                    <a:solidFill>
                      <a:srgbClr val="EFF4F7"/>
                    </a:solidFill>
                  </a:tcPr>
                </a:tc>
              </a:tr>
              <a:tr h="809625">
                <a:tc>
                  <a:txBody>
                    <a:bodyPr lIns="171450" tIns="95250" rIns="152400" bIns="95250"/>
                    <a:lstStyle/>
                    <a:p>
                      <a:r>
                        <a:rPr sz="2700" b="0">
                          <a:solidFill>
                            <a:srgbClr val="183247"/>
                          </a:solidFill>
                          <a:latin typeface="Arial"/>
                          <a:ea typeface="Arial"/>
                          <a:cs typeface="Arial"/>
                        </a:rPr>
                        <a:t>90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7" name="MK = 0,20q + 3   (€ per kg)">
            <a:extLst xmlns:a="http://schemas.openxmlformats.org/drawingml/2006/main">
              <a:ext uri="{FF2B5EF4-FFF2-40B4-BE49-F238E27FC236}">
                <a16:creationId xmlns:a16="http://schemas.microsoft.com/office/drawing/2014/main" id="{9554C86A-B4E1-4A16-866F-39F90F6F303C}"/>
              </a:ext>
            </a:extLst>
          </p:cNvPr>
          <p:cNvSpPr>
            <a:spLocks xmlns:a="http://schemas.openxmlformats.org/drawingml/2006/main" noGrp="1"/>
          </p:cNvSpPr>
          <p:nvPr/>
        </p:nvSpPr>
        <p:spPr>
          <a:xfrm xmlns:a="http://schemas.openxmlformats.org/drawingml/2006/main">
            <a:off x="571500" y="679132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A94D16"/>
                </a:solidFill>
                <a:latin typeface="Arial"/>
                <a:ea typeface="Arial"/>
                <a:cs typeface="Arial"/>
              </a:defRPr>
            </a:pPr>
            <a:r>
              <a:rPr sz="3450" b="1">
                <a:solidFill>
                  <a:srgbClr val="A94D16"/>
                </a:solidFill>
                <a:latin typeface="Arial"/>
                <a:ea typeface="Arial"/>
                <a:cs typeface="Arial"/>
              </a:rPr>
              <a:t>MK = 0,20q + 3   (€ per kg)</a:t>
            </a:r>
          </a:p>
        </p:txBody>
      </p:sp>
    </p:spTree>
    <p:extLst>
      <p:ext uri="{BB962C8B-B14F-4D97-AF65-F5344CB8AC3E}">
        <p14:creationId xmlns:p14="http://schemas.microsoft.com/office/powerpoint/2010/main" val="7136459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opbrengst van extra productie">
            <a:extLst xmlns:a="http://schemas.openxmlformats.org/drawingml/2006/main">
              <a:ext uri="{FF2B5EF4-FFF2-40B4-BE49-F238E27FC236}">
                <a16:creationId xmlns:a16="http://schemas.microsoft.com/office/drawing/2014/main" id="{3F6F7092-A912-4C44-95B5-CF10148F3C54}"/>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opbrengst van extra productie</a:t>
            </a:r>
          </a:p>
        </p:txBody>
      </p:sp>
      <p:sp>
        <p:nvSpPr>
          <p:cNvPr id="2" name="">
            <a:extLst xmlns:a="http://schemas.openxmlformats.org/drawingml/2006/main">
              <a:ext uri="{FF2B5EF4-FFF2-40B4-BE49-F238E27FC236}">
                <a16:creationId xmlns:a16="http://schemas.microsoft.com/office/drawing/2014/main" id="{E673857C-41F3-4A66-B470-A13A772CF28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A4B59C2-088E-468A-8AB3-BAD0EFC089CE}"/>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4">
            <a:extLst xmlns:a="http://schemas.openxmlformats.org/drawingml/2006/main">
              <a:ext uri="{FF2B5EF4-FFF2-40B4-BE49-F238E27FC236}">
                <a16:creationId xmlns:a16="http://schemas.microsoft.com/office/drawing/2014/main" id="{FA9F2A1A-240B-457D-93D1-F2944C3C4B7C}"/>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graphicFrame>
        <p:nvGraphicFramePr>
          <p:cNvPr id="13"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a1041347b0b547f7"/>
          </a:graphicData>
        </a:graphic>
      </p:graphicFrame>
      <p:sp>
        <p:nvSpPr>
          <p:cNvPr id="6" name="Prijsnemer">
            <a:extLst xmlns:a="http://schemas.openxmlformats.org/drawingml/2006/main">
              <a:ext uri="{FF2B5EF4-FFF2-40B4-BE49-F238E27FC236}">
                <a16:creationId xmlns:a16="http://schemas.microsoft.com/office/drawing/2014/main" id="{D6D45B4B-3E97-4737-A527-E308FDBB6963}"/>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Prijsnemer</a:t>
            </a:r>
          </a:p>
        </p:txBody>
      </p:sp>
      <p:sp>
        <p:nvSpPr>
          <p:cNvPr id="7" name="P = GO = MO&#10;= € 15 per kg">
            <a:extLst xmlns:a="http://schemas.openxmlformats.org/drawingml/2006/main">
              <a:ext uri="{FF2B5EF4-FFF2-40B4-BE49-F238E27FC236}">
                <a16:creationId xmlns:a16="http://schemas.microsoft.com/office/drawing/2014/main" id="{E619BFE5-198E-4BD1-A2F6-FB2FC544DE86}"/>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GO = MO</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€ 15 per kg</a:t>
            </a:r>
          </a:p>
        </p:txBody>
      </p:sp>
      <p:sp>
        <p:nvSpPr>
          <p:cNvPr id="8" name="Dezelfde prijs bij elke haalbare q.">
            <a:extLst xmlns:a="http://schemas.openxmlformats.org/drawingml/2006/main">
              <a:ext uri="{FF2B5EF4-FFF2-40B4-BE49-F238E27FC236}">
                <a16:creationId xmlns:a16="http://schemas.microsoft.com/office/drawing/2014/main" id="{48A3862D-2302-4DAC-94FE-190F19D81D9E}"/>
              </a:ext>
            </a:extLst>
          </p:cNvPr>
          <p:cNvSpPr>
            <a:spLocks xmlns:a="http://schemas.openxmlformats.org/drawingml/2006/main" noGrp="1"/>
          </p:cNvSpPr>
          <p:nvPr/>
        </p:nvSpPr>
        <p:spPr>
          <a:xfrm xmlns:a="http://schemas.openxmlformats.org/drawingml/2006/main">
            <a:off x="11049000" y="657225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Dezelfde prijs bij elke haalbare q.</a:t>
            </a:r>
          </a:p>
        </p:txBody>
      </p:sp>
    </p:spTree>
    <p:extLst>
      <p:ext uri="{BB962C8B-B14F-4D97-AF65-F5344CB8AC3E}">
        <p14:creationId xmlns:p14="http://schemas.microsoft.com/office/powerpoint/2010/main" val="12732696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eer produceren: wat gebeurt er met de winst?">
            <a:extLst xmlns:a="http://schemas.openxmlformats.org/drawingml/2006/main">
              <a:ext uri="{FF2B5EF4-FFF2-40B4-BE49-F238E27FC236}">
                <a16:creationId xmlns:a16="http://schemas.microsoft.com/office/drawing/2014/main" id="{AC9254F4-E524-4FAB-ADFD-FEF7E7B2EB3D}"/>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Meer produceren: wat gebeurt er met de winst?</a:t>
            </a:r>
          </a:p>
        </p:txBody>
      </p:sp>
      <p:sp>
        <p:nvSpPr>
          <p:cNvPr id="2" name="">
            <a:extLst xmlns:a="http://schemas.openxmlformats.org/drawingml/2006/main">
              <a:ext uri="{FF2B5EF4-FFF2-40B4-BE49-F238E27FC236}">
                <a16:creationId xmlns:a16="http://schemas.microsoft.com/office/drawing/2014/main" id="{65B0EA27-6396-4353-B5FE-33C2ACB70D2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987261E1-8B0C-42E5-B4E4-5FD46486E906}"/>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5">
            <a:extLst xmlns:a="http://schemas.openxmlformats.org/drawingml/2006/main">
              <a:ext uri="{FF2B5EF4-FFF2-40B4-BE49-F238E27FC236}">
                <a16:creationId xmlns:a16="http://schemas.microsoft.com/office/drawing/2014/main" id="{AB87842C-C7C5-4230-8FB0-861A25406A7C}"/>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graphicFrame>
        <p:nvGraphicFramePr>
          <p:cNvPr id="13"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c348865fd1e24aba"/>
          </a:graphicData>
        </a:graphic>
      </p:graphicFrame>
      <p:sp>
        <p:nvSpPr>
          <p:cNvPr id="6" name="Links en rechts">
            <a:extLst xmlns:a="http://schemas.openxmlformats.org/drawingml/2006/main">
              <a:ext uri="{FF2B5EF4-FFF2-40B4-BE49-F238E27FC236}">
                <a16:creationId xmlns:a16="http://schemas.microsoft.com/office/drawing/2014/main" id="{3E902948-35F3-44D6-85E6-C01BE56D1ACA}"/>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Links en rechts</a:t>
            </a:r>
          </a:p>
        </p:txBody>
      </p:sp>
      <p:sp>
        <p:nvSpPr>
          <p:cNvPr id="7" name="Bij q = 45:&#10;MK = 12 &lt; MO&#10;&#10;Bij q = 75:&#10;MK = 18 &gt; MO">
            <a:extLst xmlns:a="http://schemas.openxmlformats.org/drawingml/2006/main">
              <a:ext uri="{FF2B5EF4-FFF2-40B4-BE49-F238E27FC236}">
                <a16:creationId xmlns:a16="http://schemas.microsoft.com/office/drawing/2014/main" id="{E6EBF438-6A0E-4339-B302-AE523CC04E79}"/>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q = 45: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12 &lt; MO</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q = 75: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18 &gt; MO</a:t>
            </a:r>
          </a:p>
        </p:txBody>
      </p:sp>
      <p:sp>
        <p:nvSpPr>
          <p:cNvPr id="8" name="Eerst stijgt de winst, daarna daalt zij.">
            <a:extLst xmlns:a="http://schemas.openxmlformats.org/drawingml/2006/main">
              <a:ext uri="{FF2B5EF4-FFF2-40B4-BE49-F238E27FC236}">
                <a16:creationId xmlns:a16="http://schemas.microsoft.com/office/drawing/2014/main" id="{32623310-DA5B-458D-BBA2-E7F14CB4F33C}"/>
              </a:ext>
            </a:extLst>
          </p:cNvPr>
          <p:cNvSpPr>
            <a:spLocks xmlns:a="http://schemas.openxmlformats.org/drawingml/2006/main" noGrp="1"/>
          </p:cNvSpPr>
          <p:nvPr/>
        </p:nvSpPr>
        <p:spPr>
          <a:xfrm xmlns:a="http://schemas.openxmlformats.org/drawingml/2006/main">
            <a:off x="11049000" y="657225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Eerst stijgt de winst, daarna daalt zij.</a:t>
            </a:r>
          </a:p>
        </p:txBody>
      </p:sp>
    </p:spTree>
    <p:extLst>
      <p:ext uri="{BB962C8B-B14F-4D97-AF65-F5344CB8AC3E}">
        <p14:creationId xmlns:p14="http://schemas.microsoft.com/office/powerpoint/2010/main" val="4965516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beste haalbare productie">
            <a:extLst xmlns:a="http://schemas.openxmlformats.org/drawingml/2006/main">
              <a:ext uri="{FF2B5EF4-FFF2-40B4-BE49-F238E27FC236}">
                <a16:creationId xmlns:a16="http://schemas.microsoft.com/office/drawing/2014/main" id="{B792DB79-27BB-4048-A121-5832B086EF9E}"/>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beste haalbare productie</a:t>
            </a:r>
          </a:p>
        </p:txBody>
      </p:sp>
      <p:sp>
        <p:nvSpPr>
          <p:cNvPr id="2" name="">
            <a:extLst xmlns:a="http://schemas.openxmlformats.org/drawingml/2006/main">
              <a:ext uri="{FF2B5EF4-FFF2-40B4-BE49-F238E27FC236}">
                <a16:creationId xmlns:a16="http://schemas.microsoft.com/office/drawing/2014/main" id="{4D1D6CE7-E26F-4ECE-8670-0B80A843071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50579D2-9E52-40BF-A590-0559BC6A7AAA}"/>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6">
            <a:extLst xmlns:a="http://schemas.openxmlformats.org/drawingml/2006/main">
              <a:ext uri="{FF2B5EF4-FFF2-40B4-BE49-F238E27FC236}">
                <a16:creationId xmlns:a16="http://schemas.microsoft.com/office/drawing/2014/main" id="{213CBAD7-49FE-469F-8F8B-9A6B75492305}"/>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MO = MK:  15 = 0,20q + 3">
            <a:extLst xmlns:a="http://schemas.openxmlformats.org/drawingml/2006/main">
              <a:ext uri="{FF2B5EF4-FFF2-40B4-BE49-F238E27FC236}">
                <a16:creationId xmlns:a16="http://schemas.microsoft.com/office/drawing/2014/main" id="{268A6FCD-020A-4BB1-9CEB-26B68AF391DA}"/>
              </a:ext>
            </a:extLst>
          </p:cNvPr>
          <p:cNvSpPr>
            <a:spLocks xmlns:a="http://schemas.openxmlformats.org/drawingml/2006/main" noGrp="1"/>
          </p:cNvSpPr>
          <p:nvPr/>
        </p:nvSpPr>
        <p:spPr>
          <a:xfrm xmlns:a="http://schemas.openxmlformats.org/drawingml/2006/main">
            <a:off x="571500" y="20478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MO = MK:  15 = 0,20q + 3</a:t>
            </a:r>
          </a:p>
        </p:txBody>
      </p:sp>
      <p:sp>
        <p:nvSpPr>
          <p:cNvPr id="6" name="12 = 0,20q">
            <a:extLst xmlns:a="http://schemas.openxmlformats.org/drawingml/2006/main">
              <a:ext uri="{FF2B5EF4-FFF2-40B4-BE49-F238E27FC236}">
                <a16:creationId xmlns:a16="http://schemas.microsoft.com/office/drawing/2014/main" id="{EA6130B4-BC36-4AD3-9BEB-F8C48BB68545}"/>
              </a:ext>
            </a:extLst>
          </p:cNvPr>
          <p:cNvSpPr>
            <a:spLocks xmlns:a="http://schemas.openxmlformats.org/drawingml/2006/main" noGrp="1"/>
          </p:cNvSpPr>
          <p:nvPr/>
        </p:nvSpPr>
        <p:spPr>
          <a:xfrm xmlns:a="http://schemas.openxmlformats.org/drawingml/2006/main">
            <a:off x="571500" y="32861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83247"/>
                </a:solidFill>
                <a:latin typeface="Arial"/>
                <a:ea typeface="Arial"/>
                <a:cs typeface="Arial"/>
              </a:defRPr>
            </a:pPr>
            <a:r>
              <a:rPr sz="3600" b="0">
                <a:solidFill>
                  <a:srgbClr val="183247"/>
                </a:solidFill>
                <a:latin typeface="Arial"/>
                <a:ea typeface="Arial"/>
                <a:cs typeface="Arial"/>
              </a:rPr>
              <a:t>12 = 0,20q</a:t>
            </a:r>
          </a:p>
        </p:txBody>
      </p:sp>
      <p:sp>
        <p:nvSpPr>
          <p:cNvPr id="7" name="q = 60 kg per week">
            <a:extLst xmlns:a="http://schemas.openxmlformats.org/drawingml/2006/main">
              <a:ext uri="{FF2B5EF4-FFF2-40B4-BE49-F238E27FC236}">
                <a16:creationId xmlns:a16="http://schemas.microsoft.com/office/drawing/2014/main" id="{B97D83F6-CF24-4F67-B102-B0DA016BC0EE}"/>
              </a:ext>
            </a:extLst>
          </p:cNvPr>
          <p:cNvSpPr>
            <a:spLocks xmlns:a="http://schemas.openxmlformats.org/drawingml/2006/main" noGrp="1"/>
          </p:cNvSpPr>
          <p:nvPr/>
        </p:nvSpPr>
        <p:spPr>
          <a:xfrm xmlns:a="http://schemas.openxmlformats.org/drawingml/2006/main">
            <a:off x="571500" y="45243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q = 60 kg per week</a:t>
            </a:r>
          </a:p>
        </p:txBody>
      </p:sp>
      <p:sp>
        <p:nvSpPr>
          <p:cNvPr id="8" name="MK stijgt door MO heen. 60 ≤ 90, dus de keuze is haalba">
            <a:extLst xmlns:a="http://schemas.openxmlformats.org/drawingml/2006/main">
              <a:ext uri="{FF2B5EF4-FFF2-40B4-BE49-F238E27FC236}">
                <a16:creationId xmlns:a16="http://schemas.microsoft.com/office/drawing/2014/main" id="{74372EE7-4166-40BF-B95F-BA6D8D64B2A1}"/>
              </a:ext>
            </a:extLst>
          </p:cNvPr>
          <p:cNvSpPr>
            <a:spLocks xmlns:a="http://schemas.openxmlformats.org/drawingml/2006/main" noGrp="1"/>
          </p:cNvSpPr>
          <p:nvPr/>
        </p:nvSpPr>
        <p:spPr>
          <a:xfrm xmlns:a="http://schemas.openxmlformats.org/drawingml/2006/main">
            <a:off x="571500" y="628650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MK stijgt door MO heen. 60 ≤ 90, dus de keuze is haalbaar.</a:t>
            </a:r>
          </a:p>
        </p:txBody>
      </p:sp>
    </p:spTree>
    <p:extLst>
      <p:ext uri="{BB962C8B-B14F-4D97-AF65-F5344CB8AC3E}">
        <p14:creationId xmlns:p14="http://schemas.microsoft.com/office/powerpoint/2010/main" val="675556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otale winst bij q = 60">
            <a:extLst xmlns:a="http://schemas.openxmlformats.org/drawingml/2006/main">
              <a:ext uri="{FF2B5EF4-FFF2-40B4-BE49-F238E27FC236}">
                <a16:creationId xmlns:a16="http://schemas.microsoft.com/office/drawing/2014/main" id="{0BE25765-BFB6-446E-8A37-2BE45580AB14}"/>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Totale winst bij q = 60</a:t>
            </a:r>
          </a:p>
        </p:txBody>
      </p:sp>
      <p:sp>
        <p:nvSpPr>
          <p:cNvPr id="2" name="">
            <a:extLst xmlns:a="http://schemas.openxmlformats.org/drawingml/2006/main">
              <a:ext uri="{FF2B5EF4-FFF2-40B4-BE49-F238E27FC236}">
                <a16:creationId xmlns:a16="http://schemas.microsoft.com/office/drawing/2014/main" id="{903B43A9-819A-454D-BB4C-4197F4EFD23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8EFA3F9-D453-4F6B-B409-77D3E3F3AFD6}"/>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7">
            <a:extLst xmlns:a="http://schemas.openxmlformats.org/drawingml/2006/main">
              <a:ext uri="{FF2B5EF4-FFF2-40B4-BE49-F238E27FC236}">
                <a16:creationId xmlns:a16="http://schemas.microsoft.com/office/drawing/2014/main" id="{EDE07AA0-3169-4EE6-A70F-C848AE50149E}"/>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TO = 15 × 60 = € 900 per week">
            <a:extLst xmlns:a="http://schemas.openxmlformats.org/drawingml/2006/main">
              <a:ext uri="{FF2B5EF4-FFF2-40B4-BE49-F238E27FC236}">
                <a16:creationId xmlns:a16="http://schemas.microsoft.com/office/drawing/2014/main" id="{557F3BDB-8F36-49A1-8C3B-D9B03147139D}"/>
              </a:ext>
            </a:extLst>
          </p:cNvPr>
          <p:cNvSpPr>
            <a:spLocks xmlns:a="http://schemas.openxmlformats.org/drawingml/2006/main" noGrp="1"/>
          </p:cNvSpPr>
          <p:nvPr/>
        </p:nvSpPr>
        <p:spPr>
          <a:xfrm xmlns:a="http://schemas.openxmlformats.org/drawingml/2006/main">
            <a:off x="571500" y="1952625"/>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TO = 15 × 60 = € 900 per week</a:t>
            </a:r>
          </a:p>
        </p:txBody>
      </p:sp>
      <p:sp>
        <p:nvSpPr>
          <p:cNvPr id="6" name="TK = 0,10 × 60² + 3 × 60 + 90&#10;      = 360 + 180 + 90 = ">
            <a:extLst xmlns:a="http://schemas.openxmlformats.org/drawingml/2006/main">
              <a:ext uri="{FF2B5EF4-FFF2-40B4-BE49-F238E27FC236}">
                <a16:creationId xmlns:a16="http://schemas.microsoft.com/office/drawing/2014/main" id="{575B2EAC-220A-4E89-A0A7-79FC629D8E0D}"/>
              </a:ext>
            </a:extLst>
          </p:cNvPr>
          <p:cNvSpPr>
            <a:spLocks xmlns:a="http://schemas.openxmlformats.org/drawingml/2006/main" noGrp="1"/>
          </p:cNvSpPr>
          <p:nvPr/>
        </p:nvSpPr>
        <p:spPr>
          <a:xfrm xmlns:a="http://schemas.openxmlformats.org/drawingml/2006/main">
            <a:off x="571500" y="3667125"/>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TK = 0,10 × 60² + 3 × 60 + 90</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      = 360 + 180 + 90 = € 630 per week</a:t>
            </a:r>
          </a:p>
        </p:txBody>
      </p:sp>
      <p:sp>
        <p:nvSpPr>
          <p:cNvPr id="7" name="Winst = 900 − 630 = € 270 per week">
            <a:extLst xmlns:a="http://schemas.openxmlformats.org/drawingml/2006/main">
              <a:ext uri="{FF2B5EF4-FFF2-40B4-BE49-F238E27FC236}">
                <a16:creationId xmlns:a16="http://schemas.microsoft.com/office/drawing/2014/main" id="{EF84ACE9-337D-433A-A56E-E50C9042598C}"/>
              </a:ext>
            </a:extLst>
          </p:cNvPr>
          <p:cNvSpPr>
            <a:spLocks xmlns:a="http://schemas.openxmlformats.org/drawingml/2006/main" noGrp="1"/>
          </p:cNvSpPr>
          <p:nvPr/>
        </p:nvSpPr>
        <p:spPr>
          <a:xfrm xmlns:a="http://schemas.openxmlformats.org/drawingml/2006/main">
            <a:off x="571500" y="5381625"/>
            <a:ext cx="1409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Winst = 900 − 630 = € 270 per week</a:t>
            </a:r>
          </a:p>
        </p:txBody>
      </p:sp>
      <p:sp>
        <p:nvSpPr>
          <p:cNvPr id="8" name="Bij q = 0: winst = 0 − 90 = −€ 90 per week. € 270 is ho">
            <a:extLst xmlns:a="http://schemas.openxmlformats.org/drawingml/2006/main">
              <a:ext uri="{FF2B5EF4-FFF2-40B4-BE49-F238E27FC236}">
                <a16:creationId xmlns:a16="http://schemas.microsoft.com/office/drawing/2014/main" id="{C28FCB91-CCBA-4AED-BEB9-5CB5C6D06BA4}"/>
              </a:ext>
            </a:extLst>
          </p:cNvPr>
          <p:cNvSpPr>
            <a:spLocks xmlns:a="http://schemas.openxmlformats.org/drawingml/2006/main" noGrp="1"/>
          </p:cNvSpPr>
          <p:nvPr/>
        </p:nvSpPr>
        <p:spPr>
          <a:xfrm xmlns:a="http://schemas.openxmlformats.org/drawingml/2006/main">
            <a:off x="571500" y="7143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Bij q = 0: winst = 0 − 90 = −€ 90 per week. € 270 is hoger.</a:t>
            </a:r>
          </a:p>
        </p:txBody>
      </p:sp>
    </p:spTree>
    <p:extLst>
      <p:ext uri="{BB962C8B-B14F-4D97-AF65-F5344CB8AC3E}">
        <p14:creationId xmlns:p14="http://schemas.microsoft.com/office/powerpoint/2010/main" val="8659120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TK bij de gekozen productie">
            <a:extLst xmlns:a="http://schemas.openxmlformats.org/drawingml/2006/main">
              <a:ext uri="{FF2B5EF4-FFF2-40B4-BE49-F238E27FC236}">
                <a16:creationId xmlns:a16="http://schemas.microsoft.com/office/drawing/2014/main" id="{50767902-5D1E-49AA-9CA0-9A5AF8899827}"/>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GTK bij de gekozen productie</a:t>
            </a:r>
          </a:p>
        </p:txBody>
      </p:sp>
      <p:sp>
        <p:nvSpPr>
          <p:cNvPr id="2" name="">
            <a:extLst xmlns:a="http://schemas.openxmlformats.org/drawingml/2006/main">
              <a:ext uri="{FF2B5EF4-FFF2-40B4-BE49-F238E27FC236}">
                <a16:creationId xmlns:a16="http://schemas.microsoft.com/office/drawing/2014/main" id="{D8864910-4DA5-4E8A-8FCF-8EC87DEA9C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F564C521-5B19-4704-B1FB-04F2ED38E438}"/>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8">
            <a:extLst xmlns:a="http://schemas.openxmlformats.org/drawingml/2006/main">
              <a:ext uri="{FF2B5EF4-FFF2-40B4-BE49-F238E27FC236}">
                <a16:creationId xmlns:a16="http://schemas.microsoft.com/office/drawing/2014/main" id="{2804E89B-DB56-4F27-87E1-26BD96F1426B}"/>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graphicFrame>
        <p:nvGraphicFramePr>
          <p:cNvPr id="12"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ccf751d98bfc4df0"/>
          </a:graphicData>
        </a:graphic>
      </p:graphicFrame>
      <p:sp>
        <p:nvSpPr>
          <p:cNvPr id="6" name="Bij q = 60">
            <a:extLst xmlns:a="http://schemas.openxmlformats.org/drawingml/2006/main">
              <a:ext uri="{FF2B5EF4-FFF2-40B4-BE49-F238E27FC236}">
                <a16:creationId xmlns:a16="http://schemas.microsoft.com/office/drawing/2014/main" id="{75564D8C-CFC6-4961-AC51-38A9561D9F27}"/>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Bij q = 60</a:t>
            </a:r>
          </a:p>
        </p:txBody>
      </p:sp>
      <p:sp>
        <p:nvSpPr>
          <p:cNvPr id="7" name="GTK = 630 / 60&#10;= € 10,50 per kg&#10;&#10;P − GTK =&#10;15 − 10,50&#10;=">
            <a:extLst xmlns:a="http://schemas.openxmlformats.org/drawingml/2006/main">
              <a:ext uri="{FF2B5EF4-FFF2-40B4-BE49-F238E27FC236}">
                <a16:creationId xmlns:a16="http://schemas.microsoft.com/office/drawing/2014/main" id="{D874AE99-43A3-4A19-A17E-601ECA075FD6}"/>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GTK = 630 / 60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€ 10,50 per kg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GTK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15 − 10,50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€ 4,50 per kg</a:t>
            </a:r>
          </a:p>
        </p:txBody>
      </p:sp>
    </p:spTree>
    <p:extLst>
      <p:ext uri="{BB962C8B-B14F-4D97-AF65-F5344CB8AC3E}">
        <p14:creationId xmlns:p14="http://schemas.microsoft.com/office/powerpoint/2010/main" val="16230090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inst als rechthoek">
            <a:extLst xmlns:a="http://schemas.openxmlformats.org/drawingml/2006/main">
              <a:ext uri="{FF2B5EF4-FFF2-40B4-BE49-F238E27FC236}">
                <a16:creationId xmlns:a16="http://schemas.microsoft.com/office/drawing/2014/main" id="{99E6EA1F-34A3-43B5-B738-AD9143FCEF96}"/>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Winst als rechthoek</a:t>
            </a:r>
          </a:p>
        </p:txBody>
      </p:sp>
      <p:sp>
        <p:nvSpPr>
          <p:cNvPr id="2" name="">
            <a:extLst xmlns:a="http://schemas.openxmlformats.org/drawingml/2006/main">
              <a:ext uri="{FF2B5EF4-FFF2-40B4-BE49-F238E27FC236}">
                <a16:creationId xmlns:a16="http://schemas.microsoft.com/office/drawing/2014/main" id="{D6840153-7CC8-4CD4-A68F-80559F1651F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CECC348F-F228-4EEB-A4F3-A49DDE06DC6A}"/>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9">
            <a:extLst xmlns:a="http://schemas.openxmlformats.org/drawingml/2006/main">
              <a:ext uri="{FF2B5EF4-FFF2-40B4-BE49-F238E27FC236}">
                <a16:creationId xmlns:a16="http://schemas.microsoft.com/office/drawing/2014/main" id="{CDD7ABA6-39E2-45AE-A50E-570E8688CC32}"/>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graphicFrame>
        <p:nvGraphicFramePr>
          <p:cNvPr id="13"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d1863ccb033647a9"/>
          </a:graphicData>
        </a:graphic>
      </p:graphicFrame>
      <p:sp>
        <p:nvSpPr>
          <p:cNvPr id="6" name="Winstoppervlakte">
            <a:extLst xmlns:a="http://schemas.openxmlformats.org/drawingml/2006/main">
              <a:ext uri="{FF2B5EF4-FFF2-40B4-BE49-F238E27FC236}">
                <a16:creationId xmlns:a16="http://schemas.microsoft.com/office/drawing/2014/main" id="{686293DF-56B4-4115-8BD6-94E7E7A5F739}"/>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Winstoppervlakte</a:t>
            </a:r>
          </a:p>
        </p:txBody>
      </p:sp>
      <p:sp>
        <p:nvSpPr>
          <p:cNvPr id="7" name="Breedte: 60 kg/week&#10;&#10;Hoogte:&#10;€ 4,50 per kg">
            <a:extLst xmlns:a="http://schemas.openxmlformats.org/drawingml/2006/main">
              <a:ext uri="{FF2B5EF4-FFF2-40B4-BE49-F238E27FC236}">
                <a16:creationId xmlns:a16="http://schemas.microsoft.com/office/drawing/2014/main" id="{967798CC-260D-49B0-9522-0E9957D6B2DC}"/>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Breedte: 60 kg/week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€ 4,50 per kg</a:t>
            </a:r>
          </a:p>
        </p:txBody>
      </p:sp>
      <p:sp>
        <p:nvSpPr>
          <p:cNvPr id="8" name="60 × 4,50 =&#10;€ 270 per week">
            <a:extLst xmlns:a="http://schemas.openxmlformats.org/drawingml/2006/main">
              <a:ext uri="{FF2B5EF4-FFF2-40B4-BE49-F238E27FC236}">
                <a16:creationId xmlns:a16="http://schemas.microsoft.com/office/drawing/2014/main" id="{6F5E3489-DFBF-4E0D-9370-2ADD1620666D}"/>
              </a:ext>
            </a:extLst>
          </p:cNvPr>
          <p:cNvSpPr>
            <a:spLocks xmlns:a="http://schemas.openxmlformats.org/drawingml/2006/main" noGrp="1"/>
          </p:cNvSpPr>
          <p:nvPr/>
        </p:nvSpPr>
        <p:spPr>
          <a:xfrm xmlns:a="http://schemas.openxmlformats.org/drawingml/2006/main">
            <a:off x="11049000" y="657225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60 × 4,50 =</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€ 270 per week</a:t>
            </a:r>
          </a:p>
        </p:txBody>
      </p:sp>
    </p:spTree>
    <p:extLst>
      <p:ext uri="{BB962C8B-B14F-4D97-AF65-F5344CB8AC3E}">
        <p14:creationId xmlns:p14="http://schemas.microsoft.com/office/powerpoint/2010/main" val="13558510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lagere capaciteit: maximaal 45 kg">
            <a:extLst xmlns:a="http://schemas.openxmlformats.org/drawingml/2006/main">
              <a:ext uri="{FF2B5EF4-FFF2-40B4-BE49-F238E27FC236}">
                <a16:creationId xmlns:a16="http://schemas.microsoft.com/office/drawing/2014/main" id="{D2325118-CC24-47D1-B2FF-BCAB7A50DAC4}"/>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lagere capaciteit: maximaal 45 kg</a:t>
            </a:r>
          </a:p>
        </p:txBody>
      </p:sp>
      <p:sp>
        <p:nvSpPr>
          <p:cNvPr id="2" name="">
            <a:extLst xmlns:a="http://schemas.openxmlformats.org/drawingml/2006/main">
              <a:ext uri="{FF2B5EF4-FFF2-40B4-BE49-F238E27FC236}">
                <a16:creationId xmlns:a16="http://schemas.microsoft.com/office/drawing/2014/main" id="{AD1D8133-8300-4FAB-9516-16A2AFB477B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E0AA49FC-85F3-4BDF-B66E-E6AC139CE86B}"/>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0">
            <a:extLst xmlns:a="http://schemas.openxmlformats.org/drawingml/2006/main">
              <a:ext uri="{FF2B5EF4-FFF2-40B4-BE49-F238E27FC236}">
                <a16:creationId xmlns:a16="http://schemas.microsoft.com/office/drawing/2014/main" id="{B22F9796-DF51-42A8-8CBC-AC738D29E8E5}"/>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c8cb9156b6ab4513"/>
          </a:graphicData>
        </a:graphic>
      </p:graphicFrame>
      <p:sp>
        <p:nvSpPr>
          <p:cNvPr id="6" name="Nieuwe grens">
            <a:extLst xmlns:a="http://schemas.openxmlformats.org/drawingml/2006/main">
              <a:ext uri="{FF2B5EF4-FFF2-40B4-BE49-F238E27FC236}">
                <a16:creationId xmlns:a16="http://schemas.microsoft.com/office/drawing/2014/main" id="{6621061E-CE8A-4197-998B-3B46A1D778AB}"/>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Nieuwe grens</a:t>
            </a:r>
          </a:p>
        </p:txBody>
      </p:sp>
      <p:sp>
        <p:nvSpPr>
          <p:cNvPr id="7" name="60 is onhaalbaar.&#10;&#10;MK(45) =&#10;0,20 × 45 + 3&#10;= € 12 per kg">
            <a:extLst xmlns:a="http://schemas.openxmlformats.org/drawingml/2006/main">
              <a:ext uri="{FF2B5EF4-FFF2-40B4-BE49-F238E27FC236}">
                <a16:creationId xmlns:a16="http://schemas.microsoft.com/office/drawing/2014/main" id="{62FCEE82-94AD-430D-84F1-3077AF9017BB}"/>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60 is onhaalbaar.</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MK(45)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0,20 × 45 + 3</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€ 12 per kg</a:t>
            </a:r>
          </a:p>
        </p:txBody>
      </p:sp>
      <p:sp>
        <p:nvSpPr>
          <p:cNvPr id="8" name="12 &lt; 15:&#10;kies q = 45.">
            <a:extLst xmlns:a="http://schemas.openxmlformats.org/drawingml/2006/main">
              <a:ext uri="{FF2B5EF4-FFF2-40B4-BE49-F238E27FC236}">
                <a16:creationId xmlns:a16="http://schemas.microsoft.com/office/drawing/2014/main" id="{125BE8F7-0D14-45E0-8102-6E2299240FF8}"/>
              </a:ext>
            </a:extLst>
          </p:cNvPr>
          <p:cNvSpPr>
            <a:spLocks xmlns:a="http://schemas.openxmlformats.org/drawingml/2006/main" noGrp="1"/>
          </p:cNvSpPr>
          <p:nvPr/>
        </p:nvSpPr>
        <p:spPr>
          <a:xfrm xmlns:a="http://schemas.openxmlformats.org/drawingml/2006/main">
            <a:off x="11049000" y="657225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12 &lt; 15:</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kies q = 45.</a:t>
            </a:r>
          </a:p>
        </p:txBody>
      </p:sp>
    </p:spTree>
    <p:extLst>
      <p:ext uri="{BB962C8B-B14F-4D97-AF65-F5344CB8AC3E}">
        <p14:creationId xmlns:p14="http://schemas.microsoft.com/office/powerpoint/2010/main" val="9740004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lleen de constante kosten veranderen">
            <a:extLst xmlns:a="http://schemas.openxmlformats.org/drawingml/2006/main">
              <a:ext uri="{FF2B5EF4-FFF2-40B4-BE49-F238E27FC236}">
                <a16:creationId xmlns:a16="http://schemas.microsoft.com/office/drawing/2014/main" id="{9017B3A4-4C5E-4164-AD34-7D9F71AC03A7}"/>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Alleen de constante kosten veranderen</a:t>
            </a:r>
          </a:p>
        </p:txBody>
      </p:sp>
      <p:sp>
        <p:nvSpPr>
          <p:cNvPr id="2" name="">
            <a:extLst xmlns:a="http://schemas.openxmlformats.org/drawingml/2006/main">
              <a:ext uri="{FF2B5EF4-FFF2-40B4-BE49-F238E27FC236}">
                <a16:creationId xmlns:a16="http://schemas.microsoft.com/office/drawing/2014/main" id="{865914FD-389A-475D-A46C-C386AB04604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8E394587-7C0D-4FD8-97B9-68BBD2834848}"/>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1">
            <a:extLst xmlns:a="http://schemas.openxmlformats.org/drawingml/2006/main">
              <a:ext uri="{FF2B5EF4-FFF2-40B4-BE49-F238E27FC236}">
                <a16:creationId xmlns:a16="http://schemas.microsoft.com/office/drawing/2014/main" id="{D71C2654-D441-4D65-A14A-519937E4419A}"/>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Weer capaciteit 90 kg en P = € 15 per kg">
            <a:extLst xmlns:a="http://schemas.openxmlformats.org/drawingml/2006/main">
              <a:ext uri="{FF2B5EF4-FFF2-40B4-BE49-F238E27FC236}">
                <a16:creationId xmlns:a16="http://schemas.microsoft.com/office/drawing/2014/main" id="{0EEAB869-7B35-4410-A5FC-699A455714BC}"/>
              </a:ext>
            </a:extLst>
          </p:cNvPr>
          <p:cNvSpPr>
            <a:spLocks xmlns:a="http://schemas.openxmlformats.org/drawingml/2006/main" noGrp="1"/>
          </p:cNvSpPr>
          <p:nvPr/>
        </p:nvSpPr>
        <p:spPr>
          <a:xfrm xmlns:a="http://schemas.openxmlformats.org/drawingml/2006/main">
            <a:off x="571500" y="1809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Weer capaciteit 90 kg en P = € 15 per kg</a:t>
            </a:r>
          </a:p>
        </p:txBody>
      </p:sp>
      <p:graphicFrame>
        <p:nvGraphicFramePr>
          <p:cNvPr id="13" name=""/>
          <p:cNvGraphicFramePr/>
          <p:nvPr/>
        </p:nvGraphicFramePr>
        <p:xfrm>
          <a:off xmlns:a="http://schemas.openxmlformats.org/drawingml/2006/main" x="571500" y="2857500"/>
          <a:ext xmlns:a="http://schemas.openxmlformats.org/drawingml/2006/main" cx="14097000" cy="3619500"/>
        </p:xfrm>
        <a:graphic xmlns:a="http://schemas.openxmlformats.org/drawingml/2006/main">
          <a:graphicData uri="http://schemas.openxmlformats.org/drawingml/2006/table">
            <a:tbl>
              <a:tblPr/>
              <a:tblGrid>
                <a:gridCol w="3333750"/>
                <a:gridCol w="4905375"/>
                <a:gridCol w="5857875"/>
              </a:tblGrid>
              <a:tr h="723900">
                <a:tc>
                  <a:txBody>
                    <a:bodyPr lIns="171450" tIns="95250" rIns="152400" bIns="95250"/>
                    <a:lstStyle/>
                    <a:p>
                      <a:r>
                        <a:rPr sz="2400"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Eerst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Hogere constante kosten</a:t>
                      </a:r>
                    </a:p>
                  </a:txBody>
                  <a:tcPr marL="91440" marR="91440" marT="45720" marB="45720" anchor="ctr">
                    <a:solidFill>
                      <a:srgbClr val="183247"/>
                    </a:solidFill>
                  </a:tcPr>
                </a:tc>
              </a:tr>
              <a:tr h="723900">
                <a:tc>
                  <a:txBody>
                    <a:bodyPr lIns="171450" tIns="95250" rIns="152400" bIns="95250"/>
                    <a:lstStyle/>
                    <a:p>
                      <a:r>
                        <a:rPr sz="2400" b="0">
                          <a:solidFill>
                            <a:srgbClr val="183247"/>
                          </a:solidFill>
                          <a:latin typeface="Arial"/>
                          <a:ea typeface="Arial"/>
                          <a:cs typeface="Arial"/>
                        </a:rPr>
                        <a:t>TK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0,10q² + 3q + 90</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0,10q² + 3q + 150</a:t>
                      </a:r>
                    </a:p>
                  </a:txBody>
                  <a:tcPr marL="91440" marR="91440" marT="45720" marB="45720" anchor="ctr">
                    <a:solidFill>
                      <a:srgbClr val="FFFFFF"/>
                    </a:solidFill>
                  </a:tcPr>
                </a:tc>
              </a:tr>
              <a:tr h="723900">
                <a:tc>
                  <a:txBody>
                    <a:bodyPr lIns="171450" tIns="95250" rIns="152400" bIns="95250"/>
                    <a:lstStyle/>
                    <a:p>
                      <a:r>
                        <a:rPr sz="2400" b="0">
                          <a:solidFill>
                            <a:srgbClr val="183247"/>
                          </a:solidFill>
                          <a:latin typeface="Arial"/>
                          <a:ea typeface="Arial"/>
                          <a:cs typeface="Arial"/>
                        </a:rPr>
                        <a:t>MK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0,20q + 3</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0,20q + 3</a:t>
                      </a:r>
                    </a:p>
                  </a:txBody>
                  <a:tcPr marL="91440" marR="91440" marT="45720" marB="45720" anchor="ctr">
                    <a:solidFill>
                      <a:srgbClr val="EFF4F7"/>
                    </a:solidFill>
                  </a:tcPr>
                </a:tc>
              </a:tr>
              <a:tr h="723900">
                <a:tc>
                  <a:txBody>
                    <a:bodyPr lIns="171450" tIns="95250" rIns="152400" bIns="95250"/>
                    <a:lstStyle/>
                    <a:p>
                      <a:r>
                        <a:rPr sz="2400" b="0">
                          <a:solidFill>
                            <a:srgbClr val="183247"/>
                          </a:solidFill>
                          <a:latin typeface="Arial"/>
                          <a:ea typeface="Arial"/>
                          <a:cs typeface="Arial"/>
                        </a:rPr>
                        <a:t>Beste q</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60 kg per week</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60 kg per week</a:t>
                      </a:r>
                    </a:p>
                  </a:txBody>
                  <a:tcPr marL="91440" marR="91440" marT="45720" marB="45720" anchor="ctr">
                    <a:solidFill>
                      <a:srgbClr val="FFFFFF"/>
                    </a:solidFill>
                  </a:tcPr>
                </a:tc>
              </a:tr>
              <a:tr h="723900">
                <a:tc>
                  <a:txBody>
                    <a:bodyPr lIns="171450" tIns="95250" rIns="152400" bIns="95250"/>
                    <a:lstStyle/>
                    <a:p>
                      <a:r>
                        <a:rPr sz="2400" b="0">
                          <a:solidFill>
                            <a:srgbClr val="183247"/>
                          </a:solidFill>
                          <a:latin typeface="Arial"/>
                          <a:ea typeface="Arial"/>
                          <a:cs typeface="Arial"/>
                        </a:rPr>
                        <a:t>Winst bij q = 60</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€ 270 per week</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€ 210 per week</a:t>
                      </a:r>
                    </a:p>
                  </a:txBody>
                  <a:tcPr marL="91440" marR="91440" marT="45720" marB="45720" anchor="ctr">
                    <a:solidFill>
                      <a:srgbClr val="EFF4F7"/>
                    </a:solidFill>
                  </a:tcPr>
                </a:tc>
              </a:tr>
            </a:tbl>
          </a:graphicData>
        </a:graphic>
      </p:graphicFrame>
      <p:sp>
        <p:nvSpPr>
          <p:cNvPr id="7" name="De € 60 extra kosten verlagen de winst, maar veranderen">
            <a:extLst xmlns:a="http://schemas.openxmlformats.org/drawingml/2006/main">
              <a:ext uri="{FF2B5EF4-FFF2-40B4-BE49-F238E27FC236}">
                <a16:creationId xmlns:a16="http://schemas.microsoft.com/office/drawing/2014/main" id="{57EBFF1C-D8C6-417C-828D-B87567CFC3A0}"/>
              </a:ext>
            </a:extLst>
          </p:cNvPr>
          <p:cNvSpPr>
            <a:spLocks xmlns:a="http://schemas.openxmlformats.org/drawingml/2006/main" noGrp="1"/>
          </p:cNvSpPr>
          <p:nvPr/>
        </p:nvSpPr>
        <p:spPr>
          <a:xfrm xmlns:a="http://schemas.openxmlformats.org/drawingml/2006/main">
            <a:off x="571500" y="709612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De € 60 extra kosten verlagen de winst, maar veranderen MK niet.</a:t>
            </a:r>
          </a:p>
        </p:txBody>
      </p:sp>
    </p:spTree>
    <p:extLst>
      <p:ext uri="{BB962C8B-B14F-4D97-AF65-F5344CB8AC3E}">
        <p14:creationId xmlns:p14="http://schemas.microsoft.com/office/powerpoint/2010/main" val="11915249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lleen de marktprijs stijgt">
            <a:extLst xmlns:a="http://schemas.openxmlformats.org/drawingml/2006/main">
              <a:ext uri="{FF2B5EF4-FFF2-40B4-BE49-F238E27FC236}">
                <a16:creationId xmlns:a16="http://schemas.microsoft.com/office/drawing/2014/main" id="{F526AE58-7C1E-4D10-89D1-1B088A070468}"/>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Alleen de marktprijs stijgt</a:t>
            </a:r>
          </a:p>
        </p:txBody>
      </p:sp>
      <p:sp>
        <p:nvSpPr>
          <p:cNvPr id="2" name="">
            <a:extLst xmlns:a="http://schemas.openxmlformats.org/drawingml/2006/main">
              <a:ext uri="{FF2B5EF4-FFF2-40B4-BE49-F238E27FC236}">
                <a16:creationId xmlns:a16="http://schemas.microsoft.com/office/drawing/2014/main" id="{1EE6A5AA-ADCA-4E7B-8D80-628D5E89F6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Uitlegvoorbeeld — niet uit het boek">
            <a:extLst xmlns:a="http://schemas.openxmlformats.org/drawingml/2006/main">
              <a:ext uri="{FF2B5EF4-FFF2-40B4-BE49-F238E27FC236}">
                <a16:creationId xmlns:a16="http://schemas.microsoft.com/office/drawing/2014/main" id="{06D00DAC-67FF-4997-B3AC-D17E53C72187}"/>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12">
            <a:extLst xmlns:a="http://schemas.openxmlformats.org/drawingml/2006/main">
              <a:ext uri="{FF2B5EF4-FFF2-40B4-BE49-F238E27FC236}">
                <a16:creationId xmlns:a16="http://schemas.microsoft.com/office/drawing/2014/main" id="{40B8927B-5A2F-4B8B-B64C-DF3AFF34DFF5}"/>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Weer TK = 0,10q² + 3q + 90 en capaciteit 90 kg">
            <a:extLst xmlns:a="http://schemas.openxmlformats.org/drawingml/2006/main">
              <a:ext uri="{FF2B5EF4-FFF2-40B4-BE49-F238E27FC236}">
                <a16:creationId xmlns:a16="http://schemas.microsoft.com/office/drawing/2014/main" id="{C8B36013-4CD1-4B00-99DB-6F95C4BAFCC2}"/>
              </a:ext>
            </a:extLst>
          </p:cNvPr>
          <p:cNvSpPr>
            <a:spLocks xmlns:a="http://schemas.openxmlformats.org/drawingml/2006/main" noGrp="1"/>
          </p:cNvSpPr>
          <p:nvPr/>
        </p:nvSpPr>
        <p:spPr>
          <a:xfrm xmlns:a="http://schemas.openxmlformats.org/drawingml/2006/main">
            <a:off x="571500" y="1809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Weer TK = 0,10q² + 3q + 90 en capaciteit 90 kg</a:t>
            </a:r>
          </a:p>
        </p:txBody>
      </p:sp>
      <p:sp>
        <p:nvSpPr>
          <p:cNvPr id="6" name="Nieuwe prijs: MO = P = € 17 per kg">
            <a:extLst xmlns:a="http://schemas.openxmlformats.org/drawingml/2006/main">
              <a:ext uri="{FF2B5EF4-FFF2-40B4-BE49-F238E27FC236}">
                <a16:creationId xmlns:a16="http://schemas.microsoft.com/office/drawing/2014/main" id="{0F352BCF-D70D-458C-98A0-C2A850C79647}"/>
              </a:ext>
            </a:extLst>
          </p:cNvPr>
          <p:cNvSpPr>
            <a:spLocks xmlns:a="http://schemas.openxmlformats.org/drawingml/2006/main" noGrp="1"/>
          </p:cNvSpPr>
          <p:nvPr/>
        </p:nvSpPr>
        <p:spPr>
          <a:xfrm xmlns:a="http://schemas.openxmlformats.org/drawingml/2006/main">
            <a:off x="571500" y="304800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Nieuwe prijs: MO = P = € 17 per kg</a:t>
            </a:r>
          </a:p>
        </p:txBody>
      </p:sp>
      <p:sp>
        <p:nvSpPr>
          <p:cNvPr id="7" name="17 = 0,20q + 3   ⇒   q = 70 kg per week">
            <a:extLst xmlns:a="http://schemas.openxmlformats.org/drawingml/2006/main">
              <a:ext uri="{FF2B5EF4-FFF2-40B4-BE49-F238E27FC236}">
                <a16:creationId xmlns:a16="http://schemas.microsoft.com/office/drawing/2014/main" id="{F01549C8-5DE0-428C-B8CC-AF4B425FF442}"/>
              </a:ext>
            </a:extLst>
          </p:cNvPr>
          <p:cNvSpPr>
            <a:spLocks xmlns:a="http://schemas.openxmlformats.org/drawingml/2006/main" noGrp="1"/>
          </p:cNvSpPr>
          <p:nvPr/>
        </p:nvSpPr>
        <p:spPr>
          <a:xfrm xmlns:a="http://schemas.openxmlformats.org/drawingml/2006/main">
            <a:off x="571500" y="4524375"/>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17 = 0,20q + 3   ⇒   q = 70 kg per week</a:t>
            </a:r>
          </a:p>
        </p:txBody>
      </p:sp>
      <p:sp>
        <p:nvSpPr>
          <p:cNvPr id="8" name="70 ≤ 90. MK stijgt door de nieuwe MO heen.">
            <a:extLst xmlns:a="http://schemas.openxmlformats.org/drawingml/2006/main">
              <a:ext uri="{FF2B5EF4-FFF2-40B4-BE49-F238E27FC236}">
                <a16:creationId xmlns:a16="http://schemas.microsoft.com/office/drawing/2014/main" id="{7A0FF9FD-DAC2-4D85-BFEC-DE338A36CBBA}"/>
              </a:ext>
            </a:extLst>
          </p:cNvPr>
          <p:cNvSpPr>
            <a:spLocks xmlns:a="http://schemas.openxmlformats.org/drawingml/2006/main" noGrp="1"/>
          </p:cNvSpPr>
          <p:nvPr/>
        </p:nvSpPr>
        <p:spPr>
          <a:xfrm xmlns:a="http://schemas.openxmlformats.org/drawingml/2006/main">
            <a:off x="571500" y="6000750"/>
            <a:ext cx="14097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70 ≤ 90. MK stijgt door de nieuwe MO heen.</a:t>
            </a:r>
          </a:p>
        </p:txBody>
      </p:sp>
    </p:spTree>
    <p:extLst>
      <p:ext uri="{BB962C8B-B14F-4D97-AF65-F5344CB8AC3E}">
        <p14:creationId xmlns:p14="http://schemas.microsoft.com/office/powerpoint/2010/main" val="6285285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ntrole van je aanpak">
            <a:extLst xmlns:a="http://schemas.openxmlformats.org/drawingml/2006/main">
              <a:ext uri="{FF2B5EF4-FFF2-40B4-BE49-F238E27FC236}">
                <a16:creationId xmlns:a16="http://schemas.microsoft.com/office/drawing/2014/main" id="{6B8239DD-64CD-4656-99E0-329216F8C039}"/>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Controle van je aanpak</a:t>
            </a:r>
          </a:p>
        </p:txBody>
      </p:sp>
      <p:sp>
        <p:nvSpPr>
          <p:cNvPr id="2" name="">
            <a:extLst xmlns:a="http://schemas.openxmlformats.org/drawingml/2006/main">
              <a:ext uri="{FF2B5EF4-FFF2-40B4-BE49-F238E27FC236}">
                <a16:creationId xmlns:a16="http://schemas.microsoft.com/office/drawing/2014/main" id="{1D61ACAE-DE4A-46EE-9462-7A3B9F0D7AB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Winstmaximalisatie bij volkomen concurrentie">
            <a:extLst xmlns:a="http://schemas.openxmlformats.org/drawingml/2006/main">
              <a:ext uri="{FF2B5EF4-FFF2-40B4-BE49-F238E27FC236}">
                <a16:creationId xmlns:a16="http://schemas.microsoft.com/office/drawing/2014/main" id="{3027EF2D-3D33-4EE7-9934-DAD76815A021}"/>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Winstmaximalisatie bij volkomen concurrentie</a:t>
            </a:r>
          </a:p>
        </p:txBody>
      </p:sp>
      <p:sp>
        <p:nvSpPr>
          <p:cNvPr id="4" name="13">
            <a:extLst xmlns:a="http://schemas.openxmlformats.org/drawingml/2006/main">
              <a:ext uri="{FF2B5EF4-FFF2-40B4-BE49-F238E27FC236}">
                <a16:creationId xmlns:a16="http://schemas.microsoft.com/office/drawing/2014/main" id="{B4528502-E8BE-4C1B-89E4-D1D94D8A1AA9}"/>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De laagste GTK geeft altijd de hoogste totale winst.”">
            <a:extLst xmlns:a="http://schemas.openxmlformats.org/drawingml/2006/main">
              <a:ext uri="{FF2B5EF4-FFF2-40B4-BE49-F238E27FC236}">
                <a16:creationId xmlns:a16="http://schemas.microsoft.com/office/drawing/2014/main" id="{55D080A6-4669-4525-AC74-529BAC18491D}"/>
              </a:ext>
            </a:extLst>
          </p:cNvPr>
          <p:cNvSpPr>
            <a:spLocks xmlns:a="http://schemas.openxmlformats.org/drawingml/2006/main" noGrp="1"/>
          </p:cNvSpPr>
          <p:nvPr/>
        </p:nvSpPr>
        <p:spPr>
          <a:xfrm xmlns:a="http://schemas.openxmlformats.org/drawingml/2006/main">
            <a:off x="571500" y="215265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“De laagste GTK geeft altijd de hoogste totale winst.”</a:t>
            </a:r>
          </a:p>
        </p:txBody>
      </p:sp>
      <p:sp>
        <p:nvSpPr>
          <p:cNvPr id="6" name="Klopt dit? Gebruik MO en MK in je verklaring.">
            <a:extLst xmlns:a="http://schemas.openxmlformats.org/drawingml/2006/main">
              <a:ext uri="{FF2B5EF4-FFF2-40B4-BE49-F238E27FC236}">
                <a16:creationId xmlns:a16="http://schemas.microsoft.com/office/drawing/2014/main" id="{D9F56B11-6B87-4789-AB0E-C2FE04842062}"/>
              </a:ext>
            </a:extLst>
          </p:cNvPr>
          <p:cNvSpPr>
            <a:spLocks xmlns:a="http://schemas.openxmlformats.org/drawingml/2006/main" noGrp="1"/>
          </p:cNvSpPr>
          <p:nvPr/>
        </p:nvSpPr>
        <p:spPr>
          <a:xfrm xmlns:a="http://schemas.openxmlformats.org/drawingml/2006/main">
            <a:off x="571500" y="419100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Klopt dit? Gebruik MO en MK in je verklaring.</a:t>
            </a:r>
          </a:p>
        </p:txBody>
      </p:sp>
      <p:sp>
        <p:nvSpPr>
          <p:cNvPr id="7" name="Welke controles horen nog bij een productieadvies?">
            <a:extLst xmlns:a="http://schemas.openxmlformats.org/drawingml/2006/main">
              <a:ext uri="{FF2B5EF4-FFF2-40B4-BE49-F238E27FC236}">
                <a16:creationId xmlns:a16="http://schemas.microsoft.com/office/drawing/2014/main" id="{529ADC47-A59C-441A-ACEF-41F0F4B5EE8B}"/>
              </a:ext>
            </a:extLst>
          </p:cNvPr>
          <p:cNvSpPr>
            <a:spLocks xmlns:a="http://schemas.openxmlformats.org/drawingml/2006/main" noGrp="1"/>
          </p:cNvSpPr>
          <p:nvPr/>
        </p:nvSpPr>
        <p:spPr>
          <a:xfrm xmlns:a="http://schemas.openxmlformats.org/drawingml/2006/main">
            <a:off x="571500" y="6191250"/>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Welke controles horen nog bij een productieadvies?</a:t>
            </a:r>
          </a:p>
        </p:txBody>
      </p:sp>
    </p:spTree>
    <p:extLst>
      <p:ext uri="{BB962C8B-B14F-4D97-AF65-F5344CB8AC3E}">
        <p14:creationId xmlns:p14="http://schemas.microsoft.com/office/powerpoint/2010/main" val="2356679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3 Winstmaximalisatie bij volkomen concur">
            <a:extLst xmlns:a="http://schemas.openxmlformats.org/drawingml/2006/main">
              <a:ext uri="{FF2B5EF4-FFF2-40B4-BE49-F238E27FC236}">
                <a16:creationId xmlns:a16="http://schemas.microsoft.com/office/drawing/2014/main" id="{7C5F8259-526C-4E47-9D1D-B1043312A04D}"/>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Deze les: §3.2.3 Winstmaximalisatie bij volkomen concurrentie</a:t>
            </a:r>
          </a:p>
        </p:txBody>
      </p:sp>
      <p:sp>
        <p:nvSpPr>
          <p:cNvPr id="2" name="">
            <a:extLst xmlns:a="http://schemas.openxmlformats.org/drawingml/2006/main">
              <a:ext uri="{FF2B5EF4-FFF2-40B4-BE49-F238E27FC236}">
                <a16:creationId xmlns:a16="http://schemas.microsoft.com/office/drawing/2014/main" id="{215E88E9-4612-4ACC-824E-4018B59C751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Winstmaximalisatie bij volkomen concurrentie">
            <a:extLst xmlns:a="http://schemas.openxmlformats.org/drawingml/2006/main">
              <a:ext uri="{FF2B5EF4-FFF2-40B4-BE49-F238E27FC236}">
                <a16:creationId xmlns:a16="http://schemas.microsoft.com/office/drawing/2014/main" id="{7126D922-91A2-448F-A49E-4214FFD83480}"/>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Winstmaximalisatie bij volkomen concurrentie</a:t>
            </a:r>
          </a:p>
        </p:txBody>
      </p:sp>
      <p:sp>
        <p:nvSpPr>
          <p:cNvPr id="4" name="14">
            <a:extLst xmlns:a="http://schemas.openxmlformats.org/drawingml/2006/main">
              <a:ext uri="{FF2B5EF4-FFF2-40B4-BE49-F238E27FC236}">
                <a16:creationId xmlns:a16="http://schemas.microsoft.com/office/drawing/2014/main" id="{BA0D78E2-5010-4841-875F-DC115BECD214}"/>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F61848A8-8378-45C3-AA8D-1364242DF6F6}"/>
              </a:ext>
            </a:extLst>
          </p:cNvPr>
          <p:cNvSpPr>
            <a:spLocks xmlns:a="http://schemas.openxmlformats.org/drawingml/2006/main" noGrp="1"/>
          </p:cNvSpPr>
          <p:nvPr/>
        </p:nvSpPr>
        <p:spPr>
          <a:xfrm xmlns:a="http://schemas.openxmlformats.org/drawingml/2006/main">
            <a:off x="571500" y="1066800"/>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01287BC2-399E-46D3-B2CA-A1ACDDA44362}"/>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44547C2F-9BA2-43E5-B804-5A2A2330B79F}"/>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F96F4E52-1988-4B4D-A4AF-BD3F3896F580}"/>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9E7FF928-B462-4250-8479-89CBFC1C80A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0F2D6DB4-8AA1-4347-83A2-8C093B82C2AB}"/>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92F7B7FD-A049-4E17-8A02-3775BC37835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B712CF0A-F1DF-4A18-8A4B-28A2FC1489B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85BDC050-F2B7-4004-85AA-03B19199573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1BA3D6E2-34AF-4912-A30A-CD41472D93A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E7E6DA6B-B63E-4F9A-98ED-500F8087C1A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CA72C446-B5FC-4CC2-B8F5-728D0F8F0443}"/>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BC86EFD0-B819-4513-AC6E-AC728346736E}"/>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37A8C9AC-849A-4E00-9073-766BABBC7D3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27.</a:t>
            </a:r>
          </a:p>
        </p:txBody>
      </p:sp>
      <p:sp>
        <p:nvSpPr>
          <p:cNvPr id="19" name="route-number-6">
            <a:extLst xmlns:a="http://schemas.openxmlformats.org/drawingml/2006/main">
              <a:ext uri="{FF2B5EF4-FFF2-40B4-BE49-F238E27FC236}">
                <a16:creationId xmlns:a16="http://schemas.microsoft.com/office/drawing/2014/main" id="{9ED75653-65A3-4803-B77F-67DCA03D156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E88DD563-909C-48FF-8AF0-2C40B73345F7}"/>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D19983D5-AEC6-49A1-ACF4-0EB0F8AE4DC0}"/>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A342B7D-6614-4E86-9871-02FA29037B9C}"/>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beste haalbare q onderbouwen.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Winst berekenen en als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rechthoek weergeven.</a:t>
            </a:r>
          </a:p>
        </p:txBody>
      </p:sp>
      <p:sp>
        <p:nvSpPr>
          <p:cNvPr id="23" name="">
            <a:extLst xmlns:a="http://schemas.openxmlformats.org/drawingml/2006/main">
              <a:ext uri="{FF2B5EF4-FFF2-40B4-BE49-F238E27FC236}">
                <a16:creationId xmlns:a16="http://schemas.microsoft.com/office/drawing/2014/main" id="{9AD40030-3BB8-4A83-A540-6B04801657AE}"/>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905B8768-4071-4DC1-BF5D-F079FCCE060A}"/>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923BA6B-1EBD-419D-9063-0E66D1B050CE}"/>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73 · Opgaven 20 en 21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 verkennen, theorie p. 69–70</a:t>
            </a:r>
          </a:p>
        </p:txBody>
      </p:sp>
      <p:sp>
        <p:nvSpPr>
          <p:cNvPr id="26" name="">
            <a:extLst xmlns:a="http://schemas.openxmlformats.org/drawingml/2006/main">
              <a:ext uri="{FF2B5EF4-FFF2-40B4-BE49-F238E27FC236}">
                <a16:creationId xmlns:a16="http://schemas.microsoft.com/office/drawing/2014/main" id="{7C4BD288-FDB6-4346-BEAD-90FF504A34A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1479C502-7100-445D-A863-956429DAE6E9}"/>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C3EFBEF7-346F-4772-9A75-8FBCE7B87F0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22,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25 en 26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239542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27 · Korrels voor kwekerijen">
            <a:extLst xmlns:a="http://schemas.openxmlformats.org/drawingml/2006/main">
              <a:ext uri="{FF2B5EF4-FFF2-40B4-BE49-F238E27FC236}">
                <a16:creationId xmlns:a16="http://schemas.microsoft.com/office/drawing/2014/main" id="{7983CE6B-51AD-4105-B0DF-CE31489D34A8}"/>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 · Korrels voor kwekerijen</a:t>
            </a:r>
          </a:p>
        </p:txBody>
      </p:sp>
      <p:sp>
        <p:nvSpPr>
          <p:cNvPr id="2" name="">
            <a:extLst xmlns:a="http://schemas.openxmlformats.org/drawingml/2006/main">
              <a:ext uri="{FF2B5EF4-FFF2-40B4-BE49-F238E27FC236}">
                <a16:creationId xmlns:a16="http://schemas.microsoft.com/office/drawing/2014/main" id="{C2A814F3-F6A9-4C8D-80FB-8A9605575BA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A7102214-F815-40FD-838A-C92F0BA184BC}"/>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15">
            <a:extLst xmlns:a="http://schemas.openxmlformats.org/drawingml/2006/main">
              <a:ext uri="{FF2B5EF4-FFF2-40B4-BE49-F238E27FC236}">
                <a16:creationId xmlns:a16="http://schemas.microsoft.com/office/drawing/2014/main" id="{7862B153-4457-4DFA-932F-0388A3B2D0BA}"/>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Een prijsnemende producent verkoopt één standaardkwalit">
            <a:extLst xmlns:a="http://schemas.openxmlformats.org/drawingml/2006/main">
              <a:ext uri="{FF2B5EF4-FFF2-40B4-BE49-F238E27FC236}">
                <a16:creationId xmlns:a16="http://schemas.microsoft.com/office/drawing/2014/main" id="{28C624DF-BD68-4CB1-AE11-80E811244E72}"/>
              </a:ext>
            </a:extLst>
          </p:cNvPr>
          <p:cNvSpPr>
            <a:spLocks xmlns:a="http://schemas.openxmlformats.org/drawingml/2006/main" noGrp="1"/>
          </p:cNvSpPr>
          <p:nvPr/>
        </p:nvSpPr>
        <p:spPr>
          <a:xfrm xmlns:a="http://schemas.openxmlformats.org/drawingml/2006/main">
            <a:off x="571500" y="180022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Een prijsnemende producent verkoopt één standaardkwaliteit korrels.</a:t>
            </a:r>
          </a:p>
        </p:txBody>
      </p:sp>
      <p:graphicFrame>
        <p:nvGraphicFramePr>
          <p:cNvPr id="12" name=""/>
          <p:cNvGraphicFramePr/>
          <p:nvPr/>
        </p:nvGraphicFramePr>
        <p:xfrm>
          <a:off xmlns:a="http://schemas.openxmlformats.org/drawingml/2006/main" x="571500" y="3143250"/>
          <a:ext xmlns:a="http://schemas.openxmlformats.org/drawingml/2006/main" cx="14097000" cy="4143375"/>
        </p:xfrm>
        <a:graphic xmlns:a="http://schemas.openxmlformats.org/drawingml/2006/main">
          <a:graphicData uri="http://schemas.openxmlformats.org/drawingml/2006/table">
            <a:tbl>
              <a:tblPr/>
              <a:tblGrid>
                <a:gridCol w="5048250"/>
                <a:gridCol w="9048750"/>
              </a:tblGrid>
              <a:tr h="690563">
                <a:tc>
                  <a:txBody>
                    <a:bodyPr lIns="171450" tIns="95250" rIns="152400" bIns="95250"/>
                    <a:lstStyle/>
                    <a:p>
                      <a:r>
                        <a:rPr sz="2550" b="1">
                          <a:solidFill>
                            <a:srgbClr val="FFFFFF"/>
                          </a:solidFill>
                          <a:latin typeface="Arial"/>
                          <a:ea typeface="Arial"/>
                          <a:cs typeface="Arial"/>
                        </a:rPr>
                        <a:t>Gegeven</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Waarde</a:t>
                      </a:r>
                    </a:p>
                  </a:txBody>
                  <a:tcPr marL="91440" marR="91440" marT="45720" marB="45720" anchor="ctr">
                    <a:solidFill>
                      <a:srgbClr val="183247"/>
                    </a:solidFill>
                  </a:tcPr>
                </a:tc>
              </a:tr>
              <a:tr h="690563">
                <a:tc>
                  <a:txBody>
                    <a:bodyPr lIns="171450" tIns="95250" rIns="152400" bIns="95250"/>
                    <a:lstStyle/>
                    <a:p>
                      <a:r>
                        <a:rPr sz="2550" b="0">
                          <a:solidFill>
                            <a:srgbClr val="183247"/>
                          </a:solidFill>
                          <a:latin typeface="Arial"/>
                          <a:ea typeface="Arial"/>
                          <a:cs typeface="Arial"/>
                        </a:rPr>
                        <a:t>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 = € 16 per kg</a:t>
                      </a:r>
                    </a:p>
                  </a:txBody>
                  <a:tcPr marL="91440" marR="91440" marT="45720" marB="45720" anchor="ctr">
                    <a:solidFill>
                      <a:srgbClr val="FFFFFF"/>
                    </a:solidFill>
                  </a:tcPr>
                </a:tc>
              </a:tr>
              <a:tr h="690563">
                <a:tc>
                  <a:txBody>
                    <a:bodyPr lIns="171450" tIns="95250" rIns="152400" bIns="95250"/>
                    <a:lstStyle/>
                    <a:p>
                      <a:r>
                        <a:rPr sz="2550" b="0">
                          <a:solidFill>
                            <a:srgbClr val="183247"/>
                          </a:solidFill>
                          <a:latin typeface="Arial"/>
                          <a:ea typeface="Arial"/>
                          <a:cs typeface="Arial"/>
                        </a:rPr>
                        <a:t>Totale kosten</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TK = 0,04q² + 4q + 400</a:t>
                      </a:r>
                    </a:p>
                  </a:txBody>
                  <a:tcPr marL="91440" marR="91440" marT="45720" marB="45720" anchor="ctr">
                    <a:solidFill>
                      <a:srgbClr val="EFF4F7"/>
                    </a:solidFill>
                  </a:tcPr>
                </a:tc>
              </a:tr>
              <a:tr h="690563">
                <a:tc>
                  <a:txBody>
                    <a:bodyPr lIns="171450" tIns="95250" rIns="152400" bIns="95250"/>
                    <a:lstStyle/>
                    <a:p>
                      <a:r>
                        <a:rPr sz="2550" b="0">
                          <a:solidFill>
                            <a:srgbClr val="183247"/>
                          </a:solidFill>
                          <a:latin typeface="Arial"/>
                          <a:ea typeface="Arial"/>
                          <a:cs typeface="Arial"/>
                        </a:rPr>
                        <a:t>Eenheden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kg per week; TK: euro per week</a:t>
                      </a:r>
                    </a:p>
                  </a:txBody>
                  <a:tcPr marL="91440" marR="91440" marT="45720" marB="45720" anchor="ctr">
                    <a:solidFill>
                      <a:srgbClr val="FFFFFF"/>
                    </a:solidFill>
                  </a:tcPr>
                </a:tc>
              </a:tr>
              <a:tr h="690563">
                <a:tc>
                  <a:txBody>
                    <a:bodyPr lIns="171450" tIns="95250" rIns="152400" bIns="95250"/>
                    <a:lstStyle/>
                    <a:p>
                      <a:r>
                        <a:rPr sz="2550" b="0">
                          <a:solidFill>
                            <a:srgbClr val="183247"/>
                          </a:solidFill>
                          <a:latin typeface="Arial"/>
                          <a:ea typeface="Arial"/>
                          <a:cs typeface="Arial"/>
                        </a:rPr>
                        <a:t>Productiecapaciteit</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200 kg per week</a:t>
                      </a:r>
                    </a:p>
                  </a:txBody>
                  <a:tcPr marL="91440" marR="91440" marT="45720" marB="45720" anchor="ctr">
                    <a:solidFill>
                      <a:srgbClr val="EFF4F7"/>
                    </a:solidFill>
                  </a:tcPr>
                </a:tc>
              </a:tr>
              <a:tr h="690563">
                <a:tc>
                  <a:txBody>
                    <a:bodyPr lIns="171450" tIns="95250" rIns="152400" bIns="95250"/>
                    <a:lstStyle/>
                    <a:p>
                      <a:r>
                        <a:rPr sz="2550" b="0">
                          <a:solidFill>
                            <a:srgbClr val="183247"/>
                          </a:solidFill>
                          <a:latin typeface="Arial"/>
                          <a:ea typeface="Arial"/>
                          <a:cs typeface="Arial"/>
                        </a:rPr>
                        <a:t>Constante kosten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De € 400 is deze week onvermijdbaar.</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3255014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 · De gegeven grafiek">
            <a:extLst xmlns:a="http://schemas.openxmlformats.org/drawingml/2006/main">
              <a:ext uri="{FF2B5EF4-FFF2-40B4-BE49-F238E27FC236}">
                <a16:creationId xmlns:a16="http://schemas.microsoft.com/office/drawing/2014/main" id="{E4389CF4-FC59-4AE7-A41C-4AFC3F373337}"/>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 · De gegeven grafiek</a:t>
            </a:r>
          </a:p>
        </p:txBody>
      </p:sp>
      <p:sp>
        <p:nvSpPr>
          <p:cNvPr id="2" name="">
            <a:extLst xmlns:a="http://schemas.openxmlformats.org/drawingml/2006/main">
              <a:ext uri="{FF2B5EF4-FFF2-40B4-BE49-F238E27FC236}">
                <a16:creationId xmlns:a16="http://schemas.microsoft.com/office/drawing/2014/main" id="{91A09616-2B82-4FC9-9D08-B43DE67E993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8D802F02-66D7-4F33-BC1C-6FD53A5CDEA3}"/>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16">
            <a:extLst xmlns:a="http://schemas.openxmlformats.org/drawingml/2006/main">
              <a:ext uri="{FF2B5EF4-FFF2-40B4-BE49-F238E27FC236}">
                <a16:creationId xmlns:a16="http://schemas.microsoft.com/office/drawing/2014/main" id="{D40C3B13-858C-4726-B2A0-704123DC5473}"/>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2"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a9b8970dc32348ef"/>
          </a:graphicData>
        </a:graphic>
      </p:graphicFrame>
      <p:sp>
        <p:nvSpPr>
          <p:cNvPr id="6" name="Eén onderneming">
            <a:extLst xmlns:a="http://schemas.openxmlformats.org/drawingml/2006/main">
              <a:ext uri="{FF2B5EF4-FFF2-40B4-BE49-F238E27FC236}">
                <a16:creationId xmlns:a16="http://schemas.microsoft.com/office/drawing/2014/main" id="{9DE01D89-CBAD-45D6-9403-1F48CD02CD03}"/>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Eén onderneming</a:t>
            </a:r>
          </a:p>
        </p:txBody>
      </p:sp>
      <p:sp>
        <p:nvSpPr>
          <p:cNvPr id="7" name="Alle verticale bedragen zijn per kg.&#10;&#10;De horizontale as">
            <a:extLst xmlns:a="http://schemas.openxmlformats.org/drawingml/2006/main">
              <a:ext uri="{FF2B5EF4-FFF2-40B4-BE49-F238E27FC236}">
                <a16:creationId xmlns:a16="http://schemas.microsoft.com/office/drawing/2014/main" id="{D1DC6618-16C5-4226-8791-9C572AE57FB7}"/>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Alle verticale bedragen zijn per kg.</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 horizontale as geeft productie per week.</a:t>
            </a:r>
          </a:p>
        </p:txBody>
      </p:sp>
    </p:spTree>
    <p:extLst>
      <p:ext uri="{BB962C8B-B14F-4D97-AF65-F5344CB8AC3E}">
        <p14:creationId xmlns:p14="http://schemas.microsoft.com/office/powerpoint/2010/main" val="12024035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 · Deelvragen a, b en c">
            <a:extLst xmlns:a="http://schemas.openxmlformats.org/drawingml/2006/main">
              <a:ext uri="{FF2B5EF4-FFF2-40B4-BE49-F238E27FC236}">
                <a16:creationId xmlns:a16="http://schemas.microsoft.com/office/drawing/2014/main" id="{420D759B-126A-426D-9C7E-256FED8BBAAE}"/>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 · Deelvragen a, b en c</a:t>
            </a:r>
          </a:p>
        </p:txBody>
      </p:sp>
      <p:sp>
        <p:nvSpPr>
          <p:cNvPr id="2" name="">
            <a:extLst xmlns:a="http://schemas.openxmlformats.org/drawingml/2006/main">
              <a:ext uri="{FF2B5EF4-FFF2-40B4-BE49-F238E27FC236}">
                <a16:creationId xmlns:a16="http://schemas.microsoft.com/office/drawing/2014/main" id="{924BF242-B176-4219-9CA7-FECFB73376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0D115FD5-4ABC-425E-B670-8EC68D409738}"/>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17">
            <a:extLst xmlns:a="http://schemas.openxmlformats.org/drawingml/2006/main">
              <a:ext uri="{FF2B5EF4-FFF2-40B4-BE49-F238E27FC236}">
                <a16:creationId xmlns:a16="http://schemas.microsoft.com/office/drawing/2014/main" id="{608D63AD-8EC5-4C7E-BAB0-A0195CD1D569}"/>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2p) Stel de functie voor MK op.">
            <a:extLst xmlns:a="http://schemas.openxmlformats.org/drawingml/2006/main">
              <a:ext uri="{FF2B5EF4-FFF2-40B4-BE49-F238E27FC236}">
                <a16:creationId xmlns:a16="http://schemas.microsoft.com/office/drawing/2014/main" id="{E6E83B4F-437A-4812-A004-FC791CD3CC03}"/>
              </a:ext>
            </a:extLst>
          </p:cNvPr>
          <p:cNvSpPr>
            <a:spLocks xmlns:a="http://schemas.openxmlformats.org/drawingml/2006/main" noGrp="1"/>
          </p:cNvSpPr>
          <p:nvPr/>
        </p:nvSpPr>
        <p:spPr>
          <a:xfrm xmlns:a="http://schemas.openxmlformats.org/drawingml/2006/main">
            <a:off x="571500" y="1952625"/>
            <a:ext cx="14097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a. (2p) Stel de functie voor MK op.</a:t>
            </a:r>
          </a:p>
        </p:txBody>
      </p:sp>
      <p:sp>
        <p:nvSpPr>
          <p:cNvPr id="6" name="b. (3p) Bepaal de winstmaximale haalbare q.&#10;Onderbouw h">
            <a:extLst xmlns:a="http://schemas.openxmlformats.org/drawingml/2006/main">
              <a:ext uri="{FF2B5EF4-FFF2-40B4-BE49-F238E27FC236}">
                <a16:creationId xmlns:a16="http://schemas.microsoft.com/office/drawing/2014/main" id="{57DC75CA-0292-4221-874D-3C4EB4A15BAA}"/>
              </a:ext>
            </a:extLst>
          </p:cNvPr>
          <p:cNvSpPr>
            <a:spLocks xmlns:a="http://schemas.openxmlformats.org/drawingml/2006/main" noGrp="1"/>
          </p:cNvSpPr>
          <p:nvPr/>
        </p:nvSpPr>
        <p:spPr>
          <a:xfrm xmlns:a="http://schemas.openxmlformats.org/drawingml/2006/main">
            <a:off x="571500" y="3905250"/>
            <a:ext cx="14097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b. (3p) Bepaal de winstmaximale haalbare q.</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Onderbouw het maximum met MK links en rechts van je uitkomst.</a:t>
            </a:r>
          </a:p>
        </p:txBody>
      </p:sp>
      <p:sp>
        <p:nvSpPr>
          <p:cNvPr id="7" name="c. (3p) Bereken TO, TK en totale winst bij de gekozen q">
            <a:extLst xmlns:a="http://schemas.openxmlformats.org/drawingml/2006/main">
              <a:ext uri="{FF2B5EF4-FFF2-40B4-BE49-F238E27FC236}">
                <a16:creationId xmlns:a16="http://schemas.microsoft.com/office/drawing/2014/main" id="{2CEF6B0B-B525-42DC-BB93-5DF0DE07C936}"/>
              </a:ext>
            </a:extLst>
          </p:cNvPr>
          <p:cNvSpPr>
            <a:spLocks xmlns:a="http://schemas.openxmlformats.org/drawingml/2006/main" noGrp="1"/>
          </p:cNvSpPr>
          <p:nvPr/>
        </p:nvSpPr>
        <p:spPr>
          <a:xfrm xmlns:a="http://schemas.openxmlformats.org/drawingml/2006/main">
            <a:off x="571500" y="5857875"/>
            <a:ext cx="14097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7658A"/>
                </a:solidFill>
                <a:latin typeface="Arial"/>
                <a:ea typeface="Arial"/>
                <a:cs typeface="Arial"/>
              </a:defRPr>
            </a:pPr>
            <a:r>
              <a:rPr sz="2850" b="1">
                <a:solidFill>
                  <a:srgbClr val="17658A"/>
                </a:solidFill>
                <a:latin typeface="Arial"/>
                <a:ea typeface="Arial"/>
                <a:cs typeface="Arial"/>
              </a:rPr>
              <a:t>c. (3p) Bereken TO, TK en totale winst bij de gekozen q.</a:t>
            </a:r>
          </a:p>
        </p:txBody>
      </p:sp>
    </p:spTree>
    <p:extLst>
      <p:ext uri="{BB962C8B-B14F-4D97-AF65-F5344CB8AC3E}">
        <p14:creationId xmlns:p14="http://schemas.microsoft.com/office/powerpoint/2010/main" val="978540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 · Deelvragen d, e en f">
            <a:extLst xmlns:a="http://schemas.openxmlformats.org/drawingml/2006/main">
              <a:ext uri="{FF2B5EF4-FFF2-40B4-BE49-F238E27FC236}">
                <a16:creationId xmlns:a16="http://schemas.microsoft.com/office/drawing/2014/main" id="{CD68ECA0-6D54-4CF9-88F0-D07C71959824}"/>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 · Deelvragen d, e en f</a:t>
            </a:r>
          </a:p>
        </p:txBody>
      </p:sp>
      <p:sp>
        <p:nvSpPr>
          <p:cNvPr id="2" name="">
            <a:extLst xmlns:a="http://schemas.openxmlformats.org/drawingml/2006/main">
              <a:ext uri="{FF2B5EF4-FFF2-40B4-BE49-F238E27FC236}">
                <a16:creationId xmlns:a16="http://schemas.microsoft.com/office/drawing/2014/main" id="{438C2414-D569-407C-ABD2-A2CA2A56B21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2B642973-7CA3-43F6-A738-327E8D626B8A}"/>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18">
            <a:extLst xmlns:a="http://schemas.openxmlformats.org/drawingml/2006/main">
              <a:ext uri="{FF2B5EF4-FFF2-40B4-BE49-F238E27FC236}">
                <a16:creationId xmlns:a16="http://schemas.microsoft.com/office/drawing/2014/main" id="{EB28EA1B-B84A-468C-A133-A7C84D7F1848}"/>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d. (3p) Bereken GTK en geef in de grafiek q en de&#10;winst">
            <a:extLst xmlns:a="http://schemas.openxmlformats.org/drawingml/2006/main">
              <a:ext uri="{FF2B5EF4-FFF2-40B4-BE49-F238E27FC236}">
                <a16:creationId xmlns:a16="http://schemas.microsoft.com/office/drawing/2014/main" id="{6DFB538C-8066-48C2-8BC5-4D55B0597DB1}"/>
              </a:ext>
            </a:extLst>
          </p:cNvPr>
          <p:cNvSpPr>
            <a:spLocks xmlns:a="http://schemas.openxmlformats.org/drawingml/2006/main" noGrp="1"/>
          </p:cNvSpPr>
          <p:nvPr/>
        </p:nvSpPr>
        <p:spPr>
          <a:xfrm xmlns:a="http://schemas.openxmlformats.org/drawingml/2006/main">
            <a:off x="571500" y="1885950"/>
            <a:ext cx="140970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 (3p) Bereken GTK en geef in de grafiek q en de</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winstrechthoek aan. Benoem breedte en hoogte.</a:t>
            </a:r>
          </a:p>
        </p:txBody>
      </p:sp>
      <p:sp>
        <p:nvSpPr>
          <p:cNvPr id="6" name="e. (1p) Vergelijk de winst met niet produceren (q = 0).">
            <a:extLst xmlns:a="http://schemas.openxmlformats.org/drawingml/2006/main">
              <a:ext uri="{FF2B5EF4-FFF2-40B4-BE49-F238E27FC236}">
                <a16:creationId xmlns:a16="http://schemas.microsoft.com/office/drawing/2014/main" id="{960665C7-1072-4B53-AB97-1DA997DA07B5}"/>
              </a:ext>
            </a:extLst>
          </p:cNvPr>
          <p:cNvSpPr>
            <a:spLocks xmlns:a="http://schemas.openxmlformats.org/drawingml/2006/main" noGrp="1"/>
          </p:cNvSpPr>
          <p:nvPr/>
        </p:nvSpPr>
        <p:spPr>
          <a:xfrm xmlns:a="http://schemas.openxmlformats.org/drawingml/2006/main">
            <a:off x="571500" y="3781425"/>
            <a:ext cx="140970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 (1p) Vergelijk de winst met niet produceren (q = 0).</a:t>
            </a:r>
          </a:p>
        </p:txBody>
      </p:sp>
      <p:sp>
        <p:nvSpPr>
          <p:cNvPr id="7" name="f. (2p) Door een storing wordt de capaciteit 120 kg.&#10;Ko">
            <a:extLst xmlns:a="http://schemas.openxmlformats.org/drawingml/2006/main">
              <a:ext uri="{FF2B5EF4-FFF2-40B4-BE49-F238E27FC236}">
                <a16:creationId xmlns:a16="http://schemas.microsoft.com/office/drawing/2014/main" id="{D6567C11-A717-47E0-A1B6-BD90BD0826F1}"/>
              </a:ext>
            </a:extLst>
          </p:cNvPr>
          <p:cNvSpPr>
            <a:spLocks xmlns:a="http://schemas.openxmlformats.org/drawingml/2006/main" noGrp="1"/>
          </p:cNvSpPr>
          <p:nvPr/>
        </p:nvSpPr>
        <p:spPr>
          <a:xfrm xmlns:a="http://schemas.openxmlformats.org/drawingml/2006/main">
            <a:off x="571500" y="5676900"/>
            <a:ext cx="140970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f. (2p) Door een storing wordt de capaciteit 120 kg.</a:t>
            </a:r>
          </a:p>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Kostenfunctie en prijs blijven gelijk. Welke q kies je nu?</a:t>
            </a:r>
          </a:p>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Licht toe; een nieuwe winstberekening is niet nodig.</a:t>
            </a:r>
          </a:p>
        </p:txBody>
      </p:sp>
    </p:spTree>
    <p:extLst>
      <p:ext uri="{BB962C8B-B14F-4D97-AF65-F5344CB8AC3E}">
        <p14:creationId xmlns:p14="http://schemas.microsoft.com/office/powerpoint/2010/main" val="19614984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a · Marginale kosten">
            <a:extLst xmlns:a="http://schemas.openxmlformats.org/drawingml/2006/main">
              <a:ext uri="{FF2B5EF4-FFF2-40B4-BE49-F238E27FC236}">
                <a16:creationId xmlns:a16="http://schemas.microsoft.com/office/drawing/2014/main" id="{6FC323B0-8279-41A4-B1A3-1E6CCEA1E202}"/>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27a · Marginale kosten</a:t>
            </a:r>
          </a:p>
        </p:txBody>
      </p:sp>
      <p:sp>
        <p:nvSpPr>
          <p:cNvPr id="2" name="">
            <a:extLst xmlns:a="http://schemas.openxmlformats.org/drawingml/2006/main">
              <a:ext uri="{FF2B5EF4-FFF2-40B4-BE49-F238E27FC236}">
                <a16:creationId xmlns:a16="http://schemas.microsoft.com/office/drawing/2014/main" id="{6832AD46-170B-438B-8F6D-36BFFEE084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8275C0A8-3477-449A-841E-D5786CF4CAB9}"/>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19">
            <a:extLst xmlns:a="http://schemas.openxmlformats.org/drawingml/2006/main">
              <a:ext uri="{FF2B5EF4-FFF2-40B4-BE49-F238E27FC236}">
                <a16:creationId xmlns:a16="http://schemas.microsoft.com/office/drawing/2014/main" id="{45BED808-B93F-4F10-9C14-127DE3B34D13}"/>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TK = 0,04q² + 4q + 400">
            <a:extLst xmlns:a="http://schemas.openxmlformats.org/drawingml/2006/main">
              <a:ext uri="{FF2B5EF4-FFF2-40B4-BE49-F238E27FC236}">
                <a16:creationId xmlns:a16="http://schemas.microsoft.com/office/drawing/2014/main" id="{9E1B9BDF-ACE5-47E3-AE98-1FE4767C6A3F}"/>
              </a:ext>
            </a:extLst>
          </p:cNvPr>
          <p:cNvSpPr>
            <a:spLocks xmlns:a="http://schemas.openxmlformats.org/drawingml/2006/main" noGrp="1"/>
          </p:cNvSpPr>
          <p:nvPr/>
        </p:nvSpPr>
        <p:spPr>
          <a:xfrm xmlns:a="http://schemas.openxmlformats.org/drawingml/2006/main">
            <a:off x="571500" y="18097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TK = 0,04q² + 4q + 400</a:t>
            </a:r>
          </a:p>
        </p:txBody>
      </p:sp>
      <p:graphicFrame>
        <p:nvGraphicFramePr>
          <p:cNvPr id="13" name=""/>
          <p:cNvGraphicFramePr/>
          <p:nvPr/>
        </p:nvGraphicFramePr>
        <p:xfrm>
          <a:off xmlns:a="http://schemas.openxmlformats.org/drawingml/2006/main" x="571500" y="2952750"/>
          <a:ext xmlns:a="http://schemas.openxmlformats.org/drawingml/2006/main" cx="14097000" cy="3048000"/>
        </p:xfrm>
        <a:graphic xmlns:a="http://schemas.openxmlformats.org/drawingml/2006/main">
          <a:graphicData uri="http://schemas.openxmlformats.org/drawingml/2006/table">
            <a:tbl>
              <a:tblPr/>
              <a:tblGrid>
                <a:gridCol w="7048500"/>
                <a:gridCol w="7048500"/>
              </a:tblGrid>
              <a:tr h="762000">
                <a:tc>
                  <a:txBody>
                    <a:bodyPr lIns="171450" tIns="95250" rIns="152400" bIns="95250"/>
                    <a:lstStyle/>
                    <a:p>
                      <a:r>
                        <a:rPr sz="2775" b="1">
                          <a:solidFill>
                            <a:srgbClr val="FFFFFF"/>
                          </a:solidFill>
                          <a:latin typeface="Arial"/>
                          <a:ea typeface="Arial"/>
                          <a:cs typeface="Arial"/>
                        </a:rPr>
                        <a:t>Term</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Bijdrage aan MK</a:t>
                      </a:r>
                    </a:p>
                  </a:txBody>
                  <a:tcPr marL="91440" marR="91440" marT="45720" marB="45720" anchor="ctr">
                    <a:solidFill>
                      <a:srgbClr val="183247"/>
                    </a:solidFill>
                  </a:tcPr>
                </a:tc>
              </a:tr>
              <a:tr h="762000">
                <a:tc>
                  <a:txBody>
                    <a:bodyPr lIns="171450" tIns="95250" rIns="152400" bIns="95250"/>
                    <a:lstStyle/>
                    <a:p>
                      <a:r>
                        <a:rPr sz="2775" b="0">
                          <a:solidFill>
                            <a:srgbClr val="183247"/>
                          </a:solidFill>
                          <a:latin typeface="Arial"/>
                          <a:ea typeface="Arial"/>
                          <a:cs typeface="Arial"/>
                        </a:rPr>
                        <a:t>0,04q²</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2 × 0,04q = 0,08q</a:t>
                      </a:r>
                    </a:p>
                  </a:txBody>
                  <a:tcPr marL="91440" marR="91440" marT="45720" marB="45720" anchor="ctr">
                    <a:solidFill>
                      <a:srgbClr val="FFFFFF"/>
                    </a:solidFill>
                  </a:tcPr>
                </a:tc>
              </a:tr>
              <a:tr h="762000">
                <a:tc>
                  <a:txBody>
                    <a:bodyPr lIns="171450" tIns="95250" rIns="152400" bIns="95250"/>
                    <a:lstStyle/>
                    <a:p>
                      <a:r>
                        <a:rPr sz="2775" b="0">
                          <a:solidFill>
                            <a:srgbClr val="183247"/>
                          </a:solidFill>
                          <a:latin typeface="Arial"/>
                          <a:ea typeface="Arial"/>
                          <a:cs typeface="Arial"/>
                        </a:rPr>
                        <a:t>4q</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4</a:t>
                      </a:r>
                    </a:p>
                  </a:txBody>
                  <a:tcPr marL="91440" marR="91440" marT="45720" marB="45720" anchor="ctr">
                    <a:solidFill>
                      <a:srgbClr val="EFF4F7"/>
                    </a:solidFill>
                  </a:tcPr>
                </a:tc>
              </a:tr>
              <a:tr h="762000">
                <a:tc>
                  <a:txBody>
                    <a:bodyPr lIns="171450" tIns="95250" rIns="152400" bIns="95250"/>
                    <a:lstStyle/>
                    <a:p>
                      <a:r>
                        <a:rPr sz="2775" b="0">
                          <a:solidFill>
                            <a:srgbClr val="183247"/>
                          </a:solidFill>
                          <a:latin typeface="Arial"/>
                          <a:ea typeface="Arial"/>
                          <a:cs typeface="Arial"/>
                        </a:rPr>
                        <a:t>400</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7" name="MK = 0,08q + 4   (€ per kg)">
            <a:extLst xmlns:a="http://schemas.openxmlformats.org/drawingml/2006/main">
              <a:ext uri="{FF2B5EF4-FFF2-40B4-BE49-F238E27FC236}">
                <a16:creationId xmlns:a16="http://schemas.microsoft.com/office/drawing/2014/main" id="{5501B1E0-F6AE-48A6-A4C5-E7C867D73B5C}"/>
              </a:ext>
            </a:extLst>
          </p:cNvPr>
          <p:cNvSpPr>
            <a:spLocks xmlns:a="http://schemas.openxmlformats.org/drawingml/2006/main" noGrp="1"/>
          </p:cNvSpPr>
          <p:nvPr/>
        </p:nvSpPr>
        <p:spPr>
          <a:xfrm xmlns:a="http://schemas.openxmlformats.org/drawingml/2006/main">
            <a:off x="571500" y="683895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94D16"/>
                </a:solidFill>
                <a:latin typeface="Arial"/>
                <a:ea typeface="Arial"/>
                <a:cs typeface="Arial"/>
              </a:defRPr>
            </a:pPr>
            <a:r>
              <a:rPr sz="3600" b="1">
                <a:solidFill>
                  <a:srgbClr val="A94D16"/>
                </a:solidFill>
                <a:latin typeface="Arial"/>
                <a:ea typeface="Arial"/>
                <a:cs typeface="Arial"/>
              </a:rPr>
              <a:t>MK = 0,08q + 4   (€ per kg)</a:t>
            </a:r>
          </a:p>
        </p:txBody>
      </p:sp>
    </p:spTree>
    <p:extLst>
      <p:ext uri="{BB962C8B-B14F-4D97-AF65-F5344CB8AC3E}">
        <p14:creationId xmlns:p14="http://schemas.microsoft.com/office/powerpoint/2010/main" val="123374372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7b · De kandidaat en de capaciteit">
            <a:extLst xmlns:a="http://schemas.openxmlformats.org/drawingml/2006/main">
              <a:ext uri="{FF2B5EF4-FFF2-40B4-BE49-F238E27FC236}">
                <a16:creationId xmlns:a16="http://schemas.microsoft.com/office/drawing/2014/main" id="{DE330830-4CA5-4C59-BFA4-45965508518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27b · De kandidaat en de capaciteit</a:t>
            </a:r>
          </a:p>
        </p:txBody>
      </p:sp>
      <p:sp>
        <p:nvSpPr>
          <p:cNvPr id="2" name="">
            <a:extLst xmlns:a="http://schemas.openxmlformats.org/drawingml/2006/main">
              <a:ext uri="{FF2B5EF4-FFF2-40B4-BE49-F238E27FC236}">
                <a16:creationId xmlns:a16="http://schemas.microsoft.com/office/drawing/2014/main" id="{143081D5-F815-431C-AEF4-D72EBEC2134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639254F8-1EAE-42A7-88C8-6E33171A6B6B}"/>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20">
            <a:extLst xmlns:a="http://schemas.openxmlformats.org/drawingml/2006/main">
              <a:ext uri="{FF2B5EF4-FFF2-40B4-BE49-F238E27FC236}">
                <a16:creationId xmlns:a16="http://schemas.microsoft.com/office/drawing/2014/main" id="{8A73FFD2-E58B-46C8-A8AD-E5E4DA6D4933}"/>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MO = P = 16   en   MK = 0,08q + 4">
            <a:extLst xmlns:a="http://schemas.openxmlformats.org/drawingml/2006/main">
              <a:ext uri="{FF2B5EF4-FFF2-40B4-BE49-F238E27FC236}">
                <a16:creationId xmlns:a16="http://schemas.microsoft.com/office/drawing/2014/main" id="{AD4446B1-9283-4FEC-B4A1-DD663E3607E6}"/>
              </a:ext>
            </a:extLst>
          </p:cNvPr>
          <p:cNvSpPr>
            <a:spLocks xmlns:a="http://schemas.openxmlformats.org/drawingml/2006/main" noGrp="1"/>
          </p:cNvSpPr>
          <p:nvPr/>
        </p:nvSpPr>
        <p:spPr>
          <a:xfrm xmlns:a="http://schemas.openxmlformats.org/drawingml/2006/main">
            <a:off x="571500" y="192405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MO = P = 16   en   MK = 0,08q + 4</a:t>
            </a:r>
          </a:p>
        </p:txBody>
      </p:sp>
      <p:sp>
        <p:nvSpPr>
          <p:cNvPr id="6" name="16 = 0,08q + 4   ⇒   12 = 0,08q">
            <a:extLst xmlns:a="http://schemas.openxmlformats.org/drawingml/2006/main">
              <a:ext uri="{FF2B5EF4-FFF2-40B4-BE49-F238E27FC236}">
                <a16:creationId xmlns:a16="http://schemas.microsoft.com/office/drawing/2014/main" id="{28E763CA-F4CB-49AB-8427-91B70EC02CA1}"/>
              </a:ext>
            </a:extLst>
          </p:cNvPr>
          <p:cNvSpPr>
            <a:spLocks xmlns:a="http://schemas.openxmlformats.org/drawingml/2006/main" noGrp="1"/>
          </p:cNvSpPr>
          <p:nvPr/>
        </p:nvSpPr>
        <p:spPr>
          <a:xfrm xmlns:a="http://schemas.openxmlformats.org/drawingml/2006/main">
            <a:off x="571500" y="3324225"/>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16 = 0,08q + 4   ⇒   12 = 0,08q</a:t>
            </a:r>
          </a:p>
        </p:txBody>
      </p:sp>
      <p:sp>
        <p:nvSpPr>
          <p:cNvPr id="7" name="q = 12 / 0,08 = 150 kg per week">
            <a:extLst xmlns:a="http://schemas.openxmlformats.org/drawingml/2006/main">
              <a:ext uri="{FF2B5EF4-FFF2-40B4-BE49-F238E27FC236}">
                <a16:creationId xmlns:a16="http://schemas.microsoft.com/office/drawing/2014/main" id="{8ABD4E45-85A7-407D-9666-5CF8075A2D86}"/>
              </a:ext>
            </a:extLst>
          </p:cNvPr>
          <p:cNvSpPr>
            <a:spLocks xmlns:a="http://schemas.openxmlformats.org/drawingml/2006/main" noGrp="1"/>
          </p:cNvSpPr>
          <p:nvPr/>
        </p:nvSpPr>
        <p:spPr>
          <a:xfrm xmlns:a="http://schemas.openxmlformats.org/drawingml/2006/main">
            <a:off x="571500" y="472440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q = 12 / 0,08 = 150 kg per week</a:t>
            </a:r>
          </a:p>
        </p:txBody>
      </p:sp>
      <p:sp>
        <p:nvSpPr>
          <p:cNvPr id="8" name="150 ≤ 200: de productie is haalbaar.">
            <a:extLst xmlns:a="http://schemas.openxmlformats.org/drawingml/2006/main">
              <a:ext uri="{FF2B5EF4-FFF2-40B4-BE49-F238E27FC236}">
                <a16:creationId xmlns:a16="http://schemas.microsoft.com/office/drawing/2014/main" id="{33933B64-4D30-45D5-8FBC-277F9402DB65}"/>
              </a:ext>
            </a:extLst>
          </p:cNvPr>
          <p:cNvSpPr>
            <a:spLocks xmlns:a="http://schemas.openxmlformats.org/drawingml/2006/main" noGrp="1"/>
          </p:cNvSpPr>
          <p:nvPr/>
        </p:nvSpPr>
        <p:spPr>
          <a:xfrm xmlns:a="http://schemas.openxmlformats.org/drawingml/2006/main">
            <a:off x="571500" y="6124575"/>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150 ≤ 200: de productie is haalbaar.</a:t>
            </a:r>
          </a:p>
        </p:txBody>
      </p:sp>
    </p:spTree>
    <p:extLst>
      <p:ext uri="{BB962C8B-B14F-4D97-AF65-F5344CB8AC3E}">
        <p14:creationId xmlns:p14="http://schemas.microsoft.com/office/powerpoint/2010/main" val="198793896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7b · Waarom is dit een maximum?">
            <a:extLst xmlns:a="http://schemas.openxmlformats.org/drawingml/2006/main">
              <a:ext uri="{FF2B5EF4-FFF2-40B4-BE49-F238E27FC236}">
                <a16:creationId xmlns:a16="http://schemas.microsoft.com/office/drawing/2014/main" id="{072F8A3D-9016-49DD-BDE6-9BE7FB83EC9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27b · Waarom is dit een maximum?</a:t>
            </a:r>
          </a:p>
        </p:txBody>
      </p:sp>
      <p:sp>
        <p:nvSpPr>
          <p:cNvPr id="2" name="">
            <a:extLst xmlns:a="http://schemas.openxmlformats.org/drawingml/2006/main">
              <a:ext uri="{FF2B5EF4-FFF2-40B4-BE49-F238E27FC236}">
                <a16:creationId xmlns:a16="http://schemas.microsoft.com/office/drawing/2014/main" id="{1676F2B0-2973-42AC-843C-8843C73FDFF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5FA9ED7A-EE41-4459-A2E7-717845F447F5}"/>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21">
            <a:extLst xmlns:a="http://schemas.openxmlformats.org/drawingml/2006/main">
              <a:ext uri="{FF2B5EF4-FFF2-40B4-BE49-F238E27FC236}">
                <a16:creationId xmlns:a16="http://schemas.microsoft.com/office/drawing/2014/main" id="{E73AA46B-91E6-45D9-932A-1A64BA4F982A}"/>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3"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073ba6fc3a174144"/>
          </a:graphicData>
        </a:graphic>
      </p:graphicFrame>
      <p:sp>
        <p:nvSpPr>
          <p:cNvPr id="6" name="MK stijgt">
            <a:extLst xmlns:a="http://schemas.openxmlformats.org/drawingml/2006/main">
              <a:ext uri="{FF2B5EF4-FFF2-40B4-BE49-F238E27FC236}">
                <a16:creationId xmlns:a16="http://schemas.microsoft.com/office/drawing/2014/main" id="{A96BEDDD-0DAE-46C7-AF37-0E6F3BF0B22E}"/>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MK stijgt</a:t>
            </a:r>
          </a:p>
        </p:txBody>
      </p:sp>
      <p:sp>
        <p:nvSpPr>
          <p:cNvPr id="7" name="q = 125:&#10;MK = 14 &lt; 16&#10;&#10;q = 175:&#10;MK = 18 &gt; 16">
            <a:extLst xmlns:a="http://schemas.openxmlformats.org/drawingml/2006/main">
              <a:ext uri="{FF2B5EF4-FFF2-40B4-BE49-F238E27FC236}">
                <a16:creationId xmlns:a16="http://schemas.microsoft.com/office/drawing/2014/main" id="{4B23CFF3-AECC-479C-A715-77347FB22462}"/>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125: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14 &lt; 16</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 175:</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 = 18 &gt; 16</a:t>
            </a:r>
          </a:p>
        </p:txBody>
      </p:sp>
      <p:sp>
        <p:nvSpPr>
          <p:cNvPr id="8" name="Winst stijgt vóór 150 en daalt erna.">
            <a:extLst xmlns:a="http://schemas.openxmlformats.org/drawingml/2006/main">
              <a:ext uri="{FF2B5EF4-FFF2-40B4-BE49-F238E27FC236}">
                <a16:creationId xmlns:a16="http://schemas.microsoft.com/office/drawing/2014/main" id="{6966D84C-F81D-49F5-8141-B25E220AB1C4}"/>
              </a:ext>
            </a:extLst>
          </p:cNvPr>
          <p:cNvSpPr>
            <a:spLocks xmlns:a="http://schemas.openxmlformats.org/drawingml/2006/main" noGrp="1"/>
          </p:cNvSpPr>
          <p:nvPr/>
        </p:nvSpPr>
        <p:spPr>
          <a:xfrm xmlns:a="http://schemas.openxmlformats.org/drawingml/2006/main">
            <a:off x="11049000" y="657225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Winst stijgt vóór 150 en daalt erna.</a:t>
            </a:r>
          </a:p>
        </p:txBody>
      </p:sp>
    </p:spTree>
    <p:extLst>
      <p:ext uri="{BB962C8B-B14F-4D97-AF65-F5344CB8AC3E}">
        <p14:creationId xmlns:p14="http://schemas.microsoft.com/office/powerpoint/2010/main" val="44630970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c · Opbrengst, kosten en winst">
            <a:extLst xmlns:a="http://schemas.openxmlformats.org/drawingml/2006/main">
              <a:ext uri="{FF2B5EF4-FFF2-40B4-BE49-F238E27FC236}">
                <a16:creationId xmlns:a16="http://schemas.microsoft.com/office/drawing/2014/main" id="{AF39E93A-13AA-44D1-8923-E11DE40F29A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27c · Opbrengst, kosten en winst</a:t>
            </a:r>
          </a:p>
        </p:txBody>
      </p:sp>
      <p:sp>
        <p:nvSpPr>
          <p:cNvPr id="2" name="">
            <a:extLst xmlns:a="http://schemas.openxmlformats.org/drawingml/2006/main">
              <a:ext uri="{FF2B5EF4-FFF2-40B4-BE49-F238E27FC236}">
                <a16:creationId xmlns:a16="http://schemas.microsoft.com/office/drawing/2014/main" id="{638F3278-86DE-434B-AF51-08F41C5D2C1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A71C85A4-98F7-4E4D-A62B-4479BE6580F0}"/>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22">
            <a:extLst xmlns:a="http://schemas.openxmlformats.org/drawingml/2006/main">
              <a:ext uri="{FF2B5EF4-FFF2-40B4-BE49-F238E27FC236}">
                <a16:creationId xmlns:a16="http://schemas.microsoft.com/office/drawing/2014/main" id="{9971115A-5D5D-4568-BE00-4C7637E85DA1}"/>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TO = 16 × 150 = € 2.400 per week">
            <a:extLst xmlns:a="http://schemas.openxmlformats.org/drawingml/2006/main">
              <a:ext uri="{FF2B5EF4-FFF2-40B4-BE49-F238E27FC236}">
                <a16:creationId xmlns:a16="http://schemas.microsoft.com/office/drawing/2014/main" id="{FF115396-2C37-4A4C-B203-F1089576E9C1}"/>
              </a:ext>
            </a:extLst>
          </p:cNvPr>
          <p:cNvSpPr>
            <a:spLocks xmlns:a="http://schemas.openxmlformats.org/drawingml/2006/main" noGrp="1"/>
          </p:cNvSpPr>
          <p:nvPr/>
        </p:nvSpPr>
        <p:spPr>
          <a:xfrm xmlns:a="http://schemas.openxmlformats.org/drawingml/2006/main">
            <a:off x="571500" y="1952625"/>
            <a:ext cx="14097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TO = 16 × 150 = € 2.400 per week</a:t>
            </a:r>
          </a:p>
        </p:txBody>
      </p:sp>
      <p:sp>
        <p:nvSpPr>
          <p:cNvPr id="6" name="TK = 0,04 × 150² + 4 × 150 + 400&#10;      = 900 + 600 + 40">
            <a:extLst xmlns:a="http://schemas.openxmlformats.org/drawingml/2006/main">
              <a:ext uri="{FF2B5EF4-FFF2-40B4-BE49-F238E27FC236}">
                <a16:creationId xmlns:a16="http://schemas.microsoft.com/office/drawing/2014/main" id="{7448361D-9C53-461A-BF3F-A08F077B4185}"/>
              </a:ext>
            </a:extLst>
          </p:cNvPr>
          <p:cNvSpPr>
            <a:spLocks xmlns:a="http://schemas.openxmlformats.org/drawingml/2006/main" noGrp="1"/>
          </p:cNvSpPr>
          <p:nvPr/>
        </p:nvSpPr>
        <p:spPr>
          <a:xfrm xmlns:a="http://schemas.openxmlformats.org/drawingml/2006/main">
            <a:off x="571500" y="3705225"/>
            <a:ext cx="14097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TK = 0,04 × 150² + 4 × 150 + 400</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      = 900 + 600 + 400 = € 1.900 per week</a:t>
            </a:r>
          </a:p>
        </p:txBody>
      </p:sp>
      <p:sp>
        <p:nvSpPr>
          <p:cNvPr id="7" name="Winst = 2.400 − 1.900 = € 500 per week">
            <a:extLst xmlns:a="http://schemas.openxmlformats.org/drawingml/2006/main">
              <a:ext uri="{FF2B5EF4-FFF2-40B4-BE49-F238E27FC236}">
                <a16:creationId xmlns:a16="http://schemas.microsoft.com/office/drawing/2014/main" id="{8043D534-9CA3-4A72-A27C-BF98DB10DADC}"/>
              </a:ext>
            </a:extLst>
          </p:cNvPr>
          <p:cNvSpPr>
            <a:spLocks xmlns:a="http://schemas.openxmlformats.org/drawingml/2006/main" noGrp="1"/>
          </p:cNvSpPr>
          <p:nvPr/>
        </p:nvSpPr>
        <p:spPr>
          <a:xfrm xmlns:a="http://schemas.openxmlformats.org/drawingml/2006/main">
            <a:off x="571500" y="5457825"/>
            <a:ext cx="14097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Winst = 2.400 − 1.900 = € 500 per week</a:t>
            </a:r>
          </a:p>
        </p:txBody>
      </p:sp>
    </p:spTree>
    <p:extLst>
      <p:ext uri="{BB962C8B-B14F-4D97-AF65-F5344CB8AC3E}">
        <p14:creationId xmlns:p14="http://schemas.microsoft.com/office/powerpoint/2010/main" val="18147829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d · GTK en winst per kg">
            <a:extLst xmlns:a="http://schemas.openxmlformats.org/drawingml/2006/main">
              <a:ext uri="{FF2B5EF4-FFF2-40B4-BE49-F238E27FC236}">
                <a16:creationId xmlns:a16="http://schemas.microsoft.com/office/drawing/2014/main" id="{FB4A553B-C9BB-4AF5-A2B4-785263471EE6}"/>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27d · GTK en winst per kg</a:t>
            </a:r>
          </a:p>
        </p:txBody>
      </p:sp>
      <p:sp>
        <p:nvSpPr>
          <p:cNvPr id="2" name="">
            <a:extLst xmlns:a="http://schemas.openxmlformats.org/drawingml/2006/main">
              <a:ext uri="{FF2B5EF4-FFF2-40B4-BE49-F238E27FC236}">
                <a16:creationId xmlns:a16="http://schemas.microsoft.com/office/drawing/2014/main" id="{DBEA71D0-3BCA-456B-8B26-2F773EA6D0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23F42117-6BA3-4708-A2B7-FDFD18F39C41}"/>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23">
            <a:extLst xmlns:a="http://schemas.openxmlformats.org/drawingml/2006/main">
              <a:ext uri="{FF2B5EF4-FFF2-40B4-BE49-F238E27FC236}">
                <a16:creationId xmlns:a16="http://schemas.microsoft.com/office/drawing/2014/main" id="{8B1D9153-6595-4560-AEC5-1B80504E7EA2}"/>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GTK = TK / q = 1.900 / 150&#10;        = € 12,666… per kg ≈">
            <a:extLst xmlns:a="http://schemas.openxmlformats.org/drawingml/2006/main">
              <a:ext uri="{FF2B5EF4-FFF2-40B4-BE49-F238E27FC236}">
                <a16:creationId xmlns:a16="http://schemas.microsoft.com/office/drawing/2014/main" id="{68BA6B04-5EE3-4D46-819C-C6B473F4F042}"/>
              </a:ext>
            </a:extLst>
          </p:cNvPr>
          <p:cNvSpPr>
            <a:spLocks xmlns:a="http://schemas.openxmlformats.org/drawingml/2006/main" noGrp="1"/>
          </p:cNvSpPr>
          <p:nvPr/>
        </p:nvSpPr>
        <p:spPr>
          <a:xfrm xmlns:a="http://schemas.openxmlformats.org/drawingml/2006/main">
            <a:off x="571500" y="1905000"/>
            <a:ext cx="140970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GTK = TK / q = 1.900 / 150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        = € 12,666… per kg ≈ € 12,67 per kg</a:t>
            </a:r>
          </a:p>
        </p:txBody>
      </p:sp>
      <p:sp>
        <p:nvSpPr>
          <p:cNvPr id="6" name="P − GTK = 16 − 1.900 / 150&#10;                = € 3,333… p">
            <a:extLst xmlns:a="http://schemas.openxmlformats.org/drawingml/2006/main">
              <a:ext uri="{FF2B5EF4-FFF2-40B4-BE49-F238E27FC236}">
                <a16:creationId xmlns:a16="http://schemas.microsoft.com/office/drawing/2014/main" id="{9319036B-FA96-4A16-A4FC-1B9003C94564}"/>
              </a:ext>
            </a:extLst>
          </p:cNvPr>
          <p:cNvSpPr>
            <a:spLocks xmlns:a="http://schemas.openxmlformats.org/drawingml/2006/main" noGrp="1"/>
          </p:cNvSpPr>
          <p:nvPr/>
        </p:nvSpPr>
        <p:spPr>
          <a:xfrm xmlns:a="http://schemas.openxmlformats.org/drawingml/2006/main">
            <a:off x="571500" y="3829050"/>
            <a:ext cx="140970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P − GTK = 16 − 1.900 / 150</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                = € 3,333… per kg</a:t>
            </a:r>
          </a:p>
        </p:txBody>
      </p:sp>
      <p:sp>
        <p:nvSpPr>
          <p:cNvPr id="7" name="Reken verder met de ongeronde breuk.">
            <a:extLst xmlns:a="http://schemas.openxmlformats.org/drawingml/2006/main">
              <a:ext uri="{FF2B5EF4-FFF2-40B4-BE49-F238E27FC236}">
                <a16:creationId xmlns:a16="http://schemas.microsoft.com/office/drawing/2014/main" id="{EAC1E6DE-19A2-46AB-96F0-B50027AED0B4}"/>
              </a:ext>
            </a:extLst>
          </p:cNvPr>
          <p:cNvSpPr>
            <a:spLocks xmlns:a="http://schemas.openxmlformats.org/drawingml/2006/main" noGrp="1"/>
          </p:cNvSpPr>
          <p:nvPr/>
        </p:nvSpPr>
        <p:spPr>
          <a:xfrm xmlns:a="http://schemas.openxmlformats.org/drawingml/2006/main">
            <a:off x="571500" y="5753100"/>
            <a:ext cx="140970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Reken verder met de ongeronde breuk.</a:t>
            </a:r>
          </a:p>
        </p:txBody>
      </p:sp>
    </p:spTree>
    <p:extLst>
      <p:ext uri="{BB962C8B-B14F-4D97-AF65-F5344CB8AC3E}">
        <p14:creationId xmlns:p14="http://schemas.microsoft.com/office/powerpoint/2010/main" val="157055138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7d · De winstrechthoek">
            <a:extLst xmlns:a="http://schemas.openxmlformats.org/drawingml/2006/main">
              <a:ext uri="{FF2B5EF4-FFF2-40B4-BE49-F238E27FC236}">
                <a16:creationId xmlns:a16="http://schemas.microsoft.com/office/drawing/2014/main" id="{C42B8C95-2EFD-46DF-B6DD-6630AEB6EEBF}"/>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27d · De winstrechthoek</a:t>
            </a:r>
          </a:p>
        </p:txBody>
      </p:sp>
      <p:sp>
        <p:nvSpPr>
          <p:cNvPr id="2" name="">
            <a:extLst xmlns:a="http://schemas.openxmlformats.org/drawingml/2006/main">
              <a:ext uri="{FF2B5EF4-FFF2-40B4-BE49-F238E27FC236}">
                <a16:creationId xmlns:a16="http://schemas.microsoft.com/office/drawing/2014/main" id="{61278F3F-14E4-44D8-B573-C438629870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90CDDB68-64E5-4128-97E0-1BF74A6F4486}"/>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24">
            <a:extLst xmlns:a="http://schemas.openxmlformats.org/drawingml/2006/main">
              <a:ext uri="{FF2B5EF4-FFF2-40B4-BE49-F238E27FC236}">
                <a16:creationId xmlns:a16="http://schemas.microsoft.com/office/drawing/2014/main" id="{65D59EC5-92B1-44C0-8B54-8991F212B5A0}"/>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graphicFrame>
        <p:nvGraphicFramePr>
          <p:cNvPr id="13"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bb6f55ccb65d4628"/>
          </a:graphicData>
        </a:graphic>
      </p:graphicFrame>
      <p:sp>
        <p:nvSpPr>
          <p:cNvPr id="6" name="Winst = € 500">
            <a:extLst xmlns:a="http://schemas.openxmlformats.org/drawingml/2006/main">
              <a:ext uri="{FF2B5EF4-FFF2-40B4-BE49-F238E27FC236}">
                <a16:creationId xmlns:a16="http://schemas.microsoft.com/office/drawing/2014/main" id="{090590EB-E0E7-48AB-AB47-D9FC98B4D778}"/>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Winst = € 500</a:t>
            </a:r>
          </a:p>
        </p:txBody>
      </p:sp>
      <p:sp>
        <p:nvSpPr>
          <p:cNvPr id="7" name="Breedte:&#10;150 kg per week&#10;&#10;Hoogte:&#10;€ 3,333… per kg">
            <a:extLst xmlns:a="http://schemas.openxmlformats.org/drawingml/2006/main">
              <a:ext uri="{FF2B5EF4-FFF2-40B4-BE49-F238E27FC236}">
                <a16:creationId xmlns:a16="http://schemas.microsoft.com/office/drawing/2014/main" id="{D4219E60-FC01-4B3C-92D8-40C5424B57EC}"/>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Breedte:</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150 kg per week</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€ 3,333… per kg</a:t>
            </a:r>
          </a:p>
        </p:txBody>
      </p:sp>
      <p:sp>
        <p:nvSpPr>
          <p:cNvPr id="8" name="150 × (16 −&#10;1.900 / 150) = 500">
            <a:extLst xmlns:a="http://schemas.openxmlformats.org/drawingml/2006/main">
              <a:ext uri="{FF2B5EF4-FFF2-40B4-BE49-F238E27FC236}">
                <a16:creationId xmlns:a16="http://schemas.microsoft.com/office/drawing/2014/main" id="{61299F88-BD40-433A-8558-0CECAFA879DD}"/>
              </a:ext>
            </a:extLst>
          </p:cNvPr>
          <p:cNvSpPr>
            <a:spLocks xmlns:a="http://schemas.openxmlformats.org/drawingml/2006/main" noGrp="1"/>
          </p:cNvSpPr>
          <p:nvPr/>
        </p:nvSpPr>
        <p:spPr>
          <a:xfrm xmlns:a="http://schemas.openxmlformats.org/drawingml/2006/main">
            <a:off x="11049000" y="657225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150 × (16 −</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1.900 / 150) = 500</a:t>
            </a:r>
          </a:p>
        </p:txBody>
      </p:sp>
    </p:spTree>
    <p:extLst>
      <p:ext uri="{BB962C8B-B14F-4D97-AF65-F5344CB8AC3E}">
        <p14:creationId xmlns:p14="http://schemas.microsoft.com/office/powerpoint/2010/main" val="17091263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27e · Niet produceren">
            <a:extLst xmlns:a="http://schemas.openxmlformats.org/drawingml/2006/main">
              <a:ext uri="{FF2B5EF4-FFF2-40B4-BE49-F238E27FC236}">
                <a16:creationId xmlns:a16="http://schemas.microsoft.com/office/drawing/2014/main" id="{0060382A-C946-4D83-8B30-753DCABFD1B6}"/>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27e · Niet produceren</a:t>
            </a:r>
          </a:p>
        </p:txBody>
      </p:sp>
      <p:sp>
        <p:nvSpPr>
          <p:cNvPr id="2" name="">
            <a:extLst xmlns:a="http://schemas.openxmlformats.org/drawingml/2006/main">
              <a:ext uri="{FF2B5EF4-FFF2-40B4-BE49-F238E27FC236}">
                <a16:creationId xmlns:a16="http://schemas.microsoft.com/office/drawing/2014/main" id="{65682B0D-D877-4050-A7B9-5DBB7F188C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C069BDA0-F933-451C-8846-8A0089906378}"/>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25">
            <a:extLst xmlns:a="http://schemas.openxmlformats.org/drawingml/2006/main">
              <a:ext uri="{FF2B5EF4-FFF2-40B4-BE49-F238E27FC236}">
                <a16:creationId xmlns:a16="http://schemas.microsoft.com/office/drawing/2014/main" id="{A1BD129A-E03D-42A8-A818-A7A7216BE6E7}"/>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graphicFrame>
        <p:nvGraphicFramePr>
          <p:cNvPr id="11" name=""/>
          <p:cNvGraphicFramePr/>
          <p:nvPr/>
        </p:nvGraphicFramePr>
        <p:xfrm>
          <a:off xmlns:a="http://schemas.openxmlformats.org/drawingml/2006/main" x="571500" y="2390775"/>
          <a:ext xmlns:a="http://schemas.openxmlformats.org/drawingml/2006/main" cx="14097000" cy="2809875"/>
        </p:xfrm>
        <a:graphic xmlns:a="http://schemas.openxmlformats.org/drawingml/2006/main">
          <a:graphicData uri="http://schemas.openxmlformats.org/drawingml/2006/table">
            <a:tbl>
              <a:tblPr/>
              <a:tblGrid>
                <a:gridCol w="3810000"/>
                <a:gridCol w="3429000"/>
                <a:gridCol w="3429000"/>
                <a:gridCol w="3429000"/>
              </a:tblGrid>
              <a:tr h="936625">
                <a:tc>
                  <a:txBody>
                    <a:bodyPr lIns="171450" tIns="95250" rIns="152400" bIns="95250"/>
                    <a:lstStyle/>
                    <a:p>
                      <a:r>
                        <a:rPr sz="2550" b="1">
                          <a:solidFill>
                            <a:srgbClr val="FFFFFF"/>
                          </a:solidFill>
                          <a:latin typeface="Arial"/>
                          <a:ea typeface="Arial"/>
                          <a:cs typeface="Arial"/>
                        </a:rPr>
                        <a:t>Keuze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TO per week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TK per week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Winst per week</a:t>
                      </a:r>
                    </a:p>
                  </a:txBody>
                  <a:tcPr marL="91440" marR="91440" marT="45720" marB="45720" anchor="ctr">
                    <a:solidFill>
                      <a:srgbClr val="183247"/>
                    </a:solidFill>
                  </a:tcPr>
                </a:tc>
              </a:tr>
              <a:tr h="936625">
                <a:tc>
                  <a:txBody>
                    <a:bodyPr lIns="171450" tIns="95250" rIns="152400" bIns="95250"/>
                    <a:lstStyle/>
                    <a:p>
                      <a:r>
                        <a:rPr sz="2550" b="0">
                          <a:solidFill>
                            <a:srgbClr val="183247"/>
                          </a:solidFill>
                          <a:latin typeface="Arial"/>
                          <a:ea typeface="Arial"/>
                          <a:cs typeface="Arial"/>
                        </a:rPr>
                        <a:t>q = 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€ 400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−€ 400</a:t>
                      </a:r>
                    </a:p>
                  </a:txBody>
                  <a:tcPr marL="91440" marR="91440" marT="45720" marB="45720" anchor="ctr">
                    <a:solidFill>
                      <a:srgbClr val="FFFFFF"/>
                    </a:solidFill>
                  </a:tcPr>
                </a:tc>
              </a:tr>
              <a:tr h="936625">
                <a:tc>
                  <a:txBody>
                    <a:bodyPr lIns="171450" tIns="95250" rIns="152400" bIns="95250"/>
                    <a:lstStyle/>
                    <a:p>
                      <a:r>
                        <a:rPr sz="2550" b="0">
                          <a:solidFill>
                            <a:srgbClr val="183247"/>
                          </a:solidFill>
                          <a:latin typeface="Arial"/>
                          <a:ea typeface="Arial"/>
                          <a:cs typeface="Arial"/>
                        </a:rPr>
                        <a:t>q = 150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€ 2.400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€ 1.900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€ 500</a:t>
                      </a:r>
                    </a:p>
                  </a:txBody>
                  <a:tcPr marL="91440" marR="91440" marT="45720" marB="45720" anchor="ctr">
                    <a:solidFill>
                      <a:srgbClr val="EFF4F7"/>
                    </a:solidFill>
                  </a:tcPr>
                </a:tc>
              </a:tr>
            </a:tbl>
          </a:graphicData>
        </a:graphic>
      </p:graphicFrame>
      <p:sp>
        <p:nvSpPr>
          <p:cNvPr id="6" name="€ 500 &gt; −€ 400: produceren is deze week gunstiger.">
            <a:extLst xmlns:a="http://schemas.openxmlformats.org/drawingml/2006/main">
              <a:ext uri="{FF2B5EF4-FFF2-40B4-BE49-F238E27FC236}">
                <a16:creationId xmlns:a16="http://schemas.microsoft.com/office/drawing/2014/main" id="{A23D3014-B3B4-48D9-99CE-02EDC8C96E65}"/>
              </a:ext>
            </a:extLst>
          </p:cNvPr>
          <p:cNvSpPr>
            <a:spLocks xmlns:a="http://schemas.openxmlformats.org/drawingml/2006/main" noGrp="1"/>
          </p:cNvSpPr>
          <p:nvPr/>
        </p:nvSpPr>
        <p:spPr>
          <a:xfrm xmlns:a="http://schemas.openxmlformats.org/drawingml/2006/main">
            <a:off x="571500" y="6105525"/>
            <a:ext cx="14097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€ 500 &gt; −€ 400: produceren is deze week gunstiger.</a:t>
            </a:r>
          </a:p>
        </p:txBody>
      </p:sp>
    </p:spTree>
    <p:extLst>
      <p:ext uri="{BB962C8B-B14F-4D97-AF65-F5344CB8AC3E}">
        <p14:creationId xmlns:p14="http://schemas.microsoft.com/office/powerpoint/2010/main" val="26702456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7f · Een storing beperkt de productie">
            <a:extLst xmlns:a="http://schemas.openxmlformats.org/drawingml/2006/main">
              <a:ext uri="{FF2B5EF4-FFF2-40B4-BE49-F238E27FC236}">
                <a16:creationId xmlns:a16="http://schemas.microsoft.com/office/drawing/2014/main" id="{F3078A34-BE15-4D40-8F7E-D9C005ADA5BC}"/>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27f · Een storing beperkt de productie</a:t>
            </a:r>
          </a:p>
        </p:txBody>
      </p:sp>
      <p:sp>
        <p:nvSpPr>
          <p:cNvPr id="2" name="">
            <a:extLst xmlns:a="http://schemas.openxmlformats.org/drawingml/2006/main">
              <a:ext uri="{FF2B5EF4-FFF2-40B4-BE49-F238E27FC236}">
                <a16:creationId xmlns:a16="http://schemas.microsoft.com/office/drawing/2014/main" id="{65F02232-D28D-4DF0-B085-650D96FF774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Opgave 27 · Boekpagina 77">
            <a:extLst xmlns:a="http://schemas.openxmlformats.org/drawingml/2006/main">
              <a:ext uri="{FF2B5EF4-FFF2-40B4-BE49-F238E27FC236}">
                <a16:creationId xmlns:a16="http://schemas.microsoft.com/office/drawing/2014/main" id="{9E9C5469-499D-415F-BF82-7B1A365CC9B5}"/>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Opgave 27 · Boekpagina 77</a:t>
            </a:r>
          </a:p>
        </p:txBody>
      </p:sp>
      <p:sp>
        <p:nvSpPr>
          <p:cNvPr id="4" name="26">
            <a:extLst xmlns:a="http://schemas.openxmlformats.org/drawingml/2006/main">
              <a:ext uri="{FF2B5EF4-FFF2-40B4-BE49-F238E27FC236}">
                <a16:creationId xmlns:a16="http://schemas.microsoft.com/office/drawing/2014/main" id="{AD712C8F-AB53-460A-ACE4-BC7B8730A6D8}"/>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graphicFrame>
        <p:nvGraphicFramePr>
          <p:cNvPr id="13" name="Chart"/>
          <p:cNvGraphicFramePr/>
          <p:nvPr/>
        </p:nvGraphicFramePr>
        <p:xfrm>
          <a:off xmlns:a="http://schemas.openxmlformats.org/drawingml/2006/main" x="571500" y="2238375"/>
          <a:ext xmlns:a="http://schemas.openxmlformats.org/drawingml/2006/main" cx="10001250" cy="5391150"/>
        </p:xfrm>
        <a:graphic xmlns:a="http://schemas.openxmlformats.org/drawingml/2006/main">
          <a:graphicData uri="http://schemas.openxmlformats.org/drawingml/2006/chart">
            <c:chart xmlns:r="http://schemas.openxmlformats.org/officeDocument/2006/relationships" xmlns:c="http://schemas.openxmlformats.org/drawingml/2006/chart" r:id="R39fb800507d44176"/>
          </a:graphicData>
        </a:graphic>
      </p:graphicFrame>
      <p:sp>
        <p:nvSpPr>
          <p:cNvPr id="6" name="Maximaal 120 kg">
            <a:extLst xmlns:a="http://schemas.openxmlformats.org/drawingml/2006/main">
              <a:ext uri="{FF2B5EF4-FFF2-40B4-BE49-F238E27FC236}">
                <a16:creationId xmlns:a16="http://schemas.microsoft.com/office/drawing/2014/main" id="{CF78D2BB-8912-4C9E-B6A4-A520094FBFFE}"/>
              </a:ext>
            </a:extLst>
          </p:cNvPr>
          <p:cNvSpPr>
            <a:spLocks xmlns:a="http://schemas.openxmlformats.org/drawingml/2006/main" noGrp="1"/>
          </p:cNvSpPr>
          <p:nvPr/>
        </p:nvSpPr>
        <p:spPr>
          <a:xfrm xmlns:a="http://schemas.openxmlformats.org/drawingml/2006/main">
            <a:off x="11049000" y="230505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Maximaal 120 kg</a:t>
            </a:r>
          </a:p>
        </p:txBody>
      </p:sp>
      <p:sp>
        <p:nvSpPr>
          <p:cNvPr id="7" name="150 is onhaalbaar.&#10;&#10;MK(120) =&#10;0,08 × 120 + 4&#10;= € 13,60 ">
            <a:extLst xmlns:a="http://schemas.openxmlformats.org/drawingml/2006/main">
              <a:ext uri="{FF2B5EF4-FFF2-40B4-BE49-F238E27FC236}">
                <a16:creationId xmlns:a16="http://schemas.microsoft.com/office/drawing/2014/main" id="{CD5D9346-CEBD-4DF7-9512-89BD28A1FF53}"/>
              </a:ext>
            </a:extLst>
          </p:cNvPr>
          <p:cNvSpPr>
            <a:spLocks xmlns:a="http://schemas.openxmlformats.org/drawingml/2006/main" noGrp="1"/>
          </p:cNvSpPr>
          <p:nvPr/>
        </p:nvSpPr>
        <p:spPr>
          <a:xfrm xmlns:a="http://schemas.openxmlformats.org/drawingml/2006/main">
            <a:off x="11049000" y="3524250"/>
            <a:ext cx="3619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150 is onhaalbaar.</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MK(120)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0,08 × 120 + 4</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€ 13,60 per kg</a:t>
            </a:r>
          </a:p>
        </p:txBody>
      </p:sp>
      <p:sp>
        <p:nvSpPr>
          <p:cNvPr id="8" name="13,60 &lt; 16:&#10;kies q = 120.">
            <a:extLst xmlns:a="http://schemas.openxmlformats.org/drawingml/2006/main">
              <a:ext uri="{FF2B5EF4-FFF2-40B4-BE49-F238E27FC236}">
                <a16:creationId xmlns:a16="http://schemas.microsoft.com/office/drawing/2014/main" id="{3A5921D4-0697-41C8-812D-DEC843B1D019}"/>
              </a:ext>
            </a:extLst>
          </p:cNvPr>
          <p:cNvSpPr>
            <a:spLocks xmlns:a="http://schemas.openxmlformats.org/drawingml/2006/main" noGrp="1"/>
          </p:cNvSpPr>
          <p:nvPr/>
        </p:nvSpPr>
        <p:spPr>
          <a:xfrm xmlns:a="http://schemas.openxmlformats.org/drawingml/2006/main">
            <a:off x="11049000" y="657225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13,60 &lt; 16:</a:t>
            </a:r>
          </a:p>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kies q = 120.</a:t>
            </a:r>
          </a:p>
        </p:txBody>
      </p:sp>
    </p:spTree>
    <p:extLst>
      <p:ext uri="{BB962C8B-B14F-4D97-AF65-F5344CB8AC3E}">
        <p14:creationId xmlns:p14="http://schemas.microsoft.com/office/powerpoint/2010/main" val="41630725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3 Winstmaximalisatie bij volkomen concur">
            <a:extLst xmlns:a="http://schemas.openxmlformats.org/drawingml/2006/main">
              <a:ext uri="{FF2B5EF4-FFF2-40B4-BE49-F238E27FC236}">
                <a16:creationId xmlns:a16="http://schemas.microsoft.com/office/drawing/2014/main" id="{632D1CF2-B4C5-4A3F-9E9C-4B565CA56DD9}"/>
              </a:ext>
            </a:extLst>
          </p:cNvPr>
          <p:cNvSpPr>
            <a:spLocks xmlns:a="http://schemas.openxmlformats.org/drawingml/2006/main" noGrp="1"/>
          </p:cNvSpPr>
          <p:nvPr/>
        </p:nvSpPr>
        <p:spPr>
          <a:xfrm xmlns:a="http://schemas.openxmlformats.org/drawingml/2006/main">
            <a:off x="571500" y="381000"/>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Deze les: §3.2.3 Winstmaximalisatie bij volkomen concurrentie</a:t>
            </a:r>
          </a:p>
        </p:txBody>
      </p:sp>
      <p:sp>
        <p:nvSpPr>
          <p:cNvPr id="2" name="">
            <a:extLst xmlns:a="http://schemas.openxmlformats.org/drawingml/2006/main">
              <a:ext uri="{FF2B5EF4-FFF2-40B4-BE49-F238E27FC236}">
                <a16:creationId xmlns:a16="http://schemas.microsoft.com/office/drawing/2014/main" id="{73675FF0-8420-48F4-8246-AFC79E1A8EE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3 · Winstmaximalisatie bij volkomen concurrentie">
            <a:extLst xmlns:a="http://schemas.openxmlformats.org/drawingml/2006/main">
              <a:ext uri="{FF2B5EF4-FFF2-40B4-BE49-F238E27FC236}">
                <a16:creationId xmlns:a16="http://schemas.microsoft.com/office/drawing/2014/main" id="{990E3864-0C1F-41F5-9923-7808193370F4}"/>
              </a:ext>
            </a:extLst>
          </p:cNvPr>
          <p:cNvSpPr>
            <a:spLocks xmlns:a="http://schemas.openxmlformats.org/drawingml/2006/main" noGrp="1"/>
          </p:cNvSpPr>
          <p:nvPr/>
        </p:nvSpPr>
        <p:spPr>
          <a:xfrm xmlns:a="http://schemas.openxmlformats.org/drawingml/2006/main">
            <a:off x="571500" y="8077200"/>
            <a:ext cx="1333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§3.2.3 · Winstmaximalisatie bij volkomen concurrentie</a:t>
            </a:r>
          </a:p>
        </p:txBody>
      </p:sp>
      <p:sp>
        <p:nvSpPr>
          <p:cNvPr id="4" name="27">
            <a:extLst xmlns:a="http://schemas.openxmlformats.org/drawingml/2006/main">
              <a:ext uri="{FF2B5EF4-FFF2-40B4-BE49-F238E27FC236}">
                <a16:creationId xmlns:a16="http://schemas.microsoft.com/office/drawing/2014/main" id="{09A659A7-FA35-443D-81CD-54228BBC885D}"/>
              </a:ext>
            </a:extLst>
          </p:cNvPr>
          <p:cNvSpPr>
            <a:spLocks xmlns:a="http://schemas.openxmlformats.org/drawingml/2006/main" noGrp="1"/>
          </p:cNvSpPr>
          <p:nvPr/>
        </p:nvSpPr>
        <p:spPr>
          <a:xfrm xmlns:a="http://schemas.openxmlformats.org/drawingml/2006/main">
            <a:off x="14001750" y="807720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27</a:t>
            </a:r>
          </a:p>
        </p:txBody>
      </p:sp>
      <p:sp>
        <p:nvSpPr>
          <p:cNvPr id="5" name="phase">
            <a:extLst xmlns:a="http://schemas.openxmlformats.org/drawingml/2006/main">
              <a:ext uri="{FF2B5EF4-FFF2-40B4-BE49-F238E27FC236}">
                <a16:creationId xmlns:a16="http://schemas.microsoft.com/office/drawing/2014/main" id="{DA721E16-551F-49D9-8AA3-4C3E71FB5AD1}"/>
              </a:ext>
            </a:extLst>
          </p:cNvPr>
          <p:cNvSpPr>
            <a:spLocks xmlns:a="http://schemas.openxmlformats.org/drawingml/2006/main" noGrp="1"/>
          </p:cNvSpPr>
          <p:nvPr/>
        </p:nvSpPr>
        <p:spPr>
          <a:xfrm xmlns:a="http://schemas.openxmlformats.org/drawingml/2006/main">
            <a:off x="571500" y="1066800"/>
            <a:ext cx="1381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A4B9480F-7928-41ED-908C-5B082093B8F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1BEEEED6-28C5-4483-A56D-111FA2177A40}"/>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C5597E41-0CE8-4F04-ADEE-FB1B393EDAE9}"/>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1">
            <a:extLst xmlns:a="http://schemas.openxmlformats.org/drawingml/2006/main">
              <a:ext uri="{FF2B5EF4-FFF2-40B4-BE49-F238E27FC236}">
                <a16:creationId xmlns:a16="http://schemas.microsoft.com/office/drawing/2014/main" id="{3E9911D5-1FD3-43C0-B66E-A16E46A18626}"/>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2C32D79F-7C88-47DA-909C-34B521BBA8FD}"/>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F26D995B-2709-4CD2-A576-C0F35AA4BF16}"/>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D28C6C70-A522-453E-8D94-72591558886F}"/>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3C33BD30-2688-4C30-B3FC-FA963DF3A73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F24BB80D-0F3C-4D13-B9B0-146319D10491}"/>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AC4548F5-C958-4D6C-96B0-72DE5246F2F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BCFFFE07-6983-4CF0-BF4F-01D72BEB2B8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EFD918F0-117A-46E0-9916-4FF40E491D26}"/>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5B953F89-88B4-43F9-9746-B78EE51D46C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27.</a:t>
            </a:r>
          </a:p>
        </p:txBody>
      </p:sp>
      <p:sp>
        <p:nvSpPr>
          <p:cNvPr id="19" name="route-number-6">
            <a:extLst xmlns:a="http://schemas.openxmlformats.org/drawingml/2006/main">
              <a:ext uri="{FF2B5EF4-FFF2-40B4-BE49-F238E27FC236}">
                <a16:creationId xmlns:a16="http://schemas.microsoft.com/office/drawing/2014/main" id="{C674B5D9-C76F-4407-A46F-147F294E066C}"/>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C8BD6C33-7258-4373-A1B2-C875CAD448B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49C80C1-6749-44CB-8EE3-88165223F488}"/>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D1AEC77-B782-4406-8B11-54A2C1EEA84E}"/>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De beste haalbare q onderbouwen.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Winst berekenen en als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rechthoek weergeven.</a:t>
            </a:r>
          </a:p>
        </p:txBody>
      </p:sp>
      <p:sp>
        <p:nvSpPr>
          <p:cNvPr id="23" name="">
            <a:extLst xmlns:a="http://schemas.openxmlformats.org/drawingml/2006/main">
              <a:ext uri="{FF2B5EF4-FFF2-40B4-BE49-F238E27FC236}">
                <a16:creationId xmlns:a16="http://schemas.microsoft.com/office/drawing/2014/main" id="{27614E1F-409C-4523-AC42-4D9636E11B58}"/>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9F65674E-1F54-404E-BF73-464B4673CBCA}"/>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F77E2F36-5B3C-470B-A78C-9538FDC42EA6}"/>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73 · Opgaven 20 en 21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21: verkennen, theorie p. 69–70</a:t>
            </a:r>
          </a:p>
        </p:txBody>
      </p:sp>
      <p:sp>
        <p:nvSpPr>
          <p:cNvPr id="26" name="">
            <a:extLst xmlns:a="http://schemas.openxmlformats.org/drawingml/2006/main">
              <a:ext uri="{FF2B5EF4-FFF2-40B4-BE49-F238E27FC236}">
                <a16:creationId xmlns:a16="http://schemas.microsoft.com/office/drawing/2014/main" id="{D64B1F27-A60C-42E8-ADC5-ED90C6BC94A2}"/>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768F26F-6407-41BD-86A8-03A8CB02F2B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32C8740-116C-443A-8ECE-7CDF1ABBAA77}"/>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§3.2.3</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22,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25 en 26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373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2026-10-01T11:31:58.4090000Z</dcterms:created>
  <dcterms:modified xsi:type="dcterms:W3CDTF">2026-10-01T11:31:58.4090000Z</dcterms:modified>
</coreProperties>
</file>