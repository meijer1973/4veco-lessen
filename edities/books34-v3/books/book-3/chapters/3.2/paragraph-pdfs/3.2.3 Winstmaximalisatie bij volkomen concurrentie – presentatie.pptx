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4.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5.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6.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7.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6ae24cd4c294bdf" /><Relationship Type="http://schemas.openxmlformats.org/officeDocument/2006/relationships/extended-properties" Target="/docProps/app.xml" Id="R0baab0e27ce4425c" /><Relationship Type="http://schemas.openxmlformats.org/officeDocument/2006/relationships/officeDocument" Target="/ppt/presentation.xml" Id="Rfb7b7741aebe4669" /></Relationships>
</file>

<file path=ppt/presentation.xml><?xml version="1.0" encoding="utf-8"?>
<p:presentation xmlns:p="http://schemas.openxmlformats.org/presentationml/2006/main">
  <p:sldMasterIdLst>
    <p:sldMasterId xmlns:r="http://schemas.openxmlformats.org/officeDocument/2006/relationships" id="2147483648" r:id="R2f5464cbccc74d5e"/>
  </p:sldMasterIdLst>
  <p:notesMasterIdLst>
    <p:notesMasterId xmlns:r="http://schemas.openxmlformats.org/officeDocument/2006/relationships" r:id="Rdcf42f28a86b4f8a"/>
  </p:notesMasterIdLst>
  <p:sldIdLst>
    <p:sldId xmlns:r="http://schemas.openxmlformats.org/officeDocument/2006/relationships" id="256" r:id="R1b189f9b23ac4a6e"/>
    <p:sldId xmlns:r="http://schemas.openxmlformats.org/officeDocument/2006/relationships" id="257" r:id="R2e72c911b21d4677"/>
    <p:sldId xmlns:r="http://schemas.openxmlformats.org/officeDocument/2006/relationships" id="258" r:id="Re1c3894761fb42c4"/>
    <p:sldId xmlns:r="http://schemas.openxmlformats.org/officeDocument/2006/relationships" id="259" r:id="Rd125c0f8f8eb4ae8"/>
    <p:sldId xmlns:r="http://schemas.openxmlformats.org/officeDocument/2006/relationships" id="260" r:id="R4ea6aac416cf431c"/>
    <p:sldId xmlns:r="http://schemas.openxmlformats.org/officeDocument/2006/relationships" id="261" r:id="R060d8da78992440a"/>
    <p:sldId xmlns:r="http://schemas.openxmlformats.org/officeDocument/2006/relationships" id="262" r:id="R0f0818e4c2da40c8"/>
    <p:sldId xmlns:r="http://schemas.openxmlformats.org/officeDocument/2006/relationships" id="263" r:id="Rfa2ec7e9609f4ee9"/>
    <p:sldId xmlns:r="http://schemas.openxmlformats.org/officeDocument/2006/relationships" id="264" r:id="R5a325ef543fe4172"/>
    <p:sldId xmlns:r="http://schemas.openxmlformats.org/officeDocument/2006/relationships" id="265" r:id="Rd57dd9d1f8664d5c"/>
    <p:sldId xmlns:r="http://schemas.openxmlformats.org/officeDocument/2006/relationships" id="266" r:id="Rfc91f637283545f5"/>
    <p:sldId xmlns:r="http://schemas.openxmlformats.org/officeDocument/2006/relationships" id="267" r:id="R839195fb7cee49b2"/>
    <p:sldId xmlns:r="http://schemas.openxmlformats.org/officeDocument/2006/relationships" id="268" r:id="R6a390f41a1e04456"/>
    <p:sldId xmlns:r="http://schemas.openxmlformats.org/officeDocument/2006/relationships" id="269" r:id="R844468959e484a64"/>
    <p:sldId xmlns:r="http://schemas.openxmlformats.org/officeDocument/2006/relationships" id="270" r:id="Ra2864164b2fb4fa8"/>
    <p:sldId xmlns:r="http://schemas.openxmlformats.org/officeDocument/2006/relationships" id="271" r:id="R182df40641634fb6"/>
    <p:sldId xmlns:r="http://schemas.openxmlformats.org/officeDocument/2006/relationships" id="272" r:id="Rb34cb389cc76443a"/>
    <p:sldId xmlns:r="http://schemas.openxmlformats.org/officeDocument/2006/relationships" id="273" r:id="R5f467fe40742448d"/>
    <p:sldId xmlns:r="http://schemas.openxmlformats.org/officeDocument/2006/relationships" id="274" r:id="R299cdbf5efcf4242"/>
    <p:sldId xmlns:r="http://schemas.openxmlformats.org/officeDocument/2006/relationships" id="275" r:id="Rbb3642e10b824e45"/>
    <p:sldId xmlns:r="http://schemas.openxmlformats.org/officeDocument/2006/relationships" id="276" r:id="Rffbb84b3950b4fb0"/>
    <p:sldId xmlns:r="http://schemas.openxmlformats.org/officeDocument/2006/relationships" id="277" r:id="R89a081a3fd804d89"/>
    <p:sldId xmlns:r="http://schemas.openxmlformats.org/officeDocument/2006/relationships" id="278" r:id="R4ad24eb793ce4dc9"/>
    <p:sldId xmlns:r="http://schemas.openxmlformats.org/officeDocument/2006/relationships" id="279" r:id="R7a35ec6f4e6a4970"/>
    <p:sldId xmlns:r="http://schemas.openxmlformats.org/officeDocument/2006/relationships" id="280" r:id="R5827648665794199"/>
    <p:sldId xmlns:r="http://schemas.openxmlformats.org/officeDocument/2006/relationships" id="281" r:id="R7929cc53209b4e11"/>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b42bdb25cd54d7b" /><Relationship Type="http://schemas.openxmlformats.org/officeDocument/2006/relationships/slideMaster" Target="/ppt/slideMasters/slideMaster1.xml" Id="R2f5464cbccc74d5e" /><Relationship Type="http://schemas.openxmlformats.org/officeDocument/2006/relationships/notesMaster" Target="/ppt/notesMasters/notesMaster1.xml" Id="Rdcf42f28a86b4f8a" /><Relationship Type="http://schemas.openxmlformats.org/officeDocument/2006/relationships/presProps" Target="/ppt/presProps.xml" Id="R223d3e64a4e54f8e" /><Relationship Type="http://schemas.openxmlformats.org/officeDocument/2006/relationships/tableStyles" Target="/ppt/tableStyles.xml" Id="R03d7132c0171461e" /><Relationship Type="http://schemas.openxmlformats.org/officeDocument/2006/relationships/slide" Target="/ppt/slides/slide1.xml" Id="R1b189f9b23ac4a6e" /><Relationship Type="http://schemas.openxmlformats.org/officeDocument/2006/relationships/slide" Target="/ppt/slides/slide2.xml" Id="R2e72c911b21d4677" /><Relationship Type="http://schemas.openxmlformats.org/officeDocument/2006/relationships/slide" Target="/ppt/slides/slide3.xml" Id="Re1c3894761fb42c4" /><Relationship Type="http://schemas.openxmlformats.org/officeDocument/2006/relationships/slide" Target="/ppt/slides/slide4.xml" Id="Rd125c0f8f8eb4ae8" /><Relationship Type="http://schemas.openxmlformats.org/officeDocument/2006/relationships/slide" Target="/ppt/slides/slide5.xml" Id="R4ea6aac416cf431c" /><Relationship Type="http://schemas.openxmlformats.org/officeDocument/2006/relationships/slide" Target="/ppt/slides/slide6.xml" Id="R060d8da78992440a" /><Relationship Type="http://schemas.openxmlformats.org/officeDocument/2006/relationships/slide" Target="/ppt/slides/slide7.xml" Id="R0f0818e4c2da40c8" /><Relationship Type="http://schemas.openxmlformats.org/officeDocument/2006/relationships/slide" Target="/ppt/slides/slide8.xml" Id="Rfa2ec7e9609f4ee9" /><Relationship Type="http://schemas.openxmlformats.org/officeDocument/2006/relationships/slide" Target="/ppt/slides/slide9.xml" Id="R5a325ef543fe4172" /><Relationship Type="http://schemas.openxmlformats.org/officeDocument/2006/relationships/slide" Target="/ppt/slides/slide10.xml" Id="Rd57dd9d1f8664d5c" /><Relationship Type="http://schemas.openxmlformats.org/officeDocument/2006/relationships/slide" Target="/ppt/slides/slide11.xml" Id="Rfc91f637283545f5" /><Relationship Type="http://schemas.openxmlformats.org/officeDocument/2006/relationships/slide" Target="/ppt/slides/slide12.xml" Id="R839195fb7cee49b2" /><Relationship Type="http://schemas.openxmlformats.org/officeDocument/2006/relationships/slide" Target="/ppt/slides/slide13.xml" Id="R6a390f41a1e04456" /><Relationship Type="http://schemas.openxmlformats.org/officeDocument/2006/relationships/slide" Target="/ppt/slides/slide14.xml" Id="R844468959e484a64" /><Relationship Type="http://schemas.openxmlformats.org/officeDocument/2006/relationships/slide" Target="/ppt/slides/slide15.xml" Id="Ra2864164b2fb4fa8" /><Relationship Type="http://schemas.openxmlformats.org/officeDocument/2006/relationships/slide" Target="/ppt/slides/slide16.xml" Id="R182df40641634fb6" /><Relationship Type="http://schemas.openxmlformats.org/officeDocument/2006/relationships/slide" Target="/ppt/slides/slide17.xml" Id="Rb34cb389cc76443a" /><Relationship Type="http://schemas.openxmlformats.org/officeDocument/2006/relationships/slide" Target="/ppt/slides/slide18.xml" Id="R5f467fe40742448d" /><Relationship Type="http://schemas.openxmlformats.org/officeDocument/2006/relationships/slide" Target="/ppt/slides/slide19.xml" Id="R299cdbf5efcf4242" /><Relationship Type="http://schemas.openxmlformats.org/officeDocument/2006/relationships/slide" Target="/ppt/slides/slide20.xml" Id="Rbb3642e10b824e45" /><Relationship Type="http://schemas.openxmlformats.org/officeDocument/2006/relationships/slide" Target="/ppt/slides/slide21.xml" Id="Rffbb84b3950b4fb0" /><Relationship Type="http://schemas.openxmlformats.org/officeDocument/2006/relationships/slide" Target="/ppt/slides/slide22.xml" Id="R89a081a3fd804d89" /><Relationship Type="http://schemas.openxmlformats.org/officeDocument/2006/relationships/slide" Target="/ppt/slides/slide23.xml" Id="R4ad24eb793ce4dc9" /><Relationship Type="http://schemas.openxmlformats.org/officeDocument/2006/relationships/slide" Target="/ppt/slides/slide24.xml" Id="R7a35ec6f4e6a4970" /><Relationship Type="http://schemas.openxmlformats.org/officeDocument/2006/relationships/slide" Target="/ppt/slides/slide25.xml" Id="R5827648665794199" /><Relationship Type="http://schemas.openxmlformats.org/officeDocument/2006/relationships/slide" Target="/ppt/slides/slide26.xml" Id="R7929cc53209b4e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97811db84a6406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2bab5cd519145ed" /><Relationship Type="http://schemas.openxmlformats.org/officeDocument/2006/relationships/notesMaster" Target="/ppt/notesMasters/notesMaster1.xml" Id="R3ac200013c024a5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cd3d8a84e704296" /><Relationship Type="http://schemas.openxmlformats.org/officeDocument/2006/relationships/notesMaster" Target="/ppt/notesMasters/notesMaster1.xml" Id="Rdd7ad5fe20924855" /></Relationships>
</file>

<file path=ppt/notesSlides/_rels/notesSlide3.xml.rels>&#65279;<?xml version="1.0" encoding="utf-8"?><Relationships xmlns="http://schemas.openxmlformats.org/package/2006/relationships"><Relationship Type="http://schemas.openxmlformats.org/officeDocument/2006/relationships/slide" Target="/ppt/slides/slide3.xml" Id="Rec265757dc334818" /><Relationship Type="http://schemas.openxmlformats.org/officeDocument/2006/relationships/notesMaster" Target="/ppt/notesMasters/notesMaster1.xml" Id="Rf514d3fd1e614c9c" /></Relationships>
</file>

<file path=ppt/notesSlides/_rels/notesSlide4.xml.rels>&#65279;<?xml version="1.0" encoding="utf-8"?><Relationships xmlns="http://schemas.openxmlformats.org/package/2006/relationships"><Relationship Type="http://schemas.openxmlformats.org/officeDocument/2006/relationships/slide" Target="/ppt/slides/slide4.xml" Id="Rd4f8443cf4314cdc" /><Relationship Type="http://schemas.openxmlformats.org/officeDocument/2006/relationships/notesMaster" Target="/ppt/notesMasters/notesMaster1.xml" Id="R8c2912cd2ffe4aa4" /></Relationships>
</file>

<file path=ppt/notesSlides/_rels/notesSlide5.xml.rels>&#65279;<?xml version="1.0" encoding="utf-8"?><Relationships xmlns="http://schemas.openxmlformats.org/package/2006/relationships"><Relationship Type="http://schemas.openxmlformats.org/officeDocument/2006/relationships/slide" Target="/ppt/slides/slide5.xml" Id="R436544c8463c4113" /><Relationship Type="http://schemas.openxmlformats.org/officeDocument/2006/relationships/notesMaster" Target="/ppt/notesMasters/notesMaster1.xml" Id="Rdcba3e7b6c4c46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06f7cac8db124ce3" /><Relationship Type="http://schemas.openxmlformats.org/officeDocument/2006/relationships/notesMaster" Target="/ppt/notesMasters/notesMaster1.xml" Id="R334d8ceae0e64c77" /></Relationships>
</file>

<file path=ppt/notesSlides/_rels/notesSlide7.xml.rels>&#65279;<?xml version="1.0" encoding="utf-8"?><Relationships xmlns="http://schemas.openxmlformats.org/package/2006/relationships"><Relationship Type="http://schemas.openxmlformats.org/officeDocument/2006/relationships/slide" Target="/ppt/slides/slide7.xml" Id="R7f8199b2320d48fe" /><Relationship Type="http://schemas.openxmlformats.org/officeDocument/2006/relationships/notesMaster" Target="/ppt/notesMasters/notesMaster1.xml" Id="R8d525210e6df4bff" /></Relationships>
</file>

<file path=ppt/notesSlides/_rels/notesSlide8.xml.rels>&#65279;<?xml version="1.0" encoding="utf-8"?><Relationships xmlns="http://schemas.openxmlformats.org/package/2006/relationships"><Relationship Type="http://schemas.openxmlformats.org/officeDocument/2006/relationships/slide" Target="/ppt/slides/slide8.xml" Id="Ra645b67bec494f77" /><Relationship Type="http://schemas.openxmlformats.org/officeDocument/2006/relationships/notesMaster" Target="/ppt/notesMasters/notesMaster1.xml" Id="Rafac87d7cabb4602" /></Relationships>
</file>

<file path=ppt/notesSlides/_rels/notesSlide9.xml.rels>&#65279;<?xml version="1.0" encoding="utf-8"?><Relationships xmlns="http://schemas.openxmlformats.org/package/2006/relationships"><Relationship Type="http://schemas.openxmlformats.org/officeDocument/2006/relationships/slide" Target="/ppt/slides/slide9.xml" Id="R0afea7a6794c41b5" /><Relationship Type="http://schemas.openxmlformats.org/officeDocument/2006/relationships/notesMaster" Target="/ppt/notesMasters/notesMaster1.xml" Id="Ra33e0995697646e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73822bc38ba4ea9" /><Relationship Type="http://schemas.openxmlformats.org/officeDocument/2006/relationships/notesMaster" Target="/ppt/notesMasters/notesMaster1.xml" Id="R33af325593264b8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aa19a03d4224aa9" /><Relationship Type="http://schemas.openxmlformats.org/officeDocument/2006/relationships/notesMaster" Target="/ppt/notesMasters/notesMaster1.xml" Id="R66e0e9d6e629436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21f49be910141d1" /><Relationship Type="http://schemas.openxmlformats.org/officeDocument/2006/relationships/notesMaster" Target="/ppt/notesMasters/notesMaster1.xml" Id="R9a0f8c3838374a6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f12112791704c89" /><Relationship Type="http://schemas.openxmlformats.org/officeDocument/2006/relationships/notesMaster" Target="/ppt/notesMasters/notesMaster1.xml" Id="Rae9592b2820048c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27785b9d0d74296" /><Relationship Type="http://schemas.openxmlformats.org/officeDocument/2006/relationships/notesMaster" Target="/ppt/notesMasters/notesMaster1.xml" Id="R983885a0b3b5429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07fdfa89c9247a9" /><Relationship Type="http://schemas.openxmlformats.org/officeDocument/2006/relationships/notesMaster" Target="/ppt/notesMasters/notesMaster1.xml" Id="R5160e7d8221c427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9b4dcabeaa74eb6" /><Relationship Type="http://schemas.openxmlformats.org/officeDocument/2006/relationships/notesMaster" Target="/ppt/notesMasters/notesMaster1.xml" Id="R70589c2592a049e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6ba367ba08a4b95" /><Relationship Type="http://schemas.openxmlformats.org/officeDocument/2006/relationships/notesMaster" Target="/ppt/notesMasters/notesMaster1.xml" Id="R300c518ee801462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8fea27f93b048aa" /><Relationship Type="http://schemas.openxmlformats.org/officeDocument/2006/relationships/notesMaster" Target="/ppt/notesMasters/notesMaster1.xml" Id="R8552265a067944d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0bc10933163499e" /><Relationship Type="http://schemas.openxmlformats.org/officeDocument/2006/relationships/notesMaster" Target="/ppt/notesMasters/notesMaster1.xml" Id="R75627a76de944fb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051dd0e20934e1c" /><Relationship Type="http://schemas.openxmlformats.org/officeDocument/2006/relationships/notesMaster" Target="/ppt/notesMasters/notesMaster1.xml" Id="R577906167e064d0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7aa9e298faf4830" /><Relationship Type="http://schemas.openxmlformats.org/officeDocument/2006/relationships/notesMaster" Target="/ppt/notesMasters/notesMaster1.xml" Id="Rbd5780a9f9a44c5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d32de969e64477a" /><Relationship Type="http://schemas.openxmlformats.org/officeDocument/2006/relationships/notesMaster" Target="/ppt/notesMasters/notesMaster1.xml" Id="R05eab7b2466344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2352453c2fa44fd" /><Relationship Type="http://schemas.openxmlformats.org/officeDocument/2006/relationships/notesMaster" Target="/ppt/notesMasters/notesMaster1.xml" Id="R7ce2bce0bba4444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b46794bc5c04021" /><Relationship Type="http://schemas.openxmlformats.org/officeDocument/2006/relationships/notesMaster" Target="/ppt/notesMasters/notesMaster1.xml" Id="R346380bbb9ae4f4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60232eb51764073" /><Relationship Type="http://schemas.openxmlformats.org/officeDocument/2006/relationships/notesMaster" Target="/ppt/notesMasters/notesMaster1.xml" Id="R773cecc96dcd4fc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029783e791a463c" /><Relationship Type="http://schemas.openxmlformats.org/officeDocument/2006/relationships/notesMaster" Target="/ppt/notesMasters/notesMaster1.xml" Id="R2d9fbdf8696647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vergelijking lukt al en waarvoor heb je p. 70 nodig?</a:t>
            </a:r>
          </a:p>
          <a:p xmlns:a="http://schemas.openxmlformats.org/drawingml/2006/main">
            <a:r>
              <a:rPr sz="1400"/>
              <a:t/>
            </a:r>
          </a:p>
          <a:p xmlns:a="http://schemas.openxmlformats.org/drawingml/2006/main">
            <a:r>
              <a:rPr sz="1400"/>
              <a:t>Uitleg: Laat dit overzicht staan tijdens startopdracht. Start20–21 op p73; basis22 op p73 en23–24 op p74; zelfstandig25 op p75 en26 op p76; doel27 op p77. Huiswerk22,23,24,25,26,27 maken en nakijken. Bonus28 en herhaling29–30 extra. Reserveer volgens de docenthandleiding voorlopig twee lessen, met flexibele grens; geen bewezen lesduur. Alle drie basisopgaven blijven in de normale route.</a:t>
            </a:r>
          </a:p>
          <a:p xmlns:a="http://schemas.openxmlformats.org/drawingml/2006/main">
            <a:r>
              <a:rPr sz="1400"/>
              <a:t/>
            </a:r>
          </a:p>
          <a:p xmlns:a="http://schemas.openxmlformats.org/drawingml/2006/main">
            <a:r>
              <a:rPr sz="1400"/>
              <a:t>Start20 haalt TO=Pq,GTK=TK/q en TO−TK op. Voor20b geldt de eindige tabelstap ΔTK/Δq uit §3.2.2, p62–64. Start21 vraagt de NIEUWE economische keuze met MO en MK. Laat p70 lezen, de twee richtingen aanwijzen en de eerste redenering proberen. Dit is ondersteunde verkenning. Keer vóór basiswerk terug naar21 en laat de redenering na de uitleg verbeteren. Differentieer waar nodig pas met hulp uit p63.</a:t>
            </a:r>
          </a:p>
          <a:p xmlns:a="http://schemas.openxmlformats.org/drawingml/2006/main">
            <a:r>
              <a:rPr sz="1400"/>
              <a:t/>
            </a:r>
          </a:p>
          <a:p xmlns:a="http://schemas.openxmlformats.org/drawingml/2006/main">
            <a:r>
              <a:rPr sz="1400"/>
              <a:t>Misvatting: Een afgeleide kunnen bepalen betekent niet dat de economische maximumregel al is geleerd.</a:t>
            </a:r>
          </a:p>
          <a:p xmlns:a="http://schemas.openxmlformats.org/drawingml/2006/main">
            <a:r>
              <a:rPr sz="1400"/>
              <a:t/>
            </a:r>
          </a:p>
          <a:p xmlns:a="http://schemas.openxmlformats.org/drawingml/2006/main">
            <a:r>
              <a:rPr sz="1400"/>
              <a:t>Overgang: Ga naar de volgende lesfase.</a:t>
            </a:r>
          </a:p>
          <a:p xmlns:a="http://schemas.openxmlformats.org/drawingml/2006/main">
            <a:r>
              <a:rPr sz="1400"/>
              <a:t/>
            </a:r>
          </a:p>
          <a:p xmlns:a="http://schemas.openxmlformats.org/drawingml/2006/main">
            <a:r>
              <a:rPr sz="1400"/>
              <a:t>Bron: Boek 3, geselecteerde v3-editie, gedrukte boekpagina 69–77. https://github.com/meijer1973/4veco-lessen/blob/9b8304d5031cafac936a56281e144573a25fbbc9/edities/books34-v3/books/book-3/output/Boek_3_Compleet_v3.pdf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alleen een snijpunt vinden onvoldoende?</a:t>
            </a:r>
          </a:p>
          <a:p xmlns:a="http://schemas.openxmlformats.org/drawingml/2006/main">
            <a:r>
              <a:rPr sz="1400"/>
              <a:t/>
            </a:r>
          </a:p>
          <a:p xmlns:a="http://schemas.openxmlformats.org/drawingml/2006/main">
            <a:r>
              <a:rPr sz="1400"/>
              <a:t>Uitleg: De afgeleide is voorkennis uit §3.2.2. Nieuw is de economische keuze en de winstvoorstelling. Laat leerlingen de werkwijze verbinden aan doelopgave27.</a:t>
            </a:r>
          </a:p>
          <a:p xmlns:a="http://schemas.openxmlformats.org/drawingml/2006/main">
            <a:r>
              <a:rPr sz="1400"/>
              <a:t/>
            </a:r>
          </a:p>
          <a:p xmlns:a="http://schemas.openxmlformats.org/drawingml/2006/main">
            <a:r>
              <a:rPr sz="1400"/>
              <a:t>Misvatting: De capaciteit kan de kandidaat onhaalbaar maken.</a:t>
            </a:r>
          </a:p>
          <a:p xmlns:a="http://schemas.openxmlformats.org/drawingml/2006/main">
            <a:r>
              <a:rPr sz="1400"/>
              <a:t/>
            </a:r>
          </a:p>
          <a:p xmlns:a="http://schemas.openxmlformats.org/drawingml/2006/main">
            <a:r>
              <a:rPr sz="1400"/>
              <a:t>Overgang: Introduceer een afzonderlijk uitlegvoorbeeld.</a:t>
            </a:r>
          </a:p>
          <a:p xmlns:a="http://schemas.openxmlformats.org/drawingml/2006/main">
            <a:r>
              <a:rPr sz="1400"/>
              <a:t/>
            </a:r>
          </a:p>
          <a:p xmlns:a="http://schemas.openxmlformats.org/drawingml/2006/main">
            <a:r>
              <a:rPr sz="1400"/>
              <a:t>Bron: Boek 3, geselecteerde v3-editie, gedrukte boekpagina 69–72. https://github.com/meijer1973/4veco-lessen/blob/9b8304d5031cafac936a56281e144573a25fbbc9/edities/books34-v3/books/book-3/output/Boek_3_Compleet_v3.pdf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keuze heeft een prijsnemende onderneming nog?</a:t>
            </a:r>
          </a:p>
          <a:p xmlns:a="http://schemas.openxmlformats.org/drawingml/2006/main">
            <a:r>
              <a:rPr sz="1400"/>
              <a:t/>
            </a:r>
          </a:p>
          <a:p xmlns:a="http://schemas.openxmlformats.org/drawingml/2006/main">
            <a:r>
              <a:rPr sz="1400"/>
              <a:t>Uitleg: Eigen context en data, niet uit een toegewezen opgave. Dit voorbeeld introduceert alle handelingen die later in27 nodig zijn. De volledige normale oefenroute blijft zelfstandig te maken.</a:t>
            </a:r>
          </a:p>
          <a:p xmlns:a="http://schemas.openxmlformats.org/drawingml/2006/main">
            <a:r>
              <a:rPr sz="1400"/>
              <a:t/>
            </a:r>
          </a:p>
          <a:p xmlns:a="http://schemas.openxmlformats.org/drawingml/2006/main">
            <a:r>
              <a:rPr sz="1400"/>
              <a:t>Misvatting: P is per kg; TK is per week.</a:t>
            </a:r>
          </a:p>
          <a:p xmlns:a="http://schemas.openxmlformats.org/drawingml/2006/main">
            <a:r>
              <a:rPr sz="1400"/>
              <a:t/>
            </a:r>
          </a:p>
          <a:p xmlns:a="http://schemas.openxmlformats.org/drawingml/2006/main">
            <a:r>
              <a:rPr sz="1400"/>
              <a:t>Overgang: Haal de afgeleide kort terug.</a:t>
            </a:r>
          </a:p>
          <a:p xmlns:a="http://schemas.openxmlformats.org/drawingml/2006/main">
            <a:r>
              <a:rPr sz="1400"/>
              <a:t/>
            </a:r>
          </a:p>
          <a:p xmlns:a="http://schemas.openxmlformats.org/drawingml/2006/main">
            <a:r>
              <a:rPr sz="1400"/>
              <a:t>Bron: Boek 3, geselecteerde v3-editie, gedrukte boekpagina 69–72. https://github.com/meijer1973/4veco-lessen/blob/9b8304d5031cafac936a56281e144573a25fbbc9/edities/books34-v3/books/book-3/output/Boek_3_Compleet_v3.pdf</a:t>
            </a:r>
          </a:p>
          <a:p xmlns:a="http://schemas.openxmlformats.org/drawingml/2006/main">
            <a:r>
              <a:rPr sz="1400"/>
              <a:t>Uitlegvoorbeeld — niet uit het boek. Context, kosten en marktvergelijkingen zijn voor deze les bedacht; de genoemde boekpagina’s onderbouwen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onderbouwt je antwoord?</a:t>
            </a:r>
          </a:p>
          <a:p xmlns:a="http://schemas.openxmlformats.org/drawingml/2006/main">
            <a:r>
              <a:rPr sz="1400"/>
              <a:t/>
            </a:r>
          </a:p>
          <a:p xmlns:a="http://schemas.openxmlformats.org/drawingml/2006/main">
            <a:r>
              <a:rPr sz="1400"/>
              <a:t>Uitleg: TK = 0,04q² + 2q + 100 MK = 0,08q + 2     (€ per kg) De constante € 100 verdwijnt uit MK, maar blijft in TK. Benoem de eenheden en vraag naar de reden achter elke stap.</a:t>
            </a:r>
          </a:p>
          <a:p xmlns:a="http://schemas.openxmlformats.org/drawingml/2006/main">
            <a:r>
              <a:rPr sz="1400"/>
              <a:t/>
            </a:r>
          </a:p>
          <a:p xmlns:a="http://schemas.openxmlformats.org/drawingml/2006/main">
            <a:r>
              <a:rPr sz="1400"/>
              <a:t>Misvatting: Gebruik voor start20b de gemiddelde tabelstap; hier gebruik je de afgeleide op een punt.</a:t>
            </a:r>
          </a:p>
          <a:p xmlns:a="http://schemas.openxmlformats.org/drawingml/2006/main">
            <a:r>
              <a:rPr sz="1400"/>
              <a:t/>
            </a:r>
          </a:p>
          <a:p xmlns:a="http://schemas.openxmlformats.org/drawingml/2006/main">
            <a:r>
              <a:rPr sz="1400"/>
              <a:t>Overgang: Gebruik MK nu voor een nieuwe economische keuze.</a:t>
            </a:r>
          </a:p>
          <a:p xmlns:a="http://schemas.openxmlformats.org/drawingml/2006/main">
            <a:r>
              <a:rPr sz="1400"/>
              <a:t/>
            </a:r>
          </a:p>
          <a:p xmlns:a="http://schemas.openxmlformats.org/drawingml/2006/main">
            <a:r>
              <a:rPr sz="1400"/>
              <a:t>Bron: Boek 3, geselecteerde v3-editie, gedrukte boekpagina 62–64. https://github.com/meijer1973/4veco-lessen/blob/9b8304d5031cafac936a56281e144573a25fbbc9/edities/books34-v3/books/book-3/output/Boek_3_Compleet_v3.pdf</a:t>
            </a:r>
          </a:p>
          <a:p xmlns:a="http://schemas.openxmlformats.org/drawingml/2006/main">
            <a:r>
              <a:rPr sz="1400"/>
              <a:t>Uitlegvoorbeeld — niet uit het boek. Context, kosten en marktvergelijkingen zijn voor deze les bedacht; de genoemde boekpagina’s onderbouwen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kan meer omzet toch samengaan met minder winst?</a:t>
            </a:r>
          </a:p>
          <a:p xmlns:a="http://schemas.openxmlformats.org/drawingml/2006/main">
            <a:r>
              <a:rPr sz="1400"/>
              <a:t/>
            </a:r>
          </a:p>
          <a:p xmlns:a="http://schemas.openxmlformats.org/drawingml/2006/main">
            <a:r>
              <a:rPr sz="1400"/>
              <a:t>Uitleg: MK(50)=6; MK(75)=8; MK(90)=9,20. Het gaat om een heel kleine verandering, niet een exact kostbedrag voor één hele extra kg. Alle vergelijkingen liggen binnen de capaciteit van 100 kg. Rechts van 75 kg is inkrimpen gunstig.</a:t>
            </a:r>
          </a:p>
          <a:p xmlns:a="http://schemas.openxmlformats.org/drawingml/2006/main">
            <a:r>
              <a:rPr sz="1400"/>
              <a:t/>
            </a:r>
          </a:p>
          <a:p xmlns:a="http://schemas.openxmlformats.org/drawingml/2006/main">
            <a:r>
              <a:rPr sz="1400"/>
              <a:t>Misvatting: Hogere TO alleen bewijst geen hogere winst.</a:t>
            </a:r>
          </a:p>
          <a:p xmlns:a="http://schemas.openxmlformats.org/drawingml/2006/main">
            <a:r>
              <a:rPr sz="1400"/>
              <a:t/>
            </a:r>
          </a:p>
          <a:p xmlns:a="http://schemas.openxmlformats.org/drawingml/2006/main">
            <a:r>
              <a:rPr sz="1400"/>
              <a:t>Overgang: Vind de kandidaat met MO = MK en controleer beide kanten.</a:t>
            </a:r>
          </a:p>
          <a:p xmlns:a="http://schemas.openxmlformats.org/drawingml/2006/main">
            <a:r>
              <a:rPr sz="1400"/>
              <a:t/>
            </a:r>
          </a:p>
          <a:p xmlns:a="http://schemas.openxmlformats.org/drawingml/2006/main">
            <a:r>
              <a:rPr sz="1400"/>
              <a:t>Bron: Boek 3, geselecteerde v3-editie, gedrukte boekpagina 69–70. https://github.com/meijer1973/4veco-lessen/blob/9b8304d5031cafac936a56281e144573a25fbbc9/edities/books34-v3/books/book-3/output/Boek_3_Compleet_v3.pdf</a:t>
            </a:r>
          </a:p>
          <a:p xmlns:a="http://schemas.openxmlformats.org/drawingml/2006/main">
            <a:r>
              <a:rPr sz="1400"/>
              <a:t>Uitlegvoorbeeld — niet uit het boek. Context, kosten en marktvergelijkingen zijn voor deze les bedacht; de genoemde boekpagina’s onderbouwen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hoogte en breedte horen bij deze productie?</a:t>
            </a:r>
          </a:p>
          <a:p xmlns:a="http://schemas.openxmlformats.org/drawingml/2006/main">
            <a:r>
              <a:rPr sz="1400"/>
              <a:t/>
            </a:r>
          </a:p>
          <a:p xmlns:a="http://schemas.openxmlformats.org/drawingml/2006/main">
            <a:r>
              <a:rPr sz="1400"/>
              <a:t>Uitleg: Grafiek van het afzonderlijke uitlegvoorbeeld. P=8; MK = 0.08q+2; capaciteit100. De afleeslijn markeert q = 75.    8 = 0,08q + 2 q = 75 kg/week MK stijgt door MO.</a:t>
            </a:r>
          </a:p>
          <a:p xmlns:a="http://schemas.openxmlformats.org/drawingml/2006/main">
            <a:r>
              <a:rPr sz="1400"/>
              <a:t>75 ≤ 100: haalbaar.</a:t>
            </a:r>
          </a:p>
          <a:p xmlns:a="http://schemas.openxmlformats.org/drawingml/2006/main">
            <a:r>
              <a:rPr sz="1400"/>
              <a:t/>
            </a:r>
          </a:p>
          <a:p xmlns:a="http://schemas.openxmlformats.org/drawingml/2006/main">
            <a:r>
              <a:rPr sz="1400"/>
              <a:t>Misvatting: Het snijpunt van MO en MK is een bedrag per kg; het is niet de totale winst.</a:t>
            </a:r>
          </a:p>
          <a:p xmlns:a="http://schemas.openxmlformats.org/drawingml/2006/main">
            <a:r>
              <a:rPr sz="1400"/>
              <a:t/>
            </a:r>
          </a:p>
          <a:p xmlns:a="http://schemas.openxmlformats.org/drawingml/2006/main">
            <a:r>
              <a:rPr sz="1400"/>
              <a:t>Overgang: Gebruik de figuur om de berekening te verklaren.</a:t>
            </a:r>
          </a:p>
          <a:p xmlns:a="http://schemas.openxmlformats.org/drawingml/2006/main">
            <a:r>
              <a:rPr sz="1400"/>
              <a:t/>
            </a:r>
          </a:p>
          <a:p xmlns:a="http://schemas.openxmlformats.org/drawingml/2006/main">
            <a:r>
              <a:rPr sz="1400"/>
              <a:t>Bron: Boek 3, geselecteerde v3-editie, gedrukte boekpagina 70–72. https://github.com/meijer1973/4veco-lessen/blob/9b8304d5031cafac936a56281e144573a25fbbc9/edities/books34-v3/books/book-3/output/Boek_3_Compleet_v3.pdf</a:t>
            </a:r>
          </a:p>
          <a:p xmlns:a="http://schemas.openxmlformats.org/drawingml/2006/main">
            <a:r>
              <a:rPr sz="1400"/>
              <a:t>Uitlegvoorbeeld — niet uit het boek. Context, kosten en marktvergelijkingen zijn voor deze les bedacht; de genoemde boekpagina’s onderbouwen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onderbouwt je antwoord?</a:t>
            </a:r>
          </a:p>
          <a:p xmlns:a="http://schemas.openxmlformats.org/drawingml/2006/main">
            <a:r>
              <a:rPr sz="1400"/>
              <a:t/>
            </a:r>
          </a:p>
          <a:p xmlns:a="http://schemas.openxmlformats.org/drawingml/2006/main">
            <a:r>
              <a:rPr sz="1400"/>
              <a:t>Uitleg: TO = 8 × 75 = € 600 per week TK = 0,04 × 75² + 2 × 75 + 100 = € 475 per week Winst = 600 − 475 = € 125 per week Benoem de eenheden en vraag naar de reden achter elke stap.</a:t>
            </a:r>
          </a:p>
          <a:p xmlns:a="http://schemas.openxmlformats.org/drawingml/2006/main">
            <a:r>
              <a:rPr sz="1400"/>
              <a:t/>
            </a:r>
          </a:p>
          <a:p xmlns:a="http://schemas.openxmlformats.org/drawingml/2006/main">
            <a:r>
              <a:rPr sz="1400"/>
              <a:t>Misvatting: De constante100 blijft in de totale kosten.</a:t>
            </a:r>
          </a:p>
          <a:p xmlns:a="http://schemas.openxmlformats.org/drawingml/2006/main">
            <a:r>
              <a:rPr sz="1400"/>
              <a:t/>
            </a:r>
          </a:p>
          <a:p xmlns:a="http://schemas.openxmlformats.org/drawingml/2006/main">
            <a:r>
              <a:rPr sz="1400"/>
              <a:t>Overgang: Verdeel TK over dezelfde75 kg.</a:t>
            </a:r>
          </a:p>
          <a:p xmlns:a="http://schemas.openxmlformats.org/drawingml/2006/main">
            <a:r>
              <a:rPr sz="1400"/>
              <a:t/>
            </a:r>
          </a:p>
          <a:p xmlns:a="http://schemas.openxmlformats.org/drawingml/2006/main">
            <a:r>
              <a:rPr sz="1400"/>
              <a:t>Bron: Boek 3, geselecteerde v3-editie, gedrukte boekpagina 69–72. https://github.com/meijer1973/4veco-lessen/blob/9b8304d5031cafac936a56281e144573a25fbbc9/edities/books34-v3/books/book-3/output/Boek_3_Compleet_v3.pdf</a:t>
            </a:r>
          </a:p>
          <a:p xmlns:a="http://schemas.openxmlformats.org/drawingml/2006/main">
            <a:r>
              <a:rPr sz="1400"/>
              <a:t>Uitlegvoorbeeld — niet uit het boek. Context, kosten en marktvergelijkingen zijn voor deze les bedacht; de genoemde boekpagina’s onderbouwen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onderbouwt je antwoord?</a:t>
            </a:r>
          </a:p>
          <a:p xmlns:a="http://schemas.openxmlformats.org/drawingml/2006/main">
            <a:r>
              <a:rPr sz="1400"/>
              <a:t/>
            </a:r>
          </a:p>
          <a:p xmlns:a="http://schemas.openxmlformats.org/drawingml/2006/main">
            <a:r>
              <a:rPr sz="1400"/>
              <a:t>Uitleg: GTK = 475 / 75 = € 6,333… per kg P − GTK = 8 − 6,333… = € 1,666… per kg Winst = 75 × (8 − 475 / 75) = € 125 per week Benoem de eenheden en vraag naar de reden achter elke stap.</a:t>
            </a:r>
          </a:p>
          <a:p xmlns:a="http://schemas.openxmlformats.org/drawingml/2006/main">
            <a:r>
              <a:rPr sz="1400"/>
              <a:t/>
            </a:r>
          </a:p>
          <a:p xmlns:a="http://schemas.openxmlformats.org/drawingml/2006/main">
            <a:r>
              <a:rPr sz="1400"/>
              <a:t>Misvatting: Rond de GTK niet af voordat je vermenigvuldigt. Gebruik zo nodig TO−TK.</a:t>
            </a:r>
          </a:p>
          <a:p xmlns:a="http://schemas.openxmlformats.org/drawingml/2006/main">
            <a:r>
              <a:rPr sz="1400"/>
              <a:t/>
            </a:r>
          </a:p>
          <a:p xmlns:a="http://schemas.openxmlformats.org/drawingml/2006/main">
            <a:r>
              <a:rPr sz="1400"/>
              <a:t>Overgang: Maak de breedte en hoogte zichtbaar in de grafiek.</a:t>
            </a:r>
          </a:p>
          <a:p xmlns:a="http://schemas.openxmlformats.org/drawingml/2006/main">
            <a:r>
              <a:rPr sz="1400"/>
              <a:t/>
            </a:r>
          </a:p>
          <a:p xmlns:a="http://schemas.openxmlformats.org/drawingml/2006/main">
            <a:r>
              <a:rPr sz="1400"/>
              <a:t>Bron: Boek 3, geselecteerde v3-editie, gedrukte boekpagina 71–72. https://github.com/meijer1973/4veco-lessen/blob/9b8304d5031cafac936a56281e144573a25fbbc9/edities/books34-v3/books/book-3/output/Boek_3_Compleet_v3.pdf</a:t>
            </a:r>
          </a:p>
          <a:p xmlns:a="http://schemas.openxmlformats.org/drawingml/2006/main">
            <a:r>
              <a:rPr sz="1400"/>
              <a:t>Uitlegvoorbeeld — niet uit het boek. Context, kosten en marktvergelijkingen zijn voor deze les bedacht; de genoemde boekpagina’s onderbouwen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hoogte en breedte horen bij deze productie?</a:t>
            </a:r>
          </a:p>
          <a:p xmlns:a="http://schemas.openxmlformats.org/drawingml/2006/main">
            <a:r>
              <a:rPr sz="1400"/>
              <a:t/>
            </a:r>
          </a:p>
          <a:p xmlns:a="http://schemas.openxmlformats.org/drawingml/2006/main">
            <a:r>
              <a:rPr sz="1400"/>
              <a:t>Uitleg: Grafiek van het afzonderlijke uitlegvoorbeeld. P=8; MK = 0.08q+2; capaciteit100. De afleeslijn markeert q = 75. GTK = TK/q; lees de hoogte bij DEZELFDE gekozen q. De bewerkbare arcering ligt tussen GTK(q*) en P, over de breedte q*. Eenheid: (kg/week) × (€/kg) = €/week. De schaal en grafiek zijn exact dezelfde als zonder arcering.  Winst = € 125</a:t>
            </a:r>
          </a:p>
          <a:p xmlns:a="http://schemas.openxmlformats.org/drawingml/2006/main">
            <a:r>
              <a:rPr sz="1400"/>
              <a:t>per week Breedte: 75 kg/week Hoogte:</a:t>
            </a:r>
          </a:p>
          <a:p xmlns:a="http://schemas.openxmlformats.org/drawingml/2006/main">
            <a:r>
              <a:rPr sz="1400"/>
              <a:t>€ 1,666… per kg</a:t>
            </a:r>
          </a:p>
          <a:p xmlns:a="http://schemas.openxmlformats.org/drawingml/2006/main">
            <a:r>
              <a:rPr sz="1400"/>
              <a:t/>
            </a:r>
          </a:p>
          <a:p xmlns:a="http://schemas.openxmlformats.org/drawingml/2006/main">
            <a:r>
              <a:rPr sz="1400"/>
              <a:t>Misvatting: Het snijpunt van MO en MK is een bedrag per kg; het is niet de totale winst.</a:t>
            </a:r>
          </a:p>
          <a:p xmlns:a="http://schemas.openxmlformats.org/drawingml/2006/main">
            <a:r>
              <a:rPr sz="1400"/>
              <a:t/>
            </a:r>
          </a:p>
          <a:p xmlns:a="http://schemas.openxmlformats.org/drawingml/2006/main">
            <a:r>
              <a:rPr sz="1400"/>
              <a:t>Overgang: Gebruik de figuur om de berekening te verklaren.</a:t>
            </a:r>
          </a:p>
          <a:p xmlns:a="http://schemas.openxmlformats.org/drawingml/2006/main">
            <a:r>
              <a:rPr sz="1400"/>
              <a:t/>
            </a:r>
          </a:p>
          <a:p xmlns:a="http://schemas.openxmlformats.org/drawingml/2006/main">
            <a:r>
              <a:rPr sz="1400"/>
              <a:t>Bron: Boek 3, geselecteerde v3-editie, gedrukte boekpagina 70–72. https://github.com/meijer1973/4veco-lessen/blob/9b8304d5031cafac936a56281e144573a25fbbc9/edities/books34-v3/books/book-3/output/Boek_3_Compleet_v3.pdf</a:t>
            </a:r>
          </a:p>
          <a:p xmlns:a="http://schemas.openxmlformats.org/drawingml/2006/main">
            <a:r>
              <a:rPr sz="1400"/>
              <a:t>Uitlegvoorbeeld — niet uit het boek. Context, kosten en marktvergelijkingen zijn voor deze les bedacht; de genoemde boekpagina’s onderbouwen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hoogte en breedte horen bij deze productie?</a:t>
            </a:r>
          </a:p>
          <a:p xmlns:a="http://schemas.openxmlformats.org/drawingml/2006/main">
            <a:r>
              <a:rPr sz="1400"/>
              <a:t/>
            </a:r>
          </a:p>
          <a:p xmlns:a="http://schemas.openxmlformats.org/drawingml/2006/main">
            <a:r>
              <a:rPr sz="1400"/>
              <a:t>Uitleg: Grafiek van het afzonderlijke uitlegvoorbeeld. P=8; MK = 0.08q+2; capaciteit100.    De nieuwe grens is 60 kg/week. De oorspronkelijke kostenlijn is alleen referentie buiten die grens; productie rechts van de grens is nu onhaalbaar. 75 kg is onhaalbaar. MK(60) = € 6,80</a:t>
            </a:r>
          </a:p>
          <a:p xmlns:a="http://schemas.openxmlformats.org/drawingml/2006/main">
            <a:r>
              <a:rPr sz="1400"/>
              <a:t>MO = € 8 per kg Winst stijgt tot 60.</a:t>
            </a:r>
          </a:p>
          <a:p xmlns:a="http://schemas.openxmlformats.org/drawingml/2006/main">
            <a:r>
              <a:rPr sz="1400"/>
              <a:t>Dus q = 60 kg/week.</a:t>
            </a:r>
          </a:p>
          <a:p xmlns:a="http://schemas.openxmlformats.org/drawingml/2006/main">
            <a:r>
              <a:rPr sz="1400"/>
              <a:t/>
            </a:r>
          </a:p>
          <a:p xmlns:a="http://schemas.openxmlformats.org/drawingml/2006/main">
            <a:r>
              <a:rPr sz="1400"/>
              <a:t>Misvatting: Het snijpunt van MO en MK is een bedrag per kg; het is niet de totale winst.</a:t>
            </a:r>
          </a:p>
          <a:p xmlns:a="http://schemas.openxmlformats.org/drawingml/2006/main">
            <a:r>
              <a:rPr sz="1400"/>
              <a:t/>
            </a:r>
          </a:p>
          <a:p xmlns:a="http://schemas.openxmlformats.org/drawingml/2006/main">
            <a:r>
              <a:rPr sz="1400"/>
              <a:t>Overgang: Gebruik de figuur om de berekening te verklaren.</a:t>
            </a:r>
          </a:p>
          <a:p xmlns:a="http://schemas.openxmlformats.org/drawingml/2006/main">
            <a:r>
              <a:rPr sz="1400"/>
              <a:t/>
            </a:r>
          </a:p>
          <a:p xmlns:a="http://schemas.openxmlformats.org/drawingml/2006/main">
            <a:r>
              <a:rPr sz="1400"/>
              <a:t>Bron: Boek 3, geselecteerde v3-editie, gedrukte boekpagina 70–72. https://github.com/meijer1973/4veco-lessen/blob/9b8304d5031cafac936a56281e144573a25fbbc9/edities/books34-v3/books/book-3/output/Boek_3_Compleet_v3.pdf</a:t>
            </a:r>
          </a:p>
          <a:p xmlns:a="http://schemas.openxmlformats.org/drawingml/2006/main">
            <a:r>
              <a:rPr sz="1400"/>
              <a:t>Uitlegvoorbeeld — niet uit het boek. Context, kosten en marktvergelijkingen zijn voor deze les bedacht; de genoemde boekpagina’s onderbouwen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TK bij q = 0 niet nul?</a:t>
            </a:r>
          </a:p>
          <a:p xmlns:a="http://schemas.openxmlformats.org/drawingml/2006/main">
            <a:r>
              <a:rPr sz="1400"/>
              <a:t/>
            </a:r>
          </a:p>
          <a:p xmlns:a="http://schemas.openxmlformats.org/drawingml/2006/main">
            <a:r>
              <a:rPr sz="1400"/>
              <a:t>Uitleg: Scenarioreset: de oorspronkelijke capaciteit 100 geldt weer. De100 euro constante kosten is deze week onvermijdbaar. Geen productie geeft dus verlies100.125 is hoger dan−100. Dit oordeel gaat over deze week.</a:t>
            </a:r>
          </a:p>
          <a:p xmlns:a="http://schemas.openxmlformats.org/drawingml/2006/main">
            <a:r>
              <a:rPr sz="1400"/>
              <a:t/>
            </a:r>
          </a:p>
          <a:p xmlns:a="http://schemas.openxmlformats.org/drawingml/2006/main">
            <a:r>
              <a:rPr sz="1400"/>
              <a:t>Misvatting: Een verlies betekent niet zonder meer direct stoppen; vergelijk met de relevante grens.</a:t>
            </a:r>
          </a:p>
          <a:p xmlns:a="http://schemas.openxmlformats.org/drawingml/2006/main">
            <a:r>
              <a:rPr sz="1400"/>
              <a:t/>
            </a:r>
          </a:p>
          <a:p xmlns:a="http://schemas.openxmlformats.org/drawingml/2006/main">
            <a:r>
              <a:rPr sz="1400"/>
              <a:t>Overgang: Scheid veranderingen in prijs en constante kosten.</a:t>
            </a:r>
          </a:p>
          <a:p xmlns:a="http://schemas.openxmlformats.org/drawingml/2006/main">
            <a:r>
              <a:rPr sz="1400"/>
              <a:t/>
            </a:r>
          </a:p>
          <a:p xmlns:a="http://schemas.openxmlformats.org/drawingml/2006/main">
            <a:r>
              <a:rPr sz="1400"/>
              <a:t>Bron: Boek 3, geselecteerde v3-editie, gedrukte boekpagina 70, 72. https://github.com/meijer1973/4veco-lessen/blob/9b8304d5031cafac936a56281e144573a25fbbc9/edities/books34-v3/books/book-3/output/Boek_3_Compleet_v3.pdf</a:t>
            </a:r>
          </a:p>
          <a:p xmlns:a="http://schemas.openxmlformats.org/drawingml/2006/main">
            <a:r>
              <a:rPr sz="1400"/>
              <a:t>Uitlegvoorbeeld — niet uit het boek. Context, kosten en marktvergelijkingen zijn voor deze les bedacht; de genoemde boekpagina’s onderbouwen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verandering verschuift MO en welke verandert de constante in TK?</a:t>
            </a:r>
          </a:p>
          <a:p xmlns:a="http://schemas.openxmlformats.org/drawingml/2006/main">
            <a:r>
              <a:rPr sz="1400"/>
              <a:t/>
            </a:r>
          </a:p>
          <a:p xmlns:a="http://schemas.openxmlformats.org/drawingml/2006/main">
            <a:r>
              <a:rPr sz="1400"/>
              <a:t>Uitleg: Haal de rekenregel op: een andere constante verdwijnt nog steeds bij differentiëren. Alleen prijs naar10:10=.08q+2 geeft100, precies capaciteit. Alleen constante naar180: q75 blijft optimaal, winst125−80=45. Als beide veranderen, is q100 nog steeds de beste haalbare keuze. Hiermee zijn de bewerkingen voor basis24 voorbereid zonder de toegewezen casus uit te werken.</a:t>
            </a:r>
          </a:p>
          <a:p xmlns:a="http://schemas.openxmlformats.org/drawingml/2006/main">
            <a:r>
              <a:rPr sz="1400"/>
              <a:t/>
            </a:r>
          </a:p>
          <a:p xmlns:a="http://schemas.openxmlformats.org/drawingml/2006/main">
            <a:r>
              <a:rPr sz="1400"/>
              <a:t>Misvatting: Hogere totale kosten betekenen niet automatisch hogere MK.</a:t>
            </a:r>
          </a:p>
          <a:p xmlns:a="http://schemas.openxmlformats.org/drawingml/2006/main">
            <a:r>
              <a:rPr sz="1400"/>
              <a:t/>
            </a:r>
          </a:p>
          <a:p xmlns:a="http://schemas.openxmlformats.org/drawingml/2006/main">
            <a:r>
              <a:rPr sz="1400"/>
              <a:t>Overgang: Controleer waarom minimum GTK niet de keuze bepaalt.</a:t>
            </a:r>
          </a:p>
          <a:p xmlns:a="http://schemas.openxmlformats.org/drawingml/2006/main">
            <a:r>
              <a:rPr sz="1400"/>
              <a:t/>
            </a:r>
          </a:p>
          <a:p xmlns:a="http://schemas.openxmlformats.org/drawingml/2006/main">
            <a:r>
              <a:rPr sz="1400"/>
              <a:t>Bron: Boek 3, geselecteerde v3-editie, gedrukte boekpagina 63, 70, 74. https://github.com/meijer1973/4veco-lessen/blob/9b8304d5031cafac936a56281e144573a25fbbc9/edities/books34-v3/books/book-3/output/Boek_3_Compleet_v3.pdf</a:t>
            </a:r>
          </a:p>
          <a:p xmlns:a="http://schemas.openxmlformats.org/drawingml/2006/main">
            <a:r>
              <a:rPr sz="1400"/>
              <a:t>Uitlegvoorbeeld — niet uit het boek. Context, kosten en marktvergelijkingen zijn voor deze les bedacht; de genoemde boekpagina’s onderbouwen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regel bepaalt q en waarvoor gebruik je GTK?</a:t>
            </a:r>
          </a:p>
          <a:p xmlns:a="http://schemas.openxmlformats.org/drawingml/2006/main">
            <a:r>
              <a:rPr sz="1400"/>
              <a:t/>
            </a:r>
          </a:p>
          <a:p xmlns:a="http://schemas.openxmlformats.org/drawingml/2006/main">
            <a:r>
              <a:rPr sz="1400"/>
              <a:t>Uitleg: Laat eerst uitleggen:75, omdat daar MO = MK met stijgende MK en haalbaarheid. Bij50 is GTK lager, maar totale winst100&lt;125. TK(50)=300,TO400,winst100. Keer hierna expliciet terug naar start21 en verbeter de maximumredenering voordat basiswerk begint.</a:t>
            </a:r>
          </a:p>
          <a:p xmlns:a="http://schemas.openxmlformats.org/drawingml/2006/main">
            <a:r>
              <a:rPr sz="1400"/>
              <a:t/>
            </a:r>
          </a:p>
          <a:p xmlns:a="http://schemas.openxmlformats.org/drawingml/2006/main">
            <a:r>
              <a:rPr sz="1400"/>
              <a:t>Misvatting: Minimum GTK is niet automatisch maximum totale winst.</a:t>
            </a:r>
          </a:p>
          <a:p xmlns:a="http://schemas.openxmlformats.org/drawingml/2006/main">
            <a:r>
              <a:rPr sz="1400"/>
              <a:t/>
            </a:r>
          </a:p>
          <a:p xmlns:a="http://schemas.openxmlformats.org/drawingml/2006/main">
            <a:r>
              <a:rPr sz="1400"/>
              <a:t>Overgang: Laat21 herzien; zet daarna het overzicht terug.</a:t>
            </a:r>
          </a:p>
          <a:p xmlns:a="http://schemas.openxmlformats.org/drawingml/2006/main">
            <a:r>
              <a:rPr sz="1400"/>
              <a:t/>
            </a:r>
          </a:p>
          <a:p xmlns:a="http://schemas.openxmlformats.org/drawingml/2006/main">
            <a:r>
              <a:rPr sz="1400"/>
              <a:t>Bron: Boek 3, geselecteerde v3-editie, gedrukte boekpagina 70–71. https://github.com/meijer1973/4veco-lessen/blob/9b8304d5031cafac936a56281e144573a25fbbc9/edities/books34-v3/books/book-3/output/Boek_3_Compleet_v3.pdf</a:t>
            </a:r>
          </a:p>
          <a:p xmlns:a="http://schemas.openxmlformats.org/drawingml/2006/main">
            <a:r>
              <a:rPr sz="1400"/>
              <a:t>Uitlegvoorbeeld — niet uit het boek. Context, kosten en marktvergelijkingen zijn voor deze les bedacht; de genoemde boekpagina’s onderbouwen alleen de methode.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moet je nog verbeteren?</a:t>
            </a:r>
          </a:p>
          <a:p xmlns:a="http://schemas.openxmlformats.org/drawingml/2006/main">
            <a:r>
              <a:rPr sz="1400"/>
              <a:t/>
            </a:r>
          </a:p>
          <a:p xmlns:a="http://schemas.openxmlformats.org/drawingml/2006/main">
            <a:r>
              <a:rPr sz="1400"/>
              <a:t>Uitleg: Laat dit overzicht staan tijdens zelfstandig werken. Start20–21 op p73; basis22 op p73 en23–24 op p74; zelfstandig25 op p75 en26 op p76; doel27 op p77. Huiswerk22,23,24,25,26,27 maken en nakijken. Bonus28 en herhaling29–30 extra. Reserveer volgens de docenthandleiding voorlopig twee lessen, met flexibele grens; geen bewezen lesduur. Alle drie basisopgaven blijven in de normale route.</a:t>
            </a:r>
          </a:p>
          <a:p xmlns:a="http://schemas.openxmlformats.org/drawingml/2006/main">
            <a:r>
              <a:rPr sz="1400"/>
              <a:t/>
            </a:r>
          </a:p>
          <a:p xmlns:a="http://schemas.openxmlformats.org/drawingml/2006/main">
            <a:r>
              <a:rPr sz="1400"/>
              <a:t>Start20 haalt TO=Pq,GTK=TK/q en TO−TK op. Voor20b geldt de eindige tabelstap ΔTK/Δq uit §3.2.2, p62–64. Start21 vraagt de NIEUWE economische keuze met MO en MK. Laat p70 lezen, de twee richtingen aanwijzen en de eerste redenering proberen. Dit is ondersteunde verkenning. Keer vóór basiswerk terug naar21 en laat de redenering na de uitleg verbeteren. Differentieer waar nodig pas met hulp uit p63.</a:t>
            </a:r>
          </a:p>
          <a:p xmlns:a="http://schemas.openxmlformats.org/drawingml/2006/main">
            <a:r>
              <a:rPr sz="1400"/>
              <a:t/>
            </a:r>
          </a:p>
          <a:p xmlns:a="http://schemas.openxmlformats.org/drawingml/2006/main">
            <a:r>
              <a:rPr sz="1400"/>
              <a:t>Misvatting: Een afgeleide kunnen bepalen betekent niet dat de economische maximumregel al is geleerd.</a:t>
            </a:r>
          </a:p>
          <a:p xmlns:a="http://schemas.openxmlformats.org/drawingml/2006/main">
            <a:r>
              <a:rPr sz="1400"/>
              <a:t/>
            </a:r>
          </a:p>
          <a:p xmlns:a="http://schemas.openxmlformats.org/drawingml/2006/main">
            <a:r>
              <a:rPr sz="1400"/>
              <a:t>Overgang: Ga naar de volgende lesfase.</a:t>
            </a:r>
          </a:p>
          <a:p xmlns:a="http://schemas.openxmlformats.org/drawingml/2006/main">
            <a:r>
              <a:rPr sz="1400"/>
              <a:t/>
            </a:r>
          </a:p>
          <a:p xmlns:a="http://schemas.openxmlformats.org/drawingml/2006/main">
            <a:r>
              <a:rPr sz="1400"/>
              <a:t>Bron: Boek 3, geselecteerde v3-editie, gedrukte boekpagina 69–77. https://github.com/meijer1973/4veco-lessen/blob/9b8304d5031cafac936a56281e144573a25fbbc9/edities/books34-v3/books/book-3/output/Boek_3_Compleet_v3.pdf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bepalen haalbaarheid en de uitkomst bij q = 0?</a:t>
            </a:r>
          </a:p>
          <a:p xmlns:a="http://schemas.openxmlformats.org/drawingml/2006/main">
            <a:r>
              <a:rPr sz="1400"/>
              <a:t/>
            </a:r>
          </a:p>
          <a:p xmlns:a="http://schemas.openxmlformats.org/drawingml/2006/main">
            <a:r>
              <a:rPr sz="1400"/>
              <a:t>Uitleg: Volledige oorspronkelijke context van doel27. Start de bespreking nadat leerlingen zelf gewerkt hebben. Toon eerst ook de figuur en alle zes vragen zonder oplossingen.</a:t>
            </a:r>
          </a:p>
          <a:p xmlns:a="http://schemas.openxmlformats.org/drawingml/2006/main">
            <a:r>
              <a:rPr sz="1400"/>
              <a:t/>
            </a:r>
          </a:p>
          <a:p xmlns:a="http://schemas.openxmlformats.org/drawingml/2006/main">
            <a:r>
              <a:rPr sz="1400"/>
              <a:t>Misvatting: De nieuwe casus heeft andere kosten dan het uitlegvoorbeeld.</a:t>
            </a:r>
          </a:p>
          <a:p xmlns:a="http://schemas.openxmlformats.org/drawingml/2006/main">
            <a:r>
              <a:rPr sz="1400"/>
              <a:t/>
            </a:r>
          </a:p>
          <a:p xmlns:a="http://schemas.openxmlformats.org/drawingml/2006/main">
            <a:r>
              <a:rPr sz="1400"/>
              <a:t>Overgang: Toon de oorspronkelijke grafiek.</a:t>
            </a:r>
          </a:p>
          <a:p xmlns:a="http://schemas.openxmlformats.org/drawingml/2006/main">
            <a:r>
              <a:rPr sz="1400"/>
              <a:t/>
            </a:r>
          </a:p>
          <a:p xmlns:a="http://schemas.openxmlformats.org/drawingml/2006/main">
            <a:r>
              <a:rPr sz="1400"/>
              <a:t>Bron: Boek 3, geselecteerde v3-editie, gedrukte boekpagina 77.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https://github.com/meijer1973/4veco-lessen/blob/9b8304d5031cafac936a56281e144573a25fbbc9/edities/books34-v3/books/book-3/chapters/3.2/Antwoorden.md, opgave 27.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hoogte en breedte horen bij deze productie?</a:t>
            </a:r>
          </a:p>
          <a:p xmlns:a="http://schemas.openxmlformats.org/drawingml/2006/main">
            <a:r>
              <a:rPr sz="1400"/>
              <a:t/>
            </a:r>
          </a:p>
          <a:p xmlns:a="http://schemas.openxmlformats.org/drawingml/2006/main">
            <a:r>
              <a:rPr sz="1400"/>
              <a:t>Uitleg: Grafiek van de echte doelopgave. P=16; MK = 0.08q+4; capaciteit200.  GTK = TK/q; lees de hoogte bij DEZELFDE gekozen q.   Alle verticale</a:t>
            </a:r>
          </a:p>
          <a:p xmlns:a="http://schemas.openxmlformats.org/drawingml/2006/main">
            <a:r>
              <a:rPr sz="1400"/>
              <a:t>bedragen: € per kg Horizontaal:</a:t>
            </a:r>
          </a:p>
          <a:p xmlns:a="http://schemas.openxmlformats.org/drawingml/2006/main">
            <a:r>
              <a:rPr sz="1400"/>
              <a:t>productie per week Markeer q en winst</a:t>
            </a:r>
          </a:p>
          <a:p xmlns:a="http://schemas.openxmlformats.org/drawingml/2006/main">
            <a:r>
              <a:rPr sz="1400"/>
              <a:t>zelf in het boek.</a:t>
            </a:r>
          </a:p>
          <a:p xmlns:a="http://schemas.openxmlformats.org/drawingml/2006/main">
            <a:r>
              <a:rPr sz="1400"/>
              <a:t/>
            </a:r>
          </a:p>
          <a:p xmlns:a="http://schemas.openxmlformats.org/drawingml/2006/main">
            <a:r>
              <a:rPr sz="1400"/>
              <a:t>Misvatting: Het snijpunt van MO en MK is een bedrag per kg; het is niet de totale winst.</a:t>
            </a:r>
          </a:p>
          <a:p xmlns:a="http://schemas.openxmlformats.org/drawingml/2006/main">
            <a:r>
              <a:rPr sz="1400"/>
              <a:t/>
            </a:r>
          </a:p>
          <a:p xmlns:a="http://schemas.openxmlformats.org/drawingml/2006/main">
            <a:r>
              <a:rPr sz="1400"/>
              <a:t>Overgang: Gebruik de figuur om de berekening te verklaren.</a:t>
            </a:r>
          </a:p>
          <a:p xmlns:a="http://schemas.openxmlformats.org/drawingml/2006/main">
            <a:r>
              <a:rPr sz="1400"/>
              <a:t/>
            </a:r>
          </a:p>
          <a:p xmlns:a="http://schemas.openxmlformats.org/drawingml/2006/main">
            <a:r>
              <a:rPr sz="1400"/>
              <a:t>Bron: Boek 3, geselecteerde v3-editie, gedrukte boekpagina 77.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https://github.com/meijer1973/4veco-lessen/blob/9b8304d5031cafac936a56281e144573a25fbbc9/edities/books34-v3/books/book-3/chapters/3.2/Antwoorden.md, opgave 27.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controle noemtb naast het oplossen?</a:t>
            </a:r>
          </a:p>
          <a:p xmlns:a="http://schemas.openxmlformats.org/drawingml/2006/main">
            <a:r>
              <a:rPr sz="1400"/>
              <a:t/>
            </a:r>
          </a:p>
          <a:p xmlns:a="http://schemas.openxmlformats.org/drawingml/2006/main">
            <a:r>
              <a:rPr sz="1400"/>
              <a:t>Uitleg: Volledige vragena–c zonder antwoorden. Toon ookd–f voor de uitwerking.</a:t>
            </a:r>
          </a:p>
          <a:p xmlns:a="http://schemas.openxmlformats.org/drawingml/2006/main">
            <a:r>
              <a:rPr sz="1400"/>
              <a:t/>
            </a:r>
          </a:p>
          <a:p xmlns:a="http://schemas.openxmlformats.org/drawingml/2006/main">
            <a:r>
              <a:rPr sz="1400"/>
              <a:t>Misvatting: Een vergelijking alleen is nog geen onderbouwing.</a:t>
            </a:r>
          </a:p>
          <a:p xmlns:a="http://schemas.openxmlformats.org/drawingml/2006/main">
            <a:r>
              <a:rPr sz="1400"/>
              <a:t/>
            </a:r>
          </a:p>
          <a:p xmlns:a="http://schemas.openxmlformats.org/drawingml/2006/main">
            <a:r>
              <a:rPr sz="1400"/>
              <a:t>Overgang: Toon ook de grafiek-,grens- en capaciteitsvragen.</a:t>
            </a:r>
          </a:p>
          <a:p xmlns:a="http://schemas.openxmlformats.org/drawingml/2006/main">
            <a:r>
              <a:rPr sz="1400"/>
              <a:t/>
            </a:r>
          </a:p>
          <a:p xmlns:a="http://schemas.openxmlformats.org/drawingml/2006/main">
            <a:r>
              <a:rPr sz="1400"/>
              <a:t>Bron: Boek 3, geselecteerde v3-editie, gedrukte boekpagina 77.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https://github.com/meijer1973/4veco-lessen/blob/9b8304d5031cafac936a56281e144573a25fbbc9/edities/books34-v3/books/book-3/chapters/3.2/Antwoorden.md, opgave 27.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veranderen bijf en welke blijven gelijk?</a:t>
            </a:r>
          </a:p>
          <a:p xmlns:a="http://schemas.openxmlformats.org/drawingml/2006/main">
            <a:r>
              <a:rPr sz="1400"/>
              <a:t/>
            </a:r>
          </a:p>
          <a:p xmlns:a="http://schemas.openxmlformats.org/drawingml/2006/main">
            <a:r>
              <a:rPr sz="1400"/>
              <a:t>Uitleg: Alledrie volledige vragen behouden. Alles wat de leerlingen nodig hebben staat nu op dia15–18. De antwoorden beginnen pas op de volgende dia.</a:t>
            </a:r>
          </a:p>
          <a:p xmlns:a="http://schemas.openxmlformats.org/drawingml/2006/main">
            <a:r>
              <a:rPr sz="1400"/>
              <a:t/>
            </a:r>
          </a:p>
          <a:p xmlns:a="http://schemas.openxmlformats.org/drawingml/2006/main">
            <a:r>
              <a:rPr sz="1400"/>
              <a:t>Misvatting: Maak geen nieuwe winstberekening als die niet gevraagd is.</a:t>
            </a:r>
          </a:p>
          <a:p xmlns:a="http://schemas.openxmlformats.org/drawingml/2006/main">
            <a:r>
              <a:rPr sz="1400"/>
              <a:t/>
            </a:r>
          </a:p>
          <a:p xmlns:a="http://schemas.openxmlformats.org/drawingml/2006/main">
            <a:r>
              <a:rPr sz="1400"/>
              <a:t>Overgang: Begin bij de afgeleide en de kandidaat.</a:t>
            </a:r>
          </a:p>
          <a:p xmlns:a="http://schemas.openxmlformats.org/drawingml/2006/main">
            <a:r>
              <a:rPr sz="1400"/>
              <a:t/>
            </a:r>
          </a:p>
          <a:p xmlns:a="http://schemas.openxmlformats.org/drawingml/2006/main">
            <a:r>
              <a:rPr sz="1400"/>
              <a:t>Bron: Boek 3, geselecteerde v3-editie, gedrukte boekpagina 77.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https://github.com/meijer1973/4veco-lessen/blob/9b8304d5031cafac936a56281e144573a25fbbc9/edities/books34-v3/books/book-3/chapters/3.2/Antwoorden.md, opgave 27.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onderbouwt je antwoord?</a:t>
            </a:r>
          </a:p>
          <a:p xmlns:a="http://schemas.openxmlformats.org/drawingml/2006/main">
            <a:r>
              <a:rPr sz="1400"/>
              <a:t/>
            </a:r>
          </a:p>
          <a:p xmlns:a="http://schemas.openxmlformats.org/drawingml/2006/main">
            <a:r>
              <a:rPr sz="1400"/>
              <a:t>Uitleg: TK = 0,04q² + 4q + 400     dus MK = 0,08q + 4 MO = 16.     16 = 0,08q + 4 q = 12 / 0,08 = 150 kg per week 150 ≤ 200 kg: de kandidaat is haalbaar. Benoem de eenheden en vraag naar de reden achter elke stap.</a:t>
            </a:r>
          </a:p>
          <a:p xmlns:a="http://schemas.openxmlformats.org/drawingml/2006/main">
            <a:r>
              <a:rPr sz="1400"/>
              <a:t/>
            </a:r>
          </a:p>
          <a:p xmlns:a="http://schemas.openxmlformats.org/drawingml/2006/main">
            <a:r>
              <a:rPr sz="1400"/>
              <a:t>Misvatting: 400 verdwijnt uit MK, maar blijft in TK.</a:t>
            </a:r>
          </a:p>
          <a:p xmlns:a="http://schemas.openxmlformats.org/drawingml/2006/main">
            <a:r>
              <a:rPr sz="1400"/>
              <a:t/>
            </a:r>
          </a:p>
          <a:p xmlns:a="http://schemas.openxmlformats.org/drawingml/2006/main">
            <a:r>
              <a:rPr sz="1400"/>
              <a:t>Overgang: Onderbouw het maximum links en rechts.</a:t>
            </a:r>
          </a:p>
          <a:p xmlns:a="http://schemas.openxmlformats.org/drawingml/2006/main">
            <a:r>
              <a:rPr sz="1400"/>
              <a:t/>
            </a:r>
          </a:p>
          <a:p xmlns:a="http://schemas.openxmlformats.org/drawingml/2006/main">
            <a:r>
              <a:rPr sz="1400"/>
              <a:t>Bron: Boek 3, geselecteerde v3-editie, gedrukte boekpagina 77.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https://github.com/meijer1973/4veco-lessen/blob/9b8304d5031cafac936a56281e144573a25fbbc9/edities/books34-v3/books/book-3/chapters/3.2/Antwoorden.md, opgave 27.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hoogte en breedte horen bij deze productie?</a:t>
            </a:r>
          </a:p>
          <a:p xmlns:a="http://schemas.openxmlformats.org/drawingml/2006/main">
            <a:r>
              <a:rPr sz="1400"/>
              <a:t/>
            </a:r>
          </a:p>
          <a:p xmlns:a="http://schemas.openxmlformats.org/drawingml/2006/main">
            <a:r>
              <a:rPr sz="1400"/>
              <a:t>Uitleg: Grafiek van de echte doelopgave. P=16; MK = 0.08q+4; capaciteit200. De afleeslijn markeert q = 150.    q = 125: MK = 14&lt;16</a:t>
            </a:r>
          </a:p>
          <a:p xmlns:a="http://schemas.openxmlformats.org/drawingml/2006/main">
            <a:r>
              <a:rPr sz="1400"/>
              <a:t>Uitbreiden gunstig. q = 175: MK = 18&gt;16</a:t>
            </a:r>
          </a:p>
          <a:p xmlns:a="http://schemas.openxmlformats.org/drawingml/2006/main">
            <a:r>
              <a:rPr sz="1400"/>
              <a:t>Inkrimpen gunstig. MK stijgt door MO.</a:t>
            </a:r>
          </a:p>
          <a:p xmlns:a="http://schemas.openxmlformats.org/drawingml/2006/main">
            <a:r>
              <a:rPr sz="1400"/>
              <a:t>150 kg past binnen 200.</a:t>
            </a:r>
          </a:p>
          <a:p xmlns:a="http://schemas.openxmlformats.org/drawingml/2006/main">
            <a:r>
              <a:rPr sz="1400"/>
              <a:t/>
            </a:r>
          </a:p>
          <a:p xmlns:a="http://schemas.openxmlformats.org/drawingml/2006/main">
            <a:r>
              <a:rPr sz="1400"/>
              <a:t>Misvatting: Het snijpunt van MO en MK is een bedrag per kg; het is niet de totale winst.</a:t>
            </a:r>
          </a:p>
          <a:p xmlns:a="http://schemas.openxmlformats.org/drawingml/2006/main">
            <a:r>
              <a:rPr sz="1400"/>
              <a:t/>
            </a:r>
          </a:p>
          <a:p xmlns:a="http://schemas.openxmlformats.org/drawingml/2006/main">
            <a:r>
              <a:rPr sz="1400"/>
              <a:t>Overgang: Gebruik de figuur om de berekening te verklaren.</a:t>
            </a:r>
          </a:p>
          <a:p xmlns:a="http://schemas.openxmlformats.org/drawingml/2006/main">
            <a:r>
              <a:rPr sz="1400"/>
              <a:t/>
            </a:r>
          </a:p>
          <a:p xmlns:a="http://schemas.openxmlformats.org/drawingml/2006/main">
            <a:r>
              <a:rPr sz="1400"/>
              <a:t>Bron: Boek 3, geselecteerde v3-editie, gedrukte boekpagina 77.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https://github.com/meijer1973/4veco-lessen/blob/9b8304d5031cafac936a56281e144573a25fbbc9/edities/books34-v3/books/book-3/chapters/3.2/Antwoorden.md, opgave 27.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onderbouwt je antwoord?</a:t>
            </a:r>
          </a:p>
          <a:p xmlns:a="http://schemas.openxmlformats.org/drawingml/2006/main">
            <a:r>
              <a:rPr sz="1400"/>
              <a:t/>
            </a:r>
          </a:p>
          <a:p xmlns:a="http://schemas.openxmlformats.org/drawingml/2006/main">
            <a:r>
              <a:rPr sz="1400"/>
              <a:t>Uitleg: TO = 16 × 150 = € 2.400 per week TK = 0,04 × 150² + 4 × 150 + 400 TK = 900 + 600 + 400 = € 1.900 per week Winst = 2.400 − 1.900 = € 500 per week Benoem de eenheden en vraag naar de reden achter elke stap.</a:t>
            </a:r>
          </a:p>
          <a:p xmlns:a="http://schemas.openxmlformats.org/drawingml/2006/main">
            <a:r>
              <a:rPr sz="1400"/>
              <a:t/>
            </a:r>
          </a:p>
          <a:p xmlns:a="http://schemas.openxmlformats.org/drawingml/2006/main">
            <a:r>
              <a:rPr sz="1400"/>
              <a:t>Misvatting: De vaste400 is ook onderdeel van TK.</a:t>
            </a:r>
          </a:p>
          <a:p xmlns:a="http://schemas.openxmlformats.org/drawingml/2006/main">
            <a:r>
              <a:rPr sz="1400"/>
              <a:t/>
            </a:r>
          </a:p>
          <a:p xmlns:a="http://schemas.openxmlformats.org/drawingml/2006/main">
            <a:r>
              <a:rPr sz="1400"/>
              <a:t>Overgang: Gebruik dezelfde q om GTK te berekenen.</a:t>
            </a:r>
          </a:p>
          <a:p xmlns:a="http://schemas.openxmlformats.org/drawingml/2006/main">
            <a:r>
              <a:rPr sz="1400"/>
              <a:t/>
            </a:r>
          </a:p>
          <a:p xmlns:a="http://schemas.openxmlformats.org/drawingml/2006/main">
            <a:r>
              <a:rPr sz="1400"/>
              <a:t>Bron: Boek 3, geselecteerde v3-editie, gedrukte boekpagina 77.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https://github.com/meijer1973/4veco-lessen/blob/9b8304d5031cafac936a56281e144573a25fbbc9/edities/books34-v3/books/book-3/chapters/3.2/Antwoorden.md, opgave 27.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onderbouwt je antwoord?</a:t>
            </a:r>
          </a:p>
          <a:p xmlns:a="http://schemas.openxmlformats.org/drawingml/2006/main">
            <a:r>
              <a:rPr sz="1400"/>
              <a:t/>
            </a:r>
          </a:p>
          <a:p xmlns:a="http://schemas.openxmlformats.org/drawingml/2006/main">
            <a:r>
              <a:rPr sz="1400"/>
              <a:t>Uitleg: GTK = 1.900 / 150 = € 12,666… per kg Breedte = 150 kg per week Hoogte = 16 − 1.900 / 150 = € 3,333… per kg Oppervlakte = 150 × (16 − 1.900 / 150) = € 500 per week Benoem de eenheden en vraag naar de reden achter elke stap.</a:t>
            </a:r>
          </a:p>
          <a:p xmlns:a="http://schemas.openxmlformats.org/drawingml/2006/main">
            <a:r>
              <a:rPr sz="1400"/>
              <a:t/>
            </a:r>
          </a:p>
          <a:p xmlns:a="http://schemas.openxmlformats.org/drawingml/2006/main">
            <a:r>
              <a:rPr sz="1400"/>
              <a:t>Misvatting: Gebruik ongeronde GTK. De hoogte is niet16.</a:t>
            </a:r>
          </a:p>
          <a:p xmlns:a="http://schemas.openxmlformats.org/drawingml/2006/main">
            <a:r>
              <a:rPr sz="1400"/>
              <a:t/>
            </a:r>
          </a:p>
          <a:p xmlns:a="http://schemas.openxmlformats.org/drawingml/2006/main">
            <a:r>
              <a:rPr sz="1400"/>
              <a:t>Overgang: Teken de rechthoek met deze twee grenzen.</a:t>
            </a:r>
          </a:p>
          <a:p xmlns:a="http://schemas.openxmlformats.org/drawingml/2006/main">
            <a:r>
              <a:rPr sz="1400"/>
              <a:t/>
            </a:r>
          </a:p>
          <a:p xmlns:a="http://schemas.openxmlformats.org/drawingml/2006/main">
            <a:r>
              <a:rPr sz="1400"/>
              <a:t>Bron: Boek 3, geselecteerde v3-editie, gedrukte boekpagina 77.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https://github.com/meijer1973/4veco-lessen/blob/9b8304d5031cafac936a56281e144573a25fbbc9/edities/books34-v3/books/book-3/chapters/3.2/Antwoorden.md, opgave 27.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hoogte en breedte horen bij deze productie?</a:t>
            </a:r>
          </a:p>
          <a:p xmlns:a="http://schemas.openxmlformats.org/drawingml/2006/main">
            <a:r>
              <a:rPr sz="1400"/>
              <a:t/>
            </a:r>
          </a:p>
          <a:p xmlns:a="http://schemas.openxmlformats.org/drawingml/2006/main">
            <a:r>
              <a:rPr sz="1400"/>
              <a:t>Uitleg: Grafiek van de echte doelopgave. P=16; MK = 0.08q+4; capaciteit200. De afleeslijn markeert q = 150. GTK = TK/q; lees de hoogte bij DEZELFDE gekozen q. De bewerkbare arcering ligt tussen GTK(q*) en P, over de breedte q*. Eenheid: (kg/week) × (€/kg) = €/week. De schaal en grafiek zijn exact dezelfde als zonder arcering.  Winst = € 500</a:t>
            </a:r>
          </a:p>
          <a:p xmlns:a="http://schemas.openxmlformats.org/drawingml/2006/main">
            <a:r>
              <a:rPr sz="1400"/>
              <a:t>per week Breedte:</a:t>
            </a:r>
          </a:p>
          <a:p xmlns:a="http://schemas.openxmlformats.org/drawingml/2006/main">
            <a:r>
              <a:rPr sz="1400"/>
              <a:t>150 kg/week Hoogte:</a:t>
            </a:r>
          </a:p>
          <a:p xmlns:a="http://schemas.openxmlformats.org/drawingml/2006/main">
            <a:r>
              <a:rPr sz="1400"/>
              <a:t>€ 3,333… per kg</a:t>
            </a:r>
          </a:p>
          <a:p xmlns:a="http://schemas.openxmlformats.org/drawingml/2006/main">
            <a:r>
              <a:rPr sz="1400"/>
              <a:t/>
            </a:r>
          </a:p>
          <a:p xmlns:a="http://schemas.openxmlformats.org/drawingml/2006/main">
            <a:r>
              <a:rPr sz="1400"/>
              <a:t>Misvatting: Het snijpunt van MO en MK is een bedrag per kg; het is niet de totale winst.</a:t>
            </a:r>
          </a:p>
          <a:p xmlns:a="http://schemas.openxmlformats.org/drawingml/2006/main">
            <a:r>
              <a:rPr sz="1400"/>
              <a:t/>
            </a:r>
          </a:p>
          <a:p xmlns:a="http://schemas.openxmlformats.org/drawingml/2006/main">
            <a:r>
              <a:rPr sz="1400"/>
              <a:t>Overgang: Gebruik de figuur om de berekening te verklaren.</a:t>
            </a:r>
          </a:p>
          <a:p xmlns:a="http://schemas.openxmlformats.org/drawingml/2006/main">
            <a:r>
              <a:rPr sz="1400"/>
              <a:t/>
            </a:r>
          </a:p>
          <a:p xmlns:a="http://schemas.openxmlformats.org/drawingml/2006/main">
            <a:r>
              <a:rPr sz="1400"/>
              <a:t>Bron: Boek 3, geselecteerde v3-editie, gedrukte boekpagina 77.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https://github.com/meijer1973/4veco-lessen/blob/9b8304d5031cafac936a56281e144573a25fbbc9/edities/books34-v3/books/book-3/chapters/3.2/Antwoorden.md, opgave 27.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nul productie geen nul winst?</a:t>
            </a:r>
          </a:p>
          <a:p xmlns:a="http://schemas.openxmlformats.org/drawingml/2006/main">
            <a:r>
              <a:rPr sz="1400"/>
              <a:t/>
            </a:r>
          </a:p>
          <a:p xmlns:a="http://schemas.openxmlformats.org/drawingml/2006/main">
            <a:r>
              <a:rPr sz="1400"/>
              <a:t>Uitleg: Niet produceren betekent TO0,TK400,winst−400. De gekozen150 kg levert500. De vergelijking gebruikt exact de onvermijdbaarheidsaanname uit de bron.</a:t>
            </a:r>
          </a:p>
          <a:p xmlns:a="http://schemas.openxmlformats.org/drawingml/2006/main">
            <a:r>
              <a:rPr sz="1400"/>
              <a:t/>
            </a:r>
          </a:p>
          <a:p xmlns:a="http://schemas.openxmlformats.org/drawingml/2006/main">
            <a:r>
              <a:rPr sz="1400"/>
              <a:t>Misvatting: Geen conclusies trekken over een langetermijnmarktmechanisme.</a:t>
            </a:r>
          </a:p>
          <a:p xmlns:a="http://schemas.openxmlformats.org/drawingml/2006/main">
            <a:r>
              <a:rPr sz="1400"/>
              <a:t/>
            </a:r>
          </a:p>
          <a:p xmlns:a="http://schemas.openxmlformats.org/drawingml/2006/main">
            <a:r>
              <a:rPr sz="1400"/>
              <a:t>Overgang: Verklein ten slotte de capaciteit.</a:t>
            </a:r>
          </a:p>
          <a:p xmlns:a="http://schemas.openxmlformats.org/drawingml/2006/main">
            <a:r>
              <a:rPr sz="1400"/>
              <a:t/>
            </a:r>
          </a:p>
          <a:p xmlns:a="http://schemas.openxmlformats.org/drawingml/2006/main">
            <a:r>
              <a:rPr sz="1400"/>
              <a:t>Bron: Boek 3, geselecteerde v3-editie, gedrukte boekpagina 77.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https://github.com/meijer1973/4veco-lessen/blob/9b8304d5031cafac936a56281e144573a25fbbc9/edities/books34-v3/books/book-3/chapters/3.2/Antwoorden.md, opgave 27.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hoogte en breedte horen bij deze productie?</a:t>
            </a:r>
          </a:p>
          <a:p xmlns:a="http://schemas.openxmlformats.org/drawingml/2006/main">
            <a:r>
              <a:rPr sz="1400"/>
              <a:t/>
            </a:r>
          </a:p>
          <a:p xmlns:a="http://schemas.openxmlformats.org/drawingml/2006/main">
            <a:r>
              <a:rPr sz="1400"/>
              <a:t>Uitleg: Grafiek van de echte doelopgave. P=16; MK = 0.08q+4; capaciteit200.    De nieuwe grens is 120 kg/week. De oorspronkelijke kostenlijn is alleen referentie buiten die grens; productie rechts van de grens is nu onhaalbaar. 150 kg is onhaalbaar. MK(120)=13,60&lt;16</a:t>
            </a:r>
          </a:p>
          <a:p xmlns:a="http://schemas.openxmlformats.org/drawingml/2006/main">
            <a:r>
              <a:rPr sz="1400"/>
              <a:t>Winst stijgt tot 120. Kies q = 120 kg/week.</a:t>
            </a:r>
          </a:p>
          <a:p xmlns:a="http://schemas.openxmlformats.org/drawingml/2006/main">
            <a:r>
              <a:rPr sz="1400"/>
              <a:t>Geen nieuwe winst-</a:t>
            </a:r>
          </a:p>
          <a:p xmlns:a="http://schemas.openxmlformats.org/drawingml/2006/main">
            <a:r>
              <a:rPr sz="1400"/>
              <a:t>berekening nodig.</a:t>
            </a:r>
          </a:p>
          <a:p xmlns:a="http://schemas.openxmlformats.org/drawingml/2006/main">
            <a:r>
              <a:rPr sz="1400"/>
              <a:t/>
            </a:r>
          </a:p>
          <a:p xmlns:a="http://schemas.openxmlformats.org/drawingml/2006/main">
            <a:r>
              <a:rPr sz="1400"/>
              <a:t>Misvatting: Het snijpunt van MO en MK is een bedrag per kg; het is niet de totale winst.</a:t>
            </a:r>
          </a:p>
          <a:p xmlns:a="http://schemas.openxmlformats.org/drawingml/2006/main">
            <a:r>
              <a:rPr sz="1400"/>
              <a:t/>
            </a:r>
          </a:p>
          <a:p xmlns:a="http://schemas.openxmlformats.org/drawingml/2006/main">
            <a:r>
              <a:rPr sz="1400"/>
              <a:t>Overgang: Gebruik de figuur om de berekening te verklaren.</a:t>
            </a:r>
          </a:p>
          <a:p xmlns:a="http://schemas.openxmlformats.org/drawingml/2006/main">
            <a:r>
              <a:rPr sz="1400"/>
              <a:t/>
            </a:r>
          </a:p>
          <a:p xmlns:a="http://schemas.openxmlformats.org/drawingml/2006/main">
            <a:r>
              <a:rPr sz="1400"/>
              <a:t>Bron: Boek 3, geselecteerde v3-editie, gedrukte boekpagina 77. https://github.com/meijer1973/4veco-lessen/blob/9b8304d5031cafac936a56281e144573a25fbbc9/edities/books34-v3/books/book-3/output/Boek_3_Compleet_v3.pdf</a:t>
            </a:r>
          </a:p>
          <a:p xmlns:a="http://schemas.openxmlformats.org/drawingml/2006/main">
            <a:r>
              <a:rPr sz="1400"/>
              <a:t>Antwoordmodel: https://github.com/meijer1973/4veco-lessen/blob/9b8304d5031cafac936a56281e144573a25fbbc9/edities/books34-v3/books/book-3/chapters/3.2/Antwoorden.md, opgave 27.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moet je nog verbeteren?</a:t>
            </a:r>
          </a:p>
          <a:p xmlns:a="http://schemas.openxmlformats.org/drawingml/2006/main">
            <a:r>
              <a:rPr sz="1400"/>
              <a:t/>
            </a:r>
          </a:p>
          <a:p xmlns:a="http://schemas.openxmlformats.org/drawingml/2006/main">
            <a:r>
              <a:rPr sz="1400"/>
              <a:t>Uitleg: Laat dit overzicht staan tijdens afsluiting / huiswerk. Start20–21 op p73; basis22 op p73 en23–24 op p74; zelfstandig25 op p75 en26 op p76; doel27 op p77. Huiswerk22,23,24,25,26,27 maken en nakijken. Bonus28 en herhaling29–30 extra. Reserveer volgens de docenthandleiding voorlopig twee lessen, met flexibele grens; geen bewezen lesduur. Alle drie basisopgaven blijven in de normale route.</a:t>
            </a:r>
          </a:p>
          <a:p xmlns:a="http://schemas.openxmlformats.org/drawingml/2006/main">
            <a:r>
              <a:rPr sz="1400"/>
              <a:t/>
            </a:r>
          </a:p>
          <a:p xmlns:a="http://schemas.openxmlformats.org/drawingml/2006/main">
            <a:r>
              <a:rPr sz="1400"/>
              <a:t>Start20 haalt TO=Pq,GTK=TK/q en TO−TK op. Voor20b geldt de eindige tabelstap ΔTK/Δq uit §3.2.2, p62–64. Start21 vraagt de NIEUWE economische keuze met MO en MK. Laat p70 lezen, de twee richtingen aanwijzen en de eerste redenering proberen. Dit is ondersteunde verkenning. Keer vóór basiswerk terug naar21 en laat de redenering na de uitleg verbeteren. Differentieer waar nodig pas met hulp uit p63.</a:t>
            </a:r>
          </a:p>
          <a:p xmlns:a="http://schemas.openxmlformats.org/drawingml/2006/main">
            <a:r>
              <a:rPr sz="1400"/>
              <a:t/>
            </a:r>
          </a:p>
          <a:p xmlns:a="http://schemas.openxmlformats.org/drawingml/2006/main">
            <a:r>
              <a:rPr sz="1400"/>
              <a:t>Misvatting: Een afgeleide kunnen bepalen betekent niet dat de economische maximumregel al is geleerd.</a:t>
            </a:r>
          </a:p>
          <a:p xmlns:a="http://schemas.openxmlformats.org/drawingml/2006/main">
            <a:r>
              <a:rPr sz="1400"/>
              <a:t/>
            </a:r>
          </a:p>
          <a:p xmlns:a="http://schemas.openxmlformats.org/drawingml/2006/main">
            <a:r>
              <a:rPr sz="1400"/>
              <a:t>Overgang: Laat het huiswerk in de agenda zetten.</a:t>
            </a:r>
          </a:p>
          <a:p xmlns:a="http://schemas.openxmlformats.org/drawingml/2006/main">
            <a:r>
              <a:rPr sz="1400"/>
              <a:t/>
            </a:r>
          </a:p>
          <a:p xmlns:a="http://schemas.openxmlformats.org/drawingml/2006/main">
            <a:r>
              <a:rPr sz="1400"/>
              <a:t>Bron: Boek 3, geselecteerde v3-editie, gedrukte boekpagina 69–77. https://github.com/meijer1973/4veco-lessen/blob/9b8304d5031cafac936a56281e144573a25fbbc9/edities/books34-v3/books/book-3/output/Boek_3_Compleet_v3.pdf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ff4bd5f82f6479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e568a90ac424b5b" /><Relationship Type="http://schemas.openxmlformats.org/officeDocument/2006/relationships/slideLayout" Target="/ppt/slideLayouts/slideLayout1.xml" Id="Rb17c4c2acd37403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7c4c2acd37403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9a3e6e379aa47be" /><Relationship Type="http://schemas.openxmlformats.org/officeDocument/2006/relationships/notesSlide" Target="/ppt/notesSlides/notesSlide1.xml" Id="R9f62254d73524c0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e5b8c96f9444d5b" /><Relationship Type="http://schemas.openxmlformats.org/officeDocument/2006/relationships/notesSlide" Target="/ppt/notesSlides/notesSlide2.xml" Id="R5b4e266b29b147a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e685d9e43194942" /><Relationship Type="http://schemas.openxmlformats.org/officeDocument/2006/relationships/notesSlide" Target="/ppt/notesSlides/notesSlide3.xml" Id="R8351dac0046243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929eff4be9e4db8" /><Relationship Type="http://schemas.openxmlformats.org/officeDocument/2006/relationships/notesSlide" Target="/ppt/notesSlides/notesSlide4.xml" Id="Rbbc0100b53254df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ecc927ec38a49f3" /><Relationship Type="http://schemas.openxmlformats.org/officeDocument/2006/relationships/notesSlide" Target="/ppt/notesSlides/notesSlide5.xml" Id="R502f9b9c8eeb4b0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a60b9a5f0a94033" /><Relationship Type="http://schemas.openxmlformats.org/officeDocument/2006/relationships/chart" Target="/ppt/slides/charts/chart1.xml" Id="R029499fd27d24663" /><Relationship Type="http://schemas.openxmlformats.org/officeDocument/2006/relationships/notesSlide" Target="/ppt/notesSlides/notesSlide6.xml" Id="R1d67690332ba4dc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b0ee653a6c44615" /><Relationship Type="http://schemas.openxmlformats.org/officeDocument/2006/relationships/notesSlide" Target="/ppt/notesSlides/notesSlide7.xml" Id="R59a0a4703e614ba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b4c3a2293f74ae5" /><Relationship Type="http://schemas.openxmlformats.org/officeDocument/2006/relationships/notesSlide" Target="/ppt/notesSlides/notesSlide8.xml" Id="R634f72a0aad7452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0c7a8c98e9340ab" /><Relationship Type="http://schemas.openxmlformats.org/officeDocument/2006/relationships/chart" Target="/ppt/slides/charts/chart2.xml" Id="Rf6963b4b1e5c4e5d" /><Relationship Type="http://schemas.openxmlformats.org/officeDocument/2006/relationships/notesSlide" Target="/ppt/notesSlides/notesSlide9.xml" Id="Rab9d6d67cc44429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3dc3f5e80964b83" /><Relationship Type="http://schemas.openxmlformats.org/officeDocument/2006/relationships/chart" Target="/ppt/slides/charts/chart3.xml" Id="R8bab5ac00f584022" /><Relationship Type="http://schemas.openxmlformats.org/officeDocument/2006/relationships/notesSlide" Target="/ppt/notesSlides/notesSlide10.xml" Id="Rde344b481fbd478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c44629b60d6412c" /><Relationship Type="http://schemas.openxmlformats.org/officeDocument/2006/relationships/notesSlide" Target="/ppt/notesSlides/notesSlide11.xml" Id="Rb61f2b75d39445a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dd5715c71b943d5" /><Relationship Type="http://schemas.openxmlformats.org/officeDocument/2006/relationships/notesSlide" Target="/ppt/notesSlides/notesSlide12.xml" Id="R6b6e6cc4961449b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2a2affbb8ae49a3" /><Relationship Type="http://schemas.openxmlformats.org/officeDocument/2006/relationships/notesSlide" Target="/ppt/notesSlides/notesSlide13.xml" Id="R92d3865724a343e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491b32c6a3a4b26" /><Relationship Type="http://schemas.openxmlformats.org/officeDocument/2006/relationships/notesSlide" Target="/ppt/notesSlides/notesSlide14.xml" Id="R5de138d9e3ac4d1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2d89a8485ed4ac9" /><Relationship Type="http://schemas.openxmlformats.org/officeDocument/2006/relationships/notesSlide" Target="/ppt/notesSlides/notesSlide15.xml" Id="Rb0bd3a911c2e454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a952ac5d7a54808" /><Relationship Type="http://schemas.openxmlformats.org/officeDocument/2006/relationships/chart" Target="/ppt/slides/charts/chart4.xml" Id="R4aec064c15954722" /><Relationship Type="http://schemas.openxmlformats.org/officeDocument/2006/relationships/notesSlide" Target="/ppt/notesSlides/notesSlide16.xml" Id="R193b17278108435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5c614fa32eb4f97" /><Relationship Type="http://schemas.openxmlformats.org/officeDocument/2006/relationships/notesSlide" Target="/ppt/notesSlides/notesSlide17.xml" Id="Rfe4dfc359eca49c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28106c4258f44ab" /><Relationship Type="http://schemas.openxmlformats.org/officeDocument/2006/relationships/notesSlide" Target="/ppt/notesSlides/notesSlide18.xml" Id="R7eb0fee6877646c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d3bcd291ded4154" /><Relationship Type="http://schemas.openxmlformats.org/officeDocument/2006/relationships/notesSlide" Target="/ppt/notesSlides/notesSlide19.xml" Id="R0106ed9392d049a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ed7cb965cd14b86" /><Relationship Type="http://schemas.openxmlformats.org/officeDocument/2006/relationships/chart" Target="/ppt/slides/charts/chart5.xml" Id="Rc05decdef5a845ea" /><Relationship Type="http://schemas.openxmlformats.org/officeDocument/2006/relationships/notesSlide" Target="/ppt/notesSlides/notesSlide20.xml" Id="R931364660afb4e4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c4d98a4f670427d" /><Relationship Type="http://schemas.openxmlformats.org/officeDocument/2006/relationships/notesSlide" Target="/ppt/notesSlides/notesSlide21.xml" Id="R62fbf9787a64435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6d58bd4422443c9" /><Relationship Type="http://schemas.openxmlformats.org/officeDocument/2006/relationships/notesSlide" Target="/ppt/notesSlides/notesSlide22.xml" Id="Ra49d9d353623442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71b0764e7664290" /><Relationship Type="http://schemas.openxmlformats.org/officeDocument/2006/relationships/chart" Target="/ppt/slides/charts/chart6.xml" Id="Rf8e4c11153984c83" /><Relationship Type="http://schemas.openxmlformats.org/officeDocument/2006/relationships/notesSlide" Target="/ppt/notesSlides/notesSlide23.xml" Id="R31799c1fc79b4c5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5d4cb5e3779404a" /><Relationship Type="http://schemas.openxmlformats.org/officeDocument/2006/relationships/notesSlide" Target="/ppt/notesSlides/notesSlide24.xml" Id="R92c2628af351470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fd87e2d46a143b8" /><Relationship Type="http://schemas.openxmlformats.org/officeDocument/2006/relationships/chart" Target="/ppt/slides/charts/chart7.xml" Id="R274674531b734b2a" /><Relationship Type="http://schemas.openxmlformats.org/officeDocument/2006/relationships/notesSlide" Target="/ppt/notesSlides/notesSlide25.xml" Id="R947b4f50e09c41d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84a0734f7074649" /><Relationship Type="http://schemas.openxmlformats.org/officeDocument/2006/relationships/notesSlide" Target="/ppt/notesSlides/notesSlide26.xml" Id="R03eb80ea24bb431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chart1.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10"/>
          <c:y val=".05"/>
          <c:w val=".85"/>
          <c:h val=".79"/>
        </c:manualLayout>
      </c:layout>
      <c:scatterChart>
        <c:scatterStyle val="line"/>
        <c:ser>
          <c:idx val="0"/>
          <c:order val="0"/>
          <c:tx>
            <c:v>Afleeshulp</c:v>
          </c:tx>
          <c:spPr>
            <a:ln xmlns:a="http://schemas.openxmlformats.org/drawingml/2006/main" w="14288">
              <a:solidFill>
                <a:srgbClr val="6B7C88"/>
              </a:solidFill>
              <a:prstDash val="dash"/>
            </a:ln>
          </c:spPr>
          <c:marker>
            <c:symbol val="none"/>
          </c:marker>
          <c:xVal>
            <c:numRef>
              <c:f>'Chart Data'!$A$2:$A$3</c:f>
              <c:numCache>
                <c:formatCode>General</c:formatCode>
                <c:ptCount val="2"/>
                <c:pt idx="0">
                  <c:v>75</c:v>
                </c:pt>
                <c:pt idx="1">
                  <c:v>75</c:v>
                </c:pt>
              </c:numCache>
            </c:numRef>
          </c:xVal>
          <c:yVal>
            <c:numRef>
              <c:f>'Chart Data'!$B$2:$B$3</c:f>
              <c:numCache>
                <c:formatCode>0</c:formatCode>
                <c:ptCount val="2"/>
                <c:pt idx="0">
                  <c:v>0</c:v>
                </c:pt>
                <c:pt idx="1">
                  <c:v>8</c:v>
                </c:pt>
              </c:numCache>
            </c:numRef>
          </c:yVal>
          <c:smooth val="0"/>
        </c:ser>
        <c:ser>
          <c:idx val="1"/>
          <c:order val="1"/>
          <c:tx>
            <c:v>MK</c:v>
          </c:tx>
          <c:spPr>
            <a:ln xmlns:a="http://schemas.openxmlformats.org/drawingml/2006/main" w="31433">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21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Data'!$C$2:$C$4</c:f>
              <c:numCache>
                <c:formatCode>General</c:formatCode>
                <c:ptCount val="3"/>
                <c:pt idx="0">
                  <c:v>0</c:v>
                </c:pt>
                <c:pt idx="1">
                  <c:v>83</c:v>
                </c:pt>
                <c:pt idx="2">
                  <c:v>100</c:v>
                </c:pt>
              </c:numCache>
            </c:numRef>
          </c:xVal>
          <c:yVal>
            <c:numRef>
              <c:f>'Chart Data'!$D$2:$D$4</c:f>
              <c:numCache>
                <c:formatCode>0</c:formatCode>
                <c:ptCount val="3"/>
                <c:pt idx="0">
                  <c:v>2</c:v>
                </c:pt>
                <c:pt idx="1">
                  <c:v>8.64</c:v>
                </c:pt>
                <c:pt idx="2">
                  <c:v>10</c:v>
                </c:pt>
              </c:numCache>
            </c:numRef>
          </c:yVal>
          <c:smooth val="0"/>
        </c:ser>
        <c:ser>
          <c:idx val="2"/>
          <c:order val="2"/>
          <c:tx>
            <c:v>P = GO = MO</c:v>
          </c:tx>
          <c:spPr>
            <a:ln xmlns:a="http://schemas.openxmlformats.org/drawingml/2006/main" w="31433">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Data'!$E$2:$E$4</c:f>
              <c:numCache>
                <c:formatCode>General</c:formatCode>
                <c:ptCount val="3"/>
                <c:pt idx="0">
                  <c:v>0</c:v>
                </c:pt>
                <c:pt idx="1">
                  <c:v>55</c:v>
                </c:pt>
                <c:pt idx="2">
                  <c:v>100</c:v>
                </c:pt>
              </c:numCache>
            </c:numRef>
          </c:xVal>
          <c:yVal>
            <c:numRef>
              <c:f>'Chart Data'!$F$2:$F$4</c:f>
              <c:numCache>
                <c:formatCode>0</c:formatCode>
                <c:ptCount val="3"/>
                <c:pt idx="0">
                  <c:v>8</c:v>
                </c:pt>
                <c:pt idx="1">
                  <c:v>8</c:v>
                </c:pt>
                <c:pt idx="2">
                  <c:v>8</c:v>
                </c:pt>
              </c:numCache>
            </c:numRef>
          </c:yVal>
          <c:smooth val="0"/>
        </c:ser>
        <c:dLbls>
          <c:txPr>
            <a:bodyPr xmlns:a="http://schemas.openxmlformats.org/drawingml/2006/main" anchorCtr="1"/>
            <a:lstStyle xmlns:a="http://schemas.openxmlformats.org/drawingml/2006/main"/>
            <a:p xmlns:a="http://schemas.openxmlformats.org/drawingml/2006/main">
              <a:pPr>
                <a:defRPr sz="2025">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50112"/>
        <c:majorUnit val="4"/>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72768"/>
        <c:majorUnit val="2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10"/>
          <c:y val=".05"/>
          <c:w val=".85"/>
          <c:h val=".79"/>
        </c:manualLayout>
      </c:layout>
      <c:scatterChart>
        <c:scatterStyle val="line"/>
        <c:ser>
          <c:idx val="0"/>
          <c:order val="0"/>
          <c:tx>
            <c:v>Afleeshulp</c:v>
          </c:tx>
          <c:spPr>
            <a:ln xmlns:a="http://schemas.openxmlformats.org/drawingml/2006/main" w="14288">
              <a:solidFill>
                <a:srgbClr val="6B7C88"/>
              </a:solidFill>
              <a:prstDash val="dash"/>
            </a:ln>
          </c:spPr>
          <c:marker>
            <c:symbol val="none"/>
          </c:marker>
          <c:xVal>
            <c:numRef>
              <c:f>'Chart Data'!$A$2:$A$3</c:f>
              <c:numCache>
                <c:formatCode>General</c:formatCode>
                <c:ptCount val="2"/>
                <c:pt idx="0">
                  <c:v>75</c:v>
                </c:pt>
                <c:pt idx="1">
                  <c:v>75</c:v>
                </c:pt>
              </c:numCache>
            </c:numRef>
          </c:xVal>
          <c:yVal>
            <c:numRef>
              <c:f>'Chart Data'!$B$2:$B$3</c:f>
              <c:numCache>
                <c:formatCode>0</c:formatCode>
                <c:ptCount val="2"/>
                <c:pt idx="0">
                  <c:v>0</c:v>
                </c:pt>
                <c:pt idx="1">
                  <c:v>8</c:v>
                </c:pt>
              </c:numCache>
            </c:numRef>
          </c:yVal>
          <c:smooth val="0"/>
        </c:ser>
        <c:ser>
          <c:idx val="1"/>
          <c:order val="1"/>
          <c:tx>
            <c:v>MK</c:v>
          </c:tx>
          <c:spPr>
            <a:ln xmlns:a="http://schemas.openxmlformats.org/drawingml/2006/main" w="31433">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21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Data'!$C$2:$C$4</c:f>
              <c:numCache>
                <c:formatCode>General</c:formatCode>
                <c:ptCount val="3"/>
                <c:pt idx="0">
                  <c:v>0</c:v>
                </c:pt>
                <c:pt idx="1">
                  <c:v>83</c:v>
                </c:pt>
                <c:pt idx="2">
                  <c:v>100</c:v>
                </c:pt>
              </c:numCache>
            </c:numRef>
          </c:xVal>
          <c:yVal>
            <c:numRef>
              <c:f>'Chart Data'!$D$2:$D$4</c:f>
              <c:numCache>
                <c:formatCode>0</c:formatCode>
                <c:ptCount val="3"/>
                <c:pt idx="0">
                  <c:v>2</c:v>
                </c:pt>
                <c:pt idx="1">
                  <c:v>8.64</c:v>
                </c:pt>
                <c:pt idx="2">
                  <c:v>10</c:v>
                </c:pt>
              </c:numCache>
            </c:numRef>
          </c:yVal>
          <c:smooth val="0"/>
        </c:ser>
        <c:ser>
          <c:idx val="2"/>
          <c:order val="2"/>
          <c:tx>
            <c:v>P = GO = MO</c:v>
          </c:tx>
          <c:spPr>
            <a:ln xmlns:a="http://schemas.openxmlformats.org/drawingml/2006/main" w="31433">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Data'!$E$2:$E$4</c:f>
              <c:numCache>
                <c:formatCode>General</c:formatCode>
                <c:ptCount val="3"/>
                <c:pt idx="0">
                  <c:v>0</c:v>
                </c:pt>
                <c:pt idx="1">
                  <c:v>55</c:v>
                </c:pt>
                <c:pt idx="2">
                  <c:v>100</c:v>
                </c:pt>
              </c:numCache>
            </c:numRef>
          </c:xVal>
          <c:yVal>
            <c:numRef>
              <c:f>'Chart Data'!$F$2:$F$4</c:f>
              <c:numCache>
                <c:formatCode>0</c:formatCode>
                <c:ptCount val="3"/>
                <c:pt idx="0">
                  <c:v>8</c:v>
                </c:pt>
                <c:pt idx="1">
                  <c:v>8</c:v>
                </c:pt>
                <c:pt idx="2">
                  <c:v>8</c:v>
                </c:pt>
              </c:numCache>
            </c:numRef>
          </c:yVal>
          <c:smooth val="0"/>
        </c:ser>
        <c:ser>
          <c:idx val="3"/>
          <c:order val="3"/>
          <c:tx>
            <c:v>GTK</c:v>
          </c:tx>
          <c:spPr>
            <a:ln xmlns:a="http://schemas.openxmlformats.org/drawingml/2006/main" w="31433">
              <a:solidFill>
                <a:srgbClr val="A94D16"/>
              </a:solidFill>
            </a:ln>
          </c:spPr>
          <c:marker>
            <c:symbol val="none"/>
          </c:marker>
          <c:dLbls>
            <c:dLbl>
              <c:idx val="154"/>
              <c:tx>
                <c:rich>
                  <a:bodyPr xmlns:a="http://schemas.openxmlformats.org/drawingml/2006/main"/>
                  <a:lstStyle xmlns:a="http://schemas.openxmlformats.org/drawingml/2006/main"/>
                  <a:p xmlns:a="http://schemas.openxmlformats.org/drawingml/2006/main">
                    <a:r>
                      <a:rPr sz="21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21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Data'!$G$2:$G$187</c:f>
              <c:numCache>
                <c:formatCode>General</c:formatCode>
                <c:ptCount val="186"/>
                <c:pt idx="0">
                  <c:v>7.5</c:v>
                </c:pt>
                <c:pt idx="1">
                  <c:v>8</c:v>
                </c:pt>
                <c:pt idx="2">
                  <c:v>8.5</c:v>
                </c:pt>
                <c:pt idx="3">
                  <c:v>9</c:v>
                </c:pt>
                <c:pt idx="4">
                  <c:v>9.5</c:v>
                </c:pt>
                <c:pt idx="5">
                  <c:v>10</c:v>
                </c:pt>
                <c:pt idx="6">
                  <c:v>10.5</c:v>
                </c:pt>
                <c:pt idx="7">
                  <c:v>11</c:v>
                </c:pt>
                <c:pt idx="8">
                  <c:v>11.5</c:v>
                </c:pt>
                <c:pt idx="9">
                  <c:v>12</c:v>
                </c:pt>
                <c:pt idx="10">
                  <c:v>12.5</c:v>
                </c:pt>
                <c:pt idx="11">
                  <c:v>13</c:v>
                </c:pt>
                <c:pt idx="12">
                  <c:v>13.5</c:v>
                </c:pt>
                <c:pt idx="13">
                  <c:v>14</c:v>
                </c:pt>
                <c:pt idx="14">
                  <c:v>14.5</c:v>
                </c:pt>
                <c:pt idx="15">
                  <c:v>15</c:v>
                </c:pt>
                <c:pt idx="16">
                  <c:v>15.5</c:v>
                </c:pt>
                <c:pt idx="17">
                  <c:v>16</c:v>
                </c:pt>
                <c:pt idx="18">
                  <c:v>16.5</c:v>
                </c:pt>
                <c:pt idx="19">
                  <c:v>17</c:v>
                </c:pt>
                <c:pt idx="20">
                  <c:v>17.5</c:v>
                </c:pt>
                <c:pt idx="21">
                  <c:v>18</c:v>
                </c:pt>
                <c:pt idx="22">
                  <c:v>18.5</c:v>
                </c:pt>
                <c:pt idx="23">
                  <c:v>19</c:v>
                </c:pt>
                <c:pt idx="24">
                  <c:v>19.5</c:v>
                </c:pt>
                <c:pt idx="25">
                  <c:v>20</c:v>
                </c:pt>
                <c:pt idx="26">
                  <c:v>20.5</c:v>
                </c:pt>
                <c:pt idx="27">
                  <c:v>21</c:v>
                </c:pt>
                <c:pt idx="28">
                  <c:v>21.5</c:v>
                </c:pt>
                <c:pt idx="29">
                  <c:v>22</c:v>
                </c:pt>
                <c:pt idx="30">
                  <c:v>22.5</c:v>
                </c:pt>
                <c:pt idx="31">
                  <c:v>23</c:v>
                </c:pt>
                <c:pt idx="32">
                  <c:v>23.5</c:v>
                </c:pt>
                <c:pt idx="33">
                  <c:v>24</c:v>
                </c:pt>
                <c:pt idx="34">
                  <c:v>24.5</c:v>
                </c:pt>
                <c:pt idx="35">
                  <c:v>25</c:v>
                </c:pt>
                <c:pt idx="36">
                  <c:v>25.5</c:v>
                </c:pt>
                <c:pt idx="37">
                  <c:v>26</c:v>
                </c:pt>
                <c:pt idx="38">
                  <c:v>26.5</c:v>
                </c:pt>
                <c:pt idx="39">
                  <c:v>27</c:v>
                </c:pt>
                <c:pt idx="40">
                  <c:v>27.5</c:v>
                </c:pt>
                <c:pt idx="41">
                  <c:v>28</c:v>
                </c:pt>
                <c:pt idx="42">
                  <c:v>28.5</c:v>
                </c:pt>
                <c:pt idx="43">
                  <c:v>29</c:v>
                </c:pt>
                <c:pt idx="44">
                  <c:v>29.5</c:v>
                </c:pt>
                <c:pt idx="45">
                  <c:v>30</c:v>
                </c:pt>
                <c:pt idx="46">
                  <c:v>30.5</c:v>
                </c:pt>
                <c:pt idx="47">
                  <c:v>31</c:v>
                </c:pt>
                <c:pt idx="48">
                  <c:v>31.5</c:v>
                </c:pt>
                <c:pt idx="49">
                  <c:v>32</c:v>
                </c:pt>
                <c:pt idx="50">
                  <c:v>32.5</c:v>
                </c:pt>
                <c:pt idx="51">
                  <c:v>33</c:v>
                </c:pt>
                <c:pt idx="52">
                  <c:v>33.5</c:v>
                </c:pt>
                <c:pt idx="53">
                  <c:v>34</c:v>
                </c:pt>
                <c:pt idx="54">
                  <c:v>34.5</c:v>
                </c:pt>
                <c:pt idx="55">
                  <c:v>35</c:v>
                </c:pt>
                <c:pt idx="56">
                  <c:v>35.5</c:v>
                </c:pt>
                <c:pt idx="57">
                  <c:v>36</c:v>
                </c:pt>
                <c:pt idx="58">
                  <c:v>36.5</c:v>
                </c:pt>
                <c:pt idx="59">
                  <c:v>37</c:v>
                </c:pt>
                <c:pt idx="60">
                  <c:v>37.5</c:v>
                </c:pt>
                <c:pt idx="61">
                  <c:v>38</c:v>
                </c:pt>
                <c:pt idx="62">
                  <c:v>38.5</c:v>
                </c:pt>
                <c:pt idx="63">
                  <c:v>39</c:v>
                </c:pt>
                <c:pt idx="64">
                  <c:v>39.5</c:v>
                </c:pt>
                <c:pt idx="65">
                  <c:v>40</c:v>
                </c:pt>
                <c:pt idx="66">
                  <c:v>40.5</c:v>
                </c:pt>
                <c:pt idx="67">
                  <c:v>41</c:v>
                </c:pt>
                <c:pt idx="68">
                  <c:v>41.5</c:v>
                </c:pt>
                <c:pt idx="69">
                  <c:v>42</c:v>
                </c:pt>
                <c:pt idx="70">
                  <c:v>42.5</c:v>
                </c:pt>
                <c:pt idx="71">
                  <c:v>43</c:v>
                </c:pt>
                <c:pt idx="72">
                  <c:v>43.5</c:v>
                </c:pt>
                <c:pt idx="73">
                  <c:v>44</c:v>
                </c:pt>
                <c:pt idx="74">
                  <c:v>44.5</c:v>
                </c:pt>
                <c:pt idx="75">
                  <c:v>45</c:v>
                </c:pt>
                <c:pt idx="76">
                  <c:v>45.5</c:v>
                </c:pt>
                <c:pt idx="77">
                  <c:v>46</c:v>
                </c:pt>
                <c:pt idx="78">
                  <c:v>46.5</c:v>
                </c:pt>
                <c:pt idx="79">
                  <c:v>47</c:v>
                </c:pt>
                <c:pt idx="80">
                  <c:v>47.5</c:v>
                </c:pt>
                <c:pt idx="81">
                  <c:v>48</c:v>
                </c:pt>
                <c:pt idx="82">
                  <c:v>48.5</c:v>
                </c:pt>
                <c:pt idx="83">
                  <c:v>49</c:v>
                </c:pt>
                <c:pt idx="84">
                  <c:v>49.5</c:v>
                </c:pt>
                <c:pt idx="85">
                  <c:v>50</c:v>
                </c:pt>
                <c:pt idx="86">
                  <c:v>50.5</c:v>
                </c:pt>
                <c:pt idx="87">
                  <c:v>51</c:v>
                </c:pt>
                <c:pt idx="88">
                  <c:v>51.5</c:v>
                </c:pt>
                <c:pt idx="89">
                  <c:v>52</c:v>
                </c:pt>
                <c:pt idx="90">
                  <c:v>52.5</c:v>
                </c:pt>
                <c:pt idx="91">
                  <c:v>53</c:v>
                </c:pt>
                <c:pt idx="92">
                  <c:v>53.5</c:v>
                </c:pt>
                <c:pt idx="93">
                  <c:v>54</c:v>
                </c:pt>
                <c:pt idx="94">
                  <c:v>54.5</c:v>
                </c:pt>
                <c:pt idx="95">
                  <c:v>55</c:v>
                </c:pt>
                <c:pt idx="96">
                  <c:v>55.5</c:v>
                </c:pt>
                <c:pt idx="97">
                  <c:v>56</c:v>
                </c:pt>
                <c:pt idx="98">
                  <c:v>56.5</c:v>
                </c:pt>
                <c:pt idx="99">
                  <c:v>57</c:v>
                </c:pt>
                <c:pt idx="100">
                  <c:v>57.5</c:v>
                </c:pt>
                <c:pt idx="101">
                  <c:v>58</c:v>
                </c:pt>
                <c:pt idx="102">
                  <c:v>58.5</c:v>
                </c:pt>
                <c:pt idx="103">
                  <c:v>59</c:v>
                </c:pt>
                <c:pt idx="104">
                  <c:v>59.5</c:v>
                </c:pt>
                <c:pt idx="105">
                  <c:v>60</c:v>
                </c:pt>
                <c:pt idx="106">
                  <c:v>60.5</c:v>
                </c:pt>
                <c:pt idx="107">
                  <c:v>61</c:v>
                </c:pt>
                <c:pt idx="108">
                  <c:v>61.5</c:v>
                </c:pt>
                <c:pt idx="109">
                  <c:v>62</c:v>
                </c:pt>
                <c:pt idx="110">
                  <c:v>62.5</c:v>
                </c:pt>
                <c:pt idx="111">
                  <c:v>63</c:v>
                </c:pt>
                <c:pt idx="112">
                  <c:v>63.5</c:v>
                </c:pt>
                <c:pt idx="113">
                  <c:v>64</c:v>
                </c:pt>
                <c:pt idx="114">
                  <c:v>64.5</c:v>
                </c:pt>
                <c:pt idx="115">
                  <c:v>65</c:v>
                </c:pt>
                <c:pt idx="116">
                  <c:v>65.5</c:v>
                </c:pt>
                <c:pt idx="117">
                  <c:v>66</c:v>
                </c:pt>
                <c:pt idx="118">
                  <c:v>66.5</c:v>
                </c:pt>
                <c:pt idx="119">
                  <c:v>67</c:v>
                </c:pt>
                <c:pt idx="120">
                  <c:v>67.5</c:v>
                </c:pt>
                <c:pt idx="121">
                  <c:v>68</c:v>
                </c:pt>
                <c:pt idx="122">
                  <c:v>68.5</c:v>
                </c:pt>
                <c:pt idx="123">
                  <c:v>69</c:v>
                </c:pt>
                <c:pt idx="124">
                  <c:v>69.5</c:v>
                </c:pt>
                <c:pt idx="125">
                  <c:v>70</c:v>
                </c:pt>
                <c:pt idx="126">
                  <c:v>70.5</c:v>
                </c:pt>
                <c:pt idx="127">
                  <c:v>71</c:v>
                </c:pt>
                <c:pt idx="128">
                  <c:v>71.5</c:v>
                </c:pt>
                <c:pt idx="129">
                  <c:v>72</c:v>
                </c:pt>
                <c:pt idx="130">
                  <c:v>72.5</c:v>
                </c:pt>
                <c:pt idx="131">
                  <c:v>73</c:v>
                </c:pt>
                <c:pt idx="132">
                  <c:v>73.5</c:v>
                </c:pt>
                <c:pt idx="133">
                  <c:v>74</c:v>
                </c:pt>
                <c:pt idx="134">
                  <c:v>74.5</c:v>
                </c:pt>
                <c:pt idx="135">
                  <c:v>75</c:v>
                </c:pt>
                <c:pt idx="136">
                  <c:v>75.5</c:v>
                </c:pt>
                <c:pt idx="137">
                  <c:v>76</c:v>
                </c:pt>
                <c:pt idx="138">
                  <c:v>76.5</c:v>
                </c:pt>
                <c:pt idx="139">
                  <c:v>77</c:v>
                </c:pt>
                <c:pt idx="140">
                  <c:v>77.5</c:v>
                </c:pt>
                <c:pt idx="141">
                  <c:v>78</c:v>
                </c:pt>
                <c:pt idx="142">
                  <c:v>78.5</c:v>
                </c:pt>
                <c:pt idx="143">
                  <c:v>79</c:v>
                </c:pt>
                <c:pt idx="144">
                  <c:v>79.5</c:v>
                </c:pt>
                <c:pt idx="145">
                  <c:v>80</c:v>
                </c:pt>
                <c:pt idx="146">
                  <c:v>80.5</c:v>
                </c:pt>
                <c:pt idx="147">
                  <c:v>81</c:v>
                </c:pt>
                <c:pt idx="148">
                  <c:v>81.5</c:v>
                </c:pt>
                <c:pt idx="149">
                  <c:v>82</c:v>
                </c:pt>
                <c:pt idx="150">
                  <c:v>82.5</c:v>
                </c:pt>
                <c:pt idx="151">
                  <c:v>83</c:v>
                </c:pt>
                <c:pt idx="152">
                  <c:v>83.5</c:v>
                </c:pt>
                <c:pt idx="153">
                  <c:v>84</c:v>
                </c:pt>
                <c:pt idx="154">
                  <c:v>84.5</c:v>
                </c:pt>
                <c:pt idx="155">
                  <c:v>85</c:v>
                </c:pt>
                <c:pt idx="156">
                  <c:v>85.5</c:v>
                </c:pt>
                <c:pt idx="157">
                  <c:v>86</c:v>
                </c:pt>
                <c:pt idx="158">
                  <c:v>86.5</c:v>
                </c:pt>
                <c:pt idx="159">
                  <c:v>87</c:v>
                </c:pt>
                <c:pt idx="160">
                  <c:v>87.5</c:v>
                </c:pt>
                <c:pt idx="161">
                  <c:v>88</c:v>
                </c:pt>
                <c:pt idx="162">
                  <c:v>88.5</c:v>
                </c:pt>
                <c:pt idx="163">
                  <c:v>89</c:v>
                </c:pt>
                <c:pt idx="164">
                  <c:v>89.5</c:v>
                </c:pt>
                <c:pt idx="165">
                  <c:v>90</c:v>
                </c:pt>
                <c:pt idx="166">
                  <c:v>90.5</c:v>
                </c:pt>
                <c:pt idx="167">
                  <c:v>91</c:v>
                </c:pt>
                <c:pt idx="168">
                  <c:v>91.5</c:v>
                </c:pt>
                <c:pt idx="169">
                  <c:v>92</c:v>
                </c:pt>
                <c:pt idx="170">
                  <c:v>92.5</c:v>
                </c:pt>
                <c:pt idx="171">
                  <c:v>93</c:v>
                </c:pt>
                <c:pt idx="172">
                  <c:v>93.5</c:v>
                </c:pt>
                <c:pt idx="173">
                  <c:v>94</c:v>
                </c:pt>
                <c:pt idx="174">
                  <c:v>94.5</c:v>
                </c:pt>
                <c:pt idx="175">
                  <c:v>95</c:v>
                </c:pt>
                <c:pt idx="176">
                  <c:v>95.5</c:v>
                </c:pt>
                <c:pt idx="177">
                  <c:v>96</c:v>
                </c:pt>
                <c:pt idx="178">
                  <c:v>96.5</c:v>
                </c:pt>
                <c:pt idx="179">
                  <c:v>97</c:v>
                </c:pt>
                <c:pt idx="180">
                  <c:v>97.5</c:v>
                </c:pt>
                <c:pt idx="181">
                  <c:v>98</c:v>
                </c:pt>
                <c:pt idx="182">
                  <c:v>98.5</c:v>
                </c:pt>
                <c:pt idx="183">
                  <c:v>99</c:v>
                </c:pt>
                <c:pt idx="184">
                  <c:v>99.5</c:v>
                </c:pt>
                <c:pt idx="185">
                  <c:v>100</c:v>
                </c:pt>
              </c:numCache>
            </c:numRef>
          </c:xVal>
          <c:yVal>
            <c:numRef>
              <c:f>'Chart Data'!$H$2:$H$187</c:f>
              <c:numCache>
                <c:formatCode>0</c:formatCode>
                <c:ptCount val="186"/>
                <c:pt idx="0">
                  <c:v>15.6333333333</c:v>
                </c:pt>
                <c:pt idx="1">
                  <c:v>14.82</c:v>
                </c:pt>
                <c:pt idx="2">
                  <c:v>14.1047058824</c:v>
                </c:pt>
                <c:pt idx="3">
                  <c:v>13.4711111111</c:v>
                </c:pt>
                <c:pt idx="4">
                  <c:v>12.9063157895</c:v>
                </c:pt>
                <c:pt idx="5">
                  <c:v>12.4</c:v>
                </c:pt>
                <c:pt idx="6">
                  <c:v>11.9438095238</c:v>
                </c:pt>
                <c:pt idx="7">
                  <c:v>11.5309090909</c:v>
                </c:pt>
                <c:pt idx="8">
                  <c:v>11.1556521739</c:v>
                </c:pt>
                <c:pt idx="9">
                  <c:v>10.8133333333</c:v>
                </c:pt>
                <c:pt idx="10">
                  <c:v>10.5</c:v>
                </c:pt>
                <c:pt idx="11">
                  <c:v>10.2123076923</c:v>
                </c:pt>
                <c:pt idx="12">
                  <c:v>9.9474074074</c:v>
                </c:pt>
                <c:pt idx="13">
                  <c:v>9.7028571429</c:v>
                </c:pt>
                <c:pt idx="14">
                  <c:v>9.4765517241</c:v>
                </c:pt>
                <c:pt idx="15">
                  <c:v>9.2666666667</c:v>
                </c:pt>
                <c:pt idx="16">
                  <c:v>9.0716129032</c:v>
                </c:pt>
                <c:pt idx="17">
                  <c:v>8.89</c:v>
                </c:pt>
                <c:pt idx="18">
                  <c:v>8.7206060606</c:v>
                </c:pt>
                <c:pt idx="19">
                  <c:v>8.5623529412</c:v>
                </c:pt>
                <c:pt idx="20">
                  <c:v>8.4142857143</c:v>
                </c:pt>
                <c:pt idx="21">
                  <c:v>8.2755555556</c:v>
                </c:pt>
                <c:pt idx="22">
                  <c:v>8.1454054054</c:v>
                </c:pt>
                <c:pt idx="23">
                  <c:v>8.0231578947</c:v>
                </c:pt>
                <c:pt idx="24">
                  <c:v>7.9082051282</c:v>
                </c:pt>
                <c:pt idx="25">
                  <c:v>7.8</c:v>
                </c:pt>
                <c:pt idx="26">
                  <c:v>7.6980487805</c:v>
                </c:pt>
                <c:pt idx="27">
                  <c:v>7.6019047619</c:v>
                </c:pt>
                <c:pt idx="28">
                  <c:v>7.5111627907</c:v>
                </c:pt>
                <c:pt idx="29">
                  <c:v>7.4254545455</c:v>
                </c:pt>
                <c:pt idx="30">
                  <c:v>7.3444444444</c:v>
                </c:pt>
                <c:pt idx="31">
                  <c:v>7.267826087</c:v>
                </c:pt>
                <c:pt idx="32">
                  <c:v>7.1953191489</c:v>
                </c:pt>
                <c:pt idx="33">
                  <c:v>7.1266666667</c:v>
                </c:pt>
                <c:pt idx="34">
                  <c:v>7.0616326531</c:v>
                </c:pt>
                <c:pt idx="35">
                  <c:v>7</c:v>
                </c:pt>
                <c:pt idx="36">
                  <c:v>6.9415686275</c:v>
                </c:pt>
                <c:pt idx="37">
                  <c:v>6.8861538462</c:v>
                </c:pt>
                <c:pt idx="38">
                  <c:v>6.8335849057</c:v>
                </c:pt>
                <c:pt idx="39">
                  <c:v>6.7837037037</c:v>
                </c:pt>
                <c:pt idx="40">
                  <c:v>6.7363636364</c:v>
                </c:pt>
                <c:pt idx="41">
                  <c:v>6.6914285714</c:v>
                </c:pt>
                <c:pt idx="42">
                  <c:v>6.6487719298</c:v>
                </c:pt>
                <c:pt idx="43">
                  <c:v>6.6082758621</c:v>
                </c:pt>
                <c:pt idx="44">
                  <c:v>6.5698305085</c:v>
                </c:pt>
                <c:pt idx="45">
                  <c:v>6.5333333333</c:v>
                </c:pt>
                <c:pt idx="46">
                  <c:v>6.4986885246</c:v>
                </c:pt>
                <c:pt idx="47">
                  <c:v>6.4658064516</c:v>
                </c:pt>
                <c:pt idx="48">
                  <c:v>6.4346031746</c:v>
                </c:pt>
                <c:pt idx="49">
                  <c:v>6.405</c:v>
                </c:pt>
                <c:pt idx="50">
                  <c:v>6.3769230769</c:v>
                </c:pt>
                <c:pt idx="51">
                  <c:v>6.3503030303</c:v>
                </c:pt>
                <c:pt idx="52">
                  <c:v>6.3250746269</c:v>
                </c:pt>
                <c:pt idx="53">
                  <c:v>6.3011764706</c:v>
                </c:pt>
                <c:pt idx="54">
                  <c:v>6.2785507246</c:v>
                </c:pt>
                <c:pt idx="55">
                  <c:v>6.2571428571</c:v>
                </c:pt>
                <c:pt idx="56">
                  <c:v>6.2369014085</c:v>
                </c:pt>
                <c:pt idx="57">
                  <c:v>6.2177777778</c:v>
                </c:pt>
                <c:pt idx="58">
                  <c:v>6.1997260274</c:v>
                </c:pt>
                <c:pt idx="59">
                  <c:v>6.1827027027</c:v>
                </c:pt>
                <c:pt idx="60">
                  <c:v>6.1666666667</c:v>
                </c:pt>
                <c:pt idx="61">
                  <c:v>6.1515789474</c:v>
                </c:pt>
                <c:pt idx="62">
                  <c:v>6.1374025974</c:v>
                </c:pt>
                <c:pt idx="63">
                  <c:v>6.1241025641</c:v>
                </c:pt>
                <c:pt idx="64">
                  <c:v>6.1116455696</c:v>
                </c:pt>
                <c:pt idx="65">
                  <c:v>6.1</c:v>
                </c:pt>
                <c:pt idx="66">
                  <c:v>6.0891358025</c:v>
                </c:pt>
                <c:pt idx="67">
                  <c:v>6.0790243902</c:v>
                </c:pt>
                <c:pt idx="68">
                  <c:v>6.0696385542</c:v>
                </c:pt>
                <c:pt idx="69">
                  <c:v>6.060952381</c:v>
                </c:pt>
                <c:pt idx="70">
                  <c:v>6.0529411765</c:v>
                </c:pt>
                <c:pt idx="71">
                  <c:v>6.0455813953</c:v>
                </c:pt>
                <c:pt idx="72">
                  <c:v>6.0388505747</c:v>
                </c:pt>
                <c:pt idx="73">
                  <c:v>6.0327272727</c:v>
                </c:pt>
                <c:pt idx="74">
                  <c:v>6.0271910112</c:v>
                </c:pt>
                <c:pt idx="75">
                  <c:v>6.0222222222</c:v>
                </c:pt>
                <c:pt idx="76">
                  <c:v>6.0178021978</c:v>
                </c:pt>
                <c:pt idx="77">
                  <c:v>6.0139130435</c:v>
                </c:pt>
                <c:pt idx="78">
                  <c:v>6.0105376344</c:v>
                </c:pt>
                <c:pt idx="79">
                  <c:v>6.0076595745</c:v>
                </c:pt>
                <c:pt idx="80">
                  <c:v>6.0052631579</c:v>
                </c:pt>
                <c:pt idx="81">
                  <c:v>6.0033333333</c:v>
                </c:pt>
                <c:pt idx="82">
                  <c:v>6.0018556701</c:v>
                </c:pt>
                <c:pt idx="83">
                  <c:v>6.0008163265</c:v>
                </c:pt>
                <c:pt idx="84">
                  <c:v>6.0002020202</c:v>
                </c:pt>
                <c:pt idx="85">
                  <c:v>6</c:v>
                </c:pt>
                <c:pt idx="86">
                  <c:v>6.0001980198</c:v>
                </c:pt>
                <c:pt idx="87">
                  <c:v>6.0007843137</c:v>
                </c:pt>
                <c:pt idx="88">
                  <c:v>6.0017475728</c:v>
                </c:pt>
                <c:pt idx="89">
                  <c:v>6.0030769231</c:v>
                </c:pt>
                <c:pt idx="90">
                  <c:v>6.0047619048</c:v>
                </c:pt>
                <c:pt idx="91">
                  <c:v>6.0067924528</c:v>
                </c:pt>
                <c:pt idx="92">
                  <c:v>6.0091588785</c:v>
                </c:pt>
                <c:pt idx="93">
                  <c:v>6.0118518519</c:v>
                </c:pt>
                <c:pt idx="94">
                  <c:v>6.0148623853</c:v>
                </c:pt>
                <c:pt idx="95">
                  <c:v>6.0181818182</c:v>
                </c:pt>
                <c:pt idx="96">
                  <c:v>6.0218018018</c:v>
                </c:pt>
                <c:pt idx="97">
                  <c:v>6.0257142857</c:v>
                </c:pt>
                <c:pt idx="98">
                  <c:v>6.0299115044</c:v>
                </c:pt>
                <c:pt idx="99">
                  <c:v>6.0343859649</c:v>
                </c:pt>
                <c:pt idx="100">
                  <c:v>6.0391304348</c:v>
                </c:pt>
                <c:pt idx="101">
                  <c:v>6.044137931</c:v>
                </c:pt>
                <c:pt idx="102">
                  <c:v>6.0494017094</c:v>
                </c:pt>
                <c:pt idx="103">
                  <c:v>6.0549152542</c:v>
                </c:pt>
                <c:pt idx="104">
                  <c:v>6.0606722689</c:v>
                </c:pt>
                <c:pt idx="105">
                  <c:v>6.0666666667</c:v>
                </c:pt>
                <c:pt idx="106">
                  <c:v>6.072892562</c:v>
                </c:pt>
                <c:pt idx="107">
                  <c:v>6.0793442623</c:v>
                </c:pt>
                <c:pt idx="108">
                  <c:v>6.0860162602</c:v>
                </c:pt>
                <c:pt idx="109">
                  <c:v>6.0929032258</c:v>
                </c:pt>
                <c:pt idx="110">
                  <c:v>6.1</c:v>
                </c:pt>
                <c:pt idx="111">
                  <c:v>6.1073015873</c:v>
                </c:pt>
                <c:pt idx="112">
                  <c:v>6.1148031496</c:v>
                </c:pt>
                <c:pt idx="113">
                  <c:v>6.1225</c:v>
                </c:pt>
                <c:pt idx="114">
                  <c:v>6.1303875969</c:v>
                </c:pt>
                <c:pt idx="115">
                  <c:v>6.1384615385</c:v>
                </c:pt>
                <c:pt idx="116">
                  <c:v>6.1467175573</c:v>
                </c:pt>
                <c:pt idx="117">
                  <c:v>6.1551515152</c:v>
                </c:pt>
                <c:pt idx="118">
                  <c:v>6.1637593985</c:v>
                </c:pt>
                <c:pt idx="119">
                  <c:v>6.1725373134</c:v>
                </c:pt>
                <c:pt idx="120">
                  <c:v>6.1814814815</c:v>
                </c:pt>
                <c:pt idx="121">
                  <c:v>6.1905882353</c:v>
                </c:pt>
                <c:pt idx="122">
                  <c:v>6.1998540146</c:v>
                </c:pt>
                <c:pt idx="123">
                  <c:v>6.2092753623</c:v>
                </c:pt>
                <c:pt idx="124">
                  <c:v>6.2188489209</c:v>
                </c:pt>
                <c:pt idx="125">
                  <c:v>6.2285714286</c:v>
                </c:pt>
                <c:pt idx="126">
                  <c:v>6.2384397163</c:v>
                </c:pt>
                <c:pt idx="127">
                  <c:v>6.2484507042</c:v>
                </c:pt>
                <c:pt idx="128">
                  <c:v>6.2586013986</c:v>
                </c:pt>
                <c:pt idx="129">
                  <c:v>6.2688888889</c:v>
                </c:pt>
                <c:pt idx="130">
                  <c:v>6.2793103448</c:v>
                </c:pt>
                <c:pt idx="131">
                  <c:v>6.2898630137</c:v>
                </c:pt>
                <c:pt idx="132">
                  <c:v>6.3005442177</c:v>
                </c:pt>
                <c:pt idx="133">
                  <c:v>6.3113513514</c:v>
                </c:pt>
                <c:pt idx="134">
                  <c:v>6.3222818792</c:v>
                </c:pt>
                <c:pt idx="135">
                  <c:v>6.3333333333</c:v>
                </c:pt>
                <c:pt idx="136">
                  <c:v>6.3445033113</c:v>
                </c:pt>
                <c:pt idx="137">
                  <c:v>6.3557894737</c:v>
                </c:pt>
                <c:pt idx="138">
                  <c:v>6.3671895425</c:v>
                </c:pt>
                <c:pt idx="139">
                  <c:v>6.3787012987</c:v>
                </c:pt>
                <c:pt idx="140">
                  <c:v>6.3903225806</c:v>
                </c:pt>
                <c:pt idx="141">
                  <c:v>6.4020512821</c:v>
                </c:pt>
                <c:pt idx="142">
                  <c:v>6.4138853503</c:v>
                </c:pt>
                <c:pt idx="143">
                  <c:v>6.4258227848</c:v>
                </c:pt>
                <c:pt idx="144">
                  <c:v>6.4378616352</c:v>
                </c:pt>
                <c:pt idx="145">
                  <c:v>6.45</c:v>
                </c:pt>
                <c:pt idx="146">
                  <c:v>6.4622360248</c:v>
                </c:pt>
                <c:pt idx="147">
                  <c:v>6.4745679012</c:v>
                </c:pt>
                <c:pt idx="148">
                  <c:v>6.486993865</c:v>
                </c:pt>
                <c:pt idx="149">
                  <c:v>6.4995121951</c:v>
                </c:pt>
                <c:pt idx="150">
                  <c:v>6.5121212121</c:v>
                </c:pt>
                <c:pt idx="151">
                  <c:v>6.5248192771</c:v>
                </c:pt>
                <c:pt idx="152">
                  <c:v>6.5376047904</c:v>
                </c:pt>
                <c:pt idx="153">
                  <c:v>6.5504761905</c:v>
                </c:pt>
                <c:pt idx="154">
                  <c:v>6.5634319527</c:v>
                </c:pt>
                <c:pt idx="155">
                  <c:v>6.5764705882</c:v>
                </c:pt>
                <c:pt idx="156">
                  <c:v>6.5895906433</c:v>
                </c:pt>
                <c:pt idx="157">
                  <c:v>6.6027906977</c:v>
                </c:pt>
                <c:pt idx="158">
                  <c:v>6.6160693642</c:v>
                </c:pt>
                <c:pt idx="159">
                  <c:v>6.6294252874</c:v>
                </c:pt>
                <c:pt idx="160">
                  <c:v>6.6428571429</c:v>
                </c:pt>
                <c:pt idx="161">
                  <c:v>6.6563636364</c:v>
                </c:pt>
                <c:pt idx="162">
                  <c:v>6.6699435028</c:v>
                </c:pt>
                <c:pt idx="163">
                  <c:v>6.6835955056</c:v>
                </c:pt>
                <c:pt idx="164">
                  <c:v>6.6973184358</c:v>
                </c:pt>
                <c:pt idx="165">
                  <c:v>6.7111111111</c:v>
                </c:pt>
                <c:pt idx="166">
                  <c:v>6.7249723757</c:v>
                </c:pt>
                <c:pt idx="167">
                  <c:v>6.7389010989</c:v>
                </c:pt>
                <c:pt idx="168">
                  <c:v>6.7528961749</c:v>
                </c:pt>
                <c:pt idx="169">
                  <c:v>6.7669565217</c:v>
                </c:pt>
                <c:pt idx="170">
                  <c:v>6.7810810811</c:v>
                </c:pt>
                <c:pt idx="171">
                  <c:v>6.7952688172</c:v>
                </c:pt>
                <c:pt idx="172">
                  <c:v>6.8095187166</c:v>
                </c:pt>
                <c:pt idx="173">
                  <c:v>6.8238297872</c:v>
                </c:pt>
                <c:pt idx="174">
                  <c:v>6.8382010582</c:v>
                </c:pt>
                <c:pt idx="175">
                  <c:v>6.8526315789</c:v>
                </c:pt>
                <c:pt idx="176">
                  <c:v>6.8671204188</c:v>
                </c:pt>
                <c:pt idx="177">
                  <c:v>6.8816666667</c:v>
                </c:pt>
                <c:pt idx="178">
                  <c:v>6.8962694301</c:v>
                </c:pt>
                <c:pt idx="179">
                  <c:v>6.9109278351</c:v>
                </c:pt>
                <c:pt idx="180">
                  <c:v>6.9256410256</c:v>
                </c:pt>
                <c:pt idx="181">
                  <c:v>6.9404081633</c:v>
                </c:pt>
                <c:pt idx="182">
                  <c:v>6.9552284264</c:v>
                </c:pt>
                <c:pt idx="183">
                  <c:v>6.9701010101</c:v>
                </c:pt>
                <c:pt idx="184">
                  <c:v>6.9850251256</c:v>
                </c:pt>
                <c:pt idx="185">
                  <c:v>7</c:v>
                </c:pt>
              </c:numCache>
            </c:numRef>
          </c:yVal>
          <c:smooth val="0"/>
        </c:ser>
        <c:dLbls>
          <c:txPr>
            <a:bodyPr xmlns:a="http://schemas.openxmlformats.org/drawingml/2006/main" anchorCtr="1"/>
            <a:lstStyle xmlns:a="http://schemas.openxmlformats.org/drawingml/2006/main"/>
            <a:p xmlns:a="http://schemas.openxmlformats.org/drawingml/2006/main">
              <a:pPr>
                <a:defRPr sz="2025">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50112"/>
        <c:majorUnit val="4"/>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72768"/>
        <c:majorUnit val="2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10"/>
          <c:y val=".05"/>
          <c:w val=".85"/>
          <c:h val=".79"/>
        </c:manualLayout>
      </c:layout>
      <c:scatterChart>
        <c:scatterStyle val="line"/>
        <c:ser>
          <c:idx val="0"/>
          <c:order val="0"/>
          <c:tx>
            <c:v>Capaciteit</c:v>
          </c:tx>
          <c:spPr>
            <a:ln xmlns:a="http://schemas.openxmlformats.org/drawingml/2006/main" w="19050">
              <a:solidFill>
                <a:srgbClr val="A94D16"/>
              </a:solidFill>
              <a:prstDash val="dash"/>
            </a:ln>
          </c:spPr>
          <c:marker>
            <c:symbol val="none"/>
          </c:marker>
          <c:xVal>
            <c:numRef>
              <c:f>'Chart Data'!$A$2:$A$3</c:f>
              <c:numCache>
                <c:formatCode>General</c:formatCode>
                <c:ptCount val="2"/>
                <c:pt idx="0">
                  <c:v>60</c:v>
                </c:pt>
                <c:pt idx="1">
                  <c:v>60</c:v>
                </c:pt>
              </c:numCache>
            </c:numRef>
          </c:xVal>
          <c:yVal>
            <c:numRef>
              <c:f>'Chart Data'!$B$2:$B$3</c:f>
              <c:numCache>
                <c:formatCode>0</c:formatCode>
                <c:ptCount val="2"/>
                <c:pt idx="0">
                  <c:v>0</c:v>
                </c:pt>
                <c:pt idx="1">
                  <c:v>16</c:v>
                </c:pt>
              </c:numCache>
            </c:numRef>
          </c:yVal>
          <c:smooth val="0"/>
        </c:ser>
        <c:ser>
          <c:idx val="1"/>
          <c:order val="1"/>
          <c:tx>
            <c:v>MK</c:v>
          </c:tx>
          <c:spPr>
            <a:ln xmlns:a="http://schemas.openxmlformats.org/drawingml/2006/main" w="31433">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21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Data'!$C$2:$C$4</c:f>
              <c:numCache>
                <c:formatCode>General</c:formatCode>
                <c:ptCount val="3"/>
                <c:pt idx="0">
                  <c:v>0</c:v>
                </c:pt>
                <c:pt idx="1">
                  <c:v>83</c:v>
                </c:pt>
                <c:pt idx="2">
                  <c:v>100</c:v>
                </c:pt>
              </c:numCache>
            </c:numRef>
          </c:xVal>
          <c:yVal>
            <c:numRef>
              <c:f>'Chart Data'!$D$2:$D$4</c:f>
              <c:numCache>
                <c:formatCode>0</c:formatCode>
                <c:ptCount val="3"/>
                <c:pt idx="0">
                  <c:v>2</c:v>
                </c:pt>
                <c:pt idx="1">
                  <c:v>8.64</c:v>
                </c:pt>
                <c:pt idx="2">
                  <c:v>10</c:v>
                </c:pt>
              </c:numCache>
            </c:numRef>
          </c:yVal>
          <c:smooth val="0"/>
        </c:ser>
        <c:ser>
          <c:idx val="2"/>
          <c:order val="2"/>
          <c:tx>
            <c:v>P = GO = MO</c:v>
          </c:tx>
          <c:spPr>
            <a:ln xmlns:a="http://schemas.openxmlformats.org/drawingml/2006/main" w="31433">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Data'!$E$2:$E$4</c:f>
              <c:numCache>
                <c:formatCode>General</c:formatCode>
                <c:ptCount val="3"/>
                <c:pt idx="0">
                  <c:v>0</c:v>
                </c:pt>
                <c:pt idx="1">
                  <c:v>40</c:v>
                </c:pt>
                <c:pt idx="2">
                  <c:v>100</c:v>
                </c:pt>
              </c:numCache>
            </c:numRef>
          </c:xVal>
          <c:yVal>
            <c:numRef>
              <c:f>'Chart Data'!$F$2:$F$4</c:f>
              <c:numCache>
                <c:formatCode>0</c:formatCode>
                <c:ptCount val="3"/>
                <c:pt idx="0">
                  <c:v>8</c:v>
                </c:pt>
                <c:pt idx="1">
                  <c:v>8</c:v>
                </c:pt>
                <c:pt idx="2">
                  <c:v>8</c:v>
                </c:pt>
              </c:numCache>
            </c:numRef>
          </c:yVal>
          <c:smooth val="0"/>
        </c:ser>
        <c:dLbls>
          <c:txPr>
            <a:bodyPr xmlns:a="http://schemas.openxmlformats.org/drawingml/2006/main" anchorCtr="1"/>
            <a:lstStyle xmlns:a="http://schemas.openxmlformats.org/drawingml/2006/main"/>
            <a:p xmlns:a="http://schemas.openxmlformats.org/drawingml/2006/main">
              <a:pPr>
                <a:defRPr sz="2025">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50112"/>
        <c:majorUnit val="4"/>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72768"/>
        <c:majorUnit val="2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10"/>
          <c:y val=".05"/>
          <c:w val=".85"/>
          <c:h val=".79"/>
        </c:manualLayout>
      </c:layout>
      <c:scatterChart>
        <c:scatterStyle val="line"/>
        <c:ser>
          <c:idx val="0"/>
          <c:order val="0"/>
          <c:tx>
            <c:v>MK</c:v>
          </c:tx>
          <c:spPr>
            <a:ln xmlns:a="http://schemas.openxmlformats.org/drawingml/2006/main" w="31433">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21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Data'!$A$2:$A$4</c:f>
              <c:numCache>
                <c:formatCode>General</c:formatCode>
                <c:ptCount val="3"/>
                <c:pt idx="0">
                  <c:v>0</c:v>
                </c:pt>
                <c:pt idx="1">
                  <c:v>166</c:v>
                </c:pt>
                <c:pt idx="2">
                  <c:v>200</c:v>
                </c:pt>
              </c:numCache>
            </c:numRef>
          </c:xVal>
          <c:yVal>
            <c:numRef>
              <c:f>'Chart Data'!$B$2:$B$4</c:f>
              <c:numCache>
                <c:formatCode>0</c:formatCode>
                <c:ptCount val="3"/>
                <c:pt idx="0">
                  <c:v>4</c:v>
                </c:pt>
                <c:pt idx="1">
                  <c:v>17.28</c:v>
                </c:pt>
                <c:pt idx="2">
                  <c:v>20</c:v>
                </c:pt>
              </c:numCache>
            </c:numRef>
          </c:yVal>
          <c:smooth val="0"/>
        </c:ser>
        <c:ser>
          <c:idx val="1"/>
          <c:order val="1"/>
          <c:tx>
            <c:v>P = GO = MO</c:v>
          </c:tx>
          <c:spPr>
            <a:ln xmlns:a="http://schemas.openxmlformats.org/drawingml/2006/main" w="31433">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Data'!$C$2:$C$4</c:f>
              <c:numCache>
                <c:formatCode>General</c:formatCode>
                <c:ptCount val="3"/>
                <c:pt idx="0">
                  <c:v>0</c:v>
                </c:pt>
                <c:pt idx="1">
                  <c:v>110</c:v>
                </c:pt>
                <c:pt idx="2">
                  <c:v>200</c:v>
                </c:pt>
              </c:numCache>
            </c:numRef>
          </c:xVal>
          <c:yVal>
            <c:numRef>
              <c:f>'Chart Data'!$D$2:$D$4</c:f>
              <c:numCache>
                <c:formatCode>0</c:formatCode>
                <c:ptCount val="3"/>
                <c:pt idx="0">
                  <c:v>16</c:v>
                </c:pt>
                <c:pt idx="1">
                  <c:v>16</c:v>
                </c:pt>
                <c:pt idx="2">
                  <c:v>16</c:v>
                </c:pt>
              </c:numCache>
            </c:numRef>
          </c:yVal>
          <c:smooth val="0"/>
        </c:ser>
        <c:ser>
          <c:idx val="2"/>
          <c:order val="2"/>
          <c:tx>
            <c:v>GTK</c:v>
          </c:tx>
          <c:spPr>
            <a:ln xmlns:a="http://schemas.openxmlformats.org/drawingml/2006/main" w="31433">
              <a:solidFill>
                <a:srgbClr val="A94D16"/>
              </a:solidFill>
            </a:ln>
          </c:spPr>
          <c:marker>
            <c:symbol val="none"/>
          </c:marker>
          <c:dLbls>
            <c:dLbl>
              <c:idx val="297"/>
              <c:tx>
                <c:rich>
                  <a:bodyPr xmlns:a="http://schemas.openxmlformats.org/drawingml/2006/main"/>
                  <a:lstStyle xmlns:a="http://schemas.openxmlformats.org/drawingml/2006/main"/>
                  <a:p xmlns:a="http://schemas.openxmlformats.org/drawingml/2006/main">
                    <a:r>
                      <a:rPr sz="21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21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Data'!$E$2:$E$360</c:f>
              <c:numCache>
                <c:formatCode>General</c:formatCode>
                <c:ptCount val="359"/>
                <c:pt idx="0">
                  <c:v>21</c:v>
                </c:pt>
                <c:pt idx="1">
                  <c:v>21.5</c:v>
                </c:pt>
                <c:pt idx="2">
                  <c:v>22</c:v>
                </c:pt>
                <c:pt idx="3">
                  <c:v>22.5</c:v>
                </c:pt>
                <c:pt idx="4">
                  <c:v>23</c:v>
                </c:pt>
                <c:pt idx="5">
                  <c:v>23.5</c:v>
                </c:pt>
                <c:pt idx="6">
                  <c:v>24</c:v>
                </c:pt>
                <c:pt idx="7">
                  <c:v>24.5</c:v>
                </c:pt>
                <c:pt idx="8">
                  <c:v>25</c:v>
                </c:pt>
                <c:pt idx="9">
                  <c:v>25.5</c:v>
                </c:pt>
                <c:pt idx="10">
                  <c:v>26</c:v>
                </c:pt>
                <c:pt idx="11">
                  <c:v>26.5</c:v>
                </c:pt>
                <c:pt idx="12">
                  <c:v>27</c:v>
                </c:pt>
                <c:pt idx="13">
                  <c:v>27.5</c:v>
                </c:pt>
                <c:pt idx="14">
                  <c:v>28</c:v>
                </c:pt>
                <c:pt idx="15">
                  <c:v>28.5</c:v>
                </c:pt>
                <c:pt idx="16">
                  <c:v>29</c:v>
                </c:pt>
                <c:pt idx="17">
                  <c:v>29.5</c:v>
                </c:pt>
                <c:pt idx="18">
                  <c:v>30</c:v>
                </c:pt>
                <c:pt idx="19">
                  <c:v>30.5</c:v>
                </c:pt>
                <c:pt idx="20">
                  <c:v>31</c:v>
                </c:pt>
                <c:pt idx="21">
                  <c:v>31.5</c:v>
                </c:pt>
                <c:pt idx="22">
                  <c:v>32</c:v>
                </c:pt>
                <c:pt idx="23">
                  <c:v>32.5</c:v>
                </c:pt>
                <c:pt idx="24">
                  <c:v>33</c:v>
                </c:pt>
                <c:pt idx="25">
                  <c:v>33.5</c:v>
                </c:pt>
                <c:pt idx="26">
                  <c:v>34</c:v>
                </c:pt>
                <c:pt idx="27">
                  <c:v>34.5</c:v>
                </c:pt>
                <c:pt idx="28">
                  <c:v>35</c:v>
                </c:pt>
                <c:pt idx="29">
                  <c:v>35.5</c:v>
                </c:pt>
                <c:pt idx="30">
                  <c:v>36</c:v>
                </c:pt>
                <c:pt idx="31">
                  <c:v>36.5</c:v>
                </c:pt>
                <c:pt idx="32">
                  <c:v>37</c:v>
                </c:pt>
                <c:pt idx="33">
                  <c:v>37.5</c:v>
                </c:pt>
                <c:pt idx="34">
                  <c:v>38</c:v>
                </c:pt>
                <c:pt idx="35">
                  <c:v>38.5</c:v>
                </c:pt>
                <c:pt idx="36">
                  <c:v>39</c:v>
                </c:pt>
                <c:pt idx="37">
                  <c:v>39.5</c:v>
                </c:pt>
                <c:pt idx="38">
                  <c:v>40</c:v>
                </c:pt>
                <c:pt idx="39">
                  <c:v>40.5</c:v>
                </c:pt>
                <c:pt idx="40">
                  <c:v>41</c:v>
                </c:pt>
                <c:pt idx="41">
                  <c:v>41.5</c:v>
                </c:pt>
                <c:pt idx="42">
                  <c:v>42</c:v>
                </c:pt>
                <c:pt idx="43">
                  <c:v>42.5</c:v>
                </c:pt>
                <c:pt idx="44">
                  <c:v>43</c:v>
                </c:pt>
                <c:pt idx="45">
                  <c:v>43.5</c:v>
                </c:pt>
                <c:pt idx="46">
                  <c:v>44</c:v>
                </c:pt>
                <c:pt idx="47">
                  <c:v>44.5</c:v>
                </c:pt>
                <c:pt idx="48">
                  <c:v>45</c:v>
                </c:pt>
                <c:pt idx="49">
                  <c:v>45.5</c:v>
                </c:pt>
                <c:pt idx="50">
                  <c:v>46</c:v>
                </c:pt>
                <c:pt idx="51">
                  <c:v>46.5</c:v>
                </c:pt>
                <c:pt idx="52">
                  <c:v>47</c:v>
                </c:pt>
                <c:pt idx="53">
                  <c:v>47.5</c:v>
                </c:pt>
                <c:pt idx="54">
                  <c:v>48</c:v>
                </c:pt>
                <c:pt idx="55">
                  <c:v>48.5</c:v>
                </c:pt>
                <c:pt idx="56">
                  <c:v>49</c:v>
                </c:pt>
                <c:pt idx="57">
                  <c:v>49.5</c:v>
                </c:pt>
                <c:pt idx="58">
                  <c:v>50</c:v>
                </c:pt>
                <c:pt idx="59">
                  <c:v>50.5</c:v>
                </c:pt>
                <c:pt idx="60">
                  <c:v>51</c:v>
                </c:pt>
                <c:pt idx="61">
                  <c:v>51.5</c:v>
                </c:pt>
                <c:pt idx="62">
                  <c:v>52</c:v>
                </c:pt>
                <c:pt idx="63">
                  <c:v>52.5</c:v>
                </c:pt>
                <c:pt idx="64">
                  <c:v>53</c:v>
                </c:pt>
                <c:pt idx="65">
                  <c:v>53.5</c:v>
                </c:pt>
                <c:pt idx="66">
                  <c:v>54</c:v>
                </c:pt>
                <c:pt idx="67">
                  <c:v>54.5</c:v>
                </c:pt>
                <c:pt idx="68">
                  <c:v>55</c:v>
                </c:pt>
                <c:pt idx="69">
                  <c:v>55.5</c:v>
                </c:pt>
                <c:pt idx="70">
                  <c:v>56</c:v>
                </c:pt>
                <c:pt idx="71">
                  <c:v>56.5</c:v>
                </c:pt>
                <c:pt idx="72">
                  <c:v>57</c:v>
                </c:pt>
                <c:pt idx="73">
                  <c:v>57.5</c:v>
                </c:pt>
                <c:pt idx="74">
                  <c:v>58</c:v>
                </c:pt>
                <c:pt idx="75">
                  <c:v>58.5</c:v>
                </c:pt>
                <c:pt idx="76">
                  <c:v>59</c:v>
                </c:pt>
                <c:pt idx="77">
                  <c:v>59.5</c:v>
                </c:pt>
                <c:pt idx="78">
                  <c:v>60</c:v>
                </c:pt>
                <c:pt idx="79">
                  <c:v>60.5</c:v>
                </c:pt>
                <c:pt idx="80">
                  <c:v>61</c:v>
                </c:pt>
                <c:pt idx="81">
                  <c:v>61.5</c:v>
                </c:pt>
                <c:pt idx="82">
                  <c:v>62</c:v>
                </c:pt>
                <c:pt idx="83">
                  <c:v>62.5</c:v>
                </c:pt>
                <c:pt idx="84">
                  <c:v>63</c:v>
                </c:pt>
                <c:pt idx="85">
                  <c:v>63.5</c:v>
                </c:pt>
                <c:pt idx="86">
                  <c:v>64</c:v>
                </c:pt>
                <c:pt idx="87">
                  <c:v>64.5</c:v>
                </c:pt>
                <c:pt idx="88">
                  <c:v>65</c:v>
                </c:pt>
                <c:pt idx="89">
                  <c:v>65.5</c:v>
                </c:pt>
                <c:pt idx="90">
                  <c:v>66</c:v>
                </c:pt>
                <c:pt idx="91">
                  <c:v>66.5</c:v>
                </c:pt>
                <c:pt idx="92">
                  <c:v>67</c:v>
                </c:pt>
                <c:pt idx="93">
                  <c:v>67.5</c:v>
                </c:pt>
                <c:pt idx="94">
                  <c:v>68</c:v>
                </c:pt>
                <c:pt idx="95">
                  <c:v>68.5</c:v>
                </c:pt>
                <c:pt idx="96">
                  <c:v>69</c:v>
                </c:pt>
                <c:pt idx="97">
                  <c:v>69.5</c:v>
                </c:pt>
                <c:pt idx="98">
                  <c:v>70</c:v>
                </c:pt>
                <c:pt idx="99">
                  <c:v>70.5</c:v>
                </c:pt>
                <c:pt idx="100">
                  <c:v>71</c:v>
                </c:pt>
                <c:pt idx="101">
                  <c:v>71.5</c:v>
                </c:pt>
                <c:pt idx="102">
                  <c:v>72</c:v>
                </c:pt>
                <c:pt idx="103">
                  <c:v>72.5</c:v>
                </c:pt>
                <c:pt idx="104">
                  <c:v>73</c:v>
                </c:pt>
                <c:pt idx="105">
                  <c:v>73.5</c:v>
                </c:pt>
                <c:pt idx="106">
                  <c:v>74</c:v>
                </c:pt>
                <c:pt idx="107">
                  <c:v>74.5</c:v>
                </c:pt>
                <c:pt idx="108">
                  <c:v>75</c:v>
                </c:pt>
                <c:pt idx="109">
                  <c:v>75.5</c:v>
                </c:pt>
                <c:pt idx="110">
                  <c:v>76</c:v>
                </c:pt>
                <c:pt idx="111">
                  <c:v>76.5</c:v>
                </c:pt>
                <c:pt idx="112">
                  <c:v>77</c:v>
                </c:pt>
                <c:pt idx="113">
                  <c:v>77.5</c:v>
                </c:pt>
                <c:pt idx="114">
                  <c:v>78</c:v>
                </c:pt>
                <c:pt idx="115">
                  <c:v>78.5</c:v>
                </c:pt>
                <c:pt idx="116">
                  <c:v>79</c:v>
                </c:pt>
                <c:pt idx="117">
                  <c:v>79.5</c:v>
                </c:pt>
                <c:pt idx="118">
                  <c:v>80</c:v>
                </c:pt>
                <c:pt idx="119">
                  <c:v>80.5</c:v>
                </c:pt>
                <c:pt idx="120">
                  <c:v>81</c:v>
                </c:pt>
                <c:pt idx="121">
                  <c:v>81.5</c:v>
                </c:pt>
                <c:pt idx="122">
                  <c:v>82</c:v>
                </c:pt>
                <c:pt idx="123">
                  <c:v>82.5</c:v>
                </c:pt>
                <c:pt idx="124">
                  <c:v>83</c:v>
                </c:pt>
                <c:pt idx="125">
                  <c:v>83.5</c:v>
                </c:pt>
                <c:pt idx="126">
                  <c:v>84</c:v>
                </c:pt>
                <c:pt idx="127">
                  <c:v>84.5</c:v>
                </c:pt>
                <c:pt idx="128">
                  <c:v>85</c:v>
                </c:pt>
                <c:pt idx="129">
                  <c:v>85.5</c:v>
                </c:pt>
                <c:pt idx="130">
                  <c:v>86</c:v>
                </c:pt>
                <c:pt idx="131">
                  <c:v>86.5</c:v>
                </c:pt>
                <c:pt idx="132">
                  <c:v>87</c:v>
                </c:pt>
                <c:pt idx="133">
                  <c:v>87.5</c:v>
                </c:pt>
                <c:pt idx="134">
                  <c:v>88</c:v>
                </c:pt>
                <c:pt idx="135">
                  <c:v>88.5</c:v>
                </c:pt>
                <c:pt idx="136">
                  <c:v>89</c:v>
                </c:pt>
                <c:pt idx="137">
                  <c:v>89.5</c:v>
                </c:pt>
                <c:pt idx="138">
                  <c:v>90</c:v>
                </c:pt>
                <c:pt idx="139">
                  <c:v>90.5</c:v>
                </c:pt>
                <c:pt idx="140">
                  <c:v>91</c:v>
                </c:pt>
                <c:pt idx="141">
                  <c:v>91.5</c:v>
                </c:pt>
                <c:pt idx="142">
                  <c:v>92</c:v>
                </c:pt>
                <c:pt idx="143">
                  <c:v>92.5</c:v>
                </c:pt>
                <c:pt idx="144">
                  <c:v>93</c:v>
                </c:pt>
                <c:pt idx="145">
                  <c:v>93.5</c:v>
                </c:pt>
                <c:pt idx="146">
                  <c:v>94</c:v>
                </c:pt>
                <c:pt idx="147">
                  <c:v>94.5</c:v>
                </c:pt>
                <c:pt idx="148">
                  <c:v>95</c:v>
                </c:pt>
                <c:pt idx="149">
                  <c:v>95.5</c:v>
                </c:pt>
                <c:pt idx="150">
                  <c:v>96</c:v>
                </c:pt>
                <c:pt idx="151">
                  <c:v>96.5</c:v>
                </c:pt>
                <c:pt idx="152">
                  <c:v>97</c:v>
                </c:pt>
                <c:pt idx="153">
                  <c:v>97.5</c:v>
                </c:pt>
                <c:pt idx="154">
                  <c:v>98</c:v>
                </c:pt>
                <c:pt idx="155">
                  <c:v>98.5</c:v>
                </c:pt>
                <c:pt idx="156">
                  <c:v>99</c:v>
                </c:pt>
                <c:pt idx="157">
                  <c:v>99.5</c:v>
                </c:pt>
                <c:pt idx="158">
                  <c:v>100</c:v>
                </c:pt>
                <c:pt idx="159">
                  <c:v>100.5</c:v>
                </c:pt>
                <c:pt idx="160">
                  <c:v>101</c:v>
                </c:pt>
                <c:pt idx="161">
                  <c:v>101.5</c:v>
                </c:pt>
                <c:pt idx="162">
                  <c:v>102</c:v>
                </c:pt>
                <c:pt idx="163">
                  <c:v>102.5</c:v>
                </c:pt>
                <c:pt idx="164">
                  <c:v>103</c:v>
                </c:pt>
                <c:pt idx="165">
                  <c:v>103.5</c:v>
                </c:pt>
                <c:pt idx="166">
                  <c:v>104</c:v>
                </c:pt>
                <c:pt idx="167">
                  <c:v>104.5</c:v>
                </c:pt>
                <c:pt idx="168">
                  <c:v>105</c:v>
                </c:pt>
                <c:pt idx="169">
                  <c:v>105.5</c:v>
                </c:pt>
                <c:pt idx="170">
                  <c:v>106</c:v>
                </c:pt>
                <c:pt idx="171">
                  <c:v>106.5</c:v>
                </c:pt>
                <c:pt idx="172">
                  <c:v>107</c:v>
                </c:pt>
                <c:pt idx="173">
                  <c:v>107.5</c:v>
                </c:pt>
                <c:pt idx="174">
                  <c:v>108</c:v>
                </c:pt>
                <c:pt idx="175">
                  <c:v>108.5</c:v>
                </c:pt>
                <c:pt idx="176">
                  <c:v>109</c:v>
                </c:pt>
                <c:pt idx="177">
                  <c:v>109.5</c:v>
                </c:pt>
                <c:pt idx="178">
                  <c:v>110</c:v>
                </c:pt>
                <c:pt idx="179">
                  <c:v>110.5</c:v>
                </c:pt>
                <c:pt idx="180">
                  <c:v>111</c:v>
                </c:pt>
                <c:pt idx="181">
                  <c:v>111.5</c:v>
                </c:pt>
                <c:pt idx="182">
                  <c:v>112</c:v>
                </c:pt>
                <c:pt idx="183">
                  <c:v>112.5</c:v>
                </c:pt>
                <c:pt idx="184">
                  <c:v>113</c:v>
                </c:pt>
                <c:pt idx="185">
                  <c:v>113.5</c:v>
                </c:pt>
                <c:pt idx="186">
                  <c:v>114</c:v>
                </c:pt>
                <c:pt idx="187">
                  <c:v>114.5</c:v>
                </c:pt>
                <c:pt idx="188">
                  <c:v>115</c:v>
                </c:pt>
                <c:pt idx="189">
                  <c:v>115.5</c:v>
                </c:pt>
                <c:pt idx="190">
                  <c:v>116</c:v>
                </c:pt>
                <c:pt idx="191">
                  <c:v>116.5</c:v>
                </c:pt>
                <c:pt idx="192">
                  <c:v>117</c:v>
                </c:pt>
                <c:pt idx="193">
                  <c:v>117.5</c:v>
                </c:pt>
                <c:pt idx="194">
                  <c:v>118</c:v>
                </c:pt>
                <c:pt idx="195">
                  <c:v>118.5</c:v>
                </c:pt>
                <c:pt idx="196">
                  <c:v>119</c:v>
                </c:pt>
                <c:pt idx="197">
                  <c:v>119.5</c:v>
                </c:pt>
                <c:pt idx="198">
                  <c:v>120</c:v>
                </c:pt>
                <c:pt idx="199">
                  <c:v>120.5</c:v>
                </c:pt>
                <c:pt idx="200">
                  <c:v>121</c:v>
                </c:pt>
                <c:pt idx="201">
                  <c:v>121.5</c:v>
                </c:pt>
                <c:pt idx="202">
                  <c:v>122</c:v>
                </c:pt>
                <c:pt idx="203">
                  <c:v>122.5</c:v>
                </c:pt>
                <c:pt idx="204">
                  <c:v>123</c:v>
                </c:pt>
                <c:pt idx="205">
                  <c:v>123.5</c:v>
                </c:pt>
                <c:pt idx="206">
                  <c:v>124</c:v>
                </c:pt>
                <c:pt idx="207">
                  <c:v>124.5</c:v>
                </c:pt>
                <c:pt idx="208">
                  <c:v>125</c:v>
                </c:pt>
                <c:pt idx="209">
                  <c:v>125.5</c:v>
                </c:pt>
                <c:pt idx="210">
                  <c:v>126</c:v>
                </c:pt>
                <c:pt idx="211">
                  <c:v>126.5</c:v>
                </c:pt>
                <c:pt idx="212">
                  <c:v>127</c:v>
                </c:pt>
                <c:pt idx="213">
                  <c:v>127.5</c:v>
                </c:pt>
                <c:pt idx="214">
                  <c:v>128</c:v>
                </c:pt>
                <c:pt idx="215">
                  <c:v>128.5</c:v>
                </c:pt>
                <c:pt idx="216">
                  <c:v>129</c:v>
                </c:pt>
                <c:pt idx="217">
                  <c:v>129.5</c:v>
                </c:pt>
                <c:pt idx="218">
                  <c:v>130</c:v>
                </c:pt>
                <c:pt idx="219">
                  <c:v>130.5</c:v>
                </c:pt>
                <c:pt idx="220">
                  <c:v>131</c:v>
                </c:pt>
                <c:pt idx="221">
                  <c:v>131.5</c:v>
                </c:pt>
                <c:pt idx="222">
                  <c:v>132</c:v>
                </c:pt>
                <c:pt idx="223">
                  <c:v>132.5</c:v>
                </c:pt>
                <c:pt idx="224">
                  <c:v>133</c:v>
                </c:pt>
                <c:pt idx="225">
                  <c:v>133.5</c:v>
                </c:pt>
                <c:pt idx="226">
                  <c:v>134</c:v>
                </c:pt>
                <c:pt idx="227">
                  <c:v>134.5</c:v>
                </c:pt>
                <c:pt idx="228">
                  <c:v>135</c:v>
                </c:pt>
                <c:pt idx="229">
                  <c:v>135.5</c:v>
                </c:pt>
                <c:pt idx="230">
                  <c:v>136</c:v>
                </c:pt>
                <c:pt idx="231">
                  <c:v>136.5</c:v>
                </c:pt>
                <c:pt idx="232">
                  <c:v>137</c:v>
                </c:pt>
                <c:pt idx="233">
                  <c:v>137.5</c:v>
                </c:pt>
                <c:pt idx="234">
                  <c:v>138</c:v>
                </c:pt>
                <c:pt idx="235">
                  <c:v>138.5</c:v>
                </c:pt>
                <c:pt idx="236">
                  <c:v>139</c:v>
                </c:pt>
                <c:pt idx="237">
                  <c:v>139.5</c:v>
                </c:pt>
                <c:pt idx="238">
                  <c:v>140</c:v>
                </c:pt>
                <c:pt idx="239">
                  <c:v>140.5</c:v>
                </c:pt>
                <c:pt idx="240">
                  <c:v>141</c:v>
                </c:pt>
                <c:pt idx="241">
                  <c:v>141.5</c:v>
                </c:pt>
                <c:pt idx="242">
                  <c:v>142</c:v>
                </c:pt>
                <c:pt idx="243">
                  <c:v>142.5</c:v>
                </c:pt>
                <c:pt idx="244">
                  <c:v>143</c:v>
                </c:pt>
                <c:pt idx="245">
                  <c:v>143.5</c:v>
                </c:pt>
                <c:pt idx="246">
                  <c:v>144</c:v>
                </c:pt>
                <c:pt idx="247">
                  <c:v>144.5</c:v>
                </c:pt>
                <c:pt idx="248">
                  <c:v>145</c:v>
                </c:pt>
                <c:pt idx="249">
                  <c:v>145.5</c:v>
                </c:pt>
                <c:pt idx="250">
                  <c:v>146</c:v>
                </c:pt>
                <c:pt idx="251">
                  <c:v>146.5</c:v>
                </c:pt>
                <c:pt idx="252">
                  <c:v>147</c:v>
                </c:pt>
                <c:pt idx="253">
                  <c:v>147.5</c:v>
                </c:pt>
                <c:pt idx="254">
                  <c:v>148</c:v>
                </c:pt>
                <c:pt idx="255">
                  <c:v>148.5</c:v>
                </c:pt>
                <c:pt idx="256">
                  <c:v>149</c:v>
                </c:pt>
                <c:pt idx="257">
                  <c:v>149.5</c:v>
                </c:pt>
                <c:pt idx="258">
                  <c:v>150</c:v>
                </c:pt>
                <c:pt idx="259">
                  <c:v>150.5</c:v>
                </c:pt>
                <c:pt idx="260">
                  <c:v>151</c:v>
                </c:pt>
                <c:pt idx="261">
                  <c:v>151.5</c:v>
                </c:pt>
                <c:pt idx="262">
                  <c:v>152</c:v>
                </c:pt>
                <c:pt idx="263">
                  <c:v>152.5</c:v>
                </c:pt>
                <c:pt idx="264">
                  <c:v>153</c:v>
                </c:pt>
                <c:pt idx="265">
                  <c:v>153.5</c:v>
                </c:pt>
                <c:pt idx="266">
                  <c:v>154</c:v>
                </c:pt>
                <c:pt idx="267">
                  <c:v>154.5</c:v>
                </c:pt>
                <c:pt idx="268">
                  <c:v>155</c:v>
                </c:pt>
                <c:pt idx="269">
                  <c:v>155.5</c:v>
                </c:pt>
                <c:pt idx="270">
                  <c:v>156</c:v>
                </c:pt>
                <c:pt idx="271">
                  <c:v>156.5</c:v>
                </c:pt>
                <c:pt idx="272">
                  <c:v>157</c:v>
                </c:pt>
                <c:pt idx="273">
                  <c:v>157.5</c:v>
                </c:pt>
                <c:pt idx="274">
                  <c:v>158</c:v>
                </c:pt>
                <c:pt idx="275">
                  <c:v>158.5</c:v>
                </c:pt>
                <c:pt idx="276">
                  <c:v>159</c:v>
                </c:pt>
                <c:pt idx="277">
                  <c:v>159.5</c:v>
                </c:pt>
                <c:pt idx="278">
                  <c:v>160</c:v>
                </c:pt>
                <c:pt idx="279">
                  <c:v>160.5</c:v>
                </c:pt>
                <c:pt idx="280">
                  <c:v>161</c:v>
                </c:pt>
                <c:pt idx="281">
                  <c:v>161.5</c:v>
                </c:pt>
                <c:pt idx="282">
                  <c:v>162</c:v>
                </c:pt>
                <c:pt idx="283">
                  <c:v>162.5</c:v>
                </c:pt>
                <c:pt idx="284">
                  <c:v>163</c:v>
                </c:pt>
                <c:pt idx="285">
                  <c:v>163.5</c:v>
                </c:pt>
                <c:pt idx="286">
                  <c:v>164</c:v>
                </c:pt>
                <c:pt idx="287">
                  <c:v>164.5</c:v>
                </c:pt>
                <c:pt idx="288">
                  <c:v>165</c:v>
                </c:pt>
                <c:pt idx="289">
                  <c:v>165.5</c:v>
                </c:pt>
                <c:pt idx="290">
                  <c:v>166</c:v>
                </c:pt>
                <c:pt idx="291">
                  <c:v>166.5</c:v>
                </c:pt>
                <c:pt idx="292">
                  <c:v>167</c:v>
                </c:pt>
                <c:pt idx="293">
                  <c:v>167.5</c:v>
                </c:pt>
                <c:pt idx="294">
                  <c:v>168</c:v>
                </c:pt>
                <c:pt idx="295">
                  <c:v>168.5</c:v>
                </c:pt>
                <c:pt idx="296">
                  <c:v>169</c:v>
                </c:pt>
                <c:pt idx="297">
                  <c:v>169.5</c:v>
                </c:pt>
                <c:pt idx="298">
                  <c:v>170</c:v>
                </c:pt>
                <c:pt idx="299">
                  <c:v>170.5</c:v>
                </c:pt>
                <c:pt idx="300">
                  <c:v>171</c:v>
                </c:pt>
                <c:pt idx="301">
                  <c:v>171.5</c:v>
                </c:pt>
                <c:pt idx="302">
                  <c:v>172</c:v>
                </c:pt>
                <c:pt idx="303">
                  <c:v>172.5</c:v>
                </c:pt>
                <c:pt idx="304">
                  <c:v>173</c:v>
                </c:pt>
                <c:pt idx="305">
                  <c:v>173.5</c:v>
                </c:pt>
                <c:pt idx="306">
                  <c:v>174</c:v>
                </c:pt>
                <c:pt idx="307">
                  <c:v>174.5</c:v>
                </c:pt>
                <c:pt idx="308">
                  <c:v>175</c:v>
                </c:pt>
                <c:pt idx="309">
                  <c:v>175.5</c:v>
                </c:pt>
                <c:pt idx="310">
                  <c:v>176</c:v>
                </c:pt>
                <c:pt idx="311">
                  <c:v>176.5</c:v>
                </c:pt>
                <c:pt idx="312">
                  <c:v>177</c:v>
                </c:pt>
                <c:pt idx="313">
                  <c:v>177.5</c:v>
                </c:pt>
                <c:pt idx="314">
                  <c:v>178</c:v>
                </c:pt>
                <c:pt idx="315">
                  <c:v>178.5</c:v>
                </c:pt>
                <c:pt idx="316">
                  <c:v>179</c:v>
                </c:pt>
                <c:pt idx="317">
                  <c:v>179.5</c:v>
                </c:pt>
                <c:pt idx="318">
                  <c:v>180</c:v>
                </c:pt>
                <c:pt idx="319">
                  <c:v>180.5</c:v>
                </c:pt>
                <c:pt idx="320">
                  <c:v>181</c:v>
                </c:pt>
                <c:pt idx="321">
                  <c:v>181.5</c:v>
                </c:pt>
                <c:pt idx="322">
                  <c:v>182</c:v>
                </c:pt>
                <c:pt idx="323">
                  <c:v>182.5</c:v>
                </c:pt>
                <c:pt idx="324">
                  <c:v>183</c:v>
                </c:pt>
                <c:pt idx="325">
                  <c:v>183.5</c:v>
                </c:pt>
                <c:pt idx="326">
                  <c:v>184</c:v>
                </c:pt>
                <c:pt idx="327">
                  <c:v>184.5</c:v>
                </c:pt>
                <c:pt idx="328">
                  <c:v>185</c:v>
                </c:pt>
                <c:pt idx="329">
                  <c:v>185.5</c:v>
                </c:pt>
                <c:pt idx="330">
                  <c:v>186</c:v>
                </c:pt>
                <c:pt idx="331">
                  <c:v>186.5</c:v>
                </c:pt>
                <c:pt idx="332">
                  <c:v>187</c:v>
                </c:pt>
                <c:pt idx="333">
                  <c:v>187.5</c:v>
                </c:pt>
                <c:pt idx="334">
                  <c:v>188</c:v>
                </c:pt>
                <c:pt idx="335">
                  <c:v>188.5</c:v>
                </c:pt>
                <c:pt idx="336">
                  <c:v>189</c:v>
                </c:pt>
                <c:pt idx="337">
                  <c:v>189.5</c:v>
                </c:pt>
                <c:pt idx="338">
                  <c:v>190</c:v>
                </c:pt>
                <c:pt idx="339">
                  <c:v>190.5</c:v>
                </c:pt>
                <c:pt idx="340">
                  <c:v>191</c:v>
                </c:pt>
                <c:pt idx="341">
                  <c:v>191.5</c:v>
                </c:pt>
                <c:pt idx="342">
                  <c:v>192</c:v>
                </c:pt>
                <c:pt idx="343">
                  <c:v>192.5</c:v>
                </c:pt>
                <c:pt idx="344">
                  <c:v>193</c:v>
                </c:pt>
                <c:pt idx="345">
                  <c:v>193.5</c:v>
                </c:pt>
                <c:pt idx="346">
                  <c:v>194</c:v>
                </c:pt>
                <c:pt idx="347">
                  <c:v>194.5</c:v>
                </c:pt>
                <c:pt idx="348">
                  <c:v>195</c:v>
                </c:pt>
                <c:pt idx="349">
                  <c:v>195.5</c:v>
                </c:pt>
                <c:pt idx="350">
                  <c:v>196</c:v>
                </c:pt>
                <c:pt idx="351">
                  <c:v>196.5</c:v>
                </c:pt>
                <c:pt idx="352">
                  <c:v>197</c:v>
                </c:pt>
                <c:pt idx="353">
                  <c:v>197.5</c:v>
                </c:pt>
                <c:pt idx="354">
                  <c:v>198</c:v>
                </c:pt>
                <c:pt idx="355">
                  <c:v>198.5</c:v>
                </c:pt>
                <c:pt idx="356">
                  <c:v>199</c:v>
                </c:pt>
                <c:pt idx="357">
                  <c:v>199.5</c:v>
                </c:pt>
                <c:pt idx="358">
                  <c:v>200</c:v>
                </c:pt>
              </c:numCache>
            </c:numRef>
          </c:xVal>
          <c:yVal>
            <c:numRef>
              <c:f>'Chart Data'!$F$2:$F$360</c:f>
              <c:numCache>
                <c:formatCode>0</c:formatCode>
                <c:ptCount val="359"/>
                <c:pt idx="0">
                  <c:v>23.8876190476</c:v>
                </c:pt>
                <c:pt idx="1">
                  <c:v>23.4646511628</c:v>
                </c:pt>
                <c:pt idx="2">
                  <c:v>23.0618181818</c:v>
                </c:pt>
                <c:pt idx="3">
                  <c:v>22.6777777778</c:v>
                </c:pt>
                <c:pt idx="4">
                  <c:v>22.3113043478</c:v>
                </c:pt>
                <c:pt idx="5">
                  <c:v>21.9612765957</c:v>
                </c:pt>
                <c:pt idx="6">
                  <c:v>21.6266666667</c:v>
                </c:pt>
                <c:pt idx="7">
                  <c:v>21.3065306122</c:v>
                </c:pt>
                <c:pt idx="8">
                  <c:v>21</c:v>
                </c:pt>
                <c:pt idx="9">
                  <c:v>20.7062745098</c:v>
                </c:pt>
                <c:pt idx="10">
                  <c:v>20.4246153846</c:v>
                </c:pt>
                <c:pt idx="11">
                  <c:v>20.1543396226</c:v>
                </c:pt>
                <c:pt idx="12">
                  <c:v>19.8948148148</c:v>
                </c:pt>
                <c:pt idx="13">
                  <c:v>19.6454545455</c:v>
                </c:pt>
                <c:pt idx="14">
                  <c:v>19.4057142857</c:v>
                </c:pt>
                <c:pt idx="15">
                  <c:v>19.1750877193</c:v>
                </c:pt>
                <c:pt idx="16">
                  <c:v>18.9531034483</c:v>
                </c:pt>
                <c:pt idx="17">
                  <c:v>18.7393220339</c:v>
                </c:pt>
                <c:pt idx="18">
                  <c:v>18.5333333333</c:v>
                </c:pt>
                <c:pt idx="19">
                  <c:v>18.3347540984</c:v>
                </c:pt>
                <c:pt idx="20">
                  <c:v>18.1432258065</c:v>
                </c:pt>
                <c:pt idx="21">
                  <c:v>17.9584126984</c:v>
                </c:pt>
                <c:pt idx="22">
                  <c:v>17.78</c:v>
                </c:pt>
                <c:pt idx="23">
                  <c:v>17.6076923077</c:v>
                </c:pt>
                <c:pt idx="24">
                  <c:v>17.4412121212</c:v>
                </c:pt>
                <c:pt idx="25">
                  <c:v>17.2802985075</c:v>
                </c:pt>
                <c:pt idx="26">
                  <c:v>17.1247058824</c:v>
                </c:pt>
                <c:pt idx="27">
                  <c:v>16.9742028986</c:v>
                </c:pt>
                <c:pt idx="28">
                  <c:v>16.8285714286</c:v>
                </c:pt>
                <c:pt idx="29">
                  <c:v>16.6876056338</c:v>
                </c:pt>
                <c:pt idx="30">
                  <c:v>16.5511111111</c:v>
                </c:pt>
                <c:pt idx="31">
                  <c:v>16.4189041096</c:v>
                </c:pt>
                <c:pt idx="32">
                  <c:v>16.2908108108</c:v>
                </c:pt>
                <c:pt idx="33">
                  <c:v>16.1666666667</c:v>
                </c:pt>
                <c:pt idx="34">
                  <c:v>16.0463157895</c:v>
                </c:pt>
                <c:pt idx="35">
                  <c:v>15.9296103896</c:v>
                </c:pt>
                <c:pt idx="36">
                  <c:v>15.8164102564</c:v>
                </c:pt>
                <c:pt idx="37">
                  <c:v>15.7065822785</c:v>
                </c:pt>
                <c:pt idx="38">
                  <c:v>15.6</c:v>
                </c:pt>
                <c:pt idx="39">
                  <c:v>15.4965432099</c:v>
                </c:pt>
                <c:pt idx="40">
                  <c:v>15.396097561</c:v>
                </c:pt>
                <c:pt idx="41">
                  <c:v>15.2985542169</c:v>
                </c:pt>
                <c:pt idx="42">
                  <c:v>15.2038095238</c:v>
                </c:pt>
                <c:pt idx="43">
                  <c:v>15.1117647059</c:v>
                </c:pt>
                <c:pt idx="44">
                  <c:v>15.0223255814</c:v>
                </c:pt>
                <c:pt idx="45">
                  <c:v>14.9354022989</c:v>
                </c:pt>
                <c:pt idx="46">
                  <c:v>14.8509090909</c:v>
                </c:pt>
                <c:pt idx="47">
                  <c:v>14.7687640449</c:v>
                </c:pt>
                <c:pt idx="48">
                  <c:v>14.6888888889</c:v>
                </c:pt>
                <c:pt idx="49">
                  <c:v>14.6112087912</c:v>
                </c:pt>
                <c:pt idx="50">
                  <c:v>14.5356521739</c:v>
                </c:pt>
                <c:pt idx="51">
                  <c:v>14.4621505376</c:v>
                </c:pt>
                <c:pt idx="52">
                  <c:v>14.3906382979</c:v>
                </c:pt>
                <c:pt idx="53">
                  <c:v>14.3210526316</c:v>
                </c:pt>
                <c:pt idx="54">
                  <c:v>14.2533333333</c:v>
                </c:pt>
                <c:pt idx="55">
                  <c:v>14.1874226804</c:v>
                </c:pt>
                <c:pt idx="56">
                  <c:v>14.1232653061</c:v>
                </c:pt>
                <c:pt idx="57">
                  <c:v>14.0608080808</c:v>
                </c:pt>
                <c:pt idx="58">
                  <c:v>14</c:v>
                </c:pt>
                <c:pt idx="59">
                  <c:v>13.9407920792</c:v>
                </c:pt>
                <c:pt idx="60">
                  <c:v>13.8831372549</c:v>
                </c:pt>
                <c:pt idx="61">
                  <c:v>13.8269902913</c:v>
                </c:pt>
                <c:pt idx="62">
                  <c:v>13.7723076923</c:v>
                </c:pt>
                <c:pt idx="63">
                  <c:v>13.719047619</c:v>
                </c:pt>
                <c:pt idx="64">
                  <c:v>13.6671698113</c:v>
                </c:pt>
                <c:pt idx="65">
                  <c:v>13.616635514</c:v>
                </c:pt>
                <c:pt idx="66">
                  <c:v>13.5674074074</c:v>
                </c:pt>
                <c:pt idx="67">
                  <c:v>13.5194495413</c:v>
                </c:pt>
                <c:pt idx="68">
                  <c:v>13.4727272727</c:v>
                </c:pt>
                <c:pt idx="69">
                  <c:v>13.4272072072</c:v>
                </c:pt>
                <c:pt idx="70">
                  <c:v>13.3828571429</c:v>
                </c:pt>
                <c:pt idx="71">
                  <c:v>13.3396460177</c:v>
                </c:pt>
                <c:pt idx="72">
                  <c:v>13.2975438596</c:v>
                </c:pt>
                <c:pt idx="73">
                  <c:v>13.2565217391</c:v>
                </c:pt>
                <c:pt idx="74">
                  <c:v>13.2165517241</c:v>
                </c:pt>
                <c:pt idx="75">
                  <c:v>13.1776068376</c:v>
                </c:pt>
                <c:pt idx="76">
                  <c:v>13.1396610169</c:v>
                </c:pt>
                <c:pt idx="77">
                  <c:v>13.1026890756</c:v>
                </c:pt>
                <c:pt idx="78">
                  <c:v>13.0666666667</c:v>
                </c:pt>
                <c:pt idx="79">
                  <c:v>13.0315702479</c:v>
                </c:pt>
                <c:pt idx="80">
                  <c:v>12.9973770492</c:v>
                </c:pt>
                <c:pt idx="81">
                  <c:v>12.9640650407</c:v>
                </c:pt>
                <c:pt idx="82">
                  <c:v>12.9316129032</c:v>
                </c:pt>
                <c:pt idx="83">
                  <c:v>12.9</c:v>
                </c:pt>
                <c:pt idx="84">
                  <c:v>12.8692063492</c:v>
                </c:pt>
                <c:pt idx="85">
                  <c:v>12.8392125984</c:v>
                </c:pt>
                <c:pt idx="86">
                  <c:v>12.81</c:v>
                </c:pt>
                <c:pt idx="87">
                  <c:v>12.7815503876</c:v>
                </c:pt>
                <c:pt idx="88">
                  <c:v>12.7538461538</c:v>
                </c:pt>
                <c:pt idx="89">
                  <c:v>12.726870229</c:v>
                </c:pt>
                <c:pt idx="90">
                  <c:v>12.7006060606</c:v>
                </c:pt>
                <c:pt idx="91">
                  <c:v>12.675037594</c:v>
                </c:pt>
                <c:pt idx="92">
                  <c:v>12.6501492537</c:v>
                </c:pt>
                <c:pt idx="93">
                  <c:v>12.6259259259</c:v>
                </c:pt>
                <c:pt idx="94">
                  <c:v>12.6023529412</c:v>
                </c:pt>
                <c:pt idx="95">
                  <c:v>12.5794160584</c:v>
                </c:pt>
                <c:pt idx="96">
                  <c:v>12.5571014493</c:v>
                </c:pt>
                <c:pt idx="97">
                  <c:v>12.5353956835</c:v>
                </c:pt>
                <c:pt idx="98">
                  <c:v>12.5142857143</c:v>
                </c:pt>
                <c:pt idx="99">
                  <c:v>12.4937588652</c:v>
                </c:pt>
                <c:pt idx="100">
                  <c:v>12.4738028169</c:v>
                </c:pt>
                <c:pt idx="101">
                  <c:v>12.4544055944</c:v>
                </c:pt>
                <c:pt idx="102">
                  <c:v>12.4355555556</c:v>
                </c:pt>
                <c:pt idx="103">
                  <c:v>12.4172413793</c:v>
                </c:pt>
                <c:pt idx="104">
                  <c:v>12.3994520548</c:v>
                </c:pt>
                <c:pt idx="105">
                  <c:v>12.3821768707</c:v>
                </c:pt>
                <c:pt idx="106">
                  <c:v>12.3654054054</c:v>
                </c:pt>
                <c:pt idx="107">
                  <c:v>12.3491275168</c:v>
                </c:pt>
                <c:pt idx="108">
                  <c:v>12.3333333333</c:v>
                </c:pt>
                <c:pt idx="109">
                  <c:v>12.318013245</c:v>
                </c:pt>
                <c:pt idx="110">
                  <c:v>12.3031578947</c:v>
                </c:pt>
                <c:pt idx="111">
                  <c:v>12.2887581699</c:v>
                </c:pt>
                <c:pt idx="112">
                  <c:v>12.2748051948</c:v>
                </c:pt>
                <c:pt idx="113">
                  <c:v>12.2612903226</c:v>
                </c:pt>
                <c:pt idx="114">
                  <c:v>12.2482051282</c:v>
                </c:pt>
                <c:pt idx="115">
                  <c:v>12.2355414013</c:v>
                </c:pt>
                <c:pt idx="116">
                  <c:v>12.2232911392</c:v>
                </c:pt>
                <c:pt idx="117">
                  <c:v>12.2114465409</c:v>
                </c:pt>
                <c:pt idx="118">
                  <c:v>12.2</c:v>
                </c:pt>
                <c:pt idx="119">
                  <c:v>12.1889440994</c:v>
                </c:pt>
                <c:pt idx="120">
                  <c:v>12.1782716049</c:v>
                </c:pt>
                <c:pt idx="121">
                  <c:v>12.1679754601</c:v>
                </c:pt>
                <c:pt idx="122">
                  <c:v>12.1580487805</c:v>
                </c:pt>
                <c:pt idx="123">
                  <c:v>12.1484848485</c:v>
                </c:pt>
                <c:pt idx="124">
                  <c:v>12.1392771084</c:v>
                </c:pt>
                <c:pt idx="125">
                  <c:v>12.1304191617</c:v>
                </c:pt>
                <c:pt idx="126">
                  <c:v>12.1219047619</c:v>
                </c:pt>
                <c:pt idx="127">
                  <c:v>12.1137278107</c:v>
                </c:pt>
                <c:pt idx="128">
                  <c:v>12.1058823529</c:v>
                </c:pt>
                <c:pt idx="129">
                  <c:v>12.0983625731</c:v>
                </c:pt>
                <c:pt idx="130">
                  <c:v>12.0911627907</c:v>
                </c:pt>
                <c:pt idx="131">
                  <c:v>12.0842774566</c:v>
                </c:pt>
                <c:pt idx="132">
                  <c:v>12.0777011494</c:v>
                </c:pt>
                <c:pt idx="133">
                  <c:v>12.0714285714</c:v>
                </c:pt>
                <c:pt idx="134">
                  <c:v>12.0654545455</c:v>
                </c:pt>
                <c:pt idx="135">
                  <c:v>12.0597740113</c:v>
                </c:pt>
                <c:pt idx="136">
                  <c:v>12.0543820225</c:v>
                </c:pt>
                <c:pt idx="137">
                  <c:v>12.049273743</c:v>
                </c:pt>
                <c:pt idx="138">
                  <c:v>12.0444444444</c:v>
                </c:pt>
                <c:pt idx="139">
                  <c:v>12.0398895028</c:v>
                </c:pt>
                <c:pt idx="140">
                  <c:v>12.0356043956</c:v>
                </c:pt>
                <c:pt idx="141">
                  <c:v>12.0315846995</c:v>
                </c:pt>
                <c:pt idx="142">
                  <c:v>12.027826087</c:v>
                </c:pt>
                <c:pt idx="143">
                  <c:v>12.0243243243</c:v>
                </c:pt>
                <c:pt idx="144">
                  <c:v>12.0210752688</c:v>
                </c:pt>
                <c:pt idx="145">
                  <c:v>12.0180748663</c:v>
                </c:pt>
                <c:pt idx="146">
                  <c:v>12.0153191489</c:v>
                </c:pt>
                <c:pt idx="147">
                  <c:v>12.0128042328</c:v>
                </c:pt>
                <c:pt idx="148">
                  <c:v>12.0105263158</c:v>
                </c:pt>
                <c:pt idx="149">
                  <c:v>12.0084816754</c:v>
                </c:pt>
                <c:pt idx="150">
                  <c:v>12.0066666667</c:v>
                </c:pt>
                <c:pt idx="151">
                  <c:v>12.0050777202</c:v>
                </c:pt>
                <c:pt idx="152">
                  <c:v>12.0037113402</c:v>
                </c:pt>
                <c:pt idx="153">
                  <c:v>12.0025641026</c:v>
                </c:pt>
                <c:pt idx="154">
                  <c:v>12.0016326531</c:v>
                </c:pt>
                <c:pt idx="155">
                  <c:v>12.0009137056</c:v>
                </c:pt>
                <c:pt idx="156">
                  <c:v>12.0004040404</c:v>
                </c:pt>
                <c:pt idx="157">
                  <c:v>12.0001005025</c:v>
                </c:pt>
                <c:pt idx="158">
                  <c:v>12</c:v>
                </c:pt>
                <c:pt idx="159">
                  <c:v>12.0000995025</c:v>
                </c:pt>
                <c:pt idx="160">
                  <c:v>12.0003960396</c:v>
                </c:pt>
                <c:pt idx="161">
                  <c:v>12.0008866995</c:v>
                </c:pt>
                <c:pt idx="162">
                  <c:v>12.0015686275</c:v>
                </c:pt>
                <c:pt idx="163">
                  <c:v>12.0024390244</c:v>
                </c:pt>
                <c:pt idx="164">
                  <c:v>12.0034951456</c:v>
                </c:pt>
                <c:pt idx="165">
                  <c:v>12.0047342995</c:v>
                </c:pt>
                <c:pt idx="166">
                  <c:v>12.0061538462</c:v>
                </c:pt>
                <c:pt idx="167">
                  <c:v>12.0077511962</c:v>
                </c:pt>
                <c:pt idx="168">
                  <c:v>12.0095238095</c:v>
                </c:pt>
                <c:pt idx="169">
                  <c:v>12.0114691943</c:v>
                </c:pt>
                <c:pt idx="170">
                  <c:v>12.0135849057</c:v>
                </c:pt>
                <c:pt idx="171">
                  <c:v>12.0158685446</c:v>
                </c:pt>
                <c:pt idx="172">
                  <c:v>12.018317757</c:v>
                </c:pt>
                <c:pt idx="173">
                  <c:v>12.0209302326</c:v>
                </c:pt>
                <c:pt idx="174">
                  <c:v>12.0237037037</c:v>
                </c:pt>
                <c:pt idx="175">
                  <c:v>12.0266359447</c:v>
                </c:pt>
                <c:pt idx="176">
                  <c:v>12.0297247706</c:v>
                </c:pt>
                <c:pt idx="177">
                  <c:v>12.0329680365</c:v>
                </c:pt>
                <c:pt idx="178">
                  <c:v>12.0363636364</c:v>
                </c:pt>
                <c:pt idx="179">
                  <c:v>12.0399095023</c:v>
                </c:pt>
                <c:pt idx="180">
                  <c:v>12.0436036036</c:v>
                </c:pt>
                <c:pt idx="181">
                  <c:v>12.0474439462</c:v>
                </c:pt>
                <c:pt idx="182">
                  <c:v>12.0514285714</c:v>
                </c:pt>
                <c:pt idx="183">
                  <c:v>12.0555555556</c:v>
                </c:pt>
                <c:pt idx="184">
                  <c:v>12.0598230088</c:v>
                </c:pt>
                <c:pt idx="185">
                  <c:v>12.0642290749</c:v>
                </c:pt>
                <c:pt idx="186">
                  <c:v>12.0687719298</c:v>
                </c:pt>
                <c:pt idx="187">
                  <c:v>12.0734497817</c:v>
                </c:pt>
                <c:pt idx="188">
                  <c:v>12.0782608696</c:v>
                </c:pt>
                <c:pt idx="189">
                  <c:v>12.0832034632</c:v>
                </c:pt>
                <c:pt idx="190">
                  <c:v>12.0882758621</c:v>
                </c:pt>
                <c:pt idx="191">
                  <c:v>12.0934763948</c:v>
                </c:pt>
                <c:pt idx="192">
                  <c:v>12.0988034188</c:v>
                </c:pt>
                <c:pt idx="193">
                  <c:v>12.1042553191</c:v>
                </c:pt>
                <c:pt idx="194">
                  <c:v>12.1098305085</c:v>
                </c:pt>
                <c:pt idx="195">
                  <c:v>12.1155274262</c:v>
                </c:pt>
                <c:pt idx="196">
                  <c:v>12.1213445378</c:v>
                </c:pt>
                <c:pt idx="197">
                  <c:v>12.1272803347</c:v>
                </c:pt>
                <c:pt idx="198">
                  <c:v>12.1333333333</c:v>
                </c:pt>
                <c:pt idx="199">
                  <c:v>12.1395020747</c:v>
                </c:pt>
                <c:pt idx="200">
                  <c:v>12.145785124</c:v>
                </c:pt>
                <c:pt idx="201">
                  <c:v>12.15218107</c:v>
                </c:pt>
                <c:pt idx="202">
                  <c:v>12.1586885246</c:v>
                </c:pt>
                <c:pt idx="203">
                  <c:v>12.1653061224</c:v>
                </c:pt>
                <c:pt idx="204">
                  <c:v>12.1720325203</c:v>
                </c:pt>
                <c:pt idx="205">
                  <c:v>12.1788663968</c:v>
                </c:pt>
                <c:pt idx="206">
                  <c:v>12.1858064516</c:v>
                </c:pt>
                <c:pt idx="207">
                  <c:v>12.1928514056</c:v>
                </c:pt>
                <c:pt idx="208">
                  <c:v>12.2</c:v>
                </c:pt>
                <c:pt idx="209">
                  <c:v>12.207250996</c:v>
                </c:pt>
                <c:pt idx="210">
                  <c:v>12.2146031746</c:v>
                </c:pt>
                <c:pt idx="211">
                  <c:v>12.222055336</c:v>
                </c:pt>
                <c:pt idx="212">
                  <c:v>12.2296062992</c:v>
                </c:pt>
                <c:pt idx="213">
                  <c:v>12.237254902</c:v>
                </c:pt>
                <c:pt idx="214">
                  <c:v>12.245</c:v>
                </c:pt>
                <c:pt idx="215">
                  <c:v>12.2528404669</c:v>
                </c:pt>
                <c:pt idx="216">
                  <c:v>12.2607751938</c:v>
                </c:pt>
                <c:pt idx="217">
                  <c:v>12.2688030888</c:v>
                </c:pt>
                <c:pt idx="218">
                  <c:v>12.2769230769</c:v>
                </c:pt>
                <c:pt idx="219">
                  <c:v>12.2851340996</c:v>
                </c:pt>
                <c:pt idx="220">
                  <c:v>12.2934351145</c:v>
                </c:pt>
                <c:pt idx="221">
                  <c:v>12.3018250951</c:v>
                </c:pt>
                <c:pt idx="222">
                  <c:v>12.3103030303</c:v>
                </c:pt>
                <c:pt idx="223">
                  <c:v>12.3188679245</c:v>
                </c:pt>
                <c:pt idx="224">
                  <c:v>12.327518797</c:v>
                </c:pt>
                <c:pt idx="225">
                  <c:v>12.3362546816</c:v>
                </c:pt>
                <c:pt idx="226">
                  <c:v>12.3450746269</c:v>
                </c:pt>
                <c:pt idx="227">
                  <c:v>12.3539776952</c:v>
                </c:pt>
                <c:pt idx="228">
                  <c:v>12.362962963</c:v>
                </c:pt>
                <c:pt idx="229">
                  <c:v>12.3720295203</c:v>
                </c:pt>
                <c:pt idx="230">
                  <c:v>12.3811764706</c:v>
                </c:pt>
                <c:pt idx="231">
                  <c:v>12.3904029304</c:v>
                </c:pt>
                <c:pt idx="232">
                  <c:v>12.3997080292</c:v>
                </c:pt>
                <c:pt idx="233">
                  <c:v>12.4090909091</c:v>
                </c:pt>
                <c:pt idx="234">
                  <c:v>12.4185507246</c:v>
                </c:pt>
                <c:pt idx="235">
                  <c:v>12.4280866426</c:v>
                </c:pt>
                <c:pt idx="236">
                  <c:v>12.4376978417</c:v>
                </c:pt>
                <c:pt idx="237">
                  <c:v>12.4473835125</c:v>
                </c:pt>
                <c:pt idx="238">
                  <c:v>12.4571428571</c:v>
                </c:pt>
                <c:pt idx="239">
                  <c:v>12.466975089</c:v>
                </c:pt>
                <c:pt idx="240">
                  <c:v>12.4768794326</c:v>
                </c:pt>
                <c:pt idx="241">
                  <c:v>12.4868551237</c:v>
                </c:pt>
                <c:pt idx="242">
                  <c:v>12.4969014085</c:v>
                </c:pt>
                <c:pt idx="243">
                  <c:v>12.5070175439</c:v>
                </c:pt>
                <c:pt idx="244">
                  <c:v>12.5172027972</c:v>
                </c:pt>
                <c:pt idx="245">
                  <c:v>12.527456446</c:v>
                </c:pt>
                <c:pt idx="246">
                  <c:v>12.5377777778</c:v>
                </c:pt>
                <c:pt idx="247">
                  <c:v>12.54816609</c:v>
                </c:pt>
                <c:pt idx="248">
                  <c:v>12.5586206897</c:v>
                </c:pt>
                <c:pt idx="249">
                  <c:v>12.5691408935</c:v>
                </c:pt>
                <c:pt idx="250">
                  <c:v>12.5797260274</c:v>
                </c:pt>
                <c:pt idx="251">
                  <c:v>12.5903754266</c:v>
                </c:pt>
                <c:pt idx="252">
                  <c:v>12.6010884354</c:v>
                </c:pt>
                <c:pt idx="253">
                  <c:v>12.6118644068</c:v>
                </c:pt>
                <c:pt idx="254">
                  <c:v>12.6227027027</c:v>
                </c:pt>
                <c:pt idx="255">
                  <c:v>12.6336026936</c:v>
                </c:pt>
                <c:pt idx="256">
                  <c:v>12.6445637584</c:v>
                </c:pt>
                <c:pt idx="257">
                  <c:v>12.6555852843</c:v>
                </c:pt>
                <c:pt idx="258">
                  <c:v>12.6666666667</c:v>
                </c:pt>
                <c:pt idx="259">
                  <c:v>12.677807309</c:v>
                </c:pt>
                <c:pt idx="260">
                  <c:v>12.6890066225</c:v>
                </c:pt>
                <c:pt idx="261">
                  <c:v>12.7002640264</c:v>
                </c:pt>
                <c:pt idx="262">
                  <c:v>12.7115789474</c:v>
                </c:pt>
                <c:pt idx="263">
                  <c:v>12.7229508197</c:v>
                </c:pt>
                <c:pt idx="264">
                  <c:v>12.734379085</c:v>
                </c:pt>
                <c:pt idx="265">
                  <c:v>12.7458631922</c:v>
                </c:pt>
                <c:pt idx="266">
                  <c:v>12.7574025974</c:v>
                </c:pt>
                <c:pt idx="267">
                  <c:v>12.7689967638</c:v>
                </c:pt>
                <c:pt idx="268">
                  <c:v>12.7806451613</c:v>
                </c:pt>
                <c:pt idx="269">
                  <c:v>12.7923472669</c:v>
                </c:pt>
                <c:pt idx="270">
                  <c:v>12.8041025641</c:v>
                </c:pt>
                <c:pt idx="271">
                  <c:v>12.8159105431</c:v>
                </c:pt>
                <c:pt idx="272">
                  <c:v>12.8277707006</c:v>
                </c:pt>
                <c:pt idx="273">
                  <c:v>12.8396825397</c:v>
                </c:pt>
                <c:pt idx="274">
                  <c:v>12.8516455696</c:v>
                </c:pt>
                <c:pt idx="275">
                  <c:v>12.863659306</c:v>
                </c:pt>
                <c:pt idx="276">
                  <c:v>12.8757232704</c:v>
                </c:pt>
                <c:pt idx="277">
                  <c:v>12.8878369906</c:v>
                </c:pt>
                <c:pt idx="278">
                  <c:v>12.9</c:v>
                </c:pt>
                <c:pt idx="279">
                  <c:v>12.912211838</c:v>
                </c:pt>
                <c:pt idx="280">
                  <c:v>12.9244720497</c:v>
                </c:pt>
                <c:pt idx="281">
                  <c:v>12.9367801858</c:v>
                </c:pt>
                <c:pt idx="282">
                  <c:v>12.9491358025</c:v>
                </c:pt>
                <c:pt idx="283">
                  <c:v>12.9615384615</c:v>
                </c:pt>
                <c:pt idx="284">
                  <c:v>12.9739877301</c:v>
                </c:pt>
                <c:pt idx="285">
                  <c:v>12.9864831804</c:v>
                </c:pt>
                <c:pt idx="286">
                  <c:v>12.9990243902</c:v>
                </c:pt>
                <c:pt idx="287">
                  <c:v>13.0116109422</c:v>
                </c:pt>
                <c:pt idx="288">
                  <c:v>13.0242424242</c:v>
                </c:pt>
                <c:pt idx="289">
                  <c:v>13.036918429</c:v>
                </c:pt>
                <c:pt idx="290">
                  <c:v>13.0496385542</c:v>
                </c:pt>
                <c:pt idx="291">
                  <c:v>13.0624024024</c:v>
                </c:pt>
                <c:pt idx="292">
                  <c:v>13.0752095808</c:v>
                </c:pt>
                <c:pt idx="293">
                  <c:v>13.0880597015</c:v>
                </c:pt>
                <c:pt idx="294">
                  <c:v>13.100952381</c:v>
                </c:pt>
                <c:pt idx="295">
                  <c:v>13.1138872404</c:v>
                </c:pt>
                <c:pt idx="296">
                  <c:v>13.1268639053</c:v>
                </c:pt>
                <c:pt idx="297">
                  <c:v>13.1398820059</c:v>
                </c:pt>
                <c:pt idx="298">
                  <c:v>13.1529411765</c:v>
                </c:pt>
                <c:pt idx="299">
                  <c:v>13.1660410557</c:v>
                </c:pt>
                <c:pt idx="300">
                  <c:v>13.1791812865</c:v>
                </c:pt>
                <c:pt idx="301">
                  <c:v>13.192361516</c:v>
                </c:pt>
                <c:pt idx="302">
                  <c:v>13.2055813953</c:v>
                </c:pt>
                <c:pt idx="303">
                  <c:v>13.2188405797</c:v>
                </c:pt>
                <c:pt idx="304">
                  <c:v>13.2321387283</c:v>
                </c:pt>
                <c:pt idx="305">
                  <c:v>13.2454755043</c:v>
                </c:pt>
                <c:pt idx="306">
                  <c:v>13.2588505747</c:v>
                </c:pt>
                <c:pt idx="307">
                  <c:v>13.2722636103</c:v>
                </c:pt>
                <c:pt idx="308">
                  <c:v>13.2857142857</c:v>
                </c:pt>
                <c:pt idx="309">
                  <c:v>13.2992022792</c:v>
                </c:pt>
                <c:pt idx="310">
                  <c:v>13.3127272727</c:v>
                </c:pt>
                <c:pt idx="311">
                  <c:v>13.3262889518</c:v>
                </c:pt>
                <c:pt idx="312">
                  <c:v>13.3398870056</c:v>
                </c:pt>
                <c:pt idx="313">
                  <c:v>13.3535211268</c:v>
                </c:pt>
                <c:pt idx="314">
                  <c:v>13.3671910112</c:v>
                </c:pt>
                <c:pt idx="315">
                  <c:v>13.3808963585</c:v>
                </c:pt>
                <c:pt idx="316">
                  <c:v>13.3946368715</c:v>
                </c:pt>
                <c:pt idx="317">
                  <c:v>13.4084122563</c:v>
                </c:pt>
                <c:pt idx="318">
                  <c:v>13.4222222222</c:v>
                </c:pt>
                <c:pt idx="319">
                  <c:v>13.436066482</c:v>
                </c:pt>
                <c:pt idx="320">
                  <c:v>13.4499447514</c:v>
                </c:pt>
                <c:pt idx="321">
                  <c:v>13.4638567493</c:v>
                </c:pt>
                <c:pt idx="322">
                  <c:v>13.4778021978</c:v>
                </c:pt>
                <c:pt idx="323">
                  <c:v>13.4917808219</c:v>
                </c:pt>
                <c:pt idx="324">
                  <c:v>13.5057923497</c:v>
                </c:pt>
                <c:pt idx="325">
                  <c:v>13.5198365123</c:v>
                </c:pt>
                <c:pt idx="326">
                  <c:v>13.5339130435</c:v>
                </c:pt>
                <c:pt idx="327">
                  <c:v>13.5480216802</c:v>
                </c:pt>
                <c:pt idx="328">
                  <c:v>13.5621621622</c:v>
                </c:pt>
                <c:pt idx="329">
                  <c:v>13.5763342318</c:v>
                </c:pt>
                <c:pt idx="330">
                  <c:v>13.5905376344</c:v>
                </c:pt>
                <c:pt idx="331">
                  <c:v>13.604772118</c:v>
                </c:pt>
                <c:pt idx="332">
                  <c:v>13.6190374332</c:v>
                </c:pt>
                <c:pt idx="333">
                  <c:v>13.6333333333</c:v>
                </c:pt>
                <c:pt idx="334">
                  <c:v>13.6476595745</c:v>
                </c:pt>
                <c:pt idx="335">
                  <c:v>13.6620159151</c:v>
                </c:pt>
                <c:pt idx="336">
                  <c:v>13.6764021164</c:v>
                </c:pt>
                <c:pt idx="337">
                  <c:v>13.690817942</c:v>
                </c:pt>
                <c:pt idx="338">
                  <c:v>13.7052631579</c:v>
                </c:pt>
                <c:pt idx="339">
                  <c:v>13.7197375328</c:v>
                </c:pt>
                <c:pt idx="340">
                  <c:v>13.7342408377</c:v>
                </c:pt>
                <c:pt idx="341">
                  <c:v>13.748772846</c:v>
                </c:pt>
                <c:pt idx="342">
                  <c:v>13.7633333333</c:v>
                </c:pt>
                <c:pt idx="343">
                  <c:v>13.7779220779</c:v>
                </c:pt>
                <c:pt idx="344">
                  <c:v>13.7925388601</c:v>
                </c:pt>
                <c:pt idx="345">
                  <c:v>13.8071834625</c:v>
                </c:pt>
                <c:pt idx="346">
                  <c:v>13.8218556701</c:v>
                </c:pt>
                <c:pt idx="347">
                  <c:v>13.8365552699</c:v>
                </c:pt>
                <c:pt idx="348">
                  <c:v>13.8512820513</c:v>
                </c:pt>
                <c:pt idx="349">
                  <c:v>13.8660358056</c:v>
                </c:pt>
                <c:pt idx="350">
                  <c:v>13.8808163265</c:v>
                </c:pt>
                <c:pt idx="351">
                  <c:v>13.8956234097</c:v>
                </c:pt>
                <c:pt idx="352">
                  <c:v>13.9104568528</c:v>
                </c:pt>
                <c:pt idx="353">
                  <c:v>13.9253164557</c:v>
                </c:pt>
                <c:pt idx="354">
                  <c:v>13.9402020202</c:v>
                </c:pt>
                <c:pt idx="355">
                  <c:v>13.9551133501</c:v>
                </c:pt>
                <c:pt idx="356">
                  <c:v>13.9700502513</c:v>
                </c:pt>
                <c:pt idx="357">
                  <c:v>13.9850125313</c:v>
                </c:pt>
                <c:pt idx="358">
                  <c:v>14</c:v>
                </c:pt>
              </c:numCache>
            </c:numRef>
          </c:yVal>
          <c:smooth val="0"/>
        </c:ser>
        <c:dLbls>
          <c:txPr>
            <a:bodyPr xmlns:a="http://schemas.openxmlformats.org/drawingml/2006/main" anchorCtr="1"/>
            <a:lstStyle xmlns:a="http://schemas.openxmlformats.org/drawingml/2006/main"/>
            <a:p xmlns:a="http://schemas.openxmlformats.org/drawingml/2006/main">
              <a:pPr>
                <a:defRPr sz="2025">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4"/>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50112"/>
        <c:majorUnit val="4"/>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72768"/>
        <c:majorUnit val="5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10"/>
          <c:y val=".05"/>
          <c:w val=".85"/>
          <c:h val=".79"/>
        </c:manualLayout>
      </c:layout>
      <c:scatterChart>
        <c:scatterStyle val="line"/>
        <c:ser>
          <c:idx val="0"/>
          <c:order val="0"/>
          <c:tx>
            <c:v>Afleeshulp</c:v>
          </c:tx>
          <c:spPr>
            <a:ln xmlns:a="http://schemas.openxmlformats.org/drawingml/2006/main" w="14288">
              <a:solidFill>
                <a:srgbClr val="6B7C88"/>
              </a:solidFill>
              <a:prstDash val="dash"/>
            </a:ln>
          </c:spPr>
          <c:marker>
            <c:symbol val="none"/>
          </c:marker>
          <c:xVal>
            <c:numRef>
              <c:f>'Chart Data'!$A$2:$A$3</c:f>
              <c:numCache>
                <c:formatCode>General</c:formatCode>
                <c:ptCount val="2"/>
                <c:pt idx="0">
                  <c:v>150</c:v>
                </c:pt>
                <c:pt idx="1">
                  <c:v>150</c:v>
                </c:pt>
              </c:numCache>
            </c:numRef>
          </c:xVal>
          <c:yVal>
            <c:numRef>
              <c:f>'Chart Data'!$B$2:$B$3</c:f>
              <c:numCache>
                <c:formatCode>0</c:formatCode>
                <c:ptCount val="2"/>
                <c:pt idx="0">
                  <c:v>0</c:v>
                </c:pt>
                <c:pt idx="1">
                  <c:v>16</c:v>
                </c:pt>
              </c:numCache>
            </c:numRef>
          </c:yVal>
          <c:smooth val="0"/>
        </c:ser>
        <c:ser>
          <c:idx val="1"/>
          <c:order val="1"/>
          <c:tx>
            <c:v>MK</c:v>
          </c:tx>
          <c:spPr>
            <a:ln xmlns:a="http://schemas.openxmlformats.org/drawingml/2006/main" w="31433">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21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Data'!$C$2:$C$4</c:f>
              <c:numCache>
                <c:formatCode>General</c:formatCode>
                <c:ptCount val="3"/>
                <c:pt idx="0">
                  <c:v>0</c:v>
                </c:pt>
                <c:pt idx="1">
                  <c:v>166</c:v>
                </c:pt>
                <c:pt idx="2">
                  <c:v>200</c:v>
                </c:pt>
              </c:numCache>
            </c:numRef>
          </c:xVal>
          <c:yVal>
            <c:numRef>
              <c:f>'Chart Data'!$D$2:$D$4</c:f>
              <c:numCache>
                <c:formatCode>0</c:formatCode>
                <c:ptCount val="3"/>
                <c:pt idx="0">
                  <c:v>4</c:v>
                </c:pt>
                <c:pt idx="1">
                  <c:v>17.28</c:v>
                </c:pt>
                <c:pt idx="2">
                  <c:v>20</c:v>
                </c:pt>
              </c:numCache>
            </c:numRef>
          </c:yVal>
          <c:smooth val="0"/>
        </c:ser>
        <c:ser>
          <c:idx val="2"/>
          <c:order val="2"/>
          <c:tx>
            <c:v>P = GO = MO</c:v>
          </c:tx>
          <c:spPr>
            <a:ln xmlns:a="http://schemas.openxmlformats.org/drawingml/2006/main" w="31433">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Data'!$E$2:$E$4</c:f>
              <c:numCache>
                <c:formatCode>General</c:formatCode>
                <c:ptCount val="3"/>
                <c:pt idx="0">
                  <c:v>0</c:v>
                </c:pt>
                <c:pt idx="1">
                  <c:v>110</c:v>
                </c:pt>
                <c:pt idx="2">
                  <c:v>200</c:v>
                </c:pt>
              </c:numCache>
            </c:numRef>
          </c:xVal>
          <c:yVal>
            <c:numRef>
              <c:f>'Chart Data'!$F$2:$F$4</c:f>
              <c:numCache>
                <c:formatCode>0</c:formatCode>
                <c:ptCount val="3"/>
                <c:pt idx="0">
                  <c:v>16</c:v>
                </c:pt>
                <c:pt idx="1">
                  <c:v>16</c:v>
                </c:pt>
                <c:pt idx="2">
                  <c:v>16</c:v>
                </c:pt>
              </c:numCache>
            </c:numRef>
          </c:yVal>
          <c:smooth val="0"/>
        </c:ser>
        <c:dLbls>
          <c:txPr>
            <a:bodyPr xmlns:a="http://schemas.openxmlformats.org/drawingml/2006/main" anchorCtr="1"/>
            <a:lstStyle xmlns:a="http://schemas.openxmlformats.org/drawingml/2006/main"/>
            <a:p xmlns:a="http://schemas.openxmlformats.org/drawingml/2006/main">
              <a:pPr>
                <a:defRPr sz="2025">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4"/>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50112"/>
        <c:majorUnit val="4"/>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72768"/>
        <c:majorUnit val="5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10"/>
          <c:y val=".05"/>
          <c:w val=".85"/>
          <c:h val=".79"/>
        </c:manualLayout>
      </c:layout>
      <c:scatterChart>
        <c:scatterStyle val="line"/>
        <c:ser>
          <c:idx val="0"/>
          <c:order val="0"/>
          <c:tx>
            <c:v>Afleeshulp</c:v>
          </c:tx>
          <c:spPr>
            <a:ln xmlns:a="http://schemas.openxmlformats.org/drawingml/2006/main" w="14288">
              <a:solidFill>
                <a:srgbClr val="6B7C88"/>
              </a:solidFill>
              <a:prstDash val="dash"/>
            </a:ln>
          </c:spPr>
          <c:marker>
            <c:symbol val="none"/>
          </c:marker>
          <c:xVal>
            <c:numRef>
              <c:f>'Chart Data'!$A$2:$A$3</c:f>
              <c:numCache>
                <c:formatCode>General</c:formatCode>
                <c:ptCount val="2"/>
                <c:pt idx="0">
                  <c:v>150</c:v>
                </c:pt>
                <c:pt idx="1">
                  <c:v>150</c:v>
                </c:pt>
              </c:numCache>
            </c:numRef>
          </c:xVal>
          <c:yVal>
            <c:numRef>
              <c:f>'Chart Data'!$B$2:$B$3</c:f>
              <c:numCache>
                <c:formatCode>0</c:formatCode>
                <c:ptCount val="2"/>
                <c:pt idx="0">
                  <c:v>0</c:v>
                </c:pt>
                <c:pt idx="1">
                  <c:v>16</c:v>
                </c:pt>
              </c:numCache>
            </c:numRef>
          </c:yVal>
          <c:smooth val="0"/>
        </c:ser>
        <c:ser>
          <c:idx val="1"/>
          <c:order val="1"/>
          <c:tx>
            <c:v>MK</c:v>
          </c:tx>
          <c:spPr>
            <a:ln xmlns:a="http://schemas.openxmlformats.org/drawingml/2006/main" w="31433">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21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Data'!$C$2:$C$4</c:f>
              <c:numCache>
                <c:formatCode>General</c:formatCode>
                <c:ptCount val="3"/>
                <c:pt idx="0">
                  <c:v>0</c:v>
                </c:pt>
                <c:pt idx="1">
                  <c:v>166</c:v>
                </c:pt>
                <c:pt idx="2">
                  <c:v>200</c:v>
                </c:pt>
              </c:numCache>
            </c:numRef>
          </c:xVal>
          <c:yVal>
            <c:numRef>
              <c:f>'Chart Data'!$D$2:$D$4</c:f>
              <c:numCache>
                <c:formatCode>0</c:formatCode>
                <c:ptCount val="3"/>
                <c:pt idx="0">
                  <c:v>4</c:v>
                </c:pt>
                <c:pt idx="1">
                  <c:v>17.28</c:v>
                </c:pt>
                <c:pt idx="2">
                  <c:v>20</c:v>
                </c:pt>
              </c:numCache>
            </c:numRef>
          </c:yVal>
          <c:smooth val="0"/>
        </c:ser>
        <c:ser>
          <c:idx val="2"/>
          <c:order val="2"/>
          <c:tx>
            <c:v>P = GO = MO</c:v>
          </c:tx>
          <c:spPr>
            <a:ln xmlns:a="http://schemas.openxmlformats.org/drawingml/2006/main" w="31433">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Data'!$E$2:$E$4</c:f>
              <c:numCache>
                <c:formatCode>General</c:formatCode>
                <c:ptCount val="3"/>
                <c:pt idx="0">
                  <c:v>0</c:v>
                </c:pt>
                <c:pt idx="1">
                  <c:v>110</c:v>
                </c:pt>
                <c:pt idx="2">
                  <c:v>200</c:v>
                </c:pt>
              </c:numCache>
            </c:numRef>
          </c:xVal>
          <c:yVal>
            <c:numRef>
              <c:f>'Chart Data'!$F$2:$F$4</c:f>
              <c:numCache>
                <c:formatCode>0</c:formatCode>
                <c:ptCount val="3"/>
                <c:pt idx="0">
                  <c:v>16</c:v>
                </c:pt>
                <c:pt idx="1">
                  <c:v>16</c:v>
                </c:pt>
                <c:pt idx="2">
                  <c:v>16</c:v>
                </c:pt>
              </c:numCache>
            </c:numRef>
          </c:yVal>
          <c:smooth val="0"/>
        </c:ser>
        <c:ser>
          <c:idx val="3"/>
          <c:order val="3"/>
          <c:tx>
            <c:v>GTK</c:v>
          </c:tx>
          <c:spPr>
            <a:ln xmlns:a="http://schemas.openxmlformats.org/drawingml/2006/main" w="31433">
              <a:solidFill>
                <a:srgbClr val="A94D16"/>
              </a:solidFill>
            </a:ln>
          </c:spPr>
          <c:marker>
            <c:symbol val="none"/>
          </c:marker>
          <c:dLbls>
            <c:dLbl>
              <c:idx val="297"/>
              <c:tx>
                <c:rich>
                  <a:bodyPr xmlns:a="http://schemas.openxmlformats.org/drawingml/2006/main"/>
                  <a:lstStyle xmlns:a="http://schemas.openxmlformats.org/drawingml/2006/main"/>
                  <a:p xmlns:a="http://schemas.openxmlformats.org/drawingml/2006/main">
                    <a:r>
                      <a:rPr sz="2100" b="1">
                        <a:solidFill>
                          <a:srgbClr val="A94D16"/>
                        </a:solidFill>
                        <a:latin typeface="Arial"/>
                        <a:ea typeface="Arial"/>
                        <a:cs typeface="Arial"/>
                      </a:rPr>
                      <a:t>GTK</a:t>
                    </a:r>
                  </a:p>
                </c:rich>
              </c:tx>
              <c:txPr>
                <a:bodyPr xmlns:a="http://schemas.openxmlformats.org/drawingml/2006/main" anchorCtr="1"/>
                <a:lstStyle xmlns:a="http://schemas.openxmlformats.org/drawingml/2006/main"/>
                <a:p xmlns:a="http://schemas.openxmlformats.org/drawingml/2006/main">
                  <a:pPr>
                    <a:defRPr sz="2100" b="1">
                      <a:solidFill>
                        <a:srgbClr val="A94D16"/>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Data'!$G$2:$G$360</c:f>
              <c:numCache>
                <c:formatCode>General</c:formatCode>
                <c:ptCount val="359"/>
                <c:pt idx="0">
                  <c:v>21</c:v>
                </c:pt>
                <c:pt idx="1">
                  <c:v>21.5</c:v>
                </c:pt>
                <c:pt idx="2">
                  <c:v>22</c:v>
                </c:pt>
                <c:pt idx="3">
                  <c:v>22.5</c:v>
                </c:pt>
                <c:pt idx="4">
                  <c:v>23</c:v>
                </c:pt>
                <c:pt idx="5">
                  <c:v>23.5</c:v>
                </c:pt>
                <c:pt idx="6">
                  <c:v>24</c:v>
                </c:pt>
                <c:pt idx="7">
                  <c:v>24.5</c:v>
                </c:pt>
                <c:pt idx="8">
                  <c:v>25</c:v>
                </c:pt>
                <c:pt idx="9">
                  <c:v>25.5</c:v>
                </c:pt>
                <c:pt idx="10">
                  <c:v>26</c:v>
                </c:pt>
                <c:pt idx="11">
                  <c:v>26.5</c:v>
                </c:pt>
                <c:pt idx="12">
                  <c:v>27</c:v>
                </c:pt>
                <c:pt idx="13">
                  <c:v>27.5</c:v>
                </c:pt>
                <c:pt idx="14">
                  <c:v>28</c:v>
                </c:pt>
                <c:pt idx="15">
                  <c:v>28.5</c:v>
                </c:pt>
                <c:pt idx="16">
                  <c:v>29</c:v>
                </c:pt>
                <c:pt idx="17">
                  <c:v>29.5</c:v>
                </c:pt>
                <c:pt idx="18">
                  <c:v>30</c:v>
                </c:pt>
                <c:pt idx="19">
                  <c:v>30.5</c:v>
                </c:pt>
                <c:pt idx="20">
                  <c:v>31</c:v>
                </c:pt>
                <c:pt idx="21">
                  <c:v>31.5</c:v>
                </c:pt>
                <c:pt idx="22">
                  <c:v>32</c:v>
                </c:pt>
                <c:pt idx="23">
                  <c:v>32.5</c:v>
                </c:pt>
                <c:pt idx="24">
                  <c:v>33</c:v>
                </c:pt>
                <c:pt idx="25">
                  <c:v>33.5</c:v>
                </c:pt>
                <c:pt idx="26">
                  <c:v>34</c:v>
                </c:pt>
                <c:pt idx="27">
                  <c:v>34.5</c:v>
                </c:pt>
                <c:pt idx="28">
                  <c:v>35</c:v>
                </c:pt>
                <c:pt idx="29">
                  <c:v>35.5</c:v>
                </c:pt>
                <c:pt idx="30">
                  <c:v>36</c:v>
                </c:pt>
                <c:pt idx="31">
                  <c:v>36.5</c:v>
                </c:pt>
                <c:pt idx="32">
                  <c:v>37</c:v>
                </c:pt>
                <c:pt idx="33">
                  <c:v>37.5</c:v>
                </c:pt>
                <c:pt idx="34">
                  <c:v>38</c:v>
                </c:pt>
                <c:pt idx="35">
                  <c:v>38.5</c:v>
                </c:pt>
                <c:pt idx="36">
                  <c:v>39</c:v>
                </c:pt>
                <c:pt idx="37">
                  <c:v>39.5</c:v>
                </c:pt>
                <c:pt idx="38">
                  <c:v>40</c:v>
                </c:pt>
                <c:pt idx="39">
                  <c:v>40.5</c:v>
                </c:pt>
                <c:pt idx="40">
                  <c:v>41</c:v>
                </c:pt>
                <c:pt idx="41">
                  <c:v>41.5</c:v>
                </c:pt>
                <c:pt idx="42">
                  <c:v>42</c:v>
                </c:pt>
                <c:pt idx="43">
                  <c:v>42.5</c:v>
                </c:pt>
                <c:pt idx="44">
                  <c:v>43</c:v>
                </c:pt>
                <c:pt idx="45">
                  <c:v>43.5</c:v>
                </c:pt>
                <c:pt idx="46">
                  <c:v>44</c:v>
                </c:pt>
                <c:pt idx="47">
                  <c:v>44.5</c:v>
                </c:pt>
                <c:pt idx="48">
                  <c:v>45</c:v>
                </c:pt>
                <c:pt idx="49">
                  <c:v>45.5</c:v>
                </c:pt>
                <c:pt idx="50">
                  <c:v>46</c:v>
                </c:pt>
                <c:pt idx="51">
                  <c:v>46.5</c:v>
                </c:pt>
                <c:pt idx="52">
                  <c:v>47</c:v>
                </c:pt>
                <c:pt idx="53">
                  <c:v>47.5</c:v>
                </c:pt>
                <c:pt idx="54">
                  <c:v>48</c:v>
                </c:pt>
                <c:pt idx="55">
                  <c:v>48.5</c:v>
                </c:pt>
                <c:pt idx="56">
                  <c:v>49</c:v>
                </c:pt>
                <c:pt idx="57">
                  <c:v>49.5</c:v>
                </c:pt>
                <c:pt idx="58">
                  <c:v>50</c:v>
                </c:pt>
                <c:pt idx="59">
                  <c:v>50.5</c:v>
                </c:pt>
                <c:pt idx="60">
                  <c:v>51</c:v>
                </c:pt>
                <c:pt idx="61">
                  <c:v>51.5</c:v>
                </c:pt>
                <c:pt idx="62">
                  <c:v>52</c:v>
                </c:pt>
                <c:pt idx="63">
                  <c:v>52.5</c:v>
                </c:pt>
                <c:pt idx="64">
                  <c:v>53</c:v>
                </c:pt>
                <c:pt idx="65">
                  <c:v>53.5</c:v>
                </c:pt>
                <c:pt idx="66">
                  <c:v>54</c:v>
                </c:pt>
                <c:pt idx="67">
                  <c:v>54.5</c:v>
                </c:pt>
                <c:pt idx="68">
                  <c:v>55</c:v>
                </c:pt>
                <c:pt idx="69">
                  <c:v>55.5</c:v>
                </c:pt>
                <c:pt idx="70">
                  <c:v>56</c:v>
                </c:pt>
                <c:pt idx="71">
                  <c:v>56.5</c:v>
                </c:pt>
                <c:pt idx="72">
                  <c:v>57</c:v>
                </c:pt>
                <c:pt idx="73">
                  <c:v>57.5</c:v>
                </c:pt>
                <c:pt idx="74">
                  <c:v>58</c:v>
                </c:pt>
                <c:pt idx="75">
                  <c:v>58.5</c:v>
                </c:pt>
                <c:pt idx="76">
                  <c:v>59</c:v>
                </c:pt>
                <c:pt idx="77">
                  <c:v>59.5</c:v>
                </c:pt>
                <c:pt idx="78">
                  <c:v>60</c:v>
                </c:pt>
                <c:pt idx="79">
                  <c:v>60.5</c:v>
                </c:pt>
                <c:pt idx="80">
                  <c:v>61</c:v>
                </c:pt>
                <c:pt idx="81">
                  <c:v>61.5</c:v>
                </c:pt>
                <c:pt idx="82">
                  <c:v>62</c:v>
                </c:pt>
                <c:pt idx="83">
                  <c:v>62.5</c:v>
                </c:pt>
                <c:pt idx="84">
                  <c:v>63</c:v>
                </c:pt>
                <c:pt idx="85">
                  <c:v>63.5</c:v>
                </c:pt>
                <c:pt idx="86">
                  <c:v>64</c:v>
                </c:pt>
                <c:pt idx="87">
                  <c:v>64.5</c:v>
                </c:pt>
                <c:pt idx="88">
                  <c:v>65</c:v>
                </c:pt>
                <c:pt idx="89">
                  <c:v>65.5</c:v>
                </c:pt>
                <c:pt idx="90">
                  <c:v>66</c:v>
                </c:pt>
                <c:pt idx="91">
                  <c:v>66.5</c:v>
                </c:pt>
                <c:pt idx="92">
                  <c:v>67</c:v>
                </c:pt>
                <c:pt idx="93">
                  <c:v>67.5</c:v>
                </c:pt>
                <c:pt idx="94">
                  <c:v>68</c:v>
                </c:pt>
                <c:pt idx="95">
                  <c:v>68.5</c:v>
                </c:pt>
                <c:pt idx="96">
                  <c:v>69</c:v>
                </c:pt>
                <c:pt idx="97">
                  <c:v>69.5</c:v>
                </c:pt>
                <c:pt idx="98">
                  <c:v>70</c:v>
                </c:pt>
                <c:pt idx="99">
                  <c:v>70.5</c:v>
                </c:pt>
                <c:pt idx="100">
                  <c:v>71</c:v>
                </c:pt>
                <c:pt idx="101">
                  <c:v>71.5</c:v>
                </c:pt>
                <c:pt idx="102">
                  <c:v>72</c:v>
                </c:pt>
                <c:pt idx="103">
                  <c:v>72.5</c:v>
                </c:pt>
                <c:pt idx="104">
                  <c:v>73</c:v>
                </c:pt>
                <c:pt idx="105">
                  <c:v>73.5</c:v>
                </c:pt>
                <c:pt idx="106">
                  <c:v>74</c:v>
                </c:pt>
                <c:pt idx="107">
                  <c:v>74.5</c:v>
                </c:pt>
                <c:pt idx="108">
                  <c:v>75</c:v>
                </c:pt>
                <c:pt idx="109">
                  <c:v>75.5</c:v>
                </c:pt>
                <c:pt idx="110">
                  <c:v>76</c:v>
                </c:pt>
                <c:pt idx="111">
                  <c:v>76.5</c:v>
                </c:pt>
                <c:pt idx="112">
                  <c:v>77</c:v>
                </c:pt>
                <c:pt idx="113">
                  <c:v>77.5</c:v>
                </c:pt>
                <c:pt idx="114">
                  <c:v>78</c:v>
                </c:pt>
                <c:pt idx="115">
                  <c:v>78.5</c:v>
                </c:pt>
                <c:pt idx="116">
                  <c:v>79</c:v>
                </c:pt>
                <c:pt idx="117">
                  <c:v>79.5</c:v>
                </c:pt>
                <c:pt idx="118">
                  <c:v>80</c:v>
                </c:pt>
                <c:pt idx="119">
                  <c:v>80.5</c:v>
                </c:pt>
                <c:pt idx="120">
                  <c:v>81</c:v>
                </c:pt>
                <c:pt idx="121">
                  <c:v>81.5</c:v>
                </c:pt>
                <c:pt idx="122">
                  <c:v>82</c:v>
                </c:pt>
                <c:pt idx="123">
                  <c:v>82.5</c:v>
                </c:pt>
                <c:pt idx="124">
                  <c:v>83</c:v>
                </c:pt>
                <c:pt idx="125">
                  <c:v>83.5</c:v>
                </c:pt>
                <c:pt idx="126">
                  <c:v>84</c:v>
                </c:pt>
                <c:pt idx="127">
                  <c:v>84.5</c:v>
                </c:pt>
                <c:pt idx="128">
                  <c:v>85</c:v>
                </c:pt>
                <c:pt idx="129">
                  <c:v>85.5</c:v>
                </c:pt>
                <c:pt idx="130">
                  <c:v>86</c:v>
                </c:pt>
                <c:pt idx="131">
                  <c:v>86.5</c:v>
                </c:pt>
                <c:pt idx="132">
                  <c:v>87</c:v>
                </c:pt>
                <c:pt idx="133">
                  <c:v>87.5</c:v>
                </c:pt>
                <c:pt idx="134">
                  <c:v>88</c:v>
                </c:pt>
                <c:pt idx="135">
                  <c:v>88.5</c:v>
                </c:pt>
                <c:pt idx="136">
                  <c:v>89</c:v>
                </c:pt>
                <c:pt idx="137">
                  <c:v>89.5</c:v>
                </c:pt>
                <c:pt idx="138">
                  <c:v>90</c:v>
                </c:pt>
                <c:pt idx="139">
                  <c:v>90.5</c:v>
                </c:pt>
                <c:pt idx="140">
                  <c:v>91</c:v>
                </c:pt>
                <c:pt idx="141">
                  <c:v>91.5</c:v>
                </c:pt>
                <c:pt idx="142">
                  <c:v>92</c:v>
                </c:pt>
                <c:pt idx="143">
                  <c:v>92.5</c:v>
                </c:pt>
                <c:pt idx="144">
                  <c:v>93</c:v>
                </c:pt>
                <c:pt idx="145">
                  <c:v>93.5</c:v>
                </c:pt>
                <c:pt idx="146">
                  <c:v>94</c:v>
                </c:pt>
                <c:pt idx="147">
                  <c:v>94.5</c:v>
                </c:pt>
                <c:pt idx="148">
                  <c:v>95</c:v>
                </c:pt>
                <c:pt idx="149">
                  <c:v>95.5</c:v>
                </c:pt>
                <c:pt idx="150">
                  <c:v>96</c:v>
                </c:pt>
                <c:pt idx="151">
                  <c:v>96.5</c:v>
                </c:pt>
                <c:pt idx="152">
                  <c:v>97</c:v>
                </c:pt>
                <c:pt idx="153">
                  <c:v>97.5</c:v>
                </c:pt>
                <c:pt idx="154">
                  <c:v>98</c:v>
                </c:pt>
                <c:pt idx="155">
                  <c:v>98.5</c:v>
                </c:pt>
                <c:pt idx="156">
                  <c:v>99</c:v>
                </c:pt>
                <c:pt idx="157">
                  <c:v>99.5</c:v>
                </c:pt>
                <c:pt idx="158">
                  <c:v>100</c:v>
                </c:pt>
                <c:pt idx="159">
                  <c:v>100.5</c:v>
                </c:pt>
                <c:pt idx="160">
                  <c:v>101</c:v>
                </c:pt>
                <c:pt idx="161">
                  <c:v>101.5</c:v>
                </c:pt>
                <c:pt idx="162">
                  <c:v>102</c:v>
                </c:pt>
                <c:pt idx="163">
                  <c:v>102.5</c:v>
                </c:pt>
                <c:pt idx="164">
                  <c:v>103</c:v>
                </c:pt>
                <c:pt idx="165">
                  <c:v>103.5</c:v>
                </c:pt>
                <c:pt idx="166">
                  <c:v>104</c:v>
                </c:pt>
                <c:pt idx="167">
                  <c:v>104.5</c:v>
                </c:pt>
                <c:pt idx="168">
                  <c:v>105</c:v>
                </c:pt>
                <c:pt idx="169">
                  <c:v>105.5</c:v>
                </c:pt>
                <c:pt idx="170">
                  <c:v>106</c:v>
                </c:pt>
                <c:pt idx="171">
                  <c:v>106.5</c:v>
                </c:pt>
                <c:pt idx="172">
                  <c:v>107</c:v>
                </c:pt>
                <c:pt idx="173">
                  <c:v>107.5</c:v>
                </c:pt>
                <c:pt idx="174">
                  <c:v>108</c:v>
                </c:pt>
                <c:pt idx="175">
                  <c:v>108.5</c:v>
                </c:pt>
                <c:pt idx="176">
                  <c:v>109</c:v>
                </c:pt>
                <c:pt idx="177">
                  <c:v>109.5</c:v>
                </c:pt>
                <c:pt idx="178">
                  <c:v>110</c:v>
                </c:pt>
                <c:pt idx="179">
                  <c:v>110.5</c:v>
                </c:pt>
                <c:pt idx="180">
                  <c:v>111</c:v>
                </c:pt>
                <c:pt idx="181">
                  <c:v>111.5</c:v>
                </c:pt>
                <c:pt idx="182">
                  <c:v>112</c:v>
                </c:pt>
                <c:pt idx="183">
                  <c:v>112.5</c:v>
                </c:pt>
                <c:pt idx="184">
                  <c:v>113</c:v>
                </c:pt>
                <c:pt idx="185">
                  <c:v>113.5</c:v>
                </c:pt>
                <c:pt idx="186">
                  <c:v>114</c:v>
                </c:pt>
                <c:pt idx="187">
                  <c:v>114.5</c:v>
                </c:pt>
                <c:pt idx="188">
                  <c:v>115</c:v>
                </c:pt>
                <c:pt idx="189">
                  <c:v>115.5</c:v>
                </c:pt>
                <c:pt idx="190">
                  <c:v>116</c:v>
                </c:pt>
                <c:pt idx="191">
                  <c:v>116.5</c:v>
                </c:pt>
                <c:pt idx="192">
                  <c:v>117</c:v>
                </c:pt>
                <c:pt idx="193">
                  <c:v>117.5</c:v>
                </c:pt>
                <c:pt idx="194">
                  <c:v>118</c:v>
                </c:pt>
                <c:pt idx="195">
                  <c:v>118.5</c:v>
                </c:pt>
                <c:pt idx="196">
                  <c:v>119</c:v>
                </c:pt>
                <c:pt idx="197">
                  <c:v>119.5</c:v>
                </c:pt>
                <c:pt idx="198">
                  <c:v>120</c:v>
                </c:pt>
                <c:pt idx="199">
                  <c:v>120.5</c:v>
                </c:pt>
                <c:pt idx="200">
                  <c:v>121</c:v>
                </c:pt>
                <c:pt idx="201">
                  <c:v>121.5</c:v>
                </c:pt>
                <c:pt idx="202">
                  <c:v>122</c:v>
                </c:pt>
                <c:pt idx="203">
                  <c:v>122.5</c:v>
                </c:pt>
                <c:pt idx="204">
                  <c:v>123</c:v>
                </c:pt>
                <c:pt idx="205">
                  <c:v>123.5</c:v>
                </c:pt>
                <c:pt idx="206">
                  <c:v>124</c:v>
                </c:pt>
                <c:pt idx="207">
                  <c:v>124.5</c:v>
                </c:pt>
                <c:pt idx="208">
                  <c:v>125</c:v>
                </c:pt>
                <c:pt idx="209">
                  <c:v>125.5</c:v>
                </c:pt>
                <c:pt idx="210">
                  <c:v>126</c:v>
                </c:pt>
                <c:pt idx="211">
                  <c:v>126.5</c:v>
                </c:pt>
                <c:pt idx="212">
                  <c:v>127</c:v>
                </c:pt>
                <c:pt idx="213">
                  <c:v>127.5</c:v>
                </c:pt>
                <c:pt idx="214">
                  <c:v>128</c:v>
                </c:pt>
                <c:pt idx="215">
                  <c:v>128.5</c:v>
                </c:pt>
                <c:pt idx="216">
                  <c:v>129</c:v>
                </c:pt>
                <c:pt idx="217">
                  <c:v>129.5</c:v>
                </c:pt>
                <c:pt idx="218">
                  <c:v>130</c:v>
                </c:pt>
                <c:pt idx="219">
                  <c:v>130.5</c:v>
                </c:pt>
                <c:pt idx="220">
                  <c:v>131</c:v>
                </c:pt>
                <c:pt idx="221">
                  <c:v>131.5</c:v>
                </c:pt>
                <c:pt idx="222">
                  <c:v>132</c:v>
                </c:pt>
                <c:pt idx="223">
                  <c:v>132.5</c:v>
                </c:pt>
                <c:pt idx="224">
                  <c:v>133</c:v>
                </c:pt>
                <c:pt idx="225">
                  <c:v>133.5</c:v>
                </c:pt>
                <c:pt idx="226">
                  <c:v>134</c:v>
                </c:pt>
                <c:pt idx="227">
                  <c:v>134.5</c:v>
                </c:pt>
                <c:pt idx="228">
                  <c:v>135</c:v>
                </c:pt>
                <c:pt idx="229">
                  <c:v>135.5</c:v>
                </c:pt>
                <c:pt idx="230">
                  <c:v>136</c:v>
                </c:pt>
                <c:pt idx="231">
                  <c:v>136.5</c:v>
                </c:pt>
                <c:pt idx="232">
                  <c:v>137</c:v>
                </c:pt>
                <c:pt idx="233">
                  <c:v>137.5</c:v>
                </c:pt>
                <c:pt idx="234">
                  <c:v>138</c:v>
                </c:pt>
                <c:pt idx="235">
                  <c:v>138.5</c:v>
                </c:pt>
                <c:pt idx="236">
                  <c:v>139</c:v>
                </c:pt>
                <c:pt idx="237">
                  <c:v>139.5</c:v>
                </c:pt>
                <c:pt idx="238">
                  <c:v>140</c:v>
                </c:pt>
                <c:pt idx="239">
                  <c:v>140.5</c:v>
                </c:pt>
                <c:pt idx="240">
                  <c:v>141</c:v>
                </c:pt>
                <c:pt idx="241">
                  <c:v>141.5</c:v>
                </c:pt>
                <c:pt idx="242">
                  <c:v>142</c:v>
                </c:pt>
                <c:pt idx="243">
                  <c:v>142.5</c:v>
                </c:pt>
                <c:pt idx="244">
                  <c:v>143</c:v>
                </c:pt>
                <c:pt idx="245">
                  <c:v>143.5</c:v>
                </c:pt>
                <c:pt idx="246">
                  <c:v>144</c:v>
                </c:pt>
                <c:pt idx="247">
                  <c:v>144.5</c:v>
                </c:pt>
                <c:pt idx="248">
                  <c:v>145</c:v>
                </c:pt>
                <c:pt idx="249">
                  <c:v>145.5</c:v>
                </c:pt>
                <c:pt idx="250">
                  <c:v>146</c:v>
                </c:pt>
                <c:pt idx="251">
                  <c:v>146.5</c:v>
                </c:pt>
                <c:pt idx="252">
                  <c:v>147</c:v>
                </c:pt>
                <c:pt idx="253">
                  <c:v>147.5</c:v>
                </c:pt>
                <c:pt idx="254">
                  <c:v>148</c:v>
                </c:pt>
                <c:pt idx="255">
                  <c:v>148.5</c:v>
                </c:pt>
                <c:pt idx="256">
                  <c:v>149</c:v>
                </c:pt>
                <c:pt idx="257">
                  <c:v>149.5</c:v>
                </c:pt>
                <c:pt idx="258">
                  <c:v>150</c:v>
                </c:pt>
                <c:pt idx="259">
                  <c:v>150.5</c:v>
                </c:pt>
                <c:pt idx="260">
                  <c:v>151</c:v>
                </c:pt>
                <c:pt idx="261">
                  <c:v>151.5</c:v>
                </c:pt>
                <c:pt idx="262">
                  <c:v>152</c:v>
                </c:pt>
                <c:pt idx="263">
                  <c:v>152.5</c:v>
                </c:pt>
                <c:pt idx="264">
                  <c:v>153</c:v>
                </c:pt>
                <c:pt idx="265">
                  <c:v>153.5</c:v>
                </c:pt>
                <c:pt idx="266">
                  <c:v>154</c:v>
                </c:pt>
                <c:pt idx="267">
                  <c:v>154.5</c:v>
                </c:pt>
                <c:pt idx="268">
                  <c:v>155</c:v>
                </c:pt>
                <c:pt idx="269">
                  <c:v>155.5</c:v>
                </c:pt>
                <c:pt idx="270">
                  <c:v>156</c:v>
                </c:pt>
                <c:pt idx="271">
                  <c:v>156.5</c:v>
                </c:pt>
                <c:pt idx="272">
                  <c:v>157</c:v>
                </c:pt>
                <c:pt idx="273">
                  <c:v>157.5</c:v>
                </c:pt>
                <c:pt idx="274">
                  <c:v>158</c:v>
                </c:pt>
                <c:pt idx="275">
                  <c:v>158.5</c:v>
                </c:pt>
                <c:pt idx="276">
                  <c:v>159</c:v>
                </c:pt>
                <c:pt idx="277">
                  <c:v>159.5</c:v>
                </c:pt>
                <c:pt idx="278">
                  <c:v>160</c:v>
                </c:pt>
                <c:pt idx="279">
                  <c:v>160.5</c:v>
                </c:pt>
                <c:pt idx="280">
                  <c:v>161</c:v>
                </c:pt>
                <c:pt idx="281">
                  <c:v>161.5</c:v>
                </c:pt>
                <c:pt idx="282">
                  <c:v>162</c:v>
                </c:pt>
                <c:pt idx="283">
                  <c:v>162.5</c:v>
                </c:pt>
                <c:pt idx="284">
                  <c:v>163</c:v>
                </c:pt>
                <c:pt idx="285">
                  <c:v>163.5</c:v>
                </c:pt>
                <c:pt idx="286">
                  <c:v>164</c:v>
                </c:pt>
                <c:pt idx="287">
                  <c:v>164.5</c:v>
                </c:pt>
                <c:pt idx="288">
                  <c:v>165</c:v>
                </c:pt>
                <c:pt idx="289">
                  <c:v>165.5</c:v>
                </c:pt>
                <c:pt idx="290">
                  <c:v>166</c:v>
                </c:pt>
                <c:pt idx="291">
                  <c:v>166.5</c:v>
                </c:pt>
                <c:pt idx="292">
                  <c:v>167</c:v>
                </c:pt>
                <c:pt idx="293">
                  <c:v>167.5</c:v>
                </c:pt>
                <c:pt idx="294">
                  <c:v>168</c:v>
                </c:pt>
                <c:pt idx="295">
                  <c:v>168.5</c:v>
                </c:pt>
                <c:pt idx="296">
                  <c:v>169</c:v>
                </c:pt>
                <c:pt idx="297">
                  <c:v>169.5</c:v>
                </c:pt>
                <c:pt idx="298">
                  <c:v>170</c:v>
                </c:pt>
                <c:pt idx="299">
                  <c:v>170.5</c:v>
                </c:pt>
                <c:pt idx="300">
                  <c:v>171</c:v>
                </c:pt>
                <c:pt idx="301">
                  <c:v>171.5</c:v>
                </c:pt>
                <c:pt idx="302">
                  <c:v>172</c:v>
                </c:pt>
                <c:pt idx="303">
                  <c:v>172.5</c:v>
                </c:pt>
                <c:pt idx="304">
                  <c:v>173</c:v>
                </c:pt>
                <c:pt idx="305">
                  <c:v>173.5</c:v>
                </c:pt>
                <c:pt idx="306">
                  <c:v>174</c:v>
                </c:pt>
                <c:pt idx="307">
                  <c:v>174.5</c:v>
                </c:pt>
                <c:pt idx="308">
                  <c:v>175</c:v>
                </c:pt>
                <c:pt idx="309">
                  <c:v>175.5</c:v>
                </c:pt>
                <c:pt idx="310">
                  <c:v>176</c:v>
                </c:pt>
                <c:pt idx="311">
                  <c:v>176.5</c:v>
                </c:pt>
                <c:pt idx="312">
                  <c:v>177</c:v>
                </c:pt>
                <c:pt idx="313">
                  <c:v>177.5</c:v>
                </c:pt>
                <c:pt idx="314">
                  <c:v>178</c:v>
                </c:pt>
                <c:pt idx="315">
                  <c:v>178.5</c:v>
                </c:pt>
                <c:pt idx="316">
                  <c:v>179</c:v>
                </c:pt>
                <c:pt idx="317">
                  <c:v>179.5</c:v>
                </c:pt>
                <c:pt idx="318">
                  <c:v>180</c:v>
                </c:pt>
                <c:pt idx="319">
                  <c:v>180.5</c:v>
                </c:pt>
                <c:pt idx="320">
                  <c:v>181</c:v>
                </c:pt>
                <c:pt idx="321">
                  <c:v>181.5</c:v>
                </c:pt>
                <c:pt idx="322">
                  <c:v>182</c:v>
                </c:pt>
                <c:pt idx="323">
                  <c:v>182.5</c:v>
                </c:pt>
                <c:pt idx="324">
                  <c:v>183</c:v>
                </c:pt>
                <c:pt idx="325">
                  <c:v>183.5</c:v>
                </c:pt>
                <c:pt idx="326">
                  <c:v>184</c:v>
                </c:pt>
                <c:pt idx="327">
                  <c:v>184.5</c:v>
                </c:pt>
                <c:pt idx="328">
                  <c:v>185</c:v>
                </c:pt>
                <c:pt idx="329">
                  <c:v>185.5</c:v>
                </c:pt>
                <c:pt idx="330">
                  <c:v>186</c:v>
                </c:pt>
                <c:pt idx="331">
                  <c:v>186.5</c:v>
                </c:pt>
                <c:pt idx="332">
                  <c:v>187</c:v>
                </c:pt>
                <c:pt idx="333">
                  <c:v>187.5</c:v>
                </c:pt>
                <c:pt idx="334">
                  <c:v>188</c:v>
                </c:pt>
                <c:pt idx="335">
                  <c:v>188.5</c:v>
                </c:pt>
                <c:pt idx="336">
                  <c:v>189</c:v>
                </c:pt>
                <c:pt idx="337">
                  <c:v>189.5</c:v>
                </c:pt>
                <c:pt idx="338">
                  <c:v>190</c:v>
                </c:pt>
                <c:pt idx="339">
                  <c:v>190.5</c:v>
                </c:pt>
                <c:pt idx="340">
                  <c:v>191</c:v>
                </c:pt>
                <c:pt idx="341">
                  <c:v>191.5</c:v>
                </c:pt>
                <c:pt idx="342">
                  <c:v>192</c:v>
                </c:pt>
                <c:pt idx="343">
                  <c:v>192.5</c:v>
                </c:pt>
                <c:pt idx="344">
                  <c:v>193</c:v>
                </c:pt>
                <c:pt idx="345">
                  <c:v>193.5</c:v>
                </c:pt>
                <c:pt idx="346">
                  <c:v>194</c:v>
                </c:pt>
                <c:pt idx="347">
                  <c:v>194.5</c:v>
                </c:pt>
                <c:pt idx="348">
                  <c:v>195</c:v>
                </c:pt>
                <c:pt idx="349">
                  <c:v>195.5</c:v>
                </c:pt>
                <c:pt idx="350">
                  <c:v>196</c:v>
                </c:pt>
                <c:pt idx="351">
                  <c:v>196.5</c:v>
                </c:pt>
                <c:pt idx="352">
                  <c:v>197</c:v>
                </c:pt>
                <c:pt idx="353">
                  <c:v>197.5</c:v>
                </c:pt>
                <c:pt idx="354">
                  <c:v>198</c:v>
                </c:pt>
                <c:pt idx="355">
                  <c:v>198.5</c:v>
                </c:pt>
                <c:pt idx="356">
                  <c:v>199</c:v>
                </c:pt>
                <c:pt idx="357">
                  <c:v>199.5</c:v>
                </c:pt>
                <c:pt idx="358">
                  <c:v>200</c:v>
                </c:pt>
              </c:numCache>
            </c:numRef>
          </c:xVal>
          <c:yVal>
            <c:numRef>
              <c:f>'Chart Data'!$H$2:$H$360</c:f>
              <c:numCache>
                <c:formatCode>0</c:formatCode>
                <c:ptCount val="359"/>
                <c:pt idx="0">
                  <c:v>23.8876190476</c:v>
                </c:pt>
                <c:pt idx="1">
                  <c:v>23.4646511628</c:v>
                </c:pt>
                <c:pt idx="2">
                  <c:v>23.0618181818</c:v>
                </c:pt>
                <c:pt idx="3">
                  <c:v>22.6777777778</c:v>
                </c:pt>
                <c:pt idx="4">
                  <c:v>22.3113043478</c:v>
                </c:pt>
                <c:pt idx="5">
                  <c:v>21.9612765957</c:v>
                </c:pt>
                <c:pt idx="6">
                  <c:v>21.6266666667</c:v>
                </c:pt>
                <c:pt idx="7">
                  <c:v>21.3065306122</c:v>
                </c:pt>
                <c:pt idx="8">
                  <c:v>21</c:v>
                </c:pt>
                <c:pt idx="9">
                  <c:v>20.7062745098</c:v>
                </c:pt>
                <c:pt idx="10">
                  <c:v>20.4246153846</c:v>
                </c:pt>
                <c:pt idx="11">
                  <c:v>20.1543396226</c:v>
                </c:pt>
                <c:pt idx="12">
                  <c:v>19.8948148148</c:v>
                </c:pt>
                <c:pt idx="13">
                  <c:v>19.6454545455</c:v>
                </c:pt>
                <c:pt idx="14">
                  <c:v>19.4057142857</c:v>
                </c:pt>
                <c:pt idx="15">
                  <c:v>19.1750877193</c:v>
                </c:pt>
                <c:pt idx="16">
                  <c:v>18.9531034483</c:v>
                </c:pt>
                <c:pt idx="17">
                  <c:v>18.7393220339</c:v>
                </c:pt>
                <c:pt idx="18">
                  <c:v>18.5333333333</c:v>
                </c:pt>
                <c:pt idx="19">
                  <c:v>18.3347540984</c:v>
                </c:pt>
                <c:pt idx="20">
                  <c:v>18.1432258065</c:v>
                </c:pt>
                <c:pt idx="21">
                  <c:v>17.9584126984</c:v>
                </c:pt>
                <c:pt idx="22">
                  <c:v>17.78</c:v>
                </c:pt>
                <c:pt idx="23">
                  <c:v>17.6076923077</c:v>
                </c:pt>
                <c:pt idx="24">
                  <c:v>17.4412121212</c:v>
                </c:pt>
                <c:pt idx="25">
                  <c:v>17.2802985075</c:v>
                </c:pt>
                <c:pt idx="26">
                  <c:v>17.1247058824</c:v>
                </c:pt>
                <c:pt idx="27">
                  <c:v>16.9742028986</c:v>
                </c:pt>
                <c:pt idx="28">
                  <c:v>16.8285714286</c:v>
                </c:pt>
                <c:pt idx="29">
                  <c:v>16.6876056338</c:v>
                </c:pt>
                <c:pt idx="30">
                  <c:v>16.5511111111</c:v>
                </c:pt>
                <c:pt idx="31">
                  <c:v>16.4189041096</c:v>
                </c:pt>
                <c:pt idx="32">
                  <c:v>16.2908108108</c:v>
                </c:pt>
                <c:pt idx="33">
                  <c:v>16.1666666667</c:v>
                </c:pt>
                <c:pt idx="34">
                  <c:v>16.0463157895</c:v>
                </c:pt>
                <c:pt idx="35">
                  <c:v>15.9296103896</c:v>
                </c:pt>
                <c:pt idx="36">
                  <c:v>15.8164102564</c:v>
                </c:pt>
                <c:pt idx="37">
                  <c:v>15.7065822785</c:v>
                </c:pt>
                <c:pt idx="38">
                  <c:v>15.6</c:v>
                </c:pt>
                <c:pt idx="39">
                  <c:v>15.4965432099</c:v>
                </c:pt>
                <c:pt idx="40">
                  <c:v>15.396097561</c:v>
                </c:pt>
                <c:pt idx="41">
                  <c:v>15.2985542169</c:v>
                </c:pt>
                <c:pt idx="42">
                  <c:v>15.2038095238</c:v>
                </c:pt>
                <c:pt idx="43">
                  <c:v>15.1117647059</c:v>
                </c:pt>
                <c:pt idx="44">
                  <c:v>15.0223255814</c:v>
                </c:pt>
                <c:pt idx="45">
                  <c:v>14.9354022989</c:v>
                </c:pt>
                <c:pt idx="46">
                  <c:v>14.8509090909</c:v>
                </c:pt>
                <c:pt idx="47">
                  <c:v>14.7687640449</c:v>
                </c:pt>
                <c:pt idx="48">
                  <c:v>14.6888888889</c:v>
                </c:pt>
                <c:pt idx="49">
                  <c:v>14.6112087912</c:v>
                </c:pt>
                <c:pt idx="50">
                  <c:v>14.5356521739</c:v>
                </c:pt>
                <c:pt idx="51">
                  <c:v>14.4621505376</c:v>
                </c:pt>
                <c:pt idx="52">
                  <c:v>14.3906382979</c:v>
                </c:pt>
                <c:pt idx="53">
                  <c:v>14.3210526316</c:v>
                </c:pt>
                <c:pt idx="54">
                  <c:v>14.2533333333</c:v>
                </c:pt>
                <c:pt idx="55">
                  <c:v>14.1874226804</c:v>
                </c:pt>
                <c:pt idx="56">
                  <c:v>14.1232653061</c:v>
                </c:pt>
                <c:pt idx="57">
                  <c:v>14.0608080808</c:v>
                </c:pt>
                <c:pt idx="58">
                  <c:v>14</c:v>
                </c:pt>
                <c:pt idx="59">
                  <c:v>13.9407920792</c:v>
                </c:pt>
                <c:pt idx="60">
                  <c:v>13.8831372549</c:v>
                </c:pt>
                <c:pt idx="61">
                  <c:v>13.8269902913</c:v>
                </c:pt>
                <c:pt idx="62">
                  <c:v>13.7723076923</c:v>
                </c:pt>
                <c:pt idx="63">
                  <c:v>13.719047619</c:v>
                </c:pt>
                <c:pt idx="64">
                  <c:v>13.6671698113</c:v>
                </c:pt>
                <c:pt idx="65">
                  <c:v>13.616635514</c:v>
                </c:pt>
                <c:pt idx="66">
                  <c:v>13.5674074074</c:v>
                </c:pt>
                <c:pt idx="67">
                  <c:v>13.5194495413</c:v>
                </c:pt>
                <c:pt idx="68">
                  <c:v>13.4727272727</c:v>
                </c:pt>
                <c:pt idx="69">
                  <c:v>13.4272072072</c:v>
                </c:pt>
                <c:pt idx="70">
                  <c:v>13.3828571429</c:v>
                </c:pt>
                <c:pt idx="71">
                  <c:v>13.3396460177</c:v>
                </c:pt>
                <c:pt idx="72">
                  <c:v>13.2975438596</c:v>
                </c:pt>
                <c:pt idx="73">
                  <c:v>13.2565217391</c:v>
                </c:pt>
                <c:pt idx="74">
                  <c:v>13.2165517241</c:v>
                </c:pt>
                <c:pt idx="75">
                  <c:v>13.1776068376</c:v>
                </c:pt>
                <c:pt idx="76">
                  <c:v>13.1396610169</c:v>
                </c:pt>
                <c:pt idx="77">
                  <c:v>13.1026890756</c:v>
                </c:pt>
                <c:pt idx="78">
                  <c:v>13.0666666667</c:v>
                </c:pt>
                <c:pt idx="79">
                  <c:v>13.0315702479</c:v>
                </c:pt>
                <c:pt idx="80">
                  <c:v>12.9973770492</c:v>
                </c:pt>
                <c:pt idx="81">
                  <c:v>12.9640650407</c:v>
                </c:pt>
                <c:pt idx="82">
                  <c:v>12.9316129032</c:v>
                </c:pt>
                <c:pt idx="83">
                  <c:v>12.9</c:v>
                </c:pt>
                <c:pt idx="84">
                  <c:v>12.8692063492</c:v>
                </c:pt>
                <c:pt idx="85">
                  <c:v>12.8392125984</c:v>
                </c:pt>
                <c:pt idx="86">
                  <c:v>12.81</c:v>
                </c:pt>
                <c:pt idx="87">
                  <c:v>12.7815503876</c:v>
                </c:pt>
                <c:pt idx="88">
                  <c:v>12.7538461538</c:v>
                </c:pt>
                <c:pt idx="89">
                  <c:v>12.726870229</c:v>
                </c:pt>
                <c:pt idx="90">
                  <c:v>12.7006060606</c:v>
                </c:pt>
                <c:pt idx="91">
                  <c:v>12.675037594</c:v>
                </c:pt>
                <c:pt idx="92">
                  <c:v>12.6501492537</c:v>
                </c:pt>
                <c:pt idx="93">
                  <c:v>12.6259259259</c:v>
                </c:pt>
                <c:pt idx="94">
                  <c:v>12.6023529412</c:v>
                </c:pt>
                <c:pt idx="95">
                  <c:v>12.5794160584</c:v>
                </c:pt>
                <c:pt idx="96">
                  <c:v>12.5571014493</c:v>
                </c:pt>
                <c:pt idx="97">
                  <c:v>12.5353956835</c:v>
                </c:pt>
                <c:pt idx="98">
                  <c:v>12.5142857143</c:v>
                </c:pt>
                <c:pt idx="99">
                  <c:v>12.4937588652</c:v>
                </c:pt>
                <c:pt idx="100">
                  <c:v>12.4738028169</c:v>
                </c:pt>
                <c:pt idx="101">
                  <c:v>12.4544055944</c:v>
                </c:pt>
                <c:pt idx="102">
                  <c:v>12.4355555556</c:v>
                </c:pt>
                <c:pt idx="103">
                  <c:v>12.4172413793</c:v>
                </c:pt>
                <c:pt idx="104">
                  <c:v>12.3994520548</c:v>
                </c:pt>
                <c:pt idx="105">
                  <c:v>12.3821768707</c:v>
                </c:pt>
                <c:pt idx="106">
                  <c:v>12.3654054054</c:v>
                </c:pt>
                <c:pt idx="107">
                  <c:v>12.3491275168</c:v>
                </c:pt>
                <c:pt idx="108">
                  <c:v>12.3333333333</c:v>
                </c:pt>
                <c:pt idx="109">
                  <c:v>12.318013245</c:v>
                </c:pt>
                <c:pt idx="110">
                  <c:v>12.3031578947</c:v>
                </c:pt>
                <c:pt idx="111">
                  <c:v>12.2887581699</c:v>
                </c:pt>
                <c:pt idx="112">
                  <c:v>12.2748051948</c:v>
                </c:pt>
                <c:pt idx="113">
                  <c:v>12.2612903226</c:v>
                </c:pt>
                <c:pt idx="114">
                  <c:v>12.2482051282</c:v>
                </c:pt>
                <c:pt idx="115">
                  <c:v>12.2355414013</c:v>
                </c:pt>
                <c:pt idx="116">
                  <c:v>12.2232911392</c:v>
                </c:pt>
                <c:pt idx="117">
                  <c:v>12.2114465409</c:v>
                </c:pt>
                <c:pt idx="118">
                  <c:v>12.2</c:v>
                </c:pt>
                <c:pt idx="119">
                  <c:v>12.1889440994</c:v>
                </c:pt>
                <c:pt idx="120">
                  <c:v>12.1782716049</c:v>
                </c:pt>
                <c:pt idx="121">
                  <c:v>12.1679754601</c:v>
                </c:pt>
                <c:pt idx="122">
                  <c:v>12.1580487805</c:v>
                </c:pt>
                <c:pt idx="123">
                  <c:v>12.1484848485</c:v>
                </c:pt>
                <c:pt idx="124">
                  <c:v>12.1392771084</c:v>
                </c:pt>
                <c:pt idx="125">
                  <c:v>12.1304191617</c:v>
                </c:pt>
                <c:pt idx="126">
                  <c:v>12.1219047619</c:v>
                </c:pt>
                <c:pt idx="127">
                  <c:v>12.1137278107</c:v>
                </c:pt>
                <c:pt idx="128">
                  <c:v>12.1058823529</c:v>
                </c:pt>
                <c:pt idx="129">
                  <c:v>12.0983625731</c:v>
                </c:pt>
                <c:pt idx="130">
                  <c:v>12.0911627907</c:v>
                </c:pt>
                <c:pt idx="131">
                  <c:v>12.0842774566</c:v>
                </c:pt>
                <c:pt idx="132">
                  <c:v>12.0777011494</c:v>
                </c:pt>
                <c:pt idx="133">
                  <c:v>12.0714285714</c:v>
                </c:pt>
                <c:pt idx="134">
                  <c:v>12.0654545455</c:v>
                </c:pt>
                <c:pt idx="135">
                  <c:v>12.0597740113</c:v>
                </c:pt>
                <c:pt idx="136">
                  <c:v>12.0543820225</c:v>
                </c:pt>
                <c:pt idx="137">
                  <c:v>12.049273743</c:v>
                </c:pt>
                <c:pt idx="138">
                  <c:v>12.0444444444</c:v>
                </c:pt>
                <c:pt idx="139">
                  <c:v>12.0398895028</c:v>
                </c:pt>
                <c:pt idx="140">
                  <c:v>12.0356043956</c:v>
                </c:pt>
                <c:pt idx="141">
                  <c:v>12.0315846995</c:v>
                </c:pt>
                <c:pt idx="142">
                  <c:v>12.027826087</c:v>
                </c:pt>
                <c:pt idx="143">
                  <c:v>12.0243243243</c:v>
                </c:pt>
                <c:pt idx="144">
                  <c:v>12.0210752688</c:v>
                </c:pt>
                <c:pt idx="145">
                  <c:v>12.0180748663</c:v>
                </c:pt>
                <c:pt idx="146">
                  <c:v>12.0153191489</c:v>
                </c:pt>
                <c:pt idx="147">
                  <c:v>12.0128042328</c:v>
                </c:pt>
                <c:pt idx="148">
                  <c:v>12.0105263158</c:v>
                </c:pt>
                <c:pt idx="149">
                  <c:v>12.0084816754</c:v>
                </c:pt>
                <c:pt idx="150">
                  <c:v>12.0066666667</c:v>
                </c:pt>
                <c:pt idx="151">
                  <c:v>12.0050777202</c:v>
                </c:pt>
                <c:pt idx="152">
                  <c:v>12.0037113402</c:v>
                </c:pt>
                <c:pt idx="153">
                  <c:v>12.0025641026</c:v>
                </c:pt>
                <c:pt idx="154">
                  <c:v>12.0016326531</c:v>
                </c:pt>
                <c:pt idx="155">
                  <c:v>12.0009137056</c:v>
                </c:pt>
                <c:pt idx="156">
                  <c:v>12.0004040404</c:v>
                </c:pt>
                <c:pt idx="157">
                  <c:v>12.0001005025</c:v>
                </c:pt>
                <c:pt idx="158">
                  <c:v>12</c:v>
                </c:pt>
                <c:pt idx="159">
                  <c:v>12.0000995025</c:v>
                </c:pt>
                <c:pt idx="160">
                  <c:v>12.0003960396</c:v>
                </c:pt>
                <c:pt idx="161">
                  <c:v>12.0008866995</c:v>
                </c:pt>
                <c:pt idx="162">
                  <c:v>12.0015686275</c:v>
                </c:pt>
                <c:pt idx="163">
                  <c:v>12.0024390244</c:v>
                </c:pt>
                <c:pt idx="164">
                  <c:v>12.0034951456</c:v>
                </c:pt>
                <c:pt idx="165">
                  <c:v>12.0047342995</c:v>
                </c:pt>
                <c:pt idx="166">
                  <c:v>12.0061538462</c:v>
                </c:pt>
                <c:pt idx="167">
                  <c:v>12.0077511962</c:v>
                </c:pt>
                <c:pt idx="168">
                  <c:v>12.0095238095</c:v>
                </c:pt>
                <c:pt idx="169">
                  <c:v>12.0114691943</c:v>
                </c:pt>
                <c:pt idx="170">
                  <c:v>12.0135849057</c:v>
                </c:pt>
                <c:pt idx="171">
                  <c:v>12.0158685446</c:v>
                </c:pt>
                <c:pt idx="172">
                  <c:v>12.018317757</c:v>
                </c:pt>
                <c:pt idx="173">
                  <c:v>12.0209302326</c:v>
                </c:pt>
                <c:pt idx="174">
                  <c:v>12.0237037037</c:v>
                </c:pt>
                <c:pt idx="175">
                  <c:v>12.0266359447</c:v>
                </c:pt>
                <c:pt idx="176">
                  <c:v>12.0297247706</c:v>
                </c:pt>
                <c:pt idx="177">
                  <c:v>12.0329680365</c:v>
                </c:pt>
                <c:pt idx="178">
                  <c:v>12.0363636364</c:v>
                </c:pt>
                <c:pt idx="179">
                  <c:v>12.0399095023</c:v>
                </c:pt>
                <c:pt idx="180">
                  <c:v>12.0436036036</c:v>
                </c:pt>
                <c:pt idx="181">
                  <c:v>12.0474439462</c:v>
                </c:pt>
                <c:pt idx="182">
                  <c:v>12.0514285714</c:v>
                </c:pt>
                <c:pt idx="183">
                  <c:v>12.0555555556</c:v>
                </c:pt>
                <c:pt idx="184">
                  <c:v>12.0598230088</c:v>
                </c:pt>
                <c:pt idx="185">
                  <c:v>12.0642290749</c:v>
                </c:pt>
                <c:pt idx="186">
                  <c:v>12.0687719298</c:v>
                </c:pt>
                <c:pt idx="187">
                  <c:v>12.0734497817</c:v>
                </c:pt>
                <c:pt idx="188">
                  <c:v>12.0782608696</c:v>
                </c:pt>
                <c:pt idx="189">
                  <c:v>12.0832034632</c:v>
                </c:pt>
                <c:pt idx="190">
                  <c:v>12.0882758621</c:v>
                </c:pt>
                <c:pt idx="191">
                  <c:v>12.0934763948</c:v>
                </c:pt>
                <c:pt idx="192">
                  <c:v>12.0988034188</c:v>
                </c:pt>
                <c:pt idx="193">
                  <c:v>12.1042553191</c:v>
                </c:pt>
                <c:pt idx="194">
                  <c:v>12.1098305085</c:v>
                </c:pt>
                <c:pt idx="195">
                  <c:v>12.1155274262</c:v>
                </c:pt>
                <c:pt idx="196">
                  <c:v>12.1213445378</c:v>
                </c:pt>
                <c:pt idx="197">
                  <c:v>12.1272803347</c:v>
                </c:pt>
                <c:pt idx="198">
                  <c:v>12.1333333333</c:v>
                </c:pt>
                <c:pt idx="199">
                  <c:v>12.1395020747</c:v>
                </c:pt>
                <c:pt idx="200">
                  <c:v>12.145785124</c:v>
                </c:pt>
                <c:pt idx="201">
                  <c:v>12.15218107</c:v>
                </c:pt>
                <c:pt idx="202">
                  <c:v>12.1586885246</c:v>
                </c:pt>
                <c:pt idx="203">
                  <c:v>12.1653061224</c:v>
                </c:pt>
                <c:pt idx="204">
                  <c:v>12.1720325203</c:v>
                </c:pt>
                <c:pt idx="205">
                  <c:v>12.1788663968</c:v>
                </c:pt>
                <c:pt idx="206">
                  <c:v>12.1858064516</c:v>
                </c:pt>
                <c:pt idx="207">
                  <c:v>12.1928514056</c:v>
                </c:pt>
                <c:pt idx="208">
                  <c:v>12.2</c:v>
                </c:pt>
                <c:pt idx="209">
                  <c:v>12.207250996</c:v>
                </c:pt>
                <c:pt idx="210">
                  <c:v>12.2146031746</c:v>
                </c:pt>
                <c:pt idx="211">
                  <c:v>12.222055336</c:v>
                </c:pt>
                <c:pt idx="212">
                  <c:v>12.2296062992</c:v>
                </c:pt>
                <c:pt idx="213">
                  <c:v>12.237254902</c:v>
                </c:pt>
                <c:pt idx="214">
                  <c:v>12.245</c:v>
                </c:pt>
                <c:pt idx="215">
                  <c:v>12.2528404669</c:v>
                </c:pt>
                <c:pt idx="216">
                  <c:v>12.2607751938</c:v>
                </c:pt>
                <c:pt idx="217">
                  <c:v>12.2688030888</c:v>
                </c:pt>
                <c:pt idx="218">
                  <c:v>12.2769230769</c:v>
                </c:pt>
                <c:pt idx="219">
                  <c:v>12.2851340996</c:v>
                </c:pt>
                <c:pt idx="220">
                  <c:v>12.2934351145</c:v>
                </c:pt>
                <c:pt idx="221">
                  <c:v>12.3018250951</c:v>
                </c:pt>
                <c:pt idx="222">
                  <c:v>12.3103030303</c:v>
                </c:pt>
                <c:pt idx="223">
                  <c:v>12.3188679245</c:v>
                </c:pt>
                <c:pt idx="224">
                  <c:v>12.327518797</c:v>
                </c:pt>
                <c:pt idx="225">
                  <c:v>12.3362546816</c:v>
                </c:pt>
                <c:pt idx="226">
                  <c:v>12.3450746269</c:v>
                </c:pt>
                <c:pt idx="227">
                  <c:v>12.3539776952</c:v>
                </c:pt>
                <c:pt idx="228">
                  <c:v>12.362962963</c:v>
                </c:pt>
                <c:pt idx="229">
                  <c:v>12.3720295203</c:v>
                </c:pt>
                <c:pt idx="230">
                  <c:v>12.3811764706</c:v>
                </c:pt>
                <c:pt idx="231">
                  <c:v>12.3904029304</c:v>
                </c:pt>
                <c:pt idx="232">
                  <c:v>12.3997080292</c:v>
                </c:pt>
                <c:pt idx="233">
                  <c:v>12.4090909091</c:v>
                </c:pt>
                <c:pt idx="234">
                  <c:v>12.4185507246</c:v>
                </c:pt>
                <c:pt idx="235">
                  <c:v>12.4280866426</c:v>
                </c:pt>
                <c:pt idx="236">
                  <c:v>12.4376978417</c:v>
                </c:pt>
                <c:pt idx="237">
                  <c:v>12.4473835125</c:v>
                </c:pt>
                <c:pt idx="238">
                  <c:v>12.4571428571</c:v>
                </c:pt>
                <c:pt idx="239">
                  <c:v>12.466975089</c:v>
                </c:pt>
                <c:pt idx="240">
                  <c:v>12.4768794326</c:v>
                </c:pt>
                <c:pt idx="241">
                  <c:v>12.4868551237</c:v>
                </c:pt>
                <c:pt idx="242">
                  <c:v>12.4969014085</c:v>
                </c:pt>
                <c:pt idx="243">
                  <c:v>12.5070175439</c:v>
                </c:pt>
                <c:pt idx="244">
                  <c:v>12.5172027972</c:v>
                </c:pt>
                <c:pt idx="245">
                  <c:v>12.527456446</c:v>
                </c:pt>
                <c:pt idx="246">
                  <c:v>12.5377777778</c:v>
                </c:pt>
                <c:pt idx="247">
                  <c:v>12.54816609</c:v>
                </c:pt>
                <c:pt idx="248">
                  <c:v>12.5586206897</c:v>
                </c:pt>
                <c:pt idx="249">
                  <c:v>12.5691408935</c:v>
                </c:pt>
                <c:pt idx="250">
                  <c:v>12.5797260274</c:v>
                </c:pt>
                <c:pt idx="251">
                  <c:v>12.5903754266</c:v>
                </c:pt>
                <c:pt idx="252">
                  <c:v>12.6010884354</c:v>
                </c:pt>
                <c:pt idx="253">
                  <c:v>12.6118644068</c:v>
                </c:pt>
                <c:pt idx="254">
                  <c:v>12.6227027027</c:v>
                </c:pt>
                <c:pt idx="255">
                  <c:v>12.6336026936</c:v>
                </c:pt>
                <c:pt idx="256">
                  <c:v>12.6445637584</c:v>
                </c:pt>
                <c:pt idx="257">
                  <c:v>12.6555852843</c:v>
                </c:pt>
                <c:pt idx="258">
                  <c:v>12.6666666667</c:v>
                </c:pt>
                <c:pt idx="259">
                  <c:v>12.677807309</c:v>
                </c:pt>
                <c:pt idx="260">
                  <c:v>12.6890066225</c:v>
                </c:pt>
                <c:pt idx="261">
                  <c:v>12.7002640264</c:v>
                </c:pt>
                <c:pt idx="262">
                  <c:v>12.7115789474</c:v>
                </c:pt>
                <c:pt idx="263">
                  <c:v>12.7229508197</c:v>
                </c:pt>
                <c:pt idx="264">
                  <c:v>12.734379085</c:v>
                </c:pt>
                <c:pt idx="265">
                  <c:v>12.7458631922</c:v>
                </c:pt>
                <c:pt idx="266">
                  <c:v>12.7574025974</c:v>
                </c:pt>
                <c:pt idx="267">
                  <c:v>12.7689967638</c:v>
                </c:pt>
                <c:pt idx="268">
                  <c:v>12.7806451613</c:v>
                </c:pt>
                <c:pt idx="269">
                  <c:v>12.7923472669</c:v>
                </c:pt>
                <c:pt idx="270">
                  <c:v>12.8041025641</c:v>
                </c:pt>
                <c:pt idx="271">
                  <c:v>12.8159105431</c:v>
                </c:pt>
                <c:pt idx="272">
                  <c:v>12.8277707006</c:v>
                </c:pt>
                <c:pt idx="273">
                  <c:v>12.8396825397</c:v>
                </c:pt>
                <c:pt idx="274">
                  <c:v>12.8516455696</c:v>
                </c:pt>
                <c:pt idx="275">
                  <c:v>12.863659306</c:v>
                </c:pt>
                <c:pt idx="276">
                  <c:v>12.8757232704</c:v>
                </c:pt>
                <c:pt idx="277">
                  <c:v>12.8878369906</c:v>
                </c:pt>
                <c:pt idx="278">
                  <c:v>12.9</c:v>
                </c:pt>
                <c:pt idx="279">
                  <c:v>12.912211838</c:v>
                </c:pt>
                <c:pt idx="280">
                  <c:v>12.9244720497</c:v>
                </c:pt>
                <c:pt idx="281">
                  <c:v>12.9367801858</c:v>
                </c:pt>
                <c:pt idx="282">
                  <c:v>12.9491358025</c:v>
                </c:pt>
                <c:pt idx="283">
                  <c:v>12.9615384615</c:v>
                </c:pt>
                <c:pt idx="284">
                  <c:v>12.9739877301</c:v>
                </c:pt>
                <c:pt idx="285">
                  <c:v>12.9864831804</c:v>
                </c:pt>
                <c:pt idx="286">
                  <c:v>12.9990243902</c:v>
                </c:pt>
                <c:pt idx="287">
                  <c:v>13.0116109422</c:v>
                </c:pt>
                <c:pt idx="288">
                  <c:v>13.0242424242</c:v>
                </c:pt>
                <c:pt idx="289">
                  <c:v>13.036918429</c:v>
                </c:pt>
                <c:pt idx="290">
                  <c:v>13.0496385542</c:v>
                </c:pt>
                <c:pt idx="291">
                  <c:v>13.0624024024</c:v>
                </c:pt>
                <c:pt idx="292">
                  <c:v>13.0752095808</c:v>
                </c:pt>
                <c:pt idx="293">
                  <c:v>13.0880597015</c:v>
                </c:pt>
                <c:pt idx="294">
                  <c:v>13.100952381</c:v>
                </c:pt>
                <c:pt idx="295">
                  <c:v>13.1138872404</c:v>
                </c:pt>
                <c:pt idx="296">
                  <c:v>13.1268639053</c:v>
                </c:pt>
                <c:pt idx="297">
                  <c:v>13.1398820059</c:v>
                </c:pt>
                <c:pt idx="298">
                  <c:v>13.1529411765</c:v>
                </c:pt>
                <c:pt idx="299">
                  <c:v>13.1660410557</c:v>
                </c:pt>
                <c:pt idx="300">
                  <c:v>13.1791812865</c:v>
                </c:pt>
                <c:pt idx="301">
                  <c:v>13.192361516</c:v>
                </c:pt>
                <c:pt idx="302">
                  <c:v>13.2055813953</c:v>
                </c:pt>
                <c:pt idx="303">
                  <c:v>13.2188405797</c:v>
                </c:pt>
                <c:pt idx="304">
                  <c:v>13.2321387283</c:v>
                </c:pt>
                <c:pt idx="305">
                  <c:v>13.2454755043</c:v>
                </c:pt>
                <c:pt idx="306">
                  <c:v>13.2588505747</c:v>
                </c:pt>
                <c:pt idx="307">
                  <c:v>13.2722636103</c:v>
                </c:pt>
                <c:pt idx="308">
                  <c:v>13.2857142857</c:v>
                </c:pt>
                <c:pt idx="309">
                  <c:v>13.2992022792</c:v>
                </c:pt>
                <c:pt idx="310">
                  <c:v>13.3127272727</c:v>
                </c:pt>
                <c:pt idx="311">
                  <c:v>13.3262889518</c:v>
                </c:pt>
                <c:pt idx="312">
                  <c:v>13.3398870056</c:v>
                </c:pt>
                <c:pt idx="313">
                  <c:v>13.3535211268</c:v>
                </c:pt>
                <c:pt idx="314">
                  <c:v>13.3671910112</c:v>
                </c:pt>
                <c:pt idx="315">
                  <c:v>13.3808963585</c:v>
                </c:pt>
                <c:pt idx="316">
                  <c:v>13.3946368715</c:v>
                </c:pt>
                <c:pt idx="317">
                  <c:v>13.4084122563</c:v>
                </c:pt>
                <c:pt idx="318">
                  <c:v>13.4222222222</c:v>
                </c:pt>
                <c:pt idx="319">
                  <c:v>13.436066482</c:v>
                </c:pt>
                <c:pt idx="320">
                  <c:v>13.4499447514</c:v>
                </c:pt>
                <c:pt idx="321">
                  <c:v>13.4638567493</c:v>
                </c:pt>
                <c:pt idx="322">
                  <c:v>13.4778021978</c:v>
                </c:pt>
                <c:pt idx="323">
                  <c:v>13.4917808219</c:v>
                </c:pt>
                <c:pt idx="324">
                  <c:v>13.5057923497</c:v>
                </c:pt>
                <c:pt idx="325">
                  <c:v>13.5198365123</c:v>
                </c:pt>
                <c:pt idx="326">
                  <c:v>13.5339130435</c:v>
                </c:pt>
                <c:pt idx="327">
                  <c:v>13.5480216802</c:v>
                </c:pt>
                <c:pt idx="328">
                  <c:v>13.5621621622</c:v>
                </c:pt>
                <c:pt idx="329">
                  <c:v>13.5763342318</c:v>
                </c:pt>
                <c:pt idx="330">
                  <c:v>13.5905376344</c:v>
                </c:pt>
                <c:pt idx="331">
                  <c:v>13.604772118</c:v>
                </c:pt>
                <c:pt idx="332">
                  <c:v>13.6190374332</c:v>
                </c:pt>
                <c:pt idx="333">
                  <c:v>13.6333333333</c:v>
                </c:pt>
                <c:pt idx="334">
                  <c:v>13.6476595745</c:v>
                </c:pt>
                <c:pt idx="335">
                  <c:v>13.6620159151</c:v>
                </c:pt>
                <c:pt idx="336">
                  <c:v>13.6764021164</c:v>
                </c:pt>
                <c:pt idx="337">
                  <c:v>13.690817942</c:v>
                </c:pt>
                <c:pt idx="338">
                  <c:v>13.7052631579</c:v>
                </c:pt>
                <c:pt idx="339">
                  <c:v>13.7197375328</c:v>
                </c:pt>
                <c:pt idx="340">
                  <c:v>13.7342408377</c:v>
                </c:pt>
                <c:pt idx="341">
                  <c:v>13.748772846</c:v>
                </c:pt>
                <c:pt idx="342">
                  <c:v>13.7633333333</c:v>
                </c:pt>
                <c:pt idx="343">
                  <c:v>13.7779220779</c:v>
                </c:pt>
                <c:pt idx="344">
                  <c:v>13.7925388601</c:v>
                </c:pt>
                <c:pt idx="345">
                  <c:v>13.8071834625</c:v>
                </c:pt>
                <c:pt idx="346">
                  <c:v>13.8218556701</c:v>
                </c:pt>
                <c:pt idx="347">
                  <c:v>13.8365552699</c:v>
                </c:pt>
                <c:pt idx="348">
                  <c:v>13.8512820513</c:v>
                </c:pt>
                <c:pt idx="349">
                  <c:v>13.8660358056</c:v>
                </c:pt>
                <c:pt idx="350">
                  <c:v>13.8808163265</c:v>
                </c:pt>
                <c:pt idx="351">
                  <c:v>13.8956234097</c:v>
                </c:pt>
                <c:pt idx="352">
                  <c:v>13.9104568528</c:v>
                </c:pt>
                <c:pt idx="353">
                  <c:v>13.9253164557</c:v>
                </c:pt>
                <c:pt idx="354">
                  <c:v>13.9402020202</c:v>
                </c:pt>
                <c:pt idx="355">
                  <c:v>13.9551133501</c:v>
                </c:pt>
                <c:pt idx="356">
                  <c:v>13.9700502513</c:v>
                </c:pt>
                <c:pt idx="357">
                  <c:v>13.9850125313</c:v>
                </c:pt>
                <c:pt idx="358">
                  <c:v>14</c:v>
                </c:pt>
              </c:numCache>
            </c:numRef>
          </c:yVal>
          <c:smooth val="0"/>
        </c:ser>
        <c:dLbls>
          <c:txPr>
            <a:bodyPr xmlns:a="http://schemas.openxmlformats.org/drawingml/2006/main" anchorCtr="1"/>
            <a:lstStyle xmlns:a="http://schemas.openxmlformats.org/drawingml/2006/main"/>
            <a:p xmlns:a="http://schemas.openxmlformats.org/drawingml/2006/main">
              <a:pPr>
                <a:defRPr sz="2025">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4"/>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50112"/>
        <c:majorUnit val="4"/>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72768"/>
        <c:majorUnit val="5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10"/>
          <c:y val=".05"/>
          <c:w val=".85"/>
          <c:h val=".79"/>
        </c:manualLayout>
      </c:layout>
      <c:scatterChart>
        <c:scatterStyle val="line"/>
        <c:ser>
          <c:idx val="0"/>
          <c:order val="0"/>
          <c:tx>
            <c:v>Capaciteit</c:v>
          </c:tx>
          <c:spPr>
            <a:ln xmlns:a="http://schemas.openxmlformats.org/drawingml/2006/main" w="19050">
              <a:solidFill>
                <a:srgbClr val="A94D16"/>
              </a:solidFill>
              <a:prstDash val="dash"/>
            </a:ln>
          </c:spPr>
          <c:marker>
            <c:symbol val="none"/>
          </c:marker>
          <c:xVal>
            <c:numRef>
              <c:f>'Chart Data'!$A$2:$A$3</c:f>
              <c:numCache>
                <c:formatCode>General</c:formatCode>
                <c:ptCount val="2"/>
                <c:pt idx="0">
                  <c:v>120</c:v>
                </c:pt>
                <c:pt idx="1">
                  <c:v>120</c:v>
                </c:pt>
              </c:numCache>
            </c:numRef>
          </c:xVal>
          <c:yVal>
            <c:numRef>
              <c:f>'Chart Data'!$B$2:$B$3</c:f>
              <c:numCache>
                <c:formatCode>0</c:formatCode>
                <c:ptCount val="2"/>
                <c:pt idx="0">
                  <c:v>0</c:v>
                </c:pt>
                <c:pt idx="1">
                  <c:v>24</c:v>
                </c:pt>
              </c:numCache>
            </c:numRef>
          </c:yVal>
          <c:smooth val="0"/>
        </c:ser>
        <c:ser>
          <c:idx val="1"/>
          <c:order val="1"/>
          <c:tx>
            <c:v>MK</c:v>
          </c:tx>
          <c:spPr>
            <a:ln xmlns:a="http://schemas.openxmlformats.org/drawingml/2006/main" w="31433">
              <a:solidFill>
                <a:srgbClr val="20665B"/>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20665B"/>
                        </a:solidFill>
                        <a:latin typeface="Arial"/>
                        <a:ea typeface="Arial"/>
                        <a:cs typeface="Arial"/>
                      </a:rPr>
                      <a:t>MK</a:t>
                    </a:r>
                  </a:p>
                </c:rich>
              </c:tx>
              <c:txPr>
                <a:bodyPr xmlns:a="http://schemas.openxmlformats.org/drawingml/2006/main" anchorCtr="1"/>
                <a:lstStyle xmlns:a="http://schemas.openxmlformats.org/drawingml/2006/main"/>
                <a:p xmlns:a="http://schemas.openxmlformats.org/drawingml/2006/main">
                  <a:pPr>
                    <a:defRPr sz="2100" b="1">
                      <a:solidFill>
                        <a:srgbClr val="20665B"/>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Data'!$C$2:$C$4</c:f>
              <c:numCache>
                <c:formatCode>General</c:formatCode>
                <c:ptCount val="3"/>
                <c:pt idx="0">
                  <c:v>0</c:v>
                </c:pt>
                <c:pt idx="1">
                  <c:v>166</c:v>
                </c:pt>
                <c:pt idx="2">
                  <c:v>200</c:v>
                </c:pt>
              </c:numCache>
            </c:numRef>
          </c:xVal>
          <c:yVal>
            <c:numRef>
              <c:f>'Chart Data'!$D$2:$D$4</c:f>
              <c:numCache>
                <c:formatCode>0</c:formatCode>
                <c:ptCount val="3"/>
                <c:pt idx="0">
                  <c:v>4</c:v>
                </c:pt>
                <c:pt idx="1">
                  <c:v>17.28</c:v>
                </c:pt>
                <c:pt idx="2">
                  <c:v>20</c:v>
                </c:pt>
              </c:numCache>
            </c:numRef>
          </c:yVal>
          <c:smooth val="0"/>
        </c:ser>
        <c:ser>
          <c:idx val="2"/>
          <c:order val="2"/>
          <c:tx>
            <c:v>P = GO = MO</c:v>
          </c:tx>
          <c:spPr>
            <a:ln xmlns:a="http://schemas.openxmlformats.org/drawingml/2006/main" w="31433">
              <a:solidFill>
                <a:srgbClr val="17658A"/>
              </a:solidFill>
            </a:ln>
          </c:spPr>
          <c:marker>
            <c:symbol val="none"/>
          </c:marker>
          <c:dLbls>
            <c:dLbl>
              <c:idx val="1"/>
              <c:tx>
                <c:rich>
                  <a:bodyPr xmlns:a="http://schemas.openxmlformats.org/drawingml/2006/main"/>
                  <a:lstStyle xmlns:a="http://schemas.openxmlformats.org/drawingml/2006/main"/>
                  <a:p xmlns:a="http://schemas.openxmlformats.org/drawingml/2006/main">
                    <a:r>
                      <a:rPr sz="2100" b="1">
                        <a:solidFill>
                          <a:srgbClr val="17658A"/>
                        </a:solidFill>
                        <a:latin typeface="Arial"/>
                        <a:ea typeface="Arial"/>
                        <a:cs typeface="Arial"/>
                      </a:rPr>
                      <a:t>P = GO = MO</a:t>
                    </a:r>
                  </a:p>
                </c:rich>
              </c:tx>
              <c:txPr>
                <a:bodyPr xmlns:a="http://schemas.openxmlformats.org/drawingml/2006/main" anchorCtr="1"/>
                <a:lstStyle xmlns:a="http://schemas.openxmlformats.org/drawingml/2006/main"/>
                <a:p xmlns:a="http://schemas.openxmlformats.org/drawingml/2006/main">
                  <a:pPr>
                    <a:defRPr sz="2100" b="1">
                      <a:solidFill>
                        <a:srgbClr val="17658A"/>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showLeaderLines val="0"/>
          </c:dLbls>
          <c:xVal>
            <c:numRef>
              <c:f>'Chart Data'!$E$2:$E$4</c:f>
              <c:numCache>
                <c:formatCode>General</c:formatCode>
                <c:ptCount val="3"/>
                <c:pt idx="0">
                  <c:v>0</c:v>
                </c:pt>
                <c:pt idx="1">
                  <c:v>80</c:v>
                </c:pt>
                <c:pt idx="2">
                  <c:v>200</c:v>
                </c:pt>
              </c:numCache>
            </c:numRef>
          </c:xVal>
          <c:yVal>
            <c:numRef>
              <c:f>'Chart Data'!$F$2:$F$4</c:f>
              <c:numCache>
                <c:formatCode>0</c:formatCode>
                <c:ptCount val="3"/>
                <c:pt idx="0">
                  <c:v>16</c:v>
                </c:pt>
                <c:pt idx="1">
                  <c:v>16</c:v>
                </c:pt>
                <c:pt idx="2">
                  <c:v>16</c:v>
                </c:pt>
              </c:numCache>
            </c:numRef>
          </c:yVal>
          <c:smooth val="0"/>
        </c:ser>
        <c:dLbls>
          <c:txPr>
            <a:bodyPr xmlns:a="http://schemas.openxmlformats.org/drawingml/2006/main" anchorCtr="1"/>
            <a:lstStyle xmlns:a="http://schemas.openxmlformats.org/drawingml/2006/main"/>
            <a:p xmlns:a="http://schemas.openxmlformats.org/drawingml/2006/main">
              <a:pPr>
                <a:defRPr sz="2025">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4"/>
          <c:min val="0"/>
        </c:scaling>
        <c:delete val="0"/>
        <c:axPos val="l"/>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50112"/>
        <c:majorUnit val="4"/>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(kg per week)</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72768"/>
        <c:majorUnit val="5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2.3 Winstmaximalisatie bij volkomen concurrentie">
            <a:extLst xmlns:a="http://schemas.openxmlformats.org/drawingml/2006/main">
              <a:ext uri="{FF2B5EF4-FFF2-40B4-BE49-F238E27FC236}">
                <a16:creationId xmlns:a16="http://schemas.microsoft.com/office/drawing/2014/main" id="{14DBC042-81D6-4452-BEAA-800E85861C51}"/>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Deze les: §3.2.3 Winstmaximalisatie bij volkomen concurrentie</a:t>
            </a:r>
          </a:p>
        </p:txBody>
      </p:sp>
      <p:sp>
        <p:nvSpPr>
          <p:cNvPr id="2" name="">
            <a:extLst xmlns:a="http://schemas.openxmlformats.org/drawingml/2006/main">
              <a:ext uri="{FF2B5EF4-FFF2-40B4-BE49-F238E27FC236}">
                <a16:creationId xmlns:a16="http://schemas.microsoft.com/office/drawing/2014/main" id="{0B5AA09B-9593-4B65-BD9F-D4A5D09DCE4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Winstmaximalisatie bij volkomen concurrentie">
            <a:extLst xmlns:a="http://schemas.openxmlformats.org/drawingml/2006/main">
              <a:ext uri="{FF2B5EF4-FFF2-40B4-BE49-F238E27FC236}">
                <a16:creationId xmlns:a16="http://schemas.microsoft.com/office/drawing/2014/main" id="{9AA5A1FC-3124-45E4-875B-45F543795D55}"/>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Winstmaximalisatie bij volkomen concurrentie</a:t>
            </a:r>
          </a:p>
        </p:txBody>
      </p:sp>
      <p:sp>
        <p:nvSpPr>
          <p:cNvPr id="4" name="1">
            <a:extLst xmlns:a="http://schemas.openxmlformats.org/drawingml/2006/main">
              <a:ext uri="{FF2B5EF4-FFF2-40B4-BE49-F238E27FC236}">
                <a16:creationId xmlns:a16="http://schemas.microsoft.com/office/drawing/2014/main" id="{373EE14D-9033-4B2A-9FCC-B2A4B66A9001}"/>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067DD045-EF3F-48E3-939D-9D25A3F8C71F}"/>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BA60F02D-BF77-47A6-B9DC-32B08AD71B71}"/>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13A628E-9FFC-4394-BD24-F06596F6E095}"/>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845879B7-4D36-413E-874D-9FDD41B5631D}"/>
              </a:ext>
            </a:extLst>
          </p:cNvPr>
          <p:cNvSpPr>
            <a:spLocks xmlns:a="http://schemas.openxmlformats.org/drawingml/2006/main" noGrp="1"/>
          </p:cNvSpPr>
          <p:nvPr/>
        </p:nvSpPr>
        <p:spPr>
          <a:xfrm xmlns:a="http://schemas.openxmlformats.org/drawingml/2006/main">
            <a:off x="1104900" y="2324100"/>
            <a:ext cx="75342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81F7081F-C4B4-4585-B541-C4023FD03C20}"/>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F2D07016-B33D-4EFD-B811-D61F493203B4}"/>
              </a:ext>
            </a:extLst>
          </p:cNvPr>
          <p:cNvSpPr>
            <a:spLocks xmlns:a="http://schemas.openxmlformats.org/drawingml/2006/main" noGrp="1"/>
          </p:cNvSpPr>
          <p:nvPr/>
        </p:nvSpPr>
        <p:spPr>
          <a:xfrm xmlns:a="http://schemas.openxmlformats.org/drawingml/2006/main">
            <a:off x="1104900" y="3200400"/>
            <a:ext cx="75342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8DBBC092-ECBA-419C-8DEB-9E75B5CAEC4B}"/>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5DAEE3AB-06A7-4C93-BA86-662AEE0CC583}"/>
              </a:ext>
            </a:extLst>
          </p:cNvPr>
          <p:cNvSpPr>
            <a:spLocks xmlns:a="http://schemas.openxmlformats.org/drawingml/2006/main" noGrp="1"/>
          </p:cNvSpPr>
          <p:nvPr/>
        </p:nvSpPr>
        <p:spPr>
          <a:xfrm xmlns:a="http://schemas.openxmlformats.org/drawingml/2006/main">
            <a:off x="1104900" y="3714750"/>
            <a:ext cx="75342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EB685413-ED24-4A83-BED1-3581B8D5C18B}"/>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DE271560-03F4-4AD9-B81B-1441FC3691C5}"/>
              </a:ext>
            </a:extLst>
          </p:cNvPr>
          <p:cNvSpPr>
            <a:spLocks xmlns:a="http://schemas.openxmlformats.org/drawingml/2006/main" noGrp="1"/>
          </p:cNvSpPr>
          <p:nvPr/>
        </p:nvSpPr>
        <p:spPr>
          <a:xfrm xmlns:a="http://schemas.openxmlformats.org/drawingml/2006/main">
            <a:off x="1104900" y="4248150"/>
            <a:ext cx="75342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9FDCEB98-1B4D-4E6B-A822-D8098329227B}"/>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BF95A0FE-FAF4-4311-AE6A-7B1FC0139595}"/>
              </a:ext>
            </a:extLst>
          </p:cNvPr>
          <p:cNvSpPr>
            <a:spLocks xmlns:a="http://schemas.openxmlformats.org/drawingml/2006/main" noGrp="1"/>
          </p:cNvSpPr>
          <p:nvPr/>
        </p:nvSpPr>
        <p:spPr>
          <a:xfrm xmlns:a="http://schemas.openxmlformats.org/drawingml/2006/main">
            <a:off x="1104900" y="6057900"/>
            <a:ext cx="75342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CB3B26AE-7FA4-4B49-85B8-F5119FCC6144}"/>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024C2FB1-4D3D-4AA0-91AC-F578A8D277E3}"/>
              </a:ext>
            </a:extLst>
          </p:cNvPr>
          <p:cNvSpPr>
            <a:spLocks xmlns:a="http://schemas.openxmlformats.org/drawingml/2006/main" noGrp="1"/>
          </p:cNvSpPr>
          <p:nvPr/>
        </p:nvSpPr>
        <p:spPr>
          <a:xfrm xmlns:a="http://schemas.openxmlformats.org/drawingml/2006/main">
            <a:off x="1104900" y="6819900"/>
            <a:ext cx="75342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27.</a:t>
            </a:r>
          </a:p>
        </p:txBody>
      </p:sp>
      <p:sp>
        <p:nvSpPr>
          <p:cNvPr id="19" name="route-number-7">
            <a:extLst xmlns:a="http://schemas.openxmlformats.org/drawingml/2006/main">
              <a:ext uri="{FF2B5EF4-FFF2-40B4-BE49-F238E27FC236}">
                <a16:creationId xmlns:a16="http://schemas.microsoft.com/office/drawing/2014/main" id="{ECBD813E-B79A-4BEA-BB29-14735E3EEF25}"/>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00268C69-95F3-488A-A269-8428E2B77EB4}"/>
              </a:ext>
            </a:extLst>
          </p:cNvPr>
          <p:cNvSpPr>
            <a:spLocks xmlns:a="http://schemas.openxmlformats.org/drawingml/2006/main" noGrp="1"/>
          </p:cNvSpPr>
          <p:nvPr/>
        </p:nvSpPr>
        <p:spPr>
          <a:xfrm xmlns:a="http://schemas.openxmlformats.org/drawingml/2006/main">
            <a:off x="1104900" y="7372350"/>
            <a:ext cx="75342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F47C1978-6D2F-4D81-87D4-CE5609B91874}"/>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4349A515-2EB0-48A4-AF20-7C9218C06929}"/>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Haalbare productie kiezen,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winst berekenen en de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winstrechthoek tekenen.</a:t>
            </a:r>
          </a:p>
        </p:txBody>
      </p:sp>
      <p:sp>
        <p:nvSpPr>
          <p:cNvPr id="23" name="">
            <a:extLst xmlns:a="http://schemas.openxmlformats.org/drawingml/2006/main">
              <a:ext uri="{FF2B5EF4-FFF2-40B4-BE49-F238E27FC236}">
                <a16:creationId xmlns:a16="http://schemas.microsoft.com/office/drawing/2014/main" id="{6967A535-BBE4-4268-87A0-F5175E83DA66}"/>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27092186-0223-4A9C-8A2C-A27C30A01F83}"/>
              </a:ext>
            </a:extLst>
          </p:cNvPr>
          <p:cNvSpPr>
            <a:spLocks xmlns:a="http://schemas.openxmlformats.org/drawingml/2006/main" noGrp="1"/>
          </p:cNvSpPr>
          <p:nvPr/>
        </p:nvSpPr>
        <p:spPr>
          <a:xfrm xmlns:a="http://schemas.openxmlformats.org/drawingml/2006/main">
            <a:off x="9258300" y="3810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DC157C55-3E73-4F65-BA83-065E0BB79A1B}"/>
              </a:ext>
            </a:extLst>
          </p:cNvPr>
          <p:cNvSpPr>
            <a:spLocks xmlns:a="http://schemas.openxmlformats.org/drawingml/2006/main" noGrp="1"/>
          </p:cNvSpPr>
          <p:nvPr/>
        </p:nvSpPr>
        <p:spPr>
          <a:xfrm xmlns:a="http://schemas.openxmlformats.org/drawingml/2006/main">
            <a:off x="9258300" y="4343400"/>
            <a:ext cx="5381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73 · Opgaven 20 en 21</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21: verkennen met theorie p. 70</a:t>
            </a:r>
          </a:p>
        </p:txBody>
      </p:sp>
      <p:sp>
        <p:nvSpPr>
          <p:cNvPr id="26" name="">
            <a:extLst xmlns:a="http://schemas.openxmlformats.org/drawingml/2006/main">
              <a:ext uri="{FF2B5EF4-FFF2-40B4-BE49-F238E27FC236}">
                <a16:creationId xmlns:a16="http://schemas.microsoft.com/office/drawing/2014/main" id="{83F48A88-A635-4B00-AD64-C1B8BE034F35}"/>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5F03510D-5571-4EA5-82A2-F296070753BA}"/>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A4FA621C-DE8C-4459-B5AB-63D3C0FE59A1}"/>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§3.2.3 Winstmaximalisatie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22, 23 en 24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25 en 26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27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62410196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Wat kun je na deze les?">
            <a:extLst xmlns:a="http://schemas.openxmlformats.org/drawingml/2006/main">
              <a:ext uri="{FF2B5EF4-FFF2-40B4-BE49-F238E27FC236}">
                <a16:creationId xmlns:a16="http://schemas.microsoft.com/office/drawing/2014/main" id="{649A290C-33DC-4F90-9401-ABB3FEF63369}"/>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A2A4144D-F8EA-4ECB-B2FC-D955F09340B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Winstmaximalisatie bij volkomen concurrentie">
            <a:extLst xmlns:a="http://schemas.openxmlformats.org/drawingml/2006/main">
              <a:ext uri="{FF2B5EF4-FFF2-40B4-BE49-F238E27FC236}">
                <a16:creationId xmlns:a16="http://schemas.microsoft.com/office/drawing/2014/main" id="{EF31AE18-316C-4C0C-8083-429C974EAE46}"/>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Winstmaximalisatie bij volkomen concurrentie</a:t>
            </a:r>
          </a:p>
        </p:txBody>
      </p:sp>
      <p:sp>
        <p:nvSpPr>
          <p:cNvPr id="4" name="2">
            <a:extLst xmlns:a="http://schemas.openxmlformats.org/drawingml/2006/main">
              <a:ext uri="{FF2B5EF4-FFF2-40B4-BE49-F238E27FC236}">
                <a16:creationId xmlns:a16="http://schemas.microsoft.com/office/drawing/2014/main" id="{4CF20935-62CB-464F-B53D-5AD529292DFB}"/>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Productie kiezen">
            <a:extLst xmlns:a="http://schemas.openxmlformats.org/drawingml/2006/main">
              <a:ext uri="{FF2B5EF4-FFF2-40B4-BE49-F238E27FC236}">
                <a16:creationId xmlns:a16="http://schemas.microsoft.com/office/drawing/2014/main" id="{C49482AD-1D7F-4E3C-A6A2-4A628E4B4286}"/>
              </a:ext>
            </a:extLst>
          </p:cNvPr>
          <p:cNvSpPr>
            <a:spLocks xmlns:a="http://schemas.openxmlformats.org/drawingml/2006/main" noGrp="1"/>
          </p:cNvSpPr>
          <p:nvPr/>
        </p:nvSpPr>
        <p:spPr>
          <a:xfrm xmlns:a="http://schemas.openxmlformats.org/drawingml/2006/main">
            <a:off x="571500" y="1990725"/>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Productie kiezen</a:t>
            </a:r>
          </a:p>
        </p:txBody>
      </p:sp>
      <p:sp>
        <p:nvSpPr>
          <p:cNvPr id="6" name="Je vergelijkt MO en MK, links én rechts van de kandidaat.">
            <a:extLst xmlns:a="http://schemas.openxmlformats.org/drawingml/2006/main">
              <a:ext uri="{FF2B5EF4-FFF2-40B4-BE49-F238E27FC236}">
                <a16:creationId xmlns:a16="http://schemas.microsoft.com/office/drawing/2014/main" id="{18E1CE0B-836C-4AC1-988C-B3C4FF30CE62}"/>
              </a:ext>
            </a:extLst>
          </p:cNvPr>
          <p:cNvSpPr>
            <a:spLocks xmlns:a="http://schemas.openxmlformats.org/drawingml/2006/main" noGrp="1"/>
          </p:cNvSpPr>
          <p:nvPr/>
        </p:nvSpPr>
        <p:spPr>
          <a:xfrm xmlns:a="http://schemas.openxmlformats.org/drawingml/2006/main">
            <a:off x="6572250" y="1990725"/>
            <a:ext cx="8096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vergelijkt MO en MK, links én rechts van de kandidaat.</a:t>
            </a:r>
          </a:p>
        </p:txBody>
      </p:sp>
      <p:sp>
        <p:nvSpPr>
          <p:cNvPr id="7" name="">
            <a:extLst xmlns:a="http://schemas.openxmlformats.org/drawingml/2006/main">
              <a:ext uri="{FF2B5EF4-FFF2-40B4-BE49-F238E27FC236}">
                <a16:creationId xmlns:a16="http://schemas.microsoft.com/office/drawing/2014/main" id="{1A6F62FC-8295-4448-8C3D-DB21C6F20E4F}"/>
              </a:ext>
            </a:extLst>
          </p:cNvPr>
          <p:cNvSpPr>
            <a:spLocks xmlns:a="http://schemas.openxmlformats.org/drawingml/2006/main" noGrp="1"/>
          </p:cNvSpPr>
          <p:nvPr/>
        </p:nvSpPr>
        <p:spPr>
          <a:xfrm xmlns:a="http://schemas.openxmlformats.org/drawingml/2006/main">
            <a:off x="571500" y="3162300"/>
            <a:ext cx="14097000" cy="0"/>
          </a:xfrm>
          <a:prstGeom xmlns:a="http://schemas.openxmlformats.org/drawingml/2006/main" prst="line">
            <a:avLst/>
          </a:prstGeom>
          <a:ln xmlns:a="http://schemas.openxmlformats.org/drawingml/2006/main" w="19050">
            <a:solidFill>
              <a:srgbClr val="C6D2DB"/>
            </a:solidFill>
          </a:ln>
        </p:spPr>
      </p:sp>
      <p:sp>
        <p:nvSpPr>
          <p:cNvPr id="8" name="Haalbaarheid controleren">
            <a:extLst xmlns:a="http://schemas.openxmlformats.org/drawingml/2006/main">
              <a:ext uri="{FF2B5EF4-FFF2-40B4-BE49-F238E27FC236}">
                <a16:creationId xmlns:a16="http://schemas.microsoft.com/office/drawing/2014/main" id="{57E2D19C-C05D-4327-8F28-6347E688B16D}"/>
              </a:ext>
            </a:extLst>
          </p:cNvPr>
          <p:cNvSpPr>
            <a:spLocks xmlns:a="http://schemas.openxmlformats.org/drawingml/2006/main" noGrp="1"/>
          </p:cNvSpPr>
          <p:nvPr/>
        </p:nvSpPr>
        <p:spPr>
          <a:xfrm xmlns:a="http://schemas.openxmlformats.org/drawingml/2006/main">
            <a:off x="571500" y="3409950"/>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Haalbaarheid controleren</a:t>
            </a:r>
          </a:p>
        </p:txBody>
      </p:sp>
      <p:sp>
        <p:nvSpPr>
          <p:cNvPr id="9" name="Je controleert capaciteit en de relevante grens q = 0.">
            <a:extLst xmlns:a="http://schemas.openxmlformats.org/drawingml/2006/main">
              <a:ext uri="{FF2B5EF4-FFF2-40B4-BE49-F238E27FC236}">
                <a16:creationId xmlns:a16="http://schemas.microsoft.com/office/drawing/2014/main" id="{0540FA4A-7442-4D30-9EDE-6229CBF83ABB}"/>
              </a:ext>
            </a:extLst>
          </p:cNvPr>
          <p:cNvSpPr>
            <a:spLocks xmlns:a="http://schemas.openxmlformats.org/drawingml/2006/main" noGrp="1"/>
          </p:cNvSpPr>
          <p:nvPr/>
        </p:nvSpPr>
        <p:spPr>
          <a:xfrm xmlns:a="http://schemas.openxmlformats.org/drawingml/2006/main">
            <a:off x="6572250" y="3409950"/>
            <a:ext cx="8096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controleert capaciteit en de relevante grens q = 0.</a:t>
            </a:r>
          </a:p>
        </p:txBody>
      </p:sp>
      <p:sp>
        <p:nvSpPr>
          <p:cNvPr id="10" name="">
            <a:extLst xmlns:a="http://schemas.openxmlformats.org/drawingml/2006/main">
              <a:ext uri="{FF2B5EF4-FFF2-40B4-BE49-F238E27FC236}">
                <a16:creationId xmlns:a16="http://schemas.microsoft.com/office/drawing/2014/main" id="{8FD3938A-622F-46C8-AE9C-1F002A802FCE}"/>
              </a:ext>
            </a:extLst>
          </p:cNvPr>
          <p:cNvSpPr>
            <a:spLocks xmlns:a="http://schemas.openxmlformats.org/drawingml/2006/main" noGrp="1"/>
          </p:cNvSpPr>
          <p:nvPr/>
        </p:nvSpPr>
        <p:spPr>
          <a:xfrm xmlns:a="http://schemas.openxmlformats.org/drawingml/2006/main">
            <a:off x="571500" y="4581525"/>
            <a:ext cx="14097000" cy="0"/>
          </a:xfrm>
          <a:prstGeom xmlns:a="http://schemas.openxmlformats.org/drawingml/2006/main" prst="line">
            <a:avLst/>
          </a:prstGeom>
          <a:ln xmlns:a="http://schemas.openxmlformats.org/drawingml/2006/main" w="19050">
            <a:solidFill>
              <a:srgbClr val="C6D2DB"/>
            </a:solidFill>
          </a:ln>
        </p:spPr>
      </p:sp>
      <p:sp>
        <p:nvSpPr>
          <p:cNvPr id="11" name="Winst berekenen">
            <a:extLst xmlns:a="http://schemas.openxmlformats.org/drawingml/2006/main">
              <a:ext uri="{FF2B5EF4-FFF2-40B4-BE49-F238E27FC236}">
                <a16:creationId xmlns:a16="http://schemas.microsoft.com/office/drawing/2014/main" id="{75E20C30-1A2C-4E45-9952-EB9515F601CD}"/>
              </a:ext>
            </a:extLst>
          </p:cNvPr>
          <p:cNvSpPr>
            <a:spLocks xmlns:a="http://schemas.openxmlformats.org/drawingml/2006/main" noGrp="1"/>
          </p:cNvSpPr>
          <p:nvPr/>
        </p:nvSpPr>
        <p:spPr>
          <a:xfrm xmlns:a="http://schemas.openxmlformats.org/drawingml/2006/main">
            <a:off x="571500" y="4829175"/>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Winst berekenen</a:t>
            </a:r>
          </a:p>
        </p:txBody>
      </p:sp>
      <p:sp>
        <p:nvSpPr>
          <p:cNvPr id="12" name="Je berekent TO, TK en GTK bij dezelfde gekozen q.">
            <a:extLst xmlns:a="http://schemas.openxmlformats.org/drawingml/2006/main">
              <a:ext uri="{FF2B5EF4-FFF2-40B4-BE49-F238E27FC236}">
                <a16:creationId xmlns:a16="http://schemas.microsoft.com/office/drawing/2014/main" id="{DADB132D-FD2C-4397-92FD-8B890ED7ACE1}"/>
              </a:ext>
            </a:extLst>
          </p:cNvPr>
          <p:cNvSpPr>
            <a:spLocks xmlns:a="http://schemas.openxmlformats.org/drawingml/2006/main" noGrp="1"/>
          </p:cNvSpPr>
          <p:nvPr/>
        </p:nvSpPr>
        <p:spPr>
          <a:xfrm xmlns:a="http://schemas.openxmlformats.org/drawingml/2006/main">
            <a:off x="6572250" y="4829175"/>
            <a:ext cx="8096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berekent TO, TK en GTK bij dezelfde gekozen q.</a:t>
            </a:r>
          </a:p>
        </p:txBody>
      </p:sp>
      <p:sp>
        <p:nvSpPr>
          <p:cNvPr id="13" name="">
            <a:extLst xmlns:a="http://schemas.openxmlformats.org/drawingml/2006/main">
              <a:ext uri="{FF2B5EF4-FFF2-40B4-BE49-F238E27FC236}">
                <a16:creationId xmlns:a16="http://schemas.microsoft.com/office/drawing/2014/main" id="{5A3B8D66-EEC5-4E3A-98D3-463E4542F659}"/>
              </a:ext>
            </a:extLst>
          </p:cNvPr>
          <p:cNvSpPr>
            <a:spLocks xmlns:a="http://schemas.openxmlformats.org/drawingml/2006/main" noGrp="1"/>
          </p:cNvSpPr>
          <p:nvPr/>
        </p:nvSpPr>
        <p:spPr>
          <a:xfrm xmlns:a="http://schemas.openxmlformats.org/drawingml/2006/main">
            <a:off x="571500" y="6000750"/>
            <a:ext cx="14097000" cy="0"/>
          </a:xfrm>
          <a:prstGeom xmlns:a="http://schemas.openxmlformats.org/drawingml/2006/main" prst="line">
            <a:avLst/>
          </a:prstGeom>
          <a:ln xmlns:a="http://schemas.openxmlformats.org/drawingml/2006/main" w="19050">
            <a:solidFill>
              <a:srgbClr val="C6D2DB"/>
            </a:solidFill>
          </a:ln>
        </p:spPr>
      </p:sp>
      <p:sp>
        <p:nvSpPr>
          <p:cNvPr id="14" name="Winst tekenen">
            <a:extLst xmlns:a="http://schemas.openxmlformats.org/drawingml/2006/main">
              <a:ext uri="{FF2B5EF4-FFF2-40B4-BE49-F238E27FC236}">
                <a16:creationId xmlns:a16="http://schemas.microsoft.com/office/drawing/2014/main" id="{2FF0EFC0-D207-457A-9D8D-702E8942424F}"/>
              </a:ext>
            </a:extLst>
          </p:cNvPr>
          <p:cNvSpPr>
            <a:spLocks xmlns:a="http://schemas.openxmlformats.org/drawingml/2006/main" noGrp="1"/>
          </p:cNvSpPr>
          <p:nvPr/>
        </p:nvSpPr>
        <p:spPr>
          <a:xfrm xmlns:a="http://schemas.openxmlformats.org/drawingml/2006/main">
            <a:off x="571500" y="6248400"/>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Winst tekenen</a:t>
            </a:r>
          </a:p>
        </p:txBody>
      </p:sp>
      <p:sp>
        <p:nvSpPr>
          <p:cNvPr id="15" name="Je geeft breedte, hoogte en eenheid van de rechthoek.">
            <a:extLst xmlns:a="http://schemas.openxmlformats.org/drawingml/2006/main">
              <a:ext uri="{FF2B5EF4-FFF2-40B4-BE49-F238E27FC236}">
                <a16:creationId xmlns:a16="http://schemas.microsoft.com/office/drawing/2014/main" id="{C790A97A-C27A-425F-BF19-75CCB592C0A3}"/>
              </a:ext>
            </a:extLst>
          </p:cNvPr>
          <p:cNvSpPr>
            <a:spLocks xmlns:a="http://schemas.openxmlformats.org/drawingml/2006/main" noGrp="1"/>
          </p:cNvSpPr>
          <p:nvPr/>
        </p:nvSpPr>
        <p:spPr>
          <a:xfrm xmlns:a="http://schemas.openxmlformats.org/drawingml/2006/main">
            <a:off x="6572250" y="6248400"/>
            <a:ext cx="8096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geeft breedte, hoogte en eenheid van de rechthoek.</a:t>
            </a:r>
          </a:p>
        </p:txBody>
      </p:sp>
    </p:spTree>
    <p:extLst>
      <p:ext uri="{BB962C8B-B14F-4D97-AF65-F5344CB8AC3E}">
        <p14:creationId xmlns:p14="http://schemas.microsoft.com/office/powerpoint/2010/main" val="114372809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Havervlokken: productie voor één week">
            <a:extLst xmlns:a="http://schemas.openxmlformats.org/drawingml/2006/main">
              <a:ext uri="{FF2B5EF4-FFF2-40B4-BE49-F238E27FC236}">
                <a16:creationId xmlns:a16="http://schemas.microsoft.com/office/drawing/2014/main" id="{FB1DA8E5-5F85-485B-9A0A-9ACD6CB1F2D1}"/>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Havervlokken: productie voor één week</a:t>
            </a:r>
          </a:p>
        </p:txBody>
      </p:sp>
      <p:sp>
        <p:nvSpPr>
          <p:cNvPr id="2" name="">
            <a:extLst xmlns:a="http://schemas.openxmlformats.org/drawingml/2006/main">
              <a:ext uri="{FF2B5EF4-FFF2-40B4-BE49-F238E27FC236}">
                <a16:creationId xmlns:a16="http://schemas.microsoft.com/office/drawing/2014/main" id="{8403A088-F670-491A-9BD8-B9C2641D761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Winstmaximalisatie bij volkomen concurrentie">
            <a:extLst xmlns:a="http://schemas.openxmlformats.org/drawingml/2006/main">
              <a:ext uri="{FF2B5EF4-FFF2-40B4-BE49-F238E27FC236}">
                <a16:creationId xmlns:a16="http://schemas.microsoft.com/office/drawing/2014/main" id="{73C9ACB5-EC8E-4598-A76F-B9C2D7D2980B}"/>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Winstmaximalisatie bij volkomen concurrentie</a:t>
            </a:r>
          </a:p>
        </p:txBody>
      </p:sp>
      <p:sp>
        <p:nvSpPr>
          <p:cNvPr id="4" name="3">
            <a:extLst xmlns:a="http://schemas.openxmlformats.org/drawingml/2006/main">
              <a:ext uri="{FF2B5EF4-FFF2-40B4-BE49-F238E27FC236}">
                <a16:creationId xmlns:a16="http://schemas.microsoft.com/office/drawing/2014/main" id="{4260B900-1844-46CC-ACB5-ED32D64D6A24}"/>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Uitlegvoorbeeld — niet uit het boek">
            <a:extLst xmlns:a="http://schemas.openxmlformats.org/drawingml/2006/main">
              <a:ext uri="{FF2B5EF4-FFF2-40B4-BE49-F238E27FC236}">
                <a16:creationId xmlns:a16="http://schemas.microsoft.com/office/drawing/2014/main" id="{B39280A1-C5C1-461B-A88F-5E5E33672A7F}"/>
              </a:ext>
            </a:extLst>
          </p:cNvPr>
          <p:cNvSpPr>
            <a:spLocks xmlns:a="http://schemas.openxmlformats.org/drawingml/2006/main" noGrp="1"/>
          </p:cNvSpPr>
          <p:nvPr/>
        </p:nvSpPr>
        <p:spPr>
          <a:xfrm xmlns:a="http://schemas.openxmlformats.org/drawingml/2006/main">
            <a:off x="571500" y="17240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P = € 8 per kg     TK = 0,04q² + 2q + 100">
            <a:extLst xmlns:a="http://schemas.openxmlformats.org/drawingml/2006/main">
              <a:ext uri="{FF2B5EF4-FFF2-40B4-BE49-F238E27FC236}">
                <a16:creationId xmlns:a16="http://schemas.microsoft.com/office/drawing/2014/main" id="{FC8A68D5-9069-475C-A9BF-D4F233173DDF}"/>
              </a:ext>
            </a:extLst>
          </p:cNvPr>
          <p:cNvSpPr>
            <a:spLocks xmlns:a="http://schemas.openxmlformats.org/drawingml/2006/main" noGrp="1"/>
          </p:cNvSpPr>
          <p:nvPr/>
        </p:nvSpPr>
        <p:spPr>
          <a:xfrm xmlns:a="http://schemas.openxmlformats.org/drawingml/2006/main">
            <a:off x="571500" y="2638425"/>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P = € 8 per kg     TK = 0,04q² + 2q + 100</a:t>
            </a:r>
          </a:p>
        </p:txBody>
      </p:sp>
      <p:graphicFrame>
        <p:nvGraphicFramePr>
          <p:cNvPr id="14" name=""/>
          <p:cNvGraphicFramePr/>
          <p:nvPr/>
        </p:nvGraphicFramePr>
        <p:xfrm>
          <a:off xmlns:a="http://schemas.openxmlformats.org/drawingml/2006/main" x="571500" y="3857625"/>
          <a:ext xmlns:a="http://schemas.openxmlformats.org/drawingml/2006/main" cx="14097000" cy="3314700"/>
        </p:xfrm>
        <a:graphic xmlns:a="http://schemas.openxmlformats.org/drawingml/2006/main">
          <a:graphicData uri="http://schemas.openxmlformats.org/drawingml/2006/table">
            <a:tbl>
              <a:tblPr/>
              <a:tblGrid>
                <a:gridCol w="4238625"/>
                <a:gridCol w="9858375"/>
              </a:tblGrid>
              <a:tr h="662940">
                <a:tc>
                  <a:txBody>
                    <a:bodyPr lIns="171450" tIns="95250" rIns="133350" bIns="95250"/>
                    <a:lstStyle/>
                    <a:p>
                      <a:r>
                        <a:rPr sz="2475" b="1">
                          <a:solidFill>
                            <a:srgbClr val="FFFFFF"/>
                          </a:solidFill>
                          <a:latin typeface="Arial"/>
                          <a:ea typeface="Arial"/>
                          <a:cs typeface="Arial"/>
                        </a:rPr>
                        <a:t>Gegeven</a:t>
                      </a:r>
                    </a:p>
                  </a:txBody>
                  <a:tcPr marL="91440" marR="91440" marT="45720" marB="45720" anchor="ctr">
                    <a:solidFill>
                      <a:srgbClr val="183247"/>
                    </a:solidFill>
                  </a:tcPr>
                </a:tc>
                <a:tc>
                  <a:txBody>
                    <a:bodyPr lIns="171450" tIns="95250" rIns="133350" bIns="95250"/>
                    <a:lstStyle/>
                    <a:p>
                      <a:r>
                        <a:rPr sz="2475" b="1">
                          <a:solidFill>
                            <a:srgbClr val="FFFFFF"/>
                          </a:solidFill>
                          <a:latin typeface="Arial"/>
                          <a:ea typeface="Arial"/>
                          <a:cs typeface="Arial"/>
                        </a:rPr>
                        <a:t>Betekenis</a:t>
                      </a:r>
                    </a:p>
                  </a:txBody>
                  <a:tcPr marL="91440" marR="91440" marT="45720" marB="45720" anchor="ctr">
                    <a:solidFill>
                      <a:srgbClr val="183247"/>
                    </a:solidFill>
                  </a:tcPr>
                </a:tc>
              </a:tr>
              <a:tr h="662940">
                <a:tc>
                  <a:txBody>
                    <a:bodyPr lIns="171450" tIns="95250" rIns="133350" bIns="95250"/>
                    <a:lstStyle/>
                    <a:p>
                      <a:r>
                        <a:rPr sz="2475" b="0">
                          <a:solidFill>
                            <a:srgbClr val="183247"/>
                          </a:solidFill>
                          <a:latin typeface="Arial"/>
                          <a:ea typeface="Arial"/>
                          <a:cs typeface="Arial"/>
                        </a:rPr>
                        <a:t>Prijsnemer</a:t>
                      </a:r>
                    </a:p>
                  </a:txBody>
                  <a:tcPr marL="91440" marR="91440" marT="45720" marB="45720" anchor="ctr">
                    <a:solidFill>
                      <a:srgbClr val="FFFFFF"/>
                    </a:solidFill>
                  </a:tcPr>
                </a:tc>
                <a:tc>
                  <a:txBody>
                    <a:bodyPr lIns="171450" tIns="95250" rIns="133350" bIns="95250"/>
                    <a:lstStyle/>
                    <a:p>
                      <a:r>
                        <a:rPr sz="2475" b="0">
                          <a:solidFill>
                            <a:srgbClr val="183247"/>
                          </a:solidFill>
                          <a:latin typeface="Arial"/>
                          <a:ea typeface="Arial"/>
                          <a:cs typeface="Arial"/>
                        </a:rPr>
                        <a:t>Alle productie wordt verkocht tegen P = € 8.</a:t>
                      </a:r>
                    </a:p>
                  </a:txBody>
                  <a:tcPr marL="91440" marR="91440" marT="45720" marB="45720" anchor="ctr">
                    <a:solidFill>
                      <a:srgbClr val="FFFFFF"/>
                    </a:solidFill>
                  </a:tcPr>
                </a:tc>
              </a:tr>
              <a:tr h="662940">
                <a:tc>
                  <a:txBody>
                    <a:bodyPr lIns="171450" tIns="95250" rIns="133350" bIns="95250"/>
                    <a:lstStyle/>
                    <a:p>
                      <a:r>
                        <a:rPr sz="2475" b="0">
                          <a:solidFill>
                            <a:srgbClr val="183247"/>
                          </a:solidFill>
                          <a:latin typeface="Arial"/>
                          <a:ea typeface="Arial"/>
                          <a:cs typeface="Arial"/>
                        </a:rPr>
                        <a:t>q en capaciteit</a:t>
                      </a:r>
                    </a:p>
                  </a:txBody>
                  <a:tcPr marL="91440" marR="91440" marT="45720" marB="45720" anchor="ctr">
                    <a:solidFill>
                      <a:srgbClr val="EFF4F7"/>
                    </a:solidFill>
                  </a:tcPr>
                </a:tc>
                <a:tc>
                  <a:txBody>
                    <a:bodyPr lIns="171450" tIns="95250" rIns="133350" bIns="95250"/>
                    <a:lstStyle/>
                    <a:p>
                      <a:r>
                        <a:rPr sz="2475" b="0">
                          <a:solidFill>
                            <a:srgbClr val="183247"/>
                          </a:solidFill>
                          <a:latin typeface="Arial"/>
                          <a:ea typeface="Arial"/>
                          <a:cs typeface="Arial"/>
                        </a:rPr>
                        <a:t>Deelbare kg per week; maximaal 100 kg.</a:t>
                      </a:r>
                    </a:p>
                  </a:txBody>
                  <a:tcPr marL="91440" marR="91440" marT="45720" marB="45720" anchor="ctr">
                    <a:solidFill>
                      <a:srgbClr val="EFF4F7"/>
                    </a:solidFill>
                  </a:tcPr>
                </a:tc>
              </a:tr>
              <a:tr h="662940">
                <a:tc>
                  <a:txBody>
                    <a:bodyPr lIns="171450" tIns="95250" rIns="133350" bIns="95250"/>
                    <a:lstStyle/>
                    <a:p>
                      <a:r>
                        <a:rPr sz="2475" b="0">
                          <a:solidFill>
                            <a:srgbClr val="183247"/>
                          </a:solidFill>
                          <a:latin typeface="Arial"/>
                          <a:ea typeface="Arial"/>
                          <a:cs typeface="Arial"/>
                        </a:rPr>
                        <a:t>TK</a:t>
                      </a:r>
                    </a:p>
                  </a:txBody>
                  <a:tcPr marL="91440" marR="91440" marT="45720" marB="45720" anchor="ctr">
                    <a:solidFill>
                      <a:srgbClr val="FFFFFF"/>
                    </a:solidFill>
                  </a:tcPr>
                </a:tc>
                <a:tc>
                  <a:txBody>
                    <a:bodyPr lIns="171450" tIns="95250" rIns="133350" bIns="95250"/>
                    <a:lstStyle/>
                    <a:p>
                      <a:r>
                        <a:rPr sz="2475" b="0">
                          <a:solidFill>
                            <a:srgbClr val="183247"/>
                          </a:solidFill>
                          <a:latin typeface="Arial"/>
                          <a:ea typeface="Arial"/>
                          <a:cs typeface="Arial"/>
                        </a:rPr>
                        <a:t>Euro per week.</a:t>
                      </a:r>
                    </a:p>
                  </a:txBody>
                  <a:tcPr marL="91440" marR="91440" marT="45720" marB="45720" anchor="ctr">
                    <a:solidFill>
                      <a:srgbClr val="FFFFFF"/>
                    </a:solidFill>
                  </a:tcPr>
                </a:tc>
              </a:tr>
              <a:tr h="662940">
                <a:tc>
                  <a:txBody>
                    <a:bodyPr lIns="171450" tIns="95250" rIns="133350" bIns="95250"/>
                    <a:lstStyle/>
                    <a:p>
                      <a:r>
                        <a:rPr sz="2475" b="0">
                          <a:solidFill>
                            <a:srgbClr val="183247"/>
                          </a:solidFill>
                          <a:latin typeface="Arial"/>
                          <a:ea typeface="Arial"/>
                          <a:cs typeface="Arial"/>
                        </a:rPr>
                        <a:t>Constante kosten</a:t>
                      </a:r>
                    </a:p>
                  </a:txBody>
                  <a:tcPr marL="91440" marR="91440" marT="45720" marB="45720" anchor="ctr">
                    <a:solidFill>
                      <a:srgbClr val="EFF4F7"/>
                    </a:solidFill>
                  </a:tcPr>
                </a:tc>
                <a:tc>
                  <a:txBody>
                    <a:bodyPr lIns="171450" tIns="95250" rIns="133350" bIns="95250"/>
                    <a:lstStyle/>
                    <a:p>
                      <a:r>
                        <a:rPr sz="2475" b="0">
                          <a:solidFill>
                            <a:srgbClr val="183247"/>
                          </a:solidFill>
                          <a:latin typeface="Arial"/>
                          <a:ea typeface="Arial"/>
                          <a:cs typeface="Arial"/>
                        </a:rPr>
                        <a:t>€ 100 is deze week ook bij q = 0 onvermijdbaar.</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13109808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afgeleide kort terughalen">
            <a:extLst xmlns:a="http://schemas.openxmlformats.org/drawingml/2006/main">
              <a:ext uri="{FF2B5EF4-FFF2-40B4-BE49-F238E27FC236}">
                <a16:creationId xmlns:a16="http://schemas.microsoft.com/office/drawing/2014/main" id="{987B4BE2-BC9C-4F77-99F9-90FEFB9C2303}"/>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De afgeleide kort terughalen</a:t>
            </a:r>
          </a:p>
        </p:txBody>
      </p:sp>
      <p:sp>
        <p:nvSpPr>
          <p:cNvPr id="2" name="">
            <a:extLst xmlns:a="http://schemas.openxmlformats.org/drawingml/2006/main">
              <a:ext uri="{FF2B5EF4-FFF2-40B4-BE49-F238E27FC236}">
                <a16:creationId xmlns:a16="http://schemas.microsoft.com/office/drawing/2014/main" id="{2313C538-F882-4683-BC6C-CFFFABEC2B7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Winstmaximalisatie bij volkomen concurrentie">
            <a:extLst xmlns:a="http://schemas.openxmlformats.org/drawingml/2006/main">
              <a:ext uri="{FF2B5EF4-FFF2-40B4-BE49-F238E27FC236}">
                <a16:creationId xmlns:a16="http://schemas.microsoft.com/office/drawing/2014/main" id="{1F3FF666-A1D1-4412-9EDA-36A9E744E3BE}"/>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Winstmaximalisatie bij volkomen concurrentie</a:t>
            </a:r>
          </a:p>
        </p:txBody>
      </p:sp>
      <p:sp>
        <p:nvSpPr>
          <p:cNvPr id="4" name="4">
            <a:extLst xmlns:a="http://schemas.openxmlformats.org/drawingml/2006/main">
              <a:ext uri="{FF2B5EF4-FFF2-40B4-BE49-F238E27FC236}">
                <a16:creationId xmlns:a16="http://schemas.microsoft.com/office/drawing/2014/main" id="{528DB9DA-8C09-4A8E-A598-365EB2433315}"/>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E249DDEE-5E3B-4BD3-B7EB-8FD87A85D1C5}"/>
              </a:ext>
            </a:extLst>
          </p:cNvPr>
          <p:cNvSpPr>
            <a:spLocks xmlns:a="http://schemas.openxmlformats.org/drawingml/2006/main" noGrp="1"/>
          </p:cNvSpPr>
          <p:nvPr/>
        </p:nvSpPr>
        <p:spPr>
          <a:xfrm xmlns:a="http://schemas.openxmlformats.org/drawingml/2006/main">
            <a:off x="571500" y="17240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TK = 0,04q² + 2q + 100">
            <a:extLst xmlns:a="http://schemas.openxmlformats.org/drawingml/2006/main">
              <a:ext uri="{FF2B5EF4-FFF2-40B4-BE49-F238E27FC236}">
                <a16:creationId xmlns:a16="http://schemas.microsoft.com/office/drawing/2014/main" id="{42D447EF-3DDB-4348-B136-786AC2B6AC3C}"/>
              </a:ext>
            </a:extLst>
          </p:cNvPr>
          <p:cNvSpPr>
            <a:spLocks xmlns:a="http://schemas.openxmlformats.org/drawingml/2006/main" noGrp="1"/>
          </p:cNvSpPr>
          <p:nvPr/>
        </p:nvSpPr>
        <p:spPr>
          <a:xfrm xmlns:a="http://schemas.openxmlformats.org/drawingml/2006/main">
            <a:off x="571500" y="26765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TK = 0,04q² + 2q + 100</a:t>
            </a:r>
          </a:p>
        </p:txBody>
      </p:sp>
      <p:sp>
        <p:nvSpPr>
          <p:cNvPr id="7" name="MK = 0,08q + 2     (€ per kg)">
            <a:extLst xmlns:a="http://schemas.openxmlformats.org/drawingml/2006/main">
              <a:ext uri="{FF2B5EF4-FFF2-40B4-BE49-F238E27FC236}">
                <a16:creationId xmlns:a16="http://schemas.microsoft.com/office/drawing/2014/main" id="{B7DA2DE5-6D09-43C4-9A20-55237926122E}"/>
              </a:ext>
            </a:extLst>
          </p:cNvPr>
          <p:cNvSpPr>
            <a:spLocks xmlns:a="http://schemas.openxmlformats.org/drawingml/2006/main" noGrp="1"/>
          </p:cNvSpPr>
          <p:nvPr/>
        </p:nvSpPr>
        <p:spPr>
          <a:xfrm xmlns:a="http://schemas.openxmlformats.org/drawingml/2006/main">
            <a:off x="571500" y="40100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MK = 0,08q + 2     (€ per kg)</a:t>
            </a:r>
          </a:p>
        </p:txBody>
      </p:sp>
      <p:sp>
        <p:nvSpPr>
          <p:cNvPr id="8" name="De constante € 100 verdwijnt uit MK, maar blijft in TK.">
            <a:extLst xmlns:a="http://schemas.openxmlformats.org/drawingml/2006/main">
              <a:ext uri="{FF2B5EF4-FFF2-40B4-BE49-F238E27FC236}">
                <a16:creationId xmlns:a16="http://schemas.microsoft.com/office/drawing/2014/main" id="{73A5FC2B-2218-48C3-9F3A-28CF689607DE}"/>
              </a:ext>
            </a:extLst>
          </p:cNvPr>
          <p:cNvSpPr>
            <a:spLocks xmlns:a="http://schemas.openxmlformats.org/drawingml/2006/main" noGrp="1"/>
          </p:cNvSpPr>
          <p:nvPr/>
        </p:nvSpPr>
        <p:spPr>
          <a:xfrm xmlns:a="http://schemas.openxmlformats.org/drawingml/2006/main">
            <a:off x="571500" y="53435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De constante € 100 verdwijnt uit MK, maar blijft in TK.</a:t>
            </a:r>
          </a:p>
        </p:txBody>
      </p:sp>
    </p:spTree>
    <p:extLst>
      <p:ext uri="{BB962C8B-B14F-4D97-AF65-F5344CB8AC3E}">
        <p14:creationId xmlns:p14="http://schemas.microsoft.com/office/powerpoint/2010/main" val="78801056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Meer productie: wat doet dat met de winst?">
            <a:extLst xmlns:a="http://schemas.openxmlformats.org/drawingml/2006/main">
              <a:ext uri="{FF2B5EF4-FFF2-40B4-BE49-F238E27FC236}">
                <a16:creationId xmlns:a16="http://schemas.microsoft.com/office/drawing/2014/main" id="{AB027245-D9CD-4859-AC74-90159DDFB1B4}"/>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Meer productie: wat doet dat met de winst?</a:t>
            </a:r>
          </a:p>
        </p:txBody>
      </p:sp>
      <p:sp>
        <p:nvSpPr>
          <p:cNvPr id="2" name="">
            <a:extLst xmlns:a="http://schemas.openxmlformats.org/drawingml/2006/main">
              <a:ext uri="{FF2B5EF4-FFF2-40B4-BE49-F238E27FC236}">
                <a16:creationId xmlns:a16="http://schemas.microsoft.com/office/drawing/2014/main" id="{6A1CD587-F51D-4F34-A746-F4BEB3A33B0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Winstmaximalisatie bij volkomen concurrentie">
            <a:extLst xmlns:a="http://schemas.openxmlformats.org/drawingml/2006/main">
              <a:ext uri="{FF2B5EF4-FFF2-40B4-BE49-F238E27FC236}">
                <a16:creationId xmlns:a16="http://schemas.microsoft.com/office/drawing/2014/main" id="{CF9EF636-167E-470D-A778-0AB75B21BD49}"/>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Winstmaximalisatie bij volkomen concurrentie</a:t>
            </a:r>
          </a:p>
        </p:txBody>
      </p:sp>
      <p:sp>
        <p:nvSpPr>
          <p:cNvPr id="4" name="5">
            <a:extLst xmlns:a="http://schemas.openxmlformats.org/drawingml/2006/main">
              <a:ext uri="{FF2B5EF4-FFF2-40B4-BE49-F238E27FC236}">
                <a16:creationId xmlns:a16="http://schemas.microsoft.com/office/drawing/2014/main" id="{C3999E3F-81FC-41E8-8107-73850B67B08A}"/>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A6A3C4F2-6013-4F32-AFFC-65BFFC3D9AA3}"/>
              </a:ext>
            </a:extLst>
          </p:cNvPr>
          <p:cNvSpPr>
            <a:spLocks xmlns:a="http://schemas.openxmlformats.org/drawingml/2006/main" noGrp="1"/>
          </p:cNvSpPr>
          <p:nvPr/>
        </p:nvSpPr>
        <p:spPr>
          <a:xfrm xmlns:a="http://schemas.openxmlformats.org/drawingml/2006/main">
            <a:off x="571500" y="17240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3" name=""/>
          <p:cNvGraphicFramePr/>
          <p:nvPr/>
        </p:nvGraphicFramePr>
        <p:xfrm>
          <a:off xmlns:a="http://schemas.openxmlformats.org/drawingml/2006/main" x="571500" y="2781300"/>
          <a:ext xmlns:a="http://schemas.openxmlformats.org/drawingml/2006/main" cx="14097000" cy="3114675"/>
        </p:xfrm>
        <a:graphic xmlns:a="http://schemas.openxmlformats.org/drawingml/2006/main">
          <a:graphicData uri="http://schemas.openxmlformats.org/drawingml/2006/table">
            <a:tbl>
              <a:tblPr/>
              <a:tblGrid>
                <a:gridCol w="3286125"/>
                <a:gridCol w="2428875"/>
                <a:gridCol w="2428875"/>
                <a:gridCol w="5953125"/>
              </a:tblGrid>
              <a:tr h="778669">
                <a:tc>
                  <a:txBody>
                    <a:bodyPr lIns="171450" tIns="95250" rIns="133350" bIns="95250"/>
                    <a:lstStyle/>
                    <a:p>
                      <a:r>
                        <a:rPr sz="2550" b="1">
                          <a:solidFill>
                            <a:srgbClr val="FFFFFF"/>
                          </a:solidFill>
                          <a:latin typeface="Arial"/>
                          <a:ea typeface="Arial"/>
                          <a:cs typeface="Arial"/>
                        </a:rPr>
                        <a:t>q (kg/week)</a:t>
                      </a:r>
                    </a:p>
                  </a:txBody>
                  <a:tcPr marL="91440" marR="91440" marT="45720" marB="45720" anchor="ctr">
                    <a:solidFill>
                      <a:srgbClr val="183247"/>
                    </a:solidFill>
                  </a:tcPr>
                </a:tc>
                <a:tc>
                  <a:txBody>
                    <a:bodyPr lIns="171450" tIns="95250" rIns="133350" bIns="95250"/>
                    <a:lstStyle/>
                    <a:p>
                      <a:r>
                        <a:rPr sz="2550" b="1">
                          <a:solidFill>
                            <a:srgbClr val="FFFFFF"/>
                          </a:solidFill>
                          <a:latin typeface="Arial"/>
                          <a:ea typeface="Arial"/>
                          <a:cs typeface="Arial"/>
                        </a:rPr>
                        <a:t>MO (€/kg)</a:t>
                      </a:r>
                    </a:p>
                  </a:txBody>
                  <a:tcPr marL="91440" marR="91440" marT="45720" marB="45720" anchor="ctr">
                    <a:solidFill>
                      <a:srgbClr val="183247"/>
                    </a:solidFill>
                  </a:tcPr>
                </a:tc>
                <a:tc>
                  <a:txBody>
                    <a:bodyPr lIns="171450" tIns="95250" rIns="133350" bIns="95250"/>
                    <a:lstStyle/>
                    <a:p>
                      <a:r>
                        <a:rPr sz="2550" b="1">
                          <a:solidFill>
                            <a:srgbClr val="FFFFFF"/>
                          </a:solidFill>
                          <a:latin typeface="Arial"/>
                          <a:ea typeface="Arial"/>
                          <a:cs typeface="Arial"/>
                        </a:rPr>
                        <a:t>MK (€/kg)</a:t>
                      </a:r>
                    </a:p>
                  </a:txBody>
                  <a:tcPr marL="91440" marR="91440" marT="45720" marB="45720" anchor="ctr">
                    <a:solidFill>
                      <a:srgbClr val="183247"/>
                    </a:solidFill>
                  </a:tcPr>
                </a:tc>
                <a:tc>
                  <a:txBody>
                    <a:bodyPr lIns="171450" tIns="95250" rIns="133350" bIns="95250"/>
                    <a:lstStyle/>
                    <a:p>
                      <a:r>
                        <a:rPr sz="2550" b="1">
                          <a:solidFill>
                            <a:srgbClr val="FFFFFF"/>
                          </a:solidFill>
                          <a:latin typeface="Arial"/>
                          <a:ea typeface="Arial"/>
                          <a:cs typeface="Arial"/>
                        </a:rPr>
                        <a:t>Kleine uitbreiding</a:t>
                      </a:r>
                    </a:p>
                  </a:txBody>
                  <a:tcPr marL="91440" marR="91440" marT="45720" marB="45720" anchor="ctr">
                    <a:solidFill>
                      <a:srgbClr val="183247"/>
                    </a:solidFill>
                  </a:tcPr>
                </a:tc>
              </a:tr>
              <a:tr h="778669">
                <a:tc>
                  <a:txBody>
                    <a:bodyPr lIns="171450" tIns="95250" rIns="133350" bIns="95250"/>
                    <a:lstStyle/>
                    <a:p>
                      <a:r>
                        <a:rPr sz="2550" b="0">
                          <a:solidFill>
                            <a:srgbClr val="183247"/>
                          </a:solidFill>
                          <a:latin typeface="Arial"/>
                          <a:ea typeface="Arial"/>
                          <a:cs typeface="Arial"/>
                        </a:rPr>
                        <a:t>50</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8</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6</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Verhoogt de winst</a:t>
                      </a:r>
                    </a:p>
                  </a:txBody>
                  <a:tcPr marL="91440" marR="91440" marT="45720" marB="45720" anchor="ctr">
                    <a:solidFill>
                      <a:srgbClr val="FFFFFF"/>
                    </a:solidFill>
                  </a:tcPr>
                </a:tc>
              </a:tr>
              <a:tr h="778669">
                <a:tc>
                  <a:txBody>
                    <a:bodyPr lIns="171450" tIns="95250" rIns="133350" bIns="95250"/>
                    <a:lstStyle/>
                    <a:p>
                      <a:r>
                        <a:rPr sz="2550" b="0">
                          <a:solidFill>
                            <a:srgbClr val="183247"/>
                          </a:solidFill>
                          <a:latin typeface="Arial"/>
                          <a:ea typeface="Arial"/>
                          <a:cs typeface="Arial"/>
                        </a:rPr>
                        <a:t>75</a:t>
                      </a:r>
                    </a:p>
                  </a:txBody>
                  <a:tcPr marL="91440" marR="91440" marT="45720" marB="45720" anchor="ctr">
                    <a:solidFill>
                      <a:srgbClr val="EFF4F7"/>
                    </a:solidFill>
                  </a:tcPr>
                </a:tc>
                <a:tc>
                  <a:txBody>
                    <a:bodyPr lIns="171450" tIns="95250" rIns="133350" bIns="95250"/>
                    <a:lstStyle/>
                    <a:p>
                      <a:r>
                        <a:rPr sz="2550" b="0">
                          <a:solidFill>
                            <a:srgbClr val="183247"/>
                          </a:solidFill>
                          <a:latin typeface="Arial"/>
                          <a:ea typeface="Arial"/>
                          <a:cs typeface="Arial"/>
                        </a:rPr>
                        <a:t>8</a:t>
                      </a:r>
                    </a:p>
                  </a:txBody>
                  <a:tcPr marL="91440" marR="91440" marT="45720" marB="45720" anchor="ctr">
                    <a:solidFill>
                      <a:srgbClr val="EFF4F7"/>
                    </a:solidFill>
                  </a:tcPr>
                </a:tc>
                <a:tc>
                  <a:txBody>
                    <a:bodyPr lIns="171450" tIns="95250" rIns="133350" bIns="95250"/>
                    <a:lstStyle/>
                    <a:p>
                      <a:r>
                        <a:rPr sz="2550" b="0">
                          <a:solidFill>
                            <a:srgbClr val="183247"/>
                          </a:solidFill>
                          <a:latin typeface="Arial"/>
                          <a:ea typeface="Arial"/>
                          <a:cs typeface="Arial"/>
                        </a:rPr>
                        <a:t>8</a:t>
                      </a:r>
                    </a:p>
                  </a:txBody>
                  <a:tcPr marL="91440" marR="91440" marT="45720" marB="45720" anchor="ctr">
                    <a:solidFill>
                      <a:srgbClr val="EFF4F7"/>
                    </a:solidFill>
                  </a:tcPr>
                </a:tc>
                <a:tc>
                  <a:txBody>
                    <a:bodyPr lIns="171450" tIns="95250" rIns="133350" bIns="95250"/>
                    <a:lstStyle/>
                    <a:p>
                      <a:r>
                        <a:rPr sz="2550" b="0">
                          <a:solidFill>
                            <a:srgbClr val="183247"/>
                          </a:solidFill>
                          <a:latin typeface="Arial"/>
                          <a:ea typeface="Arial"/>
                          <a:cs typeface="Arial"/>
                        </a:rPr>
                        <a:t>Omslagpunt</a:t>
                      </a:r>
                    </a:p>
                  </a:txBody>
                  <a:tcPr marL="91440" marR="91440" marT="45720" marB="45720" anchor="ctr">
                    <a:solidFill>
                      <a:srgbClr val="EFF4F7"/>
                    </a:solidFill>
                  </a:tcPr>
                </a:tc>
              </a:tr>
              <a:tr h="778669">
                <a:tc>
                  <a:txBody>
                    <a:bodyPr lIns="171450" tIns="95250" rIns="133350" bIns="95250"/>
                    <a:lstStyle/>
                    <a:p>
                      <a:r>
                        <a:rPr sz="2550" b="0">
                          <a:solidFill>
                            <a:srgbClr val="183247"/>
                          </a:solidFill>
                          <a:latin typeface="Arial"/>
                          <a:ea typeface="Arial"/>
                          <a:cs typeface="Arial"/>
                        </a:rPr>
                        <a:t>90</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8</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9,20</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Verlaagt de winst</a:t>
                      </a:r>
                    </a:p>
                  </a:txBody>
                  <a:tcPr marL="91440" marR="91440" marT="45720" marB="45720" anchor="ctr">
                    <a:solidFill>
                      <a:srgbClr val="FFFFFF"/>
                    </a:solidFill>
                  </a:tcPr>
                </a:tc>
              </a:tr>
            </a:tbl>
          </a:graphicData>
        </a:graphic>
      </p:graphicFrame>
      <p:sp>
        <p:nvSpPr>
          <p:cNvPr id="7" name="MO &gt; MK: uitbreiden is gunstig. MO &lt; MK: minder produceren is gun">
            <a:extLst xmlns:a="http://schemas.openxmlformats.org/drawingml/2006/main">
              <a:ext uri="{FF2B5EF4-FFF2-40B4-BE49-F238E27FC236}">
                <a16:creationId xmlns:a16="http://schemas.microsoft.com/office/drawing/2014/main" id="{2105AFDD-4AC7-4F62-8D67-30B6EA0A7737}"/>
              </a:ext>
            </a:extLst>
          </p:cNvPr>
          <p:cNvSpPr>
            <a:spLocks xmlns:a="http://schemas.openxmlformats.org/drawingml/2006/main" noGrp="1"/>
          </p:cNvSpPr>
          <p:nvPr/>
        </p:nvSpPr>
        <p:spPr>
          <a:xfrm xmlns:a="http://schemas.openxmlformats.org/drawingml/2006/main">
            <a:off x="571500" y="6572250"/>
            <a:ext cx="14097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MO &gt; MK: uitbreiden is gunstig. MO &lt; MK: minder produceren is gunstig.</a:t>
            </a:r>
          </a:p>
        </p:txBody>
      </p:sp>
    </p:spTree>
    <p:extLst>
      <p:ext uri="{BB962C8B-B14F-4D97-AF65-F5344CB8AC3E}">
        <p14:creationId xmlns:p14="http://schemas.microsoft.com/office/powerpoint/2010/main" val="7676461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kandidaat en het maximum">
            <a:extLst xmlns:a="http://schemas.openxmlformats.org/drawingml/2006/main">
              <a:ext uri="{FF2B5EF4-FFF2-40B4-BE49-F238E27FC236}">
                <a16:creationId xmlns:a16="http://schemas.microsoft.com/office/drawing/2014/main" id="{2494FE4A-F7CC-479A-A8F5-73E39C027A3A}"/>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De kandidaat en het maximum</a:t>
            </a:r>
          </a:p>
        </p:txBody>
      </p:sp>
      <p:sp>
        <p:nvSpPr>
          <p:cNvPr id="2" name="">
            <a:extLst xmlns:a="http://schemas.openxmlformats.org/drawingml/2006/main">
              <a:ext uri="{FF2B5EF4-FFF2-40B4-BE49-F238E27FC236}">
                <a16:creationId xmlns:a16="http://schemas.microsoft.com/office/drawing/2014/main" id="{813F48BB-6411-4187-8557-77487C3249D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Uitlegvoorbeeld — niet uit het boek">
            <a:extLst xmlns:a="http://schemas.openxmlformats.org/drawingml/2006/main">
              <a:ext uri="{FF2B5EF4-FFF2-40B4-BE49-F238E27FC236}">
                <a16:creationId xmlns:a16="http://schemas.microsoft.com/office/drawing/2014/main" id="{3420E0CA-BA5F-4B01-B665-4C5120231984}"/>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Uitlegvoorbeeld — niet uit het boek</a:t>
            </a:r>
          </a:p>
        </p:txBody>
      </p:sp>
      <p:sp>
        <p:nvSpPr>
          <p:cNvPr id="4" name="6">
            <a:extLst xmlns:a="http://schemas.openxmlformats.org/drawingml/2006/main">
              <a:ext uri="{FF2B5EF4-FFF2-40B4-BE49-F238E27FC236}">
                <a16:creationId xmlns:a16="http://schemas.microsoft.com/office/drawing/2014/main" id="{A22DAECF-035E-4055-A5D6-C3B404713EA0}"/>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P, GO, MO, MK (€ per kg)">
            <a:extLst xmlns:a="http://schemas.openxmlformats.org/drawingml/2006/main">
              <a:ext uri="{FF2B5EF4-FFF2-40B4-BE49-F238E27FC236}">
                <a16:creationId xmlns:a16="http://schemas.microsoft.com/office/drawing/2014/main" id="{C3BCAD86-48B3-473F-8C26-CF76A80CED21}"/>
              </a:ext>
            </a:extLst>
          </p:cNvPr>
          <p:cNvSpPr>
            <a:spLocks xmlns:a="http://schemas.openxmlformats.org/drawingml/2006/main" noGrp="1"/>
          </p:cNvSpPr>
          <p:nvPr/>
        </p:nvSpPr>
        <p:spPr>
          <a:xfrm xmlns:a="http://schemas.openxmlformats.org/drawingml/2006/main">
            <a:off x="762000" y="1857375"/>
            <a:ext cx="971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P, GO, MO, MK (€ per kg)</a:t>
            </a:r>
          </a:p>
        </p:txBody>
      </p:sp>
      <p:graphicFrame>
        <p:nvGraphicFramePr>
          <p:cNvPr id="15" name="Chart"/>
          <p:cNvGraphicFramePr/>
          <p:nvPr/>
        </p:nvGraphicFramePr>
        <p:xfrm>
          <a:off xmlns:a="http://schemas.openxmlformats.org/drawingml/2006/main" x="666750" y="2476500"/>
          <a:ext xmlns:a="http://schemas.openxmlformats.org/drawingml/2006/main" cx="9810750" cy="5095875"/>
        </p:xfrm>
        <a:graphic xmlns:a="http://schemas.openxmlformats.org/drawingml/2006/main">
          <a:graphicData uri="http://schemas.openxmlformats.org/drawingml/2006/chart">
            <c:chart xmlns:r="http://schemas.openxmlformats.org/officeDocument/2006/relationships" xmlns:c="http://schemas.openxmlformats.org/drawingml/2006/chart" r:id="R029499fd27d24663"/>
          </a:graphicData>
        </a:graphic>
      </p:graphicFrame>
      <p:sp>
        <p:nvSpPr>
          <p:cNvPr id="7" name="8 = 0,08q + 2">
            <a:extLst xmlns:a="http://schemas.openxmlformats.org/drawingml/2006/main">
              <a:ext uri="{FF2B5EF4-FFF2-40B4-BE49-F238E27FC236}">
                <a16:creationId xmlns:a16="http://schemas.microsoft.com/office/drawing/2014/main" id="{0AE3B461-657A-40E1-92E5-BB7606E61B3A}"/>
              </a:ext>
            </a:extLst>
          </p:cNvPr>
          <p:cNvSpPr>
            <a:spLocks xmlns:a="http://schemas.openxmlformats.org/drawingml/2006/main" noGrp="1"/>
          </p:cNvSpPr>
          <p:nvPr/>
        </p:nvSpPr>
        <p:spPr>
          <a:xfrm xmlns:a="http://schemas.openxmlformats.org/drawingml/2006/main">
            <a:off x="10858500" y="276225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8 = 0,08q + 2</a:t>
            </a:r>
          </a:p>
        </p:txBody>
      </p:sp>
      <p:sp>
        <p:nvSpPr>
          <p:cNvPr id="8" name="q = 75 kg/week">
            <a:extLst xmlns:a="http://schemas.openxmlformats.org/drawingml/2006/main">
              <a:ext uri="{FF2B5EF4-FFF2-40B4-BE49-F238E27FC236}">
                <a16:creationId xmlns:a16="http://schemas.microsoft.com/office/drawing/2014/main" id="{D201BC77-9720-4F60-9780-361B9060F51B}"/>
              </a:ext>
            </a:extLst>
          </p:cNvPr>
          <p:cNvSpPr>
            <a:spLocks xmlns:a="http://schemas.openxmlformats.org/drawingml/2006/main" noGrp="1"/>
          </p:cNvSpPr>
          <p:nvPr/>
        </p:nvSpPr>
        <p:spPr>
          <a:xfrm xmlns:a="http://schemas.openxmlformats.org/drawingml/2006/main">
            <a:off x="10858500" y="4162425"/>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q = 75 kg/week</a:t>
            </a:r>
          </a:p>
        </p:txBody>
      </p:sp>
      <p:sp>
        <p:nvSpPr>
          <p:cNvPr id="9" name="MK stijgt door MO.&#10;75 ≤ 100: haalbaar.">
            <a:extLst xmlns:a="http://schemas.openxmlformats.org/drawingml/2006/main">
              <a:ext uri="{FF2B5EF4-FFF2-40B4-BE49-F238E27FC236}">
                <a16:creationId xmlns:a16="http://schemas.microsoft.com/office/drawing/2014/main" id="{9D94113D-2D66-43D1-961C-5FC5D2B3ECE3}"/>
              </a:ext>
            </a:extLst>
          </p:cNvPr>
          <p:cNvSpPr>
            <a:spLocks xmlns:a="http://schemas.openxmlformats.org/drawingml/2006/main" noGrp="1"/>
          </p:cNvSpPr>
          <p:nvPr/>
        </p:nvSpPr>
        <p:spPr>
          <a:xfrm xmlns:a="http://schemas.openxmlformats.org/drawingml/2006/main">
            <a:off x="10858500" y="556260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MK stijgt door MO.</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75 ≤ 100: haalbaar.</a:t>
            </a:r>
          </a:p>
        </p:txBody>
      </p:sp>
    </p:spTree>
    <p:extLst>
      <p:ext uri="{BB962C8B-B14F-4D97-AF65-F5344CB8AC3E}">
        <p14:creationId xmlns:p14="http://schemas.microsoft.com/office/powerpoint/2010/main" val="54530613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otale winst bij 75 kg">
            <a:extLst xmlns:a="http://schemas.openxmlformats.org/drawingml/2006/main">
              <a:ext uri="{FF2B5EF4-FFF2-40B4-BE49-F238E27FC236}">
                <a16:creationId xmlns:a16="http://schemas.microsoft.com/office/drawing/2014/main" id="{7B33DDC6-84C0-4A95-A3AA-B07CBA8A2F50}"/>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Totale winst bij 75 kg</a:t>
            </a:r>
          </a:p>
        </p:txBody>
      </p:sp>
      <p:sp>
        <p:nvSpPr>
          <p:cNvPr id="2" name="">
            <a:extLst xmlns:a="http://schemas.openxmlformats.org/drawingml/2006/main">
              <a:ext uri="{FF2B5EF4-FFF2-40B4-BE49-F238E27FC236}">
                <a16:creationId xmlns:a16="http://schemas.microsoft.com/office/drawing/2014/main" id="{944D0370-E84E-46FF-AF53-BCFE3E52EDA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Winstmaximalisatie bij volkomen concurrentie">
            <a:extLst xmlns:a="http://schemas.openxmlformats.org/drawingml/2006/main">
              <a:ext uri="{FF2B5EF4-FFF2-40B4-BE49-F238E27FC236}">
                <a16:creationId xmlns:a16="http://schemas.microsoft.com/office/drawing/2014/main" id="{E23F2C23-620D-475A-9C0A-D61BAEEE4677}"/>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Winstmaximalisatie bij volkomen concurrentie</a:t>
            </a:r>
          </a:p>
        </p:txBody>
      </p:sp>
      <p:sp>
        <p:nvSpPr>
          <p:cNvPr id="4" name="7">
            <a:extLst xmlns:a="http://schemas.openxmlformats.org/drawingml/2006/main">
              <a:ext uri="{FF2B5EF4-FFF2-40B4-BE49-F238E27FC236}">
                <a16:creationId xmlns:a16="http://schemas.microsoft.com/office/drawing/2014/main" id="{FACC0653-3401-4493-AE93-42A8E75D66E5}"/>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a:extLst xmlns:a="http://schemas.openxmlformats.org/drawingml/2006/main">
              <a:ext uri="{FF2B5EF4-FFF2-40B4-BE49-F238E27FC236}">
                <a16:creationId xmlns:a16="http://schemas.microsoft.com/office/drawing/2014/main" id="{67302B43-9688-4230-8989-FF58D9A10106}"/>
              </a:ext>
            </a:extLst>
          </p:cNvPr>
          <p:cNvSpPr>
            <a:spLocks xmlns:a="http://schemas.openxmlformats.org/drawingml/2006/main" noGrp="1"/>
          </p:cNvSpPr>
          <p:nvPr/>
        </p:nvSpPr>
        <p:spPr>
          <a:xfrm xmlns:a="http://schemas.openxmlformats.org/drawingml/2006/main">
            <a:off x="571500" y="17240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TO = 8 × 75 = € 600 per week">
            <a:extLst xmlns:a="http://schemas.openxmlformats.org/drawingml/2006/main">
              <a:ext uri="{FF2B5EF4-FFF2-40B4-BE49-F238E27FC236}">
                <a16:creationId xmlns:a16="http://schemas.microsoft.com/office/drawing/2014/main" id="{12FEAB20-44FE-4A7F-BFC5-EA7977362DF5}"/>
              </a:ext>
            </a:extLst>
          </p:cNvPr>
          <p:cNvSpPr>
            <a:spLocks xmlns:a="http://schemas.openxmlformats.org/drawingml/2006/main" noGrp="1"/>
          </p:cNvSpPr>
          <p:nvPr/>
        </p:nvSpPr>
        <p:spPr>
          <a:xfrm xmlns:a="http://schemas.openxmlformats.org/drawingml/2006/main">
            <a:off x="571500" y="26765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TO = 8 × 75 = € 600 per week</a:t>
            </a:r>
          </a:p>
        </p:txBody>
      </p:sp>
      <p:sp>
        <p:nvSpPr>
          <p:cNvPr id="7" name="TK = 0,04 × 75² + 2 × 75 + 100 = € 475 per week">
            <a:extLst xmlns:a="http://schemas.openxmlformats.org/drawingml/2006/main">
              <a:ext uri="{FF2B5EF4-FFF2-40B4-BE49-F238E27FC236}">
                <a16:creationId xmlns:a16="http://schemas.microsoft.com/office/drawing/2014/main" id="{55FD3DF1-4F94-4279-BB55-2892250E9EFD}"/>
              </a:ext>
            </a:extLst>
          </p:cNvPr>
          <p:cNvSpPr>
            <a:spLocks xmlns:a="http://schemas.openxmlformats.org/drawingml/2006/main" noGrp="1"/>
          </p:cNvSpPr>
          <p:nvPr/>
        </p:nvSpPr>
        <p:spPr>
          <a:xfrm xmlns:a="http://schemas.openxmlformats.org/drawingml/2006/main">
            <a:off x="571500" y="40100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TK = 0,04 × 75² + 2 × 75 + 100 = € 475 per week</a:t>
            </a:r>
          </a:p>
        </p:txBody>
      </p:sp>
      <p:sp>
        <p:nvSpPr>
          <p:cNvPr id="8" name="Winst = 600 − 475 = € 125 per week">
            <a:extLst xmlns:a="http://schemas.openxmlformats.org/drawingml/2006/main">
              <a:ext uri="{FF2B5EF4-FFF2-40B4-BE49-F238E27FC236}">
                <a16:creationId xmlns:a16="http://schemas.microsoft.com/office/drawing/2014/main" id="{C179E5AD-751F-42D4-8F1C-B2469A32F648}"/>
              </a:ext>
            </a:extLst>
          </p:cNvPr>
          <p:cNvSpPr>
            <a:spLocks xmlns:a="http://schemas.openxmlformats.org/drawingml/2006/main" noGrp="1"/>
          </p:cNvSpPr>
          <p:nvPr/>
        </p:nvSpPr>
        <p:spPr>
          <a:xfrm xmlns:a="http://schemas.openxmlformats.org/drawingml/2006/main">
            <a:off x="571500" y="53435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Winst = 600 − 475 = € 125 per week</a:t>
            </a:r>
          </a:p>
        </p:txBody>
      </p:sp>
    </p:spTree>
    <p:extLst>
      <p:ext uri="{BB962C8B-B14F-4D97-AF65-F5344CB8AC3E}">
        <p14:creationId xmlns:p14="http://schemas.microsoft.com/office/powerpoint/2010/main" val="190436804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winst per kg bij dezelfde productie">
            <a:extLst xmlns:a="http://schemas.openxmlformats.org/drawingml/2006/main">
              <a:ext uri="{FF2B5EF4-FFF2-40B4-BE49-F238E27FC236}">
                <a16:creationId xmlns:a16="http://schemas.microsoft.com/office/drawing/2014/main" id="{576A3049-47D2-4474-A5D4-3D5E19DE2FFE}"/>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De winst per kg bij dezelfde productie</a:t>
            </a:r>
          </a:p>
        </p:txBody>
      </p:sp>
      <p:sp>
        <p:nvSpPr>
          <p:cNvPr id="2" name="">
            <a:extLst xmlns:a="http://schemas.openxmlformats.org/drawingml/2006/main">
              <a:ext uri="{FF2B5EF4-FFF2-40B4-BE49-F238E27FC236}">
                <a16:creationId xmlns:a16="http://schemas.microsoft.com/office/drawing/2014/main" id="{BF98A28B-0886-40CA-9B73-6D67612A8F3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Winstmaximalisatie bij volkomen concurrentie">
            <a:extLst xmlns:a="http://schemas.openxmlformats.org/drawingml/2006/main">
              <a:ext uri="{FF2B5EF4-FFF2-40B4-BE49-F238E27FC236}">
                <a16:creationId xmlns:a16="http://schemas.microsoft.com/office/drawing/2014/main" id="{6A43759E-C862-4D31-8646-A7AD65990435}"/>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Winstmaximalisatie bij volkomen concurrentie</a:t>
            </a:r>
          </a:p>
        </p:txBody>
      </p:sp>
      <p:sp>
        <p:nvSpPr>
          <p:cNvPr id="4" name="8">
            <a:extLst xmlns:a="http://schemas.openxmlformats.org/drawingml/2006/main">
              <a:ext uri="{FF2B5EF4-FFF2-40B4-BE49-F238E27FC236}">
                <a16:creationId xmlns:a16="http://schemas.microsoft.com/office/drawing/2014/main" id="{080972B9-E83A-4923-AF19-9CD421E10CCE}"/>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a:extLst xmlns:a="http://schemas.openxmlformats.org/drawingml/2006/main">
              <a:ext uri="{FF2B5EF4-FFF2-40B4-BE49-F238E27FC236}">
                <a16:creationId xmlns:a16="http://schemas.microsoft.com/office/drawing/2014/main" id="{EC8CF0D3-6B68-4D5D-865A-F6C98C45AE73}"/>
              </a:ext>
            </a:extLst>
          </p:cNvPr>
          <p:cNvSpPr>
            <a:spLocks xmlns:a="http://schemas.openxmlformats.org/drawingml/2006/main" noGrp="1"/>
          </p:cNvSpPr>
          <p:nvPr/>
        </p:nvSpPr>
        <p:spPr>
          <a:xfrm xmlns:a="http://schemas.openxmlformats.org/drawingml/2006/main">
            <a:off x="571500" y="17240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GTK = 475 / 75 = € 6,333… per kg">
            <a:extLst xmlns:a="http://schemas.openxmlformats.org/drawingml/2006/main">
              <a:ext uri="{FF2B5EF4-FFF2-40B4-BE49-F238E27FC236}">
                <a16:creationId xmlns:a16="http://schemas.microsoft.com/office/drawing/2014/main" id="{7C65A652-4022-488C-BE3B-54EB45512B50}"/>
              </a:ext>
            </a:extLst>
          </p:cNvPr>
          <p:cNvSpPr>
            <a:spLocks xmlns:a="http://schemas.openxmlformats.org/drawingml/2006/main" noGrp="1"/>
          </p:cNvSpPr>
          <p:nvPr/>
        </p:nvSpPr>
        <p:spPr>
          <a:xfrm xmlns:a="http://schemas.openxmlformats.org/drawingml/2006/main">
            <a:off x="571500" y="26765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GTK = 475 / 75 = € 6,333… per kg</a:t>
            </a:r>
          </a:p>
        </p:txBody>
      </p:sp>
      <p:sp>
        <p:nvSpPr>
          <p:cNvPr id="7" name="P − GTK = 8 − 6,333… = € 1,666… per kg">
            <a:extLst xmlns:a="http://schemas.openxmlformats.org/drawingml/2006/main">
              <a:ext uri="{FF2B5EF4-FFF2-40B4-BE49-F238E27FC236}">
                <a16:creationId xmlns:a16="http://schemas.microsoft.com/office/drawing/2014/main" id="{9C02826C-AF38-4D33-8F8D-6D9D1D51EE0C}"/>
              </a:ext>
            </a:extLst>
          </p:cNvPr>
          <p:cNvSpPr>
            <a:spLocks xmlns:a="http://schemas.openxmlformats.org/drawingml/2006/main" noGrp="1"/>
          </p:cNvSpPr>
          <p:nvPr/>
        </p:nvSpPr>
        <p:spPr>
          <a:xfrm xmlns:a="http://schemas.openxmlformats.org/drawingml/2006/main">
            <a:off x="571500" y="40100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P − GTK = 8 − 6,333… = € 1,666… per kg</a:t>
            </a:r>
          </a:p>
        </p:txBody>
      </p:sp>
      <p:sp>
        <p:nvSpPr>
          <p:cNvPr id="8" name="Winst = 75 × (8 − 475 / 75) = € 125 per week">
            <a:extLst xmlns:a="http://schemas.openxmlformats.org/drawingml/2006/main">
              <a:ext uri="{FF2B5EF4-FFF2-40B4-BE49-F238E27FC236}">
                <a16:creationId xmlns:a16="http://schemas.microsoft.com/office/drawing/2014/main" id="{D7CB8265-79C9-42F0-A968-0C9E9CC7C533}"/>
              </a:ext>
            </a:extLst>
          </p:cNvPr>
          <p:cNvSpPr>
            <a:spLocks xmlns:a="http://schemas.openxmlformats.org/drawingml/2006/main" noGrp="1"/>
          </p:cNvSpPr>
          <p:nvPr/>
        </p:nvSpPr>
        <p:spPr>
          <a:xfrm xmlns:a="http://schemas.openxmlformats.org/drawingml/2006/main">
            <a:off x="571500" y="53435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Winst = 75 × (8 − 475 / 75) = € 125 per week</a:t>
            </a:r>
          </a:p>
        </p:txBody>
      </p:sp>
    </p:spTree>
    <p:extLst>
      <p:ext uri="{BB962C8B-B14F-4D97-AF65-F5344CB8AC3E}">
        <p14:creationId xmlns:p14="http://schemas.microsoft.com/office/powerpoint/2010/main" val="133299718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De winstrechthoek">
            <a:extLst xmlns:a="http://schemas.openxmlformats.org/drawingml/2006/main">
              <a:ext uri="{FF2B5EF4-FFF2-40B4-BE49-F238E27FC236}">
                <a16:creationId xmlns:a16="http://schemas.microsoft.com/office/drawing/2014/main" id="{DFC9E995-E820-4B87-AA20-4AC218037D78}"/>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De winstrechthoek</a:t>
            </a:r>
          </a:p>
        </p:txBody>
      </p:sp>
      <p:sp>
        <p:nvSpPr>
          <p:cNvPr id="2" name="">
            <a:extLst xmlns:a="http://schemas.openxmlformats.org/drawingml/2006/main">
              <a:ext uri="{FF2B5EF4-FFF2-40B4-BE49-F238E27FC236}">
                <a16:creationId xmlns:a16="http://schemas.microsoft.com/office/drawing/2014/main" id="{A6FBC999-78E7-41B9-9E95-793B35C04C2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Uitlegvoorbeeld — niet uit het boek">
            <a:extLst xmlns:a="http://schemas.openxmlformats.org/drawingml/2006/main">
              <a:ext uri="{FF2B5EF4-FFF2-40B4-BE49-F238E27FC236}">
                <a16:creationId xmlns:a16="http://schemas.microsoft.com/office/drawing/2014/main" id="{4E44DA8B-7EC7-4D74-B8CA-B0B7B2685327}"/>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Uitlegvoorbeeld — niet uit het boek</a:t>
            </a:r>
          </a:p>
        </p:txBody>
      </p:sp>
      <p:sp>
        <p:nvSpPr>
          <p:cNvPr id="4" name="9">
            <a:extLst xmlns:a="http://schemas.openxmlformats.org/drawingml/2006/main">
              <a:ext uri="{FF2B5EF4-FFF2-40B4-BE49-F238E27FC236}">
                <a16:creationId xmlns:a16="http://schemas.microsoft.com/office/drawing/2014/main" id="{AEF95DCC-A60E-44E3-A468-86C94E388290}"/>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P, GO, MO, MK en GTK (€ per kg)">
            <a:extLst xmlns:a="http://schemas.openxmlformats.org/drawingml/2006/main">
              <a:ext uri="{FF2B5EF4-FFF2-40B4-BE49-F238E27FC236}">
                <a16:creationId xmlns:a16="http://schemas.microsoft.com/office/drawing/2014/main" id="{1F1A7203-DC65-4317-A257-25DD4296AF3E}"/>
              </a:ext>
            </a:extLst>
          </p:cNvPr>
          <p:cNvSpPr>
            <a:spLocks xmlns:a="http://schemas.openxmlformats.org/drawingml/2006/main" noGrp="1"/>
          </p:cNvSpPr>
          <p:nvPr/>
        </p:nvSpPr>
        <p:spPr>
          <a:xfrm xmlns:a="http://schemas.openxmlformats.org/drawingml/2006/main">
            <a:off x="762000" y="1857375"/>
            <a:ext cx="971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P, GO, MO, MK en GTK (€ per kg)</a:t>
            </a:r>
          </a:p>
        </p:txBody>
      </p:sp>
      <p:graphicFrame>
        <p:nvGraphicFramePr>
          <p:cNvPr id="55" name="Chart"/>
          <p:cNvGraphicFramePr/>
          <p:nvPr/>
        </p:nvGraphicFramePr>
        <p:xfrm>
          <a:off xmlns:a="http://schemas.openxmlformats.org/drawingml/2006/main" x="666750" y="2476500"/>
          <a:ext xmlns:a="http://schemas.openxmlformats.org/drawingml/2006/main" cx="9810750" cy="5095875"/>
        </p:xfrm>
        <a:graphic xmlns:a="http://schemas.openxmlformats.org/drawingml/2006/main">
          <a:graphicData uri="http://schemas.openxmlformats.org/drawingml/2006/chart">
            <c:chart xmlns:r="http://schemas.openxmlformats.org/officeDocument/2006/relationships" xmlns:c="http://schemas.openxmlformats.org/drawingml/2006/chart" r:id="Rf6963b4b1e5c4e5d"/>
          </a:graphicData>
        </a:graphic>
      </p:graphicFrame>
      <p:sp>
        <p:nvSpPr>
          <p:cNvPr id="7" name="Winstrechthoek">
            <a:extLst xmlns:a="http://schemas.openxmlformats.org/drawingml/2006/main">
              <a:ext uri="{FF2B5EF4-FFF2-40B4-BE49-F238E27FC236}">
                <a16:creationId xmlns:a16="http://schemas.microsoft.com/office/drawing/2014/main" id="{EA5785E1-55E9-4C78-A2C8-B3C2A83E47CE}"/>
              </a:ext>
            </a:extLst>
          </p:cNvPr>
          <p:cNvSpPr>
            <a:spLocks xmlns:a="http://schemas.openxmlformats.org/drawingml/2006/main" noGrp="1"/>
          </p:cNvSpPr>
          <p:nvPr/>
        </p:nvSpPr>
        <p:spPr>
          <a:xfrm xmlns:a="http://schemas.openxmlformats.org/drawingml/2006/main">
            <a:off x="1647825" y="4744164"/>
            <a:ext cx="6254353" cy="419348"/>
          </a:xfrm>
          <a:prstGeom xmlns:a="http://schemas.openxmlformats.org/drawingml/2006/main" prst="rect">
            <a:avLst/>
          </a:prstGeom>
          <a:noFill xmlns:a="http://schemas.openxmlformats.org/drawingml/2006/main"/>
          <a:ln xmlns:a="http://schemas.openxmlformats.org/drawingml/2006/main" w="21908">
            <a:solidFill>
              <a:srgbClr val="20665B"/>
            </a:solidFill>
          </a:ln>
        </p:spPr>
      </p:sp>
      <p:sp>
        <p:nvSpPr>
          <p:cNvPr id="8" name="Winstarcering">
            <a:extLst xmlns:a="http://schemas.openxmlformats.org/drawingml/2006/main">
              <a:ext uri="{FF2B5EF4-FFF2-40B4-BE49-F238E27FC236}">
                <a16:creationId xmlns:a16="http://schemas.microsoft.com/office/drawing/2014/main" id="{EDA92EE0-1516-42B7-BD71-1746623770B1}"/>
              </a:ext>
            </a:extLst>
          </p:cNvPr>
          <p:cNvSpPr>
            <a:spLocks xmlns:a="http://schemas.openxmlformats.org/drawingml/2006/main" noGrp="1"/>
          </p:cNvSpPr>
          <p:nvPr/>
        </p:nvSpPr>
        <p:spPr>
          <a:xfrm xmlns:a="http://schemas.openxmlformats.org/drawingml/2006/main">
            <a:off x="1647825" y="5049212"/>
            <a:ext cx="114300" cy="114300"/>
          </a:xfrm>
          <a:prstGeom xmlns:a="http://schemas.openxmlformats.org/drawingml/2006/main" prst="line">
            <a:avLst/>
          </a:prstGeom>
          <a:ln xmlns:a="http://schemas.openxmlformats.org/drawingml/2006/main" w="9525">
            <a:solidFill>
              <a:srgbClr val="20665B"/>
            </a:solidFill>
          </a:ln>
        </p:spPr>
      </p:sp>
      <p:sp>
        <p:nvSpPr>
          <p:cNvPr id="9" name="Winstarcering">
            <a:extLst xmlns:a="http://schemas.openxmlformats.org/drawingml/2006/main">
              <a:ext uri="{FF2B5EF4-FFF2-40B4-BE49-F238E27FC236}">
                <a16:creationId xmlns:a16="http://schemas.microsoft.com/office/drawing/2014/main" id="{329848DF-01B2-4D99-B643-F587DEEBB821}"/>
              </a:ext>
            </a:extLst>
          </p:cNvPr>
          <p:cNvSpPr>
            <a:spLocks xmlns:a="http://schemas.openxmlformats.org/drawingml/2006/main" noGrp="1"/>
          </p:cNvSpPr>
          <p:nvPr/>
        </p:nvSpPr>
        <p:spPr>
          <a:xfrm xmlns:a="http://schemas.openxmlformats.org/drawingml/2006/main">
            <a:off x="1647825" y="4877762"/>
            <a:ext cx="285750" cy="285750"/>
          </a:xfrm>
          <a:prstGeom xmlns:a="http://schemas.openxmlformats.org/drawingml/2006/main" prst="line">
            <a:avLst/>
          </a:prstGeom>
          <a:ln xmlns:a="http://schemas.openxmlformats.org/drawingml/2006/main" w="9525">
            <a:solidFill>
              <a:srgbClr val="20665B"/>
            </a:solidFill>
          </a:ln>
        </p:spPr>
      </p:sp>
      <p:sp>
        <p:nvSpPr>
          <p:cNvPr id="10" name="Winstarcering">
            <a:extLst xmlns:a="http://schemas.openxmlformats.org/drawingml/2006/main">
              <a:ext uri="{FF2B5EF4-FFF2-40B4-BE49-F238E27FC236}">
                <a16:creationId xmlns:a16="http://schemas.microsoft.com/office/drawing/2014/main" id="{D204CFAA-9512-43FD-A6B6-B5CAE3930F8B}"/>
              </a:ext>
            </a:extLst>
          </p:cNvPr>
          <p:cNvSpPr>
            <a:spLocks xmlns:a="http://schemas.openxmlformats.org/drawingml/2006/main" noGrp="1"/>
          </p:cNvSpPr>
          <p:nvPr/>
        </p:nvSpPr>
        <p:spPr>
          <a:xfrm xmlns:a="http://schemas.openxmlformats.org/drawingml/2006/main">
            <a:off x="1685677" y="4744164"/>
            <a:ext cx="419348" cy="419348"/>
          </a:xfrm>
          <a:prstGeom xmlns:a="http://schemas.openxmlformats.org/drawingml/2006/main" prst="line">
            <a:avLst/>
          </a:prstGeom>
          <a:ln xmlns:a="http://schemas.openxmlformats.org/drawingml/2006/main" w="9525">
            <a:solidFill>
              <a:srgbClr val="20665B"/>
            </a:solidFill>
          </a:ln>
        </p:spPr>
      </p:sp>
      <p:sp>
        <p:nvSpPr>
          <p:cNvPr id="11" name="Winstarcering">
            <a:extLst xmlns:a="http://schemas.openxmlformats.org/drawingml/2006/main">
              <a:ext uri="{FF2B5EF4-FFF2-40B4-BE49-F238E27FC236}">
                <a16:creationId xmlns:a16="http://schemas.microsoft.com/office/drawing/2014/main" id="{1D56AD1B-2209-461F-9653-C372363BC32D}"/>
              </a:ext>
            </a:extLst>
          </p:cNvPr>
          <p:cNvSpPr>
            <a:spLocks xmlns:a="http://schemas.openxmlformats.org/drawingml/2006/main" noGrp="1"/>
          </p:cNvSpPr>
          <p:nvPr/>
        </p:nvSpPr>
        <p:spPr>
          <a:xfrm xmlns:a="http://schemas.openxmlformats.org/drawingml/2006/main">
            <a:off x="1857127" y="4744164"/>
            <a:ext cx="419348" cy="419348"/>
          </a:xfrm>
          <a:prstGeom xmlns:a="http://schemas.openxmlformats.org/drawingml/2006/main" prst="line">
            <a:avLst/>
          </a:prstGeom>
          <a:ln xmlns:a="http://schemas.openxmlformats.org/drawingml/2006/main" w="9525">
            <a:solidFill>
              <a:srgbClr val="20665B"/>
            </a:solidFill>
          </a:ln>
        </p:spPr>
      </p:sp>
      <p:sp>
        <p:nvSpPr>
          <p:cNvPr id="12" name="Winstarcering">
            <a:extLst xmlns:a="http://schemas.openxmlformats.org/drawingml/2006/main">
              <a:ext uri="{FF2B5EF4-FFF2-40B4-BE49-F238E27FC236}">
                <a16:creationId xmlns:a16="http://schemas.microsoft.com/office/drawing/2014/main" id="{DB434E6B-C005-408A-A9F4-DFFE275AD1F6}"/>
              </a:ext>
            </a:extLst>
          </p:cNvPr>
          <p:cNvSpPr>
            <a:spLocks xmlns:a="http://schemas.openxmlformats.org/drawingml/2006/main" noGrp="1"/>
          </p:cNvSpPr>
          <p:nvPr/>
        </p:nvSpPr>
        <p:spPr>
          <a:xfrm xmlns:a="http://schemas.openxmlformats.org/drawingml/2006/main">
            <a:off x="2028577" y="4744164"/>
            <a:ext cx="419348" cy="419348"/>
          </a:xfrm>
          <a:prstGeom xmlns:a="http://schemas.openxmlformats.org/drawingml/2006/main" prst="line">
            <a:avLst/>
          </a:prstGeom>
          <a:ln xmlns:a="http://schemas.openxmlformats.org/drawingml/2006/main" w="9525">
            <a:solidFill>
              <a:srgbClr val="20665B"/>
            </a:solidFill>
          </a:ln>
        </p:spPr>
      </p:sp>
      <p:sp>
        <p:nvSpPr>
          <p:cNvPr id="13" name="Winstarcering">
            <a:extLst xmlns:a="http://schemas.openxmlformats.org/drawingml/2006/main">
              <a:ext uri="{FF2B5EF4-FFF2-40B4-BE49-F238E27FC236}">
                <a16:creationId xmlns:a16="http://schemas.microsoft.com/office/drawing/2014/main" id="{8E898D9C-F186-4413-8423-1F3B82417524}"/>
              </a:ext>
            </a:extLst>
          </p:cNvPr>
          <p:cNvSpPr>
            <a:spLocks xmlns:a="http://schemas.openxmlformats.org/drawingml/2006/main" noGrp="1"/>
          </p:cNvSpPr>
          <p:nvPr/>
        </p:nvSpPr>
        <p:spPr>
          <a:xfrm xmlns:a="http://schemas.openxmlformats.org/drawingml/2006/main">
            <a:off x="2200027" y="4744164"/>
            <a:ext cx="419348" cy="419348"/>
          </a:xfrm>
          <a:prstGeom xmlns:a="http://schemas.openxmlformats.org/drawingml/2006/main" prst="line">
            <a:avLst/>
          </a:prstGeom>
          <a:ln xmlns:a="http://schemas.openxmlformats.org/drawingml/2006/main" w="9525">
            <a:solidFill>
              <a:srgbClr val="20665B"/>
            </a:solidFill>
          </a:ln>
        </p:spPr>
      </p:sp>
      <p:sp>
        <p:nvSpPr>
          <p:cNvPr id="14" name="Winstarcering">
            <a:extLst xmlns:a="http://schemas.openxmlformats.org/drawingml/2006/main">
              <a:ext uri="{FF2B5EF4-FFF2-40B4-BE49-F238E27FC236}">
                <a16:creationId xmlns:a16="http://schemas.microsoft.com/office/drawing/2014/main" id="{21715FAB-C2FA-4C49-A1D4-EA11CB687433}"/>
              </a:ext>
            </a:extLst>
          </p:cNvPr>
          <p:cNvSpPr>
            <a:spLocks xmlns:a="http://schemas.openxmlformats.org/drawingml/2006/main" noGrp="1"/>
          </p:cNvSpPr>
          <p:nvPr/>
        </p:nvSpPr>
        <p:spPr>
          <a:xfrm xmlns:a="http://schemas.openxmlformats.org/drawingml/2006/main">
            <a:off x="2371477" y="4744164"/>
            <a:ext cx="419348" cy="419348"/>
          </a:xfrm>
          <a:prstGeom xmlns:a="http://schemas.openxmlformats.org/drawingml/2006/main" prst="line">
            <a:avLst/>
          </a:prstGeom>
          <a:ln xmlns:a="http://schemas.openxmlformats.org/drawingml/2006/main" w="9525">
            <a:solidFill>
              <a:srgbClr val="20665B"/>
            </a:solidFill>
          </a:ln>
        </p:spPr>
      </p:sp>
      <p:sp>
        <p:nvSpPr>
          <p:cNvPr id="15" name="Winstarcering">
            <a:extLst xmlns:a="http://schemas.openxmlformats.org/drawingml/2006/main">
              <a:ext uri="{FF2B5EF4-FFF2-40B4-BE49-F238E27FC236}">
                <a16:creationId xmlns:a16="http://schemas.microsoft.com/office/drawing/2014/main" id="{CA208E7C-0396-4A5B-AA6E-F557A2402C07}"/>
              </a:ext>
            </a:extLst>
          </p:cNvPr>
          <p:cNvSpPr>
            <a:spLocks xmlns:a="http://schemas.openxmlformats.org/drawingml/2006/main" noGrp="1"/>
          </p:cNvSpPr>
          <p:nvPr/>
        </p:nvSpPr>
        <p:spPr>
          <a:xfrm xmlns:a="http://schemas.openxmlformats.org/drawingml/2006/main">
            <a:off x="2542927" y="4744164"/>
            <a:ext cx="419348" cy="419348"/>
          </a:xfrm>
          <a:prstGeom xmlns:a="http://schemas.openxmlformats.org/drawingml/2006/main" prst="line">
            <a:avLst/>
          </a:prstGeom>
          <a:ln xmlns:a="http://schemas.openxmlformats.org/drawingml/2006/main" w="9525">
            <a:solidFill>
              <a:srgbClr val="20665B"/>
            </a:solidFill>
          </a:ln>
        </p:spPr>
      </p:sp>
      <p:sp>
        <p:nvSpPr>
          <p:cNvPr id="16" name="Winstarcering">
            <a:extLst xmlns:a="http://schemas.openxmlformats.org/drawingml/2006/main">
              <a:ext uri="{FF2B5EF4-FFF2-40B4-BE49-F238E27FC236}">
                <a16:creationId xmlns:a16="http://schemas.microsoft.com/office/drawing/2014/main" id="{EB5816FF-9448-4B97-A4D6-B92FE9095FAC}"/>
              </a:ext>
            </a:extLst>
          </p:cNvPr>
          <p:cNvSpPr>
            <a:spLocks xmlns:a="http://schemas.openxmlformats.org/drawingml/2006/main" noGrp="1"/>
          </p:cNvSpPr>
          <p:nvPr/>
        </p:nvSpPr>
        <p:spPr>
          <a:xfrm xmlns:a="http://schemas.openxmlformats.org/drawingml/2006/main">
            <a:off x="2714377" y="4744164"/>
            <a:ext cx="419348" cy="419348"/>
          </a:xfrm>
          <a:prstGeom xmlns:a="http://schemas.openxmlformats.org/drawingml/2006/main" prst="line">
            <a:avLst/>
          </a:prstGeom>
          <a:ln xmlns:a="http://schemas.openxmlformats.org/drawingml/2006/main" w="9525">
            <a:solidFill>
              <a:srgbClr val="20665B"/>
            </a:solidFill>
          </a:ln>
        </p:spPr>
      </p:sp>
      <p:sp>
        <p:nvSpPr>
          <p:cNvPr id="17" name="Winstarcering">
            <a:extLst xmlns:a="http://schemas.openxmlformats.org/drawingml/2006/main">
              <a:ext uri="{FF2B5EF4-FFF2-40B4-BE49-F238E27FC236}">
                <a16:creationId xmlns:a16="http://schemas.microsoft.com/office/drawing/2014/main" id="{91E615D1-09B4-4BE3-A01F-F305038FD108}"/>
              </a:ext>
            </a:extLst>
          </p:cNvPr>
          <p:cNvSpPr>
            <a:spLocks xmlns:a="http://schemas.openxmlformats.org/drawingml/2006/main" noGrp="1"/>
          </p:cNvSpPr>
          <p:nvPr/>
        </p:nvSpPr>
        <p:spPr>
          <a:xfrm xmlns:a="http://schemas.openxmlformats.org/drawingml/2006/main">
            <a:off x="2885827" y="4744164"/>
            <a:ext cx="419348" cy="419348"/>
          </a:xfrm>
          <a:prstGeom xmlns:a="http://schemas.openxmlformats.org/drawingml/2006/main" prst="line">
            <a:avLst/>
          </a:prstGeom>
          <a:ln xmlns:a="http://schemas.openxmlformats.org/drawingml/2006/main" w="9525">
            <a:solidFill>
              <a:srgbClr val="20665B"/>
            </a:solidFill>
          </a:ln>
        </p:spPr>
      </p:sp>
      <p:sp>
        <p:nvSpPr>
          <p:cNvPr id="18" name="Winstarcering">
            <a:extLst xmlns:a="http://schemas.openxmlformats.org/drawingml/2006/main">
              <a:ext uri="{FF2B5EF4-FFF2-40B4-BE49-F238E27FC236}">
                <a16:creationId xmlns:a16="http://schemas.microsoft.com/office/drawing/2014/main" id="{89989870-3A1E-4B84-8E3C-5512BF90D0AC}"/>
              </a:ext>
            </a:extLst>
          </p:cNvPr>
          <p:cNvSpPr>
            <a:spLocks xmlns:a="http://schemas.openxmlformats.org/drawingml/2006/main" noGrp="1"/>
          </p:cNvSpPr>
          <p:nvPr/>
        </p:nvSpPr>
        <p:spPr>
          <a:xfrm xmlns:a="http://schemas.openxmlformats.org/drawingml/2006/main">
            <a:off x="3057277" y="4744164"/>
            <a:ext cx="419348" cy="419348"/>
          </a:xfrm>
          <a:prstGeom xmlns:a="http://schemas.openxmlformats.org/drawingml/2006/main" prst="line">
            <a:avLst/>
          </a:prstGeom>
          <a:ln xmlns:a="http://schemas.openxmlformats.org/drawingml/2006/main" w="9525">
            <a:solidFill>
              <a:srgbClr val="20665B"/>
            </a:solidFill>
          </a:ln>
        </p:spPr>
      </p:sp>
      <p:sp>
        <p:nvSpPr>
          <p:cNvPr id="19" name="Winstarcering">
            <a:extLst xmlns:a="http://schemas.openxmlformats.org/drawingml/2006/main">
              <a:ext uri="{FF2B5EF4-FFF2-40B4-BE49-F238E27FC236}">
                <a16:creationId xmlns:a16="http://schemas.microsoft.com/office/drawing/2014/main" id="{D9B569B0-9232-49AA-B35D-0E16BA95421D}"/>
              </a:ext>
            </a:extLst>
          </p:cNvPr>
          <p:cNvSpPr>
            <a:spLocks xmlns:a="http://schemas.openxmlformats.org/drawingml/2006/main" noGrp="1"/>
          </p:cNvSpPr>
          <p:nvPr/>
        </p:nvSpPr>
        <p:spPr>
          <a:xfrm xmlns:a="http://schemas.openxmlformats.org/drawingml/2006/main">
            <a:off x="3228727" y="4744164"/>
            <a:ext cx="419348" cy="419348"/>
          </a:xfrm>
          <a:prstGeom xmlns:a="http://schemas.openxmlformats.org/drawingml/2006/main" prst="line">
            <a:avLst/>
          </a:prstGeom>
          <a:ln xmlns:a="http://schemas.openxmlformats.org/drawingml/2006/main" w="9525">
            <a:solidFill>
              <a:srgbClr val="20665B"/>
            </a:solidFill>
          </a:ln>
        </p:spPr>
      </p:sp>
      <p:sp>
        <p:nvSpPr>
          <p:cNvPr id="20" name="Winstarcering">
            <a:extLst xmlns:a="http://schemas.openxmlformats.org/drawingml/2006/main">
              <a:ext uri="{FF2B5EF4-FFF2-40B4-BE49-F238E27FC236}">
                <a16:creationId xmlns:a16="http://schemas.microsoft.com/office/drawing/2014/main" id="{0146D3A7-7CCE-4D55-8CDC-889BE0F371BB}"/>
              </a:ext>
            </a:extLst>
          </p:cNvPr>
          <p:cNvSpPr>
            <a:spLocks xmlns:a="http://schemas.openxmlformats.org/drawingml/2006/main" noGrp="1"/>
          </p:cNvSpPr>
          <p:nvPr/>
        </p:nvSpPr>
        <p:spPr>
          <a:xfrm xmlns:a="http://schemas.openxmlformats.org/drawingml/2006/main">
            <a:off x="3400177" y="4744164"/>
            <a:ext cx="419348" cy="419348"/>
          </a:xfrm>
          <a:prstGeom xmlns:a="http://schemas.openxmlformats.org/drawingml/2006/main" prst="line">
            <a:avLst/>
          </a:prstGeom>
          <a:ln xmlns:a="http://schemas.openxmlformats.org/drawingml/2006/main" w="9525">
            <a:solidFill>
              <a:srgbClr val="20665B"/>
            </a:solidFill>
          </a:ln>
        </p:spPr>
      </p:sp>
      <p:sp>
        <p:nvSpPr>
          <p:cNvPr id="21" name="Winstarcering">
            <a:extLst xmlns:a="http://schemas.openxmlformats.org/drawingml/2006/main">
              <a:ext uri="{FF2B5EF4-FFF2-40B4-BE49-F238E27FC236}">
                <a16:creationId xmlns:a16="http://schemas.microsoft.com/office/drawing/2014/main" id="{31559A2E-DC5A-4B3A-B260-F293EFC34194}"/>
              </a:ext>
            </a:extLst>
          </p:cNvPr>
          <p:cNvSpPr>
            <a:spLocks xmlns:a="http://schemas.openxmlformats.org/drawingml/2006/main" noGrp="1"/>
          </p:cNvSpPr>
          <p:nvPr/>
        </p:nvSpPr>
        <p:spPr>
          <a:xfrm xmlns:a="http://schemas.openxmlformats.org/drawingml/2006/main">
            <a:off x="3571627" y="4744164"/>
            <a:ext cx="419348" cy="419348"/>
          </a:xfrm>
          <a:prstGeom xmlns:a="http://schemas.openxmlformats.org/drawingml/2006/main" prst="line">
            <a:avLst/>
          </a:prstGeom>
          <a:ln xmlns:a="http://schemas.openxmlformats.org/drawingml/2006/main" w="9525">
            <a:solidFill>
              <a:srgbClr val="20665B"/>
            </a:solidFill>
          </a:ln>
        </p:spPr>
      </p:sp>
      <p:sp>
        <p:nvSpPr>
          <p:cNvPr id="22" name="Winstarcering">
            <a:extLst xmlns:a="http://schemas.openxmlformats.org/drawingml/2006/main">
              <a:ext uri="{FF2B5EF4-FFF2-40B4-BE49-F238E27FC236}">
                <a16:creationId xmlns:a16="http://schemas.microsoft.com/office/drawing/2014/main" id="{2AEBF0B5-13CD-4216-9290-70E1A9C697E4}"/>
              </a:ext>
            </a:extLst>
          </p:cNvPr>
          <p:cNvSpPr>
            <a:spLocks xmlns:a="http://schemas.openxmlformats.org/drawingml/2006/main" noGrp="1"/>
          </p:cNvSpPr>
          <p:nvPr/>
        </p:nvSpPr>
        <p:spPr>
          <a:xfrm xmlns:a="http://schemas.openxmlformats.org/drawingml/2006/main">
            <a:off x="3743077" y="4744164"/>
            <a:ext cx="419348" cy="419348"/>
          </a:xfrm>
          <a:prstGeom xmlns:a="http://schemas.openxmlformats.org/drawingml/2006/main" prst="line">
            <a:avLst/>
          </a:prstGeom>
          <a:ln xmlns:a="http://schemas.openxmlformats.org/drawingml/2006/main" w="9525">
            <a:solidFill>
              <a:srgbClr val="20665B"/>
            </a:solidFill>
          </a:ln>
        </p:spPr>
      </p:sp>
      <p:sp>
        <p:nvSpPr>
          <p:cNvPr id="23" name="Winstarcering">
            <a:extLst xmlns:a="http://schemas.openxmlformats.org/drawingml/2006/main">
              <a:ext uri="{FF2B5EF4-FFF2-40B4-BE49-F238E27FC236}">
                <a16:creationId xmlns:a16="http://schemas.microsoft.com/office/drawing/2014/main" id="{78E5BABF-3B96-472C-AB4F-3652D48C19BC}"/>
              </a:ext>
            </a:extLst>
          </p:cNvPr>
          <p:cNvSpPr>
            <a:spLocks xmlns:a="http://schemas.openxmlformats.org/drawingml/2006/main" noGrp="1"/>
          </p:cNvSpPr>
          <p:nvPr/>
        </p:nvSpPr>
        <p:spPr>
          <a:xfrm xmlns:a="http://schemas.openxmlformats.org/drawingml/2006/main">
            <a:off x="3914527" y="4744164"/>
            <a:ext cx="419348" cy="419348"/>
          </a:xfrm>
          <a:prstGeom xmlns:a="http://schemas.openxmlformats.org/drawingml/2006/main" prst="line">
            <a:avLst/>
          </a:prstGeom>
          <a:ln xmlns:a="http://schemas.openxmlformats.org/drawingml/2006/main" w="9525">
            <a:solidFill>
              <a:srgbClr val="20665B"/>
            </a:solidFill>
          </a:ln>
        </p:spPr>
      </p:sp>
      <p:sp>
        <p:nvSpPr>
          <p:cNvPr id="24" name="Winstarcering">
            <a:extLst xmlns:a="http://schemas.openxmlformats.org/drawingml/2006/main">
              <a:ext uri="{FF2B5EF4-FFF2-40B4-BE49-F238E27FC236}">
                <a16:creationId xmlns:a16="http://schemas.microsoft.com/office/drawing/2014/main" id="{E38F628F-DFB6-4DB8-825B-186BBA168B7A}"/>
              </a:ext>
            </a:extLst>
          </p:cNvPr>
          <p:cNvSpPr>
            <a:spLocks xmlns:a="http://schemas.openxmlformats.org/drawingml/2006/main" noGrp="1"/>
          </p:cNvSpPr>
          <p:nvPr/>
        </p:nvSpPr>
        <p:spPr>
          <a:xfrm xmlns:a="http://schemas.openxmlformats.org/drawingml/2006/main">
            <a:off x="4085977" y="4744164"/>
            <a:ext cx="419348" cy="419348"/>
          </a:xfrm>
          <a:prstGeom xmlns:a="http://schemas.openxmlformats.org/drawingml/2006/main" prst="line">
            <a:avLst/>
          </a:prstGeom>
          <a:ln xmlns:a="http://schemas.openxmlformats.org/drawingml/2006/main" w="9525">
            <a:solidFill>
              <a:srgbClr val="20665B"/>
            </a:solidFill>
          </a:ln>
        </p:spPr>
      </p:sp>
      <p:sp>
        <p:nvSpPr>
          <p:cNvPr id="25" name="Winstarcering">
            <a:extLst xmlns:a="http://schemas.openxmlformats.org/drawingml/2006/main">
              <a:ext uri="{FF2B5EF4-FFF2-40B4-BE49-F238E27FC236}">
                <a16:creationId xmlns:a16="http://schemas.microsoft.com/office/drawing/2014/main" id="{E29F6210-2E64-4CA8-8C43-FB7E57E5617B}"/>
              </a:ext>
            </a:extLst>
          </p:cNvPr>
          <p:cNvSpPr>
            <a:spLocks xmlns:a="http://schemas.openxmlformats.org/drawingml/2006/main" noGrp="1"/>
          </p:cNvSpPr>
          <p:nvPr/>
        </p:nvSpPr>
        <p:spPr>
          <a:xfrm xmlns:a="http://schemas.openxmlformats.org/drawingml/2006/main">
            <a:off x="4257427" y="4744164"/>
            <a:ext cx="419348" cy="419348"/>
          </a:xfrm>
          <a:prstGeom xmlns:a="http://schemas.openxmlformats.org/drawingml/2006/main" prst="line">
            <a:avLst/>
          </a:prstGeom>
          <a:ln xmlns:a="http://schemas.openxmlformats.org/drawingml/2006/main" w="9525">
            <a:solidFill>
              <a:srgbClr val="20665B"/>
            </a:solidFill>
          </a:ln>
        </p:spPr>
      </p:sp>
      <p:sp>
        <p:nvSpPr>
          <p:cNvPr id="26" name="Winstarcering">
            <a:extLst xmlns:a="http://schemas.openxmlformats.org/drawingml/2006/main">
              <a:ext uri="{FF2B5EF4-FFF2-40B4-BE49-F238E27FC236}">
                <a16:creationId xmlns:a16="http://schemas.microsoft.com/office/drawing/2014/main" id="{54B24F1E-F802-4722-B342-3CFA76DDBA60}"/>
              </a:ext>
            </a:extLst>
          </p:cNvPr>
          <p:cNvSpPr>
            <a:spLocks xmlns:a="http://schemas.openxmlformats.org/drawingml/2006/main" noGrp="1"/>
          </p:cNvSpPr>
          <p:nvPr/>
        </p:nvSpPr>
        <p:spPr>
          <a:xfrm xmlns:a="http://schemas.openxmlformats.org/drawingml/2006/main">
            <a:off x="4428877" y="4744164"/>
            <a:ext cx="419348" cy="419348"/>
          </a:xfrm>
          <a:prstGeom xmlns:a="http://schemas.openxmlformats.org/drawingml/2006/main" prst="line">
            <a:avLst/>
          </a:prstGeom>
          <a:ln xmlns:a="http://schemas.openxmlformats.org/drawingml/2006/main" w="9525">
            <a:solidFill>
              <a:srgbClr val="20665B"/>
            </a:solidFill>
          </a:ln>
        </p:spPr>
      </p:sp>
      <p:sp>
        <p:nvSpPr>
          <p:cNvPr id="27" name="Winstarcering">
            <a:extLst xmlns:a="http://schemas.openxmlformats.org/drawingml/2006/main">
              <a:ext uri="{FF2B5EF4-FFF2-40B4-BE49-F238E27FC236}">
                <a16:creationId xmlns:a16="http://schemas.microsoft.com/office/drawing/2014/main" id="{F6EF2F60-EB2D-4054-AB70-B7A114EE3A28}"/>
              </a:ext>
            </a:extLst>
          </p:cNvPr>
          <p:cNvSpPr>
            <a:spLocks xmlns:a="http://schemas.openxmlformats.org/drawingml/2006/main" noGrp="1"/>
          </p:cNvSpPr>
          <p:nvPr/>
        </p:nvSpPr>
        <p:spPr>
          <a:xfrm xmlns:a="http://schemas.openxmlformats.org/drawingml/2006/main">
            <a:off x="4600327" y="4744164"/>
            <a:ext cx="419348" cy="419348"/>
          </a:xfrm>
          <a:prstGeom xmlns:a="http://schemas.openxmlformats.org/drawingml/2006/main" prst="line">
            <a:avLst/>
          </a:prstGeom>
          <a:ln xmlns:a="http://schemas.openxmlformats.org/drawingml/2006/main" w="9525">
            <a:solidFill>
              <a:srgbClr val="20665B"/>
            </a:solidFill>
          </a:ln>
        </p:spPr>
      </p:sp>
      <p:sp>
        <p:nvSpPr>
          <p:cNvPr id="28" name="Winstarcering">
            <a:extLst xmlns:a="http://schemas.openxmlformats.org/drawingml/2006/main">
              <a:ext uri="{FF2B5EF4-FFF2-40B4-BE49-F238E27FC236}">
                <a16:creationId xmlns:a16="http://schemas.microsoft.com/office/drawing/2014/main" id="{EFC03ACC-5FF6-46D7-A4B5-A8AAA2BFD9C6}"/>
              </a:ext>
            </a:extLst>
          </p:cNvPr>
          <p:cNvSpPr>
            <a:spLocks xmlns:a="http://schemas.openxmlformats.org/drawingml/2006/main" noGrp="1"/>
          </p:cNvSpPr>
          <p:nvPr/>
        </p:nvSpPr>
        <p:spPr>
          <a:xfrm xmlns:a="http://schemas.openxmlformats.org/drawingml/2006/main">
            <a:off x="4771777" y="4744164"/>
            <a:ext cx="419348" cy="419348"/>
          </a:xfrm>
          <a:prstGeom xmlns:a="http://schemas.openxmlformats.org/drawingml/2006/main" prst="line">
            <a:avLst/>
          </a:prstGeom>
          <a:ln xmlns:a="http://schemas.openxmlformats.org/drawingml/2006/main" w="9525">
            <a:solidFill>
              <a:srgbClr val="20665B"/>
            </a:solidFill>
          </a:ln>
        </p:spPr>
      </p:sp>
      <p:sp>
        <p:nvSpPr>
          <p:cNvPr id="29" name="Winstarcering">
            <a:extLst xmlns:a="http://schemas.openxmlformats.org/drawingml/2006/main">
              <a:ext uri="{FF2B5EF4-FFF2-40B4-BE49-F238E27FC236}">
                <a16:creationId xmlns:a16="http://schemas.microsoft.com/office/drawing/2014/main" id="{F4CDB41C-0356-487C-90D9-D82F9C505BEF}"/>
              </a:ext>
            </a:extLst>
          </p:cNvPr>
          <p:cNvSpPr>
            <a:spLocks xmlns:a="http://schemas.openxmlformats.org/drawingml/2006/main" noGrp="1"/>
          </p:cNvSpPr>
          <p:nvPr/>
        </p:nvSpPr>
        <p:spPr>
          <a:xfrm xmlns:a="http://schemas.openxmlformats.org/drawingml/2006/main">
            <a:off x="4943227" y="4744164"/>
            <a:ext cx="419348" cy="419348"/>
          </a:xfrm>
          <a:prstGeom xmlns:a="http://schemas.openxmlformats.org/drawingml/2006/main" prst="line">
            <a:avLst/>
          </a:prstGeom>
          <a:ln xmlns:a="http://schemas.openxmlformats.org/drawingml/2006/main" w="9525">
            <a:solidFill>
              <a:srgbClr val="20665B"/>
            </a:solidFill>
          </a:ln>
        </p:spPr>
      </p:sp>
      <p:sp>
        <p:nvSpPr>
          <p:cNvPr id="30" name="Winstarcering">
            <a:extLst xmlns:a="http://schemas.openxmlformats.org/drawingml/2006/main">
              <a:ext uri="{FF2B5EF4-FFF2-40B4-BE49-F238E27FC236}">
                <a16:creationId xmlns:a16="http://schemas.microsoft.com/office/drawing/2014/main" id="{85A7BBF5-8ADE-4126-AB9A-5BBF6DB09C75}"/>
              </a:ext>
            </a:extLst>
          </p:cNvPr>
          <p:cNvSpPr>
            <a:spLocks xmlns:a="http://schemas.openxmlformats.org/drawingml/2006/main" noGrp="1"/>
          </p:cNvSpPr>
          <p:nvPr/>
        </p:nvSpPr>
        <p:spPr>
          <a:xfrm xmlns:a="http://schemas.openxmlformats.org/drawingml/2006/main">
            <a:off x="5114677" y="4744164"/>
            <a:ext cx="419348" cy="419348"/>
          </a:xfrm>
          <a:prstGeom xmlns:a="http://schemas.openxmlformats.org/drawingml/2006/main" prst="line">
            <a:avLst/>
          </a:prstGeom>
          <a:ln xmlns:a="http://schemas.openxmlformats.org/drawingml/2006/main" w="9525">
            <a:solidFill>
              <a:srgbClr val="20665B"/>
            </a:solidFill>
          </a:ln>
        </p:spPr>
      </p:sp>
      <p:sp>
        <p:nvSpPr>
          <p:cNvPr id="31" name="Winstarcering">
            <a:extLst xmlns:a="http://schemas.openxmlformats.org/drawingml/2006/main">
              <a:ext uri="{FF2B5EF4-FFF2-40B4-BE49-F238E27FC236}">
                <a16:creationId xmlns:a16="http://schemas.microsoft.com/office/drawing/2014/main" id="{EBA48984-2AE1-4AC5-BA73-8086FCDA3325}"/>
              </a:ext>
            </a:extLst>
          </p:cNvPr>
          <p:cNvSpPr>
            <a:spLocks xmlns:a="http://schemas.openxmlformats.org/drawingml/2006/main" noGrp="1"/>
          </p:cNvSpPr>
          <p:nvPr/>
        </p:nvSpPr>
        <p:spPr>
          <a:xfrm xmlns:a="http://schemas.openxmlformats.org/drawingml/2006/main">
            <a:off x="5286127" y="4744164"/>
            <a:ext cx="419348" cy="419348"/>
          </a:xfrm>
          <a:prstGeom xmlns:a="http://schemas.openxmlformats.org/drawingml/2006/main" prst="line">
            <a:avLst/>
          </a:prstGeom>
          <a:ln xmlns:a="http://schemas.openxmlformats.org/drawingml/2006/main" w="9525">
            <a:solidFill>
              <a:srgbClr val="20665B"/>
            </a:solidFill>
          </a:ln>
        </p:spPr>
      </p:sp>
      <p:sp>
        <p:nvSpPr>
          <p:cNvPr id="32" name="Winstarcering">
            <a:extLst xmlns:a="http://schemas.openxmlformats.org/drawingml/2006/main">
              <a:ext uri="{FF2B5EF4-FFF2-40B4-BE49-F238E27FC236}">
                <a16:creationId xmlns:a16="http://schemas.microsoft.com/office/drawing/2014/main" id="{45EC0607-0BB4-4EF5-AAE3-6A44F7AD7991}"/>
              </a:ext>
            </a:extLst>
          </p:cNvPr>
          <p:cNvSpPr>
            <a:spLocks xmlns:a="http://schemas.openxmlformats.org/drawingml/2006/main" noGrp="1"/>
          </p:cNvSpPr>
          <p:nvPr/>
        </p:nvSpPr>
        <p:spPr>
          <a:xfrm xmlns:a="http://schemas.openxmlformats.org/drawingml/2006/main">
            <a:off x="5457577" y="4744164"/>
            <a:ext cx="419348" cy="419348"/>
          </a:xfrm>
          <a:prstGeom xmlns:a="http://schemas.openxmlformats.org/drawingml/2006/main" prst="line">
            <a:avLst/>
          </a:prstGeom>
          <a:ln xmlns:a="http://schemas.openxmlformats.org/drawingml/2006/main" w="9525">
            <a:solidFill>
              <a:srgbClr val="20665B"/>
            </a:solidFill>
          </a:ln>
        </p:spPr>
      </p:sp>
      <p:sp>
        <p:nvSpPr>
          <p:cNvPr id="33" name="Winstarcering">
            <a:extLst xmlns:a="http://schemas.openxmlformats.org/drawingml/2006/main">
              <a:ext uri="{FF2B5EF4-FFF2-40B4-BE49-F238E27FC236}">
                <a16:creationId xmlns:a16="http://schemas.microsoft.com/office/drawing/2014/main" id="{19784EA1-E4EC-48E7-8236-827B92C15444}"/>
              </a:ext>
            </a:extLst>
          </p:cNvPr>
          <p:cNvSpPr>
            <a:spLocks xmlns:a="http://schemas.openxmlformats.org/drawingml/2006/main" noGrp="1"/>
          </p:cNvSpPr>
          <p:nvPr/>
        </p:nvSpPr>
        <p:spPr>
          <a:xfrm xmlns:a="http://schemas.openxmlformats.org/drawingml/2006/main">
            <a:off x="5629027" y="4744164"/>
            <a:ext cx="419348" cy="419348"/>
          </a:xfrm>
          <a:prstGeom xmlns:a="http://schemas.openxmlformats.org/drawingml/2006/main" prst="line">
            <a:avLst/>
          </a:prstGeom>
          <a:ln xmlns:a="http://schemas.openxmlformats.org/drawingml/2006/main" w="9525">
            <a:solidFill>
              <a:srgbClr val="20665B"/>
            </a:solidFill>
          </a:ln>
        </p:spPr>
      </p:sp>
      <p:sp>
        <p:nvSpPr>
          <p:cNvPr id="34" name="Winstarcering">
            <a:extLst xmlns:a="http://schemas.openxmlformats.org/drawingml/2006/main">
              <a:ext uri="{FF2B5EF4-FFF2-40B4-BE49-F238E27FC236}">
                <a16:creationId xmlns:a16="http://schemas.microsoft.com/office/drawing/2014/main" id="{29AE668A-0743-4292-BA56-ADE0C442FD73}"/>
              </a:ext>
            </a:extLst>
          </p:cNvPr>
          <p:cNvSpPr>
            <a:spLocks xmlns:a="http://schemas.openxmlformats.org/drawingml/2006/main" noGrp="1"/>
          </p:cNvSpPr>
          <p:nvPr/>
        </p:nvSpPr>
        <p:spPr>
          <a:xfrm xmlns:a="http://schemas.openxmlformats.org/drawingml/2006/main">
            <a:off x="5800477" y="4744164"/>
            <a:ext cx="419348" cy="419348"/>
          </a:xfrm>
          <a:prstGeom xmlns:a="http://schemas.openxmlformats.org/drawingml/2006/main" prst="line">
            <a:avLst/>
          </a:prstGeom>
          <a:ln xmlns:a="http://schemas.openxmlformats.org/drawingml/2006/main" w="9525">
            <a:solidFill>
              <a:srgbClr val="20665B"/>
            </a:solidFill>
          </a:ln>
        </p:spPr>
      </p:sp>
      <p:sp>
        <p:nvSpPr>
          <p:cNvPr id="35" name="Winstarcering">
            <a:extLst xmlns:a="http://schemas.openxmlformats.org/drawingml/2006/main">
              <a:ext uri="{FF2B5EF4-FFF2-40B4-BE49-F238E27FC236}">
                <a16:creationId xmlns:a16="http://schemas.microsoft.com/office/drawing/2014/main" id="{DEBB30B5-37CB-4E09-9576-A721AF6FB86A}"/>
              </a:ext>
            </a:extLst>
          </p:cNvPr>
          <p:cNvSpPr>
            <a:spLocks xmlns:a="http://schemas.openxmlformats.org/drawingml/2006/main" noGrp="1"/>
          </p:cNvSpPr>
          <p:nvPr/>
        </p:nvSpPr>
        <p:spPr>
          <a:xfrm xmlns:a="http://schemas.openxmlformats.org/drawingml/2006/main">
            <a:off x="5971927" y="4744164"/>
            <a:ext cx="419348" cy="419348"/>
          </a:xfrm>
          <a:prstGeom xmlns:a="http://schemas.openxmlformats.org/drawingml/2006/main" prst="line">
            <a:avLst/>
          </a:prstGeom>
          <a:ln xmlns:a="http://schemas.openxmlformats.org/drawingml/2006/main" w="9525">
            <a:solidFill>
              <a:srgbClr val="20665B"/>
            </a:solidFill>
          </a:ln>
        </p:spPr>
      </p:sp>
      <p:sp>
        <p:nvSpPr>
          <p:cNvPr id="36" name="Winstarcering">
            <a:extLst xmlns:a="http://schemas.openxmlformats.org/drawingml/2006/main">
              <a:ext uri="{FF2B5EF4-FFF2-40B4-BE49-F238E27FC236}">
                <a16:creationId xmlns:a16="http://schemas.microsoft.com/office/drawing/2014/main" id="{0C169524-26A6-4705-958C-8A3D4B72580F}"/>
              </a:ext>
            </a:extLst>
          </p:cNvPr>
          <p:cNvSpPr>
            <a:spLocks xmlns:a="http://schemas.openxmlformats.org/drawingml/2006/main" noGrp="1"/>
          </p:cNvSpPr>
          <p:nvPr/>
        </p:nvSpPr>
        <p:spPr>
          <a:xfrm xmlns:a="http://schemas.openxmlformats.org/drawingml/2006/main">
            <a:off x="6143377" y="4744164"/>
            <a:ext cx="419348" cy="419348"/>
          </a:xfrm>
          <a:prstGeom xmlns:a="http://schemas.openxmlformats.org/drawingml/2006/main" prst="line">
            <a:avLst/>
          </a:prstGeom>
          <a:ln xmlns:a="http://schemas.openxmlformats.org/drawingml/2006/main" w="9525">
            <a:solidFill>
              <a:srgbClr val="20665B"/>
            </a:solidFill>
          </a:ln>
        </p:spPr>
      </p:sp>
      <p:sp>
        <p:nvSpPr>
          <p:cNvPr id="37" name="Winstarcering">
            <a:extLst xmlns:a="http://schemas.openxmlformats.org/drawingml/2006/main">
              <a:ext uri="{FF2B5EF4-FFF2-40B4-BE49-F238E27FC236}">
                <a16:creationId xmlns:a16="http://schemas.microsoft.com/office/drawing/2014/main" id="{56C6894B-90C3-4CBA-8D0E-0F52CA9E7C1C}"/>
              </a:ext>
            </a:extLst>
          </p:cNvPr>
          <p:cNvSpPr>
            <a:spLocks xmlns:a="http://schemas.openxmlformats.org/drawingml/2006/main" noGrp="1"/>
          </p:cNvSpPr>
          <p:nvPr/>
        </p:nvSpPr>
        <p:spPr>
          <a:xfrm xmlns:a="http://schemas.openxmlformats.org/drawingml/2006/main">
            <a:off x="6314827" y="4744164"/>
            <a:ext cx="419348" cy="419348"/>
          </a:xfrm>
          <a:prstGeom xmlns:a="http://schemas.openxmlformats.org/drawingml/2006/main" prst="line">
            <a:avLst/>
          </a:prstGeom>
          <a:ln xmlns:a="http://schemas.openxmlformats.org/drawingml/2006/main" w="9525">
            <a:solidFill>
              <a:srgbClr val="20665B"/>
            </a:solidFill>
          </a:ln>
        </p:spPr>
      </p:sp>
      <p:sp>
        <p:nvSpPr>
          <p:cNvPr id="38" name="Winstarcering">
            <a:extLst xmlns:a="http://schemas.openxmlformats.org/drawingml/2006/main">
              <a:ext uri="{FF2B5EF4-FFF2-40B4-BE49-F238E27FC236}">
                <a16:creationId xmlns:a16="http://schemas.microsoft.com/office/drawing/2014/main" id="{D81B7D77-063E-4CE8-93A1-36A453406270}"/>
              </a:ext>
            </a:extLst>
          </p:cNvPr>
          <p:cNvSpPr>
            <a:spLocks xmlns:a="http://schemas.openxmlformats.org/drawingml/2006/main" noGrp="1"/>
          </p:cNvSpPr>
          <p:nvPr/>
        </p:nvSpPr>
        <p:spPr>
          <a:xfrm xmlns:a="http://schemas.openxmlformats.org/drawingml/2006/main">
            <a:off x="6486277" y="4744164"/>
            <a:ext cx="419348" cy="419348"/>
          </a:xfrm>
          <a:prstGeom xmlns:a="http://schemas.openxmlformats.org/drawingml/2006/main" prst="line">
            <a:avLst/>
          </a:prstGeom>
          <a:ln xmlns:a="http://schemas.openxmlformats.org/drawingml/2006/main" w="9525">
            <a:solidFill>
              <a:srgbClr val="20665B"/>
            </a:solidFill>
          </a:ln>
        </p:spPr>
      </p:sp>
      <p:sp>
        <p:nvSpPr>
          <p:cNvPr id="39" name="Winstarcering">
            <a:extLst xmlns:a="http://schemas.openxmlformats.org/drawingml/2006/main">
              <a:ext uri="{FF2B5EF4-FFF2-40B4-BE49-F238E27FC236}">
                <a16:creationId xmlns:a16="http://schemas.microsoft.com/office/drawing/2014/main" id="{64180285-21D6-49AB-B182-52C013077F8F}"/>
              </a:ext>
            </a:extLst>
          </p:cNvPr>
          <p:cNvSpPr>
            <a:spLocks xmlns:a="http://schemas.openxmlformats.org/drawingml/2006/main" noGrp="1"/>
          </p:cNvSpPr>
          <p:nvPr/>
        </p:nvSpPr>
        <p:spPr>
          <a:xfrm xmlns:a="http://schemas.openxmlformats.org/drawingml/2006/main">
            <a:off x="6657727" y="4744164"/>
            <a:ext cx="419348" cy="419348"/>
          </a:xfrm>
          <a:prstGeom xmlns:a="http://schemas.openxmlformats.org/drawingml/2006/main" prst="line">
            <a:avLst/>
          </a:prstGeom>
          <a:ln xmlns:a="http://schemas.openxmlformats.org/drawingml/2006/main" w="9525">
            <a:solidFill>
              <a:srgbClr val="20665B"/>
            </a:solidFill>
          </a:ln>
        </p:spPr>
      </p:sp>
      <p:sp>
        <p:nvSpPr>
          <p:cNvPr id="40" name="Winstarcering">
            <a:extLst xmlns:a="http://schemas.openxmlformats.org/drawingml/2006/main">
              <a:ext uri="{FF2B5EF4-FFF2-40B4-BE49-F238E27FC236}">
                <a16:creationId xmlns:a16="http://schemas.microsoft.com/office/drawing/2014/main" id="{0584AA3C-0FC8-4B3A-9CA8-27AB2D105707}"/>
              </a:ext>
            </a:extLst>
          </p:cNvPr>
          <p:cNvSpPr>
            <a:spLocks xmlns:a="http://schemas.openxmlformats.org/drawingml/2006/main" noGrp="1"/>
          </p:cNvSpPr>
          <p:nvPr/>
        </p:nvSpPr>
        <p:spPr>
          <a:xfrm xmlns:a="http://schemas.openxmlformats.org/drawingml/2006/main">
            <a:off x="6829177" y="4744164"/>
            <a:ext cx="419348" cy="419348"/>
          </a:xfrm>
          <a:prstGeom xmlns:a="http://schemas.openxmlformats.org/drawingml/2006/main" prst="line">
            <a:avLst/>
          </a:prstGeom>
          <a:ln xmlns:a="http://schemas.openxmlformats.org/drawingml/2006/main" w="9525">
            <a:solidFill>
              <a:srgbClr val="20665B"/>
            </a:solidFill>
          </a:ln>
        </p:spPr>
      </p:sp>
      <p:sp>
        <p:nvSpPr>
          <p:cNvPr id="41" name="Winstarcering">
            <a:extLst xmlns:a="http://schemas.openxmlformats.org/drawingml/2006/main">
              <a:ext uri="{FF2B5EF4-FFF2-40B4-BE49-F238E27FC236}">
                <a16:creationId xmlns:a16="http://schemas.microsoft.com/office/drawing/2014/main" id="{0E807EAB-010F-4665-8AAB-B7B1998A6A28}"/>
              </a:ext>
            </a:extLst>
          </p:cNvPr>
          <p:cNvSpPr>
            <a:spLocks xmlns:a="http://schemas.openxmlformats.org/drawingml/2006/main" noGrp="1"/>
          </p:cNvSpPr>
          <p:nvPr/>
        </p:nvSpPr>
        <p:spPr>
          <a:xfrm xmlns:a="http://schemas.openxmlformats.org/drawingml/2006/main">
            <a:off x="7000627" y="4744164"/>
            <a:ext cx="419348" cy="419348"/>
          </a:xfrm>
          <a:prstGeom xmlns:a="http://schemas.openxmlformats.org/drawingml/2006/main" prst="line">
            <a:avLst/>
          </a:prstGeom>
          <a:ln xmlns:a="http://schemas.openxmlformats.org/drawingml/2006/main" w="9525">
            <a:solidFill>
              <a:srgbClr val="20665B"/>
            </a:solidFill>
          </a:ln>
        </p:spPr>
      </p:sp>
      <p:sp>
        <p:nvSpPr>
          <p:cNvPr id="42" name="Winstarcering">
            <a:extLst xmlns:a="http://schemas.openxmlformats.org/drawingml/2006/main">
              <a:ext uri="{FF2B5EF4-FFF2-40B4-BE49-F238E27FC236}">
                <a16:creationId xmlns:a16="http://schemas.microsoft.com/office/drawing/2014/main" id="{9E3BBF90-A230-462E-B71A-E26459250761}"/>
              </a:ext>
            </a:extLst>
          </p:cNvPr>
          <p:cNvSpPr>
            <a:spLocks xmlns:a="http://schemas.openxmlformats.org/drawingml/2006/main" noGrp="1"/>
          </p:cNvSpPr>
          <p:nvPr/>
        </p:nvSpPr>
        <p:spPr>
          <a:xfrm xmlns:a="http://schemas.openxmlformats.org/drawingml/2006/main">
            <a:off x="7172077" y="4744164"/>
            <a:ext cx="419348" cy="419348"/>
          </a:xfrm>
          <a:prstGeom xmlns:a="http://schemas.openxmlformats.org/drawingml/2006/main" prst="line">
            <a:avLst/>
          </a:prstGeom>
          <a:ln xmlns:a="http://schemas.openxmlformats.org/drawingml/2006/main" w="9525">
            <a:solidFill>
              <a:srgbClr val="20665B"/>
            </a:solidFill>
          </a:ln>
        </p:spPr>
      </p:sp>
      <p:sp>
        <p:nvSpPr>
          <p:cNvPr id="43" name="Winstarcering">
            <a:extLst xmlns:a="http://schemas.openxmlformats.org/drawingml/2006/main">
              <a:ext uri="{FF2B5EF4-FFF2-40B4-BE49-F238E27FC236}">
                <a16:creationId xmlns:a16="http://schemas.microsoft.com/office/drawing/2014/main" id="{CDC79337-FB98-422E-AC5F-3CB930CDBA05}"/>
              </a:ext>
            </a:extLst>
          </p:cNvPr>
          <p:cNvSpPr>
            <a:spLocks xmlns:a="http://schemas.openxmlformats.org/drawingml/2006/main" noGrp="1"/>
          </p:cNvSpPr>
          <p:nvPr/>
        </p:nvSpPr>
        <p:spPr>
          <a:xfrm xmlns:a="http://schemas.openxmlformats.org/drawingml/2006/main">
            <a:off x="7343527" y="4744164"/>
            <a:ext cx="419348" cy="419348"/>
          </a:xfrm>
          <a:prstGeom xmlns:a="http://schemas.openxmlformats.org/drawingml/2006/main" prst="line">
            <a:avLst/>
          </a:prstGeom>
          <a:ln xmlns:a="http://schemas.openxmlformats.org/drawingml/2006/main" w="9525">
            <a:solidFill>
              <a:srgbClr val="20665B"/>
            </a:solidFill>
          </a:ln>
        </p:spPr>
      </p:sp>
      <p:sp>
        <p:nvSpPr>
          <p:cNvPr id="44" name="Winstarcering">
            <a:extLst xmlns:a="http://schemas.openxmlformats.org/drawingml/2006/main">
              <a:ext uri="{FF2B5EF4-FFF2-40B4-BE49-F238E27FC236}">
                <a16:creationId xmlns:a16="http://schemas.microsoft.com/office/drawing/2014/main" id="{70D67C6C-09E5-4A96-8765-D697E047E1EC}"/>
              </a:ext>
            </a:extLst>
          </p:cNvPr>
          <p:cNvSpPr>
            <a:spLocks xmlns:a="http://schemas.openxmlformats.org/drawingml/2006/main" noGrp="1"/>
          </p:cNvSpPr>
          <p:nvPr/>
        </p:nvSpPr>
        <p:spPr>
          <a:xfrm xmlns:a="http://schemas.openxmlformats.org/drawingml/2006/main">
            <a:off x="7514977" y="4744164"/>
            <a:ext cx="387201" cy="387201"/>
          </a:xfrm>
          <a:prstGeom xmlns:a="http://schemas.openxmlformats.org/drawingml/2006/main" prst="line">
            <a:avLst/>
          </a:prstGeom>
          <a:ln xmlns:a="http://schemas.openxmlformats.org/drawingml/2006/main" w="9525">
            <a:solidFill>
              <a:srgbClr val="20665B"/>
            </a:solidFill>
          </a:ln>
        </p:spPr>
      </p:sp>
      <p:sp>
        <p:nvSpPr>
          <p:cNvPr id="45" name="Winstarcering">
            <a:extLst xmlns:a="http://schemas.openxmlformats.org/drawingml/2006/main">
              <a:ext uri="{FF2B5EF4-FFF2-40B4-BE49-F238E27FC236}">
                <a16:creationId xmlns:a16="http://schemas.microsoft.com/office/drawing/2014/main" id="{15AB4435-2919-4E01-B415-1F43C98608EE}"/>
              </a:ext>
            </a:extLst>
          </p:cNvPr>
          <p:cNvSpPr>
            <a:spLocks xmlns:a="http://schemas.openxmlformats.org/drawingml/2006/main" noGrp="1"/>
          </p:cNvSpPr>
          <p:nvPr/>
        </p:nvSpPr>
        <p:spPr>
          <a:xfrm xmlns:a="http://schemas.openxmlformats.org/drawingml/2006/main">
            <a:off x="7686427" y="4744164"/>
            <a:ext cx="215751" cy="215751"/>
          </a:xfrm>
          <a:prstGeom xmlns:a="http://schemas.openxmlformats.org/drawingml/2006/main" prst="line">
            <a:avLst/>
          </a:prstGeom>
          <a:ln xmlns:a="http://schemas.openxmlformats.org/drawingml/2006/main" w="9525">
            <a:solidFill>
              <a:srgbClr val="20665B"/>
            </a:solidFill>
          </a:ln>
        </p:spPr>
      </p:sp>
      <p:sp>
        <p:nvSpPr>
          <p:cNvPr id="46" name="Winstarcering">
            <a:extLst xmlns:a="http://schemas.openxmlformats.org/drawingml/2006/main">
              <a:ext uri="{FF2B5EF4-FFF2-40B4-BE49-F238E27FC236}">
                <a16:creationId xmlns:a16="http://schemas.microsoft.com/office/drawing/2014/main" id="{4B71F111-EFE3-484C-8256-D37143CD9A15}"/>
              </a:ext>
            </a:extLst>
          </p:cNvPr>
          <p:cNvSpPr>
            <a:spLocks xmlns:a="http://schemas.openxmlformats.org/drawingml/2006/main" noGrp="1"/>
          </p:cNvSpPr>
          <p:nvPr/>
        </p:nvSpPr>
        <p:spPr>
          <a:xfrm xmlns:a="http://schemas.openxmlformats.org/drawingml/2006/main">
            <a:off x="7857877" y="4744164"/>
            <a:ext cx="44301" cy="44301"/>
          </a:xfrm>
          <a:prstGeom xmlns:a="http://schemas.openxmlformats.org/drawingml/2006/main" prst="line">
            <a:avLst/>
          </a:prstGeom>
          <a:ln xmlns:a="http://schemas.openxmlformats.org/drawingml/2006/main" w="9525">
            <a:solidFill>
              <a:srgbClr val="20665B"/>
            </a:solidFill>
          </a:ln>
        </p:spPr>
      </p:sp>
      <p:sp>
        <p:nvSpPr>
          <p:cNvPr id="47" name="Winst = € 125&#10;per week">
            <a:extLst xmlns:a="http://schemas.openxmlformats.org/drawingml/2006/main">
              <a:ext uri="{FF2B5EF4-FFF2-40B4-BE49-F238E27FC236}">
                <a16:creationId xmlns:a16="http://schemas.microsoft.com/office/drawing/2014/main" id="{69571A09-3263-427D-B3F0-29D89173D9E8}"/>
              </a:ext>
            </a:extLst>
          </p:cNvPr>
          <p:cNvSpPr>
            <a:spLocks xmlns:a="http://schemas.openxmlformats.org/drawingml/2006/main" noGrp="1"/>
          </p:cNvSpPr>
          <p:nvPr/>
        </p:nvSpPr>
        <p:spPr>
          <a:xfrm xmlns:a="http://schemas.openxmlformats.org/drawingml/2006/main">
            <a:off x="10858500" y="276225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Winst = € 125</a:t>
            </a:r>
          </a:p>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per week</a:t>
            </a:r>
          </a:p>
        </p:txBody>
      </p:sp>
      <p:sp>
        <p:nvSpPr>
          <p:cNvPr id="48" name="Breedte: 75 kg/week">
            <a:extLst xmlns:a="http://schemas.openxmlformats.org/drawingml/2006/main">
              <a:ext uri="{FF2B5EF4-FFF2-40B4-BE49-F238E27FC236}">
                <a16:creationId xmlns:a16="http://schemas.microsoft.com/office/drawing/2014/main" id="{4391D578-BEEB-4C1A-8179-FC05B5100DF4}"/>
              </a:ext>
            </a:extLst>
          </p:cNvPr>
          <p:cNvSpPr>
            <a:spLocks xmlns:a="http://schemas.openxmlformats.org/drawingml/2006/main" noGrp="1"/>
          </p:cNvSpPr>
          <p:nvPr/>
        </p:nvSpPr>
        <p:spPr>
          <a:xfrm xmlns:a="http://schemas.openxmlformats.org/drawingml/2006/main">
            <a:off x="10858500" y="4162425"/>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Breedte: 75 kg/week</a:t>
            </a:r>
          </a:p>
        </p:txBody>
      </p:sp>
      <p:sp>
        <p:nvSpPr>
          <p:cNvPr id="49" name="Hoogte:&#10;€ 1,666… per kg">
            <a:extLst xmlns:a="http://schemas.openxmlformats.org/drawingml/2006/main">
              <a:ext uri="{FF2B5EF4-FFF2-40B4-BE49-F238E27FC236}">
                <a16:creationId xmlns:a16="http://schemas.microsoft.com/office/drawing/2014/main" id="{C1B2E4F7-DAED-4912-8BC3-04E26953A400}"/>
              </a:ext>
            </a:extLst>
          </p:cNvPr>
          <p:cNvSpPr>
            <a:spLocks xmlns:a="http://schemas.openxmlformats.org/drawingml/2006/main" noGrp="1"/>
          </p:cNvSpPr>
          <p:nvPr/>
        </p:nvSpPr>
        <p:spPr>
          <a:xfrm xmlns:a="http://schemas.openxmlformats.org/drawingml/2006/main">
            <a:off x="10858500" y="556260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Hoogte:</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€ 1,666… per kg</a:t>
            </a:r>
          </a:p>
        </p:txBody>
      </p:sp>
    </p:spTree>
    <p:extLst>
      <p:ext uri="{BB962C8B-B14F-4D97-AF65-F5344CB8AC3E}">
        <p14:creationId xmlns:p14="http://schemas.microsoft.com/office/powerpoint/2010/main" val="7738437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ls de capaciteit maar 60 kg is">
            <a:extLst xmlns:a="http://schemas.openxmlformats.org/drawingml/2006/main">
              <a:ext uri="{FF2B5EF4-FFF2-40B4-BE49-F238E27FC236}">
                <a16:creationId xmlns:a16="http://schemas.microsoft.com/office/drawing/2014/main" id="{73FDD853-D23A-4215-9830-A2A48638C5FD}"/>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Als de capaciteit maar 60 kg is</a:t>
            </a:r>
          </a:p>
        </p:txBody>
      </p:sp>
      <p:sp>
        <p:nvSpPr>
          <p:cNvPr id="2" name="">
            <a:extLst xmlns:a="http://schemas.openxmlformats.org/drawingml/2006/main">
              <a:ext uri="{FF2B5EF4-FFF2-40B4-BE49-F238E27FC236}">
                <a16:creationId xmlns:a16="http://schemas.microsoft.com/office/drawing/2014/main" id="{DEE36F8C-84FD-4511-9095-EBB24800CAF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Uitlegvoorbeeld — niet uit het boek">
            <a:extLst xmlns:a="http://schemas.openxmlformats.org/drawingml/2006/main">
              <a:ext uri="{FF2B5EF4-FFF2-40B4-BE49-F238E27FC236}">
                <a16:creationId xmlns:a16="http://schemas.microsoft.com/office/drawing/2014/main" id="{9C84589B-E75F-42F1-9607-BA9FBD5999C7}"/>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Uitlegvoorbeeld — niet uit het boek</a:t>
            </a:r>
          </a:p>
        </p:txBody>
      </p:sp>
      <p:sp>
        <p:nvSpPr>
          <p:cNvPr id="4" name="10">
            <a:extLst xmlns:a="http://schemas.openxmlformats.org/drawingml/2006/main">
              <a:ext uri="{FF2B5EF4-FFF2-40B4-BE49-F238E27FC236}">
                <a16:creationId xmlns:a16="http://schemas.microsoft.com/office/drawing/2014/main" id="{6721E045-BFD0-4787-87B1-4FDA9208252E}"/>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P, GO, MO, MK (€ per kg)">
            <a:extLst xmlns:a="http://schemas.openxmlformats.org/drawingml/2006/main">
              <a:ext uri="{FF2B5EF4-FFF2-40B4-BE49-F238E27FC236}">
                <a16:creationId xmlns:a16="http://schemas.microsoft.com/office/drawing/2014/main" id="{68D8A6F6-B0AA-445F-A85D-447326473ED1}"/>
              </a:ext>
            </a:extLst>
          </p:cNvPr>
          <p:cNvSpPr>
            <a:spLocks xmlns:a="http://schemas.openxmlformats.org/drawingml/2006/main" noGrp="1"/>
          </p:cNvSpPr>
          <p:nvPr/>
        </p:nvSpPr>
        <p:spPr>
          <a:xfrm xmlns:a="http://schemas.openxmlformats.org/drawingml/2006/main">
            <a:off x="762000" y="1857375"/>
            <a:ext cx="971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P, GO, MO, MK (€ per kg)</a:t>
            </a:r>
          </a:p>
        </p:txBody>
      </p:sp>
      <p:graphicFrame>
        <p:nvGraphicFramePr>
          <p:cNvPr id="15" name="Chart"/>
          <p:cNvGraphicFramePr/>
          <p:nvPr/>
        </p:nvGraphicFramePr>
        <p:xfrm>
          <a:off xmlns:a="http://schemas.openxmlformats.org/drawingml/2006/main" x="666750" y="2476500"/>
          <a:ext xmlns:a="http://schemas.openxmlformats.org/drawingml/2006/main" cx="9810750" cy="5095875"/>
        </p:xfrm>
        <a:graphic xmlns:a="http://schemas.openxmlformats.org/drawingml/2006/main">
          <a:graphicData uri="http://schemas.openxmlformats.org/drawingml/2006/chart">
            <c:chart xmlns:r="http://schemas.openxmlformats.org/officeDocument/2006/relationships" xmlns:c="http://schemas.openxmlformats.org/drawingml/2006/chart" r:id="R8bab5ac00f584022"/>
          </a:graphicData>
        </a:graphic>
      </p:graphicFrame>
      <p:sp>
        <p:nvSpPr>
          <p:cNvPr id="7" name="75 kg is onhaalbaar.">
            <a:extLst xmlns:a="http://schemas.openxmlformats.org/drawingml/2006/main">
              <a:ext uri="{FF2B5EF4-FFF2-40B4-BE49-F238E27FC236}">
                <a16:creationId xmlns:a16="http://schemas.microsoft.com/office/drawing/2014/main" id="{AD4238E7-FC76-4CB3-B667-C28EEC788FF8}"/>
              </a:ext>
            </a:extLst>
          </p:cNvPr>
          <p:cNvSpPr>
            <a:spLocks xmlns:a="http://schemas.openxmlformats.org/drawingml/2006/main" noGrp="1"/>
          </p:cNvSpPr>
          <p:nvPr/>
        </p:nvSpPr>
        <p:spPr>
          <a:xfrm xmlns:a="http://schemas.openxmlformats.org/drawingml/2006/main">
            <a:off x="10858500" y="276225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75 kg is onhaalbaar.</a:t>
            </a:r>
          </a:p>
        </p:txBody>
      </p:sp>
      <p:sp>
        <p:nvSpPr>
          <p:cNvPr id="8" name="MK(60) = € 6,80&#10;MO = € 8 per kg">
            <a:extLst xmlns:a="http://schemas.openxmlformats.org/drawingml/2006/main">
              <a:ext uri="{FF2B5EF4-FFF2-40B4-BE49-F238E27FC236}">
                <a16:creationId xmlns:a16="http://schemas.microsoft.com/office/drawing/2014/main" id="{9BF254E4-C477-4EF3-BE1B-83B6CECBBF3A}"/>
              </a:ext>
            </a:extLst>
          </p:cNvPr>
          <p:cNvSpPr>
            <a:spLocks xmlns:a="http://schemas.openxmlformats.org/drawingml/2006/main" noGrp="1"/>
          </p:cNvSpPr>
          <p:nvPr/>
        </p:nvSpPr>
        <p:spPr>
          <a:xfrm xmlns:a="http://schemas.openxmlformats.org/drawingml/2006/main">
            <a:off x="10858500" y="4162425"/>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MK(60) = € 6,80</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MO = € 8 per kg</a:t>
            </a:r>
          </a:p>
        </p:txBody>
      </p:sp>
      <p:sp>
        <p:nvSpPr>
          <p:cNvPr id="9" name="Winst stijgt tot 60.&#10;Dus q = 60 kg/week.">
            <a:extLst xmlns:a="http://schemas.openxmlformats.org/drawingml/2006/main">
              <a:ext uri="{FF2B5EF4-FFF2-40B4-BE49-F238E27FC236}">
                <a16:creationId xmlns:a16="http://schemas.microsoft.com/office/drawing/2014/main" id="{E4A6C1D6-2730-4D22-BB53-2C72049091EF}"/>
              </a:ext>
            </a:extLst>
          </p:cNvPr>
          <p:cNvSpPr>
            <a:spLocks xmlns:a="http://schemas.openxmlformats.org/drawingml/2006/main" noGrp="1"/>
          </p:cNvSpPr>
          <p:nvPr/>
        </p:nvSpPr>
        <p:spPr>
          <a:xfrm xmlns:a="http://schemas.openxmlformats.org/drawingml/2006/main">
            <a:off x="10858500" y="556260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Winst stijgt tot 60.</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Dus q = 60 kg/week.</a:t>
            </a:r>
          </a:p>
        </p:txBody>
      </p:sp>
    </p:spTree>
    <p:extLst>
      <p:ext uri="{BB962C8B-B14F-4D97-AF65-F5344CB8AC3E}">
        <p14:creationId xmlns:p14="http://schemas.microsoft.com/office/powerpoint/2010/main" val="198806942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Niet produceren: de kosten blijven deels bestaan">
            <a:extLst xmlns:a="http://schemas.openxmlformats.org/drawingml/2006/main">
              <a:ext uri="{FF2B5EF4-FFF2-40B4-BE49-F238E27FC236}">
                <a16:creationId xmlns:a16="http://schemas.microsoft.com/office/drawing/2014/main" id="{433EC658-7F76-4F98-9580-64430604874A}"/>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Niet produceren: de kosten blijven deels bestaan</a:t>
            </a:r>
          </a:p>
        </p:txBody>
      </p:sp>
      <p:sp>
        <p:nvSpPr>
          <p:cNvPr id="2" name="">
            <a:extLst xmlns:a="http://schemas.openxmlformats.org/drawingml/2006/main">
              <a:ext uri="{FF2B5EF4-FFF2-40B4-BE49-F238E27FC236}">
                <a16:creationId xmlns:a16="http://schemas.microsoft.com/office/drawing/2014/main" id="{4F26777B-B2DC-4ECB-80BE-818620A6B1C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Winstmaximalisatie bij volkomen concurrentie">
            <a:extLst xmlns:a="http://schemas.openxmlformats.org/drawingml/2006/main">
              <a:ext uri="{FF2B5EF4-FFF2-40B4-BE49-F238E27FC236}">
                <a16:creationId xmlns:a16="http://schemas.microsoft.com/office/drawing/2014/main" id="{E1FD37A6-6BE0-4A32-A3A2-8AEE9FDB5683}"/>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Winstmaximalisatie bij volkomen concurrentie</a:t>
            </a:r>
          </a:p>
        </p:txBody>
      </p:sp>
      <p:sp>
        <p:nvSpPr>
          <p:cNvPr id="4" name="11">
            <a:extLst xmlns:a="http://schemas.openxmlformats.org/drawingml/2006/main">
              <a:ext uri="{FF2B5EF4-FFF2-40B4-BE49-F238E27FC236}">
                <a16:creationId xmlns:a16="http://schemas.microsoft.com/office/drawing/2014/main" id="{1F146B78-5DD3-42E4-AC08-83F5D5C6AA10}"/>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a:extLst xmlns:a="http://schemas.openxmlformats.org/drawingml/2006/main">
              <a:ext uri="{FF2B5EF4-FFF2-40B4-BE49-F238E27FC236}">
                <a16:creationId xmlns:a16="http://schemas.microsoft.com/office/drawing/2014/main" id="{8FB36099-4BDA-4429-93BA-506FE01BA509}"/>
              </a:ext>
            </a:extLst>
          </p:cNvPr>
          <p:cNvSpPr>
            <a:spLocks xmlns:a="http://schemas.openxmlformats.org/drawingml/2006/main" noGrp="1"/>
          </p:cNvSpPr>
          <p:nvPr/>
        </p:nvSpPr>
        <p:spPr>
          <a:xfrm xmlns:a="http://schemas.openxmlformats.org/drawingml/2006/main">
            <a:off x="571500" y="17240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3" name=""/>
          <p:cNvGraphicFramePr/>
          <p:nvPr/>
        </p:nvGraphicFramePr>
        <p:xfrm>
          <a:off xmlns:a="http://schemas.openxmlformats.org/drawingml/2006/main" x="571500" y="2971800"/>
          <a:ext xmlns:a="http://schemas.openxmlformats.org/drawingml/2006/main" cx="14097000" cy="2647950"/>
        </p:xfrm>
        <a:graphic xmlns:a="http://schemas.openxmlformats.org/drawingml/2006/main">
          <a:graphicData uri="http://schemas.openxmlformats.org/drawingml/2006/table">
            <a:tbl>
              <a:tblPr/>
              <a:tblGrid>
                <a:gridCol w="4095750"/>
                <a:gridCol w="3333750"/>
                <a:gridCol w="3333750"/>
                <a:gridCol w="3333750"/>
              </a:tblGrid>
              <a:tr h="882650">
                <a:tc>
                  <a:txBody>
                    <a:bodyPr lIns="171450" tIns="95250" rIns="133350" bIns="95250"/>
                    <a:lstStyle/>
                    <a:p>
                      <a:r>
                        <a:rPr sz="2475" b="1">
                          <a:solidFill>
                            <a:srgbClr val="FFFFFF"/>
                          </a:solidFill>
                          <a:latin typeface="Arial"/>
                          <a:ea typeface="Arial"/>
                          <a:cs typeface="Arial"/>
                        </a:rPr>
                        <a:t>Productie</a:t>
                      </a:r>
                    </a:p>
                  </a:txBody>
                  <a:tcPr marL="91440" marR="91440" marT="45720" marB="45720" anchor="ctr">
                    <a:solidFill>
                      <a:srgbClr val="183247"/>
                    </a:solidFill>
                  </a:tcPr>
                </a:tc>
                <a:tc>
                  <a:txBody>
                    <a:bodyPr lIns="171450" tIns="95250" rIns="133350" bIns="95250"/>
                    <a:lstStyle/>
                    <a:p>
                      <a:r>
                        <a:rPr sz="2475" b="1">
                          <a:solidFill>
                            <a:srgbClr val="FFFFFF"/>
                          </a:solidFill>
                          <a:latin typeface="Arial"/>
                          <a:ea typeface="Arial"/>
                          <a:cs typeface="Arial"/>
                        </a:rPr>
                        <a:t>TO (€ per week)</a:t>
                      </a:r>
                    </a:p>
                  </a:txBody>
                  <a:tcPr marL="91440" marR="91440" marT="45720" marB="45720" anchor="ctr">
                    <a:solidFill>
                      <a:srgbClr val="183247"/>
                    </a:solidFill>
                  </a:tcPr>
                </a:tc>
                <a:tc>
                  <a:txBody>
                    <a:bodyPr lIns="171450" tIns="95250" rIns="133350" bIns="95250"/>
                    <a:lstStyle/>
                    <a:p>
                      <a:r>
                        <a:rPr sz="2475" b="1">
                          <a:solidFill>
                            <a:srgbClr val="FFFFFF"/>
                          </a:solidFill>
                          <a:latin typeface="Arial"/>
                          <a:ea typeface="Arial"/>
                          <a:cs typeface="Arial"/>
                        </a:rPr>
                        <a:t>TK (€ per week)</a:t>
                      </a:r>
                    </a:p>
                  </a:txBody>
                  <a:tcPr marL="91440" marR="91440" marT="45720" marB="45720" anchor="ctr">
                    <a:solidFill>
                      <a:srgbClr val="183247"/>
                    </a:solidFill>
                  </a:tcPr>
                </a:tc>
                <a:tc>
                  <a:txBody>
                    <a:bodyPr lIns="171450" tIns="95250" rIns="133350" bIns="95250"/>
                    <a:lstStyle/>
                    <a:p>
                      <a:r>
                        <a:rPr sz="2475" b="1">
                          <a:solidFill>
                            <a:srgbClr val="FFFFFF"/>
                          </a:solidFill>
                          <a:latin typeface="Arial"/>
                          <a:ea typeface="Arial"/>
                          <a:cs typeface="Arial"/>
                        </a:rPr>
                        <a:t>Winst (€ per week)</a:t>
                      </a:r>
                    </a:p>
                  </a:txBody>
                  <a:tcPr marL="91440" marR="91440" marT="45720" marB="45720" anchor="ctr">
                    <a:solidFill>
                      <a:srgbClr val="183247"/>
                    </a:solidFill>
                  </a:tcPr>
                </a:tc>
              </a:tr>
              <a:tr h="882650">
                <a:tc>
                  <a:txBody>
                    <a:bodyPr lIns="171450" tIns="95250" rIns="133350" bIns="95250"/>
                    <a:lstStyle/>
                    <a:p>
                      <a:r>
                        <a:rPr sz="2475" b="0">
                          <a:solidFill>
                            <a:srgbClr val="183247"/>
                          </a:solidFill>
                          <a:latin typeface="Arial"/>
                          <a:ea typeface="Arial"/>
                          <a:cs typeface="Arial"/>
                        </a:rPr>
                        <a:t>q = 0</a:t>
                      </a:r>
                    </a:p>
                  </a:txBody>
                  <a:tcPr marL="91440" marR="91440" marT="45720" marB="45720" anchor="ctr">
                    <a:solidFill>
                      <a:srgbClr val="FFFFFF"/>
                    </a:solidFill>
                  </a:tcPr>
                </a:tc>
                <a:tc>
                  <a:txBody>
                    <a:bodyPr lIns="171450" tIns="95250" rIns="133350" bIns="95250"/>
                    <a:lstStyle/>
                    <a:p>
                      <a:r>
                        <a:rPr sz="2475" b="0">
                          <a:solidFill>
                            <a:srgbClr val="183247"/>
                          </a:solidFill>
                          <a:latin typeface="Arial"/>
                          <a:ea typeface="Arial"/>
                          <a:cs typeface="Arial"/>
                        </a:rPr>
                        <a:t>0</a:t>
                      </a:r>
                    </a:p>
                  </a:txBody>
                  <a:tcPr marL="91440" marR="91440" marT="45720" marB="45720" anchor="ctr">
                    <a:solidFill>
                      <a:srgbClr val="FFFFFF"/>
                    </a:solidFill>
                  </a:tcPr>
                </a:tc>
                <a:tc>
                  <a:txBody>
                    <a:bodyPr lIns="171450" tIns="95250" rIns="133350" bIns="95250"/>
                    <a:lstStyle/>
                    <a:p>
                      <a:r>
                        <a:rPr sz="2475" b="0">
                          <a:solidFill>
                            <a:srgbClr val="183247"/>
                          </a:solidFill>
                          <a:latin typeface="Arial"/>
                          <a:ea typeface="Arial"/>
                          <a:cs typeface="Arial"/>
                        </a:rPr>
                        <a:t>100</a:t>
                      </a:r>
                    </a:p>
                  </a:txBody>
                  <a:tcPr marL="91440" marR="91440" marT="45720" marB="45720" anchor="ctr">
                    <a:solidFill>
                      <a:srgbClr val="FFFFFF"/>
                    </a:solidFill>
                  </a:tcPr>
                </a:tc>
                <a:tc>
                  <a:txBody>
                    <a:bodyPr lIns="171450" tIns="95250" rIns="133350" bIns="95250"/>
                    <a:lstStyle/>
                    <a:p>
                      <a:r>
                        <a:rPr sz="2475" b="0">
                          <a:solidFill>
                            <a:srgbClr val="183247"/>
                          </a:solidFill>
                          <a:latin typeface="Arial"/>
                          <a:ea typeface="Arial"/>
                          <a:cs typeface="Arial"/>
                        </a:rPr>
                        <a:t>−100</a:t>
                      </a:r>
                    </a:p>
                  </a:txBody>
                  <a:tcPr marL="91440" marR="91440" marT="45720" marB="45720" anchor="ctr">
                    <a:solidFill>
                      <a:srgbClr val="FFFFFF"/>
                    </a:solidFill>
                  </a:tcPr>
                </a:tc>
              </a:tr>
              <a:tr h="882650">
                <a:tc>
                  <a:txBody>
                    <a:bodyPr lIns="171450" tIns="95250" rIns="133350" bIns="95250"/>
                    <a:lstStyle/>
                    <a:p>
                      <a:r>
                        <a:rPr sz="2475" b="0">
                          <a:solidFill>
                            <a:srgbClr val="183247"/>
                          </a:solidFill>
                          <a:latin typeface="Arial"/>
                          <a:ea typeface="Arial"/>
                          <a:cs typeface="Arial"/>
                        </a:rPr>
                        <a:t>q = 75</a:t>
                      </a:r>
                    </a:p>
                  </a:txBody>
                  <a:tcPr marL="91440" marR="91440" marT="45720" marB="45720" anchor="ctr">
                    <a:solidFill>
                      <a:srgbClr val="EFF4F7"/>
                    </a:solidFill>
                  </a:tcPr>
                </a:tc>
                <a:tc>
                  <a:txBody>
                    <a:bodyPr lIns="171450" tIns="95250" rIns="133350" bIns="95250"/>
                    <a:lstStyle/>
                    <a:p>
                      <a:r>
                        <a:rPr sz="2475" b="0">
                          <a:solidFill>
                            <a:srgbClr val="183247"/>
                          </a:solidFill>
                          <a:latin typeface="Arial"/>
                          <a:ea typeface="Arial"/>
                          <a:cs typeface="Arial"/>
                        </a:rPr>
                        <a:t>600</a:t>
                      </a:r>
                    </a:p>
                  </a:txBody>
                  <a:tcPr marL="91440" marR="91440" marT="45720" marB="45720" anchor="ctr">
                    <a:solidFill>
                      <a:srgbClr val="EFF4F7"/>
                    </a:solidFill>
                  </a:tcPr>
                </a:tc>
                <a:tc>
                  <a:txBody>
                    <a:bodyPr lIns="171450" tIns="95250" rIns="133350" bIns="95250"/>
                    <a:lstStyle/>
                    <a:p>
                      <a:r>
                        <a:rPr sz="2475" b="0">
                          <a:solidFill>
                            <a:srgbClr val="183247"/>
                          </a:solidFill>
                          <a:latin typeface="Arial"/>
                          <a:ea typeface="Arial"/>
                          <a:cs typeface="Arial"/>
                        </a:rPr>
                        <a:t>475</a:t>
                      </a:r>
                    </a:p>
                  </a:txBody>
                  <a:tcPr marL="91440" marR="91440" marT="45720" marB="45720" anchor="ctr">
                    <a:solidFill>
                      <a:srgbClr val="EFF4F7"/>
                    </a:solidFill>
                  </a:tcPr>
                </a:tc>
                <a:tc>
                  <a:txBody>
                    <a:bodyPr lIns="171450" tIns="95250" rIns="133350" bIns="95250"/>
                    <a:lstStyle/>
                    <a:p>
                      <a:r>
                        <a:rPr sz="2475" b="0">
                          <a:solidFill>
                            <a:srgbClr val="183247"/>
                          </a:solidFill>
                          <a:latin typeface="Arial"/>
                          <a:ea typeface="Arial"/>
                          <a:cs typeface="Arial"/>
                        </a:rPr>
                        <a:t>125</a:t>
                      </a:r>
                    </a:p>
                  </a:txBody>
                  <a:tcPr marL="91440" marR="91440" marT="45720" marB="45720" anchor="ctr">
                    <a:solidFill>
                      <a:srgbClr val="EFF4F7"/>
                    </a:solidFill>
                  </a:tcPr>
                </a:tc>
              </a:tr>
            </a:tbl>
          </a:graphicData>
        </a:graphic>
      </p:graphicFrame>
      <p:sp>
        <p:nvSpPr>
          <p:cNvPr id="7" name="Bij de oorspronkelijke capaciteit van 100 kg is 75 kg beter dan 0">
            <a:extLst xmlns:a="http://schemas.openxmlformats.org/drawingml/2006/main">
              <a:ext uri="{FF2B5EF4-FFF2-40B4-BE49-F238E27FC236}">
                <a16:creationId xmlns:a16="http://schemas.microsoft.com/office/drawing/2014/main" id="{435B7D58-A36F-4161-8BFF-A2F584755346}"/>
              </a:ext>
            </a:extLst>
          </p:cNvPr>
          <p:cNvSpPr>
            <a:spLocks xmlns:a="http://schemas.openxmlformats.org/drawingml/2006/main" noGrp="1"/>
          </p:cNvSpPr>
          <p:nvPr/>
        </p:nvSpPr>
        <p:spPr>
          <a:xfrm xmlns:a="http://schemas.openxmlformats.org/drawingml/2006/main">
            <a:off x="571500" y="6324600"/>
            <a:ext cx="14097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Bij de oorspronkelijke capaciteit van 100 kg is 75 kg beter dan 0.</a:t>
            </a:r>
          </a:p>
        </p:txBody>
      </p:sp>
    </p:spTree>
    <p:extLst>
      <p:ext uri="{BB962C8B-B14F-4D97-AF65-F5344CB8AC3E}">
        <p14:creationId xmlns:p14="http://schemas.microsoft.com/office/powerpoint/2010/main" val="70639843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Prijs en constante kosten werken verschillend">
            <a:extLst xmlns:a="http://schemas.openxmlformats.org/drawingml/2006/main">
              <a:ext uri="{FF2B5EF4-FFF2-40B4-BE49-F238E27FC236}">
                <a16:creationId xmlns:a16="http://schemas.microsoft.com/office/drawing/2014/main" id="{ABFB0DF8-E1AE-40BC-AC21-585C052A0B64}"/>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Prijs en constante kosten werken verschillend</a:t>
            </a:r>
          </a:p>
        </p:txBody>
      </p:sp>
      <p:sp>
        <p:nvSpPr>
          <p:cNvPr id="2" name="">
            <a:extLst xmlns:a="http://schemas.openxmlformats.org/drawingml/2006/main">
              <a:ext uri="{FF2B5EF4-FFF2-40B4-BE49-F238E27FC236}">
                <a16:creationId xmlns:a16="http://schemas.microsoft.com/office/drawing/2014/main" id="{22296822-7851-49AC-AA1D-871DC257DE3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Winstmaximalisatie bij volkomen concurrentie">
            <a:extLst xmlns:a="http://schemas.openxmlformats.org/drawingml/2006/main">
              <a:ext uri="{FF2B5EF4-FFF2-40B4-BE49-F238E27FC236}">
                <a16:creationId xmlns:a16="http://schemas.microsoft.com/office/drawing/2014/main" id="{911F4155-F194-4819-9432-E16C57B74399}"/>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Winstmaximalisatie bij volkomen concurrentie</a:t>
            </a:r>
          </a:p>
        </p:txBody>
      </p:sp>
      <p:sp>
        <p:nvSpPr>
          <p:cNvPr id="4" name="12">
            <a:extLst xmlns:a="http://schemas.openxmlformats.org/drawingml/2006/main">
              <a:ext uri="{FF2B5EF4-FFF2-40B4-BE49-F238E27FC236}">
                <a16:creationId xmlns:a16="http://schemas.microsoft.com/office/drawing/2014/main" id="{FDE0094F-34AE-40D1-BA55-39BA91F88951}"/>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a:extLst xmlns:a="http://schemas.openxmlformats.org/drawingml/2006/main">
              <a:ext uri="{FF2B5EF4-FFF2-40B4-BE49-F238E27FC236}">
                <a16:creationId xmlns:a16="http://schemas.microsoft.com/office/drawing/2014/main" id="{CCF61CA6-A374-41FD-BF4C-7F6A2FFE9074}"/>
              </a:ext>
            </a:extLst>
          </p:cNvPr>
          <p:cNvSpPr>
            <a:spLocks xmlns:a="http://schemas.openxmlformats.org/drawingml/2006/main" noGrp="1"/>
          </p:cNvSpPr>
          <p:nvPr/>
        </p:nvSpPr>
        <p:spPr>
          <a:xfrm xmlns:a="http://schemas.openxmlformats.org/drawingml/2006/main">
            <a:off x="571500" y="17240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3" name=""/>
          <p:cNvGraphicFramePr/>
          <p:nvPr/>
        </p:nvGraphicFramePr>
        <p:xfrm>
          <a:off xmlns:a="http://schemas.openxmlformats.org/drawingml/2006/main" x="571500" y="2914650"/>
          <a:ext xmlns:a="http://schemas.openxmlformats.org/drawingml/2006/main" cx="14097000" cy="2790825"/>
        </p:xfrm>
        <a:graphic xmlns:a="http://schemas.openxmlformats.org/drawingml/2006/main">
          <a:graphicData uri="http://schemas.openxmlformats.org/drawingml/2006/table">
            <a:tbl>
              <a:tblPr/>
              <a:tblGrid>
                <a:gridCol w="5857875"/>
                <a:gridCol w="4095750"/>
                <a:gridCol w="4143375"/>
              </a:tblGrid>
              <a:tr h="930275">
                <a:tc>
                  <a:txBody>
                    <a:bodyPr lIns="171450" tIns="95250" rIns="133350" bIns="95250"/>
                    <a:lstStyle/>
                    <a:p>
                      <a:r>
                        <a:rPr sz="2325" b="1">
                          <a:solidFill>
                            <a:srgbClr val="FFFFFF"/>
                          </a:solidFill>
                          <a:latin typeface="Arial"/>
                          <a:ea typeface="Arial"/>
                          <a:cs typeface="Arial"/>
                        </a:rPr>
                        <a:t>Eén verandering tegelijk</a:t>
                      </a:r>
                    </a:p>
                  </a:txBody>
                  <a:tcPr marL="91440" marR="91440" marT="45720" marB="45720" anchor="ctr">
                    <a:solidFill>
                      <a:srgbClr val="183247"/>
                    </a:solidFill>
                  </a:tcPr>
                </a:tc>
                <a:tc>
                  <a:txBody>
                    <a:bodyPr lIns="171450" tIns="95250" rIns="133350" bIns="95250"/>
                    <a:lstStyle/>
                    <a:p>
                      <a:r>
                        <a:rPr sz="2325" b="1">
                          <a:solidFill>
                            <a:srgbClr val="FFFFFF"/>
                          </a:solidFill>
                          <a:latin typeface="Arial"/>
                          <a:ea typeface="Arial"/>
                          <a:cs typeface="Arial"/>
                        </a:rPr>
                        <a:t>MO en MK</a:t>
                      </a:r>
                    </a:p>
                  </a:txBody>
                  <a:tcPr marL="91440" marR="91440" marT="45720" marB="45720" anchor="ctr">
                    <a:solidFill>
                      <a:srgbClr val="183247"/>
                    </a:solidFill>
                  </a:tcPr>
                </a:tc>
                <a:tc>
                  <a:txBody>
                    <a:bodyPr lIns="171450" tIns="95250" rIns="133350" bIns="95250"/>
                    <a:lstStyle/>
                    <a:p>
                      <a:r>
                        <a:rPr sz="2325" b="1">
                          <a:solidFill>
                            <a:srgbClr val="FFFFFF"/>
                          </a:solidFill>
                          <a:latin typeface="Arial"/>
                          <a:ea typeface="Arial"/>
                          <a:cs typeface="Arial"/>
                        </a:rPr>
                        <a:t>Beste q bij capaciteit 100</a:t>
                      </a:r>
                    </a:p>
                  </a:txBody>
                  <a:tcPr marL="91440" marR="91440" marT="45720" marB="45720" anchor="ctr">
                    <a:solidFill>
                      <a:srgbClr val="183247"/>
                    </a:solidFill>
                  </a:tcPr>
                </a:tc>
              </a:tr>
              <a:tr h="930275">
                <a:tc>
                  <a:txBody>
                    <a:bodyPr lIns="171450" tIns="95250" rIns="133350" bIns="95250"/>
                    <a:lstStyle/>
                    <a:p>
                      <a:r>
                        <a:rPr sz="2325" b="0">
                          <a:solidFill>
                            <a:srgbClr val="183247"/>
                          </a:solidFill>
                          <a:latin typeface="Arial"/>
                          <a:ea typeface="Arial"/>
                          <a:cs typeface="Arial"/>
                        </a:rPr>
                        <a:t>Alleen P stijgt van 8 naar 10</a:t>
                      </a:r>
                    </a:p>
                  </a:txBody>
                  <a:tcPr marL="91440" marR="91440" marT="45720" marB="45720" anchor="ctr">
                    <a:solidFill>
                      <a:srgbClr val="FFFFFF"/>
                    </a:solidFill>
                  </a:tcPr>
                </a:tc>
                <a:tc>
                  <a:txBody>
                    <a:bodyPr lIns="171450" tIns="95250" rIns="133350" bIns="95250"/>
                    <a:lstStyle/>
                    <a:p>
                      <a:r>
                        <a:rPr sz="2325" b="0">
                          <a:solidFill>
                            <a:srgbClr val="183247"/>
                          </a:solidFill>
                          <a:latin typeface="Arial"/>
                          <a:ea typeface="Arial"/>
                          <a:cs typeface="Arial"/>
                        </a:rPr>
                        <a:t>MO = 10; MK = 0,08q + 2</a:t>
                      </a:r>
                    </a:p>
                  </a:txBody>
                  <a:tcPr marL="91440" marR="91440" marT="45720" marB="45720" anchor="ctr">
                    <a:solidFill>
                      <a:srgbClr val="FFFFFF"/>
                    </a:solidFill>
                  </a:tcPr>
                </a:tc>
                <a:tc>
                  <a:txBody>
                    <a:bodyPr lIns="171450" tIns="95250" rIns="133350" bIns="95250"/>
                    <a:lstStyle/>
                    <a:p>
                      <a:r>
                        <a:rPr sz="2325" b="0">
                          <a:solidFill>
                            <a:srgbClr val="183247"/>
                          </a:solidFill>
                          <a:latin typeface="Arial"/>
                          <a:ea typeface="Arial"/>
                          <a:cs typeface="Arial"/>
                        </a:rPr>
                        <a:t>q = 100 kg/week</a:t>
                      </a:r>
                    </a:p>
                  </a:txBody>
                  <a:tcPr marL="91440" marR="91440" marT="45720" marB="45720" anchor="ctr">
                    <a:solidFill>
                      <a:srgbClr val="FFFFFF"/>
                    </a:solidFill>
                  </a:tcPr>
                </a:tc>
              </a:tr>
              <a:tr h="930275">
                <a:tc>
                  <a:txBody>
                    <a:bodyPr lIns="171450" tIns="95250" rIns="133350" bIns="95250"/>
                    <a:lstStyle/>
                    <a:p>
                      <a:r>
                        <a:rPr sz="2325" b="0">
                          <a:solidFill>
                            <a:srgbClr val="183247"/>
                          </a:solidFill>
                          <a:latin typeface="Arial"/>
                          <a:ea typeface="Arial"/>
                          <a:cs typeface="Arial"/>
                        </a:rPr>
                        <a:t>Alleen vaste kosten: 100 naar 180</a:t>
                      </a:r>
                    </a:p>
                  </a:txBody>
                  <a:tcPr marL="91440" marR="91440" marT="45720" marB="45720" anchor="ctr">
                    <a:solidFill>
                      <a:srgbClr val="EFF4F7"/>
                    </a:solidFill>
                  </a:tcPr>
                </a:tc>
                <a:tc>
                  <a:txBody>
                    <a:bodyPr lIns="171450" tIns="95250" rIns="133350" bIns="95250"/>
                    <a:lstStyle/>
                    <a:p>
                      <a:r>
                        <a:rPr sz="2325" b="0">
                          <a:solidFill>
                            <a:srgbClr val="183247"/>
                          </a:solidFill>
                          <a:latin typeface="Arial"/>
                          <a:ea typeface="Arial"/>
                          <a:cs typeface="Arial"/>
                        </a:rPr>
                        <a:t>MO = 8; MK blijft 0,08q + 2</a:t>
                      </a:r>
                    </a:p>
                  </a:txBody>
                  <a:tcPr marL="91440" marR="91440" marT="45720" marB="45720" anchor="ctr">
                    <a:solidFill>
                      <a:srgbClr val="EFF4F7"/>
                    </a:solidFill>
                  </a:tcPr>
                </a:tc>
                <a:tc>
                  <a:txBody>
                    <a:bodyPr lIns="171450" tIns="95250" rIns="133350" bIns="95250"/>
                    <a:lstStyle/>
                    <a:p>
                      <a:r>
                        <a:rPr sz="2325" b="0">
                          <a:solidFill>
                            <a:srgbClr val="183247"/>
                          </a:solidFill>
                          <a:latin typeface="Arial"/>
                          <a:ea typeface="Arial"/>
                          <a:cs typeface="Arial"/>
                        </a:rPr>
                        <a:t>q blijft 75 kg/week</a:t>
                      </a:r>
                    </a:p>
                  </a:txBody>
                  <a:tcPr marL="91440" marR="91440" marT="45720" marB="45720" anchor="ctr">
                    <a:solidFill>
                      <a:srgbClr val="EFF4F7"/>
                    </a:solidFill>
                  </a:tcPr>
                </a:tc>
              </a:tr>
            </a:tbl>
          </a:graphicData>
        </a:graphic>
      </p:graphicFrame>
      <p:sp>
        <p:nvSpPr>
          <p:cNvPr id="7" name="Hogere vaste kosten verlagen de winst bij dezelfde q met € 80.">
            <a:extLst xmlns:a="http://schemas.openxmlformats.org/drawingml/2006/main">
              <a:ext uri="{FF2B5EF4-FFF2-40B4-BE49-F238E27FC236}">
                <a16:creationId xmlns:a16="http://schemas.microsoft.com/office/drawing/2014/main" id="{F400A31D-2B21-4683-AE8E-34A9ADB8401A}"/>
              </a:ext>
            </a:extLst>
          </p:cNvPr>
          <p:cNvSpPr>
            <a:spLocks xmlns:a="http://schemas.openxmlformats.org/drawingml/2006/main" noGrp="1"/>
          </p:cNvSpPr>
          <p:nvPr/>
        </p:nvSpPr>
        <p:spPr>
          <a:xfrm xmlns:a="http://schemas.openxmlformats.org/drawingml/2006/main">
            <a:off x="571500" y="6343650"/>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Hogere vaste kosten verlagen de winst bij dezelfde q met € 80.</a:t>
            </a:r>
          </a:p>
        </p:txBody>
      </p:sp>
    </p:spTree>
    <p:extLst>
      <p:ext uri="{BB962C8B-B14F-4D97-AF65-F5344CB8AC3E}">
        <p14:creationId xmlns:p14="http://schemas.microsoft.com/office/powerpoint/2010/main" val="13959872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Korte controle: is de laagste GTK het beste?">
            <a:extLst xmlns:a="http://schemas.openxmlformats.org/drawingml/2006/main">
              <a:ext uri="{FF2B5EF4-FFF2-40B4-BE49-F238E27FC236}">
                <a16:creationId xmlns:a16="http://schemas.microsoft.com/office/drawing/2014/main" id="{FB4F2EB0-C4D3-4448-8DC0-69F9A52878BC}"/>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Korte controle: is de laagste GTK het beste?</a:t>
            </a:r>
          </a:p>
        </p:txBody>
      </p:sp>
      <p:sp>
        <p:nvSpPr>
          <p:cNvPr id="2" name="">
            <a:extLst xmlns:a="http://schemas.openxmlformats.org/drawingml/2006/main">
              <a:ext uri="{FF2B5EF4-FFF2-40B4-BE49-F238E27FC236}">
                <a16:creationId xmlns:a16="http://schemas.microsoft.com/office/drawing/2014/main" id="{F71655F0-E0B1-4C4B-A942-B595B1CAD81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Winstmaximalisatie bij volkomen concurrentie">
            <a:extLst xmlns:a="http://schemas.openxmlformats.org/drawingml/2006/main">
              <a:ext uri="{FF2B5EF4-FFF2-40B4-BE49-F238E27FC236}">
                <a16:creationId xmlns:a16="http://schemas.microsoft.com/office/drawing/2014/main" id="{E2F76E91-0E7E-4801-AEDF-538709FDCF7C}"/>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Winstmaximalisatie bij volkomen concurrentie</a:t>
            </a:r>
          </a:p>
        </p:txBody>
      </p:sp>
      <p:sp>
        <p:nvSpPr>
          <p:cNvPr id="4" name="13">
            <a:extLst xmlns:a="http://schemas.openxmlformats.org/drawingml/2006/main">
              <a:ext uri="{FF2B5EF4-FFF2-40B4-BE49-F238E27FC236}">
                <a16:creationId xmlns:a16="http://schemas.microsoft.com/office/drawing/2014/main" id="{D3DA7489-0017-4AC9-B8B6-66821F1278F6}"/>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a:extLst xmlns:a="http://schemas.openxmlformats.org/drawingml/2006/main">
              <a:ext uri="{FF2B5EF4-FFF2-40B4-BE49-F238E27FC236}">
                <a16:creationId xmlns:a16="http://schemas.microsoft.com/office/drawing/2014/main" id="{E05E34C6-D30D-4CED-99CC-E42B6913AB34}"/>
              </a:ext>
            </a:extLst>
          </p:cNvPr>
          <p:cNvSpPr>
            <a:spLocks xmlns:a="http://schemas.openxmlformats.org/drawingml/2006/main" noGrp="1"/>
          </p:cNvSpPr>
          <p:nvPr/>
        </p:nvSpPr>
        <p:spPr>
          <a:xfrm xmlns:a="http://schemas.openxmlformats.org/drawingml/2006/main">
            <a:off x="571500" y="17240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3" name=""/>
          <p:cNvGraphicFramePr/>
          <p:nvPr/>
        </p:nvGraphicFramePr>
        <p:xfrm>
          <a:off xmlns:a="http://schemas.openxmlformats.org/drawingml/2006/main" x="571500" y="3086100"/>
          <a:ext xmlns:a="http://schemas.openxmlformats.org/drawingml/2006/main" cx="14097000" cy="2581275"/>
        </p:xfrm>
        <a:graphic xmlns:a="http://schemas.openxmlformats.org/drawingml/2006/main">
          <a:graphicData uri="http://schemas.openxmlformats.org/drawingml/2006/table">
            <a:tbl>
              <a:tblPr/>
              <a:tblGrid>
                <a:gridCol w="4095750"/>
                <a:gridCol w="5000625"/>
                <a:gridCol w="5000625"/>
              </a:tblGrid>
              <a:tr h="860425">
                <a:tc>
                  <a:txBody>
                    <a:bodyPr lIns="171450" tIns="95250" rIns="133350" bIns="95250"/>
                    <a:lstStyle/>
                    <a:p>
                      <a:r>
                        <a:rPr sz="2625" b="1">
                          <a:solidFill>
                            <a:srgbClr val="FFFFFF"/>
                          </a:solidFill>
                          <a:latin typeface="Arial"/>
                          <a:ea typeface="Arial"/>
                          <a:cs typeface="Arial"/>
                        </a:rPr>
                        <a:t>q (kg/week)</a:t>
                      </a:r>
                    </a:p>
                  </a:txBody>
                  <a:tcPr marL="91440" marR="91440" marT="45720" marB="45720" anchor="ctr">
                    <a:solidFill>
                      <a:srgbClr val="183247"/>
                    </a:solidFill>
                  </a:tcPr>
                </a:tc>
                <a:tc>
                  <a:txBody>
                    <a:bodyPr lIns="171450" tIns="95250" rIns="133350" bIns="95250"/>
                    <a:lstStyle/>
                    <a:p>
                      <a:r>
                        <a:rPr sz="2625" b="1">
                          <a:solidFill>
                            <a:srgbClr val="FFFFFF"/>
                          </a:solidFill>
                          <a:latin typeface="Arial"/>
                          <a:ea typeface="Arial"/>
                          <a:cs typeface="Arial"/>
                        </a:rPr>
                        <a:t>GTK (€ per kg)</a:t>
                      </a:r>
                    </a:p>
                  </a:txBody>
                  <a:tcPr marL="91440" marR="91440" marT="45720" marB="45720" anchor="ctr">
                    <a:solidFill>
                      <a:srgbClr val="183247"/>
                    </a:solidFill>
                  </a:tcPr>
                </a:tc>
                <a:tc>
                  <a:txBody>
                    <a:bodyPr lIns="171450" tIns="95250" rIns="133350" bIns="95250"/>
                    <a:lstStyle/>
                    <a:p>
                      <a:r>
                        <a:rPr sz="2625" b="1">
                          <a:solidFill>
                            <a:srgbClr val="FFFFFF"/>
                          </a:solidFill>
                          <a:latin typeface="Arial"/>
                          <a:ea typeface="Arial"/>
                          <a:cs typeface="Arial"/>
                        </a:rPr>
                        <a:t>Totale winst (€ per week)</a:t>
                      </a:r>
                    </a:p>
                  </a:txBody>
                  <a:tcPr marL="91440" marR="91440" marT="45720" marB="45720" anchor="ctr">
                    <a:solidFill>
                      <a:srgbClr val="183247"/>
                    </a:solidFill>
                  </a:tcPr>
                </a:tc>
              </a:tr>
              <a:tr h="860425">
                <a:tc>
                  <a:txBody>
                    <a:bodyPr lIns="171450" tIns="95250" rIns="133350" bIns="95250"/>
                    <a:lstStyle/>
                    <a:p>
                      <a:r>
                        <a:rPr sz="2625" b="0">
                          <a:solidFill>
                            <a:srgbClr val="183247"/>
                          </a:solidFill>
                          <a:latin typeface="Arial"/>
                          <a:ea typeface="Arial"/>
                          <a:cs typeface="Arial"/>
                        </a:rPr>
                        <a:t>50</a:t>
                      </a:r>
                    </a:p>
                  </a:txBody>
                  <a:tcPr marL="91440" marR="91440" marT="45720" marB="45720" anchor="ctr">
                    <a:solidFill>
                      <a:srgbClr val="FFFFFF"/>
                    </a:solidFill>
                  </a:tcPr>
                </a:tc>
                <a:tc>
                  <a:txBody>
                    <a:bodyPr lIns="171450" tIns="95250" rIns="133350" bIns="95250"/>
                    <a:lstStyle/>
                    <a:p>
                      <a:r>
                        <a:rPr sz="2625" b="0">
                          <a:solidFill>
                            <a:srgbClr val="183247"/>
                          </a:solidFill>
                          <a:latin typeface="Arial"/>
                          <a:ea typeface="Arial"/>
                          <a:cs typeface="Arial"/>
                        </a:rPr>
                        <a:t>6,00</a:t>
                      </a:r>
                    </a:p>
                  </a:txBody>
                  <a:tcPr marL="91440" marR="91440" marT="45720" marB="45720" anchor="ctr">
                    <a:solidFill>
                      <a:srgbClr val="FFFFFF"/>
                    </a:solidFill>
                  </a:tcPr>
                </a:tc>
                <a:tc>
                  <a:txBody>
                    <a:bodyPr lIns="171450" tIns="95250" rIns="133350" bIns="95250"/>
                    <a:lstStyle/>
                    <a:p>
                      <a:r>
                        <a:rPr sz="2625" b="0">
                          <a:solidFill>
                            <a:srgbClr val="183247"/>
                          </a:solidFill>
                          <a:latin typeface="Arial"/>
                          <a:ea typeface="Arial"/>
                          <a:cs typeface="Arial"/>
                        </a:rPr>
                        <a:t>100</a:t>
                      </a:r>
                    </a:p>
                  </a:txBody>
                  <a:tcPr marL="91440" marR="91440" marT="45720" marB="45720" anchor="ctr">
                    <a:solidFill>
                      <a:srgbClr val="FFFFFF"/>
                    </a:solidFill>
                  </a:tcPr>
                </a:tc>
              </a:tr>
              <a:tr h="860425">
                <a:tc>
                  <a:txBody>
                    <a:bodyPr lIns="171450" tIns="95250" rIns="133350" bIns="95250"/>
                    <a:lstStyle/>
                    <a:p>
                      <a:r>
                        <a:rPr sz="2625" b="0">
                          <a:solidFill>
                            <a:srgbClr val="183247"/>
                          </a:solidFill>
                          <a:latin typeface="Arial"/>
                          <a:ea typeface="Arial"/>
                          <a:cs typeface="Arial"/>
                        </a:rPr>
                        <a:t>75</a:t>
                      </a:r>
                    </a:p>
                  </a:txBody>
                  <a:tcPr marL="91440" marR="91440" marT="45720" marB="45720" anchor="ctr">
                    <a:solidFill>
                      <a:srgbClr val="EFF4F7"/>
                    </a:solidFill>
                  </a:tcPr>
                </a:tc>
                <a:tc>
                  <a:txBody>
                    <a:bodyPr lIns="171450" tIns="95250" rIns="133350" bIns="95250"/>
                    <a:lstStyle/>
                    <a:p>
                      <a:r>
                        <a:rPr sz="2625" b="0">
                          <a:solidFill>
                            <a:srgbClr val="183247"/>
                          </a:solidFill>
                          <a:latin typeface="Arial"/>
                          <a:ea typeface="Arial"/>
                          <a:cs typeface="Arial"/>
                        </a:rPr>
                        <a:t>6,333…</a:t>
                      </a:r>
                    </a:p>
                  </a:txBody>
                  <a:tcPr marL="91440" marR="91440" marT="45720" marB="45720" anchor="ctr">
                    <a:solidFill>
                      <a:srgbClr val="EFF4F7"/>
                    </a:solidFill>
                  </a:tcPr>
                </a:tc>
                <a:tc>
                  <a:txBody>
                    <a:bodyPr lIns="171450" tIns="95250" rIns="133350" bIns="95250"/>
                    <a:lstStyle/>
                    <a:p>
                      <a:r>
                        <a:rPr sz="2625" b="0">
                          <a:solidFill>
                            <a:srgbClr val="183247"/>
                          </a:solidFill>
                          <a:latin typeface="Arial"/>
                          <a:ea typeface="Arial"/>
                          <a:cs typeface="Arial"/>
                        </a:rPr>
                        <a:t>125</a:t>
                      </a:r>
                    </a:p>
                  </a:txBody>
                  <a:tcPr marL="91440" marR="91440" marT="45720" marB="45720" anchor="ctr">
                    <a:solidFill>
                      <a:srgbClr val="EFF4F7"/>
                    </a:solidFill>
                  </a:tcPr>
                </a:tc>
              </a:tr>
            </a:tbl>
          </a:graphicData>
        </a:graphic>
      </p:graphicFrame>
      <p:sp>
        <p:nvSpPr>
          <p:cNvPr id="7" name="Welke productie kies je bij P = € 8 en capaciteit 100? Waarom?">
            <a:extLst xmlns:a="http://schemas.openxmlformats.org/drawingml/2006/main">
              <a:ext uri="{FF2B5EF4-FFF2-40B4-BE49-F238E27FC236}">
                <a16:creationId xmlns:a16="http://schemas.microsoft.com/office/drawing/2014/main" id="{5A763D26-97C6-443F-BE70-3F35DA1D64EC}"/>
              </a:ext>
            </a:extLst>
          </p:cNvPr>
          <p:cNvSpPr>
            <a:spLocks xmlns:a="http://schemas.openxmlformats.org/drawingml/2006/main" noGrp="1"/>
          </p:cNvSpPr>
          <p:nvPr/>
        </p:nvSpPr>
        <p:spPr>
          <a:xfrm xmlns:a="http://schemas.openxmlformats.org/drawingml/2006/main">
            <a:off x="571500" y="6562725"/>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Welke productie kies je bij P = € 8 en capaciteit 100? Waarom?</a:t>
            </a:r>
          </a:p>
        </p:txBody>
      </p:sp>
    </p:spTree>
    <p:extLst>
      <p:ext uri="{BB962C8B-B14F-4D97-AF65-F5344CB8AC3E}">
        <p14:creationId xmlns:p14="http://schemas.microsoft.com/office/powerpoint/2010/main" val="128208112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2.3 Winstmaximalisatie bij volkomen concurrentie">
            <a:extLst xmlns:a="http://schemas.openxmlformats.org/drawingml/2006/main">
              <a:ext uri="{FF2B5EF4-FFF2-40B4-BE49-F238E27FC236}">
                <a16:creationId xmlns:a16="http://schemas.microsoft.com/office/drawing/2014/main" id="{E78C3519-B792-49E9-9ABC-BA7CB6E71FA1}"/>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Deze les: §3.2.3 Winstmaximalisatie bij volkomen concurrentie</a:t>
            </a:r>
          </a:p>
        </p:txBody>
      </p:sp>
      <p:sp>
        <p:nvSpPr>
          <p:cNvPr id="2" name="">
            <a:extLst xmlns:a="http://schemas.openxmlformats.org/drawingml/2006/main">
              <a:ext uri="{FF2B5EF4-FFF2-40B4-BE49-F238E27FC236}">
                <a16:creationId xmlns:a16="http://schemas.microsoft.com/office/drawing/2014/main" id="{CA7F7A60-3F32-4554-B4D9-DEFDF749BFF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Winstmaximalisatie bij volkomen concurrentie">
            <a:extLst xmlns:a="http://schemas.openxmlformats.org/drawingml/2006/main">
              <a:ext uri="{FF2B5EF4-FFF2-40B4-BE49-F238E27FC236}">
                <a16:creationId xmlns:a16="http://schemas.microsoft.com/office/drawing/2014/main" id="{8EAEF32D-E052-477B-927A-F46592FC0FAB}"/>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Winstmaximalisatie bij volkomen concurrentie</a:t>
            </a:r>
          </a:p>
        </p:txBody>
      </p:sp>
      <p:sp>
        <p:nvSpPr>
          <p:cNvPr id="4" name="14">
            <a:extLst xmlns:a="http://schemas.openxmlformats.org/drawingml/2006/main">
              <a:ext uri="{FF2B5EF4-FFF2-40B4-BE49-F238E27FC236}">
                <a16:creationId xmlns:a16="http://schemas.microsoft.com/office/drawing/2014/main" id="{BD793A9C-933A-401F-B91C-086407EA7814}"/>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phase">
            <a:extLst xmlns:a="http://schemas.openxmlformats.org/drawingml/2006/main">
              <a:ext uri="{FF2B5EF4-FFF2-40B4-BE49-F238E27FC236}">
                <a16:creationId xmlns:a16="http://schemas.microsoft.com/office/drawing/2014/main" id="{B77698CF-4AA7-476D-AAFA-C78EEA0393A2}"/>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A936CBC9-8745-4497-B2BE-C8CD49DDC0E8}"/>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5FEE58B-1CE6-42AE-845D-2E3376E9A82A}"/>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F6A72AB0-EC86-4EF6-99CC-7544BBBA60B1}"/>
              </a:ext>
            </a:extLst>
          </p:cNvPr>
          <p:cNvSpPr>
            <a:spLocks xmlns:a="http://schemas.openxmlformats.org/drawingml/2006/main" noGrp="1"/>
          </p:cNvSpPr>
          <p:nvPr/>
        </p:nvSpPr>
        <p:spPr>
          <a:xfrm xmlns:a="http://schemas.openxmlformats.org/drawingml/2006/main">
            <a:off x="1104900" y="2324100"/>
            <a:ext cx="75342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F4A07045-0F53-4699-840D-73FCCFA4C75D}"/>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432B03BE-F831-4A5F-AE3B-73311BD32960}"/>
              </a:ext>
            </a:extLst>
          </p:cNvPr>
          <p:cNvSpPr>
            <a:spLocks xmlns:a="http://schemas.openxmlformats.org/drawingml/2006/main" noGrp="1"/>
          </p:cNvSpPr>
          <p:nvPr/>
        </p:nvSpPr>
        <p:spPr>
          <a:xfrm xmlns:a="http://schemas.openxmlformats.org/drawingml/2006/main">
            <a:off x="1104900" y="3200400"/>
            <a:ext cx="75342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D56773BD-2827-4304-9A04-5657D227325C}"/>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1814657F-30BE-49AE-AAA2-7E9C14A692B9}"/>
              </a:ext>
            </a:extLst>
          </p:cNvPr>
          <p:cNvSpPr>
            <a:spLocks xmlns:a="http://schemas.openxmlformats.org/drawingml/2006/main" noGrp="1"/>
          </p:cNvSpPr>
          <p:nvPr/>
        </p:nvSpPr>
        <p:spPr>
          <a:xfrm xmlns:a="http://schemas.openxmlformats.org/drawingml/2006/main">
            <a:off x="1104900" y="3714750"/>
            <a:ext cx="75342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697543DB-6B8A-4A63-9790-C846AFD990FE}"/>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4EB5AD0D-B309-42EC-8783-247EBCEFAAB8}"/>
              </a:ext>
            </a:extLst>
          </p:cNvPr>
          <p:cNvSpPr>
            <a:spLocks xmlns:a="http://schemas.openxmlformats.org/drawingml/2006/main" noGrp="1"/>
          </p:cNvSpPr>
          <p:nvPr/>
        </p:nvSpPr>
        <p:spPr>
          <a:xfrm xmlns:a="http://schemas.openxmlformats.org/drawingml/2006/main">
            <a:off x="1104900" y="4248150"/>
            <a:ext cx="75342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419A27D5-07FC-4801-86F7-FE24BDC3AF11}"/>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C9DC29B7-5EAC-4861-B375-C005A8728C97}"/>
              </a:ext>
            </a:extLst>
          </p:cNvPr>
          <p:cNvSpPr>
            <a:spLocks xmlns:a="http://schemas.openxmlformats.org/drawingml/2006/main" noGrp="1"/>
          </p:cNvSpPr>
          <p:nvPr/>
        </p:nvSpPr>
        <p:spPr>
          <a:xfrm xmlns:a="http://schemas.openxmlformats.org/drawingml/2006/main">
            <a:off x="1104900" y="6057900"/>
            <a:ext cx="75342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E5527D9F-C8A4-46EC-B31F-A521BA2AF1FF}"/>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4EA7FEC7-EDBB-4233-84C3-F4EBEA11714E}"/>
              </a:ext>
            </a:extLst>
          </p:cNvPr>
          <p:cNvSpPr>
            <a:spLocks xmlns:a="http://schemas.openxmlformats.org/drawingml/2006/main" noGrp="1"/>
          </p:cNvSpPr>
          <p:nvPr/>
        </p:nvSpPr>
        <p:spPr>
          <a:xfrm xmlns:a="http://schemas.openxmlformats.org/drawingml/2006/main">
            <a:off x="1104900" y="6819900"/>
            <a:ext cx="75342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27.</a:t>
            </a:r>
          </a:p>
        </p:txBody>
      </p:sp>
      <p:sp>
        <p:nvSpPr>
          <p:cNvPr id="19" name="route-number-7">
            <a:extLst xmlns:a="http://schemas.openxmlformats.org/drawingml/2006/main">
              <a:ext uri="{FF2B5EF4-FFF2-40B4-BE49-F238E27FC236}">
                <a16:creationId xmlns:a16="http://schemas.microsoft.com/office/drawing/2014/main" id="{3135D7DA-01DC-4DF5-9B99-486A777480F4}"/>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BD8E4944-8714-4792-8AB9-F6251786C1F7}"/>
              </a:ext>
            </a:extLst>
          </p:cNvPr>
          <p:cNvSpPr>
            <a:spLocks xmlns:a="http://schemas.openxmlformats.org/drawingml/2006/main" noGrp="1"/>
          </p:cNvSpPr>
          <p:nvPr/>
        </p:nvSpPr>
        <p:spPr>
          <a:xfrm xmlns:a="http://schemas.openxmlformats.org/drawingml/2006/main">
            <a:off x="1104900" y="7372350"/>
            <a:ext cx="75342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D689D893-9481-4100-8AEC-D678AC1BE164}"/>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7ED82701-2A89-4F1B-8DFD-248CFF9431D5}"/>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Haalbare productie kiezen,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winst berekenen en de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winstrechthoek tekenen.</a:t>
            </a:r>
          </a:p>
        </p:txBody>
      </p:sp>
      <p:sp>
        <p:nvSpPr>
          <p:cNvPr id="23" name="">
            <a:extLst xmlns:a="http://schemas.openxmlformats.org/drawingml/2006/main">
              <a:ext uri="{FF2B5EF4-FFF2-40B4-BE49-F238E27FC236}">
                <a16:creationId xmlns:a16="http://schemas.microsoft.com/office/drawing/2014/main" id="{9566D4B1-54AC-4C6F-86C7-AA8A33004A7F}"/>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973FC98-A694-4784-A9DC-3DD9B6267917}"/>
              </a:ext>
            </a:extLst>
          </p:cNvPr>
          <p:cNvSpPr>
            <a:spLocks xmlns:a="http://schemas.openxmlformats.org/drawingml/2006/main" noGrp="1"/>
          </p:cNvSpPr>
          <p:nvPr/>
        </p:nvSpPr>
        <p:spPr>
          <a:xfrm xmlns:a="http://schemas.openxmlformats.org/drawingml/2006/main">
            <a:off x="9258300" y="3810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9FBFDAAD-515E-4133-9CFC-A85845B53268}"/>
              </a:ext>
            </a:extLst>
          </p:cNvPr>
          <p:cNvSpPr>
            <a:spLocks xmlns:a="http://schemas.openxmlformats.org/drawingml/2006/main" noGrp="1"/>
          </p:cNvSpPr>
          <p:nvPr/>
        </p:nvSpPr>
        <p:spPr>
          <a:xfrm xmlns:a="http://schemas.openxmlformats.org/drawingml/2006/main">
            <a:off x="9258300" y="4343400"/>
            <a:ext cx="5381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73 · Opgaven 20 en 21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 verkennen met theorie p. 70</a:t>
            </a:r>
          </a:p>
        </p:txBody>
      </p:sp>
      <p:sp>
        <p:nvSpPr>
          <p:cNvPr id="26" name="">
            <a:extLst xmlns:a="http://schemas.openxmlformats.org/drawingml/2006/main">
              <a:ext uri="{FF2B5EF4-FFF2-40B4-BE49-F238E27FC236}">
                <a16:creationId xmlns:a16="http://schemas.microsoft.com/office/drawing/2014/main" id="{3E64B4F3-B3F2-4D41-B173-1C3AD3D471A4}"/>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A3AF5FA7-654F-4501-8041-EF3F908F467F}"/>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A39C42FD-19B3-4892-BFF9-8A12569F7F44}"/>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§3.2.3 Winstmaximalisatie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22, 23 en 24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25 en 26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27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36246018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27: Korrels voor kwekerijen">
            <a:extLst xmlns:a="http://schemas.openxmlformats.org/drawingml/2006/main">
              <a:ext uri="{FF2B5EF4-FFF2-40B4-BE49-F238E27FC236}">
                <a16:creationId xmlns:a16="http://schemas.microsoft.com/office/drawing/2014/main" id="{FC978173-2086-4A39-84DE-B17407B0DFFF}"/>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27: Korrels voor kwekerijen</a:t>
            </a:r>
          </a:p>
        </p:txBody>
      </p:sp>
      <p:sp>
        <p:nvSpPr>
          <p:cNvPr id="2" name="">
            <a:extLst xmlns:a="http://schemas.openxmlformats.org/drawingml/2006/main">
              <a:ext uri="{FF2B5EF4-FFF2-40B4-BE49-F238E27FC236}">
                <a16:creationId xmlns:a16="http://schemas.microsoft.com/office/drawing/2014/main" id="{2ADD3A62-8E2E-4561-9755-DDD2F9B41A3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Opgave 27 · Boekpagina 77">
            <a:extLst xmlns:a="http://schemas.openxmlformats.org/drawingml/2006/main">
              <a:ext uri="{FF2B5EF4-FFF2-40B4-BE49-F238E27FC236}">
                <a16:creationId xmlns:a16="http://schemas.microsoft.com/office/drawing/2014/main" id="{4269405D-861A-4611-AB33-32D10A8D1596}"/>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Opgave 27 · Boekpagina 77</a:t>
            </a:r>
          </a:p>
        </p:txBody>
      </p:sp>
      <p:sp>
        <p:nvSpPr>
          <p:cNvPr id="4" name="15">
            <a:extLst xmlns:a="http://schemas.openxmlformats.org/drawingml/2006/main">
              <a:ext uri="{FF2B5EF4-FFF2-40B4-BE49-F238E27FC236}">
                <a16:creationId xmlns:a16="http://schemas.microsoft.com/office/drawing/2014/main" id="{21839D13-C147-496D-BBA3-936E2961E5BA}"/>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Een prijsnemende producent verkoopt één standaardkwaliteit korrel">
            <a:extLst xmlns:a="http://schemas.openxmlformats.org/drawingml/2006/main">
              <a:ext uri="{FF2B5EF4-FFF2-40B4-BE49-F238E27FC236}">
                <a16:creationId xmlns:a16="http://schemas.microsoft.com/office/drawing/2014/main" id="{962E264E-5C0E-4094-8260-2E3DF9F1DF8A}"/>
              </a:ext>
            </a:extLst>
          </p:cNvPr>
          <p:cNvSpPr>
            <a:spLocks xmlns:a="http://schemas.openxmlformats.org/drawingml/2006/main" noGrp="1"/>
          </p:cNvSpPr>
          <p:nvPr/>
        </p:nvSpPr>
        <p:spPr>
          <a:xfrm xmlns:a="http://schemas.openxmlformats.org/drawingml/2006/main">
            <a:off x="571500" y="1914525"/>
            <a:ext cx="14097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Een prijsnemende producent verkoopt één standaardkwaliteit korrels.</a:t>
            </a:r>
          </a:p>
        </p:txBody>
      </p:sp>
      <p:sp>
        <p:nvSpPr>
          <p:cNvPr id="6" name="P = € 16 per kg">
            <a:extLst xmlns:a="http://schemas.openxmlformats.org/drawingml/2006/main">
              <a:ext uri="{FF2B5EF4-FFF2-40B4-BE49-F238E27FC236}">
                <a16:creationId xmlns:a16="http://schemas.microsoft.com/office/drawing/2014/main" id="{48E9ED35-30AB-4E76-A974-8494025FD865}"/>
              </a:ext>
            </a:extLst>
          </p:cNvPr>
          <p:cNvSpPr>
            <a:spLocks xmlns:a="http://schemas.openxmlformats.org/drawingml/2006/main" noGrp="1"/>
          </p:cNvSpPr>
          <p:nvPr/>
        </p:nvSpPr>
        <p:spPr>
          <a:xfrm xmlns:a="http://schemas.openxmlformats.org/drawingml/2006/main">
            <a:off x="571500" y="3476625"/>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P = € 16 per kg</a:t>
            </a:r>
          </a:p>
        </p:txBody>
      </p:sp>
      <p:sp>
        <p:nvSpPr>
          <p:cNvPr id="7" name="TK = 0,04q² + 4q + 400">
            <a:extLst xmlns:a="http://schemas.openxmlformats.org/drawingml/2006/main">
              <a:ext uri="{FF2B5EF4-FFF2-40B4-BE49-F238E27FC236}">
                <a16:creationId xmlns:a16="http://schemas.microsoft.com/office/drawing/2014/main" id="{750C94A0-9E51-4219-8A7C-DA3F0DC3A036}"/>
              </a:ext>
            </a:extLst>
          </p:cNvPr>
          <p:cNvSpPr>
            <a:spLocks xmlns:a="http://schemas.openxmlformats.org/drawingml/2006/main" noGrp="1"/>
          </p:cNvSpPr>
          <p:nvPr/>
        </p:nvSpPr>
        <p:spPr>
          <a:xfrm xmlns:a="http://schemas.openxmlformats.org/drawingml/2006/main">
            <a:off x="571500" y="4562475"/>
            <a:ext cx="14097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TK = 0,04q² + 4q + 400</a:t>
            </a:r>
          </a:p>
        </p:txBody>
      </p:sp>
      <p:sp>
        <p:nvSpPr>
          <p:cNvPr id="8" name="q is kg per week; TK is euro per week. Capaciteit: 200 kg.">
            <a:extLst xmlns:a="http://schemas.openxmlformats.org/drawingml/2006/main">
              <a:ext uri="{FF2B5EF4-FFF2-40B4-BE49-F238E27FC236}">
                <a16:creationId xmlns:a16="http://schemas.microsoft.com/office/drawing/2014/main" id="{D8BC3D94-F8EE-41CC-9894-1F7741F21AED}"/>
              </a:ext>
            </a:extLst>
          </p:cNvPr>
          <p:cNvSpPr>
            <a:spLocks xmlns:a="http://schemas.openxmlformats.org/drawingml/2006/main" noGrp="1"/>
          </p:cNvSpPr>
          <p:nvPr/>
        </p:nvSpPr>
        <p:spPr>
          <a:xfrm xmlns:a="http://schemas.openxmlformats.org/drawingml/2006/main">
            <a:off x="571500" y="5867400"/>
            <a:ext cx="1409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q is kg per week; TK is euro per week. Capaciteit: 200 kg.</a:t>
            </a:r>
          </a:p>
        </p:txBody>
      </p:sp>
      <p:sp>
        <p:nvSpPr>
          <p:cNvPr id="9" name="De € 400 is deze week onvermijdbaar.">
            <a:extLst xmlns:a="http://schemas.openxmlformats.org/drawingml/2006/main">
              <a:ext uri="{FF2B5EF4-FFF2-40B4-BE49-F238E27FC236}">
                <a16:creationId xmlns:a16="http://schemas.microsoft.com/office/drawing/2014/main" id="{466E159B-FEE6-4517-992F-259C3810D5BB}"/>
              </a:ext>
            </a:extLst>
          </p:cNvPr>
          <p:cNvSpPr>
            <a:spLocks xmlns:a="http://schemas.openxmlformats.org/drawingml/2006/main" noGrp="1"/>
          </p:cNvSpPr>
          <p:nvPr/>
        </p:nvSpPr>
        <p:spPr>
          <a:xfrm xmlns:a="http://schemas.openxmlformats.org/drawingml/2006/main">
            <a:off x="571500" y="7258050"/>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De € 400 is deze week onvermijdbaar.</a:t>
            </a:r>
          </a:p>
        </p:txBody>
      </p:sp>
    </p:spTree>
    <p:extLst>
      <p:ext uri="{BB962C8B-B14F-4D97-AF65-F5344CB8AC3E}">
        <p14:creationId xmlns:p14="http://schemas.microsoft.com/office/powerpoint/2010/main" val="180415702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27: de gegeven grafiek">
            <a:extLst xmlns:a="http://schemas.openxmlformats.org/drawingml/2006/main">
              <a:ext uri="{FF2B5EF4-FFF2-40B4-BE49-F238E27FC236}">
                <a16:creationId xmlns:a16="http://schemas.microsoft.com/office/drawing/2014/main" id="{A99B98E5-602A-47C6-8A73-359582D0B37C}"/>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27: de gegeven grafiek</a:t>
            </a:r>
          </a:p>
        </p:txBody>
      </p:sp>
      <p:sp>
        <p:nvSpPr>
          <p:cNvPr id="2" name="">
            <a:extLst xmlns:a="http://schemas.openxmlformats.org/drawingml/2006/main">
              <a:ext uri="{FF2B5EF4-FFF2-40B4-BE49-F238E27FC236}">
                <a16:creationId xmlns:a16="http://schemas.microsoft.com/office/drawing/2014/main" id="{A2832AED-DE00-46C6-8A5B-52C783E3ACD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Opgave 27 · Boekpagina 77">
            <a:extLst xmlns:a="http://schemas.openxmlformats.org/drawingml/2006/main">
              <a:ext uri="{FF2B5EF4-FFF2-40B4-BE49-F238E27FC236}">
                <a16:creationId xmlns:a16="http://schemas.microsoft.com/office/drawing/2014/main" id="{D22C97FB-F5C0-4A52-9CC7-DC6CC2908B07}"/>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Opgave 27 · Boekpagina 77</a:t>
            </a:r>
          </a:p>
        </p:txBody>
      </p:sp>
      <p:sp>
        <p:nvSpPr>
          <p:cNvPr id="4" name="16">
            <a:extLst xmlns:a="http://schemas.openxmlformats.org/drawingml/2006/main">
              <a:ext uri="{FF2B5EF4-FFF2-40B4-BE49-F238E27FC236}">
                <a16:creationId xmlns:a16="http://schemas.microsoft.com/office/drawing/2014/main" id="{6693AD84-424C-4536-84D9-0213E912593C}"/>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P, GO, MO, MK en GTK (€ per kg)">
            <a:extLst xmlns:a="http://schemas.openxmlformats.org/drawingml/2006/main">
              <a:ext uri="{FF2B5EF4-FFF2-40B4-BE49-F238E27FC236}">
                <a16:creationId xmlns:a16="http://schemas.microsoft.com/office/drawing/2014/main" id="{411F27C2-59F8-420D-8D2B-D0890A924878}"/>
              </a:ext>
            </a:extLst>
          </p:cNvPr>
          <p:cNvSpPr>
            <a:spLocks xmlns:a="http://schemas.openxmlformats.org/drawingml/2006/main" noGrp="1"/>
          </p:cNvSpPr>
          <p:nvPr/>
        </p:nvSpPr>
        <p:spPr>
          <a:xfrm xmlns:a="http://schemas.openxmlformats.org/drawingml/2006/main">
            <a:off x="762000" y="1857375"/>
            <a:ext cx="971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P, GO, MO, MK en GTK (€ per kg)</a:t>
            </a:r>
          </a:p>
        </p:txBody>
      </p:sp>
      <p:graphicFrame>
        <p:nvGraphicFramePr>
          <p:cNvPr id="15" name="Chart"/>
          <p:cNvGraphicFramePr/>
          <p:nvPr/>
        </p:nvGraphicFramePr>
        <p:xfrm>
          <a:off xmlns:a="http://schemas.openxmlformats.org/drawingml/2006/main" x="666750" y="2476500"/>
          <a:ext xmlns:a="http://schemas.openxmlformats.org/drawingml/2006/main" cx="9810750" cy="5095875"/>
        </p:xfrm>
        <a:graphic xmlns:a="http://schemas.openxmlformats.org/drawingml/2006/main">
          <a:graphicData uri="http://schemas.openxmlformats.org/drawingml/2006/chart">
            <c:chart xmlns:r="http://schemas.openxmlformats.org/officeDocument/2006/relationships" xmlns:c="http://schemas.openxmlformats.org/drawingml/2006/chart" r:id="R4aec064c15954722"/>
          </a:graphicData>
        </a:graphic>
      </p:graphicFrame>
      <p:sp>
        <p:nvSpPr>
          <p:cNvPr id="7" name="Alle verticale&#10;bedragen: € per kg">
            <a:extLst xmlns:a="http://schemas.openxmlformats.org/drawingml/2006/main">
              <a:ext uri="{FF2B5EF4-FFF2-40B4-BE49-F238E27FC236}">
                <a16:creationId xmlns:a16="http://schemas.microsoft.com/office/drawing/2014/main" id="{F155936C-F80B-4F81-8350-91DB00058A01}"/>
              </a:ext>
            </a:extLst>
          </p:cNvPr>
          <p:cNvSpPr>
            <a:spLocks xmlns:a="http://schemas.openxmlformats.org/drawingml/2006/main" noGrp="1"/>
          </p:cNvSpPr>
          <p:nvPr/>
        </p:nvSpPr>
        <p:spPr>
          <a:xfrm xmlns:a="http://schemas.openxmlformats.org/drawingml/2006/main">
            <a:off x="10858500" y="276225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Alle verticale</a:t>
            </a:r>
          </a:p>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bedragen: € per kg</a:t>
            </a:r>
          </a:p>
        </p:txBody>
      </p:sp>
      <p:sp>
        <p:nvSpPr>
          <p:cNvPr id="8" name="Horizontaal:&#10;productie per week">
            <a:extLst xmlns:a="http://schemas.openxmlformats.org/drawingml/2006/main">
              <a:ext uri="{FF2B5EF4-FFF2-40B4-BE49-F238E27FC236}">
                <a16:creationId xmlns:a16="http://schemas.microsoft.com/office/drawing/2014/main" id="{B52D6A65-DEC4-44D1-AB5D-633E367F707F}"/>
              </a:ext>
            </a:extLst>
          </p:cNvPr>
          <p:cNvSpPr>
            <a:spLocks xmlns:a="http://schemas.openxmlformats.org/drawingml/2006/main" noGrp="1"/>
          </p:cNvSpPr>
          <p:nvPr/>
        </p:nvSpPr>
        <p:spPr>
          <a:xfrm xmlns:a="http://schemas.openxmlformats.org/drawingml/2006/main">
            <a:off x="10858500" y="4162425"/>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Horizontaal:</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productie per week</a:t>
            </a:r>
          </a:p>
        </p:txBody>
      </p:sp>
      <p:sp>
        <p:nvSpPr>
          <p:cNvPr id="9" name="Markeer q en winst&#10;zelf in het boek.">
            <a:extLst xmlns:a="http://schemas.openxmlformats.org/drawingml/2006/main">
              <a:ext uri="{FF2B5EF4-FFF2-40B4-BE49-F238E27FC236}">
                <a16:creationId xmlns:a16="http://schemas.microsoft.com/office/drawing/2014/main" id="{5699A006-078B-42EE-8A07-ABA9098C2902}"/>
              </a:ext>
            </a:extLst>
          </p:cNvPr>
          <p:cNvSpPr>
            <a:spLocks xmlns:a="http://schemas.openxmlformats.org/drawingml/2006/main" noGrp="1"/>
          </p:cNvSpPr>
          <p:nvPr/>
        </p:nvSpPr>
        <p:spPr>
          <a:xfrm xmlns:a="http://schemas.openxmlformats.org/drawingml/2006/main">
            <a:off x="10858500" y="556260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Markeer q en winst</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zelf in het boek.</a:t>
            </a:r>
          </a:p>
        </p:txBody>
      </p:sp>
    </p:spTree>
    <p:extLst>
      <p:ext uri="{BB962C8B-B14F-4D97-AF65-F5344CB8AC3E}">
        <p14:creationId xmlns:p14="http://schemas.microsoft.com/office/powerpoint/2010/main" val="214670475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27: vragen a, b en c">
            <a:extLst xmlns:a="http://schemas.openxmlformats.org/drawingml/2006/main">
              <a:ext uri="{FF2B5EF4-FFF2-40B4-BE49-F238E27FC236}">
                <a16:creationId xmlns:a16="http://schemas.microsoft.com/office/drawing/2014/main" id="{69FA235C-6198-48A9-B1C7-C9FF9856150D}"/>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27: vragen a, b en c</a:t>
            </a:r>
          </a:p>
        </p:txBody>
      </p:sp>
      <p:sp>
        <p:nvSpPr>
          <p:cNvPr id="2" name="">
            <a:extLst xmlns:a="http://schemas.openxmlformats.org/drawingml/2006/main">
              <a:ext uri="{FF2B5EF4-FFF2-40B4-BE49-F238E27FC236}">
                <a16:creationId xmlns:a16="http://schemas.microsoft.com/office/drawing/2014/main" id="{186AAAF1-C254-4D16-A1D9-4BDBCD12D20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Opgave 27 · Boekpagina 77">
            <a:extLst xmlns:a="http://schemas.openxmlformats.org/drawingml/2006/main">
              <a:ext uri="{FF2B5EF4-FFF2-40B4-BE49-F238E27FC236}">
                <a16:creationId xmlns:a16="http://schemas.microsoft.com/office/drawing/2014/main" id="{35C51A13-EA43-4D3B-99C1-E08CC0DCCC39}"/>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Opgave 27 · Boekpagina 77</a:t>
            </a:r>
          </a:p>
        </p:txBody>
      </p:sp>
      <p:sp>
        <p:nvSpPr>
          <p:cNvPr id="4" name="17">
            <a:extLst xmlns:a="http://schemas.openxmlformats.org/drawingml/2006/main">
              <a:ext uri="{FF2B5EF4-FFF2-40B4-BE49-F238E27FC236}">
                <a16:creationId xmlns:a16="http://schemas.microsoft.com/office/drawing/2014/main" id="{0922DEF3-6394-44B9-B7DC-1AD7A6148F05}"/>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a (2p)">
            <a:extLst xmlns:a="http://schemas.openxmlformats.org/drawingml/2006/main">
              <a:ext uri="{FF2B5EF4-FFF2-40B4-BE49-F238E27FC236}">
                <a16:creationId xmlns:a16="http://schemas.microsoft.com/office/drawing/2014/main" id="{99C5F3FD-E2AD-4D45-98AE-8BD6578FC9F7}"/>
              </a:ext>
            </a:extLst>
          </p:cNvPr>
          <p:cNvSpPr>
            <a:spLocks xmlns:a="http://schemas.openxmlformats.org/drawingml/2006/main" noGrp="1"/>
          </p:cNvSpPr>
          <p:nvPr/>
        </p:nvSpPr>
        <p:spPr>
          <a:xfrm xmlns:a="http://schemas.openxmlformats.org/drawingml/2006/main">
            <a:off x="571500" y="2028825"/>
            <a:ext cx="1905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a (2p)</a:t>
            </a:r>
          </a:p>
        </p:txBody>
      </p:sp>
      <p:sp>
        <p:nvSpPr>
          <p:cNvPr id="6" name="Stel de functie voor MK op.">
            <a:extLst xmlns:a="http://schemas.openxmlformats.org/drawingml/2006/main">
              <a:ext uri="{FF2B5EF4-FFF2-40B4-BE49-F238E27FC236}">
                <a16:creationId xmlns:a16="http://schemas.microsoft.com/office/drawing/2014/main" id="{4C30F0AD-1139-417A-8F8E-21AFDDE56CBE}"/>
              </a:ext>
            </a:extLst>
          </p:cNvPr>
          <p:cNvSpPr>
            <a:spLocks xmlns:a="http://schemas.openxmlformats.org/drawingml/2006/main" noGrp="1"/>
          </p:cNvSpPr>
          <p:nvPr/>
        </p:nvSpPr>
        <p:spPr>
          <a:xfrm xmlns:a="http://schemas.openxmlformats.org/drawingml/2006/main">
            <a:off x="2952750" y="2028825"/>
            <a:ext cx="117157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Stel de functie voor MK op.</a:t>
            </a:r>
          </a:p>
        </p:txBody>
      </p:sp>
      <p:sp>
        <p:nvSpPr>
          <p:cNvPr id="7" name="">
            <a:extLst xmlns:a="http://schemas.openxmlformats.org/drawingml/2006/main">
              <a:ext uri="{FF2B5EF4-FFF2-40B4-BE49-F238E27FC236}">
                <a16:creationId xmlns:a16="http://schemas.microsoft.com/office/drawing/2014/main" id="{FE0D7E25-CE37-43C9-83EB-AD8524F30EA4}"/>
              </a:ext>
            </a:extLst>
          </p:cNvPr>
          <p:cNvSpPr>
            <a:spLocks xmlns:a="http://schemas.openxmlformats.org/drawingml/2006/main" noGrp="1"/>
          </p:cNvSpPr>
          <p:nvPr/>
        </p:nvSpPr>
        <p:spPr>
          <a:xfrm xmlns:a="http://schemas.openxmlformats.org/drawingml/2006/main">
            <a:off x="571500" y="3752850"/>
            <a:ext cx="14097000" cy="0"/>
          </a:xfrm>
          <a:prstGeom xmlns:a="http://schemas.openxmlformats.org/drawingml/2006/main" prst="line">
            <a:avLst/>
          </a:prstGeom>
          <a:ln xmlns:a="http://schemas.openxmlformats.org/drawingml/2006/main" w="19050">
            <a:solidFill>
              <a:srgbClr val="C6D2DB"/>
            </a:solidFill>
          </a:ln>
        </p:spPr>
      </p:sp>
      <p:sp>
        <p:nvSpPr>
          <p:cNvPr id="8" name="b (3p)">
            <a:extLst xmlns:a="http://schemas.openxmlformats.org/drawingml/2006/main">
              <a:ext uri="{FF2B5EF4-FFF2-40B4-BE49-F238E27FC236}">
                <a16:creationId xmlns:a16="http://schemas.microsoft.com/office/drawing/2014/main" id="{6B08557D-7E0F-40FD-AEA4-54AF4A8E0D2B}"/>
              </a:ext>
            </a:extLst>
          </p:cNvPr>
          <p:cNvSpPr>
            <a:spLocks xmlns:a="http://schemas.openxmlformats.org/drawingml/2006/main" noGrp="1"/>
          </p:cNvSpPr>
          <p:nvPr/>
        </p:nvSpPr>
        <p:spPr>
          <a:xfrm xmlns:a="http://schemas.openxmlformats.org/drawingml/2006/main">
            <a:off x="571500" y="4048125"/>
            <a:ext cx="1905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b (3p)</a:t>
            </a:r>
          </a:p>
        </p:txBody>
      </p:sp>
      <p:sp>
        <p:nvSpPr>
          <p:cNvPr id="9" name="Bepaal de winstmaximale haalbare q. Onderbouw het maximum met MK ">
            <a:extLst xmlns:a="http://schemas.openxmlformats.org/drawingml/2006/main">
              <a:ext uri="{FF2B5EF4-FFF2-40B4-BE49-F238E27FC236}">
                <a16:creationId xmlns:a16="http://schemas.microsoft.com/office/drawing/2014/main" id="{AAAF508B-A668-4D5E-82E0-C174E0D3FCFF}"/>
              </a:ext>
            </a:extLst>
          </p:cNvPr>
          <p:cNvSpPr>
            <a:spLocks xmlns:a="http://schemas.openxmlformats.org/drawingml/2006/main" noGrp="1"/>
          </p:cNvSpPr>
          <p:nvPr/>
        </p:nvSpPr>
        <p:spPr>
          <a:xfrm xmlns:a="http://schemas.openxmlformats.org/drawingml/2006/main">
            <a:off x="2952750" y="4048125"/>
            <a:ext cx="117157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Bepaal de winstmaximale haalbare q. Onderbouw het maximum met MK links en rechts van je uitkomst.</a:t>
            </a:r>
          </a:p>
        </p:txBody>
      </p:sp>
      <p:sp>
        <p:nvSpPr>
          <p:cNvPr id="10" name="">
            <a:extLst xmlns:a="http://schemas.openxmlformats.org/drawingml/2006/main">
              <a:ext uri="{FF2B5EF4-FFF2-40B4-BE49-F238E27FC236}">
                <a16:creationId xmlns:a16="http://schemas.microsoft.com/office/drawing/2014/main" id="{3B5953F9-203B-4152-AECF-26A3EB99F198}"/>
              </a:ext>
            </a:extLst>
          </p:cNvPr>
          <p:cNvSpPr>
            <a:spLocks xmlns:a="http://schemas.openxmlformats.org/drawingml/2006/main" noGrp="1"/>
          </p:cNvSpPr>
          <p:nvPr/>
        </p:nvSpPr>
        <p:spPr>
          <a:xfrm xmlns:a="http://schemas.openxmlformats.org/drawingml/2006/main">
            <a:off x="571500" y="5772150"/>
            <a:ext cx="14097000" cy="0"/>
          </a:xfrm>
          <a:prstGeom xmlns:a="http://schemas.openxmlformats.org/drawingml/2006/main" prst="line">
            <a:avLst/>
          </a:prstGeom>
          <a:ln xmlns:a="http://schemas.openxmlformats.org/drawingml/2006/main" w="19050">
            <a:solidFill>
              <a:srgbClr val="C6D2DB"/>
            </a:solidFill>
          </a:ln>
        </p:spPr>
      </p:sp>
      <p:sp>
        <p:nvSpPr>
          <p:cNvPr id="11" name="c (3p)">
            <a:extLst xmlns:a="http://schemas.openxmlformats.org/drawingml/2006/main">
              <a:ext uri="{FF2B5EF4-FFF2-40B4-BE49-F238E27FC236}">
                <a16:creationId xmlns:a16="http://schemas.microsoft.com/office/drawing/2014/main" id="{65D1724F-248E-445C-A9F4-249D5A749597}"/>
              </a:ext>
            </a:extLst>
          </p:cNvPr>
          <p:cNvSpPr>
            <a:spLocks xmlns:a="http://schemas.openxmlformats.org/drawingml/2006/main" noGrp="1"/>
          </p:cNvSpPr>
          <p:nvPr/>
        </p:nvSpPr>
        <p:spPr>
          <a:xfrm xmlns:a="http://schemas.openxmlformats.org/drawingml/2006/main">
            <a:off x="571500" y="6067425"/>
            <a:ext cx="1905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c (3p)</a:t>
            </a:r>
          </a:p>
        </p:txBody>
      </p:sp>
      <p:sp>
        <p:nvSpPr>
          <p:cNvPr id="12" name="Bereken TO, TK en totale winst bij de gekozen q.">
            <a:extLst xmlns:a="http://schemas.openxmlformats.org/drawingml/2006/main">
              <a:ext uri="{FF2B5EF4-FFF2-40B4-BE49-F238E27FC236}">
                <a16:creationId xmlns:a16="http://schemas.microsoft.com/office/drawing/2014/main" id="{7ABB16E5-4768-4AF9-9C11-989D9240A52B}"/>
              </a:ext>
            </a:extLst>
          </p:cNvPr>
          <p:cNvSpPr>
            <a:spLocks xmlns:a="http://schemas.openxmlformats.org/drawingml/2006/main" noGrp="1"/>
          </p:cNvSpPr>
          <p:nvPr/>
        </p:nvSpPr>
        <p:spPr>
          <a:xfrm xmlns:a="http://schemas.openxmlformats.org/drawingml/2006/main">
            <a:off x="2952750" y="6067425"/>
            <a:ext cx="117157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Bereken TO, TK en totale winst bij de gekozen q.</a:t>
            </a:r>
          </a:p>
        </p:txBody>
      </p:sp>
    </p:spTree>
    <p:extLst>
      <p:ext uri="{BB962C8B-B14F-4D97-AF65-F5344CB8AC3E}">
        <p14:creationId xmlns:p14="http://schemas.microsoft.com/office/powerpoint/2010/main" val="3157966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27: vragen d, e en f">
            <a:extLst xmlns:a="http://schemas.openxmlformats.org/drawingml/2006/main">
              <a:ext uri="{FF2B5EF4-FFF2-40B4-BE49-F238E27FC236}">
                <a16:creationId xmlns:a16="http://schemas.microsoft.com/office/drawing/2014/main" id="{1DAC8E29-6F6E-4F48-9B4E-FBD56A96E812}"/>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27: vragen d, e en f</a:t>
            </a:r>
          </a:p>
        </p:txBody>
      </p:sp>
      <p:sp>
        <p:nvSpPr>
          <p:cNvPr id="2" name="">
            <a:extLst xmlns:a="http://schemas.openxmlformats.org/drawingml/2006/main">
              <a:ext uri="{FF2B5EF4-FFF2-40B4-BE49-F238E27FC236}">
                <a16:creationId xmlns:a16="http://schemas.microsoft.com/office/drawing/2014/main" id="{0A0DD10D-F7AC-446D-BC42-83808B09478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Opgave 27 · Boekpagina 77">
            <a:extLst xmlns:a="http://schemas.openxmlformats.org/drawingml/2006/main">
              <a:ext uri="{FF2B5EF4-FFF2-40B4-BE49-F238E27FC236}">
                <a16:creationId xmlns:a16="http://schemas.microsoft.com/office/drawing/2014/main" id="{25424468-B764-491E-A017-3F463ED1A262}"/>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Opgave 27 · Boekpagina 77</a:t>
            </a:r>
          </a:p>
        </p:txBody>
      </p:sp>
      <p:sp>
        <p:nvSpPr>
          <p:cNvPr id="4" name="18">
            <a:extLst xmlns:a="http://schemas.openxmlformats.org/drawingml/2006/main">
              <a:ext uri="{FF2B5EF4-FFF2-40B4-BE49-F238E27FC236}">
                <a16:creationId xmlns:a16="http://schemas.microsoft.com/office/drawing/2014/main" id="{10811847-0303-462D-8208-4B2270448B7E}"/>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d (3p)">
            <a:extLst xmlns:a="http://schemas.openxmlformats.org/drawingml/2006/main">
              <a:ext uri="{FF2B5EF4-FFF2-40B4-BE49-F238E27FC236}">
                <a16:creationId xmlns:a16="http://schemas.microsoft.com/office/drawing/2014/main" id="{E52883D5-5766-41D1-948B-7C85BBD0CBE7}"/>
              </a:ext>
            </a:extLst>
          </p:cNvPr>
          <p:cNvSpPr>
            <a:spLocks xmlns:a="http://schemas.openxmlformats.org/drawingml/2006/main" noGrp="1"/>
          </p:cNvSpPr>
          <p:nvPr/>
        </p:nvSpPr>
        <p:spPr>
          <a:xfrm xmlns:a="http://schemas.openxmlformats.org/drawingml/2006/main">
            <a:off x="571500" y="1962150"/>
            <a:ext cx="1905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d (3p)</a:t>
            </a:r>
          </a:p>
        </p:txBody>
      </p:sp>
      <p:sp>
        <p:nvSpPr>
          <p:cNvPr id="6" name="Bereken GTK en geef in de grafiek q en de winstrechthoek aan. Ben">
            <a:extLst xmlns:a="http://schemas.openxmlformats.org/drawingml/2006/main">
              <a:ext uri="{FF2B5EF4-FFF2-40B4-BE49-F238E27FC236}">
                <a16:creationId xmlns:a16="http://schemas.microsoft.com/office/drawing/2014/main" id="{85282375-5949-4483-968B-4E980B320BEC}"/>
              </a:ext>
            </a:extLst>
          </p:cNvPr>
          <p:cNvSpPr>
            <a:spLocks xmlns:a="http://schemas.openxmlformats.org/drawingml/2006/main" noGrp="1"/>
          </p:cNvSpPr>
          <p:nvPr/>
        </p:nvSpPr>
        <p:spPr>
          <a:xfrm xmlns:a="http://schemas.openxmlformats.org/drawingml/2006/main">
            <a:off x="2952750" y="1962150"/>
            <a:ext cx="1171575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GTK en geef in de grafiek q en de winstrechthoek aan. Benoem breedte en hoogte.</a:t>
            </a:r>
          </a:p>
        </p:txBody>
      </p:sp>
      <p:sp>
        <p:nvSpPr>
          <p:cNvPr id="7" name="">
            <a:extLst xmlns:a="http://schemas.openxmlformats.org/drawingml/2006/main">
              <a:ext uri="{FF2B5EF4-FFF2-40B4-BE49-F238E27FC236}">
                <a16:creationId xmlns:a16="http://schemas.microsoft.com/office/drawing/2014/main" id="{31811B3D-C6C5-4721-815C-5857F70DF03F}"/>
              </a:ext>
            </a:extLst>
          </p:cNvPr>
          <p:cNvSpPr>
            <a:spLocks xmlns:a="http://schemas.openxmlformats.org/drawingml/2006/main" noGrp="1"/>
          </p:cNvSpPr>
          <p:nvPr/>
        </p:nvSpPr>
        <p:spPr>
          <a:xfrm xmlns:a="http://schemas.openxmlformats.org/drawingml/2006/main">
            <a:off x="571500" y="3686175"/>
            <a:ext cx="14097000" cy="0"/>
          </a:xfrm>
          <a:prstGeom xmlns:a="http://schemas.openxmlformats.org/drawingml/2006/main" prst="line">
            <a:avLst/>
          </a:prstGeom>
          <a:ln xmlns:a="http://schemas.openxmlformats.org/drawingml/2006/main" w="19050">
            <a:solidFill>
              <a:srgbClr val="C6D2DB"/>
            </a:solidFill>
          </a:ln>
        </p:spPr>
      </p:sp>
      <p:sp>
        <p:nvSpPr>
          <p:cNvPr id="8" name="e (1p)">
            <a:extLst xmlns:a="http://schemas.openxmlformats.org/drawingml/2006/main">
              <a:ext uri="{FF2B5EF4-FFF2-40B4-BE49-F238E27FC236}">
                <a16:creationId xmlns:a16="http://schemas.microsoft.com/office/drawing/2014/main" id="{D3B1162B-02AE-44CA-A5F1-580DCE79FA96}"/>
              </a:ext>
            </a:extLst>
          </p:cNvPr>
          <p:cNvSpPr>
            <a:spLocks xmlns:a="http://schemas.openxmlformats.org/drawingml/2006/main" noGrp="1"/>
          </p:cNvSpPr>
          <p:nvPr/>
        </p:nvSpPr>
        <p:spPr>
          <a:xfrm xmlns:a="http://schemas.openxmlformats.org/drawingml/2006/main">
            <a:off x="571500" y="3981450"/>
            <a:ext cx="1905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e (1p)</a:t>
            </a:r>
          </a:p>
        </p:txBody>
      </p:sp>
      <p:sp>
        <p:nvSpPr>
          <p:cNvPr id="9" name="Vergelijk de winst met niet produceren (q = 0).">
            <a:extLst xmlns:a="http://schemas.openxmlformats.org/drawingml/2006/main">
              <a:ext uri="{FF2B5EF4-FFF2-40B4-BE49-F238E27FC236}">
                <a16:creationId xmlns:a16="http://schemas.microsoft.com/office/drawing/2014/main" id="{23CC0020-245C-4E71-9382-AEFD6CB4FB68}"/>
              </a:ext>
            </a:extLst>
          </p:cNvPr>
          <p:cNvSpPr>
            <a:spLocks xmlns:a="http://schemas.openxmlformats.org/drawingml/2006/main" noGrp="1"/>
          </p:cNvSpPr>
          <p:nvPr/>
        </p:nvSpPr>
        <p:spPr>
          <a:xfrm xmlns:a="http://schemas.openxmlformats.org/drawingml/2006/main">
            <a:off x="2952750" y="3981450"/>
            <a:ext cx="1171575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Vergelijk de winst met niet produceren (q = 0).</a:t>
            </a:r>
          </a:p>
        </p:txBody>
      </p:sp>
      <p:sp>
        <p:nvSpPr>
          <p:cNvPr id="10" name="">
            <a:extLst xmlns:a="http://schemas.openxmlformats.org/drawingml/2006/main">
              <a:ext uri="{FF2B5EF4-FFF2-40B4-BE49-F238E27FC236}">
                <a16:creationId xmlns:a16="http://schemas.microsoft.com/office/drawing/2014/main" id="{FB453A01-2D89-48B9-BE75-0072A6251E24}"/>
              </a:ext>
            </a:extLst>
          </p:cNvPr>
          <p:cNvSpPr>
            <a:spLocks xmlns:a="http://schemas.openxmlformats.org/drawingml/2006/main" noGrp="1"/>
          </p:cNvSpPr>
          <p:nvPr/>
        </p:nvSpPr>
        <p:spPr>
          <a:xfrm xmlns:a="http://schemas.openxmlformats.org/drawingml/2006/main">
            <a:off x="571500" y="5705475"/>
            <a:ext cx="14097000" cy="0"/>
          </a:xfrm>
          <a:prstGeom xmlns:a="http://schemas.openxmlformats.org/drawingml/2006/main" prst="line">
            <a:avLst/>
          </a:prstGeom>
          <a:ln xmlns:a="http://schemas.openxmlformats.org/drawingml/2006/main" w="19050">
            <a:solidFill>
              <a:srgbClr val="C6D2DB"/>
            </a:solidFill>
          </a:ln>
        </p:spPr>
      </p:sp>
      <p:sp>
        <p:nvSpPr>
          <p:cNvPr id="11" name="f (2p)">
            <a:extLst xmlns:a="http://schemas.openxmlformats.org/drawingml/2006/main">
              <a:ext uri="{FF2B5EF4-FFF2-40B4-BE49-F238E27FC236}">
                <a16:creationId xmlns:a16="http://schemas.microsoft.com/office/drawing/2014/main" id="{9AEDA7ED-725A-4313-88FA-5F826E112229}"/>
              </a:ext>
            </a:extLst>
          </p:cNvPr>
          <p:cNvSpPr>
            <a:spLocks xmlns:a="http://schemas.openxmlformats.org/drawingml/2006/main" noGrp="1"/>
          </p:cNvSpPr>
          <p:nvPr/>
        </p:nvSpPr>
        <p:spPr>
          <a:xfrm xmlns:a="http://schemas.openxmlformats.org/drawingml/2006/main">
            <a:off x="571500" y="6000750"/>
            <a:ext cx="1905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f (2p)</a:t>
            </a:r>
          </a:p>
        </p:txBody>
      </p:sp>
      <p:sp>
        <p:nvSpPr>
          <p:cNvPr id="12" name="Door een storing wordt de capaciteit 120 kg. Kostenfunctie en pri">
            <a:extLst xmlns:a="http://schemas.openxmlformats.org/drawingml/2006/main">
              <a:ext uri="{FF2B5EF4-FFF2-40B4-BE49-F238E27FC236}">
                <a16:creationId xmlns:a16="http://schemas.microsoft.com/office/drawing/2014/main" id="{64BDE16B-0852-409D-AEA7-753D2BE0E385}"/>
              </a:ext>
            </a:extLst>
          </p:cNvPr>
          <p:cNvSpPr>
            <a:spLocks xmlns:a="http://schemas.openxmlformats.org/drawingml/2006/main" noGrp="1"/>
          </p:cNvSpPr>
          <p:nvPr/>
        </p:nvSpPr>
        <p:spPr>
          <a:xfrm xmlns:a="http://schemas.openxmlformats.org/drawingml/2006/main">
            <a:off x="2952750" y="6000750"/>
            <a:ext cx="1171575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Door een storing wordt de capaciteit 120 kg. Kostenfunctie en prijs blijven gelijk. Welke q kies je nu? Licht toe; een nieuwe winstberekening is niet nodig.</a:t>
            </a:r>
          </a:p>
        </p:txBody>
      </p:sp>
    </p:spTree>
    <p:extLst>
      <p:ext uri="{BB962C8B-B14F-4D97-AF65-F5344CB8AC3E}">
        <p14:creationId xmlns:p14="http://schemas.microsoft.com/office/powerpoint/2010/main" val="153563834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27a–b: MK en de kandidaat">
            <a:extLst xmlns:a="http://schemas.openxmlformats.org/drawingml/2006/main">
              <a:ext uri="{FF2B5EF4-FFF2-40B4-BE49-F238E27FC236}">
                <a16:creationId xmlns:a16="http://schemas.microsoft.com/office/drawing/2014/main" id="{A0B78CA9-C450-4240-BE28-27A5C201664B}"/>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27a–b: MK en de kandidaat</a:t>
            </a:r>
          </a:p>
        </p:txBody>
      </p:sp>
      <p:sp>
        <p:nvSpPr>
          <p:cNvPr id="2" name="">
            <a:extLst xmlns:a="http://schemas.openxmlformats.org/drawingml/2006/main">
              <a:ext uri="{FF2B5EF4-FFF2-40B4-BE49-F238E27FC236}">
                <a16:creationId xmlns:a16="http://schemas.microsoft.com/office/drawing/2014/main" id="{02434D13-248B-4F95-9FB6-BFE83DD7B63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Opgave 27 · Boekpagina 77">
            <a:extLst xmlns:a="http://schemas.openxmlformats.org/drawingml/2006/main">
              <a:ext uri="{FF2B5EF4-FFF2-40B4-BE49-F238E27FC236}">
                <a16:creationId xmlns:a16="http://schemas.microsoft.com/office/drawing/2014/main" id="{CACEBAE5-B63C-4611-988A-3ADA09D35EDF}"/>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Opgave 27 · Boekpagina 77</a:t>
            </a:r>
          </a:p>
        </p:txBody>
      </p:sp>
      <p:sp>
        <p:nvSpPr>
          <p:cNvPr id="4" name="19">
            <a:extLst xmlns:a="http://schemas.openxmlformats.org/drawingml/2006/main">
              <a:ext uri="{FF2B5EF4-FFF2-40B4-BE49-F238E27FC236}">
                <a16:creationId xmlns:a16="http://schemas.microsoft.com/office/drawing/2014/main" id="{CA85D65A-6CBA-4A7E-A0C6-1E27F2DDDA2E}"/>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TK = 0,04q² + 4q + 400     dus MK = 0,08q + 4">
            <a:extLst xmlns:a="http://schemas.openxmlformats.org/drawingml/2006/main">
              <a:ext uri="{FF2B5EF4-FFF2-40B4-BE49-F238E27FC236}">
                <a16:creationId xmlns:a16="http://schemas.microsoft.com/office/drawing/2014/main" id="{2A514904-9480-449B-A258-261DE42EF6CC}"/>
              </a:ext>
            </a:extLst>
          </p:cNvPr>
          <p:cNvSpPr>
            <a:spLocks xmlns:a="http://schemas.openxmlformats.org/drawingml/2006/main" noGrp="1"/>
          </p:cNvSpPr>
          <p:nvPr/>
        </p:nvSpPr>
        <p:spPr>
          <a:xfrm xmlns:a="http://schemas.openxmlformats.org/drawingml/2006/main">
            <a:off x="571500" y="19526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TK = 0,04q² + 4q + 400     dus MK = 0,08q + 4</a:t>
            </a:r>
          </a:p>
        </p:txBody>
      </p:sp>
      <p:sp>
        <p:nvSpPr>
          <p:cNvPr id="6" name="MO = 16.     16 = 0,08q + 4">
            <a:extLst xmlns:a="http://schemas.openxmlformats.org/drawingml/2006/main">
              <a:ext uri="{FF2B5EF4-FFF2-40B4-BE49-F238E27FC236}">
                <a16:creationId xmlns:a16="http://schemas.microsoft.com/office/drawing/2014/main" id="{316EC042-4C93-4870-B75D-E8179957211F}"/>
              </a:ext>
            </a:extLst>
          </p:cNvPr>
          <p:cNvSpPr>
            <a:spLocks xmlns:a="http://schemas.openxmlformats.org/drawingml/2006/main" noGrp="1"/>
          </p:cNvSpPr>
          <p:nvPr/>
        </p:nvSpPr>
        <p:spPr>
          <a:xfrm xmlns:a="http://schemas.openxmlformats.org/drawingml/2006/main">
            <a:off x="571500" y="352425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MO = 16.     16 = 0,08q + 4</a:t>
            </a:r>
          </a:p>
        </p:txBody>
      </p:sp>
      <p:sp>
        <p:nvSpPr>
          <p:cNvPr id="7" name="q = 12 / 0,08 = 150 kg per week">
            <a:extLst xmlns:a="http://schemas.openxmlformats.org/drawingml/2006/main">
              <a:ext uri="{FF2B5EF4-FFF2-40B4-BE49-F238E27FC236}">
                <a16:creationId xmlns:a16="http://schemas.microsoft.com/office/drawing/2014/main" id="{3884E2C8-35E7-460F-9FA6-B8970F469E75}"/>
              </a:ext>
            </a:extLst>
          </p:cNvPr>
          <p:cNvSpPr>
            <a:spLocks xmlns:a="http://schemas.openxmlformats.org/drawingml/2006/main" noGrp="1"/>
          </p:cNvSpPr>
          <p:nvPr/>
        </p:nvSpPr>
        <p:spPr>
          <a:xfrm xmlns:a="http://schemas.openxmlformats.org/drawingml/2006/main">
            <a:off x="571500" y="509587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q = 12 / 0,08 = 150 kg per week</a:t>
            </a:r>
          </a:p>
        </p:txBody>
      </p:sp>
      <p:sp>
        <p:nvSpPr>
          <p:cNvPr id="8" name="150 ≤ 200 kg: de kandidaat is haalbaar.">
            <a:extLst xmlns:a="http://schemas.openxmlformats.org/drawingml/2006/main">
              <a:ext uri="{FF2B5EF4-FFF2-40B4-BE49-F238E27FC236}">
                <a16:creationId xmlns:a16="http://schemas.microsoft.com/office/drawing/2014/main" id="{906BE9FA-650A-4F11-89F8-51C964A3E82A}"/>
              </a:ext>
            </a:extLst>
          </p:cNvPr>
          <p:cNvSpPr>
            <a:spLocks xmlns:a="http://schemas.openxmlformats.org/drawingml/2006/main" noGrp="1"/>
          </p:cNvSpPr>
          <p:nvPr/>
        </p:nvSpPr>
        <p:spPr>
          <a:xfrm xmlns:a="http://schemas.openxmlformats.org/drawingml/2006/main">
            <a:off x="571500" y="666750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150 ≤ 200 kg: de kandidaat is haalbaar.</a:t>
            </a:r>
          </a:p>
        </p:txBody>
      </p:sp>
    </p:spTree>
    <p:extLst>
      <p:ext uri="{BB962C8B-B14F-4D97-AF65-F5344CB8AC3E}">
        <p14:creationId xmlns:p14="http://schemas.microsoft.com/office/powerpoint/2010/main" val="178812425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27b: waarom 150 kg een maximum geeft">
            <a:extLst xmlns:a="http://schemas.openxmlformats.org/drawingml/2006/main">
              <a:ext uri="{FF2B5EF4-FFF2-40B4-BE49-F238E27FC236}">
                <a16:creationId xmlns:a16="http://schemas.microsoft.com/office/drawing/2014/main" id="{0DCA1A11-4AD9-400C-B292-AE3CCFE6C0FE}"/>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27b: waarom 150 kg een maximum geeft</a:t>
            </a:r>
          </a:p>
        </p:txBody>
      </p:sp>
      <p:sp>
        <p:nvSpPr>
          <p:cNvPr id="2" name="">
            <a:extLst xmlns:a="http://schemas.openxmlformats.org/drawingml/2006/main">
              <a:ext uri="{FF2B5EF4-FFF2-40B4-BE49-F238E27FC236}">
                <a16:creationId xmlns:a16="http://schemas.microsoft.com/office/drawing/2014/main" id="{87F3035F-A2BF-4449-9E6D-75D07D0058F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Opgave 27 · Boekpagina 77">
            <a:extLst xmlns:a="http://schemas.openxmlformats.org/drawingml/2006/main">
              <a:ext uri="{FF2B5EF4-FFF2-40B4-BE49-F238E27FC236}">
                <a16:creationId xmlns:a16="http://schemas.microsoft.com/office/drawing/2014/main" id="{5389D3FD-39AE-4626-93EB-CBC2A7AD9799}"/>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Opgave 27 · Boekpagina 77</a:t>
            </a:r>
          </a:p>
        </p:txBody>
      </p:sp>
      <p:sp>
        <p:nvSpPr>
          <p:cNvPr id="4" name="20">
            <a:extLst xmlns:a="http://schemas.openxmlformats.org/drawingml/2006/main">
              <a:ext uri="{FF2B5EF4-FFF2-40B4-BE49-F238E27FC236}">
                <a16:creationId xmlns:a16="http://schemas.microsoft.com/office/drawing/2014/main" id="{B90F1601-D732-452A-8A40-F0A7D13D3755}"/>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P, GO, MO, MK (€ per kg)">
            <a:extLst xmlns:a="http://schemas.openxmlformats.org/drawingml/2006/main">
              <a:ext uri="{FF2B5EF4-FFF2-40B4-BE49-F238E27FC236}">
                <a16:creationId xmlns:a16="http://schemas.microsoft.com/office/drawing/2014/main" id="{764D4A4D-5CC8-44AB-BD66-94EF7B3072A4}"/>
              </a:ext>
            </a:extLst>
          </p:cNvPr>
          <p:cNvSpPr>
            <a:spLocks xmlns:a="http://schemas.openxmlformats.org/drawingml/2006/main" noGrp="1"/>
          </p:cNvSpPr>
          <p:nvPr/>
        </p:nvSpPr>
        <p:spPr>
          <a:xfrm xmlns:a="http://schemas.openxmlformats.org/drawingml/2006/main">
            <a:off x="762000" y="1857375"/>
            <a:ext cx="971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P, GO, MO, MK (€ per kg)</a:t>
            </a:r>
          </a:p>
        </p:txBody>
      </p:sp>
      <p:graphicFrame>
        <p:nvGraphicFramePr>
          <p:cNvPr id="15" name="Chart"/>
          <p:cNvGraphicFramePr/>
          <p:nvPr/>
        </p:nvGraphicFramePr>
        <p:xfrm>
          <a:off xmlns:a="http://schemas.openxmlformats.org/drawingml/2006/main" x="666750" y="2476500"/>
          <a:ext xmlns:a="http://schemas.openxmlformats.org/drawingml/2006/main" cx="9810750" cy="5095875"/>
        </p:xfrm>
        <a:graphic xmlns:a="http://schemas.openxmlformats.org/drawingml/2006/main">
          <a:graphicData uri="http://schemas.openxmlformats.org/drawingml/2006/chart">
            <c:chart xmlns:r="http://schemas.openxmlformats.org/officeDocument/2006/relationships" xmlns:c="http://schemas.openxmlformats.org/drawingml/2006/chart" r:id="Rc05decdef5a845ea"/>
          </a:graphicData>
        </a:graphic>
      </p:graphicFrame>
      <p:sp>
        <p:nvSpPr>
          <p:cNvPr id="7" name="q = 125: MK = 14&lt;16&#10;Uitbreiden gunstig.">
            <a:extLst xmlns:a="http://schemas.openxmlformats.org/drawingml/2006/main">
              <a:ext uri="{FF2B5EF4-FFF2-40B4-BE49-F238E27FC236}">
                <a16:creationId xmlns:a16="http://schemas.microsoft.com/office/drawing/2014/main" id="{402D7918-2E54-41D1-844D-98CD5FEB58BF}"/>
              </a:ext>
            </a:extLst>
          </p:cNvPr>
          <p:cNvSpPr>
            <a:spLocks xmlns:a="http://schemas.openxmlformats.org/drawingml/2006/main" noGrp="1"/>
          </p:cNvSpPr>
          <p:nvPr/>
        </p:nvSpPr>
        <p:spPr>
          <a:xfrm xmlns:a="http://schemas.openxmlformats.org/drawingml/2006/main">
            <a:off x="10858500" y="276225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q = 125: MK = 14&lt;16</a:t>
            </a:r>
          </a:p>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Uitbreiden gunstig.</a:t>
            </a:r>
          </a:p>
        </p:txBody>
      </p:sp>
      <p:sp>
        <p:nvSpPr>
          <p:cNvPr id="8" name="q = 175: MK = 18&gt;16&#10;Inkrimpen gunstig.">
            <a:extLst xmlns:a="http://schemas.openxmlformats.org/drawingml/2006/main">
              <a:ext uri="{FF2B5EF4-FFF2-40B4-BE49-F238E27FC236}">
                <a16:creationId xmlns:a16="http://schemas.microsoft.com/office/drawing/2014/main" id="{4AD21D5C-7015-4837-AAD3-53AB5C504C0C}"/>
              </a:ext>
            </a:extLst>
          </p:cNvPr>
          <p:cNvSpPr>
            <a:spLocks xmlns:a="http://schemas.openxmlformats.org/drawingml/2006/main" noGrp="1"/>
          </p:cNvSpPr>
          <p:nvPr/>
        </p:nvSpPr>
        <p:spPr>
          <a:xfrm xmlns:a="http://schemas.openxmlformats.org/drawingml/2006/main">
            <a:off x="10858500" y="4162425"/>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q = 175: MK = 18&gt;16</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Inkrimpen gunstig.</a:t>
            </a:r>
          </a:p>
        </p:txBody>
      </p:sp>
      <p:sp>
        <p:nvSpPr>
          <p:cNvPr id="9" name="MK stijgt door MO.&#10;150 kg past binnen 200.">
            <a:extLst xmlns:a="http://schemas.openxmlformats.org/drawingml/2006/main">
              <a:ext uri="{FF2B5EF4-FFF2-40B4-BE49-F238E27FC236}">
                <a16:creationId xmlns:a16="http://schemas.microsoft.com/office/drawing/2014/main" id="{D8BEBC6D-6EAF-4B2C-97B5-30E47672FB3B}"/>
              </a:ext>
            </a:extLst>
          </p:cNvPr>
          <p:cNvSpPr>
            <a:spLocks xmlns:a="http://schemas.openxmlformats.org/drawingml/2006/main" noGrp="1"/>
          </p:cNvSpPr>
          <p:nvPr/>
        </p:nvSpPr>
        <p:spPr>
          <a:xfrm xmlns:a="http://schemas.openxmlformats.org/drawingml/2006/main">
            <a:off x="10858500" y="556260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MK stijgt door MO.</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150 kg past binnen 200.</a:t>
            </a:r>
          </a:p>
        </p:txBody>
      </p:sp>
    </p:spTree>
    <p:extLst>
      <p:ext uri="{BB962C8B-B14F-4D97-AF65-F5344CB8AC3E}">
        <p14:creationId xmlns:p14="http://schemas.microsoft.com/office/powerpoint/2010/main" val="22146700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27c: totale opbrengst, kosten en winst">
            <a:extLst xmlns:a="http://schemas.openxmlformats.org/drawingml/2006/main">
              <a:ext uri="{FF2B5EF4-FFF2-40B4-BE49-F238E27FC236}">
                <a16:creationId xmlns:a16="http://schemas.microsoft.com/office/drawing/2014/main" id="{F8B46638-CB2D-4A4A-BBF4-3304D87E11F2}"/>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27c: totale opbrengst, kosten en winst</a:t>
            </a:r>
          </a:p>
        </p:txBody>
      </p:sp>
      <p:sp>
        <p:nvSpPr>
          <p:cNvPr id="2" name="">
            <a:extLst xmlns:a="http://schemas.openxmlformats.org/drawingml/2006/main">
              <a:ext uri="{FF2B5EF4-FFF2-40B4-BE49-F238E27FC236}">
                <a16:creationId xmlns:a16="http://schemas.microsoft.com/office/drawing/2014/main" id="{77EF0DC3-2530-4D8D-8A5F-FDAB06AE584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Opgave 27 · Boekpagina 77">
            <a:extLst xmlns:a="http://schemas.openxmlformats.org/drawingml/2006/main">
              <a:ext uri="{FF2B5EF4-FFF2-40B4-BE49-F238E27FC236}">
                <a16:creationId xmlns:a16="http://schemas.microsoft.com/office/drawing/2014/main" id="{529A2DC1-66F9-4BE8-A1F8-24EE6CDFFFA2}"/>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Opgave 27 · Boekpagina 77</a:t>
            </a:r>
          </a:p>
        </p:txBody>
      </p:sp>
      <p:sp>
        <p:nvSpPr>
          <p:cNvPr id="4" name="21">
            <a:extLst xmlns:a="http://schemas.openxmlformats.org/drawingml/2006/main">
              <a:ext uri="{FF2B5EF4-FFF2-40B4-BE49-F238E27FC236}">
                <a16:creationId xmlns:a16="http://schemas.microsoft.com/office/drawing/2014/main" id="{915C1851-FD51-471C-A970-0338CBB1DD15}"/>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TO = 16 × 150 = € 2.400 per week">
            <a:extLst xmlns:a="http://schemas.openxmlformats.org/drawingml/2006/main">
              <a:ext uri="{FF2B5EF4-FFF2-40B4-BE49-F238E27FC236}">
                <a16:creationId xmlns:a16="http://schemas.microsoft.com/office/drawing/2014/main" id="{8647C715-7512-45E0-B300-154AA98BCC94}"/>
              </a:ext>
            </a:extLst>
          </p:cNvPr>
          <p:cNvSpPr>
            <a:spLocks xmlns:a="http://schemas.openxmlformats.org/drawingml/2006/main" noGrp="1"/>
          </p:cNvSpPr>
          <p:nvPr/>
        </p:nvSpPr>
        <p:spPr>
          <a:xfrm xmlns:a="http://schemas.openxmlformats.org/drawingml/2006/main">
            <a:off x="571500" y="19526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TO = 16 × 150 = € 2.400 per week</a:t>
            </a:r>
          </a:p>
        </p:txBody>
      </p:sp>
      <p:sp>
        <p:nvSpPr>
          <p:cNvPr id="6" name="TK = 0,04 × 150² + 4 × 150 + 400">
            <a:extLst xmlns:a="http://schemas.openxmlformats.org/drawingml/2006/main">
              <a:ext uri="{FF2B5EF4-FFF2-40B4-BE49-F238E27FC236}">
                <a16:creationId xmlns:a16="http://schemas.microsoft.com/office/drawing/2014/main" id="{6F37D2D4-7DAF-486D-B171-116E36D86149}"/>
              </a:ext>
            </a:extLst>
          </p:cNvPr>
          <p:cNvSpPr>
            <a:spLocks xmlns:a="http://schemas.openxmlformats.org/drawingml/2006/main" noGrp="1"/>
          </p:cNvSpPr>
          <p:nvPr/>
        </p:nvSpPr>
        <p:spPr>
          <a:xfrm xmlns:a="http://schemas.openxmlformats.org/drawingml/2006/main">
            <a:off x="571500" y="352425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TK = 0,04 × 150² + 4 × 150 + 400</a:t>
            </a:r>
          </a:p>
        </p:txBody>
      </p:sp>
      <p:sp>
        <p:nvSpPr>
          <p:cNvPr id="7" name="TK = 900 + 600 + 400 = € 1.900 per week">
            <a:extLst xmlns:a="http://schemas.openxmlformats.org/drawingml/2006/main">
              <a:ext uri="{FF2B5EF4-FFF2-40B4-BE49-F238E27FC236}">
                <a16:creationId xmlns:a16="http://schemas.microsoft.com/office/drawing/2014/main" id="{E422BB75-3D16-42C0-9FFB-4F860CDCA235}"/>
              </a:ext>
            </a:extLst>
          </p:cNvPr>
          <p:cNvSpPr>
            <a:spLocks xmlns:a="http://schemas.openxmlformats.org/drawingml/2006/main" noGrp="1"/>
          </p:cNvSpPr>
          <p:nvPr/>
        </p:nvSpPr>
        <p:spPr>
          <a:xfrm xmlns:a="http://schemas.openxmlformats.org/drawingml/2006/main">
            <a:off x="571500" y="509587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TK = 900 + 600 + 400 = € 1.900 per week</a:t>
            </a:r>
          </a:p>
        </p:txBody>
      </p:sp>
      <p:sp>
        <p:nvSpPr>
          <p:cNvPr id="8" name="Winst = 2.400 − 1.900 = € 500 per week">
            <a:extLst xmlns:a="http://schemas.openxmlformats.org/drawingml/2006/main">
              <a:ext uri="{FF2B5EF4-FFF2-40B4-BE49-F238E27FC236}">
                <a16:creationId xmlns:a16="http://schemas.microsoft.com/office/drawing/2014/main" id="{4EFDAE6F-2C55-4FBA-BB3E-CF742B86FC44}"/>
              </a:ext>
            </a:extLst>
          </p:cNvPr>
          <p:cNvSpPr>
            <a:spLocks xmlns:a="http://schemas.openxmlformats.org/drawingml/2006/main" noGrp="1"/>
          </p:cNvSpPr>
          <p:nvPr/>
        </p:nvSpPr>
        <p:spPr>
          <a:xfrm xmlns:a="http://schemas.openxmlformats.org/drawingml/2006/main">
            <a:off x="571500" y="666750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Winst = 2.400 − 1.900 = € 500 per week</a:t>
            </a:r>
          </a:p>
        </p:txBody>
      </p:sp>
    </p:spTree>
    <p:extLst>
      <p:ext uri="{BB962C8B-B14F-4D97-AF65-F5344CB8AC3E}">
        <p14:creationId xmlns:p14="http://schemas.microsoft.com/office/powerpoint/2010/main" val="150621298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27d: breedte en hoogte van de winst">
            <a:extLst xmlns:a="http://schemas.openxmlformats.org/drawingml/2006/main">
              <a:ext uri="{FF2B5EF4-FFF2-40B4-BE49-F238E27FC236}">
                <a16:creationId xmlns:a16="http://schemas.microsoft.com/office/drawing/2014/main" id="{E4C48C02-7919-4B0B-B51D-955F65DE6620}"/>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27d: breedte en hoogte van de winst</a:t>
            </a:r>
          </a:p>
        </p:txBody>
      </p:sp>
      <p:sp>
        <p:nvSpPr>
          <p:cNvPr id="2" name="">
            <a:extLst xmlns:a="http://schemas.openxmlformats.org/drawingml/2006/main">
              <a:ext uri="{FF2B5EF4-FFF2-40B4-BE49-F238E27FC236}">
                <a16:creationId xmlns:a16="http://schemas.microsoft.com/office/drawing/2014/main" id="{21CCD6FD-E60F-4A77-A1AF-03AF66B5D2E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Opgave 27 · Boekpagina 77">
            <a:extLst xmlns:a="http://schemas.openxmlformats.org/drawingml/2006/main">
              <a:ext uri="{FF2B5EF4-FFF2-40B4-BE49-F238E27FC236}">
                <a16:creationId xmlns:a16="http://schemas.microsoft.com/office/drawing/2014/main" id="{0F2AD78C-B61B-4D0C-8254-8E084D724B6E}"/>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Opgave 27 · Boekpagina 77</a:t>
            </a:r>
          </a:p>
        </p:txBody>
      </p:sp>
      <p:sp>
        <p:nvSpPr>
          <p:cNvPr id="4" name="22">
            <a:extLst xmlns:a="http://schemas.openxmlformats.org/drawingml/2006/main">
              <a:ext uri="{FF2B5EF4-FFF2-40B4-BE49-F238E27FC236}">
                <a16:creationId xmlns:a16="http://schemas.microsoft.com/office/drawing/2014/main" id="{42DDE26D-CF8E-42B4-9CA1-F897B5D92E86}"/>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GTK = 1.900 / 150 = € 12,666… per kg">
            <a:extLst xmlns:a="http://schemas.openxmlformats.org/drawingml/2006/main">
              <a:ext uri="{FF2B5EF4-FFF2-40B4-BE49-F238E27FC236}">
                <a16:creationId xmlns:a16="http://schemas.microsoft.com/office/drawing/2014/main" id="{5D7100E6-B3B7-4B23-9356-34F390B8D1F8}"/>
              </a:ext>
            </a:extLst>
          </p:cNvPr>
          <p:cNvSpPr>
            <a:spLocks xmlns:a="http://schemas.openxmlformats.org/drawingml/2006/main" noGrp="1"/>
          </p:cNvSpPr>
          <p:nvPr/>
        </p:nvSpPr>
        <p:spPr>
          <a:xfrm xmlns:a="http://schemas.openxmlformats.org/drawingml/2006/main">
            <a:off x="571500" y="19526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GTK = 1.900 / 150 = € 12,666… per kg</a:t>
            </a:r>
          </a:p>
        </p:txBody>
      </p:sp>
      <p:sp>
        <p:nvSpPr>
          <p:cNvPr id="6" name="Breedte = 150 kg per week">
            <a:extLst xmlns:a="http://schemas.openxmlformats.org/drawingml/2006/main">
              <a:ext uri="{FF2B5EF4-FFF2-40B4-BE49-F238E27FC236}">
                <a16:creationId xmlns:a16="http://schemas.microsoft.com/office/drawing/2014/main" id="{9D57C26B-02AF-4701-9993-63E69F72A7DF}"/>
              </a:ext>
            </a:extLst>
          </p:cNvPr>
          <p:cNvSpPr>
            <a:spLocks xmlns:a="http://schemas.openxmlformats.org/drawingml/2006/main" noGrp="1"/>
          </p:cNvSpPr>
          <p:nvPr/>
        </p:nvSpPr>
        <p:spPr>
          <a:xfrm xmlns:a="http://schemas.openxmlformats.org/drawingml/2006/main">
            <a:off x="571500" y="352425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Breedte = 150 kg per week</a:t>
            </a:r>
          </a:p>
        </p:txBody>
      </p:sp>
      <p:sp>
        <p:nvSpPr>
          <p:cNvPr id="7" name="Hoogte = 16 − 1.900 / 150 = € 3,333… per kg">
            <a:extLst xmlns:a="http://schemas.openxmlformats.org/drawingml/2006/main">
              <a:ext uri="{FF2B5EF4-FFF2-40B4-BE49-F238E27FC236}">
                <a16:creationId xmlns:a16="http://schemas.microsoft.com/office/drawing/2014/main" id="{1181382A-0D73-42BA-9A40-A059AC95A445}"/>
              </a:ext>
            </a:extLst>
          </p:cNvPr>
          <p:cNvSpPr>
            <a:spLocks xmlns:a="http://schemas.openxmlformats.org/drawingml/2006/main" noGrp="1"/>
          </p:cNvSpPr>
          <p:nvPr/>
        </p:nvSpPr>
        <p:spPr>
          <a:xfrm xmlns:a="http://schemas.openxmlformats.org/drawingml/2006/main">
            <a:off x="571500" y="509587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Hoogte = 16 − 1.900 / 150 = € 3,333… per kg</a:t>
            </a:r>
          </a:p>
        </p:txBody>
      </p:sp>
      <p:sp>
        <p:nvSpPr>
          <p:cNvPr id="8" name="Oppervlakte = 150 × (16 − 1.900 / 150) = € 500 per week">
            <a:extLst xmlns:a="http://schemas.openxmlformats.org/drawingml/2006/main">
              <a:ext uri="{FF2B5EF4-FFF2-40B4-BE49-F238E27FC236}">
                <a16:creationId xmlns:a16="http://schemas.microsoft.com/office/drawing/2014/main" id="{7E71FA35-082E-4B57-887D-CD0CD8D6F8A1}"/>
              </a:ext>
            </a:extLst>
          </p:cNvPr>
          <p:cNvSpPr>
            <a:spLocks xmlns:a="http://schemas.openxmlformats.org/drawingml/2006/main" noGrp="1"/>
          </p:cNvSpPr>
          <p:nvPr/>
        </p:nvSpPr>
        <p:spPr>
          <a:xfrm xmlns:a="http://schemas.openxmlformats.org/drawingml/2006/main">
            <a:off x="571500" y="666750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Oppervlakte = 150 × (16 − 1.900 / 150) = € 500 per week</a:t>
            </a:r>
          </a:p>
        </p:txBody>
      </p:sp>
    </p:spTree>
    <p:extLst>
      <p:ext uri="{BB962C8B-B14F-4D97-AF65-F5344CB8AC3E}">
        <p14:creationId xmlns:p14="http://schemas.microsoft.com/office/powerpoint/2010/main" val="45379139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1" name="27d: q en de winstrechthoek">
            <a:extLst xmlns:a="http://schemas.openxmlformats.org/drawingml/2006/main">
              <a:ext uri="{FF2B5EF4-FFF2-40B4-BE49-F238E27FC236}">
                <a16:creationId xmlns:a16="http://schemas.microsoft.com/office/drawing/2014/main" id="{04764769-834E-41AF-A552-6A007F462E81}"/>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27d: q en de winstrechthoek</a:t>
            </a:r>
          </a:p>
        </p:txBody>
      </p:sp>
      <p:sp>
        <p:nvSpPr>
          <p:cNvPr id="2" name="">
            <a:extLst xmlns:a="http://schemas.openxmlformats.org/drawingml/2006/main">
              <a:ext uri="{FF2B5EF4-FFF2-40B4-BE49-F238E27FC236}">
                <a16:creationId xmlns:a16="http://schemas.microsoft.com/office/drawing/2014/main" id="{5DB71BB5-4695-4562-931E-D640D8CE976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Opgave 27 · Boekpagina 77">
            <a:extLst xmlns:a="http://schemas.openxmlformats.org/drawingml/2006/main">
              <a:ext uri="{FF2B5EF4-FFF2-40B4-BE49-F238E27FC236}">
                <a16:creationId xmlns:a16="http://schemas.microsoft.com/office/drawing/2014/main" id="{835C3CCE-5C8F-4AEE-8D78-27369E21C1ED}"/>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Opgave 27 · Boekpagina 77</a:t>
            </a:r>
          </a:p>
        </p:txBody>
      </p:sp>
      <p:sp>
        <p:nvSpPr>
          <p:cNvPr id="4" name="23">
            <a:extLst xmlns:a="http://schemas.openxmlformats.org/drawingml/2006/main">
              <a:ext uri="{FF2B5EF4-FFF2-40B4-BE49-F238E27FC236}">
                <a16:creationId xmlns:a16="http://schemas.microsoft.com/office/drawing/2014/main" id="{D1CA46D0-2EC4-46D5-AEA7-14AC9665E404}"/>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P, GO, MO, MK en GTK (€ per kg)">
            <a:extLst xmlns:a="http://schemas.openxmlformats.org/drawingml/2006/main">
              <a:ext uri="{FF2B5EF4-FFF2-40B4-BE49-F238E27FC236}">
                <a16:creationId xmlns:a16="http://schemas.microsoft.com/office/drawing/2014/main" id="{BA0D3D08-EAD5-482E-8040-33CB65F90E46}"/>
              </a:ext>
            </a:extLst>
          </p:cNvPr>
          <p:cNvSpPr>
            <a:spLocks xmlns:a="http://schemas.openxmlformats.org/drawingml/2006/main" noGrp="1"/>
          </p:cNvSpPr>
          <p:nvPr/>
        </p:nvSpPr>
        <p:spPr>
          <a:xfrm xmlns:a="http://schemas.openxmlformats.org/drawingml/2006/main">
            <a:off x="762000" y="1857375"/>
            <a:ext cx="971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P, GO, MO, MK en GTK (€ per kg)</a:t>
            </a:r>
          </a:p>
        </p:txBody>
      </p:sp>
      <p:graphicFrame>
        <p:nvGraphicFramePr>
          <p:cNvPr id="56" name="Chart"/>
          <p:cNvGraphicFramePr/>
          <p:nvPr/>
        </p:nvGraphicFramePr>
        <p:xfrm>
          <a:off xmlns:a="http://schemas.openxmlformats.org/drawingml/2006/main" x="666750" y="2476500"/>
          <a:ext xmlns:a="http://schemas.openxmlformats.org/drawingml/2006/main" cx="9810750" cy="5095875"/>
        </p:xfrm>
        <a:graphic xmlns:a="http://schemas.openxmlformats.org/drawingml/2006/main">
          <a:graphicData uri="http://schemas.openxmlformats.org/drawingml/2006/chart">
            <c:chart xmlns:r="http://schemas.openxmlformats.org/officeDocument/2006/relationships" xmlns:c="http://schemas.openxmlformats.org/drawingml/2006/chart" r:id="Rf8e4c11153984c83"/>
          </a:graphicData>
        </a:graphic>
      </p:graphicFrame>
      <p:sp>
        <p:nvSpPr>
          <p:cNvPr id="7" name="Winstrechthoek">
            <a:extLst xmlns:a="http://schemas.openxmlformats.org/drawingml/2006/main">
              <a:ext uri="{FF2B5EF4-FFF2-40B4-BE49-F238E27FC236}">
                <a16:creationId xmlns:a16="http://schemas.microsoft.com/office/drawing/2014/main" id="{D4606508-53A1-40B8-A494-2726CA73069A}"/>
              </a:ext>
            </a:extLst>
          </p:cNvPr>
          <p:cNvSpPr>
            <a:spLocks xmlns:a="http://schemas.openxmlformats.org/drawingml/2006/main" noGrp="1"/>
          </p:cNvSpPr>
          <p:nvPr/>
        </p:nvSpPr>
        <p:spPr>
          <a:xfrm xmlns:a="http://schemas.openxmlformats.org/drawingml/2006/main">
            <a:off x="1647825" y="4073208"/>
            <a:ext cx="6254353" cy="559131"/>
          </a:xfrm>
          <a:prstGeom xmlns:a="http://schemas.openxmlformats.org/drawingml/2006/main" prst="rect">
            <a:avLst/>
          </a:prstGeom>
          <a:noFill xmlns:a="http://schemas.openxmlformats.org/drawingml/2006/main"/>
          <a:ln xmlns:a="http://schemas.openxmlformats.org/drawingml/2006/main" w="21908">
            <a:solidFill>
              <a:srgbClr val="20665B"/>
            </a:solidFill>
          </a:ln>
        </p:spPr>
      </p:sp>
      <p:sp>
        <p:nvSpPr>
          <p:cNvPr id="8" name="Winstarcering">
            <a:extLst xmlns:a="http://schemas.openxmlformats.org/drawingml/2006/main">
              <a:ext uri="{FF2B5EF4-FFF2-40B4-BE49-F238E27FC236}">
                <a16:creationId xmlns:a16="http://schemas.microsoft.com/office/drawing/2014/main" id="{49DB6FA0-046C-4926-9782-8ABDBEC8242F}"/>
              </a:ext>
            </a:extLst>
          </p:cNvPr>
          <p:cNvSpPr>
            <a:spLocks xmlns:a="http://schemas.openxmlformats.org/drawingml/2006/main" noGrp="1"/>
          </p:cNvSpPr>
          <p:nvPr/>
        </p:nvSpPr>
        <p:spPr>
          <a:xfrm xmlns:a="http://schemas.openxmlformats.org/drawingml/2006/main">
            <a:off x="1647825" y="4518038"/>
            <a:ext cx="114300" cy="114300"/>
          </a:xfrm>
          <a:prstGeom xmlns:a="http://schemas.openxmlformats.org/drawingml/2006/main" prst="line">
            <a:avLst/>
          </a:prstGeom>
          <a:ln xmlns:a="http://schemas.openxmlformats.org/drawingml/2006/main" w="9525">
            <a:solidFill>
              <a:srgbClr val="20665B"/>
            </a:solidFill>
          </a:ln>
        </p:spPr>
      </p:sp>
      <p:sp>
        <p:nvSpPr>
          <p:cNvPr id="9" name="Winstarcering">
            <a:extLst xmlns:a="http://schemas.openxmlformats.org/drawingml/2006/main">
              <a:ext uri="{FF2B5EF4-FFF2-40B4-BE49-F238E27FC236}">
                <a16:creationId xmlns:a16="http://schemas.microsoft.com/office/drawing/2014/main" id="{FBF8EFFF-2000-40E2-AEEB-B1F8581A6F78}"/>
              </a:ext>
            </a:extLst>
          </p:cNvPr>
          <p:cNvSpPr>
            <a:spLocks xmlns:a="http://schemas.openxmlformats.org/drawingml/2006/main" noGrp="1"/>
          </p:cNvSpPr>
          <p:nvPr/>
        </p:nvSpPr>
        <p:spPr>
          <a:xfrm xmlns:a="http://schemas.openxmlformats.org/drawingml/2006/main">
            <a:off x="1647825" y="4346588"/>
            <a:ext cx="285750" cy="285750"/>
          </a:xfrm>
          <a:prstGeom xmlns:a="http://schemas.openxmlformats.org/drawingml/2006/main" prst="line">
            <a:avLst/>
          </a:prstGeom>
          <a:ln xmlns:a="http://schemas.openxmlformats.org/drawingml/2006/main" w="9525">
            <a:solidFill>
              <a:srgbClr val="20665B"/>
            </a:solidFill>
          </a:ln>
        </p:spPr>
      </p:sp>
      <p:sp>
        <p:nvSpPr>
          <p:cNvPr id="10" name="Winstarcering">
            <a:extLst xmlns:a="http://schemas.openxmlformats.org/drawingml/2006/main">
              <a:ext uri="{FF2B5EF4-FFF2-40B4-BE49-F238E27FC236}">
                <a16:creationId xmlns:a16="http://schemas.microsoft.com/office/drawing/2014/main" id="{560B7B67-82CF-4B58-874A-496B7C2FA886}"/>
              </a:ext>
            </a:extLst>
          </p:cNvPr>
          <p:cNvSpPr>
            <a:spLocks xmlns:a="http://schemas.openxmlformats.org/drawingml/2006/main" noGrp="1"/>
          </p:cNvSpPr>
          <p:nvPr/>
        </p:nvSpPr>
        <p:spPr>
          <a:xfrm xmlns:a="http://schemas.openxmlformats.org/drawingml/2006/main">
            <a:off x="1647825" y="4175138"/>
            <a:ext cx="457200" cy="457200"/>
          </a:xfrm>
          <a:prstGeom xmlns:a="http://schemas.openxmlformats.org/drawingml/2006/main" prst="line">
            <a:avLst/>
          </a:prstGeom>
          <a:ln xmlns:a="http://schemas.openxmlformats.org/drawingml/2006/main" w="9525">
            <a:solidFill>
              <a:srgbClr val="20665B"/>
            </a:solidFill>
          </a:ln>
        </p:spPr>
      </p:sp>
      <p:sp>
        <p:nvSpPr>
          <p:cNvPr id="11" name="Winstarcering">
            <a:extLst xmlns:a="http://schemas.openxmlformats.org/drawingml/2006/main">
              <a:ext uri="{FF2B5EF4-FFF2-40B4-BE49-F238E27FC236}">
                <a16:creationId xmlns:a16="http://schemas.microsoft.com/office/drawing/2014/main" id="{199E65C5-C5F7-4383-AC32-4F4856831614}"/>
              </a:ext>
            </a:extLst>
          </p:cNvPr>
          <p:cNvSpPr>
            <a:spLocks xmlns:a="http://schemas.openxmlformats.org/drawingml/2006/main" noGrp="1"/>
          </p:cNvSpPr>
          <p:nvPr/>
        </p:nvSpPr>
        <p:spPr>
          <a:xfrm xmlns:a="http://schemas.openxmlformats.org/drawingml/2006/main">
            <a:off x="1717344" y="4073208"/>
            <a:ext cx="559131" cy="559131"/>
          </a:xfrm>
          <a:prstGeom xmlns:a="http://schemas.openxmlformats.org/drawingml/2006/main" prst="line">
            <a:avLst/>
          </a:prstGeom>
          <a:ln xmlns:a="http://schemas.openxmlformats.org/drawingml/2006/main" w="9525">
            <a:solidFill>
              <a:srgbClr val="20665B"/>
            </a:solidFill>
          </a:ln>
        </p:spPr>
      </p:sp>
      <p:sp>
        <p:nvSpPr>
          <p:cNvPr id="12" name="Winstarcering">
            <a:extLst xmlns:a="http://schemas.openxmlformats.org/drawingml/2006/main">
              <a:ext uri="{FF2B5EF4-FFF2-40B4-BE49-F238E27FC236}">
                <a16:creationId xmlns:a16="http://schemas.microsoft.com/office/drawing/2014/main" id="{AD91DC18-B72D-4ADE-8773-0AE88A825398}"/>
              </a:ext>
            </a:extLst>
          </p:cNvPr>
          <p:cNvSpPr>
            <a:spLocks xmlns:a="http://schemas.openxmlformats.org/drawingml/2006/main" noGrp="1"/>
          </p:cNvSpPr>
          <p:nvPr/>
        </p:nvSpPr>
        <p:spPr>
          <a:xfrm xmlns:a="http://schemas.openxmlformats.org/drawingml/2006/main">
            <a:off x="1888794" y="4073208"/>
            <a:ext cx="559131" cy="559131"/>
          </a:xfrm>
          <a:prstGeom xmlns:a="http://schemas.openxmlformats.org/drawingml/2006/main" prst="line">
            <a:avLst/>
          </a:prstGeom>
          <a:ln xmlns:a="http://schemas.openxmlformats.org/drawingml/2006/main" w="9525">
            <a:solidFill>
              <a:srgbClr val="20665B"/>
            </a:solidFill>
          </a:ln>
        </p:spPr>
      </p:sp>
      <p:sp>
        <p:nvSpPr>
          <p:cNvPr id="13" name="Winstarcering">
            <a:extLst xmlns:a="http://schemas.openxmlformats.org/drawingml/2006/main">
              <a:ext uri="{FF2B5EF4-FFF2-40B4-BE49-F238E27FC236}">
                <a16:creationId xmlns:a16="http://schemas.microsoft.com/office/drawing/2014/main" id="{8A275FFB-0010-49BF-B329-A20286ABD4FE}"/>
              </a:ext>
            </a:extLst>
          </p:cNvPr>
          <p:cNvSpPr>
            <a:spLocks xmlns:a="http://schemas.openxmlformats.org/drawingml/2006/main" noGrp="1"/>
          </p:cNvSpPr>
          <p:nvPr/>
        </p:nvSpPr>
        <p:spPr>
          <a:xfrm xmlns:a="http://schemas.openxmlformats.org/drawingml/2006/main">
            <a:off x="2060244" y="4073208"/>
            <a:ext cx="559131" cy="559131"/>
          </a:xfrm>
          <a:prstGeom xmlns:a="http://schemas.openxmlformats.org/drawingml/2006/main" prst="line">
            <a:avLst/>
          </a:prstGeom>
          <a:ln xmlns:a="http://schemas.openxmlformats.org/drawingml/2006/main" w="9525">
            <a:solidFill>
              <a:srgbClr val="20665B"/>
            </a:solidFill>
          </a:ln>
        </p:spPr>
      </p:sp>
      <p:sp>
        <p:nvSpPr>
          <p:cNvPr id="14" name="Winstarcering">
            <a:extLst xmlns:a="http://schemas.openxmlformats.org/drawingml/2006/main">
              <a:ext uri="{FF2B5EF4-FFF2-40B4-BE49-F238E27FC236}">
                <a16:creationId xmlns:a16="http://schemas.microsoft.com/office/drawing/2014/main" id="{CF1AD3E9-E3CA-41E2-8BB5-24BCE4D41829}"/>
              </a:ext>
            </a:extLst>
          </p:cNvPr>
          <p:cNvSpPr>
            <a:spLocks xmlns:a="http://schemas.openxmlformats.org/drawingml/2006/main" noGrp="1"/>
          </p:cNvSpPr>
          <p:nvPr/>
        </p:nvSpPr>
        <p:spPr>
          <a:xfrm xmlns:a="http://schemas.openxmlformats.org/drawingml/2006/main">
            <a:off x="2231694" y="4073208"/>
            <a:ext cx="559131" cy="559131"/>
          </a:xfrm>
          <a:prstGeom xmlns:a="http://schemas.openxmlformats.org/drawingml/2006/main" prst="line">
            <a:avLst/>
          </a:prstGeom>
          <a:ln xmlns:a="http://schemas.openxmlformats.org/drawingml/2006/main" w="9525">
            <a:solidFill>
              <a:srgbClr val="20665B"/>
            </a:solidFill>
          </a:ln>
        </p:spPr>
      </p:sp>
      <p:sp>
        <p:nvSpPr>
          <p:cNvPr id="15" name="Winstarcering">
            <a:extLst xmlns:a="http://schemas.openxmlformats.org/drawingml/2006/main">
              <a:ext uri="{FF2B5EF4-FFF2-40B4-BE49-F238E27FC236}">
                <a16:creationId xmlns:a16="http://schemas.microsoft.com/office/drawing/2014/main" id="{43392BB6-115C-42AB-B4B1-77EC0ED474D2}"/>
              </a:ext>
            </a:extLst>
          </p:cNvPr>
          <p:cNvSpPr>
            <a:spLocks xmlns:a="http://schemas.openxmlformats.org/drawingml/2006/main" noGrp="1"/>
          </p:cNvSpPr>
          <p:nvPr/>
        </p:nvSpPr>
        <p:spPr>
          <a:xfrm xmlns:a="http://schemas.openxmlformats.org/drawingml/2006/main">
            <a:off x="2403144" y="4073208"/>
            <a:ext cx="559131" cy="559131"/>
          </a:xfrm>
          <a:prstGeom xmlns:a="http://schemas.openxmlformats.org/drawingml/2006/main" prst="line">
            <a:avLst/>
          </a:prstGeom>
          <a:ln xmlns:a="http://schemas.openxmlformats.org/drawingml/2006/main" w="9525">
            <a:solidFill>
              <a:srgbClr val="20665B"/>
            </a:solidFill>
          </a:ln>
        </p:spPr>
      </p:sp>
      <p:sp>
        <p:nvSpPr>
          <p:cNvPr id="16" name="Winstarcering">
            <a:extLst xmlns:a="http://schemas.openxmlformats.org/drawingml/2006/main">
              <a:ext uri="{FF2B5EF4-FFF2-40B4-BE49-F238E27FC236}">
                <a16:creationId xmlns:a16="http://schemas.microsoft.com/office/drawing/2014/main" id="{B3A4F155-3AF6-4EC6-8FC6-AC670BFFF14D}"/>
              </a:ext>
            </a:extLst>
          </p:cNvPr>
          <p:cNvSpPr>
            <a:spLocks xmlns:a="http://schemas.openxmlformats.org/drawingml/2006/main" noGrp="1"/>
          </p:cNvSpPr>
          <p:nvPr/>
        </p:nvSpPr>
        <p:spPr>
          <a:xfrm xmlns:a="http://schemas.openxmlformats.org/drawingml/2006/main">
            <a:off x="2574594" y="4073208"/>
            <a:ext cx="559131" cy="559131"/>
          </a:xfrm>
          <a:prstGeom xmlns:a="http://schemas.openxmlformats.org/drawingml/2006/main" prst="line">
            <a:avLst/>
          </a:prstGeom>
          <a:ln xmlns:a="http://schemas.openxmlformats.org/drawingml/2006/main" w="9525">
            <a:solidFill>
              <a:srgbClr val="20665B"/>
            </a:solidFill>
          </a:ln>
        </p:spPr>
      </p:sp>
      <p:sp>
        <p:nvSpPr>
          <p:cNvPr id="17" name="Winstarcering">
            <a:extLst xmlns:a="http://schemas.openxmlformats.org/drawingml/2006/main">
              <a:ext uri="{FF2B5EF4-FFF2-40B4-BE49-F238E27FC236}">
                <a16:creationId xmlns:a16="http://schemas.microsoft.com/office/drawing/2014/main" id="{579F8016-8D23-4673-9BFC-EA7244B69942}"/>
              </a:ext>
            </a:extLst>
          </p:cNvPr>
          <p:cNvSpPr>
            <a:spLocks xmlns:a="http://schemas.openxmlformats.org/drawingml/2006/main" noGrp="1"/>
          </p:cNvSpPr>
          <p:nvPr/>
        </p:nvSpPr>
        <p:spPr>
          <a:xfrm xmlns:a="http://schemas.openxmlformats.org/drawingml/2006/main">
            <a:off x="2746044" y="4073208"/>
            <a:ext cx="559131" cy="559131"/>
          </a:xfrm>
          <a:prstGeom xmlns:a="http://schemas.openxmlformats.org/drawingml/2006/main" prst="line">
            <a:avLst/>
          </a:prstGeom>
          <a:ln xmlns:a="http://schemas.openxmlformats.org/drawingml/2006/main" w="9525">
            <a:solidFill>
              <a:srgbClr val="20665B"/>
            </a:solidFill>
          </a:ln>
        </p:spPr>
      </p:sp>
      <p:sp>
        <p:nvSpPr>
          <p:cNvPr id="18" name="Winstarcering">
            <a:extLst xmlns:a="http://schemas.openxmlformats.org/drawingml/2006/main">
              <a:ext uri="{FF2B5EF4-FFF2-40B4-BE49-F238E27FC236}">
                <a16:creationId xmlns:a16="http://schemas.microsoft.com/office/drawing/2014/main" id="{5CF697C4-949C-4C23-802A-9F9DC031EBE2}"/>
              </a:ext>
            </a:extLst>
          </p:cNvPr>
          <p:cNvSpPr>
            <a:spLocks xmlns:a="http://schemas.openxmlformats.org/drawingml/2006/main" noGrp="1"/>
          </p:cNvSpPr>
          <p:nvPr/>
        </p:nvSpPr>
        <p:spPr>
          <a:xfrm xmlns:a="http://schemas.openxmlformats.org/drawingml/2006/main">
            <a:off x="2917494" y="4073208"/>
            <a:ext cx="559131" cy="559131"/>
          </a:xfrm>
          <a:prstGeom xmlns:a="http://schemas.openxmlformats.org/drawingml/2006/main" prst="line">
            <a:avLst/>
          </a:prstGeom>
          <a:ln xmlns:a="http://schemas.openxmlformats.org/drawingml/2006/main" w="9525">
            <a:solidFill>
              <a:srgbClr val="20665B"/>
            </a:solidFill>
          </a:ln>
        </p:spPr>
      </p:sp>
      <p:sp>
        <p:nvSpPr>
          <p:cNvPr id="19" name="Winstarcering">
            <a:extLst xmlns:a="http://schemas.openxmlformats.org/drawingml/2006/main">
              <a:ext uri="{FF2B5EF4-FFF2-40B4-BE49-F238E27FC236}">
                <a16:creationId xmlns:a16="http://schemas.microsoft.com/office/drawing/2014/main" id="{1743D9FE-4562-4FAE-9E8D-3195BEE44886}"/>
              </a:ext>
            </a:extLst>
          </p:cNvPr>
          <p:cNvSpPr>
            <a:spLocks xmlns:a="http://schemas.openxmlformats.org/drawingml/2006/main" noGrp="1"/>
          </p:cNvSpPr>
          <p:nvPr/>
        </p:nvSpPr>
        <p:spPr>
          <a:xfrm xmlns:a="http://schemas.openxmlformats.org/drawingml/2006/main">
            <a:off x="3088944" y="4073208"/>
            <a:ext cx="559131" cy="559131"/>
          </a:xfrm>
          <a:prstGeom xmlns:a="http://schemas.openxmlformats.org/drawingml/2006/main" prst="line">
            <a:avLst/>
          </a:prstGeom>
          <a:ln xmlns:a="http://schemas.openxmlformats.org/drawingml/2006/main" w="9525">
            <a:solidFill>
              <a:srgbClr val="20665B"/>
            </a:solidFill>
          </a:ln>
        </p:spPr>
      </p:sp>
      <p:sp>
        <p:nvSpPr>
          <p:cNvPr id="20" name="Winstarcering">
            <a:extLst xmlns:a="http://schemas.openxmlformats.org/drawingml/2006/main">
              <a:ext uri="{FF2B5EF4-FFF2-40B4-BE49-F238E27FC236}">
                <a16:creationId xmlns:a16="http://schemas.microsoft.com/office/drawing/2014/main" id="{59CED47C-5AE3-43B9-900B-1C8D47FA08EE}"/>
              </a:ext>
            </a:extLst>
          </p:cNvPr>
          <p:cNvSpPr>
            <a:spLocks xmlns:a="http://schemas.openxmlformats.org/drawingml/2006/main" noGrp="1"/>
          </p:cNvSpPr>
          <p:nvPr/>
        </p:nvSpPr>
        <p:spPr>
          <a:xfrm xmlns:a="http://schemas.openxmlformats.org/drawingml/2006/main">
            <a:off x="3260394" y="4073208"/>
            <a:ext cx="559131" cy="559131"/>
          </a:xfrm>
          <a:prstGeom xmlns:a="http://schemas.openxmlformats.org/drawingml/2006/main" prst="line">
            <a:avLst/>
          </a:prstGeom>
          <a:ln xmlns:a="http://schemas.openxmlformats.org/drawingml/2006/main" w="9525">
            <a:solidFill>
              <a:srgbClr val="20665B"/>
            </a:solidFill>
          </a:ln>
        </p:spPr>
      </p:sp>
      <p:sp>
        <p:nvSpPr>
          <p:cNvPr id="21" name="Winstarcering">
            <a:extLst xmlns:a="http://schemas.openxmlformats.org/drawingml/2006/main">
              <a:ext uri="{FF2B5EF4-FFF2-40B4-BE49-F238E27FC236}">
                <a16:creationId xmlns:a16="http://schemas.microsoft.com/office/drawing/2014/main" id="{78E9A8FB-D376-4542-AEBB-D6597C5526A9}"/>
              </a:ext>
            </a:extLst>
          </p:cNvPr>
          <p:cNvSpPr>
            <a:spLocks xmlns:a="http://schemas.openxmlformats.org/drawingml/2006/main" noGrp="1"/>
          </p:cNvSpPr>
          <p:nvPr/>
        </p:nvSpPr>
        <p:spPr>
          <a:xfrm xmlns:a="http://schemas.openxmlformats.org/drawingml/2006/main">
            <a:off x="3431844" y="4073208"/>
            <a:ext cx="559131" cy="559131"/>
          </a:xfrm>
          <a:prstGeom xmlns:a="http://schemas.openxmlformats.org/drawingml/2006/main" prst="line">
            <a:avLst/>
          </a:prstGeom>
          <a:ln xmlns:a="http://schemas.openxmlformats.org/drawingml/2006/main" w="9525">
            <a:solidFill>
              <a:srgbClr val="20665B"/>
            </a:solidFill>
          </a:ln>
        </p:spPr>
      </p:sp>
      <p:sp>
        <p:nvSpPr>
          <p:cNvPr id="22" name="Winstarcering">
            <a:extLst xmlns:a="http://schemas.openxmlformats.org/drawingml/2006/main">
              <a:ext uri="{FF2B5EF4-FFF2-40B4-BE49-F238E27FC236}">
                <a16:creationId xmlns:a16="http://schemas.microsoft.com/office/drawing/2014/main" id="{36769D12-42C5-4106-9268-B60D776262A0}"/>
              </a:ext>
            </a:extLst>
          </p:cNvPr>
          <p:cNvSpPr>
            <a:spLocks xmlns:a="http://schemas.openxmlformats.org/drawingml/2006/main" noGrp="1"/>
          </p:cNvSpPr>
          <p:nvPr/>
        </p:nvSpPr>
        <p:spPr>
          <a:xfrm xmlns:a="http://schemas.openxmlformats.org/drawingml/2006/main">
            <a:off x="3603294" y="4073208"/>
            <a:ext cx="559131" cy="559131"/>
          </a:xfrm>
          <a:prstGeom xmlns:a="http://schemas.openxmlformats.org/drawingml/2006/main" prst="line">
            <a:avLst/>
          </a:prstGeom>
          <a:ln xmlns:a="http://schemas.openxmlformats.org/drawingml/2006/main" w="9525">
            <a:solidFill>
              <a:srgbClr val="20665B"/>
            </a:solidFill>
          </a:ln>
        </p:spPr>
      </p:sp>
      <p:sp>
        <p:nvSpPr>
          <p:cNvPr id="23" name="Winstarcering">
            <a:extLst xmlns:a="http://schemas.openxmlformats.org/drawingml/2006/main">
              <a:ext uri="{FF2B5EF4-FFF2-40B4-BE49-F238E27FC236}">
                <a16:creationId xmlns:a16="http://schemas.microsoft.com/office/drawing/2014/main" id="{92F98076-1517-4537-9C1E-3B9F47509DCD}"/>
              </a:ext>
            </a:extLst>
          </p:cNvPr>
          <p:cNvSpPr>
            <a:spLocks xmlns:a="http://schemas.openxmlformats.org/drawingml/2006/main" noGrp="1"/>
          </p:cNvSpPr>
          <p:nvPr/>
        </p:nvSpPr>
        <p:spPr>
          <a:xfrm xmlns:a="http://schemas.openxmlformats.org/drawingml/2006/main">
            <a:off x="3774744" y="4073208"/>
            <a:ext cx="559131" cy="559131"/>
          </a:xfrm>
          <a:prstGeom xmlns:a="http://schemas.openxmlformats.org/drawingml/2006/main" prst="line">
            <a:avLst/>
          </a:prstGeom>
          <a:ln xmlns:a="http://schemas.openxmlformats.org/drawingml/2006/main" w="9525">
            <a:solidFill>
              <a:srgbClr val="20665B"/>
            </a:solidFill>
          </a:ln>
        </p:spPr>
      </p:sp>
      <p:sp>
        <p:nvSpPr>
          <p:cNvPr id="24" name="Winstarcering">
            <a:extLst xmlns:a="http://schemas.openxmlformats.org/drawingml/2006/main">
              <a:ext uri="{FF2B5EF4-FFF2-40B4-BE49-F238E27FC236}">
                <a16:creationId xmlns:a16="http://schemas.microsoft.com/office/drawing/2014/main" id="{C206B3EB-505C-4941-A7CF-D2464D670E51}"/>
              </a:ext>
            </a:extLst>
          </p:cNvPr>
          <p:cNvSpPr>
            <a:spLocks xmlns:a="http://schemas.openxmlformats.org/drawingml/2006/main" noGrp="1"/>
          </p:cNvSpPr>
          <p:nvPr/>
        </p:nvSpPr>
        <p:spPr>
          <a:xfrm xmlns:a="http://schemas.openxmlformats.org/drawingml/2006/main">
            <a:off x="3946194" y="4073208"/>
            <a:ext cx="559131" cy="559131"/>
          </a:xfrm>
          <a:prstGeom xmlns:a="http://schemas.openxmlformats.org/drawingml/2006/main" prst="line">
            <a:avLst/>
          </a:prstGeom>
          <a:ln xmlns:a="http://schemas.openxmlformats.org/drawingml/2006/main" w="9525">
            <a:solidFill>
              <a:srgbClr val="20665B"/>
            </a:solidFill>
          </a:ln>
        </p:spPr>
      </p:sp>
      <p:sp>
        <p:nvSpPr>
          <p:cNvPr id="25" name="Winstarcering">
            <a:extLst xmlns:a="http://schemas.openxmlformats.org/drawingml/2006/main">
              <a:ext uri="{FF2B5EF4-FFF2-40B4-BE49-F238E27FC236}">
                <a16:creationId xmlns:a16="http://schemas.microsoft.com/office/drawing/2014/main" id="{6EEE6497-0030-4241-8BE0-AEDBE8FC38E9}"/>
              </a:ext>
            </a:extLst>
          </p:cNvPr>
          <p:cNvSpPr>
            <a:spLocks xmlns:a="http://schemas.openxmlformats.org/drawingml/2006/main" noGrp="1"/>
          </p:cNvSpPr>
          <p:nvPr/>
        </p:nvSpPr>
        <p:spPr>
          <a:xfrm xmlns:a="http://schemas.openxmlformats.org/drawingml/2006/main">
            <a:off x="4117644" y="4073208"/>
            <a:ext cx="559131" cy="559131"/>
          </a:xfrm>
          <a:prstGeom xmlns:a="http://schemas.openxmlformats.org/drawingml/2006/main" prst="line">
            <a:avLst/>
          </a:prstGeom>
          <a:ln xmlns:a="http://schemas.openxmlformats.org/drawingml/2006/main" w="9525">
            <a:solidFill>
              <a:srgbClr val="20665B"/>
            </a:solidFill>
          </a:ln>
        </p:spPr>
      </p:sp>
      <p:sp>
        <p:nvSpPr>
          <p:cNvPr id="26" name="Winstarcering">
            <a:extLst xmlns:a="http://schemas.openxmlformats.org/drawingml/2006/main">
              <a:ext uri="{FF2B5EF4-FFF2-40B4-BE49-F238E27FC236}">
                <a16:creationId xmlns:a16="http://schemas.microsoft.com/office/drawing/2014/main" id="{1341E81A-FF42-4EA4-AE23-B44215036C58}"/>
              </a:ext>
            </a:extLst>
          </p:cNvPr>
          <p:cNvSpPr>
            <a:spLocks xmlns:a="http://schemas.openxmlformats.org/drawingml/2006/main" noGrp="1"/>
          </p:cNvSpPr>
          <p:nvPr/>
        </p:nvSpPr>
        <p:spPr>
          <a:xfrm xmlns:a="http://schemas.openxmlformats.org/drawingml/2006/main">
            <a:off x="4289094" y="4073208"/>
            <a:ext cx="559131" cy="559131"/>
          </a:xfrm>
          <a:prstGeom xmlns:a="http://schemas.openxmlformats.org/drawingml/2006/main" prst="line">
            <a:avLst/>
          </a:prstGeom>
          <a:ln xmlns:a="http://schemas.openxmlformats.org/drawingml/2006/main" w="9525">
            <a:solidFill>
              <a:srgbClr val="20665B"/>
            </a:solidFill>
          </a:ln>
        </p:spPr>
      </p:sp>
      <p:sp>
        <p:nvSpPr>
          <p:cNvPr id="27" name="Winstarcering">
            <a:extLst xmlns:a="http://schemas.openxmlformats.org/drawingml/2006/main">
              <a:ext uri="{FF2B5EF4-FFF2-40B4-BE49-F238E27FC236}">
                <a16:creationId xmlns:a16="http://schemas.microsoft.com/office/drawing/2014/main" id="{2726E631-3391-4144-8010-C4D4380BC2E5}"/>
              </a:ext>
            </a:extLst>
          </p:cNvPr>
          <p:cNvSpPr>
            <a:spLocks xmlns:a="http://schemas.openxmlformats.org/drawingml/2006/main" noGrp="1"/>
          </p:cNvSpPr>
          <p:nvPr/>
        </p:nvSpPr>
        <p:spPr>
          <a:xfrm xmlns:a="http://schemas.openxmlformats.org/drawingml/2006/main">
            <a:off x="4460544" y="4073208"/>
            <a:ext cx="559131" cy="559131"/>
          </a:xfrm>
          <a:prstGeom xmlns:a="http://schemas.openxmlformats.org/drawingml/2006/main" prst="line">
            <a:avLst/>
          </a:prstGeom>
          <a:ln xmlns:a="http://schemas.openxmlformats.org/drawingml/2006/main" w="9525">
            <a:solidFill>
              <a:srgbClr val="20665B"/>
            </a:solidFill>
          </a:ln>
        </p:spPr>
      </p:sp>
      <p:sp>
        <p:nvSpPr>
          <p:cNvPr id="28" name="Winstarcering">
            <a:extLst xmlns:a="http://schemas.openxmlformats.org/drawingml/2006/main">
              <a:ext uri="{FF2B5EF4-FFF2-40B4-BE49-F238E27FC236}">
                <a16:creationId xmlns:a16="http://schemas.microsoft.com/office/drawing/2014/main" id="{43B2DB70-B69F-4012-8AF6-CED36E3C7925}"/>
              </a:ext>
            </a:extLst>
          </p:cNvPr>
          <p:cNvSpPr>
            <a:spLocks xmlns:a="http://schemas.openxmlformats.org/drawingml/2006/main" noGrp="1"/>
          </p:cNvSpPr>
          <p:nvPr/>
        </p:nvSpPr>
        <p:spPr>
          <a:xfrm xmlns:a="http://schemas.openxmlformats.org/drawingml/2006/main">
            <a:off x="4631994" y="4073208"/>
            <a:ext cx="559131" cy="559131"/>
          </a:xfrm>
          <a:prstGeom xmlns:a="http://schemas.openxmlformats.org/drawingml/2006/main" prst="line">
            <a:avLst/>
          </a:prstGeom>
          <a:ln xmlns:a="http://schemas.openxmlformats.org/drawingml/2006/main" w="9525">
            <a:solidFill>
              <a:srgbClr val="20665B"/>
            </a:solidFill>
          </a:ln>
        </p:spPr>
      </p:sp>
      <p:sp>
        <p:nvSpPr>
          <p:cNvPr id="29" name="Winstarcering">
            <a:extLst xmlns:a="http://schemas.openxmlformats.org/drawingml/2006/main">
              <a:ext uri="{FF2B5EF4-FFF2-40B4-BE49-F238E27FC236}">
                <a16:creationId xmlns:a16="http://schemas.microsoft.com/office/drawing/2014/main" id="{987853DC-9AF0-4FA5-BA7B-A16CD3EF77EB}"/>
              </a:ext>
            </a:extLst>
          </p:cNvPr>
          <p:cNvSpPr>
            <a:spLocks xmlns:a="http://schemas.openxmlformats.org/drawingml/2006/main" noGrp="1"/>
          </p:cNvSpPr>
          <p:nvPr/>
        </p:nvSpPr>
        <p:spPr>
          <a:xfrm xmlns:a="http://schemas.openxmlformats.org/drawingml/2006/main">
            <a:off x="4803444" y="4073208"/>
            <a:ext cx="559131" cy="559131"/>
          </a:xfrm>
          <a:prstGeom xmlns:a="http://schemas.openxmlformats.org/drawingml/2006/main" prst="line">
            <a:avLst/>
          </a:prstGeom>
          <a:ln xmlns:a="http://schemas.openxmlformats.org/drawingml/2006/main" w="9525">
            <a:solidFill>
              <a:srgbClr val="20665B"/>
            </a:solidFill>
          </a:ln>
        </p:spPr>
      </p:sp>
      <p:sp>
        <p:nvSpPr>
          <p:cNvPr id="30" name="Winstarcering">
            <a:extLst xmlns:a="http://schemas.openxmlformats.org/drawingml/2006/main">
              <a:ext uri="{FF2B5EF4-FFF2-40B4-BE49-F238E27FC236}">
                <a16:creationId xmlns:a16="http://schemas.microsoft.com/office/drawing/2014/main" id="{FCED9CD8-ABEC-46CB-9B82-90453246D80E}"/>
              </a:ext>
            </a:extLst>
          </p:cNvPr>
          <p:cNvSpPr>
            <a:spLocks xmlns:a="http://schemas.openxmlformats.org/drawingml/2006/main" noGrp="1"/>
          </p:cNvSpPr>
          <p:nvPr/>
        </p:nvSpPr>
        <p:spPr>
          <a:xfrm xmlns:a="http://schemas.openxmlformats.org/drawingml/2006/main">
            <a:off x="4974894" y="4073208"/>
            <a:ext cx="559131" cy="559131"/>
          </a:xfrm>
          <a:prstGeom xmlns:a="http://schemas.openxmlformats.org/drawingml/2006/main" prst="line">
            <a:avLst/>
          </a:prstGeom>
          <a:ln xmlns:a="http://schemas.openxmlformats.org/drawingml/2006/main" w="9525">
            <a:solidFill>
              <a:srgbClr val="20665B"/>
            </a:solidFill>
          </a:ln>
        </p:spPr>
      </p:sp>
      <p:sp>
        <p:nvSpPr>
          <p:cNvPr id="31" name="Winstarcering">
            <a:extLst xmlns:a="http://schemas.openxmlformats.org/drawingml/2006/main">
              <a:ext uri="{FF2B5EF4-FFF2-40B4-BE49-F238E27FC236}">
                <a16:creationId xmlns:a16="http://schemas.microsoft.com/office/drawing/2014/main" id="{E3DF1D4D-05ED-40CB-B2D6-B1DF3DC88BD4}"/>
              </a:ext>
            </a:extLst>
          </p:cNvPr>
          <p:cNvSpPr>
            <a:spLocks xmlns:a="http://schemas.openxmlformats.org/drawingml/2006/main" noGrp="1"/>
          </p:cNvSpPr>
          <p:nvPr/>
        </p:nvSpPr>
        <p:spPr>
          <a:xfrm xmlns:a="http://schemas.openxmlformats.org/drawingml/2006/main">
            <a:off x="5146344" y="4073208"/>
            <a:ext cx="559131" cy="559131"/>
          </a:xfrm>
          <a:prstGeom xmlns:a="http://schemas.openxmlformats.org/drawingml/2006/main" prst="line">
            <a:avLst/>
          </a:prstGeom>
          <a:ln xmlns:a="http://schemas.openxmlformats.org/drawingml/2006/main" w="9525">
            <a:solidFill>
              <a:srgbClr val="20665B"/>
            </a:solidFill>
          </a:ln>
        </p:spPr>
      </p:sp>
      <p:sp>
        <p:nvSpPr>
          <p:cNvPr id="32" name="Winstarcering">
            <a:extLst xmlns:a="http://schemas.openxmlformats.org/drawingml/2006/main">
              <a:ext uri="{FF2B5EF4-FFF2-40B4-BE49-F238E27FC236}">
                <a16:creationId xmlns:a16="http://schemas.microsoft.com/office/drawing/2014/main" id="{736CF289-1A94-4EAF-8508-0FEA6C7D569C}"/>
              </a:ext>
            </a:extLst>
          </p:cNvPr>
          <p:cNvSpPr>
            <a:spLocks xmlns:a="http://schemas.openxmlformats.org/drawingml/2006/main" noGrp="1"/>
          </p:cNvSpPr>
          <p:nvPr/>
        </p:nvSpPr>
        <p:spPr>
          <a:xfrm xmlns:a="http://schemas.openxmlformats.org/drawingml/2006/main">
            <a:off x="5317794" y="4073208"/>
            <a:ext cx="559131" cy="559131"/>
          </a:xfrm>
          <a:prstGeom xmlns:a="http://schemas.openxmlformats.org/drawingml/2006/main" prst="line">
            <a:avLst/>
          </a:prstGeom>
          <a:ln xmlns:a="http://schemas.openxmlformats.org/drawingml/2006/main" w="9525">
            <a:solidFill>
              <a:srgbClr val="20665B"/>
            </a:solidFill>
          </a:ln>
        </p:spPr>
      </p:sp>
      <p:sp>
        <p:nvSpPr>
          <p:cNvPr id="33" name="Winstarcering">
            <a:extLst xmlns:a="http://schemas.openxmlformats.org/drawingml/2006/main">
              <a:ext uri="{FF2B5EF4-FFF2-40B4-BE49-F238E27FC236}">
                <a16:creationId xmlns:a16="http://schemas.microsoft.com/office/drawing/2014/main" id="{DFD1EB14-A735-4EC7-B686-A9CC7DDBF46D}"/>
              </a:ext>
            </a:extLst>
          </p:cNvPr>
          <p:cNvSpPr>
            <a:spLocks xmlns:a="http://schemas.openxmlformats.org/drawingml/2006/main" noGrp="1"/>
          </p:cNvSpPr>
          <p:nvPr/>
        </p:nvSpPr>
        <p:spPr>
          <a:xfrm xmlns:a="http://schemas.openxmlformats.org/drawingml/2006/main">
            <a:off x="5489244" y="4073208"/>
            <a:ext cx="559131" cy="559131"/>
          </a:xfrm>
          <a:prstGeom xmlns:a="http://schemas.openxmlformats.org/drawingml/2006/main" prst="line">
            <a:avLst/>
          </a:prstGeom>
          <a:ln xmlns:a="http://schemas.openxmlformats.org/drawingml/2006/main" w="9525">
            <a:solidFill>
              <a:srgbClr val="20665B"/>
            </a:solidFill>
          </a:ln>
        </p:spPr>
      </p:sp>
      <p:sp>
        <p:nvSpPr>
          <p:cNvPr id="34" name="Winstarcering">
            <a:extLst xmlns:a="http://schemas.openxmlformats.org/drawingml/2006/main">
              <a:ext uri="{FF2B5EF4-FFF2-40B4-BE49-F238E27FC236}">
                <a16:creationId xmlns:a16="http://schemas.microsoft.com/office/drawing/2014/main" id="{3DBD38BA-30A7-4CDA-A4CB-BDA9AAAF5EDE}"/>
              </a:ext>
            </a:extLst>
          </p:cNvPr>
          <p:cNvSpPr>
            <a:spLocks xmlns:a="http://schemas.openxmlformats.org/drawingml/2006/main" noGrp="1"/>
          </p:cNvSpPr>
          <p:nvPr/>
        </p:nvSpPr>
        <p:spPr>
          <a:xfrm xmlns:a="http://schemas.openxmlformats.org/drawingml/2006/main">
            <a:off x="5660694" y="4073208"/>
            <a:ext cx="559131" cy="559131"/>
          </a:xfrm>
          <a:prstGeom xmlns:a="http://schemas.openxmlformats.org/drawingml/2006/main" prst="line">
            <a:avLst/>
          </a:prstGeom>
          <a:ln xmlns:a="http://schemas.openxmlformats.org/drawingml/2006/main" w="9525">
            <a:solidFill>
              <a:srgbClr val="20665B"/>
            </a:solidFill>
          </a:ln>
        </p:spPr>
      </p:sp>
      <p:sp>
        <p:nvSpPr>
          <p:cNvPr id="35" name="Winstarcering">
            <a:extLst xmlns:a="http://schemas.openxmlformats.org/drawingml/2006/main">
              <a:ext uri="{FF2B5EF4-FFF2-40B4-BE49-F238E27FC236}">
                <a16:creationId xmlns:a16="http://schemas.microsoft.com/office/drawing/2014/main" id="{24B420DC-CC93-4B7F-B420-5ADC0E6889DB}"/>
              </a:ext>
            </a:extLst>
          </p:cNvPr>
          <p:cNvSpPr>
            <a:spLocks xmlns:a="http://schemas.openxmlformats.org/drawingml/2006/main" noGrp="1"/>
          </p:cNvSpPr>
          <p:nvPr/>
        </p:nvSpPr>
        <p:spPr>
          <a:xfrm xmlns:a="http://schemas.openxmlformats.org/drawingml/2006/main">
            <a:off x="5832144" y="4073208"/>
            <a:ext cx="559131" cy="559131"/>
          </a:xfrm>
          <a:prstGeom xmlns:a="http://schemas.openxmlformats.org/drawingml/2006/main" prst="line">
            <a:avLst/>
          </a:prstGeom>
          <a:ln xmlns:a="http://schemas.openxmlformats.org/drawingml/2006/main" w="9525">
            <a:solidFill>
              <a:srgbClr val="20665B"/>
            </a:solidFill>
          </a:ln>
        </p:spPr>
      </p:sp>
      <p:sp>
        <p:nvSpPr>
          <p:cNvPr id="36" name="Winstarcering">
            <a:extLst xmlns:a="http://schemas.openxmlformats.org/drawingml/2006/main">
              <a:ext uri="{FF2B5EF4-FFF2-40B4-BE49-F238E27FC236}">
                <a16:creationId xmlns:a16="http://schemas.microsoft.com/office/drawing/2014/main" id="{3C94686A-40FF-4FA0-AF0C-D5E1E6C618BD}"/>
              </a:ext>
            </a:extLst>
          </p:cNvPr>
          <p:cNvSpPr>
            <a:spLocks xmlns:a="http://schemas.openxmlformats.org/drawingml/2006/main" noGrp="1"/>
          </p:cNvSpPr>
          <p:nvPr/>
        </p:nvSpPr>
        <p:spPr>
          <a:xfrm xmlns:a="http://schemas.openxmlformats.org/drawingml/2006/main">
            <a:off x="6003594" y="4073208"/>
            <a:ext cx="559131" cy="559131"/>
          </a:xfrm>
          <a:prstGeom xmlns:a="http://schemas.openxmlformats.org/drawingml/2006/main" prst="line">
            <a:avLst/>
          </a:prstGeom>
          <a:ln xmlns:a="http://schemas.openxmlformats.org/drawingml/2006/main" w="9525">
            <a:solidFill>
              <a:srgbClr val="20665B"/>
            </a:solidFill>
          </a:ln>
        </p:spPr>
      </p:sp>
      <p:sp>
        <p:nvSpPr>
          <p:cNvPr id="37" name="Winstarcering">
            <a:extLst xmlns:a="http://schemas.openxmlformats.org/drawingml/2006/main">
              <a:ext uri="{FF2B5EF4-FFF2-40B4-BE49-F238E27FC236}">
                <a16:creationId xmlns:a16="http://schemas.microsoft.com/office/drawing/2014/main" id="{5F4B2508-B4B1-4C53-B948-87601E9F63E5}"/>
              </a:ext>
            </a:extLst>
          </p:cNvPr>
          <p:cNvSpPr>
            <a:spLocks xmlns:a="http://schemas.openxmlformats.org/drawingml/2006/main" noGrp="1"/>
          </p:cNvSpPr>
          <p:nvPr/>
        </p:nvSpPr>
        <p:spPr>
          <a:xfrm xmlns:a="http://schemas.openxmlformats.org/drawingml/2006/main">
            <a:off x="6175044" y="4073208"/>
            <a:ext cx="559131" cy="559131"/>
          </a:xfrm>
          <a:prstGeom xmlns:a="http://schemas.openxmlformats.org/drawingml/2006/main" prst="line">
            <a:avLst/>
          </a:prstGeom>
          <a:ln xmlns:a="http://schemas.openxmlformats.org/drawingml/2006/main" w="9525">
            <a:solidFill>
              <a:srgbClr val="20665B"/>
            </a:solidFill>
          </a:ln>
        </p:spPr>
      </p:sp>
      <p:sp>
        <p:nvSpPr>
          <p:cNvPr id="38" name="Winstarcering">
            <a:extLst xmlns:a="http://schemas.openxmlformats.org/drawingml/2006/main">
              <a:ext uri="{FF2B5EF4-FFF2-40B4-BE49-F238E27FC236}">
                <a16:creationId xmlns:a16="http://schemas.microsoft.com/office/drawing/2014/main" id="{5AEB759B-1A9F-428D-BACA-313AA68A3AD4}"/>
              </a:ext>
            </a:extLst>
          </p:cNvPr>
          <p:cNvSpPr>
            <a:spLocks xmlns:a="http://schemas.openxmlformats.org/drawingml/2006/main" noGrp="1"/>
          </p:cNvSpPr>
          <p:nvPr/>
        </p:nvSpPr>
        <p:spPr>
          <a:xfrm xmlns:a="http://schemas.openxmlformats.org/drawingml/2006/main">
            <a:off x="6346494" y="4073208"/>
            <a:ext cx="559131" cy="559131"/>
          </a:xfrm>
          <a:prstGeom xmlns:a="http://schemas.openxmlformats.org/drawingml/2006/main" prst="line">
            <a:avLst/>
          </a:prstGeom>
          <a:ln xmlns:a="http://schemas.openxmlformats.org/drawingml/2006/main" w="9525">
            <a:solidFill>
              <a:srgbClr val="20665B"/>
            </a:solidFill>
          </a:ln>
        </p:spPr>
      </p:sp>
      <p:sp>
        <p:nvSpPr>
          <p:cNvPr id="39" name="Winstarcering">
            <a:extLst xmlns:a="http://schemas.openxmlformats.org/drawingml/2006/main">
              <a:ext uri="{FF2B5EF4-FFF2-40B4-BE49-F238E27FC236}">
                <a16:creationId xmlns:a16="http://schemas.microsoft.com/office/drawing/2014/main" id="{EEB97279-F809-488C-8E6C-4668D4BEC47C}"/>
              </a:ext>
            </a:extLst>
          </p:cNvPr>
          <p:cNvSpPr>
            <a:spLocks xmlns:a="http://schemas.openxmlformats.org/drawingml/2006/main" noGrp="1"/>
          </p:cNvSpPr>
          <p:nvPr/>
        </p:nvSpPr>
        <p:spPr>
          <a:xfrm xmlns:a="http://schemas.openxmlformats.org/drawingml/2006/main">
            <a:off x="6517944" y="4073208"/>
            <a:ext cx="559131" cy="559131"/>
          </a:xfrm>
          <a:prstGeom xmlns:a="http://schemas.openxmlformats.org/drawingml/2006/main" prst="line">
            <a:avLst/>
          </a:prstGeom>
          <a:ln xmlns:a="http://schemas.openxmlformats.org/drawingml/2006/main" w="9525">
            <a:solidFill>
              <a:srgbClr val="20665B"/>
            </a:solidFill>
          </a:ln>
        </p:spPr>
      </p:sp>
      <p:sp>
        <p:nvSpPr>
          <p:cNvPr id="40" name="Winstarcering">
            <a:extLst xmlns:a="http://schemas.openxmlformats.org/drawingml/2006/main">
              <a:ext uri="{FF2B5EF4-FFF2-40B4-BE49-F238E27FC236}">
                <a16:creationId xmlns:a16="http://schemas.microsoft.com/office/drawing/2014/main" id="{3F7D82E9-EBA5-48B3-9E77-CE1818FA7C28}"/>
              </a:ext>
            </a:extLst>
          </p:cNvPr>
          <p:cNvSpPr>
            <a:spLocks xmlns:a="http://schemas.openxmlformats.org/drawingml/2006/main" noGrp="1"/>
          </p:cNvSpPr>
          <p:nvPr/>
        </p:nvSpPr>
        <p:spPr>
          <a:xfrm xmlns:a="http://schemas.openxmlformats.org/drawingml/2006/main">
            <a:off x="6689394" y="4073208"/>
            <a:ext cx="559131" cy="559131"/>
          </a:xfrm>
          <a:prstGeom xmlns:a="http://schemas.openxmlformats.org/drawingml/2006/main" prst="line">
            <a:avLst/>
          </a:prstGeom>
          <a:ln xmlns:a="http://schemas.openxmlformats.org/drawingml/2006/main" w="9525">
            <a:solidFill>
              <a:srgbClr val="20665B"/>
            </a:solidFill>
          </a:ln>
        </p:spPr>
      </p:sp>
      <p:sp>
        <p:nvSpPr>
          <p:cNvPr id="41" name="Winstarcering">
            <a:extLst xmlns:a="http://schemas.openxmlformats.org/drawingml/2006/main">
              <a:ext uri="{FF2B5EF4-FFF2-40B4-BE49-F238E27FC236}">
                <a16:creationId xmlns:a16="http://schemas.microsoft.com/office/drawing/2014/main" id="{D8080CA6-899C-4A51-BD91-4450FD94FCE9}"/>
              </a:ext>
            </a:extLst>
          </p:cNvPr>
          <p:cNvSpPr>
            <a:spLocks xmlns:a="http://schemas.openxmlformats.org/drawingml/2006/main" noGrp="1"/>
          </p:cNvSpPr>
          <p:nvPr/>
        </p:nvSpPr>
        <p:spPr>
          <a:xfrm xmlns:a="http://schemas.openxmlformats.org/drawingml/2006/main">
            <a:off x="6860844" y="4073208"/>
            <a:ext cx="559131" cy="559131"/>
          </a:xfrm>
          <a:prstGeom xmlns:a="http://schemas.openxmlformats.org/drawingml/2006/main" prst="line">
            <a:avLst/>
          </a:prstGeom>
          <a:ln xmlns:a="http://schemas.openxmlformats.org/drawingml/2006/main" w="9525">
            <a:solidFill>
              <a:srgbClr val="20665B"/>
            </a:solidFill>
          </a:ln>
        </p:spPr>
      </p:sp>
      <p:sp>
        <p:nvSpPr>
          <p:cNvPr id="42" name="Winstarcering">
            <a:extLst xmlns:a="http://schemas.openxmlformats.org/drawingml/2006/main">
              <a:ext uri="{FF2B5EF4-FFF2-40B4-BE49-F238E27FC236}">
                <a16:creationId xmlns:a16="http://schemas.microsoft.com/office/drawing/2014/main" id="{CAA3C899-8809-4772-879D-17AB7C1BB59B}"/>
              </a:ext>
            </a:extLst>
          </p:cNvPr>
          <p:cNvSpPr>
            <a:spLocks xmlns:a="http://schemas.openxmlformats.org/drawingml/2006/main" noGrp="1"/>
          </p:cNvSpPr>
          <p:nvPr/>
        </p:nvSpPr>
        <p:spPr>
          <a:xfrm xmlns:a="http://schemas.openxmlformats.org/drawingml/2006/main">
            <a:off x="7032294" y="4073208"/>
            <a:ext cx="559131" cy="559131"/>
          </a:xfrm>
          <a:prstGeom xmlns:a="http://schemas.openxmlformats.org/drawingml/2006/main" prst="line">
            <a:avLst/>
          </a:prstGeom>
          <a:ln xmlns:a="http://schemas.openxmlformats.org/drawingml/2006/main" w="9525">
            <a:solidFill>
              <a:srgbClr val="20665B"/>
            </a:solidFill>
          </a:ln>
        </p:spPr>
      </p:sp>
      <p:sp>
        <p:nvSpPr>
          <p:cNvPr id="43" name="Winstarcering">
            <a:extLst xmlns:a="http://schemas.openxmlformats.org/drawingml/2006/main">
              <a:ext uri="{FF2B5EF4-FFF2-40B4-BE49-F238E27FC236}">
                <a16:creationId xmlns:a16="http://schemas.microsoft.com/office/drawing/2014/main" id="{7370D834-AAEA-457D-920D-C6B613BD1F75}"/>
              </a:ext>
            </a:extLst>
          </p:cNvPr>
          <p:cNvSpPr>
            <a:spLocks xmlns:a="http://schemas.openxmlformats.org/drawingml/2006/main" noGrp="1"/>
          </p:cNvSpPr>
          <p:nvPr/>
        </p:nvSpPr>
        <p:spPr>
          <a:xfrm xmlns:a="http://schemas.openxmlformats.org/drawingml/2006/main">
            <a:off x="7203744" y="4073208"/>
            <a:ext cx="559131" cy="559131"/>
          </a:xfrm>
          <a:prstGeom xmlns:a="http://schemas.openxmlformats.org/drawingml/2006/main" prst="line">
            <a:avLst/>
          </a:prstGeom>
          <a:ln xmlns:a="http://schemas.openxmlformats.org/drawingml/2006/main" w="9525">
            <a:solidFill>
              <a:srgbClr val="20665B"/>
            </a:solidFill>
          </a:ln>
        </p:spPr>
      </p:sp>
      <p:sp>
        <p:nvSpPr>
          <p:cNvPr id="44" name="Winstarcering">
            <a:extLst xmlns:a="http://schemas.openxmlformats.org/drawingml/2006/main">
              <a:ext uri="{FF2B5EF4-FFF2-40B4-BE49-F238E27FC236}">
                <a16:creationId xmlns:a16="http://schemas.microsoft.com/office/drawing/2014/main" id="{133E691A-5A76-4837-8FF2-43FC4A213BDD}"/>
              </a:ext>
            </a:extLst>
          </p:cNvPr>
          <p:cNvSpPr>
            <a:spLocks xmlns:a="http://schemas.openxmlformats.org/drawingml/2006/main" noGrp="1"/>
          </p:cNvSpPr>
          <p:nvPr/>
        </p:nvSpPr>
        <p:spPr>
          <a:xfrm xmlns:a="http://schemas.openxmlformats.org/drawingml/2006/main">
            <a:off x="7375194" y="4073208"/>
            <a:ext cx="526984" cy="526984"/>
          </a:xfrm>
          <a:prstGeom xmlns:a="http://schemas.openxmlformats.org/drawingml/2006/main" prst="line">
            <a:avLst/>
          </a:prstGeom>
          <a:ln xmlns:a="http://schemas.openxmlformats.org/drawingml/2006/main" w="9525">
            <a:solidFill>
              <a:srgbClr val="20665B"/>
            </a:solidFill>
          </a:ln>
        </p:spPr>
      </p:sp>
      <p:sp>
        <p:nvSpPr>
          <p:cNvPr id="45" name="Winstarcering">
            <a:extLst xmlns:a="http://schemas.openxmlformats.org/drawingml/2006/main">
              <a:ext uri="{FF2B5EF4-FFF2-40B4-BE49-F238E27FC236}">
                <a16:creationId xmlns:a16="http://schemas.microsoft.com/office/drawing/2014/main" id="{DF4EDF40-F2F0-4D2E-8117-2810F3934027}"/>
              </a:ext>
            </a:extLst>
          </p:cNvPr>
          <p:cNvSpPr>
            <a:spLocks xmlns:a="http://schemas.openxmlformats.org/drawingml/2006/main" noGrp="1"/>
          </p:cNvSpPr>
          <p:nvPr/>
        </p:nvSpPr>
        <p:spPr>
          <a:xfrm xmlns:a="http://schemas.openxmlformats.org/drawingml/2006/main">
            <a:off x="7546644" y="4073208"/>
            <a:ext cx="355534" cy="355534"/>
          </a:xfrm>
          <a:prstGeom xmlns:a="http://schemas.openxmlformats.org/drawingml/2006/main" prst="line">
            <a:avLst/>
          </a:prstGeom>
          <a:ln xmlns:a="http://schemas.openxmlformats.org/drawingml/2006/main" w="9525">
            <a:solidFill>
              <a:srgbClr val="20665B"/>
            </a:solidFill>
          </a:ln>
        </p:spPr>
      </p:sp>
      <p:sp>
        <p:nvSpPr>
          <p:cNvPr id="46" name="Winstarcering">
            <a:extLst xmlns:a="http://schemas.openxmlformats.org/drawingml/2006/main">
              <a:ext uri="{FF2B5EF4-FFF2-40B4-BE49-F238E27FC236}">
                <a16:creationId xmlns:a16="http://schemas.microsoft.com/office/drawing/2014/main" id="{D023CEAA-16C8-40C8-921B-39D423966A19}"/>
              </a:ext>
            </a:extLst>
          </p:cNvPr>
          <p:cNvSpPr>
            <a:spLocks xmlns:a="http://schemas.openxmlformats.org/drawingml/2006/main" noGrp="1"/>
          </p:cNvSpPr>
          <p:nvPr/>
        </p:nvSpPr>
        <p:spPr>
          <a:xfrm xmlns:a="http://schemas.openxmlformats.org/drawingml/2006/main">
            <a:off x="7718094" y="4073208"/>
            <a:ext cx="184084" cy="184084"/>
          </a:xfrm>
          <a:prstGeom xmlns:a="http://schemas.openxmlformats.org/drawingml/2006/main" prst="line">
            <a:avLst/>
          </a:prstGeom>
          <a:ln xmlns:a="http://schemas.openxmlformats.org/drawingml/2006/main" w="9525">
            <a:solidFill>
              <a:srgbClr val="20665B"/>
            </a:solidFill>
          </a:ln>
        </p:spPr>
      </p:sp>
      <p:sp>
        <p:nvSpPr>
          <p:cNvPr id="47" name="Winstarcering">
            <a:extLst xmlns:a="http://schemas.openxmlformats.org/drawingml/2006/main">
              <a:ext uri="{FF2B5EF4-FFF2-40B4-BE49-F238E27FC236}">
                <a16:creationId xmlns:a16="http://schemas.microsoft.com/office/drawing/2014/main" id="{B71ED6EC-742B-4455-825A-CABB230B2584}"/>
              </a:ext>
            </a:extLst>
          </p:cNvPr>
          <p:cNvSpPr>
            <a:spLocks xmlns:a="http://schemas.openxmlformats.org/drawingml/2006/main" noGrp="1"/>
          </p:cNvSpPr>
          <p:nvPr/>
        </p:nvSpPr>
        <p:spPr>
          <a:xfrm xmlns:a="http://schemas.openxmlformats.org/drawingml/2006/main">
            <a:off x="7889544" y="4073208"/>
            <a:ext cx="12634" cy="12634"/>
          </a:xfrm>
          <a:prstGeom xmlns:a="http://schemas.openxmlformats.org/drawingml/2006/main" prst="line">
            <a:avLst/>
          </a:prstGeom>
          <a:ln xmlns:a="http://schemas.openxmlformats.org/drawingml/2006/main" w="9525">
            <a:solidFill>
              <a:srgbClr val="20665B"/>
            </a:solidFill>
          </a:ln>
        </p:spPr>
      </p:sp>
      <p:sp>
        <p:nvSpPr>
          <p:cNvPr id="48" name="Winst = € 500&#10;per week">
            <a:extLst xmlns:a="http://schemas.openxmlformats.org/drawingml/2006/main">
              <a:ext uri="{FF2B5EF4-FFF2-40B4-BE49-F238E27FC236}">
                <a16:creationId xmlns:a16="http://schemas.microsoft.com/office/drawing/2014/main" id="{A197CAC5-AE75-4181-A8BF-999F6EC64FDA}"/>
              </a:ext>
            </a:extLst>
          </p:cNvPr>
          <p:cNvSpPr>
            <a:spLocks xmlns:a="http://schemas.openxmlformats.org/drawingml/2006/main" noGrp="1"/>
          </p:cNvSpPr>
          <p:nvPr/>
        </p:nvSpPr>
        <p:spPr>
          <a:xfrm xmlns:a="http://schemas.openxmlformats.org/drawingml/2006/main">
            <a:off x="10858500" y="276225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Winst = € 500</a:t>
            </a:r>
          </a:p>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per week</a:t>
            </a:r>
          </a:p>
        </p:txBody>
      </p:sp>
      <p:sp>
        <p:nvSpPr>
          <p:cNvPr id="49" name="Breedte:&#10;150 kg/week">
            <a:extLst xmlns:a="http://schemas.openxmlformats.org/drawingml/2006/main">
              <a:ext uri="{FF2B5EF4-FFF2-40B4-BE49-F238E27FC236}">
                <a16:creationId xmlns:a16="http://schemas.microsoft.com/office/drawing/2014/main" id="{110AF325-7967-49B5-B31F-2C4C338FF9FD}"/>
              </a:ext>
            </a:extLst>
          </p:cNvPr>
          <p:cNvSpPr>
            <a:spLocks xmlns:a="http://schemas.openxmlformats.org/drawingml/2006/main" noGrp="1"/>
          </p:cNvSpPr>
          <p:nvPr/>
        </p:nvSpPr>
        <p:spPr>
          <a:xfrm xmlns:a="http://schemas.openxmlformats.org/drawingml/2006/main">
            <a:off x="10858500" y="4162425"/>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Breedte:</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150 kg/week</a:t>
            </a:r>
          </a:p>
        </p:txBody>
      </p:sp>
      <p:sp>
        <p:nvSpPr>
          <p:cNvPr id="50" name="Hoogte:&#10;€ 3,333… per kg">
            <a:extLst xmlns:a="http://schemas.openxmlformats.org/drawingml/2006/main">
              <a:ext uri="{FF2B5EF4-FFF2-40B4-BE49-F238E27FC236}">
                <a16:creationId xmlns:a16="http://schemas.microsoft.com/office/drawing/2014/main" id="{08B92E1F-3937-4BF9-8349-4A4FEF34B5C5}"/>
              </a:ext>
            </a:extLst>
          </p:cNvPr>
          <p:cNvSpPr>
            <a:spLocks xmlns:a="http://schemas.openxmlformats.org/drawingml/2006/main" noGrp="1"/>
          </p:cNvSpPr>
          <p:nvPr/>
        </p:nvSpPr>
        <p:spPr>
          <a:xfrm xmlns:a="http://schemas.openxmlformats.org/drawingml/2006/main">
            <a:off x="10858500" y="556260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Hoogte:</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€ 3,333… per kg</a:t>
            </a:r>
          </a:p>
        </p:txBody>
      </p:sp>
    </p:spTree>
    <p:extLst>
      <p:ext uri="{BB962C8B-B14F-4D97-AF65-F5344CB8AC3E}">
        <p14:creationId xmlns:p14="http://schemas.microsoft.com/office/powerpoint/2010/main" val="156101459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27e: vergelijken met niet produceren">
            <a:extLst xmlns:a="http://schemas.openxmlformats.org/drawingml/2006/main">
              <a:ext uri="{FF2B5EF4-FFF2-40B4-BE49-F238E27FC236}">
                <a16:creationId xmlns:a16="http://schemas.microsoft.com/office/drawing/2014/main" id="{7875AF99-65A8-464D-82B7-B5195EB997B1}"/>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27e: vergelijken met niet produceren</a:t>
            </a:r>
          </a:p>
        </p:txBody>
      </p:sp>
      <p:sp>
        <p:nvSpPr>
          <p:cNvPr id="2" name="">
            <a:extLst xmlns:a="http://schemas.openxmlformats.org/drawingml/2006/main">
              <a:ext uri="{FF2B5EF4-FFF2-40B4-BE49-F238E27FC236}">
                <a16:creationId xmlns:a16="http://schemas.microsoft.com/office/drawing/2014/main" id="{629A1B1C-DF15-4715-81B7-3EB0EE35F2B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Opgave 27 · Boekpagina 77">
            <a:extLst xmlns:a="http://schemas.openxmlformats.org/drawingml/2006/main">
              <a:ext uri="{FF2B5EF4-FFF2-40B4-BE49-F238E27FC236}">
                <a16:creationId xmlns:a16="http://schemas.microsoft.com/office/drawing/2014/main" id="{2BDD1365-1C71-4C75-9051-349EDB5D73CD}"/>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Opgave 27 · Boekpagina 77</a:t>
            </a:r>
          </a:p>
        </p:txBody>
      </p:sp>
      <p:sp>
        <p:nvSpPr>
          <p:cNvPr id="4" name="24">
            <a:extLst xmlns:a="http://schemas.openxmlformats.org/drawingml/2006/main">
              <a:ext uri="{FF2B5EF4-FFF2-40B4-BE49-F238E27FC236}">
                <a16:creationId xmlns:a16="http://schemas.microsoft.com/office/drawing/2014/main" id="{658F4A88-688D-4FC1-BEC9-0919CE6334F4}"/>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graphicFrame>
        <p:nvGraphicFramePr>
          <p:cNvPr id="12" name=""/>
          <p:cNvGraphicFramePr/>
          <p:nvPr/>
        </p:nvGraphicFramePr>
        <p:xfrm>
          <a:off xmlns:a="http://schemas.openxmlformats.org/drawingml/2006/main" x="571500" y="2457450"/>
          <a:ext xmlns:a="http://schemas.openxmlformats.org/drawingml/2006/main" cx="14097000" cy="3048000"/>
        </p:xfrm>
        <a:graphic xmlns:a="http://schemas.openxmlformats.org/drawingml/2006/main">
          <a:graphicData uri="http://schemas.openxmlformats.org/drawingml/2006/table">
            <a:tbl>
              <a:tblPr/>
              <a:tblGrid>
                <a:gridCol w="4095750"/>
                <a:gridCol w="3333750"/>
                <a:gridCol w="3333750"/>
                <a:gridCol w="3333750"/>
              </a:tblGrid>
              <a:tr h="1016000">
                <a:tc>
                  <a:txBody>
                    <a:bodyPr lIns="171450" tIns="95250" rIns="133350" bIns="95250"/>
                    <a:lstStyle/>
                    <a:p>
                      <a:r>
                        <a:rPr sz="2475" b="1">
                          <a:solidFill>
                            <a:srgbClr val="FFFFFF"/>
                          </a:solidFill>
                          <a:latin typeface="Arial"/>
                          <a:ea typeface="Arial"/>
                          <a:cs typeface="Arial"/>
                        </a:rPr>
                        <a:t>q (kg/week)</a:t>
                      </a:r>
                    </a:p>
                  </a:txBody>
                  <a:tcPr marL="91440" marR="91440" marT="45720" marB="45720" anchor="ctr">
                    <a:solidFill>
                      <a:srgbClr val="183247"/>
                    </a:solidFill>
                  </a:tcPr>
                </a:tc>
                <a:tc>
                  <a:txBody>
                    <a:bodyPr lIns="171450" tIns="95250" rIns="133350" bIns="95250"/>
                    <a:lstStyle/>
                    <a:p>
                      <a:r>
                        <a:rPr sz="2475" b="1">
                          <a:solidFill>
                            <a:srgbClr val="FFFFFF"/>
                          </a:solidFill>
                          <a:latin typeface="Arial"/>
                          <a:ea typeface="Arial"/>
                          <a:cs typeface="Arial"/>
                        </a:rPr>
                        <a:t>TO (€ per week)</a:t>
                      </a:r>
                    </a:p>
                  </a:txBody>
                  <a:tcPr marL="91440" marR="91440" marT="45720" marB="45720" anchor="ctr">
                    <a:solidFill>
                      <a:srgbClr val="183247"/>
                    </a:solidFill>
                  </a:tcPr>
                </a:tc>
                <a:tc>
                  <a:txBody>
                    <a:bodyPr lIns="171450" tIns="95250" rIns="133350" bIns="95250"/>
                    <a:lstStyle/>
                    <a:p>
                      <a:r>
                        <a:rPr sz="2475" b="1">
                          <a:solidFill>
                            <a:srgbClr val="FFFFFF"/>
                          </a:solidFill>
                          <a:latin typeface="Arial"/>
                          <a:ea typeface="Arial"/>
                          <a:cs typeface="Arial"/>
                        </a:rPr>
                        <a:t>TK (€ per week)</a:t>
                      </a:r>
                    </a:p>
                  </a:txBody>
                  <a:tcPr marL="91440" marR="91440" marT="45720" marB="45720" anchor="ctr">
                    <a:solidFill>
                      <a:srgbClr val="183247"/>
                    </a:solidFill>
                  </a:tcPr>
                </a:tc>
                <a:tc>
                  <a:txBody>
                    <a:bodyPr lIns="171450" tIns="95250" rIns="133350" bIns="95250"/>
                    <a:lstStyle/>
                    <a:p>
                      <a:r>
                        <a:rPr sz="2475" b="1">
                          <a:solidFill>
                            <a:srgbClr val="FFFFFF"/>
                          </a:solidFill>
                          <a:latin typeface="Arial"/>
                          <a:ea typeface="Arial"/>
                          <a:cs typeface="Arial"/>
                        </a:rPr>
                        <a:t>Winst (€ per week)</a:t>
                      </a:r>
                    </a:p>
                  </a:txBody>
                  <a:tcPr marL="91440" marR="91440" marT="45720" marB="45720" anchor="ctr">
                    <a:solidFill>
                      <a:srgbClr val="183247"/>
                    </a:solidFill>
                  </a:tcPr>
                </a:tc>
              </a:tr>
              <a:tr h="1016000">
                <a:tc>
                  <a:txBody>
                    <a:bodyPr lIns="171450" tIns="95250" rIns="133350" bIns="95250"/>
                    <a:lstStyle/>
                    <a:p>
                      <a:r>
                        <a:rPr sz="2475" b="0">
                          <a:solidFill>
                            <a:srgbClr val="183247"/>
                          </a:solidFill>
                          <a:latin typeface="Arial"/>
                          <a:ea typeface="Arial"/>
                          <a:cs typeface="Arial"/>
                        </a:rPr>
                        <a:t>0</a:t>
                      </a:r>
                    </a:p>
                  </a:txBody>
                  <a:tcPr marL="91440" marR="91440" marT="45720" marB="45720" anchor="ctr">
                    <a:solidFill>
                      <a:srgbClr val="FFFFFF"/>
                    </a:solidFill>
                  </a:tcPr>
                </a:tc>
                <a:tc>
                  <a:txBody>
                    <a:bodyPr lIns="171450" tIns="95250" rIns="133350" bIns="95250"/>
                    <a:lstStyle/>
                    <a:p>
                      <a:r>
                        <a:rPr sz="2475" b="0">
                          <a:solidFill>
                            <a:srgbClr val="183247"/>
                          </a:solidFill>
                          <a:latin typeface="Arial"/>
                          <a:ea typeface="Arial"/>
                          <a:cs typeface="Arial"/>
                        </a:rPr>
                        <a:t>0</a:t>
                      </a:r>
                    </a:p>
                  </a:txBody>
                  <a:tcPr marL="91440" marR="91440" marT="45720" marB="45720" anchor="ctr">
                    <a:solidFill>
                      <a:srgbClr val="FFFFFF"/>
                    </a:solidFill>
                  </a:tcPr>
                </a:tc>
                <a:tc>
                  <a:txBody>
                    <a:bodyPr lIns="171450" tIns="95250" rIns="133350" bIns="95250"/>
                    <a:lstStyle/>
                    <a:p>
                      <a:r>
                        <a:rPr sz="2475" b="0">
                          <a:solidFill>
                            <a:srgbClr val="183247"/>
                          </a:solidFill>
                          <a:latin typeface="Arial"/>
                          <a:ea typeface="Arial"/>
                          <a:cs typeface="Arial"/>
                        </a:rPr>
                        <a:t>400</a:t>
                      </a:r>
                    </a:p>
                  </a:txBody>
                  <a:tcPr marL="91440" marR="91440" marT="45720" marB="45720" anchor="ctr">
                    <a:solidFill>
                      <a:srgbClr val="FFFFFF"/>
                    </a:solidFill>
                  </a:tcPr>
                </a:tc>
                <a:tc>
                  <a:txBody>
                    <a:bodyPr lIns="171450" tIns="95250" rIns="133350" bIns="95250"/>
                    <a:lstStyle/>
                    <a:p>
                      <a:r>
                        <a:rPr sz="2475" b="0">
                          <a:solidFill>
                            <a:srgbClr val="183247"/>
                          </a:solidFill>
                          <a:latin typeface="Arial"/>
                          <a:ea typeface="Arial"/>
                          <a:cs typeface="Arial"/>
                        </a:rPr>
                        <a:t>−400</a:t>
                      </a:r>
                    </a:p>
                  </a:txBody>
                  <a:tcPr marL="91440" marR="91440" marT="45720" marB="45720" anchor="ctr">
                    <a:solidFill>
                      <a:srgbClr val="FFFFFF"/>
                    </a:solidFill>
                  </a:tcPr>
                </a:tc>
              </a:tr>
              <a:tr h="1016000">
                <a:tc>
                  <a:txBody>
                    <a:bodyPr lIns="171450" tIns="95250" rIns="133350" bIns="95250"/>
                    <a:lstStyle/>
                    <a:p>
                      <a:r>
                        <a:rPr sz="2475" b="0">
                          <a:solidFill>
                            <a:srgbClr val="183247"/>
                          </a:solidFill>
                          <a:latin typeface="Arial"/>
                          <a:ea typeface="Arial"/>
                          <a:cs typeface="Arial"/>
                        </a:rPr>
                        <a:t>150</a:t>
                      </a:r>
                    </a:p>
                  </a:txBody>
                  <a:tcPr marL="91440" marR="91440" marT="45720" marB="45720" anchor="ctr">
                    <a:solidFill>
                      <a:srgbClr val="EFF4F7"/>
                    </a:solidFill>
                  </a:tcPr>
                </a:tc>
                <a:tc>
                  <a:txBody>
                    <a:bodyPr lIns="171450" tIns="95250" rIns="133350" bIns="95250"/>
                    <a:lstStyle/>
                    <a:p>
                      <a:r>
                        <a:rPr sz="2475" b="0">
                          <a:solidFill>
                            <a:srgbClr val="183247"/>
                          </a:solidFill>
                          <a:latin typeface="Arial"/>
                          <a:ea typeface="Arial"/>
                          <a:cs typeface="Arial"/>
                        </a:rPr>
                        <a:t>2.400</a:t>
                      </a:r>
                    </a:p>
                  </a:txBody>
                  <a:tcPr marL="91440" marR="91440" marT="45720" marB="45720" anchor="ctr">
                    <a:solidFill>
                      <a:srgbClr val="EFF4F7"/>
                    </a:solidFill>
                  </a:tcPr>
                </a:tc>
                <a:tc>
                  <a:txBody>
                    <a:bodyPr lIns="171450" tIns="95250" rIns="133350" bIns="95250"/>
                    <a:lstStyle/>
                    <a:p>
                      <a:r>
                        <a:rPr sz="2475" b="0">
                          <a:solidFill>
                            <a:srgbClr val="183247"/>
                          </a:solidFill>
                          <a:latin typeface="Arial"/>
                          <a:ea typeface="Arial"/>
                          <a:cs typeface="Arial"/>
                        </a:rPr>
                        <a:t>1.900</a:t>
                      </a:r>
                    </a:p>
                  </a:txBody>
                  <a:tcPr marL="91440" marR="91440" marT="45720" marB="45720" anchor="ctr">
                    <a:solidFill>
                      <a:srgbClr val="EFF4F7"/>
                    </a:solidFill>
                  </a:tcPr>
                </a:tc>
                <a:tc>
                  <a:txBody>
                    <a:bodyPr lIns="171450" tIns="95250" rIns="133350" bIns="95250"/>
                    <a:lstStyle/>
                    <a:p>
                      <a:r>
                        <a:rPr sz="2475" b="0">
                          <a:solidFill>
                            <a:srgbClr val="183247"/>
                          </a:solidFill>
                          <a:latin typeface="Arial"/>
                          <a:ea typeface="Arial"/>
                          <a:cs typeface="Arial"/>
                        </a:rPr>
                        <a:t>500</a:t>
                      </a:r>
                    </a:p>
                  </a:txBody>
                  <a:tcPr marL="91440" marR="91440" marT="45720" marB="45720" anchor="ctr">
                    <a:solidFill>
                      <a:srgbClr val="EFF4F7"/>
                    </a:solidFill>
                  </a:tcPr>
                </a:tc>
              </a:tr>
            </a:tbl>
          </a:graphicData>
        </a:graphic>
      </p:graphicFrame>
      <p:sp>
        <p:nvSpPr>
          <p:cNvPr id="6" name="€ 500 winst is hoger dan € 400 verlies.">
            <a:extLst xmlns:a="http://schemas.openxmlformats.org/drawingml/2006/main">
              <a:ext uri="{FF2B5EF4-FFF2-40B4-BE49-F238E27FC236}">
                <a16:creationId xmlns:a16="http://schemas.microsoft.com/office/drawing/2014/main" id="{14C90E6B-C7B6-4B68-B677-DCD36744FA53}"/>
              </a:ext>
            </a:extLst>
          </p:cNvPr>
          <p:cNvSpPr>
            <a:spLocks xmlns:a="http://schemas.openxmlformats.org/drawingml/2006/main" noGrp="1"/>
          </p:cNvSpPr>
          <p:nvPr/>
        </p:nvSpPr>
        <p:spPr>
          <a:xfrm xmlns:a="http://schemas.openxmlformats.org/drawingml/2006/main">
            <a:off x="571500" y="62388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€ 500 winst is hoger dan € 400 verlies.</a:t>
            </a:r>
          </a:p>
        </p:txBody>
      </p:sp>
      <p:sp>
        <p:nvSpPr>
          <p:cNvPr id="7" name="De € 400 constante kosten is ook bij q = 0 onvermijdbaar.">
            <a:extLst xmlns:a="http://schemas.openxmlformats.org/drawingml/2006/main">
              <a:ext uri="{FF2B5EF4-FFF2-40B4-BE49-F238E27FC236}">
                <a16:creationId xmlns:a16="http://schemas.microsoft.com/office/drawing/2014/main" id="{F1C68AD5-A932-4450-B8C9-6277CC483B03}"/>
              </a:ext>
            </a:extLst>
          </p:cNvPr>
          <p:cNvSpPr>
            <a:spLocks xmlns:a="http://schemas.openxmlformats.org/drawingml/2006/main" noGrp="1"/>
          </p:cNvSpPr>
          <p:nvPr/>
        </p:nvSpPr>
        <p:spPr>
          <a:xfrm xmlns:a="http://schemas.openxmlformats.org/drawingml/2006/main">
            <a:off x="571500" y="731520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De € 400 constante kosten is ook bij q = 0 onvermijdbaar.</a:t>
            </a:r>
          </a:p>
        </p:txBody>
      </p:sp>
    </p:spTree>
    <p:extLst>
      <p:ext uri="{BB962C8B-B14F-4D97-AF65-F5344CB8AC3E}">
        <p14:creationId xmlns:p14="http://schemas.microsoft.com/office/powerpoint/2010/main" val="94402892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27f: na de storing maximaal 120 kg">
            <a:extLst xmlns:a="http://schemas.openxmlformats.org/drawingml/2006/main">
              <a:ext uri="{FF2B5EF4-FFF2-40B4-BE49-F238E27FC236}">
                <a16:creationId xmlns:a16="http://schemas.microsoft.com/office/drawing/2014/main" id="{F125F625-0B83-4B81-BD67-FF1DE64E1BB4}"/>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27f: na de storing maximaal 120 kg</a:t>
            </a:r>
          </a:p>
        </p:txBody>
      </p:sp>
      <p:sp>
        <p:nvSpPr>
          <p:cNvPr id="2" name="">
            <a:extLst xmlns:a="http://schemas.openxmlformats.org/drawingml/2006/main">
              <a:ext uri="{FF2B5EF4-FFF2-40B4-BE49-F238E27FC236}">
                <a16:creationId xmlns:a16="http://schemas.microsoft.com/office/drawing/2014/main" id="{47FD6CB0-D9C7-486F-A827-60633AF2E53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 Opgave 27 · Boekpagina 77">
            <a:extLst xmlns:a="http://schemas.openxmlformats.org/drawingml/2006/main">
              <a:ext uri="{FF2B5EF4-FFF2-40B4-BE49-F238E27FC236}">
                <a16:creationId xmlns:a16="http://schemas.microsoft.com/office/drawing/2014/main" id="{863BFD34-4BD1-4E23-8505-76D94EE2C89B}"/>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 Opgave 27 · Boekpagina 77</a:t>
            </a:r>
          </a:p>
        </p:txBody>
      </p:sp>
      <p:sp>
        <p:nvSpPr>
          <p:cNvPr id="4" name="25">
            <a:extLst xmlns:a="http://schemas.openxmlformats.org/drawingml/2006/main">
              <a:ext uri="{FF2B5EF4-FFF2-40B4-BE49-F238E27FC236}">
                <a16:creationId xmlns:a16="http://schemas.microsoft.com/office/drawing/2014/main" id="{0EB4D52D-0993-4DA9-9C95-90361EEC3EE7}"/>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P, GO, MO, MK (€ per kg)">
            <a:extLst xmlns:a="http://schemas.openxmlformats.org/drawingml/2006/main">
              <a:ext uri="{FF2B5EF4-FFF2-40B4-BE49-F238E27FC236}">
                <a16:creationId xmlns:a16="http://schemas.microsoft.com/office/drawing/2014/main" id="{A786F6A2-C32A-47FD-ACC4-0034C9D851C6}"/>
              </a:ext>
            </a:extLst>
          </p:cNvPr>
          <p:cNvSpPr>
            <a:spLocks xmlns:a="http://schemas.openxmlformats.org/drawingml/2006/main" noGrp="1"/>
          </p:cNvSpPr>
          <p:nvPr/>
        </p:nvSpPr>
        <p:spPr>
          <a:xfrm xmlns:a="http://schemas.openxmlformats.org/drawingml/2006/main">
            <a:off x="762000" y="1857375"/>
            <a:ext cx="971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P, GO, MO, MK (€ per kg)</a:t>
            </a:r>
          </a:p>
        </p:txBody>
      </p:sp>
      <p:graphicFrame>
        <p:nvGraphicFramePr>
          <p:cNvPr id="15" name="Chart"/>
          <p:cNvGraphicFramePr/>
          <p:nvPr/>
        </p:nvGraphicFramePr>
        <p:xfrm>
          <a:off xmlns:a="http://schemas.openxmlformats.org/drawingml/2006/main" x="666750" y="2476500"/>
          <a:ext xmlns:a="http://schemas.openxmlformats.org/drawingml/2006/main" cx="9810750" cy="5095875"/>
        </p:xfrm>
        <a:graphic xmlns:a="http://schemas.openxmlformats.org/drawingml/2006/main">
          <a:graphicData uri="http://schemas.openxmlformats.org/drawingml/2006/chart">
            <c:chart xmlns:r="http://schemas.openxmlformats.org/officeDocument/2006/relationships" xmlns:c="http://schemas.openxmlformats.org/drawingml/2006/chart" r:id="R274674531b734b2a"/>
          </a:graphicData>
        </a:graphic>
      </p:graphicFrame>
      <p:sp>
        <p:nvSpPr>
          <p:cNvPr id="7" name="150 kg is onhaalbaar.">
            <a:extLst xmlns:a="http://schemas.openxmlformats.org/drawingml/2006/main">
              <a:ext uri="{FF2B5EF4-FFF2-40B4-BE49-F238E27FC236}">
                <a16:creationId xmlns:a16="http://schemas.microsoft.com/office/drawing/2014/main" id="{B2171F7D-680C-4FAE-AA90-AD52035D6F6B}"/>
              </a:ext>
            </a:extLst>
          </p:cNvPr>
          <p:cNvSpPr>
            <a:spLocks xmlns:a="http://schemas.openxmlformats.org/drawingml/2006/main" noGrp="1"/>
          </p:cNvSpPr>
          <p:nvPr/>
        </p:nvSpPr>
        <p:spPr>
          <a:xfrm xmlns:a="http://schemas.openxmlformats.org/drawingml/2006/main">
            <a:off x="10858500" y="276225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150 kg is onhaalbaar.</a:t>
            </a:r>
          </a:p>
        </p:txBody>
      </p:sp>
      <p:sp>
        <p:nvSpPr>
          <p:cNvPr id="8" name="MK(120)=13,60&lt;16&#10;Winst stijgt tot 120.">
            <a:extLst xmlns:a="http://schemas.openxmlformats.org/drawingml/2006/main">
              <a:ext uri="{FF2B5EF4-FFF2-40B4-BE49-F238E27FC236}">
                <a16:creationId xmlns:a16="http://schemas.microsoft.com/office/drawing/2014/main" id="{4626CB1B-A0A7-455A-B7BA-DA58A5EF01F7}"/>
              </a:ext>
            </a:extLst>
          </p:cNvPr>
          <p:cNvSpPr>
            <a:spLocks xmlns:a="http://schemas.openxmlformats.org/drawingml/2006/main" noGrp="1"/>
          </p:cNvSpPr>
          <p:nvPr/>
        </p:nvSpPr>
        <p:spPr>
          <a:xfrm xmlns:a="http://schemas.openxmlformats.org/drawingml/2006/main">
            <a:off x="10858500" y="4162425"/>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MK(120)=13,60&lt;16</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Winst stijgt tot 120.</a:t>
            </a:r>
          </a:p>
        </p:txBody>
      </p:sp>
      <p:sp>
        <p:nvSpPr>
          <p:cNvPr id="9" name="Kies q = 120 kg/week.&#10;Geen nieuwe winst-&#10;berekening nodig.">
            <a:extLst xmlns:a="http://schemas.openxmlformats.org/drawingml/2006/main">
              <a:ext uri="{FF2B5EF4-FFF2-40B4-BE49-F238E27FC236}">
                <a16:creationId xmlns:a16="http://schemas.microsoft.com/office/drawing/2014/main" id="{C69C8CCC-6422-421A-A52D-EB190BB60BB2}"/>
              </a:ext>
            </a:extLst>
          </p:cNvPr>
          <p:cNvSpPr>
            <a:spLocks xmlns:a="http://schemas.openxmlformats.org/drawingml/2006/main" noGrp="1"/>
          </p:cNvSpPr>
          <p:nvPr/>
        </p:nvSpPr>
        <p:spPr>
          <a:xfrm xmlns:a="http://schemas.openxmlformats.org/drawingml/2006/main">
            <a:off x="10858500" y="5562600"/>
            <a:ext cx="3714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Kies q = 120 kg/week.</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Geen nieuwe winst-</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berekening nodig.</a:t>
            </a:r>
          </a:p>
        </p:txBody>
      </p:sp>
    </p:spTree>
    <p:extLst>
      <p:ext uri="{BB962C8B-B14F-4D97-AF65-F5344CB8AC3E}">
        <p14:creationId xmlns:p14="http://schemas.microsoft.com/office/powerpoint/2010/main" val="102661752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2.3 Winstmaximalisatie bij volkomen concurrentie">
            <a:extLst xmlns:a="http://schemas.openxmlformats.org/drawingml/2006/main">
              <a:ext uri="{FF2B5EF4-FFF2-40B4-BE49-F238E27FC236}">
                <a16:creationId xmlns:a16="http://schemas.microsoft.com/office/drawing/2014/main" id="{5ED1B389-98EC-4F83-8761-D3C6171109E8}"/>
              </a:ext>
            </a:extLst>
          </p:cNvPr>
          <p:cNvSpPr>
            <a:spLocks xmlns:a="http://schemas.openxmlformats.org/drawingml/2006/main" noGrp="1"/>
          </p:cNvSpPr>
          <p:nvPr/>
        </p:nvSpPr>
        <p:spPr>
          <a:xfrm xmlns:a="http://schemas.openxmlformats.org/drawingml/2006/main">
            <a:off x="571500" y="4000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Deze les: §3.2.3 Winstmaximalisatie bij volkomen concurrentie</a:t>
            </a:r>
          </a:p>
        </p:txBody>
      </p:sp>
      <p:sp>
        <p:nvSpPr>
          <p:cNvPr id="2" name="">
            <a:extLst xmlns:a="http://schemas.openxmlformats.org/drawingml/2006/main">
              <a:ext uri="{FF2B5EF4-FFF2-40B4-BE49-F238E27FC236}">
                <a16:creationId xmlns:a16="http://schemas.microsoft.com/office/drawing/2014/main" id="{8C6EE1A0-CBB7-40EE-9DFF-52B2B008708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2.3 Winstmaximalisatie bij volkomen concurrentie">
            <a:extLst xmlns:a="http://schemas.openxmlformats.org/drawingml/2006/main">
              <a:ext uri="{FF2B5EF4-FFF2-40B4-BE49-F238E27FC236}">
                <a16:creationId xmlns:a16="http://schemas.microsoft.com/office/drawing/2014/main" id="{EF0C2E57-65BC-45F0-96DB-3D09B6EBE316}"/>
              </a:ext>
            </a:extLst>
          </p:cNvPr>
          <p:cNvSpPr>
            <a:spLocks xmlns:a="http://schemas.openxmlformats.org/drawingml/2006/main" noGrp="1"/>
          </p:cNvSpPr>
          <p:nvPr/>
        </p:nvSpPr>
        <p:spPr>
          <a:xfrm xmlns:a="http://schemas.openxmlformats.org/drawingml/2006/main">
            <a:off x="571500" y="809625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§3.2.3 Winstmaximalisatie bij volkomen concurrentie</a:t>
            </a:r>
          </a:p>
        </p:txBody>
      </p:sp>
      <p:sp>
        <p:nvSpPr>
          <p:cNvPr id="4" name="26">
            <a:extLst xmlns:a="http://schemas.openxmlformats.org/drawingml/2006/main">
              <a:ext uri="{FF2B5EF4-FFF2-40B4-BE49-F238E27FC236}">
                <a16:creationId xmlns:a16="http://schemas.microsoft.com/office/drawing/2014/main" id="{A5FEE9D6-90AE-48E5-A364-D7DA0EC18A30}"/>
              </a:ext>
            </a:extLst>
          </p:cNvPr>
          <p:cNvSpPr>
            <a:spLocks xmlns:a="http://schemas.openxmlformats.org/drawingml/2006/main" noGrp="1"/>
          </p:cNvSpPr>
          <p:nvPr/>
        </p:nvSpPr>
        <p:spPr>
          <a:xfrm xmlns:a="http://schemas.openxmlformats.org/drawingml/2006/main">
            <a:off x="14001750" y="8058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sp>
        <p:nvSpPr>
          <p:cNvPr id="5" name="phase">
            <a:extLst xmlns:a="http://schemas.openxmlformats.org/drawingml/2006/main">
              <a:ext uri="{FF2B5EF4-FFF2-40B4-BE49-F238E27FC236}">
                <a16:creationId xmlns:a16="http://schemas.microsoft.com/office/drawing/2014/main" id="{B2970AF3-B6E4-4EF2-A40F-5411778974B9}"/>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D383067C-84B7-4757-814A-224389B3B64A}"/>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FD27FB83-F06C-4853-A7D6-6A2153814FC1}"/>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7DCAA6C4-9DBF-47F9-8ED4-57A3CBE44B10}"/>
              </a:ext>
            </a:extLst>
          </p:cNvPr>
          <p:cNvSpPr>
            <a:spLocks xmlns:a="http://schemas.openxmlformats.org/drawingml/2006/main" noGrp="1"/>
          </p:cNvSpPr>
          <p:nvPr/>
        </p:nvSpPr>
        <p:spPr>
          <a:xfrm xmlns:a="http://schemas.openxmlformats.org/drawingml/2006/main">
            <a:off x="1104900" y="2324100"/>
            <a:ext cx="75342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6877AC41-A9B4-469A-8EC2-71E78381DF7C}"/>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70E4EC4A-D82B-4430-A59D-1D4F0BB3FFC9}"/>
              </a:ext>
            </a:extLst>
          </p:cNvPr>
          <p:cNvSpPr>
            <a:spLocks xmlns:a="http://schemas.openxmlformats.org/drawingml/2006/main" noGrp="1"/>
          </p:cNvSpPr>
          <p:nvPr/>
        </p:nvSpPr>
        <p:spPr>
          <a:xfrm xmlns:a="http://schemas.openxmlformats.org/drawingml/2006/main">
            <a:off x="1104900" y="3200400"/>
            <a:ext cx="75342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D6C8E44A-3DA2-461B-B451-0B379ED71138}"/>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2199DABC-EA8E-482E-BC33-C779C2EBBA10}"/>
              </a:ext>
            </a:extLst>
          </p:cNvPr>
          <p:cNvSpPr>
            <a:spLocks xmlns:a="http://schemas.openxmlformats.org/drawingml/2006/main" noGrp="1"/>
          </p:cNvSpPr>
          <p:nvPr/>
        </p:nvSpPr>
        <p:spPr>
          <a:xfrm xmlns:a="http://schemas.openxmlformats.org/drawingml/2006/main">
            <a:off x="1104900" y="3714750"/>
            <a:ext cx="75342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F3A30E28-A6DC-468C-89F0-CBD2D3A584EC}"/>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C8151CA0-BB64-4CDF-9AB7-E3053A9B5286}"/>
              </a:ext>
            </a:extLst>
          </p:cNvPr>
          <p:cNvSpPr>
            <a:spLocks xmlns:a="http://schemas.openxmlformats.org/drawingml/2006/main" noGrp="1"/>
          </p:cNvSpPr>
          <p:nvPr/>
        </p:nvSpPr>
        <p:spPr>
          <a:xfrm xmlns:a="http://schemas.openxmlformats.org/drawingml/2006/main">
            <a:off x="1104900" y="4248150"/>
            <a:ext cx="75342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141646B3-125A-443D-AC46-0B0E79FAAAB6}"/>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185AA08A-8703-4E18-B668-B59343BB8501}"/>
              </a:ext>
            </a:extLst>
          </p:cNvPr>
          <p:cNvSpPr>
            <a:spLocks xmlns:a="http://schemas.openxmlformats.org/drawingml/2006/main" noGrp="1"/>
          </p:cNvSpPr>
          <p:nvPr/>
        </p:nvSpPr>
        <p:spPr>
          <a:xfrm xmlns:a="http://schemas.openxmlformats.org/drawingml/2006/main">
            <a:off x="1104900" y="6057900"/>
            <a:ext cx="75342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9F5ED615-2823-4C97-9EE0-97F1B07FFB29}"/>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22642F82-D02F-4702-B3BB-460EC058BD28}"/>
              </a:ext>
            </a:extLst>
          </p:cNvPr>
          <p:cNvSpPr>
            <a:spLocks xmlns:a="http://schemas.openxmlformats.org/drawingml/2006/main" noGrp="1"/>
          </p:cNvSpPr>
          <p:nvPr/>
        </p:nvSpPr>
        <p:spPr>
          <a:xfrm xmlns:a="http://schemas.openxmlformats.org/drawingml/2006/main">
            <a:off x="1104900" y="6819900"/>
            <a:ext cx="75342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27.</a:t>
            </a:r>
          </a:p>
        </p:txBody>
      </p:sp>
      <p:sp>
        <p:nvSpPr>
          <p:cNvPr id="19" name="route-number-7">
            <a:extLst xmlns:a="http://schemas.openxmlformats.org/drawingml/2006/main">
              <a:ext uri="{FF2B5EF4-FFF2-40B4-BE49-F238E27FC236}">
                <a16:creationId xmlns:a16="http://schemas.microsoft.com/office/drawing/2014/main" id="{9B254211-4EE8-47DF-BD3B-5E9DE7AC1866}"/>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1D47DDD6-A520-41EE-A7EF-5DB1789D8271}"/>
              </a:ext>
            </a:extLst>
          </p:cNvPr>
          <p:cNvSpPr>
            <a:spLocks xmlns:a="http://schemas.openxmlformats.org/drawingml/2006/main" noGrp="1"/>
          </p:cNvSpPr>
          <p:nvPr/>
        </p:nvSpPr>
        <p:spPr>
          <a:xfrm xmlns:a="http://schemas.openxmlformats.org/drawingml/2006/main">
            <a:off x="1104900" y="7372350"/>
            <a:ext cx="75342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2350281C-AAEC-499D-B6C8-984521D387AD}"/>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07364CD3-C019-4FCA-8019-094204B9BBF4}"/>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Haalbare productie kiezen,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winst berekenen en de</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winstrechthoek tekenen.</a:t>
            </a:r>
          </a:p>
        </p:txBody>
      </p:sp>
      <p:sp>
        <p:nvSpPr>
          <p:cNvPr id="23" name="">
            <a:extLst xmlns:a="http://schemas.openxmlformats.org/drawingml/2006/main">
              <a:ext uri="{FF2B5EF4-FFF2-40B4-BE49-F238E27FC236}">
                <a16:creationId xmlns:a16="http://schemas.microsoft.com/office/drawing/2014/main" id="{E6EC5C1E-AAFF-4DA3-879A-7652F5EFD544}"/>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E3C5BFB5-C458-4D8B-B4BE-C6C2C2C69926}"/>
              </a:ext>
            </a:extLst>
          </p:cNvPr>
          <p:cNvSpPr>
            <a:spLocks xmlns:a="http://schemas.openxmlformats.org/drawingml/2006/main" noGrp="1"/>
          </p:cNvSpPr>
          <p:nvPr/>
        </p:nvSpPr>
        <p:spPr>
          <a:xfrm xmlns:a="http://schemas.openxmlformats.org/drawingml/2006/main">
            <a:off x="9258300" y="381000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65BE6B98-E869-433D-B759-603549069F9E}"/>
              </a:ext>
            </a:extLst>
          </p:cNvPr>
          <p:cNvSpPr>
            <a:spLocks xmlns:a="http://schemas.openxmlformats.org/drawingml/2006/main" noGrp="1"/>
          </p:cNvSpPr>
          <p:nvPr/>
        </p:nvSpPr>
        <p:spPr>
          <a:xfrm xmlns:a="http://schemas.openxmlformats.org/drawingml/2006/main">
            <a:off x="9258300" y="4343400"/>
            <a:ext cx="5381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73 · Opgaven 20 en 21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 verkennen met theorie p. 70</a:t>
            </a:r>
          </a:p>
        </p:txBody>
      </p:sp>
      <p:sp>
        <p:nvSpPr>
          <p:cNvPr id="26" name="">
            <a:extLst xmlns:a="http://schemas.openxmlformats.org/drawingml/2006/main">
              <a:ext uri="{FF2B5EF4-FFF2-40B4-BE49-F238E27FC236}">
                <a16:creationId xmlns:a16="http://schemas.microsoft.com/office/drawing/2014/main" id="{1B1389F0-C477-40D8-8B84-9375A55E8AE7}"/>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609A5114-A691-4338-9066-F2672AD3E0D7}"/>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D86CF588-8BE6-46E8-92F0-01F34CBB7190}"/>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§3.2.3 Winstmaximalisatie</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22, 23 en 24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25 en 26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27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4303588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2026-10-01T10:49:44.8470000Z</dcterms:created>
  <dcterms:modified xsi:type="dcterms:W3CDTF">2026-10-01T10:49:44.8470000Z</dcterms:modified>
</coreProperties>
</file>