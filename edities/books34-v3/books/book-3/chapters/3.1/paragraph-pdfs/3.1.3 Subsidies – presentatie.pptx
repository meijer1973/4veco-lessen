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7.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8.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9.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753d24144c94e99" /><Relationship Type="http://schemas.openxmlformats.org/officeDocument/2006/relationships/extended-properties" Target="/docProps/app.xml" Id="R16815f8813874688" /><Relationship Type="http://schemas.openxmlformats.org/officeDocument/2006/relationships/officeDocument" Target="/ppt/presentation.xml" Id="Rf337d6a392724a9b" /></Relationships>
</file>

<file path=ppt/presentation.xml><?xml version="1.0" encoding="utf-8"?>
<p:presentation xmlns:p="http://schemas.openxmlformats.org/presentationml/2006/main">
  <p:sldMasterIdLst>
    <p:sldMasterId xmlns:r="http://schemas.openxmlformats.org/officeDocument/2006/relationships" id="2147483648" r:id="R23a371e6ebd34def"/>
  </p:sldMasterIdLst>
  <p:notesMasterIdLst>
    <p:notesMasterId xmlns:r="http://schemas.openxmlformats.org/officeDocument/2006/relationships" r:id="R76d5c7ef29544041"/>
  </p:notesMasterIdLst>
  <p:sldIdLst>
    <p:sldId xmlns:r="http://schemas.openxmlformats.org/officeDocument/2006/relationships" id="256" r:id="Rd8973a95517a4943"/>
    <p:sldId xmlns:r="http://schemas.openxmlformats.org/officeDocument/2006/relationships" id="257" r:id="R20f32154b5814dcf"/>
    <p:sldId xmlns:r="http://schemas.openxmlformats.org/officeDocument/2006/relationships" id="258" r:id="R1dc4f1dc1001446c"/>
    <p:sldId xmlns:r="http://schemas.openxmlformats.org/officeDocument/2006/relationships" id="259" r:id="R245a806b2d0249e9"/>
    <p:sldId xmlns:r="http://schemas.openxmlformats.org/officeDocument/2006/relationships" id="260" r:id="Rf9949ac8d71d43ec"/>
    <p:sldId xmlns:r="http://schemas.openxmlformats.org/officeDocument/2006/relationships" id="261" r:id="R2673cc801b3c4f6c"/>
    <p:sldId xmlns:r="http://schemas.openxmlformats.org/officeDocument/2006/relationships" id="262" r:id="R49a6489cee4e44aa"/>
    <p:sldId xmlns:r="http://schemas.openxmlformats.org/officeDocument/2006/relationships" id="263" r:id="Rb123523281da4d88"/>
    <p:sldId xmlns:r="http://schemas.openxmlformats.org/officeDocument/2006/relationships" id="264" r:id="R26ab997fabcb4239"/>
    <p:sldId xmlns:r="http://schemas.openxmlformats.org/officeDocument/2006/relationships" id="265" r:id="Rc16301b572aa42ba"/>
    <p:sldId xmlns:r="http://schemas.openxmlformats.org/officeDocument/2006/relationships" id="266" r:id="R9bfef3f52e4941ec"/>
    <p:sldId xmlns:r="http://schemas.openxmlformats.org/officeDocument/2006/relationships" id="267" r:id="Re944fb3ad8bb4f7c"/>
    <p:sldId xmlns:r="http://schemas.openxmlformats.org/officeDocument/2006/relationships" id="268" r:id="R7aceda054ed94f43"/>
    <p:sldId xmlns:r="http://schemas.openxmlformats.org/officeDocument/2006/relationships" id="269" r:id="R8bd434d4214b4425"/>
    <p:sldId xmlns:r="http://schemas.openxmlformats.org/officeDocument/2006/relationships" id="270" r:id="R170ff1fe33364e9e"/>
    <p:sldId xmlns:r="http://schemas.openxmlformats.org/officeDocument/2006/relationships" id="271" r:id="R9a4ccff6e106421b"/>
    <p:sldId xmlns:r="http://schemas.openxmlformats.org/officeDocument/2006/relationships" id="272" r:id="R04982246d68147a4"/>
    <p:sldId xmlns:r="http://schemas.openxmlformats.org/officeDocument/2006/relationships" id="273" r:id="R945bc0db459c4e94"/>
    <p:sldId xmlns:r="http://schemas.openxmlformats.org/officeDocument/2006/relationships" id="274" r:id="Ra9d6eaab79cf4b82"/>
    <p:sldId xmlns:r="http://schemas.openxmlformats.org/officeDocument/2006/relationships" id="275" r:id="R30abcf6714fc4674"/>
    <p:sldId xmlns:r="http://schemas.openxmlformats.org/officeDocument/2006/relationships" id="276" r:id="R300e8275d3044cdc"/>
    <p:sldId xmlns:r="http://schemas.openxmlformats.org/officeDocument/2006/relationships" id="277" r:id="Ra5ab12e121064e7c"/>
    <p:sldId xmlns:r="http://schemas.openxmlformats.org/officeDocument/2006/relationships" id="278" r:id="Rad9e956e87a849b4"/>
    <p:sldId xmlns:r="http://schemas.openxmlformats.org/officeDocument/2006/relationships" id="279" r:id="R930c60a2636b4b0d"/>
    <p:sldId xmlns:r="http://schemas.openxmlformats.org/officeDocument/2006/relationships" id="280" r:id="R7a88f6b52d4e4d7c"/>
    <p:sldId xmlns:r="http://schemas.openxmlformats.org/officeDocument/2006/relationships" id="281" r:id="R2d756cc1b32142a5"/>
    <p:sldId xmlns:r="http://schemas.openxmlformats.org/officeDocument/2006/relationships" id="282" r:id="Rbc946e41ac38418d"/>
    <p:sldId xmlns:r="http://schemas.openxmlformats.org/officeDocument/2006/relationships" id="283" r:id="Rca980e3349d542b6"/>
    <p:sldId xmlns:r="http://schemas.openxmlformats.org/officeDocument/2006/relationships" id="284" r:id="Rb6a25a39d68f460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462c7b248647b6" /><Relationship Type="http://schemas.openxmlformats.org/officeDocument/2006/relationships/slideMaster" Target="/ppt/slideMasters/slideMaster1.xml" Id="R23a371e6ebd34def" /><Relationship Type="http://schemas.openxmlformats.org/officeDocument/2006/relationships/notesMaster" Target="/ppt/notesMasters/notesMaster1.xml" Id="R76d5c7ef29544041" /><Relationship Type="http://schemas.openxmlformats.org/officeDocument/2006/relationships/presProps" Target="/ppt/presProps.xml" Id="Rd4278ac0782245f0" /><Relationship Type="http://schemas.openxmlformats.org/officeDocument/2006/relationships/tableStyles" Target="/ppt/tableStyles.xml" Id="R1adebd7645a34629" /><Relationship Type="http://schemas.openxmlformats.org/officeDocument/2006/relationships/slide" Target="/ppt/slides/slide1.xml" Id="Rd8973a95517a4943" /><Relationship Type="http://schemas.openxmlformats.org/officeDocument/2006/relationships/slide" Target="/ppt/slides/slide2.xml" Id="R20f32154b5814dcf" /><Relationship Type="http://schemas.openxmlformats.org/officeDocument/2006/relationships/slide" Target="/ppt/slides/slide3.xml" Id="R1dc4f1dc1001446c" /><Relationship Type="http://schemas.openxmlformats.org/officeDocument/2006/relationships/slide" Target="/ppt/slides/slide4.xml" Id="R245a806b2d0249e9" /><Relationship Type="http://schemas.openxmlformats.org/officeDocument/2006/relationships/slide" Target="/ppt/slides/slide5.xml" Id="Rf9949ac8d71d43ec" /><Relationship Type="http://schemas.openxmlformats.org/officeDocument/2006/relationships/slide" Target="/ppt/slides/slide6.xml" Id="R2673cc801b3c4f6c" /><Relationship Type="http://schemas.openxmlformats.org/officeDocument/2006/relationships/slide" Target="/ppt/slides/slide7.xml" Id="R49a6489cee4e44aa" /><Relationship Type="http://schemas.openxmlformats.org/officeDocument/2006/relationships/slide" Target="/ppt/slides/slide8.xml" Id="Rb123523281da4d88" /><Relationship Type="http://schemas.openxmlformats.org/officeDocument/2006/relationships/slide" Target="/ppt/slides/slide9.xml" Id="R26ab997fabcb4239" /><Relationship Type="http://schemas.openxmlformats.org/officeDocument/2006/relationships/slide" Target="/ppt/slides/slide10.xml" Id="Rc16301b572aa42ba" /><Relationship Type="http://schemas.openxmlformats.org/officeDocument/2006/relationships/slide" Target="/ppt/slides/slide11.xml" Id="R9bfef3f52e4941ec" /><Relationship Type="http://schemas.openxmlformats.org/officeDocument/2006/relationships/slide" Target="/ppt/slides/slide12.xml" Id="Re944fb3ad8bb4f7c" /><Relationship Type="http://schemas.openxmlformats.org/officeDocument/2006/relationships/slide" Target="/ppt/slides/slide13.xml" Id="R7aceda054ed94f43" /><Relationship Type="http://schemas.openxmlformats.org/officeDocument/2006/relationships/slide" Target="/ppt/slides/slide14.xml" Id="R8bd434d4214b4425" /><Relationship Type="http://schemas.openxmlformats.org/officeDocument/2006/relationships/slide" Target="/ppt/slides/slide15.xml" Id="R170ff1fe33364e9e" /><Relationship Type="http://schemas.openxmlformats.org/officeDocument/2006/relationships/slide" Target="/ppt/slides/slide16.xml" Id="R9a4ccff6e106421b" /><Relationship Type="http://schemas.openxmlformats.org/officeDocument/2006/relationships/slide" Target="/ppt/slides/slide17.xml" Id="R04982246d68147a4" /><Relationship Type="http://schemas.openxmlformats.org/officeDocument/2006/relationships/slide" Target="/ppt/slides/slide18.xml" Id="R945bc0db459c4e94" /><Relationship Type="http://schemas.openxmlformats.org/officeDocument/2006/relationships/slide" Target="/ppt/slides/slide19.xml" Id="Ra9d6eaab79cf4b82" /><Relationship Type="http://schemas.openxmlformats.org/officeDocument/2006/relationships/slide" Target="/ppt/slides/slide20.xml" Id="R30abcf6714fc4674" /><Relationship Type="http://schemas.openxmlformats.org/officeDocument/2006/relationships/slide" Target="/ppt/slides/slide21.xml" Id="R300e8275d3044cdc" /><Relationship Type="http://schemas.openxmlformats.org/officeDocument/2006/relationships/slide" Target="/ppt/slides/slide22.xml" Id="Ra5ab12e121064e7c" /><Relationship Type="http://schemas.openxmlformats.org/officeDocument/2006/relationships/slide" Target="/ppt/slides/slide23.xml" Id="Rad9e956e87a849b4" /><Relationship Type="http://schemas.openxmlformats.org/officeDocument/2006/relationships/slide" Target="/ppt/slides/slide24.xml" Id="R930c60a2636b4b0d" /><Relationship Type="http://schemas.openxmlformats.org/officeDocument/2006/relationships/slide" Target="/ppt/slides/slide25.xml" Id="R7a88f6b52d4e4d7c" /><Relationship Type="http://schemas.openxmlformats.org/officeDocument/2006/relationships/slide" Target="/ppt/slides/slide26.xml" Id="R2d756cc1b32142a5" /><Relationship Type="http://schemas.openxmlformats.org/officeDocument/2006/relationships/slide" Target="/ppt/slides/slide27.xml" Id="Rbc946e41ac38418d" /><Relationship Type="http://schemas.openxmlformats.org/officeDocument/2006/relationships/slide" Target="/ppt/slides/slide28.xml" Id="Rca980e3349d542b6" /><Relationship Type="http://schemas.openxmlformats.org/officeDocument/2006/relationships/slide" Target="/ppt/slides/slide29.xml" Id="Rb6a25a39d68f46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fb32e383aa41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b739a7f40441c6" /><Relationship Type="http://schemas.openxmlformats.org/officeDocument/2006/relationships/notesMaster" Target="/ppt/notesMasters/notesMaster1.xml" Id="R326e6b5312f54e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cbf21c7f724e70" /><Relationship Type="http://schemas.openxmlformats.org/officeDocument/2006/relationships/notesMaster" Target="/ppt/notesMasters/notesMaster1.xml" Id="Rdc0c829eb2f440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61bbfcbddb45ad" /><Relationship Type="http://schemas.openxmlformats.org/officeDocument/2006/relationships/notesMaster" Target="/ppt/notesMasters/notesMaster1.xml" Id="R657f7693cab944c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8edadf9a01402a" /><Relationship Type="http://schemas.openxmlformats.org/officeDocument/2006/relationships/notesMaster" Target="/ppt/notesMasters/notesMaster1.xml" Id="Rb0ed33a5aca74e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a95e950c0c471b" /><Relationship Type="http://schemas.openxmlformats.org/officeDocument/2006/relationships/notesMaster" Target="/ppt/notesMasters/notesMaster1.xml" Id="R5d1a2fb0f91a48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3f468f3ac84987" /><Relationship Type="http://schemas.openxmlformats.org/officeDocument/2006/relationships/notesMaster" Target="/ppt/notesMasters/notesMaster1.xml" Id="R70a8efea60a942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911b98081514773" /><Relationship Type="http://schemas.openxmlformats.org/officeDocument/2006/relationships/notesMaster" Target="/ppt/notesMasters/notesMaster1.xml" Id="Ra0deffee7d80490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c60c9c9e9d4b02" /><Relationship Type="http://schemas.openxmlformats.org/officeDocument/2006/relationships/notesMaster" Target="/ppt/notesMasters/notesMaster1.xml" Id="Rc9eea87dc12c43d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8749bf67294e25" /><Relationship Type="http://schemas.openxmlformats.org/officeDocument/2006/relationships/notesMaster" Target="/ppt/notesMasters/notesMaster1.xml" Id="R9c192760e5f242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abfeb1cd0b54ca0" /><Relationship Type="http://schemas.openxmlformats.org/officeDocument/2006/relationships/notesMaster" Target="/ppt/notesMasters/notesMaster1.xml" Id="R73014270631443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1a22a3b7784fdd" /><Relationship Type="http://schemas.openxmlformats.org/officeDocument/2006/relationships/notesMaster" Target="/ppt/notesMasters/notesMaster1.xml" Id="Rc9e1be27647c4cc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b4386cd0d9644c3" /><Relationship Type="http://schemas.openxmlformats.org/officeDocument/2006/relationships/notesMaster" Target="/ppt/notesMasters/notesMaster1.xml" Id="Rd465426c41684f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6afc9f25e764895" /><Relationship Type="http://schemas.openxmlformats.org/officeDocument/2006/relationships/notesMaster" Target="/ppt/notesMasters/notesMaster1.xml" Id="Ra870654f7c4645b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1096092705d400b" /><Relationship Type="http://schemas.openxmlformats.org/officeDocument/2006/relationships/notesMaster" Target="/ppt/notesMasters/notesMaster1.xml" Id="R1e62ded2a692466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008fc4283b64e84" /><Relationship Type="http://schemas.openxmlformats.org/officeDocument/2006/relationships/notesMaster" Target="/ppt/notesMasters/notesMaster1.xml" Id="R28ee4c968df144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37bcf09f29c460e" /><Relationship Type="http://schemas.openxmlformats.org/officeDocument/2006/relationships/notesMaster" Target="/ppt/notesMasters/notesMaster1.xml" Id="Rbd7b01c8e31c45e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6e35ed8d4694889" /><Relationship Type="http://schemas.openxmlformats.org/officeDocument/2006/relationships/notesMaster" Target="/ppt/notesMasters/notesMaster1.xml" Id="R3dd499295a4341b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1f4379a53e44732" /><Relationship Type="http://schemas.openxmlformats.org/officeDocument/2006/relationships/notesMaster" Target="/ppt/notesMasters/notesMaster1.xml" Id="R563d3aa3a08445d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b0ecda3aa6424d" /><Relationship Type="http://schemas.openxmlformats.org/officeDocument/2006/relationships/notesMaster" Target="/ppt/notesMasters/notesMaster1.xml" Id="R328247fe04284af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aae7fb0d7f64a0f" /><Relationship Type="http://schemas.openxmlformats.org/officeDocument/2006/relationships/notesMaster" Target="/ppt/notesMasters/notesMaster1.xml" Id="R64c3dfb8f38a49b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4aa020f1d454b27" /><Relationship Type="http://schemas.openxmlformats.org/officeDocument/2006/relationships/notesMaster" Target="/ppt/notesMasters/notesMaster1.xml" Id="R0e30652cd28b4dc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c0de34be6e8426b" /><Relationship Type="http://schemas.openxmlformats.org/officeDocument/2006/relationships/notesMaster" Target="/ppt/notesMasters/notesMaster1.xml" Id="R908df204eec249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3113cfa74654301" /><Relationship Type="http://schemas.openxmlformats.org/officeDocument/2006/relationships/notesMaster" Target="/ppt/notesMasters/notesMaster1.xml" Id="Rb4ba000f1e924d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3e79e5ecc464d04" /><Relationship Type="http://schemas.openxmlformats.org/officeDocument/2006/relationships/notesMaster" Target="/ppt/notesMasters/notesMaster1.xml" Id="R5857c5563ee44b7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4e2225d62a648a9" /><Relationship Type="http://schemas.openxmlformats.org/officeDocument/2006/relationships/notesMaster" Target="/ppt/notesMasters/notesMaster1.xml" Id="R1796907bd94f4f5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106e3f886424d0f" /><Relationship Type="http://schemas.openxmlformats.org/officeDocument/2006/relationships/notesMaster" Target="/ppt/notesMasters/notesMaster1.xml" Id="R1f708f4bbe494a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b7a1ff759c2428a" /><Relationship Type="http://schemas.openxmlformats.org/officeDocument/2006/relationships/notesMaster" Target="/ppt/notesMasters/notesMaster1.xml" Id="R41720463d8504da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55a149172914b52" /><Relationship Type="http://schemas.openxmlformats.org/officeDocument/2006/relationships/notesMaster" Target="/ppt/notesMasters/notesMaster1.xml" Id="Rc16e347169c8450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e22e4a1863e44d6" /><Relationship Type="http://schemas.openxmlformats.org/officeDocument/2006/relationships/notesMaster" Target="/ppt/notesMasters/notesMaster1.xml" Id="Rdafe87de87354c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waar heb je de theorie nodig?</a:t>
            </a:r>
          </a:p>
          <a:p xmlns:a="http://schemas.openxmlformats.org/drawingml/2006/main">
            <a:r>
              <a:rPr sz="1400"/>
              <a:t/>
            </a:r>
          </a:p>
          <a:p xmlns:a="http://schemas.openxmlformats.org/drawingml/2006/main">
            <a:r>
              <a:rPr sz="1400"/>
              <a:t>Uitleg: Laat dit overzicht staan tijdens Startopdracht. Start 19–20 staat op boekpagina 26. Bij 19 is alleen de belastingwig voorkennis (§3.1.1, boek p. 6–9); de subsidiewig is nieuw. Laat de uitleg op p. 23 gebruiken, met Pp als kopersbetaling plus subsidie. Bij 20 is de regel U = s × Qsub nieuw; laat p. 24 lezen en alle gesubsidieerde verkopen aanwijzen. Dit is een ondersteunde verkenning. Keer na de instructie, vóór basiswerk, naar beide items terug en laat leerlingen hun aanpak verbeteren. Startantwoorden voor die nabespreking: 19 belasting Pp = 8, subsidie Pp = 14 euro per product; 20 U = 120 euro per week, omdat ook de 50 eerdere verkopen subsidie krijgen. Basis 21,22 p.27 en 22A p.28, zelfstandig 23–24 p.29, doel 25 p.30. Laat 22A zo nodig vóór 22c maken. Huiswerk is 21,22,22A,23,24,25 maken en nakijken. Bonus 26 en herhaling 27 zijn extra. Docenteninformatie reserveert voorlopig twee lessen van 55 minuten plus mogelijke uitloop; dit is geen bewezen tijdsfit.</a:t>
            </a:r>
          </a:p>
          <a:p xmlns:a="http://schemas.openxmlformats.org/drawingml/2006/main">
            <a:r>
              <a:rPr sz="1400"/>
              <a:t/>
            </a:r>
          </a:p>
          <a:p xmlns:a="http://schemas.openxmlformats.org/drawingml/2006/main">
            <a:r>
              <a:rPr sz="1400"/>
              <a:t>Misvatting: Nieuwe subsidiehandelingen zijn nog geen beheerste voorkennis. Gebruik complete boekpaginanummers; hoofdstukpaginanummers liggen vier lager.</a:t>
            </a:r>
          </a:p>
          <a:p xmlns:a="http://schemas.openxmlformats.org/drawingml/2006/main">
            <a:r>
              <a:rPr sz="1400"/>
              <a:t/>
            </a:r>
          </a:p>
          <a:p xmlns:a="http://schemas.openxmlformats.org/drawingml/2006/main">
            <a:r>
              <a:rPr sz="1400"/>
              <a:t>Overgang: Ga verder zodra de klas klaar is voor de volgende fase.</a:t>
            </a:r>
          </a:p>
          <a:p xmlns:a="http://schemas.openxmlformats.org/drawingml/2006/main">
            <a:r>
              <a:rPr sz="1400"/>
              <a:t/>
            </a:r>
          </a:p>
          <a:p xmlns:a="http://schemas.openxmlformats.org/drawingml/2006/main">
            <a:r>
              <a:rPr sz="1400"/>
              <a:t>Bron: Boek 3, geselecteerde v3-editie book34-lesson-balance-v3-20260915, gedrukte boekpagina 23–30.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is hoger als de overheid geld bijlegt?</a:t>
            </a:r>
          </a:p>
          <a:p xmlns:a="http://schemas.openxmlformats.org/drawingml/2006/main">
            <a:r>
              <a:rPr sz="1400"/>
              <a:t/>
            </a:r>
          </a:p>
          <a:p xmlns:a="http://schemas.openxmlformats.org/drawingml/2006/main">
            <a:r>
              <a:rPr sz="1400"/>
              <a:t>Uitleg: Haal de betekenis van Pc en Pp op uit §3.1.1. Pp is bij subsidie de kopersbetaling plus de overheidsbetaling. De subsidie keert de richting van de wig om. Laat beide vergelijkingen mondeling in woorden vertalen.</a:t>
            </a:r>
          </a:p>
          <a:p xmlns:a="http://schemas.openxmlformats.org/drawingml/2006/main">
            <a:r>
              <a:rPr sz="1400"/>
              <a:t/>
            </a:r>
          </a:p>
          <a:p xmlns:a="http://schemas.openxmlformats.org/drawingml/2006/main">
            <a:r>
              <a:rPr sz="1400"/>
              <a:t>Misvatting: Pp is geen winst; productiekosten moeten er nog af.</a:t>
            </a:r>
          </a:p>
          <a:p xmlns:a="http://schemas.openxmlformats.org/drawingml/2006/main">
            <a:r>
              <a:rPr sz="1400"/>
              <a:t/>
            </a:r>
          </a:p>
          <a:p xmlns:a="http://schemas.openxmlformats.org/drawingml/2006/main">
            <a:r>
              <a:rPr sz="1400"/>
              <a:t>Overgang: Pas dit toe op een afzonderlijk uitlegvoorbeeld.</a:t>
            </a:r>
          </a:p>
          <a:p xmlns:a="http://schemas.openxmlformats.org/drawingml/2006/main">
            <a:r>
              <a:rPr sz="1400"/>
              <a:t/>
            </a:r>
          </a:p>
          <a:p xmlns:a="http://schemas.openxmlformats.org/drawingml/2006/main">
            <a:r>
              <a:rPr sz="1400"/>
              <a:t>Bron: Boek 3, geselecteerde v3-editie book34-lesson-balance-v3-20260915, gedrukte boekpagina 23.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Op welke prijs reageert de koper? En de aanbieder?</a:t>
            </a:r>
          </a:p>
          <a:p xmlns:a="http://schemas.openxmlformats.org/drawingml/2006/main">
            <a:r>
              <a:rPr sz="1400"/>
              <a:t/>
            </a:r>
          </a:p>
          <a:p xmlns:a="http://schemas.openxmlformats.org/drawingml/2006/main">
            <a:r>
              <a:rPr sz="1400"/>
              <a:t>Uitleg: Uitlegvoorbeeld — niet uit het boek. Alle data zijn voor deze les gemaakt. Veel kopers en aanbieders, één product en verder onveranderde omstandigheden. De oorspronkelijke aanbodlijn geeft marginale kosten. Veronderstel uitdrukkelijk geen externe baten, ook al kan een echte fietscontrole zulke baten hebben. Bereken alles opnieuw; dit is geen markt uit de opgaven.</a:t>
            </a:r>
          </a:p>
          <a:p xmlns:a="http://schemas.openxmlformats.org/drawingml/2006/main">
            <a:r>
              <a:rPr sz="1400"/>
              <a:t/>
            </a:r>
          </a:p>
          <a:p xmlns:a="http://schemas.openxmlformats.org/drawingml/2006/main">
            <a:r>
              <a:rPr sz="1400"/>
              <a:t>Misvatting: Een plausibel verhaal is geen bewijs voor externe baten in het gegeven model.</a:t>
            </a:r>
          </a:p>
          <a:p xmlns:a="http://schemas.openxmlformats.org/drawingml/2006/main">
            <a:r>
              <a:rPr sz="1400"/>
              <a:t/>
            </a:r>
          </a:p>
          <a:p xmlns:a="http://schemas.openxmlformats.org/drawingml/2006/main">
            <a:r>
              <a:rPr sz="1400"/>
              <a:t>Overgang: Begin met de situatie zonder subsidie.</a:t>
            </a:r>
          </a:p>
          <a:p xmlns:a="http://schemas.openxmlformats.org/drawingml/2006/main">
            <a:r>
              <a:rPr sz="1400"/>
              <a:t/>
            </a:r>
          </a:p>
          <a:p xmlns:a="http://schemas.openxmlformats.org/drawingml/2006/main">
            <a:r>
              <a:rPr sz="1400"/>
              <a:t>Bron: Boek 3, geselecteerde v3-editie book34-lesson-balance-v3-20260915, gedrukte boekpagina 23–26.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of de prijs bij beide kanten past?</a:t>
            </a:r>
          </a:p>
          <a:p xmlns:a="http://schemas.openxmlformats.org/drawingml/2006/main">
            <a:r>
              <a:rPr sz="1400"/>
              <a:t/>
            </a:r>
          </a:p>
          <a:p xmlns:a="http://schemas.openxmlformats.org/drawingml/2006/main">
            <a:r>
              <a:rPr sz="1400"/>
              <a:t>Uitleg: Herhaal de eerder onderwezen evenwichtsmethode (§3.1.1, boek p.9). 32−0,20Q = 8+0,10Q geeft Q=80. Invullen in beide functies geeft 16. De hulplijnen horen bij (80;16).</a:t>
            </a:r>
          </a:p>
          <a:p xmlns:a="http://schemas.openxmlformats.org/drawingml/2006/main">
            <a:r>
              <a:rPr sz="1400"/>
              <a:t/>
            </a:r>
          </a:p>
          <a:p xmlns:a="http://schemas.openxmlformats.org/drawingml/2006/main">
            <a:r>
              <a:rPr sz="1400"/>
              <a:t>Misvatting: Het snijpunt is één hoeveelheid en één prijs, niet twee hoeveelheden.</a:t>
            </a:r>
          </a:p>
          <a:p xmlns:a="http://schemas.openxmlformats.org/drawingml/2006/main">
            <a:r>
              <a:rPr sz="1400"/>
              <a:t/>
            </a:r>
          </a:p>
          <a:p xmlns:a="http://schemas.openxmlformats.org/drawingml/2006/main">
            <a:r>
              <a:rPr sz="1400"/>
              <a:t>Overgang: Zet het aanbod om naar de prijs van de koper.</a:t>
            </a:r>
          </a:p>
          <a:p xmlns:a="http://schemas.openxmlformats.org/drawingml/2006/main">
            <a:r>
              <a:rPr sz="1400"/>
              <a:t/>
            </a:r>
          </a:p>
          <a:p xmlns:a="http://schemas.openxmlformats.org/drawingml/2006/main">
            <a:r>
              <a:rPr sz="1400"/>
              <a:t>Bron: Boek 3, geselecteerde v3-editie book34-lesson-balance-v3-20260915, gedrukte boekpagina 23–26.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trekken we de subsidie van Pp af?</a:t>
            </a:r>
          </a:p>
          <a:p xmlns:a="http://schemas.openxmlformats.org/drawingml/2006/main">
            <a:r>
              <a:rPr sz="1400"/>
              <a:t/>
            </a:r>
          </a:p>
          <a:p xmlns:a="http://schemas.openxmlformats.org/drawingml/2006/main">
            <a:r>
              <a:rPr sz="1400"/>
              <a:t>Uitleg: De oorspronkelijke aanbodlijn blijft de benodigde totale ontvangst aangeven. Trek bij elke Q zes euro af om de benodigde kopersprijs te krijgen. Kosten en betalingsbereidheid veranderen niet. Deze verandering van representatie is de kern van de procedure.</a:t>
            </a:r>
          </a:p>
          <a:p xmlns:a="http://schemas.openxmlformats.org/drawingml/2006/main">
            <a:r>
              <a:rPr sz="1400"/>
              <a:t/>
            </a:r>
          </a:p>
          <a:p xmlns:a="http://schemas.openxmlformats.org/drawingml/2006/main">
            <a:r>
              <a:rPr sz="1400"/>
              <a:t>Misvatting: De vraaglijn schuift niet. De oorspronkelijke aanbodlijn als kostenlijn verandert evenmin.</a:t>
            </a:r>
          </a:p>
          <a:p xmlns:a="http://schemas.openxmlformats.org/drawingml/2006/main">
            <a:r>
              <a:rPr sz="1400"/>
              <a:t/>
            </a:r>
          </a:p>
          <a:p xmlns:a="http://schemas.openxmlformats.org/drawingml/2006/main">
            <a:r>
              <a:rPr sz="1400"/>
              <a:t>Overgang: Teken de nieuwe lijn naast het oorspronkelijke aanbod.</a:t>
            </a:r>
          </a:p>
          <a:p xmlns:a="http://schemas.openxmlformats.org/drawingml/2006/main">
            <a:r>
              <a:rPr sz="1400"/>
              <a:t/>
            </a:r>
          </a:p>
          <a:p xmlns:a="http://schemas.openxmlformats.org/drawingml/2006/main">
            <a:r>
              <a:rPr sz="1400"/>
              <a:t>Bron: Boek 3, geselecteerde v3-editie book34-lesson-balance-v3-20260915, gedrukte boekpagina 24.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begint A − s op de prijsas?</a:t>
            </a:r>
          </a:p>
          <a:p xmlns:a="http://schemas.openxmlformats.org/drawingml/2006/main">
            <a:r>
              <a:rPr sz="1400"/>
              <a:t/>
            </a:r>
          </a:p>
          <a:p xmlns:a="http://schemas.openxmlformats.org/drawingml/2006/main">
            <a:r>
              <a:rPr sz="1400"/>
              <a:t>Uitleg: Construeer twee punten van A−s: bij Q=0 is Pc=2, bij Q=100 is Pc=12. De helling blijft 0,10. De horizontale pijl vergelijkt bij dezelfde kopersprijs van € 10: op A zijn dat 20 controles en op A−s 80 controles. Dit is een andere vergelijking dan de verticale subsidiewig bij dezelfde Q. Vergelijk bij dezelfde hoeveelheid met A: steeds zes euro lager. Het snijpunt van V met A−s gaat de nieuwe verkoop bepalen.</a:t>
            </a:r>
          </a:p>
          <a:p xmlns:a="http://schemas.openxmlformats.org/drawingml/2006/main">
            <a:r>
              <a:rPr sz="1400"/>
              <a:t/>
            </a:r>
          </a:p>
          <a:p xmlns:a="http://schemas.openxmlformats.org/drawingml/2006/main">
            <a:r>
              <a:rPr sz="1400"/>
              <a:t>Misvatting: Lees Pp straks op de oorspronkelijke A af, niet op A − s.</a:t>
            </a:r>
          </a:p>
          <a:p xmlns:a="http://schemas.openxmlformats.org/drawingml/2006/main">
            <a:r>
              <a:rPr sz="1400"/>
              <a:t/>
            </a:r>
          </a:p>
          <a:p xmlns:a="http://schemas.openxmlformats.org/drawingml/2006/main">
            <a:r>
              <a:rPr sz="1400"/>
              <a:t>Overgang: Bereken eerst de nieuwe hoeveelheid.</a:t>
            </a:r>
          </a:p>
          <a:p xmlns:a="http://schemas.openxmlformats.org/drawingml/2006/main">
            <a:r>
              <a:rPr sz="1400"/>
              <a:t/>
            </a:r>
          </a:p>
          <a:p xmlns:a="http://schemas.openxmlformats.org/drawingml/2006/main">
            <a:r>
              <a:rPr sz="1400"/>
              <a:t>Bron: Boek 3, geselecteerde v3-editie book34-lesson-balance-v3-20260915, gedrukte boekpagina 24.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vullen we in beide functies dezelfde 100 in?</a:t>
            </a:r>
          </a:p>
          <a:p xmlns:a="http://schemas.openxmlformats.org/drawingml/2006/main">
            <a:r>
              <a:rPr sz="1400"/>
              <a:t/>
            </a:r>
          </a:p>
          <a:p xmlns:a="http://schemas.openxmlformats.org/drawingml/2006/main">
            <a:r>
              <a:rPr sz="1400"/>
              <a:t>Uitleg: Vraag gelijkstellen aan aanbod in kopersprijzen. Los de vergelijking op, vul Qsub in de oorspronkelijke vraag- en aanbodfuncties in en controleer de wig. Je kunt Pp ook via Pc+s controleren.</a:t>
            </a:r>
          </a:p>
          <a:p xmlns:a="http://schemas.openxmlformats.org/drawingml/2006/main">
            <a:r>
              <a:rPr sz="1400"/>
              <a:t/>
            </a:r>
          </a:p>
          <a:p xmlns:a="http://schemas.openxmlformats.org/drawingml/2006/main">
            <a:r>
              <a:rPr sz="1400"/>
              <a:t>Misvatting: Trek niet de hele subsidie van de oude evenwichtsprijs af. Vraag en aanbod bepalen samen beide nieuwe prijzen.</a:t>
            </a:r>
          </a:p>
          <a:p xmlns:a="http://schemas.openxmlformats.org/drawingml/2006/main">
            <a:r>
              <a:rPr sz="1400"/>
              <a:t/>
            </a:r>
          </a:p>
          <a:p xmlns:a="http://schemas.openxmlformats.org/drawingml/2006/main">
            <a:r>
              <a:rPr sz="1400"/>
              <a:t>Overgang: Lees de uitkomst in de grafiek.</a:t>
            </a:r>
          </a:p>
          <a:p xmlns:a="http://schemas.openxmlformats.org/drawingml/2006/main">
            <a:r>
              <a:rPr sz="1400"/>
              <a:t/>
            </a:r>
          </a:p>
          <a:p xmlns:a="http://schemas.openxmlformats.org/drawingml/2006/main">
            <a:r>
              <a:rPr sz="1400"/>
              <a:t>Bron: Boek 3, geselecteerde v3-editie book34-lesson-balance-v3-20260915, gedrukte boekpagina 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gebruik je voor de totale ontvangst van de aanbieder?</a:t>
            </a:r>
          </a:p>
          <a:p xmlns:a="http://schemas.openxmlformats.org/drawingml/2006/main">
            <a:r>
              <a:rPr sz="1400"/>
              <a:t/>
            </a:r>
          </a:p>
          <a:p xmlns:a="http://schemas.openxmlformats.org/drawingml/2006/main">
            <a:r>
              <a:rPr sz="1400"/>
              <a:t>Uitleg: Wijs het snijpunt van V en A−s aan. Ga bij Q=100 omhoog naar A om Pp=18 af te lezen. De oranje verticale afstand is zes euro. De grijze hulplijnen projecteren dezelfde coördinaten op de assen.</a:t>
            </a:r>
          </a:p>
          <a:p xmlns:a="http://schemas.openxmlformats.org/drawingml/2006/main">
            <a:r>
              <a:rPr sz="1400"/>
              <a:t/>
            </a:r>
          </a:p>
          <a:p xmlns:a="http://schemas.openxmlformats.org/drawingml/2006/main">
            <a:r>
              <a:rPr sz="1400"/>
              <a:t>Misvatting: A−s geeft de kopersprijs weer, niet de ontvangst inclusief subsidie.</a:t>
            </a:r>
          </a:p>
          <a:p xmlns:a="http://schemas.openxmlformats.org/drawingml/2006/main">
            <a:r>
              <a:rPr sz="1400"/>
              <a:t/>
            </a:r>
          </a:p>
          <a:p xmlns:a="http://schemas.openxmlformats.org/drawingml/2006/main">
            <a:r>
              <a:rPr sz="1400"/>
              <a:t>Overgang: Vergelijk beide prijzen met de oude prijs.</a:t>
            </a:r>
          </a:p>
          <a:p xmlns:a="http://schemas.openxmlformats.org/drawingml/2006/main">
            <a:r>
              <a:rPr sz="1400"/>
              <a:t/>
            </a:r>
          </a:p>
          <a:p xmlns:a="http://schemas.openxmlformats.org/drawingml/2006/main">
            <a:r>
              <a:rPr sz="1400"/>
              <a:t>Bron: Boek 3, geselecteerde v3-editie book34-lesson-balance-v3-20260915, gedrukte boekpagina 24, 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houdt de aanbieder niet zelf het hele subsidievoordeel?</a:t>
            </a:r>
          </a:p>
          <a:p xmlns:a="http://schemas.openxmlformats.org/drawingml/2006/main">
            <a:r>
              <a:rPr sz="1400"/>
              <a:t/>
            </a:r>
          </a:p>
          <a:p xmlns:a="http://schemas.openxmlformats.org/drawingml/2006/main">
            <a:r>
              <a:rPr sz="1400"/>
              <a:t>Uitleg: De aanbieder krijgt de subsidie uitbetaald, maar verkoopt voor een lagere kopersprijs. Daardoor komt vier euro bij de koper terecht en twee euro bij de aanbieder. Deze bedragen per verkoop zijn niet hetzelfde als de totale veranderingen van CS en PS.</a:t>
            </a:r>
          </a:p>
          <a:p xmlns:a="http://schemas.openxmlformats.org/drawingml/2006/main">
            <a:r>
              <a:rPr sz="1400"/>
              <a:t/>
            </a:r>
          </a:p>
          <a:p xmlns:a="http://schemas.openxmlformats.org/drawingml/2006/main">
            <a:r>
              <a:rPr sz="1400"/>
              <a:t>Misvatting: Uitbetaling en voordeelverdeling zijn verschillende begrippen.</a:t>
            </a:r>
          </a:p>
          <a:p xmlns:a="http://schemas.openxmlformats.org/drawingml/2006/main">
            <a:r>
              <a:rPr sz="1400"/>
              <a:t/>
            </a:r>
          </a:p>
          <a:p xmlns:a="http://schemas.openxmlformats.org/drawingml/2006/main">
            <a:r>
              <a:rPr sz="1400"/>
              <a:t>Overgang: Bereken wat de overheid voor alle verkopen betaalt.</a:t>
            </a:r>
          </a:p>
          <a:p xmlns:a="http://schemas.openxmlformats.org/drawingml/2006/main">
            <a:r>
              <a:rPr sz="1400"/>
              <a:t/>
            </a:r>
          </a:p>
          <a:p xmlns:a="http://schemas.openxmlformats.org/drawingml/2006/main">
            <a:r>
              <a:rPr sz="1400"/>
              <a:t>Bron: Boek 3, geselecteerde v3-editie book34-lesson-balance-v3-20260915, gedrukte boekpagina 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6 × 20 niet de volledige rekening?</a:t>
            </a:r>
          </a:p>
          <a:p xmlns:a="http://schemas.openxmlformats.org/drawingml/2006/main">
            <a:r>
              <a:rPr sz="1400"/>
              <a:t/>
            </a:r>
          </a:p>
          <a:p xmlns:a="http://schemas.openxmlformats.org/drawingml/2006/main">
            <a:r>
              <a:rPr sz="1400"/>
              <a:t>Uitleg: De gearceerde rechthoek loopt van Q=0 tot Q=100, tussen Pc=12 en Pp=18. Ook de 80 controles die eerder al plaatsvonden krijgen subsidie: 80×6=480. De 20 extra controles kosten 120 subsidie. Samen 600.</a:t>
            </a:r>
          </a:p>
          <a:p xmlns:a="http://schemas.openxmlformats.org/drawingml/2006/main">
            <a:r>
              <a:rPr sz="1400"/>
              <a:t/>
            </a:r>
          </a:p>
          <a:p xmlns:a="http://schemas.openxmlformats.org/drawingml/2006/main">
            <a:r>
              <a:rPr sz="1400"/>
              <a:t>Misvatting: Overheidsuitgaven zijn geen synoniem voor welvaartsverlies.</a:t>
            </a:r>
          </a:p>
          <a:p xmlns:a="http://schemas.openxmlformats.org/drawingml/2006/main">
            <a:r>
              <a:rPr sz="1400"/>
              <a:t/>
            </a:r>
          </a:p>
          <a:p xmlns:a="http://schemas.openxmlformats.org/drawingml/2006/main">
            <a:r>
              <a:rPr sz="1400"/>
              <a:t>Overgang: Bereken eerst het voordeel voor consumenten.</a:t>
            </a:r>
          </a:p>
          <a:p xmlns:a="http://schemas.openxmlformats.org/drawingml/2006/main">
            <a:r>
              <a:rPr sz="1400"/>
              <a:t/>
            </a:r>
          </a:p>
          <a:p xmlns:a="http://schemas.openxmlformats.org/drawingml/2006/main">
            <a:r>
              <a:rPr sz="1400"/>
              <a:t>Bron: Boek 3, geselecteerde v3-editie book34-lesson-balance-v3-20260915, gedrukte boekpagina 24–26.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gebruikt CS de prijs van twaalf euro?</a:t>
            </a:r>
          </a:p>
          <a:p xmlns:a="http://schemas.openxmlformats.org/drawingml/2006/main">
            <a:r>
              <a:rPr sz="1400"/>
              <a:t/>
            </a:r>
          </a:p>
          <a:p xmlns:a="http://schemas.openxmlformats.org/drawingml/2006/main">
            <a:r>
              <a:rPr sz="1400"/>
              <a:t>Uitleg: Herhaal de driehoeksformule uit §3.1.2, boek p.15–18. De basis is de verkochte hoeveelheid 100. De hoogte is het prijsintercept van V minus Pc: 32−12=20 euro. De gekleurde driehoek is dus 1000 euro per week.</a:t>
            </a:r>
          </a:p>
          <a:p xmlns:a="http://schemas.openxmlformats.org/drawingml/2006/main">
            <a:r>
              <a:rPr sz="1400"/>
              <a:t/>
            </a:r>
          </a:p>
          <a:p xmlns:a="http://schemas.openxmlformats.org/drawingml/2006/main">
            <a:r>
              <a:rPr sz="1400"/>
              <a:t>Misvatting: Gebruik voor CS niet de totale ontvangst Pp.</a:t>
            </a:r>
          </a:p>
          <a:p xmlns:a="http://schemas.openxmlformats.org/drawingml/2006/main">
            <a:r>
              <a:rPr sz="1400"/>
              <a:t/>
            </a:r>
          </a:p>
          <a:p xmlns:a="http://schemas.openxmlformats.org/drawingml/2006/main">
            <a:r>
              <a:rPr sz="1400"/>
              <a:t>Overgang: Bereken vervolgens PS met de prijs voor producenten.</a:t>
            </a:r>
          </a:p>
          <a:p xmlns:a="http://schemas.openxmlformats.org/drawingml/2006/main">
            <a:r>
              <a:rPr sz="1400"/>
              <a:t/>
            </a:r>
          </a:p>
          <a:p xmlns:a="http://schemas.openxmlformats.org/drawingml/2006/main">
            <a:r>
              <a:rPr sz="1400"/>
              <a:t>Bron: Boek 3, geselecteerde v3-editie book34-lesson-balance-v3-20260915, gedrukte boekpagina 25–26.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prijsintercept begrenst de hoogte van PS?</a:t>
            </a:r>
          </a:p>
          <a:p xmlns:a="http://schemas.openxmlformats.org/drawingml/2006/main">
            <a:r>
              <a:rPr sz="1400"/>
              <a:t/>
            </a:r>
          </a:p>
          <a:p xmlns:a="http://schemas.openxmlformats.org/drawingml/2006/main">
            <a:r>
              <a:rPr sz="1400"/>
              <a:t>Uitleg: PS omvat de totale ontvangst inclusief subsidie min de variabele kosten. De basis is 100 en de hoogte is 18−8=10 euro. Gebruik de oorspronkelijke aanbodlijn als marginalekostenlijn. Het gebied kan in dezelfde tekening deels met CS overlappen doordat de overheid bijlegt; tel daarom de overheidsrekening apart mee.</a:t>
            </a:r>
          </a:p>
          <a:p xmlns:a="http://schemas.openxmlformats.org/drawingml/2006/main">
            <a:r>
              <a:rPr sz="1400"/>
              <a:t/>
            </a:r>
          </a:p>
          <a:p xmlns:a="http://schemas.openxmlformats.org/drawingml/2006/main">
            <a:r>
              <a:rPr sz="1400"/>
              <a:t>Misvatting: PS is niet automatisch winst: vaste kosten zijn niet van dit gebied afgetrokken.</a:t>
            </a:r>
          </a:p>
          <a:p xmlns:a="http://schemas.openxmlformats.org/drawingml/2006/main">
            <a:r>
              <a:rPr sz="1400"/>
              <a:t/>
            </a:r>
          </a:p>
          <a:p xmlns:a="http://schemas.openxmlformats.org/drawingml/2006/main">
            <a:r>
              <a:rPr sz="1400"/>
              <a:t>Overgang: Vergelijk nu de hele rekening met de oude situatie.</a:t>
            </a:r>
          </a:p>
          <a:p xmlns:a="http://schemas.openxmlformats.org/drawingml/2006/main">
            <a:r>
              <a:rPr sz="1400"/>
              <a:t/>
            </a:r>
          </a:p>
          <a:p xmlns:a="http://schemas.openxmlformats.org/drawingml/2006/main">
            <a:r>
              <a:rPr sz="1400"/>
              <a:t>Bron: Boek 3, geselecteerde v3-editie book34-lesson-balance-v3-20260915, gedrukte boekpagina 25–26.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fout ontstaat als je alleen CS en PS optelt?</a:t>
            </a:r>
          </a:p>
          <a:p xmlns:a="http://schemas.openxmlformats.org/drawingml/2006/main">
            <a:r>
              <a:rPr sz="1400"/>
              <a:t/>
            </a:r>
          </a:p>
          <a:p xmlns:a="http://schemas.openxmlformats.org/drawingml/2006/main">
            <a:r>
              <a:rPr sz="1400"/>
              <a:t>Uitleg: Bereken oud CS en PS expliciet en vergelijk met nieuw. Nieuw CS+PS is 1500, maar de subsidie-uitgaven van 600 zitten al in die voordelen. Trek U af. De stijging van CS is 360 en die van PS 180, samen 540. De overheid betaalt zestig meer.</a:t>
            </a:r>
          </a:p>
          <a:p xmlns:a="http://schemas.openxmlformats.org/drawingml/2006/main">
            <a:r>
              <a:rPr sz="1400"/>
              <a:t/>
            </a:r>
          </a:p>
          <a:p xmlns:a="http://schemas.openxmlformats.org/drawingml/2006/main">
            <a:r>
              <a:rPr sz="1400"/>
              <a:t>Misvatting: De subsidie-uitgaven zelf zijn geen verloren welvaart. Dubbele telling geeft een onjuiste conclusie.</a:t>
            </a:r>
          </a:p>
          <a:p xmlns:a="http://schemas.openxmlformats.org/drawingml/2006/main">
            <a:r>
              <a:rPr sz="1400"/>
              <a:t/>
            </a:r>
          </a:p>
          <a:p xmlns:a="http://schemas.openxmlformats.org/drawingml/2006/main">
            <a:r>
              <a:rPr sz="1400"/>
              <a:t>Overgang: Leg uit waarom juist de extra transacties verlies veroorzaken.</a:t>
            </a:r>
          </a:p>
          <a:p xmlns:a="http://schemas.openxmlformats.org/drawingml/2006/main">
            <a:r>
              <a:rPr sz="1400"/>
              <a:t/>
            </a:r>
          </a:p>
          <a:p xmlns:a="http://schemas.openxmlformats.org/drawingml/2006/main">
            <a:r>
              <a:rPr sz="1400"/>
              <a:t>Bron: Boek 3, geselecteerde v3-editie book34-lesson-balance-v3-20260915, gedrukte boekpagina 25–26.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uitgavenrechthoek groter dan de verliesdriehoek?</a:t>
            </a:r>
          </a:p>
          <a:p xmlns:a="http://schemas.openxmlformats.org/drawingml/2006/main">
            <a:r>
              <a:rPr sz="1400"/>
              <a:t/>
            </a:r>
          </a:p>
          <a:p xmlns:a="http://schemas.openxmlformats.org/drawingml/2006/main">
            <a:r>
              <a:rPr sz="1400"/>
              <a:t>Uitleg: W is de driehoek tussen A en V van Q0=80 tot Qsub=100. De basis is twintig, de hoogte zes. Bij Q=90 is de betalingsbereidheid 32−0,2×90=14, terwijl de marginale kosten 8+0,1×90=17 zijn. Die extra controle kost dus drie euro meer dan de koper eraan toekent. Zonder externe baten wordt dat nadeel niet gecompenseerd.</a:t>
            </a:r>
          </a:p>
          <a:p xmlns:a="http://schemas.openxmlformats.org/drawingml/2006/main">
            <a:r>
              <a:rPr sz="1400"/>
              <a:t/>
            </a:r>
          </a:p>
          <a:p xmlns:a="http://schemas.openxmlformats.org/drawingml/2006/main">
            <a:r>
              <a:rPr sz="1400"/>
              <a:t>Misvatting: Meer productie is binnen deze aannamen geen automatische welvaartswinst. Buiten dit model kunnen extra baten ertoe doen.</a:t>
            </a:r>
          </a:p>
          <a:p xmlns:a="http://schemas.openxmlformats.org/drawingml/2006/main">
            <a:r>
              <a:rPr sz="1400"/>
              <a:t/>
            </a:r>
          </a:p>
          <a:p xmlns:a="http://schemas.openxmlformats.org/drawingml/2006/main">
            <a:r>
              <a:rPr sz="1400"/>
              <a:t>Overgang: Laat leerlingen de rekeningen kort zelf onderscheiden.</a:t>
            </a:r>
          </a:p>
          <a:p xmlns:a="http://schemas.openxmlformats.org/drawingml/2006/main">
            <a:r>
              <a:rPr sz="1400"/>
              <a:t/>
            </a:r>
          </a:p>
          <a:p xmlns:a="http://schemas.openxmlformats.org/drawingml/2006/main">
            <a:r>
              <a:rPr sz="1400"/>
              <a:t>Bron: Boek 3, geselecteerde v3-editie book34-lesson-balance-v3-20260915, gedrukte boekpagina 25–26.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hoort bij elke rekening?</a:t>
            </a:r>
          </a:p>
          <a:p xmlns:a="http://schemas.openxmlformats.org/drawingml/2006/main">
            <a:r>
              <a:rPr sz="1400"/>
              <a:t/>
            </a:r>
          </a:p>
          <a:p xmlns:a="http://schemas.openxmlformats.org/drawingml/2006/main">
            <a:r>
              <a:rPr sz="1400"/>
              <a:t>Uitleg: Laat leerlingen eerst in stilte een antwoord formuleren. U gebruikt 100, want alle verkochte controles krijgen subsidie. CS gebruikt 12, PS 18. U is een overdracht van 600; de gezamenlijke voordelen stijgen slechts 540, dus het verschil is 60. Herhaal bij twijfel de bijbehorende grafiek voordat je zelfstandig laat oefenen.</a:t>
            </a:r>
          </a:p>
          <a:p xmlns:a="http://schemas.openxmlformats.org/drawingml/2006/main">
            <a:r>
              <a:rPr sz="1400"/>
              <a:t/>
            </a:r>
          </a:p>
          <a:p xmlns:a="http://schemas.openxmlformats.org/drawingml/2006/main">
            <a:r>
              <a:rPr sz="1400"/>
              <a:t>Misvatting: Een juiste formule zonder betekenis van basis en hoogte is nog kwetsbaar.</a:t>
            </a:r>
          </a:p>
          <a:p xmlns:a="http://schemas.openxmlformats.org/drawingml/2006/main">
            <a:r>
              <a:rPr sz="1400"/>
              <a:t/>
            </a:r>
          </a:p>
          <a:p xmlns:a="http://schemas.openxmlformats.org/drawingml/2006/main">
            <a:r>
              <a:rPr sz="1400"/>
              <a:t>Overgang: Keer terug naar start 19–20 en laat leerlingen hun eerdere aanpak verbeteren.</a:t>
            </a:r>
          </a:p>
          <a:p xmlns:a="http://schemas.openxmlformats.org/drawingml/2006/main">
            <a:r>
              <a:rPr sz="1400"/>
              <a:t/>
            </a:r>
          </a:p>
          <a:p xmlns:a="http://schemas.openxmlformats.org/drawingml/2006/main">
            <a:r>
              <a:rPr sz="1400"/>
              <a:t>Bron: Boek 3, geselecteerde v3-editie book34-lesson-balance-v3-20260915, gedrukte boekpagina 24–26.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Uitlegvoorbeeld — niet uit het boek. Fietscontroles en alle bijbehorende data zijn voor deze uitleg gemaakt. De boekverwijzing betreft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waar heb je de theorie nodig?</a:t>
            </a:r>
          </a:p>
          <a:p xmlns:a="http://schemas.openxmlformats.org/drawingml/2006/main">
            <a:r>
              <a:rPr sz="1400"/>
              <a:t/>
            </a:r>
          </a:p>
          <a:p xmlns:a="http://schemas.openxmlformats.org/drawingml/2006/main">
            <a:r>
              <a:rPr sz="1400"/>
              <a:t>Uitleg: Laat dit overzicht staan tijdens Oefenen. Start 19–20 staat op boekpagina 26. Bij 19 is alleen de belastingwig voorkennis (§3.1.1, boek p. 6–9); de subsidiewig is nieuw. Laat de uitleg op p. 23 gebruiken, met Pp als kopersbetaling plus subsidie. Bij 20 is de regel U = s × Qsub nieuw; laat p. 24 lezen en alle gesubsidieerde verkopen aanwijzen. Dit is een ondersteunde verkenning. Keer na de instructie, vóór basiswerk, naar beide items terug en laat leerlingen hun aanpak verbeteren. Startantwoorden voor die nabespreking: 19 belasting Pp = 8, subsidie Pp = 14 euro per product; 20 U = 120 euro per week, omdat ook de 50 eerdere verkopen subsidie krijgen. Basis 21,22 p.27 en 22A p.28, zelfstandig 23–24 p.29, doel 25 p.30. Laat 22A zo nodig vóór 22c maken. Huiswerk is 21,22,22A,23,24,25 maken en nakijken. Bonus 26 en herhaling 27 zijn extra. Docenteninformatie reserveert voorlopig twee lessen van 55 minuten plus mogelijke uitloop; dit is geen bewezen tijdsfit.</a:t>
            </a:r>
          </a:p>
          <a:p xmlns:a="http://schemas.openxmlformats.org/drawingml/2006/main">
            <a:r>
              <a:rPr sz="1400"/>
              <a:t/>
            </a:r>
          </a:p>
          <a:p xmlns:a="http://schemas.openxmlformats.org/drawingml/2006/main">
            <a:r>
              <a:rPr sz="1400"/>
              <a:t>Misvatting: Nieuwe subsidiehandelingen zijn nog geen beheerste voorkennis. Gebruik complete boekpaginanummers; hoofdstukpaginanummers liggen vier lager.</a:t>
            </a:r>
          </a:p>
          <a:p xmlns:a="http://schemas.openxmlformats.org/drawingml/2006/main">
            <a:r>
              <a:rPr sz="1400"/>
              <a:t/>
            </a:r>
          </a:p>
          <a:p xmlns:a="http://schemas.openxmlformats.org/drawingml/2006/main">
            <a:r>
              <a:rPr sz="1400"/>
              <a:t>Overgang: Ga verder zodra de klas klaar is voor de volgende fase.</a:t>
            </a:r>
          </a:p>
          <a:p xmlns:a="http://schemas.openxmlformats.org/drawingml/2006/main">
            <a:r>
              <a:rPr sz="1400"/>
              <a:t/>
            </a:r>
          </a:p>
          <a:p xmlns:a="http://schemas.openxmlformats.org/drawingml/2006/main">
            <a:r>
              <a:rPr sz="1400"/>
              <a:t>Bron: Boek 3, geselecteerde v3-editie book34-lesson-balance-v3-20260915, gedrukte boekpagina 23–30.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zijn anders dan bij de fietscontroles?</a:t>
            </a:r>
          </a:p>
          <a:p xmlns:a="http://schemas.openxmlformats.org/drawingml/2006/main">
            <a:r>
              <a:rPr sz="1400"/>
              <a:t/>
            </a:r>
          </a:p>
          <a:p xmlns:a="http://schemas.openxmlformats.org/drawingml/2006/main">
            <a:r>
              <a:rPr sz="1400"/>
              <a:t>Uitleg: Dit is de volledige context van de werkelijke doeloefening 25. Sluit het fictieve fietsvoorbeeld af: dit is een nieuwe markt met andere functies, eenheden en subsidie. Lees alle brongegevens en aannamen. Toon hierna alle deelvragen en de basisgrafiek vóór de eerste uitwerking.</a:t>
            </a:r>
          </a:p>
          <a:p xmlns:a="http://schemas.openxmlformats.org/drawingml/2006/main">
            <a:r>
              <a:rPr sz="1400"/>
              <a:t/>
            </a:r>
          </a:p>
          <a:p xmlns:a="http://schemas.openxmlformats.org/drawingml/2006/main">
            <a:r>
              <a:rPr sz="1400"/>
              <a:t>Misvatting: Gebruik geen eerder berekende uitkomst zonder opnieuw de bron te lezen.</a:t>
            </a:r>
          </a:p>
          <a:p xmlns:a="http://schemas.openxmlformats.org/drawingml/2006/main">
            <a:r>
              <a:rPr sz="1400"/>
              <a:t/>
            </a:r>
          </a:p>
          <a:p xmlns:a="http://schemas.openxmlformats.org/drawingml/2006/main">
            <a:r>
              <a:rPr sz="1400"/>
              <a:t>Overgang: Lees deelvragen a tot en met c.</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heb je nodig voordat je de uitgaven kunt bepalen?</a:t>
            </a:r>
          </a:p>
          <a:p xmlns:a="http://schemas.openxmlformats.org/drawingml/2006/main">
            <a:r>
              <a:rPr sz="1400"/>
              <a:t/>
            </a:r>
          </a:p>
          <a:p xmlns:a="http://schemas.openxmlformats.org/drawingml/2006/main">
            <a:r>
              <a:rPr sz="1400"/>
              <a:t>Uitleg: Dit zijn de onopgeloste deelvragen a–c uit het boek. Laat de leerlingen hun eigen aanpak of ontbrekende stap herkennen zonder de uitwerking al te onthullen. De volledige context staat op de vorige dia.</a:t>
            </a:r>
          </a:p>
          <a:p xmlns:a="http://schemas.openxmlformats.org/drawingml/2006/main">
            <a:r>
              <a:rPr sz="1400"/>
              <a:t/>
            </a:r>
          </a:p>
          <a:p xmlns:a="http://schemas.openxmlformats.org/drawingml/2006/main">
            <a:r>
              <a:rPr sz="1400"/>
              <a:t>Misvatting: Uitbetaling is nog geen voordeelverdeling.</a:t>
            </a:r>
          </a:p>
          <a:p xmlns:a="http://schemas.openxmlformats.org/drawingml/2006/main">
            <a:r>
              <a:rPr sz="1400"/>
              <a:t/>
            </a:r>
          </a:p>
          <a:p xmlns:a="http://schemas.openxmlformats.org/drawingml/2006/main">
            <a:r>
              <a:rPr sz="1400"/>
              <a:t>Overgang: Toon ook d en e vóór de antwoorden.</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modelaanname is nodig voor het oordeel?</a:t>
            </a:r>
          </a:p>
          <a:p xmlns:a="http://schemas.openxmlformats.org/drawingml/2006/main">
            <a:r>
              <a:rPr sz="1400"/>
              <a:t/>
            </a:r>
          </a:p>
          <a:p xmlns:a="http://schemas.openxmlformats.org/drawingml/2006/main">
            <a:r>
              <a:rPr sz="1400"/>
              <a:t>Uitleg: Dit zijn de volledige deelvragen d–e. Bij e hoort zowel de getekende markering en arcering als het economische oordeel. Er is nog geen antwoord onthuld.</a:t>
            </a:r>
          </a:p>
          <a:p xmlns:a="http://schemas.openxmlformats.org/drawingml/2006/main">
            <a:r>
              <a:rPr sz="1400"/>
              <a:t/>
            </a:r>
          </a:p>
          <a:p xmlns:a="http://schemas.openxmlformats.org/drawingml/2006/main">
            <a:r>
              <a:rPr sz="1400"/>
              <a:t>Misvatting: Een grafiek alleen beantwoordt de welvaartsclaim nog niet.</a:t>
            </a:r>
          </a:p>
          <a:p xmlns:a="http://schemas.openxmlformats.org/drawingml/2006/main">
            <a:r>
              <a:rPr sz="1400"/>
              <a:t/>
            </a:r>
          </a:p>
          <a:p xmlns:a="http://schemas.openxmlformats.org/drawingml/2006/main">
            <a:r>
              <a:rPr sz="1400"/>
              <a:t>Overgang: Toon de basisgrafiek uit de opgave.</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zou je beginnen met tekenen?</a:t>
            </a:r>
          </a:p>
          <a:p xmlns:a="http://schemas.openxmlformats.org/drawingml/2006/main">
            <a:r>
              <a:rPr sz="1400"/>
              <a:t/>
            </a:r>
          </a:p>
          <a:p xmlns:a="http://schemas.openxmlformats.org/drawingml/2006/main">
            <a:r>
              <a:rPr sz="1400"/>
              <a:t>Uitleg: Bewerkbare reproductie van de basisgrafiek bij de doelopgave: dezelfde V en A, intercepten en eenheden. De hoeveelheid-as loopt iets verder door tot 140 voor labelruimte; V stopt bij 130 waar P=0. Er zijn geen antwoorden of nieuwe subsidielijn toegevoegd. Alle vragen zijn nu beschikbaar.</a:t>
            </a:r>
          </a:p>
          <a:p xmlns:a="http://schemas.openxmlformats.org/drawingml/2006/main">
            <a:r>
              <a:rPr sz="1400"/>
              <a:t/>
            </a:r>
          </a:p>
          <a:p xmlns:a="http://schemas.openxmlformats.org/drawingml/2006/main">
            <a:r>
              <a:rPr sz="1400"/>
              <a:t>Misvatting: Verander de oorspronkelijke vraag- en aanbodfuncties niet.</a:t>
            </a:r>
          </a:p>
          <a:p xmlns:a="http://schemas.openxmlformats.org/drawingml/2006/main">
            <a:r>
              <a:rPr sz="1400"/>
              <a:t/>
            </a:r>
          </a:p>
          <a:p xmlns:a="http://schemas.openxmlformats.org/drawingml/2006/main">
            <a:r>
              <a:rPr sz="1400"/>
              <a:t>Overgang: Bespreek nu stap voor stap de antwoorden.</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gebruiken beide zijden van de vergelijking Pc?</a:t>
            </a:r>
          </a:p>
          <a:p xmlns:a="http://schemas.openxmlformats.org/drawingml/2006/main">
            <a:r>
              <a:rPr sz="1400"/>
              <a:t/>
            </a:r>
          </a:p>
          <a:p xmlns:a="http://schemas.openxmlformats.org/drawingml/2006/main">
            <a:r>
              <a:rPr sz="1400"/>
              <a:t>Uitleg: Substitueer Pp=8+0,10Q in Pc=Pp−3. Stel daarna de vraag gelijk aan dit aanbod in kopersprijzen. Breng constanten en Q-termen samen: 21=0,30Q, dus 70.</a:t>
            </a:r>
          </a:p>
          <a:p xmlns:a="http://schemas.openxmlformats.org/drawingml/2006/main">
            <a:r>
              <a:rPr sz="1400"/>
              <a:t/>
            </a:r>
          </a:p>
          <a:p xmlns:a="http://schemas.openxmlformats.org/drawingml/2006/main">
            <a:r>
              <a:rPr sz="1400"/>
              <a:t>Misvatting: Gelijkstellen van de oude V en A levert het oude evenwicht.</a:t>
            </a:r>
          </a:p>
          <a:p xmlns:a="http://schemas.openxmlformats.org/drawingml/2006/main">
            <a:r>
              <a:rPr sz="1400"/>
              <a:t/>
            </a:r>
          </a:p>
          <a:p xmlns:a="http://schemas.openxmlformats.org/drawingml/2006/main">
            <a:r>
              <a:rPr sz="1400"/>
              <a:t>Overgang: Vul 70 in om beide nieuwe prijzen te vinden.</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alternatieve berekening controleert Pp?</a:t>
            </a:r>
          </a:p>
          <a:p xmlns:a="http://schemas.openxmlformats.org/drawingml/2006/main">
            <a:r>
              <a:rPr sz="1400"/>
              <a:t/>
            </a:r>
          </a:p>
          <a:p xmlns:a="http://schemas.openxmlformats.org/drawingml/2006/main">
            <a:r>
              <a:rPr sz="1400"/>
              <a:t>Uitleg: Gebruik voor Pc de vraag en voor Pp het oorspronkelijke aanbod. De wig is gelijk aan de subsidie. Het aanbod in kopersprijzen geeft eveneens 5+0,10×70=12.</a:t>
            </a:r>
          </a:p>
          <a:p xmlns:a="http://schemas.openxmlformats.org/drawingml/2006/main">
            <a:r>
              <a:rPr sz="1400"/>
              <a:t/>
            </a:r>
          </a:p>
          <a:p xmlns:a="http://schemas.openxmlformats.org/drawingml/2006/main">
            <a:r>
              <a:rPr sz="1400"/>
              <a:t>Misvatting: Vijftien euro is inclusief de subsidie, geen winst.</a:t>
            </a:r>
          </a:p>
          <a:p xmlns:a="http://schemas.openxmlformats.org/drawingml/2006/main">
            <a:r>
              <a:rPr sz="1400"/>
              <a:t/>
            </a:r>
          </a:p>
          <a:p xmlns:a="http://schemas.openxmlformats.org/drawingml/2006/main">
            <a:r>
              <a:rPr sz="1400"/>
              <a:t>Overgang: Bereken de overheidsuitgaven.</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verkopen ontbreken als je alleen 3 × 10 rekent?</a:t>
            </a:r>
          </a:p>
          <a:p xmlns:a="http://schemas.openxmlformats.org/drawingml/2006/main">
            <a:r>
              <a:rPr sz="1400"/>
              <a:t/>
            </a:r>
          </a:p>
          <a:p xmlns:a="http://schemas.openxmlformats.org/drawingml/2006/main">
            <a:r>
              <a:rPr sz="1400"/>
              <a:t>Uitleg: Neem de volledige verkochte hoeveelheid 70. De zestig bestaande verkopen krijgen 180 subsidie en de tien extra verkopen 30. Samen 210 euro per week.</a:t>
            </a:r>
          </a:p>
          <a:p xmlns:a="http://schemas.openxmlformats.org/drawingml/2006/main">
            <a:r>
              <a:rPr sz="1400"/>
              <a:t/>
            </a:r>
          </a:p>
          <a:p xmlns:a="http://schemas.openxmlformats.org/drawingml/2006/main">
            <a:r>
              <a:rPr sz="1400"/>
              <a:t>Misvatting: De tien extra cursusplaatsen zijn niet de breedte van de uitgavenrechthoek.</a:t>
            </a:r>
          </a:p>
          <a:p xmlns:a="http://schemas.openxmlformats.org/drawingml/2006/main">
            <a:r>
              <a:rPr sz="1400"/>
              <a:t/>
            </a:r>
          </a:p>
          <a:p xmlns:a="http://schemas.openxmlformats.org/drawingml/2006/main">
            <a:r>
              <a:rPr sz="1400"/>
              <a:t>Overgang: Vergelijk beide prijzen met de oude prijs van veertien euro.</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kan de koper profiteren zonder geld van de overheid te ontvangen?</a:t>
            </a:r>
          </a:p>
          <a:p xmlns:a="http://schemas.openxmlformats.org/drawingml/2006/main">
            <a:r>
              <a:rPr sz="1400"/>
              <a:t/>
            </a:r>
          </a:p>
          <a:p xmlns:a="http://schemas.openxmlformats.org/drawingml/2006/main">
            <a:r>
              <a:rPr sz="1400"/>
              <a:t>Uitleg: De aanbieder ontvangt de overheidsbetaling van drie euro, maar ontvangt twee euro minder van de koper dan vóór de subsidie. Zijn totale ontvangst stijgt daarom maar één euro. De koper bespaart twee euro. Controle 2+1=3.</a:t>
            </a:r>
          </a:p>
          <a:p xmlns:a="http://schemas.openxmlformats.org/drawingml/2006/main">
            <a:r>
              <a:rPr sz="1400"/>
              <a:t/>
            </a:r>
          </a:p>
          <a:p xmlns:a="http://schemas.openxmlformats.org/drawingml/2006/main">
            <a:r>
              <a:rPr sz="1400"/>
              <a:t>Misvatting: Verwar de betaling van drie euro niet met het voordeel van de aanbieder.</a:t>
            </a:r>
          </a:p>
          <a:p xmlns:a="http://schemas.openxmlformats.org/drawingml/2006/main">
            <a:r>
              <a:rPr sz="1400"/>
              <a:t/>
            </a:r>
          </a:p>
          <a:p xmlns:a="http://schemas.openxmlformats.org/drawingml/2006/main">
            <a:r>
              <a:rPr sz="1400"/>
              <a:t>Overgang: Bereken de surplusgebieden.</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de twee driehoeken niet even groot?</a:t>
            </a:r>
          </a:p>
          <a:p xmlns:a="http://schemas.openxmlformats.org/drawingml/2006/main">
            <a:r>
              <a:rPr sz="1400"/>
              <a:t/>
            </a:r>
          </a:p>
          <a:p xmlns:a="http://schemas.openxmlformats.org/drawingml/2006/main">
            <a:r>
              <a:rPr sz="1400"/>
              <a:t>Uitleg: Bij CS is de hoogte 26−12=14, bij PS 15−8=7. Beide hebben basis 70. Laat basis, hoogte, berekening en euro per week in het leerlingantwoord controleren.</a:t>
            </a:r>
          </a:p>
          <a:p xmlns:a="http://schemas.openxmlformats.org/drawingml/2006/main">
            <a:r>
              <a:rPr sz="1400"/>
              <a:t/>
            </a:r>
          </a:p>
          <a:p xmlns:a="http://schemas.openxmlformats.org/drawingml/2006/main">
            <a:r>
              <a:rPr sz="1400"/>
              <a:t>Misvatting: Een hoogte is een prijsverschil, niet alleen de nieuwe prijs.</a:t>
            </a:r>
          </a:p>
          <a:p xmlns:a="http://schemas.openxmlformats.org/drawingml/2006/main">
            <a:r>
              <a:rPr sz="1400"/>
              <a:t/>
            </a:r>
          </a:p>
          <a:p xmlns:a="http://schemas.openxmlformats.org/drawingml/2006/main">
            <a:r>
              <a:rPr sz="1400"/>
              <a:t>Overgang: Neem ook de overheidsuitgaven mee.</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verklaar je dat kopers en aanbieders profiteren terwijl de maat daalt?</a:t>
            </a:r>
          </a:p>
          <a:p xmlns:a="http://schemas.openxmlformats.org/drawingml/2006/main">
            <a:r>
              <a:rPr sz="1400"/>
              <a:t/>
            </a:r>
          </a:p>
          <a:p xmlns:a="http://schemas.openxmlformats.org/drawingml/2006/main">
            <a:r>
              <a:rPr sz="1400"/>
              <a:t>Uitleg: Oude welvaartsmaat 540, nieuwe 525. CS stijgt 130, PS 65, samen 195. De overheid betaalt 210. Het verschil is 15 welvaartsverlies. De driehoekcontrole gebruikt tien extra plaatsen en drie euro hoogte.</a:t>
            </a:r>
          </a:p>
          <a:p xmlns:a="http://schemas.openxmlformats.org/drawingml/2006/main">
            <a:r>
              <a:rPr sz="1400"/>
              <a:t/>
            </a:r>
          </a:p>
          <a:p xmlns:a="http://schemas.openxmlformats.org/drawingml/2006/main">
            <a:r>
              <a:rPr sz="1400"/>
              <a:t>Misvatting: CS+PS=735 is niet de volledige nieuwe welvaartsmaat.</a:t>
            </a:r>
          </a:p>
          <a:p xmlns:a="http://schemas.openxmlformats.org/drawingml/2006/main">
            <a:r>
              <a:rPr sz="1400"/>
              <a:t/>
            </a:r>
          </a:p>
          <a:p xmlns:a="http://schemas.openxmlformats.org/drawingml/2006/main">
            <a:r>
              <a:rPr sz="1400"/>
              <a:t>Overgang: Markeer de uitkomst en de begrotingsrekening in de grafiek.</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Liggen beide gemarkeerde prijzen bij dezelfde hoeveelheid?</a:t>
            </a:r>
          </a:p>
          <a:p xmlns:a="http://schemas.openxmlformats.org/drawingml/2006/main">
            <a:r>
              <a:rPr sz="1400"/>
              <a:t/>
            </a:r>
          </a:p>
          <a:p xmlns:a="http://schemas.openxmlformats.org/drawingml/2006/main">
            <a:r>
              <a:rPr sz="1400"/>
              <a:t>Uitleg: De vraag snijdt A−s bij (70;12). Lees bij Q=70 op A de producentenontvangst 15. De gearceerde rechthoek omvat alle 70 verkopen tussen beide prijzen. Laat leerlingen eerst hun eigen figuur vergelijken voordat zij verbeteren.</a:t>
            </a:r>
          </a:p>
          <a:p xmlns:a="http://schemas.openxmlformats.org/drawingml/2006/main">
            <a:r>
              <a:rPr sz="1400"/>
              <a:t/>
            </a:r>
          </a:p>
          <a:p xmlns:a="http://schemas.openxmlformats.org/drawingml/2006/main">
            <a:r>
              <a:rPr sz="1400"/>
              <a:t>Misvatting: Arceer niet alleen de strook van Q=60 tot Q=70 als uitgaven.</a:t>
            </a:r>
          </a:p>
          <a:p xmlns:a="http://schemas.openxmlformats.org/drawingml/2006/main">
            <a:r>
              <a:rPr sz="1400"/>
              <a:t/>
            </a:r>
          </a:p>
          <a:p xmlns:a="http://schemas.openxmlformats.org/drawingml/2006/main">
            <a:r>
              <a:rPr sz="1400"/>
              <a:t>Overgang: Beoordeel de claim met berekening en aanname.</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zin in de bron begrenst deze conclusie?</a:t>
            </a:r>
          </a:p>
          <a:p xmlns:a="http://schemas.openxmlformats.org/drawingml/2006/main">
            <a:r>
              <a:rPr sz="1400"/>
              <a:t/>
            </a:r>
          </a:p>
          <a:p xmlns:a="http://schemas.openxmlformats.org/drawingml/2006/main">
            <a:r>
              <a:rPr sz="1400"/>
              <a:t>Uitleg: Beantwoord de claim volledig: oordeel, berekend bewijs en economische reden onder de bronaanname. Het verlies is vijftien per week. Deze conclusie geldt hier zonder externe baten en zonder uitvoeringskosten; zij is geen universeel oordeel over iedere werkelijke subsidie. Laat leerlingen één ontbrekende stap, eenheid of argument aanvullen.</a:t>
            </a:r>
          </a:p>
          <a:p xmlns:a="http://schemas.openxmlformats.org/drawingml/2006/main">
            <a:r>
              <a:rPr sz="1400"/>
              <a:t/>
            </a:r>
          </a:p>
          <a:p xmlns:a="http://schemas.openxmlformats.org/drawingml/2006/main">
            <a:r>
              <a:rPr sz="1400"/>
              <a:t>Misvatting: Een hoger CS en PS bewijzen samen nog geen welvaartswinst.</a:t>
            </a:r>
          </a:p>
          <a:p xmlns:a="http://schemas.openxmlformats.org/drawingml/2006/main">
            <a:r>
              <a:rPr sz="1400"/>
              <a:t/>
            </a:r>
          </a:p>
          <a:p xmlns:a="http://schemas.openxmlformats.org/drawingml/2006/main">
            <a:r>
              <a:rPr sz="1400"/>
              <a:t>Overgang: Sluit af met het gezamenlijke overzicht en het huiswerk.</a:t>
            </a:r>
          </a:p>
          <a:p xmlns:a="http://schemas.openxmlformats.org/drawingml/2006/main">
            <a:r>
              <a:rPr sz="1400"/>
              <a:t/>
            </a:r>
          </a:p>
          <a:p xmlns:a="http://schemas.openxmlformats.org/drawingml/2006/main">
            <a:r>
              <a:rPr sz="1400"/>
              <a:t>Bron: Boek 3, geselecteerde v3-editie book34-lesson-balance-v3-20260915, gedrukte boekpagina 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waar heb je de theorie nodig?</a:t>
            </a:r>
          </a:p>
          <a:p xmlns:a="http://schemas.openxmlformats.org/drawingml/2006/main">
            <a:r>
              <a:rPr sz="1400"/>
              <a:t/>
            </a:r>
          </a:p>
          <a:p xmlns:a="http://schemas.openxmlformats.org/drawingml/2006/main">
            <a:r>
              <a:rPr sz="1400"/>
              <a:t>Uitleg: Laat dit overzicht staan tijdens Afsluiting / huiswerk. Start 19–20 staat op boekpagina 26. Bij 19 is alleen de belastingwig voorkennis (§3.1.1, boek p. 6–9); de subsidiewig is nieuw. Laat de uitleg op p. 23 gebruiken, met Pp als kopersbetaling plus subsidie. Bij 20 is de regel U = s × Qsub nieuw; laat p. 24 lezen en alle gesubsidieerde verkopen aanwijzen. Dit is een ondersteunde verkenning. Keer na de instructie, vóór basiswerk, naar beide items terug en laat leerlingen hun aanpak verbeteren. Startantwoorden voor die nabespreking: 19 belasting Pp = 8, subsidie Pp = 14 euro per product; 20 U = 120 euro per week, omdat ook de 50 eerdere verkopen subsidie krijgen. Basis 21,22 p.27 en 22A p.28, zelfstandig 23–24 p.29, doel 25 p.30. Laat 22A zo nodig vóór 22c maken. Huiswerk is 21,22,22A,23,24,25 maken en nakijken. Bonus 26 en herhaling 27 zijn extra. Docenteninformatie reserveert voorlopig twee lessen van 55 minuten plus mogelijke uitloop; dit is geen bewezen tijdsfit.</a:t>
            </a:r>
          </a:p>
          <a:p xmlns:a="http://schemas.openxmlformats.org/drawingml/2006/main">
            <a:r>
              <a:rPr sz="1400"/>
              <a:t/>
            </a:r>
          </a:p>
          <a:p xmlns:a="http://schemas.openxmlformats.org/drawingml/2006/main">
            <a:r>
              <a:rPr sz="1400"/>
              <a:t>Misvatting: Nieuwe subsidiehandelingen zijn nog geen beheerste voorkennis. Gebruik complete boekpaginanummers; hoofdstukpaginanummers liggen vier lager.</a:t>
            </a:r>
          </a:p>
          <a:p xmlns:a="http://schemas.openxmlformats.org/drawingml/2006/main">
            <a:r>
              <a:rPr sz="1400"/>
              <a:t/>
            </a:r>
          </a:p>
          <a:p xmlns:a="http://schemas.openxmlformats.org/drawingml/2006/main">
            <a:r>
              <a:rPr sz="1400"/>
              <a:t>Overgang: Laat het huiswerk in de agenda zetten.</a:t>
            </a:r>
          </a:p>
          <a:p xmlns:a="http://schemas.openxmlformats.org/drawingml/2006/main">
            <a:r>
              <a:rPr sz="1400"/>
              <a:t/>
            </a:r>
          </a:p>
          <a:p xmlns:a="http://schemas.openxmlformats.org/drawingml/2006/main">
            <a:r>
              <a:rPr sz="1400"/>
              <a:t>Bron: Boek 3, geselecteerde v3-editie book34-lesson-balance-v3-20260915, gedrukte boekpagina 23–30.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https://github.com/meijer1973/4veco-lessen/blob/9b8304d5031cafac936a56281e144573a25fbbc9/edities/books34-v3/books/book-3/chapters/3.1/Antwoorden.md#ans25</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c97f8d42f8418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0c810e020e4f1b" /><Relationship Type="http://schemas.openxmlformats.org/officeDocument/2006/relationships/slideLayout" Target="/ppt/slideLayouts/slideLayout1.xml" Id="R9c48b75228814b1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c48b75228814b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97c6c0d8d664bc3" /><Relationship Type="http://schemas.openxmlformats.org/officeDocument/2006/relationships/notesSlide" Target="/ppt/notesSlides/notesSlide1.xml" Id="Rc25556fdeea840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349779a8a804fea" /><Relationship Type="http://schemas.openxmlformats.org/officeDocument/2006/relationships/notesSlide" Target="/ppt/notesSlides/notesSlide2.xml" Id="R4666fc050cef41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3c196e58964fc0" /><Relationship Type="http://schemas.openxmlformats.org/officeDocument/2006/relationships/notesSlide" Target="/ppt/notesSlides/notesSlide3.xml" Id="R52c1a4b48b4d4e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7048ad92b3d4714" /><Relationship Type="http://schemas.openxmlformats.org/officeDocument/2006/relationships/chart" Target="/ppt/slides/charts/chart1.xml" Id="Rb873160e3b864649" /><Relationship Type="http://schemas.openxmlformats.org/officeDocument/2006/relationships/notesSlide" Target="/ppt/notesSlides/notesSlide4.xml" Id="R52bdc3ddbb0d4d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2cc208a2a74d7f" /><Relationship Type="http://schemas.openxmlformats.org/officeDocument/2006/relationships/notesSlide" Target="/ppt/notesSlides/notesSlide5.xml" Id="R846fde1eb37f45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45444b4d214435" /><Relationship Type="http://schemas.openxmlformats.org/officeDocument/2006/relationships/chart" Target="/ppt/slides/charts/chart2.xml" Id="R7bf64a4f968743a9" /><Relationship Type="http://schemas.openxmlformats.org/officeDocument/2006/relationships/notesSlide" Target="/ppt/notesSlides/notesSlide6.xml" Id="Rf206c2f33e5c42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d7350baa2924a7c" /><Relationship Type="http://schemas.openxmlformats.org/officeDocument/2006/relationships/notesSlide" Target="/ppt/notesSlides/notesSlide7.xml" Id="R169052795b1a43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50a0a930f2b4819" /><Relationship Type="http://schemas.openxmlformats.org/officeDocument/2006/relationships/chart" Target="/ppt/slides/charts/chart3.xml" Id="R38838fcd9a924db1" /><Relationship Type="http://schemas.openxmlformats.org/officeDocument/2006/relationships/notesSlide" Target="/ppt/notesSlides/notesSlide8.xml" Id="R0bc849024b60402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4fba4a803f542d2" /><Relationship Type="http://schemas.openxmlformats.org/officeDocument/2006/relationships/notesSlide" Target="/ppt/notesSlides/notesSlide9.xml" Id="R5beddfbb1da748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37444ee289840bc" /><Relationship Type="http://schemas.openxmlformats.org/officeDocument/2006/relationships/chart" Target="/ppt/slides/charts/chart4.xml" Id="Rc29e8370cf5042cb" /><Relationship Type="http://schemas.openxmlformats.org/officeDocument/2006/relationships/notesSlide" Target="/ppt/notesSlides/notesSlide10.xml" Id="Re466a41f9e844c6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b0b1f9bffd41bf" /><Relationship Type="http://schemas.openxmlformats.org/officeDocument/2006/relationships/chart" Target="/ppt/slides/charts/chart5.xml" Id="R4e969cc20e024861" /><Relationship Type="http://schemas.openxmlformats.org/officeDocument/2006/relationships/notesSlide" Target="/ppt/notesSlides/notesSlide11.xml" Id="Radbe14e4282d42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7a45bf661234464" /><Relationship Type="http://schemas.openxmlformats.org/officeDocument/2006/relationships/chart" Target="/ppt/slides/charts/chart6.xml" Id="R60649e7fe7fa4369" /><Relationship Type="http://schemas.openxmlformats.org/officeDocument/2006/relationships/notesSlide" Target="/ppt/notesSlides/notesSlide12.xml" Id="R05e3d290aeef41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89664dab46a470c" /><Relationship Type="http://schemas.openxmlformats.org/officeDocument/2006/relationships/notesSlide" Target="/ppt/notesSlides/notesSlide13.xml" Id="Re6dbe928763b4ab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80db34cf7634a82" /><Relationship Type="http://schemas.openxmlformats.org/officeDocument/2006/relationships/chart" Target="/ppt/slides/charts/chart7.xml" Id="R5cd7e5c034404b92" /><Relationship Type="http://schemas.openxmlformats.org/officeDocument/2006/relationships/notesSlide" Target="/ppt/notesSlides/notesSlide14.xml" Id="Rd1d4f8bce590487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b97fe82420445cc" /><Relationship Type="http://schemas.openxmlformats.org/officeDocument/2006/relationships/notesSlide" Target="/ppt/notesSlides/notesSlide15.xml" Id="R31f0f9e177244e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a809fb0bc904b42" /><Relationship Type="http://schemas.openxmlformats.org/officeDocument/2006/relationships/notesSlide" Target="/ppt/notesSlides/notesSlide16.xml" Id="R5e993721a57f46c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6ef2b465eea4f4f" /><Relationship Type="http://schemas.openxmlformats.org/officeDocument/2006/relationships/notesSlide" Target="/ppt/notesSlides/notesSlide17.xml" Id="Rb7991e734a7a41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12b4db3bf7b49a5" /><Relationship Type="http://schemas.openxmlformats.org/officeDocument/2006/relationships/notesSlide" Target="/ppt/notesSlides/notesSlide18.xml" Id="R83268d277bf9406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b6998111e474e63" /><Relationship Type="http://schemas.openxmlformats.org/officeDocument/2006/relationships/notesSlide" Target="/ppt/notesSlides/notesSlide19.xml" Id="R1ae73d14ff18427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6cfec59e4644455" /><Relationship Type="http://schemas.openxmlformats.org/officeDocument/2006/relationships/chart" Target="/ppt/slides/charts/chart8.xml" Id="Raa6a21f0bf164417" /><Relationship Type="http://schemas.openxmlformats.org/officeDocument/2006/relationships/notesSlide" Target="/ppt/notesSlides/notesSlide20.xml" Id="Rc6d23221858d453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a96e792fe8a4a38" /><Relationship Type="http://schemas.openxmlformats.org/officeDocument/2006/relationships/notesSlide" Target="/ppt/notesSlides/notesSlide21.xml" Id="R174d6f45c54f465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d87600bb37d4791" /><Relationship Type="http://schemas.openxmlformats.org/officeDocument/2006/relationships/notesSlide" Target="/ppt/notesSlides/notesSlide22.xml" Id="Re3bad48ad0944fb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385417a24c04ba1" /><Relationship Type="http://schemas.openxmlformats.org/officeDocument/2006/relationships/notesSlide" Target="/ppt/notesSlides/notesSlide23.xml" Id="Rd62485a9956a449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720091b871046ba" /><Relationship Type="http://schemas.openxmlformats.org/officeDocument/2006/relationships/notesSlide" Target="/ppt/notesSlides/notesSlide24.xml" Id="R01f23d9168d54bc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2843ee1e5a0407a" /><Relationship Type="http://schemas.openxmlformats.org/officeDocument/2006/relationships/notesSlide" Target="/ppt/notesSlides/notesSlide25.xml" Id="Ref086f73811f482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699bce7f48f4e45" /><Relationship Type="http://schemas.openxmlformats.org/officeDocument/2006/relationships/notesSlide" Target="/ppt/notesSlides/notesSlide26.xml" Id="R201368bf6a81415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8c97ed264be4327" /><Relationship Type="http://schemas.openxmlformats.org/officeDocument/2006/relationships/chart" Target="/ppt/slides/charts/chart9.xml" Id="R6d6436c1689f42e7" /><Relationship Type="http://schemas.openxmlformats.org/officeDocument/2006/relationships/notesSlide" Target="/ppt/notesSlides/notesSlide27.xml" Id="R017d19449c714cf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b3ec070d2fa4f3c" /><Relationship Type="http://schemas.openxmlformats.org/officeDocument/2006/relationships/notesSlide" Target="/ppt/notesSlides/notesSlide28.xml" Id="R467b879a26ea4dd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bf8ea383641459b" /><Relationship Type="http://schemas.openxmlformats.org/officeDocument/2006/relationships/notesSlide" Target="/ppt/notesSlides/notesSlide29.xml" Id="Rf221593bd7d6479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Data'!$A$2:$A$3</c:f>
              <c:numCache>
                <c:formatCode>General</c:formatCode>
                <c:ptCount val="2"/>
                <c:pt idx="0">
                  <c:v>0</c:v>
                </c:pt>
                <c:pt idx="1">
                  <c:v>160</c:v>
                </c:pt>
              </c:numCache>
            </c:numRef>
          </c:xVal>
          <c:yVal>
            <c:numRef>
              <c:f>'Chart Data'!$B$2:$B$3</c:f>
              <c:numCache>
                <c:formatCode>0</c:formatCode>
                <c:ptCount val="2"/>
                <c:pt idx="0">
                  <c:v>32</c:v>
                </c:pt>
                <c:pt idx="1">
                  <c:v>0</c:v>
                </c:pt>
              </c:numCache>
            </c:numRef>
          </c:yVal>
          <c:smooth val="0"/>
        </c:ser>
        <c:ser>
          <c:idx val="1"/>
          <c:order val="1"/>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144</c:v>
                </c:pt>
              </c:numCache>
            </c:numRef>
          </c:xVal>
          <c:yVal>
            <c:numRef>
              <c:f>'Chart Data'!$D$2:$D$3</c:f>
              <c:numCache>
                <c:formatCode>0</c:formatCode>
                <c:ptCount val="2"/>
                <c:pt idx="0">
                  <c:v>8</c:v>
                </c:pt>
                <c:pt idx="1">
                  <c:v>22.4</c:v>
                </c:pt>
              </c:numCache>
            </c:numRef>
          </c:yVal>
          <c:smooth val="0"/>
        </c:ser>
        <c:ser>
          <c:idx val="2"/>
          <c:order val="2"/>
          <c:tx>
            <c:v>Oude hulplijnen</c:v>
          </c:tx>
          <c:spPr>
            <a:ln xmlns:a="http://schemas.openxmlformats.org/drawingml/2006/main" w="12383">
              <a:solidFill>
                <a:srgbClr val="445B6B"/>
              </a:solidFill>
            </a:ln>
          </c:spPr>
          <c:marker>
            <c:symbol val="none"/>
          </c:marker>
          <c:xVal>
            <c:numRef>
              <c:f>'Chart Data'!$E$2:$E$4</c:f>
              <c:numCache>
                <c:formatCode>General</c:formatCode>
                <c:ptCount val="3"/>
                <c:pt idx="0">
                  <c:v>0</c:v>
                </c:pt>
                <c:pt idx="1">
                  <c:v>80</c:v>
                </c:pt>
                <c:pt idx="2">
                  <c:v>80</c:v>
                </c:pt>
              </c:numCache>
            </c:numRef>
          </c:xVal>
          <c:yVal>
            <c:numRef>
              <c:f>'Chart Data'!$F$2:$F$4</c:f>
              <c:numCache>
                <c:formatCode>0</c:formatCode>
                <c:ptCount val="3"/>
                <c:pt idx="0">
                  <c:v>16</c:v>
                </c:pt>
                <c:pt idx="1">
                  <c:v>16</c:v>
                </c:pt>
                <c:pt idx="2">
                  <c:v>0</c:v>
                </c:pt>
              </c:numCache>
            </c:numRef>
          </c:yVal>
          <c:smooth val="0"/>
        </c:ser>
        <c:ser>
          <c:idx val="3"/>
          <c:order val="3"/>
          <c:tx>
            <c:v>Vrij evenwicht</c:v>
          </c:tx>
          <c:spPr>
            <a:ln xmlns:a="http://schemas.openxmlformats.org/drawingml/2006/main" w="0">
              <a:solidFill>
                <a:srgbClr val="183247"/>
              </a:solidFill>
            </a:ln>
          </c:spPr>
          <c:marker>
            <c:symbol val="circle"/>
            <c:size val="9"/>
            <c:spPr>
              <a:solidFill xmlns:a="http://schemas.openxmlformats.org/drawingml/2006/main">
                <a:srgbClr val="183247"/>
              </a:solidFill>
            </c:spPr>
          </c:marker>
          <c:xVal>
            <c:numRef>
              <c:f>'Chart Data'!$G$2:$G$2</c:f>
              <c:numCache>
                <c:formatCode>General</c:formatCode>
                <c:ptCount val="1"/>
                <c:pt idx="0">
                  <c:v>80</c:v>
                </c:pt>
              </c:numCache>
            </c:numRef>
          </c:xVal>
          <c:yVal>
            <c:numRef>
              <c:f>'Chart Data'!$H$2:$H$2</c:f>
              <c:numCache>
                <c:formatCode>0</c:formatCode>
                <c:ptCount val="1"/>
                <c:pt idx="0">
                  <c:v>16</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Data'!$A$2:$A$3</c:f>
              <c:numCache>
                <c:formatCode>General</c:formatCode>
                <c:ptCount val="2"/>
                <c:pt idx="0">
                  <c:v>0</c:v>
                </c:pt>
                <c:pt idx="1">
                  <c:v>160</c:v>
                </c:pt>
              </c:numCache>
            </c:numRef>
          </c:xVal>
          <c:yVal>
            <c:numRef>
              <c:f>'Chart Data'!$B$2:$B$3</c:f>
              <c:numCache>
                <c:formatCode>0</c:formatCode>
                <c:ptCount val="2"/>
                <c:pt idx="0">
                  <c:v>32</c:v>
                </c:pt>
                <c:pt idx="1">
                  <c:v>0</c:v>
                </c:pt>
              </c:numCache>
            </c:numRef>
          </c:yVal>
          <c:smooth val="0"/>
        </c:ser>
        <c:ser>
          <c:idx val="1"/>
          <c:order val="1"/>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144</c:v>
                </c:pt>
              </c:numCache>
            </c:numRef>
          </c:xVal>
          <c:yVal>
            <c:numRef>
              <c:f>'Chart Data'!$D$2:$D$3</c:f>
              <c:numCache>
                <c:formatCode>0</c:formatCode>
                <c:ptCount val="2"/>
                <c:pt idx="0">
                  <c:v>8</c:v>
                </c:pt>
                <c:pt idx="1">
                  <c:v>22.4</c:v>
                </c:pt>
              </c:numCache>
            </c:numRef>
          </c:yVal>
          <c:smooth val="0"/>
        </c:ser>
        <c:ser>
          <c:idx val="2"/>
          <c:order val="2"/>
          <c:tx>
            <c:v>A − s</c:v>
          </c:tx>
          <c:spPr>
            <a:ln xmlns:a="http://schemas.openxmlformats.org/drawingml/2006/main" w="38100">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A − s</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144</c:v>
                </c:pt>
              </c:numCache>
            </c:numRef>
          </c:xVal>
          <c:yVal>
            <c:numRef>
              <c:f>'Chart Data'!$F$2:$F$3</c:f>
              <c:numCache>
                <c:formatCode>0</c:formatCode>
                <c:ptCount val="2"/>
                <c:pt idx="0">
                  <c:v>2</c:v>
                </c:pt>
                <c:pt idx="1">
                  <c:v>16.4</c:v>
                </c:pt>
              </c:numCache>
            </c:numRef>
          </c:yVal>
          <c:smooth val="0"/>
        </c:ser>
        <c:ser>
          <c:idx val="3"/>
          <c:order val="3"/>
          <c:tx>
            <c:v>Verschuiving bij dezelfde kopersprijs</c:v>
          </c:tx>
          <c:spPr>
            <a:ln xmlns:a="http://schemas.openxmlformats.org/drawingml/2006/main" w="23813">
              <a:solidFill>
                <a:srgbClr val="445B6B"/>
              </a:solidFill>
            </a:ln>
          </c:spPr>
          <c:marker>
            <c:symbol val="none"/>
          </c:marker>
          <c:xVal>
            <c:numRef>
              <c:f>'Chart Data'!$G$2:$G$3</c:f>
              <c:numCache>
                <c:formatCode>General</c:formatCode>
                <c:ptCount val="2"/>
                <c:pt idx="0">
                  <c:v>20</c:v>
                </c:pt>
                <c:pt idx="1">
                  <c:v>80</c:v>
                </c:pt>
              </c:numCache>
            </c:numRef>
          </c:xVal>
          <c:yVal>
            <c:numRef>
              <c:f>'Chart Data'!$H$2:$H$3</c:f>
              <c:numCache>
                <c:formatCode>0</c:formatCode>
                <c:ptCount val="2"/>
                <c:pt idx="0">
                  <c:v>10</c:v>
                </c:pt>
                <c:pt idx="1">
                  <c:v>10</c:v>
                </c:pt>
              </c:numCache>
            </c:numRef>
          </c:yVal>
          <c:smooth val="0"/>
        </c:ser>
        <c:ser>
          <c:idx val="4"/>
          <c:order val="4"/>
          <c:tx>
            <c:v>Pijlpunt verschuiving</c:v>
          </c:tx>
          <c:spPr>
            <a:ln xmlns:a="http://schemas.openxmlformats.org/drawingml/2006/main" w="23813">
              <a:solidFill>
                <a:srgbClr val="445B6B"/>
              </a:solidFill>
            </a:ln>
          </c:spPr>
          <c:marker>
            <c:symbol val="none"/>
          </c:marker>
          <c:xVal>
            <c:numRef>
              <c:f>'Chart Data'!$I$2:$I$4</c:f>
              <c:numCache>
                <c:formatCode>General</c:formatCode>
                <c:ptCount val="3"/>
                <c:pt idx="0">
                  <c:v>76</c:v>
                </c:pt>
                <c:pt idx="1">
                  <c:v>80</c:v>
                </c:pt>
                <c:pt idx="2">
                  <c:v>76</c:v>
                </c:pt>
              </c:numCache>
            </c:numRef>
          </c:xVal>
          <c:yVal>
            <c:numRef>
              <c:f>'Chart Data'!$J$2:$J$4</c:f>
              <c:numCache>
                <c:formatCode>0</c:formatCode>
                <c:ptCount val="3"/>
                <c:pt idx="0">
                  <c:v>10.4</c:v>
                </c:pt>
                <c:pt idx="1">
                  <c:v>10</c:v>
                </c:pt>
                <c:pt idx="2">
                  <c:v>9.6</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Data'!$A$2:$A$3</c:f>
              <c:numCache>
                <c:formatCode>General</c:formatCode>
                <c:ptCount val="2"/>
                <c:pt idx="0">
                  <c:v>0</c:v>
                </c:pt>
                <c:pt idx="1">
                  <c:v>160</c:v>
                </c:pt>
              </c:numCache>
            </c:numRef>
          </c:xVal>
          <c:yVal>
            <c:numRef>
              <c:f>'Chart Data'!$B$2:$B$3</c:f>
              <c:numCache>
                <c:formatCode>0</c:formatCode>
                <c:ptCount val="2"/>
                <c:pt idx="0">
                  <c:v>32</c:v>
                </c:pt>
                <c:pt idx="1">
                  <c:v>0</c:v>
                </c:pt>
              </c:numCache>
            </c:numRef>
          </c:yVal>
          <c:smooth val="0"/>
        </c:ser>
        <c:ser>
          <c:idx val="1"/>
          <c:order val="1"/>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144</c:v>
                </c:pt>
              </c:numCache>
            </c:numRef>
          </c:xVal>
          <c:yVal>
            <c:numRef>
              <c:f>'Chart Data'!$D$2:$D$3</c:f>
              <c:numCache>
                <c:formatCode>0</c:formatCode>
                <c:ptCount val="2"/>
                <c:pt idx="0">
                  <c:v>8</c:v>
                </c:pt>
                <c:pt idx="1">
                  <c:v>22.4</c:v>
                </c:pt>
              </c:numCache>
            </c:numRef>
          </c:yVal>
          <c:smooth val="0"/>
        </c:ser>
        <c:ser>
          <c:idx val="2"/>
          <c:order val="2"/>
          <c:tx>
            <c:v>A − s</c:v>
          </c:tx>
          <c:spPr>
            <a:ln xmlns:a="http://schemas.openxmlformats.org/drawingml/2006/main" w="38100">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A − s</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144</c:v>
                </c:pt>
              </c:numCache>
            </c:numRef>
          </c:xVal>
          <c:yVal>
            <c:numRef>
              <c:f>'Chart Data'!$F$2:$F$3</c:f>
              <c:numCache>
                <c:formatCode>0</c:formatCode>
                <c:ptCount val="2"/>
                <c:pt idx="0">
                  <c:v>2</c:v>
                </c:pt>
                <c:pt idx="1">
                  <c:v>16.4</c:v>
                </c:pt>
              </c:numCache>
            </c:numRef>
          </c:yVal>
          <c:smooth val="0"/>
        </c:ser>
        <c:ser>
          <c:idx val="3"/>
          <c:order val="3"/>
          <c:tx>
            <c:v>Pc hulplijn</c:v>
          </c:tx>
          <c:spPr>
            <a:ln xmlns:a="http://schemas.openxmlformats.org/drawingml/2006/main" w="13335">
              <a:solidFill>
                <a:srgbClr val="445B6B"/>
              </a:solidFill>
            </a:ln>
          </c:spPr>
          <c:marker>
            <c:symbol val="none"/>
          </c:marker>
          <c:xVal>
            <c:numRef>
              <c:f>'Chart Data'!$G$2:$G$4</c:f>
              <c:numCache>
                <c:formatCode>General</c:formatCode>
                <c:ptCount val="3"/>
                <c:pt idx="0">
                  <c:v>0</c:v>
                </c:pt>
                <c:pt idx="1">
                  <c:v>100</c:v>
                </c:pt>
                <c:pt idx="2">
                  <c:v>100</c:v>
                </c:pt>
              </c:numCache>
            </c:numRef>
          </c:xVal>
          <c:yVal>
            <c:numRef>
              <c:f>'Chart Data'!$H$2:$H$4</c:f>
              <c:numCache>
                <c:formatCode>0</c:formatCode>
                <c:ptCount val="3"/>
                <c:pt idx="0">
                  <c:v>12</c:v>
                </c:pt>
                <c:pt idx="1">
                  <c:v>12</c:v>
                </c:pt>
                <c:pt idx="2">
                  <c:v>0</c:v>
                </c:pt>
              </c:numCache>
            </c:numRef>
          </c:yVal>
          <c:smooth val="0"/>
        </c:ser>
        <c:ser>
          <c:idx val="4"/>
          <c:order val="4"/>
          <c:tx>
            <c:v>Pp hulplijn</c:v>
          </c:tx>
          <c:spPr>
            <a:ln xmlns:a="http://schemas.openxmlformats.org/drawingml/2006/main" w="13335">
              <a:solidFill>
                <a:srgbClr val="445B6B"/>
              </a:solidFill>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18</c:v>
                </c:pt>
                <c:pt idx="1">
                  <c:v>18</c:v>
                </c:pt>
              </c:numCache>
            </c:numRef>
          </c:yVal>
          <c:smooth val="0"/>
        </c:ser>
        <c:ser>
          <c:idx val="5"/>
          <c:order val="5"/>
          <c:tx>
            <c:v>Subsidiewig</c:v>
          </c:tx>
          <c:spPr>
            <a:ln xmlns:a="http://schemas.openxmlformats.org/drawingml/2006/main" w="47625">
              <a:solidFill>
                <a:srgbClr val="A94D16"/>
              </a:solidFill>
            </a:ln>
          </c:spPr>
          <c:marker>
            <c:symbol val="none"/>
          </c:marker>
          <c:xVal>
            <c:numRef>
              <c:f>'Chart Data'!$K$2:$K$3</c:f>
              <c:numCache>
                <c:formatCode>General</c:formatCode>
                <c:ptCount val="2"/>
                <c:pt idx="0">
                  <c:v>100</c:v>
                </c:pt>
                <c:pt idx="1">
                  <c:v>100</c:v>
                </c:pt>
              </c:numCache>
            </c:numRef>
          </c:xVal>
          <c:yVal>
            <c:numRef>
              <c:f>'Chart Data'!$L$2:$L$3</c:f>
              <c:numCache>
                <c:formatCode>0</c:formatCode>
                <c:ptCount val="2"/>
                <c:pt idx="0">
                  <c:v>12</c:v>
                </c:pt>
                <c:pt idx="1">
                  <c:v>18</c:v>
                </c:pt>
              </c:numCache>
            </c:numRef>
          </c:yVal>
          <c:smooth val="0"/>
        </c:ser>
        <c:ser>
          <c:idx val="6"/>
          <c:order val="6"/>
          <c:tx>
            <c:v>Pc</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Data'!$M$2:$M$2</c:f>
              <c:numCache>
                <c:formatCode>General</c:formatCode>
                <c:ptCount val="1"/>
                <c:pt idx="0">
                  <c:v>100</c:v>
                </c:pt>
              </c:numCache>
            </c:numRef>
          </c:xVal>
          <c:yVal>
            <c:numRef>
              <c:f>'Chart Data'!$N$2:$N$2</c:f>
              <c:numCache>
                <c:formatCode>0</c:formatCode>
                <c:ptCount val="1"/>
                <c:pt idx="0">
                  <c:v>12</c:v>
                </c:pt>
              </c:numCache>
            </c:numRef>
          </c:yVal>
          <c:smooth val="0"/>
        </c:ser>
        <c:ser>
          <c:idx val="7"/>
          <c:order val="7"/>
          <c:tx>
            <c:v>Pp</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Data'!$O$2:$O$2</c:f>
              <c:numCache>
                <c:formatCode>General</c:formatCode>
                <c:ptCount val="1"/>
                <c:pt idx="0">
                  <c:v>100</c:v>
                </c:pt>
              </c:numCache>
            </c:numRef>
          </c:xVal>
          <c:yVal>
            <c:numRef>
              <c:f>'Chart Data'!$P$2:$P$2</c:f>
              <c:numCache>
                <c:formatCode>0</c:formatCode>
                <c:ptCount val="1"/>
                <c:pt idx="0">
                  <c:v>18</c:v>
                </c:pt>
              </c:numCache>
            </c:numRef>
          </c:yVal>
          <c:smooth val="0"/>
        </c:ser>
        <c:ser>
          <c:idx val="8"/>
          <c:order val="8"/>
          <c:tx>
            <c:v>Pp annotation</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Pp = 18</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Data'!$Q$2:$Q$2</c:f>
              <c:numCache>
                <c:formatCode>General</c:formatCode>
                <c:ptCount val="1"/>
                <c:pt idx="0">
                  <c:v>100</c:v>
                </c:pt>
              </c:numCache>
            </c:numRef>
          </c:xVal>
          <c:yVal>
            <c:numRef>
              <c:f>'Chart Data'!$R$2:$R$2</c:f>
              <c:numCache>
                <c:formatCode>0</c:formatCode>
                <c:ptCount val="1"/>
                <c:pt idx="0">
                  <c:v>21</c:v>
                </c:pt>
              </c:numCache>
            </c:numRef>
          </c:yVal>
          <c:smooth val="0"/>
        </c:ser>
        <c:ser>
          <c:idx val="9"/>
          <c:order val="9"/>
          <c:tx>
            <c:v>Pc annotation</c:v>
          </c:tx>
          <c:spPr>
            <a:ln xmlns:a="http://schemas.openxmlformats.org/drawingml/2006/main" w="0">
              <a:solidFill>
                <a:srgbClr val="17658A"/>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Pc = 12</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Data'!$S$2:$S$2</c:f>
              <c:numCache>
                <c:formatCode>General</c:formatCode>
                <c:ptCount val="1"/>
                <c:pt idx="0">
                  <c:v>120</c:v>
                </c:pt>
              </c:numCache>
            </c:numRef>
          </c:xVal>
          <c:yVal>
            <c:numRef>
              <c:f>'Chart Data'!$T$2:$T$2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U</c:v>
          </c:tx>
          <c:spPr>
            <a:ln xmlns:a="http://schemas.openxmlformats.org/drawingml/2006/main" w="11430">
              <a:solidFill>
                <a:srgbClr val="DBC8B8"/>
              </a:solidFill>
            </a:ln>
          </c:spPr>
          <c:marker>
            <c:symbol val="none"/>
          </c:marker>
          <c:xVal>
            <c:numRef>
              <c:f>'Chart Data'!$A$2:$A$133</c:f>
              <c:numCache>
                <c:formatCode>General</c:formatCode>
                <c:ptCount val="132"/>
                <c:pt idx="0">
                  <c:v>0</c:v>
                </c:pt>
                <c:pt idx="1">
                  <c:v>0</c:v>
                </c:pt>
                <c:pt idx="2">
                  <c:v>1.538461538</c:v>
                </c:pt>
                <c:pt idx="3">
                  <c:v>1.538461538</c:v>
                </c:pt>
                <c:pt idx="4">
                  <c:v>3.076923077</c:v>
                </c:pt>
                <c:pt idx="5">
                  <c:v>3.076923077</c:v>
                </c:pt>
                <c:pt idx="6">
                  <c:v>4.615384615</c:v>
                </c:pt>
                <c:pt idx="7">
                  <c:v>4.615384615</c:v>
                </c:pt>
                <c:pt idx="8">
                  <c:v>6.153846154</c:v>
                </c:pt>
                <c:pt idx="9">
                  <c:v>6.153846154</c:v>
                </c:pt>
                <c:pt idx="10">
                  <c:v>7.692307692</c:v>
                </c:pt>
                <c:pt idx="11">
                  <c:v>7.692307692</c:v>
                </c:pt>
                <c:pt idx="12">
                  <c:v>9.230769231</c:v>
                </c:pt>
                <c:pt idx="13">
                  <c:v>9.230769231</c:v>
                </c:pt>
                <c:pt idx="14">
                  <c:v>10.769230769</c:v>
                </c:pt>
                <c:pt idx="15">
                  <c:v>10.769230769</c:v>
                </c:pt>
                <c:pt idx="16">
                  <c:v>12.307692308</c:v>
                </c:pt>
                <c:pt idx="17">
                  <c:v>12.307692308</c:v>
                </c:pt>
                <c:pt idx="18">
                  <c:v>13.846153846</c:v>
                </c:pt>
                <c:pt idx="19">
                  <c:v>13.846153846</c:v>
                </c:pt>
                <c:pt idx="20">
                  <c:v>15.384615385</c:v>
                </c:pt>
                <c:pt idx="21">
                  <c:v>15.384615385</c:v>
                </c:pt>
                <c:pt idx="22">
                  <c:v>16.923076923</c:v>
                </c:pt>
                <c:pt idx="23">
                  <c:v>16.923076923</c:v>
                </c:pt>
                <c:pt idx="24">
                  <c:v>18.461538462</c:v>
                </c:pt>
                <c:pt idx="25">
                  <c:v>18.461538462</c:v>
                </c:pt>
                <c:pt idx="26">
                  <c:v>20</c:v>
                </c:pt>
                <c:pt idx="27">
                  <c:v>20</c:v>
                </c:pt>
                <c:pt idx="28">
                  <c:v>21.538461538</c:v>
                </c:pt>
                <c:pt idx="29">
                  <c:v>21.538461538</c:v>
                </c:pt>
                <c:pt idx="30">
                  <c:v>23.076923077</c:v>
                </c:pt>
                <c:pt idx="31">
                  <c:v>23.076923077</c:v>
                </c:pt>
                <c:pt idx="32">
                  <c:v>24.615384615</c:v>
                </c:pt>
                <c:pt idx="33">
                  <c:v>24.615384615</c:v>
                </c:pt>
                <c:pt idx="34">
                  <c:v>26.153846154</c:v>
                </c:pt>
                <c:pt idx="35">
                  <c:v>26.153846154</c:v>
                </c:pt>
                <c:pt idx="36">
                  <c:v>27.692307692</c:v>
                </c:pt>
                <c:pt idx="37">
                  <c:v>27.692307692</c:v>
                </c:pt>
                <c:pt idx="38">
                  <c:v>29.230769231</c:v>
                </c:pt>
                <c:pt idx="39">
                  <c:v>29.230769231</c:v>
                </c:pt>
                <c:pt idx="40">
                  <c:v>30.769230769</c:v>
                </c:pt>
                <c:pt idx="41">
                  <c:v>30.769230769</c:v>
                </c:pt>
                <c:pt idx="42">
                  <c:v>32.307692308</c:v>
                </c:pt>
                <c:pt idx="43">
                  <c:v>32.307692308</c:v>
                </c:pt>
                <c:pt idx="44">
                  <c:v>33.846153846</c:v>
                </c:pt>
                <c:pt idx="45">
                  <c:v>33.846153846</c:v>
                </c:pt>
                <c:pt idx="46">
                  <c:v>35.384615385</c:v>
                </c:pt>
                <c:pt idx="47">
                  <c:v>35.384615385</c:v>
                </c:pt>
                <c:pt idx="48">
                  <c:v>36.923076923</c:v>
                </c:pt>
                <c:pt idx="49">
                  <c:v>36.923076923</c:v>
                </c:pt>
                <c:pt idx="50">
                  <c:v>38.461538462</c:v>
                </c:pt>
                <c:pt idx="51">
                  <c:v>38.461538462</c:v>
                </c:pt>
                <c:pt idx="52">
                  <c:v>40</c:v>
                </c:pt>
                <c:pt idx="53">
                  <c:v>40</c:v>
                </c:pt>
                <c:pt idx="54">
                  <c:v>41.538461538</c:v>
                </c:pt>
                <c:pt idx="55">
                  <c:v>41.538461538</c:v>
                </c:pt>
                <c:pt idx="56">
                  <c:v>43.076923077</c:v>
                </c:pt>
                <c:pt idx="57">
                  <c:v>43.076923077</c:v>
                </c:pt>
                <c:pt idx="58">
                  <c:v>44.615384615</c:v>
                </c:pt>
                <c:pt idx="59">
                  <c:v>44.615384615</c:v>
                </c:pt>
                <c:pt idx="60">
                  <c:v>46.153846154</c:v>
                </c:pt>
                <c:pt idx="61">
                  <c:v>46.153846154</c:v>
                </c:pt>
                <c:pt idx="62">
                  <c:v>47.692307692</c:v>
                </c:pt>
                <c:pt idx="63">
                  <c:v>47.692307692</c:v>
                </c:pt>
                <c:pt idx="64">
                  <c:v>49.230769231</c:v>
                </c:pt>
                <c:pt idx="65">
                  <c:v>49.230769231</c:v>
                </c:pt>
                <c:pt idx="66">
                  <c:v>50.769230769</c:v>
                </c:pt>
                <c:pt idx="67">
                  <c:v>50.769230769</c:v>
                </c:pt>
                <c:pt idx="68">
                  <c:v>52.307692308</c:v>
                </c:pt>
                <c:pt idx="69">
                  <c:v>52.307692308</c:v>
                </c:pt>
                <c:pt idx="70">
                  <c:v>53.846153846</c:v>
                </c:pt>
                <c:pt idx="71">
                  <c:v>53.846153846</c:v>
                </c:pt>
                <c:pt idx="72">
                  <c:v>55.384615385</c:v>
                </c:pt>
                <c:pt idx="73">
                  <c:v>55.384615385</c:v>
                </c:pt>
                <c:pt idx="74">
                  <c:v>56.923076923</c:v>
                </c:pt>
                <c:pt idx="75">
                  <c:v>56.923076923</c:v>
                </c:pt>
                <c:pt idx="76">
                  <c:v>58.461538462</c:v>
                </c:pt>
                <c:pt idx="77">
                  <c:v>58.461538462</c:v>
                </c:pt>
                <c:pt idx="78">
                  <c:v>60</c:v>
                </c:pt>
                <c:pt idx="79">
                  <c:v>60</c:v>
                </c:pt>
                <c:pt idx="80">
                  <c:v>61.538461538</c:v>
                </c:pt>
                <c:pt idx="81">
                  <c:v>61.538461538</c:v>
                </c:pt>
                <c:pt idx="82">
                  <c:v>63.076923077</c:v>
                </c:pt>
                <c:pt idx="83">
                  <c:v>63.076923077</c:v>
                </c:pt>
                <c:pt idx="84">
                  <c:v>64.615384615</c:v>
                </c:pt>
                <c:pt idx="85">
                  <c:v>64.615384615</c:v>
                </c:pt>
                <c:pt idx="86">
                  <c:v>66.153846154</c:v>
                </c:pt>
                <c:pt idx="87">
                  <c:v>66.153846154</c:v>
                </c:pt>
                <c:pt idx="88">
                  <c:v>67.692307692</c:v>
                </c:pt>
                <c:pt idx="89">
                  <c:v>67.692307692</c:v>
                </c:pt>
                <c:pt idx="90">
                  <c:v>69.230769231</c:v>
                </c:pt>
                <c:pt idx="91">
                  <c:v>69.230769231</c:v>
                </c:pt>
                <c:pt idx="92">
                  <c:v>70.769230769</c:v>
                </c:pt>
                <c:pt idx="93">
                  <c:v>70.769230769</c:v>
                </c:pt>
                <c:pt idx="94">
                  <c:v>72.307692308</c:v>
                </c:pt>
                <c:pt idx="95">
                  <c:v>72.307692308</c:v>
                </c:pt>
                <c:pt idx="96">
                  <c:v>73.846153846</c:v>
                </c:pt>
                <c:pt idx="97">
                  <c:v>73.846153846</c:v>
                </c:pt>
                <c:pt idx="98">
                  <c:v>75.384615385</c:v>
                </c:pt>
                <c:pt idx="99">
                  <c:v>75.384615385</c:v>
                </c:pt>
                <c:pt idx="100">
                  <c:v>76.923076923</c:v>
                </c:pt>
                <c:pt idx="101">
                  <c:v>76.923076923</c:v>
                </c:pt>
                <c:pt idx="102">
                  <c:v>78.461538462</c:v>
                </c:pt>
                <c:pt idx="103">
                  <c:v>78.461538462</c:v>
                </c:pt>
                <c:pt idx="104">
                  <c:v>80</c:v>
                </c:pt>
                <c:pt idx="105">
                  <c:v>80</c:v>
                </c:pt>
                <c:pt idx="106">
                  <c:v>81.538461538</c:v>
                </c:pt>
                <c:pt idx="107">
                  <c:v>81.538461538</c:v>
                </c:pt>
                <c:pt idx="108">
                  <c:v>83.076923077</c:v>
                </c:pt>
                <c:pt idx="109">
                  <c:v>83.076923077</c:v>
                </c:pt>
                <c:pt idx="110">
                  <c:v>84.615384615</c:v>
                </c:pt>
                <c:pt idx="111">
                  <c:v>84.615384615</c:v>
                </c:pt>
                <c:pt idx="112">
                  <c:v>86.153846154</c:v>
                </c:pt>
                <c:pt idx="113">
                  <c:v>86.153846154</c:v>
                </c:pt>
                <c:pt idx="114">
                  <c:v>87.692307692</c:v>
                </c:pt>
                <c:pt idx="115">
                  <c:v>87.692307692</c:v>
                </c:pt>
                <c:pt idx="116">
                  <c:v>89.230769231</c:v>
                </c:pt>
                <c:pt idx="117">
                  <c:v>89.230769231</c:v>
                </c:pt>
                <c:pt idx="118">
                  <c:v>90.769230769</c:v>
                </c:pt>
                <c:pt idx="119">
                  <c:v>90.769230769</c:v>
                </c:pt>
                <c:pt idx="120">
                  <c:v>92.307692308</c:v>
                </c:pt>
                <c:pt idx="121">
                  <c:v>92.307692308</c:v>
                </c:pt>
                <c:pt idx="122">
                  <c:v>93.846153846</c:v>
                </c:pt>
                <c:pt idx="123">
                  <c:v>93.846153846</c:v>
                </c:pt>
                <c:pt idx="124">
                  <c:v>95.384615385</c:v>
                </c:pt>
                <c:pt idx="125">
                  <c:v>95.384615385</c:v>
                </c:pt>
                <c:pt idx="126">
                  <c:v>96.923076923</c:v>
                </c:pt>
                <c:pt idx="127">
                  <c:v>96.923076923</c:v>
                </c:pt>
                <c:pt idx="128">
                  <c:v>98.461538462</c:v>
                </c:pt>
                <c:pt idx="129">
                  <c:v>98.461538462</c:v>
                </c:pt>
                <c:pt idx="130">
                  <c:v>100</c:v>
                </c:pt>
                <c:pt idx="131">
                  <c:v>100</c:v>
                </c:pt>
              </c:numCache>
            </c:numRef>
          </c:xVal>
          <c:yVal>
            <c:numRef>
              <c:f>'Chart Data'!$B$2:$B$133</c:f>
              <c:numCache>
                <c:formatCode>0</c:formatCode>
                <c:ptCount val="132"/>
                <c:pt idx="0">
                  <c:v>12</c:v>
                </c:pt>
                <c:pt idx="1">
                  <c:v>18</c:v>
                </c:pt>
                <c:pt idx="2">
                  <c:v>18</c:v>
                </c:pt>
                <c:pt idx="3">
                  <c:v>12</c:v>
                </c:pt>
                <c:pt idx="4">
                  <c:v>12</c:v>
                </c:pt>
                <c:pt idx="5">
                  <c:v>18</c:v>
                </c:pt>
                <c:pt idx="6">
                  <c:v>18</c:v>
                </c:pt>
                <c:pt idx="7">
                  <c:v>12</c:v>
                </c:pt>
                <c:pt idx="8">
                  <c:v>12</c:v>
                </c:pt>
                <c:pt idx="9">
                  <c:v>18</c:v>
                </c:pt>
                <c:pt idx="10">
                  <c:v>18</c:v>
                </c:pt>
                <c:pt idx="11">
                  <c:v>12</c:v>
                </c:pt>
                <c:pt idx="12">
                  <c:v>12</c:v>
                </c:pt>
                <c:pt idx="13">
                  <c:v>18</c:v>
                </c:pt>
                <c:pt idx="14">
                  <c:v>18</c:v>
                </c:pt>
                <c:pt idx="15">
                  <c:v>12</c:v>
                </c:pt>
                <c:pt idx="16">
                  <c:v>12</c:v>
                </c:pt>
                <c:pt idx="17">
                  <c:v>18</c:v>
                </c:pt>
                <c:pt idx="18">
                  <c:v>18</c:v>
                </c:pt>
                <c:pt idx="19">
                  <c:v>12</c:v>
                </c:pt>
                <c:pt idx="20">
                  <c:v>12</c:v>
                </c:pt>
                <c:pt idx="21">
                  <c:v>18</c:v>
                </c:pt>
                <c:pt idx="22">
                  <c:v>18</c:v>
                </c:pt>
                <c:pt idx="23">
                  <c:v>12</c:v>
                </c:pt>
                <c:pt idx="24">
                  <c:v>12</c:v>
                </c:pt>
                <c:pt idx="25">
                  <c:v>18</c:v>
                </c:pt>
                <c:pt idx="26">
                  <c:v>18</c:v>
                </c:pt>
                <c:pt idx="27">
                  <c:v>12</c:v>
                </c:pt>
                <c:pt idx="28">
                  <c:v>12</c:v>
                </c:pt>
                <c:pt idx="29">
                  <c:v>18</c:v>
                </c:pt>
                <c:pt idx="30">
                  <c:v>18</c:v>
                </c:pt>
                <c:pt idx="31">
                  <c:v>12</c:v>
                </c:pt>
                <c:pt idx="32">
                  <c:v>12</c:v>
                </c:pt>
                <c:pt idx="33">
                  <c:v>18</c:v>
                </c:pt>
                <c:pt idx="34">
                  <c:v>18</c:v>
                </c:pt>
                <c:pt idx="35">
                  <c:v>12</c:v>
                </c:pt>
                <c:pt idx="36">
                  <c:v>12</c:v>
                </c:pt>
                <c:pt idx="37">
                  <c:v>18</c:v>
                </c:pt>
                <c:pt idx="38">
                  <c:v>18</c:v>
                </c:pt>
                <c:pt idx="39">
                  <c:v>12</c:v>
                </c:pt>
                <c:pt idx="40">
                  <c:v>12</c:v>
                </c:pt>
                <c:pt idx="41">
                  <c:v>18</c:v>
                </c:pt>
                <c:pt idx="42">
                  <c:v>18</c:v>
                </c:pt>
                <c:pt idx="43">
                  <c:v>12</c:v>
                </c:pt>
                <c:pt idx="44">
                  <c:v>12</c:v>
                </c:pt>
                <c:pt idx="45">
                  <c:v>18</c:v>
                </c:pt>
                <c:pt idx="46">
                  <c:v>18</c:v>
                </c:pt>
                <c:pt idx="47">
                  <c:v>12</c:v>
                </c:pt>
                <c:pt idx="48">
                  <c:v>12</c:v>
                </c:pt>
                <c:pt idx="49">
                  <c:v>18</c:v>
                </c:pt>
                <c:pt idx="50">
                  <c:v>18</c:v>
                </c:pt>
                <c:pt idx="51">
                  <c:v>12</c:v>
                </c:pt>
                <c:pt idx="52">
                  <c:v>12</c:v>
                </c:pt>
                <c:pt idx="53">
                  <c:v>18</c:v>
                </c:pt>
                <c:pt idx="54">
                  <c:v>18</c:v>
                </c:pt>
                <c:pt idx="55">
                  <c:v>12</c:v>
                </c:pt>
                <c:pt idx="56">
                  <c:v>12</c:v>
                </c:pt>
                <c:pt idx="57">
                  <c:v>18</c:v>
                </c:pt>
                <c:pt idx="58">
                  <c:v>18</c:v>
                </c:pt>
                <c:pt idx="59">
                  <c:v>12</c:v>
                </c:pt>
                <c:pt idx="60">
                  <c:v>12</c:v>
                </c:pt>
                <c:pt idx="61">
                  <c:v>18</c:v>
                </c:pt>
                <c:pt idx="62">
                  <c:v>18</c:v>
                </c:pt>
                <c:pt idx="63">
                  <c:v>12</c:v>
                </c:pt>
                <c:pt idx="64">
                  <c:v>12</c:v>
                </c:pt>
                <c:pt idx="65">
                  <c:v>18</c:v>
                </c:pt>
                <c:pt idx="66">
                  <c:v>18</c:v>
                </c:pt>
                <c:pt idx="67">
                  <c:v>12</c:v>
                </c:pt>
                <c:pt idx="68">
                  <c:v>12</c:v>
                </c:pt>
                <c:pt idx="69">
                  <c:v>18</c:v>
                </c:pt>
                <c:pt idx="70">
                  <c:v>18</c:v>
                </c:pt>
                <c:pt idx="71">
                  <c:v>12</c:v>
                </c:pt>
                <c:pt idx="72">
                  <c:v>12</c:v>
                </c:pt>
                <c:pt idx="73">
                  <c:v>18</c:v>
                </c:pt>
                <c:pt idx="74">
                  <c:v>18</c:v>
                </c:pt>
                <c:pt idx="75">
                  <c:v>12</c:v>
                </c:pt>
                <c:pt idx="76">
                  <c:v>12</c:v>
                </c:pt>
                <c:pt idx="77">
                  <c:v>18</c:v>
                </c:pt>
                <c:pt idx="78">
                  <c:v>18</c:v>
                </c:pt>
                <c:pt idx="79">
                  <c:v>12</c:v>
                </c:pt>
                <c:pt idx="80">
                  <c:v>12</c:v>
                </c:pt>
                <c:pt idx="81">
                  <c:v>18</c:v>
                </c:pt>
                <c:pt idx="82">
                  <c:v>18</c:v>
                </c:pt>
                <c:pt idx="83">
                  <c:v>12</c:v>
                </c:pt>
                <c:pt idx="84">
                  <c:v>12</c:v>
                </c:pt>
                <c:pt idx="85">
                  <c:v>18</c:v>
                </c:pt>
                <c:pt idx="86">
                  <c:v>18</c:v>
                </c:pt>
                <c:pt idx="87">
                  <c:v>12</c:v>
                </c:pt>
                <c:pt idx="88">
                  <c:v>12</c:v>
                </c:pt>
                <c:pt idx="89">
                  <c:v>18</c:v>
                </c:pt>
                <c:pt idx="90">
                  <c:v>18</c:v>
                </c:pt>
                <c:pt idx="91">
                  <c:v>12</c:v>
                </c:pt>
                <c:pt idx="92">
                  <c:v>12</c:v>
                </c:pt>
                <c:pt idx="93">
                  <c:v>18</c:v>
                </c:pt>
                <c:pt idx="94">
                  <c:v>18</c:v>
                </c:pt>
                <c:pt idx="95">
                  <c:v>12</c:v>
                </c:pt>
                <c:pt idx="96">
                  <c:v>12</c:v>
                </c:pt>
                <c:pt idx="97">
                  <c:v>18</c:v>
                </c:pt>
                <c:pt idx="98">
                  <c:v>18</c:v>
                </c:pt>
                <c:pt idx="99">
                  <c:v>12</c:v>
                </c:pt>
                <c:pt idx="100">
                  <c:v>12</c:v>
                </c:pt>
                <c:pt idx="101">
                  <c:v>18</c:v>
                </c:pt>
                <c:pt idx="102">
                  <c:v>18</c:v>
                </c:pt>
                <c:pt idx="103">
                  <c:v>12</c:v>
                </c:pt>
                <c:pt idx="104">
                  <c:v>12</c:v>
                </c:pt>
                <c:pt idx="105">
                  <c:v>18</c:v>
                </c:pt>
                <c:pt idx="106">
                  <c:v>18</c:v>
                </c:pt>
                <c:pt idx="107">
                  <c:v>12</c:v>
                </c:pt>
                <c:pt idx="108">
                  <c:v>12</c:v>
                </c:pt>
                <c:pt idx="109">
                  <c:v>18</c:v>
                </c:pt>
                <c:pt idx="110">
                  <c:v>18</c:v>
                </c:pt>
                <c:pt idx="111">
                  <c:v>12</c:v>
                </c:pt>
                <c:pt idx="112">
                  <c:v>12</c:v>
                </c:pt>
                <c:pt idx="113">
                  <c:v>18</c:v>
                </c:pt>
                <c:pt idx="114">
                  <c:v>18</c:v>
                </c:pt>
                <c:pt idx="115">
                  <c:v>12</c:v>
                </c:pt>
                <c:pt idx="116">
                  <c:v>12</c:v>
                </c:pt>
                <c:pt idx="117">
                  <c:v>18</c:v>
                </c:pt>
                <c:pt idx="118">
                  <c:v>18</c:v>
                </c:pt>
                <c:pt idx="119">
                  <c:v>12</c:v>
                </c:pt>
                <c:pt idx="120">
                  <c:v>12</c:v>
                </c:pt>
                <c:pt idx="121">
                  <c:v>18</c:v>
                </c:pt>
                <c:pt idx="122">
                  <c:v>18</c:v>
                </c:pt>
                <c:pt idx="123">
                  <c:v>12</c:v>
                </c:pt>
                <c:pt idx="124">
                  <c:v>12</c:v>
                </c:pt>
                <c:pt idx="125">
                  <c:v>18</c:v>
                </c:pt>
                <c:pt idx="126">
                  <c:v>18</c:v>
                </c:pt>
                <c:pt idx="127">
                  <c:v>12</c:v>
                </c:pt>
                <c:pt idx="128">
                  <c:v>12</c:v>
                </c:pt>
                <c:pt idx="129">
                  <c:v>18</c:v>
                </c:pt>
                <c:pt idx="130">
                  <c:v>18</c:v>
                </c:pt>
                <c:pt idx="131">
                  <c:v>12</c:v>
                </c:pt>
              </c:numCache>
            </c:numRef>
          </c:yVal>
          <c:smooth val="0"/>
        </c:ser>
        <c:ser>
          <c:idx val="1"/>
          <c:order val="1"/>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160</c:v>
                </c:pt>
              </c:numCache>
            </c:numRef>
          </c:xVal>
          <c:yVal>
            <c:numRef>
              <c:f>'Chart Data'!$D$2:$D$3</c:f>
              <c:numCache>
                <c:formatCode>0</c:formatCode>
                <c:ptCount val="2"/>
                <c:pt idx="0">
                  <c:v>32</c:v>
                </c:pt>
                <c:pt idx="1">
                  <c:v>0</c:v>
                </c:pt>
              </c:numCache>
            </c:numRef>
          </c:yVal>
          <c:smooth val="0"/>
        </c:ser>
        <c:ser>
          <c:idx val="2"/>
          <c:order val="2"/>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144</c:v>
                </c:pt>
              </c:numCache>
            </c:numRef>
          </c:xVal>
          <c:yVal>
            <c:numRef>
              <c:f>'Chart Data'!$F$2:$F$3</c:f>
              <c:numCache>
                <c:formatCode>0</c:formatCode>
                <c:ptCount val="2"/>
                <c:pt idx="0">
                  <c:v>8</c:v>
                </c:pt>
                <c:pt idx="1">
                  <c:v>22.4</c:v>
                </c:pt>
              </c:numCache>
            </c:numRef>
          </c:yVal>
          <c:smooth val="0"/>
        </c:ser>
        <c:ser>
          <c:idx val="3"/>
          <c:order val="3"/>
          <c:tx>
            <c:v>A − s</c:v>
          </c:tx>
          <c:spPr>
            <a:ln xmlns:a="http://schemas.openxmlformats.org/drawingml/2006/main" w="38100">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A − s</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Data'!$G$2:$G$3</c:f>
              <c:numCache>
                <c:formatCode>General</c:formatCode>
                <c:ptCount val="2"/>
                <c:pt idx="0">
                  <c:v>0</c:v>
                </c:pt>
                <c:pt idx="1">
                  <c:v>144</c:v>
                </c:pt>
              </c:numCache>
            </c:numRef>
          </c:xVal>
          <c:yVal>
            <c:numRef>
              <c:f>'Chart Data'!$H$2:$H$3</c:f>
              <c:numCache>
                <c:formatCode>0</c:formatCode>
                <c:ptCount val="2"/>
                <c:pt idx="0">
                  <c:v>2</c:v>
                </c:pt>
                <c:pt idx="1">
                  <c:v>16.4</c:v>
                </c:pt>
              </c:numCache>
            </c:numRef>
          </c:yVal>
          <c:smooth val="0"/>
        </c:ser>
        <c:ser>
          <c:idx val="4"/>
          <c:order val="4"/>
          <c:tx>
            <c:v>Pc hulplijn</c:v>
          </c:tx>
          <c:spPr>
            <a:ln xmlns:a="http://schemas.openxmlformats.org/drawingml/2006/main" w="13335">
              <a:solidFill>
                <a:srgbClr val="445B6B"/>
              </a:solidFill>
            </a:ln>
          </c:spPr>
          <c:marker>
            <c:symbol val="none"/>
          </c:marker>
          <c:xVal>
            <c:numRef>
              <c:f>'Chart Data'!$I$2:$I$4</c:f>
              <c:numCache>
                <c:formatCode>General</c:formatCode>
                <c:ptCount val="3"/>
                <c:pt idx="0">
                  <c:v>0</c:v>
                </c:pt>
                <c:pt idx="1">
                  <c:v>100</c:v>
                </c:pt>
                <c:pt idx="2">
                  <c:v>100</c:v>
                </c:pt>
              </c:numCache>
            </c:numRef>
          </c:xVal>
          <c:yVal>
            <c:numRef>
              <c:f>'Chart Data'!$J$2:$J$4</c:f>
              <c:numCache>
                <c:formatCode>0</c:formatCode>
                <c:ptCount val="3"/>
                <c:pt idx="0">
                  <c:v>12</c:v>
                </c:pt>
                <c:pt idx="1">
                  <c:v>12</c:v>
                </c:pt>
                <c:pt idx="2">
                  <c:v>0</c:v>
                </c:pt>
              </c:numCache>
            </c:numRef>
          </c:yVal>
          <c:smooth val="0"/>
        </c:ser>
        <c:ser>
          <c:idx val="5"/>
          <c:order val="5"/>
          <c:tx>
            <c:v>Pp hulplijn</c:v>
          </c:tx>
          <c:spPr>
            <a:ln xmlns:a="http://schemas.openxmlformats.org/drawingml/2006/main" w="13335">
              <a:solidFill>
                <a:srgbClr val="445B6B"/>
              </a:solidFill>
            </a:ln>
          </c:spPr>
          <c:marker>
            <c:symbol val="none"/>
          </c:marker>
          <c:xVal>
            <c:numRef>
              <c:f>'Chart Data'!$K$2:$K$3</c:f>
              <c:numCache>
                <c:formatCode>General</c:formatCode>
                <c:ptCount val="2"/>
                <c:pt idx="0">
                  <c:v>0</c:v>
                </c:pt>
                <c:pt idx="1">
                  <c:v>100</c:v>
                </c:pt>
              </c:numCache>
            </c:numRef>
          </c:xVal>
          <c:yVal>
            <c:numRef>
              <c:f>'Chart Data'!$L$2:$L$3</c:f>
              <c:numCache>
                <c:formatCode>0</c:formatCode>
                <c:ptCount val="2"/>
                <c:pt idx="0">
                  <c:v>18</c:v>
                </c:pt>
                <c:pt idx="1">
                  <c:v>18</c:v>
                </c:pt>
              </c:numCache>
            </c:numRef>
          </c:yVal>
          <c:smooth val="0"/>
        </c:ser>
        <c:ser>
          <c:idx val="6"/>
          <c:order val="6"/>
          <c:tx>
            <c:v>Subsidiewig</c:v>
          </c:tx>
          <c:spPr>
            <a:ln xmlns:a="http://schemas.openxmlformats.org/drawingml/2006/main" w="47625">
              <a:solidFill>
                <a:srgbClr val="A94D16"/>
              </a:solidFill>
            </a:ln>
          </c:spPr>
          <c:marker>
            <c:symbol val="none"/>
          </c:marker>
          <c:xVal>
            <c:numRef>
              <c:f>'Chart Data'!$M$2:$M$3</c:f>
              <c:numCache>
                <c:formatCode>General</c:formatCode>
                <c:ptCount val="2"/>
                <c:pt idx="0">
                  <c:v>100</c:v>
                </c:pt>
                <c:pt idx="1">
                  <c:v>100</c:v>
                </c:pt>
              </c:numCache>
            </c:numRef>
          </c:xVal>
          <c:yVal>
            <c:numRef>
              <c:f>'Chart Data'!$N$2:$N$3</c:f>
              <c:numCache>
                <c:formatCode>0</c:formatCode>
                <c:ptCount val="2"/>
                <c:pt idx="0">
                  <c:v>12</c:v>
                </c:pt>
                <c:pt idx="1">
                  <c:v>18</c:v>
                </c:pt>
              </c:numCache>
            </c:numRef>
          </c:yVal>
          <c:smooth val="0"/>
        </c:ser>
        <c:ser>
          <c:idx val="7"/>
          <c:order val="7"/>
          <c:tx>
            <c:v>Pc</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Data'!$O$2:$O$2</c:f>
              <c:numCache>
                <c:formatCode>General</c:formatCode>
                <c:ptCount val="1"/>
                <c:pt idx="0">
                  <c:v>100</c:v>
                </c:pt>
              </c:numCache>
            </c:numRef>
          </c:xVal>
          <c:yVal>
            <c:numRef>
              <c:f>'Chart Data'!$P$2:$P$2</c:f>
              <c:numCache>
                <c:formatCode>0</c:formatCode>
                <c:ptCount val="1"/>
                <c:pt idx="0">
                  <c:v>12</c:v>
                </c:pt>
              </c:numCache>
            </c:numRef>
          </c:yVal>
          <c:smooth val="0"/>
        </c:ser>
        <c:ser>
          <c:idx val="8"/>
          <c:order val="8"/>
          <c:tx>
            <c:v>Pp</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Data'!$Q$2:$Q$2</c:f>
              <c:numCache>
                <c:formatCode>General</c:formatCode>
                <c:ptCount val="1"/>
                <c:pt idx="0">
                  <c:v>100</c:v>
                </c:pt>
              </c:numCache>
            </c:numRef>
          </c:xVal>
          <c:yVal>
            <c:numRef>
              <c:f>'Chart Data'!$R$2:$R$2</c:f>
              <c:numCache>
                <c:formatCode>0</c:formatCode>
                <c:ptCount val="1"/>
                <c:pt idx="0">
                  <c:v>18</c:v>
                </c:pt>
              </c:numCache>
            </c:numRef>
          </c:yVal>
          <c:smooth val="0"/>
        </c:ser>
        <c:ser>
          <c:idx val="9"/>
          <c:order val="9"/>
          <c:tx>
            <c:v>U grens</c:v>
          </c:tx>
          <c:spPr>
            <a:ln xmlns:a="http://schemas.openxmlformats.org/drawingml/2006/main" w="19050">
              <a:solidFill>
                <a:srgbClr val="A94D16"/>
              </a:solidFill>
            </a:ln>
          </c:spPr>
          <c:marker>
            <c:symbol val="none"/>
          </c:marker>
          <c:xVal>
            <c:numRef>
              <c:f>'Chart Data'!$S$2:$S$6</c:f>
              <c:numCache>
                <c:formatCode>General</c:formatCode>
                <c:ptCount val="5"/>
                <c:pt idx="0">
                  <c:v>0</c:v>
                </c:pt>
                <c:pt idx="1">
                  <c:v>100</c:v>
                </c:pt>
                <c:pt idx="2">
                  <c:v>100</c:v>
                </c:pt>
                <c:pt idx="3">
                  <c:v>0</c:v>
                </c:pt>
                <c:pt idx="4">
                  <c:v>0</c:v>
                </c:pt>
              </c:numCache>
            </c:numRef>
          </c:xVal>
          <c:yVal>
            <c:numRef>
              <c:f>'Chart Data'!$T$2:$T$6</c:f>
              <c:numCache>
                <c:formatCode>0</c:formatCode>
                <c:ptCount val="5"/>
                <c:pt idx="0">
                  <c:v>12</c:v>
                </c:pt>
                <c:pt idx="1">
                  <c:v>12</c:v>
                </c:pt>
                <c:pt idx="2">
                  <c:v>18</c:v>
                </c:pt>
                <c:pt idx="3">
                  <c:v>18</c:v>
                </c:pt>
                <c:pt idx="4">
                  <c:v>12</c:v>
                </c:pt>
              </c:numCache>
            </c:numRef>
          </c:yVal>
          <c:smooth val="0"/>
        </c:ser>
        <c:ser>
          <c:idx val="10"/>
          <c:order val="10"/>
          <c:tx>
            <c:v>U label</c:v>
          </c:tx>
          <c:spPr>
            <a:ln xmlns:a="http://schemas.openxmlformats.org/drawingml/2006/main" w="0">
              <a:solidFill>
                <a:srgbClr val="183247"/>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U</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Data'!$U$2:$U$2</c:f>
              <c:numCache>
                <c:formatCode>General</c:formatCode>
                <c:ptCount val="1"/>
                <c:pt idx="0">
                  <c:v>22</c:v>
                </c:pt>
              </c:numCache>
            </c:numRef>
          </c:xVal>
          <c:yVal>
            <c:numRef>
              <c:f>'Chart Data'!$V$2:$V$2</c:f>
              <c:numCache>
                <c:formatCode>0</c:formatCode>
                <c:ptCount val="1"/>
                <c:pt idx="0">
                  <c:v>15</c:v>
                </c:pt>
              </c:numCache>
            </c:numRef>
          </c:yVal>
          <c:smooth val="0"/>
        </c:ser>
        <c:ser>
          <c:idx val="11"/>
          <c:order val="11"/>
          <c:tx>
            <c:v>Pp annotation</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Pp = 18</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Data'!$W$2:$W$2</c:f>
              <c:numCache>
                <c:formatCode>General</c:formatCode>
                <c:ptCount val="1"/>
                <c:pt idx="0">
                  <c:v>100</c:v>
                </c:pt>
              </c:numCache>
            </c:numRef>
          </c:xVal>
          <c:yVal>
            <c:numRef>
              <c:f>'Chart Data'!$X$2:$X$2</c:f>
              <c:numCache>
                <c:formatCode>0</c:formatCode>
                <c:ptCount val="1"/>
                <c:pt idx="0">
                  <c:v>21</c:v>
                </c:pt>
              </c:numCache>
            </c:numRef>
          </c:yVal>
          <c:smooth val="0"/>
        </c:ser>
        <c:ser>
          <c:idx val="12"/>
          <c:order val="12"/>
          <c:tx>
            <c:v>Pc annotation</c:v>
          </c:tx>
          <c:spPr>
            <a:ln xmlns:a="http://schemas.openxmlformats.org/drawingml/2006/main" w="0">
              <a:solidFill>
                <a:srgbClr val="17658A"/>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Pc = 12</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Data'!$Y$2:$Y$2</c:f>
              <c:numCache>
                <c:formatCode>General</c:formatCode>
                <c:ptCount val="1"/>
                <c:pt idx="0">
                  <c:v>120</c:v>
                </c:pt>
              </c:numCache>
            </c:numRef>
          </c:xVal>
          <c:yVal>
            <c:numRef>
              <c:f>'Chart Data'!$Z$2:$Z$2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CS</c:v>
          </c:tx>
          <c:spPr>
            <a:ln xmlns:a="http://schemas.openxmlformats.org/drawingml/2006/main" w="11430">
              <a:solidFill>
                <a:srgbClr val="B7D5E3"/>
              </a:solidFill>
            </a:ln>
          </c:spPr>
          <c:marker>
            <c:symbol val="none"/>
          </c:marker>
          <c:xVal>
            <c:numRef>
              <c:f>'Chart Data'!$A$2:$A$133</c:f>
              <c:numCache>
                <c:formatCode>General</c:formatCode>
                <c:ptCount val="132"/>
                <c:pt idx="0">
                  <c:v>0</c:v>
                </c:pt>
                <c:pt idx="1">
                  <c:v>0</c:v>
                </c:pt>
                <c:pt idx="2">
                  <c:v>1.538461538</c:v>
                </c:pt>
                <c:pt idx="3">
                  <c:v>1.538461538</c:v>
                </c:pt>
                <c:pt idx="4">
                  <c:v>3.076923077</c:v>
                </c:pt>
                <c:pt idx="5">
                  <c:v>3.076923077</c:v>
                </c:pt>
                <c:pt idx="6">
                  <c:v>4.615384615</c:v>
                </c:pt>
                <c:pt idx="7">
                  <c:v>4.615384615</c:v>
                </c:pt>
                <c:pt idx="8">
                  <c:v>6.153846154</c:v>
                </c:pt>
                <c:pt idx="9">
                  <c:v>6.153846154</c:v>
                </c:pt>
                <c:pt idx="10">
                  <c:v>7.692307692</c:v>
                </c:pt>
                <c:pt idx="11">
                  <c:v>7.692307692</c:v>
                </c:pt>
                <c:pt idx="12">
                  <c:v>9.230769231</c:v>
                </c:pt>
                <c:pt idx="13">
                  <c:v>9.230769231</c:v>
                </c:pt>
                <c:pt idx="14">
                  <c:v>10.769230769</c:v>
                </c:pt>
                <c:pt idx="15">
                  <c:v>10.769230769</c:v>
                </c:pt>
                <c:pt idx="16">
                  <c:v>12.307692308</c:v>
                </c:pt>
                <c:pt idx="17">
                  <c:v>12.307692308</c:v>
                </c:pt>
                <c:pt idx="18">
                  <c:v>13.846153846</c:v>
                </c:pt>
                <c:pt idx="19">
                  <c:v>13.846153846</c:v>
                </c:pt>
                <c:pt idx="20">
                  <c:v>15.384615385</c:v>
                </c:pt>
                <c:pt idx="21">
                  <c:v>15.384615385</c:v>
                </c:pt>
                <c:pt idx="22">
                  <c:v>16.923076923</c:v>
                </c:pt>
                <c:pt idx="23">
                  <c:v>16.923076923</c:v>
                </c:pt>
                <c:pt idx="24">
                  <c:v>18.461538462</c:v>
                </c:pt>
                <c:pt idx="25">
                  <c:v>18.461538462</c:v>
                </c:pt>
                <c:pt idx="26">
                  <c:v>20</c:v>
                </c:pt>
                <c:pt idx="27">
                  <c:v>20</c:v>
                </c:pt>
                <c:pt idx="28">
                  <c:v>21.538461538</c:v>
                </c:pt>
                <c:pt idx="29">
                  <c:v>21.538461538</c:v>
                </c:pt>
                <c:pt idx="30">
                  <c:v>23.076923077</c:v>
                </c:pt>
                <c:pt idx="31">
                  <c:v>23.076923077</c:v>
                </c:pt>
                <c:pt idx="32">
                  <c:v>24.615384615</c:v>
                </c:pt>
                <c:pt idx="33">
                  <c:v>24.615384615</c:v>
                </c:pt>
                <c:pt idx="34">
                  <c:v>26.153846154</c:v>
                </c:pt>
                <c:pt idx="35">
                  <c:v>26.153846154</c:v>
                </c:pt>
                <c:pt idx="36">
                  <c:v>27.692307692</c:v>
                </c:pt>
                <c:pt idx="37">
                  <c:v>27.692307692</c:v>
                </c:pt>
                <c:pt idx="38">
                  <c:v>29.230769231</c:v>
                </c:pt>
                <c:pt idx="39">
                  <c:v>29.230769231</c:v>
                </c:pt>
                <c:pt idx="40">
                  <c:v>30.769230769</c:v>
                </c:pt>
                <c:pt idx="41">
                  <c:v>30.769230769</c:v>
                </c:pt>
                <c:pt idx="42">
                  <c:v>32.307692308</c:v>
                </c:pt>
                <c:pt idx="43">
                  <c:v>32.307692308</c:v>
                </c:pt>
                <c:pt idx="44">
                  <c:v>33.846153846</c:v>
                </c:pt>
                <c:pt idx="45">
                  <c:v>33.846153846</c:v>
                </c:pt>
                <c:pt idx="46">
                  <c:v>35.384615385</c:v>
                </c:pt>
                <c:pt idx="47">
                  <c:v>35.384615385</c:v>
                </c:pt>
                <c:pt idx="48">
                  <c:v>36.923076923</c:v>
                </c:pt>
                <c:pt idx="49">
                  <c:v>36.923076923</c:v>
                </c:pt>
                <c:pt idx="50">
                  <c:v>38.461538462</c:v>
                </c:pt>
                <c:pt idx="51">
                  <c:v>38.461538462</c:v>
                </c:pt>
                <c:pt idx="52">
                  <c:v>40</c:v>
                </c:pt>
                <c:pt idx="53">
                  <c:v>40</c:v>
                </c:pt>
                <c:pt idx="54">
                  <c:v>41.538461538</c:v>
                </c:pt>
                <c:pt idx="55">
                  <c:v>41.538461538</c:v>
                </c:pt>
                <c:pt idx="56">
                  <c:v>43.076923077</c:v>
                </c:pt>
                <c:pt idx="57">
                  <c:v>43.076923077</c:v>
                </c:pt>
                <c:pt idx="58">
                  <c:v>44.615384615</c:v>
                </c:pt>
                <c:pt idx="59">
                  <c:v>44.615384615</c:v>
                </c:pt>
                <c:pt idx="60">
                  <c:v>46.153846154</c:v>
                </c:pt>
                <c:pt idx="61">
                  <c:v>46.153846154</c:v>
                </c:pt>
                <c:pt idx="62">
                  <c:v>47.692307692</c:v>
                </c:pt>
                <c:pt idx="63">
                  <c:v>47.692307692</c:v>
                </c:pt>
                <c:pt idx="64">
                  <c:v>49.230769231</c:v>
                </c:pt>
                <c:pt idx="65">
                  <c:v>49.230769231</c:v>
                </c:pt>
                <c:pt idx="66">
                  <c:v>50.769230769</c:v>
                </c:pt>
                <c:pt idx="67">
                  <c:v>50.769230769</c:v>
                </c:pt>
                <c:pt idx="68">
                  <c:v>52.307692308</c:v>
                </c:pt>
                <c:pt idx="69">
                  <c:v>52.307692308</c:v>
                </c:pt>
                <c:pt idx="70">
                  <c:v>53.846153846</c:v>
                </c:pt>
                <c:pt idx="71">
                  <c:v>53.846153846</c:v>
                </c:pt>
                <c:pt idx="72">
                  <c:v>55.384615385</c:v>
                </c:pt>
                <c:pt idx="73">
                  <c:v>55.384615385</c:v>
                </c:pt>
                <c:pt idx="74">
                  <c:v>56.923076923</c:v>
                </c:pt>
                <c:pt idx="75">
                  <c:v>56.923076923</c:v>
                </c:pt>
                <c:pt idx="76">
                  <c:v>58.461538462</c:v>
                </c:pt>
                <c:pt idx="77">
                  <c:v>58.461538462</c:v>
                </c:pt>
                <c:pt idx="78">
                  <c:v>60</c:v>
                </c:pt>
                <c:pt idx="79">
                  <c:v>60</c:v>
                </c:pt>
                <c:pt idx="80">
                  <c:v>61.538461538</c:v>
                </c:pt>
                <c:pt idx="81">
                  <c:v>61.538461538</c:v>
                </c:pt>
                <c:pt idx="82">
                  <c:v>63.076923077</c:v>
                </c:pt>
                <c:pt idx="83">
                  <c:v>63.076923077</c:v>
                </c:pt>
                <c:pt idx="84">
                  <c:v>64.615384615</c:v>
                </c:pt>
                <c:pt idx="85">
                  <c:v>64.615384615</c:v>
                </c:pt>
                <c:pt idx="86">
                  <c:v>66.153846154</c:v>
                </c:pt>
                <c:pt idx="87">
                  <c:v>66.153846154</c:v>
                </c:pt>
                <c:pt idx="88">
                  <c:v>67.692307692</c:v>
                </c:pt>
                <c:pt idx="89">
                  <c:v>67.692307692</c:v>
                </c:pt>
                <c:pt idx="90">
                  <c:v>69.230769231</c:v>
                </c:pt>
                <c:pt idx="91">
                  <c:v>69.230769231</c:v>
                </c:pt>
                <c:pt idx="92">
                  <c:v>70.769230769</c:v>
                </c:pt>
                <c:pt idx="93">
                  <c:v>70.769230769</c:v>
                </c:pt>
                <c:pt idx="94">
                  <c:v>72.307692308</c:v>
                </c:pt>
                <c:pt idx="95">
                  <c:v>72.307692308</c:v>
                </c:pt>
                <c:pt idx="96">
                  <c:v>73.846153846</c:v>
                </c:pt>
                <c:pt idx="97">
                  <c:v>73.846153846</c:v>
                </c:pt>
                <c:pt idx="98">
                  <c:v>75.384615385</c:v>
                </c:pt>
                <c:pt idx="99">
                  <c:v>75.384615385</c:v>
                </c:pt>
                <c:pt idx="100">
                  <c:v>76.923076923</c:v>
                </c:pt>
                <c:pt idx="101">
                  <c:v>76.923076923</c:v>
                </c:pt>
                <c:pt idx="102">
                  <c:v>78.461538462</c:v>
                </c:pt>
                <c:pt idx="103">
                  <c:v>78.461538462</c:v>
                </c:pt>
                <c:pt idx="104">
                  <c:v>80</c:v>
                </c:pt>
                <c:pt idx="105">
                  <c:v>80</c:v>
                </c:pt>
                <c:pt idx="106">
                  <c:v>81.538461538</c:v>
                </c:pt>
                <c:pt idx="107">
                  <c:v>81.538461538</c:v>
                </c:pt>
                <c:pt idx="108">
                  <c:v>83.076923077</c:v>
                </c:pt>
                <c:pt idx="109">
                  <c:v>83.076923077</c:v>
                </c:pt>
                <c:pt idx="110">
                  <c:v>84.615384615</c:v>
                </c:pt>
                <c:pt idx="111">
                  <c:v>84.615384615</c:v>
                </c:pt>
                <c:pt idx="112">
                  <c:v>86.153846154</c:v>
                </c:pt>
                <c:pt idx="113">
                  <c:v>86.153846154</c:v>
                </c:pt>
                <c:pt idx="114">
                  <c:v>87.692307692</c:v>
                </c:pt>
                <c:pt idx="115">
                  <c:v>87.692307692</c:v>
                </c:pt>
                <c:pt idx="116">
                  <c:v>89.230769231</c:v>
                </c:pt>
                <c:pt idx="117">
                  <c:v>89.230769231</c:v>
                </c:pt>
                <c:pt idx="118">
                  <c:v>90.769230769</c:v>
                </c:pt>
                <c:pt idx="119">
                  <c:v>90.769230769</c:v>
                </c:pt>
                <c:pt idx="120">
                  <c:v>92.307692308</c:v>
                </c:pt>
                <c:pt idx="121">
                  <c:v>92.307692308</c:v>
                </c:pt>
                <c:pt idx="122">
                  <c:v>93.846153846</c:v>
                </c:pt>
                <c:pt idx="123">
                  <c:v>93.846153846</c:v>
                </c:pt>
                <c:pt idx="124">
                  <c:v>95.384615385</c:v>
                </c:pt>
                <c:pt idx="125">
                  <c:v>95.384615385</c:v>
                </c:pt>
                <c:pt idx="126">
                  <c:v>96.923076923</c:v>
                </c:pt>
                <c:pt idx="127">
                  <c:v>96.923076923</c:v>
                </c:pt>
                <c:pt idx="128">
                  <c:v>98.461538462</c:v>
                </c:pt>
                <c:pt idx="129">
                  <c:v>98.461538462</c:v>
                </c:pt>
                <c:pt idx="130">
                  <c:v>100</c:v>
                </c:pt>
                <c:pt idx="131">
                  <c:v>100</c:v>
                </c:pt>
              </c:numCache>
            </c:numRef>
          </c:xVal>
          <c:yVal>
            <c:numRef>
              <c:f>'Chart Data'!$B$2:$B$133</c:f>
              <c:numCache>
                <c:formatCode>0</c:formatCode>
                <c:ptCount val="132"/>
                <c:pt idx="0">
                  <c:v>12</c:v>
                </c:pt>
                <c:pt idx="1">
                  <c:v>32</c:v>
                </c:pt>
                <c:pt idx="2">
                  <c:v>31.692307692</c:v>
                </c:pt>
                <c:pt idx="3">
                  <c:v>12</c:v>
                </c:pt>
                <c:pt idx="4">
                  <c:v>12</c:v>
                </c:pt>
                <c:pt idx="5">
                  <c:v>31.384615385</c:v>
                </c:pt>
                <c:pt idx="6">
                  <c:v>31.076923077</c:v>
                </c:pt>
                <c:pt idx="7">
                  <c:v>12</c:v>
                </c:pt>
                <c:pt idx="8">
                  <c:v>12</c:v>
                </c:pt>
                <c:pt idx="9">
                  <c:v>30.769230769</c:v>
                </c:pt>
                <c:pt idx="10">
                  <c:v>30.461538462</c:v>
                </c:pt>
                <c:pt idx="11">
                  <c:v>12</c:v>
                </c:pt>
                <c:pt idx="12">
                  <c:v>12</c:v>
                </c:pt>
                <c:pt idx="13">
                  <c:v>30.153846154</c:v>
                </c:pt>
                <c:pt idx="14">
                  <c:v>29.846153846</c:v>
                </c:pt>
                <c:pt idx="15">
                  <c:v>12</c:v>
                </c:pt>
                <c:pt idx="16">
                  <c:v>12</c:v>
                </c:pt>
                <c:pt idx="17">
                  <c:v>29.538461538</c:v>
                </c:pt>
                <c:pt idx="18">
                  <c:v>29.230769231</c:v>
                </c:pt>
                <c:pt idx="19">
                  <c:v>12</c:v>
                </c:pt>
                <c:pt idx="20">
                  <c:v>12</c:v>
                </c:pt>
                <c:pt idx="21">
                  <c:v>28.923076923</c:v>
                </c:pt>
                <c:pt idx="22">
                  <c:v>28.615384615</c:v>
                </c:pt>
                <c:pt idx="23">
                  <c:v>12</c:v>
                </c:pt>
                <c:pt idx="24">
                  <c:v>12</c:v>
                </c:pt>
                <c:pt idx="25">
                  <c:v>28.307692308</c:v>
                </c:pt>
                <c:pt idx="26">
                  <c:v>28</c:v>
                </c:pt>
                <c:pt idx="27">
                  <c:v>12</c:v>
                </c:pt>
                <c:pt idx="28">
                  <c:v>12</c:v>
                </c:pt>
                <c:pt idx="29">
                  <c:v>27.692307692</c:v>
                </c:pt>
                <c:pt idx="30">
                  <c:v>27.384615385</c:v>
                </c:pt>
                <c:pt idx="31">
                  <c:v>12</c:v>
                </c:pt>
                <c:pt idx="32">
                  <c:v>12</c:v>
                </c:pt>
                <c:pt idx="33">
                  <c:v>27.076923077</c:v>
                </c:pt>
                <c:pt idx="34">
                  <c:v>26.769230769</c:v>
                </c:pt>
                <c:pt idx="35">
                  <c:v>12</c:v>
                </c:pt>
                <c:pt idx="36">
                  <c:v>12</c:v>
                </c:pt>
                <c:pt idx="37">
                  <c:v>26.461538462</c:v>
                </c:pt>
                <c:pt idx="38">
                  <c:v>26.153846154</c:v>
                </c:pt>
                <c:pt idx="39">
                  <c:v>12</c:v>
                </c:pt>
                <c:pt idx="40">
                  <c:v>12</c:v>
                </c:pt>
                <c:pt idx="41">
                  <c:v>25.846153846</c:v>
                </c:pt>
                <c:pt idx="42">
                  <c:v>25.538461538</c:v>
                </c:pt>
                <c:pt idx="43">
                  <c:v>12</c:v>
                </c:pt>
                <c:pt idx="44">
                  <c:v>12</c:v>
                </c:pt>
                <c:pt idx="45">
                  <c:v>25.230769231</c:v>
                </c:pt>
                <c:pt idx="46">
                  <c:v>24.923076923</c:v>
                </c:pt>
                <c:pt idx="47">
                  <c:v>12</c:v>
                </c:pt>
                <c:pt idx="48">
                  <c:v>12</c:v>
                </c:pt>
                <c:pt idx="49">
                  <c:v>24.615384615</c:v>
                </c:pt>
                <c:pt idx="50">
                  <c:v>24.307692308</c:v>
                </c:pt>
                <c:pt idx="51">
                  <c:v>12</c:v>
                </c:pt>
                <c:pt idx="52">
                  <c:v>12</c:v>
                </c:pt>
                <c:pt idx="53">
                  <c:v>24</c:v>
                </c:pt>
                <c:pt idx="54">
                  <c:v>23.692307692</c:v>
                </c:pt>
                <c:pt idx="55">
                  <c:v>12</c:v>
                </c:pt>
                <c:pt idx="56">
                  <c:v>12</c:v>
                </c:pt>
                <c:pt idx="57">
                  <c:v>23.384615385</c:v>
                </c:pt>
                <c:pt idx="58">
                  <c:v>23.076923077</c:v>
                </c:pt>
                <c:pt idx="59">
                  <c:v>12</c:v>
                </c:pt>
                <c:pt idx="60">
                  <c:v>12</c:v>
                </c:pt>
                <c:pt idx="61">
                  <c:v>22.769230769</c:v>
                </c:pt>
                <c:pt idx="62">
                  <c:v>22.461538462</c:v>
                </c:pt>
                <c:pt idx="63">
                  <c:v>12</c:v>
                </c:pt>
                <c:pt idx="64">
                  <c:v>12</c:v>
                </c:pt>
                <c:pt idx="65">
                  <c:v>22.153846154</c:v>
                </c:pt>
                <c:pt idx="66">
                  <c:v>21.846153846</c:v>
                </c:pt>
                <c:pt idx="67">
                  <c:v>12</c:v>
                </c:pt>
                <c:pt idx="68">
                  <c:v>12</c:v>
                </c:pt>
                <c:pt idx="69">
                  <c:v>21.538461538</c:v>
                </c:pt>
                <c:pt idx="70">
                  <c:v>21.230769231</c:v>
                </c:pt>
                <c:pt idx="71">
                  <c:v>12</c:v>
                </c:pt>
                <c:pt idx="72">
                  <c:v>12</c:v>
                </c:pt>
                <c:pt idx="73">
                  <c:v>20.923076923</c:v>
                </c:pt>
                <c:pt idx="74">
                  <c:v>20.615384615</c:v>
                </c:pt>
                <c:pt idx="75">
                  <c:v>12</c:v>
                </c:pt>
                <c:pt idx="76">
                  <c:v>12</c:v>
                </c:pt>
                <c:pt idx="77">
                  <c:v>20.307692308</c:v>
                </c:pt>
                <c:pt idx="78">
                  <c:v>20</c:v>
                </c:pt>
                <c:pt idx="79">
                  <c:v>12</c:v>
                </c:pt>
                <c:pt idx="80">
                  <c:v>12</c:v>
                </c:pt>
                <c:pt idx="81">
                  <c:v>19.692307692</c:v>
                </c:pt>
                <c:pt idx="82">
                  <c:v>19.384615385</c:v>
                </c:pt>
                <c:pt idx="83">
                  <c:v>12</c:v>
                </c:pt>
                <c:pt idx="84">
                  <c:v>12</c:v>
                </c:pt>
                <c:pt idx="85">
                  <c:v>19.076923077</c:v>
                </c:pt>
                <c:pt idx="86">
                  <c:v>18.769230769</c:v>
                </c:pt>
                <c:pt idx="87">
                  <c:v>12</c:v>
                </c:pt>
                <c:pt idx="88">
                  <c:v>12</c:v>
                </c:pt>
                <c:pt idx="89">
                  <c:v>18.461538462</c:v>
                </c:pt>
                <c:pt idx="90">
                  <c:v>18.153846154</c:v>
                </c:pt>
                <c:pt idx="91">
                  <c:v>12</c:v>
                </c:pt>
                <c:pt idx="92">
                  <c:v>12</c:v>
                </c:pt>
                <c:pt idx="93">
                  <c:v>17.846153846</c:v>
                </c:pt>
                <c:pt idx="94">
                  <c:v>17.538461538</c:v>
                </c:pt>
                <c:pt idx="95">
                  <c:v>12</c:v>
                </c:pt>
                <c:pt idx="96">
                  <c:v>12</c:v>
                </c:pt>
                <c:pt idx="97">
                  <c:v>17.230769231</c:v>
                </c:pt>
                <c:pt idx="98">
                  <c:v>16.923076923</c:v>
                </c:pt>
                <c:pt idx="99">
                  <c:v>12</c:v>
                </c:pt>
                <c:pt idx="100">
                  <c:v>12</c:v>
                </c:pt>
                <c:pt idx="101">
                  <c:v>16.615384615</c:v>
                </c:pt>
                <c:pt idx="102">
                  <c:v>16.307692308</c:v>
                </c:pt>
                <c:pt idx="103">
                  <c:v>12</c:v>
                </c:pt>
                <c:pt idx="104">
                  <c:v>12</c:v>
                </c:pt>
                <c:pt idx="105">
                  <c:v>16</c:v>
                </c:pt>
                <c:pt idx="106">
                  <c:v>15.692307692</c:v>
                </c:pt>
                <c:pt idx="107">
                  <c:v>12</c:v>
                </c:pt>
                <c:pt idx="108">
                  <c:v>12</c:v>
                </c:pt>
                <c:pt idx="109">
                  <c:v>15.384615385</c:v>
                </c:pt>
                <c:pt idx="110">
                  <c:v>15.076923077</c:v>
                </c:pt>
                <c:pt idx="111">
                  <c:v>12</c:v>
                </c:pt>
                <c:pt idx="112">
                  <c:v>12</c:v>
                </c:pt>
                <c:pt idx="113">
                  <c:v>14.769230769</c:v>
                </c:pt>
                <c:pt idx="114">
                  <c:v>14.461538462</c:v>
                </c:pt>
                <c:pt idx="115">
                  <c:v>12</c:v>
                </c:pt>
                <c:pt idx="116">
                  <c:v>12</c:v>
                </c:pt>
                <c:pt idx="117">
                  <c:v>14.153846154</c:v>
                </c:pt>
                <c:pt idx="118">
                  <c:v>13.846153846</c:v>
                </c:pt>
                <c:pt idx="119">
                  <c:v>12</c:v>
                </c:pt>
                <c:pt idx="120">
                  <c:v>12</c:v>
                </c:pt>
                <c:pt idx="121">
                  <c:v>13.538461538</c:v>
                </c:pt>
                <c:pt idx="122">
                  <c:v>13.230769231</c:v>
                </c:pt>
                <c:pt idx="123">
                  <c:v>12</c:v>
                </c:pt>
                <c:pt idx="124">
                  <c:v>12</c:v>
                </c:pt>
                <c:pt idx="125">
                  <c:v>12.923076923</c:v>
                </c:pt>
                <c:pt idx="126">
                  <c:v>12.615384615</c:v>
                </c:pt>
                <c:pt idx="127">
                  <c:v>12</c:v>
                </c:pt>
                <c:pt idx="128">
                  <c:v>12</c:v>
                </c:pt>
                <c:pt idx="129">
                  <c:v>12.307692308</c:v>
                </c:pt>
                <c:pt idx="130">
                  <c:v>12</c:v>
                </c:pt>
                <c:pt idx="131">
                  <c:v>12</c:v>
                </c:pt>
              </c:numCache>
            </c:numRef>
          </c:yVal>
          <c:smooth val="0"/>
        </c:ser>
        <c:ser>
          <c:idx val="1"/>
          <c:order val="1"/>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160</c:v>
                </c:pt>
              </c:numCache>
            </c:numRef>
          </c:xVal>
          <c:yVal>
            <c:numRef>
              <c:f>'Chart Data'!$D$2:$D$3</c:f>
              <c:numCache>
                <c:formatCode>0</c:formatCode>
                <c:ptCount val="2"/>
                <c:pt idx="0">
                  <c:v>32</c:v>
                </c:pt>
                <c:pt idx="1">
                  <c:v>0</c:v>
                </c:pt>
              </c:numCache>
            </c:numRef>
          </c:yVal>
          <c:smooth val="0"/>
        </c:ser>
        <c:ser>
          <c:idx val="2"/>
          <c:order val="2"/>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144</c:v>
                </c:pt>
              </c:numCache>
            </c:numRef>
          </c:xVal>
          <c:yVal>
            <c:numRef>
              <c:f>'Chart Data'!$F$2:$F$3</c:f>
              <c:numCache>
                <c:formatCode>0</c:formatCode>
                <c:ptCount val="2"/>
                <c:pt idx="0">
                  <c:v>8</c:v>
                </c:pt>
                <c:pt idx="1">
                  <c:v>22.4</c:v>
                </c:pt>
              </c:numCache>
            </c:numRef>
          </c:yVal>
          <c:smooth val="0"/>
        </c:ser>
        <c:ser>
          <c:idx val="3"/>
          <c:order val="3"/>
          <c:tx>
            <c:v>Pc hulplijn</c:v>
          </c:tx>
          <c:spPr>
            <a:ln xmlns:a="http://schemas.openxmlformats.org/drawingml/2006/main" w="13335">
              <a:solidFill>
                <a:srgbClr val="445B6B"/>
              </a:solidFill>
            </a:ln>
          </c:spPr>
          <c:marker>
            <c:symbol val="none"/>
          </c:marker>
          <c:xVal>
            <c:numRef>
              <c:f>'Chart Data'!$G$2:$G$4</c:f>
              <c:numCache>
                <c:formatCode>General</c:formatCode>
                <c:ptCount val="3"/>
                <c:pt idx="0">
                  <c:v>0</c:v>
                </c:pt>
                <c:pt idx="1">
                  <c:v>100</c:v>
                </c:pt>
                <c:pt idx="2">
                  <c:v>100</c:v>
                </c:pt>
              </c:numCache>
            </c:numRef>
          </c:xVal>
          <c:yVal>
            <c:numRef>
              <c:f>'Chart Data'!$H$2:$H$4</c:f>
              <c:numCache>
                <c:formatCode>0</c:formatCode>
                <c:ptCount val="3"/>
                <c:pt idx="0">
                  <c:v>12</c:v>
                </c:pt>
                <c:pt idx="1">
                  <c:v>12</c:v>
                </c:pt>
                <c:pt idx="2">
                  <c:v>0</c:v>
                </c:pt>
              </c:numCache>
            </c:numRef>
          </c:yVal>
          <c:smooth val="0"/>
        </c:ser>
        <c:ser>
          <c:idx val="4"/>
          <c:order val="4"/>
          <c:tx>
            <c:v>Pp hulplijn</c:v>
          </c:tx>
          <c:spPr>
            <a:ln xmlns:a="http://schemas.openxmlformats.org/drawingml/2006/main" w="13335">
              <a:solidFill>
                <a:srgbClr val="445B6B"/>
              </a:solidFill>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18</c:v>
                </c:pt>
                <c:pt idx="1">
                  <c:v>18</c:v>
                </c:pt>
              </c:numCache>
            </c:numRef>
          </c:yVal>
          <c:smooth val="0"/>
        </c:ser>
        <c:ser>
          <c:idx val="5"/>
          <c:order val="5"/>
          <c:tx>
            <c:v>Subsidiewig</c:v>
          </c:tx>
          <c:spPr>
            <a:ln xmlns:a="http://schemas.openxmlformats.org/drawingml/2006/main" w="47625">
              <a:solidFill>
                <a:srgbClr val="A94D16"/>
              </a:solidFill>
            </a:ln>
          </c:spPr>
          <c:marker>
            <c:symbol val="none"/>
          </c:marker>
          <c:xVal>
            <c:numRef>
              <c:f>'Chart Data'!$K$2:$K$3</c:f>
              <c:numCache>
                <c:formatCode>General</c:formatCode>
                <c:ptCount val="2"/>
                <c:pt idx="0">
                  <c:v>100</c:v>
                </c:pt>
                <c:pt idx="1">
                  <c:v>100</c:v>
                </c:pt>
              </c:numCache>
            </c:numRef>
          </c:xVal>
          <c:yVal>
            <c:numRef>
              <c:f>'Chart Data'!$L$2:$L$3</c:f>
              <c:numCache>
                <c:formatCode>0</c:formatCode>
                <c:ptCount val="2"/>
                <c:pt idx="0">
                  <c:v>12</c:v>
                </c:pt>
                <c:pt idx="1">
                  <c:v>18</c:v>
                </c:pt>
              </c:numCache>
            </c:numRef>
          </c:yVal>
          <c:smooth val="0"/>
        </c:ser>
        <c:ser>
          <c:idx val="6"/>
          <c:order val="6"/>
          <c:tx>
            <c:v>Pc</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Data'!$M$2:$M$2</c:f>
              <c:numCache>
                <c:formatCode>General</c:formatCode>
                <c:ptCount val="1"/>
                <c:pt idx="0">
                  <c:v>100</c:v>
                </c:pt>
              </c:numCache>
            </c:numRef>
          </c:xVal>
          <c:yVal>
            <c:numRef>
              <c:f>'Chart Data'!$N$2:$N$2</c:f>
              <c:numCache>
                <c:formatCode>0</c:formatCode>
                <c:ptCount val="1"/>
                <c:pt idx="0">
                  <c:v>12</c:v>
                </c:pt>
              </c:numCache>
            </c:numRef>
          </c:yVal>
          <c:smooth val="0"/>
        </c:ser>
        <c:ser>
          <c:idx val="7"/>
          <c:order val="7"/>
          <c:tx>
            <c:v>Pp</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Data'!$O$2:$O$2</c:f>
              <c:numCache>
                <c:formatCode>General</c:formatCode>
                <c:ptCount val="1"/>
                <c:pt idx="0">
                  <c:v>100</c:v>
                </c:pt>
              </c:numCache>
            </c:numRef>
          </c:xVal>
          <c:yVal>
            <c:numRef>
              <c:f>'Chart Data'!$P$2:$P$2</c:f>
              <c:numCache>
                <c:formatCode>0</c:formatCode>
                <c:ptCount val="1"/>
                <c:pt idx="0">
                  <c:v>18</c:v>
                </c:pt>
              </c:numCache>
            </c:numRef>
          </c:yVal>
          <c:smooth val="0"/>
        </c:ser>
        <c:ser>
          <c:idx val="8"/>
          <c:order val="8"/>
          <c:tx>
            <c:v>CS label</c:v>
          </c:tx>
          <c:spPr>
            <a:ln xmlns:a="http://schemas.openxmlformats.org/drawingml/2006/main" w="0">
              <a:solidFill>
                <a:srgbClr val="183247"/>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Data'!$Q$2:$Q$2</c:f>
              <c:numCache>
                <c:formatCode>General</c:formatCode>
                <c:ptCount val="1"/>
                <c:pt idx="0">
                  <c:v>22</c:v>
                </c:pt>
              </c:numCache>
            </c:numRef>
          </c:xVal>
          <c:yVal>
            <c:numRef>
              <c:f>'Chart Data'!$R$2:$R$2</c:f>
              <c:numCache>
                <c:formatCode>0</c:formatCode>
                <c:ptCount val="1"/>
                <c:pt idx="0">
                  <c:v>19.8</c:v>
                </c:pt>
              </c:numCache>
            </c:numRef>
          </c:yVal>
          <c:smooth val="0"/>
        </c:ser>
        <c:ser>
          <c:idx val="9"/>
          <c:order val="9"/>
          <c:tx>
            <c:v>Pp annotation</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Pp = 18</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Data'!$S$2:$S$2</c:f>
              <c:numCache>
                <c:formatCode>General</c:formatCode>
                <c:ptCount val="1"/>
                <c:pt idx="0">
                  <c:v>100</c:v>
                </c:pt>
              </c:numCache>
            </c:numRef>
          </c:xVal>
          <c:yVal>
            <c:numRef>
              <c:f>'Chart Data'!$T$2:$T$2</c:f>
              <c:numCache>
                <c:formatCode>0</c:formatCode>
                <c:ptCount val="1"/>
                <c:pt idx="0">
                  <c:v>21</c:v>
                </c:pt>
              </c:numCache>
            </c:numRef>
          </c:yVal>
          <c:smooth val="0"/>
        </c:ser>
        <c:ser>
          <c:idx val="10"/>
          <c:order val="10"/>
          <c:tx>
            <c:v>Pc annotation</c:v>
          </c:tx>
          <c:spPr>
            <a:ln xmlns:a="http://schemas.openxmlformats.org/drawingml/2006/main" w="0">
              <a:solidFill>
                <a:srgbClr val="17658A"/>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Pc = 12</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Data'!$U$2:$U$2</c:f>
              <c:numCache>
                <c:formatCode>General</c:formatCode>
                <c:ptCount val="1"/>
                <c:pt idx="0">
                  <c:v>120</c:v>
                </c:pt>
              </c:numCache>
            </c:numRef>
          </c:xVal>
          <c:yVal>
            <c:numRef>
              <c:f>'Chart Data'!$V$2:$V$2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Marker"/>
        <c:ser>
          <c:idx val="0"/>
          <c:order val="0"/>
          <c:tx>
            <c:v>PS</c:v>
          </c:tx>
          <c:spPr>
            <a:ln xmlns:a="http://schemas.openxmlformats.org/drawingml/2006/main" w="11430">
              <a:solidFill>
                <a:srgbClr val="B5D4CA"/>
              </a:solidFill>
            </a:ln>
          </c:spPr>
          <c:marker>
            <c:symbol val="none"/>
          </c:marker>
          <c:xVal>
            <c:numRef>
              <c:f>'Chart Data'!$A$2:$A$133</c:f>
              <c:numCache>
                <c:formatCode>General</c:formatCode>
                <c:ptCount val="132"/>
                <c:pt idx="0">
                  <c:v>0</c:v>
                </c:pt>
                <c:pt idx="1">
                  <c:v>0</c:v>
                </c:pt>
                <c:pt idx="2">
                  <c:v>1.538461538</c:v>
                </c:pt>
                <c:pt idx="3">
                  <c:v>1.538461538</c:v>
                </c:pt>
                <c:pt idx="4">
                  <c:v>3.076923077</c:v>
                </c:pt>
                <c:pt idx="5">
                  <c:v>3.076923077</c:v>
                </c:pt>
                <c:pt idx="6">
                  <c:v>4.615384615</c:v>
                </c:pt>
                <c:pt idx="7">
                  <c:v>4.615384615</c:v>
                </c:pt>
                <c:pt idx="8">
                  <c:v>6.153846154</c:v>
                </c:pt>
                <c:pt idx="9">
                  <c:v>6.153846154</c:v>
                </c:pt>
                <c:pt idx="10">
                  <c:v>7.692307692</c:v>
                </c:pt>
                <c:pt idx="11">
                  <c:v>7.692307692</c:v>
                </c:pt>
                <c:pt idx="12">
                  <c:v>9.230769231</c:v>
                </c:pt>
                <c:pt idx="13">
                  <c:v>9.230769231</c:v>
                </c:pt>
                <c:pt idx="14">
                  <c:v>10.769230769</c:v>
                </c:pt>
                <c:pt idx="15">
                  <c:v>10.769230769</c:v>
                </c:pt>
                <c:pt idx="16">
                  <c:v>12.307692308</c:v>
                </c:pt>
                <c:pt idx="17">
                  <c:v>12.307692308</c:v>
                </c:pt>
                <c:pt idx="18">
                  <c:v>13.846153846</c:v>
                </c:pt>
                <c:pt idx="19">
                  <c:v>13.846153846</c:v>
                </c:pt>
                <c:pt idx="20">
                  <c:v>15.384615385</c:v>
                </c:pt>
                <c:pt idx="21">
                  <c:v>15.384615385</c:v>
                </c:pt>
                <c:pt idx="22">
                  <c:v>16.923076923</c:v>
                </c:pt>
                <c:pt idx="23">
                  <c:v>16.923076923</c:v>
                </c:pt>
                <c:pt idx="24">
                  <c:v>18.461538462</c:v>
                </c:pt>
                <c:pt idx="25">
                  <c:v>18.461538462</c:v>
                </c:pt>
                <c:pt idx="26">
                  <c:v>20</c:v>
                </c:pt>
                <c:pt idx="27">
                  <c:v>20</c:v>
                </c:pt>
                <c:pt idx="28">
                  <c:v>21.538461538</c:v>
                </c:pt>
                <c:pt idx="29">
                  <c:v>21.538461538</c:v>
                </c:pt>
                <c:pt idx="30">
                  <c:v>23.076923077</c:v>
                </c:pt>
                <c:pt idx="31">
                  <c:v>23.076923077</c:v>
                </c:pt>
                <c:pt idx="32">
                  <c:v>24.615384615</c:v>
                </c:pt>
                <c:pt idx="33">
                  <c:v>24.615384615</c:v>
                </c:pt>
                <c:pt idx="34">
                  <c:v>26.153846154</c:v>
                </c:pt>
                <c:pt idx="35">
                  <c:v>26.153846154</c:v>
                </c:pt>
                <c:pt idx="36">
                  <c:v>27.692307692</c:v>
                </c:pt>
                <c:pt idx="37">
                  <c:v>27.692307692</c:v>
                </c:pt>
                <c:pt idx="38">
                  <c:v>29.230769231</c:v>
                </c:pt>
                <c:pt idx="39">
                  <c:v>29.230769231</c:v>
                </c:pt>
                <c:pt idx="40">
                  <c:v>30.769230769</c:v>
                </c:pt>
                <c:pt idx="41">
                  <c:v>30.769230769</c:v>
                </c:pt>
                <c:pt idx="42">
                  <c:v>32.307692308</c:v>
                </c:pt>
                <c:pt idx="43">
                  <c:v>32.307692308</c:v>
                </c:pt>
                <c:pt idx="44">
                  <c:v>33.846153846</c:v>
                </c:pt>
                <c:pt idx="45">
                  <c:v>33.846153846</c:v>
                </c:pt>
                <c:pt idx="46">
                  <c:v>35.384615385</c:v>
                </c:pt>
                <c:pt idx="47">
                  <c:v>35.384615385</c:v>
                </c:pt>
                <c:pt idx="48">
                  <c:v>36.923076923</c:v>
                </c:pt>
                <c:pt idx="49">
                  <c:v>36.923076923</c:v>
                </c:pt>
                <c:pt idx="50">
                  <c:v>38.461538462</c:v>
                </c:pt>
                <c:pt idx="51">
                  <c:v>38.461538462</c:v>
                </c:pt>
                <c:pt idx="52">
                  <c:v>40</c:v>
                </c:pt>
                <c:pt idx="53">
                  <c:v>40</c:v>
                </c:pt>
                <c:pt idx="54">
                  <c:v>41.538461538</c:v>
                </c:pt>
                <c:pt idx="55">
                  <c:v>41.538461538</c:v>
                </c:pt>
                <c:pt idx="56">
                  <c:v>43.076923077</c:v>
                </c:pt>
                <c:pt idx="57">
                  <c:v>43.076923077</c:v>
                </c:pt>
                <c:pt idx="58">
                  <c:v>44.615384615</c:v>
                </c:pt>
                <c:pt idx="59">
                  <c:v>44.615384615</c:v>
                </c:pt>
                <c:pt idx="60">
                  <c:v>46.153846154</c:v>
                </c:pt>
                <c:pt idx="61">
                  <c:v>46.153846154</c:v>
                </c:pt>
                <c:pt idx="62">
                  <c:v>47.692307692</c:v>
                </c:pt>
                <c:pt idx="63">
                  <c:v>47.692307692</c:v>
                </c:pt>
                <c:pt idx="64">
                  <c:v>49.230769231</c:v>
                </c:pt>
                <c:pt idx="65">
                  <c:v>49.230769231</c:v>
                </c:pt>
                <c:pt idx="66">
                  <c:v>50.769230769</c:v>
                </c:pt>
                <c:pt idx="67">
                  <c:v>50.769230769</c:v>
                </c:pt>
                <c:pt idx="68">
                  <c:v>52.307692308</c:v>
                </c:pt>
                <c:pt idx="69">
                  <c:v>52.307692308</c:v>
                </c:pt>
                <c:pt idx="70">
                  <c:v>53.846153846</c:v>
                </c:pt>
                <c:pt idx="71">
                  <c:v>53.846153846</c:v>
                </c:pt>
                <c:pt idx="72">
                  <c:v>55.384615385</c:v>
                </c:pt>
                <c:pt idx="73">
                  <c:v>55.384615385</c:v>
                </c:pt>
                <c:pt idx="74">
                  <c:v>56.923076923</c:v>
                </c:pt>
                <c:pt idx="75">
                  <c:v>56.923076923</c:v>
                </c:pt>
                <c:pt idx="76">
                  <c:v>58.461538462</c:v>
                </c:pt>
                <c:pt idx="77">
                  <c:v>58.461538462</c:v>
                </c:pt>
                <c:pt idx="78">
                  <c:v>60</c:v>
                </c:pt>
                <c:pt idx="79">
                  <c:v>60</c:v>
                </c:pt>
                <c:pt idx="80">
                  <c:v>61.538461538</c:v>
                </c:pt>
                <c:pt idx="81">
                  <c:v>61.538461538</c:v>
                </c:pt>
                <c:pt idx="82">
                  <c:v>63.076923077</c:v>
                </c:pt>
                <c:pt idx="83">
                  <c:v>63.076923077</c:v>
                </c:pt>
                <c:pt idx="84">
                  <c:v>64.615384615</c:v>
                </c:pt>
                <c:pt idx="85">
                  <c:v>64.615384615</c:v>
                </c:pt>
                <c:pt idx="86">
                  <c:v>66.153846154</c:v>
                </c:pt>
                <c:pt idx="87">
                  <c:v>66.153846154</c:v>
                </c:pt>
                <c:pt idx="88">
                  <c:v>67.692307692</c:v>
                </c:pt>
                <c:pt idx="89">
                  <c:v>67.692307692</c:v>
                </c:pt>
                <c:pt idx="90">
                  <c:v>69.230769231</c:v>
                </c:pt>
                <c:pt idx="91">
                  <c:v>69.230769231</c:v>
                </c:pt>
                <c:pt idx="92">
                  <c:v>70.769230769</c:v>
                </c:pt>
                <c:pt idx="93">
                  <c:v>70.769230769</c:v>
                </c:pt>
                <c:pt idx="94">
                  <c:v>72.307692308</c:v>
                </c:pt>
                <c:pt idx="95">
                  <c:v>72.307692308</c:v>
                </c:pt>
                <c:pt idx="96">
                  <c:v>73.846153846</c:v>
                </c:pt>
                <c:pt idx="97">
                  <c:v>73.846153846</c:v>
                </c:pt>
                <c:pt idx="98">
                  <c:v>75.384615385</c:v>
                </c:pt>
                <c:pt idx="99">
                  <c:v>75.384615385</c:v>
                </c:pt>
                <c:pt idx="100">
                  <c:v>76.923076923</c:v>
                </c:pt>
                <c:pt idx="101">
                  <c:v>76.923076923</c:v>
                </c:pt>
                <c:pt idx="102">
                  <c:v>78.461538462</c:v>
                </c:pt>
                <c:pt idx="103">
                  <c:v>78.461538462</c:v>
                </c:pt>
                <c:pt idx="104">
                  <c:v>80</c:v>
                </c:pt>
                <c:pt idx="105">
                  <c:v>80</c:v>
                </c:pt>
                <c:pt idx="106">
                  <c:v>81.538461538</c:v>
                </c:pt>
                <c:pt idx="107">
                  <c:v>81.538461538</c:v>
                </c:pt>
                <c:pt idx="108">
                  <c:v>83.076923077</c:v>
                </c:pt>
                <c:pt idx="109">
                  <c:v>83.076923077</c:v>
                </c:pt>
                <c:pt idx="110">
                  <c:v>84.615384615</c:v>
                </c:pt>
                <c:pt idx="111">
                  <c:v>84.615384615</c:v>
                </c:pt>
                <c:pt idx="112">
                  <c:v>86.153846154</c:v>
                </c:pt>
                <c:pt idx="113">
                  <c:v>86.153846154</c:v>
                </c:pt>
                <c:pt idx="114">
                  <c:v>87.692307692</c:v>
                </c:pt>
                <c:pt idx="115">
                  <c:v>87.692307692</c:v>
                </c:pt>
                <c:pt idx="116">
                  <c:v>89.230769231</c:v>
                </c:pt>
                <c:pt idx="117">
                  <c:v>89.230769231</c:v>
                </c:pt>
                <c:pt idx="118">
                  <c:v>90.769230769</c:v>
                </c:pt>
                <c:pt idx="119">
                  <c:v>90.769230769</c:v>
                </c:pt>
                <c:pt idx="120">
                  <c:v>92.307692308</c:v>
                </c:pt>
                <c:pt idx="121">
                  <c:v>92.307692308</c:v>
                </c:pt>
                <c:pt idx="122">
                  <c:v>93.846153846</c:v>
                </c:pt>
                <c:pt idx="123">
                  <c:v>93.846153846</c:v>
                </c:pt>
                <c:pt idx="124">
                  <c:v>95.384615385</c:v>
                </c:pt>
                <c:pt idx="125">
                  <c:v>95.384615385</c:v>
                </c:pt>
                <c:pt idx="126">
                  <c:v>96.923076923</c:v>
                </c:pt>
                <c:pt idx="127">
                  <c:v>96.923076923</c:v>
                </c:pt>
                <c:pt idx="128">
                  <c:v>98.461538462</c:v>
                </c:pt>
                <c:pt idx="129">
                  <c:v>98.461538462</c:v>
                </c:pt>
                <c:pt idx="130">
                  <c:v>100</c:v>
                </c:pt>
                <c:pt idx="131">
                  <c:v>100</c:v>
                </c:pt>
              </c:numCache>
            </c:numRef>
          </c:xVal>
          <c:yVal>
            <c:numRef>
              <c:f>'Chart Data'!$B$2:$B$133</c:f>
              <c:numCache>
                <c:formatCode>0</c:formatCode>
                <c:ptCount val="132"/>
                <c:pt idx="0">
                  <c:v>8</c:v>
                </c:pt>
                <c:pt idx="1">
                  <c:v>18</c:v>
                </c:pt>
                <c:pt idx="2">
                  <c:v>18</c:v>
                </c:pt>
                <c:pt idx="3">
                  <c:v>8.153846154</c:v>
                </c:pt>
                <c:pt idx="4">
                  <c:v>8.307692308</c:v>
                </c:pt>
                <c:pt idx="5">
                  <c:v>18</c:v>
                </c:pt>
                <c:pt idx="6">
                  <c:v>18</c:v>
                </c:pt>
                <c:pt idx="7">
                  <c:v>8.461538462</c:v>
                </c:pt>
                <c:pt idx="8">
                  <c:v>8.615384615</c:v>
                </c:pt>
                <c:pt idx="9">
                  <c:v>18</c:v>
                </c:pt>
                <c:pt idx="10">
                  <c:v>18</c:v>
                </c:pt>
                <c:pt idx="11">
                  <c:v>8.769230769</c:v>
                </c:pt>
                <c:pt idx="12">
                  <c:v>8.923076923</c:v>
                </c:pt>
                <c:pt idx="13">
                  <c:v>18</c:v>
                </c:pt>
                <c:pt idx="14">
                  <c:v>18</c:v>
                </c:pt>
                <c:pt idx="15">
                  <c:v>9.076923077</c:v>
                </c:pt>
                <c:pt idx="16">
                  <c:v>9.230769231</c:v>
                </c:pt>
                <c:pt idx="17">
                  <c:v>18</c:v>
                </c:pt>
                <c:pt idx="18">
                  <c:v>18</c:v>
                </c:pt>
                <c:pt idx="19">
                  <c:v>9.384615385</c:v>
                </c:pt>
                <c:pt idx="20">
                  <c:v>9.538461538</c:v>
                </c:pt>
                <c:pt idx="21">
                  <c:v>18</c:v>
                </c:pt>
                <c:pt idx="22">
                  <c:v>18</c:v>
                </c:pt>
                <c:pt idx="23">
                  <c:v>9.692307692</c:v>
                </c:pt>
                <c:pt idx="24">
                  <c:v>9.846153846</c:v>
                </c:pt>
                <c:pt idx="25">
                  <c:v>18</c:v>
                </c:pt>
                <c:pt idx="26">
                  <c:v>18</c:v>
                </c:pt>
                <c:pt idx="27">
                  <c:v>10</c:v>
                </c:pt>
                <c:pt idx="28">
                  <c:v>10.153846154</c:v>
                </c:pt>
                <c:pt idx="29">
                  <c:v>18</c:v>
                </c:pt>
                <c:pt idx="30">
                  <c:v>18</c:v>
                </c:pt>
                <c:pt idx="31">
                  <c:v>10.307692308</c:v>
                </c:pt>
                <c:pt idx="32">
                  <c:v>10.461538462</c:v>
                </c:pt>
                <c:pt idx="33">
                  <c:v>18</c:v>
                </c:pt>
                <c:pt idx="34">
                  <c:v>18</c:v>
                </c:pt>
                <c:pt idx="35">
                  <c:v>10.615384615</c:v>
                </c:pt>
                <c:pt idx="36">
                  <c:v>10.769230769</c:v>
                </c:pt>
                <c:pt idx="37">
                  <c:v>18</c:v>
                </c:pt>
                <c:pt idx="38">
                  <c:v>18</c:v>
                </c:pt>
                <c:pt idx="39">
                  <c:v>10.923076923</c:v>
                </c:pt>
                <c:pt idx="40">
                  <c:v>11.076923077</c:v>
                </c:pt>
                <c:pt idx="41">
                  <c:v>18</c:v>
                </c:pt>
                <c:pt idx="42">
                  <c:v>18</c:v>
                </c:pt>
                <c:pt idx="43">
                  <c:v>11.230769231</c:v>
                </c:pt>
                <c:pt idx="44">
                  <c:v>11.384615385</c:v>
                </c:pt>
                <c:pt idx="45">
                  <c:v>18</c:v>
                </c:pt>
                <c:pt idx="46">
                  <c:v>18</c:v>
                </c:pt>
                <c:pt idx="47">
                  <c:v>11.538461538</c:v>
                </c:pt>
                <c:pt idx="48">
                  <c:v>11.692307692</c:v>
                </c:pt>
                <c:pt idx="49">
                  <c:v>18</c:v>
                </c:pt>
                <c:pt idx="50">
                  <c:v>18</c:v>
                </c:pt>
                <c:pt idx="51">
                  <c:v>11.846153846</c:v>
                </c:pt>
                <c:pt idx="52">
                  <c:v>12</c:v>
                </c:pt>
                <c:pt idx="53">
                  <c:v>18</c:v>
                </c:pt>
                <c:pt idx="54">
                  <c:v>18</c:v>
                </c:pt>
                <c:pt idx="55">
                  <c:v>12.153846154</c:v>
                </c:pt>
                <c:pt idx="56">
                  <c:v>12.307692308</c:v>
                </c:pt>
                <c:pt idx="57">
                  <c:v>18</c:v>
                </c:pt>
                <c:pt idx="58">
                  <c:v>18</c:v>
                </c:pt>
                <c:pt idx="59">
                  <c:v>12.461538462</c:v>
                </c:pt>
                <c:pt idx="60">
                  <c:v>12.615384615</c:v>
                </c:pt>
                <c:pt idx="61">
                  <c:v>18</c:v>
                </c:pt>
                <c:pt idx="62">
                  <c:v>18</c:v>
                </c:pt>
                <c:pt idx="63">
                  <c:v>12.769230769</c:v>
                </c:pt>
                <c:pt idx="64">
                  <c:v>12.923076923</c:v>
                </c:pt>
                <c:pt idx="65">
                  <c:v>18</c:v>
                </c:pt>
                <c:pt idx="66">
                  <c:v>18</c:v>
                </c:pt>
                <c:pt idx="67">
                  <c:v>13.076923077</c:v>
                </c:pt>
                <c:pt idx="68">
                  <c:v>13.230769231</c:v>
                </c:pt>
                <c:pt idx="69">
                  <c:v>18</c:v>
                </c:pt>
                <c:pt idx="70">
                  <c:v>18</c:v>
                </c:pt>
                <c:pt idx="71">
                  <c:v>13.384615385</c:v>
                </c:pt>
                <c:pt idx="72">
                  <c:v>13.538461538</c:v>
                </c:pt>
                <c:pt idx="73">
                  <c:v>18</c:v>
                </c:pt>
                <c:pt idx="74">
                  <c:v>18</c:v>
                </c:pt>
                <c:pt idx="75">
                  <c:v>13.692307692</c:v>
                </c:pt>
                <c:pt idx="76">
                  <c:v>13.846153846</c:v>
                </c:pt>
                <c:pt idx="77">
                  <c:v>18</c:v>
                </c:pt>
                <c:pt idx="78">
                  <c:v>18</c:v>
                </c:pt>
                <c:pt idx="79">
                  <c:v>14</c:v>
                </c:pt>
                <c:pt idx="80">
                  <c:v>14.153846154</c:v>
                </c:pt>
                <c:pt idx="81">
                  <c:v>18</c:v>
                </c:pt>
                <c:pt idx="82">
                  <c:v>18</c:v>
                </c:pt>
                <c:pt idx="83">
                  <c:v>14.307692308</c:v>
                </c:pt>
                <c:pt idx="84">
                  <c:v>14.461538462</c:v>
                </c:pt>
                <c:pt idx="85">
                  <c:v>18</c:v>
                </c:pt>
                <c:pt idx="86">
                  <c:v>18</c:v>
                </c:pt>
                <c:pt idx="87">
                  <c:v>14.615384615</c:v>
                </c:pt>
                <c:pt idx="88">
                  <c:v>14.769230769</c:v>
                </c:pt>
                <c:pt idx="89">
                  <c:v>18</c:v>
                </c:pt>
                <c:pt idx="90">
                  <c:v>18</c:v>
                </c:pt>
                <c:pt idx="91">
                  <c:v>14.923076923</c:v>
                </c:pt>
                <c:pt idx="92">
                  <c:v>15.076923077</c:v>
                </c:pt>
                <c:pt idx="93">
                  <c:v>18</c:v>
                </c:pt>
                <c:pt idx="94">
                  <c:v>18</c:v>
                </c:pt>
                <c:pt idx="95">
                  <c:v>15.230769231</c:v>
                </c:pt>
                <c:pt idx="96">
                  <c:v>15.384615385</c:v>
                </c:pt>
                <c:pt idx="97">
                  <c:v>18</c:v>
                </c:pt>
                <c:pt idx="98">
                  <c:v>18</c:v>
                </c:pt>
                <c:pt idx="99">
                  <c:v>15.538461538</c:v>
                </c:pt>
                <c:pt idx="100">
                  <c:v>15.692307692</c:v>
                </c:pt>
                <c:pt idx="101">
                  <c:v>18</c:v>
                </c:pt>
                <c:pt idx="102">
                  <c:v>18</c:v>
                </c:pt>
                <c:pt idx="103">
                  <c:v>15.846153846</c:v>
                </c:pt>
                <c:pt idx="104">
                  <c:v>16</c:v>
                </c:pt>
                <c:pt idx="105">
                  <c:v>18</c:v>
                </c:pt>
                <c:pt idx="106">
                  <c:v>18</c:v>
                </c:pt>
                <c:pt idx="107">
                  <c:v>16.153846154</c:v>
                </c:pt>
                <c:pt idx="108">
                  <c:v>16.307692308</c:v>
                </c:pt>
                <c:pt idx="109">
                  <c:v>18</c:v>
                </c:pt>
                <c:pt idx="110">
                  <c:v>18</c:v>
                </c:pt>
                <c:pt idx="111">
                  <c:v>16.461538462</c:v>
                </c:pt>
                <c:pt idx="112">
                  <c:v>16.615384615</c:v>
                </c:pt>
                <c:pt idx="113">
                  <c:v>18</c:v>
                </c:pt>
                <c:pt idx="114">
                  <c:v>18</c:v>
                </c:pt>
                <c:pt idx="115">
                  <c:v>16.769230769</c:v>
                </c:pt>
                <c:pt idx="116">
                  <c:v>16.923076923</c:v>
                </c:pt>
                <c:pt idx="117">
                  <c:v>18</c:v>
                </c:pt>
                <c:pt idx="118">
                  <c:v>18</c:v>
                </c:pt>
                <c:pt idx="119">
                  <c:v>17.076923077</c:v>
                </c:pt>
                <c:pt idx="120">
                  <c:v>17.230769231</c:v>
                </c:pt>
                <c:pt idx="121">
                  <c:v>18</c:v>
                </c:pt>
                <c:pt idx="122">
                  <c:v>18</c:v>
                </c:pt>
                <c:pt idx="123">
                  <c:v>17.384615385</c:v>
                </c:pt>
                <c:pt idx="124">
                  <c:v>17.538461538</c:v>
                </c:pt>
                <c:pt idx="125">
                  <c:v>18</c:v>
                </c:pt>
                <c:pt idx="126">
                  <c:v>18</c:v>
                </c:pt>
                <c:pt idx="127">
                  <c:v>17.692307692</c:v>
                </c:pt>
                <c:pt idx="128">
                  <c:v>17.846153846</c:v>
                </c:pt>
                <c:pt idx="129">
                  <c:v>18</c:v>
                </c:pt>
                <c:pt idx="130">
                  <c:v>18</c:v>
                </c:pt>
                <c:pt idx="131">
                  <c:v>18</c:v>
                </c:pt>
              </c:numCache>
            </c:numRef>
          </c:yVal>
          <c:smooth val="0"/>
        </c:ser>
        <c:ser>
          <c:idx val="1"/>
          <c:order val="1"/>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160</c:v>
                </c:pt>
              </c:numCache>
            </c:numRef>
          </c:xVal>
          <c:yVal>
            <c:numRef>
              <c:f>'Chart Data'!$D$2:$D$3</c:f>
              <c:numCache>
                <c:formatCode>0</c:formatCode>
                <c:ptCount val="2"/>
                <c:pt idx="0">
                  <c:v>32</c:v>
                </c:pt>
                <c:pt idx="1">
                  <c:v>0</c:v>
                </c:pt>
              </c:numCache>
            </c:numRef>
          </c:yVal>
          <c:smooth val="0"/>
        </c:ser>
        <c:ser>
          <c:idx val="2"/>
          <c:order val="2"/>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144</c:v>
                </c:pt>
              </c:numCache>
            </c:numRef>
          </c:xVal>
          <c:yVal>
            <c:numRef>
              <c:f>'Chart Data'!$F$2:$F$3</c:f>
              <c:numCache>
                <c:formatCode>0</c:formatCode>
                <c:ptCount val="2"/>
                <c:pt idx="0">
                  <c:v>8</c:v>
                </c:pt>
                <c:pt idx="1">
                  <c:v>22.4</c:v>
                </c:pt>
              </c:numCache>
            </c:numRef>
          </c:yVal>
          <c:smooth val="0"/>
        </c:ser>
        <c:ser>
          <c:idx val="3"/>
          <c:order val="3"/>
          <c:tx>
            <c:v>Pc hulplijn</c:v>
          </c:tx>
          <c:spPr>
            <a:ln xmlns:a="http://schemas.openxmlformats.org/drawingml/2006/main" w="13335">
              <a:solidFill>
                <a:srgbClr val="445B6B"/>
              </a:solidFill>
            </a:ln>
          </c:spPr>
          <c:marker>
            <c:symbol val="none"/>
          </c:marker>
          <c:xVal>
            <c:numRef>
              <c:f>'Chart Data'!$G$2:$G$4</c:f>
              <c:numCache>
                <c:formatCode>General</c:formatCode>
                <c:ptCount val="3"/>
                <c:pt idx="0">
                  <c:v>0</c:v>
                </c:pt>
                <c:pt idx="1">
                  <c:v>100</c:v>
                </c:pt>
                <c:pt idx="2">
                  <c:v>100</c:v>
                </c:pt>
              </c:numCache>
            </c:numRef>
          </c:xVal>
          <c:yVal>
            <c:numRef>
              <c:f>'Chart Data'!$H$2:$H$4</c:f>
              <c:numCache>
                <c:formatCode>0</c:formatCode>
                <c:ptCount val="3"/>
                <c:pt idx="0">
                  <c:v>12</c:v>
                </c:pt>
                <c:pt idx="1">
                  <c:v>12</c:v>
                </c:pt>
                <c:pt idx="2">
                  <c:v>0</c:v>
                </c:pt>
              </c:numCache>
            </c:numRef>
          </c:yVal>
          <c:smooth val="0"/>
        </c:ser>
        <c:ser>
          <c:idx val="4"/>
          <c:order val="4"/>
          <c:tx>
            <c:v>Pp hulplijn</c:v>
          </c:tx>
          <c:spPr>
            <a:ln xmlns:a="http://schemas.openxmlformats.org/drawingml/2006/main" w="13335">
              <a:solidFill>
                <a:srgbClr val="445B6B"/>
              </a:solidFill>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18</c:v>
                </c:pt>
                <c:pt idx="1">
                  <c:v>18</c:v>
                </c:pt>
              </c:numCache>
            </c:numRef>
          </c:yVal>
          <c:smooth val="0"/>
        </c:ser>
        <c:ser>
          <c:idx val="5"/>
          <c:order val="5"/>
          <c:tx>
            <c:v>Subsidiewig</c:v>
          </c:tx>
          <c:spPr>
            <a:ln xmlns:a="http://schemas.openxmlformats.org/drawingml/2006/main" w="47625">
              <a:solidFill>
                <a:srgbClr val="A94D16"/>
              </a:solidFill>
            </a:ln>
          </c:spPr>
          <c:marker>
            <c:symbol val="none"/>
          </c:marker>
          <c:xVal>
            <c:numRef>
              <c:f>'Chart Data'!$K$2:$K$3</c:f>
              <c:numCache>
                <c:formatCode>General</c:formatCode>
                <c:ptCount val="2"/>
                <c:pt idx="0">
                  <c:v>100</c:v>
                </c:pt>
                <c:pt idx="1">
                  <c:v>100</c:v>
                </c:pt>
              </c:numCache>
            </c:numRef>
          </c:xVal>
          <c:yVal>
            <c:numRef>
              <c:f>'Chart Data'!$L$2:$L$3</c:f>
              <c:numCache>
                <c:formatCode>0</c:formatCode>
                <c:ptCount val="2"/>
                <c:pt idx="0">
                  <c:v>12</c:v>
                </c:pt>
                <c:pt idx="1">
                  <c:v>18</c:v>
                </c:pt>
              </c:numCache>
            </c:numRef>
          </c:yVal>
          <c:smooth val="0"/>
        </c:ser>
        <c:ser>
          <c:idx val="6"/>
          <c:order val="6"/>
          <c:tx>
            <c:v>Pc</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Data'!$M$2:$M$2</c:f>
              <c:numCache>
                <c:formatCode>General</c:formatCode>
                <c:ptCount val="1"/>
                <c:pt idx="0">
                  <c:v>100</c:v>
                </c:pt>
              </c:numCache>
            </c:numRef>
          </c:xVal>
          <c:yVal>
            <c:numRef>
              <c:f>'Chart Data'!$N$2:$N$2</c:f>
              <c:numCache>
                <c:formatCode>0</c:formatCode>
                <c:ptCount val="1"/>
                <c:pt idx="0">
                  <c:v>12</c:v>
                </c:pt>
              </c:numCache>
            </c:numRef>
          </c:yVal>
          <c:smooth val="0"/>
        </c:ser>
        <c:ser>
          <c:idx val="7"/>
          <c:order val="7"/>
          <c:tx>
            <c:v>Pp</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Data'!$O$2:$O$2</c:f>
              <c:numCache>
                <c:formatCode>General</c:formatCode>
                <c:ptCount val="1"/>
                <c:pt idx="0">
                  <c:v>100</c:v>
                </c:pt>
              </c:numCache>
            </c:numRef>
          </c:xVal>
          <c:yVal>
            <c:numRef>
              <c:f>'Chart Data'!$P$2:$P$2</c:f>
              <c:numCache>
                <c:formatCode>0</c:formatCode>
                <c:ptCount val="1"/>
                <c:pt idx="0">
                  <c:v>18</c:v>
                </c:pt>
              </c:numCache>
            </c:numRef>
          </c:yVal>
          <c:smooth val="0"/>
        </c:ser>
        <c:ser>
          <c:idx val="8"/>
          <c:order val="8"/>
          <c:tx>
            <c:v>PS label</c:v>
          </c:tx>
          <c:spPr>
            <a:ln xmlns:a="http://schemas.openxmlformats.org/drawingml/2006/main" w="0">
              <a:solidFill>
                <a:srgbClr val="183247"/>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Data'!$Q$2:$Q$2</c:f>
              <c:numCache>
                <c:formatCode>General</c:formatCode>
                <c:ptCount val="1"/>
                <c:pt idx="0">
                  <c:v>22</c:v>
                </c:pt>
              </c:numCache>
            </c:numRef>
          </c:xVal>
          <c:yVal>
            <c:numRef>
              <c:f>'Chart Data'!$R$2:$R$2</c:f>
              <c:numCache>
                <c:formatCode>0</c:formatCode>
                <c:ptCount val="1"/>
                <c:pt idx="0">
                  <c:v>14.1</c:v>
                </c:pt>
              </c:numCache>
            </c:numRef>
          </c:yVal>
          <c:smooth val="0"/>
        </c:ser>
        <c:ser>
          <c:idx val="9"/>
          <c:order val="9"/>
          <c:tx>
            <c:v>Pp annotation</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Pp = 18</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Data'!$S$2:$S$2</c:f>
              <c:numCache>
                <c:formatCode>General</c:formatCode>
                <c:ptCount val="1"/>
                <c:pt idx="0">
                  <c:v>100</c:v>
                </c:pt>
              </c:numCache>
            </c:numRef>
          </c:xVal>
          <c:yVal>
            <c:numRef>
              <c:f>'Chart Data'!$T$2:$T$2</c:f>
              <c:numCache>
                <c:formatCode>0</c:formatCode>
                <c:ptCount val="1"/>
                <c:pt idx="0">
                  <c:v>21</c:v>
                </c:pt>
              </c:numCache>
            </c:numRef>
          </c:yVal>
          <c:smooth val="0"/>
        </c:ser>
        <c:ser>
          <c:idx val="10"/>
          <c:order val="10"/>
          <c:tx>
            <c:v>Pc annotation</c:v>
          </c:tx>
          <c:spPr>
            <a:ln xmlns:a="http://schemas.openxmlformats.org/drawingml/2006/main" w="0">
              <a:solidFill>
                <a:srgbClr val="17658A"/>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Pc = 12</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Data'!$U$2:$U$2</c:f>
              <c:numCache>
                <c:formatCode>General</c:formatCode>
                <c:ptCount val="1"/>
                <c:pt idx="0">
                  <c:v>120</c:v>
                </c:pt>
              </c:numCache>
            </c:numRef>
          </c:xVal>
          <c:yVal>
            <c:numRef>
              <c:f>'Chart Data'!$V$2:$V$2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Marker"/>
        <c:ser>
          <c:idx val="0"/>
          <c:order val="0"/>
          <c:tx>
            <c:v>W</c:v>
          </c:tx>
          <c:spPr>
            <a:ln xmlns:a="http://schemas.openxmlformats.org/drawingml/2006/main" w="11430">
              <a:solidFill>
                <a:srgbClr val="D89870"/>
              </a:solidFill>
            </a:ln>
          </c:spPr>
          <c:marker>
            <c:symbol val="none"/>
          </c:marker>
          <c:xVal>
            <c:numRef>
              <c:f>'Chart Data'!$A$2:$A$133</c:f>
              <c:numCache>
                <c:formatCode>General</c:formatCode>
                <c:ptCount val="132"/>
                <c:pt idx="0">
                  <c:v>80</c:v>
                </c:pt>
                <c:pt idx="1">
                  <c:v>80</c:v>
                </c:pt>
                <c:pt idx="2">
                  <c:v>80.307692308</c:v>
                </c:pt>
                <c:pt idx="3">
                  <c:v>80.307692308</c:v>
                </c:pt>
                <c:pt idx="4">
                  <c:v>80.615384615</c:v>
                </c:pt>
                <c:pt idx="5">
                  <c:v>80.615384615</c:v>
                </c:pt>
                <c:pt idx="6">
                  <c:v>80.923076923</c:v>
                </c:pt>
                <c:pt idx="7">
                  <c:v>80.923076923</c:v>
                </c:pt>
                <c:pt idx="8">
                  <c:v>81.230769231</c:v>
                </c:pt>
                <c:pt idx="9">
                  <c:v>81.230769231</c:v>
                </c:pt>
                <c:pt idx="10">
                  <c:v>81.538461538</c:v>
                </c:pt>
                <c:pt idx="11">
                  <c:v>81.538461538</c:v>
                </c:pt>
                <c:pt idx="12">
                  <c:v>81.846153846</c:v>
                </c:pt>
                <c:pt idx="13">
                  <c:v>81.846153846</c:v>
                </c:pt>
                <c:pt idx="14">
                  <c:v>82.153846154</c:v>
                </c:pt>
                <c:pt idx="15">
                  <c:v>82.153846154</c:v>
                </c:pt>
                <c:pt idx="16">
                  <c:v>82.461538462</c:v>
                </c:pt>
                <c:pt idx="17">
                  <c:v>82.461538462</c:v>
                </c:pt>
                <c:pt idx="18">
                  <c:v>82.769230769</c:v>
                </c:pt>
                <c:pt idx="19">
                  <c:v>82.769230769</c:v>
                </c:pt>
                <c:pt idx="20">
                  <c:v>83.076923077</c:v>
                </c:pt>
                <c:pt idx="21">
                  <c:v>83.076923077</c:v>
                </c:pt>
                <c:pt idx="22">
                  <c:v>83.384615385</c:v>
                </c:pt>
                <c:pt idx="23">
                  <c:v>83.384615385</c:v>
                </c:pt>
                <c:pt idx="24">
                  <c:v>83.692307692</c:v>
                </c:pt>
                <c:pt idx="25">
                  <c:v>83.692307692</c:v>
                </c:pt>
                <c:pt idx="26">
                  <c:v>84</c:v>
                </c:pt>
                <c:pt idx="27">
                  <c:v>84</c:v>
                </c:pt>
                <c:pt idx="28">
                  <c:v>84.307692308</c:v>
                </c:pt>
                <c:pt idx="29">
                  <c:v>84.307692308</c:v>
                </c:pt>
                <c:pt idx="30">
                  <c:v>84.615384615</c:v>
                </c:pt>
                <c:pt idx="31">
                  <c:v>84.615384615</c:v>
                </c:pt>
                <c:pt idx="32">
                  <c:v>84.923076923</c:v>
                </c:pt>
                <c:pt idx="33">
                  <c:v>84.923076923</c:v>
                </c:pt>
                <c:pt idx="34">
                  <c:v>85.230769231</c:v>
                </c:pt>
                <c:pt idx="35">
                  <c:v>85.230769231</c:v>
                </c:pt>
                <c:pt idx="36">
                  <c:v>85.538461538</c:v>
                </c:pt>
                <c:pt idx="37">
                  <c:v>85.538461538</c:v>
                </c:pt>
                <c:pt idx="38">
                  <c:v>85.846153846</c:v>
                </c:pt>
                <c:pt idx="39">
                  <c:v>85.846153846</c:v>
                </c:pt>
                <c:pt idx="40">
                  <c:v>86.153846154</c:v>
                </c:pt>
                <c:pt idx="41">
                  <c:v>86.153846154</c:v>
                </c:pt>
                <c:pt idx="42">
                  <c:v>86.461538462</c:v>
                </c:pt>
                <c:pt idx="43">
                  <c:v>86.461538462</c:v>
                </c:pt>
                <c:pt idx="44">
                  <c:v>86.769230769</c:v>
                </c:pt>
                <c:pt idx="45">
                  <c:v>86.769230769</c:v>
                </c:pt>
                <c:pt idx="46">
                  <c:v>87.076923077</c:v>
                </c:pt>
                <c:pt idx="47">
                  <c:v>87.076923077</c:v>
                </c:pt>
                <c:pt idx="48">
                  <c:v>87.384615385</c:v>
                </c:pt>
                <c:pt idx="49">
                  <c:v>87.384615385</c:v>
                </c:pt>
                <c:pt idx="50">
                  <c:v>87.692307692</c:v>
                </c:pt>
                <c:pt idx="51">
                  <c:v>87.692307692</c:v>
                </c:pt>
                <c:pt idx="52">
                  <c:v>88</c:v>
                </c:pt>
                <c:pt idx="53">
                  <c:v>88</c:v>
                </c:pt>
                <c:pt idx="54">
                  <c:v>88.307692308</c:v>
                </c:pt>
                <c:pt idx="55">
                  <c:v>88.307692308</c:v>
                </c:pt>
                <c:pt idx="56">
                  <c:v>88.615384615</c:v>
                </c:pt>
                <c:pt idx="57">
                  <c:v>88.615384615</c:v>
                </c:pt>
                <c:pt idx="58">
                  <c:v>88.923076923</c:v>
                </c:pt>
                <c:pt idx="59">
                  <c:v>88.923076923</c:v>
                </c:pt>
                <c:pt idx="60">
                  <c:v>89.230769231</c:v>
                </c:pt>
                <c:pt idx="61">
                  <c:v>89.230769231</c:v>
                </c:pt>
                <c:pt idx="62">
                  <c:v>89.538461538</c:v>
                </c:pt>
                <c:pt idx="63">
                  <c:v>89.538461538</c:v>
                </c:pt>
                <c:pt idx="64">
                  <c:v>89.846153846</c:v>
                </c:pt>
                <c:pt idx="65">
                  <c:v>89.846153846</c:v>
                </c:pt>
                <c:pt idx="66">
                  <c:v>90.153846154</c:v>
                </c:pt>
                <c:pt idx="67">
                  <c:v>90.153846154</c:v>
                </c:pt>
                <c:pt idx="68">
                  <c:v>90.461538462</c:v>
                </c:pt>
                <c:pt idx="69">
                  <c:v>90.461538462</c:v>
                </c:pt>
                <c:pt idx="70">
                  <c:v>90.769230769</c:v>
                </c:pt>
                <c:pt idx="71">
                  <c:v>90.769230769</c:v>
                </c:pt>
                <c:pt idx="72">
                  <c:v>91.076923077</c:v>
                </c:pt>
                <c:pt idx="73">
                  <c:v>91.076923077</c:v>
                </c:pt>
                <c:pt idx="74">
                  <c:v>91.384615385</c:v>
                </c:pt>
                <c:pt idx="75">
                  <c:v>91.384615385</c:v>
                </c:pt>
                <c:pt idx="76">
                  <c:v>91.692307692</c:v>
                </c:pt>
                <c:pt idx="77">
                  <c:v>91.692307692</c:v>
                </c:pt>
                <c:pt idx="78">
                  <c:v>92</c:v>
                </c:pt>
                <c:pt idx="79">
                  <c:v>92</c:v>
                </c:pt>
                <c:pt idx="80">
                  <c:v>92.307692308</c:v>
                </c:pt>
                <c:pt idx="81">
                  <c:v>92.307692308</c:v>
                </c:pt>
                <c:pt idx="82">
                  <c:v>92.615384615</c:v>
                </c:pt>
                <c:pt idx="83">
                  <c:v>92.615384615</c:v>
                </c:pt>
                <c:pt idx="84">
                  <c:v>92.923076923</c:v>
                </c:pt>
                <c:pt idx="85">
                  <c:v>92.923076923</c:v>
                </c:pt>
                <c:pt idx="86">
                  <c:v>93.230769231</c:v>
                </c:pt>
                <c:pt idx="87">
                  <c:v>93.230769231</c:v>
                </c:pt>
                <c:pt idx="88">
                  <c:v>93.538461538</c:v>
                </c:pt>
                <c:pt idx="89">
                  <c:v>93.538461538</c:v>
                </c:pt>
                <c:pt idx="90">
                  <c:v>93.846153846</c:v>
                </c:pt>
                <c:pt idx="91">
                  <c:v>93.846153846</c:v>
                </c:pt>
                <c:pt idx="92">
                  <c:v>94.153846154</c:v>
                </c:pt>
                <c:pt idx="93">
                  <c:v>94.153846154</c:v>
                </c:pt>
                <c:pt idx="94">
                  <c:v>94.461538462</c:v>
                </c:pt>
                <c:pt idx="95">
                  <c:v>94.461538462</c:v>
                </c:pt>
                <c:pt idx="96">
                  <c:v>94.769230769</c:v>
                </c:pt>
                <c:pt idx="97">
                  <c:v>94.769230769</c:v>
                </c:pt>
                <c:pt idx="98">
                  <c:v>95.076923077</c:v>
                </c:pt>
                <c:pt idx="99">
                  <c:v>95.076923077</c:v>
                </c:pt>
                <c:pt idx="100">
                  <c:v>95.384615385</c:v>
                </c:pt>
                <c:pt idx="101">
                  <c:v>95.384615385</c:v>
                </c:pt>
                <c:pt idx="102">
                  <c:v>95.692307692</c:v>
                </c:pt>
                <c:pt idx="103">
                  <c:v>95.692307692</c:v>
                </c:pt>
                <c:pt idx="104">
                  <c:v>96</c:v>
                </c:pt>
                <c:pt idx="105">
                  <c:v>96</c:v>
                </c:pt>
                <c:pt idx="106">
                  <c:v>96.307692308</c:v>
                </c:pt>
                <c:pt idx="107">
                  <c:v>96.307692308</c:v>
                </c:pt>
                <c:pt idx="108">
                  <c:v>96.615384615</c:v>
                </c:pt>
                <c:pt idx="109">
                  <c:v>96.615384615</c:v>
                </c:pt>
                <c:pt idx="110">
                  <c:v>96.923076923</c:v>
                </c:pt>
                <c:pt idx="111">
                  <c:v>96.923076923</c:v>
                </c:pt>
                <c:pt idx="112">
                  <c:v>97.230769231</c:v>
                </c:pt>
                <c:pt idx="113">
                  <c:v>97.230769231</c:v>
                </c:pt>
                <c:pt idx="114">
                  <c:v>97.538461538</c:v>
                </c:pt>
                <c:pt idx="115">
                  <c:v>97.538461538</c:v>
                </c:pt>
                <c:pt idx="116">
                  <c:v>97.846153846</c:v>
                </c:pt>
                <c:pt idx="117">
                  <c:v>97.846153846</c:v>
                </c:pt>
                <c:pt idx="118">
                  <c:v>98.153846154</c:v>
                </c:pt>
                <c:pt idx="119">
                  <c:v>98.153846154</c:v>
                </c:pt>
                <c:pt idx="120">
                  <c:v>98.461538462</c:v>
                </c:pt>
                <c:pt idx="121">
                  <c:v>98.461538462</c:v>
                </c:pt>
                <c:pt idx="122">
                  <c:v>98.769230769</c:v>
                </c:pt>
                <c:pt idx="123">
                  <c:v>98.769230769</c:v>
                </c:pt>
                <c:pt idx="124">
                  <c:v>99.076923077</c:v>
                </c:pt>
                <c:pt idx="125">
                  <c:v>99.076923077</c:v>
                </c:pt>
                <c:pt idx="126">
                  <c:v>99.384615385</c:v>
                </c:pt>
                <c:pt idx="127">
                  <c:v>99.384615385</c:v>
                </c:pt>
                <c:pt idx="128">
                  <c:v>99.692307692</c:v>
                </c:pt>
                <c:pt idx="129">
                  <c:v>99.692307692</c:v>
                </c:pt>
                <c:pt idx="130">
                  <c:v>100</c:v>
                </c:pt>
                <c:pt idx="131">
                  <c:v>100</c:v>
                </c:pt>
              </c:numCache>
            </c:numRef>
          </c:xVal>
          <c:yVal>
            <c:numRef>
              <c:f>'Chart Data'!$B$2:$B$133</c:f>
              <c:numCache>
                <c:formatCode>0</c:formatCode>
                <c:ptCount val="132"/>
                <c:pt idx="0">
                  <c:v>16</c:v>
                </c:pt>
                <c:pt idx="1">
                  <c:v>16</c:v>
                </c:pt>
                <c:pt idx="2">
                  <c:v>16.030769231</c:v>
                </c:pt>
                <c:pt idx="3">
                  <c:v>15.938461538</c:v>
                </c:pt>
                <c:pt idx="4">
                  <c:v>15.876923077</c:v>
                </c:pt>
                <c:pt idx="5">
                  <c:v>16.061538462</c:v>
                </c:pt>
                <c:pt idx="6">
                  <c:v>16.092307692</c:v>
                </c:pt>
                <c:pt idx="7">
                  <c:v>15.815384615</c:v>
                </c:pt>
                <c:pt idx="8">
                  <c:v>15.753846154</c:v>
                </c:pt>
                <c:pt idx="9">
                  <c:v>16.123076923</c:v>
                </c:pt>
                <c:pt idx="10">
                  <c:v>16.153846154</c:v>
                </c:pt>
                <c:pt idx="11">
                  <c:v>15.692307692</c:v>
                </c:pt>
                <c:pt idx="12">
                  <c:v>15.630769231</c:v>
                </c:pt>
                <c:pt idx="13">
                  <c:v>16.184615385</c:v>
                </c:pt>
                <c:pt idx="14">
                  <c:v>16.215384615</c:v>
                </c:pt>
                <c:pt idx="15">
                  <c:v>15.569230769</c:v>
                </c:pt>
                <c:pt idx="16">
                  <c:v>15.507692308</c:v>
                </c:pt>
                <c:pt idx="17">
                  <c:v>16.246153846</c:v>
                </c:pt>
                <c:pt idx="18">
                  <c:v>16.276923077</c:v>
                </c:pt>
                <c:pt idx="19">
                  <c:v>15.446153846</c:v>
                </c:pt>
                <c:pt idx="20">
                  <c:v>15.384615385</c:v>
                </c:pt>
                <c:pt idx="21">
                  <c:v>16.307692308</c:v>
                </c:pt>
                <c:pt idx="22">
                  <c:v>16.338461538</c:v>
                </c:pt>
                <c:pt idx="23">
                  <c:v>15.323076923</c:v>
                </c:pt>
                <c:pt idx="24">
                  <c:v>15.261538462</c:v>
                </c:pt>
                <c:pt idx="25">
                  <c:v>16.369230769</c:v>
                </c:pt>
                <c:pt idx="26">
                  <c:v>16.4</c:v>
                </c:pt>
                <c:pt idx="27">
                  <c:v>15.2</c:v>
                </c:pt>
                <c:pt idx="28">
                  <c:v>15.138461538</c:v>
                </c:pt>
                <c:pt idx="29">
                  <c:v>16.430769231</c:v>
                </c:pt>
                <c:pt idx="30">
                  <c:v>16.461538462</c:v>
                </c:pt>
                <c:pt idx="31">
                  <c:v>15.076923077</c:v>
                </c:pt>
                <c:pt idx="32">
                  <c:v>15.015384615</c:v>
                </c:pt>
                <c:pt idx="33">
                  <c:v>16.492307692</c:v>
                </c:pt>
                <c:pt idx="34">
                  <c:v>16.523076923</c:v>
                </c:pt>
                <c:pt idx="35">
                  <c:v>14.953846154</c:v>
                </c:pt>
                <c:pt idx="36">
                  <c:v>14.892307692</c:v>
                </c:pt>
                <c:pt idx="37">
                  <c:v>16.553846154</c:v>
                </c:pt>
                <c:pt idx="38">
                  <c:v>16.584615385</c:v>
                </c:pt>
                <c:pt idx="39">
                  <c:v>14.830769231</c:v>
                </c:pt>
                <c:pt idx="40">
                  <c:v>14.769230769</c:v>
                </c:pt>
                <c:pt idx="41">
                  <c:v>16.615384615</c:v>
                </c:pt>
                <c:pt idx="42">
                  <c:v>16.646153846</c:v>
                </c:pt>
                <c:pt idx="43">
                  <c:v>14.707692308</c:v>
                </c:pt>
                <c:pt idx="44">
                  <c:v>14.646153846</c:v>
                </c:pt>
                <c:pt idx="45">
                  <c:v>16.676923077</c:v>
                </c:pt>
                <c:pt idx="46">
                  <c:v>16.707692308</c:v>
                </c:pt>
                <c:pt idx="47">
                  <c:v>14.584615385</c:v>
                </c:pt>
                <c:pt idx="48">
                  <c:v>14.523076923</c:v>
                </c:pt>
                <c:pt idx="49">
                  <c:v>16.738461538</c:v>
                </c:pt>
                <c:pt idx="50">
                  <c:v>16.769230769</c:v>
                </c:pt>
                <c:pt idx="51">
                  <c:v>14.461538462</c:v>
                </c:pt>
                <c:pt idx="52">
                  <c:v>14.4</c:v>
                </c:pt>
                <c:pt idx="53">
                  <c:v>16.8</c:v>
                </c:pt>
                <c:pt idx="54">
                  <c:v>16.830769231</c:v>
                </c:pt>
                <c:pt idx="55">
                  <c:v>14.338461538</c:v>
                </c:pt>
                <c:pt idx="56">
                  <c:v>14.276923077</c:v>
                </c:pt>
                <c:pt idx="57">
                  <c:v>16.861538462</c:v>
                </c:pt>
                <c:pt idx="58">
                  <c:v>16.892307692</c:v>
                </c:pt>
                <c:pt idx="59">
                  <c:v>14.215384615</c:v>
                </c:pt>
                <c:pt idx="60">
                  <c:v>14.153846154</c:v>
                </c:pt>
                <c:pt idx="61">
                  <c:v>16.923076923</c:v>
                </c:pt>
                <c:pt idx="62">
                  <c:v>16.953846154</c:v>
                </c:pt>
                <c:pt idx="63">
                  <c:v>14.092307692</c:v>
                </c:pt>
                <c:pt idx="64">
                  <c:v>14.030769231</c:v>
                </c:pt>
                <c:pt idx="65">
                  <c:v>16.984615385</c:v>
                </c:pt>
                <c:pt idx="66">
                  <c:v>17.015384615</c:v>
                </c:pt>
                <c:pt idx="67">
                  <c:v>13.969230769</c:v>
                </c:pt>
                <c:pt idx="68">
                  <c:v>13.907692308</c:v>
                </c:pt>
                <c:pt idx="69">
                  <c:v>17.046153846</c:v>
                </c:pt>
                <c:pt idx="70">
                  <c:v>17.076923077</c:v>
                </c:pt>
                <c:pt idx="71">
                  <c:v>13.846153846</c:v>
                </c:pt>
                <c:pt idx="72">
                  <c:v>13.784615385</c:v>
                </c:pt>
                <c:pt idx="73">
                  <c:v>17.107692308</c:v>
                </c:pt>
                <c:pt idx="74">
                  <c:v>17.138461538</c:v>
                </c:pt>
                <c:pt idx="75">
                  <c:v>13.723076923</c:v>
                </c:pt>
                <c:pt idx="76">
                  <c:v>13.661538462</c:v>
                </c:pt>
                <c:pt idx="77">
                  <c:v>17.169230769</c:v>
                </c:pt>
                <c:pt idx="78">
                  <c:v>17.2</c:v>
                </c:pt>
                <c:pt idx="79">
                  <c:v>13.6</c:v>
                </c:pt>
                <c:pt idx="80">
                  <c:v>13.538461538</c:v>
                </c:pt>
                <c:pt idx="81">
                  <c:v>17.230769231</c:v>
                </c:pt>
                <c:pt idx="82">
                  <c:v>17.261538462</c:v>
                </c:pt>
                <c:pt idx="83">
                  <c:v>13.476923077</c:v>
                </c:pt>
                <c:pt idx="84">
                  <c:v>13.415384615</c:v>
                </c:pt>
                <c:pt idx="85">
                  <c:v>17.292307692</c:v>
                </c:pt>
                <c:pt idx="86">
                  <c:v>17.323076923</c:v>
                </c:pt>
                <c:pt idx="87">
                  <c:v>13.353846154</c:v>
                </c:pt>
                <c:pt idx="88">
                  <c:v>13.292307692</c:v>
                </c:pt>
                <c:pt idx="89">
                  <c:v>17.353846154</c:v>
                </c:pt>
                <c:pt idx="90">
                  <c:v>17.384615385</c:v>
                </c:pt>
                <c:pt idx="91">
                  <c:v>13.230769231</c:v>
                </c:pt>
                <c:pt idx="92">
                  <c:v>13.169230769</c:v>
                </c:pt>
                <c:pt idx="93">
                  <c:v>17.415384615</c:v>
                </c:pt>
                <c:pt idx="94">
                  <c:v>17.446153846</c:v>
                </c:pt>
                <c:pt idx="95">
                  <c:v>13.107692308</c:v>
                </c:pt>
                <c:pt idx="96">
                  <c:v>13.046153846</c:v>
                </c:pt>
                <c:pt idx="97">
                  <c:v>17.476923077</c:v>
                </c:pt>
                <c:pt idx="98">
                  <c:v>17.507692308</c:v>
                </c:pt>
                <c:pt idx="99">
                  <c:v>12.984615385</c:v>
                </c:pt>
                <c:pt idx="100">
                  <c:v>12.923076923</c:v>
                </c:pt>
                <c:pt idx="101">
                  <c:v>17.538461538</c:v>
                </c:pt>
                <c:pt idx="102">
                  <c:v>17.569230769</c:v>
                </c:pt>
                <c:pt idx="103">
                  <c:v>12.861538462</c:v>
                </c:pt>
                <c:pt idx="104">
                  <c:v>12.8</c:v>
                </c:pt>
                <c:pt idx="105">
                  <c:v>17.6</c:v>
                </c:pt>
                <c:pt idx="106">
                  <c:v>17.630769231</c:v>
                </c:pt>
                <c:pt idx="107">
                  <c:v>12.738461538</c:v>
                </c:pt>
                <c:pt idx="108">
                  <c:v>12.676923077</c:v>
                </c:pt>
                <c:pt idx="109">
                  <c:v>17.661538462</c:v>
                </c:pt>
                <c:pt idx="110">
                  <c:v>17.692307692</c:v>
                </c:pt>
                <c:pt idx="111">
                  <c:v>12.615384615</c:v>
                </c:pt>
                <c:pt idx="112">
                  <c:v>12.553846154</c:v>
                </c:pt>
                <c:pt idx="113">
                  <c:v>17.723076923</c:v>
                </c:pt>
                <c:pt idx="114">
                  <c:v>17.753846154</c:v>
                </c:pt>
                <c:pt idx="115">
                  <c:v>12.492307692</c:v>
                </c:pt>
                <c:pt idx="116">
                  <c:v>12.430769231</c:v>
                </c:pt>
                <c:pt idx="117">
                  <c:v>17.784615385</c:v>
                </c:pt>
                <c:pt idx="118">
                  <c:v>17.815384615</c:v>
                </c:pt>
                <c:pt idx="119">
                  <c:v>12.369230769</c:v>
                </c:pt>
                <c:pt idx="120">
                  <c:v>12.307692308</c:v>
                </c:pt>
                <c:pt idx="121">
                  <c:v>17.846153846</c:v>
                </c:pt>
                <c:pt idx="122">
                  <c:v>17.876923077</c:v>
                </c:pt>
                <c:pt idx="123">
                  <c:v>12.246153846</c:v>
                </c:pt>
                <c:pt idx="124">
                  <c:v>12.184615385</c:v>
                </c:pt>
                <c:pt idx="125">
                  <c:v>17.907692308</c:v>
                </c:pt>
                <c:pt idx="126">
                  <c:v>17.938461538</c:v>
                </c:pt>
                <c:pt idx="127">
                  <c:v>12.123076923</c:v>
                </c:pt>
                <c:pt idx="128">
                  <c:v>12.061538462</c:v>
                </c:pt>
                <c:pt idx="129">
                  <c:v>17.969230769</c:v>
                </c:pt>
                <c:pt idx="130">
                  <c:v>18</c:v>
                </c:pt>
                <c:pt idx="131">
                  <c:v>12</c:v>
                </c:pt>
              </c:numCache>
            </c:numRef>
          </c:yVal>
          <c:smooth val="0"/>
        </c:ser>
        <c:ser>
          <c:idx val="1"/>
          <c:order val="1"/>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160</c:v>
                </c:pt>
              </c:numCache>
            </c:numRef>
          </c:xVal>
          <c:yVal>
            <c:numRef>
              <c:f>'Chart Data'!$D$2:$D$3</c:f>
              <c:numCache>
                <c:formatCode>0</c:formatCode>
                <c:ptCount val="2"/>
                <c:pt idx="0">
                  <c:v>32</c:v>
                </c:pt>
                <c:pt idx="1">
                  <c:v>0</c:v>
                </c:pt>
              </c:numCache>
            </c:numRef>
          </c:yVal>
          <c:smooth val="0"/>
        </c:ser>
        <c:ser>
          <c:idx val="2"/>
          <c:order val="2"/>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144</c:v>
                </c:pt>
              </c:numCache>
            </c:numRef>
          </c:xVal>
          <c:yVal>
            <c:numRef>
              <c:f>'Chart Data'!$F$2:$F$3</c:f>
              <c:numCache>
                <c:formatCode>0</c:formatCode>
                <c:ptCount val="2"/>
                <c:pt idx="0">
                  <c:v>8</c:v>
                </c:pt>
                <c:pt idx="1">
                  <c:v>22.4</c:v>
                </c:pt>
              </c:numCache>
            </c:numRef>
          </c:yVal>
          <c:smooth val="0"/>
        </c:ser>
        <c:ser>
          <c:idx val="3"/>
          <c:order val="3"/>
          <c:tx>
            <c:v>Oude hulplijnen</c:v>
          </c:tx>
          <c:spPr>
            <a:ln xmlns:a="http://schemas.openxmlformats.org/drawingml/2006/main" w="12383">
              <a:solidFill>
                <a:srgbClr val="445B6B"/>
              </a:solidFill>
            </a:ln>
          </c:spPr>
          <c:marker>
            <c:symbol val="none"/>
          </c:marker>
          <c:xVal>
            <c:numRef>
              <c:f>'Chart Data'!$G$2:$G$4</c:f>
              <c:numCache>
                <c:formatCode>General</c:formatCode>
                <c:ptCount val="3"/>
                <c:pt idx="0">
                  <c:v>0</c:v>
                </c:pt>
                <c:pt idx="1">
                  <c:v>80</c:v>
                </c:pt>
                <c:pt idx="2">
                  <c:v>80</c:v>
                </c:pt>
              </c:numCache>
            </c:numRef>
          </c:xVal>
          <c:yVal>
            <c:numRef>
              <c:f>'Chart Data'!$H$2:$H$4</c:f>
              <c:numCache>
                <c:formatCode>0</c:formatCode>
                <c:ptCount val="3"/>
                <c:pt idx="0">
                  <c:v>16</c:v>
                </c:pt>
                <c:pt idx="1">
                  <c:v>16</c:v>
                </c:pt>
                <c:pt idx="2">
                  <c:v>0</c:v>
                </c:pt>
              </c:numCache>
            </c:numRef>
          </c:yVal>
          <c:smooth val="0"/>
        </c:ser>
        <c:ser>
          <c:idx val="4"/>
          <c:order val="4"/>
          <c:tx>
            <c:v>Vrij evenwicht</c:v>
          </c:tx>
          <c:spPr>
            <a:ln xmlns:a="http://schemas.openxmlformats.org/drawingml/2006/main" w="0">
              <a:solidFill>
                <a:srgbClr val="183247"/>
              </a:solidFill>
            </a:ln>
          </c:spPr>
          <c:marker>
            <c:symbol val="circle"/>
            <c:size val="9"/>
            <c:spPr>
              <a:solidFill xmlns:a="http://schemas.openxmlformats.org/drawingml/2006/main">
                <a:srgbClr val="183247"/>
              </a:solidFill>
            </c:spPr>
          </c:marker>
          <c:xVal>
            <c:numRef>
              <c:f>'Chart Data'!$I$2:$I$2</c:f>
              <c:numCache>
                <c:formatCode>General</c:formatCode>
                <c:ptCount val="1"/>
                <c:pt idx="0">
                  <c:v>80</c:v>
                </c:pt>
              </c:numCache>
            </c:numRef>
          </c:xVal>
          <c:yVal>
            <c:numRef>
              <c:f>'Chart Data'!$J$2:$J$2</c:f>
              <c:numCache>
                <c:formatCode>0</c:formatCode>
                <c:ptCount val="1"/>
                <c:pt idx="0">
                  <c:v>16</c:v>
                </c:pt>
              </c:numCache>
            </c:numRef>
          </c:yVal>
          <c:smooth val="0"/>
        </c:ser>
        <c:ser>
          <c:idx val="5"/>
          <c:order val="5"/>
          <c:tx>
            <c:v>Pc hulplijn</c:v>
          </c:tx>
          <c:spPr>
            <a:ln xmlns:a="http://schemas.openxmlformats.org/drawingml/2006/main" w="13335">
              <a:solidFill>
                <a:srgbClr val="445B6B"/>
              </a:solidFill>
            </a:ln>
          </c:spPr>
          <c:marker>
            <c:symbol val="none"/>
          </c:marker>
          <c:xVal>
            <c:numRef>
              <c:f>'Chart Data'!$K$2:$K$4</c:f>
              <c:numCache>
                <c:formatCode>General</c:formatCode>
                <c:ptCount val="3"/>
                <c:pt idx="0">
                  <c:v>0</c:v>
                </c:pt>
                <c:pt idx="1">
                  <c:v>100</c:v>
                </c:pt>
                <c:pt idx="2">
                  <c:v>100</c:v>
                </c:pt>
              </c:numCache>
            </c:numRef>
          </c:xVal>
          <c:yVal>
            <c:numRef>
              <c:f>'Chart Data'!$L$2:$L$4</c:f>
              <c:numCache>
                <c:formatCode>0</c:formatCode>
                <c:ptCount val="3"/>
                <c:pt idx="0">
                  <c:v>12</c:v>
                </c:pt>
                <c:pt idx="1">
                  <c:v>12</c:v>
                </c:pt>
                <c:pt idx="2">
                  <c:v>0</c:v>
                </c:pt>
              </c:numCache>
            </c:numRef>
          </c:yVal>
          <c:smooth val="0"/>
        </c:ser>
        <c:ser>
          <c:idx val="6"/>
          <c:order val="6"/>
          <c:tx>
            <c:v>Pp hulplijn</c:v>
          </c:tx>
          <c:spPr>
            <a:ln xmlns:a="http://schemas.openxmlformats.org/drawingml/2006/main" w="13335">
              <a:solidFill>
                <a:srgbClr val="445B6B"/>
              </a:solidFill>
            </a:ln>
          </c:spPr>
          <c:marker>
            <c:symbol val="none"/>
          </c:marker>
          <c:xVal>
            <c:numRef>
              <c:f>'Chart Data'!$M$2:$M$3</c:f>
              <c:numCache>
                <c:formatCode>General</c:formatCode>
                <c:ptCount val="2"/>
                <c:pt idx="0">
                  <c:v>0</c:v>
                </c:pt>
                <c:pt idx="1">
                  <c:v>100</c:v>
                </c:pt>
              </c:numCache>
            </c:numRef>
          </c:xVal>
          <c:yVal>
            <c:numRef>
              <c:f>'Chart Data'!$N$2:$N$3</c:f>
              <c:numCache>
                <c:formatCode>0</c:formatCode>
                <c:ptCount val="2"/>
                <c:pt idx="0">
                  <c:v>18</c:v>
                </c:pt>
                <c:pt idx="1">
                  <c:v>18</c:v>
                </c:pt>
              </c:numCache>
            </c:numRef>
          </c:yVal>
          <c:smooth val="0"/>
        </c:ser>
        <c:ser>
          <c:idx val="7"/>
          <c:order val="7"/>
          <c:tx>
            <c:v>Subsidiewig</c:v>
          </c:tx>
          <c:spPr>
            <a:ln xmlns:a="http://schemas.openxmlformats.org/drawingml/2006/main" w="47625">
              <a:solidFill>
                <a:srgbClr val="A94D16"/>
              </a:solidFill>
            </a:ln>
          </c:spPr>
          <c:marker>
            <c:symbol val="none"/>
          </c:marker>
          <c:xVal>
            <c:numRef>
              <c:f>'Chart Data'!$O$2:$O$3</c:f>
              <c:numCache>
                <c:formatCode>General</c:formatCode>
                <c:ptCount val="2"/>
                <c:pt idx="0">
                  <c:v>100</c:v>
                </c:pt>
                <c:pt idx="1">
                  <c:v>100</c:v>
                </c:pt>
              </c:numCache>
            </c:numRef>
          </c:xVal>
          <c:yVal>
            <c:numRef>
              <c:f>'Chart Data'!$P$2:$P$3</c:f>
              <c:numCache>
                <c:formatCode>0</c:formatCode>
                <c:ptCount val="2"/>
                <c:pt idx="0">
                  <c:v>12</c:v>
                </c:pt>
                <c:pt idx="1">
                  <c:v>18</c:v>
                </c:pt>
              </c:numCache>
            </c:numRef>
          </c:yVal>
          <c:smooth val="0"/>
        </c:ser>
        <c:ser>
          <c:idx val="8"/>
          <c:order val="8"/>
          <c:tx>
            <c:v>Pc</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Data'!$Q$2:$Q$2</c:f>
              <c:numCache>
                <c:formatCode>General</c:formatCode>
                <c:ptCount val="1"/>
                <c:pt idx="0">
                  <c:v>100</c:v>
                </c:pt>
              </c:numCache>
            </c:numRef>
          </c:xVal>
          <c:yVal>
            <c:numRef>
              <c:f>'Chart Data'!$R$2:$R$2</c:f>
              <c:numCache>
                <c:formatCode>0</c:formatCode>
                <c:ptCount val="1"/>
                <c:pt idx="0">
                  <c:v>12</c:v>
                </c:pt>
              </c:numCache>
            </c:numRef>
          </c:yVal>
          <c:smooth val="0"/>
        </c:ser>
        <c:ser>
          <c:idx val="9"/>
          <c:order val="9"/>
          <c:tx>
            <c:v>Pp</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Data'!$S$2:$S$2</c:f>
              <c:numCache>
                <c:formatCode>General</c:formatCode>
                <c:ptCount val="1"/>
                <c:pt idx="0">
                  <c:v>100</c:v>
                </c:pt>
              </c:numCache>
            </c:numRef>
          </c:xVal>
          <c:yVal>
            <c:numRef>
              <c:f>'Chart Data'!$T$2:$T$2</c:f>
              <c:numCache>
                <c:formatCode>0</c:formatCode>
                <c:ptCount val="1"/>
                <c:pt idx="0">
                  <c:v>18</c:v>
                </c:pt>
              </c:numCache>
            </c:numRef>
          </c:yVal>
          <c:smooth val="0"/>
        </c:ser>
        <c:ser>
          <c:idx val="10"/>
          <c:order val="10"/>
          <c:tx>
            <c:v>W grens</c:v>
          </c:tx>
          <c:spPr>
            <a:ln xmlns:a="http://schemas.openxmlformats.org/drawingml/2006/main" w="28575">
              <a:solidFill>
                <a:srgbClr val="A94D16"/>
              </a:solidFill>
            </a:ln>
          </c:spPr>
          <c:marker>
            <c:symbol val="none"/>
          </c:marker>
          <c:xVal>
            <c:numRef>
              <c:f>'Chart Data'!$U$2:$U$5</c:f>
              <c:numCache>
                <c:formatCode>General</c:formatCode>
                <c:ptCount val="4"/>
                <c:pt idx="0">
                  <c:v>80</c:v>
                </c:pt>
                <c:pt idx="1">
                  <c:v>100</c:v>
                </c:pt>
                <c:pt idx="2">
                  <c:v>100</c:v>
                </c:pt>
                <c:pt idx="3">
                  <c:v>80</c:v>
                </c:pt>
              </c:numCache>
            </c:numRef>
          </c:xVal>
          <c:yVal>
            <c:numRef>
              <c:f>'Chart Data'!$V$2:$V$5</c:f>
              <c:numCache>
                <c:formatCode>0</c:formatCode>
                <c:ptCount val="4"/>
                <c:pt idx="0">
                  <c:v>16</c:v>
                </c:pt>
                <c:pt idx="1">
                  <c:v>12</c:v>
                </c:pt>
                <c:pt idx="2">
                  <c:v>18</c:v>
                </c:pt>
                <c:pt idx="3">
                  <c:v>16</c:v>
                </c:pt>
              </c:numCache>
            </c:numRef>
          </c:yVal>
          <c:smooth val="0"/>
        </c:ser>
        <c:ser>
          <c:idx val="11"/>
          <c:order val="11"/>
          <c:tx>
            <c:v>Pp annotation</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Pp = 18</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Data'!$W$2:$W$2</c:f>
              <c:numCache>
                <c:formatCode>General</c:formatCode>
                <c:ptCount val="1"/>
                <c:pt idx="0">
                  <c:v>100</c:v>
                </c:pt>
              </c:numCache>
            </c:numRef>
          </c:xVal>
          <c:yVal>
            <c:numRef>
              <c:f>'Chart Data'!$X$2:$X$2</c:f>
              <c:numCache>
                <c:formatCode>0</c:formatCode>
                <c:ptCount val="1"/>
                <c:pt idx="0">
                  <c:v>21</c:v>
                </c:pt>
              </c:numCache>
            </c:numRef>
          </c:yVal>
          <c:smooth val="0"/>
        </c:ser>
        <c:ser>
          <c:idx val="12"/>
          <c:order val="12"/>
          <c:tx>
            <c:v>Pc annotation</c:v>
          </c:tx>
          <c:spPr>
            <a:ln xmlns:a="http://schemas.openxmlformats.org/drawingml/2006/main" w="0">
              <a:solidFill>
                <a:srgbClr val="17658A"/>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Pc = 12</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Data'!$Y$2:$Y$2</c:f>
              <c:numCache>
                <c:formatCode>General</c:formatCode>
                <c:ptCount val="1"/>
                <c:pt idx="0">
                  <c:v>120</c:v>
                </c:pt>
              </c:numCache>
            </c:numRef>
          </c:xVal>
          <c:yVal>
            <c:numRef>
              <c:f>'Chart Data'!$Z$2:$Z$2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controle)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6"/>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(controles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Data'!$A$2:$A$3</c:f>
              <c:numCache>
                <c:formatCode>General</c:formatCode>
                <c:ptCount val="2"/>
                <c:pt idx="0">
                  <c:v>0</c:v>
                </c:pt>
                <c:pt idx="1">
                  <c:v>130</c:v>
                </c:pt>
              </c:numCache>
            </c:numRef>
          </c:xVal>
          <c:yVal>
            <c:numRef>
              <c:f>'Chart Data'!$B$2:$B$3</c:f>
              <c:numCache>
                <c:formatCode>0</c:formatCode>
                <c:ptCount val="2"/>
                <c:pt idx="0">
                  <c:v>26</c:v>
                </c:pt>
                <c:pt idx="1">
                  <c:v>0</c:v>
                </c:pt>
              </c:numCache>
            </c:numRef>
          </c:yVal>
          <c:smooth val="0"/>
        </c:ser>
        <c:ser>
          <c:idx val="1"/>
          <c:order val="1"/>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126</c:v>
                </c:pt>
              </c:numCache>
            </c:numRef>
          </c:xVal>
          <c:yVal>
            <c:numRef>
              <c:f>'Chart Data'!$D$2:$D$3</c:f>
              <c:numCache>
                <c:formatCode>0</c:formatCode>
                <c:ptCount val="2"/>
                <c:pt idx="0">
                  <c:v>8</c:v>
                </c:pt>
                <c:pt idx="1">
                  <c:v>20.6</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cursusplaats)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5"/>
      </c:valAx>
      <c:valAx>
        <c:axId val="48650112"/>
        <c:scaling>
          <c:orientation val="minMax"/>
          <c:max val="14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(cursusplaatsen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scatterChart>
        <c:scatterStyle val="lineMarker"/>
        <c:ser>
          <c:idx val="0"/>
          <c:order val="0"/>
          <c:tx>
            <c:v>U</c:v>
          </c:tx>
          <c:spPr>
            <a:ln xmlns:a="http://schemas.openxmlformats.org/drawingml/2006/main" w="11430">
              <a:solidFill>
                <a:srgbClr val="DBC8B8"/>
              </a:solidFill>
            </a:ln>
          </c:spPr>
          <c:marker>
            <c:symbol val="none"/>
          </c:marker>
          <c:xVal>
            <c:numRef>
              <c:f>'Chart Data'!$A$2:$A$133</c:f>
              <c:numCache>
                <c:formatCode>General</c:formatCode>
                <c:ptCount val="132"/>
                <c:pt idx="0">
                  <c:v>0</c:v>
                </c:pt>
                <c:pt idx="1">
                  <c:v>0</c:v>
                </c:pt>
                <c:pt idx="2">
                  <c:v>1.076923077</c:v>
                </c:pt>
                <c:pt idx="3">
                  <c:v>1.076923077</c:v>
                </c:pt>
                <c:pt idx="4">
                  <c:v>2.153846154</c:v>
                </c:pt>
                <c:pt idx="5">
                  <c:v>2.153846154</c:v>
                </c:pt>
                <c:pt idx="6">
                  <c:v>3.230769231</c:v>
                </c:pt>
                <c:pt idx="7">
                  <c:v>3.230769231</c:v>
                </c:pt>
                <c:pt idx="8">
                  <c:v>4.307692308</c:v>
                </c:pt>
                <c:pt idx="9">
                  <c:v>4.307692308</c:v>
                </c:pt>
                <c:pt idx="10">
                  <c:v>5.384615385</c:v>
                </c:pt>
                <c:pt idx="11">
                  <c:v>5.384615385</c:v>
                </c:pt>
                <c:pt idx="12">
                  <c:v>6.461538462</c:v>
                </c:pt>
                <c:pt idx="13">
                  <c:v>6.461538462</c:v>
                </c:pt>
                <c:pt idx="14">
                  <c:v>7.538461538</c:v>
                </c:pt>
                <c:pt idx="15">
                  <c:v>7.538461538</c:v>
                </c:pt>
                <c:pt idx="16">
                  <c:v>8.615384615</c:v>
                </c:pt>
                <c:pt idx="17">
                  <c:v>8.615384615</c:v>
                </c:pt>
                <c:pt idx="18">
                  <c:v>9.692307692</c:v>
                </c:pt>
                <c:pt idx="19">
                  <c:v>9.692307692</c:v>
                </c:pt>
                <c:pt idx="20">
                  <c:v>10.769230769</c:v>
                </c:pt>
                <c:pt idx="21">
                  <c:v>10.769230769</c:v>
                </c:pt>
                <c:pt idx="22">
                  <c:v>11.846153846</c:v>
                </c:pt>
                <c:pt idx="23">
                  <c:v>11.846153846</c:v>
                </c:pt>
                <c:pt idx="24">
                  <c:v>12.923076923</c:v>
                </c:pt>
                <c:pt idx="25">
                  <c:v>12.923076923</c:v>
                </c:pt>
                <c:pt idx="26">
                  <c:v>14</c:v>
                </c:pt>
                <c:pt idx="27">
                  <c:v>14</c:v>
                </c:pt>
                <c:pt idx="28">
                  <c:v>15.076923077</c:v>
                </c:pt>
                <c:pt idx="29">
                  <c:v>15.076923077</c:v>
                </c:pt>
                <c:pt idx="30">
                  <c:v>16.153846154</c:v>
                </c:pt>
                <c:pt idx="31">
                  <c:v>16.153846154</c:v>
                </c:pt>
                <c:pt idx="32">
                  <c:v>17.230769231</c:v>
                </c:pt>
                <c:pt idx="33">
                  <c:v>17.230769231</c:v>
                </c:pt>
                <c:pt idx="34">
                  <c:v>18.307692308</c:v>
                </c:pt>
                <c:pt idx="35">
                  <c:v>18.307692308</c:v>
                </c:pt>
                <c:pt idx="36">
                  <c:v>19.384615385</c:v>
                </c:pt>
                <c:pt idx="37">
                  <c:v>19.384615385</c:v>
                </c:pt>
                <c:pt idx="38">
                  <c:v>20.461538462</c:v>
                </c:pt>
                <c:pt idx="39">
                  <c:v>20.461538462</c:v>
                </c:pt>
                <c:pt idx="40">
                  <c:v>21.538461538</c:v>
                </c:pt>
                <c:pt idx="41">
                  <c:v>21.538461538</c:v>
                </c:pt>
                <c:pt idx="42">
                  <c:v>22.615384615</c:v>
                </c:pt>
                <c:pt idx="43">
                  <c:v>22.615384615</c:v>
                </c:pt>
                <c:pt idx="44">
                  <c:v>23.692307692</c:v>
                </c:pt>
                <c:pt idx="45">
                  <c:v>23.692307692</c:v>
                </c:pt>
                <c:pt idx="46">
                  <c:v>24.769230769</c:v>
                </c:pt>
                <c:pt idx="47">
                  <c:v>24.769230769</c:v>
                </c:pt>
                <c:pt idx="48">
                  <c:v>25.846153846</c:v>
                </c:pt>
                <c:pt idx="49">
                  <c:v>25.846153846</c:v>
                </c:pt>
                <c:pt idx="50">
                  <c:v>26.923076923</c:v>
                </c:pt>
                <c:pt idx="51">
                  <c:v>26.923076923</c:v>
                </c:pt>
                <c:pt idx="52">
                  <c:v>28</c:v>
                </c:pt>
                <c:pt idx="53">
                  <c:v>28</c:v>
                </c:pt>
                <c:pt idx="54">
                  <c:v>29.076923077</c:v>
                </c:pt>
                <c:pt idx="55">
                  <c:v>29.076923077</c:v>
                </c:pt>
                <c:pt idx="56">
                  <c:v>30.153846154</c:v>
                </c:pt>
                <c:pt idx="57">
                  <c:v>30.153846154</c:v>
                </c:pt>
                <c:pt idx="58">
                  <c:v>31.230769231</c:v>
                </c:pt>
                <c:pt idx="59">
                  <c:v>31.230769231</c:v>
                </c:pt>
                <c:pt idx="60">
                  <c:v>32.307692308</c:v>
                </c:pt>
                <c:pt idx="61">
                  <c:v>32.307692308</c:v>
                </c:pt>
                <c:pt idx="62">
                  <c:v>33.384615385</c:v>
                </c:pt>
                <c:pt idx="63">
                  <c:v>33.384615385</c:v>
                </c:pt>
                <c:pt idx="64">
                  <c:v>34.461538462</c:v>
                </c:pt>
                <c:pt idx="65">
                  <c:v>34.461538462</c:v>
                </c:pt>
                <c:pt idx="66">
                  <c:v>35.538461538</c:v>
                </c:pt>
                <c:pt idx="67">
                  <c:v>35.538461538</c:v>
                </c:pt>
                <c:pt idx="68">
                  <c:v>36.615384615</c:v>
                </c:pt>
                <c:pt idx="69">
                  <c:v>36.615384615</c:v>
                </c:pt>
                <c:pt idx="70">
                  <c:v>37.692307692</c:v>
                </c:pt>
                <c:pt idx="71">
                  <c:v>37.692307692</c:v>
                </c:pt>
                <c:pt idx="72">
                  <c:v>38.769230769</c:v>
                </c:pt>
                <c:pt idx="73">
                  <c:v>38.769230769</c:v>
                </c:pt>
                <c:pt idx="74">
                  <c:v>39.846153846</c:v>
                </c:pt>
                <c:pt idx="75">
                  <c:v>39.846153846</c:v>
                </c:pt>
                <c:pt idx="76">
                  <c:v>40.923076923</c:v>
                </c:pt>
                <c:pt idx="77">
                  <c:v>40.923076923</c:v>
                </c:pt>
                <c:pt idx="78">
                  <c:v>42</c:v>
                </c:pt>
                <c:pt idx="79">
                  <c:v>42</c:v>
                </c:pt>
                <c:pt idx="80">
                  <c:v>43.076923077</c:v>
                </c:pt>
                <c:pt idx="81">
                  <c:v>43.076923077</c:v>
                </c:pt>
                <c:pt idx="82">
                  <c:v>44.153846154</c:v>
                </c:pt>
                <c:pt idx="83">
                  <c:v>44.153846154</c:v>
                </c:pt>
                <c:pt idx="84">
                  <c:v>45.230769231</c:v>
                </c:pt>
                <c:pt idx="85">
                  <c:v>45.230769231</c:v>
                </c:pt>
                <c:pt idx="86">
                  <c:v>46.307692308</c:v>
                </c:pt>
                <c:pt idx="87">
                  <c:v>46.307692308</c:v>
                </c:pt>
                <c:pt idx="88">
                  <c:v>47.384615385</c:v>
                </c:pt>
                <c:pt idx="89">
                  <c:v>47.384615385</c:v>
                </c:pt>
                <c:pt idx="90">
                  <c:v>48.461538462</c:v>
                </c:pt>
                <c:pt idx="91">
                  <c:v>48.461538462</c:v>
                </c:pt>
                <c:pt idx="92">
                  <c:v>49.538461538</c:v>
                </c:pt>
                <c:pt idx="93">
                  <c:v>49.538461538</c:v>
                </c:pt>
                <c:pt idx="94">
                  <c:v>50.615384615</c:v>
                </c:pt>
                <c:pt idx="95">
                  <c:v>50.615384615</c:v>
                </c:pt>
                <c:pt idx="96">
                  <c:v>51.692307692</c:v>
                </c:pt>
                <c:pt idx="97">
                  <c:v>51.692307692</c:v>
                </c:pt>
                <c:pt idx="98">
                  <c:v>52.769230769</c:v>
                </c:pt>
                <c:pt idx="99">
                  <c:v>52.769230769</c:v>
                </c:pt>
                <c:pt idx="100">
                  <c:v>53.846153846</c:v>
                </c:pt>
                <c:pt idx="101">
                  <c:v>53.846153846</c:v>
                </c:pt>
                <c:pt idx="102">
                  <c:v>54.923076923</c:v>
                </c:pt>
                <c:pt idx="103">
                  <c:v>54.923076923</c:v>
                </c:pt>
                <c:pt idx="104">
                  <c:v>56</c:v>
                </c:pt>
                <c:pt idx="105">
                  <c:v>56</c:v>
                </c:pt>
                <c:pt idx="106">
                  <c:v>57.076923077</c:v>
                </c:pt>
                <c:pt idx="107">
                  <c:v>57.076923077</c:v>
                </c:pt>
                <c:pt idx="108">
                  <c:v>58.153846154</c:v>
                </c:pt>
                <c:pt idx="109">
                  <c:v>58.153846154</c:v>
                </c:pt>
                <c:pt idx="110">
                  <c:v>59.230769231</c:v>
                </c:pt>
                <c:pt idx="111">
                  <c:v>59.230769231</c:v>
                </c:pt>
                <c:pt idx="112">
                  <c:v>60.307692308</c:v>
                </c:pt>
                <c:pt idx="113">
                  <c:v>60.307692308</c:v>
                </c:pt>
                <c:pt idx="114">
                  <c:v>61.384615385</c:v>
                </c:pt>
                <c:pt idx="115">
                  <c:v>61.384615385</c:v>
                </c:pt>
                <c:pt idx="116">
                  <c:v>62.461538462</c:v>
                </c:pt>
                <c:pt idx="117">
                  <c:v>62.461538462</c:v>
                </c:pt>
                <c:pt idx="118">
                  <c:v>63.538461538</c:v>
                </c:pt>
                <c:pt idx="119">
                  <c:v>63.538461538</c:v>
                </c:pt>
                <c:pt idx="120">
                  <c:v>64.615384615</c:v>
                </c:pt>
                <c:pt idx="121">
                  <c:v>64.615384615</c:v>
                </c:pt>
                <c:pt idx="122">
                  <c:v>65.692307692</c:v>
                </c:pt>
                <c:pt idx="123">
                  <c:v>65.692307692</c:v>
                </c:pt>
                <c:pt idx="124">
                  <c:v>66.769230769</c:v>
                </c:pt>
                <c:pt idx="125">
                  <c:v>66.769230769</c:v>
                </c:pt>
                <c:pt idx="126">
                  <c:v>67.846153846</c:v>
                </c:pt>
                <c:pt idx="127">
                  <c:v>67.846153846</c:v>
                </c:pt>
                <c:pt idx="128">
                  <c:v>68.923076923</c:v>
                </c:pt>
                <c:pt idx="129">
                  <c:v>68.923076923</c:v>
                </c:pt>
                <c:pt idx="130">
                  <c:v>70</c:v>
                </c:pt>
                <c:pt idx="131">
                  <c:v>70</c:v>
                </c:pt>
              </c:numCache>
            </c:numRef>
          </c:xVal>
          <c:yVal>
            <c:numRef>
              <c:f>'Chart Data'!$B$2:$B$133</c:f>
              <c:numCache>
                <c:formatCode>0</c:formatCode>
                <c:ptCount val="132"/>
                <c:pt idx="0">
                  <c:v>12</c:v>
                </c:pt>
                <c:pt idx="1">
                  <c:v>15</c:v>
                </c:pt>
                <c:pt idx="2">
                  <c:v>15</c:v>
                </c:pt>
                <c:pt idx="3">
                  <c:v>12</c:v>
                </c:pt>
                <c:pt idx="4">
                  <c:v>12</c:v>
                </c:pt>
                <c:pt idx="5">
                  <c:v>15</c:v>
                </c:pt>
                <c:pt idx="6">
                  <c:v>15</c:v>
                </c:pt>
                <c:pt idx="7">
                  <c:v>12</c:v>
                </c:pt>
                <c:pt idx="8">
                  <c:v>12</c:v>
                </c:pt>
                <c:pt idx="9">
                  <c:v>15</c:v>
                </c:pt>
                <c:pt idx="10">
                  <c:v>15</c:v>
                </c:pt>
                <c:pt idx="11">
                  <c:v>12</c:v>
                </c:pt>
                <c:pt idx="12">
                  <c:v>12</c:v>
                </c:pt>
                <c:pt idx="13">
                  <c:v>15</c:v>
                </c:pt>
                <c:pt idx="14">
                  <c:v>15</c:v>
                </c:pt>
                <c:pt idx="15">
                  <c:v>12</c:v>
                </c:pt>
                <c:pt idx="16">
                  <c:v>12</c:v>
                </c:pt>
                <c:pt idx="17">
                  <c:v>15</c:v>
                </c:pt>
                <c:pt idx="18">
                  <c:v>15</c:v>
                </c:pt>
                <c:pt idx="19">
                  <c:v>12</c:v>
                </c:pt>
                <c:pt idx="20">
                  <c:v>12</c:v>
                </c:pt>
                <c:pt idx="21">
                  <c:v>15</c:v>
                </c:pt>
                <c:pt idx="22">
                  <c:v>15</c:v>
                </c:pt>
                <c:pt idx="23">
                  <c:v>12</c:v>
                </c:pt>
                <c:pt idx="24">
                  <c:v>12</c:v>
                </c:pt>
                <c:pt idx="25">
                  <c:v>15</c:v>
                </c:pt>
                <c:pt idx="26">
                  <c:v>15</c:v>
                </c:pt>
                <c:pt idx="27">
                  <c:v>12</c:v>
                </c:pt>
                <c:pt idx="28">
                  <c:v>12</c:v>
                </c:pt>
                <c:pt idx="29">
                  <c:v>15</c:v>
                </c:pt>
                <c:pt idx="30">
                  <c:v>15</c:v>
                </c:pt>
                <c:pt idx="31">
                  <c:v>12</c:v>
                </c:pt>
                <c:pt idx="32">
                  <c:v>12</c:v>
                </c:pt>
                <c:pt idx="33">
                  <c:v>15</c:v>
                </c:pt>
                <c:pt idx="34">
                  <c:v>15</c:v>
                </c:pt>
                <c:pt idx="35">
                  <c:v>12</c:v>
                </c:pt>
                <c:pt idx="36">
                  <c:v>12</c:v>
                </c:pt>
                <c:pt idx="37">
                  <c:v>15</c:v>
                </c:pt>
                <c:pt idx="38">
                  <c:v>15</c:v>
                </c:pt>
                <c:pt idx="39">
                  <c:v>12</c:v>
                </c:pt>
                <c:pt idx="40">
                  <c:v>12</c:v>
                </c:pt>
                <c:pt idx="41">
                  <c:v>15</c:v>
                </c:pt>
                <c:pt idx="42">
                  <c:v>15</c:v>
                </c:pt>
                <c:pt idx="43">
                  <c:v>12</c:v>
                </c:pt>
                <c:pt idx="44">
                  <c:v>12</c:v>
                </c:pt>
                <c:pt idx="45">
                  <c:v>15</c:v>
                </c:pt>
                <c:pt idx="46">
                  <c:v>15</c:v>
                </c:pt>
                <c:pt idx="47">
                  <c:v>12</c:v>
                </c:pt>
                <c:pt idx="48">
                  <c:v>12</c:v>
                </c:pt>
                <c:pt idx="49">
                  <c:v>15</c:v>
                </c:pt>
                <c:pt idx="50">
                  <c:v>15</c:v>
                </c:pt>
                <c:pt idx="51">
                  <c:v>12</c:v>
                </c:pt>
                <c:pt idx="52">
                  <c:v>12</c:v>
                </c:pt>
                <c:pt idx="53">
                  <c:v>15</c:v>
                </c:pt>
                <c:pt idx="54">
                  <c:v>15</c:v>
                </c:pt>
                <c:pt idx="55">
                  <c:v>12</c:v>
                </c:pt>
                <c:pt idx="56">
                  <c:v>12</c:v>
                </c:pt>
                <c:pt idx="57">
                  <c:v>15</c:v>
                </c:pt>
                <c:pt idx="58">
                  <c:v>15</c:v>
                </c:pt>
                <c:pt idx="59">
                  <c:v>12</c:v>
                </c:pt>
                <c:pt idx="60">
                  <c:v>12</c:v>
                </c:pt>
                <c:pt idx="61">
                  <c:v>15</c:v>
                </c:pt>
                <c:pt idx="62">
                  <c:v>15</c:v>
                </c:pt>
                <c:pt idx="63">
                  <c:v>12</c:v>
                </c:pt>
                <c:pt idx="64">
                  <c:v>12</c:v>
                </c:pt>
                <c:pt idx="65">
                  <c:v>15</c:v>
                </c:pt>
                <c:pt idx="66">
                  <c:v>15</c:v>
                </c:pt>
                <c:pt idx="67">
                  <c:v>12</c:v>
                </c:pt>
                <c:pt idx="68">
                  <c:v>12</c:v>
                </c:pt>
                <c:pt idx="69">
                  <c:v>15</c:v>
                </c:pt>
                <c:pt idx="70">
                  <c:v>15</c:v>
                </c:pt>
                <c:pt idx="71">
                  <c:v>12</c:v>
                </c:pt>
                <c:pt idx="72">
                  <c:v>12</c:v>
                </c:pt>
                <c:pt idx="73">
                  <c:v>15</c:v>
                </c:pt>
                <c:pt idx="74">
                  <c:v>15</c:v>
                </c:pt>
                <c:pt idx="75">
                  <c:v>12</c:v>
                </c:pt>
                <c:pt idx="76">
                  <c:v>12</c:v>
                </c:pt>
                <c:pt idx="77">
                  <c:v>15</c:v>
                </c:pt>
                <c:pt idx="78">
                  <c:v>15</c:v>
                </c:pt>
                <c:pt idx="79">
                  <c:v>12</c:v>
                </c:pt>
                <c:pt idx="80">
                  <c:v>12</c:v>
                </c:pt>
                <c:pt idx="81">
                  <c:v>15</c:v>
                </c:pt>
                <c:pt idx="82">
                  <c:v>15</c:v>
                </c:pt>
                <c:pt idx="83">
                  <c:v>12</c:v>
                </c:pt>
                <c:pt idx="84">
                  <c:v>12</c:v>
                </c:pt>
                <c:pt idx="85">
                  <c:v>15</c:v>
                </c:pt>
                <c:pt idx="86">
                  <c:v>15</c:v>
                </c:pt>
                <c:pt idx="87">
                  <c:v>12</c:v>
                </c:pt>
                <c:pt idx="88">
                  <c:v>12</c:v>
                </c:pt>
                <c:pt idx="89">
                  <c:v>15</c:v>
                </c:pt>
                <c:pt idx="90">
                  <c:v>15</c:v>
                </c:pt>
                <c:pt idx="91">
                  <c:v>12</c:v>
                </c:pt>
                <c:pt idx="92">
                  <c:v>12</c:v>
                </c:pt>
                <c:pt idx="93">
                  <c:v>15</c:v>
                </c:pt>
                <c:pt idx="94">
                  <c:v>15</c:v>
                </c:pt>
                <c:pt idx="95">
                  <c:v>12</c:v>
                </c:pt>
                <c:pt idx="96">
                  <c:v>12</c:v>
                </c:pt>
                <c:pt idx="97">
                  <c:v>15</c:v>
                </c:pt>
                <c:pt idx="98">
                  <c:v>15</c:v>
                </c:pt>
                <c:pt idx="99">
                  <c:v>12</c:v>
                </c:pt>
                <c:pt idx="100">
                  <c:v>12</c:v>
                </c:pt>
                <c:pt idx="101">
                  <c:v>15</c:v>
                </c:pt>
                <c:pt idx="102">
                  <c:v>15</c:v>
                </c:pt>
                <c:pt idx="103">
                  <c:v>12</c:v>
                </c:pt>
                <c:pt idx="104">
                  <c:v>12</c:v>
                </c:pt>
                <c:pt idx="105">
                  <c:v>15</c:v>
                </c:pt>
                <c:pt idx="106">
                  <c:v>15</c:v>
                </c:pt>
                <c:pt idx="107">
                  <c:v>12</c:v>
                </c:pt>
                <c:pt idx="108">
                  <c:v>12</c:v>
                </c:pt>
                <c:pt idx="109">
                  <c:v>15</c:v>
                </c:pt>
                <c:pt idx="110">
                  <c:v>15</c:v>
                </c:pt>
                <c:pt idx="111">
                  <c:v>12</c:v>
                </c:pt>
                <c:pt idx="112">
                  <c:v>12</c:v>
                </c:pt>
                <c:pt idx="113">
                  <c:v>15</c:v>
                </c:pt>
                <c:pt idx="114">
                  <c:v>15</c:v>
                </c:pt>
                <c:pt idx="115">
                  <c:v>12</c:v>
                </c:pt>
                <c:pt idx="116">
                  <c:v>12</c:v>
                </c:pt>
                <c:pt idx="117">
                  <c:v>15</c:v>
                </c:pt>
                <c:pt idx="118">
                  <c:v>15</c:v>
                </c:pt>
                <c:pt idx="119">
                  <c:v>12</c:v>
                </c:pt>
                <c:pt idx="120">
                  <c:v>12</c:v>
                </c:pt>
                <c:pt idx="121">
                  <c:v>15</c:v>
                </c:pt>
                <c:pt idx="122">
                  <c:v>15</c:v>
                </c:pt>
                <c:pt idx="123">
                  <c:v>12</c:v>
                </c:pt>
                <c:pt idx="124">
                  <c:v>12</c:v>
                </c:pt>
                <c:pt idx="125">
                  <c:v>15</c:v>
                </c:pt>
                <c:pt idx="126">
                  <c:v>15</c:v>
                </c:pt>
                <c:pt idx="127">
                  <c:v>12</c:v>
                </c:pt>
                <c:pt idx="128">
                  <c:v>12</c:v>
                </c:pt>
                <c:pt idx="129">
                  <c:v>15</c:v>
                </c:pt>
                <c:pt idx="130">
                  <c:v>15</c:v>
                </c:pt>
                <c:pt idx="131">
                  <c:v>12</c:v>
                </c:pt>
              </c:numCache>
            </c:numRef>
          </c:yVal>
          <c:smooth val="0"/>
        </c:ser>
        <c:ser>
          <c:idx val="1"/>
          <c:order val="1"/>
          <c:tx>
            <c:v>V</c:v>
          </c:tx>
          <c:spPr>
            <a:ln xmlns:a="http://schemas.openxmlformats.org/drawingml/2006/main" w="38100">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Data'!$C$2:$C$3</c:f>
              <c:numCache>
                <c:formatCode>General</c:formatCode>
                <c:ptCount val="2"/>
                <c:pt idx="0">
                  <c:v>0</c:v>
                </c:pt>
                <c:pt idx="1">
                  <c:v>130</c:v>
                </c:pt>
              </c:numCache>
            </c:numRef>
          </c:xVal>
          <c:yVal>
            <c:numRef>
              <c:f>'Chart Data'!$D$2:$D$3</c:f>
              <c:numCache>
                <c:formatCode>0</c:formatCode>
                <c:ptCount val="2"/>
                <c:pt idx="0">
                  <c:v>26</c:v>
                </c:pt>
                <c:pt idx="1">
                  <c:v>0</c:v>
                </c:pt>
              </c:numCache>
            </c:numRef>
          </c:yVal>
          <c:smooth val="0"/>
        </c:ser>
        <c:ser>
          <c:idx val="2"/>
          <c:order val="2"/>
          <c:tx>
            <c:v>A</c:v>
          </c:tx>
          <c:spPr>
            <a:ln xmlns:a="http://schemas.openxmlformats.org/drawingml/2006/main" w="38100">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c:f>
              <c:numCache>
                <c:formatCode>General</c:formatCode>
                <c:ptCount val="2"/>
                <c:pt idx="0">
                  <c:v>0</c:v>
                </c:pt>
                <c:pt idx="1">
                  <c:v>126</c:v>
                </c:pt>
              </c:numCache>
            </c:numRef>
          </c:xVal>
          <c:yVal>
            <c:numRef>
              <c:f>'Chart Data'!$F$2:$F$3</c:f>
              <c:numCache>
                <c:formatCode>0</c:formatCode>
                <c:ptCount val="2"/>
                <c:pt idx="0">
                  <c:v>8</c:v>
                </c:pt>
                <c:pt idx="1">
                  <c:v>20.6</c:v>
                </c:pt>
              </c:numCache>
            </c:numRef>
          </c:yVal>
          <c:smooth val="0"/>
        </c:ser>
        <c:ser>
          <c:idx val="3"/>
          <c:order val="3"/>
          <c:tx>
            <c:v>A − s</c:v>
          </c:tx>
          <c:spPr>
            <a:ln xmlns:a="http://schemas.openxmlformats.org/drawingml/2006/main" w="38100">
              <a:solidFill>
                <a:srgbClr val="A94D16"/>
              </a:solidFill>
            </a:ln>
          </c:spPr>
          <c:marker>
            <c:symbol val="none"/>
          </c:marker>
          <c:dLbls>
            <c:dLbl>
              <c:idx val="1"/>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A − s</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Data'!$G$2:$G$3</c:f>
              <c:numCache>
                <c:formatCode>General</c:formatCode>
                <c:ptCount val="2"/>
                <c:pt idx="0">
                  <c:v>0</c:v>
                </c:pt>
                <c:pt idx="1">
                  <c:v>126</c:v>
                </c:pt>
              </c:numCache>
            </c:numRef>
          </c:xVal>
          <c:yVal>
            <c:numRef>
              <c:f>'Chart Data'!$H$2:$H$3</c:f>
              <c:numCache>
                <c:formatCode>0</c:formatCode>
                <c:ptCount val="2"/>
                <c:pt idx="0">
                  <c:v>5</c:v>
                </c:pt>
                <c:pt idx="1">
                  <c:v>17.6</c:v>
                </c:pt>
              </c:numCache>
            </c:numRef>
          </c:yVal>
          <c:smooth val="0"/>
        </c:ser>
        <c:ser>
          <c:idx val="4"/>
          <c:order val="4"/>
          <c:tx>
            <c:v>Pc hulplijn</c:v>
          </c:tx>
          <c:spPr>
            <a:ln xmlns:a="http://schemas.openxmlformats.org/drawingml/2006/main" w="13335">
              <a:solidFill>
                <a:srgbClr val="445B6B"/>
              </a:solidFill>
            </a:ln>
          </c:spPr>
          <c:marker>
            <c:symbol val="none"/>
          </c:marker>
          <c:xVal>
            <c:numRef>
              <c:f>'Chart Data'!$I$2:$I$4</c:f>
              <c:numCache>
                <c:formatCode>General</c:formatCode>
                <c:ptCount val="3"/>
                <c:pt idx="0">
                  <c:v>0</c:v>
                </c:pt>
                <c:pt idx="1">
                  <c:v>70</c:v>
                </c:pt>
                <c:pt idx="2">
                  <c:v>70</c:v>
                </c:pt>
              </c:numCache>
            </c:numRef>
          </c:xVal>
          <c:yVal>
            <c:numRef>
              <c:f>'Chart Data'!$J$2:$J$4</c:f>
              <c:numCache>
                <c:formatCode>0</c:formatCode>
                <c:ptCount val="3"/>
                <c:pt idx="0">
                  <c:v>12</c:v>
                </c:pt>
                <c:pt idx="1">
                  <c:v>12</c:v>
                </c:pt>
                <c:pt idx="2">
                  <c:v>0</c:v>
                </c:pt>
              </c:numCache>
            </c:numRef>
          </c:yVal>
          <c:smooth val="0"/>
        </c:ser>
        <c:ser>
          <c:idx val="5"/>
          <c:order val="5"/>
          <c:tx>
            <c:v>Pp hulplijn</c:v>
          </c:tx>
          <c:spPr>
            <a:ln xmlns:a="http://schemas.openxmlformats.org/drawingml/2006/main" w="13335">
              <a:solidFill>
                <a:srgbClr val="445B6B"/>
              </a:solidFill>
            </a:ln>
          </c:spPr>
          <c:marker>
            <c:symbol val="none"/>
          </c:marker>
          <c:xVal>
            <c:numRef>
              <c:f>'Chart Data'!$K$2:$K$3</c:f>
              <c:numCache>
                <c:formatCode>General</c:formatCode>
                <c:ptCount val="2"/>
                <c:pt idx="0">
                  <c:v>0</c:v>
                </c:pt>
                <c:pt idx="1">
                  <c:v>70</c:v>
                </c:pt>
              </c:numCache>
            </c:numRef>
          </c:xVal>
          <c:yVal>
            <c:numRef>
              <c:f>'Chart Data'!$L$2:$L$3</c:f>
              <c:numCache>
                <c:formatCode>0</c:formatCode>
                <c:ptCount val="2"/>
                <c:pt idx="0">
                  <c:v>15</c:v>
                </c:pt>
                <c:pt idx="1">
                  <c:v>15</c:v>
                </c:pt>
              </c:numCache>
            </c:numRef>
          </c:yVal>
          <c:smooth val="0"/>
        </c:ser>
        <c:ser>
          <c:idx val="6"/>
          <c:order val="6"/>
          <c:tx>
            <c:v>Subsidiewig</c:v>
          </c:tx>
          <c:spPr>
            <a:ln xmlns:a="http://schemas.openxmlformats.org/drawingml/2006/main" w="47625">
              <a:solidFill>
                <a:srgbClr val="A94D16"/>
              </a:solidFill>
            </a:ln>
          </c:spPr>
          <c:marker>
            <c:symbol val="none"/>
          </c:marker>
          <c:xVal>
            <c:numRef>
              <c:f>'Chart Data'!$M$2:$M$3</c:f>
              <c:numCache>
                <c:formatCode>General</c:formatCode>
                <c:ptCount val="2"/>
                <c:pt idx="0">
                  <c:v>70</c:v>
                </c:pt>
                <c:pt idx="1">
                  <c:v>70</c:v>
                </c:pt>
              </c:numCache>
            </c:numRef>
          </c:xVal>
          <c:yVal>
            <c:numRef>
              <c:f>'Chart Data'!$N$2:$N$3</c:f>
              <c:numCache>
                <c:formatCode>0</c:formatCode>
                <c:ptCount val="2"/>
                <c:pt idx="0">
                  <c:v>12</c:v>
                </c:pt>
                <c:pt idx="1">
                  <c:v>15</c:v>
                </c:pt>
              </c:numCache>
            </c:numRef>
          </c:yVal>
          <c:smooth val="0"/>
        </c:ser>
        <c:ser>
          <c:idx val="7"/>
          <c:order val="7"/>
          <c:tx>
            <c:v>Pc</c:v>
          </c:tx>
          <c:spPr>
            <a:ln xmlns:a="http://schemas.openxmlformats.org/drawingml/2006/main" w="0">
              <a:solidFill>
                <a:srgbClr val="17658A"/>
              </a:solidFill>
            </a:ln>
          </c:spPr>
          <c:marker>
            <c:symbol val="circle"/>
            <c:size val="9"/>
            <c:spPr>
              <a:solidFill xmlns:a="http://schemas.openxmlformats.org/drawingml/2006/main">
                <a:srgbClr val="17658A"/>
              </a:solidFill>
            </c:spPr>
          </c:marker>
          <c:xVal>
            <c:numRef>
              <c:f>'Chart Data'!$O$2:$O$2</c:f>
              <c:numCache>
                <c:formatCode>General</c:formatCode>
                <c:ptCount val="1"/>
                <c:pt idx="0">
                  <c:v>70</c:v>
                </c:pt>
              </c:numCache>
            </c:numRef>
          </c:xVal>
          <c:yVal>
            <c:numRef>
              <c:f>'Chart Data'!$P$2:$P$2</c:f>
              <c:numCache>
                <c:formatCode>0</c:formatCode>
                <c:ptCount val="1"/>
                <c:pt idx="0">
                  <c:v>12</c:v>
                </c:pt>
              </c:numCache>
            </c:numRef>
          </c:yVal>
          <c:smooth val="0"/>
        </c:ser>
        <c:ser>
          <c:idx val="8"/>
          <c:order val="8"/>
          <c:tx>
            <c:v>Pp</c:v>
          </c:tx>
          <c:spPr>
            <a:ln xmlns:a="http://schemas.openxmlformats.org/drawingml/2006/main" w="0">
              <a:solidFill>
                <a:srgbClr val="20665B"/>
              </a:solidFill>
            </a:ln>
          </c:spPr>
          <c:marker>
            <c:symbol val="circle"/>
            <c:size val="9"/>
            <c:spPr>
              <a:solidFill xmlns:a="http://schemas.openxmlformats.org/drawingml/2006/main">
                <a:srgbClr val="20665B"/>
              </a:solidFill>
            </c:spPr>
          </c:marker>
          <c:xVal>
            <c:numRef>
              <c:f>'Chart Data'!$Q$2:$Q$2</c:f>
              <c:numCache>
                <c:formatCode>General</c:formatCode>
                <c:ptCount val="1"/>
                <c:pt idx="0">
                  <c:v>70</c:v>
                </c:pt>
              </c:numCache>
            </c:numRef>
          </c:xVal>
          <c:yVal>
            <c:numRef>
              <c:f>'Chart Data'!$R$2:$R$2</c:f>
              <c:numCache>
                <c:formatCode>0</c:formatCode>
                <c:ptCount val="1"/>
                <c:pt idx="0">
                  <c:v>15</c:v>
                </c:pt>
              </c:numCache>
            </c:numRef>
          </c:yVal>
          <c:smooth val="0"/>
        </c:ser>
        <c:ser>
          <c:idx val="9"/>
          <c:order val="9"/>
          <c:tx>
            <c:v>U grens</c:v>
          </c:tx>
          <c:spPr>
            <a:ln xmlns:a="http://schemas.openxmlformats.org/drawingml/2006/main" w="19050">
              <a:solidFill>
                <a:srgbClr val="A94D16"/>
              </a:solidFill>
            </a:ln>
          </c:spPr>
          <c:marker>
            <c:symbol val="none"/>
          </c:marker>
          <c:xVal>
            <c:numRef>
              <c:f>'Chart Data'!$S$2:$S$6</c:f>
              <c:numCache>
                <c:formatCode>General</c:formatCode>
                <c:ptCount val="5"/>
                <c:pt idx="0">
                  <c:v>0</c:v>
                </c:pt>
                <c:pt idx="1">
                  <c:v>70</c:v>
                </c:pt>
                <c:pt idx="2">
                  <c:v>70</c:v>
                </c:pt>
                <c:pt idx="3">
                  <c:v>0</c:v>
                </c:pt>
                <c:pt idx="4">
                  <c:v>0</c:v>
                </c:pt>
              </c:numCache>
            </c:numRef>
          </c:xVal>
          <c:yVal>
            <c:numRef>
              <c:f>'Chart Data'!$T$2:$T$6</c:f>
              <c:numCache>
                <c:formatCode>0</c:formatCode>
                <c:ptCount val="5"/>
                <c:pt idx="0">
                  <c:v>12</c:v>
                </c:pt>
                <c:pt idx="1">
                  <c:v>12</c:v>
                </c:pt>
                <c:pt idx="2">
                  <c:v>15</c:v>
                </c:pt>
                <c:pt idx="3">
                  <c:v>15</c:v>
                </c:pt>
                <c:pt idx="4">
                  <c:v>12</c:v>
                </c:pt>
              </c:numCache>
            </c:numRef>
          </c:yVal>
          <c:smooth val="0"/>
        </c:ser>
        <c:ser>
          <c:idx val="10"/>
          <c:order val="10"/>
          <c:tx>
            <c:v>U label</c:v>
          </c:tx>
          <c:spPr>
            <a:ln xmlns:a="http://schemas.openxmlformats.org/drawingml/2006/main" w="0">
              <a:solidFill>
                <a:srgbClr val="183247"/>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U</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Data'!$U$2:$U$2</c:f>
              <c:numCache>
                <c:formatCode>General</c:formatCode>
                <c:ptCount val="1"/>
                <c:pt idx="0">
                  <c:v>15.4</c:v>
                </c:pt>
              </c:numCache>
            </c:numRef>
          </c:xVal>
          <c:yVal>
            <c:numRef>
              <c:f>'Chart Data'!$V$2:$V$2</c:f>
              <c:numCache>
                <c:formatCode>0</c:formatCode>
                <c:ptCount val="1"/>
                <c:pt idx="0">
                  <c:v>13.5</c:v>
                </c:pt>
              </c:numCache>
            </c:numRef>
          </c:yVal>
          <c:smooth val="0"/>
        </c:ser>
        <c:ser>
          <c:idx val="11"/>
          <c:order val="11"/>
          <c:tx>
            <c:v>Pp annotation</c:v>
          </c:tx>
          <c:spPr>
            <a:ln xmlns:a="http://schemas.openxmlformats.org/drawingml/2006/main" w="0">
              <a:solidFill>
                <a:srgbClr val="20665B"/>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20665B"/>
                        </a:solidFill>
                        <a:latin typeface="Arial"/>
                        <a:ea typeface="Arial"/>
                        <a:cs typeface="Arial"/>
                      </a:rPr>
                      <a:t>Pp = 15</a:t>
                    </a:r>
                  </a:p>
                </c:rich>
              </c:tx>
              <c:txPr>
                <a:bodyPr xmlns:a="http://schemas.openxmlformats.org/drawingml/2006/main" anchorCtr="1"/>
                <a:lstStyle xmlns:a="http://schemas.openxmlformats.org/drawingml/2006/main"/>
                <a:p xmlns:a="http://schemas.openxmlformats.org/drawingml/2006/main">
                  <a:pPr>
                    <a:defRPr sz="1950" b="1">
                      <a:solidFill>
                        <a:srgbClr val="20665B"/>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Data'!$W$2:$W$2</c:f>
              <c:numCache>
                <c:formatCode>General</c:formatCode>
                <c:ptCount val="1"/>
                <c:pt idx="0">
                  <c:v>70</c:v>
                </c:pt>
              </c:numCache>
            </c:numRef>
          </c:xVal>
          <c:yVal>
            <c:numRef>
              <c:f>'Chart Data'!$X$2:$X$2</c:f>
              <c:numCache>
                <c:formatCode>0</c:formatCode>
                <c:ptCount val="1"/>
                <c:pt idx="0">
                  <c:v>18</c:v>
                </c:pt>
              </c:numCache>
            </c:numRef>
          </c:yVal>
          <c:smooth val="0"/>
        </c:ser>
        <c:ser>
          <c:idx val="12"/>
          <c:order val="12"/>
          <c:tx>
            <c:v>Pc annotation</c:v>
          </c:tx>
          <c:spPr>
            <a:ln xmlns:a="http://schemas.openxmlformats.org/drawingml/2006/main" w="0">
              <a:solidFill>
                <a:srgbClr val="17658A"/>
              </a:solidFill>
            </a:ln>
          </c:spPr>
          <c:marker>
            <c:symbol val="none"/>
          </c:marker>
          <c:dLbls>
            <c:dLbl>
              <c:idx val="0"/>
              <c:tx>
                <c:rich>
                  <a:bodyPr xmlns:a="http://schemas.openxmlformats.org/drawingml/2006/main"/>
                  <a:lstStyle xmlns:a="http://schemas.openxmlformats.org/drawingml/2006/main"/>
                  <a:p xmlns:a="http://schemas.openxmlformats.org/drawingml/2006/main">
                    <a:r>
                      <a:rPr sz="1950" b="1">
                        <a:solidFill>
                          <a:srgbClr val="17658A"/>
                        </a:solidFill>
                        <a:latin typeface="Arial"/>
                        <a:ea typeface="Arial"/>
                        <a:cs typeface="Arial"/>
                      </a:rPr>
                      <a:t>Pc = 12</a:t>
                    </a:r>
                  </a:p>
                </c:rich>
              </c:tx>
              <c:txPr>
                <a:bodyPr xmlns:a="http://schemas.openxmlformats.org/drawingml/2006/main" anchorCtr="1"/>
                <a:lstStyle xmlns:a="http://schemas.openxmlformats.org/drawingml/2006/main"/>
                <a:p xmlns:a="http://schemas.openxmlformats.org/drawingml/2006/main">
                  <a:pPr>
                    <a:defRPr sz="1950" b="1">
                      <a:solidFill>
                        <a:srgbClr val="17658A"/>
                      </a:solidFill>
                      <a:latin typeface="Arial"/>
                      <a:ea typeface="Arial"/>
                      <a:cs typeface="Arial"/>
                    </a:defRPr>
                  </a:pPr>
                </a:p>
              </c:txPr>
              <c:dLblPos val="r"/>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Data'!$Y$2:$Y$2</c:f>
              <c:numCache>
                <c:formatCode>General</c:formatCode>
                <c:ptCount val="1"/>
                <c:pt idx="0">
                  <c:v>90</c:v>
                </c:pt>
              </c:numCache>
            </c:numRef>
          </c:xVal>
          <c:yVal>
            <c:numRef>
              <c:f>'Chart Data'!$Z$2:$Z$2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cursusplaats)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5"/>
      </c:valAx>
      <c:valAx>
        <c:axId val="48650112"/>
        <c:scaling>
          <c:orientation val="minMax"/>
          <c:max val="14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(cursusplaatsen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1.3 Subsidies">
            <a:extLst xmlns:a="http://schemas.openxmlformats.org/drawingml/2006/main">
              <a:ext uri="{FF2B5EF4-FFF2-40B4-BE49-F238E27FC236}">
                <a16:creationId xmlns:a16="http://schemas.microsoft.com/office/drawing/2014/main" id="{B8BCCC13-8D80-4952-9E1F-4F880774094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§3.1.3 Subsidies</a:t>
            </a:r>
          </a:p>
        </p:txBody>
      </p:sp>
      <p:sp>
        <p:nvSpPr>
          <p:cNvPr id="2" name="">
            <a:extLst xmlns:a="http://schemas.openxmlformats.org/drawingml/2006/main">
              <a:ext uri="{FF2B5EF4-FFF2-40B4-BE49-F238E27FC236}">
                <a16:creationId xmlns:a16="http://schemas.microsoft.com/office/drawing/2014/main" id="{263E64A0-42C3-41AF-AE3B-58E1683512E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14019CEF-0C05-4E8D-9356-D9EB29AA19C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1">
            <a:extLst xmlns:a="http://schemas.openxmlformats.org/drawingml/2006/main">
              <a:ext uri="{FF2B5EF4-FFF2-40B4-BE49-F238E27FC236}">
                <a16:creationId xmlns:a16="http://schemas.microsoft.com/office/drawing/2014/main" id="{45746BC6-E44F-4EF3-BC93-F2074F7D6C4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B4E4D35F-BB27-40F3-BCD4-D93EC83688B0}"/>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C77E4D31-C194-4AF6-8F8F-E25D949E87C9}"/>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B5E62DBE-BEB1-4343-9A73-868B2E637744}"/>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79A21735-43C8-41EF-9794-4855DD13CB53}"/>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DAA833A7-0C2A-4AC4-AC02-06814D660B8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3A4F5D7F-FA9E-4382-9987-9C673CA111B1}"/>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A25FFD7F-EA55-4B97-8516-AAEC5E54CB8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1FF2F8F2-947C-4AB5-A89F-98C039862157}"/>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5F8576B2-8273-4536-9462-2276F407CDF9}"/>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806B6DCF-E784-4053-8E24-1FEBB109AE7D}"/>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56936BE5-D58C-4AD9-8783-1FCE38F40F48}"/>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B778875A-9045-4D41-8D41-F0187EFF9412}"/>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D4944AC0-5F3C-4CB3-8102-201CA6469BFA}"/>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8B1ADA9D-E066-42B3-94EB-C52F0FF21D39}"/>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25.</a:t>
            </a:r>
          </a:p>
        </p:txBody>
      </p:sp>
      <p:sp>
        <p:nvSpPr>
          <p:cNvPr id="19" name="route-number-6">
            <a:extLst xmlns:a="http://schemas.openxmlformats.org/drawingml/2006/main">
              <a:ext uri="{FF2B5EF4-FFF2-40B4-BE49-F238E27FC236}">
                <a16:creationId xmlns:a16="http://schemas.microsoft.com/office/drawing/2014/main" id="{A27F631E-B9E1-4CDF-9F32-CCD79289555D}"/>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C4A77DCF-8917-4769-9F80-4CC9AC10FAEB}"/>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D1315A6-ECB6-4354-8398-A1E2637A4E35}"/>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AB1CCDE-7352-4F47-992C-14E7C04A0478}"/>
              </a:ext>
            </a:extLst>
          </p:cNvPr>
          <p:cNvSpPr>
            <a:spLocks xmlns:a="http://schemas.openxmlformats.org/drawingml/2006/main" noGrp="1"/>
          </p:cNvSpPr>
          <p:nvPr/>
        </p:nvSpPr>
        <p:spPr>
          <a:xfrm xmlns:a="http://schemas.openxmlformats.org/drawingml/2006/main">
            <a:off x="9258300" y="22860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Prijzen, hoeveelheid en uitgaven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berekenen. Voordeel verdelen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welvaart beoordelen.</a:t>
            </a:r>
          </a:p>
        </p:txBody>
      </p:sp>
      <p:sp>
        <p:nvSpPr>
          <p:cNvPr id="23" name="">
            <a:extLst xmlns:a="http://schemas.openxmlformats.org/drawingml/2006/main">
              <a:ext uri="{FF2B5EF4-FFF2-40B4-BE49-F238E27FC236}">
                <a16:creationId xmlns:a16="http://schemas.microsoft.com/office/drawing/2014/main" id="{C7ED930C-2005-4571-86CB-036968B6E12F}"/>
              </a:ext>
            </a:extLst>
          </p:cNvPr>
          <p:cNvSpPr>
            <a:spLocks xmlns:a="http://schemas.openxmlformats.org/drawingml/2006/main" noGrp="1"/>
          </p:cNvSpPr>
          <p:nvPr/>
        </p:nvSpPr>
        <p:spPr>
          <a:xfrm xmlns:a="http://schemas.openxmlformats.org/drawingml/2006/main">
            <a:off x="9258300" y="35337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D4EF8B4-70EA-4114-85BF-81B42B9DCA1C}"/>
              </a:ext>
            </a:extLst>
          </p:cNvPr>
          <p:cNvSpPr>
            <a:spLocks xmlns:a="http://schemas.openxmlformats.org/drawingml/2006/main" noGrp="1"/>
          </p:cNvSpPr>
          <p:nvPr/>
        </p:nvSpPr>
        <p:spPr>
          <a:xfrm xmlns:a="http://schemas.openxmlformats.org/drawingml/2006/main">
            <a:off x="9258300" y="3724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A0E76AF-AA99-4549-A7C6-389949BEE4F0}"/>
              </a:ext>
            </a:extLst>
          </p:cNvPr>
          <p:cNvSpPr>
            <a:spLocks xmlns:a="http://schemas.openxmlformats.org/drawingml/2006/main" noGrp="1"/>
          </p:cNvSpPr>
          <p:nvPr/>
        </p:nvSpPr>
        <p:spPr>
          <a:xfrm xmlns:a="http://schemas.openxmlformats.org/drawingml/2006/main">
            <a:off x="9258300" y="4238625"/>
            <a:ext cx="5381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26 · Opgaven 19 en 20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19: p. 23; 20: p. 24</a:t>
            </a:r>
          </a:p>
        </p:txBody>
      </p:sp>
      <p:sp>
        <p:nvSpPr>
          <p:cNvPr id="26" name="">
            <a:extLst xmlns:a="http://schemas.openxmlformats.org/drawingml/2006/main">
              <a:ext uri="{FF2B5EF4-FFF2-40B4-BE49-F238E27FC236}">
                <a16:creationId xmlns:a16="http://schemas.microsoft.com/office/drawing/2014/main" id="{464C7270-F82B-4F24-8F2E-F275E0B4809A}"/>
              </a:ext>
            </a:extLst>
          </p:cNvPr>
          <p:cNvSpPr>
            <a:spLocks xmlns:a="http://schemas.openxmlformats.org/drawingml/2006/main" noGrp="1"/>
          </p:cNvSpPr>
          <p:nvPr/>
        </p:nvSpPr>
        <p:spPr>
          <a:xfrm xmlns:a="http://schemas.openxmlformats.org/drawingml/2006/main">
            <a:off x="9258300" y="54768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534F378-94CA-41F8-B35B-60D4B1B92E90}"/>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E334663-C1F2-44F4-A779-2707BA441699}"/>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§3.1.3 Subsidies</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21, 22 en 22A</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819496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 subsidiewig">
            <a:extLst xmlns:a="http://schemas.openxmlformats.org/drawingml/2006/main">
              <a:ext uri="{FF2B5EF4-FFF2-40B4-BE49-F238E27FC236}">
                <a16:creationId xmlns:a16="http://schemas.microsoft.com/office/drawing/2014/main" id="{576D6D41-9231-4E68-8AD8-C2250F72673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subsidiewig</a:t>
            </a:r>
          </a:p>
        </p:txBody>
      </p:sp>
      <p:sp>
        <p:nvSpPr>
          <p:cNvPr id="2" name="">
            <a:extLst xmlns:a="http://schemas.openxmlformats.org/drawingml/2006/main">
              <a:ext uri="{FF2B5EF4-FFF2-40B4-BE49-F238E27FC236}">
                <a16:creationId xmlns:a16="http://schemas.microsoft.com/office/drawing/2014/main" id="{289D62AD-7775-42EC-A694-7B5F29CD9B8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49484D69-7187-4FD0-B407-B6F03CD7240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
            <a:extLst xmlns:a="http://schemas.openxmlformats.org/drawingml/2006/main">
              <a:ext uri="{FF2B5EF4-FFF2-40B4-BE49-F238E27FC236}">
                <a16:creationId xmlns:a16="http://schemas.microsoft.com/office/drawing/2014/main" id="{04D82BEA-9125-47D6-8C6D-DFF2938545D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1" name=""/>
          <p:cNvGraphicFramePr/>
          <p:nvPr/>
        </p:nvGraphicFramePr>
        <p:xfrm>
          <a:off xmlns:a="http://schemas.openxmlformats.org/drawingml/2006/main" x="571500" y="2257425"/>
          <a:ext xmlns:a="http://schemas.openxmlformats.org/drawingml/2006/main" cx="14097000" cy="3619500"/>
        </p:xfrm>
        <a:graphic xmlns:a="http://schemas.openxmlformats.org/drawingml/2006/main">
          <a:graphicData uri="http://schemas.openxmlformats.org/drawingml/2006/table">
            <a:tbl>
              <a:tblPr/>
              <a:tblGrid>
                <a:gridCol w="5715000"/>
                <a:gridCol w="4191000"/>
                <a:gridCol w="4191000"/>
              </a:tblGrid>
              <a:tr h="904875">
                <a:tc>
                  <a:txBody>
                    <a:bodyPr lIns="171450" tIns="95250" rIns="152400" bIns="95250"/>
                    <a:lstStyle/>
                    <a:p>
                      <a:r>
                        <a:rPr sz="2550" b="1">
                          <a:solidFill>
                            <a:srgbClr val="FFFFFF"/>
                          </a:solidFill>
                          <a:latin typeface="Arial"/>
                          <a:ea typeface="Arial"/>
                          <a:cs typeface="Arial"/>
                        </a:rPr>
                        <a:t>Per verkocht product</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Belasting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Subsidie</a:t>
                      </a:r>
                    </a:p>
                  </a:txBody>
                  <a:tcPr marL="91440" marR="91440" marT="45720" marB="45720" anchor="ctr">
                    <a:solidFill>
                      <a:srgbClr val="183247"/>
                    </a:solidFill>
                  </a:tcPr>
                </a:tc>
              </a:tr>
              <a:tr h="904875">
                <a:tc>
                  <a:txBody>
                    <a:bodyPr lIns="171450" tIns="95250" rIns="152400" bIns="95250"/>
                    <a:lstStyle/>
                    <a:p>
                      <a:r>
                        <a:rPr sz="2550" b="0">
                          <a:solidFill>
                            <a:srgbClr val="183247"/>
                          </a:solidFill>
                          <a:latin typeface="Arial"/>
                          <a:ea typeface="Arial"/>
                          <a:cs typeface="Arial"/>
                        </a:rPr>
                        <a:t>Geldstroom</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Verkoper draagt af</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Overheid legt bij</a:t>
                      </a:r>
                    </a:p>
                  </a:txBody>
                  <a:tcPr marL="91440" marR="91440" marT="45720" marB="45720" anchor="ctr">
                    <a:solidFill>
                      <a:srgbClr val="FFFFFF"/>
                    </a:solidFill>
                  </a:tcPr>
                </a:tc>
              </a:tr>
              <a:tr h="904875">
                <a:tc>
                  <a:txBody>
                    <a:bodyPr lIns="171450" tIns="95250" rIns="152400" bIns="95250"/>
                    <a:lstStyle/>
                    <a:p>
                      <a:r>
                        <a:rPr sz="2550" b="0">
                          <a:solidFill>
                            <a:srgbClr val="183247"/>
                          </a:solidFill>
                          <a:latin typeface="Arial"/>
                          <a:ea typeface="Arial"/>
                          <a:cs typeface="Arial"/>
                        </a:rPr>
                        <a:t>Relatie tussen de prijzen</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Pc − Pp = 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Pp − Pc = s</a:t>
                      </a:r>
                    </a:p>
                  </a:txBody>
                  <a:tcPr marL="91440" marR="91440" marT="45720" marB="45720" anchor="ctr">
                    <a:solidFill>
                      <a:srgbClr val="EFF4F7"/>
                    </a:solidFill>
                  </a:tcPr>
                </a:tc>
              </a:tr>
              <a:tr h="904875">
                <a:tc>
                  <a:txBody>
                    <a:bodyPr lIns="171450" tIns="95250" rIns="152400" bIns="95250"/>
                    <a:lstStyle/>
                    <a:p>
                      <a:r>
                        <a:rPr sz="2550" b="0">
                          <a:solidFill>
                            <a:srgbClr val="183247"/>
                          </a:solidFill>
                          <a:latin typeface="Arial"/>
                          <a:ea typeface="Arial"/>
                          <a:cs typeface="Arial"/>
                        </a:rPr>
                        <a:t>Ontvangst producent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Pp = Pc − 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Pp = Pc + s</a:t>
                      </a:r>
                    </a:p>
                  </a:txBody>
                  <a:tcPr marL="91440" marR="91440" marT="45720" marB="45720" anchor="ctr">
                    <a:solidFill>
                      <a:srgbClr val="FFFFFF"/>
                    </a:solidFill>
                  </a:tcPr>
                </a:tc>
              </a:tr>
            </a:tbl>
          </a:graphicData>
        </a:graphic>
      </p:graphicFrame>
      <p:sp>
        <p:nvSpPr>
          <p:cNvPr id="6" name="Pp is de totale ontvangst vóór aftrek van productiekost">
            <a:extLst xmlns:a="http://schemas.openxmlformats.org/drawingml/2006/main">
              <a:ext uri="{FF2B5EF4-FFF2-40B4-BE49-F238E27FC236}">
                <a16:creationId xmlns:a16="http://schemas.microsoft.com/office/drawing/2014/main" id="{4DE295E2-C6F1-451A-AE2F-60D7F6C84D4B}"/>
              </a:ext>
            </a:extLst>
          </p:cNvPr>
          <p:cNvSpPr>
            <a:spLocks xmlns:a="http://schemas.openxmlformats.org/drawingml/2006/main" noGrp="1"/>
          </p:cNvSpPr>
          <p:nvPr/>
        </p:nvSpPr>
        <p:spPr>
          <a:xfrm xmlns:a="http://schemas.openxmlformats.org/drawingml/2006/main">
            <a:off x="571500" y="66960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Pp is de totale ontvangst vóór aftrek van productiekosten.</a:t>
            </a:r>
          </a:p>
        </p:txBody>
      </p:sp>
    </p:spTree>
    <p:extLst>
      <p:ext uri="{BB962C8B-B14F-4D97-AF65-F5344CB8AC3E}">
        <p14:creationId xmlns:p14="http://schemas.microsoft.com/office/powerpoint/2010/main" val="62539045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ietscontroles">
            <a:extLst xmlns:a="http://schemas.openxmlformats.org/drawingml/2006/main">
              <a:ext uri="{FF2B5EF4-FFF2-40B4-BE49-F238E27FC236}">
                <a16:creationId xmlns:a16="http://schemas.microsoft.com/office/drawing/2014/main" id="{26D53DCB-9814-42DA-A43D-7A685376EE2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Fietscontroles</a:t>
            </a:r>
          </a:p>
        </p:txBody>
      </p:sp>
      <p:sp>
        <p:nvSpPr>
          <p:cNvPr id="2" name="">
            <a:extLst xmlns:a="http://schemas.openxmlformats.org/drawingml/2006/main">
              <a:ext uri="{FF2B5EF4-FFF2-40B4-BE49-F238E27FC236}">
                <a16:creationId xmlns:a16="http://schemas.microsoft.com/office/drawing/2014/main" id="{F9720B5D-304A-478F-BA58-389E1BBD906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E403C0F1-FD74-4C4C-91D6-188B79DA58A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F38F45BC-6825-4A55-BBFD-D0BBC47D5C8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Een fictieve markt voor een eenvoudige fietscontrole">
            <a:extLst xmlns:a="http://schemas.openxmlformats.org/drawingml/2006/main">
              <a:ext uri="{FF2B5EF4-FFF2-40B4-BE49-F238E27FC236}">
                <a16:creationId xmlns:a16="http://schemas.microsoft.com/office/drawing/2014/main" id="{38E55F82-0E33-4EF4-9703-3AC23A2CC603}"/>
              </a:ext>
            </a:extLst>
          </p:cNvPr>
          <p:cNvSpPr>
            <a:spLocks xmlns:a="http://schemas.openxmlformats.org/drawingml/2006/main" noGrp="1"/>
          </p:cNvSpPr>
          <p:nvPr/>
        </p:nvSpPr>
        <p:spPr>
          <a:xfrm xmlns:a="http://schemas.openxmlformats.org/drawingml/2006/main">
            <a:off x="571500" y="1809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Een fictieve markt voor een eenvoudige fietscontrole</a:t>
            </a:r>
          </a:p>
        </p:txBody>
      </p:sp>
      <p:graphicFrame>
        <p:nvGraphicFramePr>
          <p:cNvPr id="13" name=""/>
          <p:cNvGraphicFramePr/>
          <p:nvPr/>
        </p:nvGraphicFramePr>
        <p:xfrm>
          <a:off xmlns:a="http://schemas.openxmlformats.org/drawingml/2006/main" x="571500" y="2781300"/>
          <a:ext xmlns:a="http://schemas.openxmlformats.org/drawingml/2006/main" cx="14097000" cy="3333750"/>
        </p:xfrm>
        <a:graphic xmlns:a="http://schemas.openxmlformats.org/drawingml/2006/main">
          <a:graphicData uri="http://schemas.openxmlformats.org/drawingml/2006/table">
            <a:tbl>
              <a:tblPr/>
              <a:tblGrid>
                <a:gridCol w="6477000"/>
                <a:gridCol w="7620000"/>
              </a:tblGrid>
              <a:tr h="833438">
                <a:tc>
                  <a:txBody>
                    <a:bodyPr lIns="171450" tIns="95250" rIns="152400" bIns="95250"/>
                    <a:lstStyle/>
                    <a:p>
                      <a:r>
                        <a:rPr sz="255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Pc = 32 − 0,20Q</a:t>
                      </a:r>
                    </a:p>
                  </a:txBody>
                  <a:tcPr marL="91440" marR="91440" marT="45720" marB="45720" anchor="ctr">
                    <a:solidFill>
                      <a:srgbClr val="183247"/>
                    </a:solidFill>
                  </a:tcPr>
                </a:tc>
              </a:tr>
              <a:tr h="833438">
                <a:tc>
                  <a:txBody>
                    <a:bodyPr lIns="171450" tIns="95250" rIns="152400" bIns="95250"/>
                    <a:lstStyle/>
                    <a:p>
                      <a:r>
                        <a:rPr sz="2550" b="0">
                          <a:solidFill>
                            <a:srgbClr val="183247"/>
                          </a:solidFill>
                          <a:latin typeface="Arial"/>
                          <a:ea typeface="Arial"/>
                          <a:cs typeface="Arial"/>
                        </a:rPr>
                        <a:t>Oorspronkelijk aanbod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Pp = 8 + 0,10Q</a:t>
                      </a:r>
                    </a:p>
                  </a:txBody>
                  <a:tcPr marL="91440" marR="91440" marT="45720" marB="45720" anchor="ctr">
                    <a:solidFill>
                      <a:srgbClr val="FFFFFF"/>
                    </a:solidFill>
                  </a:tcPr>
                </a:tc>
              </a:tr>
              <a:tr h="833438">
                <a:tc>
                  <a:txBody>
                    <a:bodyPr lIns="171450" tIns="95250" rIns="152400" bIns="95250"/>
                    <a:lstStyle/>
                    <a:p>
                      <a:r>
                        <a:rPr sz="2550" b="0">
                          <a:solidFill>
                            <a:srgbClr val="183247"/>
                          </a:solidFill>
                          <a:latin typeface="Arial"/>
                          <a:ea typeface="Arial"/>
                          <a:cs typeface="Arial"/>
                        </a:rPr>
                        <a:t>Subsidie per verkochte controle</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s = € 6</a:t>
                      </a:r>
                    </a:p>
                  </a:txBody>
                  <a:tcPr marL="91440" marR="91440" marT="45720" marB="45720" anchor="ctr">
                    <a:solidFill>
                      <a:srgbClr val="EFF4F7"/>
                    </a:solidFill>
                  </a:tcPr>
                </a:tc>
              </a:tr>
              <a:tr h="833438">
                <a:tc>
                  <a:txBody>
                    <a:bodyPr lIns="171450" tIns="95250" rIns="152400" bIns="95250"/>
                    <a:lstStyle/>
                    <a:p>
                      <a:r>
                        <a:rPr sz="2550" b="0">
                          <a:solidFill>
                            <a:srgbClr val="183247"/>
                          </a:solidFill>
                          <a:latin typeface="Arial"/>
                          <a:ea typeface="Arial"/>
                          <a:cs typeface="Arial"/>
                        </a:rPr>
                        <a:t>Eenheden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Q per week; prijzen in € per controle</a:t>
                      </a:r>
                    </a:p>
                  </a:txBody>
                  <a:tcPr marL="91440" marR="91440" marT="45720" marB="45720" anchor="ctr">
                    <a:solidFill>
                      <a:srgbClr val="FFFFFF"/>
                    </a:solidFill>
                  </a:tcPr>
                </a:tc>
              </a:tr>
            </a:tbl>
          </a:graphicData>
        </a:graphic>
      </p:graphicFrame>
      <p:sp>
        <p:nvSpPr>
          <p:cNvPr id="7" name="Geen baten voor buitenstaanders en geen uitvoeringskost">
            <a:extLst xmlns:a="http://schemas.openxmlformats.org/drawingml/2006/main">
              <a:ext uri="{FF2B5EF4-FFF2-40B4-BE49-F238E27FC236}">
                <a16:creationId xmlns:a16="http://schemas.microsoft.com/office/drawing/2014/main" id="{E884D2A5-BD8E-4822-8A8D-83A21E79731A}"/>
              </a:ext>
            </a:extLst>
          </p:cNvPr>
          <p:cNvSpPr>
            <a:spLocks xmlns:a="http://schemas.openxmlformats.org/drawingml/2006/main" noGrp="1"/>
          </p:cNvSpPr>
          <p:nvPr/>
        </p:nvSpPr>
        <p:spPr>
          <a:xfrm xmlns:a="http://schemas.openxmlformats.org/drawingml/2006/main">
            <a:off x="571500" y="68865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Geen baten voor buitenstaanders en geen uitvoeringskosten.</a:t>
            </a:r>
          </a:p>
        </p:txBody>
      </p:sp>
    </p:spTree>
    <p:extLst>
      <p:ext uri="{BB962C8B-B14F-4D97-AF65-F5344CB8AC3E}">
        <p14:creationId xmlns:p14="http://schemas.microsoft.com/office/powerpoint/2010/main" val="9395720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Zonder subsidie: één evenwichtsprijs">
            <a:extLst xmlns:a="http://schemas.openxmlformats.org/drawingml/2006/main">
              <a:ext uri="{FF2B5EF4-FFF2-40B4-BE49-F238E27FC236}">
                <a16:creationId xmlns:a16="http://schemas.microsoft.com/office/drawing/2014/main" id="{B536A247-1A44-464C-ACD8-C96663BE5FC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Zonder subsidie: één evenwichtsprijs</a:t>
            </a:r>
          </a:p>
        </p:txBody>
      </p:sp>
      <p:sp>
        <p:nvSpPr>
          <p:cNvPr id="2" name="">
            <a:extLst xmlns:a="http://schemas.openxmlformats.org/drawingml/2006/main">
              <a:ext uri="{FF2B5EF4-FFF2-40B4-BE49-F238E27FC236}">
                <a16:creationId xmlns:a16="http://schemas.microsoft.com/office/drawing/2014/main" id="{AD07D8BB-2AE1-4FBB-A6BB-C80FAD88BE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06C0C3C-BD8F-4126-91FD-2BDE36A8563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7D983FD5-F481-49B3-8A92-EA71D8A11ED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b873160e3b864649"/>
          </a:graphicData>
        </a:graphic>
      </p:graphicFrame>
      <p:sp>
        <p:nvSpPr>
          <p:cNvPr id="6" name="V = A">
            <a:extLst xmlns:a="http://schemas.openxmlformats.org/drawingml/2006/main">
              <a:ext uri="{FF2B5EF4-FFF2-40B4-BE49-F238E27FC236}">
                <a16:creationId xmlns:a16="http://schemas.microsoft.com/office/drawing/2014/main" id="{896581EC-FFF9-4B52-9154-B8223303451C}"/>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 = A</a:t>
            </a:r>
          </a:p>
        </p:txBody>
      </p:sp>
      <p:sp>
        <p:nvSpPr>
          <p:cNvPr id="7" name="32 − 0,20Q&#10;= 8 + 0,10Q&#10;&#10;24 = 0,30Q&#10;Q₀ = 80&#10;P₀ = € 16">
            <a:extLst xmlns:a="http://schemas.openxmlformats.org/drawingml/2006/main">
              <a:ext uri="{FF2B5EF4-FFF2-40B4-BE49-F238E27FC236}">
                <a16:creationId xmlns:a16="http://schemas.microsoft.com/office/drawing/2014/main" id="{10D2DD65-C57F-42D2-9C5B-D431CE778D4E}"/>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32 − 0,20Q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8 + 0,10Q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24 = 0,30Q</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Q₀ = 80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P₀ = € 16</a:t>
            </a:r>
          </a:p>
        </p:txBody>
      </p:sp>
      <p:sp>
        <p:nvSpPr>
          <p:cNvPr id="8" name="80 controles&#10;per week">
            <a:extLst xmlns:a="http://schemas.openxmlformats.org/drawingml/2006/main">
              <a:ext uri="{FF2B5EF4-FFF2-40B4-BE49-F238E27FC236}">
                <a16:creationId xmlns:a16="http://schemas.microsoft.com/office/drawing/2014/main" id="{F184A7D9-4F33-41B3-9C42-85DE024260BC}"/>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80 controles</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per week</a:t>
            </a:r>
          </a:p>
        </p:txBody>
      </p:sp>
    </p:spTree>
    <p:extLst>
      <p:ext uri="{BB962C8B-B14F-4D97-AF65-F5344CB8AC3E}">
        <p14:creationId xmlns:p14="http://schemas.microsoft.com/office/powerpoint/2010/main" val="14307352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t aanbod in kopersprijzen">
            <a:extLst xmlns:a="http://schemas.openxmlformats.org/drawingml/2006/main">
              <a:ext uri="{FF2B5EF4-FFF2-40B4-BE49-F238E27FC236}">
                <a16:creationId xmlns:a16="http://schemas.microsoft.com/office/drawing/2014/main" id="{9E29A980-E271-433A-96AA-B3ADFA114EF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aanbod in kopersprijzen</a:t>
            </a:r>
          </a:p>
        </p:txBody>
      </p:sp>
      <p:sp>
        <p:nvSpPr>
          <p:cNvPr id="2" name="">
            <a:extLst xmlns:a="http://schemas.openxmlformats.org/drawingml/2006/main">
              <a:ext uri="{FF2B5EF4-FFF2-40B4-BE49-F238E27FC236}">
                <a16:creationId xmlns:a16="http://schemas.microsoft.com/office/drawing/2014/main" id="{05E3690D-D91D-4009-BE31-280F58D7EBE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AD8EE225-F382-4A3B-9195-C4B6160AFE9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0058F308-CDD8-4948-A69E-AD651F5FA7E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Pp = 8 + 0,10Q">
            <a:extLst xmlns:a="http://schemas.openxmlformats.org/drawingml/2006/main">
              <a:ext uri="{FF2B5EF4-FFF2-40B4-BE49-F238E27FC236}">
                <a16:creationId xmlns:a16="http://schemas.microsoft.com/office/drawing/2014/main" id="{63F6E0F3-A9E9-4DFB-94BE-85DCB1C05F26}"/>
              </a:ext>
            </a:extLst>
          </p:cNvPr>
          <p:cNvSpPr>
            <a:spLocks xmlns:a="http://schemas.openxmlformats.org/drawingml/2006/main" noGrp="1"/>
          </p:cNvSpPr>
          <p:nvPr/>
        </p:nvSpPr>
        <p:spPr>
          <a:xfrm xmlns:a="http://schemas.openxmlformats.org/drawingml/2006/main">
            <a:off x="571500" y="2286000"/>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Pp = 8 + 0,10Q</a:t>
            </a:r>
          </a:p>
        </p:txBody>
      </p:sp>
      <p:sp>
        <p:nvSpPr>
          <p:cNvPr id="6" name="Pc = Pp − s">
            <a:extLst xmlns:a="http://schemas.openxmlformats.org/drawingml/2006/main">
              <a:ext uri="{FF2B5EF4-FFF2-40B4-BE49-F238E27FC236}">
                <a16:creationId xmlns:a16="http://schemas.microsoft.com/office/drawing/2014/main" id="{41B2159F-F0E0-42F3-B13C-BB8CA1D8AEB7}"/>
              </a:ext>
            </a:extLst>
          </p:cNvPr>
          <p:cNvSpPr>
            <a:spLocks xmlns:a="http://schemas.openxmlformats.org/drawingml/2006/main" noGrp="1"/>
          </p:cNvSpPr>
          <p:nvPr/>
        </p:nvSpPr>
        <p:spPr>
          <a:xfrm xmlns:a="http://schemas.openxmlformats.org/drawingml/2006/main">
            <a:off x="571500" y="3667125"/>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Pc = Pp − s</a:t>
            </a:r>
          </a:p>
        </p:txBody>
      </p:sp>
      <p:sp>
        <p:nvSpPr>
          <p:cNvPr id="7" name="Pc = (8 + 0,10Q) − 6 = 2 + 0,10Q">
            <a:extLst xmlns:a="http://schemas.openxmlformats.org/drawingml/2006/main">
              <a:ext uri="{FF2B5EF4-FFF2-40B4-BE49-F238E27FC236}">
                <a16:creationId xmlns:a16="http://schemas.microsoft.com/office/drawing/2014/main" id="{B75CF167-0A34-4CAC-BBDB-F3142E6DC4F1}"/>
              </a:ext>
            </a:extLst>
          </p:cNvPr>
          <p:cNvSpPr>
            <a:spLocks xmlns:a="http://schemas.openxmlformats.org/drawingml/2006/main" noGrp="1"/>
          </p:cNvSpPr>
          <p:nvPr/>
        </p:nvSpPr>
        <p:spPr>
          <a:xfrm xmlns:a="http://schemas.openxmlformats.org/drawingml/2006/main">
            <a:off x="571500" y="5048250"/>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Pc = (8 + 0,10Q) − 6 = 2 + 0,10Q</a:t>
            </a:r>
          </a:p>
        </p:txBody>
      </p:sp>
      <p:sp>
        <p:nvSpPr>
          <p:cNvPr id="8" name="Dezelfde gewenste ontvangst, € 6 minder van de koper.">
            <a:extLst xmlns:a="http://schemas.openxmlformats.org/drawingml/2006/main">
              <a:ext uri="{FF2B5EF4-FFF2-40B4-BE49-F238E27FC236}">
                <a16:creationId xmlns:a16="http://schemas.microsoft.com/office/drawing/2014/main" id="{5A7B63D1-9293-4D6D-B6E3-4DFA77894DBA}"/>
              </a:ext>
            </a:extLst>
          </p:cNvPr>
          <p:cNvSpPr>
            <a:spLocks xmlns:a="http://schemas.openxmlformats.org/drawingml/2006/main" noGrp="1"/>
          </p:cNvSpPr>
          <p:nvPr/>
        </p:nvSpPr>
        <p:spPr>
          <a:xfrm xmlns:a="http://schemas.openxmlformats.org/drawingml/2006/main">
            <a:off x="571500" y="70104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Dezelfde gewenste ontvangst, € 6 minder van de koper.</a:t>
            </a:r>
          </a:p>
        </p:txBody>
      </p:sp>
    </p:spTree>
    <p:extLst>
      <p:ext uri="{BB962C8B-B14F-4D97-AF65-F5344CB8AC3E}">
        <p14:creationId xmlns:p14="http://schemas.microsoft.com/office/powerpoint/2010/main" val="13074087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 − s ligt € 6 onder A">
            <a:extLst xmlns:a="http://schemas.openxmlformats.org/drawingml/2006/main">
              <a:ext uri="{FF2B5EF4-FFF2-40B4-BE49-F238E27FC236}">
                <a16:creationId xmlns:a16="http://schemas.microsoft.com/office/drawing/2014/main" id="{894ECF5E-CAF9-457D-AC57-27F323CE0E6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 − s ligt € 6 onder A</a:t>
            </a:r>
          </a:p>
        </p:txBody>
      </p:sp>
      <p:sp>
        <p:nvSpPr>
          <p:cNvPr id="2" name="">
            <a:extLst xmlns:a="http://schemas.openxmlformats.org/drawingml/2006/main">
              <a:ext uri="{FF2B5EF4-FFF2-40B4-BE49-F238E27FC236}">
                <a16:creationId xmlns:a16="http://schemas.microsoft.com/office/drawing/2014/main" id="{B178AC2F-BC27-4201-B6F4-2D907E74CC1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CB339CB6-7D70-4CCE-9F8C-265555712E7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6">
            <a:extLst xmlns:a="http://schemas.openxmlformats.org/drawingml/2006/main">
              <a:ext uri="{FF2B5EF4-FFF2-40B4-BE49-F238E27FC236}">
                <a16:creationId xmlns:a16="http://schemas.microsoft.com/office/drawing/2014/main" id="{0DA5DA2B-9D37-443C-8E4A-5FAA58AA977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7bf64a4f968743a9"/>
          </a:graphicData>
        </a:graphic>
      </p:graphicFrame>
      <p:sp>
        <p:nvSpPr>
          <p:cNvPr id="6" name="Twee aanbodlijnen">
            <a:extLst xmlns:a="http://schemas.openxmlformats.org/drawingml/2006/main">
              <a:ext uri="{FF2B5EF4-FFF2-40B4-BE49-F238E27FC236}">
                <a16:creationId xmlns:a16="http://schemas.microsoft.com/office/drawing/2014/main" id="{195AB3F5-D28A-4F10-888D-53DF4C6E978F}"/>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Twee aanbodlijnen</a:t>
            </a:r>
          </a:p>
        </p:txBody>
      </p:sp>
      <p:sp>
        <p:nvSpPr>
          <p:cNvPr id="7" name="A: Pp = 8 + 0,10Q&#10;&#10;A − s:&#10;Pc = 2 + 0,10Q">
            <a:extLst xmlns:a="http://schemas.openxmlformats.org/drawingml/2006/main">
              <a:ext uri="{FF2B5EF4-FFF2-40B4-BE49-F238E27FC236}">
                <a16:creationId xmlns:a16="http://schemas.microsoft.com/office/drawing/2014/main" id="{26639E0F-B846-44BA-80CF-10916AA619AC}"/>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 Pp = 8 + 0,10Q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 − s:</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Pc = 2 + 0,10Q</a:t>
            </a:r>
          </a:p>
        </p:txBody>
      </p:sp>
      <p:sp>
        <p:nvSpPr>
          <p:cNvPr id="8" name="V blijft gelijk">
            <a:extLst xmlns:a="http://schemas.openxmlformats.org/drawingml/2006/main">
              <a:ext uri="{FF2B5EF4-FFF2-40B4-BE49-F238E27FC236}">
                <a16:creationId xmlns:a16="http://schemas.microsoft.com/office/drawing/2014/main" id="{348F8D04-889C-4A03-8796-1A00B27E2260}"/>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V blijft gelijk</a:t>
            </a:r>
          </a:p>
        </p:txBody>
      </p:sp>
    </p:spTree>
    <p:extLst>
      <p:ext uri="{BB962C8B-B14F-4D97-AF65-F5344CB8AC3E}">
        <p14:creationId xmlns:p14="http://schemas.microsoft.com/office/powerpoint/2010/main" val="93631395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nieuwe hoeveelheid en beide prijzen">
            <a:extLst xmlns:a="http://schemas.openxmlformats.org/drawingml/2006/main">
              <a:ext uri="{FF2B5EF4-FFF2-40B4-BE49-F238E27FC236}">
                <a16:creationId xmlns:a16="http://schemas.microsoft.com/office/drawing/2014/main" id="{76E3CE8D-681F-431D-B41C-BB9B65D22D8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nieuwe hoeveelheid en beide prijzen</a:t>
            </a:r>
          </a:p>
        </p:txBody>
      </p:sp>
      <p:sp>
        <p:nvSpPr>
          <p:cNvPr id="2" name="">
            <a:extLst xmlns:a="http://schemas.openxmlformats.org/drawingml/2006/main">
              <a:ext uri="{FF2B5EF4-FFF2-40B4-BE49-F238E27FC236}">
                <a16:creationId xmlns:a16="http://schemas.microsoft.com/office/drawing/2014/main" id="{205545F3-5BFF-4AE0-990F-92A671223D6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4A9BAEF-AD91-456B-8347-8E7A5220D87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7">
            <a:extLst xmlns:a="http://schemas.openxmlformats.org/drawingml/2006/main">
              <a:ext uri="{FF2B5EF4-FFF2-40B4-BE49-F238E27FC236}">
                <a16:creationId xmlns:a16="http://schemas.microsoft.com/office/drawing/2014/main" id="{C4B5EA44-C90D-4034-82E9-8F4B2DFFEA6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32 − 0,20Q = 2 + 0,10Q">
            <a:extLst xmlns:a="http://schemas.openxmlformats.org/drawingml/2006/main">
              <a:ext uri="{FF2B5EF4-FFF2-40B4-BE49-F238E27FC236}">
                <a16:creationId xmlns:a16="http://schemas.microsoft.com/office/drawing/2014/main" id="{0397B571-6065-485A-917E-9C045DA4DFC2}"/>
              </a:ext>
            </a:extLst>
          </p:cNvPr>
          <p:cNvSpPr>
            <a:spLocks xmlns:a="http://schemas.openxmlformats.org/drawingml/2006/main" noGrp="1"/>
          </p:cNvSpPr>
          <p:nvPr/>
        </p:nvSpPr>
        <p:spPr>
          <a:xfrm xmlns:a="http://schemas.openxmlformats.org/drawingml/2006/main">
            <a:off x="571500" y="214312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32 − 0,20Q = 2 + 0,10Q</a:t>
            </a:r>
          </a:p>
        </p:txBody>
      </p:sp>
      <p:sp>
        <p:nvSpPr>
          <p:cNvPr id="6" name="30 = 0,30Q       Qsub = 100 controles per week">
            <a:extLst xmlns:a="http://schemas.openxmlformats.org/drawingml/2006/main">
              <a:ext uri="{FF2B5EF4-FFF2-40B4-BE49-F238E27FC236}">
                <a16:creationId xmlns:a16="http://schemas.microsoft.com/office/drawing/2014/main" id="{0BA26C77-4E5C-47E1-A150-1792DF13A28C}"/>
              </a:ext>
            </a:extLst>
          </p:cNvPr>
          <p:cNvSpPr>
            <a:spLocks xmlns:a="http://schemas.openxmlformats.org/drawingml/2006/main" noGrp="1"/>
          </p:cNvSpPr>
          <p:nvPr/>
        </p:nvSpPr>
        <p:spPr>
          <a:xfrm xmlns:a="http://schemas.openxmlformats.org/drawingml/2006/main">
            <a:off x="571500" y="334327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30 = 0,30Q       Qsub = 100 controles per week</a:t>
            </a:r>
          </a:p>
        </p:txBody>
      </p:sp>
      <p:sp>
        <p:nvSpPr>
          <p:cNvPr id="7" name="Pc = 32 − 0,20 × 100 = € 12">
            <a:extLst xmlns:a="http://schemas.openxmlformats.org/drawingml/2006/main">
              <a:ext uri="{FF2B5EF4-FFF2-40B4-BE49-F238E27FC236}">
                <a16:creationId xmlns:a16="http://schemas.microsoft.com/office/drawing/2014/main" id="{41ED509A-A513-4527-BDE7-8FA7B3EB023A}"/>
              </a:ext>
            </a:extLst>
          </p:cNvPr>
          <p:cNvSpPr>
            <a:spLocks xmlns:a="http://schemas.openxmlformats.org/drawingml/2006/main" noGrp="1"/>
          </p:cNvSpPr>
          <p:nvPr/>
        </p:nvSpPr>
        <p:spPr>
          <a:xfrm xmlns:a="http://schemas.openxmlformats.org/drawingml/2006/main">
            <a:off x="571500" y="454342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Pc = 32 − 0,20 × 100 = € 12</a:t>
            </a:r>
          </a:p>
        </p:txBody>
      </p:sp>
      <p:sp>
        <p:nvSpPr>
          <p:cNvPr id="8" name="Pp = 8 + 0,10 × 100 = € 18">
            <a:extLst xmlns:a="http://schemas.openxmlformats.org/drawingml/2006/main">
              <a:ext uri="{FF2B5EF4-FFF2-40B4-BE49-F238E27FC236}">
                <a16:creationId xmlns:a16="http://schemas.microsoft.com/office/drawing/2014/main" id="{0A6DFED7-3DE8-4E16-B378-DEB65D0069E2}"/>
              </a:ext>
            </a:extLst>
          </p:cNvPr>
          <p:cNvSpPr>
            <a:spLocks xmlns:a="http://schemas.openxmlformats.org/drawingml/2006/main" noGrp="1"/>
          </p:cNvSpPr>
          <p:nvPr/>
        </p:nvSpPr>
        <p:spPr>
          <a:xfrm xmlns:a="http://schemas.openxmlformats.org/drawingml/2006/main">
            <a:off x="571500" y="574357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Pp = 8 + 0,10 × 100 = € 18</a:t>
            </a:r>
          </a:p>
        </p:txBody>
      </p:sp>
      <p:sp>
        <p:nvSpPr>
          <p:cNvPr id="9" name="Controle: Pp − Pc = 18 − 12 = € 6 per controle">
            <a:extLst xmlns:a="http://schemas.openxmlformats.org/drawingml/2006/main">
              <a:ext uri="{FF2B5EF4-FFF2-40B4-BE49-F238E27FC236}">
                <a16:creationId xmlns:a16="http://schemas.microsoft.com/office/drawing/2014/main" id="{4CD9DCA6-14C3-480F-B4D2-B4BFFAB4F70B}"/>
              </a:ext>
            </a:extLst>
          </p:cNvPr>
          <p:cNvSpPr>
            <a:spLocks xmlns:a="http://schemas.openxmlformats.org/drawingml/2006/main" noGrp="1"/>
          </p:cNvSpPr>
          <p:nvPr/>
        </p:nvSpPr>
        <p:spPr>
          <a:xfrm xmlns:a="http://schemas.openxmlformats.org/drawingml/2006/main">
            <a:off x="571500" y="726757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Controle: Pp − Pc = 18 − 12 = € 6 per controle</a:t>
            </a:r>
          </a:p>
        </p:txBody>
      </p:sp>
    </p:spTree>
    <p:extLst>
      <p:ext uri="{BB962C8B-B14F-4D97-AF65-F5344CB8AC3E}">
        <p14:creationId xmlns:p14="http://schemas.microsoft.com/office/powerpoint/2010/main" val="7613413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wee prijzen bij dezelfde hoeveelheid">
            <a:extLst xmlns:a="http://schemas.openxmlformats.org/drawingml/2006/main">
              <a:ext uri="{FF2B5EF4-FFF2-40B4-BE49-F238E27FC236}">
                <a16:creationId xmlns:a16="http://schemas.microsoft.com/office/drawing/2014/main" id="{341C2CC4-5E33-44F4-8632-4078DEECC75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Twee prijzen bij dezelfde hoeveelheid</a:t>
            </a:r>
          </a:p>
        </p:txBody>
      </p:sp>
      <p:sp>
        <p:nvSpPr>
          <p:cNvPr id="2" name="">
            <a:extLst xmlns:a="http://schemas.openxmlformats.org/drawingml/2006/main">
              <a:ext uri="{FF2B5EF4-FFF2-40B4-BE49-F238E27FC236}">
                <a16:creationId xmlns:a16="http://schemas.microsoft.com/office/drawing/2014/main" id="{3ADF7B38-3B5B-4183-A532-06FA479466D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7FED6F25-9DBA-43A6-91FA-082EB3B61A9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8">
            <a:extLst xmlns:a="http://schemas.openxmlformats.org/drawingml/2006/main">
              <a:ext uri="{FF2B5EF4-FFF2-40B4-BE49-F238E27FC236}">
                <a16:creationId xmlns:a16="http://schemas.microsoft.com/office/drawing/2014/main" id="{41F3F818-142F-4491-A576-15CDE6C482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38838fcd9a924db1"/>
          </a:graphicData>
        </a:graphic>
      </p:graphicFrame>
      <p:sp>
        <p:nvSpPr>
          <p:cNvPr id="6" name="Qsub = 100">
            <a:extLst xmlns:a="http://schemas.openxmlformats.org/drawingml/2006/main">
              <a:ext uri="{FF2B5EF4-FFF2-40B4-BE49-F238E27FC236}">
                <a16:creationId xmlns:a16="http://schemas.microsoft.com/office/drawing/2014/main" id="{6B6CA123-A290-48FF-ADA9-8E4566FECAE2}"/>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Qsub = 100</a:t>
            </a:r>
          </a:p>
        </p:txBody>
      </p:sp>
      <p:sp>
        <p:nvSpPr>
          <p:cNvPr id="7" name="Op V: Pc = € 12&#10;&#10;Op A: Pp = € 18&#10;&#10;Wig: € 6">
            <a:extLst xmlns:a="http://schemas.openxmlformats.org/drawingml/2006/main">
              <a:ext uri="{FF2B5EF4-FFF2-40B4-BE49-F238E27FC236}">
                <a16:creationId xmlns:a16="http://schemas.microsoft.com/office/drawing/2014/main" id="{1DA125B1-646E-4110-8379-5C2F4FE0452A}"/>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 V: Pc = € 12</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 A: Pp = € 18</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Wig: € 6</a:t>
            </a:r>
          </a:p>
        </p:txBody>
      </p:sp>
      <p:sp>
        <p:nvSpPr>
          <p:cNvPr id="8" name="Pp is inclusief&#10;de subsidie">
            <a:extLst xmlns:a="http://schemas.openxmlformats.org/drawingml/2006/main">
              <a:ext uri="{FF2B5EF4-FFF2-40B4-BE49-F238E27FC236}">
                <a16:creationId xmlns:a16="http://schemas.microsoft.com/office/drawing/2014/main" id="{13C6EB0D-1154-4F45-86B7-04F4833EA1D6}"/>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Pp is inclusief</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de subsidie</a:t>
            </a:r>
          </a:p>
        </p:txBody>
      </p:sp>
    </p:spTree>
    <p:extLst>
      <p:ext uri="{BB962C8B-B14F-4D97-AF65-F5344CB8AC3E}">
        <p14:creationId xmlns:p14="http://schemas.microsoft.com/office/powerpoint/2010/main" val="60470028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 verdeling van het voordeel">
            <a:extLst xmlns:a="http://schemas.openxmlformats.org/drawingml/2006/main">
              <a:ext uri="{FF2B5EF4-FFF2-40B4-BE49-F238E27FC236}">
                <a16:creationId xmlns:a16="http://schemas.microsoft.com/office/drawing/2014/main" id="{E3708D71-1C57-48EE-AEE9-C79B6AED2F0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verdeling van het voordeel</a:t>
            </a:r>
          </a:p>
        </p:txBody>
      </p:sp>
      <p:sp>
        <p:nvSpPr>
          <p:cNvPr id="2" name="">
            <a:extLst xmlns:a="http://schemas.openxmlformats.org/drawingml/2006/main">
              <a:ext uri="{FF2B5EF4-FFF2-40B4-BE49-F238E27FC236}">
                <a16:creationId xmlns:a16="http://schemas.microsoft.com/office/drawing/2014/main" id="{B08F6EB5-A561-46FF-9477-66620C9B93D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92F5C08B-9C55-455E-A162-0A219B387D2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9">
            <a:extLst xmlns:a="http://schemas.openxmlformats.org/drawingml/2006/main">
              <a:ext uri="{FF2B5EF4-FFF2-40B4-BE49-F238E27FC236}">
                <a16:creationId xmlns:a16="http://schemas.microsoft.com/office/drawing/2014/main" id="{760F85C4-5736-4C3A-AC37-1A087910064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1" name=""/>
          <p:cNvGraphicFramePr/>
          <p:nvPr/>
        </p:nvGraphicFramePr>
        <p:xfrm>
          <a:off xmlns:a="http://schemas.openxmlformats.org/drawingml/2006/main" x="571500" y="2362200"/>
          <a:ext xmlns:a="http://schemas.openxmlformats.org/drawingml/2006/main" cx="14097000" cy="3190875"/>
        </p:xfrm>
        <a:graphic xmlns:a="http://schemas.openxmlformats.org/drawingml/2006/main">
          <a:graphicData uri="http://schemas.openxmlformats.org/drawingml/2006/table">
            <a:tbl>
              <a:tblPr/>
              <a:tblGrid>
                <a:gridCol w="4286250"/>
                <a:gridCol w="6000750"/>
                <a:gridCol w="3810000"/>
              </a:tblGrid>
              <a:tr h="1063625">
                <a:tc>
                  <a:txBody>
                    <a:bodyPr lIns="171450" tIns="95250" rIns="152400" bIns="95250"/>
                    <a:lstStyle/>
                    <a:p>
                      <a:r>
                        <a:rPr sz="2625" b="1">
                          <a:solidFill>
                            <a:srgbClr val="FFFFFF"/>
                          </a:solidFill>
                          <a:latin typeface="Arial"/>
                          <a:ea typeface="Arial"/>
                          <a:cs typeface="Arial"/>
                        </a:rPr>
                        <a:t>Per controle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Vergelijking met P₀ = € 16</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Voordeel</a:t>
                      </a:r>
                    </a:p>
                  </a:txBody>
                  <a:tcPr marL="91440" marR="91440" marT="45720" marB="45720" anchor="ctr">
                    <a:solidFill>
                      <a:srgbClr val="183247"/>
                    </a:solidFill>
                  </a:tcPr>
                </a:tc>
              </a:tr>
              <a:tr h="1063625">
                <a:tc>
                  <a:txBody>
                    <a:bodyPr lIns="171450" tIns="95250" rIns="152400" bIns="95250"/>
                    <a:lstStyle/>
                    <a:p>
                      <a:r>
                        <a:rPr sz="2625" b="0">
                          <a:solidFill>
                            <a:srgbClr val="183247"/>
                          </a:solidFill>
                          <a:latin typeface="Arial"/>
                          <a:ea typeface="Arial"/>
                          <a:cs typeface="Arial"/>
                        </a:rPr>
                        <a:t>Koper</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€ 16 − € 12</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€ 4</a:t>
                      </a:r>
                    </a:p>
                  </a:txBody>
                  <a:tcPr marL="91440" marR="91440" marT="45720" marB="45720" anchor="ctr">
                    <a:solidFill>
                      <a:srgbClr val="FFFFFF"/>
                    </a:solidFill>
                  </a:tcPr>
                </a:tc>
              </a:tr>
              <a:tr h="1063625">
                <a:tc>
                  <a:txBody>
                    <a:bodyPr lIns="171450" tIns="95250" rIns="152400" bIns="95250"/>
                    <a:lstStyle/>
                    <a:p>
                      <a:r>
                        <a:rPr sz="2625" b="0">
                          <a:solidFill>
                            <a:srgbClr val="183247"/>
                          </a:solidFill>
                          <a:latin typeface="Arial"/>
                          <a:ea typeface="Arial"/>
                          <a:cs typeface="Arial"/>
                        </a:rPr>
                        <a:t>Aanbieder</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€ 18 − € 16</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€ 2</a:t>
                      </a:r>
                    </a:p>
                  </a:txBody>
                  <a:tcPr marL="91440" marR="91440" marT="45720" marB="45720" anchor="ctr">
                    <a:solidFill>
                      <a:srgbClr val="EFF4F7"/>
                    </a:solidFill>
                  </a:tcPr>
                </a:tc>
              </a:tr>
            </a:tbl>
          </a:graphicData>
        </a:graphic>
      </p:graphicFrame>
      <p:sp>
        <p:nvSpPr>
          <p:cNvPr id="6" name="€ 4 + € 2 = € 6 subsidie per verkochte controle">
            <a:extLst xmlns:a="http://schemas.openxmlformats.org/drawingml/2006/main">
              <a:ext uri="{FF2B5EF4-FFF2-40B4-BE49-F238E27FC236}">
                <a16:creationId xmlns:a16="http://schemas.microsoft.com/office/drawing/2014/main" id="{818C9517-D750-4CF4-9361-FAF1F8E79C15}"/>
              </a:ext>
            </a:extLst>
          </p:cNvPr>
          <p:cNvSpPr>
            <a:spLocks xmlns:a="http://schemas.openxmlformats.org/drawingml/2006/main" noGrp="1"/>
          </p:cNvSpPr>
          <p:nvPr/>
        </p:nvSpPr>
        <p:spPr>
          <a:xfrm xmlns:a="http://schemas.openxmlformats.org/drawingml/2006/main">
            <a:off x="571500" y="6353175"/>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€ 4 + € 2 = € 6 subsidie per verkochte controle</a:t>
            </a:r>
          </a:p>
        </p:txBody>
      </p:sp>
    </p:spTree>
    <p:extLst>
      <p:ext uri="{BB962C8B-B14F-4D97-AF65-F5344CB8AC3E}">
        <p14:creationId xmlns:p14="http://schemas.microsoft.com/office/powerpoint/2010/main" val="525711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overheid betaalt voor alle 100 controles">
            <a:extLst xmlns:a="http://schemas.openxmlformats.org/drawingml/2006/main">
              <a:ext uri="{FF2B5EF4-FFF2-40B4-BE49-F238E27FC236}">
                <a16:creationId xmlns:a16="http://schemas.microsoft.com/office/drawing/2014/main" id="{7F8EEA50-89F5-4F7F-8CA4-A7C01D7ED4B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overheid betaalt voor alle 100 controles</a:t>
            </a:r>
          </a:p>
        </p:txBody>
      </p:sp>
      <p:sp>
        <p:nvSpPr>
          <p:cNvPr id="2" name="">
            <a:extLst xmlns:a="http://schemas.openxmlformats.org/drawingml/2006/main">
              <a:ext uri="{FF2B5EF4-FFF2-40B4-BE49-F238E27FC236}">
                <a16:creationId xmlns:a16="http://schemas.microsoft.com/office/drawing/2014/main" id="{C2C2E0B9-3EE2-456E-97AB-F6E79833250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0EFEF19-74AF-4EFF-B8C8-F3EA93C9DDE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0">
            <a:extLst xmlns:a="http://schemas.openxmlformats.org/drawingml/2006/main">
              <a:ext uri="{FF2B5EF4-FFF2-40B4-BE49-F238E27FC236}">
                <a16:creationId xmlns:a16="http://schemas.microsoft.com/office/drawing/2014/main" id="{F9A43D5D-1694-4181-A546-3EA84216764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c29e8370cf5042cb"/>
          </a:graphicData>
        </a:graphic>
      </p:graphicFrame>
      <p:sp>
        <p:nvSpPr>
          <p:cNvPr id="6" name="Uitgaven U">
            <a:extLst xmlns:a="http://schemas.openxmlformats.org/drawingml/2006/main">
              <a:ext uri="{FF2B5EF4-FFF2-40B4-BE49-F238E27FC236}">
                <a16:creationId xmlns:a16="http://schemas.microsoft.com/office/drawing/2014/main" id="{5CCD2202-AB21-4E05-B3E1-3BC53DB9D5EA}"/>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Uitgaven U</a:t>
            </a:r>
          </a:p>
        </p:txBody>
      </p:sp>
      <p:sp>
        <p:nvSpPr>
          <p:cNvPr id="7" name="U = s × Qsub&#10;&#10;U = 6 × 100&#10;&#10;U = € 600&#10;per week">
            <a:extLst xmlns:a="http://schemas.openxmlformats.org/drawingml/2006/main">
              <a:ext uri="{FF2B5EF4-FFF2-40B4-BE49-F238E27FC236}">
                <a16:creationId xmlns:a16="http://schemas.microsoft.com/office/drawing/2014/main" id="{3135F667-4C4B-4D5D-BEA0-764CFC2C82DD}"/>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U = s × Qsub</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U = 6 × 100</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U = € 600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per week</a:t>
            </a:r>
          </a:p>
        </p:txBody>
      </p:sp>
      <p:sp>
        <p:nvSpPr>
          <p:cNvPr id="8" name="Rechthoek:&#10;breedte 100&#10;hoogte € 6">
            <a:extLst xmlns:a="http://schemas.openxmlformats.org/drawingml/2006/main">
              <a:ext uri="{FF2B5EF4-FFF2-40B4-BE49-F238E27FC236}">
                <a16:creationId xmlns:a16="http://schemas.microsoft.com/office/drawing/2014/main" id="{C306D682-8727-4C0B-914D-21AFB3C4267E}"/>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Rechthoek:</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breedte 100</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hoogte € 6</a:t>
            </a:r>
          </a:p>
        </p:txBody>
      </p:sp>
    </p:spTree>
    <p:extLst>
      <p:ext uri="{BB962C8B-B14F-4D97-AF65-F5344CB8AC3E}">
        <p14:creationId xmlns:p14="http://schemas.microsoft.com/office/powerpoint/2010/main" val="16758524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nsumentensurplus na subsidie">
            <a:extLst xmlns:a="http://schemas.openxmlformats.org/drawingml/2006/main">
              <a:ext uri="{FF2B5EF4-FFF2-40B4-BE49-F238E27FC236}">
                <a16:creationId xmlns:a16="http://schemas.microsoft.com/office/drawing/2014/main" id="{43A76010-1A5E-4B6C-AAE6-459A6D7D9AB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Consumentensurplus na subsidie</a:t>
            </a:r>
          </a:p>
        </p:txBody>
      </p:sp>
      <p:sp>
        <p:nvSpPr>
          <p:cNvPr id="2" name="">
            <a:extLst xmlns:a="http://schemas.openxmlformats.org/drawingml/2006/main">
              <a:ext uri="{FF2B5EF4-FFF2-40B4-BE49-F238E27FC236}">
                <a16:creationId xmlns:a16="http://schemas.microsoft.com/office/drawing/2014/main" id="{CC6DC4A7-B564-4D10-B3ED-69389929EE2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324A700C-53D8-4D6A-8E92-03DB9736A6D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1">
            <a:extLst xmlns:a="http://schemas.openxmlformats.org/drawingml/2006/main">
              <a:ext uri="{FF2B5EF4-FFF2-40B4-BE49-F238E27FC236}">
                <a16:creationId xmlns:a16="http://schemas.microsoft.com/office/drawing/2014/main" id="{FBE9E1DD-6C7B-4DC5-AD8D-6E400C843DB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4e969cc20e024861"/>
          </a:graphicData>
        </a:graphic>
      </p:graphicFrame>
      <p:sp>
        <p:nvSpPr>
          <p:cNvPr id="6" name="CS">
            <a:extLst xmlns:a="http://schemas.openxmlformats.org/drawingml/2006/main">
              <a:ext uri="{FF2B5EF4-FFF2-40B4-BE49-F238E27FC236}">
                <a16:creationId xmlns:a16="http://schemas.microsoft.com/office/drawing/2014/main" id="{266D9FE4-D800-4ADC-972E-7EB251A2033C}"/>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CS</a:t>
            </a:r>
          </a:p>
        </p:txBody>
      </p:sp>
      <p:sp>
        <p:nvSpPr>
          <p:cNvPr id="7" name="½ × basis × hoogte&#10;&#10;½ × 100 × (32 − 12)&#10;&#10;= € 1.000 per ">
            <a:extLst xmlns:a="http://schemas.openxmlformats.org/drawingml/2006/main">
              <a:ext uri="{FF2B5EF4-FFF2-40B4-BE49-F238E27FC236}">
                <a16:creationId xmlns:a16="http://schemas.microsoft.com/office/drawing/2014/main" id="{BC1C60B6-EEFD-4594-9D1C-6979C6BC8F65}"/>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basis × hoogte</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100 × (32 − 12)</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€ 1.000 per week</a:t>
            </a:r>
          </a:p>
        </p:txBody>
      </p:sp>
      <p:sp>
        <p:nvSpPr>
          <p:cNvPr id="8" name="Boven Pc,&#10;onder V">
            <a:extLst xmlns:a="http://schemas.openxmlformats.org/drawingml/2006/main">
              <a:ext uri="{FF2B5EF4-FFF2-40B4-BE49-F238E27FC236}">
                <a16:creationId xmlns:a16="http://schemas.microsoft.com/office/drawing/2014/main" id="{6EA6F2F0-41AF-481B-8AB0-C0BC011AAB51}"/>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Boven Pc,</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onder V</a:t>
            </a:r>
          </a:p>
        </p:txBody>
      </p:sp>
    </p:spTree>
    <p:extLst>
      <p:ext uri="{BB962C8B-B14F-4D97-AF65-F5344CB8AC3E}">
        <p14:creationId xmlns:p14="http://schemas.microsoft.com/office/powerpoint/2010/main" val="34724068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Producentensurplus na subsidie">
            <a:extLst xmlns:a="http://schemas.openxmlformats.org/drawingml/2006/main">
              <a:ext uri="{FF2B5EF4-FFF2-40B4-BE49-F238E27FC236}">
                <a16:creationId xmlns:a16="http://schemas.microsoft.com/office/drawing/2014/main" id="{51D24C3A-4FBC-45F8-AACD-B847795E291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Producentensurplus na subsidie</a:t>
            </a:r>
          </a:p>
        </p:txBody>
      </p:sp>
      <p:sp>
        <p:nvSpPr>
          <p:cNvPr id="2" name="">
            <a:extLst xmlns:a="http://schemas.openxmlformats.org/drawingml/2006/main">
              <a:ext uri="{FF2B5EF4-FFF2-40B4-BE49-F238E27FC236}">
                <a16:creationId xmlns:a16="http://schemas.microsoft.com/office/drawing/2014/main" id="{6D08093E-701E-4997-A475-D4C9525266F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8ECEABA-1C59-4086-A69F-946154E7A48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2">
            <a:extLst xmlns:a="http://schemas.openxmlformats.org/drawingml/2006/main">
              <a:ext uri="{FF2B5EF4-FFF2-40B4-BE49-F238E27FC236}">
                <a16:creationId xmlns:a16="http://schemas.microsoft.com/office/drawing/2014/main" id="{12E76204-4F11-4C97-9309-4DA15CA64A3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60649e7fe7fa4369"/>
          </a:graphicData>
        </a:graphic>
      </p:graphicFrame>
      <p:sp>
        <p:nvSpPr>
          <p:cNvPr id="6" name="PS">
            <a:extLst xmlns:a="http://schemas.openxmlformats.org/drawingml/2006/main">
              <a:ext uri="{FF2B5EF4-FFF2-40B4-BE49-F238E27FC236}">
                <a16:creationId xmlns:a16="http://schemas.microsoft.com/office/drawing/2014/main" id="{F7A3B510-A92A-401B-9718-5EEAC8A70DB7}"/>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PS</a:t>
            </a:r>
          </a:p>
        </p:txBody>
      </p:sp>
      <p:sp>
        <p:nvSpPr>
          <p:cNvPr id="7" name="½ × basis × hoogte&#10;&#10;½ × 100 × (18 − 8)&#10;&#10;= € 500 per wee">
            <a:extLst xmlns:a="http://schemas.openxmlformats.org/drawingml/2006/main">
              <a:ext uri="{FF2B5EF4-FFF2-40B4-BE49-F238E27FC236}">
                <a16:creationId xmlns:a16="http://schemas.microsoft.com/office/drawing/2014/main" id="{64497257-5036-45C8-B392-618127A1D865}"/>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basis × hoogte</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100 × (18 − 8)</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€ 500 per week</a:t>
            </a:r>
          </a:p>
        </p:txBody>
      </p:sp>
      <p:sp>
        <p:nvSpPr>
          <p:cNvPr id="8" name="Onder Pp,&#10;boven A">
            <a:extLst xmlns:a="http://schemas.openxmlformats.org/drawingml/2006/main">
              <a:ext uri="{FF2B5EF4-FFF2-40B4-BE49-F238E27FC236}">
                <a16:creationId xmlns:a16="http://schemas.microsoft.com/office/drawing/2014/main" id="{CE5A27CF-B7A4-4127-AD67-EA0E03B280D2}"/>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Onder Pp,</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boven A</a:t>
            </a:r>
          </a:p>
        </p:txBody>
      </p:sp>
    </p:spTree>
    <p:extLst>
      <p:ext uri="{BB962C8B-B14F-4D97-AF65-F5344CB8AC3E}">
        <p14:creationId xmlns:p14="http://schemas.microsoft.com/office/powerpoint/2010/main" val="9940256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volledige welvaartsrekening">
            <a:extLst xmlns:a="http://schemas.openxmlformats.org/drawingml/2006/main">
              <a:ext uri="{FF2B5EF4-FFF2-40B4-BE49-F238E27FC236}">
                <a16:creationId xmlns:a16="http://schemas.microsoft.com/office/drawing/2014/main" id="{C4FC4ED2-9431-47FC-AA36-45C0BB62B85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volledige welvaartsrekening</a:t>
            </a:r>
          </a:p>
        </p:txBody>
      </p:sp>
      <p:sp>
        <p:nvSpPr>
          <p:cNvPr id="2" name="">
            <a:extLst xmlns:a="http://schemas.openxmlformats.org/drawingml/2006/main">
              <a:ext uri="{FF2B5EF4-FFF2-40B4-BE49-F238E27FC236}">
                <a16:creationId xmlns:a16="http://schemas.microsoft.com/office/drawing/2014/main" id="{C9122600-906C-4406-898B-E0F7DE63D8C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A84BF08F-AE8D-46E8-98A1-1FBA77D8BAA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3">
            <a:extLst xmlns:a="http://schemas.openxmlformats.org/drawingml/2006/main">
              <a:ext uri="{FF2B5EF4-FFF2-40B4-BE49-F238E27FC236}">
                <a16:creationId xmlns:a16="http://schemas.microsoft.com/office/drawing/2014/main" id="{29C93D1B-1E00-47C4-B1B5-70F4DD634A4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graphicFrame>
        <p:nvGraphicFramePr>
          <p:cNvPr id="12" name=""/>
          <p:cNvGraphicFramePr/>
          <p:nvPr/>
        </p:nvGraphicFramePr>
        <p:xfrm>
          <a:off xmlns:a="http://schemas.openxmlformats.org/drawingml/2006/main" x="571500" y="2047875"/>
          <a:ext xmlns:a="http://schemas.openxmlformats.org/drawingml/2006/main" cx="14097000" cy="4162425"/>
        </p:xfrm>
        <a:graphic xmlns:a="http://schemas.openxmlformats.org/drawingml/2006/main">
          <a:graphicData uri="http://schemas.openxmlformats.org/drawingml/2006/table">
            <a:tbl>
              <a:tblPr/>
              <a:tblGrid>
                <a:gridCol w="3810000"/>
                <a:gridCol w="5905500"/>
                <a:gridCol w="4381500"/>
              </a:tblGrid>
              <a:tr h="832485">
                <a:tc>
                  <a:txBody>
                    <a:bodyPr lIns="171450" tIns="95250" rIns="152400" bIns="95250"/>
                    <a:lstStyle/>
                    <a:p>
                      <a:r>
                        <a:rPr sz="2325" b="1">
                          <a:solidFill>
                            <a:srgbClr val="FFFFFF"/>
                          </a:solidFill>
                          <a:latin typeface="Arial"/>
                          <a:ea typeface="Arial"/>
                          <a:cs typeface="Arial"/>
                        </a:rPr>
                        <a:t>€ per week</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Zonder subsidie</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Met subsidie</a:t>
                      </a:r>
                    </a:p>
                  </a:txBody>
                  <a:tcPr marL="91440" marR="91440" marT="45720" marB="45720" anchor="ctr">
                    <a:solidFill>
                      <a:srgbClr val="183247"/>
                    </a:solidFill>
                  </a:tcPr>
                </a:tc>
              </a:tr>
              <a:tr h="832485">
                <a:tc>
                  <a:txBody>
                    <a:bodyPr lIns="171450" tIns="95250" rIns="152400" bIns="95250"/>
                    <a:lstStyle/>
                    <a:p>
                      <a:r>
                        <a:rPr sz="232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½ × 80 × (32 − 16) = 640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1.000</a:t>
                      </a:r>
                    </a:p>
                  </a:txBody>
                  <a:tcPr marL="91440" marR="91440" marT="45720" marB="45720" anchor="ctr">
                    <a:solidFill>
                      <a:srgbClr val="FFFFFF"/>
                    </a:solidFill>
                  </a:tcPr>
                </a:tc>
              </a:tr>
              <a:tr h="832485">
                <a:tc>
                  <a:txBody>
                    <a:bodyPr lIns="171450" tIns="95250" rIns="152400" bIns="95250"/>
                    <a:lstStyle/>
                    <a:p>
                      <a:r>
                        <a:rPr sz="232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½ × 80 × (16 − 8) = 320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EFF4F7"/>
                    </a:solidFill>
                  </a:tcPr>
                </a:tc>
              </a:tr>
              <a:tr h="832485">
                <a:tc>
                  <a:txBody>
                    <a:bodyPr lIns="171450" tIns="95250" rIns="152400" bIns="95250"/>
                    <a:lstStyle/>
                    <a:p>
                      <a:r>
                        <a:rPr sz="2325" b="0">
                          <a:solidFill>
                            <a:srgbClr val="183247"/>
                          </a:solidFill>
                          <a:latin typeface="Arial"/>
                          <a:ea typeface="Arial"/>
                          <a:cs typeface="Arial"/>
                        </a:rPr>
                        <a:t>Overheidsuitgaven U</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600</a:t>
                      </a:r>
                    </a:p>
                  </a:txBody>
                  <a:tcPr marL="91440" marR="91440" marT="45720" marB="45720" anchor="ctr">
                    <a:solidFill>
                      <a:srgbClr val="FFFFFF"/>
                    </a:solidFill>
                  </a:tcPr>
                </a:tc>
              </a:tr>
              <a:tr h="832485">
                <a:tc>
                  <a:txBody>
                    <a:bodyPr lIns="171450" tIns="95250" rIns="152400" bIns="95250"/>
                    <a:lstStyle/>
                    <a:p>
                      <a:r>
                        <a:rPr sz="2325" b="0">
                          <a:solidFill>
                            <a:srgbClr val="183247"/>
                          </a:solidFill>
                          <a:latin typeface="Arial"/>
                          <a:ea typeface="Arial"/>
                          <a:cs typeface="Arial"/>
                        </a:rPr>
                        <a:t>CS + PS − U</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960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900</a:t>
                      </a:r>
                    </a:p>
                  </a:txBody>
                  <a:tcPr marL="91440" marR="91440" marT="45720" marB="45720" anchor="ctr">
                    <a:solidFill>
                      <a:srgbClr val="EFF4F7"/>
                    </a:solidFill>
                  </a:tcPr>
                </a:tc>
              </a:tr>
            </a:tbl>
          </a:graphicData>
        </a:graphic>
      </p:graphicFrame>
      <p:sp>
        <p:nvSpPr>
          <p:cNvPr id="6" name="CS en PS stijgen samen € 540. De overheid betaalt € 600">
            <a:extLst xmlns:a="http://schemas.openxmlformats.org/drawingml/2006/main">
              <a:ext uri="{FF2B5EF4-FFF2-40B4-BE49-F238E27FC236}">
                <a16:creationId xmlns:a16="http://schemas.microsoft.com/office/drawing/2014/main" id="{1131115A-347F-4DC4-B858-956DFA4E8FCA}"/>
              </a:ext>
            </a:extLst>
          </p:cNvPr>
          <p:cNvSpPr>
            <a:spLocks xmlns:a="http://schemas.openxmlformats.org/drawingml/2006/main" noGrp="1"/>
          </p:cNvSpPr>
          <p:nvPr/>
        </p:nvSpPr>
        <p:spPr>
          <a:xfrm xmlns:a="http://schemas.openxmlformats.org/drawingml/2006/main">
            <a:off x="571500" y="66103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CS en PS stijgen samen € 540. De overheid betaalt € 600.</a:t>
            </a:r>
          </a:p>
        </p:txBody>
      </p:sp>
      <p:sp>
        <p:nvSpPr>
          <p:cNvPr id="7" name="Welvaartsverlies: € 960 − € 900 = € 60 per week">
            <a:extLst xmlns:a="http://schemas.openxmlformats.org/drawingml/2006/main">
              <a:ext uri="{FF2B5EF4-FFF2-40B4-BE49-F238E27FC236}">
                <a16:creationId xmlns:a16="http://schemas.microsoft.com/office/drawing/2014/main" id="{77E8D378-A573-4323-9A8A-E64BE2FE351A}"/>
              </a:ext>
            </a:extLst>
          </p:cNvPr>
          <p:cNvSpPr>
            <a:spLocks xmlns:a="http://schemas.openxmlformats.org/drawingml/2006/main" noGrp="1"/>
          </p:cNvSpPr>
          <p:nvPr/>
        </p:nvSpPr>
        <p:spPr>
          <a:xfrm xmlns:a="http://schemas.openxmlformats.org/drawingml/2006/main">
            <a:off x="571500" y="73247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Welvaartsverlies: € 960 − € 900 = € 60 per week</a:t>
            </a:r>
          </a:p>
        </p:txBody>
      </p:sp>
    </p:spTree>
    <p:extLst>
      <p:ext uri="{BB962C8B-B14F-4D97-AF65-F5344CB8AC3E}">
        <p14:creationId xmlns:p14="http://schemas.microsoft.com/office/powerpoint/2010/main" val="142110386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xtra handel kan voordeel kosten">
            <a:extLst xmlns:a="http://schemas.openxmlformats.org/drawingml/2006/main">
              <a:ext uri="{FF2B5EF4-FFF2-40B4-BE49-F238E27FC236}">
                <a16:creationId xmlns:a16="http://schemas.microsoft.com/office/drawing/2014/main" id="{6ABED829-8C92-48E5-ACBD-78D918CC639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Extra handel kan voordeel kosten</a:t>
            </a:r>
          </a:p>
        </p:txBody>
      </p:sp>
      <p:sp>
        <p:nvSpPr>
          <p:cNvPr id="2" name="">
            <a:extLst xmlns:a="http://schemas.openxmlformats.org/drawingml/2006/main">
              <a:ext uri="{FF2B5EF4-FFF2-40B4-BE49-F238E27FC236}">
                <a16:creationId xmlns:a16="http://schemas.microsoft.com/office/drawing/2014/main" id="{BEC72DA4-85A9-420C-8C63-DAE13350864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AA36BCA2-4D26-4342-A0E8-86516DD194D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4">
            <a:extLst xmlns:a="http://schemas.openxmlformats.org/drawingml/2006/main">
              <a:ext uri="{FF2B5EF4-FFF2-40B4-BE49-F238E27FC236}">
                <a16:creationId xmlns:a16="http://schemas.microsoft.com/office/drawing/2014/main" id="{A25A2BA4-3A12-453C-968F-EAD6DB6E46E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5cd7e5c034404b92"/>
          </a:graphicData>
        </a:graphic>
      </p:graphicFrame>
      <p:sp>
        <p:nvSpPr>
          <p:cNvPr id="6" name="Welvaartsverlies W">
            <a:extLst xmlns:a="http://schemas.openxmlformats.org/drawingml/2006/main">
              <a:ext uri="{FF2B5EF4-FFF2-40B4-BE49-F238E27FC236}">
                <a16:creationId xmlns:a16="http://schemas.microsoft.com/office/drawing/2014/main" id="{36DAB7B2-049F-464B-B6DB-645E98CE7DDD}"/>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Welvaartsverlies W</a:t>
            </a:r>
          </a:p>
        </p:txBody>
      </p:sp>
      <p:sp>
        <p:nvSpPr>
          <p:cNvPr id="7" name="½ × (100 − 80) × 6&#10;= € 60 per week&#10;&#10;Bij Q = 90:&#10;waarde ">
            <a:extLst xmlns:a="http://schemas.openxmlformats.org/drawingml/2006/main">
              <a:ext uri="{FF2B5EF4-FFF2-40B4-BE49-F238E27FC236}">
                <a16:creationId xmlns:a16="http://schemas.microsoft.com/office/drawing/2014/main" id="{891AAAD5-B7E4-45AB-A3AF-1C3424EEB6EB}"/>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½ × (100 − 80) × 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€ 60 per week</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Bij Q = 90: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waarde € 14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kosten € 17</a:t>
            </a:r>
          </a:p>
        </p:txBody>
      </p:sp>
      <p:sp>
        <p:nvSpPr>
          <p:cNvPr id="8" name="Geen externe baten&#10;in dit model">
            <a:extLst xmlns:a="http://schemas.openxmlformats.org/drawingml/2006/main">
              <a:ext uri="{FF2B5EF4-FFF2-40B4-BE49-F238E27FC236}">
                <a16:creationId xmlns:a16="http://schemas.microsoft.com/office/drawing/2014/main" id="{E1012111-6DE3-4845-9BD6-7E241514C15A}"/>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Geen externe baten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in dit model</a:t>
            </a:r>
          </a:p>
        </p:txBody>
      </p:sp>
    </p:spTree>
    <p:extLst>
      <p:ext uri="{BB962C8B-B14F-4D97-AF65-F5344CB8AC3E}">
        <p14:creationId xmlns:p14="http://schemas.microsoft.com/office/powerpoint/2010/main" val="15913708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BA25AC20-C9A0-4F52-B2D0-C32710344F2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B9408E12-FB4F-4114-8544-A3A4CCBB4D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DA699008-3560-4FDB-9014-C5BCEB82C30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5">
            <a:extLst xmlns:a="http://schemas.openxmlformats.org/drawingml/2006/main">
              <a:ext uri="{FF2B5EF4-FFF2-40B4-BE49-F238E27FC236}">
                <a16:creationId xmlns:a16="http://schemas.microsoft.com/office/drawing/2014/main" id="{B4E93834-2C91-44FF-B020-CE85A8747EE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Welke hoeveelheid gebruik je bij U: 20 of 100?">
            <a:extLst xmlns:a="http://schemas.openxmlformats.org/drawingml/2006/main">
              <a:ext uri="{FF2B5EF4-FFF2-40B4-BE49-F238E27FC236}">
                <a16:creationId xmlns:a16="http://schemas.microsoft.com/office/drawing/2014/main" id="{506FE1FE-267E-4D2F-91FF-7E76A0AE44BD}"/>
              </a:ext>
            </a:extLst>
          </p:cNvPr>
          <p:cNvSpPr>
            <a:spLocks xmlns:a="http://schemas.openxmlformats.org/drawingml/2006/main" noGrp="1"/>
          </p:cNvSpPr>
          <p:nvPr/>
        </p:nvSpPr>
        <p:spPr>
          <a:xfrm xmlns:a="http://schemas.openxmlformats.org/drawingml/2006/main">
            <a:off x="571500" y="2381250"/>
            <a:ext cx="14097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Welke hoeveelheid gebruik je bij U: 20 of 100?</a:t>
            </a:r>
          </a:p>
        </p:txBody>
      </p:sp>
      <p:sp>
        <p:nvSpPr>
          <p:cNvPr id="6" name="Welke prijs gebruik je voor CS? En voor PS?">
            <a:extLst xmlns:a="http://schemas.openxmlformats.org/drawingml/2006/main">
              <a:ext uri="{FF2B5EF4-FFF2-40B4-BE49-F238E27FC236}">
                <a16:creationId xmlns:a16="http://schemas.microsoft.com/office/drawing/2014/main" id="{3487B605-254E-4E99-A7EB-520275F133B3}"/>
              </a:ext>
            </a:extLst>
          </p:cNvPr>
          <p:cNvSpPr>
            <a:spLocks xmlns:a="http://schemas.openxmlformats.org/drawingml/2006/main" noGrp="1"/>
          </p:cNvSpPr>
          <p:nvPr/>
        </p:nvSpPr>
        <p:spPr>
          <a:xfrm xmlns:a="http://schemas.openxmlformats.org/drawingml/2006/main">
            <a:off x="571500" y="4000500"/>
            <a:ext cx="14097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Welke prijs gebruik je voor CS? En voor PS?</a:t>
            </a:r>
          </a:p>
        </p:txBody>
      </p:sp>
      <p:sp>
        <p:nvSpPr>
          <p:cNvPr id="7" name="Waarom zijn € 600 uitgaven en € 60 verlies verschillend">
            <a:extLst xmlns:a="http://schemas.openxmlformats.org/drawingml/2006/main">
              <a:ext uri="{FF2B5EF4-FFF2-40B4-BE49-F238E27FC236}">
                <a16:creationId xmlns:a16="http://schemas.microsoft.com/office/drawing/2014/main" id="{D14D6E3C-BBBD-4639-AAF6-ABF8FA909188}"/>
              </a:ext>
            </a:extLst>
          </p:cNvPr>
          <p:cNvSpPr>
            <a:spLocks xmlns:a="http://schemas.openxmlformats.org/drawingml/2006/main" noGrp="1"/>
          </p:cNvSpPr>
          <p:nvPr/>
        </p:nvSpPr>
        <p:spPr>
          <a:xfrm xmlns:a="http://schemas.openxmlformats.org/drawingml/2006/main">
            <a:off x="571500" y="5619750"/>
            <a:ext cx="14097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Waarom zijn € 600 uitgaven en € 60 verlies verschillend?</a:t>
            </a:r>
          </a:p>
        </p:txBody>
      </p:sp>
    </p:spTree>
    <p:extLst>
      <p:ext uri="{BB962C8B-B14F-4D97-AF65-F5344CB8AC3E}">
        <p14:creationId xmlns:p14="http://schemas.microsoft.com/office/powerpoint/2010/main" val="13556486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1.3 Subsidies">
            <a:extLst xmlns:a="http://schemas.openxmlformats.org/drawingml/2006/main">
              <a:ext uri="{FF2B5EF4-FFF2-40B4-BE49-F238E27FC236}">
                <a16:creationId xmlns:a16="http://schemas.microsoft.com/office/drawing/2014/main" id="{B86B5B7D-1C3D-426A-8CE6-6BE233909BA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§3.1.3 Subsidies</a:t>
            </a:r>
          </a:p>
        </p:txBody>
      </p:sp>
      <p:sp>
        <p:nvSpPr>
          <p:cNvPr id="2" name="">
            <a:extLst xmlns:a="http://schemas.openxmlformats.org/drawingml/2006/main">
              <a:ext uri="{FF2B5EF4-FFF2-40B4-BE49-F238E27FC236}">
                <a16:creationId xmlns:a16="http://schemas.microsoft.com/office/drawing/2014/main" id="{7C6AD415-72EC-497D-959F-0C53FF15165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9CBF70CE-C79E-4959-A651-09EA783605B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16">
            <a:extLst xmlns:a="http://schemas.openxmlformats.org/drawingml/2006/main">
              <a:ext uri="{FF2B5EF4-FFF2-40B4-BE49-F238E27FC236}">
                <a16:creationId xmlns:a16="http://schemas.microsoft.com/office/drawing/2014/main" id="{2FC2C1A0-56C6-4FD8-8F33-9F17C701296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phase">
            <a:extLst xmlns:a="http://schemas.openxmlformats.org/drawingml/2006/main">
              <a:ext uri="{FF2B5EF4-FFF2-40B4-BE49-F238E27FC236}">
                <a16:creationId xmlns:a16="http://schemas.microsoft.com/office/drawing/2014/main" id="{FB5095DA-125A-4CF2-99E1-E302FD990B5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Oefenen</a:t>
            </a:r>
          </a:p>
        </p:txBody>
      </p:sp>
      <p:sp>
        <p:nvSpPr>
          <p:cNvPr id="6" name="Lesroute">
            <a:extLst xmlns:a="http://schemas.openxmlformats.org/drawingml/2006/main">
              <a:ext uri="{FF2B5EF4-FFF2-40B4-BE49-F238E27FC236}">
                <a16:creationId xmlns:a16="http://schemas.microsoft.com/office/drawing/2014/main" id="{6903DF62-7E13-4BE1-8AFA-1149F45F75F3}"/>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EB696489-D52D-42B0-987E-0ED554ACA170}"/>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1B0D4586-3D55-41A0-AFE2-190C76395176}"/>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BE726865-E193-4107-94A7-0EBCCE1C5DE9}"/>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6C208AFC-C156-4EBF-9E98-B70719385545}"/>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2DE246BE-FD5B-43B0-AA91-3AD63959CE6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0A65A48E-6F8B-404E-B86D-0FF2A1A8C442}"/>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033478C1-AF26-4C11-8149-BE697E4ADFE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0AC88CFF-A409-448C-AA0E-6DF9BF2019BF}"/>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10D5FEA4-7BCD-4916-8C28-2A032D5DE11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E7A74FA6-CAA9-4A72-8963-A067011E63CC}"/>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BFC53041-1CFB-4461-8E96-78B09C9D2B5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A6F1E379-F69D-474B-B252-415038D4E1E6}"/>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25.</a:t>
            </a:r>
          </a:p>
        </p:txBody>
      </p:sp>
      <p:sp>
        <p:nvSpPr>
          <p:cNvPr id="19" name="route-number-6">
            <a:extLst xmlns:a="http://schemas.openxmlformats.org/drawingml/2006/main">
              <a:ext uri="{FF2B5EF4-FFF2-40B4-BE49-F238E27FC236}">
                <a16:creationId xmlns:a16="http://schemas.microsoft.com/office/drawing/2014/main" id="{547AA5EA-A18F-4167-A0AE-8915317571A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B3B4731A-5DB3-4841-A696-A08148036D9B}"/>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A5117C64-3FC2-444C-8E05-1A58E6AAE40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11B92F3-49F3-44B8-B881-7944F7073279}"/>
              </a:ext>
            </a:extLst>
          </p:cNvPr>
          <p:cNvSpPr>
            <a:spLocks xmlns:a="http://schemas.openxmlformats.org/drawingml/2006/main" noGrp="1"/>
          </p:cNvSpPr>
          <p:nvPr/>
        </p:nvSpPr>
        <p:spPr>
          <a:xfrm xmlns:a="http://schemas.openxmlformats.org/drawingml/2006/main">
            <a:off x="9258300" y="22860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Prijzen, hoeveelheid en uitgaven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berekenen. Voordeel verdelen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welvaart beoordelen.</a:t>
            </a:r>
          </a:p>
        </p:txBody>
      </p:sp>
      <p:sp>
        <p:nvSpPr>
          <p:cNvPr id="23" name="">
            <a:extLst xmlns:a="http://schemas.openxmlformats.org/drawingml/2006/main">
              <a:ext uri="{FF2B5EF4-FFF2-40B4-BE49-F238E27FC236}">
                <a16:creationId xmlns:a16="http://schemas.microsoft.com/office/drawing/2014/main" id="{5B5812BD-4088-441C-A837-8F863F8F5256}"/>
              </a:ext>
            </a:extLst>
          </p:cNvPr>
          <p:cNvSpPr>
            <a:spLocks xmlns:a="http://schemas.openxmlformats.org/drawingml/2006/main" noGrp="1"/>
          </p:cNvSpPr>
          <p:nvPr/>
        </p:nvSpPr>
        <p:spPr>
          <a:xfrm xmlns:a="http://schemas.openxmlformats.org/drawingml/2006/main">
            <a:off x="9258300" y="35337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CA50DF5-54CC-4C17-9774-79965F93E6C9}"/>
              </a:ext>
            </a:extLst>
          </p:cNvPr>
          <p:cNvSpPr>
            <a:spLocks xmlns:a="http://schemas.openxmlformats.org/drawingml/2006/main" noGrp="1"/>
          </p:cNvSpPr>
          <p:nvPr/>
        </p:nvSpPr>
        <p:spPr>
          <a:xfrm xmlns:a="http://schemas.openxmlformats.org/drawingml/2006/main">
            <a:off x="9258300" y="3724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912807B8-7DAD-4FE3-B679-3BE0927974EF}"/>
              </a:ext>
            </a:extLst>
          </p:cNvPr>
          <p:cNvSpPr>
            <a:spLocks xmlns:a="http://schemas.openxmlformats.org/drawingml/2006/main" noGrp="1"/>
          </p:cNvSpPr>
          <p:nvPr/>
        </p:nvSpPr>
        <p:spPr>
          <a:xfrm xmlns:a="http://schemas.openxmlformats.org/drawingml/2006/main">
            <a:off x="9258300" y="4238625"/>
            <a:ext cx="5381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26 · Opgaven 19 en 20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19: p. 23; 20: p. 24</a:t>
            </a:r>
          </a:p>
        </p:txBody>
      </p:sp>
      <p:sp>
        <p:nvSpPr>
          <p:cNvPr id="26" name="">
            <a:extLst xmlns:a="http://schemas.openxmlformats.org/drawingml/2006/main">
              <a:ext uri="{FF2B5EF4-FFF2-40B4-BE49-F238E27FC236}">
                <a16:creationId xmlns:a16="http://schemas.microsoft.com/office/drawing/2014/main" id="{C2A5DC5D-2B12-4A33-8480-6FC0A91711C0}"/>
              </a:ext>
            </a:extLst>
          </p:cNvPr>
          <p:cNvSpPr>
            <a:spLocks xmlns:a="http://schemas.openxmlformats.org/drawingml/2006/main" noGrp="1"/>
          </p:cNvSpPr>
          <p:nvPr/>
        </p:nvSpPr>
        <p:spPr>
          <a:xfrm xmlns:a="http://schemas.openxmlformats.org/drawingml/2006/main">
            <a:off x="9258300" y="54768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7D862A64-9566-40D5-81EC-B8D61718B54E}"/>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88CBF3EF-91EE-4BB2-A286-F8FA4B8B6C2A}"/>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§3.1.3 Subsidies</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21, 22 en 22A</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31607619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25 · Cursusplaatsen">
            <a:extLst xmlns:a="http://schemas.openxmlformats.org/drawingml/2006/main">
              <a:ext uri="{FF2B5EF4-FFF2-40B4-BE49-F238E27FC236}">
                <a16:creationId xmlns:a16="http://schemas.microsoft.com/office/drawing/2014/main" id="{26258F33-886A-4031-B7D8-0431A858C8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25 · Cursusplaatsen</a:t>
            </a:r>
          </a:p>
        </p:txBody>
      </p:sp>
      <p:sp>
        <p:nvSpPr>
          <p:cNvPr id="2" name="">
            <a:extLst xmlns:a="http://schemas.openxmlformats.org/drawingml/2006/main">
              <a:ext uri="{FF2B5EF4-FFF2-40B4-BE49-F238E27FC236}">
                <a16:creationId xmlns:a16="http://schemas.microsoft.com/office/drawing/2014/main" id="{57CDA291-AFDD-483D-9716-F14B9CA7D73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D425550E-59E2-4431-AFCD-C18CB2C8BCA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17">
            <a:extLst xmlns:a="http://schemas.openxmlformats.org/drawingml/2006/main">
              <a:ext uri="{FF2B5EF4-FFF2-40B4-BE49-F238E27FC236}">
                <a16:creationId xmlns:a16="http://schemas.microsoft.com/office/drawing/2014/main" id="{BE390C3D-91EE-4903-9C75-41B2F0CF4B4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Boekpagina 30 · Gegevens">
            <a:extLst xmlns:a="http://schemas.openxmlformats.org/drawingml/2006/main">
              <a:ext uri="{FF2B5EF4-FFF2-40B4-BE49-F238E27FC236}">
                <a16:creationId xmlns:a16="http://schemas.microsoft.com/office/drawing/2014/main" id="{10B1D162-376B-4295-89AA-9B77EBA2DC66}"/>
              </a:ext>
            </a:extLst>
          </p:cNvPr>
          <p:cNvSpPr>
            <a:spLocks xmlns:a="http://schemas.openxmlformats.org/drawingml/2006/main" noGrp="1"/>
          </p:cNvSpPr>
          <p:nvPr/>
        </p:nvSpPr>
        <p:spPr>
          <a:xfrm xmlns:a="http://schemas.openxmlformats.org/drawingml/2006/main">
            <a:off x="571500" y="17811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Boekpagina 30 · Gegevens</a:t>
            </a:r>
          </a:p>
        </p:txBody>
      </p:sp>
      <p:sp>
        <p:nvSpPr>
          <p:cNvPr id="6" name="Vraag Pc = 26 − 0,20Q; aanbod Pp = 8 + 0,10Q">
            <a:extLst xmlns:a="http://schemas.openxmlformats.org/drawingml/2006/main">
              <a:ext uri="{FF2B5EF4-FFF2-40B4-BE49-F238E27FC236}">
                <a16:creationId xmlns:a16="http://schemas.microsoft.com/office/drawing/2014/main" id="{D6C304FF-2F3C-4966-A765-2B98E62E4E1A}"/>
              </a:ext>
            </a:extLst>
          </p:cNvPr>
          <p:cNvSpPr>
            <a:spLocks xmlns:a="http://schemas.openxmlformats.org/drawingml/2006/main" noGrp="1"/>
          </p:cNvSpPr>
          <p:nvPr/>
        </p:nvSpPr>
        <p:spPr>
          <a:xfrm xmlns:a="http://schemas.openxmlformats.org/drawingml/2006/main">
            <a:off x="571500" y="257175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Vraag Pc = 26 − 0,20Q; aanbod Pp = 8 + 0,10Q</a:t>
            </a:r>
          </a:p>
        </p:txBody>
      </p:sp>
      <p:sp>
        <p:nvSpPr>
          <p:cNvPr id="7" name="Q is cursusplaatsen per week.">
            <a:extLst xmlns:a="http://schemas.openxmlformats.org/drawingml/2006/main">
              <a:ext uri="{FF2B5EF4-FFF2-40B4-BE49-F238E27FC236}">
                <a16:creationId xmlns:a16="http://schemas.microsoft.com/office/drawing/2014/main" id="{FE01EFCF-AA83-489C-A6C2-9EDFB9539904}"/>
              </a:ext>
            </a:extLst>
          </p:cNvPr>
          <p:cNvSpPr>
            <a:spLocks xmlns:a="http://schemas.openxmlformats.org/drawingml/2006/main" noGrp="1"/>
          </p:cNvSpPr>
          <p:nvPr/>
        </p:nvSpPr>
        <p:spPr>
          <a:xfrm xmlns:a="http://schemas.openxmlformats.org/drawingml/2006/main">
            <a:off x="571500" y="362902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Q is cursusplaatsen per week.</a:t>
            </a:r>
          </a:p>
        </p:txBody>
      </p:sp>
      <p:sp>
        <p:nvSpPr>
          <p:cNvPr id="8" name="Eerst: Q₀ = 60, P₀ = € 14, CS = € 360 en PS = € 180 per">
            <a:extLst xmlns:a="http://schemas.openxmlformats.org/drawingml/2006/main">
              <a:ext uri="{FF2B5EF4-FFF2-40B4-BE49-F238E27FC236}">
                <a16:creationId xmlns:a16="http://schemas.microsoft.com/office/drawing/2014/main" id="{31282B7D-07E2-450D-A716-E4FDAE7FA29F}"/>
              </a:ext>
            </a:extLst>
          </p:cNvPr>
          <p:cNvSpPr>
            <a:spLocks xmlns:a="http://schemas.openxmlformats.org/drawingml/2006/main" noGrp="1"/>
          </p:cNvSpPr>
          <p:nvPr/>
        </p:nvSpPr>
        <p:spPr>
          <a:xfrm xmlns:a="http://schemas.openxmlformats.org/drawingml/2006/main">
            <a:off x="571500" y="468630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Eerst: Q₀ = 60, P₀ = € 14, CS = € 360 en PS = € 180 per week.</a:t>
            </a:r>
          </a:p>
        </p:txBody>
      </p:sp>
      <p:sp>
        <p:nvSpPr>
          <p:cNvPr id="9" name="Aanbieders ontvangen € 3 subsidie per werkelijk verkoch">
            <a:extLst xmlns:a="http://schemas.openxmlformats.org/drawingml/2006/main">
              <a:ext uri="{FF2B5EF4-FFF2-40B4-BE49-F238E27FC236}">
                <a16:creationId xmlns:a16="http://schemas.microsoft.com/office/drawing/2014/main" id="{9EC706CE-3C2B-4AE1-AE10-77058345F06E}"/>
              </a:ext>
            </a:extLst>
          </p:cNvPr>
          <p:cNvSpPr>
            <a:spLocks xmlns:a="http://schemas.openxmlformats.org/drawingml/2006/main" noGrp="1"/>
          </p:cNvSpPr>
          <p:nvPr/>
        </p:nvSpPr>
        <p:spPr>
          <a:xfrm xmlns:a="http://schemas.openxmlformats.org/drawingml/2006/main">
            <a:off x="571500" y="6000750"/>
            <a:ext cx="14097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Aanbieders ontvangen € 3 subsidie per werkelijk verkochte plaats.</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Er zijn geen baten voor buitenstaanders en geen uitvoeringskosten.</a:t>
            </a:r>
          </a:p>
        </p:txBody>
      </p:sp>
    </p:spTree>
    <p:extLst>
      <p:ext uri="{BB962C8B-B14F-4D97-AF65-F5344CB8AC3E}">
        <p14:creationId xmlns:p14="http://schemas.microsoft.com/office/powerpoint/2010/main" val="13443619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25 · Vragen a–c">
            <a:extLst xmlns:a="http://schemas.openxmlformats.org/drawingml/2006/main">
              <a:ext uri="{FF2B5EF4-FFF2-40B4-BE49-F238E27FC236}">
                <a16:creationId xmlns:a16="http://schemas.microsoft.com/office/drawing/2014/main" id="{5DEF8410-0812-43EF-8E22-303F039F3DF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25 · Vragen a–c</a:t>
            </a:r>
          </a:p>
        </p:txBody>
      </p:sp>
      <p:sp>
        <p:nvSpPr>
          <p:cNvPr id="2" name="">
            <a:extLst xmlns:a="http://schemas.openxmlformats.org/drawingml/2006/main">
              <a:ext uri="{FF2B5EF4-FFF2-40B4-BE49-F238E27FC236}">
                <a16:creationId xmlns:a16="http://schemas.microsoft.com/office/drawing/2014/main" id="{C666A8AE-2B32-41A7-8DCA-B0E38FD6172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1C9C2DA2-5C96-4CE8-A39A-BADC87B3FDA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18">
            <a:extLst xmlns:a="http://schemas.openxmlformats.org/drawingml/2006/main">
              <a:ext uri="{FF2B5EF4-FFF2-40B4-BE49-F238E27FC236}">
                <a16:creationId xmlns:a16="http://schemas.microsoft.com/office/drawing/2014/main" id="{086E747C-88BC-492F-A1B9-5876BC7DEF3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Stel het aanbod in kopersprijzen mét subsidie op.&#10;  ">
            <a:extLst xmlns:a="http://schemas.openxmlformats.org/drawingml/2006/main">
              <a:ext uri="{FF2B5EF4-FFF2-40B4-BE49-F238E27FC236}">
                <a16:creationId xmlns:a16="http://schemas.microsoft.com/office/drawing/2014/main" id="{76627718-1235-4BF3-83E1-2A95597292B3}"/>
              </a:ext>
            </a:extLst>
          </p:cNvPr>
          <p:cNvSpPr>
            <a:spLocks xmlns:a="http://schemas.openxmlformats.org/drawingml/2006/main" noGrp="1"/>
          </p:cNvSpPr>
          <p:nvPr/>
        </p:nvSpPr>
        <p:spPr>
          <a:xfrm xmlns:a="http://schemas.openxmlformats.org/drawingml/2006/main">
            <a:off x="571500" y="2076450"/>
            <a:ext cx="140970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a. Stel het aanbod in kopersprijzen mét subsidie op.</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Bereken Qsub, Pc en Pp.</a:t>
            </a:r>
          </a:p>
        </p:txBody>
      </p:sp>
      <p:sp>
        <p:nvSpPr>
          <p:cNvPr id="6" name="b. Bereken de overheidsuitgaven per week.">
            <a:extLst xmlns:a="http://schemas.openxmlformats.org/drawingml/2006/main">
              <a:ext uri="{FF2B5EF4-FFF2-40B4-BE49-F238E27FC236}">
                <a16:creationId xmlns:a16="http://schemas.microsoft.com/office/drawing/2014/main" id="{6D96C3CA-4BB4-400E-953E-53EBA94D7C1C}"/>
              </a:ext>
            </a:extLst>
          </p:cNvPr>
          <p:cNvSpPr>
            <a:spLocks xmlns:a="http://schemas.openxmlformats.org/drawingml/2006/main" noGrp="1"/>
          </p:cNvSpPr>
          <p:nvPr/>
        </p:nvSpPr>
        <p:spPr>
          <a:xfrm xmlns:a="http://schemas.openxmlformats.org/drawingml/2006/main">
            <a:off x="571500" y="3886200"/>
            <a:ext cx="140970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 Bereken de overheidsuitgaven per week.</a:t>
            </a:r>
          </a:p>
        </p:txBody>
      </p:sp>
      <p:sp>
        <p:nvSpPr>
          <p:cNvPr id="7" name="c. Bereken het voordeel per plaats voor kopers en aanbi">
            <a:extLst xmlns:a="http://schemas.openxmlformats.org/drawingml/2006/main">
              <a:ext uri="{FF2B5EF4-FFF2-40B4-BE49-F238E27FC236}">
                <a16:creationId xmlns:a16="http://schemas.microsoft.com/office/drawing/2014/main" id="{36E178C8-4A41-4D36-A6B8-3A1EF103F7B9}"/>
              </a:ext>
            </a:extLst>
          </p:cNvPr>
          <p:cNvSpPr>
            <a:spLocks xmlns:a="http://schemas.openxmlformats.org/drawingml/2006/main" noGrp="1"/>
          </p:cNvSpPr>
          <p:nvPr/>
        </p:nvSpPr>
        <p:spPr>
          <a:xfrm xmlns:a="http://schemas.openxmlformats.org/drawingml/2006/main">
            <a:off x="571500" y="5695950"/>
            <a:ext cx="140970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 Bereken het voordeel per plaats voor kopers en aanbieders.</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    Leg uit waarom uitbetaling aan aanbieders niet betekent</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    dat zij het hele voordeel krijgen.</a:t>
            </a:r>
          </a:p>
        </p:txBody>
      </p:sp>
    </p:spTree>
    <p:extLst>
      <p:ext uri="{BB962C8B-B14F-4D97-AF65-F5344CB8AC3E}">
        <p14:creationId xmlns:p14="http://schemas.microsoft.com/office/powerpoint/2010/main" val="3552255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25 · Vragen d–e">
            <a:extLst xmlns:a="http://schemas.openxmlformats.org/drawingml/2006/main">
              <a:ext uri="{FF2B5EF4-FFF2-40B4-BE49-F238E27FC236}">
                <a16:creationId xmlns:a16="http://schemas.microsoft.com/office/drawing/2014/main" id="{A4738082-AFCC-4506-886B-8D8245D32E9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25 · Vragen d–e</a:t>
            </a:r>
          </a:p>
        </p:txBody>
      </p:sp>
      <p:sp>
        <p:nvSpPr>
          <p:cNvPr id="2" name="">
            <a:extLst xmlns:a="http://schemas.openxmlformats.org/drawingml/2006/main">
              <a:ext uri="{FF2B5EF4-FFF2-40B4-BE49-F238E27FC236}">
                <a16:creationId xmlns:a16="http://schemas.microsoft.com/office/drawing/2014/main" id="{97EC23D0-A834-491C-82DB-A466865BCAA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CB989CE0-C02E-4FC5-BD64-89E0AC95A7D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19">
            <a:extLst xmlns:a="http://schemas.openxmlformats.org/drawingml/2006/main">
              <a:ext uri="{FF2B5EF4-FFF2-40B4-BE49-F238E27FC236}">
                <a16:creationId xmlns:a16="http://schemas.microsoft.com/office/drawing/2014/main" id="{B0072C76-C970-46A5-A6AF-995494A63A7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d. Bereken CS en PS na subsidie. Bepaal CS + PS − U en ">
            <a:extLst xmlns:a="http://schemas.openxmlformats.org/drawingml/2006/main">
              <a:ext uri="{FF2B5EF4-FFF2-40B4-BE49-F238E27FC236}">
                <a16:creationId xmlns:a16="http://schemas.microsoft.com/office/drawing/2014/main" id="{FCFDE1A2-E382-432E-A476-8FE65569ADFE}"/>
              </a:ext>
            </a:extLst>
          </p:cNvPr>
          <p:cNvSpPr>
            <a:spLocks xmlns:a="http://schemas.openxmlformats.org/drawingml/2006/main" noGrp="1"/>
          </p:cNvSpPr>
          <p:nvPr/>
        </p:nvSpPr>
        <p:spPr>
          <a:xfrm xmlns:a="http://schemas.openxmlformats.org/drawingml/2006/main">
            <a:off x="571500" y="2333625"/>
            <a:ext cx="14097000"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 Bereken CS en PS na subsidie. Bepaal CS + PS − U en het</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welvaartsverlies ten opzichte van de oude situatie.</a:t>
            </a:r>
          </a:p>
        </p:txBody>
      </p:sp>
      <p:sp>
        <p:nvSpPr>
          <p:cNvPr id="6" name="e. Markeer Qsub, Pc en Pp in de basisgrafiek.&#10;    Arcee">
            <a:extLst xmlns:a="http://schemas.openxmlformats.org/drawingml/2006/main">
              <a:ext uri="{FF2B5EF4-FFF2-40B4-BE49-F238E27FC236}">
                <a16:creationId xmlns:a16="http://schemas.microsoft.com/office/drawing/2014/main" id="{D7C1381F-6244-44DD-AA5A-CDD7B04EE20C}"/>
              </a:ext>
            </a:extLst>
          </p:cNvPr>
          <p:cNvSpPr>
            <a:spLocks xmlns:a="http://schemas.openxmlformats.org/drawingml/2006/main" noGrp="1"/>
          </p:cNvSpPr>
          <p:nvPr/>
        </p:nvSpPr>
        <p:spPr>
          <a:xfrm xmlns:a="http://schemas.openxmlformats.org/drawingml/2006/main">
            <a:off x="571500" y="4619625"/>
            <a:ext cx="14097000"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 Markeer Qsub, Pc en Pp in de basisgrafiek.</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    Arceer de rechthoek van de overheidsuitgaven.</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    Beoordeel: “De subsidie verhoogt in dit model automatisch</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    de welvaart.”</a:t>
            </a:r>
          </a:p>
        </p:txBody>
      </p:sp>
    </p:spTree>
    <p:extLst>
      <p:ext uri="{BB962C8B-B14F-4D97-AF65-F5344CB8AC3E}">
        <p14:creationId xmlns:p14="http://schemas.microsoft.com/office/powerpoint/2010/main" val="104999474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25 · Basisgrafiek">
            <a:extLst xmlns:a="http://schemas.openxmlformats.org/drawingml/2006/main">
              <a:ext uri="{FF2B5EF4-FFF2-40B4-BE49-F238E27FC236}">
                <a16:creationId xmlns:a16="http://schemas.microsoft.com/office/drawing/2014/main" id="{C526FBF1-1280-4408-B1E4-D6401CD68C5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25 · Basisgrafiek</a:t>
            </a:r>
          </a:p>
        </p:txBody>
      </p:sp>
      <p:sp>
        <p:nvSpPr>
          <p:cNvPr id="2" name="">
            <a:extLst xmlns:a="http://schemas.openxmlformats.org/drawingml/2006/main">
              <a:ext uri="{FF2B5EF4-FFF2-40B4-BE49-F238E27FC236}">
                <a16:creationId xmlns:a16="http://schemas.microsoft.com/office/drawing/2014/main" id="{8EF02C8D-BE4A-4F99-B610-E1FF70BDCDB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74330202-4DBC-4CFB-95E9-308CC0A50DD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0">
            <a:extLst xmlns:a="http://schemas.openxmlformats.org/drawingml/2006/main">
              <a:ext uri="{FF2B5EF4-FFF2-40B4-BE49-F238E27FC236}">
                <a16:creationId xmlns:a16="http://schemas.microsoft.com/office/drawing/2014/main" id="{BBFA24A6-2DEC-44D4-9220-7F1E4895DE6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aa6a21f0bf164417"/>
          </a:graphicData>
        </a:graphic>
      </p:graphicFrame>
      <p:sp>
        <p:nvSpPr>
          <p:cNvPr id="6" name="Gegeven lijnen">
            <a:extLst xmlns:a="http://schemas.openxmlformats.org/drawingml/2006/main">
              <a:ext uri="{FF2B5EF4-FFF2-40B4-BE49-F238E27FC236}">
                <a16:creationId xmlns:a16="http://schemas.microsoft.com/office/drawing/2014/main" id="{80CB6D31-BBE3-4A23-91FC-EC64DA66AE63}"/>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Gegeven lijnen</a:t>
            </a:r>
          </a:p>
        </p:txBody>
      </p:sp>
      <p:sp>
        <p:nvSpPr>
          <p:cNvPr id="7" name="V: Pc = 26 − 0,20Q&#10;&#10;A: Pp = 8 + 0,10Q">
            <a:extLst xmlns:a="http://schemas.openxmlformats.org/drawingml/2006/main">
              <a:ext uri="{FF2B5EF4-FFF2-40B4-BE49-F238E27FC236}">
                <a16:creationId xmlns:a16="http://schemas.microsoft.com/office/drawing/2014/main" id="{2492BD18-A1F0-49F3-842C-B42A8239AED7}"/>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V: Pc = 26 − 0,20Q</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 Pp = 8 + 0,10Q</a:t>
            </a:r>
          </a:p>
        </p:txBody>
      </p:sp>
      <p:sp>
        <p:nvSpPr>
          <p:cNvPr id="8" name="Q in cursusplaatsen&#10;per week">
            <a:extLst xmlns:a="http://schemas.openxmlformats.org/drawingml/2006/main">
              <a:ext uri="{FF2B5EF4-FFF2-40B4-BE49-F238E27FC236}">
                <a16:creationId xmlns:a16="http://schemas.microsoft.com/office/drawing/2014/main" id="{892BE152-247A-4381-9DA1-754EF9B0F33B}"/>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Q in cursusplaatsen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per week</a:t>
            </a:r>
          </a:p>
        </p:txBody>
      </p:sp>
    </p:spTree>
    <p:extLst>
      <p:ext uri="{BB962C8B-B14F-4D97-AF65-F5344CB8AC3E}">
        <p14:creationId xmlns:p14="http://schemas.microsoft.com/office/powerpoint/2010/main" val="37967449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5a · Nieuw aanbod en nieuwe hoeveelheid">
            <a:extLst xmlns:a="http://schemas.openxmlformats.org/drawingml/2006/main">
              <a:ext uri="{FF2B5EF4-FFF2-40B4-BE49-F238E27FC236}">
                <a16:creationId xmlns:a16="http://schemas.microsoft.com/office/drawing/2014/main" id="{8D903BC6-8A87-4E7C-AECC-B0EBBBFB176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25a · Nieuw aanbod en nieuwe hoeveelheid</a:t>
            </a:r>
          </a:p>
        </p:txBody>
      </p:sp>
      <p:sp>
        <p:nvSpPr>
          <p:cNvPr id="2" name="">
            <a:extLst xmlns:a="http://schemas.openxmlformats.org/drawingml/2006/main">
              <a:ext uri="{FF2B5EF4-FFF2-40B4-BE49-F238E27FC236}">
                <a16:creationId xmlns:a16="http://schemas.microsoft.com/office/drawing/2014/main" id="{A9CA2D9A-AF6C-4774-B573-414EE3B59F5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0321D6E8-3F49-4FE8-8F60-3CF7A981ADF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1">
            <a:extLst xmlns:a="http://schemas.openxmlformats.org/drawingml/2006/main">
              <a:ext uri="{FF2B5EF4-FFF2-40B4-BE49-F238E27FC236}">
                <a16:creationId xmlns:a16="http://schemas.microsoft.com/office/drawing/2014/main" id="{718CEFAC-D382-479F-A5A0-F158586DECF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Pc = Pp − 3 = 5 + 0,10Q">
            <a:extLst xmlns:a="http://schemas.openxmlformats.org/drawingml/2006/main">
              <a:ext uri="{FF2B5EF4-FFF2-40B4-BE49-F238E27FC236}">
                <a16:creationId xmlns:a16="http://schemas.microsoft.com/office/drawing/2014/main" id="{519BED27-8FF1-4595-A4B9-FD911E93AD06}"/>
              </a:ext>
            </a:extLst>
          </p:cNvPr>
          <p:cNvSpPr>
            <a:spLocks xmlns:a="http://schemas.openxmlformats.org/drawingml/2006/main" noGrp="1"/>
          </p:cNvSpPr>
          <p:nvPr/>
        </p:nvSpPr>
        <p:spPr>
          <a:xfrm xmlns:a="http://schemas.openxmlformats.org/drawingml/2006/main">
            <a:off x="571500" y="2095500"/>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Pc = Pp − 3 = 5 + 0,10Q</a:t>
            </a:r>
          </a:p>
        </p:txBody>
      </p:sp>
      <p:sp>
        <p:nvSpPr>
          <p:cNvPr id="6" name="26 − 0,20Q = 5 + 0,10Q">
            <a:extLst xmlns:a="http://schemas.openxmlformats.org/drawingml/2006/main">
              <a:ext uri="{FF2B5EF4-FFF2-40B4-BE49-F238E27FC236}">
                <a16:creationId xmlns:a16="http://schemas.microsoft.com/office/drawing/2014/main" id="{932E629E-52E8-45B4-BC54-642C47878A65}"/>
              </a:ext>
            </a:extLst>
          </p:cNvPr>
          <p:cNvSpPr>
            <a:spLocks xmlns:a="http://schemas.openxmlformats.org/drawingml/2006/main" noGrp="1"/>
          </p:cNvSpPr>
          <p:nvPr/>
        </p:nvSpPr>
        <p:spPr>
          <a:xfrm xmlns:a="http://schemas.openxmlformats.org/drawingml/2006/main">
            <a:off x="571500" y="3429000"/>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26 − 0,20Q = 5 + 0,10Q</a:t>
            </a:r>
          </a:p>
        </p:txBody>
      </p:sp>
      <p:sp>
        <p:nvSpPr>
          <p:cNvPr id="7" name="21 = 0,30Q">
            <a:extLst xmlns:a="http://schemas.openxmlformats.org/drawingml/2006/main">
              <a:ext uri="{FF2B5EF4-FFF2-40B4-BE49-F238E27FC236}">
                <a16:creationId xmlns:a16="http://schemas.microsoft.com/office/drawing/2014/main" id="{22E8B81E-80D6-4769-80F4-5AC2CA5D3F27}"/>
              </a:ext>
            </a:extLst>
          </p:cNvPr>
          <p:cNvSpPr>
            <a:spLocks xmlns:a="http://schemas.openxmlformats.org/drawingml/2006/main" noGrp="1"/>
          </p:cNvSpPr>
          <p:nvPr/>
        </p:nvSpPr>
        <p:spPr>
          <a:xfrm xmlns:a="http://schemas.openxmlformats.org/drawingml/2006/main">
            <a:off x="571500" y="4762500"/>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21 = 0,30Q</a:t>
            </a:r>
          </a:p>
        </p:txBody>
      </p:sp>
      <p:sp>
        <p:nvSpPr>
          <p:cNvPr id="8" name="Qsub = 70 cursusplaatsen per week">
            <a:extLst xmlns:a="http://schemas.openxmlformats.org/drawingml/2006/main">
              <a:ext uri="{FF2B5EF4-FFF2-40B4-BE49-F238E27FC236}">
                <a16:creationId xmlns:a16="http://schemas.microsoft.com/office/drawing/2014/main" id="{49B2AF0F-872F-418B-A15F-045E2777AE68}"/>
              </a:ext>
            </a:extLst>
          </p:cNvPr>
          <p:cNvSpPr>
            <a:spLocks xmlns:a="http://schemas.openxmlformats.org/drawingml/2006/main" noGrp="1"/>
          </p:cNvSpPr>
          <p:nvPr/>
        </p:nvSpPr>
        <p:spPr>
          <a:xfrm xmlns:a="http://schemas.openxmlformats.org/drawingml/2006/main">
            <a:off x="571500" y="6096000"/>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Qsub = 70 cursusplaatsen per week</a:t>
            </a:r>
          </a:p>
        </p:txBody>
      </p:sp>
    </p:spTree>
    <p:extLst>
      <p:ext uri="{BB962C8B-B14F-4D97-AF65-F5344CB8AC3E}">
        <p14:creationId xmlns:p14="http://schemas.microsoft.com/office/powerpoint/2010/main" val="90503481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25a · Beide prijzen en de controle">
            <a:extLst xmlns:a="http://schemas.openxmlformats.org/drawingml/2006/main">
              <a:ext uri="{FF2B5EF4-FFF2-40B4-BE49-F238E27FC236}">
                <a16:creationId xmlns:a16="http://schemas.microsoft.com/office/drawing/2014/main" id="{DC504B24-7547-40DC-A48D-4C91AC520C7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25a · Beide prijzen en de controle</a:t>
            </a:r>
          </a:p>
        </p:txBody>
      </p:sp>
      <p:sp>
        <p:nvSpPr>
          <p:cNvPr id="2" name="">
            <a:extLst xmlns:a="http://schemas.openxmlformats.org/drawingml/2006/main">
              <a:ext uri="{FF2B5EF4-FFF2-40B4-BE49-F238E27FC236}">
                <a16:creationId xmlns:a16="http://schemas.microsoft.com/office/drawing/2014/main" id="{ACB7F2EA-9E95-4405-8BE9-A8BD0AF41EA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8608F821-83C3-4A55-9358-CE269633B36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2">
            <a:extLst xmlns:a="http://schemas.openxmlformats.org/drawingml/2006/main">
              <a:ext uri="{FF2B5EF4-FFF2-40B4-BE49-F238E27FC236}">
                <a16:creationId xmlns:a16="http://schemas.microsoft.com/office/drawing/2014/main" id="{C77E19C5-B3A0-434F-869D-22D135CD5E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Pc = 26 − 0,20 × 70 = € 12">
            <a:extLst xmlns:a="http://schemas.openxmlformats.org/drawingml/2006/main">
              <a:ext uri="{FF2B5EF4-FFF2-40B4-BE49-F238E27FC236}">
                <a16:creationId xmlns:a16="http://schemas.microsoft.com/office/drawing/2014/main" id="{31C0CBFF-4810-445E-9B94-6A9C0E83390E}"/>
              </a:ext>
            </a:extLst>
          </p:cNvPr>
          <p:cNvSpPr>
            <a:spLocks xmlns:a="http://schemas.openxmlformats.org/drawingml/2006/main" noGrp="1"/>
          </p:cNvSpPr>
          <p:nvPr/>
        </p:nvSpPr>
        <p:spPr>
          <a:xfrm xmlns:a="http://schemas.openxmlformats.org/drawingml/2006/main">
            <a:off x="571500" y="2476500"/>
            <a:ext cx="14097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Pc = 26 − 0,20 × 70 = € 12</a:t>
            </a:r>
          </a:p>
        </p:txBody>
      </p:sp>
      <p:sp>
        <p:nvSpPr>
          <p:cNvPr id="6" name="Pp = 8 + 0,10 × 70 = € 15">
            <a:extLst xmlns:a="http://schemas.openxmlformats.org/drawingml/2006/main">
              <a:ext uri="{FF2B5EF4-FFF2-40B4-BE49-F238E27FC236}">
                <a16:creationId xmlns:a16="http://schemas.microsoft.com/office/drawing/2014/main" id="{D9D094DD-405A-4764-AB9D-B2AECB316B50}"/>
              </a:ext>
            </a:extLst>
          </p:cNvPr>
          <p:cNvSpPr>
            <a:spLocks xmlns:a="http://schemas.openxmlformats.org/drawingml/2006/main" noGrp="1"/>
          </p:cNvSpPr>
          <p:nvPr/>
        </p:nvSpPr>
        <p:spPr>
          <a:xfrm xmlns:a="http://schemas.openxmlformats.org/drawingml/2006/main">
            <a:off x="571500" y="4000500"/>
            <a:ext cx="14097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Pp = 8 + 0,10 × 70 = € 15</a:t>
            </a:r>
          </a:p>
        </p:txBody>
      </p:sp>
      <p:sp>
        <p:nvSpPr>
          <p:cNvPr id="7" name="Pp − Pc = 15 − 12 = € 3 per cursusplaats">
            <a:extLst xmlns:a="http://schemas.openxmlformats.org/drawingml/2006/main">
              <a:ext uri="{FF2B5EF4-FFF2-40B4-BE49-F238E27FC236}">
                <a16:creationId xmlns:a16="http://schemas.microsoft.com/office/drawing/2014/main" id="{E2D8BBBE-7DD7-41D5-9B77-76AE2862DD0A}"/>
              </a:ext>
            </a:extLst>
          </p:cNvPr>
          <p:cNvSpPr>
            <a:spLocks xmlns:a="http://schemas.openxmlformats.org/drawingml/2006/main" noGrp="1"/>
          </p:cNvSpPr>
          <p:nvPr/>
        </p:nvSpPr>
        <p:spPr>
          <a:xfrm xmlns:a="http://schemas.openxmlformats.org/drawingml/2006/main">
            <a:off x="571500" y="5524500"/>
            <a:ext cx="14097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Pp − Pc = 15 − 12 = € 3 per cursusplaats</a:t>
            </a:r>
          </a:p>
        </p:txBody>
      </p:sp>
    </p:spTree>
    <p:extLst>
      <p:ext uri="{BB962C8B-B14F-4D97-AF65-F5344CB8AC3E}">
        <p14:creationId xmlns:p14="http://schemas.microsoft.com/office/powerpoint/2010/main" val="69129371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5b · De overheidsuitgaven">
            <a:extLst xmlns:a="http://schemas.openxmlformats.org/drawingml/2006/main">
              <a:ext uri="{FF2B5EF4-FFF2-40B4-BE49-F238E27FC236}">
                <a16:creationId xmlns:a16="http://schemas.microsoft.com/office/drawing/2014/main" id="{7ACB6833-282E-43A4-AD62-F5E5E632C8C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25b · De overheidsuitgaven</a:t>
            </a:r>
          </a:p>
        </p:txBody>
      </p:sp>
      <p:sp>
        <p:nvSpPr>
          <p:cNvPr id="2" name="">
            <a:extLst xmlns:a="http://schemas.openxmlformats.org/drawingml/2006/main">
              <a:ext uri="{FF2B5EF4-FFF2-40B4-BE49-F238E27FC236}">
                <a16:creationId xmlns:a16="http://schemas.microsoft.com/office/drawing/2014/main" id="{8F373645-BB27-4680-86B8-86CE36C3B6D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514313CA-190F-4336-8D69-9C5DEE90942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3">
            <a:extLst xmlns:a="http://schemas.openxmlformats.org/drawingml/2006/main">
              <a:ext uri="{FF2B5EF4-FFF2-40B4-BE49-F238E27FC236}">
                <a16:creationId xmlns:a16="http://schemas.microsoft.com/office/drawing/2014/main" id="{EF760066-A95C-4645-8F6C-8CB6D8FCC2E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U = s × Qsub">
            <a:extLst xmlns:a="http://schemas.openxmlformats.org/drawingml/2006/main">
              <a:ext uri="{FF2B5EF4-FFF2-40B4-BE49-F238E27FC236}">
                <a16:creationId xmlns:a16="http://schemas.microsoft.com/office/drawing/2014/main" id="{53E0C3D5-5B8F-4247-839E-EFCCA30FD9C4}"/>
              </a:ext>
            </a:extLst>
          </p:cNvPr>
          <p:cNvSpPr>
            <a:spLocks xmlns:a="http://schemas.openxmlformats.org/drawingml/2006/main" noGrp="1"/>
          </p:cNvSpPr>
          <p:nvPr/>
        </p:nvSpPr>
        <p:spPr>
          <a:xfrm xmlns:a="http://schemas.openxmlformats.org/drawingml/2006/main">
            <a:off x="571500" y="2381250"/>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U = s × Qsub</a:t>
            </a:r>
          </a:p>
        </p:txBody>
      </p:sp>
      <p:sp>
        <p:nvSpPr>
          <p:cNvPr id="6" name="U = € 3 per plaats × 70 plaatsen per week">
            <a:extLst xmlns:a="http://schemas.openxmlformats.org/drawingml/2006/main">
              <a:ext uri="{FF2B5EF4-FFF2-40B4-BE49-F238E27FC236}">
                <a16:creationId xmlns:a16="http://schemas.microsoft.com/office/drawing/2014/main" id="{73815A95-280E-4AF7-9B35-303458F32049}"/>
              </a:ext>
            </a:extLst>
          </p:cNvPr>
          <p:cNvSpPr>
            <a:spLocks xmlns:a="http://schemas.openxmlformats.org/drawingml/2006/main" noGrp="1"/>
          </p:cNvSpPr>
          <p:nvPr/>
        </p:nvSpPr>
        <p:spPr>
          <a:xfrm xmlns:a="http://schemas.openxmlformats.org/drawingml/2006/main">
            <a:off x="571500" y="3857625"/>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U = € 3 per plaats × 70 plaatsen per week</a:t>
            </a:r>
          </a:p>
        </p:txBody>
      </p:sp>
      <p:sp>
        <p:nvSpPr>
          <p:cNvPr id="7" name="U = € 210 per week">
            <a:extLst xmlns:a="http://schemas.openxmlformats.org/drawingml/2006/main">
              <a:ext uri="{FF2B5EF4-FFF2-40B4-BE49-F238E27FC236}">
                <a16:creationId xmlns:a16="http://schemas.microsoft.com/office/drawing/2014/main" id="{2EECD93F-8846-4865-A22D-61C57D8D3833}"/>
              </a:ext>
            </a:extLst>
          </p:cNvPr>
          <p:cNvSpPr>
            <a:spLocks xmlns:a="http://schemas.openxmlformats.org/drawingml/2006/main" noGrp="1"/>
          </p:cNvSpPr>
          <p:nvPr/>
        </p:nvSpPr>
        <p:spPr>
          <a:xfrm xmlns:a="http://schemas.openxmlformats.org/drawingml/2006/main">
            <a:off x="571500" y="5334000"/>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U = € 210 per week</a:t>
            </a:r>
          </a:p>
        </p:txBody>
      </p:sp>
      <p:sp>
        <p:nvSpPr>
          <p:cNvPr id="8" name="De subsidie geldt voor alle 70 verkochte cursusplaatsen">
            <a:extLst xmlns:a="http://schemas.openxmlformats.org/drawingml/2006/main">
              <a:ext uri="{FF2B5EF4-FFF2-40B4-BE49-F238E27FC236}">
                <a16:creationId xmlns:a16="http://schemas.microsoft.com/office/drawing/2014/main" id="{1D90DED6-506A-4E41-B94E-E9DD02491EE3}"/>
              </a:ext>
            </a:extLst>
          </p:cNvPr>
          <p:cNvSpPr>
            <a:spLocks xmlns:a="http://schemas.openxmlformats.org/drawingml/2006/main" noGrp="1"/>
          </p:cNvSpPr>
          <p:nvPr/>
        </p:nvSpPr>
        <p:spPr>
          <a:xfrm xmlns:a="http://schemas.openxmlformats.org/drawingml/2006/main">
            <a:off x="571500" y="721042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De subsidie geldt voor alle 70 verkochte cursusplaatsen.</a:t>
            </a:r>
          </a:p>
        </p:txBody>
      </p:sp>
    </p:spTree>
    <p:extLst>
      <p:ext uri="{BB962C8B-B14F-4D97-AF65-F5344CB8AC3E}">
        <p14:creationId xmlns:p14="http://schemas.microsoft.com/office/powerpoint/2010/main" val="2179507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25c · Wie krijgt het voordeel?">
            <a:extLst xmlns:a="http://schemas.openxmlformats.org/drawingml/2006/main">
              <a:ext uri="{FF2B5EF4-FFF2-40B4-BE49-F238E27FC236}">
                <a16:creationId xmlns:a16="http://schemas.microsoft.com/office/drawing/2014/main" id="{C9A8B471-33DA-4142-88EE-1BAD4BA4EB9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25c · Wie krijgt het voordeel?</a:t>
            </a:r>
          </a:p>
        </p:txBody>
      </p:sp>
      <p:sp>
        <p:nvSpPr>
          <p:cNvPr id="2" name="">
            <a:extLst xmlns:a="http://schemas.openxmlformats.org/drawingml/2006/main">
              <a:ext uri="{FF2B5EF4-FFF2-40B4-BE49-F238E27FC236}">
                <a16:creationId xmlns:a16="http://schemas.microsoft.com/office/drawing/2014/main" id="{CDD917ED-08AF-48DD-9225-F69A3CCC02C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49580431-7A43-4D3E-8136-E2EEC151663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4">
            <a:extLst xmlns:a="http://schemas.openxmlformats.org/drawingml/2006/main">
              <a:ext uri="{FF2B5EF4-FFF2-40B4-BE49-F238E27FC236}">
                <a16:creationId xmlns:a16="http://schemas.microsoft.com/office/drawing/2014/main" id="{9BEBA22C-8EEB-4F9B-8407-5DDF8BB323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1" name=""/>
          <p:cNvGraphicFramePr/>
          <p:nvPr/>
        </p:nvGraphicFramePr>
        <p:xfrm>
          <a:off xmlns:a="http://schemas.openxmlformats.org/drawingml/2006/main" x="571500" y="2295525"/>
          <a:ext xmlns:a="http://schemas.openxmlformats.org/drawingml/2006/main" cx="14097000" cy="3238500"/>
        </p:xfrm>
        <a:graphic xmlns:a="http://schemas.openxmlformats.org/drawingml/2006/main">
          <a:graphicData uri="http://schemas.openxmlformats.org/drawingml/2006/table">
            <a:tbl>
              <a:tblPr/>
              <a:tblGrid>
                <a:gridCol w="4476750"/>
                <a:gridCol w="5810250"/>
                <a:gridCol w="3810000"/>
              </a:tblGrid>
              <a:tr h="1079500">
                <a:tc>
                  <a:txBody>
                    <a:bodyPr lIns="171450" tIns="95250" rIns="152400" bIns="95250"/>
                    <a:lstStyle/>
                    <a:p>
                      <a:r>
                        <a:rPr sz="2700" b="1">
                          <a:solidFill>
                            <a:srgbClr val="FFFFFF"/>
                          </a:solidFill>
                          <a:latin typeface="Arial"/>
                          <a:ea typeface="Arial"/>
                          <a:cs typeface="Arial"/>
                        </a:rPr>
                        <a:t>Per cursusplaats</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Voordeel</a:t>
                      </a:r>
                    </a:p>
                  </a:txBody>
                  <a:tcPr marL="91440" marR="91440" marT="45720" marB="45720" anchor="ctr">
                    <a:solidFill>
                      <a:srgbClr val="183247"/>
                    </a:solidFill>
                  </a:tcPr>
                </a:tc>
              </a:tr>
              <a:tr h="1079500">
                <a:tc>
                  <a:txBody>
                    <a:bodyPr lIns="171450" tIns="95250" rIns="152400" bIns="95250"/>
                    <a:lstStyle/>
                    <a:p>
                      <a:r>
                        <a:rPr sz="2700" b="0">
                          <a:solidFill>
                            <a:srgbClr val="183247"/>
                          </a:solidFill>
                          <a:latin typeface="Arial"/>
                          <a:ea typeface="Arial"/>
                          <a:cs typeface="Arial"/>
                        </a:rPr>
                        <a:t>Koper</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P₀ − Pc = 14 − 12</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€ 2</a:t>
                      </a:r>
                    </a:p>
                  </a:txBody>
                  <a:tcPr marL="91440" marR="91440" marT="45720" marB="45720" anchor="ctr">
                    <a:solidFill>
                      <a:srgbClr val="FFFFFF"/>
                    </a:solidFill>
                  </a:tcPr>
                </a:tc>
              </a:tr>
              <a:tr h="1079500">
                <a:tc>
                  <a:txBody>
                    <a:bodyPr lIns="171450" tIns="95250" rIns="152400" bIns="95250"/>
                    <a:lstStyle/>
                    <a:p>
                      <a:r>
                        <a:rPr sz="2700" b="0">
                          <a:solidFill>
                            <a:srgbClr val="183247"/>
                          </a:solidFill>
                          <a:latin typeface="Arial"/>
                          <a:ea typeface="Arial"/>
                          <a:cs typeface="Arial"/>
                        </a:rPr>
                        <a:t>Aanbieder</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Pp − P₀ = 15 − 14</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€ 1</a:t>
                      </a:r>
                    </a:p>
                  </a:txBody>
                  <a:tcPr marL="91440" marR="91440" marT="45720" marB="45720" anchor="ctr">
                    <a:solidFill>
                      <a:srgbClr val="EFF4F7"/>
                    </a:solidFill>
                  </a:tcPr>
                </a:tc>
              </a:tr>
            </a:tbl>
          </a:graphicData>
        </a:graphic>
      </p:graphicFrame>
      <p:sp>
        <p:nvSpPr>
          <p:cNvPr id="6" name="De lagere kopersprijs geeft ook de koper een deel van h">
            <a:extLst xmlns:a="http://schemas.openxmlformats.org/drawingml/2006/main">
              <a:ext uri="{FF2B5EF4-FFF2-40B4-BE49-F238E27FC236}">
                <a16:creationId xmlns:a16="http://schemas.microsoft.com/office/drawing/2014/main" id="{97429A88-3754-4A00-824B-750CBAF70878}"/>
              </a:ext>
            </a:extLst>
          </p:cNvPr>
          <p:cNvSpPr>
            <a:spLocks xmlns:a="http://schemas.openxmlformats.org/drawingml/2006/main" noGrp="1"/>
          </p:cNvSpPr>
          <p:nvPr/>
        </p:nvSpPr>
        <p:spPr>
          <a:xfrm xmlns:a="http://schemas.openxmlformats.org/drawingml/2006/main">
            <a:off x="571500" y="6257925"/>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De lagere kopersprijs geeft ook de koper een deel van het voordeel.</a:t>
            </a:r>
          </a:p>
        </p:txBody>
      </p:sp>
    </p:spTree>
    <p:extLst>
      <p:ext uri="{BB962C8B-B14F-4D97-AF65-F5344CB8AC3E}">
        <p14:creationId xmlns:p14="http://schemas.microsoft.com/office/powerpoint/2010/main" val="124474108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25d · CS en PS na subsidie">
            <a:extLst xmlns:a="http://schemas.openxmlformats.org/drawingml/2006/main">
              <a:ext uri="{FF2B5EF4-FFF2-40B4-BE49-F238E27FC236}">
                <a16:creationId xmlns:a16="http://schemas.microsoft.com/office/drawing/2014/main" id="{46FB3309-A9FC-4095-9FD8-18C5882D424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25d · CS en PS na subsidie</a:t>
            </a:r>
          </a:p>
        </p:txBody>
      </p:sp>
      <p:sp>
        <p:nvSpPr>
          <p:cNvPr id="2" name="">
            <a:extLst xmlns:a="http://schemas.openxmlformats.org/drawingml/2006/main">
              <a:ext uri="{FF2B5EF4-FFF2-40B4-BE49-F238E27FC236}">
                <a16:creationId xmlns:a16="http://schemas.microsoft.com/office/drawing/2014/main" id="{A73F365F-0D74-446E-A0C9-1DFE722003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4F958F6A-AB90-4FF5-BCD8-DB36AEB5EF7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5">
            <a:extLst xmlns:a="http://schemas.openxmlformats.org/drawingml/2006/main">
              <a:ext uri="{FF2B5EF4-FFF2-40B4-BE49-F238E27FC236}">
                <a16:creationId xmlns:a16="http://schemas.microsoft.com/office/drawing/2014/main" id="{2A0109F0-EC80-40D2-A354-894C08951B6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Basis: 70 cursusplaatsen per week">
            <a:extLst xmlns:a="http://schemas.openxmlformats.org/drawingml/2006/main">
              <a:ext uri="{FF2B5EF4-FFF2-40B4-BE49-F238E27FC236}">
                <a16:creationId xmlns:a16="http://schemas.microsoft.com/office/drawing/2014/main" id="{C8186227-436D-4E56-8613-8825363F03A1}"/>
              </a:ext>
            </a:extLst>
          </p:cNvPr>
          <p:cNvSpPr>
            <a:spLocks xmlns:a="http://schemas.openxmlformats.org/drawingml/2006/main" noGrp="1"/>
          </p:cNvSpPr>
          <p:nvPr/>
        </p:nvSpPr>
        <p:spPr>
          <a:xfrm xmlns:a="http://schemas.openxmlformats.org/drawingml/2006/main">
            <a:off x="571500" y="18573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Basis: 70 cursusplaatsen per week</a:t>
            </a:r>
          </a:p>
        </p:txBody>
      </p:sp>
      <p:graphicFrame>
        <p:nvGraphicFramePr>
          <p:cNvPr id="13" name=""/>
          <p:cNvGraphicFramePr/>
          <p:nvPr/>
        </p:nvGraphicFramePr>
        <p:xfrm>
          <a:off xmlns:a="http://schemas.openxmlformats.org/drawingml/2006/main" x="571500" y="2905125"/>
          <a:ext xmlns:a="http://schemas.openxmlformats.org/drawingml/2006/main" cx="14097000" cy="3076575"/>
        </p:xfrm>
        <a:graphic xmlns:a="http://schemas.openxmlformats.org/drawingml/2006/main">
          <a:graphicData uri="http://schemas.openxmlformats.org/drawingml/2006/table">
            <a:tbl>
              <a:tblPr/>
              <a:tblGrid>
                <a:gridCol w="3333750"/>
                <a:gridCol w="7143750"/>
                <a:gridCol w="3619500"/>
              </a:tblGrid>
              <a:tr h="1025525">
                <a:tc>
                  <a:txBody>
                    <a:bodyPr lIns="171450" tIns="95250" rIns="152400" bIns="95250"/>
                    <a:lstStyle/>
                    <a:p>
                      <a:r>
                        <a:rPr sz="2775" b="1">
                          <a:solidFill>
                            <a:srgbClr val="FFFFFF"/>
                          </a:solidFill>
                          <a:latin typeface="Arial"/>
                          <a:ea typeface="Arial"/>
                          <a:cs typeface="Arial"/>
                        </a:rPr>
                        <a:t>Gebied</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 per week</a:t>
                      </a:r>
                    </a:p>
                  </a:txBody>
                  <a:tcPr marL="91440" marR="91440" marT="45720" marB="45720" anchor="ctr">
                    <a:solidFill>
                      <a:srgbClr val="183247"/>
                    </a:solidFill>
                  </a:tcPr>
                </a:tc>
              </a:tr>
              <a:tr h="1025525">
                <a:tc>
                  <a:txBody>
                    <a:bodyPr lIns="171450" tIns="95250" rIns="152400" bIns="95250"/>
                    <a:lstStyle/>
                    <a:p>
                      <a:r>
                        <a:rPr sz="2775"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½ × 70 × (26 − 12)</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490</a:t>
                      </a:r>
                    </a:p>
                  </a:txBody>
                  <a:tcPr marL="91440" marR="91440" marT="45720" marB="45720" anchor="ctr">
                    <a:solidFill>
                      <a:srgbClr val="FFFFFF"/>
                    </a:solidFill>
                  </a:tcPr>
                </a:tc>
              </a:tr>
              <a:tr h="1025525">
                <a:tc>
                  <a:txBody>
                    <a:bodyPr lIns="171450" tIns="95250" rIns="152400" bIns="95250"/>
                    <a:lstStyle/>
                    <a:p>
                      <a:r>
                        <a:rPr sz="2775"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½ × 70 × (15 − 8)</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245</a:t>
                      </a:r>
                    </a:p>
                  </a:txBody>
                  <a:tcPr marL="91440" marR="91440" marT="45720" marB="45720" anchor="ctr">
                    <a:solidFill>
                      <a:srgbClr val="EFF4F7"/>
                    </a:solidFill>
                  </a:tcPr>
                </a:tc>
              </a:tr>
            </a:tbl>
          </a:graphicData>
        </a:graphic>
      </p:graphicFrame>
      <p:sp>
        <p:nvSpPr>
          <p:cNvPr id="7" name="CS gebruikt Pc. PS gebruikt Pp en de oorspronkelijke aa">
            <a:extLst xmlns:a="http://schemas.openxmlformats.org/drawingml/2006/main">
              <a:ext uri="{FF2B5EF4-FFF2-40B4-BE49-F238E27FC236}">
                <a16:creationId xmlns:a16="http://schemas.microsoft.com/office/drawing/2014/main" id="{37FF8D2E-358C-4A5F-BD0F-83D26B319851}"/>
              </a:ext>
            </a:extLst>
          </p:cNvPr>
          <p:cNvSpPr>
            <a:spLocks xmlns:a="http://schemas.openxmlformats.org/drawingml/2006/main" noGrp="1"/>
          </p:cNvSpPr>
          <p:nvPr/>
        </p:nvSpPr>
        <p:spPr>
          <a:xfrm xmlns:a="http://schemas.openxmlformats.org/drawingml/2006/main">
            <a:off x="571500" y="6734175"/>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CS gebruikt Pc. PS gebruikt Pp en de oorspronkelijke aanbodlijn.</a:t>
            </a:r>
          </a:p>
        </p:txBody>
      </p:sp>
    </p:spTree>
    <p:extLst>
      <p:ext uri="{BB962C8B-B14F-4D97-AF65-F5344CB8AC3E}">
        <p14:creationId xmlns:p14="http://schemas.microsoft.com/office/powerpoint/2010/main" val="330415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5d · De welvaartsmaat en het verlies">
            <a:extLst xmlns:a="http://schemas.openxmlformats.org/drawingml/2006/main">
              <a:ext uri="{FF2B5EF4-FFF2-40B4-BE49-F238E27FC236}">
                <a16:creationId xmlns:a16="http://schemas.microsoft.com/office/drawing/2014/main" id="{B403BCCF-4546-4E06-B87B-F7B2BAEB2B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25d · De welvaartsmaat en het verlies</a:t>
            </a:r>
          </a:p>
        </p:txBody>
      </p:sp>
      <p:sp>
        <p:nvSpPr>
          <p:cNvPr id="2" name="">
            <a:extLst xmlns:a="http://schemas.openxmlformats.org/drawingml/2006/main">
              <a:ext uri="{FF2B5EF4-FFF2-40B4-BE49-F238E27FC236}">
                <a16:creationId xmlns:a16="http://schemas.microsoft.com/office/drawing/2014/main" id="{23859A6F-352C-4DD5-9AA0-60D88F0EEF5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09CE6575-D6B3-40CA-8430-3DEC9E5CEC0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6">
            <a:extLst xmlns:a="http://schemas.openxmlformats.org/drawingml/2006/main">
              <a:ext uri="{FF2B5EF4-FFF2-40B4-BE49-F238E27FC236}">
                <a16:creationId xmlns:a16="http://schemas.microsoft.com/office/drawing/2014/main" id="{23E60B55-E8E4-433C-A904-BDCFA95A833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Oud: CS + PS = 360 + 180 = € 540">
            <a:extLst xmlns:a="http://schemas.openxmlformats.org/drawingml/2006/main">
              <a:ext uri="{FF2B5EF4-FFF2-40B4-BE49-F238E27FC236}">
                <a16:creationId xmlns:a16="http://schemas.microsoft.com/office/drawing/2014/main" id="{0AD958A9-B587-4C32-9F92-F96995B3379A}"/>
              </a:ext>
            </a:extLst>
          </p:cNvPr>
          <p:cNvSpPr>
            <a:spLocks xmlns:a="http://schemas.openxmlformats.org/drawingml/2006/main" noGrp="1"/>
          </p:cNvSpPr>
          <p:nvPr/>
        </p:nvSpPr>
        <p:spPr>
          <a:xfrm xmlns:a="http://schemas.openxmlformats.org/drawingml/2006/main">
            <a:off x="571500" y="2238375"/>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Oud: CS + PS = 360 + 180 = € 540</a:t>
            </a:r>
          </a:p>
        </p:txBody>
      </p:sp>
      <p:sp>
        <p:nvSpPr>
          <p:cNvPr id="6" name="Nieuw: CS + PS − U = 490 + 245 − 210 = € 525">
            <a:extLst xmlns:a="http://schemas.openxmlformats.org/drawingml/2006/main">
              <a:ext uri="{FF2B5EF4-FFF2-40B4-BE49-F238E27FC236}">
                <a16:creationId xmlns:a16="http://schemas.microsoft.com/office/drawing/2014/main" id="{83ADCB60-9C48-4205-8F9E-62BA5F6539BE}"/>
              </a:ext>
            </a:extLst>
          </p:cNvPr>
          <p:cNvSpPr>
            <a:spLocks xmlns:a="http://schemas.openxmlformats.org/drawingml/2006/main" noGrp="1"/>
          </p:cNvSpPr>
          <p:nvPr/>
        </p:nvSpPr>
        <p:spPr>
          <a:xfrm xmlns:a="http://schemas.openxmlformats.org/drawingml/2006/main">
            <a:off x="571500" y="3695700"/>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Nieuw: CS + PS − U = 490 + 245 − 210 = € 525</a:t>
            </a:r>
          </a:p>
        </p:txBody>
      </p:sp>
      <p:sp>
        <p:nvSpPr>
          <p:cNvPr id="7" name="W = 540 − 525 = € 15 per week">
            <a:extLst xmlns:a="http://schemas.openxmlformats.org/drawingml/2006/main">
              <a:ext uri="{FF2B5EF4-FFF2-40B4-BE49-F238E27FC236}">
                <a16:creationId xmlns:a16="http://schemas.microsoft.com/office/drawing/2014/main" id="{5F686EE3-94D0-4A04-ACCE-AB444563EFA0}"/>
              </a:ext>
            </a:extLst>
          </p:cNvPr>
          <p:cNvSpPr>
            <a:spLocks xmlns:a="http://schemas.openxmlformats.org/drawingml/2006/main" noGrp="1"/>
          </p:cNvSpPr>
          <p:nvPr/>
        </p:nvSpPr>
        <p:spPr>
          <a:xfrm xmlns:a="http://schemas.openxmlformats.org/drawingml/2006/main">
            <a:off x="571500" y="5153025"/>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W = 540 − 525 = € 15 per week</a:t>
            </a:r>
          </a:p>
        </p:txBody>
      </p:sp>
      <p:sp>
        <p:nvSpPr>
          <p:cNvPr id="8" name="Controle: ½ × (70 − 60) × 3 = € 15 per week">
            <a:extLst xmlns:a="http://schemas.openxmlformats.org/drawingml/2006/main">
              <a:ext uri="{FF2B5EF4-FFF2-40B4-BE49-F238E27FC236}">
                <a16:creationId xmlns:a16="http://schemas.microsoft.com/office/drawing/2014/main" id="{81BD14A2-751C-4BFD-8998-53FC0334CDD3}"/>
              </a:ext>
            </a:extLst>
          </p:cNvPr>
          <p:cNvSpPr>
            <a:spLocks xmlns:a="http://schemas.openxmlformats.org/drawingml/2006/main" noGrp="1"/>
          </p:cNvSpPr>
          <p:nvPr/>
        </p:nvSpPr>
        <p:spPr>
          <a:xfrm xmlns:a="http://schemas.openxmlformats.org/drawingml/2006/main">
            <a:off x="571500" y="7115175"/>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Controle: ½ × (70 − 60) × 3 = € 15 per week</a:t>
            </a:r>
          </a:p>
        </p:txBody>
      </p:sp>
    </p:spTree>
    <p:extLst>
      <p:ext uri="{BB962C8B-B14F-4D97-AF65-F5344CB8AC3E}">
        <p14:creationId xmlns:p14="http://schemas.microsoft.com/office/powerpoint/2010/main" val="19266312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5e · Prijzen, hoeveelheid en uitgaven">
            <a:extLst xmlns:a="http://schemas.openxmlformats.org/drawingml/2006/main">
              <a:ext uri="{FF2B5EF4-FFF2-40B4-BE49-F238E27FC236}">
                <a16:creationId xmlns:a16="http://schemas.microsoft.com/office/drawing/2014/main" id="{1DD3564B-6B30-4633-B524-DFEEC7B8479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25e · Prijzen, hoeveelheid en uitgaven</a:t>
            </a:r>
          </a:p>
        </p:txBody>
      </p:sp>
      <p:sp>
        <p:nvSpPr>
          <p:cNvPr id="2" name="">
            <a:extLst xmlns:a="http://schemas.openxmlformats.org/drawingml/2006/main">
              <a:ext uri="{FF2B5EF4-FFF2-40B4-BE49-F238E27FC236}">
                <a16:creationId xmlns:a16="http://schemas.microsoft.com/office/drawing/2014/main" id="{AA9F347B-6548-47CD-B4F3-0137AE393F7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5F9F0DCC-E5C3-4D5D-A167-29D8CCCC45A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7">
            <a:extLst xmlns:a="http://schemas.openxmlformats.org/drawingml/2006/main">
              <a:ext uri="{FF2B5EF4-FFF2-40B4-BE49-F238E27FC236}">
                <a16:creationId xmlns:a16="http://schemas.microsoft.com/office/drawing/2014/main" id="{8A73F232-0681-4F44-9AA8-7AC5D456319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graphicFrame>
        <p:nvGraphicFramePr>
          <p:cNvPr id="13" name="Chart"/>
          <p:cNvGraphicFramePr/>
          <p:nvPr/>
        </p:nvGraphicFramePr>
        <p:xfrm>
          <a:off xmlns:a="http://schemas.openxmlformats.org/drawingml/2006/main" x="476250" y="1952625"/>
          <a:ext xmlns:a="http://schemas.openxmlformats.org/drawingml/2006/main" cx="10191750" cy="5791200"/>
        </p:xfrm>
        <a:graphic xmlns:a="http://schemas.openxmlformats.org/drawingml/2006/main">
          <a:graphicData uri="http://schemas.openxmlformats.org/drawingml/2006/chart">
            <c:chart xmlns:r="http://schemas.openxmlformats.org/officeDocument/2006/relationships" xmlns:c="http://schemas.openxmlformats.org/drawingml/2006/chart" r:id="R6d6436c1689f42e7"/>
          </a:graphicData>
        </a:graphic>
      </p:graphicFrame>
      <p:sp>
        <p:nvSpPr>
          <p:cNvPr id="6" name="Markeringen">
            <a:extLst xmlns:a="http://schemas.openxmlformats.org/drawingml/2006/main">
              <a:ext uri="{FF2B5EF4-FFF2-40B4-BE49-F238E27FC236}">
                <a16:creationId xmlns:a16="http://schemas.microsoft.com/office/drawing/2014/main" id="{D9F9F873-E848-4781-8AF1-BE65D2FF6DA9}"/>
              </a:ext>
            </a:extLst>
          </p:cNvPr>
          <p:cNvSpPr>
            <a:spLocks xmlns:a="http://schemas.openxmlformats.org/drawingml/2006/main" noGrp="1"/>
          </p:cNvSpPr>
          <p:nvPr/>
        </p:nvSpPr>
        <p:spPr>
          <a:xfrm xmlns:a="http://schemas.openxmlformats.org/drawingml/2006/main">
            <a:off x="11144250" y="2095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Markeringen</a:t>
            </a:r>
          </a:p>
        </p:txBody>
      </p:sp>
      <p:sp>
        <p:nvSpPr>
          <p:cNvPr id="7" name="Qsub = 70&#10;Pc = € 12&#10;Pp = € 15&#10;&#10;U: 70 × € 3&#10;= € 210 per ">
            <a:extLst xmlns:a="http://schemas.openxmlformats.org/drawingml/2006/main">
              <a:ext uri="{FF2B5EF4-FFF2-40B4-BE49-F238E27FC236}">
                <a16:creationId xmlns:a16="http://schemas.microsoft.com/office/drawing/2014/main" id="{E26D6209-37A6-4915-986C-926204E5861F}"/>
              </a:ext>
            </a:extLst>
          </p:cNvPr>
          <p:cNvSpPr>
            <a:spLocks xmlns:a="http://schemas.openxmlformats.org/drawingml/2006/main" noGrp="1"/>
          </p:cNvSpPr>
          <p:nvPr/>
        </p:nvSpPr>
        <p:spPr>
          <a:xfrm xmlns:a="http://schemas.openxmlformats.org/drawingml/2006/main">
            <a:off x="11144250" y="3095625"/>
            <a:ext cx="347662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Qsub = 70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Pc = € 12</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Pp = € 15</a:t>
            </a:r>
          </a:p>
          <a:p xmlns:a="http://schemas.openxmlformats.org/drawingml/2006/main">
            <a:r>
              <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U: 70 × € 3</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 € 210 per week</a:t>
            </a:r>
          </a:p>
        </p:txBody>
      </p:sp>
      <p:sp>
        <p:nvSpPr>
          <p:cNvPr id="8" name="Rechthoek:&#10;Q = 0 tot 70&#10;P = 12 tot 15">
            <a:extLst xmlns:a="http://schemas.openxmlformats.org/drawingml/2006/main">
              <a:ext uri="{FF2B5EF4-FFF2-40B4-BE49-F238E27FC236}">
                <a16:creationId xmlns:a16="http://schemas.microsoft.com/office/drawing/2014/main" id="{DD4DE7E9-1DE8-429C-A28E-D14A9EED44EB}"/>
              </a:ext>
            </a:extLst>
          </p:cNvPr>
          <p:cNvSpPr>
            <a:spLocks xmlns:a="http://schemas.openxmlformats.org/drawingml/2006/main" noGrp="1"/>
          </p:cNvSpPr>
          <p:nvPr/>
        </p:nvSpPr>
        <p:spPr>
          <a:xfrm xmlns:a="http://schemas.openxmlformats.org/drawingml/2006/main">
            <a:off x="11144250" y="6267450"/>
            <a:ext cx="3476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Rechthoek:</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Q = 0 tot 70</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 = 12 tot 15</a:t>
            </a:r>
          </a:p>
        </p:txBody>
      </p:sp>
    </p:spTree>
    <p:extLst>
      <p:ext uri="{BB962C8B-B14F-4D97-AF65-F5344CB8AC3E}">
        <p14:creationId xmlns:p14="http://schemas.microsoft.com/office/powerpoint/2010/main" val="59111158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5e · De welvaartsclaim">
            <a:extLst xmlns:a="http://schemas.openxmlformats.org/drawingml/2006/main">
              <a:ext uri="{FF2B5EF4-FFF2-40B4-BE49-F238E27FC236}">
                <a16:creationId xmlns:a16="http://schemas.microsoft.com/office/drawing/2014/main" id="{86268DFC-800A-4802-B644-47FBA5DDBAC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25e · De welvaartsclaim</a:t>
            </a:r>
          </a:p>
        </p:txBody>
      </p:sp>
      <p:sp>
        <p:nvSpPr>
          <p:cNvPr id="2" name="">
            <a:extLst xmlns:a="http://schemas.openxmlformats.org/drawingml/2006/main">
              <a:ext uri="{FF2B5EF4-FFF2-40B4-BE49-F238E27FC236}">
                <a16:creationId xmlns:a16="http://schemas.microsoft.com/office/drawing/2014/main" id="{DFEBE50E-29A9-47EE-8A5D-B14B200CBB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448A526B-9BF3-4D62-9C67-BB1010E57A1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8">
            <a:extLst xmlns:a="http://schemas.openxmlformats.org/drawingml/2006/main">
              <a:ext uri="{FF2B5EF4-FFF2-40B4-BE49-F238E27FC236}">
                <a16:creationId xmlns:a16="http://schemas.microsoft.com/office/drawing/2014/main" id="{74B756C2-6BEC-4FB0-934E-3CCCCE30E1C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sp>
        <p:nvSpPr>
          <p:cNvPr id="5" name="“De subsidie verhoogt in dit model automatisch de welva">
            <a:extLst xmlns:a="http://schemas.openxmlformats.org/drawingml/2006/main">
              <a:ext uri="{FF2B5EF4-FFF2-40B4-BE49-F238E27FC236}">
                <a16:creationId xmlns:a16="http://schemas.microsoft.com/office/drawing/2014/main" id="{FDC24195-CE9B-4724-AA04-D585846596AB}"/>
              </a:ext>
            </a:extLst>
          </p:cNvPr>
          <p:cNvSpPr>
            <a:spLocks xmlns:a="http://schemas.openxmlformats.org/drawingml/2006/main" noGrp="1"/>
          </p:cNvSpPr>
          <p:nvPr/>
        </p:nvSpPr>
        <p:spPr>
          <a:xfrm xmlns:a="http://schemas.openxmlformats.org/drawingml/2006/main">
            <a:off x="571500" y="2105025"/>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“De subsidie verhoogt in dit model automatisch de welvaart.”</a:t>
            </a:r>
          </a:p>
        </p:txBody>
      </p:sp>
      <p:sp>
        <p:nvSpPr>
          <p:cNvPr id="6" name="Onjuist: de welvaartsmaat daalt van € 540 naar € 525 pe">
            <a:extLst xmlns:a="http://schemas.openxmlformats.org/drawingml/2006/main">
              <a:ext uri="{FF2B5EF4-FFF2-40B4-BE49-F238E27FC236}">
                <a16:creationId xmlns:a16="http://schemas.microsoft.com/office/drawing/2014/main" id="{9E983181-4BBF-40BB-8010-5605AF8A67B1}"/>
              </a:ext>
            </a:extLst>
          </p:cNvPr>
          <p:cNvSpPr>
            <a:spLocks xmlns:a="http://schemas.openxmlformats.org/drawingml/2006/main" noGrp="1"/>
          </p:cNvSpPr>
          <p:nvPr/>
        </p:nvSpPr>
        <p:spPr>
          <a:xfrm xmlns:a="http://schemas.openxmlformats.org/drawingml/2006/main">
            <a:off x="571500" y="3971925"/>
            <a:ext cx="14097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Onjuist: de welvaartsmaat daalt van € 540 naar € 525 per week.</a:t>
            </a:r>
          </a:p>
        </p:txBody>
      </p:sp>
      <p:sp>
        <p:nvSpPr>
          <p:cNvPr id="7" name="De extra transacties kosten meer dan hun betalingsberei">
            <a:extLst xmlns:a="http://schemas.openxmlformats.org/drawingml/2006/main">
              <a:ext uri="{FF2B5EF4-FFF2-40B4-BE49-F238E27FC236}">
                <a16:creationId xmlns:a16="http://schemas.microsoft.com/office/drawing/2014/main" id="{0AC61612-1504-47F1-B370-72D4EE718404}"/>
              </a:ext>
            </a:extLst>
          </p:cNvPr>
          <p:cNvSpPr>
            <a:spLocks xmlns:a="http://schemas.openxmlformats.org/drawingml/2006/main" noGrp="1"/>
          </p:cNvSpPr>
          <p:nvPr/>
        </p:nvSpPr>
        <p:spPr>
          <a:xfrm xmlns:a="http://schemas.openxmlformats.org/drawingml/2006/main">
            <a:off x="571500" y="5162550"/>
            <a:ext cx="14097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extra transacties kosten meer dan hun betalingsbereidheid.</a:t>
            </a:r>
          </a:p>
        </p:txBody>
      </p:sp>
      <p:sp>
        <p:nvSpPr>
          <p:cNvPr id="8" name="Er zijn geen baten voor buitenstaanders die dat compens">
            <a:extLst xmlns:a="http://schemas.openxmlformats.org/drawingml/2006/main">
              <a:ext uri="{FF2B5EF4-FFF2-40B4-BE49-F238E27FC236}">
                <a16:creationId xmlns:a16="http://schemas.microsoft.com/office/drawing/2014/main" id="{EBAE5ADC-3C11-43ED-A0E2-E2F95B8403FA}"/>
              </a:ext>
            </a:extLst>
          </p:cNvPr>
          <p:cNvSpPr>
            <a:spLocks xmlns:a="http://schemas.openxmlformats.org/drawingml/2006/main" noGrp="1"/>
          </p:cNvSpPr>
          <p:nvPr/>
        </p:nvSpPr>
        <p:spPr>
          <a:xfrm xmlns:a="http://schemas.openxmlformats.org/drawingml/2006/main">
            <a:off x="571500" y="6353175"/>
            <a:ext cx="14097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Er zijn geen baten voor buitenstaanders die dat compenseren.</a:t>
            </a:r>
          </a:p>
        </p:txBody>
      </p:sp>
    </p:spTree>
    <p:extLst>
      <p:ext uri="{BB962C8B-B14F-4D97-AF65-F5344CB8AC3E}">
        <p14:creationId xmlns:p14="http://schemas.microsoft.com/office/powerpoint/2010/main" val="38585793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1.3 Subsidies">
            <a:extLst xmlns:a="http://schemas.openxmlformats.org/drawingml/2006/main">
              <a:ext uri="{FF2B5EF4-FFF2-40B4-BE49-F238E27FC236}">
                <a16:creationId xmlns:a16="http://schemas.microsoft.com/office/drawing/2014/main" id="{E931D42F-899E-4375-864A-6D65867B16D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§3.1.3 Subsidies</a:t>
            </a:r>
          </a:p>
        </p:txBody>
      </p:sp>
      <p:sp>
        <p:nvSpPr>
          <p:cNvPr id="2" name="">
            <a:extLst xmlns:a="http://schemas.openxmlformats.org/drawingml/2006/main">
              <a:ext uri="{FF2B5EF4-FFF2-40B4-BE49-F238E27FC236}">
                <a16:creationId xmlns:a16="http://schemas.microsoft.com/office/drawing/2014/main" id="{0EA272AB-42AA-45C1-A08D-37F4B3DCECE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3 Subsidies">
            <a:extLst xmlns:a="http://schemas.openxmlformats.org/drawingml/2006/main">
              <a:ext uri="{FF2B5EF4-FFF2-40B4-BE49-F238E27FC236}">
                <a16:creationId xmlns:a16="http://schemas.microsoft.com/office/drawing/2014/main" id="{18CD7ED1-BC3D-4155-B666-566FF4FC36B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§3.1.3 Subsidies</a:t>
            </a:r>
          </a:p>
        </p:txBody>
      </p:sp>
      <p:sp>
        <p:nvSpPr>
          <p:cNvPr id="4" name="29">
            <a:extLst xmlns:a="http://schemas.openxmlformats.org/drawingml/2006/main">
              <a:ext uri="{FF2B5EF4-FFF2-40B4-BE49-F238E27FC236}">
                <a16:creationId xmlns:a16="http://schemas.microsoft.com/office/drawing/2014/main" id="{4846CEC6-21D9-4799-9CD5-532338E9090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29</a:t>
            </a:r>
          </a:p>
        </p:txBody>
      </p:sp>
      <p:sp>
        <p:nvSpPr>
          <p:cNvPr id="5" name="phase">
            <a:extLst xmlns:a="http://schemas.openxmlformats.org/drawingml/2006/main">
              <a:ext uri="{FF2B5EF4-FFF2-40B4-BE49-F238E27FC236}">
                <a16:creationId xmlns:a16="http://schemas.microsoft.com/office/drawing/2014/main" id="{D6D3754A-E4B1-4229-94A8-9BD075B50821}"/>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D7809E81-C7A3-4F8E-ABE7-CFC9870796A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D3F1D103-F091-457F-97CD-F1005229AD29}"/>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A8E1782C-F4F1-49F4-BA99-41E17F49172F}"/>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BD77E639-0643-435D-B447-83F21BB1AEA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5AFE6F51-ACC9-4294-ABC7-022100B9987D}"/>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CBCD0CC3-7A65-4C63-B72F-2ACFAC7BB262}"/>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DFB0FDF2-DC75-4391-A4F4-FEB2B21CFCC7}"/>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49B099E6-5D57-4020-AC07-683ED700F65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3EC20D05-6DBE-4DFD-8693-C8232CC60C1A}"/>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F0DBC9A7-ECBF-4CF1-A123-2E4B206E6F5F}"/>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CC0D11E2-8663-4959-AE8F-DDA95B4AC726}"/>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2594BCDB-C41C-4003-B44B-C8713156F938}"/>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FF5766F2-E05F-405A-996B-D9442B599E84}"/>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25.</a:t>
            </a:r>
          </a:p>
        </p:txBody>
      </p:sp>
      <p:sp>
        <p:nvSpPr>
          <p:cNvPr id="19" name="route-number-6">
            <a:extLst xmlns:a="http://schemas.openxmlformats.org/drawingml/2006/main">
              <a:ext uri="{FF2B5EF4-FFF2-40B4-BE49-F238E27FC236}">
                <a16:creationId xmlns:a16="http://schemas.microsoft.com/office/drawing/2014/main" id="{DD788056-87B9-4EF7-924A-C94D386816F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67E29A6C-1663-4163-9812-4C2DD6C18338}"/>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1A0C231-78EC-4940-997E-C27E12158564}"/>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12B5CC4-FFFB-487F-A07E-5E8F9C58CD4C}"/>
              </a:ext>
            </a:extLst>
          </p:cNvPr>
          <p:cNvSpPr>
            <a:spLocks xmlns:a="http://schemas.openxmlformats.org/drawingml/2006/main" noGrp="1"/>
          </p:cNvSpPr>
          <p:nvPr/>
        </p:nvSpPr>
        <p:spPr>
          <a:xfrm xmlns:a="http://schemas.openxmlformats.org/drawingml/2006/main">
            <a:off x="9258300" y="22860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Prijzen, hoeveelheid en uitgaven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berekenen. Voordeel verdelen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welvaart beoordelen.</a:t>
            </a:r>
          </a:p>
        </p:txBody>
      </p:sp>
      <p:sp>
        <p:nvSpPr>
          <p:cNvPr id="23" name="">
            <a:extLst xmlns:a="http://schemas.openxmlformats.org/drawingml/2006/main">
              <a:ext uri="{FF2B5EF4-FFF2-40B4-BE49-F238E27FC236}">
                <a16:creationId xmlns:a16="http://schemas.microsoft.com/office/drawing/2014/main" id="{1492B11C-FD39-4D27-B2B5-6E23DAA2253E}"/>
              </a:ext>
            </a:extLst>
          </p:cNvPr>
          <p:cNvSpPr>
            <a:spLocks xmlns:a="http://schemas.openxmlformats.org/drawingml/2006/main" noGrp="1"/>
          </p:cNvSpPr>
          <p:nvPr/>
        </p:nvSpPr>
        <p:spPr>
          <a:xfrm xmlns:a="http://schemas.openxmlformats.org/drawingml/2006/main">
            <a:off x="9258300" y="35337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70284AD-03F0-40CF-91B7-CDB20525F30B}"/>
              </a:ext>
            </a:extLst>
          </p:cNvPr>
          <p:cNvSpPr>
            <a:spLocks xmlns:a="http://schemas.openxmlformats.org/drawingml/2006/main" noGrp="1"/>
          </p:cNvSpPr>
          <p:nvPr/>
        </p:nvSpPr>
        <p:spPr>
          <a:xfrm xmlns:a="http://schemas.openxmlformats.org/drawingml/2006/main">
            <a:off x="9258300" y="3724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EBDCD87-E7F8-4AD9-BA44-AD84020F55FC}"/>
              </a:ext>
            </a:extLst>
          </p:cNvPr>
          <p:cNvSpPr>
            <a:spLocks xmlns:a="http://schemas.openxmlformats.org/drawingml/2006/main" noGrp="1"/>
          </p:cNvSpPr>
          <p:nvPr/>
        </p:nvSpPr>
        <p:spPr>
          <a:xfrm xmlns:a="http://schemas.openxmlformats.org/drawingml/2006/main">
            <a:off x="9258300" y="4238625"/>
            <a:ext cx="5381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26 · Opgaven 19 en 20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19: p. 23; 20: p. 24</a:t>
            </a:r>
          </a:p>
        </p:txBody>
      </p:sp>
      <p:sp>
        <p:nvSpPr>
          <p:cNvPr id="26" name="">
            <a:extLst xmlns:a="http://schemas.openxmlformats.org/drawingml/2006/main">
              <a:ext uri="{FF2B5EF4-FFF2-40B4-BE49-F238E27FC236}">
                <a16:creationId xmlns:a16="http://schemas.microsoft.com/office/drawing/2014/main" id="{A921F0EA-440C-4FAE-BB67-D7508B29C463}"/>
              </a:ext>
            </a:extLst>
          </p:cNvPr>
          <p:cNvSpPr>
            <a:spLocks xmlns:a="http://schemas.openxmlformats.org/drawingml/2006/main" noGrp="1"/>
          </p:cNvSpPr>
          <p:nvPr/>
        </p:nvSpPr>
        <p:spPr>
          <a:xfrm xmlns:a="http://schemas.openxmlformats.org/drawingml/2006/main">
            <a:off x="9258300" y="54768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FDFC5DD-9926-48C9-B307-F8F73203DBA9}"/>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D9F79CD-D045-4883-A3C8-F34DB01224CA}"/>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§3.1.3 Subsidies</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21, 22 en 22A</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651501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2026-10-01T09:46:58.0230000Z</dcterms:created>
  <dcterms:modified xsi:type="dcterms:W3CDTF">2026-10-01T09:46:58.0230000Z</dcterms:modified>
</coreProperties>
</file>